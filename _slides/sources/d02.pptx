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4"/>
  </p:notesMasterIdLst>
  <p:sldIdLst>
    <p:sldId id="256" r:id="rId2"/>
    <p:sldId id="691" r:id="rId3"/>
    <p:sldId id="655" r:id="rId4"/>
    <p:sldId id="664" r:id="rId5"/>
    <p:sldId id="657" r:id="rId6"/>
    <p:sldId id="658" r:id="rId7"/>
    <p:sldId id="659" r:id="rId8"/>
    <p:sldId id="660" r:id="rId9"/>
    <p:sldId id="662" r:id="rId10"/>
    <p:sldId id="661" r:id="rId11"/>
    <p:sldId id="690" r:id="rId12"/>
    <p:sldId id="665" r:id="rId13"/>
    <p:sldId id="676" r:id="rId14"/>
    <p:sldId id="668" r:id="rId15"/>
    <p:sldId id="669" r:id="rId16"/>
    <p:sldId id="699" r:id="rId17"/>
    <p:sldId id="666" r:id="rId18"/>
    <p:sldId id="677" r:id="rId19"/>
    <p:sldId id="678" r:id="rId20"/>
    <p:sldId id="667" r:id="rId21"/>
    <p:sldId id="670" r:id="rId22"/>
    <p:sldId id="671" r:id="rId23"/>
    <p:sldId id="673" r:id="rId24"/>
    <p:sldId id="674" r:id="rId25"/>
    <p:sldId id="683" r:id="rId26"/>
    <p:sldId id="684" r:id="rId27"/>
    <p:sldId id="685" r:id="rId28"/>
    <p:sldId id="686" r:id="rId29"/>
    <p:sldId id="687" r:id="rId30"/>
    <p:sldId id="700" r:id="rId31"/>
    <p:sldId id="549" r:id="rId32"/>
    <p:sldId id="550" r:id="rId33"/>
    <p:sldId id="501" r:id="rId34"/>
    <p:sldId id="473" r:id="rId35"/>
    <p:sldId id="680" r:id="rId36"/>
    <p:sldId id="504" r:id="rId37"/>
    <p:sldId id="679" r:id="rId38"/>
    <p:sldId id="503" r:id="rId39"/>
    <p:sldId id="505" r:id="rId40"/>
    <p:sldId id="509" r:id="rId41"/>
    <p:sldId id="510" r:id="rId42"/>
    <p:sldId id="511" r:id="rId43"/>
    <p:sldId id="638" r:id="rId44"/>
    <p:sldId id="692" r:id="rId45"/>
    <p:sldId id="681" r:id="rId46"/>
    <p:sldId id="514" r:id="rId47"/>
    <p:sldId id="513" r:id="rId48"/>
    <p:sldId id="689" r:id="rId49"/>
    <p:sldId id="512" r:id="rId50"/>
    <p:sldId id="517" r:id="rId51"/>
    <p:sldId id="526" r:id="rId52"/>
    <p:sldId id="518" r:id="rId53"/>
    <p:sldId id="694" r:id="rId54"/>
    <p:sldId id="695" r:id="rId55"/>
    <p:sldId id="696" r:id="rId56"/>
    <p:sldId id="697" r:id="rId57"/>
    <p:sldId id="558" r:id="rId58"/>
    <p:sldId id="698" r:id="rId59"/>
    <p:sldId id="701" r:id="rId60"/>
    <p:sldId id="703" r:id="rId61"/>
    <p:sldId id="702" r:id="rId62"/>
    <p:sldId id="704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A02D4CA-36D1-0242-9570-74B9915D5B21}">
          <p14:sldIdLst>
            <p14:sldId id="256"/>
            <p14:sldId id="691"/>
            <p14:sldId id="655"/>
          </p14:sldIdLst>
        </p14:section>
        <p14:section name="Date et Time" id="{3357B87E-8E0F-B443-83BD-7B3BFFD401C4}">
          <p14:sldIdLst>
            <p14:sldId id="664"/>
            <p14:sldId id="657"/>
            <p14:sldId id="658"/>
            <p14:sldId id="659"/>
            <p14:sldId id="660"/>
            <p14:sldId id="662"/>
            <p14:sldId id="661"/>
            <p14:sldId id="690"/>
            <p14:sldId id="665"/>
          </p14:sldIdLst>
        </p14:section>
        <p14:section name="Structure" id="{5D33EF62-3B19-7445-B0EB-7D546C8440FD}">
          <p14:sldIdLst>
            <p14:sldId id="676"/>
            <p14:sldId id="668"/>
            <p14:sldId id="669"/>
            <p14:sldId id="699"/>
            <p14:sldId id="666"/>
            <p14:sldId id="677"/>
            <p14:sldId id="678"/>
            <p14:sldId id="667"/>
            <p14:sldId id="670"/>
            <p14:sldId id="671"/>
            <p14:sldId id="673"/>
            <p14:sldId id="674"/>
            <p14:sldId id="683"/>
          </p14:sldIdLst>
        </p14:section>
        <p14:section name="Classe Publique" id="{6814CEF5-A849-0C4A-B776-0B821D17E8C9}">
          <p14:sldIdLst>
            <p14:sldId id="684"/>
            <p14:sldId id="685"/>
            <p14:sldId id="686"/>
            <p14:sldId id="687"/>
          </p14:sldIdLst>
        </p14:section>
        <p14:section name="Exercices" id="{04A30823-8432-AD49-8050-8CAAEC35B7A7}">
          <p14:sldIdLst>
            <p14:sldId id="700"/>
            <p14:sldId id="549"/>
            <p14:sldId id="550"/>
            <p14:sldId id="501"/>
            <p14:sldId id="473"/>
          </p14:sldIdLst>
        </p14:section>
        <p14:section name="Syntaxe Java" id="{34B0FE40-7DB0-A54C-9B77-F28A6EBC1807}">
          <p14:sldIdLst>
            <p14:sldId id="680"/>
            <p14:sldId id="504"/>
            <p14:sldId id="679"/>
            <p14:sldId id="503"/>
            <p14:sldId id="505"/>
            <p14:sldId id="509"/>
            <p14:sldId id="510"/>
            <p14:sldId id="511"/>
            <p14:sldId id="638"/>
          </p14:sldIdLst>
        </p14:section>
        <p14:section name="Autres Types" id="{908196BA-BF7A-4D49-86EF-76BCAA847D54}">
          <p14:sldIdLst>
            <p14:sldId id="692"/>
            <p14:sldId id="681"/>
            <p14:sldId id="514"/>
            <p14:sldId id="513"/>
            <p14:sldId id="689"/>
            <p14:sldId id="512"/>
            <p14:sldId id="517"/>
            <p14:sldId id="526"/>
            <p14:sldId id="518"/>
            <p14:sldId id="694"/>
            <p14:sldId id="695"/>
            <p14:sldId id="696"/>
            <p14:sldId id="697"/>
            <p14:sldId id="558"/>
            <p14:sldId id="698"/>
            <p14:sldId id="701"/>
            <p14:sldId id="703"/>
            <p14:sldId id="702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D1F22"/>
    <a:srgbClr val="47774F"/>
    <a:srgbClr val="528DB3"/>
    <a:srgbClr val="6285D7"/>
    <a:srgbClr val="D37429"/>
    <a:srgbClr val="142A57"/>
    <a:srgbClr val="BCBEC4"/>
    <a:srgbClr val="1C1F22"/>
    <a:srgbClr val="ECC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966"/>
  </p:normalViewPr>
  <p:slideViewPr>
    <p:cSldViewPr snapToGrid="0">
      <p:cViewPr>
        <p:scale>
          <a:sx n="134" d="100"/>
          <a:sy n="134" d="100"/>
        </p:scale>
        <p:origin x="72" y="96"/>
      </p:cViewPr>
      <p:guideLst/>
    </p:cSldViewPr>
  </p:slideViewPr>
  <p:outlineViewPr>
    <p:cViewPr>
      <p:scale>
        <a:sx n="33" d="100"/>
        <a:sy n="33" d="100"/>
      </p:scale>
      <p:origin x="0" y="-742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4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1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604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070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30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8/docs/api/java.base/java/lang/Character.html#MAX_RADIX" TargetMode="External"/><Relationship Id="rId2" Type="http://schemas.openxmlformats.org/officeDocument/2006/relationships/hyperlink" Target="https://docs.oracle.com/en/java/javase/18/docs/api/java.base/java/lang/Character.html#MIN_RADI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2/docs/api/java.base/java/util/Formatter.html#synta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2</a:t>
            </a:r>
          </a:p>
          <a:p>
            <a:r>
              <a:rPr lang="fr-FR" dirty="0"/>
              <a:t>Semaine 2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1A359-665C-7EF3-F766-44D051AE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 au dernier cours…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989C80-45D8-CEAF-65AF-7BB8EDE3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err="1"/>
              <a:t>IntelliJ</a:t>
            </a:r>
            <a:endParaRPr lang="fr-FR" dirty="0"/>
          </a:p>
          <a:p>
            <a:r>
              <a:rPr lang="fr-FR" dirty="0"/>
              <a:t>Syntaxe Java très similaire à C#, mais conventions de nommage différentes:</a:t>
            </a:r>
          </a:p>
          <a:p>
            <a:pPr lvl="1"/>
            <a:r>
              <a:rPr lang="fr-FR" dirty="0"/>
              <a:t>Classes, </a:t>
            </a:r>
            <a:r>
              <a:rPr lang="fr-FR" dirty="0" err="1"/>
              <a:t>Enums</a:t>
            </a:r>
            <a:r>
              <a:rPr lang="fr-FR" dirty="0"/>
              <a:t>, Interfaces commencent par Majuscule</a:t>
            </a:r>
          </a:p>
          <a:p>
            <a:pPr lvl="1"/>
            <a:r>
              <a:rPr lang="fr-FR" dirty="0"/>
              <a:t>Variables et méthodes commencent par minuscule</a:t>
            </a:r>
          </a:p>
          <a:p>
            <a:pPr lvl="1"/>
            <a:r>
              <a:rPr lang="fr-FR" dirty="0"/>
              <a:t>CamelCase si plusieurs mots</a:t>
            </a:r>
          </a:p>
          <a:p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Appel constructeur classe parent par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super()</a:t>
            </a:r>
          </a:p>
          <a:p>
            <a:r>
              <a:rPr lang="fr-FR" dirty="0"/>
              <a:t>objet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fr-FR" dirty="0"/>
              <a:t> Classe</a:t>
            </a:r>
          </a:p>
          <a:p>
            <a:r>
              <a:rPr lang="fr-FR" dirty="0"/>
              <a:t>Principes POO - Encapsulation: getters et setters</a:t>
            </a:r>
          </a:p>
          <a:p>
            <a:r>
              <a:rPr lang="fr-FR" dirty="0"/>
              <a:t>La classe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scanner.next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scanner.nextInt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,…</a:t>
            </a:r>
          </a:p>
          <a:p>
            <a:r>
              <a:rPr lang="fr-FR" dirty="0"/>
              <a:t>Types primitifs vs Objets: pas la même chose en mémoire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27661B-38BA-1AAD-80A1-E9C95663D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24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5BC5AAA-86F1-6907-DAAB-E3C9F7DA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Au cours précédent…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AF047BC-18EC-055F-9307-E82342665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Quelques questions par rapport à la matière vue la semaine dernière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récupérer </a:t>
            </a:r>
            <a:r>
              <a:rPr lang="fr-FR" sz="2400" dirty="0">
                <a:solidFill>
                  <a:schemeClr val="accent4"/>
                </a:solidFill>
              </a:rPr>
              <a:t>l’année courante </a:t>
            </a:r>
            <a:r>
              <a:rPr lang="fr-FR" sz="2400" dirty="0"/>
              <a:t>(et de façon plus générale comment manipuler des dates/heures)?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sont </a:t>
            </a:r>
            <a:r>
              <a:rPr lang="fr-FR" sz="2400" dirty="0">
                <a:solidFill>
                  <a:srgbClr val="FFC000"/>
                </a:solidFill>
              </a:rPr>
              <a:t>structurés</a:t>
            </a:r>
            <a:r>
              <a:rPr lang="fr-FR" sz="2400" dirty="0"/>
              <a:t> les projets?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 Pourquoi </a:t>
            </a:r>
            <a:r>
              <a:rPr lang="fr-FR" sz="2400" dirty="0">
                <a:solidFill>
                  <a:schemeClr val="accent4"/>
                </a:solidFill>
              </a:rPr>
              <a:t>une seule classe public </a:t>
            </a:r>
            <a:r>
              <a:rPr lang="fr-FR" sz="2400" dirty="0"/>
              <a:t>dans un fichier .java?</a:t>
            </a:r>
          </a:p>
          <a:p>
            <a:pPr marL="457200" indent="-457200"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F4A4A9B-0446-B04F-704D-C8B4B7DAB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44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alendriers et horloges blue colors. Image 2 de 4">
            <a:extLst>
              <a:ext uri="{FF2B5EF4-FFF2-40B4-BE49-F238E27FC236}">
                <a16:creationId xmlns:a16="http://schemas.microsoft.com/office/drawing/2014/main" id="{713181F6-9151-B161-E7AF-6AA512DEA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5" b="796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6241473" cy="1107996"/>
          </a:xfrm>
          <a:prstGeom prst="rect">
            <a:avLst/>
          </a:prstGeom>
          <a:solidFill>
            <a:srgbClr val="6AD4FA">
              <a:alpha val="7451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atin typeface="Calibri" panose="020F0502020204030204" pitchFamily="34" charset="0"/>
                <a:cs typeface="Calibri" panose="020F0502020204030204" pitchFamily="34" charset="0"/>
              </a:rPr>
              <a:t> Date et Time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rgbClr val="6AD4FA">
              <a:alpha val="75686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Une manière de gérer dates et/ou heures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53DBCC-04B3-4199-D3FD-FAA13499E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32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C1007-49DB-41A4-E679-73B5D365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Récupérer la date courante…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12013F-2A7E-33B6-BFA7-ADAA93345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Les classes utilisées dépendront de ce que vous désirez obtenir…</a:t>
            </a:r>
          </a:p>
          <a:p>
            <a:pPr marL="0" indent="0">
              <a:buNone/>
            </a:pPr>
            <a:r>
              <a:rPr lang="fr-FR" dirty="0"/>
              <a:t>L’API Date-Time, introduite avec Java 8, permet de gérer efficacement les notions de date et d’heure.</a:t>
            </a:r>
          </a:p>
          <a:p>
            <a:r>
              <a:rPr lang="fr-FR" dirty="0"/>
              <a:t>La classe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FR" dirty="0"/>
              <a:t> représente une date, sans notion d’heure.</a:t>
            </a:r>
          </a:p>
          <a:p>
            <a:r>
              <a:rPr lang="fr-FR" dirty="0"/>
              <a:t>La classe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LocalTime</a:t>
            </a:r>
            <a:r>
              <a:rPr lang="fr-FR" dirty="0"/>
              <a:t> représente l’heure, sans la notion de date.</a:t>
            </a:r>
          </a:p>
          <a:p>
            <a:r>
              <a:rPr lang="fr-FR" dirty="0"/>
              <a:t>La classe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LocalDateTime</a:t>
            </a:r>
            <a:r>
              <a:rPr lang="fr-FR" dirty="0"/>
              <a:t> représente la combinaison des deux.</a:t>
            </a:r>
          </a:p>
          <a:p>
            <a:pPr marL="0" indent="0">
              <a:buNone/>
            </a:pPr>
            <a:r>
              <a:rPr lang="fr-FR" dirty="0"/>
              <a:t>Ces trois classes manipulent ces informations d’un point de vue local, sans tenir compte des fuseaux horaires…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1CDDC2-C070-BC00-D1A9-DB7A7D121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32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C1007-49DB-41A4-E679-73B5D365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de </a:t>
            </a:r>
            <a:r>
              <a:rPr lang="fr-FR" sz="4400" b="0" dirty="0" err="1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LocalDate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12013F-2A7E-33B6-BFA7-ADAA93345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FR" sz="2400" dirty="0"/>
              <a:t> représente une date, sans notion d’heure. Elle peut être utilisée pour stocker des dates (anniversaire, échéance,…).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Le tableau du slide suivant liste quelques cas d’utilisation de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FR" sz="2400" dirty="0"/>
              <a:t>.</a:t>
            </a:r>
          </a:p>
          <a:p>
            <a:r>
              <a:rPr lang="fr-FR" sz="2400" dirty="0"/>
              <a:t>Remarquez que certaines méthodes sont indiquées en italique, nous reviendrons là-dessus plus tard.</a:t>
            </a:r>
          </a:p>
          <a:p>
            <a:r>
              <a:rPr lang="fr-FR" sz="2400" dirty="0"/>
              <a:t>Remarquez aussi l’utilisation d’autres classes, comme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ChronoUnit</a:t>
            </a:r>
            <a:r>
              <a:rPr lang="fr-FR" sz="2400" dirty="0"/>
              <a:t> ou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DayOfWeek</a:t>
            </a:r>
            <a:r>
              <a:rPr lang="fr-FR" sz="2400" dirty="0"/>
              <a:t>.</a:t>
            </a:r>
          </a:p>
          <a:p>
            <a:r>
              <a:rPr lang="fr-FR" sz="2400" dirty="0"/>
              <a:t>Enfin, les dates littérales sont au format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"AAAA-MM-JJ"</a:t>
            </a:r>
            <a:r>
              <a:rPr lang="fr-FR" sz="2400" dirty="0"/>
              <a:t>. L’utilisation d’autres classes permet d’être plus spécifique (ce qui dépasse le cadre de ce 2</a:t>
            </a:r>
            <a:r>
              <a:rPr lang="fr-FR" sz="2400" baseline="30000" dirty="0"/>
              <a:t>ème</a:t>
            </a:r>
            <a:r>
              <a:rPr lang="fr-FR" sz="2400" dirty="0"/>
              <a:t> cours).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29A433-6AFA-6F27-761D-C7EE9A9DE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36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C1007-49DB-41A4-E679-73B5D365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exemples avec </a:t>
            </a:r>
            <a:r>
              <a:rPr lang="fr-FR" sz="4400" b="0" dirty="0" err="1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LocalDate</a:t>
            </a:r>
            <a:endParaRPr lang="fr-FR" dirty="0"/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C48088AC-A387-8FBF-0894-87AC02699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2486225"/>
              </p:ext>
            </p:extLst>
          </p:nvPr>
        </p:nvGraphicFramePr>
        <p:xfrm>
          <a:off x="359134" y="1679884"/>
          <a:ext cx="11473732" cy="43199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84174">
                  <a:extLst>
                    <a:ext uri="{9D8B030D-6E8A-4147-A177-3AD203B41FA5}">
                      <a16:colId xmlns:a16="http://schemas.microsoft.com/office/drawing/2014/main" val="1647438990"/>
                    </a:ext>
                  </a:extLst>
                </a:gridCol>
                <a:gridCol w="8889558">
                  <a:extLst>
                    <a:ext uri="{9D8B030D-6E8A-4147-A177-3AD203B41FA5}">
                      <a16:colId xmlns:a16="http://schemas.microsoft.com/office/drawing/2014/main" val="4171034227"/>
                    </a:ext>
                  </a:extLst>
                </a:gridCol>
              </a:tblGrid>
              <a:tr h="418066">
                <a:tc>
                  <a:txBody>
                    <a:bodyPr/>
                    <a:lstStyle/>
                    <a:p>
                      <a:r>
                        <a:rPr lang="fr-FR" dirty="0"/>
                        <a:t>Objectif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0159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la date du jour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aujourdhui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BE" sz="160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62036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 err="1"/>
                        <a:t>Résupérer</a:t>
                      </a:r>
                      <a:r>
                        <a:rPr lang="fr-FR" sz="1600" dirty="0"/>
                        <a:t> une date donnée (15/06/2008)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ju1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parse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6AAB73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"2008-06-15"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ju2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2008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06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BE" sz="160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41138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La date de demain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demain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().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plusDays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264386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Aujourd’hui moins 1 mois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memeJourMoisPrecedent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().minus(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ChronoUnit.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MONTHS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727633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le jour de la semaine ou le jour du mois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DayOfWeek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jeudi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parse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6AAB73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"2010-07-15"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).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getDayOfWeek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BE" sz="1600" b="1" u="none" strike="noStrike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deux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parse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6AAB73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"2012-09-02"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).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getDayOfMonth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184551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Année bissextile?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estBissextile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().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isLeapYear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716067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/>
                        <a:t>Nombre de jours du mois</a:t>
                      </a:r>
                    </a:p>
                    <a:p>
                      <a:r>
                        <a:rPr lang="fr-FR" sz="1600" dirty="0"/>
                        <a:t>Nombre de jours de l’année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joursDansMois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aujourdhui.lengthOfMonth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b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joursDansAnnee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aujourdhui.lengthOfYear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14042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Nombre de jours entre dates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ageEnJours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ChronoUnit.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DAYS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.between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(naissance,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aujourdhui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511029"/>
                  </a:ext>
                </a:extLst>
              </a:tr>
            </a:tbl>
          </a:graphicData>
        </a:graphic>
      </p:graphicFrame>
      <p:sp>
        <p:nvSpPr>
          <p:cNvPr id="18" name="Bulle rectangulaire à coins arrondis 17">
            <a:extLst>
              <a:ext uri="{FF2B5EF4-FFF2-40B4-BE49-F238E27FC236}">
                <a16:creationId xmlns:a16="http://schemas.microsoft.com/office/drawing/2014/main" id="{C2A8E20A-1ADA-E3E4-BA38-6BEAF708CEC2}"/>
              </a:ext>
            </a:extLst>
          </p:cNvPr>
          <p:cNvSpPr/>
          <p:nvPr/>
        </p:nvSpPr>
        <p:spPr>
          <a:xfrm>
            <a:off x="5577806" y="1454674"/>
            <a:ext cx="6015527" cy="450419"/>
          </a:xfrm>
          <a:prstGeom prst="wedgeRoundRectCallout">
            <a:avLst>
              <a:gd name="adj1" fmla="val -27996"/>
              <a:gd name="adj2" fmla="val 96651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Remarquez les méthodes en </a:t>
            </a:r>
            <a:r>
              <a:rPr lang="fr-FR" i="1" dirty="0"/>
              <a:t>italique</a:t>
            </a:r>
            <a:r>
              <a:rPr lang="fr-FR" dirty="0"/>
              <a:t>… Méthodes statiques.</a:t>
            </a:r>
            <a:endParaRPr lang="fr-FR" i="1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0845E41-8023-5A25-6F37-6A90891C1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37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Ecrivez un programme qui demande à l’utilisateur son jour, mois et année de naissance (sous forme d’entiers).</a:t>
            </a:r>
          </a:p>
          <a:p>
            <a:r>
              <a:rPr lang="nl-BE" sz="2400" dirty="0"/>
              <a:t>Affichez ensuite à l’utilisateur depuis combien d’années, mois, semaines et jours il est né.</a:t>
            </a:r>
          </a:p>
          <a:p>
            <a:endParaRPr lang="nl-BE" sz="2400" dirty="0"/>
          </a:p>
          <a:p>
            <a:r>
              <a:rPr lang="nl-BE" sz="2400" dirty="0"/>
              <a:t>Comment afficher le nombre de secondes </a:t>
            </a:r>
            <a:br>
              <a:rPr lang="nl-BE" sz="2400" dirty="0"/>
            </a:br>
            <a:r>
              <a:rPr lang="nl-BE" sz="2400" dirty="0"/>
              <a:t>depuis sa naissance…?</a:t>
            </a:r>
            <a:endParaRPr lang="fr-FR" sz="24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9F7669FB-8553-A044-8BC2-6E9BE5DE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D5BEAA6-79A6-6727-C367-43617BDBF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934" y="4203541"/>
            <a:ext cx="4036244" cy="228933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D6E19E-CBC2-F3D3-7598-AE5E692F8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27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C1007-49DB-41A4-E679-73B5D365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exemples avec </a:t>
            </a:r>
            <a:r>
              <a:rPr lang="fr-FR" sz="4400" b="0" dirty="0" err="1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LocalTime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9EBB018-0655-6FDE-A43F-935F66F31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LocalTime</a:t>
            </a:r>
            <a:r>
              <a:rPr lang="fr-FR" sz="2800" dirty="0"/>
              <a:t> représente une heure, sans notion de date.</a:t>
            </a:r>
          </a:p>
          <a:p>
            <a:endParaRPr lang="fr-FR" dirty="0"/>
          </a:p>
        </p:txBody>
      </p:sp>
      <p:graphicFrame>
        <p:nvGraphicFramePr>
          <p:cNvPr id="14" name="Espace réservé du contenu 6">
            <a:extLst>
              <a:ext uri="{FF2B5EF4-FFF2-40B4-BE49-F238E27FC236}">
                <a16:creationId xmlns:a16="http://schemas.microsoft.com/office/drawing/2014/main" id="{8D5D47E3-3E83-A9B5-BBD7-6859CD047F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607278"/>
              </p:ext>
            </p:extLst>
          </p:nvPr>
        </p:nvGraphicFramePr>
        <p:xfrm>
          <a:off x="352425" y="2080842"/>
          <a:ext cx="11506200" cy="37494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98751">
                  <a:extLst>
                    <a:ext uri="{9D8B030D-6E8A-4147-A177-3AD203B41FA5}">
                      <a16:colId xmlns:a16="http://schemas.microsoft.com/office/drawing/2014/main" val="1647438990"/>
                    </a:ext>
                  </a:extLst>
                </a:gridCol>
                <a:gridCol w="8907449">
                  <a:extLst>
                    <a:ext uri="{9D8B030D-6E8A-4147-A177-3AD203B41FA5}">
                      <a16:colId xmlns:a16="http://schemas.microsoft.com/office/drawing/2014/main" val="4171034227"/>
                    </a:ext>
                  </a:extLst>
                </a:gridCol>
              </a:tblGrid>
              <a:tr h="418066">
                <a:tc>
                  <a:txBody>
                    <a:bodyPr/>
                    <a:lstStyle/>
                    <a:p>
                      <a:r>
                        <a:rPr lang="fr-FR" dirty="0"/>
                        <a:t>Objectif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0159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l’heure courante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LocalTime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maintenant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LocalTime.now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BE" sz="160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62036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 err="1"/>
                        <a:t>Résupérer</a:t>
                      </a:r>
                      <a:r>
                        <a:rPr lang="fr-FR" sz="1600" dirty="0"/>
                        <a:t> une heure donnée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parse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6AAB73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"18:47"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18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47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BE" sz="160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41138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Une heure plus tôt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LocalTime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uneHeurePlusTot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maintenant.minus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ChronoUnit.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HOURS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264386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l’heure (sans les minutes)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dixHuit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maintenant.getHour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184551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Savoir si une heure est avant une autre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estAvant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uneHeurePlusTot.isBefore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(maintenant);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716067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/>
                        <a:t>Quelques constantes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</a:rPr>
                        <a:t>MAX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</a:rPr>
                        <a:t>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</a:rPr>
                        <a:t>MIN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</a:rPr>
                        <a:t>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</a:rPr>
                        <a:t>MIDNIGHT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</a:rPr>
                        <a:t>,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</a:rPr>
                        <a:t>LocalTime.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</a:rPr>
                        <a:t>NOON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</a:rPr>
                        <a:t>;</a:t>
                      </a:r>
                    </a:p>
                    <a:p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14042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87A1519-EBC7-28C9-158F-C33D126EE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C1007-49DB-41A4-E679-73B5D365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Quelques exemples avec </a:t>
            </a:r>
            <a:r>
              <a:rPr lang="fr-FR" sz="4400" b="0" dirty="0" err="1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LocalDateTime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9E6353-70D6-D9EF-BE75-AD0FCA817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LocalDateTime</a:t>
            </a:r>
            <a:r>
              <a:rPr lang="fr-FR" sz="2800" dirty="0"/>
              <a:t> représente une combinaison de date et d’heure.</a:t>
            </a:r>
          </a:p>
          <a:p>
            <a:pPr marL="0" indent="0">
              <a:buNone/>
            </a:pPr>
            <a:r>
              <a:rPr lang="fr-FR" dirty="0"/>
              <a:t>Elle sera utilisée par exemple des rendez-vous ou des moments spécifiques où les deux informations sont nécessaires.</a:t>
            </a:r>
          </a:p>
          <a:p>
            <a:pPr marL="0" indent="0">
              <a:buNone/>
            </a:pP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8" name="Espace réservé du contenu 6">
            <a:extLst>
              <a:ext uri="{FF2B5EF4-FFF2-40B4-BE49-F238E27FC236}">
                <a16:creationId xmlns:a16="http://schemas.microsoft.com/office/drawing/2014/main" id="{D5DCCBC1-FC02-55C8-DA99-83849143CD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8993912"/>
              </p:ext>
            </p:extLst>
          </p:nvPr>
        </p:nvGraphicFramePr>
        <p:xfrm>
          <a:off x="838199" y="3240852"/>
          <a:ext cx="10220325" cy="286530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44033">
                  <a:extLst>
                    <a:ext uri="{9D8B030D-6E8A-4147-A177-3AD203B41FA5}">
                      <a16:colId xmlns:a16="http://schemas.microsoft.com/office/drawing/2014/main" val="1647438990"/>
                    </a:ext>
                  </a:extLst>
                </a:gridCol>
                <a:gridCol w="5976292">
                  <a:extLst>
                    <a:ext uri="{9D8B030D-6E8A-4147-A177-3AD203B41FA5}">
                      <a16:colId xmlns:a16="http://schemas.microsoft.com/office/drawing/2014/main" val="4171034227"/>
                    </a:ext>
                  </a:extLst>
                </a:gridCol>
              </a:tblGrid>
              <a:tr h="418066">
                <a:tc>
                  <a:txBody>
                    <a:bodyPr/>
                    <a:lstStyle/>
                    <a:p>
                      <a:r>
                        <a:rPr lang="fr-FR" dirty="0"/>
                        <a:t>Objectif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0159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l’heure courante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LocalDateTime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maintenant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LocalDateTime.now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BE" sz="1600" kern="1200" dirty="0">
                        <a:solidFill>
                          <a:schemeClr val="dk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62036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 err="1"/>
                        <a:t>Résupérer</a:t>
                      </a:r>
                      <a:r>
                        <a:rPr lang="fr-FR" sz="1600" dirty="0"/>
                        <a:t> une heure donnée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LocalDateTime.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2015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Month.</a:t>
                      </a:r>
                      <a:r>
                        <a:rPr lang="fr-BE" sz="1600" i="1" dirty="0" err="1">
                          <a:solidFill>
                            <a:srgbClr val="C77DBB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FEBRUARY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06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LocalDateTime.</a:t>
                      </a:r>
                      <a:r>
                        <a:rPr lang="fr-BE" sz="1600" i="1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parse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6AAB73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"2015-02-20T06:30:00"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41138"/>
                  </a:ext>
                </a:extLst>
              </a:tr>
              <a:tr h="383226">
                <a:tc>
                  <a:txBody>
                    <a:bodyPr/>
                    <a:lstStyle/>
                    <a:p>
                      <a:r>
                        <a:rPr lang="fr-FR" sz="1600" dirty="0"/>
                        <a:t>Un jour plus tard ou deux heures plus tôt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maintenant.plusDays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maintenant.minusHours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dirty="0">
                          <a:solidFill>
                            <a:srgbClr val="2AACB8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264386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r>
                        <a:rPr lang="fr-FR" sz="1600" dirty="0"/>
                        <a:t>Récupérer l’heure, le jour (du mois), le mois,…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heure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maintenant.getHour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jourDuMois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maintenant.getDayOfMonth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Month</a:t>
                      </a:r>
                      <a:r>
                        <a:rPr lang="fr-BE" sz="1600" dirty="0">
                          <a:solidFill>
                            <a:srgbClr val="CF8E6D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mois = </a:t>
                      </a:r>
                      <a:r>
                        <a:rPr lang="fr-BE" sz="1600" dirty="0" err="1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maintenant.getMonth</a:t>
                      </a:r>
                      <a:r>
                        <a:rPr lang="fr-BE" sz="1600" dirty="0"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  <a:endParaRPr lang="fr-FR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184551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7F6CE58-95E8-797F-3704-7D080B7CD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27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C3186-AFF6-C536-94BC-A7EEE3F4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D’autres choses à faire avec le temps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FEF7B-1D29-0FA1-3E79-E267B4884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940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Calculer le temps écoulé entre deux dates: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229F41D-53B4-04FF-A25F-F96FA43E6135}"/>
              </a:ext>
            </a:extLst>
          </p:cNvPr>
          <p:cNvSpPr txBox="1"/>
          <p:nvPr/>
        </p:nvSpPr>
        <p:spPr>
          <a:xfrm>
            <a:off x="954156" y="2445026"/>
            <a:ext cx="10717696" cy="2123658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aujourdhui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LocalDate.</a:t>
            </a:r>
            <a:r>
              <a:rPr lang="fr-BE" sz="22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naissance =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LocalDate.</a:t>
            </a:r>
            <a:r>
              <a:rPr lang="fr-BE" sz="22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annee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mois, jour);</a:t>
            </a:r>
          </a:p>
          <a:p>
            <a:pPr marL="0" indent="0">
              <a:buNone/>
            </a:pP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Period.</a:t>
            </a:r>
            <a:r>
              <a:rPr lang="fr-BE" sz="22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between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(naissance,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aujourdhui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200" i="1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.printf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"Vous êtes né depuis %d années, %d mois et %d jours.</a:t>
            </a:r>
            <a:r>
              <a:rPr lang="fr-BE" sz="22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fr-BE" sz="22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period.getYears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period.getMonths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  <a:r>
              <a:rPr lang="fr-BE" sz="2200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period.getDays</a:t>
            </a:r>
            <a:r>
              <a:rPr lang="fr-BE" sz="22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CD9881-40E6-6D94-249F-881DF14583B4}"/>
              </a:ext>
            </a:extLst>
          </p:cNvPr>
          <p:cNvSpPr txBox="1"/>
          <p:nvPr/>
        </p:nvSpPr>
        <p:spPr>
          <a:xfrm>
            <a:off x="954157" y="4907521"/>
            <a:ext cx="8239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Il y a bien d’autres classes dans le package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java.time</a:t>
            </a:r>
            <a:r>
              <a:rPr lang="fr-FR" sz="2400" dirty="0"/>
              <a:t> et ses sous-packages: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ZonedDateTime</a:t>
            </a:r>
            <a:r>
              <a:rPr lang="fr-FR" sz="2400" dirty="0"/>
              <a:t>,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Instant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Calendar</a:t>
            </a:r>
            <a:r>
              <a:rPr lang="fr-FR" sz="2400" dirty="0"/>
              <a:t>,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Duration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Period</a:t>
            </a:r>
            <a:r>
              <a:rPr lang="fr-FR" sz="2400" dirty="0"/>
              <a:t>….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0182F5E-E87B-7666-3724-15755E95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954" y="5003419"/>
            <a:ext cx="2298700" cy="15748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A4153B-4407-0CBB-7859-11FEDF68E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09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5BC5AAA-86F1-6907-DAAB-E3C9F7DA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Au cours précédent…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AF047BC-18EC-055F-9307-E82342665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3 points à aborder: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récupérer </a:t>
            </a:r>
            <a:r>
              <a:rPr lang="fr-FR" sz="2400" dirty="0">
                <a:solidFill>
                  <a:schemeClr val="accent4"/>
                </a:solidFill>
              </a:rPr>
              <a:t>l’année courante </a:t>
            </a:r>
            <a:r>
              <a:rPr lang="fr-FR" sz="2400" dirty="0"/>
              <a:t>(et de façon plus générale comment manipuler des dates/heures)?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sont </a:t>
            </a:r>
            <a:r>
              <a:rPr lang="fr-FR" sz="2400" dirty="0">
                <a:solidFill>
                  <a:srgbClr val="FFC000"/>
                </a:solidFill>
              </a:rPr>
              <a:t>structurés</a:t>
            </a:r>
            <a:r>
              <a:rPr lang="fr-FR" sz="2400" dirty="0"/>
              <a:t> les projets?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Pourquoi </a:t>
            </a:r>
            <a:r>
              <a:rPr lang="fr-FR" sz="2400" dirty="0">
                <a:solidFill>
                  <a:schemeClr val="accent4"/>
                </a:solidFill>
              </a:rPr>
              <a:t>une seule classe public </a:t>
            </a:r>
            <a:r>
              <a:rPr lang="fr-FR" sz="2400" dirty="0"/>
              <a:t>dans un fichier .java?</a:t>
            </a:r>
          </a:p>
          <a:p>
            <a:pPr marL="457200" indent="-457200">
              <a:buFont typeface="+mj-lt"/>
              <a:buAutoNum type="arabicPeriod"/>
            </a:pPr>
            <a:endParaRPr lang="fr-FR" sz="2400" dirty="0"/>
          </a:p>
        </p:txBody>
      </p:sp>
      <p:pic>
        <p:nvPicPr>
          <p:cNvPr id="3074" name="Picture 2" descr="דף תודה - שרות הוגן תכנון וביצוע">
            <a:extLst>
              <a:ext uri="{FF2B5EF4-FFF2-40B4-BE49-F238E27FC236}">
                <a16:creationId xmlns:a16="http://schemas.microsoft.com/office/drawing/2014/main" id="{B9CED924-7486-70BB-4EF9-C5847E5106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0175" r="17742" b="20175"/>
          <a:stretch/>
        </p:blipFill>
        <p:spPr bwMode="auto">
          <a:xfrm>
            <a:off x="332193" y="2200128"/>
            <a:ext cx="1012013" cy="73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4BC618-4574-C6E1-9F6F-5A2B157F8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32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tructure de fichiers et de classes">
            <a:extLst>
              <a:ext uri="{FF2B5EF4-FFF2-40B4-BE49-F238E27FC236}">
                <a16:creationId xmlns:a16="http://schemas.microsoft.com/office/drawing/2014/main" id="{7409288D-A207-DE10-21D8-3C5D874372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3" b="3446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6241473" cy="1107996"/>
          </a:xfrm>
          <a:prstGeom prst="rect">
            <a:avLst/>
          </a:prstGeom>
          <a:solidFill>
            <a:srgbClr val="4CB8FC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atin typeface="Calibri" panose="020F0502020204030204" pitchFamily="34" charset="0"/>
                <a:cs typeface="Calibri" panose="020F0502020204030204" pitchFamily="34" charset="0"/>
              </a:rPr>
              <a:t> Structure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rgbClr val="4CB8FC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Structure de classes/de fichiers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B9A584-175E-9DC0-41FC-C472BA8C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99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DD014-9EF3-40C4-9401-C2DC34FD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Structurer votre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DAE41-1AAC-2780-A91D-3E4377F4A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Il y a deux points de vue dans ce titre:</a:t>
            </a:r>
          </a:p>
          <a:p>
            <a:pPr marL="514350" indent="-514350">
              <a:buAutoNum type="arabicPeriod"/>
            </a:pPr>
            <a:r>
              <a:rPr lang="fr-FR" dirty="0"/>
              <a:t>L’organisation des classes en </a:t>
            </a:r>
            <a:r>
              <a:rPr lang="fr-FR" dirty="0">
                <a:solidFill>
                  <a:schemeClr val="accent4"/>
                </a:solidFill>
              </a:rPr>
              <a:t>packages</a:t>
            </a:r>
            <a:r>
              <a:rPr lang="fr-FR" dirty="0"/>
              <a:t> (un concept lié au langage)</a:t>
            </a:r>
          </a:p>
          <a:p>
            <a:pPr marL="514350" indent="-514350">
              <a:buAutoNum type="arabicPeriod"/>
            </a:pPr>
            <a:r>
              <a:rPr lang="fr-FR" dirty="0"/>
              <a:t>La manière dont les différentes parties de votre </a:t>
            </a:r>
            <a:r>
              <a:rPr lang="fr-FR" dirty="0">
                <a:solidFill>
                  <a:schemeClr val="accent4"/>
                </a:solidFill>
              </a:rPr>
              <a:t>projet</a:t>
            </a:r>
            <a:r>
              <a:rPr lang="fr-FR" dirty="0"/>
              <a:t> sont organisées (cette organisation peut vous être propre, mais en équipe on gagne à adopter une </a:t>
            </a:r>
            <a:r>
              <a:rPr lang="fr-FR" dirty="0">
                <a:solidFill>
                  <a:schemeClr val="accent4"/>
                </a:solidFill>
              </a:rPr>
              <a:t>structure commune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Nous verrons maintenant ces deux points de vue.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009D7E-2025-8DFE-87C2-7A92AB011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31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F199E-9EB0-EE82-E7BE-AA9BFBD7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0373A8-5139-BA80-E2CF-46FD460C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578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Un développeur java crée des classes… Parfo</a:t>
            </a:r>
            <a:r>
              <a:rPr lang="fr-FR" dirty="0">
                <a:latin typeface="+mn-lt"/>
              </a:rPr>
              <a:t>is beaucoup de classes.</a:t>
            </a:r>
          </a:p>
          <a:p>
            <a:pPr marL="0" indent="0">
              <a:buNone/>
            </a:pPr>
            <a:r>
              <a:rPr lang="fr-BE" dirty="0">
                <a:latin typeface="+mn-lt"/>
              </a:rPr>
              <a:t>Les </a:t>
            </a:r>
            <a:r>
              <a:rPr lang="fr-BE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packages</a:t>
            </a:r>
            <a:r>
              <a:rPr lang="fr-BE" dirty="0">
                <a:latin typeface="+mn-lt"/>
              </a:rPr>
              <a:t> permettent de regrouper les classes sous une forme hiérarchisée, de manière à permettre de s’y retrouver plus facilement.</a:t>
            </a:r>
          </a:p>
          <a:p>
            <a:pPr marL="0" indent="0">
              <a:buNone/>
            </a:pPr>
            <a:r>
              <a:rPr lang="fr-BE" dirty="0">
                <a:latin typeface="+mn-lt"/>
              </a:rPr>
              <a:t>Le choix des </a:t>
            </a:r>
            <a:r>
              <a:rPr lang="fr-BE" dirty="0">
                <a:solidFill>
                  <a:schemeClr val="accent4"/>
                </a:solidFill>
                <a:latin typeface="+mn-lt"/>
              </a:rPr>
              <a:t>c</a:t>
            </a:r>
            <a:r>
              <a:rPr lang="fr-BE" dirty="0">
                <a:solidFill>
                  <a:schemeClr val="accent4"/>
                </a:solidFill>
              </a:rPr>
              <a:t>ritères de regroupement </a:t>
            </a:r>
            <a:r>
              <a:rPr lang="fr-BE" dirty="0"/>
              <a:t>est laissé aux développeurs, et on définit généralement les packages selon des critères fonctionnels.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Les fichiers inclus dans un package doivent être insérés dans une </a:t>
            </a:r>
            <a:r>
              <a:rPr lang="fr-BE" dirty="0">
                <a:solidFill>
                  <a:schemeClr val="accent4"/>
                </a:solidFill>
              </a:rPr>
              <a:t>arborescence de répertoires équivalente</a:t>
            </a:r>
            <a:r>
              <a:rPr lang="fr-BE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098" name="Picture 2" descr="Java project package structure guidelines | Dev in Web">
            <a:extLst>
              <a:ext uri="{FF2B5EF4-FFF2-40B4-BE49-F238E27FC236}">
                <a16:creationId xmlns:a16="http://schemas.microsoft.com/office/drawing/2014/main" id="{E6D3C483-987D-831B-DC2B-3A8D7215C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1718815"/>
            <a:ext cx="2515870" cy="459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D9180D-932E-7CD6-BDC8-0413AAA0B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687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7AC45-5D07-A866-C327-DA85A5C5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 structurer les packages java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323E265-0FD5-7853-B107-15C6C8098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Un modèle possible pour l’organisation de code java est la structure de projet </a:t>
            </a:r>
            <a:r>
              <a:rPr lang="fr-BE" b="1" dirty="0">
                <a:solidFill>
                  <a:srgbClr val="FFC000"/>
                </a:solidFill>
              </a:rPr>
              <a:t>UI</a:t>
            </a:r>
            <a:r>
              <a:rPr lang="fr-BE" dirty="0"/>
              <a:t> - </a:t>
            </a:r>
            <a:r>
              <a:rPr lang="fr-BE" b="1" dirty="0">
                <a:solidFill>
                  <a:srgbClr val="FFC000"/>
                </a:solidFill>
              </a:rPr>
              <a:t>Service</a:t>
            </a:r>
            <a:r>
              <a:rPr lang="fr-BE" dirty="0"/>
              <a:t> - </a:t>
            </a:r>
            <a:r>
              <a:rPr lang="fr-BE" b="1" dirty="0">
                <a:solidFill>
                  <a:srgbClr val="FFC000"/>
                </a:solidFill>
              </a:rPr>
              <a:t>Modèle</a:t>
            </a:r>
            <a:r>
              <a:rPr lang="fr-BE" dirty="0"/>
              <a:t> (ou </a:t>
            </a:r>
            <a:r>
              <a:rPr lang="fr-BE" b="1" dirty="0"/>
              <a:t>Data</a:t>
            </a:r>
            <a:r>
              <a:rPr lang="fr-BE" dirty="0"/>
              <a:t>). On appelle cela une architecture en couches (</a:t>
            </a:r>
            <a:r>
              <a:rPr lang="fr-BE" dirty="0">
                <a:solidFill>
                  <a:srgbClr val="FFC000"/>
                </a:solidFill>
              </a:rPr>
              <a:t>n-Tier</a:t>
            </a:r>
            <a:r>
              <a:rPr lang="fr-BE" dirty="0"/>
              <a:t>). </a:t>
            </a:r>
          </a:p>
          <a:p>
            <a:r>
              <a:rPr lang="fr-BE" dirty="0"/>
              <a:t>Cette manière de structurer son code permet de séparer les responsabilités pour faciliter la maintenance et les tests. </a:t>
            </a:r>
            <a:endParaRPr lang="en-GB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A87431-E6E2-3F91-BE72-8593F8F41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30D670-18FC-5CFC-DE8C-568A0A7B9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6858000" cy="2603500"/>
          </a:xfrm>
          <a:prstGeom prst="rect">
            <a:avLst/>
          </a:prstGeom>
        </p:spPr>
      </p:pic>
      <p:sp>
        <p:nvSpPr>
          <p:cNvPr id="10" name="Bulle rectangulaire à coins arrondis 9">
            <a:extLst>
              <a:ext uri="{FF2B5EF4-FFF2-40B4-BE49-F238E27FC236}">
                <a16:creationId xmlns:a16="http://schemas.microsoft.com/office/drawing/2014/main" id="{A0E1A878-E1A2-E18F-4B23-CE0454976533}"/>
              </a:ext>
            </a:extLst>
          </p:cNvPr>
          <p:cNvSpPr/>
          <p:nvPr/>
        </p:nvSpPr>
        <p:spPr>
          <a:xfrm>
            <a:off x="6698202" y="5080535"/>
            <a:ext cx="5309382" cy="216000"/>
          </a:xfrm>
          <a:prstGeom prst="wedgeRoundRectCallout">
            <a:avLst>
              <a:gd name="adj1" fmla="val -55382"/>
              <a:gd name="adj2" fmla="val 37246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Classes liées à l'interface, elles n’appellent que les services.</a:t>
            </a:r>
            <a:endParaRPr lang="en-GB" sz="1600" dirty="0"/>
          </a:p>
        </p:txBody>
      </p:sp>
      <p:sp>
        <p:nvSpPr>
          <p:cNvPr id="11" name="Bulle rectangulaire à coins arrondis 10">
            <a:extLst>
              <a:ext uri="{FF2B5EF4-FFF2-40B4-BE49-F238E27FC236}">
                <a16:creationId xmlns:a16="http://schemas.microsoft.com/office/drawing/2014/main" id="{5EFA487D-980E-457D-A1C9-9BBE729FB92F}"/>
              </a:ext>
            </a:extLst>
          </p:cNvPr>
          <p:cNvSpPr/>
          <p:nvPr/>
        </p:nvSpPr>
        <p:spPr>
          <a:xfrm>
            <a:off x="7512316" y="5398588"/>
            <a:ext cx="4495268" cy="216000"/>
          </a:xfrm>
          <a:prstGeom prst="wedgeRoundRectCallout">
            <a:avLst>
              <a:gd name="adj1" fmla="val -70828"/>
              <a:gd name="adj2" fmla="val -232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Cerveau de l’application, contient la logique métier</a:t>
            </a:r>
            <a:endParaRPr lang="en-GB" sz="1600" dirty="0"/>
          </a:p>
        </p:txBody>
      </p:sp>
      <p:sp>
        <p:nvSpPr>
          <p:cNvPr id="12" name="Bulle rectangulaire à coins arrondis 11">
            <a:extLst>
              <a:ext uri="{FF2B5EF4-FFF2-40B4-BE49-F238E27FC236}">
                <a16:creationId xmlns:a16="http://schemas.microsoft.com/office/drawing/2014/main" id="{F3A6D22E-CF03-6D32-106A-0CC3B9303471}"/>
              </a:ext>
            </a:extLst>
          </p:cNvPr>
          <p:cNvSpPr/>
          <p:nvPr/>
        </p:nvSpPr>
        <p:spPr>
          <a:xfrm>
            <a:off x="7512316" y="5706700"/>
            <a:ext cx="4495268" cy="216000"/>
          </a:xfrm>
          <a:prstGeom prst="wedgeRoundRectCallout">
            <a:avLst>
              <a:gd name="adj1" fmla="val -67611"/>
              <a:gd name="adj2" fmla="val 13663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Contient les classes qui représentent les données</a:t>
            </a:r>
            <a:endParaRPr lang="en-GB" sz="1600" dirty="0"/>
          </a:p>
        </p:txBody>
      </p:sp>
      <p:sp>
        <p:nvSpPr>
          <p:cNvPr id="13" name="Bulle rectangulaire à coins arrondis 12">
            <a:extLst>
              <a:ext uri="{FF2B5EF4-FFF2-40B4-BE49-F238E27FC236}">
                <a16:creationId xmlns:a16="http://schemas.microsoft.com/office/drawing/2014/main" id="{C35F1B52-E561-53E8-E47B-EC57855D8AF7}"/>
              </a:ext>
            </a:extLst>
          </p:cNvPr>
          <p:cNvSpPr/>
          <p:nvPr/>
        </p:nvSpPr>
        <p:spPr>
          <a:xfrm>
            <a:off x="7041428" y="6024753"/>
            <a:ext cx="4966156" cy="216000"/>
          </a:xfrm>
          <a:prstGeom prst="wedgeRoundRectCallout">
            <a:avLst>
              <a:gd name="adj1" fmla="val -53519"/>
              <a:gd name="adj2" fmla="val 3906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Classes qui gèrent la persistance (enregistrement DB,…)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63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  <p:bldP spid="11" grpId="1" animBg="1"/>
      <p:bldP spid="12" grpId="1" animBg="1"/>
      <p:bldP spid="1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EE626-5273-1384-CF44-94158EB1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Accesseurs et visibilité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CB6999-BB41-DF89-856A-023069DED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78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Il y a </a:t>
            </a:r>
            <a:r>
              <a:rPr lang="fr-FR" sz="2400" dirty="0">
                <a:solidFill>
                  <a:schemeClr val="accent4"/>
                </a:solidFill>
              </a:rPr>
              <a:t>4 accesseurs </a:t>
            </a:r>
            <a:r>
              <a:rPr lang="fr-FR" sz="2400" dirty="0"/>
              <a:t>en Java: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FR" sz="2400" dirty="0"/>
              <a:t>, default (rien),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FR" sz="2400" dirty="0"/>
              <a:t>. Ils sont liés à la notion de package et à la notion de sous-classe.</a:t>
            </a:r>
          </a:p>
          <a:p>
            <a:pPr marL="0" indent="0">
              <a:buNone/>
            </a:pPr>
            <a:r>
              <a:rPr lang="fr-FR" sz="2400" dirty="0"/>
              <a:t>Selon l’accesseur utilisé, la classe / la méthode / le champ sera visible ou non en fonction de l’endroit où on l’utilise. 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Selon la classe qui appelle, une méthode d’une classe définie sera accessible (ou pas), en fonction de:</a:t>
            </a:r>
          </a:p>
          <a:p>
            <a:r>
              <a:rPr lang="fr-FR" sz="2400" dirty="0"/>
              <a:t>Le package de la classe appelante</a:t>
            </a:r>
          </a:p>
          <a:p>
            <a:r>
              <a:rPr lang="fr-FR" sz="2400" dirty="0"/>
              <a:t>La relation (héritage) entre la classe appelante et la classe appelée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0EDEAB-424F-685E-455F-04275FC78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006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59">
            <a:extLst>
              <a:ext uri="{FF2B5EF4-FFF2-40B4-BE49-F238E27FC236}">
                <a16:creationId xmlns:a16="http://schemas.microsoft.com/office/drawing/2014/main" id="{3B44A4C7-356A-1924-5E8A-1EC51215E312}"/>
              </a:ext>
            </a:extLst>
          </p:cNvPr>
          <p:cNvSpPr txBox="1"/>
          <p:nvPr/>
        </p:nvSpPr>
        <p:spPr>
          <a:xfrm>
            <a:off x="904948" y="2951705"/>
            <a:ext cx="8450317" cy="1200329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MaClasse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o) {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i="1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.print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dirty="0" err="1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MaSousClasse</a:t>
            </a:r>
            <a:r>
              <a:rPr lang="fr-BE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fr-BE" dirty="0" err="1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BE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o.methodePublique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1EE626-5273-1384-CF44-94158EB1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CB6999-BB41-DF89-856A-023069DED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Pour découvrir l’effet des accesseurs, créez et testez les classes suivantes, </a:t>
            </a:r>
            <a:br>
              <a:rPr lang="fr-FR" sz="2000" dirty="0"/>
            </a:br>
            <a:r>
              <a:rPr lang="fr-FR" sz="2000" dirty="0"/>
              <a:t>dans deux packages différents. Les classes appellent les quatre méthodes de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MaClasse</a:t>
            </a:r>
            <a:r>
              <a:rPr lang="fr-FR" sz="2000" dirty="0"/>
              <a:t>, qui chacune affichent un message spécifique.</a:t>
            </a:r>
          </a:p>
          <a:p>
            <a:pPr marL="0" indent="0">
              <a:buNone/>
            </a:pPr>
            <a:r>
              <a:rPr lang="fr-FR" sz="2000" dirty="0"/>
              <a:t>Quels appels sont possibles? Lesquels ne le sont pas?</a:t>
            </a:r>
          </a:p>
        </p:txBody>
      </p:sp>
      <p:pic>
        <p:nvPicPr>
          <p:cNvPr id="7" name="Picture 2" descr="blog-nutrition-outlet">
            <a:extLst>
              <a:ext uri="{FF2B5EF4-FFF2-40B4-BE49-F238E27FC236}">
                <a16:creationId xmlns:a16="http://schemas.microsoft.com/office/drawing/2014/main" id="{339D5CE9-78C7-2663-5565-0B7C46896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e 62">
            <a:extLst>
              <a:ext uri="{FF2B5EF4-FFF2-40B4-BE49-F238E27FC236}">
                <a16:creationId xmlns:a16="http://schemas.microsoft.com/office/drawing/2014/main" id="{B603D221-9C4C-6EB5-3936-7C288EF37DC9}"/>
              </a:ext>
            </a:extLst>
          </p:cNvPr>
          <p:cNvGrpSpPr/>
          <p:nvPr/>
        </p:nvGrpSpPr>
        <p:grpSpPr>
          <a:xfrm>
            <a:off x="5904256" y="3773517"/>
            <a:ext cx="4069661" cy="3011203"/>
            <a:chOff x="5102628" y="3659444"/>
            <a:chExt cx="4069661" cy="3011203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007EA424-BC61-C392-50D9-52183150612C}"/>
                </a:ext>
              </a:extLst>
            </p:cNvPr>
            <p:cNvGrpSpPr/>
            <p:nvPr/>
          </p:nvGrpSpPr>
          <p:grpSpPr>
            <a:xfrm>
              <a:off x="5102628" y="3659444"/>
              <a:ext cx="4069661" cy="3011203"/>
              <a:chOff x="1461274" y="2793523"/>
              <a:chExt cx="3255906" cy="240860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2522611D-BD41-F32F-35CE-10798D3A252B}"/>
                  </a:ext>
                </a:extLst>
              </p:cNvPr>
              <p:cNvSpPr/>
              <p:nvPr/>
            </p:nvSpPr>
            <p:spPr>
              <a:xfrm>
                <a:off x="1461274" y="2977630"/>
                <a:ext cx="3255906" cy="2224498"/>
              </a:xfrm>
              <a:prstGeom prst="roundRect">
                <a:avLst>
                  <a:gd name="adj" fmla="val 4182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DF2C2C46-C94B-4EFE-95BD-DCD0D34DC356}"/>
                  </a:ext>
                </a:extLst>
              </p:cNvPr>
              <p:cNvSpPr/>
              <p:nvPr/>
            </p:nvSpPr>
            <p:spPr>
              <a:xfrm>
                <a:off x="1461275" y="2793523"/>
                <a:ext cx="812812" cy="318910"/>
              </a:xfrm>
              <a:prstGeom prst="roundRect">
                <a:avLst>
                  <a:gd name="adj" fmla="val 7452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050" dirty="0" err="1"/>
                  <a:t>monPackage</a:t>
                </a:r>
                <a:endParaRPr lang="fr-FR" sz="1050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7B7F6582-1E9F-7E85-781C-49122159712C}"/>
                </a:ext>
              </a:extLst>
            </p:cNvPr>
            <p:cNvGrpSpPr/>
            <p:nvPr/>
          </p:nvGrpSpPr>
          <p:grpSpPr>
            <a:xfrm>
              <a:off x="5242408" y="4058140"/>
              <a:ext cx="1767513" cy="1059161"/>
              <a:chOff x="1337912" y="2649354"/>
              <a:chExt cx="2156059" cy="16881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976FE20-DB6E-B7CE-A7CF-7B83486EF10B}"/>
                  </a:ext>
                </a:extLst>
              </p:cNvPr>
              <p:cNvSpPr/>
              <p:nvPr/>
            </p:nvSpPr>
            <p:spPr>
              <a:xfrm>
                <a:off x="1337912" y="2649354"/>
                <a:ext cx="2156059" cy="1688183"/>
              </a:xfrm>
              <a:prstGeom prst="rect">
                <a:avLst/>
              </a:prstGeom>
              <a:solidFill>
                <a:srgbClr val="F7F9FB"/>
              </a:solidFill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58D9F58-314A-B50D-3D1D-50AD504FD80E}"/>
                  </a:ext>
                </a:extLst>
              </p:cNvPr>
              <p:cNvSpPr/>
              <p:nvPr/>
            </p:nvSpPr>
            <p:spPr>
              <a:xfrm>
                <a:off x="1337912" y="2649355"/>
                <a:ext cx="2156059" cy="366862"/>
              </a:xfrm>
              <a:prstGeom prst="rect">
                <a:avLst/>
              </a:prstGeom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dirty="0" err="1"/>
                  <a:t>MaClasse</a:t>
                </a:r>
                <a:endParaRPr lang="fr-FR" sz="1050" dirty="0"/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E119C371-F44D-5126-0B05-D7375CCA209E}"/>
                </a:ext>
              </a:extLst>
            </p:cNvPr>
            <p:cNvGrpSpPr/>
            <p:nvPr/>
          </p:nvGrpSpPr>
          <p:grpSpPr>
            <a:xfrm>
              <a:off x="7196841" y="5485687"/>
              <a:ext cx="1872001" cy="1061556"/>
              <a:chOff x="4100361" y="2649355"/>
              <a:chExt cx="2283516" cy="1692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C46157B-B1BF-3856-CED1-DD121D5BC91B}"/>
                  </a:ext>
                </a:extLst>
              </p:cNvPr>
              <p:cNvSpPr/>
              <p:nvPr/>
            </p:nvSpPr>
            <p:spPr>
              <a:xfrm>
                <a:off x="4100361" y="2649355"/>
                <a:ext cx="2283515" cy="1692000"/>
              </a:xfrm>
              <a:prstGeom prst="rect">
                <a:avLst/>
              </a:prstGeom>
              <a:solidFill>
                <a:srgbClr val="F7F9FB"/>
              </a:solidFill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B02207-12CF-EA79-0F78-582153009DD5}"/>
                  </a:ext>
                </a:extLst>
              </p:cNvPr>
              <p:cNvSpPr/>
              <p:nvPr/>
            </p:nvSpPr>
            <p:spPr>
              <a:xfrm>
                <a:off x="4100362" y="2649355"/>
                <a:ext cx="2283515" cy="366862"/>
              </a:xfrm>
              <a:prstGeom prst="rect">
                <a:avLst/>
              </a:prstGeom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dirty="0" err="1"/>
                  <a:t>MonAutreClasse</a:t>
                </a:r>
                <a:endParaRPr lang="fr-FR" sz="1050" dirty="0"/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1A2C8A83-7750-F54A-2807-D3416B2C1BBB}"/>
                </a:ext>
              </a:extLst>
            </p:cNvPr>
            <p:cNvGrpSpPr/>
            <p:nvPr/>
          </p:nvGrpSpPr>
          <p:grpSpPr>
            <a:xfrm>
              <a:off x="5242407" y="5474435"/>
              <a:ext cx="1872001" cy="1061556"/>
              <a:chOff x="1337910" y="4356535"/>
              <a:chExt cx="2283516" cy="1692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98CEC4-7ED7-F5E4-7766-F5FD85E88960}"/>
                  </a:ext>
                </a:extLst>
              </p:cNvPr>
              <p:cNvSpPr/>
              <p:nvPr/>
            </p:nvSpPr>
            <p:spPr>
              <a:xfrm>
                <a:off x="1337910" y="4356535"/>
                <a:ext cx="2283515" cy="1692000"/>
              </a:xfrm>
              <a:prstGeom prst="rect">
                <a:avLst/>
              </a:prstGeom>
              <a:solidFill>
                <a:srgbClr val="F7F9FB"/>
              </a:solidFill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54AA6-10CA-AB94-768F-41B4C87B2367}"/>
                  </a:ext>
                </a:extLst>
              </p:cNvPr>
              <p:cNvSpPr/>
              <p:nvPr/>
            </p:nvSpPr>
            <p:spPr>
              <a:xfrm>
                <a:off x="1337911" y="4356535"/>
                <a:ext cx="2283515" cy="366862"/>
              </a:xfrm>
              <a:prstGeom prst="rect">
                <a:avLst/>
              </a:prstGeom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dirty="0" err="1"/>
                  <a:t>MaSousClasse</a:t>
                </a:r>
                <a:endParaRPr lang="fr-FR" sz="1050" dirty="0"/>
              </a:p>
            </p:txBody>
          </p:sp>
        </p:grp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B5F65EFF-504C-02FD-7EDA-0DDC0B98269D}"/>
                </a:ext>
              </a:extLst>
            </p:cNvPr>
            <p:cNvSpPr/>
            <p:nvPr/>
          </p:nvSpPr>
          <p:spPr>
            <a:xfrm>
              <a:off x="6031306" y="5117212"/>
              <a:ext cx="174567" cy="144227"/>
            </a:xfrm>
            <a:prstGeom prst="triangle">
              <a:avLst/>
            </a:prstGeom>
            <a:solidFill>
              <a:srgbClr val="F7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32B25871-B153-B796-AE80-0DD1BC8B81F3}"/>
                </a:ext>
              </a:extLst>
            </p:cNvPr>
            <p:cNvCxnSpPr>
              <a:cxnSpLocks/>
              <a:stCxn id="26" idx="3"/>
              <a:endCxn id="22" idx="0"/>
            </p:cNvCxnSpPr>
            <p:nvPr/>
          </p:nvCxnSpPr>
          <p:spPr>
            <a:xfrm>
              <a:off x="6118590" y="5261439"/>
              <a:ext cx="59818" cy="212996"/>
            </a:xfrm>
            <a:prstGeom prst="line">
              <a:avLst/>
            </a:prstGeom>
            <a:ln w="12700">
              <a:solidFill>
                <a:srgbClr val="F7F9F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A5F185A-831D-874C-D320-BF9773F971B7}"/>
                </a:ext>
              </a:extLst>
            </p:cNvPr>
            <p:cNvSpPr txBox="1"/>
            <p:nvPr/>
          </p:nvSpPr>
          <p:spPr>
            <a:xfrm>
              <a:off x="5433475" y="4306758"/>
              <a:ext cx="13388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methodePublique</a:t>
              </a:r>
              <a:endParaRPr lang="fr-FR" sz="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631B04D-C671-D0DE-91E6-EEAB77F21121}"/>
                </a:ext>
              </a:extLst>
            </p:cNvPr>
            <p:cNvSpPr txBox="1"/>
            <p:nvPr/>
          </p:nvSpPr>
          <p:spPr>
            <a:xfrm>
              <a:off x="5433475" y="4492170"/>
              <a:ext cx="1402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methodeProtected</a:t>
              </a:r>
              <a:endParaRPr lang="fr-FR" sz="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C902D338-1A13-5BEF-E405-F488019BD834}"/>
                </a:ext>
              </a:extLst>
            </p:cNvPr>
            <p:cNvSpPr txBox="1"/>
            <p:nvPr/>
          </p:nvSpPr>
          <p:spPr>
            <a:xfrm>
              <a:off x="5433475" y="4677582"/>
              <a:ext cx="12105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methodeDefaut</a:t>
              </a:r>
              <a:endParaRPr lang="fr-FR" sz="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9E4A8800-E29C-CEA5-115D-D5B3EF2AF3D4}"/>
                </a:ext>
              </a:extLst>
            </p:cNvPr>
            <p:cNvSpPr txBox="1"/>
            <p:nvPr/>
          </p:nvSpPr>
          <p:spPr>
            <a:xfrm>
              <a:off x="5433475" y="4862995"/>
              <a:ext cx="12105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methodePrivee</a:t>
              </a:r>
              <a:endParaRPr lang="fr-FR" sz="9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0519E2A-DB47-E765-0E40-7A0672099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996" t="7623" r="7555" b="75337"/>
            <a:stretch/>
          </p:blipFill>
          <p:spPr>
            <a:xfrm>
              <a:off x="5298047" y="4329730"/>
              <a:ext cx="284662" cy="158104"/>
            </a:xfrm>
            <a:prstGeom prst="rect">
              <a:avLst/>
            </a:prstGeom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C883E9FE-875F-8F5A-8A02-A69A490A72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996" t="30418" r="7555" b="52542"/>
            <a:stretch/>
          </p:blipFill>
          <p:spPr>
            <a:xfrm>
              <a:off x="5298047" y="4513812"/>
              <a:ext cx="284662" cy="158104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1DB43F3-ECF8-0774-EF14-10C5FAAE8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996" t="53803" r="7555" b="29157"/>
            <a:stretch/>
          </p:blipFill>
          <p:spPr>
            <a:xfrm>
              <a:off x="5298047" y="4697894"/>
              <a:ext cx="284662" cy="158104"/>
            </a:xfrm>
            <a:prstGeom prst="rect">
              <a:avLst/>
            </a:prstGeom>
          </p:spPr>
        </p:pic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2DEFED8C-FF18-02D4-8A7D-E132BF8A03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996" t="76326" r="7555" b="6634"/>
            <a:stretch/>
          </p:blipFill>
          <p:spPr>
            <a:xfrm>
              <a:off x="5298047" y="4881976"/>
              <a:ext cx="284662" cy="158104"/>
            </a:xfrm>
            <a:prstGeom prst="rect">
              <a:avLst/>
            </a:prstGeom>
          </p:spPr>
        </p:pic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DDD1F539-3D51-0323-8828-9DC1FED26599}"/>
                </a:ext>
              </a:extLst>
            </p:cNvPr>
            <p:cNvSpPr/>
            <p:nvPr/>
          </p:nvSpPr>
          <p:spPr>
            <a:xfrm rot="15817019">
              <a:off x="7010634" y="4606788"/>
              <a:ext cx="167304" cy="150489"/>
            </a:xfrm>
            <a:prstGeom prst="triangle">
              <a:avLst/>
            </a:prstGeom>
            <a:solidFill>
              <a:srgbClr val="F7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C8D47C14-E868-5C28-0ED8-901F6CB13A83}"/>
                </a:ext>
              </a:extLst>
            </p:cNvPr>
            <p:cNvSpPr txBox="1"/>
            <p:nvPr/>
          </p:nvSpPr>
          <p:spPr>
            <a:xfrm>
              <a:off x="5342390" y="5734572"/>
              <a:ext cx="17876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appelleMethodePublique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CBB6BFEC-350D-A951-AB0D-4916E8BA9A83}"/>
                </a:ext>
              </a:extLst>
            </p:cNvPr>
            <p:cNvSpPr txBox="1"/>
            <p:nvPr/>
          </p:nvSpPr>
          <p:spPr>
            <a:xfrm>
              <a:off x="5342390" y="5919983"/>
              <a:ext cx="18517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appelleMethodeProtected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F0CA3A1-F5FA-01AF-F4CD-DB6541ABF278}"/>
                </a:ext>
              </a:extLst>
            </p:cNvPr>
            <p:cNvSpPr txBox="1"/>
            <p:nvPr/>
          </p:nvSpPr>
          <p:spPr>
            <a:xfrm>
              <a:off x="5342390" y="6105395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appelleMethodeDefaut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13246B68-E982-25EA-A8C5-69F126ECE9E9}"/>
                </a:ext>
              </a:extLst>
            </p:cNvPr>
            <p:cNvSpPr txBox="1"/>
            <p:nvPr/>
          </p:nvSpPr>
          <p:spPr>
            <a:xfrm>
              <a:off x="5342390" y="6290809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appelleMethodePrivee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4DC63438-3F24-34E7-CD95-A761F2F0B36F}"/>
                </a:ext>
              </a:extLst>
            </p:cNvPr>
            <p:cNvSpPr txBox="1"/>
            <p:nvPr/>
          </p:nvSpPr>
          <p:spPr>
            <a:xfrm>
              <a:off x="7247387" y="5734572"/>
              <a:ext cx="17876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appelleMethodePublique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6BE5AF9E-85A7-5820-03DA-E6BC5C475308}"/>
                </a:ext>
              </a:extLst>
            </p:cNvPr>
            <p:cNvSpPr txBox="1"/>
            <p:nvPr/>
          </p:nvSpPr>
          <p:spPr>
            <a:xfrm>
              <a:off x="7247387" y="5919983"/>
              <a:ext cx="18517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appelleMethodeProtected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A5769F91-7BF1-EC8E-2C42-00983B43D8BF}"/>
                </a:ext>
              </a:extLst>
            </p:cNvPr>
            <p:cNvSpPr txBox="1"/>
            <p:nvPr/>
          </p:nvSpPr>
          <p:spPr>
            <a:xfrm>
              <a:off x="7247387" y="6105395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appelleMethodeDefaut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1E281452-B4CF-F312-2FE5-F108C3FDA696}"/>
                </a:ext>
              </a:extLst>
            </p:cNvPr>
            <p:cNvSpPr txBox="1"/>
            <p:nvPr/>
          </p:nvSpPr>
          <p:spPr>
            <a:xfrm>
              <a:off x="7247387" y="6290809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appelleMethodePrivee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7B45D7E5-8F9C-24DA-84C8-CE61E462C5F3}"/>
              </a:ext>
            </a:extLst>
          </p:cNvPr>
          <p:cNvGrpSpPr/>
          <p:nvPr/>
        </p:nvGrpSpPr>
        <p:grpSpPr>
          <a:xfrm>
            <a:off x="9549749" y="2447922"/>
            <a:ext cx="2514463" cy="2876528"/>
            <a:chOff x="9302358" y="2568374"/>
            <a:chExt cx="2514463" cy="2876528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D20F4442-9911-7041-5360-FC9DF9F20934}"/>
                </a:ext>
              </a:extLst>
            </p:cNvPr>
            <p:cNvGrpSpPr/>
            <p:nvPr/>
          </p:nvGrpSpPr>
          <p:grpSpPr>
            <a:xfrm>
              <a:off x="9302358" y="2568374"/>
              <a:ext cx="2514463" cy="2876528"/>
              <a:chOff x="1461275" y="2528896"/>
              <a:chExt cx="2011680" cy="230087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940D5D0A-4F0C-31A1-B9F0-B78FAFD31A16}"/>
                  </a:ext>
                </a:extLst>
              </p:cNvPr>
              <p:cNvSpPr/>
              <p:nvPr/>
            </p:nvSpPr>
            <p:spPr>
              <a:xfrm>
                <a:off x="1461275" y="2713001"/>
                <a:ext cx="2011680" cy="2116765"/>
              </a:xfrm>
              <a:prstGeom prst="roundRect">
                <a:avLst>
                  <a:gd name="adj" fmla="val 7452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56125245-C903-F1BB-38F7-0982826B147E}"/>
                  </a:ext>
                </a:extLst>
              </p:cNvPr>
              <p:cNvSpPr/>
              <p:nvPr/>
            </p:nvSpPr>
            <p:spPr>
              <a:xfrm>
                <a:off x="1461275" y="2528896"/>
                <a:ext cx="873170" cy="318910"/>
              </a:xfrm>
              <a:prstGeom prst="roundRect">
                <a:avLst>
                  <a:gd name="adj" fmla="val 7452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050" dirty="0" err="1"/>
                  <a:t>autrePackage</a:t>
                </a:r>
                <a:endParaRPr lang="fr-FR" sz="1050" dirty="0"/>
              </a:p>
            </p:txBody>
          </p: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BF13000C-2CDA-5556-6248-95F3D0AB714D}"/>
                </a:ext>
              </a:extLst>
            </p:cNvPr>
            <p:cNvGrpSpPr/>
            <p:nvPr/>
          </p:nvGrpSpPr>
          <p:grpSpPr>
            <a:xfrm>
              <a:off x="9688045" y="2967051"/>
              <a:ext cx="1872001" cy="1061556"/>
              <a:chOff x="8101944" y="2122042"/>
              <a:chExt cx="2283516" cy="1692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5A4E05A-BD39-E8ED-5FA3-C0387374E751}"/>
                  </a:ext>
                </a:extLst>
              </p:cNvPr>
              <p:cNvSpPr/>
              <p:nvPr/>
            </p:nvSpPr>
            <p:spPr>
              <a:xfrm>
                <a:off x="8101945" y="2122042"/>
                <a:ext cx="2283515" cy="1692000"/>
              </a:xfrm>
              <a:prstGeom prst="rect">
                <a:avLst/>
              </a:prstGeom>
              <a:solidFill>
                <a:srgbClr val="F7F9FB"/>
              </a:solidFill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C0D106E-3264-E455-7EA6-4EC785414E32}"/>
                  </a:ext>
                </a:extLst>
              </p:cNvPr>
              <p:cNvSpPr/>
              <p:nvPr/>
            </p:nvSpPr>
            <p:spPr>
              <a:xfrm>
                <a:off x="8101944" y="2122042"/>
                <a:ext cx="2283515" cy="366863"/>
              </a:xfrm>
              <a:prstGeom prst="rect">
                <a:avLst/>
              </a:prstGeom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dirty="0" err="1"/>
                  <a:t>AutreClasse</a:t>
                </a:r>
                <a:endParaRPr lang="fr-FR" sz="1050" dirty="0"/>
              </a:p>
            </p:txBody>
          </p: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8D651C0-5F12-E980-FCA1-D9EC216000DB}"/>
                </a:ext>
              </a:extLst>
            </p:cNvPr>
            <p:cNvGrpSpPr/>
            <p:nvPr/>
          </p:nvGrpSpPr>
          <p:grpSpPr>
            <a:xfrm>
              <a:off x="9688045" y="4167754"/>
              <a:ext cx="1872001" cy="1061557"/>
              <a:chOff x="8101944" y="2122042"/>
              <a:chExt cx="2283516" cy="169200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1BBE1F3-4B34-C90A-BB8D-03BA3A7560B1}"/>
                  </a:ext>
                </a:extLst>
              </p:cNvPr>
              <p:cNvSpPr/>
              <p:nvPr/>
            </p:nvSpPr>
            <p:spPr>
              <a:xfrm>
                <a:off x="8101945" y="2122044"/>
                <a:ext cx="2283515" cy="1691999"/>
              </a:xfrm>
              <a:prstGeom prst="rect">
                <a:avLst/>
              </a:prstGeom>
              <a:solidFill>
                <a:srgbClr val="F7F9FB"/>
              </a:solidFill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5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56DE80A-309E-6587-02B9-968DBAD686C6}"/>
                  </a:ext>
                </a:extLst>
              </p:cNvPr>
              <p:cNvSpPr/>
              <p:nvPr/>
            </p:nvSpPr>
            <p:spPr>
              <a:xfrm>
                <a:off x="8101944" y="2122042"/>
                <a:ext cx="2283515" cy="366863"/>
              </a:xfrm>
              <a:prstGeom prst="rect">
                <a:avLst/>
              </a:prstGeom>
              <a:ln>
                <a:solidFill>
                  <a:srgbClr val="F7F9F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50" dirty="0" err="1"/>
                  <a:t>AutreSousClasse</a:t>
                </a:r>
                <a:endParaRPr lang="fr-FR" sz="1050" dirty="0"/>
              </a:p>
            </p:txBody>
          </p:sp>
        </p:grp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3097FDC3-2B13-529B-6F70-EE66BDA926B0}"/>
                </a:ext>
              </a:extLst>
            </p:cNvPr>
            <p:cNvSpPr txBox="1"/>
            <p:nvPr/>
          </p:nvSpPr>
          <p:spPr>
            <a:xfrm>
              <a:off x="9770548" y="3222316"/>
              <a:ext cx="17876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appelleMethodePublique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8D9B6206-57D9-9085-1F28-C63B4B433FDF}"/>
                </a:ext>
              </a:extLst>
            </p:cNvPr>
            <p:cNvSpPr txBox="1"/>
            <p:nvPr/>
          </p:nvSpPr>
          <p:spPr>
            <a:xfrm>
              <a:off x="9770548" y="3407729"/>
              <a:ext cx="18517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appelleMethodeProtected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383B8F5A-1456-EF33-3AEE-1B1AE443DCC4}"/>
                </a:ext>
              </a:extLst>
            </p:cNvPr>
            <p:cNvSpPr txBox="1"/>
            <p:nvPr/>
          </p:nvSpPr>
          <p:spPr>
            <a:xfrm>
              <a:off x="9770548" y="3593141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appelleMethodeDefaut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A7C82ACD-1006-D4E6-A3AB-CD7B3829E4C1}"/>
                </a:ext>
              </a:extLst>
            </p:cNvPr>
            <p:cNvSpPr txBox="1"/>
            <p:nvPr/>
          </p:nvSpPr>
          <p:spPr>
            <a:xfrm>
              <a:off x="9770548" y="3778553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appelleMethodePrivee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BBDA3082-6C9C-8B22-E5BB-70B601F313CD}"/>
                </a:ext>
              </a:extLst>
            </p:cNvPr>
            <p:cNvSpPr txBox="1"/>
            <p:nvPr/>
          </p:nvSpPr>
          <p:spPr>
            <a:xfrm>
              <a:off x="9770548" y="4439355"/>
              <a:ext cx="17876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appelleMethodePublique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3F0CFF6C-3211-CE17-E5EB-C56EF1731825}"/>
                </a:ext>
              </a:extLst>
            </p:cNvPr>
            <p:cNvSpPr txBox="1"/>
            <p:nvPr/>
          </p:nvSpPr>
          <p:spPr>
            <a:xfrm>
              <a:off x="9776090" y="4624765"/>
              <a:ext cx="185178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appelleMethodeProtected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1C36087E-6D8A-A89A-572F-244DB0F237E0}"/>
                </a:ext>
              </a:extLst>
            </p:cNvPr>
            <p:cNvSpPr txBox="1"/>
            <p:nvPr/>
          </p:nvSpPr>
          <p:spPr>
            <a:xfrm>
              <a:off x="9770548" y="4810178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appelleMethodeDefaut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AC29D5C2-0174-BA80-8256-B46094FA52E6}"/>
                </a:ext>
              </a:extLst>
            </p:cNvPr>
            <p:cNvSpPr txBox="1"/>
            <p:nvPr/>
          </p:nvSpPr>
          <p:spPr>
            <a:xfrm>
              <a:off x="9770548" y="4995590"/>
              <a:ext cx="16594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dirty="0" err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appelleMethodePrivee</a:t>
              </a:r>
              <a:r>
                <a:rPr lang="fr-FR" sz="9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(o)</a:t>
              </a:r>
            </a:p>
          </p:txBody>
        </p:sp>
      </p:grp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9BFE8984-AA43-F0E0-4072-2BB87603595A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 flipV="1">
            <a:off x="7970692" y="4578081"/>
            <a:ext cx="1964745" cy="209659"/>
          </a:xfrm>
          <a:prstGeom prst="line">
            <a:avLst/>
          </a:prstGeom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F0008C-A331-8132-A3A2-9988272A0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84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EE626-5273-1384-CF44-94158EB1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Accesseurs et visibilité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CB6999-BB41-DF89-856A-023069DED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782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</a:t>
            </a:r>
            <a:r>
              <a:rPr lang="fr-FR" sz="2400" dirty="0">
                <a:solidFill>
                  <a:schemeClr val="accent4"/>
                </a:solidFill>
              </a:rPr>
              <a:t>4 accesseurs </a:t>
            </a:r>
            <a:r>
              <a:rPr lang="fr-FR" sz="2400" dirty="0"/>
              <a:t>ont l’effet suivant sur la visibilité des méthodes.</a:t>
            </a:r>
          </a:p>
          <a:p>
            <a:r>
              <a:rPr lang="fr-FR" sz="2400" dirty="0">
                <a:solidFill>
                  <a:srgbClr val="C5E0B4"/>
                </a:solidFill>
              </a:rPr>
              <a:t>Vert</a:t>
            </a:r>
            <a:r>
              <a:rPr lang="fr-FR" sz="2400" dirty="0"/>
              <a:t> = accessible; </a:t>
            </a:r>
          </a:p>
          <a:p>
            <a:r>
              <a:rPr lang="fr-FR" sz="2400" dirty="0">
                <a:solidFill>
                  <a:srgbClr val="ECCFCA"/>
                </a:solidFill>
              </a:rPr>
              <a:t>Rouge</a:t>
            </a:r>
            <a:r>
              <a:rPr lang="fr-FR" sz="2400" dirty="0"/>
              <a:t> = non accessible (donc appel non accepté par le compilateur)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E1005E7-63F8-FF49-01E4-FEA3595DDCC9}"/>
              </a:ext>
            </a:extLst>
          </p:cNvPr>
          <p:cNvGraphicFramePr>
            <a:graphicFrameLocks/>
          </p:cNvGraphicFramePr>
          <p:nvPr/>
        </p:nvGraphicFramePr>
        <p:xfrm>
          <a:off x="2068830" y="3360414"/>
          <a:ext cx="8606790" cy="242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fr-FR" sz="2000" dirty="0"/>
                        <a:t>Spécificateur d'accès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même 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même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sous-classe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autre package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Consolas"/>
                          <a:cs typeface="Consolas"/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00B05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fr-FR" sz="2000" dirty="0" err="1">
                          <a:latin typeface="Consolas"/>
                          <a:cs typeface="Consolas"/>
                        </a:rPr>
                        <a:t>protected</a:t>
                      </a:r>
                      <a:endParaRPr lang="fr-FR" sz="2000" dirty="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00B05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✔… mais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Consolas"/>
                          <a:cs typeface="Consolas"/>
                        </a:rPr>
                        <a:t>(</a:t>
                      </a:r>
                      <a:r>
                        <a:rPr lang="fr-FR" sz="2000" dirty="0" err="1">
                          <a:latin typeface="Consolas"/>
                          <a:cs typeface="Consolas"/>
                        </a:rPr>
                        <a:t>defaut</a:t>
                      </a:r>
                      <a:r>
                        <a:rPr lang="fr-FR" sz="2000" dirty="0">
                          <a:latin typeface="Consolas"/>
                          <a:cs typeface="Consola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00B05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fr-FR" sz="2000" dirty="0" err="1">
                          <a:latin typeface="Consolas"/>
                          <a:cs typeface="Consolas"/>
                        </a:rPr>
                        <a:t>private</a:t>
                      </a:r>
                      <a:endParaRPr lang="fr-FR" sz="2000" dirty="0">
                        <a:latin typeface="Consolas"/>
                        <a:cs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00B05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fr-FR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FF0000"/>
                          </a:solidFill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✖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CF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Bulle rectangulaire à coins arrondis 4">
            <a:extLst>
              <a:ext uri="{FF2B5EF4-FFF2-40B4-BE49-F238E27FC236}">
                <a16:creationId xmlns:a16="http://schemas.microsoft.com/office/drawing/2014/main" id="{9EEFC065-35DC-CA86-D3B0-FD187AE9C946}"/>
              </a:ext>
            </a:extLst>
          </p:cNvPr>
          <p:cNvSpPr/>
          <p:nvPr/>
        </p:nvSpPr>
        <p:spPr>
          <a:xfrm>
            <a:off x="8471014" y="5923116"/>
            <a:ext cx="2569520" cy="774018"/>
          </a:xfrm>
          <a:prstGeom prst="wedgeRoundRectCallout">
            <a:avLst>
              <a:gd name="adj1" fmla="val -43540"/>
              <a:gd name="adj2" fmla="val -189901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Access seulement depuis les méthodes héritées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3E559A-9216-84F7-11F7-011508827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70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EE626-5273-1384-CF44-94158EB1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Accesseurs et visibilité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FDD2F31-EC85-D25D-D861-80207D61490E}"/>
              </a:ext>
            </a:extLst>
          </p:cNvPr>
          <p:cNvGrpSpPr/>
          <p:nvPr/>
        </p:nvGrpSpPr>
        <p:grpSpPr>
          <a:xfrm>
            <a:off x="1124388" y="1456316"/>
            <a:ext cx="6216692" cy="4799517"/>
            <a:chOff x="1461274" y="2793523"/>
            <a:chExt cx="3255906" cy="24086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E1D8EE3-7269-B9B5-D77C-735825D75BC7}"/>
                </a:ext>
              </a:extLst>
            </p:cNvPr>
            <p:cNvSpPr/>
            <p:nvPr/>
          </p:nvSpPr>
          <p:spPr>
            <a:xfrm>
              <a:off x="1461274" y="2977630"/>
              <a:ext cx="3255906" cy="2224498"/>
            </a:xfrm>
            <a:prstGeom prst="roundRect">
              <a:avLst>
                <a:gd name="adj" fmla="val 418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592EE91-ABD3-1D58-0366-D1DDC5E57694}"/>
                </a:ext>
              </a:extLst>
            </p:cNvPr>
            <p:cNvSpPr/>
            <p:nvPr/>
          </p:nvSpPr>
          <p:spPr>
            <a:xfrm>
              <a:off x="1461275" y="2793523"/>
              <a:ext cx="812812" cy="318910"/>
            </a:xfrm>
            <a:prstGeom prst="roundRect">
              <a:avLst>
                <a:gd name="adj" fmla="val 745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1600" dirty="0" err="1"/>
                <a:t>monPackage</a:t>
              </a:r>
              <a:endParaRPr lang="fr-FR" sz="1600" dirty="0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A49FA54-13E7-D3DC-D904-2ECD0E67FE30}"/>
              </a:ext>
            </a:extLst>
          </p:cNvPr>
          <p:cNvGrpSpPr/>
          <p:nvPr/>
        </p:nvGrpSpPr>
        <p:grpSpPr>
          <a:xfrm>
            <a:off x="7830250" y="1456348"/>
            <a:ext cx="3841018" cy="4584859"/>
            <a:chOff x="1461275" y="2793523"/>
            <a:chExt cx="2011680" cy="23008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D384994C-9127-F133-EFCC-93BD99E3092C}"/>
                </a:ext>
              </a:extLst>
            </p:cNvPr>
            <p:cNvSpPr/>
            <p:nvPr/>
          </p:nvSpPr>
          <p:spPr>
            <a:xfrm>
              <a:off x="1461275" y="2977628"/>
              <a:ext cx="2011680" cy="2116765"/>
            </a:xfrm>
            <a:prstGeom prst="roundRect">
              <a:avLst>
                <a:gd name="adj" fmla="val 745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4D91806B-B124-EC34-EEE7-575903E3126F}"/>
                </a:ext>
              </a:extLst>
            </p:cNvPr>
            <p:cNvSpPr/>
            <p:nvPr/>
          </p:nvSpPr>
          <p:spPr>
            <a:xfrm>
              <a:off x="1461275" y="2793523"/>
              <a:ext cx="873170" cy="318910"/>
            </a:xfrm>
            <a:prstGeom prst="roundRect">
              <a:avLst>
                <a:gd name="adj" fmla="val 745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1600" dirty="0" err="1"/>
                <a:t>autrePackage</a:t>
              </a:r>
              <a:endParaRPr lang="fr-FR" sz="160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2E019867-799B-5295-699A-7C192520126A}"/>
              </a:ext>
            </a:extLst>
          </p:cNvPr>
          <p:cNvGrpSpPr/>
          <p:nvPr/>
        </p:nvGrpSpPr>
        <p:grpSpPr>
          <a:xfrm>
            <a:off x="1337911" y="2091793"/>
            <a:ext cx="2700000" cy="1688183"/>
            <a:chOff x="1337912" y="2649354"/>
            <a:chExt cx="2156059" cy="16881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B4D94C-6CF8-F151-EBEE-FDA9546093B9}"/>
                </a:ext>
              </a:extLst>
            </p:cNvPr>
            <p:cNvSpPr/>
            <p:nvPr/>
          </p:nvSpPr>
          <p:spPr>
            <a:xfrm>
              <a:off x="1337912" y="2649354"/>
              <a:ext cx="2156059" cy="1688183"/>
            </a:xfrm>
            <a:prstGeom prst="rect">
              <a:avLst/>
            </a:prstGeom>
            <a:solidFill>
              <a:srgbClr val="F7F9FB"/>
            </a:solidFill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4551CA-69CC-7281-2CF8-C3800BA5C207}"/>
                </a:ext>
              </a:extLst>
            </p:cNvPr>
            <p:cNvSpPr/>
            <p:nvPr/>
          </p:nvSpPr>
          <p:spPr>
            <a:xfrm>
              <a:off x="1337912" y="2649355"/>
              <a:ext cx="2156059" cy="366862"/>
            </a:xfrm>
            <a:prstGeom prst="rect">
              <a:avLst/>
            </a:prstGeom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/>
                <a:t>MaClasse</a:t>
              </a:r>
              <a:endParaRPr lang="fr-FR" sz="1600" dirty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62BC8CD-591A-D37C-15B7-0FE9B1501B62}"/>
              </a:ext>
            </a:extLst>
          </p:cNvPr>
          <p:cNvGrpSpPr/>
          <p:nvPr/>
        </p:nvGrpSpPr>
        <p:grpSpPr>
          <a:xfrm>
            <a:off x="4323447" y="4367141"/>
            <a:ext cx="2700000" cy="1692000"/>
            <a:chOff x="4100363" y="2649355"/>
            <a:chExt cx="2156059" cy="169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9BB7E9-C2CC-7B5E-9480-DA20D0E8BB47}"/>
                </a:ext>
              </a:extLst>
            </p:cNvPr>
            <p:cNvSpPr/>
            <p:nvPr/>
          </p:nvSpPr>
          <p:spPr>
            <a:xfrm>
              <a:off x="4100363" y="2649355"/>
              <a:ext cx="2156059" cy="1692000"/>
            </a:xfrm>
            <a:prstGeom prst="rect">
              <a:avLst/>
            </a:prstGeom>
            <a:solidFill>
              <a:srgbClr val="F7F9FB"/>
            </a:solidFill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5ABFD4-2A9E-42E5-771F-5AA5CD8A84E3}"/>
                </a:ext>
              </a:extLst>
            </p:cNvPr>
            <p:cNvSpPr/>
            <p:nvPr/>
          </p:nvSpPr>
          <p:spPr>
            <a:xfrm>
              <a:off x="4100363" y="2649355"/>
              <a:ext cx="2156059" cy="366862"/>
            </a:xfrm>
            <a:prstGeom prst="rect">
              <a:avLst/>
            </a:prstGeom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/>
                <a:t>MonAutreClasse</a:t>
              </a:r>
              <a:endParaRPr lang="fr-FR" sz="1600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52FFF15-C767-A62F-5A62-3CD7D215C50A}"/>
              </a:ext>
            </a:extLst>
          </p:cNvPr>
          <p:cNvGrpSpPr/>
          <p:nvPr/>
        </p:nvGrpSpPr>
        <p:grpSpPr>
          <a:xfrm>
            <a:off x="1337912" y="4349207"/>
            <a:ext cx="2700000" cy="1692000"/>
            <a:chOff x="1337912" y="4356535"/>
            <a:chExt cx="2156059" cy="169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C46EAD-6415-056D-C374-27F50D354985}"/>
                </a:ext>
              </a:extLst>
            </p:cNvPr>
            <p:cNvSpPr/>
            <p:nvPr/>
          </p:nvSpPr>
          <p:spPr>
            <a:xfrm>
              <a:off x="1337912" y="4356535"/>
              <a:ext cx="2156059" cy="1692000"/>
            </a:xfrm>
            <a:prstGeom prst="rect">
              <a:avLst/>
            </a:prstGeom>
            <a:solidFill>
              <a:srgbClr val="F7F9FB"/>
            </a:solidFill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25B982-BBB2-AA4A-8CCB-0079D7BEDFBA}"/>
                </a:ext>
              </a:extLst>
            </p:cNvPr>
            <p:cNvSpPr/>
            <p:nvPr/>
          </p:nvSpPr>
          <p:spPr>
            <a:xfrm>
              <a:off x="1337912" y="4356535"/>
              <a:ext cx="2156059" cy="366862"/>
            </a:xfrm>
            <a:prstGeom prst="rect">
              <a:avLst/>
            </a:prstGeom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/>
                <a:t>MaSousClasse</a:t>
              </a:r>
              <a:endParaRPr lang="fr-FR" sz="1600" dirty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F8238BB-31B0-34BA-59FA-D24C3A94627F}"/>
              </a:ext>
            </a:extLst>
          </p:cNvPr>
          <p:cNvGrpSpPr/>
          <p:nvPr/>
        </p:nvGrpSpPr>
        <p:grpSpPr>
          <a:xfrm>
            <a:off x="8419414" y="2091794"/>
            <a:ext cx="2700000" cy="1692000"/>
            <a:chOff x="8101946" y="2649355"/>
            <a:chExt cx="2156059" cy="169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068EDE3-4994-4FB2-5417-26F2DDF41606}"/>
                </a:ext>
              </a:extLst>
            </p:cNvPr>
            <p:cNvSpPr/>
            <p:nvPr/>
          </p:nvSpPr>
          <p:spPr>
            <a:xfrm>
              <a:off x="8101946" y="2649355"/>
              <a:ext cx="2156059" cy="1692000"/>
            </a:xfrm>
            <a:prstGeom prst="rect">
              <a:avLst/>
            </a:prstGeom>
            <a:solidFill>
              <a:srgbClr val="F7F9FB"/>
            </a:solidFill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ABB1D0-2EC9-D074-C63F-60A668E2EFEA}"/>
                </a:ext>
              </a:extLst>
            </p:cNvPr>
            <p:cNvSpPr/>
            <p:nvPr/>
          </p:nvSpPr>
          <p:spPr>
            <a:xfrm>
              <a:off x="8101946" y="2649355"/>
              <a:ext cx="2156059" cy="366862"/>
            </a:xfrm>
            <a:prstGeom prst="rect">
              <a:avLst/>
            </a:prstGeom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/>
                <a:t>AutreClasse</a:t>
              </a:r>
              <a:endParaRPr lang="fr-FR" sz="1600" dirty="0"/>
            </a:p>
          </p:txBody>
        </p:sp>
      </p:grpSp>
      <p:sp>
        <p:nvSpPr>
          <p:cNvPr id="26" name="Triangle 25">
            <a:extLst>
              <a:ext uri="{FF2B5EF4-FFF2-40B4-BE49-F238E27FC236}">
                <a16:creationId xmlns:a16="http://schemas.microsoft.com/office/drawing/2014/main" id="{52A3C35F-8643-A758-21EC-6E164251F434}"/>
              </a:ext>
            </a:extLst>
          </p:cNvPr>
          <p:cNvSpPr/>
          <p:nvPr/>
        </p:nvSpPr>
        <p:spPr>
          <a:xfrm>
            <a:off x="2543008" y="3779834"/>
            <a:ext cx="266664" cy="229882"/>
          </a:xfrm>
          <a:prstGeom prst="triangle">
            <a:avLst/>
          </a:prstGeom>
          <a:solidFill>
            <a:srgbClr val="F7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117CABAF-3D65-1A97-026E-190477DF74CE}"/>
              </a:ext>
            </a:extLst>
          </p:cNvPr>
          <p:cNvCxnSpPr>
            <a:cxnSpLocks/>
            <a:stCxn id="26" idx="3"/>
            <a:endCxn id="19" idx="0"/>
          </p:cNvCxnSpPr>
          <p:nvPr/>
        </p:nvCxnSpPr>
        <p:spPr>
          <a:xfrm>
            <a:off x="2676340" y="4009716"/>
            <a:ext cx="11572" cy="339491"/>
          </a:xfrm>
          <a:prstGeom prst="line">
            <a:avLst/>
          </a:prstGeom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BEDA86C-57C0-8DF4-742C-8FDB5A10B67C}"/>
              </a:ext>
            </a:extLst>
          </p:cNvPr>
          <p:cNvSpPr txBox="1"/>
          <p:nvPr/>
        </p:nvSpPr>
        <p:spPr>
          <a:xfrm>
            <a:off x="1629781" y="2488061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fr-FR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methodePublique</a:t>
            </a:r>
            <a:endParaRPr lang="fr-FR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EBDD5BC-2333-005B-6191-2A77F92FA21B}"/>
              </a:ext>
            </a:extLst>
          </p:cNvPr>
          <p:cNvSpPr txBox="1"/>
          <p:nvPr/>
        </p:nvSpPr>
        <p:spPr>
          <a:xfrm>
            <a:off x="1629781" y="2783587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fr-FR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methodeProtected</a:t>
            </a:r>
            <a:endParaRPr lang="fr-FR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B8BAC60-F92F-CA83-B93B-4968FB7F2EBF}"/>
              </a:ext>
            </a:extLst>
          </p:cNvPr>
          <p:cNvSpPr txBox="1"/>
          <p:nvPr/>
        </p:nvSpPr>
        <p:spPr>
          <a:xfrm>
            <a:off x="1629781" y="3079113"/>
            <a:ext cx="154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fr-FR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methodeDefaut</a:t>
            </a:r>
            <a:endParaRPr lang="fr-FR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306EAFD-C2EB-E0D1-1B2E-EDA3C1502210}"/>
              </a:ext>
            </a:extLst>
          </p:cNvPr>
          <p:cNvSpPr txBox="1"/>
          <p:nvPr/>
        </p:nvSpPr>
        <p:spPr>
          <a:xfrm>
            <a:off x="1629781" y="3374640"/>
            <a:ext cx="1544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fr-FR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methodePrivee</a:t>
            </a:r>
            <a:endParaRPr lang="fr-FR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1CCFA79-C4A8-8813-1EF0-93C5B1FF26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6" t="7623" r="7555" b="75337"/>
          <a:stretch/>
        </p:blipFill>
        <p:spPr>
          <a:xfrm>
            <a:off x="1422904" y="2524677"/>
            <a:ext cx="434841" cy="25200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5467A3FB-A1A9-24DE-69B9-05799D607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6" t="30418" r="7555" b="52542"/>
          <a:stretch/>
        </p:blipFill>
        <p:spPr>
          <a:xfrm>
            <a:off x="1422904" y="2818083"/>
            <a:ext cx="434841" cy="252000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CBC222E4-CAF8-C530-75D7-758027899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6" t="53803" r="7555" b="29157"/>
          <a:stretch/>
        </p:blipFill>
        <p:spPr>
          <a:xfrm>
            <a:off x="1422904" y="3111489"/>
            <a:ext cx="434841" cy="252000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DC8D488E-BE12-E564-B445-85E52A7A42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6" t="76326" r="7555" b="6634"/>
          <a:stretch/>
        </p:blipFill>
        <p:spPr>
          <a:xfrm>
            <a:off x="1422904" y="3404894"/>
            <a:ext cx="434841" cy="252000"/>
          </a:xfrm>
          <a:prstGeom prst="rect">
            <a:avLst/>
          </a:prstGeom>
        </p:spPr>
      </p:pic>
      <p:grpSp>
        <p:nvGrpSpPr>
          <p:cNvPr id="54" name="Groupe 53">
            <a:extLst>
              <a:ext uri="{FF2B5EF4-FFF2-40B4-BE49-F238E27FC236}">
                <a16:creationId xmlns:a16="http://schemas.microsoft.com/office/drawing/2014/main" id="{5EB8D98D-3634-2E64-5FEE-F05B858EC25B}"/>
              </a:ext>
            </a:extLst>
          </p:cNvPr>
          <p:cNvGrpSpPr/>
          <p:nvPr/>
        </p:nvGrpSpPr>
        <p:grpSpPr>
          <a:xfrm>
            <a:off x="8419414" y="4005579"/>
            <a:ext cx="2700000" cy="1692000"/>
            <a:chOff x="8101946" y="2649355"/>
            <a:chExt cx="2156059" cy="169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C10C80-3B14-55BA-0CFA-A883A4C26F33}"/>
                </a:ext>
              </a:extLst>
            </p:cNvPr>
            <p:cNvSpPr/>
            <p:nvPr/>
          </p:nvSpPr>
          <p:spPr>
            <a:xfrm>
              <a:off x="8101946" y="2649355"/>
              <a:ext cx="2156059" cy="1692000"/>
            </a:xfrm>
            <a:prstGeom prst="rect">
              <a:avLst/>
            </a:prstGeom>
            <a:solidFill>
              <a:srgbClr val="F7F9FB"/>
            </a:solidFill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7343BE9-6F9F-D32A-3473-A6301E0113C1}"/>
                </a:ext>
              </a:extLst>
            </p:cNvPr>
            <p:cNvSpPr/>
            <p:nvPr/>
          </p:nvSpPr>
          <p:spPr>
            <a:xfrm>
              <a:off x="8101946" y="2649355"/>
              <a:ext cx="2156059" cy="366862"/>
            </a:xfrm>
            <a:prstGeom prst="rect">
              <a:avLst/>
            </a:prstGeom>
            <a:ln>
              <a:solidFill>
                <a:srgbClr val="F7F9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/>
                <a:t>AutreSousClasse</a:t>
              </a:r>
              <a:endParaRPr lang="fr-FR" sz="1600" dirty="0"/>
            </a:p>
          </p:txBody>
        </p:sp>
      </p:grpSp>
      <p:sp>
        <p:nvSpPr>
          <p:cNvPr id="68" name="Triangle 67">
            <a:extLst>
              <a:ext uri="{FF2B5EF4-FFF2-40B4-BE49-F238E27FC236}">
                <a16:creationId xmlns:a16="http://schemas.microsoft.com/office/drawing/2014/main" id="{AB99A375-16AF-5409-4E5E-96AA36BEFD93}"/>
              </a:ext>
            </a:extLst>
          </p:cNvPr>
          <p:cNvSpPr/>
          <p:nvPr/>
        </p:nvSpPr>
        <p:spPr>
          <a:xfrm rot="17563772">
            <a:off x="4033453" y="2971266"/>
            <a:ext cx="266664" cy="229882"/>
          </a:xfrm>
          <a:prstGeom prst="triangle">
            <a:avLst/>
          </a:prstGeom>
          <a:solidFill>
            <a:srgbClr val="F7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28A1848D-06BE-0EAF-9DDD-A6BAD94FC4E6}"/>
              </a:ext>
            </a:extLst>
          </p:cNvPr>
          <p:cNvCxnSpPr>
            <a:cxnSpLocks/>
            <a:stCxn id="68" idx="3"/>
            <a:endCxn id="55" idx="1"/>
          </p:cNvCxnSpPr>
          <p:nvPr/>
        </p:nvCxnSpPr>
        <p:spPr>
          <a:xfrm>
            <a:off x="4272800" y="3130618"/>
            <a:ext cx="4146614" cy="1720961"/>
          </a:xfrm>
          <a:prstGeom prst="line">
            <a:avLst/>
          </a:prstGeom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6F8C3922-066D-752C-E6F8-77DCD212F787}"/>
              </a:ext>
            </a:extLst>
          </p:cNvPr>
          <p:cNvSpPr txBox="1"/>
          <p:nvPr/>
        </p:nvSpPr>
        <p:spPr>
          <a:xfrm>
            <a:off x="1490642" y="4763835"/>
            <a:ext cx="2308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5FD3D1A1-3FDD-B835-5DE4-A02C21F4BDEA}"/>
              </a:ext>
            </a:extLst>
          </p:cNvPr>
          <p:cNvSpPr txBox="1"/>
          <p:nvPr/>
        </p:nvSpPr>
        <p:spPr>
          <a:xfrm>
            <a:off x="1490642" y="5059361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appelleMethodeProtected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14680DB7-DEBF-CFB3-2DDC-417788835E98}"/>
              </a:ext>
            </a:extLst>
          </p:cNvPr>
          <p:cNvSpPr txBox="1"/>
          <p:nvPr/>
        </p:nvSpPr>
        <p:spPr>
          <a:xfrm>
            <a:off x="1490642" y="5354887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appelleMethodeDefaut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E3428DA7-0AB4-B985-FCA2-C75EC9CF7BA3}"/>
              </a:ext>
            </a:extLst>
          </p:cNvPr>
          <p:cNvSpPr txBox="1"/>
          <p:nvPr/>
        </p:nvSpPr>
        <p:spPr>
          <a:xfrm>
            <a:off x="1490642" y="5650414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appelleMethodePrivee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01C16554-EACF-8EFF-9576-EFC5A63DB97D}"/>
              </a:ext>
            </a:extLst>
          </p:cNvPr>
          <p:cNvSpPr txBox="1"/>
          <p:nvPr/>
        </p:nvSpPr>
        <p:spPr>
          <a:xfrm>
            <a:off x="4400657" y="4763835"/>
            <a:ext cx="2308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C438E2B0-CC21-9DA8-C231-E7D2A6E8B5E6}"/>
              </a:ext>
            </a:extLst>
          </p:cNvPr>
          <p:cNvSpPr txBox="1"/>
          <p:nvPr/>
        </p:nvSpPr>
        <p:spPr>
          <a:xfrm>
            <a:off x="4400657" y="5059361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appelleMethodeProtected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4AB18CFD-1734-01F9-BCD1-EFAC54D971FE}"/>
              </a:ext>
            </a:extLst>
          </p:cNvPr>
          <p:cNvSpPr txBox="1"/>
          <p:nvPr/>
        </p:nvSpPr>
        <p:spPr>
          <a:xfrm>
            <a:off x="4400657" y="5354887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appelleMethodeDefaut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2FC589EE-387F-A91A-4A68-F1E9FA4FE2A7}"/>
              </a:ext>
            </a:extLst>
          </p:cNvPr>
          <p:cNvSpPr txBox="1"/>
          <p:nvPr/>
        </p:nvSpPr>
        <p:spPr>
          <a:xfrm>
            <a:off x="4400657" y="5650414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appelleMethodePrivee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5540ACCC-55B4-1BFF-2BA9-A6C3DED882B9}"/>
              </a:ext>
            </a:extLst>
          </p:cNvPr>
          <p:cNvSpPr txBox="1"/>
          <p:nvPr/>
        </p:nvSpPr>
        <p:spPr>
          <a:xfrm>
            <a:off x="8545443" y="2498658"/>
            <a:ext cx="2308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707B33ED-6D49-B23B-96D2-B99E5B829B56}"/>
              </a:ext>
            </a:extLst>
          </p:cNvPr>
          <p:cNvSpPr txBox="1"/>
          <p:nvPr/>
        </p:nvSpPr>
        <p:spPr>
          <a:xfrm>
            <a:off x="8545443" y="2794184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appelleMethodeProtected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99C5D37B-CDD2-8A48-2BCF-3174B4865BE5}"/>
              </a:ext>
            </a:extLst>
          </p:cNvPr>
          <p:cNvSpPr txBox="1"/>
          <p:nvPr/>
        </p:nvSpPr>
        <p:spPr>
          <a:xfrm>
            <a:off x="8545443" y="3089710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appelleMethodeDefaut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B54FFDC-B691-1FF8-990A-656093AAF26E}"/>
              </a:ext>
            </a:extLst>
          </p:cNvPr>
          <p:cNvSpPr txBox="1"/>
          <p:nvPr/>
        </p:nvSpPr>
        <p:spPr>
          <a:xfrm>
            <a:off x="8545443" y="3385237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appelleMethodePrivee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95906253-374B-04BA-1FB1-0E95C523ABC9}"/>
              </a:ext>
            </a:extLst>
          </p:cNvPr>
          <p:cNvSpPr txBox="1"/>
          <p:nvPr/>
        </p:nvSpPr>
        <p:spPr>
          <a:xfrm>
            <a:off x="8545443" y="4438477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appelleMethodePublique</a:t>
            </a:r>
            <a:r>
              <a:rPr lang="fr-FR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E82E57FB-0ADA-41AD-C49F-EC5E27DE943B}"/>
              </a:ext>
            </a:extLst>
          </p:cNvPr>
          <p:cNvSpPr txBox="1"/>
          <p:nvPr/>
        </p:nvSpPr>
        <p:spPr>
          <a:xfrm>
            <a:off x="8553910" y="4734003"/>
            <a:ext cx="2478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appelleMethodeProtected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47D6BC35-02B9-AC57-94C1-2BBC4EC19E14}"/>
              </a:ext>
            </a:extLst>
          </p:cNvPr>
          <p:cNvSpPr txBox="1"/>
          <p:nvPr/>
        </p:nvSpPr>
        <p:spPr>
          <a:xfrm>
            <a:off x="8545443" y="5029529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appelleMethodeDefaut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52EE54AA-9F06-2839-1A3C-700FCD7249BC}"/>
              </a:ext>
            </a:extLst>
          </p:cNvPr>
          <p:cNvSpPr txBox="1"/>
          <p:nvPr/>
        </p:nvSpPr>
        <p:spPr>
          <a:xfrm>
            <a:off x="8545443" y="5325056"/>
            <a:ext cx="2138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appelleMethodePrivee</a:t>
            </a:r>
            <a:r>
              <a:rPr lang="fr-FR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1C89F12-C8EC-0BB1-939E-3BA2E54AA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256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5FC8C9-F7E9-1B13-6C14-31348C09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4"/>
                </a:solidFill>
              </a:rPr>
              <a:t>Structurer les fichiers </a:t>
            </a:r>
            <a:r>
              <a:rPr lang="fr-FR" dirty="0"/>
              <a:t>dans votre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1571A0-4974-3EE3-6B20-DC5323FD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Il y a plusieurs façons de structurer les fichiers.</a:t>
            </a:r>
          </a:p>
          <a:p>
            <a:pPr marL="514350" indent="-514350">
              <a:buAutoNum type="arabicPeriod"/>
            </a:pPr>
            <a:r>
              <a:rPr lang="fr-FR" dirty="0"/>
              <a:t>« À la sauvage »: au petit bonheur la chance.</a:t>
            </a:r>
          </a:p>
          <a:p>
            <a:pPr marL="514350" indent="-514350">
              <a:buAutoNum type="arabicPeriod"/>
            </a:pPr>
            <a:r>
              <a:rPr lang="fr-FR" dirty="0"/>
              <a:t>En respectant une structure que vous avez choisie.</a:t>
            </a:r>
          </a:p>
          <a:p>
            <a:pPr marL="514350" indent="-514350">
              <a:buAutoNum type="arabicPeriod"/>
            </a:pPr>
            <a:r>
              <a:rPr lang="fr-FR" dirty="0"/>
              <a:t>En respectant un standard que tout le monde connaît et utilise.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822650-74B2-E6B3-3C15-774928004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49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5FC8C9-F7E9-1B13-6C14-31348C09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Structure de projet « à la sauvage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1571A0-4974-3EE3-6B20-DC5323FD9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61454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IntelliJ</a:t>
            </a:r>
            <a:r>
              <a:rPr lang="fr-FR" dirty="0"/>
              <a:t> a besoin de savoir certaines choses:</a:t>
            </a:r>
          </a:p>
          <a:p>
            <a:r>
              <a:rPr lang="fr-FR" dirty="0"/>
              <a:t>où sont vos fichiers sources, </a:t>
            </a:r>
          </a:p>
          <a:p>
            <a:r>
              <a:rPr lang="fr-FR" dirty="0"/>
              <a:t>où placer les classes </a:t>
            </a:r>
            <a:r>
              <a:rPr lang="fr-FR" dirty="0" err="1"/>
              <a:t>buildées</a:t>
            </a:r>
            <a:r>
              <a:rPr lang="fr-FR" dirty="0"/>
              <a:t>,</a:t>
            </a:r>
          </a:p>
          <a:p>
            <a:r>
              <a:rPr lang="fr-FR" dirty="0"/>
              <a:t>où placer les classes de test,</a:t>
            </a:r>
          </a:p>
          <a:p>
            <a:r>
              <a:rPr lang="fr-FR" dirty="0"/>
              <a:t>Etc….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Click-droit sur un dossier -&gt; </a:t>
            </a:r>
            <a:r>
              <a:rPr lang="fr-FR" dirty="0">
                <a:solidFill>
                  <a:schemeClr val="accent4"/>
                </a:solidFill>
              </a:rPr>
              <a:t>Mark directory as…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558CF42B-9681-427E-6490-DBB439CAA432}"/>
              </a:ext>
            </a:extLst>
          </p:cNvPr>
          <p:cNvGrpSpPr/>
          <p:nvPr/>
        </p:nvGrpSpPr>
        <p:grpSpPr>
          <a:xfrm>
            <a:off x="6732982" y="1825624"/>
            <a:ext cx="4620818" cy="4351337"/>
            <a:chOff x="7178041" y="1825625"/>
            <a:chExt cx="3169918" cy="2985052"/>
          </a:xfrm>
        </p:grpSpPr>
        <p:pic>
          <p:nvPicPr>
            <p:cNvPr id="14" name="Espace réservé du contenu 5">
              <a:extLst>
                <a:ext uri="{FF2B5EF4-FFF2-40B4-BE49-F238E27FC236}">
                  <a16:creationId xmlns:a16="http://schemas.microsoft.com/office/drawing/2014/main" id="{BB35F73F-8644-CCAE-8FE7-A9BCF50921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5871"/>
            <a:stretch/>
          </p:blipFill>
          <p:spPr>
            <a:xfrm>
              <a:off x="7178041" y="3091764"/>
              <a:ext cx="3169918" cy="1718913"/>
            </a:xfrm>
            <a:prstGeom prst="rect">
              <a:avLst/>
            </a:prstGeom>
          </p:spPr>
        </p:pic>
        <p:pic>
          <p:nvPicPr>
            <p:cNvPr id="15" name="Espace réservé du contenu 5">
              <a:extLst>
                <a:ext uri="{FF2B5EF4-FFF2-40B4-BE49-F238E27FC236}">
                  <a16:creationId xmlns:a16="http://schemas.microsoft.com/office/drawing/2014/main" id="{8ABEBA3C-D160-9CB5-85A1-B23F750EC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76652"/>
            <a:stretch/>
          </p:blipFill>
          <p:spPr>
            <a:xfrm>
              <a:off x="7178041" y="1825625"/>
              <a:ext cx="3169918" cy="1175904"/>
            </a:xfrm>
            <a:prstGeom prst="rect">
              <a:avLst/>
            </a:prstGeom>
          </p:spPr>
        </p:pic>
      </p:grp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7C17891-46A1-7BA8-29C1-134E5058401A}"/>
              </a:ext>
            </a:extLst>
          </p:cNvPr>
          <p:cNvSpPr/>
          <p:nvPr/>
        </p:nvSpPr>
        <p:spPr>
          <a:xfrm>
            <a:off x="3855308" y="6083287"/>
            <a:ext cx="6969211" cy="45041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Pas évident pour un nouveau collègue de s’y retrouver sans discipline…</a:t>
            </a:r>
          </a:p>
        </p:txBody>
      </p:sp>
      <p:sp>
        <p:nvSpPr>
          <p:cNvPr id="20" name="Forme libre 19">
            <a:extLst>
              <a:ext uri="{FF2B5EF4-FFF2-40B4-BE49-F238E27FC236}">
                <a16:creationId xmlns:a16="http://schemas.microsoft.com/office/drawing/2014/main" id="{CE69DB4F-59F5-46B0-3550-54C6AA3C7365}"/>
              </a:ext>
            </a:extLst>
          </p:cNvPr>
          <p:cNvSpPr/>
          <p:nvPr/>
        </p:nvSpPr>
        <p:spPr>
          <a:xfrm>
            <a:off x="7290486" y="4371877"/>
            <a:ext cx="3859428" cy="1495523"/>
          </a:xfrm>
          <a:custGeom>
            <a:avLst/>
            <a:gdLst>
              <a:gd name="connsiteX0" fmla="*/ 38999 w 3859428"/>
              <a:gd name="connsiteY0" fmla="*/ 0 h 1495523"/>
              <a:gd name="connsiteX1" fmla="*/ 2003129 w 3859428"/>
              <a:gd name="connsiteY1" fmla="*/ 0 h 1495523"/>
              <a:gd name="connsiteX2" fmla="*/ 2142761 w 3859428"/>
              <a:gd name="connsiteY2" fmla="*/ 0 h 1495523"/>
              <a:gd name="connsiteX3" fmla="*/ 3786013 w 3859428"/>
              <a:gd name="connsiteY3" fmla="*/ 0 h 1495523"/>
              <a:gd name="connsiteX4" fmla="*/ 3859428 w 3859428"/>
              <a:gd name="connsiteY4" fmla="*/ 73415 h 1495523"/>
              <a:gd name="connsiteX5" fmla="*/ 3859428 w 3859428"/>
              <a:gd name="connsiteY5" fmla="*/ 1422108 h 1495523"/>
              <a:gd name="connsiteX6" fmla="*/ 3786013 w 3859428"/>
              <a:gd name="connsiteY6" fmla="*/ 1495523 h 1495523"/>
              <a:gd name="connsiteX7" fmla="*/ 2003129 w 3859428"/>
              <a:gd name="connsiteY7" fmla="*/ 1495523 h 1495523"/>
              <a:gd name="connsiteX8" fmla="*/ 1929714 w 3859428"/>
              <a:gd name="connsiteY8" fmla="*/ 1422108 h 1495523"/>
              <a:gd name="connsiteX9" fmla="*/ 1929714 w 3859428"/>
              <a:gd name="connsiteY9" fmla="*/ 233989 h 1495523"/>
              <a:gd name="connsiteX10" fmla="*/ 38999 w 3859428"/>
              <a:gd name="connsiteY10" fmla="*/ 233989 h 1495523"/>
              <a:gd name="connsiteX11" fmla="*/ 0 w 3859428"/>
              <a:gd name="connsiteY11" fmla="*/ 194990 h 1495523"/>
              <a:gd name="connsiteX12" fmla="*/ 0 w 3859428"/>
              <a:gd name="connsiteY12" fmla="*/ 38999 h 1495523"/>
              <a:gd name="connsiteX13" fmla="*/ 38999 w 3859428"/>
              <a:gd name="connsiteY13" fmla="*/ 0 h 149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59428" h="1495523">
                <a:moveTo>
                  <a:pt x="38999" y="0"/>
                </a:moveTo>
                <a:lnTo>
                  <a:pt x="2003129" y="0"/>
                </a:lnTo>
                <a:lnTo>
                  <a:pt x="2142761" y="0"/>
                </a:lnTo>
                <a:lnTo>
                  <a:pt x="3786013" y="0"/>
                </a:lnTo>
                <a:cubicBezTo>
                  <a:pt x="3826559" y="0"/>
                  <a:pt x="3859428" y="32869"/>
                  <a:pt x="3859428" y="73415"/>
                </a:cubicBezTo>
                <a:lnTo>
                  <a:pt x="3859428" y="1422108"/>
                </a:lnTo>
                <a:cubicBezTo>
                  <a:pt x="3859428" y="1462654"/>
                  <a:pt x="3826559" y="1495523"/>
                  <a:pt x="3786013" y="1495523"/>
                </a:cubicBezTo>
                <a:lnTo>
                  <a:pt x="2003129" y="1495523"/>
                </a:lnTo>
                <a:cubicBezTo>
                  <a:pt x="1962583" y="1495523"/>
                  <a:pt x="1929714" y="1462654"/>
                  <a:pt x="1929714" y="1422108"/>
                </a:cubicBezTo>
                <a:lnTo>
                  <a:pt x="1929714" y="233989"/>
                </a:lnTo>
                <a:lnTo>
                  <a:pt x="38999" y="233989"/>
                </a:lnTo>
                <a:cubicBezTo>
                  <a:pt x="17460" y="233989"/>
                  <a:pt x="0" y="216529"/>
                  <a:pt x="0" y="194990"/>
                </a:cubicBezTo>
                <a:lnTo>
                  <a:pt x="0" y="38999"/>
                </a:lnTo>
                <a:cubicBezTo>
                  <a:pt x="0" y="17460"/>
                  <a:pt x="17460" y="0"/>
                  <a:pt x="38999" y="0"/>
                </a:cubicBezTo>
                <a:close/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942128-AA4E-360B-97E1-D99AEFE7C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13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4F5EC-B930-A445-2BAB-03906317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structures reconnues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CE6C98A-9DFE-CA8D-4C8A-82B7674F5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43223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 la création d’un Projet, </a:t>
            </a:r>
            <a:r>
              <a:rPr lang="fr-FR" dirty="0" err="1"/>
              <a:t>IntelliJ</a:t>
            </a:r>
            <a:r>
              <a:rPr lang="fr-FR" dirty="0"/>
              <a:t> propose plusieurs structures reconnues:</a:t>
            </a:r>
          </a:p>
          <a:p>
            <a:r>
              <a:rPr lang="fr-FR" dirty="0" err="1"/>
              <a:t>IntelliJ</a:t>
            </a:r>
            <a:endParaRPr lang="fr-FR" dirty="0"/>
          </a:p>
          <a:p>
            <a:r>
              <a:rPr lang="fr-FR" dirty="0">
                <a:solidFill>
                  <a:schemeClr val="accent4"/>
                </a:solidFill>
              </a:rPr>
              <a:t>Maven</a:t>
            </a:r>
          </a:p>
          <a:p>
            <a:r>
              <a:rPr lang="fr-FR" dirty="0" err="1"/>
              <a:t>Gradle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BC26505-C0AC-2634-AAFF-F2170EF36A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9139" y="1225269"/>
            <a:ext cx="6085484" cy="5491619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9A827E3-ABE7-831C-4655-0CCB3E556ED6}"/>
              </a:ext>
            </a:extLst>
          </p:cNvPr>
          <p:cNvSpPr/>
          <p:nvPr/>
        </p:nvSpPr>
        <p:spPr>
          <a:xfrm>
            <a:off x="8655183" y="3046190"/>
            <a:ext cx="1564840" cy="22129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6CDCC92-A24C-2E18-BD5B-17D6F8534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7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116F7-AEAF-D4F3-DA39-9F4BDFA9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entre </a:t>
            </a:r>
            <a:r>
              <a:rPr lang="fr-FR" dirty="0" err="1">
                <a:solidFill>
                  <a:schemeClr val="accent4"/>
                </a:solidFill>
              </a:rPr>
              <a:t>IntelliJ</a:t>
            </a:r>
            <a:r>
              <a:rPr lang="fr-FR" dirty="0"/>
              <a:t> et </a:t>
            </a:r>
            <a:r>
              <a:rPr lang="fr-FR" dirty="0">
                <a:solidFill>
                  <a:schemeClr val="accent4"/>
                </a:solidFill>
              </a:rPr>
              <a:t>Maven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1C7675-6BE6-F122-58D3-ED3339BB1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917" y="1681163"/>
            <a:ext cx="5157787" cy="823912"/>
          </a:xfrm>
        </p:spPr>
        <p:txBody>
          <a:bodyPr/>
          <a:lstStyle/>
          <a:p>
            <a:r>
              <a:rPr lang="fr-FR" sz="3200" dirty="0" err="1"/>
              <a:t>IntelliJ</a:t>
            </a:r>
            <a:endParaRPr lang="fr-FR" sz="3200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49ED5E2-1C2F-7C72-BB3D-0B1F5438E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7986" y="1681163"/>
            <a:ext cx="5183188" cy="823912"/>
          </a:xfrm>
        </p:spPr>
        <p:txBody>
          <a:bodyPr>
            <a:normAutofit/>
          </a:bodyPr>
          <a:lstStyle/>
          <a:p>
            <a:r>
              <a:rPr lang="fr-FR" sz="3200" dirty="0"/>
              <a:t>Maven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0F1E28C1-94BF-5269-F07B-36F94304D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402" y="2505075"/>
            <a:ext cx="2582801" cy="3684588"/>
          </a:xfrm>
        </p:spPr>
        <p:txBody>
          <a:bodyPr>
            <a:normAutofit lnSpcReduction="10000"/>
          </a:bodyPr>
          <a:lstStyle/>
          <a:p>
            <a:r>
              <a:rPr lang="fr-FR" sz="2000" dirty="0" err="1"/>
              <a:t>IntelliJ</a:t>
            </a:r>
            <a:r>
              <a:rPr lang="fr-FR" sz="2000" dirty="0"/>
              <a:t> utilise </a:t>
            </a:r>
            <a:r>
              <a:rPr lang="fr-FR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fr-FR" sz="2000" dirty="0"/>
              <a:t> pour les sources, et </a:t>
            </a:r>
            <a:r>
              <a:rPr lang="fr-FR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FR" sz="2000" dirty="0"/>
              <a:t> pour les fichiers </a:t>
            </a:r>
            <a:r>
              <a:rPr lang="fr-FR" sz="2000" dirty="0" err="1"/>
              <a:t>buildés</a:t>
            </a:r>
            <a:r>
              <a:rPr lang="fr-FR" sz="2000" dirty="0"/>
              <a:t>.</a:t>
            </a:r>
          </a:p>
          <a:p>
            <a:r>
              <a:rPr lang="fr-FR" sz="2000" dirty="0"/>
              <a:t>Lors de la création d’un test, </a:t>
            </a:r>
            <a:r>
              <a:rPr lang="fr-FR" sz="2000" dirty="0" err="1"/>
              <a:t>IntelliJ</a:t>
            </a:r>
            <a:r>
              <a:rPr lang="fr-FR" sz="2000" dirty="0"/>
              <a:t> propose de le mettre dans les sources (mais vous pouvez décider de créer un dossier pour faire autrement)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EC1B9201-7E33-AF98-E870-A8E1EA259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07687" y="2505075"/>
            <a:ext cx="3859437" cy="3684588"/>
          </a:xfrm>
        </p:spPr>
        <p:txBody>
          <a:bodyPr>
            <a:normAutofit lnSpcReduction="10000"/>
          </a:bodyPr>
          <a:lstStyle/>
          <a:p>
            <a:r>
              <a:rPr lang="fr-FR" sz="2100" dirty="0"/>
              <a:t>Maven </a:t>
            </a:r>
            <a:r>
              <a:rPr lang="fr-BE" sz="2100" dirty="0"/>
              <a:t>gère les dépendances, compile le code source, crée des paquets, et automatise d'autres tâches liées à la construction de logiciels</a:t>
            </a:r>
            <a:r>
              <a:rPr lang="fr-BE" sz="1400" b="0" i="0" u="none" strike="noStrike" dirty="0">
                <a:solidFill>
                  <a:srgbClr val="374151"/>
                </a:solidFill>
                <a:effectLst/>
                <a:latin typeface="Söhne"/>
              </a:rPr>
              <a:t>. </a:t>
            </a:r>
          </a:p>
          <a:p>
            <a:r>
              <a:rPr lang="fr-FR" sz="2000" dirty="0"/>
              <a:t>Il crée une </a:t>
            </a:r>
            <a:r>
              <a:rPr lang="fr-FR" sz="2000" dirty="0" err="1"/>
              <a:t>strucure</a:t>
            </a:r>
            <a:r>
              <a:rPr lang="fr-FR" sz="2000" dirty="0"/>
              <a:t> bien spécifique: classes, tests, </a:t>
            </a:r>
            <a:r>
              <a:rPr lang="fr-FR" sz="2000" dirty="0" err="1"/>
              <a:t>builds</a:t>
            </a:r>
            <a:r>
              <a:rPr lang="fr-FR" sz="2000" dirty="0"/>
              <a:t>, ressources,…</a:t>
            </a:r>
          </a:p>
          <a:p>
            <a:r>
              <a:rPr lang="fr-FR" sz="2000" dirty="0"/>
              <a:t>Fichier </a:t>
            </a:r>
            <a:r>
              <a:rPr lang="fr-FR" sz="2000" dirty="0" err="1"/>
              <a:t>pom.xml</a:t>
            </a:r>
            <a:endParaRPr lang="fr-FR" sz="2000" dirty="0"/>
          </a:p>
          <a:p>
            <a:r>
              <a:rPr lang="fr-FR" sz="2000" dirty="0">
                <a:solidFill>
                  <a:schemeClr val="accent4"/>
                </a:solidFill>
              </a:rPr>
              <a:t>Maven étant utilisé par défaut pour les projets </a:t>
            </a:r>
            <a:r>
              <a:rPr lang="fr-FR" sz="2000" dirty="0" err="1">
                <a:solidFill>
                  <a:schemeClr val="accent4"/>
                </a:solidFill>
              </a:rPr>
              <a:t>JavaFX</a:t>
            </a:r>
            <a:r>
              <a:rPr lang="fr-FR" sz="2000" dirty="0">
                <a:solidFill>
                  <a:schemeClr val="accent4"/>
                </a:solidFill>
              </a:rPr>
              <a:t>, nous utiliserons ce modèle</a:t>
            </a:r>
            <a:endParaRPr lang="fr-FR" sz="21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15" name="Espace réservé du contenu 8">
            <a:extLst>
              <a:ext uri="{FF2B5EF4-FFF2-40B4-BE49-F238E27FC236}">
                <a16:creationId xmlns:a16="http://schemas.microsoft.com/office/drawing/2014/main" id="{837DEA32-544C-69C2-45F4-5767CBF0C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024" y="2288433"/>
            <a:ext cx="2197780" cy="3721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Espace réservé du contenu 9">
            <a:extLst>
              <a:ext uri="{FF2B5EF4-FFF2-40B4-BE49-F238E27FC236}">
                <a16:creationId xmlns:a16="http://schemas.microsoft.com/office/drawing/2014/main" id="{BD48BDE4-F83C-D4A6-6CFA-95C497EB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263" y="1790754"/>
            <a:ext cx="2299330" cy="47168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42176AD-4406-994A-E798-FF59C8BC98F3}"/>
              </a:ext>
            </a:extLst>
          </p:cNvPr>
          <p:cNvCxnSpPr>
            <a:cxnSpLocks/>
          </p:cNvCxnSpPr>
          <p:nvPr/>
        </p:nvCxnSpPr>
        <p:spPr>
          <a:xfrm>
            <a:off x="5583787" y="1690690"/>
            <a:ext cx="0" cy="4916939"/>
          </a:xfrm>
          <a:prstGeom prst="line">
            <a:avLst/>
          </a:prstGeom>
          <a:ln w="19050">
            <a:solidFill>
              <a:srgbClr val="F7F9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BDC9E8-21AA-6C50-B68B-8A0FAF210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038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8088C994-53F1-0C53-90BC-0C4E2B9C9128}"/>
              </a:ext>
            </a:extLst>
          </p:cNvPr>
          <p:cNvSpPr txBox="1">
            <a:spLocks/>
          </p:cNvSpPr>
          <p:nvPr/>
        </p:nvSpPr>
        <p:spPr>
          <a:xfrm>
            <a:off x="809016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3 points restaient à aborder: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récupérer </a:t>
            </a:r>
            <a:r>
              <a:rPr lang="fr-FR" sz="2400" dirty="0">
                <a:solidFill>
                  <a:schemeClr val="accent4"/>
                </a:solidFill>
              </a:rPr>
              <a:t>l’année courante </a:t>
            </a:r>
            <a:r>
              <a:rPr lang="fr-FR" sz="2400" dirty="0"/>
              <a:t>(et de façon plus générale comment manipuler des dates/heures)?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Comment sont </a:t>
            </a:r>
            <a:r>
              <a:rPr lang="fr-FR" sz="2400" dirty="0">
                <a:solidFill>
                  <a:srgbClr val="FFC000"/>
                </a:solidFill>
              </a:rPr>
              <a:t>structurés</a:t>
            </a:r>
            <a:r>
              <a:rPr lang="fr-FR" sz="2400" dirty="0"/>
              <a:t> les projets?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/>
              <a:t>Pourquoi </a:t>
            </a:r>
            <a:r>
              <a:rPr lang="fr-FR" sz="2400" dirty="0">
                <a:solidFill>
                  <a:schemeClr val="accent4"/>
                </a:solidFill>
              </a:rPr>
              <a:t>une seule classe public </a:t>
            </a:r>
            <a:r>
              <a:rPr lang="fr-FR" sz="2400" dirty="0"/>
              <a:t>dans un fichier .java?</a:t>
            </a:r>
          </a:p>
          <a:p>
            <a:pPr marL="457200" indent="-457200"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5BC5AAA-86F1-6907-DAAB-E3C9F7DA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Au cours précédent…</a:t>
            </a:r>
          </a:p>
        </p:txBody>
      </p:sp>
      <p:pic>
        <p:nvPicPr>
          <p:cNvPr id="3074" name="Picture 2" descr="דף תודה - שרות הוגן תכנון וביצוע">
            <a:extLst>
              <a:ext uri="{FF2B5EF4-FFF2-40B4-BE49-F238E27FC236}">
                <a16:creationId xmlns:a16="http://schemas.microsoft.com/office/drawing/2014/main" id="{B9CED924-7486-70BB-4EF9-C5847E5106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0175" r="17742" b="20175"/>
          <a:stretch/>
        </p:blipFill>
        <p:spPr bwMode="auto">
          <a:xfrm>
            <a:off x="306695" y="2186480"/>
            <a:ext cx="1012013" cy="73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דף תודה - שרות הוגן תכנון וביצוע">
            <a:extLst>
              <a:ext uri="{FF2B5EF4-FFF2-40B4-BE49-F238E27FC236}">
                <a16:creationId xmlns:a16="http://schemas.microsoft.com/office/drawing/2014/main" id="{5D614B37-C074-E173-D1E5-46D666D16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2" t="20175" r="17742" b="20175"/>
          <a:stretch/>
        </p:blipFill>
        <p:spPr bwMode="auto">
          <a:xfrm>
            <a:off x="306695" y="2974421"/>
            <a:ext cx="1012013" cy="73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8E0465-8077-5A28-F937-8607ABA22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66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dessin humoristique, Visage humain&#10;&#10;Description générée automatiquement">
            <a:extLst>
              <a:ext uri="{FF2B5EF4-FFF2-40B4-BE49-F238E27FC236}">
                <a16:creationId xmlns:a16="http://schemas.microsoft.com/office/drawing/2014/main" id="{C798C87F-04B4-DCDB-4244-548BB624E0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1" t="25065" r="2731" b="2175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5532120" cy="1107996"/>
          </a:xfrm>
          <a:prstGeom prst="rect">
            <a:avLst/>
          </a:prstGeom>
          <a:solidFill>
            <a:srgbClr val="D37429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0" b="1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</a:t>
            </a:r>
            <a:endParaRPr lang="fr-FR" b="1" dirty="0">
              <a:ln w="0"/>
              <a:solidFill>
                <a:schemeClr val="accent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5532120" cy="461665"/>
          </a:xfrm>
          <a:prstGeom prst="rect">
            <a:avLst/>
          </a:prstGeom>
          <a:solidFill>
            <a:srgbClr val="D37429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Une seule par fichier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7C2F95-EAC9-4C6A-0356-DD2AF84DC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67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DD014-9EF3-40C4-9401-C2DC34FD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seule classe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FR" dirty="0"/>
              <a:t> par fichier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DAE41-1AAC-2780-A91D-3E4377F4A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En Java, la règle selon laquelle un fichier source Java ne peut contenir qu'une seule classe publique est due à </a:t>
            </a:r>
          </a:p>
          <a:p>
            <a:r>
              <a:rPr lang="fr-FR" dirty="0"/>
              <a:t>la </a:t>
            </a:r>
            <a:r>
              <a:rPr lang="fr-FR" dirty="0">
                <a:solidFill>
                  <a:schemeClr val="accent4"/>
                </a:solidFill>
              </a:rPr>
              <a:t>convention de nommage</a:t>
            </a:r>
            <a:r>
              <a:rPr lang="fr-FR" dirty="0"/>
              <a:t> </a:t>
            </a:r>
          </a:p>
          <a:p>
            <a:r>
              <a:rPr lang="fr-FR" dirty="0"/>
              <a:t>la façon dont le </a:t>
            </a:r>
            <a:r>
              <a:rPr lang="fr-FR" dirty="0">
                <a:solidFill>
                  <a:schemeClr val="accent4"/>
                </a:solidFill>
              </a:rPr>
              <a:t>compilateur</a:t>
            </a:r>
            <a:r>
              <a:rPr lang="fr-FR" dirty="0"/>
              <a:t> Java gère les fichiers source.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A0EC5D-D05B-A44B-4BEE-F0B83123E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013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DD014-9EF3-40C4-9401-C2DC34FD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Nom fichier source = Nom classe publique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DAE41-1AAC-2780-A91D-3E4377F4A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convention en Java est que le </a:t>
            </a:r>
            <a:r>
              <a:rPr lang="fr-FR" dirty="0">
                <a:solidFill>
                  <a:schemeClr val="accent4"/>
                </a:solidFill>
              </a:rPr>
              <a:t>nom du fichier source </a:t>
            </a:r>
            <a:r>
              <a:rPr lang="fr-FR" dirty="0"/>
              <a:t>doit correspondre exactement au </a:t>
            </a:r>
            <a:r>
              <a:rPr lang="fr-FR" dirty="0">
                <a:solidFill>
                  <a:schemeClr val="accent4"/>
                </a:solidFill>
              </a:rPr>
              <a:t>nom de la classe publique </a:t>
            </a:r>
            <a:r>
              <a:rPr lang="fr-FR" dirty="0"/>
              <a:t>définie dans ce fichier. </a:t>
            </a:r>
          </a:p>
          <a:p>
            <a:pPr marL="0" indent="0">
              <a:buNone/>
            </a:pPr>
            <a:r>
              <a:rPr lang="fr-FR" dirty="0"/>
              <a:t>Si un fichier Java contenait plusieurs classes publiques, il deviendrait ambigu de déterminer lequel représente le nom du fichier.</a:t>
            </a:r>
          </a:p>
          <a:p>
            <a:pPr marL="0" indent="0">
              <a:buNone/>
            </a:pPr>
            <a:r>
              <a:rPr lang="fr-FR" dirty="0"/>
              <a:t>Par exemple, si vous aviez un fichier Java et que vous aviez deux classes publiques à l'intérieur,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ClasseA</a:t>
            </a:r>
            <a:r>
              <a:rPr lang="fr-FR" dirty="0"/>
              <a:t> et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ClasseB</a:t>
            </a:r>
            <a:r>
              <a:rPr lang="fr-FR" dirty="0"/>
              <a:t>, le nom de classe à utiliser pour le fichier ne serait pas clair. </a:t>
            </a:r>
          </a:p>
          <a:p>
            <a:pPr marL="0" indent="0">
              <a:buNone/>
            </a:pPr>
            <a:r>
              <a:rPr lang="fr-FR" dirty="0"/>
              <a:t>En adoptant la convention d'une seule classe publique par fichier, Java évite ce type d'ambiguïté.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C85FD2-D4BE-B603-FEDF-89A7BFD80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933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DD014-9EF3-40C4-9401-C2DC34FD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Faciliter le travail du Compilateur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1DAE41-1AAC-2780-A91D-3E4377F4A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Utiliser une seule classe publique par fichier facilite également la </a:t>
            </a:r>
            <a:r>
              <a:rPr lang="fr-FR" dirty="0">
                <a:solidFill>
                  <a:schemeClr val="accent4"/>
                </a:solidFill>
              </a:rPr>
              <a:t>gestion des dépendances </a:t>
            </a:r>
            <a:r>
              <a:rPr lang="fr-FR" dirty="0"/>
              <a:t>et de l'</a:t>
            </a:r>
            <a:r>
              <a:rPr lang="fr-FR" dirty="0">
                <a:solidFill>
                  <a:schemeClr val="accent4"/>
                </a:solidFill>
              </a:rPr>
              <a:t>organisation du code source</a:t>
            </a:r>
            <a:r>
              <a:rPr lang="fr-FR" dirty="0"/>
              <a:t>. Chaque fichier source est associé à une classe publique spécifique, ce qui simplifie la recherche et la compréhension du code.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Vous pouvez avoir autant de classes non publiques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FR" dirty="0"/>
              <a:t> ou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FR" dirty="0"/>
              <a:t>) que vous le souhaitez dans un fichier Java. Ces classes non publiques sont alors utilisées à l'intérieur du même fichier.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2B2D18-4168-264B-BA71-82871F39E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658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29E4-2700-458D-3F74-2420B0CE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ux-tu me générer une image dans les tons bleu - cyan, qui puisse illustrer, dans une présentation PPT pour un cours de POO en Java, un début de chapitre consacré à la correction des exercices du cours précédent. ">
            <a:extLst>
              <a:ext uri="{FF2B5EF4-FFF2-40B4-BE49-F238E27FC236}">
                <a16:creationId xmlns:a16="http://schemas.microsoft.com/office/drawing/2014/main" id="{3D73CE38-B40D-B9B7-B2B0-D24F77E21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" b="781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AC387B9-F3D5-4CCD-DF74-8F3DFFF6C361}"/>
              </a:ext>
            </a:extLst>
          </p:cNvPr>
          <p:cNvSpPr txBox="1"/>
          <p:nvPr/>
        </p:nvSpPr>
        <p:spPr>
          <a:xfrm>
            <a:off x="838200" y="947821"/>
            <a:ext cx="6004560" cy="1015663"/>
          </a:xfrm>
          <a:prstGeom prst="rect">
            <a:avLst/>
          </a:prstGeom>
          <a:solidFill>
            <a:srgbClr val="528DB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dirty="0"/>
              <a:t>Exercices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8A077E2-4D37-E068-4043-1A5C70F76E61}"/>
              </a:ext>
            </a:extLst>
          </p:cNvPr>
          <p:cNvSpPr txBox="1"/>
          <p:nvPr/>
        </p:nvSpPr>
        <p:spPr>
          <a:xfrm>
            <a:off x="838200" y="2139312"/>
            <a:ext cx="6004560" cy="461665"/>
          </a:xfrm>
          <a:prstGeom prst="rect">
            <a:avLst/>
          </a:prstGeom>
          <a:solidFill>
            <a:srgbClr val="528DB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Retour sur les exercices du cours précédent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8B05E3-B06C-18AF-D94E-3C9A9E8B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17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Créez une classe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Personne</a:t>
            </a:r>
            <a:r>
              <a:rPr lang="fr-FR" sz="2400" dirty="0"/>
              <a:t>.</a:t>
            </a:r>
          </a:p>
          <a:p>
            <a:r>
              <a:rPr lang="fr-FR" sz="2400" dirty="0"/>
              <a:t>La classe présente quatre champs public:</a:t>
            </a:r>
          </a:p>
          <a:p>
            <a:pPr lvl="1"/>
            <a:r>
              <a:rPr lang="fr-FR" sz="2000" dirty="0"/>
              <a:t>un 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nom</a:t>
            </a:r>
            <a:r>
              <a:rPr lang="fr-FR" sz="2000" dirty="0"/>
              <a:t>, un 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prénom</a:t>
            </a:r>
            <a:r>
              <a:rPr lang="fr-FR" sz="2000" dirty="0"/>
              <a:t>, une année de 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naissance</a:t>
            </a:r>
            <a:r>
              <a:rPr lang="fr-FR" sz="2000" dirty="0"/>
              <a:t> et un </a:t>
            </a:r>
            <a:r>
              <a:rPr lang="fr-FR" sz="18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age</a:t>
            </a:r>
            <a:r>
              <a:rPr lang="fr-FR" sz="2000" dirty="0"/>
              <a:t>. </a:t>
            </a:r>
          </a:p>
          <a:p>
            <a:r>
              <a:rPr lang="fr-FR" sz="2400" dirty="0"/>
              <a:t>La classe présente aussi deux méthodes public:</a:t>
            </a:r>
          </a:p>
          <a:p>
            <a:pPr lvl="1"/>
            <a:r>
              <a:rPr lang="fr-FR" sz="2000" dirty="0"/>
              <a:t>Une méthode </a:t>
            </a:r>
            <a:r>
              <a:rPr lang="fr-FR" sz="18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computeAge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(</a:t>
            </a:r>
            <a:r>
              <a:rPr lang="fr-FR" sz="18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 </a:t>
            </a:r>
            <a:r>
              <a:rPr lang="fr-FR" sz="18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year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)</a:t>
            </a:r>
            <a:r>
              <a:rPr lang="fr-FR" sz="2000" dirty="0"/>
              <a:t> qui calcule l’âge de la personne à l’année </a:t>
            </a:r>
            <a:r>
              <a:rPr lang="fr-FR" sz="18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year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Une méthode  </a:t>
            </a:r>
            <a:r>
              <a:rPr lang="fr-FR" sz="18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display()</a:t>
            </a:r>
            <a:r>
              <a:rPr lang="fr-FR" sz="2000" dirty="0"/>
              <a:t> qui affiche les propriétés de la personne.</a:t>
            </a:r>
          </a:p>
          <a:p>
            <a:r>
              <a:rPr lang="fr-FR" sz="2400" dirty="0"/>
              <a:t>Vous écrivez un programme (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main</a:t>
            </a:r>
            <a:r>
              <a:rPr lang="fr-FR" sz="2400" dirty="0"/>
              <a:t>) dans lequel vous créez une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Personne</a:t>
            </a:r>
            <a:r>
              <a:rPr lang="fr-FR" sz="2400" dirty="0"/>
              <a:t>.</a:t>
            </a:r>
          </a:p>
          <a:p>
            <a:r>
              <a:rPr lang="fr-FR" sz="2400" dirty="0"/>
              <a:t>Dans le programme, vous affichez le prénom, le nom et l’âge de la personne.</a:t>
            </a:r>
          </a:p>
          <a:p>
            <a:endParaRPr lang="fr-FR" sz="2400" dirty="0"/>
          </a:p>
          <a:p>
            <a:endParaRPr lang="fr-FR" sz="2400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A26EDAED-4DF2-24BD-A3FC-E7810642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B6DEC-21FE-9DF4-8A42-321AA0678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938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Modifiez la classe </a:t>
            </a:r>
            <a:r>
              <a:rPr lang="fr-FR" sz="24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Personne</a:t>
            </a:r>
            <a:r>
              <a:rPr lang="fr-FR" sz="2400" dirty="0"/>
              <a:t> pour encapsuler les attributs et utilisez des accesseurs pour y accéder.</a:t>
            </a:r>
          </a:p>
          <a:p>
            <a:r>
              <a:rPr lang="fr-FR" sz="2400" dirty="0"/>
              <a:t>Modifiez également votre programme pour qu’il fonctionne toujours.</a:t>
            </a:r>
          </a:p>
          <a:p>
            <a:endParaRPr lang="fr-FR" sz="2400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A26EDAED-4DF2-24BD-A3FC-E7810642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0C2558A7-EE95-7E3E-EFFC-ED96B83B96D7}"/>
              </a:ext>
            </a:extLst>
          </p:cNvPr>
          <p:cNvGrpSpPr/>
          <p:nvPr/>
        </p:nvGrpSpPr>
        <p:grpSpPr>
          <a:xfrm>
            <a:off x="3609681" y="3165484"/>
            <a:ext cx="7645924" cy="3752686"/>
            <a:chOff x="3430571" y="3165484"/>
            <a:chExt cx="7645924" cy="3752686"/>
          </a:xfrm>
        </p:grpSpPr>
        <p:sp>
          <p:nvSpPr>
            <p:cNvPr id="4" name="Bulle ronde 3">
              <a:extLst>
                <a:ext uri="{FF2B5EF4-FFF2-40B4-BE49-F238E27FC236}">
                  <a16:creationId xmlns:a16="http://schemas.microsoft.com/office/drawing/2014/main" id="{C71BA73A-EDFB-97A3-E792-FB87FA1587D9}"/>
                </a:ext>
              </a:extLst>
            </p:cNvPr>
            <p:cNvSpPr/>
            <p:nvPr/>
          </p:nvSpPr>
          <p:spPr>
            <a:xfrm>
              <a:off x="5781905" y="3165484"/>
              <a:ext cx="5294590" cy="1529064"/>
            </a:xfrm>
            <a:prstGeom prst="wedgeEllipseCallout">
              <a:avLst>
                <a:gd name="adj1" fmla="val -51074"/>
                <a:gd name="adj2" fmla="val 53868"/>
              </a:avLst>
            </a:prstGeom>
            <a:solidFill>
              <a:schemeClr val="accent4"/>
            </a:solidFill>
            <a:ln>
              <a:solidFill>
                <a:schemeClr val="accent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u="sng" dirty="0">
                  <a:solidFill>
                    <a:schemeClr val="accent1"/>
                  </a:solidFill>
                </a:rPr>
                <a:t>Note</a:t>
              </a:r>
              <a:r>
                <a:rPr lang="fr-FR" sz="2000" dirty="0">
                  <a:solidFill>
                    <a:schemeClr val="accent1"/>
                  </a:solidFill>
                </a:rPr>
                <a:t>: votre IDE peut vous aider à générer automatiquement les getters et setters (entre autres)…</a:t>
              </a:r>
            </a:p>
          </p:txBody>
        </p:sp>
        <p:pic>
          <p:nvPicPr>
            <p:cNvPr id="1026" name="Picture 2" descr="Robot PNG pour téléchargement gratuit">
              <a:extLst>
                <a:ext uri="{FF2B5EF4-FFF2-40B4-BE49-F238E27FC236}">
                  <a16:creationId xmlns:a16="http://schemas.microsoft.com/office/drawing/2014/main" id="{DA9B9AB3-29B1-D612-E08A-4F623025C4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0571" y="3991801"/>
              <a:ext cx="2926369" cy="2926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AD2002F-190D-7601-1A27-D7683692F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10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Ecrivez une application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Hello</a:t>
            </a:r>
            <a:r>
              <a:rPr lang="fr-FR" sz="2400" dirty="0"/>
              <a:t>.</a:t>
            </a:r>
          </a:p>
          <a:p>
            <a:r>
              <a:rPr lang="fr-FR" sz="2400" dirty="0"/>
              <a:t>Dans la méthode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main</a:t>
            </a:r>
            <a:r>
              <a:rPr lang="fr-FR" sz="2400" dirty="0"/>
              <a:t> de cette application, vous utilisez la classe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Scanner</a:t>
            </a:r>
            <a:r>
              <a:rPr lang="fr-FR" sz="2400" dirty="0"/>
              <a:t> pour demander le prénom, le nom de l’utilisateur et son âge. </a:t>
            </a:r>
          </a:p>
          <a:p>
            <a:r>
              <a:rPr lang="fr-FR" sz="2400" dirty="0"/>
              <a:t>Vous créez ensuite une Personne.</a:t>
            </a:r>
          </a:p>
          <a:p>
            <a:r>
              <a:rPr lang="fr-FR" sz="2400" dirty="0"/>
              <a:t>Enfin, vous affichez le prénom, le nom </a:t>
            </a:r>
            <a:br>
              <a:rPr lang="fr-FR" sz="2400" dirty="0"/>
            </a:br>
            <a:r>
              <a:rPr lang="fr-FR" sz="2400" dirty="0"/>
              <a:t>et l’âge de la personne.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F84E4-6BE6-49A8-8CF4-6084D1F01B78}"/>
              </a:ext>
            </a:extLst>
          </p:cNvPr>
          <p:cNvSpPr/>
          <p:nvPr/>
        </p:nvSpPr>
        <p:spPr>
          <a:xfrm>
            <a:off x="6611253" y="3034578"/>
            <a:ext cx="5387139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class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birthYear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computeAge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-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birthYear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display() {</a:t>
            </a:r>
          </a:p>
          <a:p>
            <a:r>
              <a:rPr lang="fr-BE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.out.println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fr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A26EDAED-4DF2-24BD-A3FC-E7810642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3F7F85F1-66E7-070E-4174-12F4C2B84262}"/>
              </a:ext>
            </a:extLst>
          </p:cNvPr>
          <p:cNvGrpSpPr/>
          <p:nvPr/>
        </p:nvGrpSpPr>
        <p:grpSpPr>
          <a:xfrm>
            <a:off x="3790987" y="4678460"/>
            <a:ext cx="2411263" cy="1193283"/>
            <a:chOff x="3790987" y="4678460"/>
            <a:chExt cx="2411263" cy="1193283"/>
          </a:xfrm>
        </p:grpSpPr>
        <p:pic>
          <p:nvPicPr>
            <p:cNvPr id="2050" name="Picture 2" descr="C# Logo Download Icon PNG Transparent Background, Free Download #28402 -  FreeIconsPNG">
              <a:extLst>
                <a:ext uri="{FF2B5EF4-FFF2-40B4-BE49-F238E27FC236}">
                  <a16:creationId xmlns:a16="http://schemas.microsoft.com/office/drawing/2014/main" id="{2EDD3D19-1C8D-B041-396E-B794E7097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240590">
              <a:off x="4959247" y="4678460"/>
              <a:ext cx="1243003" cy="119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CD110C5-825E-AFB0-457E-766898727082}"/>
                </a:ext>
              </a:extLst>
            </p:cNvPr>
            <p:cNvSpPr txBox="1"/>
            <p:nvPr/>
          </p:nvSpPr>
          <p:spPr>
            <a:xfrm rot="21240000">
              <a:off x="3790987" y="5151023"/>
              <a:ext cx="13676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b="1" dirty="0">
                  <a:latin typeface="Helvetica" pitchFamily="2" charset="0"/>
                  <a:cs typeface="Consolas" panose="020B0609020204030204" pitchFamily="49" charset="0"/>
                </a:rPr>
                <a:t>VU EN </a:t>
              </a:r>
            </a:p>
          </p:txBody>
        </p:sp>
      </p:grp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5C798C-081C-332A-917E-49DB00CDA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70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dirty="0"/>
              <a:t>Les méthodes </a:t>
            </a:r>
            <a:r>
              <a:rPr lang="fr-BE" sz="2000" b="0" i="0" u="none" strike="noStrike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parseInt</a:t>
            </a:r>
            <a:r>
              <a:rPr lang="fr-FR" sz="2400" dirty="0"/>
              <a:t> de conversion de </a:t>
            </a:r>
            <a:r>
              <a:rPr lang="fr-FR" sz="20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String</a:t>
            </a:r>
            <a:r>
              <a:rPr lang="fr-FR" sz="2400" dirty="0"/>
              <a:t> en </a:t>
            </a:r>
            <a:r>
              <a:rPr lang="fr-FR" sz="20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Integer</a:t>
            </a:r>
            <a:r>
              <a:rPr lang="fr-FR" sz="2400" dirty="0"/>
              <a:t> acceptent un second paramètre, </a:t>
            </a:r>
            <a:r>
              <a:rPr lang="fr-FR" sz="20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radix</a:t>
            </a:r>
            <a:r>
              <a:rPr lang="fr-FR" sz="2400" dirty="0"/>
              <a:t>, qui permet de spécifier la base depuis laquelle on interprète un nombre (8, 10, 16 ou même 26). Les constantes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Character.MIN_RADIX</a:t>
            </a:r>
            <a:r>
              <a:rPr lang="fr-FR" sz="2400" dirty="0"/>
              <a:t> et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Character.MAX_RADIX</a:t>
            </a:r>
            <a:r>
              <a:rPr lang="fr-FR" sz="2400" dirty="0"/>
              <a:t> permettent de connaître les bases min et max utilisables.</a:t>
            </a:r>
          </a:p>
          <a:p>
            <a:r>
              <a:rPr lang="fr-FR" sz="2400" dirty="0"/>
              <a:t>Ecrivez une application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Base</a:t>
            </a:r>
            <a:r>
              <a:rPr lang="fr-FR" sz="2400" dirty="0"/>
              <a:t> dans laquelle vous utilisez la classe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Scanner</a:t>
            </a:r>
            <a:r>
              <a:rPr lang="fr-FR" sz="2400" dirty="0"/>
              <a:t> pour lire deux entiers; le premier est une base et le second un nombre. Vous affichez ensuite le nombre en base 10. Vous pouvez demander en boucle et arrêter à 0, 0.</a:t>
            </a:r>
          </a:p>
          <a:p>
            <a:pPr marL="342900" indent="-342900"/>
            <a:r>
              <a:rPr lang="fr-FR" sz="2400" dirty="0"/>
              <a:t>Exécuter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Base</a:t>
            </a:r>
            <a:r>
              <a:rPr lang="fr-FR" sz="2400" dirty="0"/>
              <a:t> avec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10</a:t>
            </a:r>
            <a:r>
              <a:rPr lang="fr-FR" sz="2400" dirty="0"/>
              <a:t> et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150</a:t>
            </a:r>
            <a:r>
              <a:rPr lang="fr-FR" sz="2400" dirty="0"/>
              <a:t> donnera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150</a:t>
            </a:r>
          </a:p>
          <a:p>
            <a:pPr marL="342900" indent="-342900"/>
            <a:r>
              <a:rPr lang="fr-FR" sz="2400" dirty="0"/>
              <a:t>Exécuter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Base</a:t>
            </a:r>
            <a:r>
              <a:rPr lang="fr-FR" sz="2400" dirty="0"/>
              <a:t> avec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16</a:t>
            </a:r>
            <a:r>
              <a:rPr lang="fr-FR" sz="2400" dirty="0"/>
              <a:t> et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100</a:t>
            </a:r>
            <a:r>
              <a:rPr lang="fr-FR" sz="2400" dirty="0"/>
              <a:t> donnera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256</a:t>
            </a:r>
          </a:p>
          <a:p>
            <a:pPr marL="342900" indent="-342900"/>
            <a:r>
              <a:rPr lang="fr-FR" sz="2400" dirty="0"/>
              <a:t>Exécuter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Base</a:t>
            </a:r>
            <a:r>
              <a:rPr lang="fr-FR" sz="2400" dirty="0"/>
              <a:t> avec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16</a:t>
            </a:r>
            <a:r>
              <a:rPr lang="fr-FR" sz="2400" dirty="0"/>
              <a:t> et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CAFE</a:t>
            </a:r>
            <a:r>
              <a:rPr lang="fr-FR" sz="2400" dirty="0"/>
              <a:t> donnera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51966</a:t>
            </a:r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9F7669FB-8553-A044-8BC2-6E9BE5DE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7138B17-B8CD-FAB5-7AE1-EC515F966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4647372"/>
            <a:ext cx="4229100" cy="1181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69646D-9A7C-FA7B-77BE-9791290AD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593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Appareils électroniques, texte, technologie, capture d’écran&#10;&#10;Description générée automatiquement">
            <a:extLst>
              <a:ext uri="{FF2B5EF4-FFF2-40B4-BE49-F238E27FC236}">
                <a16:creationId xmlns:a16="http://schemas.microsoft.com/office/drawing/2014/main" id="{B63AEFAC-4DF5-AF1D-F7AB-38D99ABA5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00" b="20500"/>
          <a:stretch/>
        </p:blipFill>
        <p:spPr>
          <a:xfrm>
            <a:off x="0" y="0"/>
            <a:ext cx="12192000" cy="719328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6004560" cy="1015663"/>
          </a:xfrm>
          <a:prstGeom prst="rect">
            <a:avLst/>
          </a:prstGeom>
          <a:solidFill>
            <a:srgbClr val="528DB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dirty="0"/>
              <a:t>Java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6004560" cy="461665"/>
          </a:xfrm>
          <a:prstGeom prst="rect">
            <a:avLst/>
          </a:prstGeom>
          <a:solidFill>
            <a:srgbClr val="528DB3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Retour sur quelques détails de la syntaxe Java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328CDD-DF04-2C9A-E999-62B384FB8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5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4D385-7AE5-A2C5-0C67-8E6CC8B3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tableaux en Java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D2E79-5C71-69CD-9DA6-78EE76812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8413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Vous avez déjà rencontré des tableaux (</a:t>
            </a:r>
            <a:r>
              <a:rPr lang="fr-FR" dirty="0" err="1"/>
              <a:t>d’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, de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,…)</a:t>
            </a:r>
          </a:p>
          <a:p>
            <a:pPr marL="0" indent="0" algn="ctr">
              <a:buNone/>
            </a:pP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 vals = new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[5]; String [] mots = { "Hello",  "world" };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peut également définir des tableaux de tableaux: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[][] matrice;</a:t>
            </a:r>
            <a:endParaRPr lang="fr-FR" sz="220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A473FEA-F08E-14EB-B90E-3EE3B6194F18}"/>
              </a:ext>
            </a:extLst>
          </p:cNvPr>
          <p:cNvGrpSpPr/>
          <p:nvPr/>
        </p:nvGrpSpPr>
        <p:grpSpPr>
          <a:xfrm>
            <a:off x="4222833" y="3872285"/>
            <a:ext cx="930301" cy="2813561"/>
            <a:chOff x="1614115" y="3363402"/>
            <a:chExt cx="930301" cy="28135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700AB0-C0E5-2C81-FBD3-1C7B7DD009B0}"/>
                </a:ext>
              </a:extLst>
            </p:cNvPr>
            <p:cNvSpPr/>
            <p:nvPr/>
          </p:nvSpPr>
          <p:spPr>
            <a:xfrm>
              <a:off x="1614115" y="3363402"/>
              <a:ext cx="930301" cy="281356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2765B9-61D8-BF82-94DF-652D04B79945}"/>
                </a:ext>
              </a:extLst>
            </p:cNvPr>
            <p:cNvSpPr/>
            <p:nvPr/>
          </p:nvSpPr>
          <p:spPr>
            <a:xfrm>
              <a:off x="1733384" y="3429000"/>
              <a:ext cx="707666" cy="53870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B95849-F3CC-7F91-90FC-0D6642B8177B}"/>
                </a:ext>
              </a:extLst>
            </p:cNvPr>
            <p:cNvSpPr/>
            <p:nvPr/>
          </p:nvSpPr>
          <p:spPr>
            <a:xfrm>
              <a:off x="1733384" y="4231481"/>
              <a:ext cx="707666" cy="53870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FB79F4-83C9-D8BE-D735-4CE06F37F142}"/>
                </a:ext>
              </a:extLst>
            </p:cNvPr>
            <p:cNvSpPr/>
            <p:nvPr/>
          </p:nvSpPr>
          <p:spPr>
            <a:xfrm>
              <a:off x="1733384" y="5572664"/>
              <a:ext cx="707666" cy="53870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8C8E527-FBA8-62BA-1B33-9F9750CE179C}"/>
                </a:ext>
              </a:extLst>
            </p:cNvPr>
            <p:cNvSpPr txBox="1"/>
            <p:nvPr/>
          </p:nvSpPr>
          <p:spPr>
            <a:xfrm>
              <a:off x="1856629" y="4986757"/>
              <a:ext cx="461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…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C4D1A417-407A-BF4A-C52E-22D95445B898}"/>
              </a:ext>
            </a:extLst>
          </p:cNvPr>
          <p:cNvSpPr txBox="1"/>
          <p:nvPr/>
        </p:nvSpPr>
        <p:spPr>
          <a:xfrm>
            <a:off x="5439380" y="549564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…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25C5E2C-B136-7B73-E5B3-808D24FF6240}"/>
              </a:ext>
            </a:extLst>
          </p:cNvPr>
          <p:cNvSpPr txBox="1"/>
          <p:nvPr/>
        </p:nvSpPr>
        <p:spPr>
          <a:xfrm>
            <a:off x="1915954" y="3989768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matrice[][]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0AB697D-84DE-D797-D1D2-DF7294253EBA}"/>
              </a:ext>
            </a:extLst>
          </p:cNvPr>
          <p:cNvGrpSpPr/>
          <p:nvPr/>
        </p:nvGrpSpPr>
        <p:grpSpPr>
          <a:xfrm>
            <a:off x="5439381" y="3872285"/>
            <a:ext cx="3053302" cy="604299"/>
            <a:chOff x="4113508" y="3363402"/>
            <a:chExt cx="3053302" cy="6042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0D92AF-3D72-D875-6055-E6E5B168A12D}"/>
                </a:ext>
              </a:extLst>
            </p:cNvPr>
            <p:cNvSpPr/>
            <p:nvPr/>
          </p:nvSpPr>
          <p:spPr>
            <a:xfrm>
              <a:off x="4113508" y="3363402"/>
              <a:ext cx="3053302" cy="6042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79FFEAC-EFD9-EB10-60F0-9A7185C75FF4}"/>
                </a:ext>
              </a:extLst>
            </p:cNvPr>
            <p:cNvSpPr/>
            <p:nvPr/>
          </p:nvSpPr>
          <p:spPr>
            <a:xfrm>
              <a:off x="4220850" y="3429000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6B574A-EA59-C788-F89F-7BC0BBF911B9}"/>
                </a:ext>
              </a:extLst>
            </p:cNvPr>
            <p:cNvSpPr/>
            <p:nvPr/>
          </p:nvSpPr>
          <p:spPr>
            <a:xfrm>
              <a:off x="4794396" y="3429000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4C8025-A14B-66A0-21F3-2CDE6CF69E6E}"/>
                </a:ext>
              </a:extLst>
            </p:cNvPr>
            <p:cNvSpPr/>
            <p:nvPr/>
          </p:nvSpPr>
          <p:spPr>
            <a:xfrm>
              <a:off x="5367942" y="3429000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14FA0C7-2A9B-20C4-1654-1BE4B163488E}"/>
                </a:ext>
              </a:extLst>
            </p:cNvPr>
            <p:cNvSpPr/>
            <p:nvPr/>
          </p:nvSpPr>
          <p:spPr>
            <a:xfrm>
              <a:off x="5941488" y="3429000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647D7B7-3BDD-D83D-BA9E-0CE38DC112FD}"/>
                </a:ext>
              </a:extLst>
            </p:cNvPr>
            <p:cNvSpPr/>
            <p:nvPr/>
          </p:nvSpPr>
          <p:spPr>
            <a:xfrm>
              <a:off x="6515035" y="3429000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5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1AE9EBE1-84EC-330D-D0CF-37F81C9E5E42}"/>
              </a:ext>
            </a:extLst>
          </p:cNvPr>
          <p:cNvGrpSpPr/>
          <p:nvPr/>
        </p:nvGrpSpPr>
        <p:grpSpPr>
          <a:xfrm>
            <a:off x="5439380" y="6081547"/>
            <a:ext cx="2401527" cy="604299"/>
            <a:chOff x="4113507" y="5572664"/>
            <a:chExt cx="2401527" cy="6042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E50E02-009E-2321-4C4F-5F6A5A8FEAD0}"/>
                </a:ext>
              </a:extLst>
            </p:cNvPr>
            <p:cNvSpPr/>
            <p:nvPr/>
          </p:nvSpPr>
          <p:spPr>
            <a:xfrm>
              <a:off x="4113507" y="5572664"/>
              <a:ext cx="2401527" cy="6042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72E5294-D051-5879-1384-D578BA642FC0}"/>
                </a:ext>
              </a:extLst>
            </p:cNvPr>
            <p:cNvSpPr/>
            <p:nvPr/>
          </p:nvSpPr>
          <p:spPr>
            <a:xfrm>
              <a:off x="4220850" y="567374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71137D-1659-8403-60AF-9BA122A26718}"/>
                </a:ext>
              </a:extLst>
            </p:cNvPr>
            <p:cNvSpPr/>
            <p:nvPr/>
          </p:nvSpPr>
          <p:spPr>
            <a:xfrm>
              <a:off x="4794396" y="567374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01A9F58-F5AF-0779-998C-38A7612E963D}"/>
                </a:ext>
              </a:extLst>
            </p:cNvPr>
            <p:cNvSpPr/>
            <p:nvPr/>
          </p:nvSpPr>
          <p:spPr>
            <a:xfrm>
              <a:off x="5367942" y="567374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14168F0-56B4-1244-EAF9-4A5E1DE10A35}"/>
                </a:ext>
              </a:extLst>
            </p:cNvPr>
            <p:cNvSpPr/>
            <p:nvPr/>
          </p:nvSpPr>
          <p:spPr>
            <a:xfrm>
              <a:off x="5941488" y="567374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2</a:t>
              </a: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B60F95B-9F32-3B6A-E836-AAD7973A3BBA}"/>
              </a:ext>
            </a:extLst>
          </p:cNvPr>
          <p:cNvGrpSpPr/>
          <p:nvPr/>
        </p:nvGrpSpPr>
        <p:grpSpPr>
          <a:xfrm>
            <a:off x="5439380" y="4738376"/>
            <a:ext cx="4142631" cy="604299"/>
            <a:chOff x="4113507" y="4229493"/>
            <a:chExt cx="4142631" cy="6042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A2A0A9-66FD-02DD-BBE1-913BAC19C9EF}"/>
                </a:ext>
              </a:extLst>
            </p:cNvPr>
            <p:cNvSpPr/>
            <p:nvPr/>
          </p:nvSpPr>
          <p:spPr>
            <a:xfrm>
              <a:off x="4113507" y="4229493"/>
              <a:ext cx="4142631" cy="6042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046A61-FA71-CCEF-D2EB-F8529BE4239C}"/>
                </a:ext>
              </a:extLst>
            </p:cNvPr>
            <p:cNvSpPr/>
            <p:nvPr/>
          </p:nvSpPr>
          <p:spPr>
            <a:xfrm>
              <a:off x="4220850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4C63EF-0452-951D-8E33-FBADD5DEEB85}"/>
                </a:ext>
              </a:extLst>
            </p:cNvPr>
            <p:cNvSpPr/>
            <p:nvPr/>
          </p:nvSpPr>
          <p:spPr>
            <a:xfrm>
              <a:off x="4794396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059C29-23EB-0D6F-8ADD-88BB0CC0C4F3}"/>
                </a:ext>
              </a:extLst>
            </p:cNvPr>
            <p:cNvSpPr/>
            <p:nvPr/>
          </p:nvSpPr>
          <p:spPr>
            <a:xfrm>
              <a:off x="5367942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3C48DC3-02A7-F8C7-D7FE-49CEC1F63887}"/>
                </a:ext>
              </a:extLst>
            </p:cNvPr>
            <p:cNvSpPr/>
            <p:nvPr/>
          </p:nvSpPr>
          <p:spPr>
            <a:xfrm>
              <a:off x="5941488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02E9A7-5EA4-C644-2063-A82DF91E47AF}"/>
                </a:ext>
              </a:extLst>
            </p:cNvPr>
            <p:cNvSpPr/>
            <p:nvPr/>
          </p:nvSpPr>
          <p:spPr>
            <a:xfrm>
              <a:off x="6515035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5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7C3A96-4BCF-7DE3-1D53-9003B175471F}"/>
                </a:ext>
              </a:extLst>
            </p:cNvPr>
            <p:cNvSpPr/>
            <p:nvPr/>
          </p:nvSpPr>
          <p:spPr>
            <a:xfrm>
              <a:off x="7086476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9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91B51A-B25B-8CF5-C7DF-01BC7509B78A}"/>
                </a:ext>
              </a:extLst>
            </p:cNvPr>
            <p:cNvSpPr/>
            <p:nvPr/>
          </p:nvSpPr>
          <p:spPr>
            <a:xfrm>
              <a:off x="7660023" y="4310254"/>
              <a:ext cx="470420" cy="42121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1"/>
                  </a:solidFill>
                </a:rPr>
                <a:t>3</a:t>
              </a:r>
            </a:p>
          </p:txBody>
        </p:sp>
      </p:grp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1DEBA22-C2C0-C825-27B5-427EE40066C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9275" y="5009321"/>
            <a:ext cx="750105" cy="31205"/>
          </a:xfrm>
          <a:prstGeom prst="straightConnector1">
            <a:avLst/>
          </a:prstGeom>
          <a:ln w="28575">
            <a:solidFill>
              <a:schemeClr val="accent4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0631E0B9-1C55-198E-FEEA-7FA19CD0B86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89275" y="6345141"/>
            <a:ext cx="750105" cy="38556"/>
          </a:xfrm>
          <a:prstGeom prst="straightConnector1">
            <a:avLst/>
          </a:prstGeom>
          <a:ln w="28575">
            <a:solidFill>
              <a:schemeClr val="accent4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4D84208-A4C2-98C4-A89B-545390AF6588}"/>
              </a:ext>
            </a:extLst>
          </p:cNvPr>
          <p:cNvSpPr/>
          <p:nvPr/>
        </p:nvSpPr>
        <p:spPr>
          <a:xfrm>
            <a:off x="1996466" y="4352192"/>
            <a:ext cx="832204" cy="466946"/>
          </a:xfrm>
          <a:prstGeom prst="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C2CB01FE-418A-DDF8-724E-48FE1BCEB416}"/>
              </a:ext>
            </a:extLst>
          </p:cNvPr>
          <p:cNvCxnSpPr>
            <a:cxnSpLocks/>
          </p:cNvCxnSpPr>
          <p:nvPr/>
        </p:nvCxnSpPr>
        <p:spPr>
          <a:xfrm flipV="1">
            <a:off x="2411044" y="4207233"/>
            <a:ext cx="1811789" cy="406261"/>
          </a:xfrm>
          <a:prstGeom prst="straightConnector1">
            <a:avLst/>
          </a:prstGeom>
          <a:ln w="28575">
            <a:solidFill>
              <a:schemeClr val="accent4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FBAA73AB-ECC6-9808-46EC-643EB1944EA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689275" y="4174435"/>
            <a:ext cx="750106" cy="15901"/>
          </a:xfrm>
          <a:prstGeom prst="straightConnector1">
            <a:avLst/>
          </a:prstGeom>
          <a:ln w="28575">
            <a:solidFill>
              <a:schemeClr val="accent4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45791954-8820-BFDD-E1BE-71E1550CE4A6}"/>
              </a:ext>
            </a:extLst>
          </p:cNvPr>
          <p:cNvSpPr txBox="1"/>
          <p:nvPr/>
        </p:nvSpPr>
        <p:spPr>
          <a:xfrm>
            <a:off x="8636254" y="400567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matrice[0][]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11C3FB7-10C6-F1A9-4762-877FBFC81EAA}"/>
              </a:ext>
            </a:extLst>
          </p:cNvPr>
          <p:cNvSpPr txBox="1"/>
          <p:nvPr/>
        </p:nvSpPr>
        <p:spPr>
          <a:xfrm>
            <a:off x="9649487" y="4855859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matrice[1][]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73A7D6F-95EA-8F14-7080-884729E7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1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51" grpId="0" animBg="1"/>
      <p:bldP spid="55" grpId="0"/>
      <p:bldP spid="5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BE" sz="2400" dirty="0"/>
              <a:t>Ecrivez un programme Java qui crée une matrice carrée de taille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x n</a:t>
            </a:r>
            <a:r>
              <a:rPr lang="nl-BE" sz="2400" dirty="0"/>
              <a:t>.</a:t>
            </a:r>
          </a:p>
          <a:p>
            <a:pPr marL="0" indent="0">
              <a:buNone/>
            </a:pPr>
            <a:r>
              <a:rPr lang="nl-BE" sz="2400" dirty="0"/>
              <a:t>Cette matrice contiendra les nombres 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BE" sz="2400" dirty="0"/>
              <a:t> à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n²</a:t>
            </a:r>
            <a:r>
              <a:rPr lang="nl-BE" sz="2400" dirty="0"/>
              <a:t>.</a:t>
            </a:r>
          </a:p>
          <a:p>
            <a:r>
              <a:rPr lang="nl-BE" sz="2400" dirty="0"/>
              <a:t>Vous demanderez à l’utilisateur la valeur 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nl-BE" sz="2400" dirty="0"/>
              <a:t>.</a:t>
            </a:r>
          </a:p>
          <a:p>
            <a:r>
              <a:rPr lang="nl-BE" sz="2400" dirty="0"/>
              <a:t>Vous initialiserez ensuite les valeurs dans la matrice.</a:t>
            </a:r>
          </a:p>
          <a:p>
            <a:r>
              <a:rPr lang="nl-BE" sz="2400" dirty="0"/>
              <a:t>Ensuite, vous afficherez la matrice.</a:t>
            </a:r>
          </a:p>
          <a:p>
            <a:endParaRPr lang="fr-FR" sz="2400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6346BD79-731A-E59A-644E-A39D634D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5090DD-8F12-24E0-2008-81D1A91E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229" y="3951718"/>
            <a:ext cx="5291328" cy="22252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22C49-CAEE-EAC9-E7F3-41FF39E9A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407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A019D-984C-BD70-E8D2-B2DE8215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boucle for et </a:t>
            </a:r>
            <a:r>
              <a:rPr lang="fr-FR" dirty="0" err="1"/>
              <a:t>foreach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C13BC-348C-3361-A02B-3B784A3D8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Vous avez sans aucun doute rencontré la boucle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fr-FR" dirty="0"/>
              <a:t>.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 = 0; i &lt;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tab.length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i++) { tab[i] ... }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en existe une version « améliorée », la boucle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for…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</a:t>
            </a:r>
            <a:r>
              <a:rPr lang="fr-FR" dirty="0"/>
              <a:t>, utilisée par exemple pour parcourir les tableaux,…:</a:t>
            </a:r>
          </a:p>
          <a:p>
            <a:pPr marL="0" indent="0" algn="ctr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 : tab) { v ... }</a:t>
            </a:r>
          </a:p>
          <a:p>
            <a:pPr marL="0" indent="0">
              <a:buNone/>
            </a:pPr>
            <a:r>
              <a:rPr lang="fr-FR" dirty="0"/>
              <a:t>Petite restriction: impossible de modifier le tableau pendant son parcours…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Bulle rectangulaire à coins arrondis 3">
            <a:extLst>
              <a:ext uri="{FF2B5EF4-FFF2-40B4-BE49-F238E27FC236}">
                <a16:creationId xmlns:a16="http://schemas.microsoft.com/office/drawing/2014/main" id="{5A06B71E-B5A8-0D5B-D722-F867878979AA}"/>
              </a:ext>
            </a:extLst>
          </p:cNvPr>
          <p:cNvSpPr/>
          <p:nvPr/>
        </p:nvSpPr>
        <p:spPr>
          <a:xfrm>
            <a:off x="7283668" y="5695516"/>
            <a:ext cx="4444740" cy="616382"/>
          </a:xfrm>
          <a:prstGeom prst="wedgeRoundRectCallout">
            <a:avLst>
              <a:gd name="adj1" fmla="val -51519"/>
              <a:gd name="adj2" fmla="val -13799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Pour chaque entier v contenu dans le tableau tab (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fr-FR" dirty="0"/>
              <a:t>)</a:t>
            </a:r>
          </a:p>
        </p:txBody>
      </p:sp>
      <p:sp>
        <p:nvSpPr>
          <p:cNvPr id="5" name="Bulle rectangulaire à coins arrondis 4">
            <a:extLst>
              <a:ext uri="{FF2B5EF4-FFF2-40B4-BE49-F238E27FC236}">
                <a16:creationId xmlns:a16="http://schemas.microsoft.com/office/drawing/2014/main" id="{3D7AE60C-5847-1345-A1DA-AF6684036CFF}"/>
              </a:ext>
            </a:extLst>
          </p:cNvPr>
          <p:cNvSpPr/>
          <p:nvPr/>
        </p:nvSpPr>
        <p:spPr>
          <a:xfrm>
            <a:off x="7283668" y="833585"/>
            <a:ext cx="4444740" cy="616382"/>
          </a:xfrm>
          <a:prstGeom prst="wedgeRoundRectCallout">
            <a:avLst>
              <a:gd name="adj1" fmla="val -52702"/>
              <a:gd name="adj2" fmla="val 102432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Pour chaque entier i compris entre 0 et la longueur du tableau (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fori</a:t>
            </a:r>
            <a:r>
              <a:rPr lang="fr-FR" dirty="0"/>
              <a:t>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B9B069-62D5-A214-83EF-4AEFA041C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18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Le triangle de Pascal est une présentation des coefficients des termes des binômes de Newton (a + b)</a:t>
            </a:r>
            <a:r>
              <a:rPr lang="nl-BE" sz="2400" baseline="30000" dirty="0"/>
              <a:t>n</a:t>
            </a:r>
            <a:r>
              <a:rPr lang="nl-BE" sz="2400" dirty="0"/>
              <a:t>  :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pour 0,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a +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b pour 1,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a</a:t>
            </a:r>
            <a:r>
              <a:rPr lang="nl-BE" sz="2400" baseline="30000" dirty="0"/>
              <a:t>2</a:t>
            </a:r>
            <a:r>
              <a:rPr lang="nl-BE" sz="2400" dirty="0"/>
              <a:t> + </a:t>
            </a:r>
            <a:r>
              <a:rPr lang="nl-BE" sz="2400" dirty="0">
                <a:solidFill>
                  <a:schemeClr val="accent4"/>
                </a:solidFill>
              </a:rPr>
              <a:t>2</a:t>
            </a:r>
            <a:r>
              <a:rPr lang="nl-BE" sz="2400" dirty="0"/>
              <a:t> ab +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b</a:t>
            </a:r>
            <a:r>
              <a:rPr lang="nl-BE" sz="2400" baseline="30000" dirty="0"/>
              <a:t>2</a:t>
            </a:r>
            <a:r>
              <a:rPr lang="nl-BE" sz="2400" dirty="0"/>
              <a:t>, …</a:t>
            </a:r>
          </a:p>
          <a:p>
            <a:r>
              <a:rPr lang="nl-BE" sz="2400" dirty="0"/>
              <a:t>Chaque terme est la somme des deux termes du dessus. Une ligne </a:t>
            </a:r>
            <a:r>
              <a:rPr lang="nl-BE" sz="2400" dirty="0">
                <a:solidFill>
                  <a:schemeClr val="accent4"/>
                </a:solidFill>
              </a:rPr>
              <a:t>n</a:t>
            </a:r>
            <a:r>
              <a:rPr lang="nl-BE" sz="2400" dirty="0"/>
              <a:t> donnée contient </a:t>
            </a:r>
            <a:r>
              <a:rPr lang="nl-BE" sz="2400" dirty="0">
                <a:solidFill>
                  <a:schemeClr val="accent4"/>
                </a:solidFill>
              </a:rPr>
              <a:t>n</a:t>
            </a:r>
            <a:r>
              <a:rPr lang="nl-BE" sz="2400" dirty="0"/>
              <a:t> nombres, et le triangle commence par 1 et 1, 1.</a:t>
            </a:r>
          </a:p>
          <a:p>
            <a:r>
              <a:rPr lang="nl-BE" sz="2400" dirty="0"/>
              <a:t>Ecrivez une classe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Pascal</a:t>
            </a:r>
            <a:r>
              <a:rPr lang="nl-BE" sz="2400" dirty="0"/>
              <a:t> possédant une méthode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int[][] triangle(int n)</a:t>
            </a:r>
            <a:r>
              <a:rPr lang="nl-BE" sz="2400" dirty="0"/>
              <a:t> qui calcule et retourne ce tableau jusqu’à la ligne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nl-BE" sz="2400" dirty="0"/>
              <a:t>.</a:t>
            </a:r>
          </a:p>
          <a:p>
            <a:r>
              <a:rPr lang="fr-FR" sz="2400" dirty="0"/>
              <a:t>Ecrivez ensuite un programme qui demande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fr-FR" sz="2400" dirty="0"/>
              <a:t> à l’utilisateur, puis calcule</a:t>
            </a:r>
            <a:br>
              <a:rPr lang="fr-FR" sz="2400" dirty="0"/>
            </a:br>
            <a:r>
              <a:rPr lang="fr-FR" sz="2400" dirty="0"/>
              <a:t>et  affiche le triangle en utilisant deux boucles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for...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</a:t>
            </a:r>
            <a:r>
              <a:rPr lang="fr-FR" sz="2400" dirty="0"/>
              <a:t> imbriquées.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52BF91C-2A3C-42B2-2229-08C4343B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1243" y="4235985"/>
            <a:ext cx="27940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6346BD79-731A-E59A-644E-A39D634D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7CD6C4-409C-6FD6-CBD5-66D9217F9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312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0095B-9E35-F0EB-DAD4-69FD6088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L’opérateur ternaire: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 :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876F6-BC06-67B4-780C-E101CE093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 :</a:t>
            </a:r>
            <a:r>
              <a:rPr lang="fr-FR" dirty="0"/>
              <a:t> est un opérateur qui joue le rôle de raccourci pour l’instruction </a:t>
            </a:r>
            <a:r>
              <a:rPr lang="fr-FR" dirty="0">
                <a:solidFill>
                  <a:schemeClr val="accent4"/>
                </a:solidFill>
              </a:rPr>
              <a:t>if-</a:t>
            </a:r>
            <a:r>
              <a:rPr lang="fr-FR" dirty="0" err="1">
                <a:solidFill>
                  <a:schemeClr val="accent4"/>
                </a:solidFill>
              </a:rPr>
              <a:t>then</a:t>
            </a:r>
            <a:r>
              <a:rPr lang="fr-FR" dirty="0">
                <a:solidFill>
                  <a:schemeClr val="accent4"/>
                </a:solidFill>
              </a:rPr>
              <a:t>-</a:t>
            </a:r>
            <a:r>
              <a:rPr lang="fr-FR" dirty="0" err="1">
                <a:solidFill>
                  <a:schemeClr val="accent4"/>
                </a:solidFill>
              </a:rPr>
              <a:t>else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u="sng" dirty="0"/>
              <a:t>Syntaxe</a:t>
            </a:r>
            <a:r>
              <a:rPr lang="fr-FR" dirty="0"/>
              <a:t>: 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(condition) ?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valeurSiVrai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valeurSiFaux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exemple pour comprendre: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max(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return (a &gt; b) ? a : b;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98912-0407-858C-54DB-6A76B43AE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9563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Le package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exercice07</a:t>
            </a:r>
            <a:r>
              <a:rPr lang="nl-BE" sz="2400" dirty="0"/>
              <a:t> contient une classe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Player</a:t>
            </a:r>
            <a:r>
              <a:rPr lang="nl-BE" sz="2400" dirty="0"/>
              <a:t>. Comme vous pouvez le voir, un joueur a un nom et un nombre de points accumulés lors d’un jeu.</a:t>
            </a:r>
          </a:p>
          <a:p>
            <a:r>
              <a:rPr lang="nl-BE" sz="2400" dirty="0"/>
              <a:t>Le petit programme joint crée deux joueurs, Max et Paul</a:t>
            </a:r>
          </a:p>
          <a:p>
            <a:r>
              <a:rPr lang="nl-BE" sz="2400" dirty="0"/>
              <a:t>Ensuite, ils tirent chacun un dé, celui qui a le plus gros nombre marque un point, jusqu’à ce qu’un d’eux ait le nombre maximum de points.</a:t>
            </a:r>
          </a:p>
          <a:p>
            <a:r>
              <a:rPr lang="nl-BE" sz="2400" dirty="0"/>
              <a:t>Utilisez une instruction ternaire pour </a:t>
            </a:r>
          </a:p>
          <a:p>
            <a:pPr lvl="1"/>
            <a:r>
              <a:rPr lang="nl-BE" sz="2000" dirty="0"/>
              <a:t>que la méthode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playAndReturnWinner</a:t>
            </a:r>
            <a:r>
              <a:rPr lang="nl-BE" sz="2000" dirty="0"/>
              <a:t> du jeu retourne le gagnant (ligne 21 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</a:t>
            </a:r>
            <a:r>
              <a:rPr lang="nl-BE" sz="2000" dirty="0"/>
              <a:t>).</a:t>
            </a:r>
          </a:p>
          <a:p>
            <a:pPr lvl="1"/>
            <a:r>
              <a:rPr lang="nl-BE" sz="2000" dirty="0"/>
              <a:t>ajouter un point au premier ou au deuxième à chaque tour (à la ligne 31 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</a:t>
            </a:r>
            <a:r>
              <a:rPr lang="nl-BE" sz="2000" dirty="0"/>
              <a:t>).</a:t>
            </a:r>
          </a:p>
          <a:p>
            <a:r>
              <a:rPr lang="fr-FR" sz="2400" dirty="0"/>
              <a:t>Si vous séchez un peu, rappelez-vous que l’opérateur ternaire retourne une valeur…</a:t>
            </a: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AE909D04-1445-C2DE-CDC4-54EBDD048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B77C72-709A-7FDE-3BB6-F48087C03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646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noProof="0" dirty="0"/>
              <a:t>Une voiture se caractérise par une marque, un modèle, un numéro de série.</a:t>
            </a:r>
          </a:p>
          <a:p>
            <a:pPr marL="0" indent="0">
              <a:buNone/>
            </a:pPr>
            <a:r>
              <a:rPr lang="fr-FR" sz="1800" dirty="0"/>
              <a:t>Une vente est faite par un vendeur, concerne une voiture, et est faite à </a:t>
            </a:r>
            <a:r>
              <a:rPr lang="fr-FR" sz="1800" noProof="0" dirty="0"/>
              <a:t>un prix catalogue et un prix réel</a:t>
            </a:r>
          </a:p>
          <a:p>
            <a:pPr lvl="1"/>
            <a:r>
              <a:rPr lang="fr-FR" sz="1600" noProof="0" dirty="0"/>
              <a:t>Lors de la vente, le vendeur applique souvent un pourcentage de réduction sur le prix catalogue, ce qui donne le prix réel</a:t>
            </a:r>
          </a:p>
          <a:p>
            <a:r>
              <a:rPr lang="fr-FR" sz="1800" noProof="0" dirty="0"/>
              <a:t>Créez une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fr-FR" sz="1800" noProof="0" dirty="0"/>
              <a:t> définissant les attributs ci-dessus</a:t>
            </a:r>
          </a:p>
          <a:p>
            <a:r>
              <a:rPr lang="fr-FR" sz="1800" dirty="0"/>
              <a:t>Créez la classe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Sale</a:t>
            </a:r>
            <a:r>
              <a:rPr lang="fr-FR" sz="1800" dirty="0"/>
              <a:t> pour modéliser la vente; elle contient:</a:t>
            </a:r>
          </a:p>
          <a:p>
            <a:pPr lvl="1"/>
            <a:r>
              <a:rPr lang="fr-FR" sz="1600" noProof="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computeRealPrice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reduction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1600" noProof="0" dirty="0"/>
              <a:t> prenant en entrée le taux de réduction,</a:t>
            </a:r>
            <a:br>
              <a:rPr lang="fr-FR" sz="1600" noProof="0" dirty="0"/>
            </a:br>
            <a:r>
              <a:rPr lang="fr-FR" sz="1600" noProof="0" dirty="0"/>
              <a:t>qui retourne le prix avec réduction.</a:t>
            </a:r>
          </a:p>
          <a:p>
            <a:pPr lvl="1"/>
            <a:r>
              <a:rPr lang="fr-FR" sz="1600" noProof="0" dirty="0"/>
              <a:t>Une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display()</a:t>
            </a:r>
            <a:r>
              <a:rPr lang="fr-FR" sz="1600" noProof="0" dirty="0"/>
              <a:t> permettant à l’objet d’afficher ses données</a:t>
            </a:r>
          </a:p>
          <a:p>
            <a:r>
              <a:rPr lang="fr-FR" sz="1800" noProof="0" dirty="0"/>
              <a:t>Dans sa classe, le vendeur 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Vendor</a:t>
            </a:r>
            <a:r>
              <a:rPr lang="fr-FR" sz="1800" noProof="0" dirty="0"/>
              <a:t>) qui est une personne possède aussi un tableau de 10 ventes </a:t>
            </a:r>
            <a:r>
              <a:rPr lang="fr-FR" sz="1600" noProof="0" dirty="0"/>
              <a:t>(nous verrons mieux plus tard)</a:t>
            </a:r>
            <a:r>
              <a:rPr lang="fr-FR" sz="1800" noProof="0" dirty="0"/>
              <a:t>.</a:t>
            </a:r>
          </a:p>
          <a:p>
            <a:r>
              <a:rPr lang="fr-FR" sz="1800" noProof="0" dirty="0"/>
              <a:t>Créez ensuite plusieurs objets des différentes classes et exécutez des ventes avec et sans taux de réduction</a:t>
            </a:r>
          </a:p>
          <a:p>
            <a:pPr marL="0" indent="0">
              <a:buNone/>
            </a:pPr>
            <a:r>
              <a:rPr lang="fr-FR" sz="1600" u="sng" dirty="0"/>
              <a:t>Note</a:t>
            </a:r>
            <a:r>
              <a:rPr lang="fr-FR" sz="1600" dirty="0"/>
              <a:t>: </a:t>
            </a:r>
            <a:r>
              <a:rPr lang="fr-BE" sz="1600" dirty="0"/>
              <a:t>vous devez créer les champs et les méthodes nécessaires pour créer une vente, attribuer une ristourne…</a:t>
            </a:r>
            <a:endParaRPr lang="fr-FR" sz="1600" noProof="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0D95BC5-C218-F091-CE72-C1B5258359AF}"/>
              </a:ext>
            </a:extLst>
          </p:cNvPr>
          <p:cNvGrpSpPr/>
          <p:nvPr/>
        </p:nvGrpSpPr>
        <p:grpSpPr>
          <a:xfrm>
            <a:off x="4060411" y="902543"/>
            <a:ext cx="5580158" cy="544292"/>
            <a:chOff x="3326293" y="299259"/>
            <a:chExt cx="6050855" cy="5902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2314E9-CB10-1C4E-856D-81746CF0FAA2}"/>
                </a:ext>
              </a:extLst>
            </p:cNvPr>
            <p:cNvSpPr/>
            <p:nvPr/>
          </p:nvSpPr>
          <p:spPr>
            <a:xfrm>
              <a:off x="3326293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Car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B134B6-D227-0DDF-3B57-F4E527D0763B}"/>
                </a:ext>
              </a:extLst>
            </p:cNvPr>
            <p:cNvSpPr/>
            <p:nvPr/>
          </p:nvSpPr>
          <p:spPr>
            <a:xfrm>
              <a:off x="5119544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4D3F55-3A99-089E-825F-D58021F9BE41}"/>
                </a:ext>
              </a:extLst>
            </p:cNvPr>
            <p:cNvSpPr/>
            <p:nvPr/>
          </p:nvSpPr>
          <p:spPr>
            <a:xfrm>
              <a:off x="6919098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Vendor</a:t>
              </a:r>
              <a:endParaRPr lang="fr-F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2256B6-C8C2-D275-A596-E8AD378F4F6B}"/>
                </a:ext>
              </a:extLst>
            </p:cNvPr>
            <p:cNvSpPr/>
            <p:nvPr/>
          </p:nvSpPr>
          <p:spPr>
            <a:xfrm>
              <a:off x="8478092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Person</a:t>
              </a:r>
            </a:p>
          </p:txBody>
        </p:sp>
        <p:sp>
          <p:nvSpPr>
            <p:cNvPr id="9" name="Flèche vers la droite 8">
              <a:extLst>
                <a:ext uri="{FF2B5EF4-FFF2-40B4-BE49-F238E27FC236}">
                  <a16:creationId xmlns:a16="http://schemas.microsoft.com/office/drawing/2014/main" id="{EF73ECC5-A7EE-7154-9DD6-ADC6D7D0FBEF}"/>
                </a:ext>
              </a:extLst>
            </p:cNvPr>
            <p:cNvSpPr/>
            <p:nvPr/>
          </p:nvSpPr>
          <p:spPr>
            <a:xfrm>
              <a:off x="7818154" y="473510"/>
              <a:ext cx="659232" cy="241702"/>
            </a:xfrm>
            <a:prstGeom prst="rightArrow">
              <a:avLst>
                <a:gd name="adj1" fmla="val 10000"/>
                <a:gd name="adj2" fmla="val 84393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966A25-87BE-6CFF-9F4C-74A827CF2E75}"/>
                </a:ext>
              </a:extLst>
            </p:cNvPr>
            <p:cNvSpPr/>
            <p:nvPr/>
          </p:nvSpPr>
          <p:spPr>
            <a:xfrm>
              <a:off x="6019307" y="573505"/>
              <a:ext cx="900000" cy="25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0DA518-F0B6-B8D0-C6DC-4E0CA03327B7}"/>
                </a:ext>
              </a:extLst>
            </p:cNvPr>
            <p:cNvSpPr/>
            <p:nvPr/>
          </p:nvSpPr>
          <p:spPr>
            <a:xfrm>
              <a:off x="4223398" y="573505"/>
              <a:ext cx="900000" cy="25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A0D2325-FD7E-6449-25A4-5210D81C2B4F}"/>
                </a:ext>
              </a:extLst>
            </p:cNvPr>
            <p:cNvSpPr txBox="1"/>
            <p:nvPr/>
          </p:nvSpPr>
          <p:spPr>
            <a:xfrm>
              <a:off x="4150809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[1]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7647653-86CE-687C-E4A4-1DADDB5FF33E}"/>
                </a:ext>
              </a:extLst>
            </p:cNvPr>
            <p:cNvSpPr txBox="1"/>
            <p:nvPr/>
          </p:nvSpPr>
          <p:spPr>
            <a:xfrm>
              <a:off x="4471455" y="619961"/>
              <a:ext cx="721053" cy="266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[0..1]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AE84679C-2C6C-0AA5-3157-C2B69A953D86}"/>
                </a:ext>
              </a:extLst>
            </p:cNvPr>
            <p:cNvSpPr txBox="1"/>
            <p:nvPr/>
          </p:nvSpPr>
          <p:spPr>
            <a:xfrm>
              <a:off x="6595722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[1]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1562B4C-E250-0A0E-0473-9486A21639D0}"/>
                </a:ext>
              </a:extLst>
            </p:cNvPr>
            <p:cNvSpPr txBox="1"/>
            <p:nvPr/>
          </p:nvSpPr>
          <p:spPr>
            <a:xfrm>
              <a:off x="5942484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[*]</a:t>
              </a:r>
            </a:p>
          </p:txBody>
        </p:sp>
      </p:grpSp>
      <p:sp>
        <p:nvSpPr>
          <p:cNvPr id="10" name="Explosion 2 9">
            <a:extLst>
              <a:ext uri="{FF2B5EF4-FFF2-40B4-BE49-F238E27FC236}">
                <a16:creationId xmlns:a16="http://schemas.microsoft.com/office/drawing/2014/main" id="{4F26F99A-C6AF-429D-63B2-C9BA9BE95D4D}"/>
              </a:ext>
            </a:extLst>
          </p:cNvPr>
          <p:cNvSpPr/>
          <p:nvPr/>
        </p:nvSpPr>
        <p:spPr>
          <a:xfrm>
            <a:off x="9316940" y="2822714"/>
            <a:ext cx="2663687" cy="1405393"/>
          </a:xfrm>
          <a:prstGeom prst="irregularSeal2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Vu en C#</a:t>
            </a:r>
          </a:p>
        </p:txBody>
      </p:sp>
      <p:pic>
        <p:nvPicPr>
          <p:cNvPr id="11" name="Picture 2" descr="blog-nutrition-outlet">
            <a:extLst>
              <a:ext uri="{FF2B5EF4-FFF2-40B4-BE49-F238E27FC236}">
                <a16:creationId xmlns:a16="http://schemas.microsoft.com/office/drawing/2014/main" id="{4B4F5835-F12E-26D6-C4C4-5853D8C69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9C31BF-060F-4C23-41AE-457876F72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352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AADD8-6246-157F-CCA4-AB4DD1A1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554"/>
            <a:ext cx="10515600" cy="1325563"/>
          </a:xfrm>
        </p:spPr>
        <p:txBody>
          <a:bodyPr/>
          <a:lstStyle/>
          <a:p>
            <a:r>
              <a:rPr lang="fr-FR" dirty="0"/>
              <a:t>Afficher à l’écran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DD657F-6C6B-1AA4-7765-14C4644C9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6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Vous connaissez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/>
              <a:t>Vous allez adorer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C36CC3D3-9BFE-6D85-019E-1ABF331F4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46910"/>
              </p:ext>
            </p:extLst>
          </p:nvPr>
        </p:nvGraphicFramePr>
        <p:xfrm>
          <a:off x="647368" y="2529664"/>
          <a:ext cx="11208027" cy="359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92051">
                  <a:extLst>
                    <a:ext uri="{9D8B030D-6E8A-4147-A177-3AD203B41FA5}">
                      <a16:colId xmlns:a16="http://schemas.microsoft.com/office/drawing/2014/main" val="180679332"/>
                    </a:ext>
                  </a:extLst>
                </a:gridCol>
                <a:gridCol w="1779795">
                  <a:extLst>
                    <a:ext uri="{9D8B030D-6E8A-4147-A177-3AD203B41FA5}">
                      <a16:colId xmlns:a16="http://schemas.microsoft.com/office/drawing/2014/main" val="2065811272"/>
                    </a:ext>
                  </a:extLst>
                </a:gridCol>
                <a:gridCol w="3236181">
                  <a:extLst>
                    <a:ext uri="{9D8B030D-6E8A-4147-A177-3AD203B41FA5}">
                      <a16:colId xmlns:a16="http://schemas.microsoft.com/office/drawing/2014/main" val="2384506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Instruction</a:t>
                      </a:r>
                      <a:endParaRPr lang="fr-FR" sz="1800" b="1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/>
                          </a:solidFill>
                        </a:rPr>
                        <a:t>Règle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836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("Hello </a:t>
                      </a:r>
                      <a:r>
                        <a:rPr lang="fr-BE" sz="1600" b="1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%s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</a:t>
                      </a:r>
                      <a:r>
                        <a:rPr lang="fr-BE" sz="1600" b="1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", "World");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Hello World!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%s</a:t>
                      </a:r>
                      <a:r>
                        <a:rPr lang="fr-FR" sz="1600" dirty="0"/>
                        <a:t>: String</a:t>
                      </a:r>
                    </a:p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FR" sz="1600" dirty="0"/>
                        <a:t>: Retour à la ligne (= caractère </a:t>
                      </a:r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\n</a:t>
                      </a:r>
                      <a:r>
                        <a:rPr lang="fr-FR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659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("'</a:t>
                      </a:r>
                      <a:r>
                        <a:rPr lang="fr-BE" sz="1600" b="1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%S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 </a:t>
                      </a:r>
                      <a:r>
                        <a:rPr lang="fr-BE" sz="1600" b="1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", "</a:t>
                      </a:r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ephec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</a:t>
                      </a:r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EPHEC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%S</a:t>
                      </a:r>
                      <a:r>
                        <a:rPr lang="fr-FR" sz="1600" dirty="0"/>
                        <a:t>: En majuscules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474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("i = 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</a:t>
                      </a:r>
                      <a:r>
                        <a:rPr lang="fr-BE" sz="1600" b="0" i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", 10000L);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 = 10000</a:t>
                      </a: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%d</a:t>
                      </a:r>
                      <a:r>
                        <a:rPr lang="fr-FR" sz="1600" dirty="0"/>
                        <a:t>: Un entier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8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Locale.US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, "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%,d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%n", 10000);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10,000</a:t>
                      </a: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%,</a:t>
                      </a:r>
                      <a:r>
                        <a:rPr lang="fr-FR" sz="1600" dirty="0"/>
                        <a:t>: séparateur des milliers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0" kern="1200" dirty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Locale.US</a:t>
                      </a:r>
                      <a:r>
                        <a:rPr lang="fr-FR" sz="1600" dirty="0"/>
                        <a:t>: formatage 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09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</a:t>
                      </a:r>
                      <a:r>
                        <a:rPr lang="fr-BE" sz="1600" b="0" i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</a:t>
                      </a:r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", 3.1473);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3,1473</a:t>
                      </a: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%f</a:t>
                      </a:r>
                      <a:r>
                        <a:rPr lang="fr-FR" sz="1600" dirty="0"/>
                        <a:t>: Un chiffre à virgule (</a:t>
                      </a:r>
                      <a:r>
                        <a:rPr lang="fr-FR" sz="1600" dirty="0" err="1"/>
                        <a:t>float</a:t>
                      </a:r>
                      <a:r>
                        <a:rPr lang="fr-FR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248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("'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%5.2f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'%n", 5.15);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 5,15'</a:t>
                      </a:r>
                    </a:p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FR" sz="1600" b="0" i="0" kern="1200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12345</a:t>
                      </a: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%5</a:t>
                      </a:r>
                      <a:r>
                        <a:rPr lang="fr-FR" sz="1600" dirty="0"/>
                        <a:t>: sur </a:t>
                      </a:r>
                      <a:r>
                        <a:rPr lang="fr-FR" sz="1600" dirty="0">
                          <a:solidFill>
                            <a:schemeClr val="accent2"/>
                          </a:solidFill>
                        </a:rPr>
                        <a:t>5</a:t>
                      </a:r>
                      <a:r>
                        <a:rPr lang="fr-FR" sz="1600" dirty="0"/>
                        <a:t> caractères</a:t>
                      </a:r>
                    </a:p>
                    <a:p>
                      <a:r>
                        <a:rPr lang="fr-FR" sz="1600" b="0" i="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.2f</a:t>
                      </a:r>
                      <a:r>
                        <a:rPr lang="fr-FR" sz="1600" dirty="0"/>
                        <a:t>: 2 chiffres après la virgule.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685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System.out.printf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("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%s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: </a:t>
                      </a:r>
                      <a:r>
                        <a:rPr lang="fr-BE" sz="1600" b="0" i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</a:t>
                      </a:r>
                      <a:r>
                        <a:rPr lang="fr-BE" sz="1600" b="0" i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fr-BE" sz="1600" b="0" i="0" kern="1200" dirty="0" err="1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%n</a:t>
                      </a:r>
                      <a:r>
                        <a:rPr lang="fr-BE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",  "Prix", 10);</a:t>
                      </a:r>
                      <a:endParaRPr lang="fr-FR" sz="1600" b="0" i="0" kern="1200" dirty="0">
                        <a:solidFill>
                          <a:srgbClr val="BCBEC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i="0" kern="1200" dirty="0">
                          <a:solidFill>
                            <a:srgbClr val="BCBEC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Prix: 10</a:t>
                      </a:r>
                    </a:p>
                  </a:txBody>
                  <a:tcPr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Plusieurs valeurs…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531211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030B8FB0-8A0E-A765-1CFD-EE90299E4C10}"/>
              </a:ext>
            </a:extLst>
          </p:cNvPr>
          <p:cNvSpPr txBox="1"/>
          <p:nvPr/>
        </p:nvSpPr>
        <p:spPr>
          <a:xfrm>
            <a:off x="3091070" y="6409980"/>
            <a:ext cx="9340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https://docs.oracle.com/en/java/javase/12/docs/api/java.base/java/util/Formatter.html#syntax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F9D5C7-F300-ADA3-2CB1-9E7D8EEC7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792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ncontre du troisième type enlevant un programmeur, image large">
            <a:extLst>
              <a:ext uri="{FF2B5EF4-FFF2-40B4-BE49-F238E27FC236}">
                <a16:creationId xmlns:a16="http://schemas.microsoft.com/office/drawing/2014/main" id="{E2211864-D6AE-ED75-824F-DD3D54C6B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35954"/>
          <a:stretch/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142A57">
              <a:alpha val="7529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Rencontres du troisième type…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142A57">
              <a:alpha val="7529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err="1"/>
              <a:t>enum</a:t>
            </a:r>
            <a:r>
              <a:rPr lang="fr-FR" sz="2400" dirty="0"/>
              <a:t>, record, classe abstraite, interface, classe anonyme…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E3237B-B400-DDA1-3C6C-D128E42F8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11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742FD8-5EC8-50C0-B27E-BB66603F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Il y a d’autres types que les classes…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53029D2-F55D-5AB1-11A3-2AF20F366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En Java, il y a d’autres types que le type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Nous allons maintenant découvrir les notions suivantes:</a:t>
            </a:r>
          </a:p>
          <a:p>
            <a:r>
              <a:rPr lang="fr-FR" dirty="0"/>
              <a:t>Énumération: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Enregistrement: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</a:p>
          <a:p>
            <a:r>
              <a:rPr lang="fr-FR" dirty="0"/>
              <a:t>Classe abstraite: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abstract class</a:t>
            </a:r>
          </a:p>
          <a:p>
            <a:r>
              <a:rPr lang="fr-FR" dirty="0"/>
              <a:t>Interface: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</a:t>
            </a:r>
          </a:p>
          <a:p>
            <a:r>
              <a:rPr lang="fr-FR" dirty="0"/>
              <a:t>Classe Anonyme: une classe qui n’a pas de nom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8CA34D-8023-AE08-28B8-0025B4D86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407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C44E8-5A9E-5199-B0B6-0DA56D0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énumérations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675AB-3B76-F935-F336-4B21E55A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4767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nl-BE" dirty="0">
                <a:cs typeface="Consolas"/>
              </a:rPr>
              <a:t>Une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dirty="0">
                <a:cs typeface="Consolas"/>
              </a:rPr>
              <a:t> (énumération) est une classe pour laquelle on définit une liste de valeurs prédéfinies (elle étend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java.lang.Enum</a:t>
            </a:r>
            <a:r>
              <a:rPr lang="nl-BE" dirty="0">
                <a:cs typeface="Consolas"/>
              </a:rPr>
              <a:t>, et est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</a:t>
            </a:r>
            <a:r>
              <a:rPr lang="nl-BE" dirty="0">
                <a:cs typeface="Consolas"/>
              </a:rPr>
              <a:t>).</a:t>
            </a:r>
          </a:p>
          <a:p>
            <a:pPr marL="0" indent="0">
              <a:buNone/>
            </a:pPr>
            <a:endParaRPr lang="nl-BE" dirty="0">
              <a:cs typeface="Consolas"/>
            </a:endParaRPr>
          </a:p>
          <a:p>
            <a:pPr marL="0" indent="0">
              <a:buNone/>
            </a:pPr>
            <a:r>
              <a:rPr lang="nl-BE" dirty="0">
                <a:cs typeface="Consolas"/>
              </a:rPr>
              <a:t>Premier exemple:</a:t>
            </a:r>
          </a:p>
          <a:p>
            <a:r>
              <a:rPr lang="nl-BE" dirty="0">
                <a:cs typeface="Consolas"/>
              </a:rPr>
              <a:t>Définition de l’énumération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enum DayOfWeek { 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MONDAY, TUESDAY, WEDNESDAY, THURSDAY, FRIDAY, SATURDAY, SUNDAY }</a:t>
            </a:r>
          </a:p>
          <a:p>
            <a:endParaRPr lang="nl-BE" dirty="0">
              <a:solidFill>
                <a:srgbClr val="A6082B"/>
              </a:solidFill>
              <a:latin typeface="Consolas"/>
              <a:cs typeface="Consolas"/>
            </a:endParaRPr>
          </a:p>
          <a:p>
            <a:r>
              <a:rPr lang="nl-BE" dirty="0">
                <a:cs typeface="Consolas"/>
              </a:rPr>
              <a:t>Utilisation de l’énumération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DayOfWeek currentDay = DayOfWeek.TUESDAY;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int n = currentDay.</a:t>
            </a:r>
            <a:r>
              <a:rPr lang="nl-BE" sz="2000" dirty="0">
                <a:solidFill>
                  <a:schemeClr val="accent2"/>
                </a:solidFill>
                <a:latin typeface="Consolas"/>
                <a:cs typeface="Consolas"/>
              </a:rPr>
              <a:t>ordinal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();     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n vaut 1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DayOfWeek[] days = DayOfWeek.</a:t>
            </a:r>
            <a:r>
              <a:rPr lang="nl-BE" sz="2000" dirty="0">
                <a:solidFill>
                  <a:schemeClr val="accent2"/>
                </a:solidFill>
                <a:latin typeface="Consolas"/>
                <a:cs typeface="Consolas"/>
              </a:rPr>
              <a:t>values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();    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retourne toutes les valeurs de l’enum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DayOfWeek.MONDAY.</a:t>
            </a:r>
            <a:r>
              <a:rPr lang="nl-BE" sz="2000" dirty="0">
                <a:solidFill>
                  <a:schemeClr val="accent2"/>
                </a:solidFill>
                <a:latin typeface="Consolas"/>
                <a:cs typeface="Consolas"/>
              </a:rPr>
              <a:t>compareTo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(DayOfWeek.TUESDAY);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si le 1er est avant le 2eme, &lt;0...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616469-D975-DBA7-01C7-CD6A93C0F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032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733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On vous demande d’écrire un programme qui pourra piloter un feu de signalisation.</a:t>
            </a:r>
          </a:p>
          <a:p>
            <a:pPr marL="0" indent="0">
              <a:buNone/>
            </a:pPr>
            <a:r>
              <a:rPr lang="fr-FR" sz="2000" dirty="0"/>
              <a:t>Vous écrirez donc deux classes (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fr-FR" sz="2000" dirty="0"/>
              <a:t> et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FeuDeSignalisation</a:t>
            </a:r>
            <a:r>
              <a:rPr lang="fr-FR" sz="2000" dirty="0"/>
              <a:t>) et une </a:t>
            </a:r>
            <a:r>
              <a:rPr lang="fr-FR" sz="2000" dirty="0" err="1"/>
              <a:t>enum</a:t>
            </a:r>
            <a:r>
              <a:rPr lang="fr-FR" sz="2000" dirty="0"/>
              <a:t>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CouleurDeFeu</a:t>
            </a:r>
            <a:r>
              <a:rPr lang="fr-FR" sz="2000" dirty="0"/>
              <a:t>.</a:t>
            </a:r>
          </a:p>
          <a:p>
            <a:pPr marL="0" indent="0">
              <a:buNone/>
            </a:pP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CouleurDeFeu</a:t>
            </a:r>
            <a:r>
              <a:rPr lang="fr-FR" sz="2000" dirty="0"/>
              <a:t> contiendra trois couleurs (constantes):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</a:t>
            </a:r>
            <a:r>
              <a:rPr lang="fr-FR" sz="2000" dirty="0"/>
              <a:t>,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ORANGE</a:t>
            </a:r>
            <a:r>
              <a:rPr lang="fr-FR" sz="200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ROUGE</a:t>
            </a:r>
            <a:r>
              <a:rPr lang="fr-FR" sz="2000" dirty="0"/>
              <a:t>.</a:t>
            </a:r>
            <a:endParaRPr lang="fr-FR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FeuDeSignalisation</a:t>
            </a:r>
            <a:r>
              <a:rPr lang="fr-FR" sz="2000" noProof="0" dirty="0"/>
              <a:t> présente quatre méthodes:</a:t>
            </a:r>
          </a:p>
          <a:p>
            <a:pPr lvl="2"/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desactive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rend le feu inactif: il affiche une couleur orange et ne change pas de couleur.</a:t>
            </a:r>
          </a:p>
          <a:p>
            <a:pPr lvl="2"/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active()</a:t>
            </a:r>
            <a:r>
              <a:rPr lang="fr-FR" noProof="0" dirty="0"/>
              <a:t> rend le feu actif: le feu devient rouge et peut changer de couleur.</a:t>
            </a:r>
          </a:p>
          <a:p>
            <a:pPr lvl="2"/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changeDeCouleur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fait passer la couleur du feu de vert </a:t>
            </a:r>
            <a:r>
              <a:rPr lang="fr-FR" dirty="0">
                <a:sym typeface="Wingdings" pitchFamily="2" charset="2"/>
              </a:rPr>
              <a:t></a:t>
            </a:r>
            <a:r>
              <a:rPr lang="fr-FR" dirty="0"/>
              <a:t> orange </a:t>
            </a:r>
            <a:r>
              <a:rPr lang="fr-FR" dirty="0">
                <a:sym typeface="Wingdings" pitchFamily="2" charset="2"/>
              </a:rPr>
              <a:t></a:t>
            </a:r>
            <a:r>
              <a:rPr lang="fr-FR" dirty="0"/>
              <a:t> rouge </a:t>
            </a:r>
            <a:r>
              <a:rPr lang="fr-FR" dirty="0">
                <a:sym typeface="Wingdings" pitchFamily="2" charset="2"/>
              </a:rPr>
              <a:t> vert</a:t>
            </a:r>
            <a:r>
              <a:rPr lang="fr-FR" dirty="0"/>
              <a:t>.</a:t>
            </a:r>
          </a:p>
          <a:p>
            <a:pPr lvl="2"/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affiche()</a:t>
            </a:r>
            <a:r>
              <a:rPr lang="fr-FR" noProof="0" dirty="0"/>
              <a:t> affiche la couleur du feu ainsi que son état (actif/inactif).</a:t>
            </a:r>
          </a:p>
          <a:p>
            <a:pPr lvl="2"/>
            <a:r>
              <a:rPr lang="fr-FR" dirty="0"/>
              <a:t>En outre, un nouveau feu est toujours inactif.</a:t>
            </a:r>
            <a:endParaRPr lang="fr-FR" noProof="0" dirty="0"/>
          </a:p>
          <a:p>
            <a:pPr marL="0" indent="0">
              <a:buNone/>
            </a:pPr>
            <a:r>
              <a:rPr lang="fr-FR" sz="2000" dirty="0"/>
              <a:t>Vous écrivez ensuite un </a:t>
            </a:r>
            <a:r>
              <a:rPr lang="fr-FR" sz="2000" noProof="0" dirty="0"/>
              <a:t>programme dans lequel vous instanciez un feu et vous le faites changer de couleur. Activez-le et désactivez-le également pour vérifier son bon fonctionnement (un feu désactivé ne peut pas changer de couleur, il reste orange).</a:t>
            </a: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50920832-6341-3EA7-B721-72D19EE0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57EF05-5482-61E7-861A-C1C283029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354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733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Créez une classe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</a:t>
            </a:r>
            <a:r>
              <a:rPr lang="fr-FR" sz="2000" noProof="0" dirty="0"/>
              <a:t>, qui permettra de stocker une température et de l’exprimer aussi bien en degrés Celsius que Fahrenheit</a:t>
            </a:r>
            <a:r>
              <a:rPr lang="fr-FR" sz="2000" dirty="0"/>
              <a:t>. Utilisez une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fr-FR" sz="2000" dirty="0"/>
              <a:t> pour les unités 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2000" dirty="0"/>
              <a:t>).</a:t>
            </a:r>
            <a:endParaRPr lang="fr-FR" sz="2000" noProof="0" dirty="0"/>
          </a:p>
          <a:p>
            <a:pPr marL="0" indent="0">
              <a:buNone/>
            </a:pPr>
            <a:r>
              <a:rPr lang="fr-FR" sz="2000" noProof="0" dirty="0"/>
              <a:t>Plus précisément, cette classe devra </a:t>
            </a:r>
          </a:p>
          <a:p>
            <a:pPr lvl="1"/>
            <a:r>
              <a:rPr lang="fr-FR" sz="2000" noProof="0" dirty="0"/>
              <a:t>Posséder un constructeur prenant en entrée la température et l’unité initiale</a:t>
            </a:r>
          </a:p>
          <a:p>
            <a:pPr lvl="1"/>
            <a:r>
              <a:rPr lang="fr-FR" sz="2000" noProof="0" dirty="0"/>
              <a:t>Posséder 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getValue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000" noProof="0" dirty="0"/>
              <a:t> pour renvoyer la température dans l’unité voulue</a:t>
            </a:r>
          </a:p>
          <a:p>
            <a:pPr lvl="1"/>
            <a:r>
              <a:rPr lang="fr-FR" sz="2000" dirty="0"/>
              <a:t>Posséder 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(double,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000" dirty="0"/>
              <a:t> pour modifier la valeur de la température</a:t>
            </a:r>
            <a:endParaRPr lang="fr-FR" sz="2000" noProof="0" dirty="0"/>
          </a:p>
          <a:p>
            <a:pPr lvl="1"/>
            <a:r>
              <a:rPr lang="fr-FR" sz="2000" noProof="0" dirty="0"/>
              <a:t>… et tous les éléments qui vous sembleront nécessaires</a:t>
            </a:r>
          </a:p>
          <a:p>
            <a:r>
              <a:rPr lang="fr-FR" sz="2000" noProof="0" dirty="0"/>
              <a:t>Pour info: 	°C </a:t>
            </a:r>
            <a:r>
              <a:rPr lang="fr-FR" sz="2000" noProof="0" dirty="0">
                <a:sym typeface="Wingdings" panose="05000000000000000000" pitchFamily="2" charset="2"/>
              </a:rPr>
              <a:t> °F : y = x*9 / 5 + 32		(10°C  50°F)</a:t>
            </a:r>
          </a:p>
          <a:p>
            <a:pPr marL="0" indent="0">
              <a:buNone/>
            </a:pPr>
            <a:r>
              <a:rPr lang="fr-FR" sz="2000" noProof="0" dirty="0">
                <a:sym typeface="Wingdings" panose="05000000000000000000" pitchFamily="2" charset="2"/>
              </a:rPr>
              <a:t>		° F  °C : y = (x – 32) * 5 / 9		(23°F  -5°C)</a:t>
            </a:r>
          </a:p>
          <a:p>
            <a:pPr marL="0" indent="0">
              <a:buNone/>
            </a:pPr>
            <a:r>
              <a:rPr lang="fr-FR" sz="2000" u="sng" dirty="0">
                <a:sym typeface="Wingdings" panose="05000000000000000000" pitchFamily="2" charset="2"/>
              </a:rPr>
              <a:t>Note</a:t>
            </a:r>
            <a:r>
              <a:rPr lang="fr-FR" sz="2000" dirty="0">
                <a:sym typeface="Wingdings" panose="05000000000000000000" pitchFamily="2" charset="2"/>
              </a:rPr>
              <a:t>: pour les conversions, si vos calculs ne tombent pas juste, réfléchissez au type des opérations.</a:t>
            </a:r>
            <a:endParaRPr lang="fr-FR" sz="2000" noProof="0" dirty="0"/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50920832-6341-3EA7-B721-72D19EE0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F6F8DC-CBA7-FECD-8F00-495566E40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0424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EDC77-6E3C-1EB0-12F1-80C5A1D1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</a:t>
            </a:r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fr-FR" dirty="0"/>
              <a:t> est une classe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A43A9A-D745-3220-E6E0-E500A63A8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On peut donc lui définir un constructeur ou des méthodes. </a:t>
            </a:r>
          </a:p>
          <a:p>
            <a:pPr marL="0" indent="0">
              <a:buNone/>
            </a:pPr>
            <a:endParaRPr lang="nl-BE" sz="2400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B3DD71-F8B1-FB04-E423-7ADF9CB65F7C}"/>
              </a:ext>
            </a:extLst>
          </p:cNvPr>
          <p:cNvSpPr txBox="1"/>
          <p:nvPr/>
        </p:nvSpPr>
        <p:spPr>
          <a:xfrm>
            <a:off x="922352" y="2252801"/>
            <a:ext cx="650416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enum Discount { 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BASIC(</a:t>
            </a:r>
            <a:r>
              <a:rPr lang="nl-BE" sz="1600" dirty="0">
                <a:solidFill>
                  <a:schemeClr val="accent6"/>
                </a:solidFill>
                <a:latin typeface="Consolas"/>
                <a:cs typeface="Consolas"/>
              </a:rPr>
              <a:t>0.05, </a:t>
            </a:r>
            <a:r>
              <a:rPr lang="nl-BE" sz="1600" dirty="0">
                <a:solidFill>
                  <a:schemeClr val="accent2"/>
                </a:solidFill>
                <a:latin typeface="Consolas"/>
                <a:cs typeface="Consolas"/>
              </a:rPr>
              <a:t>"Remise de 5%"</a:t>
            </a: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), 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FIDELITY (</a:t>
            </a:r>
            <a:r>
              <a:rPr lang="nl-BE" sz="1600" dirty="0">
                <a:solidFill>
                  <a:schemeClr val="accent6"/>
                </a:solidFill>
                <a:latin typeface="Consolas"/>
                <a:cs typeface="Consolas"/>
              </a:rPr>
              <a:t>0.075, </a:t>
            </a:r>
            <a:r>
              <a:rPr lang="nl-BE" sz="1600" dirty="0">
                <a:solidFill>
                  <a:schemeClr val="accent2"/>
                </a:solidFill>
                <a:latin typeface="Consolas"/>
                <a:cs typeface="Consolas"/>
              </a:rPr>
              <a:t>"Remise de 7,5%"</a:t>
            </a: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), 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SPECIAL (</a:t>
            </a:r>
            <a:r>
              <a:rPr lang="nl-BE" sz="1600" dirty="0">
                <a:solidFill>
                  <a:schemeClr val="accent6"/>
                </a:solidFill>
                <a:latin typeface="Consolas"/>
                <a:cs typeface="Consolas"/>
              </a:rPr>
              <a:t>0.1, </a:t>
            </a:r>
            <a:r>
              <a:rPr lang="nl-BE" sz="1600" dirty="0">
                <a:solidFill>
                  <a:schemeClr val="accent2"/>
                </a:solidFill>
                <a:latin typeface="Consolas"/>
                <a:cs typeface="Consolas"/>
              </a:rPr>
              <a:t>"Remise de 10%"</a:t>
            </a: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  <a:r>
              <a:rPr lang="nl-BE" sz="1600" dirty="0">
                <a:solidFill>
                  <a:schemeClr val="accent6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private double rate;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private String message;</a:t>
            </a:r>
          </a:p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</a:t>
            </a:r>
            <a:r>
              <a:rPr lang="nl-BE" sz="1600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cs typeface="Consolas"/>
              </a:rPr>
              <a:t>private</a:t>
            </a: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Discount(</a:t>
            </a:r>
            <a:r>
              <a:rPr lang="nl-BE" sz="1600" dirty="0">
                <a:solidFill>
                  <a:schemeClr val="accent6"/>
                </a:solidFill>
                <a:latin typeface="Consolas"/>
                <a:cs typeface="Consolas"/>
              </a:rPr>
              <a:t>double rate, </a:t>
            </a:r>
            <a:r>
              <a:rPr lang="nl-BE" sz="1600" dirty="0">
                <a:solidFill>
                  <a:schemeClr val="accent2"/>
                </a:solidFill>
                <a:latin typeface="Consolas"/>
                <a:cs typeface="Consolas"/>
              </a:rPr>
              <a:t>String message</a:t>
            </a: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) {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    this.rate = rate;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    this.message = message;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}</a:t>
            </a:r>
          </a:p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public double getRate() { return this.rate; }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public double getMessage() { return this.message; } </a:t>
            </a:r>
          </a:p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public double computeDiscountedPrice(double price) {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    return price * (1 – rate);</a:t>
            </a:r>
            <a:b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    }</a:t>
            </a:r>
          </a:p>
          <a:p>
            <a:pPr marL="0" indent="0">
              <a:buNone/>
            </a:pPr>
            <a:r>
              <a:rPr lang="nl-BE" sz="1600" dirty="0">
                <a:solidFill>
                  <a:schemeClr val="accent4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108718-AA92-7026-57FF-458458C18B47}"/>
              </a:ext>
            </a:extLst>
          </p:cNvPr>
          <p:cNvSpPr txBox="1"/>
          <p:nvPr/>
        </p:nvSpPr>
        <p:spPr>
          <a:xfrm>
            <a:off x="7218791" y="2379628"/>
            <a:ext cx="461275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Remarquez: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Chaque ‘instance’ de l’</a:t>
            </a:r>
            <a:r>
              <a:rPr lang="fr-FR" sz="2000" dirty="0" err="1"/>
              <a:t>enum</a:t>
            </a:r>
            <a:r>
              <a:rPr lang="fr-FR" sz="2000" dirty="0"/>
              <a:t> définit les valeurs passées à son constructeur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La liste de valeurs est terminée par </a:t>
            </a:r>
            <a:r>
              <a:rPr lang="fr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Le constructeur est 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FR" sz="200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028945-DABB-7156-F3E6-FF2AE3D00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41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FR" sz="2000" noProof="0" dirty="0"/>
              <a:t>Créez une classe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fr-FR" sz="2000" noProof="0" dirty="0"/>
              <a:t>, qui représente une carte à jouer</a:t>
            </a:r>
            <a:r>
              <a:rPr lang="fr-FR" sz="2000" dirty="0"/>
              <a:t>. Chaque carte a </a:t>
            </a:r>
          </a:p>
          <a:p>
            <a:pPr lvl="1"/>
            <a:r>
              <a:rPr lang="fr-FR" sz="1600" dirty="0"/>
              <a:t>une couleur (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sz="1600" dirty="0"/>
              <a:t>) parmi 4 (pique (</a:t>
            </a:r>
            <a:r>
              <a:rPr lang="fr-FR" sz="1600" dirty="0" err="1"/>
              <a:t>spades</a:t>
            </a:r>
            <a:r>
              <a:rPr lang="fr-FR" sz="1600" dirty="0"/>
              <a:t>), cœur (</a:t>
            </a:r>
            <a:r>
              <a:rPr lang="fr-FR" sz="1600" dirty="0" err="1"/>
              <a:t>hearts</a:t>
            </a:r>
            <a:r>
              <a:rPr lang="fr-FR" sz="1600" dirty="0"/>
              <a:t>), carreau (</a:t>
            </a:r>
            <a:r>
              <a:rPr lang="fr-FR" sz="1600" dirty="0" err="1"/>
              <a:t>diamonds</a:t>
            </a:r>
            <a:r>
              <a:rPr lang="fr-FR" sz="1600" dirty="0"/>
              <a:t>) et trèfle (clubs)) </a:t>
            </a:r>
          </a:p>
          <a:p>
            <a:pPr lvl="1"/>
            <a:r>
              <a:rPr lang="fr-FR" sz="1600" dirty="0"/>
              <a:t>une valeur (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fr-FR" sz="1600" dirty="0"/>
              <a:t>) parmi 13 (de 1 à 10, ainsi que le valet (Jack), la dame (Queen) et le roi (King)).</a:t>
            </a:r>
          </a:p>
          <a:p>
            <a:pPr lvl="1"/>
            <a:r>
              <a:rPr lang="fr-FR" sz="160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fr-FR" sz="1600" dirty="0"/>
              <a:t> qui affiche la carte en français, comme « As de Pique » ou « 3 de Cœur ».</a:t>
            </a:r>
          </a:p>
          <a:p>
            <a:r>
              <a:rPr lang="fr-FR" sz="2000" noProof="0" dirty="0"/>
              <a:t>Créez une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FR" sz="2000" noProof="0" dirty="0"/>
              <a:t>, qui représente un jeu de cartes complet</a:t>
            </a:r>
            <a:r>
              <a:rPr lang="fr-FR" sz="2000" dirty="0"/>
              <a:t>. Il ne contient pas de Jokers. La classe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FR" sz="2000" dirty="0"/>
              <a:t> présente</a:t>
            </a:r>
          </a:p>
          <a:p>
            <a:pPr lvl="1"/>
            <a:r>
              <a:rPr lang="fr-FR" sz="1600" dirty="0"/>
              <a:t>Un constructeur qui créera les 4 x 13 cartes du jeu de cartes. </a:t>
            </a:r>
          </a:p>
          <a:p>
            <a:pPr lvl="1"/>
            <a:r>
              <a:rPr lang="fr-FR" sz="160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shuffle</a:t>
            </a:r>
            <a:r>
              <a:rPr lang="fr-FR" sz="1600" dirty="0"/>
              <a:t> qui mélangera</a:t>
            </a:r>
            <a:r>
              <a:rPr lang="fr-FR" sz="1600" baseline="30000" dirty="0"/>
              <a:t>*</a:t>
            </a:r>
            <a:r>
              <a:rPr lang="fr-FR" sz="1600" dirty="0"/>
              <a:t> les cartes du jeu.</a:t>
            </a:r>
          </a:p>
          <a:p>
            <a:r>
              <a:rPr lang="fr-FR" sz="2000" dirty="0"/>
              <a:t>Ensuite, écrivez un programme qui crée un jeu de cartes, l’affiche (trié) puis le mélange et l’affiche à nouveau.</a:t>
            </a:r>
            <a:endParaRPr lang="fr-FR" sz="1200" dirty="0"/>
          </a:p>
        </p:txBody>
      </p:sp>
      <p:pic>
        <p:nvPicPr>
          <p:cNvPr id="1028" name="Picture 4" descr="Carte de jeu de jeu PNG Transparent Picture | PNG Mart">
            <a:extLst>
              <a:ext uri="{FF2B5EF4-FFF2-40B4-BE49-F238E27FC236}">
                <a16:creationId xmlns:a16="http://schemas.microsoft.com/office/drawing/2014/main" id="{E6077E59-61C2-4064-D782-B50B16FF3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19506">
            <a:off x="9949556" y="1719409"/>
            <a:ext cx="2095610" cy="1571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251379A-70BE-1BC0-C8E0-4F634286675E}"/>
              </a:ext>
            </a:extLst>
          </p:cNvPr>
          <p:cNvSpPr txBox="1"/>
          <p:nvPr/>
        </p:nvSpPr>
        <p:spPr>
          <a:xfrm>
            <a:off x="1192696" y="5116851"/>
            <a:ext cx="102969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Police système Courant"/>
              <a:buChar char="*"/>
            </a:pPr>
            <a:r>
              <a:rPr lang="fr-FR" sz="1600" dirty="0"/>
              <a:t>Une manière de mélanger les cartes consiste à parcourir les cartes de 1 à 52, et à chaque fois échanger la carte courante avec une autre carte choisie aléatoirement dans le paquet.</a:t>
            </a:r>
            <a:br>
              <a:rPr lang="fr-FR" sz="1600" dirty="0"/>
            </a:br>
            <a:r>
              <a:rPr lang="fr-FR" sz="1600" dirty="0"/>
              <a:t>Pour générer un nombre aléatoire, utilisez la classe </a:t>
            </a:r>
            <a:r>
              <a:rPr lang="fr-BE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java.util.Random</a:t>
            </a:r>
            <a:r>
              <a:rPr lang="fr-FR" sz="1600" dirty="0"/>
              <a:t> qui présente 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n)</a:t>
            </a:r>
            <a:r>
              <a:rPr lang="fr-FR" sz="1600" dirty="0"/>
              <a:t> qui retourne un nombre compris entre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sz="1600" dirty="0"/>
              <a:t> (inclus) et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fr-FR" sz="1600" dirty="0"/>
              <a:t> (exclus).</a:t>
            </a:r>
            <a:endParaRPr lang="fr-FR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C5B8E06B-8673-BC4B-B395-C024D6750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800A83-D566-7764-14D5-C2192F4BE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2089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407F4-5FE3-EEB9-390E-9C432195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fr-FR" dirty="0"/>
              <a:t> et instruction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23CF52-89E5-7BF9-E146-764C3B3AB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BE" dirty="0">
                <a:latin typeface="+mn-lt"/>
                <a:cs typeface="Consolas"/>
              </a:rPr>
              <a:t>Il est possible d'utiliser les valeurs d'une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dirty="0">
                <a:latin typeface="+mn-lt"/>
                <a:cs typeface="Consolas"/>
              </a:rPr>
              <a:t> comme etiquettes dans un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nl-BE" dirty="0">
                <a:latin typeface="+mn-lt"/>
                <a:cs typeface="Consolas"/>
              </a:rPr>
              <a:t>: 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DayOfWeek today;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...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switch(today) {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 case MONDAY : case TUESDAY : case WEDNESDAY : 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 case THURSDAY : System.out.println("On bosse"); break;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 case FRIDAY : System.out.println("Presque..."); break;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 case SATURDAY : 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 case SUNDAY : System.out.println("On se repose."); </a:t>
            </a:r>
          </a:p>
          <a:p>
            <a:pPr marL="457200" lvl="1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buNone/>
            </a:pPr>
            <a:endParaRPr lang="nl-BE" dirty="0">
              <a:latin typeface="+mn-lt"/>
              <a:cs typeface="Consolas"/>
            </a:endParaRPr>
          </a:p>
          <a:p>
            <a:pPr marL="0" indent="0">
              <a:buNone/>
            </a:pPr>
            <a:r>
              <a:rPr lang="nl-BE" dirty="0">
                <a:latin typeface="+mn-lt"/>
                <a:cs typeface="Consolas"/>
              </a:rPr>
              <a:t>Remarquez que les valeurs des étiquettes ne doivent pas être préfixées du nom de l’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dirty="0">
                <a:latin typeface="+mn-lt"/>
                <a:cs typeface="Consolas"/>
              </a:rPr>
              <a:t>; celui-ci est déduit du type de la valeur du </a:t>
            </a:r>
            <a:r>
              <a:rPr lang="nl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nl-BE" dirty="0">
                <a:latin typeface="+mn-lt"/>
                <a:cs typeface="Consolas"/>
              </a:rPr>
              <a:t>...</a:t>
            </a:r>
          </a:p>
          <a:p>
            <a:pPr marL="0" indent="0">
              <a:buNone/>
            </a:pPr>
            <a:endParaRPr lang="fr-FR" dirty="0">
              <a:latin typeface="+mn-l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90A14C-6BB6-8E93-03AD-2F3872BD3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7836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C44E8-5A9E-5199-B0B6-0DA56D0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enregistrements: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675AB-3B76-F935-F336-4B21E55A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Apparus en Java 14 et officiellement disponibles depuis Java 16, les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records</a:t>
            </a:r>
            <a:r>
              <a:rPr lang="nl-BE" sz="2400" dirty="0">
                <a:cs typeface="Consolas"/>
              </a:rPr>
              <a:t> permettent </a:t>
            </a:r>
            <a:r>
              <a:rPr lang="fr-BE" sz="2400" dirty="0">
                <a:cs typeface="Consolas"/>
              </a:rPr>
              <a:t>de créer des classes immuables simples de manière très concise pour contenir des données.</a:t>
            </a:r>
            <a:endParaRPr lang="nl-BE" sz="2400" dirty="0">
              <a:cs typeface="Consolas"/>
            </a:endParaRP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On utilise pour cela le mot clé </a:t>
            </a:r>
            <a:r>
              <a:rPr lang="nl-BE" sz="2200" dirty="0">
                <a:solidFill>
                  <a:schemeClr val="accent4"/>
                </a:solidFill>
                <a:latin typeface="Consolas"/>
                <a:cs typeface="Consolas"/>
              </a:rPr>
              <a:t>record</a:t>
            </a:r>
            <a:r>
              <a:rPr lang="nl-BE" sz="2400" dirty="0">
                <a:latin typeface="+mn-lt"/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public record Point(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 x, 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 y) {}</a:t>
            </a:r>
            <a:endParaRPr lang="nl-BE" sz="2200" dirty="0">
              <a:solidFill>
                <a:schemeClr val="accent4"/>
              </a:solidFill>
              <a:latin typeface="Consolas"/>
              <a:cs typeface="Consolas"/>
            </a:endParaRP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Les </a:t>
            </a:r>
            <a:r>
              <a:rPr lang="nl-BE" sz="2200" dirty="0">
                <a:solidFill>
                  <a:schemeClr val="accent4"/>
                </a:solidFill>
                <a:latin typeface="Consolas"/>
                <a:cs typeface="Consolas"/>
              </a:rPr>
              <a:t>record</a:t>
            </a:r>
            <a:r>
              <a:rPr lang="nl-BE" sz="2400" dirty="0">
                <a:cs typeface="Consolas"/>
              </a:rPr>
              <a:t> servent à déclarer des données structurées, sans logique. Les objets de type </a:t>
            </a:r>
            <a:r>
              <a:rPr lang="nl-BE" sz="2200" dirty="0">
                <a:solidFill>
                  <a:schemeClr val="accent4"/>
                </a:solidFill>
                <a:latin typeface="Consolas"/>
                <a:cs typeface="Consolas"/>
              </a:rPr>
              <a:t>record</a:t>
            </a:r>
            <a:r>
              <a:rPr lang="nl-BE" sz="2400" dirty="0">
                <a:cs typeface="Consolas"/>
              </a:rPr>
              <a:t> seront aussi immuables (</a:t>
            </a:r>
            <a:r>
              <a:rPr lang="nl-BE" sz="2200" dirty="0">
                <a:solidFill>
                  <a:schemeClr val="accent4"/>
                </a:solidFill>
                <a:latin typeface="Consolas"/>
                <a:cs typeface="Consolas"/>
              </a:rPr>
              <a:t>final</a:t>
            </a:r>
            <a:r>
              <a:rPr lang="nl-BE" sz="2400" dirty="0">
                <a:cs typeface="Consolas"/>
              </a:rPr>
              <a:t>). </a:t>
            </a: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Idéal pour représenter une adresse, une donnée simple qui ne se modifie pas.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33030B-8D38-7ED1-5574-99B1BFD20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612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B3EE-42F2-A500-8092-9F8912A4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3215B-184F-0026-7595-A1000BB8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Déclaration d’un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CCF53A-BE18-D4D8-E373-6535FCEE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Vous l’avez vu dans le slide suivant, la déclaration inclut les champs du </a:t>
            </a:r>
            <a:r>
              <a:rPr lang="nl-BE" sz="2200" dirty="0">
                <a:solidFill>
                  <a:schemeClr val="accent4"/>
                </a:solidFill>
                <a:latin typeface="Consolas"/>
                <a:cs typeface="Consolas"/>
              </a:rPr>
              <a:t>record</a:t>
            </a:r>
            <a:r>
              <a:rPr lang="nl-BE" sz="2400" dirty="0">
                <a:cs typeface="Consolas"/>
              </a:rPr>
              <a:t>:</a:t>
            </a:r>
            <a:endParaRPr lang="nl-BE" sz="2400" dirty="0">
              <a:latin typeface="+mn-lt"/>
              <a:cs typeface="Consolas"/>
            </a:endParaRP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public record Point(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 x, 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 y) {}</a:t>
            </a:r>
            <a:endParaRPr lang="nl-BE" sz="2200" dirty="0">
              <a:solidFill>
                <a:schemeClr val="accent4"/>
              </a:solidFill>
              <a:latin typeface="Consolas"/>
              <a:cs typeface="Consolas"/>
            </a:endParaRP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 algn="l">
              <a:buNone/>
            </a:pPr>
            <a:r>
              <a:rPr lang="fr-BE" sz="2400" dirty="0">
                <a:cs typeface="Consolas"/>
              </a:rPr>
              <a:t>Ce code génère automatiquement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400" dirty="0">
                <a:cs typeface="Consolas"/>
              </a:rPr>
              <a:t>Un </a:t>
            </a:r>
            <a:r>
              <a:rPr lang="fr-BE" sz="2400" dirty="0">
                <a:solidFill>
                  <a:schemeClr val="accent4"/>
                </a:solidFill>
                <a:cs typeface="Consolas"/>
              </a:rPr>
              <a:t>constructeur</a:t>
            </a:r>
            <a:r>
              <a:rPr lang="fr-BE" sz="2400" dirty="0">
                <a:cs typeface="Consolas"/>
              </a:rPr>
              <a:t> public.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400" dirty="0">
                <a:cs typeface="Consolas"/>
              </a:rPr>
              <a:t>Les méthodes getter (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x()</a:t>
            </a:r>
            <a:r>
              <a:rPr lang="fr-BE" sz="2400" dirty="0">
                <a:cs typeface="Consolas"/>
              </a:rPr>
              <a:t> et 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y()</a:t>
            </a:r>
            <a:r>
              <a:rPr lang="fr-BE" sz="2400" dirty="0">
                <a:cs typeface="Consolas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400" dirty="0">
                <a:cs typeface="Consolas"/>
              </a:rPr>
              <a:t>Une méthode 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toString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()</a:t>
            </a:r>
            <a:r>
              <a:rPr lang="fr-BE" sz="2400" dirty="0">
                <a:cs typeface="Consola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400" dirty="0">
                <a:cs typeface="Consolas"/>
              </a:rPr>
              <a:t>Une méthode 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equals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()</a:t>
            </a:r>
            <a:r>
              <a:rPr lang="fr-BE" sz="2400" dirty="0">
                <a:cs typeface="Consolas"/>
              </a:rPr>
              <a:t> et </a:t>
            </a:r>
            <a:r>
              <a:rPr lang="fr-BE" sz="2200" dirty="0" err="1">
                <a:solidFill>
                  <a:schemeClr val="accent4"/>
                </a:solidFill>
                <a:latin typeface="Consolas"/>
                <a:cs typeface="Consolas"/>
              </a:rPr>
              <a:t>hashCode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()</a:t>
            </a:r>
            <a:r>
              <a:rPr lang="fr-BE" sz="2400" dirty="0">
                <a:cs typeface="Consolas"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7D994D-7BCA-C5DD-CD38-183D1468F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275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FE41-3187-79B7-CCB9-F2613A1D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5A1E1-253D-8AB9-BD6C-2BA60EBA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Déclaration d’un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F59BB2-5D12-C2AC-6BC8-F6F40DFA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Vous pouvez personnaliser un record en lui ajoutant des méthodes ou en modifiant ses méthodes.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5FA5E2-E693-B4E5-4DAE-84050A4ACF71}"/>
              </a:ext>
            </a:extLst>
          </p:cNvPr>
          <p:cNvSpPr txBox="1"/>
          <p:nvPr/>
        </p:nvSpPr>
        <p:spPr>
          <a:xfrm>
            <a:off x="1056289" y="2758736"/>
            <a:ext cx="10079421" cy="3139321"/>
          </a:xfrm>
          <a:prstGeom prst="rect">
            <a:avLst/>
          </a:prstGeom>
          <a:solidFill>
            <a:srgbClr val="1D1F22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record 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Rectangle(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Rectangle 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fr-BE" dirty="0">
                <a:solidFill>
                  <a:srgbClr val="2AACB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||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&lt;= </a:t>
            </a:r>
            <a:r>
              <a:rPr lang="fr-BE" dirty="0">
                <a:solidFill>
                  <a:srgbClr val="2AACB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IllegalArgumentException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"Dimensions must </a:t>
            </a:r>
            <a:r>
              <a:rPr lang="fr-BE" dirty="0" err="1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</a:t>
            </a:r>
            <a:r>
              <a:rPr lang="fr-BE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positive"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area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fr-BE" dirty="0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fr-BE" dirty="0" err="1">
                <a:solidFill>
                  <a:srgbClr val="C77D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03907-319D-5192-C186-2148C87D6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662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18F2A-E196-40EA-514E-A9021D2E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Quelques</a:t>
            </a:r>
            <a:r>
              <a:rPr lang="en-GB" dirty="0"/>
              <a:t> remarques…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EF6573-8185-E36E-9DDB-1127D94AE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 </a:t>
            </a:r>
            <a:r>
              <a:rPr lang="en-GB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en-GB" dirty="0"/>
              <a:t> sera </a:t>
            </a:r>
            <a:r>
              <a:rPr lang="en-GB" dirty="0" err="1"/>
              <a:t>utilisé</a:t>
            </a:r>
            <a:r>
              <a:rPr lang="en-GB" dirty="0"/>
              <a:t> pour </a:t>
            </a:r>
            <a:r>
              <a:rPr lang="en-GB" dirty="0" err="1"/>
              <a:t>modéliser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structure de données simple.</a:t>
            </a:r>
          </a:p>
          <a:p>
            <a:endParaRPr lang="en-GB" dirty="0"/>
          </a:p>
          <a:p>
            <a:r>
              <a:rPr lang="en-GB" dirty="0"/>
              <a:t>Pour un </a:t>
            </a:r>
            <a:r>
              <a:rPr lang="en-GB" dirty="0" err="1"/>
              <a:t>objet</a:t>
            </a:r>
            <a:r>
              <a:rPr lang="en-GB" dirty="0"/>
              <a:t> </a:t>
            </a:r>
            <a:r>
              <a:rPr lang="en-GB" dirty="0" err="1"/>
              <a:t>présentant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logique</a:t>
            </a:r>
            <a:r>
              <a:rPr lang="en-GB" dirty="0"/>
              <a:t> </a:t>
            </a:r>
            <a:r>
              <a:rPr lang="en-GB" dirty="0" err="1"/>
              <a:t>complexe</a:t>
            </a:r>
            <a:r>
              <a:rPr lang="en-GB" dirty="0"/>
              <a:t>, le </a:t>
            </a:r>
            <a:r>
              <a:rPr lang="en-GB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en-GB" dirty="0"/>
              <a:t> </a:t>
            </a:r>
            <a:r>
              <a:rPr lang="en-GB" dirty="0" err="1"/>
              <a:t>n’est</a:t>
            </a:r>
            <a:r>
              <a:rPr lang="en-GB" dirty="0"/>
              <a:t> pas </a:t>
            </a:r>
            <a:r>
              <a:rPr lang="en-GB" dirty="0" err="1"/>
              <a:t>approprié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Enfin</a:t>
            </a:r>
            <a:r>
              <a:rPr lang="en-GB" dirty="0"/>
              <a:t>, un </a:t>
            </a:r>
            <a:r>
              <a:rPr lang="en-GB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final: il ne </a:t>
            </a:r>
            <a:r>
              <a:rPr lang="en-GB" dirty="0" err="1"/>
              <a:t>peut</a:t>
            </a:r>
            <a:r>
              <a:rPr lang="en-GB" dirty="0"/>
              <a:t> pas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hérité</a:t>
            </a:r>
            <a:r>
              <a:rPr lang="en-GB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77FB6B-1036-A8A6-AA2C-65754AA4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771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90FE-2871-BFA8-2A89-9EB734EA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2A7E44-4636-8CEB-D6C9-9F10E874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B3AE-6DAE-BFC2-8012-3361D31E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FR" noProof="0" dirty="0"/>
              <a:t>Créez un record </a:t>
            </a:r>
            <a:r>
              <a:rPr lang="fr-FR" sz="24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</a:t>
            </a:r>
            <a:r>
              <a:rPr lang="fr-FR" noProof="0" dirty="0"/>
              <a:t>, qui représente un étudiant et sa note</a:t>
            </a:r>
            <a:r>
              <a:rPr lang="fr-FR" dirty="0"/>
              <a:t>. </a:t>
            </a:r>
          </a:p>
          <a:p>
            <a:r>
              <a:rPr lang="fr-FR" dirty="0"/>
              <a:t>Un étudiant a</a:t>
            </a:r>
          </a:p>
          <a:p>
            <a:pPr lvl="1"/>
            <a:r>
              <a:rPr lang="fr-FR" dirty="0"/>
              <a:t>un nom (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une cote (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) de 0 à 20</a:t>
            </a:r>
          </a:p>
          <a:p>
            <a:pPr lvl="1"/>
            <a:r>
              <a:rPr lang="fr-FR" dirty="0"/>
              <a:t>une méthode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passe</a:t>
            </a:r>
            <a:r>
              <a:rPr lang="fr-FR" sz="2000" dirty="0"/>
              <a:t> </a:t>
            </a:r>
            <a:r>
              <a:rPr lang="fr-FR" dirty="0"/>
              <a:t>() qui indique si l’étudiant a réussi ou pas (cote ≥ 10).</a:t>
            </a:r>
          </a:p>
          <a:p>
            <a:r>
              <a:rPr lang="fr-FR" dirty="0"/>
              <a:t>Ensuite, écrivez un programme qui crée un tableau d’étudiants, et affiche chaque étudiant suivi de « réussi » ou de « échec ».</a:t>
            </a:r>
            <a:endParaRPr lang="fr-FR" sz="1600" dirty="0"/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81B406E1-1B63-3B79-3B55-B788936A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B48AB7-2911-CADA-E8D9-90C774C6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2061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1CC4-6118-3DB9-35E9-39AE220B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E2A4DB-CDB6-DE53-EBC5-4F9F3F27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32C315-589D-5354-E4BE-390B6992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Modifiez la classe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r>
              <a:rPr lang="nl-BE" sz="2400" dirty="0"/>
              <a:t>.</a:t>
            </a:r>
          </a:p>
          <a:p>
            <a:r>
              <a:rPr lang="fr-FR" sz="2400" dirty="0"/>
              <a:t>… en y ajoutant la date et l’heure de début de partie, ainsi que la date et l’heure de fin de partie (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LocalDateTime</a:t>
            </a:r>
            <a:r>
              <a:rPr lang="fr-FR" sz="2400" dirty="0"/>
              <a:t>).</a:t>
            </a:r>
            <a:br>
              <a:rPr lang="fr-FR" sz="2400" dirty="0"/>
            </a:br>
            <a:r>
              <a:rPr lang="fr-FR" sz="2400" dirty="0"/>
              <a:t>Appelez les champs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dateHeureDebut</a:t>
            </a:r>
            <a:r>
              <a:rPr lang="fr-FR" sz="2400" dirty="0"/>
              <a:t> et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dateHeureFin</a:t>
            </a:r>
            <a:r>
              <a:rPr lang="fr-FR" sz="2400" dirty="0"/>
              <a:t>.</a:t>
            </a:r>
          </a:p>
          <a:p>
            <a:r>
              <a:rPr lang="fr-FR" sz="2400" dirty="0"/>
              <a:t>La date de début sera initialisée dans le constructeur à l’aide de la méthode statique (appelée sur la classe)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fr-FR" sz="2400" dirty="0"/>
              <a:t> de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LocalDateTime</a:t>
            </a:r>
            <a:r>
              <a:rPr lang="fr-FR" sz="2400" dirty="0"/>
              <a:t>.</a:t>
            </a:r>
          </a:p>
          <a:p>
            <a:r>
              <a:rPr lang="fr-FR" sz="2400" dirty="0"/>
              <a:t>Pour setter la date de fin, ajoutez une méthode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terminer</a:t>
            </a:r>
            <a:r>
              <a:rPr lang="fr-FR" sz="2400" dirty="0"/>
              <a:t> qui utilise aussi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fr-FR" sz="2400" dirty="0"/>
              <a:t>.</a:t>
            </a:r>
          </a:p>
          <a:p>
            <a:r>
              <a:rPr lang="fr-FR" sz="2400" dirty="0"/>
              <a:t>Ajoutez aussi des getters qui permettent de récupérer la date et l’heure de début et la date et l’heure de fin de la partie.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FDCD71-D4D6-18FE-6A39-6A74BFC86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B65D42C3-E054-6FD1-8613-3E4EA034A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78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95EB-CCF6-5418-B6F1-F65FBFFE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3D80E-5665-6803-C956-C09E9A7C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8BEBE5-906E-2845-7FC1-2B71C205A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Structurons un peu notre projet GameHub…</a:t>
            </a:r>
          </a:p>
          <a:p>
            <a:r>
              <a:rPr lang="nl-BE" sz="2400" dirty="0"/>
              <a:t>Proposition:</a:t>
            </a:r>
          </a:p>
          <a:p>
            <a:pPr lvl="1"/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be.ephec.gamehub</a:t>
            </a:r>
            <a:endParaRPr lang="fr-BE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be.ephec.gamehub.modele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/>
              <a:t>(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Joueur</a:t>
            </a:r>
            <a:r>
              <a:rPr lang="fr-BE" sz="2000" dirty="0"/>
              <a:t>,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r>
              <a:rPr lang="fr-BE" sz="2000" dirty="0"/>
              <a:t>, etc.)</a:t>
            </a:r>
          </a:p>
          <a:p>
            <a:pPr lvl="1"/>
            <a:r>
              <a:rPr lang="fr-BE" sz="2000" dirty="0"/>
              <a:t>On ajoutera plus tard :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</a:t>
            </a:r>
            <a:r>
              <a:rPr lang="fr-BE" sz="2000" dirty="0"/>
              <a:t>,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</a:t>
            </a:r>
            <a:r>
              <a:rPr lang="fr-BE" sz="2000" dirty="0"/>
              <a:t>, etc.</a:t>
            </a:r>
          </a:p>
          <a:p>
            <a:pPr lvl="1"/>
            <a:endParaRPr lang="nl-BE" sz="2000" dirty="0"/>
          </a:p>
          <a:p>
            <a:r>
              <a:rPr lang="fr-FR" sz="2400" dirty="0"/>
              <a:t>A la main, vous devriez </a:t>
            </a:r>
          </a:p>
          <a:p>
            <a:pPr lvl="1"/>
            <a:r>
              <a:rPr lang="fr-FR" sz="2000" dirty="0"/>
              <a:t>Créer l’arborescence de folders</a:t>
            </a:r>
          </a:p>
          <a:p>
            <a:pPr lvl="1"/>
            <a:r>
              <a:rPr lang="fr-FR" sz="2000" dirty="0"/>
              <a:t>Déplacer le fichier dans le package correspondant</a:t>
            </a:r>
          </a:p>
          <a:p>
            <a:pPr lvl="1"/>
            <a:r>
              <a:rPr lang="fr-FR" sz="2000" dirty="0"/>
              <a:t>Ajouter l’instruction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r>
              <a:rPr lang="fr-FR" sz="2000" dirty="0"/>
              <a:t> en début de classe.</a:t>
            </a:r>
          </a:p>
          <a:p>
            <a:r>
              <a:rPr lang="fr-FR" sz="2400" dirty="0"/>
              <a:t>Plus simple: le faire en utilisant les fonctionnalités</a:t>
            </a:r>
            <a:br>
              <a:rPr lang="fr-FR" sz="2400" dirty="0"/>
            </a:br>
            <a:r>
              <a:rPr lang="fr-FR" sz="2400" dirty="0"/>
              <a:t> d’</a:t>
            </a:r>
            <a:r>
              <a:rPr lang="fr-FR" sz="2400" dirty="0" err="1"/>
              <a:t>IntelliJ</a:t>
            </a:r>
            <a:r>
              <a:rPr lang="fr-FR" sz="2400" dirty="0"/>
              <a:t>…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00DAAA-29A3-8F14-48E3-AEF1D9B44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D69FFE58-F426-326B-BCC9-7F9FB35F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E68CD05-A259-B595-24F4-D851C7009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80" b="12002"/>
          <a:stretch>
            <a:fillRect/>
          </a:stretch>
        </p:blipFill>
        <p:spPr>
          <a:xfrm>
            <a:off x="7707027" y="1054428"/>
            <a:ext cx="4312048" cy="1981262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ED6A25F-E50F-F872-32F3-D8DD08A6660C}"/>
              </a:ext>
            </a:extLst>
          </p:cNvPr>
          <p:cNvSpPr/>
          <p:nvPr/>
        </p:nvSpPr>
        <p:spPr>
          <a:xfrm>
            <a:off x="7707027" y="1169057"/>
            <a:ext cx="2741070" cy="35378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A65E0C6-84DF-4DFA-C1DE-AABE0C585056}"/>
              </a:ext>
            </a:extLst>
          </p:cNvPr>
          <p:cNvSpPr/>
          <p:nvPr/>
        </p:nvSpPr>
        <p:spPr>
          <a:xfrm>
            <a:off x="10448097" y="1931057"/>
            <a:ext cx="1570978" cy="244929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A8500BA-275C-69B4-EE79-EB3184351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16" r="27454" b="26909"/>
          <a:stretch>
            <a:fillRect/>
          </a:stretch>
        </p:blipFill>
        <p:spPr>
          <a:xfrm>
            <a:off x="7707027" y="3141122"/>
            <a:ext cx="4312048" cy="3542297"/>
          </a:xfrm>
          <a:prstGeom prst="rect">
            <a:avLst/>
          </a:prstGeom>
        </p:spPr>
      </p:pic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11C1232-6648-2669-55E0-79B0368B3C33}"/>
              </a:ext>
            </a:extLst>
          </p:cNvPr>
          <p:cNvSpPr/>
          <p:nvPr/>
        </p:nvSpPr>
        <p:spPr>
          <a:xfrm>
            <a:off x="8215143" y="4709341"/>
            <a:ext cx="2016512" cy="22046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CCBADD9-D096-0758-341F-F18E3F6BC0B0}"/>
              </a:ext>
            </a:extLst>
          </p:cNvPr>
          <p:cNvSpPr/>
          <p:nvPr/>
        </p:nvSpPr>
        <p:spPr>
          <a:xfrm>
            <a:off x="10231654" y="6176963"/>
            <a:ext cx="1709759" cy="21299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13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4F5F-355E-A42B-47A5-94C58D3C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1B650-C0BE-36FD-AEE1-5A354E31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7CCB4B-3BFE-E605-9393-0298EB7C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Vous allez à présent créer deux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2400" dirty="0"/>
              <a:t>: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nl-BE" sz="2400" dirty="0"/>
              <a:t> et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r>
              <a:rPr lang="nl-BE" sz="2400" dirty="0"/>
              <a:t>.</a:t>
            </a:r>
          </a:p>
          <a:p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2400" dirty="0"/>
              <a:t>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endParaRPr lang="nl-BE" sz="2000" dirty="0"/>
          </a:p>
          <a:p>
            <a:pPr lvl="1"/>
            <a:r>
              <a:rPr lang="nl-BE" sz="1800" dirty="0"/>
              <a:t>Il y a pour le moment 3 types de jeux: Nim, Morpion et Puissance4</a:t>
            </a:r>
            <a:br>
              <a:rPr lang="nl-BE" sz="1800" dirty="0"/>
            </a:br>
            <a:r>
              <a:rPr lang="nl-BE" sz="1800" dirty="0"/>
              <a:t>Les valeurs de votre </a:t>
            </a:r>
            <a:r>
              <a:rPr lang="nl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1800" dirty="0"/>
              <a:t> </a:t>
            </a:r>
            <a:r>
              <a:rPr lang="nl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nl-BE" sz="1800" dirty="0"/>
              <a:t> seront donc :</a:t>
            </a:r>
          </a:p>
          <a:p>
            <a:pPr marL="457200" lvl="1" indent="0" algn="ctr">
              <a:buNone/>
            </a:pPr>
            <a:r>
              <a:rPr lang="nl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{NIM, MORPION, PUISSANCE4}</a:t>
            </a:r>
          </a:p>
          <a:p>
            <a:pPr lvl="1"/>
            <a:r>
              <a:rPr lang="nl-BE" sz="1800" dirty="0"/>
              <a:t>Pour pouvoir afficher à l’utilisateur les jeux disponibles, nous avons besoin d’un </a:t>
            </a:r>
            <a:r>
              <a:rPr lang="nl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nl-BE" sz="1800" dirty="0"/>
              <a:t> et d’un champ nom dans cette </a:t>
            </a:r>
            <a:r>
              <a:rPr lang="nl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1800" dirty="0"/>
              <a:t>…</a:t>
            </a:r>
          </a:p>
          <a:p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2400" dirty="0"/>
              <a:t>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endParaRPr lang="nl-BE" sz="2000" dirty="0"/>
          </a:p>
          <a:p>
            <a:pPr lvl="1"/>
            <a:r>
              <a:rPr lang="nl-BE" sz="1800" dirty="0"/>
              <a:t>Pour le résultat d’une partie il y a 3 possibilités: joueur 1 gagne, joueur 2 gagne ou match nul.</a:t>
            </a:r>
          </a:p>
          <a:p>
            <a:pPr marL="457200" lvl="1" indent="0" algn="ctr">
              <a:buNone/>
            </a:pPr>
            <a:r>
              <a:rPr lang="nl-BE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{JOUEUR1_GAGNE, JOUEUR2_GAGNE, MATCH_NUL}</a:t>
            </a:r>
          </a:p>
          <a:p>
            <a:r>
              <a:rPr lang="nl-BE" sz="2400" dirty="0"/>
              <a:t>Où (= dans quelle classe) pourriez-vous </a:t>
            </a:r>
            <a:r>
              <a:rPr lang="nl-BE" sz="2400" u="sng" dirty="0"/>
              <a:t>utiliser</a:t>
            </a:r>
            <a:r>
              <a:rPr lang="nl-BE" sz="2400" dirty="0"/>
              <a:t> ces deux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nl-BE" sz="2400" dirty="0"/>
              <a:t>?</a:t>
            </a:r>
          </a:p>
          <a:p>
            <a:pPr marL="0" indent="0" algn="ctr">
              <a:buNone/>
            </a:pPr>
            <a:endParaRPr lang="fr-FR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B71067-6F86-14EB-F30E-ACBBCE14E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37717F16-5D08-D61D-4B79-6E8DFBB9D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7AE074E-3FF4-CD9E-544D-47683CE35322}"/>
              </a:ext>
            </a:extLst>
          </p:cNvPr>
          <p:cNvSpPr/>
          <p:nvPr/>
        </p:nvSpPr>
        <p:spPr>
          <a:xfrm>
            <a:off x="8639175" y="5616574"/>
            <a:ext cx="2856198" cy="47942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… dans la </a:t>
            </a:r>
            <a:r>
              <a:rPr lang="en-GB" sz="2000" dirty="0" err="1"/>
              <a:t>classe</a:t>
            </a:r>
            <a:r>
              <a:rPr lang="en-GB" sz="2000" dirty="0"/>
              <a:t> 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9598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13A5-2420-0C1C-0E22-E63961E5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AAA019-DCEB-0515-D58F-64DA5AAA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55266F-3803-8C2D-7114-5F93BF80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D</a:t>
            </a:r>
            <a:r>
              <a:rPr lang="en-GB" sz="2400" dirty="0" err="1"/>
              <a:t>ans</a:t>
            </a:r>
            <a:r>
              <a:rPr lang="en-GB" sz="2400" dirty="0"/>
              <a:t> la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r>
              <a:rPr lang="en-GB" sz="2400" dirty="0"/>
              <a:t>, </a:t>
            </a:r>
            <a:r>
              <a:rPr lang="en-GB" sz="2400" dirty="0" err="1"/>
              <a:t>représentez</a:t>
            </a:r>
            <a:r>
              <a:rPr lang="en-GB" sz="2400" dirty="0"/>
              <a:t> </a:t>
            </a:r>
          </a:p>
          <a:p>
            <a:pPr lvl="1"/>
            <a:r>
              <a:rPr lang="en-GB" sz="2000" dirty="0"/>
              <a:t>le type de jeu</a:t>
            </a:r>
          </a:p>
          <a:p>
            <a:pPr lvl="1"/>
            <a:r>
              <a:rPr lang="en-GB" sz="2000" dirty="0"/>
              <a:t>le </a:t>
            </a:r>
            <a:r>
              <a:rPr lang="en-GB" sz="2000" dirty="0" err="1"/>
              <a:t>résultat</a:t>
            </a:r>
            <a:r>
              <a:rPr lang="en-GB" sz="2000" dirty="0"/>
              <a:t> de la </a:t>
            </a:r>
            <a:r>
              <a:rPr lang="en-GB" sz="2000" dirty="0" err="1"/>
              <a:t>partie</a:t>
            </a:r>
            <a:r>
              <a:rPr lang="en-GB" sz="2000" dirty="0"/>
              <a:t>.</a:t>
            </a:r>
          </a:p>
          <a:p>
            <a:r>
              <a:rPr lang="en-GB" sz="2400" dirty="0" err="1"/>
              <a:t>C’est</a:t>
            </a:r>
            <a:r>
              <a:rPr lang="en-GB" sz="2400" dirty="0"/>
              <a:t>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terminer</a:t>
            </a:r>
            <a:r>
              <a:rPr lang="en-GB" sz="2400" dirty="0"/>
              <a:t> </a:t>
            </a:r>
            <a:r>
              <a:rPr lang="en-GB" sz="2400" dirty="0" err="1"/>
              <a:t>reçoit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r>
              <a:rPr lang="en-GB" sz="2400" dirty="0"/>
              <a:t> et qui </a:t>
            </a:r>
            <a:r>
              <a:rPr lang="en-GB" sz="2400" dirty="0" err="1"/>
              <a:t>l’initialise</a:t>
            </a:r>
            <a:r>
              <a:rPr lang="en-GB" sz="2400" dirty="0"/>
              <a:t>.</a:t>
            </a:r>
          </a:p>
          <a:p>
            <a:r>
              <a:rPr lang="nl-BE" sz="2400" dirty="0"/>
              <a:t>Ajoutez aussi des getters pour ces deux champs.</a:t>
            </a:r>
            <a:endParaRPr lang="fr-FR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2400" dirty="0"/>
              <a:t>Modifiez enfin le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fr-FR" sz="2400" dirty="0"/>
              <a:t> pour y inclure les derniers champs ajoutés à notre partie:  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 " +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 entre " + joueur1 + " et " + joueur2 +</a:t>
            </a:r>
            <a:b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" commencée à " +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dateHeureDebut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</a:t>
            </a:r>
            <a:b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(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!=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? " - résultat : " +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"</a:t>
            </a:r>
          </a:p>
          <a:p>
            <a:endParaRPr lang="nl-BE" sz="2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2FD6CC-0F93-A3A8-E6F1-DF86265BA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60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3CA5385D-B12E-B885-4197-E394E6669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303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B867-7544-E72D-4A2D-0C27ABF7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98249-23EF-21DF-49F3-6A65E65E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C17049-4A72-8F22-58A4-930CE6C9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Pour finir, vous allez créer un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nl-BE" sz="2400" dirty="0"/>
              <a:t>: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ResumePartie</a:t>
            </a:r>
            <a:r>
              <a:rPr lang="nl-BE" sz="2400" dirty="0"/>
              <a:t>.</a:t>
            </a:r>
          </a:p>
          <a:p>
            <a:endParaRPr lang="nl-BE" sz="2400" dirty="0"/>
          </a:p>
          <a:p>
            <a:r>
              <a:rPr lang="nl-BE" sz="2400" dirty="0"/>
              <a:t>Ce record contient les infos suivantes:</a:t>
            </a:r>
          </a:p>
          <a:p>
            <a:pPr lvl="1"/>
            <a:r>
              <a:rPr lang="nl-BE" sz="2000" dirty="0"/>
              <a:t>Le pseudo du gagnant</a:t>
            </a:r>
          </a:p>
          <a:p>
            <a:pPr lvl="1"/>
            <a:r>
              <a:rPr lang="nl-BE" sz="2000" dirty="0"/>
              <a:t>La date/heure de début de partie</a:t>
            </a:r>
          </a:p>
          <a:p>
            <a:pPr lvl="1"/>
            <a:r>
              <a:rPr lang="nl-BE" sz="2000" dirty="0"/>
              <a:t>La date/heure de fin de partie</a:t>
            </a:r>
          </a:p>
          <a:p>
            <a:pPr lvl="1"/>
            <a:r>
              <a:rPr lang="nl-BE" sz="2000" dirty="0"/>
              <a:t>Le type de jeu</a:t>
            </a:r>
          </a:p>
          <a:p>
            <a:r>
              <a:rPr lang="nl-BE" sz="2400" dirty="0"/>
              <a:t>A quel endroit pourrait-on créer ce record? </a:t>
            </a:r>
          </a:p>
          <a:p>
            <a:pPr lvl="1"/>
            <a:r>
              <a:rPr lang="nl-BE" sz="2000" dirty="0"/>
              <a:t>Dans quelle classe? Dans quelle méthode?</a:t>
            </a:r>
            <a:endParaRPr lang="fr-FR" sz="2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DA161C-EDF3-8333-A3DE-96C9C017A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61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D286F308-4190-B7C3-7660-2BA701965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05E3AD6-61E0-9728-013C-051235BC82EE}"/>
              </a:ext>
            </a:extLst>
          </p:cNvPr>
          <p:cNvSpPr/>
          <p:nvPr/>
        </p:nvSpPr>
        <p:spPr>
          <a:xfrm>
            <a:off x="8258175" y="5616574"/>
            <a:ext cx="3237198" cy="47942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… dans 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Partie.terminer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1988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D05C-0F61-9889-22C0-18830F72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965E81-D013-9980-3F00-C0C1AB2D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750302-458E-243E-533D-21B1A2ED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BE" sz="2400" dirty="0"/>
              <a:t>Il faut maintenant modifier la classe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GameHub</a:t>
            </a:r>
            <a:r>
              <a:rPr lang="nl-BE" sz="2400" dirty="0"/>
              <a:t> </a:t>
            </a:r>
          </a:p>
          <a:p>
            <a:r>
              <a:rPr lang="nl-BE" sz="2400" dirty="0"/>
              <a:t>Ajoutez le choix du type de jeu (en affichant les valeurs de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nl-BE" sz="2400" dirty="0"/>
              <a:t>)</a:t>
            </a:r>
          </a:p>
          <a:p>
            <a:r>
              <a:rPr lang="nl-BE" sz="2400" dirty="0"/>
              <a:t>Créez une partie puis affichez-la</a:t>
            </a:r>
          </a:p>
          <a:p>
            <a:r>
              <a:rPr lang="nl-BE" sz="2400" dirty="0"/>
              <a:t>Terminez une partie puis affichez-la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962C70-0BDB-753F-805F-37EB61B27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62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D1C46CEC-0C6B-9EDF-B059-33D0CC863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81849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77343</TotalTime>
  <Words>5533</Words>
  <Application>Microsoft Macintosh PowerPoint</Application>
  <PresentationFormat>Grand écran</PresentationFormat>
  <Paragraphs>655</Paragraphs>
  <Slides>62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72" baseType="lpstr">
      <vt:lpstr>Arial</vt:lpstr>
      <vt:lpstr>Calibri</vt:lpstr>
      <vt:lpstr>Consolas</vt:lpstr>
      <vt:lpstr>Corbel</vt:lpstr>
      <vt:lpstr>Helvetica</vt:lpstr>
      <vt:lpstr>Police système Courant</vt:lpstr>
      <vt:lpstr>Söhne</vt:lpstr>
      <vt:lpstr>Wingdings</vt:lpstr>
      <vt:lpstr>Zapf Dingbats</vt:lpstr>
      <vt:lpstr>ThemeEphec2022</vt:lpstr>
      <vt:lpstr>JAVA 2</vt:lpstr>
      <vt:lpstr>Vu au dernier cours…</vt:lpstr>
      <vt:lpstr>Au cours précédent…</vt:lpstr>
      <vt:lpstr>Présentation PowerPoint</vt:lpstr>
      <vt:lpstr>Récupérer la date courante… </vt:lpstr>
      <vt:lpstr>Utilisation de LocalDate</vt:lpstr>
      <vt:lpstr>Quelques exemples avec LocalDate</vt:lpstr>
      <vt:lpstr>Exercice 5</vt:lpstr>
      <vt:lpstr>Quelques exemples avec LocalTime</vt:lpstr>
      <vt:lpstr>Quelques exemples avec LocalDateTime</vt:lpstr>
      <vt:lpstr>D’autres choses à faire avec le temps</vt:lpstr>
      <vt:lpstr>Au cours précédent…</vt:lpstr>
      <vt:lpstr>Présentation PowerPoint</vt:lpstr>
      <vt:lpstr>Structurer votre code</vt:lpstr>
      <vt:lpstr>La notion de package</vt:lpstr>
      <vt:lpstr>Comment structurer les packages java</vt:lpstr>
      <vt:lpstr>Accesseurs et visibilité</vt:lpstr>
      <vt:lpstr>Exercice 6</vt:lpstr>
      <vt:lpstr>Accesseurs et visibilité</vt:lpstr>
      <vt:lpstr>Accesseurs et visibilité</vt:lpstr>
      <vt:lpstr>Structurer les fichiers dans votre projet</vt:lpstr>
      <vt:lpstr>Structure de projet « à la sauvage »</vt:lpstr>
      <vt:lpstr>Les structures reconnues</vt:lpstr>
      <vt:lpstr>Comparaison entre IntelliJ et Maven</vt:lpstr>
      <vt:lpstr>Au cours précédent…</vt:lpstr>
      <vt:lpstr>Présentation PowerPoint</vt:lpstr>
      <vt:lpstr>Une seule classe public par fichier</vt:lpstr>
      <vt:lpstr>Nom fichier source = Nom classe publique</vt:lpstr>
      <vt:lpstr>Faciliter le travail du Compilateur</vt:lpstr>
      <vt:lpstr>Présentation PowerPoint</vt:lpstr>
      <vt:lpstr>Exercice 1</vt:lpstr>
      <vt:lpstr>Exercice 2</vt:lpstr>
      <vt:lpstr>Exercice 3</vt:lpstr>
      <vt:lpstr>Exercice 4</vt:lpstr>
      <vt:lpstr>Présentation PowerPoint</vt:lpstr>
      <vt:lpstr>Les tableaux en Java</vt:lpstr>
      <vt:lpstr>Exercice 5</vt:lpstr>
      <vt:lpstr>La boucle for et foreach</vt:lpstr>
      <vt:lpstr>Exercice 6</vt:lpstr>
      <vt:lpstr>L’opérateur ternaire: ? :</vt:lpstr>
      <vt:lpstr>Exercice 7</vt:lpstr>
      <vt:lpstr>Exercice 8</vt:lpstr>
      <vt:lpstr>Afficher à l’écran</vt:lpstr>
      <vt:lpstr>Présentation PowerPoint</vt:lpstr>
      <vt:lpstr>Il y a d’autres types que les classes…</vt:lpstr>
      <vt:lpstr>Les énumérations</vt:lpstr>
      <vt:lpstr>Exercice 9</vt:lpstr>
      <vt:lpstr>Exercice 10</vt:lpstr>
      <vt:lpstr>L’enum est une classe</vt:lpstr>
      <vt:lpstr>Exercice 11</vt:lpstr>
      <vt:lpstr>enum et instruction switch</vt:lpstr>
      <vt:lpstr>Les enregistrements: record</vt:lpstr>
      <vt:lpstr>Déclaration d’un record</vt:lpstr>
      <vt:lpstr>Déclaration d’un record</vt:lpstr>
      <vt:lpstr>Quelques remarques…</vt:lpstr>
      <vt:lpstr>Exercice 12</vt:lpstr>
      <vt:lpstr>Exercice G.4</vt:lpstr>
      <vt:lpstr>Exercice G.5</vt:lpstr>
      <vt:lpstr>Exercice G.6</vt:lpstr>
      <vt:lpstr>Exercice G.7</vt:lpstr>
      <vt:lpstr>Exercice G.8</vt:lpstr>
      <vt:lpstr>Exercice G.9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subject/>
  <dc:creator>FERRANT Frédéric</dc:creator>
  <cp:keywords/>
  <dc:description/>
  <cp:lastModifiedBy>FERRANT Frédéric</cp:lastModifiedBy>
  <cp:revision>40</cp:revision>
  <dcterms:created xsi:type="dcterms:W3CDTF">2023-01-04T13:50:20Z</dcterms:created>
  <dcterms:modified xsi:type="dcterms:W3CDTF">2026-01-27T22:57:30Z</dcterms:modified>
  <cp:category/>
</cp:coreProperties>
</file>