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846" r:id="rId3"/>
    <p:sldId id="847" r:id="rId4"/>
    <p:sldId id="848" r:id="rId5"/>
    <p:sldId id="849" r:id="rId6"/>
    <p:sldId id="850" r:id="rId7"/>
    <p:sldId id="695" r:id="rId8"/>
    <p:sldId id="857" r:id="rId9"/>
    <p:sldId id="748" r:id="rId10"/>
    <p:sldId id="734" r:id="rId11"/>
    <p:sldId id="854" r:id="rId12"/>
    <p:sldId id="855" r:id="rId13"/>
    <p:sldId id="736" r:id="rId14"/>
    <p:sldId id="856" r:id="rId15"/>
    <p:sldId id="735" r:id="rId16"/>
    <p:sldId id="737" r:id="rId17"/>
    <p:sldId id="738" r:id="rId18"/>
    <p:sldId id="841" r:id="rId19"/>
    <p:sldId id="749" r:id="rId20"/>
    <p:sldId id="74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ppels et Exercice" id="{9A02D4CA-36D1-0242-9570-74B9915D5B21}">
          <p14:sldIdLst>
            <p14:sldId id="256"/>
          </p14:sldIdLst>
        </p14:section>
        <p14:section name="Collections" id="{01457E24-874F-3943-8F41-B58A48800F47}">
          <p14:sldIdLst>
            <p14:sldId id="846"/>
            <p14:sldId id="847"/>
            <p14:sldId id="848"/>
            <p14:sldId id="849"/>
            <p14:sldId id="850"/>
            <p14:sldId id="695"/>
            <p14:sldId id="857"/>
            <p14:sldId id="748"/>
            <p14:sldId id="734"/>
            <p14:sldId id="854"/>
            <p14:sldId id="855"/>
            <p14:sldId id="736"/>
            <p14:sldId id="856"/>
            <p14:sldId id="735"/>
            <p14:sldId id="737"/>
            <p14:sldId id="738"/>
            <p14:sldId id="841"/>
            <p14:sldId id="749"/>
            <p14:sldId id="74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B2B"/>
    <a:srgbClr val="256197"/>
    <a:srgbClr val="275B5F"/>
    <a:srgbClr val="005285"/>
    <a:srgbClr val="033663"/>
    <a:srgbClr val="ECECEC"/>
    <a:srgbClr val="9DC3E7"/>
    <a:srgbClr val="FFFFFF"/>
    <a:srgbClr val="4F994C"/>
    <a:srgbClr val="FFC4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Style à thème 2 - Accentuation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6"/>
    <p:restoredTop sz="96327"/>
  </p:normalViewPr>
  <p:slideViewPr>
    <p:cSldViewPr snapToGrid="0">
      <p:cViewPr varScale="1">
        <p:scale>
          <a:sx n="123" d="100"/>
          <a:sy n="123" d="100"/>
        </p:scale>
        <p:origin x="120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63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831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197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20B9A-8E1B-A28D-369E-A913BEAD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E227AB-B70D-70BB-9801-A0EA229241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67F4E92-0724-F9C9-225A-B6285777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pPr marL="342900" indent="-342900">
              <a:lnSpc>
                <a:spcPct val="80000"/>
              </a:lnSpc>
              <a:buFont typeface="Arial"/>
              <a:buChar char="•"/>
            </a:pP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6EE52B9-0CE3-2213-2BAE-0A463279C498}"/>
              </a:ext>
            </a:extLst>
          </p:cNvPr>
          <p:cNvGrpSpPr/>
          <p:nvPr userDrawn="1"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6" name="Larme 5">
              <a:extLst>
                <a:ext uri="{FF2B5EF4-FFF2-40B4-BE49-F238E27FC236}">
                  <a16:creationId xmlns:a16="http://schemas.microsoft.com/office/drawing/2014/main" id="{A1F4EE74-F2B7-86D4-5897-9A852EB6119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A1BBBAA-A8A5-D081-BE93-F67540128C77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767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536391E-BA76-6C84-5CCD-7B7E926FCA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929AD13-331A-B3B1-58CE-4F411144D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fr-FR" dirty="0"/>
              <a:t>Exercice</a:t>
            </a:r>
          </a:p>
        </p:txBody>
      </p:sp>
      <p:pic>
        <p:nvPicPr>
          <p:cNvPr id="5" name="Picture 6" descr="AI &amp; Big Data | IAV">
            <a:extLst>
              <a:ext uri="{FF2B5EF4-FFF2-40B4-BE49-F238E27FC236}">
                <a16:creationId xmlns:a16="http://schemas.microsoft.com/office/drawing/2014/main" id="{1A31DBF3-3F61-3732-6514-14BEB8F2F33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94498" y="193110"/>
            <a:ext cx="1427367" cy="131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96CC4C8-FFED-68B8-6355-4E53BC5E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pPr marL="342900" indent="-342900">
              <a:lnSpc>
                <a:spcPct val="80000"/>
              </a:lnSpc>
              <a:buFont typeface="Arial"/>
              <a:buChar char="•"/>
            </a:pPr>
            <a:endParaRPr lang="fr-FR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9847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nl-BE" dirty="0"/>
              <a:t>Cliquez pour modifier les styles du texte du masque</a:t>
            </a:r>
          </a:p>
          <a:p>
            <a:pPr lvl="1"/>
            <a:r>
              <a:rPr lang="nl-BE" dirty="0"/>
              <a:t>Deuxième niveau</a:t>
            </a:r>
          </a:p>
          <a:p>
            <a:pPr lvl="2"/>
            <a:r>
              <a:rPr lang="nl-BE" dirty="0"/>
              <a:t>Troisième niveau</a:t>
            </a:r>
          </a:p>
          <a:p>
            <a:pPr lvl="3"/>
            <a:r>
              <a:rPr lang="nl-BE" dirty="0"/>
              <a:t>Quatrième niveau</a:t>
            </a:r>
          </a:p>
          <a:p>
            <a:pPr lvl="4"/>
            <a:r>
              <a:rPr lang="nl-BE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5DC0-9EAD-DA46-BDA8-BD693362A3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363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4883253" cy="4373563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5DC0-9EAD-DA46-BDA8-BD693362A35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>
          <a:xfrm>
            <a:off x="5712885" y="1752601"/>
            <a:ext cx="5397500" cy="43735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825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2025-2026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73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4" r:id="rId14"/>
    <p:sldLayoutId id="2147483675" r:id="rId1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H9mWpYMtY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fx/2/binding/jfxpub-binding.ht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fx/2/binding/jfxpub-binding.ht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JAVA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POO – Module 2</a:t>
            </a:r>
          </a:p>
          <a:p>
            <a:r>
              <a:rPr lang="fr-FR" dirty="0"/>
              <a:t>Semaine 11 – </a:t>
            </a:r>
            <a:r>
              <a:rPr lang="fr-FR" dirty="0" err="1"/>
              <a:t>Properties</a:t>
            </a:r>
            <a:r>
              <a:rPr lang="fr-FR" dirty="0"/>
              <a:t> et Bindings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pic>
        <p:nvPicPr>
          <p:cNvPr id="4" name="Picture 6" descr="AI &amp; Big Data | IAV">
            <a:extLst>
              <a:ext uri="{FF2B5EF4-FFF2-40B4-BE49-F238E27FC236}">
                <a16:creationId xmlns:a16="http://schemas.microsoft.com/office/drawing/2014/main" id="{ABCF0774-D7EC-2D44-A779-3AAEFAF57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581" r="19581"/>
          <a:stretch/>
        </p:blipFill>
        <p:spPr bwMode="auto">
          <a:xfrm>
            <a:off x="3407229" y="942975"/>
            <a:ext cx="5377542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72FC9D-D3BD-8151-C388-778FB3BBC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33698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BE24-6477-C231-7DDE-9516E570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E9C69-4B84-62CF-6745-CEDD2E6C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14" y="1825625"/>
            <a:ext cx="59992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Créez une application composée d’un champ texte et d’un bouton.</a:t>
            </a:r>
          </a:p>
          <a:p>
            <a:pPr marL="0" indent="0">
              <a:buNone/>
            </a:pPr>
            <a:r>
              <a:rPr lang="fr-FR" dirty="0"/>
              <a:t>Cette application vous permettra de compter le nombre de participants à un événement.</a:t>
            </a:r>
          </a:p>
          <a:p>
            <a:pPr marL="0" indent="0">
              <a:buNone/>
            </a:pPr>
            <a:r>
              <a:rPr lang="fr-FR" dirty="0"/>
              <a:t>A chaque participant, vous enfoncerez le bouton ‘+1’ et la valeur dans le champ texte sera incrémentée.</a:t>
            </a:r>
          </a:p>
          <a:p>
            <a:pPr marL="0" indent="0">
              <a:buNone/>
            </a:pPr>
            <a:r>
              <a:rPr lang="fr-FR" dirty="0"/>
              <a:t>La valeur initiale du champ texte est ‘0’.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477576E-92E9-3DBC-DC50-9D89C7E6BDF4}"/>
              </a:ext>
            </a:extLst>
          </p:cNvPr>
          <p:cNvSpPr/>
          <p:nvPr/>
        </p:nvSpPr>
        <p:spPr>
          <a:xfrm>
            <a:off x="1107831" y="2039815"/>
            <a:ext cx="3851031" cy="4042800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97D783-8592-B9CA-2EF2-414B9D967447}"/>
              </a:ext>
            </a:extLst>
          </p:cNvPr>
          <p:cNvSpPr/>
          <p:nvPr/>
        </p:nvSpPr>
        <p:spPr>
          <a:xfrm>
            <a:off x="1943100" y="4695092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29EF5D-7855-9C43-AED7-ACA775C93AE1}"/>
              </a:ext>
            </a:extLst>
          </p:cNvPr>
          <p:cNvSpPr/>
          <p:nvPr/>
        </p:nvSpPr>
        <p:spPr>
          <a:xfrm>
            <a:off x="1943100" y="2945423"/>
            <a:ext cx="2180492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6447F6-8CD4-C70B-D339-3D7E8C1A2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</a:t>
            </a:fld>
            <a:endParaRPr lang="fr-FR"/>
          </a:p>
        </p:txBody>
      </p:sp>
      <p:pic>
        <p:nvPicPr>
          <p:cNvPr id="8" name="Picture 2" descr="blog-nutrition-outlet">
            <a:extLst>
              <a:ext uri="{FF2B5EF4-FFF2-40B4-BE49-F238E27FC236}">
                <a16:creationId xmlns:a16="http://schemas.microsoft.com/office/drawing/2014/main" id="{3F006681-4775-A861-64D2-BDEE3BC43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07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BE24-6477-C231-7DDE-9516E570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E9C69-4B84-62CF-6745-CEDD2E6C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14" y="1825625"/>
            <a:ext cx="59992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Vous reprenez l’application précédente, en lui ajoutant un bouton ‘Reset’ qui remet à zéro le compteur.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477576E-92E9-3DBC-DC50-9D89C7E6BDF4}"/>
              </a:ext>
            </a:extLst>
          </p:cNvPr>
          <p:cNvSpPr/>
          <p:nvPr/>
        </p:nvSpPr>
        <p:spPr>
          <a:xfrm>
            <a:off x="1107831" y="2039815"/>
            <a:ext cx="3851031" cy="4042800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97D783-8592-B9CA-2EF2-414B9D967447}"/>
              </a:ext>
            </a:extLst>
          </p:cNvPr>
          <p:cNvSpPr/>
          <p:nvPr/>
        </p:nvSpPr>
        <p:spPr>
          <a:xfrm>
            <a:off x="1943100" y="4695092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29EF5D-7855-9C43-AED7-ACA775C93AE1}"/>
              </a:ext>
            </a:extLst>
          </p:cNvPr>
          <p:cNvSpPr/>
          <p:nvPr/>
        </p:nvSpPr>
        <p:spPr>
          <a:xfrm>
            <a:off x="1943100" y="2945423"/>
            <a:ext cx="2180492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EB7172C-5BB5-F914-9696-83BF574A6FD0}"/>
              </a:ext>
            </a:extLst>
          </p:cNvPr>
          <p:cNvSpPr/>
          <p:nvPr/>
        </p:nvSpPr>
        <p:spPr>
          <a:xfrm>
            <a:off x="1943100" y="5354515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4D92EA7-90C8-3D6D-1A86-00BEDBBF1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  <p:pic>
        <p:nvPicPr>
          <p:cNvPr id="9" name="Picture 2" descr="blog-nutrition-outlet">
            <a:extLst>
              <a:ext uri="{FF2B5EF4-FFF2-40B4-BE49-F238E27FC236}">
                <a16:creationId xmlns:a16="http://schemas.microsoft.com/office/drawing/2014/main" id="{9650059D-84F6-3977-C72C-D64F5CA6F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769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BE24-6477-C231-7DDE-9516E570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E9C69-4B84-62CF-6745-CEDD2E6C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14" y="1825625"/>
            <a:ext cx="59992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Votre application fonctionnant bien, on vous a maintenant demandé de compter séparément les hommes et les femmes.</a:t>
            </a:r>
          </a:p>
          <a:p>
            <a:pPr marL="0" indent="0">
              <a:buNone/>
            </a:pPr>
            <a:r>
              <a:rPr lang="fr-FR" dirty="0"/>
              <a:t>Vous allez donc ajouter un deuxième bouton et un deuxième champ texte.</a:t>
            </a:r>
          </a:p>
          <a:p>
            <a:pPr marL="0" indent="0">
              <a:buNone/>
            </a:pPr>
            <a:r>
              <a:rPr lang="fr-FR" dirty="0"/>
              <a:t>Vous pouvez également ajouter un label au dessus des compteurs.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477576E-92E9-3DBC-DC50-9D89C7E6BDF4}"/>
              </a:ext>
            </a:extLst>
          </p:cNvPr>
          <p:cNvSpPr/>
          <p:nvPr/>
        </p:nvSpPr>
        <p:spPr>
          <a:xfrm>
            <a:off x="1107831" y="2039815"/>
            <a:ext cx="3851031" cy="4042800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EB7172C-5BB5-F914-9696-83BF574A6FD0}"/>
              </a:ext>
            </a:extLst>
          </p:cNvPr>
          <p:cNvSpPr/>
          <p:nvPr/>
        </p:nvSpPr>
        <p:spPr>
          <a:xfrm>
            <a:off x="1943100" y="5354515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97D783-8592-B9CA-2EF2-414B9D967447}"/>
              </a:ext>
            </a:extLst>
          </p:cNvPr>
          <p:cNvSpPr/>
          <p:nvPr/>
        </p:nvSpPr>
        <p:spPr>
          <a:xfrm>
            <a:off x="1591408" y="4695092"/>
            <a:ext cx="1274885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29EF5D-7855-9C43-AED7-ACA775C93AE1}"/>
              </a:ext>
            </a:extLst>
          </p:cNvPr>
          <p:cNvSpPr/>
          <p:nvPr/>
        </p:nvSpPr>
        <p:spPr>
          <a:xfrm>
            <a:off x="1591408" y="3213588"/>
            <a:ext cx="1274885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E375409-6CA3-E4E7-E18C-5728A5ED7B5A}"/>
              </a:ext>
            </a:extLst>
          </p:cNvPr>
          <p:cNvSpPr/>
          <p:nvPr/>
        </p:nvSpPr>
        <p:spPr>
          <a:xfrm>
            <a:off x="3200400" y="4695092"/>
            <a:ext cx="1274885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71C259A-2475-5A05-EC7B-2D3CFA80D57A}"/>
              </a:ext>
            </a:extLst>
          </p:cNvPr>
          <p:cNvSpPr/>
          <p:nvPr/>
        </p:nvSpPr>
        <p:spPr>
          <a:xfrm>
            <a:off x="3200400" y="3213588"/>
            <a:ext cx="1274885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35CEA1B-9F30-F7FF-D609-CDC8671B78FA}"/>
              </a:ext>
            </a:extLst>
          </p:cNvPr>
          <p:cNvSpPr/>
          <p:nvPr/>
        </p:nvSpPr>
        <p:spPr>
          <a:xfrm>
            <a:off x="1591408" y="2554165"/>
            <a:ext cx="1274885" cy="483577"/>
          </a:xfrm>
          <a:prstGeom prst="roundRect">
            <a:avLst>
              <a:gd name="adj" fmla="val 159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hommes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A7EB9A8-508D-A803-C24D-D8470D9C2B7E}"/>
              </a:ext>
            </a:extLst>
          </p:cNvPr>
          <p:cNvSpPr/>
          <p:nvPr/>
        </p:nvSpPr>
        <p:spPr>
          <a:xfrm>
            <a:off x="3200400" y="2554165"/>
            <a:ext cx="1274885" cy="483577"/>
          </a:xfrm>
          <a:prstGeom prst="roundRect">
            <a:avLst>
              <a:gd name="adj" fmla="val 159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femmes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4FB777E-02B2-01B8-EDCF-9D24AE122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  <p:pic>
        <p:nvPicPr>
          <p:cNvPr id="13" name="Picture 2" descr="blog-nutrition-outlet">
            <a:extLst>
              <a:ext uri="{FF2B5EF4-FFF2-40B4-BE49-F238E27FC236}">
                <a16:creationId xmlns:a16="http://schemas.microsoft.com/office/drawing/2014/main" id="{C2C3115E-F753-47B9-6168-F67D5DFE6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370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BE24-6477-C231-7DDE-9516E570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50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E9C69-4B84-62CF-6745-CEDD2E6C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14" y="1825625"/>
            <a:ext cx="5999285" cy="4667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Vous vous rendez compte que le fait de cliquer sur les boutons n’est pas très pratique…</a:t>
            </a:r>
          </a:p>
          <a:p>
            <a:pPr marL="0" indent="0">
              <a:buNone/>
            </a:pPr>
            <a:r>
              <a:rPr lang="fr-FR" dirty="0"/>
              <a:t>Vous allez maintenant faire en sorte que les compteurs s’incrémentent quand vous enfoncez la touche 1 (premier compteur) ou 2 (deuxième compteur).</a:t>
            </a:r>
          </a:p>
          <a:p>
            <a:pPr marL="0" indent="0">
              <a:buNone/>
            </a:pPr>
            <a:r>
              <a:rPr lang="fr-FR" dirty="0"/>
              <a:t>Ajoutez aussi ce qu’il faut pour qu’une pression sur ‘0’ remette à zéro les deux compteurs.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477576E-92E9-3DBC-DC50-9D89C7E6BDF4}"/>
              </a:ext>
            </a:extLst>
          </p:cNvPr>
          <p:cNvSpPr/>
          <p:nvPr/>
        </p:nvSpPr>
        <p:spPr>
          <a:xfrm>
            <a:off x="1107831" y="2039815"/>
            <a:ext cx="3851031" cy="4042800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EB7172C-5BB5-F914-9696-83BF574A6FD0}"/>
              </a:ext>
            </a:extLst>
          </p:cNvPr>
          <p:cNvSpPr/>
          <p:nvPr/>
        </p:nvSpPr>
        <p:spPr>
          <a:xfrm>
            <a:off x="1943100" y="5354515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97D783-8592-B9CA-2EF2-414B9D967447}"/>
              </a:ext>
            </a:extLst>
          </p:cNvPr>
          <p:cNvSpPr/>
          <p:nvPr/>
        </p:nvSpPr>
        <p:spPr>
          <a:xfrm>
            <a:off x="1591408" y="4695092"/>
            <a:ext cx="1274885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29EF5D-7855-9C43-AED7-ACA775C93AE1}"/>
              </a:ext>
            </a:extLst>
          </p:cNvPr>
          <p:cNvSpPr/>
          <p:nvPr/>
        </p:nvSpPr>
        <p:spPr>
          <a:xfrm>
            <a:off x="1591408" y="3213588"/>
            <a:ext cx="1274885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E375409-6CA3-E4E7-E18C-5728A5ED7B5A}"/>
              </a:ext>
            </a:extLst>
          </p:cNvPr>
          <p:cNvSpPr/>
          <p:nvPr/>
        </p:nvSpPr>
        <p:spPr>
          <a:xfrm>
            <a:off x="3200400" y="4695092"/>
            <a:ext cx="1274885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71C259A-2475-5A05-EC7B-2D3CFA80D57A}"/>
              </a:ext>
            </a:extLst>
          </p:cNvPr>
          <p:cNvSpPr/>
          <p:nvPr/>
        </p:nvSpPr>
        <p:spPr>
          <a:xfrm>
            <a:off x="3200400" y="3213588"/>
            <a:ext cx="1274885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35CEA1B-9F30-F7FF-D609-CDC8671B78FA}"/>
              </a:ext>
            </a:extLst>
          </p:cNvPr>
          <p:cNvSpPr/>
          <p:nvPr/>
        </p:nvSpPr>
        <p:spPr>
          <a:xfrm>
            <a:off x="1591408" y="2554165"/>
            <a:ext cx="1274885" cy="483577"/>
          </a:xfrm>
          <a:prstGeom prst="roundRect">
            <a:avLst>
              <a:gd name="adj" fmla="val 159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hommes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A7EB9A8-508D-A803-C24D-D8470D9C2B7E}"/>
              </a:ext>
            </a:extLst>
          </p:cNvPr>
          <p:cNvSpPr/>
          <p:nvPr/>
        </p:nvSpPr>
        <p:spPr>
          <a:xfrm>
            <a:off x="3200400" y="2554165"/>
            <a:ext cx="1274885" cy="483577"/>
          </a:xfrm>
          <a:prstGeom prst="roundRect">
            <a:avLst>
              <a:gd name="adj" fmla="val 159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femmes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6C39612-4596-9515-4443-FD7847CCE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  <p:pic>
        <p:nvPicPr>
          <p:cNvPr id="13" name="Picture 2" descr="blog-nutrition-outlet">
            <a:extLst>
              <a:ext uri="{FF2B5EF4-FFF2-40B4-BE49-F238E27FC236}">
                <a16:creationId xmlns:a16="http://schemas.microsoft.com/office/drawing/2014/main" id="{5A197844-2998-4DA6-CA1B-E6EC93380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81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1A359-665C-7EF3-F766-44D051AE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peu plus loin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989C80-45D8-CEAF-65AF-7BB8EDE3D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BE" dirty="0"/>
              <a:t>Exemple d’application ‘réelle’ utilisant JavaFX.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Vidéo en anglais de 1h38: </a:t>
            </a:r>
          </a:p>
          <a:p>
            <a:pPr marL="457200" lvl="1" indent="0">
              <a:buNone/>
            </a:pPr>
            <a:r>
              <a:rPr lang="nl-BE" dirty="0"/>
              <a:t>“</a:t>
            </a:r>
            <a:r>
              <a:rPr lang="fr-BE" b="1" dirty="0" err="1"/>
              <a:t>Build</a:t>
            </a:r>
            <a:r>
              <a:rPr lang="fr-BE" b="1" dirty="0"/>
              <a:t> a Java Desktop Application - Full Course (Sudoku)</a:t>
            </a:r>
            <a:r>
              <a:rPr lang="nl-BE" dirty="0"/>
              <a:t>”</a:t>
            </a:r>
          </a:p>
          <a:p>
            <a:pPr marL="457200" lvl="1" indent="0">
              <a:buNone/>
            </a:pPr>
            <a:r>
              <a:rPr lang="fr-FR" dirty="0">
                <a:hlinkClick r:id="rId2"/>
              </a:rPr>
              <a:t>https://www.youtube.com/watch?v=qH9mWpYMtYU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Il y en a d’autres:</a:t>
            </a:r>
          </a:p>
          <a:p>
            <a:pPr marL="457200" lvl="1" indent="0">
              <a:buNone/>
            </a:pPr>
            <a:r>
              <a:rPr lang="fr-BE" sz="2200" dirty="0" err="1"/>
              <a:t>JavaFX</a:t>
            </a:r>
            <a:r>
              <a:rPr lang="fr-BE" sz="2200" dirty="0"/>
              <a:t> Full Tutorial - </a:t>
            </a:r>
            <a:r>
              <a:rPr lang="fr-BE" sz="2200" dirty="0" err="1"/>
              <a:t>Employee</a:t>
            </a:r>
            <a:r>
              <a:rPr lang="fr-BE" sz="2200" dirty="0"/>
              <a:t> Management System </a:t>
            </a:r>
            <a:r>
              <a:rPr lang="fr-BE" sz="2200" dirty="0" err="1"/>
              <a:t>with</a:t>
            </a:r>
            <a:r>
              <a:rPr lang="fr-BE" sz="2200" dirty="0"/>
              <a:t> SOURCE CODE</a:t>
            </a:r>
          </a:p>
          <a:p>
            <a:pPr marL="457200" lvl="1" indent="0">
              <a:buNone/>
            </a:pPr>
            <a:r>
              <a:rPr lang="fr-BE" sz="2200" dirty="0"/>
              <a:t>How to </a:t>
            </a:r>
            <a:r>
              <a:rPr lang="fr-BE" sz="2200" dirty="0" err="1"/>
              <a:t>make</a:t>
            </a:r>
            <a:r>
              <a:rPr lang="fr-BE" sz="2200" dirty="0"/>
              <a:t> Tic Tac </a:t>
            </a:r>
            <a:r>
              <a:rPr lang="fr-BE" sz="2200" dirty="0" err="1"/>
              <a:t>Toe</a:t>
            </a:r>
            <a:r>
              <a:rPr lang="fr-BE" sz="2200" dirty="0"/>
              <a:t> </a:t>
            </a:r>
            <a:r>
              <a:rPr lang="fr-BE" sz="2200" dirty="0" err="1"/>
              <a:t>game</a:t>
            </a:r>
            <a:r>
              <a:rPr lang="fr-BE" sz="2200" dirty="0"/>
              <a:t> </a:t>
            </a:r>
            <a:r>
              <a:rPr lang="fr-BE" sz="2200" dirty="0" err="1"/>
              <a:t>using</a:t>
            </a:r>
            <a:r>
              <a:rPr lang="fr-BE" sz="2200" dirty="0"/>
              <a:t> </a:t>
            </a:r>
            <a:r>
              <a:rPr lang="fr-BE" sz="2200" dirty="0" err="1"/>
              <a:t>JavaFX</a:t>
            </a:r>
            <a:r>
              <a:rPr lang="fr-BE" sz="2200" dirty="0"/>
              <a:t> | Java Game </a:t>
            </a:r>
            <a:r>
              <a:rPr lang="fr-BE" sz="2200" dirty="0" err="1"/>
              <a:t>Development</a:t>
            </a:r>
            <a:endParaRPr lang="fr-BE" sz="2200" dirty="0"/>
          </a:p>
          <a:p>
            <a:pPr marL="457200" lvl="1" indent="0">
              <a:buNone/>
            </a:pPr>
            <a:r>
              <a:rPr lang="fr-BE" sz="2200" dirty="0" err="1"/>
              <a:t>JavaFX</a:t>
            </a:r>
            <a:r>
              <a:rPr lang="fr-BE" sz="2200" dirty="0"/>
              <a:t> - </a:t>
            </a:r>
            <a:r>
              <a:rPr lang="fr-BE" sz="2200" dirty="0" err="1"/>
              <a:t>Create</a:t>
            </a:r>
            <a:r>
              <a:rPr lang="fr-BE" sz="2200" dirty="0"/>
              <a:t> Banking Application </a:t>
            </a:r>
            <a:r>
              <a:rPr lang="fr-BE" sz="2200" dirty="0" err="1"/>
              <a:t>With</a:t>
            </a:r>
            <a:r>
              <a:rPr lang="fr-BE" sz="2200" dirty="0"/>
              <a:t> Data </a:t>
            </a:r>
            <a:r>
              <a:rPr lang="fr-BE" sz="2200" dirty="0" err="1"/>
              <a:t>Persistence</a:t>
            </a:r>
            <a:r>
              <a:rPr lang="fr-BE" sz="2200" dirty="0"/>
              <a:t> - 2024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DA0716-EDC5-4FF3-5579-A375068BE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424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ED960-AB09-8F24-0FDF-72C4671D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Remarque: plusieurs applications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BC5D79D-963F-67B0-7A54-2FB765202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9627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Dans un projet </a:t>
            </a:r>
            <a:r>
              <a:rPr lang="fr-FR" dirty="0" err="1"/>
              <a:t>JavaFX</a:t>
            </a:r>
            <a:r>
              <a:rPr lang="fr-FR" dirty="0"/>
              <a:t>, vous trouverez un fichier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module-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info.java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Ce fichier contient toutes les applications </a:t>
            </a:r>
            <a:r>
              <a:rPr lang="fr-FR" dirty="0" err="1"/>
              <a:t>JavaFX</a:t>
            </a:r>
            <a:r>
              <a:rPr lang="fr-FR" dirty="0"/>
              <a:t> sous forme de module.</a:t>
            </a:r>
          </a:p>
          <a:p>
            <a:pPr marL="0" indent="0">
              <a:buNone/>
            </a:pPr>
            <a:r>
              <a:rPr lang="fr-FR" dirty="0"/>
              <a:t>Pour chaque module, reprenez les 2 lignes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opens</a:t>
            </a:r>
            <a:r>
              <a:rPr lang="fr-FR" dirty="0"/>
              <a:t> et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fr-FR" dirty="0"/>
              <a:t>, et adaptez le nom du package.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E2EEC5-174A-EFE6-68E0-0A0660629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246BB1C-C826-5DD1-58B9-EC271F3837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139"/>
          <a:stretch/>
        </p:blipFill>
        <p:spPr>
          <a:xfrm>
            <a:off x="6918542" y="4566757"/>
            <a:ext cx="4483100" cy="2291243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F6E5FD8-8E33-686D-6C01-1ABF1D1F29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043458" y="1480161"/>
            <a:ext cx="2233267" cy="2951661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12675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Events, </a:t>
            </a:r>
            <a:r>
              <a:rPr lang="fr-FR" dirty="0" err="1"/>
              <a:t>EventHandlers</a:t>
            </a:r>
            <a:r>
              <a:rPr lang="fr-FR" dirty="0"/>
              <a:t> et </a:t>
            </a:r>
            <a:r>
              <a:rPr lang="fr-FR" dirty="0" err="1"/>
              <a:t>EventFilters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Stage / </a:t>
            </a:r>
            <a:r>
              <a:rPr lang="fr-FR" dirty="0" err="1"/>
              <a:t>Scene</a:t>
            </a:r>
            <a:r>
              <a:rPr lang="fr-FR" dirty="0"/>
              <a:t> / </a:t>
            </a:r>
            <a:r>
              <a:rPr lang="fr-FR" dirty="0" err="1"/>
              <a:t>Layout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Quitter une application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Layouts</a:t>
            </a:r>
            <a:r>
              <a:rPr lang="fr-FR" dirty="0"/>
              <a:t> principaux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Contrôles 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Les propriétés et les bindings (</a:t>
            </a:r>
            <a:r>
              <a:rPr lang="fr-FR" dirty="0" err="1">
                <a:solidFill>
                  <a:schemeClr val="accent4"/>
                </a:solidFill>
              </a:rPr>
              <a:t>Listener</a:t>
            </a:r>
            <a:r>
              <a:rPr lang="fr-FR" dirty="0">
                <a:solidFill>
                  <a:schemeClr val="accent4"/>
                </a:solidFill>
              </a:rPr>
              <a:t>)</a:t>
            </a:r>
            <a:endParaRPr lang="fr-FR" b="1" dirty="0">
              <a:solidFill>
                <a:schemeClr val="accent4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17D80F-3812-7F4A-768C-97B7EE6C9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845036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Lier des valeurs…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Le langage Java ne supporte pas la notion de Propriété. </a:t>
            </a:r>
          </a:p>
          <a:p>
            <a:pPr marL="0" indent="0">
              <a:buNone/>
            </a:pPr>
            <a:r>
              <a:rPr lang="fr-FR" dirty="0"/>
              <a:t>Java utilise cependant depuis longtemps le standard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JavaBean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Un JavaBean est une classe pour laquelle</a:t>
            </a:r>
          </a:p>
          <a:p>
            <a:pPr marL="342900" indent="-342900"/>
            <a:r>
              <a:rPr lang="fr-FR" dirty="0"/>
              <a:t>Toutes les propriétés sont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FR" dirty="0"/>
              <a:t> (avec des getters/setters qui portent le même nom)</a:t>
            </a:r>
          </a:p>
          <a:p>
            <a:pPr marL="342900" indent="-342900"/>
            <a:r>
              <a:rPr lang="fr-FR" dirty="0"/>
              <a:t>Il existe un constructeur sans argument</a:t>
            </a:r>
          </a:p>
          <a:p>
            <a:pPr marL="342900" indent="-342900"/>
            <a:r>
              <a:rPr lang="fr-FR" dirty="0"/>
              <a:t>Il implémente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Serializable</a:t>
            </a:r>
            <a:r>
              <a:rPr lang="fr-FR" dirty="0"/>
              <a:t> (l’objet peut être enregistré dans un fichier, une DB,…)</a:t>
            </a:r>
          </a:p>
          <a:p>
            <a:pPr marL="342900" indent="-342900"/>
            <a:endParaRPr lang="fr-FR" dirty="0"/>
          </a:p>
          <a:p>
            <a:pPr marL="0" indent="0">
              <a:buNone/>
            </a:pPr>
            <a:r>
              <a:rPr lang="fr-FR" dirty="0"/>
              <a:t>La notion de JavaBean est à la base de la notion de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Property</a:t>
            </a:r>
            <a:r>
              <a:rPr lang="fr-FR" dirty="0"/>
              <a:t> en </a:t>
            </a:r>
            <a:r>
              <a:rPr lang="fr-FR" dirty="0" err="1"/>
              <a:t>JavaFX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C2CE74-A658-58A0-EA04-88F4DCC55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466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8EFC26-3C80-02CB-2617-06F890BA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Propriétés en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E18B02-F981-12F9-2291-EB1D4BF88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BE" sz="2600" dirty="0"/>
              <a:t>En </a:t>
            </a:r>
            <a:r>
              <a:rPr lang="fr-BE" sz="2600" dirty="0" err="1"/>
              <a:t>JavaFX</a:t>
            </a:r>
            <a:r>
              <a:rPr lang="fr-BE" sz="2600" dirty="0"/>
              <a:t>, une propriété représente une valeur qui peut être surveillée pour réagir en cas de changements. </a:t>
            </a:r>
          </a:p>
          <a:p>
            <a:pPr marL="0" indent="0">
              <a:lnSpc>
                <a:spcPct val="80000"/>
              </a:lnSpc>
              <a:buNone/>
            </a:pPr>
            <a:endParaRPr lang="fr-BE" sz="2600" dirty="0"/>
          </a:p>
          <a:p>
            <a:pPr marL="0" indent="0">
              <a:lnSpc>
                <a:spcPct val="80000"/>
              </a:lnSpc>
              <a:buNone/>
            </a:pPr>
            <a:r>
              <a:rPr lang="fr-BE" sz="2600" dirty="0"/>
              <a:t>Les propriétés sont utilisées pour </a:t>
            </a:r>
          </a:p>
          <a:p>
            <a:pPr>
              <a:lnSpc>
                <a:spcPct val="80000"/>
              </a:lnSpc>
            </a:pPr>
            <a:r>
              <a:rPr lang="fr-BE" sz="2600" dirty="0"/>
              <a:t>pour lier les composants graphiques entre eux </a:t>
            </a:r>
          </a:p>
          <a:p>
            <a:pPr>
              <a:lnSpc>
                <a:spcPct val="80000"/>
              </a:lnSpc>
            </a:pPr>
            <a:r>
              <a:rPr lang="fr-BE" sz="2600" dirty="0"/>
              <a:t>pour réagir aux changements de données dans l'interface utilisateur.</a:t>
            </a:r>
          </a:p>
          <a:p>
            <a:pPr marL="0" indent="0">
              <a:lnSpc>
                <a:spcPct val="80000"/>
              </a:lnSpc>
              <a:buNone/>
            </a:pPr>
            <a:endParaRPr lang="fr-BE" sz="2600" dirty="0"/>
          </a:p>
          <a:p>
            <a:pPr marL="0" indent="0">
              <a:lnSpc>
                <a:spcPct val="80000"/>
              </a:lnSpc>
              <a:buNone/>
            </a:pPr>
            <a:r>
              <a:rPr lang="fr-BE" sz="2600" dirty="0"/>
              <a:t>Les propriétés implémentent toutes l’interface 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Observable</a:t>
            </a:r>
            <a:r>
              <a:rPr lang="fr-BE" sz="2600" dirty="0"/>
              <a:t>.</a:t>
            </a:r>
            <a:endParaRPr lang="nl-BE" sz="2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3AB4F9-A537-53EA-A85F-DF4909BCB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722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8EFC26-3C80-02CB-2617-06F890BA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Propriétés en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E18B02-F981-12F9-2291-EB1D4BF88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fr-BE" sz="2600" dirty="0" err="1"/>
              <a:t>JavaFX</a:t>
            </a:r>
            <a:r>
              <a:rPr lang="fr-BE" sz="2600" dirty="0"/>
              <a:t> fournit un certain nombre de classes de propriétés pour différents types de données, telles que </a:t>
            </a:r>
          </a:p>
          <a:p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IntegerProperty</a:t>
            </a:r>
            <a:endParaRPr lang="fr-BE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DoubleProperty</a:t>
            </a:r>
            <a:endParaRPr lang="fr-BE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StringProperty</a:t>
            </a:r>
            <a:r>
              <a:rPr lang="fr-BE" sz="2600" dirty="0"/>
              <a:t>, etc. </a:t>
            </a:r>
          </a:p>
          <a:p>
            <a:endParaRPr lang="fr-BE" sz="2600" dirty="0"/>
          </a:p>
          <a:p>
            <a:pPr marL="0" indent="0" algn="l">
              <a:buNone/>
            </a:pPr>
            <a:r>
              <a:rPr lang="fr-BE" sz="2600" dirty="0"/>
              <a:t>Ces propriétés peuvent être utilisées par des composants tels que des champs de texte, des boutons, des listes, etc.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A23EF3-B207-8C60-4626-09D307C3A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147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 d’utilisation de propriété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9BE58E-2A65-CD45-BFD3-FC19E2D5617B}"/>
              </a:ext>
            </a:extLst>
          </p:cNvPr>
          <p:cNvSpPr/>
          <p:nvPr/>
        </p:nvSpPr>
        <p:spPr>
          <a:xfrm>
            <a:off x="5479775" y="6294309"/>
            <a:ext cx="47469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/>
              <a:t>Source: </a:t>
            </a:r>
            <a:r>
              <a:rPr lang="fr-FR" sz="1200" dirty="0">
                <a:hlinkClick r:id="rId2"/>
              </a:rPr>
              <a:t>https://docs.oracle.com/javafx/2/binding/jfxpub-binding.htm</a:t>
            </a:r>
            <a:endParaRPr lang="fr-FR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C2EEBF1-A20C-2DD8-6B75-441A94717EA9}"/>
              </a:ext>
            </a:extLst>
          </p:cNvPr>
          <p:cNvSpPr txBox="1"/>
          <p:nvPr/>
        </p:nvSpPr>
        <p:spPr>
          <a:xfrm>
            <a:off x="1494182" y="1263969"/>
            <a:ext cx="9634331" cy="550920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...;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 {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600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rgbClr val="56A8F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(String[] args) {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 err="1">
                <a:solidFill>
                  <a:srgbClr val="FFFF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IntegerProperty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valeur = </a:t>
            </a: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600" dirty="0" err="1">
                <a:solidFill>
                  <a:srgbClr val="FFFF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SimpleIntegerProperty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2AACB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Ajout d'un observateur à la propriété</a:t>
            </a:r>
            <a:b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valeur.addListener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ChangeListener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&gt;() {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fr-BE" sz="1600" dirty="0">
                <a:solidFill>
                  <a:srgbClr val="B3AE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sz="1600" dirty="0" err="1">
                <a:solidFill>
                  <a:srgbClr val="B3AE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</a:t>
            </a:r>
            <a:br>
              <a:rPr lang="fr-BE" sz="1600" dirty="0">
                <a:solidFill>
                  <a:srgbClr val="B3AE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3AE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600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56A8F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changed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	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ObservableValue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&lt;? </a:t>
            </a:r>
            <a:r>
              <a:rPr lang="fr-BE" sz="1600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observable,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						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oldValue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newValue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C77D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"La valeur a changé : " 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newValue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});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valeur.addListener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((e, o, n) -&gt;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C77D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"CHANGED"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Modification de la valeur</a:t>
            </a:r>
            <a:b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valeur.set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2AACB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fr-BE" sz="1600" dirty="0">
                <a:solidFill>
                  <a:srgbClr val="BCBEC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Ceci déclenche l'exécution du code de l'observateur</a:t>
            </a:r>
            <a:b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6D6A66-0F88-B155-C9FC-F8CCC577E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313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8329C551-9EA2-DAA3-933C-712C5881D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796" y="1825625"/>
            <a:ext cx="9106408" cy="435133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F3E2EC7-124A-3056-7B00-0A179D2B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Un exemple de </a:t>
            </a:r>
            <a:r>
              <a:rPr lang="fr-FR" dirty="0" err="1"/>
              <a:t>bean</a:t>
            </a:r>
            <a:r>
              <a:rPr lang="fr-FR" dirty="0"/>
              <a:t>: 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IntegerProperty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Légende encadrée 2 4">
            <a:extLst>
              <a:ext uri="{FF2B5EF4-FFF2-40B4-BE49-F238E27FC236}">
                <a16:creationId xmlns:a16="http://schemas.microsoft.com/office/drawing/2014/main" id="{2ADB6127-1D3D-D4A5-0335-F2276346C5D7}"/>
              </a:ext>
            </a:extLst>
          </p:cNvPr>
          <p:cNvSpPr/>
          <p:nvPr/>
        </p:nvSpPr>
        <p:spPr>
          <a:xfrm>
            <a:off x="7017026" y="2188240"/>
            <a:ext cx="3806687" cy="367748"/>
          </a:xfrm>
          <a:prstGeom prst="borderCallout2">
            <a:avLst>
              <a:gd name="adj1" fmla="val 24155"/>
              <a:gd name="adj2" fmla="val -1806"/>
              <a:gd name="adj3" fmla="val 27847"/>
              <a:gd name="adj4" fmla="val -16521"/>
              <a:gd name="adj5" fmla="val 212500"/>
              <a:gd name="adj6" fmla="val -49278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addListener</a:t>
            </a:r>
            <a:r>
              <a:rPr lang="fr-FR" dirty="0"/>
              <a:t>, </a:t>
            </a:r>
            <a:r>
              <a:rPr lang="fr-FR" dirty="0" err="1"/>
              <a:t>removeListener</a:t>
            </a:r>
            <a:endParaRPr lang="fr-FR" dirty="0"/>
          </a:p>
        </p:txBody>
      </p:sp>
      <p:sp>
        <p:nvSpPr>
          <p:cNvPr id="6" name="Légende encadrée 2 5">
            <a:extLst>
              <a:ext uri="{FF2B5EF4-FFF2-40B4-BE49-F238E27FC236}">
                <a16:creationId xmlns:a16="http://schemas.microsoft.com/office/drawing/2014/main" id="{DE6A8B07-5692-07AE-1DBC-394606879EC6}"/>
              </a:ext>
            </a:extLst>
          </p:cNvPr>
          <p:cNvSpPr/>
          <p:nvPr/>
        </p:nvSpPr>
        <p:spPr>
          <a:xfrm>
            <a:off x="7146235" y="2651166"/>
            <a:ext cx="3806687" cy="367748"/>
          </a:xfrm>
          <a:prstGeom prst="borderCallout2">
            <a:avLst>
              <a:gd name="adj1" fmla="val 24155"/>
              <a:gd name="adj2" fmla="val -1806"/>
              <a:gd name="adj3" fmla="val 29363"/>
              <a:gd name="adj4" fmla="val -16521"/>
              <a:gd name="adj5" fmla="val 141149"/>
              <a:gd name="adj6" fmla="val -53873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add</a:t>
            </a:r>
            <a:r>
              <a:rPr lang="fr-FR" dirty="0"/>
              <a:t>, </a:t>
            </a:r>
            <a:r>
              <a:rPr lang="fr-FR" dirty="0" err="1"/>
              <a:t>divide</a:t>
            </a:r>
            <a:r>
              <a:rPr lang="fr-FR" dirty="0"/>
              <a:t>, </a:t>
            </a:r>
            <a:r>
              <a:rPr lang="fr-FR" dirty="0" err="1"/>
              <a:t>substract</a:t>
            </a:r>
            <a:r>
              <a:rPr lang="fr-FR" dirty="0"/>
              <a:t>, </a:t>
            </a:r>
            <a:r>
              <a:rPr lang="fr-FR" dirty="0" err="1"/>
              <a:t>multiply</a:t>
            </a:r>
            <a:endParaRPr lang="fr-FR" dirty="0"/>
          </a:p>
        </p:txBody>
      </p:sp>
      <p:sp>
        <p:nvSpPr>
          <p:cNvPr id="11" name="Légende encadrée 2 10">
            <a:extLst>
              <a:ext uri="{FF2B5EF4-FFF2-40B4-BE49-F238E27FC236}">
                <a16:creationId xmlns:a16="http://schemas.microsoft.com/office/drawing/2014/main" id="{4AD087CC-F8EC-E2A9-40A9-050F3F949698}"/>
              </a:ext>
            </a:extLst>
          </p:cNvPr>
          <p:cNvSpPr/>
          <p:nvPr/>
        </p:nvSpPr>
        <p:spPr>
          <a:xfrm>
            <a:off x="7178039" y="3098427"/>
            <a:ext cx="3806687" cy="367748"/>
          </a:xfrm>
          <a:prstGeom prst="borderCallout2">
            <a:avLst>
              <a:gd name="adj1" fmla="val 24155"/>
              <a:gd name="adj2" fmla="val -1806"/>
              <a:gd name="adj3" fmla="val 30879"/>
              <a:gd name="adj4" fmla="val -16667"/>
              <a:gd name="adj5" fmla="val 61148"/>
              <a:gd name="adj6" fmla="val -31001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Lecture seule</a:t>
            </a:r>
          </a:p>
        </p:txBody>
      </p:sp>
      <p:sp>
        <p:nvSpPr>
          <p:cNvPr id="12" name="Légende encadrée 2 11">
            <a:extLst>
              <a:ext uri="{FF2B5EF4-FFF2-40B4-BE49-F238E27FC236}">
                <a16:creationId xmlns:a16="http://schemas.microsoft.com/office/drawing/2014/main" id="{FE52DFDC-48E6-42EC-27EE-FF724DA8FDB9}"/>
              </a:ext>
            </a:extLst>
          </p:cNvPr>
          <p:cNvSpPr/>
          <p:nvPr/>
        </p:nvSpPr>
        <p:spPr>
          <a:xfrm>
            <a:off x="7209843" y="4630665"/>
            <a:ext cx="3806687" cy="367748"/>
          </a:xfrm>
          <a:prstGeom prst="borderCallout2">
            <a:avLst>
              <a:gd name="adj1" fmla="val -14764"/>
              <a:gd name="adj2" fmla="val 29317"/>
              <a:gd name="adj3" fmla="val -27499"/>
              <a:gd name="adj4" fmla="val 11531"/>
              <a:gd name="adj5" fmla="val -45178"/>
              <a:gd name="adj6" fmla="val 7328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get</a:t>
            </a:r>
            <a:r>
              <a:rPr lang="fr-FR" dirty="0"/>
              <a:t>, set, </a:t>
            </a:r>
            <a:r>
              <a:rPr lang="fr-FR" dirty="0" err="1"/>
              <a:t>setValue</a:t>
            </a:r>
            <a:endParaRPr lang="fr-FR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8E96295A-CB13-1E8A-2809-93D8AF973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81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Properties</a:t>
            </a:r>
            <a:r>
              <a:rPr lang="fr-FR" dirty="0"/>
              <a:t> et </a:t>
            </a:r>
            <a:r>
              <a:rPr lang="fr-FR" dirty="0" err="1"/>
              <a:t>ChangeListeners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 classe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IntegerProperty</a:t>
            </a:r>
            <a:r>
              <a:rPr lang="fr-FR" dirty="0"/>
              <a:t> implémente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ObservableValue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Une valeur observable peut donc s’ajouter un objet qui sera notifié dès qu’elle sera modifiée. </a:t>
            </a:r>
          </a:p>
        </p:txBody>
      </p:sp>
      <p:graphicFrame>
        <p:nvGraphicFramePr>
          <p:cNvPr id="9" name="Espace réservé du contenu 11">
            <a:extLst>
              <a:ext uri="{FF2B5EF4-FFF2-40B4-BE49-F238E27FC236}">
                <a16:creationId xmlns:a16="http://schemas.microsoft.com/office/drawing/2014/main" id="{44ED0B12-E603-3A4D-BC3D-D4A71F31D3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4345925"/>
              </p:ext>
            </p:extLst>
          </p:nvPr>
        </p:nvGraphicFramePr>
        <p:xfrm>
          <a:off x="2608691" y="2400099"/>
          <a:ext cx="6621044" cy="1154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1044">
                  <a:extLst>
                    <a:ext uri="{9D8B030D-6E8A-4147-A177-3AD203B41FA5}">
                      <a16:colId xmlns:a16="http://schemas.microsoft.com/office/drawing/2014/main" val="4216858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javafx.beans.value.Observable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</a:t>
                      </a:r>
                    </a:p>
                  </a:txBody>
                  <a:tcPr marL="87897" marR="87897"/>
                </a:tc>
                <a:extLst>
                  <a:ext uri="{0D108BD9-81ED-4DB2-BD59-A6C34878D82A}">
                    <a16:rowId xmlns:a16="http://schemas.microsoft.com/office/drawing/2014/main" val="2790606430"/>
                  </a:ext>
                </a:extLst>
              </a:tr>
              <a:tr h="61949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addListener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ChangeListener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&lt;? Super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listener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):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removeListener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ChangeListener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&lt;? Super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listener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):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7897" marR="87897"/>
                </a:tc>
                <a:extLst>
                  <a:ext uri="{0D108BD9-81ED-4DB2-BD59-A6C34878D82A}">
                    <a16:rowId xmlns:a16="http://schemas.microsoft.com/office/drawing/2014/main" val="1227547100"/>
                  </a:ext>
                </a:extLst>
              </a:tr>
            </a:tbl>
          </a:graphicData>
        </a:graphic>
      </p:graphicFrame>
      <p:graphicFrame>
        <p:nvGraphicFramePr>
          <p:cNvPr id="11" name="Espace réservé du contenu 11">
            <a:extLst>
              <a:ext uri="{FF2B5EF4-FFF2-40B4-BE49-F238E27FC236}">
                <a16:creationId xmlns:a16="http://schemas.microsoft.com/office/drawing/2014/main" id="{96AD1CF8-4917-4940-9E0E-028CC31241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5778582"/>
              </p:ext>
            </p:extLst>
          </p:nvPr>
        </p:nvGraphicFramePr>
        <p:xfrm>
          <a:off x="1421432" y="4859680"/>
          <a:ext cx="9098010" cy="788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8010">
                  <a:extLst>
                    <a:ext uri="{9D8B030D-6E8A-4147-A177-3AD203B41FA5}">
                      <a16:colId xmlns:a16="http://schemas.microsoft.com/office/drawing/2014/main" val="4216858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javafx.beans.value.ChangeListener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7897" marR="87897"/>
                </a:tc>
                <a:extLst>
                  <a:ext uri="{0D108BD9-81ED-4DB2-BD59-A6C34878D82A}">
                    <a16:rowId xmlns:a16="http://schemas.microsoft.com/office/drawing/2014/main" val="2790606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changed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ObservableValue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&lt;?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extends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observable,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oldValue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newValue</a:t>
                      </a:r>
                      <a:r>
                        <a:rPr lang="fr-FR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): </a:t>
                      </a: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7897" marR="87897"/>
                </a:tc>
                <a:extLst>
                  <a:ext uri="{0D108BD9-81ED-4DB2-BD59-A6C34878D82A}">
                    <a16:rowId xmlns:a16="http://schemas.microsoft.com/office/drawing/2014/main" val="1227547100"/>
                  </a:ext>
                </a:extLst>
              </a:tr>
            </a:tbl>
          </a:graphicData>
        </a:graphic>
      </p:graphicFrame>
      <p:grpSp>
        <p:nvGrpSpPr>
          <p:cNvPr id="14" name="Groupe 13">
            <a:extLst>
              <a:ext uri="{FF2B5EF4-FFF2-40B4-BE49-F238E27FC236}">
                <a16:creationId xmlns:a16="http://schemas.microsoft.com/office/drawing/2014/main" id="{29788B53-2C7C-7541-B367-ADF3ADBC2C1C}"/>
              </a:ext>
            </a:extLst>
          </p:cNvPr>
          <p:cNvGrpSpPr/>
          <p:nvPr/>
        </p:nvGrpSpPr>
        <p:grpSpPr>
          <a:xfrm>
            <a:off x="5794443" y="6188405"/>
            <a:ext cx="3583346" cy="504000"/>
            <a:chOff x="4843436" y="5430943"/>
            <a:chExt cx="3583346" cy="50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D74B0D-A94A-D441-BDB9-62A9FB1EBCC2}"/>
                </a:ext>
              </a:extLst>
            </p:cNvPr>
            <p:cNvSpPr/>
            <p:nvPr/>
          </p:nvSpPr>
          <p:spPr>
            <a:xfrm>
              <a:off x="5350299" y="5513666"/>
              <a:ext cx="307648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_10propertiesAndListeners.Main</a:t>
              </a:r>
              <a:endParaRPr lang="fr-FR" sz="1600" b="1" dirty="0"/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A6635021-10A8-414F-84EF-C09F515E0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4B0EA7-C7CB-5CAB-88AD-134726A90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52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Properties</a:t>
            </a:r>
            <a:r>
              <a:rPr lang="fr-FR" dirty="0"/>
              <a:t> et Bindings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</a:t>
            </a:r>
            <a:r>
              <a:rPr lang="fr-FR" dirty="0" err="1"/>
              <a:t>Properties</a:t>
            </a:r>
            <a:r>
              <a:rPr lang="fr-FR" dirty="0"/>
              <a:t> sont aussi utilisées avec la notion de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Binding</a:t>
            </a:r>
            <a:r>
              <a:rPr lang="fr-FR" dirty="0"/>
              <a:t>, qui permet de relier des variables: un changement d’une propriété provoque automatiquement la modification d’un autre objet.</a:t>
            </a:r>
          </a:p>
          <a:p>
            <a:pPr marL="0" indent="0">
              <a:buNone/>
            </a:pPr>
            <a:r>
              <a:rPr lang="fr-FR" dirty="0"/>
              <a:t>Ceci permet par exemple que la somme d’une facture soit mise à jour dès qu’une ligne est modifiée.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Pour plus de détails, référez-vous à l’article ci-dessous. Nous n’aborderons pas les détails de cette notion de binding au cours.</a:t>
            </a:r>
          </a:p>
          <a:p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9BE58E-2A65-CD45-BFD3-FC19E2D5617B}"/>
              </a:ext>
            </a:extLst>
          </p:cNvPr>
          <p:cNvSpPr/>
          <p:nvPr/>
        </p:nvSpPr>
        <p:spPr>
          <a:xfrm>
            <a:off x="5479775" y="6294309"/>
            <a:ext cx="47469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/>
              <a:t>Source: </a:t>
            </a:r>
            <a:r>
              <a:rPr lang="fr-FR" sz="1200" dirty="0">
                <a:hlinkClick r:id="rId2"/>
              </a:rPr>
              <a:t>https://docs.oracle.com/javafx/2/binding/jfxpub-binding.htm</a:t>
            </a:r>
            <a:endParaRPr lang="fr-FR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9316F8-F87D-2270-50DA-B55D1EC65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066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JavaFX</a:t>
            </a:r>
            <a:r>
              <a:rPr lang="fr-FR" dirty="0"/>
              <a:t> et les </a:t>
            </a:r>
            <a:r>
              <a:rPr lang="fr-FR" dirty="0" err="1"/>
              <a:t>Listeners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En </a:t>
            </a:r>
            <a:r>
              <a:rPr lang="fr-FR" dirty="0" err="1"/>
              <a:t>JavaFX</a:t>
            </a:r>
            <a:r>
              <a:rPr lang="fr-FR" dirty="0"/>
              <a:t>, beaucoup de contrôles présentent des propriétés.</a:t>
            </a:r>
          </a:p>
          <a:p>
            <a:pPr marL="0" indent="0">
              <a:buNone/>
            </a:pPr>
            <a:r>
              <a:rPr lang="fr-FR" dirty="0"/>
              <a:t>La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fr-FR" dirty="0"/>
              <a:t>, par exemple, présente une propriété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selectedProperty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 de type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BooleanProperty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On peut lui ajouter un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Listener</a:t>
            </a:r>
            <a:r>
              <a:rPr lang="fr-FR" dirty="0"/>
              <a:t> en appelant la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addListener</a:t>
            </a:r>
            <a:r>
              <a:rPr lang="fr-FR" dirty="0"/>
              <a:t>; cela permet d’effectuer une action quand cette valeur change.</a:t>
            </a:r>
          </a:p>
          <a:p>
            <a:pPr marL="0" indent="0">
              <a:buNone/>
            </a:pPr>
            <a:r>
              <a:rPr lang="fr-FR" dirty="0"/>
              <a:t>C’est aussi ce mécanisme qui nous a permis de lier la valeur du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Slider</a:t>
            </a:r>
            <a:r>
              <a:rPr lang="fr-FR" dirty="0"/>
              <a:t> avec celle du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ProgressBar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E15E44-8D21-19E2-0F0E-0C29110BB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8831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pic>
        <p:nvPicPr>
          <p:cNvPr id="4" name="Picture 6" descr="AI &amp; Big Data | IAV">
            <a:extLst>
              <a:ext uri="{FF2B5EF4-FFF2-40B4-BE49-F238E27FC236}">
                <a16:creationId xmlns:a16="http://schemas.microsoft.com/office/drawing/2014/main" id="{ABCF0774-D7EC-2D44-A779-3AAEFAF57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581" r="19581"/>
          <a:stretch/>
        </p:blipFill>
        <p:spPr bwMode="auto">
          <a:xfrm>
            <a:off x="3407229" y="942975"/>
            <a:ext cx="5377542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E4F2991-FE0D-247E-435B-5877B330D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2853428"/>
      </p:ext>
    </p:extLst>
  </p:cSld>
  <p:clrMapOvr>
    <a:masterClrMapping/>
  </p:clrMapOvr>
  <p:transition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51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/>
              <a:t>Cherchez dans la Javadoc de la classe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TextField</a:t>
            </a:r>
            <a:r>
              <a:rPr lang="nl-BE" dirty="0"/>
              <a:t>. A-t-elle des propriétés?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Trouvez la propriété du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TextField</a:t>
            </a:r>
            <a:r>
              <a:rPr lang="nl-BE" dirty="0"/>
              <a:t> à laquelle il faut ajouter un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Listener</a:t>
            </a:r>
            <a:r>
              <a:rPr lang="nl-BE" dirty="0"/>
              <a:t> pour afficher (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nl-BE" dirty="0"/>
              <a:t>) les valeurs successives encodées dans le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TextField</a:t>
            </a:r>
            <a:r>
              <a:rPr lang="nl-BE" dirty="0"/>
              <a:t>.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Ecrivez une application qui implémente cela.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324284-BF05-1BB8-5383-C8EC9FA91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8EB1B84E-EF1B-3DEC-79BE-E38388570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677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52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/>
              <a:t>Le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Slider</a:t>
            </a:r>
            <a:r>
              <a:rPr lang="nl-BE" dirty="0"/>
              <a:t> présente une propriété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valueProperty</a:t>
            </a:r>
            <a:r>
              <a:rPr lang="nl-BE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dirty="0"/>
              <a:t>qui est liée à la valeur du slider. </a:t>
            </a:r>
          </a:p>
          <a:p>
            <a:pPr marL="0" indent="0">
              <a:buNone/>
            </a:pPr>
            <a:r>
              <a:rPr lang="nl-BE" dirty="0"/>
              <a:t>Implémentez une application dans laquelle un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</a:t>
            </a:r>
            <a:r>
              <a:rPr lang="nl-BE" dirty="0"/>
              <a:t> se met à jour en fonction de la valeur du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Slider</a:t>
            </a:r>
            <a:r>
              <a:rPr lang="nl-BE" dirty="0"/>
              <a:t> (à l’aide d’un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ChangeListener</a:t>
            </a:r>
            <a:r>
              <a:rPr lang="nl-BE" dirty="0"/>
              <a:t>). Le Listener recevra un Number, qu’il faudra convertir en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nl-BE" dirty="0"/>
              <a:t> à l’aide de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nb.doubleValue()</a:t>
            </a:r>
            <a:r>
              <a:rPr lang="nl-BE" dirty="0"/>
              <a:t>.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fr-FR" dirty="0"/>
              <a:t>Pour rendre le double lisible dans le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</a:t>
            </a:r>
            <a:r>
              <a:rPr lang="fr-FR" dirty="0"/>
              <a:t>, utilisez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String.format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("%1$,.2f", val)</a:t>
            </a:r>
            <a:r>
              <a:rPr lang="nl-BE" dirty="0"/>
              <a:t> .</a:t>
            </a:r>
            <a:endParaRPr lang="fr-FR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CAE9F73-D843-7E60-E608-972DAB841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D62A750C-2D0D-097C-4929-CA6EA0C91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32671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125555</TotalTime>
  <Words>1189</Words>
  <Application>Microsoft Macintosh PowerPoint</Application>
  <PresentationFormat>Grand écran</PresentationFormat>
  <Paragraphs>150</Paragraphs>
  <Slides>20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Corbel</vt:lpstr>
      <vt:lpstr>ThemeEphec2022</vt:lpstr>
      <vt:lpstr>JAVA 2</vt:lpstr>
      <vt:lpstr>Exercices</vt:lpstr>
      <vt:lpstr>Exercice 47</vt:lpstr>
      <vt:lpstr>Exercice 48</vt:lpstr>
      <vt:lpstr>Exercice 49</vt:lpstr>
      <vt:lpstr>Exercice 50</vt:lpstr>
      <vt:lpstr>Un peu plus loin</vt:lpstr>
      <vt:lpstr>Remarque: plusieurs applications JavaFX</vt:lpstr>
      <vt:lpstr>JavaFX</vt:lpstr>
      <vt:lpstr>Lier des valeurs…</vt:lpstr>
      <vt:lpstr>Les Propriétés en JavaFX</vt:lpstr>
      <vt:lpstr>Les Propriétés en JavaFX</vt:lpstr>
      <vt:lpstr>Exemple d’utilisation de propriété</vt:lpstr>
      <vt:lpstr>Un exemple de bean: IntegerProperty</vt:lpstr>
      <vt:lpstr>Properties et ChangeListeners</vt:lpstr>
      <vt:lpstr>Properties et Bindings</vt:lpstr>
      <vt:lpstr>JavaFX et les Listeners</vt:lpstr>
      <vt:lpstr>Exercices</vt:lpstr>
      <vt:lpstr>Exercice 51</vt:lpstr>
      <vt:lpstr>Exercice 52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76</cp:revision>
  <dcterms:created xsi:type="dcterms:W3CDTF">2023-01-04T13:50:20Z</dcterms:created>
  <dcterms:modified xsi:type="dcterms:W3CDTF">2026-04-14T13:16:54Z</dcterms:modified>
</cp:coreProperties>
</file>