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5"/>
  </p:notesMasterIdLst>
  <p:sldIdLst>
    <p:sldId id="256" r:id="rId2"/>
    <p:sldId id="695" r:id="rId3"/>
    <p:sldId id="738" r:id="rId4"/>
    <p:sldId id="749" r:id="rId5"/>
    <p:sldId id="750" r:id="rId6"/>
    <p:sldId id="517" r:id="rId7"/>
    <p:sldId id="694" r:id="rId8"/>
    <p:sldId id="739" r:id="rId9"/>
    <p:sldId id="740" r:id="rId10"/>
    <p:sldId id="737" r:id="rId11"/>
    <p:sldId id="700" r:id="rId12"/>
    <p:sldId id="661" r:id="rId13"/>
    <p:sldId id="647" r:id="rId14"/>
    <p:sldId id="648" r:id="rId15"/>
    <p:sldId id="650" r:id="rId16"/>
    <p:sldId id="649" r:id="rId17"/>
    <p:sldId id="651" r:id="rId18"/>
    <p:sldId id="662" r:id="rId19"/>
    <p:sldId id="714" r:id="rId20"/>
    <p:sldId id="715" r:id="rId21"/>
    <p:sldId id="701" r:id="rId22"/>
    <p:sldId id="742" r:id="rId23"/>
    <p:sldId id="743" r:id="rId24"/>
    <p:sldId id="538" r:id="rId25"/>
    <p:sldId id="555" r:id="rId26"/>
    <p:sldId id="744" r:id="rId27"/>
    <p:sldId id="745" r:id="rId28"/>
    <p:sldId id="746" r:id="rId29"/>
    <p:sldId id="747" r:id="rId30"/>
    <p:sldId id="567" r:id="rId31"/>
    <p:sldId id="568" r:id="rId32"/>
    <p:sldId id="748" r:id="rId33"/>
    <p:sldId id="663" r:id="rId34"/>
    <p:sldId id="664" r:id="rId35"/>
    <p:sldId id="672" r:id="rId36"/>
    <p:sldId id="673" r:id="rId37"/>
    <p:sldId id="741" r:id="rId38"/>
    <p:sldId id="719" r:id="rId39"/>
    <p:sldId id="433" r:id="rId40"/>
    <p:sldId id="434" r:id="rId41"/>
    <p:sldId id="435" r:id="rId42"/>
    <p:sldId id="436" r:id="rId43"/>
    <p:sldId id="437" r:id="rId44"/>
    <p:sldId id="438" r:id="rId45"/>
    <p:sldId id="439" r:id="rId46"/>
    <p:sldId id="440" r:id="rId47"/>
    <p:sldId id="441" r:id="rId48"/>
    <p:sldId id="442" r:id="rId49"/>
    <p:sldId id="443" r:id="rId50"/>
    <p:sldId id="718" r:id="rId51"/>
    <p:sldId id="542" r:id="rId52"/>
    <p:sldId id="543" r:id="rId53"/>
    <p:sldId id="544" r:id="rId54"/>
    <p:sldId id="545" r:id="rId55"/>
    <p:sldId id="723" r:id="rId56"/>
    <p:sldId id="724" r:id="rId57"/>
    <p:sldId id="725" r:id="rId58"/>
    <p:sldId id="726" r:id="rId59"/>
    <p:sldId id="727" r:id="rId60"/>
    <p:sldId id="728" r:id="rId61"/>
    <p:sldId id="729" r:id="rId62"/>
    <p:sldId id="730" r:id="rId63"/>
    <p:sldId id="534"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9A02D4CA-36D1-0242-9570-74B9915D5B21}">
          <p14:sldIdLst>
            <p14:sldId id="256"/>
          </p14:sldIdLst>
        </p14:section>
        <p14:section name="Rappels" id="{34B0FE40-7DB0-A54C-9B77-F28A6EBC1807}">
          <p14:sldIdLst>
            <p14:sldId id="695"/>
          </p14:sldIdLst>
        </p14:section>
        <p14:section name="Exercices" id="{17F16D93-E78A-A44F-9E0C-E7C4560ECEB3}">
          <p14:sldIdLst>
            <p14:sldId id="738"/>
            <p14:sldId id="749"/>
            <p14:sldId id="750"/>
            <p14:sldId id="517"/>
            <p14:sldId id="694"/>
            <p14:sldId id="739"/>
            <p14:sldId id="740"/>
            <p14:sldId id="737"/>
          </p14:sldIdLst>
        </p14:section>
        <p14:section name="Interfaces" id="{E1DCA78F-92A2-4540-A9C5-C7AAC08261DC}">
          <p14:sldIdLst>
            <p14:sldId id="700"/>
            <p14:sldId id="661"/>
            <p14:sldId id="647"/>
            <p14:sldId id="648"/>
            <p14:sldId id="650"/>
            <p14:sldId id="649"/>
            <p14:sldId id="651"/>
            <p14:sldId id="662"/>
            <p14:sldId id="714"/>
            <p14:sldId id="715"/>
          </p14:sldIdLst>
        </p14:section>
        <p14:section name="Jeu de Nim" id="{33A004D7-BE0D-8D46-9D37-D5F37B2CE0D5}">
          <p14:sldIdLst>
            <p14:sldId id="701"/>
            <p14:sldId id="742"/>
            <p14:sldId id="743"/>
            <p14:sldId id="538"/>
            <p14:sldId id="555"/>
            <p14:sldId id="744"/>
            <p14:sldId id="745"/>
            <p14:sldId id="746"/>
            <p14:sldId id="747"/>
            <p14:sldId id="567"/>
            <p14:sldId id="568"/>
            <p14:sldId id="748"/>
            <p14:sldId id="663"/>
            <p14:sldId id="664"/>
            <p14:sldId id="672"/>
            <p14:sldId id="673"/>
            <p14:sldId id="741"/>
          </p14:sldIdLst>
        </p14:section>
        <p14:section name="static" id="{78D518ED-F84C-9744-BD91-D55903219BD0}">
          <p14:sldIdLst>
            <p14:sldId id="719"/>
            <p14:sldId id="433"/>
            <p14:sldId id="434"/>
            <p14:sldId id="435"/>
            <p14:sldId id="436"/>
            <p14:sldId id="437"/>
            <p14:sldId id="438"/>
            <p14:sldId id="439"/>
            <p14:sldId id="440"/>
            <p14:sldId id="441"/>
            <p14:sldId id="442"/>
            <p14:sldId id="443"/>
          </p14:sldIdLst>
        </p14:section>
        <p14:section name="Cycle de vie" id="{1C4686F1-7E7F-9146-8B3D-8DB72B936BE9}">
          <p14:sldIdLst>
            <p14:sldId id="718"/>
            <p14:sldId id="542"/>
            <p14:sldId id="543"/>
            <p14:sldId id="544"/>
            <p14:sldId id="545"/>
            <p14:sldId id="723"/>
            <p14:sldId id="724"/>
            <p14:sldId id="725"/>
            <p14:sldId id="726"/>
            <p14:sldId id="727"/>
            <p14:sldId id="728"/>
            <p14:sldId id="729"/>
            <p14:sldId id="730"/>
            <p14:sldId id="5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2B2B"/>
    <a:srgbClr val="2E4C64"/>
    <a:srgbClr val="AF7021"/>
    <a:srgbClr val="D785BE"/>
    <a:srgbClr val="FFFFFF"/>
    <a:srgbClr val="6F3874"/>
    <a:srgbClr val="0F3D49"/>
    <a:srgbClr val="71AD47"/>
    <a:srgbClr val="2867A1"/>
    <a:srgbClr val="296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50"/>
    <p:restoredTop sz="96327"/>
  </p:normalViewPr>
  <p:slideViewPr>
    <p:cSldViewPr snapToGrid="0">
      <p:cViewPr>
        <p:scale>
          <a:sx n="98" d="100"/>
          <a:sy n="98" d="100"/>
        </p:scale>
        <p:origin x="712" y="840"/>
      </p:cViewPr>
      <p:guideLst/>
    </p:cSldViewPr>
  </p:slideViewPr>
  <p:notesTextViewPr>
    <p:cViewPr>
      <p:scale>
        <a:sx n="1" d="1"/>
        <a:sy n="1" d="1"/>
      </p:scale>
      <p:origin x="0" y="0"/>
    </p:cViewPr>
  </p:notesTextViewPr>
  <p:notesViewPr>
    <p:cSldViewPr snapToGrid="0">
      <p:cViewPr varScale="1">
        <p:scale>
          <a:sx n="138" d="100"/>
          <a:sy n="138" d="100"/>
        </p:scale>
        <p:origin x="3504"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16/02/2026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55E925FF-3A18-41AB-84BF-FD36931E4BB5}" type="slidenum">
              <a:rPr lang="nl-NL" smtClean="0"/>
              <a:pPr/>
              <a:t>31</a:t>
            </a:fld>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52</a:t>
            </a:fld>
            <a:endParaRPr lang="fr-FR"/>
          </a:p>
        </p:txBody>
      </p:sp>
    </p:spTree>
    <p:extLst>
      <p:ext uri="{BB962C8B-B14F-4D97-AF65-F5344CB8AC3E}">
        <p14:creationId xmlns:p14="http://schemas.microsoft.com/office/powerpoint/2010/main" val="3397404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53</a:t>
            </a:fld>
            <a:endParaRPr lang="fr-FR"/>
          </a:p>
        </p:txBody>
      </p:sp>
    </p:spTree>
    <p:extLst>
      <p:ext uri="{BB962C8B-B14F-4D97-AF65-F5344CB8AC3E}">
        <p14:creationId xmlns:p14="http://schemas.microsoft.com/office/powerpoint/2010/main" val="670262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54</a:t>
            </a:fld>
            <a:endParaRPr lang="fr-FR"/>
          </a:p>
        </p:txBody>
      </p:sp>
    </p:spTree>
    <p:extLst>
      <p:ext uri="{BB962C8B-B14F-4D97-AF65-F5344CB8AC3E}">
        <p14:creationId xmlns:p14="http://schemas.microsoft.com/office/powerpoint/2010/main" val="917979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752F9-3AD2-F2F9-963A-C2E611B4D5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474C1A-3DE7-F015-6C53-C9DB41096BC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C3BA2BE-4794-F3FE-A2B2-04DBE52EBE3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988FB35-485E-5FA0-91AE-5CDEB928A9A6}"/>
              </a:ext>
            </a:extLst>
          </p:cNvPr>
          <p:cNvSpPr>
            <a:spLocks noGrp="1"/>
          </p:cNvSpPr>
          <p:nvPr>
            <p:ph type="sldNum" sz="quarter" idx="5"/>
          </p:nvPr>
        </p:nvSpPr>
        <p:spPr/>
        <p:txBody>
          <a:bodyPr/>
          <a:lstStyle/>
          <a:p>
            <a:fld id="{F6F35AA9-C5C6-934C-A51C-E9609006C10B}" type="slidenum">
              <a:rPr lang="fr-FR" smtClean="0"/>
              <a:t>55</a:t>
            </a:fld>
            <a:endParaRPr lang="fr-FR"/>
          </a:p>
        </p:txBody>
      </p:sp>
    </p:spTree>
    <p:extLst>
      <p:ext uri="{BB962C8B-B14F-4D97-AF65-F5344CB8AC3E}">
        <p14:creationId xmlns:p14="http://schemas.microsoft.com/office/powerpoint/2010/main" val="1923080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A181-DEF3-41A5-A361-5ED60B7C39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8C022B-101C-C392-6044-AFF6E871E1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45FE53-A2A0-443F-2A36-BDCFA822F20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43EAFDF-3B93-9392-9E00-912FBB908865}"/>
              </a:ext>
            </a:extLst>
          </p:cNvPr>
          <p:cNvSpPr>
            <a:spLocks noGrp="1"/>
          </p:cNvSpPr>
          <p:nvPr>
            <p:ph type="sldNum" sz="quarter" idx="5"/>
          </p:nvPr>
        </p:nvSpPr>
        <p:spPr/>
        <p:txBody>
          <a:bodyPr/>
          <a:lstStyle/>
          <a:p>
            <a:fld id="{F6F35AA9-C5C6-934C-A51C-E9609006C10B}" type="slidenum">
              <a:rPr lang="fr-FR" smtClean="0"/>
              <a:t>56</a:t>
            </a:fld>
            <a:endParaRPr lang="fr-FR"/>
          </a:p>
        </p:txBody>
      </p:sp>
    </p:spTree>
    <p:extLst>
      <p:ext uri="{BB962C8B-B14F-4D97-AF65-F5344CB8AC3E}">
        <p14:creationId xmlns:p14="http://schemas.microsoft.com/office/powerpoint/2010/main" val="393021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B388-EEA2-DB7F-C510-BD3FBB287C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CB776E-F294-0DDE-979D-6FD4C46E267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4ADE46F-798D-F06E-2226-BCFDDEC301F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266AC3A-7A8B-8915-A225-6763EAEE859A}"/>
              </a:ext>
            </a:extLst>
          </p:cNvPr>
          <p:cNvSpPr>
            <a:spLocks noGrp="1"/>
          </p:cNvSpPr>
          <p:nvPr>
            <p:ph type="sldNum" sz="quarter" idx="5"/>
          </p:nvPr>
        </p:nvSpPr>
        <p:spPr/>
        <p:txBody>
          <a:bodyPr/>
          <a:lstStyle/>
          <a:p>
            <a:fld id="{F6F35AA9-C5C6-934C-A51C-E9609006C10B}" type="slidenum">
              <a:rPr lang="fr-FR" smtClean="0"/>
              <a:t>57</a:t>
            </a:fld>
            <a:endParaRPr lang="fr-FR"/>
          </a:p>
        </p:txBody>
      </p:sp>
    </p:spTree>
    <p:extLst>
      <p:ext uri="{BB962C8B-B14F-4D97-AF65-F5344CB8AC3E}">
        <p14:creationId xmlns:p14="http://schemas.microsoft.com/office/powerpoint/2010/main" val="234204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D88B6-DA1E-0F8A-0836-7121841282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EB3471-EE8C-96AD-5DD2-2BF0F41470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12E70A-7B1D-8A57-9B35-2A285ED4D3F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3FD43E9-E63E-F47F-4838-DD1E1B3F034D}"/>
              </a:ext>
            </a:extLst>
          </p:cNvPr>
          <p:cNvSpPr>
            <a:spLocks noGrp="1"/>
          </p:cNvSpPr>
          <p:nvPr>
            <p:ph type="sldNum" sz="quarter" idx="5"/>
          </p:nvPr>
        </p:nvSpPr>
        <p:spPr/>
        <p:txBody>
          <a:bodyPr/>
          <a:lstStyle/>
          <a:p>
            <a:fld id="{F6F35AA9-C5C6-934C-A51C-E9609006C10B}" type="slidenum">
              <a:rPr lang="fr-FR" smtClean="0"/>
              <a:t>58</a:t>
            </a:fld>
            <a:endParaRPr lang="fr-FR"/>
          </a:p>
        </p:txBody>
      </p:sp>
    </p:spTree>
    <p:extLst>
      <p:ext uri="{BB962C8B-B14F-4D97-AF65-F5344CB8AC3E}">
        <p14:creationId xmlns:p14="http://schemas.microsoft.com/office/powerpoint/2010/main" val="1606719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7DE0-0D8A-2F2E-F444-775CB99B43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923DE8-8FA3-BA8F-271A-7D9D5ACA20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CF9557-7B68-8415-6E5F-EBCC7AF7DC9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77B11B6-2664-54A9-16CF-74CE6536433F}"/>
              </a:ext>
            </a:extLst>
          </p:cNvPr>
          <p:cNvSpPr>
            <a:spLocks noGrp="1"/>
          </p:cNvSpPr>
          <p:nvPr>
            <p:ph type="sldNum" sz="quarter" idx="5"/>
          </p:nvPr>
        </p:nvSpPr>
        <p:spPr/>
        <p:txBody>
          <a:bodyPr/>
          <a:lstStyle/>
          <a:p>
            <a:fld id="{F6F35AA9-C5C6-934C-A51C-E9609006C10B}" type="slidenum">
              <a:rPr lang="fr-FR" smtClean="0"/>
              <a:t>59</a:t>
            </a:fld>
            <a:endParaRPr lang="fr-FR"/>
          </a:p>
        </p:txBody>
      </p:sp>
    </p:spTree>
    <p:extLst>
      <p:ext uri="{BB962C8B-B14F-4D97-AF65-F5344CB8AC3E}">
        <p14:creationId xmlns:p14="http://schemas.microsoft.com/office/powerpoint/2010/main" val="3133828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9A95-D04F-8FD6-DCDD-764776FFB1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FCFC2F-108C-2E46-2910-93D79B3B6E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33052F-938F-72D3-D578-BE5FC94503F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02F9DCF-914F-40E5-0A39-D0741092C19D}"/>
              </a:ext>
            </a:extLst>
          </p:cNvPr>
          <p:cNvSpPr>
            <a:spLocks noGrp="1"/>
          </p:cNvSpPr>
          <p:nvPr>
            <p:ph type="sldNum" sz="quarter" idx="5"/>
          </p:nvPr>
        </p:nvSpPr>
        <p:spPr/>
        <p:txBody>
          <a:bodyPr/>
          <a:lstStyle/>
          <a:p>
            <a:fld id="{F6F35AA9-C5C6-934C-A51C-E9609006C10B}" type="slidenum">
              <a:rPr lang="fr-FR" smtClean="0"/>
              <a:t>60</a:t>
            </a:fld>
            <a:endParaRPr lang="fr-FR"/>
          </a:p>
        </p:txBody>
      </p:sp>
    </p:spTree>
    <p:extLst>
      <p:ext uri="{BB962C8B-B14F-4D97-AF65-F5344CB8AC3E}">
        <p14:creationId xmlns:p14="http://schemas.microsoft.com/office/powerpoint/2010/main" val="4100916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2E453-6988-37B9-6603-308443AB47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87461F-34D2-2079-DD5B-9A326FBCA05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74065D2-B97D-6C96-4057-15FDCF7722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E695E8-DA76-A7DF-AF90-8F5A163721FB}"/>
              </a:ext>
            </a:extLst>
          </p:cNvPr>
          <p:cNvSpPr>
            <a:spLocks noGrp="1"/>
          </p:cNvSpPr>
          <p:nvPr>
            <p:ph type="sldNum" sz="quarter" idx="5"/>
          </p:nvPr>
        </p:nvSpPr>
        <p:spPr/>
        <p:txBody>
          <a:bodyPr/>
          <a:lstStyle/>
          <a:p>
            <a:fld id="{F6F35AA9-C5C6-934C-A51C-E9609006C10B}" type="slidenum">
              <a:rPr lang="fr-FR" smtClean="0"/>
              <a:t>61</a:t>
            </a:fld>
            <a:endParaRPr lang="fr-FR"/>
          </a:p>
        </p:txBody>
      </p:sp>
    </p:spTree>
    <p:extLst>
      <p:ext uri="{BB962C8B-B14F-4D97-AF65-F5344CB8AC3E}">
        <p14:creationId xmlns:p14="http://schemas.microsoft.com/office/powerpoint/2010/main" val="1040350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dirty="0"/>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grpSp>
        <p:nvGrpSpPr>
          <p:cNvPr id="4" name="Groupe 3">
            <a:extLst>
              <a:ext uri="{FF2B5EF4-FFF2-40B4-BE49-F238E27FC236}">
                <a16:creationId xmlns:a16="http://schemas.microsoft.com/office/drawing/2014/main" id="{BB70B38A-4526-1E53-C96A-750F127803D7}"/>
              </a:ext>
            </a:extLst>
          </p:cNvPr>
          <p:cNvGrpSpPr/>
          <p:nvPr userDrawn="1"/>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CEDC4753-E350-4373-D704-A2AC071720E3}"/>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224AFDDD-6EFD-2D48-2732-DB6F1E2B06AC}"/>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371090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a:t>Cliquez et modifiez le titre</a:t>
            </a:r>
            <a:endParaRPr lang="en-US"/>
          </a:p>
        </p:txBody>
      </p:sp>
      <p:sp>
        <p:nvSpPr>
          <p:cNvPr id="3" name="Content Placeholder 2"/>
          <p:cNvSpPr>
            <a:spLocks noGrp="1"/>
          </p:cNvSpPr>
          <p:nvPr>
            <p:ph idx="1"/>
          </p:nvPr>
        </p:nvSpPr>
        <p:spPr>
          <a:xfrm>
            <a:off x="609600" y="1752601"/>
            <a:ext cx="4883253" cy="4373563"/>
          </a:xfrm>
        </p:spPr>
        <p:txBody>
          <a:bodyPr/>
          <a:lstStyle>
            <a:lvl1pPr>
              <a:defRPr b="1"/>
            </a:lvl1pPr>
            <a:lvl2pPr>
              <a:defRPr b="1"/>
            </a:lvl2pPr>
            <a:lvl3pPr>
              <a:defRPr b="1"/>
            </a:lvl3pPr>
            <a:lvl4pPr>
              <a:defRPr b="1"/>
            </a:lvl4pPr>
            <a:lvl5pPr>
              <a:defRPr b="1"/>
            </a:lvl5pPr>
          </a:lstStyle>
          <a:p>
            <a:pPr lvl="0"/>
            <a:r>
              <a:rPr lang="nl-BE" dirty="0"/>
              <a:t>Cliquez pour modifier les styles du texte du masque</a:t>
            </a:r>
          </a:p>
          <a:p>
            <a:pPr lvl="1"/>
            <a:r>
              <a:rPr lang="nl-BE" dirty="0"/>
              <a:t>Deuxième niveau</a:t>
            </a:r>
          </a:p>
          <a:p>
            <a:pPr lvl="2"/>
            <a:r>
              <a:rPr lang="nl-BE" dirty="0"/>
              <a:t>Troisième niveau</a:t>
            </a:r>
          </a:p>
          <a:p>
            <a:pPr lvl="3"/>
            <a:r>
              <a:rPr lang="nl-BE" dirty="0"/>
              <a:t>Quatrième niveau</a:t>
            </a:r>
          </a:p>
          <a:p>
            <a:pPr lvl="4"/>
            <a:r>
              <a:rPr lang="nl-BE" dirty="0"/>
              <a:t>Cinquième niveau</a:t>
            </a:r>
            <a:endParaRPr lang="en-US" dirty="0"/>
          </a:p>
        </p:txBody>
      </p:sp>
      <p:sp>
        <p:nvSpPr>
          <p:cNvPr id="6" name="Slide Number Placeholder 5"/>
          <p:cNvSpPr>
            <a:spLocks noGrp="1"/>
          </p:cNvSpPr>
          <p:nvPr>
            <p:ph type="sldNum" sz="quarter" idx="12"/>
          </p:nvPr>
        </p:nvSpPr>
        <p:spPr/>
        <p:txBody>
          <a:bodyPr/>
          <a:lstStyle/>
          <a:p>
            <a:fld id="{B2005DC0-9EAD-DA46-BDA8-BD693362A350}" type="slidenum">
              <a:rPr lang="fr-FR" smtClean="0"/>
              <a:t>‹N°›</a:t>
            </a:fld>
            <a:endParaRPr lang="fr-FR"/>
          </a:p>
        </p:txBody>
      </p:sp>
      <p:sp>
        <p:nvSpPr>
          <p:cNvPr id="5" name="Espace réservé du contenu 4"/>
          <p:cNvSpPr>
            <a:spLocks noGrp="1"/>
          </p:cNvSpPr>
          <p:nvPr>
            <p:ph sz="quarter" idx="13"/>
          </p:nvPr>
        </p:nvSpPr>
        <p:spPr>
          <a:xfrm>
            <a:off x="5712885" y="1752601"/>
            <a:ext cx="5397500" cy="4373563"/>
          </a:xfrm>
        </p:spPr>
        <p:txBody>
          <a:bodyPr/>
          <a:lstStyle/>
          <a:p>
            <a:pPr lvl="0"/>
            <a:r>
              <a:rPr lang="nl-BE"/>
              <a:t>Cliquez pour modifier les styles du texte du masque</a:t>
            </a:r>
          </a:p>
          <a:p>
            <a:pPr lvl="1"/>
            <a:r>
              <a:rPr lang="nl-BE"/>
              <a:t>Deuxième niveau</a:t>
            </a:r>
          </a:p>
          <a:p>
            <a:pPr lvl="2"/>
            <a:r>
              <a:rPr lang="nl-BE"/>
              <a:t>Troisième niveau</a:t>
            </a:r>
          </a:p>
          <a:p>
            <a:pPr lvl="3"/>
            <a:r>
              <a:rPr lang="nl-BE"/>
              <a:t>Quatrième niveau</a:t>
            </a:r>
          </a:p>
          <a:p>
            <a:pPr lvl="4"/>
            <a:r>
              <a:rPr lang="nl-BE"/>
              <a:t>Cinquième niveau</a:t>
            </a:r>
            <a:endParaRPr lang="fr-FR"/>
          </a:p>
        </p:txBody>
      </p:sp>
    </p:spTree>
    <p:extLst>
      <p:ext uri="{BB962C8B-B14F-4D97-AF65-F5344CB8AC3E}">
        <p14:creationId xmlns:p14="http://schemas.microsoft.com/office/powerpoint/2010/main" val="2837519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2025-2026</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73"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fr.wikipedia.org/wiki/Principe_de_s&#233;gr&#233;gation_des_interface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p:txBody>
          <a:bodyPr/>
          <a:lstStyle/>
          <a:p>
            <a:r>
              <a:rPr lang="fr-FR" dirty="0"/>
              <a:t>JAVA 2</a:t>
            </a:r>
          </a:p>
        </p:txBody>
      </p:sp>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4</a:t>
            </a:r>
          </a:p>
          <a:p>
            <a:r>
              <a:rPr lang="fr-FR" dirty="0"/>
              <a:t>Semaine 4</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51A359-665C-7EF3-F766-44D051AE6CB7}"/>
              </a:ext>
            </a:extLst>
          </p:cNvPr>
          <p:cNvSpPr>
            <a:spLocks noGrp="1"/>
          </p:cNvSpPr>
          <p:nvPr>
            <p:ph type="title"/>
          </p:nvPr>
        </p:nvSpPr>
        <p:spPr/>
        <p:txBody>
          <a:bodyPr/>
          <a:lstStyle/>
          <a:p>
            <a:r>
              <a:rPr lang="fr-FR" dirty="0"/>
              <a:t>Vu au dernier cours…</a:t>
            </a:r>
          </a:p>
        </p:txBody>
      </p:sp>
      <p:sp>
        <p:nvSpPr>
          <p:cNvPr id="3" name="Espace réservé du contenu 2">
            <a:extLst>
              <a:ext uri="{FF2B5EF4-FFF2-40B4-BE49-F238E27FC236}">
                <a16:creationId xmlns:a16="http://schemas.microsoft.com/office/drawing/2014/main" id="{59989C80-45D8-CEAF-65AF-7BB8EDE3DF11}"/>
              </a:ext>
            </a:extLst>
          </p:cNvPr>
          <p:cNvSpPr>
            <a:spLocks noGrp="1"/>
          </p:cNvSpPr>
          <p:nvPr>
            <p:ph idx="1"/>
          </p:nvPr>
        </p:nvSpPr>
        <p:spPr/>
        <p:txBody>
          <a:bodyPr>
            <a:normAutofit/>
          </a:bodyPr>
          <a:lstStyle/>
          <a:p>
            <a:r>
              <a:rPr lang="fr-FR" dirty="0"/>
              <a:t>Classes </a:t>
            </a:r>
            <a:r>
              <a:rPr lang="fr-FR" dirty="0">
                <a:solidFill>
                  <a:schemeClr val="accent4"/>
                </a:solidFill>
              </a:rPr>
              <a:t>abstraites</a:t>
            </a:r>
            <a:r>
              <a:rPr lang="fr-FR" dirty="0"/>
              <a:t> et leurs classes dérivées</a:t>
            </a:r>
            <a:endParaRPr lang="fr-FR" sz="2600" dirty="0">
              <a:solidFill>
                <a:schemeClr val="accent4"/>
              </a:solidFill>
              <a:latin typeface="Consolas" panose="020B0609020204030204" pitchFamily="49" charset="0"/>
              <a:cs typeface="Consolas" panose="020B0609020204030204" pitchFamily="49" charset="0"/>
            </a:endParaRPr>
          </a:p>
          <a:p>
            <a:r>
              <a:rPr lang="fr-FR" dirty="0"/>
              <a:t>Les </a:t>
            </a:r>
            <a:r>
              <a:rPr lang="fr-FR" dirty="0">
                <a:solidFill>
                  <a:schemeClr val="accent4"/>
                </a:solidFill>
              </a:rPr>
              <a:t>interfaces</a:t>
            </a:r>
          </a:p>
          <a:p>
            <a:r>
              <a:rPr lang="fr-FR" dirty="0"/>
              <a:t>Interfaces de marquage et interfaces </a:t>
            </a:r>
            <a:r>
              <a:rPr lang="fr-FR" dirty="0">
                <a:solidFill>
                  <a:schemeClr val="accent4"/>
                </a:solidFill>
              </a:rPr>
              <a:t>fonctionnelles</a:t>
            </a:r>
          </a:p>
          <a:p>
            <a:r>
              <a:rPr lang="fr-FR" dirty="0"/>
              <a:t>Avantage d’utiliser des interfaces: le </a:t>
            </a:r>
            <a:r>
              <a:rPr lang="fr-FR" dirty="0">
                <a:solidFill>
                  <a:schemeClr val="accent4"/>
                </a:solidFill>
              </a:rPr>
              <a:t>découplage</a:t>
            </a:r>
          </a:p>
          <a:p>
            <a:r>
              <a:rPr lang="nl-BE" dirty="0"/>
              <a:t>Exemple de découplage avec la classe </a:t>
            </a:r>
            <a:r>
              <a:rPr lang="fr-BE" sz="2600" dirty="0" err="1">
                <a:solidFill>
                  <a:schemeClr val="accent4"/>
                </a:solidFill>
                <a:latin typeface="Consolas" panose="020B0609020204030204" pitchFamily="49" charset="0"/>
                <a:cs typeface="Consolas" panose="020B0609020204030204" pitchFamily="49" charset="0"/>
              </a:rPr>
              <a:t>StationService</a:t>
            </a:r>
            <a:r>
              <a:rPr lang="fr-FR" dirty="0"/>
              <a:t> et l’interface </a:t>
            </a:r>
            <a:r>
              <a:rPr lang="fr-FR" sz="2600" dirty="0">
                <a:solidFill>
                  <a:schemeClr val="accent4"/>
                </a:solidFill>
                <a:latin typeface="Consolas" panose="020B0609020204030204" pitchFamily="49" charset="0"/>
                <a:cs typeface="Consolas" panose="020B0609020204030204" pitchFamily="49" charset="0"/>
              </a:rPr>
              <a:t>Motorise</a:t>
            </a:r>
          </a:p>
          <a:p>
            <a:endParaRPr lang="fr-FR" dirty="0"/>
          </a:p>
        </p:txBody>
      </p:sp>
      <p:sp>
        <p:nvSpPr>
          <p:cNvPr id="5" name="Espace réservé du numéro de diapositive 4">
            <a:extLst>
              <a:ext uri="{FF2B5EF4-FFF2-40B4-BE49-F238E27FC236}">
                <a16:creationId xmlns:a16="http://schemas.microsoft.com/office/drawing/2014/main" id="{49DA0716-EDC5-4FF3-5579-A375068BE41C}"/>
              </a:ext>
            </a:extLst>
          </p:cNvPr>
          <p:cNvSpPr>
            <a:spLocks noGrp="1"/>
          </p:cNvSpPr>
          <p:nvPr>
            <p:ph type="sldNum" sz="quarter" idx="4"/>
          </p:nvPr>
        </p:nvSpPr>
        <p:spPr/>
        <p:txBody>
          <a:bodyPr/>
          <a:lstStyle/>
          <a:p>
            <a:fld id="{33C783E2-4793-4F48-A271-51A73CC37D74}" type="slidenum">
              <a:rPr lang="fr-FR" smtClean="0"/>
              <a:t>2</a:t>
            </a:fld>
            <a:endParaRPr lang="fr-FR" dirty="0"/>
          </a:p>
        </p:txBody>
      </p:sp>
    </p:spTree>
    <p:extLst>
      <p:ext uri="{BB962C8B-B14F-4D97-AF65-F5344CB8AC3E}">
        <p14:creationId xmlns:p14="http://schemas.microsoft.com/office/powerpoint/2010/main" val="274424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8743-A1A3-F231-D0E5-83E3B5F40A3F}"/>
            </a:ext>
          </a:extLst>
        </p:cNvPr>
        <p:cNvGrpSpPr/>
        <p:nvPr/>
      </p:nvGrpSpPr>
      <p:grpSpPr>
        <a:xfrm>
          <a:off x="0" y="0"/>
          <a:ext cx="0" cy="0"/>
          <a:chOff x="0" y="0"/>
          <a:chExt cx="0" cy="0"/>
        </a:xfrm>
      </p:grpSpPr>
      <p:pic>
        <p:nvPicPr>
          <p:cNvPr id="1026" name="Picture 2" descr="exercices en retard format 16:9">
            <a:extLst>
              <a:ext uri="{FF2B5EF4-FFF2-40B4-BE49-F238E27FC236}">
                <a16:creationId xmlns:a16="http://schemas.microsoft.com/office/drawing/2014/main" id="{B63EA7A3-C6B0-E962-2E5D-A4999A4BB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CB2949B-7E66-D937-F71E-1BDB87DBA0C2}"/>
              </a:ext>
            </a:extLst>
          </p:cNvPr>
          <p:cNvSpPr txBox="1"/>
          <p:nvPr/>
        </p:nvSpPr>
        <p:spPr>
          <a:xfrm>
            <a:off x="838200" y="947821"/>
            <a:ext cx="10515600" cy="1015663"/>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t>Exercices…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AF92B336-117C-217E-7A98-B98C382D97FF}"/>
              </a:ext>
            </a:extLst>
          </p:cNvPr>
          <p:cNvSpPr txBox="1"/>
          <p:nvPr/>
        </p:nvSpPr>
        <p:spPr>
          <a:xfrm>
            <a:off x="838200" y="2139312"/>
            <a:ext cx="10515600" cy="461665"/>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Les exercices du cours précédent…</a:t>
            </a:r>
          </a:p>
        </p:txBody>
      </p:sp>
    </p:spTree>
    <p:extLst>
      <p:ext uri="{BB962C8B-B14F-4D97-AF65-F5344CB8AC3E}">
        <p14:creationId xmlns:p14="http://schemas.microsoft.com/office/powerpoint/2010/main" val="183603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14</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a:xfrm>
            <a:off x="838199" y="1825625"/>
            <a:ext cx="10651435" cy="4351338"/>
          </a:xfrm>
        </p:spPr>
        <p:txBody>
          <a:bodyPr>
            <a:noAutofit/>
          </a:bodyPr>
          <a:lstStyle/>
          <a:p>
            <a:pPr marL="457200" indent="-457200">
              <a:buFont typeface="+mj-lt"/>
              <a:buAutoNum type="arabicPeriod"/>
            </a:pPr>
            <a:r>
              <a:rPr lang="fr-FR" sz="2000" noProof="0" dirty="0"/>
              <a:t>Créez une classe abstraite </a:t>
            </a:r>
            <a:r>
              <a:rPr lang="fr-FR" sz="1800" noProof="0" dirty="0">
                <a:solidFill>
                  <a:schemeClr val="accent4"/>
                </a:solidFill>
                <a:latin typeface="Consolas" panose="020B0609020204030204" pitchFamily="49" charset="0"/>
                <a:cs typeface="Consolas" panose="020B0609020204030204" pitchFamily="49" charset="0"/>
              </a:rPr>
              <a:t>Shape</a:t>
            </a:r>
            <a:r>
              <a:rPr lang="fr-FR" sz="2000" noProof="0" dirty="0"/>
              <a:t>, qui représente une forme géométrique. </a:t>
            </a:r>
            <a:br>
              <a:rPr lang="fr-FR" sz="2000" noProof="0" dirty="0"/>
            </a:br>
            <a:r>
              <a:rPr lang="fr-FR" sz="2000" noProof="0" dirty="0"/>
              <a:t>La classe </a:t>
            </a:r>
            <a:r>
              <a:rPr lang="fr-FR" sz="1800" noProof="0" dirty="0">
                <a:solidFill>
                  <a:schemeClr val="accent4"/>
                </a:solidFill>
                <a:latin typeface="Consolas" panose="020B0609020204030204" pitchFamily="49" charset="0"/>
                <a:cs typeface="Consolas" panose="020B0609020204030204" pitchFamily="49" charset="0"/>
              </a:rPr>
              <a:t>Shape</a:t>
            </a:r>
            <a:r>
              <a:rPr lang="fr-FR" sz="2000" noProof="0" dirty="0"/>
              <a:t> implémente</a:t>
            </a:r>
            <a:endParaRPr lang="fr-FR" sz="2000" dirty="0"/>
          </a:p>
          <a:p>
            <a:pPr lvl="1"/>
            <a:r>
              <a:rPr lang="fr-FR" sz="2000" dirty="0"/>
              <a:t>la position de son centre modélisée par une autre classe </a:t>
            </a:r>
            <a:r>
              <a:rPr lang="fr-FR" sz="1800" dirty="0">
                <a:solidFill>
                  <a:schemeClr val="accent4"/>
                </a:solidFill>
                <a:latin typeface="Consolas" panose="020B0609020204030204" pitchFamily="49" charset="0"/>
                <a:cs typeface="Consolas" panose="020B0609020204030204" pitchFamily="49" charset="0"/>
              </a:rPr>
              <a:t>Point</a:t>
            </a:r>
            <a:r>
              <a:rPr lang="fr-FR" dirty="0"/>
              <a:t> </a:t>
            </a:r>
            <a:r>
              <a:rPr lang="fr-FR" sz="2000" dirty="0"/>
              <a:t>qui a 2 attributs publics, </a:t>
            </a:r>
            <a:r>
              <a:rPr lang="fr-FR" sz="1800" dirty="0">
                <a:solidFill>
                  <a:schemeClr val="accent4"/>
                </a:solidFill>
                <a:latin typeface="Consolas" panose="020B0609020204030204" pitchFamily="49" charset="0"/>
                <a:cs typeface="Consolas" panose="020B0609020204030204" pitchFamily="49" charset="0"/>
              </a:rPr>
              <a:t>x</a:t>
            </a:r>
            <a:r>
              <a:rPr lang="fr-FR" sz="2000" dirty="0"/>
              <a:t> et </a:t>
            </a:r>
            <a:r>
              <a:rPr lang="fr-FR" sz="1800" dirty="0">
                <a:solidFill>
                  <a:schemeClr val="accent4"/>
                </a:solidFill>
                <a:latin typeface="Consolas" panose="020B0609020204030204" pitchFamily="49" charset="0"/>
                <a:cs typeface="Consolas" panose="020B0609020204030204" pitchFamily="49" charset="0"/>
              </a:rPr>
              <a:t>y</a:t>
            </a:r>
            <a:r>
              <a:rPr lang="fr-FR" sz="2000" dirty="0"/>
              <a:t>,</a:t>
            </a:r>
          </a:p>
          <a:p>
            <a:pPr lvl="1"/>
            <a:r>
              <a:rPr lang="fr-FR" sz="2000" dirty="0"/>
              <a:t>une rotation en degrés, modélisée par un </a:t>
            </a:r>
            <a:r>
              <a:rPr lang="fr-FR" sz="1800" dirty="0">
                <a:solidFill>
                  <a:schemeClr val="accent4"/>
                </a:solidFill>
                <a:latin typeface="Consolas" panose="020B0609020204030204" pitchFamily="49" charset="0"/>
                <a:cs typeface="Consolas" panose="020B0609020204030204" pitchFamily="49" charset="0"/>
              </a:rPr>
              <a:t>double</a:t>
            </a:r>
            <a:r>
              <a:rPr lang="fr-FR" sz="2000" dirty="0"/>
              <a:t> qui vaudra toujours entre </a:t>
            </a:r>
            <a:r>
              <a:rPr lang="fr-FR" sz="1800" dirty="0">
                <a:solidFill>
                  <a:schemeClr val="accent4"/>
                </a:solidFill>
                <a:latin typeface="Consolas" panose="020B0609020204030204" pitchFamily="49" charset="0"/>
                <a:cs typeface="Consolas" panose="020B0609020204030204" pitchFamily="49" charset="0"/>
              </a:rPr>
              <a:t>0</a:t>
            </a:r>
            <a:r>
              <a:rPr lang="fr-FR" sz="2000" dirty="0"/>
              <a:t> et </a:t>
            </a:r>
            <a:r>
              <a:rPr lang="fr-FR" sz="1800" dirty="0">
                <a:solidFill>
                  <a:schemeClr val="accent4"/>
                </a:solidFill>
                <a:latin typeface="Consolas" panose="020B0609020204030204" pitchFamily="49" charset="0"/>
                <a:cs typeface="Consolas" panose="020B0609020204030204" pitchFamily="49" charset="0"/>
              </a:rPr>
              <a:t>360</a:t>
            </a:r>
            <a:r>
              <a:rPr lang="fr-FR" sz="2000" dirty="0"/>
              <a:t>,</a:t>
            </a:r>
          </a:p>
          <a:p>
            <a:pPr lvl="1"/>
            <a:r>
              <a:rPr lang="fr-FR" sz="2000" dirty="0"/>
              <a:t>une méthode abstraite </a:t>
            </a:r>
            <a:r>
              <a:rPr lang="fr-FR" sz="1800" dirty="0">
                <a:solidFill>
                  <a:schemeClr val="accent4"/>
                </a:solidFill>
                <a:latin typeface="Consolas" panose="020B0609020204030204" pitchFamily="49" charset="0"/>
                <a:cs typeface="Consolas" panose="020B0609020204030204" pitchFamily="49" charset="0"/>
              </a:rPr>
              <a:t>affiche()</a:t>
            </a:r>
            <a:r>
              <a:rPr lang="fr-FR" sz="2000" dirty="0"/>
              <a:t> et une méthode abstraite </a:t>
            </a:r>
            <a:r>
              <a:rPr lang="fr-FR" sz="1800" dirty="0">
                <a:solidFill>
                  <a:schemeClr val="accent4"/>
                </a:solidFill>
                <a:latin typeface="Consolas" panose="020B0609020204030204" pitchFamily="49" charset="0"/>
                <a:cs typeface="Consolas" panose="020B0609020204030204" pitchFamily="49" charset="0"/>
              </a:rPr>
              <a:t>efface()</a:t>
            </a:r>
            <a:r>
              <a:rPr lang="fr-FR" sz="2000" dirty="0"/>
              <a:t>.</a:t>
            </a:r>
          </a:p>
          <a:p>
            <a:pPr marL="457200" indent="-457200">
              <a:buFont typeface="+mj-lt"/>
              <a:buAutoNum type="arabicPeriod"/>
            </a:pPr>
            <a:r>
              <a:rPr lang="fr-FR" sz="2000" noProof="0" dirty="0"/>
              <a:t>Créez aussi trois classes </a:t>
            </a:r>
            <a:r>
              <a:rPr lang="fr-FR" sz="1800" noProof="0" dirty="0">
                <a:solidFill>
                  <a:schemeClr val="accent4"/>
                </a:solidFill>
                <a:latin typeface="Consolas" panose="020B0609020204030204" pitchFamily="49" charset="0"/>
                <a:cs typeface="Consolas" panose="020B0609020204030204" pitchFamily="49" charset="0"/>
              </a:rPr>
              <a:t>Square</a:t>
            </a:r>
            <a:r>
              <a:rPr lang="fr-FR" sz="2000" noProof="0" dirty="0"/>
              <a:t>, </a:t>
            </a:r>
            <a:r>
              <a:rPr lang="fr-FR" sz="1800" noProof="0" dirty="0">
                <a:solidFill>
                  <a:schemeClr val="accent4"/>
                </a:solidFill>
                <a:latin typeface="Consolas" panose="020B0609020204030204" pitchFamily="49" charset="0"/>
                <a:cs typeface="Consolas" panose="020B0609020204030204" pitchFamily="49" charset="0"/>
              </a:rPr>
              <a:t>Circle</a:t>
            </a:r>
            <a:r>
              <a:rPr lang="fr-FR" sz="2400" noProof="0" dirty="0"/>
              <a:t> </a:t>
            </a:r>
            <a:r>
              <a:rPr lang="fr-FR" sz="2000" noProof="0" dirty="0"/>
              <a:t>et</a:t>
            </a:r>
            <a:r>
              <a:rPr lang="fr-FR" sz="2400" noProof="0" dirty="0"/>
              <a:t> </a:t>
            </a:r>
            <a:r>
              <a:rPr lang="fr-FR" sz="1800" noProof="0" dirty="0">
                <a:solidFill>
                  <a:schemeClr val="accent4"/>
                </a:solidFill>
                <a:latin typeface="Consolas" panose="020B0609020204030204" pitchFamily="49" charset="0"/>
                <a:cs typeface="Consolas" panose="020B0609020204030204" pitchFamily="49" charset="0"/>
              </a:rPr>
              <a:t>Triangle</a:t>
            </a:r>
            <a:r>
              <a:rPr lang="fr-FR" sz="2400" noProof="0" dirty="0"/>
              <a:t> </a:t>
            </a:r>
            <a:r>
              <a:rPr lang="fr-FR" sz="2000" noProof="0" dirty="0"/>
              <a:t>qui représentent les trois formes utilisées dans l’application.</a:t>
            </a:r>
            <a:br>
              <a:rPr lang="fr-FR" sz="2000" noProof="0" dirty="0"/>
            </a:br>
            <a:r>
              <a:rPr lang="fr-FR" sz="2000" noProof="0" dirty="0"/>
              <a:t>Ces classes implémentent les méthodes </a:t>
            </a:r>
            <a:r>
              <a:rPr lang="fr-FR" sz="1800" dirty="0">
                <a:solidFill>
                  <a:schemeClr val="accent4"/>
                </a:solidFill>
                <a:latin typeface="Consolas" panose="020B0609020204030204" pitchFamily="49" charset="0"/>
                <a:cs typeface="Consolas" panose="020B0609020204030204" pitchFamily="49" charset="0"/>
              </a:rPr>
              <a:t>affiche()</a:t>
            </a:r>
            <a:r>
              <a:rPr lang="fr-FR" sz="2000" noProof="0" dirty="0"/>
              <a:t> et </a:t>
            </a:r>
            <a:r>
              <a:rPr lang="fr-FR" sz="1800" dirty="0">
                <a:solidFill>
                  <a:schemeClr val="accent4"/>
                </a:solidFill>
                <a:latin typeface="Consolas" panose="020B0609020204030204" pitchFamily="49" charset="0"/>
                <a:cs typeface="Consolas" panose="020B0609020204030204" pitchFamily="49" charset="0"/>
              </a:rPr>
              <a:t>efface()</a:t>
            </a:r>
            <a:r>
              <a:rPr lang="fr-FR" sz="2000" noProof="0" dirty="0"/>
              <a:t> en affichant un texte à la console (</a:t>
            </a:r>
            <a:r>
              <a:rPr lang="fr-FR" sz="1800" dirty="0">
                <a:solidFill>
                  <a:schemeClr val="accent4"/>
                </a:solidFill>
                <a:latin typeface="Consolas" panose="020B0609020204030204" pitchFamily="49" charset="0"/>
                <a:cs typeface="Consolas" panose="020B0609020204030204" pitchFamily="49" charset="0"/>
              </a:rPr>
              <a:t>Je suis un cercle et je m’affiche </a:t>
            </a:r>
            <a:r>
              <a:rPr lang="fr-FR" sz="2000" noProof="0" dirty="0"/>
              <a:t>/ </a:t>
            </a:r>
            <a:r>
              <a:rPr lang="fr-FR" sz="1800" dirty="0">
                <a:solidFill>
                  <a:schemeClr val="accent4"/>
                </a:solidFill>
                <a:latin typeface="Consolas" panose="020B0609020204030204" pitchFamily="49" charset="0"/>
                <a:cs typeface="Consolas" panose="020B0609020204030204" pitchFamily="49" charset="0"/>
              </a:rPr>
              <a:t>Je suis un carré et je m’efface</a:t>
            </a:r>
            <a:r>
              <a:rPr lang="fr-FR" sz="2000" noProof="0" dirty="0"/>
              <a:t>). </a:t>
            </a:r>
          </a:p>
          <a:p>
            <a:pPr marL="457200" indent="-457200">
              <a:buFont typeface="+mj-lt"/>
              <a:buAutoNum type="arabicPeriod"/>
            </a:pPr>
            <a:r>
              <a:rPr lang="fr-FR" sz="2000" noProof="0" dirty="0"/>
              <a:t>Créez enfin un programme qui manipule les formes. Créez un tableau de </a:t>
            </a:r>
            <a:r>
              <a:rPr lang="fr-FR" sz="1800" dirty="0">
                <a:solidFill>
                  <a:schemeClr val="accent4"/>
                </a:solidFill>
                <a:latin typeface="Consolas" panose="020B0609020204030204" pitchFamily="49" charset="0"/>
                <a:cs typeface="Consolas" panose="020B0609020204030204" pitchFamily="49" charset="0"/>
              </a:rPr>
              <a:t>Shape</a:t>
            </a:r>
            <a:r>
              <a:rPr lang="fr-FR" sz="2000" noProof="0" dirty="0"/>
              <a:t>, et instanciez quelques formes, puis appelez leurs méthodes.</a:t>
            </a:r>
            <a:endParaRPr lang="fr-FR" sz="2000" dirty="0"/>
          </a:p>
        </p:txBody>
      </p:sp>
      <p:grpSp>
        <p:nvGrpSpPr>
          <p:cNvPr id="4" name="Groupe 3">
            <a:extLst>
              <a:ext uri="{FF2B5EF4-FFF2-40B4-BE49-F238E27FC236}">
                <a16:creationId xmlns:a16="http://schemas.microsoft.com/office/drawing/2014/main" id="{DD9442BA-7AD5-62BF-B10D-FB4A29F0EA85}"/>
              </a:ext>
            </a:extLst>
          </p:cNvPr>
          <p:cNvGrpSpPr/>
          <p:nvPr/>
        </p:nvGrpSpPr>
        <p:grpSpPr>
          <a:xfrm rot="762091">
            <a:off x="7674606" y="500270"/>
            <a:ext cx="1511865" cy="769720"/>
            <a:chOff x="9344382" y="500270"/>
            <a:chExt cx="1511865" cy="769720"/>
          </a:xfrm>
        </p:grpSpPr>
        <p:sp>
          <p:nvSpPr>
            <p:cNvPr id="5" name="Rectangle 4">
              <a:extLst>
                <a:ext uri="{FF2B5EF4-FFF2-40B4-BE49-F238E27FC236}">
                  <a16:creationId xmlns:a16="http://schemas.microsoft.com/office/drawing/2014/main" id="{4090E853-6D03-A37F-97E7-0863DB9C37FA}"/>
                </a:ext>
              </a:extLst>
            </p:cNvPr>
            <p:cNvSpPr/>
            <p:nvPr/>
          </p:nvSpPr>
          <p:spPr>
            <a:xfrm rot="20700000">
              <a:off x="9344382" y="657107"/>
              <a:ext cx="612883" cy="6128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riangle 7">
              <a:extLst>
                <a:ext uri="{FF2B5EF4-FFF2-40B4-BE49-F238E27FC236}">
                  <a16:creationId xmlns:a16="http://schemas.microsoft.com/office/drawing/2014/main" id="{4F78907F-DB18-F386-C761-B7EBF1D6149F}"/>
                </a:ext>
              </a:extLst>
            </p:cNvPr>
            <p:cNvSpPr/>
            <p:nvPr/>
          </p:nvSpPr>
          <p:spPr>
            <a:xfrm rot="900000">
              <a:off x="10243364" y="657105"/>
              <a:ext cx="612883" cy="612883"/>
            </a:xfrm>
            <a:prstGeom prst="triangle">
              <a:avLst/>
            </a:prstGeom>
            <a:solidFill>
              <a:srgbClr val="0102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9C4A5110-E089-383F-EF3B-4AA0D74D40AD}"/>
                </a:ext>
              </a:extLst>
            </p:cNvPr>
            <p:cNvSpPr/>
            <p:nvPr/>
          </p:nvSpPr>
          <p:spPr>
            <a:xfrm>
              <a:off x="9868050" y="500270"/>
              <a:ext cx="612883" cy="61288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 name="Picture 2" descr="blog-nutrition-outlet">
            <a:extLst>
              <a:ext uri="{FF2B5EF4-FFF2-40B4-BE49-F238E27FC236}">
                <a16:creationId xmlns:a16="http://schemas.microsoft.com/office/drawing/2014/main" id="{7ABEB3DE-A78C-FB9D-8A8C-42EB5166471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A69073EE-1275-FCBC-8BEF-E33C0F83BDC5}"/>
              </a:ext>
            </a:extLst>
          </p:cNvPr>
          <p:cNvSpPr>
            <a:spLocks noGrp="1"/>
          </p:cNvSpPr>
          <p:nvPr>
            <p:ph type="sldNum" sz="quarter" idx="4"/>
          </p:nvPr>
        </p:nvSpPr>
        <p:spPr/>
        <p:txBody>
          <a:bodyPr/>
          <a:lstStyle/>
          <a:p>
            <a:fld id="{33C783E2-4793-4F48-A271-51A73CC37D74}" type="slidenum">
              <a:rPr lang="fr-FR" smtClean="0"/>
              <a:t>4</a:t>
            </a:fld>
            <a:endParaRPr lang="fr-FR"/>
          </a:p>
        </p:txBody>
      </p:sp>
    </p:spTree>
    <p:extLst>
      <p:ext uri="{BB962C8B-B14F-4D97-AF65-F5344CB8AC3E}">
        <p14:creationId xmlns:p14="http://schemas.microsoft.com/office/powerpoint/2010/main" val="563294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15</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a:xfrm>
            <a:off x="838199" y="1825625"/>
            <a:ext cx="10651435" cy="4351338"/>
          </a:xfrm>
        </p:spPr>
        <p:txBody>
          <a:bodyPr>
            <a:noAutofit/>
          </a:bodyPr>
          <a:lstStyle/>
          <a:p>
            <a:r>
              <a:rPr lang="fr-BE" sz="2000" dirty="0"/>
              <a:t>Créez une classe abstraite </a:t>
            </a:r>
            <a:r>
              <a:rPr lang="fr-FR" sz="1800" noProof="0" dirty="0">
                <a:solidFill>
                  <a:schemeClr val="accent4"/>
                </a:solidFill>
                <a:latin typeface="Consolas" panose="020B0609020204030204" pitchFamily="49" charset="0"/>
                <a:cs typeface="Consolas" panose="020B0609020204030204" pitchFamily="49" charset="0"/>
              </a:rPr>
              <a:t>Animal</a:t>
            </a:r>
            <a:r>
              <a:rPr lang="fr-BE" sz="2000" dirty="0"/>
              <a:t>, qui représente un animal. La classe </a:t>
            </a:r>
            <a:r>
              <a:rPr lang="fr-FR" sz="1800" noProof="0" dirty="0">
                <a:solidFill>
                  <a:schemeClr val="accent4"/>
                </a:solidFill>
                <a:latin typeface="Consolas" panose="020B0609020204030204" pitchFamily="49" charset="0"/>
                <a:cs typeface="Consolas" panose="020B0609020204030204" pitchFamily="49" charset="0"/>
              </a:rPr>
              <a:t>Animal</a:t>
            </a:r>
            <a:br>
              <a:rPr lang="fr-BE" sz="2000" dirty="0">
                <a:solidFill>
                  <a:srgbClr val="E8BF6A"/>
                </a:solidFill>
                <a:effectLst/>
              </a:rPr>
            </a:br>
            <a:r>
              <a:rPr lang="fr-BE" sz="2000" dirty="0">
                <a:solidFill>
                  <a:srgbClr val="E8BF6A"/>
                </a:solidFill>
                <a:effectLst/>
              </a:rPr>
              <a:t>    </a:t>
            </a:r>
            <a:r>
              <a:rPr lang="fr-BE" sz="2000" dirty="0"/>
              <a:t>présente une méthode abstraite </a:t>
            </a:r>
            <a:r>
              <a:rPr lang="fr-BE" sz="1800" dirty="0" err="1">
                <a:solidFill>
                  <a:schemeClr val="accent4"/>
                </a:solidFill>
                <a:latin typeface="Consolas" panose="020B0609020204030204" pitchFamily="49" charset="0"/>
                <a:cs typeface="Consolas" panose="020B0609020204030204" pitchFamily="49" charset="0"/>
              </a:rPr>
              <a:t>makeNoise</a:t>
            </a:r>
            <a:r>
              <a:rPr lang="fr-BE" sz="2000" dirty="0"/>
              <a:t>.</a:t>
            </a:r>
          </a:p>
          <a:p>
            <a:r>
              <a:rPr lang="fr-BE" sz="2000" dirty="0"/>
              <a:t>Créez également deux classes </a:t>
            </a:r>
            <a:r>
              <a:rPr lang="fr-FR" sz="1800" dirty="0">
                <a:solidFill>
                  <a:schemeClr val="accent4"/>
                </a:solidFill>
                <a:latin typeface="Consolas" panose="020B0609020204030204" pitchFamily="49" charset="0"/>
                <a:cs typeface="Consolas" panose="020B0609020204030204" pitchFamily="49" charset="0"/>
              </a:rPr>
              <a:t>Dog</a:t>
            </a:r>
            <a:r>
              <a:rPr lang="fr-BE" sz="2000" dirty="0"/>
              <a:t> et </a:t>
            </a:r>
            <a:r>
              <a:rPr lang="fr-FR" sz="1800" dirty="0">
                <a:solidFill>
                  <a:schemeClr val="accent4"/>
                </a:solidFill>
                <a:latin typeface="Consolas" panose="020B0609020204030204" pitchFamily="49" charset="0"/>
                <a:cs typeface="Consolas" panose="020B0609020204030204" pitchFamily="49" charset="0"/>
              </a:rPr>
              <a:t>Cat</a:t>
            </a:r>
            <a:r>
              <a:rPr lang="fr-BE" sz="2000" dirty="0"/>
              <a:t>, qui définissent la méthode </a:t>
            </a:r>
            <a:r>
              <a:rPr lang="fr-BE" sz="1800" dirty="0" err="1">
                <a:solidFill>
                  <a:schemeClr val="accent4"/>
                </a:solidFill>
                <a:latin typeface="Consolas" panose="020B0609020204030204" pitchFamily="49" charset="0"/>
                <a:cs typeface="Consolas" panose="020B0609020204030204" pitchFamily="49" charset="0"/>
              </a:rPr>
              <a:t>makeNoise</a:t>
            </a:r>
            <a:r>
              <a:rPr lang="fr-BE" sz="2000" dirty="0"/>
              <a:t> comme suit:</a:t>
            </a:r>
            <a:endParaRPr lang="fr-BE" sz="2000" dirty="0">
              <a:solidFill>
                <a:srgbClr val="E8BF6A"/>
              </a:solidFill>
            </a:endParaRPr>
          </a:p>
          <a:p>
            <a:pPr lvl="1"/>
            <a:r>
              <a:rPr lang="fr-BE" sz="2000" dirty="0"/>
              <a:t>un </a:t>
            </a:r>
            <a:r>
              <a:rPr lang="fr-BE" sz="1800" dirty="0">
                <a:solidFill>
                  <a:schemeClr val="accent4"/>
                </a:solidFill>
                <a:latin typeface="Consolas" panose="020B0609020204030204" pitchFamily="49" charset="0"/>
                <a:cs typeface="Consolas" panose="020B0609020204030204" pitchFamily="49" charset="0"/>
              </a:rPr>
              <a:t>Dog</a:t>
            </a:r>
            <a:r>
              <a:rPr lang="fr-BE" sz="2000" dirty="0"/>
              <a:t> provoque l'affichage de </a:t>
            </a:r>
            <a:r>
              <a:rPr lang="fr-BE" sz="1800" dirty="0">
                <a:solidFill>
                  <a:schemeClr val="accent4"/>
                </a:solidFill>
                <a:latin typeface="Consolas" panose="020B0609020204030204" pitchFamily="49" charset="0"/>
                <a:cs typeface="Consolas" panose="020B0609020204030204" pitchFamily="49" charset="0"/>
              </a:rPr>
              <a:t>"J'aboie"</a:t>
            </a:r>
            <a:r>
              <a:rPr lang="fr-BE" sz="2000" dirty="0"/>
              <a:t>,</a:t>
            </a:r>
            <a:endParaRPr lang="fr-BE" sz="2000" dirty="0">
              <a:solidFill>
                <a:srgbClr val="E8BF6A"/>
              </a:solidFill>
              <a:effectLst/>
            </a:endParaRPr>
          </a:p>
          <a:p>
            <a:pPr lvl="1"/>
            <a:r>
              <a:rPr lang="fr-BE" sz="2000" dirty="0"/>
              <a:t>Un </a:t>
            </a:r>
            <a:r>
              <a:rPr lang="fr-BE" sz="1800" dirty="0">
                <a:solidFill>
                  <a:schemeClr val="accent4"/>
                </a:solidFill>
                <a:latin typeface="Consolas" panose="020B0609020204030204" pitchFamily="49" charset="0"/>
                <a:cs typeface="Consolas" panose="020B0609020204030204" pitchFamily="49" charset="0"/>
              </a:rPr>
              <a:t>Cat</a:t>
            </a:r>
            <a:r>
              <a:rPr lang="fr-BE" sz="2000" dirty="0"/>
              <a:t> provoque l'affichage de </a:t>
            </a:r>
            <a:r>
              <a:rPr lang="fr-BE" sz="1800" dirty="0">
                <a:solidFill>
                  <a:schemeClr val="accent4"/>
                </a:solidFill>
                <a:latin typeface="Consolas" panose="020B0609020204030204" pitchFamily="49" charset="0"/>
                <a:cs typeface="Consolas" panose="020B0609020204030204" pitchFamily="49" charset="0"/>
              </a:rPr>
              <a:t>"Je miaule"</a:t>
            </a:r>
            <a:r>
              <a:rPr lang="fr-BE" sz="2000" dirty="0"/>
              <a:t>.</a:t>
            </a:r>
            <a:endParaRPr lang="fr-BE" sz="2000" dirty="0">
              <a:solidFill>
                <a:srgbClr val="E8BF6A"/>
              </a:solidFill>
            </a:endParaRPr>
          </a:p>
          <a:p>
            <a:r>
              <a:rPr lang="fr-BE" sz="2000" dirty="0"/>
              <a:t>Créez aussi un programme qui crée un tableau de 10 </a:t>
            </a:r>
            <a:r>
              <a:rPr lang="fr-FR" sz="1800" dirty="0">
                <a:solidFill>
                  <a:schemeClr val="accent4"/>
                </a:solidFill>
                <a:latin typeface="Consolas" panose="020B0609020204030204" pitchFamily="49" charset="0"/>
                <a:cs typeface="Consolas" panose="020B0609020204030204" pitchFamily="49" charset="0"/>
              </a:rPr>
              <a:t>Animal</a:t>
            </a:r>
            <a:r>
              <a:rPr lang="fr-BE" sz="2000" dirty="0"/>
              <a:t>, que vous instanciez (50% de chances de créer un </a:t>
            </a:r>
            <a:r>
              <a:rPr lang="fr-BE" sz="1800" dirty="0">
                <a:solidFill>
                  <a:schemeClr val="accent4"/>
                </a:solidFill>
                <a:latin typeface="Consolas" panose="020B0609020204030204" pitchFamily="49" charset="0"/>
                <a:cs typeface="Consolas" panose="020B0609020204030204" pitchFamily="49" charset="0"/>
              </a:rPr>
              <a:t>Dog</a:t>
            </a:r>
            <a:r>
              <a:rPr lang="fr-BE" sz="2000" dirty="0"/>
              <a:t> et 50% un </a:t>
            </a:r>
            <a:r>
              <a:rPr lang="fr-BE" sz="1800" dirty="0">
                <a:solidFill>
                  <a:schemeClr val="accent4"/>
                </a:solidFill>
                <a:latin typeface="Consolas" panose="020B0609020204030204" pitchFamily="49" charset="0"/>
                <a:cs typeface="Consolas" panose="020B0609020204030204" pitchFamily="49" charset="0"/>
              </a:rPr>
              <a:t>Cat</a:t>
            </a:r>
            <a:r>
              <a:rPr lang="fr-BE" sz="2000" dirty="0"/>
              <a:t>).</a:t>
            </a:r>
          </a:p>
          <a:p>
            <a:r>
              <a:rPr lang="fr-BE" sz="2000" dirty="0"/>
              <a:t>Invoquez ensuite la méthode </a:t>
            </a:r>
            <a:r>
              <a:rPr lang="fr-BE" sz="1800" dirty="0" err="1">
                <a:solidFill>
                  <a:schemeClr val="accent4"/>
                </a:solidFill>
                <a:latin typeface="Consolas" panose="020B0609020204030204" pitchFamily="49" charset="0"/>
                <a:cs typeface="Consolas" panose="020B0609020204030204" pitchFamily="49" charset="0"/>
              </a:rPr>
              <a:t>makeNoise</a:t>
            </a:r>
            <a:r>
              <a:rPr lang="fr-BE" sz="2000" dirty="0">
                <a:solidFill>
                  <a:srgbClr val="E8BF6A"/>
                </a:solidFill>
                <a:effectLst/>
              </a:rPr>
              <a:t> </a:t>
            </a:r>
            <a:r>
              <a:rPr lang="fr-BE" sz="2000" dirty="0"/>
              <a:t>sur les objets créés (utilisez le polymorphisme).</a:t>
            </a:r>
            <a:endParaRPr lang="fr-FR" sz="2000" dirty="0"/>
          </a:p>
        </p:txBody>
      </p:sp>
      <p:pic>
        <p:nvPicPr>
          <p:cNvPr id="1026" name="Picture 2" descr="blog-nutrition-outlet">
            <a:extLst>
              <a:ext uri="{FF2B5EF4-FFF2-40B4-BE49-F238E27FC236}">
                <a16:creationId xmlns:a16="http://schemas.microsoft.com/office/drawing/2014/main" id="{9F7669FB-8553-A044-8BC2-6E9BE5DE2F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4905559B-DE9D-9A32-5FFA-9B27632852A9}"/>
              </a:ext>
            </a:extLst>
          </p:cNvPr>
          <p:cNvSpPr>
            <a:spLocks noGrp="1"/>
          </p:cNvSpPr>
          <p:nvPr>
            <p:ph type="sldNum" sz="quarter" idx="4"/>
          </p:nvPr>
        </p:nvSpPr>
        <p:spPr/>
        <p:txBody>
          <a:bodyPr/>
          <a:lstStyle/>
          <a:p>
            <a:fld id="{33C783E2-4793-4F48-A271-51A73CC37D74}" type="slidenum">
              <a:rPr lang="fr-FR" smtClean="0"/>
              <a:t>5</a:t>
            </a:fld>
            <a:endParaRPr lang="fr-FR"/>
          </a:p>
        </p:txBody>
      </p:sp>
    </p:spTree>
    <p:extLst>
      <p:ext uri="{BB962C8B-B14F-4D97-AF65-F5344CB8AC3E}">
        <p14:creationId xmlns:p14="http://schemas.microsoft.com/office/powerpoint/2010/main" val="3499123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16</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a:xfrm>
            <a:off x="838199" y="1825625"/>
            <a:ext cx="10651435" cy="4351338"/>
          </a:xfrm>
        </p:spPr>
        <p:txBody>
          <a:bodyPr>
            <a:noAutofit/>
          </a:bodyPr>
          <a:lstStyle/>
          <a:p>
            <a:r>
              <a:rPr lang="fr-FR" sz="2000" noProof="0" dirty="0"/>
              <a:t>Le programme utilise pour le moment la classe </a:t>
            </a:r>
            <a:r>
              <a:rPr lang="fr-FR" sz="1800" noProof="0" dirty="0" err="1">
                <a:solidFill>
                  <a:schemeClr val="accent4"/>
                </a:solidFill>
                <a:latin typeface="Consolas" panose="020B0609020204030204" pitchFamily="49" charset="0"/>
                <a:cs typeface="Consolas" panose="020B0609020204030204" pitchFamily="49" charset="0"/>
              </a:rPr>
              <a:t>VisualiseurFricEnVrac</a:t>
            </a:r>
            <a:r>
              <a:rPr lang="fr-FR" sz="2000" noProof="0" dirty="0"/>
              <a:t>. </a:t>
            </a:r>
            <a:r>
              <a:rPr lang="fr-FR" sz="2000" dirty="0"/>
              <a:t>Vous disposez aussi du data provider de la banque </a:t>
            </a:r>
            <a:r>
              <a:rPr lang="fr-FR" sz="2000" dirty="0" err="1"/>
              <a:t>BanquierPépère</a:t>
            </a:r>
            <a:r>
              <a:rPr lang="fr-FR" sz="2000" dirty="0"/>
              <a:t>, </a:t>
            </a:r>
            <a:r>
              <a:rPr lang="fr-FR" sz="1800" noProof="0" dirty="0" err="1">
                <a:solidFill>
                  <a:schemeClr val="accent4"/>
                </a:solidFill>
                <a:latin typeface="Consolas" panose="020B0609020204030204" pitchFamily="49" charset="0"/>
                <a:cs typeface="Consolas" panose="020B0609020204030204" pitchFamily="49" charset="0"/>
              </a:rPr>
              <a:t>BanquierPepereDataProvider</a:t>
            </a:r>
            <a:r>
              <a:rPr lang="fr-FR" sz="2000" noProof="0" dirty="0"/>
              <a:t>.</a:t>
            </a:r>
          </a:p>
          <a:p>
            <a:r>
              <a:rPr lang="fr-FR" sz="2000" dirty="0"/>
              <a:t>Ecrivez la classe </a:t>
            </a:r>
            <a:r>
              <a:rPr lang="fr-FR" sz="1800" dirty="0" err="1">
                <a:solidFill>
                  <a:schemeClr val="accent4"/>
                </a:solidFill>
                <a:latin typeface="Consolas" panose="020B0609020204030204" pitchFamily="49" charset="0"/>
                <a:cs typeface="Consolas" panose="020B0609020204030204" pitchFamily="49" charset="0"/>
              </a:rPr>
              <a:t>VisualiseurBanquierPepere</a:t>
            </a:r>
            <a:r>
              <a:rPr lang="fr-FR" sz="2000" dirty="0"/>
              <a:t> et utilisez la dans le programme pour récupérer les données de cette deuxième banque.</a:t>
            </a:r>
            <a:endParaRPr lang="fr-FR" sz="1200" dirty="0"/>
          </a:p>
        </p:txBody>
      </p:sp>
      <p:pic>
        <p:nvPicPr>
          <p:cNvPr id="1026" name="Picture 2" descr="blog-nutrition-outlet">
            <a:extLst>
              <a:ext uri="{FF2B5EF4-FFF2-40B4-BE49-F238E27FC236}">
                <a16:creationId xmlns:a16="http://schemas.microsoft.com/office/drawing/2014/main" id="{9F7669FB-8553-A044-8BC2-6E9BE5DE2F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24" name="ZoneTexte 23">
            <a:extLst>
              <a:ext uri="{FF2B5EF4-FFF2-40B4-BE49-F238E27FC236}">
                <a16:creationId xmlns:a16="http://schemas.microsoft.com/office/drawing/2014/main" id="{1DBE7E52-7BD7-DFE4-63F8-7D978FBF7DBD}"/>
              </a:ext>
            </a:extLst>
          </p:cNvPr>
          <p:cNvSpPr txBox="1"/>
          <p:nvPr/>
        </p:nvSpPr>
        <p:spPr>
          <a:xfrm>
            <a:off x="7897763" y="3429000"/>
            <a:ext cx="2039217" cy="307777"/>
          </a:xfrm>
          <a:prstGeom prst="rect">
            <a:avLst/>
          </a:prstGeom>
          <a:solidFill>
            <a:schemeClr val="tx1"/>
          </a:solidFill>
          <a:ln>
            <a:solidFill>
              <a:schemeClr val="bg1"/>
            </a:solidFill>
          </a:ln>
        </p:spPr>
        <p:txBody>
          <a:bodyPr wrap="square" rtlCol="0">
            <a:spAutoFit/>
          </a:bodyPr>
          <a:lstStyle/>
          <a:p>
            <a:pPr algn="ctr"/>
            <a:r>
              <a:rPr lang="fr-FR" sz="1400" dirty="0" err="1">
                <a:solidFill>
                  <a:schemeClr val="bg1"/>
                </a:solidFill>
              </a:rPr>
              <a:t>InfoCompte</a:t>
            </a:r>
            <a:endParaRPr lang="fr-FR" sz="1400" dirty="0">
              <a:solidFill>
                <a:schemeClr val="bg1"/>
              </a:solidFill>
            </a:endParaRPr>
          </a:p>
        </p:txBody>
      </p:sp>
      <p:sp>
        <p:nvSpPr>
          <p:cNvPr id="25" name="ZoneTexte 24">
            <a:extLst>
              <a:ext uri="{FF2B5EF4-FFF2-40B4-BE49-F238E27FC236}">
                <a16:creationId xmlns:a16="http://schemas.microsoft.com/office/drawing/2014/main" id="{A787368D-E83F-C47E-A40E-00054926708B}"/>
              </a:ext>
            </a:extLst>
          </p:cNvPr>
          <p:cNvSpPr txBox="1"/>
          <p:nvPr/>
        </p:nvSpPr>
        <p:spPr>
          <a:xfrm>
            <a:off x="7897763" y="3732789"/>
            <a:ext cx="2039217" cy="553998"/>
          </a:xfrm>
          <a:prstGeom prst="rect">
            <a:avLst/>
          </a:prstGeom>
          <a:solidFill>
            <a:schemeClr val="tx1"/>
          </a:solidFill>
          <a:ln>
            <a:solidFill>
              <a:schemeClr val="bg1"/>
            </a:solidFill>
          </a:ln>
        </p:spPr>
        <p:txBody>
          <a:bodyPr wrap="square" rtlCol="0">
            <a:spAutoFit/>
          </a:bodyPr>
          <a:lstStyle/>
          <a:p>
            <a:r>
              <a:rPr lang="fr-FR" sz="1000" dirty="0">
                <a:solidFill>
                  <a:schemeClr val="bg1"/>
                </a:solidFill>
              </a:rPr>
              <a:t>+ String </a:t>
            </a:r>
            <a:r>
              <a:rPr lang="fr-FR" sz="1000" dirty="0" err="1">
                <a:solidFill>
                  <a:schemeClr val="bg1"/>
                </a:solidFill>
              </a:rPr>
              <a:t>numeroDeCompte</a:t>
            </a:r>
            <a:endParaRPr lang="fr-FR" sz="1000" dirty="0">
              <a:solidFill>
                <a:schemeClr val="bg1"/>
              </a:solidFill>
            </a:endParaRPr>
          </a:p>
          <a:p>
            <a:r>
              <a:rPr lang="fr-FR" sz="1000" dirty="0">
                <a:solidFill>
                  <a:schemeClr val="bg1"/>
                </a:solidFill>
              </a:rPr>
              <a:t>+ Mouvement[] mouvement</a:t>
            </a:r>
          </a:p>
          <a:p>
            <a:r>
              <a:rPr lang="fr-FR" sz="1000" dirty="0">
                <a:solidFill>
                  <a:schemeClr val="bg1"/>
                </a:solidFill>
              </a:rPr>
              <a:t>+ </a:t>
            </a:r>
            <a:r>
              <a:rPr lang="fr-FR" sz="1000" dirty="0" err="1">
                <a:solidFill>
                  <a:schemeClr val="bg1"/>
                </a:solidFill>
              </a:rPr>
              <a:t>ajouterMouvement</a:t>
            </a:r>
            <a:r>
              <a:rPr lang="fr-FR" sz="1000" dirty="0">
                <a:solidFill>
                  <a:schemeClr val="bg1"/>
                </a:solidFill>
              </a:rPr>
              <a:t>(mouvement)</a:t>
            </a:r>
          </a:p>
        </p:txBody>
      </p:sp>
      <p:sp>
        <p:nvSpPr>
          <p:cNvPr id="22" name="ZoneTexte 21">
            <a:extLst>
              <a:ext uri="{FF2B5EF4-FFF2-40B4-BE49-F238E27FC236}">
                <a16:creationId xmlns:a16="http://schemas.microsoft.com/office/drawing/2014/main" id="{8D6B1DD4-9B44-8D67-3C7D-82485B61290F}"/>
              </a:ext>
            </a:extLst>
          </p:cNvPr>
          <p:cNvSpPr txBox="1"/>
          <p:nvPr/>
        </p:nvSpPr>
        <p:spPr>
          <a:xfrm>
            <a:off x="10063124" y="3429000"/>
            <a:ext cx="1539317" cy="307777"/>
          </a:xfrm>
          <a:prstGeom prst="rect">
            <a:avLst/>
          </a:prstGeom>
          <a:solidFill>
            <a:schemeClr val="tx1"/>
          </a:solidFill>
          <a:ln>
            <a:solidFill>
              <a:schemeClr val="bg1"/>
            </a:solidFill>
          </a:ln>
        </p:spPr>
        <p:txBody>
          <a:bodyPr wrap="square" rtlCol="0">
            <a:spAutoFit/>
          </a:bodyPr>
          <a:lstStyle/>
          <a:p>
            <a:pPr algn="ctr"/>
            <a:r>
              <a:rPr lang="fr-FR" sz="1400" dirty="0">
                <a:solidFill>
                  <a:schemeClr val="bg1"/>
                </a:solidFill>
              </a:rPr>
              <a:t>Mouvement</a:t>
            </a:r>
          </a:p>
        </p:txBody>
      </p:sp>
      <p:sp>
        <p:nvSpPr>
          <p:cNvPr id="23" name="ZoneTexte 22">
            <a:extLst>
              <a:ext uri="{FF2B5EF4-FFF2-40B4-BE49-F238E27FC236}">
                <a16:creationId xmlns:a16="http://schemas.microsoft.com/office/drawing/2014/main" id="{FBC782A5-0ED6-25B7-6757-94812799270D}"/>
              </a:ext>
            </a:extLst>
          </p:cNvPr>
          <p:cNvSpPr txBox="1"/>
          <p:nvPr/>
        </p:nvSpPr>
        <p:spPr>
          <a:xfrm>
            <a:off x="10063124" y="3732789"/>
            <a:ext cx="1539317" cy="707886"/>
          </a:xfrm>
          <a:prstGeom prst="rect">
            <a:avLst/>
          </a:prstGeom>
          <a:solidFill>
            <a:schemeClr val="tx1"/>
          </a:solidFill>
          <a:ln>
            <a:solidFill>
              <a:schemeClr val="bg1"/>
            </a:solidFill>
          </a:ln>
        </p:spPr>
        <p:txBody>
          <a:bodyPr wrap="square" rtlCol="0">
            <a:spAutoFit/>
          </a:bodyPr>
          <a:lstStyle/>
          <a:p>
            <a:r>
              <a:rPr lang="fr-FR" sz="1000" dirty="0">
                <a:solidFill>
                  <a:schemeClr val="bg1"/>
                </a:solidFill>
              </a:rPr>
              <a:t>+ </a:t>
            </a:r>
            <a:r>
              <a:rPr lang="fr-FR" sz="1000" dirty="0" err="1">
                <a:solidFill>
                  <a:schemeClr val="bg1"/>
                </a:solidFill>
              </a:rPr>
              <a:t>int</a:t>
            </a:r>
            <a:r>
              <a:rPr lang="fr-FR" sz="1000" dirty="0">
                <a:solidFill>
                  <a:schemeClr val="bg1"/>
                </a:solidFill>
              </a:rPr>
              <a:t> </a:t>
            </a:r>
            <a:r>
              <a:rPr lang="fr-FR" sz="1000" dirty="0" err="1">
                <a:solidFill>
                  <a:schemeClr val="bg1"/>
                </a:solidFill>
              </a:rPr>
              <a:t>numero</a:t>
            </a:r>
            <a:endParaRPr lang="fr-FR" sz="1000" dirty="0">
              <a:solidFill>
                <a:schemeClr val="bg1"/>
              </a:solidFill>
            </a:endParaRPr>
          </a:p>
          <a:p>
            <a:r>
              <a:rPr lang="fr-FR" sz="1000" dirty="0">
                <a:solidFill>
                  <a:schemeClr val="bg1"/>
                </a:solidFill>
              </a:rPr>
              <a:t>+ String </a:t>
            </a:r>
            <a:r>
              <a:rPr lang="fr-FR" sz="1000" dirty="0" err="1">
                <a:solidFill>
                  <a:schemeClr val="bg1"/>
                </a:solidFill>
              </a:rPr>
              <a:t>deCompte</a:t>
            </a:r>
            <a:endParaRPr lang="fr-FR" sz="1000" dirty="0">
              <a:solidFill>
                <a:schemeClr val="bg1"/>
              </a:solidFill>
            </a:endParaRPr>
          </a:p>
          <a:p>
            <a:r>
              <a:rPr lang="fr-FR" sz="1000" dirty="0">
                <a:solidFill>
                  <a:schemeClr val="bg1"/>
                </a:solidFill>
              </a:rPr>
              <a:t>+ double montant</a:t>
            </a:r>
          </a:p>
          <a:p>
            <a:r>
              <a:rPr lang="fr-FR" sz="1000" dirty="0">
                <a:solidFill>
                  <a:schemeClr val="bg1"/>
                </a:solidFill>
              </a:rPr>
              <a:t>+ String communication</a:t>
            </a:r>
          </a:p>
        </p:txBody>
      </p:sp>
      <p:sp>
        <p:nvSpPr>
          <p:cNvPr id="20" name="ZoneTexte 19">
            <a:extLst>
              <a:ext uri="{FF2B5EF4-FFF2-40B4-BE49-F238E27FC236}">
                <a16:creationId xmlns:a16="http://schemas.microsoft.com/office/drawing/2014/main" id="{4270676B-33E7-CFAF-BDD6-9CBF3413ACF6}"/>
              </a:ext>
            </a:extLst>
          </p:cNvPr>
          <p:cNvSpPr txBox="1"/>
          <p:nvPr/>
        </p:nvSpPr>
        <p:spPr>
          <a:xfrm>
            <a:off x="4973336" y="3429000"/>
            <a:ext cx="2798282" cy="307777"/>
          </a:xfrm>
          <a:prstGeom prst="rect">
            <a:avLst/>
          </a:prstGeom>
          <a:solidFill>
            <a:schemeClr val="tx1"/>
          </a:solidFill>
          <a:ln>
            <a:solidFill>
              <a:schemeClr val="bg1"/>
            </a:solidFill>
          </a:ln>
        </p:spPr>
        <p:txBody>
          <a:bodyPr wrap="square" rtlCol="0">
            <a:spAutoFit/>
          </a:bodyPr>
          <a:lstStyle/>
          <a:p>
            <a:pPr algn="ctr"/>
            <a:r>
              <a:rPr lang="fr-FR" sz="1400" dirty="0" err="1">
                <a:solidFill>
                  <a:schemeClr val="bg1"/>
                </a:solidFill>
              </a:rPr>
              <a:t>DonneeBanque</a:t>
            </a:r>
            <a:endParaRPr lang="fr-FR" sz="1400" dirty="0">
              <a:solidFill>
                <a:schemeClr val="bg1"/>
              </a:solidFill>
            </a:endParaRPr>
          </a:p>
        </p:txBody>
      </p:sp>
      <p:sp>
        <p:nvSpPr>
          <p:cNvPr id="21" name="ZoneTexte 20">
            <a:extLst>
              <a:ext uri="{FF2B5EF4-FFF2-40B4-BE49-F238E27FC236}">
                <a16:creationId xmlns:a16="http://schemas.microsoft.com/office/drawing/2014/main" id="{AE4F1785-36A5-7867-FF11-67B7FF973E48}"/>
              </a:ext>
            </a:extLst>
          </p:cNvPr>
          <p:cNvSpPr txBox="1"/>
          <p:nvPr/>
        </p:nvSpPr>
        <p:spPr>
          <a:xfrm>
            <a:off x="4973336" y="3732789"/>
            <a:ext cx="2798282" cy="553998"/>
          </a:xfrm>
          <a:prstGeom prst="rect">
            <a:avLst/>
          </a:prstGeom>
          <a:solidFill>
            <a:schemeClr val="tx1"/>
          </a:solidFill>
          <a:ln>
            <a:solidFill>
              <a:schemeClr val="bg1"/>
            </a:solidFill>
          </a:ln>
        </p:spPr>
        <p:txBody>
          <a:bodyPr wrap="square" rtlCol="0">
            <a:spAutoFit/>
          </a:bodyPr>
          <a:lstStyle/>
          <a:p>
            <a:r>
              <a:rPr lang="fr-FR" sz="1000" dirty="0">
                <a:solidFill>
                  <a:schemeClr val="bg1"/>
                </a:solidFill>
              </a:rPr>
              <a:t>+ </a:t>
            </a:r>
            <a:r>
              <a:rPr lang="fr-FR" sz="1000" dirty="0" err="1">
                <a:solidFill>
                  <a:schemeClr val="bg1"/>
                </a:solidFill>
              </a:rPr>
              <a:t>InfoCompte</a:t>
            </a:r>
            <a:r>
              <a:rPr lang="fr-FR" sz="1000" dirty="0">
                <a:solidFill>
                  <a:schemeClr val="bg1"/>
                </a:solidFill>
              </a:rPr>
              <a:t>[] </a:t>
            </a:r>
            <a:r>
              <a:rPr lang="fr-FR" sz="1000" dirty="0" err="1">
                <a:solidFill>
                  <a:schemeClr val="bg1"/>
                </a:solidFill>
              </a:rPr>
              <a:t>infoComptes</a:t>
            </a:r>
            <a:endParaRPr lang="fr-FR" sz="1000" dirty="0">
              <a:solidFill>
                <a:schemeClr val="bg1"/>
              </a:solidFill>
            </a:endParaRPr>
          </a:p>
          <a:p>
            <a:r>
              <a:rPr lang="fr-FR" sz="1000" dirty="0">
                <a:solidFill>
                  <a:schemeClr val="bg1"/>
                </a:solidFill>
              </a:rPr>
              <a:t>+ </a:t>
            </a:r>
            <a:r>
              <a:rPr lang="fr-FR" sz="1000" dirty="0" err="1">
                <a:solidFill>
                  <a:schemeClr val="bg1"/>
                </a:solidFill>
              </a:rPr>
              <a:t>creeInfoComptes</a:t>
            </a:r>
            <a:r>
              <a:rPr lang="fr-FR" sz="1000" dirty="0">
                <a:solidFill>
                  <a:schemeClr val="bg1"/>
                </a:solidFill>
              </a:rPr>
              <a:t>(</a:t>
            </a:r>
            <a:r>
              <a:rPr lang="fr-FR" sz="1000" dirty="0" err="1">
                <a:solidFill>
                  <a:schemeClr val="bg1"/>
                </a:solidFill>
              </a:rPr>
              <a:t>int</a:t>
            </a:r>
            <a:r>
              <a:rPr lang="fr-FR" sz="1000" dirty="0">
                <a:solidFill>
                  <a:schemeClr val="bg1"/>
                </a:solidFill>
              </a:rPr>
              <a:t> </a:t>
            </a:r>
            <a:r>
              <a:rPr lang="fr-FR" sz="1000" dirty="0" err="1">
                <a:solidFill>
                  <a:schemeClr val="bg1"/>
                </a:solidFill>
              </a:rPr>
              <a:t>nbComptes</a:t>
            </a:r>
            <a:r>
              <a:rPr lang="fr-FR" sz="1000" dirty="0">
                <a:solidFill>
                  <a:schemeClr val="bg1"/>
                </a:solidFill>
              </a:rPr>
              <a:t>)</a:t>
            </a:r>
          </a:p>
          <a:p>
            <a:r>
              <a:rPr lang="fr-FR" sz="1000" dirty="0">
                <a:solidFill>
                  <a:schemeClr val="bg1"/>
                </a:solidFill>
              </a:rPr>
              <a:t>+ </a:t>
            </a:r>
            <a:r>
              <a:rPr lang="fr-FR" sz="1000" dirty="0" err="1">
                <a:solidFill>
                  <a:schemeClr val="bg1"/>
                </a:solidFill>
              </a:rPr>
              <a:t>ajouteInfoCompte</a:t>
            </a:r>
            <a:r>
              <a:rPr lang="fr-FR" sz="1000" dirty="0">
                <a:solidFill>
                  <a:schemeClr val="bg1"/>
                </a:solidFill>
              </a:rPr>
              <a:t>(</a:t>
            </a:r>
            <a:r>
              <a:rPr lang="fr-FR" sz="1000" dirty="0" err="1">
                <a:solidFill>
                  <a:schemeClr val="bg1"/>
                </a:solidFill>
              </a:rPr>
              <a:t>int</a:t>
            </a:r>
            <a:r>
              <a:rPr lang="fr-FR" sz="1000" dirty="0">
                <a:solidFill>
                  <a:schemeClr val="bg1"/>
                </a:solidFill>
              </a:rPr>
              <a:t> n°, </a:t>
            </a:r>
            <a:r>
              <a:rPr lang="fr-FR" sz="1000" dirty="0" err="1">
                <a:solidFill>
                  <a:schemeClr val="bg1"/>
                </a:solidFill>
              </a:rPr>
              <a:t>Infocompte</a:t>
            </a:r>
            <a:r>
              <a:rPr lang="fr-FR" sz="1000" dirty="0">
                <a:solidFill>
                  <a:schemeClr val="bg1"/>
                </a:solidFill>
              </a:rPr>
              <a:t> info)</a:t>
            </a:r>
          </a:p>
        </p:txBody>
      </p:sp>
      <p:sp>
        <p:nvSpPr>
          <p:cNvPr id="18" name="ZoneTexte 17">
            <a:extLst>
              <a:ext uri="{FF2B5EF4-FFF2-40B4-BE49-F238E27FC236}">
                <a16:creationId xmlns:a16="http://schemas.microsoft.com/office/drawing/2014/main" id="{BCCEBD9A-C45E-5AC9-1670-83DECC4D47B8}"/>
              </a:ext>
            </a:extLst>
          </p:cNvPr>
          <p:cNvSpPr txBox="1"/>
          <p:nvPr/>
        </p:nvSpPr>
        <p:spPr>
          <a:xfrm>
            <a:off x="1971148" y="3793719"/>
            <a:ext cx="2798282" cy="307777"/>
          </a:xfrm>
          <a:prstGeom prst="rect">
            <a:avLst/>
          </a:prstGeom>
          <a:solidFill>
            <a:schemeClr val="tx1"/>
          </a:solidFill>
          <a:ln>
            <a:solidFill>
              <a:schemeClr val="bg1"/>
            </a:solidFill>
          </a:ln>
        </p:spPr>
        <p:txBody>
          <a:bodyPr wrap="square" rtlCol="0">
            <a:spAutoFit/>
          </a:bodyPr>
          <a:lstStyle/>
          <a:p>
            <a:pPr algn="ctr"/>
            <a:r>
              <a:rPr lang="fr-FR" sz="1400" i="1" dirty="0" err="1">
                <a:solidFill>
                  <a:schemeClr val="bg1"/>
                </a:solidFill>
              </a:rPr>
              <a:t>VisualiseurDeDonneesBancaires</a:t>
            </a:r>
            <a:endParaRPr lang="fr-FR" sz="1400" i="1" dirty="0">
              <a:solidFill>
                <a:schemeClr val="bg1"/>
              </a:solidFill>
            </a:endParaRPr>
          </a:p>
        </p:txBody>
      </p:sp>
      <p:sp>
        <p:nvSpPr>
          <p:cNvPr id="19" name="ZoneTexte 18">
            <a:extLst>
              <a:ext uri="{FF2B5EF4-FFF2-40B4-BE49-F238E27FC236}">
                <a16:creationId xmlns:a16="http://schemas.microsoft.com/office/drawing/2014/main" id="{310B5473-A597-E846-E136-538B8FA0148D}"/>
              </a:ext>
            </a:extLst>
          </p:cNvPr>
          <p:cNvSpPr txBox="1"/>
          <p:nvPr/>
        </p:nvSpPr>
        <p:spPr>
          <a:xfrm>
            <a:off x="1971148" y="4097508"/>
            <a:ext cx="2798282" cy="400110"/>
          </a:xfrm>
          <a:prstGeom prst="rect">
            <a:avLst/>
          </a:prstGeom>
          <a:solidFill>
            <a:schemeClr val="tx1"/>
          </a:solidFill>
          <a:ln>
            <a:solidFill>
              <a:schemeClr val="bg1"/>
            </a:solidFill>
          </a:ln>
        </p:spPr>
        <p:txBody>
          <a:bodyPr wrap="square" rtlCol="0">
            <a:spAutoFit/>
          </a:bodyPr>
          <a:lstStyle/>
          <a:p>
            <a:r>
              <a:rPr lang="fr-FR" sz="1000" i="1" dirty="0">
                <a:solidFill>
                  <a:schemeClr val="bg1"/>
                </a:solidFill>
              </a:rPr>
              <a:t>+ </a:t>
            </a:r>
            <a:r>
              <a:rPr lang="fr-FR" sz="1000" i="1" dirty="0" err="1">
                <a:solidFill>
                  <a:schemeClr val="bg1"/>
                </a:solidFill>
              </a:rPr>
              <a:t>DonneeBanque</a:t>
            </a:r>
            <a:r>
              <a:rPr lang="fr-FR" sz="1000" i="1" dirty="0">
                <a:solidFill>
                  <a:schemeClr val="bg1"/>
                </a:solidFill>
              </a:rPr>
              <a:t> </a:t>
            </a:r>
            <a:r>
              <a:rPr lang="fr-FR" sz="1000" i="1" dirty="0" err="1">
                <a:solidFill>
                  <a:schemeClr val="bg1"/>
                </a:solidFill>
              </a:rPr>
              <a:t>recupDonneeBanque</a:t>
            </a:r>
            <a:r>
              <a:rPr lang="fr-FR" sz="1000" i="1" dirty="0">
                <a:solidFill>
                  <a:schemeClr val="bg1"/>
                </a:solidFill>
              </a:rPr>
              <a:t>();</a:t>
            </a:r>
          </a:p>
          <a:p>
            <a:r>
              <a:rPr lang="fr-FR" sz="1000" dirty="0">
                <a:solidFill>
                  <a:schemeClr val="bg1"/>
                </a:solidFill>
              </a:rPr>
              <a:t>+ </a:t>
            </a:r>
            <a:r>
              <a:rPr lang="fr-FR" sz="1000" dirty="0" err="1">
                <a:solidFill>
                  <a:schemeClr val="bg1"/>
                </a:solidFill>
              </a:rPr>
              <a:t>RapportBanque</a:t>
            </a:r>
            <a:r>
              <a:rPr lang="fr-FR" sz="1000" dirty="0">
                <a:solidFill>
                  <a:schemeClr val="bg1"/>
                </a:solidFill>
              </a:rPr>
              <a:t> </a:t>
            </a:r>
            <a:r>
              <a:rPr lang="fr-FR" sz="1000" dirty="0" err="1">
                <a:solidFill>
                  <a:schemeClr val="bg1"/>
                </a:solidFill>
              </a:rPr>
              <a:t>formatData</a:t>
            </a:r>
            <a:r>
              <a:rPr lang="fr-FR" sz="1000" dirty="0">
                <a:solidFill>
                  <a:schemeClr val="bg1"/>
                </a:solidFill>
              </a:rPr>
              <a:t>()</a:t>
            </a:r>
          </a:p>
        </p:txBody>
      </p:sp>
      <p:sp>
        <p:nvSpPr>
          <p:cNvPr id="16" name="ZoneTexte 15">
            <a:extLst>
              <a:ext uri="{FF2B5EF4-FFF2-40B4-BE49-F238E27FC236}">
                <a16:creationId xmlns:a16="http://schemas.microsoft.com/office/drawing/2014/main" id="{DC9D3F31-E980-C477-5116-CBA0600E0969}"/>
              </a:ext>
            </a:extLst>
          </p:cNvPr>
          <p:cNvSpPr txBox="1"/>
          <p:nvPr/>
        </p:nvSpPr>
        <p:spPr>
          <a:xfrm>
            <a:off x="270343" y="4899451"/>
            <a:ext cx="2798282" cy="307777"/>
          </a:xfrm>
          <a:prstGeom prst="rect">
            <a:avLst/>
          </a:prstGeom>
          <a:solidFill>
            <a:schemeClr val="tx1"/>
          </a:solidFill>
          <a:ln>
            <a:solidFill>
              <a:schemeClr val="bg1"/>
            </a:solidFill>
          </a:ln>
        </p:spPr>
        <p:txBody>
          <a:bodyPr wrap="square" rtlCol="0">
            <a:spAutoFit/>
          </a:bodyPr>
          <a:lstStyle/>
          <a:p>
            <a:pPr algn="ctr"/>
            <a:r>
              <a:rPr lang="fr-FR" sz="1400" dirty="0" err="1">
                <a:solidFill>
                  <a:schemeClr val="bg1"/>
                </a:solidFill>
              </a:rPr>
              <a:t>VisualiseurFricEnVrac</a:t>
            </a:r>
            <a:endParaRPr lang="fr-FR" sz="1400" dirty="0">
              <a:solidFill>
                <a:schemeClr val="bg1"/>
              </a:solidFill>
            </a:endParaRPr>
          </a:p>
        </p:txBody>
      </p:sp>
      <p:sp>
        <p:nvSpPr>
          <p:cNvPr id="17" name="ZoneTexte 16">
            <a:extLst>
              <a:ext uri="{FF2B5EF4-FFF2-40B4-BE49-F238E27FC236}">
                <a16:creationId xmlns:a16="http://schemas.microsoft.com/office/drawing/2014/main" id="{C6DD030F-B864-094F-62AE-142012528C45}"/>
              </a:ext>
            </a:extLst>
          </p:cNvPr>
          <p:cNvSpPr txBox="1"/>
          <p:nvPr/>
        </p:nvSpPr>
        <p:spPr>
          <a:xfrm>
            <a:off x="270343" y="5203240"/>
            <a:ext cx="2798282" cy="246221"/>
          </a:xfrm>
          <a:prstGeom prst="rect">
            <a:avLst/>
          </a:prstGeom>
          <a:solidFill>
            <a:schemeClr val="tx1"/>
          </a:solidFill>
          <a:ln>
            <a:solidFill>
              <a:schemeClr val="bg1"/>
            </a:solidFill>
          </a:ln>
        </p:spPr>
        <p:txBody>
          <a:bodyPr wrap="square" rtlCol="0">
            <a:spAutoFit/>
          </a:bodyPr>
          <a:lstStyle/>
          <a:p>
            <a:r>
              <a:rPr lang="fr-FR" sz="1000" dirty="0">
                <a:solidFill>
                  <a:schemeClr val="bg1"/>
                </a:solidFill>
              </a:rPr>
              <a:t>+ </a:t>
            </a:r>
            <a:r>
              <a:rPr lang="fr-FR" sz="1000" dirty="0" err="1">
                <a:solidFill>
                  <a:schemeClr val="bg1"/>
                </a:solidFill>
              </a:rPr>
              <a:t>DonnéeBanque</a:t>
            </a:r>
            <a:r>
              <a:rPr lang="fr-FR" sz="1000" dirty="0">
                <a:solidFill>
                  <a:schemeClr val="bg1"/>
                </a:solidFill>
              </a:rPr>
              <a:t> </a:t>
            </a:r>
            <a:r>
              <a:rPr lang="fr-FR" sz="1000" dirty="0" err="1">
                <a:solidFill>
                  <a:schemeClr val="bg1"/>
                </a:solidFill>
              </a:rPr>
              <a:t>recupDonneeBanque</a:t>
            </a:r>
            <a:r>
              <a:rPr lang="fr-FR" sz="1000" dirty="0">
                <a:solidFill>
                  <a:schemeClr val="bg1"/>
                </a:solidFill>
              </a:rPr>
              <a:t>()</a:t>
            </a:r>
          </a:p>
        </p:txBody>
      </p:sp>
      <p:cxnSp>
        <p:nvCxnSpPr>
          <p:cNvPr id="12" name="Connecteur droit avec flèche 11">
            <a:extLst>
              <a:ext uri="{FF2B5EF4-FFF2-40B4-BE49-F238E27FC236}">
                <a16:creationId xmlns:a16="http://schemas.microsoft.com/office/drawing/2014/main" id="{3CBD7323-9487-105F-B147-35896355E0B9}"/>
              </a:ext>
            </a:extLst>
          </p:cNvPr>
          <p:cNvCxnSpPr>
            <a:cxnSpLocks/>
            <a:stCxn id="16" idx="0"/>
            <a:endCxn id="19" idx="2"/>
          </p:cNvCxnSpPr>
          <p:nvPr/>
        </p:nvCxnSpPr>
        <p:spPr>
          <a:xfrm flipV="1">
            <a:off x="1669484" y="4497618"/>
            <a:ext cx="1700805" cy="401833"/>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11DAD0BE-FAF0-C700-1017-724AE2DCEC6B}"/>
              </a:ext>
            </a:extLst>
          </p:cNvPr>
          <p:cNvSpPr txBox="1"/>
          <p:nvPr/>
        </p:nvSpPr>
        <p:spPr>
          <a:xfrm>
            <a:off x="537530" y="5507380"/>
            <a:ext cx="2263909" cy="307777"/>
          </a:xfrm>
          <a:prstGeom prst="rect">
            <a:avLst/>
          </a:prstGeom>
          <a:solidFill>
            <a:schemeClr val="tx1"/>
          </a:solidFill>
          <a:ln>
            <a:solidFill>
              <a:schemeClr val="bg1"/>
            </a:solidFill>
          </a:ln>
        </p:spPr>
        <p:txBody>
          <a:bodyPr wrap="square" rtlCol="0">
            <a:spAutoFit/>
          </a:bodyPr>
          <a:lstStyle/>
          <a:p>
            <a:pPr algn="ctr"/>
            <a:r>
              <a:rPr lang="fr-FR" sz="1400" dirty="0" err="1">
                <a:solidFill>
                  <a:schemeClr val="bg1"/>
                </a:solidFill>
              </a:rPr>
              <a:t>FricEnVracDataProvider</a:t>
            </a:r>
            <a:endParaRPr lang="fr-FR" sz="1400" dirty="0">
              <a:solidFill>
                <a:schemeClr val="bg1"/>
              </a:solidFill>
            </a:endParaRPr>
          </a:p>
        </p:txBody>
      </p:sp>
      <p:sp>
        <p:nvSpPr>
          <p:cNvPr id="15" name="ZoneTexte 14">
            <a:extLst>
              <a:ext uri="{FF2B5EF4-FFF2-40B4-BE49-F238E27FC236}">
                <a16:creationId xmlns:a16="http://schemas.microsoft.com/office/drawing/2014/main" id="{2E7142DF-B059-643E-BB16-EAEB5B109590}"/>
              </a:ext>
            </a:extLst>
          </p:cNvPr>
          <p:cNvSpPr txBox="1"/>
          <p:nvPr/>
        </p:nvSpPr>
        <p:spPr>
          <a:xfrm>
            <a:off x="537530" y="5811169"/>
            <a:ext cx="2263909" cy="246221"/>
          </a:xfrm>
          <a:prstGeom prst="rect">
            <a:avLst/>
          </a:prstGeom>
          <a:solidFill>
            <a:schemeClr val="tx1"/>
          </a:solidFill>
          <a:ln>
            <a:solidFill>
              <a:schemeClr val="bg1"/>
            </a:solidFill>
          </a:ln>
        </p:spPr>
        <p:txBody>
          <a:bodyPr wrap="square" rtlCol="0">
            <a:spAutoFit/>
          </a:bodyPr>
          <a:lstStyle/>
          <a:p>
            <a:r>
              <a:rPr lang="fr-FR" sz="1000" dirty="0">
                <a:solidFill>
                  <a:schemeClr val="bg1"/>
                </a:solidFill>
              </a:rPr>
              <a:t>+ String[][] </a:t>
            </a:r>
            <a:r>
              <a:rPr lang="fr-FR" sz="1000" dirty="0" err="1">
                <a:solidFill>
                  <a:schemeClr val="bg1"/>
                </a:solidFill>
              </a:rPr>
              <a:t>provideBankData</a:t>
            </a:r>
            <a:r>
              <a:rPr lang="fr-FR" sz="1000" dirty="0">
                <a:solidFill>
                  <a:schemeClr val="bg1"/>
                </a:solidFill>
              </a:rPr>
              <a:t>()</a:t>
            </a:r>
          </a:p>
        </p:txBody>
      </p:sp>
      <p:sp>
        <p:nvSpPr>
          <p:cNvPr id="28" name="ZoneTexte 27">
            <a:extLst>
              <a:ext uri="{FF2B5EF4-FFF2-40B4-BE49-F238E27FC236}">
                <a16:creationId xmlns:a16="http://schemas.microsoft.com/office/drawing/2014/main" id="{32F2A55A-8103-5DDF-A2BF-0FB2F305875C}"/>
              </a:ext>
            </a:extLst>
          </p:cNvPr>
          <p:cNvSpPr txBox="1"/>
          <p:nvPr/>
        </p:nvSpPr>
        <p:spPr>
          <a:xfrm>
            <a:off x="3370289" y="4899451"/>
            <a:ext cx="2798282" cy="307777"/>
          </a:xfrm>
          <a:prstGeom prst="rect">
            <a:avLst/>
          </a:prstGeom>
          <a:solidFill>
            <a:schemeClr val="accent4"/>
          </a:solidFill>
          <a:ln>
            <a:solidFill>
              <a:srgbClr val="296BA6"/>
            </a:solidFill>
          </a:ln>
        </p:spPr>
        <p:txBody>
          <a:bodyPr wrap="square" rtlCol="0">
            <a:spAutoFit/>
          </a:bodyPr>
          <a:lstStyle/>
          <a:p>
            <a:pPr algn="ctr"/>
            <a:r>
              <a:rPr lang="fr-BE" sz="1400" dirty="0" err="1">
                <a:solidFill>
                  <a:srgbClr val="296BA6"/>
                </a:solidFill>
              </a:rPr>
              <a:t>VisualiseurBanquierPepere</a:t>
            </a:r>
            <a:endParaRPr lang="fr-FR" sz="1400" dirty="0">
              <a:solidFill>
                <a:srgbClr val="296BA6"/>
              </a:solidFill>
            </a:endParaRPr>
          </a:p>
        </p:txBody>
      </p:sp>
      <p:sp>
        <p:nvSpPr>
          <p:cNvPr id="29" name="ZoneTexte 28">
            <a:extLst>
              <a:ext uri="{FF2B5EF4-FFF2-40B4-BE49-F238E27FC236}">
                <a16:creationId xmlns:a16="http://schemas.microsoft.com/office/drawing/2014/main" id="{C2FB245A-FA81-F362-6FDD-32FB5F158195}"/>
              </a:ext>
            </a:extLst>
          </p:cNvPr>
          <p:cNvSpPr txBox="1"/>
          <p:nvPr/>
        </p:nvSpPr>
        <p:spPr>
          <a:xfrm>
            <a:off x="3370289" y="5203240"/>
            <a:ext cx="2798282" cy="246221"/>
          </a:xfrm>
          <a:prstGeom prst="rect">
            <a:avLst/>
          </a:prstGeom>
          <a:solidFill>
            <a:schemeClr val="accent4"/>
          </a:solidFill>
          <a:ln>
            <a:solidFill>
              <a:srgbClr val="296BA6"/>
            </a:solidFill>
          </a:ln>
        </p:spPr>
        <p:txBody>
          <a:bodyPr wrap="square" rtlCol="0">
            <a:spAutoFit/>
          </a:bodyPr>
          <a:lstStyle/>
          <a:p>
            <a:r>
              <a:rPr lang="fr-FR" sz="1000" dirty="0">
                <a:solidFill>
                  <a:srgbClr val="296BA6"/>
                </a:solidFill>
              </a:rPr>
              <a:t>+ </a:t>
            </a:r>
            <a:r>
              <a:rPr lang="fr-FR" sz="1000" dirty="0" err="1">
                <a:solidFill>
                  <a:srgbClr val="296BA6"/>
                </a:solidFill>
              </a:rPr>
              <a:t>DonnéeBanque</a:t>
            </a:r>
            <a:r>
              <a:rPr lang="fr-FR" sz="1000" dirty="0">
                <a:solidFill>
                  <a:srgbClr val="296BA6"/>
                </a:solidFill>
              </a:rPr>
              <a:t> </a:t>
            </a:r>
            <a:r>
              <a:rPr lang="fr-FR" sz="1000" dirty="0" err="1">
                <a:solidFill>
                  <a:srgbClr val="296BA6"/>
                </a:solidFill>
              </a:rPr>
              <a:t>recupDonneeBanque</a:t>
            </a:r>
            <a:r>
              <a:rPr lang="fr-FR" sz="1000" dirty="0">
                <a:solidFill>
                  <a:srgbClr val="296BA6"/>
                </a:solidFill>
              </a:rPr>
              <a:t>()</a:t>
            </a:r>
          </a:p>
        </p:txBody>
      </p:sp>
      <p:grpSp>
        <p:nvGrpSpPr>
          <p:cNvPr id="35" name="Groupe 34">
            <a:extLst>
              <a:ext uri="{FF2B5EF4-FFF2-40B4-BE49-F238E27FC236}">
                <a16:creationId xmlns:a16="http://schemas.microsoft.com/office/drawing/2014/main" id="{955245F5-B61E-9E6E-2A9A-0C768A6195A8}"/>
              </a:ext>
            </a:extLst>
          </p:cNvPr>
          <p:cNvGrpSpPr/>
          <p:nvPr/>
        </p:nvGrpSpPr>
        <p:grpSpPr>
          <a:xfrm>
            <a:off x="3537419" y="5562401"/>
            <a:ext cx="2580444" cy="502304"/>
            <a:chOff x="3637476" y="5507380"/>
            <a:chExt cx="2263909" cy="502304"/>
          </a:xfrm>
          <a:solidFill>
            <a:schemeClr val="tx1"/>
          </a:solidFill>
        </p:grpSpPr>
        <p:sp>
          <p:nvSpPr>
            <p:cNvPr id="30" name="ZoneTexte 29">
              <a:extLst>
                <a:ext uri="{FF2B5EF4-FFF2-40B4-BE49-F238E27FC236}">
                  <a16:creationId xmlns:a16="http://schemas.microsoft.com/office/drawing/2014/main" id="{754AE061-2AE0-BE3C-8D04-473272C5E9DF}"/>
                </a:ext>
              </a:extLst>
            </p:cNvPr>
            <p:cNvSpPr txBox="1"/>
            <p:nvPr/>
          </p:nvSpPr>
          <p:spPr>
            <a:xfrm>
              <a:off x="3637476" y="5507380"/>
              <a:ext cx="2263909" cy="261610"/>
            </a:xfrm>
            <a:prstGeom prst="rect">
              <a:avLst/>
            </a:prstGeom>
            <a:grpFill/>
            <a:ln>
              <a:solidFill>
                <a:schemeClr val="bg1"/>
              </a:solidFill>
            </a:ln>
          </p:spPr>
          <p:txBody>
            <a:bodyPr wrap="square" rtlCol="0">
              <a:spAutoFit/>
            </a:bodyPr>
            <a:lstStyle/>
            <a:p>
              <a:pPr algn="ctr"/>
              <a:r>
                <a:rPr lang="fr-FR" sz="1100" dirty="0" err="1">
                  <a:solidFill>
                    <a:schemeClr val="bg1"/>
                  </a:solidFill>
                </a:rPr>
                <a:t>BanquierPepereDataProvider</a:t>
              </a:r>
              <a:endParaRPr lang="fr-FR" sz="1100" dirty="0">
                <a:solidFill>
                  <a:schemeClr val="bg1"/>
                </a:solidFill>
              </a:endParaRPr>
            </a:p>
          </p:txBody>
        </p:sp>
        <p:sp>
          <p:nvSpPr>
            <p:cNvPr id="31" name="ZoneTexte 30">
              <a:extLst>
                <a:ext uri="{FF2B5EF4-FFF2-40B4-BE49-F238E27FC236}">
                  <a16:creationId xmlns:a16="http://schemas.microsoft.com/office/drawing/2014/main" id="{9981092C-706D-4720-B813-90F30105F63D}"/>
                </a:ext>
              </a:extLst>
            </p:cNvPr>
            <p:cNvSpPr txBox="1"/>
            <p:nvPr/>
          </p:nvSpPr>
          <p:spPr>
            <a:xfrm>
              <a:off x="3637476" y="5763463"/>
              <a:ext cx="2263909" cy="246221"/>
            </a:xfrm>
            <a:prstGeom prst="rect">
              <a:avLst/>
            </a:prstGeom>
            <a:grpFill/>
            <a:ln>
              <a:solidFill>
                <a:schemeClr val="bg1"/>
              </a:solidFill>
            </a:ln>
          </p:spPr>
          <p:txBody>
            <a:bodyPr wrap="square" rtlCol="0">
              <a:spAutoFit/>
            </a:bodyPr>
            <a:lstStyle/>
            <a:p>
              <a:r>
                <a:rPr lang="fr-FR" sz="1000" dirty="0">
                  <a:solidFill>
                    <a:schemeClr val="bg1"/>
                  </a:solidFill>
                </a:rPr>
                <a:t>+ String[][] </a:t>
              </a:r>
              <a:r>
                <a:rPr lang="fr-FR" sz="1000" dirty="0" err="1">
                  <a:solidFill>
                    <a:schemeClr val="bg1"/>
                  </a:solidFill>
                </a:rPr>
                <a:t>provideBankData</a:t>
              </a:r>
              <a:r>
                <a:rPr lang="fr-FR" sz="1000" dirty="0">
                  <a:solidFill>
                    <a:schemeClr val="bg1"/>
                  </a:solidFill>
                </a:rPr>
                <a:t>()</a:t>
              </a:r>
            </a:p>
          </p:txBody>
        </p:sp>
      </p:grpSp>
      <p:cxnSp>
        <p:nvCxnSpPr>
          <p:cNvPr id="32" name="Connecteur droit avec flèche 31">
            <a:extLst>
              <a:ext uri="{FF2B5EF4-FFF2-40B4-BE49-F238E27FC236}">
                <a16:creationId xmlns:a16="http://schemas.microsoft.com/office/drawing/2014/main" id="{293654FE-54AB-6C3C-0C1C-1245F72B69C0}"/>
              </a:ext>
            </a:extLst>
          </p:cNvPr>
          <p:cNvCxnSpPr>
            <a:cxnSpLocks/>
            <a:stCxn id="28" idx="0"/>
            <a:endCxn id="19" idx="2"/>
          </p:cNvCxnSpPr>
          <p:nvPr/>
        </p:nvCxnSpPr>
        <p:spPr>
          <a:xfrm flipH="1" flipV="1">
            <a:off x="3370289" y="4497618"/>
            <a:ext cx="1399141" cy="401833"/>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Espace réservé du numéro de diapositive 3">
            <a:extLst>
              <a:ext uri="{FF2B5EF4-FFF2-40B4-BE49-F238E27FC236}">
                <a16:creationId xmlns:a16="http://schemas.microsoft.com/office/drawing/2014/main" id="{271C368C-BDAD-E6FF-3BBC-4CA75799A2BF}"/>
              </a:ext>
            </a:extLst>
          </p:cNvPr>
          <p:cNvSpPr>
            <a:spLocks noGrp="1"/>
          </p:cNvSpPr>
          <p:nvPr>
            <p:ph type="sldNum" sz="quarter" idx="4"/>
          </p:nvPr>
        </p:nvSpPr>
        <p:spPr/>
        <p:txBody>
          <a:bodyPr/>
          <a:lstStyle/>
          <a:p>
            <a:fld id="{33C783E2-4793-4F48-A271-51A73CC37D74}" type="slidenum">
              <a:rPr lang="fr-FR" smtClean="0"/>
              <a:t>6</a:t>
            </a:fld>
            <a:endParaRPr lang="fr-FR"/>
          </a:p>
        </p:txBody>
      </p:sp>
    </p:spTree>
    <p:extLst>
      <p:ext uri="{BB962C8B-B14F-4D97-AF65-F5344CB8AC3E}">
        <p14:creationId xmlns:p14="http://schemas.microsoft.com/office/powerpoint/2010/main" val="1532208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4DDBB-9776-A751-1BAE-D5FE037154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CDDEE6-EDF1-1664-FF94-391DDC770C5E}"/>
              </a:ext>
            </a:extLst>
          </p:cNvPr>
          <p:cNvSpPr>
            <a:spLocks noGrp="1"/>
          </p:cNvSpPr>
          <p:nvPr>
            <p:ph type="title"/>
          </p:nvPr>
        </p:nvSpPr>
        <p:spPr/>
        <p:txBody>
          <a:bodyPr/>
          <a:lstStyle/>
          <a:p>
            <a:r>
              <a:rPr lang="fr-FR" dirty="0"/>
              <a:t>Exercice 17</a:t>
            </a:r>
          </a:p>
        </p:txBody>
      </p:sp>
      <p:sp>
        <p:nvSpPr>
          <p:cNvPr id="3" name="Espace réservé du contenu 2">
            <a:extLst>
              <a:ext uri="{FF2B5EF4-FFF2-40B4-BE49-F238E27FC236}">
                <a16:creationId xmlns:a16="http://schemas.microsoft.com/office/drawing/2014/main" id="{EE8C92C1-B6FB-78FE-D9A9-A32FCE704AF2}"/>
              </a:ext>
            </a:extLst>
          </p:cNvPr>
          <p:cNvSpPr>
            <a:spLocks noGrp="1"/>
          </p:cNvSpPr>
          <p:nvPr>
            <p:ph idx="1"/>
          </p:nvPr>
        </p:nvSpPr>
        <p:spPr>
          <a:xfrm>
            <a:off x="838199" y="1825625"/>
            <a:ext cx="10651435" cy="4351338"/>
          </a:xfrm>
        </p:spPr>
        <p:txBody>
          <a:bodyPr>
            <a:noAutofit/>
          </a:bodyPr>
          <a:lstStyle/>
          <a:p>
            <a:pPr marL="0" indent="0">
              <a:buNone/>
            </a:pPr>
            <a:r>
              <a:rPr lang="fr-FR" sz="2000" noProof="0" dirty="0"/>
              <a:t>Vous devez créer une interface et deux classes qui implémentent cette interface, puis les utiliser.</a:t>
            </a:r>
          </a:p>
          <a:p>
            <a:pPr marL="457200" indent="-457200">
              <a:buFont typeface="+mj-lt"/>
              <a:buAutoNum type="arabicPeriod"/>
            </a:pPr>
            <a:r>
              <a:rPr lang="fr-FR" sz="2000" dirty="0"/>
              <a:t>Vous définissez l’interface </a:t>
            </a:r>
            <a:r>
              <a:rPr lang="fr-FR" sz="1800" dirty="0">
                <a:solidFill>
                  <a:schemeClr val="accent4"/>
                </a:solidFill>
                <a:latin typeface="Consolas" panose="020B0609020204030204" pitchFamily="49" charset="0"/>
                <a:cs typeface="Consolas" panose="020B0609020204030204" pitchFamily="49" charset="0"/>
              </a:rPr>
              <a:t>Calculateur</a:t>
            </a:r>
            <a:r>
              <a:rPr lang="fr-FR" sz="2000" dirty="0"/>
              <a:t>.</a:t>
            </a:r>
            <a:br>
              <a:rPr lang="fr-FR" sz="2000" dirty="0"/>
            </a:br>
            <a:r>
              <a:rPr lang="fr-FR" sz="2000" dirty="0"/>
              <a:t>Elle présente la méthode </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calcule(</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a, </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b)</a:t>
            </a:r>
            <a:r>
              <a:rPr lang="fr-FR" sz="2000" dirty="0"/>
              <a:t> qui effectue un calcul sur les deux nombres reçus.</a:t>
            </a:r>
          </a:p>
          <a:p>
            <a:pPr marL="457200" indent="-457200">
              <a:buFont typeface="+mj-lt"/>
              <a:buAutoNum type="arabicPeriod"/>
            </a:pPr>
            <a:r>
              <a:rPr lang="fr-FR" sz="2000" noProof="0" dirty="0"/>
              <a:t>Définissez également deux classes </a:t>
            </a:r>
            <a:r>
              <a:rPr lang="fr-FR" sz="1800" dirty="0">
                <a:solidFill>
                  <a:schemeClr val="accent4"/>
                </a:solidFill>
                <a:latin typeface="Consolas" panose="020B0609020204030204" pitchFamily="49" charset="0"/>
                <a:cs typeface="Consolas" panose="020B0609020204030204" pitchFamily="49" charset="0"/>
              </a:rPr>
              <a:t>Addition</a:t>
            </a:r>
            <a:r>
              <a:rPr lang="fr-FR" sz="2000" noProof="0" dirty="0"/>
              <a:t> et </a:t>
            </a:r>
            <a:r>
              <a:rPr lang="fr-FR" sz="1800" dirty="0">
                <a:solidFill>
                  <a:schemeClr val="accent4"/>
                </a:solidFill>
                <a:latin typeface="Consolas" panose="020B0609020204030204" pitchFamily="49" charset="0"/>
                <a:cs typeface="Consolas" panose="020B0609020204030204" pitchFamily="49" charset="0"/>
              </a:rPr>
              <a:t>Multiplication</a:t>
            </a:r>
            <a:r>
              <a:rPr lang="fr-FR" sz="2000" noProof="0" dirty="0"/>
              <a:t>, qui implémentent l’interface </a:t>
            </a:r>
            <a:r>
              <a:rPr lang="fr-FR" sz="1800" dirty="0">
                <a:solidFill>
                  <a:schemeClr val="accent4"/>
                </a:solidFill>
                <a:latin typeface="Consolas" panose="020B0609020204030204" pitchFamily="49" charset="0"/>
                <a:cs typeface="Consolas" panose="020B0609020204030204" pitchFamily="49" charset="0"/>
              </a:rPr>
              <a:t>Calculateur</a:t>
            </a:r>
            <a:r>
              <a:rPr lang="fr-FR" sz="2000" noProof="0" dirty="0"/>
              <a:t> en définissant la méthode </a:t>
            </a:r>
            <a:r>
              <a:rPr lang="fr-FR" sz="1800" dirty="0">
                <a:solidFill>
                  <a:schemeClr val="accent4"/>
                </a:solidFill>
                <a:latin typeface="Consolas" panose="020B0609020204030204" pitchFamily="49" charset="0"/>
                <a:cs typeface="Consolas" panose="020B0609020204030204" pitchFamily="49" charset="0"/>
              </a:rPr>
              <a:t>calcule</a:t>
            </a:r>
            <a:r>
              <a:rPr lang="fr-FR" sz="2000" noProof="0" dirty="0"/>
              <a:t> de manière appropriée.</a:t>
            </a:r>
            <a:endParaRPr lang="fr-FR" sz="1800" noProof="0" dirty="0"/>
          </a:p>
          <a:p>
            <a:pPr marL="342900" indent="-342900">
              <a:buFont typeface="+mj-lt"/>
              <a:buAutoNum type="arabicPeriod"/>
            </a:pPr>
            <a:r>
              <a:rPr lang="fr-FR" sz="2000" dirty="0"/>
              <a:t>Enfin, écrivez une classe </a:t>
            </a:r>
            <a:r>
              <a:rPr lang="fr-FR" sz="1800" dirty="0">
                <a:solidFill>
                  <a:schemeClr val="accent4"/>
                </a:solidFill>
                <a:latin typeface="Consolas" panose="020B0609020204030204" pitchFamily="49" charset="0"/>
                <a:cs typeface="Consolas" panose="020B0609020204030204" pitchFamily="49" charset="0"/>
              </a:rPr>
              <a:t>Programme</a:t>
            </a:r>
            <a:r>
              <a:rPr lang="fr-FR" sz="2000" dirty="0"/>
              <a:t> qui présente les méthodes suivantes:</a:t>
            </a:r>
          </a:p>
          <a:p>
            <a:pPr lvl="1"/>
            <a:r>
              <a:rPr lang="fr-FR" sz="2000" dirty="0"/>
              <a:t>Une méthode </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a:t>
            </a:r>
            <a:r>
              <a:rPr lang="fr-FR" sz="1800" dirty="0" err="1">
                <a:solidFill>
                  <a:schemeClr val="accent4"/>
                </a:solidFill>
                <a:latin typeface="Consolas" panose="020B0609020204030204" pitchFamily="49" charset="0"/>
                <a:cs typeface="Consolas" panose="020B0609020204030204" pitchFamily="49" charset="0"/>
              </a:rPr>
              <a:t>effectueCalcul</a:t>
            </a:r>
            <a:r>
              <a:rPr lang="fr-FR" sz="1800" dirty="0">
                <a:solidFill>
                  <a:schemeClr val="accent4"/>
                </a:solidFill>
                <a:latin typeface="Consolas" panose="020B0609020204030204" pitchFamily="49" charset="0"/>
                <a:cs typeface="Consolas" panose="020B0609020204030204" pitchFamily="49" charset="0"/>
              </a:rPr>
              <a:t>(</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a, </a:t>
            </a:r>
            <a:r>
              <a:rPr lang="fr-FR" sz="1800" dirty="0" err="1">
                <a:solidFill>
                  <a:schemeClr val="accent4"/>
                </a:solidFill>
                <a:latin typeface="Consolas" panose="020B0609020204030204" pitchFamily="49" charset="0"/>
                <a:cs typeface="Consolas" panose="020B0609020204030204" pitchFamily="49" charset="0"/>
              </a:rPr>
              <a:t>int</a:t>
            </a:r>
            <a:r>
              <a:rPr lang="fr-FR" sz="1800" dirty="0">
                <a:solidFill>
                  <a:schemeClr val="accent4"/>
                </a:solidFill>
                <a:latin typeface="Consolas" panose="020B0609020204030204" pitchFamily="49" charset="0"/>
                <a:cs typeface="Consolas" panose="020B0609020204030204" pitchFamily="49" charset="0"/>
              </a:rPr>
              <a:t> b, Calculateur calculateur)</a:t>
            </a:r>
            <a:r>
              <a:rPr lang="fr-FR" sz="2000" dirty="0"/>
              <a:t> qui effectue un calcul à l’aide </a:t>
            </a:r>
            <a:r>
              <a:rPr lang="fr-FR" sz="1800" dirty="0">
                <a:solidFill>
                  <a:schemeClr val="accent4"/>
                </a:solidFill>
                <a:latin typeface="Consolas" panose="020B0609020204030204" pitchFamily="49" charset="0"/>
                <a:cs typeface="Consolas" panose="020B0609020204030204" pitchFamily="49" charset="0"/>
              </a:rPr>
              <a:t>Calculateur</a:t>
            </a:r>
            <a:r>
              <a:rPr lang="fr-FR" sz="2000" dirty="0"/>
              <a:t> du reçu en paramètre.</a:t>
            </a:r>
          </a:p>
          <a:p>
            <a:pPr lvl="1"/>
            <a:r>
              <a:rPr lang="fr-FR" sz="2000" dirty="0"/>
              <a:t>Une méthode </a:t>
            </a:r>
            <a:r>
              <a:rPr lang="fr-FR" sz="1800" dirty="0">
                <a:solidFill>
                  <a:schemeClr val="accent4"/>
                </a:solidFill>
                <a:latin typeface="Consolas" panose="020B0609020204030204" pitchFamily="49" charset="0"/>
                <a:cs typeface="Consolas" panose="020B0609020204030204" pitchFamily="49" charset="0"/>
              </a:rPr>
              <a:t>main</a:t>
            </a:r>
            <a:r>
              <a:rPr lang="fr-FR" sz="2000" dirty="0"/>
              <a:t> qui lance le programme, crée deux objets </a:t>
            </a:r>
            <a:r>
              <a:rPr lang="fr-FR" sz="1800" dirty="0">
                <a:solidFill>
                  <a:schemeClr val="accent4"/>
                </a:solidFill>
                <a:latin typeface="Consolas" panose="020B0609020204030204" pitchFamily="49" charset="0"/>
                <a:cs typeface="Consolas" panose="020B0609020204030204" pitchFamily="49" charset="0"/>
              </a:rPr>
              <a:t>Addition</a:t>
            </a:r>
            <a:r>
              <a:rPr lang="fr-FR" sz="2800" dirty="0"/>
              <a:t> et </a:t>
            </a:r>
            <a:r>
              <a:rPr lang="fr-FR" sz="1800" dirty="0">
                <a:solidFill>
                  <a:schemeClr val="accent4"/>
                </a:solidFill>
                <a:latin typeface="Consolas" panose="020B0609020204030204" pitchFamily="49" charset="0"/>
                <a:cs typeface="Consolas" panose="020B0609020204030204" pitchFamily="49" charset="0"/>
              </a:rPr>
              <a:t>Multiplication</a:t>
            </a:r>
            <a:r>
              <a:rPr lang="fr-FR" sz="2800" dirty="0"/>
              <a:t>, </a:t>
            </a:r>
            <a:r>
              <a:rPr lang="fr-FR" sz="2000" dirty="0"/>
              <a:t>et effectue quelques calculs</a:t>
            </a:r>
            <a:r>
              <a:rPr lang="fr-FR" sz="1600" dirty="0"/>
              <a:t>…</a:t>
            </a:r>
            <a:r>
              <a:rPr lang="fr-FR" sz="2000" dirty="0"/>
              <a:t> </a:t>
            </a:r>
            <a:endParaRPr lang="fr-FR" sz="800" dirty="0"/>
          </a:p>
        </p:txBody>
      </p:sp>
      <p:pic>
        <p:nvPicPr>
          <p:cNvPr id="1026" name="Picture 2" descr="blog-nutrition-outlet">
            <a:extLst>
              <a:ext uri="{FF2B5EF4-FFF2-40B4-BE49-F238E27FC236}">
                <a16:creationId xmlns:a16="http://schemas.microsoft.com/office/drawing/2014/main" id="{1F4A5692-6995-EAB3-1D36-E7BCBDC4FC1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DA2D6330-E82F-21C6-9F4F-01AB32BE62EB}"/>
              </a:ext>
            </a:extLst>
          </p:cNvPr>
          <p:cNvSpPr>
            <a:spLocks noGrp="1"/>
          </p:cNvSpPr>
          <p:nvPr>
            <p:ph type="sldNum" sz="quarter" idx="4"/>
          </p:nvPr>
        </p:nvSpPr>
        <p:spPr/>
        <p:txBody>
          <a:bodyPr/>
          <a:lstStyle/>
          <a:p>
            <a:fld id="{33C783E2-4793-4F48-A271-51A73CC37D74}" type="slidenum">
              <a:rPr lang="fr-FR" smtClean="0"/>
              <a:t>7</a:t>
            </a:fld>
            <a:endParaRPr lang="fr-FR"/>
          </a:p>
        </p:txBody>
      </p:sp>
    </p:spTree>
    <p:extLst>
      <p:ext uri="{BB962C8B-B14F-4D97-AF65-F5344CB8AC3E}">
        <p14:creationId xmlns:p14="http://schemas.microsoft.com/office/powerpoint/2010/main" val="326471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6BB3-1BD7-20FC-778E-0158DD2EB01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9739FC-45EC-D4CD-EBBD-84606C515B87}"/>
              </a:ext>
            </a:extLst>
          </p:cNvPr>
          <p:cNvSpPr>
            <a:spLocks noGrp="1"/>
          </p:cNvSpPr>
          <p:nvPr>
            <p:ph type="title"/>
          </p:nvPr>
        </p:nvSpPr>
        <p:spPr/>
        <p:txBody>
          <a:bodyPr/>
          <a:lstStyle/>
          <a:p>
            <a:r>
              <a:rPr lang="fr-FR" dirty="0"/>
              <a:t>Exercice 18</a:t>
            </a:r>
          </a:p>
        </p:txBody>
      </p:sp>
      <p:sp>
        <p:nvSpPr>
          <p:cNvPr id="3" name="Espace réservé du contenu 2">
            <a:extLst>
              <a:ext uri="{FF2B5EF4-FFF2-40B4-BE49-F238E27FC236}">
                <a16:creationId xmlns:a16="http://schemas.microsoft.com/office/drawing/2014/main" id="{C095FC00-EB9F-7B92-E236-455F97322DC7}"/>
              </a:ext>
            </a:extLst>
          </p:cNvPr>
          <p:cNvSpPr>
            <a:spLocks noGrp="1"/>
          </p:cNvSpPr>
          <p:nvPr>
            <p:ph idx="1"/>
          </p:nvPr>
        </p:nvSpPr>
        <p:spPr>
          <a:xfrm>
            <a:off x="838199" y="1825625"/>
            <a:ext cx="10651435" cy="4351338"/>
          </a:xfrm>
        </p:spPr>
        <p:txBody>
          <a:bodyPr>
            <a:noAutofit/>
          </a:bodyPr>
          <a:lstStyle/>
          <a:p>
            <a:pPr marL="0" indent="0">
              <a:buNone/>
            </a:pPr>
            <a:r>
              <a:rPr lang="fr-FR" sz="2000" noProof="0" dirty="0"/>
              <a:t>Vous allez maintenant écrire un petit programme permettant à des clients d’effectuer des paiements en ligne, via PayPal ou par Carte de Crédit.</a:t>
            </a:r>
          </a:p>
          <a:p>
            <a:pPr marL="457200" indent="-457200">
              <a:buFont typeface="+mj-lt"/>
              <a:buAutoNum type="arabicPeriod"/>
            </a:pPr>
            <a:r>
              <a:rPr lang="fr-FR" sz="2000" dirty="0"/>
              <a:t>Vous définissez l’interface </a:t>
            </a:r>
            <a:r>
              <a:rPr lang="fr-FR" sz="1800" dirty="0" err="1">
                <a:solidFill>
                  <a:schemeClr val="accent4"/>
                </a:solidFill>
                <a:latin typeface="Consolas" panose="020B0609020204030204" pitchFamily="49" charset="0"/>
                <a:cs typeface="Consolas" panose="020B0609020204030204" pitchFamily="49" charset="0"/>
              </a:rPr>
              <a:t>MoyenDePaiement</a:t>
            </a:r>
            <a:r>
              <a:rPr lang="fr-FR" sz="2000" dirty="0"/>
              <a:t>.</a:t>
            </a:r>
            <a:br>
              <a:rPr lang="fr-FR" sz="2000" dirty="0"/>
            </a:br>
            <a:r>
              <a:rPr lang="fr-FR" sz="2000" dirty="0"/>
              <a:t>Elle présente la méthode </a:t>
            </a:r>
            <a:r>
              <a:rPr lang="fr-FR" sz="1800" dirty="0" err="1">
                <a:solidFill>
                  <a:schemeClr val="accent4"/>
                </a:solidFill>
                <a:latin typeface="Consolas" panose="020B0609020204030204" pitchFamily="49" charset="0"/>
                <a:cs typeface="Consolas" panose="020B0609020204030204" pitchFamily="49" charset="0"/>
              </a:rPr>
              <a:t>effectuerPaiement</a:t>
            </a:r>
            <a:r>
              <a:rPr lang="fr-FR" sz="1800" dirty="0">
                <a:solidFill>
                  <a:schemeClr val="accent4"/>
                </a:solidFill>
                <a:latin typeface="Consolas" panose="020B0609020204030204" pitchFamily="49" charset="0"/>
                <a:cs typeface="Consolas" panose="020B0609020204030204" pitchFamily="49" charset="0"/>
              </a:rPr>
              <a:t>(double montant)</a:t>
            </a:r>
            <a:r>
              <a:rPr lang="fr-FR" sz="2000" dirty="0"/>
              <a:t>.</a:t>
            </a:r>
          </a:p>
          <a:p>
            <a:pPr marL="457200" indent="-457200">
              <a:buFont typeface="+mj-lt"/>
              <a:buAutoNum type="arabicPeriod"/>
            </a:pPr>
            <a:r>
              <a:rPr lang="fr-FR" sz="2000" noProof="0" dirty="0"/>
              <a:t>Définissez également deux classes </a:t>
            </a:r>
            <a:r>
              <a:rPr lang="fr-FR" sz="1800" dirty="0">
                <a:solidFill>
                  <a:schemeClr val="accent4"/>
                </a:solidFill>
                <a:latin typeface="Consolas" panose="020B0609020204030204" pitchFamily="49" charset="0"/>
                <a:cs typeface="Consolas" panose="020B0609020204030204" pitchFamily="49" charset="0"/>
              </a:rPr>
              <a:t>PayPal</a:t>
            </a:r>
            <a:r>
              <a:rPr lang="fr-FR" sz="2000" noProof="0" dirty="0"/>
              <a:t> et </a:t>
            </a:r>
            <a:r>
              <a:rPr lang="fr-FR" sz="1800" dirty="0" err="1">
                <a:solidFill>
                  <a:schemeClr val="accent4"/>
                </a:solidFill>
                <a:latin typeface="Consolas" panose="020B0609020204030204" pitchFamily="49" charset="0"/>
                <a:cs typeface="Consolas" panose="020B0609020204030204" pitchFamily="49" charset="0"/>
              </a:rPr>
              <a:t>CarteDeCredit</a:t>
            </a:r>
            <a:r>
              <a:rPr lang="fr-FR" sz="2000" noProof="0" dirty="0"/>
              <a:t>, qui implémentent l’interface </a:t>
            </a:r>
            <a:r>
              <a:rPr lang="fr-FR" sz="1800" dirty="0" err="1">
                <a:solidFill>
                  <a:schemeClr val="accent4"/>
                </a:solidFill>
                <a:latin typeface="Consolas" panose="020B0609020204030204" pitchFamily="49" charset="0"/>
                <a:cs typeface="Consolas" panose="020B0609020204030204" pitchFamily="49" charset="0"/>
              </a:rPr>
              <a:t>MoyenDePaiement</a:t>
            </a:r>
            <a:r>
              <a:rPr lang="fr-FR" sz="2000" noProof="0" dirty="0"/>
              <a:t>.</a:t>
            </a:r>
          </a:p>
          <a:p>
            <a:pPr marL="914400" lvl="1" indent="-457200">
              <a:buFont typeface="+mj-lt"/>
              <a:buAutoNum type="arabicPeriod"/>
            </a:pPr>
            <a:r>
              <a:rPr lang="fr-FR" sz="1800" dirty="0"/>
              <a:t>Pour </a:t>
            </a:r>
            <a:r>
              <a:rPr lang="fr-FR" sz="1800" dirty="0" err="1">
                <a:solidFill>
                  <a:schemeClr val="accent4"/>
                </a:solidFill>
                <a:latin typeface="Consolas" panose="020B0609020204030204" pitchFamily="49" charset="0"/>
                <a:cs typeface="Consolas" panose="020B0609020204030204" pitchFamily="49" charset="0"/>
              </a:rPr>
              <a:t>Paypal</a:t>
            </a:r>
            <a:r>
              <a:rPr lang="fr-FR" sz="1800" dirty="0"/>
              <a:t>, le paiement consiste à se connecter à </a:t>
            </a:r>
            <a:r>
              <a:rPr lang="fr-FR" sz="1800" dirty="0" err="1"/>
              <a:t>Paypal</a:t>
            </a:r>
            <a:r>
              <a:rPr lang="fr-FR" sz="1800" dirty="0"/>
              <a:t>, sélectionner un moyen de paiement et valider la transaction (les trois étapes seront affichées à l’aide de </a:t>
            </a:r>
            <a:r>
              <a:rPr lang="fr-FR" sz="1600" dirty="0" err="1">
                <a:solidFill>
                  <a:schemeClr val="accent4"/>
                </a:solidFill>
                <a:latin typeface="Consolas" panose="020B0609020204030204" pitchFamily="49" charset="0"/>
                <a:cs typeface="Consolas" panose="020B0609020204030204" pitchFamily="49" charset="0"/>
              </a:rPr>
              <a:t>System.out.println</a:t>
            </a:r>
            <a:r>
              <a:rPr lang="fr-FR" sz="1600" dirty="0">
                <a:solidFill>
                  <a:schemeClr val="accent4"/>
                </a:solidFill>
                <a:latin typeface="Consolas" panose="020B0609020204030204" pitchFamily="49" charset="0"/>
                <a:cs typeface="Consolas" panose="020B0609020204030204" pitchFamily="49" charset="0"/>
              </a:rPr>
              <a:t>()</a:t>
            </a:r>
            <a:r>
              <a:rPr lang="fr-FR" sz="1800" dirty="0"/>
              <a:t>).</a:t>
            </a:r>
          </a:p>
          <a:p>
            <a:pPr marL="914400" lvl="1" indent="-457200">
              <a:buFont typeface="+mj-lt"/>
              <a:buAutoNum type="arabicPeriod"/>
            </a:pPr>
            <a:r>
              <a:rPr lang="fr-FR" sz="1800" noProof="0" dirty="0"/>
              <a:t>Pour </a:t>
            </a:r>
            <a:r>
              <a:rPr lang="fr-FR" sz="1800" dirty="0" err="1">
                <a:solidFill>
                  <a:schemeClr val="accent4"/>
                </a:solidFill>
                <a:latin typeface="Consolas" panose="020B0609020204030204" pitchFamily="49" charset="0"/>
                <a:cs typeface="Consolas" panose="020B0609020204030204" pitchFamily="49" charset="0"/>
              </a:rPr>
              <a:t>CarteDeCredit</a:t>
            </a:r>
            <a:r>
              <a:rPr lang="fr-FR" sz="1800" noProof="0" dirty="0"/>
              <a:t>, l’utilisateur authentifie la transaction puis le paiement est exécuté (idem).</a:t>
            </a:r>
          </a:p>
          <a:p>
            <a:pPr marL="457200" indent="-457200">
              <a:buFont typeface="+mj-lt"/>
              <a:buAutoNum type="arabicPeriod"/>
            </a:pPr>
            <a:r>
              <a:rPr lang="fr-FR" sz="2000" dirty="0"/>
              <a:t>Définissez aussi une classe </a:t>
            </a:r>
            <a:r>
              <a:rPr lang="fr-FR" sz="1800" dirty="0">
                <a:solidFill>
                  <a:schemeClr val="accent4"/>
                </a:solidFill>
                <a:latin typeface="Consolas" panose="020B0609020204030204" pitchFamily="49" charset="0"/>
                <a:cs typeface="Consolas" panose="020B0609020204030204" pitchFamily="49" charset="0"/>
              </a:rPr>
              <a:t>Client</a:t>
            </a:r>
            <a:r>
              <a:rPr lang="fr-FR" sz="2000" dirty="0"/>
              <a:t> qui présente une méthode </a:t>
            </a:r>
            <a:r>
              <a:rPr lang="fr-FR" sz="1800" dirty="0" err="1">
                <a:solidFill>
                  <a:schemeClr val="accent4"/>
                </a:solidFill>
                <a:latin typeface="Consolas" panose="020B0609020204030204" pitchFamily="49" charset="0"/>
                <a:cs typeface="Consolas" panose="020B0609020204030204" pitchFamily="49" charset="0"/>
              </a:rPr>
              <a:t>executePaiement</a:t>
            </a:r>
            <a:r>
              <a:rPr lang="fr-FR" sz="1800" dirty="0">
                <a:solidFill>
                  <a:schemeClr val="accent4"/>
                </a:solidFill>
                <a:latin typeface="Consolas" panose="020B0609020204030204" pitchFamily="49" charset="0"/>
                <a:cs typeface="Consolas" panose="020B0609020204030204" pitchFamily="49" charset="0"/>
              </a:rPr>
              <a:t>(</a:t>
            </a:r>
            <a:r>
              <a:rPr lang="fr-FR" sz="1800" dirty="0" err="1">
                <a:solidFill>
                  <a:schemeClr val="accent4"/>
                </a:solidFill>
                <a:latin typeface="Consolas" panose="020B0609020204030204" pitchFamily="49" charset="0"/>
                <a:cs typeface="Consolas" panose="020B0609020204030204" pitchFamily="49" charset="0"/>
              </a:rPr>
              <a:t>MoyenDePaiement</a:t>
            </a:r>
            <a:r>
              <a:rPr lang="fr-FR" sz="1800" dirty="0">
                <a:solidFill>
                  <a:schemeClr val="accent4"/>
                </a:solidFill>
                <a:latin typeface="Consolas" panose="020B0609020204030204" pitchFamily="49" charset="0"/>
                <a:cs typeface="Consolas" panose="020B0609020204030204" pitchFamily="49" charset="0"/>
              </a:rPr>
              <a:t> </a:t>
            </a:r>
            <a:r>
              <a:rPr lang="fr-FR" sz="1800" dirty="0" err="1">
                <a:solidFill>
                  <a:schemeClr val="accent4"/>
                </a:solidFill>
                <a:latin typeface="Consolas" panose="020B0609020204030204" pitchFamily="49" charset="0"/>
                <a:cs typeface="Consolas" panose="020B0609020204030204" pitchFamily="49" charset="0"/>
              </a:rPr>
              <a:t>moyenDePaiement</a:t>
            </a:r>
            <a:r>
              <a:rPr lang="fr-FR" sz="1800" dirty="0">
                <a:solidFill>
                  <a:schemeClr val="accent4"/>
                </a:solidFill>
                <a:latin typeface="Consolas" panose="020B0609020204030204" pitchFamily="49" charset="0"/>
                <a:cs typeface="Consolas" panose="020B0609020204030204" pitchFamily="49" charset="0"/>
              </a:rPr>
              <a:t>, double montant)</a:t>
            </a:r>
            <a:r>
              <a:rPr lang="fr-FR" sz="2000" dirty="0"/>
              <a:t>.</a:t>
            </a:r>
          </a:p>
          <a:p>
            <a:pPr marL="0" indent="0">
              <a:buNone/>
            </a:pPr>
            <a:r>
              <a:rPr lang="fr-FR" sz="2000" dirty="0"/>
              <a:t>Enfin, écrivez un programme qui instancie un objet </a:t>
            </a:r>
            <a:r>
              <a:rPr lang="fr-FR" sz="1800" dirty="0" err="1">
                <a:solidFill>
                  <a:schemeClr val="accent4"/>
                </a:solidFill>
                <a:latin typeface="Consolas" panose="020B0609020204030204" pitchFamily="49" charset="0"/>
                <a:cs typeface="Consolas" panose="020B0609020204030204" pitchFamily="49" charset="0"/>
              </a:rPr>
              <a:t>Paypal</a:t>
            </a:r>
            <a:r>
              <a:rPr lang="fr-FR" sz="2000" dirty="0"/>
              <a:t>, un objet </a:t>
            </a:r>
            <a:r>
              <a:rPr lang="fr-FR" sz="1800" dirty="0" err="1">
                <a:solidFill>
                  <a:schemeClr val="accent4"/>
                </a:solidFill>
                <a:latin typeface="Consolas" panose="020B0609020204030204" pitchFamily="49" charset="0"/>
                <a:cs typeface="Consolas" panose="020B0609020204030204" pitchFamily="49" charset="0"/>
              </a:rPr>
              <a:t>CarteDeCredit</a:t>
            </a:r>
            <a:r>
              <a:rPr lang="fr-FR" sz="2000" dirty="0"/>
              <a:t> et un </a:t>
            </a:r>
            <a:r>
              <a:rPr lang="fr-FR" sz="1800" dirty="0">
                <a:solidFill>
                  <a:schemeClr val="accent4"/>
                </a:solidFill>
                <a:latin typeface="Consolas" panose="020B0609020204030204" pitchFamily="49" charset="0"/>
                <a:cs typeface="Consolas" panose="020B0609020204030204" pitchFamily="49" charset="0"/>
              </a:rPr>
              <a:t>Client</a:t>
            </a:r>
            <a:r>
              <a:rPr lang="fr-FR" sz="2000" dirty="0"/>
              <a:t>. Votre programme demande ensuite l’exécution d’un paiement par chaque moyen de paiement. </a:t>
            </a:r>
            <a:endParaRPr lang="fr-FR" sz="1200" dirty="0"/>
          </a:p>
        </p:txBody>
      </p:sp>
      <p:pic>
        <p:nvPicPr>
          <p:cNvPr id="1026" name="Picture 2" descr="blog-nutrition-outlet">
            <a:extLst>
              <a:ext uri="{FF2B5EF4-FFF2-40B4-BE49-F238E27FC236}">
                <a16:creationId xmlns:a16="http://schemas.microsoft.com/office/drawing/2014/main" id="{8A547916-AF72-BB36-9A0B-B83CB5B1A9F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numéro de diapositive 4">
            <a:extLst>
              <a:ext uri="{FF2B5EF4-FFF2-40B4-BE49-F238E27FC236}">
                <a16:creationId xmlns:a16="http://schemas.microsoft.com/office/drawing/2014/main" id="{5B7C6743-87EB-AD03-E938-1C9A381343E7}"/>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8</a:t>
            </a:fld>
            <a:endParaRPr lang="fr-FR" dirty="0"/>
          </a:p>
        </p:txBody>
      </p:sp>
    </p:spTree>
    <p:extLst>
      <p:ext uri="{BB962C8B-B14F-4D97-AF65-F5344CB8AC3E}">
        <p14:creationId xmlns:p14="http://schemas.microsoft.com/office/powerpoint/2010/main" val="2372548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19</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a:xfrm>
            <a:off x="838199" y="1825625"/>
            <a:ext cx="10707095" cy="4351338"/>
          </a:xfrm>
        </p:spPr>
        <p:txBody>
          <a:bodyPr>
            <a:noAutofit/>
          </a:bodyPr>
          <a:lstStyle/>
          <a:p>
            <a:pPr marL="0" indent="0">
              <a:buNone/>
            </a:pPr>
            <a:r>
              <a:rPr lang="fr-FR" sz="2000" noProof="0" dirty="0"/>
              <a:t>Avant de commencer, copiez les classes du package </a:t>
            </a:r>
            <a:r>
              <a:rPr lang="fr-FR" sz="1800" spc="-40" dirty="0">
                <a:solidFill>
                  <a:schemeClr val="accent4"/>
                </a:solidFill>
                <a:latin typeface="Consolas" panose="020B0609020204030204" pitchFamily="49" charset="0"/>
                <a:cs typeface="Consolas" panose="020B0609020204030204" pitchFamily="49" charset="0"/>
              </a:rPr>
              <a:t>e14</a:t>
            </a:r>
            <a:r>
              <a:rPr lang="fr-FR" sz="2000" noProof="0" dirty="0"/>
              <a:t> dans le package </a:t>
            </a:r>
            <a:r>
              <a:rPr lang="fr-FR" sz="1800" spc="-40" dirty="0">
                <a:solidFill>
                  <a:schemeClr val="accent4"/>
                </a:solidFill>
                <a:latin typeface="Consolas" panose="020B0609020204030204" pitchFamily="49" charset="0"/>
                <a:cs typeface="Consolas" panose="020B0609020204030204" pitchFamily="49" charset="0"/>
              </a:rPr>
              <a:t>e19</a:t>
            </a:r>
            <a:r>
              <a:rPr lang="fr-FR" sz="2000" noProof="0" dirty="0"/>
              <a:t>.</a:t>
            </a:r>
          </a:p>
          <a:p>
            <a:r>
              <a:rPr lang="fr-FR" sz="2000" noProof="0" dirty="0"/>
              <a:t>Créez une interface </a:t>
            </a:r>
            <a:r>
              <a:rPr lang="fr-FR" sz="1800" noProof="0" dirty="0">
                <a:solidFill>
                  <a:schemeClr val="accent4"/>
                </a:solidFill>
                <a:latin typeface="Consolas" panose="020B0609020204030204" pitchFamily="49" charset="0"/>
                <a:cs typeface="Consolas" panose="020B0609020204030204" pitchFamily="49" charset="0"/>
              </a:rPr>
              <a:t>Translatable</a:t>
            </a:r>
            <a:r>
              <a:rPr lang="fr-FR" sz="2000" noProof="0" dirty="0"/>
              <a:t>, qui présente une méthode </a:t>
            </a:r>
            <a:r>
              <a:rPr lang="fr-FR" sz="1800" spc="-40" dirty="0">
                <a:solidFill>
                  <a:schemeClr val="accent4"/>
                </a:solidFill>
                <a:latin typeface="Consolas" panose="020B0609020204030204" pitchFamily="49" charset="0"/>
                <a:cs typeface="Consolas" panose="020B0609020204030204" pitchFamily="49" charset="0"/>
              </a:rPr>
              <a:t>translate(</a:t>
            </a:r>
            <a:r>
              <a:rPr lang="fr-FR" sz="1800" strike="sngStrike" spc="-40" dirty="0">
                <a:solidFill>
                  <a:schemeClr val="accent4"/>
                </a:solidFill>
                <a:latin typeface="Consolas" panose="020B0609020204030204" pitchFamily="49" charset="0"/>
                <a:cs typeface="Consolas" panose="020B0609020204030204" pitchFamily="49" charset="0"/>
              </a:rPr>
              <a:t>double</a:t>
            </a:r>
            <a:r>
              <a:rPr lang="fr-FR" sz="1800" spc="-40" dirty="0">
                <a:solidFill>
                  <a:schemeClr val="accent4"/>
                </a:solidFill>
                <a:latin typeface="Consolas" panose="020B0609020204030204" pitchFamily="49" charset="0"/>
                <a:cs typeface="Consolas" panose="020B0609020204030204" pitchFamily="49" charset="0"/>
              </a:rPr>
              <a:t> dx, </a:t>
            </a:r>
            <a:r>
              <a:rPr lang="fr-FR" sz="1800" strike="sngStrike" spc="-40" dirty="0">
                <a:solidFill>
                  <a:schemeClr val="accent4"/>
                </a:solidFill>
                <a:latin typeface="Consolas" panose="020B0609020204030204" pitchFamily="49" charset="0"/>
                <a:cs typeface="Consolas" panose="020B0609020204030204" pitchFamily="49" charset="0"/>
              </a:rPr>
              <a:t>double</a:t>
            </a:r>
            <a:r>
              <a:rPr lang="fr-FR" sz="1800" spc="-40" dirty="0">
                <a:solidFill>
                  <a:schemeClr val="accent4"/>
                </a:solidFill>
                <a:latin typeface="Consolas" panose="020B0609020204030204" pitchFamily="49" charset="0"/>
                <a:cs typeface="Consolas" panose="020B0609020204030204" pitchFamily="49" charset="0"/>
              </a:rPr>
              <a:t> </a:t>
            </a:r>
            <a:r>
              <a:rPr lang="fr-FR" sz="1800" spc="-40" dirty="0" err="1">
                <a:solidFill>
                  <a:schemeClr val="accent4"/>
                </a:solidFill>
                <a:latin typeface="Consolas" panose="020B0609020204030204" pitchFamily="49" charset="0"/>
                <a:cs typeface="Consolas" panose="020B0609020204030204" pitchFamily="49" charset="0"/>
              </a:rPr>
              <a:t>dy</a:t>
            </a:r>
            <a:r>
              <a:rPr lang="fr-FR" sz="1800" spc="-40" dirty="0">
                <a:solidFill>
                  <a:schemeClr val="accent4"/>
                </a:solidFill>
                <a:latin typeface="Consolas" panose="020B0609020204030204" pitchFamily="49" charset="0"/>
                <a:cs typeface="Consolas" panose="020B0609020204030204" pitchFamily="49" charset="0"/>
              </a:rPr>
              <a:t>)</a:t>
            </a:r>
          </a:p>
          <a:p>
            <a:r>
              <a:rPr lang="fr-FR" sz="2000" noProof="0" dirty="0"/>
              <a:t>Créez une interface </a:t>
            </a:r>
            <a:r>
              <a:rPr lang="fr-FR" sz="1800" noProof="0" dirty="0" err="1">
                <a:solidFill>
                  <a:schemeClr val="accent4"/>
                </a:solidFill>
                <a:latin typeface="Consolas" panose="020B0609020204030204" pitchFamily="49" charset="0"/>
                <a:cs typeface="Consolas" panose="020B0609020204030204" pitchFamily="49" charset="0"/>
              </a:rPr>
              <a:t>Rotatable</a:t>
            </a:r>
            <a:r>
              <a:rPr lang="fr-FR" sz="2000" noProof="0" dirty="0"/>
              <a:t>, qui présente une méthode </a:t>
            </a:r>
            <a:r>
              <a:rPr lang="fr-FR" sz="1800" spc="-40" dirty="0" err="1">
                <a:solidFill>
                  <a:schemeClr val="accent4"/>
                </a:solidFill>
                <a:latin typeface="Consolas" panose="020B0609020204030204" pitchFamily="49" charset="0"/>
                <a:cs typeface="Consolas" panose="020B0609020204030204" pitchFamily="49" charset="0"/>
              </a:rPr>
              <a:t>rotate</a:t>
            </a:r>
            <a:r>
              <a:rPr lang="fr-FR" sz="1800" spc="-40" dirty="0">
                <a:solidFill>
                  <a:schemeClr val="accent4"/>
                </a:solidFill>
                <a:latin typeface="Consolas" panose="020B0609020204030204" pitchFamily="49" charset="0"/>
                <a:cs typeface="Consolas" panose="020B0609020204030204" pitchFamily="49" charset="0"/>
              </a:rPr>
              <a:t>(</a:t>
            </a:r>
            <a:r>
              <a:rPr lang="fr-FR" sz="1800" strike="sngStrike" spc="-40" dirty="0">
                <a:solidFill>
                  <a:schemeClr val="accent4"/>
                </a:solidFill>
                <a:latin typeface="Consolas" panose="020B0609020204030204" pitchFamily="49" charset="0"/>
                <a:cs typeface="Consolas" panose="020B0609020204030204" pitchFamily="49" charset="0"/>
              </a:rPr>
              <a:t>double</a:t>
            </a:r>
            <a:r>
              <a:rPr lang="fr-FR" sz="1800" spc="-40" dirty="0">
                <a:solidFill>
                  <a:schemeClr val="accent4"/>
                </a:solidFill>
                <a:latin typeface="Consolas" panose="020B0609020204030204" pitchFamily="49" charset="0"/>
                <a:cs typeface="Consolas" panose="020B0609020204030204" pitchFamily="49" charset="0"/>
              </a:rPr>
              <a:t> alpha)</a:t>
            </a:r>
            <a:endParaRPr lang="fr-FR" sz="2000" noProof="0" dirty="0"/>
          </a:p>
          <a:p>
            <a:r>
              <a:rPr lang="fr-FR" sz="2000" noProof="0" dirty="0"/>
              <a:t>Reprenez votre classe abstraite </a:t>
            </a:r>
            <a:r>
              <a:rPr lang="fr-FR" sz="1800" noProof="0" dirty="0">
                <a:solidFill>
                  <a:schemeClr val="accent4"/>
                </a:solidFill>
                <a:latin typeface="Consolas" panose="020B0609020204030204" pitchFamily="49" charset="0"/>
                <a:cs typeface="Consolas" panose="020B0609020204030204" pitchFamily="49" charset="0"/>
              </a:rPr>
              <a:t>Shape</a:t>
            </a:r>
            <a:r>
              <a:rPr lang="fr-FR" sz="2000" noProof="0" dirty="0"/>
              <a:t>, et faites-la implémenter les deux interfaces </a:t>
            </a:r>
            <a:r>
              <a:rPr lang="fr-FR" sz="1800" noProof="0" dirty="0">
                <a:solidFill>
                  <a:schemeClr val="accent4"/>
                </a:solidFill>
                <a:latin typeface="Consolas" panose="020B0609020204030204" pitchFamily="49" charset="0"/>
                <a:cs typeface="Consolas" panose="020B0609020204030204" pitchFamily="49" charset="0"/>
              </a:rPr>
              <a:t>Translatable</a:t>
            </a:r>
            <a:r>
              <a:rPr lang="fr-FR" sz="2400" noProof="0" dirty="0"/>
              <a:t> </a:t>
            </a:r>
            <a:r>
              <a:rPr lang="fr-FR" sz="2000" noProof="0" dirty="0"/>
              <a:t>et</a:t>
            </a:r>
            <a:r>
              <a:rPr lang="fr-FR" sz="2400" noProof="0" dirty="0"/>
              <a:t> </a:t>
            </a:r>
            <a:r>
              <a:rPr lang="fr-FR" sz="1800" noProof="0" dirty="0" err="1">
                <a:solidFill>
                  <a:schemeClr val="accent4"/>
                </a:solidFill>
                <a:latin typeface="Consolas" panose="020B0609020204030204" pitchFamily="49" charset="0"/>
                <a:cs typeface="Consolas" panose="020B0609020204030204" pitchFamily="49" charset="0"/>
              </a:rPr>
              <a:t>Rotatable</a:t>
            </a:r>
            <a:r>
              <a:rPr lang="fr-FR" sz="2000" noProof="0" dirty="0"/>
              <a:t>. </a:t>
            </a:r>
          </a:p>
          <a:p>
            <a:pPr marL="0" indent="0">
              <a:buNone/>
            </a:pPr>
            <a:r>
              <a:rPr lang="fr-FR" sz="2000" noProof="0" dirty="0"/>
              <a:t>Les méthodes des interfaces doivent-elles être concrètes ou abstraites dans </a:t>
            </a:r>
            <a:r>
              <a:rPr lang="fr-FR" sz="1800" dirty="0">
                <a:solidFill>
                  <a:schemeClr val="accent4"/>
                </a:solidFill>
                <a:latin typeface="Consolas" panose="020B0609020204030204" pitchFamily="49" charset="0"/>
                <a:cs typeface="Consolas" panose="020B0609020204030204" pitchFamily="49" charset="0"/>
              </a:rPr>
              <a:t>Shape</a:t>
            </a:r>
            <a:r>
              <a:rPr lang="fr-FR" sz="2000" noProof="0" dirty="0"/>
              <a:t>?</a:t>
            </a:r>
            <a:endParaRPr lang="fr-FR" sz="2000" dirty="0"/>
          </a:p>
          <a:p>
            <a:pPr marL="0" indent="0">
              <a:buNone/>
            </a:pPr>
            <a:r>
              <a:rPr lang="fr-FR" sz="2000" noProof="0" dirty="0"/>
              <a:t>Faut-il mettre à jour les trois classes </a:t>
            </a:r>
            <a:r>
              <a:rPr lang="fr-FR" sz="1800" noProof="0" dirty="0">
                <a:solidFill>
                  <a:schemeClr val="accent4"/>
                </a:solidFill>
                <a:latin typeface="Consolas" panose="020B0609020204030204" pitchFamily="49" charset="0"/>
                <a:cs typeface="Consolas" panose="020B0609020204030204" pitchFamily="49" charset="0"/>
              </a:rPr>
              <a:t>Square</a:t>
            </a:r>
            <a:r>
              <a:rPr lang="fr-FR" sz="2000" noProof="0" dirty="0"/>
              <a:t>, </a:t>
            </a:r>
            <a:r>
              <a:rPr lang="fr-FR" sz="1800" noProof="0" dirty="0">
                <a:solidFill>
                  <a:schemeClr val="accent4"/>
                </a:solidFill>
                <a:latin typeface="Consolas" panose="020B0609020204030204" pitchFamily="49" charset="0"/>
                <a:cs typeface="Consolas" panose="020B0609020204030204" pitchFamily="49" charset="0"/>
              </a:rPr>
              <a:t>Circle</a:t>
            </a:r>
            <a:r>
              <a:rPr lang="fr-FR" sz="2400" noProof="0" dirty="0"/>
              <a:t> </a:t>
            </a:r>
            <a:r>
              <a:rPr lang="fr-FR" sz="2000" noProof="0" dirty="0"/>
              <a:t>et</a:t>
            </a:r>
            <a:r>
              <a:rPr lang="fr-FR" sz="2400" noProof="0" dirty="0"/>
              <a:t> </a:t>
            </a:r>
            <a:r>
              <a:rPr lang="fr-FR" sz="1800" noProof="0" dirty="0">
                <a:solidFill>
                  <a:schemeClr val="accent4"/>
                </a:solidFill>
                <a:latin typeface="Consolas" panose="020B0609020204030204" pitchFamily="49" charset="0"/>
                <a:cs typeface="Consolas" panose="020B0609020204030204" pitchFamily="49" charset="0"/>
              </a:rPr>
              <a:t>Triangle</a:t>
            </a:r>
            <a:r>
              <a:rPr lang="fr-FR" sz="2000" noProof="0" dirty="0"/>
              <a:t>?</a:t>
            </a:r>
            <a:endParaRPr lang="fr-FR" sz="2000" dirty="0"/>
          </a:p>
          <a:p>
            <a:r>
              <a:rPr lang="fr-FR" sz="2000" noProof="0" dirty="0"/>
              <a:t>Si oui, faites en sorte que les méthodes ajoutées affichent (</a:t>
            </a:r>
            <a:r>
              <a:rPr lang="fr-FR" sz="1800" dirty="0">
                <a:solidFill>
                  <a:schemeClr val="accent4"/>
                </a:solidFill>
                <a:latin typeface="Consolas" panose="020B0609020204030204" pitchFamily="49" charset="0"/>
                <a:cs typeface="Consolas" panose="020B0609020204030204" pitchFamily="49" charset="0"/>
              </a:rPr>
              <a:t>Je suis un triangle et je tourne de X degrés</a:t>
            </a:r>
            <a:r>
              <a:rPr lang="fr-FR" sz="2000" noProof="0" dirty="0"/>
              <a:t>/ </a:t>
            </a:r>
            <a:r>
              <a:rPr lang="fr-FR" sz="1800" dirty="0">
                <a:solidFill>
                  <a:schemeClr val="accent4"/>
                </a:solidFill>
                <a:latin typeface="Consolas" panose="020B0609020204030204" pitchFamily="49" charset="0"/>
                <a:cs typeface="Consolas" panose="020B0609020204030204" pitchFamily="49" charset="0"/>
              </a:rPr>
              <a:t>je suis un carré et je me déplace de DX, DY</a:t>
            </a:r>
            <a:r>
              <a:rPr lang="fr-FR" sz="2000" noProof="0" dirty="0"/>
              <a:t>). </a:t>
            </a:r>
          </a:p>
          <a:p>
            <a:r>
              <a:rPr lang="fr-FR" sz="2000" noProof="0" dirty="0"/>
              <a:t>Adaptez enfin votre programme qui manipule les formes pour qu’il fasse aussi effectuer ces transformations à vos formes.</a:t>
            </a:r>
            <a:endParaRPr lang="fr-FR" sz="2000" dirty="0"/>
          </a:p>
        </p:txBody>
      </p:sp>
      <p:pic>
        <p:nvPicPr>
          <p:cNvPr id="1026" name="Picture 2" descr="blog-nutrition-outlet">
            <a:extLst>
              <a:ext uri="{FF2B5EF4-FFF2-40B4-BE49-F238E27FC236}">
                <a16:creationId xmlns:a16="http://schemas.microsoft.com/office/drawing/2014/main" id="{9F7669FB-8553-A044-8BC2-6E9BE5DE2F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e 19">
            <a:extLst>
              <a:ext uri="{FF2B5EF4-FFF2-40B4-BE49-F238E27FC236}">
                <a16:creationId xmlns:a16="http://schemas.microsoft.com/office/drawing/2014/main" id="{23E4D168-DC31-C6B7-5E69-E64687AF7365}"/>
              </a:ext>
            </a:extLst>
          </p:cNvPr>
          <p:cNvGrpSpPr/>
          <p:nvPr/>
        </p:nvGrpSpPr>
        <p:grpSpPr>
          <a:xfrm rot="762091">
            <a:off x="7674606" y="500270"/>
            <a:ext cx="1511865" cy="769720"/>
            <a:chOff x="9344382" y="500270"/>
            <a:chExt cx="1511865" cy="769720"/>
          </a:xfrm>
        </p:grpSpPr>
        <p:sp>
          <p:nvSpPr>
            <p:cNvPr id="21" name="Rectangle 20">
              <a:extLst>
                <a:ext uri="{FF2B5EF4-FFF2-40B4-BE49-F238E27FC236}">
                  <a16:creationId xmlns:a16="http://schemas.microsoft.com/office/drawing/2014/main" id="{B1A6062D-F9FB-94F4-D1F0-2D3740ED3E0E}"/>
                </a:ext>
              </a:extLst>
            </p:cNvPr>
            <p:cNvSpPr/>
            <p:nvPr/>
          </p:nvSpPr>
          <p:spPr>
            <a:xfrm rot="20700000">
              <a:off x="9344382" y="657107"/>
              <a:ext cx="612883" cy="61288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21">
              <a:extLst>
                <a:ext uri="{FF2B5EF4-FFF2-40B4-BE49-F238E27FC236}">
                  <a16:creationId xmlns:a16="http://schemas.microsoft.com/office/drawing/2014/main" id="{4CD2A338-CF34-A81B-4FD3-BDDAFC98AB2A}"/>
                </a:ext>
              </a:extLst>
            </p:cNvPr>
            <p:cNvSpPr/>
            <p:nvPr/>
          </p:nvSpPr>
          <p:spPr>
            <a:xfrm rot="900000">
              <a:off x="10243364" y="657105"/>
              <a:ext cx="612883" cy="612883"/>
            </a:xfrm>
            <a:prstGeom prst="triangle">
              <a:avLst/>
            </a:prstGeom>
            <a:solidFill>
              <a:srgbClr val="0102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60A3619A-9130-9055-964C-1614A984C751}"/>
                </a:ext>
              </a:extLst>
            </p:cNvPr>
            <p:cNvSpPr/>
            <p:nvPr/>
          </p:nvSpPr>
          <p:spPr>
            <a:xfrm>
              <a:off x="9868050" y="500270"/>
              <a:ext cx="612883" cy="61288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 name="Espace réservé du numéro de diapositive 4">
            <a:extLst>
              <a:ext uri="{FF2B5EF4-FFF2-40B4-BE49-F238E27FC236}">
                <a16:creationId xmlns:a16="http://schemas.microsoft.com/office/drawing/2014/main" id="{1539FB18-B114-1B72-A80B-A77793CD31B6}"/>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9</a:t>
            </a:fld>
            <a:endParaRPr lang="fr-FR" dirty="0"/>
          </a:p>
        </p:txBody>
      </p:sp>
      <p:sp>
        <p:nvSpPr>
          <p:cNvPr id="6" name="ZoneTexte 5">
            <a:extLst>
              <a:ext uri="{FF2B5EF4-FFF2-40B4-BE49-F238E27FC236}">
                <a16:creationId xmlns:a16="http://schemas.microsoft.com/office/drawing/2014/main" id="{B15F27D1-1A95-5ADF-7988-FE815EE143F2}"/>
              </a:ext>
            </a:extLst>
          </p:cNvPr>
          <p:cNvSpPr txBox="1"/>
          <p:nvPr/>
        </p:nvSpPr>
        <p:spPr>
          <a:xfrm>
            <a:off x="8893136" y="1978430"/>
            <a:ext cx="1912687" cy="338554"/>
          </a:xfrm>
          <a:prstGeom prst="rect">
            <a:avLst/>
          </a:prstGeom>
          <a:noFill/>
        </p:spPr>
        <p:txBody>
          <a:bodyPr wrap="square">
            <a:spAutoFit/>
          </a:bodyPr>
          <a:lstStyle/>
          <a:p>
            <a:r>
              <a:rPr lang="fr-FR" sz="1600" spc="-40" dirty="0" err="1">
                <a:solidFill>
                  <a:schemeClr val="accent4"/>
                </a:solidFill>
                <a:latin typeface="Consolas" panose="020B0609020204030204" pitchFamily="49" charset="0"/>
                <a:cs typeface="Consolas" panose="020B0609020204030204" pitchFamily="49" charset="0"/>
              </a:rPr>
              <a:t>int</a:t>
            </a:r>
            <a:r>
              <a:rPr lang="fr-FR" sz="1600" spc="-40" dirty="0">
                <a:solidFill>
                  <a:schemeClr val="accent4"/>
                </a:solidFill>
                <a:latin typeface="Consolas" panose="020B0609020204030204" pitchFamily="49" charset="0"/>
                <a:cs typeface="Consolas" panose="020B0609020204030204" pitchFamily="49" charset="0"/>
              </a:rPr>
              <a:t> dx, </a:t>
            </a:r>
            <a:r>
              <a:rPr lang="fr-FR" sz="1600" spc="-40" dirty="0" err="1">
                <a:solidFill>
                  <a:schemeClr val="accent4"/>
                </a:solidFill>
                <a:latin typeface="Consolas" panose="020B0609020204030204" pitchFamily="49" charset="0"/>
                <a:cs typeface="Consolas" panose="020B0609020204030204" pitchFamily="49" charset="0"/>
              </a:rPr>
              <a:t>int</a:t>
            </a:r>
            <a:r>
              <a:rPr lang="fr-FR" sz="1600" spc="-40" dirty="0">
                <a:solidFill>
                  <a:schemeClr val="accent4"/>
                </a:solidFill>
                <a:latin typeface="Consolas" panose="020B0609020204030204" pitchFamily="49" charset="0"/>
                <a:cs typeface="Consolas" panose="020B0609020204030204" pitchFamily="49" charset="0"/>
              </a:rPr>
              <a:t> </a:t>
            </a:r>
            <a:r>
              <a:rPr lang="fr-FR" sz="1600" spc="-40" dirty="0" err="1">
                <a:solidFill>
                  <a:schemeClr val="accent4"/>
                </a:solidFill>
                <a:latin typeface="Consolas" panose="020B0609020204030204" pitchFamily="49" charset="0"/>
                <a:cs typeface="Consolas" panose="020B0609020204030204" pitchFamily="49" charset="0"/>
              </a:rPr>
              <a:t>dy</a:t>
            </a:r>
            <a:endParaRPr lang="fr-FR" sz="1600" dirty="0"/>
          </a:p>
        </p:txBody>
      </p:sp>
      <p:sp>
        <p:nvSpPr>
          <p:cNvPr id="8" name="ZoneTexte 7">
            <a:extLst>
              <a:ext uri="{FF2B5EF4-FFF2-40B4-BE49-F238E27FC236}">
                <a16:creationId xmlns:a16="http://schemas.microsoft.com/office/drawing/2014/main" id="{5FB4069C-D9F6-2311-DB6A-A37B270EBC3A}"/>
              </a:ext>
            </a:extLst>
          </p:cNvPr>
          <p:cNvSpPr txBox="1"/>
          <p:nvPr/>
        </p:nvSpPr>
        <p:spPr>
          <a:xfrm>
            <a:off x="8293291" y="2822243"/>
            <a:ext cx="1581363" cy="338554"/>
          </a:xfrm>
          <a:prstGeom prst="rect">
            <a:avLst/>
          </a:prstGeom>
          <a:noFill/>
        </p:spPr>
        <p:txBody>
          <a:bodyPr wrap="square">
            <a:spAutoFit/>
          </a:bodyPr>
          <a:lstStyle/>
          <a:p>
            <a:r>
              <a:rPr lang="fr-FR" sz="1600" spc="-40" dirty="0" err="1">
                <a:solidFill>
                  <a:schemeClr val="accent4"/>
                </a:solidFill>
                <a:latin typeface="Consolas" panose="020B0609020204030204" pitchFamily="49" charset="0"/>
                <a:cs typeface="Consolas" panose="020B0609020204030204" pitchFamily="49" charset="0"/>
              </a:rPr>
              <a:t>int</a:t>
            </a:r>
            <a:r>
              <a:rPr lang="fr-FR" sz="1600" spc="-40" dirty="0">
                <a:solidFill>
                  <a:schemeClr val="accent4"/>
                </a:solidFill>
                <a:latin typeface="Consolas" panose="020B0609020204030204" pitchFamily="49" charset="0"/>
                <a:cs typeface="Consolas" panose="020B0609020204030204" pitchFamily="49" charset="0"/>
              </a:rPr>
              <a:t> alpha</a:t>
            </a:r>
            <a:endParaRPr lang="fr-FR" sz="1600" dirty="0"/>
          </a:p>
        </p:txBody>
      </p:sp>
    </p:spTree>
    <p:extLst>
      <p:ext uri="{BB962C8B-B14F-4D97-AF65-F5344CB8AC3E}">
        <p14:creationId xmlns:p14="http://schemas.microsoft.com/office/powerpoint/2010/main" val="195100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8881-8B82-134B-EF3E-7AA7A54C89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C7AF13-84D5-8A6D-B645-D4F59A976A31}"/>
              </a:ext>
            </a:extLst>
          </p:cNvPr>
          <p:cNvSpPr>
            <a:spLocks noGrp="1"/>
          </p:cNvSpPr>
          <p:nvPr>
            <p:ph type="title"/>
          </p:nvPr>
        </p:nvSpPr>
        <p:spPr/>
        <p:txBody>
          <a:bodyPr/>
          <a:lstStyle/>
          <a:p>
            <a:r>
              <a:rPr lang="fr-FR" dirty="0"/>
              <a:t>Exercice 20</a:t>
            </a:r>
          </a:p>
        </p:txBody>
      </p:sp>
      <p:sp>
        <p:nvSpPr>
          <p:cNvPr id="3" name="Espace réservé du contenu 2">
            <a:extLst>
              <a:ext uri="{FF2B5EF4-FFF2-40B4-BE49-F238E27FC236}">
                <a16:creationId xmlns:a16="http://schemas.microsoft.com/office/drawing/2014/main" id="{808B100A-897A-7190-BA9C-A67C52821416}"/>
              </a:ext>
            </a:extLst>
          </p:cNvPr>
          <p:cNvSpPr>
            <a:spLocks noGrp="1"/>
          </p:cNvSpPr>
          <p:nvPr>
            <p:ph idx="1"/>
          </p:nvPr>
        </p:nvSpPr>
        <p:spPr>
          <a:xfrm>
            <a:off x="838199" y="1825625"/>
            <a:ext cx="10707095" cy="4351338"/>
          </a:xfrm>
        </p:spPr>
        <p:txBody>
          <a:bodyPr>
            <a:noAutofit/>
          </a:bodyPr>
          <a:lstStyle/>
          <a:p>
            <a:pPr marL="0" indent="0">
              <a:buNone/>
            </a:pPr>
            <a:r>
              <a:rPr lang="fr-FR" sz="2400" dirty="0"/>
              <a:t>Reprenez les classes de </a:t>
            </a:r>
            <a:r>
              <a:rPr lang="fr-BE" sz="2200" dirty="0">
                <a:solidFill>
                  <a:schemeClr val="accent4"/>
                </a:solidFill>
                <a:effectLst/>
                <a:latin typeface="Consolas" panose="020B0609020204030204" pitchFamily="49" charset="0"/>
                <a:cs typeface="Consolas" panose="020B0609020204030204" pitchFamily="49" charset="0"/>
              </a:rPr>
              <a:t>be.ephec.java.cours03.observer.step2</a:t>
            </a:r>
            <a:r>
              <a:rPr lang="fr-FR" sz="2400" dirty="0"/>
              <a:t> et ajoutez une nouvelle classe </a:t>
            </a:r>
            <a:r>
              <a:rPr lang="fr-FR" sz="2200" dirty="0">
                <a:solidFill>
                  <a:schemeClr val="accent4"/>
                </a:solidFill>
                <a:latin typeface="Consolas" panose="020B0609020204030204" pitchFamily="49" charset="0"/>
                <a:cs typeface="Consolas" panose="020B0609020204030204" pitchFamily="49" charset="0"/>
              </a:rPr>
              <a:t>Prospect</a:t>
            </a:r>
            <a:r>
              <a:rPr lang="fr-FR" sz="2400" dirty="0"/>
              <a:t> qui désire aussi être mise au courant des arrivées de produits.</a:t>
            </a:r>
          </a:p>
          <a:p>
            <a:pPr marL="0" indent="0">
              <a:buNone/>
            </a:pPr>
            <a:endParaRPr lang="fr-FR" sz="2400" dirty="0"/>
          </a:p>
          <a:p>
            <a:pPr marL="0" indent="0">
              <a:buNone/>
            </a:pPr>
            <a:r>
              <a:rPr lang="fr-FR" sz="2400" dirty="0"/>
              <a:t>Modifiez également le </a:t>
            </a:r>
            <a:r>
              <a:rPr lang="fr-FR" sz="2200" dirty="0">
                <a:solidFill>
                  <a:schemeClr val="accent4"/>
                </a:solidFill>
                <a:latin typeface="Consolas" panose="020B0609020204030204" pitchFamily="49" charset="0"/>
                <a:cs typeface="Consolas" panose="020B0609020204030204" pitchFamily="49" charset="0"/>
              </a:rPr>
              <a:t>Programme</a:t>
            </a:r>
            <a:r>
              <a:rPr lang="fr-FR" sz="2400" dirty="0"/>
              <a:t> pour y inclure ce troisième acteur…</a:t>
            </a:r>
          </a:p>
          <a:p>
            <a:pPr marL="0" indent="0">
              <a:buNone/>
            </a:pPr>
            <a:endParaRPr lang="fr-FR" sz="2400" dirty="0">
              <a:solidFill>
                <a:schemeClr val="accent4"/>
              </a:solidFill>
              <a:latin typeface="Consolas" panose="020B0609020204030204" pitchFamily="49" charset="0"/>
              <a:cs typeface="Consolas" panose="020B0609020204030204" pitchFamily="49" charset="0"/>
            </a:endParaRPr>
          </a:p>
          <a:p>
            <a:pPr marL="0" indent="0">
              <a:buNone/>
            </a:pPr>
            <a:endParaRPr lang="fr-FR" sz="2400" dirty="0">
              <a:solidFill>
                <a:schemeClr val="accent4"/>
              </a:solidFill>
              <a:latin typeface="Consolas" panose="020B0609020204030204" pitchFamily="49" charset="0"/>
              <a:cs typeface="Consolas" panose="020B0609020204030204" pitchFamily="49" charset="0"/>
            </a:endParaRPr>
          </a:p>
        </p:txBody>
      </p:sp>
      <p:pic>
        <p:nvPicPr>
          <p:cNvPr id="1026" name="Picture 2" descr="blog-nutrition-outlet">
            <a:extLst>
              <a:ext uri="{FF2B5EF4-FFF2-40B4-BE49-F238E27FC236}">
                <a16:creationId xmlns:a16="http://schemas.microsoft.com/office/drawing/2014/main" id="{B776FC04-4359-535B-4ED3-20A62F4D4AE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ED9E198D-09FF-E199-18A1-BD048CB0E9DC}"/>
              </a:ext>
            </a:extLst>
          </p:cNvPr>
          <p:cNvSpPr>
            <a:spLocks noGrp="1"/>
          </p:cNvSpPr>
          <p:nvPr>
            <p:ph type="sldNum" sz="quarter" idx="4"/>
          </p:nvPr>
        </p:nvSpPr>
        <p:spPr/>
        <p:txBody>
          <a:bodyPr/>
          <a:lstStyle/>
          <a:p>
            <a:fld id="{33C783E2-4793-4F48-A271-51A73CC37D74}" type="slidenum">
              <a:rPr lang="fr-FR" smtClean="0"/>
              <a:t>10</a:t>
            </a:fld>
            <a:endParaRPr lang="fr-FR"/>
          </a:p>
        </p:txBody>
      </p:sp>
    </p:spTree>
    <p:extLst>
      <p:ext uri="{BB962C8B-B14F-4D97-AF65-F5344CB8AC3E}">
        <p14:creationId xmlns:p14="http://schemas.microsoft.com/office/powerpoint/2010/main" val="410039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332AC-E628-7310-609B-14DE85428688}"/>
            </a:ext>
          </a:extLst>
        </p:cNvPr>
        <p:cNvGrpSpPr/>
        <p:nvPr/>
      </p:nvGrpSpPr>
      <p:grpSpPr>
        <a:xfrm>
          <a:off x="0" y="0"/>
          <a:ext cx="0" cy="0"/>
          <a:chOff x="0" y="0"/>
          <a:chExt cx="0" cy="0"/>
        </a:xfrm>
      </p:grpSpPr>
      <p:pic>
        <p:nvPicPr>
          <p:cNvPr id="3074" name="Picture 2" descr="champs et méthodes d'interfaces java 16:9">
            <a:extLst>
              <a:ext uri="{FF2B5EF4-FFF2-40B4-BE49-F238E27FC236}">
                <a16:creationId xmlns:a16="http://schemas.microsoft.com/office/drawing/2014/main" id="{3D4FCAC2-AF2E-A612-8D90-2A95A38BCF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560" b="1319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F8A7C65B-BC99-05A4-3712-E828961CB22A}"/>
              </a:ext>
            </a:extLst>
          </p:cNvPr>
          <p:cNvSpPr txBox="1"/>
          <p:nvPr/>
        </p:nvSpPr>
        <p:spPr>
          <a:xfrm>
            <a:off x="838200" y="947821"/>
            <a:ext cx="10515600" cy="1015663"/>
          </a:xfrm>
          <a:prstGeom prst="rect">
            <a:avLst/>
          </a:prstGeom>
          <a:solidFill>
            <a:srgbClr val="6F3874">
              <a:alpha val="74510"/>
            </a:srgbClr>
          </a:solidFill>
          <a:effectLst>
            <a:outerShdw blurRad="50800" dist="38100" dir="2700000" algn="tl" rotWithShape="0">
              <a:prstClr val="black">
                <a:alpha val="40000"/>
              </a:prstClr>
            </a:outerShdw>
          </a:effectLst>
        </p:spPr>
        <p:txBody>
          <a:bodyPr wrap="square" rtlCol="0">
            <a:spAutoFit/>
          </a:bodyPr>
          <a:lstStyle/>
          <a:p>
            <a:r>
              <a:rPr lang="fr-FR" sz="6000" b="1" dirty="0"/>
              <a:t>Les interfaces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AEBB055D-50E7-4464-6479-FFF9236C41F1}"/>
              </a:ext>
            </a:extLst>
          </p:cNvPr>
          <p:cNvSpPr txBox="1"/>
          <p:nvPr/>
        </p:nvSpPr>
        <p:spPr>
          <a:xfrm>
            <a:off x="838200" y="2139312"/>
            <a:ext cx="10515600" cy="461665"/>
          </a:xfrm>
          <a:prstGeom prst="rect">
            <a:avLst/>
          </a:prstGeom>
          <a:solidFill>
            <a:srgbClr val="6F3874">
              <a:alpha val="74510"/>
            </a:srgbClr>
          </a:solidFill>
          <a:effectLst>
            <a:outerShdw blurRad="50800" dist="38100" dir="2700000" algn="tl" rotWithShape="0">
              <a:prstClr val="black">
                <a:alpha val="40000"/>
              </a:prstClr>
            </a:outerShdw>
          </a:effectLst>
        </p:spPr>
        <p:txBody>
          <a:bodyPr wrap="square" rtlCol="0">
            <a:spAutoFit/>
          </a:bodyPr>
          <a:lstStyle/>
          <a:p>
            <a:r>
              <a:rPr lang="fr-FR" sz="2400" dirty="0"/>
              <a:t>Champs et méthodes d’interfaces…</a:t>
            </a:r>
          </a:p>
        </p:txBody>
      </p:sp>
    </p:spTree>
    <p:extLst>
      <p:ext uri="{BB962C8B-B14F-4D97-AF65-F5344CB8AC3E}">
        <p14:creationId xmlns:p14="http://schemas.microsoft.com/office/powerpoint/2010/main" val="354998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AA6A95-ACE7-631B-1E8C-DB15C701757C}"/>
              </a:ext>
            </a:extLst>
          </p:cNvPr>
          <p:cNvSpPr>
            <a:spLocks noGrp="1"/>
          </p:cNvSpPr>
          <p:nvPr>
            <p:ph type="title"/>
          </p:nvPr>
        </p:nvSpPr>
        <p:spPr/>
        <p:txBody>
          <a:bodyPr>
            <a:normAutofit/>
          </a:bodyPr>
          <a:lstStyle/>
          <a:p>
            <a:r>
              <a:rPr lang="fr-FR" sz="4400" dirty="0"/>
              <a:t>Champs et méthodes statiques</a:t>
            </a:r>
          </a:p>
        </p:txBody>
      </p:sp>
      <p:sp>
        <p:nvSpPr>
          <p:cNvPr id="3" name="Espace réservé du contenu 2">
            <a:extLst>
              <a:ext uri="{FF2B5EF4-FFF2-40B4-BE49-F238E27FC236}">
                <a16:creationId xmlns:a16="http://schemas.microsoft.com/office/drawing/2014/main" id="{07DCD966-A8A1-22A4-8F4D-C44D9E3F9030}"/>
              </a:ext>
            </a:extLst>
          </p:cNvPr>
          <p:cNvSpPr>
            <a:spLocks noGrp="1"/>
          </p:cNvSpPr>
          <p:nvPr>
            <p:ph idx="1"/>
          </p:nvPr>
        </p:nvSpPr>
        <p:spPr/>
        <p:txBody>
          <a:bodyPr>
            <a:normAutofit/>
          </a:bodyPr>
          <a:lstStyle/>
          <a:p>
            <a:pPr marL="0" indent="0">
              <a:buNone/>
            </a:pPr>
            <a:r>
              <a:rPr lang="fr-BE" sz="2400" dirty="0"/>
              <a:t>Une interface peut déclarer des </a:t>
            </a:r>
            <a:r>
              <a:rPr lang="fr-BE" sz="2400" dirty="0">
                <a:solidFill>
                  <a:schemeClr val="accent4"/>
                </a:solidFill>
              </a:rPr>
              <a:t>champs constants</a:t>
            </a:r>
            <a:r>
              <a:rPr lang="fr-BE" sz="2400" dirty="0"/>
              <a:t>. </a:t>
            </a:r>
          </a:p>
          <a:p>
            <a:pPr marL="0" indent="0">
              <a:buNone/>
            </a:pPr>
            <a:r>
              <a:rPr lang="fr-BE" sz="2400" dirty="0"/>
              <a:t>Cependant tous les champs d’une interface sont par défaut </a:t>
            </a:r>
            <a:r>
              <a:rPr lang="fr-BE" sz="2000" dirty="0">
                <a:solidFill>
                  <a:schemeClr val="accent4"/>
                </a:solidFill>
                <a:latin typeface="Consolas" panose="020B0609020204030204" pitchFamily="49" charset="0"/>
                <a:cs typeface="Consolas" panose="020B0609020204030204" pitchFamily="49" charset="0"/>
              </a:rPr>
              <a:t>public</a:t>
            </a:r>
            <a:r>
              <a:rPr lang="fr-BE" sz="2400" dirty="0"/>
              <a:t>, </a:t>
            </a:r>
            <a:r>
              <a:rPr lang="fr-BE" sz="2000" dirty="0" err="1">
                <a:solidFill>
                  <a:schemeClr val="accent4"/>
                </a:solidFill>
                <a:latin typeface="Consolas" panose="020B0609020204030204" pitchFamily="49" charset="0"/>
                <a:cs typeface="Consolas" panose="020B0609020204030204" pitchFamily="49" charset="0"/>
              </a:rPr>
              <a:t>static</a:t>
            </a:r>
            <a:r>
              <a:rPr lang="fr-BE" sz="2400" dirty="0"/>
              <a:t> et </a:t>
            </a:r>
            <a:r>
              <a:rPr lang="fr-BE" sz="2000" dirty="0">
                <a:solidFill>
                  <a:schemeClr val="accent4"/>
                </a:solidFill>
                <a:latin typeface="Consolas" panose="020B0609020204030204" pitchFamily="49" charset="0"/>
                <a:cs typeface="Consolas" panose="020B0609020204030204" pitchFamily="49" charset="0"/>
              </a:rPr>
              <a:t>final</a:t>
            </a:r>
            <a:r>
              <a:rPr lang="fr-BE" sz="2400" dirty="0"/>
              <a:t>. Il n’est pas possible de modifier la portée de ces attributs. En d’autres termes, une interface ne peut déclarer que des constantes.</a:t>
            </a:r>
          </a:p>
          <a:p>
            <a:pPr marL="0" indent="0">
              <a:buNone/>
            </a:pPr>
            <a:r>
              <a:rPr lang="fr-BE" sz="2400" dirty="0"/>
              <a:t>Les attributs </a:t>
            </a:r>
            <a:r>
              <a:rPr lang="fr-BE" sz="2000" dirty="0">
                <a:solidFill>
                  <a:schemeClr val="accent4"/>
                </a:solidFill>
                <a:latin typeface="Consolas" panose="020B0609020204030204" pitchFamily="49" charset="0"/>
                <a:cs typeface="Consolas" panose="020B0609020204030204" pitchFamily="49" charset="0"/>
              </a:rPr>
              <a:t>public</a:t>
            </a:r>
            <a:r>
              <a:rPr lang="fr-BE" sz="2400" dirty="0"/>
              <a:t>, </a:t>
            </a:r>
            <a:r>
              <a:rPr lang="fr-BE" sz="2000" dirty="0" err="1">
                <a:solidFill>
                  <a:schemeClr val="accent4"/>
                </a:solidFill>
                <a:latin typeface="Consolas" panose="020B0609020204030204" pitchFamily="49" charset="0"/>
                <a:cs typeface="Consolas" panose="020B0609020204030204" pitchFamily="49" charset="0"/>
              </a:rPr>
              <a:t>static</a:t>
            </a:r>
            <a:r>
              <a:rPr lang="fr-BE" sz="2400" dirty="0"/>
              <a:t> et </a:t>
            </a:r>
            <a:r>
              <a:rPr lang="fr-BE" sz="2000" dirty="0">
                <a:solidFill>
                  <a:schemeClr val="accent4"/>
                </a:solidFill>
                <a:latin typeface="Consolas" panose="020B0609020204030204" pitchFamily="49" charset="0"/>
                <a:cs typeface="Consolas" panose="020B0609020204030204" pitchFamily="49" charset="0"/>
              </a:rPr>
              <a:t>final</a:t>
            </a:r>
            <a:r>
              <a:rPr lang="fr-BE" sz="2400" dirty="0"/>
              <a:t> ne doivent pas être spécifiés.</a:t>
            </a:r>
          </a:p>
          <a:p>
            <a:pPr marL="0" indent="0">
              <a:buNone/>
            </a:pPr>
            <a:endParaRPr lang="fr-BE" sz="2400" dirty="0"/>
          </a:p>
          <a:p>
            <a:pPr marL="0" indent="0">
              <a:buNone/>
            </a:pPr>
            <a:r>
              <a:rPr lang="fr-BE" sz="2400" dirty="0"/>
              <a:t>Une interface peut aussi déclarer une ou plusieurs méthodes </a:t>
            </a:r>
            <a:r>
              <a:rPr lang="fr-BE" sz="2000" dirty="0" err="1">
                <a:solidFill>
                  <a:schemeClr val="accent4"/>
                </a:solidFill>
                <a:latin typeface="Consolas" panose="020B0609020204030204" pitchFamily="49" charset="0"/>
                <a:cs typeface="Consolas" panose="020B0609020204030204" pitchFamily="49" charset="0"/>
              </a:rPr>
              <a:t>static</a:t>
            </a:r>
            <a:r>
              <a:rPr lang="fr-BE" sz="2400" dirty="0"/>
              <a:t>, qui devront être implémentées. </a:t>
            </a:r>
            <a:br>
              <a:rPr lang="fr-BE" sz="2400" dirty="0"/>
            </a:br>
            <a:r>
              <a:rPr lang="fr-BE" sz="2400" dirty="0"/>
              <a:t>Étant </a:t>
            </a:r>
            <a:r>
              <a:rPr lang="fr-BE" sz="2000" dirty="0" err="1">
                <a:solidFill>
                  <a:schemeClr val="accent4"/>
                </a:solidFill>
                <a:latin typeface="Consolas" panose="020B0609020204030204" pitchFamily="49" charset="0"/>
                <a:cs typeface="Consolas" panose="020B0609020204030204" pitchFamily="49" charset="0"/>
              </a:rPr>
              <a:t>static</a:t>
            </a:r>
            <a:r>
              <a:rPr lang="fr-BE" sz="2400" dirty="0"/>
              <a:t>, elles seront appelées sur l’interface.</a:t>
            </a:r>
            <a:endParaRPr lang="fr-FR" sz="2400" dirty="0"/>
          </a:p>
        </p:txBody>
      </p:sp>
      <p:sp>
        <p:nvSpPr>
          <p:cNvPr id="4" name="Espace réservé du numéro de diapositive 3">
            <a:extLst>
              <a:ext uri="{FF2B5EF4-FFF2-40B4-BE49-F238E27FC236}">
                <a16:creationId xmlns:a16="http://schemas.microsoft.com/office/drawing/2014/main" id="{6987EB88-D6AC-4065-5AB9-23E4D1988E3B}"/>
              </a:ext>
            </a:extLst>
          </p:cNvPr>
          <p:cNvSpPr>
            <a:spLocks noGrp="1"/>
          </p:cNvSpPr>
          <p:nvPr>
            <p:ph type="sldNum" sz="quarter" idx="4"/>
          </p:nvPr>
        </p:nvSpPr>
        <p:spPr/>
        <p:txBody>
          <a:bodyPr/>
          <a:lstStyle/>
          <a:p>
            <a:fld id="{33C783E2-4793-4F48-A271-51A73CC37D74}" type="slidenum">
              <a:rPr lang="fr-FR" smtClean="0"/>
              <a:t>12</a:t>
            </a:fld>
            <a:endParaRPr lang="fr-FR" dirty="0"/>
          </a:p>
        </p:txBody>
      </p:sp>
    </p:spTree>
    <p:extLst>
      <p:ext uri="{BB962C8B-B14F-4D97-AF65-F5344CB8AC3E}">
        <p14:creationId xmlns:p14="http://schemas.microsoft.com/office/powerpoint/2010/main" val="3655075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Méthodes par défaut </a:t>
            </a:r>
            <a:r>
              <a:rPr lang="fr-FR" sz="3600" dirty="0"/>
              <a:t>(Java 8)</a:t>
            </a:r>
            <a:endParaRPr lang="fr-FR" dirty="0"/>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p:txBody>
          <a:bodyPr>
            <a:normAutofit/>
          </a:bodyPr>
          <a:lstStyle/>
          <a:p>
            <a:pPr marL="0" indent="0">
              <a:buNone/>
            </a:pPr>
            <a:r>
              <a:rPr lang="fr-BE" sz="2400" dirty="0">
                <a:latin typeface="+mn-lt"/>
                <a:cs typeface="Consolas" panose="020B0609020204030204" pitchFamily="49" charset="0"/>
              </a:rPr>
              <a:t>Depuis Java 8, les interfaces permettent aussi de définir</a:t>
            </a:r>
          </a:p>
          <a:p>
            <a:pPr>
              <a:buFontTx/>
              <a:buChar char="-"/>
            </a:pPr>
            <a:r>
              <a:rPr lang="fr-BE" sz="2400" dirty="0">
                <a:latin typeface="+mn-lt"/>
                <a:cs typeface="Consolas" panose="020B0609020204030204" pitchFamily="49" charset="0"/>
              </a:rPr>
              <a:t>Des </a:t>
            </a:r>
            <a:r>
              <a:rPr lang="fr-BE" sz="2400" dirty="0">
                <a:solidFill>
                  <a:schemeClr val="accent4"/>
                </a:solidFill>
                <a:latin typeface="+mn-lt"/>
                <a:cs typeface="Consolas" panose="020B0609020204030204" pitchFamily="49" charset="0"/>
              </a:rPr>
              <a:t>méthodes par défaut</a:t>
            </a:r>
            <a:r>
              <a:rPr lang="fr-BE" sz="2400" dirty="0">
                <a:latin typeface="+mn-lt"/>
                <a:cs typeface="Consolas" panose="020B0609020204030204" pitchFamily="49" charset="0"/>
              </a:rPr>
              <a:t>… </a:t>
            </a:r>
          </a:p>
          <a:p>
            <a:pPr marL="0" indent="0">
              <a:buNone/>
            </a:pPr>
            <a:endParaRPr lang="fr-BE" sz="2400" dirty="0">
              <a:latin typeface="+mn-lt"/>
              <a:cs typeface="Consolas" panose="020B0609020204030204" pitchFamily="49" charset="0"/>
            </a:endParaRPr>
          </a:p>
          <a:p>
            <a:pPr marL="0" indent="0">
              <a:buNone/>
            </a:pPr>
            <a:r>
              <a:rPr lang="fr-BE" sz="2400" dirty="0">
                <a:latin typeface="+mn-lt"/>
                <a:cs typeface="Consolas" panose="020B0609020204030204" pitchFamily="49" charset="0"/>
              </a:rPr>
              <a:t>Rien de mieux qu’un exemple pour comprendre:</a:t>
            </a:r>
          </a:p>
          <a:p>
            <a:pPr marL="0" indent="0">
              <a:buNone/>
            </a:pPr>
            <a:endParaRPr lang="fr-BE" sz="2400" dirty="0">
              <a:latin typeface="+mn-lt"/>
              <a:cs typeface="Consolas" panose="020B0609020204030204" pitchFamily="49" charset="0"/>
            </a:endParaRPr>
          </a:p>
          <a:p>
            <a:pPr marL="0" indent="0">
              <a:buNone/>
            </a:pPr>
            <a:r>
              <a:rPr lang="fr-BE" sz="2000" dirty="0">
                <a:solidFill>
                  <a:schemeClr val="accent4"/>
                </a:solidFill>
                <a:latin typeface="Consolas" panose="020B0609020204030204" pitchFamily="49" charset="0"/>
                <a:cs typeface="Consolas" panose="020B0609020204030204" pitchFamily="49" charset="0"/>
              </a:rPr>
              <a:t>public interface </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start()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stop();</a:t>
            </a:r>
          </a:p>
          <a:p>
            <a:pPr marL="0" indent="0">
              <a:buNone/>
            </a:pPr>
            <a:r>
              <a:rPr lang="fr-BE" sz="2000" dirty="0">
                <a:solidFill>
                  <a:schemeClr val="accent4"/>
                </a:solidFill>
                <a:latin typeface="Consolas" panose="020B0609020204030204" pitchFamily="49" charset="0"/>
                <a:cs typeface="Consolas" panose="020B0609020204030204" pitchFamily="49" charset="0"/>
              </a:rPr>
              <a:t>}</a:t>
            </a:r>
            <a:r>
              <a:rPr lang="fr-BE" sz="2000" dirty="0">
                <a:latin typeface="+mn-lt"/>
                <a:cs typeface="Consolas" panose="020B0609020204030204" pitchFamily="49" charset="0"/>
              </a:rPr>
              <a:t> </a:t>
            </a:r>
          </a:p>
        </p:txBody>
      </p:sp>
      <p:sp>
        <p:nvSpPr>
          <p:cNvPr id="4" name="Espace réservé du numéro de diapositive 3">
            <a:extLst>
              <a:ext uri="{FF2B5EF4-FFF2-40B4-BE49-F238E27FC236}">
                <a16:creationId xmlns:a16="http://schemas.microsoft.com/office/drawing/2014/main" id="{7E4CC664-F1BA-3E60-0B80-914FF7842763}"/>
              </a:ext>
            </a:extLst>
          </p:cNvPr>
          <p:cNvSpPr>
            <a:spLocks noGrp="1"/>
          </p:cNvSpPr>
          <p:nvPr>
            <p:ph type="sldNum" sz="quarter" idx="4"/>
          </p:nvPr>
        </p:nvSpPr>
        <p:spPr/>
        <p:txBody>
          <a:bodyPr/>
          <a:lstStyle/>
          <a:p>
            <a:fld id="{33C783E2-4793-4F48-A271-51A73CC37D74}" type="slidenum">
              <a:rPr lang="fr-FR" smtClean="0"/>
              <a:t>13</a:t>
            </a:fld>
            <a:endParaRPr lang="fr-FR" dirty="0"/>
          </a:p>
        </p:txBody>
      </p:sp>
      <p:sp>
        <p:nvSpPr>
          <p:cNvPr id="6" name="ZoneTexte 5">
            <a:extLst>
              <a:ext uri="{FF2B5EF4-FFF2-40B4-BE49-F238E27FC236}">
                <a16:creationId xmlns:a16="http://schemas.microsoft.com/office/drawing/2014/main" id="{380AA661-F363-68B1-F6D7-BA03B8A25E88}"/>
              </a:ext>
            </a:extLst>
          </p:cNvPr>
          <p:cNvSpPr txBox="1"/>
          <p:nvPr/>
        </p:nvSpPr>
        <p:spPr>
          <a:xfrm>
            <a:off x="4452050" y="5733611"/>
            <a:ext cx="7184896" cy="430887"/>
          </a:xfrm>
          <a:prstGeom prst="rect">
            <a:avLst/>
          </a:prstGeom>
          <a:noFill/>
        </p:spPr>
        <p:txBody>
          <a:bodyPr wrap="square">
            <a:spAutoFit/>
          </a:bodyPr>
          <a:lstStyle/>
          <a:p>
            <a:r>
              <a:rPr lang="fr-BE" sz="2200" dirty="0">
                <a:latin typeface="+mn-lt"/>
                <a:cs typeface="Consolas" panose="020B0609020204030204" pitchFamily="49" charset="0"/>
              </a:rPr>
              <a:t>Un véhicule a deux comportements: </a:t>
            </a:r>
            <a:r>
              <a:rPr lang="fr-BE" sz="2200" b="1" dirty="0">
                <a:latin typeface="+mn-lt"/>
                <a:cs typeface="Consolas" panose="020B0609020204030204" pitchFamily="49" charset="0"/>
              </a:rPr>
              <a:t>démarrer</a:t>
            </a:r>
            <a:r>
              <a:rPr lang="fr-BE" sz="2200" dirty="0">
                <a:latin typeface="+mn-lt"/>
                <a:cs typeface="Consolas" panose="020B0609020204030204" pitchFamily="49" charset="0"/>
              </a:rPr>
              <a:t> et </a:t>
            </a:r>
            <a:r>
              <a:rPr lang="fr-BE" sz="2200" b="1" dirty="0">
                <a:cs typeface="Consolas" panose="020B0609020204030204" pitchFamily="49" charset="0"/>
              </a:rPr>
              <a:t>s’arrêter</a:t>
            </a:r>
            <a:endParaRPr lang="fr-FR" sz="2200" b="1" dirty="0"/>
          </a:p>
        </p:txBody>
      </p:sp>
    </p:spTree>
    <p:extLst>
      <p:ext uri="{BB962C8B-B14F-4D97-AF65-F5344CB8AC3E}">
        <p14:creationId xmlns:p14="http://schemas.microsoft.com/office/powerpoint/2010/main" val="254034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Champs et méthodes par défaut </a:t>
            </a:r>
            <a:r>
              <a:rPr lang="fr-FR" sz="3600" dirty="0"/>
              <a:t>(Java 8)</a:t>
            </a:r>
            <a:endParaRPr lang="fr-FR" dirty="0"/>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a:xfrm>
            <a:off x="838199" y="1825625"/>
            <a:ext cx="10671313" cy="4351338"/>
          </a:xfrm>
        </p:spPr>
        <p:txBody>
          <a:bodyPr>
            <a:normAutofit/>
          </a:bodyPr>
          <a:lstStyle/>
          <a:p>
            <a:pPr marL="0" indent="0">
              <a:buNone/>
            </a:pPr>
            <a:r>
              <a:rPr lang="fr-BE" sz="2400" dirty="0">
                <a:latin typeface="+mn-lt"/>
                <a:cs typeface="Consolas" panose="020B0609020204030204" pitchFamily="49" charset="0"/>
              </a:rPr>
              <a:t>Cette interface  sera implémentée par la classe </a:t>
            </a:r>
            <a:r>
              <a:rPr lang="fr-BE" sz="2000" dirty="0">
                <a:solidFill>
                  <a:schemeClr val="accent4"/>
                </a:solidFill>
                <a:latin typeface="Consolas" panose="020B0609020204030204" pitchFamily="49" charset="0"/>
                <a:cs typeface="Consolas" panose="020B0609020204030204" pitchFamily="49" charset="0"/>
              </a:rPr>
              <a:t>Car</a:t>
            </a:r>
            <a:r>
              <a:rPr lang="fr-BE" sz="2400" dirty="0">
                <a:latin typeface="+mn-lt"/>
                <a:cs typeface="Consolas" panose="020B0609020204030204" pitchFamily="49" charset="0"/>
              </a:rPr>
              <a:t>. </a:t>
            </a:r>
          </a:p>
          <a:p>
            <a:pPr marL="0" indent="0">
              <a:buNone/>
            </a:pPr>
            <a:r>
              <a:rPr lang="fr-BE" sz="2000" dirty="0">
                <a:solidFill>
                  <a:schemeClr val="accent4"/>
                </a:solidFill>
                <a:latin typeface="Consolas" panose="020B0609020204030204" pitchFamily="49" charset="0"/>
                <a:cs typeface="Consolas" panose="020B0609020204030204" pitchFamily="49" charset="0"/>
              </a:rPr>
              <a:t>public class Car </a:t>
            </a:r>
            <a:r>
              <a:rPr lang="fr-BE" sz="2000" dirty="0" err="1">
                <a:solidFill>
                  <a:schemeClr val="accent4"/>
                </a:solidFill>
                <a:latin typeface="Consolas" panose="020B0609020204030204" pitchFamily="49" charset="0"/>
                <a:cs typeface="Consolas" panose="020B0609020204030204" pitchFamily="49" charset="0"/>
              </a:rPr>
              <a:t>implements</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start() { </a:t>
            </a:r>
            <a:r>
              <a:rPr lang="fr-BE" sz="2000" dirty="0" err="1">
                <a:solidFill>
                  <a:schemeClr val="accent4"/>
                </a:solidFill>
                <a:latin typeface="Consolas" panose="020B0609020204030204" pitchFamily="49" charset="0"/>
                <a:cs typeface="Consolas" panose="020B0609020204030204" pitchFamily="49" charset="0"/>
              </a:rPr>
              <a:t>System.out.println</a:t>
            </a:r>
            <a:r>
              <a:rPr lang="fr-BE" sz="2000" dirty="0">
                <a:solidFill>
                  <a:schemeClr val="accent4"/>
                </a:solidFill>
                <a:latin typeface="Consolas" panose="020B0609020204030204" pitchFamily="49" charset="0"/>
                <a:cs typeface="Consolas" panose="020B0609020204030204" pitchFamily="49" charset="0"/>
              </a:rPr>
              <a:t>( "On démarre le moteur...");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stop() { </a:t>
            </a:r>
            <a:r>
              <a:rPr lang="fr-BE" sz="2000" dirty="0" err="1">
                <a:solidFill>
                  <a:schemeClr val="accent4"/>
                </a:solidFill>
                <a:latin typeface="Consolas" panose="020B0609020204030204" pitchFamily="49" charset="0"/>
                <a:cs typeface="Consolas" panose="020B0609020204030204" pitchFamily="49" charset="0"/>
              </a:rPr>
              <a:t>System.out.println</a:t>
            </a:r>
            <a:r>
              <a:rPr lang="fr-BE" sz="2000" dirty="0">
                <a:solidFill>
                  <a:schemeClr val="accent4"/>
                </a:solidFill>
                <a:latin typeface="Consolas" panose="020B0609020204030204" pitchFamily="49" charset="0"/>
                <a:cs typeface="Consolas" panose="020B0609020204030204" pitchFamily="49" charset="0"/>
              </a:rPr>
              <a:t>( "On arrête le moteur..."); }</a:t>
            </a:r>
          </a:p>
          <a:p>
            <a:pPr marL="0" indent="0">
              <a:buNone/>
            </a:pPr>
            <a:r>
              <a:rPr lang="fr-BE" sz="2000" dirty="0">
                <a:solidFill>
                  <a:schemeClr val="accent4"/>
                </a:solidFill>
                <a:latin typeface="Consolas" panose="020B0609020204030204" pitchFamily="49" charset="0"/>
                <a:cs typeface="Consolas" panose="020B0609020204030204" pitchFamily="49" charset="0"/>
              </a:rPr>
              <a:t>}</a:t>
            </a:r>
            <a:r>
              <a:rPr lang="fr-BE" sz="2000" dirty="0">
                <a:latin typeface="+mn-lt"/>
                <a:cs typeface="Consolas" panose="020B0609020204030204" pitchFamily="49" charset="0"/>
              </a:rPr>
              <a:t> </a:t>
            </a:r>
          </a:p>
          <a:p>
            <a:pPr marL="0" indent="0">
              <a:buNone/>
            </a:pPr>
            <a:endParaRPr lang="fr-BE" sz="2400" dirty="0">
              <a:latin typeface="+mn-lt"/>
              <a:cs typeface="Consolas" panose="020B0609020204030204" pitchFamily="49" charset="0"/>
            </a:endParaRPr>
          </a:p>
          <a:p>
            <a:pPr marL="0" indent="0">
              <a:buNone/>
            </a:pPr>
            <a:r>
              <a:rPr lang="fr-BE" sz="2400" dirty="0">
                <a:latin typeface="+mn-lt"/>
                <a:cs typeface="Consolas" panose="020B0609020204030204" pitchFamily="49" charset="0"/>
              </a:rPr>
              <a:t>Un objet de type </a:t>
            </a:r>
            <a:r>
              <a:rPr lang="fr-BE" sz="2000" dirty="0">
                <a:solidFill>
                  <a:schemeClr val="accent4"/>
                </a:solidFill>
                <a:latin typeface="Consolas" panose="020B0609020204030204" pitchFamily="49" charset="0"/>
                <a:cs typeface="Consolas" panose="020B0609020204030204" pitchFamily="49" charset="0"/>
              </a:rPr>
              <a:t>Car</a:t>
            </a:r>
            <a:r>
              <a:rPr lang="fr-BE" sz="2400" dirty="0">
                <a:latin typeface="+mn-lt"/>
                <a:cs typeface="Consolas" panose="020B0609020204030204" pitchFamily="49" charset="0"/>
              </a:rPr>
              <a:t> peut maintenant être </a:t>
            </a:r>
            <a:r>
              <a:rPr lang="fr-BE" sz="2400" dirty="0">
                <a:solidFill>
                  <a:schemeClr val="accent4"/>
                </a:solidFill>
                <a:latin typeface="+mn-lt"/>
                <a:cs typeface="Consolas" panose="020B0609020204030204" pitchFamily="49" charset="0"/>
              </a:rPr>
              <a:t>référencé</a:t>
            </a:r>
            <a:r>
              <a:rPr lang="fr-BE" sz="2400" dirty="0">
                <a:latin typeface="+mn-lt"/>
                <a:cs typeface="Consolas" panose="020B0609020204030204" pitchFamily="49" charset="0"/>
              </a:rPr>
              <a:t> comme instance de l’interface: </a:t>
            </a:r>
          </a:p>
          <a:p>
            <a:pPr marL="0" indent="0">
              <a:buNone/>
            </a:pP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jaguar = new Car();</a:t>
            </a:r>
          </a:p>
          <a:p>
            <a:pPr marL="0" indent="0">
              <a:buNone/>
            </a:pPr>
            <a:r>
              <a:rPr lang="fr-BE" sz="2000" dirty="0" err="1">
                <a:solidFill>
                  <a:schemeClr val="accent4"/>
                </a:solidFill>
                <a:latin typeface="Consolas" panose="020B0609020204030204" pitchFamily="49" charset="0"/>
                <a:cs typeface="Consolas" panose="020B0609020204030204" pitchFamily="49" charset="0"/>
              </a:rPr>
              <a:t>jaguar.start</a:t>
            </a:r>
            <a:r>
              <a:rPr lang="fr-BE" sz="2000" dirty="0">
                <a:solidFill>
                  <a:schemeClr val="accent4"/>
                </a:solidFill>
                <a:latin typeface="Consolas" panose="020B0609020204030204" pitchFamily="49" charset="0"/>
                <a:cs typeface="Consolas" panose="020B0609020204030204" pitchFamily="49" charset="0"/>
              </a:rPr>
              <a:t>();</a:t>
            </a:r>
          </a:p>
        </p:txBody>
      </p:sp>
      <p:sp>
        <p:nvSpPr>
          <p:cNvPr id="4" name="Espace réservé du numéro de diapositive 3">
            <a:extLst>
              <a:ext uri="{FF2B5EF4-FFF2-40B4-BE49-F238E27FC236}">
                <a16:creationId xmlns:a16="http://schemas.microsoft.com/office/drawing/2014/main" id="{8681C43D-C979-01D9-F84D-A4D1A1506021}"/>
              </a:ext>
            </a:extLst>
          </p:cNvPr>
          <p:cNvSpPr>
            <a:spLocks noGrp="1"/>
          </p:cNvSpPr>
          <p:nvPr>
            <p:ph type="sldNum" sz="quarter" idx="4"/>
          </p:nvPr>
        </p:nvSpPr>
        <p:spPr/>
        <p:txBody>
          <a:bodyPr/>
          <a:lstStyle/>
          <a:p>
            <a:fld id="{33C783E2-4793-4F48-A271-51A73CC37D74}" type="slidenum">
              <a:rPr lang="fr-FR" smtClean="0"/>
              <a:t>14</a:t>
            </a:fld>
            <a:endParaRPr lang="fr-FR" dirty="0"/>
          </a:p>
        </p:txBody>
      </p:sp>
    </p:spTree>
    <p:extLst>
      <p:ext uri="{BB962C8B-B14F-4D97-AF65-F5344CB8AC3E}">
        <p14:creationId xmlns:p14="http://schemas.microsoft.com/office/powerpoint/2010/main" val="2208292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Champs et méthodes par défaut </a:t>
            </a:r>
            <a:r>
              <a:rPr lang="fr-FR" sz="3600" dirty="0"/>
              <a:t>(Java 8)</a:t>
            </a:r>
            <a:endParaRPr lang="fr-FR" dirty="0"/>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a:xfrm>
            <a:off x="838199" y="1825625"/>
            <a:ext cx="10671313" cy="4351338"/>
          </a:xfrm>
        </p:spPr>
        <p:txBody>
          <a:bodyPr>
            <a:normAutofit/>
          </a:bodyPr>
          <a:lstStyle/>
          <a:p>
            <a:pPr marL="0" indent="0">
              <a:buNone/>
            </a:pPr>
            <a:r>
              <a:rPr lang="fr-BE" sz="2400" dirty="0">
                <a:latin typeface="+mn-lt"/>
                <a:cs typeface="Consolas" panose="020B0609020204030204" pitchFamily="49" charset="0"/>
              </a:rPr>
              <a:t>Si on définit aussi la classe </a:t>
            </a:r>
            <a:r>
              <a:rPr lang="fr-BE" sz="2000" dirty="0">
                <a:solidFill>
                  <a:schemeClr val="accent4"/>
                </a:solidFill>
                <a:latin typeface="Consolas" panose="020B0609020204030204" pitchFamily="49" charset="0"/>
                <a:cs typeface="Consolas" panose="020B0609020204030204" pitchFamily="49" charset="0"/>
              </a:rPr>
              <a:t>Truck</a:t>
            </a:r>
            <a:r>
              <a:rPr lang="fr-BE" sz="2400" dirty="0">
                <a:latin typeface="+mn-lt"/>
                <a:cs typeface="Consolas" panose="020B0609020204030204" pitchFamily="49" charset="0"/>
              </a:rPr>
              <a:t>. </a:t>
            </a:r>
          </a:p>
          <a:p>
            <a:pPr marL="0" indent="0">
              <a:buNone/>
            </a:pPr>
            <a:r>
              <a:rPr lang="fr-BE" sz="2000" dirty="0">
                <a:solidFill>
                  <a:schemeClr val="accent4"/>
                </a:solidFill>
                <a:latin typeface="Consolas" panose="020B0609020204030204" pitchFamily="49" charset="0"/>
                <a:cs typeface="Consolas" panose="020B0609020204030204" pitchFamily="49" charset="0"/>
              </a:rPr>
              <a:t>public class Truck </a:t>
            </a:r>
            <a:r>
              <a:rPr lang="fr-BE" sz="2000" dirty="0" err="1">
                <a:solidFill>
                  <a:schemeClr val="accent4"/>
                </a:solidFill>
                <a:latin typeface="Consolas" panose="020B0609020204030204" pitchFamily="49" charset="0"/>
                <a:cs typeface="Consolas" panose="020B0609020204030204" pitchFamily="49" charset="0"/>
              </a:rPr>
              <a:t>implements</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start() { </a:t>
            </a:r>
            <a:r>
              <a:rPr lang="fr-BE" sz="2000" dirty="0" err="1">
                <a:solidFill>
                  <a:schemeClr val="accent4"/>
                </a:solidFill>
                <a:latin typeface="Consolas" panose="020B0609020204030204" pitchFamily="49" charset="0"/>
                <a:cs typeface="Consolas" panose="020B0609020204030204" pitchFamily="49" charset="0"/>
              </a:rPr>
              <a:t>System.out.println</a:t>
            </a:r>
            <a:r>
              <a:rPr lang="fr-BE" sz="2000" dirty="0">
                <a:solidFill>
                  <a:schemeClr val="accent4"/>
                </a:solidFill>
                <a:latin typeface="Consolas" panose="020B0609020204030204" pitchFamily="49" charset="0"/>
                <a:cs typeface="Consolas" panose="020B0609020204030204" pitchFamily="49" charset="0"/>
              </a:rPr>
              <a:t>( "On démarre le camion...");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stop() { </a:t>
            </a:r>
            <a:r>
              <a:rPr lang="fr-BE" sz="2000" dirty="0" err="1">
                <a:solidFill>
                  <a:schemeClr val="accent4"/>
                </a:solidFill>
                <a:latin typeface="Consolas" panose="020B0609020204030204" pitchFamily="49" charset="0"/>
                <a:cs typeface="Consolas" panose="020B0609020204030204" pitchFamily="49" charset="0"/>
              </a:rPr>
              <a:t>System.out.println</a:t>
            </a:r>
            <a:r>
              <a:rPr lang="fr-BE" sz="2000" dirty="0">
                <a:solidFill>
                  <a:schemeClr val="accent4"/>
                </a:solidFill>
                <a:latin typeface="Consolas" panose="020B0609020204030204" pitchFamily="49" charset="0"/>
                <a:cs typeface="Consolas" panose="020B0609020204030204" pitchFamily="49" charset="0"/>
              </a:rPr>
              <a:t>( "On arrête le camion..."); }</a:t>
            </a:r>
          </a:p>
          <a:p>
            <a:pPr marL="0" indent="0">
              <a:buNone/>
            </a:pPr>
            <a:r>
              <a:rPr lang="fr-BE" sz="2000" dirty="0">
                <a:solidFill>
                  <a:schemeClr val="accent4"/>
                </a:solidFill>
                <a:latin typeface="Consolas" panose="020B0609020204030204" pitchFamily="49" charset="0"/>
                <a:cs typeface="Consolas" panose="020B0609020204030204" pitchFamily="49" charset="0"/>
              </a:rPr>
              <a:t>}</a:t>
            </a:r>
            <a:r>
              <a:rPr lang="fr-BE" sz="2000" dirty="0">
                <a:latin typeface="+mn-lt"/>
                <a:cs typeface="Consolas" panose="020B0609020204030204" pitchFamily="49" charset="0"/>
              </a:rPr>
              <a:t> </a:t>
            </a:r>
          </a:p>
          <a:p>
            <a:pPr marL="0" indent="0">
              <a:buNone/>
            </a:pPr>
            <a:endParaRPr lang="fr-BE" sz="2400" dirty="0">
              <a:latin typeface="+mn-lt"/>
              <a:cs typeface="Consolas" panose="020B0609020204030204" pitchFamily="49" charset="0"/>
            </a:endParaRPr>
          </a:p>
          <a:p>
            <a:pPr marL="0" indent="0">
              <a:buNone/>
            </a:pPr>
            <a:r>
              <a:rPr lang="fr-BE" sz="2400" dirty="0">
                <a:latin typeface="+mn-lt"/>
                <a:cs typeface="Consolas" panose="020B0609020204030204" pitchFamily="49" charset="0"/>
              </a:rPr>
              <a:t>Et une  classe </a:t>
            </a:r>
            <a:r>
              <a:rPr lang="fr-BE" sz="2000" dirty="0">
                <a:solidFill>
                  <a:schemeClr val="accent4"/>
                </a:solidFill>
                <a:latin typeface="Consolas" panose="020B0609020204030204" pitchFamily="49" charset="0"/>
                <a:cs typeface="Consolas" panose="020B0609020204030204" pitchFamily="49" charset="0"/>
              </a:rPr>
              <a:t>Starter</a:t>
            </a:r>
            <a:r>
              <a:rPr lang="fr-BE" sz="2400" dirty="0">
                <a:latin typeface="+mn-lt"/>
                <a:cs typeface="Consolas" panose="020B0609020204030204" pitchFamily="49" charset="0"/>
              </a:rPr>
              <a:t> qui peut faire démarrer des véhicules,</a:t>
            </a:r>
            <a:r>
              <a:rPr lang="fr-BE" sz="2800" dirty="0">
                <a:latin typeface="+mn-lt"/>
                <a:cs typeface="Consolas" panose="020B0609020204030204" pitchFamily="49" charset="0"/>
              </a:rPr>
              <a:t> </a:t>
            </a:r>
            <a:endParaRPr lang="fr-BE" sz="2400" dirty="0">
              <a:latin typeface="+mn-lt"/>
              <a:cs typeface="Consolas" panose="020B0609020204030204" pitchFamily="49" charset="0"/>
            </a:endParaRPr>
          </a:p>
          <a:p>
            <a:pPr marL="0" indent="0">
              <a:buNone/>
            </a:pPr>
            <a:r>
              <a:rPr lang="fr-BE" sz="2000" dirty="0">
                <a:solidFill>
                  <a:schemeClr val="accent4"/>
                </a:solidFill>
                <a:latin typeface="Consolas" panose="020B0609020204030204" pitchFamily="49" charset="0"/>
                <a:cs typeface="Consolas" panose="020B0609020204030204" pitchFamily="49" charset="0"/>
              </a:rPr>
              <a:t>public class Starter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static</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startEngine</a:t>
            </a:r>
            <a:r>
              <a:rPr lang="fr-BE" sz="2000" dirty="0">
                <a:solidFill>
                  <a:schemeClr val="accent4"/>
                </a:solidFill>
                <a:latin typeface="Consolas" panose="020B0609020204030204" pitchFamily="49" charset="0"/>
                <a:cs typeface="Consolas" panose="020B0609020204030204" pitchFamily="49" charset="0"/>
              </a:rPr>
              <a:t>(</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 </a:t>
            </a:r>
            <a:r>
              <a:rPr lang="fr-BE" sz="2000" dirty="0" err="1">
                <a:solidFill>
                  <a:schemeClr val="accent4"/>
                </a:solidFill>
                <a:latin typeface="Consolas" panose="020B0609020204030204" pitchFamily="49" charset="0"/>
                <a:cs typeface="Consolas" panose="020B0609020204030204" pitchFamily="49" charset="0"/>
              </a:rPr>
              <a:t>vehicle.start</a:t>
            </a:r>
            <a:r>
              <a:rPr lang="fr-BE" sz="2000" dirty="0">
                <a:solidFill>
                  <a:schemeClr val="accent4"/>
                </a:solidFill>
                <a:latin typeface="Consolas" panose="020B0609020204030204" pitchFamily="49" charset="0"/>
                <a:cs typeface="Consolas" panose="020B0609020204030204" pitchFamily="49" charset="0"/>
              </a:rPr>
              <a:t>(); }</a:t>
            </a:r>
          </a:p>
          <a:p>
            <a:pPr marL="0" indent="0">
              <a:buNone/>
            </a:pPr>
            <a:r>
              <a:rPr lang="fr-BE" sz="2000" dirty="0">
                <a:solidFill>
                  <a:schemeClr val="accent4"/>
                </a:solidFill>
                <a:latin typeface="Consolas" panose="020B0609020204030204" pitchFamily="49" charset="0"/>
                <a:cs typeface="Consolas" panose="020B0609020204030204" pitchFamily="49" charset="0"/>
              </a:rPr>
              <a:t>}</a:t>
            </a:r>
          </a:p>
        </p:txBody>
      </p:sp>
      <p:sp>
        <p:nvSpPr>
          <p:cNvPr id="4" name="ZoneTexte 3">
            <a:extLst>
              <a:ext uri="{FF2B5EF4-FFF2-40B4-BE49-F238E27FC236}">
                <a16:creationId xmlns:a16="http://schemas.microsoft.com/office/drawing/2014/main" id="{3C20CF7E-4EEE-C61E-BF56-E14ABCCA932C}"/>
              </a:ext>
            </a:extLst>
          </p:cNvPr>
          <p:cNvSpPr txBox="1"/>
          <p:nvPr/>
        </p:nvSpPr>
        <p:spPr>
          <a:xfrm>
            <a:off x="5671930" y="5267739"/>
            <a:ext cx="2496784" cy="337159"/>
          </a:xfrm>
          <a:prstGeom prst="roundRect">
            <a:avLst/>
          </a:prstGeom>
          <a:noFill/>
          <a:ln>
            <a:solidFill>
              <a:schemeClr val="accent4"/>
            </a:solidFill>
          </a:ln>
        </p:spPr>
        <p:txBody>
          <a:bodyPr wrap="square" rtlCol="0">
            <a:spAutoFit/>
          </a:bodyPr>
          <a:lstStyle/>
          <a:p>
            <a:endParaRPr lang="fr-FR" sz="1600" dirty="0">
              <a:solidFill>
                <a:schemeClr val="accent4"/>
              </a:solidFill>
              <a:latin typeface="Consolas" panose="020B0609020204030204" pitchFamily="49" charset="0"/>
              <a:cs typeface="Consolas" panose="020B0609020204030204" pitchFamily="49" charset="0"/>
            </a:endParaRPr>
          </a:p>
        </p:txBody>
      </p:sp>
      <p:sp>
        <p:nvSpPr>
          <p:cNvPr id="6" name="ZoneTexte 5">
            <a:extLst>
              <a:ext uri="{FF2B5EF4-FFF2-40B4-BE49-F238E27FC236}">
                <a16:creationId xmlns:a16="http://schemas.microsoft.com/office/drawing/2014/main" id="{9F32335A-F2B6-5398-9E5F-FA943956F69F}"/>
              </a:ext>
            </a:extLst>
          </p:cNvPr>
          <p:cNvSpPr txBox="1"/>
          <p:nvPr/>
        </p:nvSpPr>
        <p:spPr>
          <a:xfrm>
            <a:off x="6241774" y="4898407"/>
            <a:ext cx="1716157" cy="369332"/>
          </a:xfrm>
          <a:prstGeom prst="rect">
            <a:avLst/>
          </a:prstGeom>
          <a:noFill/>
        </p:spPr>
        <p:txBody>
          <a:bodyPr wrap="square">
            <a:spAutoFit/>
          </a:bodyPr>
          <a:lstStyle/>
          <a:p>
            <a:r>
              <a:rPr lang="fr-BE" dirty="0">
                <a:solidFill>
                  <a:schemeClr val="accent4"/>
                </a:solidFill>
                <a:cs typeface="Consolas" panose="020B0609020204030204" pitchFamily="49" charset="0"/>
              </a:rPr>
              <a:t>Polymorphisme</a:t>
            </a:r>
            <a:endParaRPr lang="fr-FR" dirty="0">
              <a:solidFill>
                <a:schemeClr val="accent4"/>
              </a:solidFill>
            </a:endParaRPr>
          </a:p>
        </p:txBody>
      </p:sp>
      <p:sp>
        <p:nvSpPr>
          <p:cNvPr id="5" name="Espace réservé du numéro de diapositive 4">
            <a:extLst>
              <a:ext uri="{FF2B5EF4-FFF2-40B4-BE49-F238E27FC236}">
                <a16:creationId xmlns:a16="http://schemas.microsoft.com/office/drawing/2014/main" id="{3B69FA70-C59B-D3A2-8EB0-4360C9BD1E54}"/>
              </a:ext>
            </a:extLst>
          </p:cNvPr>
          <p:cNvSpPr>
            <a:spLocks noGrp="1"/>
          </p:cNvSpPr>
          <p:nvPr>
            <p:ph type="sldNum" sz="quarter" idx="4"/>
          </p:nvPr>
        </p:nvSpPr>
        <p:spPr/>
        <p:txBody>
          <a:bodyPr/>
          <a:lstStyle/>
          <a:p>
            <a:fld id="{33C783E2-4793-4F48-A271-51A73CC37D74}" type="slidenum">
              <a:rPr lang="fr-FR" smtClean="0"/>
              <a:t>15</a:t>
            </a:fld>
            <a:endParaRPr lang="fr-FR" dirty="0"/>
          </a:p>
        </p:txBody>
      </p:sp>
    </p:spTree>
    <p:extLst>
      <p:ext uri="{BB962C8B-B14F-4D97-AF65-F5344CB8AC3E}">
        <p14:creationId xmlns:p14="http://schemas.microsoft.com/office/powerpoint/2010/main" val="40392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Champs et méthodes par défaut </a:t>
            </a:r>
            <a:r>
              <a:rPr lang="fr-FR" sz="3600" dirty="0"/>
              <a:t>(Java 8)</a:t>
            </a:r>
            <a:endParaRPr lang="fr-FR" dirty="0"/>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a:xfrm>
            <a:off x="838199" y="1825625"/>
            <a:ext cx="10671313" cy="4351338"/>
          </a:xfrm>
        </p:spPr>
        <p:txBody>
          <a:bodyPr>
            <a:normAutofit/>
          </a:bodyPr>
          <a:lstStyle/>
          <a:p>
            <a:pPr marL="0" indent="0">
              <a:buNone/>
            </a:pPr>
            <a:r>
              <a:rPr lang="fr-BE" sz="2400" dirty="0">
                <a:latin typeface="+mn-lt"/>
                <a:cs typeface="Consolas" panose="020B0609020204030204" pitchFamily="49" charset="0"/>
              </a:rPr>
              <a:t>On peut alors utiliser la classe </a:t>
            </a:r>
            <a:r>
              <a:rPr lang="fr-BE" sz="2000" dirty="0">
                <a:solidFill>
                  <a:schemeClr val="accent4"/>
                </a:solidFill>
                <a:latin typeface="Consolas" panose="020B0609020204030204" pitchFamily="49" charset="0"/>
                <a:cs typeface="Consolas" panose="020B0609020204030204" pitchFamily="49" charset="0"/>
              </a:rPr>
              <a:t>Starter</a:t>
            </a:r>
            <a:r>
              <a:rPr lang="fr-BE" sz="2400" dirty="0">
                <a:latin typeface="+mn-lt"/>
                <a:cs typeface="Consolas" panose="020B0609020204030204" pitchFamily="49" charset="0"/>
              </a:rPr>
              <a:t> pour démarrer tous nos</a:t>
            </a:r>
            <a:r>
              <a:rPr lang="fr-BE" sz="2800" dirty="0">
                <a:latin typeface="+mn-lt"/>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Vehicle</a:t>
            </a:r>
            <a:r>
              <a:rPr lang="fr-BE" sz="2800" dirty="0">
                <a:latin typeface="+mn-lt"/>
                <a:cs typeface="Consolas" panose="020B0609020204030204" pitchFamily="49" charset="0"/>
              </a:rPr>
              <a:t>, qu’ils soient </a:t>
            </a:r>
            <a:r>
              <a:rPr lang="fr-BE" sz="2000" dirty="0">
                <a:solidFill>
                  <a:schemeClr val="accent4"/>
                </a:solidFill>
                <a:latin typeface="Consolas" panose="020B0609020204030204" pitchFamily="49" charset="0"/>
                <a:cs typeface="Consolas" panose="020B0609020204030204" pitchFamily="49" charset="0"/>
              </a:rPr>
              <a:t>Car</a:t>
            </a:r>
            <a:r>
              <a:rPr lang="fr-BE" sz="2800" dirty="0">
                <a:latin typeface="+mn-lt"/>
                <a:cs typeface="Consolas" panose="020B0609020204030204" pitchFamily="49" charset="0"/>
              </a:rPr>
              <a:t> ou</a:t>
            </a:r>
            <a:r>
              <a:rPr lang="fr-BE" sz="2400" dirty="0">
                <a:latin typeface="+mn-lt"/>
                <a:cs typeface="Consolas" panose="020B0609020204030204" pitchFamily="49" charset="0"/>
              </a:rPr>
              <a:t> </a:t>
            </a:r>
            <a:r>
              <a:rPr lang="fr-BE" sz="2000" dirty="0">
                <a:solidFill>
                  <a:schemeClr val="accent4"/>
                </a:solidFill>
                <a:latin typeface="Consolas" panose="020B0609020204030204" pitchFamily="49" charset="0"/>
                <a:cs typeface="Consolas" panose="020B0609020204030204" pitchFamily="49" charset="0"/>
              </a:rPr>
              <a:t>Truck</a:t>
            </a:r>
            <a:r>
              <a:rPr lang="fr-BE" sz="2400" dirty="0">
                <a:latin typeface="+mn-lt"/>
                <a:cs typeface="Consolas" panose="020B0609020204030204" pitchFamily="49" charset="0"/>
              </a:rPr>
              <a:t>. </a:t>
            </a:r>
          </a:p>
          <a:p>
            <a:pPr marL="0" indent="0">
              <a:buNone/>
            </a:pPr>
            <a:endParaRPr lang="fr-BE" sz="2400" dirty="0">
              <a:latin typeface="+mn-lt"/>
              <a:cs typeface="Consolas" panose="020B0609020204030204" pitchFamily="49" charset="0"/>
            </a:endParaRPr>
          </a:p>
          <a:p>
            <a:pPr marL="0" indent="0">
              <a:buNone/>
            </a:pP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jaguar = new Car();</a:t>
            </a:r>
          </a:p>
          <a:p>
            <a:pPr marL="0" indent="0">
              <a:buNone/>
            </a:pP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scania</a:t>
            </a:r>
            <a:r>
              <a:rPr lang="fr-BE" sz="2000" dirty="0">
                <a:solidFill>
                  <a:schemeClr val="accent4"/>
                </a:solidFill>
                <a:latin typeface="Consolas" panose="020B0609020204030204" pitchFamily="49" charset="0"/>
                <a:cs typeface="Consolas" panose="020B0609020204030204" pitchFamily="49" charset="0"/>
              </a:rPr>
              <a:t> = new Truck();</a:t>
            </a:r>
          </a:p>
          <a:p>
            <a:pPr marL="0" indent="0">
              <a:buNone/>
            </a:pPr>
            <a:endParaRPr lang="fr-BE" sz="2000" dirty="0">
              <a:solidFill>
                <a:schemeClr val="accent4"/>
              </a:solidFill>
              <a:latin typeface="Consolas" panose="020B0609020204030204" pitchFamily="49" charset="0"/>
              <a:cs typeface="Consolas" panose="020B0609020204030204" pitchFamily="49" charset="0"/>
            </a:endParaRPr>
          </a:p>
          <a:p>
            <a:pPr marL="0" indent="0">
              <a:buNone/>
            </a:pPr>
            <a:r>
              <a:rPr lang="fr-BE" sz="2000" dirty="0" err="1">
                <a:solidFill>
                  <a:schemeClr val="accent4"/>
                </a:solidFill>
                <a:latin typeface="Consolas" panose="020B0609020204030204" pitchFamily="49" charset="0"/>
                <a:cs typeface="Consolas" panose="020B0609020204030204" pitchFamily="49" charset="0"/>
              </a:rPr>
              <a:t>Starter.startEngine</a:t>
            </a:r>
            <a:r>
              <a:rPr lang="fr-BE" sz="2000" dirty="0">
                <a:solidFill>
                  <a:schemeClr val="accent4"/>
                </a:solidFill>
                <a:latin typeface="Consolas" panose="020B0609020204030204" pitchFamily="49" charset="0"/>
                <a:cs typeface="Consolas" panose="020B0609020204030204" pitchFamily="49" charset="0"/>
              </a:rPr>
              <a:t>(jaguar);</a:t>
            </a:r>
          </a:p>
          <a:p>
            <a:pPr marL="0" indent="0">
              <a:buNone/>
            </a:pPr>
            <a:r>
              <a:rPr lang="fr-BE" sz="2000" dirty="0" err="1">
                <a:solidFill>
                  <a:schemeClr val="accent4"/>
                </a:solidFill>
                <a:latin typeface="Consolas" panose="020B0609020204030204" pitchFamily="49" charset="0"/>
                <a:cs typeface="Consolas" panose="020B0609020204030204" pitchFamily="49" charset="0"/>
              </a:rPr>
              <a:t>Starter.startEngine</a:t>
            </a:r>
            <a:r>
              <a:rPr lang="fr-BE" sz="2000" dirty="0">
                <a:solidFill>
                  <a:schemeClr val="accent4"/>
                </a:solidFill>
                <a:latin typeface="Consolas" panose="020B0609020204030204" pitchFamily="49" charset="0"/>
                <a:cs typeface="Consolas" panose="020B0609020204030204" pitchFamily="49" charset="0"/>
              </a:rPr>
              <a:t>(</a:t>
            </a:r>
            <a:r>
              <a:rPr lang="fr-BE" sz="2000" dirty="0" err="1">
                <a:solidFill>
                  <a:schemeClr val="accent4"/>
                </a:solidFill>
                <a:latin typeface="Consolas" panose="020B0609020204030204" pitchFamily="49" charset="0"/>
                <a:cs typeface="Consolas" panose="020B0609020204030204" pitchFamily="49" charset="0"/>
              </a:rPr>
              <a:t>scania</a:t>
            </a:r>
            <a:r>
              <a:rPr lang="fr-BE" sz="2000" dirty="0">
                <a:solidFill>
                  <a:schemeClr val="accent4"/>
                </a:solidFill>
                <a:latin typeface="Consolas" panose="020B0609020204030204" pitchFamily="49" charset="0"/>
                <a:cs typeface="Consolas" panose="020B0609020204030204" pitchFamily="49" charset="0"/>
              </a:rPr>
              <a:t>);</a:t>
            </a:r>
          </a:p>
          <a:p>
            <a:pPr marL="0" indent="0">
              <a:buNone/>
            </a:pPr>
            <a:endParaRPr lang="fr-BE" sz="2000" dirty="0">
              <a:latin typeface="+mn-lt"/>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4552DB19-AEFC-CEA0-FBE7-AE45136A7A94}"/>
              </a:ext>
            </a:extLst>
          </p:cNvPr>
          <p:cNvSpPr>
            <a:spLocks noGrp="1"/>
          </p:cNvSpPr>
          <p:nvPr>
            <p:ph type="sldNum" sz="quarter" idx="4"/>
          </p:nvPr>
        </p:nvSpPr>
        <p:spPr/>
        <p:txBody>
          <a:bodyPr/>
          <a:lstStyle/>
          <a:p>
            <a:fld id="{33C783E2-4793-4F48-A271-51A73CC37D74}" type="slidenum">
              <a:rPr lang="fr-FR" smtClean="0"/>
              <a:t>16</a:t>
            </a:fld>
            <a:endParaRPr lang="fr-FR" dirty="0"/>
          </a:p>
        </p:txBody>
      </p:sp>
    </p:spTree>
    <p:extLst>
      <p:ext uri="{BB962C8B-B14F-4D97-AF65-F5344CB8AC3E}">
        <p14:creationId xmlns:p14="http://schemas.microsoft.com/office/powerpoint/2010/main" val="1185863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Et la méthode par défaut…?</a:t>
            </a:r>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a:xfrm>
            <a:off x="838199" y="1825625"/>
            <a:ext cx="10671313" cy="4351338"/>
          </a:xfrm>
        </p:spPr>
        <p:txBody>
          <a:bodyPr>
            <a:normAutofit fontScale="92500" lnSpcReduction="10000"/>
          </a:bodyPr>
          <a:lstStyle/>
          <a:p>
            <a:pPr marL="0" indent="0">
              <a:buNone/>
            </a:pPr>
            <a:r>
              <a:rPr lang="fr-BE" sz="2400" dirty="0">
                <a:latin typeface="+mn-lt"/>
                <a:cs typeface="Consolas" panose="020B0609020204030204" pitchFamily="49" charset="0"/>
              </a:rPr>
              <a:t>Quelques mois après avoir défini votre interface </a:t>
            </a:r>
            <a:r>
              <a:rPr lang="fr-BE" sz="2100" dirty="0" err="1">
                <a:solidFill>
                  <a:schemeClr val="accent4"/>
                </a:solidFill>
                <a:latin typeface="Consolas" panose="020B0609020204030204" pitchFamily="49" charset="0"/>
                <a:cs typeface="Consolas" panose="020B0609020204030204" pitchFamily="49" charset="0"/>
              </a:rPr>
              <a:t>Vehicle</a:t>
            </a:r>
            <a:r>
              <a:rPr lang="fr-BE" sz="2400" dirty="0">
                <a:latin typeface="+mn-lt"/>
                <a:cs typeface="Consolas" panose="020B0609020204030204" pitchFamily="49" charset="0"/>
              </a:rPr>
              <a:t>, elle est utilisée dans une dizaine de classes…</a:t>
            </a:r>
          </a:p>
          <a:p>
            <a:pPr marL="0" indent="0">
              <a:buNone/>
            </a:pPr>
            <a:r>
              <a:rPr lang="fr-BE" sz="2400" dirty="0">
                <a:latin typeface="+mn-lt"/>
                <a:cs typeface="Consolas" panose="020B0609020204030204" pitchFamily="49" charset="0"/>
              </a:rPr>
              <a:t>On vous demande d’y ajouter la possibilité de klaxonner… </a:t>
            </a:r>
          </a:p>
          <a:p>
            <a:pPr marL="0" indent="0">
              <a:buNone/>
            </a:pPr>
            <a:r>
              <a:rPr lang="fr-BE" sz="2400" dirty="0">
                <a:latin typeface="+mn-lt"/>
                <a:cs typeface="Consolas" panose="020B0609020204030204" pitchFamily="49" charset="0"/>
              </a:rPr>
              <a:t>Les méthodes par défaut permettent de faire cela sans impacter les classes déjà définies…</a:t>
            </a:r>
          </a:p>
          <a:p>
            <a:pPr marL="0" indent="0">
              <a:buNone/>
            </a:pPr>
            <a:endParaRPr lang="fr-BE" sz="2400" dirty="0">
              <a:latin typeface="+mn-lt"/>
              <a:cs typeface="Consolas" panose="020B0609020204030204" pitchFamily="49" charset="0"/>
            </a:endParaRPr>
          </a:p>
          <a:p>
            <a:pPr marL="0" indent="0">
              <a:buNone/>
            </a:pPr>
            <a:r>
              <a:rPr lang="fr-BE" sz="2000" dirty="0">
                <a:solidFill>
                  <a:schemeClr val="accent4"/>
                </a:solidFill>
                <a:latin typeface="Consolas" panose="020B0609020204030204" pitchFamily="49" charset="0"/>
                <a:cs typeface="Consolas" panose="020B0609020204030204" pitchFamily="49" charset="0"/>
              </a:rPr>
              <a:t>public interface </a:t>
            </a:r>
            <a:r>
              <a:rPr lang="fr-BE" sz="2000" dirty="0" err="1">
                <a:solidFill>
                  <a:schemeClr val="accent4"/>
                </a:solidFill>
                <a:latin typeface="Consolas" panose="020B0609020204030204" pitchFamily="49" charset="0"/>
                <a:cs typeface="Consolas" panose="020B0609020204030204" pitchFamily="49" charset="0"/>
              </a:rPr>
              <a:t>Vehicle</a:t>
            </a:r>
            <a:r>
              <a:rPr lang="fr-BE" sz="2000" dirty="0">
                <a:solidFill>
                  <a:schemeClr val="accent4"/>
                </a:solidFill>
                <a:latin typeface="Consolas" panose="020B0609020204030204" pitchFamily="49" charset="0"/>
                <a:cs typeface="Consolas" panose="020B0609020204030204" pitchFamily="49" charset="0"/>
              </a:rPr>
              <a: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String </a:t>
            </a:r>
            <a:r>
              <a:rPr lang="fr-BE" sz="2000" dirty="0" err="1">
                <a:solidFill>
                  <a:schemeClr val="accent4"/>
                </a:solidFill>
                <a:latin typeface="Consolas" panose="020B0609020204030204" pitchFamily="49" charset="0"/>
                <a:cs typeface="Consolas" panose="020B0609020204030204" pitchFamily="49" charset="0"/>
              </a:rPr>
              <a:t>licensePlate</a:t>
            </a:r>
            <a:r>
              <a:rPr lang="fr-BE" sz="2000" dirty="0">
                <a:solidFill>
                  <a:schemeClr val="accent4"/>
                </a:solidFill>
                <a:latin typeface="Consolas" panose="020B0609020204030204" pitchFamily="49" charset="0"/>
                <a:cs typeface="Consolas" panose="020B0609020204030204" pitchFamily="49" charset="0"/>
              </a:rPr>
              <a:t> =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float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maxVelocity</a:t>
            </a:r>
            <a:r>
              <a:rPr lang="fr-BE" sz="2000" dirty="0">
                <a:solidFill>
                  <a:schemeClr val="accent4"/>
                </a:solidFill>
                <a:latin typeface="Consolas" panose="020B0609020204030204" pitchFamily="49" charset="0"/>
                <a:cs typeface="Consolas" panose="020B0609020204030204" pitchFamily="49" charset="0"/>
              </a:rPr>
              <a:t>;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start() ; </a:t>
            </a:r>
          </a:p>
          <a:p>
            <a:pPr marL="0" indent="0">
              <a:buNone/>
            </a:pPr>
            <a:r>
              <a:rPr lang="fr-BE" sz="2000" dirty="0">
                <a:solidFill>
                  <a:schemeClr val="accent4"/>
                </a:solidFill>
                <a:latin typeface="Consolas" panose="020B0609020204030204" pitchFamily="49" charset="0"/>
                <a:cs typeface="Consolas" panose="020B0609020204030204" pitchFamily="49" charset="0"/>
              </a:rPr>
              <a:t>    public </a:t>
            </a:r>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stop();</a:t>
            </a:r>
          </a:p>
          <a:p>
            <a:pPr marL="0" indent="0">
              <a:buNone/>
            </a:pPr>
            <a:r>
              <a:rPr lang="fr-BE" sz="2000" dirty="0">
                <a:solidFill>
                  <a:schemeClr val="accent2"/>
                </a:solidFill>
                <a:latin typeface="Consolas" panose="020B0609020204030204" pitchFamily="49" charset="0"/>
                <a:cs typeface="Consolas" panose="020B0609020204030204" pitchFamily="49" charset="0"/>
              </a:rPr>
              <a:t>    default </a:t>
            </a:r>
            <a:r>
              <a:rPr lang="fr-BE" sz="2000" dirty="0" err="1">
                <a:solidFill>
                  <a:schemeClr val="accent2"/>
                </a:solidFill>
                <a:latin typeface="Consolas" panose="020B0609020204030204" pitchFamily="49" charset="0"/>
                <a:cs typeface="Consolas" panose="020B0609020204030204" pitchFamily="49" charset="0"/>
              </a:rPr>
              <a:t>void</a:t>
            </a:r>
            <a:r>
              <a:rPr lang="fr-BE" sz="2000" dirty="0">
                <a:solidFill>
                  <a:schemeClr val="accent2"/>
                </a:solidFill>
                <a:latin typeface="Consolas" panose="020B0609020204030204" pitchFamily="49" charset="0"/>
                <a:cs typeface="Consolas" panose="020B0609020204030204" pitchFamily="49" charset="0"/>
              </a:rPr>
              <a:t> </a:t>
            </a:r>
            <a:r>
              <a:rPr lang="fr-BE" sz="2000" dirty="0" err="1">
                <a:solidFill>
                  <a:schemeClr val="accent2"/>
                </a:solidFill>
                <a:latin typeface="Consolas" panose="020B0609020204030204" pitchFamily="49" charset="0"/>
                <a:cs typeface="Consolas" panose="020B0609020204030204" pitchFamily="49" charset="0"/>
              </a:rPr>
              <a:t>blowHorn</a:t>
            </a:r>
            <a:r>
              <a:rPr lang="fr-BE" sz="2000" dirty="0">
                <a:solidFill>
                  <a:schemeClr val="accent2"/>
                </a:solidFill>
                <a:latin typeface="Consolas" panose="020B0609020204030204" pitchFamily="49" charset="0"/>
                <a:cs typeface="Consolas" panose="020B0609020204030204" pitchFamily="49" charset="0"/>
              </a:rPr>
              <a:t>() { </a:t>
            </a:r>
            <a:r>
              <a:rPr lang="fr-BE" sz="2000" dirty="0" err="1">
                <a:solidFill>
                  <a:schemeClr val="accent2"/>
                </a:solidFill>
                <a:latin typeface="Consolas" panose="020B0609020204030204" pitchFamily="49" charset="0"/>
                <a:cs typeface="Consolas" panose="020B0609020204030204" pitchFamily="49" charset="0"/>
              </a:rPr>
              <a:t>System.out.println</a:t>
            </a:r>
            <a:r>
              <a:rPr lang="fr-BE" sz="2000" dirty="0">
                <a:solidFill>
                  <a:schemeClr val="accent2"/>
                </a:solidFill>
                <a:latin typeface="Consolas" panose="020B0609020204030204" pitchFamily="49" charset="0"/>
                <a:cs typeface="Consolas" panose="020B0609020204030204" pitchFamily="49" charset="0"/>
              </a:rPr>
              <a:t>("</a:t>
            </a:r>
            <a:r>
              <a:rPr lang="fr-BE" sz="2000" dirty="0" err="1">
                <a:solidFill>
                  <a:schemeClr val="accent2"/>
                </a:solidFill>
                <a:latin typeface="Consolas" panose="020B0609020204030204" pitchFamily="49" charset="0"/>
                <a:cs typeface="Consolas" panose="020B0609020204030204" pitchFamily="49" charset="0"/>
              </a:rPr>
              <a:t>Tuut</a:t>
            </a:r>
            <a:r>
              <a:rPr lang="fr-BE" sz="2000" dirty="0">
                <a:solidFill>
                  <a:schemeClr val="accent2"/>
                </a:solidFill>
                <a:latin typeface="Consolas" panose="020B0609020204030204" pitchFamily="49" charset="0"/>
                <a:cs typeface="Consolas" panose="020B0609020204030204" pitchFamily="49" charset="0"/>
              </a:rPr>
              <a:t>") };</a:t>
            </a:r>
          </a:p>
          <a:p>
            <a:pPr marL="0" indent="0">
              <a:buNone/>
            </a:pPr>
            <a:r>
              <a:rPr lang="fr-BE" sz="2000" dirty="0">
                <a:solidFill>
                  <a:schemeClr val="accent4"/>
                </a:solidFill>
                <a:latin typeface="Consolas" panose="020B0609020204030204" pitchFamily="49" charset="0"/>
                <a:cs typeface="Consolas" panose="020B0609020204030204" pitchFamily="49" charset="0"/>
              </a:rPr>
              <a:t>}</a:t>
            </a:r>
            <a:r>
              <a:rPr lang="fr-BE" sz="2000" dirty="0">
                <a:latin typeface="+mn-lt"/>
                <a:cs typeface="Consolas" panose="020B0609020204030204" pitchFamily="49" charset="0"/>
              </a:rPr>
              <a:t> </a:t>
            </a:r>
          </a:p>
          <a:p>
            <a:pPr marL="0" indent="0">
              <a:buNone/>
            </a:pPr>
            <a:endParaRPr lang="fr-BE" sz="2000" dirty="0">
              <a:latin typeface="+mn-lt"/>
              <a:cs typeface="Consolas" panose="020B0609020204030204" pitchFamily="49" charset="0"/>
            </a:endParaRPr>
          </a:p>
        </p:txBody>
      </p:sp>
      <p:sp>
        <p:nvSpPr>
          <p:cNvPr id="4" name="ZoneTexte 3">
            <a:extLst>
              <a:ext uri="{FF2B5EF4-FFF2-40B4-BE49-F238E27FC236}">
                <a16:creationId xmlns:a16="http://schemas.microsoft.com/office/drawing/2014/main" id="{3C53CDF2-EEB9-29E5-3964-0A1BA0BE5D14}"/>
              </a:ext>
            </a:extLst>
          </p:cNvPr>
          <p:cNvSpPr txBox="1"/>
          <p:nvPr/>
        </p:nvSpPr>
        <p:spPr>
          <a:xfrm>
            <a:off x="6494022" y="5665567"/>
            <a:ext cx="4423598" cy="646331"/>
          </a:xfrm>
          <a:prstGeom prst="rect">
            <a:avLst/>
          </a:prstGeom>
          <a:noFill/>
        </p:spPr>
        <p:txBody>
          <a:bodyPr wrap="square">
            <a:spAutoFit/>
          </a:bodyPr>
          <a:lstStyle/>
          <a:p>
            <a:r>
              <a:rPr lang="fr-BE" dirty="0">
                <a:solidFill>
                  <a:schemeClr val="accent4"/>
                </a:solidFill>
                <a:cs typeface="Consolas" panose="020B0609020204030204" pitchFamily="49" charset="0"/>
              </a:rPr>
              <a:t>Sans cette méthode par défaut, vous seriez obligé de modifier les anciennes classes…</a:t>
            </a:r>
            <a:endParaRPr lang="fr-FR" dirty="0">
              <a:solidFill>
                <a:schemeClr val="accent4"/>
              </a:solidFill>
            </a:endParaRPr>
          </a:p>
        </p:txBody>
      </p:sp>
      <p:sp>
        <p:nvSpPr>
          <p:cNvPr id="5" name="Espace réservé du numéro de diapositive 4">
            <a:extLst>
              <a:ext uri="{FF2B5EF4-FFF2-40B4-BE49-F238E27FC236}">
                <a16:creationId xmlns:a16="http://schemas.microsoft.com/office/drawing/2014/main" id="{492AB60F-7909-472F-55EF-B9144B46A88B}"/>
              </a:ext>
            </a:extLst>
          </p:cNvPr>
          <p:cNvSpPr>
            <a:spLocks noGrp="1"/>
          </p:cNvSpPr>
          <p:nvPr>
            <p:ph type="sldNum" sz="quarter" idx="4"/>
          </p:nvPr>
        </p:nvSpPr>
        <p:spPr/>
        <p:txBody>
          <a:bodyPr/>
          <a:lstStyle/>
          <a:p>
            <a:fld id="{33C783E2-4793-4F48-A271-51A73CC37D74}" type="slidenum">
              <a:rPr lang="fr-FR" smtClean="0"/>
              <a:t>17</a:t>
            </a:fld>
            <a:endParaRPr lang="fr-FR" dirty="0"/>
          </a:p>
        </p:txBody>
      </p:sp>
    </p:spTree>
    <p:extLst>
      <p:ext uri="{BB962C8B-B14F-4D97-AF65-F5344CB8AC3E}">
        <p14:creationId xmlns:p14="http://schemas.microsoft.com/office/powerpoint/2010/main" val="8634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DD1F6-CA27-9ED3-0A38-D3A8297F2656}"/>
              </a:ext>
            </a:extLst>
          </p:cNvPr>
          <p:cNvSpPr>
            <a:spLocks noGrp="1"/>
          </p:cNvSpPr>
          <p:nvPr>
            <p:ph type="title"/>
          </p:nvPr>
        </p:nvSpPr>
        <p:spPr/>
        <p:txBody>
          <a:bodyPr/>
          <a:lstStyle/>
          <a:p>
            <a:r>
              <a:rPr lang="fr-FR" dirty="0"/>
              <a:t>Le principe de ségrégation</a:t>
            </a:r>
          </a:p>
        </p:txBody>
      </p:sp>
      <p:sp>
        <p:nvSpPr>
          <p:cNvPr id="3" name="Espace réservé du contenu 2">
            <a:extLst>
              <a:ext uri="{FF2B5EF4-FFF2-40B4-BE49-F238E27FC236}">
                <a16:creationId xmlns:a16="http://schemas.microsoft.com/office/drawing/2014/main" id="{6B6D5CEB-E503-76B8-5937-3C5A0B6AAF9A}"/>
              </a:ext>
            </a:extLst>
          </p:cNvPr>
          <p:cNvSpPr>
            <a:spLocks noGrp="1"/>
          </p:cNvSpPr>
          <p:nvPr>
            <p:ph idx="1"/>
          </p:nvPr>
        </p:nvSpPr>
        <p:spPr>
          <a:xfrm>
            <a:off x="838199" y="1825625"/>
            <a:ext cx="10671313" cy="4351338"/>
          </a:xfrm>
        </p:spPr>
        <p:txBody>
          <a:bodyPr>
            <a:normAutofit lnSpcReduction="10000"/>
          </a:bodyPr>
          <a:lstStyle/>
          <a:p>
            <a:pPr marL="0" indent="0" algn="l">
              <a:buNone/>
            </a:pPr>
            <a:r>
              <a:rPr lang="fr-BE" sz="2500" dirty="0">
                <a:latin typeface="+mn-lt"/>
                <a:cs typeface="Consolas" panose="020B0609020204030204" pitchFamily="49" charset="0"/>
              </a:rPr>
              <a:t>En programmation objet, le </a:t>
            </a:r>
            <a:r>
              <a:rPr lang="fr-BE" sz="2500" dirty="0">
                <a:solidFill>
                  <a:schemeClr val="accent4"/>
                </a:solidFill>
                <a:latin typeface="+mn-lt"/>
                <a:cs typeface="Consolas" panose="020B0609020204030204" pitchFamily="49" charset="0"/>
              </a:rPr>
              <a:t>principe de ségrégation d’interface</a:t>
            </a:r>
            <a:r>
              <a:rPr lang="fr-BE" sz="2500" dirty="0">
                <a:latin typeface="+mn-lt"/>
                <a:cs typeface="Consolas" panose="020B0609020204030204" pitchFamily="49" charset="0"/>
              </a:rPr>
              <a:t> stipule qu’un client ne devrait avoir accès qu’aux méthodes d’un objet dont il a vraiment besoin. </a:t>
            </a:r>
          </a:p>
          <a:p>
            <a:pPr marL="0" indent="0" algn="l">
              <a:buNone/>
            </a:pPr>
            <a:r>
              <a:rPr lang="fr-BE" sz="2500" dirty="0">
                <a:latin typeface="+mn-lt"/>
                <a:cs typeface="Consolas" panose="020B0609020204030204" pitchFamily="49" charset="0"/>
              </a:rPr>
              <a:t>L’objectif est de limiter au strict minimum les interactions possibles entre un objet et ses clients afin d’assurer un couplage minimal et faciliter ainsi les évolutions et le </a:t>
            </a:r>
            <a:r>
              <a:rPr lang="fr-BE" sz="2500" dirty="0" err="1">
                <a:latin typeface="+mn-lt"/>
                <a:cs typeface="Consolas" panose="020B0609020204030204" pitchFamily="49" charset="0"/>
              </a:rPr>
              <a:t>refactoring</a:t>
            </a:r>
            <a:r>
              <a:rPr lang="fr-BE" sz="2500" dirty="0">
                <a:latin typeface="+mn-lt"/>
                <a:cs typeface="Consolas" panose="020B0609020204030204" pitchFamily="49" charset="0"/>
              </a:rPr>
              <a:t>. </a:t>
            </a:r>
          </a:p>
          <a:p>
            <a:pPr marL="0" indent="0" algn="l">
              <a:buNone/>
            </a:pPr>
            <a:r>
              <a:rPr lang="fr-BE" sz="2500" dirty="0">
                <a:latin typeface="+mn-lt"/>
                <a:cs typeface="Consolas" panose="020B0609020204030204" pitchFamily="49" charset="0"/>
              </a:rPr>
              <a:t>Ce principe a deux conséquences :</a:t>
            </a:r>
          </a:p>
          <a:p>
            <a:pPr algn="l">
              <a:buFont typeface="+mj-lt"/>
              <a:buAutoNum type="arabicPeriod"/>
            </a:pPr>
            <a:r>
              <a:rPr lang="fr-BE" sz="2500" dirty="0">
                <a:latin typeface="+mn-lt"/>
                <a:cs typeface="Consolas" panose="020B0609020204030204" pitchFamily="49" charset="0"/>
              </a:rPr>
              <a:t>Le type des variables, paramètres et attributs doit être choisi judicieusement pour restreindre au type minimum nécessaire par le code.</a:t>
            </a:r>
          </a:p>
          <a:p>
            <a:pPr algn="l">
              <a:buFont typeface="+mj-lt"/>
              <a:buAutoNum type="arabicPeriod"/>
            </a:pPr>
            <a:r>
              <a:rPr lang="fr-BE" sz="2500" dirty="0">
                <a:latin typeface="+mn-lt"/>
                <a:cs typeface="Consolas" panose="020B0609020204030204" pitchFamily="49" charset="0"/>
              </a:rPr>
              <a:t>Une interface ne doit pas déclarer trop de méthodes.</a:t>
            </a:r>
          </a:p>
          <a:p>
            <a:pPr marL="0" indent="0">
              <a:buNone/>
            </a:pPr>
            <a:r>
              <a:rPr lang="fr-BE" sz="2500" dirty="0">
                <a:latin typeface="+mn-lt"/>
                <a:cs typeface="Consolas" panose="020B0609020204030204" pitchFamily="49" charset="0"/>
              </a:rPr>
              <a:t> </a:t>
            </a:r>
            <a:endParaRPr lang="fr-BE" sz="2000" dirty="0">
              <a:latin typeface="+mn-lt"/>
              <a:cs typeface="Consolas" panose="020B0609020204030204" pitchFamily="49" charset="0"/>
            </a:endParaRPr>
          </a:p>
        </p:txBody>
      </p:sp>
      <p:sp>
        <p:nvSpPr>
          <p:cNvPr id="6" name="ZoneTexte 5">
            <a:extLst>
              <a:ext uri="{FF2B5EF4-FFF2-40B4-BE49-F238E27FC236}">
                <a16:creationId xmlns:a16="http://schemas.microsoft.com/office/drawing/2014/main" id="{9284E2D4-751F-FEC0-3F6F-9A9713349386}"/>
              </a:ext>
            </a:extLst>
          </p:cNvPr>
          <p:cNvSpPr txBox="1"/>
          <p:nvPr/>
        </p:nvSpPr>
        <p:spPr>
          <a:xfrm>
            <a:off x="4096870" y="5633880"/>
            <a:ext cx="7611035" cy="400110"/>
          </a:xfrm>
          <a:prstGeom prst="rect">
            <a:avLst/>
          </a:prstGeom>
          <a:noFill/>
        </p:spPr>
        <p:txBody>
          <a:bodyPr wrap="square">
            <a:spAutoFit/>
          </a:bodyPr>
          <a:lstStyle/>
          <a:p>
            <a:r>
              <a:rPr lang="fr-FR" sz="2000" dirty="0">
                <a:hlinkClick r:id="rId2"/>
              </a:rPr>
              <a:t>https://fr.wikipedia.org/wiki/Principe_de_ségrégation_des_interfaces</a:t>
            </a:r>
            <a:endParaRPr lang="fr-FR" sz="2000" dirty="0"/>
          </a:p>
        </p:txBody>
      </p:sp>
      <p:sp>
        <p:nvSpPr>
          <p:cNvPr id="4" name="Espace réservé du numéro de diapositive 3">
            <a:extLst>
              <a:ext uri="{FF2B5EF4-FFF2-40B4-BE49-F238E27FC236}">
                <a16:creationId xmlns:a16="http://schemas.microsoft.com/office/drawing/2014/main" id="{846B8F5B-98AE-3717-3A7D-AA211337D54C}"/>
              </a:ext>
            </a:extLst>
          </p:cNvPr>
          <p:cNvSpPr>
            <a:spLocks noGrp="1"/>
          </p:cNvSpPr>
          <p:nvPr>
            <p:ph type="sldNum" sz="quarter" idx="4"/>
          </p:nvPr>
        </p:nvSpPr>
        <p:spPr/>
        <p:txBody>
          <a:bodyPr/>
          <a:lstStyle/>
          <a:p>
            <a:fld id="{33C783E2-4793-4F48-A271-51A73CC37D74}" type="slidenum">
              <a:rPr lang="fr-FR" smtClean="0"/>
              <a:t>18</a:t>
            </a:fld>
            <a:endParaRPr lang="fr-FR" dirty="0"/>
          </a:p>
        </p:txBody>
      </p:sp>
    </p:spTree>
    <p:extLst>
      <p:ext uri="{BB962C8B-B14F-4D97-AF65-F5344CB8AC3E}">
        <p14:creationId xmlns:p14="http://schemas.microsoft.com/office/powerpoint/2010/main" val="3155647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FC25E-B92E-242C-9967-7AEB02322A5B}"/>
              </a:ext>
            </a:extLst>
          </p:cNvPr>
          <p:cNvSpPr>
            <a:spLocks noGrp="1"/>
          </p:cNvSpPr>
          <p:nvPr>
            <p:ph type="title"/>
          </p:nvPr>
        </p:nvSpPr>
        <p:spPr/>
        <p:txBody>
          <a:bodyPr/>
          <a:lstStyle/>
          <a:p>
            <a:r>
              <a:rPr lang="fr-FR" dirty="0"/>
              <a:t>Classe abstraite ou Interface?</a:t>
            </a:r>
          </a:p>
        </p:txBody>
      </p:sp>
      <p:sp>
        <p:nvSpPr>
          <p:cNvPr id="8" name="Espace réservé du texte 7">
            <a:extLst>
              <a:ext uri="{FF2B5EF4-FFF2-40B4-BE49-F238E27FC236}">
                <a16:creationId xmlns:a16="http://schemas.microsoft.com/office/drawing/2014/main" id="{A465A92B-9ABD-B853-D562-984E5D605296}"/>
              </a:ext>
            </a:extLst>
          </p:cNvPr>
          <p:cNvSpPr>
            <a:spLocks noGrp="1"/>
          </p:cNvSpPr>
          <p:nvPr>
            <p:ph type="body" idx="1"/>
          </p:nvPr>
        </p:nvSpPr>
        <p:spPr>
          <a:xfrm>
            <a:off x="1196976" y="1372792"/>
            <a:ext cx="4800600" cy="502446"/>
          </a:xfrm>
        </p:spPr>
        <p:txBody>
          <a:bodyPr/>
          <a:lstStyle/>
          <a:p>
            <a:r>
              <a:rPr lang="fr-FR" sz="2400" dirty="0"/>
              <a:t>Utilisation d'une </a:t>
            </a:r>
            <a:r>
              <a:rPr lang="fr-FR" sz="2400" b="1" dirty="0">
                <a:solidFill>
                  <a:schemeClr val="accent4"/>
                </a:solidFill>
              </a:rPr>
              <a:t>Classe Abstraite </a:t>
            </a:r>
            <a:r>
              <a:rPr lang="fr-FR" sz="2400" dirty="0"/>
              <a:t>:</a:t>
            </a:r>
          </a:p>
        </p:txBody>
      </p:sp>
      <p:sp>
        <p:nvSpPr>
          <p:cNvPr id="4" name="Espace réservé du contenu 3">
            <a:extLst>
              <a:ext uri="{FF2B5EF4-FFF2-40B4-BE49-F238E27FC236}">
                <a16:creationId xmlns:a16="http://schemas.microsoft.com/office/drawing/2014/main" id="{DFADA342-A91F-53F8-675B-BE4A1D9DE11F}"/>
              </a:ext>
            </a:extLst>
          </p:cNvPr>
          <p:cNvSpPr>
            <a:spLocks noGrp="1"/>
          </p:cNvSpPr>
          <p:nvPr>
            <p:ph sz="half" idx="2"/>
          </p:nvPr>
        </p:nvSpPr>
        <p:spPr>
          <a:xfrm>
            <a:off x="839789" y="2035970"/>
            <a:ext cx="5157787" cy="3857625"/>
          </a:xfrm>
        </p:spPr>
        <p:txBody>
          <a:bodyPr>
            <a:normAutofit/>
          </a:bodyPr>
          <a:lstStyle/>
          <a:p>
            <a:pPr marL="0" indent="0">
              <a:buNone/>
            </a:pPr>
            <a:r>
              <a:rPr lang="fr-FR" sz="1600" b="1" dirty="0">
                <a:solidFill>
                  <a:schemeClr val="accent4"/>
                </a:solidFill>
              </a:rPr>
              <a:t>Implémentation de Base </a:t>
            </a:r>
            <a:r>
              <a:rPr lang="fr-FR" sz="1600" dirty="0"/>
              <a:t>: Utilisez une classe abstraite lorsque vous avez besoin de fournir une implémentation de base commune pour certaines méthodes (méthodes abstraites et concrètes).</a:t>
            </a:r>
          </a:p>
          <a:p>
            <a:pPr marL="0" indent="0">
              <a:buNone/>
            </a:pPr>
            <a:r>
              <a:rPr lang="fr-FR" sz="1600" b="1" dirty="0">
                <a:solidFill>
                  <a:schemeClr val="accent4"/>
                </a:solidFill>
              </a:rPr>
              <a:t>Partage de Code </a:t>
            </a:r>
            <a:r>
              <a:rPr lang="fr-FR" sz="1600" dirty="0"/>
              <a:t>: Si plusieurs classes ont une implémentation similaire pour certaines méthodes, une classe abstraite peut être utilisée pour partager ce code commun.</a:t>
            </a:r>
          </a:p>
          <a:p>
            <a:pPr marL="0" indent="0">
              <a:buNone/>
            </a:pPr>
            <a:r>
              <a:rPr lang="fr-FR" sz="1600" b="1" dirty="0">
                <a:solidFill>
                  <a:schemeClr val="accent4"/>
                </a:solidFill>
              </a:rPr>
              <a:t>Extensibilité</a:t>
            </a:r>
            <a:r>
              <a:rPr lang="fr-FR" sz="1600" dirty="0"/>
              <a:t> : Pour une hiérarchie de classes où certaines fonctionnalités sont communes à toutes les sous-classes, mais chaque sous-classe peut également avoir sa propre implémentation unique.</a:t>
            </a:r>
          </a:p>
          <a:p>
            <a:pPr marL="0" indent="0">
              <a:buNone/>
            </a:pPr>
            <a:r>
              <a:rPr lang="fr-FR" sz="1600" b="1" dirty="0">
                <a:solidFill>
                  <a:schemeClr val="accent4"/>
                </a:solidFill>
              </a:rPr>
              <a:t>Méthodes Abstraites </a:t>
            </a:r>
            <a:r>
              <a:rPr lang="fr-FR" sz="1600" dirty="0"/>
              <a:t>: Si vous avez besoin de méthodes abstraites (méthodes sans implémentation) et de méthodes concrètes, une classe abstraite est le bon choix.</a:t>
            </a:r>
          </a:p>
        </p:txBody>
      </p:sp>
      <p:sp>
        <p:nvSpPr>
          <p:cNvPr id="9" name="Espace réservé du texte 8">
            <a:extLst>
              <a:ext uri="{FF2B5EF4-FFF2-40B4-BE49-F238E27FC236}">
                <a16:creationId xmlns:a16="http://schemas.microsoft.com/office/drawing/2014/main" id="{0DFD8807-D52D-7A5E-A5AA-E8B7580CE724}"/>
              </a:ext>
            </a:extLst>
          </p:cNvPr>
          <p:cNvSpPr>
            <a:spLocks noGrp="1"/>
          </p:cNvSpPr>
          <p:nvPr>
            <p:ph type="body" sz="quarter" idx="3"/>
          </p:nvPr>
        </p:nvSpPr>
        <p:spPr>
          <a:xfrm>
            <a:off x="6531147" y="1372792"/>
            <a:ext cx="4824242" cy="502446"/>
          </a:xfrm>
        </p:spPr>
        <p:txBody>
          <a:bodyPr/>
          <a:lstStyle/>
          <a:p>
            <a:r>
              <a:rPr lang="fr-FR" sz="2400" dirty="0"/>
              <a:t>Utilisation d'une </a:t>
            </a:r>
            <a:r>
              <a:rPr lang="fr-FR" sz="2400" b="1" dirty="0">
                <a:solidFill>
                  <a:schemeClr val="accent4"/>
                </a:solidFill>
              </a:rPr>
              <a:t>Interface</a:t>
            </a:r>
            <a:r>
              <a:rPr lang="fr-FR" sz="2400" dirty="0"/>
              <a:t> :</a:t>
            </a:r>
          </a:p>
        </p:txBody>
      </p:sp>
      <p:sp>
        <p:nvSpPr>
          <p:cNvPr id="5" name="Espace réservé du contenu 4">
            <a:extLst>
              <a:ext uri="{FF2B5EF4-FFF2-40B4-BE49-F238E27FC236}">
                <a16:creationId xmlns:a16="http://schemas.microsoft.com/office/drawing/2014/main" id="{D6778F4D-CF43-21D0-ECB0-3283412DF794}"/>
              </a:ext>
            </a:extLst>
          </p:cNvPr>
          <p:cNvSpPr>
            <a:spLocks noGrp="1"/>
          </p:cNvSpPr>
          <p:nvPr>
            <p:ph sz="quarter" idx="4"/>
          </p:nvPr>
        </p:nvSpPr>
        <p:spPr>
          <a:xfrm>
            <a:off x="6172201" y="2035970"/>
            <a:ext cx="5183188" cy="3857625"/>
          </a:xfrm>
        </p:spPr>
        <p:txBody>
          <a:bodyPr>
            <a:noAutofit/>
          </a:bodyPr>
          <a:lstStyle/>
          <a:p>
            <a:pPr marL="0" indent="0">
              <a:buNone/>
            </a:pPr>
            <a:r>
              <a:rPr lang="fr-FR" sz="1600" b="1" dirty="0">
                <a:solidFill>
                  <a:schemeClr val="accent4"/>
                </a:solidFill>
              </a:rPr>
              <a:t>Contrats</a:t>
            </a:r>
            <a:r>
              <a:rPr lang="fr-FR" sz="1600" dirty="0"/>
              <a:t> : Si vous souhaitez simplement définir un contrat sans fournir une implémentation de base: les interfaces définissent uniquement les signatures de méthode et ne contiennent pas d'implémentation.</a:t>
            </a:r>
          </a:p>
          <a:p>
            <a:pPr marL="0" indent="0">
              <a:buNone/>
            </a:pPr>
            <a:r>
              <a:rPr lang="fr-FR" sz="1600" b="1" dirty="0">
                <a:solidFill>
                  <a:schemeClr val="accent4"/>
                </a:solidFill>
              </a:rPr>
              <a:t>Polymorphisme</a:t>
            </a:r>
            <a:r>
              <a:rPr lang="fr-FR" sz="1600" dirty="0"/>
              <a:t> : Les interfaces permettent une meilleure flexibilité. Une classe peut implémenter plusieurs interfaces, permettant ainsi à un objet d'être utilisé dans différents contextes en fonction des interfaces qu'il implémente.</a:t>
            </a:r>
          </a:p>
          <a:p>
            <a:pPr marL="0" indent="0">
              <a:buNone/>
            </a:pPr>
            <a:r>
              <a:rPr lang="fr-FR" sz="1600" b="1" dirty="0">
                <a:solidFill>
                  <a:schemeClr val="accent4"/>
                </a:solidFill>
              </a:rPr>
              <a:t>Dépendance faible </a:t>
            </a:r>
            <a:r>
              <a:rPr lang="fr-FR" sz="1600" dirty="0"/>
              <a:t>: Les interfaces permettent de réduire les dépendances entre les classes. Lorsque vous utilisez des interfaces, les classes ne sont pas liées par une hiérarchie d'héritage, ce qui les rend plus indépendantes et plus modulaires.</a:t>
            </a:r>
          </a:p>
          <a:p>
            <a:pPr marL="0" indent="0">
              <a:buNone/>
            </a:pPr>
            <a:r>
              <a:rPr lang="fr-FR" sz="1600" b="1" dirty="0">
                <a:solidFill>
                  <a:schemeClr val="accent4"/>
                </a:solidFill>
              </a:rPr>
              <a:t>Évolution</a:t>
            </a:r>
            <a:r>
              <a:rPr lang="fr-FR" sz="1600" dirty="0"/>
              <a:t> : Les interfaces permettent une évolutivité plus facile. Vous pouvez ajouter de nouvelles fonctionnalités en introduisant de nouvelles interfaces sans affecter les classes existantes.</a:t>
            </a:r>
          </a:p>
        </p:txBody>
      </p:sp>
      <p:pic>
        <p:nvPicPr>
          <p:cNvPr id="10" name="Image 9">
            <a:extLst>
              <a:ext uri="{FF2B5EF4-FFF2-40B4-BE49-F238E27FC236}">
                <a16:creationId xmlns:a16="http://schemas.microsoft.com/office/drawing/2014/main" id="{F2A5BC50-666C-D3E3-801D-855D090FC8AB}"/>
              </a:ext>
            </a:extLst>
          </p:cNvPr>
          <p:cNvPicPr>
            <a:picLocks/>
          </p:cNvPicPr>
          <p:nvPr/>
        </p:nvPicPr>
        <p:blipFill rotWithShape="1">
          <a:blip r:embed="rId2"/>
          <a:srcRect l="15144" t="13093" r="20988" b="20825"/>
          <a:stretch/>
        </p:blipFill>
        <p:spPr>
          <a:xfrm>
            <a:off x="836612" y="1461523"/>
            <a:ext cx="360364" cy="360000"/>
          </a:xfrm>
          <a:prstGeom prst="rect">
            <a:avLst/>
          </a:prstGeom>
        </p:spPr>
      </p:pic>
      <p:pic>
        <p:nvPicPr>
          <p:cNvPr id="11" name="Image 10">
            <a:extLst>
              <a:ext uri="{FF2B5EF4-FFF2-40B4-BE49-F238E27FC236}">
                <a16:creationId xmlns:a16="http://schemas.microsoft.com/office/drawing/2014/main" id="{EA8D841A-7B9A-5DB0-1748-D331F87FE950}"/>
              </a:ext>
            </a:extLst>
          </p:cNvPr>
          <p:cNvPicPr>
            <a:picLocks noChangeAspect="1"/>
          </p:cNvPicPr>
          <p:nvPr/>
        </p:nvPicPr>
        <p:blipFill rotWithShape="1">
          <a:blip r:embed="rId3"/>
          <a:srcRect l="20828" t="24684" r="15045" b="8408"/>
          <a:stretch/>
        </p:blipFill>
        <p:spPr>
          <a:xfrm>
            <a:off x="6153653" y="1461523"/>
            <a:ext cx="357352" cy="360000"/>
          </a:xfrm>
          <a:prstGeom prst="rect">
            <a:avLst/>
          </a:prstGeom>
        </p:spPr>
      </p:pic>
      <p:sp>
        <p:nvSpPr>
          <p:cNvPr id="12" name="Espace réservé du numéro de diapositive 11">
            <a:extLst>
              <a:ext uri="{FF2B5EF4-FFF2-40B4-BE49-F238E27FC236}">
                <a16:creationId xmlns:a16="http://schemas.microsoft.com/office/drawing/2014/main" id="{79833E64-6732-8C4A-ED6B-FD9EBDAFF984}"/>
              </a:ext>
            </a:extLst>
          </p:cNvPr>
          <p:cNvSpPr>
            <a:spLocks noGrp="1"/>
          </p:cNvSpPr>
          <p:nvPr>
            <p:ph type="sldNum" sz="quarter" idx="10"/>
          </p:nvPr>
        </p:nvSpPr>
        <p:spPr/>
        <p:txBody>
          <a:bodyPr/>
          <a:lstStyle/>
          <a:p>
            <a:fld id="{33C783E2-4793-4F48-A271-51A73CC37D74}" type="slidenum">
              <a:rPr lang="fr-FR" smtClean="0"/>
              <a:t>19</a:t>
            </a:fld>
            <a:endParaRPr lang="fr-FR"/>
          </a:p>
        </p:txBody>
      </p:sp>
    </p:spTree>
    <p:extLst>
      <p:ext uri="{BB962C8B-B14F-4D97-AF65-F5344CB8AC3E}">
        <p14:creationId xmlns:p14="http://schemas.microsoft.com/office/powerpoint/2010/main" val="557450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BB10-B19F-02DC-4665-391554985A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0F2648-9D52-4323-A709-30DAD672F012}"/>
              </a:ext>
            </a:extLst>
          </p:cNvPr>
          <p:cNvSpPr>
            <a:spLocks noGrp="1"/>
          </p:cNvSpPr>
          <p:nvPr>
            <p:ph type="title"/>
          </p:nvPr>
        </p:nvSpPr>
        <p:spPr/>
        <p:txBody>
          <a:bodyPr/>
          <a:lstStyle/>
          <a:p>
            <a:r>
              <a:rPr lang="fr-FR" dirty="0"/>
              <a:t>Classe abstraite ou interface?</a:t>
            </a:r>
          </a:p>
        </p:txBody>
      </p:sp>
      <p:sp>
        <p:nvSpPr>
          <p:cNvPr id="4" name="Espace réservé du contenu 3">
            <a:extLst>
              <a:ext uri="{FF2B5EF4-FFF2-40B4-BE49-F238E27FC236}">
                <a16:creationId xmlns:a16="http://schemas.microsoft.com/office/drawing/2014/main" id="{2522CD74-0915-BC79-2D48-88C88DA24AAF}"/>
              </a:ext>
            </a:extLst>
          </p:cNvPr>
          <p:cNvSpPr>
            <a:spLocks noGrp="1"/>
          </p:cNvSpPr>
          <p:nvPr>
            <p:ph idx="1"/>
          </p:nvPr>
        </p:nvSpPr>
        <p:spPr/>
        <p:txBody>
          <a:bodyPr>
            <a:normAutofit lnSpcReduction="10000"/>
          </a:bodyPr>
          <a:lstStyle/>
          <a:p>
            <a:pPr marL="0" indent="0">
              <a:buNone/>
            </a:pPr>
            <a:r>
              <a:rPr lang="fr-FR" b="1" dirty="0"/>
              <a:t>En résumé</a:t>
            </a:r>
          </a:p>
          <a:p>
            <a:pPr marL="0" indent="0">
              <a:buNone/>
            </a:pPr>
            <a:endParaRPr lang="fr-FR" b="1" dirty="0"/>
          </a:p>
          <a:p>
            <a:pPr marL="0" indent="0">
              <a:buNone/>
            </a:pPr>
            <a:r>
              <a:rPr lang="fr-FR" dirty="0"/>
              <a:t>Utilisez une </a:t>
            </a:r>
            <a:r>
              <a:rPr lang="fr-FR" b="1" dirty="0">
                <a:solidFill>
                  <a:schemeClr val="accent4"/>
                </a:solidFill>
              </a:rPr>
              <a:t>classe abstraite </a:t>
            </a:r>
            <a:r>
              <a:rPr lang="fr-FR" dirty="0"/>
              <a:t>lorsque vous avez besoin de fournir une implémentation de base commune pour certaines méthodes ou que vous envisagez une hiérarchie de classes avec une certaine logique de partage de code.</a:t>
            </a:r>
          </a:p>
          <a:p>
            <a:pPr marL="0" indent="0">
              <a:buNone/>
            </a:pPr>
            <a:endParaRPr lang="fr-FR" dirty="0"/>
          </a:p>
          <a:p>
            <a:pPr marL="0" indent="0">
              <a:buNone/>
            </a:pPr>
            <a:r>
              <a:rPr lang="fr-FR" dirty="0"/>
              <a:t>Utilisez une </a:t>
            </a:r>
            <a:r>
              <a:rPr lang="fr-FR" b="1" dirty="0">
                <a:solidFill>
                  <a:schemeClr val="accent4"/>
                </a:solidFill>
              </a:rPr>
              <a:t>interface</a:t>
            </a:r>
            <a:r>
              <a:rPr lang="fr-FR" dirty="0"/>
              <a:t> lorsque vous souhaitez définir un contrat sans implémentation et que vous voulez permettre à plusieurs classes de partager ce contrat. </a:t>
            </a:r>
          </a:p>
          <a:p>
            <a:pPr marL="0" indent="0">
              <a:buNone/>
            </a:pPr>
            <a:endParaRPr lang="fr-FR" dirty="0"/>
          </a:p>
        </p:txBody>
      </p:sp>
      <p:sp>
        <p:nvSpPr>
          <p:cNvPr id="9" name="Espace réservé du numéro de diapositive 8">
            <a:extLst>
              <a:ext uri="{FF2B5EF4-FFF2-40B4-BE49-F238E27FC236}">
                <a16:creationId xmlns:a16="http://schemas.microsoft.com/office/drawing/2014/main" id="{99B4EC41-1548-8EB1-1BC6-316129296F53}"/>
              </a:ext>
            </a:extLst>
          </p:cNvPr>
          <p:cNvSpPr>
            <a:spLocks noGrp="1"/>
          </p:cNvSpPr>
          <p:nvPr>
            <p:ph type="sldNum" sz="quarter" idx="4"/>
          </p:nvPr>
        </p:nvSpPr>
        <p:spPr/>
        <p:txBody>
          <a:bodyPr/>
          <a:lstStyle/>
          <a:p>
            <a:fld id="{33C783E2-4793-4F48-A271-51A73CC37D74}" type="slidenum">
              <a:rPr lang="fr-FR" smtClean="0"/>
              <a:t>20</a:t>
            </a:fld>
            <a:endParaRPr lang="fr-FR" dirty="0"/>
          </a:p>
        </p:txBody>
      </p:sp>
    </p:spTree>
    <p:extLst>
      <p:ext uri="{BB962C8B-B14F-4D97-AF65-F5344CB8AC3E}">
        <p14:creationId xmlns:p14="http://schemas.microsoft.com/office/powerpoint/2010/main" val="1289201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91EDE-0151-4313-C401-2A55B58D1D08}"/>
            </a:ext>
          </a:extLst>
        </p:cNvPr>
        <p:cNvGrpSpPr/>
        <p:nvPr/>
      </p:nvGrpSpPr>
      <p:grpSpPr>
        <a:xfrm>
          <a:off x="0" y="0"/>
          <a:ext cx="0" cy="0"/>
          <a:chOff x="0" y="0"/>
          <a:chExt cx="0" cy="0"/>
        </a:xfrm>
      </p:grpSpPr>
      <p:pic>
        <p:nvPicPr>
          <p:cNvPr id="2050" name="Picture 2" descr="jeu de nim format 16:9">
            <a:extLst>
              <a:ext uri="{FF2B5EF4-FFF2-40B4-BE49-F238E27FC236}">
                <a16:creationId xmlns:a16="http://schemas.microsoft.com/office/drawing/2014/main" id="{3FCC14BE-2408-81E5-E1F6-D6A50A3835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464" b="2928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AFDABB45-1B12-484A-26B9-EEE86B6093E2}"/>
              </a:ext>
            </a:extLst>
          </p:cNvPr>
          <p:cNvSpPr txBox="1"/>
          <p:nvPr/>
        </p:nvSpPr>
        <p:spPr>
          <a:xfrm>
            <a:off x="838200" y="947821"/>
            <a:ext cx="10515600" cy="1015663"/>
          </a:xfrm>
          <a:prstGeom prst="rect">
            <a:avLst/>
          </a:prstGeom>
          <a:solidFill>
            <a:srgbClr val="0F3D49">
              <a:alpha val="75294"/>
            </a:srgbClr>
          </a:solidFill>
          <a:effectLst>
            <a:outerShdw blurRad="50800" dist="38100" dir="2700000" algn="tl" rotWithShape="0">
              <a:prstClr val="black">
                <a:alpha val="40000"/>
              </a:prstClr>
            </a:outerShdw>
          </a:effectLst>
        </p:spPr>
        <p:txBody>
          <a:bodyPr wrap="square" rtlCol="0">
            <a:spAutoFit/>
          </a:bodyPr>
          <a:lstStyle/>
          <a:p>
            <a:r>
              <a:rPr lang="fr-FR" sz="6000" b="1" dirty="0"/>
              <a:t>Le jeu de </a:t>
            </a:r>
            <a:r>
              <a:rPr lang="fr-FR" sz="6000" b="1" dirty="0" err="1"/>
              <a:t>Nim</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D551F599-F049-C7C3-1BCF-7D9CFB6D80B5}"/>
              </a:ext>
            </a:extLst>
          </p:cNvPr>
          <p:cNvSpPr txBox="1"/>
          <p:nvPr/>
        </p:nvSpPr>
        <p:spPr>
          <a:xfrm>
            <a:off x="838200" y="2139312"/>
            <a:ext cx="10515600" cy="461665"/>
          </a:xfrm>
          <a:prstGeom prst="rect">
            <a:avLst/>
          </a:prstGeom>
          <a:solidFill>
            <a:srgbClr val="0F3D49">
              <a:alpha val="75294"/>
            </a:srgbClr>
          </a:solidFill>
          <a:effectLst>
            <a:outerShdw blurRad="50800" dist="38100" dir="2700000" algn="tl" rotWithShape="0">
              <a:prstClr val="black">
                <a:alpha val="40000"/>
              </a:prstClr>
            </a:outerShdw>
          </a:effectLst>
        </p:spPr>
        <p:txBody>
          <a:bodyPr wrap="square" rtlCol="0">
            <a:spAutoFit/>
          </a:bodyPr>
          <a:lstStyle/>
          <a:p>
            <a:r>
              <a:rPr lang="fr-FR" sz="2400" dirty="0"/>
              <a:t>Un autre exemple qui montre l’avantage d’utiliser des interfaces pour découpler</a:t>
            </a:r>
          </a:p>
        </p:txBody>
      </p:sp>
    </p:spTree>
    <p:extLst>
      <p:ext uri="{BB962C8B-B14F-4D97-AF65-F5344CB8AC3E}">
        <p14:creationId xmlns:p14="http://schemas.microsoft.com/office/powerpoint/2010/main" val="403937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B6CBA3A-E574-05C3-B578-99F1FE7D1073}"/>
              </a:ext>
            </a:extLst>
          </p:cNvPr>
          <p:cNvSpPr>
            <a:spLocks noGrp="1"/>
          </p:cNvSpPr>
          <p:nvPr>
            <p:ph type="title"/>
          </p:nvPr>
        </p:nvSpPr>
        <p:spPr/>
        <p:txBody>
          <a:bodyPr/>
          <a:lstStyle/>
          <a:p>
            <a:r>
              <a:rPr lang="en-GB" dirty="0"/>
              <a:t>Vue </a:t>
            </a:r>
            <a:r>
              <a:rPr lang="en-GB" dirty="0" err="1"/>
              <a:t>d’ensemble</a:t>
            </a:r>
            <a:r>
              <a:rPr lang="en-GB" dirty="0"/>
              <a:t> de </a:t>
            </a:r>
            <a:r>
              <a:rPr lang="en-GB" dirty="0" err="1"/>
              <a:t>gameHub</a:t>
            </a:r>
            <a:r>
              <a:rPr lang="en-GB" dirty="0"/>
              <a:t>	</a:t>
            </a:r>
          </a:p>
        </p:txBody>
      </p:sp>
      <p:sp>
        <p:nvSpPr>
          <p:cNvPr id="6" name="Espace réservé du contenu 5">
            <a:extLst>
              <a:ext uri="{FF2B5EF4-FFF2-40B4-BE49-F238E27FC236}">
                <a16:creationId xmlns:a16="http://schemas.microsoft.com/office/drawing/2014/main" id="{A2621442-0DDD-88D4-C420-E19795ACBEBF}"/>
              </a:ext>
            </a:extLst>
          </p:cNvPr>
          <p:cNvSpPr>
            <a:spLocks noGrp="1"/>
          </p:cNvSpPr>
          <p:nvPr>
            <p:ph idx="1"/>
          </p:nvPr>
        </p:nvSpPr>
        <p:spPr/>
        <p:txBody>
          <a:bodyPr>
            <a:normAutofit/>
          </a:bodyPr>
          <a:lstStyle/>
          <a:p>
            <a:r>
              <a:rPr lang="fr-BE" sz="2000" dirty="0" err="1">
                <a:solidFill>
                  <a:schemeClr val="accent4"/>
                </a:solidFill>
                <a:latin typeface="Consolas" panose="020B0609020204030204" pitchFamily="49" charset="0"/>
                <a:cs typeface="Consolas" panose="020B0609020204030204" pitchFamily="49" charset="0"/>
              </a:rPr>
              <a:t>GameHub</a:t>
            </a:r>
            <a:r>
              <a:rPr lang="fr-BE" sz="2400" b="1" dirty="0"/>
              <a:t> (</a:t>
            </a:r>
            <a:r>
              <a:rPr lang="fr-BE" sz="2000" dirty="0">
                <a:solidFill>
                  <a:schemeClr val="accent4"/>
                </a:solidFill>
                <a:latin typeface="Consolas" panose="020B0609020204030204" pitchFamily="49" charset="0"/>
                <a:cs typeface="Consolas" panose="020B0609020204030204" pitchFamily="49" charset="0"/>
              </a:rPr>
              <a:t>main</a:t>
            </a:r>
            <a:r>
              <a:rPr lang="fr-BE" sz="2400" b="1" dirty="0"/>
              <a:t>)</a:t>
            </a:r>
            <a:r>
              <a:rPr lang="fr-BE" sz="2400" dirty="0"/>
              <a:t> : point d’entrée console, crée 2 joueurs, choisit un </a:t>
            </a:r>
            <a:br>
              <a:rPr lang="fr-BE" sz="2400" dirty="0"/>
            </a:br>
            <a:r>
              <a:rPr lang="fr-BE" sz="2400" dirty="0"/>
              <a:t>type de jeu, crée une </a:t>
            </a:r>
            <a:r>
              <a:rPr lang="fr-BE" sz="2000" dirty="0">
                <a:solidFill>
                  <a:schemeClr val="accent4"/>
                </a:solidFill>
                <a:latin typeface="Consolas" panose="020B0609020204030204" pitchFamily="49" charset="0"/>
                <a:cs typeface="Consolas" panose="020B0609020204030204" pitchFamily="49" charset="0"/>
              </a:rPr>
              <a:t>Partie</a:t>
            </a:r>
            <a:r>
              <a:rPr lang="fr-BE" sz="2400" dirty="0"/>
              <a:t>, exécute et termine la partie puis affiche le résultat.</a:t>
            </a:r>
          </a:p>
          <a:p>
            <a:r>
              <a:rPr lang="fr-BE" sz="2000" dirty="0">
                <a:solidFill>
                  <a:schemeClr val="accent4"/>
                </a:solidFill>
                <a:latin typeface="Consolas" panose="020B0609020204030204" pitchFamily="49" charset="0"/>
                <a:cs typeface="Consolas" panose="020B0609020204030204" pitchFamily="49" charset="0"/>
              </a:rPr>
              <a:t>Joueur</a:t>
            </a:r>
            <a:r>
              <a:rPr lang="fr-BE" sz="2400" dirty="0"/>
              <a:t> : donnée “profil” (pseudo + email), affichage propre via </a:t>
            </a:r>
            <a:r>
              <a:rPr lang="fr-BE" sz="2000" dirty="0" err="1">
                <a:solidFill>
                  <a:schemeClr val="accent4"/>
                </a:solidFill>
                <a:latin typeface="Consolas" panose="020B0609020204030204" pitchFamily="49" charset="0"/>
                <a:cs typeface="Consolas" panose="020B0609020204030204" pitchFamily="49" charset="0"/>
              </a:rPr>
              <a:t>toString</a:t>
            </a:r>
            <a:r>
              <a:rPr lang="fr-BE" sz="2000" dirty="0">
                <a:solidFill>
                  <a:schemeClr val="accent4"/>
                </a:solidFill>
                <a:latin typeface="Consolas" panose="020B0609020204030204" pitchFamily="49" charset="0"/>
                <a:cs typeface="Consolas" panose="020B0609020204030204" pitchFamily="49" charset="0"/>
              </a:rPr>
              <a:t>()</a:t>
            </a:r>
            <a:r>
              <a:rPr lang="fr-BE" sz="2400" dirty="0"/>
              <a:t>.</a:t>
            </a:r>
          </a:p>
          <a:p>
            <a:r>
              <a:rPr lang="fr-BE" sz="2000" dirty="0" err="1">
                <a:solidFill>
                  <a:schemeClr val="accent4"/>
                </a:solidFill>
                <a:latin typeface="Consolas" panose="020B0609020204030204" pitchFamily="49" charset="0"/>
                <a:cs typeface="Consolas" panose="020B0609020204030204" pitchFamily="49" charset="0"/>
              </a:rPr>
              <a:t>TypeJeu</a:t>
            </a:r>
            <a:r>
              <a:rPr lang="fr-BE" sz="2400" b="1" dirty="0"/>
              <a:t> (</a:t>
            </a:r>
            <a:r>
              <a:rPr lang="fr-BE" sz="2000" dirty="0" err="1">
                <a:solidFill>
                  <a:schemeClr val="accent4"/>
                </a:solidFill>
                <a:latin typeface="Consolas" panose="020B0609020204030204" pitchFamily="49" charset="0"/>
                <a:cs typeface="Consolas" panose="020B0609020204030204" pitchFamily="49" charset="0"/>
              </a:rPr>
              <a:t>enum</a:t>
            </a:r>
            <a:r>
              <a:rPr lang="fr-BE" sz="2400" b="1" dirty="0"/>
              <a:t>)</a:t>
            </a:r>
            <a:r>
              <a:rPr lang="fr-BE" sz="2400" dirty="0"/>
              <a:t> : catalogue des jeux possibles + libellé humain.</a:t>
            </a:r>
          </a:p>
          <a:p>
            <a:r>
              <a:rPr lang="fr-BE" sz="2000" dirty="0">
                <a:solidFill>
                  <a:schemeClr val="accent4"/>
                </a:solidFill>
                <a:latin typeface="Consolas" panose="020B0609020204030204" pitchFamily="49" charset="0"/>
                <a:cs typeface="Consolas" panose="020B0609020204030204" pitchFamily="49" charset="0"/>
              </a:rPr>
              <a:t>Partie</a:t>
            </a:r>
            <a:r>
              <a:rPr lang="fr-BE" sz="2400" dirty="0"/>
              <a:t> : le cœur “métier” d’une session de jeu : joueurs, type de jeu, date/heure début/fin, résultat.</a:t>
            </a:r>
          </a:p>
          <a:p>
            <a:r>
              <a:rPr lang="fr-BE" sz="2000" dirty="0" err="1">
                <a:solidFill>
                  <a:schemeClr val="accent4"/>
                </a:solidFill>
                <a:latin typeface="Consolas" panose="020B0609020204030204" pitchFamily="49" charset="0"/>
                <a:cs typeface="Consolas" panose="020B0609020204030204" pitchFamily="49" charset="0"/>
              </a:rPr>
              <a:t>ResultatPartie</a:t>
            </a:r>
            <a:r>
              <a:rPr lang="fr-BE" sz="2400" b="1" dirty="0"/>
              <a:t> (</a:t>
            </a:r>
            <a:r>
              <a:rPr lang="fr-BE" sz="2000" dirty="0" err="1">
                <a:solidFill>
                  <a:schemeClr val="accent4"/>
                </a:solidFill>
                <a:latin typeface="Consolas" panose="020B0609020204030204" pitchFamily="49" charset="0"/>
                <a:cs typeface="Consolas" panose="020B0609020204030204" pitchFamily="49" charset="0"/>
              </a:rPr>
              <a:t>enum</a:t>
            </a:r>
            <a:r>
              <a:rPr lang="fr-BE" sz="2400" b="1" dirty="0"/>
              <a:t>)</a:t>
            </a:r>
            <a:r>
              <a:rPr lang="fr-BE" sz="2400" dirty="0"/>
              <a:t> : résultat standardisé (J1 gagne / J2 gagne / nul).</a:t>
            </a:r>
          </a:p>
          <a:p>
            <a:r>
              <a:rPr lang="fr-BE" sz="2000" dirty="0" err="1">
                <a:solidFill>
                  <a:schemeClr val="accent4"/>
                </a:solidFill>
                <a:latin typeface="Consolas" panose="020B0609020204030204" pitchFamily="49" charset="0"/>
                <a:cs typeface="Consolas" panose="020B0609020204030204" pitchFamily="49" charset="0"/>
              </a:rPr>
              <a:t>ResumePartie</a:t>
            </a:r>
            <a:r>
              <a:rPr lang="fr-BE" sz="2400" b="1" dirty="0"/>
              <a:t> (</a:t>
            </a:r>
            <a:r>
              <a:rPr lang="fr-BE" sz="2000" dirty="0">
                <a:solidFill>
                  <a:schemeClr val="accent4"/>
                </a:solidFill>
                <a:latin typeface="Consolas" panose="020B0609020204030204" pitchFamily="49" charset="0"/>
                <a:cs typeface="Consolas" panose="020B0609020204030204" pitchFamily="49" charset="0"/>
              </a:rPr>
              <a:t>record</a:t>
            </a:r>
            <a:r>
              <a:rPr lang="fr-BE" sz="2400" b="1" dirty="0"/>
              <a:t>)</a:t>
            </a:r>
            <a:r>
              <a:rPr lang="fr-BE" sz="2400" dirty="0"/>
              <a:t> : un petit “snapshot” de fin (pseudo gagnant + dates + type de jeu).</a:t>
            </a:r>
          </a:p>
          <a:p>
            <a:endParaRPr lang="en-GB" sz="2400" dirty="0"/>
          </a:p>
        </p:txBody>
      </p:sp>
      <p:sp>
        <p:nvSpPr>
          <p:cNvPr id="4" name="Espace réservé du numéro de diapositive 3">
            <a:extLst>
              <a:ext uri="{FF2B5EF4-FFF2-40B4-BE49-F238E27FC236}">
                <a16:creationId xmlns:a16="http://schemas.microsoft.com/office/drawing/2014/main" id="{20183825-C34D-2E8F-5A4E-9F9C9976A6A9}"/>
              </a:ext>
            </a:extLst>
          </p:cNvPr>
          <p:cNvSpPr>
            <a:spLocks noGrp="1"/>
          </p:cNvSpPr>
          <p:nvPr>
            <p:ph type="sldNum" sz="quarter" idx="4"/>
          </p:nvPr>
        </p:nvSpPr>
        <p:spPr/>
        <p:txBody>
          <a:bodyPr/>
          <a:lstStyle/>
          <a:p>
            <a:fld id="{33C783E2-4793-4F48-A271-51A73CC37D74}" type="slidenum">
              <a:rPr lang="fr-FR" smtClean="0"/>
              <a:t>22</a:t>
            </a:fld>
            <a:endParaRPr lang="fr-FR"/>
          </a:p>
        </p:txBody>
      </p:sp>
      <p:pic>
        <p:nvPicPr>
          <p:cNvPr id="7" name="Picture 2" descr="Game Hub - Apps on Google Play">
            <a:extLst>
              <a:ext uri="{FF2B5EF4-FFF2-40B4-BE49-F238E27FC236}">
                <a16:creationId xmlns:a16="http://schemas.microsoft.com/office/drawing/2014/main" id="{AB777C3E-705A-C7F7-CF96-61E6851F4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tangle : coins arrondis 7">
            <a:extLst>
              <a:ext uri="{FF2B5EF4-FFF2-40B4-BE49-F238E27FC236}">
                <a16:creationId xmlns:a16="http://schemas.microsoft.com/office/drawing/2014/main" id="{40944417-95BA-7868-B532-EE5AA6F80CF2}"/>
              </a:ext>
            </a:extLst>
          </p:cNvPr>
          <p:cNvSpPr/>
          <p:nvPr/>
        </p:nvSpPr>
        <p:spPr>
          <a:xfrm rot="21376546">
            <a:off x="6960717" y="5526658"/>
            <a:ext cx="4072379" cy="87856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GB" dirty="0"/>
              <a:t>Question: quelle </a:t>
            </a:r>
            <a:r>
              <a:rPr lang="en-GB" dirty="0" err="1"/>
              <a:t>classe</a:t>
            </a:r>
            <a:r>
              <a:rPr lang="en-GB" dirty="0"/>
              <a:t> </a:t>
            </a:r>
            <a:r>
              <a:rPr lang="en-GB" dirty="0" err="1"/>
              <a:t>devrait</a:t>
            </a:r>
            <a:r>
              <a:rPr lang="en-GB" dirty="0"/>
              <a:t> </a:t>
            </a:r>
            <a:r>
              <a:rPr lang="en-GB" dirty="0" err="1"/>
              <a:t>avoir</a:t>
            </a:r>
            <a:r>
              <a:rPr lang="en-GB" dirty="0"/>
              <a:t> la </a:t>
            </a:r>
            <a:r>
              <a:rPr lang="en-GB" dirty="0" err="1"/>
              <a:t>responsabilité</a:t>
            </a:r>
            <a:r>
              <a:rPr lang="en-GB" dirty="0"/>
              <a:t> de </a:t>
            </a:r>
            <a:r>
              <a:rPr lang="en-GB" dirty="0" err="1"/>
              <a:t>créer</a:t>
            </a:r>
            <a:r>
              <a:rPr lang="en-GB" dirty="0"/>
              <a:t> le jeu qui sera </a:t>
            </a:r>
            <a:r>
              <a:rPr lang="en-GB" dirty="0" err="1"/>
              <a:t>démarré</a:t>
            </a:r>
            <a:r>
              <a:rPr lang="en-GB" dirty="0"/>
              <a:t> </a:t>
            </a:r>
            <a:r>
              <a:rPr lang="en-GB" dirty="0" err="1"/>
              <a:t>puis</a:t>
            </a:r>
            <a:r>
              <a:rPr lang="en-GB" dirty="0"/>
              <a:t> </a:t>
            </a:r>
            <a:r>
              <a:rPr lang="en-GB" dirty="0" err="1"/>
              <a:t>executé</a:t>
            </a:r>
            <a:r>
              <a:rPr lang="en-GB" dirty="0"/>
              <a:t>?</a:t>
            </a:r>
          </a:p>
        </p:txBody>
      </p:sp>
    </p:spTree>
    <p:extLst>
      <p:ext uri="{BB962C8B-B14F-4D97-AF65-F5344CB8AC3E}">
        <p14:creationId xmlns:p14="http://schemas.microsoft.com/office/powerpoint/2010/main" val="382665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B3926-405C-A9E4-520B-B9D9CC20CCB2}"/>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BCAFDE9A-279A-031C-AD66-D09B13C25C6A}"/>
              </a:ext>
            </a:extLst>
          </p:cNvPr>
          <p:cNvSpPr>
            <a:spLocks noGrp="1"/>
          </p:cNvSpPr>
          <p:nvPr>
            <p:ph type="title"/>
          </p:nvPr>
        </p:nvSpPr>
        <p:spPr/>
        <p:txBody>
          <a:bodyPr/>
          <a:lstStyle/>
          <a:p>
            <a:r>
              <a:rPr lang="en-GB" dirty="0"/>
              <a:t>Relations principals dans </a:t>
            </a:r>
            <a:r>
              <a:rPr lang="en-GB" dirty="0" err="1"/>
              <a:t>gameHub</a:t>
            </a:r>
            <a:r>
              <a:rPr lang="en-GB" dirty="0"/>
              <a:t>	</a:t>
            </a:r>
          </a:p>
        </p:txBody>
      </p:sp>
      <p:sp>
        <p:nvSpPr>
          <p:cNvPr id="6" name="Espace réservé du contenu 5">
            <a:extLst>
              <a:ext uri="{FF2B5EF4-FFF2-40B4-BE49-F238E27FC236}">
                <a16:creationId xmlns:a16="http://schemas.microsoft.com/office/drawing/2014/main" id="{51421932-3204-8F2C-7794-6EB2BE6D6FDC}"/>
              </a:ext>
            </a:extLst>
          </p:cNvPr>
          <p:cNvSpPr>
            <a:spLocks noGrp="1"/>
          </p:cNvSpPr>
          <p:nvPr>
            <p:ph idx="1"/>
          </p:nvPr>
        </p:nvSpPr>
        <p:spPr/>
        <p:txBody>
          <a:bodyPr>
            <a:normAutofit/>
          </a:bodyPr>
          <a:lstStyle/>
          <a:p>
            <a:r>
              <a:rPr lang="fr-BE" sz="2000" dirty="0">
                <a:solidFill>
                  <a:schemeClr val="accent4"/>
                </a:solidFill>
                <a:latin typeface="Consolas" panose="020B0609020204030204" pitchFamily="49" charset="0"/>
                <a:cs typeface="Consolas" panose="020B0609020204030204" pitchFamily="49" charset="0"/>
              </a:rPr>
              <a:t>Partie</a:t>
            </a:r>
            <a:r>
              <a:rPr lang="fr-BE" sz="2400" dirty="0"/>
              <a:t> contient </a:t>
            </a:r>
            <a:r>
              <a:rPr lang="fr-BE" sz="2000" dirty="0">
                <a:solidFill>
                  <a:schemeClr val="accent4"/>
                </a:solidFill>
                <a:latin typeface="Consolas" panose="020B0609020204030204" pitchFamily="49" charset="0"/>
                <a:cs typeface="Consolas" panose="020B0609020204030204" pitchFamily="49" charset="0"/>
              </a:rPr>
              <a:t>Joueur</a:t>
            </a:r>
            <a:r>
              <a:rPr lang="fr-BE" sz="2400" dirty="0"/>
              <a:t> (</a:t>
            </a:r>
            <a:r>
              <a:rPr lang="fr-BE" sz="2000" dirty="0">
                <a:solidFill>
                  <a:schemeClr val="accent4"/>
                </a:solidFill>
                <a:latin typeface="Consolas" panose="020B0609020204030204" pitchFamily="49" charset="0"/>
                <a:cs typeface="Consolas" panose="020B0609020204030204" pitchFamily="49" charset="0"/>
              </a:rPr>
              <a:t>joueur1</a:t>
            </a:r>
            <a:r>
              <a:rPr lang="fr-BE" sz="2400" dirty="0"/>
              <a:t>, </a:t>
            </a:r>
            <a:r>
              <a:rPr lang="fr-BE" sz="2000" dirty="0">
                <a:solidFill>
                  <a:schemeClr val="accent4"/>
                </a:solidFill>
                <a:latin typeface="Consolas" panose="020B0609020204030204" pitchFamily="49" charset="0"/>
                <a:cs typeface="Consolas" panose="020B0609020204030204" pitchFamily="49" charset="0"/>
              </a:rPr>
              <a:t>joueur2</a:t>
            </a:r>
            <a:r>
              <a:rPr lang="fr-BE" sz="2400" dirty="0"/>
              <a:t>)</a:t>
            </a:r>
          </a:p>
          <a:p>
            <a:r>
              <a:rPr lang="fr-BE" sz="2000" dirty="0">
                <a:solidFill>
                  <a:schemeClr val="accent4"/>
                </a:solidFill>
                <a:latin typeface="Consolas" panose="020B0609020204030204" pitchFamily="49" charset="0"/>
                <a:cs typeface="Consolas" panose="020B0609020204030204" pitchFamily="49" charset="0"/>
              </a:rPr>
              <a:t>Partie</a:t>
            </a:r>
            <a:r>
              <a:rPr lang="fr-BE" sz="2400" dirty="0"/>
              <a:t> contient </a:t>
            </a:r>
            <a:r>
              <a:rPr lang="fr-BE" sz="2000" dirty="0" err="1">
                <a:solidFill>
                  <a:schemeClr val="accent4"/>
                </a:solidFill>
                <a:latin typeface="Consolas" panose="020B0609020204030204" pitchFamily="49" charset="0"/>
                <a:cs typeface="Consolas" panose="020B0609020204030204" pitchFamily="49" charset="0"/>
              </a:rPr>
              <a:t>TypeJeu</a:t>
            </a:r>
            <a:endParaRPr lang="fr-BE" sz="2000" dirty="0">
              <a:solidFill>
                <a:schemeClr val="accent4"/>
              </a:solidFill>
              <a:latin typeface="Consolas" panose="020B0609020204030204" pitchFamily="49" charset="0"/>
              <a:cs typeface="Consolas" panose="020B0609020204030204" pitchFamily="49" charset="0"/>
            </a:endParaRPr>
          </a:p>
          <a:p>
            <a:r>
              <a:rPr lang="fr-BE" sz="2000" dirty="0">
                <a:solidFill>
                  <a:schemeClr val="accent4"/>
                </a:solidFill>
                <a:latin typeface="Consolas" panose="020B0609020204030204" pitchFamily="49" charset="0"/>
                <a:cs typeface="Consolas" panose="020B0609020204030204" pitchFamily="49" charset="0"/>
              </a:rPr>
              <a:t>Partie</a:t>
            </a:r>
            <a:r>
              <a:rPr lang="fr-BE" sz="2400" dirty="0"/>
              <a:t> contient </a:t>
            </a:r>
            <a:r>
              <a:rPr lang="fr-BE" sz="2000" dirty="0" err="1">
                <a:solidFill>
                  <a:schemeClr val="accent4"/>
                </a:solidFill>
                <a:latin typeface="Consolas" panose="020B0609020204030204" pitchFamily="49" charset="0"/>
                <a:cs typeface="Consolas" panose="020B0609020204030204" pitchFamily="49" charset="0"/>
              </a:rPr>
              <a:t>ResultatPartie</a:t>
            </a:r>
            <a:endParaRPr lang="fr-BE" sz="2000" dirty="0">
              <a:solidFill>
                <a:schemeClr val="accent4"/>
              </a:solidFill>
              <a:latin typeface="Consolas" panose="020B0609020204030204" pitchFamily="49" charset="0"/>
              <a:cs typeface="Consolas" panose="020B0609020204030204" pitchFamily="49" charset="0"/>
            </a:endParaRPr>
          </a:p>
          <a:p>
            <a:r>
              <a:rPr lang="fr-BE" sz="2000" dirty="0">
                <a:solidFill>
                  <a:schemeClr val="accent4"/>
                </a:solidFill>
                <a:latin typeface="Consolas" panose="020B0609020204030204" pitchFamily="49" charset="0"/>
                <a:cs typeface="Consolas" panose="020B0609020204030204" pitchFamily="49" charset="0"/>
              </a:rPr>
              <a:t>Partie</a:t>
            </a:r>
            <a:r>
              <a:rPr lang="fr-BE" sz="2400" dirty="0"/>
              <a:t> fabrique un </a:t>
            </a:r>
            <a:r>
              <a:rPr lang="fr-BE" sz="2000" dirty="0" err="1">
                <a:solidFill>
                  <a:schemeClr val="accent4"/>
                </a:solidFill>
                <a:latin typeface="Consolas" panose="020B0609020204030204" pitchFamily="49" charset="0"/>
                <a:cs typeface="Consolas" panose="020B0609020204030204" pitchFamily="49" charset="0"/>
              </a:rPr>
              <a:t>ResumePartie</a:t>
            </a:r>
            <a:r>
              <a:rPr lang="fr-BE" sz="2400" dirty="0"/>
              <a:t> (mais… voir remarques ci-dessous)</a:t>
            </a:r>
          </a:p>
          <a:p>
            <a:r>
              <a:rPr lang="fr-BE" sz="2000" dirty="0" err="1">
                <a:solidFill>
                  <a:schemeClr val="accent4"/>
                </a:solidFill>
                <a:latin typeface="Consolas" panose="020B0609020204030204" pitchFamily="49" charset="0"/>
                <a:cs typeface="Consolas" panose="020B0609020204030204" pitchFamily="49" charset="0"/>
              </a:rPr>
              <a:t>GameHub</a:t>
            </a:r>
            <a:r>
              <a:rPr lang="fr-BE" sz="2400" dirty="0"/>
              <a:t> utilise tout ce petit monde</a:t>
            </a:r>
          </a:p>
          <a:p>
            <a:endParaRPr lang="en-GB" sz="2400" dirty="0"/>
          </a:p>
        </p:txBody>
      </p:sp>
      <p:sp>
        <p:nvSpPr>
          <p:cNvPr id="4" name="Espace réservé du numéro de diapositive 3">
            <a:extLst>
              <a:ext uri="{FF2B5EF4-FFF2-40B4-BE49-F238E27FC236}">
                <a16:creationId xmlns:a16="http://schemas.microsoft.com/office/drawing/2014/main" id="{1AE545A9-7DD9-C6C3-7DFB-EC49CA4FEB9B}"/>
              </a:ext>
            </a:extLst>
          </p:cNvPr>
          <p:cNvSpPr>
            <a:spLocks noGrp="1"/>
          </p:cNvSpPr>
          <p:nvPr>
            <p:ph type="sldNum" sz="quarter" idx="4"/>
          </p:nvPr>
        </p:nvSpPr>
        <p:spPr/>
        <p:txBody>
          <a:bodyPr/>
          <a:lstStyle/>
          <a:p>
            <a:fld id="{33C783E2-4793-4F48-A271-51A73CC37D74}" type="slidenum">
              <a:rPr lang="fr-FR" smtClean="0"/>
              <a:t>23</a:t>
            </a:fld>
            <a:endParaRPr lang="fr-FR"/>
          </a:p>
        </p:txBody>
      </p:sp>
      <p:pic>
        <p:nvPicPr>
          <p:cNvPr id="2" name="Picture 2" descr="Game Hub - Apps on Google Play">
            <a:extLst>
              <a:ext uri="{FF2B5EF4-FFF2-40B4-BE49-F238E27FC236}">
                <a16:creationId xmlns:a16="http://schemas.microsoft.com/office/drawing/2014/main" id="{BD6852AC-BC4C-D896-BACB-9C0BC85EF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45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BE" dirty="0"/>
              <a:t>Construisons un jeu complet: le jeu de Nim</a:t>
            </a:r>
          </a:p>
        </p:txBody>
      </p:sp>
      <p:sp>
        <p:nvSpPr>
          <p:cNvPr id="3" name="Content Placeholder 2"/>
          <p:cNvSpPr>
            <a:spLocks noGrp="1"/>
          </p:cNvSpPr>
          <p:nvPr>
            <p:ph idx="1"/>
          </p:nvPr>
        </p:nvSpPr>
        <p:spPr/>
        <p:txBody>
          <a:bodyPr/>
          <a:lstStyle/>
          <a:p>
            <a:pPr marL="0" indent="0">
              <a:buNone/>
            </a:pPr>
            <a:r>
              <a:rPr lang="fr-BE" dirty="0"/>
              <a:t>Dans le jeu de </a:t>
            </a:r>
            <a:r>
              <a:rPr lang="fr-BE" dirty="0" err="1"/>
              <a:t>Nim</a:t>
            </a:r>
            <a:r>
              <a:rPr lang="fr-BE" dirty="0"/>
              <a:t>, chaque joueur à son tour retire un certain nombre de bâtons d’une pile. </a:t>
            </a:r>
          </a:p>
          <a:p>
            <a:pPr marL="0" indent="0">
              <a:buNone/>
            </a:pPr>
            <a:r>
              <a:rPr lang="fr-BE" dirty="0"/>
              <a:t>Chacun à son tour retire 1, 2 ou 3 bâtons.</a:t>
            </a:r>
          </a:p>
          <a:p>
            <a:pPr marL="0" indent="0">
              <a:buNone/>
            </a:pPr>
            <a:r>
              <a:rPr lang="fr-BE" dirty="0"/>
              <a:t>Le joueur qui retire le dernier bâton a perdu.</a:t>
            </a:r>
          </a:p>
        </p:txBody>
      </p:sp>
      <p:pic>
        <p:nvPicPr>
          <p:cNvPr id="2052" name="Picture 4" descr="Correspondre Allumettes Feu Boîte - Images vectorielles gratuites sur  Pixabay">
            <a:extLst>
              <a:ext uri="{FF2B5EF4-FFF2-40B4-BE49-F238E27FC236}">
                <a16:creationId xmlns:a16="http://schemas.microsoft.com/office/drawing/2014/main" id="{D7BFA4DB-A4E6-1D47-BBA8-1AFF38444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674439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Correspondre Allumettes Feu Boîte - Images vectorielles gratuites sur  Pixabay">
            <a:extLst>
              <a:ext uri="{FF2B5EF4-FFF2-40B4-BE49-F238E27FC236}">
                <a16:creationId xmlns:a16="http://schemas.microsoft.com/office/drawing/2014/main" id="{D2827965-134E-0BC0-B266-B3AF7F024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639528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orrespondre Allumettes Feu Boîte - Images vectorielles gratuites sur  Pixabay">
            <a:extLst>
              <a:ext uri="{FF2B5EF4-FFF2-40B4-BE49-F238E27FC236}">
                <a16:creationId xmlns:a16="http://schemas.microsoft.com/office/drawing/2014/main" id="{6D34C470-2A28-BD7E-45FC-D0C6C9553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604617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Correspondre Allumettes Feu Boîte - Images vectorielles gratuites sur  Pixabay">
            <a:extLst>
              <a:ext uri="{FF2B5EF4-FFF2-40B4-BE49-F238E27FC236}">
                <a16:creationId xmlns:a16="http://schemas.microsoft.com/office/drawing/2014/main" id="{F31A4051-16AD-082B-86DA-70B2E26F82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569706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descr="Correspondre Allumettes Feu Boîte - Images vectorielles gratuites sur  Pixabay">
            <a:extLst>
              <a:ext uri="{FF2B5EF4-FFF2-40B4-BE49-F238E27FC236}">
                <a16:creationId xmlns:a16="http://schemas.microsoft.com/office/drawing/2014/main" id="{CEBCB5BF-6CF2-62D3-D235-716318FD8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534795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Correspondre Allumettes Feu Boîte - Images vectorielles gratuites sur  Pixabay">
            <a:extLst>
              <a:ext uri="{FF2B5EF4-FFF2-40B4-BE49-F238E27FC236}">
                <a16:creationId xmlns:a16="http://schemas.microsoft.com/office/drawing/2014/main" id="{81157C0C-E290-472E-5C3F-529C45138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499884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Correspondre Allumettes Feu Boîte - Images vectorielles gratuites sur  Pixabay">
            <a:extLst>
              <a:ext uri="{FF2B5EF4-FFF2-40B4-BE49-F238E27FC236}">
                <a16:creationId xmlns:a16="http://schemas.microsoft.com/office/drawing/2014/main" id="{8B90F521-A691-0357-6614-4DCFE34E7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464973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Correspondre Allumettes Feu Boîte - Images vectorielles gratuites sur  Pixabay">
            <a:extLst>
              <a:ext uri="{FF2B5EF4-FFF2-40B4-BE49-F238E27FC236}">
                <a16:creationId xmlns:a16="http://schemas.microsoft.com/office/drawing/2014/main" id="{563BCE31-461B-535D-015F-DC3728C41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430062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Correspondre Allumettes Feu Boîte - Images vectorielles gratuites sur  Pixabay">
            <a:extLst>
              <a:ext uri="{FF2B5EF4-FFF2-40B4-BE49-F238E27FC236}">
                <a16:creationId xmlns:a16="http://schemas.microsoft.com/office/drawing/2014/main" id="{2DC1A2B4-F97F-92BD-8986-5FF486106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395151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Correspondre Allumettes Feu Boîte - Images vectorielles gratuites sur  Pixabay">
            <a:extLst>
              <a:ext uri="{FF2B5EF4-FFF2-40B4-BE49-F238E27FC236}">
                <a16:creationId xmlns:a16="http://schemas.microsoft.com/office/drawing/2014/main" id="{36FD3E95-6425-9118-0D72-7F9F05CB2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360240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Correspondre Allumettes Feu Boîte - Images vectorielles gratuites sur  Pixabay">
            <a:extLst>
              <a:ext uri="{FF2B5EF4-FFF2-40B4-BE49-F238E27FC236}">
                <a16:creationId xmlns:a16="http://schemas.microsoft.com/office/drawing/2014/main" id="{65881F50-4E93-F03A-5501-014C1D3BA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325329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Correspondre Allumettes Feu Boîte - Images vectorielles gratuites sur  Pixabay">
            <a:extLst>
              <a:ext uri="{FF2B5EF4-FFF2-40B4-BE49-F238E27FC236}">
                <a16:creationId xmlns:a16="http://schemas.microsoft.com/office/drawing/2014/main" id="{A2CCF953-9DB4-04CE-C161-82ED1BC17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290418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Correspondre Allumettes Feu Boîte - Images vectorielles gratuites sur  Pixabay">
            <a:extLst>
              <a:ext uri="{FF2B5EF4-FFF2-40B4-BE49-F238E27FC236}">
                <a16:creationId xmlns:a16="http://schemas.microsoft.com/office/drawing/2014/main" id="{02017282-D685-A962-BEDB-7BC0D51CE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255507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Correspondre Allumettes Feu Boîte - Images vectorielles gratuites sur  Pixabay">
            <a:extLst>
              <a:ext uri="{FF2B5EF4-FFF2-40B4-BE49-F238E27FC236}">
                <a16:creationId xmlns:a16="http://schemas.microsoft.com/office/drawing/2014/main" id="{13AFBC11-8F2D-8DA6-5241-5FB6B4795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220596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Correspondre Allumettes Feu Boîte - Images vectorielles gratuites sur  Pixabay">
            <a:extLst>
              <a:ext uri="{FF2B5EF4-FFF2-40B4-BE49-F238E27FC236}">
                <a16:creationId xmlns:a16="http://schemas.microsoft.com/office/drawing/2014/main" id="{5EAB0D17-893D-7763-3F38-57F5D7585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9188168"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Correspondre Allumettes Feu Boîte - Images vectorielles gratuites sur  Pixabay">
            <a:extLst>
              <a:ext uri="{FF2B5EF4-FFF2-40B4-BE49-F238E27FC236}">
                <a16:creationId xmlns:a16="http://schemas.microsoft.com/office/drawing/2014/main" id="{7F204A06-D0D7-63D0-F517-3BD8BD2CA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883905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Correspondre Allumettes Feu Boîte - Images vectorielles gratuites sur  Pixabay">
            <a:extLst>
              <a:ext uri="{FF2B5EF4-FFF2-40B4-BE49-F238E27FC236}">
                <a16:creationId xmlns:a16="http://schemas.microsoft.com/office/drawing/2014/main" id="{0AB3DFE7-9BC3-ED6D-78D9-EFD29105B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848994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Correspondre Allumettes Feu Boîte - Images vectorielles gratuites sur  Pixabay">
            <a:extLst>
              <a:ext uri="{FF2B5EF4-FFF2-40B4-BE49-F238E27FC236}">
                <a16:creationId xmlns:a16="http://schemas.microsoft.com/office/drawing/2014/main" id="{6C0CC511-7FDB-CA31-AE0A-7961005F2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814083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Correspondre Allumettes Feu Boîte - Images vectorielles gratuites sur  Pixabay">
            <a:extLst>
              <a:ext uri="{FF2B5EF4-FFF2-40B4-BE49-F238E27FC236}">
                <a16:creationId xmlns:a16="http://schemas.microsoft.com/office/drawing/2014/main" id="{943BDECA-50FC-6069-6A49-46283C2A4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779172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 descr="Correspondre Allumettes Feu Boîte - Images vectorielles gratuites sur  Pixabay">
            <a:extLst>
              <a:ext uri="{FF2B5EF4-FFF2-40B4-BE49-F238E27FC236}">
                <a16:creationId xmlns:a16="http://schemas.microsoft.com/office/drawing/2014/main" id="{3B77E297-EE55-DBF4-8386-C7D1424DC0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744261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orrespondre Allumettes Feu Boîte - Images vectorielles gratuites sur  Pixabay">
            <a:extLst>
              <a:ext uri="{FF2B5EF4-FFF2-40B4-BE49-F238E27FC236}">
                <a16:creationId xmlns:a16="http://schemas.microsoft.com/office/drawing/2014/main" id="{01E9E0CC-1EB4-C8BC-7EA2-A15F4ACC8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973534">
            <a:off x="7093507" y="4537966"/>
            <a:ext cx="1218579" cy="1227101"/>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numéro de diapositive 4">
            <a:extLst>
              <a:ext uri="{FF2B5EF4-FFF2-40B4-BE49-F238E27FC236}">
                <a16:creationId xmlns:a16="http://schemas.microsoft.com/office/drawing/2014/main" id="{7BAE72CF-13DD-902B-CD9A-4647C1311BF2}"/>
              </a:ext>
            </a:extLst>
          </p:cNvPr>
          <p:cNvSpPr>
            <a:spLocks noGrp="1"/>
          </p:cNvSpPr>
          <p:nvPr>
            <p:ph type="sldNum" sz="quarter" idx="4"/>
          </p:nvPr>
        </p:nvSpPr>
        <p:spPr/>
        <p:txBody>
          <a:bodyPr/>
          <a:lstStyle/>
          <a:p>
            <a:fld id="{33C783E2-4793-4F48-A271-51A73CC37D74}" type="slidenum">
              <a:rPr lang="fr-FR" smtClean="0"/>
              <a:t>24</a:t>
            </a:fld>
            <a:endParaRPr lang="fr-FR" dirty="0"/>
          </a:p>
        </p:txBody>
      </p:sp>
      <p:pic>
        <p:nvPicPr>
          <p:cNvPr id="6" name="Picture 2" descr="Game Hub - Apps on Google Play">
            <a:extLst>
              <a:ext uri="{FF2B5EF4-FFF2-40B4-BE49-F238E27FC236}">
                <a16:creationId xmlns:a16="http://schemas.microsoft.com/office/drawing/2014/main" id="{18F462DF-FCD3-A4B1-320C-23C1867A2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603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Conception du jeu: interface </a:t>
            </a:r>
            <a:r>
              <a:rPr lang="fr-BE" sz="4400" dirty="0">
                <a:solidFill>
                  <a:srgbClr val="FFC000"/>
                </a:solidFill>
                <a:latin typeface="Consolas" panose="020B0609020204030204" pitchFamily="49" charset="0"/>
                <a:cs typeface="Consolas" panose="020B0609020204030204" pitchFamily="49" charset="0"/>
              </a:rPr>
              <a:t>Jeu</a:t>
            </a:r>
            <a:endParaRPr lang="fr-BE" dirty="0">
              <a:solidFill>
                <a:srgbClr val="FFC000"/>
              </a:solidFill>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fr-BE" sz="2400" dirty="0"/>
              <a:t>Nous devons pouvoir manipuler des jeux; pour ce faire, créons un nouveau package </a:t>
            </a:r>
            <a:r>
              <a:rPr lang="fr-BE" sz="2000" dirty="0" err="1">
                <a:solidFill>
                  <a:schemeClr val="accent4"/>
                </a:solidFill>
                <a:latin typeface="Consolas" panose="020B0609020204030204" pitchFamily="49" charset="0"/>
                <a:cs typeface="Consolas" panose="020B0609020204030204" pitchFamily="49" charset="0"/>
              </a:rPr>
              <a:t>gameHub.jeux</a:t>
            </a:r>
            <a:r>
              <a:rPr lang="fr-BE" sz="2000" dirty="0">
                <a:solidFill>
                  <a:schemeClr val="accent4"/>
                </a:solidFill>
                <a:latin typeface="Consolas" panose="020B0609020204030204" pitchFamily="49" charset="0"/>
                <a:cs typeface="Consolas" panose="020B0609020204030204" pitchFamily="49" charset="0"/>
              </a:rPr>
              <a:t> </a:t>
            </a:r>
          </a:p>
          <a:p>
            <a:endParaRPr lang="fr-BE" sz="2000" dirty="0">
              <a:solidFill>
                <a:schemeClr val="accent4"/>
              </a:solidFill>
              <a:latin typeface="Consolas" panose="020B0609020204030204" pitchFamily="49" charset="0"/>
              <a:cs typeface="Consolas" panose="020B0609020204030204" pitchFamily="49" charset="0"/>
            </a:endParaRPr>
          </a:p>
          <a:p>
            <a:r>
              <a:rPr lang="fr-BE" sz="2400" dirty="0"/>
              <a:t>Il serait logique que la classe </a:t>
            </a:r>
            <a:r>
              <a:rPr lang="fr-BE" sz="2000" dirty="0" err="1">
                <a:solidFill>
                  <a:schemeClr val="accent4"/>
                </a:solidFill>
                <a:latin typeface="Consolas" panose="020B0609020204030204" pitchFamily="49" charset="0"/>
                <a:cs typeface="Consolas" panose="020B0609020204030204" pitchFamily="49" charset="0"/>
              </a:rPr>
              <a:t>GameHub</a:t>
            </a:r>
            <a:r>
              <a:rPr lang="fr-BE" sz="2400" dirty="0"/>
              <a:t> crée le </a:t>
            </a:r>
            <a:r>
              <a:rPr lang="fr-BE" sz="2000" dirty="0">
                <a:solidFill>
                  <a:schemeClr val="accent4"/>
                </a:solidFill>
                <a:latin typeface="Consolas" panose="020B0609020204030204" pitchFamily="49" charset="0"/>
                <a:cs typeface="Consolas" panose="020B0609020204030204" pitchFamily="49" charset="0"/>
              </a:rPr>
              <a:t>Jeu</a:t>
            </a:r>
            <a:r>
              <a:rPr lang="fr-BE" sz="2400" dirty="0"/>
              <a:t>, sur base duquel il génèrera ensuite des </a:t>
            </a:r>
            <a:r>
              <a:rPr lang="fr-BE" sz="2000" dirty="0">
                <a:solidFill>
                  <a:schemeClr val="accent4"/>
                </a:solidFill>
                <a:latin typeface="Consolas" panose="020B0609020204030204" pitchFamily="49" charset="0"/>
                <a:cs typeface="Consolas" panose="020B0609020204030204" pitchFamily="49" charset="0"/>
              </a:rPr>
              <a:t>Partie</a:t>
            </a:r>
            <a:r>
              <a:rPr lang="fr-BE" sz="2400" dirty="0"/>
              <a:t>.</a:t>
            </a:r>
          </a:p>
          <a:p>
            <a:r>
              <a:rPr lang="fr-BE" sz="2400" dirty="0"/>
              <a:t>Pour éviter une dépendance trop forte entre </a:t>
            </a:r>
            <a:r>
              <a:rPr lang="fr-BE" sz="2000" dirty="0" err="1">
                <a:solidFill>
                  <a:schemeClr val="accent4"/>
                </a:solidFill>
                <a:latin typeface="Consolas" panose="020B0609020204030204" pitchFamily="49" charset="0"/>
                <a:cs typeface="Consolas" panose="020B0609020204030204" pitchFamily="49" charset="0"/>
              </a:rPr>
              <a:t>GameHub</a:t>
            </a:r>
            <a:r>
              <a:rPr lang="fr-BE" sz="2400" dirty="0"/>
              <a:t> et notre jeu de </a:t>
            </a:r>
            <a:r>
              <a:rPr lang="fr-BE" sz="2400" dirty="0" err="1"/>
              <a:t>Nim</a:t>
            </a:r>
            <a:r>
              <a:rPr lang="fr-BE" sz="2400" dirty="0"/>
              <a:t> (</a:t>
            </a:r>
            <a:r>
              <a:rPr lang="fr-BE" sz="2000" dirty="0" err="1">
                <a:solidFill>
                  <a:schemeClr val="accent4"/>
                </a:solidFill>
                <a:latin typeface="Consolas" panose="020B0609020204030204" pitchFamily="49" charset="0"/>
                <a:cs typeface="Consolas" panose="020B0609020204030204" pitchFamily="49" charset="0"/>
              </a:rPr>
              <a:t>GameHub</a:t>
            </a:r>
            <a:r>
              <a:rPr lang="fr-BE" sz="2400" dirty="0"/>
              <a:t> doit pouvoir gérer différents types de jeux), nous allons commencer par créer une interface </a:t>
            </a:r>
            <a:r>
              <a:rPr lang="fr-BE" sz="2000" dirty="0">
                <a:solidFill>
                  <a:schemeClr val="accent4"/>
                </a:solidFill>
                <a:latin typeface="Consolas" panose="020B0609020204030204" pitchFamily="49" charset="0"/>
                <a:cs typeface="Consolas" panose="020B0609020204030204" pitchFamily="49" charset="0"/>
              </a:rPr>
              <a:t>Jeu</a:t>
            </a:r>
            <a:r>
              <a:rPr lang="fr-BE" sz="2400" dirty="0"/>
              <a:t> dans ce package.</a:t>
            </a:r>
          </a:p>
          <a:p>
            <a:r>
              <a:rPr lang="fr-BE" sz="2400" dirty="0"/>
              <a:t>Responsabilités de Jeu:</a:t>
            </a:r>
          </a:p>
          <a:p>
            <a:pPr lvl="1"/>
            <a:r>
              <a:rPr lang="fr-BE" sz="2000" dirty="0" err="1">
                <a:solidFill>
                  <a:schemeClr val="accent4"/>
                </a:solidFill>
                <a:latin typeface="Consolas" panose="020B0609020204030204" pitchFamily="49" charset="0"/>
                <a:cs typeface="Consolas" panose="020B0609020204030204" pitchFamily="49" charset="0"/>
              </a:rPr>
              <a:t>TypeJeu</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getType</a:t>
            </a:r>
            <a:r>
              <a:rPr lang="fr-BE" sz="2000" dirty="0">
                <a:solidFill>
                  <a:schemeClr val="accent4"/>
                </a:solidFill>
                <a:latin typeface="Consolas" panose="020B0609020204030204" pitchFamily="49" charset="0"/>
                <a:cs typeface="Consolas" panose="020B0609020204030204" pitchFamily="49" charset="0"/>
              </a:rPr>
              <a:t>()</a:t>
            </a:r>
          </a:p>
          <a:p>
            <a:pPr lvl="1"/>
            <a:r>
              <a:rPr lang="fr-BE" sz="2000" dirty="0" err="1">
                <a:solidFill>
                  <a:schemeClr val="accent4"/>
                </a:solidFill>
                <a:latin typeface="Consolas" panose="020B0609020204030204" pitchFamily="49" charset="0"/>
                <a:cs typeface="Consolas" panose="020B0609020204030204" pitchFamily="49" charset="0"/>
              </a:rPr>
              <a:t>ResultatPartie</a:t>
            </a:r>
            <a:r>
              <a:rPr lang="fr-BE" sz="2000" dirty="0">
                <a:solidFill>
                  <a:schemeClr val="accent4"/>
                </a:solidFill>
                <a:latin typeface="Consolas" panose="020B0609020204030204" pitchFamily="49" charset="0"/>
                <a:cs typeface="Consolas" panose="020B0609020204030204" pitchFamily="49" charset="0"/>
              </a:rPr>
              <a:t> jouer(Joueur j1, Joueur j2):</a:t>
            </a:r>
          </a:p>
          <a:p>
            <a:endParaRPr lang="fr-BE" sz="2000" dirty="0">
              <a:solidFill>
                <a:schemeClr val="accent4"/>
              </a:solidFill>
              <a:latin typeface="Consolas" panose="020B0609020204030204" pitchFamily="49" charset="0"/>
              <a:cs typeface="Consolas" panose="020B0609020204030204" pitchFamily="49" charset="0"/>
            </a:endParaRPr>
          </a:p>
          <a:p>
            <a:endParaRPr lang="fr-BE" sz="2400" dirty="0"/>
          </a:p>
        </p:txBody>
      </p:sp>
      <p:sp>
        <p:nvSpPr>
          <p:cNvPr id="4" name="Straight Connector 3"/>
          <p:cNvSpPr>
            <a:spLocks noChangeShapeType="1"/>
          </p:cNvSpPr>
          <p:nvPr/>
        </p:nvSpPr>
        <p:spPr bwMode="auto">
          <a:xfrm>
            <a:off x="2038350" y="66286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dirty="0"/>
          </a:p>
        </p:txBody>
      </p:sp>
      <p:sp>
        <p:nvSpPr>
          <p:cNvPr id="5" name="Espace réservé du numéro de diapositive 4">
            <a:extLst>
              <a:ext uri="{FF2B5EF4-FFF2-40B4-BE49-F238E27FC236}">
                <a16:creationId xmlns:a16="http://schemas.microsoft.com/office/drawing/2014/main" id="{2E579F59-4AC9-A7EB-5389-3E20C4345716}"/>
              </a:ext>
            </a:extLst>
          </p:cNvPr>
          <p:cNvSpPr>
            <a:spLocks noGrp="1"/>
          </p:cNvSpPr>
          <p:nvPr>
            <p:ph type="sldNum" sz="quarter" idx="4"/>
          </p:nvPr>
        </p:nvSpPr>
        <p:spPr/>
        <p:txBody>
          <a:bodyPr/>
          <a:lstStyle/>
          <a:p>
            <a:fld id="{33C783E2-4793-4F48-A271-51A73CC37D74}" type="slidenum">
              <a:rPr lang="fr-FR" smtClean="0"/>
              <a:t>25</a:t>
            </a:fld>
            <a:endParaRPr lang="fr-FR" dirty="0"/>
          </a:p>
        </p:txBody>
      </p:sp>
      <p:pic>
        <p:nvPicPr>
          <p:cNvPr id="6" name="Picture 2" descr="Game Hub - Apps on Google Play">
            <a:extLst>
              <a:ext uri="{FF2B5EF4-FFF2-40B4-BE49-F238E27FC236}">
                <a16:creationId xmlns:a16="http://schemas.microsoft.com/office/drawing/2014/main" id="{56180B0C-FCEC-9018-4CED-C259C300F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153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CBA79-F668-65FC-6D48-0B7934E22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B631E-B6EB-37B5-E155-4BCE69F88C71}"/>
              </a:ext>
            </a:extLst>
          </p:cNvPr>
          <p:cNvSpPr>
            <a:spLocks noGrp="1"/>
          </p:cNvSpPr>
          <p:nvPr>
            <p:ph type="title"/>
          </p:nvPr>
        </p:nvSpPr>
        <p:spPr/>
        <p:txBody>
          <a:bodyPr>
            <a:normAutofit/>
          </a:bodyPr>
          <a:lstStyle/>
          <a:p>
            <a:r>
              <a:rPr lang="fr-BE" dirty="0"/>
              <a:t>Pour instancier les jeux: </a:t>
            </a:r>
            <a:r>
              <a:rPr lang="fr-BE" sz="4400" dirty="0" err="1">
                <a:solidFill>
                  <a:srgbClr val="FFC000"/>
                </a:solidFill>
              </a:rPr>
              <a:t>JeuFactory</a:t>
            </a:r>
            <a:endParaRPr lang="fr-BE" dirty="0">
              <a:solidFill>
                <a:srgbClr val="FFC000"/>
              </a:solidFill>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A79D8122-E77A-158C-BB60-225A25CD8737}"/>
              </a:ext>
            </a:extLst>
          </p:cNvPr>
          <p:cNvSpPr>
            <a:spLocks noGrp="1"/>
          </p:cNvSpPr>
          <p:nvPr>
            <p:ph idx="1"/>
          </p:nvPr>
        </p:nvSpPr>
        <p:spPr/>
        <p:txBody>
          <a:bodyPr>
            <a:normAutofit/>
          </a:bodyPr>
          <a:lstStyle/>
          <a:p>
            <a:r>
              <a:rPr lang="fr-BE" sz="2400" dirty="0"/>
              <a:t>La classe </a:t>
            </a:r>
            <a:r>
              <a:rPr lang="fr-BE" sz="2000" dirty="0" err="1">
                <a:solidFill>
                  <a:schemeClr val="accent4"/>
                </a:solidFill>
                <a:latin typeface="Consolas" panose="020B0609020204030204" pitchFamily="49" charset="0"/>
                <a:cs typeface="Consolas" panose="020B0609020204030204" pitchFamily="49" charset="0"/>
              </a:rPr>
              <a:t>JeuFactory</a:t>
            </a:r>
            <a:r>
              <a:rPr lang="fr-BE" sz="2400" dirty="0"/>
              <a:t> pourra, en fonction d’un </a:t>
            </a:r>
            <a:r>
              <a:rPr lang="fr-BE" sz="2000" dirty="0" err="1">
                <a:solidFill>
                  <a:schemeClr val="accent4"/>
                </a:solidFill>
                <a:latin typeface="Consolas" panose="020B0609020204030204" pitchFamily="49" charset="0"/>
                <a:cs typeface="Consolas" panose="020B0609020204030204" pitchFamily="49" charset="0"/>
              </a:rPr>
              <a:t>TypeJeu</a:t>
            </a:r>
            <a:r>
              <a:rPr lang="fr-BE" sz="2400" dirty="0"/>
              <a:t>, retourner une instance de </a:t>
            </a:r>
            <a:r>
              <a:rPr lang="fr-BE" sz="2000" dirty="0">
                <a:solidFill>
                  <a:schemeClr val="accent4"/>
                </a:solidFill>
                <a:latin typeface="Consolas" panose="020B0609020204030204" pitchFamily="49" charset="0"/>
                <a:cs typeface="Consolas" panose="020B0609020204030204" pitchFamily="49" charset="0"/>
              </a:rPr>
              <a:t>Jeu</a:t>
            </a:r>
            <a:r>
              <a:rPr lang="fr-BE" sz="2400" dirty="0"/>
              <a:t> appropriée.</a:t>
            </a:r>
            <a:br>
              <a:rPr lang="fr-BE" sz="2400" dirty="0"/>
            </a:br>
            <a:r>
              <a:rPr lang="fr-BE" sz="2400" dirty="0"/>
              <a:t>C’est un autre exemple de Design Pattern (</a:t>
            </a:r>
            <a:r>
              <a:rPr lang="fr-BE" sz="2400" dirty="0" err="1"/>
              <a:t>Factory</a:t>
            </a:r>
            <a:r>
              <a:rPr lang="fr-BE" sz="2400" dirty="0"/>
              <a:t>).</a:t>
            </a:r>
            <a:br>
              <a:rPr lang="fr-BE" sz="2400" dirty="0"/>
            </a:br>
            <a:endParaRPr lang="fr-BE" sz="2400" dirty="0"/>
          </a:p>
          <a:p>
            <a:r>
              <a:rPr lang="fr-BE" sz="2400" dirty="0"/>
              <a:t>Responsabilités de </a:t>
            </a:r>
            <a:r>
              <a:rPr lang="fr-BE" sz="2000" dirty="0" err="1">
                <a:solidFill>
                  <a:schemeClr val="accent4"/>
                </a:solidFill>
                <a:latin typeface="Consolas" panose="020B0609020204030204" pitchFamily="49" charset="0"/>
                <a:cs typeface="Consolas" panose="020B0609020204030204" pitchFamily="49" charset="0"/>
              </a:rPr>
              <a:t>JeuFactory</a:t>
            </a:r>
            <a:r>
              <a:rPr lang="fr-BE" sz="2400" dirty="0"/>
              <a:t>:</a:t>
            </a:r>
          </a:p>
          <a:p>
            <a:pPr lvl="1"/>
            <a:r>
              <a:rPr lang="fr-BE" sz="1800" dirty="0">
                <a:solidFill>
                  <a:schemeClr val="accent4"/>
                </a:solidFill>
                <a:latin typeface="Consolas" panose="020B0609020204030204" pitchFamily="49" charset="0"/>
                <a:cs typeface="Consolas" panose="020B0609020204030204" pitchFamily="49" charset="0"/>
              </a:rPr>
              <a:t>Jeu </a:t>
            </a:r>
            <a:r>
              <a:rPr lang="fr-BE" sz="1800" dirty="0" err="1">
                <a:solidFill>
                  <a:schemeClr val="accent4"/>
                </a:solidFill>
                <a:latin typeface="Consolas" panose="020B0609020204030204" pitchFamily="49" charset="0"/>
                <a:cs typeface="Consolas" panose="020B0609020204030204" pitchFamily="49" charset="0"/>
              </a:rPr>
              <a:t>creer</a:t>
            </a:r>
            <a:r>
              <a:rPr lang="fr-BE" sz="1800" dirty="0">
                <a:solidFill>
                  <a:schemeClr val="accent4"/>
                </a:solidFill>
                <a:latin typeface="Consolas" panose="020B0609020204030204" pitchFamily="49" charset="0"/>
                <a:cs typeface="Consolas" panose="020B0609020204030204" pitchFamily="49" charset="0"/>
              </a:rPr>
              <a:t>(</a:t>
            </a:r>
            <a:r>
              <a:rPr lang="fr-BE" sz="1800" dirty="0" err="1">
                <a:solidFill>
                  <a:schemeClr val="accent4"/>
                </a:solidFill>
                <a:latin typeface="Consolas" panose="020B0609020204030204" pitchFamily="49" charset="0"/>
                <a:cs typeface="Consolas" panose="020B0609020204030204" pitchFamily="49" charset="0"/>
              </a:rPr>
              <a:t>TypeJeu</a:t>
            </a:r>
            <a:r>
              <a:rPr lang="fr-BE" sz="1800" dirty="0">
                <a:solidFill>
                  <a:schemeClr val="accent4"/>
                </a:solidFill>
                <a:latin typeface="Consolas" panose="020B0609020204030204" pitchFamily="49" charset="0"/>
                <a:cs typeface="Consolas" panose="020B0609020204030204" pitchFamily="49" charset="0"/>
              </a:rPr>
              <a:t> type)</a:t>
            </a:r>
          </a:p>
          <a:p>
            <a:endParaRPr lang="fr-BE" sz="2000" dirty="0">
              <a:solidFill>
                <a:schemeClr val="accent4"/>
              </a:solidFill>
              <a:latin typeface="Consolas" panose="020B0609020204030204" pitchFamily="49" charset="0"/>
              <a:cs typeface="Consolas" panose="020B0609020204030204" pitchFamily="49" charset="0"/>
            </a:endParaRPr>
          </a:p>
          <a:p>
            <a:r>
              <a:rPr lang="fr-BE" sz="2400" dirty="0"/>
              <a:t>Avantage: le </a:t>
            </a:r>
            <a:r>
              <a:rPr lang="fr-BE" sz="2000" dirty="0" err="1">
                <a:solidFill>
                  <a:schemeClr val="accent4"/>
                </a:solidFill>
                <a:latin typeface="Consolas" panose="020B0609020204030204" pitchFamily="49" charset="0"/>
                <a:cs typeface="Consolas" panose="020B0609020204030204" pitchFamily="49" charset="0"/>
              </a:rPr>
              <a:t>GameHub</a:t>
            </a:r>
            <a:r>
              <a:rPr lang="fr-BE" sz="2400" dirty="0"/>
              <a:t> ne connaît que des objets de type </a:t>
            </a:r>
            <a:r>
              <a:rPr lang="fr-BE" sz="2000" dirty="0">
                <a:solidFill>
                  <a:schemeClr val="accent4"/>
                </a:solidFill>
                <a:latin typeface="Consolas" panose="020B0609020204030204" pitchFamily="49" charset="0"/>
                <a:cs typeface="Consolas" panose="020B0609020204030204" pitchFamily="49" charset="0"/>
              </a:rPr>
              <a:t>Jeu</a:t>
            </a:r>
            <a:r>
              <a:rPr lang="fr-BE" sz="2400" dirty="0"/>
              <a:t>, et il délègue à </a:t>
            </a:r>
            <a:r>
              <a:rPr lang="fr-BE" sz="2000" dirty="0" err="1">
                <a:solidFill>
                  <a:schemeClr val="accent4"/>
                </a:solidFill>
                <a:latin typeface="Consolas" panose="020B0609020204030204" pitchFamily="49" charset="0"/>
                <a:cs typeface="Consolas" panose="020B0609020204030204" pitchFamily="49" charset="0"/>
              </a:rPr>
              <a:t>JeuFactory</a:t>
            </a:r>
            <a:r>
              <a:rPr lang="fr-BE" sz="2400" dirty="0"/>
              <a:t> le soin de créer le jeu approprié.</a:t>
            </a:r>
          </a:p>
        </p:txBody>
      </p:sp>
      <p:sp>
        <p:nvSpPr>
          <p:cNvPr id="4" name="Straight Connector 3">
            <a:extLst>
              <a:ext uri="{FF2B5EF4-FFF2-40B4-BE49-F238E27FC236}">
                <a16:creationId xmlns:a16="http://schemas.microsoft.com/office/drawing/2014/main" id="{2663635E-E6E9-53D3-4F5A-F7FFAD3A606D}"/>
              </a:ext>
            </a:extLst>
          </p:cNvPr>
          <p:cNvSpPr>
            <a:spLocks noChangeShapeType="1"/>
          </p:cNvSpPr>
          <p:nvPr/>
        </p:nvSpPr>
        <p:spPr bwMode="auto">
          <a:xfrm>
            <a:off x="2038350" y="66286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dirty="0"/>
          </a:p>
        </p:txBody>
      </p:sp>
      <p:sp>
        <p:nvSpPr>
          <p:cNvPr id="5" name="Espace réservé du numéro de diapositive 4">
            <a:extLst>
              <a:ext uri="{FF2B5EF4-FFF2-40B4-BE49-F238E27FC236}">
                <a16:creationId xmlns:a16="http://schemas.microsoft.com/office/drawing/2014/main" id="{634FB727-635F-38EC-447C-93A6EE72183B}"/>
              </a:ext>
            </a:extLst>
          </p:cNvPr>
          <p:cNvSpPr>
            <a:spLocks noGrp="1"/>
          </p:cNvSpPr>
          <p:nvPr>
            <p:ph type="sldNum" sz="quarter" idx="4"/>
          </p:nvPr>
        </p:nvSpPr>
        <p:spPr/>
        <p:txBody>
          <a:bodyPr/>
          <a:lstStyle/>
          <a:p>
            <a:fld id="{33C783E2-4793-4F48-A271-51A73CC37D74}" type="slidenum">
              <a:rPr lang="fr-FR" smtClean="0"/>
              <a:t>26</a:t>
            </a:fld>
            <a:endParaRPr lang="fr-FR" dirty="0"/>
          </a:p>
        </p:txBody>
      </p:sp>
      <p:pic>
        <p:nvPicPr>
          <p:cNvPr id="6" name="Picture 2" descr="Game Hub - Apps on Google Play">
            <a:extLst>
              <a:ext uri="{FF2B5EF4-FFF2-40B4-BE49-F238E27FC236}">
                <a16:creationId xmlns:a16="http://schemas.microsoft.com/office/drawing/2014/main" id="{28B05FAF-56DD-27C3-2EC5-391BE3FE23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555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FD34-28B6-3338-D409-5781F9CF5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C360B-77CC-E09C-3ACC-A01D47C778BB}"/>
              </a:ext>
            </a:extLst>
          </p:cNvPr>
          <p:cNvSpPr>
            <a:spLocks noGrp="1"/>
          </p:cNvSpPr>
          <p:nvPr>
            <p:ph type="title"/>
          </p:nvPr>
        </p:nvSpPr>
        <p:spPr/>
        <p:txBody>
          <a:bodyPr>
            <a:normAutofit/>
          </a:bodyPr>
          <a:lstStyle/>
          <a:p>
            <a:r>
              <a:rPr lang="fr-BE" dirty="0"/>
              <a:t>Un cas concret de jeu: </a:t>
            </a:r>
            <a:r>
              <a:rPr lang="fr-BE" sz="4400" dirty="0" err="1">
                <a:solidFill>
                  <a:srgbClr val="FFC000"/>
                </a:solidFill>
              </a:rPr>
              <a:t>JeuNim</a:t>
            </a:r>
            <a:endParaRPr lang="fr-BE" dirty="0">
              <a:solidFill>
                <a:srgbClr val="FFC000"/>
              </a:solidFill>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4D05165F-03B0-84C5-A46D-4C5523D6BDBD}"/>
              </a:ext>
            </a:extLst>
          </p:cNvPr>
          <p:cNvSpPr>
            <a:spLocks noGrp="1"/>
          </p:cNvSpPr>
          <p:nvPr>
            <p:ph idx="1"/>
          </p:nvPr>
        </p:nvSpPr>
        <p:spPr/>
        <p:txBody>
          <a:bodyPr>
            <a:normAutofit/>
          </a:bodyPr>
          <a:lstStyle/>
          <a:p>
            <a:r>
              <a:rPr lang="fr-BE" sz="2400" dirty="0"/>
              <a:t>Pour le jeu de </a:t>
            </a:r>
            <a:r>
              <a:rPr lang="fr-BE" sz="2400" dirty="0" err="1"/>
              <a:t>Nim</a:t>
            </a:r>
            <a:r>
              <a:rPr lang="fr-BE" sz="2400" dirty="0"/>
              <a:t>, nous devons manipuler quelques données:</a:t>
            </a:r>
          </a:p>
          <a:p>
            <a:pPr lvl="1"/>
            <a:r>
              <a:rPr lang="fr-BE" sz="2000" dirty="0"/>
              <a:t>La </a:t>
            </a:r>
            <a:r>
              <a:rPr lang="fr-BE" sz="1800" dirty="0">
                <a:solidFill>
                  <a:srgbClr val="FFC000"/>
                </a:solidFill>
              </a:rPr>
              <a:t>Pile</a:t>
            </a:r>
            <a:r>
              <a:rPr lang="fr-BE" sz="2000" dirty="0"/>
              <a:t> d’allumettes </a:t>
            </a:r>
          </a:p>
          <a:p>
            <a:pPr lvl="1"/>
            <a:r>
              <a:rPr lang="fr-BE" sz="2000" dirty="0"/>
              <a:t>Les règles du jeu (min et max allumettes retirées, par rapport à l’état d’une </a:t>
            </a:r>
            <a:r>
              <a:rPr lang="fr-BE" sz="1800" dirty="0">
                <a:solidFill>
                  <a:srgbClr val="FFC000"/>
                </a:solidFill>
              </a:rPr>
              <a:t>Pile</a:t>
            </a:r>
            <a:r>
              <a:rPr lang="fr-BE" sz="2000" dirty="0"/>
              <a:t> donnée); elles seront modélisées dans une classe </a:t>
            </a:r>
            <a:r>
              <a:rPr lang="fr-BE" sz="1800" dirty="0" err="1">
                <a:solidFill>
                  <a:srgbClr val="FFC000"/>
                </a:solidFill>
              </a:rPr>
              <a:t>ReglesNim</a:t>
            </a:r>
            <a:r>
              <a:rPr lang="fr-BE" sz="2000" dirty="0"/>
              <a:t>.</a:t>
            </a:r>
          </a:p>
          <a:p>
            <a:pPr lvl="1"/>
            <a:r>
              <a:rPr lang="fr-BE" sz="2000" dirty="0"/>
              <a:t>La stratégie du premier et du second joueur. </a:t>
            </a:r>
            <a:br>
              <a:rPr lang="fr-BE" sz="2000" dirty="0"/>
            </a:br>
            <a:r>
              <a:rPr lang="fr-BE" sz="2000" dirty="0"/>
              <a:t>Pour le moment considérons une seule stratégie: chaque joueur retire 1 allumette à la fois (et appelons cette Stratégie </a:t>
            </a:r>
            <a:r>
              <a:rPr lang="fr-BE" sz="1800" dirty="0" err="1">
                <a:solidFill>
                  <a:srgbClr val="FFC000"/>
                </a:solidFill>
              </a:rPr>
              <a:t>StrategieTimide</a:t>
            </a:r>
            <a:r>
              <a:rPr lang="fr-BE" sz="2000" dirty="0"/>
              <a:t>).</a:t>
            </a:r>
          </a:p>
          <a:p>
            <a:r>
              <a:rPr lang="fr-BE" sz="2400" dirty="0"/>
              <a:t>Le constructeur </a:t>
            </a:r>
            <a:r>
              <a:rPr lang="fr-BE" sz="2400" dirty="0" err="1"/>
              <a:t>JeuNim</a:t>
            </a:r>
            <a:r>
              <a:rPr lang="fr-BE" sz="2400" dirty="0"/>
              <a:t> reçoit:</a:t>
            </a:r>
          </a:p>
          <a:p>
            <a:pPr lvl="1"/>
            <a:r>
              <a:rPr lang="fr-BE" sz="1800" dirty="0" err="1">
                <a:solidFill>
                  <a:srgbClr val="FFC000"/>
                </a:solidFill>
                <a:latin typeface="Consolas" panose="020B0609020204030204" pitchFamily="49" charset="0"/>
                <a:cs typeface="Consolas" panose="020B0609020204030204" pitchFamily="49" charset="0"/>
              </a:rPr>
              <a:t>int</a:t>
            </a:r>
            <a:r>
              <a:rPr lang="fr-BE" sz="1800" dirty="0">
                <a:solidFill>
                  <a:srgbClr val="FFC000"/>
                </a:solidFill>
                <a:latin typeface="Consolas" panose="020B0609020204030204" pitchFamily="49" charset="0"/>
                <a:cs typeface="Consolas" panose="020B0609020204030204" pitchFamily="49" charset="0"/>
              </a:rPr>
              <a:t> </a:t>
            </a:r>
            <a:r>
              <a:rPr lang="fr-BE" sz="1800" dirty="0" err="1">
                <a:solidFill>
                  <a:srgbClr val="FFC000"/>
                </a:solidFill>
                <a:latin typeface="Consolas" panose="020B0609020204030204" pitchFamily="49" charset="0"/>
                <a:cs typeface="Consolas" panose="020B0609020204030204" pitchFamily="49" charset="0"/>
              </a:rPr>
              <a:t>allumettesInitiales</a:t>
            </a:r>
            <a:endParaRPr lang="fr-BE" sz="1800" dirty="0">
              <a:solidFill>
                <a:srgbClr val="FFC000"/>
              </a:solidFill>
              <a:latin typeface="Consolas" panose="020B0609020204030204" pitchFamily="49" charset="0"/>
              <a:cs typeface="Consolas" panose="020B0609020204030204" pitchFamily="49" charset="0"/>
            </a:endParaRPr>
          </a:p>
          <a:p>
            <a:pPr lvl="1"/>
            <a:r>
              <a:rPr lang="fr-BE" sz="1800" dirty="0" err="1">
                <a:solidFill>
                  <a:srgbClr val="FFC000"/>
                </a:solidFill>
                <a:latin typeface="Consolas" panose="020B0609020204030204" pitchFamily="49" charset="0"/>
                <a:cs typeface="Consolas" panose="020B0609020204030204" pitchFamily="49" charset="0"/>
              </a:rPr>
              <a:t>ReglesNim</a:t>
            </a:r>
            <a:r>
              <a:rPr lang="fr-BE" sz="1800" dirty="0">
                <a:solidFill>
                  <a:srgbClr val="FFC000"/>
                </a:solidFill>
                <a:latin typeface="Consolas" panose="020B0609020204030204" pitchFamily="49" charset="0"/>
                <a:cs typeface="Consolas" panose="020B0609020204030204" pitchFamily="49" charset="0"/>
              </a:rPr>
              <a:t> </a:t>
            </a:r>
            <a:r>
              <a:rPr lang="fr-BE" sz="1800" dirty="0" err="1">
                <a:solidFill>
                  <a:srgbClr val="FFC000"/>
                </a:solidFill>
                <a:latin typeface="Consolas" panose="020B0609020204030204" pitchFamily="49" charset="0"/>
                <a:cs typeface="Consolas" panose="020B0609020204030204" pitchFamily="49" charset="0"/>
              </a:rPr>
              <a:t>regles</a:t>
            </a:r>
            <a:endParaRPr lang="fr-BE" sz="1800" dirty="0">
              <a:solidFill>
                <a:srgbClr val="FFC000"/>
              </a:solidFill>
              <a:latin typeface="Consolas" panose="020B0609020204030204" pitchFamily="49" charset="0"/>
              <a:cs typeface="Consolas" panose="020B0609020204030204" pitchFamily="49" charset="0"/>
            </a:endParaRPr>
          </a:p>
          <a:p>
            <a:pPr lvl="1"/>
            <a:r>
              <a:rPr lang="fr-BE" sz="1800" dirty="0" err="1">
                <a:solidFill>
                  <a:srgbClr val="FFC000"/>
                </a:solidFill>
                <a:latin typeface="Consolas" panose="020B0609020204030204" pitchFamily="49" charset="0"/>
                <a:cs typeface="Consolas" panose="020B0609020204030204" pitchFamily="49" charset="0"/>
              </a:rPr>
              <a:t>StrategieNim</a:t>
            </a:r>
            <a:r>
              <a:rPr lang="fr-BE" sz="1800" dirty="0">
                <a:solidFill>
                  <a:srgbClr val="FFC000"/>
                </a:solidFill>
                <a:latin typeface="Consolas" panose="020B0609020204030204" pitchFamily="49" charset="0"/>
                <a:cs typeface="Consolas" panose="020B0609020204030204" pitchFamily="49" charset="0"/>
              </a:rPr>
              <a:t> strategieJ1</a:t>
            </a:r>
          </a:p>
          <a:p>
            <a:pPr lvl="1"/>
            <a:r>
              <a:rPr lang="fr-BE" sz="1800" dirty="0" err="1">
                <a:solidFill>
                  <a:srgbClr val="FFC000"/>
                </a:solidFill>
                <a:latin typeface="Consolas" panose="020B0609020204030204" pitchFamily="49" charset="0"/>
                <a:cs typeface="Consolas" panose="020B0609020204030204" pitchFamily="49" charset="0"/>
              </a:rPr>
              <a:t>StrategieNim</a:t>
            </a:r>
            <a:r>
              <a:rPr lang="fr-BE" sz="1800" dirty="0">
                <a:solidFill>
                  <a:srgbClr val="FFC000"/>
                </a:solidFill>
                <a:latin typeface="Consolas" panose="020B0609020204030204" pitchFamily="49" charset="0"/>
                <a:cs typeface="Consolas" panose="020B0609020204030204" pitchFamily="49" charset="0"/>
              </a:rPr>
              <a:t> strategieJ2</a:t>
            </a:r>
            <a:endParaRPr lang="fr-BE" sz="2000" dirty="0">
              <a:solidFill>
                <a:srgbClr val="FFC000"/>
              </a:solidFill>
              <a:latin typeface="Consolas" panose="020B0609020204030204" pitchFamily="49" charset="0"/>
              <a:cs typeface="Consolas" panose="020B0609020204030204" pitchFamily="49" charset="0"/>
            </a:endParaRPr>
          </a:p>
          <a:p>
            <a:endParaRPr lang="fr-BE" sz="2400" dirty="0"/>
          </a:p>
        </p:txBody>
      </p:sp>
      <p:sp>
        <p:nvSpPr>
          <p:cNvPr id="4" name="Straight Connector 3">
            <a:extLst>
              <a:ext uri="{FF2B5EF4-FFF2-40B4-BE49-F238E27FC236}">
                <a16:creationId xmlns:a16="http://schemas.microsoft.com/office/drawing/2014/main" id="{FDD1AC22-FDEB-AE25-9516-BF4130EB5B3E}"/>
              </a:ext>
            </a:extLst>
          </p:cNvPr>
          <p:cNvSpPr>
            <a:spLocks noChangeShapeType="1"/>
          </p:cNvSpPr>
          <p:nvPr/>
        </p:nvSpPr>
        <p:spPr bwMode="auto">
          <a:xfrm>
            <a:off x="2038350" y="66286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dirty="0"/>
          </a:p>
        </p:txBody>
      </p:sp>
      <p:sp>
        <p:nvSpPr>
          <p:cNvPr id="5" name="Espace réservé du numéro de diapositive 4">
            <a:extLst>
              <a:ext uri="{FF2B5EF4-FFF2-40B4-BE49-F238E27FC236}">
                <a16:creationId xmlns:a16="http://schemas.microsoft.com/office/drawing/2014/main" id="{45A5B639-085F-33E3-87CC-BEBFB14588C8}"/>
              </a:ext>
            </a:extLst>
          </p:cNvPr>
          <p:cNvSpPr>
            <a:spLocks noGrp="1"/>
          </p:cNvSpPr>
          <p:nvPr>
            <p:ph type="sldNum" sz="quarter" idx="4"/>
          </p:nvPr>
        </p:nvSpPr>
        <p:spPr/>
        <p:txBody>
          <a:bodyPr/>
          <a:lstStyle/>
          <a:p>
            <a:fld id="{33C783E2-4793-4F48-A271-51A73CC37D74}" type="slidenum">
              <a:rPr lang="fr-FR" smtClean="0"/>
              <a:t>27</a:t>
            </a:fld>
            <a:endParaRPr lang="fr-FR" dirty="0"/>
          </a:p>
        </p:txBody>
      </p:sp>
      <p:pic>
        <p:nvPicPr>
          <p:cNvPr id="6" name="Picture 2" descr="Game Hub - Apps on Google Play">
            <a:extLst>
              <a:ext uri="{FF2B5EF4-FFF2-40B4-BE49-F238E27FC236}">
                <a16:creationId xmlns:a16="http://schemas.microsoft.com/office/drawing/2014/main" id="{6EE03120-A8E8-1F28-050E-965A142BB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597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0F5D6F-C852-C574-CAF8-2B6FCF7EAF38}"/>
              </a:ext>
            </a:extLst>
          </p:cNvPr>
          <p:cNvSpPr>
            <a:spLocks noGrp="1"/>
          </p:cNvSpPr>
          <p:nvPr>
            <p:ph type="title"/>
          </p:nvPr>
        </p:nvSpPr>
        <p:spPr/>
        <p:txBody>
          <a:bodyPr/>
          <a:lstStyle/>
          <a:p>
            <a:r>
              <a:rPr lang="en-GB" dirty="0"/>
              <a:t>Une </a:t>
            </a:r>
            <a:r>
              <a:rPr lang="en-GB" dirty="0" err="1"/>
              <a:t>Stratégie</a:t>
            </a:r>
            <a:r>
              <a:rPr lang="en-GB" dirty="0"/>
              <a:t>…</a:t>
            </a:r>
          </a:p>
        </p:txBody>
      </p:sp>
      <p:sp>
        <p:nvSpPr>
          <p:cNvPr id="3" name="Espace réservé du contenu 2">
            <a:extLst>
              <a:ext uri="{FF2B5EF4-FFF2-40B4-BE49-F238E27FC236}">
                <a16:creationId xmlns:a16="http://schemas.microsoft.com/office/drawing/2014/main" id="{ED890665-366A-6B2B-9463-FB8260048D9A}"/>
              </a:ext>
            </a:extLst>
          </p:cNvPr>
          <p:cNvSpPr>
            <a:spLocks noGrp="1"/>
          </p:cNvSpPr>
          <p:nvPr>
            <p:ph idx="1"/>
          </p:nvPr>
        </p:nvSpPr>
        <p:spPr>
          <a:xfrm>
            <a:off x="838200" y="1825625"/>
            <a:ext cx="10515600" cy="681905"/>
          </a:xfrm>
        </p:spPr>
        <p:txBody>
          <a:bodyPr>
            <a:normAutofit/>
          </a:bodyPr>
          <a:lstStyle/>
          <a:p>
            <a:pPr marL="0" indent="0">
              <a:buNone/>
            </a:pPr>
            <a:r>
              <a:rPr lang="en-GB" sz="2400" dirty="0" err="1"/>
              <a:t>Chaque</a:t>
            </a:r>
            <a:r>
              <a:rPr lang="en-GB" sz="2400" dirty="0"/>
              <a:t> </a:t>
            </a:r>
            <a:r>
              <a:rPr lang="en-GB" sz="2400" dirty="0" err="1"/>
              <a:t>stratégie</a:t>
            </a:r>
            <a:r>
              <a:rPr lang="en-GB" sz="2400" dirty="0"/>
              <a:t> a un nom et la </a:t>
            </a:r>
            <a:r>
              <a:rPr lang="en-GB" sz="2400" dirty="0" err="1"/>
              <a:t>capacité</a:t>
            </a:r>
            <a:r>
              <a:rPr lang="en-GB" sz="2400" dirty="0"/>
              <a:t> de </a:t>
            </a:r>
            <a:r>
              <a:rPr lang="en-GB" sz="2400" dirty="0" err="1"/>
              <a:t>calculer</a:t>
            </a:r>
            <a:r>
              <a:rPr lang="en-GB" sz="2400" dirty="0"/>
              <a:t> le prochain </a:t>
            </a:r>
            <a:r>
              <a:rPr lang="en-GB" sz="2000" dirty="0">
                <a:solidFill>
                  <a:srgbClr val="FFC000"/>
                </a:solidFill>
                <a:latin typeface="Consolas" panose="020B0609020204030204" pitchFamily="49" charset="0"/>
                <a:cs typeface="Consolas" panose="020B0609020204030204" pitchFamily="49" charset="0"/>
              </a:rPr>
              <a:t>Coup</a:t>
            </a:r>
            <a:r>
              <a:rPr lang="en-GB" sz="2400" dirty="0"/>
              <a:t>.</a:t>
            </a:r>
          </a:p>
        </p:txBody>
      </p:sp>
      <p:sp>
        <p:nvSpPr>
          <p:cNvPr id="4" name="Espace réservé du numéro de diapositive 3">
            <a:extLst>
              <a:ext uri="{FF2B5EF4-FFF2-40B4-BE49-F238E27FC236}">
                <a16:creationId xmlns:a16="http://schemas.microsoft.com/office/drawing/2014/main" id="{5A18ECD5-86E4-141C-8975-7708AD3D1DD1}"/>
              </a:ext>
            </a:extLst>
          </p:cNvPr>
          <p:cNvSpPr>
            <a:spLocks noGrp="1"/>
          </p:cNvSpPr>
          <p:nvPr>
            <p:ph type="sldNum" sz="quarter" idx="4"/>
          </p:nvPr>
        </p:nvSpPr>
        <p:spPr/>
        <p:txBody>
          <a:bodyPr/>
          <a:lstStyle/>
          <a:p>
            <a:fld id="{33C783E2-4793-4F48-A271-51A73CC37D74}" type="slidenum">
              <a:rPr lang="fr-FR" smtClean="0"/>
              <a:t>28</a:t>
            </a:fld>
            <a:endParaRPr lang="fr-FR" dirty="0"/>
          </a:p>
        </p:txBody>
      </p:sp>
      <p:sp>
        <p:nvSpPr>
          <p:cNvPr id="6" name="ZoneTexte 5">
            <a:extLst>
              <a:ext uri="{FF2B5EF4-FFF2-40B4-BE49-F238E27FC236}">
                <a16:creationId xmlns:a16="http://schemas.microsoft.com/office/drawing/2014/main" id="{D9E2AB19-53BF-41A5-BEF4-A78FE5573886}"/>
              </a:ext>
            </a:extLst>
          </p:cNvPr>
          <p:cNvSpPr txBox="1"/>
          <p:nvPr/>
        </p:nvSpPr>
        <p:spPr>
          <a:xfrm>
            <a:off x="1586141" y="2382700"/>
            <a:ext cx="9019718" cy="1754326"/>
          </a:xfrm>
          <a:prstGeom prst="rect">
            <a:avLst/>
          </a:prstGeom>
          <a:solidFill>
            <a:srgbClr val="2B2B2B"/>
          </a:solidFill>
        </p:spPr>
        <p:txBody>
          <a:bodyPr wrap="square">
            <a:spAutoFit/>
          </a:bodyPr>
          <a:lstStyle/>
          <a:p>
            <a:pPr>
              <a:buNone/>
            </a:pPr>
            <a:r>
              <a:rPr lang="fr-BE" dirty="0">
                <a:solidFill>
                  <a:srgbClr val="CF8E6D"/>
                </a:solidFill>
                <a:effectLst/>
                <a:latin typeface="Consolas" panose="020B0609020204030204" pitchFamily="49" charset="0"/>
                <a:cs typeface="Consolas" panose="020B0609020204030204" pitchFamily="49" charset="0"/>
              </a:rPr>
              <a:t>public interface </a:t>
            </a:r>
            <a:r>
              <a:rPr lang="fr-BE" dirty="0" err="1">
                <a:solidFill>
                  <a:srgbClr val="BCBEC4"/>
                </a:solidFill>
                <a:effectLst/>
                <a:latin typeface="Consolas" panose="020B0609020204030204" pitchFamily="49" charset="0"/>
                <a:cs typeface="Consolas" panose="020B0609020204030204" pitchFamily="49" charset="0"/>
              </a:rPr>
              <a:t>StrategieNim</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String </a:t>
            </a:r>
            <a:r>
              <a:rPr lang="fr-BE" dirty="0" err="1">
                <a:solidFill>
                  <a:srgbClr val="56A8F5"/>
                </a:solidFill>
                <a:effectLst/>
                <a:latin typeface="Consolas" panose="020B0609020204030204" pitchFamily="49" charset="0"/>
                <a:cs typeface="Consolas" panose="020B0609020204030204" pitchFamily="49" charset="0"/>
              </a:rPr>
              <a:t>getNom</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CoupNim</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56A8F5"/>
                </a:solidFill>
                <a:effectLst/>
                <a:latin typeface="Consolas" panose="020B0609020204030204" pitchFamily="49" charset="0"/>
                <a:cs typeface="Consolas" panose="020B0609020204030204" pitchFamily="49" charset="0"/>
              </a:rPr>
              <a:t>choisirCoup</a:t>
            </a:r>
            <a:r>
              <a:rPr lang="fr-BE" dirty="0">
                <a:solidFill>
                  <a:srgbClr val="BCBEC4"/>
                </a:solidFill>
                <a:effectLst/>
                <a:latin typeface="Consolas" panose="020B0609020204030204" pitchFamily="49" charset="0"/>
                <a:cs typeface="Consolas" panose="020B0609020204030204" pitchFamily="49" charset="0"/>
              </a:rPr>
              <a:t>(Joueur joueur, Pile pile, </a:t>
            </a:r>
            <a:r>
              <a:rPr lang="fr-BE" dirty="0" err="1">
                <a:solidFill>
                  <a:srgbClr val="BCBEC4"/>
                </a:solidFill>
                <a:effectLst/>
                <a:latin typeface="Consolas" panose="020B0609020204030204" pitchFamily="49" charset="0"/>
                <a:cs typeface="Consolas" panose="020B0609020204030204" pitchFamily="49" charset="0"/>
              </a:rPr>
              <a:t>ReglesNim</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regles</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9" name="Espace réservé du contenu 2">
            <a:extLst>
              <a:ext uri="{FF2B5EF4-FFF2-40B4-BE49-F238E27FC236}">
                <a16:creationId xmlns:a16="http://schemas.microsoft.com/office/drawing/2014/main" id="{BFDAE8C8-4A37-9918-84D1-E0CC28343738}"/>
              </a:ext>
            </a:extLst>
          </p:cNvPr>
          <p:cNvSpPr txBox="1">
            <a:spLocks/>
          </p:cNvSpPr>
          <p:nvPr/>
        </p:nvSpPr>
        <p:spPr>
          <a:xfrm>
            <a:off x="838200" y="4713422"/>
            <a:ext cx="10515600" cy="8295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t>La </a:t>
            </a:r>
            <a:r>
              <a:rPr lang="en-GB" sz="2400" dirty="0" err="1"/>
              <a:t>classe</a:t>
            </a:r>
            <a:r>
              <a:rPr lang="en-GB" sz="2400" dirty="0"/>
              <a:t> </a:t>
            </a:r>
            <a:r>
              <a:rPr lang="en-GB" sz="2000" dirty="0">
                <a:solidFill>
                  <a:srgbClr val="FFC000"/>
                </a:solidFill>
                <a:latin typeface="Consolas" panose="020B0609020204030204" pitchFamily="49" charset="0"/>
                <a:cs typeface="Consolas" panose="020B0609020204030204" pitchFamily="49" charset="0"/>
              </a:rPr>
              <a:t>Coup</a:t>
            </a:r>
            <a:r>
              <a:rPr lang="en-GB" sz="2400" dirty="0"/>
              <a:t>, </a:t>
            </a:r>
            <a:r>
              <a:rPr lang="en-GB" sz="2400" dirty="0" err="1"/>
              <a:t>elle</a:t>
            </a:r>
            <a:r>
              <a:rPr lang="en-GB" sz="2400" dirty="0"/>
              <a:t>, </a:t>
            </a:r>
            <a:r>
              <a:rPr lang="en-GB" sz="2400" dirty="0" err="1"/>
              <a:t>vérifie</a:t>
            </a:r>
            <a:r>
              <a:rPr lang="en-GB" sz="2400" dirty="0"/>
              <a:t> </a:t>
            </a:r>
            <a:r>
              <a:rPr lang="en-GB" sz="2400" dirty="0" err="1"/>
              <a:t>qu’on</a:t>
            </a:r>
            <a:r>
              <a:rPr lang="en-GB" sz="2400" dirty="0"/>
              <a:t> </a:t>
            </a:r>
            <a:r>
              <a:rPr lang="en-GB" sz="2400" dirty="0" err="1"/>
              <a:t>demande</a:t>
            </a:r>
            <a:r>
              <a:rPr lang="en-GB" sz="2400" dirty="0"/>
              <a:t> de </a:t>
            </a:r>
            <a:r>
              <a:rPr lang="en-GB" sz="2400" dirty="0" err="1"/>
              <a:t>retirer</a:t>
            </a:r>
            <a:r>
              <a:rPr lang="en-GB" sz="2400" dirty="0"/>
              <a:t> un </a:t>
            </a:r>
            <a:r>
              <a:rPr lang="en-GB" sz="2400" dirty="0" err="1"/>
              <a:t>nombre</a:t>
            </a:r>
            <a:r>
              <a:rPr lang="en-GB" sz="2400" dirty="0"/>
              <a:t> </a:t>
            </a:r>
            <a:r>
              <a:rPr lang="en-GB" sz="2400" dirty="0" err="1"/>
              <a:t>positif</a:t>
            </a:r>
            <a:r>
              <a:rPr lang="en-GB" sz="2400" dirty="0"/>
              <a:t> </a:t>
            </a:r>
            <a:r>
              <a:rPr lang="en-GB" sz="2400" dirty="0" err="1"/>
              <a:t>d’allumettes</a:t>
            </a:r>
            <a:r>
              <a:rPr lang="en-GB" sz="2400" dirty="0"/>
              <a:t>.</a:t>
            </a:r>
          </a:p>
        </p:txBody>
      </p:sp>
      <p:pic>
        <p:nvPicPr>
          <p:cNvPr id="5" name="Picture 2" descr="Game Hub - Apps on Google Play">
            <a:extLst>
              <a:ext uri="{FF2B5EF4-FFF2-40B4-BE49-F238E27FC236}">
                <a16:creationId xmlns:a16="http://schemas.microsoft.com/office/drawing/2014/main" id="{14FD3F84-06FF-CCF0-E1DD-78BB5BEA2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717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AFCC-E11D-B2E8-5390-03A0CD8FF3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D51AA1-DAC9-F935-D51E-054C6CD82724}"/>
              </a:ext>
            </a:extLst>
          </p:cNvPr>
          <p:cNvSpPr>
            <a:spLocks noGrp="1"/>
          </p:cNvSpPr>
          <p:nvPr>
            <p:ph type="title"/>
          </p:nvPr>
        </p:nvSpPr>
        <p:spPr/>
        <p:txBody>
          <a:bodyPr/>
          <a:lstStyle/>
          <a:p>
            <a:r>
              <a:rPr lang="en-GB" dirty="0"/>
              <a:t>… et la </a:t>
            </a:r>
            <a:r>
              <a:rPr lang="en-GB" dirty="0" err="1"/>
              <a:t>stratégie</a:t>
            </a:r>
            <a:r>
              <a:rPr lang="en-GB" dirty="0"/>
              <a:t> </a:t>
            </a:r>
            <a:r>
              <a:rPr lang="en-GB" dirty="0" err="1"/>
              <a:t>timide</a:t>
            </a:r>
            <a:endParaRPr lang="en-GB" dirty="0"/>
          </a:p>
        </p:txBody>
      </p:sp>
      <p:sp>
        <p:nvSpPr>
          <p:cNvPr id="3" name="Espace réservé du contenu 2">
            <a:extLst>
              <a:ext uri="{FF2B5EF4-FFF2-40B4-BE49-F238E27FC236}">
                <a16:creationId xmlns:a16="http://schemas.microsoft.com/office/drawing/2014/main" id="{90441DE1-A246-9D6D-73D3-1363E30EAB5C}"/>
              </a:ext>
            </a:extLst>
          </p:cNvPr>
          <p:cNvSpPr>
            <a:spLocks noGrp="1"/>
          </p:cNvSpPr>
          <p:nvPr>
            <p:ph idx="1"/>
          </p:nvPr>
        </p:nvSpPr>
        <p:spPr>
          <a:xfrm>
            <a:off x="838200" y="1825625"/>
            <a:ext cx="10515600" cy="681905"/>
          </a:xfrm>
        </p:spPr>
        <p:txBody>
          <a:bodyPr>
            <a:normAutofit/>
          </a:bodyPr>
          <a:lstStyle/>
          <a:p>
            <a:pPr marL="0" indent="0">
              <a:buNone/>
            </a:pPr>
            <a:r>
              <a:rPr lang="en-GB" sz="2400" dirty="0"/>
              <a:t>Dans </a:t>
            </a:r>
            <a:r>
              <a:rPr lang="en-GB" sz="2400" dirty="0" err="1"/>
              <a:t>cette</a:t>
            </a:r>
            <a:r>
              <a:rPr lang="en-GB" sz="2400" dirty="0"/>
              <a:t> </a:t>
            </a:r>
            <a:r>
              <a:rPr lang="en-GB" sz="2400" dirty="0" err="1"/>
              <a:t>stratégie</a:t>
            </a:r>
            <a:r>
              <a:rPr lang="en-GB" sz="2400" dirty="0"/>
              <a:t>, le </a:t>
            </a:r>
            <a:r>
              <a:rPr lang="en-GB" sz="2400" dirty="0" err="1"/>
              <a:t>joueur</a:t>
            </a:r>
            <a:r>
              <a:rPr lang="en-GB" sz="2400" dirty="0"/>
              <a:t> </a:t>
            </a:r>
            <a:r>
              <a:rPr lang="en-GB" sz="2400" dirty="0" err="1"/>
              <a:t>n’ose</a:t>
            </a:r>
            <a:r>
              <a:rPr lang="en-GB" sz="2400" dirty="0"/>
              <a:t> pas </a:t>
            </a:r>
            <a:r>
              <a:rPr lang="en-GB" sz="2400" dirty="0" err="1"/>
              <a:t>retirer</a:t>
            </a:r>
            <a:r>
              <a:rPr lang="en-GB" sz="2400" dirty="0"/>
              <a:t> plus </a:t>
            </a:r>
            <a:r>
              <a:rPr lang="en-GB" sz="2400" dirty="0" err="1"/>
              <a:t>d’une</a:t>
            </a:r>
            <a:r>
              <a:rPr lang="en-GB" sz="2400" dirty="0"/>
              <a:t> allumette à la </a:t>
            </a:r>
            <a:r>
              <a:rPr lang="en-GB" sz="2400" dirty="0" err="1"/>
              <a:t>fois</a:t>
            </a:r>
            <a:r>
              <a:rPr lang="en-GB" sz="2400" dirty="0"/>
              <a:t>.</a:t>
            </a:r>
          </a:p>
        </p:txBody>
      </p:sp>
      <p:sp>
        <p:nvSpPr>
          <p:cNvPr id="4" name="Espace réservé du numéro de diapositive 3">
            <a:extLst>
              <a:ext uri="{FF2B5EF4-FFF2-40B4-BE49-F238E27FC236}">
                <a16:creationId xmlns:a16="http://schemas.microsoft.com/office/drawing/2014/main" id="{1DFD2C82-A84A-86D0-6ED3-4096CD9A3FDE}"/>
              </a:ext>
            </a:extLst>
          </p:cNvPr>
          <p:cNvSpPr>
            <a:spLocks noGrp="1"/>
          </p:cNvSpPr>
          <p:nvPr>
            <p:ph type="sldNum" sz="quarter" idx="4"/>
          </p:nvPr>
        </p:nvSpPr>
        <p:spPr/>
        <p:txBody>
          <a:bodyPr/>
          <a:lstStyle/>
          <a:p>
            <a:fld id="{33C783E2-4793-4F48-A271-51A73CC37D74}" type="slidenum">
              <a:rPr lang="fr-FR" smtClean="0"/>
              <a:t>29</a:t>
            </a:fld>
            <a:endParaRPr lang="fr-FR" dirty="0"/>
          </a:p>
        </p:txBody>
      </p:sp>
      <p:sp>
        <p:nvSpPr>
          <p:cNvPr id="7" name="ZoneTexte 6">
            <a:extLst>
              <a:ext uri="{FF2B5EF4-FFF2-40B4-BE49-F238E27FC236}">
                <a16:creationId xmlns:a16="http://schemas.microsoft.com/office/drawing/2014/main" id="{C6D6A587-0E70-D2D7-CE77-D4952A294BB4}"/>
              </a:ext>
            </a:extLst>
          </p:cNvPr>
          <p:cNvSpPr txBox="1"/>
          <p:nvPr/>
        </p:nvSpPr>
        <p:spPr>
          <a:xfrm>
            <a:off x="1302995" y="2365312"/>
            <a:ext cx="10225986" cy="3416320"/>
          </a:xfrm>
          <a:prstGeom prst="rect">
            <a:avLst/>
          </a:prstGeom>
          <a:solidFill>
            <a:srgbClr val="2B2B2B"/>
          </a:solidFill>
        </p:spPr>
        <p:txBody>
          <a:bodyPr wrap="square">
            <a:spAutoFit/>
          </a:bodyPr>
          <a:lstStyle/>
          <a:p>
            <a:pPr>
              <a:buNone/>
            </a:pPr>
            <a:r>
              <a:rPr lang="fr-BE" dirty="0">
                <a:solidFill>
                  <a:srgbClr val="CF8E6D"/>
                </a:solidFill>
                <a:effectLst/>
                <a:latin typeface="Consolas" panose="020B0609020204030204" pitchFamily="49" charset="0"/>
                <a:cs typeface="Consolas" panose="020B0609020204030204" pitchFamily="49" charset="0"/>
              </a:rPr>
              <a:t>public class </a:t>
            </a:r>
            <a:r>
              <a:rPr lang="fr-BE" dirty="0" err="1">
                <a:solidFill>
                  <a:srgbClr val="BCBEC4"/>
                </a:solidFill>
                <a:effectLst/>
                <a:latin typeface="Consolas" panose="020B0609020204030204" pitchFamily="49" charset="0"/>
                <a:cs typeface="Consolas" panose="020B0609020204030204" pitchFamily="49" charset="0"/>
              </a:rPr>
              <a:t>StrategieTimide</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implements</a:t>
            </a:r>
            <a:r>
              <a:rPr lang="fr-BE" dirty="0">
                <a:solidFill>
                  <a:srgbClr val="CF8E6D"/>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StrategieNim</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a:solidFill>
                  <a:srgbClr val="BCBEC4"/>
                </a:solidFill>
                <a:effectLst/>
                <a:latin typeface="Consolas" panose="020B0609020204030204" pitchFamily="49" charset="0"/>
                <a:cs typeface="Consolas" panose="020B0609020204030204" pitchFamily="49" charset="0"/>
              </a:rPr>
              <a:t>String </a:t>
            </a:r>
            <a:r>
              <a:rPr lang="fr-BE" dirty="0" err="1">
                <a:solidFill>
                  <a:srgbClr val="56A8F5"/>
                </a:solidFill>
                <a:effectLst/>
                <a:latin typeface="Consolas" panose="020B0609020204030204" pitchFamily="49" charset="0"/>
                <a:cs typeface="Consolas" panose="020B0609020204030204" pitchFamily="49" charset="0"/>
              </a:rPr>
              <a:t>getNom</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"Timide (toujours 1)"</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BCBEC4"/>
                </a:solidFill>
                <a:effectLst/>
                <a:latin typeface="Consolas" panose="020B0609020204030204" pitchFamily="49" charset="0"/>
                <a:cs typeface="Consolas" panose="020B0609020204030204" pitchFamily="49" charset="0"/>
              </a:rPr>
              <a:t>CoupNim</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56A8F5"/>
                </a:solidFill>
                <a:effectLst/>
                <a:latin typeface="Consolas" panose="020B0609020204030204" pitchFamily="49" charset="0"/>
                <a:cs typeface="Consolas" panose="020B0609020204030204" pitchFamily="49" charset="0"/>
              </a:rPr>
              <a:t>choisirCoup</a:t>
            </a:r>
            <a:r>
              <a:rPr lang="fr-BE" dirty="0">
                <a:solidFill>
                  <a:srgbClr val="BCBEC4"/>
                </a:solidFill>
                <a:effectLst/>
                <a:latin typeface="Consolas" panose="020B0609020204030204" pitchFamily="49" charset="0"/>
                <a:cs typeface="Consolas" panose="020B0609020204030204" pitchFamily="49" charset="0"/>
              </a:rPr>
              <a:t>(Joueur joueur, Pile pile, </a:t>
            </a:r>
            <a:r>
              <a:rPr lang="fr-BE" dirty="0" err="1">
                <a:solidFill>
                  <a:srgbClr val="BCBEC4"/>
                </a:solidFill>
                <a:effectLst/>
                <a:latin typeface="Consolas" panose="020B0609020204030204" pitchFamily="49" charset="0"/>
                <a:cs typeface="Consolas" panose="020B0609020204030204" pitchFamily="49" charset="0"/>
              </a:rPr>
              <a:t>ReglesNim</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regles</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new </a:t>
            </a:r>
            <a:r>
              <a:rPr lang="fr-BE" dirty="0" err="1">
                <a:solidFill>
                  <a:srgbClr val="BCBEC4"/>
                </a:solidFill>
                <a:effectLst/>
                <a:latin typeface="Consolas" panose="020B0609020204030204" pitchFamily="49" charset="0"/>
                <a:cs typeface="Consolas" panose="020B0609020204030204" pitchFamily="49" charset="0"/>
              </a:rPr>
              <a:t>CoupNim</a:t>
            </a:r>
            <a:r>
              <a:rPr lang="fr-BE" dirty="0">
                <a:solidFill>
                  <a:srgbClr val="BCBEC4"/>
                </a:solidFill>
                <a:effectLst/>
                <a:latin typeface="Consolas" panose="020B0609020204030204" pitchFamily="49" charset="0"/>
                <a:cs typeface="Consolas" panose="020B0609020204030204" pitchFamily="49" charset="0"/>
              </a:rPr>
              <a:t>(</a:t>
            </a:r>
            <a:r>
              <a:rPr lang="fr-BE" dirty="0">
                <a:solidFill>
                  <a:srgbClr val="2AACB8"/>
                </a:solidFill>
                <a:effectLst/>
                <a:latin typeface="Consolas" panose="020B0609020204030204" pitchFamily="49" charset="0"/>
                <a:cs typeface="Consolas" panose="020B0609020204030204" pitchFamily="49" charset="0"/>
              </a:rPr>
              <a:t>1</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pic>
        <p:nvPicPr>
          <p:cNvPr id="5" name="Picture 2" descr="Game Hub - Apps on Google Play">
            <a:extLst>
              <a:ext uri="{FF2B5EF4-FFF2-40B4-BE49-F238E27FC236}">
                <a16:creationId xmlns:a16="http://schemas.microsoft.com/office/drawing/2014/main" id="{5A0D20FA-AD50-0195-8111-2AAA8126C1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156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BE" dirty="0"/>
              <a:t>Mon joueur n’est pas très élaboré…</a:t>
            </a:r>
          </a:p>
        </p:txBody>
      </p:sp>
      <p:sp>
        <p:nvSpPr>
          <p:cNvPr id="3" name="Content Placeholder 2"/>
          <p:cNvSpPr>
            <a:spLocks noGrp="1"/>
          </p:cNvSpPr>
          <p:nvPr>
            <p:ph idx="1"/>
          </p:nvPr>
        </p:nvSpPr>
        <p:spPr/>
        <p:txBody>
          <a:bodyPr>
            <a:normAutofit/>
          </a:bodyPr>
          <a:lstStyle/>
          <a:p>
            <a:r>
              <a:rPr lang="fr-BE" dirty="0"/>
              <a:t>Il retire juste 1 allumette à chaque tour…</a:t>
            </a:r>
          </a:p>
          <a:p>
            <a:r>
              <a:rPr lang="fr-BE" dirty="0"/>
              <a:t>Comment changer de comportement?</a:t>
            </a:r>
          </a:p>
        </p:txBody>
      </p:sp>
      <p:sp>
        <p:nvSpPr>
          <p:cNvPr id="4" name="Straight Connector 3"/>
          <p:cNvSpPr>
            <a:spLocks noChangeShapeType="1"/>
          </p:cNvSpPr>
          <p:nvPr/>
        </p:nvSpPr>
        <p:spPr bwMode="auto">
          <a:xfrm>
            <a:off x="2038350" y="66286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dirty="0"/>
          </a:p>
        </p:txBody>
      </p:sp>
      <p:sp>
        <p:nvSpPr>
          <p:cNvPr id="5" name="Title 11"/>
          <p:cNvSpPr txBox="1">
            <a:spLocks/>
          </p:cNvSpPr>
          <p:nvPr/>
        </p:nvSpPr>
        <p:spPr>
          <a:xfrm>
            <a:off x="1981200" y="6265886"/>
            <a:ext cx="8458200" cy="520700"/>
          </a:xfrm>
          <a:prstGeom prst="rect">
            <a:avLst/>
          </a:prstGeom>
        </p:spPr>
        <p:txBody>
          <a:bodyPr anchor="ctr"/>
          <a:lstStyle>
            <a:lvl1pPr algn="l">
              <a:buNone/>
              <a:defRPr sz="2000" b="1"/>
            </a:lvl1pPr>
          </a:lstStyle>
          <a:p>
            <a:pPr defTabSz="914400">
              <a:spcBef>
                <a:spcPct val="0"/>
              </a:spcBef>
              <a:defRPr/>
            </a:pPr>
            <a:r>
              <a:rPr lang="en-US" i="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ea typeface="+mj-ea"/>
                <a:cs typeface="+mj-cs"/>
              </a:rPr>
              <a:t>LE JEU DE NIM</a:t>
            </a:r>
          </a:p>
        </p:txBody>
      </p:sp>
      <p:sp>
        <p:nvSpPr>
          <p:cNvPr id="6" name="Espace réservé du numéro de diapositive 5">
            <a:extLst>
              <a:ext uri="{FF2B5EF4-FFF2-40B4-BE49-F238E27FC236}">
                <a16:creationId xmlns:a16="http://schemas.microsoft.com/office/drawing/2014/main" id="{E5A44B62-AC6D-6F28-D518-A38741621D53}"/>
              </a:ext>
            </a:extLst>
          </p:cNvPr>
          <p:cNvSpPr>
            <a:spLocks noGrp="1"/>
          </p:cNvSpPr>
          <p:nvPr>
            <p:ph type="sldNum" sz="quarter" idx="4"/>
          </p:nvPr>
        </p:nvSpPr>
        <p:spPr/>
        <p:txBody>
          <a:bodyPr/>
          <a:lstStyle/>
          <a:p>
            <a:fld id="{33C783E2-4793-4F48-A271-51A73CC37D74}" type="slidenum">
              <a:rPr lang="fr-FR" smtClean="0"/>
              <a:t>30</a:t>
            </a:fld>
            <a:endParaRPr lang="fr-FR" dirty="0"/>
          </a:p>
        </p:txBody>
      </p:sp>
      <p:pic>
        <p:nvPicPr>
          <p:cNvPr id="7" name="Picture 2" descr="Game Hub - Apps on Google Play">
            <a:extLst>
              <a:ext uri="{FF2B5EF4-FFF2-40B4-BE49-F238E27FC236}">
                <a16:creationId xmlns:a16="http://schemas.microsoft.com/office/drawing/2014/main" id="{D4F90A63-0B37-BB8D-2E3E-16F4EB771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18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BE" dirty="0"/>
              <a:t>Que font les méthodes suivantes?</a:t>
            </a:r>
          </a:p>
        </p:txBody>
      </p:sp>
      <p:sp>
        <p:nvSpPr>
          <p:cNvPr id="4" name="Straight Connector 3"/>
          <p:cNvSpPr>
            <a:spLocks noChangeShapeType="1"/>
          </p:cNvSpPr>
          <p:nvPr/>
        </p:nvSpPr>
        <p:spPr bwMode="auto">
          <a:xfrm>
            <a:off x="2038350" y="66286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dirty="0"/>
          </a:p>
        </p:txBody>
      </p:sp>
      <p:sp>
        <p:nvSpPr>
          <p:cNvPr id="15" name="Rectangle 14"/>
          <p:cNvSpPr/>
          <p:nvPr/>
        </p:nvSpPr>
        <p:spPr>
          <a:xfrm>
            <a:off x="7257157" y="1583825"/>
            <a:ext cx="221457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BE" dirty="0">
                <a:ln w="1905"/>
                <a:solidFill>
                  <a:schemeClr val="bg1"/>
                </a:solidFill>
                <a:effectLst>
                  <a:innerShdw blurRad="69850" dist="43180" dir="5400000">
                    <a:srgbClr val="000000">
                      <a:alpha val="65000"/>
                    </a:srgbClr>
                  </a:innerShdw>
                </a:effectLst>
              </a:rPr>
              <a:t>un à la fois: timide</a:t>
            </a:r>
            <a:endParaRPr lang="fr-BE" dirty="0">
              <a:ln w="1905"/>
              <a:solidFill>
                <a:schemeClr val="bg1"/>
              </a:solidFill>
              <a:effectLst>
                <a:innerShdw blurRad="69850" dist="43180" dir="5400000">
                  <a:srgbClr val="000000">
                    <a:alpha val="65000"/>
                  </a:srgbClr>
                </a:innerShdw>
              </a:effectLst>
              <a:latin typeface="Lucida Console" pitchFamily="49" charset="0"/>
            </a:endParaRPr>
          </a:p>
        </p:txBody>
      </p:sp>
      <p:sp>
        <p:nvSpPr>
          <p:cNvPr id="16" name="Rectangle 15"/>
          <p:cNvSpPr/>
          <p:nvPr/>
        </p:nvSpPr>
        <p:spPr>
          <a:xfrm>
            <a:off x="2521634" y="2787518"/>
            <a:ext cx="321471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BE" dirty="0">
                <a:ln w="1905"/>
                <a:solidFill>
                  <a:schemeClr val="bg1"/>
                </a:solidFill>
                <a:effectLst>
                  <a:innerShdw blurRad="69850" dist="43180" dir="5400000">
                    <a:srgbClr val="000000">
                      <a:alpha val="65000"/>
                    </a:srgbClr>
                  </a:innerShdw>
                </a:effectLst>
              </a:rPr>
              <a:t>le plus possible: gourmand</a:t>
            </a:r>
            <a:endParaRPr lang="fr-BE" dirty="0">
              <a:ln w="1905"/>
              <a:solidFill>
                <a:schemeClr val="bg1"/>
              </a:solidFill>
              <a:effectLst>
                <a:innerShdw blurRad="69850" dist="43180" dir="5400000">
                  <a:srgbClr val="000000">
                    <a:alpha val="65000"/>
                  </a:srgbClr>
                </a:innerShdw>
              </a:effectLst>
              <a:latin typeface="Lucida Console" pitchFamily="49" charset="0"/>
            </a:endParaRPr>
          </a:p>
        </p:txBody>
      </p:sp>
      <p:sp>
        <p:nvSpPr>
          <p:cNvPr id="17" name="Rectangle 16"/>
          <p:cNvSpPr/>
          <p:nvPr/>
        </p:nvSpPr>
        <p:spPr>
          <a:xfrm>
            <a:off x="7381884" y="4276409"/>
            <a:ext cx="242889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BE" dirty="0">
                <a:ln w="1905"/>
                <a:solidFill>
                  <a:schemeClr val="bg1"/>
                </a:solidFill>
                <a:effectLst>
                  <a:innerShdw blurRad="69850" dist="43180" dir="5400000">
                    <a:srgbClr val="000000">
                      <a:alpha val="65000"/>
                    </a:srgbClr>
                  </a:innerShdw>
                </a:effectLst>
              </a:rPr>
              <a:t>au hasard: aléatoire</a:t>
            </a:r>
            <a:endParaRPr lang="fr-BE" dirty="0">
              <a:ln w="1905"/>
              <a:solidFill>
                <a:schemeClr val="bg1"/>
              </a:solidFill>
              <a:effectLst>
                <a:innerShdw blurRad="69850" dist="43180" dir="5400000">
                  <a:srgbClr val="000000">
                    <a:alpha val="65000"/>
                  </a:srgbClr>
                </a:innerShdw>
              </a:effectLst>
              <a:latin typeface="Lucida Console" pitchFamily="49" charset="0"/>
            </a:endParaRPr>
          </a:p>
        </p:txBody>
      </p:sp>
      <p:sp>
        <p:nvSpPr>
          <p:cNvPr id="18" name="Rectangle 17"/>
          <p:cNvSpPr/>
          <p:nvPr/>
        </p:nvSpPr>
        <p:spPr>
          <a:xfrm>
            <a:off x="1809720" y="5579723"/>
            <a:ext cx="242889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BE" dirty="0">
                <a:ln w="1905"/>
                <a:solidFill>
                  <a:schemeClr val="bg1"/>
                </a:solidFill>
                <a:effectLst>
                  <a:innerShdw blurRad="69850" dist="43180" dir="5400000">
                    <a:srgbClr val="000000">
                      <a:alpha val="65000"/>
                    </a:srgbClr>
                  </a:innerShdw>
                </a:effectLst>
              </a:rPr>
              <a:t>optimal: malin</a:t>
            </a:r>
            <a:endParaRPr lang="fr-BE" dirty="0">
              <a:ln w="1905"/>
              <a:solidFill>
                <a:schemeClr val="bg1"/>
              </a:solidFill>
              <a:effectLst>
                <a:innerShdw blurRad="69850" dist="43180" dir="5400000">
                  <a:srgbClr val="000000">
                    <a:alpha val="65000"/>
                  </a:srgbClr>
                </a:innerShdw>
              </a:effectLst>
              <a:latin typeface="Lucida Console" pitchFamily="49" charset="0"/>
            </a:endParaRPr>
          </a:p>
        </p:txBody>
      </p:sp>
      <p:sp>
        <p:nvSpPr>
          <p:cNvPr id="13" name="ZoneTexte 12">
            <a:extLst>
              <a:ext uri="{FF2B5EF4-FFF2-40B4-BE49-F238E27FC236}">
                <a16:creationId xmlns:a16="http://schemas.microsoft.com/office/drawing/2014/main" id="{6604AD21-5E91-1728-152D-E33C104CE656}"/>
              </a:ext>
            </a:extLst>
          </p:cNvPr>
          <p:cNvSpPr txBox="1"/>
          <p:nvPr/>
        </p:nvSpPr>
        <p:spPr>
          <a:xfrm>
            <a:off x="4656738" y="5292544"/>
            <a:ext cx="6980207" cy="1015663"/>
          </a:xfrm>
          <a:prstGeom prst="rect">
            <a:avLst/>
          </a:prstGeom>
          <a:solidFill>
            <a:srgbClr val="2B2B2B"/>
          </a:solidFill>
        </p:spPr>
        <p:txBody>
          <a:bodyPr wrap="square">
            <a:spAutoFit/>
          </a:bodyPr>
          <a:lstStyle/>
          <a:p>
            <a:r>
              <a:rPr lang="fr-BE" sz="1200" dirty="0" err="1">
                <a:solidFill>
                  <a:srgbClr val="CC7832"/>
                </a:solidFill>
                <a:effectLst/>
                <a:latin typeface="Consolas" panose="020B0609020204030204" pitchFamily="49" charset="0"/>
                <a:cs typeface="Consolas" panose="020B0609020204030204" pitchFamily="49" charset="0"/>
              </a:rPr>
              <a:t>int</a:t>
            </a:r>
            <a:r>
              <a:rPr lang="fr-BE" sz="1200" dirty="0">
                <a:solidFill>
                  <a:srgbClr val="CC7832"/>
                </a:solidFill>
                <a:effectLst/>
                <a:latin typeface="Consolas" panose="020B0609020204030204" pitchFamily="49" charset="0"/>
                <a:cs typeface="Consolas" panose="020B0609020204030204" pitchFamily="49" charset="0"/>
              </a:rPr>
              <a:t> </a:t>
            </a:r>
            <a:r>
              <a:rPr lang="fr-BE" sz="1200" dirty="0" err="1">
                <a:latin typeface="Consolas" panose="020B0609020204030204" pitchFamily="49" charset="0"/>
                <a:cs typeface="Consolas" panose="020B0609020204030204" pitchFamily="49" charset="0"/>
              </a:rPr>
              <a:t>number</a:t>
            </a:r>
            <a:r>
              <a:rPr lang="fr-BE" sz="1200" dirty="0">
                <a:latin typeface="Consolas" panose="020B0609020204030204" pitchFamily="49" charset="0"/>
                <a:cs typeface="Consolas" panose="020B0609020204030204" pitchFamily="49" charset="0"/>
              </a:rPr>
              <a:t> = (</a:t>
            </a:r>
            <a:r>
              <a:rPr lang="fr-BE" sz="1200" dirty="0" err="1">
                <a:latin typeface="Consolas" panose="020B0609020204030204" pitchFamily="49" charset="0"/>
                <a:cs typeface="Consolas" panose="020B0609020204030204" pitchFamily="49" charset="0"/>
              </a:rPr>
              <a:t>pile.getRestantes</a:t>
            </a:r>
            <a:r>
              <a:rPr lang="fr-BE" sz="1200" dirty="0">
                <a:latin typeface="Consolas" panose="020B0609020204030204" pitchFamily="49" charset="0"/>
                <a:cs typeface="Consolas" panose="020B0609020204030204" pitchFamily="49" charset="0"/>
              </a:rPr>
              <a:t>() - </a:t>
            </a:r>
            <a:r>
              <a:rPr lang="fr-BE" sz="1200" dirty="0">
                <a:solidFill>
                  <a:srgbClr val="6897BB"/>
                </a:solidFill>
                <a:effectLst/>
                <a:latin typeface="Consolas" panose="020B0609020204030204" pitchFamily="49" charset="0"/>
                <a:cs typeface="Consolas" panose="020B0609020204030204" pitchFamily="49" charset="0"/>
              </a:rPr>
              <a:t>1</a:t>
            </a:r>
            <a:r>
              <a:rPr lang="fr-BE" sz="1200" dirty="0">
                <a:latin typeface="Consolas" panose="020B0609020204030204" pitchFamily="49" charset="0"/>
                <a:cs typeface="Consolas" panose="020B0609020204030204" pitchFamily="49" charset="0"/>
              </a:rPr>
              <a:t>) % (</a:t>
            </a:r>
            <a:r>
              <a:rPr lang="fr-BE" sz="1200" dirty="0" err="1">
                <a:latin typeface="Consolas" panose="020B0609020204030204" pitchFamily="49" charset="0"/>
                <a:cs typeface="Consolas" panose="020B0609020204030204" pitchFamily="49" charset="0"/>
              </a:rPr>
              <a:t>regles.getMaxRetirableParTour</a:t>
            </a:r>
            <a:r>
              <a:rPr lang="fr-BE" sz="1200" dirty="0">
                <a:latin typeface="Consolas" panose="020B0609020204030204" pitchFamily="49" charset="0"/>
                <a:cs typeface="Consolas" panose="020B0609020204030204" pitchFamily="49" charset="0"/>
              </a:rPr>
              <a:t> + </a:t>
            </a:r>
            <a:r>
              <a:rPr lang="fr-BE" sz="1200" dirty="0">
                <a:solidFill>
                  <a:srgbClr val="6897BB"/>
                </a:solidFill>
                <a:effectLst/>
                <a:latin typeface="Consolas" panose="020B0609020204030204" pitchFamily="49" charset="0"/>
                <a:cs typeface="Consolas" panose="020B0609020204030204" pitchFamily="49" charset="0"/>
              </a:rPr>
              <a:t>1</a:t>
            </a:r>
            <a:r>
              <a:rPr lang="fr-BE" sz="1200" dirty="0">
                <a:latin typeface="Consolas" panose="020B0609020204030204" pitchFamily="49" charset="0"/>
                <a:cs typeface="Consolas" panose="020B0609020204030204" pitchFamily="49" charset="0"/>
              </a:rPr>
              <a:t>)</a:t>
            </a:r>
            <a:r>
              <a:rPr lang="fr-BE" sz="1200" dirty="0">
                <a:solidFill>
                  <a:srgbClr val="CC7832"/>
                </a:solidFill>
                <a:effectLst/>
                <a:latin typeface="Consolas" panose="020B0609020204030204" pitchFamily="49" charset="0"/>
                <a:cs typeface="Consolas" panose="020B0609020204030204" pitchFamily="49" charset="0"/>
              </a:rPr>
              <a:t>;</a:t>
            </a:r>
            <a:br>
              <a:rPr lang="fr-BE" sz="1200" dirty="0">
                <a:solidFill>
                  <a:srgbClr val="CC7832"/>
                </a:solidFill>
                <a:effectLst/>
                <a:latin typeface="Consolas" panose="020B0609020204030204" pitchFamily="49" charset="0"/>
                <a:cs typeface="Consolas" panose="020B0609020204030204" pitchFamily="49" charset="0"/>
              </a:rPr>
            </a:br>
            <a:r>
              <a:rPr lang="fr-BE" sz="1200" dirty="0">
                <a:solidFill>
                  <a:srgbClr val="CC7832"/>
                </a:solidFill>
                <a:effectLst/>
                <a:latin typeface="Consolas" panose="020B0609020204030204" pitchFamily="49" charset="0"/>
                <a:cs typeface="Consolas" panose="020B0609020204030204" pitchFamily="49" charset="0"/>
              </a:rPr>
              <a:t>    if </a:t>
            </a:r>
            <a:r>
              <a:rPr lang="fr-BE" sz="1200" dirty="0">
                <a:latin typeface="Consolas" panose="020B0609020204030204" pitchFamily="49" charset="0"/>
                <a:cs typeface="Consolas" panose="020B0609020204030204" pitchFamily="49" charset="0"/>
              </a:rPr>
              <a:t>(</a:t>
            </a:r>
            <a:r>
              <a:rPr lang="fr-BE" sz="1200" dirty="0" err="1">
                <a:latin typeface="Consolas" panose="020B0609020204030204" pitchFamily="49" charset="0"/>
                <a:cs typeface="Consolas" panose="020B0609020204030204" pitchFamily="49" charset="0"/>
              </a:rPr>
              <a:t>number</a:t>
            </a:r>
            <a:r>
              <a:rPr lang="fr-BE" sz="1200" dirty="0">
                <a:latin typeface="Consolas" panose="020B0609020204030204" pitchFamily="49" charset="0"/>
                <a:cs typeface="Consolas" panose="020B0609020204030204" pitchFamily="49" charset="0"/>
              </a:rPr>
              <a:t> == </a:t>
            </a:r>
            <a:r>
              <a:rPr lang="fr-BE" sz="1200" dirty="0">
                <a:solidFill>
                  <a:srgbClr val="6897BB"/>
                </a:solidFill>
                <a:effectLst/>
                <a:latin typeface="Consolas" panose="020B0609020204030204" pitchFamily="49" charset="0"/>
                <a:cs typeface="Consolas" panose="020B0609020204030204" pitchFamily="49" charset="0"/>
              </a:rPr>
              <a:t>0</a:t>
            </a:r>
            <a:r>
              <a:rPr lang="fr-BE" sz="1200" dirty="0">
                <a:latin typeface="Consolas" panose="020B0609020204030204" pitchFamily="49" charset="0"/>
                <a:cs typeface="Consolas" panose="020B0609020204030204" pitchFamily="49" charset="0"/>
              </a:rPr>
              <a:t>)</a:t>
            </a:r>
            <a:br>
              <a:rPr lang="fr-BE" sz="1200" dirty="0">
                <a:latin typeface="Consolas" panose="020B0609020204030204" pitchFamily="49" charset="0"/>
                <a:cs typeface="Consolas" panose="020B0609020204030204" pitchFamily="49" charset="0"/>
              </a:rPr>
            </a:br>
            <a:r>
              <a:rPr lang="fr-BE" sz="1200" dirty="0">
                <a:latin typeface="Consolas" panose="020B0609020204030204" pitchFamily="49" charset="0"/>
                <a:cs typeface="Consolas" panose="020B0609020204030204" pitchFamily="49" charset="0"/>
              </a:rPr>
              <a:t>        </a:t>
            </a:r>
            <a:r>
              <a:rPr lang="fr-BE" sz="1200" dirty="0" err="1">
                <a:latin typeface="Consolas" panose="020B0609020204030204" pitchFamily="49" charset="0"/>
                <a:cs typeface="Consolas" panose="020B0609020204030204" pitchFamily="49" charset="0"/>
              </a:rPr>
              <a:t>number</a:t>
            </a:r>
            <a:r>
              <a:rPr lang="fr-BE" sz="1200" dirty="0">
                <a:latin typeface="Consolas" panose="020B0609020204030204" pitchFamily="49" charset="0"/>
                <a:cs typeface="Consolas" panose="020B0609020204030204" pitchFamily="49" charset="0"/>
              </a:rPr>
              <a:t> = </a:t>
            </a:r>
            <a:r>
              <a:rPr lang="fr-BE" sz="1200" dirty="0">
                <a:solidFill>
                  <a:srgbClr val="6897BB"/>
                </a:solidFill>
                <a:effectLst/>
                <a:latin typeface="Consolas" panose="020B0609020204030204" pitchFamily="49" charset="0"/>
                <a:cs typeface="Consolas" panose="020B0609020204030204" pitchFamily="49" charset="0"/>
              </a:rPr>
              <a:t>1</a:t>
            </a:r>
            <a:r>
              <a:rPr lang="fr-BE" sz="1200" dirty="0">
                <a:solidFill>
                  <a:srgbClr val="CC7832"/>
                </a:solidFill>
                <a:effectLst/>
                <a:latin typeface="Consolas" panose="020B0609020204030204" pitchFamily="49" charset="0"/>
                <a:cs typeface="Consolas" panose="020B0609020204030204" pitchFamily="49" charset="0"/>
              </a:rPr>
              <a:t>;</a:t>
            </a:r>
            <a:br>
              <a:rPr lang="fr-BE" sz="1200" dirty="0">
                <a:solidFill>
                  <a:srgbClr val="CC7832"/>
                </a:solidFill>
                <a:effectLst/>
                <a:latin typeface="Consolas" panose="020B0609020204030204" pitchFamily="49" charset="0"/>
                <a:cs typeface="Consolas" panose="020B0609020204030204" pitchFamily="49" charset="0"/>
              </a:rPr>
            </a:br>
            <a:r>
              <a:rPr lang="fr-BE" sz="1200" dirty="0">
                <a:solidFill>
                  <a:srgbClr val="CC7832"/>
                </a:solidFill>
                <a:effectLst/>
                <a:latin typeface="Consolas" panose="020B0609020204030204" pitchFamily="49" charset="0"/>
                <a:cs typeface="Consolas" panose="020B0609020204030204" pitchFamily="49" charset="0"/>
              </a:rPr>
              <a:t>    </a:t>
            </a:r>
            <a:r>
              <a:rPr lang="fr-BE" sz="1200" dirty="0">
                <a:solidFill>
                  <a:srgbClr val="CF8E6D"/>
                </a:solidFill>
                <a:latin typeface="Consolas" panose="020B0609020204030204" pitchFamily="49" charset="0"/>
                <a:cs typeface="Consolas" panose="020B0609020204030204" pitchFamily="49" charset="0"/>
              </a:rPr>
              <a:t>return new </a:t>
            </a:r>
            <a:r>
              <a:rPr lang="fr-BE" sz="1200" dirty="0" err="1">
                <a:latin typeface="Consolas" panose="020B0609020204030204" pitchFamily="49" charset="0"/>
                <a:cs typeface="Consolas" panose="020B0609020204030204" pitchFamily="49" charset="0"/>
              </a:rPr>
              <a:t>CoupNim</a:t>
            </a:r>
            <a:r>
              <a:rPr lang="fr-BE" sz="1200" dirty="0">
                <a:latin typeface="Consolas" panose="020B0609020204030204" pitchFamily="49" charset="0"/>
                <a:cs typeface="Consolas" panose="020B0609020204030204" pitchFamily="49" charset="0"/>
              </a:rPr>
              <a:t>(</a:t>
            </a:r>
            <a:r>
              <a:rPr lang="fr-BE" sz="1200" dirty="0" err="1">
                <a:latin typeface="Consolas" panose="020B0609020204030204" pitchFamily="49" charset="0"/>
                <a:cs typeface="Consolas" panose="020B0609020204030204" pitchFamily="49" charset="0"/>
              </a:rPr>
              <a:t>number</a:t>
            </a:r>
            <a:r>
              <a:rPr lang="fr-BE" sz="1200" dirty="0">
                <a:latin typeface="Consolas" panose="020B0609020204030204" pitchFamily="49" charset="0"/>
                <a:cs typeface="Consolas" panose="020B0609020204030204" pitchFamily="49" charset="0"/>
              </a:rPr>
              <a:t>)</a:t>
            </a:r>
            <a:r>
              <a:rPr lang="fr-BE" sz="1200" dirty="0">
                <a:solidFill>
                  <a:srgbClr val="CC7832"/>
                </a:solidFill>
                <a:effectLst/>
                <a:latin typeface="Consolas" panose="020B0609020204030204" pitchFamily="49" charset="0"/>
                <a:cs typeface="Consolas" panose="020B0609020204030204" pitchFamily="49" charset="0"/>
              </a:rPr>
              <a:t>;</a:t>
            </a:r>
            <a:br>
              <a:rPr lang="fr-BE" sz="1200" dirty="0">
                <a:solidFill>
                  <a:srgbClr val="CC7832"/>
                </a:solidFill>
                <a:effectLst/>
                <a:latin typeface="Consolas" panose="020B0609020204030204" pitchFamily="49" charset="0"/>
                <a:cs typeface="Consolas" panose="020B0609020204030204" pitchFamily="49" charset="0"/>
              </a:rPr>
            </a:br>
            <a:r>
              <a:rPr lang="fr-BE" sz="1200" dirty="0">
                <a:latin typeface="Consolas" panose="020B0609020204030204" pitchFamily="49" charset="0"/>
                <a:cs typeface="Consolas" panose="020B0609020204030204" pitchFamily="49" charset="0"/>
              </a:rPr>
              <a:t>}</a:t>
            </a:r>
            <a:endParaRPr lang="fr-FR" sz="12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E9380E39-387B-8F1C-ED7A-2B30CCA29BE8}"/>
              </a:ext>
            </a:extLst>
          </p:cNvPr>
          <p:cNvSpPr>
            <a:spLocks noGrp="1"/>
          </p:cNvSpPr>
          <p:nvPr>
            <p:ph type="sldNum" sz="quarter" idx="4"/>
          </p:nvPr>
        </p:nvSpPr>
        <p:spPr/>
        <p:txBody>
          <a:bodyPr/>
          <a:lstStyle/>
          <a:p>
            <a:fld id="{33C783E2-4793-4F48-A271-51A73CC37D74}" type="slidenum">
              <a:rPr lang="fr-FR" smtClean="0"/>
              <a:t>31</a:t>
            </a:fld>
            <a:endParaRPr lang="fr-FR" dirty="0"/>
          </a:p>
        </p:txBody>
      </p:sp>
      <p:sp>
        <p:nvSpPr>
          <p:cNvPr id="7" name="ZoneTexte 6">
            <a:extLst>
              <a:ext uri="{FF2B5EF4-FFF2-40B4-BE49-F238E27FC236}">
                <a16:creationId xmlns:a16="http://schemas.microsoft.com/office/drawing/2014/main" id="{594864B4-E2B6-A2FC-6F62-6EEB19BE704C}"/>
              </a:ext>
            </a:extLst>
          </p:cNvPr>
          <p:cNvSpPr txBox="1"/>
          <p:nvPr/>
        </p:nvSpPr>
        <p:spPr>
          <a:xfrm>
            <a:off x="847430" y="3929699"/>
            <a:ext cx="6160416" cy="1200329"/>
          </a:xfrm>
          <a:prstGeom prst="rect">
            <a:avLst/>
          </a:prstGeom>
          <a:solidFill>
            <a:srgbClr val="2B2B2B"/>
          </a:solidFill>
        </p:spPr>
        <p:txBody>
          <a:bodyPr wrap="square">
            <a:spAutoFit/>
          </a:bodyPr>
          <a:lstStyle/>
          <a:p>
            <a:pPr>
              <a:buNone/>
            </a:pPr>
            <a:r>
              <a:rPr lang="fr-BE" sz="1200" dirty="0">
                <a:solidFill>
                  <a:srgbClr val="CF8E6D"/>
                </a:solidFill>
                <a:effectLst/>
                <a:latin typeface="Consolas" panose="020B0609020204030204" pitchFamily="49" charset="0"/>
                <a:cs typeface="Consolas" panose="020B0609020204030204" pitchFamily="49" charset="0"/>
              </a:rPr>
              <a:t>public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56A8F5"/>
                </a:solidFill>
                <a:effectLst/>
                <a:latin typeface="Consolas" panose="020B0609020204030204" pitchFamily="49" charset="0"/>
                <a:cs typeface="Consolas" panose="020B0609020204030204" pitchFamily="49" charset="0"/>
              </a:rPr>
              <a:t>choisirCoup</a:t>
            </a:r>
            <a:r>
              <a:rPr lang="fr-BE" sz="1200" dirty="0">
                <a:solidFill>
                  <a:srgbClr val="BCBEC4"/>
                </a:solidFill>
                <a:effectLst/>
                <a:latin typeface="Consolas" panose="020B0609020204030204" pitchFamily="49" charset="0"/>
                <a:cs typeface="Consolas" panose="020B0609020204030204" pitchFamily="49" charset="0"/>
              </a:rPr>
              <a:t>(Joueur joueur, Pile pile, </a:t>
            </a:r>
            <a:r>
              <a:rPr lang="fr-BE" sz="1200" dirty="0" err="1">
                <a:solidFill>
                  <a:srgbClr val="BCBEC4"/>
                </a:solidFill>
                <a:effectLst/>
                <a:latin typeface="Consolas" panose="020B0609020204030204" pitchFamily="49" charset="0"/>
                <a:cs typeface="Consolas" panose="020B0609020204030204" pitchFamily="49" charset="0"/>
              </a:rPr>
              <a:t>ReglesNim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BCBEC4"/>
                </a:solidFill>
                <a:effectLst/>
                <a:latin typeface="Consolas" panose="020B0609020204030204" pitchFamily="49" charset="0"/>
                <a:cs typeface="Consolas" panose="020B0609020204030204" pitchFamily="49" charset="0"/>
              </a:rPr>
              <a:t>regles</a:t>
            </a:r>
            <a:r>
              <a:rPr lang="fr-BE" sz="1200" dirty="0">
                <a:solidFill>
                  <a:srgbClr val="BCBEC4"/>
                </a:solidFill>
                <a:effectLst/>
                <a:latin typeface="Consolas" panose="020B0609020204030204" pitchFamily="49" charset="0"/>
                <a:cs typeface="Consolas" panose="020B0609020204030204" pitchFamily="49" charset="0"/>
              </a:rPr>
              <a:t>) {</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CF8E6D"/>
                </a:solidFill>
                <a:effectLst/>
                <a:latin typeface="Consolas" panose="020B0609020204030204" pitchFamily="49" charset="0"/>
                <a:cs typeface="Consolas" panose="020B0609020204030204" pitchFamily="49" charset="0"/>
              </a:rPr>
              <a:t>int</a:t>
            </a:r>
            <a:r>
              <a:rPr lang="fr-BE" sz="1200" dirty="0">
                <a:solidFill>
                  <a:srgbClr val="CF8E6D"/>
                </a:solidFill>
                <a:effectLst/>
                <a:latin typeface="Consolas" panose="020B0609020204030204" pitchFamily="49" charset="0"/>
                <a:cs typeface="Consolas" panose="020B0609020204030204" pitchFamily="49" charset="0"/>
              </a:rPr>
              <a:t> </a:t>
            </a:r>
            <a:r>
              <a:rPr lang="fr-BE" sz="1200" dirty="0">
                <a:solidFill>
                  <a:srgbClr val="BCBEC4"/>
                </a:solidFill>
                <a:effectLst/>
                <a:latin typeface="Consolas" panose="020B0609020204030204" pitchFamily="49" charset="0"/>
                <a:cs typeface="Consolas" panose="020B0609020204030204" pitchFamily="49" charset="0"/>
              </a:rPr>
              <a:t>max = </a:t>
            </a:r>
            <a:r>
              <a:rPr lang="fr-BE" sz="1200" dirty="0" err="1">
                <a:solidFill>
                  <a:srgbClr val="BCBEC4"/>
                </a:solidFill>
                <a:effectLst/>
                <a:latin typeface="Consolas" panose="020B0609020204030204" pitchFamily="49" charset="0"/>
                <a:cs typeface="Consolas" panose="020B0609020204030204" pitchFamily="49" charset="0"/>
              </a:rPr>
              <a:t>regles.maxAutoriseAvecPile</a:t>
            </a:r>
            <a:r>
              <a:rPr lang="fr-BE" sz="1200" dirty="0">
                <a:solidFill>
                  <a:srgbClr val="BCBEC4"/>
                </a:solidFill>
                <a:effectLst/>
                <a:latin typeface="Consolas" panose="020B0609020204030204" pitchFamily="49" charset="0"/>
                <a:cs typeface="Consolas" panose="020B0609020204030204" pitchFamily="49" charset="0"/>
              </a:rPr>
              <a:t>(pile);</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CF8E6D"/>
                </a:solidFill>
                <a:effectLst/>
                <a:latin typeface="Consolas" panose="020B0609020204030204" pitchFamily="49" charset="0"/>
                <a:cs typeface="Consolas" panose="020B0609020204030204" pitchFamily="49" charset="0"/>
              </a:rPr>
              <a:t>int</a:t>
            </a:r>
            <a:r>
              <a:rPr lang="fr-BE" sz="1200" dirty="0">
                <a:solidFill>
                  <a:srgbClr val="CF8E6D"/>
                </a:solidFill>
                <a:effectLst/>
                <a:latin typeface="Consolas" panose="020B0609020204030204" pitchFamily="49" charset="0"/>
                <a:cs typeface="Consolas" panose="020B0609020204030204" pitchFamily="49" charset="0"/>
              </a:rPr>
              <a:t> </a:t>
            </a:r>
            <a:r>
              <a:rPr lang="fr-BE" sz="1200" dirty="0">
                <a:solidFill>
                  <a:srgbClr val="BCBEC4"/>
                </a:solidFill>
                <a:effectLst/>
                <a:latin typeface="Consolas" panose="020B0609020204030204" pitchFamily="49" charset="0"/>
                <a:cs typeface="Consolas" panose="020B0609020204030204" pitchFamily="49" charset="0"/>
              </a:rPr>
              <a:t>n = </a:t>
            </a:r>
            <a:r>
              <a:rPr lang="fr-BE" sz="1200" dirty="0" err="1">
                <a:solidFill>
                  <a:srgbClr val="C77DBB"/>
                </a:solidFill>
                <a:effectLst/>
                <a:latin typeface="Consolas" panose="020B0609020204030204" pitchFamily="49" charset="0"/>
                <a:cs typeface="Consolas" panose="020B0609020204030204" pitchFamily="49" charset="0"/>
              </a:rPr>
              <a:t>rnd</a:t>
            </a:r>
            <a:r>
              <a:rPr lang="fr-BE" sz="1200" dirty="0" err="1">
                <a:solidFill>
                  <a:srgbClr val="BCBEC4"/>
                </a:solidFill>
                <a:effectLst/>
                <a:latin typeface="Consolas" panose="020B0609020204030204" pitchFamily="49" charset="0"/>
                <a:cs typeface="Consolas" panose="020B0609020204030204" pitchFamily="49" charset="0"/>
              </a:rPr>
              <a:t>.nextInt</a:t>
            </a:r>
            <a:r>
              <a:rPr lang="fr-BE" sz="1200" dirty="0">
                <a:solidFill>
                  <a:srgbClr val="BCBEC4"/>
                </a:solidFill>
                <a:effectLst/>
                <a:latin typeface="Consolas" panose="020B0609020204030204" pitchFamily="49" charset="0"/>
                <a:cs typeface="Consolas" panose="020B0609020204030204" pitchFamily="49" charset="0"/>
              </a:rPr>
              <a:t>(</a:t>
            </a:r>
            <a:r>
              <a:rPr lang="fr-BE" sz="1200" dirty="0">
                <a:solidFill>
                  <a:srgbClr val="2AACB8"/>
                </a:solidFill>
                <a:effectLst/>
                <a:latin typeface="Consolas" panose="020B0609020204030204" pitchFamily="49" charset="0"/>
                <a:cs typeface="Consolas" panose="020B0609020204030204" pitchFamily="49" charset="0"/>
              </a:rPr>
              <a:t>1</a:t>
            </a:r>
            <a:r>
              <a:rPr lang="fr-BE" sz="1200" dirty="0">
                <a:solidFill>
                  <a:srgbClr val="BCBEC4"/>
                </a:solidFill>
                <a:effectLst/>
                <a:latin typeface="Consolas" panose="020B0609020204030204" pitchFamily="49" charset="0"/>
                <a:cs typeface="Consolas" panose="020B0609020204030204" pitchFamily="49" charset="0"/>
              </a:rPr>
              <a:t>, max + </a:t>
            </a:r>
            <a:r>
              <a:rPr lang="fr-BE" sz="1200" dirty="0">
                <a:solidFill>
                  <a:srgbClr val="2AACB8"/>
                </a:solidFill>
                <a:effectLst/>
                <a:latin typeface="Consolas" panose="020B0609020204030204" pitchFamily="49" charset="0"/>
                <a:cs typeface="Consolas" panose="020B0609020204030204" pitchFamily="49" charset="0"/>
              </a:rPr>
              <a:t>1</a:t>
            </a:r>
            <a:r>
              <a:rPr lang="fr-BE" sz="1200" dirty="0">
                <a:solidFill>
                  <a:srgbClr val="BCBEC4"/>
                </a:solidFill>
                <a:effectLst/>
                <a:latin typeface="Consolas" panose="020B0609020204030204" pitchFamily="49" charset="0"/>
                <a:cs typeface="Consolas" panose="020B0609020204030204" pitchFamily="49" charset="0"/>
              </a:rPr>
              <a:t>);</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a:solidFill>
                  <a:srgbClr val="CF8E6D"/>
                </a:solidFill>
                <a:effectLst/>
                <a:latin typeface="Consolas" panose="020B0609020204030204" pitchFamily="49" charset="0"/>
                <a:cs typeface="Consolas" panose="020B0609020204030204" pitchFamily="49" charset="0"/>
              </a:rPr>
              <a:t>return new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(n);</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a:t>
            </a:r>
          </a:p>
        </p:txBody>
      </p:sp>
      <p:sp>
        <p:nvSpPr>
          <p:cNvPr id="10" name="ZoneTexte 9">
            <a:extLst>
              <a:ext uri="{FF2B5EF4-FFF2-40B4-BE49-F238E27FC236}">
                <a16:creationId xmlns:a16="http://schemas.microsoft.com/office/drawing/2014/main" id="{3768D722-D072-77AC-A5B4-D1C476696D81}"/>
              </a:ext>
            </a:extLst>
          </p:cNvPr>
          <p:cNvSpPr txBox="1"/>
          <p:nvPr/>
        </p:nvSpPr>
        <p:spPr>
          <a:xfrm>
            <a:off x="5939510" y="2511161"/>
            <a:ext cx="6160416" cy="1015663"/>
          </a:xfrm>
          <a:prstGeom prst="rect">
            <a:avLst/>
          </a:prstGeom>
          <a:solidFill>
            <a:srgbClr val="2B2B2B"/>
          </a:solidFill>
        </p:spPr>
        <p:txBody>
          <a:bodyPr wrap="square">
            <a:spAutoFit/>
          </a:bodyPr>
          <a:lstStyle/>
          <a:p>
            <a:pPr>
              <a:buNone/>
            </a:pPr>
            <a:r>
              <a:rPr lang="fr-BE" sz="1200" dirty="0">
                <a:solidFill>
                  <a:srgbClr val="CF8E6D"/>
                </a:solidFill>
                <a:effectLst/>
                <a:latin typeface="Consolas" panose="020B0609020204030204" pitchFamily="49" charset="0"/>
                <a:cs typeface="Consolas" panose="020B0609020204030204" pitchFamily="49" charset="0"/>
              </a:rPr>
              <a:t>public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56A8F5"/>
                </a:solidFill>
                <a:effectLst/>
                <a:latin typeface="Consolas" panose="020B0609020204030204" pitchFamily="49" charset="0"/>
                <a:cs typeface="Consolas" panose="020B0609020204030204" pitchFamily="49" charset="0"/>
              </a:rPr>
              <a:t>choisirCoup</a:t>
            </a:r>
            <a:r>
              <a:rPr lang="fr-BE" sz="1200" dirty="0">
                <a:solidFill>
                  <a:srgbClr val="BCBEC4"/>
                </a:solidFill>
                <a:effectLst/>
                <a:latin typeface="Consolas" panose="020B0609020204030204" pitchFamily="49" charset="0"/>
                <a:cs typeface="Consolas" panose="020B0609020204030204" pitchFamily="49" charset="0"/>
              </a:rPr>
              <a:t>(Joueur joueur, Pile pile, </a:t>
            </a:r>
            <a:r>
              <a:rPr lang="fr-BE" sz="1200" dirty="0" err="1">
                <a:solidFill>
                  <a:srgbClr val="BCBEC4"/>
                </a:solidFill>
                <a:effectLst/>
                <a:latin typeface="Consolas" panose="020B0609020204030204" pitchFamily="49" charset="0"/>
                <a:cs typeface="Consolas" panose="020B0609020204030204" pitchFamily="49" charset="0"/>
              </a:rPr>
              <a:t>ReglesNim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BCBEC4"/>
                </a:solidFill>
                <a:effectLst/>
                <a:latin typeface="Consolas" panose="020B0609020204030204" pitchFamily="49" charset="0"/>
                <a:cs typeface="Consolas" panose="020B0609020204030204" pitchFamily="49" charset="0"/>
              </a:rPr>
              <a:t>regles</a:t>
            </a:r>
            <a:r>
              <a:rPr lang="fr-BE" sz="1200" dirty="0">
                <a:solidFill>
                  <a:srgbClr val="BCBEC4"/>
                </a:solidFill>
                <a:effectLst/>
                <a:latin typeface="Consolas" panose="020B0609020204030204" pitchFamily="49" charset="0"/>
                <a:cs typeface="Consolas" panose="020B0609020204030204" pitchFamily="49" charset="0"/>
              </a:rPr>
              <a:t>) {</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CF8E6D"/>
                </a:solidFill>
                <a:effectLst/>
                <a:latin typeface="Consolas" panose="020B0609020204030204" pitchFamily="49" charset="0"/>
                <a:cs typeface="Consolas" panose="020B0609020204030204" pitchFamily="49" charset="0"/>
              </a:rPr>
              <a:t>int</a:t>
            </a:r>
            <a:r>
              <a:rPr lang="fr-BE" sz="1200" dirty="0">
                <a:solidFill>
                  <a:srgbClr val="CF8E6D"/>
                </a:solidFill>
                <a:effectLst/>
                <a:latin typeface="Consolas" panose="020B0609020204030204" pitchFamily="49" charset="0"/>
                <a:cs typeface="Consolas" panose="020B0609020204030204" pitchFamily="49" charset="0"/>
              </a:rPr>
              <a:t> </a:t>
            </a:r>
            <a:r>
              <a:rPr lang="fr-BE" sz="1200" dirty="0">
                <a:solidFill>
                  <a:srgbClr val="BCBEC4"/>
                </a:solidFill>
                <a:effectLst/>
                <a:latin typeface="Consolas" panose="020B0609020204030204" pitchFamily="49" charset="0"/>
                <a:cs typeface="Consolas" panose="020B0609020204030204" pitchFamily="49" charset="0"/>
              </a:rPr>
              <a:t>max = </a:t>
            </a:r>
            <a:r>
              <a:rPr lang="fr-BE" sz="1200" dirty="0" err="1">
                <a:solidFill>
                  <a:srgbClr val="BCBEC4"/>
                </a:solidFill>
                <a:effectLst/>
                <a:latin typeface="Consolas" panose="020B0609020204030204" pitchFamily="49" charset="0"/>
                <a:cs typeface="Consolas" panose="020B0609020204030204" pitchFamily="49" charset="0"/>
              </a:rPr>
              <a:t>regles.maxAutoriseAvecPile</a:t>
            </a:r>
            <a:r>
              <a:rPr lang="fr-BE" sz="1200" dirty="0">
                <a:solidFill>
                  <a:srgbClr val="BCBEC4"/>
                </a:solidFill>
                <a:effectLst/>
                <a:latin typeface="Consolas" panose="020B0609020204030204" pitchFamily="49" charset="0"/>
                <a:cs typeface="Consolas" panose="020B0609020204030204" pitchFamily="49" charset="0"/>
              </a:rPr>
              <a:t>(pile);</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a:solidFill>
                  <a:srgbClr val="CF8E6D"/>
                </a:solidFill>
                <a:effectLst/>
                <a:latin typeface="Consolas" panose="020B0609020204030204" pitchFamily="49" charset="0"/>
                <a:cs typeface="Consolas" panose="020B0609020204030204" pitchFamily="49" charset="0"/>
              </a:rPr>
              <a:t>return new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(max);</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a:t>
            </a:r>
          </a:p>
        </p:txBody>
      </p:sp>
      <p:sp>
        <p:nvSpPr>
          <p:cNvPr id="14" name="ZoneTexte 13">
            <a:extLst>
              <a:ext uri="{FF2B5EF4-FFF2-40B4-BE49-F238E27FC236}">
                <a16:creationId xmlns:a16="http://schemas.microsoft.com/office/drawing/2014/main" id="{DFEE414F-5234-03B1-05C7-1EAA7E251DD0}"/>
              </a:ext>
            </a:extLst>
          </p:cNvPr>
          <p:cNvSpPr txBox="1"/>
          <p:nvPr/>
        </p:nvSpPr>
        <p:spPr>
          <a:xfrm>
            <a:off x="463288" y="1498880"/>
            <a:ext cx="6544558" cy="646331"/>
          </a:xfrm>
          <a:prstGeom prst="rect">
            <a:avLst/>
          </a:prstGeom>
          <a:solidFill>
            <a:srgbClr val="2B2B2B"/>
          </a:solidFill>
        </p:spPr>
        <p:txBody>
          <a:bodyPr wrap="square">
            <a:spAutoFit/>
          </a:bodyPr>
          <a:lstStyle/>
          <a:p>
            <a:pPr>
              <a:buNone/>
            </a:pPr>
            <a:r>
              <a:rPr lang="fr-BE" sz="1200" dirty="0">
                <a:solidFill>
                  <a:srgbClr val="CF8E6D"/>
                </a:solidFill>
                <a:effectLst/>
                <a:latin typeface="Consolas" panose="020B0609020204030204" pitchFamily="49" charset="0"/>
                <a:cs typeface="Consolas" panose="020B0609020204030204" pitchFamily="49" charset="0"/>
              </a:rPr>
              <a:t>public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56A8F5"/>
                </a:solidFill>
                <a:effectLst/>
                <a:latin typeface="Consolas" panose="020B0609020204030204" pitchFamily="49" charset="0"/>
                <a:cs typeface="Consolas" panose="020B0609020204030204" pitchFamily="49" charset="0"/>
              </a:rPr>
              <a:t>choisirCoup</a:t>
            </a:r>
            <a:r>
              <a:rPr lang="fr-BE" sz="1200" dirty="0">
                <a:solidFill>
                  <a:srgbClr val="BCBEC4"/>
                </a:solidFill>
                <a:effectLst/>
                <a:latin typeface="Consolas" panose="020B0609020204030204" pitchFamily="49" charset="0"/>
                <a:cs typeface="Consolas" panose="020B0609020204030204" pitchFamily="49" charset="0"/>
              </a:rPr>
              <a:t>(Joueur joueur, Pile pile, </a:t>
            </a:r>
            <a:r>
              <a:rPr lang="fr-BE" sz="1200" dirty="0" err="1">
                <a:solidFill>
                  <a:srgbClr val="BCBEC4"/>
                </a:solidFill>
                <a:effectLst/>
                <a:latin typeface="Consolas" panose="020B0609020204030204" pitchFamily="49" charset="0"/>
                <a:cs typeface="Consolas" panose="020B0609020204030204" pitchFamily="49" charset="0"/>
              </a:rPr>
              <a:t>ReglesNim</a:t>
            </a:r>
            <a:r>
              <a:rPr lang="fr-BE" sz="1200" dirty="0">
                <a:solidFill>
                  <a:srgbClr val="BCBEC4"/>
                </a:solidFill>
                <a:effectLst/>
                <a:latin typeface="Consolas" panose="020B0609020204030204" pitchFamily="49" charset="0"/>
                <a:cs typeface="Consolas" panose="020B0609020204030204" pitchFamily="49" charset="0"/>
              </a:rPr>
              <a:t> </a:t>
            </a:r>
            <a:r>
              <a:rPr lang="fr-BE" sz="1200" dirty="0" err="1">
                <a:solidFill>
                  <a:srgbClr val="BCBEC4"/>
                </a:solidFill>
                <a:effectLst/>
                <a:latin typeface="Consolas" panose="020B0609020204030204" pitchFamily="49" charset="0"/>
                <a:cs typeface="Consolas" panose="020B0609020204030204" pitchFamily="49" charset="0"/>
              </a:rPr>
              <a:t>regles</a:t>
            </a:r>
            <a:r>
              <a:rPr lang="fr-BE" sz="1200" dirty="0">
                <a:solidFill>
                  <a:srgbClr val="BCBEC4"/>
                </a:solidFill>
                <a:effectLst/>
                <a:latin typeface="Consolas" panose="020B0609020204030204" pitchFamily="49" charset="0"/>
                <a:cs typeface="Consolas" panose="020B0609020204030204" pitchFamily="49" charset="0"/>
              </a:rPr>
              <a:t>) {</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    </a:t>
            </a:r>
            <a:r>
              <a:rPr lang="fr-BE" sz="1200" dirty="0">
                <a:solidFill>
                  <a:srgbClr val="CF8E6D"/>
                </a:solidFill>
                <a:effectLst/>
                <a:latin typeface="Consolas" panose="020B0609020204030204" pitchFamily="49" charset="0"/>
                <a:cs typeface="Consolas" panose="020B0609020204030204" pitchFamily="49" charset="0"/>
              </a:rPr>
              <a:t>return new </a:t>
            </a:r>
            <a:r>
              <a:rPr lang="fr-BE" sz="1200" dirty="0" err="1">
                <a:solidFill>
                  <a:srgbClr val="BCBEC4"/>
                </a:solidFill>
                <a:effectLst/>
                <a:latin typeface="Consolas" panose="020B0609020204030204" pitchFamily="49" charset="0"/>
                <a:cs typeface="Consolas" panose="020B0609020204030204" pitchFamily="49" charset="0"/>
              </a:rPr>
              <a:t>CoupNim</a:t>
            </a:r>
            <a:r>
              <a:rPr lang="fr-BE" sz="1200" dirty="0">
                <a:solidFill>
                  <a:srgbClr val="BCBEC4"/>
                </a:solidFill>
                <a:effectLst/>
                <a:latin typeface="Consolas" panose="020B0609020204030204" pitchFamily="49" charset="0"/>
                <a:cs typeface="Consolas" panose="020B0609020204030204" pitchFamily="49" charset="0"/>
              </a:rPr>
              <a:t>(</a:t>
            </a:r>
            <a:r>
              <a:rPr lang="fr-BE" sz="1200" dirty="0">
                <a:solidFill>
                  <a:srgbClr val="2AACB8"/>
                </a:solidFill>
                <a:effectLst/>
                <a:latin typeface="Consolas" panose="020B0609020204030204" pitchFamily="49" charset="0"/>
                <a:cs typeface="Consolas" panose="020B0609020204030204" pitchFamily="49" charset="0"/>
              </a:rPr>
              <a:t>1</a:t>
            </a:r>
            <a:r>
              <a:rPr lang="fr-BE" sz="1200" dirty="0">
                <a:solidFill>
                  <a:srgbClr val="BCBEC4"/>
                </a:solidFill>
                <a:effectLst/>
                <a:latin typeface="Consolas" panose="020B0609020204030204" pitchFamily="49" charset="0"/>
                <a:cs typeface="Consolas" panose="020B0609020204030204" pitchFamily="49" charset="0"/>
              </a:rPr>
              <a:t>);</a:t>
            </a:r>
            <a:br>
              <a:rPr lang="fr-BE" sz="1200" dirty="0">
                <a:solidFill>
                  <a:srgbClr val="BCBEC4"/>
                </a:solidFill>
                <a:effectLst/>
                <a:latin typeface="Consolas" panose="020B0609020204030204" pitchFamily="49" charset="0"/>
                <a:cs typeface="Consolas" panose="020B0609020204030204" pitchFamily="49" charset="0"/>
              </a:rPr>
            </a:br>
            <a:r>
              <a:rPr lang="fr-BE" sz="1200" dirty="0">
                <a:solidFill>
                  <a:srgbClr val="BCBEC4"/>
                </a:solidFill>
                <a:effectLst/>
                <a:latin typeface="Consolas" panose="020B0609020204030204" pitchFamily="49" charset="0"/>
                <a:cs typeface="Consolas" panose="020B0609020204030204" pitchFamily="49" charset="0"/>
              </a:rPr>
              <a:t>}</a:t>
            </a:r>
          </a:p>
        </p:txBody>
      </p:sp>
      <p:pic>
        <p:nvPicPr>
          <p:cNvPr id="5" name="Picture 2" descr="Game Hub - Apps on Google Play">
            <a:extLst>
              <a:ext uri="{FF2B5EF4-FFF2-40B4-BE49-F238E27FC236}">
                <a16:creationId xmlns:a16="http://schemas.microsoft.com/office/drawing/2014/main" id="{C1B072C9-8AC2-26D5-9D6B-EC86821A0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1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0C1E42-613E-D1BC-153D-46DA8FF31498}"/>
              </a:ext>
            </a:extLst>
          </p:cNvPr>
          <p:cNvSpPr>
            <a:spLocks noGrp="1"/>
          </p:cNvSpPr>
          <p:nvPr>
            <p:ph type="title"/>
          </p:nvPr>
        </p:nvSpPr>
        <p:spPr/>
        <p:txBody>
          <a:bodyPr/>
          <a:lstStyle/>
          <a:p>
            <a:r>
              <a:rPr lang="en-GB" dirty="0"/>
              <a:t>Pour la suite…</a:t>
            </a:r>
          </a:p>
        </p:txBody>
      </p:sp>
      <p:sp>
        <p:nvSpPr>
          <p:cNvPr id="3" name="Espace réservé du contenu 2">
            <a:extLst>
              <a:ext uri="{FF2B5EF4-FFF2-40B4-BE49-F238E27FC236}">
                <a16:creationId xmlns:a16="http://schemas.microsoft.com/office/drawing/2014/main" id="{9817E992-268E-316D-FADE-E3369DED1364}"/>
              </a:ext>
            </a:extLst>
          </p:cNvPr>
          <p:cNvSpPr>
            <a:spLocks noGrp="1"/>
          </p:cNvSpPr>
          <p:nvPr>
            <p:ph idx="1"/>
          </p:nvPr>
        </p:nvSpPr>
        <p:spPr/>
        <p:txBody>
          <a:bodyPr>
            <a:normAutofit/>
          </a:bodyPr>
          <a:lstStyle/>
          <a:p>
            <a:r>
              <a:rPr lang="en-GB" sz="2400" dirty="0"/>
              <a:t>Si vous </a:t>
            </a:r>
            <a:r>
              <a:rPr lang="en-GB" sz="2400" dirty="0" err="1"/>
              <a:t>voulez</a:t>
            </a:r>
            <a:r>
              <a:rPr lang="en-GB" sz="2400" dirty="0"/>
              <a:t> </a:t>
            </a:r>
            <a:r>
              <a:rPr lang="en-GB" sz="2400" dirty="0" err="1"/>
              <a:t>pouvoir</a:t>
            </a:r>
            <a:r>
              <a:rPr lang="en-GB" sz="2400" dirty="0"/>
              <a:t> </a:t>
            </a:r>
            <a:r>
              <a:rPr lang="en-GB" sz="2400" dirty="0" err="1"/>
              <a:t>choisir</a:t>
            </a:r>
            <a:r>
              <a:rPr lang="en-GB" sz="2400" dirty="0"/>
              <a:t> la </a:t>
            </a:r>
            <a:r>
              <a:rPr lang="en-GB" sz="2400" dirty="0" err="1"/>
              <a:t>stratégie</a:t>
            </a:r>
            <a:r>
              <a:rPr lang="en-GB" sz="2400" dirty="0"/>
              <a:t> de </a:t>
            </a:r>
            <a:r>
              <a:rPr lang="en-GB" sz="2400" dirty="0" err="1"/>
              <a:t>chaque</a:t>
            </a:r>
            <a:r>
              <a:rPr lang="en-GB" sz="2400" dirty="0"/>
              <a:t> </a:t>
            </a:r>
            <a:r>
              <a:rPr lang="en-GB" sz="2400" dirty="0" err="1"/>
              <a:t>joueur</a:t>
            </a:r>
            <a:r>
              <a:rPr lang="en-GB" sz="2400" dirty="0"/>
              <a:t> de façon </a:t>
            </a:r>
            <a:r>
              <a:rPr lang="en-GB" sz="2400" dirty="0" err="1"/>
              <a:t>dynamique</a:t>
            </a:r>
            <a:r>
              <a:rPr lang="en-GB" sz="2400" dirty="0"/>
              <a:t> (pendant </a:t>
            </a:r>
            <a:r>
              <a:rPr lang="en-GB" sz="2400" dirty="0" err="1"/>
              <a:t>l’execution</a:t>
            </a:r>
            <a:r>
              <a:rPr lang="en-GB" sz="2400" dirty="0"/>
              <a:t> du programme), il faut </a:t>
            </a:r>
            <a:r>
              <a:rPr lang="en-GB" sz="2400" dirty="0" err="1"/>
              <a:t>créer</a:t>
            </a:r>
            <a:r>
              <a:rPr lang="en-GB" sz="2400" dirty="0"/>
              <a:t> </a:t>
            </a:r>
            <a:r>
              <a:rPr lang="en-GB" sz="2400" dirty="0" err="1"/>
              <a:t>une</a:t>
            </a:r>
            <a:r>
              <a:rPr lang="en-GB" sz="2400" dirty="0"/>
              <a:t> </a:t>
            </a:r>
            <a:r>
              <a:rPr lang="en-GB" sz="2000" dirty="0" err="1">
                <a:solidFill>
                  <a:srgbClr val="FFC000"/>
                </a:solidFill>
                <a:latin typeface="Consolas" panose="020B0609020204030204" pitchFamily="49" charset="0"/>
                <a:cs typeface="Consolas" panose="020B0609020204030204" pitchFamily="49" charset="0"/>
              </a:rPr>
              <a:t>enum</a:t>
            </a:r>
            <a:r>
              <a:rPr lang="en-GB" sz="2000" dirty="0">
                <a:solidFill>
                  <a:srgbClr val="FFC000"/>
                </a:solidFill>
                <a:latin typeface="Consolas" panose="020B0609020204030204" pitchFamily="49" charset="0"/>
                <a:cs typeface="Consolas" panose="020B0609020204030204" pitchFamily="49" charset="0"/>
              </a:rPr>
              <a:t> </a:t>
            </a:r>
            <a:r>
              <a:rPr lang="en-GB" sz="2000" dirty="0" err="1">
                <a:solidFill>
                  <a:srgbClr val="FFC000"/>
                </a:solidFill>
                <a:latin typeface="Consolas" panose="020B0609020204030204" pitchFamily="49" charset="0"/>
                <a:cs typeface="Consolas" panose="020B0609020204030204" pitchFamily="49" charset="0"/>
              </a:rPr>
              <a:t>TypeStrategieNim</a:t>
            </a:r>
            <a:r>
              <a:rPr lang="en-GB" sz="2000" dirty="0">
                <a:solidFill>
                  <a:srgbClr val="FFC000"/>
                </a:solidFill>
                <a:latin typeface="Consolas" panose="020B0609020204030204" pitchFamily="49" charset="0"/>
                <a:cs typeface="Consolas" panose="020B0609020204030204" pitchFamily="49" charset="0"/>
              </a:rPr>
              <a:t> </a:t>
            </a:r>
            <a:r>
              <a:rPr lang="en-GB" sz="2400" dirty="0"/>
              <a:t>qui propose les strategies.</a:t>
            </a:r>
          </a:p>
          <a:p>
            <a:r>
              <a:rPr lang="en-GB" sz="2400" dirty="0" err="1"/>
              <a:t>Puis</a:t>
            </a:r>
            <a:r>
              <a:rPr lang="en-GB" sz="2400" dirty="0"/>
              <a:t>, </a:t>
            </a:r>
            <a:r>
              <a:rPr lang="en-GB" sz="2400" dirty="0" err="1"/>
              <a:t>comme</a:t>
            </a:r>
            <a:r>
              <a:rPr lang="en-GB" sz="2400" dirty="0"/>
              <a:t> nous </a:t>
            </a:r>
            <a:r>
              <a:rPr lang="en-GB" sz="2400" dirty="0" err="1"/>
              <a:t>avons</a:t>
            </a:r>
            <a:r>
              <a:rPr lang="en-GB" sz="2400" dirty="0"/>
              <a:t> </a:t>
            </a:r>
            <a:r>
              <a:rPr lang="en-GB" sz="2400" dirty="0" err="1"/>
              <a:t>utilisé</a:t>
            </a:r>
            <a:r>
              <a:rPr lang="en-GB" sz="2400" dirty="0"/>
              <a:t> </a:t>
            </a:r>
            <a:r>
              <a:rPr lang="en-GB" sz="2400" dirty="0" err="1"/>
              <a:t>une</a:t>
            </a:r>
            <a:r>
              <a:rPr lang="en-GB" sz="2400" dirty="0"/>
              <a:t> </a:t>
            </a:r>
            <a:r>
              <a:rPr lang="en-GB" sz="2000" dirty="0" err="1">
                <a:solidFill>
                  <a:srgbClr val="FFC000"/>
                </a:solidFill>
                <a:latin typeface="Consolas" panose="020B0609020204030204" pitchFamily="49" charset="0"/>
                <a:cs typeface="Consolas" panose="020B0609020204030204" pitchFamily="49" charset="0"/>
              </a:rPr>
              <a:t>JeuFactory</a:t>
            </a:r>
            <a:r>
              <a:rPr lang="en-GB" sz="2400" dirty="0"/>
              <a:t> pour </a:t>
            </a:r>
            <a:r>
              <a:rPr lang="en-GB" sz="2400" dirty="0" err="1"/>
              <a:t>créer</a:t>
            </a:r>
            <a:r>
              <a:rPr lang="en-GB" sz="2400" dirty="0"/>
              <a:t> des </a:t>
            </a:r>
            <a:r>
              <a:rPr lang="en-GB" sz="2000" dirty="0">
                <a:solidFill>
                  <a:srgbClr val="FFC000"/>
                </a:solidFill>
                <a:latin typeface="Consolas" panose="020B0609020204030204" pitchFamily="49" charset="0"/>
                <a:cs typeface="Consolas" panose="020B0609020204030204" pitchFamily="49" charset="0"/>
              </a:rPr>
              <a:t>Jeu</a:t>
            </a:r>
            <a:r>
              <a:rPr lang="en-GB" sz="2400" dirty="0"/>
              <a:t> </a:t>
            </a:r>
            <a:r>
              <a:rPr lang="en-GB" sz="2400" dirty="0" err="1"/>
              <a:t>correspondant</a:t>
            </a:r>
            <a:r>
              <a:rPr lang="en-GB" sz="2400" dirty="0"/>
              <a:t> à </a:t>
            </a:r>
            <a:r>
              <a:rPr lang="en-GB" sz="2400" dirty="0" err="1"/>
              <a:t>chaque</a:t>
            </a:r>
            <a:r>
              <a:rPr lang="en-GB" sz="2400" dirty="0"/>
              <a:t> </a:t>
            </a:r>
            <a:r>
              <a:rPr lang="en-GB" sz="2000" dirty="0" err="1">
                <a:solidFill>
                  <a:srgbClr val="FFC000"/>
                </a:solidFill>
                <a:latin typeface="Consolas" panose="020B0609020204030204" pitchFamily="49" charset="0"/>
                <a:cs typeface="Consolas" panose="020B0609020204030204" pitchFamily="49" charset="0"/>
              </a:rPr>
              <a:t>TypeJeu</a:t>
            </a:r>
            <a:r>
              <a:rPr lang="en-GB" sz="2400" dirty="0"/>
              <a:t>, vous </a:t>
            </a:r>
            <a:r>
              <a:rPr lang="en-GB" sz="2400" dirty="0" err="1"/>
              <a:t>pouvez</a:t>
            </a:r>
            <a:r>
              <a:rPr lang="en-GB" sz="2400" dirty="0"/>
              <a:t> </a:t>
            </a:r>
            <a:r>
              <a:rPr lang="en-GB" sz="2400" dirty="0" err="1"/>
              <a:t>créer</a:t>
            </a:r>
            <a:r>
              <a:rPr lang="en-GB" sz="2400" dirty="0"/>
              <a:t> </a:t>
            </a:r>
            <a:r>
              <a:rPr lang="en-GB" sz="2400" dirty="0" err="1"/>
              <a:t>une</a:t>
            </a:r>
            <a:r>
              <a:rPr lang="en-GB" sz="2400" dirty="0"/>
              <a:t> </a:t>
            </a:r>
            <a:r>
              <a:rPr lang="en-GB" sz="2400" dirty="0" err="1"/>
              <a:t>classe</a:t>
            </a:r>
            <a:r>
              <a:rPr lang="en-GB" sz="2400" dirty="0"/>
              <a:t> </a:t>
            </a:r>
            <a:r>
              <a:rPr lang="en-GB" sz="2000" dirty="0" err="1">
                <a:solidFill>
                  <a:srgbClr val="FFC000"/>
                </a:solidFill>
                <a:latin typeface="Consolas" panose="020B0609020204030204" pitchFamily="49" charset="0"/>
                <a:cs typeface="Consolas" panose="020B0609020204030204" pitchFamily="49" charset="0"/>
              </a:rPr>
              <a:t>StrategieNimFactory</a:t>
            </a:r>
            <a:r>
              <a:rPr lang="en-GB" sz="2400" dirty="0"/>
              <a:t> qui </a:t>
            </a:r>
            <a:r>
              <a:rPr lang="en-GB" sz="2400" dirty="0" err="1"/>
              <a:t>génèrera</a:t>
            </a:r>
            <a:r>
              <a:rPr lang="en-GB" sz="2400" dirty="0"/>
              <a:t> les classes </a:t>
            </a:r>
            <a:r>
              <a:rPr lang="en-GB" sz="2000" dirty="0" err="1">
                <a:solidFill>
                  <a:srgbClr val="FFC000"/>
                </a:solidFill>
                <a:latin typeface="Consolas" panose="020B0609020204030204" pitchFamily="49" charset="0"/>
                <a:cs typeface="Consolas" panose="020B0609020204030204" pitchFamily="49" charset="0"/>
              </a:rPr>
              <a:t>StrategieNim</a:t>
            </a:r>
            <a:r>
              <a:rPr lang="en-GB" sz="2400" dirty="0"/>
              <a:t> </a:t>
            </a:r>
            <a:r>
              <a:rPr lang="en-GB" sz="2400" dirty="0" err="1"/>
              <a:t>correspondant</a:t>
            </a:r>
            <a:r>
              <a:rPr lang="en-GB" sz="2400" dirty="0"/>
              <a:t> au type </a:t>
            </a:r>
            <a:r>
              <a:rPr lang="en-GB" sz="2400" dirty="0" err="1"/>
              <a:t>choisi</a:t>
            </a:r>
            <a:r>
              <a:rPr lang="en-GB" sz="2400" dirty="0"/>
              <a:t>.</a:t>
            </a:r>
          </a:p>
          <a:p>
            <a:r>
              <a:rPr lang="en-GB" sz="2400" dirty="0"/>
              <a:t>Dans </a:t>
            </a:r>
            <a:r>
              <a:rPr lang="en-GB" sz="2000" dirty="0" err="1">
                <a:solidFill>
                  <a:srgbClr val="FFC000"/>
                </a:solidFill>
                <a:latin typeface="Consolas" panose="020B0609020204030204" pitchFamily="49" charset="0"/>
                <a:cs typeface="Consolas" panose="020B0609020204030204" pitchFamily="49" charset="0"/>
              </a:rPr>
              <a:t>GameHub</a:t>
            </a:r>
            <a:r>
              <a:rPr lang="en-GB" sz="2400" dirty="0"/>
              <a:t>, on </a:t>
            </a:r>
            <a:r>
              <a:rPr lang="en-GB" sz="2400" dirty="0" err="1"/>
              <a:t>manipulera</a:t>
            </a:r>
            <a:r>
              <a:rPr lang="en-GB" sz="2400" dirty="0"/>
              <a:t> plus un </a:t>
            </a:r>
            <a:r>
              <a:rPr lang="en-GB" sz="2000" dirty="0">
                <a:solidFill>
                  <a:srgbClr val="FFC000"/>
                </a:solidFill>
                <a:latin typeface="Consolas" panose="020B0609020204030204" pitchFamily="49" charset="0"/>
                <a:cs typeface="Consolas" panose="020B0609020204030204" pitchFamily="49" charset="0"/>
              </a:rPr>
              <a:t>Jeu</a:t>
            </a:r>
            <a:r>
              <a:rPr lang="en-GB" sz="2400" dirty="0"/>
              <a:t> </a:t>
            </a:r>
            <a:r>
              <a:rPr lang="en-GB" sz="2400" dirty="0" err="1"/>
              <a:t>mais</a:t>
            </a:r>
            <a:r>
              <a:rPr lang="en-GB" sz="2400" dirty="0"/>
              <a:t> un </a:t>
            </a:r>
            <a:r>
              <a:rPr lang="en-GB" sz="2000" dirty="0" err="1">
                <a:solidFill>
                  <a:srgbClr val="FFC000"/>
                </a:solidFill>
                <a:latin typeface="Consolas" panose="020B0609020204030204" pitchFamily="49" charset="0"/>
                <a:cs typeface="Consolas" panose="020B0609020204030204" pitchFamily="49" charset="0"/>
              </a:rPr>
              <a:t>JeuConfigurable</a:t>
            </a:r>
            <a:r>
              <a:rPr lang="en-GB" sz="2400" dirty="0"/>
              <a:t> (interface </a:t>
            </a:r>
            <a:r>
              <a:rPr lang="en-GB" sz="2400" dirty="0" err="1"/>
              <a:t>présentant</a:t>
            </a:r>
            <a:r>
              <a:rPr lang="en-GB" sz="2400" dirty="0"/>
              <a:t> </a:t>
            </a:r>
            <a:r>
              <a:rPr lang="en-GB" sz="2400" dirty="0" err="1"/>
              <a:t>une</a:t>
            </a:r>
            <a:r>
              <a:rPr lang="en-GB" sz="2400" dirty="0"/>
              <a:t> </a:t>
            </a:r>
            <a:r>
              <a:rPr lang="en-GB" sz="2400" dirty="0" err="1"/>
              <a:t>méthode</a:t>
            </a:r>
            <a:r>
              <a:rPr lang="en-GB" sz="2400" dirty="0"/>
              <a:t> </a:t>
            </a:r>
            <a:r>
              <a:rPr lang="en-GB" sz="2000" dirty="0">
                <a:solidFill>
                  <a:srgbClr val="FFC000"/>
                </a:solidFill>
                <a:latin typeface="Consolas" panose="020B0609020204030204" pitchFamily="49" charset="0"/>
                <a:cs typeface="Consolas" panose="020B0609020204030204" pitchFamily="49" charset="0"/>
              </a:rPr>
              <a:t>configure(Scanner)</a:t>
            </a:r>
            <a:r>
              <a:rPr lang="en-GB" sz="2400" dirty="0"/>
              <a:t>).</a:t>
            </a:r>
            <a:br>
              <a:rPr lang="en-GB" sz="2400" dirty="0"/>
            </a:br>
            <a:r>
              <a:rPr lang="en-GB" sz="2000" dirty="0" err="1">
                <a:solidFill>
                  <a:srgbClr val="FFC000"/>
                </a:solidFill>
                <a:latin typeface="Consolas" panose="020B0609020204030204" pitchFamily="49" charset="0"/>
                <a:cs typeface="Consolas" panose="020B0609020204030204" pitchFamily="49" charset="0"/>
              </a:rPr>
              <a:t>JeuNim</a:t>
            </a:r>
            <a:r>
              <a:rPr lang="en-GB" sz="2400" dirty="0"/>
              <a:t> sera </a:t>
            </a:r>
            <a:r>
              <a:rPr lang="en-GB" sz="2000" dirty="0">
                <a:solidFill>
                  <a:srgbClr val="FFC000"/>
                </a:solidFill>
                <a:latin typeface="Consolas" panose="020B0609020204030204" pitchFamily="49" charset="0"/>
                <a:cs typeface="Consolas" panose="020B0609020204030204" pitchFamily="49" charset="0"/>
              </a:rPr>
              <a:t>Jeu</a:t>
            </a:r>
            <a:r>
              <a:rPr lang="en-GB" sz="2400" dirty="0"/>
              <a:t> et </a:t>
            </a:r>
            <a:r>
              <a:rPr lang="en-GB" sz="2000" dirty="0" err="1">
                <a:solidFill>
                  <a:srgbClr val="FFC000"/>
                </a:solidFill>
                <a:latin typeface="Consolas" panose="020B0609020204030204" pitchFamily="49" charset="0"/>
                <a:cs typeface="Consolas" panose="020B0609020204030204" pitchFamily="49" charset="0"/>
              </a:rPr>
              <a:t>JeuConfigurable</a:t>
            </a:r>
            <a:r>
              <a:rPr lang="en-GB" sz="2400" dirty="0"/>
              <a:t>. Sa </a:t>
            </a:r>
            <a:r>
              <a:rPr lang="en-GB" sz="2400" dirty="0" err="1"/>
              <a:t>méthode</a:t>
            </a:r>
            <a:r>
              <a:rPr lang="en-GB" sz="2400" dirty="0"/>
              <a:t> configure </a:t>
            </a:r>
            <a:r>
              <a:rPr lang="en-GB" sz="2400" dirty="0" err="1"/>
              <a:t>demandera</a:t>
            </a:r>
            <a:r>
              <a:rPr lang="en-GB" sz="2400" dirty="0"/>
              <a:t> à </a:t>
            </a:r>
            <a:r>
              <a:rPr lang="en-GB" sz="2400" dirty="0" err="1"/>
              <a:t>l’utilisateur</a:t>
            </a:r>
            <a:r>
              <a:rPr lang="en-GB" sz="2400" dirty="0"/>
              <a:t> de faire un choix, et </a:t>
            </a:r>
            <a:r>
              <a:rPr lang="en-GB" sz="2400" dirty="0" err="1"/>
              <a:t>appellera</a:t>
            </a:r>
            <a:r>
              <a:rPr lang="en-GB" sz="2400" dirty="0"/>
              <a:t> </a:t>
            </a:r>
            <a:r>
              <a:rPr lang="en-GB" sz="2400" dirty="0" err="1"/>
              <a:t>StrategieNimFactory</a:t>
            </a:r>
            <a:r>
              <a:rPr lang="en-GB" sz="2400" dirty="0"/>
              <a:t>.</a:t>
            </a:r>
          </a:p>
        </p:txBody>
      </p:sp>
      <p:sp>
        <p:nvSpPr>
          <p:cNvPr id="4" name="Espace réservé du numéro de diapositive 3">
            <a:extLst>
              <a:ext uri="{FF2B5EF4-FFF2-40B4-BE49-F238E27FC236}">
                <a16:creationId xmlns:a16="http://schemas.microsoft.com/office/drawing/2014/main" id="{D16180D2-3734-8977-776F-F2F49399C961}"/>
              </a:ext>
            </a:extLst>
          </p:cNvPr>
          <p:cNvSpPr>
            <a:spLocks noGrp="1"/>
          </p:cNvSpPr>
          <p:nvPr>
            <p:ph type="sldNum" sz="quarter" idx="4"/>
          </p:nvPr>
        </p:nvSpPr>
        <p:spPr/>
        <p:txBody>
          <a:bodyPr/>
          <a:lstStyle/>
          <a:p>
            <a:fld id="{33C783E2-4793-4F48-A271-51A73CC37D74}" type="slidenum">
              <a:rPr lang="fr-FR" smtClean="0"/>
              <a:t>32</a:t>
            </a:fld>
            <a:endParaRPr lang="fr-FR" dirty="0"/>
          </a:p>
        </p:txBody>
      </p:sp>
      <p:pic>
        <p:nvPicPr>
          <p:cNvPr id="5" name="Picture 2" descr="Game Hub - Apps on Google Play">
            <a:extLst>
              <a:ext uri="{FF2B5EF4-FFF2-40B4-BE49-F238E27FC236}">
                <a16:creationId xmlns:a16="http://schemas.microsoft.com/office/drawing/2014/main" id="{5DF3AD09-55AC-9605-B1DD-605D7550C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824804" y="498911"/>
            <a:ext cx="1057992" cy="10579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887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java classe anonyme masquée avec masque anonymisant">
            <a:extLst>
              <a:ext uri="{FF2B5EF4-FFF2-40B4-BE49-F238E27FC236}">
                <a16:creationId xmlns:a16="http://schemas.microsoft.com/office/drawing/2014/main" id="{9467D03F-8ECC-525F-BD8C-BF6A399A62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364" b="3038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58A5466C-4CE8-71B2-D6E2-789D60B58DCF}"/>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ZoneTexte 3">
            <a:extLst>
              <a:ext uri="{FF2B5EF4-FFF2-40B4-BE49-F238E27FC236}">
                <a16:creationId xmlns:a16="http://schemas.microsoft.com/office/drawing/2014/main" id="{715BFB4D-C37C-10A5-B245-6381E51B8140}"/>
              </a:ext>
            </a:extLst>
          </p:cNvPr>
          <p:cNvSpPr txBox="1"/>
          <p:nvPr/>
        </p:nvSpPr>
        <p:spPr>
          <a:xfrm>
            <a:off x="838200" y="947821"/>
            <a:ext cx="10515600" cy="1015663"/>
          </a:xfrm>
          <a:prstGeom prst="rect">
            <a:avLst/>
          </a:prstGeom>
          <a:solidFill>
            <a:srgbClr val="2E4C64">
              <a:alpha val="75294"/>
            </a:srgbClr>
          </a:solidFill>
          <a:effectLst>
            <a:outerShdw blurRad="50800" dist="38100" dir="2700000" algn="tl" rotWithShape="0">
              <a:prstClr val="black">
                <a:alpha val="40000"/>
              </a:prstClr>
            </a:outerShdw>
          </a:effectLst>
        </p:spPr>
        <p:txBody>
          <a:bodyPr wrap="square" rtlCol="0">
            <a:spAutoFit/>
          </a:bodyPr>
          <a:lstStyle/>
          <a:p>
            <a:r>
              <a:rPr lang="fr-FR" sz="6000" b="1" dirty="0"/>
              <a:t>Classe anonyme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ZoneTexte 4">
            <a:extLst>
              <a:ext uri="{FF2B5EF4-FFF2-40B4-BE49-F238E27FC236}">
                <a16:creationId xmlns:a16="http://schemas.microsoft.com/office/drawing/2014/main" id="{F2CDB18C-6B6D-27FF-6433-D3D1B02199E1}"/>
              </a:ext>
            </a:extLst>
          </p:cNvPr>
          <p:cNvSpPr txBox="1"/>
          <p:nvPr/>
        </p:nvSpPr>
        <p:spPr>
          <a:xfrm>
            <a:off x="838200" y="2139312"/>
            <a:ext cx="10515600" cy="461665"/>
          </a:xfrm>
          <a:prstGeom prst="rect">
            <a:avLst/>
          </a:prstGeom>
          <a:solidFill>
            <a:srgbClr val="2E4C64">
              <a:alpha val="75294"/>
            </a:srgbClr>
          </a:solidFill>
          <a:effectLst>
            <a:outerShdw blurRad="50800" dist="38100" dir="2700000" algn="tl" rotWithShape="0">
              <a:prstClr val="black">
                <a:alpha val="40000"/>
              </a:prstClr>
            </a:outerShdw>
          </a:effectLst>
        </p:spPr>
        <p:txBody>
          <a:bodyPr wrap="square" rtlCol="0">
            <a:spAutoFit/>
          </a:bodyPr>
          <a:lstStyle/>
          <a:p>
            <a:r>
              <a:rPr lang="fr-FR" sz="2400" dirty="0"/>
              <a:t>Il existe un autre moyen de dériver d’une classe anonyme ou d’une interface…</a:t>
            </a:r>
          </a:p>
        </p:txBody>
      </p:sp>
    </p:spTree>
    <p:extLst>
      <p:ext uri="{BB962C8B-B14F-4D97-AF65-F5344CB8AC3E}">
        <p14:creationId xmlns:p14="http://schemas.microsoft.com/office/powerpoint/2010/main" val="170146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DBF4F9A-583E-9DE0-A3BC-0D9943A5E7D4}"/>
              </a:ext>
            </a:extLst>
          </p:cNvPr>
          <p:cNvSpPr>
            <a:spLocks noGrp="1"/>
          </p:cNvSpPr>
          <p:nvPr>
            <p:ph type="title"/>
          </p:nvPr>
        </p:nvSpPr>
        <p:spPr/>
        <p:txBody>
          <a:bodyPr/>
          <a:lstStyle/>
          <a:p>
            <a:r>
              <a:rPr lang="fr-FR" dirty="0"/>
              <a:t>Classe anonyme</a:t>
            </a:r>
          </a:p>
        </p:txBody>
      </p:sp>
      <p:sp>
        <p:nvSpPr>
          <p:cNvPr id="5" name="Espace réservé du contenu 4">
            <a:extLst>
              <a:ext uri="{FF2B5EF4-FFF2-40B4-BE49-F238E27FC236}">
                <a16:creationId xmlns:a16="http://schemas.microsoft.com/office/drawing/2014/main" id="{30AB7E9C-BEDD-5825-9C3D-27A4EAC93EDC}"/>
              </a:ext>
            </a:extLst>
          </p:cNvPr>
          <p:cNvSpPr>
            <a:spLocks noGrp="1"/>
          </p:cNvSpPr>
          <p:nvPr>
            <p:ph idx="1"/>
          </p:nvPr>
        </p:nvSpPr>
        <p:spPr/>
        <p:txBody>
          <a:bodyPr>
            <a:normAutofit/>
          </a:bodyPr>
          <a:lstStyle/>
          <a:p>
            <a:pPr marL="0" indent="0">
              <a:buNone/>
            </a:pPr>
            <a:r>
              <a:rPr lang="fr-FR" dirty="0"/>
              <a:t>Une classe anonyme est une classe utilisée à un endroit, qui en étend une autre ou qui implémente une interface, en redéfinissant « immédiatement » une méthode.</a:t>
            </a:r>
          </a:p>
          <a:p>
            <a:pPr marL="0" indent="0">
              <a:buNone/>
            </a:pPr>
            <a:endParaRPr lang="fr-FR" dirty="0"/>
          </a:p>
          <a:p>
            <a:pPr marL="0" indent="0">
              <a:buNone/>
            </a:pPr>
            <a:r>
              <a:rPr lang="fr-FR" dirty="0"/>
              <a:t>Prenons l’interface </a:t>
            </a:r>
            <a:r>
              <a:rPr lang="fr-FR" sz="2400" dirty="0">
                <a:solidFill>
                  <a:schemeClr val="accent4"/>
                </a:solidFill>
                <a:latin typeface="Consolas" panose="020B0609020204030204" pitchFamily="49" charset="0"/>
                <a:cs typeface="Consolas" panose="020B0609020204030204" pitchFamily="49" charset="0"/>
              </a:rPr>
              <a:t>Speaker</a:t>
            </a:r>
            <a:r>
              <a:rPr lang="fr-FR" dirty="0"/>
              <a:t> qui présente une méthode </a:t>
            </a:r>
            <a:r>
              <a:rPr lang="fr-FR" sz="2400" dirty="0" err="1">
                <a:solidFill>
                  <a:schemeClr val="accent4"/>
                </a:solidFill>
                <a:latin typeface="Consolas" panose="020B0609020204030204" pitchFamily="49" charset="0"/>
                <a:cs typeface="Consolas" panose="020B0609020204030204" pitchFamily="49" charset="0"/>
              </a:rPr>
              <a:t>speak</a:t>
            </a:r>
            <a:r>
              <a:rPr lang="fr-FR" dirty="0"/>
              <a:t>.</a:t>
            </a:r>
          </a:p>
        </p:txBody>
      </p:sp>
      <p:sp>
        <p:nvSpPr>
          <p:cNvPr id="7" name="ZoneTexte 6">
            <a:extLst>
              <a:ext uri="{FF2B5EF4-FFF2-40B4-BE49-F238E27FC236}">
                <a16:creationId xmlns:a16="http://schemas.microsoft.com/office/drawing/2014/main" id="{3D7B8C1D-86A1-8201-00D4-98E9A781B773}"/>
              </a:ext>
            </a:extLst>
          </p:cNvPr>
          <p:cNvSpPr txBox="1"/>
          <p:nvPr/>
        </p:nvSpPr>
        <p:spPr>
          <a:xfrm>
            <a:off x="4751333" y="4264049"/>
            <a:ext cx="3430970"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interface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2" name="Espace réservé du numéro de diapositive 1">
            <a:extLst>
              <a:ext uri="{FF2B5EF4-FFF2-40B4-BE49-F238E27FC236}">
                <a16:creationId xmlns:a16="http://schemas.microsoft.com/office/drawing/2014/main" id="{4E1AD470-017F-FE2E-2C85-26140645DF71}"/>
              </a:ext>
            </a:extLst>
          </p:cNvPr>
          <p:cNvSpPr>
            <a:spLocks noGrp="1"/>
          </p:cNvSpPr>
          <p:nvPr>
            <p:ph type="sldNum" sz="quarter" idx="4"/>
          </p:nvPr>
        </p:nvSpPr>
        <p:spPr/>
        <p:txBody>
          <a:bodyPr/>
          <a:lstStyle/>
          <a:p>
            <a:fld id="{33C783E2-4793-4F48-A271-51A73CC37D74}" type="slidenum">
              <a:rPr lang="fr-FR" smtClean="0"/>
              <a:t>34</a:t>
            </a:fld>
            <a:endParaRPr lang="fr-FR" dirty="0"/>
          </a:p>
        </p:txBody>
      </p:sp>
    </p:spTree>
    <p:extLst>
      <p:ext uri="{BB962C8B-B14F-4D97-AF65-F5344CB8AC3E}">
        <p14:creationId xmlns:p14="http://schemas.microsoft.com/office/powerpoint/2010/main" val="2515099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DBF4F9A-583E-9DE0-A3BC-0D9943A5E7D4}"/>
              </a:ext>
            </a:extLst>
          </p:cNvPr>
          <p:cNvSpPr>
            <a:spLocks noGrp="1"/>
          </p:cNvSpPr>
          <p:nvPr>
            <p:ph type="title"/>
          </p:nvPr>
        </p:nvSpPr>
        <p:spPr/>
        <p:txBody>
          <a:bodyPr/>
          <a:lstStyle/>
          <a:p>
            <a:r>
              <a:rPr lang="fr-FR" dirty="0"/>
              <a:t>Classe anonyme</a:t>
            </a:r>
          </a:p>
        </p:txBody>
      </p:sp>
      <p:sp>
        <p:nvSpPr>
          <p:cNvPr id="5" name="Espace réservé du contenu 4">
            <a:extLst>
              <a:ext uri="{FF2B5EF4-FFF2-40B4-BE49-F238E27FC236}">
                <a16:creationId xmlns:a16="http://schemas.microsoft.com/office/drawing/2014/main" id="{30AB7E9C-BEDD-5825-9C3D-27A4EAC93EDC}"/>
              </a:ext>
            </a:extLst>
          </p:cNvPr>
          <p:cNvSpPr>
            <a:spLocks noGrp="1"/>
          </p:cNvSpPr>
          <p:nvPr>
            <p:ph idx="1"/>
          </p:nvPr>
        </p:nvSpPr>
        <p:spPr>
          <a:xfrm>
            <a:off x="838200" y="1825625"/>
            <a:ext cx="10515600" cy="1960764"/>
          </a:xfrm>
        </p:spPr>
        <p:txBody>
          <a:bodyPr>
            <a:normAutofit/>
          </a:bodyPr>
          <a:lstStyle/>
          <a:p>
            <a:pPr marL="0" indent="0">
              <a:buNone/>
            </a:pPr>
            <a:r>
              <a:rPr lang="fr-FR" dirty="0"/>
              <a:t>Notre programme a besoin de deux ‘parleurs’, un anglophone et un francophone.</a:t>
            </a:r>
          </a:p>
          <a:p>
            <a:pPr marL="0" indent="0">
              <a:buNone/>
            </a:pPr>
            <a:r>
              <a:rPr lang="fr-FR" dirty="0"/>
              <a:t>Le premier, </a:t>
            </a:r>
            <a:r>
              <a:rPr lang="fr-FR" sz="2400" dirty="0" err="1">
                <a:solidFill>
                  <a:schemeClr val="accent4"/>
                </a:solidFill>
                <a:latin typeface="Consolas" panose="020B0609020204030204" pitchFamily="49" charset="0"/>
                <a:cs typeface="Consolas" panose="020B0609020204030204" pitchFamily="49" charset="0"/>
              </a:rPr>
              <a:t>EnglishSpeaker</a:t>
            </a:r>
            <a:r>
              <a:rPr lang="fr-FR" dirty="0"/>
              <a:t>, utilise une classe définie:</a:t>
            </a:r>
          </a:p>
        </p:txBody>
      </p:sp>
      <p:sp>
        <p:nvSpPr>
          <p:cNvPr id="7" name="ZoneTexte 6">
            <a:extLst>
              <a:ext uri="{FF2B5EF4-FFF2-40B4-BE49-F238E27FC236}">
                <a16:creationId xmlns:a16="http://schemas.microsoft.com/office/drawing/2014/main" id="{3D7B8C1D-86A1-8201-00D4-98E9A781B773}"/>
              </a:ext>
            </a:extLst>
          </p:cNvPr>
          <p:cNvSpPr txBox="1"/>
          <p:nvPr/>
        </p:nvSpPr>
        <p:spPr>
          <a:xfrm>
            <a:off x="526174" y="3257867"/>
            <a:ext cx="5764267" cy="1815882"/>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class </a:t>
            </a:r>
            <a:r>
              <a:rPr lang="fr-BE" sz="1600" dirty="0" err="1">
                <a:latin typeface="Consolas" panose="020B0609020204030204" pitchFamily="49" charset="0"/>
                <a:cs typeface="Consolas" panose="020B0609020204030204" pitchFamily="49" charset="0"/>
              </a:rPr>
              <a:t>EnglishSpeaker</a:t>
            </a: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implements</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BBB529"/>
                </a:solidFill>
                <a:effectLst/>
                <a:latin typeface="Consolas" panose="020B0609020204030204" pitchFamily="49" charset="0"/>
                <a:cs typeface="Consolas" panose="020B0609020204030204" pitchFamily="49" charset="0"/>
              </a:rPr>
              <a:t>@</a:t>
            </a:r>
            <a:r>
              <a:rPr lang="fr-BE" sz="1600" dirty="0" err="1">
                <a:solidFill>
                  <a:srgbClr val="BBB529"/>
                </a:solidFill>
                <a:effectLst/>
                <a:latin typeface="Consolas" panose="020B0609020204030204" pitchFamily="49" charset="0"/>
                <a:cs typeface="Consolas" panose="020B0609020204030204" pitchFamily="49" charset="0"/>
              </a:rPr>
              <a:t>Override</a:t>
            </a:r>
            <a:br>
              <a:rPr lang="fr-BE" sz="1600" dirty="0">
                <a:solidFill>
                  <a:srgbClr val="BBB529"/>
                </a:solidFill>
                <a:effectLst/>
                <a:latin typeface="Consolas" panose="020B0609020204030204" pitchFamily="49" charset="0"/>
                <a:cs typeface="Consolas" panose="020B0609020204030204" pitchFamily="49" charset="0"/>
              </a:rPr>
            </a:br>
            <a:r>
              <a:rPr lang="fr-BE" sz="1600" dirty="0">
                <a:solidFill>
                  <a:srgbClr val="BBB529"/>
                </a:solidFill>
                <a:effectLst/>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"Hello!"</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2" name="ZoneTexte 1">
            <a:extLst>
              <a:ext uri="{FF2B5EF4-FFF2-40B4-BE49-F238E27FC236}">
                <a16:creationId xmlns:a16="http://schemas.microsoft.com/office/drawing/2014/main" id="{74C4ED75-3933-ED24-41C8-B394FC6F93C4}"/>
              </a:ext>
            </a:extLst>
          </p:cNvPr>
          <p:cNvSpPr txBox="1"/>
          <p:nvPr/>
        </p:nvSpPr>
        <p:spPr>
          <a:xfrm>
            <a:off x="7849257" y="365127"/>
            <a:ext cx="3430970"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interface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6" name="ZoneTexte 5">
            <a:extLst>
              <a:ext uri="{FF2B5EF4-FFF2-40B4-BE49-F238E27FC236}">
                <a16:creationId xmlns:a16="http://schemas.microsoft.com/office/drawing/2014/main" id="{4067776B-86AA-95F9-3558-AD9DB03B9778}"/>
              </a:ext>
            </a:extLst>
          </p:cNvPr>
          <p:cNvSpPr txBox="1"/>
          <p:nvPr/>
        </p:nvSpPr>
        <p:spPr>
          <a:xfrm>
            <a:off x="6822527" y="3672842"/>
            <a:ext cx="4599590" cy="584775"/>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Speaker </a:t>
            </a:r>
            <a:r>
              <a:rPr lang="fr-BE" sz="1600" dirty="0" err="1">
                <a:latin typeface="Consolas" panose="020B0609020204030204" pitchFamily="49" charset="0"/>
                <a:cs typeface="Consolas" panose="020B0609020204030204" pitchFamily="49" charset="0"/>
              </a:rPr>
              <a:t>english</a:t>
            </a:r>
            <a:r>
              <a:rPr lang="fr-BE" sz="1600" dirty="0">
                <a:latin typeface="Consolas" panose="020B0609020204030204" pitchFamily="49" charset="0"/>
                <a:cs typeface="Consolas" panose="020B0609020204030204" pitchFamily="49" charset="0"/>
              </a:rPr>
              <a:t> = </a:t>
            </a:r>
            <a:r>
              <a:rPr lang="fr-BE" sz="1600" dirty="0">
                <a:solidFill>
                  <a:srgbClr val="CC7832"/>
                </a:solidFill>
                <a:effectLst/>
                <a:latin typeface="Consolas" panose="020B0609020204030204" pitchFamily="49" charset="0"/>
                <a:cs typeface="Consolas" panose="020B0609020204030204" pitchFamily="49" charset="0"/>
              </a:rPr>
              <a:t>new </a:t>
            </a:r>
            <a:r>
              <a:rPr lang="fr-BE" sz="1600" dirty="0" err="1">
                <a:latin typeface="Consolas" panose="020B0609020204030204" pitchFamily="49" charset="0"/>
                <a:cs typeface="Consolas" panose="020B0609020204030204" pitchFamily="49" charset="0"/>
              </a:rPr>
              <a:t>EnglishSpeaker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err="1">
                <a:latin typeface="Consolas" panose="020B0609020204030204" pitchFamily="49" charset="0"/>
                <a:cs typeface="Consolas" panose="020B0609020204030204" pitchFamily="49" charset="0"/>
              </a:rPr>
              <a:t>english.speak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4611AD91-DE6E-DBB9-532B-EBC48F7DA404}"/>
              </a:ext>
            </a:extLst>
          </p:cNvPr>
          <p:cNvSpPr>
            <a:spLocks noGrp="1"/>
          </p:cNvSpPr>
          <p:nvPr>
            <p:ph type="sldNum" sz="quarter" idx="4"/>
          </p:nvPr>
        </p:nvSpPr>
        <p:spPr/>
        <p:txBody>
          <a:bodyPr/>
          <a:lstStyle/>
          <a:p>
            <a:fld id="{33C783E2-4793-4F48-A271-51A73CC37D74}" type="slidenum">
              <a:rPr lang="fr-FR" smtClean="0"/>
              <a:t>35</a:t>
            </a:fld>
            <a:endParaRPr lang="fr-FR" dirty="0"/>
          </a:p>
        </p:txBody>
      </p:sp>
      <p:sp>
        <p:nvSpPr>
          <p:cNvPr id="9" name="ZoneTexte 8">
            <a:extLst>
              <a:ext uri="{FF2B5EF4-FFF2-40B4-BE49-F238E27FC236}">
                <a16:creationId xmlns:a16="http://schemas.microsoft.com/office/drawing/2014/main" id="{1E2C059A-3967-3E92-6FEE-40D2A83E6ECC}"/>
              </a:ext>
            </a:extLst>
          </p:cNvPr>
          <p:cNvSpPr txBox="1"/>
          <p:nvPr/>
        </p:nvSpPr>
        <p:spPr>
          <a:xfrm>
            <a:off x="769882" y="5116462"/>
            <a:ext cx="10895943" cy="954107"/>
          </a:xfrm>
          <a:prstGeom prst="rect">
            <a:avLst/>
          </a:prstGeom>
          <a:noFill/>
        </p:spPr>
        <p:txBody>
          <a:bodyPr wrap="square">
            <a:spAutoFit/>
          </a:bodyPr>
          <a:lstStyle/>
          <a:p>
            <a:pPr marL="0" indent="0">
              <a:buNone/>
            </a:pPr>
            <a:r>
              <a:rPr lang="fr-FR" sz="2800" dirty="0"/>
              <a:t>Ceci nécessite de créer une classe (et un fichier séparé) juste pour une ligne de code…</a:t>
            </a:r>
          </a:p>
        </p:txBody>
      </p:sp>
      <p:sp>
        <p:nvSpPr>
          <p:cNvPr id="10" name="Rectangle : coins arrondis 9">
            <a:extLst>
              <a:ext uri="{FF2B5EF4-FFF2-40B4-BE49-F238E27FC236}">
                <a16:creationId xmlns:a16="http://schemas.microsoft.com/office/drawing/2014/main" id="{B38877F3-D332-8689-599C-39DFF71E2730}"/>
              </a:ext>
            </a:extLst>
          </p:cNvPr>
          <p:cNvSpPr/>
          <p:nvPr/>
        </p:nvSpPr>
        <p:spPr>
          <a:xfrm>
            <a:off x="1390918" y="4257617"/>
            <a:ext cx="3464417" cy="340141"/>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5163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DBF4F9A-583E-9DE0-A3BC-0D9943A5E7D4}"/>
              </a:ext>
            </a:extLst>
          </p:cNvPr>
          <p:cNvSpPr>
            <a:spLocks noGrp="1"/>
          </p:cNvSpPr>
          <p:nvPr>
            <p:ph type="title"/>
          </p:nvPr>
        </p:nvSpPr>
        <p:spPr/>
        <p:txBody>
          <a:bodyPr/>
          <a:lstStyle/>
          <a:p>
            <a:r>
              <a:rPr lang="fr-FR" dirty="0"/>
              <a:t>Classe anonyme</a:t>
            </a:r>
          </a:p>
        </p:txBody>
      </p:sp>
      <p:sp>
        <p:nvSpPr>
          <p:cNvPr id="5" name="Espace réservé du contenu 4">
            <a:extLst>
              <a:ext uri="{FF2B5EF4-FFF2-40B4-BE49-F238E27FC236}">
                <a16:creationId xmlns:a16="http://schemas.microsoft.com/office/drawing/2014/main" id="{30AB7E9C-BEDD-5825-9C3D-27A4EAC93EDC}"/>
              </a:ext>
            </a:extLst>
          </p:cNvPr>
          <p:cNvSpPr>
            <a:spLocks noGrp="1"/>
          </p:cNvSpPr>
          <p:nvPr>
            <p:ph idx="1"/>
          </p:nvPr>
        </p:nvSpPr>
        <p:spPr>
          <a:xfrm>
            <a:off x="838200" y="1825625"/>
            <a:ext cx="10515600" cy="1325563"/>
          </a:xfrm>
        </p:spPr>
        <p:txBody>
          <a:bodyPr>
            <a:normAutofit/>
          </a:bodyPr>
          <a:lstStyle/>
          <a:p>
            <a:pPr marL="0" indent="0">
              <a:buNone/>
            </a:pPr>
            <a:r>
              <a:rPr lang="fr-FR" dirty="0"/>
              <a:t>Pour le deuxième parleur, nous utiliserons une classe anonyme:</a:t>
            </a:r>
          </a:p>
          <a:p>
            <a:pPr marL="0" indent="0">
              <a:buNone/>
            </a:pPr>
            <a:endParaRPr lang="fr-FR" dirty="0"/>
          </a:p>
        </p:txBody>
      </p:sp>
      <p:sp>
        <p:nvSpPr>
          <p:cNvPr id="2" name="ZoneTexte 1">
            <a:extLst>
              <a:ext uri="{FF2B5EF4-FFF2-40B4-BE49-F238E27FC236}">
                <a16:creationId xmlns:a16="http://schemas.microsoft.com/office/drawing/2014/main" id="{74C4ED75-3933-ED24-41C8-B394FC6F93C4}"/>
              </a:ext>
            </a:extLst>
          </p:cNvPr>
          <p:cNvSpPr txBox="1"/>
          <p:nvPr/>
        </p:nvSpPr>
        <p:spPr>
          <a:xfrm>
            <a:off x="7849257" y="365127"/>
            <a:ext cx="3430970"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interface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6" name="ZoneTexte 5">
            <a:extLst>
              <a:ext uri="{FF2B5EF4-FFF2-40B4-BE49-F238E27FC236}">
                <a16:creationId xmlns:a16="http://schemas.microsoft.com/office/drawing/2014/main" id="{A281A5CC-67DF-A5FA-FC03-F209D83FCA89}"/>
              </a:ext>
            </a:extLst>
          </p:cNvPr>
          <p:cNvSpPr txBox="1"/>
          <p:nvPr/>
        </p:nvSpPr>
        <p:spPr>
          <a:xfrm>
            <a:off x="3129455" y="2440928"/>
            <a:ext cx="4855779" cy="1815882"/>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Speaker french = </a:t>
            </a:r>
            <a:r>
              <a:rPr lang="fr-BE" sz="1600" dirty="0">
                <a:solidFill>
                  <a:srgbClr val="CC7832"/>
                </a:solidFill>
                <a:effectLst/>
                <a:latin typeface="Consolas" panose="020B0609020204030204" pitchFamily="49" charset="0"/>
                <a:cs typeface="Consolas" panose="020B0609020204030204" pitchFamily="49" charset="0"/>
              </a:rPr>
              <a:t>new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BBB529"/>
                </a:solidFill>
                <a:effectLst/>
                <a:latin typeface="Consolas" panose="020B0609020204030204" pitchFamily="49" charset="0"/>
                <a:cs typeface="Consolas" panose="020B0609020204030204" pitchFamily="49" charset="0"/>
              </a:rPr>
              <a:t>@</a:t>
            </a:r>
            <a:r>
              <a:rPr lang="fr-BE" sz="1600" dirty="0" err="1">
                <a:solidFill>
                  <a:srgbClr val="BBB529"/>
                </a:solidFill>
                <a:effectLst/>
                <a:latin typeface="Consolas" panose="020B0609020204030204" pitchFamily="49" charset="0"/>
                <a:cs typeface="Consolas" panose="020B0609020204030204" pitchFamily="49" charset="0"/>
              </a:rPr>
              <a:t>Override</a:t>
            </a:r>
            <a:br>
              <a:rPr lang="fr-BE" sz="1600" dirty="0">
                <a:solidFill>
                  <a:srgbClr val="BBB529"/>
                </a:solidFill>
                <a:effectLst/>
                <a:latin typeface="Consolas" panose="020B0609020204030204" pitchFamily="49" charset="0"/>
                <a:cs typeface="Consolas" panose="020B0609020204030204" pitchFamily="49" charset="0"/>
              </a:rPr>
            </a:br>
            <a:r>
              <a:rPr lang="fr-BE" sz="1600" dirty="0">
                <a:solidFill>
                  <a:srgbClr val="BBB529"/>
                </a:solidFill>
                <a:effectLst/>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"Bonsoir!"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err="1">
                <a:latin typeface="Consolas" panose="020B0609020204030204" pitchFamily="49" charset="0"/>
                <a:cs typeface="Consolas" panose="020B0609020204030204" pitchFamily="49" charset="0"/>
              </a:rPr>
              <a:t>french.speak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8" name="Forme libre 7">
            <a:extLst>
              <a:ext uri="{FF2B5EF4-FFF2-40B4-BE49-F238E27FC236}">
                <a16:creationId xmlns:a16="http://schemas.microsoft.com/office/drawing/2014/main" id="{10F6CBB1-0EB0-5573-545E-CBF863C62549}"/>
              </a:ext>
            </a:extLst>
          </p:cNvPr>
          <p:cNvSpPr/>
          <p:nvPr/>
        </p:nvSpPr>
        <p:spPr>
          <a:xfrm>
            <a:off x="3208283" y="2459421"/>
            <a:ext cx="4540469" cy="1505607"/>
          </a:xfrm>
          <a:custGeom>
            <a:avLst/>
            <a:gdLst>
              <a:gd name="connsiteX0" fmla="*/ 3389586 w 4540469"/>
              <a:gd name="connsiteY0" fmla="*/ 346841 h 1505607"/>
              <a:gd name="connsiteX1" fmla="*/ 3389586 w 4540469"/>
              <a:gd name="connsiteY1" fmla="*/ 0 h 1505607"/>
              <a:gd name="connsiteX2" fmla="*/ 4540469 w 4540469"/>
              <a:gd name="connsiteY2" fmla="*/ 0 h 1505607"/>
              <a:gd name="connsiteX3" fmla="*/ 4540469 w 4540469"/>
              <a:gd name="connsiteY3" fmla="*/ 1269124 h 1505607"/>
              <a:gd name="connsiteX4" fmla="*/ 149772 w 4540469"/>
              <a:gd name="connsiteY4" fmla="*/ 1269124 h 1505607"/>
              <a:gd name="connsiteX5" fmla="*/ 149772 w 4540469"/>
              <a:gd name="connsiteY5" fmla="*/ 1505607 h 1505607"/>
              <a:gd name="connsiteX6" fmla="*/ 0 w 4540469"/>
              <a:gd name="connsiteY6" fmla="*/ 1505607 h 1505607"/>
              <a:gd name="connsiteX7" fmla="*/ 0 w 4540469"/>
              <a:gd name="connsiteY7" fmla="*/ 291662 h 1505607"/>
              <a:gd name="connsiteX8" fmla="*/ 3389586 w 4540469"/>
              <a:gd name="connsiteY8" fmla="*/ 346841 h 1505607"/>
              <a:gd name="connsiteX0" fmla="*/ 3405352 w 4540469"/>
              <a:gd name="connsiteY0" fmla="*/ 291662 h 1505607"/>
              <a:gd name="connsiteX1" fmla="*/ 3389586 w 4540469"/>
              <a:gd name="connsiteY1" fmla="*/ 0 h 1505607"/>
              <a:gd name="connsiteX2" fmla="*/ 4540469 w 4540469"/>
              <a:gd name="connsiteY2" fmla="*/ 0 h 1505607"/>
              <a:gd name="connsiteX3" fmla="*/ 4540469 w 4540469"/>
              <a:gd name="connsiteY3" fmla="*/ 1269124 h 1505607"/>
              <a:gd name="connsiteX4" fmla="*/ 149772 w 4540469"/>
              <a:gd name="connsiteY4" fmla="*/ 1269124 h 1505607"/>
              <a:gd name="connsiteX5" fmla="*/ 149772 w 4540469"/>
              <a:gd name="connsiteY5" fmla="*/ 1505607 h 1505607"/>
              <a:gd name="connsiteX6" fmla="*/ 0 w 4540469"/>
              <a:gd name="connsiteY6" fmla="*/ 1505607 h 1505607"/>
              <a:gd name="connsiteX7" fmla="*/ 0 w 4540469"/>
              <a:gd name="connsiteY7" fmla="*/ 291662 h 1505607"/>
              <a:gd name="connsiteX8" fmla="*/ 3405352 w 4540469"/>
              <a:gd name="connsiteY8" fmla="*/ 291662 h 150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40469" h="1505607">
                <a:moveTo>
                  <a:pt x="3405352" y="291662"/>
                </a:moveTo>
                <a:lnTo>
                  <a:pt x="3389586" y="0"/>
                </a:lnTo>
                <a:lnTo>
                  <a:pt x="4540469" y="0"/>
                </a:lnTo>
                <a:lnTo>
                  <a:pt x="4540469" y="1269124"/>
                </a:lnTo>
                <a:lnTo>
                  <a:pt x="149772" y="1269124"/>
                </a:lnTo>
                <a:lnTo>
                  <a:pt x="149772" y="1505607"/>
                </a:lnTo>
                <a:lnTo>
                  <a:pt x="0" y="1505607"/>
                </a:lnTo>
                <a:lnTo>
                  <a:pt x="0" y="291662"/>
                </a:lnTo>
                <a:lnTo>
                  <a:pt x="3405352" y="291662"/>
                </a:lnTo>
                <a:close/>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id="{A1DB0EB3-1FE8-0DFF-5AC2-F1F089770BF3}"/>
              </a:ext>
            </a:extLst>
          </p:cNvPr>
          <p:cNvSpPr>
            <a:spLocks noGrp="1"/>
          </p:cNvSpPr>
          <p:nvPr>
            <p:ph type="sldNum" sz="quarter" idx="4"/>
          </p:nvPr>
        </p:nvSpPr>
        <p:spPr/>
        <p:txBody>
          <a:bodyPr/>
          <a:lstStyle/>
          <a:p>
            <a:fld id="{33C783E2-4793-4F48-A271-51A73CC37D74}" type="slidenum">
              <a:rPr lang="fr-FR" smtClean="0"/>
              <a:t>36</a:t>
            </a:fld>
            <a:endParaRPr lang="fr-FR" dirty="0"/>
          </a:p>
        </p:txBody>
      </p:sp>
      <p:sp>
        <p:nvSpPr>
          <p:cNvPr id="9" name="ZoneTexte 8">
            <a:extLst>
              <a:ext uri="{FF2B5EF4-FFF2-40B4-BE49-F238E27FC236}">
                <a16:creationId xmlns:a16="http://schemas.microsoft.com/office/drawing/2014/main" id="{68C48DA7-44C0-7F0C-8B01-E08DB2011815}"/>
              </a:ext>
            </a:extLst>
          </p:cNvPr>
          <p:cNvSpPr txBox="1"/>
          <p:nvPr/>
        </p:nvSpPr>
        <p:spPr>
          <a:xfrm>
            <a:off x="777562" y="4462842"/>
            <a:ext cx="10636876" cy="954107"/>
          </a:xfrm>
          <a:prstGeom prst="rect">
            <a:avLst/>
          </a:prstGeom>
          <a:noFill/>
        </p:spPr>
        <p:txBody>
          <a:bodyPr wrap="square">
            <a:spAutoFit/>
          </a:bodyPr>
          <a:lstStyle/>
          <a:p>
            <a:pPr marL="0" indent="0">
              <a:buNone/>
            </a:pPr>
            <a:r>
              <a:rPr lang="fr-FR" sz="2800" dirty="0"/>
              <a:t>On crée un objet du type interface, puis on définit le contenu de la méthode abstraite; c’est la classe anonyme.</a:t>
            </a:r>
          </a:p>
        </p:txBody>
      </p:sp>
    </p:spTree>
    <p:extLst>
      <p:ext uri="{BB962C8B-B14F-4D97-AF65-F5344CB8AC3E}">
        <p14:creationId xmlns:p14="http://schemas.microsoft.com/office/powerpoint/2010/main" val="143940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BEAD8-8BE3-0F54-C3F8-A44A275930D6}"/>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1C81ABA-8115-C49D-6801-2D243BCB0380}"/>
              </a:ext>
            </a:extLst>
          </p:cNvPr>
          <p:cNvSpPr>
            <a:spLocks noGrp="1"/>
          </p:cNvSpPr>
          <p:nvPr>
            <p:ph type="title"/>
          </p:nvPr>
        </p:nvSpPr>
        <p:spPr/>
        <p:txBody>
          <a:bodyPr/>
          <a:lstStyle/>
          <a:p>
            <a:r>
              <a:rPr lang="fr-FR" dirty="0"/>
              <a:t>Classe anonyme</a:t>
            </a:r>
          </a:p>
        </p:txBody>
      </p:sp>
      <p:sp>
        <p:nvSpPr>
          <p:cNvPr id="2" name="ZoneTexte 1">
            <a:extLst>
              <a:ext uri="{FF2B5EF4-FFF2-40B4-BE49-F238E27FC236}">
                <a16:creationId xmlns:a16="http://schemas.microsoft.com/office/drawing/2014/main" id="{57081B31-ADCF-E64D-BA63-CC672A135D0D}"/>
              </a:ext>
            </a:extLst>
          </p:cNvPr>
          <p:cNvSpPr txBox="1"/>
          <p:nvPr/>
        </p:nvSpPr>
        <p:spPr>
          <a:xfrm>
            <a:off x="7849257" y="365127"/>
            <a:ext cx="3430970"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interface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6" name="ZoneTexte 5">
            <a:extLst>
              <a:ext uri="{FF2B5EF4-FFF2-40B4-BE49-F238E27FC236}">
                <a16:creationId xmlns:a16="http://schemas.microsoft.com/office/drawing/2014/main" id="{3C3C2A15-2AA1-6936-04E1-DC3C5CB24CB6}"/>
              </a:ext>
            </a:extLst>
          </p:cNvPr>
          <p:cNvSpPr txBox="1"/>
          <p:nvPr/>
        </p:nvSpPr>
        <p:spPr>
          <a:xfrm>
            <a:off x="6781167" y="2440928"/>
            <a:ext cx="4855779" cy="1815882"/>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Speaker french = </a:t>
            </a:r>
            <a:r>
              <a:rPr lang="fr-BE" sz="1600" dirty="0">
                <a:solidFill>
                  <a:srgbClr val="CC7832"/>
                </a:solidFill>
                <a:effectLst/>
                <a:latin typeface="Consolas" panose="020B0609020204030204" pitchFamily="49" charset="0"/>
                <a:cs typeface="Consolas" panose="020B0609020204030204" pitchFamily="49" charset="0"/>
              </a:rPr>
              <a:t>new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BBB529"/>
                </a:solidFill>
                <a:effectLst/>
                <a:latin typeface="Consolas" panose="020B0609020204030204" pitchFamily="49" charset="0"/>
                <a:cs typeface="Consolas" panose="020B0609020204030204" pitchFamily="49" charset="0"/>
              </a:rPr>
              <a:t>@</a:t>
            </a:r>
            <a:r>
              <a:rPr lang="fr-BE" sz="1600" dirty="0" err="1">
                <a:solidFill>
                  <a:srgbClr val="BBB529"/>
                </a:solidFill>
                <a:effectLst/>
                <a:latin typeface="Consolas" panose="020B0609020204030204" pitchFamily="49" charset="0"/>
                <a:cs typeface="Consolas" panose="020B0609020204030204" pitchFamily="49" charset="0"/>
              </a:rPr>
              <a:t>Override</a:t>
            </a:r>
            <a:br>
              <a:rPr lang="fr-BE" sz="1600" dirty="0">
                <a:solidFill>
                  <a:srgbClr val="BBB529"/>
                </a:solidFill>
                <a:effectLst/>
                <a:latin typeface="Consolas" panose="020B0609020204030204" pitchFamily="49" charset="0"/>
                <a:cs typeface="Consolas" panose="020B0609020204030204" pitchFamily="49" charset="0"/>
              </a:rPr>
            </a:br>
            <a:r>
              <a:rPr lang="fr-BE" sz="1600" dirty="0">
                <a:solidFill>
                  <a:srgbClr val="BBB529"/>
                </a:solidFill>
                <a:effectLst/>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"Bonsoir!"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err="1">
                <a:latin typeface="Consolas" panose="020B0609020204030204" pitchFamily="49" charset="0"/>
                <a:cs typeface="Consolas" panose="020B0609020204030204" pitchFamily="49" charset="0"/>
              </a:rPr>
              <a:t>french.speak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8" name="Forme libre 7">
            <a:extLst>
              <a:ext uri="{FF2B5EF4-FFF2-40B4-BE49-F238E27FC236}">
                <a16:creationId xmlns:a16="http://schemas.microsoft.com/office/drawing/2014/main" id="{C44D3BB6-435F-F653-B640-84260A1C6BDA}"/>
              </a:ext>
            </a:extLst>
          </p:cNvPr>
          <p:cNvSpPr/>
          <p:nvPr/>
        </p:nvSpPr>
        <p:spPr>
          <a:xfrm>
            <a:off x="6859995" y="2459421"/>
            <a:ext cx="4540469" cy="1505607"/>
          </a:xfrm>
          <a:custGeom>
            <a:avLst/>
            <a:gdLst>
              <a:gd name="connsiteX0" fmla="*/ 3389586 w 4540469"/>
              <a:gd name="connsiteY0" fmla="*/ 346841 h 1505607"/>
              <a:gd name="connsiteX1" fmla="*/ 3389586 w 4540469"/>
              <a:gd name="connsiteY1" fmla="*/ 0 h 1505607"/>
              <a:gd name="connsiteX2" fmla="*/ 4540469 w 4540469"/>
              <a:gd name="connsiteY2" fmla="*/ 0 h 1505607"/>
              <a:gd name="connsiteX3" fmla="*/ 4540469 w 4540469"/>
              <a:gd name="connsiteY3" fmla="*/ 1269124 h 1505607"/>
              <a:gd name="connsiteX4" fmla="*/ 149772 w 4540469"/>
              <a:gd name="connsiteY4" fmla="*/ 1269124 h 1505607"/>
              <a:gd name="connsiteX5" fmla="*/ 149772 w 4540469"/>
              <a:gd name="connsiteY5" fmla="*/ 1505607 h 1505607"/>
              <a:gd name="connsiteX6" fmla="*/ 0 w 4540469"/>
              <a:gd name="connsiteY6" fmla="*/ 1505607 h 1505607"/>
              <a:gd name="connsiteX7" fmla="*/ 0 w 4540469"/>
              <a:gd name="connsiteY7" fmla="*/ 291662 h 1505607"/>
              <a:gd name="connsiteX8" fmla="*/ 3389586 w 4540469"/>
              <a:gd name="connsiteY8" fmla="*/ 346841 h 1505607"/>
              <a:gd name="connsiteX0" fmla="*/ 3405352 w 4540469"/>
              <a:gd name="connsiteY0" fmla="*/ 291662 h 1505607"/>
              <a:gd name="connsiteX1" fmla="*/ 3389586 w 4540469"/>
              <a:gd name="connsiteY1" fmla="*/ 0 h 1505607"/>
              <a:gd name="connsiteX2" fmla="*/ 4540469 w 4540469"/>
              <a:gd name="connsiteY2" fmla="*/ 0 h 1505607"/>
              <a:gd name="connsiteX3" fmla="*/ 4540469 w 4540469"/>
              <a:gd name="connsiteY3" fmla="*/ 1269124 h 1505607"/>
              <a:gd name="connsiteX4" fmla="*/ 149772 w 4540469"/>
              <a:gd name="connsiteY4" fmla="*/ 1269124 h 1505607"/>
              <a:gd name="connsiteX5" fmla="*/ 149772 w 4540469"/>
              <a:gd name="connsiteY5" fmla="*/ 1505607 h 1505607"/>
              <a:gd name="connsiteX6" fmla="*/ 0 w 4540469"/>
              <a:gd name="connsiteY6" fmla="*/ 1505607 h 1505607"/>
              <a:gd name="connsiteX7" fmla="*/ 0 w 4540469"/>
              <a:gd name="connsiteY7" fmla="*/ 291662 h 1505607"/>
              <a:gd name="connsiteX8" fmla="*/ 3405352 w 4540469"/>
              <a:gd name="connsiteY8" fmla="*/ 291662 h 150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40469" h="1505607">
                <a:moveTo>
                  <a:pt x="3405352" y="291662"/>
                </a:moveTo>
                <a:lnTo>
                  <a:pt x="3389586" y="0"/>
                </a:lnTo>
                <a:lnTo>
                  <a:pt x="4540469" y="0"/>
                </a:lnTo>
                <a:lnTo>
                  <a:pt x="4540469" y="1269124"/>
                </a:lnTo>
                <a:lnTo>
                  <a:pt x="149772" y="1269124"/>
                </a:lnTo>
                <a:lnTo>
                  <a:pt x="149772" y="1505607"/>
                </a:lnTo>
                <a:lnTo>
                  <a:pt x="0" y="1505607"/>
                </a:lnTo>
                <a:lnTo>
                  <a:pt x="0" y="291662"/>
                </a:lnTo>
                <a:lnTo>
                  <a:pt x="3405352" y="291662"/>
                </a:lnTo>
                <a:close/>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id="{12113884-758C-0226-28E7-770C22140185}"/>
              </a:ext>
            </a:extLst>
          </p:cNvPr>
          <p:cNvSpPr>
            <a:spLocks noGrp="1"/>
          </p:cNvSpPr>
          <p:nvPr>
            <p:ph type="sldNum" sz="quarter" idx="4"/>
          </p:nvPr>
        </p:nvSpPr>
        <p:spPr/>
        <p:txBody>
          <a:bodyPr/>
          <a:lstStyle/>
          <a:p>
            <a:fld id="{33C783E2-4793-4F48-A271-51A73CC37D74}" type="slidenum">
              <a:rPr lang="fr-FR" smtClean="0"/>
              <a:t>37</a:t>
            </a:fld>
            <a:endParaRPr lang="fr-FR" dirty="0"/>
          </a:p>
        </p:txBody>
      </p:sp>
      <p:sp>
        <p:nvSpPr>
          <p:cNvPr id="12" name="ZoneTexte 11">
            <a:extLst>
              <a:ext uri="{FF2B5EF4-FFF2-40B4-BE49-F238E27FC236}">
                <a16:creationId xmlns:a16="http://schemas.microsoft.com/office/drawing/2014/main" id="{7E8CE2B9-3D94-06BB-9169-BB301DF6A1AC}"/>
              </a:ext>
            </a:extLst>
          </p:cNvPr>
          <p:cNvSpPr txBox="1"/>
          <p:nvPr/>
        </p:nvSpPr>
        <p:spPr>
          <a:xfrm>
            <a:off x="526174" y="1946362"/>
            <a:ext cx="5764267" cy="1815882"/>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class </a:t>
            </a:r>
            <a:r>
              <a:rPr lang="fr-BE" sz="1600" dirty="0" err="1">
                <a:latin typeface="Consolas" panose="020B0609020204030204" pitchFamily="49" charset="0"/>
                <a:cs typeface="Consolas" panose="020B0609020204030204" pitchFamily="49" charset="0"/>
              </a:rPr>
              <a:t>EnglishSpeaker</a:t>
            </a: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implements</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Speaker {</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BBB529"/>
                </a:solidFill>
                <a:effectLst/>
                <a:latin typeface="Consolas" panose="020B0609020204030204" pitchFamily="49" charset="0"/>
                <a:cs typeface="Consolas" panose="020B0609020204030204" pitchFamily="49" charset="0"/>
              </a:rPr>
              <a:t>@</a:t>
            </a:r>
            <a:r>
              <a:rPr lang="fr-BE" sz="1600" dirty="0" err="1">
                <a:solidFill>
                  <a:srgbClr val="BBB529"/>
                </a:solidFill>
                <a:effectLst/>
                <a:latin typeface="Consolas" panose="020B0609020204030204" pitchFamily="49" charset="0"/>
                <a:cs typeface="Consolas" panose="020B0609020204030204" pitchFamily="49" charset="0"/>
              </a:rPr>
              <a:t>Override</a:t>
            </a:r>
            <a:br>
              <a:rPr lang="fr-BE" sz="1600" dirty="0">
                <a:solidFill>
                  <a:srgbClr val="BBB529"/>
                </a:solidFill>
                <a:effectLst/>
                <a:latin typeface="Consolas" panose="020B0609020204030204" pitchFamily="49" charset="0"/>
                <a:cs typeface="Consolas" panose="020B0609020204030204" pitchFamily="49" charset="0"/>
              </a:rPr>
            </a:br>
            <a:r>
              <a:rPr lang="fr-BE" sz="1600" dirty="0">
                <a:solidFill>
                  <a:srgbClr val="BBB529"/>
                </a:solidFill>
                <a:effectLst/>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speak</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"Hello!"</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E79D8F5F-DCE5-2CE3-6F77-CC29DF454E7D}"/>
              </a:ext>
            </a:extLst>
          </p:cNvPr>
          <p:cNvSpPr txBox="1"/>
          <p:nvPr/>
        </p:nvSpPr>
        <p:spPr>
          <a:xfrm>
            <a:off x="1108512" y="4110624"/>
            <a:ext cx="4599590" cy="584775"/>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Speaker </a:t>
            </a:r>
            <a:r>
              <a:rPr lang="fr-BE" sz="1600" dirty="0" err="1">
                <a:latin typeface="Consolas" panose="020B0609020204030204" pitchFamily="49" charset="0"/>
                <a:cs typeface="Consolas" panose="020B0609020204030204" pitchFamily="49" charset="0"/>
              </a:rPr>
              <a:t>english</a:t>
            </a:r>
            <a:r>
              <a:rPr lang="fr-BE" sz="1600" dirty="0">
                <a:latin typeface="Consolas" panose="020B0609020204030204" pitchFamily="49" charset="0"/>
                <a:cs typeface="Consolas" panose="020B0609020204030204" pitchFamily="49" charset="0"/>
              </a:rPr>
              <a:t> = </a:t>
            </a:r>
            <a:r>
              <a:rPr lang="fr-BE" sz="1600" dirty="0">
                <a:solidFill>
                  <a:srgbClr val="CC7832"/>
                </a:solidFill>
                <a:effectLst/>
                <a:latin typeface="Consolas" panose="020B0609020204030204" pitchFamily="49" charset="0"/>
                <a:cs typeface="Consolas" panose="020B0609020204030204" pitchFamily="49" charset="0"/>
              </a:rPr>
              <a:t>new </a:t>
            </a:r>
            <a:r>
              <a:rPr lang="fr-BE" sz="1600" dirty="0" err="1">
                <a:latin typeface="Consolas" panose="020B0609020204030204" pitchFamily="49" charset="0"/>
                <a:cs typeface="Consolas" panose="020B0609020204030204" pitchFamily="49" charset="0"/>
              </a:rPr>
              <a:t>EnglishSpeaker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err="1">
                <a:latin typeface="Consolas" panose="020B0609020204030204" pitchFamily="49" charset="0"/>
                <a:cs typeface="Consolas" panose="020B0609020204030204" pitchFamily="49" charset="0"/>
              </a:rPr>
              <a:t>english.speak</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484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2589-EF5E-527B-07BA-3863E6EB75CE}"/>
            </a:ext>
          </a:extLst>
        </p:cNvPr>
        <p:cNvGrpSpPr/>
        <p:nvPr/>
      </p:nvGrpSpPr>
      <p:grpSpPr>
        <a:xfrm>
          <a:off x="0" y="0"/>
          <a:ext cx="0" cy="0"/>
          <a:chOff x="0" y="0"/>
          <a:chExt cx="0" cy="0"/>
        </a:xfrm>
      </p:grpSpPr>
      <p:pic>
        <p:nvPicPr>
          <p:cNvPr id="8194" name="Picture 2" descr="information centrale partagée par tous les extraterrestres">
            <a:extLst>
              <a:ext uri="{FF2B5EF4-FFF2-40B4-BE49-F238E27FC236}">
                <a16:creationId xmlns:a16="http://schemas.microsoft.com/office/drawing/2014/main" id="{C7B07691-3F8E-A433-90E6-E7DFF25ED4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A6E67D6F-4081-D422-C6CB-C19C081D70B2}"/>
              </a:ext>
            </a:extLst>
          </p:cNvPr>
          <p:cNvSpPr txBox="1"/>
          <p:nvPr/>
        </p:nvSpPr>
        <p:spPr>
          <a:xfrm>
            <a:off x="838200" y="947821"/>
            <a:ext cx="10515600" cy="1015663"/>
          </a:xfrm>
          <a:prstGeom prst="rect">
            <a:avLst/>
          </a:prstGeom>
          <a:solidFill>
            <a:srgbClr val="D785BE">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err="1">
                <a:latin typeface="Consolas" panose="020B0609020204030204" pitchFamily="49" charset="0"/>
                <a:cs typeface="Consolas" panose="020B0609020204030204" pitchFamily="49" charset="0"/>
              </a:rPr>
              <a:t>static</a:t>
            </a:r>
            <a:endParaRPr lang="fr-FR" sz="1600" b="1" dirty="0">
              <a:ln w="0"/>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endParaRPr>
          </a:p>
        </p:txBody>
      </p:sp>
      <p:sp>
        <p:nvSpPr>
          <p:cNvPr id="3" name="ZoneTexte 2">
            <a:extLst>
              <a:ext uri="{FF2B5EF4-FFF2-40B4-BE49-F238E27FC236}">
                <a16:creationId xmlns:a16="http://schemas.microsoft.com/office/drawing/2014/main" id="{EFE09D59-0654-96B4-5F5D-3C14D00F9CC4}"/>
              </a:ext>
            </a:extLst>
          </p:cNvPr>
          <p:cNvSpPr txBox="1"/>
          <p:nvPr/>
        </p:nvSpPr>
        <p:spPr>
          <a:xfrm>
            <a:off x="838200" y="2139312"/>
            <a:ext cx="10515600" cy="461665"/>
          </a:xfrm>
          <a:prstGeom prst="rect">
            <a:avLst/>
          </a:prstGeom>
          <a:solidFill>
            <a:srgbClr val="D785BE">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err="1">
                <a:latin typeface="Consolas" panose="020B0609020204030204" pitchFamily="49" charset="0"/>
                <a:cs typeface="Consolas" panose="020B0609020204030204" pitchFamily="49" charset="0"/>
              </a:rPr>
              <a:t>static</a:t>
            </a:r>
            <a:r>
              <a:rPr lang="fr-FR" sz="2400" dirty="0"/>
              <a:t> = défini au niveau de la classe, pas pour chaque objet</a:t>
            </a:r>
          </a:p>
        </p:txBody>
      </p:sp>
    </p:spTree>
    <p:extLst>
      <p:ext uri="{BB962C8B-B14F-4D97-AF65-F5344CB8AC3E}">
        <p14:creationId xmlns:p14="http://schemas.microsoft.com/office/powerpoint/2010/main" val="350037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et méthodes de classe</a:t>
            </a:r>
          </a:p>
        </p:txBody>
      </p:sp>
      <p:sp>
        <p:nvSpPr>
          <p:cNvPr id="6" name="Espace réservé du contenu 5"/>
          <p:cNvSpPr>
            <a:spLocks noGrp="1"/>
          </p:cNvSpPr>
          <p:nvPr>
            <p:ph idx="1"/>
          </p:nvPr>
        </p:nvSpPr>
        <p:spPr/>
        <p:txBody>
          <a:bodyPr>
            <a:normAutofit lnSpcReduction="10000"/>
          </a:bodyPr>
          <a:lstStyle/>
          <a:p>
            <a:pPr marL="0" indent="0">
              <a:buNone/>
            </a:pPr>
            <a:r>
              <a:rPr lang="nl-BE" dirty="0"/>
              <a:t>Il est possible, en Java, de définir des champs qui, plutôt que d'exister dans chaque instance de la classe, existent en un seul exemplaire pour toutes les instances de la classe. </a:t>
            </a:r>
          </a:p>
          <a:p>
            <a:pPr marL="0" indent="0">
              <a:buNone/>
            </a:pPr>
            <a:r>
              <a:rPr lang="nl-BE" dirty="0"/>
              <a:t>On les appelle les </a:t>
            </a:r>
            <a:r>
              <a:rPr lang="nl-BE" dirty="0">
                <a:solidFill>
                  <a:schemeClr val="accent4"/>
                </a:solidFill>
              </a:rPr>
              <a:t>champs de classe</a:t>
            </a:r>
            <a:r>
              <a:rPr lang="nl-BE" dirty="0"/>
              <a:t>, ou </a:t>
            </a:r>
            <a:r>
              <a:rPr lang="nl-BE" dirty="0">
                <a:solidFill>
                  <a:schemeClr val="accent4"/>
                </a:solidFill>
              </a:rPr>
              <a:t>champs statiques</a:t>
            </a:r>
            <a:r>
              <a:rPr lang="nl-BE" dirty="0"/>
              <a:t>.</a:t>
            </a:r>
          </a:p>
          <a:p>
            <a:pPr marL="0" indent="0">
              <a:buNone/>
            </a:pPr>
            <a:endParaRPr lang="nl-BE" dirty="0"/>
          </a:p>
          <a:p>
            <a:pPr marL="0" indent="0">
              <a:buNone/>
            </a:pPr>
            <a:r>
              <a:rPr lang="nl-BE" dirty="0"/>
              <a:t>On peut aussi définir des </a:t>
            </a:r>
            <a:r>
              <a:rPr lang="nl-BE" dirty="0">
                <a:solidFill>
                  <a:schemeClr val="accent4"/>
                </a:solidFill>
              </a:rPr>
              <a:t>méthodes de classe </a:t>
            </a:r>
            <a:r>
              <a:rPr lang="nl-BE" dirty="0"/>
              <a:t>(statiques), qui peuvent être appelées indépendamment de tout objet (donc sans nécessairement devoir créer d'objet).</a:t>
            </a:r>
          </a:p>
          <a:p>
            <a:pPr marL="0" indent="0">
              <a:buNone/>
            </a:pPr>
            <a:r>
              <a:rPr lang="nl-BE" dirty="0"/>
              <a:t>C'est le cas de la méthode </a:t>
            </a:r>
            <a:r>
              <a:rPr lang="nl-BE" sz="2600" dirty="0">
                <a:solidFill>
                  <a:schemeClr val="accent4"/>
                </a:solidFill>
                <a:latin typeface="Consolas"/>
                <a:cs typeface="Consolas"/>
              </a:rPr>
              <a:t>main()</a:t>
            </a:r>
            <a:r>
              <a:rPr lang="nl-BE" dirty="0"/>
              <a:t>, mais aussi des différentes méthodes rencontrées sur la classe </a:t>
            </a:r>
            <a:r>
              <a:rPr lang="nl-BE" sz="2600" dirty="0">
                <a:solidFill>
                  <a:schemeClr val="accent4"/>
                </a:solidFill>
                <a:latin typeface="Consolas"/>
                <a:cs typeface="Consolas"/>
              </a:rPr>
              <a:t>Math</a:t>
            </a:r>
            <a:r>
              <a:rPr lang="nl-BE" dirty="0"/>
              <a:t> (</a:t>
            </a:r>
            <a:r>
              <a:rPr lang="nl-BE" sz="2600" dirty="0">
                <a:solidFill>
                  <a:schemeClr val="accent4"/>
                </a:solidFill>
                <a:latin typeface="Consolas"/>
                <a:cs typeface="Consolas"/>
              </a:rPr>
              <a:t>Math.sqrt()</a:t>
            </a:r>
            <a:r>
              <a:rPr lang="nl-BE" dirty="0"/>
              <a:t>, par exemple).</a:t>
            </a:r>
          </a:p>
        </p:txBody>
      </p:sp>
      <p:sp>
        <p:nvSpPr>
          <p:cNvPr id="2" name="Espace réservé du numéro de diapositive 1">
            <a:extLst>
              <a:ext uri="{FF2B5EF4-FFF2-40B4-BE49-F238E27FC236}">
                <a16:creationId xmlns:a16="http://schemas.microsoft.com/office/drawing/2014/main" id="{84D91AEC-2027-5E2B-2E0F-806A242E232F}"/>
              </a:ext>
            </a:extLst>
          </p:cNvPr>
          <p:cNvSpPr>
            <a:spLocks noGrp="1"/>
          </p:cNvSpPr>
          <p:nvPr>
            <p:ph type="sldNum" sz="quarter" idx="4"/>
          </p:nvPr>
        </p:nvSpPr>
        <p:spPr/>
        <p:txBody>
          <a:bodyPr/>
          <a:lstStyle/>
          <a:p>
            <a:fld id="{33C783E2-4793-4F48-A271-51A73CC37D74}" type="slidenum">
              <a:rPr lang="fr-FR" smtClean="0"/>
              <a:t>39</a:t>
            </a:fld>
            <a:endParaRPr lang="fr-FR" dirty="0"/>
          </a:p>
        </p:txBody>
      </p:sp>
    </p:spTree>
    <p:extLst>
      <p:ext uri="{BB962C8B-B14F-4D97-AF65-F5344CB8AC3E}">
        <p14:creationId xmlns:p14="http://schemas.microsoft.com/office/powerpoint/2010/main" val="122269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d’objets</a:t>
            </a:r>
          </a:p>
        </p:txBody>
      </p:sp>
      <p:sp>
        <p:nvSpPr>
          <p:cNvPr id="6" name="Espace réservé du contenu 5"/>
          <p:cNvSpPr>
            <a:spLocks noGrp="1"/>
          </p:cNvSpPr>
          <p:nvPr>
            <p:ph idx="1"/>
          </p:nvPr>
        </p:nvSpPr>
        <p:spPr/>
        <p:txBody>
          <a:bodyPr>
            <a:normAutofit/>
          </a:bodyPr>
          <a:lstStyle/>
          <a:p>
            <a:pPr marL="0" indent="0">
              <a:buNone/>
            </a:pPr>
            <a:r>
              <a:rPr lang="nl-BE" u="sng" dirty="0"/>
              <a:t>Premier exemple</a:t>
            </a:r>
          </a:p>
          <a:p>
            <a:pPr marL="0" indent="0">
              <a:buNone/>
            </a:pPr>
            <a:r>
              <a:rPr lang="nl-BE" dirty="0"/>
              <a:t>1. Soit une classe très simple:</a:t>
            </a:r>
          </a:p>
          <a:p>
            <a:pPr marL="0" indent="0" algn="ctr">
              <a:buNone/>
            </a:pPr>
            <a:r>
              <a:rPr lang="nl-BE" sz="2600" dirty="0">
                <a:solidFill>
                  <a:schemeClr val="accent4"/>
                </a:solidFill>
                <a:latin typeface="Consolas"/>
                <a:cs typeface="Consolas"/>
              </a:rPr>
              <a:t>class A { int n;  float y; }</a:t>
            </a:r>
          </a:p>
          <a:p>
            <a:pPr marL="0" indent="0">
              <a:buNone/>
            </a:pPr>
            <a:endParaRPr lang="nl-BE" sz="800" dirty="0"/>
          </a:p>
          <a:p>
            <a:pPr marL="0" indent="0">
              <a:buNone/>
            </a:pPr>
            <a:r>
              <a:rPr lang="nl-BE" dirty="0"/>
              <a:t>Chaque objet de type </a:t>
            </a:r>
            <a:r>
              <a:rPr lang="nl-BE" sz="2600" dirty="0">
                <a:solidFill>
                  <a:schemeClr val="accent4"/>
                </a:solidFill>
                <a:latin typeface="Consolas"/>
                <a:cs typeface="Consolas"/>
              </a:rPr>
              <a:t>A</a:t>
            </a:r>
            <a:r>
              <a:rPr lang="nl-BE" dirty="0"/>
              <a:t> possède ses propres champs </a:t>
            </a:r>
            <a:r>
              <a:rPr lang="nl-BE" sz="2600" dirty="0">
                <a:solidFill>
                  <a:schemeClr val="accent4"/>
                </a:solidFill>
                <a:latin typeface="Consolas"/>
                <a:cs typeface="Consolas"/>
              </a:rPr>
              <a:t>n</a:t>
            </a:r>
            <a:r>
              <a:rPr lang="nl-BE" dirty="0"/>
              <a:t> et </a:t>
            </a:r>
            <a:r>
              <a:rPr lang="nl-BE" sz="2600" dirty="0">
                <a:solidFill>
                  <a:schemeClr val="accent4"/>
                </a:solidFill>
                <a:latin typeface="Consolas"/>
                <a:cs typeface="Consolas"/>
              </a:rPr>
              <a:t>y</a:t>
            </a:r>
            <a:r>
              <a:rPr lang="nl-BE" dirty="0"/>
              <a:t>.</a:t>
            </a:r>
          </a:p>
          <a:p>
            <a:pPr marL="0" indent="0" algn="ctr">
              <a:buNone/>
            </a:pPr>
            <a:r>
              <a:rPr lang="nl-BE" sz="2600" dirty="0">
                <a:solidFill>
                  <a:schemeClr val="accent4"/>
                </a:solidFill>
                <a:latin typeface="Consolas"/>
                <a:cs typeface="Consolas"/>
              </a:rPr>
              <a:t>A a1 = new A();   A a2 = new A();</a:t>
            </a:r>
            <a:r>
              <a:rPr lang="nl-BE" dirty="0">
                <a:solidFill>
                  <a:srgbClr val="A6082B"/>
                </a:solidFill>
                <a:latin typeface="Consolas"/>
                <a:cs typeface="Consolas"/>
              </a:rPr>
              <a:t> </a:t>
            </a:r>
          </a:p>
          <a:p>
            <a:endParaRPr lang="nl-BE" dirty="0"/>
          </a:p>
        </p:txBody>
      </p:sp>
      <p:grpSp>
        <p:nvGrpSpPr>
          <p:cNvPr id="8" name="Grouper 7"/>
          <p:cNvGrpSpPr/>
          <p:nvPr/>
        </p:nvGrpSpPr>
        <p:grpSpPr>
          <a:xfrm>
            <a:off x="2497653" y="4840248"/>
            <a:ext cx="1844782" cy="1174262"/>
            <a:chOff x="5979669" y="4232389"/>
            <a:chExt cx="1844782" cy="1174262"/>
          </a:xfrm>
        </p:grpSpPr>
        <p:grpSp>
          <p:nvGrpSpPr>
            <p:cNvPr id="10" name="Group 15"/>
            <p:cNvGrpSpPr/>
            <p:nvPr/>
          </p:nvGrpSpPr>
          <p:grpSpPr>
            <a:xfrm>
              <a:off x="6026774" y="4232389"/>
              <a:ext cx="1797677" cy="1174262"/>
              <a:chOff x="1233809" y="2766600"/>
              <a:chExt cx="6410025" cy="3300635"/>
            </a:xfrm>
          </p:grpSpPr>
          <p:grpSp>
            <p:nvGrpSpPr>
              <p:cNvPr id="17" name="Group 5"/>
              <p:cNvGrpSpPr/>
              <p:nvPr/>
            </p:nvGrpSpPr>
            <p:grpSpPr>
              <a:xfrm>
                <a:off x="1233809" y="2766600"/>
                <a:ext cx="6410025" cy="1155222"/>
                <a:chOff x="34" y="21882"/>
                <a:chExt cx="3338191" cy="1155222"/>
              </a:xfrm>
              <a:scene3d>
                <a:camera prst="orthographicFront"/>
                <a:lightRig rig="chilly" dir="t"/>
              </a:scene3d>
            </p:grpSpPr>
            <p:sp>
              <p:nvSpPr>
                <p:cNvPr id="19"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A a1</a:t>
                  </a:r>
                </a:p>
              </p:txBody>
            </p:sp>
            <p:sp>
              <p:nvSpPr>
                <p:cNvPr id="20"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18" name="Rectangle 17"/>
              <p:cNvSpPr/>
              <p:nvPr/>
            </p:nvSpPr>
            <p:spPr>
              <a:xfrm>
                <a:off x="1233809" y="3921822"/>
                <a:ext cx="6410025" cy="2145413"/>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11" name="Rectangle 10"/>
            <p:cNvSpPr/>
            <p:nvPr/>
          </p:nvSpPr>
          <p:spPr>
            <a:xfrm>
              <a:off x="7058186" y="4803894"/>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12" name="Rectangle 11"/>
            <p:cNvSpPr/>
            <p:nvPr/>
          </p:nvSpPr>
          <p:spPr>
            <a:xfrm>
              <a:off x="7058186" y="50896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13" name="Rectangle 12"/>
            <p:cNvSpPr/>
            <p:nvPr/>
          </p:nvSpPr>
          <p:spPr>
            <a:xfrm>
              <a:off x="6223325" y="4688444"/>
              <a:ext cx="846406" cy="369332"/>
            </a:xfrm>
            <a:prstGeom prst="rect">
              <a:avLst/>
            </a:prstGeom>
          </p:spPr>
          <p:txBody>
            <a:bodyPr wrap="none">
              <a:spAutoFit/>
            </a:bodyPr>
            <a:lstStyle/>
            <a:p>
              <a:r>
                <a:rPr lang="fr-BE" b="1" i="1" dirty="0">
                  <a:latin typeface="Consolas"/>
                  <a:cs typeface="Consolas"/>
                </a:rPr>
                <a:t>int</a:t>
              </a:r>
              <a:r>
                <a:rPr lang="fr-BE" b="1" dirty="0">
                  <a:latin typeface="Consolas"/>
                  <a:cs typeface="Consolas"/>
                </a:rPr>
                <a:t> n</a:t>
              </a:r>
              <a:endParaRPr lang="fr-FR" dirty="0"/>
            </a:p>
          </p:txBody>
        </p:sp>
        <p:sp>
          <p:nvSpPr>
            <p:cNvPr id="14" name="Rectangle 13"/>
            <p:cNvSpPr/>
            <p:nvPr/>
          </p:nvSpPr>
          <p:spPr>
            <a:xfrm>
              <a:off x="5979669" y="4992730"/>
              <a:ext cx="1102886" cy="369332"/>
            </a:xfrm>
            <a:prstGeom prst="rect">
              <a:avLst/>
            </a:prstGeom>
          </p:spPr>
          <p:txBody>
            <a:bodyPr wrap="none">
              <a:spAutoFit/>
            </a:bodyPr>
            <a:lstStyle/>
            <a:p>
              <a:pPr algn="r"/>
              <a:r>
                <a:rPr lang="fr-BE" b="1" i="1" dirty="0">
                  <a:latin typeface="Consolas"/>
                  <a:cs typeface="Consolas"/>
                </a:rPr>
                <a:t>float</a:t>
              </a:r>
              <a:r>
                <a:rPr lang="fr-BE" b="1" dirty="0">
                  <a:latin typeface="Consolas"/>
                  <a:cs typeface="Consolas"/>
                </a:rPr>
                <a:t> y</a:t>
              </a:r>
              <a:endParaRPr lang="fr-FR" dirty="0"/>
            </a:p>
          </p:txBody>
        </p:sp>
        <p:sp>
          <p:nvSpPr>
            <p:cNvPr id="15" name="Rectangle 14"/>
            <p:cNvSpPr/>
            <p:nvPr/>
          </p:nvSpPr>
          <p:spPr>
            <a:xfrm>
              <a:off x="7215221" y="4711534"/>
              <a:ext cx="311579" cy="369332"/>
            </a:xfrm>
            <a:prstGeom prst="rect">
              <a:avLst/>
            </a:prstGeom>
          </p:spPr>
          <p:txBody>
            <a:bodyPr wrap="none">
              <a:spAutoFit/>
            </a:bodyPr>
            <a:lstStyle/>
            <a:p>
              <a:pPr algn="ctr"/>
              <a:r>
                <a:rPr lang="fr-BE" dirty="0">
                  <a:solidFill>
                    <a:schemeClr val="accent4"/>
                  </a:solidFill>
                  <a:latin typeface="Consolas"/>
                  <a:cs typeface="Consolas"/>
                </a:rPr>
                <a:t>0</a:t>
              </a:r>
              <a:endParaRPr lang="fr-FR" dirty="0">
                <a:solidFill>
                  <a:schemeClr val="accent4"/>
                </a:solidFill>
              </a:endParaRPr>
            </a:p>
          </p:txBody>
        </p:sp>
        <p:sp>
          <p:nvSpPr>
            <p:cNvPr id="16" name="Rectangle 15"/>
            <p:cNvSpPr/>
            <p:nvPr/>
          </p:nvSpPr>
          <p:spPr>
            <a:xfrm>
              <a:off x="7116775" y="5015820"/>
              <a:ext cx="521297" cy="338554"/>
            </a:xfrm>
            <a:prstGeom prst="rect">
              <a:avLst/>
            </a:prstGeom>
          </p:spPr>
          <p:txBody>
            <a:bodyPr wrap="none">
              <a:spAutoFit/>
            </a:bodyPr>
            <a:lstStyle/>
            <a:p>
              <a:pPr algn="ctr"/>
              <a:r>
                <a:rPr lang="fr-BE" sz="1600" dirty="0">
                  <a:solidFill>
                    <a:schemeClr val="accent4"/>
                  </a:solidFill>
                  <a:latin typeface="Consolas"/>
                  <a:cs typeface="Consolas"/>
                </a:rPr>
                <a:t>0.0</a:t>
              </a:r>
              <a:endParaRPr lang="fr-FR" sz="1600" dirty="0">
                <a:solidFill>
                  <a:schemeClr val="accent4"/>
                </a:solidFill>
              </a:endParaRPr>
            </a:p>
          </p:txBody>
        </p:sp>
      </p:grpSp>
      <p:sp>
        <p:nvSpPr>
          <p:cNvPr id="2" name="Rectangle 1"/>
          <p:cNvSpPr/>
          <p:nvPr/>
        </p:nvSpPr>
        <p:spPr>
          <a:xfrm>
            <a:off x="4778076" y="5336377"/>
            <a:ext cx="692317" cy="369332"/>
          </a:xfrm>
          <a:prstGeom prst="rect">
            <a:avLst/>
          </a:prstGeom>
        </p:spPr>
        <p:txBody>
          <a:bodyPr wrap="none">
            <a:spAutoFit/>
          </a:bodyPr>
          <a:lstStyle/>
          <a:p>
            <a:r>
              <a:rPr lang="nl-BE" b="1" dirty="0">
                <a:solidFill>
                  <a:schemeClr val="accent4"/>
                </a:solidFill>
                <a:latin typeface="Consolas"/>
                <a:cs typeface="Consolas"/>
              </a:rPr>
              <a:t>a1.n</a:t>
            </a:r>
            <a:endParaRPr lang="fr-FR" b="1" dirty="0">
              <a:solidFill>
                <a:schemeClr val="accent4"/>
              </a:solidFill>
              <a:latin typeface="Consolas"/>
              <a:cs typeface="Consolas"/>
            </a:endParaRPr>
          </a:p>
        </p:txBody>
      </p:sp>
      <p:sp>
        <p:nvSpPr>
          <p:cNvPr id="33" name="Rectangle 32"/>
          <p:cNvSpPr/>
          <p:nvPr/>
        </p:nvSpPr>
        <p:spPr>
          <a:xfrm>
            <a:off x="8739909" y="5336377"/>
            <a:ext cx="692317" cy="369332"/>
          </a:xfrm>
          <a:prstGeom prst="rect">
            <a:avLst/>
          </a:prstGeom>
        </p:spPr>
        <p:txBody>
          <a:bodyPr wrap="none">
            <a:spAutoFit/>
          </a:bodyPr>
          <a:lstStyle/>
          <a:p>
            <a:r>
              <a:rPr lang="nl-BE" b="1" dirty="0">
                <a:solidFill>
                  <a:schemeClr val="accent4"/>
                </a:solidFill>
                <a:latin typeface="Consolas"/>
                <a:cs typeface="Consolas"/>
              </a:rPr>
              <a:t>a2.n</a:t>
            </a:r>
            <a:endParaRPr lang="fr-FR" b="1" dirty="0">
              <a:solidFill>
                <a:schemeClr val="accent4"/>
              </a:solidFill>
              <a:latin typeface="Consolas"/>
              <a:cs typeface="Consolas"/>
            </a:endParaRPr>
          </a:p>
        </p:txBody>
      </p:sp>
      <p:sp>
        <p:nvSpPr>
          <p:cNvPr id="34" name="Rectangle 33"/>
          <p:cNvSpPr/>
          <p:nvPr/>
        </p:nvSpPr>
        <p:spPr>
          <a:xfrm>
            <a:off x="4778076" y="5620207"/>
            <a:ext cx="710451" cy="369332"/>
          </a:xfrm>
          <a:prstGeom prst="rect">
            <a:avLst/>
          </a:prstGeom>
        </p:spPr>
        <p:txBody>
          <a:bodyPr wrap="none">
            <a:spAutoFit/>
          </a:bodyPr>
          <a:lstStyle/>
          <a:p>
            <a:r>
              <a:rPr lang="nl-BE" b="1" dirty="0">
                <a:solidFill>
                  <a:schemeClr val="accent4"/>
                </a:solidFill>
                <a:latin typeface="Consolas"/>
                <a:cs typeface="Consolas"/>
              </a:rPr>
              <a:t>a1.y</a:t>
            </a:r>
            <a:endParaRPr lang="fr-FR" b="1" dirty="0">
              <a:solidFill>
                <a:schemeClr val="accent4"/>
              </a:solidFill>
              <a:latin typeface="Consolas"/>
              <a:cs typeface="Consolas"/>
            </a:endParaRPr>
          </a:p>
        </p:txBody>
      </p:sp>
      <p:sp>
        <p:nvSpPr>
          <p:cNvPr id="35" name="Rectangle 34"/>
          <p:cNvSpPr/>
          <p:nvPr/>
        </p:nvSpPr>
        <p:spPr>
          <a:xfrm>
            <a:off x="8739909" y="5620207"/>
            <a:ext cx="710451" cy="369332"/>
          </a:xfrm>
          <a:prstGeom prst="rect">
            <a:avLst/>
          </a:prstGeom>
        </p:spPr>
        <p:txBody>
          <a:bodyPr wrap="none">
            <a:spAutoFit/>
          </a:bodyPr>
          <a:lstStyle/>
          <a:p>
            <a:r>
              <a:rPr lang="nl-BE" b="1" dirty="0">
                <a:solidFill>
                  <a:schemeClr val="accent4"/>
                </a:solidFill>
                <a:latin typeface="Consolas"/>
                <a:cs typeface="Consolas"/>
              </a:rPr>
              <a:t>a2.y</a:t>
            </a:r>
            <a:endParaRPr lang="fr-FR" b="1" dirty="0">
              <a:solidFill>
                <a:schemeClr val="accent4"/>
              </a:solidFill>
              <a:latin typeface="Consolas"/>
              <a:cs typeface="Consolas"/>
            </a:endParaRPr>
          </a:p>
        </p:txBody>
      </p:sp>
      <p:grpSp>
        <p:nvGrpSpPr>
          <p:cNvPr id="36" name="Grouper 35"/>
          <p:cNvGrpSpPr/>
          <p:nvPr/>
        </p:nvGrpSpPr>
        <p:grpSpPr>
          <a:xfrm>
            <a:off x="6470809" y="4840248"/>
            <a:ext cx="1844782" cy="1174262"/>
            <a:chOff x="5979669" y="4232389"/>
            <a:chExt cx="1844782" cy="1174262"/>
          </a:xfrm>
        </p:grpSpPr>
        <p:grpSp>
          <p:nvGrpSpPr>
            <p:cNvPr id="37" name="Group 15"/>
            <p:cNvGrpSpPr/>
            <p:nvPr/>
          </p:nvGrpSpPr>
          <p:grpSpPr>
            <a:xfrm>
              <a:off x="6026774" y="4232389"/>
              <a:ext cx="1797677" cy="1174262"/>
              <a:chOff x="1233809" y="2766600"/>
              <a:chExt cx="6410025" cy="3300635"/>
            </a:xfrm>
          </p:grpSpPr>
          <p:grpSp>
            <p:nvGrpSpPr>
              <p:cNvPr id="44" name="Group 5"/>
              <p:cNvGrpSpPr/>
              <p:nvPr/>
            </p:nvGrpSpPr>
            <p:grpSpPr>
              <a:xfrm>
                <a:off x="1233809" y="2766600"/>
                <a:ext cx="6410025" cy="1155222"/>
                <a:chOff x="34" y="21882"/>
                <a:chExt cx="3338191" cy="1155222"/>
              </a:xfrm>
              <a:scene3d>
                <a:camera prst="orthographicFront"/>
                <a:lightRig rig="chilly" dir="t"/>
              </a:scene3d>
            </p:grpSpPr>
            <p:sp>
              <p:nvSpPr>
                <p:cNvPr id="46"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A a2</a:t>
                  </a:r>
                </a:p>
              </p:txBody>
            </p:sp>
            <p:sp>
              <p:nvSpPr>
                <p:cNvPr id="47"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45" name="Rectangle 44"/>
              <p:cNvSpPr/>
              <p:nvPr/>
            </p:nvSpPr>
            <p:spPr>
              <a:xfrm>
                <a:off x="1233809" y="3921822"/>
                <a:ext cx="6410025" cy="2145413"/>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38" name="Rectangle 37"/>
            <p:cNvSpPr/>
            <p:nvPr/>
          </p:nvSpPr>
          <p:spPr>
            <a:xfrm>
              <a:off x="7058186" y="4803894"/>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39" name="Rectangle 38"/>
            <p:cNvSpPr/>
            <p:nvPr/>
          </p:nvSpPr>
          <p:spPr>
            <a:xfrm>
              <a:off x="7058186" y="50896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40" name="Rectangle 39"/>
            <p:cNvSpPr/>
            <p:nvPr/>
          </p:nvSpPr>
          <p:spPr>
            <a:xfrm>
              <a:off x="6223325" y="4688444"/>
              <a:ext cx="846406" cy="369332"/>
            </a:xfrm>
            <a:prstGeom prst="rect">
              <a:avLst/>
            </a:prstGeom>
          </p:spPr>
          <p:txBody>
            <a:bodyPr wrap="none">
              <a:spAutoFit/>
            </a:bodyPr>
            <a:lstStyle/>
            <a:p>
              <a:r>
                <a:rPr lang="fr-BE" b="1" i="1" dirty="0">
                  <a:latin typeface="Consolas"/>
                  <a:cs typeface="Consolas"/>
                </a:rPr>
                <a:t>int</a:t>
              </a:r>
              <a:r>
                <a:rPr lang="fr-BE" b="1" dirty="0">
                  <a:latin typeface="Consolas"/>
                  <a:cs typeface="Consolas"/>
                </a:rPr>
                <a:t> n</a:t>
              </a:r>
              <a:endParaRPr lang="fr-FR" dirty="0"/>
            </a:p>
          </p:txBody>
        </p:sp>
        <p:sp>
          <p:nvSpPr>
            <p:cNvPr id="41" name="Rectangle 40"/>
            <p:cNvSpPr/>
            <p:nvPr/>
          </p:nvSpPr>
          <p:spPr>
            <a:xfrm>
              <a:off x="5979669" y="4992730"/>
              <a:ext cx="1102886" cy="369332"/>
            </a:xfrm>
            <a:prstGeom prst="rect">
              <a:avLst/>
            </a:prstGeom>
          </p:spPr>
          <p:txBody>
            <a:bodyPr wrap="none">
              <a:spAutoFit/>
            </a:bodyPr>
            <a:lstStyle/>
            <a:p>
              <a:pPr algn="r"/>
              <a:r>
                <a:rPr lang="fr-BE" b="1" i="1" dirty="0">
                  <a:latin typeface="Consolas"/>
                  <a:cs typeface="Consolas"/>
                </a:rPr>
                <a:t>float</a:t>
              </a:r>
              <a:r>
                <a:rPr lang="fr-BE" b="1" dirty="0">
                  <a:latin typeface="Consolas"/>
                  <a:cs typeface="Consolas"/>
                </a:rPr>
                <a:t> y</a:t>
              </a:r>
              <a:endParaRPr lang="fr-FR" dirty="0"/>
            </a:p>
          </p:txBody>
        </p:sp>
        <p:sp>
          <p:nvSpPr>
            <p:cNvPr id="42" name="Rectangle 41"/>
            <p:cNvSpPr/>
            <p:nvPr/>
          </p:nvSpPr>
          <p:spPr>
            <a:xfrm>
              <a:off x="7215221" y="4711534"/>
              <a:ext cx="311579" cy="369332"/>
            </a:xfrm>
            <a:prstGeom prst="rect">
              <a:avLst/>
            </a:prstGeom>
          </p:spPr>
          <p:txBody>
            <a:bodyPr wrap="none">
              <a:spAutoFit/>
            </a:bodyPr>
            <a:lstStyle/>
            <a:p>
              <a:pPr algn="ctr"/>
              <a:r>
                <a:rPr lang="fr-BE" dirty="0">
                  <a:solidFill>
                    <a:schemeClr val="accent4"/>
                  </a:solidFill>
                  <a:latin typeface="Consolas"/>
                  <a:cs typeface="Consolas"/>
                </a:rPr>
                <a:t>0</a:t>
              </a:r>
              <a:endParaRPr lang="fr-FR" dirty="0">
                <a:solidFill>
                  <a:schemeClr val="accent4"/>
                </a:solidFill>
              </a:endParaRPr>
            </a:p>
          </p:txBody>
        </p:sp>
        <p:sp>
          <p:nvSpPr>
            <p:cNvPr id="43" name="Rectangle 42"/>
            <p:cNvSpPr/>
            <p:nvPr/>
          </p:nvSpPr>
          <p:spPr>
            <a:xfrm>
              <a:off x="7116775" y="5015820"/>
              <a:ext cx="521297" cy="338554"/>
            </a:xfrm>
            <a:prstGeom prst="rect">
              <a:avLst/>
            </a:prstGeom>
          </p:spPr>
          <p:txBody>
            <a:bodyPr wrap="none">
              <a:spAutoFit/>
            </a:bodyPr>
            <a:lstStyle/>
            <a:p>
              <a:pPr algn="ctr"/>
              <a:r>
                <a:rPr lang="fr-BE" sz="1600" dirty="0">
                  <a:solidFill>
                    <a:schemeClr val="accent4"/>
                  </a:solidFill>
                  <a:latin typeface="Consolas"/>
                  <a:cs typeface="Consolas"/>
                </a:rPr>
                <a:t>0.0</a:t>
              </a:r>
              <a:endParaRPr lang="fr-FR" sz="1600" dirty="0">
                <a:solidFill>
                  <a:schemeClr val="accent4"/>
                </a:solidFill>
              </a:endParaRPr>
            </a:p>
          </p:txBody>
        </p:sp>
      </p:grpSp>
      <p:cxnSp>
        <p:nvCxnSpPr>
          <p:cNvPr id="4" name="Connecteur droit avec flèche 3"/>
          <p:cNvCxnSpPr>
            <a:stCxn id="2" idx="1"/>
            <a:endCxn id="11" idx="3"/>
          </p:cNvCxnSpPr>
          <p:nvPr/>
        </p:nvCxnSpPr>
        <p:spPr>
          <a:xfrm flipH="1" flipV="1">
            <a:off x="4219113" y="5518911"/>
            <a:ext cx="558963" cy="213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0" name="Connecteur droit avec flèche 49"/>
          <p:cNvCxnSpPr>
            <a:stCxn id="34" idx="1"/>
            <a:endCxn id="12" idx="3"/>
          </p:cNvCxnSpPr>
          <p:nvPr/>
        </p:nvCxnSpPr>
        <p:spPr>
          <a:xfrm flipH="1" flipV="1">
            <a:off x="4219113" y="5804661"/>
            <a:ext cx="558963" cy="21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Connecteur droit avec flèche 52"/>
          <p:cNvCxnSpPr>
            <a:stCxn id="33" idx="1"/>
            <a:endCxn id="38" idx="3"/>
          </p:cNvCxnSpPr>
          <p:nvPr/>
        </p:nvCxnSpPr>
        <p:spPr>
          <a:xfrm flipH="1" flipV="1">
            <a:off x="8192268" y="5518911"/>
            <a:ext cx="547640" cy="213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Connecteur droit avec flèche 53"/>
          <p:cNvCxnSpPr>
            <a:stCxn id="35" idx="1"/>
            <a:endCxn id="39" idx="3"/>
          </p:cNvCxnSpPr>
          <p:nvPr/>
        </p:nvCxnSpPr>
        <p:spPr>
          <a:xfrm flipH="1" flipV="1">
            <a:off x="8192268" y="5804661"/>
            <a:ext cx="547640" cy="21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F2970EA3-4F1D-0DE2-2ECD-43CF6D7E752D}"/>
              </a:ext>
            </a:extLst>
          </p:cNvPr>
          <p:cNvSpPr>
            <a:spLocks noGrp="1"/>
          </p:cNvSpPr>
          <p:nvPr>
            <p:ph type="sldNum" sz="quarter" idx="4"/>
          </p:nvPr>
        </p:nvSpPr>
        <p:spPr/>
        <p:txBody>
          <a:bodyPr/>
          <a:lstStyle/>
          <a:p>
            <a:fld id="{33C783E2-4793-4F48-A271-51A73CC37D74}" type="slidenum">
              <a:rPr lang="fr-FR" smtClean="0"/>
              <a:t>40</a:t>
            </a:fld>
            <a:endParaRPr lang="fr-FR" dirty="0"/>
          </a:p>
        </p:txBody>
      </p:sp>
    </p:spTree>
    <p:extLst>
      <p:ext uri="{BB962C8B-B14F-4D97-AF65-F5344CB8AC3E}">
        <p14:creationId xmlns:p14="http://schemas.microsoft.com/office/powerpoint/2010/main" val="19741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up)">
                                      <p:cBhvr>
                                        <p:cTn id="13" dur="500"/>
                                        <p:tgtEl>
                                          <p:spTgt spid="33"/>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500"/>
                                        <p:tgtEl>
                                          <p:spTgt spid="3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up)">
                                      <p:cBhvr>
                                        <p:cTn id="19" dur="500"/>
                                        <p:tgtEl>
                                          <p:spTgt spid="35"/>
                                        </p:tgtEl>
                                      </p:cBhvr>
                                    </p:animEffect>
                                  </p:childTnLst>
                                </p:cTn>
                              </p:par>
                              <p:par>
                                <p:cTn id="20" presetID="22" presetClass="entr" presetSubtype="1"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par>
                                <p:cTn id="23" presetID="22" presetClass="entr" presetSubtype="1"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par>
                                <p:cTn id="26" presetID="22" presetClass="entr" presetSubtype="1"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up)">
                                      <p:cBhvr>
                                        <p:cTn id="28" dur="500"/>
                                        <p:tgtEl>
                                          <p:spTgt spid="50"/>
                                        </p:tgtEl>
                                      </p:cBhvr>
                                    </p:animEffect>
                                  </p:childTnLst>
                                </p:cTn>
                              </p:par>
                              <p:par>
                                <p:cTn id="29" presetID="22" presetClass="entr" presetSubtype="1"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up)">
                                      <p:cBhvr>
                                        <p:cTn id="31" dur="500"/>
                                        <p:tgtEl>
                                          <p:spTgt spid="53"/>
                                        </p:tgtEl>
                                      </p:cBhvr>
                                    </p:animEffect>
                                  </p:childTnLst>
                                </p:cTn>
                              </p:par>
                              <p:par>
                                <p:cTn id="32" presetID="22" presetClass="entr" presetSubtype="1"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wipe(up)">
                                      <p:cBhvr>
                                        <p:cTn id="3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3" grpId="0"/>
      <p:bldP spid="34" grpId="0"/>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 de classe</a:t>
            </a:r>
          </a:p>
        </p:txBody>
      </p:sp>
      <p:sp>
        <p:nvSpPr>
          <p:cNvPr id="6" name="Espace réservé du contenu 5"/>
          <p:cNvSpPr>
            <a:spLocks noGrp="1"/>
          </p:cNvSpPr>
          <p:nvPr>
            <p:ph idx="1"/>
          </p:nvPr>
        </p:nvSpPr>
        <p:spPr/>
        <p:txBody>
          <a:bodyPr>
            <a:normAutofit/>
          </a:bodyPr>
          <a:lstStyle/>
          <a:p>
            <a:pPr marL="457200" indent="-457200">
              <a:buFont typeface="+mj-lt"/>
              <a:buAutoNum type="arabicPeriod" startAt="2"/>
            </a:pPr>
            <a:r>
              <a:rPr lang="nl-BE" sz="2600" dirty="0"/>
              <a:t>Définissons une autre classe dans laquelle le premier champ est </a:t>
            </a:r>
            <a:r>
              <a:rPr lang="nl-BE" sz="2400" dirty="0">
                <a:solidFill>
                  <a:schemeClr val="accent4"/>
                </a:solidFill>
                <a:latin typeface="Consolas"/>
                <a:cs typeface="Consolas"/>
              </a:rPr>
              <a:t>static</a:t>
            </a:r>
            <a:r>
              <a:rPr lang="nl-BE" sz="2600" dirty="0"/>
              <a:t>:  </a:t>
            </a:r>
          </a:p>
          <a:p>
            <a:pPr marL="0" indent="0" algn="ctr">
              <a:buNone/>
            </a:pPr>
            <a:r>
              <a:rPr lang="nl-BE" sz="2400" dirty="0">
                <a:solidFill>
                  <a:schemeClr val="accent4"/>
                </a:solidFill>
                <a:latin typeface="Consolas"/>
                <a:cs typeface="Consolas"/>
              </a:rPr>
              <a:t>class B { </a:t>
            </a:r>
            <a:r>
              <a:rPr lang="nl-BE" sz="2400" b="1" dirty="0">
                <a:solidFill>
                  <a:schemeClr val="accent2"/>
                </a:solidFill>
                <a:latin typeface="Consolas"/>
                <a:cs typeface="Consolas"/>
              </a:rPr>
              <a:t>static</a:t>
            </a:r>
            <a:r>
              <a:rPr lang="nl-BE" sz="2400" dirty="0">
                <a:solidFill>
                  <a:schemeClr val="accent4"/>
                </a:solidFill>
                <a:latin typeface="Consolas"/>
                <a:cs typeface="Consolas"/>
              </a:rPr>
              <a:t> int n;  float y;  }</a:t>
            </a:r>
            <a:r>
              <a:rPr lang="nl-BE" sz="2600" dirty="0">
                <a:solidFill>
                  <a:schemeClr val="accent4"/>
                </a:solidFill>
              </a:rPr>
              <a:t> </a:t>
            </a:r>
          </a:p>
          <a:p>
            <a:pPr marL="0" indent="0">
              <a:buNone/>
            </a:pPr>
            <a:r>
              <a:rPr lang="nl-BE" sz="2600" dirty="0"/>
              <a:t>Chaque objet de type </a:t>
            </a:r>
            <a:r>
              <a:rPr lang="nl-BE" sz="2400" dirty="0">
                <a:solidFill>
                  <a:schemeClr val="accent4"/>
                </a:solidFill>
                <a:latin typeface="Consolas"/>
                <a:cs typeface="Consolas"/>
              </a:rPr>
              <a:t>B</a:t>
            </a:r>
            <a:r>
              <a:rPr lang="nl-BE" sz="2600" dirty="0"/>
              <a:t> possède son propre champ </a:t>
            </a:r>
            <a:r>
              <a:rPr lang="nl-BE" sz="2400" dirty="0">
                <a:solidFill>
                  <a:schemeClr val="accent4"/>
                </a:solidFill>
                <a:latin typeface="Consolas"/>
                <a:cs typeface="Consolas"/>
              </a:rPr>
              <a:t>y</a:t>
            </a:r>
            <a:r>
              <a:rPr lang="nl-BE" sz="2600" dirty="0"/>
              <a:t>, mais </a:t>
            </a:r>
            <a:r>
              <a:rPr lang="nl-BE" sz="2400" dirty="0">
                <a:solidFill>
                  <a:schemeClr val="accent4"/>
                </a:solidFill>
                <a:latin typeface="Consolas"/>
                <a:cs typeface="Consolas"/>
              </a:rPr>
              <a:t>n</a:t>
            </a:r>
            <a:r>
              <a:rPr lang="nl-BE" sz="2600" dirty="0"/>
              <a:t> est maintenant commun (défini une seule fois pour toutes les instances de la classe). </a:t>
            </a:r>
          </a:p>
          <a:p>
            <a:pPr marL="0" indent="0" algn="ctr">
              <a:buNone/>
            </a:pPr>
            <a:r>
              <a:rPr lang="nl-BE" sz="2400" dirty="0">
                <a:solidFill>
                  <a:schemeClr val="accent4"/>
                </a:solidFill>
                <a:latin typeface="Consolas"/>
                <a:cs typeface="Consolas"/>
              </a:rPr>
              <a:t>B b1 = new B();   B b2 = new B();</a:t>
            </a:r>
            <a:r>
              <a:rPr lang="nl-BE" dirty="0">
                <a:solidFill>
                  <a:schemeClr val="accent4"/>
                </a:solidFill>
                <a:latin typeface="Consolas"/>
                <a:cs typeface="Consolas"/>
              </a:rPr>
              <a:t> </a:t>
            </a:r>
          </a:p>
          <a:p>
            <a:endParaRPr lang="nl-BE" dirty="0"/>
          </a:p>
        </p:txBody>
      </p:sp>
      <p:grpSp>
        <p:nvGrpSpPr>
          <p:cNvPr id="8" name="Grouper 7"/>
          <p:cNvGrpSpPr/>
          <p:nvPr/>
        </p:nvGrpSpPr>
        <p:grpSpPr>
          <a:xfrm>
            <a:off x="2482154" y="5194010"/>
            <a:ext cx="1844782" cy="990247"/>
            <a:chOff x="5979669" y="4232389"/>
            <a:chExt cx="1844782" cy="990247"/>
          </a:xfrm>
        </p:grpSpPr>
        <p:grpSp>
          <p:nvGrpSpPr>
            <p:cNvPr id="10" name="Group 15"/>
            <p:cNvGrpSpPr/>
            <p:nvPr/>
          </p:nvGrpSpPr>
          <p:grpSpPr>
            <a:xfrm>
              <a:off x="6026774" y="4232389"/>
              <a:ext cx="1797677" cy="990247"/>
              <a:chOff x="1233809" y="2766600"/>
              <a:chExt cx="6410025" cy="2783402"/>
            </a:xfrm>
          </p:grpSpPr>
          <p:grpSp>
            <p:nvGrpSpPr>
              <p:cNvPr id="17" name="Group 5"/>
              <p:cNvGrpSpPr/>
              <p:nvPr/>
            </p:nvGrpSpPr>
            <p:grpSpPr>
              <a:xfrm>
                <a:off x="1233809" y="2766600"/>
                <a:ext cx="6410025" cy="1155222"/>
                <a:chOff x="34" y="21882"/>
                <a:chExt cx="3338191" cy="1155222"/>
              </a:xfrm>
              <a:scene3d>
                <a:camera prst="orthographicFront"/>
                <a:lightRig rig="chilly" dir="t"/>
              </a:scene3d>
            </p:grpSpPr>
            <p:sp>
              <p:nvSpPr>
                <p:cNvPr id="19"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B b1</a:t>
                  </a:r>
                </a:p>
              </p:txBody>
            </p:sp>
            <p:sp>
              <p:nvSpPr>
                <p:cNvPr id="20"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18" name="Rectangle 17"/>
              <p:cNvSpPr/>
              <p:nvPr/>
            </p:nvSpPr>
            <p:spPr>
              <a:xfrm>
                <a:off x="1233809" y="3921823"/>
                <a:ext cx="6410025" cy="1628179"/>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12" name="Rectangle 11"/>
            <p:cNvSpPr/>
            <p:nvPr/>
          </p:nvSpPr>
          <p:spPr>
            <a:xfrm>
              <a:off x="7058186" y="48165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14" name="Rectangle 13"/>
            <p:cNvSpPr/>
            <p:nvPr/>
          </p:nvSpPr>
          <p:spPr>
            <a:xfrm>
              <a:off x="5979669" y="4719630"/>
              <a:ext cx="1102886" cy="369332"/>
            </a:xfrm>
            <a:prstGeom prst="rect">
              <a:avLst/>
            </a:prstGeom>
          </p:spPr>
          <p:txBody>
            <a:bodyPr wrap="none">
              <a:spAutoFit/>
            </a:bodyPr>
            <a:lstStyle/>
            <a:p>
              <a:pPr algn="r"/>
              <a:r>
                <a:rPr lang="fr-BE" b="1" i="1" dirty="0">
                  <a:latin typeface="Consolas"/>
                  <a:cs typeface="Consolas"/>
                </a:rPr>
                <a:t>float</a:t>
              </a:r>
              <a:r>
                <a:rPr lang="fr-BE" b="1" dirty="0">
                  <a:latin typeface="Consolas"/>
                  <a:cs typeface="Consolas"/>
                </a:rPr>
                <a:t> y</a:t>
              </a:r>
              <a:endParaRPr lang="fr-FR" dirty="0"/>
            </a:p>
          </p:txBody>
        </p:sp>
        <p:sp>
          <p:nvSpPr>
            <p:cNvPr id="16" name="Rectangle 15"/>
            <p:cNvSpPr/>
            <p:nvPr/>
          </p:nvSpPr>
          <p:spPr>
            <a:xfrm>
              <a:off x="7116775" y="4742720"/>
              <a:ext cx="521297" cy="338554"/>
            </a:xfrm>
            <a:prstGeom prst="rect">
              <a:avLst/>
            </a:prstGeom>
          </p:spPr>
          <p:txBody>
            <a:bodyPr wrap="none">
              <a:spAutoFit/>
            </a:bodyPr>
            <a:lstStyle/>
            <a:p>
              <a:pPr algn="ctr"/>
              <a:r>
                <a:rPr lang="fr-BE" sz="1600" dirty="0">
                  <a:solidFill>
                    <a:schemeClr val="accent4"/>
                  </a:solidFill>
                  <a:latin typeface="Consolas"/>
                  <a:cs typeface="Consolas"/>
                </a:rPr>
                <a:t>0.0</a:t>
              </a:r>
              <a:endParaRPr lang="fr-FR" sz="1600" dirty="0">
                <a:solidFill>
                  <a:schemeClr val="accent4"/>
                </a:solidFill>
              </a:endParaRPr>
            </a:p>
          </p:txBody>
        </p:sp>
      </p:grpSp>
      <p:sp>
        <p:nvSpPr>
          <p:cNvPr id="33" name="Rectangle 32"/>
          <p:cNvSpPr/>
          <p:nvPr/>
        </p:nvSpPr>
        <p:spPr>
          <a:xfrm>
            <a:off x="6593576" y="4815856"/>
            <a:ext cx="1580706" cy="369332"/>
          </a:xfrm>
          <a:prstGeom prst="rect">
            <a:avLst/>
          </a:prstGeom>
        </p:spPr>
        <p:txBody>
          <a:bodyPr wrap="none">
            <a:spAutoFit/>
          </a:bodyPr>
          <a:lstStyle/>
          <a:p>
            <a:r>
              <a:rPr lang="nl-BE" b="1" dirty="0">
                <a:solidFill>
                  <a:schemeClr val="accent4"/>
                </a:solidFill>
                <a:latin typeface="Consolas"/>
                <a:cs typeface="Consolas"/>
              </a:rPr>
              <a:t>b2.n ou B.n</a:t>
            </a:r>
            <a:endParaRPr lang="fr-FR" b="1" dirty="0">
              <a:solidFill>
                <a:schemeClr val="accent4"/>
              </a:solidFill>
              <a:latin typeface="Consolas"/>
              <a:cs typeface="Consolas"/>
            </a:endParaRPr>
          </a:p>
        </p:txBody>
      </p:sp>
      <p:sp>
        <p:nvSpPr>
          <p:cNvPr id="34" name="Rectangle 33"/>
          <p:cNvSpPr/>
          <p:nvPr/>
        </p:nvSpPr>
        <p:spPr>
          <a:xfrm>
            <a:off x="4778076" y="5700868"/>
            <a:ext cx="710451" cy="369332"/>
          </a:xfrm>
          <a:prstGeom prst="rect">
            <a:avLst/>
          </a:prstGeom>
        </p:spPr>
        <p:txBody>
          <a:bodyPr wrap="none">
            <a:spAutoFit/>
          </a:bodyPr>
          <a:lstStyle/>
          <a:p>
            <a:r>
              <a:rPr lang="nl-BE" b="1" dirty="0">
                <a:solidFill>
                  <a:schemeClr val="accent4"/>
                </a:solidFill>
                <a:latin typeface="Consolas"/>
                <a:cs typeface="Consolas"/>
              </a:rPr>
              <a:t>b1.y</a:t>
            </a:r>
            <a:endParaRPr lang="fr-FR" b="1" dirty="0">
              <a:solidFill>
                <a:schemeClr val="accent4"/>
              </a:solidFill>
              <a:latin typeface="Consolas"/>
              <a:cs typeface="Consolas"/>
            </a:endParaRPr>
          </a:p>
        </p:txBody>
      </p:sp>
      <p:sp>
        <p:nvSpPr>
          <p:cNvPr id="35" name="Rectangle 34"/>
          <p:cNvSpPr/>
          <p:nvPr/>
        </p:nvSpPr>
        <p:spPr>
          <a:xfrm>
            <a:off x="9601201" y="5700868"/>
            <a:ext cx="710451" cy="369332"/>
          </a:xfrm>
          <a:prstGeom prst="rect">
            <a:avLst/>
          </a:prstGeom>
        </p:spPr>
        <p:txBody>
          <a:bodyPr wrap="none">
            <a:spAutoFit/>
          </a:bodyPr>
          <a:lstStyle/>
          <a:p>
            <a:r>
              <a:rPr lang="nl-BE" b="1" dirty="0">
                <a:solidFill>
                  <a:schemeClr val="accent4"/>
                </a:solidFill>
                <a:latin typeface="Consolas"/>
                <a:cs typeface="Consolas"/>
              </a:rPr>
              <a:t>b2.y</a:t>
            </a:r>
            <a:endParaRPr lang="fr-FR" b="1" dirty="0">
              <a:solidFill>
                <a:schemeClr val="accent4"/>
              </a:solidFill>
              <a:latin typeface="Consolas"/>
              <a:cs typeface="Consolas"/>
            </a:endParaRPr>
          </a:p>
        </p:txBody>
      </p:sp>
      <p:grpSp>
        <p:nvGrpSpPr>
          <p:cNvPr id="36" name="Grouper 35"/>
          <p:cNvGrpSpPr/>
          <p:nvPr/>
        </p:nvGrpSpPr>
        <p:grpSpPr>
          <a:xfrm>
            <a:off x="7332101" y="5194010"/>
            <a:ext cx="1844782" cy="990247"/>
            <a:chOff x="5979669" y="4232389"/>
            <a:chExt cx="1844782" cy="990247"/>
          </a:xfrm>
        </p:grpSpPr>
        <p:grpSp>
          <p:nvGrpSpPr>
            <p:cNvPr id="37" name="Group 15"/>
            <p:cNvGrpSpPr/>
            <p:nvPr/>
          </p:nvGrpSpPr>
          <p:grpSpPr>
            <a:xfrm>
              <a:off x="6026774" y="4232389"/>
              <a:ext cx="1797677" cy="990247"/>
              <a:chOff x="1233809" y="2766600"/>
              <a:chExt cx="6410025" cy="2783403"/>
            </a:xfrm>
          </p:grpSpPr>
          <p:grpSp>
            <p:nvGrpSpPr>
              <p:cNvPr id="44" name="Group 5"/>
              <p:cNvGrpSpPr/>
              <p:nvPr/>
            </p:nvGrpSpPr>
            <p:grpSpPr>
              <a:xfrm>
                <a:off x="1233809" y="2766600"/>
                <a:ext cx="6410025" cy="1155222"/>
                <a:chOff x="34" y="21882"/>
                <a:chExt cx="3338191" cy="1155222"/>
              </a:xfrm>
              <a:scene3d>
                <a:camera prst="orthographicFront"/>
                <a:lightRig rig="chilly" dir="t"/>
              </a:scene3d>
            </p:grpSpPr>
            <p:sp>
              <p:nvSpPr>
                <p:cNvPr id="46"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B b2</a:t>
                  </a:r>
                </a:p>
              </p:txBody>
            </p:sp>
            <p:sp>
              <p:nvSpPr>
                <p:cNvPr id="47"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45" name="Rectangle 44"/>
              <p:cNvSpPr/>
              <p:nvPr/>
            </p:nvSpPr>
            <p:spPr>
              <a:xfrm>
                <a:off x="1233809" y="3921823"/>
                <a:ext cx="6410025" cy="1628180"/>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39" name="Rectangle 38"/>
            <p:cNvSpPr/>
            <p:nvPr/>
          </p:nvSpPr>
          <p:spPr>
            <a:xfrm>
              <a:off x="7058186" y="48165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accent4"/>
                </a:solidFill>
              </a:endParaRPr>
            </a:p>
          </p:txBody>
        </p:sp>
        <p:sp>
          <p:nvSpPr>
            <p:cNvPr id="41" name="Rectangle 40"/>
            <p:cNvSpPr/>
            <p:nvPr/>
          </p:nvSpPr>
          <p:spPr>
            <a:xfrm>
              <a:off x="5979669" y="4719630"/>
              <a:ext cx="1102886" cy="369332"/>
            </a:xfrm>
            <a:prstGeom prst="rect">
              <a:avLst/>
            </a:prstGeom>
          </p:spPr>
          <p:txBody>
            <a:bodyPr wrap="none">
              <a:spAutoFit/>
            </a:bodyPr>
            <a:lstStyle/>
            <a:p>
              <a:pPr algn="r"/>
              <a:r>
                <a:rPr lang="fr-BE" b="1" i="1" dirty="0">
                  <a:latin typeface="Consolas"/>
                  <a:cs typeface="Consolas"/>
                </a:rPr>
                <a:t>float</a:t>
              </a:r>
              <a:r>
                <a:rPr lang="fr-BE" b="1" dirty="0">
                  <a:latin typeface="Consolas"/>
                  <a:cs typeface="Consolas"/>
                </a:rPr>
                <a:t> y</a:t>
              </a:r>
              <a:endParaRPr lang="fr-FR" dirty="0"/>
            </a:p>
          </p:txBody>
        </p:sp>
        <p:sp>
          <p:nvSpPr>
            <p:cNvPr id="43" name="Rectangle 42"/>
            <p:cNvSpPr/>
            <p:nvPr/>
          </p:nvSpPr>
          <p:spPr>
            <a:xfrm>
              <a:off x="7116775" y="4742720"/>
              <a:ext cx="521297" cy="338554"/>
            </a:xfrm>
            <a:prstGeom prst="rect">
              <a:avLst/>
            </a:prstGeom>
          </p:spPr>
          <p:txBody>
            <a:bodyPr wrap="none">
              <a:spAutoFit/>
            </a:bodyPr>
            <a:lstStyle/>
            <a:p>
              <a:pPr algn="ctr"/>
              <a:r>
                <a:rPr lang="fr-BE" sz="1600" dirty="0">
                  <a:solidFill>
                    <a:schemeClr val="accent4"/>
                  </a:solidFill>
                  <a:latin typeface="Consolas"/>
                  <a:cs typeface="Consolas"/>
                </a:rPr>
                <a:t>0.0</a:t>
              </a:r>
              <a:endParaRPr lang="fr-FR" sz="1600" dirty="0">
                <a:solidFill>
                  <a:schemeClr val="accent4"/>
                </a:solidFill>
              </a:endParaRPr>
            </a:p>
          </p:txBody>
        </p:sp>
      </p:grpSp>
      <p:cxnSp>
        <p:nvCxnSpPr>
          <p:cNvPr id="50" name="Connecteur droit avec flèche 49"/>
          <p:cNvCxnSpPr>
            <a:stCxn id="34" idx="1"/>
            <a:endCxn id="12" idx="3"/>
          </p:cNvCxnSpPr>
          <p:nvPr/>
        </p:nvCxnSpPr>
        <p:spPr>
          <a:xfrm flipH="1" flipV="1">
            <a:off x="4203613" y="5885322"/>
            <a:ext cx="574462" cy="21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Connecteur droit avec flèche 52"/>
          <p:cNvCxnSpPr>
            <a:stCxn id="33" idx="1"/>
            <a:endCxn id="56" idx="3"/>
          </p:cNvCxnSpPr>
          <p:nvPr/>
        </p:nvCxnSpPr>
        <p:spPr>
          <a:xfrm flipH="1" flipV="1">
            <a:off x="6073538" y="4998390"/>
            <a:ext cx="520038" cy="213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Connecteur droit avec flèche 53"/>
          <p:cNvCxnSpPr>
            <a:stCxn id="35" idx="1"/>
            <a:endCxn id="39" idx="3"/>
          </p:cNvCxnSpPr>
          <p:nvPr/>
        </p:nvCxnSpPr>
        <p:spPr>
          <a:xfrm flipH="1" flipV="1">
            <a:off x="9053560" y="5885322"/>
            <a:ext cx="547640" cy="21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3394416" y="4815856"/>
            <a:ext cx="1580706" cy="369332"/>
          </a:xfrm>
          <a:prstGeom prst="rect">
            <a:avLst/>
          </a:prstGeom>
        </p:spPr>
        <p:txBody>
          <a:bodyPr wrap="none">
            <a:spAutoFit/>
          </a:bodyPr>
          <a:lstStyle/>
          <a:p>
            <a:r>
              <a:rPr lang="nl-BE" b="1" dirty="0">
                <a:solidFill>
                  <a:schemeClr val="accent4"/>
                </a:solidFill>
                <a:latin typeface="Consolas"/>
                <a:cs typeface="Consolas"/>
              </a:rPr>
              <a:t>b1.n ou B.n</a:t>
            </a:r>
            <a:endParaRPr lang="fr-FR" b="1" dirty="0">
              <a:solidFill>
                <a:schemeClr val="accent4"/>
              </a:solidFill>
              <a:latin typeface="Consolas"/>
              <a:cs typeface="Consolas"/>
            </a:endParaRPr>
          </a:p>
        </p:txBody>
      </p:sp>
      <p:cxnSp>
        <p:nvCxnSpPr>
          <p:cNvPr id="55" name="Connecteur droit avec flèche 54"/>
          <p:cNvCxnSpPr>
            <a:stCxn id="52" idx="3"/>
            <a:endCxn id="56" idx="1"/>
          </p:cNvCxnSpPr>
          <p:nvPr/>
        </p:nvCxnSpPr>
        <p:spPr>
          <a:xfrm flipV="1">
            <a:off x="4975122" y="4998390"/>
            <a:ext cx="455474" cy="213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5430596" y="4891232"/>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57" name="Rectangle 56"/>
          <p:cNvSpPr/>
          <p:nvPr/>
        </p:nvSpPr>
        <p:spPr>
          <a:xfrm>
            <a:off x="5357028" y="4577461"/>
            <a:ext cx="846406" cy="369332"/>
          </a:xfrm>
          <a:prstGeom prst="rect">
            <a:avLst/>
          </a:prstGeom>
        </p:spPr>
        <p:txBody>
          <a:bodyPr wrap="none">
            <a:spAutoFit/>
          </a:bodyPr>
          <a:lstStyle/>
          <a:p>
            <a:r>
              <a:rPr lang="fr-BE" b="1" i="1" dirty="0">
                <a:latin typeface="Consolas"/>
                <a:cs typeface="Consolas"/>
              </a:rPr>
              <a:t>int</a:t>
            </a:r>
            <a:r>
              <a:rPr lang="fr-BE" b="1" dirty="0">
                <a:latin typeface="Consolas"/>
                <a:cs typeface="Consolas"/>
              </a:rPr>
              <a:t> n</a:t>
            </a:r>
            <a:endParaRPr lang="fr-FR" dirty="0"/>
          </a:p>
        </p:txBody>
      </p:sp>
      <p:sp>
        <p:nvSpPr>
          <p:cNvPr id="58" name="Rectangle 57"/>
          <p:cNvSpPr/>
          <p:nvPr/>
        </p:nvSpPr>
        <p:spPr>
          <a:xfrm>
            <a:off x="5587632" y="4798872"/>
            <a:ext cx="311579" cy="369332"/>
          </a:xfrm>
          <a:prstGeom prst="rect">
            <a:avLst/>
          </a:prstGeom>
        </p:spPr>
        <p:txBody>
          <a:bodyPr wrap="none">
            <a:spAutoFit/>
          </a:bodyPr>
          <a:lstStyle/>
          <a:p>
            <a:pPr algn="ctr"/>
            <a:r>
              <a:rPr lang="fr-BE" dirty="0">
                <a:solidFill>
                  <a:schemeClr val="accent4"/>
                </a:solidFill>
                <a:latin typeface="Consolas"/>
                <a:cs typeface="Consolas"/>
              </a:rPr>
              <a:t>0</a:t>
            </a:r>
            <a:endParaRPr lang="fr-FR" dirty="0">
              <a:solidFill>
                <a:schemeClr val="accent4"/>
              </a:solidFill>
            </a:endParaRPr>
          </a:p>
        </p:txBody>
      </p:sp>
      <p:sp>
        <p:nvSpPr>
          <p:cNvPr id="2" name="Espace réservé du numéro de diapositive 1">
            <a:extLst>
              <a:ext uri="{FF2B5EF4-FFF2-40B4-BE49-F238E27FC236}">
                <a16:creationId xmlns:a16="http://schemas.microsoft.com/office/drawing/2014/main" id="{2B771DD6-BE2E-C9AD-EB94-52065FB15F16}"/>
              </a:ext>
            </a:extLst>
          </p:cNvPr>
          <p:cNvSpPr>
            <a:spLocks noGrp="1"/>
          </p:cNvSpPr>
          <p:nvPr>
            <p:ph type="sldNum" sz="quarter" idx="4"/>
          </p:nvPr>
        </p:nvSpPr>
        <p:spPr/>
        <p:txBody>
          <a:bodyPr/>
          <a:lstStyle/>
          <a:p>
            <a:fld id="{33C783E2-4793-4F48-A271-51A73CC37D74}" type="slidenum">
              <a:rPr lang="fr-FR" smtClean="0"/>
              <a:t>41</a:t>
            </a:fld>
            <a:endParaRPr lang="fr-FR" dirty="0"/>
          </a:p>
        </p:txBody>
      </p:sp>
    </p:spTree>
    <p:extLst>
      <p:ext uri="{BB962C8B-B14F-4D97-AF65-F5344CB8AC3E}">
        <p14:creationId xmlns:p14="http://schemas.microsoft.com/office/powerpoint/2010/main" val="3509324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up)">
                                      <p:cBhvr>
                                        <p:cTn id="10" dur="500"/>
                                        <p:tgtEl>
                                          <p:spTgt spid="3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up)">
                                      <p:cBhvr>
                                        <p:cTn id="13" dur="500"/>
                                        <p:tgtEl>
                                          <p:spTgt spid="35"/>
                                        </p:tgtEl>
                                      </p:cBhvr>
                                    </p:animEffect>
                                  </p:childTnLst>
                                </p:cTn>
                              </p:par>
                              <p:par>
                                <p:cTn id="14" presetID="22" presetClass="entr" presetSubtype="1"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par>
                                <p:cTn id="17" presetID="22" presetClass="entr" presetSubtype="1"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up)">
                                      <p:cBhvr>
                                        <p:cTn id="19" dur="500"/>
                                        <p:tgtEl>
                                          <p:spTgt spid="50"/>
                                        </p:tgtEl>
                                      </p:cBhvr>
                                    </p:animEffect>
                                  </p:childTnLst>
                                </p:cTn>
                              </p:par>
                              <p:par>
                                <p:cTn id="20" presetID="22" presetClass="entr" presetSubtype="1" fill="hold"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up)">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up)">
                                      <p:cBhvr>
                                        <p:cTn id="27" dur="500"/>
                                        <p:tgtEl>
                                          <p:spTgt spid="33"/>
                                        </p:tgtEl>
                                      </p:cBhvr>
                                    </p:animEffect>
                                  </p:childTnLst>
                                </p:cTn>
                              </p:par>
                              <p:par>
                                <p:cTn id="28" presetID="22" presetClass="entr" presetSubtype="1" fill="hold"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wipe(up)">
                                      <p:cBhvr>
                                        <p:cTn id="30" dur="500"/>
                                        <p:tgtEl>
                                          <p:spTgt spid="53"/>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up)">
                                      <p:cBhvr>
                                        <p:cTn id="33" dur="500"/>
                                        <p:tgtEl>
                                          <p:spTgt spid="52"/>
                                        </p:tgtEl>
                                      </p:cBhvr>
                                    </p:animEffect>
                                  </p:childTnLst>
                                </p:cTn>
                              </p:par>
                              <p:par>
                                <p:cTn id="34" presetID="22" presetClass="entr" presetSubtype="1" fill="hold"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wipe(up)">
                                      <p:cBhvr>
                                        <p:cTn id="36" dur="500"/>
                                        <p:tgtEl>
                                          <p:spTgt spid="55"/>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up)">
                                      <p:cBhvr>
                                        <p:cTn id="39" dur="500"/>
                                        <p:tgtEl>
                                          <p:spTgt spid="56"/>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wipe(up)">
                                      <p:cBhvr>
                                        <p:cTn id="42" dur="500"/>
                                        <p:tgtEl>
                                          <p:spTgt spid="5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wipe(up)">
                                      <p:cBhvr>
                                        <p:cTn id="4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52" grpId="0"/>
      <p:bldP spid="56" grpId="0" animBg="1"/>
      <p:bldP spid="57" grpId="0"/>
      <p:bldP spid="5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de classe</a:t>
            </a:r>
          </a:p>
        </p:txBody>
      </p:sp>
      <p:sp>
        <p:nvSpPr>
          <p:cNvPr id="6" name="Espace réservé du contenu 5"/>
          <p:cNvSpPr>
            <a:spLocks noGrp="1"/>
          </p:cNvSpPr>
          <p:nvPr>
            <p:ph idx="1"/>
          </p:nvPr>
        </p:nvSpPr>
        <p:spPr/>
        <p:txBody>
          <a:bodyPr>
            <a:normAutofit fontScale="85000" lnSpcReduction="20000"/>
          </a:bodyPr>
          <a:lstStyle/>
          <a:p>
            <a:pPr marL="0" indent="0">
              <a:buNone/>
            </a:pPr>
            <a:r>
              <a:rPr lang="nl-BE" dirty="0"/>
              <a:t>Une fois que le champ est static, les notations</a:t>
            </a:r>
          </a:p>
          <a:p>
            <a:pPr marL="0" indent="0" algn="ctr">
              <a:buNone/>
            </a:pPr>
            <a:r>
              <a:rPr lang="nl-BE" sz="2600" dirty="0">
                <a:solidFill>
                  <a:schemeClr val="accent4"/>
                </a:solidFill>
                <a:latin typeface="Consolas"/>
                <a:cs typeface="Consolas"/>
              </a:rPr>
              <a:t>b1.n   b2.n </a:t>
            </a:r>
            <a:r>
              <a:rPr lang="nl-BE" dirty="0">
                <a:solidFill>
                  <a:srgbClr val="A6082B"/>
                </a:solidFill>
                <a:latin typeface="Consolas"/>
                <a:cs typeface="Consolas"/>
              </a:rPr>
              <a:t>  </a:t>
            </a:r>
          </a:p>
          <a:p>
            <a:pPr marL="0" indent="0">
              <a:buNone/>
            </a:pPr>
            <a:r>
              <a:rPr lang="nl-BE" dirty="0"/>
              <a:t>définissent le même champ, qui existe en fait </a:t>
            </a:r>
            <a:r>
              <a:rPr lang="nl-BE" dirty="0">
                <a:solidFill>
                  <a:schemeClr val="accent4"/>
                </a:solidFill>
              </a:rPr>
              <a:t>pour toutes les instances de la classe</a:t>
            </a:r>
            <a:r>
              <a:rPr lang="nl-BE" dirty="0"/>
              <a:t>.</a:t>
            </a:r>
          </a:p>
          <a:p>
            <a:pPr marL="0" indent="0">
              <a:buNone/>
            </a:pPr>
            <a:r>
              <a:rPr lang="nl-BE" dirty="0"/>
              <a:t>Il est dès lors préférable de le nommer</a:t>
            </a:r>
          </a:p>
          <a:p>
            <a:pPr marL="0" indent="0" algn="ctr">
              <a:buNone/>
            </a:pPr>
            <a:r>
              <a:rPr lang="nl-BE" sz="2600" dirty="0">
                <a:solidFill>
                  <a:schemeClr val="accent4"/>
                </a:solidFill>
                <a:latin typeface="Consolas"/>
                <a:cs typeface="Consolas"/>
              </a:rPr>
              <a:t>B.n</a:t>
            </a:r>
            <a:r>
              <a:rPr lang="nl-BE" dirty="0">
                <a:solidFill>
                  <a:srgbClr val="A6082B"/>
                </a:solidFill>
                <a:latin typeface="Consolas"/>
                <a:cs typeface="Consolas"/>
              </a:rPr>
              <a:t> </a:t>
            </a:r>
            <a:r>
              <a:rPr lang="nl-BE" sz="2600" dirty="0">
                <a:solidFill>
                  <a:srgbClr val="A6082B"/>
                </a:solidFill>
                <a:latin typeface="Consolas"/>
                <a:cs typeface="Consolas"/>
              </a:rPr>
              <a:t> </a:t>
            </a:r>
            <a:r>
              <a:rPr lang="nl-BE" sz="2600" dirty="0">
                <a:solidFill>
                  <a:srgbClr val="92D050"/>
                </a:solidFill>
                <a:latin typeface="Consolas"/>
                <a:cs typeface="Consolas"/>
              </a:rPr>
              <a:t>// le champ static n de la classe B</a:t>
            </a:r>
            <a:endParaRPr lang="nl-BE" sz="2600" dirty="0">
              <a:solidFill>
                <a:srgbClr val="92D050"/>
              </a:solidFill>
            </a:endParaRPr>
          </a:p>
          <a:p>
            <a:pPr marL="0" indent="0">
              <a:buNone/>
            </a:pPr>
            <a:endParaRPr lang="nl-BE" sz="1600" dirty="0"/>
          </a:p>
          <a:p>
            <a:pPr marL="0" indent="0">
              <a:buNone/>
            </a:pPr>
            <a:r>
              <a:rPr lang="nl-BE" dirty="0"/>
              <a:t>Ces notations ne sont valables que si </a:t>
            </a:r>
            <a:r>
              <a:rPr lang="nl-BE" sz="2600" dirty="0">
                <a:solidFill>
                  <a:schemeClr val="accent4"/>
                </a:solidFill>
                <a:latin typeface="Consolas"/>
                <a:cs typeface="Consolas"/>
              </a:rPr>
              <a:t>n</a:t>
            </a:r>
            <a:r>
              <a:rPr lang="nl-BE" dirty="0"/>
              <a:t> est non privé. </a:t>
            </a:r>
          </a:p>
          <a:p>
            <a:pPr marL="0" indent="0">
              <a:buNone/>
            </a:pPr>
            <a:r>
              <a:rPr lang="nl-BE" dirty="0"/>
              <a:t>On peut cependant définir des champs </a:t>
            </a:r>
            <a:r>
              <a:rPr lang="nl-BE" sz="2600" dirty="0">
                <a:solidFill>
                  <a:schemeClr val="accent4"/>
                </a:solidFill>
                <a:latin typeface="Consolas"/>
                <a:cs typeface="Consolas"/>
              </a:rPr>
              <a:t>static</a:t>
            </a:r>
            <a:r>
              <a:rPr lang="nl-BE" dirty="0"/>
              <a:t> privés, qui sont alors accessibles via des méthodes.</a:t>
            </a:r>
          </a:p>
          <a:p>
            <a:pPr marL="0" indent="0">
              <a:buNone/>
            </a:pPr>
            <a:endParaRPr lang="nl-BE" dirty="0"/>
          </a:p>
          <a:p>
            <a:pPr marL="0" indent="0">
              <a:buNone/>
            </a:pPr>
            <a:r>
              <a:rPr lang="nl-BE" dirty="0"/>
              <a:t>Et… depuis une méthode de </a:t>
            </a:r>
            <a:r>
              <a:rPr lang="nl-BE" sz="2600" dirty="0">
                <a:solidFill>
                  <a:schemeClr val="accent4"/>
                </a:solidFill>
                <a:latin typeface="Consolas"/>
                <a:cs typeface="Consolas"/>
              </a:rPr>
              <a:t>B</a:t>
            </a:r>
            <a:r>
              <a:rPr lang="nl-BE" dirty="0"/>
              <a:t>, le champ peut être nommé </a:t>
            </a:r>
            <a:r>
              <a:rPr lang="nl-BE" dirty="0">
                <a:solidFill>
                  <a:schemeClr val="accent4"/>
                </a:solidFill>
                <a:latin typeface="Consolas"/>
                <a:cs typeface="Consolas"/>
              </a:rPr>
              <a:t>n</a:t>
            </a:r>
            <a:r>
              <a:rPr lang="nl-BE" dirty="0"/>
              <a:t>.</a:t>
            </a:r>
          </a:p>
        </p:txBody>
      </p:sp>
      <p:sp>
        <p:nvSpPr>
          <p:cNvPr id="2" name="Espace réservé du numéro de diapositive 1">
            <a:extLst>
              <a:ext uri="{FF2B5EF4-FFF2-40B4-BE49-F238E27FC236}">
                <a16:creationId xmlns:a16="http://schemas.microsoft.com/office/drawing/2014/main" id="{E54FF416-8878-D865-5054-D8004009843A}"/>
              </a:ext>
            </a:extLst>
          </p:cNvPr>
          <p:cNvSpPr>
            <a:spLocks noGrp="1"/>
          </p:cNvSpPr>
          <p:nvPr>
            <p:ph type="sldNum" sz="quarter" idx="4"/>
          </p:nvPr>
        </p:nvSpPr>
        <p:spPr/>
        <p:txBody>
          <a:bodyPr/>
          <a:lstStyle/>
          <a:p>
            <a:fld id="{33C783E2-4793-4F48-A271-51A73CC37D74}" type="slidenum">
              <a:rPr lang="fr-FR" smtClean="0"/>
              <a:t>42</a:t>
            </a:fld>
            <a:endParaRPr lang="fr-FR" dirty="0"/>
          </a:p>
        </p:txBody>
      </p:sp>
    </p:spTree>
    <p:extLst>
      <p:ext uri="{BB962C8B-B14F-4D97-AF65-F5344CB8AC3E}">
        <p14:creationId xmlns:p14="http://schemas.microsoft.com/office/powerpoint/2010/main" val="3028786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de classe</a:t>
            </a:r>
          </a:p>
        </p:txBody>
      </p:sp>
      <p:sp>
        <p:nvSpPr>
          <p:cNvPr id="6" name="Espace réservé du contenu 5"/>
          <p:cNvSpPr>
            <a:spLocks noGrp="1"/>
          </p:cNvSpPr>
          <p:nvPr>
            <p:ph idx="1"/>
          </p:nvPr>
        </p:nvSpPr>
        <p:spPr/>
        <p:txBody>
          <a:bodyPr>
            <a:noAutofit/>
          </a:bodyPr>
          <a:lstStyle/>
          <a:p>
            <a:pPr marL="0" indent="0">
              <a:buNone/>
            </a:pPr>
            <a:r>
              <a:rPr lang="nl-BE" sz="2600" u="sng" dirty="0"/>
              <a:t>Deuxième exemple</a:t>
            </a:r>
            <a:endParaRPr lang="nl-BE" sz="2600" dirty="0"/>
          </a:p>
          <a:p>
            <a:pPr marL="0" indent="0">
              <a:buNone/>
            </a:pPr>
            <a:r>
              <a:rPr lang="nl-BE" sz="2600" dirty="0"/>
              <a:t>Une classe qui contient le nombre de ses instances…</a:t>
            </a:r>
            <a:endParaRPr lang="nl-BE" sz="2600" dirty="0">
              <a:solidFill>
                <a:srgbClr val="A6082B"/>
              </a:solidFill>
              <a:latin typeface="Consolas"/>
              <a:cs typeface="Consolas"/>
            </a:endParaRPr>
          </a:p>
          <a:p>
            <a:pPr marL="0" indent="0">
              <a:buNone/>
            </a:pPr>
            <a:r>
              <a:rPr lang="nl-BE" sz="2400" dirty="0">
                <a:solidFill>
                  <a:schemeClr val="accent4"/>
                </a:solidFill>
                <a:latin typeface="Consolas"/>
                <a:cs typeface="Consolas"/>
              </a:rPr>
              <a:t>class Obj {</a:t>
            </a:r>
            <a:br>
              <a:rPr lang="nl-BE" sz="2400" dirty="0">
                <a:solidFill>
                  <a:schemeClr val="accent4"/>
                </a:solidFill>
                <a:latin typeface="Consolas"/>
                <a:cs typeface="Consolas"/>
              </a:rPr>
            </a:br>
            <a:br>
              <a:rPr lang="nl-BE" sz="2400" dirty="0">
                <a:solidFill>
                  <a:schemeClr val="accent4"/>
                </a:solidFill>
                <a:latin typeface="Consolas"/>
                <a:cs typeface="Consolas"/>
              </a:rPr>
            </a:br>
            <a:r>
              <a:rPr lang="nl-BE" sz="2400" dirty="0">
                <a:solidFill>
                  <a:schemeClr val="accent4"/>
                </a:solidFill>
                <a:latin typeface="Consolas"/>
                <a:cs typeface="Consolas"/>
              </a:rPr>
              <a:t>  private static int nb = 0; </a:t>
            </a:r>
            <a:r>
              <a:rPr lang="nl-BE" sz="2400" dirty="0">
                <a:solidFill>
                  <a:srgbClr val="92D050"/>
                </a:solidFill>
                <a:latin typeface="Consolas"/>
                <a:cs typeface="Consolas"/>
              </a:rPr>
              <a:t>// compteur d'instances</a:t>
            </a:r>
            <a:br>
              <a:rPr lang="nl-BE" sz="2400" dirty="0">
                <a:solidFill>
                  <a:schemeClr val="accent4"/>
                </a:solidFill>
                <a:latin typeface="Consolas"/>
                <a:cs typeface="Consolas"/>
              </a:rPr>
            </a:br>
            <a:r>
              <a:rPr lang="nl-BE" sz="2400" dirty="0">
                <a:solidFill>
                  <a:schemeClr val="accent4"/>
                </a:solidFill>
                <a:latin typeface="Consolas"/>
                <a:cs typeface="Consolas"/>
              </a:rPr>
              <a:t> </a:t>
            </a:r>
            <a:br>
              <a:rPr lang="nl-BE" sz="2400" dirty="0">
                <a:solidFill>
                  <a:schemeClr val="accent4"/>
                </a:solidFill>
                <a:latin typeface="Consolas"/>
                <a:cs typeface="Consolas"/>
              </a:rPr>
            </a:br>
            <a:r>
              <a:rPr lang="nl-BE" sz="2400" dirty="0">
                <a:solidFill>
                  <a:schemeClr val="accent4"/>
                </a:solidFill>
                <a:latin typeface="Consolas"/>
                <a:cs typeface="Consolas"/>
              </a:rPr>
              <a:t>  public Obj() {</a:t>
            </a:r>
            <a:br>
              <a:rPr lang="nl-BE" sz="2400" dirty="0">
                <a:solidFill>
                  <a:schemeClr val="accent4"/>
                </a:solidFill>
                <a:latin typeface="Consolas"/>
                <a:cs typeface="Consolas"/>
              </a:rPr>
            </a:br>
            <a:r>
              <a:rPr lang="nl-BE" sz="2400" dirty="0">
                <a:solidFill>
                  <a:schemeClr val="accent4"/>
                </a:solidFill>
                <a:latin typeface="Consolas"/>
                <a:cs typeface="Consolas"/>
              </a:rPr>
              <a:t>    System.out.println("création de Obj");</a:t>
            </a:r>
            <a:br>
              <a:rPr lang="nl-BE" sz="2400" dirty="0">
                <a:solidFill>
                  <a:schemeClr val="accent4"/>
                </a:solidFill>
                <a:latin typeface="Consolas"/>
                <a:cs typeface="Consolas"/>
              </a:rPr>
            </a:br>
            <a:r>
              <a:rPr lang="nl-BE" sz="2400" dirty="0">
                <a:solidFill>
                  <a:schemeClr val="accent4"/>
                </a:solidFill>
                <a:latin typeface="Consolas"/>
                <a:cs typeface="Consolas"/>
              </a:rPr>
              <a:t>    nb++;</a:t>
            </a:r>
            <a:br>
              <a:rPr lang="nl-BE" sz="2400" dirty="0">
                <a:solidFill>
                  <a:schemeClr val="accent4"/>
                </a:solidFill>
                <a:latin typeface="Consolas"/>
                <a:cs typeface="Consolas"/>
              </a:rPr>
            </a:br>
            <a:r>
              <a:rPr lang="nl-BE" sz="2400" dirty="0">
                <a:solidFill>
                  <a:schemeClr val="accent4"/>
                </a:solidFill>
                <a:latin typeface="Consolas"/>
                <a:cs typeface="Consolas"/>
              </a:rPr>
              <a:t>    System.out.printf("Il y a %d instances en mémoire”, nb);</a:t>
            </a:r>
            <a:br>
              <a:rPr lang="nl-BE" sz="2400" dirty="0">
                <a:solidFill>
                  <a:schemeClr val="accent4"/>
                </a:solidFill>
                <a:latin typeface="Consolas"/>
                <a:cs typeface="Consolas"/>
              </a:rPr>
            </a:br>
            <a:r>
              <a:rPr lang="nl-BE" sz="2400" dirty="0">
                <a:solidFill>
                  <a:schemeClr val="accent4"/>
                </a:solidFill>
                <a:latin typeface="Consolas"/>
                <a:cs typeface="Consolas"/>
              </a:rPr>
              <a:t>  }</a:t>
            </a:r>
            <a:br>
              <a:rPr lang="nl-BE" sz="2400" dirty="0">
                <a:solidFill>
                  <a:schemeClr val="accent4"/>
                </a:solidFill>
                <a:latin typeface="Consolas"/>
                <a:cs typeface="Consolas"/>
              </a:rPr>
            </a:br>
            <a:r>
              <a:rPr lang="nl-BE" sz="2400" dirty="0">
                <a:solidFill>
                  <a:schemeClr val="accent4"/>
                </a:solidFill>
                <a:latin typeface="Consolas"/>
                <a:cs typeface="Consolas"/>
              </a:rPr>
              <a:t>}</a:t>
            </a:r>
          </a:p>
        </p:txBody>
      </p:sp>
      <p:sp>
        <p:nvSpPr>
          <p:cNvPr id="2" name="Espace réservé du numéro de diapositive 1">
            <a:extLst>
              <a:ext uri="{FF2B5EF4-FFF2-40B4-BE49-F238E27FC236}">
                <a16:creationId xmlns:a16="http://schemas.microsoft.com/office/drawing/2014/main" id="{6F544C3E-5159-6915-53F9-DF1700148EBF}"/>
              </a:ext>
            </a:extLst>
          </p:cNvPr>
          <p:cNvSpPr>
            <a:spLocks noGrp="1"/>
          </p:cNvSpPr>
          <p:nvPr>
            <p:ph type="sldNum" sz="quarter" idx="4"/>
          </p:nvPr>
        </p:nvSpPr>
        <p:spPr/>
        <p:txBody>
          <a:bodyPr/>
          <a:lstStyle/>
          <a:p>
            <a:fld id="{33C783E2-4793-4F48-A271-51A73CC37D74}" type="slidenum">
              <a:rPr lang="fr-FR" smtClean="0"/>
              <a:t>43</a:t>
            </a:fld>
            <a:endParaRPr lang="fr-FR" dirty="0"/>
          </a:p>
        </p:txBody>
      </p:sp>
    </p:spTree>
    <p:extLst>
      <p:ext uri="{BB962C8B-B14F-4D97-AF65-F5344CB8AC3E}">
        <p14:creationId xmlns:p14="http://schemas.microsoft.com/office/powerpoint/2010/main" val="33311172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de classe</a:t>
            </a:r>
          </a:p>
        </p:txBody>
      </p:sp>
      <p:sp>
        <p:nvSpPr>
          <p:cNvPr id="6" name="Espace réservé du contenu 5"/>
          <p:cNvSpPr>
            <a:spLocks noGrp="1"/>
          </p:cNvSpPr>
          <p:nvPr>
            <p:ph idx="1"/>
          </p:nvPr>
        </p:nvSpPr>
        <p:spPr/>
        <p:txBody>
          <a:bodyPr>
            <a:noAutofit/>
          </a:bodyPr>
          <a:lstStyle/>
          <a:p>
            <a:pPr marL="0" indent="0">
              <a:buNone/>
            </a:pPr>
            <a:r>
              <a:rPr lang="nl-BE" sz="2400" dirty="0"/>
              <a:t>Et une classe qui utilise Obj…</a:t>
            </a:r>
            <a:endParaRPr lang="nl-BE" sz="2400" dirty="0">
              <a:solidFill>
                <a:srgbClr val="A6082B"/>
              </a:solidFill>
              <a:latin typeface="Consolas"/>
              <a:cs typeface="Consolas"/>
            </a:endParaRPr>
          </a:p>
          <a:p>
            <a:pPr marL="0" indent="0">
              <a:buNone/>
            </a:pPr>
            <a:r>
              <a:rPr lang="nl-BE" sz="2000" dirty="0">
                <a:solidFill>
                  <a:schemeClr val="accent4"/>
                </a:solidFill>
                <a:latin typeface="Consolas"/>
                <a:cs typeface="Consolas"/>
              </a:rPr>
              <a:t>public class TestObj {</a:t>
            </a:r>
            <a:br>
              <a:rPr lang="nl-BE" sz="2000" dirty="0">
                <a:solidFill>
                  <a:schemeClr val="accent4"/>
                </a:solidFill>
                <a:latin typeface="Consolas"/>
                <a:cs typeface="Consolas"/>
              </a:rPr>
            </a:br>
            <a:r>
              <a:rPr lang="nl-BE" sz="2000" dirty="0">
                <a:solidFill>
                  <a:schemeClr val="accent4"/>
                </a:solidFill>
                <a:latin typeface="Consolas"/>
                <a:cs typeface="Consolas"/>
              </a:rPr>
              <a:t>  public static void main(String args[]) {</a:t>
            </a:r>
            <a:br>
              <a:rPr lang="nl-BE" sz="2000" dirty="0">
                <a:solidFill>
                  <a:schemeClr val="accent4"/>
                </a:solidFill>
                <a:latin typeface="Consolas"/>
                <a:cs typeface="Consolas"/>
              </a:rPr>
            </a:br>
            <a:r>
              <a:rPr lang="nl-BE" sz="2000" dirty="0">
                <a:solidFill>
                  <a:schemeClr val="accent4"/>
                </a:solidFill>
                <a:latin typeface="Consolas"/>
                <a:cs typeface="Consolas"/>
              </a:rPr>
              <a:t>    Obj a;</a:t>
            </a:r>
            <a:br>
              <a:rPr lang="nl-BE" sz="2000" dirty="0">
                <a:solidFill>
                  <a:schemeClr val="accent4"/>
                </a:solidFill>
                <a:latin typeface="Consolas"/>
                <a:cs typeface="Consolas"/>
              </a:rPr>
            </a:br>
            <a:r>
              <a:rPr lang="nl-BE" sz="2000" dirty="0">
                <a:solidFill>
                  <a:schemeClr val="accent4"/>
                </a:solidFill>
                <a:latin typeface="Consolas"/>
                <a:cs typeface="Consolas"/>
              </a:rPr>
              <a:t>    System.out.println("main 1");</a:t>
            </a:r>
            <a:br>
              <a:rPr lang="nl-BE" sz="2000" dirty="0">
                <a:solidFill>
                  <a:schemeClr val="accent4"/>
                </a:solidFill>
                <a:latin typeface="Consolas"/>
                <a:cs typeface="Consolas"/>
              </a:rPr>
            </a:br>
            <a:r>
              <a:rPr lang="nl-BE" sz="2000" dirty="0">
                <a:solidFill>
                  <a:schemeClr val="accent4"/>
                </a:solidFill>
                <a:latin typeface="Consolas"/>
                <a:cs typeface="Consolas"/>
              </a:rPr>
              <a:t>    a = new Obj();</a:t>
            </a:r>
            <a:br>
              <a:rPr lang="nl-BE" sz="2000" dirty="0">
                <a:solidFill>
                  <a:schemeClr val="accent4"/>
                </a:solidFill>
                <a:latin typeface="Consolas"/>
                <a:cs typeface="Consolas"/>
              </a:rPr>
            </a:br>
            <a:r>
              <a:rPr lang="nl-BE" sz="2000" dirty="0">
                <a:solidFill>
                  <a:schemeClr val="accent4"/>
                </a:solidFill>
                <a:latin typeface="Consolas"/>
                <a:cs typeface="Consolas"/>
              </a:rPr>
              <a:t>    System.out.println("main 2");</a:t>
            </a:r>
            <a:br>
              <a:rPr lang="nl-BE" sz="2000" dirty="0">
                <a:solidFill>
                  <a:schemeClr val="accent4"/>
                </a:solidFill>
                <a:latin typeface="Consolas"/>
                <a:cs typeface="Consolas"/>
              </a:rPr>
            </a:br>
            <a:r>
              <a:rPr lang="nl-BE" sz="2000" dirty="0">
                <a:solidFill>
                  <a:schemeClr val="accent4"/>
                </a:solidFill>
                <a:latin typeface="Consolas"/>
                <a:cs typeface="Consolas"/>
              </a:rPr>
              <a:t>    Obj b;</a:t>
            </a:r>
            <a:br>
              <a:rPr lang="nl-BE" sz="2000" dirty="0">
                <a:solidFill>
                  <a:schemeClr val="accent4"/>
                </a:solidFill>
                <a:latin typeface="Consolas"/>
                <a:cs typeface="Consolas"/>
              </a:rPr>
            </a:br>
            <a:r>
              <a:rPr lang="nl-BE" sz="2000" dirty="0">
                <a:solidFill>
                  <a:schemeClr val="accent4"/>
                </a:solidFill>
                <a:latin typeface="Consolas"/>
                <a:cs typeface="Consolas"/>
              </a:rPr>
              <a:t>    System.out.println("main 3");</a:t>
            </a:r>
            <a:br>
              <a:rPr lang="nl-BE" sz="2000" dirty="0">
                <a:solidFill>
                  <a:schemeClr val="accent4"/>
                </a:solidFill>
                <a:latin typeface="Consolas"/>
                <a:cs typeface="Consolas"/>
              </a:rPr>
            </a:br>
            <a:r>
              <a:rPr lang="nl-BE" sz="2000" dirty="0">
                <a:solidFill>
                  <a:schemeClr val="accent4"/>
                </a:solidFill>
                <a:latin typeface="Consolas"/>
                <a:cs typeface="Consolas"/>
              </a:rPr>
              <a:t>    b = new Obj();</a:t>
            </a:r>
            <a:br>
              <a:rPr lang="nl-BE" sz="2000" dirty="0">
                <a:solidFill>
                  <a:schemeClr val="accent4"/>
                </a:solidFill>
                <a:latin typeface="Consolas"/>
                <a:cs typeface="Consolas"/>
              </a:rPr>
            </a:br>
            <a:r>
              <a:rPr lang="nl-BE" sz="2000" dirty="0">
                <a:solidFill>
                  <a:schemeClr val="accent4"/>
                </a:solidFill>
                <a:latin typeface="Consolas"/>
                <a:cs typeface="Consolas"/>
              </a:rPr>
              <a:t>    Obj c = new Obj();</a:t>
            </a:r>
            <a:br>
              <a:rPr lang="nl-BE" sz="2000" dirty="0">
                <a:solidFill>
                  <a:schemeClr val="accent4"/>
                </a:solidFill>
                <a:latin typeface="Consolas"/>
                <a:cs typeface="Consolas"/>
              </a:rPr>
            </a:br>
            <a:r>
              <a:rPr lang="nl-BE" sz="2000" dirty="0">
                <a:solidFill>
                  <a:schemeClr val="accent4"/>
                </a:solidFill>
                <a:latin typeface="Consolas"/>
                <a:cs typeface="Consolas"/>
              </a:rPr>
              <a:t>    System.out.println("main 4");</a:t>
            </a:r>
            <a:br>
              <a:rPr lang="nl-BE" sz="2000" dirty="0">
                <a:solidFill>
                  <a:schemeClr val="accent4"/>
                </a:solidFill>
                <a:latin typeface="Consolas"/>
                <a:cs typeface="Consolas"/>
              </a:rPr>
            </a:br>
            <a:r>
              <a:rPr lang="nl-BE" sz="2000" dirty="0">
                <a:solidFill>
                  <a:schemeClr val="accent4"/>
                </a:solidFill>
                <a:latin typeface="Consolas"/>
                <a:cs typeface="Consolas"/>
              </a:rPr>
              <a:t>  }</a:t>
            </a:r>
            <a:br>
              <a:rPr lang="nl-BE" sz="2000" dirty="0">
                <a:solidFill>
                  <a:schemeClr val="accent4"/>
                </a:solidFill>
                <a:latin typeface="Consolas"/>
                <a:cs typeface="Consolas"/>
              </a:rPr>
            </a:br>
            <a:r>
              <a:rPr lang="nl-BE" sz="2000" dirty="0">
                <a:solidFill>
                  <a:schemeClr val="accent4"/>
                </a:solidFill>
                <a:latin typeface="Consolas"/>
                <a:cs typeface="Consolas"/>
              </a:rPr>
              <a:t>}</a:t>
            </a:r>
          </a:p>
        </p:txBody>
      </p:sp>
      <p:sp>
        <p:nvSpPr>
          <p:cNvPr id="4" name="ZoneTexte 3">
            <a:extLst>
              <a:ext uri="{FF2B5EF4-FFF2-40B4-BE49-F238E27FC236}">
                <a16:creationId xmlns:a16="http://schemas.microsoft.com/office/drawing/2014/main" id="{13D354C9-6520-0A9C-22A9-F90629B92736}"/>
              </a:ext>
            </a:extLst>
          </p:cNvPr>
          <p:cNvSpPr txBox="1"/>
          <p:nvPr/>
        </p:nvSpPr>
        <p:spPr>
          <a:xfrm>
            <a:off x="5854013" y="533361"/>
            <a:ext cx="6098058" cy="1815882"/>
          </a:xfrm>
          <a:prstGeom prst="rect">
            <a:avLst/>
          </a:prstGeom>
          <a:solidFill>
            <a:srgbClr val="2B2B2B"/>
          </a:solidFill>
        </p:spPr>
        <p:txBody>
          <a:bodyPr wrap="square">
            <a:spAutoFit/>
          </a:bodyPr>
          <a:lstStyle/>
          <a:p>
            <a:pPr marL="0" indent="0">
              <a:buNone/>
            </a:pPr>
            <a:r>
              <a:rPr lang="nl-BE" sz="1400" dirty="0">
                <a:solidFill>
                  <a:schemeClr val="accent4"/>
                </a:solidFill>
                <a:latin typeface="Consolas"/>
                <a:cs typeface="Consolas"/>
              </a:rPr>
              <a:t>class Obj {</a:t>
            </a:r>
            <a:br>
              <a:rPr lang="nl-BE" sz="1400" dirty="0">
                <a:solidFill>
                  <a:schemeClr val="accent4"/>
                </a:solidFill>
                <a:latin typeface="Consolas"/>
                <a:cs typeface="Consolas"/>
              </a:rPr>
            </a:br>
            <a:r>
              <a:rPr lang="nl-BE" sz="1400" dirty="0">
                <a:solidFill>
                  <a:schemeClr val="accent4"/>
                </a:solidFill>
                <a:latin typeface="Consolas"/>
                <a:cs typeface="Consolas"/>
              </a:rPr>
              <a:t>  private static int nb = 0; </a:t>
            </a:r>
            <a:br>
              <a:rPr lang="nl-BE" sz="1400" dirty="0">
                <a:solidFill>
                  <a:schemeClr val="accent4"/>
                </a:solidFill>
                <a:latin typeface="Consolas"/>
                <a:cs typeface="Consolas"/>
              </a:rPr>
            </a:br>
            <a:r>
              <a:rPr lang="nl-BE" sz="1400" dirty="0">
                <a:solidFill>
                  <a:schemeClr val="accent4"/>
                </a:solidFill>
                <a:latin typeface="Consolas"/>
                <a:cs typeface="Consolas"/>
              </a:rPr>
              <a:t>  public Obj() {</a:t>
            </a:r>
            <a:br>
              <a:rPr lang="nl-BE" sz="1400" dirty="0">
                <a:solidFill>
                  <a:schemeClr val="accent4"/>
                </a:solidFill>
                <a:latin typeface="Consolas"/>
                <a:cs typeface="Consolas"/>
              </a:rPr>
            </a:br>
            <a:r>
              <a:rPr lang="nl-BE" sz="1400" dirty="0">
                <a:solidFill>
                  <a:schemeClr val="accent4"/>
                </a:solidFill>
                <a:latin typeface="Consolas"/>
                <a:cs typeface="Consolas"/>
              </a:rPr>
              <a:t>    System.out.println("création de Obj");</a:t>
            </a:r>
            <a:br>
              <a:rPr lang="nl-BE" sz="1400" dirty="0">
                <a:solidFill>
                  <a:schemeClr val="accent4"/>
                </a:solidFill>
                <a:latin typeface="Consolas"/>
                <a:cs typeface="Consolas"/>
              </a:rPr>
            </a:br>
            <a:r>
              <a:rPr lang="nl-BE" sz="1400" dirty="0">
                <a:solidFill>
                  <a:schemeClr val="accent4"/>
                </a:solidFill>
                <a:latin typeface="Consolas"/>
                <a:cs typeface="Consolas"/>
              </a:rPr>
              <a:t>    nb++;</a:t>
            </a:r>
            <a:br>
              <a:rPr lang="nl-BE" sz="1400" dirty="0">
                <a:solidFill>
                  <a:schemeClr val="accent4"/>
                </a:solidFill>
                <a:latin typeface="Consolas"/>
                <a:cs typeface="Consolas"/>
              </a:rPr>
            </a:br>
            <a:r>
              <a:rPr lang="nl-BE" sz="1400" dirty="0">
                <a:solidFill>
                  <a:schemeClr val="accent4"/>
                </a:solidFill>
                <a:latin typeface="Consolas"/>
                <a:cs typeface="Consolas"/>
              </a:rPr>
              <a:t>    System.out.printf("Il y a %d instances en mémoire”, nb);</a:t>
            </a:r>
            <a:br>
              <a:rPr lang="nl-BE" sz="1400" dirty="0">
                <a:solidFill>
                  <a:schemeClr val="accent4"/>
                </a:solidFill>
                <a:latin typeface="Consolas"/>
                <a:cs typeface="Consolas"/>
              </a:rPr>
            </a:br>
            <a:r>
              <a:rPr lang="nl-BE" sz="1400" dirty="0">
                <a:solidFill>
                  <a:schemeClr val="accent4"/>
                </a:solidFill>
                <a:latin typeface="Consolas"/>
                <a:cs typeface="Consolas"/>
              </a:rPr>
              <a:t>  }</a:t>
            </a:r>
            <a:br>
              <a:rPr lang="nl-BE" sz="1400" dirty="0">
                <a:solidFill>
                  <a:schemeClr val="accent4"/>
                </a:solidFill>
                <a:latin typeface="Consolas"/>
                <a:cs typeface="Consolas"/>
              </a:rPr>
            </a:br>
            <a:r>
              <a:rPr lang="nl-BE" sz="1400" dirty="0">
                <a:solidFill>
                  <a:schemeClr val="accent4"/>
                </a:solidFill>
                <a:latin typeface="Consolas"/>
                <a:cs typeface="Consolas"/>
              </a:rPr>
              <a:t>}</a:t>
            </a:r>
          </a:p>
        </p:txBody>
      </p:sp>
      <p:sp>
        <p:nvSpPr>
          <p:cNvPr id="9" name="Rectangle : coins arrondis 8">
            <a:extLst>
              <a:ext uri="{FF2B5EF4-FFF2-40B4-BE49-F238E27FC236}">
                <a16:creationId xmlns:a16="http://schemas.microsoft.com/office/drawing/2014/main" id="{078E238B-995E-6D0E-F7FA-40B255846A65}"/>
              </a:ext>
            </a:extLst>
          </p:cNvPr>
          <p:cNvSpPr/>
          <p:nvPr/>
        </p:nvSpPr>
        <p:spPr>
          <a:xfrm>
            <a:off x="6732373" y="5509698"/>
            <a:ext cx="4621427" cy="667265"/>
          </a:xfrm>
          <a:prstGeom prst="roundRect">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Que se passe-t-il à l’exécution?</a:t>
            </a:r>
          </a:p>
          <a:p>
            <a:pPr algn="ctr"/>
            <a:r>
              <a:rPr lang="fr-FR" dirty="0"/>
              <a:t>Quelles sont les infos affichées à la console? </a:t>
            </a:r>
          </a:p>
        </p:txBody>
      </p:sp>
      <p:sp>
        <p:nvSpPr>
          <p:cNvPr id="10" name="Espace réservé du numéro de diapositive 9">
            <a:extLst>
              <a:ext uri="{FF2B5EF4-FFF2-40B4-BE49-F238E27FC236}">
                <a16:creationId xmlns:a16="http://schemas.microsoft.com/office/drawing/2014/main" id="{CB5A555D-9CBD-A460-B961-59D387116C71}"/>
              </a:ext>
            </a:extLst>
          </p:cNvPr>
          <p:cNvSpPr>
            <a:spLocks noGrp="1"/>
          </p:cNvSpPr>
          <p:nvPr>
            <p:ph type="sldNum" sz="quarter" idx="4"/>
          </p:nvPr>
        </p:nvSpPr>
        <p:spPr/>
        <p:txBody>
          <a:bodyPr/>
          <a:lstStyle/>
          <a:p>
            <a:fld id="{33C783E2-4793-4F48-A271-51A73CC37D74}" type="slidenum">
              <a:rPr lang="fr-FR" smtClean="0"/>
              <a:t>44</a:t>
            </a:fld>
            <a:endParaRPr lang="fr-FR" dirty="0"/>
          </a:p>
        </p:txBody>
      </p:sp>
    </p:spTree>
    <p:extLst>
      <p:ext uri="{BB962C8B-B14F-4D97-AF65-F5344CB8AC3E}">
        <p14:creationId xmlns:p14="http://schemas.microsoft.com/office/powerpoint/2010/main" val="3560880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Champs de classe</a:t>
            </a:r>
          </a:p>
        </p:txBody>
      </p:sp>
      <p:sp>
        <p:nvSpPr>
          <p:cNvPr id="6" name="Espace réservé du contenu 5"/>
          <p:cNvSpPr>
            <a:spLocks noGrp="1"/>
          </p:cNvSpPr>
          <p:nvPr>
            <p:ph idx="1"/>
          </p:nvPr>
        </p:nvSpPr>
        <p:spPr/>
        <p:txBody>
          <a:bodyPr>
            <a:noAutofit/>
          </a:bodyPr>
          <a:lstStyle/>
          <a:p>
            <a:pPr marL="0" indent="0">
              <a:buNone/>
            </a:pPr>
            <a:r>
              <a:rPr lang="nl-BE" sz="2600" dirty="0"/>
              <a:t>La variable </a:t>
            </a:r>
            <a:r>
              <a:rPr lang="nl-BE" sz="2400" dirty="0">
                <a:solidFill>
                  <a:schemeClr val="accent4"/>
                </a:solidFill>
                <a:latin typeface="Consolas"/>
                <a:cs typeface="Consolas"/>
              </a:rPr>
              <a:t>n</a:t>
            </a:r>
            <a:r>
              <a:rPr lang="nl-BE" sz="2600" dirty="0"/>
              <a:t> contient le nombre d'objets créés. Cependant, si un objet est supprimé, cette variable n'est pas mise à jour.</a:t>
            </a:r>
          </a:p>
          <a:p>
            <a:pPr marL="0" indent="0">
              <a:buNone/>
            </a:pPr>
            <a:r>
              <a:rPr lang="nl-BE" sz="2600" dirty="0"/>
              <a:t>Il existe une méthode, </a:t>
            </a:r>
            <a:r>
              <a:rPr lang="nl-BE" sz="2400" dirty="0">
                <a:solidFill>
                  <a:schemeClr val="accent4"/>
                </a:solidFill>
                <a:latin typeface="Consolas"/>
                <a:cs typeface="Consolas"/>
              </a:rPr>
              <a:t>finalize</a:t>
            </a:r>
            <a:r>
              <a:rPr lang="nl-BE" sz="2600" dirty="0"/>
              <a:t>, qui est </a:t>
            </a:r>
            <a:r>
              <a:rPr lang="nl-BE" sz="2600" dirty="0">
                <a:solidFill>
                  <a:schemeClr val="accent4"/>
                </a:solidFill>
              </a:rPr>
              <a:t>appelée au moment où l'emplacement mémoire d'un objet est récupéré</a:t>
            </a:r>
            <a:r>
              <a:rPr lang="nl-BE" sz="2600" dirty="0"/>
              <a:t>. On peut alors définir la méthode </a:t>
            </a:r>
            <a:r>
              <a:rPr lang="nl-BE" sz="2400" dirty="0">
                <a:solidFill>
                  <a:schemeClr val="accent4"/>
                </a:solidFill>
                <a:latin typeface="Consolas"/>
                <a:cs typeface="Consolas"/>
              </a:rPr>
              <a:t>finalise</a:t>
            </a:r>
            <a:r>
              <a:rPr lang="nl-BE" sz="2600" dirty="0"/>
              <a:t> et y décrémenter </a:t>
            </a:r>
            <a:r>
              <a:rPr lang="nl-BE" sz="2400" dirty="0">
                <a:solidFill>
                  <a:schemeClr val="accent4"/>
                </a:solidFill>
                <a:latin typeface="Consolas"/>
                <a:cs typeface="Consolas"/>
              </a:rPr>
              <a:t>n</a:t>
            </a:r>
            <a:r>
              <a:rPr lang="nl-BE" sz="2600" dirty="0"/>
              <a:t>.</a:t>
            </a:r>
            <a:br>
              <a:rPr lang="nl-BE" sz="2600" dirty="0"/>
            </a:br>
            <a:br>
              <a:rPr lang="nl-BE" sz="2600" dirty="0"/>
            </a:br>
            <a:r>
              <a:rPr lang="nl-BE" sz="2400" dirty="0">
                <a:solidFill>
                  <a:schemeClr val="accent4"/>
                </a:solidFill>
                <a:latin typeface="Consolas"/>
                <a:cs typeface="Consolas"/>
              </a:rPr>
              <a:t>class Obj {</a:t>
            </a:r>
            <a:br>
              <a:rPr lang="nl-BE" sz="2400" dirty="0">
                <a:solidFill>
                  <a:schemeClr val="accent4"/>
                </a:solidFill>
                <a:latin typeface="Consolas"/>
                <a:cs typeface="Consolas"/>
              </a:rPr>
            </a:br>
            <a:r>
              <a:rPr lang="nl-BE" sz="2400" dirty="0">
                <a:solidFill>
                  <a:schemeClr val="accent4"/>
                </a:solidFill>
                <a:latin typeface="Consolas"/>
                <a:cs typeface="Consolas"/>
              </a:rPr>
              <a:t>  ...</a:t>
            </a:r>
            <a:br>
              <a:rPr lang="nl-BE" sz="2400" dirty="0">
                <a:solidFill>
                  <a:schemeClr val="accent4"/>
                </a:solidFill>
                <a:latin typeface="Consolas"/>
                <a:cs typeface="Consolas"/>
              </a:rPr>
            </a:br>
            <a:r>
              <a:rPr lang="nl-BE" sz="2400" dirty="0">
                <a:solidFill>
                  <a:schemeClr val="accent4"/>
                </a:solidFill>
                <a:latin typeface="Consolas"/>
                <a:cs typeface="Consolas"/>
              </a:rPr>
              <a:t>  public void finalize() {</a:t>
            </a:r>
            <a:br>
              <a:rPr lang="nl-BE" sz="2400" dirty="0">
                <a:solidFill>
                  <a:schemeClr val="accent4"/>
                </a:solidFill>
                <a:latin typeface="Consolas"/>
                <a:cs typeface="Consolas"/>
              </a:rPr>
            </a:br>
            <a:r>
              <a:rPr lang="nl-BE" sz="2400" dirty="0">
                <a:solidFill>
                  <a:schemeClr val="accent4"/>
                </a:solidFill>
                <a:latin typeface="Consolas"/>
                <a:cs typeface="Consolas"/>
              </a:rPr>
              <a:t>     System.out.println("aaargh...");</a:t>
            </a:r>
            <a:br>
              <a:rPr lang="nl-BE" sz="2400" dirty="0">
                <a:solidFill>
                  <a:schemeClr val="accent4"/>
                </a:solidFill>
                <a:latin typeface="Consolas"/>
                <a:cs typeface="Consolas"/>
              </a:rPr>
            </a:br>
            <a:r>
              <a:rPr lang="nl-BE" sz="2400" dirty="0">
                <a:solidFill>
                  <a:schemeClr val="accent4"/>
                </a:solidFill>
                <a:latin typeface="Consolas"/>
                <a:cs typeface="Consolas"/>
              </a:rPr>
              <a:t>     n--;</a:t>
            </a:r>
            <a:br>
              <a:rPr lang="nl-BE" sz="2400" dirty="0">
                <a:solidFill>
                  <a:schemeClr val="accent4"/>
                </a:solidFill>
                <a:latin typeface="Consolas"/>
                <a:cs typeface="Consolas"/>
              </a:rPr>
            </a:br>
            <a:r>
              <a:rPr lang="nl-BE" sz="2400" dirty="0">
                <a:solidFill>
                  <a:schemeClr val="accent4"/>
                </a:solidFill>
                <a:latin typeface="Consolas"/>
                <a:cs typeface="Consolas"/>
              </a:rPr>
              <a:t> }</a:t>
            </a:r>
            <a:br>
              <a:rPr lang="nl-BE" sz="2400" dirty="0">
                <a:solidFill>
                  <a:schemeClr val="accent4"/>
                </a:solidFill>
                <a:latin typeface="Consolas"/>
                <a:cs typeface="Consolas"/>
              </a:rPr>
            </a:br>
            <a:r>
              <a:rPr lang="nl-BE" sz="2600" dirty="0">
                <a:solidFill>
                  <a:srgbClr val="A6082B"/>
                </a:solidFill>
                <a:latin typeface="Consolas"/>
                <a:cs typeface="Consolas"/>
              </a:rPr>
              <a:t>}</a:t>
            </a:r>
          </a:p>
        </p:txBody>
      </p:sp>
      <p:sp>
        <p:nvSpPr>
          <p:cNvPr id="2" name="Espace réservé du numéro de diapositive 1">
            <a:extLst>
              <a:ext uri="{FF2B5EF4-FFF2-40B4-BE49-F238E27FC236}">
                <a16:creationId xmlns:a16="http://schemas.microsoft.com/office/drawing/2014/main" id="{A2580108-D6D5-AD99-0475-77916AC960B2}"/>
              </a:ext>
            </a:extLst>
          </p:cNvPr>
          <p:cNvSpPr>
            <a:spLocks noGrp="1"/>
          </p:cNvSpPr>
          <p:nvPr>
            <p:ph type="sldNum" sz="quarter" idx="4"/>
          </p:nvPr>
        </p:nvSpPr>
        <p:spPr/>
        <p:txBody>
          <a:bodyPr/>
          <a:lstStyle/>
          <a:p>
            <a:fld id="{33C783E2-4793-4F48-A271-51A73CC37D74}" type="slidenum">
              <a:rPr lang="fr-FR" smtClean="0"/>
              <a:t>45</a:t>
            </a:fld>
            <a:endParaRPr lang="fr-FR" dirty="0"/>
          </a:p>
        </p:txBody>
      </p:sp>
    </p:spTree>
    <p:extLst>
      <p:ext uri="{BB962C8B-B14F-4D97-AF65-F5344CB8AC3E}">
        <p14:creationId xmlns:p14="http://schemas.microsoft.com/office/powerpoint/2010/main" val="2761664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Méthodes de classe</a:t>
            </a:r>
          </a:p>
        </p:txBody>
      </p:sp>
      <p:sp>
        <p:nvSpPr>
          <p:cNvPr id="17" name="Espace réservé du contenu 16"/>
          <p:cNvSpPr>
            <a:spLocks noGrp="1"/>
          </p:cNvSpPr>
          <p:nvPr>
            <p:ph idx="1"/>
          </p:nvPr>
        </p:nvSpPr>
        <p:spPr/>
        <p:txBody>
          <a:bodyPr>
            <a:noAutofit/>
          </a:bodyPr>
          <a:lstStyle/>
          <a:p>
            <a:pPr marL="0" indent="0">
              <a:buNone/>
            </a:pPr>
            <a:r>
              <a:rPr lang="fr-FR" sz="2600" dirty="0"/>
              <a:t>Comme les champs de classe, les méthodes de classe ne dépendent pas d'un objet particulier. </a:t>
            </a:r>
          </a:p>
          <a:p>
            <a:pPr marL="0" indent="0">
              <a:buNone/>
            </a:pPr>
            <a:r>
              <a:rPr lang="fr-FR" sz="2600" dirty="0"/>
              <a:t>Elles n'ont pas besoin qu'on définisse un objet pour pouvoir les utiliser, par opposition à </a:t>
            </a:r>
            <a:r>
              <a:rPr lang="fr-FR" sz="2400" dirty="0" err="1">
                <a:solidFill>
                  <a:schemeClr val="accent4"/>
                </a:solidFill>
                <a:latin typeface="Consolas"/>
                <a:cs typeface="Consolas"/>
              </a:rPr>
              <a:t>p.getX</a:t>
            </a:r>
            <a:r>
              <a:rPr lang="fr-FR" sz="2400" dirty="0">
                <a:solidFill>
                  <a:schemeClr val="accent4"/>
                </a:solidFill>
                <a:latin typeface="Consolas"/>
                <a:cs typeface="Consolas"/>
              </a:rPr>
              <a:t>()</a:t>
            </a:r>
            <a:r>
              <a:rPr lang="fr-FR" sz="2600" dirty="0"/>
              <a:t> de notre classe </a:t>
            </a:r>
            <a:r>
              <a:rPr lang="fr-FR" sz="2400" dirty="0">
                <a:solidFill>
                  <a:schemeClr val="accent4"/>
                </a:solidFill>
                <a:latin typeface="Consolas"/>
                <a:cs typeface="Consolas"/>
              </a:rPr>
              <a:t>Point</a:t>
            </a:r>
            <a:r>
              <a:rPr lang="fr-FR" sz="2600" dirty="0"/>
              <a:t>.</a:t>
            </a:r>
            <a:br>
              <a:rPr lang="fr-FR" sz="2600" dirty="0"/>
            </a:br>
            <a:endParaRPr lang="fr-FR" sz="2600" dirty="0"/>
          </a:p>
          <a:p>
            <a:pPr marL="0" indent="0">
              <a:buNone/>
            </a:pPr>
            <a:r>
              <a:rPr lang="fr-FR" sz="2600" dirty="0"/>
              <a:t>Un exemple:			</a:t>
            </a:r>
            <a:r>
              <a:rPr lang="fr-FR" sz="2400" dirty="0" err="1">
                <a:solidFill>
                  <a:schemeClr val="accent4"/>
                </a:solidFill>
                <a:latin typeface="Consolas"/>
                <a:cs typeface="Consolas"/>
              </a:rPr>
              <a:t>Math.sqrt</a:t>
            </a:r>
            <a:r>
              <a:rPr lang="fr-FR" sz="2400" dirty="0">
                <a:solidFill>
                  <a:schemeClr val="accent4"/>
                </a:solidFill>
                <a:latin typeface="Consolas"/>
                <a:cs typeface="Consolas"/>
              </a:rPr>
              <a:t>(4);</a:t>
            </a:r>
          </a:p>
          <a:p>
            <a:pPr marL="0" indent="0">
              <a:buNone/>
            </a:pPr>
            <a:endParaRPr lang="fr-FR" sz="2600" dirty="0"/>
          </a:p>
          <a:p>
            <a:pPr marL="0" indent="0">
              <a:buNone/>
            </a:pPr>
            <a:r>
              <a:rPr lang="fr-FR" sz="2600" dirty="0"/>
              <a:t>Les méthodes de classe </a:t>
            </a:r>
            <a:r>
              <a:rPr lang="fr-FR" sz="2600" dirty="0">
                <a:solidFill>
                  <a:schemeClr val="accent4"/>
                </a:solidFill>
              </a:rPr>
              <a:t>ne s'exécutent </a:t>
            </a:r>
            <a:r>
              <a:rPr lang="fr-FR" sz="2600" dirty="0">
                <a:solidFill>
                  <a:schemeClr val="accent2"/>
                </a:solidFill>
              </a:rPr>
              <a:t>pas</a:t>
            </a:r>
            <a:r>
              <a:rPr lang="fr-FR" sz="2600" dirty="0">
                <a:solidFill>
                  <a:schemeClr val="accent4"/>
                </a:solidFill>
              </a:rPr>
              <a:t> sur des objets</a:t>
            </a:r>
            <a:r>
              <a:rPr lang="fr-FR" sz="2600" dirty="0"/>
              <a:t>. </a:t>
            </a:r>
          </a:p>
          <a:p>
            <a:pPr marL="0" indent="0">
              <a:buNone/>
            </a:pPr>
            <a:r>
              <a:rPr lang="fr-FR" sz="2600" dirty="0"/>
              <a:t>On peut les appeler sur un objet (</a:t>
            </a:r>
            <a:r>
              <a:rPr lang="fr-FR" sz="2400" dirty="0" err="1">
                <a:solidFill>
                  <a:schemeClr val="accent4"/>
                </a:solidFill>
                <a:latin typeface="Consolas"/>
                <a:cs typeface="Consolas"/>
              </a:rPr>
              <a:t>a.sqrt</a:t>
            </a:r>
            <a:r>
              <a:rPr lang="fr-FR" sz="2400" dirty="0">
                <a:solidFill>
                  <a:schemeClr val="accent4"/>
                </a:solidFill>
                <a:latin typeface="Consolas"/>
                <a:cs typeface="Consolas"/>
              </a:rPr>
              <a:t>(4)</a:t>
            </a:r>
            <a:r>
              <a:rPr lang="fr-FR" sz="2600" dirty="0">
                <a:solidFill>
                  <a:srgbClr val="A6082B"/>
                </a:solidFill>
                <a:latin typeface="Consolas"/>
                <a:cs typeface="Consolas"/>
              </a:rPr>
              <a:t> </a:t>
            </a:r>
            <a:r>
              <a:rPr lang="fr-FR" sz="2600" dirty="0"/>
              <a:t>si </a:t>
            </a:r>
            <a:r>
              <a:rPr lang="fr-FR" sz="2400" dirty="0">
                <a:solidFill>
                  <a:schemeClr val="accent4"/>
                </a:solidFill>
                <a:latin typeface="Consolas"/>
                <a:cs typeface="Consolas"/>
              </a:rPr>
              <a:t>a</a:t>
            </a:r>
            <a:r>
              <a:rPr lang="fr-FR" sz="2600" dirty="0"/>
              <a:t> est de type </a:t>
            </a:r>
            <a:r>
              <a:rPr lang="fr-FR" sz="2400" dirty="0">
                <a:solidFill>
                  <a:schemeClr val="accent4"/>
                </a:solidFill>
                <a:latin typeface="Consolas"/>
                <a:cs typeface="Consolas"/>
              </a:rPr>
              <a:t>Math</a:t>
            </a:r>
            <a:r>
              <a:rPr lang="fr-FR" sz="2600" dirty="0"/>
              <a:t>), mais c'est déconseillé parce que peu lisible.</a:t>
            </a:r>
          </a:p>
        </p:txBody>
      </p:sp>
      <p:sp>
        <p:nvSpPr>
          <p:cNvPr id="2" name="Espace réservé du numéro de diapositive 1">
            <a:extLst>
              <a:ext uri="{FF2B5EF4-FFF2-40B4-BE49-F238E27FC236}">
                <a16:creationId xmlns:a16="http://schemas.microsoft.com/office/drawing/2014/main" id="{E4B6AA06-4E4E-F9DA-2FB2-11102AC66C13}"/>
              </a:ext>
            </a:extLst>
          </p:cNvPr>
          <p:cNvSpPr>
            <a:spLocks noGrp="1"/>
          </p:cNvSpPr>
          <p:nvPr>
            <p:ph type="sldNum" sz="quarter" idx="4"/>
          </p:nvPr>
        </p:nvSpPr>
        <p:spPr/>
        <p:txBody>
          <a:bodyPr/>
          <a:lstStyle/>
          <a:p>
            <a:fld id="{33C783E2-4793-4F48-A271-51A73CC37D74}" type="slidenum">
              <a:rPr lang="fr-FR" smtClean="0"/>
              <a:t>46</a:t>
            </a:fld>
            <a:endParaRPr lang="fr-FR" dirty="0"/>
          </a:p>
        </p:txBody>
      </p:sp>
    </p:spTree>
    <p:extLst>
      <p:ext uri="{BB962C8B-B14F-4D97-AF65-F5344CB8AC3E}">
        <p14:creationId xmlns:p14="http://schemas.microsoft.com/office/powerpoint/2010/main" val="1126002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Méthodes de classe</a:t>
            </a:r>
          </a:p>
        </p:txBody>
      </p:sp>
      <p:sp>
        <p:nvSpPr>
          <p:cNvPr id="17" name="Espace réservé du contenu 16"/>
          <p:cNvSpPr>
            <a:spLocks noGrp="1"/>
          </p:cNvSpPr>
          <p:nvPr>
            <p:ph idx="1"/>
          </p:nvPr>
        </p:nvSpPr>
        <p:spPr/>
        <p:txBody>
          <a:bodyPr>
            <a:normAutofit/>
          </a:bodyPr>
          <a:lstStyle/>
          <a:p>
            <a:pPr marL="0" indent="0">
              <a:buNone/>
            </a:pPr>
            <a:r>
              <a:rPr lang="fr-FR" sz="2600" dirty="0"/>
              <a:t>Une méthode statique </a:t>
            </a:r>
            <a:r>
              <a:rPr lang="fr-FR" sz="2600" dirty="0">
                <a:solidFill>
                  <a:schemeClr val="accent4"/>
                </a:solidFill>
              </a:rPr>
              <a:t>ne peut pas faire référence à des </a:t>
            </a:r>
            <a:r>
              <a:rPr lang="fr-FR" sz="2600" dirty="0">
                <a:solidFill>
                  <a:schemeClr val="accent2"/>
                </a:solidFill>
              </a:rPr>
              <a:t>variables</a:t>
            </a:r>
            <a:r>
              <a:rPr lang="fr-FR" sz="2600" dirty="0">
                <a:solidFill>
                  <a:schemeClr val="accent4"/>
                </a:solidFill>
              </a:rPr>
              <a:t> ni des </a:t>
            </a:r>
            <a:r>
              <a:rPr lang="fr-FR" sz="2600" dirty="0">
                <a:solidFill>
                  <a:schemeClr val="accent2"/>
                </a:solidFill>
              </a:rPr>
              <a:t>méthodes</a:t>
            </a:r>
            <a:r>
              <a:rPr lang="fr-FR" sz="2600" dirty="0">
                <a:solidFill>
                  <a:schemeClr val="accent4"/>
                </a:solidFill>
              </a:rPr>
              <a:t> qui ne sont pas statiques</a:t>
            </a:r>
            <a:r>
              <a:rPr lang="fr-FR" sz="2600" dirty="0"/>
              <a:t>...</a:t>
            </a:r>
          </a:p>
          <a:p>
            <a:pPr marL="0" indent="0">
              <a:buNone/>
            </a:pPr>
            <a:r>
              <a:rPr lang="fr-FR" sz="2600" dirty="0"/>
              <a:t>En effet, essayons d'accéder à n, champ non statique, </a:t>
            </a:r>
            <a:r>
              <a:rPr lang="fr-FR" sz="2600" dirty="0">
                <a:solidFill>
                  <a:schemeClr val="accent4"/>
                </a:solidFill>
              </a:rPr>
              <a:t>depuis une méthode statique</a:t>
            </a:r>
            <a:r>
              <a:rPr lang="fr-FR" sz="2600" dirty="0"/>
              <a:t>, donc définie au niveau de la classe...</a:t>
            </a:r>
          </a:p>
          <a:p>
            <a:pPr marL="0" indent="0">
              <a:buNone/>
            </a:pPr>
            <a:r>
              <a:rPr lang="fr-FR" sz="2400" dirty="0">
                <a:solidFill>
                  <a:schemeClr val="accent4"/>
                </a:solidFill>
                <a:latin typeface="Consolas"/>
                <a:cs typeface="Consolas"/>
              </a:rPr>
              <a:t>class C { </a:t>
            </a:r>
            <a:br>
              <a:rPr lang="fr-FR" sz="2400" dirty="0">
                <a:solidFill>
                  <a:schemeClr val="accent4"/>
                </a:solidFill>
                <a:latin typeface="Consolas"/>
                <a:cs typeface="Consolas"/>
              </a:rPr>
            </a:br>
            <a:r>
              <a:rPr lang="fr-FR" sz="2400" dirty="0">
                <a:solidFill>
                  <a:schemeClr val="accent4"/>
                </a:solidFill>
                <a:latin typeface="Consolas"/>
                <a:cs typeface="Consolas"/>
              </a:rPr>
              <a:t>  </a:t>
            </a:r>
            <a:r>
              <a:rPr lang="fr-FR" sz="2400" dirty="0" err="1">
                <a:solidFill>
                  <a:schemeClr val="accent4"/>
                </a:solidFill>
                <a:latin typeface="Consolas"/>
                <a:cs typeface="Consolas"/>
              </a:rPr>
              <a:t>int</a:t>
            </a:r>
            <a:r>
              <a:rPr lang="fr-FR" sz="2400" dirty="0">
                <a:solidFill>
                  <a:schemeClr val="accent4"/>
                </a:solidFill>
                <a:latin typeface="Consolas"/>
                <a:cs typeface="Consolas"/>
              </a:rPr>
              <a:t> n = 0;</a:t>
            </a:r>
            <a:br>
              <a:rPr lang="fr-FR" sz="2400" dirty="0">
                <a:solidFill>
                  <a:schemeClr val="accent4"/>
                </a:solidFill>
                <a:latin typeface="Consolas"/>
                <a:cs typeface="Consolas"/>
              </a:rPr>
            </a:br>
            <a:r>
              <a:rPr lang="fr-FR" sz="2400" dirty="0">
                <a:solidFill>
                  <a:schemeClr val="accent4"/>
                </a:solidFill>
                <a:latin typeface="Consolas"/>
                <a:cs typeface="Consolas"/>
              </a:rPr>
              <a:t>  public </a:t>
            </a:r>
            <a:r>
              <a:rPr lang="fr-FR" sz="2400" dirty="0" err="1">
                <a:solidFill>
                  <a:schemeClr val="accent4"/>
                </a:solidFill>
                <a:latin typeface="Consolas"/>
                <a:cs typeface="Consolas"/>
              </a:rPr>
              <a:t>static</a:t>
            </a:r>
            <a:r>
              <a:rPr lang="fr-FR" sz="2400" dirty="0">
                <a:solidFill>
                  <a:schemeClr val="accent4"/>
                </a:solidFill>
                <a:latin typeface="Consolas"/>
                <a:cs typeface="Consolas"/>
              </a:rPr>
              <a:t> </a:t>
            </a:r>
            <a:r>
              <a:rPr lang="fr-FR" sz="2400" dirty="0" err="1">
                <a:solidFill>
                  <a:schemeClr val="accent4"/>
                </a:solidFill>
                <a:latin typeface="Consolas"/>
                <a:cs typeface="Consolas"/>
              </a:rPr>
              <a:t>void</a:t>
            </a:r>
            <a:r>
              <a:rPr lang="fr-FR" sz="2400" dirty="0">
                <a:solidFill>
                  <a:schemeClr val="accent4"/>
                </a:solidFill>
                <a:latin typeface="Consolas"/>
                <a:cs typeface="Consolas"/>
              </a:rPr>
              <a:t> truc() { </a:t>
            </a:r>
            <a:r>
              <a:rPr lang="fr-FR" sz="2400" dirty="0">
                <a:solidFill>
                  <a:schemeClr val="accent2"/>
                </a:solidFill>
                <a:latin typeface="Consolas"/>
                <a:cs typeface="Consolas"/>
              </a:rPr>
              <a:t>n = 2</a:t>
            </a:r>
            <a:r>
              <a:rPr lang="fr-FR" sz="2400" dirty="0">
                <a:solidFill>
                  <a:schemeClr val="accent4"/>
                </a:solidFill>
                <a:latin typeface="Consolas"/>
                <a:cs typeface="Consolas"/>
              </a:rPr>
              <a:t>; }</a:t>
            </a:r>
            <a:br>
              <a:rPr lang="fr-FR" sz="2400" dirty="0">
                <a:solidFill>
                  <a:schemeClr val="accent4"/>
                </a:solidFill>
                <a:latin typeface="Consolas"/>
                <a:cs typeface="Consolas"/>
              </a:rPr>
            </a:br>
            <a:r>
              <a:rPr lang="fr-FR" sz="2400" dirty="0">
                <a:solidFill>
                  <a:schemeClr val="accent4"/>
                </a:solidFill>
                <a:latin typeface="Consolas"/>
                <a:cs typeface="Consolas"/>
              </a:rPr>
              <a:t>}</a:t>
            </a:r>
            <a:endParaRPr lang="fr-FR" sz="2600" dirty="0">
              <a:solidFill>
                <a:schemeClr val="accent4"/>
              </a:solidFill>
              <a:latin typeface="Consolas"/>
              <a:cs typeface="Consolas"/>
            </a:endParaRPr>
          </a:p>
        </p:txBody>
      </p:sp>
      <p:grpSp>
        <p:nvGrpSpPr>
          <p:cNvPr id="6" name="Grouper 5"/>
          <p:cNvGrpSpPr/>
          <p:nvPr/>
        </p:nvGrpSpPr>
        <p:grpSpPr>
          <a:xfrm>
            <a:off x="2529260" y="5305223"/>
            <a:ext cx="1797677" cy="990247"/>
            <a:chOff x="6026774" y="4232389"/>
            <a:chExt cx="1797677" cy="990247"/>
          </a:xfrm>
        </p:grpSpPr>
        <p:grpSp>
          <p:nvGrpSpPr>
            <p:cNvPr id="8" name="Group 15"/>
            <p:cNvGrpSpPr/>
            <p:nvPr/>
          </p:nvGrpSpPr>
          <p:grpSpPr>
            <a:xfrm>
              <a:off x="6026774" y="4232389"/>
              <a:ext cx="1797677" cy="990247"/>
              <a:chOff x="1233809" y="2766600"/>
              <a:chExt cx="6410025" cy="2783402"/>
            </a:xfrm>
          </p:grpSpPr>
          <p:grpSp>
            <p:nvGrpSpPr>
              <p:cNvPr id="13" name="Group 5"/>
              <p:cNvGrpSpPr/>
              <p:nvPr/>
            </p:nvGrpSpPr>
            <p:grpSpPr>
              <a:xfrm>
                <a:off x="1233809" y="2766600"/>
                <a:ext cx="6410025" cy="1155222"/>
                <a:chOff x="34" y="21882"/>
                <a:chExt cx="3338191" cy="1155222"/>
              </a:xfrm>
              <a:scene3d>
                <a:camera prst="orthographicFront"/>
                <a:lightRig rig="chilly" dir="t"/>
              </a:scene3d>
            </p:grpSpPr>
            <p:sp>
              <p:nvSpPr>
                <p:cNvPr id="15"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C c1</a:t>
                  </a:r>
                </a:p>
              </p:txBody>
            </p:sp>
            <p:sp>
              <p:nvSpPr>
                <p:cNvPr id="16"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14" name="Rectangle 13"/>
              <p:cNvSpPr/>
              <p:nvPr/>
            </p:nvSpPr>
            <p:spPr>
              <a:xfrm>
                <a:off x="1233809" y="3921823"/>
                <a:ext cx="6410025" cy="1628179"/>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10" name="Rectangle 9"/>
            <p:cNvSpPr/>
            <p:nvPr/>
          </p:nvSpPr>
          <p:spPr>
            <a:xfrm>
              <a:off x="7058186" y="48165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11" name="Rectangle 10"/>
            <p:cNvSpPr/>
            <p:nvPr/>
          </p:nvSpPr>
          <p:spPr>
            <a:xfrm>
              <a:off x="6264703" y="4719630"/>
              <a:ext cx="817852" cy="369332"/>
            </a:xfrm>
            <a:prstGeom prst="rect">
              <a:avLst/>
            </a:prstGeom>
          </p:spPr>
          <p:txBody>
            <a:bodyPr wrap="none">
              <a:spAutoFit/>
            </a:bodyPr>
            <a:lstStyle/>
            <a:p>
              <a:pPr algn="r"/>
              <a:r>
                <a:rPr lang="fr-BE" b="1" i="1" dirty="0">
                  <a:latin typeface="Consolas"/>
                  <a:cs typeface="Consolas"/>
                </a:rPr>
                <a:t>int </a:t>
              </a:r>
              <a:r>
                <a:rPr lang="fr-BE" b="1" dirty="0">
                  <a:latin typeface="Consolas"/>
                  <a:cs typeface="Consolas"/>
                </a:rPr>
                <a:t>n</a:t>
              </a:r>
              <a:endParaRPr lang="fr-FR" dirty="0"/>
            </a:p>
          </p:txBody>
        </p:sp>
        <p:sp>
          <p:nvSpPr>
            <p:cNvPr id="12" name="Rectangle 11"/>
            <p:cNvSpPr/>
            <p:nvPr/>
          </p:nvSpPr>
          <p:spPr>
            <a:xfrm>
              <a:off x="7228684" y="4742720"/>
              <a:ext cx="297477" cy="338554"/>
            </a:xfrm>
            <a:prstGeom prst="rect">
              <a:avLst/>
            </a:prstGeom>
          </p:spPr>
          <p:txBody>
            <a:bodyPr wrap="none">
              <a:spAutoFit/>
            </a:bodyPr>
            <a:lstStyle/>
            <a:p>
              <a:pPr algn="ctr"/>
              <a:r>
                <a:rPr lang="fr-BE" sz="1600" dirty="0">
                  <a:solidFill>
                    <a:schemeClr val="accent4"/>
                  </a:solidFill>
                  <a:latin typeface="Consolas"/>
                  <a:cs typeface="Consolas"/>
                </a:rPr>
                <a:t>0</a:t>
              </a:r>
              <a:endParaRPr lang="fr-FR" sz="1600" dirty="0">
                <a:solidFill>
                  <a:schemeClr val="accent4"/>
                </a:solidFill>
              </a:endParaRPr>
            </a:p>
          </p:txBody>
        </p:sp>
      </p:grpSp>
      <p:grpSp>
        <p:nvGrpSpPr>
          <p:cNvPr id="18" name="Grouper 17"/>
          <p:cNvGrpSpPr/>
          <p:nvPr/>
        </p:nvGrpSpPr>
        <p:grpSpPr>
          <a:xfrm>
            <a:off x="5014543" y="5305223"/>
            <a:ext cx="1797677" cy="990247"/>
            <a:chOff x="6026774" y="4232389"/>
            <a:chExt cx="1797677" cy="990247"/>
          </a:xfrm>
        </p:grpSpPr>
        <p:grpSp>
          <p:nvGrpSpPr>
            <p:cNvPr id="19" name="Group 15"/>
            <p:cNvGrpSpPr/>
            <p:nvPr/>
          </p:nvGrpSpPr>
          <p:grpSpPr>
            <a:xfrm>
              <a:off x="6026774" y="4232389"/>
              <a:ext cx="1797677" cy="990247"/>
              <a:chOff x="1233809" y="2766600"/>
              <a:chExt cx="6410025" cy="2783402"/>
            </a:xfrm>
          </p:grpSpPr>
          <p:grpSp>
            <p:nvGrpSpPr>
              <p:cNvPr id="23" name="Group 5"/>
              <p:cNvGrpSpPr/>
              <p:nvPr/>
            </p:nvGrpSpPr>
            <p:grpSpPr>
              <a:xfrm>
                <a:off x="1233809" y="2766600"/>
                <a:ext cx="6410025" cy="1155222"/>
                <a:chOff x="34" y="21882"/>
                <a:chExt cx="3338191" cy="1155222"/>
              </a:xfrm>
              <a:scene3d>
                <a:camera prst="orthographicFront"/>
                <a:lightRig rig="chilly" dir="t"/>
              </a:scene3d>
            </p:grpSpPr>
            <p:sp>
              <p:nvSpPr>
                <p:cNvPr id="25"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C c2</a:t>
                  </a:r>
                </a:p>
              </p:txBody>
            </p:sp>
            <p:sp>
              <p:nvSpPr>
                <p:cNvPr id="26"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24" name="Rectangle 23"/>
              <p:cNvSpPr/>
              <p:nvPr/>
            </p:nvSpPr>
            <p:spPr>
              <a:xfrm>
                <a:off x="1233809" y="3921823"/>
                <a:ext cx="6410025" cy="1628179"/>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20" name="Rectangle 19"/>
            <p:cNvSpPr/>
            <p:nvPr/>
          </p:nvSpPr>
          <p:spPr>
            <a:xfrm>
              <a:off x="7058186" y="48165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21" name="Rectangle 20"/>
            <p:cNvSpPr/>
            <p:nvPr/>
          </p:nvSpPr>
          <p:spPr>
            <a:xfrm>
              <a:off x="6264703" y="4719630"/>
              <a:ext cx="817852" cy="369332"/>
            </a:xfrm>
            <a:prstGeom prst="rect">
              <a:avLst/>
            </a:prstGeom>
          </p:spPr>
          <p:txBody>
            <a:bodyPr wrap="none">
              <a:spAutoFit/>
            </a:bodyPr>
            <a:lstStyle/>
            <a:p>
              <a:pPr algn="r"/>
              <a:r>
                <a:rPr lang="fr-BE" b="1" i="1" dirty="0">
                  <a:latin typeface="Consolas"/>
                  <a:cs typeface="Consolas"/>
                </a:rPr>
                <a:t>int </a:t>
              </a:r>
              <a:r>
                <a:rPr lang="fr-BE" b="1" dirty="0">
                  <a:latin typeface="Consolas"/>
                  <a:cs typeface="Consolas"/>
                </a:rPr>
                <a:t>n</a:t>
              </a:r>
              <a:endParaRPr lang="fr-FR" dirty="0"/>
            </a:p>
          </p:txBody>
        </p:sp>
        <p:sp>
          <p:nvSpPr>
            <p:cNvPr id="22" name="Rectangle 21"/>
            <p:cNvSpPr/>
            <p:nvPr/>
          </p:nvSpPr>
          <p:spPr>
            <a:xfrm>
              <a:off x="7228684" y="4742720"/>
              <a:ext cx="297477" cy="338554"/>
            </a:xfrm>
            <a:prstGeom prst="rect">
              <a:avLst/>
            </a:prstGeom>
          </p:spPr>
          <p:txBody>
            <a:bodyPr wrap="none">
              <a:spAutoFit/>
            </a:bodyPr>
            <a:lstStyle/>
            <a:p>
              <a:pPr algn="ctr"/>
              <a:r>
                <a:rPr lang="fr-BE" sz="1600" dirty="0">
                  <a:solidFill>
                    <a:schemeClr val="accent4"/>
                  </a:solidFill>
                  <a:latin typeface="Consolas"/>
                  <a:cs typeface="Consolas"/>
                </a:rPr>
                <a:t>0</a:t>
              </a:r>
              <a:endParaRPr lang="fr-FR" sz="1600" dirty="0">
                <a:solidFill>
                  <a:schemeClr val="accent4"/>
                </a:solidFill>
              </a:endParaRPr>
            </a:p>
          </p:txBody>
        </p:sp>
      </p:grpSp>
      <p:grpSp>
        <p:nvGrpSpPr>
          <p:cNvPr id="27" name="Grouper 26"/>
          <p:cNvGrpSpPr/>
          <p:nvPr/>
        </p:nvGrpSpPr>
        <p:grpSpPr>
          <a:xfrm>
            <a:off x="7499826" y="5305223"/>
            <a:ext cx="1797677" cy="990247"/>
            <a:chOff x="6026774" y="4232389"/>
            <a:chExt cx="1797677" cy="990247"/>
          </a:xfrm>
        </p:grpSpPr>
        <p:grpSp>
          <p:nvGrpSpPr>
            <p:cNvPr id="28" name="Group 15"/>
            <p:cNvGrpSpPr/>
            <p:nvPr/>
          </p:nvGrpSpPr>
          <p:grpSpPr>
            <a:xfrm>
              <a:off x="6026774" y="4232389"/>
              <a:ext cx="1797677" cy="990247"/>
              <a:chOff x="1233809" y="2766600"/>
              <a:chExt cx="6410025" cy="2783402"/>
            </a:xfrm>
          </p:grpSpPr>
          <p:grpSp>
            <p:nvGrpSpPr>
              <p:cNvPr id="32" name="Group 5"/>
              <p:cNvGrpSpPr/>
              <p:nvPr/>
            </p:nvGrpSpPr>
            <p:grpSpPr>
              <a:xfrm>
                <a:off x="1233809" y="2766600"/>
                <a:ext cx="6410025" cy="1155222"/>
                <a:chOff x="34" y="21882"/>
                <a:chExt cx="3338191" cy="1155222"/>
              </a:xfrm>
              <a:scene3d>
                <a:camera prst="orthographicFront"/>
                <a:lightRig rig="chilly" dir="t"/>
              </a:scene3d>
            </p:grpSpPr>
            <p:sp>
              <p:nvSpPr>
                <p:cNvPr id="34" name="Round Same Side Corner Rectangle 17"/>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fr-FR" b="1" dirty="0">
                      <a:latin typeface="Consolas"/>
                      <a:cs typeface="Consolas"/>
                    </a:rPr>
                    <a:t>C c2</a:t>
                  </a:r>
                </a:p>
              </p:txBody>
            </p:sp>
            <p:sp>
              <p:nvSpPr>
                <p:cNvPr id="35" name="Round Same Side Corner Rectangle 4"/>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algn="ctr" defTabSz="1022350">
                    <a:lnSpc>
                      <a:spcPct val="90000"/>
                    </a:lnSpc>
                    <a:spcBef>
                      <a:spcPct val="0"/>
                    </a:spcBef>
                    <a:spcAft>
                      <a:spcPct val="35000"/>
                    </a:spcAft>
                  </a:pPr>
                  <a:endParaRPr lang="fr-BE" sz="2300" b="1" dirty="0"/>
                </a:p>
              </p:txBody>
            </p:sp>
          </p:grpSp>
          <p:sp>
            <p:nvSpPr>
              <p:cNvPr id="33" name="Rectangle 32"/>
              <p:cNvSpPr/>
              <p:nvPr/>
            </p:nvSpPr>
            <p:spPr>
              <a:xfrm>
                <a:off x="1233809" y="3921823"/>
                <a:ext cx="6410025" cy="1628179"/>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sp>
          <p:nvSpPr>
            <p:cNvPr id="29" name="Rectangle 28"/>
            <p:cNvSpPr/>
            <p:nvPr/>
          </p:nvSpPr>
          <p:spPr>
            <a:xfrm>
              <a:off x="7058186" y="4816545"/>
              <a:ext cx="642942" cy="214314"/>
            </a:xfrm>
            <a:prstGeom prst="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lgn="ctr"/>
              <a:endParaRPr lang="fr-BE" dirty="0">
                <a:solidFill>
                  <a:schemeClr val="tx1"/>
                </a:solidFill>
              </a:endParaRPr>
            </a:p>
          </p:txBody>
        </p:sp>
        <p:sp>
          <p:nvSpPr>
            <p:cNvPr id="30" name="Rectangle 29"/>
            <p:cNvSpPr/>
            <p:nvPr/>
          </p:nvSpPr>
          <p:spPr>
            <a:xfrm>
              <a:off x="6264703" y="4719630"/>
              <a:ext cx="817852" cy="369332"/>
            </a:xfrm>
            <a:prstGeom prst="rect">
              <a:avLst/>
            </a:prstGeom>
          </p:spPr>
          <p:txBody>
            <a:bodyPr wrap="none">
              <a:spAutoFit/>
            </a:bodyPr>
            <a:lstStyle/>
            <a:p>
              <a:pPr algn="r"/>
              <a:r>
                <a:rPr lang="fr-BE" b="1" i="1" dirty="0">
                  <a:latin typeface="Consolas"/>
                  <a:cs typeface="Consolas"/>
                </a:rPr>
                <a:t>int </a:t>
              </a:r>
              <a:r>
                <a:rPr lang="fr-BE" b="1" dirty="0">
                  <a:latin typeface="Consolas"/>
                  <a:cs typeface="Consolas"/>
                </a:rPr>
                <a:t>n</a:t>
              </a:r>
              <a:endParaRPr lang="fr-FR" dirty="0"/>
            </a:p>
          </p:txBody>
        </p:sp>
        <p:sp>
          <p:nvSpPr>
            <p:cNvPr id="31" name="Rectangle 30"/>
            <p:cNvSpPr/>
            <p:nvPr/>
          </p:nvSpPr>
          <p:spPr>
            <a:xfrm>
              <a:off x="7228684" y="4742720"/>
              <a:ext cx="297477" cy="338554"/>
            </a:xfrm>
            <a:prstGeom prst="rect">
              <a:avLst/>
            </a:prstGeom>
          </p:spPr>
          <p:txBody>
            <a:bodyPr wrap="none">
              <a:spAutoFit/>
            </a:bodyPr>
            <a:lstStyle/>
            <a:p>
              <a:pPr algn="ctr"/>
              <a:r>
                <a:rPr lang="fr-BE" sz="1600" dirty="0">
                  <a:solidFill>
                    <a:schemeClr val="accent4"/>
                  </a:solidFill>
                  <a:latin typeface="Consolas"/>
                  <a:cs typeface="Consolas"/>
                </a:rPr>
                <a:t>0</a:t>
              </a:r>
              <a:endParaRPr lang="fr-FR" sz="1600" dirty="0">
                <a:solidFill>
                  <a:schemeClr val="accent4"/>
                </a:solidFill>
              </a:endParaRPr>
            </a:p>
          </p:txBody>
        </p:sp>
      </p:grpSp>
      <p:sp>
        <p:nvSpPr>
          <p:cNvPr id="3" name="Rectangle 2"/>
          <p:cNvSpPr/>
          <p:nvPr/>
        </p:nvSpPr>
        <p:spPr>
          <a:xfrm>
            <a:off x="6165911" y="3918849"/>
            <a:ext cx="929494" cy="31405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36" name="Connecteur en arc 35"/>
          <p:cNvCxnSpPr>
            <a:cxnSpLocks/>
          </p:cNvCxnSpPr>
          <p:nvPr/>
        </p:nvCxnSpPr>
        <p:spPr>
          <a:xfrm rot="5400000">
            <a:off x="5909638" y="4895258"/>
            <a:ext cx="1272162" cy="169878"/>
          </a:xfrm>
          <a:prstGeom prst="curved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Connecteur en arc 36"/>
          <p:cNvCxnSpPr>
            <a:cxnSpLocks/>
            <a:endCxn id="29" idx="1"/>
          </p:cNvCxnSpPr>
          <p:nvPr/>
        </p:nvCxnSpPr>
        <p:spPr>
          <a:xfrm>
            <a:off x="6137074" y="4518909"/>
            <a:ext cx="2394164" cy="1477627"/>
          </a:xfrm>
          <a:prstGeom prst="curvedConnector3">
            <a:avLst>
              <a:gd name="adj1" fmla="val 50000"/>
            </a:avLst>
          </a:prstGeom>
          <a:ln>
            <a:solidFill>
              <a:schemeClr val="accent4"/>
            </a:solidFill>
            <a:tailEnd type="arrow"/>
          </a:ln>
        </p:spPr>
        <p:style>
          <a:lnRef idx="2">
            <a:schemeClr val="accent1"/>
          </a:lnRef>
          <a:fillRef idx="0">
            <a:schemeClr val="accent1"/>
          </a:fillRef>
          <a:effectRef idx="1">
            <a:schemeClr val="accent1"/>
          </a:effectRef>
          <a:fontRef idx="minor">
            <a:schemeClr val="tx1"/>
          </a:fontRef>
        </p:style>
      </p:cxnSp>
      <p:cxnSp>
        <p:nvCxnSpPr>
          <p:cNvPr id="38" name="Connecteur en arc 37"/>
          <p:cNvCxnSpPr>
            <a:cxnSpLocks/>
            <a:endCxn id="10" idx="3"/>
          </p:cNvCxnSpPr>
          <p:nvPr/>
        </p:nvCxnSpPr>
        <p:spPr>
          <a:xfrm rot="10800000" flipV="1">
            <a:off x="4203614" y="4518908"/>
            <a:ext cx="1933460" cy="1477627"/>
          </a:xfrm>
          <a:prstGeom prst="curvedConnector3">
            <a:avLst>
              <a:gd name="adj1" fmla="val 50000"/>
            </a:avLst>
          </a:prstGeom>
          <a:ln>
            <a:solidFill>
              <a:schemeClr val="accent4"/>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473004" y="4684169"/>
            <a:ext cx="2303836" cy="400110"/>
          </a:xfrm>
          <a:prstGeom prst="rect">
            <a:avLst/>
          </a:prstGeom>
          <a:solidFill>
            <a:srgbClr val="FFFFFF">
              <a:alpha val="50000"/>
            </a:srgbClr>
          </a:solidFill>
        </p:spPr>
        <p:txBody>
          <a:bodyPr wrap="none">
            <a:spAutoFit/>
          </a:bodyPr>
          <a:lstStyle/>
          <a:p>
            <a:r>
              <a:rPr lang="fr-FR" sz="2000" b="1" dirty="0">
                <a:solidFill>
                  <a:schemeClr val="accent4"/>
                </a:solidFill>
                <a:latin typeface="Consolas"/>
                <a:cs typeface="Consolas"/>
              </a:rPr>
              <a:t>n</a:t>
            </a:r>
            <a:r>
              <a:rPr lang="fr-FR" sz="2000" b="1" dirty="0"/>
              <a:t>, oui, mais lequel?</a:t>
            </a:r>
          </a:p>
        </p:txBody>
      </p:sp>
      <p:sp>
        <p:nvSpPr>
          <p:cNvPr id="49" name="Rectangle 48"/>
          <p:cNvSpPr/>
          <p:nvPr/>
        </p:nvSpPr>
        <p:spPr>
          <a:xfrm>
            <a:off x="3721093" y="4681526"/>
            <a:ext cx="1453793" cy="400110"/>
          </a:xfrm>
          <a:prstGeom prst="rect">
            <a:avLst/>
          </a:prstGeom>
        </p:spPr>
        <p:txBody>
          <a:bodyPr wrap="none">
            <a:spAutoFit/>
          </a:bodyPr>
          <a:lstStyle/>
          <a:p>
            <a:r>
              <a:rPr lang="fr-FR" sz="2000" b="1" dirty="0" err="1">
                <a:solidFill>
                  <a:schemeClr val="accent4"/>
                </a:solidFill>
                <a:latin typeface="Consolas"/>
                <a:cs typeface="Consolas"/>
              </a:rPr>
              <a:t>C.truc</a:t>
            </a:r>
            <a:r>
              <a:rPr lang="fr-FR" sz="2000" b="1" dirty="0">
                <a:solidFill>
                  <a:schemeClr val="accent4"/>
                </a:solidFill>
                <a:latin typeface="Consolas"/>
                <a:cs typeface="Consolas"/>
              </a:rPr>
              <a:t>();</a:t>
            </a:r>
            <a:endParaRPr lang="fr-FR" sz="2000" b="1" dirty="0">
              <a:solidFill>
                <a:schemeClr val="accent4"/>
              </a:solidFill>
            </a:endParaRPr>
          </a:p>
        </p:txBody>
      </p:sp>
      <p:cxnSp>
        <p:nvCxnSpPr>
          <p:cNvPr id="51" name="Connecteur droit avec flèche 50"/>
          <p:cNvCxnSpPr/>
          <p:nvPr/>
        </p:nvCxnSpPr>
        <p:spPr>
          <a:xfrm>
            <a:off x="5174886" y="4908892"/>
            <a:ext cx="298119" cy="2643"/>
          </a:xfrm>
          <a:prstGeom prst="straightConnector1">
            <a:avLst/>
          </a:prstGeom>
          <a:ln w="38100" cmpd="dbl">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 name="Connecteur en arc 1">
            <a:extLst>
              <a:ext uri="{FF2B5EF4-FFF2-40B4-BE49-F238E27FC236}">
                <a16:creationId xmlns:a16="http://schemas.microsoft.com/office/drawing/2014/main" id="{38F613D7-6801-265A-FD5F-6D05BE80905C}"/>
              </a:ext>
            </a:extLst>
          </p:cNvPr>
          <p:cNvCxnSpPr>
            <a:cxnSpLocks/>
            <a:endCxn id="22" idx="0"/>
          </p:cNvCxnSpPr>
          <p:nvPr/>
        </p:nvCxnSpPr>
        <p:spPr>
          <a:xfrm rot="16200000" flipH="1">
            <a:off x="5592306" y="5042668"/>
            <a:ext cx="1296644" cy="249128"/>
          </a:xfrm>
          <a:prstGeom prst="curvedConnector3">
            <a:avLst>
              <a:gd name="adj1" fmla="val 50000"/>
            </a:avLst>
          </a:prstGeom>
          <a:ln>
            <a:solidFill>
              <a:schemeClr val="accent4"/>
            </a:solidFill>
            <a:tailEnd type="arrow"/>
          </a:ln>
        </p:spPr>
        <p:style>
          <a:lnRef idx="2">
            <a:schemeClr val="accent1"/>
          </a:lnRef>
          <a:fillRef idx="0">
            <a:schemeClr val="accent1"/>
          </a:fillRef>
          <a:effectRef idx="1">
            <a:schemeClr val="accent1"/>
          </a:effectRef>
          <a:fontRef idx="minor">
            <a:schemeClr val="tx1"/>
          </a:fontRef>
        </p:style>
      </p:cxnSp>
      <p:sp>
        <p:nvSpPr>
          <p:cNvPr id="43" name="Espace réservé du numéro de diapositive 42">
            <a:extLst>
              <a:ext uri="{FF2B5EF4-FFF2-40B4-BE49-F238E27FC236}">
                <a16:creationId xmlns:a16="http://schemas.microsoft.com/office/drawing/2014/main" id="{73ACB62B-D673-94DB-CD89-4902AB6CE639}"/>
              </a:ext>
            </a:extLst>
          </p:cNvPr>
          <p:cNvSpPr>
            <a:spLocks noGrp="1"/>
          </p:cNvSpPr>
          <p:nvPr>
            <p:ph type="sldNum" sz="quarter" idx="4"/>
          </p:nvPr>
        </p:nvSpPr>
        <p:spPr/>
        <p:txBody>
          <a:bodyPr/>
          <a:lstStyle/>
          <a:p>
            <a:fld id="{33C783E2-4793-4F48-A271-51A73CC37D74}" type="slidenum">
              <a:rPr lang="fr-FR" smtClean="0"/>
              <a:t>47</a:t>
            </a:fld>
            <a:endParaRPr lang="fr-FR" dirty="0"/>
          </a:p>
        </p:txBody>
      </p:sp>
    </p:spTree>
    <p:extLst>
      <p:ext uri="{BB962C8B-B14F-4D97-AF65-F5344CB8AC3E}">
        <p14:creationId xmlns:p14="http://schemas.microsoft.com/office/powerpoint/2010/main" val="3917801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dissolve">
                                      <p:cBhvr>
                                        <p:cTn id="24" dur="500"/>
                                        <p:tgtEl>
                                          <p:spTgt spid="49"/>
                                        </p:tgtEl>
                                      </p:cBhvr>
                                    </p:animEffect>
                                  </p:childTnLst>
                                </p:cTn>
                              </p:par>
                              <p:par>
                                <p:cTn id="25" presetID="9"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dissolve">
                                      <p:cBhvr>
                                        <p:cTn id="27" dur="500"/>
                                        <p:tgtEl>
                                          <p:spTgt spid="5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dissolve">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up)">
                                      <p:cBhvr>
                                        <p:cTn id="35" dur="500"/>
                                        <p:tgtEl>
                                          <p:spTgt spid="38"/>
                                        </p:tgtEl>
                                      </p:cBhvr>
                                    </p:animEffect>
                                  </p:childTnLst>
                                </p:cTn>
                              </p:par>
                              <p:par>
                                <p:cTn id="36" presetID="22" presetClass="entr" presetSubtype="1"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up)">
                                      <p:cBhvr>
                                        <p:cTn id="38" dur="500"/>
                                        <p:tgtEl>
                                          <p:spTgt spid="2"/>
                                        </p:tgtEl>
                                      </p:cBhvr>
                                    </p:animEffect>
                                  </p:childTnLst>
                                </p:cTn>
                              </p:par>
                              <p:par>
                                <p:cTn id="39" presetID="22" presetClass="entr" presetSubtype="1"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up)">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Méthodes de classe</a:t>
            </a:r>
          </a:p>
        </p:txBody>
      </p:sp>
      <p:sp>
        <p:nvSpPr>
          <p:cNvPr id="17" name="Espace réservé du contenu 16"/>
          <p:cNvSpPr>
            <a:spLocks noGrp="1"/>
          </p:cNvSpPr>
          <p:nvPr>
            <p:ph idx="1"/>
          </p:nvPr>
        </p:nvSpPr>
        <p:spPr/>
        <p:txBody>
          <a:bodyPr>
            <a:normAutofit/>
          </a:bodyPr>
          <a:lstStyle/>
          <a:p>
            <a:pPr marL="0" indent="0">
              <a:buNone/>
            </a:pPr>
            <a:r>
              <a:rPr lang="fr-FR" sz="2600" dirty="0"/>
              <a:t>Les méthodes de classe permettent à </a:t>
            </a:r>
            <a:r>
              <a:rPr lang="fr-FR" sz="2600" dirty="0">
                <a:solidFill>
                  <a:schemeClr val="accent4"/>
                </a:solidFill>
              </a:rPr>
              <a:t>différents objets </a:t>
            </a:r>
            <a:r>
              <a:rPr lang="fr-FR" sz="2600" dirty="0"/>
              <a:t>de la même classe de disposer de la </a:t>
            </a:r>
            <a:r>
              <a:rPr lang="fr-FR" sz="2600" dirty="0">
                <a:solidFill>
                  <a:schemeClr val="accent4"/>
                </a:solidFill>
              </a:rPr>
              <a:t>même information</a:t>
            </a:r>
            <a:r>
              <a:rPr lang="fr-FR" sz="2600" dirty="0"/>
              <a:t>, comme par exemple lors du comptage d'éléments d'une classe.</a:t>
            </a:r>
            <a:br>
              <a:rPr lang="fr-FR" sz="2600" dirty="0"/>
            </a:br>
            <a:r>
              <a:rPr lang="fr-FR" sz="2600" dirty="0"/>
              <a:t>On pourrait par exemple introduire dans une classe </a:t>
            </a:r>
            <a:r>
              <a:rPr lang="fr-FR" sz="2400" dirty="0">
                <a:solidFill>
                  <a:schemeClr val="accent4"/>
                </a:solidFill>
                <a:latin typeface="Consolas"/>
                <a:cs typeface="Consolas"/>
              </a:rPr>
              <a:t>Point</a:t>
            </a:r>
            <a:r>
              <a:rPr lang="fr-FR" sz="2600" dirty="0">
                <a:solidFill>
                  <a:srgbClr val="A6082B"/>
                </a:solidFill>
              </a:rPr>
              <a:t> </a:t>
            </a:r>
            <a:r>
              <a:rPr lang="fr-FR" sz="2600" dirty="0"/>
              <a:t>la coordonnée de l'origine, commune à tous les points.</a:t>
            </a:r>
          </a:p>
          <a:p>
            <a:pPr marL="0" indent="0">
              <a:buNone/>
            </a:pPr>
            <a:endParaRPr lang="fr-FR" sz="2600" dirty="0"/>
          </a:p>
          <a:p>
            <a:pPr marL="0" indent="0">
              <a:buNone/>
            </a:pPr>
            <a:r>
              <a:rPr lang="fr-FR" sz="2600" dirty="0"/>
              <a:t>Elles permettent aussi de fournir des </a:t>
            </a:r>
            <a:r>
              <a:rPr lang="fr-FR" sz="2600" dirty="0">
                <a:solidFill>
                  <a:schemeClr val="accent4"/>
                </a:solidFill>
              </a:rPr>
              <a:t>services qui ne sont pas utiles pour les objets de la classe</a:t>
            </a:r>
            <a:r>
              <a:rPr lang="fr-FR" sz="2600" dirty="0"/>
              <a:t>, comme par exemple une méthode d'identification de la classe qui retournerait le nom de l'auteur, le nom de la classe, un numéro d'identification...</a:t>
            </a:r>
          </a:p>
        </p:txBody>
      </p:sp>
      <p:sp>
        <p:nvSpPr>
          <p:cNvPr id="2" name="Espace réservé du numéro de diapositive 1">
            <a:extLst>
              <a:ext uri="{FF2B5EF4-FFF2-40B4-BE49-F238E27FC236}">
                <a16:creationId xmlns:a16="http://schemas.microsoft.com/office/drawing/2014/main" id="{3371D063-0E24-08E8-CCBC-71BC14A1F12B}"/>
              </a:ext>
            </a:extLst>
          </p:cNvPr>
          <p:cNvSpPr>
            <a:spLocks noGrp="1"/>
          </p:cNvSpPr>
          <p:nvPr>
            <p:ph type="sldNum" sz="quarter" idx="4"/>
          </p:nvPr>
        </p:nvSpPr>
        <p:spPr/>
        <p:txBody>
          <a:bodyPr/>
          <a:lstStyle/>
          <a:p>
            <a:fld id="{33C783E2-4793-4F48-A271-51A73CC37D74}" type="slidenum">
              <a:rPr lang="fr-FR" smtClean="0"/>
              <a:t>48</a:t>
            </a:fld>
            <a:endParaRPr lang="fr-FR" dirty="0"/>
          </a:p>
        </p:txBody>
      </p:sp>
    </p:spTree>
    <p:extLst>
      <p:ext uri="{BB962C8B-B14F-4D97-AF65-F5344CB8AC3E}">
        <p14:creationId xmlns:p14="http://schemas.microsoft.com/office/powerpoint/2010/main" val="3493018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Méthodes de classe</a:t>
            </a:r>
          </a:p>
        </p:txBody>
      </p:sp>
      <p:sp>
        <p:nvSpPr>
          <p:cNvPr id="17" name="Espace réservé du contenu 16"/>
          <p:cNvSpPr>
            <a:spLocks noGrp="1"/>
          </p:cNvSpPr>
          <p:nvPr>
            <p:ph idx="1"/>
          </p:nvPr>
        </p:nvSpPr>
        <p:spPr/>
        <p:txBody>
          <a:bodyPr>
            <a:normAutofit/>
          </a:bodyPr>
          <a:lstStyle/>
          <a:p>
            <a:pPr marL="0" indent="0">
              <a:buNone/>
            </a:pPr>
            <a:r>
              <a:rPr lang="fr-FR" sz="2600" dirty="0"/>
              <a:t>Les méthodes de classe permettent encore d'offrir un </a:t>
            </a:r>
            <a:r>
              <a:rPr lang="fr-FR" sz="2600" dirty="0">
                <a:solidFill>
                  <a:schemeClr val="accent4"/>
                </a:solidFill>
              </a:rPr>
              <a:t>ensemble de fonctionnalités ayant un point commun</a:t>
            </a:r>
            <a:r>
              <a:rPr lang="fr-FR" sz="2600" dirty="0"/>
              <a:t>, mais qui ne nécessitent pas l'utilisation de champs implicites (définis dans un objet).</a:t>
            </a:r>
            <a:br>
              <a:rPr lang="fr-FR" sz="2600" dirty="0"/>
            </a:br>
            <a:br>
              <a:rPr lang="fr-FR" sz="2600" dirty="0"/>
            </a:br>
            <a:r>
              <a:rPr lang="fr-FR" sz="2600" dirty="0"/>
              <a:t>C'est le cas de la classe </a:t>
            </a:r>
            <a:r>
              <a:rPr lang="fr-FR" sz="2400" dirty="0">
                <a:solidFill>
                  <a:schemeClr val="accent4"/>
                </a:solidFill>
                <a:latin typeface="Consolas"/>
                <a:cs typeface="Consolas"/>
              </a:rPr>
              <a:t>Math</a:t>
            </a:r>
            <a:r>
              <a:rPr lang="fr-FR" sz="2600" dirty="0">
                <a:solidFill>
                  <a:srgbClr val="A6082B"/>
                </a:solidFill>
              </a:rPr>
              <a:t> </a:t>
            </a:r>
            <a:r>
              <a:rPr lang="fr-FR" sz="2600" dirty="0"/>
              <a:t>qui contient les fonctions mathématiques usuelles </a:t>
            </a:r>
            <a:r>
              <a:rPr lang="fr-FR" sz="2400" i="1" dirty="0" err="1">
                <a:solidFill>
                  <a:schemeClr val="accent4"/>
                </a:solidFill>
                <a:latin typeface="Consolas"/>
                <a:cs typeface="Consolas"/>
              </a:rPr>
              <a:t>sqrt</a:t>
            </a:r>
            <a:r>
              <a:rPr lang="fr-FR" sz="2400" dirty="0">
                <a:solidFill>
                  <a:schemeClr val="accent4"/>
                </a:solidFill>
                <a:latin typeface="Consolas"/>
                <a:cs typeface="Consolas"/>
              </a:rPr>
              <a:t>()</a:t>
            </a:r>
            <a:r>
              <a:rPr lang="fr-FR" sz="2600" dirty="0"/>
              <a:t>, </a:t>
            </a:r>
            <a:r>
              <a:rPr lang="fr-FR" sz="2400" i="1" dirty="0">
                <a:solidFill>
                  <a:schemeClr val="accent4"/>
                </a:solidFill>
                <a:latin typeface="Consolas"/>
                <a:cs typeface="Consolas"/>
              </a:rPr>
              <a:t>sin</a:t>
            </a:r>
            <a:r>
              <a:rPr lang="fr-FR" sz="2400" dirty="0">
                <a:solidFill>
                  <a:schemeClr val="accent4"/>
                </a:solidFill>
                <a:latin typeface="Consolas"/>
                <a:cs typeface="Consolas"/>
              </a:rPr>
              <a:t>()</a:t>
            </a:r>
            <a:r>
              <a:rPr lang="fr-FR" sz="2600" dirty="0"/>
              <a:t>, </a:t>
            </a:r>
            <a:r>
              <a:rPr lang="fr-FR" sz="2400" i="1" dirty="0">
                <a:solidFill>
                  <a:schemeClr val="accent4"/>
                </a:solidFill>
                <a:latin typeface="Consolas"/>
                <a:cs typeface="Consolas"/>
              </a:rPr>
              <a:t>cos</a:t>
            </a:r>
            <a:r>
              <a:rPr lang="fr-FR" sz="2400" dirty="0">
                <a:solidFill>
                  <a:schemeClr val="accent4"/>
                </a:solidFill>
                <a:latin typeface="Consolas"/>
                <a:cs typeface="Consolas"/>
              </a:rPr>
              <a:t>()</a:t>
            </a:r>
            <a:r>
              <a:rPr lang="fr-FR" sz="2600" dirty="0"/>
              <a:t>.</a:t>
            </a:r>
            <a:br>
              <a:rPr lang="fr-FR" sz="2600" dirty="0"/>
            </a:br>
            <a:br>
              <a:rPr lang="fr-FR" sz="2600" dirty="0"/>
            </a:br>
            <a:r>
              <a:rPr lang="fr-FR" sz="2600" dirty="0"/>
              <a:t>C'est aussi le cas de la méthode </a:t>
            </a:r>
            <a:r>
              <a:rPr lang="fr-FR" sz="2400" dirty="0" err="1">
                <a:solidFill>
                  <a:schemeClr val="accent4"/>
                </a:solidFill>
                <a:latin typeface="Consolas"/>
                <a:cs typeface="Consolas"/>
              </a:rPr>
              <a:t>LocalDate</a:t>
            </a:r>
            <a:r>
              <a:rPr lang="fr-FR" sz="2600" dirty="0"/>
              <a:t> rencontrée plus tôt, où les méthodes comme </a:t>
            </a:r>
            <a:r>
              <a:rPr lang="fr-FR" sz="2400" i="1" dirty="0" err="1">
                <a:solidFill>
                  <a:schemeClr val="accent4"/>
                </a:solidFill>
                <a:latin typeface="Consolas"/>
                <a:cs typeface="Consolas"/>
              </a:rPr>
              <a:t>now</a:t>
            </a:r>
            <a:r>
              <a:rPr lang="fr-FR" sz="2400" dirty="0">
                <a:solidFill>
                  <a:schemeClr val="accent4"/>
                </a:solidFill>
                <a:latin typeface="Consolas"/>
                <a:cs typeface="Consolas"/>
              </a:rPr>
              <a:t>()</a:t>
            </a:r>
            <a:r>
              <a:rPr lang="fr-FR" sz="2600" dirty="0"/>
              <a:t> sont statiques   </a:t>
            </a:r>
          </a:p>
          <a:p>
            <a:endParaRPr lang="fr-FR" sz="2600" dirty="0"/>
          </a:p>
        </p:txBody>
      </p:sp>
      <p:sp>
        <p:nvSpPr>
          <p:cNvPr id="2" name="Espace réservé du numéro de diapositive 1">
            <a:extLst>
              <a:ext uri="{FF2B5EF4-FFF2-40B4-BE49-F238E27FC236}">
                <a16:creationId xmlns:a16="http://schemas.microsoft.com/office/drawing/2014/main" id="{A9E73C17-5D2B-AB61-F031-F637ED453E0D}"/>
              </a:ext>
            </a:extLst>
          </p:cNvPr>
          <p:cNvSpPr>
            <a:spLocks noGrp="1"/>
          </p:cNvSpPr>
          <p:nvPr>
            <p:ph type="sldNum" sz="quarter" idx="4"/>
          </p:nvPr>
        </p:nvSpPr>
        <p:spPr/>
        <p:txBody>
          <a:bodyPr/>
          <a:lstStyle/>
          <a:p>
            <a:fld id="{33C783E2-4793-4F48-A271-51A73CC37D74}" type="slidenum">
              <a:rPr lang="fr-FR" smtClean="0"/>
              <a:t>49</a:t>
            </a:fld>
            <a:endParaRPr lang="fr-FR" dirty="0"/>
          </a:p>
        </p:txBody>
      </p:sp>
    </p:spTree>
    <p:extLst>
      <p:ext uri="{BB962C8B-B14F-4D97-AF65-F5344CB8AC3E}">
        <p14:creationId xmlns:p14="http://schemas.microsoft.com/office/powerpoint/2010/main" val="4217466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2A0E9-9A53-0ED6-A382-7A53279908A2}"/>
            </a:ext>
          </a:extLst>
        </p:cNvPr>
        <p:cNvGrpSpPr/>
        <p:nvPr/>
      </p:nvGrpSpPr>
      <p:grpSpPr>
        <a:xfrm>
          <a:off x="0" y="0"/>
          <a:ext cx="0" cy="0"/>
          <a:chOff x="0" y="0"/>
          <a:chExt cx="0" cy="0"/>
        </a:xfrm>
      </p:grpSpPr>
      <p:pic>
        <p:nvPicPr>
          <p:cNvPr id="8196" name="Picture 4" descr="création d'un objet">
            <a:extLst>
              <a:ext uri="{FF2B5EF4-FFF2-40B4-BE49-F238E27FC236}">
                <a16:creationId xmlns:a16="http://schemas.microsoft.com/office/drawing/2014/main" id="{D736EABA-6BD0-A62D-3701-3616EF944D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256" b="31494"/>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F052B078-1A3D-CFB6-3306-4EFF7C5B92F8}"/>
              </a:ext>
            </a:extLst>
          </p:cNvPr>
          <p:cNvSpPr txBox="1"/>
          <p:nvPr/>
        </p:nvSpPr>
        <p:spPr>
          <a:xfrm>
            <a:off x="838200" y="947821"/>
            <a:ext cx="10515600" cy="1015663"/>
          </a:xfrm>
          <a:prstGeom prst="rect">
            <a:avLst/>
          </a:prstGeom>
          <a:solidFill>
            <a:srgbClr val="AF7021">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latin typeface="+mj-lt"/>
                <a:cs typeface="Consolas" panose="020B0609020204030204" pitchFamily="49" charset="0"/>
              </a:rPr>
              <a:t>Cycle de vie des objets</a:t>
            </a:r>
            <a:endParaRPr lang="fr-FR" sz="1600" b="1" dirty="0">
              <a:ln w="0"/>
              <a:effectLst>
                <a:outerShdw blurRad="38100" dist="19050" dir="2700000" algn="tl" rotWithShape="0">
                  <a:schemeClr val="dk1">
                    <a:alpha val="40000"/>
                  </a:schemeClr>
                </a:outerShdw>
              </a:effectLst>
              <a:latin typeface="+mj-lt"/>
              <a:cs typeface="Consolas" panose="020B0609020204030204" pitchFamily="49" charset="0"/>
            </a:endParaRPr>
          </a:p>
        </p:txBody>
      </p:sp>
      <p:sp>
        <p:nvSpPr>
          <p:cNvPr id="3" name="ZoneTexte 2">
            <a:extLst>
              <a:ext uri="{FF2B5EF4-FFF2-40B4-BE49-F238E27FC236}">
                <a16:creationId xmlns:a16="http://schemas.microsoft.com/office/drawing/2014/main" id="{DB4971F7-1BEC-8438-8F87-A2E257C53A47}"/>
              </a:ext>
            </a:extLst>
          </p:cNvPr>
          <p:cNvSpPr txBox="1"/>
          <p:nvPr/>
        </p:nvSpPr>
        <p:spPr>
          <a:xfrm>
            <a:off x="838200" y="2139312"/>
            <a:ext cx="10515600" cy="461665"/>
          </a:xfrm>
          <a:prstGeom prst="rect">
            <a:avLst/>
          </a:prstGeom>
          <a:solidFill>
            <a:srgbClr val="AF7021">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Que se passe-t-il lors de la création d’un objet et quand est-il supprimé?</a:t>
            </a:r>
          </a:p>
        </p:txBody>
      </p:sp>
    </p:spTree>
    <p:extLst>
      <p:ext uri="{BB962C8B-B14F-4D97-AF65-F5344CB8AC3E}">
        <p14:creationId xmlns:p14="http://schemas.microsoft.com/office/powerpoint/2010/main" val="388880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La Pile et le Tas</a:t>
            </a:r>
          </a:p>
        </p:txBody>
      </p:sp>
      <p:sp>
        <p:nvSpPr>
          <p:cNvPr id="6" name="Espace réservé du contenu 5"/>
          <p:cNvSpPr>
            <a:spLocks noGrp="1"/>
          </p:cNvSpPr>
          <p:nvPr>
            <p:ph idx="1"/>
          </p:nvPr>
        </p:nvSpPr>
        <p:spPr/>
        <p:txBody>
          <a:bodyPr>
            <a:normAutofit fontScale="92500" lnSpcReduction="10000"/>
          </a:bodyPr>
          <a:lstStyle/>
          <a:p>
            <a:pPr marL="0" indent="0">
              <a:buNone/>
            </a:pPr>
            <a:r>
              <a:rPr lang="fr-BE" dirty="0"/>
              <a:t>Il y a deux types de mémoire: la Pile (</a:t>
            </a:r>
            <a:r>
              <a:rPr lang="fr-BE" dirty="0">
                <a:solidFill>
                  <a:schemeClr val="accent4"/>
                </a:solidFill>
              </a:rPr>
              <a:t>stack</a:t>
            </a:r>
            <a:r>
              <a:rPr lang="fr-BE" dirty="0"/>
              <a:t>) et le Tas (</a:t>
            </a:r>
            <a:r>
              <a:rPr lang="fr-BE" dirty="0" err="1">
                <a:solidFill>
                  <a:schemeClr val="accent4"/>
                </a:solidFill>
              </a:rPr>
              <a:t>heap</a:t>
            </a:r>
            <a:r>
              <a:rPr lang="fr-BE" dirty="0"/>
              <a:t>).</a:t>
            </a:r>
          </a:p>
          <a:p>
            <a:pPr marL="0" indent="0">
              <a:buNone/>
            </a:pPr>
            <a:endParaRPr lang="fr-BE" dirty="0"/>
          </a:p>
          <a:p>
            <a:pPr marL="0" indent="0">
              <a:buNone/>
            </a:pPr>
            <a:r>
              <a:rPr lang="fr-BE" dirty="0"/>
              <a:t>Dans la </a:t>
            </a:r>
            <a:r>
              <a:rPr lang="fr-BE" dirty="0">
                <a:solidFill>
                  <a:schemeClr val="accent4"/>
                </a:solidFill>
              </a:rPr>
              <a:t>pile</a:t>
            </a:r>
            <a:r>
              <a:rPr lang="fr-BE" dirty="0"/>
              <a:t>, on trouve:</a:t>
            </a:r>
          </a:p>
          <a:p>
            <a:r>
              <a:rPr lang="fr-BE" dirty="0"/>
              <a:t>l’espace </a:t>
            </a:r>
            <a:r>
              <a:rPr lang="fr-BE" dirty="0" err="1"/>
              <a:t>mémoire</a:t>
            </a:r>
            <a:r>
              <a:rPr lang="fr-BE" dirty="0"/>
              <a:t> alloué aux </a:t>
            </a:r>
            <a:r>
              <a:rPr lang="fr-BE" dirty="0">
                <a:solidFill>
                  <a:schemeClr val="accent4"/>
                </a:solidFill>
              </a:rPr>
              <a:t>variables locales</a:t>
            </a:r>
            <a:r>
              <a:rPr lang="fr-BE" dirty="0"/>
              <a:t>.</a:t>
            </a:r>
            <a:endParaRPr lang="fr-BE" dirty="0">
              <a:solidFill>
                <a:schemeClr val="accent2"/>
              </a:solidFill>
            </a:endParaRPr>
          </a:p>
          <a:p>
            <a:r>
              <a:rPr lang="fr-BE" dirty="0"/>
              <a:t>les valeurs des variables locales de type </a:t>
            </a:r>
            <a:r>
              <a:rPr lang="fr-BE" dirty="0">
                <a:solidFill>
                  <a:schemeClr val="accent4"/>
                </a:solidFill>
              </a:rPr>
              <a:t>primitif</a:t>
            </a:r>
            <a:r>
              <a:rPr lang="fr-BE" dirty="0"/>
              <a:t>.</a:t>
            </a:r>
          </a:p>
          <a:p>
            <a:r>
              <a:rPr lang="fr-BE" dirty="0"/>
              <a:t>les </a:t>
            </a:r>
            <a:r>
              <a:rPr lang="fr-BE" dirty="0">
                <a:solidFill>
                  <a:schemeClr val="accent4"/>
                </a:solidFill>
              </a:rPr>
              <a:t>références</a:t>
            </a:r>
            <a:r>
              <a:rPr lang="fr-BE" dirty="0"/>
              <a:t> vers les objets, pour les variables de type objet.</a:t>
            </a:r>
          </a:p>
          <a:p>
            <a:pPr marL="0" indent="0">
              <a:buNone/>
            </a:pPr>
            <a:endParaRPr lang="fr-BE" dirty="0"/>
          </a:p>
          <a:p>
            <a:pPr marL="0" indent="0">
              <a:buNone/>
            </a:pPr>
            <a:r>
              <a:rPr lang="fr-BE" dirty="0"/>
              <a:t>Dans le </a:t>
            </a:r>
            <a:r>
              <a:rPr lang="fr-BE" dirty="0">
                <a:solidFill>
                  <a:schemeClr val="accent4"/>
                </a:solidFill>
              </a:rPr>
              <a:t>tas</a:t>
            </a:r>
            <a:r>
              <a:rPr lang="fr-BE" dirty="0"/>
              <a:t>, on trouve:</a:t>
            </a:r>
          </a:p>
          <a:p>
            <a:r>
              <a:rPr lang="fr-BE" dirty="0"/>
              <a:t>Les </a:t>
            </a:r>
            <a:r>
              <a:rPr lang="fr-BE" dirty="0">
                <a:solidFill>
                  <a:schemeClr val="accent4"/>
                </a:solidFill>
              </a:rPr>
              <a:t>objets créés</a:t>
            </a:r>
            <a:r>
              <a:rPr lang="fr-BE" dirty="0"/>
              <a:t>, qui peuvent être référencés par une variable de la pile ou par un champ d’un autre objet du tas...</a:t>
            </a:r>
          </a:p>
          <a:p>
            <a:pPr marL="0" indent="0">
              <a:buNone/>
            </a:pPr>
            <a:endParaRPr lang="fr-BE" dirty="0"/>
          </a:p>
        </p:txBody>
      </p:sp>
      <p:sp>
        <p:nvSpPr>
          <p:cNvPr id="2" name="Espace réservé du numéro de diapositive 1">
            <a:extLst>
              <a:ext uri="{FF2B5EF4-FFF2-40B4-BE49-F238E27FC236}">
                <a16:creationId xmlns:a16="http://schemas.microsoft.com/office/drawing/2014/main" id="{1C9A7AFC-A13D-F70F-B4B1-B8C97B4C3285}"/>
              </a:ext>
            </a:extLst>
          </p:cNvPr>
          <p:cNvSpPr>
            <a:spLocks noGrp="1"/>
          </p:cNvSpPr>
          <p:nvPr>
            <p:ph type="sldNum" sz="quarter" idx="4"/>
          </p:nvPr>
        </p:nvSpPr>
        <p:spPr/>
        <p:txBody>
          <a:bodyPr/>
          <a:lstStyle/>
          <a:p>
            <a:fld id="{33C783E2-4793-4F48-A271-51A73CC37D74}" type="slidenum">
              <a:rPr lang="fr-FR" smtClean="0"/>
              <a:t>51</a:t>
            </a:fld>
            <a:endParaRPr lang="fr-FR" dirty="0"/>
          </a:p>
        </p:txBody>
      </p:sp>
      <p:sp>
        <p:nvSpPr>
          <p:cNvPr id="8" name="Bulle rectangulaire à coins arrondis 7">
            <a:extLst>
              <a:ext uri="{FF2B5EF4-FFF2-40B4-BE49-F238E27FC236}">
                <a16:creationId xmlns:a16="http://schemas.microsoft.com/office/drawing/2014/main" id="{41A167A0-F715-F1B9-65BD-49E3F6BDFEB7}"/>
              </a:ext>
            </a:extLst>
          </p:cNvPr>
          <p:cNvSpPr/>
          <p:nvPr/>
        </p:nvSpPr>
        <p:spPr>
          <a:xfrm>
            <a:off x="5655364" y="1216872"/>
            <a:ext cx="1361661" cy="393987"/>
          </a:xfrm>
          <a:prstGeom prst="wedgeRoundRectCallout">
            <a:avLst>
              <a:gd name="adj1" fmla="val -17183"/>
              <a:gd name="adj2" fmla="val 107909"/>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stacktrace</a:t>
            </a:r>
            <a:endParaRPr lang="fr-FR" dirty="0">
              <a:solidFill>
                <a:schemeClr val="tx1"/>
              </a:solidFill>
            </a:endParaRPr>
          </a:p>
        </p:txBody>
      </p:sp>
      <p:sp>
        <p:nvSpPr>
          <p:cNvPr id="9" name="Bulle rectangulaire à coins arrondis 8">
            <a:extLst>
              <a:ext uri="{FF2B5EF4-FFF2-40B4-BE49-F238E27FC236}">
                <a16:creationId xmlns:a16="http://schemas.microsoft.com/office/drawing/2014/main" id="{C34C2AEB-64FC-28FC-5E30-A7DF4099B734}"/>
              </a:ext>
            </a:extLst>
          </p:cNvPr>
          <p:cNvSpPr/>
          <p:nvPr/>
        </p:nvSpPr>
        <p:spPr>
          <a:xfrm>
            <a:off x="7653129" y="1216872"/>
            <a:ext cx="1361661" cy="393987"/>
          </a:xfrm>
          <a:prstGeom prst="wedgeRoundRectCallout">
            <a:avLst>
              <a:gd name="adj1" fmla="val 10554"/>
              <a:gd name="adj2" fmla="val 110432"/>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heapdump</a:t>
            </a:r>
            <a:endParaRPr lang="fr-FR" dirty="0">
              <a:solidFill>
                <a:schemeClr val="tx1"/>
              </a:solidFill>
            </a:endParaRPr>
          </a:p>
        </p:txBody>
      </p:sp>
      <p:sp>
        <p:nvSpPr>
          <p:cNvPr id="10" name="Rectangle : coins arrondis 9">
            <a:extLst>
              <a:ext uri="{FF2B5EF4-FFF2-40B4-BE49-F238E27FC236}">
                <a16:creationId xmlns:a16="http://schemas.microsoft.com/office/drawing/2014/main" id="{A93E3080-75D5-51C6-B355-471DBB4CFEA9}"/>
              </a:ext>
            </a:extLst>
          </p:cNvPr>
          <p:cNvSpPr/>
          <p:nvPr/>
        </p:nvSpPr>
        <p:spPr>
          <a:xfrm>
            <a:off x="9000651" y="2542435"/>
            <a:ext cx="2494722" cy="592050"/>
          </a:xfrm>
          <a:prstGeom prst="roundRect">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Note: il y a une Pile par thread d’exécution…</a:t>
            </a:r>
          </a:p>
        </p:txBody>
      </p:sp>
    </p:spTree>
    <p:extLst>
      <p:ext uri="{BB962C8B-B14F-4D97-AF65-F5344CB8AC3E}">
        <p14:creationId xmlns:p14="http://schemas.microsoft.com/office/powerpoint/2010/main" val="817657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4A695D62-AF0D-6F4F-8C16-C624A8B122CB}"/>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4" name="Rectangle 3">
            <a:extLst>
              <a:ext uri="{FF2B5EF4-FFF2-40B4-BE49-F238E27FC236}">
                <a16:creationId xmlns:a16="http://schemas.microsoft.com/office/drawing/2014/main" id="{D3BA798D-3AB5-FE46-9655-D1DFB8D31ACB}"/>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188C809B-894E-3C4B-B4F9-F1F93DE3154F}"/>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26" name="Connecteur droit 25">
            <a:extLst>
              <a:ext uri="{FF2B5EF4-FFF2-40B4-BE49-F238E27FC236}">
                <a16:creationId xmlns:a16="http://schemas.microsoft.com/office/drawing/2014/main" id="{423733C2-D8E9-6743-8A4A-43A7823E14AC}"/>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4529313-C0FE-7843-9371-75B763FE9C59}"/>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38" name="ZoneTexte 37">
            <a:extLst>
              <a:ext uri="{FF2B5EF4-FFF2-40B4-BE49-F238E27FC236}">
                <a16:creationId xmlns:a16="http://schemas.microsoft.com/office/drawing/2014/main" id="{20CCFF85-2412-D645-9C76-EE34FDA3A050}"/>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39" name="ZoneTexte 38">
            <a:extLst>
              <a:ext uri="{FF2B5EF4-FFF2-40B4-BE49-F238E27FC236}">
                <a16:creationId xmlns:a16="http://schemas.microsoft.com/office/drawing/2014/main" id="{DA80BD5E-9D39-2743-A536-86AC84AED970}"/>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8" name="Espace réservé du numéro de diapositive 1">
            <a:extLst>
              <a:ext uri="{FF2B5EF4-FFF2-40B4-BE49-F238E27FC236}">
                <a16:creationId xmlns:a16="http://schemas.microsoft.com/office/drawing/2014/main" id="{9E7F115F-668D-9881-EBAF-2C02097D3307}"/>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52</a:t>
            </a:fld>
            <a:endParaRPr lang="fr-FR" dirty="0"/>
          </a:p>
        </p:txBody>
      </p:sp>
      <p:sp>
        <p:nvSpPr>
          <p:cNvPr id="9" name="ZoneTexte 8">
            <a:extLst>
              <a:ext uri="{FF2B5EF4-FFF2-40B4-BE49-F238E27FC236}">
                <a16:creationId xmlns:a16="http://schemas.microsoft.com/office/drawing/2014/main" id="{E49C75B3-78C8-2414-EF39-9B7FA74DD3A9}"/>
              </a:ext>
            </a:extLst>
          </p:cNvPr>
          <p:cNvSpPr txBox="1"/>
          <p:nvPr/>
        </p:nvSpPr>
        <p:spPr>
          <a:xfrm>
            <a:off x="5017971" y="1356087"/>
            <a:ext cx="6648097" cy="707886"/>
          </a:xfrm>
          <a:prstGeom prst="rect">
            <a:avLst/>
          </a:prstGeom>
          <a:noFill/>
        </p:spPr>
        <p:txBody>
          <a:bodyPr wrap="square">
            <a:spAutoFit/>
          </a:bodyPr>
          <a:lstStyle/>
          <a:p>
            <a:pPr marL="0" indent="0">
              <a:buNone/>
            </a:pPr>
            <a:r>
              <a:rPr lang="fr-BE" sz="2000" dirty="0"/>
              <a:t>Voyons à travers un petit exemple comment ces zones mémoires fonctionnent durant l’exécution d’une méthode…</a:t>
            </a:r>
          </a:p>
        </p:txBody>
      </p:sp>
    </p:spTree>
    <p:extLst>
      <p:ext uri="{BB962C8B-B14F-4D97-AF65-F5344CB8AC3E}">
        <p14:creationId xmlns:p14="http://schemas.microsoft.com/office/powerpoint/2010/main" val="33604066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39F4B5-2EE3-B698-FBB8-F7A91A8A541F}"/>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6A5C2DB5-2C0F-0646-E34B-BAF7E8B5D6D0}"/>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7" name="Titre 6"/>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4A695D62-AF0D-6F4F-8C16-C624A8B122CB}"/>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rgbClr val="FF0000"/>
                </a:solidFill>
                <a:latin typeface="Consolas" panose="020B0609020204030204" pitchFamily="49" charset="0"/>
                <a:cs typeface="Consolas" panose="020B0609020204030204" pitchFamily="49" charset="0"/>
              </a:rPr>
              <a:t>int</a:t>
            </a:r>
            <a:r>
              <a:rPr lang="fr-FR" dirty="0">
                <a:solidFill>
                  <a:srgbClr val="FF0000"/>
                </a:solidFill>
                <a:latin typeface="Consolas" panose="020B0609020204030204" pitchFamily="49" charset="0"/>
                <a:cs typeface="Consolas" panose="020B0609020204030204" pitchFamily="49" charset="0"/>
              </a:rPr>
              <a:t> m()</a:t>
            </a:r>
            <a:r>
              <a:rPr lang="fr-FR" dirty="0">
                <a:solidFill>
                  <a:schemeClr val="bg1"/>
                </a:solidFill>
                <a:latin typeface="Consolas" panose="020B0609020204030204" pitchFamily="49" charset="0"/>
                <a:cs typeface="Consolas" panose="020B0609020204030204" pitchFamily="49" charset="0"/>
              </a:rPr>
              <a:t>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8" name="Rectangle 7">
            <a:extLst>
              <a:ext uri="{FF2B5EF4-FFF2-40B4-BE49-F238E27FC236}">
                <a16:creationId xmlns:a16="http://schemas.microsoft.com/office/drawing/2014/main" id="{024452CC-3103-684F-9779-A92B578A4ED5}"/>
              </a:ext>
            </a:extLst>
          </p:cNvPr>
          <p:cNvSpPr/>
          <p:nvPr/>
        </p:nvSpPr>
        <p:spPr>
          <a:xfrm>
            <a:off x="1981200" y="3693772"/>
            <a:ext cx="2590774" cy="1476000"/>
          </a:xfrm>
          <a:prstGeom prst="rect">
            <a:avLst/>
          </a:prstGeom>
          <a:noFill/>
          <a:ln>
            <a:solidFill>
              <a:srgbClr val="FF0000"/>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25" name="ZoneTexte 24">
            <a:extLst>
              <a:ext uri="{FF2B5EF4-FFF2-40B4-BE49-F238E27FC236}">
                <a16:creationId xmlns:a16="http://schemas.microsoft.com/office/drawing/2014/main" id="{2AC2433C-12E2-2340-8A9D-C489263D432B}"/>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9" name="Espace réservé du numéro de diapositive 1">
            <a:extLst>
              <a:ext uri="{FF2B5EF4-FFF2-40B4-BE49-F238E27FC236}">
                <a16:creationId xmlns:a16="http://schemas.microsoft.com/office/drawing/2014/main" id="{39E72449-5FAC-F0BB-39B7-9EA98EF346F2}"/>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53</a:t>
            </a:fld>
            <a:endParaRPr lang="fr-FR" dirty="0"/>
          </a:p>
        </p:txBody>
      </p:sp>
      <p:sp>
        <p:nvSpPr>
          <p:cNvPr id="11" name="Rectangle 10">
            <a:extLst>
              <a:ext uri="{FF2B5EF4-FFF2-40B4-BE49-F238E27FC236}">
                <a16:creationId xmlns:a16="http://schemas.microsoft.com/office/drawing/2014/main" id="{67DCE808-6489-B0CE-6190-14B2D6770744}"/>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26" name="Connecteur droit 25">
            <a:extLst>
              <a:ext uri="{FF2B5EF4-FFF2-40B4-BE49-F238E27FC236}">
                <a16:creationId xmlns:a16="http://schemas.microsoft.com/office/drawing/2014/main" id="{423733C2-D8E9-6743-8A4A-43A7823E14AC}"/>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DCC67707-96EF-A44C-9EC7-DDBFFA92E8DF}"/>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13" name="ZoneTexte 12">
            <a:extLst>
              <a:ext uri="{FF2B5EF4-FFF2-40B4-BE49-F238E27FC236}">
                <a16:creationId xmlns:a16="http://schemas.microsoft.com/office/drawing/2014/main" id="{100AE32E-5D1E-339E-A527-DF5274ED8283}"/>
              </a:ext>
            </a:extLst>
          </p:cNvPr>
          <p:cNvSpPr txBox="1"/>
          <p:nvPr/>
        </p:nvSpPr>
        <p:spPr>
          <a:xfrm>
            <a:off x="5017971" y="1356087"/>
            <a:ext cx="6648097" cy="1015663"/>
          </a:xfrm>
          <a:prstGeom prst="rect">
            <a:avLst/>
          </a:prstGeom>
          <a:noFill/>
        </p:spPr>
        <p:txBody>
          <a:bodyPr wrap="square">
            <a:spAutoFit/>
          </a:bodyPr>
          <a:lstStyle/>
          <a:p>
            <a:pPr marL="0" indent="0">
              <a:buNone/>
            </a:pPr>
            <a:r>
              <a:rPr lang="fr-BE" sz="2000" dirty="0"/>
              <a:t>À l’appel de la méthode, un espace est empilé sur la stack, qui contiendra les variables utilisées par la méthode (attributs de méthode et variables locales).</a:t>
            </a:r>
          </a:p>
        </p:txBody>
      </p:sp>
    </p:spTree>
    <p:extLst>
      <p:ext uri="{BB962C8B-B14F-4D97-AF65-F5344CB8AC3E}">
        <p14:creationId xmlns:p14="http://schemas.microsoft.com/office/powerpoint/2010/main" val="26502813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1EC6376-2D00-7AAF-20E3-506A6D18A5F5}"/>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89C73ADB-17AC-16CA-5390-E589CB4200FA}"/>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D17BAD9E-6D03-9AE0-BC42-D23D2DC9EBFB}"/>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EDBF26DF-4A3C-17ED-22CB-F41E4A14501B}"/>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8788D7D8-862A-8675-1F3E-50A6815B25DE}"/>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4A695D62-AF0D-6F4F-8C16-C624A8B122CB}"/>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t>
            </a:r>
            <a:r>
              <a:rPr lang="fr-FR" dirty="0">
                <a:solidFill>
                  <a:srgbClr val="FF0000"/>
                </a:solidFill>
                <a:latin typeface="Consolas" panose="020B0609020204030204" pitchFamily="49" charset="0"/>
                <a:cs typeface="Consolas" panose="020B0609020204030204" pitchFamily="49" charset="0"/>
              </a:rPr>
              <a:t>A a1</a:t>
            </a:r>
            <a:r>
              <a:rPr lang="fr-FR" dirty="0">
                <a:solidFill>
                  <a:schemeClr val="bg1"/>
                </a:solidFill>
                <a:latin typeface="Consolas" panose="020B0609020204030204" pitchFamily="49" charset="0"/>
                <a:cs typeface="Consolas" panose="020B0609020204030204" pitchFamily="49" charset="0"/>
              </a:rPr>
              <a:t>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6527B499-E948-A64A-9127-C382196CE717}"/>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6C3A81E9-18F2-5A49-A500-5BDB815BCF4E}"/>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F069FC74-EABE-D147-A0A6-22BCB68D33A5}"/>
              </a:ext>
            </a:extLst>
          </p:cNvPr>
          <p:cNvSpPr/>
          <p:nvPr/>
        </p:nvSpPr>
        <p:spPr>
          <a:xfrm>
            <a:off x="3188168" y="3880214"/>
            <a:ext cx="691215" cy="369332"/>
          </a:xfrm>
          <a:prstGeom prst="rect">
            <a:avLst/>
          </a:prstGeom>
        </p:spPr>
        <p:txBody>
          <a:bodyPr wrap="none">
            <a:spAutoFit/>
          </a:bodyPr>
          <a:lstStyle/>
          <a:p>
            <a:pPr algn="ctr"/>
            <a:r>
              <a:rPr lang="fr-FR" dirty="0" err="1">
                <a:solidFill>
                  <a:schemeClr val="bg1"/>
                </a:solidFill>
                <a:latin typeface="Consolas" panose="020B0609020204030204" pitchFamily="49" charset="0"/>
                <a:cs typeface="Consolas" panose="020B0609020204030204" pitchFamily="49" charset="0"/>
              </a:rPr>
              <a:t>null</a:t>
            </a:r>
            <a:endParaRPr lang="fr-FR" dirty="0">
              <a:solidFill>
                <a:schemeClr val="bg1"/>
              </a:solidFill>
            </a:endParaRPr>
          </a:p>
        </p:txBody>
      </p:sp>
      <p:sp>
        <p:nvSpPr>
          <p:cNvPr id="23" name="ZoneTexte 22">
            <a:extLst>
              <a:ext uri="{FF2B5EF4-FFF2-40B4-BE49-F238E27FC236}">
                <a16:creationId xmlns:a16="http://schemas.microsoft.com/office/drawing/2014/main" id="{73011B42-2CD6-BE41-91AD-44954EDDA34C}"/>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80AA83C8-39B1-ED4A-94CB-AA998D6E7A71}"/>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72627586-E15C-0A7E-EE5B-CE22EF425750}"/>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54</a:t>
            </a:fld>
            <a:endParaRPr lang="fr-FR" dirty="0"/>
          </a:p>
        </p:txBody>
      </p:sp>
      <p:sp>
        <p:nvSpPr>
          <p:cNvPr id="16" name="ZoneTexte 15">
            <a:extLst>
              <a:ext uri="{FF2B5EF4-FFF2-40B4-BE49-F238E27FC236}">
                <a16:creationId xmlns:a16="http://schemas.microsoft.com/office/drawing/2014/main" id="{62459861-97F0-2DD0-9D83-53CACA3369DB}"/>
              </a:ext>
            </a:extLst>
          </p:cNvPr>
          <p:cNvSpPr txBox="1"/>
          <p:nvPr/>
        </p:nvSpPr>
        <p:spPr>
          <a:xfrm>
            <a:off x="5017971" y="1356087"/>
            <a:ext cx="6648097" cy="1015663"/>
          </a:xfrm>
          <a:prstGeom prst="rect">
            <a:avLst/>
          </a:prstGeom>
          <a:noFill/>
        </p:spPr>
        <p:txBody>
          <a:bodyPr wrap="square">
            <a:spAutoFit/>
          </a:bodyPr>
          <a:lstStyle/>
          <a:p>
            <a:pPr marL="0" indent="0">
              <a:buNone/>
            </a:pPr>
            <a:r>
              <a:rPr lang="fr-BE" sz="2000" dirty="0"/>
              <a:t>Lors de la déclaration d’une variable locale de type objet, un emplacement mémoire est créé, qui contient la valeur par défaut pour un objet: </a:t>
            </a:r>
            <a:r>
              <a:rPr lang="fr-BE" dirty="0" err="1">
                <a:solidFill>
                  <a:schemeClr val="accent4"/>
                </a:solidFill>
                <a:latin typeface="Consolas" panose="020B0609020204030204" pitchFamily="49" charset="0"/>
                <a:cs typeface="Consolas" panose="020B0609020204030204" pitchFamily="49" charset="0"/>
              </a:rPr>
              <a:t>null</a:t>
            </a:r>
            <a:r>
              <a:rPr lang="fr-BE" sz="2000" dirty="0"/>
              <a:t>…</a:t>
            </a:r>
          </a:p>
        </p:txBody>
      </p:sp>
    </p:spTree>
    <p:extLst>
      <p:ext uri="{BB962C8B-B14F-4D97-AF65-F5344CB8AC3E}">
        <p14:creationId xmlns:p14="http://schemas.microsoft.com/office/powerpoint/2010/main" val="7196527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animBg="1"/>
      <p:bldP spid="1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A84B0-59FB-C7E7-DA32-B751A0BCA35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21A3FA4-48B9-9F44-AB83-C0CF44D35715}"/>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99430311-8228-FE24-4B61-18CF45830795}"/>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312D7328-7B5E-2182-DF89-8384F4FBD3F7}"/>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C805CDD0-E389-D567-4D24-12801F244892}"/>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05FCC3D1-6161-10E4-152F-7062C42EBBD8}"/>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25D8993A-6F3F-FA9A-CE40-FD3EC4821E1A}"/>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0D42EB3C-59C3-EA7F-BA68-0A09E8DC1443}"/>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a:t>
            </a:r>
            <a:r>
              <a:rPr lang="fr-FR" dirty="0">
                <a:solidFill>
                  <a:srgbClr val="FF0000"/>
                </a:solidFill>
                <a:latin typeface="Consolas" panose="020B0609020204030204" pitchFamily="49" charset="0"/>
                <a:cs typeface="Consolas" panose="020B0609020204030204" pitchFamily="49" charset="0"/>
              </a:rPr>
              <a:t>new A()</a:t>
            </a:r>
            <a:r>
              <a:rPr lang="fr-FR" dirty="0">
                <a:solidFill>
                  <a:schemeClr val="bg1"/>
                </a:solidFill>
                <a:latin typeface="Consolas" panose="020B0609020204030204" pitchFamily="49" charset="0"/>
                <a:cs typeface="Consolas" panose="020B0609020204030204" pitchFamily="49" charset="0"/>
              </a:rPr>
              <a:t>;</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0428C58D-27D6-69C0-8DC0-7DD945B86540}"/>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734416C7-D9A1-8B6C-2B66-42A760998CCA}"/>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5D01710E-0E04-32E5-E705-08882BE1CC4C}"/>
              </a:ext>
            </a:extLst>
          </p:cNvPr>
          <p:cNvSpPr/>
          <p:nvPr/>
        </p:nvSpPr>
        <p:spPr>
          <a:xfrm>
            <a:off x="3188168" y="3880214"/>
            <a:ext cx="691215" cy="369332"/>
          </a:xfrm>
          <a:prstGeom prst="rect">
            <a:avLst/>
          </a:prstGeom>
        </p:spPr>
        <p:txBody>
          <a:bodyPr wrap="none">
            <a:spAutoFit/>
          </a:bodyPr>
          <a:lstStyle/>
          <a:p>
            <a:pPr algn="ctr"/>
            <a:r>
              <a:rPr lang="fr-FR" dirty="0" err="1">
                <a:solidFill>
                  <a:schemeClr val="bg1"/>
                </a:solidFill>
                <a:latin typeface="Consolas" panose="020B0609020204030204" pitchFamily="49" charset="0"/>
                <a:cs typeface="Consolas" panose="020B0609020204030204" pitchFamily="49" charset="0"/>
              </a:rPr>
              <a:t>null</a:t>
            </a:r>
            <a:endParaRPr lang="fr-FR" dirty="0">
              <a:solidFill>
                <a:schemeClr val="bg1"/>
              </a:solidFill>
            </a:endParaRPr>
          </a:p>
        </p:txBody>
      </p:sp>
      <p:sp>
        <p:nvSpPr>
          <p:cNvPr id="23" name="ZoneTexte 22">
            <a:extLst>
              <a:ext uri="{FF2B5EF4-FFF2-40B4-BE49-F238E27FC236}">
                <a16:creationId xmlns:a16="http://schemas.microsoft.com/office/drawing/2014/main" id="{2777D513-6CAC-126C-F988-65D87E49823A}"/>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64D6D7CC-E29D-2516-0B59-E0373E2677DD}"/>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ECE5AF16-8060-B862-95E2-C45E8EC7FC17}"/>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55</a:t>
            </a:fld>
            <a:endParaRPr lang="fr-FR" dirty="0"/>
          </a:p>
        </p:txBody>
      </p:sp>
      <p:sp>
        <p:nvSpPr>
          <p:cNvPr id="3" name="Rectangle 2">
            <a:extLst>
              <a:ext uri="{FF2B5EF4-FFF2-40B4-BE49-F238E27FC236}">
                <a16:creationId xmlns:a16="http://schemas.microsoft.com/office/drawing/2014/main" id="{BA41362E-76FB-0307-AB8E-51BBFE35ABCC}"/>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1B9F8BB6-FD47-83A8-D6B1-94E153A35B99}"/>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sp>
        <p:nvSpPr>
          <p:cNvPr id="5" name="ZoneTexte 4">
            <a:extLst>
              <a:ext uri="{FF2B5EF4-FFF2-40B4-BE49-F238E27FC236}">
                <a16:creationId xmlns:a16="http://schemas.microsoft.com/office/drawing/2014/main" id="{498446E1-CE93-B7CB-DC56-160F96578645}"/>
              </a:ext>
            </a:extLst>
          </p:cNvPr>
          <p:cNvSpPr txBox="1"/>
          <p:nvPr/>
        </p:nvSpPr>
        <p:spPr>
          <a:xfrm>
            <a:off x="5017971" y="1356087"/>
            <a:ext cx="6648097" cy="707886"/>
          </a:xfrm>
          <a:prstGeom prst="rect">
            <a:avLst/>
          </a:prstGeom>
          <a:noFill/>
        </p:spPr>
        <p:txBody>
          <a:bodyPr wrap="square">
            <a:spAutoFit/>
          </a:bodyPr>
          <a:lstStyle/>
          <a:p>
            <a:pPr marL="0" indent="0">
              <a:buNone/>
            </a:pPr>
            <a:r>
              <a:rPr lang="fr-BE" sz="2000" dirty="0"/>
              <a:t>…l’appel du constructeur par l’appel de </a:t>
            </a:r>
            <a:r>
              <a:rPr lang="fr-BE" dirty="0">
                <a:solidFill>
                  <a:schemeClr val="accent4"/>
                </a:solidFill>
                <a:latin typeface="Consolas" panose="020B0609020204030204" pitchFamily="49" charset="0"/>
                <a:cs typeface="Consolas" panose="020B0609020204030204" pitchFamily="49" charset="0"/>
              </a:rPr>
              <a:t>new</a:t>
            </a:r>
            <a:r>
              <a:rPr lang="fr-BE" sz="2000" dirty="0"/>
              <a:t> provoque la création de l’objet dans le tas…</a:t>
            </a:r>
          </a:p>
        </p:txBody>
      </p:sp>
    </p:spTree>
    <p:extLst>
      <p:ext uri="{BB962C8B-B14F-4D97-AF65-F5344CB8AC3E}">
        <p14:creationId xmlns:p14="http://schemas.microsoft.com/office/powerpoint/2010/main" val="2537312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 grpId="0" animBg="1"/>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4EE8-D21F-8711-A13B-249F024EFB5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72823B9-CC4A-DCC6-998B-4871770CF745}"/>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D94FE173-D314-F62F-5B25-676727474445}"/>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21533B48-B731-480F-DFA1-AE6CA5E70B09}"/>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F047CF4D-C641-BFD7-6156-1FCBFA3FE180}"/>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DCAC5A4C-6C93-414F-2D58-3D696549F323}"/>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F7EE8B63-2173-804C-8646-CD19AF15D7CA}"/>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055E2CA0-E04B-ADBB-344A-B4AC4236B964}"/>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t>
            </a:r>
            <a:r>
              <a:rPr lang="fr-FR" dirty="0">
                <a:solidFill>
                  <a:srgbClr val="FF0000"/>
                </a:solidFill>
                <a:latin typeface="Consolas" panose="020B0609020204030204" pitchFamily="49" charset="0"/>
                <a:cs typeface="Consolas" panose="020B0609020204030204" pitchFamily="49" charset="0"/>
              </a:rPr>
              <a:t>a1 =</a:t>
            </a:r>
            <a:r>
              <a:rPr lang="fr-FR" dirty="0">
                <a:solidFill>
                  <a:schemeClr val="bg1"/>
                </a:solidFill>
                <a:latin typeface="Consolas" panose="020B0609020204030204" pitchFamily="49" charset="0"/>
                <a:cs typeface="Consolas" panose="020B0609020204030204" pitchFamily="49" charset="0"/>
              </a:rPr>
              <a:t>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0D9B21D0-BE5F-3E5D-4977-8DAF2DCD0711}"/>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63C65FE7-7CDB-4C77-43CB-EF9EF9487738}"/>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A22E062D-7D9B-807F-E90B-7FE64AEE5A96}"/>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2E83E5F9-A627-8C8E-A9C4-1EEF63A7025C}"/>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504414F7-E840-A072-749A-AEBDD872F85B}"/>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56</a:t>
            </a:fld>
            <a:endParaRPr lang="fr-FR" dirty="0"/>
          </a:p>
        </p:txBody>
      </p:sp>
      <p:sp>
        <p:nvSpPr>
          <p:cNvPr id="3" name="Rectangle 2">
            <a:extLst>
              <a:ext uri="{FF2B5EF4-FFF2-40B4-BE49-F238E27FC236}">
                <a16:creationId xmlns:a16="http://schemas.microsoft.com/office/drawing/2014/main" id="{A11BABB7-A484-896E-9C72-4205B63C2E37}"/>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046085F4-0DD4-1DFA-5FDF-53D7C605ACE4}"/>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sp>
        <p:nvSpPr>
          <p:cNvPr id="8" name="ZoneTexte 7">
            <a:extLst>
              <a:ext uri="{FF2B5EF4-FFF2-40B4-BE49-F238E27FC236}">
                <a16:creationId xmlns:a16="http://schemas.microsoft.com/office/drawing/2014/main" id="{B9F38FFD-3931-612D-2075-820DA13AB91C}"/>
              </a:ext>
            </a:extLst>
          </p:cNvPr>
          <p:cNvSpPr txBox="1"/>
          <p:nvPr/>
        </p:nvSpPr>
        <p:spPr>
          <a:xfrm>
            <a:off x="5017971" y="1356087"/>
            <a:ext cx="6648097" cy="1015663"/>
          </a:xfrm>
          <a:prstGeom prst="rect">
            <a:avLst/>
          </a:prstGeom>
          <a:noFill/>
        </p:spPr>
        <p:txBody>
          <a:bodyPr wrap="square">
            <a:spAutoFit/>
          </a:bodyPr>
          <a:lstStyle/>
          <a:p>
            <a:pPr marL="0" indent="0">
              <a:buNone/>
            </a:pPr>
            <a:r>
              <a:rPr lang="fr-BE" sz="2000" dirty="0"/>
              <a:t>…et l’affectation crée le lien entre la variable de la pile et l’objet dans le tas: une référence vers l’objet est stockée dans la variable locale.</a:t>
            </a:r>
          </a:p>
        </p:txBody>
      </p:sp>
      <p:sp>
        <p:nvSpPr>
          <p:cNvPr id="16" name="Rectangle 15">
            <a:extLst>
              <a:ext uri="{FF2B5EF4-FFF2-40B4-BE49-F238E27FC236}">
                <a16:creationId xmlns:a16="http://schemas.microsoft.com/office/drawing/2014/main" id="{0A9FDB7A-02A3-7937-9CE2-045226F7E4F0}"/>
              </a:ext>
            </a:extLst>
          </p:cNvPr>
          <p:cNvSpPr/>
          <p:nvPr/>
        </p:nvSpPr>
        <p:spPr>
          <a:xfrm>
            <a:off x="3188168" y="3880214"/>
            <a:ext cx="691215" cy="369332"/>
          </a:xfrm>
          <a:prstGeom prst="rect">
            <a:avLst/>
          </a:prstGeom>
        </p:spPr>
        <p:txBody>
          <a:bodyPr wrap="none">
            <a:spAutoFit/>
          </a:bodyPr>
          <a:lstStyle/>
          <a:p>
            <a:pPr algn="ctr"/>
            <a:r>
              <a:rPr lang="fr-FR" dirty="0" err="1">
                <a:solidFill>
                  <a:schemeClr val="bg1"/>
                </a:solidFill>
                <a:latin typeface="Consolas" panose="020B0609020204030204" pitchFamily="49" charset="0"/>
                <a:cs typeface="Consolas" panose="020B0609020204030204" pitchFamily="49" charset="0"/>
              </a:rPr>
              <a:t>null</a:t>
            </a:r>
            <a:endParaRPr lang="fr-FR" dirty="0">
              <a:solidFill>
                <a:schemeClr val="bg1"/>
              </a:solidFill>
            </a:endParaRPr>
          </a:p>
        </p:txBody>
      </p:sp>
      <p:cxnSp>
        <p:nvCxnSpPr>
          <p:cNvPr id="5" name="Connecteur droit avec flèche 4">
            <a:extLst>
              <a:ext uri="{FF2B5EF4-FFF2-40B4-BE49-F238E27FC236}">
                <a16:creationId xmlns:a16="http://schemas.microsoft.com/office/drawing/2014/main" id="{406EE127-8B46-7456-1A55-D4511B083971}"/>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2983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16" fill="hold" grpId="0" nodeType="clickEffect">
                                  <p:stCondLst>
                                    <p:cond delay="0"/>
                                  </p:stCondLst>
                                  <p:childTnLst>
                                    <p:animEffect transition="out" filter="circle(in)">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130D-BD05-A74F-6541-C9D08203DAF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FC19CD4-5A74-75D9-4904-ADEEE3D6A36B}"/>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2F5562F7-9137-C5A2-119D-3552D0BE9D91}"/>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920FD6E7-9028-34D6-8FC4-C8C52BA4D509}"/>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03771-9683-A70A-448D-3526847FCE31}"/>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FFAA46E5-CDF8-89C3-4752-A6088332E6F5}"/>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53091018-E3B3-A8D6-67EC-7C9C5804564B}"/>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5432E5DC-EE24-87E3-8925-765EED5AC79E}"/>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rgbClr val="FF0000"/>
                </a:solidFill>
                <a:latin typeface="Consolas" panose="020B0609020204030204" pitchFamily="49" charset="0"/>
                <a:cs typeface="Consolas" panose="020B0609020204030204" pitchFamily="49" charset="0"/>
              </a:rPr>
              <a:t>int</a:t>
            </a:r>
            <a:r>
              <a:rPr lang="fr-FR" dirty="0">
                <a:solidFill>
                  <a:srgbClr val="FF0000"/>
                </a:solidFill>
                <a:latin typeface="Consolas" panose="020B0609020204030204" pitchFamily="49" charset="0"/>
                <a:cs typeface="Consolas" panose="020B0609020204030204" pitchFamily="49" charset="0"/>
              </a:rPr>
              <a:t> i</a:t>
            </a:r>
            <a:r>
              <a:rPr lang="fr-FR" dirty="0">
                <a:solidFill>
                  <a:schemeClr val="bg1"/>
                </a:solidFill>
                <a:latin typeface="Consolas" panose="020B0609020204030204" pitchFamily="49" charset="0"/>
                <a:cs typeface="Consolas" panose="020B0609020204030204" pitchFamily="49" charset="0"/>
              </a:rPr>
              <a:t>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D22253B6-90CF-7D7E-757E-107822FBDDD6}"/>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92542760-F98A-2685-FC00-CE5030E21D30}"/>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88304C43-F3BB-71BA-8F0E-7A6C0C21BEF6}"/>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CA478A29-D123-4A6E-9F3A-790ADB8F9E39}"/>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FB351BB5-15C0-3BA9-C4EC-55D969691A40}"/>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57</a:t>
            </a:fld>
            <a:endParaRPr lang="fr-FR" dirty="0"/>
          </a:p>
        </p:txBody>
      </p:sp>
      <p:sp>
        <p:nvSpPr>
          <p:cNvPr id="3" name="Rectangle 2">
            <a:extLst>
              <a:ext uri="{FF2B5EF4-FFF2-40B4-BE49-F238E27FC236}">
                <a16:creationId xmlns:a16="http://schemas.microsoft.com/office/drawing/2014/main" id="{7BD39163-0D3F-1A50-E990-E120A42E0441}"/>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90EB3970-999B-E8CE-0945-5E8823EFDF45}"/>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cxnSp>
        <p:nvCxnSpPr>
          <p:cNvPr id="5" name="Connecteur droit avec flèche 4">
            <a:extLst>
              <a:ext uri="{FF2B5EF4-FFF2-40B4-BE49-F238E27FC236}">
                <a16:creationId xmlns:a16="http://schemas.microsoft.com/office/drawing/2014/main" id="{470B2575-A1F2-645C-16FB-509B25EC9817}"/>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3CCAEE-FFA1-BBCC-D3E4-733942039CF2}"/>
              </a:ext>
            </a:extLst>
          </p:cNvPr>
          <p:cNvSpPr/>
          <p:nvPr/>
        </p:nvSpPr>
        <p:spPr>
          <a:xfrm>
            <a:off x="2564488" y="4273840"/>
            <a:ext cx="311304"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i</a:t>
            </a:r>
            <a:endParaRPr lang="fr-FR" dirty="0">
              <a:solidFill>
                <a:schemeClr val="bg1"/>
              </a:solidFill>
            </a:endParaRPr>
          </a:p>
        </p:txBody>
      </p:sp>
      <p:sp>
        <p:nvSpPr>
          <p:cNvPr id="16" name="Rectangle 15">
            <a:extLst>
              <a:ext uri="{FF2B5EF4-FFF2-40B4-BE49-F238E27FC236}">
                <a16:creationId xmlns:a16="http://schemas.microsoft.com/office/drawing/2014/main" id="{2EB805C6-753B-20A5-61AF-168D62214F6B}"/>
              </a:ext>
            </a:extLst>
          </p:cNvPr>
          <p:cNvSpPr/>
          <p:nvPr/>
        </p:nvSpPr>
        <p:spPr>
          <a:xfrm>
            <a:off x="3061676" y="4295788"/>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Consolas" panose="020B0609020204030204" pitchFamily="49" charset="0"/>
                <a:cs typeface="Consolas" panose="020B0609020204030204" pitchFamily="49" charset="0"/>
              </a:rPr>
              <a:t>0</a:t>
            </a:r>
          </a:p>
        </p:txBody>
      </p:sp>
      <p:sp>
        <p:nvSpPr>
          <p:cNvPr id="17" name="ZoneTexte 16">
            <a:extLst>
              <a:ext uri="{FF2B5EF4-FFF2-40B4-BE49-F238E27FC236}">
                <a16:creationId xmlns:a16="http://schemas.microsoft.com/office/drawing/2014/main" id="{C05771C6-53E9-2F18-ED5B-3BCA0744D485}"/>
              </a:ext>
            </a:extLst>
          </p:cNvPr>
          <p:cNvSpPr txBox="1"/>
          <p:nvPr/>
        </p:nvSpPr>
        <p:spPr>
          <a:xfrm>
            <a:off x="5017971" y="1356087"/>
            <a:ext cx="6730081" cy="1015663"/>
          </a:xfrm>
          <a:prstGeom prst="rect">
            <a:avLst/>
          </a:prstGeom>
          <a:noFill/>
        </p:spPr>
        <p:txBody>
          <a:bodyPr wrap="square">
            <a:spAutoFit/>
          </a:bodyPr>
          <a:lstStyle/>
          <a:p>
            <a:pPr marL="0" indent="0">
              <a:buNone/>
            </a:pPr>
            <a:r>
              <a:rPr lang="fr-BE" sz="2000" dirty="0"/>
              <a:t>Lors de la déclaration d’une variable locale de type primitif, un emplacement mémoire est réservé et contient la valeur par défaut du type (ici, </a:t>
            </a:r>
            <a:r>
              <a:rPr lang="fr-BE" dirty="0">
                <a:solidFill>
                  <a:schemeClr val="accent4"/>
                </a:solidFill>
                <a:latin typeface="Consolas" panose="020B0609020204030204" pitchFamily="49" charset="0"/>
                <a:cs typeface="Consolas" panose="020B0609020204030204" pitchFamily="49" charset="0"/>
              </a:rPr>
              <a:t>0</a:t>
            </a:r>
            <a:r>
              <a:rPr lang="fr-BE" sz="2000" dirty="0"/>
              <a:t> qui est la valeur par défaut pour un </a:t>
            </a:r>
            <a:r>
              <a:rPr lang="fr-BE" dirty="0" err="1">
                <a:solidFill>
                  <a:schemeClr val="accent4"/>
                </a:solidFill>
                <a:latin typeface="Consolas" panose="020B0609020204030204" pitchFamily="49" charset="0"/>
                <a:cs typeface="Consolas" panose="020B0609020204030204" pitchFamily="49" charset="0"/>
              </a:rPr>
              <a:t>int</a:t>
            </a:r>
            <a:r>
              <a:rPr lang="fr-BE" sz="2000" dirty="0"/>
              <a:t>)…</a:t>
            </a:r>
          </a:p>
        </p:txBody>
      </p:sp>
    </p:spTree>
    <p:extLst>
      <p:ext uri="{BB962C8B-B14F-4D97-AF65-F5344CB8AC3E}">
        <p14:creationId xmlns:p14="http://schemas.microsoft.com/office/powerpoint/2010/main" val="7398563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5065-C036-21BF-FF09-10C0EB7BAD5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B23F76B-CC06-231E-57C0-462539EAC614}"/>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3E016735-D0A5-8BD0-EC4D-FF315B8EF7C5}"/>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39240BE2-8623-1B23-5EF9-BD15B9B40F55}"/>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D542D87E-7D1F-3778-2CF1-5D86D0884A42}"/>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29829740-DC15-445C-7839-6D9B218F8FBF}"/>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8D468624-901D-7215-568A-50481AE5C555}"/>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5378D294-E023-D0ED-F4A4-2B35063197D0}"/>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a:t>
            </a:r>
            <a:r>
              <a:rPr lang="fr-FR" dirty="0">
                <a:solidFill>
                  <a:srgbClr val="FF0000"/>
                </a:solidFill>
                <a:latin typeface="Consolas" panose="020B0609020204030204" pitchFamily="49" charset="0"/>
                <a:cs typeface="Consolas" panose="020B0609020204030204" pitchFamily="49" charset="0"/>
              </a:rPr>
              <a:t>i = 3</a:t>
            </a:r>
            <a:r>
              <a:rPr lang="fr-FR" dirty="0">
                <a:solidFill>
                  <a:schemeClr val="bg1"/>
                </a:solidFill>
                <a:latin typeface="Consolas" panose="020B0609020204030204" pitchFamily="49" charset="0"/>
                <a:cs typeface="Consolas" panose="020B0609020204030204" pitchFamily="49" charset="0"/>
              </a:rPr>
              <a:t>;</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2E75C4F0-E8B2-C5A0-C4AA-08A14BFB0991}"/>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F2F4C23C-AA0A-EF2D-4AF9-965101DCBE50}"/>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947494BA-A615-CBC9-AE74-A19F9A18C696}"/>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A23E0CF2-1BF3-C021-BEB7-25568625ABA1}"/>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D8595D0D-EAE7-DF00-C172-B6003F341150}"/>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58</a:t>
            </a:fld>
            <a:endParaRPr lang="fr-FR" dirty="0"/>
          </a:p>
        </p:txBody>
      </p:sp>
      <p:sp>
        <p:nvSpPr>
          <p:cNvPr id="3" name="Rectangle 2">
            <a:extLst>
              <a:ext uri="{FF2B5EF4-FFF2-40B4-BE49-F238E27FC236}">
                <a16:creationId xmlns:a16="http://schemas.microsoft.com/office/drawing/2014/main" id="{91D188A3-854B-0A3F-2874-09060A42C28F}"/>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57198F8A-7A22-6B08-D84C-90F2159029EF}"/>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cxnSp>
        <p:nvCxnSpPr>
          <p:cNvPr id="5" name="Connecteur droit avec flèche 4">
            <a:extLst>
              <a:ext uri="{FF2B5EF4-FFF2-40B4-BE49-F238E27FC236}">
                <a16:creationId xmlns:a16="http://schemas.microsoft.com/office/drawing/2014/main" id="{CC861D42-2ED5-6271-C809-13CDE52A964D}"/>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0AA8AAA-AE26-D93C-D1DB-424448E26760}"/>
              </a:ext>
            </a:extLst>
          </p:cNvPr>
          <p:cNvSpPr/>
          <p:nvPr/>
        </p:nvSpPr>
        <p:spPr>
          <a:xfrm>
            <a:off x="2564488" y="4273840"/>
            <a:ext cx="311304"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i</a:t>
            </a:r>
            <a:endParaRPr lang="fr-FR" dirty="0">
              <a:solidFill>
                <a:schemeClr val="bg1"/>
              </a:solidFill>
            </a:endParaRPr>
          </a:p>
        </p:txBody>
      </p:sp>
      <p:sp>
        <p:nvSpPr>
          <p:cNvPr id="16" name="Rectangle 15">
            <a:extLst>
              <a:ext uri="{FF2B5EF4-FFF2-40B4-BE49-F238E27FC236}">
                <a16:creationId xmlns:a16="http://schemas.microsoft.com/office/drawing/2014/main" id="{9781E459-3E00-AED0-C78E-42B04798D253}"/>
              </a:ext>
            </a:extLst>
          </p:cNvPr>
          <p:cNvSpPr/>
          <p:nvPr/>
        </p:nvSpPr>
        <p:spPr>
          <a:xfrm>
            <a:off x="3061676" y="4295788"/>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Consolas" panose="020B0609020204030204" pitchFamily="49" charset="0"/>
                <a:cs typeface="Consolas" panose="020B0609020204030204" pitchFamily="49" charset="0"/>
              </a:rPr>
              <a:t>0</a:t>
            </a:r>
          </a:p>
        </p:txBody>
      </p:sp>
      <p:sp>
        <p:nvSpPr>
          <p:cNvPr id="20" name="Rectangle 19">
            <a:extLst>
              <a:ext uri="{FF2B5EF4-FFF2-40B4-BE49-F238E27FC236}">
                <a16:creationId xmlns:a16="http://schemas.microsoft.com/office/drawing/2014/main" id="{156FB3FF-0DEE-3FEB-A962-128FF7EB6A64}"/>
              </a:ext>
            </a:extLst>
          </p:cNvPr>
          <p:cNvSpPr/>
          <p:nvPr/>
        </p:nvSpPr>
        <p:spPr>
          <a:xfrm>
            <a:off x="3393361" y="4310862"/>
            <a:ext cx="296876" cy="338554"/>
          </a:xfrm>
          <a:prstGeom prst="rect">
            <a:avLst/>
          </a:prstGeom>
          <a:solidFill>
            <a:schemeClr val="tx1"/>
          </a:solidFill>
        </p:spPr>
        <p:txBody>
          <a:bodyPr wrap="none">
            <a:spAutoFit/>
          </a:bodyPr>
          <a:lstStyle/>
          <a:p>
            <a:pPr algn="ctr"/>
            <a:r>
              <a:rPr lang="fr-FR" sz="1600" dirty="0">
                <a:solidFill>
                  <a:srgbClr val="FF0000"/>
                </a:solidFill>
                <a:latin typeface="Consolas" panose="020B0609020204030204" pitchFamily="49" charset="0"/>
                <a:cs typeface="Consolas" panose="020B0609020204030204" pitchFamily="49" charset="0"/>
              </a:rPr>
              <a:t>3</a:t>
            </a:r>
            <a:endParaRPr lang="fr-FR" sz="1600" dirty="0">
              <a:solidFill>
                <a:srgbClr val="FF0000"/>
              </a:solidFill>
            </a:endParaRPr>
          </a:p>
        </p:txBody>
      </p:sp>
      <p:sp>
        <p:nvSpPr>
          <p:cNvPr id="21" name="ZoneTexte 20">
            <a:extLst>
              <a:ext uri="{FF2B5EF4-FFF2-40B4-BE49-F238E27FC236}">
                <a16:creationId xmlns:a16="http://schemas.microsoft.com/office/drawing/2014/main" id="{BB2C43BC-0733-3E3B-8F21-FECA834E295A}"/>
              </a:ext>
            </a:extLst>
          </p:cNvPr>
          <p:cNvSpPr txBox="1"/>
          <p:nvPr/>
        </p:nvSpPr>
        <p:spPr>
          <a:xfrm>
            <a:off x="5017971" y="1356087"/>
            <a:ext cx="6648097" cy="707886"/>
          </a:xfrm>
          <a:prstGeom prst="rect">
            <a:avLst/>
          </a:prstGeom>
          <a:noFill/>
        </p:spPr>
        <p:txBody>
          <a:bodyPr wrap="square">
            <a:spAutoFit/>
          </a:bodyPr>
          <a:lstStyle/>
          <a:p>
            <a:pPr marL="0" indent="0">
              <a:buNone/>
            </a:pPr>
            <a:r>
              <a:rPr lang="fr-BE" sz="2000" dirty="0"/>
              <a:t>…et l’affectation met la valeur du type primitif dans la variable de la pile (pas de référence).</a:t>
            </a:r>
          </a:p>
        </p:txBody>
      </p:sp>
    </p:spTree>
    <p:extLst>
      <p:ext uri="{BB962C8B-B14F-4D97-AF65-F5344CB8AC3E}">
        <p14:creationId xmlns:p14="http://schemas.microsoft.com/office/powerpoint/2010/main" val="38770727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8C2D4-0E4F-2D97-292C-0893FF653FF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BD28FEB-9BDB-D646-7BF4-69D33992624F}"/>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4A2DE774-50DE-5979-71EF-2EDD48509E4E}"/>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E71DA86-5887-F652-4C81-A0C2EF45B3D8}"/>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06342C13-4575-FC7E-C873-560040EC4009}"/>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0068EC23-5B7F-A231-91B4-89E4E70A991A}"/>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7F278796-C4AE-2E82-D421-D987F6CD0704}"/>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A798DE62-3A8C-9157-5418-06A8A90C1243}"/>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t>
            </a:r>
            <a:r>
              <a:rPr lang="fr-FR" dirty="0">
                <a:solidFill>
                  <a:srgbClr val="FF0000"/>
                </a:solidFill>
                <a:latin typeface="Consolas" panose="020B0609020204030204" pitchFamily="49" charset="0"/>
                <a:cs typeface="Consolas" panose="020B0609020204030204" pitchFamily="49" charset="0"/>
              </a:rPr>
              <a:t>A a2</a:t>
            </a:r>
            <a:r>
              <a:rPr lang="fr-FR" dirty="0">
                <a:solidFill>
                  <a:schemeClr val="bg1"/>
                </a:solidFill>
                <a:latin typeface="Consolas" panose="020B0609020204030204" pitchFamily="49" charset="0"/>
                <a:cs typeface="Consolas" panose="020B0609020204030204" pitchFamily="49" charset="0"/>
              </a:rPr>
              <a:t> = a1;</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773AE85C-E768-A762-962C-7AFEC9B6A995}"/>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D7FF4ECC-839B-37BC-4926-F8C0507BBD26}"/>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86B49EE5-ADE4-0FDF-FFF8-BAB376AFAD1B}"/>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03E683C0-9709-D833-C739-1FE22088B500}"/>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C3071E94-4F0E-28F0-E5A7-0879E3B90EEF}"/>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59</a:t>
            </a:fld>
            <a:endParaRPr lang="fr-FR" dirty="0"/>
          </a:p>
        </p:txBody>
      </p:sp>
      <p:sp>
        <p:nvSpPr>
          <p:cNvPr id="3" name="Rectangle 2">
            <a:extLst>
              <a:ext uri="{FF2B5EF4-FFF2-40B4-BE49-F238E27FC236}">
                <a16:creationId xmlns:a16="http://schemas.microsoft.com/office/drawing/2014/main" id="{19007327-0217-7163-DB6D-C880EAF6416A}"/>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6E0B4D52-0131-6E97-6255-A5B8603CDF24}"/>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cxnSp>
        <p:nvCxnSpPr>
          <p:cNvPr id="5" name="Connecteur droit avec flèche 4">
            <a:extLst>
              <a:ext uri="{FF2B5EF4-FFF2-40B4-BE49-F238E27FC236}">
                <a16:creationId xmlns:a16="http://schemas.microsoft.com/office/drawing/2014/main" id="{F6FDF28A-2DD5-7702-1DF7-4B98EE146207}"/>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15457DD-780E-BB07-5EE5-E07864CB169A}"/>
              </a:ext>
            </a:extLst>
          </p:cNvPr>
          <p:cNvSpPr/>
          <p:nvPr/>
        </p:nvSpPr>
        <p:spPr>
          <a:xfrm>
            <a:off x="2564488" y="4273840"/>
            <a:ext cx="311304"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i</a:t>
            </a:r>
            <a:endParaRPr lang="fr-FR" dirty="0">
              <a:solidFill>
                <a:schemeClr val="bg1"/>
              </a:solidFill>
            </a:endParaRPr>
          </a:p>
        </p:txBody>
      </p:sp>
      <p:sp>
        <p:nvSpPr>
          <p:cNvPr id="16" name="Rectangle 15">
            <a:extLst>
              <a:ext uri="{FF2B5EF4-FFF2-40B4-BE49-F238E27FC236}">
                <a16:creationId xmlns:a16="http://schemas.microsoft.com/office/drawing/2014/main" id="{741CBAB3-FE2E-466C-D2CB-D00754A3776A}"/>
              </a:ext>
            </a:extLst>
          </p:cNvPr>
          <p:cNvSpPr/>
          <p:nvPr/>
        </p:nvSpPr>
        <p:spPr>
          <a:xfrm>
            <a:off x="3061676" y="4295788"/>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Consolas" panose="020B0609020204030204" pitchFamily="49" charset="0"/>
                <a:cs typeface="Consolas" panose="020B0609020204030204" pitchFamily="49" charset="0"/>
              </a:rPr>
              <a:t>0</a:t>
            </a:r>
          </a:p>
        </p:txBody>
      </p:sp>
      <p:sp>
        <p:nvSpPr>
          <p:cNvPr id="20" name="Rectangle 19">
            <a:extLst>
              <a:ext uri="{FF2B5EF4-FFF2-40B4-BE49-F238E27FC236}">
                <a16:creationId xmlns:a16="http://schemas.microsoft.com/office/drawing/2014/main" id="{752C9ED0-6E88-11C8-6D72-8D28F47C5F31}"/>
              </a:ext>
            </a:extLst>
          </p:cNvPr>
          <p:cNvSpPr/>
          <p:nvPr/>
        </p:nvSpPr>
        <p:spPr>
          <a:xfrm>
            <a:off x="3393361" y="4310862"/>
            <a:ext cx="296876" cy="338554"/>
          </a:xfrm>
          <a:prstGeom prst="rect">
            <a:avLst/>
          </a:prstGeom>
          <a:solidFill>
            <a:schemeClr val="tx1"/>
          </a:solidFill>
        </p:spPr>
        <p:txBody>
          <a:bodyPr wrap="none">
            <a:spAutoFit/>
          </a:bodyPr>
          <a:lstStyle/>
          <a:p>
            <a:pPr algn="ctr"/>
            <a:r>
              <a:rPr lang="fr-FR" sz="1600" dirty="0">
                <a:solidFill>
                  <a:schemeClr val="bg1"/>
                </a:solidFill>
                <a:latin typeface="Consolas" panose="020B0609020204030204" pitchFamily="49" charset="0"/>
                <a:cs typeface="Consolas" panose="020B0609020204030204" pitchFamily="49" charset="0"/>
              </a:rPr>
              <a:t>3</a:t>
            </a:r>
            <a:endParaRPr lang="fr-FR" sz="1600" dirty="0">
              <a:solidFill>
                <a:schemeClr val="bg1"/>
              </a:solidFill>
            </a:endParaRPr>
          </a:p>
        </p:txBody>
      </p:sp>
      <p:sp>
        <p:nvSpPr>
          <p:cNvPr id="17" name="Rectangle 16">
            <a:extLst>
              <a:ext uri="{FF2B5EF4-FFF2-40B4-BE49-F238E27FC236}">
                <a16:creationId xmlns:a16="http://schemas.microsoft.com/office/drawing/2014/main" id="{BF3B912F-AF28-944B-2A8D-FBE28641D52A}"/>
              </a:ext>
            </a:extLst>
          </p:cNvPr>
          <p:cNvSpPr/>
          <p:nvPr/>
        </p:nvSpPr>
        <p:spPr>
          <a:xfrm>
            <a:off x="2460970" y="4715100"/>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a2</a:t>
            </a:r>
            <a:endParaRPr lang="fr-FR" dirty="0">
              <a:solidFill>
                <a:schemeClr val="bg1"/>
              </a:solidFill>
            </a:endParaRPr>
          </a:p>
        </p:txBody>
      </p:sp>
      <p:sp>
        <p:nvSpPr>
          <p:cNvPr id="19" name="Rectangle 18">
            <a:extLst>
              <a:ext uri="{FF2B5EF4-FFF2-40B4-BE49-F238E27FC236}">
                <a16:creationId xmlns:a16="http://schemas.microsoft.com/office/drawing/2014/main" id="{B8FE934E-2B4A-AD7A-FA09-013331BBBBE8}"/>
              </a:ext>
            </a:extLst>
          </p:cNvPr>
          <p:cNvSpPr/>
          <p:nvPr/>
        </p:nvSpPr>
        <p:spPr>
          <a:xfrm>
            <a:off x="3067050" y="4715100"/>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C8469541-998F-C567-48D7-A739A1DA08BE}"/>
              </a:ext>
            </a:extLst>
          </p:cNvPr>
          <p:cNvSpPr/>
          <p:nvPr/>
        </p:nvSpPr>
        <p:spPr>
          <a:xfrm>
            <a:off x="3188168" y="4715100"/>
            <a:ext cx="691215" cy="369332"/>
          </a:xfrm>
          <a:prstGeom prst="rect">
            <a:avLst/>
          </a:prstGeom>
        </p:spPr>
        <p:txBody>
          <a:bodyPr wrap="none">
            <a:spAutoFit/>
          </a:bodyPr>
          <a:lstStyle/>
          <a:p>
            <a:pPr algn="ctr"/>
            <a:r>
              <a:rPr lang="fr-FR" dirty="0" err="1">
                <a:solidFill>
                  <a:schemeClr val="bg1"/>
                </a:solidFill>
                <a:latin typeface="Consolas" panose="020B0609020204030204" pitchFamily="49" charset="0"/>
                <a:cs typeface="Consolas" panose="020B0609020204030204" pitchFamily="49" charset="0"/>
              </a:rPr>
              <a:t>null</a:t>
            </a:r>
            <a:endParaRPr lang="fr-FR" dirty="0">
              <a:solidFill>
                <a:schemeClr val="bg1"/>
              </a:solidFill>
            </a:endParaRPr>
          </a:p>
        </p:txBody>
      </p:sp>
      <p:sp>
        <p:nvSpPr>
          <p:cNvPr id="22" name="ZoneTexte 21">
            <a:extLst>
              <a:ext uri="{FF2B5EF4-FFF2-40B4-BE49-F238E27FC236}">
                <a16:creationId xmlns:a16="http://schemas.microsoft.com/office/drawing/2014/main" id="{7BD32DD9-BCBE-687C-D0EC-3EDC50E34CBA}"/>
              </a:ext>
            </a:extLst>
          </p:cNvPr>
          <p:cNvSpPr txBox="1"/>
          <p:nvPr/>
        </p:nvSpPr>
        <p:spPr>
          <a:xfrm>
            <a:off x="5017971" y="1356087"/>
            <a:ext cx="6648097" cy="1015663"/>
          </a:xfrm>
          <a:prstGeom prst="rect">
            <a:avLst/>
          </a:prstGeom>
          <a:noFill/>
        </p:spPr>
        <p:txBody>
          <a:bodyPr wrap="square">
            <a:spAutoFit/>
          </a:bodyPr>
          <a:lstStyle/>
          <a:p>
            <a:pPr marL="0" indent="0">
              <a:buNone/>
            </a:pPr>
            <a:r>
              <a:rPr lang="fr-BE" sz="2000" dirty="0"/>
              <a:t>Lors de la déclaration d’une variable locale de type objet, un emplacement mémoire est créé, qui contient la valeur par défaut pour un objet: </a:t>
            </a:r>
            <a:r>
              <a:rPr lang="fr-BE" dirty="0" err="1">
                <a:solidFill>
                  <a:schemeClr val="accent4"/>
                </a:solidFill>
                <a:latin typeface="Consolas" panose="020B0609020204030204" pitchFamily="49" charset="0"/>
                <a:cs typeface="Consolas" panose="020B0609020204030204" pitchFamily="49" charset="0"/>
              </a:rPr>
              <a:t>null</a:t>
            </a:r>
            <a:r>
              <a:rPr lang="fr-BE" sz="2000" dirty="0"/>
              <a:t>…</a:t>
            </a:r>
          </a:p>
        </p:txBody>
      </p:sp>
    </p:spTree>
    <p:extLst>
      <p:ext uri="{BB962C8B-B14F-4D97-AF65-F5344CB8AC3E}">
        <p14:creationId xmlns:p14="http://schemas.microsoft.com/office/powerpoint/2010/main" val="34603625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animBg="1"/>
      <p:bldP spid="2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3C534-3AF6-A641-4BB8-FA293C18469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4A40DD3-88E4-B5F0-85EF-2577B1A7EE9C}"/>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44E98F96-0009-D2CB-2231-4E5817E7AF74}"/>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273353CE-F366-E56F-8668-BF7FFEE2E92A}"/>
              </a:ext>
            </a:extLst>
          </p:cNvPr>
          <p:cNvSpPr/>
          <p:nvPr/>
        </p:nvSpPr>
        <p:spPr>
          <a:xfrm>
            <a:off x="1981200" y="3693772"/>
            <a:ext cx="2590774" cy="1476000"/>
          </a:xfrm>
          <a:prstGeom prst="rect">
            <a:avLst/>
          </a:prstGeom>
          <a:no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9B553C9F-4CC0-572A-47A9-5BBCFC074DCD}"/>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A69CCB82-9F4B-0AF3-F6C9-4C9EBE2360C2}"/>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B48F49BC-24A5-6C31-7A6C-59A0A05C1EC7}"/>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EC593675-2475-1B9A-B1D6-3CE3E53230EE}"/>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t>
            </a:r>
            <a:r>
              <a:rPr lang="fr-FR" dirty="0">
                <a:solidFill>
                  <a:srgbClr val="FF0000"/>
                </a:solidFill>
                <a:latin typeface="Consolas" panose="020B0609020204030204" pitchFamily="49" charset="0"/>
                <a:cs typeface="Consolas" panose="020B0609020204030204" pitchFamily="49" charset="0"/>
              </a:rPr>
              <a:t>a2 = a1</a:t>
            </a:r>
            <a:r>
              <a:rPr lang="fr-FR" dirty="0">
                <a:solidFill>
                  <a:schemeClr val="bg1"/>
                </a:solidFill>
                <a:latin typeface="Consolas" panose="020B0609020204030204" pitchFamily="49" charset="0"/>
                <a:cs typeface="Consolas" panose="020B0609020204030204" pitchFamily="49" charset="0"/>
              </a:rPr>
              <a:t>;</a:t>
            </a:r>
          </a:p>
          <a:p>
            <a:r>
              <a:rPr lang="fr-FR" dirty="0">
                <a:solidFill>
                  <a:schemeClr val="bg1"/>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FF914D35-ED6D-0BA6-05DA-36726B639E2F}"/>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746D28A9-E20E-AF78-CDDA-539F1C732D8A}"/>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95CC488C-33DF-8EC2-6FC8-00E6903F047B}"/>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9C4AFD40-3F84-168A-EB9D-77D5A193D12F}"/>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sp>
        <p:nvSpPr>
          <p:cNvPr id="10" name="Espace réservé du numéro de diapositive 1">
            <a:extLst>
              <a:ext uri="{FF2B5EF4-FFF2-40B4-BE49-F238E27FC236}">
                <a16:creationId xmlns:a16="http://schemas.microsoft.com/office/drawing/2014/main" id="{FC07B5B3-B928-5EC0-C1F4-48ED84156AD7}"/>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60</a:t>
            </a:fld>
            <a:endParaRPr lang="fr-FR" dirty="0"/>
          </a:p>
        </p:txBody>
      </p:sp>
      <p:sp>
        <p:nvSpPr>
          <p:cNvPr id="3" name="Rectangle 2">
            <a:extLst>
              <a:ext uri="{FF2B5EF4-FFF2-40B4-BE49-F238E27FC236}">
                <a16:creationId xmlns:a16="http://schemas.microsoft.com/office/drawing/2014/main" id="{15D858AA-7A4B-E318-C2C4-CCF035B3FC4F}"/>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999FFB16-DB68-4A23-B9DF-05984FA141C5}"/>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cxnSp>
        <p:nvCxnSpPr>
          <p:cNvPr id="5" name="Connecteur droit avec flèche 4">
            <a:extLst>
              <a:ext uri="{FF2B5EF4-FFF2-40B4-BE49-F238E27FC236}">
                <a16:creationId xmlns:a16="http://schemas.microsoft.com/office/drawing/2014/main" id="{7A2EFD0C-FCFC-416B-AE34-BD3865E22DA1}"/>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7677FF8-5557-939F-917B-AF7786F22A2A}"/>
              </a:ext>
            </a:extLst>
          </p:cNvPr>
          <p:cNvSpPr/>
          <p:nvPr/>
        </p:nvSpPr>
        <p:spPr>
          <a:xfrm>
            <a:off x="2564488" y="4273840"/>
            <a:ext cx="311304"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i</a:t>
            </a:r>
            <a:endParaRPr lang="fr-FR" dirty="0">
              <a:solidFill>
                <a:schemeClr val="bg1"/>
              </a:solidFill>
            </a:endParaRPr>
          </a:p>
        </p:txBody>
      </p:sp>
      <p:sp>
        <p:nvSpPr>
          <p:cNvPr id="16" name="Rectangle 15">
            <a:extLst>
              <a:ext uri="{FF2B5EF4-FFF2-40B4-BE49-F238E27FC236}">
                <a16:creationId xmlns:a16="http://schemas.microsoft.com/office/drawing/2014/main" id="{8C78D35D-C4A5-3246-2029-F4BC44200B35}"/>
              </a:ext>
            </a:extLst>
          </p:cNvPr>
          <p:cNvSpPr/>
          <p:nvPr/>
        </p:nvSpPr>
        <p:spPr>
          <a:xfrm>
            <a:off x="3061676" y="4295788"/>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Consolas" panose="020B0609020204030204" pitchFamily="49" charset="0"/>
                <a:cs typeface="Consolas" panose="020B0609020204030204" pitchFamily="49" charset="0"/>
              </a:rPr>
              <a:t>0</a:t>
            </a:r>
          </a:p>
        </p:txBody>
      </p:sp>
      <p:sp>
        <p:nvSpPr>
          <p:cNvPr id="20" name="Rectangle 19">
            <a:extLst>
              <a:ext uri="{FF2B5EF4-FFF2-40B4-BE49-F238E27FC236}">
                <a16:creationId xmlns:a16="http://schemas.microsoft.com/office/drawing/2014/main" id="{645FEE9D-FBB7-BF07-1064-1E4B92D46188}"/>
              </a:ext>
            </a:extLst>
          </p:cNvPr>
          <p:cNvSpPr/>
          <p:nvPr/>
        </p:nvSpPr>
        <p:spPr>
          <a:xfrm>
            <a:off x="3393361" y="4310862"/>
            <a:ext cx="296876" cy="338554"/>
          </a:xfrm>
          <a:prstGeom prst="rect">
            <a:avLst/>
          </a:prstGeom>
          <a:solidFill>
            <a:schemeClr val="tx1"/>
          </a:solidFill>
        </p:spPr>
        <p:txBody>
          <a:bodyPr wrap="none">
            <a:spAutoFit/>
          </a:bodyPr>
          <a:lstStyle/>
          <a:p>
            <a:pPr algn="ctr"/>
            <a:r>
              <a:rPr lang="fr-FR" sz="1600" dirty="0">
                <a:solidFill>
                  <a:schemeClr val="bg1"/>
                </a:solidFill>
                <a:latin typeface="Consolas" panose="020B0609020204030204" pitchFamily="49" charset="0"/>
                <a:cs typeface="Consolas" panose="020B0609020204030204" pitchFamily="49" charset="0"/>
              </a:rPr>
              <a:t>3</a:t>
            </a:r>
            <a:endParaRPr lang="fr-FR" sz="1600" dirty="0">
              <a:solidFill>
                <a:schemeClr val="bg1"/>
              </a:solidFill>
            </a:endParaRPr>
          </a:p>
        </p:txBody>
      </p:sp>
      <p:sp>
        <p:nvSpPr>
          <p:cNvPr id="17" name="Rectangle 16">
            <a:extLst>
              <a:ext uri="{FF2B5EF4-FFF2-40B4-BE49-F238E27FC236}">
                <a16:creationId xmlns:a16="http://schemas.microsoft.com/office/drawing/2014/main" id="{36E6A041-B1A1-3F3F-4759-F405F6AF54DB}"/>
              </a:ext>
            </a:extLst>
          </p:cNvPr>
          <p:cNvSpPr/>
          <p:nvPr/>
        </p:nvSpPr>
        <p:spPr>
          <a:xfrm>
            <a:off x="2460970" y="4715100"/>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a2</a:t>
            </a:r>
            <a:endParaRPr lang="fr-FR" dirty="0">
              <a:solidFill>
                <a:schemeClr val="bg1"/>
              </a:solidFill>
            </a:endParaRPr>
          </a:p>
        </p:txBody>
      </p:sp>
      <p:sp>
        <p:nvSpPr>
          <p:cNvPr id="19" name="Rectangle 18">
            <a:extLst>
              <a:ext uri="{FF2B5EF4-FFF2-40B4-BE49-F238E27FC236}">
                <a16:creationId xmlns:a16="http://schemas.microsoft.com/office/drawing/2014/main" id="{CA1FF690-831E-CD55-B43E-99C7F609A181}"/>
              </a:ext>
            </a:extLst>
          </p:cNvPr>
          <p:cNvSpPr/>
          <p:nvPr/>
        </p:nvSpPr>
        <p:spPr>
          <a:xfrm>
            <a:off x="3067050" y="4715100"/>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7E439CA7-7134-199E-7B33-816745F85AA4}"/>
              </a:ext>
            </a:extLst>
          </p:cNvPr>
          <p:cNvSpPr/>
          <p:nvPr/>
        </p:nvSpPr>
        <p:spPr>
          <a:xfrm>
            <a:off x="3188168" y="4715100"/>
            <a:ext cx="691215" cy="369332"/>
          </a:xfrm>
          <a:prstGeom prst="rect">
            <a:avLst/>
          </a:prstGeom>
        </p:spPr>
        <p:txBody>
          <a:bodyPr wrap="none">
            <a:spAutoFit/>
          </a:bodyPr>
          <a:lstStyle/>
          <a:p>
            <a:pPr algn="ctr"/>
            <a:r>
              <a:rPr lang="fr-FR" dirty="0" err="1">
                <a:solidFill>
                  <a:schemeClr val="bg1"/>
                </a:solidFill>
                <a:latin typeface="Consolas" panose="020B0609020204030204" pitchFamily="49" charset="0"/>
                <a:cs typeface="Consolas" panose="020B0609020204030204" pitchFamily="49" charset="0"/>
              </a:rPr>
              <a:t>null</a:t>
            </a:r>
            <a:endParaRPr lang="fr-FR" dirty="0">
              <a:solidFill>
                <a:schemeClr val="bg1"/>
              </a:solidFill>
            </a:endParaRPr>
          </a:p>
        </p:txBody>
      </p:sp>
      <p:cxnSp>
        <p:nvCxnSpPr>
          <p:cNvPr id="22" name="Connecteur droit avec flèche 21">
            <a:extLst>
              <a:ext uri="{FF2B5EF4-FFF2-40B4-BE49-F238E27FC236}">
                <a16:creationId xmlns:a16="http://schemas.microsoft.com/office/drawing/2014/main" id="{C0F62527-542E-D8EC-2A10-7C489BF6F001}"/>
              </a:ext>
            </a:extLst>
          </p:cNvPr>
          <p:cNvCxnSpPr>
            <a:cxnSpLocks/>
          </p:cNvCxnSpPr>
          <p:nvPr/>
        </p:nvCxnSpPr>
        <p:spPr>
          <a:xfrm flipV="1">
            <a:off x="3526055" y="4177364"/>
            <a:ext cx="2983832" cy="721896"/>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7" name="ZoneTexte 26">
            <a:extLst>
              <a:ext uri="{FF2B5EF4-FFF2-40B4-BE49-F238E27FC236}">
                <a16:creationId xmlns:a16="http://schemas.microsoft.com/office/drawing/2014/main" id="{89088B50-E9D2-FFA6-317C-CBBC7E197A6E}"/>
              </a:ext>
            </a:extLst>
          </p:cNvPr>
          <p:cNvSpPr txBox="1"/>
          <p:nvPr/>
        </p:nvSpPr>
        <p:spPr>
          <a:xfrm>
            <a:off x="5017971" y="1356087"/>
            <a:ext cx="6648097" cy="1015663"/>
          </a:xfrm>
          <a:prstGeom prst="rect">
            <a:avLst/>
          </a:prstGeom>
          <a:noFill/>
        </p:spPr>
        <p:txBody>
          <a:bodyPr wrap="square">
            <a:spAutoFit/>
          </a:bodyPr>
          <a:lstStyle/>
          <a:p>
            <a:pPr marL="0" indent="0">
              <a:buNone/>
            </a:pPr>
            <a:r>
              <a:rPr lang="fr-BE" sz="2000" dirty="0"/>
              <a:t>…et l’affectation crée le lien entre la variable de la pile et l’objet dans le tas: une référence vers l’objet est stockée dans la variable locale.</a:t>
            </a:r>
          </a:p>
        </p:txBody>
      </p:sp>
    </p:spTree>
    <p:extLst>
      <p:ext uri="{BB962C8B-B14F-4D97-AF65-F5344CB8AC3E}">
        <p14:creationId xmlns:p14="http://schemas.microsoft.com/office/powerpoint/2010/main" val="12673527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16" fill="hold" grpId="0" nodeType="clickEffect">
                                  <p:stCondLst>
                                    <p:cond delay="0"/>
                                  </p:stCondLst>
                                  <p:childTnLst>
                                    <p:animEffect transition="out" filter="circle(in)">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AD7E1-ECC0-6BA9-5EA9-EBD718D4040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EA2080F-6E33-EFEF-23EA-4B2AFF3A5DDB}"/>
              </a:ext>
            </a:extLst>
          </p:cNvPr>
          <p:cNvSpPr/>
          <p:nvPr/>
        </p:nvSpPr>
        <p:spPr>
          <a:xfrm>
            <a:off x="1981200" y="2898474"/>
            <a:ext cx="2590774" cy="2808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CEBFB769-9307-439C-9724-0A44152E036D}"/>
              </a:ext>
            </a:extLst>
          </p:cNvPr>
          <p:cNvSpPr/>
          <p:nvPr/>
        </p:nvSpPr>
        <p:spPr>
          <a:xfrm>
            <a:off x="5021283" y="2898474"/>
            <a:ext cx="4512800" cy="2808000"/>
          </a:xfrm>
          <a:prstGeom prst="rect">
            <a:avLst/>
          </a:prstGeom>
          <a:solidFill>
            <a:schemeClr val="tx1"/>
          </a:solidFill>
          <a:ln>
            <a:solidFill>
              <a:schemeClr val="accent1"/>
            </a:solidFill>
          </a:ln>
        </p:spPr>
        <p:txBody>
          <a:bodyPr wrap="square" rtlCol="0">
            <a:spAutoFit/>
          </a:bodyPr>
          <a:lstStyle/>
          <a:p>
            <a:endParaRPr lang="fr-FR">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6624CE7F-FDC1-FA0D-651C-58120778E894}"/>
              </a:ext>
            </a:extLst>
          </p:cNvPr>
          <p:cNvSpPr/>
          <p:nvPr/>
        </p:nvSpPr>
        <p:spPr>
          <a:xfrm>
            <a:off x="1981200" y="3693772"/>
            <a:ext cx="2590774" cy="1476000"/>
          </a:xfrm>
          <a:prstGeom prst="rect">
            <a:avLst/>
          </a:prstGeom>
          <a:noFill/>
          <a:ln>
            <a:solidFill>
              <a:srgbClr val="FF0000"/>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CEE66217-FDE0-DDD1-3CA5-36FAD6142636}"/>
              </a:ext>
            </a:extLst>
          </p:cNvPr>
          <p:cNvSpPr/>
          <p:nvPr/>
        </p:nvSpPr>
        <p:spPr>
          <a:xfrm>
            <a:off x="1981200" y="5161614"/>
            <a:ext cx="2590774" cy="540000"/>
          </a:xfrm>
          <a:prstGeom prst="rect">
            <a:avLst/>
          </a:prstGeom>
          <a:solidFill>
            <a:schemeClr val="tx1"/>
          </a:solidFill>
          <a:ln>
            <a:solidFill>
              <a:schemeClr val="accent1"/>
            </a:solidFill>
          </a:ln>
        </p:spPr>
        <p:txBody>
          <a:bodyPr wrap="square" rtlCol="0">
            <a:spAutoFit/>
          </a:bodyPr>
          <a:lstStyle/>
          <a:p>
            <a:endParaRPr lang="fr-FR" dirty="0">
              <a:latin typeface="Consolas" panose="020B0609020204030204" pitchFamily="49" charset="0"/>
              <a:cs typeface="Consolas" panose="020B0609020204030204" pitchFamily="49" charset="0"/>
            </a:endParaRPr>
          </a:p>
        </p:txBody>
      </p:sp>
      <p:cxnSp>
        <p:nvCxnSpPr>
          <p:cNvPr id="15" name="Connecteur droit 14">
            <a:extLst>
              <a:ext uri="{FF2B5EF4-FFF2-40B4-BE49-F238E27FC236}">
                <a16:creationId xmlns:a16="http://schemas.microsoft.com/office/drawing/2014/main" id="{57FBF892-A1B3-6B3C-1068-13C939111E34}"/>
              </a:ext>
            </a:extLst>
          </p:cNvPr>
          <p:cNvCxnSpPr/>
          <p:nvPr/>
        </p:nvCxnSpPr>
        <p:spPr>
          <a:xfrm>
            <a:off x="1981200" y="5676441"/>
            <a:ext cx="2590774" cy="0"/>
          </a:xfrm>
          <a:prstGeom prst="line">
            <a:avLst/>
          </a:prstGeom>
          <a:ln w="381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B1D5E537-E43B-6591-0112-F9FC2E7D380E}"/>
              </a:ext>
            </a:extLst>
          </p:cNvPr>
          <p:cNvSpPr>
            <a:spLocks noGrp="1"/>
          </p:cNvSpPr>
          <p:nvPr>
            <p:ph type="title"/>
          </p:nvPr>
        </p:nvSpPr>
        <p:spPr/>
        <p:txBody>
          <a:bodyPr>
            <a:normAutofit fontScale="90000"/>
          </a:bodyPr>
          <a:lstStyle/>
          <a:p>
            <a:r>
              <a:rPr lang="fr-FR" dirty="0"/>
              <a:t>La Pile et le Tas</a:t>
            </a:r>
            <a:br>
              <a:rPr lang="fr-FR" dirty="0"/>
            </a:br>
            <a:endParaRPr lang="fr-FR" dirty="0"/>
          </a:p>
        </p:txBody>
      </p:sp>
      <p:sp>
        <p:nvSpPr>
          <p:cNvPr id="2" name="ZoneTexte 1">
            <a:extLst>
              <a:ext uri="{FF2B5EF4-FFF2-40B4-BE49-F238E27FC236}">
                <a16:creationId xmlns:a16="http://schemas.microsoft.com/office/drawing/2014/main" id="{463E1273-70B8-D3A4-C496-A6B3DAADEC6A}"/>
              </a:ext>
            </a:extLst>
          </p:cNvPr>
          <p:cNvSpPr txBox="1"/>
          <p:nvPr/>
        </p:nvSpPr>
        <p:spPr>
          <a:xfrm>
            <a:off x="1981200" y="1173752"/>
            <a:ext cx="2590774" cy="1477328"/>
          </a:xfrm>
          <a:prstGeom prst="rect">
            <a:avLst/>
          </a:prstGeom>
          <a:solidFill>
            <a:schemeClr val="tx1"/>
          </a:solidFill>
          <a:ln>
            <a:solidFill>
              <a:schemeClr val="accent1"/>
            </a:solidFill>
          </a:ln>
        </p:spPr>
        <p:txBody>
          <a:bodyPr wrap="none" rtlCol="0">
            <a:spAutoFit/>
          </a:bodyPr>
          <a:lstStyle/>
          <a:p>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m() {</a:t>
            </a:r>
          </a:p>
          <a:p>
            <a:r>
              <a:rPr lang="fr-FR" dirty="0">
                <a:solidFill>
                  <a:schemeClr val="bg1"/>
                </a:solidFill>
                <a:latin typeface="Consolas" panose="020B0609020204030204" pitchFamily="49" charset="0"/>
                <a:cs typeface="Consolas" panose="020B0609020204030204" pitchFamily="49" charset="0"/>
              </a:rPr>
              <a:t>    A a1 = new A();</a:t>
            </a:r>
          </a:p>
          <a:p>
            <a:r>
              <a:rPr lang="fr-FR" dirty="0">
                <a:solidFill>
                  <a:schemeClr val="bg1"/>
                </a:solidFill>
                <a:latin typeface="Consolas" panose="020B0609020204030204" pitchFamily="49" charset="0"/>
                <a:cs typeface="Consolas" panose="020B0609020204030204" pitchFamily="49" charset="0"/>
              </a:rPr>
              <a:t>    </a:t>
            </a:r>
            <a:r>
              <a:rPr lang="fr-FR" dirty="0" err="1">
                <a:solidFill>
                  <a:schemeClr val="bg1"/>
                </a:solidFill>
                <a:latin typeface="Consolas" panose="020B0609020204030204" pitchFamily="49" charset="0"/>
                <a:cs typeface="Consolas" panose="020B0609020204030204" pitchFamily="49" charset="0"/>
              </a:rPr>
              <a:t>int</a:t>
            </a:r>
            <a:r>
              <a:rPr lang="fr-FR" dirty="0">
                <a:solidFill>
                  <a:schemeClr val="bg1"/>
                </a:solidFill>
                <a:latin typeface="Consolas" panose="020B0609020204030204" pitchFamily="49" charset="0"/>
                <a:cs typeface="Consolas" panose="020B0609020204030204" pitchFamily="49" charset="0"/>
              </a:rPr>
              <a:t> i = 3;</a:t>
            </a:r>
          </a:p>
          <a:p>
            <a:r>
              <a:rPr lang="fr-FR" dirty="0">
                <a:solidFill>
                  <a:schemeClr val="bg1"/>
                </a:solidFill>
                <a:latin typeface="Consolas" panose="020B0609020204030204" pitchFamily="49" charset="0"/>
                <a:cs typeface="Consolas" panose="020B0609020204030204" pitchFamily="49" charset="0"/>
              </a:rPr>
              <a:t>    A a2 = a1;</a:t>
            </a:r>
          </a:p>
          <a:p>
            <a:r>
              <a:rPr lang="fr-FR" dirty="0">
                <a:solidFill>
                  <a:srgbClr val="FF0000"/>
                </a:solidFill>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0A68CAE7-556A-6F46-B08B-F18632094FEA}"/>
              </a:ext>
            </a:extLst>
          </p:cNvPr>
          <p:cNvSpPr/>
          <p:nvPr/>
        </p:nvSpPr>
        <p:spPr>
          <a:xfrm>
            <a:off x="2460970" y="3880214"/>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a1</a:t>
            </a:r>
            <a:endParaRPr lang="fr-FR" dirty="0">
              <a:solidFill>
                <a:schemeClr val="bg1"/>
              </a:solidFill>
            </a:endParaRPr>
          </a:p>
        </p:txBody>
      </p:sp>
      <p:sp>
        <p:nvSpPr>
          <p:cNvPr id="18" name="Rectangle 17">
            <a:extLst>
              <a:ext uri="{FF2B5EF4-FFF2-40B4-BE49-F238E27FC236}">
                <a16:creationId xmlns:a16="http://schemas.microsoft.com/office/drawing/2014/main" id="{8CFE5852-1F90-8EFB-C93C-73DC46AAE292}"/>
              </a:ext>
            </a:extLst>
          </p:cNvPr>
          <p:cNvSpPr/>
          <p:nvPr/>
        </p:nvSpPr>
        <p:spPr>
          <a:xfrm>
            <a:off x="3067050" y="3880214"/>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9C15354C-4971-65D6-8FD1-A95E70A5D59F}"/>
              </a:ext>
            </a:extLst>
          </p:cNvPr>
          <p:cNvSpPr txBox="1"/>
          <p:nvPr/>
        </p:nvSpPr>
        <p:spPr>
          <a:xfrm>
            <a:off x="1981200" y="5768259"/>
            <a:ext cx="2590774" cy="369332"/>
          </a:xfrm>
          <a:prstGeom prst="rect">
            <a:avLst/>
          </a:prstGeom>
          <a:noFill/>
        </p:spPr>
        <p:txBody>
          <a:bodyPr wrap="square" rtlCol="0">
            <a:spAutoFit/>
          </a:bodyPr>
          <a:lstStyle/>
          <a:p>
            <a:pPr algn="ctr"/>
            <a:r>
              <a:rPr lang="fr-FR" dirty="0"/>
              <a:t>PILE</a:t>
            </a:r>
          </a:p>
        </p:txBody>
      </p:sp>
      <p:sp>
        <p:nvSpPr>
          <p:cNvPr id="25" name="ZoneTexte 24">
            <a:extLst>
              <a:ext uri="{FF2B5EF4-FFF2-40B4-BE49-F238E27FC236}">
                <a16:creationId xmlns:a16="http://schemas.microsoft.com/office/drawing/2014/main" id="{312A623F-0442-6D41-7A16-4688B9DE54F6}"/>
              </a:ext>
            </a:extLst>
          </p:cNvPr>
          <p:cNvSpPr txBox="1"/>
          <p:nvPr/>
        </p:nvSpPr>
        <p:spPr>
          <a:xfrm>
            <a:off x="5017971" y="5768259"/>
            <a:ext cx="4512800" cy="369332"/>
          </a:xfrm>
          <a:prstGeom prst="rect">
            <a:avLst/>
          </a:prstGeom>
          <a:noFill/>
        </p:spPr>
        <p:txBody>
          <a:bodyPr wrap="square" rtlCol="0">
            <a:spAutoFit/>
          </a:bodyPr>
          <a:lstStyle/>
          <a:p>
            <a:pPr algn="ctr"/>
            <a:r>
              <a:rPr lang="fr-FR" dirty="0"/>
              <a:t>TAS</a:t>
            </a:r>
          </a:p>
        </p:txBody>
      </p:sp>
      <p:pic>
        <p:nvPicPr>
          <p:cNvPr id="6" name="Image 5">
            <a:extLst>
              <a:ext uri="{FF2B5EF4-FFF2-40B4-BE49-F238E27FC236}">
                <a16:creationId xmlns:a16="http://schemas.microsoft.com/office/drawing/2014/main" id="{D555216B-F834-A2A0-5B3C-0647B4ED9D22}"/>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791" b="94419" l="6195" r="92478">
                        <a14:foregroundMark x1="28319" y1="8372" x2="8850" y2="26977"/>
                        <a14:foregroundMark x1="8850" y1="26977" x2="8850" y2="44651"/>
                        <a14:foregroundMark x1="30531" y1="6512" x2="6637" y2="17674"/>
                        <a14:foregroundMark x1="6637" y1="17674" x2="7965" y2="27907"/>
                        <a14:foregroundMark x1="12832" y1="10233" x2="27876" y2="6047"/>
                        <a14:foregroundMark x1="27876" y1="5116" x2="21681" y2="2791"/>
                        <a14:foregroundMark x1="10619" y1="43721" x2="6195" y2="31163"/>
                        <a14:foregroundMark x1="80531" y1="79535" x2="80531" y2="79535"/>
                        <a14:foregroundMark x1="69027" y1="87442" x2="70354" y2="84651"/>
                        <a14:foregroundMark x1="80973" y1="76744" x2="80531" y2="79535"/>
                        <a14:foregroundMark x1="88053" y1="75349" x2="92478" y2="77209"/>
                        <a14:foregroundMark x1="85398" y1="86977" x2="77876" y2="93488"/>
                        <a14:foregroundMark x1="92035" y1="94419" x2="92035" y2="94419"/>
                      </a14:backgroundRemoval>
                    </a14:imgEffect>
                  </a14:imgLayer>
                </a14:imgProps>
              </a:ext>
              <a:ext uri="{28A0092B-C50C-407E-A947-70E740481C1C}">
                <a14:useLocalDpi xmlns:a14="http://schemas.microsoft.com/office/drawing/2010/main"/>
              </a:ext>
            </a:extLst>
          </a:blip>
          <a:srcRect/>
          <a:stretch/>
        </p:blipFill>
        <p:spPr>
          <a:xfrm flipH="1">
            <a:off x="10056415" y="2752568"/>
            <a:ext cx="1580531" cy="1496978"/>
          </a:xfrm>
          <a:prstGeom prst="rect">
            <a:avLst/>
          </a:prstGeom>
        </p:spPr>
      </p:pic>
      <p:sp>
        <p:nvSpPr>
          <p:cNvPr id="10" name="Espace réservé du numéro de diapositive 1">
            <a:extLst>
              <a:ext uri="{FF2B5EF4-FFF2-40B4-BE49-F238E27FC236}">
                <a16:creationId xmlns:a16="http://schemas.microsoft.com/office/drawing/2014/main" id="{303E7995-D1BA-B5DA-F740-4ECDC3461DB0}"/>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61</a:t>
            </a:fld>
            <a:endParaRPr lang="fr-FR" dirty="0"/>
          </a:p>
        </p:txBody>
      </p:sp>
      <p:sp>
        <p:nvSpPr>
          <p:cNvPr id="3" name="Rectangle 2">
            <a:extLst>
              <a:ext uri="{FF2B5EF4-FFF2-40B4-BE49-F238E27FC236}">
                <a16:creationId xmlns:a16="http://schemas.microsoft.com/office/drawing/2014/main" id="{506CB571-62EF-DE07-C496-94BB721292C0}"/>
              </a:ext>
            </a:extLst>
          </p:cNvPr>
          <p:cNvSpPr/>
          <p:nvPr/>
        </p:nvSpPr>
        <p:spPr>
          <a:xfrm>
            <a:off x="6509887" y="3498773"/>
            <a:ext cx="1455450"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A</a:t>
            </a:r>
          </a:p>
        </p:txBody>
      </p:sp>
      <p:sp>
        <p:nvSpPr>
          <p:cNvPr id="4" name="Rectangle 3">
            <a:extLst>
              <a:ext uri="{FF2B5EF4-FFF2-40B4-BE49-F238E27FC236}">
                <a16:creationId xmlns:a16="http://schemas.microsoft.com/office/drawing/2014/main" id="{C8E72592-D902-0B74-8544-C4F77B23A107}"/>
              </a:ext>
            </a:extLst>
          </p:cNvPr>
          <p:cNvSpPr/>
          <p:nvPr/>
        </p:nvSpPr>
        <p:spPr>
          <a:xfrm>
            <a:off x="6509887" y="3858480"/>
            <a:ext cx="1455450" cy="646331"/>
          </a:xfrm>
          <a:prstGeom prst="rect">
            <a:avLst/>
          </a:prstGeom>
          <a:solidFill>
            <a:schemeClr val="tx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solidFill>
                  <a:schemeClr val="bg1"/>
                </a:solidFill>
                <a:latin typeface="Consolas" panose="020B0609020204030204" pitchFamily="49" charset="0"/>
                <a:cs typeface="Consolas" panose="020B0609020204030204" pitchFamily="49" charset="0"/>
              </a:rPr>
              <a:t>Instance de A</a:t>
            </a:r>
          </a:p>
        </p:txBody>
      </p:sp>
      <p:cxnSp>
        <p:nvCxnSpPr>
          <p:cNvPr id="5" name="Connecteur droit avec flèche 4">
            <a:extLst>
              <a:ext uri="{FF2B5EF4-FFF2-40B4-BE49-F238E27FC236}">
                <a16:creationId xmlns:a16="http://schemas.microsoft.com/office/drawing/2014/main" id="{C9B04B15-36C4-6C21-0076-3C0615DE95BC}"/>
              </a:ext>
            </a:extLst>
          </p:cNvPr>
          <p:cNvCxnSpPr>
            <a:cxnSpLocks/>
          </p:cNvCxnSpPr>
          <p:nvPr/>
        </p:nvCxnSpPr>
        <p:spPr>
          <a:xfrm>
            <a:off x="3526055" y="4081112"/>
            <a:ext cx="2983832" cy="0"/>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91348DD-C38A-3DC9-C8BA-D506B9F70F95}"/>
              </a:ext>
            </a:extLst>
          </p:cNvPr>
          <p:cNvSpPr/>
          <p:nvPr/>
        </p:nvSpPr>
        <p:spPr>
          <a:xfrm>
            <a:off x="2564488" y="4273840"/>
            <a:ext cx="311304"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i</a:t>
            </a:r>
            <a:endParaRPr lang="fr-FR" dirty="0">
              <a:solidFill>
                <a:schemeClr val="bg1"/>
              </a:solidFill>
            </a:endParaRPr>
          </a:p>
        </p:txBody>
      </p:sp>
      <p:sp>
        <p:nvSpPr>
          <p:cNvPr id="16" name="Rectangle 15">
            <a:extLst>
              <a:ext uri="{FF2B5EF4-FFF2-40B4-BE49-F238E27FC236}">
                <a16:creationId xmlns:a16="http://schemas.microsoft.com/office/drawing/2014/main" id="{AF91186E-9856-38D3-9B9E-8A9217927D27}"/>
              </a:ext>
            </a:extLst>
          </p:cNvPr>
          <p:cNvSpPr/>
          <p:nvPr/>
        </p:nvSpPr>
        <p:spPr>
          <a:xfrm>
            <a:off x="3061676" y="4295788"/>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Consolas" panose="020B0609020204030204" pitchFamily="49" charset="0"/>
                <a:cs typeface="Consolas" panose="020B0609020204030204" pitchFamily="49" charset="0"/>
              </a:rPr>
              <a:t>0</a:t>
            </a:r>
          </a:p>
        </p:txBody>
      </p:sp>
      <p:sp>
        <p:nvSpPr>
          <p:cNvPr id="20" name="Rectangle 19">
            <a:extLst>
              <a:ext uri="{FF2B5EF4-FFF2-40B4-BE49-F238E27FC236}">
                <a16:creationId xmlns:a16="http://schemas.microsoft.com/office/drawing/2014/main" id="{229CB099-087A-77E0-1C2D-1B9765240AD3}"/>
              </a:ext>
            </a:extLst>
          </p:cNvPr>
          <p:cNvSpPr/>
          <p:nvPr/>
        </p:nvSpPr>
        <p:spPr>
          <a:xfrm>
            <a:off x="3393361" y="4310862"/>
            <a:ext cx="296876" cy="338554"/>
          </a:xfrm>
          <a:prstGeom prst="rect">
            <a:avLst/>
          </a:prstGeom>
          <a:solidFill>
            <a:schemeClr val="tx1"/>
          </a:solidFill>
        </p:spPr>
        <p:txBody>
          <a:bodyPr wrap="none">
            <a:spAutoFit/>
          </a:bodyPr>
          <a:lstStyle/>
          <a:p>
            <a:pPr algn="ctr"/>
            <a:r>
              <a:rPr lang="fr-FR" sz="1600" dirty="0">
                <a:solidFill>
                  <a:schemeClr val="bg1"/>
                </a:solidFill>
                <a:latin typeface="Consolas" panose="020B0609020204030204" pitchFamily="49" charset="0"/>
                <a:cs typeface="Consolas" panose="020B0609020204030204" pitchFamily="49" charset="0"/>
              </a:rPr>
              <a:t>3</a:t>
            </a:r>
            <a:endParaRPr lang="fr-FR" sz="1600" dirty="0">
              <a:solidFill>
                <a:schemeClr val="bg1"/>
              </a:solidFill>
            </a:endParaRPr>
          </a:p>
        </p:txBody>
      </p:sp>
      <p:sp>
        <p:nvSpPr>
          <p:cNvPr id="17" name="Rectangle 16">
            <a:extLst>
              <a:ext uri="{FF2B5EF4-FFF2-40B4-BE49-F238E27FC236}">
                <a16:creationId xmlns:a16="http://schemas.microsoft.com/office/drawing/2014/main" id="{76364CC1-B086-FC5D-6D7E-540F0EA295AA}"/>
              </a:ext>
            </a:extLst>
          </p:cNvPr>
          <p:cNvSpPr/>
          <p:nvPr/>
        </p:nvSpPr>
        <p:spPr>
          <a:xfrm>
            <a:off x="2460970" y="4715100"/>
            <a:ext cx="437940" cy="369332"/>
          </a:xfrm>
          <a:prstGeom prst="rect">
            <a:avLst/>
          </a:prstGeom>
        </p:spPr>
        <p:txBody>
          <a:bodyPr wrap="none">
            <a:spAutoFit/>
          </a:bodyPr>
          <a:lstStyle/>
          <a:p>
            <a:pPr algn="r"/>
            <a:r>
              <a:rPr lang="fr-FR" dirty="0">
                <a:solidFill>
                  <a:schemeClr val="bg1"/>
                </a:solidFill>
                <a:latin typeface="Consolas" panose="020B0609020204030204" pitchFamily="49" charset="0"/>
                <a:cs typeface="Consolas" panose="020B0609020204030204" pitchFamily="49" charset="0"/>
              </a:rPr>
              <a:t>a2</a:t>
            </a:r>
            <a:endParaRPr lang="fr-FR" dirty="0">
              <a:solidFill>
                <a:schemeClr val="bg1"/>
              </a:solidFill>
            </a:endParaRPr>
          </a:p>
        </p:txBody>
      </p:sp>
      <p:sp>
        <p:nvSpPr>
          <p:cNvPr id="19" name="Rectangle 18">
            <a:extLst>
              <a:ext uri="{FF2B5EF4-FFF2-40B4-BE49-F238E27FC236}">
                <a16:creationId xmlns:a16="http://schemas.microsoft.com/office/drawing/2014/main" id="{10DE97B4-313A-4605-72B0-6CA9EF047835}"/>
              </a:ext>
            </a:extLst>
          </p:cNvPr>
          <p:cNvSpPr/>
          <p:nvPr/>
        </p:nvSpPr>
        <p:spPr>
          <a:xfrm>
            <a:off x="3067050" y="4715100"/>
            <a:ext cx="933450" cy="36933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Connecteur droit avec flèche 21">
            <a:extLst>
              <a:ext uri="{FF2B5EF4-FFF2-40B4-BE49-F238E27FC236}">
                <a16:creationId xmlns:a16="http://schemas.microsoft.com/office/drawing/2014/main" id="{28DD8442-E7E4-D7CA-8C43-6A094466EF36}"/>
              </a:ext>
            </a:extLst>
          </p:cNvPr>
          <p:cNvCxnSpPr>
            <a:cxnSpLocks/>
          </p:cNvCxnSpPr>
          <p:nvPr/>
        </p:nvCxnSpPr>
        <p:spPr>
          <a:xfrm flipV="1">
            <a:off x="3526055" y="4177364"/>
            <a:ext cx="2983832" cy="721896"/>
          </a:xfrm>
          <a:prstGeom prst="straightConnector1">
            <a:avLst/>
          </a:prstGeom>
          <a:ln w="28575">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1" name="Flèche vers la gauche 20">
            <a:extLst>
              <a:ext uri="{FF2B5EF4-FFF2-40B4-BE49-F238E27FC236}">
                <a16:creationId xmlns:a16="http://schemas.microsoft.com/office/drawing/2014/main" id="{15161D2C-F87A-DA40-EE4B-0CD92F7E2C59}"/>
              </a:ext>
            </a:extLst>
          </p:cNvPr>
          <p:cNvSpPr/>
          <p:nvPr/>
        </p:nvSpPr>
        <p:spPr>
          <a:xfrm rot="20700000">
            <a:off x="7982617" y="3428585"/>
            <a:ext cx="2377440" cy="693019"/>
          </a:xfrm>
          <a:prstGeom prst="leftArrow">
            <a:avLst>
              <a:gd name="adj1" fmla="val 100000"/>
              <a:gd name="adj2" fmla="val 47222"/>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Candidat au ramasse-miettes</a:t>
            </a:r>
          </a:p>
        </p:txBody>
      </p:sp>
      <p:sp>
        <p:nvSpPr>
          <p:cNvPr id="26" name="ZoneTexte 25">
            <a:extLst>
              <a:ext uri="{FF2B5EF4-FFF2-40B4-BE49-F238E27FC236}">
                <a16:creationId xmlns:a16="http://schemas.microsoft.com/office/drawing/2014/main" id="{12575307-C1A1-957A-3091-6B185296FCA8}"/>
              </a:ext>
            </a:extLst>
          </p:cNvPr>
          <p:cNvSpPr txBox="1"/>
          <p:nvPr/>
        </p:nvSpPr>
        <p:spPr>
          <a:xfrm>
            <a:off x="5017971" y="1356087"/>
            <a:ext cx="6648097" cy="1323439"/>
          </a:xfrm>
          <a:prstGeom prst="rect">
            <a:avLst/>
          </a:prstGeom>
          <a:noFill/>
        </p:spPr>
        <p:txBody>
          <a:bodyPr wrap="square">
            <a:spAutoFit/>
          </a:bodyPr>
          <a:lstStyle/>
          <a:p>
            <a:pPr marL="0" indent="0">
              <a:buNone/>
            </a:pPr>
            <a:r>
              <a:rPr lang="fr-BE" sz="2000" dirty="0"/>
              <a:t>À la sortie de la méthode, l’espace réservé pour la méthode sur le stack est libéré. Les objets créés restent dans le tas…</a:t>
            </a:r>
          </a:p>
          <a:p>
            <a:pPr marL="0" indent="0">
              <a:buNone/>
            </a:pPr>
            <a:r>
              <a:rPr lang="fr-BE" sz="2000" dirty="0"/>
              <a:t>Lorsqu’un objet n’est plus </a:t>
            </a:r>
            <a:r>
              <a:rPr lang="fr-BE" sz="2000" dirty="0" err="1"/>
              <a:t>référence</a:t>
            </a:r>
            <a:r>
              <a:rPr lang="fr-BE" sz="2000" dirty="0"/>
              <a:t>́, le </a:t>
            </a:r>
            <a:r>
              <a:rPr lang="fr-BE" sz="2000" dirty="0">
                <a:solidFill>
                  <a:schemeClr val="accent4"/>
                </a:solidFill>
              </a:rPr>
              <a:t>ramasse-miettes </a:t>
            </a:r>
            <a:r>
              <a:rPr lang="fr-BE" sz="2000" dirty="0"/>
              <a:t>(</a:t>
            </a:r>
            <a:r>
              <a:rPr lang="fr-BE" sz="2000" i="1" dirty="0" err="1"/>
              <a:t>garbage</a:t>
            </a:r>
            <a:r>
              <a:rPr lang="fr-BE" sz="2000" i="1" dirty="0"/>
              <a:t> collector</a:t>
            </a:r>
            <a:r>
              <a:rPr lang="fr-BE" sz="2000" dirty="0"/>
              <a:t>, GC) </a:t>
            </a:r>
            <a:r>
              <a:rPr lang="fr-BE" sz="2000" dirty="0" err="1"/>
              <a:t>libère</a:t>
            </a:r>
            <a:r>
              <a:rPr lang="fr-BE" sz="2000" dirty="0"/>
              <a:t> la </a:t>
            </a:r>
            <a:r>
              <a:rPr lang="fr-BE" sz="2000" dirty="0" err="1"/>
              <a:t>mémoire</a:t>
            </a:r>
            <a:r>
              <a:rPr lang="fr-BE" sz="2000" dirty="0"/>
              <a:t> qui lui a </a:t>
            </a:r>
            <a:r>
              <a:rPr lang="fr-BE" sz="2000" dirty="0" err="1"/>
              <a:t>éte</a:t>
            </a:r>
            <a:r>
              <a:rPr lang="fr-BE" sz="2000" dirty="0"/>
              <a:t>́ </a:t>
            </a:r>
            <a:r>
              <a:rPr lang="fr-BE" sz="2000" dirty="0" err="1"/>
              <a:t>allouée</a:t>
            </a:r>
            <a:r>
              <a:rPr lang="fr-BE" sz="2000" dirty="0"/>
              <a:t>. </a:t>
            </a:r>
          </a:p>
        </p:txBody>
      </p:sp>
    </p:spTree>
    <p:extLst>
      <p:ext uri="{BB962C8B-B14F-4D97-AF65-F5344CB8AC3E}">
        <p14:creationId xmlns:p14="http://schemas.microsoft.com/office/powerpoint/2010/main" val="13559791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16" fill="hold" grpId="0" nodeType="clickEffect">
                                  <p:stCondLst>
                                    <p:cond delay="0"/>
                                  </p:stCondLst>
                                  <p:childTnLst>
                                    <p:animEffect transition="out" filter="circle(in)">
                                      <p:cBhvr>
                                        <p:cTn id="6" dur="750"/>
                                        <p:tgtEl>
                                          <p:spTgt spid="13"/>
                                        </p:tgtEl>
                                      </p:cBhvr>
                                    </p:animEffect>
                                    <p:set>
                                      <p:cBhvr>
                                        <p:cTn id="7" dur="1" fill="hold">
                                          <p:stCondLst>
                                            <p:cond delay="749"/>
                                          </p:stCondLst>
                                        </p:cTn>
                                        <p:tgtEl>
                                          <p:spTgt spid="13"/>
                                        </p:tgtEl>
                                        <p:attrNameLst>
                                          <p:attrName>style.visibility</p:attrName>
                                        </p:attrNameLst>
                                      </p:cBhvr>
                                      <p:to>
                                        <p:strVal val="hidden"/>
                                      </p:to>
                                    </p:set>
                                  </p:childTnLst>
                                </p:cTn>
                              </p:par>
                              <p:par>
                                <p:cTn id="8" presetID="6" presetClass="exit" presetSubtype="16" fill="hold" grpId="0" nodeType="withEffect">
                                  <p:stCondLst>
                                    <p:cond delay="0"/>
                                  </p:stCondLst>
                                  <p:childTnLst>
                                    <p:animEffect transition="out" filter="circle(in)">
                                      <p:cBhvr>
                                        <p:cTn id="9" dur="750"/>
                                        <p:tgtEl>
                                          <p:spTgt spid="9"/>
                                        </p:tgtEl>
                                      </p:cBhvr>
                                    </p:animEffect>
                                    <p:set>
                                      <p:cBhvr>
                                        <p:cTn id="10" dur="1" fill="hold">
                                          <p:stCondLst>
                                            <p:cond delay="749"/>
                                          </p:stCondLst>
                                        </p:cTn>
                                        <p:tgtEl>
                                          <p:spTgt spid="9"/>
                                        </p:tgtEl>
                                        <p:attrNameLst>
                                          <p:attrName>style.visibility</p:attrName>
                                        </p:attrNameLst>
                                      </p:cBhvr>
                                      <p:to>
                                        <p:strVal val="hidden"/>
                                      </p:to>
                                    </p:set>
                                  </p:childTnLst>
                                </p:cTn>
                              </p:par>
                              <p:par>
                                <p:cTn id="11" presetID="6" presetClass="exit" presetSubtype="16" fill="hold" grpId="0" nodeType="withEffect">
                                  <p:stCondLst>
                                    <p:cond delay="0"/>
                                  </p:stCondLst>
                                  <p:childTnLst>
                                    <p:animEffect transition="out" filter="circle(in)">
                                      <p:cBhvr>
                                        <p:cTn id="12" dur="750"/>
                                        <p:tgtEl>
                                          <p:spTgt spid="18"/>
                                        </p:tgtEl>
                                      </p:cBhvr>
                                    </p:animEffect>
                                    <p:set>
                                      <p:cBhvr>
                                        <p:cTn id="13" dur="1" fill="hold">
                                          <p:stCondLst>
                                            <p:cond delay="749"/>
                                          </p:stCondLst>
                                        </p:cTn>
                                        <p:tgtEl>
                                          <p:spTgt spid="18"/>
                                        </p:tgtEl>
                                        <p:attrNameLst>
                                          <p:attrName>style.visibility</p:attrName>
                                        </p:attrNameLst>
                                      </p:cBhvr>
                                      <p:to>
                                        <p:strVal val="hidden"/>
                                      </p:to>
                                    </p:set>
                                  </p:childTnLst>
                                </p:cTn>
                              </p:par>
                              <p:par>
                                <p:cTn id="14" presetID="6" presetClass="exit" presetSubtype="16" fill="hold" nodeType="withEffect">
                                  <p:stCondLst>
                                    <p:cond delay="0"/>
                                  </p:stCondLst>
                                  <p:childTnLst>
                                    <p:animEffect transition="out" filter="circle(in)">
                                      <p:cBhvr>
                                        <p:cTn id="15" dur="750"/>
                                        <p:tgtEl>
                                          <p:spTgt spid="5"/>
                                        </p:tgtEl>
                                      </p:cBhvr>
                                    </p:animEffect>
                                    <p:set>
                                      <p:cBhvr>
                                        <p:cTn id="16" dur="1" fill="hold">
                                          <p:stCondLst>
                                            <p:cond delay="749"/>
                                          </p:stCondLst>
                                        </p:cTn>
                                        <p:tgtEl>
                                          <p:spTgt spid="5"/>
                                        </p:tgtEl>
                                        <p:attrNameLst>
                                          <p:attrName>style.visibility</p:attrName>
                                        </p:attrNameLst>
                                      </p:cBhvr>
                                      <p:to>
                                        <p:strVal val="hidden"/>
                                      </p:to>
                                    </p:set>
                                  </p:childTnLst>
                                </p:cTn>
                              </p:par>
                              <p:par>
                                <p:cTn id="17" presetID="6" presetClass="exit" presetSubtype="16" fill="hold" grpId="0" nodeType="withEffect">
                                  <p:stCondLst>
                                    <p:cond delay="0"/>
                                  </p:stCondLst>
                                  <p:childTnLst>
                                    <p:animEffect transition="out" filter="circle(in)">
                                      <p:cBhvr>
                                        <p:cTn id="18" dur="750"/>
                                        <p:tgtEl>
                                          <p:spTgt spid="8"/>
                                        </p:tgtEl>
                                      </p:cBhvr>
                                    </p:animEffect>
                                    <p:set>
                                      <p:cBhvr>
                                        <p:cTn id="19" dur="1" fill="hold">
                                          <p:stCondLst>
                                            <p:cond delay="749"/>
                                          </p:stCondLst>
                                        </p:cTn>
                                        <p:tgtEl>
                                          <p:spTgt spid="8"/>
                                        </p:tgtEl>
                                        <p:attrNameLst>
                                          <p:attrName>style.visibility</p:attrName>
                                        </p:attrNameLst>
                                      </p:cBhvr>
                                      <p:to>
                                        <p:strVal val="hidden"/>
                                      </p:to>
                                    </p:set>
                                  </p:childTnLst>
                                </p:cTn>
                              </p:par>
                              <p:par>
                                <p:cTn id="20" presetID="6" presetClass="exit" presetSubtype="16" fill="hold" grpId="0" nodeType="withEffect">
                                  <p:stCondLst>
                                    <p:cond delay="0"/>
                                  </p:stCondLst>
                                  <p:childTnLst>
                                    <p:animEffect transition="out" filter="circle(in)">
                                      <p:cBhvr>
                                        <p:cTn id="21" dur="750"/>
                                        <p:tgtEl>
                                          <p:spTgt spid="16"/>
                                        </p:tgtEl>
                                      </p:cBhvr>
                                    </p:animEffect>
                                    <p:set>
                                      <p:cBhvr>
                                        <p:cTn id="22" dur="1" fill="hold">
                                          <p:stCondLst>
                                            <p:cond delay="749"/>
                                          </p:stCondLst>
                                        </p:cTn>
                                        <p:tgtEl>
                                          <p:spTgt spid="16"/>
                                        </p:tgtEl>
                                        <p:attrNameLst>
                                          <p:attrName>style.visibility</p:attrName>
                                        </p:attrNameLst>
                                      </p:cBhvr>
                                      <p:to>
                                        <p:strVal val="hidden"/>
                                      </p:to>
                                    </p:set>
                                  </p:childTnLst>
                                </p:cTn>
                              </p:par>
                              <p:par>
                                <p:cTn id="23" presetID="6" presetClass="exit" presetSubtype="16" fill="hold" grpId="0" nodeType="withEffect">
                                  <p:stCondLst>
                                    <p:cond delay="0"/>
                                  </p:stCondLst>
                                  <p:childTnLst>
                                    <p:animEffect transition="out" filter="circle(in)">
                                      <p:cBhvr>
                                        <p:cTn id="24" dur="750"/>
                                        <p:tgtEl>
                                          <p:spTgt spid="20"/>
                                        </p:tgtEl>
                                      </p:cBhvr>
                                    </p:animEffect>
                                    <p:set>
                                      <p:cBhvr>
                                        <p:cTn id="25" dur="1" fill="hold">
                                          <p:stCondLst>
                                            <p:cond delay="749"/>
                                          </p:stCondLst>
                                        </p:cTn>
                                        <p:tgtEl>
                                          <p:spTgt spid="20"/>
                                        </p:tgtEl>
                                        <p:attrNameLst>
                                          <p:attrName>style.visibility</p:attrName>
                                        </p:attrNameLst>
                                      </p:cBhvr>
                                      <p:to>
                                        <p:strVal val="hidden"/>
                                      </p:to>
                                    </p:set>
                                  </p:childTnLst>
                                </p:cTn>
                              </p:par>
                              <p:par>
                                <p:cTn id="26" presetID="6" presetClass="exit" presetSubtype="16" fill="hold" grpId="0" nodeType="withEffect">
                                  <p:stCondLst>
                                    <p:cond delay="0"/>
                                  </p:stCondLst>
                                  <p:childTnLst>
                                    <p:animEffect transition="out" filter="circle(in)">
                                      <p:cBhvr>
                                        <p:cTn id="27" dur="750"/>
                                        <p:tgtEl>
                                          <p:spTgt spid="17"/>
                                        </p:tgtEl>
                                      </p:cBhvr>
                                    </p:animEffect>
                                    <p:set>
                                      <p:cBhvr>
                                        <p:cTn id="28" dur="1" fill="hold">
                                          <p:stCondLst>
                                            <p:cond delay="749"/>
                                          </p:stCondLst>
                                        </p:cTn>
                                        <p:tgtEl>
                                          <p:spTgt spid="17"/>
                                        </p:tgtEl>
                                        <p:attrNameLst>
                                          <p:attrName>style.visibility</p:attrName>
                                        </p:attrNameLst>
                                      </p:cBhvr>
                                      <p:to>
                                        <p:strVal val="hidden"/>
                                      </p:to>
                                    </p:set>
                                  </p:childTnLst>
                                </p:cTn>
                              </p:par>
                              <p:par>
                                <p:cTn id="29" presetID="6" presetClass="exit" presetSubtype="16" fill="hold" grpId="0" nodeType="withEffect">
                                  <p:stCondLst>
                                    <p:cond delay="0"/>
                                  </p:stCondLst>
                                  <p:childTnLst>
                                    <p:animEffect transition="out" filter="circle(in)">
                                      <p:cBhvr>
                                        <p:cTn id="30" dur="750"/>
                                        <p:tgtEl>
                                          <p:spTgt spid="19"/>
                                        </p:tgtEl>
                                      </p:cBhvr>
                                    </p:animEffect>
                                    <p:set>
                                      <p:cBhvr>
                                        <p:cTn id="31" dur="1" fill="hold">
                                          <p:stCondLst>
                                            <p:cond delay="749"/>
                                          </p:stCondLst>
                                        </p:cTn>
                                        <p:tgtEl>
                                          <p:spTgt spid="19"/>
                                        </p:tgtEl>
                                        <p:attrNameLst>
                                          <p:attrName>style.visibility</p:attrName>
                                        </p:attrNameLst>
                                      </p:cBhvr>
                                      <p:to>
                                        <p:strVal val="hidden"/>
                                      </p:to>
                                    </p:set>
                                  </p:childTnLst>
                                </p:cTn>
                              </p:par>
                              <p:par>
                                <p:cTn id="32" presetID="6" presetClass="exit" presetSubtype="16" fill="hold" nodeType="withEffect">
                                  <p:stCondLst>
                                    <p:cond delay="0"/>
                                  </p:stCondLst>
                                  <p:childTnLst>
                                    <p:animEffect transition="out" filter="circle(in)">
                                      <p:cBhvr>
                                        <p:cTn id="33" dur="750"/>
                                        <p:tgtEl>
                                          <p:spTgt spid="22"/>
                                        </p:tgtEl>
                                      </p:cBhvr>
                                    </p:animEffect>
                                    <p:set>
                                      <p:cBhvr>
                                        <p:cTn id="34" dur="1" fill="hold">
                                          <p:stCondLst>
                                            <p:cond delay="749"/>
                                          </p:stCondLst>
                                        </p:cTn>
                                        <p:tgtEl>
                                          <p:spTgt spid="22"/>
                                        </p:tgtEl>
                                        <p:attrNameLst>
                                          <p:attrName>style.visibility</p:attrName>
                                        </p:attrNameLst>
                                      </p:cBhvr>
                                      <p:to>
                                        <p:strVal val="hidden"/>
                                      </p:to>
                                    </p:set>
                                  </p:childTnLst>
                                </p:cTn>
                              </p:par>
                            </p:childTnLst>
                          </p:cTn>
                        </p:par>
                        <p:par>
                          <p:cTn id="35" fill="hold">
                            <p:stCondLst>
                              <p:cond delay="750"/>
                            </p:stCondLst>
                            <p:childTnLst>
                              <p:par>
                                <p:cTn id="36" presetID="22" presetClass="entr" presetSubtype="2" fill="hold" grpId="0" nodeType="afterEffect">
                                  <p:stCondLst>
                                    <p:cond delay="500"/>
                                  </p:stCondLst>
                                  <p:childTnLst>
                                    <p:set>
                                      <p:cBhvr>
                                        <p:cTn id="37" dur="1" fill="hold">
                                          <p:stCondLst>
                                            <p:cond delay="0"/>
                                          </p:stCondLst>
                                        </p:cTn>
                                        <p:tgtEl>
                                          <p:spTgt spid="21"/>
                                        </p:tgtEl>
                                        <p:attrNameLst>
                                          <p:attrName>style.visibility</p:attrName>
                                        </p:attrNameLst>
                                      </p:cBhvr>
                                      <p:to>
                                        <p:strVal val="visible"/>
                                      </p:to>
                                    </p:set>
                                    <p:animEffect transition="in" filter="wipe(right)">
                                      <p:cBhvr>
                                        <p:cTn id="38" dur="500"/>
                                        <p:tgtEl>
                                          <p:spTgt spid="21"/>
                                        </p:tgtEl>
                                      </p:cBhvr>
                                    </p:animEffect>
                                  </p:childTnLst>
                                </p:cTn>
                              </p:par>
                              <p:par>
                                <p:cTn id="39" presetID="53" presetClass="entr" presetSubtype="16" fill="hold" nodeType="withEffect">
                                  <p:stCondLst>
                                    <p:cond delay="50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fltVal val="0"/>
                                          </p:val>
                                        </p:tav>
                                        <p:tav tm="100000">
                                          <p:val>
                                            <p:strVal val="#ppt_h"/>
                                          </p:val>
                                        </p:tav>
                                      </p:tavLst>
                                    </p:anim>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p:bldP spid="18" grpId="0" animBg="1"/>
      <p:bldP spid="8" grpId="0"/>
      <p:bldP spid="16" grpId="0" animBg="1"/>
      <p:bldP spid="20" grpId="0" animBg="1"/>
      <p:bldP spid="17" grpId="0"/>
      <p:bldP spid="19" grpId="0" animBg="1"/>
      <p:bldP spid="2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6CF8C-68C8-E69A-DA6D-49666B142D9D}"/>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7A90D28B-8E25-FB63-5B44-9EFF6D46123A}"/>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2791" b="94419" l="6195" r="92478">
                        <a14:foregroundMark x1="28319" y1="8372" x2="8850" y2="26977"/>
                        <a14:foregroundMark x1="8850" y1="26977" x2="8850" y2="44651"/>
                        <a14:foregroundMark x1="30531" y1="6512" x2="6637" y2="17674"/>
                        <a14:foregroundMark x1="6637" y1="17674" x2="7965" y2="27907"/>
                        <a14:foregroundMark x1="12832" y1="10233" x2="27876" y2="6047"/>
                        <a14:foregroundMark x1="27876" y1="5116" x2="21681" y2="2791"/>
                        <a14:foregroundMark x1="10619" y1="43721" x2="6195" y2="31163"/>
                        <a14:foregroundMark x1="80531" y1="79535" x2="80531" y2="79535"/>
                        <a14:foregroundMark x1="69027" y1="87442" x2="70354" y2="84651"/>
                        <a14:foregroundMark x1="80973" y1="76744" x2="80531" y2="79535"/>
                        <a14:foregroundMark x1="88053" y1="75349" x2="92478" y2="77209"/>
                        <a14:foregroundMark x1="85398" y1="86977" x2="77876" y2="93488"/>
                        <a14:foregroundMark x1="92035" y1="94419" x2="92035" y2="94419"/>
                      </a14:backgroundRemoval>
                    </a14:imgEffect>
                  </a14:imgLayer>
                </a14:imgProps>
              </a:ext>
              <a:ext uri="{28A0092B-C50C-407E-A947-70E740481C1C}">
                <a14:useLocalDpi xmlns:a14="http://schemas.microsoft.com/office/drawing/2010/main"/>
              </a:ext>
            </a:extLst>
          </a:blip>
          <a:srcRect/>
          <a:stretch/>
        </p:blipFill>
        <p:spPr>
          <a:xfrm flipH="1">
            <a:off x="9771680" y="161292"/>
            <a:ext cx="1580531" cy="1496978"/>
          </a:xfrm>
          <a:prstGeom prst="rect">
            <a:avLst/>
          </a:prstGeom>
        </p:spPr>
      </p:pic>
      <p:sp>
        <p:nvSpPr>
          <p:cNvPr id="7" name="Titre 6">
            <a:extLst>
              <a:ext uri="{FF2B5EF4-FFF2-40B4-BE49-F238E27FC236}">
                <a16:creationId xmlns:a16="http://schemas.microsoft.com/office/drawing/2014/main" id="{4E624356-3760-A351-32E2-863D949C1048}"/>
              </a:ext>
            </a:extLst>
          </p:cNvPr>
          <p:cNvSpPr>
            <a:spLocks noGrp="1"/>
          </p:cNvSpPr>
          <p:nvPr>
            <p:ph type="title"/>
          </p:nvPr>
        </p:nvSpPr>
        <p:spPr/>
        <p:txBody>
          <a:bodyPr>
            <a:normAutofit/>
          </a:bodyPr>
          <a:lstStyle/>
          <a:p>
            <a:r>
              <a:rPr lang="fr-FR" dirty="0"/>
              <a:t>Le Ramasse-Miettes</a:t>
            </a:r>
          </a:p>
        </p:txBody>
      </p:sp>
      <p:sp>
        <p:nvSpPr>
          <p:cNvPr id="6" name="Espace réservé du contenu 5">
            <a:extLst>
              <a:ext uri="{FF2B5EF4-FFF2-40B4-BE49-F238E27FC236}">
                <a16:creationId xmlns:a16="http://schemas.microsoft.com/office/drawing/2014/main" id="{5D6C602C-0151-FACF-D536-8CB95B3A48BB}"/>
              </a:ext>
            </a:extLst>
          </p:cNvPr>
          <p:cNvSpPr>
            <a:spLocks noGrp="1"/>
          </p:cNvSpPr>
          <p:nvPr>
            <p:ph idx="1"/>
          </p:nvPr>
        </p:nvSpPr>
        <p:spPr/>
        <p:txBody>
          <a:bodyPr>
            <a:normAutofit/>
          </a:bodyPr>
          <a:lstStyle/>
          <a:p>
            <a:pPr marL="0" indent="0">
              <a:buNone/>
            </a:pPr>
            <a:r>
              <a:rPr lang="fr-FR" sz="2400" dirty="0"/>
              <a:t>Il n'existe pas, en Java, d'opérateur qui permet de détruire un objet dont on n'a plus besoin.</a:t>
            </a:r>
          </a:p>
          <a:p>
            <a:pPr marL="0" indent="0">
              <a:buNone/>
            </a:pPr>
            <a:r>
              <a:rPr lang="fr-BE" sz="2400" dirty="0"/>
              <a:t>La mémoire n'étant pas illimitée, il faut régulièrement supprimer les objets qui ne sont plus utilisés.</a:t>
            </a:r>
          </a:p>
          <a:p>
            <a:pPr marL="0" indent="0">
              <a:buNone/>
            </a:pPr>
            <a:endParaRPr lang="fr-BE" sz="2400" dirty="0"/>
          </a:p>
          <a:p>
            <a:pPr marL="0" indent="0">
              <a:buNone/>
            </a:pPr>
            <a:r>
              <a:rPr lang="fr-BE" sz="2400" dirty="0"/>
              <a:t>Dans certains langages (C++, par exemple), le programmeur doit explicitement supprimer les objets inutiles. Si cette suppression est oubliée, cela peut mener à des problèmes de </a:t>
            </a:r>
            <a:r>
              <a:rPr lang="fr-BE" sz="2400" i="1" dirty="0">
                <a:solidFill>
                  <a:schemeClr val="accent4"/>
                </a:solidFill>
              </a:rPr>
              <a:t>memory leak</a:t>
            </a:r>
            <a:r>
              <a:rPr lang="fr-BE" sz="2400" dirty="0"/>
              <a:t>.</a:t>
            </a:r>
            <a:endParaRPr lang="fr-FR" sz="2400" dirty="0"/>
          </a:p>
          <a:p>
            <a:pPr marL="0" indent="0">
              <a:buNone/>
            </a:pPr>
            <a:r>
              <a:rPr lang="fr-FR" sz="2400" dirty="0"/>
              <a:t>Java utilise un </a:t>
            </a:r>
            <a:r>
              <a:rPr lang="fr-FR" sz="2400" dirty="0">
                <a:solidFill>
                  <a:schemeClr val="accent4"/>
                </a:solidFill>
              </a:rPr>
              <a:t>mécanisme automatique de gestion de la mémoire</a:t>
            </a:r>
            <a:r>
              <a:rPr lang="fr-FR" sz="2400" dirty="0"/>
              <a:t>, appelé ramasse-miettes (</a:t>
            </a:r>
            <a:r>
              <a:rPr lang="fr-FR" sz="2400" i="1" dirty="0" err="1"/>
              <a:t>garbage</a:t>
            </a:r>
            <a:r>
              <a:rPr lang="fr-FR" sz="2400" i="1" dirty="0"/>
              <a:t> </a:t>
            </a:r>
            <a:r>
              <a:rPr lang="fr-FR" sz="2400" i="1" dirty="0" err="1"/>
              <a:t>collector</a:t>
            </a:r>
            <a:r>
              <a:rPr lang="fr-FR" sz="2400" dirty="0"/>
              <a:t>)</a:t>
            </a:r>
          </a:p>
        </p:txBody>
      </p:sp>
      <p:sp>
        <p:nvSpPr>
          <p:cNvPr id="4" name="Espace réservé du numéro de diapositive 3">
            <a:extLst>
              <a:ext uri="{FF2B5EF4-FFF2-40B4-BE49-F238E27FC236}">
                <a16:creationId xmlns:a16="http://schemas.microsoft.com/office/drawing/2014/main" id="{D222FDE9-C947-C5E0-1BDA-992278C56CB6}"/>
              </a:ext>
            </a:extLst>
          </p:cNvPr>
          <p:cNvSpPr>
            <a:spLocks noGrp="1"/>
          </p:cNvSpPr>
          <p:nvPr>
            <p:ph type="sldNum" sz="quarter" idx="4"/>
          </p:nvPr>
        </p:nvSpPr>
        <p:spPr/>
        <p:txBody>
          <a:bodyPr/>
          <a:lstStyle/>
          <a:p>
            <a:fld id="{33C783E2-4793-4F48-A271-51A73CC37D74}" type="slidenum">
              <a:rPr lang="fr-FR" smtClean="0"/>
              <a:t>62</a:t>
            </a:fld>
            <a:endParaRPr lang="fr-FR" dirty="0"/>
          </a:p>
        </p:txBody>
      </p:sp>
      <p:sp>
        <p:nvSpPr>
          <p:cNvPr id="2" name="Rectangle : coins arrondis 1">
            <a:extLst>
              <a:ext uri="{FF2B5EF4-FFF2-40B4-BE49-F238E27FC236}">
                <a16:creationId xmlns:a16="http://schemas.microsoft.com/office/drawing/2014/main" id="{A0BF3B5C-41AE-B990-94E3-D0DBF3112B65}"/>
              </a:ext>
            </a:extLst>
          </p:cNvPr>
          <p:cNvSpPr/>
          <p:nvPr/>
        </p:nvSpPr>
        <p:spPr>
          <a:xfrm>
            <a:off x="5879762" y="5584913"/>
            <a:ext cx="4586141" cy="592050"/>
          </a:xfrm>
          <a:prstGeom prst="roundRect">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Note: il y a plusieurs mécanismes de GC possibles… Tout dépend de la configuration.</a:t>
            </a:r>
          </a:p>
        </p:txBody>
      </p:sp>
    </p:spTree>
    <p:extLst>
      <p:ext uri="{BB962C8B-B14F-4D97-AF65-F5344CB8AC3E}">
        <p14:creationId xmlns:p14="http://schemas.microsoft.com/office/powerpoint/2010/main" val="1500945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FR" dirty="0"/>
              <a:t>Le Ramasse-Miettes</a:t>
            </a:r>
          </a:p>
        </p:txBody>
      </p:sp>
      <p:sp>
        <p:nvSpPr>
          <p:cNvPr id="6" name="Espace réservé du contenu 5"/>
          <p:cNvSpPr>
            <a:spLocks noGrp="1"/>
          </p:cNvSpPr>
          <p:nvPr>
            <p:ph idx="1"/>
          </p:nvPr>
        </p:nvSpPr>
        <p:spPr/>
        <p:txBody>
          <a:bodyPr>
            <a:normAutofit/>
          </a:bodyPr>
          <a:lstStyle/>
          <a:p>
            <a:pPr marL="0" indent="0">
              <a:buNone/>
            </a:pPr>
            <a:r>
              <a:rPr lang="fr-FR" sz="2400" dirty="0"/>
              <a:t>En gros, le ramasse-miettes fonctionne comme ceci:</a:t>
            </a:r>
          </a:p>
          <a:p>
            <a:pPr marL="457200" indent="-457200">
              <a:buFont typeface="+mj-lt"/>
              <a:buAutoNum type="arabicPeriod"/>
            </a:pPr>
            <a:r>
              <a:rPr lang="fr-FR" sz="2400" dirty="0"/>
              <a:t>Java connaît à chaque instant le </a:t>
            </a:r>
            <a:r>
              <a:rPr lang="fr-FR" sz="2400" dirty="0">
                <a:solidFill>
                  <a:schemeClr val="accent4"/>
                </a:solidFill>
              </a:rPr>
              <a:t>nombre de références </a:t>
            </a:r>
            <a:r>
              <a:rPr lang="fr-FR" sz="2400" dirty="0"/>
              <a:t>vers un objet donné.</a:t>
            </a:r>
          </a:p>
          <a:p>
            <a:pPr marL="457200" indent="-457200">
              <a:buFont typeface="+mj-lt"/>
              <a:buAutoNum type="arabicPeriod"/>
            </a:pPr>
            <a:r>
              <a:rPr lang="fr-FR" sz="2400" dirty="0"/>
              <a:t>Quand un objet n'a plus de références, il devient </a:t>
            </a:r>
            <a:r>
              <a:rPr lang="fr-FR" sz="2400" dirty="0">
                <a:solidFill>
                  <a:schemeClr val="accent4"/>
                </a:solidFill>
              </a:rPr>
              <a:t>candidat au ramasse-miettes</a:t>
            </a:r>
            <a:r>
              <a:rPr lang="fr-FR" sz="2400" dirty="0"/>
              <a:t>. </a:t>
            </a:r>
          </a:p>
          <a:p>
            <a:pPr marL="0" indent="0">
              <a:buNone/>
            </a:pPr>
            <a:r>
              <a:rPr lang="fr-FR" sz="2400" dirty="0"/>
              <a:t>A certains moments, Java déclenche la suppression des objets qui sont candidats au ramasse-miettes, principalement quand la mémoire disponible diminue trop.</a:t>
            </a:r>
          </a:p>
        </p:txBody>
      </p:sp>
      <p:sp>
        <p:nvSpPr>
          <p:cNvPr id="8" name="Rectangle 7"/>
          <p:cNvSpPr/>
          <p:nvPr/>
        </p:nvSpPr>
        <p:spPr>
          <a:xfrm>
            <a:off x="2537553" y="5830665"/>
            <a:ext cx="7171977" cy="366937"/>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44000" tIns="0" rIns="144000"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racine (registres mémoire, pile, variables globales, …)</a:t>
            </a:r>
          </a:p>
        </p:txBody>
      </p:sp>
      <p:sp>
        <p:nvSpPr>
          <p:cNvPr id="9" name="Rectangle 8"/>
          <p:cNvSpPr/>
          <p:nvPr/>
        </p:nvSpPr>
        <p:spPr>
          <a:xfrm>
            <a:off x="2537553" y="5083355"/>
            <a:ext cx="1024568" cy="366937"/>
          </a:xfrm>
          <a:prstGeom prst="rect">
            <a:avLst/>
          </a:prstGeom>
          <a:solidFill>
            <a:srgbClr val="09CA8D"/>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obj1</a:t>
            </a:r>
          </a:p>
        </p:txBody>
      </p:sp>
      <p:sp>
        <p:nvSpPr>
          <p:cNvPr id="10" name="Rectangle 9"/>
          <p:cNvSpPr/>
          <p:nvPr/>
        </p:nvSpPr>
        <p:spPr>
          <a:xfrm>
            <a:off x="3562121" y="5083355"/>
            <a:ext cx="1024568" cy="366937"/>
          </a:xfrm>
          <a:prstGeom prst="rect">
            <a:avLst/>
          </a:prstGeom>
          <a:solidFill>
            <a:srgbClr val="09CA8D"/>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obj2</a:t>
            </a:r>
          </a:p>
        </p:txBody>
      </p:sp>
      <p:sp>
        <p:nvSpPr>
          <p:cNvPr id="11" name="Rectangle 10"/>
          <p:cNvSpPr/>
          <p:nvPr/>
        </p:nvSpPr>
        <p:spPr>
          <a:xfrm>
            <a:off x="4586689" y="5083355"/>
            <a:ext cx="1024568" cy="366937"/>
          </a:xfrm>
          <a:prstGeom prst="rect">
            <a:avLst/>
          </a:prstGeom>
          <a:solidFill>
            <a:schemeClr val="accent5">
              <a:lumMod val="40000"/>
              <a:lumOff val="60000"/>
            </a:schemeClr>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obj3</a:t>
            </a:r>
          </a:p>
        </p:txBody>
      </p:sp>
      <p:sp>
        <p:nvSpPr>
          <p:cNvPr id="12" name="Rectangle 11"/>
          <p:cNvSpPr/>
          <p:nvPr/>
        </p:nvSpPr>
        <p:spPr>
          <a:xfrm>
            <a:off x="5611257" y="5083355"/>
            <a:ext cx="1024568" cy="366937"/>
          </a:xfrm>
          <a:prstGeom prst="rect">
            <a:avLst/>
          </a:prstGeom>
          <a:solidFill>
            <a:srgbClr val="09CA8D"/>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obj4</a:t>
            </a:r>
          </a:p>
        </p:txBody>
      </p:sp>
      <p:sp>
        <p:nvSpPr>
          <p:cNvPr id="13" name="Rectangle 12"/>
          <p:cNvSpPr/>
          <p:nvPr/>
        </p:nvSpPr>
        <p:spPr>
          <a:xfrm>
            <a:off x="6635825" y="5083355"/>
            <a:ext cx="1024568" cy="366937"/>
          </a:xfrm>
          <a:prstGeom prst="rect">
            <a:avLst/>
          </a:prstGeom>
          <a:solidFill>
            <a:schemeClr val="accent5">
              <a:lumMod val="40000"/>
              <a:lumOff val="60000"/>
            </a:schemeClr>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obj5</a:t>
            </a:r>
          </a:p>
        </p:txBody>
      </p:sp>
      <p:sp>
        <p:nvSpPr>
          <p:cNvPr id="14" name="Rectangle 13"/>
          <p:cNvSpPr/>
          <p:nvPr/>
        </p:nvSpPr>
        <p:spPr>
          <a:xfrm>
            <a:off x="7660393" y="5083355"/>
            <a:ext cx="1024568" cy="366937"/>
          </a:xfrm>
          <a:prstGeom prst="rect">
            <a:avLst/>
          </a:prstGeom>
          <a:solidFill>
            <a:schemeClr val="accent5">
              <a:lumMod val="40000"/>
              <a:lumOff val="60000"/>
            </a:schemeClr>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obj6</a:t>
            </a:r>
          </a:p>
        </p:txBody>
      </p:sp>
      <p:sp>
        <p:nvSpPr>
          <p:cNvPr id="15" name="Rectangle 14"/>
          <p:cNvSpPr/>
          <p:nvPr/>
        </p:nvSpPr>
        <p:spPr>
          <a:xfrm>
            <a:off x="8684961" y="5083355"/>
            <a:ext cx="1024568" cy="366937"/>
          </a:xfrm>
          <a:prstGeom prst="rect">
            <a:avLst/>
          </a:prstGeom>
          <a:solidFill>
            <a:srgbClr val="09CA8D"/>
          </a:solidFill>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0" rIns="163576" bIns="0" numCol="1" spcCol="1270" anchor="ctr" anchorCtr="0">
            <a:noAutofit/>
          </a:bodyPr>
          <a:lstStyle/>
          <a:p>
            <a:pPr marL="228600" lvl="1" indent="-228600" algn="ctr" defTabSz="1022350">
              <a:lnSpc>
                <a:spcPct val="90000"/>
              </a:lnSpc>
              <a:spcBef>
                <a:spcPct val="0"/>
              </a:spcBef>
              <a:spcAft>
                <a:spcPct val="15000"/>
              </a:spcAft>
            </a:pPr>
            <a:r>
              <a:rPr lang="fr-BE" sz="1400" b="1" dirty="0">
                <a:latin typeface="Lucida Console" pitchFamily="49" charset="0"/>
              </a:rPr>
              <a:t>obj7</a:t>
            </a:r>
          </a:p>
        </p:txBody>
      </p:sp>
      <p:cxnSp>
        <p:nvCxnSpPr>
          <p:cNvPr id="16" name="Elbow Connector 20"/>
          <p:cNvCxnSpPr>
            <a:endCxn id="9" idx="2"/>
          </p:cNvCxnSpPr>
          <p:nvPr/>
        </p:nvCxnSpPr>
        <p:spPr>
          <a:xfrm rot="5400000" flipH="1" flipV="1">
            <a:off x="2859652" y="5640478"/>
            <a:ext cx="380373" cy="12700"/>
          </a:xfrm>
          <a:prstGeom prst="bentConnector3">
            <a:avLst>
              <a:gd name="adj1" fmla="val 50000"/>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7" name="Elbow Connector 24"/>
          <p:cNvCxnSpPr/>
          <p:nvPr/>
        </p:nvCxnSpPr>
        <p:spPr>
          <a:xfrm rot="16200000" flipV="1">
            <a:off x="3913504" y="5646827"/>
            <a:ext cx="367672" cy="2"/>
          </a:xfrm>
          <a:prstGeom prst="bentConnector3">
            <a:avLst>
              <a:gd name="adj1" fmla="val 50000"/>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25"/>
          <p:cNvCxnSpPr>
            <a:stCxn id="10" idx="0"/>
            <a:endCxn id="12" idx="0"/>
          </p:cNvCxnSpPr>
          <p:nvPr/>
        </p:nvCxnSpPr>
        <p:spPr>
          <a:xfrm rot="5400000" flipH="1" flipV="1">
            <a:off x="5098973" y="4058786"/>
            <a:ext cx="12700" cy="2049136"/>
          </a:xfrm>
          <a:prstGeom prst="bentConnector3">
            <a:avLst>
              <a:gd name="adj1" fmla="val 1800000"/>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9" name="Elbow Connector 28"/>
          <p:cNvCxnSpPr>
            <a:stCxn id="13" idx="2"/>
            <a:endCxn id="14" idx="2"/>
          </p:cNvCxnSpPr>
          <p:nvPr/>
        </p:nvCxnSpPr>
        <p:spPr>
          <a:xfrm rot="16200000" flipH="1">
            <a:off x="7660393" y="4938007"/>
            <a:ext cx="12700" cy="1024568"/>
          </a:xfrm>
          <a:prstGeom prst="bentConnector3">
            <a:avLst>
              <a:gd name="adj1" fmla="val 1300000"/>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33"/>
          <p:cNvCxnSpPr>
            <a:stCxn id="12" idx="2"/>
            <a:endCxn id="15" idx="2"/>
          </p:cNvCxnSpPr>
          <p:nvPr/>
        </p:nvCxnSpPr>
        <p:spPr>
          <a:xfrm rot="16200000" flipH="1">
            <a:off x="7660393" y="3913439"/>
            <a:ext cx="12700" cy="3073704"/>
          </a:xfrm>
          <a:prstGeom prst="bentConnector3">
            <a:avLst>
              <a:gd name="adj1" fmla="val 2075000"/>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38"/>
          <p:cNvCxnSpPr/>
          <p:nvPr/>
        </p:nvCxnSpPr>
        <p:spPr>
          <a:xfrm flipV="1">
            <a:off x="4848226" y="5000805"/>
            <a:ext cx="498295" cy="49829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39"/>
          <p:cNvCxnSpPr/>
          <p:nvPr/>
        </p:nvCxnSpPr>
        <p:spPr>
          <a:xfrm flipV="1">
            <a:off x="6905312" y="5000805"/>
            <a:ext cx="498295" cy="49829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40"/>
          <p:cNvCxnSpPr/>
          <p:nvPr/>
        </p:nvCxnSpPr>
        <p:spPr>
          <a:xfrm flipV="1">
            <a:off x="7929880" y="5000805"/>
            <a:ext cx="498295" cy="49829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2DF424FC-E416-EFDE-7AF0-71E7990EB60A}"/>
              </a:ext>
            </a:extLst>
          </p:cNvPr>
          <p:cNvSpPr>
            <a:spLocks noGrp="1"/>
          </p:cNvSpPr>
          <p:nvPr>
            <p:ph type="sldNum" sz="quarter" idx="4"/>
          </p:nvPr>
        </p:nvSpPr>
        <p:spPr/>
        <p:txBody>
          <a:bodyPr/>
          <a:lstStyle/>
          <a:p>
            <a:fld id="{33C783E2-4793-4F48-A271-51A73CC37D74}" type="slidenum">
              <a:rPr lang="fr-FR" smtClean="0"/>
              <a:t>63</a:t>
            </a:fld>
            <a:endParaRPr lang="fr-FR" dirty="0"/>
          </a:p>
        </p:txBody>
      </p:sp>
      <p:pic>
        <p:nvPicPr>
          <p:cNvPr id="4" name="Image 3">
            <a:extLst>
              <a:ext uri="{FF2B5EF4-FFF2-40B4-BE49-F238E27FC236}">
                <a16:creationId xmlns:a16="http://schemas.microsoft.com/office/drawing/2014/main" id="{E4028F9B-6AA1-1D3B-D0A3-81080E0187C0}"/>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2791" b="94419" l="6195" r="92478">
                        <a14:foregroundMark x1="28319" y1="8372" x2="8850" y2="26977"/>
                        <a14:foregroundMark x1="8850" y1="26977" x2="8850" y2="44651"/>
                        <a14:foregroundMark x1="30531" y1="6512" x2="6637" y2="17674"/>
                        <a14:foregroundMark x1="6637" y1="17674" x2="7965" y2="27907"/>
                        <a14:foregroundMark x1="12832" y1="10233" x2="27876" y2="6047"/>
                        <a14:foregroundMark x1="27876" y1="5116" x2="21681" y2="2791"/>
                        <a14:foregroundMark x1="10619" y1="43721" x2="6195" y2="31163"/>
                        <a14:foregroundMark x1="80531" y1="79535" x2="80531" y2="79535"/>
                        <a14:foregroundMark x1="69027" y1="87442" x2="70354" y2="84651"/>
                        <a14:foregroundMark x1="80973" y1="76744" x2="80531" y2="79535"/>
                        <a14:foregroundMark x1="88053" y1="75349" x2="92478" y2="77209"/>
                        <a14:foregroundMark x1="85398" y1="86977" x2="77876" y2="93488"/>
                        <a14:foregroundMark x1="92035" y1="94419" x2="92035" y2="94419"/>
                      </a14:backgroundRemoval>
                    </a14:imgEffect>
                  </a14:imgLayer>
                </a14:imgProps>
              </a:ext>
              <a:ext uri="{28A0092B-C50C-407E-A947-70E740481C1C}">
                <a14:useLocalDpi xmlns:a14="http://schemas.microsoft.com/office/drawing/2010/main"/>
              </a:ext>
            </a:extLst>
          </a:blip>
          <a:srcRect/>
          <a:stretch/>
        </p:blipFill>
        <p:spPr>
          <a:xfrm flipH="1">
            <a:off x="9771680" y="161292"/>
            <a:ext cx="1580531" cy="1496978"/>
          </a:xfrm>
          <a:prstGeom prst="rect">
            <a:avLst/>
          </a:prstGeom>
        </p:spPr>
      </p:pic>
    </p:spTree>
    <p:extLst>
      <p:ext uri="{BB962C8B-B14F-4D97-AF65-F5344CB8AC3E}">
        <p14:creationId xmlns:p14="http://schemas.microsoft.com/office/powerpoint/2010/main" val="1941678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0.05"/>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 calcmode="lin" valueType="num">
                                      <p:cBhvr>
                                        <p:cTn id="9" dur="500" fill="hold"/>
                                        <p:tgtEl>
                                          <p:spTgt spid="23"/>
                                        </p:tgtEl>
                                        <p:attrNameLst>
                                          <p:attrName>ppt_x</p:attrName>
                                        </p:attrNameLst>
                                      </p:cBhvr>
                                      <p:tavLst>
                                        <p:tav tm="0">
                                          <p:val>
                                            <p:strVal val="#ppt_x-.2"/>
                                          </p:val>
                                        </p:tav>
                                        <p:tav tm="100000">
                                          <p:val>
                                            <p:strVal val="#ppt_x"/>
                                          </p:val>
                                        </p:tav>
                                      </p:tavLst>
                                    </p:anim>
                                    <p:anim calcmode="lin" valueType="num">
                                      <p:cBhvr>
                                        <p:cTn id="10" dur="500" fill="hold"/>
                                        <p:tgtEl>
                                          <p:spTgt spid="23"/>
                                        </p:tgtEl>
                                        <p:attrNameLst>
                                          <p:attrName>ppt_y</p:attrName>
                                        </p:attrNameLst>
                                      </p:cBhvr>
                                      <p:tavLst>
                                        <p:tav tm="0">
                                          <p:val>
                                            <p:strVal val="#ppt_y"/>
                                          </p:val>
                                        </p:tav>
                                        <p:tav tm="100000">
                                          <p:val>
                                            <p:strVal val="#ppt_y"/>
                                          </p:val>
                                        </p:tav>
                                      </p:tavLst>
                                    </p:anim>
                                    <p:animEffect transition="in" filter="fade">
                                      <p:cBhvr>
                                        <p:cTn id="11" dur="500"/>
                                        <p:tgtEl>
                                          <p:spTgt spid="23"/>
                                        </p:tgtEl>
                                      </p:cBhvr>
                                    </p:animEffect>
                                  </p:childTnLst>
                                </p:cTn>
                              </p:par>
                              <p:par>
                                <p:cTn id="12" presetID="54" presetClass="entr" presetSubtype="0" accel="10000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p:cTn id="14" dur="500" fill="hold"/>
                                        <p:tgtEl>
                                          <p:spTgt spid="22"/>
                                        </p:tgtEl>
                                        <p:attrNameLst>
                                          <p:attrName>ppt_w</p:attrName>
                                        </p:attrNameLst>
                                      </p:cBhvr>
                                      <p:tavLst>
                                        <p:tav tm="0">
                                          <p:val>
                                            <p:strVal val="#ppt_w*0.05"/>
                                          </p:val>
                                        </p:tav>
                                        <p:tav tm="100000">
                                          <p:val>
                                            <p:strVal val="#ppt_w"/>
                                          </p:val>
                                        </p:tav>
                                      </p:tavLst>
                                    </p:anim>
                                    <p:anim calcmode="lin" valueType="num">
                                      <p:cBhvr>
                                        <p:cTn id="15" dur="500" fill="hold"/>
                                        <p:tgtEl>
                                          <p:spTgt spid="22"/>
                                        </p:tgtEl>
                                        <p:attrNameLst>
                                          <p:attrName>ppt_h</p:attrName>
                                        </p:attrNameLst>
                                      </p:cBhvr>
                                      <p:tavLst>
                                        <p:tav tm="0">
                                          <p:val>
                                            <p:strVal val="#ppt_h"/>
                                          </p:val>
                                        </p:tav>
                                        <p:tav tm="100000">
                                          <p:val>
                                            <p:strVal val="#ppt_h"/>
                                          </p:val>
                                        </p:tav>
                                      </p:tavLst>
                                    </p:anim>
                                    <p:anim calcmode="lin" valueType="num">
                                      <p:cBhvr>
                                        <p:cTn id="16" dur="500" fill="hold"/>
                                        <p:tgtEl>
                                          <p:spTgt spid="22"/>
                                        </p:tgtEl>
                                        <p:attrNameLst>
                                          <p:attrName>ppt_x</p:attrName>
                                        </p:attrNameLst>
                                      </p:cBhvr>
                                      <p:tavLst>
                                        <p:tav tm="0">
                                          <p:val>
                                            <p:strVal val="#ppt_x-.2"/>
                                          </p:val>
                                        </p:tav>
                                        <p:tav tm="100000">
                                          <p:val>
                                            <p:strVal val="#ppt_x"/>
                                          </p:val>
                                        </p:tav>
                                      </p:tavLst>
                                    </p:anim>
                                    <p:anim calcmode="lin" valueType="num">
                                      <p:cBhvr>
                                        <p:cTn id="17" dur="500" fill="hold"/>
                                        <p:tgtEl>
                                          <p:spTgt spid="22"/>
                                        </p:tgtEl>
                                        <p:attrNameLst>
                                          <p:attrName>ppt_y</p:attrName>
                                        </p:attrNameLst>
                                      </p:cBhvr>
                                      <p:tavLst>
                                        <p:tav tm="0">
                                          <p:val>
                                            <p:strVal val="#ppt_y"/>
                                          </p:val>
                                        </p:tav>
                                        <p:tav tm="100000">
                                          <p:val>
                                            <p:strVal val="#ppt_y"/>
                                          </p:val>
                                        </p:tav>
                                      </p:tavLst>
                                    </p:anim>
                                    <p:animEffect transition="in" filter="fade">
                                      <p:cBhvr>
                                        <p:cTn id="18" dur="500"/>
                                        <p:tgtEl>
                                          <p:spTgt spid="22"/>
                                        </p:tgtEl>
                                      </p:cBhvr>
                                    </p:animEffect>
                                  </p:childTnLst>
                                </p:cTn>
                              </p:par>
                              <p:par>
                                <p:cTn id="19" presetID="54" presetClass="entr" presetSubtype="0" accel="10000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strVal val="#ppt_w*0.05"/>
                                          </p:val>
                                        </p:tav>
                                        <p:tav tm="100000">
                                          <p:val>
                                            <p:strVal val="#ppt_w"/>
                                          </p:val>
                                        </p:tav>
                                      </p:tavLst>
                                    </p:anim>
                                    <p:anim calcmode="lin" valueType="num">
                                      <p:cBhvr>
                                        <p:cTn id="22" dur="500" fill="hold"/>
                                        <p:tgtEl>
                                          <p:spTgt spid="21"/>
                                        </p:tgtEl>
                                        <p:attrNameLst>
                                          <p:attrName>ppt_h</p:attrName>
                                        </p:attrNameLst>
                                      </p:cBhvr>
                                      <p:tavLst>
                                        <p:tav tm="0">
                                          <p:val>
                                            <p:strVal val="#ppt_h"/>
                                          </p:val>
                                        </p:tav>
                                        <p:tav tm="100000">
                                          <p:val>
                                            <p:strVal val="#ppt_h"/>
                                          </p:val>
                                        </p:tav>
                                      </p:tavLst>
                                    </p:anim>
                                    <p:anim calcmode="lin" valueType="num">
                                      <p:cBhvr>
                                        <p:cTn id="23" dur="500" fill="hold"/>
                                        <p:tgtEl>
                                          <p:spTgt spid="21"/>
                                        </p:tgtEl>
                                        <p:attrNameLst>
                                          <p:attrName>ppt_x</p:attrName>
                                        </p:attrNameLst>
                                      </p:cBhvr>
                                      <p:tavLst>
                                        <p:tav tm="0">
                                          <p:val>
                                            <p:strVal val="#ppt_x-.2"/>
                                          </p:val>
                                        </p:tav>
                                        <p:tav tm="100000">
                                          <p:val>
                                            <p:strVal val="#ppt_x"/>
                                          </p:val>
                                        </p:tav>
                                      </p:tavLst>
                                    </p:anim>
                                    <p:anim calcmode="lin" valueType="num">
                                      <p:cBhvr>
                                        <p:cTn id="24" dur="500" fill="hold"/>
                                        <p:tgtEl>
                                          <p:spTgt spid="21"/>
                                        </p:tgtEl>
                                        <p:attrNameLst>
                                          <p:attrName>ppt_y</p:attrName>
                                        </p:attrNameLst>
                                      </p:cBhvr>
                                      <p:tavLst>
                                        <p:tav tm="0">
                                          <p:val>
                                            <p:strVal val="#ppt_y"/>
                                          </p:val>
                                        </p:tav>
                                        <p:tav tm="100000">
                                          <p:val>
                                            <p:strVal val="#ppt_y"/>
                                          </p:val>
                                        </p:tav>
                                      </p:tavLst>
                                    </p:anim>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ThemeEphec2022</Template>
  <TotalTime>73633</TotalTime>
  <Words>5314</Words>
  <Application>Microsoft Macintosh PowerPoint</Application>
  <PresentationFormat>Grand écran</PresentationFormat>
  <Paragraphs>598</Paragraphs>
  <Slides>63</Slides>
  <Notes>11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63</vt:i4>
      </vt:variant>
    </vt:vector>
  </HeadingPairs>
  <TitlesOfParts>
    <vt:vector size="69" baseType="lpstr">
      <vt:lpstr>Arial</vt:lpstr>
      <vt:lpstr>Calibri</vt:lpstr>
      <vt:lpstr>Consolas</vt:lpstr>
      <vt:lpstr>Corbel</vt:lpstr>
      <vt:lpstr>Lucida Console</vt:lpstr>
      <vt:lpstr>ThemeEphec2022</vt:lpstr>
      <vt:lpstr>JAVA 2</vt:lpstr>
      <vt:lpstr>Vu au dernier cours…</vt:lpstr>
      <vt:lpstr>Présentation PowerPoint</vt:lpstr>
      <vt:lpstr>Exercice 14</vt:lpstr>
      <vt:lpstr>Exercice 15</vt:lpstr>
      <vt:lpstr>Exercice 16</vt:lpstr>
      <vt:lpstr>Exercice 17</vt:lpstr>
      <vt:lpstr>Exercice 18</vt:lpstr>
      <vt:lpstr>Exercice 19</vt:lpstr>
      <vt:lpstr>Exercice 20</vt:lpstr>
      <vt:lpstr>Présentation PowerPoint</vt:lpstr>
      <vt:lpstr>Champs et méthodes statiques</vt:lpstr>
      <vt:lpstr>Méthodes par défaut (Java 8)</vt:lpstr>
      <vt:lpstr>Champs et méthodes par défaut (Java 8)</vt:lpstr>
      <vt:lpstr>Champs et méthodes par défaut (Java 8)</vt:lpstr>
      <vt:lpstr>Champs et méthodes par défaut (Java 8)</vt:lpstr>
      <vt:lpstr>Et la méthode par défaut…?</vt:lpstr>
      <vt:lpstr>Le principe de ségrégation</vt:lpstr>
      <vt:lpstr>Classe abstraite ou Interface?</vt:lpstr>
      <vt:lpstr>Classe abstraite ou interface?</vt:lpstr>
      <vt:lpstr>Présentation PowerPoint</vt:lpstr>
      <vt:lpstr>Vue d’ensemble de gameHub </vt:lpstr>
      <vt:lpstr>Relations principals dans gameHub </vt:lpstr>
      <vt:lpstr>Construisons un jeu complet: le jeu de Nim</vt:lpstr>
      <vt:lpstr>Conception du jeu: interface Jeu</vt:lpstr>
      <vt:lpstr>Pour instancier les jeux: JeuFactory</vt:lpstr>
      <vt:lpstr>Un cas concret de jeu: JeuNim</vt:lpstr>
      <vt:lpstr>Une Stratégie…</vt:lpstr>
      <vt:lpstr>… et la stratégie timide</vt:lpstr>
      <vt:lpstr>Mon joueur n’est pas très élaboré…</vt:lpstr>
      <vt:lpstr>Que font les méthodes suivantes?</vt:lpstr>
      <vt:lpstr>Pour la suite…</vt:lpstr>
      <vt:lpstr>Présentation PowerPoint</vt:lpstr>
      <vt:lpstr>Classe anonyme</vt:lpstr>
      <vt:lpstr>Classe anonyme</vt:lpstr>
      <vt:lpstr>Classe anonyme</vt:lpstr>
      <vt:lpstr>Classe anonyme</vt:lpstr>
      <vt:lpstr>Présentation PowerPoint</vt:lpstr>
      <vt:lpstr>Champs et méthodes de classe</vt:lpstr>
      <vt:lpstr>Champs d’objets</vt:lpstr>
      <vt:lpstr>Champ de classe</vt:lpstr>
      <vt:lpstr>Champs de classe</vt:lpstr>
      <vt:lpstr>Champs de classe</vt:lpstr>
      <vt:lpstr>Champs de classe</vt:lpstr>
      <vt:lpstr>Champs de classe</vt:lpstr>
      <vt:lpstr>Méthodes de classe</vt:lpstr>
      <vt:lpstr>Méthodes de classe</vt:lpstr>
      <vt:lpstr>Méthodes de classe</vt:lpstr>
      <vt:lpstr>Méthodes de classe</vt:lpstr>
      <vt:lpstr>Présentation PowerPoint</vt:lpstr>
      <vt:lpstr>La Pile et le Tas</vt:lpstr>
      <vt:lpstr>La Pile et le Tas </vt:lpstr>
      <vt:lpstr>La Pile et le Tas </vt:lpstr>
      <vt:lpstr>La Pile et le Tas </vt:lpstr>
      <vt:lpstr>La Pile et le Tas </vt:lpstr>
      <vt:lpstr>La Pile et le Tas </vt:lpstr>
      <vt:lpstr>La Pile et le Tas </vt:lpstr>
      <vt:lpstr>La Pile et le Tas </vt:lpstr>
      <vt:lpstr>La Pile et le Tas </vt:lpstr>
      <vt:lpstr>La Pile et le Tas </vt:lpstr>
      <vt:lpstr>La Pile et le Tas </vt:lpstr>
      <vt:lpstr>Le Ramasse-Miettes</vt:lpstr>
      <vt:lpstr>Le Ramasse-Miettes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50</cp:revision>
  <dcterms:created xsi:type="dcterms:W3CDTF">2023-01-04T13:50:20Z</dcterms:created>
  <dcterms:modified xsi:type="dcterms:W3CDTF">2026-02-15T23:41:40Z</dcterms:modified>
</cp:coreProperties>
</file>