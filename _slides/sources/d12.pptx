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8"/>
  </p:notesMasterIdLst>
  <p:sldIdLst>
    <p:sldId id="256" r:id="rId2"/>
    <p:sldId id="846" r:id="rId3"/>
    <p:sldId id="848" r:id="rId4"/>
    <p:sldId id="707" r:id="rId5"/>
    <p:sldId id="743" r:id="rId6"/>
    <p:sldId id="783" r:id="rId7"/>
    <p:sldId id="755" r:id="rId8"/>
    <p:sldId id="748" r:id="rId9"/>
    <p:sldId id="744" r:id="rId10"/>
    <p:sldId id="745" r:id="rId11"/>
    <p:sldId id="746" r:id="rId12"/>
    <p:sldId id="747" r:id="rId13"/>
    <p:sldId id="847" r:id="rId14"/>
    <p:sldId id="750" r:id="rId15"/>
    <p:sldId id="751" r:id="rId16"/>
    <p:sldId id="752" r:id="rId17"/>
    <p:sldId id="849" r:id="rId18"/>
    <p:sldId id="753" r:id="rId19"/>
    <p:sldId id="754" r:id="rId20"/>
    <p:sldId id="850" r:id="rId21"/>
    <p:sldId id="757" r:id="rId22"/>
    <p:sldId id="758" r:id="rId23"/>
    <p:sldId id="759" r:id="rId24"/>
    <p:sldId id="760" r:id="rId25"/>
    <p:sldId id="761" r:id="rId26"/>
    <p:sldId id="762" r:id="rId27"/>
    <p:sldId id="763" r:id="rId28"/>
    <p:sldId id="764" r:id="rId29"/>
    <p:sldId id="765" r:id="rId30"/>
    <p:sldId id="766" r:id="rId31"/>
    <p:sldId id="851" r:id="rId32"/>
    <p:sldId id="768" r:id="rId33"/>
    <p:sldId id="769" r:id="rId34"/>
    <p:sldId id="770" r:id="rId35"/>
    <p:sldId id="771" r:id="rId36"/>
    <p:sldId id="773" r:id="rId37"/>
    <p:sldId id="774" r:id="rId38"/>
    <p:sldId id="852" r:id="rId39"/>
    <p:sldId id="778" r:id="rId40"/>
    <p:sldId id="779" r:id="rId41"/>
    <p:sldId id="780" r:id="rId42"/>
    <p:sldId id="781" r:id="rId43"/>
    <p:sldId id="841" r:id="rId44"/>
    <p:sldId id="742" r:id="rId45"/>
    <p:sldId id="775" r:id="rId46"/>
    <p:sldId id="776"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appels et Exercice" id="{9A02D4CA-36D1-0242-9570-74B9915D5B21}">
          <p14:sldIdLst>
            <p14:sldId id="256"/>
          </p14:sldIdLst>
        </p14:section>
        <p14:section name="Collections" id="{01457E24-874F-3943-8F41-B58A48800F47}">
          <p14:sldIdLst>
            <p14:sldId id="846"/>
            <p14:sldId id="848"/>
            <p14:sldId id="707"/>
            <p14:sldId id="743"/>
            <p14:sldId id="783"/>
            <p14:sldId id="755"/>
            <p14:sldId id="748"/>
            <p14:sldId id="744"/>
            <p14:sldId id="745"/>
            <p14:sldId id="746"/>
            <p14:sldId id="747"/>
            <p14:sldId id="847"/>
            <p14:sldId id="750"/>
            <p14:sldId id="751"/>
            <p14:sldId id="752"/>
            <p14:sldId id="849"/>
            <p14:sldId id="753"/>
            <p14:sldId id="754"/>
            <p14:sldId id="850"/>
            <p14:sldId id="757"/>
            <p14:sldId id="758"/>
            <p14:sldId id="759"/>
            <p14:sldId id="760"/>
            <p14:sldId id="761"/>
            <p14:sldId id="762"/>
            <p14:sldId id="763"/>
            <p14:sldId id="764"/>
            <p14:sldId id="765"/>
            <p14:sldId id="766"/>
            <p14:sldId id="851"/>
            <p14:sldId id="768"/>
            <p14:sldId id="769"/>
            <p14:sldId id="770"/>
            <p14:sldId id="771"/>
            <p14:sldId id="773"/>
            <p14:sldId id="774"/>
            <p14:sldId id="852"/>
            <p14:sldId id="778"/>
            <p14:sldId id="779"/>
            <p14:sldId id="780"/>
            <p14:sldId id="781"/>
            <p14:sldId id="841"/>
            <p14:sldId id="742"/>
            <p14:sldId id="775"/>
            <p14:sldId id="7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2B2B"/>
    <a:srgbClr val="ECECEC"/>
    <a:srgbClr val="9DC3E7"/>
    <a:srgbClr val="FFFFFF"/>
    <a:srgbClr val="4F994C"/>
    <a:srgbClr val="FFC45A"/>
    <a:srgbClr val="3C3F41"/>
    <a:srgbClr val="FF7E0B"/>
    <a:srgbClr val="2A6CA7"/>
    <a:srgbClr val="0102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Style à thème 2 - Accentuation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Style à thème 2 - Accentuation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51"/>
    <p:restoredTop sz="96327"/>
  </p:normalViewPr>
  <p:slideViewPr>
    <p:cSldViewPr snapToGrid="0">
      <p:cViewPr varScale="1">
        <p:scale>
          <a:sx n="115" d="100"/>
          <a:sy n="115" d="100"/>
        </p:scale>
        <p:origin x="232"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14/04/2026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E20B9A-8E1B-A28D-369E-A913BEAD777D}"/>
              </a:ext>
            </a:extLst>
          </p:cNvPr>
          <p:cNvSpPr>
            <a:spLocks noGrp="1"/>
          </p:cNvSpPr>
          <p:nvPr>
            <p:ph type="title"/>
          </p:nvPr>
        </p:nvSpPr>
        <p:spPr/>
        <p:txBody>
          <a:bodyPr/>
          <a:lstStyle/>
          <a:p>
            <a:r>
              <a:rPr lang="fr-FR"/>
              <a:t>Modifiez le style du titre</a:t>
            </a:r>
          </a:p>
        </p:txBody>
      </p:sp>
      <p:sp>
        <p:nvSpPr>
          <p:cNvPr id="3" name="Espace réservé du numéro de diapositive 2">
            <a:extLst>
              <a:ext uri="{FF2B5EF4-FFF2-40B4-BE49-F238E27FC236}">
                <a16:creationId xmlns:a16="http://schemas.microsoft.com/office/drawing/2014/main" id="{D1E227AB-B70D-70BB-9801-A0EA2292415F}"/>
              </a:ext>
            </a:extLst>
          </p:cNvPr>
          <p:cNvSpPr>
            <a:spLocks noGrp="1"/>
          </p:cNvSpPr>
          <p:nvPr>
            <p:ph type="sldNum" sz="quarter" idx="10"/>
          </p:nvPr>
        </p:nvSpPr>
        <p:spPr/>
        <p:txBody>
          <a:bodyPr/>
          <a:lstStyle/>
          <a:p>
            <a:fld id="{33C783E2-4793-4F48-A271-51A73CC37D74}" type="slidenum">
              <a:rPr lang="fr-FR" smtClean="0"/>
              <a:t>‹N°›</a:t>
            </a:fld>
            <a:endParaRPr lang="fr-FR"/>
          </a:p>
        </p:txBody>
      </p:sp>
      <p:sp>
        <p:nvSpPr>
          <p:cNvPr id="4" name="Espace réservé du contenu 2">
            <a:extLst>
              <a:ext uri="{FF2B5EF4-FFF2-40B4-BE49-F238E27FC236}">
                <a16:creationId xmlns:a16="http://schemas.microsoft.com/office/drawing/2014/main" id="{167F4E92-0724-F9C9-225A-B62857773291}"/>
              </a:ext>
            </a:extLst>
          </p:cNvPr>
          <p:cNvSpPr>
            <a:spLocks noGrp="1"/>
          </p:cNvSpPr>
          <p:nvPr>
            <p:ph idx="1"/>
          </p:nvPr>
        </p:nvSpPr>
        <p:spPr>
          <a:xfrm>
            <a:off x="838200" y="1825625"/>
            <a:ext cx="10515600" cy="4351338"/>
          </a:xfrm>
        </p:spPr>
        <p:txBody>
          <a:bodyPr>
            <a:noAutofit/>
          </a:bodyPr>
          <a:lstStyle>
            <a:lvl1pPr>
              <a:defRPr>
                <a:latin typeface="+mn-lt"/>
              </a:defRPr>
            </a:lvl1pPr>
          </a:lstStyle>
          <a:p>
            <a:pPr marL="342900" indent="-342900">
              <a:lnSpc>
                <a:spcPct val="80000"/>
              </a:lnSpc>
              <a:buFont typeface="Arial"/>
              <a:buChar char="•"/>
            </a:pPr>
            <a:endParaRPr lang="fr-FR" dirty="0">
              <a:latin typeface="Consolas"/>
              <a:cs typeface="Consolas"/>
            </a:endParaRPr>
          </a:p>
        </p:txBody>
      </p:sp>
      <p:grpSp>
        <p:nvGrpSpPr>
          <p:cNvPr id="5" name="Groupe 4">
            <a:extLst>
              <a:ext uri="{FF2B5EF4-FFF2-40B4-BE49-F238E27FC236}">
                <a16:creationId xmlns:a16="http://schemas.microsoft.com/office/drawing/2014/main" id="{B6EE52B9-0CE3-2213-2BAE-0A463279C498}"/>
              </a:ext>
            </a:extLst>
          </p:cNvPr>
          <p:cNvGrpSpPr/>
          <p:nvPr userDrawn="1"/>
        </p:nvGrpSpPr>
        <p:grpSpPr>
          <a:xfrm>
            <a:off x="10470995" y="162401"/>
            <a:ext cx="1404760" cy="1400033"/>
            <a:chOff x="10326324" y="687756"/>
            <a:chExt cx="1393314" cy="1393314"/>
          </a:xfrm>
        </p:grpSpPr>
        <p:sp>
          <p:nvSpPr>
            <p:cNvPr id="6" name="Larme 5">
              <a:extLst>
                <a:ext uri="{FF2B5EF4-FFF2-40B4-BE49-F238E27FC236}">
                  <a16:creationId xmlns:a16="http://schemas.microsoft.com/office/drawing/2014/main" id="{A1F4EE74-F2B7-86D4-5897-9A852EB6119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A1BBBAA-A8A5-D081-BE93-F67540128C77}"/>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2577670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536391E-BA76-6C84-5CCD-7B7E926FCACE}"/>
              </a:ext>
            </a:extLst>
          </p:cNvPr>
          <p:cNvSpPr>
            <a:spLocks noGrp="1"/>
          </p:cNvSpPr>
          <p:nvPr>
            <p:ph type="sldNum" sz="quarter" idx="10"/>
          </p:nvPr>
        </p:nvSpPr>
        <p:spPr/>
        <p:txBody>
          <a:bodyPr/>
          <a:lstStyle/>
          <a:p>
            <a:fld id="{33C783E2-4793-4F48-A271-51A73CC37D74}" type="slidenum">
              <a:rPr lang="fr-FR" smtClean="0"/>
              <a:t>‹N°›</a:t>
            </a:fld>
            <a:endParaRPr lang="fr-FR" dirty="0"/>
          </a:p>
        </p:txBody>
      </p:sp>
      <p:sp>
        <p:nvSpPr>
          <p:cNvPr id="4" name="Titre 1">
            <a:extLst>
              <a:ext uri="{FF2B5EF4-FFF2-40B4-BE49-F238E27FC236}">
                <a16:creationId xmlns:a16="http://schemas.microsoft.com/office/drawing/2014/main" id="{4929AD13-331A-B3B1-58CE-4F411144D22C}"/>
              </a:ext>
            </a:extLst>
          </p:cNvPr>
          <p:cNvSpPr>
            <a:spLocks noGrp="1"/>
          </p:cNvSpPr>
          <p:nvPr>
            <p:ph type="title"/>
          </p:nvPr>
        </p:nvSpPr>
        <p:spPr>
          <a:xfrm>
            <a:off x="838200" y="365127"/>
            <a:ext cx="10515600" cy="1325563"/>
          </a:xfrm>
        </p:spPr>
        <p:txBody>
          <a:bodyPr/>
          <a:lstStyle/>
          <a:p>
            <a:r>
              <a:rPr lang="fr-FR" dirty="0"/>
              <a:t>Exercice</a:t>
            </a:r>
          </a:p>
        </p:txBody>
      </p:sp>
      <p:pic>
        <p:nvPicPr>
          <p:cNvPr id="5" name="Picture 6" descr="AI &amp; Big Data | IAV">
            <a:extLst>
              <a:ext uri="{FF2B5EF4-FFF2-40B4-BE49-F238E27FC236}">
                <a16:creationId xmlns:a16="http://schemas.microsoft.com/office/drawing/2014/main" id="{1A31DBF3-3F61-3732-6514-14BEB8F2F332}"/>
              </a:ext>
            </a:extLst>
          </p:cNvPr>
          <p:cNvPicPr>
            <a:picLocks noChangeAspect="1" noChangeArrowheads="1"/>
          </p:cNvPicPr>
          <p:nvPr userDrawn="1"/>
        </p:nvPicPr>
        <p:blipFill rotWithShape="1">
          <a:blip cstate="screen">
            <a:extLst>
              <a:ext uri="{28A0092B-C50C-407E-A947-70E740481C1C}">
                <a14:useLocalDpi xmlns:a14="http://schemas.microsoft.com/office/drawing/2010/main"/>
              </a:ext>
            </a:extLst>
          </a:blip>
          <a:srcRect/>
          <a:stretch/>
        </p:blipFill>
        <p:spPr bwMode="auto">
          <a:xfrm>
            <a:off x="10494498" y="193110"/>
            <a:ext cx="1427367" cy="1319737"/>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2">
            <a:extLst>
              <a:ext uri="{FF2B5EF4-FFF2-40B4-BE49-F238E27FC236}">
                <a16:creationId xmlns:a16="http://schemas.microsoft.com/office/drawing/2014/main" id="{A96CC4C8-FFED-68B8-6355-4E53BC5E1FDE}"/>
              </a:ext>
            </a:extLst>
          </p:cNvPr>
          <p:cNvSpPr>
            <a:spLocks noGrp="1"/>
          </p:cNvSpPr>
          <p:nvPr>
            <p:ph idx="1"/>
          </p:nvPr>
        </p:nvSpPr>
        <p:spPr>
          <a:xfrm>
            <a:off x="838200" y="1825625"/>
            <a:ext cx="10515600" cy="4351338"/>
          </a:xfrm>
        </p:spPr>
        <p:txBody>
          <a:bodyPr>
            <a:noAutofit/>
          </a:bodyPr>
          <a:lstStyle>
            <a:lvl1pPr>
              <a:defRPr>
                <a:latin typeface="+mn-lt"/>
              </a:defRPr>
            </a:lvl1pPr>
          </a:lstStyle>
          <a:p>
            <a:pPr marL="342900" indent="-342900">
              <a:lnSpc>
                <a:spcPct val="80000"/>
              </a:lnSpc>
              <a:buFont typeface="Arial"/>
              <a:buChar char="•"/>
            </a:pPr>
            <a:endParaRPr lang="fr-FR" dirty="0">
              <a:latin typeface="Consolas"/>
              <a:cs typeface="Consolas"/>
            </a:endParaRPr>
          </a:p>
        </p:txBody>
      </p:sp>
    </p:spTree>
    <p:extLst>
      <p:ext uri="{BB962C8B-B14F-4D97-AF65-F5344CB8AC3E}">
        <p14:creationId xmlns:p14="http://schemas.microsoft.com/office/powerpoint/2010/main" val="2098476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a:t>Cliquez et modifiez le titre</a:t>
            </a:r>
            <a:endParaRPr lang="en-US"/>
          </a:p>
        </p:txBody>
      </p:sp>
      <p:sp>
        <p:nvSpPr>
          <p:cNvPr id="3" name="Content Placeholder 2"/>
          <p:cNvSpPr>
            <a:spLocks noGrp="1"/>
          </p:cNvSpPr>
          <p:nvPr>
            <p:ph idx="1"/>
          </p:nvPr>
        </p:nvSpPr>
        <p:spPr/>
        <p:txBody>
          <a:bodyPr/>
          <a:lstStyle>
            <a:lvl1pPr>
              <a:defRPr b="1"/>
            </a:lvl1pPr>
            <a:lvl2pPr>
              <a:defRPr b="1"/>
            </a:lvl2pPr>
            <a:lvl3pPr>
              <a:defRPr b="1"/>
            </a:lvl3pPr>
            <a:lvl4pPr>
              <a:defRPr b="1"/>
            </a:lvl4pPr>
            <a:lvl5pPr>
              <a:defRPr b="1"/>
            </a:lvl5pPr>
          </a:lstStyle>
          <a:p>
            <a:pPr lvl="0"/>
            <a:r>
              <a:rPr lang="nl-BE" dirty="0"/>
              <a:t>Cliquez pour modifier les styles du texte du masque</a:t>
            </a:r>
          </a:p>
          <a:p>
            <a:pPr lvl="1"/>
            <a:r>
              <a:rPr lang="nl-BE" dirty="0"/>
              <a:t>Deuxième niveau</a:t>
            </a:r>
          </a:p>
          <a:p>
            <a:pPr lvl="2"/>
            <a:r>
              <a:rPr lang="nl-BE" dirty="0"/>
              <a:t>Troisième niveau</a:t>
            </a:r>
          </a:p>
          <a:p>
            <a:pPr lvl="3"/>
            <a:r>
              <a:rPr lang="nl-BE" dirty="0"/>
              <a:t>Quatrième niveau</a:t>
            </a:r>
          </a:p>
          <a:p>
            <a:pPr lvl="4"/>
            <a:r>
              <a:rPr lang="nl-BE" dirty="0"/>
              <a:t>Cinquième niveau</a:t>
            </a:r>
            <a:endParaRPr lang="en-US" dirty="0"/>
          </a:p>
        </p:txBody>
      </p:sp>
      <p:sp>
        <p:nvSpPr>
          <p:cNvPr id="6" name="Slide Number Placeholder 5"/>
          <p:cNvSpPr>
            <a:spLocks noGrp="1"/>
          </p:cNvSpPr>
          <p:nvPr>
            <p:ph type="sldNum" sz="quarter" idx="12"/>
          </p:nvPr>
        </p:nvSpPr>
        <p:spPr/>
        <p:txBody>
          <a:bodyPr/>
          <a:lstStyle/>
          <a:p>
            <a:fld id="{B2005DC0-9EAD-DA46-BDA8-BD693362A350}" type="slidenum">
              <a:rPr lang="fr-FR" smtClean="0"/>
              <a:t>‹N°›</a:t>
            </a:fld>
            <a:endParaRPr lang="fr-FR"/>
          </a:p>
        </p:txBody>
      </p:sp>
    </p:spTree>
    <p:extLst>
      <p:ext uri="{BB962C8B-B14F-4D97-AF65-F5344CB8AC3E}">
        <p14:creationId xmlns:p14="http://schemas.microsoft.com/office/powerpoint/2010/main" val="5983638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a:xfrm>
            <a:off x="609600" y="1752601"/>
            <a:ext cx="4883253" cy="4373563"/>
          </a:xfrm>
        </p:spPr>
        <p:txBody>
          <a:bodyPr/>
          <a:lstStyle>
            <a:lvl1pPr>
              <a:defRPr b="1"/>
            </a:lvl1pPr>
            <a:lvl2pPr>
              <a:defRPr b="1"/>
            </a:lvl2pPr>
            <a:lvl3pPr>
              <a:defRPr b="1"/>
            </a:lvl3pPr>
            <a:lvl4pPr>
              <a:defRPr b="1"/>
            </a:lvl4pPr>
            <a:lvl5pPr>
              <a:defRPr b="1"/>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Slide Number Placeholder 5"/>
          <p:cNvSpPr>
            <a:spLocks noGrp="1"/>
          </p:cNvSpPr>
          <p:nvPr>
            <p:ph type="sldNum" sz="quarter" idx="12"/>
          </p:nvPr>
        </p:nvSpPr>
        <p:spPr/>
        <p:txBody>
          <a:bodyPr/>
          <a:lstStyle/>
          <a:p>
            <a:fld id="{B2005DC0-9EAD-DA46-BDA8-BD693362A350}" type="slidenum">
              <a:rPr lang="fr-FR" smtClean="0"/>
              <a:t>‹N°›</a:t>
            </a:fld>
            <a:endParaRPr lang="fr-FR"/>
          </a:p>
        </p:txBody>
      </p:sp>
      <p:sp>
        <p:nvSpPr>
          <p:cNvPr id="5" name="Espace réservé du contenu 4"/>
          <p:cNvSpPr>
            <a:spLocks noGrp="1"/>
          </p:cNvSpPr>
          <p:nvPr>
            <p:ph sz="quarter" idx="13"/>
          </p:nvPr>
        </p:nvSpPr>
        <p:spPr>
          <a:xfrm>
            <a:off x="5712885" y="1752601"/>
            <a:ext cx="5397500" cy="437356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88250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2025-2026</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72" r:id="rId5"/>
    <p:sldLayoutId id="2147483673" r:id="rId6"/>
    <p:sldLayoutId id="2147483665" r:id="rId7"/>
    <p:sldLayoutId id="2147483666" r:id="rId8"/>
    <p:sldLayoutId id="2147483667" r:id="rId9"/>
    <p:sldLayoutId id="2147483668" r:id="rId10"/>
    <p:sldLayoutId id="2147483669" r:id="rId11"/>
    <p:sldLayoutId id="2147483670" r:id="rId12"/>
    <p:sldLayoutId id="2147483671" r:id="rId13"/>
    <p:sldLayoutId id="2147483674" r:id="rId14"/>
    <p:sldLayoutId id="2147483675" r:id="rId15"/>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p:txBody>
          <a:bodyPr/>
          <a:lstStyle/>
          <a:p>
            <a:r>
              <a:rPr lang="fr-FR" dirty="0"/>
              <a:t>JAVA 2</a:t>
            </a:r>
          </a:p>
        </p:txBody>
      </p:sp>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POO – Module 2</a:t>
            </a:r>
          </a:p>
          <a:p>
            <a:r>
              <a:rPr lang="fr-FR" dirty="0"/>
              <a:t>Semaine 11 – Fichiers</a:t>
            </a:r>
          </a:p>
        </p:txBody>
      </p:sp>
    </p:spTree>
    <p:extLst>
      <p:ext uri="{BB962C8B-B14F-4D97-AF65-F5344CB8AC3E}">
        <p14:creationId xmlns:p14="http://schemas.microsoft.com/office/powerpoint/2010/main" val="458771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Flux de données et Fichiers</a:t>
            </a:r>
          </a:p>
        </p:txBody>
      </p:sp>
      <p:sp>
        <p:nvSpPr>
          <p:cNvPr id="3" name="Espace réservé du texte 2">
            <a:extLst>
              <a:ext uri="{FF2B5EF4-FFF2-40B4-BE49-F238E27FC236}">
                <a16:creationId xmlns:a16="http://schemas.microsoft.com/office/drawing/2014/main" id="{F730886A-C876-5A8F-3B93-471017109024}"/>
              </a:ext>
            </a:extLst>
          </p:cNvPr>
          <p:cNvSpPr>
            <a:spLocks noGrp="1"/>
          </p:cNvSpPr>
          <p:nvPr>
            <p:ph type="body" idx="1"/>
          </p:nvPr>
        </p:nvSpPr>
        <p:spPr/>
        <p:txBody>
          <a:bodyPr/>
          <a:lstStyle/>
          <a:p>
            <a:r>
              <a:rPr lang="fr-FR" dirty="0"/>
              <a:t>Programmer en Java, </a:t>
            </a:r>
            <a:r>
              <a:rPr lang="fr-FR" dirty="0" err="1"/>
              <a:t>edition</a:t>
            </a:r>
            <a:r>
              <a:rPr lang="fr-FR" dirty="0"/>
              <a:t> 11 – Chapitre 20</a:t>
            </a:r>
          </a:p>
        </p:txBody>
      </p:sp>
    </p:spTree>
    <p:extLst>
      <p:ext uri="{BB962C8B-B14F-4D97-AF65-F5344CB8AC3E}">
        <p14:creationId xmlns:p14="http://schemas.microsoft.com/office/powerpoint/2010/main" val="194433698"/>
      </p:ext>
    </p:extLst>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623A844-D99A-4C25-7508-01E7C24E1ECE}"/>
              </a:ext>
            </a:extLst>
          </p:cNvPr>
          <p:cNvSpPr>
            <a:spLocks noGrp="1"/>
          </p:cNvSpPr>
          <p:nvPr>
            <p:ph type="title"/>
          </p:nvPr>
        </p:nvSpPr>
        <p:spPr/>
        <p:txBody>
          <a:bodyPr/>
          <a:lstStyle/>
          <a:p>
            <a:r>
              <a:rPr lang="fr-FR" dirty="0"/>
              <a:t>Flux et Fichiers</a:t>
            </a:r>
          </a:p>
        </p:txBody>
      </p:sp>
      <p:sp>
        <p:nvSpPr>
          <p:cNvPr id="5" name="Espace réservé du texte 4">
            <a:extLst>
              <a:ext uri="{FF2B5EF4-FFF2-40B4-BE49-F238E27FC236}">
                <a16:creationId xmlns:a16="http://schemas.microsoft.com/office/drawing/2014/main" id="{8FF3C52D-9BBC-4F49-9D54-D2ADCEE441D4}"/>
              </a:ext>
            </a:extLst>
          </p:cNvPr>
          <p:cNvSpPr>
            <a:spLocks noGrp="1"/>
          </p:cNvSpPr>
          <p:nvPr>
            <p:ph idx="1"/>
          </p:nvPr>
        </p:nvSpPr>
        <p:spPr/>
        <p:txBody>
          <a:bodyPr/>
          <a:lstStyle/>
          <a:p>
            <a:r>
              <a:rPr lang="fr-FR" dirty="0">
                <a:solidFill>
                  <a:schemeClr val="accent4"/>
                </a:solidFill>
              </a:rPr>
              <a:t>La notion de Flux (Stream)</a:t>
            </a:r>
          </a:p>
          <a:p>
            <a:r>
              <a:rPr lang="fr-FR" dirty="0"/>
              <a:t>Flux Binaires</a:t>
            </a:r>
          </a:p>
          <a:p>
            <a:r>
              <a:rPr lang="fr-FR" dirty="0"/>
              <a:t>Accès Direct</a:t>
            </a:r>
          </a:p>
          <a:p>
            <a:r>
              <a:rPr lang="fr-FR" dirty="0"/>
              <a:t>Flux de Texte</a:t>
            </a:r>
          </a:p>
          <a:p>
            <a:r>
              <a:rPr lang="fr-FR" dirty="0"/>
              <a:t>Flux d’Objets</a:t>
            </a:r>
          </a:p>
          <a:p>
            <a:r>
              <a:rPr lang="fr-FR" dirty="0"/>
              <a:t>File et Path</a:t>
            </a:r>
          </a:p>
          <a:p>
            <a:endParaRPr lang="fr-FR" dirty="0"/>
          </a:p>
          <a:p>
            <a:endParaRPr lang="fr-FR" dirty="0"/>
          </a:p>
          <a:p>
            <a:endParaRPr lang="fr-FR" dirty="0"/>
          </a:p>
        </p:txBody>
      </p:sp>
    </p:spTree>
    <p:extLst>
      <p:ext uri="{BB962C8B-B14F-4D97-AF65-F5344CB8AC3E}">
        <p14:creationId xmlns:p14="http://schemas.microsoft.com/office/powerpoint/2010/main" val="1692533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La notion de Flux (Stream)</a:t>
            </a:r>
          </a:p>
        </p:txBody>
      </p:sp>
      <p:sp>
        <p:nvSpPr>
          <p:cNvPr id="3" name="Espace réservé du contenu 2"/>
          <p:cNvSpPr>
            <a:spLocks noGrp="1"/>
          </p:cNvSpPr>
          <p:nvPr>
            <p:ph idx="1"/>
          </p:nvPr>
        </p:nvSpPr>
        <p:spPr/>
        <p:txBody>
          <a:bodyPr>
            <a:normAutofit/>
          </a:bodyPr>
          <a:lstStyle/>
          <a:p>
            <a:pPr marL="0" indent="0">
              <a:buNone/>
            </a:pPr>
            <a:r>
              <a:rPr lang="fr-FR" dirty="0"/>
              <a:t>Nous avons déjà rencontré un flux de sortie: </a:t>
            </a:r>
            <a:r>
              <a:rPr lang="fr-FR" sz="2600" dirty="0" err="1">
                <a:solidFill>
                  <a:schemeClr val="accent4"/>
                </a:solidFill>
                <a:latin typeface="Consolas" panose="020B0609020204030204" pitchFamily="49" charset="0"/>
                <a:cs typeface="Consolas" panose="020B0609020204030204" pitchFamily="49" charset="0"/>
              </a:rPr>
              <a:t>System.out</a:t>
            </a:r>
            <a:r>
              <a:rPr lang="fr-FR" dirty="0"/>
              <a:t>.</a:t>
            </a:r>
          </a:p>
          <a:p>
            <a:pPr marL="0" indent="0">
              <a:buNone/>
            </a:pPr>
            <a:r>
              <a:rPr lang="fr-FR" dirty="0"/>
              <a:t>Un flux de sortie désigne n’importe quel système susceptible de recevoir de l’information sous forme d’une suite d’octets (dispositif d’affichage, fichier, connexion à un site distant,…).</a:t>
            </a:r>
          </a:p>
          <a:p>
            <a:pPr marL="0" indent="0">
              <a:buNone/>
            </a:pPr>
            <a:r>
              <a:rPr lang="fr-FR" dirty="0"/>
              <a:t>Il existe également la notion de flux d’entrée.</a:t>
            </a:r>
          </a:p>
          <a:p>
            <a:pPr marL="0" indent="0">
              <a:buNone/>
            </a:pPr>
            <a:r>
              <a:rPr lang="fr-FR" dirty="0"/>
              <a:t>En Java, comme dans beaucoup de langages, on distingue les flux binaires (sans transformation) des flux de texte (avec formatage). </a:t>
            </a:r>
          </a:p>
          <a:p>
            <a:pPr marL="0" indent="0">
              <a:buNone/>
            </a:pPr>
            <a:r>
              <a:rPr lang="fr-FR" dirty="0"/>
              <a:t>On peut aussi accéder à un fichier binaire, soit de façon séquentielle, soit de façon directe.</a:t>
            </a:r>
          </a:p>
        </p:txBody>
      </p:sp>
    </p:spTree>
    <p:extLst>
      <p:ext uri="{BB962C8B-B14F-4D97-AF65-F5344CB8AC3E}">
        <p14:creationId xmlns:p14="http://schemas.microsoft.com/office/powerpoint/2010/main" val="2067236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La notion de Flux (Stream)</a:t>
            </a:r>
          </a:p>
        </p:txBody>
      </p:sp>
      <p:sp>
        <p:nvSpPr>
          <p:cNvPr id="3" name="Espace réservé du contenu 2"/>
          <p:cNvSpPr>
            <a:spLocks noGrp="1"/>
          </p:cNvSpPr>
          <p:nvPr>
            <p:ph idx="1"/>
          </p:nvPr>
        </p:nvSpPr>
        <p:spPr/>
        <p:txBody>
          <a:bodyPr>
            <a:normAutofit fontScale="92500" lnSpcReduction="10000"/>
          </a:bodyPr>
          <a:lstStyle/>
          <a:p>
            <a:pPr marL="0" indent="0">
              <a:buNone/>
            </a:pPr>
            <a:r>
              <a:rPr lang="fr-FR" dirty="0"/>
              <a:t>﻿En Java, le nombre de classes intervenant dans la manipulation des flux est très important. </a:t>
            </a:r>
          </a:p>
          <a:p>
            <a:pPr marL="0" indent="0">
              <a:buNone/>
            </a:pPr>
            <a:r>
              <a:rPr lang="fr-FR" dirty="0"/>
              <a:t>Nous commencerons par examiner les opérations classiques suivantes : </a:t>
            </a:r>
          </a:p>
          <a:p>
            <a:pPr marL="342900" indent="-342900"/>
            <a:r>
              <a:rPr lang="fr-FR" dirty="0"/>
              <a:t>création séquentielle d’un fichier binaire ; </a:t>
            </a:r>
          </a:p>
          <a:p>
            <a:pPr marL="342900" indent="-342900"/>
            <a:r>
              <a:rPr lang="fr-FR" dirty="0"/>
              <a:t>lecture séquentielle d’un fichier binaire ; </a:t>
            </a:r>
          </a:p>
          <a:p>
            <a:pPr marL="342900" indent="-342900"/>
            <a:r>
              <a:rPr lang="fr-FR" dirty="0"/>
              <a:t>accès direct à un fichier binaire ; </a:t>
            </a:r>
          </a:p>
          <a:p>
            <a:pPr marL="342900" indent="-342900"/>
            <a:r>
              <a:rPr lang="fr-FR" dirty="0"/>
              <a:t>création d’un fichier texte ; </a:t>
            </a:r>
          </a:p>
          <a:p>
            <a:pPr marL="342900" indent="-342900"/>
            <a:r>
              <a:rPr lang="fr-FR" dirty="0"/>
              <a:t>lecture d’un fichier texte. </a:t>
            </a:r>
          </a:p>
          <a:p>
            <a:pPr marL="0" indent="0">
              <a:buNone/>
            </a:pPr>
            <a:r>
              <a:rPr lang="fr-FR" dirty="0"/>
              <a:t>﻿Nous verrons ensuite comment Java permet de travailler à un plus haut niveau en réalisant des fichiers d’objets.</a:t>
            </a:r>
          </a:p>
        </p:txBody>
      </p:sp>
    </p:spTree>
    <p:extLst>
      <p:ext uri="{BB962C8B-B14F-4D97-AF65-F5344CB8AC3E}">
        <p14:creationId xmlns:p14="http://schemas.microsoft.com/office/powerpoint/2010/main" val="3130609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Accès Séquentiel vs Accès Direct</a:t>
            </a:r>
          </a:p>
        </p:txBody>
      </p:sp>
      <p:pic>
        <p:nvPicPr>
          <p:cNvPr id="5" name="Picture 2" descr="Accès direct — Wikipédia">
            <a:extLst>
              <a:ext uri="{FF2B5EF4-FFF2-40B4-BE49-F238E27FC236}">
                <a16:creationId xmlns:a16="http://schemas.microsoft.com/office/drawing/2014/main" id="{1E2FA3BB-B64C-B1B2-3F1E-1376C0F4B8EF}"/>
              </a:ext>
            </a:extLst>
          </p:cNvPr>
          <p:cNvPicPr>
            <a:picLocks noGrp="1" noChangeAspect="1" noChangeArrowheads="1"/>
          </p:cNvPicPr>
          <p:nvPr>
            <p:ph idx="1"/>
          </p:nvPr>
        </p:nvPicPr>
        <p:blipFill>
          <a:blip r:embed="rId2">
            <a:lum bright="70000" contrast="-70000"/>
            <a:extLst>
              <a:ext uri="{BEBA8EAE-BF5A-486C-A8C5-ECC9F3942E4B}">
                <a14:imgProps xmlns:a14="http://schemas.microsoft.com/office/drawing/2010/main">
                  <a14:imgLayer r:embed="rId3">
                    <a14:imgEffect>
                      <a14:saturation sat="17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bwMode="auto">
          <a:xfrm>
            <a:off x="2469885" y="1825625"/>
            <a:ext cx="725223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623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623A844-D99A-4C25-7508-01E7C24E1ECE}"/>
              </a:ext>
            </a:extLst>
          </p:cNvPr>
          <p:cNvSpPr>
            <a:spLocks noGrp="1"/>
          </p:cNvSpPr>
          <p:nvPr>
            <p:ph type="title"/>
          </p:nvPr>
        </p:nvSpPr>
        <p:spPr/>
        <p:txBody>
          <a:bodyPr/>
          <a:lstStyle/>
          <a:p>
            <a:r>
              <a:rPr lang="fr-FR" dirty="0"/>
              <a:t>Flux et Fichiers</a:t>
            </a:r>
          </a:p>
        </p:txBody>
      </p:sp>
      <p:sp>
        <p:nvSpPr>
          <p:cNvPr id="5" name="Espace réservé du texte 4">
            <a:extLst>
              <a:ext uri="{FF2B5EF4-FFF2-40B4-BE49-F238E27FC236}">
                <a16:creationId xmlns:a16="http://schemas.microsoft.com/office/drawing/2014/main" id="{8FF3C52D-9BBC-4F49-9D54-D2ADCEE441D4}"/>
              </a:ext>
            </a:extLst>
          </p:cNvPr>
          <p:cNvSpPr>
            <a:spLocks noGrp="1"/>
          </p:cNvSpPr>
          <p:nvPr>
            <p:ph idx="1"/>
          </p:nvPr>
        </p:nvSpPr>
        <p:spPr/>
        <p:txBody>
          <a:bodyPr/>
          <a:lstStyle/>
          <a:p>
            <a:r>
              <a:rPr lang="fr-FR" dirty="0"/>
              <a:t>La notion de Flux (Stream)</a:t>
            </a:r>
          </a:p>
          <a:p>
            <a:r>
              <a:rPr lang="fr-FR" dirty="0">
                <a:solidFill>
                  <a:schemeClr val="accent4"/>
                </a:solidFill>
              </a:rPr>
              <a:t>Flux Binaires</a:t>
            </a:r>
          </a:p>
          <a:p>
            <a:r>
              <a:rPr lang="fr-FR" dirty="0"/>
              <a:t>Accès Direct</a:t>
            </a:r>
          </a:p>
          <a:p>
            <a:r>
              <a:rPr lang="fr-FR" dirty="0"/>
              <a:t>Flux de Texte</a:t>
            </a:r>
          </a:p>
          <a:p>
            <a:r>
              <a:rPr lang="fr-FR" dirty="0"/>
              <a:t>Flux d’Objets</a:t>
            </a:r>
          </a:p>
          <a:p>
            <a:r>
              <a:rPr lang="fr-FR" dirty="0"/>
              <a:t>File et Path</a:t>
            </a:r>
          </a:p>
          <a:p>
            <a:endParaRPr lang="fr-FR" dirty="0"/>
          </a:p>
          <a:p>
            <a:endParaRPr lang="fr-FR" dirty="0"/>
          </a:p>
        </p:txBody>
      </p:sp>
      <p:pic>
        <p:nvPicPr>
          <p:cNvPr id="2" name="Image 1">
            <a:extLst>
              <a:ext uri="{FF2B5EF4-FFF2-40B4-BE49-F238E27FC236}">
                <a16:creationId xmlns:a16="http://schemas.microsoft.com/office/drawing/2014/main" id="{5446735A-11DD-B564-033B-F40C3873EBD8}"/>
              </a:ext>
            </a:extLst>
          </p:cNvPr>
          <p:cNvPicPr>
            <a:picLocks noChangeAspect="1"/>
          </p:cNvPicPr>
          <p:nvPr/>
        </p:nvPicPr>
        <p:blipFill>
          <a:blip r:embed="rId2"/>
          <a:stretch>
            <a:fillRect/>
          </a:stretch>
        </p:blipFill>
        <p:spPr>
          <a:xfrm>
            <a:off x="5327784" y="2667000"/>
            <a:ext cx="5829300" cy="15240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00526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Ecriture / Lecture d’un fichier binaire</a:t>
            </a:r>
          </a:p>
        </p:txBody>
      </p:sp>
      <p:sp>
        <p:nvSpPr>
          <p:cNvPr id="3" name="Espace réservé du contenu 2"/>
          <p:cNvSpPr>
            <a:spLocks noGrp="1"/>
          </p:cNvSpPr>
          <p:nvPr>
            <p:ph idx="1"/>
          </p:nvPr>
        </p:nvSpPr>
        <p:spPr/>
        <p:txBody>
          <a:bodyPr>
            <a:normAutofit/>
          </a:bodyPr>
          <a:lstStyle/>
          <a:p>
            <a:pPr marL="0" indent="0">
              <a:buNone/>
            </a:pPr>
            <a:r>
              <a:rPr lang="fr-FR" dirty="0"/>
              <a:t>Commençons par l’écriture dans un fichier binaire, puis la relecture de ces données.</a:t>
            </a:r>
          </a:p>
          <a:p>
            <a:pPr marL="0" indent="0">
              <a:buNone/>
            </a:pPr>
            <a:endParaRPr lang="fr-FR" dirty="0"/>
          </a:p>
          <a:p>
            <a:pPr marL="0" indent="0">
              <a:buNone/>
            </a:pPr>
            <a:r>
              <a:rPr lang="fr-FR" dirty="0"/>
              <a:t>Dans un fichier binaire, les données sont écrites comme elles sont représentées en mémoire… On ne peut donc pas lire le fichier tel quel.</a:t>
            </a:r>
          </a:p>
        </p:txBody>
      </p:sp>
    </p:spTree>
    <p:extLst>
      <p:ext uri="{BB962C8B-B14F-4D97-AF65-F5344CB8AC3E}">
        <p14:creationId xmlns:p14="http://schemas.microsoft.com/office/powerpoint/2010/main" val="2066543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Ecriture</a:t>
            </a:r>
            <a:r>
              <a:rPr lang="fr-FR" cap="none" dirty="0"/>
              <a:t>: </a:t>
            </a:r>
            <a:r>
              <a:rPr lang="fr-FR" cap="none" dirty="0" err="1"/>
              <a:t>FileOutputStream</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﻿La classe abstraite </a:t>
            </a:r>
            <a:r>
              <a:rPr lang="fr-FR" sz="2200" dirty="0" err="1">
                <a:solidFill>
                  <a:schemeClr val="accent4"/>
                </a:solidFill>
                <a:latin typeface="Consolas" panose="020B0609020204030204" pitchFamily="49" charset="0"/>
                <a:cs typeface="Consolas" panose="020B0609020204030204" pitchFamily="49" charset="0"/>
              </a:rPr>
              <a:t>OutputStream</a:t>
            </a:r>
            <a:r>
              <a:rPr lang="fr-FR" sz="2400" dirty="0"/>
              <a:t> sert de base à toutes les classes relatives à des flux binaires de sortie. </a:t>
            </a:r>
          </a:p>
          <a:p>
            <a:pPr marL="0" indent="0">
              <a:buNone/>
            </a:pPr>
            <a:r>
              <a:rPr lang="fr-FR" sz="2400" dirty="0"/>
              <a:t>La classe </a:t>
            </a:r>
            <a:r>
              <a:rPr lang="fr-FR" sz="2200" dirty="0" err="1">
                <a:solidFill>
                  <a:schemeClr val="accent4"/>
                </a:solidFill>
                <a:latin typeface="Consolas" panose="020B0609020204030204" pitchFamily="49" charset="0"/>
                <a:cs typeface="Consolas" panose="020B0609020204030204" pitchFamily="49" charset="0"/>
              </a:rPr>
              <a:t>FileOutputStream</a:t>
            </a:r>
            <a:r>
              <a:rPr lang="fr-FR" sz="2400" dirty="0"/>
              <a:t>, dérivée de </a:t>
            </a:r>
            <a:r>
              <a:rPr lang="fr-FR" sz="2200" dirty="0" err="1">
                <a:solidFill>
                  <a:schemeClr val="accent4"/>
                </a:solidFill>
                <a:latin typeface="Consolas" panose="020B0609020204030204" pitchFamily="49" charset="0"/>
                <a:cs typeface="Consolas" panose="020B0609020204030204" pitchFamily="49" charset="0"/>
              </a:rPr>
              <a:t>OutputStream</a:t>
            </a:r>
            <a:r>
              <a:rPr lang="fr-FR" sz="2400" dirty="0"/>
              <a:t>, permet de manipuler un flux binaire associé à un fichier en écriture. L’un de ses constructeurs s’utilise ainsi :</a:t>
            </a:r>
          </a:p>
        </p:txBody>
      </p:sp>
      <p:sp>
        <p:nvSpPr>
          <p:cNvPr id="5" name="ZoneTexte 4">
            <a:extLst>
              <a:ext uri="{FF2B5EF4-FFF2-40B4-BE49-F238E27FC236}">
                <a16:creationId xmlns:a16="http://schemas.microsoft.com/office/drawing/2014/main" id="{CFAE4A9F-152C-C7A1-B79D-51E56951A94A}"/>
              </a:ext>
            </a:extLst>
          </p:cNvPr>
          <p:cNvSpPr txBox="1"/>
          <p:nvPr/>
        </p:nvSpPr>
        <p:spPr>
          <a:xfrm>
            <a:off x="2079057" y="3441030"/>
            <a:ext cx="8037094" cy="369332"/>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FileOutputStream</a:t>
            </a:r>
            <a:r>
              <a:rPr lang="fr-BE" dirty="0">
                <a:latin typeface="Consolas" panose="020B0609020204030204" pitchFamily="49" charset="0"/>
                <a:cs typeface="Consolas" panose="020B0609020204030204" pitchFamily="49" charset="0"/>
              </a:rPr>
              <a:t> f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FileOutputStream</a:t>
            </a:r>
            <a:r>
              <a:rPr lang="fr-BE" dirty="0">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entiers.dat</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7" name="Espace réservé du contenu 2">
            <a:extLst>
              <a:ext uri="{FF2B5EF4-FFF2-40B4-BE49-F238E27FC236}">
                <a16:creationId xmlns:a16="http://schemas.microsoft.com/office/drawing/2014/main" id="{1C6073B8-269D-D13D-B287-47FA7F05B477}"/>
              </a:ext>
            </a:extLst>
          </p:cNvPr>
          <p:cNvSpPr txBox="1">
            <a:spLocks/>
          </p:cNvSpPr>
          <p:nvPr/>
        </p:nvSpPr>
        <p:spPr>
          <a:xfrm>
            <a:off x="838200" y="3914303"/>
            <a:ext cx="10515600" cy="22073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Cette instruction crée le fichier de nom "</a:t>
            </a:r>
            <a:r>
              <a:rPr lang="fr-FR" sz="2400" dirty="0" err="1"/>
              <a:t>entiers.dat</a:t>
            </a:r>
            <a:r>
              <a:rPr lang="fr-FR" sz="2400" dirty="0"/>
              <a:t>". </a:t>
            </a:r>
          </a:p>
          <a:p>
            <a:r>
              <a:rPr lang="fr-FR" sz="2400" dirty="0"/>
              <a:t>S’il n’existait pas, il est créé; </a:t>
            </a:r>
          </a:p>
          <a:p>
            <a:r>
              <a:rPr lang="fr-FR" sz="2400" dirty="0"/>
              <a:t>S’il existait, son contenu est supprimé. </a:t>
            </a:r>
          </a:p>
          <a:p>
            <a:pPr marL="0" indent="0">
              <a:buFont typeface="Arial" panose="020B0604020202020204" pitchFamily="34" charset="0"/>
              <a:buNone/>
            </a:pPr>
            <a:r>
              <a:rPr lang="fr-FR" sz="2400" dirty="0"/>
              <a:t>Les méthodes sur la classe </a:t>
            </a:r>
            <a:r>
              <a:rPr lang="fr-FR" sz="2200" dirty="0" err="1">
                <a:solidFill>
                  <a:schemeClr val="accent4"/>
                </a:solidFill>
                <a:latin typeface="Consolas" panose="020B0609020204030204" pitchFamily="49" charset="0"/>
                <a:cs typeface="Consolas" panose="020B0609020204030204" pitchFamily="49" charset="0"/>
              </a:rPr>
              <a:t>FileOutputStream</a:t>
            </a:r>
            <a:r>
              <a:rPr lang="fr-FR" sz="2400" dirty="0"/>
              <a:t> ne permettent que d’envoyer un octet ou un tableau d’octets dans le fichier…</a:t>
            </a:r>
          </a:p>
        </p:txBody>
      </p:sp>
    </p:spTree>
    <p:extLst>
      <p:ext uri="{BB962C8B-B14F-4D97-AF65-F5344CB8AC3E}">
        <p14:creationId xmlns:p14="http://schemas.microsoft.com/office/powerpoint/2010/main" val="3600675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Ecriture: </a:t>
            </a:r>
            <a:r>
              <a:rPr lang="fr-FR" cap="none" dirty="0" err="1"/>
              <a:t>DataOutputStream</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﻿La classe </a:t>
            </a:r>
            <a:r>
              <a:rPr lang="fr-FR" sz="2200" dirty="0" err="1">
                <a:solidFill>
                  <a:schemeClr val="accent4"/>
                </a:solidFill>
                <a:latin typeface="Consolas" panose="020B0609020204030204" pitchFamily="49" charset="0"/>
                <a:cs typeface="Consolas" panose="020B0609020204030204" pitchFamily="49" charset="0"/>
              </a:rPr>
              <a:t>DataOutputStream</a:t>
            </a:r>
            <a:r>
              <a:rPr lang="fr-FR" sz="2400" dirty="0"/>
              <a:t>, plus évoluée, présente un constructeur qui prend en paramètre un </a:t>
            </a:r>
            <a:r>
              <a:rPr lang="fr-FR" sz="2200" dirty="0" err="1">
                <a:solidFill>
                  <a:schemeClr val="accent4"/>
                </a:solidFill>
                <a:latin typeface="Consolas" panose="020B0609020204030204" pitchFamily="49" charset="0"/>
                <a:cs typeface="Consolas" panose="020B0609020204030204" pitchFamily="49" charset="0"/>
              </a:rPr>
              <a:t>FileOutputStream</a:t>
            </a:r>
            <a:r>
              <a:rPr lang="fr-FR" sz="2400" dirty="0"/>
              <a:t>: </a:t>
            </a:r>
          </a:p>
          <a:p>
            <a:pPr marL="0" indent="0">
              <a:buNone/>
            </a:pPr>
            <a:endParaRPr lang="fr-FR" sz="2400" dirty="0"/>
          </a:p>
          <a:p>
            <a:pPr marL="0" indent="0">
              <a:buNone/>
            </a:pPr>
            <a:endParaRPr lang="fr-FR" sz="2400" dirty="0"/>
          </a:p>
          <a:p>
            <a:pPr marL="0" indent="0">
              <a:buNone/>
            </a:pPr>
            <a:endParaRPr lang="fr-FR" sz="2400" dirty="0"/>
          </a:p>
        </p:txBody>
      </p:sp>
      <p:sp>
        <p:nvSpPr>
          <p:cNvPr id="7" name="ZoneTexte 6">
            <a:extLst>
              <a:ext uri="{FF2B5EF4-FFF2-40B4-BE49-F238E27FC236}">
                <a16:creationId xmlns:a16="http://schemas.microsoft.com/office/drawing/2014/main" id="{E265A7D2-9DF3-6F4B-CBC7-B346AA06E262}"/>
              </a:ext>
            </a:extLst>
          </p:cNvPr>
          <p:cNvSpPr txBox="1"/>
          <p:nvPr/>
        </p:nvSpPr>
        <p:spPr>
          <a:xfrm>
            <a:off x="2079057" y="2782669"/>
            <a:ext cx="8037094" cy="646331"/>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FileOutputStream</a:t>
            </a:r>
            <a:r>
              <a:rPr lang="fr-BE" dirty="0">
                <a:latin typeface="Consolas" panose="020B0609020204030204" pitchFamily="49" charset="0"/>
                <a:cs typeface="Consolas" panose="020B0609020204030204" pitchFamily="49" charset="0"/>
              </a:rPr>
              <a:t> f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FileOutputStream</a:t>
            </a:r>
            <a:r>
              <a:rPr lang="fr-BE" dirty="0">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entiers.dat</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p>
          <a:p>
            <a:r>
              <a:rPr lang="fr-BE" dirty="0" err="1">
                <a:latin typeface="Consolas" panose="020B0609020204030204" pitchFamily="49" charset="0"/>
                <a:cs typeface="Consolas" panose="020B0609020204030204" pitchFamily="49" charset="0"/>
              </a:rPr>
              <a:t>DataOutputStream</a:t>
            </a:r>
            <a:r>
              <a:rPr lang="fr-BE" dirty="0">
                <a:latin typeface="Consolas" panose="020B0609020204030204" pitchFamily="49" charset="0"/>
                <a:cs typeface="Consolas" panose="020B0609020204030204" pitchFamily="49" charset="0"/>
              </a:rPr>
              <a:t> sortie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DataOutputStream</a:t>
            </a:r>
            <a:r>
              <a:rPr lang="fr-BE" dirty="0">
                <a:latin typeface="Consolas" panose="020B0609020204030204" pitchFamily="49" charset="0"/>
                <a:cs typeface="Consolas" panose="020B0609020204030204" pitchFamily="49" charset="0"/>
              </a:rPr>
              <a:t>(f)</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8" name="Espace réservé du contenu 2">
            <a:extLst>
              <a:ext uri="{FF2B5EF4-FFF2-40B4-BE49-F238E27FC236}">
                <a16:creationId xmlns:a16="http://schemas.microsoft.com/office/drawing/2014/main" id="{1D220F17-4BA9-92C7-DC5A-8B1930B3D729}"/>
              </a:ext>
            </a:extLst>
          </p:cNvPr>
          <p:cNvSpPr txBox="1">
            <a:spLocks/>
          </p:cNvSpPr>
          <p:nvPr/>
        </p:nvSpPr>
        <p:spPr>
          <a:xfrm>
            <a:off x="838200" y="3500421"/>
            <a:ext cx="10515600" cy="25346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﻿Ceci nous donne un objet </a:t>
            </a:r>
            <a:r>
              <a:rPr lang="fr-FR" sz="2200" dirty="0">
                <a:solidFill>
                  <a:schemeClr val="accent4"/>
                </a:solidFill>
                <a:latin typeface="Consolas" panose="020B0609020204030204" pitchFamily="49" charset="0"/>
                <a:cs typeface="Consolas" panose="020B0609020204030204" pitchFamily="49" charset="0"/>
              </a:rPr>
              <a:t>sortie</a:t>
            </a:r>
            <a:r>
              <a:rPr lang="fr-FR" sz="2400" dirty="0"/>
              <a:t> sur lequel nous disposerons de méthodes qui permettent d’y envoyer des valeurs d’un type </a:t>
            </a:r>
            <a:r>
              <a:rPr lang="fr-FR" sz="2400" dirty="0">
                <a:solidFill>
                  <a:schemeClr val="accent4"/>
                </a:solidFill>
              </a:rPr>
              <a:t>primitif</a:t>
            </a:r>
            <a:r>
              <a:rPr lang="fr-FR" sz="2400" dirty="0"/>
              <a:t>: </a:t>
            </a:r>
          </a:p>
          <a:p>
            <a:r>
              <a:rPr lang="fr-FR" sz="2200" dirty="0" err="1">
                <a:solidFill>
                  <a:schemeClr val="accent4"/>
                </a:solidFill>
                <a:latin typeface="Consolas" panose="020B0609020204030204" pitchFamily="49" charset="0"/>
                <a:cs typeface="Consolas" panose="020B0609020204030204" pitchFamily="49" charset="0"/>
              </a:rPr>
              <a:t>writeInt</a:t>
            </a:r>
            <a:r>
              <a:rPr lang="fr-FR" sz="2400" dirty="0"/>
              <a:t> (pour un </a:t>
            </a:r>
            <a:r>
              <a:rPr lang="fr-FR" sz="2200" dirty="0" err="1">
                <a:solidFill>
                  <a:schemeClr val="accent4"/>
                </a:solidFill>
                <a:latin typeface="Consolas" panose="020B0609020204030204" pitchFamily="49" charset="0"/>
                <a:cs typeface="Consolas" panose="020B0609020204030204" pitchFamily="49" charset="0"/>
              </a:rPr>
              <a:t>int</a:t>
            </a:r>
            <a:r>
              <a:rPr lang="fr-FR" sz="2400" dirty="0"/>
              <a:t>), </a:t>
            </a:r>
            <a:r>
              <a:rPr lang="fr-FR" sz="2200" dirty="0" err="1">
                <a:solidFill>
                  <a:schemeClr val="accent4"/>
                </a:solidFill>
                <a:latin typeface="Consolas" panose="020B0609020204030204" pitchFamily="49" charset="0"/>
                <a:cs typeface="Consolas" panose="020B0609020204030204" pitchFamily="49" charset="0"/>
              </a:rPr>
              <a:t>writeFloat</a:t>
            </a:r>
            <a:r>
              <a:rPr lang="fr-FR" sz="2400" dirty="0"/>
              <a:t>,...</a:t>
            </a:r>
          </a:p>
          <a:p>
            <a:pPr marL="0" indent="0">
              <a:buFont typeface="Arial" panose="020B0604020202020204" pitchFamily="34" charset="0"/>
              <a:buNone/>
            </a:pPr>
            <a:endParaRPr lang="fr-FR" sz="2400" dirty="0"/>
          </a:p>
          <a:p>
            <a:endParaRPr lang="fr-FR" sz="2400" dirty="0"/>
          </a:p>
          <a:p>
            <a:endParaRPr lang="fr-FR" sz="2400" dirty="0"/>
          </a:p>
        </p:txBody>
      </p:sp>
    </p:spTree>
    <p:extLst>
      <p:ext uri="{BB962C8B-B14F-4D97-AF65-F5344CB8AC3E}">
        <p14:creationId xmlns:p14="http://schemas.microsoft.com/office/powerpoint/2010/main" val="51438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Exemple</a:t>
            </a:r>
            <a:endParaRPr lang="fr-FR" dirty="0"/>
          </a:p>
        </p:txBody>
      </p:sp>
      <p:sp>
        <p:nvSpPr>
          <p:cNvPr id="4" name="Rectangle 3">
            <a:extLst>
              <a:ext uri="{FF2B5EF4-FFF2-40B4-BE49-F238E27FC236}">
                <a16:creationId xmlns:a16="http://schemas.microsoft.com/office/drawing/2014/main" id="{29BFD068-FB4A-044C-9DDF-C90016C0D7FC}"/>
              </a:ext>
            </a:extLst>
          </p:cNvPr>
          <p:cNvSpPr/>
          <p:nvPr/>
        </p:nvSpPr>
        <p:spPr>
          <a:xfrm>
            <a:off x="2656716" y="1524318"/>
            <a:ext cx="9259360" cy="5047536"/>
          </a:xfrm>
          <a:prstGeom prst="rect">
            <a:avLst/>
          </a:prstGeom>
          <a:solidFill>
            <a:schemeClr val="bg1">
              <a:lumMod val="95000"/>
            </a:schemeClr>
          </a:solidFill>
        </p:spPr>
        <p:txBody>
          <a:bodyPr wrap="square">
            <a:spAutoFit/>
          </a:bodyPr>
          <a:lstStyle/>
          <a:p>
            <a:r>
              <a:rPr lang="fr-BE" sz="1400" dirty="0">
                <a:solidFill>
                  <a:srgbClr val="CC7832"/>
                </a:solidFill>
                <a:latin typeface="Consolas" panose="020B0609020204030204" pitchFamily="49" charset="0"/>
                <a:cs typeface="Consolas" panose="020B0609020204030204" pitchFamily="49" charset="0"/>
              </a:rPr>
              <a:t>import </a:t>
            </a:r>
            <a:r>
              <a:rPr lang="fr-BE" sz="1400" dirty="0" err="1">
                <a:latin typeface="Consolas" panose="020B0609020204030204" pitchFamily="49" charset="0"/>
                <a:cs typeface="Consolas" panose="020B0609020204030204" pitchFamily="49" charset="0"/>
              </a:rPr>
              <a:t>java.io</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public class </a:t>
            </a:r>
            <a:r>
              <a:rPr lang="fr-BE" sz="1400" dirty="0" err="1">
                <a:latin typeface="Consolas" panose="020B0609020204030204" pitchFamily="49" charset="0"/>
                <a:cs typeface="Consolas" panose="020B0609020204030204" pitchFamily="49" charset="0"/>
              </a:rPr>
              <a:t>CreationFichierBinaire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public </a:t>
            </a:r>
            <a:r>
              <a:rPr lang="fr-BE" sz="1400" dirty="0" err="1">
                <a:solidFill>
                  <a:srgbClr val="CC7832"/>
                </a:solidFill>
                <a:latin typeface="Consolas" panose="020B0609020204030204" pitchFamily="49" charset="0"/>
                <a:cs typeface="Consolas" panose="020B0609020204030204" pitchFamily="49" charset="0"/>
              </a:rPr>
              <a:t>static</a:t>
            </a:r>
            <a:r>
              <a:rPr lang="fr-BE" sz="1400" dirty="0">
                <a:solidFill>
                  <a:srgbClr val="CC7832"/>
                </a:solidFill>
                <a:latin typeface="Consolas" panose="020B0609020204030204" pitchFamily="49" charset="0"/>
                <a:cs typeface="Consolas" panose="020B0609020204030204" pitchFamily="49" charset="0"/>
              </a:rPr>
              <a:t> </a:t>
            </a:r>
            <a:r>
              <a:rPr lang="fr-BE" sz="1400" dirty="0" err="1">
                <a:solidFill>
                  <a:srgbClr val="CC7832"/>
                </a:solidFill>
                <a:latin typeface="Consolas" panose="020B0609020204030204" pitchFamily="49" charset="0"/>
                <a:cs typeface="Consolas" panose="020B0609020204030204" pitchFamily="49" charset="0"/>
              </a:rPr>
              <a:t>void</a:t>
            </a:r>
            <a:r>
              <a:rPr lang="fr-BE" sz="1400" dirty="0">
                <a:solidFill>
                  <a:srgbClr val="CC7832"/>
                </a:solidFill>
                <a:latin typeface="Consolas" panose="020B0609020204030204" pitchFamily="49" charset="0"/>
                <a:cs typeface="Consolas" panose="020B0609020204030204" pitchFamily="49" charset="0"/>
              </a:rPr>
              <a:t> </a:t>
            </a:r>
            <a:r>
              <a:rPr lang="fr-BE" sz="1400" dirty="0">
                <a:solidFill>
                  <a:srgbClr val="FFC66D"/>
                </a:solidFill>
                <a:latin typeface="Consolas" panose="020B0609020204030204" pitchFamily="49" charset="0"/>
                <a:cs typeface="Consolas" panose="020B0609020204030204" pitchFamily="49" charset="0"/>
              </a:rPr>
              <a:t>main</a:t>
            </a:r>
            <a:r>
              <a:rPr lang="fr-BE" sz="1400" dirty="0">
                <a:latin typeface="Consolas" panose="020B0609020204030204" pitchFamily="49" charset="0"/>
                <a:cs typeface="Consolas" panose="020B0609020204030204" pitchFamily="49" charset="0"/>
              </a:rPr>
              <a:t>(String args[]) </a:t>
            </a:r>
            <a:r>
              <a:rPr lang="fr-BE" sz="1400" dirty="0" err="1">
                <a:solidFill>
                  <a:srgbClr val="CC7832"/>
                </a:solidFill>
                <a:latin typeface="Consolas" panose="020B0609020204030204" pitchFamily="49" charset="0"/>
                <a:cs typeface="Consolas" panose="020B0609020204030204" pitchFamily="49" charset="0"/>
              </a:rPr>
              <a:t>throws</a:t>
            </a: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IOException</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String </a:t>
            </a:r>
            <a:r>
              <a:rPr lang="fr-BE" sz="1400" dirty="0" err="1">
                <a:latin typeface="Consolas" panose="020B0609020204030204" pitchFamily="49" charset="0"/>
                <a:cs typeface="Consolas" panose="020B0609020204030204" pitchFamily="49" charset="0"/>
              </a:rPr>
              <a:t>nomfich</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solidFill>
                  <a:srgbClr val="CC7832"/>
                </a:solidFill>
                <a:latin typeface="Consolas" panose="020B0609020204030204" pitchFamily="49" charset="0"/>
                <a:cs typeface="Consolas" panose="020B0609020204030204" pitchFamily="49" charset="0"/>
              </a:rPr>
              <a:t>int</a:t>
            </a: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n</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a:t>
            </a:r>
            <a:r>
              <a:rPr lang="fr-BE" sz="1400" dirty="0">
                <a:latin typeface="Consolas" panose="020B0609020204030204" pitchFamily="49" charset="0"/>
                <a:cs typeface="Consolas" panose="020B0609020204030204" pitchFamily="49" charset="0"/>
              </a:rPr>
              <a:t>(</a:t>
            </a:r>
            <a:r>
              <a:rPr lang="fr-BE" sz="1400" dirty="0">
                <a:solidFill>
                  <a:srgbClr val="6A8759"/>
                </a:solidFill>
                <a:latin typeface="Consolas" panose="020B0609020204030204" pitchFamily="49" charset="0"/>
                <a:cs typeface="Consolas" panose="020B0609020204030204" pitchFamily="49" charset="0"/>
              </a:rPr>
              <a:t>"donnez le nom du fichier à créer : "</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nomfich</a:t>
            </a:r>
            <a:r>
              <a:rPr lang="fr-BE" sz="1400" dirty="0">
                <a:latin typeface="Consolas" panose="020B0609020204030204" pitchFamily="49" charset="0"/>
                <a:cs typeface="Consolas" panose="020B0609020204030204" pitchFamily="49" charset="0"/>
              </a:rPr>
              <a:t> = </a:t>
            </a:r>
            <a:r>
              <a:rPr lang="fr-BE" sz="1400" dirty="0" err="1">
                <a:latin typeface="Consolas" panose="020B0609020204030204" pitchFamily="49" charset="0"/>
                <a:cs typeface="Consolas" panose="020B0609020204030204" pitchFamily="49" charset="0"/>
              </a:rPr>
              <a:t>Clavier.</a:t>
            </a:r>
            <a:r>
              <a:rPr lang="fr-BE" sz="1400" i="1" dirty="0" err="1">
                <a:latin typeface="Consolas" panose="020B0609020204030204" pitchFamily="49" charset="0"/>
                <a:cs typeface="Consolas" panose="020B0609020204030204" pitchFamily="49" charset="0"/>
              </a:rPr>
              <a:t>lireString</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DataOutputStream</a:t>
            </a:r>
            <a:r>
              <a:rPr lang="fr-BE" sz="1400" dirty="0">
                <a:latin typeface="Consolas" panose="020B0609020204030204" pitchFamily="49" charset="0"/>
                <a:cs typeface="Consolas" panose="020B0609020204030204" pitchFamily="49" charset="0"/>
              </a:rPr>
              <a:t> sortie = </a:t>
            </a:r>
            <a:r>
              <a:rPr lang="fr-BE" sz="1400" dirty="0">
                <a:solidFill>
                  <a:srgbClr val="CC7832"/>
                </a:solidFill>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DataOutputStream</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FileOutputStream</a:t>
            </a:r>
            <a:r>
              <a:rPr lang="fr-BE" sz="1400" dirty="0">
                <a:latin typeface="Consolas" panose="020B0609020204030204" pitchFamily="49" charset="0"/>
                <a:cs typeface="Consolas" panose="020B0609020204030204" pitchFamily="49" charset="0"/>
              </a:rPr>
              <a:t>(</a:t>
            </a:r>
            <a:r>
              <a:rPr lang="fr-BE" sz="1400" dirty="0" err="1">
                <a:latin typeface="Consolas" panose="020B0609020204030204" pitchFamily="49" charset="0"/>
                <a:cs typeface="Consolas" panose="020B0609020204030204" pitchFamily="49" charset="0"/>
              </a:rPr>
              <a:t>nomfich</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endParaRPr lang="fr-BE" sz="1400" dirty="0">
              <a:solidFill>
                <a:srgbClr val="CC7832"/>
              </a:solidFill>
              <a:latin typeface="Consolas" panose="020B0609020204030204" pitchFamily="49" charset="0"/>
              <a:cs typeface="Consolas" panose="020B0609020204030204" pitchFamily="49" charset="0"/>
            </a:endParaRPr>
          </a:p>
          <a:p>
            <a:r>
              <a:rPr lang="fr-BE" sz="1400" dirty="0">
                <a:solidFill>
                  <a:srgbClr val="CC7832"/>
                </a:solidFill>
                <a:latin typeface="Consolas" panose="020B0609020204030204" pitchFamily="49" charset="0"/>
                <a:cs typeface="Consolas" panose="020B0609020204030204" pitchFamily="49" charset="0"/>
              </a:rPr>
              <a:t>        do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a:t>
            </a:r>
            <a:r>
              <a:rPr lang="fr-BE" sz="1400" dirty="0">
                <a:latin typeface="Consolas" panose="020B0609020204030204" pitchFamily="49" charset="0"/>
                <a:cs typeface="Consolas" panose="020B0609020204030204" pitchFamily="49" charset="0"/>
              </a:rPr>
              <a:t>(</a:t>
            </a:r>
            <a:r>
              <a:rPr lang="fr-BE" sz="1400" dirty="0">
                <a:solidFill>
                  <a:srgbClr val="6A8759"/>
                </a:solidFill>
                <a:latin typeface="Consolas" panose="020B0609020204030204" pitchFamily="49" charset="0"/>
                <a:cs typeface="Consolas" panose="020B0609020204030204" pitchFamily="49" charset="0"/>
              </a:rPr>
              <a:t>"donnez un entier : "</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n = </a:t>
            </a:r>
            <a:r>
              <a:rPr lang="fr-BE" sz="1400" dirty="0" err="1">
                <a:latin typeface="Consolas" panose="020B0609020204030204" pitchFamily="49" charset="0"/>
                <a:cs typeface="Consolas" panose="020B0609020204030204" pitchFamily="49" charset="0"/>
              </a:rPr>
              <a:t>Clavier.</a:t>
            </a:r>
            <a:r>
              <a:rPr lang="fr-BE" sz="1400" i="1" dirty="0" err="1">
                <a:latin typeface="Consolas" panose="020B0609020204030204" pitchFamily="49" charset="0"/>
                <a:cs typeface="Consolas" panose="020B0609020204030204" pitchFamily="49" charset="0"/>
              </a:rPr>
              <a:t>lireInt</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if </a:t>
            </a:r>
            <a:r>
              <a:rPr lang="fr-BE" sz="1400" dirty="0">
                <a:latin typeface="Consolas" panose="020B0609020204030204" pitchFamily="49" charset="0"/>
                <a:cs typeface="Consolas" panose="020B0609020204030204" pitchFamily="49" charset="0"/>
              </a:rPr>
              <a:t>(n != </a:t>
            </a:r>
            <a:r>
              <a:rPr lang="fr-BE" sz="1400" dirty="0">
                <a:solidFill>
                  <a:srgbClr val="6897BB"/>
                </a:solidFill>
                <a:latin typeface="Consolas" panose="020B0609020204030204" pitchFamily="49" charset="0"/>
                <a:cs typeface="Consolas" panose="020B0609020204030204" pitchFamily="49" charset="0"/>
              </a:rPr>
              <a:t>0</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sortie.writeInt</a:t>
            </a:r>
            <a:r>
              <a:rPr lang="fr-BE" sz="1400" dirty="0">
                <a:latin typeface="Consolas" panose="020B0609020204030204" pitchFamily="49" charset="0"/>
                <a:cs typeface="Consolas" panose="020B0609020204030204" pitchFamily="49" charset="0"/>
              </a:rPr>
              <a:t>(n)</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p>
          <a:p>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latin typeface="Consolas" panose="020B0609020204030204" pitchFamily="49" charset="0"/>
                <a:cs typeface="Consolas" panose="020B0609020204030204" pitchFamily="49" charset="0"/>
              </a:rPr>
              <a:t>while</a:t>
            </a: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(n != </a:t>
            </a:r>
            <a:r>
              <a:rPr lang="fr-BE" sz="1400" dirty="0">
                <a:solidFill>
                  <a:srgbClr val="6897BB"/>
                </a:solidFill>
                <a:latin typeface="Consolas" panose="020B0609020204030204" pitchFamily="49" charset="0"/>
                <a:cs typeface="Consolas" panose="020B0609020204030204" pitchFamily="49" charset="0"/>
              </a:rPr>
              <a:t>0</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sortie.close</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latin typeface="Consolas" panose="020B0609020204030204" pitchFamily="49" charset="0"/>
                <a:cs typeface="Consolas" panose="020B0609020204030204" pitchFamily="49" charset="0"/>
              </a:rPr>
              <a:t>"*** fin création fichier ***"</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8" name="Rectangle avec flèche vers le bas 7">
            <a:extLst>
              <a:ext uri="{FF2B5EF4-FFF2-40B4-BE49-F238E27FC236}">
                <a16:creationId xmlns:a16="http://schemas.microsoft.com/office/drawing/2014/main" id="{69A59660-9C7C-7C49-B833-6010EE6D16E7}"/>
              </a:ext>
            </a:extLst>
          </p:cNvPr>
          <p:cNvSpPr/>
          <p:nvPr/>
        </p:nvSpPr>
        <p:spPr>
          <a:xfrm>
            <a:off x="6358404" y="1335235"/>
            <a:ext cx="3583695" cy="831495"/>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Toutes les méthodes d’écriture peuvent déclencher une </a:t>
            </a:r>
            <a:r>
              <a:rPr lang="fr-FR" sz="1400" dirty="0" err="1">
                <a:solidFill>
                  <a:schemeClr val="tx1"/>
                </a:solidFill>
              </a:rPr>
              <a:t>IOException</a:t>
            </a:r>
            <a:endParaRPr lang="fr-FR" sz="1400" dirty="0">
              <a:solidFill>
                <a:schemeClr val="tx1"/>
              </a:solidFill>
            </a:endParaRPr>
          </a:p>
        </p:txBody>
      </p:sp>
      <p:sp>
        <p:nvSpPr>
          <p:cNvPr id="10" name="Rectangle avec flèche vers la gauche 9">
            <a:extLst>
              <a:ext uri="{FF2B5EF4-FFF2-40B4-BE49-F238E27FC236}">
                <a16:creationId xmlns:a16="http://schemas.microsoft.com/office/drawing/2014/main" id="{50CC5C0C-9918-D64E-B79D-2387F6EF9DD5}"/>
              </a:ext>
            </a:extLst>
          </p:cNvPr>
          <p:cNvSpPr/>
          <p:nvPr/>
        </p:nvSpPr>
        <p:spPr>
          <a:xfrm>
            <a:off x="5408400" y="5466296"/>
            <a:ext cx="3583695" cy="390833"/>
          </a:xfrm>
          <a:prstGeom prst="leftArrowCallout">
            <a:avLst>
              <a:gd name="adj1" fmla="val 25000"/>
              <a:gd name="adj2" fmla="val 30910"/>
              <a:gd name="adj3" fmla="val 25000"/>
              <a:gd name="adj4" fmla="val 933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La méthode close ferme le fichier.</a:t>
            </a:r>
          </a:p>
        </p:txBody>
      </p:sp>
    </p:spTree>
    <p:extLst>
      <p:ext uri="{BB962C8B-B14F-4D97-AF65-F5344CB8AC3E}">
        <p14:creationId xmlns:p14="http://schemas.microsoft.com/office/powerpoint/2010/main" val="356776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lef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2"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p:tgtEl>
                                          <p:spTgt spid="10"/>
                                        </p:tgtEl>
                                        <p:attrNameLst>
                                          <p:attrName>ppt_x</p:attrName>
                                        </p:attrNameLst>
                                      </p:cBhvr>
                                      <p:tavLst>
                                        <p:tav tm="0">
                                          <p:val>
                                            <p:strVal val="#ppt_x+#ppt_w*1.125000"/>
                                          </p:val>
                                        </p:tav>
                                        <p:tav tm="100000">
                                          <p:val>
                                            <p:strVal val="#ppt_x"/>
                                          </p:val>
                                        </p:tav>
                                      </p:tavLst>
                                    </p:anim>
                                    <p:animEffect transition="in" filter="wipe(left)">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Ecriture: </a:t>
            </a:r>
            <a:r>
              <a:rPr lang="fr-FR" cap="none" dirty="0" err="1"/>
              <a:t>BufferedOutputStream</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﻿Il est possible de doter notre </a:t>
            </a:r>
            <a:r>
              <a:rPr lang="fr-FR" sz="2200" dirty="0" err="1">
                <a:solidFill>
                  <a:schemeClr val="accent4"/>
                </a:solidFill>
                <a:latin typeface="Consolas" panose="020B0609020204030204" pitchFamily="49" charset="0"/>
                <a:cs typeface="Consolas" panose="020B0609020204030204" pitchFamily="49" charset="0"/>
              </a:rPr>
              <a:t>FileOutputStream</a:t>
            </a:r>
            <a:r>
              <a:rPr lang="fr-FR" sz="2400" dirty="0"/>
              <a:t> d’un tampon en créant un objet </a:t>
            </a:r>
            <a:r>
              <a:rPr lang="fr-FR" sz="2200" dirty="0" err="1">
                <a:solidFill>
                  <a:schemeClr val="accent4"/>
                </a:solidFill>
                <a:latin typeface="Consolas" panose="020B0609020204030204" pitchFamily="49" charset="0"/>
                <a:cs typeface="Consolas" panose="020B0609020204030204" pitchFamily="49" charset="0"/>
              </a:rPr>
              <a:t>BufferedOutputStream</a:t>
            </a:r>
            <a:r>
              <a:rPr lang="fr-FR" sz="2400" dirty="0"/>
              <a:t>: </a:t>
            </a:r>
          </a:p>
          <a:p>
            <a:pPr marL="0" indent="0">
              <a:buNone/>
            </a:pPr>
            <a:r>
              <a:rPr lang="fr-FR" sz="2400" dirty="0">
                <a:solidFill>
                  <a:schemeClr val="accent2"/>
                </a:solidFill>
                <a:latin typeface="Consolas" panose="020B0609020204030204" pitchFamily="49" charset="0"/>
                <a:cs typeface="Consolas" panose="020B0609020204030204" pitchFamily="49" charset="0"/>
              </a:rPr>
              <a:t>﻿</a:t>
            </a:r>
            <a:endParaRPr lang="fr-FR" sz="2400" dirty="0"/>
          </a:p>
        </p:txBody>
      </p:sp>
      <p:sp>
        <p:nvSpPr>
          <p:cNvPr id="4" name="Espace réservé du contenu 2">
            <a:extLst>
              <a:ext uri="{FF2B5EF4-FFF2-40B4-BE49-F238E27FC236}">
                <a16:creationId xmlns:a16="http://schemas.microsoft.com/office/drawing/2014/main" id="{48D62787-28A5-ED81-7567-0C4103D62029}"/>
              </a:ext>
            </a:extLst>
          </p:cNvPr>
          <p:cNvSpPr txBox="1">
            <a:spLocks/>
          </p:cNvSpPr>
          <p:nvPr/>
        </p:nvSpPr>
        <p:spPr>
          <a:xfrm>
            <a:off x="838200" y="3712177"/>
            <a:ext cx="10515600" cy="18809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Au lieu d’accéder au fichier à chaque appel d’une méthode </a:t>
            </a:r>
            <a:r>
              <a:rPr lang="fr-FR" sz="2200" dirty="0" err="1">
                <a:solidFill>
                  <a:schemeClr val="accent4"/>
                </a:solidFill>
                <a:latin typeface="Consolas" panose="020B0609020204030204" pitchFamily="49" charset="0"/>
                <a:cs typeface="Consolas" panose="020B0609020204030204" pitchFamily="49" charset="0"/>
              </a:rPr>
              <a:t>write</a:t>
            </a:r>
            <a:r>
              <a:rPr lang="fr-FR" sz="2400" dirty="0"/>
              <a:t>, cela se fera alors lorsque le tampon sera plein, et lors de la fermeture du flux.</a:t>
            </a:r>
          </a:p>
          <a:p>
            <a:pPr marL="0" indent="0">
              <a:buFont typeface="Arial" panose="020B0604020202020204" pitchFamily="34" charset="0"/>
              <a:buNone/>
            </a:pPr>
            <a:r>
              <a:rPr lang="fr-FR" sz="2400" dirty="0"/>
              <a:t>On peut aussi forcer le vidage du flux à l’aide de la méthode </a:t>
            </a:r>
            <a:r>
              <a:rPr lang="fr-FR" sz="2200" dirty="0">
                <a:solidFill>
                  <a:schemeClr val="accent4"/>
                </a:solidFill>
                <a:latin typeface="Consolas" panose="020B0609020204030204" pitchFamily="49" charset="0"/>
                <a:cs typeface="Consolas" panose="020B0609020204030204" pitchFamily="49" charset="0"/>
              </a:rPr>
              <a:t>flush()</a:t>
            </a:r>
            <a:r>
              <a:rPr lang="fr-FR" sz="2400" dirty="0"/>
              <a:t>.</a:t>
            </a:r>
            <a:endParaRPr lang="fr-FR" sz="2400" dirty="0">
              <a:solidFill>
                <a:schemeClr val="accent2"/>
              </a:solidFill>
              <a:latin typeface="Consolas" panose="020B0609020204030204" pitchFamily="49" charset="0"/>
              <a:cs typeface="Consolas" panose="020B0609020204030204" pitchFamily="49" charset="0"/>
            </a:endParaRPr>
          </a:p>
          <a:p>
            <a:pPr marL="0" indent="0">
              <a:buFont typeface="Arial" panose="020B0604020202020204" pitchFamily="34" charset="0"/>
              <a:buNone/>
            </a:pPr>
            <a:endParaRPr lang="fr-FR" sz="2400" dirty="0"/>
          </a:p>
        </p:txBody>
      </p:sp>
      <p:sp>
        <p:nvSpPr>
          <p:cNvPr id="7" name="ZoneTexte 6">
            <a:extLst>
              <a:ext uri="{FF2B5EF4-FFF2-40B4-BE49-F238E27FC236}">
                <a16:creationId xmlns:a16="http://schemas.microsoft.com/office/drawing/2014/main" id="{AFBC9DC0-83CD-43C6-577B-B17ECB8F4323}"/>
              </a:ext>
            </a:extLst>
          </p:cNvPr>
          <p:cNvSpPr txBox="1"/>
          <p:nvPr/>
        </p:nvSpPr>
        <p:spPr>
          <a:xfrm>
            <a:off x="2098307" y="2702824"/>
            <a:ext cx="7998594" cy="923330"/>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DataOutputStream</a:t>
            </a:r>
            <a:r>
              <a:rPr lang="fr-BE" dirty="0">
                <a:latin typeface="Consolas" panose="020B0609020204030204" pitchFamily="49" charset="0"/>
                <a:cs typeface="Consolas" panose="020B0609020204030204" pitchFamily="49" charset="0"/>
              </a:rPr>
              <a:t> sortie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DataOutputStream</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BufferedOutputStream</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FileOutputStream</a:t>
            </a:r>
            <a:r>
              <a:rPr lang="fr-BE" dirty="0">
                <a:latin typeface="Consolas" panose="020B0609020204030204" pitchFamily="49" charset="0"/>
                <a:cs typeface="Consolas" panose="020B0609020204030204" pitchFamily="49" charset="0"/>
              </a:rPr>
              <a:t>(</a:t>
            </a:r>
            <a:r>
              <a:rPr lang="fr-BE" dirty="0" err="1">
                <a:latin typeface="Consolas" panose="020B0609020204030204" pitchFamily="49" charset="0"/>
                <a:cs typeface="Consolas" panose="020B0609020204030204" pitchFamily="49" charset="0"/>
              </a:rPr>
              <a:t>nomfich</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58229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Lecture: </a:t>
            </a:r>
            <a:r>
              <a:rPr lang="fr-FR" cap="none" dirty="0" err="1"/>
              <a:t>FileInputStream</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﻿De façon analogue, la classe abstraite </a:t>
            </a:r>
            <a:r>
              <a:rPr lang="fr-FR" sz="2200" dirty="0" err="1">
                <a:solidFill>
                  <a:schemeClr val="accent4"/>
                </a:solidFill>
                <a:latin typeface="Consolas" panose="020B0609020204030204" pitchFamily="49" charset="0"/>
                <a:cs typeface="Consolas" panose="020B0609020204030204" pitchFamily="49" charset="0"/>
              </a:rPr>
              <a:t>InputStream</a:t>
            </a:r>
            <a:r>
              <a:rPr lang="fr-FR" sz="2400" dirty="0"/>
              <a:t> sert de base à toutes les classes relatives à des flux binaires de lecture. La classe </a:t>
            </a:r>
            <a:r>
              <a:rPr lang="fr-FR" sz="2200" dirty="0" err="1">
                <a:solidFill>
                  <a:schemeClr val="accent4"/>
                </a:solidFill>
                <a:latin typeface="Consolas" panose="020B0609020204030204" pitchFamily="49" charset="0"/>
                <a:cs typeface="Consolas" panose="020B0609020204030204" pitchFamily="49" charset="0"/>
              </a:rPr>
              <a:t>FileInputStream</a:t>
            </a:r>
            <a:r>
              <a:rPr lang="fr-FR" sz="2400" dirty="0"/>
              <a:t>, dérivée de </a:t>
            </a:r>
            <a:r>
              <a:rPr lang="fr-FR" sz="2200" dirty="0" err="1">
                <a:solidFill>
                  <a:schemeClr val="accent4"/>
                </a:solidFill>
                <a:latin typeface="Consolas" panose="020B0609020204030204" pitchFamily="49" charset="0"/>
                <a:cs typeface="Consolas" panose="020B0609020204030204" pitchFamily="49" charset="0"/>
              </a:rPr>
              <a:t>InputStream</a:t>
            </a:r>
            <a:r>
              <a:rPr lang="fr-FR" sz="2400" dirty="0"/>
              <a:t>, permet de manipuler un flux binaire associé à un fichier en lecture. L’un de ses constructeurs s’utilise ainsi :</a:t>
            </a:r>
          </a:p>
        </p:txBody>
      </p:sp>
      <p:sp>
        <p:nvSpPr>
          <p:cNvPr id="4" name="Espace réservé du contenu 2">
            <a:extLst>
              <a:ext uri="{FF2B5EF4-FFF2-40B4-BE49-F238E27FC236}">
                <a16:creationId xmlns:a16="http://schemas.microsoft.com/office/drawing/2014/main" id="{C67AD112-6CE8-B0E1-B817-7A09D5033241}"/>
              </a:ext>
            </a:extLst>
          </p:cNvPr>
          <p:cNvSpPr txBox="1">
            <a:spLocks/>
          </p:cNvSpPr>
          <p:nvPr/>
        </p:nvSpPr>
        <p:spPr>
          <a:xfrm>
            <a:off x="838200" y="3808427"/>
            <a:ext cx="10515600" cy="23036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﻿Cette instruction associe </a:t>
            </a:r>
            <a:r>
              <a:rPr lang="fr-FR" sz="2200" dirty="0">
                <a:solidFill>
                  <a:schemeClr val="accent4"/>
                </a:solidFill>
                <a:latin typeface="Consolas" panose="020B0609020204030204" pitchFamily="49" charset="0"/>
                <a:cs typeface="Consolas" panose="020B0609020204030204" pitchFamily="49" charset="0"/>
              </a:rPr>
              <a:t>f</a:t>
            </a:r>
            <a:r>
              <a:rPr lang="fr-FR" sz="2400" dirty="0"/>
              <a:t> au fichier de nom "</a:t>
            </a:r>
            <a:r>
              <a:rPr lang="fr-FR" sz="2400" dirty="0" err="1"/>
              <a:t>entiers.dat</a:t>
            </a:r>
            <a:r>
              <a:rPr lang="fr-FR" sz="2400" dirty="0"/>
              <a:t>". </a:t>
            </a:r>
          </a:p>
          <a:p>
            <a:pPr marL="0" indent="0">
              <a:buFont typeface="Arial" panose="020B0604020202020204" pitchFamily="34" charset="0"/>
              <a:buNone/>
            </a:pPr>
            <a:r>
              <a:rPr lang="fr-FR" sz="2400" dirty="0"/>
              <a:t>S’il n’existait pas, une </a:t>
            </a:r>
            <a:r>
              <a:rPr lang="fr-FR" sz="2200" dirty="0" err="1">
                <a:solidFill>
                  <a:schemeClr val="accent4"/>
                </a:solidFill>
                <a:latin typeface="Consolas" panose="020B0609020204030204" pitchFamily="49" charset="0"/>
                <a:cs typeface="Consolas" panose="020B0609020204030204" pitchFamily="49" charset="0"/>
              </a:rPr>
              <a:t>FileNotFoundException</a:t>
            </a:r>
            <a:r>
              <a:rPr lang="fr-FR" sz="2400" dirty="0"/>
              <a:t> (dérivée de </a:t>
            </a:r>
            <a:r>
              <a:rPr lang="fr-FR" sz="2200" dirty="0" err="1">
                <a:solidFill>
                  <a:schemeClr val="accent4"/>
                </a:solidFill>
                <a:latin typeface="Consolas" panose="020B0609020204030204" pitchFamily="49" charset="0"/>
                <a:cs typeface="Consolas" panose="020B0609020204030204" pitchFamily="49" charset="0"/>
              </a:rPr>
              <a:t>IOException</a:t>
            </a:r>
            <a:r>
              <a:rPr lang="fr-FR" sz="2400" dirty="0"/>
              <a:t>) est levée. </a:t>
            </a:r>
          </a:p>
          <a:p>
            <a:pPr marL="0" indent="0">
              <a:buFont typeface="Arial" panose="020B0604020202020204" pitchFamily="34" charset="0"/>
              <a:buNone/>
            </a:pPr>
            <a:r>
              <a:rPr lang="fr-FR" sz="2400" dirty="0"/>
              <a:t>Les méthodes sur la classe </a:t>
            </a:r>
            <a:r>
              <a:rPr lang="fr-FR" sz="2200" dirty="0" err="1">
                <a:solidFill>
                  <a:schemeClr val="accent4"/>
                </a:solidFill>
                <a:latin typeface="Consolas" panose="020B0609020204030204" pitchFamily="49" charset="0"/>
                <a:cs typeface="Consolas" panose="020B0609020204030204" pitchFamily="49" charset="0"/>
              </a:rPr>
              <a:t>FileInputStream</a:t>
            </a:r>
            <a:r>
              <a:rPr lang="fr-FR" sz="2400" dirty="0"/>
              <a:t> ne permettent que de lire un octet ou un tableau d’octets depuis le fichier…</a:t>
            </a:r>
          </a:p>
        </p:txBody>
      </p:sp>
      <p:sp>
        <p:nvSpPr>
          <p:cNvPr id="7" name="ZoneTexte 6">
            <a:extLst>
              <a:ext uri="{FF2B5EF4-FFF2-40B4-BE49-F238E27FC236}">
                <a16:creationId xmlns:a16="http://schemas.microsoft.com/office/drawing/2014/main" id="{74597FCA-5042-64B9-5804-A8E7366A0E19}"/>
              </a:ext>
            </a:extLst>
          </p:cNvPr>
          <p:cNvSpPr txBox="1"/>
          <p:nvPr/>
        </p:nvSpPr>
        <p:spPr>
          <a:xfrm>
            <a:off x="2146433" y="3371628"/>
            <a:ext cx="7902342" cy="369332"/>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FileInputStream</a:t>
            </a:r>
            <a:r>
              <a:rPr lang="fr-BE" dirty="0">
                <a:latin typeface="Consolas" panose="020B0609020204030204" pitchFamily="49" charset="0"/>
                <a:cs typeface="Consolas" panose="020B0609020204030204" pitchFamily="49" charset="0"/>
              </a:rPr>
              <a:t> f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FileInputStream</a:t>
            </a:r>
            <a:r>
              <a:rPr lang="fr-BE" dirty="0">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entiers.dat</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134817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Lecture: </a:t>
            </a:r>
            <a:r>
              <a:rPr lang="fr-FR" cap="none" dirty="0" err="1"/>
              <a:t>DataInputStream</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﻿La classe </a:t>
            </a:r>
            <a:r>
              <a:rPr lang="fr-FR" sz="2200" dirty="0" err="1">
                <a:solidFill>
                  <a:schemeClr val="accent4"/>
                </a:solidFill>
                <a:latin typeface="Consolas" panose="020B0609020204030204" pitchFamily="49" charset="0"/>
                <a:cs typeface="Consolas" panose="020B0609020204030204" pitchFamily="49" charset="0"/>
              </a:rPr>
              <a:t>DataInputStream</a:t>
            </a:r>
            <a:r>
              <a:rPr lang="fr-FR" sz="2400" dirty="0"/>
              <a:t>, plus évoluée, présente un constructeur qui prend en paramètre un </a:t>
            </a:r>
            <a:r>
              <a:rPr lang="fr-FR" sz="2200" dirty="0" err="1">
                <a:solidFill>
                  <a:schemeClr val="accent4"/>
                </a:solidFill>
                <a:latin typeface="Consolas" panose="020B0609020204030204" pitchFamily="49" charset="0"/>
                <a:cs typeface="Consolas" panose="020B0609020204030204" pitchFamily="49" charset="0"/>
              </a:rPr>
              <a:t>FileInputStream</a:t>
            </a:r>
            <a:r>
              <a:rPr lang="fr-FR" sz="2400" dirty="0"/>
              <a:t>:</a:t>
            </a:r>
          </a:p>
        </p:txBody>
      </p:sp>
      <p:sp>
        <p:nvSpPr>
          <p:cNvPr id="5" name="ZoneTexte 4">
            <a:extLst>
              <a:ext uri="{FF2B5EF4-FFF2-40B4-BE49-F238E27FC236}">
                <a16:creationId xmlns:a16="http://schemas.microsoft.com/office/drawing/2014/main" id="{BBFB72AB-0471-C4A7-8A9B-92035D2BD277}"/>
              </a:ext>
            </a:extLst>
          </p:cNvPr>
          <p:cNvSpPr txBox="1"/>
          <p:nvPr/>
        </p:nvSpPr>
        <p:spPr>
          <a:xfrm>
            <a:off x="2175309" y="2679917"/>
            <a:ext cx="7844590" cy="646331"/>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FileInputStream</a:t>
            </a:r>
            <a:r>
              <a:rPr lang="fr-BE" dirty="0">
                <a:latin typeface="Consolas" panose="020B0609020204030204" pitchFamily="49" charset="0"/>
                <a:cs typeface="Consolas" panose="020B0609020204030204" pitchFamily="49" charset="0"/>
              </a:rPr>
              <a:t> f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FileInputStream</a:t>
            </a:r>
            <a:r>
              <a:rPr lang="fr-BE" dirty="0">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entiers.dat</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err="1">
                <a:latin typeface="Consolas" panose="020B0609020204030204" pitchFamily="49" charset="0"/>
                <a:cs typeface="Consolas" panose="020B0609020204030204" pitchFamily="49" charset="0"/>
              </a:rPr>
              <a:t>DataInputStream</a:t>
            </a: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entree</a:t>
            </a:r>
            <a:r>
              <a:rPr lang="fr-BE" dirty="0">
                <a:latin typeface="Consolas" panose="020B0609020204030204" pitchFamily="49" charset="0"/>
                <a:cs typeface="Consolas" panose="020B0609020204030204" pitchFamily="49" charset="0"/>
              </a:rPr>
              <a:t>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DataInputStream</a:t>
            </a:r>
            <a:r>
              <a:rPr lang="fr-BE" dirty="0">
                <a:latin typeface="Consolas" panose="020B0609020204030204" pitchFamily="49" charset="0"/>
                <a:cs typeface="Consolas" panose="020B0609020204030204" pitchFamily="49" charset="0"/>
              </a:rPr>
              <a:t>(f)</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7" name="Espace réservé du contenu 2">
            <a:extLst>
              <a:ext uri="{FF2B5EF4-FFF2-40B4-BE49-F238E27FC236}">
                <a16:creationId xmlns:a16="http://schemas.microsoft.com/office/drawing/2014/main" id="{532465AC-FA94-CF06-EF02-B732C4F056CB}"/>
              </a:ext>
            </a:extLst>
          </p:cNvPr>
          <p:cNvSpPr txBox="1">
            <a:spLocks/>
          </p:cNvSpPr>
          <p:nvPr/>
        </p:nvSpPr>
        <p:spPr>
          <a:xfrm>
            <a:off x="838200" y="3531753"/>
            <a:ext cx="10515600" cy="17435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Ceci nous donne un objet </a:t>
            </a:r>
            <a:r>
              <a:rPr lang="fr-FR" sz="2200" dirty="0" err="1">
                <a:solidFill>
                  <a:schemeClr val="accent4"/>
                </a:solidFill>
                <a:latin typeface="Consolas" panose="020B0609020204030204" pitchFamily="49" charset="0"/>
                <a:cs typeface="Consolas" panose="020B0609020204030204" pitchFamily="49" charset="0"/>
              </a:rPr>
              <a:t>entree</a:t>
            </a:r>
            <a:r>
              <a:rPr lang="fr-FR" sz="2400" dirty="0"/>
              <a:t> sur lequel nous disposerons de méthodes qui permettent d’y lire des valeurs d’un type </a:t>
            </a:r>
            <a:r>
              <a:rPr lang="fr-FR" sz="2400" dirty="0">
                <a:solidFill>
                  <a:schemeClr val="accent4"/>
                </a:solidFill>
              </a:rPr>
              <a:t>primitif</a:t>
            </a:r>
            <a:r>
              <a:rPr lang="fr-FR" sz="2400" dirty="0"/>
              <a:t>: </a:t>
            </a:r>
          </a:p>
          <a:p>
            <a:r>
              <a:rPr lang="fr-FR" sz="2200" dirty="0" err="1">
                <a:solidFill>
                  <a:schemeClr val="accent4"/>
                </a:solidFill>
                <a:latin typeface="Consolas" panose="020B0609020204030204" pitchFamily="49" charset="0"/>
                <a:cs typeface="Consolas" panose="020B0609020204030204" pitchFamily="49" charset="0"/>
              </a:rPr>
              <a:t>readInt</a:t>
            </a:r>
            <a:r>
              <a:rPr lang="fr-FR" sz="2400" dirty="0"/>
              <a:t> (pour un </a:t>
            </a:r>
            <a:r>
              <a:rPr lang="fr-FR" sz="2200" dirty="0" err="1">
                <a:solidFill>
                  <a:schemeClr val="accent4"/>
                </a:solidFill>
                <a:latin typeface="Consolas" panose="020B0609020204030204" pitchFamily="49" charset="0"/>
                <a:cs typeface="Consolas" panose="020B0609020204030204" pitchFamily="49" charset="0"/>
              </a:rPr>
              <a:t>int</a:t>
            </a:r>
            <a:r>
              <a:rPr lang="fr-FR" sz="2400" dirty="0"/>
              <a:t>), </a:t>
            </a:r>
            <a:r>
              <a:rPr lang="fr-FR" sz="2200" dirty="0" err="1">
                <a:solidFill>
                  <a:schemeClr val="accent4"/>
                </a:solidFill>
                <a:latin typeface="Consolas" panose="020B0609020204030204" pitchFamily="49" charset="0"/>
                <a:cs typeface="Consolas" panose="020B0609020204030204" pitchFamily="49" charset="0"/>
              </a:rPr>
              <a:t>readFloat</a:t>
            </a:r>
            <a:r>
              <a:rPr lang="fr-FR" sz="2400" dirty="0"/>
              <a:t>,...</a:t>
            </a:r>
          </a:p>
          <a:p>
            <a:pPr marL="0" indent="0">
              <a:buFont typeface="Arial" panose="020B0604020202020204" pitchFamily="34" charset="0"/>
              <a:buNone/>
            </a:pPr>
            <a:endParaRPr lang="fr-FR" sz="2400" dirty="0"/>
          </a:p>
          <a:p>
            <a:pPr marL="0" indent="0">
              <a:buFont typeface="Arial" panose="020B0604020202020204" pitchFamily="34" charset="0"/>
              <a:buNone/>
            </a:pPr>
            <a:endParaRPr lang="fr-FR" sz="2400" dirty="0"/>
          </a:p>
          <a:p>
            <a:pPr marL="0" indent="0">
              <a:buFont typeface="Arial" panose="020B0604020202020204" pitchFamily="34" charset="0"/>
              <a:buNone/>
            </a:pPr>
            <a:endParaRPr lang="fr-FR" sz="2400" dirty="0"/>
          </a:p>
        </p:txBody>
      </p:sp>
    </p:spTree>
    <p:extLst>
      <p:ext uri="{BB962C8B-B14F-4D97-AF65-F5344CB8AC3E}">
        <p14:creationId xmlns:p14="http://schemas.microsoft.com/office/powerpoint/2010/main" val="91808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Exemple</a:t>
            </a:r>
            <a:endParaRPr lang="fr-FR" dirty="0"/>
          </a:p>
        </p:txBody>
      </p:sp>
      <p:sp>
        <p:nvSpPr>
          <p:cNvPr id="3" name="Rectangle 2">
            <a:extLst>
              <a:ext uri="{FF2B5EF4-FFF2-40B4-BE49-F238E27FC236}">
                <a16:creationId xmlns:a16="http://schemas.microsoft.com/office/drawing/2014/main" id="{1F4E8130-1A81-D843-81F1-F59E0FB80E11}"/>
              </a:ext>
            </a:extLst>
          </p:cNvPr>
          <p:cNvSpPr/>
          <p:nvPr/>
        </p:nvSpPr>
        <p:spPr>
          <a:xfrm>
            <a:off x="3444241" y="582067"/>
            <a:ext cx="7831689" cy="5909310"/>
          </a:xfrm>
          <a:prstGeom prst="rect">
            <a:avLst/>
          </a:prstGeom>
          <a:solidFill>
            <a:schemeClr val="bg1">
              <a:lumMod val="95000"/>
            </a:schemeClr>
          </a:solidFill>
        </p:spPr>
        <p:txBody>
          <a:bodyPr wrap="square">
            <a:spAutoFit/>
          </a:bodyPr>
          <a:lstStyle/>
          <a:p>
            <a:r>
              <a:rPr lang="fr-BE" sz="1400" dirty="0">
                <a:solidFill>
                  <a:srgbClr val="CC7832"/>
                </a:solidFill>
                <a:latin typeface="Consolas" panose="020B0609020204030204" pitchFamily="49" charset="0"/>
                <a:cs typeface="Consolas" panose="020B0609020204030204" pitchFamily="49" charset="0"/>
              </a:rPr>
              <a:t>import </a:t>
            </a:r>
            <a:r>
              <a:rPr lang="fr-BE" sz="1400" dirty="0" err="1">
                <a:latin typeface="Consolas" panose="020B0609020204030204" pitchFamily="49" charset="0"/>
                <a:cs typeface="Consolas" panose="020B0609020204030204" pitchFamily="49" charset="0"/>
              </a:rPr>
              <a:t>java.io</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public class </a:t>
            </a:r>
            <a:r>
              <a:rPr lang="fr-BE" sz="1400" dirty="0" err="1">
                <a:latin typeface="Consolas" panose="020B0609020204030204" pitchFamily="49" charset="0"/>
                <a:cs typeface="Consolas" panose="020B0609020204030204" pitchFamily="49" charset="0"/>
              </a:rPr>
              <a:t>LectureFichierBinaire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public </a:t>
            </a:r>
            <a:r>
              <a:rPr lang="fr-BE" sz="1400" dirty="0" err="1">
                <a:solidFill>
                  <a:srgbClr val="CC7832"/>
                </a:solidFill>
                <a:latin typeface="Consolas" panose="020B0609020204030204" pitchFamily="49" charset="0"/>
                <a:cs typeface="Consolas" panose="020B0609020204030204" pitchFamily="49" charset="0"/>
              </a:rPr>
              <a:t>static</a:t>
            </a:r>
            <a:r>
              <a:rPr lang="fr-BE" sz="1400" dirty="0">
                <a:solidFill>
                  <a:srgbClr val="CC7832"/>
                </a:solidFill>
                <a:latin typeface="Consolas" panose="020B0609020204030204" pitchFamily="49" charset="0"/>
                <a:cs typeface="Consolas" panose="020B0609020204030204" pitchFamily="49" charset="0"/>
              </a:rPr>
              <a:t> </a:t>
            </a:r>
            <a:r>
              <a:rPr lang="fr-BE" sz="1400" dirty="0" err="1">
                <a:solidFill>
                  <a:srgbClr val="CC7832"/>
                </a:solidFill>
                <a:latin typeface="Consolas" panose="020B0609020204030204" pitchFamily="49" charset="0"/>
                <a:cs typeface="Consolas" panose="020B0609020204030204" pitchFamily="49" charset="0"/>
              </a:rPr>
              <a:t>void</a:t>
            </a:r>
            <a:r>
              <a:rPr lang="fr-BE" sz="1400" dirty="0">
                <a:solidFill>
                  <a:srgbClr val="CC7832"/>
                </a:solidFill>
                <a:latin typeface="Consolas" panose="020B0609020204030204" pitchFamily="49" charset="0"/>
                <a:cs typeface="Consolas" panose="020B0609020204030204" pitchFamily="49" charset="0"/>
              </a:rPr>
              <a:t> </a:t>
            </a:r>
            <a:r>
              <a:rPr lang="fr-BE" sz="1400" dirty="0">
                <a:solidFill>
                  <a:srgbClr val="FFC66D"/>
                </a:solidFill>
                <a:latin typeface="Consolas" panose="020B0609020204030204" pitchFamily="49" charset="0"/>
                <a:cs typeface="Consolas" panose="020B0609020204030204" pitchFamily="49" charset="0"/>
              </a:rPr>
              <a:t>main</a:t>
            </a:r>
            <a:r>
              <a:rPr lang="fr-BE" sz="1400" dirty="0">
                <a:latin typeface="Consolas" panose="020B0609020204030204" pitchFamily="49" charset="0"/>
                <a:cs typeface="Consolas" panose="020B0609020204030204" pitchFamily="49" charset="0"/>
              </a:rPr>
              <a:t>(String args[]) </a:t>
            </a:r>
            <a:r>
              <a:rPr lang="fr-BE" sz="1400" dirty="0" err="1">
                <a:solidFill>
                  <a:srgbClr val="CC7832"/>
                </a:solidFill>
                <a:latin typeface="Consolas" panose="020B0609020204030204" pitchFamily="49" charset="0"/>
                <a:cs typeface="Consolas" panose="020B0609020204030204" pitchFamily="49" charset="0"/>
              </a:rPr>
              <a:t>throws</a:t>
            </a: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IOException</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String </a:t>
            </a:r>
            <a:r>
              <a:rPr lang="fr-BE" sz="1400" dirty="0" err="1">
                <a:latin typeface="Consolas" panose="020B0609020204030204" pitchFamily="49" charset="0"/>
                <a:cs typeface="Consolas" panose="020B0609020204030204" pitchFamily="49" charset="0"/>
              </a:rPr>
              <a:t>nomfich</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solidFill>
                  <a:srgbClr val="CC7832"/>
                </a:solidFill>
                <a:latin typeface="Consolas" panose="020B0609020204030204" pitchFamily="49" charset="0"/>
                <a:cs typeface="Consolas" panose="020B0609020204030204" pitchFamily="49" charset="0"/>
              </a:rPr>
              <a:t>int</a:t>
            </a: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n = </a:t>
            </a:r>
            <a:r>
              <a:rPr lang="fr-BE" sz="1400" dirty="0">
                <a:solidFill>
                  <a:srgbClr val="6897BB"/>
                </a:solidFill>
                <a:latin typeface="Consolas" panose="020B0609020204030204" pitchFamily="49" charset="0"/>
                <a:cs typeface="Consolas" panose="020B0609020204030204" pitchFamily="49" charset="0"/>
              </a:rPr>
              <a:t>0</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a:t>
            </a:r>
            <a:r>
              <a:rPr lang="fr-BE" sz="1400" dirty="0">
                <a:latin typeface="Consolas" panose="020B0609020204030204" pitchFamily="49" charset="0"/>
                <a:cs typeface="Consolas" panose="020B0609020204030204" pitchFamily="49" charset="0"/>
              </a:rPr>
              <a:t>(</a:t>
            </a:r>
            <a:r>
              <a:rPr lang="fr-BE" sz="1400" dirty="0">
                <a:solidFill>
                  <a:srgbClr val="6A8759"/>
                </a:solidFill>
                <a:latin typeface="Consolas" panose="020B0609020204030204" pitchFamily="49" charset="0"/>
                <a:cs typeface="Consolas" panose="020B0609020204030204" pitchFamily="49" charset="0"/>
              </a:rPr>
              <a:t>"donnez le nom du fichier à lire : "</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nomfich</a:t>
            </a:r>
            <a:r>
              <a:rPr lang="fr-BE" sz="1400" dirty="0">
                <a:latin typeface="Consolas" panose="020B0609020204030204" pitchFamily="49" charset="0"/>
                <a:cs typeface="Consolas" panose="020B0609020204030204" pitchFamily="49" charset="0"/>
              </a:rPr>
              <a:t> = </a:t>
            </a:r>
            <a:r>
              <a:rPr lang="fr-BE" sz="1400" dirty="0" err="1">
                <a:latin typeface="Consolas" panose="020B0609020204030204" pitchFamily="49" charset="0"/>
                <a:cs typeface="Consolas" panose="020B0609020204030204" pitchFamily="49" charset="0"/>
              </a:rPr>
              <a:t>Clavier.</a:t>
            </a:r>
            <a:r>
              <a:rPr lang="fr-BE" sz="1400" i="1" dirty="0" err="1">
                <a:latin typeface="Consolas" panose="020B0609020204030204" pitchFamily="49" charset="0"/>
                <a:cs typeface="Consolas" panose="020B0609020204030204" pitchFamily="49" charset="0"/>
              </a:rPr>
              <a:t>lireString</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DataInputStream</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entree</a:t>
            </a:r>
            <a:r>
              <a:rPr lang="fr-BE" sz="1400" dirty="0">
                <a:latin typeface="Consolas" panose="020B0609020204030204" pitchFamily="49" charset="0"/>
                <a:cs typeface="Consolas" panose="020B0609020204030204" pitchFamily="49" charset="0"/>
              </a:rPr>
              <a:t> = </a:t>
            </a:r>
            <a:r>
              <a:rPr lang="fr-BE" sz="1400" dirty="0">
                <a:solidFill>
                  <a:srgbClr val="CC7832"/>
                </a:solidFill>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DataInputStream</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FileInputStream</a:t>
            </a:r>
            <a:r>
              <a:rPr lang="fr-BE" sz="1400" dirty="0">
                <a:latin typeface="Consolas" panose="020B0609020204030204" pitchFamily="49" charset="0"/>
                <a:cs typeface="Consolas" panose="020B0609020204030204" pitchFamily="49" charset="0"/>
              </a:rPr>
              <a:t>(</a:t>
            </a:r>
            <a:r>
              <a:rPr lang="fr-BE" sz="1400" dirty="0" err="1">
                <a:latin typeface="Consolas" panose="020B0609020204030204" pitchFamily="49" charset="0"/>
                <a:cs typeface="Consolas" panose="020B0609020204030204" pitchFamily="49" charset="0"/>
              </a:rPr>
              <a:t>nomfich</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latin typeface="Consolas" panose="020B0609020204030204" pitchFamily="49" charset="0"/>
                <a:cs typeface="Consolas" panose="020B0609020204030204" pitchFamily="49" charset="0"/>
              </a:rPr>
              <a:t>"valeurs lues dans le fichier " </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nomfich</a:t>
            </a:r>
            <a:r>
              <a:rPr lang="fr-BE" sz="1400" dirty="0">
                <a:latin typeface="Consolas" panose="020B0609020204030204" pitchFamily="49" charset="0"/>
                <a:cs typeface="Consolas" panose="020B0609020204030204" pitchFamily="49" charset="0"/>
              </a:rPr>
              <a:t> + </a:t>
            </a:r>
            <a:r>
              <a:rPr lang="fr-BE" sz="1400" dirty="0">
                <a:solidFill>
                  <a:srgbClr val="6A8759"/>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solidFill>
                  <a:srgbClr val="CC7832"/>
                </a:solidFill>
                <a:latin typeface="Consolas" panose="020B0609020204030204" pitchFamily="49" charset="0"/>
                <a:cs typeface="Consolas" panose="020B0609020204030204" pitchFamily="49" charset="0"/>
              </a:rPr>
              <a:t>boolean</a:t>
            </a: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eof</a:t>
            </a:r>
            <a:r>
              <a:rPr lang="fr-BE" sz="1400" dirty="0">
                <a:latin typeface="Consolas" panose="020B0609020204030204" pitchFamily="49" charset="0"/>
                <a:cs typeface="Consolas" panose="020B0609020204030204" pitchFamily="49" charset="0"/>
              </a:rPr>
              <a:t> = </a:t>
            </a:r>
            <a:r>
              <a:rPr lang="fr-BE" sz="1400" dirty="0">
                <a:solidFill>
                  <a:srgbClr val="CC7832"/>
                </a:solidFill>
                <a:latin typeface="Consolas" panose="020B0609020204030204" pitchFamily="49" charset="0"/>
                <a:cs typeface="Consolas" panose="020B0609020204030204" pitchFamily="49" charset="0"/>
              </a:rPr>
              <a:t>false;  </a:t>
            </a:r>
            <a:r>
              <a:rPr lang="fr-BE" sz="1400" dirty="0">
                <a:solidFill>
                  <a:srgbClr val="808080"/>
                </a:solidFill>
                <a:latin typeface="Consolas" panose="020B0609020204030204" pitchFamily="49" charset="0"/>
                <a:cs typeface="Consolas" panose="020B0609020204030204" pitchFamily="49" charset="0"/>
              </a:rPr>
              <a:t>// sera mis a </a:t>
            </a:r>
            <a:r>
              <a:rPr lang="fr-BE" sz="1400" dirty="0" err="1">
                <a:solidFill>
                  <a:srgbClr val="808080"/>
                </a:solidFill>
                <a:latin typeface="Consolas" panose="020B0609020204030204" pitchFamily="49" charset="0"/>
                <a:cs typeface="Consolas" panose="020B0609020204030204" pitchFamily="49" charset="0"/>
              </a:rPr>
              <a:t>true</a:t>
            </a:r>
            <a:r>
              <a:rPr lang="fr-BE" sz="1400" dirty="0">
                <a:solidFill>
                  <a:srgbClr val="808080"/>
                </a:solidFill>
                <a:latin typeface="Consolas" panose="020B0609020204030204" pitchFamily="49" charset="0"/>
                <a:cs typeface="Consolas" panose="020B0609020204030204" pitchFamily="49" charset="0"/>
              </a:rPr>
              <a:t> par exception </a:t>
            </a:r>
            <a:r>
              <a:rPr lang="fr-BE" sz="1400" dirty="0" err="1">
                <a:solidFill>
                  <a:srgbClr val="808080"/>
                </a:solidFill>
                <a:latin typeface="Consolas" panose="020B0609020204030204" pitchFamily="49" charset="0"/>
                <a:cs typeface="Consolas" panose="020B0609020204030204" pitchFamily="49" charset="0"/>
              </a:rPr>
              <a:t>EOFile</a:t>
            </a:r>
            <a:br>
              <a:rPr lang="fr-BE" sz="1400" dirty="0">
                <a:solidFill>
                  <a:srgbClr val="808080"/>
                </a:solidFill>
                <a:latin typeface="Consolas" panose="020B0609020204030204" pitchFamily="49" charset="0"/>
                <a:cs typeface="Consolas" panose="020B0609020204030204" pitchFamily="49" charset="0"/>
              </a:rPr>
            </a:br>
            <a:endParaRPr lang="fr-BE" sz="1400" dirty="0">
              <a:solidFill>
                <a:srgbClr val="808080"/>
              </a:solidFill>
              <a:latin typeface="Consolas" panose="020B0609020204030204" pitchFamily="49" charset="0"/>
              <a:cs typeface="Consolas" panose="020B0609020204030204" pitchFamily="49" charset="0"/>
            </a:endParaRPr>
          </a:p>
          <a:p>
            <a:r>
              <a:rPr lang="fr-BE" sz="1400" dirty="0">
                <a:solidFill>
                  <a:srgbClr val="808080"/>
                </a:solidFill>
                <a:latin typeface="Consolas" panose="020B0609020204030204" pitchFamily="49" charset="0"/>
                <a:cs typeface="Consolas" panose="020B0609020204030204" pitchFamily="49" charset="0"/>
              </a:rPr>
              <a:t>        </a:t>
            </a:r>
            <a:r>
              <a:rPr lang="fr-BE" sz="1400" dirty="0" err="1">
                <a:solidFill>
                  <a:srgbClr val="CC7832"/>
                </a:solidFill>
                <a:latin typeface="Consolas" panose="020B0609020204030204" pitchFamily="49" charset="0"/>
                <a:cs typeface="Consolas" panose="020B0609020204030204" pitchFamily="49" charset="0"/>
              </a:rPr>
              <a:t>while</a:t>
            </a: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r>
              <a:rPr lang="fr-BE" sz="1400" dirty="0" err="1">
                <a:latin typeface="Consolas" panose="020B0609020204030204" pitchFamily="49" charset="0"/>
                <a:cs typeface="Consolas" panose="020B0609020204030204" pitchFamily="49" charset="0"/>
              </a:rPr>
              <a:t>eof</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latin typeface="Consolas" panose="020B0609020204030204" pitchFamily="49" charset="0"/>
                <a:cs typeface="Consolas" panose="020B0609020204030204" pitchFamily="49" charset="0"/>
              </a:rPr>
              <a:t>try</a:t>
            </a: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n = </a:t>
            </a:r>
            <a:r>
              <a:rPr lang="fr-BE" sz="1400" dirty="0" err="1">
                <a:latin typeface="Consolas" panose="020B0609020204030204" pitchFamily="49" charset="0"/>
                <a:cs typeface="Consolas" panose="020B0609020204030204" pitchFamily="49" charset="0"/>
              </a:rPr>
              <a:t>entree.readInt</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catch </a:t>
            </a:r>
            <a:r>
              <a:rPr lang="fr-BE" sz="1400" dirty="0">
                <a:latin typeface="Consolas" panose="020B0609020204030204" pitchFamily="49" charset="0"/>
                <a:cs typeface="Consolas" panose="020B0609020204030204" pitchFamily="49" charset="0"/>
              </a:rPr>
              <a:t>(</a:t>
            </a:r>
            <a:r>
              <a:rPr lang="fr-BE" sz="1400" dirty="0" err="1">
                <a:latin typeface="Consolas" panose="020B0609020204030204" pitchFamily="49" charset="0"/>
                <a:cs typeface="Consolas" panose="020B0609020204030204" pitchFamily="49" charset="0"/>
              </a:rPr>
              <a:t>EOFException</a:t>
            </a:r>
            <a:r>
              <a:rPr lang="fr-BE" sz="1400" dirty="0">
                <a:latin typeface="Consolas" panose="020B0609020204030204" pitchFamily="49" charset="0"/>
                <a:cs typeface="Consolas" panose="020B0609020204030204" pitchFamily="49" charset="0"/>
              </a:rPr>
              <a:t> e)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eof</a:t>
            </a:r>
            <a:r>
              <a:rPr lang="fr-BE" sz="1400" dirty="0">
                <a:latin typeface="Consolas" panose="020B0609020204030204" pitchFamily="49" charset="0"/>
                <a:cs typeface="Consolas" panose="020B0609020204030204" pitchFamily="49" charset="0"/>
              </a:rPr>
              <a:t> = </a:t>
            </a:r>
            <a:r>
              <a:rPr lang="fr-BE" sz="1400" dirty="0" err="1">
                <a:solidFill>
                  <a:srgbClr val="CC7832"/>
                </a:solidFill>
                <a:latin typeface="Consolas" panose="020B0609020204030204" pitchFamily="49" charset="0"/>
                <a:cs typeface="Consolas" panose="020B0609020204030204" pitchFamily="49" charset="0"/>
              </a:rPr>
              <a:t>true</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if </a:t>
            </a:r>
            <a:r>
              <a:rPr lang="fr-BE" sz="1400" dirty="0">
                <a:latin typeface="Consolas" panose="020B0609020204030204" pitchFamily="49" charset="0"/>
                <a:cs typeface="Consolas" panose="020B0609020204030204" pitchFamily="49" charset="0"/>
              </a:rPr>
              <a:t>(!</a:t>
            </a:r>
            <a:r>
              <a:rPr lang="fr-BE" sz="1400" dirty="0" err="1">
                <a:latin typeface="Consolas" panose="020B0609020204030204" pitchFamily="49" charset="0"/>
                <a:cs typeface="Consolas" panose="020B0609020204030204" pitchFamily="49" charset="0"/>
              </a:rPr>
              <a:t>eof</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(n)</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endParaRPr lang="fr-BE" sz="1400" dirty="0">
              <a:latin typeface="Consolas" panose="020B0609020204030204" pitchFamily="49" charset="0"/>
              <a:cs typeface="Consolas" panose="020B0609020204030204" pitchFamily="49" charset="0"/>
            </a:endParaRPr>
          </a:p>
          <a:p>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entree.close</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latin typeface="Consolas" panose="020B0609020204030204" pitchFamily="49" charset="0"/>
                <a:cs typeface="Consolas" panose="020B0609020204030204" pitchFamily="49" charset="0"/>
              </a:rPr>
              <a:t>"*** fin liste fichier ***"</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9" name="Rectangle avec flèche vers la gauche 8">
            <a:extLst>
              <a:ext uri="{FF2B5EF4-FFF2-40B4-BE49-F238E27FC236}">
                <a16:creationId xmlns:a16="http://schemas.microsoft.com/office/drawing/2014/main" id="{8359FE3B-913D-4148-AB56-3299496DFDD4}"/>
              </a:ext>
            </a:extLst>
          </p:cNvPr>
          <p:cNvSpPr/>
          <p:nvPr/>
        </p:nvSpPr>
        <p:spPr>
          <a:xfrm>
            <a:off x="7360085" y="4111594"/>
            <a:ext cx="3583695" cy="533323"/>
          </a:xfrm>
          <a:prstGeom prst="leftArrowCallout">
            <a:avLst>
              <a:gd name="adj1" fmla="val 25000"/>
              <a:gd name="adj2" fmla="val 25000"/>
              <a:gd name="adj3" fmla="val 25000"/>
              <a:gd name="adj4" fmla="val 899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La </a:t>
            </a:r>
            <a:r>
              <a:rPr lang="fr-FR" sz="1400" dirty="0" err="1">
                <a:solidFill>
                  <a:schemeClr val="tx1"/>
                </a:solidFill>
              </a:rPr>
              <a:t>EOFException</a:t>
            </a:r>
            <a:r>
              <a:rPr lang="fr-FR" sz="1400" dirty="0">
                <a:solidFill>
                  <a:schemeClr val="tx1"/>
                </a:solidFill>
              </a:rPr>
              <a:t> permet de savoir qu’on est arrivé au bout du fichier…</a:t>
            </a:r>
          </a:p>
        </p:txBody>
      </p:sp>
    </p:spTree>
    <p:extLst>
      <p:ext uri="{BB962C8B-B14F-4D97-AF65-F5344CB8AC3E}">
        <p14:creationId xmlns:p14="http://schemas.microsoft.com/office/powerpoint/2010/main" val="3094011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ppt_x</p:attrName>
                                        </p:attrNameLst>
                                      </p:cBhvr>
                                      <p:tavLst>
                                        <p:tav tm="0">
                                          <p:val>
                                            <p:strVal val="#ppt_x+#ppt_w*1.125000"/>
                                          </p:val>
                                        </p:tav>
                                        <p:tav tm="100000">
                                          <p:val>
                                            <p:strVal val="#ppt_x"/>
                                          </p:val>
                                        </p:tav>
                                      </p:tavLst>
                                    </p:anim>
                                    <p:animEffect transition="in" filter="wipe(lef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Lecture: </a:t>
            </a:r>
            <a:r>
              <a:rPr lang="fr-FR" cap="none" dirty="0" err="1"/>
              <a:t>BufferedInputStream</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﻿Il est aussi possible de doter notre </a:t>
            </a:r>
            <a:r>
              <a:rPr lang="fr-FR" sz="2200" dirty="0" err="1">
                <a:solidFill>
                  <a:schemeClr val="accent4"/>
                </a:solidFill>
                <a:latin typeface="Consolas" panose="020B0609020204030204" pitchFamily="49" charset="0"/>
                <a:cs typeface="Consolas" panose="020B0609020204030204" pitchFamily="49" charset="0"/>
              </a:rPr>
              <a:t>FileInputStream</a:t>
            </a:r>
            <a:r>
              <a:rPr lang="fr-FR" sz="2400" dirty="0"/>
              <a:t> d’un tampon en créant un objet </a:t>
            </a:r>
            <a:r>
              <a:rPr lang="fr-FR" sz="2200" dirty="0" err="1">
                <a:solidFill>
                  <a:schemeClr val="accent4"/>
                </a:solidFill>
                <a:latin typeface="Consolas" panose="020B0609020204030204" pitchFamily="49" charset="0"/>
                <a:cs typeface="Consolas" panose="020B0609020204030204" pitchFamily="49" charset="0"/>
              </a:rPr>
              <a:t>BufferedInputStream</a:t>
            </a:r>
            <a:r>
              <a:rPr lang="fr-FR" sz="2400" dirty="0"/>
              <a:t>: </a:t>
            </a:r>
          </a:p>
        </p:txBody>
      </p:sp>
      <p:sp>
        <p:nvSpPr>
          <p:cNvPr id="5" name="ZoneTexte 4">
            <a:extLst>
              <a:ext uri="{FF2B5EF4-FFF2-40B4-BE49-F238E27FC236}">
                <a16:creationId xmlns:a16="http://schemas.microsoft.com/office/drawing/2014/main" id="{49F98AE6-B31D-B13F-A7FC-FB09F2D9846E}"/>
              </a:ext>
            </a:extLst>
          </p:cNvPr>
          <p:cNvSpPr txBox="1"/>
          <p:nvPr/>
        </p:nvSpPr>
        <p:spPr>
          <a:xfrm>
            <a:off x="2079056" y="2845680"/>
            <a:ext cx="8037096" cy="923330"/>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DataInputStream</a:t>
            </a:r>
            <a:r>
              <a:rPr lang="fr-BE" dirty="0">
                <a:latin typeface="Consolas" panose="020B0609020204030204" pitchFamily="49" charset="0"/>
                <a:cs typeface="Consolas" panose="020B0609020204030204" pitchFamily="49" charset="0"/>
              </a:rPr>
              <a:t> sortie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DataInputStream</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BufferedInputStream</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FileInputStream</a:t>
            </a: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nomfich</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740584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623A844-D99A-4C25-7508-01E7C24E1ECE}"/>
              </a:ext>
            </a:extLst>
          </p:cNvPr>
          <p:cNvSpPr>
            <a:spLocks noGrp="1"/>
          </p:cNvSpPr>
          <p:nvPr>
            <p:ph type="title"/>
          </p:nvPr>
        </p:nvSpPr>
        <p:spPr/>
        <p:txBody>
          <a:bodyPr/>
          <a:lstStyle/>
          <a:p>
            <a:r>
              <a:rPr lang="fr-FR" dirty="0"/>
              <a:t>Flux et Fichiers</a:t>
            </a:r>
          </a:p>
        </p:txBody>
      </p:sp>
      <p:sp>
        <p:nvSpPr>
          <p:cNvPr id="5" name="Espace réservé du texte 4">
            <a:extLst>
              <a:ext uri="{FF2B5EF4-FFF2-40B4-BE49-F238E27FC236}">
                <a16:creationId xmlns:a16="http://schemas.microsoft.com/office/drawing/2014/main" id="{8FF3C52D-9BBC-4F49-9D54-D2ADCEE441D4}"/>
              </a:ext>
            </a:extLst>
          </p:cNvPr>
          <p:cNvSpPr>
            <a:spLocks noGrp="1"/>
          </p:cNvSpPr>
          <p:nvPr>
            <p:ph idx="1"/>
          </p:nvPr>
        </p:nvSpPr>
        <p:spPr/>
        <p:txBody>
          <a:bodyPr/>
          <a:lstStyle/>
          <a:p>
            <a:r>
              <a:rPr lang="fr-FR" dirty="0"/>
              <a:t>La notion de Flux (Stream)</a:t>
            </a:r>
          </a:p>
          <a:p>
            <a:r>
              <a:rPr lang="fr-FR" dirty="0"/>
              <a:t>Flux Binaires</a:t>
            </a:r>
          </a:p>
          <a:p>
            <a:r>
              <a:rPr lang="fr-FR" dirty="0">
                <a:solidFill>
                  <a:schemeClr val="accent4"/>
                </a:solidFill>
              </a:rPr>
              <a:t>Accès Direct</a:t>
            </a:r>
          </a:p>
          <a:p>
            <a:r>
              <a:rPr lang="fr-FR" dirty="0"/>
              <a:t>Flux de Texte</a:t>
            </a:r>
          </a:p>
          <a:p>
            <a:r>
              <a:rPr lang="fr-FR" dirty="0"/>
              <a:t>Flux d’Objets</a:t>
            </a:r>
          </a:p>
          <a:p>
            <a:r>
              <a:rPr lang="fr-FR" dirty="0"/>
              <a:t>File et Path</a:t>
            </a:r>
          </a:p>
          <a:p>
            <a:endParaRPr lang="fr-FR" dirty="0"/>
          </a:p>
          <a:p>
            <a:endParaRPr lang="fr-FR" dirty="0"/>
          </a:p>
        </p:txBody>
      </p:sp>
      <p:pic>
        <p:nvPicPr>
          <p:cNvPr id="3" name="Picture 2" descr="Fichier de prospection: comment prospecter efficacement">
            <a:extLst>
              <a:ext uri="{FF2B5EF4-FFF2-40B4-BE49-F238E27FC236}">
                <a16:creationId xmlns:a16="http://schemas.microsoft.com/office/drawing/2014/main" id="{B43D96DF-B000-CD3A-9F76-31897FF421A4}"/>
              </a:ext>
            </a:extLst>
          </p:cNvPr>
          <p:cNvPicPr>
            <a:picLocks noChangeAspect="1" noChangeArrowheads="1"/>
          </p:cNvPicPr>
          <p:nvPr/>
        </p:nvPicPr>
        <p:blipFill rotWithShape="1">
          <a:blip>
            <a:extLst>
              <a:ext uri="{28A0092B-C50C-407E-A947-70E740481C1C}">
                <a14:useLocalDpi xmlns:a14="http://schemas.microsoft.com/office/drawing/2010/main" val="0"/>
              </a:ext>
            </a:extLst>
          </a:blip>
          <a:srcRect b="39565"/>
          <a:stretch/>
        </p:blipFill>
        <p:spPr bwMode="auto">
          <a:xfrm>
            <a:off x="5455777" y="2667001"/>
            <a:ext cx="5701307"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6248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Accès Direct: </a:t>
            </a:r>
            <a:r>
              <a:rPr lang="fr-FR" cap="none" dirty="0" err="1"/>
              <a:t>RandomAccessFile</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﻿La classe </a:t>
            </a:r>
            <a:r>
              <a:rPr lang="fr-FR" sz="2200" dirty="0" err="1">
                <a:solidFill>
                  <a:schemeClr val="accent4"/>
                </a:solidFill>
                <a:latin typeface="Consolas" panose="020B0609020204030204" pitchFamily="49" charset="0"/>
                <a:cs typeface="Consolas" panose="020B0609020204030204" pitchFamily="49" charset="0"/>
              </a:rPr>
              <a:t>RandomAccessFile</a:t>
            </a:r>
            <a:r>
              <a:rPr lang="fr-FR" sz="2400" dirty="0"/>
              <a:t> permet d’accéder à un fichier en accès direct, et dispose des même méthodes que </a:t>
            </a:r>
            <a:r>
              <a:rPr lang="fr-FR" sz="2200" dirty="0" err="1">
                <a:solidFill>
                  <a:schemeClr val="accent4"/>
                </a:solidFill>
                <a:latin typeface="Consolas" panose="020B0609020204030204" pitchFamily="49" charset="0"/>
                <a:cs typeface="Consolas" panose="020B0609020204030204" pitchFamily="49" charset="0"/>
              </a:rPr>
              <a:t>DataInputStream</a:t>
            </a:r>
            <a:r>
              <a:rPr lang="fr-FR" sz="2400" dirty="0"/>
              <a:t> et </a:t>
            </a:r>
            <a:r>
              <a:rPr lang="fr-FR" sz="2200" dirty="0" err="1">
                <a:solidFill>
                  <a:schemeClr val="accent4"/>
                </a:solidFill>
                <a:latin typeface="Consolas" panose="020B0609020204030204" pitchFamily="49" charset="0"/>
                <a:cs typeface="Consolas" panose="020B0609020204030204" pitchFamily="49" charset="0"/>
              </a:rPr>
              <a:t>DataOutputStream</a:t>
            </a:r>
            <a:r>
              <a:rPr lang="fr-FR" sz="2400" dirty="0"/>
              <a:t>: </a:t>
            </a:r>
            <a:r>
              <a:rPr lang="fr-FR" sz="2200" dirty="0" err="1">
                <a:solidFill>
                  <a:schemeClr val="accent4"/>
                </a:solidFill>
                <a:latin typeface="Consolas" panose="020B0609020204030204" pitchFamily="49" charset="0"/>
                <a:cs typeface="Consolas" panose="020B0609020204030204" pitchFamily="49" charset="0"/>
              </a:rPr>
              <a:t>readInt</a:t>
            </a:r>
            <a:r>
              <a:rPr lang="fr-FR" sz="2400" dirty="0"/>
              <a:t>, … et </a:t>
            </a:r>
            <a:r>
              <a:rPr lang="fr-FR" sz="2200" dirty="0" err="1">
                <a:solidFill>
                  <a:schemeClr val="accent4"/>
                </a:solidFill>
                <a:latin typeface="Consolas" panose="020B0609020204030204" pitchFamily="49" charset="0"/>
                <a:cs typeface="Consolas" panose="020B0609020204030204" pitchFamily="49" charset="0"/>
              </a:rPr>
              <a:t>writeInt</a:t>
            </a:r>
            <a:r>
              <a:rPr lang="fr-FR" sz="2400" dirty="0"/>
              <a:t>,…</a:t>
            </a:r>
          </a:p>
          <a:p>
            <a:pPr marL="0" indent="0">
              <a:buNone/>
            </a:pPr>
            <a:endParaRPr lang="fr-FR" sz="2400" dirty="0"/>
          </a:p>
          <a:p>
            <a:pPr marL="0" indent="0">
              <a:buNone/>
            </a:pPr>
            <a:r>
              <a:rPr lang="fr-FR" sz="2400" dirty="0"/>
              <a:t>L’accès direct à un fichier nécessite un fichier (et pas un flux); le constructeur de </a:t>
            </a:r>
            <a:r>
              <a:rPr lang="fr-FR" sz="2200" dirty="0" err="1">
                <a:solidFill>
                  <a:schemeClr val="accent4"/>
                </a:solidFill>
                <a:latin typeface="Consolas" panose="020B0609020204030204" pitchFamily="49" charset="0"/>
                <a:cs typeface="Consolas" panose="020B0609020204030204" pitchFamily="49" charset="0"/>
              </a:rPr>
              <a:t>RandomAccessFile</a:t>
            </a:r>
            <a:r>
              <a:rPr lang="fr-FR" sz="2400" dirty="0"/>
              <a:t> nécessite donc un fichier, et un mode d’accès (</a:t>
            </a:r>
            <a:r>
              <a:rPr lang="fr-FR" sz="2200" dirty="0">
                <a:solidFill>
                  <a:schemeClr val="accent4"/>
                </a:solidFill>
                <a:latin typeface="Consolas" panose="020B0609020204030204" pitchFamily="49" charset="0"/>
                <a:cs typeface="Consolas" panose="020B0609020204030204" pitchFamily="49" charset="0"/>
              </a:rPr>
              <a:t>"r"</a:t>
            </a:r>
            <a:r>
              <a:rPr lang="fr-FR" sz="2400" dirty="0"/>
              <a:t> lecture ou </a:t>
            </a:r>
            <a:r>
              <a:rPr lang="fr-FR" sz="2200" dirty="0">
                <a:solidFill>
                  <a:schemeClr val="accent4"/>
                </a:solidFill>
                <a:latin typeface="Consolas" panose="020B0609020204030204" pitchFamily="49" charset="0"/>
                <a:cs typeface="Consolas" panose="020B0609020204030204" pitchFamily="49" charset="0"/>
              </a:rPr>
              <a:t>"</a:t>
            </a:r>
            <a:r>
              <a:rPr lang="fr-FR" sz="2200" dirty="0" err="1">
                <a:solidFill>
                  <a:schemeClr val="accent4"/>
                </a:solidFill>
                <a:latin typeface="Consolas" panose="020B0609020204030204" pitchFamily="49" charset="0"/>
                <a:cs typeface="Consolas" panose="020B0609020204030204" pitchFamily="49" charset="0"/>
              </a:rPr>
              <a:t>rw</a:t>
            </a:r>
            <a:r>
              <a:rPr lang="fr-FR" sz="2200" dirty="0">
                <a:solidFill>
                  <a:schemeClr val="accent4"/>
                </a:solidFill>
                <a:latin typeface="Consolas" panose="020B0609020204030204" pitchFamily="49" charset="0"/>
                <a:cs typeface="Consolas" panose="020B0609020204030204" pitchFamily="49" charset="0"/>
              </a:rPr>
              <a:t>"</a:t>
            </a:r>
            <a:r>
              <a:rPr lang="fr-FR" sz="2400" dirty="0"/>
              <a:t> lecture et écriture). </a:t>
            </a:r>
          </a:p>
        </p:txBody>
      </p:sp>
      <p:sp>
        <p:nvSpPr>
          <p:cNvPr id="7" name="ZoneTexte 6">
            <a:extLst>
              <a:ext uri="{FF2B5EF4-FFF2-40B4-BE49-F238E27FC236}">
                <a16:creationId xmlns:a16="http://schemas.microsoft.com/office/drawing/2014/main" id="{52D8B809-B464-D4CE-C756-493C6B1FAAD9}"/>
              </a:ext>
            </a:extLst>
          </p:cNvPr>
          <p:cNvSpPr txBox="1"/>
          <p:nvPr/>
        </p:nvSpPr>
        <p:spPr>
          <a:xfrm>
            <a:off x="2050181" y="4803353"/>
            <a:ext cx="8094846" cy="369332"/>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RandomAccesFile</a:t>
            </a: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entree</a:t>
            </a:r>
            <a:r>
              <a:rPr lang="fr-BE" dirty="0">
                <a:latin typeface="Consolas" panose="020B0609020204030204" pitchFamily="49" charset="0"/>
                <a:cs typeface="Consolas" panose="020B0609020204030204" pitchFamily="49" charset="0"/>
              </a:rPr>
              <a:t>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RandomAccessFile</a:t>
            </a:r>
            <a:r>
              <a:rPr lang="fr-BE" dirty="0">
                <a:latin typeface="Consolas" panose="020B0609020204030204" pitchFamily="49" charset="0"/>
                <a:cs typeface="Consolas" panose="020B0609020204030204" pitchFamily="49" charset="0"/>
              </a:rPr>
              <a:t>(</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d.dat</a:t>
            </a:r>
            <a:r>
              <a:rPr lang="fr-BE" dirty="0">
                <a:solidFill>
                  <a:srgbClr val="6A8759"/>
                </a:solidFill>
                <a:effectLst/>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"r"</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073383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Pointeur </a:t>
            </a:r>
            <a:r>
              <a:rPr lang="fr-FR" cap="none" dirty="0" err="1"/>
              <a:t>RandomAccessFile</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﻿La classe </a:t>
            </a:r>
            <a:r>
              <a:rPr lang="fr-FR" sz="2200" dirty="0" err="1">
                <a:solidFill>
                  <a:schemeClr val="accent4"/>
                </a:solidFill>
                <a:latin typeface="Consolas" panose="020B0609020204030204" pitchFamily="49" charset="0"/>
                <a:cs typeface="Consolas" panose="020B0609020204030204" pitchFamily="49" charset="0"/>
              </a:rPr>
              <a:t>RandomAccessFile</a:t>
            </a:r>
            <a:r>
              <a:rPr lang="fr-FR" sz="2400" dirty="0"/>
              <a:t> dispose d’un pointeur sur fichier, qui indique la position du prochain octet lu (le premier est le 0). Cette position peut être modifiée en utilisant la méthode </a:t>
            </a:r>
            <a:r>
              <a:rPr lang="fr-FR" sz="2200" dirty="0" err="1">
                <a:solidFill>
                  <a:schemeClr val="accent4"/>
                </a:solidFill>
                <a:latin typeface="Consolas" panose="020B0609020204030204" pitchFamily="49" charset="0"/>
                <a:cs typeface="Consolas" panose="020B0609020204030204" pitchFamily="49" charset="0"/>
              </a:rPr>
              <a:t>seek</a:t>
            </a:r>
            <a:r>
              <a:rPr lang="fr-FR" sz="2400" dirty="0"/>
              <a:t>.</a:t>
            </a:r>
          </a:p>
          <a:p>
            <a:pPr marL="0" indent="0">
              <a:buNone/>
            </a:pPr>
            <a:r>
              <a:rPr lang="fr-FR" sz="2400" dirty="0"/>
              <a:t>Quelques remarques:</a:t>
            </a:r>
          </a:p>
          <a:p>
            <a:pPr marL="342900" indent="-342900"/>
            <a:r>
              <a:rPr lang="fr-FR" sz="2400" dirty="0"/>
              <a:t>En cas d’erreur de pointage, vous pouvez tout de même lire des données qui seront incohérentes.</a:t>
            </a:r>
          </a:p>
          <a:p>
            <a:pPr marL="342900" indent="-342900"/>
            <a:r>
              <a:rPr lang="fr-FR" sz="2400" dirty="0"/>
              <a:t>Si vous écrivez en dehors du fichier, aucune exception n’est déclenchée à l’écriture. A la lecture, vous obtiendrez un </a:t>
            </a:r>
            <a:r>
              <a:rPr lang="fr-FR" sz="2200" dirty="0" err="1">
                <a:solidFill>
                  <a:schemeClr val="accent4"/>
                </a:solidFill>
                <a:latin typeface="Consolas" panose="020B0609020204030204" pitchFamily="49" charset="0"/>
                <a:cs typeface="Consolas" panose="020B0609020204030204" pitchFamily="49" charset="0"/>
              </a:rPr>
              <a:t>EOFException</a:t>
            </a:r>
            <a:r>
              <a:rPr lang="fr-FR" sz="2400" dirty="0"/>
              <a:t>. Il est donc conseillé, lors d’accès direct, de vérifier que vous ne dépassez pas la fin du fichier (la méthode </a:t>
            </a:r>
            <a:r>
              <a:rPr lang="fr-FR" sz="2200" dirty="0" err="1">
                <a:solidFill>
                  <a:schemeClr val="accent4"/>
                </a:solidFill>
                <a:latin typeface="Consolas" panose="020B0609020204030204" pitchFamily="49" charset="0"/>
                <a:cs typeface="Consolas" panose="020B0609020204030204" pitchFamily="49" charset="0"/>
              </a:rPr>
              <a:t>length</a:t>
            </a:r>
            <a:r>
              <a:rPr lang="fr-FR" sz="2400" dirty="0"/>
              <a:t> vous donne la longueur du fichier).</a:t>
            </a:r>
          </a:p>
        </p:txBody>
      </p:sp>
      <p:grpSp>
        <p:nvGrpSpPr>
          <p:cNvPr id="5" name="Groupe 4">
            <a:extLst>
              <a:ext uri="{FF2B5EF4-FFF2-40B4-BE49-F238E27FC236}">
                <a16:creationId xmlns:a16="http://schemas.microsoft.com/office/drawing/2014/main" id="{7E64AAB8-9749-534C-AF53-91003BAB1161}"/>
              </a:ext>
            </a:extLst>
          </p:cNvPr>
          <p:cNvGrpSpPr/>
          <p:nvPr/>
        </p:nvGrpSpPr>
        <p:grpSpPr>
          <a:xfrm>
            <a:off x="8066006" y="5988873"/>
            <a:ext cx="3158743" cy="504000"/>
            <a:chOff x="4843436" y="5430943"/>
            <a:chExt cx="3158743" cy="504000"/>
          </a:xfrm>
        </p:grpSpPr>
        <p:sp>
          <p:nvSpPr>
            <p:cNvPr id="7" name="Rectangle 6">
              <a:extLst>
                <a:ext uri="{FF2B5EF4-FFF2-40B4-BE49-F238E27FC236}">
                  <a16:creationId xmlns:a16="http://schemas.microsoft.com/office/drawing/2014/main" id="{E2F98669-1030-8042-AB38-8CD01807B7F2}"/>
                </a:ext>
              </a:extLst>
            </p:cNvPr>
            <p:cNvSpPr/>
            <p:nvPr/>
          </p:nvSpPr>
          <p:spPr>
            <a:xfrm>
              <a:off x="5350299" y="5513666"/>
              <a:ext cx="2651880" cy="338554"/>
            </a:xfrm>
            <a:prstGeom prst="rect">
              <a:avLst/>
            </a:prstGeom>
          </p:spPr>
          <p:txBody>
            <a:bodyPr wrap="none">
              <a:spAutoFit/>
            </a:bodyPr>
            <a:lstStyle/>
            <a:p>
              <a:r>
                <a:rPr lang="fr-BE" sz="1600" b="1" dirty="0"/>
                <a:t>cours12.</a:t>
              </a:r>
              <a:r>
                <a:rPr lang="fr-BE" sz="1600" dirty="0"/>
                <a:t>LectureAccesDirect</a:t>
              </a:r>
              <a:endParaRPr lang="fr-FR" sz="1600" b="1" dirty="0"/>
            </a:p>
          </p:txBody>
        </p:sp>
        <p:pic>
          <p:nvPicPr>
            <p:cNvPr id="8" name="Image 7">
              <a:extLst>
                <a:ext uri="{FF2B5EF4-FFF2-40B4-BE49-F238E27FC236}">
                  <a16:creationId xmlns:a16="http://schemas.microsoft.com/office/drawing/2014/main" id="{35D08C9E-67E2-D048-888F-7D7D45536018}"/>
                </a:ext>
              </a:extLst>
            </p:cNvPr>
            <p:cNvPicPr>
              <a:picLocks noChangeAspect="1"/>
            </p:cNvPicPr>
            <p:nvPr/>
          </p:nvPicPr>
          <p:blipFill>
            <a:blip/>
            <a:stretch>
              <a:fillRect/>
            </a:stretch>
          </p:blipFill>
          <p:spPr>
            <a:xfrm>
              <a:off x="4843436" y="5430943"/>
              <a:ext cx="506863" cy="504000"/>
            </a:xfrm>
            <a:prstGeom prst="rect">
              <a:avLst/>
            </a:prstGeom>
          </p:spPr>
        </p:pic>
      </p:grpSp>
    </p:spTree>
    <p:extLst>
      <p:ext uri="{BB962C8B-B14F-4D97-AF65-F5344CB8AC3E}">
        <p14:creationId xmlns:p14="http://schemas.microsoft.com/office/powerpoint/2010/main" val="382308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623A844-D99A-4C25-7508-01E7C24E1ECE}"/>
              </a:ext>
            </a:extLst>
          </p:cNvPr>
          <p:cNvSpPr>
            <a:spLocks noGrp="1"/>
          </p:cNvSpPr>
          <p:nvPr>
            <p:ph type="title"/>
          </p:nvPr>
        </p:nvSpPr>
        <p:spPr/>
        <p:txBody>
          <a:bodyPr/>
          <a:lstStyle/>
          <a:p>
            <a:r>
              <a:rPr lang="fr-FR" dirty="0"/>
              <a:t>Flux et Fichiers</a:t>
            </a:r>
          </a:p>
        </p:txBody>
      </p:sp>
      <p:sp>
        <p:nvSpPr>
          <p:cNvPr id="5" name="Espace réservé du texte 4">
            <a:extLst>
              <a:ext uri="{FF2B5EF4-FFF2-40B4-BE49-F238E27FC236}">
                <a16:creationId xmlns:a16="http://schemas.microsoft.com/office/drawing/2014/main" id="{8FF3C52D-9BBC-4F49-9D54-D2ADCEE441D4}"/>
              </a:ext>
            </a:extLst>
          </p:cNvPr>
          <p:cNvSpPr>
            <a:spLocks noGrp="1"/>
          </p:cNvSpPr>
          <p:nvPr>
            <p:ph idx="1"/>
          </p:nvPr>
        </p:nvSpPr>
        <p:spPr/>
        <p:txBody>
          <a:bodyPr/>
          <a:lstStyle/>
          <a:p>
            <a:r>
              <a:rPr lang="fr-FR" dirty="0"/>
              <a:t>La notion de Flux (Stream)</a:t>
            </a:r>
          </a:p>
          <a:p>
            <a:r>
              <a:rPr lang="fr-FR" dirty="0"/>
              <a:t>Flux Binaires</a:t>
            </a:r>
          </a:p>
          <a:p>
            <a:r>
              <a:rPr lang="fr-FR" dirty="0"/>
              <a:t>Accès Direct</a:t>
            </a:r>
          </a:p>
          <a:p>
            <a:r>
              <a:rPr lang="fr-FR" dirty="0">
                <a:solidFill>
                  <a:schemeClr val="accent4"/>
                </a:solidFill>
              </a:rPr>
              <a:t>Flux de Texte</a:t>
            </a:r>
          </a:p>
          <a:p>
            <a:r>
              <a:rPr lang="fr-FR" dirty="0"/>
              <a:t>Flux d’Objets</a:t>
            </a:r>
          </a:p>
          <a:p>
            <a:r>
              <a:rPr lang="fr-FR" dirty="0"/>
              <a:t>File et Path</a:t>
            </a:r>
          </a:p>
        </p:txBody>
      </p:sp>
      <p:pic>
        <p:nvPicPr>
          <p:cNvPr id="1026" name="Picture 2" descr="Document Fichier Texte - Images vectorielles gratuites sur Pixabay - Pixabay">
            <a:extLst>
              <a:ext uri="{FF2B5EF4-FFF2-40B4-BE49-F238E27FC236}">
                <a16:creationId xmlns:a16="http://schemas.microsoft.com/office/drawing/2014/main" id="{7CD1AA89-0BB7-C205-6775-1D92C042AA83}"/>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166585" y="1593783"/>
            <a:ext cx="3670434" cy="3670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576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Ecriture d’un flux de texte</a:t>
            </a:r>
          </a:p>
        </p:txBody>
      </p:sp>
      <p:sp>
        <p:nvSpPr>
          <p:cNvPr id="3" name="Espace réservé du contenu 2"/>
          <p:cNvSpPr>
            <a:spLocks noGrp="1"/>
          </p:cNvSpPr>
          <p:nvPr>
            <p:ph idx="1"/>
          </p:nvPr>
        </p:nvSpPr>
        <p:spPr>
          <a:xfrm>
            <a:off x="838200" y="1825625"/>
            <a:ext cx="10515600" cy="4382670"/>
          </a:xfrm>
        </p:spPr>
        <p:txBody>
          <a:bodyPr>
            <a:normAutofit/>
          </a:bodyPr>
          <a:lstStyle/>
          <a:p>
            <a:pPr marL="0" indent="0">
              <a:buNone/>
            </a:pPr>
            <a:r>
              <a:rPr lang="fr-FR" sz="2400" dirty="0"/>
              <a:t>Commençons par l’écriture dans un fichier texte, puis la relecture de ces données.</a:t>
            </a:r>
          </a:p>
          <a:p>
            <a:pPr marL="0" indent="0">
              <a:buNone/>
            </a:pPr>
            <a:endParaRPr lang="fr-FR" sz="2400" dirty="0"/>
          </a:p>
          <a:p>
            <a:pPr marL="0" indent="0">
              <a:buNone/>
            </a:pPr>
            <a:r>
              <a:rPr lang="fr-FR" sz="2400" dirty="0"/>
              <a:t>Dans un fichier texte, les données ne sont plus écrites comme elles sont représentées en mémoire mais sont transformées pour pouvoir être interprétées par le lecteur… On peut donc le lire tel quel, par exemple à l’aide d’un éditeur de texte.</a:t>
            </a:r>
          </a:p>
          <a:p>
            <a:pPr marL="0" indent="0">
              <a:buNone/>
            </a:pPr>
            <a:r>
              <a:rPr lang="fr-FR" sz="2400" dirty="0"/>
              <a:t>Il faut bien se rendre compte que, si </a:t>
            </a:r>
            <a:r>
              <a:rPr lang="fr-FR" sz="2200" dirty="0">
                <a:solidFill>
                  <a:schemeClr val="accent4"/>
                </a:solidFill>
                <a:latin typeface="Consolas" panose="020B0609020204030204" pitchFamily="49" charset="0"/>
                <a:cs typeface="Consolas" panose="020B0609020204030204" pitchFamily="49" charset="0"/>
              </a:rPr>
              <a:t>n</a:t>
            </a:r>
            <a:r>
              <a:rPr lang="fr-FR" sz="2400" dirty="0"/>
              <a:t> est </a:t>
            </a:r>
            <a:r>
              <a:rPr lang="fr-FR" sz="2200" dirty="0" err="1">
                <a:solidFill>
                  <a:schemeClr val="accent4"/>
                </a:solidFill>
                <a:latin typeface="Consolas" panose="020B0609020204030204" pitchFamily="49" charset="0"/>
                <a:cs typeface="Consolas" panose="020B0609020204030204" pitchFamily="49" charset="0"/>
              </a:rPr>
              <a:t>int</a:t>
            </a:r>
            <a:r>
              <a:rPr lang="fr-FR" sz="2400" dirty="0"/>
              <a:t>, l’instruction</a:t>
            </a:r>
          </a:p>
        </p:txBody>
      </p:sp>
      <p:sp>
        <p:nvSpPr>
          <p:cNvPr id="4" name="Espace réservé du contenu 2">
            <a:extLst>
              <a:ext uri="{FF2B5EF4-FFF2-40B4-BE49-F238E27FC236}">
                <a16:creationId xmlns:a16="http://schemas.microsoft.com/office/drawing/2014/main" id="{373C7CEA-D397-2971-9353-0AB2BC5F8957}"/>
              </a:ext>
            </a:extLst>
          </p:cNvPr>
          <p:cNvSpPr txBox="1">
            <a:spLocks/>
          </p:cNvSpPr>
          <p:nvPr/>
        </p:nvSpPr>
        <p:spPr>
          <a:xfrm>
            <a:off x="838200" y="5271465"/>
            <a:ext cx="10515600" cy="6384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transforme n en base 10, puis associe chaque chiffre au caractère correspondant.</a:t>
            </a:r>
          </a:p>
        </p:txBody>
      </p:sp>
      <p:sp>
        <p:nvSpPr>
          <p:cNvPr id="8" name="ZoneTexte 7">
            <a:extLst>
              <a:ext uri="{FF2B5EF4-FFF2-40B4-BE49-F238E27FC236}">
                <a16:creationId xmlns:a16="http://schemas.microsoft.com/office/drawing/2014/main" id="{209376B3-03CD-00A1-814A-F99DCFC66326}"/>
              </a:ext>
            </a:extLst>
          </p:cNvPr>
          <p:cNvSpPr txBox="1"/>
          <p:nvPr/>
        </p:nvSpPr>
        <p:spPr>
          <a:xfrm>
            <a:off x="2435192" y="4834758"/>
            <a:ext cx="7324824" cy="369332"/>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System.</a:t>
            </a:r>
            <a:r>
              <a:rPr lang="fr-BE" i="1" dirty="0" err="1">
                <a:solidFill>
                  <a:srgbClr val="9876AA"/>
                </a:solidFill>
                <a:effectLst/>
                <a:latin typeface="Consolas" panose="020B0609020204030204" pitchFamily="49" charset="0"/>
                <a:cs typeface="Consolas" panose="020B0609020204030204" pitchFamily="49" charset="0"/>
              </a:rPr>
              <a:t>out</a:t>
            </a:r>
            <a:r>
              <a:rPr lang="fr-BE" dirty="0" err="1">
                <a:latin typeface="Consolas" panose="020B0609020204030204" pitchFamily="49" charset="0"/>
                <a:cs typeface="Consolas" panose="020B0609020204030204" pitchFamily="49" charset="0"/>
              </a:rPr>
              <a:t>.println</a:t>
            </a:r>
            <a:r>
              <a:rPr lang="fr-BE" dirty="0">
                <a:latin typeface="Consolas" panose="020B0609020204030204" pitchFamily="49" charset="0"/>
                <a:cs typeface="Consolas" panose="020B0609020204030204" pitchFamily="49" charset="0"/>
              </a:rPr>
              <a:t>(</a:t>
            </a:r>
            <a:r>
              <a:rPr lang="fr-BE" dirty="0">
                <a:solidFill>
                  <a:srgbClr val="6A8759"/>
                </a:solidFill>
                <a:effectLst/>
                <a:latin typeface="Consolas" panose="020B0609020204030204" pitchFamily="49" charset="0"/>
                <a:cs typeface="Consolas" panose="020B0609020204030204" pitchFamily="49" charset="0"/>
              </a:rPr>
              <a:t>"valeur = " </a:t>
            </a:r>
            <a:r>
              <a:rPr lang="fr-BE" dirty="0">
                <a:latin typeface="Consolas" panose="020B0609020204030204" pitchFamily="49" charset="0"/>
                <a:cs typeface="Consolas" panose="020B0609020204030204" pitchFamily="49" charset="0"/>
              </a:rPr>
              <a:t>+ n)</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25187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err="1"/>
              <a:t>FileWriter</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﻿La classe abstraite </a:t>
            </a:r>
            <a:r>
              <a:rPr lang="fr-FR" sz="2200" dirty="0" err="1">
                <a:solidFill>
                  <a:schemeClr val="accent4"/>
                </a:solidFill>
                <a:latin typeface="Consolas" panose="020B0609020204030204" pitchFamily="49" charset="0"/>
                <a:cs typeface="Consolas" panose="020B0609020204030204" pitchFamily="49" charset="0"/>
              </a:rPr>
              <a:t>Writer</a:t>
            </a:r>
            <a:r>
              <a:rPr lang="fr-FR" sz="2400" dirty="0"/>
              <a:t> sert de base à toutes les classes relatives à un flux texte de sortie. La classe </a:t>
            </a:r>
            <a:r>
              <a:rPr lang="fr-FR" sz="2200" dirty="0" err="1">
                <a:solidFill>
                  <a:schemeClr val="accent4"/>
                </a:solidFill>
                <a:latin typeface="Consolas" panose="020B0609020204030204" pitchFamily="49" charset="0"/>
                <a:cs typeface="Consolas" panose="020B0609020204030204" pitchFamily="49" charset="0"/>
              </a:rPr>
              <a:t>FileWriter</a:t>
            </a:r>
            <a:r>
              <a:rPr lang="fr-FR" sz="2400" dirty="0"/>
              <a:t>, dérivée de </a:t>
            </a:r>
            <a:r>
              <a:rPr lang="fr-FR" sz="2200" dirty="0">
                <a:solidFill>
                  <a:schemeClr val="accent4"/>
                </a:solidFill>
                <a:latin typeface="Consolas" panose="020B0609020204030204" pitchFamily="49" charset="0"/>
                <a:cs typeface="Consolas" panose="020B0609020204030204" pitchFamily="49" charset="0"/>
              </a:rPr>
              <a:t>Writer</a:t>
            </a:r>
            <a:r>
              <a:rPr lang="fr-FR" sz="2400" dirty="0"/>
              <a:t>, permet de manipuler un flux texte associé à un fichier. </a:t>
            </a:r>
          </a:p>
          <a:p>
            <a:pPr marL="0" indent="0">
              <a:buNone/>
            </a:pPr>
            <a:r>
              <a:rPr lang="fr-FR" sz="2400" dirty="0"/>
              <a:t>L’un de ses constructeurs s’utilise ainsi :</a:t>
            </a:r>
            <a:endParaRPr lang="fr-FR" sz="2400" dirty="0">
              <a:solidFill>
                <a:schemeClr val="accent2"/>
              </a:solidFill>
              <a:latin typeface="Consolas" panose="020B0609020204030204" pitchFamily="49" charset="0"/>
              <a:cs typeface="Consolas" panose="020B0609020204030204" pitchFamily="49" charset="0"/>
            </a:endParaRPr>
          </a:p>
        </p:txBody>
      </p:sp>
      <p:sp>
        <p:nvSpPr>
          <p:cNvPr id="4" name="Espace réservé du contenu 2">
            <a:extLst>
              <a:ext uri="{FF2B5EF4-FFF2-40B4-BE49-F238E27FC236}">
                <a16:creationId xmlns:a16="http://schemas.microsoft.com/office/drawing/2014/main" id="{5409A2AD-8F1B-6FEC-CCE2-88B4E0A2396C}"/>
              </a:ext>
            </a:extLst>
          </p:cNvPr>
          <p:cNvSpPr txBox="1">
            <a:spLocks/>
          </p:cNvSpPr>
          <p:nvPr/>
        </p:nvSpPr>
        <p:spPr>
          <a:xfrm>
            <a:off x="838200" y="4317204"/>
            <a:ext cx="10515600" cy="10929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La classe </a:t>
            </a:r>
            <a:r>
              <a:rPr lang="fr-FR" sz="2200" dirty="0" err="1">
                <a:solidFill>
                  <a:schemeClr val="accent4"/>
                </a:solidFill>
                <a:latin typeface="Consolas" panose="020B0609020204030204" pitchFamily="49" charset="0"/>
                <a:cs typeface="Consolas" panose="020B0609020204030204" pitchFamily="49" charset="0"/>
              </a:rPr>
              <a:t>FileWriter</a:t>
            </a:r>
            <a:r>
              <a:rPr lang="fr-FR" sz="2400" dirty="0"/>
              <a:t> permet d’écrire des caractères, des tableaux de caractères ou des chaînes. </a:t>
            </a:r>
            <a:endParaRPr lang="fr-FR" sz="2400" dirty="0">
              <a:solidFill>
                <a:schemeClr val="accent2"/>
              </a:solidFill>
              <a:latin typeface="Consolas" panose="020B0609020204030204" pitchFamily="49" charset="0"/>
              <a:cs typeface="Consolas" panose="020B0609020204030204" pitchFamily="49" charset="0"/>
            </a:endParaRPr>
          </a:p>
        </p:txBody>
      </p:sp>
      <p:sp>
        <p:nvSpPr>
          <p:cNvPr id="7" name="ZoneTexte 6">
            <a:extLst>
              <a:ext uri="{FF2B5EF4-FFF2-40B4-BE49-F238E27FC236}">
                <a16:creationId xmlns:a16="http://schemas.microsoft.com/office/drawing/2014/main" id="{3BE1AA18-CB57-F937-02DE-E2C488C09D5E}"/>
              </a:ext>
            </a:extLst>
          </p:cNvPr>
          <p:cNvSpPr txBox="1"/>
          <p:nvPr/>
        </p:nvSpPr>
        <p:spPr>
          <a:xfrm>
            <a:off x="3048802" y="3631962"/>
            <a:ext cx="6097604" cy="369332"/>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FileWriter</a:t>
            </a:r>
            <a:r>
              <a:rPr lang="fr-BE" dirty="0">
                <a:latin typeface="Consolas" panose="020B0609020204030204" pitchFamily="49" charset="0"/>
                <a:cs typeface="Consolas" panose="020B0609020204030204" pitchFamily="49" charset="0"/>
              </a:rPr>
              <a:t> f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FileWriter</a:t>
            </a:r>
            <a:r>
              <a:rPr lang="fr-BE" dirty="0">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carres.txt</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74155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7"/>
            <a:ext cx="10515600" cy="1325563"/>
          </a:xfrm>
        </p:spPr>
        <p:txBody>
          <a:bodyPr>
            <a:normAutofit/>
          </a:bodyPr>
          <a:lstStyle/>
          <a:p>
            <a:r>
              <a:rPr lang="fr-FR" cap="none" dirty="0" err="1"/>
              <a:t>PrintWriter</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Si on veut formater le texte, on peut utiliser la classe </a:t>
            </a:r>
            <a:r>
              <a:rPr lang="fr-FR" sz="2200" dirty="0" err="1">
                <a:solidFill>
                  <a:schemeClr val="accent4"/>
                </a:solidFill>
                <a:latin typeface="Consolas" panose="020B0609020204030204" pitchFamily="49" charset="0"/>
                <a:cs typeface="Consolas" panose="020B0609020204030204" pitchFamily="49" charset="0"/>
              </a:rPr>
              <a:t>PrintWriter</a:t>
            </a:r>
            <a:r>
              <a:rPr lang="fr-FR" sz="2400" dirty="0"/>
              <a:t>:</a:t>
            </a:r>
            <a:endParaRPr lang="fr-FR" sz="2400" dirty="0">
              <a:solidFill>
                <a:schemeClr val="accent2"/>
              </a:solidFill>
              <a:latin typeface="Consolas" panose="020B0609020204030204" pitchFamily="49" charset="0"/>
              <a:cs typeface="Consolas" panose="020B0609020204030204" pitchFamily="49" charset="0"/>
            </a:endParaRPr>
          </a:p>
        </p:txBody>
      </p:sp>
      <p:sp>
        <p:nvSpPr>
          <p:cNvPr id="4" name="Espace réservé du contenu 2">
            <a:extLst>
              <a:ext uri="{FF2B5EF4-FFF2-40B4-BE49-F238E27FC236}">
                <a16:creationId xmlns:a16="http://schemas.microsoft.com/office/drawing/2014/main" id="{82C51F7F-1C15-76DD-E60E-E1EEB7A305B0}"/>
              </a:ext>
            </a:extLst>
          </p:cNvPr>
          <p:cNvSpPr txBox="1">
            <a:spLocks/>
          </p:cNvSpPr>
          <p:nvPr/>
        </p:nvSpPr>
        <p:spPr>
          <a:xfrm>
            <a:off x="838200" y="3230909"/>
            <a:ext cx="10515600" cy="11389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Cette classe dispose des méthodes </a:t>
            </a:r>
            <a:r>
              <a:rPr lang="fr-FR" sz="2200" dirty="0" err="1">
                <a:solidFill>
                  <a:schemeClr val="accent4"/>
                </a:solidFill>
                <a:latin typeface="Consolas" panose="020B0609020204030204" pitchFamily="49" charset="0"/>
                <a:cs typeface="Consolas" panose="020B0609020204030204" pitchFamily="49" charset="0"/>
              </a:rPr>
              <a:t>print</a:t>
            </a:r>
            <a:r>
              <a:rPr lang="fr-FR" sz="2400" dirty="0"/>
              <a:t>, </a:t>
            </a:r>
            <a:r>
              <a:rPr lang="fr-FR" sz="2200" dirty="0" err="1">
                <a:solidFill>
                  <a:schemeClr val="accent4"/>
                </a:solidFill>
                <a:latin typeface="Consolas" panose="020B0609020204030204" pitchFamily="49" charset="0"/>
                <a:cs typeface="Consolas" panose="020B0609020204030204" pitchFamily="49" charset="0"/>
              </a:rPr>
              <a:t>println</a:t>
            </a:r>
            <a:r>
              <a:rPr lang="fr-FR" sz="2400" dirty="0"/>
              <a:t> et </a:t>
            </a:r>
            <a:r>
              <a:rPr lang="fr-FR" sz="2200" dirty="0" err="1">
                <a:solidFill>
                  <a:schemeClr val="accent4"/>
                </a:solidFill>
                <a:latin typeface="Consolas" panose="020B0609020204030204" pitchFamily="49" charset="0"/>
                <a:cs typeface="Consolas" panose="020B0609020204030204" pitchFamily="49" charset="0"/>
              </a:rPr>
              <a:t>printf</a:t>
            </a:r>
            <a:r>
              <a:rPr lang="fr-FR" sz="2400" dirty="0" err="1"/>
              <a:t>,qui</a:t>
            </a:r>
            <a:r>
              <a:rPr lang="fr-FR" sz="2400" dirty="0"/>
              <a:t> permettent d’encoder le texte dans le fichier comme nous l’aurions fait sur </a:t>
            </a:r>
            <a:r>
              <a:rPr lang="fr-FR" sz="2200" dirty="0" err="1">
                <a:solidFill>
                  <a:schemeClr val="accent4"/>
                </a:solidFill>
                <a:latin typeface="Consolas" panose="020B0609020204030204" pitchFamily="49" charset="0"/>
                <a:cs typeface="Consolas" panose="020B0609020204030204" pitchFamily="49" charset="0"/>
              </a:rPr>
              <a:t>System.out</a:t>
            </a:r>
            <a:r>
              <a:rPr lang="fr-FR" sz="2400" dirty="0"/>
              <a:t>.</a:t>
            </a:r>
            <a:endParaRPr lang="fr-FR" sz="2400" dirty="0">
              <a:solidFill>
                <a:schemeClr val="accent2"/>
              </a:solidFill>
              <a:latin typeface="Consolas" panose="020B0609020204030204" pitchFamily="49" charset="0"/>
              <a:cs typeface="Consolas" panose="020B0609020204030204" pitchFamily="49" charset="0"/>
            </a:endParaRPr>
          </a:p>
        </p:txBody>
      </p:sp>
      <p:sp>
        <p:nvSpPr>
          <p:cNvPr id="7" name="ZoneTexte 6">
            <a:extLst>
              <a:ext uri="{FF2B5EF4-FFF2-40B4-BE49-F238E27FC236}">
                <a16:creationId xmlns:a16="http://schemas.microsoft.com/office/drawing/2014/main" id="{6DDC119A-8164-E82E-AF7B-90EFC617079E}"/>
              </a:ext>
            </a:extLst>
          </p:cNvPr>
          <p:cNvSpPr txBox="1"/>
          <p:nvPr/>
        </p:nvSpPr>
        <p:spPr>
          <a:xfrm>
            <a:off x="3048802" y="2523651"/>
            <a:ext cx="6097604" cy="646331"/>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FileWriter</a:t>
            </a:r>
            <a:r>
              <a:rPr lang="fr-BE" dirty="0">
                <a:latin typeface="Consolas" panose="020B0609020204030204" pitchFamily="49" charset="0"/>
                <a:cs typeface="Consolas" panose="020B0609020204030204" pitchFamily="49" charset="0"/>
              </a:rPr>
              <a:t> f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FileWriter</a:t>
            </a:r>
            <a:r>
              <a:rPr lang="fr-BE" dirty="0">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carres.txt</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err="1">
                <a:latin typeface="Consolas" panose="020B0609020204030204" pitchFamily="49" charset="0"/>
                <a:cs typeface="Consolas" panose="020B0609020204030204" pitchFamily="49" charset="0"/>
              </a:rPr>
              <a:t>PrintWriter</a:t>
            </a:r>
            <a:r>
              <a:rPr lang="fr-BE" dirty="0">
                <a:latin typeface="Consolas" panose="020B0609020204030204" pitchFamily="49" charset="0"/>
                <a:cs typeface="Consolas" panose="020B0609020204030204" pitchFamily="49" charset="0"/>
              </a:rPr>
              <a:t> sortie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PrintWriter</a:t>
            </a:r>
            <a:r>
              <a:rPr lang="fr-BE" dirty="0">
                <a:latin typeface="Consolas" panose="020B0609020204030204" pitchFamily="49" charset="0"/>
                <a:cs typeface="Consolas" panose="020B0609020204030204" pitchFamily="49" charset="0"/>
              </a:rPr>
              <a:t> (f)</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27370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EXEMPLE</a:t>
            </a:r>
            <a:endParaRPr lang="fr-FR" dirty="0"/>
          </a:p>
        </p:txBody>
      </p:sp>
      <p:sp>
        <p:nvSpPr>
          <p:cNvPr id="5" name="Rectangle 4">
            <a:extLst>
              <a:ext uri="{FF2B5EF4-FFF2-40B4-BE49-F238E27FC236}">
                <a16:creationId xmlns:a16="http://schemas.microsoft.com/office/drawing/2014/main" id="{027489AB-2916-F74E-B264-EBA2CFC46A46}"/>
              </a:ext>
            </a:extLst>
          </p:cNvPr>
          <p:cNvSpPr/>
          <p:nvPr/>
        </p:nvSpPr>
        <p:spPr>
          <a:xfrm>
            <a:off x="2229678" y="1384036"/>
            <a:ext cx="8868249" cy="5016758"/>
          </a:xfrm>
          <a:prstGeom prst="rect">
            <a:avLst/>
          </a:prstGeom>
          <a:solidFill>
            <a:schemeClr val="bg1">
              <a:lumMod val="95000"/>
            </a:schemeClr>
          </a:solidFill>
        </p:spPr>
        <p:txBody>
          <a:bodyPr wrap="square">
            <a:spAutoFit/>
          </a:bodyPr>
          <a:lstStyle/>
          <a:p>
            <a:r>
              <a:rPr lang="fr-BE" sz="1600" dirty="0">
                <a:solidFill>
                  <a:srgbClr val="CC7832"/>
                </a:solidFill>
                <a:latin typeface="Consolas" panose="020B0609020204030204" pitchFamily="49" charset="0"/>
                <a:cs typeface="Consolas" panose="020B0609020204030204" pitchFamily="49" charset="0"/>
              </a:rPr>
              <a:t>public class </a:t>
            </a:r>
            <a:r>
              <a:rPr lang="fr-BE" sz="1600" dirty="0" err="1">
                <a:latin typeface="Consolas" panose="020B0609020204030204" pitchFamily="49" charset="0"/>
                <a:cs typeface="Consolas" panose="020B0609020204030204" pitchFamily="49" charset="0"/>
              </a:rPr>
              <a:t>CreationFichierTexte</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CC7832"/>
                </a:solidFill>
                <a:latin typeface="Consolas" panose="020B0609020204030204" pitchFamily="49" charset="0"/>
                <a:cs typeface="Consolas" panose="020B0609020204030204" pitchFamily="49" charset="0"/>
              </a:rPr>
              <a:t>public </a:t>
            </a:r>
            <a:r>
              <a:rPr lang="fr-BE" sz="1600" dirty="0" err="1">
                <a:solidFill>
                  <a:srgbClr val="CC7832"/>
                </a:solidFill>
                <a:latin typeface="Consolas" panose="020B0609020204030204" pitchFamily="49" charset="0"/>
                <a:cs typeface="Consolas" panose="020B0609020204030204" pitchFamily="49" charset="0"/>
              </a:rPr>
              <a:t>static</a:t>
            </a:r>
            <a:r>
              <a:rPr lang="fr-BE" sz="1600" dirty="0">
                <a:solidFill>
                  <a:srgbClr val="CC7832"/>
                </a:solidFill>
                <a:latin typeface="Consolas" panose="020B0609020204030204" pitchFamily="49" charset="0"/>
                <a:cs typeface="Consolas" panose="020B0609020204030204" pitchFamily="49" charset="0"/>
              </a:rPr>
              <a:t> </a:t>
            </a:r>
            <a:r>
              <a:rPr lang="fr-BE" sz="1600" dirty="0" err="1">
                <a:solidFill>
                  <a:srgbClr val="CC7832"/>
                </a:solidFill>
                <a:latin typeface="Consolas" panose="020B0609020204030204" pitchFamily="49" charset="0"/>
                <a:cs typeface="Consolas" panose="020B0609020204030204" pitchFamily="49" charset="0"/>
              </a:rPr>
              <a:t>void</a:t>
            </a:r>
            <a:r>
              <a:rPr lang="fr-BE" sz="1600" dirty="0">
                <a:solidFill>
                  <a:srgbClr val="CC7832"/>
                </a:solidFill>
                <a:latin typeface="Consolas" panose="020B0609020204030204" pitchFamily="49" charset="0"/>
                <a:cs typeface="Consolas" panose="020B0609020204030204" pitchFamily="49" charset="0"/>
              </a:rPr>
              <a:t> </a:t>
            </a:r>
            <a:r>
              <a:rPr lang="fr-BE" sz="1600" dirty="0">
                <a:solidFill>
                  <a:srgbClr val="FFC66D"/>
                </a:solidFill>
                <a:latin typeface="Consolas" panose="020B0609020204030204" pitchFamily="49" charset="0"/>
                <a:cs typeface="Consolas" panose="020B0609020204030204" pitchFamily="49" charset="0"/>
              </a:rPr>
              <a:t>main</a:t>
            </a:r>
            <a:r>
              <a:rPr lang="fr-BE" sz="1600" dirty="0">
                <a:latin typeface="Consolas" panose="020B0609020204030204" pitchFamily="49" charset="0"/>
                <a:cs typeface="Consolas" panose="020B0609020204030204" pitchFamily="49" charset="0"/>
              </a:rPr>
              <a:t>(String args[]) </a:t>
            </a:r>
            <a:r>
              <a:rPr lang="fr-BE" sz="1600" dirty="0" err="1">
                <a:solidFill>
                  <a:srgbClr val="CC7832"/>
                </a:solidFill>
                <a:latin typeface="Consolas" panose="020B0609020204030204" pitchFamily="49" charset="0"/>
                <a:cs typeface="Consolas" panose="020B0609020204030204" pitchFamily="49" charset="0"/>
              </a:rPr>
              <a:t>throws</a:t>
            </a:r>
            <a:r>
              <a:rPr lang="fr-BE" sz="1600" dirty="0">
                <a:solidFill>
                  <a:srgbClr val="CC7832"/>
                </a:solidFill>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IOException</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String </a:t>
            </a:r>
            <a:r>
              <a:rPr lang="fr-BE" sz="1600" dirty="0" err="1">
                <a:latin typeface="Consolas" panose="020B0609020204030204" pitchFamily="49" charset="0"/>
                <a:cs typeface="Consolas" panose="020B0609020204030204" pitchFamily="49" charset="0"/>
              </a:rPr>
              <a:t>nomfich</a:t>
            </a:r>
            <a:r>
              <a:rPr lang="fr-BE" sz="1600" dirty="0">
                <a:solidFill>
                  <a:srgbClr val="CC7832"/>
                </a:solidFill>
                <a:latin typeface="Consolas" panose="020B0609020204030204" pitchFamily="49" charset="0"/>
                <a:cs typeface="Consolas" panose="020B0609020204030204" pitchFamily="49" charset="0"/>
              </a:rPr>
              <a:t>;</a:t>
            </a:r>
            <a:br>
              <a:rPr lang="fr-BE" sz="1600" dirty="0">
                <a:solidFill>
                  <a:srgbClr val="CC7832"/>
                </a:solidFill>
                <a:latin typeface="Consolas" panose="020B0609020204030204" pitchFamily="49" charset="0"/>
                <a:cs typeface="Consolas" panose="020B0609020204030204" pitchFamily="49" charset="0"/>
              </a:rPr>
            </a:br>
            <a:r>
              <a:rPr lang="fr-BE" sz="1600" dirty="0">
                <a:solidFill>
                  <a:srgbClr val="CC7832"/>
                </a:solidFill>
                <a:latin typeface="Consolas" panose="020B0609020204030204" pitchFamily="49" charset="0"/>
                <a:cs typeface="Consolas" panose="020B0609020204030204" pitchFamily="49" charset="0"/>
              </a:rPr>
              <a:t>        </a:t>
            </a:r>
            <a:r>
              <a:rPr lang="fr-BE" sz="1600" dirty="0" err="1">
                <a:solidFill>
                  <a:srgbClr val="CC7832"/>
                </a:solidFill>
                <a:latin typeface="Consolas" panose="020B0609020204030204" pitchFamily="49" charset="0"/>
                <a:cs typeface="Consolas" panose="020B0609020204030204" pitchFamily="49" charset="0"/>
              </a:rPr>
              <a:t>int</a:t>
            </a:r>
            <a:r>
              <a:rPr lang="fr-BE" sz="1600" dirty="0">
                <a:solidFill>
                  <a:srgbClr val="CC7832"/>
                </a:solidFill>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n</a:t>
            </a:r>
            <a:r>
              <a:rPr lang="fr-BE" sz="1600" dirty="0">
                <a:solidFill>
                  <a:srgbClr val="CC7832"/>
                </a:solidFill>
                <a:latin typeface="Consolas" panose="020B0609020204030204" pitchFamily="49" charset="0"/>
                <a:cs typeface="Consolas" panose="020B0609020204030204" pitchFamily="49" charset="0"/>
              </a:rPr>
              <a:t>;</a:t>
            </a:r>
            <a:br>
              <a:rPr lang="fr-BE" sz="1600" dirty="0">
                <a:solidFill>
                  <a:srgbClr val="CC7832"/>
                </a:solidFill>
                <a:latin typeface="Consolas" panose="020B0609020204030204" pitchFamily="49" charset="0"/>
                <a:cs typeface="Consolas" panose="020B0609020204030204" pitchFamily="49" charset="0"/>
              </a:rPr>
            </a:br>
            <a:r>
              <a:rPr lang="fr-BE" sz="1600" dirty="0">
                <a:solidFill>
                  <a:srgbClr val="CC7832"/>
                </a:solidFill>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System.</a:t>
            </a:r>
            <a:r>
              <a:rPr lang="fr-BE" sz="1600" i="1" dirty="0" err="1">
                <a:solidFill>
                  <a:srgbClr val="9876AA"/>
                </a:solidFill>
                <a:latin typeface="Consolas" panose="020B0609020204030204" pitchFamily="49" charset="0"/>
                <a:cs typeface="Consolas" panose="020B0609020204030204" pitchFamily="49" charset="0"/>
              </a:rPr>
              <a:t>out</a:t>
            </a:r>
            <a:r>
              <a:rPr lang="fr-BE" sz="1600" dirty="0" err="1">
                <a:latin typeface="Consolas" panose="020B0609020204030204" pitchFamily="49" charset="0"/>
                <a:cs typeface="Consolas" panose="020B0609020204030204" pitchFamily="49" charset="0"/>
              </a:rPr>
              <a:t>.print</a:t>
            </a:r>
            <a:r>
              <a:rPr lang="fr-BE" sz="1600" dirty="0">
                <a:latin typeface="Consolas" panose="020B0609020204030204" pitchFamily="49" charset="0"/>
                <a:cs typeface="Consolas" panose="020B0609020204030204" pitchFamily="49" charset="0"/>
              </a:rPr>
              <a:t>(</a:t>
            </a:r>
            <a:r>
              <a:rPr lang="fr-BE" sz="1600" dirty="0">
                <a:solidFill>
                  <a:srgbClr val="6A8759"/>
                </a:solidFill>
                <a:latin typeface="Consolas" panose="020B0609020204030204" pitchFamily="49" charset="0"/>
                <a:cs typeface="Consolas" panose="020B0609020204030204" pitchFamily="49" charset="0"/>
              </a:rPr>
              <a:t>"Donnez le nom du fichier a </a:t>
            </a:r>
            <a:r>
              <a:rPr lang="fr-BE" sz="1600" dirty="0" err="1">
                <a:solidFill>
                  <a:srgbClr val="6A8759"/>
                </a:solidFill>
                <a:latin typeface="Consolas" panose="020B0609020204030204" pitchFamily="49" charset="0"/>
                <a:cs typeface="Consolas" panose="020B0609020204030204" pitchFamily="49" charset="0"/>
              </a:rPr>
              <a:t>creer</a:t>
            </a:r>
            <a:r>
              <a:rPr lang="fr-BE" sz="1600" dirty="0">
                <a:solidFill>
                  <a:srgbClr val="6A8759"/>
                </a:solidFill>
                <a:latin typeface="Consolas" panose="020B0609020204030204" pitchFamily="49" charset="0"/>
                <a:cs typeface="Consolas" panose="020B0609020204030204" pitchFamily="49" charset="0"/>
              </a:rPr>
              <a:t> : "</a:t>
            </a:r>
            <a:r>
              <a:rPr lang="fr-BE" sz="1600" dirty="0">
                <a:latin typeface="Consolas" panose="020B0609020204030204" pitchFamily="49" charset="0"/>
                <a:cs typeface="Consolas" panose="020B0609020204030204" pitchFamily="49" charset="0"/>
              </a:rPr>
              <a:t>)</a:t>
            </a:r>
            <a:r>
              <a:rPr lang="fr-BE" sz="1600" dirty="0">
                <a:solidFill>
                  <a:srgbClr val="CC7832"/>
                </a:solidFill>
                <a:latin typeface="Consolas" panose="020B0609020204030204" pitchFamily="49" charset="0"/>
                <a:cs typeface="Consolas" panose="020B0609020204030204" pitchFamily="49" charset="0"/>
              </a:rPr>
              <a:t>;</a:t>
            </a:r>
            <a:br>
              <a:rPr lang="fr-BE" sz="1600" dirty="0">
                <a:solidFill>
                  <a:srgbClr val="CC7832"/>
                </a:solidFill>
                <a:latin typeface="Consolas" panose="020B0609020204030204" pitchFamily="49" charset="0"/>
                <a:cs typeface="Consolas" panose="020B0609020204030204" pitchFamily="49" charset="0"/>
              </a:rPr>
            </a:br>
            <a:r>
              <a:rPr lang="fr-BE" sz="1600" dirty="0">
                <a:solidFill>
                  <a:srgbClr val="CC7832"/>
                </a:solidFill>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nomfich</a:t>
            </a:r>
            <a:r>
              <a:rPr lang="fr-BE" sz="1600" dirty="0">
                <a:latin typeface="Consolas" panose="020B0609020204030204" pitchFamily="49" charset="0"/>
                <a:cs typeface="Consolas" panose="020B0609020204030204" pitchFamily="49" charset="0"/>
              </a:rPr>
              <a:t> = </a:t>
            </a:r>
            <a:r>
              <a:rPr lang="fr-BE" sz="1600" dirty="0" err="1">
                <a:latin typeface="Consolas" panose="020B0609020204030204" pitchFamily="49" charset="0"/>
                <a:cs typeface="Consolas" panose="020B0609020204030204" pitchFamily="49" charset="0"/>
              </a:rPr>
              <a:t>Clavier.</a:t>
            </a:r>
            <a:r>
              <a:rPr lang="fr-BE" sz="1600" i="1" dirty="0" err="1">
                <a:latin typeface="Consolas" panose="020B0609020204030204" pitchFamily="49" charset="0"/>
                <a:cs typeface="Consolas" panose="020B0609020204030204" pitchFamily="49" charset="0"/>
              </a:rPr>
              <a:t>lireString</a:t>
            </a:r>
            <a:r>
              <a:rPr lang="fr-BE" sz="1600" dirty="0">
                <a:latin typeface="Consolas" panose="020B0609020204030204" pitchFamily="49" charset="0"/>
                <a:cs typeface="Consolas" panose="020B0609020204030204" pitchFamily="49" charset="0"/>
              </a:rPr>
              <a:t>()</a:t>
            </a:r>
            <a:r>
              <a:rPr lang="fr-BE" sz="1600" dirty="0">
                <a:solidFill>
                  <a:srgbClr val="CC7832"/>
                </a:solidFill>
                <a:latin typeface="Consolas" panose="020B0609020204030204" pitchFamily="49" charset="0"/>
                <a:cs typeface="Consolas" panose="020B0609020204030204" pitchFamily="49" charset="0"/>
              </a:rPr>
              <a:t>;</a:t>
            </a:r>
            <a:br>
              <a:rPr lang="fr-BE" sz="1600" dirty="0">
                <a:solidFill>
                  <a:srgbClr val="CC7832"/>
                </a:solidFill>
                <a:latin typeface="Consolas" panose="020B0609020204030204" pitchFamily="49" charset="0"/>
                <a:cs typeface="Consolas" panose="020B0609020204030204" pitchFamily="49" charset="0"/>
              </a:rPr>
            </a:br>
            <a:r>
              <a:rPr lang="fr-BE" sz="1600" dirty="0">
                <a:solidFill>
                  <a:srgbClr val="CC7832"/>
                </a:solidFill>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PrintWriter</a:t>
            </a:r>
            <a:r>
              <a:rPr lang="fr-BE" sz="1600" dirty="0">
                <a:latin typeface="Consolas" panose="020B0609020204030204" pitchFamily="49" charset="0"/>
                <a:cs typeface="Consolas" panose="020B0609020204030204" pitchFamily="49" charset="0"/>
              </a:rPr>
              <a:t> sortie = </a:t>
            </a:r>
            <a:r>
              <a:rPr lang="fr-BE" sz="1600" dirty="0">
                <a:solidFill>
                  <a:srgbClr val="CC7832"/>
                </a:solidFill>
                <a:latin typeface="Consolas" panose="020B0609020204030204" pitchFamily="49" charset="0"/>
                <a:cs typeface="Consolas" panose="020B0609020204030204" pitchFamily="49" charset="0"/>
              </a:rPr>
              <a:t>new </a:t>
            </a:r>
            <a:r>
              <a:rPr lang="fr-BE" sz="1600" dirty="0" err="1">
                <a:latin typeface="Consolas" panose="020B0609020204030204" pitchFamily="49" charset="0"/>
                <a:cs typeface="Consolas" panose="020B0609020204030204" pitchFamily="49" charset="0"/>
              </a:rPr>
              <a:t>PrintWriter</a:t>
            </a:r>
            <a:r>
              <a:rPr lang="fr-BE" sz="1600" dirty="0">
                <a:latin typeface="Consolas" panose="020B0609020204030204" pitchFamily="49" charset="0"/>
                <a:cs typeface="Consolas" panose="020B0609020204030204" pitchFamily="49" charset="0"/>
              </a:rPr>
              <a:t>(</a:t>
            </a:r>
            <a:r>
              <a:rPr lang="fr-BE" sz="1600" dirty="0">
                <a:solidFill>
                  <a:srgbClr val="CC7832"/>
                </a:solidFill>
                <a:latin typeface="Consolas" panose="020B0609020204030204" pitchFamily="49" charset="0"/>
                <a:cs typeface="Consolas" panose="020B0609020204030204" pitchFamily="49" charset="0"/>
              </a:rPr>
              <a:t>new </a:t>
            </a:r>
            <a:r>
              <a:rPr lang="fr-BE" sz="1600" dirty="0" err="1">
                <a:latin typeface="Consolas" panose="020B0609020204030204" pitchFamily="49" charset="0"/>
                <a:cs typeface="Consolas" panose="020B0609020204030204" pitchFamily="49" charset="0"/>
              </a:rPr>
              <a:t>FileWriter</a:t>
            </a:r>
            <a:r>
              <a:rPr lang="fr-BE" sz="1600" dirty="0">
                <a:latin typeface="Consolas" panose="020B0609020204030204" pitchFamily="49" charset="0"/>
                <a:cs typeface="Consolas" panose="020B0609020204030204" pitchFamily="49" charset="0"/>
              </a:rPr>
              <a:t>(</a:t>
            </a:r>
            <a:r>
              <a:rPr lang="fr-BE" sz="1600" dirty="0" err="1">
                <a:latin typeface="Consolas" panose="020B0609020204030204" pitchFamily="49" charset="0"/>
                <a:cs typeface="Consolas" panose="020B0609020204030204" pitchFamily="49" charset="0"/>
              </a:rPr>
              <a:t>nomfich</a:t>
            </a:r>
            <a:r>
              <a:rPr lang="fr-BE" sz="1600" dirty="0">
                <a:latin typeface="Consolas" panose="020B0609020204030204" pitchFamily="49" charset="0"/>
                <a:cs typeface="Consolas" panose="020B0609020204030204" pitchFamily="49" charset="0"/>
              </a:rPr>
              <a:t>))</a:t>
            </a:r>
            <a:r>
              <a:rPr lang="fr-BE" sz="1600" dirty="0">
                <a:solidFill>
                  <a:srgbClr val="CC7832"/>
                </a:solidFill>
                <a:latin typeface="Consolas" panose="020B0609020204030204" pitchFamily="49" charset="0"/>
                <a:cs typeface="Consolas" panose="020B0609020204030204" pitchFamily="49" charset="0"/>
              </a:rPr>
              <a:t>;</a:t>
            </a:r>
            <a:br>
              <a:rPr lang="fr-BE" sz="1600" dirty="0">
                <a:solidFill>
                  <a:srgbClr val="CC7832"/>
                </a:solidFill>
                <a:latin typeface="Consolas" panose="020B0609020204030204" pitchFamily="49" charset="0"/>
                <a:cs typeface="Consolas" panose="020B0609020204030204" pitchFamily="49" charset="0"/>
              </a:rPr>
            </a:br>
            <a:br>
              <a:rPr lang="fr-BE" sz="1600" dirty="0">
                <a:solidFill>
                  <a:srgbClr val="CC7832"/>
                </a:solidFill>
                <a:latin typeface="Consolas" panose="020B0609020204030204" pitchFamily="49" charset="0"/>
                <a:cs typeface="Consolas" panose="020B0609020204030204" pitchFamily="49" charset="0"/>
              </a:rPr>
            </a:br>
            <a:r>
              <a:rPr lang="fr-BE" sz="1600" dirty="0">
                <a:solidFill>
                  <a:srgbClr val="CC7832"/>
                </a:solidFill>
                <a:latin typeface="Consolas" panose="020B0609020204030204" pitchFamily="49" charset="0"/>
                <a:cs typeface="Consolas" panose="020B0609020204030204" pitchFamily="49" charset="0"/>
              </a:rPr>
              <a:t>        do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System.</a:t>
            </a:r>
            <a:r>
              <a:rPr lang="fr-BE" sz="1600" i="1" dirty="0" err="1">
                <a:solidFill>
                  <a:srgbClr val="9876AA"/>
                </a:solidFill>
                <a:latin typeface="Consolas" panose="020B0609020204030204" pitchFamily="49" charset="0"/>
                <a:cs typeface="Consolas" panose="020B0609020204030204" pitchFamily="49" charset="0"/>
              </a:rPr>
              <a:t>out</a:t>
            </a:r>
            <a:r>
              <a:rPr lang="fr-BE" sz="1600" dirty="0" err="1">
                <a:latin typeface="Consolas" panose="020B0609020204030204" pitchFamily="49" charset="0"/>
                <a:cs typeface="Consolas" panose="020B0609020204030204" pitchFamily="49" charset="0"/>
              </a:rPr>
              <a:t>.print</a:t>
            </a:r>
            <a:r>
              <a:rPr lang="fr-BE" sz="1600" dirty="0">
                <a:latin typeface="Consolas" panose="020B0609020204030204" pitchFamily="49" charset="0"/>
                <a:cs typeface="Consolas" panose="020B0609020204030204" pitchFamily="49" charset="0"/>
              </a:rPr>
              <a:t>(</a:t>
            </a:r>
            <a:r>
              <a:rPr lang="fr-BE" sz="1600" dirty="0">
                <a:solidFill>
                  <a:srgbClr val="6A8759"/>
                </a:solidFill>
                <a:latin typeface="Consolas" panose="020B0609020204030204" pitchFamily="49" charset="0"/>
                <a:cs typeface="Consolas" panose="020B0609020204030204" pitchFamily="49" charset="0"/>
              </a:rPr>
              <a:t>"donnez un entier : "</a:t>
            </a:r>
            <a:r>
              <a:rPr lang="fr-BE" sz="1600" dirty="0">
                <a:latin typeface="Consolas" panose="020B0609020204030204" pitchFamily="49" charset="0"/>
                <a:cs typeface="Consolas" panose="020B0609020204030204" pitchFamily="49" charset="0"/>
              </a:rPr>
              <a:t>)</a:t>
            </a:r>
            <a:r>
              <a:rPr lang="fr-BE" sz="1600" dirty="0">
                <a:solidFill>
                  <a:srgbClr val="CC7832"/>
                </a:solidFill>
                <a:latin typeface="Consolas" panose="020B0609020204030204" pitchFamily="49" charset="0"/>
                <a:cs typeface="Consolas" panose="020B0609020204030204" pitchFamily="49" charset="0"/>
              </a:rPr>
              <a:t>;</a:t>
            </a:r>
            <a:br>
              <a:rPr lang="fr-BE" sz="1600" dirty="0">
                <a:solidFill>
                  <a:srgbClr val="CC7832"/>
                </a:solidFill>
                <a:latin typeface="Consolas" panose="020B0609020204030204" pitchFamily="49" charset="0"/>
                <a:cs typeface="Consolas" panose="020B0609020204030204" pitchFamily="49" charset="0"/>
              </a:rPr>
            </a:br>
            <a:r>
              <a:rPr lang="fr-BE" sz="1600" dirty="0">
                <a:solidFill>
                  <a:srgbClr val="CC7832"/>
                </a:solidFill>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n = </a:t>
            </a:r>
            <a:r>
              <a:rPr lang="fr-BE" sz="1600" dirty="0" err="1">
                <a:latin typeface="Consolas" panose="020B0609020204030204" pitchFamily="49" charset="0"/>
                <a:cs typeface="Consolas" panose="020B0609020204030204" pitchFamily="49" charset="0"/>
              </a:rPr>
              <a:t>Clavier.</a:t>
            </a:r>
            <a:r>
              <a:rPr lang="fr-BE" sz="1600" i="1" dirty="0" err="1">
                <a:latin typeface="Consolas" panose="020B0609020204030204" pitchFamily="49" charset="0"/>
                <a:cs typeface="Consolas" panose="020B0609020204030204" pitchFamily="49" charset="0"/>
              </a:rPr>
              <a:t>lireInt</a:t>
            </a:r>
            <a:r>
              <a:rPr lang="fr-BE" sz="1600" dirty="0">
                <a:latin typeface="Consolas" panose="020B0609020204030204" pitchFamily="49" charset="0"/>
                <a:cs typeface="Consolas" panose="020B0609020204030204" pitchFamily="49" charset="0"/>
              </a:rPr>
              <a:t>()</a:t>
            </a:r>
            <a:r>
              <a:rPr lang="fr-BE" sz="1600" dirty="0">
                <a:solidFill>
                  <a:srgbClr val="CC7832"/>
                </a:solidFill>
                <a:latin typeface="Consolas" panose="020B0609020204030204" pitchFamily="49" charset="0"/>
                <a:cs typeface="Consolas" panose="020B0609020204030204" pitchFamily="49" charset="0"/>
              </a:rPr>
              <a:t>;</a:t>
            </a:r>
            <a:br>
              <a:rPr lang="fr-BE" sz="1600" dirty="0">
                <a:solidFill>
                  <a:srgbClr val="CC7832"/>
                </a:solidFill>
                <a:latin typeface="Consolas" panose="020B0609020204030204" pitchFamily="49" charset="0"/>
                <a:cs typeface="Consolas" panose="020B0609020204030204" pitchFamily="49" charset="0"/>
              </a:rPr>
            </a:br>
            <a:r>
              <a:rPr lang="fr-BE" sz="1600" dirty="0">
                <a:solidFill>
                  <a:srgbClr val="CC7832"/>
                </a:solidFill>
                <a:latin typeface="Consolas" panose="020B0609020204030204" pitchFamily="49" charset="0"/>
                <a:cs typeface="Consolas" panose="020B0609020204030204" pitchFamily="49" charset="0"/>
              </a:rPr>
              <a:t>            if </a:t>
            </a:r>
            <a:r>
              <a:rPr lang="fr-BE" sz="1600" dirty="0">
                <a:latin typeface="Consolas" panose="020B0609020204030204" pitchFamily="49" charset="0"/>
                <a:cs typeface="Consolas" panose="020B0609020204030204" pitchFamily="49" charset="0"/>
              </a:rPr>
              <a:t>(n != </a:t>
            </a:r>
            <a:r>
              <a:rPr lang="fr-BE" sz="1600" dirty="0">
                <a:solidFill>
                  <a:srgbClr val="6897BB"/>
                </a:solidFill>
                <a:latin typeface="Consolas" panose="020B0609020204030204" pitchFamily="49" charset="0"/>
                <a:cs typeface="Consolas" panose="020B0609020204030204" pitchFamily="49" charset="0"/>
              </a:rPr>
              <a:t>0</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sortie.println</a:t>
            </a:r>
            <a:r>
              <a:rPr lang="fr-BE" sz="1600" dirty="0">
                <a:latin typeface="Consolas" panose="020B0609020204030204" pitchFamily="49" charset="0"/>
                <a:cs typeface="Consolas" panose="020B0609020204030204" pitchFamily="49" charset="0"/>
              </a:rPr>
              <a:t>(n + </a:t>
            </a:r>
            <a:r>
              <a:rPr lang="fr-BE" sz="1600" dirty="0">
                <a:solidFill>
                  <a:srgbClr val="6A8759"/>
                </a:solidFill>
                <a:latin typeface="Consolas" panose="020B0609020204030204" pitchFamily="49" charset="0"/>
                <a:cs typeface="Consolas" panose="020B0609020204030204" pitchFamily="49" charset="0"/>
              </a:rPr>
              <a:t>" a pour carre " </a:t>
            </a:r>
            <a:r>
              <a:rPr lang="fr-BE" sz="1600" dirty="0">
                <a:latin typeface="Consolas" panose="020B0609020204030204" pitchFamily="49" charset="0"/>
                <a:cs typeface="Consolas" panose="020B0609020204030204" pitchFamily="49" charset="0"/>
              </a:rPr>
              <a:t>+ n * n)</a:t>
            </a:r>
            <a:r>
              <a:rPr lang="fr-BE" sz="1600" dirty="0">
                <a:solidFill>
                  <a:srgbClr val="CC7832"/>
                </a:solidFill>
                <a:latin typeface="Consolas" panose="020B0609020204030204" pitchFamily="49" charset="0"/>
                <a:cs typeface="Consolas" panose="020B0609020204030204" pitchFamily="49" charset="0"/>
              </a:rPr>
              <a:t>;</a:t>
            </a:r>
            <a:br>
              <a:rPr lang="fr-BE" sz="1600" dirty="0">
                <a:solidFill>
                  <a:srgbClr val="CC7832"/>
                </a:solidFill>
                <a:latin typeface="Consolas" panose="020B0609020204030204" pitchFamily="49" charset="0"/>
                <a:cs typeface="Consolas" panose="020B0609020204030204" pitchFamily="49" charset="0"/>
              </a:rPr>
            </a:br>
            <a:r>
              <a:rPr lang="fr-BE" sz="1600" dirty="0">
                <a:solidFill>
                  <a:srgbClr val="CC7832"/>
                </a:solidFill>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solidFill>
                  <a:srgbClr val="CC7832"/>
                </a:solidFill>
                <a:latin typeface="Consolas" panose="020B0609020204030204" pitchFamily="49" charset="0"/>
                <a:cs typeface="Consolas" panose="020B0609020204030204" pitchFamily="49" charset="0"/>
              </a:rPr>
              <a:t>while</a:t>
            </a:r>
            <a:r>
              <a:rPr lang="fr-BE" sz="1600" dirty="0">
                <a:solidFill>
                  <a:srgbClr val="CC7832"/>
                </a:solidFill>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(n != </a:t>
            </a:r>
            <a:r>
              <a:rPr lang="fr-BE" sz="1600" dirty="0">
                <a:solidFill>
                  <a:srgbClr val="6897BB"/>
                </a:solidFill>
                <a:latin typeface="Consolas" panose="020B0609020204030204" pitchFamily="49" charset="0"/>
                <a:cs typeface="Consolas" panose="020B0609020204030204" pitchFamily="49" charset="0"/>
              </a:rPr>
              <a:t>0</a:t>
            </a:r>
            <a:r>
              <a:rPr lang="fr-BE" sz="1600" dirty="0">
                <a:latin typeface="Consolas" panose="020B0609020204030204" pitchFamily="49" charset="0"/>
                <a:cs typeface="Consolas" panose="020B0609020204030204" pitchFamily="49" charset="0"/>
              </a:rPr>
              <a:t>)</a:t>
            </a:r>
            <a:r>
              <a:rPr lang="fr-BE" sz="1600" dirty="0">
                <a:solidFill>
                  <a:srgbClr val="CC7832"/>
                </a:solidFill>
                <a:latin typeface="Consolas" panose="020B0609020204030204" pitchFamily="49" charset="0"/>
                <a:cs typeface="Consolas" panose="020B0609020204030204" pitchFamily="49" charset="0"/>
              </a:rPr>
              <a:t>;</a:t>
            </a:r>
            <a:br>
              <a:rPr lang="fr-BE" sz="1600" dirty="0">
                <a:solidFill>
                  <a:srgbClr val="CC7832"/>
                </a:solidFill>
                <a:latin typeface="Consolas" panose="020B0609020204030204" pitchFamily="49" charset="0"/>
                <a:cs typeface="Consolas" panose="020B0609020204030204" pitchFamily="49" charset="0"/>
              </a:rPr>
            </a:br>
            <a:r>
              <a:rPr lang="fr-BE" sz="1600" dirty="0">
                <a:solidFill>
                  <a:srgbClr val="CC7832"/>
                </a:solidFill>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sortie.close</a:t>
            </a:r>
            <a:r>
              <a:rPr lang="fr-BE" sz="1600" dirty="0">
                <a:latin typeface="Consolas" panose="020B0609020204030204" pitchFamily="49" charset="0"/>
                <a:cs typeface="Consolas" panose="020B0609020204030204" pitchFamily="49" charset="0"/>
              </a:rPr>
              <a:t>()</a:t>
            </a:r>
            <a:r>
              <a:rPr lang="fr-BE" sz="1600" dirty="0">
                <a:solidFill>
                  <a:srgbClr val="CC7832"/>
                </a:solidFill>
                <a:latin typeface="Consolas" panose="020B0609020204030204" pitchFamily="49" charset="0"/>
                <a:cs typeface="Consolas" panose="020B0609020204030204" pitchFamily="49" charset="0"/>
              </a:rPr>
              <a:t>;</a:t>
            </a:r>
            <a:br>
              <a:rPr lang="fr-BE" sz="1600" dirty="0">
                <a:solidFill>
                  <a:srgbClr val="CC7832"/>
                </a:solidFill>
                <a:latin typeface="Consolas" panose="020B0609020204030204" pitchFamily="49" charset="0"/>
                <a:cs typeface="Consolas" panose="020B0609020204030204" pitchFamily="49" charset="0"/>
              </a:rPr>
            </a:br>
            <a:r>
              <a:rPr lang="fr-BE" sz="1600" dirty="0">
                <a:solidFill>
                  <a:srgbClr val="CC7832"/>
                </a:solidFill>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System.</a:t>
            </a:r>
            <a:r>
              <a:rPr lang="fr-BE" sz="1600" i="1" dirty="0" err="1">
                <a:solidFill>
                  <a:srgbClr val="9876AA"/>
                </a:solidFill>
                <a:latin typeface="Consolas" panose="020B0609020204030204" pitchFamily="49" charset="0"/>
                <a:cs typeface="Consolas" panose="020B0609020204030204" pitchFamily="49" charset="0"/>
              </a:rPr>
              <a:t>out</a:t>
            </a:r>
            <a:r>
              <a:rPr lang="fr-BE" sz="1600" dirty="0" err="1">
                <a:latin typeface="Consolas" panose="020B0609020204030204" pitchFamily="49" charset="0"/>
                <a:cs typeface="Consolas" panose="020B0609020204030204" pitchFamily="49" charset="0"/>
              </a:rPr>
              <a:t>.println</a:t>
            </a:r>
            <a:r>
              <a:rPr lang="fr-BE" sz="1600" dirty="0">
                <a:latin typeface="Consolas" panose="020B0609020204030204" pitchFamily="49" charset="0"/>
                <a:cs typeface="Consolas" panose="020B0609020204030204" pitchFamily="49" charset="0"/>
              </a:rPr>
              <a:t>(</a:t>
            </a:r>
            <a:r>
              <a:rPr lang="fr-BE" sz="1600" dirty="0">
                <a:solidFill>
                  <a:srgbClr val="6A8759"/>
                </a:solidFill>
                <a:latin typeface="Consolas" panose="020B0609020204030204" pitchFamily="49" charset="0"/>
                <a:cs typeface="Consolas" panose="020B0609020204030204" pitchFamily="49" charset="0"/>
              </a:rPr>
              <a:t>"*** fin </a:t>
            </a:r>
            <a:r>
              <a:rPr lang="fr-BE" sz="1600" dirty="0" err="1">
                <a:solidFill>
                  <a:srgbClr val="6A8759"/>
                </a:solidFill>
                <a:latin typeface="Consolas" panose="020B0609020204030204" pitchFamily="49" charset="0"/>
                <a:cs typeface="Consolas" panose="020B0609020204030204" pitchFamily="49" charset="0"/>
              </a:rPr>
              <a:t>creation</a:t>
            </a:r>
            <a:r>
              <a:rPr lang="fr-BE" sz="1600" dirty="0">
                <a:solidFill>
                  <a:srgbClr val="6A8759"/>
                </a:solidFill>
                <a:latin typeface="Consolas" panose="020B0609020204030204" pitchFamily="49" charset="0"/>
                <a:cs typeface="Consolas" panose="020B0609020204030204" pitchFamily="49" charset="0"/>
              </a:rPr>
              <a:t> fichier ***"</a:t>
            </a:r>
            <a:r>
              <a:rPr lang="fr-BE" sz="1600" dirty="0">
                <a:latin typeface="Consolas" panose="020B0609020204030204" pitchFamily="49" charset="0"/>
                <a:cs typeface="Consolas" panose="020B0609020204030204" pitchFamily="49" charset="0"/>
              </a:rPr>
              <a:t>)</a:t>
            </a:r>
            <a:r>
              <a:rPr lang="fr-BE" sz="1600" dirty="0">
                <a:solidFill>
                  <a:srgbClr val="CC7832"/>
                </a:solidFill>
                <a:latin typeface="Consolas" panose="020B0609020204030204" pitchFamily="49" charset="0"/>
                <a:cs typeface="Consolas" panose="020B0609020204030204" pitchFamily="49" charset="0"/>
              </a:rPr>
              <a:t>;</a:t>
            </a:r>
            <a:br>
              <a:rPr lang="fr-BE" sz="1600" dirty="0">
                <a:solidFill>
                  <a:srgbClr val="CC7832"/>
                </a:solidFill>
                <a:latin typeface="Consolas" panose="020B0609020204030204" pitchFamily="49" charset="0"/>
                <a:cs typeface="Consolas" panose="020B0609020204030204" pitchFamily="49" charset="0"/>
              </a:rPr>
            </a:br>
            <a:r>
              <a:rPr lang="fr-BE" sz="1600" dirty="0">
                <a:solidFill>
                  <a:srgbClr val="CC7832"/>
                </a:solidFill>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79948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err="1"/>
              <a:t>PrintWriter</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Le caractère de fin de ligne dépend du système: LF ou CRLF.</a:t>
            </a:r>
          </a:p>
          <a:p>
            <a:pPr marL="0" indent="0">
              <a:buNone/>
            </a:pPr>
            <a:r>
              <a:rPr lang="fr-FR" sz="2400" dirty="0"/>
              <a:t>On peut le connaître en utilisant</a:t>
            </a:r>
            <a:endParaRPr lang="fr-FR" sz="2400" dirty="0">
              <a:solidFill>
                <a:schemeClr val="accent2"/>
              </a:solidFill>
              <a:latin typeface="Consolas" panose="020B0609020204030204" pitchFamily="49" charset="0"/>
              <a:cs typeface="Consolas" panose="020B0609020204030204" pitchFamily="49" charset="0"/>
            </a:endParaRPr>
          </a:p>
        </p:txBody>
      </p:sp>
      <p:sp>
        <p:nvSpPr>
          <p:cNvPr id="5" name="ZoneTexte 4">
            <a:extLst>
              <a:ext uri="{FF2B5EF4-FFF2-40B4-BE49-F238E27FC236}">
                <a16:creationId xmlns:a16="http://schemas.microsoft.com/office/drawing/2014/main" id="{CF35A9AE-69BD-A269-B35D-60C220B60395}"/>
              </a:ext>
            </a:extLst>
          </p:cNvPr>
          <p:cNvSpPr txBox="1"/>
          <p:nvPr/>
        </p:nvSpPr>
        <p:spPr>
          <a:xfrm>
            <a:off x="2079057" y="2782669"/>
            <a:ext cx="7546206" cy="369332"/>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String </a:t>
            </a:r>
            <a:r>
              <a:rPr lang="fr-BE" dirty="0" err="1">
                <a:latin typeface="Consolas" panose="020B0609020204030204" pitchFamily="49" charset="0"/>
                <a:cs typeface="Consolas" panose="020B0609020204030204" pitchFamily="49" charset="0"/>
              </a:rPr>
              <a:t>finLigne</a:t>
            </a:r>
            <a:r>
              <a:rPr lang="fr-BE" dirty="0">
                <a:latin typeface="Consolas" panose="020B0609020204030204" pitchFamily="49" charset="0"/>
                <a:cs typeface="Consolas" panose="020B0609020204030204" pitchFamily="49" charset="0"/>
              </a:rPr>
              <a:t> = </a:t>
            </a:r>
            <a:r>
              <a:rPr lang="fr-BE" dirty="0" err="1">
                <a:latin typeface="Consolas" panose="020B0609020204030204" pitchFamily="49" charset="0"/>
                <a:cs typeface="Consolas" panose="020B0609020204030204" pitchFamily="49" charset="0"/>
              </a:rPr>
              <a:t>System.</a:t>
            </a:r>
            <a:r>
              <a:rPr lang="fr-BE" i="1" dirty="0" err="1">
                <a:effectLst/>
                <a:latin typeface="Consolas" panose="020B0609020204030204" pitchFamily="49" charset="0"/>
                <a:cs typeface="Consolas" panose="020B0609020204030204" pitchFamily="49" charset="0"/>
              </a:rPr>
              <a:t>getProperty</a:t>
            </a:r>
            <a:r>
              <a:rPr lang="fr-BE" i="1" dirty="0">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line.separator</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8" name="ZoneTexte 7">
            <a:extLst>
              <a:ext uri="{FF2B5EF4-FFF2-40B4-BE49-F238E27FC236}">
                <a16:creationId xmlns:a16="http://schemas.microsoft.com/office/drawing/2014/main" id="{B40A86F8-4F1B-6363-E7B7-10AC1E056395}"/>
              </a:ext>
            </a:extLst>
          </p:cNvPr>
          <p:cNvSpPr txBox="1"/>
          <p:nvPr/>
        </p:nvSpPr>
        <p:spPr>
          <a:xfrm>
            <a:off x="2079057" y="4486870"/>
            <a:ext cx="7546206" cy="923330"/>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PrintWriter</a:t>
            </a:r>
            <a:r>
              <a:rPr lang="fr-BE" dirty="0">
                <a:latin typeface="Consolas" panose="020B0609020204030204" pitchFamily="49" charset="0"/>
                <a:cs typeface="Consolas" panose="020B0609020204030204" pitchFamily="49" charset="0"/>
              </a:rPr>
              <a:t> sortie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PrintWriter</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BufferedWriter</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FileWriter</a:t>
            </a:r>
            <a:r>
              <a:rPr lang="fr-BE" dirty="0">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carres.txt</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9" name="Espace réservé du contenu 2">
            <a:extLst>
              <a:ext uri="{FF2B5EF4-FFF2-40B4-BE49-F238E27FC236}">
                <a16:creationId xmlns:a16="http://schemas.microsoft.com/office/drawing/2014/main" id="{0F4D1525-6698-7B6B-F824-FB4009B45530}"/>
              </a:ext>
            </a:extLst>
          </p:cNvPr>
          <p:cNvSpPr txBox="1">
            <a:spLocks/>
          </p:cNvSpPr>
          <p:nvPr/>
        </p:nvSpPr>
        <p:spPr>
          <a:xfrm>
            <a:off x="838200" y="3615924"/>
            <a:ext cx="10515600" cy="2159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Comme précédemment, on peut doter le flux texte d’un tampon:</a:t>
            </a:r>
          </a:p>
          <a:p>
            <a:pPr marL="0" indent="0">
              <a:buFont typeface="Arial" panose="020B0604020202020204" pitchFamily="34" charset="0"/>
              <a:buNone/>
            </a:pPr>
            <a:r>
              <a:rPr lang="fr-FR" sz="2400" dirty="0">
                <a:solidFill>
                  <a:schemeClr val="accent2"/>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1378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Lecture d’un flux de texte</a:t>
            </a:r>
          </a:p>
        </p:txBody>
      </p:sp>
      <p:sp>
        <p:nvSpPr>
          <p:cNvPr id="3" name="Espace réservé du contenu 2"/>
          <p:cNvSpPr>
            <a:spLocks noGrp="1"/>
          </p:cNvSpPr>
          <p:nvPr>
            <p:ph idx="1"/>
          </p:nvPr>
        </p:nvSpPr>
        <p:spPr/>
        <p:txBody>
          <a:bodyPr>
            <a:normAutofit/>
          </a:bodyPr>
          <a:lstStyle/>
          <a:p>
            <a:pPr marL="0" indent="0">
              <a:buNone/>
            </a:pPr>
            <a:r>
              <a:rPr lang="fr-FR" dirty="0"/>
              <a:t>Contrairement aux flux binaires de données, la lecture n’est pas le symétrique de l’écriture pour les flux de texte.</a:t>
            </a:r>
          </a:p>
          <a:p>
            <a:pPr marL="0" indent="0">
              <a:buNone/>
            </a:pPr>
            <a:endParaRPr lang="fr-FR" dirty="0"/>
          </a:p>
          <a:p>
            <a:pPr marL="0" indent="0">
              <a:buNone/>
            </a:pPr>
            <a:r>
              <a:rPr lang="fr-FR" dirty="0"/>
              <a:t>﻿Nous allons voir comment procéder en distinguant deux situations : </a:t>
            </a:r>
          </a:p>
          <a:p>
            <a:r>
              <a:rPr lang="fr-FR" dirty="0"/>
              <a:t>On se contente d’accéder aux lignes du fichier (sans chercher à en interpréter le contenu). </a:t>
            </a:r>
          </a:p>
          <a:p>
            <a:r>
              <a:rPr lang="fr-FR" dirty="0"/>
              <a:t>On souhaite pouvoir accéder aux différentes informations présentes dans une ligne.</a:t>
            </a:r>
          </a:p>
        </p:txBody>
      </p:sp>
    </p:spTree>
    <p:extLst>
      <p:ext uri="{BB962C8B-B14F-4D97-AF65-F5344CB8AC3E}">
        <p14:creationId xmlns:p14="http://schemas.microsoft.com/office/powerpoint/2010/main" val="2790527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Accès aux lignes d’un texte</a:t>
            </a:r>
          </a:p>
        </p:txBody>
      </p:sp>
      <p:sp>
        <p:nvSpPr>
          <p:cNvPr id="3" name="Espace réservé du contenu 2"/>
          <p:cNvSpPr>
            <a:spLocks noGrp="1"/>
          </p:cNvSpPr>
          <p:nvPr>
            <p:ph idx="1"/>
          </p:nvPr>
        </p:nvSpPr>
        <p:spPr/>
        <p:txBody>
          <a:bodyPr>
            <a:normAutofit/>
          </a:bodyPr>
          <a:lstStyle/>
          <a:p>
            <a:pPr marL="0" indent="0">
              <a:buNone/>
            </a:pPr>
            <a:r>
              <a:rPr lang="fr-FR" sz="2400" dirty="0"/>
              <a:t>﻿Il faut se contenter de la classe </a:t>
            </a:r>
            <a:r>
              <a:rPr lang="fr-FR" sz="2200" dirty="0" err="1">
                <a:solidFill>
                  <a:schemeClr val="accent4"/>
                </a:solidFill>
                <a:latin typeface="Consolas" panose="020B0609020204030204" pitchFamily="49" charset="0"/>
                <a:cs typeface="Consolas" panose="020B0609020204030204" pitchFamily="49" charset="0"/>
              </a:rPr>
              <a:t>FileReader</a:t>
            </a:r>
            <a:r>
              <a:rPr lang="fr-FR" sz="2400" dirty="0"/>
              <a:t>, symétrique de </a:t>
            </a:r>
            <a:r>
              <a:rPr lang="fr-FR" sz="2200" dirty="0" err="1">
                <a:solidFill>
                  <a:schemeClr val="accent4"/>
                </a:solidFill>
                <a:latin typeface="Consolas" panose="020B0609020204030204" pitchFamily="49" charset="0"/>
                <a:cs typeface="Consolas" panose="020B0609020204030204" pitchFamily="49" charset="0"/>
              </a:rPr>
              <a:t>FileWriter</a:t>
            </a:r>
            <a:r>
              <a:rPr lang="fr-FR" sz="2400" dirty="0"/>
              <a:t>. En la couplant avec la classe </a:t>
            </a:r>
            <a:r>
              <a:rPr lang="fr-FR" sz="2200" dirty="0" err="1">
                <a:solidFill>
                  <a:schemeClr val="accent4"/>
                </a:solidFill>
                <a:latin typeface="Consolas" panose="020B0609020204030204" pitchFamily="49" charset="0"/>
                <a:cs typeface="Consolas" panose="020B0609020204030204" pitchFamily="49" charset="0"/>
              </a:rPr>
              <a:t>BufferedReader</a:t>
            </a:r>
            <a:r>
              <a:rPr lang="fr-FR" sz="2400" dirty="0"/>
              <a:t> qui dispose d’une méthode </a:t>
            </a:r>
            <a:r>
              <a:rPr lang="fr-FR" sz="2200" dirty="0" err="1">
                <a:solidFill>
                  <a:schemeClr val="accent4"/>
                </a:solidFill>
                <a:latin typeface="Consolas" panose="020B0609020204030204" pitchFamily="49" charset="0"/>
                <a:cs typeface="Consolas" panose="020B0609020204030204" pitchFamily="49" charset="0"/>
              </a:rPr>
              <a:t>readLine</a:t>
            </a:r>
            <a:r>
              <a:rPr lang="fr-FR" sz="2400" dirty="0"/>
              <a:t>, nous allons pouvoir lire chacune des lignes de notre fichier (avec </a:t>
            </a:r>
            <a:r>
              <a:rPr lang="fr-FR" sz="2200" dirty="0" err="1">
                <a:solidFill>
                  <a:schemeClr val="accent4"/>
                </a:solidFill>
                <a:latin typeface="Consolas" panose="020B0609020204030204" pitchFamily="49" charset="0"/>
                <a:cs typeface="Consolas" panose="020B0609020204030204" pitchFamily="49" charset="0"/>
              </a:rPr>
              <a:t>FileReader</a:t>
            </a:r>
            <a:r>
              <a:rPr lang="fr-FR" sz="2400" dirty="0"/>
              <a:t> seule, on ne pourrait accéder qu’à des caractères, et il nous faudrait prendre en charge la gestion de la fin de ligne). </a:t>
            </a:r>
          </a:p>
          <a:p>
            <a:pPr marL="0" indent="0">
              <a:buNone/>
            </a:pPr>
            <a:r>
              <a:rPr lang="fr-FR" sz="2400" dirty="0"/>
              <a:t>Nous créons donc un objet </a:t>
            </a:r>
            <a:r>
              <a:rPr lang="fr-FR" sz="2400" dirty="0" err="1"/>
              <a:t>entree</a:t>
            </a:r>
            <a:r>
              <a:rPr lang="fr-FR" sz="2400" dirty="0"/>
              <a:t> de la façon suivante :</a:t>
            </a:r>
          </a:p>
        </p:txBody>
      </p:sp>
      <p:sp>
        <p:nvSpPr>
          <p:cNvPr id="4" name="Espace réservé du contenu 2">
            <a:extLst>
              <a:ext uri="{FF2B5EF4-FFF2-40B4-BE49-F238E27FC236}">
                <a16:creationId xmlns:a16="http://schemas.microsoft.com/office/drawing/2014/main" id="{CDD52CF3-7DEE-A400-0F18-4AB7B782F50C}"/>
              </a:ext>
            </a:extLst>
          </p:cNvPr>
          <p:cNvSpPr txBox="1">
            <a:spLocks/>
          </p:cNvSpPr>
          <p:nvPr/>
        </p:nvSpPr>
        <p:spPr>
          <a:xfrm>
            <a:off x="838200" y="4732455"/>
            <a:ext cx="10515600" cy="10908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200" dirty="0" err="1">
                <a:solidFill>
                  <a:schemeClr val="accent4"/>
                </a:solidFill>
                <a:latin typeface="Consolas" panose="020B0609020204030204" pitchFamily="49" charset="0"/>
                <a:cs typeface="Consolas" panose="020B0609020204030204" pitchFamily="49" charset="0"/>
              </a:rPr>
              <a:t>BufferedReader</a:t>
            </a:r>
            <a:r>
              <a:rPr lang="fr-FR" sz="2400" dirty="0"/>
              <a:t> dispose d’une méthode </a:t>
            </a:r>
            <a:r>
              <a:rPr lang="fr-FR" sz="2200" dirty="0" err="1">
                <a:solidFill>
                  <a:schemeClr val="accent4"/>
                </a:solidFill>
                <a:latin typeface="Consolas" panose="020B0609020204030204" pitchFamily="49" charset="0"/>
                <a:cs typeface="Consolas" panose="020B0609020204030204" pitchFamily="49" charset="0"/>
              </a:rPr>
              <a:t>readLine</a:t>
            </a:r>
            <a:r>
              <a:rPr lang="fr-FR" sz="2400" dirty="0"/>
              <a:t> qui retourne la ligne suivante du fichier.</a:t>
            </a:r>
          </a:p>
        </p:txBody>
      </p:sp>
      <p:sp>
        <p:nvSpPr>
          <p:cNvPr id="7" name="ZoneTexte 6">
            <a:extLst>
              <a:ext uri="{FF2B5EF4-FFF2-40B4-BE49-F238E27FC236}">
                <a16:creationId xmlns:a16="http://schemas.microsoft.com/office/drawing/2014/main" id="{E5AE33C0-7B85-095D-1180-873663861E21}"/>
              </a:ext>
            </a:extLst>
          </p:cNvPr>
          <p:cNvSpPr txBox="1"/>
          <p:nvPr/>
        </p:nvSpPr>
        <p:spPr>
          <a:xfrm>
            <a:off x="1155033" y="4295656"/>
            <a:ext cx="9769641" cy="369332"/>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BufferedReader</a:t>
            </a: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entree</a:t>
            </a:r>
            <a:r>
              <a:rPr lang="fr-BE" dirty="0">
                <a:latin typeface="Consolas" panose="020B0609020204030204" pitchFamily="49" charset="0"/>
                <a:cs typeface="Consolas" panose="020B0609020204030204" pitchFamily="49" charset="0"/>
              </a:rPr>
              <a:t>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BufferedReader</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FileReader</a:t>
            </a:r>
            <a:r>
              <a:rPr lang="fr-BE" dirty="0">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carres.txt</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94980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Exemple</a:t>
            </a:r>
          </a:p>
        </p:txBody>
      </p:sp>
      <p:sp>
        <p:nvSpPr>
          <p:cNvPr id="4" name="Rectangle 3">
            <a:extLst>
              <a:ext uri="{FF2B5EF4-FFF2-40B4-BE49-F238E27FC236}">
                <a16:creationId xmlns:a16="http://schemas.microsoft.com/office/drawing/2014/main" id="{C81AA46D-FC6A-0A47-B9B8-224D3B33A3DB}"/>
              </a:ext>
            </a:extLst>
          </p:cNvPr>
          <p:cNvSpPr/>
          <p:nvPr/>
        </p:nvSpPr>
        <p:spPr>
          <a:xfrm>
            <a:off x="2279374" y="1825625"/>
            <a:ext cx="7792278" cy="3970318"/>
          </a:xfrm>
          <a:prstGeom prst="rect">
            <a:avLst/>
          </a:prstGeom>
          <a:solidFill>
            <a:schemeClr val="bg1">
              <a:lumMod val="95000"/>
            </a:schemeClr>
          </a:solidFill>
        </p:spPr>
        <p:txBody>
          <a:bodyPr wrap="square">
            <a:spAutoFit/>
          </a:bodyPr>
          <a:lstStyle/>
          <a:p>
            <a:br>
              <a:rPr lang="fr-BE" sz="1400" dirty="0">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import </a:t>
            </a:r>
            <a:r>
              <a:rPr lang="fr-BE" sz="1400" dirty="0" err="1">
                <a:latin typeface="Consolas" panose="020B0609020204030204" pitchFamily="49" charset="0"/>
                <a:cs typeface="Consolas" panose="020B0609020204030204" pitchFamily="49" charset="0"/>
              </a:rPr>
              <a:t>java.io</a:t>
            </a: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public class </a:t>
            </a:r>
            <a:r>
              <a:rPr lang="fr-BE" sz="1400" dirty="0" err="1">
                <a:latin typeface="Consolas" panose="020B0609020204030204" pitchFamily="49" charset="0"/>
                <a:cs typeface="Consolas" panose="020B0609020204030204" pitchFamily="49" charset="0"/>
              </a:rPr>
              <a:t>LectureFichierTexte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public </a:t>
            </a:r>
            <a:r>
              <a:rPr lang="fr-BE" sz="1400" dirty="0" err="1">
                <a:solidFill>
                  <a:srgbClr val="CC7832"/>
                </a:solidFill>
                <a:latin typeface="Consolas" panose="020B0609020204030204" pitchFamily="49" charset="0"/>
                <a:cs typeface="Consolas" panose="020B0609020204030204" pitchFamily="49" charset="0"/>
              </a:rPr>
              <a:t>static</a:t>
            </a:r>
            <a:r>
              <a:rPr lang="fr-BE" sz="1400" dirty="0">
                <a:solidFill>
                  <a:srgbClr val="CC7832"/>
                </a:solidFill>
                <a:latin typeface="Consolas" panose="020B0609020204030204" pitchFamily="49" charset="0"/>
                <a:cs typeface="Consolas" panose="020B0609020204030204" pitchFamily="49" charset="0"/>
              </a:rPr>
              <a:t> </a:t>
            </a:r>
            <a:r>
              <a:rPr lang="fr-BE" sz="1400" dirty="0" err="1">
                <a:solidFill>
                  <a:srgbClr val="CC7832"/>
                </a:solidFill>
                <a:latin typeface="Consolas" panose="020B0609020204030204" pitchFamily="49" charset="0"/>
                <a:cs typeface="Consolas" panose="020B0609020204030204" pitchFamily="49" charset="0"/>
              </a:rPr>
              <a:t>void</a:t>
            </a:r>
            <a:r>
              <a:rPr lang="fr-BE" sz="1400" dirty="0">
                <a:solidFill>
                  <a:srgbClr val="CC7832"/>
                </a:solidFill>
                <a:latin typeface="Consolas" panose="020B0609020204030204" pitchFamily="49" charset="0"/>
                <a:cs typeface="Consolas" panose="020B0609020204030204" pitchFamily="49" charset="0"/>
              </a:rPr>
              <a:t> </a:t>
            </a:r>
            <a:r>
              <a:rPr lang="fr-BE" sz="1400" dirty="0">
                <a:solidFill>
                  <a:srgbClr val="FFC66D"/>
                </a:solidFill>
                <a:latin typeface="Consolas" panose="020B0609020204030204" pitchFamily="49" charset="0"/>
                <a:cs typeface="Consolas" panose="020B0609020204030204" pitchFamily="49" charset="0"/>
              </a:rPr>
              <a:t>main </a:t>
            </a:r>
            <a:r>
              <a:rPr lang="fr-BE" sz="1400" dirty="0">
                <a:latin typeface="Consolas" panose="020B0609020204030204" pitchFamily="49" charset="0"/>
                <a:cs typeface="Consolas" panose="020B0609020204030204" pitchFamily="49" charset="0"/>
              </a:rPr>
              <a:t>(String args[]) </a:t>
            </a:r>
            <a:r>
              <a:rPr lang="fr-BE" sz="1400" dirty="0" err="1">
                <a:solidFill>
                  <a:srgbClr val="CC7832"/>
                </a:solidFill>
                <a:latin typeface="Consolas" panose="020B0609020204030204" pitchFamily="49" charset="0"/>
                <a:cs typeface="Consolas" panose="020B0609020204030204" pitchFamily="49" charset="0"/>
              </a:rPr>
              <a:t>throws</a:t>
            </a: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IOException</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String </a:t>
            </a:r>
            <a:r>
              <a:rPr lang="fr-BE" sz="1400" dirty="0" err="1">
                <a:latin typeface="Consolas" panose="020B0609020204030204" pitchFamily="49" charset="0"/>
                <a:cs typeface="Consolas" panose="020B0609020204030204" pitchFamily="49" charset="0"/>
              </a:rPr>
              <a:t>nomfich</a:t>
            </a: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String ligne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solidFill>
                  <a:srgbClr val="CC7832"/>
                </a:solidFill>
                <a:latin typeface="Consolas" panose="020B0609020204030204" pitchFamily="49" charset="0"/>
                <a:cs typeface="Consolas" panose="020B0609020204030204" pitchFamily="49" charset="0"/>
              </a:rPr>
              <a:t>int</a:t>
            </a: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n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a:t>
            </a:r>
            <a:r>
              <a:rPr lang="fr-BE" sz="1400" dirty="0">
                <a:latin typeface="Consolas" panose="020B0609020204030204" pitchFamily="49" charset="0"/>
                <a:cs typeface="Consolas" panose="020B0609020204030204" pitchFamily="49" charset="0"/>
              </a:rPr>
              <a:t> (</a:t>
            </a:r>
            <a:r>
              <a:rPr lang="fr-BE" sz="1400" dirty="0">
                <a:solidFill>
                  <a:srgbClr val="6A8759"/>
                </a:solidFill>
                <a:latin typeface="Consolas" panose="020B0609020204030204" pitchFamily="49" charset="0"/>
                <a:cs typeface="Consolas" panose="020B0609020204030204" pitchFamily="49" charset="0"/>
              </a:rPr>
              <a:t>"Donnez le nom du fichier a lister : "</a:t>
            </a: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nomfich</a:t>
            </a:r>
            <a:r>
              <a:rPr lang="fr-BE" sz="1400" dirty="0">
                <a:latin typeface="Consolas" panose="020B0609020204030204" pitchFamily="49" charset="0"/>
                <a:cs typeface="Consolas" panose="020B0609020204030204" pitchFamily="49" charset="0"/>
              </a:rPr>
              <a:t> = </a:t>
            </a:r>
            <a:r>
              <a:rPr lang="fr-BE" sz="1400" dirty="0" err="1">
                <a:latin typeface="Consolas" panose="020B0609020204030204" pitchFamily="49" charset="0"/>
                <a:cs typeface="Consolas" panose="020B0609020204030204" pitchFamily="49" charset="0"/>
              </a:rPr>
              <a:t>Clavier.</a:t>
            </a:r>
            <a:r>
              <a:rPr lang="fr-BE" sz="1400" i="1" dirty="0" err="1">
                <a:latin typeface="Consolas" panose="020B0609020204030204" pitchFamily="49" charset="0"/>
                <a:cs typeface="Consolas" panose="020B0609020204030204" pitchFamily="49" charset="0"/>
              </a:rPr>
              <a:t>lireString</a:t>
            </a: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BufferedReader</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entree</a:t>
            </a:r>
            <a:r>
              <a:rPr lang="fr-BE" sz="1400" dirty="0">
                <a:latin typeface="Consolas" panose="020B0609020204030204" pitchFamily="49" charset="0"/>
                <a:cs typeface="Consolas" panose="020B0609020204030204" pitchFamily="49" charset="0"/>
              </a:rPr>
              <a:t> = </a:t>
            </a:r>
            <a:r>
              <a:rPr lang="fr-BE" sz="1400" dirty="0">
                <a:solidFill>
                  <a:srgbClr val="CC7832"/>
                </a:solidFill>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BufferedReader</a:t>
            </a: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FileReader</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nomfich</a:t>
            </a: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do </a:t>
            </a:r>
            <a:r>
              <a:rPr lang="fr-BE" sz="1400" dirty="0">
                <a:latin typeface="Consolas" panose="020B0609020204030204" pitchFamily="49" charset="0"/>
                <a:cs typeface="Consolas" panose="020B0609020204030204" pitchFamily="49" charset="0"/>
              </a:rPr>
              <a:t>{ ligne = </a:t>
            </a:r>
            <a:r>
              <a:rPr lang="fr-BE" sz="1400" dirty="0" err="1">
                <a:latin typeface="Consolas" panose="020B0609020204030204" pitchFamily="49" charset="0"/>
                <a:cs typeface="Consolas" panose="020B0609020204030204" pitchFamily="49" charset="0"/>
              </a:rPr>
              <a:t>entree.readLine</a:t>
            </a: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if </a:t>
            </a:r>
            <a:r>
              <a:rPr lang="fr-BE" sz="1400" dirty="0">
                <a:latin typeface="Consolas" panose="020B0609020204030204" pitchFamily="49" charset="0"/>
                <a:cs typeface="Consolas" panose="020B0609020204030204" pitchFamily="49" charset="0"/>
              </a:rPr>
              <a:t>(ligne != </a:t>
            </a:r>
            <a:r>
              <a:rPr lang="fr-BE" sz="1400" dirty="0" err="1">
                <a:solidFill>
                  <a:srgbClr val="CC7832"/>
                </a:solidFill>
                <a:latin typeface="Consolas" panose="020B0609020204030204" pitchFamily="49" charset="0"/>
                <a:cs typeface="Consolas" panose="020B0609020204030204" pitchFamily="49" charset="0"/>
              </a:rPr>
              <a:t>null</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 (ligne)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 </a:t>
            </a:r>
            <a:r>
              <a:rPr lang="fr-BE" sz="1400" dirty="0" err="1">
                <a:solidFill>
                  <a:srgbClr val="CC7832"/>
                </a:solidFill>
                <a:latin typeface="Consolas" panose="020B0609020204030204" pitchFamily="49" charset="0"/>
                <a:cs typeface="Consolas" panose="020B0609020204030204" pitchFamily="49" charset="0"/>
              </a:rPr>
              <a:t>while</a:t>
            </a: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(ligne != </a:t>
            </a:r>
            <a:r>
              <a:rPr lang="fr-BE" sz="1400" dirty="0" err="1">
                <a:solidFill>
                  <a:srgbClr val="CC7832"/>
                </a:solidFill>
                <a:latin typeface="Consolas" panose="020B0609020204030204" pitchFamily="49" charset="0"/>
                <a:cs typeface="Consolas" panose="020B0609020204030204" pitchFamily="49" charset="0"/>
              </a:rPr>
              <a:t>null</a:t>
            </a: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entree.close</a:t>
            </a:r>
            <a:r>
              <a:rPr lang="fr-BE" sz="1400" dirty="0">
                <a:latin typeface="Consolas" panose="020B0609020204030204" pitchFamily="49" charset="0"/>
                <a:cs typeface="Consolas" panose="020B0609020204030204" pitchFamily="49" charset="0"/>
              </a:rPr>
              <a:t> ()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 (</a:t>
            </a:r>
            <a:r>
              <a:rPr lang="fr-BE" sz="1400" dirty="0">
                <a:solidFill>
                  <a:srgbClr val="6A8759"/>
                </a:solidFill>
                <a:latin typeface="Consolas" panose="020B0609020204030204" pitchFamily="49" charset="0"/>
                <a:cs typeface="Consolas" panose="020B0609020204030204" pitchFamily="49" charset="0"/>
              </a:rPr>
              <a:t>"*** fin liste fichier ***"</a:t>
            </a:r>
            <a:r>
              <a:rPr lang="fr-BE" sz="1400" dirty="0">
                <a:latin typeface="Consolas" panose="020B0609020204030204" pitchFamily="49" charset="0"/>
                <a:cs typeface="Consolas" panose="020B0609020204030204" pitchFamily="49" charset="0"/>
              </a:rPr>
              <a:t>)</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7" name="Rectangle avec flèche vers la gauche 6">
            <a:extLst>
              <a:ext uri="{FF2B5EF4-FFF2-40B4-BE49-F238E27FC236}">
                <a16:creationId xmlns:a16="http://schemas.microsoft.com/office/drawing/2014/main" id="{4E1F1495-B96F-1242-81C4-DDA5BD194269}"/>
              </a:ext>
            </a:extLst>
          </p:cNvPr>
          <p:cNvSpPr/>
          <p:nvPr/>
        </p:nvSpPr>
        <p:spPr>
          <a:xfrm>
            <a:off x="7433111" y="4529890"/>
            <a:ext cx="3583695" cy="533323"/>
          </a:xfrm>
          <a:prstGeom prst="leftArrowCallout">
            <a:avLst>
              <a:gd name="adj1" fmla="val 25000"/>
              <a:gd name="adj2" fmla="val 25000"/>
              <a:gd name="adj3" fmla="val 25000"/>
              <a:gd name="adj4" fmla="val 899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err="1">
                <a:solidFill>
                  <a:schemeClr val="tx1"/>
                </a:solidFill>
              </a:rPr>
              <a:t>readLine</a:t>
            </a:r>
            <a:r>
              <a:rPr lang="fr-FR" sz="1400" dirty="0">
                <a:solidFill>
                  <a:schemeClr val="tx1"/>
                </a:solidFill>
              </a:rPr>
              <a:t> retourne </a:t>
            </a:r>
            <a:r>
              <a:rPr lang="fr-FR" sz="1400" dirty="0" err="1">
                <a:solidFill>
                  <a:schemeClr val="tx1"/>
                </a:solidFill>
              </a:rPr>
              <a:t>null</a:t>
            </a:r>
            <a:r>
              <a:rPr lang="fr-FR" sz="1400" dirty="0">
                <a:solidFill>
                  <a:schemeClr val="tx1"/>
                </a:solidFill>
              </a:rPr>
              <a:t> quand on atteint la fin du fichier.</a:t>
            </a:r>
          </a:p>
        </p:txBody>
      </p:sp>
      <p:sp>
        <p:nvSpPr>
          <p:cNvPr id="5" name="Rectangle 4">
            <a:extLst>
              <a:ext uri="{FF2B5EF4-FFF2-40B4-BE49-F238E27FC236}">
                <a16:creationId xmlns:a16="http://schemas.microsoft.com/office/drawing/2014/main" id="{08EA1D03-EF72-694B-B747-0D85A2B5B277}"/>
              </a:ext>
            </a:extLst>
          </p:cNvPr>
          <p:cNvSpPr/>
          <p:nvPr/>
        </p:nvSpPr>
        <p:spPr>
          <a:xfrm>
            <a:off x="5058327" y="985549"/>
            <a:ext cx="5168348" cy="584775"/>
          </a:xfrm>
          <a:prstGeom prst="rect">
            <a:avLst/>
          </a:prstGeom>
          <a:solidFill>
            <a:schemeClr val="accent1"/>
          </a:solidFill>
          <a:ln>
            <a:solidFill>
              <a:schemeClr val="accent2"/>
            </a:solidFill>
          </a:ln>
        </p:spPr>
        <p:txBody>
          <a:bodyPr wrap="square">
            <a:spAutoFit/>
          </a:bodyPr>
          <a:lstStyle/>
          <a:p>
            <a:r>
              <a:rPr lang="fr-FR" sz="1600" dirty="0">
                <a:latin typeface="Consolas" panose="020B0609020204030204" pitchFamily="49" charset="0"/>
                <a:cs typeface="Consolas" panose="020B0609020204030204" pitchFamily="49" charset="0"/>
              </a:rPr>
              <a:t>﻿</a:t>
            </a:r>
            <a:r>
              <a:rPr lang="fr-FR" sz="1600" dirty="0" err="1">
                <a:latin typeface="Consolas" panose="020B0609020204030204" pitchFamily="49" charset="0"/>
                <a:cs typeface="Consolas" panose="020B0609020204030204" pitchFamily="49" charset="0"/>
              </a:rPr>
              <a:t>while</a:t>
            </a:r>
            <a:r>
              <a:rPr lang="fr-FR" sz="1600" dirty="0">
                <a:latin typeface="Consolas" panose="020B0609020204030204" pitchFamily="49" charset="0"/>
                <a:cs typeface="Consolas" panose="020B0609020204030204" pitchFamily="49" charset="0"/>
              </a:rPr>
              <a:t> ( (ligne = </a:t>
            </a:r>
            <a:r>
              <a:rPr lang="fr-FR" sz="1600" dirty="0" err="1">
                <a:latin typeface="Consolas" panose="020B0609020204030204" pitchFamily="49" charset="0"/>
                <a:cs typeface="Consolas" panose="020B0609020204030204" pitchFamily="49" charset="0"/>
              </a:rPr>
              <a:t>entree.readLine</a:t>
            </a:r>
            <a:r>
              <a:rPr lang="fr-FR" sz="1600" dirty="0">
                <a:latin typeface="Consolas" panose="020B0609020204030204" pitchFamily="49" charset="0"/>
                <a:cs typeface="Consolas" panose="020B0609020204030204" pitchFamily="49" charset="0"/>
              </a:rPr>
              <a:t>()) != </a:t>
            </a:r>
            <a:r>
              <a:rPr lang="fr-FR" sz="1600" dirty="0" err="1">
                <a:latin typeface="Consolas" panose="020B0609020204030204" pitchFamily="49" charset="0"/>
                <a:cs typeface="Consolas" panose="020B0609020204030204" pitchFamily="49" charset="0"/>
              </a:rPr>
              <a:t>null</a:t>
            </a:r>
            <a:r>
              <a:rPr lang="fr-FR" sz="1600" dirty="0">
                <a:latin typeface="Consolas" panose="020B0609020204030204" pitchFamily="49" charset="0"/>
                <a:cs typeface="Consolas" panose="020B0609020204030204" pitchFamily="49" charset="0"/>
              </a:rPr>
              <a:t>)</a:t>
            </a:r>
          </a:p>
          <a:p>
            <a:r>
              <a:rPr lang="fr-FR" sz="1600" dirty="0">
                <a:latin typeface="Consolas" panose="020B0609020204030204" pitchFamily="49" charset="0"/>
                <a:cs typeface="Consolas" panose="020B0609020204030204" pitchFamily="49" charset="0"/>
              </a:rPr>
              <a:t>  </a:t>
            </a:r>
            <a:r>
              <a:rPr lang="fr-FR" sz="1600" dirty="0" err="1">
                <a:latin typeface="Consolas" panose="020B0609020204030204" pitchFamily="49" charset="0"/>
                <a:cs typeface="Consolas" panose="020B0609020204030204" pitchFamily="49" charset="0"/>
              </a:rPr>
              <a:t>System.out.println</a:t>
            </a:r>
            <a:r>
              <a:rPr lang="fr-FR" sz="1600" dirty="0">
                <a:latin typeface="Consolas" panose="020B0609020204030204" pitchFamily="49" charset="0"/>
                <a:cs typeface="Consolas" panose="020B0609020204030204" pitchFamily="49" charset="0"/>
              </a:rPr>
              <a:t> (ligne) ;</a:t>
            </a:r>
          </a:p>
        </p:txBody>
      </p:sp>
    </p:spTree>
    <p:extLst>
      <p:ext uri="{BB962C8B-B14F-4D97-AF65-F5344CB8AC3E}">
        <p14:creationId xmlns:p14="http://schemas.microsoft.com/office/powerpoint/2010/main" val="339103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left)">
                                      <p:cBhvr>
                                        <p:cTn id="8" dur="5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p:tgtEl>
                                          <p:spTgt spid="5"/>
                                        </p:tgtEl>
                                        <p:attrNameLst>
                                          <p:attrName>ppt_x</p:attrName>
                                        </p:attrNameLst>
                                      </p:cBhvr>
                                      <p:tavLst>
                                        <p:tav tm="0">
                                          <p:val>
                                            <p:strVal val="#ppt_x+#ppt_w*1.125000"/>
                                          </p:val>
                                        </p:tav>
                                        <p:tav tm="100000">
                                          <p:val>
                                            <p:strVal val="#ppt_x"/>
                                          </p:val>
                                        </p:tav>
                                      </p:tavLst>
                                    </p:anim>
                                    <p:animEffect transition="in" filter="wipe(left)">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Accès au contenu du texte</a:t>
            </a:r>
          </a:p>
        </p:txBody>
      </p:sp>
      <p:sp>
        <p:nvSpPr>
          <p:cNvPr id="3" name="Espace réservé du contenu 2"/>
          <p:cNvSpPr>
            <a:spLocks noGrp="1"/>
          </p:cNvSpPr>
          <p:nvPr>
            <p:ph idx="1"/>
          </p:nvPr>
        </p:nvSpPr>
        <p:spPr/>
        <p:txBody>
          <a:bodyPr>
            <a:normAutofit/>
          </a:bodyPr>
          <a:lstStyle/>
          <a:p>
            <a:pPr marL="0" indent="0">
              <a:buNone/>
            </a:pPr>
            <a:r>
              <a:rPr lang="fr-FR" sz="2400" dirty="0"/>
              <a:t>﻿La classe </a:t>
            </a:r>
            <a:r>
              <a:rPr lang="fr-FR" sz="2200" dirty="0" err="1">
                <a:solidFill>
                  <a:schemeClr val="accent4"/>
                </a:solidFill>
                <a:latin typeface="Consolas" panose="020B0609020204030204" pitchFamily="49" charset="0"/>
                <a:cs typeface="Consolas" panose="020B0609020204030204" pitchFamily="49" charset="0"/>
              </a:rPr>
              <a:t>StringTokenizer</a:t>
            </a:r>
            <a:r>
              <a:rPr lang="fr-FR" sz="2400" dirty="0"/>
              <a:t> permet d’accéder à chaque info présente dans les lignes plutôt qu’à la ligne dans sa globalité: elle permet de découper une chaîne en sous-chaînes sur base d’un caractère de séparation choisi. </a:t>
            </a:r>
          </a:p>
          <a:p>
            <a:pPr marL="0" indent="0">
              <a:buNone/>
            </a:pPr>
            <a:r>
              <a:rPr lang="fr-FR" sz="2400" dirty="0"/>
              <a:t>On construit un </a:t>
            </a:r>
            <a:r>
              <a:rPr lang="fr-FR" sz="2200" dirty="0" err="1">
                <a:solidFill>
                  <a:schemeClr val="accent4"/>
                </a:solidFill>
                <a:latin typeface="Consolas" panose="020B0609020204030204" pitchFamily="49" charset="0"/>
                <a:cs typeface="Consolas" panose="020B0609020204030204" pitchFamily="49" charset="0"/>
              </a:rPr>
              <a:t>StringTokenizer</a:t>
            </a:r>
            <a:r>
              <a:rPr lang="fr-FR" sz="2400" dirty="0"/>
              <a:t> sur base d’une ligne lue:</a:t>
            </a:r>
          </a:p>
        </p:txBody>
      </p:sp>
      <p:sp>
        <p:nvSpPr>
          <p:cNvPr id="4" name="Espace réservé du contenu 2">
            <a:extLst>
              <a:ext uri="{FF2B5EF4-FFF2-40B4-BE49-F238E27FC236}">
                <a16:creationId xmlns:a16="http://schemas.microsoft.com/office/drawing/2014/main" id="{4AFBC170-C4C4-D26D-40B3-EB215E3D100B}"/>
              </a:ext>
            </a:extLst>
          </p:cNvPr>
          <p:cNvSpPr txBox="1">
            <a:spLocks/>
          </p:cNvSpPr>
          <p:nvPr/>
        </p:nvSpPr>
        <p:spPr>
          <a:xfrm>
            <a:off x="838200" y="4142014"/>
            <a:ext cx="10515600" cy="16331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On a ensuite accès aux méthodes :</a:t>
            </a:r>
          </a:p>
          <a:p>
            <a:pPr marL="0" indent="0">
              <a:buFont typeface="Arial" panose="020B0604020202020204" pitchFamily="34" charset="0"/>
              <a:buNone/>
            </a:pPr>
            <a:r>
              <a:rPr lang="fr-FR" sz="2400" dirty="0"/>
              <a:t>﻿</a:t>
            </a:r>
            <a:r>
              <a:rPr lang="fr-FR" sz="2200" dirty="0" err="1">
                <a:solidFill>
                  <a:schemeClr val="accent4"/>
                </a:solidFill>
                <a:latin typeface="Consolas" panose="020B0609020204030204" pitchFamily="49" charset="0"/>
                <a:cs typeface="Consolas" panose="020B0609020204030204" pitchFamily="49" charset="0"/>
              </a:rPr>
              <a:t>countToken</a:t>
            </a:r>
            <a:r>
              <a:rPr lang="fr-FR" sz="2400" dirty="0"/>
              <a:t>, qui compte le nombre de </a:t>
            </a:r>
            <a:r>
              <a:rPr lang="fr-FR" sz="2400" dirty="0" err="1"/>
              <a:t>tokens</a:t>
            </a:r>
            <a:r>
              <a:rPr lang="fr-FR" sz="2400" dirty="0"/>
              <a:t> d’un objet du type ; </a:t>
            </a:r>
          </a:p>
          <a:p>
            <a:pPr marL="0" indent="0">
              <a:buFont typeface="Arial" panose="020B0604020202020204" pitchFamily="34" charset="0"/>
              <a:buNone/>
            </a:pPr>
            <a:r>
              <a:rPr lang="fr-FR" sz="2200" dirty="0" err="1">
                <a:solidFill>
                  <a:schemeClr val="accent4"/>
                </a:solidFill>
                <a:latin typeface="Consolas" panose="020B0609020204030204" pitchFamily="49" charset="0"/>
                <a:cs typeface="Consolas" panose="020B0609020204030204" pitchFamily="49" charset="0"/>
              </a:rPr>
              <a:t>nextToken</a:t>
            </a:r>
            <a:r>
              <a:rPr lang="fr-FR" sz="2400" dirty="0"/>
              <a:t>, qui fournit le </a:t>
            </a:r>
            <a:r>
              <a:rPr lang="fr-FR" sz="2400" dirty="0" err="1"/>
              <a:t>token</a:t>
            </a:r>
            <a:r>
              <a:rPr lang="fr-FR" sz="2400" dirty="0"/>
              <a:t> suivant s’il existe.</a:t>
            </a:r>
          </a:p>
          <a:p>
            <a:pPr marL="0" indent="0">
              <a:buFont typeface="Arial" panose="020B0604020202020204" pitchFamily="34" charset="0"/>
              <a:buNone/>
            </a:pPr>
            <a:endParaRPr lang="fr-FR" sz="2400" dirty="0"/>
          </a:p>
        </p:txBody>
      </p:sp>
      <p:sp>
        <p:nvSpPr>
          <p:cNvPr id="9" name="ZoneTexte 8">
            <a:extLst>
              <a:ext uri="{FF2B5EF4-FFF2-40B4-BE49-F238E27FC236}">
                <a16:creationId xmlns:a16="http://schemas.microsoft.com/office/drawing/2014/main" id="{FA5D4E61-1476-97BE-B1E5-65D2B03DCF63}"/>
              </a:ext>
            </a:extLst>
          </p:cNvPr>
          <p:cNvSpPr txBox="1"/>
          <p:nvPr/>
        </p:nvSpPr>
        <p:spPr>
          <a:xfrm>
            <a:off x="1905802" y="3511436"/>
            <a:ext cx="8383604" cy="369332"/>
          </a:xfrm>
          <a:prstGeom prst="rect">
            <a:avLst/>
          </a:prstGeom>
          <a:solidFill>
            <a:srgbClr val="2B2B2B"/>
          </a:solidFill>
        </p:spPr>
        <p:txBody>
          <a:bodyPr wrap="square">
            <a:spAutoFit/>
          </a:bodyPr>
          <a:lstStyle/>
          <a:p>
            <a:r>
              <a:rPr lang="fr-BE" dirty="0" err="1">
                <a:latin typeface="Consolas" panose="020B0609020204030204" pitchFamily="49" charset="0"/>
                <a:cs typeface="Consolas" panose="020B0609020204030204" pitchFamily="49" charset="0"/>
              </a:rPr>
              <a:t>StringTokenizer</a:t>
            </a: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tok</a:t>
            </a:r>
            <a:r>
              <a:rPr lang="fr-BE" dirty="0">
                <a:latin typeface="Consolas" panose="020B0609020204030204" pitchFamily="49" charset="0"/>
                <a:cs typeface="Consolas" panose="020B0609020204030204" pitchFamily="49" charset="0"/>
              </a:rPr>
              <a:t>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StringTokenizer</a:t>
            </a: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ligneLue</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10" name="Rectangle avec flèche vers le haut 9">
            <a:extLst>
              <a:ext uri="{FF2B5EF4-FFF2-40B4-BE49-F238E27FC236}">
                <a16:creationId xmlns:a16="http://schemas.microsoft.com/office/drawing/2014/main" id="{51AE7109-9D0D-5AAE-AA6C-126117A4FE8A}"/>
              </a:ext>
            </a:extLst>
          </p:cNvPr>
          <p:cNvSpPr/>
          <p:nvPr/>
        </p:nvSpPr>
        <p:spPr>
          <a:xfrm>
            <a:off x="7048101" y="3750182"/>
            <a:ext cx="3583695" cy="783664"/>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Ici, on découpe la ligne à chaque espace.</a:t>
            </a:r>
          </a:p>
        </p:txBody>
      </p:sp>
    </p:spTree>
    <p:extLst>
      <p:ext uri="{BB962C8B-B14F-4D97-AF65-F5344CB8AC3E}">
        <p14:creationId xmlns:p14="http://schemas.microsoft.com/office/powerpoint/2010/main" val="3848465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P spid="10"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Exemple</a:t>
            </a:r>
          </a:p>
        </p:txBody>
      </p:sp>
      <p:sp>
        <p:nvSpPr>
          <p:cNvPr id="3" name="Rectangle 2">
            <a:extLst>
              <a:ext uri="{FF2B5EF4-FFF2-40B4-BE49-F238E27FC236}">
                <a16:creationId xmlns:a16="http://schemas.microsoft.com/office/drawing/2014/main" id="{4D27793D-6529-F742-A499-8E5DC628B5C4}"/>
              </a:ext>
            </a:extLst>
          </p:cNvPr>
          <p:cNvSpPr/>
          <p:nvPr/>
        </p:nvSpPr>
        <p:spPr>
          <a:xfrm>
            <a:off x="2164648" y="365085"/>
            <a:ext cx="9552690" cy="6124754"/>
          </a:xfrm>
          <a:prstGeom prst="rect">
            <a:avLst/>
          </a:prstGeom>
          <a:solidFill>
            <a:schemeClr val="bg1">
              <a:lumMod val="95000"/>
            </a:schemeClr>
          </a:solidFill>
        </p:spPr>
        <p:txBody>
          <a:bodyPr wrap="square">
            <a:spAutoFit/>
          </a:bodyPr>
          <a:lstStyle/>
          <a:p>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err="1">
                <a:latin typeface="Consolas" panose="020B0609020204030204" pitchFamily="49" charset="0"/>
                <a:cs typeface="Consolas" panose="020B0609020204030204" pitchFamily="49" charset="0"/>
              </a:rPr>
              <a:t>LectureFichierTexteTokenizer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static</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main</a:t>
            </a:r>
            <a:r>
              <a:rPr lang="fr-BE" sz="1400" dirty="0">
                <a:latin typeface="Consolas" panose="020B0609020204030204" pitchFamily="49" charset="0"/>
                <a:cs typeface="Consolas" panose="020B0609020204030204" pitchFamily="49" charset="0"/>
              </a:rPr>
              <a:t>(String args[]) </a:t>
            </a:r>
            <a:r>
              <a:rPr lang="fr-BE" sz="1400" dirty="0" err="1">
                <a:solidFill>
                  <a:srgbClr val="CC7832"/>
                </a:solidFill>
                <a:effectLst/>
                <a:latin typeface="Consolas" panose="020B0609020204030204" pitchFamily="49" charset="0"/>
                <a:cs typeface="Consolas" panose="020B0609020204030204" pitchFamily="49" charset="0"/>
              </a:rPr>
              <a:t>throws</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IOException</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String </a:t>
            </a:r>
            <a:r>
              <a:rPr lang="fr-BE" sz="1400" dirty="0" err="1">
                <a:latin typeface="Consolas" panose="020B0609020204030204" pitchFamily="49" charset="0"/>
                <a:cs typeface="Consolas" panose="020B0609020204030204" pitchFamily="49" charset="0"/>
              </a:rPr>
              <a:t>nomfich</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double </a:t>
            </a:r>
            <a:r>
              <a:rPr lang="fr-BE" sz="1400" dirty="0">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som</a:t>
            </a:r>
            <a:r>
              <a:rPr lang="fr-BE" sz="1400" dirty="0">
                <a:latin typeface="Consolas" panose="020B0609020204030204" pitchFamily="49" charset="0"/>
                <a:cs typeface="Consolas" panose="020B0609020204030204" pitchFamily="49" charset="0"/>
              </a:rPr>
              <a:t> = </a:t>
            </a:r>
            <a:r>
              <a:rPr lang="fr-BE" sz="1400" dirty="0">
                <a:solidFill>
                  <a:srgbClr val="6897BB"/>
                </a:solidFill>
                <a:effectLst/>
                <a:latin typeface="Consolas" panose="020B0609020204030204" pitchFamily="49" charset="0"/>
                <a:cs typeface="Consolas" panose="020B0609020204030204" pitchFamily="49" charset="0"/>
              </a:rPr>
              <a:t>0.</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"donnez le nom du fichier a lister : "</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nomfich</a:t>
            </a:r>
            <a:r>
              <a:rPr lang="fr-BE" sz="1400" dirty="0">
                <a:latin typeface="Consolas" panose="020B0609020204030204" pitchFamily="49" charset="0"/>
                <a:cs typeface="Consolas" panose="020B0609020204030204" pitchFamily="49" charset="0"/>
              </a:rPr>
              <a:t> = </a:t>
            </a:r>
            <a:r>
              <a:rPr lang="fr-BE" sz="1400" dirty="0" err="1">
                <a:latin typeface="Consolas" panose="020B0609020204030204" pitchFamily="49" charset="0"/>
                <a:cs typeface="Consolas" panose="020B0609020204030204" pitchFamily="49" charset="0"/>
              </a:rPr>
              <a:t>Clavier.</a:t>
            </a:r>
            <a:r>
              <a:rPr lang="fr-BE" sz="1400" i="1" dirty="0" err="1">
                <a:effectLst/>
                <a:latin typeface="Consolas" panose="020B0609020204030204" pitchFamily="49" charset="0"/>
                <a:cs typeface="Consolas" panose="020B0609020204030204" pitchFamily="49" charset="0"/>
              </a:rPr>
              <a:t>lireString</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BufferedReader</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entree</a:t>
            </a:r>
            <a:r>
              <a:rPr lang="fr-BE" sz="1400" dirty="0">
                <a:latin typeface="Consolas" panose="020B0609020204030204" pitchFamily="49" charset="0"/>
                <a:cs typeface="Consolas" panose="020B0609020204030204" pitchFamily="49" charset="0"/>
              </a:rPr>
              <a:t> = </a:t>
            </a:r>
            <a:r>
              <a:rPr lang="fr-BE" sz="1400" dirty="0">
                <a:solidFill>
                  <a:srgbClr val="CC7832"/>
                </a:solidFill>
                <a:effectLst/>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BufferedReader</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FileReader</a:t>
            </a:r>
            <a:r>
              <a:rPr lang="fr-BE" sz="1400" dirty="0">
                <a:latin typeface="Consolas" panose="020B0609020204030204" pitchFamily="49" charset="0"/>
                <a:cs typeface="Consolas" panose="020B0609020204030204" pitchFamily="49" charset="0"/>
              </a:rPr>
              <a:t>(</a:t>
            </a:r>
            <a:r>
              <a:rPr lang="fr-BE" sz="1400" dirty="0" err="1">
                <a:latin typeface="Consolas" panose="020B0609020204030204" pitchFamily="49" charset="0"/>
                <a:cs typeface="Consolas" panose="020B0609020204030204" pitchFamily="49" charset="0"/>
              </a:rPr>
              <a:t>nomfich</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"Flottants contenus dans le fichier " </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nomfich</a:t>
            </a:r>
            <a:r>
              <a:rPr lang="fr-BE" sz="1400" dirty="0">
                <a:latin typeface="Consolas" panose="020B0609020204030204" pitchFamily="49" charset="0"/>
                <a:cs typeface="Consolas" panose="020B0609020204030204" pitchFamily="49" charset="0"/>
              </a:rPr>
              <a:t> + </a:t>
            </a:r>
            <a:r>
              <a:rPr lang="fr-BE" sz="1400" dirty="0">
                <a:solidFill>
                  <a:srgbClr val="6A8759"/>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while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r>
              <a:rPr lang="fr-BE" sz="1400" dirty="0" err="1">
                <a:solidFill>
                  <a:srgbClr val="CC7832"/>
                </a:solidFill>
                <a:effectLst/>
                <a:latin typeface="Consolas" panose="020B0609020204030204" pitchFamily="49" charset="0"/>
                <a:cs typeface="Consolas" panose="020B0609020204030204" pitchFamily="49" charset="0"/>
              </a:rPr>
              <a:t>true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String </a:t>
            </a:r>
            <a:r>
              <a:rPr lang="fr-BE" sz="1400" dirty="0" err="1">
                <a:latin typeface="Consolas" panose="020B0609020204030204" pitchFamily="49" charset="0"/>
                <a:cs typeface="Consolas" panose="020B0609020204030204" pitchFamily="49" charset="0"/>
              </a:rPr>
              <a:t>ligneLue</a:t>
            </a:r>
            <a:r>
              <a:rPr lang="fr-BE" sz="1400" dirty="0">
                <a:latin typeface="Consolas" panose="020B0609020204030204" pitchFamily="49" charset="0"/>
                <a:cs typeface="Consolas" panose="020B0609020204030204" pitchFamily="49" charset="0"/>
              </a:rPr>
              <a:t> = </a:t>
            </a:r>
            <a:r>
              <a:rPr lang="fr-BE" sz="1400" dirty="0" err="1">
                <a:latin typeface="Consolas" panose="020B0609020204030204" pitchFamily="49" charset="0"/>
                <a:cs typeface="Consolas" panose="020B0609020204030204" pitchFamily="49" charset="0"/>
              </a:rPr>
              <a:t>entree.readLine</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if </a:t>
            </a:r>
            <a:r>
              <a:rPr lang="fr-BE" sz="1400" dirty="0">
                <a:latin typeface="Consolas" panose="020B0609020204030204" pitchFamily="49" charset="0"/>
                <a:cs typeface="Consolas" panose="020B0609020204030204" pitchFamily="49" charset="0"/>
              </a:rPr>
              <a:t>(</a:t>
            </a:r>
            <a:r>
              <a:rPr lang="fr-BE" sz="1400" dirty="0" err="1">
                <a:latin typeface="Consolas" panose="020B0609020204030204" pitchFamily="49" charset="0"/>
                <a:cs typeface="Consolas" panose="020B0609020204030204" pitchFamily="49" charset="0"/>
              </a:rPr>
              <a:t>ligneLue</a:t>
            </a:r>
            <a:r>
              <a:rPr lang="fr-BE" sz="1400" dirty="0">
                <a:latin typeface="Consolas" panose="020B0609020204030204" pitchFamily="49" charset="0"/>
                <a:cs typeface="Consolas" panose="020B0609020204030204" pitchFamily="49" charset="0"/>
              </a:rPr>
              <a:t> == </a:t>
            </a:r>
            <a:r>
              <a:rPr lang="fr-BE" sz="1400" dirty="0" err="1">
                <a:solidFill>
                  <a:srgbClr val="CC7832"/>
                </a:solidFill>
                <a:effectLst/>
                <a:latin typeface="Consolas" panose="020B0609020204030204" pitchFamily="49" charset="0"/>
                <a:cs typeface="Consolas" panose="020B0609020204030204" pitchFamily="49" charset="0"/>
              </a:rPr>
              <a:t>null</a:t>
            </a: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break;</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"Nouvelle ligne: " </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ligneLue</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StringTokenizer</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tok</a:t>
            </a:r>
            <a:r>
              <a:rPr lang="fr-BE" sz="1400" dirty="0">
                <a:latin typeface="Consolas" panose="020B0609020204030204" pitchFamily="49" charset="0"/>
                <a:cs typeface="Consolas" panose="020B0609020204030204" pitchFamily="49" charset="0"/>
              </a:rPr>
              <a:t> = </a:t>
            </a:r>
            <a:r>
              <a:rPr lang="fr-BE" sz="1400" dirty="0">
                <a:solidFill>
                  <a:srgbClr val="CC7832"/>
                </a:solidFill>
                <a:effectLst/>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StringTokenizer</a:t>
            </a:r>
            <a:r>
              <a:rPr lang="fr-BE" sz="1400" dirty="0">
                <a:latin typeface="Consolas" panose="020B0609020204030204" pitchFamily="49" charset="0"/>
                <a:cs typeface="Consolas" panose="020B0609020204030204" pitchFamily="49" charset="0"/>
              </a:rPr>
              <a:t>(</a:t>
            </a:r>
            <a:r>
              <a:rPr lang="fr-BE" sz="1400" dirty="0" err="1">
                <a:latin typeface="Consolas" panose="020B0609020204030204" pitchFamily="49" charset="0"/>
                <a:cs typeface="Consolas" panose="020B0609020204030204" pitchFamily="49" charset="0"/>
              </a:rPr>
              <a:t>ligneLue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6A8759"/>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808080"/>
                </a:solidFill>
                <a:effectLst/>
                <a:latin typeface="Consolas" panose="020B0609020204030204" pitchFamily="49" charset="0"/>
                <a:cs typeface="Consolas" panose="020B0609020204030204" pitchFamily="49" charset="0"/>
              </a:rPr>
              <a:t>// espace </a:t>
            </a:r>
            <a:r>
              <a:rPr lang="fr-BE" sz="1400" dirty="0" err="1">
                <a:solidFill>
                  <a:srgbClr val="808080"/>
                </a:solidFill>
                <a:effectLst/>
                <a:latin typeface="Consolas" panose="020B0609020204030204" pitchFamily="49" charset="0"/>
                <a:cs typeface="Consolas" panose="020B0609020204030204" pitchFamily="49" charset="0"/>
              </a:rPr>
              <a:t>separateur</a:t>
            </a:r>
            <a:br>
              <a:rPr lang="fr-BE" sz="1400" dirty="0">
                <a:solidFill>
                  <a:srgbClr val="808080"/>
                </a:solidFill>
                <a:effectLst/>
                <a:latin typeface="Consolas" panose="020B0609020204030204" pitchFamily="49" charset="0"/>
                <a:cs typeface="Consolas" panose="020B0609020204030204" pitchFamily="49" charset="0"/>
              </a:rPr>
            </a:br>
            <a:r>
              <a:rPr lang="fr-BE" sz="1400" dirty="0">
                <a:solidFill>
                  <a:srgbClr val="808080"/>
                </a:solidFill>
                <a:effectLst/>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int</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nv = </a:t>
            </a:r>
            <a:r>
              <a:rPr lang="fr-BE" sz="1400" dirty="0" err="1">
                <a:latin typeface="Consolas" panose="020B0609020204030204" pitchFamily="49" charset="0"/>
                <a:cs typeface="Consolas" panose="020B0609020204030204" pitchFamily="49" charset="0"/>
              </a:rPr>
              <a:t>tok.countTokens</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for </a:t>
            </a:r>
            <a:r>
              <a:rPr lang="fr-BE" sz="1400" dirty="0">
                <a:latin typeface="Consolas" panose="020B0609020204030204" pitchFamily="49" charset="0"/>
                <a:cs typeface="Consolas" panose="020B0609020204030204" pitchFamily="49" charset="0"/>
              </a:rPr>
              <a:t>(</a:t>
            </a:r>
            <a:r>
              <a:rPr lang="fr-BE" sz="1400" dirty="0" err="1">
                <a:solidFill>
                  <a:srgbClr val="CC7832"/>
                </a:solidFill>
                <a:effectLst/>
                <a:latin typeface="Consolas" panose="020B0609020204030204" pitchFamily="49" charset="0"/>
                <a:cs typeface="Consolas" panose="020B0609020204030204" pitchFamily="49" charset="0"/>
              </a:rPr>
              <a:t>int</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i = </a:t>
            </a:r>
            <a:r>
              <a:rPr lang="fr-BE" sz="1400" dirty="0">
                <a:solidFill>
                  <a:srgbClr val="6897BB"/>
                </a:solidFill>
                <a:effectLst/>
                <a:latin typeface="Consolas" panose="020B0609020204030204" pitchFamily="49" charset="0"/>
                <a:cs typeface="Consolas" panose="020B0609020204030204" pitchFamily="49" charset="0"/>
              </a:rPr>
              <a:t>0</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i &lt; nv</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i++)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x = </a:t>
            </a:r>
            <a:r>
              <a:rPr lang="fr-BE" sz="1400" dirty="0" err="1">
                <a:latin typeface="Consolas" panose="020B0609020204030204" pitchFamily="49" charset="0"/>
                <a:cs typeface="Consolas" panose="020B0609020204030204" pitchFamily="49" charset="0"/>
              </a:rPr>
              <a:t>Double.</a:t>
            </a:r>
            <a:r>
              <a:rPr lang="fr-BE" sz="1400" i="1" dirty="0" err="1">
                <a:effectLst/>
                <a:latin typeface="Consolas" panose="020B0609020204030204" pitchFamily="49" charset="0"/>
                <a:cs typeface="Consolas" panose="020B0609020204030204" pitchFamily="49" charset="0"/>
              </a:rPr>
              <a:t>parseDouble</a:t>
            </a:r>
            <a:r>
              <a:rPr lang="fr-BE" sz="1400" dirty="0">
                <a:latin typeface="Consolas" panose="020B0609020204030204" pitchFamily="49" charset="0"/>
                <a:cs typeface="Consolas" panose="020B0609020204030204" pitchFamily="49" charset="0"/>
              </a:rPr>
              <a:t>(</a:t>
            </a:r>
            <a:r>
              <a:rPr lang="fr-BE" sz="1400" dirty="0" err="1">
                <a:latin typeface="Consolas" panose="020B0609020204030204" pitchFamily="49" charset="0"/>
                <a:cs typeface="Consolas" panose="020B0609020204030204" pitchFamily="49" charset="0"/>
              </a:rPr>
              <a:t>tok.nextToken</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som</a:t>
            </a:r>
            <a:r>
              <a:rPr lang="fr-BE" sz="1400" dirty="0">
                <a:latin typeface="Consolas" panose="020B0609020204030204" pitchFamily="49" charset="0"/>
                <a:cs typeface="Consolas" panose="020B0609020204030204" pitchFamily="49" charset="0"/>
              </a:rPr>
              <a:t> += x</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(x + </a:t>
            </a:r>
            <a:r>
              <a:rPr lang="fr-BE" sz="1400" dirty="0">
                <a:solidFill>
                  <a:srgbClr val="6A8759"/>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entree.close</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"somme des nombres = " </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som</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 fin liste fichier ***"</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7" name="Rectangle avec flèche vers la gauche 6">
            <a:extLst>
              <a:ext uri="{FF2B5EF4-FFF2-40B4-BE49-F238E27FC236}">
                <a16:creationId xmlns:a16="http://schemas.microsoft.com/office/drawing/2014/main" id="{4E1F1495-B96F-1242-81C4-DDA5BD194269}"/>
              </a:ext>
            </a:extLst>
          </p:cNvPr>
          <p:cNvSpPr/>
          <p:nvPr/>
        </p:nvSpPr>
        <p:spPr>
          <a:xfrm>
            <a:off x="7867345" y="3892315"/>
            <a:ext cx="2967469" cy="533323"/>
          </a:xfrm>
          <a:prstGeom prst="leftArrowCallout">
            <a:avLst>
              <a:gd name="adj1" fmla="val 25000"/>
              <a:gd name="adj2" fmla="val 25000"/>
              <a:gd name="adj3" fmla="val 25000"/>
              <a:gd name="adj4" fmla="val 899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Le fichier contient des réels, on utilise </a:t>
            </a:r>
            <a:r>
              <a:rPr lang="fr-FR" sz="1400" dirty="0" err="1">
                <a:solidFill>
                  <a:schemeClr val="tx1"/>
                </a:solidFill>
              </a:rPr>
              <a:t>Double.parseDouble</a:t>
            </a:r>
            <a:endParaRPr lang="fr-FR" sz="1400" dirty="0">
              <a:solidFill>
                <a:schemeClr val="tx1"/>
              </a:solidFill>
            </a:endParaRPr>
          </a:p>
        </p:txBody>
      </p:sp>
    </p:spTree>
    <p:extLst>
      <p:ext uri="{BB962C8B-B14F-4D97-AF65-F5344CB8AC3E}">
        <p14:creationId xmlns:p14="http://schemas.microsoft.com/office/powerpoint/2010/main" val="342945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left)">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623A844-D99A-4C25-7508-01E7C24E1ECE}"/>
              </a:ext>
            </a:extLst>
          </p:cNvPr>
          <p:cNvSpPr>
            <a:spLocks noGrp="1"/>
          </p:cNvSpPr>
          <p:nvPr>
            <p:ph type="title"/>
          </p:nvPr>
        </p:nvSpPr>
        <p:spPr/>
        <p:txBody>
          <a:bodyPr/>
          <a:lstStyle/>
          <a:p>
            <a:r>
              <a:rPr lang="fr-FR" dirty="0"/>
              <a:t>Flux et Fichiers</a:t>
            </a:r>
          </a:p>
        </p:txBody>
      </p:sp>
      <p:sp>
        <p:nvSpPr>
          <p:cNvPr id="5" name="Espace réservé du texte 4">
            <a:extLst>
              <a:ext uri="{FF2B5EF4-FFF2-40B4-BE49-F238E27FC236}">
                <a16:creationId xmlns:a16="http://schemas.microsoft.com/office/drawing/2014/main" id="{8FF3C52D-9BBC-4F49-9D54-D2ADCEE441D4}"/>
              </a:ext>
            </a:extLst>
          </p:cNvPr>
          <p:cNvSpPr>
            <a:spLocks noGrp="1"/>
          </p:cNvSpPr>
          <p:nvPr>
            <p:ph idx="1"/>
          </p:nvPr>
        </p:nvSpPr>
        <p:spPr/>
        <p:txBody>
          <a:bodyPr/>
          <a:lstStyle/>
          <a:p>
            <a:r>
              <a:rPr lang="fr-FR" dirty="0"/>
              <a:t>La notion de Flux (Stream)</a:t>
            </a:r>
          </a:p>
          <a:p>
            <a:r>
              <a:rPr lang="fr-FR" dirty="0"/>
              <a:t>Flux Binaires</a:t>
            </a:r>
          </a:p>
          <a:p>
            <a:r>
              <a:rPr lang="fr-FR" dirty="0"/>
              <a:t>Accès Direct</a:t>
            </a:r>
          </a:p>
          <a:p>
            <a:r>
              <a:rPr lang="fr-FR" dirty="0"/>
              <a:t>Flux de Texte</a:t>
            </a:r>
          </a:p>
          <a:p>
            <a:r>
              <a:rPr lang="fr-FR" dirty="0">
                <a:solidFill>
                  <a:schemeClr val="accent4"/>
                </a:solidFill>
              </a:rPr>
              <a:t>Flux d’Objets</a:t>
            </a:r>
          </a:p>
          <a:p>
            <a:r>
              <a:rPr lang="fr-FR" dirty="0"/>
              <a:t>File et Path</a:t>
            </a:r>
          </a:p>
        </p:txBody>
      </p:sp>
      <p:pic>
        <p:nvPicPr>
          <p:cNvPr id="2056" name="Picture 8" descr="Rubik's Cube Transparent - PNG All">
            <a:extLst>
              <a:ext uri="{FF2B5EF4-FFF2-40B4-BE49-F238E27FC236}">
                <a16:creationId xmlns:a16="http://schemas.microsoft.com/office/drawing/2014/main" id="{09E0538F-1269-CF60-CF1C-B995432334C2}"/>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077710" y="1894547"/>
            <a:ext cx="3848184" cy="3826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2857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Ecriture d’objets</a:t>
            </a:r>
          </a:p>
        </p:txBody>
      </p:sp>
      <p:sp>
        <p:nvSpPr>
          <p:cNvPr id="3" name="Espace réservé du contenu 2"/>
          <p:cNvSpPr>
            <a:spLocks noGrp="1"/>
          </p:cNvSpPr>
          <p:nvPr>
            <p:ph idx="1"/>
          </p:nvPr>
        </p:nvSpPr>
        <p:spPr/>
        <p:txBody>
          <a:bodyPr>
            <a:normAutofit/>
          </a:bodyPr>
          <a:lstStyle/>
          <a:p>
            <a:pPr marL="0" indent="0">
              <a:buNone/>
            </a:pPr>
            <a:r>
              <a:rPr lang="fr-FR" sz="2400" dirty="0"/>
              <a:t>Pour enregistrer le contenu d’un objet, on pourrait écrire une méthode qui envoie le contenu de chaque champ primitif, mais Java offre une méthode plus simple.</a:t>
            </a:r>
          </a:p>
          <a:p>
            <a:pPr marL="0" indent="0">
              <a:buNone/>
            </a:pPr>
            <a:r>
              <a:rPr lang="fr-FR" sz="2400" dirty="0"/>
              <a:t>﻿Il existe des flux de sortie (</a:t>
            </a:r>
            <a:r>
              <a:rPr lang="fr-FR" sz="2200" dirty="0" err="1">
                <a:solidFill>
                  <a:schemeClr val="accent4"/>
                </a:solidFill>
                <a:latin typeface="Consolas" panose="020B0609020204030204" pitchFamily="49" charset="0"/>
                <a:cs typeface="Consolas" panose="020B0609020204030204" pitchFamily="49" charset="0"/>
              </a:rPr>
              <a:t>ObjectOutputStream</a:t>
            </a:r>
            <a:r>
              <a:rPr lang="fr-FR" sz="2400" dirty="0"/>
              <a:t>) qui disposent, en plus de méthodes d’écriture d’un type de base (</a:t>
            </a:r>
            <a:r>
              <a:rPr lang="fr-FR" sz="2200" dirty="0" err="1">
                <a:solidFill>
                  <a:schemeClr val="accent4"/>
                </a:solidFill>
                <a:latin typeface="Consolas" panose="020B0609020204030204" pitchFamily="49" charset="0"/>
                <a:cs typeface="Consolas" panose="020B0609020204030204" pitchFamily="49" charset="0"/>
              </a:rPr>
              <a:t>writeInt</a:t>
            </a:r>
            <a:r>
              <a:rPr lang="fr-FR" sz="2400" dirty="0"/>
              <a:t>, </a:t>
            </a:r>
            <a:r>
              <a:rPr lang="fr-FR" sz="2200" dirty="0" err="1">
                <a:solidFill>
                  <a:schemeClr val="accent4"/>
                </a:solidFill>
                <a:latin typeface="Consolas" panose="020B0609020204030204" pitchFamily="49" charset="0"/>
                <a:cs typeface="Consolas" panose="020B0609020204030204" pitchFamily="49" charset="0"/>
              </a:rPr>
              <a:t>writeDouble</a:t>
            </a:r>
            <a:r>
              <a:rPr lang="fr-FR" sz="2400" dirty="0"/>
              <a:t>...), d’une méthode </a:t>
            </a:r>
            <a:r>
              <a:rPr lang="fr-FR" sz="2200" dirty="0" err="1">
                <a:solidFill>
                  <a:schemeClr val="accent4"/>
                </a:solidFill>
                <a:latin typeface="Consolas" panose="020B0609020204030204" pitchFamily="49" charset="0"/>
                <a:cs typeface="Consolas" panose="020B0609020204030204" pitchFamily="49" charset="0"/>
              </a:rPr>
              <a:t>writeObject</a:t>
            </a:r>
            <a:r>
              <a:rPr lang="fr-FR" sz="2400" dirty="0"/>
              <a:t> qui écrit globalement les informations contenues dans les champs d’un objet. </a:t>
            </a:r>
          </a:p>
          <a:p>
            <a:pPr marL="0" indent="0">
              <a:buNone/>
            </a:pPr>
            <a:r>
              <a:rPr lang="fr-FR" sz="2400" dirty="0"/>
              <a:t>De même, il existe des flux d’entrée (</a:t>
            </a:r>
            <a:r>
              <a:rPr lang="fr-FR" sz="2200" dirty="0" err="1">
                <a:solidFill>
                  <a:schemeClr val="accent4"/>
                </a:solidFill>
                <a:latin typeface="Consolas" panose="020B0609020204030204" pitchFamily="49" charset="0"/>
                <a:cs typeface="Consolas" panose="020B0609020204030204" pitchFamily="49" charset="0"/>
              </a:rPr>
              <a:t>ObjectInputStream</a:t>
            </a:r>
            <a:r>
              <a:rPr lang="fr-FR" sz="2400" dirty="0"/>
              <a:t>) qui, outre les méthodes de lecture d’un type de base, disposent d’une méthode </a:t>
            </a:r>
            <a:r>
              <a:rPr lang="fr-FR" sz="2200" dirty="0" err="1">
                <a:solidFill>
                  <a:schemeClr val="accent4"/>
                </a:solidFill>
                <a:latin typeface="Consolas" panose="020B0609020204030204" pitchFamily="49" charset="0"/>
                <a:cs typeface="Consolas" panose="020B0609020204030204" pitchFamily="49" charset="0"/>
              </a:rPr>
              <a:t>readObject</a:t>
            </a:r>
            <a:r>
              <a:rPr lang="fr-FR" sz="2400" dirty="0"/>
              <a:t>.</a:t>
            </a:r>
          </a:p>
          <a:p>
            <a:pPr marL="0" indent="0">
              <a:buNone/>
            </a:pPr>
            <a:endParaRPr lang="fr-FR" sz="2400" dirty="0"/>
          </a:p>
        </p:txBody>
      </p:sp>
    </p:spTree>
    <p:extLst>
      <p:ext uri="{BB962C8B-B14F-4D97-AF65-F5344CB8AC3E}">
        <p14:creationId xmlns:p14="http://schemas.microsoft.com/office/powerpoint/2010/main" val="3061379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L’interface </a:t>
            </a:r>
            <a:r>
              <a:rPr lang="fr-FR" cap="none" dirty="0" err="1"/>
              <a:t>Serializable</a:t>
            </a:r>
            <a:endParaRPr lang="fr-FR" cap="none" dirty="0"/>
          </a:p>
        </p:txBody>
      </p:sp>
      <p:sp>
        <p:nvSpPr>
          <p:cNvPr id="3" name="Espace réservé du contenu 2"/>
          <p:cNvSpPr>
            <a:spLocks noGrp="1"/>
          </p:cNvSpPr>
          <p:nvPr>
            <p:ph idx="1"/>
          </p:nvPr>
        </p:nvSpPr>
        <p:spPr/>
        <p:txBody>
          <a:bodyPr>
            <a:normAutofit/>
          </a:bodyPr>
          <a:lstStyle/>
          <a:p>
            <a:pPr marL="0" indent="0">
              <a:buNone/>
            </a:pPr>
            <a:r>
              <a:rPr lang="fr-FR" sz="2400" dirty="0"/>
              <a:t>Pour pouvoir être manipulés sur des flux, les objets doivent implémenter l’interface </a:t>
            </a:r>
            <a:r>
              <a:rPr lang="fr-FR" sz="2200" dirty="0" err="1">
                <a:solidFill>
                  <a:schemeClr val="accent4"/>
                </a:solidFill>
                <a:latin typeface="Consolas" panose="020B0609020204030204" pitchFamily="49" charset="0"/>
                <a:cs typeface="Consolas" panose="020B0609020204030204" pitchFamily="49" charset="0"/>
              </a:rPr>
              <a:t>Serializable</a:t>
            </a:r>
            <a:r>
              <a:rPr lang="fr-FR" sz="2400" dirty="0"/>
              <a:t>.</a:t>
            </a:r>
          </a:p>
          <a:p>
            <a:pPr marL="0" indent="0">
              <a:buNone/>
            </a:pPr>
            <a:r>
              <a:rPr lang="fr-FR" sz="2400" dirty="0"/>
              <a:t>﻿Celle-ci ne comporte aucune méthode et sert simplement de « marqueur » qui indique au compilateur qu’on autorise l’échange des objets correspondants avec un flux.</a:t>
            </a:r>
          </a:p>
          <a:p>
            <a:pPr marL="0" indent="0">
              <a:buNone/>
            </a:pPr>
            <a:endParaRPr lang="fr-FR" sz="2400" dirty="0"/>
          </a:p>
          <a:p>
            <a:pPr marL="0" indent="0">
              <a:buNone/>
            </a:pPr>
            <a:r>
              <a:rPr lang="fr-FR" sz="2400" dirty="0"/>
              <a:t>Voici un exemple où nous enregistrons un tableau de 5 points, en enregistrant leur rang avec </a:t>
            </a:r>
            <a:r>
              <a:rPr lang="fr-FR" sz="2200" dirty="0" err="1">
                <a:solidFill>
                  <a:schemeClr val="accent4"/>
                </a:solidFill>
                <a:latin typeface="Consolas" panose="020B0609020204030204" pitchFamily="49" charset="0"/>
                <a:cs typeface="Consolas" panose="020B0609020204030204" pitchFamily="49" charset="0"/>
              </a:rPr>
              <a:t>writeInt</a:t>
            </a:r>
            <a:r>
              <a:rPr lang="fr-FR" sz="2400" dirty="0"/>
              <a:t>, et l’objet </a:t>
            </a:r>
            <a:r>
              <a:rPr lang="fr-FR" sz="2200" dirty="0">
                <a:solidFill>
                  <a:schemeClr val="accent4"/>
                </a:solidFill>
                <a:latin typeface="Consolas" panose="020B0609020204030204" pitchFamily="49" charset="0"/>
                <a:cs typeface="Consolas" panose="020B0609020204030204" pitchFamily="49" charset="0"/>
              </a:rPr>
              <a:t>Point</a:t>
            </a:r>
            <a:r>
              <a:rPr lang="fr-FR" sz="2400" dirty="0"/>
              <a:t> avec </a:t>
            </a:r>
            <a:r>
              <a:rPr lang="fr-FR" sz="2200" dirty="0" err="1">
                <a:solidFill>
                  <a:schemeClr val="accent4"/>
                </a:solidFill>
                <a:latin typeface="Consolas" panose="020B0609020204030204" pitchFamily="49" charset="0"/>
                <a:cs typeface="Consolas" panose="020B0609020204030204" pitchFamily="49" charset="0"/>
              </a:rPr>
              <a:t>writeObject</a:t>
            </a:r>
            <a:r>
              <a:rPr lang="fr-FR" sz="2400" dirty="0"/>
              <a:t>.</a:t>
            </a:r>
          </a:p>
        </p:txBody>
      </p:sp>
    </p:spTree>
    <p:extLst>
      <p:ext uri="{BB962C8B-B14F-4D97-AF65-F5344CB8AC3E}">
        <p14:creationId xmlns:p14="http://schemas.microsoft.com/office/powerpoint/2010/main" val="1498817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74752"/>
            <a:ext cx="10515600" cy="1325563"/>
          </a:xfrm>
        </p:spPr>
        <p:txBody>
          <a:bodyPr>
            <a:normAutofit/>
          </a:bodyPr>
          <a:lstStyle/>
          <a:p>
            <a:r>
              <a:rPr lang="fr-FR" cap="none" dirty="0"/>
              <a:t>Exemple</a:t>
            </a:r>
          </a:p>
        </p:txBody>
      </p:sp>
      <p:sp>
        <p:nvSpPr>
          <p:cNvPr id="7" name="Rectangle 6">
            <a:extLst>
              <a:ext uri="{FF2B5EF4-FFF2-40B4-BE49-F238E27FC236}">
                <a16:creationId xmlns:a16="http://schemas.microsoft.com/office/drawing/2014/main" id="{E66993CE-3C84-5845-BE61-E6FD6AAF6EC6}"/>
              </a:ext>
            </a:extLst>
          </p:cNvPr>
          <p:cNvSpPr/>
          <p:nvPr/>
        </p:nvSpPr>
        <p:spPr>
          <a:xfrm>
            <a:off x="3569368" y="689788"/>
            <a:ext cx="8202328" cy="5478423"/>
          </a:xfrm>
          <a:prstGeom prst="rect">
            <a:avLst/>
          </a:prstGeom>
          <a:solidFill>
            <a:schemeClr val="bg1">
              <a:lumMod val="95000"/>
            </a:schemeClr>
          </a:solidFill>
        </p:spPr>
        <p:txBody>
          <a:bodyPr wrap="square">
            <a:spAutoFit/>
          </a:bodyPr>
          <a:lstStyle/>
          <a:p>
            <a:br>
              <a:rPr lang="fr-BE" sz="1400" dirty="0">
                <a:latin typeface="Consolas" panose="020B0609020204030204" pitchFamily="49" charset="0"/>
                <a:cs typeface="Consolas" panose="020B0609020204030204" pitchFamily="49" charset="0"/>
              </a:rPr>
            </a:br>
            <a:r>
              <a:rPr lang="fr-BE" sz="1400" dirty="0">
                <a:solidFill>
                  <a:srgbClr val="CC7832"/>
                </a:solidFill>
                <a:latin typeface="Consolas" panose="020B0609020204030204" pitchFamily="49" charset="0"/>
                <a:cs typeface="Consolas" panose="020B0609020204030204" pitchFamily="49" charset="0"/>
              </a:rPr>
              <a:t>import </a:t>
            </a:r>
            <a:r>
              <a:rPr lang="fr-BE" sz="1400" dirty="0" err="1">
                <a:latin typeface="Consolas" panose="020B0609020204030204" pitchFamily="49" charset="0"/>
                <a:cs typeface="Consolas" panose="020B0609020204030204" pitchFamily="49" charset="0"/>
              </a:rPr>
              <a:t>java.io</a:t>
            </a: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class </a:t>
            </a:r>
            <a:r>
              <a:rPr lang="fr-BE" sz="1400" dirty="0">
                <a:latin typeface="Consolas" panose="020B0609020204030204" pitchFamily="49" charset="0"/>
                <a:cs typeface="Consolas" panose="020B0609020204030204" pitchFamily="49" charset="0"/>
              </a:rPr>
              <a:t>Point </a:t>
            </a:r>
            <a:r>
              <a:rPr lang="fr-BE" sz="1400" dirty="0" err="1">
                <a:solidFill>
                  <a:srgbClr val="CC7832"/>
                </a:solidFill>
                <a:effectLst/>
                <a:latin typeface="Consolas" panose="020B0609020204030204" pitchFamily="49" charset="0"/>
                <a:cs typeface="Consolas" panose="020B0609020204030204" pitchFamily="49" charset="0"/>
              </a:rPr>
              <a:t>implements</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Serializable</a:t>
            </a:r>
            <a:r>
              <a:rPr lang="fr-BE" sz="1400" dirty="0">
                <a:latin typeface="Consolas" panose="020B0609020204030204" pitchFamily="49" charset="0"/>
                <a:cs typeface="Consolas" panose="020B0609020204030204" pitchFamily="49" charset="0"/>
              </a:rPr>
              <a:t> {</a:t>
            </a:r>
          </a:p>
          <a:p>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private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int</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Point</a:t>
            </a:r>
            <a:r>
              <a:rPr lang="fr-BE" sz="1400" dirty="0">
                <a:latin typeface="Consolas" panose="020B0609020204030204" pitchFamily="49" charset="0"/>
                <a:cs typeface="Consolas" panose="020B0609020204030204" pitchFamily="49" charset="0"/>
              </a:rPr>
              <a:t>(</a:t>
            </a:r>
            <a:r>
              <a:rPr lang="fr-BE" sz="1400" dirty="0" err="1">
                <a:solidFill>
                  <a:srgbClr val="CC7832"/>
                </a:solidFill>
                <a:effectLst/>
                <a:latin typeface="Consolas" panose="020B0609020204030204" pitchFamily="49" charset="0"/>
                <a:cs typeface="Consolas" panose="020B0609020204030204" pitchFamily="49" charset="0"/>
              </a:rPr>
              <a:t>int</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abs</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int</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ord)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abs</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 </a:t>
            </a:r>
            <a:r>
              <a:rPr lang="fr-BE" sz="1400" dirty="0">
                <a:latin typeface="Consolas" panose="020B0609020204030204" pitchFamily="49" charset="0"/>
                <a:cs typeface="Consolas" panose="020B0609020204030204" pitchFamily="49" charset="0"/>
              </a:rPr>
              <a:t>= ord</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affiche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a:t>
            </a:r>
            <a:r>
              <a:rPr lang="fr-BE" sz="1400" dirty="0" err="1">
                <a:solidFill>
                  <a:srgbClr val="6A8759"/>
                </a:solidFill>
                <a:effectLst/>
                <a:latin typeface="Consolas" panose="020B0609020204030204" pitchFamily="49" charset="0"/>
                <a:cs typeface="Consolas" panose="020B0609020204030204" pitchFamily="49" charset="0"/>
              </a:rPr>
              <a:t>Coordonnees</a:t>
            </a:r>
            <a:r>
              <a:rPr lang="fr-BE" sz="1400" dirty="0">
                <a:solidFill>
                  <a:srgbClr val="6A8759"/>
                </a:solidFill>
                <a:effectLst/>
                <a:latin typeface="Consolas" panose="020B0609020204030204" pitchFamily="49" charset="0"/>
                <a:cs typeface="Consolas" panose="020B0609020204030204" pitchFamily="49" charset="0"/>
              </a:rPr>
              <a:t> = "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a:t>
            </a:r>
            <a:r>
              <a:rPr lang="fr-BE" sz="1400" dirty="0">
                <a:solidFill>
                  <a:srgbClr val="6A8759"/>
                </a:solidFill>
                <a:effectLst/>
                <a:latin typeface="Consolas" panose="020B0609020204030204" pitchFamily="49" charset="0"/>
                <a:cs typeface="Consolas" panose="020B0609020204030204" pitchFamily="49" charset="0"/>
              </a:rPr>
              <a:t>" "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err="1">
                <a:latin typeface="Consolas" panose="020B0609020204030204" pitchFamily="49" charset="0"/>
                <a:cs typeface="Consolas" panose="020B0609020204030204" pitchFamily="49" charset="0"/>
              </a:rPr>
              <a:t>CreationFichierObjet</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static</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main</a:t>
            </a:r>
            <a:r>
              <a:rPr lang="fr-BE" sz="1400" dirty="0">
                <a:latin typeface="Consolas" panose="020B0609020204030204" pitchFamily="49" charset="0"/>
                <a:cs typeface="Consolas" panose="020B0609020204030204" pitchFamily="49" charset="0"/>
              </a:rPr>
              <a:t>(String args[]) </a:t>
            </a:r>
            <a:r>
              <a:rPr lang="fr-BE" sz="1400" dirty="0" err="1">
                <a:solidFill>
                  <a:srgbClr val="CC7832"/>
                </a:solidFill>
                <a:effectLst/>
                <a:latin typeface="Consolas" panose="020B0609020204030204" pitchFamily="49" charset="0"/>
                <a:cs typeface="Consolas" panose="020B0609020204030204" pitchFamily="49" charset="0"/>
              </a:rPr>
              <a:t>throws</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IOException</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ObjectOutputStream</a:t>
            </a:r>
            <a:r>
              <a:rPr lang="fr-BE" sz="1400" dirty="0">
                <a:latin typeface="Consolas" panose="020B0609020204030204" pitchFamily="49" charset="0"/>
                <a:cs typeface="Consolas" panose="020B0609020204030204" pitchFamily="49" charset="0"/>
              </a:rPr>
              <a:t> sortie</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 </a:t>
            </a:r>
            <a:r>
              <a:rPr lang="fr-BE" sz="1400" dirty="0">
                <a:solidFill>
                  <a:srgbClr val="CC7832"/>
                </a:solidFill>
                <a:effectLst/>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ObjectOutputStream</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FileOutputStream</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a:t>
            </a:r>
            <a:r>
              <a:rPr lang="fr-BE" sz="1400" dirty="0" err="1">
                <a:solidFill>
                  <a:srgbClr val="6A8759"/>
                </a:solidFill>
                <a:effectLst/>
                <a:latin typeface="Consolas" panose="020B0609020204030204" pitchFamily="49" charset="0"/>
                <a:cs typeface="Consolas" panose="020B0609020204030204" pitchFamily="49" charset="0"/>
              </a:rPr>
              <a:t>points.dat</a:t>
            </a:r>
            <a:r>
              <a:rPr lang="fr-BE" sz="1400" dirty="0">
                <a:solidFill>
                  <a:srgbClr val="6A8759"/>
                </a:solidFill>
                <a:effectLst/>
                <a:latin typeface="Consolas" panose="020B0609020204030204" pitchFamily="49" charset="0"/>
                <a:cs typeface="Consolas" panose="020B0609020204030204" pitchFamily="49" charset="0"/>
              </a:rPr>
              <a:t>"</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Point p</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for </a:t>
            </a:r>
            <a:r>
              <a:rPr lang="fr-BE" sz="1400" dirty="0">
                <a:latin typeface="Consolas" panose="020B0609020204030204" pitchFamily="49" charset="0"/>
                <a:cs typeface="Consolas" panose="020B0609020204030204" pitchFamily="49" charset="0"/>
              </a:rPr>
              <a:t>(</a:t>
            </a:r>
            <a:r>
              <a:rPr lang="fr-BE" sz="1400" dirty="0" err="1">
                <a:solidFill>
                  <a:srgbClr val="CC7832"/>
                </a:solidFill>
                <a:effectLst/>
                <a:latin typeface="Consolas" panose="020B0609020204030204" pitchFamily="49" charset="0"/>
                <a:cs typeface="Consolas" panose="020B0609020204030204" pitchFamily="49" charset="0"/>
              </a:rPr>
              <a:t>int</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i = </a:t>
            </a:r>
            <a:r>
              <a:rPr lang="fr-BE" sz="1400" dirty="0">
                <a:solidFill>
                  <a:srgbClr val="6897BB"/>
                </a:solidFill>
                <a:effectLst/>
                <a:latin typeface="Consolas" panose="020B0609020204030204" pitchFamily="49" charset="0"/>
                <a:cs typeface="Consolas" panose="020B0609020204030204" pitchFamily="49" charset="0"/>
              </a:rPr>
              <a:t>0</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i &lt; </a:t>
            </a:r>
            <a:r>
              <a:rPr lang="fr-BE" sz="1400" dirty="0">
                <a:solidFill>
                  <a:srgbClr val="6897BB"/>
                </a:solidFill>
                <a:effectLst/>
                <a:latin typeface="Consolas" panose="020B0609020204030204" pitchFamily="49" charset="0"/>
                <a:cs typeface="Consolas" panose="020B0609020204030204" pitchFamily="49" charset="0"/>
              </a:rPr>
              <a:t>5</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i++)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p = </a:t>
            </a:r>
            <a:r>
              <a:rPr lang="fr-BE" sz="1400" dirty="0">
                <a:solidFill>
                  <a:srgbClr val="CC7832"/>
                </a:solidFill>
                <a:effectLst/>
                <a:latin typeface="Consolas" panose="020B0609020204030204" pitchFamily="49" charset="0"/>
                <a:cs typeface="Consolas" panose="020B0609020204030204" pitchFamily="49" charset="0"/>
              </a:rPr>
              <a:t>new </a:t>
            </a:r>
            <a:r>
              <a:rPr lang="fr-BE" sz="1400" dirty="0">
                <a:latin typeface="Consolas" panose="020B0609020204030204" pitchFamily="49" charset="0"/>
                <a:cs typeface="Consolas" panose="020B0609020204030204" pitchFamily="49" charset="0"/>
              </a:rPr>
              <a:t>Point(i</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6897BB"/>
                </a:solidFill>
                <a:effectLst/>
                <a:latin typeface="Consolas" panose="020B0609020204030204" pitchFamily="49" charset="0"/>
                <a:cs typeface="Consolas" panose="020B0609020204030204" pitchFamily="49" charset="0"/>
              </a:rPr>
              <a:t>2 </a:t>
            </a:r>
            <a:r>
              <a:rPr lang="fr-BE" sz="1400" dirty="0">
                <a:latin typeface="Consolas" panose="020B0609020204030204" pitchFamily="49" charset="0"/>
                <a:cs typeface="Consolas" panose="020B0609020204030204" pitchFamily="49" charset="0"/>
              </a:rPr>
              <a:t>* i)</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sortie.writeInt</a:t>
            </a:r>
            <a:r>
              <a:rPr lang="fr-BE" sz="1400" dirty="0">
                <a:latin typeface="Consolas" panose="020B0609020204030204" pitchFamily="49" charset="0"/>
                <a:cs typeface="Consolas" panose="020B0609020204030204" pitchFamily="49" charset="0"/>
              </a:rPr>
              <a:t>(i)</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808080"/>
                </a:solidFill>
                <a:effectLst/>
                <a:latin typeface="Consolas" panose="020B0609020204030204" pitchFamily="49" charset="0"/>
                <a:cs typeface="Consolas" panose="020B0609020204030204" pitchFamily="49" charset="0"/>
              </a:rPr>
              <a:t>// envoi de </a:t>
            </a:r>
            <a:r>
              <a:rPr lang="fr-BE" sz="1400" dirty="0" err="1">
                <a:solidFill>
                  <a:srgbClr val="808080"/>
                </a:solidFill>
                <a:effectLst/>
                <a:latin typeface="Consolas" panose="020B0609020204030204" pitchFamily="49" charset="0"/>
                <a:cs typeface="Consolas" panose="020B0609020204030204" pitchFamily="49" charset="0"/>
              </a:rPr>
              <a:t>l�entier</a:t>
            </a:r>
            <a:r>
              <a:rPr lang="fr-BE" sz="1400" dirty="0">
                <a:solidFill>
                  <a:srgbClr val="808080"/>
                </a:solidFill>
                <a:effectLst/>
                <a:latin typeface="Consolas" panose="020B0609020204030204" pitchFamily="49" charset="0"/>
                <a:cs typeface="Consolas" panose="020B0609020204030204" pitchFamily="49" charset="0"/>
              </a:rPr>
              <a:t> i sur le flux sortie </a:t>
            </a:r>
            <a:br>
              <a:rPr lang="fr-BE" sz="1400" dirty="0">
                <a:solidFill>
                  <a:srgbClr val="808080"/>
                </a:solidFill>
                <a:effectLst/>
                <a:latin typeface="Consolas" panose="020B0609020204030204" pitchFamily="49" charset="0"/>
                <a:cs typeface="Consolas" panose="020B0609020204030204" pitchFamily="49" charset="0"/>
              </a:rPr>
            </a:br>
            <a:r>
              <a:rPr lang="fr-BE" sz="1400" dirty="0">
                <a:solidFill>
                  <a:srgbClr val="808080"/>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sortie.writeObject</a:t>
            </a:r>
            <a:r>
              <a:rPr lang="fr-BE" sz="1400" dirty="0">
                <a:latin typeface="Consolas" panose="020B0609020204030204" pitchFamily="49" charset="0"/>
                <a:cs typeface="Consolas" panose="020B0609020204030204" pitchFamily="49" charset="0"/>
              </a:rPr>
              <a:t>(p)</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808080"/>
                </a:solidFill>
                <a:effectLst/>
                <a:latin typeface="Consolas" panose="020B0609020204030204" pitchFamily="49" charset="0"/>
                <a:cs typeface="Consolas" panose="020B0609020204030204" pitchFamily="49" charset="0"/>
              </a:rPr>
              <a:t>// envoi de </a:t>
            </a:r>
            <a:r>
              <a:rPr lang="fr-BE" sz="1400" dirty="0" err="1">
                <a:solidFill>
                  <a:srgbClr val="808080"/>
                </a:solidFill>
                <a:effectLst/>
                <a:latin typeface="Consolas" panose="020B0609020204030204" pitchFamily="49" charset="0"/>
                <a:cs typeface="Consolas" panose="020B0609020204030204" pitchFamily="49" charset="0"/>
              </a:rPr>
              <a:t>l�objet</a:t>
            </a:r>
            <a:r>
              <a:rPr lang="fr-BE" sz="1400" dirty="0">
                <a:solidFill>
                  <a:srgbClr val="808080"/>
                </a:solidFill>
                <a:effectLst/>
                <a:latin typeface="Consolas" panose="020B0609020204030204" pitchFamily="49" charset="0"/>
                <a:cs typeface="Consolas" panose="020B0609020204030204" pitchFamily="49" charset="0"/>
              </a:rPr>
              <a:t> p sur le flux sortie</a:t>
            </a:r>
            <a:br>
              <a:rPr lang="fr-BE" sz="1400" dirty="0">
                <a:solidFill>
                  <a:srgbClr val="808080"/>
                </a:solidFill>
                <a:effectLst/>
                <a:latin typeface="Consolas" panose="020B0609020204030204" pitchFamily="49" charset="0"/>
                <a:cs typeface="Consolas" panose="020B0609020204030204" pitchFamily="49" charset="0"/>
              </a:rPr>
            </a:br>
            <a:r>
              <a:rPr lang="fr-BE" sz="1400" dirty="0">
                <a:solidFill>
                  <a:srgbClr val="808080"/>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176375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Lecture d’objets</a:t>
            </a:r>
          </a:p>
        </p:txBody>
      </p:sp>
      <p:sp>
        <p:nvSpPr>
          <p:cNvPr id="3" name="Espace réservé du contenu 2"/>
          <p:cNvSpPr>
            <a:spLocks noGrp="1"/>
          </p:cNvSpPr>
          <p:nvPr>
            <p:ph idx="1"/>
          </p:nvPr>
        </p:nvSpPr>
        <p:spPr/>
        <p:txBody>
          <a:bodyPr>
            <a:normAutofit/>
          </a:bodyPr>
          <a:lstStyle/>
          <a:p>
            <a:pPr marL="0" indent="0">
              <a:buNone/>
            </a:pPr>
            <a:r>
              <a:rPr lang="fr-FR" sz="2400" dirty="0"/>
              <a:t>Pour relire l’objet, on utilisera un </a:t>
            </a:r>
            <a:r>
              <a:rPr lang="fr-FR" sz="2200" dirty="0" err="1">
                <a:solidFill>
                  <a:schemeClr val="accent4"/>
                </a:solidFill>
                <a:latin typeface="Consolas" panose="020B0609020204030204" pitchFamily="49" charset="0"/>
                <a:cs typeface="Consolas" panose="020B0609020204030204" pitchFamily="49" charset="0"/>
              </a:rPr>
              <a:t>ObjectInputStream</a:t>
            </a:r>
            <a:r>
              <a:rPr lang="fr-FR" sz="2400" dirty="0"/>
              <a:t>) qui dispose de méthodes </a:t>
            </a:r>
            <a:r>
              <a:rPr lang="fr-FR" sz="2200" dirty="0" err="1">
                <a:solidFill>
                  <a:schemeClr val="accent4"/>
                </a:solidFill>
                <a:latin typeface="Consolas" panose="020B0609020204030204" pitchFamily="49" charset="0"/>
                <a:cs typeface="Consolas" panose="020B0609020204030204" pitchFamily="49" charset="0"/>
              </a:rPr>
              <a:t>readInt</a:t>
            </a:r>
            <a:r>
              <a:rPr lang="fr-FR" sz="2400" dirty="0"/>
              <a:t> et </a:t>
            </a:r>
            <a:r>
              <a:rPr lang="fr-FR" sz="2200" dirty="0" err="1">
                <a:solidFill>
                  <a:schemeClr val="accent4"/>
                </a:solidFill>
                <a:latin typeface="Consolas" panose="020B0609020204030204" pitchFamily="49" charset="0"/>
                <a:cs typeface="Consolas" panose="020B0609020204030204" pitchFamily="49" charset="0"/>
              </a:rPr>
              <a:t>readObject</a:t>
            </a:r>
            <a:r>
              <a:rPr lang="fr-FR" sz="2400" dirty="0"/>
              <a:t>. </a:t>
            </a:r>
          </a:p>
          <a:p>
            <a:pPr marL="0" indent="0">
              <a:buNone/>
            </a:pPr>
            <a:r>
              <a:rPr lang="fr-FR" sz="2400" dirty="0"/>
              <a:t>L’objet lu sera </a:t>
            </a:r>
            <a:r>
              <a:rPr lang="fr-FR" sz="2400" dirty="0" err="1"/>
              <a:t>casté</a:t>
            </a:r>
            <a:r>
              <a:rPr lang="fr-FR" sz="2400" dirty="0"/>
              <a:t> vers le type adéquat. La lecture d’un objet vers un type incorrect provoquera une exception.</a:t>
            </a:r>
          </a:p>
          <a:p>
            <a:endParaRPr lang="fr-FR" sz="2400" dirty="0"/>
          </a:p>
        </p:txBody>
      </p:sp>
    </p:spTree>
    <p:extLst>
      <p:ext uri="{BB962C8B-B14F-4D97-AF65-F5344CB8AC3E}">
        <p14:creationId xmlns:p14="http://schemas.microsoft.com/office/powerpoint/2010/main" val="17499481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Exemple</a:t>
            </a:r>
          </a:p>
        </p:txBody>
      </p:sp>
      <p:sp>
        <p:nvSpPr>
          <p:cNvPr id="3" name="Rectangle 2">
            <a:extLst>
              <a:ext uri="{FF2B5EF4-FFF2-40B4-BE49-F238E27FC236}">
                <a16:creationId xmlns:a16="http://schemas.microsoft.com/office/drawing/2014/main" id="{5191DB6D-EF56-6F41-891C-470D03D1B7E6}"/>
              </a:ext>
            </a:extLst>
          </p:cNvPr>
          <p:cNvSpPr/>
          <p:nvPr/>
        </p:nvSpPr>
        <p:spPr>
          <a:xfrm>
            <a:off x="1981199" y="1431093"/>
            <a:ext cx="9559491" cy="4401205"/>
          </a:xfrm>
          <a:prstGeom prst="rect">
            <a:avLst/>
          </a:prstGeom>
          <a:solidFill>
            <a:schemeClr val="bg1">
              <a:lumMod val="95000"/>
            </a:schemeClr>
          </a:solidFill>
        </p:spPr>
        <p:txBody>
          <a:bodyPr wrap="square">
            <a:spAutoFit/>
          </a:bodyPr>
          <a:lstStyle/>
          <a:p>
            <a:r>
              <a:rPr lang="fr-BE" sz="1400" dirty="0">
                <a:solidFill>
                  <a:srgbClr val="CC7832"/>
                </a:solidFill>
                <a:latin typeface="Consolas" panose="020B0609020204030204" pitchFamily="49" charset="0"/>
                <a:cs typeface="Consolas" panose="020B0609020204030204" pitchFamily="49" charset="0"/>
              </a:rPr>
              <a:t>import </a:t>
            </a:r>
            <a:r>
              <a:rPr lang="fr-BE" sz="1400" dirty="0" err="1">
                <a:latin typeface="Consolas" panose="020B0609020204030204" pitchFamily="49" charset="0"/>
                <a:cs typeface="Consolas" panose="020B0609020204030204" pitchFamily="49" charset="0"/>
              </a:rPr>
              <a:t>java.io</a:t>
            </a:r>
            <a:r>
              <a:rPr lang="fr-BE" sz="1400" dirty="0">
                <a:latin typeface="Consolas" panose="020B0609020204030204" pitchFamily="49" charset="0"/>
                <a:cs typeface="Consolas" panose="020B0609020204030204" pitchFamily="49" charset="0"/>
              </a:rPr>
              <a:t>.* </a:t>
            </a:r>
            <a:r>
              <a:rPr lang="fr-BE" sz="1400" dirty="0">
                <a:solidFill>
                  <a:srgbClr val="CC7832"/>
                </a:solidFill>
                <a:latin typeface="Consolas" panose="020B0609020204030204" pitchFamily="49" charset="0"/>
                <a:cs typeface="Consolas" panose="020B0609020204030204" pitchFamily="49" charset="0"/>
              </a:rPr>
              <a:t>;</a:t>
            </a:r>
            <a:br>
              <a:rPr lang="fr-BE" sz="1400" dirty="0">
                <a:solidFill>
                  <a:srgbClr val="CC7832"/>
                </a:solidFill>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err="1">
                <a:latin typeface="Consolas" panose="020B0609020204030204" pitchFamily="49" charset="0"/>
                <a:cs typeface="Consolas" panose="020B0609020204030204" pitchFamily="49" charset="0"/>
              </a:rPr>
              <a:t>LectureFichierObjet</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static</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main</a:t>
            </a:r>
            <a:r>
              <a:rPr lang="fr-BE" sz="1400" dirty="0">
                <a:latin typeface="Consolas" panose="020B0609020204030204" pitchFamily="49" charset="0"/>
                <a:cs typeface="Consolas" panose="020B0609020204030204" pitchFamily="49" charset="0"/>
              </a:rPr>
              <a:t>(String args[]) </a:t>
            </a:r>
            <a:r>
              <a:rPr lang="fr-BE" sz="1400" dirty="0" err="1">
                <a:solidFill>
                  <a:srgbClr val="CC7832"/>
                </a:solidFill>
                <a:effectLst/>
                <a:latin typeface="Consolas" panose="020B0609020204030204" pitchFamily="49" charset="0"/>
                <a:cs typeface="Consolas" panose="020B0609020204030204" pitchFamily="49" charset="0"/>
              </a:rPr>
              <a:t>throws</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Exception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ObjectInputStream</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entree</a:t>
            </a:r>
            <a:r>
              <a:rPr lang="fr-BE" sz="1400" dirty="0">
                <a:latin typeface="Consolas" panose="020B0609020204030204" pitchFamily="49" charset="0"/>
                <a:cs typeface="Consolas" panose="020B0609020204030204" pitchFamily="49" charset="0"/>
              </a:rPr>
              <a:t> = </a:t>
            </a:r>
            <a:r>
              <a:rPr lang="fr-BE" sz="1400" dirty="0">
                <a:solidFill>
                  <a:srgbClr val="CC7832"/>
                </a:solidFill>
                <a:effectLst/>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ObjectInputStream</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new </a:t>
            </a:r>
            <a:r>
              <a:rPr lang="fr-BE" sz="1400" dirty="0" err="1">
                <a:latin typeface="Consolas" panose="020B0609020204030204" pitchFamily="49" charset="0"/>
                <a:cs typeface="Consolas" panose="020B0609020204030204" pitchFamily="49" charset="0"/>
              </a:rPr>
              <a:t>FileInputStream</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a:t>
            </a:r>
            <a:r>
              <a:rPr lang="fr-BE" sz="1400" dirty="0" err="1">
                <a:solidFill>
                  <a:srgbClr val="6A8759"/>
                </a:solidFill>
                <a:effectLst/>
                <a:latin typeface="Consolas" panose="020B0609020204030204" pitchFamily="49" charset="0"/>
                <a:cs typeface="Consolas" panose="020B0609020204030204" pitchFamily="49" charset="0"/>
              </a:rPr>
              <a:t>points.dat</a:t>
            </a:r>
            <a:r>
              <a:rPr lang="fr-BE" sz="1400" dirty="0">
                <a:solidFill>
                  <a:srgbClr val="6A8759"/>
                </a:solidFill>
                <a:effectLst/>
                <a:latin typeface="Consolas" panose="020B0609020204030204" pitchFamily="49" charset="0"/>
                <a:cs typeface="Consolas" panose="020B0609020204030204" pitchFamily="49" charset="0"/>
              </a:rPr>
              <a:t>"</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Point p</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int</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num</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boolean</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eof</a:t>
            </a:r>
            <a:r>
              <a:rPr lang="fr-BE" sz="1400" dirty="0">
                <a:latin typeface="Consolas" panose="020B0609020204030204" pitchFamily="49" charset="0"/>
                <a:cs typeface="Consolas" panose="020B0609020204030204" pitchFamily="49" charset="0"/>
              </a:rPr>
              <a:t> = </a:t>
            </a:r>
            <a:r>
              <a:rPr lang="fr-BE" sz="1400" dirty="0">
                <a:solidFill>
                  <a:srgbClr val="CC7832"/>
                </a:solidFill>
                <a:effectLst/>
                <a:latin typeface="Consolas" panose="020B0609020204030204" pitchFamily="49" charset="0"/>
                <a:cs typeface="Consolas" panose="020B0609020204030204" pitchFamily="49" charset="0"/>
              </a:rPr>
              <a:t>false;</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while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r>
              <a:rPr lang="fr-BE" sz="1400" dirty="0" err="1">
                <a:latin typeface="Consolas" panose="020B0609020204030204" pitchFamily="49" charset="0"/>
                <a:cs typeface="Consolas" panose="020B0609020204030204" pitchFamily="49" charset="0"/>
              </a:rPr>
              <a:t>eof</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try</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num</a:t>
            </a:r>
            <a:r>
              <a:rPr lang="fr-BE" sz="1400" dirty="0">
                <a:latin typeface="Consolas" panose="020B0609020204030204" pitchFamily="49" charset="0"/>
                <a:cs typeface="Consolas" panose="020B0609020204030204" pitchFamily="49" charset="0"/>
              </a:rPr>
              <a:t> = </a:t>
            </a:r>
            <a:r>
              <a:rPr lang="fr-BE" sz="1400" dirty="0" err="1">
                <a:latin typeface="Consolas" panose="020B0609020204030204" pitchFamily="49" charset="0"/>
                <a:cs typeface="Consolas" panose="020B0609020204030204" pitchFamily="49" charset="0"/>
              </a:rPr>
              <a:t>entree.readInt</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p = (Point) </a:t>
            </a:r>
            <a:r>
              <a:rPr lang="fr-BE" sz="1400" dirty="0" err="1">
                <a:latin typeface="Consolas" panose="020B0609020204030204" pitchFamily="49" charset="0"/>
                <a:cs typeface="Consolas" panose="020B0609020204030204" pitchFamily="49" charset="0"/>
              </a:rPr>
              <a:t>entree.readObject</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"point </a:t>
            </a:r>
            <a:r>
              <a:rPr lang="fr-BE" sz="1400" dirty="0" err="1">
                <a:solidFill>
                  <a:srgbClr val="6A8759"/>
                </a:solidFill>
                <a:effectLst/>
                <a:latin typeface="Consolas" panose="020B0609020204030204" pitchFamily="49" charset="0"/>
                <a:cs typeface="Consolas" panose="020B0609020204030204" pitchFamily="49" charset="0"/>
              </a:rPr>
              <a:t>numero</a:t>
            </a:r>
            <a:r>
              <a:rPr lang="fr-BE" sz="1400" dirty="0">
                <a:solidFill>
                  <a:srgbClr val="6A8759"/>
                </a:solidFill>
                <a:effectLst/>
                <a:latin typeface="Consolas" panose="020B0609020204030204" pitchFamily="49" charset="0"/>
                <a:cs typeface="Consolas" panose="020B0609020204030204" pitchFamily="49" charset="0"/>
              </a:rPr>
              <a:t> : " </a:t>
            </a: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num</a:t>
            </a:r>
            <a:r>
              <a:rPr lang="fr-BE" sz="1400" dirty="0">
                <a:latin typeface="Consolas" panose="020B0609020204030204" pitchFamily="49" charset="0"/>
                <a:cs typeface="Consolas" panose="020B0609020204030204" pitchFamily="49" charset="0"/>
              </a:rPr>
              <a:t> + </a:t>
            </a:r>
            <a:r>
              <a:rPr lang="fr-BE" sz="1400" dirty="0">
                <a:solidFill>
                  <a:srgbClr val="6A8759"/>
                </a:solidFill>
                <a:effectLst/>
                <a:latin typeface="Consolas" panose="020B0609020204030204" pitchFamily="49" charset="0"/>
                <a:cs typeface="Consolas" panose="020B0609020204030204" pitchFamily="49" charset="0"/>
              </a:rPr>
              <a:t>" ; "</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p.affiche</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catch </a:t>
            </a:r>
            <a:r>
              <a:rPr lang="fr-BE" sz="1400" dirty="0">
                <a:latin typeface="Consolas" panose="020B0609020204030204" pitchFamily="49" charset="0"/>
                <a:cs typeface="Consolas" panose="020B0609020204030204" pitchFamily="49" charset="0"/>
              </a:rPr>
              <a:t>(</a:t>
            </a:r>
            <a:r>
              <a:rPr lang="fr-BE" sz="1400" dirty="0" err="1">
                <a:latin typeface="Consolas" panose="020B0609020204030204" pitchFamily="49" charset="0"/>
                <a:cs typeface="Consolas" panose="020B0609020204030204" pitchFamily="49" charset="0"/>
              </a:rPr>
              <a:t>EOFException</a:t>
            </a:r>
            <a:r>
              <a:rPr lang="fr-BE" sz="1400" dirty="0">
                <a:latin typeface="Consolas" panose="020B0609020204030204" pitchFamily="49" charset="0"/>
                <a:cs typeface="Consolas" panose="020B0609020204030204" pitchFamily="49" charset="0"/>
              </a:rPr>
              <a:t> e)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eof</a:t>
            </a:r>
            <a:r>
              <a:rPr lang="fr-BE" sz="1400" dirty="0">
                <a:latin typeface="Consolas" panose="020B0609020204030204" pitchFamily="49" charset="0"/>
                <a:cs typeface="Consolas" panose="020B0609020204030204" pitchFamily="49" charset="0"/>
              </a:rPr>
              <a:t> = </a:t>
            </a:r>
            <a:r>
              <a:rPr lang="fr-BE" sz="1400" dirty="0" err="1">
                <a:solidFill>
                  <a:srgbClr val="CC7832"/>
                </a:solidFill>
                <a:effectLst/>
                <a:latin typeface="Consolas" panose="020B0609020204030204" pitchFamily="49" charset="0"/>
                <a:cs typeface="Consolas" panose="020B0609020204030204" pitchFamily="49" charset="0"/>
              </a:rPr>
              <a:t>true</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entree.close</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1833577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Quelques remarques</a:t>
            </a:r>
          </a:p>
        </p:txBody>
      </p:sp>
      <p:sp>
        <p:nvSpPr>
          <p:cNvPr id="3" name="Espace réservé du contenu 2"/>
          <p:cNvSpPr>
            <a:spLocks noGrp="1"/>
          </p:cNvSpPr>
          <p:nvPr>
            <p:ph idx="1"/>
          </p:nvPr>
        </p:nvSpPr>
        <p:spPr/>
        <p:txBody>
          <a:bodyPr>
            <a:normAutofit lnSpcReduction="10000"/>
          </a:bodyPr>
          <a:lstStyle/>
          <a:p>
            <a:r>
              <a:rPr lang="fr-FR" sz="2400" dirty="0"/>
              <a:t>Si vos objets comportent des références à d’autres objets, Java gère cela de manière transparente, en veillant à ce que les mêmes objets ne soient pas enregistrés plusieurs fois.</a:t>
            </a:r>
          </a:p>
          <a:p>
            <a:pPr marL="0" indent="0">
              <a:buNone/>
            </a:pPr>
            <a:endParaRPr lang="fr-FR" sz="2400" dirty="0"/>
          </a:p>
          <a:p>
            <a:r>
              <a:rPr lang="fr-FR" sz="2400" dirty="0"/>
              <a:t>Pour contrôler la manière dont votre objet est écrit et lu, vous pouvez implémenter les méthodes suivantes:</a:t>
            </a:r>
          </a:p>
          <a:p>
            <a:pPr marL="457200" lvl="1" indent="0">
              <a:buNone/>
            </a:pPr>
            <a:r>
              <a:rPr lang="fr-FR" sz="2200" dirty="0">
                <a:solidFill>
                  <a:schemeClr val="accent4"/>
                </a:solidFill>
                <a:latin typeface="Consolas" panose="020B0609020204030204" pitchFamily="49" charset="0"/>
                <a:cs typeface="Consolas" panose="020B0609020204030204" pitchFamily="49" charset="0"/>
              </a:rPr>
              <a:t>﻿Object </a:t>
            </a:r>
            <a:r>
              <a:rPr lang="fr-FR" sz="2200" dirty="0" err="1">
                <a:solidFill>
                  <a:schemeClr val="accent4"/>
                </a:solidFill>
                <a:latin typeface="Consolas" panose="020B0609020204030204" pitchFamily="49" charset="0"/>
                <a:cs typeface="Consolas" panose="020B0609020204030204" pitchFamily="49" charset="0"/>
              </a:rPr>
              <a:t>readObject</a:t>
            </a:r>
            <a:r>
              <a:rPr lang="fr-FR" sz="2200" dirty="0">
                <a:solidFill>
                  <a:schemeClr val="accent4"/>
                </a:solidFill>
                <a:latin typeface="Consolas" panose="020B0609020204030204" pitchFamily="49" charset="0"/>
                <a:cs typeface="Consolas" panose="020B0609020204030204" pitchFamily="49" charset="0"/>
              </a:rPr>
              <a:t>() </a:t>
            </a:r>
            <a:r>
              <a:rPr lang="fr-FR" sz="2200" dirty="0" err="1">
                <a:solidFill>
                  <a:schemeClr val="accent4"/>
                </a:solidFill>
                <a:latin typeface="Consolas" panose="020B0609020204030204" pitchFamily="49" charset="0"/>
                <a:cs typeface="Consolas" panose="020B0609020204030204" pitchFamily="49" charset="0"/>
              </a:rPr>
              <a:t>throws</a:t>
            </a:r>
            <a:r>
              <a:rPr lang="fr-FR" sz="2200" dirty="0">
                <a:solidFill>
                  <a:schemeClr val="accent4"/>
                </a:solidFill>
                <a:latin typeface="Consolas" panose="020B0609020204030204" pitchFamily="49" charset="0"/>
                <a:cs typeface="Consolas" panose="020B0609020204030204" pitchFamily="49" charset="0"/>
              </a:rPr>
              <a:t> </a:t>
            </a:r>
            <a:r>
              <a:rPr lang="fr-FR" sz="2200" dirty="0" err="1">
                <a:solidFill>
                  <a:schemeClr val="accent4"/>
                </a:solidFill>
                <a:latin typeface="Consolas" panose="020B0609020204030204" pitchFamily="49" charset="0"/>
                <a:cs typeface="Consolas" panose="020B0609020204030204" pitchFamily="49" charset="0"/>
              </a:rPr>
              <a:t>ClassNotFoundException</a:t>
            </a:r>
            <a:r>
              <a:rPr lang="fr-FR" sz="2200" dirty="0">
                <a:solidFill>
                  <a:schemeClr val="accent4"/>
                </a:solidFill>
                <a:latin typeface="Consolas" panose="020B0609020204030204" pitchFamily="49" charset="0"/>
                <a:cs typeface="Consolas" panose="020B0609020204030204" pitchFamily="49" charset="0"/>
              </a:rPr>
              <a:t>, </a:t>
            </a:r>
            <a:r>
              <a:rPr lang="fr-FR" sz="2200" dirty="0" err="1">
                <a:solidFill>
                  <a:schemeClr val="accent4"/>
                </a:solidFill>
                <a:latin typeface="Consolas" panose="020B0609020204030204" pitchFamily="49" charset="0"/>
                <a:cs typeface="Consolas" panose="020B0609020204030204" pitchFamily="49" charset="0"/>
              </a:rPr>
              <a:t>IOException</a:t>
            </a:r>
            <a:endParaRPr lang="fr-FR" sz="2200" dirty="0">
              <a:solidFill>
                <a:schemeClr val="accent4"/>
              </a:solidFill>
              <a:latin typeface="Consolas" panose="020B0609020204030204" pitchFamily="49" charset="0"/>
              <a:cs typeface="Consolas" panose="020B0609020204030204" pitchFamily="49" charset="0"/>
            </a:endParaRPr>
          </a:p>
          <a:p>
            <a:pPr marL="457200" lvl="1" indent="0">
              <a:buNone/>
            </a:pPr>
            <a:r>
              <a:rPr lang="fr-FR" sz="2200" dirty="0" err="1">
                <a:solidFill>
                  <a:schemeClr val="accent4"/>
                </a:solidFill>
                <a:latin typeface="Consolas" panose="020B0609020204030204" pitchFamily="49" charset="0"/>
                <a:cs typeface="Consolas" panose="020B0609020204030204" pitchFamily="49" charset="0"/>
              </a:rPr>
              <a:t>void</a:t>
            </a:r>
            <a:r>
              <a:rPr lang="fr-FR" sz="2200" dirty="0">
                <a:solidFill>
                  <a:schemeClr val="accent4"/>
                </a:solidFill>
                <a:latin typeface="Consolas" panose="020B0609020204030204" pitchFamily="49" charset="0"/>
                <a:cs typeface="Consolas" panose="020B0609020204030204" pitchFamily="49" charset="0"/>
              </a:rPr>
              <a:t> </a:t>
            </a:r>
            <a:r>
              <a:rPr lang="fr-FR" sz="2200" dirty="0" err="1">
                <a:solidFill>
                  <a:schemeClr val="accent4"/>
                </a:solidFill>
                <a:latin typeface="Consolas" panose="020B0609020204030204" pitchFamily="49" charset="0"/>
                <a:cs typeface="Consolas" panose="020B0609020204030204" pitchFamily="49" charset="0"/>
              </a:rPr>
              <a:t>writeObject</a:t>
            </a:r>
            <a:r>
              <a:rPr lang="fr-FR" sz="2200" dirty="0">
                <a:solidFill>
                  <a:schemeClr val="accent4"/>
                </a:solidFill>
                <a:latin typeface="Consolas" panose="020B0609020204030204" pitchFamily="49" charset="0"/>
                <a:cs typeface="Consolas" panose="020B0609020204030204" pitchFamily="49" charset="0"/>
              </a:rPr>
              <a:t>(</a:t>
            </a:r>
            <a:r>
              <a:rPr lang="fr-FR" sz="2200" dirty="0" err="1">
                <a:solidFill>
                  <a:schemeClr val="accent4"/>
                </a:solidFill>
                <a:latin typeface="Consolas" panose="020B0609020204030204" pitchFamily="49" charset="0"/>
                <a:cs typeface="Consolas" panose="020B0609020204030204" pitchFamily="49" charset="0"/>
              </a:rPr>
              <a:t>ObjectOutputStream</a:t>
            </a:r>
            <a:r>
              <a:rPr lang="fr-FR" sz="2200" dirty="0">
                <a:solidFill>
                  <a:schemeClr val="accent4"/>
                </a:solidFill>
                <a:latin typeface="Consolas" panose="020B0609020204030204" pitchFamily="49" charset="0"/>
                <a:cs typeface="Consolas" panose="020B0609020204030204" pitchFamily="49" charset="0"/>
              </a:rPr>
              <a:t> </a:t>
            </a:r>
            <a:r>
              <a:rPr lang="fr-FR" sz="2200" dirty="0" err="1">
                <a:solidFill>
                  <a:schemeClr val="accent4"/>
                </a:solidFill>
                <a:latin typeface="Consolas" panose="020B0609020204030204" pitchFamily="49" charset="0"/>
                <a:cs typeface="Consolas" panose="020B0609020204030204" pitchFamily="49" charset="0"/>
              </a:rPr>
              <a:t>stream</a:t>
            </a:r>
            <a:r>
              <a:rPr lang="fr-FR" sz="2200" dirty="0">
                <a:solidFill>
                  <a:schemeClr val="accent4"/>
                </a:solidFill>
                <a:latin typeface="Consolas" panose="020B0609020204030204" pitchFamily="49" charset="0"/>
                <a:cs typeface="Consolas" panose="020B0609020204030204" pitchFamily="49" charset="0"/>
              </a:rPr>
              <a:t>) </a:t>
            </a:r>
            <a:r>
              <a:rPr lang="fr-FR" sz="2200" dirty="0" err="1">
                <a:solidFill>
                  <a:schemeClr val="accent4"/>
                </a:solidFill>
                <a:latin typeface="Consolas" panose="020B0609020204030204" pitchFamily="49" charset="0"/>
                <a:cs typeface="Consolas" panose="020B0609020204030204" pitchFamily="49" charset="0"/>
              </a:rPr>
              <a:t>throws</a:t>
            </a:r>
            <a:r>
              <a:rPr lang="fr-FR" sz="2200" dirty="0">
                <a:solidFill>
                  <a:schemeClr val="accent4"/>
                </a:solidFill>
                <a:latin typeface="Consolas" panose="020B0609020204030204" pitchFamily="49" charset="0"/>
                <a:cs typeface="Consolas" panose="020B0609020204030204" pitchFamily="49" charset="0"/>
              </a:rPr>
              <a:t> </a:t>
            </a:r>
            <a:r>
              <a:rPr lang="fr-FR" sz="2200" dirty="0" err="1">
                <a:solidFill>
                  <a:schemeClr val="accent4"/>
                </a:solidFill>
                <a:latin typeface="Consolas" panose="020B0609020204030204" pitchFamily="49" charset="0"/>
                <a:cs typeface="Consolas" panose="020B0609020204030204" pitchFamily="49" charset="0"/>
              </a:rPr>
              <a:t>IOException</a:t>
            </a:r>
            <a:endParaRPr lang="fr-FR" sz="1400" dirty="0">
              <a:solidFill>
                <a:schemeClr val="accent2"/>
              </a:solidFill>
              <a:latin typeface="Consolas" panose="020B0609020204030204" pitchFamily="49" charset="0"/>
              <a:cs typeface="Consolas" panose="020B0609020204030204" pitchFamily="49" charset="0"/>
            </a:endParaRPr>
          </a:p>
          <a:p>
            <a:pPr marL="0" indent="0">
              <a:buNone/>
            </a:pPr>
            <a:endParaRPr lang="fr-FR" sz="1400" dirty="0">
              <a:solidFill>
                <a:schemeClr val="accent2"/>
              </a:solidFill>
              <a:latin typeface="Consolas" panose="020B0609020204030204" pitchFamily="49" charset="0"/>
              <a:cs typeface="Consolas" panose="020B0609020204030204" pitchFamily="49" charset="0"/>
            </a:endParaRPr>
          </a:p>
          <a:p>
            <a:r>
              <a:rPr lang="fr-FR" sz="2400" dirty="0"/>
              <a:t>﻿Dans la déclaration d’un objet, il est possible d’utiliser le mot clé </a:t>
            </a:r>
            <a:r>
              <a:rPr lang="fr-FR" sz="2200" dirty="0">
                <a:solidFill>
                  <a:schemeClr val="accent4"/>
                </a:solidFill>
                <a:latin typeface="Consolas" panose="020B0609020204030204" pitchFamily="49" charset="0"/>
                <a:cs typeface="Consolas" panose="020B0609020204030204" pitchFamily="49" charset="0"/>
              </a:rPr>
              <a:t>transient</a:t>
            </a:r>
            <a:r>
              <a:rPr lang="fr-FR" sz="2400" dirty="0"/>
              <a:t> pour demander que certains champs ne soient pas concernés par l’échange avec un flux.</a:t>
            </a:r>
          </a:p>
        </p:txBody>
      </p:sp>
    </p:spTree>
    <p:extLst>
      <p:ext uri="{BB962C8B-B14F-4D97-AF65-F5344CB8AC3E}">
        <p14:creationId xmlns:p14="http://schemas.microsoft.com/office/powerpoint/2010/main" val="2755051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623A844-D99A-4C25-7508-01E7C24E1ECE}"/>
              </a:ext>
            </a:extLst>
          </p:cNvPr>
          <p:cNvSpPr>
            <a:spLocks noGrp="1"/>
          </p:cNvSpPr>
          <p:nvPr>
            <p:ph type="title"/>
          </p:nvPr>
        </p:nvSpPr>
        <p:spPr/>
        <p:txBody>
          <a:bodyPr/>
          <a:lstStyle/>
          <a:p>
            <a:r>
              <a:rPr lang="fr-FR" dirty="0"/>
              <a:t>Flux et Fichiers</a:t>
            </a:r>
          </a:p>
        </p:txBody>
      </p:sp>
      <p:sp>
        <p:nvSpPr>
          <p:cNvPr id="5" name="Espace réservé du texte 4">
            <a:extLst>
              <a:ext uri="{FF2B5EF4-FFF2-40B4-BE49-F238E27FC236}">
                <a16:creationId xmlns:a16="http://schemas.microsoft.com/office/drawing/2014/main" id="{8FF3C52D-9BBC-4F49-9D54-D2ADCEE441D4}"/>
              </a:ext>
            </a:extLst>
          </p:cNvPr>
          <p:cNvSpPr>
            <a:spLocks noGrp="1"/>
          </p:cNvSpPr>
          <p:nvPr>
            <p:ph idx="1"/>
          </p:nvPr>
        </p:nvSpPr>
        <p:spPr/>
        <p:txBody>
          <a:bodyPr/>
          <a:lstStyle/>
          <a:p>
            <a:r>
              <a:rPr lang="fr-FR" dirty="0"/>
              <a:t>La notion de Flux (Stream)</a:t>
            </a:r>
          </a:p>
          <a:p>
            <a:r>
              <a:rPr lang="fr-FR" dirty="0"/>
              <a:t>Flux Binaires</a:t>
            </a:r>
          </a:p>
          <a:p>
            <a:r>
              <a:rPr lang="fr-FR" dirty="0"/>
              <a:t>Accès Direct</a:t>
            </a:r>
          </a:p>
          <a:p>
            <a:r>
              <a:rPr lang="fr-FR" dirty="0"/>
              <a:t>Flux de Texte</a:t>
            </a:r>
          </a:p>
          <a:p>
            <a:r>
              <a:rPr lang="fr-FR" dirty="0"/>
              <a:t>Flux d’Objets</a:t>
            </a:r>
          </a:p>
          <a:p>
            <a:r>
              <a:rPr lang="fr-FR" dirty="0">
                <a:solidFill>
                  <a:schemeClr val="accent4"/>
                </a:solidFill>
              </a:rPr>
              <a:t>File et Path</a:t>
            </a:r>
          </a:p>
        </p:txBody>
      </p:sp>
      <p:pic>
        <p:nvPicPr>
          <p:cNvPr id="3078" name="Picture 6" descr="Folder icon PSD">
            <a:extLst>
              <a:ext uri="{FF2B5EF4-FFF2-40B4-BE49-F238E27FC236}">
                <a16:creationId xmlns:a16="http://schemas.microsoft.com/office/drawing/2014/main" id="{D321B00B-95CA-7126-E4F6-6DFBC9858A3F}"/>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096000" y="2474102"/>
            <a:ext cx="3054384" cy="3054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32282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Les classes File </a:t>
            </a:r>
            <a:r>
              <a:rPr lang="fr-FR" dirty="0"/>
              <a:t>et</a:t>
            </a:r>
            <a:r>
              <a:rPr lang="fr-FR" cap="none" dirty="0"/>
              <a:t> Path</a:t>
            </a:r>
          </a:p>
        </p:txBody>
      </p:sp>
      <p:sp>
        <p:nvSpPr>
          <p:cNvPr id="3" name="Espace réservé du contenu 2"/>
          <p:cNvSpPr>
            <a:spLocks noGrp="1"/>
          </p:cNvSpPr>
          <p:nvPr>
            <p:ph idx="1"/>
          </p:nvPr>
        </p:nvSpPr>
        <p:spPr>
          <a:xfrm>
            <a:off x="838200" y="1825625"/>
            <a:ext cx="10515600" cy="2852253"/>
          </a:xfrm>
        </p:spPr>
        <p:txBody>
          <a:bodyPr>
            <a:normAutofit/>
          </a:bodyPr>
          <a:lstStyle/>
          <a:p>
            <a:pPr marL="0" indent="0">
              <a:buNone/>
            </a:pPr>
            <a:r>
              <a:rPr lang="fr-FR" sz="2400" dirty="0"/>
              <a:t>﻿En fait, Java vous permet de créer des objets de type </a:t>
            </a:r>
            <a:r>
              <a:rPr lang="fr-FR" sz="2200" dirty="0">
                <a:solidFill>
                  <a:schemeClr val="accent4"/>
                </a:solidFill>
                <a:latin typeface="Consolas" panose="020B0609020204030204" pitchFamily="49" charset="0"/>
                <a:cs typeface="Consolas" panose="020B0609020204030204" pitchFamily="49" charset="0"/>
              </a:rPr>
              <a:t>File</a:t>
            </a:r>
            <a:r>
              <a:rPr lang="fr-FR" sz="2400" dirty="0"/>
              <a:t> représentant : </a:t>
            </a:r>
          </a:p>
          <a:p>
            <a:pPr marL="342900" indent="-342900"/>
            <a:r>
              <a:rPr lang="fr-FR" sz="2400" dirty="0"/>
              <a:t>soit un nom de fichier, avec ou sans chemin ; </a:t>
            </a:r>
          </a:p>
          <a:p>
            <a:pPr marL="342900" indent="-342900"/>
            <a:r>
              <a:rPr lang="fr-FR" sz="2400" dirty="0"/>
              <a:t>soit un nom de répertoire. </a:t>
            </a:r>
          </a:p>
          <a:p>
            <a:pPr marL="0" indent="0">
              <a:buNone/>
            </a:pPr>
            <a:r>
              <a:rPr lang="fr-FR" sz="2400" dirty="0"/>
              <a:t>Un objet </a:t>
            </a:r>
            <a:r>
              <a:rPr lang="fr-FR" sz="2200" dirty="0">
                <a:solidFill>
                  <a:schemeClr val="accent4"/>
                </a:solidFill>
                <a:latin typeface="Consolas" panose="020B0609020204030204" pitchFamily="49" charset="0"/>
                <a:cs typeface="Consolas" panose="020B0609020204030204" pitchFamily="49" charset="0"/>
              </a:rPr>
              <a:t>File</a:t>
            </a:r>
            <a:r>
              <a:rPr lang="fr-FR" sz="2400" dirty="0"/>
              <a:t> correspond à un nom de fichier, il pourra être employé en argument d’un constructeur de flux, jouant alors le même rôle qu’une chaîne de caractères.</a:t>
            </a:r>
          </a:p>
          <a:p>
            <a:pPr marL="0" indent="0">
              <a:buNone/>
            </a:pPr>
            <a:r>
              <a:rPr lang="fr-FR" sz="2400" dirty="0"/>
              <a:t>L’instruction</a:t>
            </a:r>
          </a:p>
          <a:p>
            <a:pPr marL="0" indent="0">
              <a:buNone/>
            </a:pPr>
            <a:endParaRPr lang="fr-FR" sz="2400" dirty="0"/>
          </a:p>
          <a:p>
            <a:pPr marL="0" indent="0">
              <a:buNone/>
            </a:pPr>
            <a:endParaRPr lang="fr-FR" sz="2400" dirty="0"/>
          </a:p>
          <a:p>
            <a:pPr marL="0" indent="0">
              <a:buNone/>
            </a:pPr>
            <a:endParaRPr lang="fr-FR" sz="2400" dirty="0"/>
          </a:p>
        </p:txBody>
      </p:sp>
      <p:sp>
        <p:nvSpPr>
          <p:cNvPr id="5" name="ZoneTexte 4">
            <a:extLst>
              <a:ext uri="{FF2B5EF4-FFF2-40B4-BE49-F238E27FC236}">
                <a16:creationId xmlns:a16="http://schemas.microsoft.com/office/drawing/2014/main" id="{87241AB5-CE81-EB90-4E1F-7102C58AFDCC}"/>
              </a:ext>
            </a:extLst>
          </p:cNvPr>
          <p:cNvSpPr txBox="1"/>
          <p:nvPr/>
        </p:nvSpPr>
        <p:spPr>
          <a:xfrm>
            <a:off x="3048802" y="4677878"/>
            <a:ext cx="6097604" cy="369332"/>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File </a:t>
            </a:r>
            <a:r>
              <a:rPr lang="fr-BE" dirty="0" err="1">
                <a:solidFill>
                  <a:srgbClr val="9876AA"/>
                </a:solidFill>
                <a:effectLst/>
                <a:latin typeface="Consolas" panose="020B0609020204030204" pitchFamily="49" charset="0"/>
                <a:cs typeface="Consolas" panose="020B0609020204030204" pitchFamily="49" charset="0"/>
              </a:rPr>
              <a:t>monFichier</a:t>
            </a:r>
            <a:r>
              <a:rPr lang="fr-BE" dirty="0">
                <a:solidFill>
                  <a:srgbClr val="9876AA"/>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new </a:t>
            </a:r>
            <a:r>
              <a:rPr lang="fr-BE" dirty="0">
                <a:latin typeface="Consolas" panose="020B0609020204030204" pitchFamily="49" charset="0"/>
                <a:cs typeface="Consolas" panose="020B0609020204030204" pitchFamily="49" charset="0"/>
              </a:rPr>
              <a:t>File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truc.dat</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7" name="Espace réservé du contenu 2">
            <a:extLst>
              <a:ext uri="{FF2B5EF4-FFF2-40B4-BE49-F238E27FC236}">
                <a16:creationId xmlns:a16="http://schemas.microsoft.com/office/drawing/2014/main" id="{59CEA5B8-429C-1D08-4E7B-080EE69D569D}"/>
              </a:ext>
            </a:extLst>
          </p:cNvPr>
          <p:cNvSpPr txBox="1">
            <a:spLocks/>
          </p:cNvSpPr>
          <p:nvPr/>
        </p:nvSpPr>
        <p:spPr>
          <a:xfrm>
            <a:off x="838200" y="5117463"/>
            <a:ext cx="10515600" cy="10595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Crée un objet de type </a:t>
            </a:r>
            <a:r>
              <a:rPr lang="fr-FR" sz="2200" dirty="0">
                <a:solidFill>
                  <a:schemeClr val="accent4"/>
                </a:solidFill>
                <a:latin typeface="Consolas" panose="020B0609020204030204" pitchFamily="49" charset="0"/>
                <a:cs typeface="Consolas" panose="020B0609020204030204" pitchFamily="49" charset="0"/>
              </a:rPr>
              <a:t>File</a:t>
            </a:r>
            <a:r>
              <a:rPr lang="fr-FR" sz="2400" dirty="0"/>
              <a:t> associé au nom </a:t>
            </a:r>
            <a:r>
              <a:rPr lang="fr-FR" sz="2200" dirty="0">
                <a:solidFill>
                  <a:schemeClr val="accent4"/>
                </a:solidFill>
                <a:latin typeface="Consolas" panose="020B0609020204030204" pitchFamily="49" charset="0"/>
                <a:cs typeface="Consolas" panose="020B0609020204030204" pitchFamily="49" charset="0"/>
              </a:rPr>
              <a:t>"</a:t>
            </a:r>
            <a:r>
              <a:rPr lang="fr-FR" sz="2200" dirty="0" err="1">
                <a:solidFill>
                  <a:schemeClr val="accent4"/>
                </a:solidFill>
                <a:latin typeface="Consolas" panose="020B0609020204030204" pitchFamily="49" charset="0"/>
                <a:cs typeface="Consolas" panose="020B0609020204030204" pitchFamily="49" charset="0"/>
              </a:rPr>
              <a:t>truc.dat</a:t>
            </a:r>
            <a:r>
              <a:rPr lang="fr-FR" sz="2200" dirty="0">
                <a:solidFill>
                  <a:schemeClr val="accent4"/>
                </a:solidFill>
                <a:latin typeface="Consolas" panose="020B0609020204030204" pitchFamily="49" charset="0"/>
                <a:cs typeface="Consolas" panose="020B0609020204030204" pitchFamily="49" charset="0"/>
              </a:rPr>
              <a:t>"</a:t>
            </a:r>
            <a:r>
              <a:rPr lang="fr-FR" sz="2400" dirty="0"/>
              <a:t>. Ceci ne crée pas de vrai fichier…</a:t>
            </a:r>
          </a:p>
        </p:txBody>
      </p:sp>
    </p:spTree>
    <p:extLst>
      <p:ext uri="{BB962C8B-B14F-4D97-AF65-F5344CB8AC3E}">
        <p14:creationId xmlns:p14="http://schemas.microsoft.com/office/powerpoint/2010/main" val="243960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Influence de l’environnement</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﻿Si vos programmes ne sont destinés qu’à un seul environnement, vous pouvez utiliser les conventions en vigueur dans cet environnement, par exemple : </a:t>
            </a:r>
          </a:p>
          <a:p>
            <a:pPr marL="342900" indent="-342900"/>
            <a:r>
              <a:rPr lang="fr-FR" sz="2400" dirty="0"/>
              <a:t>les noms absolus sous Windows commencent par X: (X étant un nom de volume) ou par \ (dans ce cas, ils se réfèrent au volume courant) ; sous Unix ou Linux, ils commencent par / ; </a:t>
            </a:r>
          </a:p>
          <a:p>
            <a:pPr marL="342900" indent="-342900"/>
            <a:r>
              <a:rPr lang="fr-FR" sz="2400" dirty="0"/>
              <a:t>sous Windows, on utilise le caractère \ comme séparateur de noms de répertoires ; sous Unix ou Linux, on utilise /. En revanche, si vous visez la portabilité, il est préférable de s’appuyer sur la constante </a:t>
            </a:r>
            <a:r>
              <a:rPr lang="fr-FR" sz="2200" dirty="0" err="1">
                <a:solidFill>
                  <a:schemeClr val="accent4"/>
                </a:solidFill>
                <a:latin typeface="Consolas" panose="020B0609020204030204" pitchFamily="49" charset="0"/>
                <a:cs typeface="Consolas" panose="020B0609020204030204" pitchFamily="49" charset="0"/>
              </a:rPr>
              <a:t>File.separator</a:t>
            </a:r>
            <a:r>
              <a:rPr lang="fr-FR" sz="1800" dirty="0">
                <a:solidFill>
                  <a:schemeClr val="accent2"/>
                </a:solidFill>
                <a:latin typeface="Consolas" panose="020B0609020204030204" pitchFamily="49" charset="0"/>
                <a:cs typeface="Consolas" panose="020B0609020204030204" pitchFamily="49" charset="0"/>
              </a:rPr>
              <a:t> </a:t>
            </a:r>
            <a:r>
              <a:rPr lang="fr-FR" sz="2400" dirty="0"/>
              <a:t>de la classe File.</a:t>
            </a:r>
          </a:p>
          <a:p>
            <a:endParaRPr lang="fr-FR" sz="2400" dirty="0"/>
          </a:p>
        </p:txBody>
      </p:sp>
    </p:spTree>
    <p:extLst>
      <p:ext uri="{BB962C8B-B14F-4D97-AF65-F5344CB8AC3E}">
        <p14:creationId xmlns:p14="http://schemas.microsoft.com/office/powerpoint/2010/main" val="34052419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Path</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dirty="0"/>
              <a:t>Depuis Java 7, l’accès aux fichiers se fonde sur la classe </a:t>
            </a:r>
            <a:r>
              <a:rPr lang="fr-FR" sz="2200" dirty="0">
                <a:solidFill>
                  <a:schemeClr val="accent4"/>
                </a:solidFill>
                <a:latin typeface="Consolas" panose="020B0609020204030204" pitchFamily="49" charset="0"/>
                <a:cs typeface="Consolas" panose="020B0609020204030204" pitchFamily="49" charset="0"/>
              </a:rPr>
              <a:t>Path</a:t>
            </a:r>
            <a:r>
              <a:rPr lang="fr-FR" sz="2400" dirty="0"/>
              <a:t>, qui remplace l’ancienne </a:t>
            </a:r>
            <a:r>
              <a:rPr lang="fr-FR" sz="2200" dirty="0">
                <a:solidFill>
                  <a:schemeClr val="accent4"/>
                </a:solidFill>
                <a:latin typeface="Consolas" panose="020B0609020204030204" pitchFamily="49" charset="0"/>
                <a:cs typeface="Consolas" panose="020B0609020204030204" pitchFamily="49" charset="0"/>
              </a:rPr>
              <a:t>File</a:t>
            </a:r>
            <a:r>
              <a:rPr lang="fr-FR" sz="2400" dirty="0"/>
              <a:t>. Les flux </a:t>
            </a:r>
            <a:r>
              <a:rPr lang="fr-FR" sz="2400" dirty="0" err="1"/>
              <a:t>pe﻿uvent</a:t>
            </a:r>
            <a:r>
              <a:rPr lang="fr-FR" sz="2400" dirty="0"/>
              <a:t> aussi être créés sur base d’objets </a:t>
            </a:r>
            <a:r>
              <a:rPr lang="fr-FR" sz="2200" dirty="0">
                <a:solidFill>
                  <a:schemeClr val="accent4"/>
                </a:solidFill>
                <a:latin typeface="Consolas" panose="020B0609020204030204" pitchFamily="49" charset="0"/>
                <a:cs typeface="Consolas" panose="020B0609020204030204" pitchFamily="49" charset="0"/>
              </a:rPr>
              <a:t>Path</a:t>
            </a:r>
            <a:r>
              <a:rPr lang="fr-FR" sz="2400" dirty="0"/>
              <a:t>.</a:t>
            </a:r>
          </a:p>
          <a:p>
            <a:pPr marL="0" indent="0">
              <a:buNone/>
            </a:pPr>
            <a:r>
              <a:rPr lang="fr-FR" sz="2400" dirty="0"/>
              <a:t>Contrairement à </a:t>
            </a:r>
            <a:r>
              <a:rPr lang="fr-FR" sz="2200" dirty="0">
                <a:solidFill>
                  <a:schemeClr val="accent4"/>
                </a:solidFill>
                <a:latin typeface="Consolas" panose="020B0609020204030204" pitchFamily="49" charset="0"/>
                <a:cs typeface="Consolas" panose="020B0609020204030204" pitchFamily="49" charset="0"/>
              </a:rPr>
              <a:t>File</a:t>
            </a:r>
            <a:r>
              <a:rPr lang="fr-FR" sz="2400" dirty="0"/>
              <a:t>, les nouvelles classes </a:t>
            </a:r>
            <a:r>
              <a:rPr lang="fr-FR" sz="2200" dirty="0">
                <a:solidFill>
                  <a:schemeClr val="accent4"/>
                </a:solidFill>
                <a:latin typeface="Consolas" panose="020B0609020204030204" pitchFamily="49" charset="0"/>
                <a:cs typeface="Consolas" panose="020B0609020204030204" pitchFamily="49" charset="0"/>
              </a:rPr>
              <a:t>Path</a:t>
            </a:r>
            <a:r>
              <a:rPr lang="fr-FR" sz="2400" dirty="0"/>
              <a:t>, </a:t>
            </a:r>
            <a:r>
              <a:rPr lang="fr-FR" sz="2200" dirty="0">
                <a:solidFill>
                  <a:schemeClr val="accent4"/>
                </a:solidFill>
                <a:latin typeface="Consolas" panose="020B0609020204030204" pitchFamily="49" charset="0"/>
                <a:cs typeface="Consolas" panose="020B0609020204030204" pitchFamily="49" charset="0"/>
              </a:rPr>
              <a:t>Files</a:t>
            </a:r>
            <a:r>
              <a:rPr lang="fr-FR" sz="2400" dirty="0"/>
              <a:t> et </a:t>
            </a:r>
            <a:r>
              <a:rPr lang="fr-FR" sz="2200" dirty="0" err="1">
                <a:solidFill>
                  <a:schemeClr val="accent4"/>
                </a:solidFill>
                <a:latin typeface="Consolas" panose="020B0609020204030204" pitchFamily="49" charset="0"/>
                <a:cs typeface="Consolas" panose="020B0609020204030204" pitchFamily="49" charset="0"/>
              </a:rPr>
              <a:t>Paths</a:t>
            </a:r>
            <a:r>
              <a:rPr lang="fr-FR" sz="2400" dirty="0"/>
              <a:t> déclenchent des exceptions en cas d’erreur.</a:t>
            </a:r>
          </a:p>
          <a:p>
            <a:pPr marL="0" indent="0">
              <a:buNone/>
            </a:pPr>
            <a:r>
              <a:rPr lang="fr-FR" sz="2400" dirty="0"/>
              <a:t>Un objet </a:t>
            </a:r>
            <a:r>
              <a:rPr lang="fr-FR" sz="2200" dirty="0">
                <a:solidFill>
                  <a:schemeClr val="accent4"/>
                </a:solidFill>
                <a:latin typeface="Consolas" panose="020B0609020204030204" pitchFamily="49" charset="0"/>
                <a:cs typeface="Consolas" panose="020B0609020204030204" pitchFamily="49" charset="0"/>
              </a:rPr>
              <a:t>Path</a:t>
            </a:r>
            <a:r>
              <a:rPr lang="fr-FR" sz="2400" dirty="0"/>
              <a:t> peut être associé à un chemin:</a:t>
            </a:r>
          </a:p>
          <a:p>
            <a:pPr marL="0" indent="0">
              <a:buNone/>
            </a:pPr>
            <a:r>
              <a:rPr lang="fr-FR" sz="2400" dirty="0"/>
              <a:t>﻿</a:t>
            </a:r>
            <a:r>
              <a:rPr lang="fr-FR" sz="2200" dirty="0">
                <a:solidFill>
                  <a:schemeClr val="accent4"/>
                </a:solidFill>
                <a:latin typeface="Consolas" panose="020B0609020204030204" pitchFamily="49" charset="0"/>
                <a:cs typeface="Consolas" panose="020B0609020204030204" pitchFamily="49" charset="0"/>
              </a:rPr>
              <a:t>Path </a:t>
            </a:r>
            <a:r>
              <a:rPr lang="fr-FR" sz="2200" dirty="0" err="1">
                <a:solidFill>
                  <a:schemeClr val="accent4"/>
                </a:solidFill>
                <a:latin typeface="Consolas" panose="020B0609020204030204" pitchFamily="49" charset="0"/>
                <a:cs typeface="Consolas" panose="020B0609020204030204" pitchFamily="49" charset="0"/>
              </a:rPr>
              <a:t>monFichier</a:t>
            </a:r>
            <a:r>
              <a:rPr lang="fr-FR" sz="2200" dirty="0">
                <a:solidFill>
                  <a:schemeClr val="accent4"/>
                </a:solidFill>
                <a:latin typeface="Consolas" panose="020B0609020204030204" pitchFamily="49" charset="0"/>
                <a:cs typeface="Consolas" panose="020B0609020204030204" pitchFamily="49" charset="0"/>
              </a:rPr>
              <a:t> = </a:t>
            </a:r>
            <a:r>
              <a:rPr lang="fr-FR" sz="2200" dirty="0" err="1">
                <a:solidFill>
                  <a:schemeClr val="accent4"/>
                </a:solidFill>
                <a:latin typeface="Consolas" panose="020B0609020204030204" pitchFamily="49" charset="0"/>
                <a:cs typeface="Consolas" panose="020B0609020204030204" pitchFamily="49" charset="0"/>
              </a:rPr>
              <a:t>Paths.get</a:t>
            </a:r>
            <a:r>
              <a:rPr lang="fr-FR" sz="2200" dirty="0">
                <a:solidFill>
                  <a:schemeClr val="accent4"/>
                </a:solidFill>
                <a:latin typeface="Consolas" panose="020B0609020204030204" pitchFamily="49" charset="0"/>
                <a:cs typeface="Consolas" panose="020B0609020204030204" pitchFamily="49" charset="0"/>
              </a:rPr>
              <a:t>("</a:t>
            </a:r>
            <a:r>
              <a:rPr lang="fr-FR" sz="2200" dirty="0" err="1">
                <a:solidFill>
                  <a:schemeClr val="accent4"/>
                </a:solidFill>
                <a:latin typeface="Consolas" panose="020B0609020204030204" pitchFamily="49" charset="0"/>
                <a:cs typeface="Consolas" panose="020B0609020204030204" pitchFamily="49" charset="0"/>
              </a:rPr>
              <a:t>truc.dat</a:t>
            </a:r>
            <a:r>
              <a:rPr lang="fr-FR" sz="2200" dirty="0">
                <a:solidFill>
                  <a:schemeClr val="accent4"/>
                </a:solidFill>
                <a:latin typeface="Consolas" panose="020B0609020204030204" pitchFamily="49" charset="0"/>
                <a:cs typeface="Consolas" panose="020B0609020204030204" pitchFamily="49" charset="0"/>
              </a:rPr>
              <a:t>");</a:t>
            </a:r>
          </a:p>
          <a:p>
            <a:pPr marL="0" indent="0">
              <a:buNone/>
            </a:pPr>
            <a:r>
              <a:rPr lang="fr-FR" sz="2400" dirty="0"/>
              <a:t>On n’utilise plus un constructeur mais une ‘fabrique’ (Design pattern).</a:t>
            </a:r>
          </a:p>
          <a:p>
            <a:pPr marL="0" indent="0">
              <a:buNone/>
            </a:pPr>
            <a:r>
              <a:rPr lang="fr-FR" sz="2400" dirty="0"/>
              <a:t>Les problèmes de portabilité sont résolus par:</a:t>
            </a:r>
          </a:p>
          <a:p>
            <a:pPr marL="0" indent="0">
              <a:buNone/>
            </a:pPr>
            <a:r>
              <a:rPr lang="fr-FR" sz="2400" dirty="0"/>
              <a:t>﻿</a:t>
            </a:r>
            <a:r>
              <a:rPr lang="fr-FR" sz="2200" dirty="0">
                <a:solidFill>
                  <a:schemeClr val="accent4"/>
                </a:solidFill>
                <a:latin typeface="Consolas" panose="020B0609020204030204" pitchFamily="49" charset="0"/>
                <a:cs typeface="Consolas" panose="020B0609020204030204" pitchFamily="49" charset="0"/>
              </a:rPr>
              <a:t>Path </a:t>
            </a:r>
            <a:r>
              <a:rPr lang="fr-FR" sz="2200" dirty="0" err="1">
                <a:solidFill>
                  <a:schemeClr val="accent4"/>
                </a:solidFill>
                <a:latin typeface="Consolas" panose="020B0609020204030204" pitchFamily="49" charset="0"/>
                <a:cs typeface="Consolas" panose="020B0609020204030204" pitchFamily="49" charset="0"/>
              </a:rPr>
              <a:t>monFichier</a:t>
            </a:r>
            <a:r>
              <a:rPr lang="fr-FR" sz="2200" dirty="0">
                <a:solidFill>
                  <a:schemeClr val="accent4"/>
                </a:solidFill>
                <a:latin typeface="Consolas" panose="020B0609020204030204" pitchFamily="49" charset="0"/>
                <a:cs typeface="Consolas" panose="020B0609020204030204" pitchFamily="49" charset="0"/>
              </a:rPr>
              <a:t> = </a:t>
            </a:r>
            <a:r>
              <a:rPr lang="fr-FR" sz="2200" dirty="0" err="1">
                <a:solidFill>
                  <a:schemeClr val="accent4"/>
                </a:solidFill>
                <a:latin typeface="Consolas" panose="020B0609020204030204" pitchFamily="49" charset="0"/>
                <a:cs typeface="Consolas" panose="020B0609020204030204" pitchFamily="49" charset="0"/>
              </a:rPr>
              <a:t>Paths.get</a:t>
            </a:r>
            <a:r>
              <a:rPr lang="fr-FR" sz="2200" dirty="0">
                <a:solidFill>
                  <a:schemeClr val="accent4"/>
                </a:solidFill>
                <a:latin typeface="Consolas" panose="020B0609020204030204" pitchFamily="49" charset="0"/>
                <a:cs typeface="Consolas" panose="020B0609020204030204" pitchFamily="49" charset="0"/>
              </a:rPr>
              <a:t> ("java", "essais", "</a:t>
            </a:r>
            <a:r>
              <a:rPr lang="fr-FR" sz="2200" dirty="0" err="1">
                <a:solidFill>
                  <a:schemeClr val="accent4"/>
                </a:solidFill>
                <a:latin typeface="Consolas" panose="020B0609020204030204" pitchFamily="49" charset="0"/>
                <a:cs typeface="Consolas" panose="020B0609020204030204" pitchFamily="49" charset="0"/>
              </a:rPr>
              <a:t>entier.bin</a:t>
            </a:r>
            <a:r>
              <a:rPr lang="fr-FR" sz="2200" dirty="0">
                <a:solidFill>
                  <a:schemeClr val="accent4"/>
                </a:solidFill>
                <a:latin typeface="Consolas" panose="020B0609020204030204" pitchFamily="49" charset="0"/>
                <a:cs typeface="Consolas" panose="020B0609020204030204" pitchFamily="49" charset="0"/>
              </a:rPr>
              <a:t>") ;</a:t>
            </a:r>
          </a:p>
          <a:p>
            <a:pPr marL="0" indent="0">
              <a:buNone/>
            </a:pPr>
            <a:endParaRPr lang="fr-FR" sz="2400" dirty="0"/>
          </a:p>
        </p:txBody>
      </p:sp>
    </p:spTree>
    <p:extLst>
      <p:ext uri="{BB962C8B-B14F-4D97-AF65-F5344CB8AC3E}">
        <p14:creationId xmlns:p14="http://schemas.microsoft.com/office/powerpoint/2010/main" val="27985387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cap="none" dirty="0"/>
              <a:t>Création de Stream à partir d’un Path</a:t>
            </a:r>
            <a:endParaRPr lang="fr-FR" dirty="0"/>
          </a:p>
        </p:txBody>
      </p:sp>
      <p:sp>
        <p:nvSpPr>
          <p:cNvPr id="3" name="Espace réservé du contenu 2"/>
          <p:cNvSpPr>
            <a:spLocks noGrp="1"/>
          </p:cNvSpPr>
          <p:nvPr>
            <p:ph idx="1"/>
          </p:nvPr>
        </p:nvSpPr>
        <p:spPr>
          <a:xfrm>
            <a:off x="838200" y="1825625"/>
            <a:ext cx="10515600" cy="1943385"/>
          </a:xfrm>
        </p:spPr>
        <p:txBody>
          <a:bodyPr>
            <a:normAutofit/>
          </a:bodyPr>
          <a:lstStyle/>
          <a:p>
            <a:pPr marL="0" indent="0">
              <a:buNone/>
            </a:pPr>
            <a:r>
              <a:rPr lang="fr-FR" sz="2400" dirty="0"/>
              <a:t>Pour créer un </a:t>
            </a:r>
            <a:r>
              <a:rPr lang="fr-FR" sz="2200" dirty="0" err="1">
                <a:solidFill>
                  <a:schemeClr val="accent4"/>
                </a:solidFill>
                <a:latin typeface="Consolas" panose="020B0609020204030204" pitchFamily="49" charset="0"/>
                <a:cs typeface="Consolas" panose="020B0609020204030204" pitchFamily="49" charset="0"/>
              </a:rPr>
              <a:t>InputStream</a:t>
            </a:r>
            <a:r>
              <a:rPr lang="fr-FR" sz="2400" dirty="0"/>
              <a:t> ou un </a:t>
            </a:r>
            <a:r>
              <a:rPr lang="fr-FR" sz="2200" dirty="0" err="1">
                <a:solidFill>
                  <a:schemeClr val="accent4"/>
                </a:solidFill>
                <a:latin typeface="Consolas" panose="020B0609020204030204" pitchFamily="49" charset="0"/>
                <a:cs typeface="Consolas" panose="020B0609020204030204" pitchFamily="49" charset="0"/>
              </a:rPr>
              <a:t>OutputStream</a:t>
            </a:r>
            <a:r>
              <a:rPr lang="fr-FR" sz="2400" dirty="0"/>
              <a:t> à partir d’objets </a:t>
            </a:r>
            <a:r>
              <a:rPr lang="fr-FR" sz="2200" dirty="0">
                <a:solidFill>
                  <a:schemeClr val="accent4"/>
                </a:solidFill>
                <a:latin typeface="Consolas" panose="020B0609020204030204" pitchFamily="49" charset="0"/>
                <a:cs typeface="Consolas" panose="020B0609020204030204" pitchFamily="49" charset="0"/>
              </a:rPr>
              <a:t>Path</a:t>
            </a:r>
            <a:r>
              <a:rPr lang="fr-FR" sz="2400" dirty="0"/>
              <a:t>, il faut utiliser les méthodes statiques de </a:t>
            </a:r>
            <a:r>
              <a:rPr lang="fr-FR" sz="2200" dirty="0">
                <a:solidFill>
                  <a:schemeClr val="accent4"/>
                </a:solidFill>
                <a:latin typeface="Consolas" panose="020B0609020204030204" pitchFamily="49" charset="0"/>
                <a:cs typeface="Consolas" panose="020B0609020204030204" pitchFamily="49" charset="0"/>
              </a:rPr>
              <a:t>Files</a:t>
            </a:r>
            <a:r>
              <a:rPr lang="fr-FR" sz="2400" dirty="0"/>
              <a:t>:</a:t>
            </a:r>
          </a:p>
          <a:p>
            <a:pPr marL="0" indent="0">
              <a:buNone/>
            </a:pPr>
            <a:endParaRPr lang="fr-FR" sz="2400" dirty="0"/>
          </a:p>
        </p:txBody>
      </p:sp>
      <p:sp>
        <p:nvSpPr>
          <p:cNvPr id="5" name="ZoneTexte 4">
            <a:extLst>
              <a:ext uri="{FF2B5EF4-FFF2-40B4-BE49-F238E27FC236}">
                <a16:creationId xmlns:a16="http://schemas.microsoft.com/office/drawing/2014/main" id="{93609965-A26C-C26F-F9FA-20DE19CF742D}"/>
              </a:ext>
            </a:extLst>
          </p:cNvPr>
          <p:cNvSpPr txBox="1"/>
          <p:nvPr/>
        </p:nvSpPr>
        <p:spPr>
          <a:xfrm>
            <a:off x="2425566" y="3122679"/>
            <a:ext cx="7344076" cy="646331"/>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Path </a:t>
            </a:r>
            <a:r>
              <a:rPr lang="fr-BE" dirty="0">
                <a:solidFill>
                  <a:srgbClr val="9876AA"/>
                </a:solidFill>
                <a:effectLst/>
                <a:latin typeface="Consolas" panose="020B0609020204030204" pitchFamily="49" charset="0"/>
                <a:cs typeface="Consolas" panose="020B0609020204030204" pitchFamily="49" charset="0"/>
              </a:rPr>
              <a:t>p1 </a:t>
            </a: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Paths.getPath</a:t>
            </a:r>
            <a:r>
              <a:rPr lang="fr-BE" dirty="0">
                <a:latin typeface="Consolas" panose="020B0609020204030204" pitchFamily="49" charset="0"/>
                <a:cs typeface="Consolas" panose="020B0609020204030204" pitchFamily="49" charset="0"/>
              </a:rPr>
              <a:t>(</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truc.data</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err="1">
                <a:latin typeface="Consolas" panose="020B0609020204030204" pitchFamily="49" charset="0"/>
                <a:cs typeface="Consolas" panose="020B0609020204030204" pitchFamily="49" charset="0"/>
              </a:rPr>
              <a:t>InputStream</a:t>
            </a:r>
            <a:r>
              <a:rPr lang="fr-BE" dirty="0">
                <a:latin typeface="Consolas" panose="020B0609020204030204" pitchFamily="49" charset="0"/>
                <a:cs typeface="Consolas" panose="020B0609020204030204" pitchFamily="49" charset="0"/>
              </a:rPr>
              <a:t> </a:t>
            </a:r>
            <a:r>
              <a:rPr lang="fr-BE" dirty="0" err="1">
                <a:solidFill>
                  <a:srgbClr val="9876AA"/>
                </a:solidFill>
                <a:effectLst/>
                <a:latin typeface="Consolas" panose="020B0609020204030204" pitchFamily="49" charset="0"/>
                <a:cs typeface="Consolas" panose="020B0609020204030204" pitchFamily="49" charset="0"/>
              </a:rPr>
              <a:t>entree</a:t>
            </a:r>
            <a:r>
              <a:rPr lang="fr-BE" dirty="0">
                <a:solidFill>
                  <a:srgbClr val="9876AA"/>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Files.newInputStream</a:t>
            </a:r>
            <a:r>
              <a:rPr lang="fr-BE" dirty="0">
                <a:latin typeface="Consolas" panose="020B0609020204030204" pitchFamily="49" charset="0"/>
                <a:cs typeface="Consolas" panose="020B0609020204030204" pitchFamily="49" charset="0"/>
              </a:rPr>
              <a:t>(</a:t>
            </a:r>
            <a:r>
              <a:rPr lang="fr-BE" dirty="0">
                <a:solidFill>
                  <a:srgbClr val="9876AA"/>
                </a:solidFill>
                <a:effectLst/>
                <a:latin typeface="Consolas" panose="020B0609020204030204" pitchFamily="49" charset="0"/>
                <a:cs typeface="Consolas" panose="020B0609020204030204" pitchFamily="49" charset="0"/>
              </a:rPr>
              <a:t>p1</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8" name="ZoneTexte 7">
            <a:extLst>
              <a:ext uri="{FF2B5EF4-FFF2-40B4-BE49-F238E27FC236}">
                <a16:creationId xmlns:a16="http://schemas.microsoft.com/office/drawing/2014/main" id="{ABF7DB18-5A4A-7B17-EFE5-5CF41E3C5EE6}"/>
              </a:ext>
            </a:extLst>
          </p:cNvPr>
          <p:cNvSpPr txBox="1"/>
          <p:nvPr/>
        </p:nvSpPr>
        <p:spPr>
          <a:xfrm>
            <a:off x="2425566" y="5211361"/>
            <a:ext cx="7344076" cy="646331"/>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Path </a:t>
            </a:r>
            <a:r>
              <a:rPr lang="fr-BE" dirty="0">
                <a:solidFill>
                  <a:srgbClr val="9876AA"/>
                </a:solidFill>
                <a:effectLst/>
                <a:latin typeface="Consolas" panose="020B0609020204030204" pitchFamily="49" charset="0"/>
                <a:cs typeface="Consolas" panose="020B0609020204030204" pitchFamily="49" charset="0"/>
              </a:rPr>
              <a:t>p1 </a:t>
            </a: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Paths.getPath</a:t>
            </a:r>
            <a:r>
              <a:rPr lang="fr-BE" dirty="0">
                <a:latin typeface="Consolas" panose="020B0609020204030204" pitchFamily="49" charset="0"/>
                <a:cs typeface="Consolas" panose="020B0609020204030204" pitchFamily="49" charset="0"/>
              </a:rPr>
              <a:t>(</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truc.data</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err="1">
                <a:latin typeface="Consolas" panose="020B0609020204030204" pitchFamily="49" charset="0"/>
                <a:cs typeface="Consolas" panose="020B0609020204030204" pitchFamily="49" charset="0"/>
              </a:rPr>
              <a:t>OutputStream</a:t>
            </a:r>
            <a:r>
              <a:rPr lang="fr-BE" dirty="0">
                <a:latin typeface="Consolas" panose="020B0609020204030204" pitchFamily="49" charset="0"/>
                <a:cs typeface="Consolas" panose="020B0609020204030204" pitchFamily="49" charset="0"/>
              </a:rPr>
              <a:t> </a:t>
            </a:r>
            <a:r>
              <a:rPr lang="fr-BE" dirty="0">
                <a:solidFill>
                  <a:srgbClr val="9876AA"/>
                </a:solidFill>
                <a:effectLst/>
                <a:latin typeface="Consolas" panose="020B0609020204030204" pitchFamily="49" charset="0"/>
                <a:cs typeface="Consolas" panose="020B0609020204030204" pitchFamily="49" charset="0"/>
              </a:rPr>
              <a:t>sortie </a:t>
            </a: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Files.newOutputStream</a:t>
            </a:r>
            <a:r>
              <a:rPr lang="fr-BE" dirty="0">
                <a:latin typeface="Consolas" panose="020B0609020204030204" pitchFamily="49" charset="0"/>
                <a:cs typeface="Consolas" panose="020B0609020204030204" pitchFamily="49" charset="0"/>
              </a:rPr>
              <a:t>(</a:t>
            </a:r>
            <a:r>
              <a:rPr lang="fr-BE" dirty="0">
                <a:solidFill>
                  <a:srgbClr val="9876AA"/>
                </a:solidFill>
                <a:effectLst/>
                <a:latin typeface="Consolas" panose="020B0609020204030204" pitchFamily="49" charset="0"/>
                <a:cs typeface="Consolas" panose="020B0609020204030204" pitchFamily="49" charset="0"/>
              </a:rPr>
              <a:t>p1</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9" name="Espace réservé du contenu 2">
            <a:extLst>
              <a:ext uri="{FF2B5EF4-FFF2-40B4-BE49-F238E27FC236}">
                <a16:creationId xmlns:a16="http://schemas.microsoft.com/office/drawing/2014/main" id="{627A804C-2B1F-FFE0-D8D8-473DE8DB72C9}"/>
              </a:ext>
            </a:extLst>
          </p:cNvPr>
          <p:cNvSpPr txBox="1">
            <a:spLocks/>
          </p:cNvSpPr>
          <p:nvPr/>
        </p:nvSpPr>
        <p:spPr>
          <a:xfrm>
            <a:off x="838200" y="4565030"/>
            <a:ext cx="10515600" cy="646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Ou encore</a:t>
            </a:r>
          </a:p>
          <a:p>
            <a:pPr marL="0" indent="0">
              <a:buFont typeface="Arial" panose="020B0604020202020204" pitchFamily="34" charset="0"/>
              <a:buNone/>
            </a:pPr>
            <a:endParaRPr lang="fr-FR" sz="2400" dirty="0"/>
          </a:p>
        </p:txBody>
      </p:sp>
    </p:spTree>
    <p:extLst>
      <p:ext uri="{BB962C8B-B14F-4D97-AF65-F5344CB8AC3E}">
        <p14:creationId xmlns:p14="http://schemas.microsoft.com/office/powerpoint/2010/main" val="2467031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pic>
        <p:nvPicPr>
          <p:cNvPr id="4" name="Picture 6" descr="AI &amp; Big Data | IAV">
            <a:extLst>
              <a:ext uri="{FF2B5EF4-FFF2-40B4-BE49-F238E27FC236}">
                <a16:creationId xmlns:a16="http://schemas.microsoft.com/office/drawing/2014/main" id="{ABCF0774-D7EC-2D44-A779-3AAEFAF5774D}"/>
              </a:ext>
            </a:extLst>
          </p:cNvPr>
          <p:cNvPicPr>
            <a:picLocks noChangeAspect="1" noChangeArrowheads="1"/>
          </p:cNvPicPr>
          <p:nvPr/>
        </p:nvPicPr>
        <p:blipFill rotWithShape="1">
          <a:blip cstate="screen">
            <a:extLst>
              <a:ext uri="{28A0092B-C50C-407E-A947-70E740481C1C}">
                <a14:useLocalDpi xmlns:a14="http://schemas.microsoft.com/office/drawing/2010/main"/>
              </a:ext>
            </a:extLst>
          </a:blip>
          <a:srcRect l="19581" r="19581"/>
          <a:stretch/>
        </p:blipFill>
        <p:spPr bwMode="auto">
          <a:xfrm>
            <a:off x="3407229" y="942975"/>
            <a:ext cx="5377542" cy="497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945745"/>
      </p:ext>
    </p:extLst>
  </p:cSld>
  <p:clrMapOvr>
    <a:masterClrMapping/>
  </p:clrMapOvr>
  <p:transition>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E6083-8256-154A-B26F-2269D186C987}"/>
              </a:ext>
            </a:extLst>
          </p:cNvPr>
          <p:cNvSpPr>
            <a:spLocks noGrp="1"/>
          </p:cNvSpPr>
          <p:nvPr>
            <p:ph type="title"/>
          </p:nvPr>
        </p:nvSpPr>
        <p:spPr/>
        <p:txBody>
          <a:bodyPr/>
          <a:lstStyle/>
          <a:p>
            <a:r>
              <a:rPr lang="fr-FR" dirty="0"/>
              <a:t>Exercice 1a</a:t>
            </a:r>
          </a:p>
        </p:txBody>
      </p:sp>
      <p:sp>
        <p:nvSpPr>
          <p:cNvPr id="4" name="Espace réservé du contenu 3">
            <a:extLst>
              <a:ext uri="{FF2B5EF4-FFF2-40B4-BE49-F238E27FC236}">
                <a16:creationId xmlns:a16="http://schemas.microsoft.com/office/drawing/2014/main" id="{F23ED637-A493-F443-913A-7143C915E13A}"/>
              </a:ext>
            </a:extLst>
          </p:cNvPr>
          <p:cNvSpPr>
            <a:spLocks noGrp="1"/>
          </p:cNvSpPr>
          <p:nvPr>
            <p:ph idx="1"/>
          </p:nvPr>
        </p:nvSpPr>
        <p:spPr/>
        <p:txBody>
          <a:bodyPr>
            <a:normAutofit/>
          </a:bodyPr>
          <a:lstStyle/>
          <a:p>
            <a:pPr marL="0" indent="0">
              <a:buNone/>
            </a:pPr>
            <a:r>
              <a:rPr lang="fr-FR" sz="2400" dirty="0"/>
              <a:t>Créez trois classes </a:t>
            </a:r>
            <a:r>
              <a:rPr lang="fr-FR" sz="2200" dirty="0">
                <a:solidFill>
                  <a:schemeClr val="accent4"/>
                </a:solidFill>
                <a:latin typeface="Consolas" panose="020B0609020204030204" pitchFamily="49" charset="0"/>
                <a:cs typeface="Consolas" panose="020B0609020204030204" pitchFamily="49" charset="0"/>
              </a:rPr>
              <a:t>Etudiant</a:t>
            </a:r>
            <a:r>
              <a:rPr lang="fr-FR" sz="2400" dirty="0"/>
              <a:t>, </a:t>
            </a:r>
            <a:r>
              <a:rPr lang="fr-FR" sz="2200" dirty="0">
                <a:solidFill>
                  <a:schemeClr val="accent4"/>
                </a:solidFill>
                <a:latin typeface="Consolas" panose="020B0609020204030204" pitchFamily="49" charset="0"/>
                <a:cs typeface="Consolas" panose="020B0609020204030204" pitchFamily="49" charset="0"/>
              </a:rPr>
              <a:t>Enseignant</a:t>
            </a:r>
            <a:r>
              <a:rPr lang="fr-FR" sz="2400" dirty="0"/>
              <a:t> et </a:t>
            </a:r>
            <a:r>
              <a:rPr lang="fr-FR" sz="2200" dirty="0">
                <a:solidFill>
                  <a:schemeClr val="accent4"/>
                </a:solidFill>
                <a:latin typeface="Consolas" panose="020B0609020204030204" pitchFamily="49" charset="0"/>
                <a:cs typeface="Consolas" panose="020B0609020204030204" pitchFamily="49" charset="0"/>
              </a:rPr>
              <a:t>Cours</a:t>
            </a:r>
            <a:r>
              <a:rPr lang="fr-FR" sz="2400" dirty="0"/>
              <a:t> répondant aux critères suivants: </a:t>
            </a:r>
          </a:p>
          <a:p>
            <a:pPr marL="342900" indent="-342900"/>
            <a:r>
              <a:rPr lang="fr-FR" sz="2400" dirty="0"/>
              <a:t>un étudiant a un </a:t>
            </a:r>
            <a:r>
              <a:rPr lang="fr-FR" sz="2400" u="sng" dirty="0"/>
              <a:t>nom</a:t>
            </a:r>
            <a:r>
              <a:rPr lang="fr-FR" sz="2400" dirty="0"/>
              <a:t> et un </a:t>
            </a:r>
            <a:r>
              <a:rPr lang="fr-FR" sz="2400" u="sng" dirty="0"/>
              <a:t>prénom</a:t>
            </a:r>
            <a:r>
              <a:rPr lang="fr-FR" sz="2400" dirty="0"/>
              <a:t>. </a:t>
            </a:r>
          </a:p>
          <a:p>
            <a:pPr marL="342900" indent="-342900"/>
            <a:r>
              <a:rPr lang="fr-FR" sz="2400" dirty="0"/>
              <a:t>l’étudiant a aussi une liste de </a:t>
            </a:r>
            <a:r>
              <a:rPr lang="fr-FR" sz="2200" dirty="0">
                <a:solidFill>
                  <a:schemeClr val="accent4"/>
                </a:solidFill>
                <a:latin typeface="Consolas" panose="020B0609020204030204" pitchFamily="49" charset="0"/>
                <a:cs typeface="Consolas" panose="020B0609020204030204" pitchFamily="49" charset="0"/>
              </a:rPr>
              <a:t>Cours</a:t>
            </a:r>
            <a:r>
              <a:rPr lang="fr-FR" sz="2400" dirty="0"/>
              <a:t> auxquels il est inscrit (et présente les méthodes </a:t>
            </a:r>
            <a:r>
              <a:rPr lang="fr-FR" sz="2200" dirty="0">
                <a:solidFill>
                  <a:schemeClr val="accent4"/>
                </a:solidFill>
                <a:latin typeface="Consolas" panose="020B0609020204030204" pitchFamily="49" charset="0"/>
                <a:cs typeface="Consolas" panose="020B0609020204030204" pitchFamily="49" charset="0"/>
              </a:rPr>
              <a:t>inscrire</a:t>
            </a:r>
            <a:r>
              <a:rPr lang="fr-FR" sz="2400" dirty="0"/>
              <a:t> et </a:t>
            </a:r>
            <a:r>
              <a:rPr lang="fr-FR" sz="2200" dirty="0" err="1">
                <a:solidFill>
                  <a:schemeClr val="accent4"/>
                </a:solidFill>
                <a:latin typeface="Consolas" panose="020B0609020204030204" pitchFamily="49" charset="0"/>
                <a:cs typeface="Consolas" panose="020B0609020204030204" pitchFamily="49" charset="0"/>
              </a:rPr>
              <a:t>desinscrire</a:t>
            </a:r>
            <a:r>
              <a:rPr lang="fr-FR" sz="2400" dirty="0"/>
              <a:t>).</a:t>
            </a:r>
          </a:p>
          <a:p>
            <a:pPr marL="342900" indent="-342900"/>
            <a:r>
              <a:rPr lang="fr-FR" sz="2400" dirty="0"/>
              <a:t>un </a:t>
            </a:r>
            <a:r>
              <a:rPr lang="fr-FR" sz="2200" dirty="0">
                <a:solidFill>
                  <a:schemeClr val="accent4"/>
                </a:solidFill>
                <a:latin typeface="Consolas" panose="020B0609020204030204" pitchFamily="49" charset="0"/>
                <a:cs typeface="Consolas" panose="020B0609020204030204" pitchFamily="49" charset="0"/>
              </a:rPr>
              <a:t>Enseignant</a:t>
            </a:r>
            <a:r>
              <a:rPr lang="fr-FR" sz="2400" dirty="0"/>
              <a:t> a un </a:t>
            </a:r>
            <a:r>
              <a:rPr lang="fr-FR" sz="2400" u="sng" dirty="0"/>
              <a:t>nom</a:t>
            </a:r>
            <a:r>
              <a:rPr lang="fr-FR" sz="2400" dirty="0"/>
              <a:t> et un </a:t>
            </a:r>
            <a:r>
              <a:rPr lang="fr-FR" sz="2400" u="sng" dirty="0"/>
              <a:t>prénom</a:t>
            </a:r>
            <a:r>
              <a:rPr lang="fr-FR" sz="2400" dirty="0"/>
              <a:t>.</a:t>
            </a:r>
          </a:p>
          <a:p>
            <a:pPr marL="342900" indent="-342900"/>
            <a:r>
              <a:rPr lang="fr-FR" sz="2400" dirty="0"/>
              <a:t>un </a:t>
            </a:r>
            <a:r>
              <a:rPr lang="fr-FR" sz="2200" dirty="0">
                <a:solidFill>
                  <a:schemeClr val="accent4"/>
                </a:solidFill>
                <a:latin typeface="Consolas" panose="020B0609020204030204" pitchFamily="49" charset="0"/>
                <a:cs typeface="Consolas" panose="020B0609020204030204" pitchFamily="49" charset="0"/>
              </a:rPr>
              <a:t>Cours</a:t>
            </a:r>
            <a:r>
              <a:rPr lang="fr-FR" sz="2400" dirty="0"/>
              <a:t> a un </a:t>
            </a:r>
            <a:r>
              <a:rPr lang="fr-FR" sz="2400" u="sng" dirty="0"/>
              <a:t>intitulé</a:t>
            </a:r>
            <a:r>
              <a:rPr lang="fr-FR" sz="2400" dirty="0"/>
              <a:t> et un chargé de cours (</a:t>
            </a:r>
            <a:r>
              <a:rPr lang="fr-FR" sz="2200" dirty="0">
                <a:solidFill>
                  <a:schemeClr val="accent4"/>
                </a:solidFill>
                <a:latin typeface="Consolas" panose="020B0609020204030204" pitchFamily="49" charset="0"/>
                <a:cs typeface="Consolas" panose="020B0609020204030204" pitchFamily="49" charset="0"/>
              </a:rPr>
              <a:t>Enseignant</a:t>
            </a:r>
            <a:r>
              <a:rPr lang="fr-FR" sz="2400" dirty="0"/>
              <a:t>).</a:t>
            </a:r>
          </a:p>
          <a:p>
            <a:pPr marL="0" indent="0">
              <a:buNone/>
            </a:pPr>
            <a:r>
              <a:rPr lang="fr-FR" sz="2400" dirty="0"/>
              <a:t>Les champs soulignés désignent ceux qui sont passés au constructeur; pour les autres, il faut prévoir les getters et/ou setters appropriés.</a:t>
            </a:r>
          </a:p>
        </p:txBody>
      </p:sp>
    </p:spTree>
    <p:extLst>
      <p:ext uri="{BB962C8B-B14F-4D97-AF65-F5344CB8AC3E}">
        <p14:creationId xmlns:p14="http://schemas.microsoft.com/office/powerpoint/2010/main" val="34863267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E6083-8256-154A-B26F-2269D186C987}"/>
              </a:ext>
            </a:extLst>
          </p:cNvPr>
          <p:cNvSpPr>
            <a:spLocks noGrp="1"/>
          </p:cNvSpPr>
          <p:nvPr>
            <p:ph type="title"/>
          </p:nvPr>
        </p:nvSpPr>
        <p:spPr/>
        <p:txBody>
          <a:bodyPr/>
          <a:lstStyle/>
          <a:p>
            <a:r>
              <a:rPr lang="fr-FR" dirty="0"/>
              <a:t>Exercice 1b</a:t>
            </a:r>
          </a:p>
        </p:txBody>
      </p:sp>
      <p:sp>
        <p:nvSpPr>
          <p:cNvPr id="4" name="Espace réservé du contenu 3">
            <a:extLst>
              <a:ext uri="{FF2B5EF4-FFF2-40B4-BE49-F238E27FC236}">
                <a16:creationId xmlns:a16="http://schemas.microsoft.com/office/drawing/2014/main" id="{F23ED637-A493-F443-913A-7143C915E13A}"/>
              </a:ext>
            </a:extLst>
          </p:cNvPr>
          <p:cNvSpPr>
            <a:spLocks noGrp="1"/>
          </p:cNvSpPr>
          <p:nvPr>
            <p:ph idx="1"/>
          </p:nvPr>
        </p:nvSpPr>
        <p:spPr/>
        <p:txBody>
          <a:bodyPr>
            <a:normAutofit/>
          </a:bodyPr>
          <a:lstStyle/>
          <a:p>
            <a:pPr marL="0" indent="0">
              <a:buNone/>
            </a:pPr>
            <a:r>
              <a:rPr lang="fr-FR" sz="2400" dirty="0"/>
              <a:t>En utilisant vos trois classes </a:t>
            </a:r>
            <a:r>
              <a:rPr lang="fr-FR" sz="2200" dirty="0">
                <a:solidFill>
                  <a:schemeClr val="accent4"/>
                </a:solidFill>
                <a:latin typeface="Consolas" panose="020B0609020204030204" pitchFamily="49" charset="0"/>
                <a:cs typeface="Consolas" panose="020B0609020204030204" pitchFamily="49" charset="0"/>
              </a:rPr>
              <a:t>Etudiant</a:t>
            </a:r>
            <a:r>
              <a:rPr lang="fr-FR" sz="2400" dirty="0"/>
              <a:t>, </a:t>
            </a:r>
            <a:r>
              <a:rPr lang="fr-FR" sz="2200" dirty="0">
                <a:solidFill>
                  <a:schemeClr val="accent4"/>
                </a:solidFill>
                <a:latin typeface="Consolas" panose="020B0609020204030204" pitchFamily="49" charset="0"/>
                <a:cs typeface="Consolas" panose="020B0609020204030204" pitchFamily="49" charset="0"/>
              </a:rPr>
              <a:t>Enseignant</a:t>
            </a:r>
            <a:r>
              <a:rPr lang="fr-FR" sz="2400" dirty="0"/>
              <a:t> et </a:t>
            </a:r>
            <a:r>
              <a:rPr lang="fr-FR" sz="2200" dirty="0">
                <a:solidFill>
                  <a:schemeClr val="accent4"/>
                </a:solidFill>
                <a:latin typeface="Consolas" panose="020B0609020204030204" pitchFamily="49" charset="0"/>
                <a:cs typeface="Consolas" panose="020B0609020204030204" pitchFamily="49" charset="0"/>
              </a:rPr>
              <a:t>Cours</a:t>
            </a:r>
            <a:r>
              <a:rPr lang="fr-FR" sz="2400" dirty="0"/>
              <a:t>, écrivez un </a:t>
            </a:r>
            <a:r>
              <a:rPr lang="fr-FR" sz="2200" dirty="0" err="1">
                <a:solidFill>
                  <a:schemeClr val="accent4"/>
                </a:solidFill>
                <a:latin typeface="Consolas" panose="020B0609020204030204" pitchFamily="49" charset="0"/>
                <a:cs typeface="Consolas" panose="020B0609020204030204" pitchFamily="49" charset="0"/>
              </a:rPr>
              <a:t>ProgrammeEnregistrement</a:t>
            </a:r>
            <a:r>
              <a:rPr lang="fr-FR" sz="2400" dirty="0"/>
              <a:t> qui demande à la console une liste d’étudiants, une liste d’enseignants et une liste de cours (pour chaque cours il propose de choisir l’enseignant chargé de cours). Il propose aussi d’inscrire les étudiants aux cours.</a:t>
            </a:r>
          </a:p>
          <a:p>
            <a:pPr marL="0" indent="0">
              <a:buNone/>
            </a:pPr>
            <a:r>
              <a:rPr lang="fr-FR" sz="2400" dirty="0"/>
              <a:t>Une fois les étudiants inscrits, il les affiche puis les enregistre (en tant qu’objets) dans un fichier </a:t>
            </a:r>
            <a:r>
              <a:rPr lang="fr-FR" sz="2200" dirty="0" err="1">
                <a:solidFill>
                  <a:schemeClr val="accent4"/>
                </a:solidFill>
                <a:latin typeface="Consolas" panose="020B0609020204030204" pitchFamily="49" charset="0"/>
                <a:cs typeface="Consolas" panose="020B0609020204030204" pitchFamily="49" charset="0"/>
              </a:rPr>
              <a:t>etudiants.dat</a:t>
            </a:r>
            <a:r>
              <a:rPr lang="fr-FR" sz="2400" dirty="0"/>
              <a:t>.</a:t>
            </a:r>
          </a:p>
          <a:p>
            <a:pPr marL="0" indent="0">
              <a:buNone/>
            </a:pPr>
            <a:r>
              <a:rPr lang="fr-FR" sz="2400" dirty="0"/>
              <a:t>Ensuite, il relit le fichier et affiche les étudiants relus.</a:t>
            </a:r>
          </a:p>
          <a:p>
            <a:pPr marL="0" indent="0">
              <a:buNone/>
            </a:pPr>
            <a:endParaRPr lang="fr-FR" sz="2400" dirty="0"/>
          </a:p>
          <a:p>
            <a:pPr marL="0" indent="0">
              <a:buNone/>
            </a:pPr>
            <a:r>
              <a:rPr lang="fr-FR" sz="2400" dirty="0"/>
              <a:t>Ecrivez aussi une classe </a:t>
            </a:r>
            <a:r>
              <a:rPr lang="fr-FR" sz="2200" dirty="0" err="1">
                <a:solidFill>
                  <a:schemeClr val="accent4"/>
                </a:solidFill>
                <a:latin typeface="Consolas" panose="020B0609020204030204" pitchFamily="49" charset="0"/>
                <a:cs typeface="Consolas" panose="020B0609020204030204" pitchFamily="49" charset="0"/>
              </a:rPr>
              <a:t>ProgrammeLecture</a:t>
            </a:r>
            <a:r>
              <a:rPr lang="fr-FR" sz="2400" dirty="0"/>
              <a:t> qui relit le fichier </a:t>
            </a:r>
            <a:r>
              <a:rPr lang="fr-FR" sz="2200" dirty="0" err="1">
                <a:solidFill>
                  <a:schemeClr val="accent4"/>
                </a:solidFill>
                <a:latin typeface="Consolas" panose="020B0609020204030204" pitchFamily="49" charset="0"/>
                <a:cs typeface="Consolas" panose="020B0609020204030204" pitchFamily="49" charset="0"/>
              </a:rPr>
              <a:t>etudiants.dat</a:t>
            </a:r>
            <a:r>
              <a:rPr lang="fr-FR" sz="2200" dirty="0">
                <a:solidFill>
                  <a:schemeClr val="accent4"/>
                </a:solidFill>
                <a:latin typeface="Consolas" panose="020B0609020204030204" pitchFamily="49" charset="0"/>
                <a:cs typeface="Consolas" panose="020B0609020204030204" pitchFamily="49" charset="0"/>
              </a:rPr>
              <a:t> </a:t>
            </a:r>
            <a:r>
              <a:rPr lang="fr-FR" sz="2400" dirty="0"/>
              <a:t>et affiche les objets </a:t>
            </a:r>
            <a:r>
              <a:rPr lang="fr-FR" sz="2200" dirty="0">
                <a:solidFill>
                  <a:schemeClr val="accent4"/>
                </a:solidFill>
                <a:latin typeface="Consolas" panose="020B0609020204030204" pitchFamily="49" charset="0"/>
                <a:cs typeface="Consolas" panose="020B0609020204030204" pitchFamily="49" charset="0"/>
              </a:rPr>
              <a:t>Etudiant</a:t>
            </a:r>
            <a:r>
              <a:rPr lang="fr-FR" sz="2400" dirty="0"/>
              <a:t> relus.</a:t>
            </a:r>
          </a:p>
        </p:txBody>
      </p:sp>
    </p:spTree>
    <p:extLst>
      <p:ext uri="{BB962C8B-B14F-4D97-AF65-F5344CB8AC3E}">
        <p14:creationId xmlns:p14="http://schemas.microsoft.com/office/powerpoint/2010/main" val="13775947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E6083-8256-154A-B26F-2269D186C987}"/>
              </a:ext>
            </a:extLst>
          </p:cNvPr>
          <p:cNvSpPr>
            <a:spLocks noGrp="1"/>
          </p:cNvSpPr>
          <p:nvPr>
            <p:ph type="title"/>
          </p:nvPr>
        </p:nvSpPr>
        <p:spPr/>
        <p:txBody>
          <a:bodyPr/>
          <a:lstStyle/>
          <a:p>
            <a:r>
              <a:rPr lang="fr-FR" dirty="0"/>
              <a:t>Exercice 1c</a:t>
            </a:r>
          </a:p>
        </p:txBody>
      </p:sp>
      <p:sp>
        <p:nvSpPr>
          <p:cNvPr id="4" name="Espace réservé du contenu 3">
            <a:extLst>
              <a:ext uri="{FF2B5EF4-FFF2-40B4-BE49-F238E27FC236}">
                <a16:creationId xmlns:a16="http://schemas.microsoft.com/office/drawing/2014/main" id="{F23ED637-A493-F443-913A-7143C915E13A}"/>
              </a:ext>
            </a:extLst>
          </p:cNvPr>
          <p:cNvSpPr>
            <a:spLocks noGrp="1"/>
          </p:cNvSpPr>
          <p:nvPr>
            <p:ph idx="1"/>
          </p:nvPr>
        </p:nvSpPr>
        <p:spPr/>
        <p:txBody>
          <a:bodyPr>
            <a:normAutofit/>
          </a:bodyPr>
          <a:lstStyle/>
          <a:p>
            <a:pPr marL="0" indent="0">
              <a:buNone/>
            </a:pPr>
            <a:r>
              <a:rPr lang="fr-FR" sz="2400" dirty="0"/>
              <a:t>Ecrivez maintenant une classe </a:t>
            </a:r>
            <a:r>
              <a:rPr lang="fr-FR" sz="2200" dirty="0" err="1">
                <a:solidFill>
                  <a:schemeClr val="accent4"/>
                </a:solidFill>
                <a:latin typeface="Consolas" panose="020B0609020204030204" pitchFamily="49" charset="0"/>
                <a:cs typeface="Consolas" panose="020B0609020204030204" pitchFamily="49" charset="0"/>
              </a:rPr>
              <a:t>EcritListeEtudiants</a:t>
            </a:r>
            <a:r>
              <a:rPr lang="fr-FR" sz="2400" dirty="0"/>
              <a:t> qui enregistre les étudiants sous forme de texte dans le fichier </a:t>
            </a:r>
            <a:r>
              <a:rPr lang="fr-FR" sz="2200" dirty="0" err="1">
                <a:solidFill>
                  <a:schemeClr val="accent4"/>
                </a:solidFill>
                <a:latin typeface="Consolas" panose="020B0609020204030204" pitchFamily="49" charset="0"/>
                <a:cs typeface="Consolas" panose="020B0609020204030204" pitchFamily="49" charset="0"/>
              </a:rPr>
              <a:t>etudiants.txt</a:t>
            </a:r>
            <a:r>
              <a:rPr lang="fr-FR" sz="2400" dirty="0"/>
              <a:t>.</a:t>
            </a:r>
          </a:p>
          <a:p>
            <a:pPr marL="0" indent="0">
              <a:buNone/>
            </a:pPr>
            <a:endParaRPr lang="fr-FR" sz="2400" dirty="0"/>
          </a:p>
          <a:p>
            <a:pPr marL="0" indent="0">
              <a:buNone/>
            </a:pPr>
            <a:r>
              <a:rPr lang="fr-FR" sz="2400" dirty="0"/>
              <a:t>Savez-vous lire le fichier </a:t>
            </a:r>
            <a:r>
              <a:rPr lang="fr-FR" sz="2200" dirty="0" err="1">
                <a:solidFill>
                  <a:schemeClr val="accent4"/>
                </a:solidFill>
                <a:latin typeface="Consolas" panose="020B0609020204030204" pitchFamily="49" charset="0"/>
                <a:cs typeface="Consolas" panose="020B0609020204030204" pitchFamily="49" charset="0"/>
              </a:rPr>
              <a:t>etudiants.txt</a:t>
            </a:r>
            <a:r>
              <a:rPr lang="fr-FR" sz="2400" dirty="0"/>
              <a:t>? Qu’en est-il de </a:t>
            </a:r>
            <a:r>
              <a:rPr lang="fr-FR" sz="2200" dirty="0" err="1">
                <a:solidFill>
                  <a:schemeClr val="accent4"/>
                </a:solidFill>
                <a:latin typeface="Consolas" panose="020B0609020204030204" pitchFamily="49" charset="0"/>
                <a:cs typeface="Consolas" panose="020B0609020204030204" pitchFamily="49" charset="0"/>
              </a:rPr>
              <a:t>etudiants.dat</a:t>
            </a:r>
            <a:r>
              <a:rPr lang="fr-FR" sz="2400" dirty="0"/>
              <a:t>?</a:t>
            </a:r>
          </a:p>
        </p:txBody>
      </p:sp>
    </p:spTree>
    <p:extLst>
      <p:ext uri="{BB962C8B-B14F-4D97-AF65-F5344CB8AC3E}">
        <p14:creationId xmlns:p14="http://schemas.microsoft.com/office/powerpoint/2010/main" val="4148986969"/>
      </p:ext>
    </p:extLst>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ThemeEphec2022</Template>
  <TotalTime>116141</TotalTime>
  <Words>3927</Words>
  <Application>Microsoft Macintosh PowerPoint</Application>
  <PresentationFormat>Grand écran</PresentationFormat>
  <Paragraphs>248</Paragraphs>
  <Slides>46</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46</vt:i4>
      </vt:variant>
    </vt:vector>
  </HeadingPairs>
  <TitlesOfParts>
    <vt:vector size="51" baseType="lpstr">
      <vt:lpstr>Arial</vt:lpstr>
      <vt:lpstr>Calibri</vt:lpstr>
      <vt:lpstr>Consolas</vt:lpstr>
      <vt:lpstr>Corbel</vt:lpstr>
      <vt:lpstr>ThemeEphec2022</vt:lpstr>
      <vt:lpstr>JAVA 2</vt:lpstr>
      <vt:lpstr>Flux de données et Fichiers</vt:lpstr>
      <vt:lpstr>Flux et Fichiers</vt:lpstr>
      <vt:lpstr>La notion de Flux (Stream)</vt:lpstr>
      <vt:lpstr>La notion de Flux (Stream)</vt:lpstr>
      <vt:lpstr>Accès Séquentiel vs Accès Direct</vt:lpstr>
      <vt:lpstr>Flux et Fichiers</vt:lpstr>
      <vt:lpstr>Ecriture / Lecture d’un fichier binaire</vt:lpstr>
      <vt:lpstr>Ecriture: FileOutputStream</vt:lpstr>
      <vt:lpstr>Ecriture: DataOutputStream</vt:lpstr>
      <vt:lpstr>Exemple</vt:lpstr>
      <vt:lpstr>Ecriture: BufferedOutputStream</vt:lpstr>
      <vt:lpstr>Lecture: FileInputStream</vt:lpstr>
      <vt:lpstr>Lecture: DataInputStream</vt:lpstr>
      <vt:lpstr>Exemple</vt:lpstr>
      <vt:lpstr>Lecture: BufferedInputStream</vt:lpstr>
      <vt:lpstr>Flux et Fichiers</vt:lpstr>
      <vt:lpstr>Accès Direct: RandomAccessFile</vt:lpstr>
      <vt:lpstr>Pointeur RandomAccessFile</vt:lpstr>
      <vt:lpstr>Flux et Fichiers</vt:lpstr>
      <vt:lpstr>Ecriture d’un flux de texte</vt:lpstr>
      <vt:lpstr>FileWriter</vt:lpstr>
      <vt:lpstr>PrintWriter</vt:lpstr>
      <vt:lpstr>EXEMPLE</vt:lpstr>
      <vt:lpstr>PrintWriter</vt:lpstr>
      <vt:lpstr>Lecture d’un flux de texte</vt:lpstr>
      <vt:lpstr>Accès aux lignes d’un texte</vt:lpstr>
      <vt:lpstr>Exemple</vt:lpstr>
      <vt:lpstr>Accès au contenu du texte</vt:lpstr>
      <vt:lpstr>Exemple</vt:lpstr>
      <vt:lpstr>Flux et Fichiers</vt:lpstr>
      <vt:lpstr>Ecriture d’objets</vt:lpstr>
      <vt:lpstr>L’interface Serializable</vt:lpstr>
      <vt:lpstr>Exemple</vt:lpstr>
      <vt:lpstr>Lecture d’objets</vt:lpstr>
      <vt:lpstr>Exemple</vt:lpstr>
      <vt:lpstr>Quelques remarques</vt:lpstr>
      <vt:lpstr>Flux et Fichiers</vt:lpstr>
      <vt:lpstr>Les classes File et Path</vt:lpstr>
      <vt:lpstr>Influence de l’environnement</vt:lpstr>
      <vt:lpstr>Path</vt:lpstr>
      <vt:lpstr>Création de Stream à partir d’un Path</vt:lpstr>
      <vt:lpstr>Exercices</vt:lpstr>
      <vt:lpstr>Exercice 1a</vt:lpstr>
      <vt:lpstr>Exercice 1b</vt:lpstr>
      <vt:lpstr>Exercice 1c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75</cp:revision>
  <dcterms:created xsi:type="dcterms:W3CDTF">2023-01-04T13:50:20Z</dcterms:created>
  <dcterms:modified xsi:type="dcterms:W3CDTF">2026-04-14T12:59:44Z</dcterms:modified>
</cp:coreProperties>
</file>