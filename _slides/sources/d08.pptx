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00"/>
  </p:notesMasterIdLst>
  <p:sldIdLst>
    <p:sldId id="256" r:id="rId2"/>
    <p:sldId id="679" r:id="rId3"/>
    <p:sldId id="784" r:id="rId4"/>
    <p:sldId id="853" r:id="rId5"/>
    <p:sldId id="854" r:id="rId6"/>
    <p:sldId id="678" r:id="rId7"/>
    <p:sldId id="855" r:id="rId8"/>
    <p:sldId id="702" r:id="rId9"/>
    <p:sldId id="701" r:id="rId10"/>
    <p:sldId id="708" r:id="rId11"/>
    <p:sldId id="686" r:id="rId12"/>
    <p:sldId id="743" r:id="rId13"/>
    <p:sldId id="725" r:id="rId14"/>
    <p:sldId id="748" r:id="rId15"/>
    <p:sldId id="747" r:id="rId16"/>
    <p:sldId id="726" r:id="rId17"/>
    <p:sldId id="703" r:id="rId18"/>
    <p:sldId id="744" r:id="rId19"/>
    <p:sldId id="687" r:id="rId20"/>
    <p:sldId id="709" r:id="rId21"/>
    <p:sldId id="745" r:id="rId22"/>
    <p:sldId id="704" r:id="rId23"/>
    <p:sldId id="710" r:id="rId24"/>
    <p:sldId id="692" r:id="rId25"/>
    <p:sldId id="746" r:id="rId26"/>
    <p:sldId id="711" r:id="rId27"/>
    <p:sldId id="712" r:id="rId28"/>
    <p:sldId id="713" r:id="rId29"/>
    <p:sldId id="727" r:id="rId30"/>
    <p:sldId id="714" r:id="rId31"/>
    <p:sldId id="749" r:id="rId32"/>
    <p:sldId id="705" r:id="rId33"/>
    <p:sldId id="720" r:id="rId34"/>
    <p:sldId id="750" r:id="rId35"/>
    <p:sldId id="728" r:id="rId36"/>
    <p:sldId id="751" r:id="rId37"/>
    <p:sldId id="729" r:id="rId38"/>
    <p:sldId id="730" r:id="rId39"/>
    <p:sldId id="752" r:id="rId40"/>
    <p:sldId id="696" r:id="rId41"/>
    <p:sldId id="697" r:id="rId42"/>
    <p:sldId id="734" r:id="rId43"/>
    <p:sldId id="735" r:id="rId44"/>
    <p:sldId id="736" r:id="rId45"/>
    <p:sldId id="737" r:id="rId46"/>
    <p:sldId id="738" r:id="rId47"/>
    <p:sldId id="739" r:id="rId48"/>
    <p:sldId id="731" r:id="rId49"/>
    <p:sldId id="732" r:id="rId50"/>
    <p:sldId id="684" r:id="rId51"/>
    <p:sldId id="741" r:id="rId52"/>
    <p:sldId id="706" r:id="rId53"/>
    <p:sldId id="707" r:id="rId54"/>
    <p:sldId id="742" r:id="rId55"/>
    <p:sldId id="753" r:id="rId56"/>
    <p:sldId id="785" r:id="rId57"/>
    <p:sldId id="786" r:id="rId58"/>
    <p:sldId id="787" r:id="rId59"/>
    <p:sldId id="788" r:id="rId60"/>
    <p:sldId id="789" r:id="rId61"/>
    <p:sldId id="790" r:id="rId62"/>
    <p:sldId id="791" r:id="rId63"/>
    <p:sldId id="792" r:id="rId64"/>
    <p:sldId id="793" r:id="rId65"/>
    <p:sldId id="794" r:id="rId66"/>
    <p:sldId id="795" r:id="rId67"/>
    <p:sldId id="796" r:id="rId68"/>
    <p:sldId id="806" r:id="rId69"/>
    <p:sldId id="822" r:id="rId70"/>
    <p:sldId id="823" r:id="rId71"/>
    <p:sldId id="824" r:id="rId72"/>
    <p:sldId id="825" r:id="rId73"/>
    <p:sldId id="826" r:id="rId74"/>
    <p:sldId id="827" r:id="rId75"/>
    <p:sldId id="828" r:id="rId76"/>
    <p:sldId id="829" r:id="rId77"/>
    <p:sldId id="830" r:id="rId78"/>
    <p:sldId id="831" r:id="rId79"/>
    <p:sldId id="832" r:id="rId80"/>
    <p:sldId id="833" r:id="rId81"/>
    <p:sldId id="834" r:id="rId82"/>
    <p:sldId id="835" r:id="rId83"/>
    <p:sldId id="836" r:id="rId84"/>
    <p:sldId id="837" r:id="rId85"/>
    <p:sldId id="838" r:id="rId86"/>
    <p:sldId id="839" r:id="rId87"/>
    <p:sldId id="840" r:id="rId88"/>
    <p:sldId id="841" r:id="rId89"/>
    <p:sldId id="842" r:id="rId90"/>
    <p:sldId id="843" r:id="rId91"/>
    <p:sldId id="844" r:id="rId92"/>
    <p:sldId id="845" r:id="rId93"/>
    <p:sldId id="846" r:id="rId94"/>
    <p:sldId id="847" r:id="rId95"/>
    <p:sldId id="848" r:id="rId96"/>
    <p:sldId id="849" r:id="rId97"/>
    <p:sldId id="850" r:id="rId98"/>
    <p:sldId id="851" r:id="rId9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appels et Exercice" id="{9A02D4CA-36D1-0242-9570-74B9915D5B21}">
          <p14:sldIdLst>
            <p14:sldId id="256"/>
            <p14:sldId id="679"/>
          </p14:sldIdLst>
        </p14:section>
        <p14:section name="Exercices" id="{F42446ED-B239-4044-895F-045168339FFC}">
          <p14:sldIdLst>
            <p14:sldId id="784"/>
          </p14:sldIdLst>
        </p14:section>
        <p14:section name="La semaine dernière" id="{3B24EC82-3308-A94C-A116-8803AC973512}">
          <p14:sldIdLst>
            <p14:sldId id="853"/>
            <p14:sldId id="854"/>
            <p14:sldId id="678"/>
            <p14:sldId id="855"/>
          </p14:sldIdLst>
        </p14:section>
        <p14:section name="Types Génériques" id="{4CA5D339-F766-A64D-A515-9B3EC608669C}">
          <p14:sldIdLst>
            <p14:sldId id="702"/>
            <p14:sldId id="701"/>
            <p14:sldId id="708"/>
            <p14:sldId id="686"/>
            <p14:sldId id="743"/>
            <p14:sldId id="725"/>
            <p14:sldId id="748"/>
            <p14:sldId id="747"/>
            <p14:sldId id="726"/>
            <p14:sldId id="703"/>
            <p14:sldId id="744"/>
            <p14:sldId id="687"/>
            <p14:sldId id="709"/>
            <p14:sldId id="745"/>
            <p14:sldId id="704"/>
            <p14:sldId id="710"/>
            <p14:sldId id="692"/>
            <p14:sldId id="746"/>
            <p14:sldId id="711"/>
            <p14:sldId id="712"/>
            <p14:sldId id="713"/>
            <p14:sldId id="727"/>
            <p14:sldId id="714"/>
            <p14:sldId id="749"/>
            <p14:sldId id="705"/>
            <p14:sldId id="720"/>
            <p14:sldId id="750"/>
            <p14:sldId id="728"/>
            <p14:sldId id="751"/>
            <p14:sldId id="729"/>
            <p14:sldId id="730"/>
            <p14:sldId id="752"/>
            <p14:sldId id="696"/>
            <p14:sldId id="697"/>
            <p14:sldId id="734"/>
            <p14:sldId id="735"/>
            <p14:sldId id="736"/>
            <p14:sldId id="737"/>
            <p14:sldId id="738"/>
            <p14:sldId id="739"/>
            <p14:sldId id="731"/>
            <p14:sldId id="732"/>
            <p14:sldId id="684"/>
            <p14:sldId id="741"/>
            <p14:sldId id="706"/>
            <p14:sldId id="707"/>
            <p14:sldId id="742"/>
            <p14:sldId id="753"/>
          </p14:sldIdLst>
        </p14:section>
        <p14:section name="Expression Lambda" id="{87E1E921-13FB-534A-94FD-0A3A0140A53E}">
          <p14:sldIdLst>
            <p14:sldId id="785"/>
            <p14:sldId id="786"/>
            <p14:sldId id="787"/>
            <p14:sldId id="788"/>
            <p14:sldId id="789"/>
            <p14:sldId id="790"/>
            <p14:sldId id="791"/>
            <p14:sldId id="792"/>
            <p14:sldId id="793"/>
            <p14:sldId id="794"/>
            <p14:sldId id="795"/>
            <p14:sldId id="796"/>
            <p14:sldId id="806"/>
            <p14:sldId id="822"/>
            <p14:sldId id="823"/>
            <p14:sldId id="824"/>
            <p14:sldId id="825"/>
            <p14:sldId id="826"/>
            <p14:sldId id="827"/>
            <p14:sldId id="828"/>
            <p14:sldId id="829"/>
            <p14:sldId id="830"/>
            <p14:sldId id="831"/>
            <p14:sldId id="832"/>
            <p14:sldId id="833"/>
            <p14:sldId id="834"/>
            <p14:sldId id="835"/>
            <p14:sldId id="836"/>
            <p14:sldId id="837"/>
            <p14:sldId id="838"/>
            <p14:sldId id="839"/>
            <p14:sldId id="840"/>
            <p14:sldId id="841"/>
            <p14:sldId id="842"/>
            <p14:sldId id="843"/>
            <p14:sldId id="844"/>
            <p14:sldId id="845"/>
            <p14:sldId id="846"/>
            <p14:sldId id="847"/>
            <p14:sldId id="848"/>
            <p14:sldId id="849"/>
            <p14:sldId id="850"/>
            <p14:sldId id="85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3AF82"/>
    <a:srgbClr val="2B2B2B"/>
    <a:srgbClr val="0102EF"/>
    <a:srgbClr val="2C91AF"/>
    <a:srgbClr val="2968A2"/>
    <a:srgbClr val="2866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467"/>
    <p:restoredTop sz="96327"/>
  </p:normalViewPr>
  <p:slideViewPr>
    <p:cSldViewPr snapToGrid="0">
      <p:cViewPr>
        <p:scale>
          <a:sx n="142" d="100"/>
          <a:sy n="142" d="100"/>
        </p:scale>
        <p:origin x="368"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16/03/2026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090A3CE4-6862-344E-BAF9-BD23A3F04A8C}" type="slidenum">
              <a:rPr lang="fr-FR" smtClean="0"/>
              <a:t>2</a:t>
            </a:fld>
            <a:endParaRPr lang="fr-FR"/>
          </a:p>
        </p:txBody>
      </p:sp>
    </p:spTree>
    <p:extLst>
      <p:ext uri="{BB962C8B-B14F-4D97-AF65-F5344CB8AC3E}">
        <p14:creationId xmlns:p14="http://schemas.microsoft.com/office/powerpoint/2010/main" val="40659197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6F35AA9-C5C6-934C-A51C-E9609006C10B}" type="slidenum">
              <a:rPr lang="fr-FR" smtClean="0"/>
              <a:t>7</a:t>
            </a:fld>
            <a:endParaRPr lang="fr-FR"/>
          </a:p>
        </p:txBody>
      </p:sp>
    </p:spTree>
    <p:extLst>
      <p:ext uri="{BB962C8B-B14F-4D97-AF65-F5344CB8AC3E}">
        <p14:creationId xmlns:p14="http://schemas.microsoft.com/office/powerpoint/2010/main" val="29490645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6F35AA9-C5C6-934C-A51C-E9609006C10B}" type="slidenum">
              <a:rPr lang="fr-FR" smtClean="0"/>
              <a:t>20</a:t>
            </a:fld>
            <a:endParaRPr lang="fr-FR"/>
          </a:p>
        </p:txBody>
      </p:sp>
    </p:spTree>
    <p:extLst>
      <p:ext uri="{BB962C8B-B14F-4D97-AF65-F5344CB8AC3E}">
        <p14:creationId xmlns:p14="http://schemas.microsoft.com/office/powerpoint/2010/main" val="2401915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dirty="0"/>
          </a:p>
        </p:txBody>
      </p:sp>
      <p:sp>
        <p:nvSpPr>
          <p:cNvPr id="4" name="Espace réservé du numéro de diapositive 3"/>
          <p:cNvSpPr>
            <a:spLocks noGrp="1"/>
          </p:cNvSpPr>
          <p:nvPr>
            <p:ph type="sldNum" sz="quarter" idx="5"/>
          </p:nvPr>
        </p:nvSpPr>
        <p:spPr/>
        <p:txBody>
          <a:bodyPr/>
          <a:lstStyle/>
          <a:p>
            <a:fld id="{090A3CE4-6862-344E-BAF9-BD23A3F04A8C}" type="slidenum">
              <a:rPr lang="fr-FR" smtClean="0"/>
              <a:t>44</a:t>
            </a:fld>
            <a:endParaRPr lang="fr-FR"/>
          </a:p>
        </p:txBody>
      </p:sp>
    </p:spTree>
    <p:extLst>
      <p:ext uri="{BB962C8B-B14F-4D97-AF65-F5344CB8AC3E}">
        <p14:creationId xmlns:p14="http://schemas.microsoft.com/office/powerpoint/2010/main" val="32069139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6F35AA9-C5C6-934C-A51C-E9609006C10B}" type="slidenum">
              <a:rPr lang="fr-FR" smtClean="0"/>
              <a:t>81</a:t>
            </a:fld>
            <a:endParaRPr lang="fr-FR"/>
          </a:p>
        </p:txBody>
      </p:sp>
    </p:spTree>
    <p:extLst>
      <p:ext uri="{BB962C8B-B14F-4D97-AF65-F5344CB8AC3E}">
        <p14:creationId xmlns:p14="http://schemas.microsoft.com/office/powerpoint/2010/main" val="39433225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Disposition personnalisée">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nl-BE" dirty="0"/>
              <a:t>Cliquez et modifiez le titre</a:t>
            </a:r>
            <a:endParaRPr lang="fr-FR" dirty="0"/>
          </a:p>
        </p:txBody>
      </p:sp>
      <p:pic>
        <p:nvPicPr>
          <p:cNvPr id="4" name="Image 3"/>
          <p:cNvPicPr>
            <a:picLocks noChangeAspect="1"/>
          </p:cNvPicPr>
          <p:nvPr userDrawn="1"/>
        </p:nvPicPr>
        <p:blipFill>
          <a:blip r:embed="rId2"/>
          <a:stretch>
            <a:fillRect/>
          </a:stretch>
        </p:blipFill>
        <p:spPr>
          <a:xfrm>
            <a:off x="8081953" y="152719"/>
            <a:ext cx="3517900" cy="1755752"/>
          </a:xfrm>
          <a:prstGeom prst="rect">
            <a:avLst/>
          </a:prstGeom>
        </p:spPr>
      </p:pic>
      <p:sp>
        <p:nvSpPr>
          <p:cNvPr id="5" name="Espace réservé du contenu 2"/>
          <p:cNvSpPr>
            <a:spLocks noGrp="1"/>
          </p:cNvSpPr>
          <p:nvPr>
            <p:ph idx="1"/>
          </p:nvPr>
        </p:nvSpPr>
        <p:spPr>
          <a:xfrm>
            <a:off x="605887" y="1752602"/>
            <a:ext cx="10160000" cy="4373563"/>
          </a:xfrm>
        </p:spPr>
        <p:txBody>
          <a:bodyPr/>
          <a:lstStyle>
            <a:lvl1pPr marL="457200" indent="-457200">
              <a:buFont typeface="+mj-lt"/>
              <a:buAutoNum type="arabicPeriod"/>
              <a:defRPr/>
            </a:lvl1pPr>
          </a:lstStyle>
          <a:p>
            <a:r>
              <a:rPr lang="fr-FR" dirty="0"/>
              <a:t>Accroche:</a:t>
            </a:r>
          </a:p>
          <a:p>
            <a:pPr marL="457200" indent="-457200">
              <a:buFont typeface="+mj-lt"/>
              <a:buAutoNum type="arabicPeriod"/>
            </a:pPr>
            <a:r>
              <a:rPr lang="fr-FR" dirty="0"/>
              <a:t>point 1</a:t>
            </a:r>
          </a:p>
          <a:p>
            <a:pPr marL="457200" indent="-457200">
              <a:buFont typeface="+mj-lt"/>
              <a:buAutoNum type="arabicPeriod"/>
            </a:pPr>
            <a:r>
              <a:rPr lang="fr-FR" dirty="0"/>
              <a:t>point 2</a:t>
            </a:r>
          </a:p>
        </p:txBody>
      </p:sp>
      <p:sp>
        <p:nvSpPr>
          <p:cNvPr id="6" name="Slide Number Placeholder 5"/>
          <p:cNvSpPr txBox="1">
            <a:spLocks/>
          </p:cNvSpPr>
          <p:nvPr userDrawn="1"/>
        </p:nvSpPr>
        <p:spPr>
          <a:xfrm rot="16200000">
            <a:off x="11185410" y="5824645"/>
            <a:ext cx="1315721" cy="486833"/>
          </a:xfrm>
          <a:prstGeom prst="rect">
            <a:avLst/>
          </a:prstGeom>
        </p:spPr>
        <p:txBody>
          <a:bodyPr vert="horz" lIns="91440" tIns="45720" rIns="91440" bIns="45720" rtlCol="0" anchor="ctr"/>
          <a:lstStyle>
            <a:defPPr>
              <a:defRPr lang="fr-FR"/>
            </a:defPPr>
            <a:lvl1pPr marL="0" algn="l" defTabSz="457200" rtl="0" eaLnBrk="1" latinLnBrk="0" hangingPunct="1">
              <a:defRPr sz="2400" b="1"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19CBC1A-C8E6-436B-AD6F-7C57258D788E}" type="slidenum">
              <a:rPr lang="nl-NL" sz="2400" smtClean="0"/>
              <a:pPr/>
              <a:t>‹N°›</a:t>
            </a:fld>
            <a:endParaRPr lang="nl-NL" sz="2400" dirty="0"/>
          </a:p>
        </p:txBody>
      </p:sp>
    </p:spTree>
    <p:extLst>
      <p:ext uri="{BB962C8B-B14F-4D97-AF65-F5344CB8AC3E}">
        <p14:creationId xmlns:p14="http://schemas.microsoft.com/office/powerpoint/2010/main" val="10105019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a:t>Cliquez et modifiez le titre</a:t>
            </a:r>
            <a:endParaRPr lang="en-US"/>
          </a:p>
        </p:txBody>
      </p:sp>
      <p:sp>
        <p:nvSpPr>
          <p:cNvPr id="3" name="Content Placeholder 2"/>
          <p:cNvSpPr>
            <a:spLocks noGrp="1"/>
          </p:cNvSpPr>
          <p:nvPr>
            <p:ph idx="1"/>
          </p:nvPr>
        </p:nvSpPr>
        <p:spPr>
          <a:xfrm>
            <a:off x="609600" y="1752601"/>
            <a:ext cx="4883253" cy="4373563"/>
          </a:xfrm>
        </p:spPr>
        <p:txBody>
          <a:bodyPr/>
          <a:lstStyle>
            <a:lvl1pPr>
              <a:defRPr b="1"/>
            </a:lvl1pPr>
            <a:lvl2pPr>
              <a:defRPr b="1"/>
            </a:lvl2pPr>
            <a:lvl3pPr>
              <a:defRPr b="1"/>
            </a:lvl3pPr>
            <a:lvl4pPr>
              <a:defRPr b="1"/>
            </a:lvl4pPr>
            <a:lvl5pPr>
              <a:defRPr b="1"/>
            </a:lvl5pPr>
          </a:lstStyle>
          <a:p>
            <a:pPr lvl="0"/>
            <a:r>
              <a:rPr lang="nl-BE" dirty="0"/>
              <a:t>Cliquez pour modifier les styles du texte du masque</a:t>
            </a:r>
          </a:p>
          <a:p>
            <a:pPr lvl="1"/>
            <a:r>
              <a:rPr lang="nl-BE" dirty="0"/>
              <a:t>Deuxième niveau</a:t>
            </a:r>
          </a:p>
          <a:p>
            <a:pPr lvl="2"/>
            <a:r>
              <a:rPr lang="nl-BE" dirty="0"/>
              <a:t>Troisième niveau</a:t>
            </a:r>
          </a:p>
          <a:p>
            <a:pPr lvl="3"/>
            <a:r>
              <a:rPr lang="nl-BE" dirty="0"/>
              <a:t>Quatrième niveau</a:t>
            </a:r>
          </a:p>
          <a:p>
            <a:pPr lvl="4"/>
            <a:r>
              <a:rPr lang="nl-BE" dirty="0"/>
              <a:t>Cinquième niveau</a:t>
            </a:r>
            <a:endParaRPr lang="en-US" dirty="0"/>
          </a:p>
        </p:txBody>
      </p:sp>
      <p:sp>
        <p:nvSpPr>
          <p:cNvPr id="6" name="Slide Number Placeholder 5"/>
          <p:cNvSpPr>
            <a:spLocks noGrp="1"/>
          </p:cNvSpPr>
          <p:nvPr>
            <p:ph type="sldNum" sz="quarter" idx="12"/>
          </p:nvPr>
        </p:nvSpPr>
        <p:spPr/>
        <p:txBody>
          <a:bodyPr/>
          <a:lstStyle/>
          <a:p>
            <a:fld id="{B2005DC0-9EAD-DA46-BDA8-BD693362A350}" type="slidenum">
              <a:rPr lang="fr-FR" smtClean="0"/>
              <a:t>‹N°›</a:t>
            </a:fld>
            <a:endParaRPr lang="fr-FR"/>
          </a:p>
        </p:txBody>
      </p:sp>
      <p:sp>
        <p:nvSpPr>
          <p:cNvPr id="5" name="Espace réservé du contenu 4"/>
          <p:cNvSpPr>
            <a:spLocks noGrp="1"/>
          </p:cNvSpPr>
          <p:nvPr>
            <p:ph sz="quarter" idx="13"/>
          </p:nvPr>
        </p:nvSpPr>
        <p:spPr>
          <a:xfrm>
            <a:off x="5712885" y="1752601"/>
            <a:ext cx="5397500" cy="4373563"/>
          </a:xfrm>
        </p:spPr>
        <p:txBody>
          <a:bodyPr/>
          <a:lstStyle/>
          <a:p>
            <a:pPr lvl="0"/>
            <a:r>
              <a:rPr lang="nl-BE"/>
              <a:t>Cliquez pour modifier les styles du texte du masque</a:t>
            </a:r>
          </a:p>
          <a:p>
            <a:pPr lvl="1"/>
            <a:r>
              <a:rPr lang="nl-BE"/>
              <a:t>Deuxième niveau</a:t>
            </a:r>
          </a:p>
          <a:p>
            <a:pPr lvl="2"/>
            <a:r>
              <a:rPr lang="nl-BE"/>
              <a:t>Troisième niveau</a:t>
            </a:r>
          </a:p>
          <a:p>
            <a:pPr lvl="3"/>
            <a:r>
              <a:rPr lang="nl-BE"/>
              <a:t>Quatrième niveau</a:t>
            </a:r>
          </a:p>
          <a:p>
            <a:pPr lvl="4"/>
            <a:r>
              <a:rPr lang="nl-BE"/>
              <a:t>Cinquième niveau</a:t>
            </a:r>
            <a:endParaRPr lang="fr-FR"/>
          </a:p>
        </p:txBody>
      </p:sp>
    </p:spTree>
    <p:extLst>
      <p:ext uri="{BB962C8B-B14F-4D97-AF65-F5344CB8AC3E}">
        <p14:creationId xmlns:p14="http://schemas.microsoft.com/office/powerpoint/2010/main" val="1630647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2025-2026</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7.tif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openclassrooms.com/fr/courses/26832-apprenez-a-programmer-en-java/22404-apprehendez-la-genericite-en-java" TargetMode="External"/><Relationship Id="rId2" Type="http://schemas.openxmlformats.org/officeDocument/2006/relationships/hyperlink" Target="http://fr.wikibooks.org/wiki/Programmation_Java/Types_g%C3%A9n%C3%A9riques" TargetMode="Externa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microsoft.com/office/2007/relationships/hdphoto" Target="../media/hdphoto3.wdp"/><Relationship Id="rId4" Type="http://schemas.openxmlformats.org/officeDocument/2006/relationships/image" Target="../media/image14.png"/></Relationships>
</file>

<file path=ppt/slides/_rels/slide82.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8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docs.oracle.com/javase/8/docs/api/java/util/function/Consumer.html" TargetMode="External"/><Relationship Id="rId1" Type="http://schemas.openxmlformats.org/officeDocument/2006/relationships/slideLayout" Target="../slideLayouts/slideLayout2.xml"/><Relationship Id="rId4" Type="http://schemas.microsoft.com/office/2007/relationships/hdphoto" Target="../media/hdphoto5.wdp"/></Relationships>
</file>

<file path=ppt/slides/_rels/slide84.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8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86.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hyperlink" Target="https://toungafranck.com/tutoriels/les-nouveautes-java-8/lambda-expressions/" TargetMode="External"/><Relationship Id="rId2" Type="http://schemas.openxmlformats.org/officeDocument/2006/relationships/hyperlink" Target="https://docs.oracle.com/javase/tutorial/java/javaOO/lambdaexpressions.html" TargetMode="Externa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hyperlink" Target="https://www.jmdoudoux.fr/java/dej/chap-lambdas.htm" TargetMode="External"/></Relationships>
</file>

<file path=ppt/slides/_rels/slide9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p:txBody>
          <a:bodyPr/>
          <a:lstStyle/>
          <a:p>
            <a:r>
              <a:rPr lang="fr-FR" dirty="0"/>
              <a:t>JAVA 2</a:t>
            </a:r>
          </a:p>
        </p:txBody>
      </p:sp>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POO – Module 2</a:t>
            </a:r>
          </a:p>
          <a:p>
            <a:r>
              <a:rPr lang="fr-FR" dirty="0"/>
              <a:t>Semaine 8 – Types génériques et Lambda</a:t>
            </a:r>
          </a:p>
        </p:txBody>
      </p:sp>
    </p:spTree>
    <p:extLst>
      <p:ext uri="{BB962C8B-B14F-4D97-AF65-F5344CB8AC3E}">
        <p14:creationId xmlns:p14="http://schemas.microsoft.com/office/powerpoint/2010/main" val="458771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BA38E6-91D6-0E28-4148-3A6223E416F9}"/>
              </a:ext>
            </a:extLst>
          </p:cNvPr>
          <p:cNvSpPr>
            <a:spLocks noGrp="1"/>
          </p:cNvSpPr>
          <p:nvPr>
            <p:ph type="title"/>
          </p:nvPr>
        </p:nvSpPr>
        <p:spPr/>
        <p:txBody>
          <a:bodyPr/>
          <a:lstStyle/>
          <a:p>
            <a:r>
              <a:rPr lang="fr-FR" dirty="0"/>
              <a:t>Vu au dernier cours…</a:t>
            </a:r>
          </a:p>
        </p:txBody>
      </p:sp>
      <p:sp>
        <p:nvSpPr>
          <p:cNvPr id="17" name="Espace réservé du contenu 2">
            <a:extLst>
              <a:ext uri="{FF2B5EF4-FFF2-40B4-BE49-F238E27FC236}">
                <a16:creationId xmlns:a16="http://schemas.microsoft.com/office/drawing/2014/main" id="{4B38FA8B-146F-A83A-72AA-52BE2670D8CB}"/>
              </a:ext>
            </a:extLst>
          </p:cNvPr>
          <p:cNvSpPr>
            <a:spLocks noGrp="1"/>
          </p:cNvSpPr>
          <p:nvPr>
            <p:ph idx="1"/>
          </p:nvPr>
        </p:nvSpPr>
        <p:spPr>
          <a:xfrm>
            <a:off x="838200" y="1825625"/>
            <a:ext cx="10515600" cy="4351338"/>
          </a:xfrm>
        </p:spPr>
        <p:txBody>
          <a:bodyPr>
            <a:normAutofit/>
          </a:bodyPr>
          <a:lstStyle/>
          <a:p>
            <a:r>
              <a:rPr lang="fr-FR" dirty="0"/>
              <a:t>Les </a:t>
            </a:r>
            <a:r>
              <a:rPr lang="fr-FR" dirty="0">
                <a:solidFill>
                  <a:schemeClr val="accent4"/>
                </a:solidFill>
              </a:rPr>
              <a:t>Tests Unitaires</a:t>
            </a:r>
            <a:r>
              <a:rPr lang="fr-FR" dirty="0"/>
              <a:t> (</a:t>
            </a:r>
            <a:r>
              <a:rPr lang="fr-FR" dirty="0" err="1"/>
              <a:t>Junit</a:t>
            </a:r>
            <a:r>
              <a:rPr lang="fr-FR" dirty="0"/>
              <a:t>)</a:t>
            </a:r>
          </a:p>
          <a:p>
            <a:pPr lvl="1"/>
            <a:r>
              <a:rPr lang="fr-FR" dirty="0"/>
              <a:t>Comment activer </a:t>
            </a:r>
            <a:r>
              <a:rPr lang="fr-FR" dirty="0" err="1"/>
              <a:t>Junit</a:t>
            </a:r>
            <a:endParaRPr lang="fr-FR" dirty="0"/>
          </a:p>
          <a:p>
            <a:pPr lvl="1"/>
            <a:r>
              <a:rPr lang="fr-FR" dirty="0"/>
              <a:t>Comment créer un test unitaire</a:t>
            </a:r>
          </a:p>
          <a:p>
            <a:pPr lvl="1"/>
            <a:r>
              <a:rPr lang="fr-FR" dirty="0"/>
              <a:t>Les assertions – </a:t>
            </a:r>
            <a:r>
              <a:rPr lang="fr-FR" sz="2000" dirty="0" err="1">
                <a:solidFill>
                  <a:schemeClr val="accent4"/>
                </a:solidFill>
                <a:latin typeface="Consolas" panose="020B0609020204030204" pitchFamily="49" charset="0"/>
                <a:cs typeface="Consolas" panose="020B0609020204030204" pitchFamily="49" charset="0"/>
              </a:rPr>
              <a:t>assertTrue</a:t>
            </a:r>
            <a:r>
              <a:rPr lang="fr-FR" dirty="0"/>
              <a:t>, </a:t>
            </a:r>
            <a:r>
              <a:rPr lang="fr-FR" sz="2000" dirty="0" err="1">
                <a:solidFill>
                  <a:schemeClr val="accent4"/>
                </a:solidFill>
                <a:latin typeface="Consolas" panose="020B0609020204030204" pitchFamily="49" charset="0"/>
                <a:cs typeface="Consolas" panose="020B0609020204030204" pitchFamily="49" charset="0"/>
              </a:rPr>
              <a:t>assertEquals</a:t>
            </a:r>
            <a:r>
              <a:rPr lang="fr-FR" dirty="0"/>
              <a:t>, </a:t>
            </a:r>
            <a:r>
              <a:rPr lang="fr-FR" sz="2000" dirty="0" err="1">
                <a:solidFill>
                  <a:schemeClr val="accent4"/>
                </a:solidFill>
                <a:latin typeface="Consolas" panose="020B0609020204030204" pitchFamily="49" charset="0"/>
                <a:cs typeface="Consolas" panose="020B0609020204030204" pitchFamily="49" charset="0"/>
              </a:rPr>
              <a:t>assertThrows</a:t>
            </a:r>
            <a:r>
              <a:rPr lang="fr-FR" dirty="0"/>
              <a:t> …</a:t>
            </a:r>
          </a:p>
          <a:p>
            <a:pPr lvl="1"/>
            <a:r>
              <a:rPr lang="fr-FR" dirty="0"/>
              <a:t>Les annotations </a:t>
            </a:r>
          </a:p>
          <a:p>
            <a:pPr lvl="1"/>
            <a:r>
              <a:rPr lang="fr-FR" dirty="0"/>
              <a:t>Bonne pratique: TDD – Test Driven </a:t>
            </a:r>
            <a:r>
              <a:rPr lang="fr-FR" dirty="0" err="1"/>
              <a:t>Development</a:t>
            </a:r>
            <a:endParaRPr lang="fr-FR" dirty="0"/>
          </a:p>
          <a:p>
            <a:pPr lvl="1"/>
            <a:endParaRPr lang="fr-FR" dirty="0">
              <a:latin typeface="+mj-lt"/>
              <a:cs typeface="Consolas" panose="020B0609020204030204" pitchFamily="49" charset="0"/>
            </a:endParaRPr>
          </a:p>
        </p:txBody>
      </p:sp>
      <p:sp>
        <p:nvSpPr>
          <p:cNvPr id="4" name="Espace réservé du numéro de diapositive 3">
            <a:extLst>
              <a:ext uri="{FF2B5EF4-FFF2-40B4-BE49-F238E27FC236}">
                <a16:creationId xmlns:a16="http://schemas.microsoft.com/office/drawing/2014/main" id="{3F467824-5A05-7D4B-8C3A-9FF661A2DA09}"/>
              </a:ext>
            </a:extLst>
          </p:cNvPr>
          <p:cNvSpPr>
            <a:spLocks noGrp="1"/>
          </p:cNvSpPr>
          <p:nvPr>
            <p:ph type="sldNum" sz="quarter" idx="4"/>
          </p:nvPr>
        </p:nvSpPr>
        <p:spPr/>
        <p:txBody>
          <a:bodyPr/>
          <a:lstStyle/>
          <a:p>
            <a:fld id="{33C783E2-4793-4F48-A271-51A73CC37D74}" type="slidenum">
              <a:rPr lang="fr-FR" smtClean="0"/>
              <a:t>2</a:t>
            </a:fld>
            <a:endParaRPr lang="fr-FR"/>
          </a:p>
        </p:txBody>
      </p:sp>
    </p:spTree>
    <p:extLst>
      <p:ext uri="{BB962C8B-B14F-4D97-AF65-F5344CB8AC3E}">
        <p14:creationId xmlns:p14="http://schemas.microsoft.com/office/powerpoint/2010/main" val="2116151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fade">
                                      <p:cBhvr>
                                        <p:cTn id="7" dur="500"/>
                                        <p:tgtEl>
                                          <p:spTgt spid="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B8743-A1A3-F231-D0E5-83E3B5F40A3F}"/>
            </a:ext>
          </a:extLst>
        </p:cNvPr>
        <p:cNvGrpSpPr/>
        <p:nvPr/>
      </p:nvGrpSpPr>
      <p:grpSpPr>
        <a:xfrm>
          <a:off x="0" y="0"/>
          <a:ext cx="0" cy="0"/>
          <a:chOff x="0" y="0"/>
          <a:chExt cx="0" cy="0"/>
        </a:xfrm>
      </p:grpSpPr>
      <p:pic>
        <p:nvPicPr>
          <p:cNvPr id="1026" name="Picture 2" descr="exercices en retard format 16:9">
            <a:extLst>
              <a:ext uri="{FF2B5EF4-FFF2-40B4-BE49-F238E27FC236}">
                <a16:creationId xmlns:a16="http://schemas.microsoft.com/office/drawing/2014/main" id="{B63EA7A3-C6B0-E962-2E5D-A4999A4BB54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1875" b="21875"/>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3CB2949B-7E66-D937-F71E-1BDB87DBA0C2}"/>
              </a:ext>
            </a:extLst>
          </p:cNvPr>
          <p:cNvSpPr txBox="1"/>
          <p:nvPr/>
        </p:nvSpPr>
        <p:spPr>
          <a:xfrm>
            <a:off x="838200" y="947821"/>
            <a:ext cx="10515600" cy="1015663"/>
          </a:xfrm>
          <a:prstGeom prst="rect">
            <a:avLst/>
          </a:prstGeom>
          <a:solidFill>
            <a:srgbClr val="3C696F">
              <a:alpha val="74902"/>
            </a:srgbClr>
          </a:solidFill>
          <a:effectLst>
            <a:outerShdw blurRad="50800" dist="38100" dir="2700000" algn="tl" rotWithShape="0">
              <a:prstClr val="black">
                <a:alpha val="40000"/>
              </a:prstClr>
            </a:outerShdw>
          </a:effectLst>
        </p:spPr>
        <p:txBody>
          <a:bodyPr wrap="square" rtlCol="0">
            <a:spAutoFit/>
          </a:bodyPr>
          <a:lstStyle/>
          <a:p>
            <a:r>
              <a:rPr lang="fr-FR" sz="6000" b="1" dirty="0"/>
              <a:t>Exercice…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3" name="ZoneTexte 2">
            <a:extLst>
              <a:ext uri="{FF2B5EF4-FFF2-40B4-BE49-F238E27FC236}">
                <a16:creationId xmlns:a16="http://schemas.microsoft.com/office/drawing/2014/main" id="{AF92B336-117C-217E-7A98-B98C382D97FF}"/>
              </a:ext>
            </a:extLst>
          </p:cNvPr>
          <p:cNvSpPr txBox="1"/>
          <p:nvPr/>
        </p:nvSpPr>
        <p:spPr>
          <a:xfrm>
            <a:off x="838200" y="2139312"/>
            <a:ext cx="10515600" cy="461665"/>
          </a:xfrm>
          <a:prstGeom prst="rect">
            <a:avLst/>
          </a:prstGeom>
          <a:solidFill>
            <a:srgbClr val="3C696F">
              <a:alpha val="74902"/>
            </a:srgbClr>
          </a:solidFill>
          <a:effectLst>
            <a:outerShdw blurRad="50800" dist="38100" dir="2700000" algn="tl" rotWithShape="0">
              <a:prstClr val="black">
                <a:alpha val="40000"/>
              </a:prstClr>
            </a:outerShdw>
          </a:effectLst>
        </p:spPr>
        <p:txBody>
          <a:bodyPr wrap="square" rtlCol="0">
            <a:spAutoFit/>
          </a:bodyPr>
          <a:lstStyle/>
          <a:p>
            <a:r>
              <a:rPr lang="fr-FR" sz="2400" dirty="0"/>
              <a:t>Les exercices du cours précédent…</a:t>
            </a:r>
          </a:p>
        </p:txBody>
      </p:sp>
    </p:spTree>
    <p:extLst>
      <p:ext uri="{BB962C8B-B14F-4D97-AF65-F5344CB8AC3E}">
        <p14:creationId xmlns:p14="http://schemas.microsoft.com/office/powerpoint/2010/main" val="1836031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B8743-A1A3-F231-D0E5-83E3B5F40A3F}"/>
            </a:ext>
          </a:extLst>
        </p:cNvPr>
        <p:cNvGrpSpPr/>
        <p:nvPr/>
      </p:nvGrpSpPr>
      <p:grpSpPr>
        <a:xfrm>
          <a:off x="0" y="0"/>
          <a:ext cx="0" cy="0"/>
          <a:chOff x="0" y="0"/>
          <a:chExt cx="0" cy="0"/>
        </a:xfrm>
      </p:grpSpPr>
      <p:pic>
        <p:nvPicPr>
          <p:cNvPr id="1026" name="Picture 2" descr="exercices en retard format 16:9">
            <a:extLst>
              <a:ext uri="{FF2B5EF4-FFF2-40B4-BE49-F238E27FC236}">
                <a16:creationId xmlns:a16="http://schemas.microsoft.com/office/drawing/2014/main" id="{B63EA7A3-C6B0-E962-2E5D-A4999A4BB54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1875" b="21875"/>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3CB2949B-7E66-D937-F71E-1BDB87DBA0C2}"/>
              </a:ext>
            </a:extLst>
          </p:cNvPr>
          <p:cNvSpPr txBox="1"/>
          <p:nvPr/>
        </p:nvSpPr>
        <p:spPr>
          <a:xfrm>
            <a:off x="838200" y="947821"/>
            <a:ext cx="10515600" cy="1015663"/>
          </a:xfrm>
          <a:prstGeom prst="rect">
            <a:avLst/>
          </a:prstGeom>
          <a:solidFill>
            <a:srgbClr val="3C696F">
              <a:alpha val="74902"/>
            </a:srgbClr>
          </a:solidFill>
          <a:effectLst>
            <a:outerShdw blurRad="50800" dist="38100" dir="2700000" algn="tl" rotWithShape="0">
              <a:prstClr val="black">
                <a:alpha val="40000"/>
              </a:prstClr>
            </a:outerShdw>
          </a:effectLst>
        </p:spPr>
        <p:txBody>
          <a:bodyPr wrap="square" rtlCol="0">
            <a:spAutoFit/>
          </a:bodyPr>
          <a:lstStyle/>
          <a:p>
            <a:r>
              <a:rPr lang="fr-FR" sz="6000" b="1" dirty="0"/>
              <a:t>Exercice…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3" name="ZoneTexte 2">
            <a:extLst>
              <a:ext uri="{FF2B5EF4-FFF2-40B4-BE49-F238E27FC236}">
                <a16:creationId xmlns:a16="http://schemas.microsoft.com/office/drawing/2014/main" id="{AF92B336-117C-217E-7A98-B98C382D97FF}"/>
              </a:ext>
            </a:extLst>
          </p:cNvPr>
          <p:cNvSpPr txBox="1"/>
          <p:nvPr/>
        </p:nvSpPr>
        <p:spPr>
          <a:xfrm>
            <a:off x="838200" y="2139312"/>
            <a:ext cx="10515600" cy="461665"/>
          </a:xfrm>
          <a:prstGeom prst="rect">
            <a:avLst/>
          </a:prstGeom>
          <a:solidFill>
            <a:srgbClr val="3C696F">
              <a:alpha val="74902"/>
            </a:srgbClr>
          </a:solidFill>
          <a:effectLst>
            <a:outerShdw blurRad="50800" dist="38100" dir="2700000" algn="tl" rotWithShape="0">
              <a:prstClr val="black">
                <a:alpha val="40000"/>
              </a:prstClr>
            </a:outerShdw>
          </a:effectLst>
        </p:spPr>
        <p:txBody>
          <a:bodyPr wrap="square" rtlCol="0">
            <a:spAutoFit/>
          </a:bodyPr>
          <a:lstStyle/>
          <a:p>
            <a:r>
              <a:rPr lang="fr-FR" sz="2400" dirty="0"/>
              <a:t>Les exercices du cours précédent…</a:t>
            </a:r>
          </a:p>
        </p:txBody>
      </p:sp>
    </p:spTree>
    <p:extLst>
      <p:ext uri="{BB962C8B-B14F-4D97-AF65-F5344CB8AC3E}">
        <p14:creationId xmlns:p14="http://schemas.microsoft.com/office/powerpoint/2010/main" val="1798008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B609FE77-8CA1-3254-D477-8B447D80845A}"/>
              </a:ext>
            </a:extLst>
          </p:cNvPr>
          <p:cNvSpPr>
            <a:spLocks noGrp="1"/>
          </p:cNvSpPr>
          <p:nvPr>
            <p:ph type="title"/>
          </p:nvPr>
        </p:nvSpPr>
        <p:spPr/>
        <p:txBody>
          <a:bodyPr/>
          <a:lstStyle/>
          <a:p>
            <a:r>
              <a:rPr lang="fr-FR" dirty="0"/>
              <a:t>Exercice 43: écrivez les autres tests…</a:t>
            </a:r>
          </a:p>
        </p:txBody>
      </p:sp>
      <p:sp>
        <p:nvSpPr>
          <p:cNvPr id="5" name="Espace réservé du contenu 4">
            <a:extLst>
              <a:ext uri="{FF2B5EF4-FFF2-40B4-BE49-F238E27FC236}">
                <a16:creationId xmlns:a16="http://schemas.microsoft.com/office/drawing/2014/main" id="{B1AE2E5B-BC55-548C-EE73-17DD68495425}"/>
              </a:ext>
            </a:extLst>
          </p:cNvPr>
          <p:cNvSpPr>
            <a:spLocks noGrp="1"/>
          </p:cNvSpPr>
          <p:nvPr>
            <p:ph idx="1"/>
          </p:nvPr>
        </p:nvSpPr>
        <p:spPr/>
        <p:txBody>
          <a:bodyPr/>
          <a:lstStyle/>
          <a:p>
            <a:pPr marL="0" indent="0">
              <a:buNone/>
            </a:pPr>
            <a:r>
              <a:rPr lang="fr-FR" dirty="0"/>
              <a:t>Essayez d’écrire les autres tests pour notre classe </a:t>
            </a:r>
            <a:r>
              <a:rPr lang="fr-FR" sz="2600" dirty="0" err="1">
                <a:solidFill>
                  <a:schemeClr val="accent4"/>
                </a:solidFill>
                <a:latin typeface="Consolas" panose="020B0609020204030204" pitchFamily="49" charset="0"/>
                <a:cs typeface="Consolas" panose="020B0609020204030204" pitchFamily="49" charset="0"/>
              </a:rPr>
              <a:t>Calculator</a:t>
            </a:r>
            <a:r>
              <a:rPr lang="fr-FR" dirty="0"/>
              <a:t>, en utilisant l’approche TDD.</a:t>
            </a:r>
          </a:p>
          <a:p>
            <a:pPr marL="0" indent="0">
              <a:buNone/>
            </a:pPr>
            <a:endParaRPr lang="fr-FR" dirty="0"/>
          </a:p>
          <a:p>
            <a:pPr marL="0" indent="0">
              <a:buNone/>
            </a:pPr>
            <a:r>
              <a:rPr lang="fr-FR" dirty="0"/>
              <a:t>Les méthodes </a:t>
            </a:r>
            <a:r>
              <a:rPr lang="fr-FR" sz="2600" dirty="0" err="1">
                <a:solidFill>
                  <a:schemeClr val="accent4"/>
                </a:solidFill>
                <a:latin typeface="Consolas" panose="020B0609020204030204" pitchFamily="49" charset="0"/>
                <a:cs typeface="Consolas" panose="020B0609020204030204" pitchFamily="49" charset="0"/>
              </a:rPr>
              <a:t>substract</a:t>
            </a:r>
            <a:r>
              <a:rPr lang="fr-FR" dirty="0"/>
              <a:t> et </a:t>
            </a:r>
            <a:r>
              <a:rPr lang="fr-FR" sz="2600" dirty="0" err="1">
                <a:solidFill>
                  <a:schemeClr val="accent4"/>
                </a:solidFill>
                <a:latin typeface="Consolas" panose="020B0609020204030204" pitchFamily="49" charset="0"/>
                <a:cs typeface="Consolas" panose="020B0609020204030204" pitchFamily="49" charset="0"/>
              </a:rPr>
              <a:t>multiply</a:t>
            </a:r>
            <a:r>
              <a:rPr lang="fr-FR" dirty="0"/>
              <a:t> ne devraient pas vous causer de souci… </a:t>
            </a:r>
          </a:p>
          <a:p>
            <a:pPr marL="0" indent="0">
              <a:buNone/>
            </a:pPr>
            <a:r>
              <a:rPr lang="fr-FR" dirty="0"/>
              <a:t>Par contre, pour </a:t>
            </a:r>
            <a:r>
              <a:rPr lang="fr-FR" sz="2600" dirty="0" err="1">
                <a:solidFill>
                  <a:schemeClr val="accent4"/>
                </a:solidFill>
                <a:latin typeface="Consolas" panose="020B0609020204030204" pitchFamily="49" charset="0"/>
                <a:cs typeface="Consolas" panose="020B0609020204030204" pitchFamily="49" charset="0"/>
              </a:rPr>
              <a:t>divide</a:t>
            </a:r>
            <a:r>
              <a:rPr lang="fr-FR" dirty="0"/>
              <a:t>, il y a deux cas à prévoir, puisque la division par </a:t>
            </a:r>
            <a:r>
              <a:rPr lang="fr-FR" dirty="0" err="1"/>
              <a:t>zero</a:t>
            </a:r>
            <a:r>
              <a:rPr lang="fr-FR" dirty="0"/>
              <a:t> cause une </a:t>
            </a:r>
            <a:r>
              <a:rPr lang="fr-FR" sz="2600" dirty="0" err="1">
                <a:solidFill>
                  <a:schemeClr val="accent4"/>
                </a:solidFill>
                <a:latin typeface="Consolas" panose="020B0609020204030204" pitchFamily="49" charset="0"/>
                <a:cs typeface="Consolas" panose="020B0609020204030204" pitchFamily="49" charset="0"/>
              </a:rPr>
              <a:t>ArithmeticException</a:t>
            </a:r>
            <a:r>
              <a:rPr lang="fr-FR" dirty="0"/>
              <a:t>…</a:t>
            </a:r>
          </a:p>
          <a:p>
            <a:pPr marL="0" indent="0">
              <a:buNone/>
            </a:pPr>
            <a:endParaRPr lang="fr-FR" sz="2600" dirty="0">
              <a:solidFill>
                <a:schemeClr val="accent4"/>
              </a:solidFill>
              <a:latin typeface="Consolas" panose="020B0609020204030204" pitchFamily="49" charset="0"/>
              <a:cs typeface="Consolas" panose="020B0609020204030204" pitchFamily="49" charset="0"/>
            </a:endParaRPr>
          </a:p>
        </p:txBody>
      </p:sp>
      <p:sp>
        <p:nvSpPr>
          <p:cNvPr id="2" name="Espace réservé du numéro de diapositive 1">
            <a:extLst>
              <a:ext uri="{FF2B5EF4-FFF2-40B4-BE49-F238E27FC236}">
                <a16:creationId xmlns:a16="http://schemas.microsoft.com/office/drawing/2014/main" id="{EA17C640-364E-DEF3-434C-A4CB241AF161}"/>
              </a:ext>
            </a:extLst>
          </p:cNvPr>
          <p:cNvSpPr>
            <a:spLocks noGrp="1"/>
          </p:cNvSpPr>
          <p:nvPr>
            <p:ph type="sldNum" sz="quarter" idx="4"/>
          </p:nvPr>
        </p:nvSpPr>
        <p:spPr/>
        <p:txBody>
          <a:bodyPr/>
          <a:lstStyle/>
          <a:p>
            <a:fld id="{33C783E2-4793-4F48-A271-51A73CC37D74}" type="slidenum">
              <a:rPr lang="fr-FR" smtClean="0"/>
              <a:t>5</a:t>
            </a:fld>
            <a:endParaRPr lang="fr-FR"/>
          </a:p>
        </p:txBody>
      </p:sp>
      <p:pic>
        <p:nvPicPr>
          <p:cNvPr id="3" name="Picture 2" descr="blog-nutrition-outlet">
            <a:extLst>
              <a:ext uri="{FF2B5EF4-FFF2-40B4-BE49-F238E27FC236}">
                <a16:creationId xmlns:a16="http://schemas.microsoft.com/office/drawing/2014/main" id="{1A9C27DA-E747-56F6-3989-3639C21B11DE}"/>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9793621" y="1"/>
            <a:ext cx="1968936" cy="1968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93171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GB" dirty="0" err="1"/>
              <a:t>Exercice</a:t>
            </a:r>
            <a:r>
              <a:rPr lang="en-GB" dirty="0"/>
              <a:t> 44</a:t>
            </a:r>
          </a:p>
        </p:txBody>
      </p:sp>
      <p:sp>
        <p:nvSpPr>
          <p:cNvPr id="3" name="Espace réservé du contenu 2"/>
          <p:cNvSpPr>
            <a:spLocks noGrp="1"/>
          </p:cNvSpPr>
          <p:nvPr>
            <p:ph idx="1"/>
          </p:nvPr>
        </p:nvSpPr>
        <p:spPr/>
        <p:txBody>
          <a:bodyPr>
            <a:normAutofit lnSpcReduction="10000"/>
          </a:bodyPr>
          <a:lstStyle/>
          <a:p>
            <a:pPr marL="0" indent="0">
              <a:buNone/>
            </a:pPr>
            <a:r>
              <a:rPr lang="en-GB" sz="2400" dirty="0" err="1"/>
              <a:t>Ecrivez</a:t>
            </a:r>
            <a:r>
              <a:rPr lang="en-GB" sz="2400" dirty="0"/>
              <a:t> </a:t>
            </a:r>
            <a:r>
              <a:rPr lang="en-GB" sz="2400" dirty="0" err="1"/>
              <a:t>une</a:t>
            </a:r>
            <a:r>
              <a:rPr lang="en-GB" sz="2400" dirty="0"/>
              <a:t> </a:t>
            </a:r>
            <a:r>
              <a:rPr lang="en-GB" sz="2400" dirty="0" err="1"/>
              <a:t>classe</a:t>
            </a:r>
            <a:r>
              <a:rPr lang="en-GB" sz="2400" dirty="0"/>
              <a:t> </a:t>
            </a:r>
            <a:r>
              <a:rPr lang="en-GB" sz="2200" dirty="0" err="1">
                <a:solidFill>
                  <a:schemeClr val="accent4"/>
                </a:solidFill>
                <a:latin typeface="Consolas" charset="0"/>
                <a:ea typeface="Consolas" charset="0"/>
                <a:cs typeface="Consolas" charset="0"/>
              </a:rPr>
              <a:t>Tirelire</a:t>
            </a:r>
            <a:r>
              <a:rPr lang="en-GB" sz="2400" dirty="0"/>
              <a:t> et </a:t>
            </a:r>
            <a:r>
              <a:rPr lang="en-GB" sz="2400" dirty="0" err="1"/>
              <a:t>sa</a:t>
            </a:r>
            <a:r>
              <a:rPr lang="en-GB" sz="2400" dirty="0"/>
              <a:t> </a:t>
            </a:r>
            <a:r>
              <a:rPr lang="en-GB" sz="2400" dirty="0" err="1"/>
              <a:t>classe</a:t>
            </a:r>
            <a:r>
              <a:rPr lang="en-GB" sz="2400" dirty="0"/>
              <a:t> de test. </a:t>
            </a:r>
            <a:br>
              <a:rPr lang="en-GB" sz="2400" dirty="0"/>
            </a:br>
            <a:r>
              <a:rPr lang="en-GB" sz="2400" dirty="0" err="1"/>
              <a:t>Cette</a:t>
            </a:r>
            <a:r>
              <a:rPr lang="en-GB" sz="2400" dirty="0"/>
              <a:t> </a:t>
            </a:r>
            <a:r>
              <a:rPr lang="en-GB" sz="2400" dirty="0" err="1"/>
              <a:t>classe</a:t>
            </a:r>
            <a:r>
              <a:rPr lang="en-GB" sz="2400" dirty="0"/>
              <a:t> a deux </a:t>
            </a:r>
            <a:r>
              <a:rPr lang="en-GB" sz="2400" dirty="0" err="1"/>
              <a:t>méthodes</a:t>
            </a:r>
            <a:r>
              <a:rPr lang="en-GB" sz="2400" dirty="0"/>
              <a:t>, pour </a:t>
            </a:r>
            <a:r>
              <a:rPr lang="en-GB" sz="2400" dirty="0" err="1"/>
              <a:t>effectuer</a:t>
            </a:r>
            <a:r>
              <a:rPr lang="en-GB" sz="2400" dirty="0"/>
              <a:t> un </a:t>
            </a:r>
            <a:r>
              <a:rPr lang="en-GB" sz="2400" dirty="0" err="1"/>
              <a:t>dépôt</a:t>
            </a:r>
            <a:r>
              <a:rPr lang="en-GB" sz="2400" dirty="0"/>
              <a:t> et un </a:t>
            </a:r>
            <a:r>
              <a:rPr lang="en-GB" sz="2400" dirty="0" err="1"/>
              <a:t>retrait</a:t>
            </a:r>
            <a:r>
              <a:rPr lang="en-GB" sz="2400" dirty="0"/>
              <a:t>.</a:t>
            </a:r>
          </a:p>
          <a:p>
            <a:pPr marL="0" indent="0">
              <a:buNone/>
            </a:pPr>
            <a:r>
              <a:rPr lang="en-GB" sz="2400" dirty="0" err="1"/>
              <a:t>Ecrivez</a:t>
            </a:r>
            <a:r>
              <a:rPr lang="en-GB" sz="2400" dirty="0"/>
              <a:t> </a:t>
            </a:r>
          </a:p>
          <a:p>
            <a:r>
              <a:rPr lang="en-GB" sz="2400" dirty="0" err="1"/>
              <a:t>d’abord</a:t>
            </a:r>
            <a:r>
              <a:rPr lang="en-GB" sz="2400" dirty="0"/>
              <a:t> les </a:t>
            </a:r>
            <a:r>
              <a:rPr lang="en-GB" sz="2400" dirty="0" err="1"/>
              <a:t>squelettes</a:t>
            </a:r>
            <a:r>
              <a:rPr lang="en-GB" sz="2400" dirty="0"/>
              <a:t> de </a:t>
            </a:r>
            <a:r>
              <a:rPr lang="en-GB" sz="2400" dirty="0" err="1"/>
              <a:t>vos</a:t>
            </a:r>
            <a:r>
              <a:rPr lang="en-GB" sz="2400" dirty="0"/>
              <a:t> </a:t>
            </a:r>
            <a:r>
              <a:rPr lang="en-GB" sz="2400" dirty="0" err="1"/>
              <a:t>deux</a:t>
            </a:r>
            <a:r>
              <a:rPr lang="en-GB" sz="2400" dirty="0"/>
              <a:t> </a:t>
            </a:r>
            <a:r>
              <a:rPr lang="en-GB" sz="2400" dirty="0" err="1"/>
              <a:t>méthodes</a:t>
            </a:r>
            <a:r>
              <a:rPr lang="en-GB" sz="2400" dirty="0"/>
              <a:t>, </a:t>
            </a:r>
          </a:p>
          <a:p>
            <a:r>
              <a:rPr lang="en-GB" sz="2400" dirty="0" err="1"/>
              <a:t>puis</a:t>
            </a:r>
            <a:r>
              <a:rPr lang="en-GB" sz="2400" dirty="0"/>
              <a:t> </a:t>
            </a:r>
            <a:r>
              <a:rPr lang="en-GB" sz="2400" dirty="0" err="1"/>
              <a:t>chaque</a:t>
            </a:r>
            <a:r>
              <a:rPr lang="en-GB" sz="2400" dirty="0"/>
              <a:t> </a:t>
            </a:r>
            <a:r>
              <a:rPr lang="en-GB" sz="2400" dirty="0" err="1"/>
              <a:t>cas</a:t>
            </a:r>
            <a:r>
              <a:rPr lang="en-GB" sz="2400" dirty="0"/>
              <a:t> de test et la </a:t>
            </a:r>
            <a:r>
              <a:rPr lang="en-GB" sz="2400" dirty="0" err="1"/>
              <a:t>méthode</a:t>
            </a:r>
            <a:r>
              <a:rPr lang="en-GB" sz="2400" dirty="0"/>
              <a:t> </a:t>
            </a:r>
            <a:r>
              <a:rPr lang="en-GB" sz="2400" dirty="0" err="1"/>
              <a:t>correspondante</a:t>
            </a:r>
            <a:endParaRPr lang="en-GB" sz="2400" dirty="0"/>
          </a:p>
          <a:p>
            <a:endParaRPr lang="en-GB" sz="2400" dirty="0"/>
          </a:p>
          <a:p>
            <a:pPr marL="0" indent="0">
              <a:buNone/>
            </a:pPr>
            <a:r>
              <a:rPr lang="en-GB" sz="2400" dirty="0"/>
              <a:t>Les </a:t>
            </a:r>
            <a:r>
              <a:rPr lang="en-GB" sz="2400" dirty="0" err="1"/>
              <a:t>méthodes</a:t>
            </a:r>
            <a:r>
              <a:rPr lang="en-GB" sz="2400" dirty="0"/>
              <a:t> </a:t>
            </a:r>
            <a:r>
              <a:rPr lang="en-GB" sz="2400" dirty="0" err="1"/>
              <a:t>sont</a:t>
            </a:r>
            <a:r>
              <a:rPr lang="en-GB" sz="2400" dirty="0"/>
              <a:t>:</a:t>
            </a:r>
          </a:p>
          <a:p>
            <a:r>
              <a:rPr lang="en-GB" sz="2200" dirty="0">
                <a:solidFill>
                  <a:schemeClr val="accent4"/>
                </a:solidFill>
                <a:latin typeface="Consolas" charset="0"/>
                <a:cs typeface="Consolas" charset="0"/>
              </a:rPr>
              <a:t>depot(double)</a:t>
            </a:r>
            <a:r>
              <a:rPr lang="en-GB" sz="2400" dirty="0"/>
              <a:t> </a:t>
            </a:r>
            <a:r>
              <a:rPr lang="en-GB" sz="2400" dirty="0" err="1"/>
              <a:t>ajoute</a:t>
            </a:r>
            <a:r>
              <a:rPr lang="en-GB" sz="2400" dirty="0"/>
              <a:t> de </a:t>
            </a:r>
            <a:r>
              <a:rPr lang="en-GB" sz="2400" dirty="0" err="1"/>
              <a:t>l’argent</a:t>
            </a:r>
            <a:r>
              <a:rPr lang="en-GB" sz="2400" dirty="0"/>
              <a:t> dans </a:t>
            </a:r>
            <a:r>
              <a:rPr lang="en-GB" sz="2400" dirty="0" err="1"/>
              <a:t>votre</a:t>
            </a:r>
            <a:r>
              <a:rPr lang="en-GB" sz="2400" dirty="0"/>
              <a:t> </a:t>
            </a:r>
            <a:r>
              <a:rPr lang="en-GB" sz="2400" dirty="0" err="1"/>
              <a:t>tirelire</a:t>
            </a:r>
            <a:endParaRPr lang="en-GB" sz="2400" dirty="0"/>
          </a:p>
          <a:p>
            <a:r>
              <a:rPr lang="en-GB" sz="2200" dirty="0" err="1">
                <a:solidFill>
                  <a:schemeClr val="accent4"/>
                </a:solidFill>
                <a:latin typeface="Consolas" charset="0"/>
                <a:cs typeface="Consolas" charset="0"/>
              </a:rPr>
              <a:t>retrait</a:t>
            </a:r>
            <a:r>
              <a:rPr lang="en-GB" sz="2200" dirty="0">
                <a:solidFill>
                  <a:schemeClr val="accent4"/>
                </a:solidFill>
                <a:latin typeface="Consolas" charset="0"/>
                <a:cs typeface="Consolas" charset="0"/>
              </a:rPr>
              <a:t>(double)</a:t>
            </a:r>
            <a:r>
              <a:rPr lang="en-GB" sz="2400" dirty="0"/>
              <a:t> retire de </a:t>
            </a:r>
            <a:r>
              <a:rPr lang="en-GB" sz="2400" dirty="0" err="1"/>
              <a:t>l’argent</a:t>
            </a:r>
            <a:r>
              <a:rPr lang="en-GB" sz="2400" dirty="0"/>
              <a:t> de </a:t>
            </a:r>
            <a:r>
              <a:rPr lang="en-GB" sz="2400" dirty="0" err="1"/>
              <a:t>votre</a:t>
            </a:r>
            <a:r>
              <a:rPr lang="en-GB" sz="2400" dirty="0"/>
              <a:t> </a:t>
            </a:r>
            <a:r>
              <a:rPr lang="en-GB" sz="2400" dirty="0" err="1"/>
              <a:t>tirelire</a:t>
            </a:r>
            <a:r>
              <a:rPr lang="en-GB" sz="2400" dirty="0"/>
              <a:t>, </a:t>
            </a:r>
            <a:r>
              <a:rPr lang="en-GB" sz="2400" dirty="0" err="1"/>
              <a:t>sauf</a:t>
            </a:r>
            <a:r>
              <a:rPr lang="en-GB" sz="2400" dirty="0"/>
              <a:t> </a:t>
            </a:r>
            <a:r>
              <a:rPr lang="en-GB" sz="2400" dirty="0" err="1"/>
              <a:t>si</a:t>
            </a:r>
            <a:r>
              <a:rPr lang="en-GB" sz="2400" dirty="0"/>
              <a:t> le </a:t>
            </a:r>
            <a:r>
              <a:rPr lang="en-GB" sz="2400" dirty="0" err="1"/>
              <a:t>montant</a:t>
            </a:r>
            <a:r>
              <a:rPr lang="en-GB" sz="2400" dirty="0"/>
              <a:t> </a:t>
            </a:r>
            <a:r>
              <a:rPr lang="en-GB" sz="2400" dirty="0" err="1"/>
              <a:t>demandé</a:t>
            </a:r>
            <a:r>
              <a:rPr lang="en-GB" sz="2400" dirty="0"/>
              <a:t> </a:t>
            </a:r>
            <a:r>
              <a:rPr lang="en-GB" sz="2400" dirty="0" err="1"/>
              <a:t>est</a:t>
            </a:r>
            <a:r>
              <a:rPr lang="en-GB" sz="2400" dirty="0"/>
              <a:t> plus </a:t>
            </a:r>
            <a:r>
              <a:rPr lang="en-GB" sz="2400" dirty="0" err="1"/>
              <a:t>élevé</a:t>
            </a:r>
            <a:r>
              <a:rPr lang="en-GB" sz="2400" dirty="0"/>
              <a:t> que le </a:t>
            </a:r>
            <a:r>
              <a:rPr lang="en-GB" sz="2400" dirty="0" err="1"/>
              <a:t>contenu</a:t>
            </a:r>
            <a:r>
              <a:rPr lang="en-GB" sz="2400" dirty="0"/>
              <a:t> de </a:t>
            </a:r>
            <a:r>
              <a:rPr lang="en-GB" sz="2400" dirty="0" err="1"/>
              <a:t>votre</a:t>
            </a:r>
            <a:r>
              <a:rPr lang="en-GB" sz="2400" dirty="0"/>
              <a:t> </a:t>
            </a:r>
            <a:r>
              <a:rPr lang="en-GB" sz="2400" dirty="0" err="1"/>
              <a:t>tirelire</a:t>
            </a:r>
            <a:r>
              <a:rPr lang="en-GB" sz="2400" dirty="0"/>
              <a:t> (</a:t>
            </a:r>
            <a:r>
              <a:rPr lang="en-GB" sz="2400" dirty="0" err="1"/>
              <a:t>quand</a:t>
            </a:r>
            <a:r>
              <a:rPr lang="en-GB" sz="2400" dirty="0"/>
              <a:t> </a:t>
            </a:r>
            <a:r>
              <a:rPr lang="en-GB" sz="2400" dirty="0" err="1"/>
              <a:t>c’est</a:t>
            </a:r>
            <a:r>
              <a:rPr lang="en-GB" sz="2400" dirty="0"/>
              <a:t> le </a:t>
            </a:r>
            <a:r>
              <a:rPr lang="en-GB" sz="2400" dirty="0" err="1"/>
              <a:t>cas</a:t>
            </a:r>
            <a:r>
              <a:rPr lang="en-GB" sz="2400" dirty="0"/>
              <a:t> </a:t>
            </a:r>
            <a:r>
              <a:rPr lang="en-GB" sz="2400" dirty="0" err="1"/>
              <a:t>une</a:t>
            </a:r>
            <a:r>
              <a:rPr lang="en-GB" sz="2400" dirty="0"/>
              <a:t> exception ‘</a:t>
            </a:r>
            <a:r>
              <a:rPr lang="en-GB" sz="2200" dirty="0" err="1">
                <a:solidFill>
                  <a:schemeClr val="accent4"/>
                </a:solidFill>
                <a:latin typeface="Consolas" charset="0"/>
                <a:cs typeface="Consolas" charset="0"/>
              </a:rPr>
              <a:t>ContenuInsuffisant</a:t>
            </a:r>
            <a:r>
              <a:rPr lang="en-GB" sz="2400" dirty="0"/>
              <a:t>’ </a:t>
            </a:r>
            <a:r>
              <a:rPr lang="en-GB" sz="2400" dirty="0" err="1"/>
              <a:t>est</a:t>
            </a:r>
            <a:r>
              <a:rPr lang="en-GB" sz="2400" dirty="0"/>
              <a:t> levée).</a:t>
            </a:r>
          </a:p>
        </p:txBody>
      </p:sp>
      <p:sp>
        <p:nvSpPr>
          <p:cNvPr id="4" name="Espace réservé du numéro de diapositive 3">
            <a:extLst>
              <a:ext uri="{FF2B5EF4-FFF2-40B4-BE49-F238E27FC236}">
                <a16:creationId xmlns:a16="http://schemas.microsoft.com/office/drawing/2014/main" id="{66E9A28C-3FD7-4FBD-D7DF-1995B5DC4D4D}"/>
              </a:ext>
            </a:extLst>
          </p:cNvPr>
          <p:cNvSpPr>
            <a:spLocks noGrp="1"/>
          </p:cNvSpPr>
          <p:nvPr>
            <p:ph type="sldNum" sz="quarter" idx="4"/>
          </p:nvPr>
        </p:nvSpPr>
        <p:spPr/>
        <p:txBody>
          <a:bodyPr/>
          <a:lstStyle/>
          <a:p>
            <a:fld id="{33C783E2-4793-4F48-A271-51A73CC37D74}" type="slidenum">
              <a:rPr lang="fr-FR" smtClean="0"/>
              <a:t>6</a:t>
            </a:fld>
            <a:endParaRPr lang="fr-FR"/>
          </a:p>
        </p:txBody>
      </p:sp>
      <p:sp>
        <p:nvSpPr>
          <p:cNvPr id="8" name="ZoneTexte 7">
            <a:extLst>
              <a:ext uri="{FF2B5EF4-FFF2-40B4-BE49-F238E27FC236}">
                <a16:creationId xmlns:a16="http://schemas.microsoft.com/office/drawing/2014/main" id="{FE80E64C-6AD0-2F8D-210E-59A6DC1AE7F2}"/>
              </a:ext>
            </a:extLst>
          </p:cNvPr>
          <p:cNvSpPr txBox="1"/>
          <p:nvPr/>
        </p:nvSpPr>
        <p:spPr>
          <a:xfrm>
            <a:off x="5257800" y="5992297"/>
            <a:ext cx="6096000" cy="369332"/>
          </a:xfrm>
          <a:prstGeom prst="rect">
            <a:avLst/>
          </a:prstGeom>
          <a:solidFill>
            <a:srgbClr val="2B2B2B"/>
          </a:solidFill>
        </p:spPr>
        <p:txBody>
          <a:bodyPr wrap="square">
            <a:spAutoFit/>
          </a:bodyPr>
          <a:lstStyle/>
          <a:p>
            <a:r>
              <a:rPr lang="fr-BE" i="1" dirty="0" err="1">
                <a:effectLst/>
                <a:latin typeface="Consolas" panose="020B0609020204030204" pitchFamily="49" charset="0"/>
                <a:cs typeface="Consolas" panose="020B0609020204030204" pitchFamily="49" charset="0"/>
              </a:rPr>
              <a:t>assertEquals</a:t>
            </a:r>
            <a:r>
              <a:rPr lang="fr-BE" dirty="0">
                <a:latin typeface="Consolas" panose="020B0609020204030204" pitchFamily="49" charset="0"/>
                <a:cs typeface="Consolas" panose="020B0609020204030204" pitchFamily="49" charset="0"/>
              </a:rPr>
              <a:t>(</a:t>
            </a:r>
            <a:r>
              <a:rPr lang="fr-BE" dirty="0">
                <a:solidFill>
                  <a:srgbClr val="6897BB"/>
                </a:solidFill>
                <a:effectLst/>
                <a:latin typeface="Consolas" panose="020B0609020204030204" pitchFamily="49" charset="0"/>
                <a:cs typeface="Consolas" panose="020B0609020204030204" pitchFamily="49" charset="0"/>
              </a:rPr>
              <a:t>3.14159</a:t>
            </a:r>
            <a:r>
              <a:rPr lang="fr-BE" dirty="0">
                <a:solidFill>
                  <a:srgbClr val="CC7832"/>
                </a:solidFill>
                <a:effectLst/>
                <a:latin typeface="Consolas" panose="020B0609020204030204" pitchFamily="49" charset="0"/>
                <a:cs typeface="Consolas" panose="020B0609020204030204" pitchFamily="49" charset="0"/>
              </a:rPr>
              <a:t>, </a:t>
            </a:r>
            <a:r>
              <a:rPr lang="fr-BE" dirty="0" err="1">
                <a:latin typeface="Consolas" panose="020B0609020204030204" pitchFamily="49" charset="0"/>
                <a:cs typeface="Consolas" panose="020B0609020204030204" pitchFamily="49" charset="0"/>
              </a:rPr>
              <a:t>myPi</a:t>
            </a:r>
            <a:r>
              <a:rPr lang="fr-BE" dirty="0">
                <a:solidFill>
                  <a:srgbClr val="CC7832"/>
                </a:solidFill>
                <a:effectLst/>
                <a:latin typeface="Consolas" panose="020B0609020204030204" pitchFamily="49" charset="0"/>
                <a:cs typeface="Consolas" panose="020B0609020204030204" pitchFamily="49" charset="0"/>
              </a:rPr>
              <a:t>, </a:t>
            </a:r>
            <a:r>
              <a:rPr lang="fr-BE" dirty="0">
                <a:solidFill>
                  <a:srgbClr val="6897BB"/>
                </a:solidFill>
                <a:effectLst/>
                <a:latin typeface="Consolas" panose="020B0609020204030204" pitchFamily="49" charset="0"/>
                <a:cs typeface="Consolas" panose="020B0609020204030204" pitchFamily="49" charset="0"/>
              </a:rPr>
              <a:t>0.001</a:t>
            </a:r>
            <a:r>
              <a:rPr lang="fr-BE" dirty="0">
                <a:latin typeface="Consolas" panose="020B0609020204030204" pitchFamily="49" charset="0"/>
                <a:cs typeface="Consolas" panose="020B0609020204030204" pitchFamily="49" charset="0"/>
              </a:rPr>
              <a:t>)</a:t>
            </a:r>
            <a:r>
              <a:rPr lang="fr-BE" dirty="0">
                <a:solidFill>
                  <a:srgbClr val="CC7832"/>
                </a:solidFill>
                <a:effectLst/>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pic>
        <p:nvPicPr>
          <p:cNvPr id="5" name="Picture 2" descr="blog-nutrition-outlet">
            <a:extLst>
              <a:ext uri="{FF2B5EF4-FFF2-40B4-BE49-F238E27FC236}">
                <a16:creationId xmlns:a16="http://schemas.microsoft.com/office/drawing/2014/main" id="{5242D180-DAAD-C740-6EB5-D96E2FC51035}"/>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9793621" y="1"/>
            <a:ext cx="1968936" cy="1968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70235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 45</a:t>
            </a:r>
          </a:p>
        </p:txBody>
      </p:sp>
      <p:sp>
        <p:nvSpPr>
          <p:cNvPr id="3" name="Espace réservé du contenu 2"/>
          <p:cNvSpPr>
            <a:spLocks noGrp="1"/>
          </p:cNvSpPr>
          <p:nvPr>
            <p:ph idx="1"/>
          </p:nvPr>
        </p:nvSpPr>
        <p:spPr/>
        <p:txBody>
          <a:bodyPr>
            <a:normAutofit/>
          </a:bodyPr>
          <a:lstStyle/>
          <a:p>
            <a:pPr marL="0" indent="0">
              <a:buNone/>
            </a:pPr>
            <a:r>
              <a:rPr lang="fr-FR" sz="2400" dirty="0"/>
              <a:t>Vous avez normalement écrit une méthode qui construit une collection </a:t>
            </a:r>
            <a:r>
              <a:rPr lang="fr-FR" sz="2400" i="1" dirty="0" err="1"/>
              <a:t>triée</a:t>
            </a:r>
            <a:r>
              <a:rPr lang="fr-FR" sz="2400" i="1" dirty="0"/>
              <a:t> </a:t>
            </a:r>
            <a:r>
              <a:rPr lang="fr-FR" sz="2400" dirty="0"/>
              <a:t>contenant </a:t>
            </a:r>
            <a:r>
              <a:rPr lang="fr-FR" sz="2200" dirty="0">
                <a:solidFill>
                  <a:schemeClr val="accent4"/>
                </a:solidFill>
                <a:latin typeface="Consolas" charset="0"/>
                <a:cs typeface="Consolas" charset="0"/>
              </a:rPr>
              <a:t>n</a:t>
            </a:r>
            <a:r>
              <a:rPr lang="fr-FR" sz="2400" i="1" dirty="0"/>
              <a:t> </a:t>
            </a:r>
            <a:r>
              <a:rPr lang="fr-FR" sz="2400" dirty="0"/>
              <a:t>nombres entiers (</a:t>
            </a:r>
            <a:r>
              <a:rPr lang="fr-FR" sz="2200" dirty="0">
                <a:solidFill>
                  <a:schemeClr val="accent4"/>
                </a:solidFill>
                <a:latin typeface="Consolas" charset="0"/>
                <a:ea typeface="Consolas" charset="0"/>
                <a:cs typeface="Consolas" charset="0"/>
              </a:rPr>
              <a:t>Integer</a:t>
            </a:r>
            <a:r>
              <a:rPr lang="fr-FR" sz="2400" dirty="0"/>
              <a:t>) </a:t>
            </a:r>
            <a:r>
              <a:rPr lang="fr-FR" sz="2400" dirty="0" err="1"/>
              <a:t>tirés</a:t>
            </a:r>
            <a:r>
              <a:rPr lang="fr-FR" sz="2400" dirty="0"/>
              <a:t> au hasard entre 0 et 1000. </a:t>
            </a:r>
          </a:p>
          <a:p>
            <a:pPr marL="0" indent="0">
              <a:buNone/>
            </a:pPr>
            <a:r>
              <a:rPr lang="fr-FR" sz="2400" dirty="0"/>
              <a:t>Ecrivez un test unitaire qui vérifie que cette méthode fonctionne bien.</a:t>
            </a:r>
          </a:p>
          <a:p>
            <a:pPr marL="0" indent="0">
              <a:buNone/>
            </a:pPr>
            <a:endParaRPr lang="fr-FR" sz="2400" dirty="0"/>
          </a:p>
          <a:p>
            <a:pPr marL="0" indent="0" algn="just">
              <a:buNone/>
            </a:pPr>
            <a:r>
              <a:rPr lang="fr-FR" sz="2400" dirty="0"/>
              <a:t>Utilisez les trois étapes (</a:t>
            </a:r>
            <a:r>
              <a:rPr lang="en-GB" sz="2400" dirty="0"/>
              <a:t>organiser les </a:t>
            </a:r>
            <a:r>
              <a:rPr lang="en-GB" sz="2400" dirty="0" err="1"/>
              <a:t>données</a:t>
            </a:r>
            <a:r>
              <a:rPr lang="en-GB" sz="2400" dirty="0"/>
              <a:t>, </a:t>
            </a:r>
            <a:r>
              <a:rPr lang="en-GB" sz="2400" dirty="0" err="1"/>
              <a:t>exécuter</a:t>
            </a:r>
            <a:r>
              <a:rPr lang="en-GB" sz="2400" dirty="0"/>
              <a:t> </a:t>
            </a:r>
            <a:r>
              <a:rPr lang="en-GB" sz="2400" dirty="0" err="1"/>
              <a:t>l’action</a:t>
            </a:r>
            <a:r>
              <a:rPr lang="en-GB" sz="2400" dirty="0"/>
              <a:t> et </a:t>
            </a:r>
            <a:r>
              <a:rPr lang="en-GB" sz="2400" dirty="0" err="1"/>
              <a:t>récuperer</a:t>
            </a:r>
            <a:r>
              <a:rPr lang="en-GB" sz="2400" dirty="0"/>
              <a:t> le </a:t>
            </a:r>
            <a:r>
              <a:rPr lang="en-GB" sz="2400" dirty="0" err="1"/>
              <a:t>résultat</a:t>
            </a:r>
            <a:r>
              <a:rPr lang="en-GB" sz="2400" dirty="0"/>
              <a:t>, </a:t>
            </a:r>
            <a:r>
              <a:rPr lang="en-GB" sz="2400" dirty="0" err="1"/>
              <a:t>valider</a:t>
            </a:r>
            <a:r>
              <a:rPr lang="en-GB" sz="2400" dirty="0"/>
              <a:t>) pour structurer </a:t>
            </a:r>
            <a:r>
              <a:rPr lang="en-GB" sz="2400" dirty="0" err="1"/>
              <a:t>votre</a:t>
            </a:r>
            <a:r>
              <a:rPr lang="en-GB" sz="2400" dirty="0"/>
              <a:t> test.</a:t>
            </a:r>
            <a:endParaRPr lang="fr-FR" sz="2400" dirty="0"/>
          </a:p>
          <a:p>
            <a:pPr marL="0" indent="0">
              <a:buNone/>
            </a:pPr>
            <a:endParaRPr lang="fr-FR" sz="2400" dirty="0"/>
          </a:p>
        </p:txBody>
      </p:sp>
      <p:sp>
        <p:nvSpPr>
          <p:cNvPr id="4" name="Espace réservé du numéro de diapositive 3">
            <a:extLst>
              <a:ext uri="{FF2B5EF4-FFF2-40B4-BE49-F238E27FC236}">
                <a16:creationId xmlns:a16="http://schemas.microsoft.com/office/drawing/2014/main" id="{BECB7D60-9E73-128C-F932-E8511B9F8C16}"/>
              </a:ext>
            </a:extLst>
          </p:cNvPr>
          <p:cNvSpPr>
            <a:spLocks noGrp="1"/>
          </p:cNvSpPr>
          <p:nvPr>
            <p:ph type="sldNum" sz="quarter" idx="4"/>
          </p:nvPr>
        </p:nvSpPr>
        <p:spPr/>
        <p:txBody>
          <a:bodyPr/>
          <a:lstStyle/>
          <a:p>
            <a:fld id="{33C783E2-4793-4F48-A271-51A73CC37D74}" type="slidenum">
              <a:rPr lang="fr-FR" smtClean="0"/>
              <a:t>7</a:t>
            </a:fld>
            <a:endParaRPr lang="fr-FR"/>
          </a:p>
        </p:txBody>
      </p:sp>
      <p:pic>
        <p:nvPicPr>
          <p:cNvPr id="7" name="Image 6">
            <a:extLst>
              <a:ext uri="{FF2B5EF4-FFF2-40B4-BE49-F238E27FC236}">
                <a16:creationId xmlns:a16="http://schemas.microsoft.com/office/drawing/2014/main" id="{7E0038F6-F505-46CB-D842-EA600E20479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901723" y="227193"/>
            <a:ext cx="2648560" cy="1409123"/>
          </a:xfrm>
          <a:prstGeom prst="rect">
            <a:avLst/>
          </a:prstGeom>
        </p:spPr>
      </p:pic>
    </p:spTree>
    <p:extLst>
      <p:ext uri="{BB962C8B-B14F-4D97-AF65-F5344CB8AC3E}">
        <p14:creationId xmlns:p14="http://schemas.microsoft.com/office/powerpoint/2010/main" val="1922011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type abstrait en java">
            <a:extLst>
              <a:ext uri="{FF2B5EF4-FFF2-40B4-BE49-F238E27FC236}">
                <a16:creationId xmlns:a16="http://schemas.microsoft.com/office/drawing/2014/main" id="{E5B3071C-F24C-4ED1-57BD-D79A8E4BBAB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1875" b="21875"/>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Espace réservé du numéro de diapositive 1">
            <a:extLst>
              <a:ext uri="{FF2B5EF4-FFF2-40B4-BE49-F238E27FC236}">
                <a16:creationId xmlns:a16="http://schemas.microsoft.com/office/drawing/2014/main" id="{5A8021B7-8710-B742-D0AC-DA8A4C502D7E}"/>
              </a:ext>
            </a:extLst>
          </p:cNvPr>
          <p:cNvSpPr>
            <a:spLocks noGrp="1"/>
          </p:cNvSpPr>
          <p:nvPr>
            <p:ph type="sldNum" sz="quarter" idx="4"/>
          </p:nvPr>
        </p:nvSpPr>
        <p:spPr/>
        <p:txBody>
          <a:bodyPr/>
          <a:lstStyle/>
          <a:p>
            <a:fld id="{33C783E2-4793-4F48-A271-51A73CC37D74}" type="slidenum">
              <a:rPr lang="fr-FR" smtClean="0"/>
              <a:t>8</a:t>
            </a:fld>
            <a:endParaRPr lang="fr-FR"/>
          </a:p>
        </p:txBody>
      </p:sp>
      <p:sp>
        <p:nvSpPr>
          <p:cNvPr id="3" name="ZoneTexte 2">
            <a:extLst>
              <a:ext uri="{FF2B5EF4-FFF2-40B4-BE49-F238E27FC236}">
                <a16:creationId xmlns:a16="http://schemas.microsoft.com/office/drawing/2014/main" id="{D5CA9526-1498-A697-3798-7B8BA0BB3AD1}"/>
              </a:ext>
            </a:extLst>
          </p:cNvPr>
          <p:cNvSpPr txBox="1"/>
          <p:nvPr/>
        </p:nvSpPr>
        <p:spPr>
          <a:xfrm>
            <a:off x="838200" y="947821"/>
            <a:ext cx="10515600" cy="1015663"/>
          </a:xfrm>
          <a:prstGeom prst="rect">
            <a:avLst/>
          </a:prstGeom>
          <a:solidFill>
            <a:srgbClr val="B3AF82">
              <a:alpha val="75294"/>
            </a:srgbClr>
          </a:solidFill>
          <a:effectLst>
            <a:outerShdw blurRad="50800" dist="38100" dir="2700000" algn="tl" rotWithShape="0">
              <a:prstClr val="black">
                <a:alpha val="40000"/>
              </a:prstClr>
            </a:outerShdw>
          </a:effectLst>
        </p:spPr>
        <p:txBody>
          <a:bodyPr wrap="square" rtlCol="0">
            <a:spAutoFit/>
          </a:bodyPr>
          <a:lstStyle/>
          <a:p>
            <a:r>
              <a:rPr lang="fr-FR" sz="6000" b="1" dirty="0"/>
              <a:t>Les types génériques</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6" name="ZoneTexte 5">
            <a:extLst>
              <a:ext uri="{FF2B5EF4-FFF2-40B4-BE49-F238E27FC236}">
                <a16:creationId xmlns:a16="http://schemas.microsoft.com/office/drawing/2014/main" id="{B98B3725-2992-87B6-55AA-FF275B14F609}"/>
              </a:ext>
            </a:extLst>
          </p:cNvPr>
          <p:cNvSpPr txBox="1"/>
          <p:nvPr/>
        </p:nvSpPr>
        <p:spPr>
          <a:xfrm>
            <a:off x="838200" y="2139312"/>
            <a:ext cx="10515600" cy="461665"/>
          </a:xfrm>
          <a:prstGeom prst="rect">
            <a:avLst/>
          </a:prstGeom>
          <a:solidFill>
            <a:srgbClr val="B3AF82">
              <a:alpha val="75294"/>
            </a:srgbClr>
          </a:solidFill>
          <a:effectLst>
            <a:outerShdw blurRad="50800" dist="38100" dir="2700000" algn="tl" rotWithShape="0">
              <a:prstClr val="black">
                <a:alpha val="40000"/>
              </a:prstClr>
            </a:outerShdw>
          </a:effectLst>
        </p:spPr>
        <p:txBody>
          <a:bodyPr wrap="square" rtlCol="0">
            <a:spAutoFit/>
          </a:bodyPr>
          <a:lstStyle/>
          <a:p>
            <a:r>
              <a:rPr lang="fr-FR" sz="2400" dirty="0"/>
              <a:t>Comment réutiliser des classes pour des objets de différents types…?</a:t>
            </a:r>
          </a:p>
        </p:txBody>
      </p:sp>
    </p:spTree>
    <p:extLst>
      <p:ext uri="{BB962C8B-B14F-4D97-AF65-F5344CB8AC3E}">
        <p14:creationId xmlns:p14="http://schemas.microsoft.com/office/powerpoint/2010/main" val="1478164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Types génériques</a:t>
            </a:r>
          </a:p>
        </p:txBody>
      </p:sp>
      <p:sp>
        <p:nvSpPr>
          <p:cNvPr id="3" name="Espace réservé du contenu 2"/>
          <p:cNvSpPr>
            <a:spLocks noGrp="1"/>
          </p:cNvSpPr>
          <p:nvPr>
            <p:ph idx="1"/>
          </p:nvPr>
        </p:nvSpPr>
        <p:spPr/>
        <p:txBody>
          <a:bodyPr>
            <a:noAutofit/>
          </a:bodyPr>
          <a:lstStyle/>
          <a:p>
            <a:pPr marL="342900" indent="-342900">
              <a:lnSpc>
                <a:spcPct val="80000"/>
              </a:lnSpc>
              <a:buFont typeface="Arial"/>
              <a:buChar char="•"/>
            </a:pPr>
            <a:r>
              <a:rPr lang="fr-FR" dirty="0">
                <a:solidFill>
                  <a:schemeClr val="accent4"/>
                </a:solidFill>
              </a:rPr>
              <a:t>Le concept de type générique</a:t>
            </a:r>
          </a:p>
          <a:p>
            <a:pPr marL="342900" indent="-342900">
              <a:lnSpc>
                <a:spcPct val="80000"/>
              </a:lnSpc>
              <a:buFont typeface="Arial"/>
              <a:buChar char="•"/>
            </a:pPr>
            <a:r>
              <a:rPr lang="fr-FR" dirty="0"/>
              <a:t>Classe Générique à un seul paramètre</a:t>
            </a:r>
          </a:p>
          <a:p>
            <a:pPr marL="342900" indent="-342900">
              <a:lnSpc>
                <a:spcPct val="80000"/>
              </a:lnSpc>
              <a:buFont typeface="Arial"/>
              <a:buChar char="•"/>
            </a:pPr>
            <a:r>
              <a:rPr lang="fr-FR" dirty="0"/>
              <a:t>Classe Générique à plusieurs paramètres</a:t>
            </a:r>
          </a:p>
          <a:p>
            <a:pPr marL="342900" indent="-342900">
              <a:lnSpc>
                <a:spcPct val="80000"/>
              </a:lnSpc>
              <a:buFont typeface="Arial"/>
              <a:buChar char="•"/>
            </a:pPr>
            <a:r>
              <a:rPr lang="fr-FR" dirty="0"/>
              <a:t>Compilation des types génériques</a:t>
            </a:r>
          </a:p>
          <a:p>
            <a:pPr marL="342900" indent="-342900">
              <a:lnSpc>
                <a:spcPct val="80000"/>
              </a:lnSpc>
              <a:buFont typeface="Arial"/>
              <a:buChar char="•"/>
            </a:pPr>
            <a:r>
              <a:rPr lang="fr-FR" dirty="0"/>
              <a:t>Méthodes génériques</a:t>
            </a:r>
          </a:p>
          <a:p>
            <a:pPr marL="342900" indent="-342900">
              <a:lnSpc>
                <a:spcPct val="80000"/>
              </a:lnSpc>
              <a:buFont typeface="Arial"/>
              <a:buChar char="•"/>
            </a:pPr>
            <a:r>
              <a:rPr lang="fr-FR" dirty="0"/>
              <a:t>Limitations sur le type</a:t>
            </a:r>
          </a:p>
          <a:p>
            <a:pPr marL="342900" indent="-342900">
              <a:lnSpc>
                <a:spcPct val="80000"/>
              </a:lnSpc>
              <a:buFont typeface="Arial"/>
              <a:buChar char="•"/>
            </a:pPr>
            <a:r>
              <a:rPr lang="fr-FR" dirty="0"/>
              <a:t>Type générique et héritage</a:t>
            </a:r>
          </a:p>
          <a:p>
            <a:pPr marL="342900" indent="-342900">
              <a:lnSpc>
                <a:spcPct val="80000"/>
              </a:lnSpc>
              <a:buFont typeface="Arial"/>
              <a:buChar char="•"/>
            </a:pPr>
            <a:endParaRPr lang="fr-FR" dirty="0"/>
          </a:p>
          <a:p>
            <a:pPr marL="342900" indent="-342900">
              <a:lnSpc>
                <a:spcPct val="80000"/>
              </a:lnSpc>
              <a:buFont typeface="Arial"/>
              <a:buChar char="•"/>
            </a:pPr>
            <a:endParaRPr lang="fr-FR" dirty="0"/>
          </a:p>
          <a:p>
            <a:pPr marL="342900" indent="-342900">
              <a:lnSpc>
                <a:spcPct val="80000"/>
              </a:lnSpc>
              <a:buFont typeface="Arial"/>
              <a:buChar char="•"/>
            </a:pPr>
            <a:endParaRPr lang="fr-FR" dirty="0"/>
          </a:p>
        </p:txBody>
      </p:sp>
      <p:grpSp>
        <p:nvGrpSpPr>
          <p:cNvPr id="8" name="Groupe 7">
            <a:extLst>
              <a:ext uri="{FF2B5EF4-FFF2-40B4-BE49-F238E27FC236}">
                <a16:creationId xmlns:a16="http://schemas.microsoft.com/office/drawing/2014/main" id="{ACCA99A5-B332-B909-6733-15C39193A78F}"/>
              </a:ext>
            </a:extLst>
          </p:cNvPr>
          <p:cNvGrpSpPr/>
          <p:nvPr/>
        </p:nvGrpSpPr>
        <p:grpSpPr>
          <a:xfrm>
            <a:off x="10470995" y="162401"/>
            <a:ext cx="1404760" cy="1400033"/>
            <a:chOff x="10326324" y="687756"/>
            <a:chExt cx="1393314" cy="1393314"/>
          </a:xfrm>
        </p:grpSpPr>
        <p:sp>
          <p:nvSpPr>
            <p:cNvPr id="5" name="Larme 4">
              <a:extLst>
                <a:ext uri="{FF2B5EF4-FFF2-40B4-BE49-F238E27FC236}">
                  <a16:creationId xmlns:a16="http://schemas.microsoft.com/office/drawing/2014/main" id="{6D659AA5-DE48-3A94-0973-5630499C0B8F}"/>
                </a:ext>
              </a:extLst>
            </p:cNvPr>
            <p:cNvSpPr/>
            <p:nvPr/>
          </p:nvSpPr>
          <p:spPr>
            <a:xfrm rot="8100000">
              <a:off x="10326324" y="687756"/>
              <a:ext cx="1393314" cy="1393314"/>
            </a:xfrm>
            <a:prstGeom prst="teardrop">
              <a:avLst>
                <a:gd name="adj" fmla="val 13287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 name="ZoneTexte 6">
              <a:extLst>
                <a:ext uri="{FF2B5EF4-FFF2-40B4-BE49-F238E27FC236}">
                  <a16:creationId xmlns:a16="http://schemas.microsoft.com/office/drawing/2014/main" id="{4FF3D4ED-5448-D9C2-964C-3C9EFB6B14C0}"/>
                </a:ext>
              </a:extLst>
            </p:cNvPr>
            <p:cNvSpPr txBox="1"/>
            <p:nvPr/>
          </p:nvSpPr>
          <p:spPr>
            <a:xfrm>
              <a:off x="10372029" y="1092958"/>
              <a:ext cx="1301905" cy="702249"/>
            </a:xfrm>
            <a:prstGeom prst="rect">
              <a:avLst/>
            </a:prstGeom>
            <a:noFill/>
          </p:spPr>
          <p:txBody>
            <a:bodyPr wrap="square">
              <a:spAutoFit/>
            </a:bodyPr>
            <a:lstStyle/>
            <a:p>
              <a:pPr algn="ctr"/>
              <a:r>
                <a:rPr lang="fr-FR" sz="2000" b="1" dirty="0"/>
                <a:t>Vous êtes ici</a:t>
              </a:r>
            </a:p>
          </p:txBody>
        </p:sp>
      </p:grpSp>
      <p:sp>
        <p:nvSpPr>
          <p:cNvPr id="4" name="Espace réservé du numéro de diapositive 3">
            <a:extLst>
              <a:ext uri="{FF2B5EF4-FFF2-40B4-BE49-F238E27FC236}">
                <a16:creationId xmlns:a16="http://schemas.microsoft.com/office/drawing/2014/main" id="{DE4C921C-4AF9-8796-0562-4B1EF1BE768B}"/>
              </a:ext>
            </a:extLst>
          </p:cNvPr>
          <p:cNvSpPr>
            <a:spLocks noGrp="1"/>
          </p:cNvSpPr>
          <p:nvPr>
            <p:ph type="sldNum" sz="quarter" idx="4"/>
          </p:nvPr>
        </p:nvSpPr>
        <p:spPr/>
        <p:txBody>
          <a:bodyPr/>
          <a:lstStyle/>
          <a:p>
            <a:fld id="{33C783E2-4793-4F48-A271-51A73CC37D74}" type="slidenum">
              <a:rPr lang="fr-FR" smtClean="0"/>
              <a:t>9</a:t>
            </a:fld>
            <a:endParaRPr lang="fr-FR"/>
          </a:p>
        </p:txBody>
      </p:sp>
    </p:spTree>
    <p:extLst>
      <p:ext uri="{BB962C8B-B14F-4D97-AF65-F5344CB8AC3E}">
        <p14:creationId xmlns:p14="http://schemas.microsoft.com/office/powerpoint/2010/main" val="2368537688"/>
      </p:ext>
    </p:extLst>
  </p:cSld>
  <p:clrMapOvr>
    <a:masterClrMapping/>
  </p:clrMapOvr>
  <p:transition>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Les types génériques</a:t>
            </a:r>
          </a:p>
        </p:txBody>
      </p:sp>
      <p:sp>
        <p:nvSpPr>
          <p:cNvPr id="9" name="Espace réservé du contenu 8"/>
          <p:cNvSpPr>
            <a:spLocks noGrp="1"/>
          </p:cNvSpPr>
          <p:nvPr>
            <p:ph idx="1"/>
          </p:nvPr>
        </p:nvSpPr>
        <p:spPr/>
        <p:txBody>
          <a:bodyPr>
            <a:normAutofit/>
          </a:bodyPr>
          <a:lstStyle/>
          <a:p>
            <a:pPr marL="0" indent="0">
              <a:buNone/>
            </a:pPr>
            <a:r>
              <a:rPr lang="fr-FR" sz="2400" dirty="0"/>
              <a:t>On parle de </a:t>
            </a:r>
            <a:r>
              <a:rPr lang="fr-FR" sz="2400" dirty="0">
                <a:solidFill>
                  <a:schemeClr val="accent4"/>
                </a:solidFill>
              </a:rPr>
              <a:t>programmation générique </a:t>
            </a:r>
            <a:r>
              <a:rPr lang="fr-FR" sz="2400" dirty="0"/>
              <a:t>lorsqu’un langage permet d’écrire un </a:t>
            </a:r>
            <a:r>
              <a:rPr lang="fr-FR" sz="2400" dirty="0">
                <a:solidFill>
                  <a:schemeClr val="accent4"/>
                </a:solidFill>
              </a:rPr>
              <a:t>code source unique </a:t>
            </a:r>
            <a:r>
              <a:rPr lang="fr-FR" sz="2400" dirty="0"/>
              <a:t>qui prend en compte des variables ou des objets de types quelconques. </a:t>
            </a:r>
          </a:p>
          <a:p>
            <a:pPr marL="342900" indent="-342900"/>
            <a:r>
              <a:rPr lang="fr-FR" sz="2400" dirty="0"/>
              <a:t>﻿soit le type en question est quelconque au sens où au sein d’une même instance ou d’un même appel de méthode, on peut manipuler des objets de différents types (ceci est rendu possible via l’héritage). </a:t>
            </a:r>
          </a:p>
          <a:p>
            <a:pPr marL="342900" indent="-342900"/>
            <a:r>
              <a:rPr lang="fr-FR" sz="2400" dirty="0"/>
              <a:t>﻿soit le type en question, non précisé lors de l’écriture de la classe, se trouve </a:t>
            </a:r>
            <a:r>
              <a:rPr lang="fr-FR" sz="2400" dirty="0">
                <a:solidFill>
                  <a:schemeClr val="accent4"/>
                </a:solidFill>
              </a:rPr>
              <a:t>fixé de façon unique au moment de l’instanciation de la classe</a:t>
            </a:r>
            <a:r>
              <a:rPr lang="fr-FR" sz="2400" dirty="0"/>
              <a:t> (possible depuis Java 5 via les types génériques); c’est la notion que nous allons aborder maintenant.</a:t>
            </a:r>
          </a:p>
        </p:txBody>
      </p:sp>
      <p:sp>
        <p:nvSpPr>
          <p:cNvPr id="3" name="Espace réservé du numéro de diapositive 2">
            <a:extLst>
              <a:ext uri="{FF2B5EF4-FFF2-40B4-BE49-F238E27FC236}">
                <a16:creationId xmlns:a16="http://schemas.microsoft.com/office/drawing/2014/main" id="{87C2571D-52BA-263F-C428-0984196E9B09}"/>
              </a:ext>
            </a:extLst>
          </p:cNvPr>
          <p:cNvSpPr>
            <a:spLocks noGrp="1"/>
          </p:cNvSpPr>
          <p:nvPr>
            <p:ph type="sldNum" sz="quarter" idx="4"/>
          </p:nvPr>
        </p:nvSpPr>
        <p:spPr/>
        <p:txBody>
          <a:bodyPr/>
          <a:lstStyle/>
          <a:p>
            <a:fld id="{33C783E2-4793-4F48-A271-51A73CC37D74}" type="slidenum">
              <a:rPr lang="fr-FR" smtClean="0"/>
              <a:t>10</a:t>
            </a:fld>
            <a:endParaRPr lang="fr-FR"/>
          </a:p>
        </p:txBody>
      </p:sp>
    </p:spTree>
    <p:extLst>
      <p:ext uri="{BB962C8B-B14F-4D97-AF65-F5344CB8AC3E}">
        <p14:creationId xmlns:p14="http://schemas.microsoft.com/office/powerpoint/2010/main" val="676243826"/>
      </p:ext>
    </p:extLst>
  </p:cSld>
  <p:clrMapOvr>
    <a:masterClrMapping/>
  </p:clrMapOvr>
  <p:transition>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Les types génériques</a:t>
            </a:r>
          </a:p>
        </p:txBody>
      </p:sp>
      <p:sp>
        <p:nvSpPr>
          <p:cNvPr id="9" name="Espace réservé du contenu 8"/>
          <p:cNvSpPr>
            <a:spLocks noGrp="1"/>
          </p:cNvSpPr>
          <p:nvPr>
            <p:ph idx="1"/>
          </p:nvPr>
        </p:nvSpPr>
        <p:spPr/>
        <p:txBody>
          <a:bodyPr>
            <a:normAutofit/>
          </a:bodyPr>
          <a:lstStyle/>
          <a:p>
            <a:pPr marL="0" indent="0">
              <a:buNone/>
            </a:pPr>
            <a:r>
              <a:rPr lang="fr-FR" sz="2400" dirty="0"/>
              <a:t>Ainsi une liste chainée (</a:t>
            </a:r>
            <a:r>
              <a:rPr lang="fr-FR" sz="2200" dirty="0" err="1">
                <a:solidFill>
                  <a:schemeClr val="accent4"/>
                </a:solidFill>
                <a:latin typeface="Consolas"/>
                <a:cs typeface="Consolas"/>
              </a:rPr>
              <a:t>LinkedList</a:t>
            </a:r>
            <a:r>
              <a:rPr lang="fr-FR" sz="2400" dirty="0"/>
              <a:t>), qui peut contenir des entiers, des </a:t>
            </a:r>
            <a:r>
              <a:rPr lang="fr-FR" sz="2200" dirty="0">
                <a:solidFill>
                  <a:schemeClr val="accent4"/>
                </a:solidFill>
                <a:latin typeface="Consolas"/>
                <a:cs typeface="Consolas"/>
              </a:rPr>
              <a:t>String</a:t>
            </a:r>
            <a:r>
              <a:rPr lang="fr-FR" sz="2400" dirty="0"/>
              <a:t> ou d'autres types d'objets pourra être typée en liste de </a:t>
            </a:r>
            <a:r>
              <a:rPr lang="fr-FR" sz="2200" dirty="0">
                <a:solidFill>
                  <a:schemeClr val="accent4"/>
                </a:solidFill>
                <a:latin typeface="Consolas"/>
                <a:cs typeface="Consolas"/>
              </a:rPr>
              <a:t>String</a:t>
            </a:r>
            <a:r>
              <a:rPr lang="fr-FR" sz="2400" dirty="0"/>
              <a:t> ou liste d’</a:t>
            </a:r>
            <a:r>
              <a:rPr lang="fr-FR" sz="2200" dirty="0">
                <a:solidFill>
                  <a:schemeClr val="accent4"/>
                </a:solidFill>
                <a:latin typeface="Consolas"/>
                <a:cs typeface="Consolas"/>
              </a:rPr>
              <a:t>Integer</a:t>
            </a:r>
            <a:r>
              <a:rPr lang="fr-FR" sz="2400" dirty="0"/>
              <a:t>. </a:t>
            </a:r>
          </a:p>
          <a:p>
            <a:pPr marL="0" indent="0">
              <a:buNone/>
            </a:pPr>
            <a:endParaRPr lang="fr-FR" sz="2400" dirty="0"/>
          </a:p>
          <a:p>
            <a:pPr marL="0" indent="0">
              <a:buNone/>
            </a:pPr>
            <a:r>
              <a:rPr lang="fr-FR" sz="2400" dirty="0"/>
              <a:t>L'utilisation de </a:t>
            </a:r>
            <a:r>
              <a:rPr lang="fr-FR" sz="2400" dirty="0">
                <a:solidFill>
                  <a:schemeClr val="accent4"/>
                </a:solidFill>
              </a:rPr>
              <a:t>Types Génériques </a:t>
            </a:r>
            <a:r>
              <a:rPr lang="fr-FR" sz="2400" dirty="0"/>
              <a:t>permet au programmeur de ne pas écrire systématiquement les transtypages (</a:t>
            </a:r>
            <a:r>
              <a:rPr lang="fr-FR" sz="2400" dirty="0" err="1"/>
              <a:t>cast</a:t>
            </a:r>
            <a:r>
              <a:rPr lang="fr-FR" sz="2400" dirty="0"/>
              <a:t>) qui présentent un risque d'erreur: le compilateur vérifie lui-même la cohérence des données.</a:t>
            </a:r>
          </a:p>
        </p:txBody>
      </p:sp>
      <p:sp>
        <p:nvSpPr>
          <p:cNvPr id="3" name="Espace réservé du numéro de diapositive 2">
            <a:extLst>
              <a:ext uri="{FF2B5EF4-FFF2-40B4-BE49-F238E27FC236}">
                <a16:creationId xmlns:a16="http://schemas.microsoft.com/office/drawing/2014/main" id="{FE4D842C-08F0-7F5F-6430-998B43753F66}"/>
              </a:ext>
            </a:extLst>
          </p:cNvPr>
          <p:cNvSpPr>
            <a:spLocks noGrp="1"/>
          </p:cNvSpPr>
          <p:nvPr>
            <p:ph type="sldNum" sz="quarter" idx="4"/>
          </p:nvPr>
        </p:nvSpPr>
        <p:spPr/>
        <p:txBody>
          <a:bodyPr/>
          <a:lstStyle/>
          <a:p>
            <a:fld id="{33C783E2-4793-4F48-A271-51A73CC37D74}" type="slidenum">
              <a:rPr lang="fr-FR" smtClean="0"/>
              <a:t>11</a:t>
            </a:fld>
            <a:endParaRPr lang="fr-FR"/>
          </a:p>
        </p:txBody>
      </p:sp>
    </p:spTree>
    <p:extLst>
      <p:ext uri="{BB962C8B-B14F-4D97-AF65-F5344CB8AC3E}">
        <p14:creationId xmlns:p14="http://schemas.microsoft.com/office/powerpoint/2010/main" val="810197409"/>
      </p:ext>
    </p:extLst>
  </p:cSld>
  <p:clrMapOvr>
    <a:masterClrMapping/>
  </p:clrMapOvr>
  <p:transition>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Types génériques</a:t>
            </a:r>
          </a:p>
        </p:txBody>
      </p:sp>
      <p:sp>
        <p:nvSpPr>
          <p:cNvPr id="3" name="Espace réservé du contenu 2"/>
          <p:cNvSpPr>
            <a:spLocks noGrp="1"/>
          </p:cNvSpPr>
          <p:nvPr>
            <p:ph idx="1"/>
          </p:nvPr>
        </p:nvSpPr>
        <p:spPr/>
        <p:txBody>
          <a:bodyPr>
            <a:noAutofit/>
          </a:bodyPr>
          <a:lstStyle/>
          <a:p>
            <a:pPr marL="342900" indent="-342900">
              <a:lnSpc>
                <a:spcPct val="80000"/>
              </a:lnSpc>
              <a:buFont typeface="Arial"/>
              <a:buChar char="•"/>
            </a:pPr>
            <a:r>
              <a:rPr lang="fr-FR" dirty="0"/>
              <a:t>Le concept de type générique</a:t>
            </a:r>
          </a:p>
          <a:p>
            <a:pPr marL="342900" indent="-342900">
              <a:lnSpc>
                <a:spcPct val="80000"/>
              </a:lnSpc>
              <a:buFont typeface="Arial"/>
              <a:buChar char="•"/>
            </a:pPr>
            <a:r>
              <a:rPr lang="fr-FR" dirty="0">
                <a:solidFill>
                  <a:schemeClr val="accent4"/>
                </a:solidFill>
              </a:rPr>
              <a:t>Classe Générique à un seul paramètre</a:t>
            </a:r>
          </a:p>
          <a:p>
            <a:pPr marL="342900" indent="-342900">
              <a:lnSpc>
                <a:spcPct val="80000"/>
              </a:lnSpc>
              <a:buFont typeface="Arial"/>
              <a:buChar char="•"/>
            </a:pPr>
            <a:r>
              <a:rPr lang="fr-FR" dirty="0"/>
              <a:t>Classe Générique à plusieurs paramètres</a:t>
            </a:r>
          </a:p>
          <a:p>
            <a:pPr marL="342900" indent="-342900">
              <a:lnSpc>
                <a:spcPct val="80000"/>
              </a:lnSpc>
              <a:buFont typeface="Arial"/>
              <a:buChar char="•"/>
            </a:pPr>
            <a:r>
              <a:rPr lang="fr-FR" dirty="0"/>
              <a:t>Compilation des types génériques</a:t>
            </a:r>
          </a:p>
          <a:p>
            <a:pPr marL="342900" indent="-342900">
              <a:lnSpc>
                <a:spcPct val="80000"/>
              </a:lnSpc>
              <a:buFont typeface="Arial"/>
              <a:buChar char="•"/>
            </a:pPr>
            <a:r>
              <a:rPr lang="fr-FR" dirty="0"/>
              <a:t>Méthodes génériques</a:t>
            </a:r>
          </a:p>
          <a:p>
            <a:pPr marL="342900" indent="-342900">
              <a:lnSpc>
                <a:spcPct val="80000"/>
              </a:lnSpc>
              <a:buFont typeface="Arial"/>
              <a:buChar char="•"/>
            </a:pPr>
            <a:r>
              <a:rPr lang="fr-FR" dirty="0"/>
              <a:t>Limitations sur le type</a:t>
            </a:r>
          </a:p>
          <a:p>
            <a:pPr marL="342900" indent="-342900">
              <a:lnSpc>
                <a:spcPct val="80000"/>
              </a:lnSpc>
              <a:buFont typeface="Arial"/>
              <a:buChar char="•"/>
            </a:pPr>
            <a:r>
              <a:rPr lang="fr-FR" dirty="0"/>
              <a:t>Type générique et héritage</a:t>
            </a:r>
          </a:p>
          <a:p>
            <a:pPr marL="342900" indent="-342900">
              <a:lnSpc>
                <a:spcPct val="80000"/>
              </a:lnSpc>
              <a:buFont typeface="Arial"/>
              <a:buChar char="•"/>
            </a:pPr>
            <a:endParaRPr lang="fr-FR" dirty="0"/>
          </a:p>
          <a:p>
            <a:pPr marL="342900" indent="-342900">
              <a:lnSpc>
                <a:spcPct val="80000"/>
              </a:lnSpc>
              <a:buFont typeface="Arial"/>
              <a:buChar char="•"/>
            </a:pPr>
            <a:endParaRPr lang="fr-FR" dirty="0"/>
          </a:p>
          <a:p>
            <a:pPr marL="342900" indent="-342900">
              <a:lnSpc>
                <a:spcPct val="80000"/>
              </a:lnSpc>
              <a:buFont typeface="Arial"/>
              <a:buChar char="•"/>
            </a:pPr>
            <a:endParaRPr lang="fr-FR" dirty="0"/>
          </a:p>
        </p:txBody>
      </p:sp>
      <p:grpSp>
        <p:nvGrpSpPr>
          <p:cNvPr id="8" name="Groupe 7">
            <a:extLst>
              <a:ext uri="{FF2B5EF4-FFF2-40B4-BE49-F238E27FC236}">
                <a16:creationId xmlns:a16="http://schemas.microsoft.com/office/drawing/2014/main" id="{ACCA99A5-B332-B909-6733-15C39193A78F}"/>
              </a:ext>
            </a:extLst>
          </p:cNvPr>
          <p:cNvGrpSpPr/>
          <p:nvPr/>
        </p:nvGrpSpPr>
        <p:grpSpPr>
          <a:xfrm>
            <a:off x="10470995" y="162401"/>
            <a:ext cx="1404760" cy="1400033"/>
            <a:chOff x="10326324" y="687756"/>
            <a:chExt cx="1393314" cy="1393314"/>
          </a:xfrm>
        </p:grpSpPr>
        <p:sp>
          <p:nvSpPr>
            <p:cNvPr id="5" name="Larme 4">
              <a:extLst>
                <a:ext uri="{FF2B5EF4-FFF2-40B4-BE49-F238E27FC236}">
                  <a16:creationId xmlns:a16="http://schemas.microsoft.com/office/drawing/2014/main" id="{6D659AA5-DE48-3A94-0973-5630499C0B8F}"/>
                </a:ext>
              </a:extLst>
            </p:cNvPr>
            <p:cNvSpPr/>
            <p:nvPr/>
          </p:nvSpPr>
          <p:spPr>
            <a:xfrm rot="8100000">
              <a:off x="10326324" y="687756"/>
              <a:ext cx="1393314" cy="1393314"/>
            </a:xfrm>
            <a:prstGeom prst="teardrop">
              <a:avLst>
                <a:gd name="adj" fmla="val 13287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 name="ZoneTexte 6">
              <a:extLst>
                <a:ext uri="{FF2B5EF4-FFF2-40B4-BE49-F238E27FC236}">
                  <a16:creationId xmlns:a16="http://schemas.microsoft.com/office/drawing/2014/main" id="{4FF3D4ED-5448-D9C2-964C-3C9EFB6B14C0}"/>
                </a:ext>
              </a:extLst>
            </p:cNvPr>
            <p:cNvSpPr txBox="1"/>
            <p:nvPr/>
          </p:nvSpPr>
          <p:spPr>
            <a:xfrm>
              <a:off x="10372029" y="1092958"/>
              <a:ext cx="1301905" cy="702249"/>
            </a:xfrm>
            <a:prstGeom prst="rect">
              <a:avLst/>
            </a:prstGeom>
            <a:noFill/>
          </p:spPr>
          <p:txBody>
            <a:bodyPr wrap="square">
              <a:spAutoFit/>
            </a:bodyPr>
            <a:lstStyle/>
            <a:p>
              <a:pPr algn="ctr"/>
              <a:r>
                <a:rPr lang="fr-FR" sz="2000" b="1" dirty="0"/>
                <a:t>Vous êtes ici</a:t>
              </a:r>
            </a:p>
          </p:txBody>
        </p:sp>
      </p:grpSp>
      <p:sp>
        <p:nvSpPr>
          <p:cNvPr id="4" name="Espace réservé du numéro de diapositive 3">
            <a:extLst>
              <a:ext uri="{FF2B5EF4-FFF2-40B4-BE49-F238E27FC236}">
                <a16:creationId xmlns:a16="http://schemas.microsoft.com/office/drawing/2014/main" id="{54EEA809-62F4-D653-ADEC-E9B55A492528}"/>
              </a:ext>
            </a:extLst>
          </p:cNvPr>
          <p:cNvSpPr>
            <a:spLocks noGrp="1"/>
          </p:cNvSpPr>
          <p:nvPr>
            <p:ph type="sldNum" sz="quarter" idx="4"/>
          </p:nvPr>
        </p:nvSpPr>
        <p:spPr/>
        <p:txBody>
          <a:bodyPr/>
          <a:lstStyle/>
          <a:p>
            <a:fld id="{33C783E2-4793-4F48-A271-51A73CC37D74}" type="slidenum">
              <a:rPr lang="fr-FR" smtClean="0"/>
              <a:t>12</a:t>
            </a:fld>
            <a:endParaRPr lang="fr-FR"/>
          </a:p>
        </p:txBody>
      </p:sp>
    </p:spTree>
    <p:extLst>
      <p:ext uri="{BB962C8B-B14F-4D97-AF65-F5344CB8AC3E}">
        <p14:creationId xmlns:p14="http://schemas.microsoft.com/office/powerpoint/2010/main" val="4137444754"/>
      </p:ext>
    </p:extLst>
  </p:cSld>
  <p:clrMapOvr>
    <a:masterClrMapping/>
  </p:clrMapOvr>
  <p:transition>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Exemple de classe générique</a:t>
            </a:r>
          </a:p>
        </p:txBody>
      </p:sp>
      <p:sp>
        <p:nvSpPr>
          <p:cNvPr id="9" name="Espace réservé du contenu 8"/>
          <p:cNvSpPr>
            <a:spLocks noGrp="1"/>
          </p:cNvSpPr>
          <p:nvPr>
            <p:ph idx="1"/>
          </p:nvPr>
        </p:nvSpPr>
        <p:spPr/>
        <p:txBody>
          <a:bodyPr>
            <a:noAutofit/>
          </a:bodyPr>
          <a:lstStyle/>
          <a:p>
            <a:pPr marL="0" indent="0">
              <a:buNone/>
            </a:pPr>
            <a:r>
              <a:rPr lang="nl-BE" sz="2400" dirty="0"/>
              <a:t>On désire modéliser des couples d’entiers et des couples de chaînes de caractères…</a:t>
            </a:r>
            <a:endParaRPr lang="fr-FR" sz="2400" dirty="0"/>
          </a:p>
        </p:txBody>
      </p:sp>
      <p:sp>
        <p:nvSpPr>
          <p:cNvPr id="7" name="ZoneTexte 6">
            <a:extLst>
              <a:ext uri="{FF2B5EF4-FFF2-40B4-BE49-F238E27FC236}">
                <a16:creationId xmlns:a16="http://schemas.microsoft.com/office/drawing/2014/main" id="{CC43F847-78DD-D19B-776E-B74F4293AC89}"/>
              </a:ext>
            </a:extLst>
          </p:cNvPr>
          <p:cNvSpPr txBox="1"/>
          <p:nvPr/>
        </p:nvSpPr>
        <p:spPr>
          <a:xfrm>
            <a:off x="838201" y="2709853"/>
            <a:ext cx="5415488" cy="3323987"/>
          </a:xfrm>
          <a:prstGeom prst="rect">
            <a:avLst/>
          </a:prstGeom>
          <a:solidFill>
            <a:srgbClr val="2B2B2B"/>
          </a:solidFill>
        </p:spPr>
        <p:txBody>
          <a:bodyPr wrap="square">
            <a:spAutoFit/>
          </a:bodyPr>
          <a:lstStyle/>
          <a:p>
            <a:r>
              <a:rPr lang="fr-BE" sz="1400" dirty="0">
                <a:solidFill>
                  <a:srgbClr val="CC7832"/>
                </a:solidFill>
                <a:effectLst/>
                <a:latin typeface="Consolas" panose="020B0609020204030204" pitchFamily="49" charset="0"/>
                <a:cs typeface="Consolas" panose="020B0609020204030204" pitchFamily="49" charset="0"/>
              </a:rPr>
              <a:t>public class </a:t>
            </a:r>
            <a:r>
              <a:rPr lang="fr-BE" sz="1400" dirty="0" err="1">
                <a:latin typeface="Consolas" panose="020B0609020204030204" pitchFamily="49" charset="0"/>
                <a:cs typeface="Consolas" panose="020B0609020204030204" pitchFamily="49" charset="0"/>
              </a:rPr>
              <a:t>CoupleInteger</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err="1">
                <a:solidFill>
                  <a:srgbClr val="CC7832"/>
                </a:solidFill>
                <a:effectLst/>
                <a:latin typeface="Consolas" panose="020B0609020204030204" pitchFamily="49" charset="0"/>
                <a:cs typeface="Consolas" panose="020B0609020204030204" pitchFamily="49" charset="0"/>
              </a:rPr>
              <a:t>private</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Integer</a:t>
            </a:r>
            <a:r>
              <a:rPr lang="fr-BE" sz="1400" dirty="0">
                <a:solidFill>
                  <a:srgbClr val="507874"/>
                </a:solidFill>
                <a:effectLst/>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x</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y</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public </a:t>
            </a:r>
            <a:r>
              <a:rPr lang="fr-BE" sz="1400" dirty="0">
                <a:solidFill>
                  <a:srgbClr val="FFC66D"/>
                </a:solidFill>
                <a:effectLst/>
                <a:latin typeface="Consolas" panose="020B0609020204030204" pitchFamily="49" charset="0"/>
                <a:cs typeface="Consolas" panose="020B0609020204030204" pitchFamily="49" charset="0"/>
              </a:rPr>
              <a:t>Couple</a:t>
            </a:r>
            <a:r>
              <a:rPr lang="fr-BE" sz="1400" dirty="0">
                <a:latin typeface="Consolas" panose="020B0609020204030204" pitchFamily="49" charset="0"/>
                <a:cs typeface="Consolas" panose="020B0609020204030204" pitchFamily="49" charset="0"/>
              </a:rPr>
              <a:t>(Integer</a:t>
            </a:r>
            <a:r>
              <a:rPr lang="fr-BE" sz="1400" dirty="0">
                <a:solidFill>
                  <a:srgbClr val="507874"/>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premier</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Integer</a:t>
            </a:r>
            <a:r>
              <a:rPr lang="fr-BE" sz="1400" dirty="0">
                <a:solidFill>
                  <a:srgbClr val="507874"/>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second)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x </a:t>
            </a:r>
            <a:r>
              <a:rPr lang="fr-BE" sz="1400" dirty="0">
                <a:latin typeface="Consolas" panose="020B0609020204030204" pitchFamily="49" charset="0"/>
                <a:cs typeface="Consolas" panose="020B0609020204030204" pitchFamily="49" charset="0"/>
              </a:rPr>
              <a:t>= premier</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y </a:t>
            </a:r>
            <a:r>
              <a:rPr lang="fr-BE" sz="1400" dirty="0">
                <a:latin typeface="Consolas" panose="020B0609020204030204" pitchFamily="49" charset="0"/>
                <a:cs typeface="Consolas" panose="020B0609020204030204" pitchFamily="49" charset="0"/>
              </a:rPr>
              <a:t>= second</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effectLst/>
                <a:latin typeface="Consolas" panose="020B0609020204030204" pitchFamily="49" charset="0"/>
                <a:cs typeface="Consolas" panose="020B0609020204030204" pitchFamily="49" charset="0"/>
              </a:rPr>
              <a:t>public </a:t>
            </a:r>
            <a:r>
              <a:rPr lang="fr-BE" sz="1400" dirty="0" err="1">
                <a:solidFill>
                  <a:srgbClr val="CC7832"/>
                </a:solidFill>
                <a:effectLst/>
                <a:latin typeface="Consolas" panose="020B0609020204030204" pitchFamily="49" charset="0"/>
                <a:cs typeface="Consolas" panose="020B0609020204030204" pitchFamily="49" charset="0"/>
              </a:rPr>
              <a:t>void</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FFC66D"/>
                </a:solidFill>
                <a:effectLst/>
                <a:latin typeface="Consolas" panose="020B0609020204030204" pitchFamily="49" charset="0"/>
                <a:cs typeface="Consolas" panose="020B0609020204030204" pitchFamily="49" charset="0"/>
              </a:rPr>
              <a:t>affiche</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System.</a:t>
            </a:r>
            <a:r>
              <a:rPr lang="fr-BE" sz="1400" i="1" dirty="0" err="1">
                <a:solidFill>
                  <a:srgbClr val="9876AA"/>
                </a:solidFill>
                <a:effectLst/>
                <a:latin typeface="Consolas" panose="020B0609020204030204" pitchFamily="49" charset="0"/>
                <a:cs typeface="Consolas" panose="020B0609020204030204" pitchFamily="49" charset="0"/>
              </a:rPr>
              <a:t>out</a:t>
            </a:r>
            <a:r>
              <a:rPr lang="fr-BE" sz="1400" dirty="0" err="1">
                <a:latin typeface="Consolas" panose="020B0609020204030204" pitchFamily="49" charset="0"/>
                <a:cs typeface="Consolas" panose="020B0609020204030204" pitchFamily="49" charset="0"/>
              </a:rPr>
              <a:t>.println</a:t>
            </a:r>
            <a:r>
              <a:rPr lang="fr-BE" sz="1400" dirty="0">
                <a:latin typeface="Consolas" panose="020B0609020204030204" pitchFamily="49" charset="0"/>
                <a:cs typeface="Consolas" panose="020B0609020204030204" pitchFamily="49" charset="0"/>
              </a:rPr>
              <a:t>(</a:t>
            </a:r>
            <a:r>
              <a:rPr lang="fr-BE" sz="1400" dirty="0">
                <a:solidFill>
                  <a:srgbClr val="6A8759"/>
                </a:solidFill>
                <a:effectLst/>
                <a:latin typeface="Consolas" panose="020B0609020204030204" pitchFamily="49" charset="0"/>
                <a:cs typeface="Consolas" panose="020B0609020204030204" pitchFamily="49" charset="0"/>
              </a:rPr>
              <a:t>"1:" </a:t>
            </a:r>
            <a:r>
              <a:rPr lang="fr-BE" sz="1400" dirty="0">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x </a:t>
            </a:r>
            <a:r>
              <a:rPr lang="fr-BE" sz="1400" dirty="0">
                <a:latin typeface="Consolas" panose="020B0609020204030204" pitchFamily="49" charset="0"/>
                <a:cs typeface="Consolas" panose="020B0609020204030204" pitchFamily="49" charset="0"/>
              </a:rPr>
              <a:t>+ </a:t>
            </a:r>
            <a:r>
              <a:rPr lang="fr-BE" sz="1400" dirty="0">
                <a:solidFill>
                  <a:srgbClr val="6A8759"/>
                </a:solidFill>
                <a:effectLst/>
                <a:latin typeface="Consolas" panose="020B0609020204030204" pitchFamily="49" charset="0"/>
                <a:cs typeface="Consolas" panose="020B0609020204030204" pitchFamily="49" charset="0"/>
              </a:rPr>
              <a:t>", 2:" </a:t>
            </a:r>
            <a:r>
              <a:rPr lang="fr-BE" sz="1400" dirty="0">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y</a:t>
            </a:r>
            <a:r>
              <a:rPr lang="fr-BE" sz="1400" dirty="0">
                <a:latin typeface="Consolas" panose="020B0609020204030204" pitchFamily="49" charset="0"/>
                <a:cs typeface="Consolas" panose="020B0609020204030204" pitchFamily="49" charset="0"/>
              </a:rPr>
              <a:t>)</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effectLst/>
                <a:latin typeface="Consolas" panose="020B0609020204030204" pitchFamily="49" charset="0"/>
                <a:cs typeface="Consolas" panose="020B0609020204030204" pitchFamily="49" charset="0"/>
              </a:rPr>
              <a:t>public </a:t>
            </a:r>
            <a:r>
              <a:rPr lang="fr-BE" sz="1400" dirty="0">
                <a:latin typeface="Consolas" panose="020B0609020204030204" pitchFamily="49" charset="0"/>
                <a:cs typeface="Consolas" panose="020B0609020204030204" pitchFamily="49" charset="0"/>
              </a:rPr>
              <a:t>Integer</a:t>
            </a:r>
            <a:r>
              <a:rPr lang="fr-BE" sz="1400" dirty="0">
                <a:solidFill>
                  <a:srgbClr val="507874"/>
                </a:solidFill>
                <a:effectLst/>
                <a:latin typeface="Consolas" panose="020B0609020204030204" pitchFamily="49" charset="0"/>
                <a:cs typeface="Consolas" panose="020B0609020204030204" pitchFamily="49" charset="0"/>
              </a:rPr>
              <a:t> </a:t>
            </a:r>
            <a:r>
              <a:rPr lang="fr-BE" sz="1400" dirty="0" err="1">
                <a:solidFill>
                  <a:srgbClr val="FFC66D"/>
                </a:solidFill>
                <a:effectLst/>
                <a:latin typeface="Consolas" panose="020B0609020204030204" pitchFamily="49" charset="0"/>
                <a:cs typeface="Consolas" panose="020B0609020204030204" pitchFamily="49" charset="0"/>
              </a:rPr>
              <a:t>getPremier</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effectLst/>
                <a:latin typeface="Consolas" panose="020B0609020204030204" pitchFamily="49" charset="0"/>
                <a:cs typeface="Consolas" panose="020B0609020204030204" pitchFamily="49" charset="0"/>
              </a:rPr>
              <a:t>return </a:t>
            </a:r>
            <a:r>
              <a:rPr lang="fr-BE" sz="1400" dirty="0">
                <a:solidFill>
                  <a:srgbClr val="9876AA"/>
                </a:solidFill>
                <a:effectLst/>
                <a:latin typeface="Consolas" panose="020B0609020204030204" pitchFamily="49" charset="0"/>
                <a:cs typeface="Consolas" panose="020B0609020204030204" pitchFamily="49" charset="0"/>
              </a:rPr>
              <a:t>x</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a:t>
            </a:r>
            <a:endParaRPr lang="fr-FR" sz="1400" dirty="0">
              <a:latin typeface="Consolas" panose="020B0609020204030204" pitchFamily="49" charset="0"/>
              <a:cs typeface="Consolas" panose="020B0609020204030204" pitchFamily="49" charset="0"/>
            </a:endParaRPr>
          </a:p>
        </p:txBody>
      </p:sp>
      <p:sp>
        <p:nvSpPr>
          <p:cNvPr id="8" name="ZoneTexte 7">
            <a:extLst>
              <a:ext uri="{FF2B5EF4-FFF2-40B4-BE49-F238E27FC236}">
                <a16:creationId xmlns:a16="http://schemas.microsoft.com/office/drawing/2014/main" id="{1C0EE162-EE85-5903-1013-3AEEF5B7C92B}"/>
              </a:ext>
            </a:extLst>
          </p:cNvPr>
          <p:cNvSpPr txBox="1"/>
          <p:nvPr/>
        </p:nvSpPr>
        <p:spPr>
          <a:xfrm>
            <a:off x="6479002" y="2709853"/>
            <a:ext cx="5415488" cy="3323987"/>
          </a:xfrm>
          <a:prstGeom prst="rect">
            <a:avLst/>
          </a:prstGeom>
          <a:solidFill>
            <a:srgbClr val="2B2B2B"/>
          </a:solidFill>
        </p:spPr>
        <p:txBody>
          <a:bodyPr wrap="square">
            <a:spAutoFit/>
          </a:bodyPr>
          <a:lstStyle/>
          <a:p>
            <a:r>
              <a:rPr lang="fr-BE" sz="1400" dirty="0">
                <a:solidFill>
                  <a:srgbClr val="CC7832"/>
                </a:solidFill>
                <a:effectLst/>
                <a:latin typeface="Consolas" panose="020B0609020204030204" pitchFamily="49" charset="0"/>
                <a:cs typeface="Consolas" panose="020B0609020204030204" pitchFamily="49" charset="0"/>
              </a:rPr>
              <a:t>public class </a:t>
            </a:r>
            <a:r>
              <a:rPr lang="fr-BE" sz="1400" dirty="0" err="1">
                <a:latin typeface="Consolas" panose="020B0609020204030204" pitchFamily="49" charset="0"/>
                <a:cs typeface="Consolas" panose="020B0609020204030204" pitchFamily="49" charset="0"/>
              </a:rPr>
              <a:t>CoupleString</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err="1">
                <a:solidFill>
                  <a:srgbClr val="CC7832"/>
                </a:solidFill>
                <a:effectLst/>
                <a:latin typeface="Consolas" panose="020B0609020204030204" pitchFamily="49" charset="0"/>
                <a:cs typeface="Consolas" panose="020B0609020204030204" pitchFamily="49" charset="0"/>
              </a:rPr>
              <a:t>private</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String</a:t>
            </a:r>
            <a:r>
              <a:rPr lang="fr-BE" sz="1400" dirty="0">
                <a:solidFill>
                  <a:srgbClr val="507874"/>
                </a:solidFill>
                <a:effectLst/>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x</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y</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public </a:t>
            </a:r>
            <a:r>
              <a:rPr lang="fr-BE" sz="1400" dirty="0">
                <a:solidFill>
                  <a:srgbClr val="FFC66D"/>
                </a:solidFill>
                <a:effectLst/>
                <a:latin typeface="Consolas" panose="020B0609020204030204" pitchFamily="49" charset="0"/>
                <a:cs typeface="Consolas" panose="020B0609020204030204" pitchFamily="49" charset="0"/>
              </a:rPr>
              <a:t>Couple</a:t>
            </a:r>
            <a:r>
              <a:rPr lang="fr-BE" sz="1400" dirty="0">
                <a:latin typeface="Consolas" panose="020B0609020204030204" pitchFamily="49" charset="0"/>
                <a:cs typeface="Consolas" panose="020B0609020204030204" pitchFamily="49" charset="0"/>
              </a:rPr>
              <a:t>(String</a:t>
            </a:r>
            <a:r>
              <a:rPr lang="fr-BE" sz="1400" dirty="0">
                <a:solidFill>
                  <a:srgbClr val="507874"/>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premier</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String</a:t>
            </a:r>
            <a:r>
              <a:rPr lang="fr-BE" sz="1400" dirty="0">
                <a:solidFill>
                  <a:srgbClr val="507874"/>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second)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x </a:t>
            </a:r>
            <a:r>
              <a:rPr lang="fr-BE" sz="1400" dirty="0">
                <a:latin typeface="Consolas" panose="020B0609020204030204" pitchFamily="49" charset="0"/>
                <a:cs typeface="Consolas" panose="020B0609020204030204" pitchFamily="49" charset="0"/>
              </a:rPr>
              <a:t>= premier</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y </a:t>
            </a:r>
            <a:r>
              <a:rPr lang="fr-BE" sz="1400" dirty="0">
                <a:latin typeface="Consolas" panose="020B0609020204030204" pitchFamily="49" charset="0"/>
                <a:cs typeface="Consolas" panose="020B0609020204030204" pitchFamily="49" charset="0"/>
              </a:rPr>
              <a:t>= second</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effectLst/>
                <a:latin typeface="Consolas" panose="020B0609020204030204" pitchFamily="49" charset="0"/>
                <a:cs typeface="Consolas" panose="020B0609020204030204" pitchFamily="49" charset="0"/>
              </a:rPr>
              <a:t>public </a:t>
            </a:r>
            <a:r>
              <a:rPr lang="fr-BE" sz="1400" dirty="0" err="1">
                <a:solidFill>
                  <a:srgbClr val="CC7832"/>
                </a:solidFill>
                <a:effectLst/>
                <a:latin typeface="Consolas" panose="020B0609020204030204" pitchFamily="49" charset="0"/>
                <a:cs typeface="Consolas" panose="020B0609020204030204" pitchFamily="49" charset="0"/>
              </a:rPr>
              <a:t>void</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FFC66D"/>
                </a:solidFill>
                <a:effectLst/>
                <a:latin typeface="Consolas" panose="020B0609020204030204" pitchFamily="49" charset="0"/>
                <a:cs typeface="Consolas" panose="020B0609020204030204" pitchFamily="49" charset="0"/>
              </a:rPr>
              <a:t>affiche</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System.</a:t>
            </a:r>
            <a:r>
              <a:rPr lang="fr-BE" sz="1400" i="1" dirty="0" err="1">
                <a:solidFill>
                  <a:srgbClr val="9876AA"/>
                </a:solidFill>
                <a:effectLst/>
                <a:latin typeface="Consolas" panose="020B0609020204030204" pitchFamily="49" charset="0"/>
                <a:cs typeface="Consolas" panose="020B0609020204030204" pitchFamily="49" charset="0"/>
              </a:rPr>
              <a:t>out</a:t>
            </a:r>
            <a:r>
              <a:rPr lang="fr-BE" sz="1400" dirty="0" err="1">
                <a:latin typeface="Consolas" panose="020B0609020204030204" pitchFamily="49" charset="0"/>
                <a:cs typeface="Consolas" panose="020B0609020204030204" pitchFamily="49" charset="0"/>
              </a:rPr>
              <a:t>.println</a:t>
            </a:r>
            <a:r>
              <a:rPr lang="fr-BE" sz="1400" dirty="0">
                <a:latin typeface="Consolas" panose="020B0609020204030204" pitchFamily="49" charset="0"/>
                <a:cs typeface="Consolas" panose="020B0609020204030204" pitchFamily="49" charset="0"/>
              </a:rPr>
              <a:t>(</a:t>
            </a:r>
            <a:r>
              <a:rPr lang="fr-BE" sz="1400" dirty="0">
                <a:solidFill>
                  <a:srgbClr val="6A8759"/>
                </a:solidFill>
                <a:effectLst/>
                <a:latin typeface="Consolas" panose="020B0609020204030204" pitchFamily="49" charset="0"/>
                <a:cs typeface="Consolas" panose="020B0609020204030204" pitchFamily="49" charset="0"/>
              </a:rPr>
              <a:t>"1:" </a:t>
            </a:r>
            <a:r>
              <a:rPr lang="fr-BE" sz="1400" dirty="0">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x </a:t>
            </a:r>
            <a:r>
              <a:rPr lang="fr-BE" sz="1400" dirty="0">
                <a:latin typeface="Consolas" panose="020B0609020204030204" pitchFamily="49" charset="0"/>
                <a:cs typeface="Consolas" panose="020B0609020204030204" pitchFamily="49" charset="0"/>
              </a:rPr>
              <a:t>+ </a:t>
            </a:r>
            <a:r>
              <a:rPr lang="fr-BE" sz="1400" dirty="0">
                <a:solidFill>
                  <a:srgbClr val="6A8759"/>
                </a:solidFill>
                <a:effectLst/>
                <a:latin typeface="Consolas" panose="020B0609020204030204" pitchFamily="49" charset="0"/>
                <a:cs typeface="Consolas" panose="020B0609020204030204" pitchFamily="49" charset="0"/>
              </a:rPr>
              <a:t>", 2:" </a:t>
            </a:r>
            <a:r>
              <a:rPr lang="fr-BE" sz="1400" dirty="0">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y</a:t>
            </a:r>
            <a:r>
              <a:rPr lang="fr-BE" sz="1400" dirty="0">
                <a:latin typeface="Consolas" panose="020B0609020204030204" pitchFamily="49" charset="0"/>
                <a:cs typeface="Consolas" panose="020B0609020204030204" pitchFamily="49" charset="0"/>
              </a:rPr>
              <a:t>)</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effectLst/>
                <a:latin typeface="Consolas" panose="020B0609020204030204" pitchFamily="49" charset="0"/>
                <a:cs typeface="Consolas" panose="020B0609020204030204" pitchFamily="49" charset="0"/>
              </a:rPr>
              <a:t>public </a:t>
            </a:r>
            <a:r>
              <a:rPr lang="fr-BE" sz="1400" dirty="0">
                <a:latin typeface="Consolas" panose="020B0609020204030204" pitchFamily="49" charset="0"/>
                <a:cs typeface="Consolas" panose="020B0609020204030204" pitchFamily="49" charset="0"/>
              </a:rPr>
              <a:t>String</a:t>
            </a:r>
            <a:r>
              <a:rPr lang="fr-BE" sz="1400" dirty="0">
                <a:solidFill>
                  <a:srgbClr val="507874"/>
                </a:solidFill>
                <a:effectLst/>
                <a:latin typeface="Consolas" panose="020B0609020204030204" pitchFamily="49" charset="0"/>
                <a:cs typeface="Consolas" panose="020B0609020204030204" pitchFamily="49" charset="0"/>
              </a:rPr>
              <a:t> </a:t>
            </a:r>
            <a:r>
              <a:rPr lang="fr-BE" sz="1400" dirty="0" err="1">
                <a:solidFill>
                  <a:srgbClr val="FFC66D"/>
                </a:solidFill>
                <a:effectLst/>
                <a:latin typeface="Consolas" panose="020B0609020204030204" pitchFamily="49" charset="0"/>
                <a:cs typeface="Consolas" panose="020B0609020204030204" pitchFamily="49" charset="0"/>
              </a:rPr>
              <a:t>getPremier</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effectLst/>
                <a:latin typeface="Consolas" panose="020B0609020204030204" pitchFamily="49" charset="0"/>
                <a:cs typeface="Consolas" panose="020B0609020204030204" pitchFamily="49" charset="0"/>
              </a:rPr>
              <a:t>return </a:t>
            </a:r>
            <a:r>
              <a:rPr lang="fr-BE" sz="1400" dirty="0">
                <a:solidFill>
                  <a:srgbClr val="9876AA"/>
                </a:solidFill>
                <a:effectLst/>
                <a:latin typeface="Consolas" panose="020B0609020204030204" pitchFamily="49" charset="0"/>
                <a:cs typeface="Consolas" panose="020B0609020204030204" pitchFamily="49" charset="0"/>
              </a:rPr>
              <a:t>x</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a:t>
            </a:r>
            <a:endParaRPr lang="fr-FR" sz="1400" dirty="0">
              <a:latin typeface="Consolas" panose="020B0609020204030204" pitchFamily="49" charset="0"/>
              <a:cs typeface="Consolas" panose="020B0609020204030204" pitchFamily="49" charset="0"/>
            </a:endParaRPr>
          </a:p>
        </p:txBody>
      </p:sp>
      <p:sp>
        <p:nvSpPr>
          <p:cNvPr id="3" name="Espace réservé du numéro de diapositive 2">
            <a:extLst>
              <a:ext uri="{FF2B5EF4-FFF2-40B4-BE49-F238E27FC236}">
                <a16:creationId xmlns:a16="http://schemas.microsoft.com/office/drawing/2014/main" id="{0DFECAEC-4AAB-43EB-53A4-BAB4E7813B18}"/>
              </a:ext>
            </a:extLst>
          </p:cNvPr>
          <p:cNvSpPr>
            <a:spLocks noGrp="1"/>
          </p:cNvSpPr>
          <p:nvPr>
            <p:ph type="sldNum" sz="quarter" idx="4"/>
          </p:nvPr>
        </p:nvSpPr>
        <p:spPr/>
        <p:txBody>
          <a:bodyPr/>
          <a:lstStyle/>
          <a:p>
            <a:fld id="{33C783E2-4793-4F48-A271-51A73CC37D74}" type="slidenum">
              <a:rPr lang="fr-FR" smtClean="0"/>
              <a:t>13</a:t>
            </a:fld>
            <a:endParaRPr lang="fr-FR"/>
          </a:p>
        </p:txBody>
      </p:sp>
    </p:spTree>
    <p:extLst>
      <p:ext uri="{BB962C8B-B14F-4D97-AF65-F5344CB8AC3E}">
        <p14:creationId xmlns:p14="http://schemas.microsoft.com/office/powerpoint/2010/main" val="2540277198"/>
      </p:ext>
    </p:extLst>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Exemple de classe générique</a:t>
            </a:r>
          </a:p>
        </p:txBody>
      </p:sp>
      <p:sp>
        <p:nvSpPr>
          <p:cNvPr id="9" name="Espace réservé du contenu 8"/>
          <p:cNvSpPr>
            <a:spLocks noGrp="1"/>
          </p:cNvSpPr>
          <p:nvPr>
            <p:ph idx="1"/>
          </p:nvPr>
        </p:nvSpPr>
        <p:spPr/>
        <p:txBody>
          <a:bodyPr>
            <a:noAutofit/>
          </a:bodyPr>
          <a:lstStyle/>
          <a:p>
            <a:pPr marL="0" indent="0">
              <a:buNone/>
            </a:pPr>
            <a:r>
              <a:rPr lang="nl-BE" sz="2400" dirty="0"/>
              <a:t>On pourrait utiliser le type </a:t>
            </a:r>
            <a:r>
              <a:rPr lang="nl-BE" sz="2000" dirty="0">
                <a:solidFill>
                  <a:schemeClr val="accent4"/>
                </a:solidFill>
                <a:latin typeface="Consolas" panose="020B0609020204030204" pitchFamily="49" charset="0"/>
                <a:cs typeface="Consolas" panose="020B0609020204030204" pitchFamily="49" charset="0"/>
              </a:rPr>
              <a:t>Object</a:t>
            </a:r>
            <a:r>
              <a:rPr lang="nl-BE" sz="2400" dirty="0"/>
              <a:t>, puisque toute classe hérite de </a:t>
            </a:r>
            <a:r>
              <a:rPr lang="nl-BE" sz="2000" dirty="0">
                <a:solidFill>
                  <a:schemeClr val="accent4"/>
                </a:solidFill>
                <a:latin typeface="Consolas" panose="020B0609020204030204" pitchFamily="49" charset="0"/>
                <a:cs typeface="Consolas" panose="020B0609020204030204" pitchFamily="49" charset="0"/>
              </a:rPr>
              <a:t>Object</a:t>
            </a:r>
            <a:r>
              <a:rPr lang="nl-BE" sz="2400" dirty="0"/>
              <a:t>…</a:t>
            </a:r>
            <a:endParaRPr lang="fr-FR" sz="2400" dirty="0"/>
          </a:p>
        </p:txBody>
      </p:sp>
      <p:sp>
        <p:nvSpPr>
          <p:cNvPr id="7" name="ZoneTexte 6">
            <a:extLst>
              <a:ext uri="{FF2B5EF4-FFF2-40B4-BE49-F238E27FC236}">
                <a16:creationId xmlns:a16="http://schemas.microsoft.com/office/drawing/2014/main" id="{CC43F847-78DD-D19B-776E-B74F4293AC89}"/>
              </a:ext>
            </a:extLst>
          </p:cNvPr>
          <p:cNvSpPr txBox="1"/>
          <p:nvPr/>
        </p:nvSpPr>
        <p:spPr>
          <a:xfrm>
            <a:off x="1275522" y="2339300"/>
            <a:ext cx="5415488" cy="3323987"/>
          </a:xfrm>
          <a:prstGeom prst="rect">
            <a:avLst/>
          </a:prstGeom>
          <a:solidFill>
            <a:srgbClr val="2B2B2B"/>
          </a:solidFill>
        </p:spPr>
        <p:txBody>
          <a:bodyPr wrap="square">
            <a:spAutoFit/>
          </a:bodyPr>
          <a:lstStyle/>
          <a:p>
            <a:r>
              <a:rPr lang="fr-BE" sz="1400" dirty="0">
                <a:solidFill>
                  <a:srgbClr val="CC7832"/>
                </a:solidFill>
                <a:effectLst/>
                <a:latin typeface="Consolas" panose="020B0609020204030204" pitchFamily="49" charset="0"/>
                <a:cs typeface="Consolas" panose="020B0609020204030204" pitchFamily="49" charset="0"/>
              </a:rPr>
              <a:t>public class </a:t>
            </a:r>
            <a:r>
              <a:rPr lang="fr-BE" sz="1400" dirty="0">
                <a:latin typeface="Consolas" panose="020B0609020204030204" pitchFamily="49" charset="0"/>
                <a:cs typeface="Consolas" panose="020B0609020204030204" pitchFamily="49" charset="0"/>
              </a:rPr>
              <a:t>Couple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err="1">
                <a:solidFill>
                  <a:srgbClr val="CC7832"/>
                </a:solidFill>
                <a:effectLst/>
                <a:latin typeface="Consolas" panose="020B0609020204030204" pitchFamily="49" charset="0"/>
                <a:cs typeface="Consolas" panose="020B0609020204030204" pitchFamily="49" charset="0"/>
              </a:rPr>
              <a:t>private</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Object</a:t>
            </a:r>
            <a:r>
              <a:rPr lang="fr-BE" sz="1400" dirty="0">
                <a:solidFill>
                  <a:srgbClr val="507874"/>
                </a:solidFill>
                <a:effectLst/>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x</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y</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public </a:t>
            </a:r>
            <a:r>
              <a:rPr lang="fr-BE" sz="1400" dirty="0">
                <a:solidFill>
                  <a:srgbClr val="FFC66D"/>
                </a:solidFill>
                <a:effectLst/>
                <a:latin typeface="Consolas" panose="020B0609020204030204" pitchFamily="49" charset="0"/>
                <a:cs typeface="Consolas" panose="020B0609020204030204" pitchFamily="49" charset="0"/>
              </a:rPr>
              <a:t>Couple</a:t>
            </a:r>
            <a:r>
              <a:rPr lang="fr-BE" sz="1400" dirty="0">
                <a:latin typeface="Consolas" panose="020B0609020204030204" pitchFamily="49" charset="0"/>
                <a:cs typeface="Consolas" panose="020B0609020204030204" pitchFamily="49" charset="0"/>
              </a:rPr>
              <a:t>(Object</a:t>
            </a:r>
            <a:r>
              <a:rPr lang="fr-BE" sz="1400" dirty="0">
                <a:solidFill>
                  <a:srgbClr val="507874"/>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premier</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Object</a:t>
            </a:r>
            <a:r>
              <a:rPr lang="fr-BE" sz="1400" dirty="0">
                <a:solidFill>
                  <a:srgbClr val="507874"/>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second)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x </a:t>
            </a:r>
            <a:r>
              <a:rPr lang="fr-BE" sz="1400" dirty="0">
                <a:latin typeface="Consolas" panose="020B0609020204030204" pitchFamily="49" charset="0"/>
                <a:cs typeface="Consolas" panose="020B0609020204030204" pitchFamily="49" charset="0"/>
              </a:rPr>
              <a:t>= premier</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y </a:t>
            </a:r>
            <a:r>
              <a:rPr lang="fr-BE" sz="1400" dirty="0">
                <a:latin typeface="Consolas" panose="020B0609020204030204" pitchFamily="49" charset="0"/>
                <a:cs typeface="Consolas" panose="020B0609020204030204" pitchFamily="49" charset="0"/>
              </a:rPr>
              <a:t>= second</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effectLst/>
                <a:latin typeface="Consolas" panose="020B0609020204030204" pitchFamily="49" charset="0"/>
                <a:cs typeface="Consolas" panose="020B0609020204030204" pitchFamily="49" charset="0"/>
              </a:rPr>
              <a:t>public </a:t>
            </a:r>
            <a:r>
              <a:rPr lang="fr-BE" sz="1400" dirty="0" err="1">
                <a:solidFill>
                  <a:srgbClr val="CC7832"/>
                </a:solidFill>
                <a:effectLst/>
                <a:latin typeface="Consolas" panose="020B0609020204030204" pitchFamily="49" charset="0"/>
                <a:cs typeface="Consolas" panose="020B0609020204030204" pitchFamily="49" charset="0"/>
              </a:rPr>
              <a:t>void</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FFC66D"/>
                </a:solidFill>
                <a:effectLst/>
                <a:latin typeface="Consolas" panose="020B0609020204030204" pitchFamily="49" charset="0"/>
                <a:cs typeface="Consolas" panose="020B0609020204030204" pitchFamily="49" charset="0"/>
              </a:rPr>
              <a:t>affiche</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System.</a:t>
            </a:r>
            <a:r>
              <a:rPr lang="fr-BE" sz="1400" i="1" dirty="0" err="1">
                <a:solidFill>
                  <a:srgbClr val="9876AA"/>
                </a:solidFill>
                <a:effectLst/>
                <a:latin typeface="Consolas" panose="020B0609020204030204" pitchFamily="49" charset="0"/>
                <a:cs typeface="Consolas" panose="020B0609020204030204" pitchFamily="49" charset="0"/>
              </a:rPr>
              <a:t>out</a:t>
            </a:r>
            <a:r>
              <a:rPr lang="fr-BE" sz="1400" dirty="0" err="1">
                <a:latin typeface="Consolas" panose="020B0609020204030204" pitchFamily="49" charset="0"/>
                <a:cs typeface="Consolas" panose="020B0609020204030204" pitchFamily="49" charset="0"/>
              </a:rPr>
              <a:t>.println</a:t>
            </a:r>
            <a:r>
              <a:rPr lang="fr-BE" sz="1400" dirty="0">
                <a:latin typeface="Consolas" panose="020B0609020204030204" pitchFamily="49" charset="0"/>
                <a:cs typeface="Consolas" panose="020B0609020204030204" pitchFamily="49" charset="0"/>
              </a:rPr>
              <a:t>(</a:t>
            </a:r>
            <a:r>
              <a:rPr lang="fr-BE" sz="1400" dirty="0">
                <a:solidFill>
                  <a:srgbClr val="6A8759"/>
                </a:solidFill>
                <a:effectLst/>
                <a:latin typeface="Consolas" panose="020B0609020204030204" pitchFamily="49" charset="0"/>
                <a:cs typeface="Consolas" panose="020B0609020204030204" pitchFamily="49" charset="0"/>
              </a:rPr>
              <a:t>"1:" </a:t>
            </a:r>
            <a:r>
              <a:rPr lang="fr-BE" sz="1400" dirty="0">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x </a:t>
            </a:r>
            <a:r>
              <a:rPr lang="fr-BE" sz="1400" dirty="0">
                <a:latin typeface="Consolas" panose="020B0609020204030204" pitchFamily="49" charset="0"/>
                <a:cs typeface="Consolas" panose="020B0609020204030204" pitchFamily="49" charset="0"/>
              </a:rPr>
              <a:t>+ </a:t>
            </a:r>
            <a:r>
              <a:rPr lang="fr-BE" sz="1400" dirty="0">
                <a:solidFill>
                  <a:srgbClr val="6A8759"/>
                </a:solidFill>
                <a:effectLst/>
                <a:latin typeface="Consolas" panose="020B0609020204030204" pitchFamily="49" charset="0"/>
                <a:cs typeface="Consolas" panose="020B0609020204030204" pitchFamily="49" charset="0"/>
              </a:rPr>
              <a:t>", 2:" </a:t>
            </a:r>
            <a:r>
              <a:rPr lang="fr-BE" sz="1400" dirty="0">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y</a:t>
            </a:r>
            <a:r>
              <a:rPr lang="fr-BE" sz="1400" dirty="0">
                <a:latin typeface="Consolas" panose="020B0609020204030204" pitchFamily="49" charset="0"/>
                <a:cs typeface="Consolas" panose="020B0609020204030204" pitchFamily="49" charset="0"/>
              </a:rPr>
              <a:t>)</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effectLst/>
                <a:latin typeface="Consolas" panose="020B0609020204030204" pitchFamily="49" charset="0"/>
                <a:cs typeface="Consolas" panose="020B0609020204030204" pitchFamily="49" charset="0"/>
              </a:rPr>
              <a:t>public </a:t>
            </a:r>
            <a:r>
              <a:rPr lang="fr-BE" sz="1400" dirty="0">
                <a:latin typeface="Consolas" panose="020B0609020204030204" pitchFamily="49" charset="0"/>
                <a:cs typeface="Consolas" panose="020B0609020204030204" pitchFamily="49" charset="0"/>
              </a:rPr>
              <a:t>Object</a:t>
            </a:r>
            <a:r>
              <a:rPr lang="fr-BE" sz="1400" dirty="0">
                <a:solidFill>
                  <a:srgbClr val="507874"/>
                </a:solidFill>
                <a:effectLst/>
                <a:latin typeface="Consolas" panose="020B0609020204030204" pitchFamily="49" charset="0"/>
                <a:cs typeface="Consolas" panose="020B0609020204030204" pitchFamily="49" charset="0"/>
              </a:rPr>
              <a:t> </a:t>
            </a:r>
            <a:r>
              <a:rPr lang="fr-BE" sz="1400" dirty="0" err="1">
                <a:solidFill>
                  <a:srgbClr val="FFC66D"/>
                </a:solidFill>
                <a:effectLst/>
                <a:latin typeface="Consolas" panose="020B0609020204030204" pitchFamily="49" charset="0"/>
                <a:cs typeface="Consolas" panose="020B0609020204030204" pitchFamily="49" charset="0"/>
              </a:rPr>
              <a:t>getPremier</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effectLst/>
                <a:latin typeface="Consolas" panose="020B0609020204030204" pitchFamily="49" charset="0"/>
                <a:cs typeface="Consolas" panose="020B0609020204030204" pitchFamily="49" charset="0"/>
              </a:rPr>
              <a:t>return </a:t>
            </a:r>
            <a:r>
              <a:rPr lang="fr-BE" sz="1400" dirty="0">
                <a:solidFill>
                  <a:srgbClr val="9876AA"/>
                </a:solidFill>
                <a:effectLst/>
                <a:latin typeface="Consolas" panose="020B0609020204030204" pitchFamily="49" charset="0"/>
                <a:cs typeface="Consolas" panose="020B0609020204030204" pitchFamily="49" charset="0"/>
              </a:rPr>
              <a:t>x</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a:t>
            </a:r>
            <a:endParaRPr lang="fr-FR" sz="1400" dirty="0">
              <a:latin typeface="Consolas" panose="020B0609020204030204" pitchFamily="49" charset="0"/>
              <a:cs typeface="Consolas" panose="020B0609020204030204" pitchFamily="49" charset="0"/>
            </a:endParaRPr>
          </a:p>
        </p:txBody>
      </p:sp>
      <p:sp>
        <p:nvSpPr>
          <p:cNvPr id="3" name="ZoneTexte 2">
            <a:extLst>
              <a:ext uri="{FF2B5EF4-FFF2-40B4-BE49-F238E27FC236}">
                <a16:creationId xmlns:a16="http://schemas.microsoft.com/office/drawing/2014/main" id="{2EFF487D-1F42-168C-BDC6-8489EB1DFBD5}"/>
              </a:ext>
            </a:extLst>
          </p:cNvPr>
          <p:cNvSpPr txBox="1"/>
          <p:nvPr/>
        </p:nvSpPr>
        <p:spPr>
          <a:xfrm>
            <a:off x="7128331" y="2530682"/>
            <a:ext cx="4154569" cy="2102883"/>
          </a:xfrm>
          <a:prstGeom prst="rect">
            <a:avLst/>
          </a:prstGeom>
          <a:noFill/>
        </p:spPr>
        <p:txBody>
          <a:bodyPr wrap="square">
            <a:spAutoFit/>
          </a:bodyPr>
          <a:lstStyle/>
          <a:p>
            <a:pPr marL="0" indent="0">
              <a:lnSpc>
                <a:spcPct val="110000"/>
              </a:lnSpc>
              <a:buNone/>
            </a:pPr>
            <a:r>
              <a:rPr lang="fr-FR" sz="2400" dirty="0"/>
              <a:t>Mais cela oblige à </a:t>
            </a:r>
            <a:r>
              <a:rPr lang="fr-FR" sz="2400" dirty="0" err="1"/>
              <a:t>caster</a:t>
            </a:r>
            <a:r>
              <a:rPr lang="fr-FR" sz="2400" dirty="0"/>
              <a:t> le résultat de </a:t>
            </a:r>
            <a:r>
              <a:rPr lang="fr-FR" sz="2000" dirty="0" err="1">
                <a:solidFill>
                  <a:schemeClr val="accent4"/>
                </a:solidFill>
                <a:latin typeface="Consolas" panose="020B0609020204030204" pitchFamily="49" charset="0"/>
                <a:cs typeface="Consolas" panose="020B0609020204030204" pitchFamily="49" charset="0"/>
              </a:rPr>
              <a:t>getPremier</a:t>
            </a:r>
            <a:r>
              <a:rPr lang="fr-FR" sz="2000" dirty="0">
                <a:solidFill>
                  <a:schemeClr val="accent4"/>
                </a:solidFill>
                <a:latin typeface="Consolas" panose="020B0609020204030204" pitchFamily="49" charset="0"/>
                <a:cs typeface="Consolas" panose="020B0609020204030204" pitchFamily="49" charset="0"/>
              </a:rPr>
              <a:t>()</a:t>
            </a:r>
            <a:r>
              <a:rPr lang="fr-FR" sz="2400" dirty="0"/>
              <a:t>, avec un risque d’erreur si l’objet qu’on récupère n’est pas du bon type…</a:t>
            </a:r>
            <a:endParaRPr lang="fr-FR" sz="2400" dirty="0">
              <a:solidFill>
                <a:srgbClr val="A6082B"/>
              </a:solidFill>
              <a:latin typeface="Consolas"/>
              <a:cs typeface="Consolas"/>
            </a:endParaRPr>
          </a:p>
        </p:txBody>
      </p:sp>
      <p:sp>
        <p:nvSpPr>
          <p:cNvPr id="4" name="Espace réservé du numéro de diapositive 3">
            <a:extLst>
              <a:ext uri="{FF2B5EF4-FFF2-40B4-BE49-F238E27FC236}">
                <a16:creationId xmlns:a16="http://schemas.microsoft.com/office/drawing/2014/main" id="{CB2DB851-323B-85B8-F963-07DB9CD2B081}"/>
              </a:ext>
            </a:extLst>
          </p:cNvPr>
          <p:cNvSpPr>
            <a:spLocks noGrp="1"/>
          </p:cNvSpPr>
          <p:nvPr>
            <p:ph type="sldNum" sz="quarter" idx="4"/>
          </p:nvPr>
        </p:nvSpPr>
        <p:spPr/>
        <p:txBody>
          <a:bodyPr/>
          <a:lstStyle/>
          <a:p>
            <a:fld id="{33C783E2-4793-4F48-A271-51A73CC37D74}" type="slidenum">
              <a:rPr lang="fr-FR" smtClean="0"/>
              <a:t>14</a:t>
            </a:fld>
            <a:endParaRPr lang="fr-FR"/>
          </a:p>
        </p:txBody>
      </p:sp>
    </p:spTree>
    <p:extLst>
      <p:ext uri="{BB962C8B-B14F-4D97-AF65-F5344CB8AC3E}">
        <p14:creationId xmlns:p14="http://schemas.microsoft.com/office/powerpoint/2010/main" val="2555260273"/>
      </p:ext>
    </p:extLst>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Exemple avec une classe générique</a:t>
            </a:r>
          </a:p>
        </p:txBody>
      </p:sp>
      <p:sp>
        <p:nvSpPr>
          <p:cNvPr id="9" name="Espace réservé du contenu 8"/>
          <p:cNvSpPr>
            <a:spLocks noGrp="1"/>
          </p:cNvSpPr>
          <p:nvPr>
            <p:ph idx="1"/>
          </p:nvPr>
        </p:nvSpPr>
        <p:spPr>
          <a:xfrm>
            <a:off x="838200" y="5354425"/>
            <a:ext cx="10515600" cy="822537"/>
          </a:xfrm>
        </p:spPr>
        <p:txBody>
          <a:bodyPr>
            <a:noAutofit/>
          </a:bodyPr>
          <a:lstStyle/>
          <a:p>
            <a:pPr marL="0" indent="0">
              <a:buNone/>
            </a:pPr>
            <a:r>
              <a:rPr lang="fr-FR" sz="2400" dirty="0"/>
              <a:t>Dans le code, </a:t>
            </a:r>
            <a:r>
              <a:rPr lang="fr-BE" sz="2400" u="sng" dirty="0" err="1">
                <a:solidFill>
                  <a:schemeClr val="accent4"/>
                </a:solidFill>
                <a:effectLst/>
                <a:latin typeface="Consolas" panose="020B0609020204030204" pitchFamily="49" charset="0"/>
                <a:cs typeface="Consolas" panose="020B0609020204030204" pitchFamily="49" charset="0"/>
              </a:rPr>
              <a:t>T</a:t>
            </a:r>
            <a:r>
              <a:rPr lang="fr-FR" sz="2400" dirty="0"/>
              <a:t> représente un type quelconque, qui est utilisé à différents endroits de la classe, là où un type précis pourrait l’être.</a:t>
            </a:r>
          </a:p>
        </p:txBody>
      </p:sp>
      <p:sp>
        <p:nvSpPr>
          <p:cNvPr id="6" name="ZoneTexte 5">
            <a:extLst>
              <a:ext uri="{FF2B5EF4-FFF2-40B4-BE49-F238E27FC236}">
                <a16:creationId xmlns:a16="http://schemas.microsoft.com/office/drawing/2014/main" id="{84060AC3-F641-7846-4859-37A834D66F27}"/>
              </a:ext>
            </a:extLst>
          </p:cNvPr>
          <p:cNvSpPr txBox="1"/>
          <p:nvPr/>
        </p:nvSpPr>
        <p:spPr>
          <a:xfrm>
            <a:off x="2900913" y="1413063"/>
            <a:ext cx="7280035" cy="3785652"/>
          </a:xfrm>
          <a:prstGeom prst="rect">
            <a:avLst/>
          </a:prstGeom>
          <a:solidFill>
            <a:srgbClr val="2B2B2B"/>
          </a:solidFill>
        </p:spPr>
        <p:txBody>
          <a:bodyPr wrap="square">
            <a:spAutoFit/>
          </a:bodyPr>
          <a:lstStyle/>
          <a:p>
            <a:r>
              <a:rPr lang="fr-BE" sz="1600" dirty="0">
                <a:solidFill>
                  <a:srgbClr val="CC7832"/>
                </a:solidFill>
                <a:effectLst/>
                <a:latin typeface="Consolas" panose="020B0609020204030204" pitchFamily="49" charset="0"/>
                <a:cs typeface="Consolas" panose="020B0609020204030204" pitchFamily="49" charset="0"/>
              </a:rPr>
              <a:t>public class </a:t>
            </a:r>
            <a:r>
              <a:rPr lang="fr-BE" sz="1600" dirty="0">
                <a:latin typeface="Consolas" panose="020B0609020204030204" pitchFamily="49" charset="0"/>
                <a:cs typeface="Consolas" panose="020B0609020204030204" pitchFamily="49" charset="0"/>
              </a:rPr>
              <a:t>Couple&lt;</a:t>
            </a:r>
            <a:r>
              <a:rPr lang="fr-BE" sz="1600" dirty="0" err="1">
                <a:solidFill>
                  <a:srgbClr val="507874"/>
                </a:solidFill>
                <a:effectLst/>
                <a:latin typeface="Consolas" panose="020B0609020204030204" pitchFamily="49" charset="0"/>
                <a:cs typeface="Consolas" panose="020B0609020204030204" pitchFamily="49" charset="0"/>
              </a:rPr>
              <a:t>T</a:t>
            </a:r>
            <a:r>
              <a:rPr lang="fr-BE" sz="1600" dirty="0">
                <a:latin typeface="Consolas" panose="020B0609020204030204" pitchFamily="49" charset="0"/>
                <a:cs typeface="Consolas" panose="020B0609020204030204" pitchFamily="49" charset="0"/>
              </a:rPr>
              <a:t>&gt; {</a:t>
            </a: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    </a:t>
            </a:r>
            <a:r>
              <a:rPr lang="fr-BE" sz="1600" dirty="0" err="1">
                <a:solidFill>
                  <a:srgbClr val="CC7832"/>
                </a:solidFill>
                <a:effectLst/>
                <a:latin typeface="Consolas" panose="020B0609020204030204" pitchFamily="49" charset="0"/>
                <a:cs typeface="Consolas" panose="020B0609020204030204" pitchFamily="49" charset="0"/>
              </a:rPr>
              <a:t>private</a:t>
            </a:r>
            <a:r>
              <a:rPr lang="fr-BE" sz="1600" dirty="0">
                <a:solidFill>
                  <a:srgbClr val="CC7832"/>
                </a:solidFill>
                <a:effectLst/>
                <a:latin typeface="Consolas" panose="020B0609020204030204" pitchFamily="49" charset="0"/>
                <a:cs typeface="Consolas" panose="020B0609020204030204" pitchFamily="49" charset="0"/>
              </a:rPr>
              <a:t> </a:t>
            </a:r>
            <a:r>
              <a:rPr lang="fr-BE" sz="1600" dirty="0" err="1">
                <a:solidFill>
                  <a:srgbClr val="507874"/>
                </a:solidFill>
                <a:effectLst/>
                <a:latin typeface="Consolas" panose="020B0609020204030204" pitchFamily="49" charset="0"/>
                <a:cs typeface="Consolas" panose="020B0609020204030204" pitchFamily="49" charset="0"/>
              </a:rPr>
              <a:t>T</a:t>
            </a:r>
            <a:r>
              <a:rPr lang="fr-BE" sz="1600" dirty="0">
                <a:solidFill>
                  <a:srgbClr val="507874"/>
                </a:solidFill>
                <a:effectLst/>
                <a:latin typeface="Consolas" panose="020B0609020204030204" pitchFamily="49" charset="0"/>
                <a:cs typeface="Consolas" panose="020B0609020204030204" pitchFamily="49" charset="0"/>
              </a:rPr>
              <a:t> </a:t>
            </a:r>
            <a:r>
              <a:rPr lang="fr-BE" sz="1600" dirty="0">
                <a:solidFill>
                  <a:srgbClr val="9876AA"/>
                </a:solidFill>
                <a:effectLst/>
                <a:latin typeface="Consolas" panose="020B0609020204030204" pitchFamily="49" charset="0"/>
                <a:cs typeface="Consolas" panose="020B0609020204030204" pitchFamily="49" charset="0"/>
              </a:rPr>
              <a:t>x</a:t>
            </a:r>
            <a:r>
              <a:rPr lang="fr-BE" sz="1600" dirty="0">
                <a:solidFill>
                  <a:srgbClr val="CC7832"/>
                </a:solidFill>
                <a:effectLst/>
                <a:latin typeface="Consolas" panose="020B0609020204030204" pitchFamily="49" charset="0"/>
                <a:cs typeface="Consolas" panose="020B0609020204030204" pitchFamily="49" charset="0"/>
              </a:rPr>
              <a:t>, </a:t>
            </a:r>
            <a:r>
              <a:rPr lang="fr-BE" sz="1600" dirty="0">
                <a:solidFill>
                  <a:srgbClr val="9876AA"/>
                </a:solidFill>
                <a:effectLst/>
                <a:latin typeface="Consolas" panose="020B0609020204030204" pitchFamily="49" charset="0"/>
                <a:cs typeface="Consolas" panose="020B0609020204030204" pitchFamily="49" charset="0"/>
              </a:rPr>
              <a:t>y</a:t>
            </a:r>
            <a:r>
              <a:rPr lang="fr-BE" sz="1600" dirty="0">
                <a:solidFill>
                  <a:srgbClr val="CC7832"/>
                </a:solidFill>
                <a:effectLst/>
                <a:latin typeface="Consolas" panose="020B0609020204030204" pitchFamily="49" charset="0"/>
                <a:cs typeface="Consolas" panose="020B0609020204030204" pitchFamily="49" charset="0"/>
              </a:rPr>
              <a:t>;</a:t>
            </a:r>
            <a:br>
              <a:rPr lang="fr-BE" sz="1600" dirty="0">
                <a:solidFill>
                  <a:srgbClr val="CC7832"/>
                </a:solidFill>
                <a:effectLst/>
                <a:latin typeface="Consolas" panose="020B0609020204030204" pitchFamily="49" charset="0"/>
                <a:cs typeface="Consolas" panose="020B0609020204030204" pitchFamily="49" charset="0"/>
              </a:rPr>
            </a:br>
            <a:br>
              <a:rPr lang="fr-BE" sz="1600" dirty="0">
                <a:solidFill>
                  <a:srgbClr val="CC7832"/>
                </a:solidFill>
                <a:effectLst/>
                <a:latin typeface="Consolas" panose="020B0609020204030204" pitchFamily="49" charset="0"/>
                <a:cs typeface="Consolas" panose="020B0609020204030204" pitchFamily="49" charset="0"/>
              </a:rPr>
            </a:br>
            <a:r>
              <a:rPr lang="fr-BE" sz="1600" dirty="0">
                <a:solidFill>
                  <a:srgbClr val="CC7832"/>
                </a:solidFill>
                <a:effectLst/>
                <a:latin typeface="Consolas" panose="020B0609020204030204" pitchFamily="49" charset="0"/>
                <a:cs typeface="Consolas" panose="020B0609020204030204" pitchFamily="49" charset="0"/>
              </a:rPr>
              <a:t>    public </a:t>
            </a:r>
            <a:r>
              <a:rPr lang="fr-BE" sz="1600" dirty="0">
                <a:solidFill>
                  <a:srgbClr val="FFC66D"/>
                </a:solidFill>
                <a:effectLst/>
                <a:latin typeface="Consolas" panose="020B0609020204030204" pitchFamily="49" charset="0"/>
                <a:cs typeface="Consolas" panose="020B0609020204030204" pitchFamily="49" charset="0"/>
              </a:rPr>
              <a:t>Couple</a:t>
            </a:r>
            <a:r>
              <a:rPr lang="fr-BE" sz="1600" dirty="0">
                <a:latin typeface="Consolas" panose="020B0609020204030204" pitchFamily="49" charset="0"/>
                <a:cs typeface="Consolas" panose="020B0609020204030204" pitchFamily="49" charset="0"/>
              </a:rPr>
              <a:t>(</a:t>
            </a:r>
            <a:r>
              <a:rPr lang="fr-BE" sz="1600" dirty="0" err="1">
                <a:solidFill>
                  <a:srgbClr val="507874"/>
                </a:solidFill>
                <a:effectLst/>
                <a:latin typeface="Consolas" panose="020B0609020204030204" pitchFamily="49" charset="0"/>
                <a:cs typeface="Consolas" panose="020B0609020204030204" pitchFamily="49" charset="0"/>
              </a:rPr>
              <a:t>T</a:t>
            </a:r>
            <a:r>
              <a:rPr lang="fr-BE" sz="1600" dirty="0">
                <a:solidFill>
                  <a:srgbClr val="507874"/>
                </a:solidFill>
                <a:effectLst/>
                <a:latin typeface="Consolas" panose="020B0609020204030204" pitchFamily="49" charset="0"/>
                <a:cs typeface="Consolas" panose="020B0609020204030204" pitchFamily="49" charset="0"/>
              </a:rPr>
              <a:t> </a:t>
            </a:r>
            <a:r>
              <a:rPr lang="fr-BE" sz="1600" dirty="0">
                <a:latin typeface="Consolas" panose="020B0609020204030204" pitchFamily="49" charset="0"/>
                <a:cs typeface="Consolas" panose="020B0609020204030204" pitchFamily="49" charset="0"/>
              </a:rPr>
              <a:t>premier</a:t>
            </a:r>
            <a:r>
              <a:rPr lang="fr-BE" sz="1600" dirty="0">
                <a:solidFill>
                  <a:srgbClr val="CC7832"/>
                </a:solidFill>
                <a:effectLst/>
                <a:latin typeface="Consolas" panose="020B0609020204030204" pitchFamily="49" charset="0"/>
                <a:cs typeface="Consolas" panose="020B0609020204030204" pitchFamily="49" charset="0"/>
              </a:rPr>
              <a:t>, </a:t>
            </a:r>
            <a:r>
              <a:rPr lang="fr-BE" sz="1600" dirty="0" err="1">
                <a:solidFill>
                  <a:srgbClr val="507874"/>
                </a:solidFill>
                <a:effectLst/>
                <a:latin typeface="Consolas" panose="020B0609020204030204" pitchFamily="49" charset="0"/>
                <a:cs typeface="Consolas" panose="020B0609020204030204" pitchFamily="49" charset="0"/>
              </a:rPr>
              <a:t>T</a:t>
            </a:r>
            <a:r>
              <a:rPr lang="fr-BE" sz="1600" dirty="0">
                <a:solidFill>
                  <a:srgbClr val="507874"/>
                </a:solidFill>
                <a:effectLst/>
                <a:latin typeface="Consolas" panose="020B0609020204030204" pitchFamily="49" charset="0"/>
                <a:cs typeface="Consolas" panose="020B0609020204030204" pitchFamily="49" charset="0"/>
              </a:rPr>
              <a:t> </a:t>
            </a:r>
            <a:r>
              <a:rPr lang="fr-BE" sz="1600" dirty="0">
                <a:latin typeface="Consolas" panose="020B0609020204030204" pitchFamily="49" charset="0"/>
                <a:cs typeface="Consolas" panose="020B0609020204030204" pitchFamily="49" charset="0"/>
              </a:rPr>
              <a:t>second) {</a:t>
            </a: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        </a:t>
            </a:r>
            <a:r>
              <a:rPr lang="fr-BE" sz="1600" dirty="0">
                <a:solidFill>
                  <a:srgbClr val="9876AA"/>
                </a:solidFill>
                <a:effectLst/>
                <a:latin typeface="Consolas" panose="020B0609020204030204" pitchFamily="49" charset="0"/>
                <a:cs typeface="Consolas" panose="020B0609020204030204" pitchFamily="49" charset="0"/>
              </a:rPr>
              <a:t>x </a:t>
            </a:r>
            <a:r>
              <a:rPr lang="fr-BE" sz="1600" dirty="0">
                <a:latin typeface="Consolas" panose="020B0609020204030204" pitchFamily="49" charset="0"/>
                <a:cs typeface="Consolas" panose="020B0609020204030204" pitchFamily="49" charset="0"/>
              </a:rPr>
              <a:t>= premier</a:t>
            </a:r>
            <a:r>
              <a:rPr lang="fr-BE" sz="1600" dirty="0">
                <a:solidFill>
                  <a:srgbClr val="CC7832"/>
                </a:solidFill>
                <a:effectLst/>
                <a:latin typeface="Consolas" panose="020B0609020204030204" pitchFamily="49" charset="0"/>
                <a:cs typeface="Consolas" panose="020B0609020204030204" pitchFamily="49" charset="0"/>
              </a:rPr>
              <a:t>; </a:t>
            </a:r>
            <a:r>
              <a:rPr lang="fr-BE" sz="1600" dirty="0">
                <a:solidFill>
                  <a:srgbClr val="9876AA"/>
                </a:solidFill>
                <a:effectLst/>
                <a:latin typeface="Consolas" panose="020B0609020204030204" pitchFamily="49" charset="0"/>
                <a:cs typeface="Consolas" panose="020B0609020204030204" pitchFamily="49" charset="0"/>
              </a:rPr>
              <a:t>y </a:t>
            </a:r>
            <a:r>
              <a:rPr lang="fr-BE" sz="1600" dirty="0">
                <a:latin typeface="Consolas" panose="020B0609020204030204" pitchFamily="49" charset="0"/>
                <a:cs typeface="Consolas" panose="020B0609020204030204" pitchFamily="49" charset="0"/>
              </a:rPr>
              <a:t>= second</a:t>
            </a:r>
            <a:r>
              <a:rPr lang="fr-BE" sz="1600" dirty="0">
                <a:solidFill>
                  <a:srgbClr val="CC7832"/>
                </a:solidFill>
                <a:effectLst/>
                <a:latin typeface="Consolas" panose="020B0609020204030204" pitchFamily="49" charset="0"/>
                <a:cs typeface="Consolas" panose="020B0609020204030204" pitchFamily="49" charset="0"/>
              </a:rPr>
              <a:t>;</a:t>
            </a:r>
            <a:br>
              <a:rPr lang="fr-BE" sz="1600" dirty="0">
                <a:solidFill>
                  <a:srgbClr val="CC7832"/>
                </a:solidFill>
                <a:effectLst/>
                <a:latin typeface="Consolas" panose="020B0609020204030204" pitchFamily="49" charset="0"/>
                <a:cs typeface="Consolas" panose="020B0609020204030204" pitchFamily="49" charset="0"/>
              </a:rPr>
            </a:br>
            <a:r>
              <a:rPr lang="fr-BE" sz="1600" dirty="0">
                <a:solidFill>
                  <a:srgbClr val="CC7832"/>
                </a:solidFill>
                <a:effectLst/>
                <a:latin typeface="Consolas" panose="020B0609020204030204" pitchFamily="49" charset="0"/>
                <a:cs typeface="Consolas" panose="020B0609020204030204" pitchFamily="49" charset="0"/>
              </a:rPr>
              <a:t>    </a:t>
            </a:r>
            <a:r>
              <a:rPr lang="fr-BE" sz="1600" dirty="0">
                <a:latin typeface="Consolas" panose="020B0609020204030204" pitchFamily="49" charset="0"/>
                <a:cs typeface="Consolas" panose="020B0609020204030204" pitchFamily="49" charset="0"/>
              </a:rPr>
              <a:t>}</a:t>
            </a:r>
            <a:br>
              <a:rPr lang="fr-BE" sz="1600" dirty="0">
                <a:latin typeface="Consolas" panose="020B0609020204030204" pitchFamily="49" charset="0"/>
                <a:cs typeface="Consolas" panose="020B0609020204030204" pitchFamily="49" charset="0"/>
              </a:rPr>
            </a:b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    </a:t>
            </a:r>
            <a:r>
              <a:rPr lang="fr-BE" sz="1600" dirty="0">
                <a:solidFill>
                  <a:srgbClr val="CC7832"/>
                </a:solidFill>
                <a:effectLst/>
                <a:latin typeface="Consolas" panose="020B0609020204030204" pitchFamily="49" charset="0"/>
                <a:cs typeface="Consolas" panose="020B0609020204030204" pitchFamily="49" charset="0"/>
              </a:rPr>
              <a:t>public </a:t>
            </a:r>
            <a:r>
              <a:rPr lang="fr-BE" sz="1600" dirty="0" err="1">
                <a:solidFill>
                  <a:srgbClr val="CC7832"/>
                </a:solidFill>
                <a:effectLst/>
                <a:latin typeface="Consolas" panose="020B0609020204030204" pitchFamily="49" charset="0"/>
                <a:cs typeface="Consolas" panose="020B0609020204030204" pitchFamily="49" charset="0"/>
              </a:rPr>
              <a:t>void</a:t>
            </a:r>
            <a:r>
              <a:rPr lang="fr-BE" sz="1600" dirty="0">
                <a:solidFill>
                  <a:srgbClr val="CC7832"/>
                </a:solidFill>
                <a:effectLst/>
                <a:latin typeface="Consolas" panose="020B0609020204030204" pitchFamily="49" charset="0"/>
                <a:cs typeface="Consolas" panose="020B0609020204030204" pitchFamily="49" charset="0"/>
              </a:rPr>
              <a:t> </a:t>
            </a:r>
            <a:r>
              <a:rPr lang="fr-BE" sz="1600" dirty="0">
                <a:solidFill>
                  <a:srgbClr val="FFC66D"/>
                </a:solidFill>
                <a:effectLst/>
                <a:latin typeface="Consolas" panose="020B0609020204030204" pitchFamily="49" charset="0"/>
                <a:cs typeface="Consolas" panose="020B0609020204030204" pitchFamily="49" charset="0"/>
              </a:rPr>
              <a:t>affiche</a:t>
            </a:r>
            <a:r>
              <a:rPr lang="fr-BE" sz="1600" dirty="0">
                <a:latin typeface="Consolas" panose="020B0609020204030204" pitchFamily="49" charset="0"/>
                <a:cs typeface="Consolas" panose="020B0609020204030204" pitchFamily="49" charset="0"/>
              </a:rPr>
              <a:t>() {</a:t>
            </a: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        </a:t>
            </a:r>
            <a:r>
              <a:rPr lang="fr-BE" sz="1600" dirty="0" err="1">
                <a:latin typeface="Consolas" panose="020B0609020204030204" pitchFamily="49" charset="0"/>
                <a:cs typeface="Consolas" panose="020B0609020204030204" pitchFamily="49" charset="0"/>
              </a:rPr>
              <a:t>System.</a:t>
            </a:r>
            <a:r>
              <a:rPr lang="fr-BE" sz="1600" i="1" dirty="0" err="1">
                <a:solidFill>
                  <a:srgbClr val="9876AA"/>
                </a:solidFill>
                <a:effectLst/>
                <a:latin typeface="Consolas" panose="020B0609020204030204" pitchFamily="49" charset="0"/>
                <a:cs typeface="Consolas" panose="020B0609020204030204" pitchFamily="49" charset="0"/>
              </a:rPr>
              <a:t>out</a:t>
            </a:r>
            <a:r>
              <a:rPr lang="fr-BE" sz="1600" dirty="0" err="1">
                <a:latin typeface="Consolas" panose="020B0609020204030204" pitchFamily="49" charset="0"/>
                <a:cs typeface="Consolas" panose="020B0609020204030204" pitchFamily="49" charset="0"/>
              </a:rPr>
              <a:t>.println</a:t>
            </a:r>
            <a:r>
              <a:rPr lang="fr-BE" sz="1600" dirty="0">
                <a:latin typeface="Consolas" panose="020B0609020204030204" pitchFamily="49" charset="0"/>
                <a:cs typeface="Consolas" panose="020B0609020204030204" pitchFamily="49" charset="0"/>
              </a:rPr>
              <a:t>(</a:t>
            </a:r>
            <a:r>
              <a:rPr lang="fr-BE" sz="1600" dirty="0">
                <a:solidFill>
                  <a:srgbClr val="6A8759"/>
                </a:solidFill>
                <a:effectLst/>
                <a:latin typeface="Consolas" panose="020B0609020204030204" pitchFamily="49" charset="0"/>
                <a:cs typeface="Consolas" panose="020B0609020204030204" pitchFamily="49" charset="0"/>
              </a:rPr>
              <a:t>"premier:" </a:t>
            </a:r>
            <a:r>
              <a:rPr lang="fr-BE" sz="1600" dirty="0">
                <a:latin typeface="Consolas" panose="020B0609020204030204" pitchFamily="49" charset="0"/>
                <a:cs typeface="Consolas" panose="020B0609020204030204" pitchFamily="49" charset="0"/>
              </a:rPr>
              <a:t>+ </a:t>
            </a:r>
            <a:r>
              <a:rPr lang="fr-BE" sz="1600" dirty="0">
                <a:solidFill>
                  <a:srgbClr val="9876AA"/>
                </a:solidFill>
                <a:effectLst/>
                <a:latin typeface="Consolas" panose="020B0609020204030204" pitchFamily="49" charset="0"/>
                <a:cs typeface="Consolas" panose="020B0609020204030204" pitchFamily="49" charset="0"/>
              </a:rPr>
              <a:t>x </a:t>
            </a:r>
            <a:r>
              <a:rPr lang="fr-BE" sz="1600" dirty="0">
                <a:latin typeface="Consolas" panose="020B0609020204030204" pitchFamily="49" charset="0"/>
                <a:cs typeface="Consolas" panose="020B0609020204030204" pitchFamily="49" charset="0"/>
              </a:rPr>
              <a:t>+ </a:t>
            </a:r>
            <a:r>
              <a:rPr lang="fr-BE" sz="1600" dirty="0">
                <a:solidFill>
                  <a:srgbClr val="6A8759"/>
                </a:solidFill>
                <a:effectLst/>
                <a:latin typeface="Consolas" panose="020B0609020204030204" pitchFamily="49" charset="0"/>
                <a:cs typeface="Consolas" panose="020B0609020204030204" pitchFamily="49" charset="0"/>
              </a:rPr>
              <a:t>", second:" </a:t>
            </a:r>
            <a:r>
              <a:rPr lang="fr-BE" sz="1600" dirty="0">
                <a:latin typeface="Consolas" panose="020B0609020204030204" pitchFamily="49" charset="0"/>
                <a:cs typeface="Consolas" panose="020B0609020204030204" pitchFamily="49" charset="0"/>
              </a:rPr>
              <a:t>+ </a:t>
            </a:r>
            <a:r>
              <a:rPr lang="fr-BE" sz="1600" dirty="0">
                <a:solidFill>
                  <a:srgbClr val="9876AA"/>
                </a:solidFill>
                <a:effectLst/>
                <a:latin typeface="Consolas" panose="020B0609020204030204" pitchFamily="49" charset="0"/>
                <a:cs typeface="Consolas" panose="020B0609020204030204" pitchFamily="49" charset="0"/>
              </a:rPr>
              <a:t>y</a:t>
            </a:r>
            <a:r>
              <a:rPr lang="fr-BE" sz="1600" dirty="0">
                <a:latin typeface="Consolas" panose="020B0609020204030204" pitchFamily="49" charset="0"/>
                <a:cs typeface="Consolas" panose="020B0609020204030204" pitchFamily="49" charset="0"/>
              </a:rPr>
              <a:t>)</a:t>
            </a:r>
            <a:r>
              <a:rPr lang="fr-BE" sz="1600" dirty="0">
                <a:solidFill>
                  <a:srgbClr val="CC7832"/>
                </a:solidFill>
                <a:effectLst/>
                <a:latin typeface="Consolas" panose="020B0609020204030204" pitchFamily="49" charset="0"/>
                <a:cs typeface="Consolas" panose="020B0609020204030204" pitchFamily="49" charset="0"/>
              </a:rPr>
              <a:t>;</a:t>
            </a:r>
            <a:br>
              <a:rPr lang="fr-BE" sz="1600" dirty="0">
                <a:solidFill>
                  <a:srgbClr val="CC7832"/>
                </a:solidFill>
                <a:effectLst/>
                <a:latin typeface="Consolas" panose="020B0609020204030204" pitchFamily="49" charset="0"/>
                <a:cs typeface="Consolas" panose="020B0609020204030204" pitchFamily="49" charset="0"/>
              </a:rPr>
            </a:br>
            <a:r>
              <a:rPr lang="fr-BE" sz="1600" dirty="0">
                <a:solidFill>
                  <a:srgbClr val="CC7832"/>
                </a:solidFill>
                <a:effectLst/>
                <a:latin typeface="Consolas" panose="020B0609020204030204" pitchFamily="49" charset="0"/>
                <a:cs typeface="Consolas" panose="020B0609020204030204" pitchFamily="49" charset="0"/>
              </a:rPr>
              <a:t>    </a:t>
            </a:r>
            <a:r>
              <a:rPr lang="fr-BE" sz="1600" dirty="0">
                <a:latin typeface="Consolas" panose="020B0609020204030204" pitchFamily="49" charset="0"/>
                <a:cs typeface="Consolas" panose="020B0609020204030204" pitchFamily="49" charset="0"/>
              </a:rPr>
              <a:t>}</a:t>
            </a:r>
            <a:br>
              <a:rPr lang="fr-BE" sz="1600" dirty="0">
                <a:latin typeface="Consolas" panose="020B0609020204030204" pitchFamily="49" charset="0"/>
                <a:cs typeface="Consolas" panose="020B0609020204030204" pitchFamily="49" charset="0"/>
              </a:rPr>
            </a:b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    </a:t>
            </a:r>
            <a:r>
              <a:rPr lang="fr-BE" sz="1600" dirty="0">
                <a:solidFill>
                  <a:srgbClr val="CC7832"/>
                </a:solidFill>
                <a:effectLst/>
                <a:latin typeface="Consolas" panose="020B0609020204030204" pitchFamily="49" charset="0"/>
                <a:cs typeface="Consolas" panose="020B0609020204030204" pitchFamily="49" charset="0"/>
              </a:rPr>
              <a:t>public </a:t>
            </a:r>
            <a:r>
              <a:rPr lang="fr-BE" sz="1600" dirty="0" err="1">
                <a:solidFill>
                  <a:srgbClr val="507874"/>
                </a:solidFill>
                <a:effectLst/>
                <a:latin typeface="Consolas" panose="020B0609020204030204" pitchFamily="49" charset="0"/>
                <a:cs typeface="Consolas" panose="020B0609020204030204" pitchFamily="49" charset="0"/>
              </a:rPr>
              <a:t>T</a:t>
            </a:r>
            <a:r>
              <a:rPr lang="fr-BE" sz="1600" dirty="0">
                <a:solidFill>
                  <a:srgbClr val="507874"/>
                </a:solidFill>
                <a:effectLst/>
                <a:latin typeface="Consolas" panose="020B0609020204030204" pitchFamily="49" charset="0"/>
                <a:cs typeface="Consolas" panose="020B0609020204030204" pitchFamily="49" charset="0"/>
              </a:rPr>
              <a:t> </a:t>
            </a:r>
            <a:r>
              <a:rPr lang="fr-BE" sz="1600" dirty="0" err="1">
                <a:solidFill>
                  <a:srgbClr val="FFC66D"/>
                </a:solidFill>
                <a:effectLst/>
                <a:latin typeface="Consolas" panose="020B0609020204030204" pitchFamily="49" charset="0"/>
                <a:cs typeface="Consolas" panose="020B0609020204030204" pitchFamily="49" charset="0"/>
              </a:rPr>
              <a:t>getPremier</a:t>
            </a:r>
            <a:r>
              <a:rPr lang="fr-BE" sz="1600" dirty="0">
                <a:latin typeface="Consolas" panose="020B0609020204030204" pitchFamily="49" charset="0"/>
                <a:cs typeface="Consolas" panose="020B0609020204030204" pitchFamily="49" charset="0"/>
              </a:rPr>
              <a:t>() {</a:t>
            </a: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        </a:t>
            </a:r>
            <a:r>
              <a:rPr lang="fr-BE" sz="1600" dirty="0">
                <a:solidFill>
                  <a:srgbClr val="CC7832"/>
                </a:solidFill>
                <a:effectLst/>
                <a:latin typeface="Consolas" panose="020B0609020204030204" pitchFamily="49" charset="0"/>
                <a:cs typeface="Consolas" panose="020B0609020204030204" pitchFamily="49" charset="0"/>
              </a:rPr>
              <a:t>return </a:t>
            </a:r>
            <a:r>
              <a:rPr lang="fr-BE" sz="1600" dirty="0">
                <a:solidFill>
                  <a:srgbClr val="9876AA"/>
                </a:solidFill>
                <a:effectLst/>
                <a:latin typeface="Consolas" panose="020B0609020204030204" pitchFamily="49" charset="0"/>
                <a:cs typeface="Consolas" panose="020B0609020204030204" pitchFamily="49" charset="0"/>
              </a:rPr>
              <a:t>x</a:t>
            </a:r>
            <a:r>
              <a:rPr lang="fr-BE" sz="1600" dirty="0">
                <a:solidFill>
                  <a:srgbClr val="CC7832"/>
                </a:solidFill>
                <a:effectLst/>
                <a:latin typeface="Consolas" panose="020B0609020204030204" pitchFamily="49" charset="0"/>
                <a:cs typeface="Consolas" panose="020B0609020204030204" pitchFamily="49" charset="0"/>
              </a:rPr>
              <a:t>;</a:t>
            </a:r>
            <a:br>
              <a:rPr lang="fr-BE" sz="1600" dirty="0">
                <a:solidFill>
                  <a:srgbClr val="CC7832"/>
                </a:solidFill>
                <a:effectLst/>
                <a:latin typeface="Consolas" panose="020B0609020204030204" pitchFamily="49" charset="0"/>
                <a:cs typeface="Consolas" panose="020B0609020204030204" pitchFamily="49" charset="0"/>
              </a:rPr>
            </a:br>
            <a:r>
              <a:rPr lang="fr-BE" sz="1600" dirty="0">
                <a:solidFill>
                  <a:srgbClr val="CC7832"/>
                </a:solidFill>
                <a:effectLst/>
                <a:latin typeface="Consolas" panose="020B0609020204030204" pitchFamily="49" charset="0"/>
                <a:cs typeface="Consolas" panose="020B0609020204030204" pitchFamily="49" charset="0"/>
              </a:rPr>
              <a:t>    </a:t>
            </a:r>
            <a:r>
              <a:rPr lang="fr-BE" sz="1600" dirty="0">
                <a:latin typeface="Consolas" panose="020B0609020204030204" pitchFamily="49" charset="0"/>
                <a:cs typeface="Consolas" panose="020B0609020204030204" pitchFamily="49" charset="0"/>
              </a:rPr>
              <a:t>}</a:t>
            </a: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p:txBody>
      </p:sp>
      <p:sp>
        <p:nvSpPr>
          <p:cNvPr id="3" name="Espace réservé du numéro de diapositive 2">
            <a:extLst>
              <a:ext uri="{FF2B5EF4-FFF2-40B4-BE49-F238E27FC236}">
                <a16:creationId xmlns:a16="http://schemas.microsoft.com/office/drawing/2014/main" id="{6D18AEE1-8418-6495-7320-9518F759CFD7}"/>
              </a:ext>
            </a:extLst>
          </p:cNvPr>
          <p:cNvSpPr>
            <a:spLocks noGrp="1"/>
          </p:cNvSpPr>
          <p:nvPr>
            <p:ph type="sldNum" sz="quarter" idx="4"/>
          </p:nvPr>
        </p:nvSpPr>
        <p:spPr/>
        <p:txBody>
          <a:bodyPr/>
          <a:lstStyle/>
          <a:p>
            <a:fld id="{33C783E2-4793-4F48-A271-51A73CC37D74}" type="slidenum">
              <a:rPr lang="fr-FR" smtClean="0"/>
              <a:t>15</a:t>
            </a:fld>
            <a:endParaRPr lang="fr-FR"/>
          </a:p>
        </p:txBody>
      </p:sp>
    </p:spTree>
    <p:extLst>
      <p:ext uri="{BB962C8B-B14F-4D97-AF65-F5344CB8AC3E}">
        <p14:creationId xmlns:p14="http://schemas.microsoft.com/office/powerpoint/2010/main" val="1895227280"/>
      </p:ext>
    </p:extLst>
  </p:cSld>
  <p:clrMapOvr>
    <a:masterClrMapping/>
  </p:clrMapOvr>
  <p:transition>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Exemple de classe générique</a:t>
            </a:r>
          </a:p>
        </p:txBody>
      </p:sp>
      <p:sp>
        <p:nvSpPr>
          <p:cNvPr id="9" name="Espace réservé du contenu 8"/>
          <p:cNvSpPr>
            <a:spLocks noGrp="1"/>
          </p:cNvSpPr>
          <p:nvPr>
            <p:ph idx="1"/>
          </p:nvPr>
        </p:nvSpPr>
        <p:spPr/>
        <p:txBody>
          <a:bodyPr>
            <a:noAutofit/>
          </a:bodyPr>
          <a:lstStyle/>
          <a:p>
            <a:pPr marL="0" indent="0">
              <a:buNone/>
            </a:pPr>
            <a:r>
              <a:rPr lang="fr-FR" dirty="0"/>
              <a:t>Remarques</a:t>
            </a:r>
          </a:p>
          <a:p>
            <a:pPr marL="342900" indent="-342900"/>
            <a:r>
              <a:rPr lang="fr-FR" dirty="0"/>
              <a:t>Le nom du paramètre (ici </a:t>
            </a:r>
            <a:r>
              <a:rPr lang="fr-FR" sz="2600" dirty="0" err="1">
                <a:solidFill>
                  <a:schemeClr val="accent4"/>
                </a:solidFill>
                <a:latin typeface="Consolas"/>
                <a:cs typeface="Consolas"/>
              </a:rPr>
              <a:t>T</a:t>
            </a:r>
            <a:r>
              <a:rPr lang="fr-FR" dirty="0"/>
              <a:t>) peut être n’importe quel identificateur. Pour que le code reste lisible on recommande l’utilisation </a:t>
            </a:r>
            <a:r>
              <a:rPr lang="fr-FR" dirty="0">
                <a:solidFill>
                  <a:schemeClr val="accent4"/>
                </a:solidFill>
              </a:rPr>
              <a:t>d’une seule lettre Majuscule</a:t>
            </a:r>
            <a:r>
              <a:rPr lang="fr-FR" dirty="0"/>
              <a:t>.</a:t>
            </a:r>
          </a:p>
          <a:p>
            <a:pPr marL="342900" indent="-342900"/>
            <a:r>
              <a:rPr lang="fr-FR" dirty="0"/>
              <a:t>Notez que la méthode </a:t>
            </a:r>
            <a:r>
              <a:rPr lang="fr-FR" sz="2600" dirty="0">
                <a:solidFill>
                  <a:schemeClr val="accent4"/>
                </a:solidFill>
                <a:latin typeface="Consolas"/>
                <a:cs typeface="Consolas"/>
              </a:rPr>
              <a:t>affiche()</a:t>
            </a:r>
            <a:r>
              <a:rPr lang="fr-FR" dirty="0"/>
              <a:t> se contente d’afficher les chaînes obtenues en appelant </a:t>
            </a:r>
            <a:r>
              <a:rPr lang="fr-FR" sz="2600" dirty="0" err="1">
                <a:solidFill>
                  <a:schemeClr val="accent4"/>
                </a:solidFill>
                <a:latin typeface="Consolas"/>
                <a:cs typeface="Consolas"/>
              </a:rPr>
              <a:t>toString</a:t>
            </a:r>
            <a:r>
              <a:rPr lang="fr-FR" sz="2600" dirty="0">
                <a:solidFill>
                  <a:schemeClr val="accent4"/>
                </a:solidFill>
                <a:latin typeface="Consolas"/>
                <a:cs typeface="Consolas"/>
              </a:rPr>
              <a:t>()</a:t>
            </a:r>
            <a:r>
              <a:rPr lang="fr-FR" dirty="0"/>
              <a:t>.</a:t>
            </a:r>
            <a:r>
              <a:rPr lang="fr-FR" dirty="0">
                <a:solidFill>
                  <a:srgbClr val="A6082B"/>
                </a:solidFill>
                <a:latin typeface="Consolas"/>
                <a:cs typeface="Consolas"/>
              </a:rPr>
              <a:t> </a:t>
            </a:r>
          </a:p>
        </p:txBody>
      </p:sp>
      <p:sp>
        <p:nvSpPr>
          <p:cNvPr id="5" name="ZoneTexte 4">
            <a:extLst>
              <a:ext uri="{FF2B5EF4-FFF2-40B4-BE49-F238E27FC236}">
                <a16:creationId xmlns:a16="http://schemas.microsoft.com/office/drawing/2014/main" id="{C41C31F7-D737-593A-1790-6BF57D3A78C1}"/>
              </a:ext>
            </a:extLst>
          </p:cNvPr>
          <p:cNvSpPr txBox="1"/>
          <p:nvPr/>
        </p:nvSpPr>
        <p:spPr>
          <a:xfrm>
            <a:off x="2900913" y="4834993"/>
            <a:ext cx="7280035" cy="830997"/>
          </a:xfrm>
          <a:prstGeom prst="rect">
            <a:avLst/>
          </a:prstGeom>
          <a:solidFill>
            <a:srgbClr val="2B2B2B"/>
          </a:solidFill>
        </p:spPr>
        <p:txBody>
          <a:bodyPr wrap="square">
            <a:spAutoFit/>
          </a:bodyPr>
          <a:lstStyle/>
          <a:p>
            <a:r>
              <a:rPr lang="fr-BE" sz="1600" dirty="0">
                <a:solidFill>
                  <a:srgbClr val="CC7832"/>
                </a:solidFill>
                <a:effectLst/>
                <a:latin typeface="Consolas" panose="020B0609020204030204" pitchFamily="49" charset="0"/>
                <a:cs typeface="Consolas" panose="020B0609020204030204" pitchFamily="49" charset="0"/>
              </a:rPr>
              <a:t>public </a:t>
            </a:r>
            <a:r>
              <a:rPr lang="fr-BE" sz="1600" dirty="0" err="1">
                <a:solidFill>
                  <a:srgbClr val="CC7832"/>
                </a:solidFill>
                <a:effectLst/>
                <a:latin typeface="Consolas" panose="020B0609020204030204" pitchFamily="49" charset="0"/>
                <a:cs typeface="Consolas" panose="020B0609020204030204" pitchFamily="49" charset="0"/>
              </a:rPr>
              <a:t>void</a:t>
            </a:r>
            <a:r>
              <a:rPr lang="fr-BE" sz="1600" dirty="0">
                <a:solidFill>
                  <a:srgbClr val="CC7832"/>
                </a:solidFill>
                <a:effectLst/>
                <a:latin typeface="Consolas" panose="020B0609020204030204" pitchFamily="49" charset="0"/>
                <a:cs typeface="Consolas" panose="020B0609020204030204" pitchFamily="49" charset="0"/>
              </a:rPr>
              <a:t> </a:t>
            </a:r>
            <a:r>
              <a:rPr lang="fr-BE" sz="1600" dirty="0">
                <a:solidFill>
                  <a:srgbClr val="FFC66D"/>
                </a:solidFill>
                <a:effectLst/>
                <a:latin typeface="Consolas" panose="020B0609020204030204" pitchFamily="49" charset="0"/>
                <a:cs typeface="Consolas" panose="020B0609020204030204" pitchFamily="49" charset="0"/>
              </a:rPr>
              <a:t>affiche</a:t>
            </a:r>
            <a:r>
              <a:rPr lang="fr-BE" sz="1600" dirty="0">
                <a:latin typeface="Consolas" panose="020B0609020204030204" pitchFamily="49" charset="0"/>
                <a:cs typeface="Consolas" panose="020B0609020204030204" pitchFamily="49" charset="0"/>
              </a:rPr>
              <a:t>() {</a:t>
            </a:r>
            <a:br>
              <a:rPr lang="fr-BE" sz="1600" dirty="0">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    </a:t>
            </a:r>
            <a:r>
              <a:rPr lang="fr-BE" sz="1600" dirty="0" err="1">
                <a:latin typeface="Consolas" panose="020B0609020204030204" pitchFamily="49" charset="0"/>
                <a:cs typeface="Consolas" panose="020B0609020204030204" pitchFamily="49" charset="0"/>
              </a:rPr>
              <a:t>System.</a:t>
            </a:r>
            <a:r>
              <a:rPr lang="fr-BE" sz="1600" i="1" dirty="0" err="1">
                <a:solidFill>
                  <a:srgbClr val="9876AA"/>
                </a:solidFill>
                <a:effectLst/>
                <a:latin typeface="Consolas" panose="020B0609020204030204" pitchFamily="49" charset="0"/>
                <a:cs typeface="Consolas" panose="020B0609020204030204" pitchFamily="49" charset="0"/>
              </a:rPr>
              <a:t>out</a:t>
            </a:r>
            <a:r>
              <a:rPr lang="fr-BE" sz="1600" dirty="0" err="1">
                <a:latin typeface="Consolas" panose="020B0609020204030204" pitchFamily="49" charset="0"/>
                <a:cs typeface="Consolas" panose="020B0609020204030204" pitchFamily="49" charset="0"/>
              </a:rPr>
              <a:t>.println</a:t>
            </a:r>
            <a:r>
              <a:rPr lang="fr-BE" sz="1600" dirty="0">
                <a:latin typeface="Consolas" panose="020B0609020204030204" pitchFamily="49" charset="0"/>
                <a:cs typeface="Consolas" panose="020B0609020204030204" pitchFamily="49" charset="0"/>
              </a:rPr>
              <a:t>(</a:t>
            </a:r>
            <a:r>
              <a:rPr lang="fr-BE" sz="1600" dirty="0">
                <a:solidFill>
                  <a:srgbClr val="6A8759"/>
                </a:solidFill>
                <a:effectLst/>
                <a:latin typeface="Consolas" panose="020B0609020204030204" pitchFamily="49" charset="0"/>
                <a:cs typeface="Consolas" panose="020B0609020204030204" pitchFamily="49" charset="0"/>
              </a:rPr>
              <a:t>"premier:" </a:t>
            </a:r>
            <a:r>
              <a:rPr lang="fr-BE" sz="1600" dirty="0">
                <a:latin typeface="Consolas" panose="020B0609020204030204" pitchFamily="49" charset="0"/>
                <a:cs typeface="Consolas" panose="020B0609020204030204" pitchFamily="49" charset="0"/>
              </a:rPr>
              <a:t>+ </a:t>
            </a:r>
            <a:r>
              <a:rPr lang="fr-BE" sz="1600" dirty="0">
                <a:solidFill>
                  <a:srgbClr val="9876AA"/>
                </a:solidFill>
                <a:effectLst/>
                <a:latin typeface="Consolas" panose="020B0609020204030204" pitchFamily="49" charset="0"/>
                <a:cs typeface="Consolas" panose="020B0609020204030204" pitchFamily="49" charset="0"/>
              </a:rPr>
              <a:t>x </a:t>
            </a:r>
            <a:r>
              <a:rPr lang="fr-BE" sz="1600" dirty="0">
                <a:latin typeface="Consolas" panose="020B0609020204030204" pitchFamily="49" charset="0"/>
                <a:cs typeface="Consolas" panose="020B0609020204030204" pitchFamily="49" charset="0"/>
              </a:rPr>
              <a:t>+ </a:t>
            </a:r>
            <a:r>
              <a:rPr lang="fr-BE" sz="1600" dirty="0">
                <a:solidFill>
                  <a:srgbClr val="6A8759"/>
                </a:solidFill>
                <a:effectLst/>
                <a:latin typeface="Consolas" panose="020B0609020204030204" pitchFamily="49" charset="0"/>
                <a:cs typeface="Consolas" panose="020B0609020204030204" pitchFamily="49" charset="0"/>
              </a:rPr>
              <a:t>", second:" </a:t>
            </a:r>
            <a:r>
              <a:rPr lang="fr-BE" sz="1600" dirty="0">
                <a:latin typeface="Consolas" panose="020B0609020204030204" pitchFamily="49" charset="0"/>
                <a:cs typeface="Consolas" panose="020B0609020204030204" pitchFamily="49" charset="0"/>
              </a:rPr>
              <a:t>+ </a:t>
            </a:r>
            <a:r>
              <a:rPr lang="fr-BE" sz="1600" dirty="0">
                <a:solidFill>
                  <a:srgbClr val="9876AA"/>
                </a:solidFill>
                <a:effectLst/>
                <a:latin typeface="Consolas" panose="020B0609020204030204" pitchFamily="49" charset="0"/>
                <a:cs typeface="Consolas" panose="020B0609020204030204" pitchFamily="49" charset="0"/>
              </a:rPr>
              <a:t>y</a:t>
            </a:r>
            <a:r>
              <a:rPr lang="fr-BE" sz="1600" dirty="0">
                <a:latin typeface="Consolas" panose="020B0609020204030204" pitchFamily="49" charset="0"/>
                <a:cs typeface="Consolas" panose="020B0609020204030204" pitchFamily="49" charset="0"/>
              </a:rPr>
              <a:t>)</a:t>
            </a:r>
            <a:r>
              <a:rPr lang="fr-BE" sz="1600" dirty="0">
                <a:solidFill>
                  <a:srgbClr val="CC7832"/>
                </a:solidFill>
                <a:effectLst/>
                <a:latin typeface="Consolas" panose="020B0609020204030204" pitchFamily="49" charset="0"/>
                <a:cs typeface="Consolas" panose="020B0609020204030204" pitchFamily="49" charset="0"/>
              </a:rPr>
              <a:t>;</a:t>
            </a:r>
            <a:br>
              <a:rPr lang="fr-BE" sz="1600" dirty="0">
                <a:solidFill>
                  <a:srgbClr val="CC7832"/>
                </a:solidFill>
                <a:effectLst/>
                <a:latin typeface="Consolas" panose="020B0609020204030204" pitchFamily="49" charset="0"/>
                <a:cs typeface="Consolas" panose="020B0609020204030204" pitchFamily="49" charset="0"/>
              </a:rPr>
            </a:br>
            <a:r>
              <a:rPr lang="fr-BE" sz="1600" dirty="0">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p:txBody>
      </p:sp>
      <p:sp>
        <p:nvSpPr>
          <p:cNvPr id="3" name="Espace réservé du numéro de diapositive 2">
            <a:extLst>
              <a:ext uri="{FF2B5EF4-FFF2-40B4-BE49-F238E27FC236}">
                <a16:creationId xmlns:a16="http://schemas.microsoft.com/office/drawing/2014/main" id="{D94E2452-EE86-671A-A395-EE9F0056595B}"/>
              </a:ext>
            </a:extLst>
          </p:cNvPr>
          <p:cNvSpPr>
            <a:spLocks noGrp="1"/>
          </p:cNvSpPr>
          <p:nvPr>
            <p:ph type="sldNum" sz="quarter" idx="4"/>
          </p:nvPr>
        </p:nvSpPr>
        <p:spPr/>
        <p:txBody>
          <a:bodyPr/>
          <a:lstStyle/>
          <a:p>
            <a:fld id="{33C783E2-4793-4F48-A271-51A73CC37D74}" type="slidenum">
              <a:rPr lang="fr-FR" smtClean="0"/>
              <a:t>16</a:t>
            </a:fld>
            <a:endParaRPr lang="fr-FR"/>
          </a:p>
        </p:txBody>
      </p:sp>
    </p:spTree>
    <p:extLst>
      <p:ext uri="{BB962C8B-B14F-4D97-AF65-F5344CB8AC3E}">
        <p14:creationId xmlns:p14="http://schemas.microsoft.com/office/powerpoint/2010/main" val="1204875729"/>
      </p:ext>
    </p:extLst>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Utilisation de classe générique</a:t>
            </a:r>
          </a:p>
        </p:txBody>
      </p:sp>
      <p:sp>
        <p:nvSpPr>
          <p:cNvPr id="9" name="Espace réservé du contenu 8"/>
          <p:cNvSpPr>
            <a:spLocks noGrp="1"/>
          </p:cNvSpPr>
          <p:nvPr>
            <p:ph idx="1"/>
          </p:nvPr>
        </p:nvSpPr>
        <p:spPr>
          <a:xfrm>
            <a:off x="838200" y="1825625"/>
            <a:ext cx="10515600" cy="2872923"/>
          </a:xfrm>
        </p:spPr>
        <p:txBody>
          <a:bodyPr>
            <a:normAutofit/>
          </a:bodyPr>
          <a:lstStyle/>
          <a:p>
            <a:pPr marL="0" indent="0">
              <a:lnSpc>
                <a:spcPct val="110000"/>
              </a:lnSpc>
              <a:buNone/>
            </a:pPr>
            <a:r>
              <a:rPr lang="fr-FR" sz="2200" dirty="0"/>
              <a:t>Lors de </a:t>
            </a:r>
            <a:r>
              <a:rPr lang="fr-FR" sz="2200" dirty="0">
                <a:solidFill>
                  <a:schemeClr val="accent4"/>
                </a:solidFill>
              </a:rPr>
              <a:t>la déclaration</a:t>
            </a:r>
            <a:r>
              <a:rPr lang="fr-FR" sz="2200" dirty="0"/>
              <a:t> d’un objet de la classe </a:t>
            </a:r>
            <a:r>
              <a:rPr lang="fr-FR" sz="2200" dirty="0">
                <a:solidFill>
                  <a:schemeClr val="accent4"/>
                </a:solidFill>
                <a:latin typeface="Consolas"/>
                <a:cs typeface="Consolas"/>
              </a:rPr>
              <a:t>Couple</a:t>
            </a:r>
            <a:r>
              <a:rPr lang="fr-FR" sz="2200" dirty="0"/>
              <a:t>, il faudra spécifier le type effectif correspondant au paramètre </a:t>
            </a:r>
            <a:r>
              <a:rPr lang="fr-FR" sz="2200" dirty="0" err="1">
                <a:solidFill>
                  <a:schemeClr val="accent4"/>
                </a:solidFill>
                <a:latin typeface="Consolas"/>
                <a:cs typeface="Consolas"/>
              </a:rPr>
              <a:t>T</a:t>
            </a:r>
            <a:r>
              <a:rPr lang="fr-FR" sz="2200" dirty="0"/>
              <a:t>.</a:t>
            </a:r>
          </a:p>
        </p:txBody>
      </p:sp>
      <p:sp>
        <p:nvSpPr>
          <p:cNvPr id="13" name="ZoneTexte 12">
            <a:extLst>
              <a:ext uri="{FF2B5EF4-FFF2-40B4-BE49-F238E27FC236}">
                <a16:creationId xmlns:a16="http://schemas.microsoft.com/office/drawing/2014/main" id="{B6F1F7CF-3ADE-B9DC-5732-DE017B207C15}"/>
              </a:ext>
            </a:extLst>
          </p:cNvPr>
          <p:cNvSpPr txBox="1"/>
          <p:nvPr/>
        </p:nvSpPr>
        <p:spPr>
          <a:xfrm>
            <a:off x="1088796" y="2636284"/>
            <a:ext cx="2804474" cy="923330"/>
          </a:xfrm>
          <a:prstGeom prst="rect">
            <a:avLst/>
          </a:prstGeom>
          <a:solidFill>
            <a:srgbClr val="2B2B2B"/>
          </a:solidFill>
        </p:spPr>
        <p:txBody>
          <a:bodyPr wrap="square">
            <a:spAutoFit/>
          </a:bodyPr>
          <a:lstStyle/>
          <a:p>
            <a:r>
              <a:rPr lang="fr-BE" dirty="0">
                <a:latin typeface="Consolas" panose="020B0609020204030204" pitchFamily="49" charset="0"/>
                <a:cs typeface="Consolas" panose="020B0609020204030204" pitchFamily="49" charset="0"/>
              </a:rPr>
              <a:t>Couple&lt;Integer&gt; ci</a:t>
            </a:r>
            <a:r>
              <a:rPr lang="fr-BE" dirty="0">
                <a:solidFill>
                  <a:srgbClr val="CC7832"/>
                </a:solidFill>
                <a:effectLst/>
                <a:latin typeface="Consolas" panose="020B0609020204030204" pitchFamily="49" charset="0"/>
                <a:cs typeface="Consolas" panose="020B0609020204030204" pitchFamily="49" charset="0"/>
              </a:rPr>
              <a:t>;</a:t>
            </a:r>
          </a:p>
          <a:p>
            <a:br>
              <a:rPr lang="fr-BE" dirty="0">
                <a:solidFill>
                  <a:srgbClr val="CC7832"/>
                </a:solidFill>
                <a:effectLst/>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Couple&lt;Point&gt; </a:t>
            </a:r>
            <a:r>
              <a:rPr lang="fr-BE" dirty="0" err="1">
                <a:latin typeface="Consolas" panose="020B0609020204030204" pitchFamily="49" charset="0"/>
                <a:cs typeface="Consolas" panose="020B0609020204030204" pitchFamily="49" charset="0"/>
              </a:rPr>
              <a:t>cp</a:t>
            </a:r>
            <a:r>
              <a:rPr lang="fr-BE" dirty="0">
                <a:solidFill>
                  <a:srgbClr val="CC7832"/>
                </a:solidFill>
                <a:effectLst/>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
        <p:nvSpPr>
          <p:cNvPr id="15" name="ZoneTexte 14">
            <a:extLst>
              <a:ext uri="{FF2B5EF4-FFF2-40B4-BE49-F238E27FC236}">
                <a16:creationId xmlns:a16="http://schemas.microsoft.com/office/drawing/2014/main" id="{B3D51F76-A89D-A936-EF10-1AC738957194}"/>
              </a:ext>
            </a:extLst>
          </p:cNvPr>
          <p:cNvSpPr txBox="1"/>
          <p:nvPr/>
        </p:nvSpPr>
        <p:spPr>
          <a:xfrm>
            <a:off x="3478491" y="4898497"/>
            <a:ext cx="2974157" cy="369332"/>
          </a:xfrm>
          <a:prstGeom prst="rect">
            <a:avLst/>
          </a:prstGeom>
          <a:solidFill>
            <a:srgbClr val="2B2B2B"/>
          </a:solidFill>
        </p:spPr>
        <p:txBody>
          <a:bodyPr wrap="square">
            <a:spAutoFit/>
          </a:bodyPr>
          <a:lstStyle/>
          <a:p>
            <a:r>
              <a:rPr lang="fr-BE" dirty="0">
                <a:latin typeface="Consolas" panose="020B0609020204030204" pitchFamily="49" charset="0"/>
                <a:cs typeface="Consolas" panose="020B0609020204030204" pitchFamily="49" charset="0"/>
              </a:rPr>
              <a:t>Couple&lt;</a:t>
            </a:r>
            <a:r>
              <a:rPr lang="fr-BE" strike="sngStrike" dirty="0" err="1">
                <a:solidFill>
                  <a:srgbClr val="CC7832"/>
                </a:solidFill>
                <a:effectLst/>
                <a:latin typeface="Consolas" panose="020B0609020204030204" pitchFamily="49" charset="0"/>
                <a:cs typeface="Consolas" panose="020B0609020204030204" pitchFamily="49" charset="0"/>
              </a:rPr>
              <a:t>int</a:t>
            </a:r>
            <a:r>
              <a:rPr lang="fr-BE" dirty="0">
                <a:latin typeface="Consolas" panose="020B0609020204030204" pitchFamily="49" charset="0"/>
                <a:cs typeface="Consolas" panose="020B0609020204030204" pitchFamily="49" charset="0"/>
              </a:rPr>
              <a:t>&gt; couple</a:t>
            </a:r>
            <a:r>
              <a:rPr lang="fr-BE" dirty="0">
                <a:solidFill>
                  <a:srgbClr val="CC7832"/>
                </a:solidFill>
                <a:effectLst/>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
        <p:nvSpPr>
          <p:cNvPr id="17" name="ZoneTexte 16">
            <a:extLst>
              <a:ext uri="{FF2B5EF4-FFF2-40B4-BE49-F238E27FC236}">
                <a16:creationId xmlns:a16="http://schemas.microsoft.com/office/drawing/2014/main" id="{7EA4711B-6723-5C3F-7510-D9A5869BC3DB}"/>
              </a:ext>
            </a:extLst>
          </p:cNvPr>
          <p:cNvSpPr txBox="1"/>
          <p:nvPr/>
        </p:nvSpPr>
        <p:spPr>
          <a:xfrm>
            <a:off x="838200" y="4128895"/>
            <a:ext cx="10265004" cy="818109"/>
          </a:xfrm>
          <a:prstGeom prst="rect">
            <a:avLst/>
          </a:prstGeom>
          <a:noFill/>
        </p:spPr>
        <p:txBody>
          <a:bodyPr wrap="square">
            <a:spAutoFit/>
          </a:bodyPr>
          <a:lstStyle/>
          <a:p>
            <a:pPr marL="0" indent="0">
              <a:lnSpc>
                <a:spcPct val="110000"/>
              </a:lnSpc>
              <a:buNone/>
            </a:pPr>
            <a:r>
              <a:rPr lang="fr-FR" sz="2200" dirty="0"/>
              <a:t>Il faut cependant respecter la règle suivante: le type effectif doit être </a:t>
            </a:r>
            <a:r>
              <a:rPr lang="fr-FR" sz="2200" dirty="0">
                <a:solidFill>
                  <a:schemeClr val="accent4"/>
                </a:solidFill>
              </a:rPr>
              <a:t>une classe</a:t>
            </a:r>
            <a:r>
              <a:rPr lang="fr-FR" sz="2200" dirty="0"/>
              <a:t>.</a:t>
            </a:r>
          </a:p>
          <a:p>
            <a:pPr marL="0" indent="0">
              <a:lnSpc>
                <a:spcPct val="110000"/>
              </a:lnSpc>
              <a:buNone/>
            </a:pPr>
            <a:r>
              <a:rPr lang="fr-FR" sz="2200" dirty="0"/>
              <a:t>Impossible d’avoir</a:t>
            </a:r>
            <a:endParaRPr lang="fr-FR" sz="2200" dirty="0">
              <a:solidFill>
                <a:srgbClr val="A6082B"/>
              </a:solidFill>
              <a:latin typeface="Consolas"/>
              <a:cs typeface="Consolas"/>
            </a:endParaRPr>
          </a:p>
        </p:txBody>
      </p:sp>
      <p:sp>
        <p:nvSpPr>
          <p:cNvPr id="5" name="Bulle rectangulaire 4">
            <a:extLst>
              <a:ext uri="{FF2B5EF4-FFF2-40B4-BE49-F238E27FC236}">
                <a16:creationId xmlns:a16="http://schemas.microsoft.com/office/drawing/2014/main" id="{258EF410-0F21-CA4A-9EC5-18D044A9BBEA}"/>
              </a:ext>
            </a:extLst>
          </p:cNvPr>
          <p:cNvSpPr/>
          <p:nvPr/>
        </p:nvSpPr>
        <p:spPr>
          <a:xfrm>
            <a:off x="4010030" y="2676514"/>
            <a:ext cx="3464417" cy="334850"/>
          </a:xfrm>
          <a:prstGeom prst="wedgeRectCallout">
            <a:avLst>
              <a:gd name="adj1" fmla="val -60610"/>
              <a:gd name="adj2" fmla="val -14423"/>
            </a:avLst>
          </a:prstGeom>
          <a:solidFill>
            <a:schemeClr val="accent6"/>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Un couple d’entiers</a:t>
            </a:r>
          </a:p>
        </p:txBody>
      </p:sp>
      <p:sp>
        <p:nvSpPr>
          <p:cNvPr id="7" name="Bulle rectangulaire 6">
            <a:extLst>
              <a:ext uri="{FF2B5EF4-FFF2-40B4-BE49-F238E27FC236}">
                <a16:creationId xmlns:a16="http://schemas.microsoft.com/office/drawing/2014/main" id="{0EB5FB8A-60EA-7243-B1BC-BBB74FDA1085}"/>
              </a:ext>
            </a:extLst>
          </p:cNvPr>
          <p:cNvSpPr/>
          <p:nvPr/>
        </p:nvSpPr>
        <p:spPr>
          <a:xfrm>
            <a:off x="4010029" y="3237256"/>
            <a:ext cx="3464417" cy="334850"/>
          </a:xfrm>
          <a:prstGeom prst="wedgeRectCallout">
            <a:avLst>
              <a:gd name="adj1" fmla="val -67945"/>
              <a:gd name="adj2" fmla="val -7285"/>
            </a:avLst>
          </a:prstGeom>
          <a:solidFill>
            <a:schemeClr val="accent6"/>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Un couple de points</a:t>
            </a:r>
          </a:p>
        </p:txBody>
      </p:sp>
      <p:sp>
        <p:nvSpPr>
          <p:cNvPr id="3" name="Espace réservé du numéro de diapositive 2">
            <a:extLst>
              <a:ext uri="{FF2B5EF4-FFF2-40B4-BE49-F238E27FC236}">
                <a16:creationId xmlns:a16="http://schemas.microsoft.com/office/drawing/2014/main" id="{6F321CDD-5244-4E33-4824-A23682DD190C}"/>
              </a:ext>
            </a:extLst>
          </p:cNvPr>
          <p:cNvSpPr>
            <a:spLocks noGrp="1"/>
          </p:cNvSpPr>
          <p:nvPr>
            <p:ph type="sldNum" sz="quarter" idx="4"/>
          </p:nvPr>
        </p:nvSpPr>
        <p:spPr/>
        <p:txBody>
          <a:bodyPr/>
          <a:lstStyle/>
          <a:p>
            <a:fld id="{33C783E2-4793-4F48-A271-51A73CC37D74}" type="slidenum">
              <a:rPr lang="fr-FR" smtClean="0"/>
              <a:t>17</a:t>
            </a:fld>
            <a:endParaRPr lang="fr-FR"/>
          </a:p>
        </p:txBody>
      </p:sp>
    </p:spTree>
    <p:extLst>
      <p:ext uri="{BB962C8B-B14F-4D97-AF65-F5344CB8AC3E}">
        <p14:creationId xmlns:p14="http://schemas.microsoft.com/office/powerpoint/2010/main" val="4021680589"/>
      </p:ext>
    </p:extLst>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p:tgtEl>
                                          <p:spTgt spid="5"/>
                                        </p:tgtEl>
                                        <p:attrNameLst>
                                          <p:attrName>ppt_x</p:attrName>
                                        </p:attrNameLst>
                                      </p:cBhvr>
                                      <p:tavLst>
                                        <p:tav tm="0">
                                          <p:val>
                                            <p:strVal val="#ppt_x-#ppt_w*1.125000"/>
                                          </p:val>
                                        </p:tav>
                                        <p:tav tm="100000">
                                          <p:val>
                                            <p:strVal val="#ppt_x"/>
                                          </p:val>
                                        </p:tav>
                                      </p:tavLst>
                                    </p:anim>
                                    <p:animEffect transition="in" filter="wipe(right)">
                                      <p:cBhvr>
                                        <p:cTn id="13" dur="500"/>
                                        <p:tgtEl>
                                          <p:spTgt spid="5"/>
                                        </p:tgtEl>
                                      </p:cBhvr>
                                    </p:animEffect>
                                  </p:childTnLst>
                                </p:cTn>
                              </p:par>
                            </p:childTnLst>
                          </p:cTn>
                        </p:par>
                        <p:par>
                          <p:cTn id="14" fill="hold">
                            <p:stCondLst>
                              <p:cond delay="500"/>
                            </p:stCondLst>
                            <p:childTnLst>
                              <p:par>
                                <p:cTn id="15" presetID="12" presetClass="entr" presetSubtype="8"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p:tgtEl>
                                          <p:spTgt spid="7"/>
                                        </p:tgtEl>
                                        <p:attrNameLst>
                                          <p:attrName>ppt_x</p:attrName>
                                        </p:attrNameLst>
                                      </p:cBhvr>
                                      <p:tavLst>
                                        <p:tav tm="0">
                                          <p:val>
                                            <p:strVal val="#ppt_x-#ppt_w*1.125000"/>
                                          </p:val>
                                        </p:tav>
                                        <p:tav tm="100000">
                                          <p:val>
                                            <p:strVal val="#ppt_x"/>
                                          </p:val>
                                        </p:tav>
                                      </p:tavLst>
                                    </p:anim>
                                    <p:animEffect transition="in" filter="wipe(right)">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7" grpId="0"/>
      <p:bldP spid="5" grpId="0" animBg="1"/>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Utilisation de classe générique</a:t>
            </a:r>
          </a:p>
        </p:txBody>
      </p:sp>
      <p:sp>
        <p:nvSpPr>
          <p:cNvPr id="9" name="Espace réservé du contenu 8"/>
          <p:cNvSpPr>
            <a:spLocks noGrp="1"/>
          </p:cNvSpPr>
          <p:nvPr>
            <p:ph idx="1"/>
          </p:nvPr>
        </p:nvSpPr>
        <p:spPr>
          <a:xfrm>
            <a:off x="838199" y="1825625"/>
            <a:ext cx="10737915" cy="4351338"/>
          </a:xfrm>
        </p:spPr>
        <p:txBody>
          <a:bodyPr>
            <a:normAutofit/>
          </a:bodyPr>
          <a:lstStyle/>
          <a:p>
            <a:pPr marL="0" indent="0">
              <a:lnSpc>
                <a:spcPct val="110000"/>
              </a:lnSpc>
              <a:buNone/>
            </a:pPr>
            <a:r>
              <a:rPr lang="fr-FR" dirty="0"/>
              <a:t>Lors de </a:t>
            </a:r>
            <a:r>
              <a:rPr lang="fr-FR" dirty="0">
                <a:solidFill>
                  <a:schemeClr val="accent4"/>
                </a:solidFill>
              </a:rPr>
              <a:t>l’instanciation</a:t>
            </a:r>
            <a:r>
              <a:rPr lang="fr-FR" dirty="0"/>
              <a:t> d’un objet de la classe </a:t>
            </a:r>
            <a:r>
              <a:rPr lang="fr-FR" sz="2600" dirty="0">
                <a:solidFill>
                  <a:schemeClr val="accent4"/>
                </a:solidFill>
                <a:latin typeface="Consolas"/>
                <a:cs typeface="Consolas"/>
              </a:rPr>
              <a:t>Couple</a:t>
            </a:r>
            <a:r>
              <a:rPr lang="fr-FR" dirty="0"/>
              <a:t>, il ne faut pas nécessairement spécifier le type effectif:</a:t>
            </a:r>
            <a:endParaRPr lang="fr-FR" sz="1800" dirty="0">
              <a:solidFill>
                <a:srgbClr val="A6082B"/>
              </a:solidFill>
              <a:latin typeface="Consolas"/>
              <a:cs typeface="Consolas"/>
            </a:endParaRPr>
          </a:p>
          <a:p>
            <a:pPr>
              <a:lnSpc>
                <a:spcPct val="110000"/>
              </a:lnSpc>
            </a:pPr>
            <a:endParaRPr lang="fr-FR" dirty="0"/>
          </a:p>
        </p:txBody>
      </p:sp>
      <p:sp>
        <p:nvSpPr>
          <p:cNvPr id="4" name="ZoneTexte 3">
            <a:extLst>
              <a:ext uri="{FF2B5EF4-FFF2-40B4-BE49-F238E27FC236}">
                <a16:creationId xmlns:a16="http://schemas.microsoft.com/office/drawing/2014/main" id="{83534283-C5AC-A12F-9F1D-DA9B7C907255}"/>
              </a:ext>
            </a:extLst>
          </p:cNvPr>
          <p:cNvSpPr txBox="1"/>
          <p:nvPr/>
        </p:nvSpPr>
        <p:spPr>
          <a:xfrm>
            <a:off x="2517134" y="3105834"/>
            <a:ext cx="6099142" cy="646331"/>
          </a:xfrm>
          <a:prstGeom prst="rect">
            <a:avLst/>
          </a:prstGeom>
          <a:solidFill>
            <a:srgbClr val="2B2B2B"/>
          </a:solidFill>
        </p:spPr>
        <p:txBody>
          <a:bodyPr wrap="square">
            <a:spAutoFit/>
          </a:bodyPr>
          <a:lstStyle/>
          <a:p>
            <a:r>
              <a:rPr lang="fr-BE" dirty="0">
                <a:latin typeface="Consolas" panose="020B0609020204030204" pitchFamily="49" charset="0"/>
                <a:cs typeface="Consolas" panose="020B0609020204030204" pitchFamily="49" charset="0"/>
              </a:rPr>
              <a:t>Integer objInt1</a:t>
            </a: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objInt2</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ci = </a:t>
            </a:r>
            <a:r>
              <a:rPr lang="fr-BE" dirty="0">
                <a:solidFill>
                  <a:srgbClr val="CC7832"/>
                </a:solidFill>
                <a:effectLst/>
                <a:latin typeface="Consolas" panose="020B0609020204030204" pitchFamily="49" charset="0"/>
                <a:cs typeface="Consolas" panose="020B0609020204030204" pitchFamily="49" charset="0"/>
              </a:rPr>
              <a:t>new </a:t>
            </a:r>
            <a:r>
              <a:rPr lang="fr-BE" dirty="0">
                <a:latin typeface="Consolas" panose="020B0609020204030204" pitchFamily="49" charset="0"/>
                <a:cs typeface="Consolas" panose="020B0609020204030204" pitchFamily="49" charset="0"/>
              </a:rPr>
              <a:t>Couple&lt;&gt;(objInt1</a:t>
            </a: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objInt2)</a:t>
            </a:r>
            <a:r>
              <a:rPr lang="fr-BE" dirty="0">
                <a:solidFill>
                  <a:srgbClr val="CC7832"/>
                </a:solidFill>
                <a:effectLst/>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
        <p:nvSpPr>
          <p:cNvPr id="6" name="Bulle rectangulaire 5">
            <a:extLst>
              <a:ext uri="{FF2B5EF4-FFF2-40B4-BE49-F238E27FC236}">
                <a16:creationId xmlns:a16="http://schemas.microsoft.com/office/drawing/2014/main" id="{78BB0738-8AE7-8646-8367-701A4A235D03}"/>
              </a:ext>
            </a:extLst>
          </p:cNvPr>
          <p:cNvSpPr/>
          <p:nvPr/>
        </p:nvSpPr>
        <p:spPr>
          <a:xfrm>
            <a:off x="4022549" y="4318234"/>
            <a:ext cx="3265287" cy="646330"/>
          </a:xfrm>
          <a:prstGeom prst="wedgeRectCallout">
            <a:avLst>
              <a:gd name="adj1" fmla="val -31380"/>
              <a:gd name="adj2" fmla="val -148577"/>
            </a:avLst>
          </a:prstGeom>
          <a:solidFill>
            <a:schemeClr val="accent6"/>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Le type est déduit du type donné à la déclaration</a:t>
            </a:r>
          </a:p>
        </p:txBody>
      </p:sp>
      <p:sp>
        <p:nvSpPr>
          <p:cNvPr id="3" name="Espace réservé du numéro de diapositive 2">
            <a:extLst>
              <a:ext uri="{FF2B5EF4-FFF2-40B4-BE49-F238E27FC236}">
                <a16:creationId xmlns:a16="http://schemas.microsoft.com/office/drawing/2014/main" id="{AF76F278-A97E-CB03-B916-BD4A00D3799A}"/>
              </a:ext>
            </a:extLst>
          </p:cNvPr>
          <p:cNvSpPr>
            <a:spLocks noGrp="1"/>
          </p:cNvSpPr>
          <p:nvPr>
            <p:ph type="sldNum" sz="quarter" idx="4"/>
          </p:nvPr>
        </p:nvSpPr>
        <p:spPr/>
        <p:txBody>
          <a:bodyPr/>
          <a:lstStyle/>
          <a:p>
            <a:fld id="{33C783E2-4793-4F48-A271-51A73CC37D74}" type="slidenum">
              <a:rPr lang="fr-FR" smtClean="0"/>
              <a:t>18</a:t>
            </a:fld>
            <a:endParaRPr lang="fr-FR"/>
          </a:p>
        </p:txBody>
      </p:sp>
    </p:spTree>
    <p:extLst>
      <p:ext uri="{BB962C8B-B14F-4D97-AF65-F5344CB8AC3E}">
        <p14:creationId xmlns:p14="http://schemas.microsoft.com/office/powerpoint/2010/main" val="200255327"/>
      </p:ext>
    </p:extLst>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p:tgtEl>
                                          <p:spTgt spid="6"/>
                                        </p:tgtEl>
                                        <p:attrNameLst>
                                          <p:attrName>ppt_x</p:attrName>
                                        </p:attrNameLst>
                                      </p:cBhvr>
                                      <p:tavLst>
                                        <p:tav tm="0">
                                          <p:val>
                                            <p:strVal val="#ppt_x-#ppt_w*1.125000"/>
                                          </p:val>
                                        </p:tav>
                                        <p:tav tm="100000">
                                          <p:val>
                                            <p:strVal val="#ppt_x"/>
                                          </p:val>
                                        </p:tav>
                                      </p:tavLst>
                                    </p:anim>
                                    <p:animEffect transition="in" filter="wipe(right)">
                                      <p:cBhvr>
                                        <p:cTn id="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Avec ou sans type générique…</a:t>
            </a:r>
          </a:p>
        </p:txBody>
      </p:sp>
      <p:sp>
        <p:nvSpPr>
          <p:cNvPr id="9" name="Espace réservé du contenu 8"/>
          <p:cNvSpPr>
            <a:spLocks noGrp="1"/>
          </p:cNvSpPr>
          <p:nvPr>
            <p:ph sz="half" idx="1"/>
          </p:nvPr>
        </p:nvSpPr>
        <p:spPr/>
        <p:txBody>
          <a:bodyPr>
            <a:noAutofit/>
          </a:bodyPr>
          <a:lstStyle/>
          <a:p>
            <a:pPr marL="0" indent="0">
              <a:buNone/>
            </a:pPr>
            <a:r>
              <a:rPr lang="fr-FR" sz="2600" dirty="0">
                <a:solidFill>
                  <a:schemeClr val="accent4"/>
                </a:solidFill>
              </a:rPr>
              <a:t>Sans type générique:</a:t>
            </a:r>
          </a:p>
          <a:p>
            <a:pPr marL="0" indent="0">
              <a:buNone/>
            </a:pPr>
            <a:endParaRPr lang="fr-FR" sz="2600" dirty="0">
              <a:latin typeface="Consolas"/>
              <a:cs typeface="Consolas"/>
            </a:endParaRPr>
          </a:p>
        </p:txBody>
      </p:sp>
      <p:sp>
        <p:nvSpPr>
          <p:cNvPr id="5" name="Espace réservé du contenu 4"/>
          <p:cNvSpPr>
            <a:spLocks noGrp="1"/>
          </p:cNvSpPr>
          <p:nvPr>
            <p:ph sz="half" idx="2"/>
          </p:nvPr>
        </p:nvSpPr>
        <p:spPr/>
        <p:txBody>
          <a:bodyPr>
            <a:normAutofit/>
          </a:bodyPr>
          <a:lstStyle/>
          <a:p>
            <a:pPr marL="0" indent="0">
              <a:buNone/>
            </a:pPr>
            <a:r>
              <a:rPr lang="fr-FR" sz="2600" dirty="0">
                <a:solidFill>
                  <a:schemeClr val="accent4"/>
                </a:solidFill>
              </a:rPr>
              <a:t>Avec type générique:</a:t>
            </a:r>
            <a:endParaRPr lang="fr-FR" sz="2600" dirty="0">
              <a:latin typeface="Consolas"/>
              <a:cs typeface="Consolas"/>
            </a:endParaRPr>
          </a:p>
        </p:txBody>
      </p:sp>
      <p:sp>
        <p:nvSpPr>
          <p:cNvPr id="8" name="ZoneTexte 7">
            <a:extLst>
              <a:ext uri="{FF2B5EF4-FFF2-40B4-BE49-F238E27FC236}">
                <a16:creationId xmlns:a16="http://schemas.microsoft.com/office/drawing/2014/main" id="{7E222047-FC39-C868-3840-3839EC1A33EE}"/>
              </a:ext>
            </a:extLst>
          </p:cNvPr>
          <p:cNvSpPr txBox="1"/>
          <p:nvPr/>
        </p:nvSpPr>
        <p:spPr>
          <a:xfrm>
            <a:off x="838200" y="2397933"/>
            <a:ext cx="4865016" cy="3139321"/>
          </a:xfrm>
          <a:prstGeom prst="rect">
            <a:avLst/>
          </a:prstGeom>
          <a:solidFill>
            <a:srgbClr val="2B2B2B"/>
          </a:solidFill>
        </p:spPr>
        <p:txBody>
          <a:bodyPr wrap="square">
            <a:spAutoFit/>
          </a:bodyPr>
          <a:lstStyle/>
          <a:p>
            <a:r>
              <a:rPr lang="fr-BE" dirty="0">
                <a:solidFill>
                  <a:srgbClr val="CC7832"/>
                </a:solidFill>
                <a:effectLst/>
                <a:latin typeface="Consolas" panose="020B0609020204030204" pitchFamily="49" charset="0"/>
                <a:cs typeface="Consolas" panose="020B0609020204030204" pitchFamily="49" charset="0"/>
              </a:rPr>
              <a:t>public class </a:t>
            </a:r>
            <a:r>
              <a:rPr lang="fr-BE" dirty="0" err="1">
                <a:latin typeface="Consolas" panose="020B0609020204030204" pitchFamily="49" charset="0"/>
                <a:cs typeface="Consolas" panose="020B0609020204030204" pitchFamily="49" charset="0"/>
              </a:rPr>
              <a:t>MaListe</a:t>
            </a:r>
            <a:r>
              <a:rPr lang="fr-BE" dirty="0">
                <a:latin typeface="Consolas" panose="020B0609020204030204" pitchFamily="49" charset="0"/>
                <a:cs typeface="Consolas" panose="020B0609020204030204" pitchFamily="49" charset="0"/>
              </a:rPr>
              <a:t> {</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err="1">
                <a:solidFill>
                  <a:srgbClr val="CC7832"/>
                </a:solidFill>
                <a:effectLst/>
                <a:latin typeface="Consolas" panose="020B0609020204030204" pitchFamily="49" charset="0"/>
                <a:cs typeface="Consolas" panose="020B0609020204030204" pitchFamily="49" charset="0"/>
              </a:rPr>
              <a:t>private</a:t>
            </a: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List </a:t>
            </a:r>
            <a:r>
              <a:rPr lang="fr-BE" dirty="0">
                <a:solidFill>
                  <a:srgbClr val="9876AA"/>
                </a:solidFill>
                <a:effectLst/>
                <a:latin typeface="Consolas" panose="020B0609020204030204" pitchFamily="49" charset="0"/>
                <a:cs typeface="Consolas" panose="020B0609020204030204" pitchFamily="49" charset="0"/>
              </a:rPr>
              <a:t>liste</a:t>
            </a:r>
            <a:r>
              <a:rPr lang="fr-BE" dirty="0">
                <a:latin typeface="Consolas" panose="020B0609020204030204" pitchFamily="49" charset="0"/>
                <a:cs typeface="Consolas" panose="020B0609020204030204" pitchFamily="49" charset="0"/>
              </a:rPr>
              <a:t> = ...</a:t>
            </a:r>
            <a:r>
              <a:rPr lang="fr-BE" dirty="0">
                <a:solidFill>
                  <a:srgbClr val="CC7832"/>
                </a:solidFill>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endParaRPr lang="fr-BE" dirty="0">
              <a:solidFill>
                <a:srgbClr val="CC7832"/>
              </a:solidFill>
              <a:effectLst/>
              <a:latin typeface="Consolas" panose="020B0609020204030204" pitchFamily="49" charset="0"/>
              <a:cs typeface="Consolas" panose="020B0609020204030204" pitchFamily="49" charset="0"/>
            </a:endParaRPr>
          </a:p>
          <a:p>
            <a:r>
              <a:rPr lang="fr-BE" dirty="0">
                <a:solidFill>
                  <a:srgbClr val="CC7832"/>
                </a:solidFill>
                <a:effectLst/>
                <a:latin typeface="Consolas" panose="020B0609020204030204" pitchFamily="49" charset="0"/>
                <a:cs typeface="Consolas" panose="020B0609020204030204" pitchFamily="49" charset="0"/>
              </a:rPr>
              <a:t>    public </a:t>
            </a:r>
            <a:r>
              <a:rPr lang="fr-BE" dirty="0" err="1">
                <a:solidFill>
                  <a:srgbClr val="FFC66D"/>
                </a:solidFill>
                <a:latin typeface="Consolas" panose="020B0609020204030204" pitchFamily="49" charset="0"/>
                <a:cs typeface="Consolas" panose="020B0609020204030204" pitchFamily="49" charset="0"/>
              </a:rPr>
              <a:t>add</a:t>
            </a:r>
            <a:r>
              <a:rPr lang="fr-BE" dirty="0" err="1">
                <a:solidFill>
                  <a:srgbClr val="FFC66D"/>
                </a:solidFill>
                <a:effectLst/>
                <a:latin typeface="Consolas" panose="020B0609020204030204" pitchFamily="49" charset="0"/>
                <a:cs typeface="Consolas" panose="020B0609020204030204" pitchFamily="49" charset="0"/>
              </a:rPr>
              <a:t>Membre</a:t>
            </a:r>
            <a:r>
              <a:rPr lang="fr-BE" dirty="0">
                <a:latin typeface="Consolas" panose="020B0609020204030204" pitchFamily="49" charset="0"/>
                <a:cs typeface="Consolas" panose="020B0609020204030204" pitchFamily="49" charset="0"/>
              </a:rPr>
              <a:t>(Object o) {</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err="1">
                <a:solidFill>
                  <a:srgbClr val="9876AA"/>
                </a:solidFill>
                <a:effectLst/>
                <a:latin typeface="Consolas" panose="020B0609020204030204" pitchFamily="49" charset="0"/>
                <a:cs typeface="Consolas" panose="020B0609020204030204" pitchFamily="49" charset="0"/>
              </a:rPr>
              <a:t>liste</a:t>
            </a:r>
            <a:r>
              <a:rPr lang="fr-BE" dirty="0" err="1">
                <a:latin typeface="Consolas" panose="020B0609020204030204" pitchFamily="49" charset="0"/>
                <a:cs typeface="Consolas" panose="020B0609020204030204" pitchFamily="49" charset="0"/>
              </a:rPr>
              <a:t>.add</a:t>
            </a:r>
            <a:r>
              <a:rPr lang="fr-BE" dirty="0">
                <a:latin typeface="Consolas" panose="020B0609020204030204" pitchFamily="49" charset="0"/>
                <a:cs typeface="Consolas" panose="020B0609020204030204" pitchFamily="49" charset="0"/>
              </a:rPr>
              <a:t>(o)</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a:t>
            </a:r>
            <a:br>
              <a:rPr lang="fr-BE" dirty="0">
                <a:latin typeface="Consolas" panose="020B0609020204030204" pitchFamily="49" charset="0"/>
                <a:cs typeface="Consolas" panose="020B0609020204030204" pitchFamily="49" charset="0"/>
              </a:rPr>
            </a:br>
            <a:endParaRPr lang="fr-BE" dirty="0">
              <a:latin typeface="Consolas" panose="020B0609020204030204" pitchFamily="49" charset="0"/>
              <a:cs typeface="Consolas" panose="020B0609020204030204" pitchFamily="49" charset="0"/>
            </a:endParaRPr>
          </a:p>
          <a:p>
            <a:r>
              <a:rPr lang="fr-BE" dirty="0">
                <a:latin typeface="Consolas" panose="020B0609020204030204" pitchFamily="49" charset="0"/>
                <a:cs typeface="Consolas" panose="020B0609020204030204" pitchFamily="49" charset="0"/>
              </a:rPr>
              <a:t>    </a:t>
            </a:r>
            <a:r>
              <a:rPr lang="fr-BE" dirty="0">
                <a:solidFill>
                  <a:srgbClr val="CC7832"/>
                </a:solidFill>
                <a:effectLst/>
                <a:latin typeface="Consolas" panose="020B0609020204030204" pitchFamily="49" charset="0"/>
                <a:cs typeface="Consolas" panose="020B0609020204030204" pitchFamily="49" charset="0"/>
              </a:rPr>
              <a:t>public </a:t>
            </a:r>
            <a:r>
              <a:rPr lang="fr-BE" dirty="0">
                <a:latin typeface="Consolas" panose="020B0609020204030204" pitchFamily="49" charset="0"/>
                <a:cs typeface="Consolas" panose="020B0609020204030204" pitchFamily="49" charset="0"/>
              </a:rPr>
              <a:t>Object </a:t>
            </a:r>
            <a:r>
              <a:rPr lang="fr-BE" dirty="0" err="1">
                <a:solidFill>
                  <a:srgbClr val="FFC66D"/>
                </a:solidFill>
                <a:effectLst/>
                <a:latin typeface="Consolas" panose="020B0609020204030204" pitchFamily="49" charset="0"/>
                <a:cs typeface="Consolas" panose="020B0609020204030204" pitchFamily="49" charset="0"/>
              </a:rPr>
              <a:t>getMembre</a:t>
            </a:r>
            <a:r>
              <a:rPr lang="fr-BE" dirty="0">
                <a:latin typeface="Consolas" panose="020B0609020204030204" pitchFamily="49" charset="0"/>
                <a:cs typeface="Consolas" panose="020B0609020204030204" pitchFamily="49" charset="0"/>
              </a:rPr>
              <a:t>(</a:t>
            </a:r>
            <a:r>
              <a:rPr lang="fr-BE" dirty="0" err="1">
                <a:solidFill>
                  <a:srgbClr val="CC7832"/>
                </a:solidFill>
                <a:effectLst/>
                <a:latin typeface="Consolas" panose="020B0609020204030204" pitchFamily="49" charset="0"/>
                <a:cs typeface="Consolas" panose="020B0609020204030204" pitchFamily="49" charset="0"/>
              </a:rPr>
              <a:t>int</a:t>
            </a: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i) {</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a:solidFill>
                  <a:srgbClr val="CC7832"/>
                </a:solidFill>
                <a:effectLst/>
                <a:latin typeface="Consolas" panose="020B0609020204030204" pitchFamily="49" charset="0"/>
                <a:cs typeface="Consolas" panose="020B0609020204030204" pitchFamily="49" charset="0"/>
              </a:rPr>
              <a:t>return </a:t>
            </a:r>
            <a:r>
              <a:rPr lang="fr-BE" dirty="0" err="1">
                <a:solidFill>
                  <a:srgbClr val="9876AA"/>
                </a:solidFill>
                <a:effectLst/>
                <a:latin typeface="Consolas" panose="020B0609020204030204" pitchFamily="49" charset="0"/>
                <a:cs typeface="Consolas" panose="020B0609020204030204" pitchFamily="49" charset="0"/>
              </a:rPr>
              <a:t>liste</a:t>
            </a:r>
            <a:r>
              <a:rPr lang="fr-BE" dirty="0" err="1">
                <a:latin typeface="Consolas" panose="020B0609020204030204" pitchFamily="49" charset="0"/>
                <a:cs typeface="Consolas" panose="020B0609020204030204" pitchFamily="49" charset="0"/>
              </a:rPr>
              <a:t>.get</a:t>
            </a:r>
            <a:r>
              <a:rPr lang="fr-BE" dirty="0">
                <a:latin typeface="Consolas" panose="020B0609020204030204" pitchFamily="49" charset="0"/>
                <a:cs typeface="Consolas" panose="020B0609020204030204" pitchFamily="49" charset="0"/>
              </a:rPr>
              <a:t>(i)</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
        <p:nvSpPr>
          <p:cNvPr id="7" name="Légende encadrée 1 6"/>
          <p:cNvSpPr/>
          <p:nvPr/>
        </p:nvSpPr>
        <p:spPr>
          <a:xfrm>
            <a:off x="2567875" y="5603700"/>
            <a:ext cx="3711947" cy="927279"/>
          </a:xfrm>
          <a:prstGeom prst="borderCallout1">
            <a:avLst>
              <a:gd name="adj1" fmla="val -5036"/>
              <a:gd name="adj2" fmla="val 47398"/>
              <a:gd name="adj3" fmla="val -19407"/>
              <a:gd name="adj4" fmla="val 43330"/>
            </a:avLst>
          </a:prstGeom>
          <a:solidFill>
            <a:schemeClr val="accent6"/>
          </a:solidFill>
          <a:ln w="3175" cmpd="sng">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fr-FR" sz="1400" dirty="0">
                <a:solidFill>
                  <a:schemeClr val="tx1"/>
                </a:solidFill>
              </a:rPr>
              <a:t>Le client (celui qui appelle) doit </a:t>
            </a:r>
            <a:r>
              <a:rPr lang="fr-FR" sz="1400" dirty="0" err="1">
                <a:solidFill>
                  <a:schemeClr val="tx1"/>
                </a:solidFill>
              </a:rPr>
              <a:t>caster</a:t>
            </a:r>
            <a:r>
              <a:rPr lang="fr-FR" sz="1400" dirty="0">
                <a:solidFill>
                  <a:schemeClr val="tx1"/>
                </a:solidFill>
              </a:rPr>
              <a:t> le résultat (par exemple en </a:t>
            </a:r>
            <a:r>
              <a:rPr lang="fr-FR" sz="1400" dirty="0" err="1">
                <a:solidFill>
                  <a:schemeClr val="tx1"/>
                </a:solidFill>
              </a:rPr>
              <a:t>Integer</a:t>
            </a:r>
            <a:r>
              <a:rPr lang="fr-FR" sz="1400" dirty="0">
                <a:solidFill>
                  <a:schemeClr val="tx1"/>
                </a:solidFill>
              </a:rPr>
              <a:t>) </a:t>
            </a:r>
            <a:r>
              <a:rPr lang="fr-FR" sz="1400" dirty="0">
                <a:solidFill>
                  <a:schemeClr val="tx1"/>
                </a:solidFill>
                <a:sym typeface="Wingdings" pitchFamily="2" charset="2"/>
              </a:rPr>
              <a:t></a:t>
            </a:r>
            <a:r>
              <a:rPr lang="fr-FR" sz="1400" dirty="0">
                <a:solidFill>
                  <a:schemeClr val="tx1"/>
                </a:solidFill>
              </a:rPr>
              <a:t> risque d'erreur à l'exécution si on a mis autre chose qu’un </a:t>
            </a:r>
            <a:r>
              <a:rPr lang="fr-FR" sz="1400" dirty="0" err="1">
                <a:solidFill>
                  <a:schemeClr val="tx1"/>
                </a:solidFill>
              </a:rPr>
              <a:t>Integer</a:t>
            </a:r>
            <a:r>
              <a:rPr lang="fr-FR" sz="1400" dirty="0">
                <a:solidFill>
                  <a:schemeClr val="tx1"/>
                </a:solidFill>
              </a:rPr>
              <a:t> dans la liste…</a:t>
            </a:r>
          </a:p>
        </p:txBody>
      </p:sp>
      <p:sp>
        <p:nvSpPr>
          <p:cNvPr id="11" name="ZoneTexte 10">
            <a:extLst>
              <a:ext uri="{FF2B5EF4-FFF2-40B4-BE49-F238E27FC236}">
                <a16:creationId xmlns:a16="http://schemas.microsoft.com/office/drawing/2014/main" id="{81958FA6-DCD4-6F5B-F326-2DA8BE795D0F}"/>
              </a:ext>
            </a:extLst>
          </p:cNvPr>
          <p:cNvSpPr txBox="1"/>
          <p:nvPr/>
        </p:nvSpPr>
        <p:spPr>
          <a:xfrm>
            <a:off x="6279822" y="2401653"/>
            <a:ext cx="4491873" cy="3139321"/>
          </a:xfrm>
          <a:prstGeom prst="rect">
            <a:avLst/>
          </a:prstGeom>
          <a:solidFill>
            <a:srgbClr val="2B2B2B"/>
          </a:solidFill>
        </p:spPr>
        <p:txBody>
          <a:bodyPr wrap="square">
            <a:spAutoFit/>
          </a:bodyPr>
          <a:lstStyle/>
          <a:p>
            <a:r>
              <a:rPr lang="fr-BE" dirty="0">
                <a:solidFill>
                  <a:srgbClr val="CC7832"/>
                </a:solidFill>
                <a:effectLst/>
                <a:latin typeface="Consolas" panose="020B0609020204030204" pitchFamily="49" charset="0"/>
                <a:cs typeface="Consolas" panose="020B0609020204030204" pitchFamily="49" charset="0"/>
              </a:rPr>
              <a:t>public class </a:t>
            </a:r>
            <a:r>
              <a:rPr lang="fr-BE" dirty="0" err="1">
                <a:latin typeface="Consolas" panose="020B0609020204030204" pitchFamily="49" charset="0"/>
                <a:cs typeface="Consolas" panose="020B0609020204030204" pitchFamily="49" charset="0"/>
              </a:rPr>
              <a:t>MaListe</a:t>
            </a:r>
            <a:r>
              <a:rPr lang="fr-BE" dirty="0">
                <a:latin typeface="Consolas" panose="020B0609020204030204" pitchFamily="49" charset="0"/>
                <a:cs typeface="Consolas" panose="020B0609020204030204" pitchFamily="49" charset="0"/>
              </a:rPr>
              <a:t>&lt;</a:t>
            </a:r>
            <a:r>
              <a:rPr lang="fr-BE" dirty="0" err="1">
                <a:solidFill>
                  <a:srgbClr val="507874"/>
                </a:solidFill>
                <a:effectLst/>
                <a:latin typeface="Consolas" panose="020B0609020204030204" pitchFamily="49" charset="0"/>
                <a:cs typeface="Consolas" panose="020B0609020204030204" pitchFamily="49" charset="0"/>
              </a:rPr>
              <a:t>T</a:t>
            </a:r>
            <a:r>
              <a:rPr lang="fr-BE" dirty="0">
                <a:latin typeface="Consolas" panose="020B0609020204030204" pitchFamily="49" charset="0"/>
                <a:cs typeface="Consolas" panose="020B0609020204030204" pitchFamily="49" charset="0"/>
              </a:rPr>
              <a:t>&gt; {</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err="1">
                <a:solidFill>
                  <a:srgbClr val="CC7832"/>
                </a:solidFill>
                <a:effectLst/>
                <a:latin typeface="Consolas" panose="020B0609020204030204" pitchFamily="49" charset="0"/>
                <a:cs typeface="Consolas" panose="020B0609020204030204" pitchFamily="49" charset="0"/>
              </a:rPr>
              <a:t>private</a:t>
            </a: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List&lt;</a:t>
            </a:r>
            <a:r>
              <a:rPr lang="fr-BE" dirty="0" err="1">
                <a:solidFill>
                  <a:srgbClr val="507874"/>
                </a:solidFill>
                <a:effectLst/>
                <a:latin typeface="Consolas" panose="020B0609020204030204" pitchFamily="49" charset="0"/>
                <a:cs typeface="Consolas" panose="020B0609020204030204" pitchFamily="49" charset="0"/>
              </a:rPr>
              <a:t>T</a:t>
            </a:r>
            <a:r>
              <a:rPr lang="fr-BE" dirty="0">
                <a:latin typeface="Consolas" panose="020B0609020204030204" pitchFamily="49" charset="0"/>
                <a:cs typeface="Consolas" panose="020B0609020204030204" pitchFamily="49" charset="0"/>
              </a:rPr>
              <a:t>&gt; </a:t>
            </a:r>
            <a:r>
              <a:rPr lang="fr-BE" dirty="0">
                <a:solidFill>
                  <a:srgbClr val="9876AA"/>
                </a:solidFill>
                <a:effectLst/>
                <a:latin typeface="Consolas" panose="020B0609020204030204" pitchFamily="49" charset="0"/>
                <a:cs typeface="Consolas" panose="020B0609020204030204" pitchFamily="49" charset="0"/>
              </a:rPr>
              <a:t>liste</a:t>
            </a:r>
            <a:r>
              <a:rPr lang="fr-BE" dirty="0">
                <a:latin typeface="Consolas" panose="020B0609020204030204" pitchFamily="49" charset="0"/>
                <a:cs typeface="Consolas" panose="020B0609020204030204" pitchFamily="49" charset="0"/>
              </a:rPr>
              <a:t> = ...</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br>
              <a:rPr lang="fr-BE" dirty="0">
                <a:solidFill>
                  <a:srgbClr val="CC7832"/>
                </a:solidFill>
                <a:effectLst/>
                <a:latin typeface="Consolas" panose="020B0609020204030204" pitchFamily="49" charset="0"/>
                <a:cs typeface="Consolas" panose="020B0609020204030204" pitchFamily="49" charset="0"/>
              </a:rPr>
            </a:br>
            <a:r>
              <a:rPr lang="fr-BE" dirty="0">
                <a:solidFill>
                  <a:srgbClr val="CC7832"/>
                </a:solidFill>
                <a:effectLst/>
                <a:latin typeface="Consolas" panose="020B0609020204030204" pitchFamily="49" charset="0"/>
                <a:cs typeface="Consolas" panose="020B0609020204030204" pitchFamily="49" charset="0"/>
              </a:rPr>
              <a:t>    public </a:t>
            </a:r>
            <a:r>
              <a:rPr lang="fr-BE" dirty="0" err="1">
                <a:solidFill>
                  <a:srgbClr val="CC7832"/>
                </a:solidFill>
                <a:effectLst/>
                <a:latin typeface="Consolas" panose="020B0609020204030204" pitchFamily="49" charset="0"/>
                <a:cs typeface="Consolas" panose="020B0609020204030204" pitchFamily="49" charset="0"/>
              </a:rPr>
              <a:t>void</a:t>
            </a:r>
            <a:r>
              <a:rPr lang="fr-BE" dirty="0">
                <a:solidFill>
                  <a:srgbClr val="CC7832"/>
                </a:solidFill>
                <a:effectLst/>
                <a:latin typeface="Consolas" panose="020B0609020204030204" pitchFamily="49" charset="0"/>
                <a:cs typeface="Consolas" panose="020B0609020204030204" pitchFamily="49" charset="0"/>
              </a:rPr>
              <a:t> </a:t>
            </a:r>
            <a:r>
              <a:rPr lang="fr-BE" dirty="0" err="1">
                <a:solidFill>
                  <a:srgbClr val="FFC66D"/>
                </a:solidFill>
                <a:latin typeface="Consolas" panose="020B0609020204030204" pitchFamily="49" charset="0"/>
                <a:cs typeface="Consolas" panose="020B0609020204030204" pitchFamily="49" charset="0"/>
              </a:rPr>
              <a:t>add</a:t>
            </a:r>
            <a:r>
              <a:rPr lang="fr-BE" dirty="0" err="1">
                <a:solidFill>
                  <a:srgbClr val="FFC66D"/>
                </a:solidFill>
                <a:effectLst/>
                <a:latin typeface="Consolas" panose="020B0609020204030204" pitchFamily="49" charset="0"/>
                <a:cs typeface="Consolas" panose="020B0609020204030204" pitchFamily="49" charset="0"/>
              </a:rPr>
              <a:t>Membre</a:t>
            </a:r>
            <a:r>
              <a:rPr lang="fr-BE" dirty="0">
                <a:latin typeface="Consolas" panose="020B0609020204030204" pitchFamily="49" charset="0"/>
                <a:cs typeface="Consolas" panose="020B0609020204030204" pitchFamily="49" charset="0"/>
              </a:rPr>
              <a:t>(</a:t>
            </a:r>
            <a:r>
              <a:rPr lang="fr-BE" dirty="0" err="1">
                <a:solidFill>
                  <a:srgbClr val="507874"/>
                </a:solidFill>
                <a:effectLst/>
                <a:latin typeface="Consolas" panose="020B0609020204030204" pitchFamily="49" charset="0"/>
                <a:cs typeface="Consolas" panose="020B0609020204030204" pitchFamily="49" charset="0"/>
              </a:rPr>
              <a:t>T</a:t>
            </a:r>
            <a:r>
              <a:rPr lang="fr-BE" dirty="0">
                <a:solidFill>
                  <a:srgbClr val="507874"/>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m) {</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err="1">
                <a:solidFill>
                  <a:srgbClr val="9876AA"/>
                </a:solidFill>
                <a:effectLst/>
                <a:latin typeface="Consolas" panose="020B0609020204030204" pitchFamily="49" charset="0"/>
                <a:cs typeface="Consolas" panose="020B0609020204030204" pitchFamily="49" charset="0"/>
              </a:rPr>
              <a:t>liste</a:t>
            </a:r>
            <a:r>
              <a:rPr lang="fr-BE" dirty="0" err="1">
                <a:latin typeface="Consolas" panose="020B0609020204030204" pitchFamily="49" charset="0"/>
                <a:cs typeface="Consolas" panose="020B0609020204030204" pitchFamily="49" charset="0"/>
              </a:rPr>
              <a:t>.add</a:t>
            </a:r>
            <a:r>
              <a:rPr lang="fr-BE" dirty="0">
                <a:latin typeface="Consolas" panose="020B0609020204030204" pitchFamily="49" charset="0"/>
                <a:cs typeface="Consolas" panose="020B0609020204030204" pitchFamily="49" charset="0"/>
              </a:rPr>
              <a:t>(m)</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a:t>
            </a:r>
            <a:br>
              <a:rPr lang="fr-BE" dirty="0">
                <a:latin typeface="Consolas" panose="020B0609020204030204" pitchFamily="49" charset="0"/>
                <a:cs typeface="Consolas" panose="020B0609020204030204" pitchFamily="49" charset="0"/>
              </a:rPr>
            </a:b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a:solidFill>
                  <a:srgbClr val="CC7832"/>
                </a:solidFill>
                <a:effectLst/>
                <a:latin typeface="Consolas" panose="020B0609020204030204" pitchFamily="49" charset="0"/>
                <a:cs typeface="Consolas" panose="020B0609020204030204" pitchFamily="49" charset="0"/>
              </a:rPr>
              <a:t>public </a:t>
            </a:r>
            <a:r>
              <a:rPr lang="fr-BE" dirty="0" err="1">
                <a:solidFill>
                  <a:srgbClr val="507874"/>
                </a:solidFill>
                <a:effectLst/>
                <a:latin typeface="Consolas" panose="020B0609020204030204" pitchFamily="49" charset="0"/>
                <a:cs typeface="Consolas" panose="020B0609020204030204" pitchFamily="49" charset="0"/>
              </a:rPr>
              <a:t>T</a:t>
            </a:r>
            <a:r>
              <a:rPr lang="fr-BE" dirty="0">
                <a:solidFill>
                  <a:srgbClr val="507874"/>
                </a:solidFill>
                <a:effectLst/>
                <a:latin typeface="Consolas" panose="020B0609020204030204" pitchFamily="49" charset="0"/>
                <a:cs typeface="Consolas" panose="020B0609020204030204" pitchFamily="49" charset="0"/>
              </a:rPr>
              <a:t> </a:t>
            </a:r>
            <a:r>
              <a:rPr lang="fr-BE" dirty="0" err="1">
                <a:solidFill>
                  <a:srgbClr val="FFC66D"/>
                </a:solidFill>
                <a:effectLst/>
                <a:latin typeface="Consolas" panose="020B0609020204030204" pitchFamily="49" charset="0"/>
                <a:cs typeface="Consolas" panose="020B0609020204030204" pitchFamily="49" charset="0"/>
              </a:rPr>
              <a:t>getMembre</a:t>
            </a:r>
            <a:r>
              <a:rPr lang="fr-BE" dirty="0">
                <a:latin typeface="Consolas" panose="020B0609020204030204" pitchFamily="49" charset="0"/>
                <a:cs typeface="Consolas" panose="020B0609020204030204" pitchFamily="49" charset="0"/>
              </a:rPr>
              <a:t>(</a:t>
            </a:r>
            <a:r>
              <a:rPr lang="fr-BE" dirty="0" err="1">
                <a:solidFill>
                  <a:srgbClr val="CC7832"/>
                </a:solidFill>
                <a:effectLst/>
                <a:latin typeface="Consolas" panose="020B0609020204030204" pitchFamily="49" charset="0"/>
                <a:cs typeface="Consolas" panose="020B0609020204030204" pitchFamily="49" charset="0"/>
              </a:rPr>
              <a:t>int</a:t>
            </a: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i) {</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a:solidFill>
                  <a:srgbClr val="CC7832"/>
                </a:solidFill>
                <a:effectLst/>
                <a:latin typeface="Consolas" panose="020B0609020204030204" pitchFamily="49" charset="0"/>
                <a:cs typeface="Consolas" panose="020B0609020204030204" pitchFamily="49" charset="0"/>
              </a:rPr>
              <a:t>return </a:t>
            </a:r>
            <a:r>
              <a:rPr lang="fr-BE" dirty="0" err="1">
                <a:solidFill>
                  <a:srgbClr val="9876AA"/>
                </a:solidFill>
                <a:effectLst/>
                <a:latin typeface="Consolas" panose="020B0609020204030204" pitchFamily="49" charset="0"/>
                <a:cs typeface="Consolas" panose="020B0609020204030204" pitchFamily="49" charset="0"/>
              </a:rPr>
              <a:t>liste</a:t>
            </a:r>
            <a:r>
              <a:rPr lang="fr-BE" dirty="0" err="1">
                <a:latin typeface="Consolas" panose="020B0609020204030204" pitchFamily="49" charset="0"/>
                <a:cs typeface="Consolas" panose="020B0609020204030204" pitchFamily="49" charset="0"/>
              </a:rPr>
              <a:t>.get</a:t>
            </a:r>
            <a:r>
              <a:rPr lang="fr-BE" dirty="0">
                <a:latin typeface="Consolas" panose="020B0609020204030204" pitchFamily="49" charset="0"/>
                <a:cs typeface="Consolas" panose="020B0609020204030204" pitchFamily="49" charset="0"/>
              </a:rPr>
              <a:t>(i)</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
        <p:nvSpPr>
          <p:cNvPr id="3" name="Espace réservé du numéro de diapositive 2">
            <a:extLst>
              <a:ext uri="{FF2B5EF4-FFF2-40B4-BE49-F238E27FC236}">
                <a16:creationId xmlns:a16="http://schemas.microsoft.com/office/drawing/2014/main" id="{6D2592C4-1806-DAFC-65C2-EAB18F05CEB1}"/>
              </a:ext>
            </a:extLst>
          </p:cNvPr>
          <p:cNvSpPr>
            <a:spLocks noGrp="1"/>
          </p:cNvSpPr>
          <p:nvPr>
            <p:ph type="sldNum" sz="quarter" idx="4"/>
          </p:nvPr>
        </p:nvSpPr>
        <p:spPr/>
        <p:txBody>
          <a:bodyPr/>
          <a:lstStyle/>
          <a:p>
            <a:fld id="{33C783E2-4793-4F48-A271-51A73CC37D74}" type="slidenum">
              <a:rPr lang="fr-FR" smtClean="0"/>
              <a:t>19</a:t>
            </a:fld>
            <a:endParaRPr lang="fr-FR"/>
          </a:p>
        </p:txBody>
      </p:sp>
    </p:spTree>
    <p:extLst>
      <p:ext uri="{BB962C8B-B14F-4D97-AF65-F5344CB8AC3E}">
        <p14:creationId xmlns:p14="http://schemas.microsoft.com/office/powerpoint/2010/main" val="1161473488"/>
      </p:ext>
    </p:extLst>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animBg="1"/>
      <p:bldP spid="11"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BC18DC-5789-A343-9CF8-610E340ECFCA}"/>
              </a:ext>
            </a:extLst>
          </p:cNvPr>
          <p:cNvSpPr>
            <a:spLocks noGrp="1"/>
          </p:cNvSpPr>
          <p:nvPr>
            <p:ph type="title"/>
          </p:nvPr>
        </p:nvSpPr>
        <p:spPr/>
        <p:txBody>
          <a:bodyPr/>
          <a:lstStyle/>
          <a:p>
            <a:r>
              <a:rPr lang="fr-FR" dirty="0"/>
              <a:t>Exercice 34</a:t>
            </a:r>
          </a:p>
        </p:txBody>
      </p:sp>
      <p:sp>
        <p:nvSpPr>
          <p:cNvPr id="5" name="Espace réservé du contenu 4">
            <a:extLst>
              <a:ext uri="{FF2B5EF4-FFF2-40B4-BE49-F238E27FC236}">
                <a16:creationId xmlns:a16="http://schemas.microsoft.com/office/drawing/2014/main" id="{3F8D6BDE-490E-3140-9666-7A039C4FFA76}"/>
              </a:ext>
            </a:extLst>
          </p:cNvPr>
          <p:cNvSpPr>
            <a:spLocks noGrp="1"/>
          </p:cNvSpPr>
          <p:nvPr>
            <p:ph idx="1"/>
          </p:nvPr>
        </p:nvSpPr>
        <p:spPr/>
        <p:txBody>
          <a:bodyPr>
            <a:normAutofit/>
          </a:bodyPr>
          <a:lstStyle/>
          <a:p>
            <a:pPr marL="0" indent="0">
              <a:buNone/>
            </a:pPr>
            <a:r>
              <a:rPr lang="fr-FR" sz="2400" dirty="0"/>
              <a:t>Ecrivez une classe </a:t>
            </a:r>
            <a:r>
              <a:rPr lang="fr-FR" sz="2200" dirty="0">
                <a:solidFill>
                  <a:schemeClr val="accent4"/>
                </a:solidFill>
                <a:latin typeface="Consolas"/>
                <a:cs typeface="Consolas"/>
              </a:rPr>
              <a:t>Paire&lt;</a:t>
            </a:r>
            <a:r>
              <a:rPr lang="fr-FR" sz="2200" dirty="0" err="1">
                <a:solidFill>
                  <a:schemeClr val="accent4"/>
                </a:solidFill>
                <a:latin typeface="Consolas"/>
                <a:cs typeface="Consolas"/>
              </a:rPr>
              <a:t>T</a:t>
            </a:r>
            <a:r>
              <a:rPr lang="fr-FR" sz="2200" dirty="0">
                <a:solidFill>
                  <a:schemeClr val="accent4"/>
                </a:solidFill>
                <a:latin typeface="Consolas"/>
                <a:cs typeface="Consolas"/>
              </a:rPr>
              <a:t>&gt;</a:t>
            </a:r>
            <a:r>
              <a:rPr lang="fr-FR" sz="2400" dirty="0"/>
              <a:t>, qui modélise une paire de deux objets de type identique. </a:t>
            </a:r>
          </a:p>
          <a:p>
            <a:pPr marL="342900" indent="-342900"/>
            <a:r>
              <a:rPr lang="fr-FR" sz="2400" dirty="0"/>
              <a:t>Son constructeur prend deux objets (premier et second).</a:t>
            </a:r>
          </a:p>
          <a:p>
            <a:pPr marL="342900" indent="-342900"/>
            <a:r>
              <a:rPr lang="fr-FR" sz="2400" dirty="0"/>
              <a:t>Elle présente deux méthodes </a:t>
            </a:r>
            <a:r>
              <a:rPr lang="fr-FR" sz="2200" dirty="0" err="1">
                <a:solidFill>
                  <a:schemeClr val="accent4"/>
                </a:solidFill>
                <a:latin typeface="Consolas"/>
                <a:cs typeface="Consolas"/>
              </a:rPr>
              <a:t>getPremier</a:t>
            </a:r>
            <a:r>
              <a:rPr lang="fr-FR" sz="2400" dirty="0"/>
              <a:t> et </a:t>
            </a:r>
            <a:r>
              <a:rPr lang="fr-FR" sz="2200" dirty="0" err="1">
                <a:solidFill>
                  <a:schemeClr val="accent4"/>
                </a:solidFill>
                <a:latin typeface="Consolas"/>
                <a:cs typeface="Consolas"/>
              </a:rPr>
              <a:t>getSecond</a:t>
            </a:r>
            <a:r>
              <a:rPr lang="fr-FR" sz="2400" dirty="0"/>
              <a:t>. </a:t>
            </a:r>
          </a:p>
          <a:p>
            <a:pPr marL="342900" indent="-342900"/>
            <a:r>
              <a:rPr lang="fr-FR" sz="2400" dirty="0"/>
              <a:t>… ainsi qu’une méthode </a:t>
            </a:r>
            <a:r>
              <a:rPr lang="fr-FR" sz="2200" dirty="0" err="1">
                <a:solidFill>
                  <a:schemeClr val="accent4"/>
                </a:solidFill>
                <a:latin typeface="Consolas"/>
                <a:cs typeface="Consolas"/>
              </a:rPr>
              <a:t>toString</a:t>
            </a:r>
            <a:r>
              <a:rPr lang="fr-FR" sz="2400" dirty="0"/>
              <a:t> qui retourne ﻿</a:t>
            </a:r>
            <a:br>
              <a:rPr lang="fr-FR" sz="2400" dirty="0"/>
            </a:br>
            <a:r>
              <a:rPr lang="fr-FR" sz="2400" dirty="0"/>
              <a:t>    </a:t>
            </a:r>
            <a:r>
              <a:rPr lang="fr-FR" sz="2200" dirty="0">
                <a:solidFill>
                  <a:schemeClr val="accent4"/>
                </a:solidFill>
                <a:latin typeface="Consolas"/>
                <a:cs typeface="Consolas"/>
              </a:rPr>
              <a:t>"</a:t>
            </a:r>
            <a:r>
              <a:rPr lang="fr-FR" sz="2200" dirty="0" err="1">
                <a:solidFill>
                  <a:schemeClr val="accent4"/>
                </a:solidFill>
                <a:latin typeface="Consolas"/>
                <a:cs typeface="Consolas"/>
              </a:rPr>
              <a:t>premiere</a:t>
            </a:r>
            <a:r>
              <a:rPr lang="fr-FR" sz="2200" dirty="0">
                <a:solidFill>
                  <a:schemeClr val="accent4"/>
                </a:solidFill>
                <a:latin typeface="Consolas"/>
                <a:cs typeface="Consolas"/>
              </a:rPr>
              <a:t> valeur : " + p + " - </a:t>
            </a:r>
            <a:r>
              <a:rPr lang="fr-FR" sz="2200" dirty="0" err="1">
                <a:solidFill>
                  <a:schemeClr val="accent4"/>
                </a:solidFill>
                <a:latin typeface="Consolas"/>
                <a:cs typeface="Consolas"/>
              </a:rPr>
              <a:t>deuxieme</a:t>
            </a:r>
            <a:r>
              <a:rPr lang="fr-FR" sz="2200" dirty="0">
                <a:solidFill>
                  <a:schemeClr val="accent4"/>
                </a:solidFill>
                <a:latin typeface="Consolas"/>
                <a:cs typeface="Consolas"/>
              </a:rPr>
              <a:t> valeur : " + s</a:t>
            </a:r>
          </a:p>
          <a:p>
            <a:endParaRPr lang="fr-FR" sz="2400" dirty="0"/>
          </a:p>
          <a:p>
            <a:pPr marL="0" indent="0">
              <a:buNone/>
            </a:pPr>
            <a:r>
              <a:rPr lang="fr-FR" sz="2400" dirty="0"/>
              <a:t>Ecrivez aussi un programme dans lequel vous créez une paire </a:t>
            </a:r>
            <a:r>
              <a:rPr lang="fr-FR" sz="2200" dirty="0">
                <a:solidFill>
                  <a:schemeClr val="accent4"/>
                </a:solidFill>
                <a:latin typeface="Consolas"/>
                <a:cs typeface="Consolas"/>
              </a:rPr>
              <a:t>d’Integer</a:t>
            </a:r>
            <a:r>
              <a:rPr lang="fr-FR" sz="2400" dirty="0"/>
              <a:t> et une paire de </a:t>
            </a:r>
            <a:r>
              <a:rPr lang="fr-FR" sz="2200" dirty="0">
                <a:solidFill>
                  <a:schemeClr val="accent4"/>
                </a:solidFill>
                <a:latin typeface="Consolas"/>
                <a:cs typeface="Consolas"/>
              </a:rPr>
              <a:t>Double</a:t>
            </a:r>
            <a:r>
              <a:rPr lang="fr-FR" sz="2400" dirty="0"/>
              <a:t>, puis les affichez en appelant les différentes méthodes de la classe </a:t>
            </a:r>
            <a:r>
              <a:rPr lang="fr-FR" sz="2200" dirty="0">
                <a:solidFill>
                  <a:schemeClr val="accent4"/>
                </a:solidFill>
                <a:latin typeface="Consolas"/>
                <a:cs typeface="Consolas"/>
              </a:rPr>
              <a:t>Paire&lt;</a:t>
            </a:r>
            <a:r>
              <a:rPr lang="fr-FR" sz="2200" dirty="0" err="1">
                <a:solidFill>
                  <a:schemeClr val="accent4"/>
                </a:solidFill>
                <a:latin typeface="Consolas"/>
                <a:cs typeface="Consolas"/>
              </a:rPr>
              <a:t>T</a:t>
            </a:r>
            <a:r>
              <a:rPr lang="fr-FR" sz="2200" dirty="0">
                <a:solidFill>
                  <a:schemeClr val="accent4"/>
                </a:solidFill>
                <a:latin typeface="Consolas"/>
                <a:cs typeface="Consolas"/>
              </a:rPr>
              <a:t>&gt;</a:t>
            </a:r>
            <a:r>
              <a:rPr lang="fr-FR" sz="2400" dirty="0"/>
              <a:t>.</a:t>
            </a:r>
          </a:p>
          <a:p>
            <a:endParaRPr lang="fr-FR" sz="2400" dirty="0"/>
          </a:p>
        </p:txBody>
      </p:sp>
      <p:pic>
        <p:nvPicPr>
          <p:cNvPr id="6146" name="Picture 2" descr="Exercer PNG Transparent Images, Images, Photos | PNG Arts">
            <a:extLst>
              <a:ext uri="{FF2B5EF4-FFF2-40B4-BE49-F238E27FC236}">
                <a16:creationId xmlns:a16="http://schemas.microsoft.com/office/drawing/2014/main" id="{FAFC3130-96CA-3716-2BC8-954F342B35D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9038897" y="140741"/>
            <a:ext cx="2732688" cy="1439287"/>
          </a:xfrm>
          <a:prstGeom prst="rect">
            <a:avLst/>
          </a:prstGeom>
          <a:noFill/>
          <a:extLst>
            <a:ext uri="{909E8E84-426E-40DD-AFC4-6F175D3DCCD1}">
              <a14:hiddenFill xmlns:a14="http://schemas.microsoft.com/office/drawing/2010/main">
                <a:solidFill>
                  <a:srgbClr val="FFFFFF"/>
                </a:solidFill>
              </a14:hiddenFill>
            </a:ext>
          </a:extLst>
        </p:spPr>
      </p:pic>
      <p:sp>
        <p:nvSpPr>
          <p:cNvPr id="3" name="Espace réservé du numéro de diapositive 2">
            <a:extLst>
              <a:ext uri="{FF2B5EF4-FFF2-40B4-BE49-F238E27FC236}">
                <a16:creationId xmlns:a16="http://schemas.microsoft.com/office/drawing/2014/main" id="{FD8F116D-CB78-B23E-A64B-AAE5C6FFADD6}"/>
              </a:ext>
            </a:extLst>
          </p:cNvPr>
          <p:cNvSpPr>
            <a:spLocks noGrp="1"/>
          </p:cNvSpPr>
          <p:nvPr>
            <p:ph type="sldNum" sz="quarter" idx="4"/>
          </p:nvPr>
        </p:nvSpPr>
        <p:spPr/>
        <p:txBody>
          <a:bodyPr/>
          <a:lstStyle/>
          <a:p>
            <a:fld id="{33C783E2-4793-4F48-A271-51A73CC37D74}" type="slidenum">
              <a:rPr lang="fr-FR" smtClean="0"/>
              <a:t>20</a:t>
            </a:fld>
            <a:endParaRPr lang="fr-FR"/>
          </a:p>
        </p:txBody>
      </p:sp>
    </p:spTree>
    <p:extLst>
      <p:ext uri="{BB962C8B-B14F-4D97-AF65-F5344CB8AC3E}">
        <p14:creationId xmlns:p14="http://schemas.microsoft.com/office/powerpoint/2010/main" val="4390587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Types génériques</a:t>
            </a:r>
          </a:p>
        </p:txBody>
      </p:sp>
      <p:sp>
        <p:nvSpPr>
          <p:cNvPr id="3" name="Espace réservé du contenu 2"/>
          <p:cNvSpPr>
            <a:spLocks noGrp="1"/>
          </p:cNvSpPr>
          <p:nvPr>
            <p:ph idx="1"/>
          </p:nvPr>
        </p:nvSpPr>
        <p:spPr/>
        <p:txBody>
          <a:bodyPr>
            <a:noAutofit/>
          </a:bodyPr>
          <a:lstStyle/>
          <a:p>
            <a:pPr marL="342900" indent="-342900">
              <a:lnSpc>
                <a:spcPct val="80000"/>
              </a:lnSpc>
              <a:buFont typeface="Arial"/>
              <a:buChar char="•"/>
            </a:pPr>
            <a:r>
              <a:rPr lang="fr-FR" dirty="0"/>
              <a:t>Le concept de type générique</a:t>
            </a:r>
          </a:p>
          <a:p>
            <a:pPr marL="342900" indent="-342900">
              <a:lnSpc>
                <a:spcPct val="80000"/>
              </a:lnSpc>
              <a:buFont typeface="Arial"/>
              <a:buChar char="•"/>
            </a:pPr>
            <a:r>
              <a:rPr lang="fr-FR" dirty="0"/>
              <a:t>Classe Générique à un seul paramètre</a:t>
            </a:r>
          </a:p>
          <a:p>
            <a:pPr marL="342900" indent="-342900">
              <a:lnSpc>
                <a:spcPct val="80000"/>
              </a:lnSpc>
              <a:buFont typeface="Arial"/>
              <a:buChar char="•"/>
            </a:pPr>
            <a:r>
              <a:rPr lang="fr-FR" dirty="0">
                <a:solidFill>
                  <a:schemeClr val="accent4"/>
                </a:solidFill>
              </a:rPr>
              <a:t>Classe Générique à plusieurs paramètres</a:t>
            </a:r>
          </a:p>
          <a:p>
            <a:pPr marL="342900" indent="-342900">
              <a:lnSpc>
                <a:spcPct val="80000"/>
              </a:lnSpc>
              <a:buFont typeface="Arial"/>
              <a:buChar char="•"/>
            </a:pPr>
            <a:r>
              <a:rPr lang="fr-FR" dirty="0"/>
              <a:t>Compilation des types génériques</a:t>
            </a:r>
          </a:p>
          <a:p>
            <a:pPr marL="342900" indent="-342900">
              <a:lnSpc>
                <a:spcPct val="80000"/>
              </a:lnSpc>
              <a:buFont typeface="Arial"/>
              <a:buChar char="•"/>
            </a:pPr>
            <a:r>
              <a:rPr lang="fr-FR" dirty="0"/>
              <a:t>Méthodes génériques</a:t>
            </a:r>
          </a:p>
          <a:p>
            <a:pPr marL="342900" indent="-342900">
              <a:lnSpc>
                <a:spcPct val="80000"/>
              </a:lnSpc>
              <a:buFont typeface="Arial"/>
              <a:buChar char="•"/>
            </a:pPr>
            <a:r>
              <a:rPr lang="fr-FR" dirty="0"/>
              <a:t>Limitations sur le type</a:t>
            </a:r>
          </a:p>
          <a:p>
            <a:pPr marL="342900" indent="-342900">
              <a:lnSpc>
                <a:spcPct val="80000"/>
              </a:lnSpc>
              <a:buFont typeface="Arial"/>
              <a:buChar char="•"/>
            </a:pPr>
            <a:r>
              <a:rPr lang="fr-FR" dirty="0"/>
              <a:t>Type générique et héritage</a:t>
            </a:r>
          </a:p>
          <a:p>
            <a:pPr marL="342900" indent="-342900">
              <a:lnSpc>
                <a:spcPct val="80000"/>
              </a:lnSpc>
              <a:buFont typeface="Arial"/>
              <a:buChar char="•"/>
            </a:pPr>
            <a:endParaRPr lang="fr-FR" dirty="0"/>
          </a:p>
          <a:p>
            <a:pPr marL="342900" indent="-342900">
              <a:lnSpc>
                <a:spcPct val="80000"/>
              </a:lnSpc>
              <a:buFont typeface="Arial"/>
              <a:buChar char="•"/>
            </a:pPr>
            <a:endParaRPr lang="fr-FR" dirty="0"/>
          </a:p>
          <a:p>
            <a:pPr marL="342900" indent="-342900">
              <a:lnSpc>
                <a:spcPct val="80000"/>
              </a:lnSpc>
              <a:buFont typeface="Arial"/>
              <a:buChar char="•"/>
            </a:pPr>
            <a:endParaRPr lang="fr-FR" dirty="0"/>
          </a:p>
        </p:txBody>
      </p:sp>
      <p:grpSp>
        <p:nvGrpSpPr>
          <p:cNvPr id="8" name="Groupe 7">
            <a:extLst>
              <a:ext uri="{FF2B5EF4-FFF2-40B4-BE49-F238E27FC236}">
                <a16:creationId xmlns:a16="http://schemas.microsoft.com/office/drawing/2014/main" id="{ACCA99A5-B332-B909-6733-15C39193A78F}"/>
              </a:ext>
            </a:extLst>
          </p:cNvPr>
          <p:cNvGrpSpPr/>
          <p:nvPr/>
        </p:nvGrpSpPr>
        <p:grpSpPr>
          <a:xfrm>
            <a:off x="10470995" y="162401"/>
            <a:ext cx="1404760" cy="1400033"/>
            <a:chOff x="10326324" y="687756"/>
            <a:chExt cx="1393314" cy="1393314"/>
          </a:xfrm>
        </p:grpSpPr>
        <p:sp>
          <p:nvSpPr>
            <p:cNvPr id="5" name="Larme 4">
              <a:extLst>
                <a:ext uri="{FF2B5EF4-FFF2-40B4-BE49-F238E27FC236}">
                  <a16:creationId xmlns:a16="http://schemas.microsoft.com/office/drawing/2014/main" id="{6D659AA5-DE48-3A94-0973-5630499C0B8F}"/>
                </a:ext>
              </a:extLst>
            </p:cNvPr>
            <p:cNvSpPr/>
            <p:nvPr/>
          </p:nvSpPr>
          <p:spPr>
            <a:xfrm rot="8100000">
              <a:off x="10326324" y="687756"/>
              <a:ext cx="1393314" cy="1393314"/>
            </a:xfrm>
            <a:prstGeom prst="teardrop">
              <a:avLst>
                <a:gd name="adj" fmla="val 13287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 name="ZoneTexte 6">
              <a:extLst>
                <a:ext uri="{FF2B5EF4-FFF2-40B4-BE49-F238E27FC236}">
                  <a16:creationId xmlns:a16="http://schemas.microsoft.com/office/drawing/2014/main" id="{4FF3D4ED-5448-D9C2-964C-3C9EFB6B14C0}"/>
                </a:ext>
              </a:extLst>
            </p:cNvPr>
            <p:cNvSpPr txBox="1"/>
            <p:nvPr/>
          </p:nvSpPr>
          <p:spPr>
            <a:xfrm>
              <a:off x="10372029" y="1092958"/>
              <a:ext cx="1301905" cy="702249"/>
            </a:xfrm>
            <a:prstGeom prst="rect">
              <a:avLst/>
            </a:prstGeom>
            <a:noFill/>
          </p:spPr>
          <p:txBody>
            <a:bodyPr wrap="square">
              <a:spAutoFit/>
            </a:bodyPr>
            <a:lstStyle/>
            <a:p>
              <a:pPr algn="ctr"/>
              <a:r>
                <a:rPr lang="fr-FR" sz="2000" b="1" dirty="0"/>
                <a:t>Vous êtes ici</a:t>
              </a:r>
            </a:p>
          </p:txBody>
        </p:sp>
      </p:grpSp>
      <p:sp>
        <p:nvSpPr>
          <p:cNvPr id="4" name="Espace réservé du numéro de diapositive 3">
            <a:extLst>
              <a:ext uri="{FF2B5EF4-FFF2-40B4-BE49-F238E27FC236}">
                <a16:creationId xmlns:a16="http://schemas.microsoft.com/office/drawing/2014/main" id="{15AFD04A-F70F-E443-768C-55A2C05ECCA8}"/>
              </a:ext>
            </a:extLst>
          </p:cNvPr>
          <p:cNvSpPr>
            <a:spLocks noGrp="1"/>
          </p:cNvSpPr>
          <p:nvPr>
            <p:ph type="sldNum" sz="quarter" idx="4"/>
          </p:nvPr>
        </p:nvSpPr>
        <p:spPr/>
        <p:txBody>
          <a:bodyPr/>
          <a:lstStyle/>
          <a:p>
            <a:fld id="{33C783E2-4793-4F48-A271-51A73CC37D74}" type="slidenum">
              <a:rPr lang="fr-FR" smtClean="0"/>
              <a:t>21</a:t>
            </a:fld>
            <a:endParaRPr lang="fr-FR"/>
          </a:p>
        </p:txBody>
      </p:sp>
    </p:spTree>
    <p:extLst>
      <p:ext uri="{BB962C8B-B14F-4D97-AF65-F5344CB8AC3E}">
        <p14:creationId xmlns:p14="http://schemas.microsoft.com/office/powerpoint/2010/main" val="1471236554"/>
      </p:ext>
    </p:extLst>
  </p:cSld>
  <p:clrMapOvr>
    <a:masterClrMapping/>
  </p:clrMapOvr>
  <p:transition>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Classe générique à deux types</a:t>
            </a:r>
          </a:p>
        </p:txBody>
      </p:sp>
      <p:sp>
        <p:nvSpPr>
          <p:cNvPr id="6" name="ZoneTexte 5">
            <a:extLst>
              <a:ext uri="{FF2B5EF4-FFF2-40B4-BE49-F238E27FC236}">
                <a16:creationId xmlns:a16="http://schemas.microsoft.com/office/drawing/2014/main" id="{F1193AAC-67AE-D760-0AC5-118FF084EDD1}"/>
              </a:ext>
            </a:extLst>
          </p:cNvPr>
          <p:cNvSpPr txBox="1"/>
          <p:nvPr/>
        </p:nvSpPr>
        <p:spPr>
          <a:xfrm>
            <a:off x="838200" y="1439054"/>
            <a:ext cx="8458199" cy="4801314"/>
          </a:xfrm>
          <a:prstGeom prst="rect">
            <a:avLst/>
          </a:prstGeom>
          <a:solidFill>
            <a:srgbClr val="2B2B2B"/>
          </a:solidFill>
        </p:spPr>
        <p:txBody>
          <a:bodyPr wrap="square">
            <a:spAutoFit/>
          </a:bodyPr>
          <a:lstStyle/>
          <a:p>
            <a:r>
              <a:rPr lang="fr-BE" dirty="0">
                <a:solidFill>
                  <a:srgbClr val="CC7832"/>
                </a:solidFill>
                <a:effectLst/>
                <a:latin typeface="Consolas" panose="020B0609020204030204" pitchFamily="49" charset="0"/>
                <a:cs typeface="Consolas" panose="020B0609020204030204" pitchFamily="49" charset="0"/>
              </a:rPr>
              <a:t>public class </a:t>
            </a:r>
            <a:r>
              <a:rPr lang="fr-BE" dirty="0">
                <a:latin typeface="Consolas" panose="020B0609020204030204" pitchFamily="49" charset="0"/>
                <a:cs typeface="Consolas" panose="020B0609020204030204" pitchFamily="49" charset="0"/>
              </a:rPr>
              <a:t>Couple&lt;</a:t>
            </a:r>
            <a:r>
              <a:rPr lang="fr-BE" dirty="0">
                <a:solidFill>
                  <a:srgbClr val="507874"/>
                </a:solidFill>
                <a:effectLst/>
                <a:latin typeface="Consolas" panose="020B0609020204030204" pitchFamily="49" charset="0"/>
                <a:cs typeface="Consolas" panose="020B0609020204030204" pitchFamily="49" charset="0"/>
              </a:rPr>
              <a:t>U</a:t>
            </a:r>
            <a:r>
              <a:rPr lang="fr-BE" dirty="0">
                <a:solidFill>
                  <a:srgbClr val="CC7832"/>
                </a:solidFill>
                <a:effectLst/>
                <a:latin typeface="Consolas" panose="020B0609020204030204" pitchFamily="49" charset="0"/>
                <a:cs typeface="Consolas" panose="020B0609020204030204" pitchFamily="49" charset="0"/>
              </a:rPr>
              <a:t>, </a:t>
            </a:r>
            <a:r>
              <a:rPr lang="fr-BE" dirty="0">
                <a:solidFill>
                  <a:srgbClr val="507874"/>
                </a:solidFill>
                <a:effectLst/>
                <a:latin typeface="Consolas" panose="020B0609020204030204" pitchFamily="49" charset="0"/>
                <a:cs typeface="Consolas" panose="020B0609020204030204" pitchFamily="49" charset="0"/>
              </a:rPr>
              <a:t>V</a:t>
            </a:r>
            <a:r>
              <a:rPr lang="fr-BE" dirty="0">
                <a:latin typeface="Consolas" panose="020B0609020204030204" pitchFamily="49" charset="0"/>
                <a:cs typeface="Consolas" panose="020B0609020204030204" pitchFamily="49" charset="0"/>
              </a:rPr>
              <a:t>&gt; {</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err="1">
                <a:solidFill>
                  <a:srgbClr val="CC7832"/>
                </a:solidFill>
                <a:effectLst/>
                <a:latin typeface="Consolas" panose="020B0609020204030204" pitchFamily="49" charset="0"/>
                <a:cs typeface="Consolas" panose="020B0609020204030204" pitchFamily="49" charset="0"/>
              </a:rPr>
              <a:t>private</a:t>
            </a:r>
            <a:r>
              <a:rPr lang="fr-BE" dirty="0">
                <a:solidFill>
                  <a:srgbClr val="CC7832"/>
                </a:solidFill>
                <a:effectLst/>
                <a:latin typeface="Consolas" panose="020B0609020204030204" pitchFamily="49" charset="0"/>
                <a:cs typeface="Consolas" panose="020B0609020204030204" pitchFamily="49" charset="0"/>
              </a:rPr>
              <a:t> </a:t>
            </a:r>
            <a:r>
              <a:rPr lang="fr-BE" dirty="0">
                <a:solidFill>
                  <a:srgbClr val="507874"/>
                </a:solidFill>
                <a:effectLst/>
                <a:latin typeface="Consolas" panose="020B0609020204030204" pitchFamily="49" charset="0"/>
                <a:cs typeface="Consolas" panose="020B0609020204030204" pitchFamily="49" charset="0"/>
              </a:rPr>
              <a:t>U </a:t>
            </a:r>
            <a:r>
              <a:rPr lang="fr-BE" dirty="0">
                <a:solidFill>
                  <a:srgbClr val="9876AA"/>
                </a:solidFill>
                <a:effectLst/>
                <a:latin typeface="Consolas" panose="020B0609020204030204" pitchFamily="49" charset="0"/>
                <a:cs typeface="Consolas" panose="020B0609020204030204" pitchFamily="49" charset="0"/>
              </a:rPr>
              <a:t>x</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solidFill>
                  <a:srgbClr val="CC7832"/>
                </a:solidFill>
                <a:effectLst/>
                <a:latin typeface="Consolas" panose="020B0609020204030204" pitchFamily="49" charset="0"/>
                <a:cs typeface="Consolas" panose="020B0609020204030204" pitchFamily="49" charset="0"/>
              </a:rPr>
              <a:t>    </a:t>
            </a:r>
            <a:r>
              <a:rPr lang="fr-BE" dirty="0" err="1">
                <a:solidFill>
                  <a:srgbClr val="CC7832"/>
                </a:solidFill>
                <a:effectLst/>
                <a:latin typeface="Consolas" panose="020B0609020204030204" pitchFamily="49" charset="0"/>
                <a:cs typeface="Consolas" panose="020B0609020204030204" pitchFamily="49" charset="0"/>
              </a:rPr>
              <a:t>private</a:t>
            </a:r>
            <a:r>
              <a:rPr lang="fr-BE" dirty="0">
                <a:solidFill>
                  <a:srgbClr val="CC7832"/>
                </a:solidFill>
                <a:effectLst/>
                <a:latin typeface="Consolas" panose="020B0609020204030204" pitchFamily="49" charset="0"/>
                <a:cs typeface="Consolas" panose="020B0609020204030204" pitchFamily="49" charset="0"/>
              </a:rPr>
              <a:t> </a:t>
            </a:r>
            <a:r>
              <a:rPr lang="fr-BE" dirty="0">
                <a:solidFill>
                  <a:srgbClr val="507874"/>
                </a:solidFill>
                <a:effectLst/>
                <a:latin typeface="Consolas" panose="020B0609020204030204" pitchFamily="49" charset="0"/>
                <a:cs typeface="Consolas" panose="020B0609020204030204" pitchFamily="49" charset="0"/>
              </a:rPr>
              <a:t>V </a:t>
            </a:r>
            <a:r>
              <a:rPr lang="fr-BE" dirty="0">
                <a:solidFill>
                  <a:srgbClr val="9876AA"/>
                </a:solidFill>
                <a:effectLst/>
                <a:latin typeface="Consolas" panose="020B0609020204030204" pitchFamily="49" charset="0"/>
                <a:cs typeface="Consolas" panose="020B0609020204030204" pitchFamily="49" charset="0"/>
              </a:rPr>
              <a:t>y</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br>
              <a:rPr lang="fr-BE" dirty="0">
                <a:solidFill>
                  <a:srgbClr val="CC7832"/>
                </a:solidFill>
                <a:effectLst/>
                <a:latin typeface="Consolas" panose="020B0609020204030204" pitchFamily="49" charset="0"/>
                <a:cs typeface="Consolas" panose="020B0609020204030204" pitchFamily="49" charset="0"/>
              </a:rPr>
            </a:br>
            <a:r>
              <a:rPr lang="fr-BE" dirty="0">
                <a:solidFill>
                  <a:srgbClr val="CC7832"/>
                </a:solidFill>
                <a:effectLst/>
                <a:latin typeface="Consolas" panose="020B0609020204030204" pitchFamily="49" charset="0"/>
                <a:cs typeface="Consolas" panose="020B0609020204030204" pitchFamily="49" charset="0"/>
              </a:rPr>
              <a:t>    public </a:t>
            </a:r>
            <a:r>
              <a:rPr lang="fr-BE" dirty="0">
                <a:solidFill>
                  <a:srgbClr val="FFC66D"/>
                </a:solidFill>
                <a:effectLst/>
                <a:latin typeface="Consolas" panose="020B0609020204030204" pitchFamily="49" charset="0"/>
                <a:cs typeface="Consolas" panose="020B0609020204030204" pitchFamily="49" charset="0"/>
              </a:rPr>
              <a:t>Couple</a:t>
            </a:r>
            <a:r>
              <a:rPr lang="fr-BE" dirty="0">
                <a:latin typeface="Consolas" panose="020B0609020204030204" pitchFamily="49" charset="0"/>
                <a:cs typeface="Consolas" panose="020B0609020204030204" pitchFamily="49" charset="0"/>
              </a:rPr>
              <a:t>(</a:t>
            </a:r>
            <a:r>
              <a:rPr lang="fr-BE" dirty="0">
                <a:solidFill>
                  <a:srgbClr val="507874"/>
                </a:solidFill>
                <a:effectLst/>
                <a:latin typeface="Consolas" panose="020B0609020204030204" pitchFamily="49" charset="0"/>
                <a:cs typeface="Consolas" panose="020B0609020204030204" pitchFamily="49" charset="0"/>
              </a:rPr>
              <a:t>U </a:t>
            </a:r>
            <a:r>
              <a:rPr lang="fr-BE" dirty="0">
                <a:latin typeface="Consolas" panose="020B0609020204030204" pitchFamily="49" charset="0"/>
                <a:cs typeface="Consolas" panose="020B0609020204030204" pitchFamily="49" charset="0"/>
              </a:rPr>
              <a:t>premier</a:t>
            </a:r>
            <a:r>
              <a:rPr lang="fr-BE" dirty="0">
                <a:solidFill>
                  <a:srgbClr val="CC7832"/>
                </a:solidFill>
                <a:effectLst/>
                <a:latin typeface="Consolas" panose="020B0609020204030204" pitchFamily="49" charset="0"/>
                <a:cs typeface="Consolas" panose="020B0609020204030204" pitchFamily="49" charset="0"/>
              </a:rPr>
              <a:t>, </a:t>
            </a:r>
            <a:r>
              <a:rPr lang="fr-BE" dirty="0">
                <a:solidFill>
                  <a:srgbClr val="507874"/>
                </a:solidFill>
                <a:effectLst/>
                <a:latin typeface="Consolas" panose="020B0609020204030204" pitchFamily="49" charset="0"/>
                <a:cs typeface="Consolas" panose="020B0609020204030204" pitchFamily="49" charset="0"/>
              </a:rPr>
              <a:t>V </a:t>
            </a:r>
            <a:r>
              <a:rPr lang="fr-BE" dirty="0">
                <a:latin typeface="Consolas" panose="020B0609020204030204" pitchFamily="49" charset="0"/>
                <a:cs typeface="Consolas" panose="020B0609020204030204" pitchFamily="49" charset="0"/>
              </a:rPr>
              <a:t>second) {</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a:solidFill>
                  <a:srgbClr val="9876AA"/>
                </a:solidFill>
                <a:effectLst/>
                <a:latin typeface="Consolas" panose="020B0609020204030204" pitchFamily="49" charset="0"/>
                <a:cs typeface="Consolas" panose="020B0609020204030204" pitchFamily="49" charset="0"/>
              </a:rPr>
              <a:t>x </a:t>
            </a:r>
            <a:r>
              <a:rPr lang="fr-BE" dirty="0">
                <a:latin typeface="Consolas" panose="020B0609020204030204" pitchFamily="49" charset="0"/>
                <a:cs typeface="Consolas" panose="020B0609020204030204" pitchFamily="49" charset="0"/>
              </a:rPr>
              <a:t>= premier</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solidFill>
                  <a:srgbClr val="CC7832"/>
                </a:solidFill>
                <a:effectLst/>
                <a:latin typeface="Consolas" panose="020B0609020204030204" pitchFamily="49" charset="0"/>
                <a:cs typeface="Consolas" panose="020B0609020204030204" pitchFamily="49" charset="0"/>
              </a:rPr>
              <a:t>        </a:t>
            </a:r>
            <a:r>
              <a:rPr lang="fr-BE" dirty="0">
                <a:solidFill>
                  <a:srgbClr val="9876AA"/>
                </a:solidFill>
                <a:effectLst/>
                <a:latin typeface="Consolas" panose="020B0609020204030204" pitchFamily="49" charset="0"/>
                <a:cs typeface="Consolas" panose="020B0609020204030204" pitchFamily="49" charset="0"/>
              </a:rPr>
              <a:t>y </a:t>
            </a:r>
            <a:r>
              <a:rPr lang="fr-BE" dirty="0">
                <a:latin typeface="Consolas" panose="020B0609020204030204" pitchFamily="49" charset="0"/>
                <a:cs typeface="Consolas" panose="020B0609020204030204" pitchFamily="49" charset="0"/>
              </a:rPr>
              <a:t>= second</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a:t>
            </a:r>
            <a:br>
              <a:rPr lang="fr-BE" dirty="0">
                <a:latin typeface="Consolas" panose="020B0609020204030204" pitchFamily="49" charset="0"/>
                <a:cs typeface="Consolas" panose="020B0609020204030204" pitchFamily="49" charset="0"/>
              </a:rPr>
            </a:b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a:solidFill>
                  <a:srgbClr val="CC7832"/>
                </a:solidFill>
                <a:effectLst/>
                <a:latin typeface="Consolas" panose="020B0609020204030204" pitchFamily="49" charset="0"/>
                <a:cs typeface="Consolas" panose="020B0609020204030204" pitchFamily="49" charset="0"/>
              </a:rPr>
              <a:t>public </a:t>
            </a:r>
            <a:r>
              <a:rPr lang="fr-BE" dirty="0" err="1">
                <a:solidFill>
                  <a:srgbClr val="CC7832"/>
                </a:solidFill>
                <a:effectLst/>
                <a:latin typeface="Consolas" panose="020B0609020204030204" pitchFamily="49" charset="0"/>
                <a:cs typeface="Consolas" panose="020B0609020204030204" pitchFamily="49" charset="0"/>
              </a:rPr>
              <a:t>void</a:t>
            </a:r>
            <a:r>
              <a:rPr lang="fr-BE" dirty="0">
                <a:solidFill>
                  <a:srgbClr val="CC7832"/>
                </a:solidFill>
                <a:effectLst/>
                <a:latin typeface="Consolas" panose="020B0609020204030204" pitchFamily="49" charset="0"/>
                <a:cs typeface="Consolas" panose="020B0609020204030204" pitchFamily="49" charset="0"/>
              </a:rPr>
              <a:t> </a:t>
            </a:r>
            <a:r>
              <a:rPr lang="fr-BE" dirty="0">
                <a:solidFill>
                  <a:srgbClr val="FFC66D"/>
                </a:solidFill>
                <a:effectLst/>
                <a:latin typeface="Consolas" panose="020B0609020204030204" pitchFamily="49" charset="0"/>
                <a:cs typeface="Consolas" panose="020B0609020204030204" pitchFamily="49" charset="0"/>
              </a:rPr>
              <a:t>affiche</a:t>
            </a:r>
            <a:r>
              <a:rPr lang="fr-BE" dirty="0">
                <a:latin typeface="Consolas" panose="020B0609020204030204" pitchFamily="49" charset="0"/>
                <a:cs typeface="Consolas" panose="020B0609020204030204" pitchFamily="49" charset="0"/>
              </a:rPr>
              <a:t>() {</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err="1">
                <a:latin typeface="Consolas" panose="020B0609020204030204" pitchFamily="49" charset="0"/>
                <a:cs typeface="Consolas" panose="020B0609020204030204" pitchFamily="49" charset="0"/>
              </a:rPr>
              <a:t>System.</a:t>
            </a:r>
            <a:r>
              <a:rPr lang="fr-BE" i="1" dirty="0" err="1">
                <a:solidFill>
                  <a:srgbClr val="9876AA"/>
                </a:solidFill>
                <a:effectLst/>
                <a:latin typeface="Consolas" panose="020B0609020204030204" pitchFamily="49" charset="0"/>
                <a:cs typeface="Consolas" panose="020B0609020204030204" pitchFamily="49" charset="0"/>
              </a:rPr>
              <a:t>out</a:t>
            </a:r>
            <a:r>
              <a:rPr lang="fr-BE" dirty="0" err="1">
                <a:latin typeface="Consolas" panose="020B0609020204030204" pitchFamily="49" charset="0"/>
                <a:cs typeface="Consolas" panose="020B0609020204030204" pitchFamily="49" charset="0"/>
              </a:rPr>
              <a:t>.println</a:t>
            </a:r>
            <a:r>
              <a:rPr lang="fr-BE" dirty="0">
                <a:latin typeface="Consolas" panose="020B0609020204030204" pitchFamily="49" charset="0"/>
                <a:cs typeface="Consolas" panose="020B0609020204030204" pitchFamily="49" charset="0"/>
              </a:rPr>
              <a:t>(</a:t>
            </a:r>
            <a:r>
              <a:rPr lang="fr-BE" dirty="0">
                <a:solidFill>
                  <a:srgbClr val="6A8759"/>
                </a:solidFill>
                <a:effectLst/>
                <a:latin typeface="Consolas" panose="020B0609020204030204" pitchFamily="49" charset="0"/>
                <a:cs typeface="Consolas" panose="020B0609020204030204" pitchFamily="49" charset="0"/>
              </a:rPr>
              <a:t>"premier:" </a:t>
            </a:r>
            <a:r>
              <a:rPr lang="fr-BE" dirty="0">
                <a:latin typeface="Consolas" panose="020B0609020204030204" pitchFamily="49" charset="0"/>
                <a:cs typeface="Consolas" panose="020B0609020204030204" pitchFamily="49" charset="0"/>
              </a:rPr>
              <a:t>+ </a:t>
            </a:r>
            <a:r>
              <a:rPr lang="fr-BE" dirty="0">
                <a:solidFill>
                  <a:srgbClr val="9876AA"/>
                </a:solidFill>
                <a:effectLst/>
                <a:latin typeface="Consolas" panose="020B0609020204030204" pitchFamily="49" charset="0"/>
                <a:cs typeface="Consolas" panose="020B0609020204030204" pitchFamily="49" charset="0"/>
              </a:rPr>
              <a:t>x </a:t>
            </a:r>
            <a:r>
              <a:rPr lang="fr-BE" dirty="0">
                <a:latin typeface="Consolas" panose="020B0609020204030204" pitchFamily="49" charset="0"/>
                <a:cs typeface="Consolas" panose="020B0609020204030204" pitchFamily="49" charset="0"/>
              </a:rPr>
              <a:t>+ </a:t>
            </a:r>
            <a:r>
              <a:rPr lang="fr-BE" dirty="0">
                <a:solidFill>
                  <a:srgbClr val="6A8759"/>
                </a:solidFill>
                <a:effectLst/>
                <a:latin typeface="Consolas" panose="020B0609020204030204" pitchFamily="49" charset="0"/>
                <a:cs typeface="Consolas" panose="020B0609020204030204" pitchFamily="49" charset="0"/>
              </a:rPr>
              <a:t>", second:" </a:t>
            </a:r>
            <a:r>
              <a:rPr lang="fr-BE" dirty="0">
                <a:latin typeface="Consolas" panose="020B0609020204030204" pitchFamily="49" charset="0"/>
                <a:cs typeface="Consolas" panose="020B0609020204030204" pitchFamily="49" charset="0"/>
              </a:rPr>
              <a:t>+ </a:t>
            </a:r>
            <a:r>
              <a:rPr lang="fr-BE" dirty="0">
                <a:solidFill>
                  <a:srgbClr val="9876AA"/>
                </a:solidFill>
                <a:effectLst/>
                <a:latin typeface="Consolas" panose="020B0609020204030204" pitchFamily="49" charset="0"/>
                <a:cs typeface="Consolas" panose="020B0609020204030204" pitchFamily="49" charset="0"/>
              </a:rPr>
              <a:t>y</a:t>
            </a:r>
            <a:r>
              <a:rPr lang="fr-BE" dirty="0">
                <a:latin typeface="Consolas" panose="020B0609020204030204" pitchFamily="49" charset="0"/>
                <a:cs typeface="Consolas" panose="020B0609020204030204" pitchFamily="49" charset="0"/>
              </a:rPr>
              <a:t>)</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a:t>
            </a:r>
            <a:br>
              <a:rPr lang="fr-BE" dirty="0">
                <a:latin typeface="Consolas" panose="020B0609020204030204" pitchFamily="49" charset="0"/>
                <a:cs typeface="Consolas" panose="020B0609020204030204" pitchFamily="49" charset="0"/>
              </a:rPr>
            </a:b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a:solidFill>
                  <a:srgbClr val="CC7832"/>
                </a:solidFill>
                <a:effectLst/>
                <a:latin typeface="Consolas" panose="020B0609020204030204" pitchFamily="49" charset="0"/>
                <a:cs typeface="Consolas" panose="020B0609020204030204" pitchFamily="49" charset="0"/>
              </a:rPr>
              <a:t>public </a:t>
            </a:r>
            <a:r>
              <a:rPr lang="fr-BE" dirty="0">
                <a:solidFill>
                  <a:srgbClr val="507874"/>
                </a:solidFill>
                <a:effectLst/>
                <a:latin typeface="Consolas" panose="020B0609020204030204" pitchFamily="49" charset="0"/>
                <a:cs typeface="Consolas" panose="020B0609020204030204" pitchFamily="49" charset="0"/>
              </a:rPr>
              <a:t>U </a:t>
            </a:r>
            <a:r>
              <a:rPr lang="fr-BE" dirty="0" err="1">
                <a:solidFill>
                  <a:srgbClr val="FFC66D"/>
                </a:solidFill>
                <a:effectLst/>
                <a:latin typeface="Consolas" panose="020B0609020204030204" pitchFamily="49" charset="0"/>
                <a:cs typeface="Consolas" panose="020B0609020204030204" pitchFamily="49" charset="0"/>
              </a:rPr>
              <a:t>getPremier</a:t>
            </a:r>
            <a:r>
              <a:rPr lang="fr-BE" dirty="0">
                <a:latin typeface="Consolas" panose="020B0609020204030204" pitchFamily="49" charset="0"/>
                <a:cs typeface="Consolas" panose="020B0609020204030204" pitchFamily="49" charset="0"/>
              </a:rPr>
              <a:t>() {</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a:solidFill>
                  <a:srgbClr val="CC7832"/>
                </a:solidFill>
                <a:effectLst/>
                <a:latin typeface="Consolas" panose="020B0609020204030204" pitchFamily="49" charset="0"/>
                <a:cs typeface="Consolas" panose="020B0609020204030204" pitchFamily="49" charset="0"/>
              </a:rPr>
              <a:t>return </a:t>
            </a:r>
            <a:r>
              <a:rPr lang="fr-BE" dirty="0">
                <a:solidFill>
                  <a:srgbClr val="9876AA"/>
                </a:solidFill>
                <a:effectLst/>
                <a:latin typeface="Consolas" panose="020B0609020204030204" pitchFamily="49" charset="0"/>
                <a:cs typeface="Consolas" panose="020B0609020204030204" pitchFamily="49" charset="0"/>
              </a:rPr>
              <a:t>x</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
        <p:nvSpPr>
          <p:cNvPr id="8" name="ZoneTexte 7">
            <a:extLst>
              <a:ext uri="{FF2B5EF4-FFF2-40B4-BE49-F238E27FC236}">
                <a16:creationId xmlns:a16="http://schemas.microsoft.com/office/drawing/2014/main" id="{1DF94040-AFF5-DFCA-7374-4DBFB19834A1}"/>
              </a:ext>
            </a:extLst>
          </p:cNvPr>
          <p:cNvSpPr txBox="1"/>
          <p:nvPr/>
        </p:nvSpPr>
        <p:spPr>
          <a:xfrm>
            <a:off x="9422295" y="1580322"/>
            <a:ext cx="2604053" cy="1569660"/>
          </a:xfrm>
          <a:prstGeom prst="rect">
            <a:avLst/>
          </a:prstGeom>
          <a:noFill/>
        </p:spPr>
        <p:txBody>
          <a:bodyPr wrap="square">
            <a:spAutoFit/>
          </a:bodyPr>
          <a:lstStyle/>
          <a:p>
            <a:pPr marL="0" indent="0">
              <a:buNone/>
            </a:pPr>
            <a:r>
              <a:rPr lang="fr-FR" sz="2400" dirty="0">
                <a:solidFill>
                  <a:schemeClr val="accent4"/>
                </a:solidFill>
                <a:latin typeface="Consolas"/>
                <a:cs typeface="Consolas"/>
              </a:rPr>
              <a:t>U</a:t>
            </a:r>
            <a:r>
              <a:rPr lang="fr-FR" sz="2400" dirty="0"/>
              <a:t> et </a:t>
            </a:r>
            <a:r>
              <a:rPr lang="fr-FR" sz="2400" dirty="0">
                <a:solidFill>
                  <a:schemeClr val="accent4"/>
                </a:solidFill>
                <a:latin typeface="Consolas"/>
                <a:cs typeface="Consolas"/>
              </a:rPr>
              <a:t>V</a:t>
            </a:r>
            <a:r>
              <a:rPr lang="fr-FR" sz="2400" dirty="0"/>
              <a:t> représentent les types qui seront remplacés à la compilation.</a:t>
            </a:r>
          </a:p>
        </p:txBody>
      </p:sp>
      <p:sp>
        <p:nvSpPr>
          <p:cNvPr id="3" name="Espace réservé du numéro de diapositive 2">
            <a:extLst>
              <a:ext uri="{FF2B5EF4-FFF2-40B4-BE49-F238E27FC236}">
                <a16:creationId xmlns:a16="http://schemas.microsoft.com/office/drawing/2014/main" id="{519D959D-E80B-73DB-9E43-843F819DDECF}"/>
              </a:ext>
            </a:extLst>
          </p:cNvPr>
          <p:cNvSpPr>
            <a:spLocks noGrp="1"/>
          </p:cNvSpPr>
          <p:nvPr>
            <p:ph type="sldNum" sz="quarter" idx="4"/>
          </p:nvPr>
        </p:nvSpPr>
        <p:spPr/>
        <p:txBody>
          <a:bodyPr/>
          <a:lstStyle/>
          <a:p>
            <a:fld id="{33C783E2-4793-4F48-A271-51A73CC37D74}" type="slidenum">
              <a:rPr lang="fr-FR" smtClean="0"/>
              <a:t>22</a:t>
            </a:fld>
            <a:endParaRPr lang="fr-FR"/>
          </a:p>
        </p:txBody>
      </p:sp>
    </p:spTree>
    <p:extLst>
      <p:ext uri="{BB962C8B-B14F-4D97-AF65-F5344CB8AC3E}">
        <p14:creationId xmlns:p14="http://schemas.microsoft.com/office/powerpoint/2010/main" val="3944945896"/>
      </p:ext>
    </p:extLst>
  </p:cSld>
  <p:clrMapOvr>
    <a:masterClrMapping/>
  </p:clrMapOvr>
  <p:transition>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BC18DC-5789-A343-9CF8-610E340ECFCA}"/>
              </a:ext>
            </a:extLst>
          </p:cNvPr>
          <p:cNvSpPr>
            <a:spLocks noGrp="1"/>
          </p:cNvSpPr>
          <p:nvPr>
            <p:ph type="title"/>
          </p:nvPr>
        </p:nvSpPr>
        <p:spPr/>
        <p:txBody>
          <a:bodyPr/>
          <a:lstStyle/>
          <a:p>
            <a:r>
              <a:rPr lang="fr-FR" dirty="0"/>
              <a:t>Exercice 35</a:t>
            </a:r>
          </a:p>
        </p:txBody>
      </p:sp>
      <p:sp>
        <p:nvSpPr>
          <p:cNvPr id="5" name="Espace réservé du contenu 4">
            <a:extLst>
              <a:ext uri="{FF2B5EF4-FFF2-40B4-BE49-F238E27FC236}">
                <a16:creationId xmlns:a16="http://schemas.microsoft.com/office/drawing/2014/main" id="{3F8D6BDE-490E-3140-9666-7A039C4FFA76}"/>
              </a:ext>
            </a:extLst>
          </p:cNvPr>
          <p:cNvSpPr>
            <a:spLocks noGrp="1"/>
          </p:cNvSpPr>
          <p:nvPr>
            <p:ph idx="1"/>
          </p:nvPr>
        </p:nvSpPr>
        <p:spPr>
          <a:xfrm>
            <a:off x="838199" y="1825625"/>
            <a:ext cx="10930247" cy="4351338"/>
          </a:xfrm>
        </p:spPr>
        <p:txBody>
          <a:bodyPr>
            <a:normAutofit/>
          </a:bodyPr>
          <a:lstStyle/>
          <a:p>
            <a:r>
              <a:rPr lang="fr-FR" sz="2400" dirty="0"/>
              <a:t>Ecrivez une autre classe </a:t>
            </a:r>
            <a:r>
              <a:rPr lang="fr-FR" sz="2000" dirty="0">
                <a:solidFill>
                  <a:schemeClr val="accent4"/>
                </a:solidFill>
                <a:latin typeface="Consolas"/>
                <a:cs typeface="Consolas"/>
              </a:rPr>
              <a:t>Couple2&lt;U, V&gt;</a:t>
            </a:r>
            <a:r>
              <a:rPr lang="fr-FR" sz="2400" dirty="0"/>
              <a:t>, qui modélise un </a:t>
            </a:r>
            <a:br>
              <a:rPr lang="fr-FR" sz="2400" dirty="0"/>
            </a:br>
            <a:r>
              <a:rPr lang="fr-FR" sz="2400" dirty="0"/>
              <a:t>couple de deux objets de types différents. </a:t>
            </a:r>
          </a:p>
          <a:p>
            <a:pPr marL="342900" indent="-342900"/>
            <a:r>
              <a:rPr lang="fr-FR" sz="2400" dirty="0"/>
              <a:t>Son constructeur prend deux objets (premier et second).</a:t>
            </a:r>
          </a:p>
          <a:p>
            <a:pPr marL="342900" indent="-342900"/>
            <a:r>
              <a:rPr lang="fr-FR" sz="2400" dirty="0"/>
              <a:t>Elle présente deux méthodes </a:t>
            </a:r>
            <a:r>
              <a:rPr lang="fr-FR" sz="2000" dirty="0" err="1">
                <a:solidFill>
                  <a:schemeClr val="accent4"/>
                </a:solidFill>
                <a:latin typeface="Consolas"/>
                <a:cs typeface="Consolas"/>
              </a:rPr>
              <a:t>getPremier</a:t>
            </a:r>
            <a:r>
              <a:rPr lang="fr-FR" sz="2400" dirty="0"/>
              <a:t> et </a:t>
            </a:r>
            <a:r>
              <a:rPr lang="fr-FR" sz="2000" dirty="0" err="1">
                <a:solidFill>
                  <a:schemeClr val="accent4"/>
                </a:solidFill>
                <a:latin typeface="Consolas"/>
                <a:cs typeface="Consolas"/>
              </a:rPr>
              <a:t>getSecond</a:t>
            </a:r>
            <a:r>
              <a:rPr lang="fr-FR" sz="2400" dirty="0"/>
              <a:t>. </a:t>
            </a:r>
          </a:p>
          <a:p>
            <a:pPr marL="342900" indent="-342900"/>
            <a:r>
              <a:rPr lang="fr-FR" sz="2400" dirty="0"/>
              <a:t>… ainsi qu’une méthode </a:t>
            </a:r>
            <a:r>
              <a:rPr lang="fr-FR" sz="2000" dirty="0" err="1">
                <a:solidFill>
                  <a:schemeClr val="accent4"/>
                </a:solidFill>
                <a:latin typeface="Consolas"/>
                <a:cs typeface="Consolas"/>
              </a:rPr>
              <a:t>toString</a:t>
            </a:r>
            <a:r>
              <a:rPr lang="fr-FR" sz="2400" dirty="0"/>
              <a:t> qui retourne ﻿</a:t>
            </a:r>
            <a:br>
              <a:rPr lang="fr-FR" sz="2400" dirty="0"/>
            </a:br>
            <a:endParaRPr lang="fr-FR" sz="2400" dirty="0"/>
          </a:p>
          <a:p>
            <a:pPr marL="342900" indent="-342900"/>
            <a:endParaRPr lang="fr-FR" sz="2400" dirty="0"/>
          </a:p>
          <a:p>
            <a:r>
              <a:rPr lang="fr-FR" sz="2400" dirty="0"/>
              <a:t>Ecrivez aussi un programme dans lequel vous créez un couple de deux </a:t>
            </a:r>
            <a:r>
              <a:rPr lang="fr-FR" sz="2000" dirty="0" err="1">
                <a:solidFill>
                  <a:schemeClr val="accent4"/>
                </a:solidFill>
                <a:latin typeface="Consolas"/>
                <a:cs typeface="Consolas"/>
              </a:rPr>
              <a:t>Integer</a:t>
            </a:r>
            <a:r>
              <a:rPr lang="fr-FR" sz="2400" dirty="0"/>
              <a:t> et un couple contenant un </a:t>
            </a:r>
            <a:r>
              <a:rPr lang="fr-FR" sz="2000" dirty="0" err="1">
                <a:solidFill>
                  <a:schemeClr val="accent4"/>
                </a:solidFill>
                <a:latin typeface="Consolas"/>
                <a:cs typeface="Consolas"/>
              </a:rPr>
              <a:t>Integer</a:t>
            </a:r>
            <a:r>
              <a:rPr lang="fr-FR" sz="2400" dirty="0"/>
              <a:t> et un </a:t>
            </a:r>
            <a:r>
              <a:rPr lang="fr-FR" sz="2000" dirty="0">
                <a:solidFill>
                  <a:schemeClr val="accent4"/>
                </a:solidFill>
                <a:latin typeface="Consolas"/>
                <a:cs typeface="Consolas"/>
              </a:rPr>
              <a:t>Double</a:t>
            </a:r>
            <a:r>
              <a:rPr lang="fr-FR" sz="2400" dirty="0"/>
              <a:t>.</a:t>
            </a:r>
            <a:br>
              <a:rPr lang="fr-FR" sz="2400" dirty="0"/>
            </a:br>
            <a:r>
              <a:rPr lang="fr-FR" sz="2400" dirty="0"/>
              <a:t>Affichez les valeurs en appelant les différentes méthodes de la classe </a:t>
            </a:r>
            <a:r>
              <a:rPr lang="fr-FR" sz="2000" dirty="0">
                <a:solidFill>
                  <a:schemeClr val="accent4"/>
                </a:solidFill>
                <a:latin typeface="Consolas"/>
                <a:cs typeface="Consolas"/>
              </a:rPr>
              <a:t>Couple&lt;U, V&gt;</a:t>
            </a:r>
            <a:r>
              <a:rPr lang="fr-FR" sz="2400" dirty="0"/>
              <a:t>.</a:t>
            </a:r>
          </a:p>
          <a:p>
            <a:endParaRPr lang="fr-FR" sz="2400" dirty="0"/>
          </a:p>
        </p:txBody>
      </p:sp>
      <p:sp>
        <p:nvSpPr>
          <p:cNvPr id="7" name="ZoneTexte 6">
            <a:extLst>
              <a:ext uri="{FF2B5EF4-FFF2-40B4-BE49-F238E27FC236}">
                <a16:creationId xmlns:a16="http://schemas.microsoft.com/office/drawing/2014/main" id="{7B4ACA39-4994-2486-4246-C6105848CBE8}"/>
              </a:ext>
            </a:extLst>
          </p:cNvPr>
          <p:cNvSpPr txBox="1"/>
          <p:nvPr/>
        </p:nvSpPr>
        <p:spPr>
          <a:xfrm>
            <a:off x="2058820" y="4140776"/>
            <a:ext cx="7199906" cy="369332"/>
          </a:xfrm>
          <a:prstGeom prst="rect">
            <a:avLst/>
          </a:prstGeom>
          <a:solidFill>
            <a:srgbClr val="2B2B2B"/>
          </a:solidFill>
        </p:spPr>
        <p:txBody>
          <a:bodyPr wrap="square">
            <a:spAutoFit/>
          </a:bodyPr>
          <a:lstStyle/>
          <a:p>
            <a:r>
              <a:rPr lang="fr-BE" dirty="0">
                <a:solidFill>
                  <a:srgbClr val="6A8759"/>
                </a:solidFill>
                <a:effectLst/>
                <a:latin typeface="Consolas" panose="020B0609020204030204" pitchFamily="49" charset="0"/>
                <a:cs typeface="Consolas" panose="020B0609020204030204" pitchFamily="49" charset="0"/>
              </a:rPr>
              <a:t>"</a:t>
            </a:r>
            <a:r>
              <a:rPr lang="fr-BE" dirty="0" err="1">
                <a:solidFill>
                  <a:srgbClr val="6A8759"/>
                </a:solidFill>
                <a:effectLst/>
                <a:latin typeface="Consolas" panose="020B0609020204030204" pitchFamily="49" charset="0"/>
                <a:cs typeface="Consolas" panose="020B0609020204030204" pitchFamily="49" charset="0"/>
              </a:rPr>
              <a:t>premiere</a:t>
            </a:r>
            <a:r>
              <a:rPr lang="fr-BE" dirty="0">
                <a:solidFill>
                  <a:srgbClr val="6A8759"/>
                </a:solidFill>
                <a:effectLst/>
                <a:latin typeface="Consolas" panose="020B0609020204030204" pitchFamily="49" charset="0"/>
                <a:cs typeface="Consolas" panose="020B0609020204030204" pitchFamily="49" charset="0"/>
              </a:rPr>
              <a:t> valeur : " </a:t>
            </a:r>
            <a:r>
              <a:rPr lang="fr-BE" dirty="0">
                <a:latin typeface="Consolas" panose="020B0609020204030204" pitchFamily="49" charset="0"/>
                <a:cs typeface="Consolas" panose="020B0609020204030204" pitchFamily="49" charset="0"/>
              </a:rPr>
              <a:t>+ p + </a:t>
            </a:r>
            <a:r>
              <a:rPr lang="fr-BE" dirty="0">
                <a:solidFill>
                  <a:srgbClr val="6A8759"/>
                </a:solidFill>
                <a:effectLst/>
                <a:latin typeface="Consolas" panose="020B0609020204030204" pitchFamily="49" charset="0"/>
                <a:cs typeface="Consolas" panose="020B0609020204030204" pitchFamily="49" charset="0"/>
              </a:rPr>
              <a:t>" - </a:t>
            </a:r>
            <a:r>
              <a:rPr lang="fr-BE" dirty="0" err="1">
                <a:solidFill>
                  <a:srgbClr val="6A8759"/>
                </a:solidFill>
                <a:effectLst/>
                <a:latin typeface="Consolas" panose="020B0609020204030204" pitchFamily="49" charset="0"/>
                <a:cs typeface="Consolas" panose="020B0609020204030204" pitchFamily="49" charset="0"/>
              </a:rPr>
              <a:t>deuxieme</a:t>
            </a:r>
            <a:r>
              <a:rPr lang="fr-BE" dirty="0">
                <a:solidFill>
                  <a:srgbClr val="6A8759"/>
                </a:solidFill>
                <a:effectLst/>
                <a:latin typeface="Consolas" panose="020B0609020204030204" pitchFamily="49" charset="0"/>
                <a:cs typeface="Consolas" panose="020B0609020204030204" pitchFamily="49" charset="0"/>
              </a:rPr>
              <a:t> valeur : " </a:t>
            </a:r>
            <a:r>
              <a:rPr lang="fr-BE" dirty="0">
                <a:latin typeface="Consolas" panose="020B0609020204030204" pitchFamily="49" charset="0"/>
                <a:cs typeface="Consolas" panose="020B0609020204030204" pitchFamily="49" charset="0"/>
              </a:rPr>
              <a:t>+ s</a:t>
            </a:r>
            <a:endParaRPr lang="fr-FR" dirty="0">
              <a:latin typeface="Consolas" panose="020B0609020204030204" pitchFamily="49" charset="0"/>
              <a:cs typeface="Consolas" panose="020B0609020204030204" pitchFamily="49" charset="0"/>
            </a:endParaRPr>
          </a:p>
        </p:txBody>
      </p:sp>
      <p:sp>
        <p:nvSpPr>
          <p:cNvPr id="3" name="Espace réservé du numéro de diapositive 2">
            <a:extLst>
              <a:ext uri="{FF2B5EF4-FFF2-40B4-BE49-F238E27FC236}">
                <a16:creationId xmlns:a16="http://schemas.microsoft.com/office/drawing/2014/main" id="{CC33AB8D-43F1-905E-50C4-BACFA7650F01}"/>
              </a:ext>
            </a:extLst>
          </p:cNvPr>
          <p:cNvSpPr>
            <a:spLocks noGrp="1"/>
          </p:cNvSpPr>
          <p:nvPr>
            <p:ph type="sldNum" sz="quarter" idx="4"/>
          </p:nvPr>
        </p:nvSpPr>
        <p:spPr/>
        <p:txBody>
          <a:bodyPr/>
          <a:lstStyle/>
          <a:p>
            <a:fld id="{33C783E2-4793-4F48-A271-51A73CC37D74}" type="slidenum">
              <a:rPr lang="fr-FR" smtClean="0"/>
              <a:t>23</a:t>
            </a:fld>
            <a:endParaRPr lang="fr-FR"/>
          </a:p>
        </p:txBody>
      </p:sp>
    </p:spTree>
    <p:extLst>
      <p:ext uri="{BB962C8B-B14F-4D97-AF65-F5344CB8AC3E}">
        <p14:creationId xmlns:p14="http://schemas.microsoft.com/office/powerpoint/2010/main" val="41172997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Convention sur les noms de types</a:t>
            </a:r>
          </a:p>
        </p:txBody>
      </p:sp>
      <p:sp>
        <p:nvSpPr>
          <p:cNvPr id="5" name="Espace réservé du contenu 4"/>
          <p:cNvSpPr>
            <a:spLocks noGrp="1"/>
          </p:cNvSpPr>
          <p:nvPr>
            <p:ph idx="1"/>
          </p:nvPr>
        </p:nvSpPr>
        <p:spPr/>
        <p:txBody>
          <a:bodyPr>
            <a:normAutofit/>
          </a:bodyPr>
          <a:lstStyle/>
          <a:p>
            <a:pPr marL="0" indent="0">
              <a:buNone/>
            </a:pPr>
            <a:r>
              <a:rPr lang="fr-FR" dirty="0"/>
              <a:t>Il est recommandé, lors de la création d'une classe qui utilise un générique, d'utiliser la convention de nommage suivante: </a:t>
            </a:r>
          </a:p>
          <a:p>
            <a:r>
              <a:rPr lang="fr-FR" dirty="0">
                <a:solidFill>
                  <a:schemeClr val="accent4"/>
                </a:solidFill>
                <a:latin typeface="Consolas"/>
                <a:cs typeface="Consolas"/>
              </a:rPr>
              <a:t>&lt;E&gt;</a:t>
            </a:r>
            <a:r>
              <a:rPr lang="fr-FR" dirty="0"/>
              <a:t>: </a:t>
            </a:r>
            <a:r>
              <a:rPr lang="fr-FR" dirty="0" err="1"/>
              <a:t>Element</a:t>
            </a:r>
            <a:r>
              <a:rPr lang="fr-FR" dirty="0"/>
              <a:t> (utilisé pour les collections)</a:t>
            </a:r>
          </a:p>
          <a:p>
            <a:r>
              <a:rPr lang="fr-FR" dirty="0">
                <a:solidFill>
                  <a:schemeClr val="accent4"/>
                </a:solidFill>
                <a:latin typeface="Consolas"/>
                <a:cs typeface="Consolas"/>
              </a:rPr>
              <a:t>&lt;K&gt;</a:t>
            </a:r>
            <a:r>
              <a:rPr lang="fr-FR" dirty="0"/>
              <a:t> et </a:t>
            </a:r>
            <a:r>
              <a:rPr lang="fr-FR" dirty="0">
                <a:solidFill>
                  <a:schemeClr val="accent4"/>
                </a:solidFill>
                <a:latin typeface="Consolas"/>
                <a:cs typeface="Consolas"/>
              </a:rPr>
              <a:t>&lt;V&gt;</a:t>
            </a:r>
            <a:r>
              <a:rPr lang="fr-FR" dirty="0"/>
              <a:t>: Key et Value (utilisé pour les ensembles)</a:t>
            </a:r>
          </a:p>
          <a:p>
            <a:r>
              <a:rPr lang="fr-FR" dirty="0">
                <a:solidFill>
                  <a:schemeClr val="accent4"/>
                </a:solidFill>
                <a:latin typeface="Consolas"/>
                <a:cs typeface="Consolas"/>
              </a:rPr>
              <a:t>&lt;N&gt;</a:t>
            </a:r>
            <a:r>
              <a:rPr lang="fr-FR" dirty="0"/>
              <a:t>: </a:t>
            </a:r>
            <a:r>
              <a:rPr lang="fr-FR" dirty="0" err="1"/>
              <a:t>Number</a:t>
            </a:r>
            <a:endParaRPr lang="fr-FR" dirty="0"/>
          </a:p>
          <a:p>
            <a:r>
              <a:rPr lang="fr-FR" dirty="0">
                <a:solidFill>
                  <a:schemeClr val="accent4"/>
                </a:solidFill>
                <a:latin typeface="Consolas"/>
                <a:cs typeface="Consolas"/>
              </a:rPr>
              <a:t>&lt;</a:t>
            </a:r>
            <a:r>
              <a:rPr lang="fr-FR" dirty="0" err="1">
                <a:solidFill>
                  <a:schemeClr val="accent4"/>
                </a:solidFill>
                <a:latin typeface="Consolas"/>
                <a:cs typeface="Consolas"/>
              </a:rPr>
              <a:t>T</a:t>
            </a:r>
            <a:r>
              <a:rPr lang="fr-FR" dirty="0">
                <a:solidFill>
                  <a:schemeClr val="accent4"/>
                </a:solidFill>
                <a:latin typeface="Consolas"/>
                <a:cs typeface="Consolas"/>
              </a:rPr>
              <a:t>&gt;</a:t>
            </a:r>
            <a:r>
              <a:rPr lang="fr-FR" dirty="0"/>
              <a:t>: Type</a:t>
            </a:r>
          </a:p>
          <a:p>
            <a:r>
              <a:rPr lang="fr-FR" dirty="0">
                <a:solidFill>
                  <a:schemeClr val="accent4"/>
                </a:solidFill>
                <a:latin typeface="Consolas"/>
                <a:cs typeface="Consolas"/>
              </a:rPr>
              <a:t>&lt;U&gt;</a:t>
            </a:r>
            <a:r>
              <a:rPr lang="fr-FR" dirty="0"/>
              <a:t>, </a:t>
            </a:r>
            <a:r>
              <a:rPr lang="fr-FR" dirty="0">
                <a:solidFill>
                  <a:schemeClr val="accent4"/>
                </a:solidFill>
                <a:latin typeface="Consolas"/>
                <a:cs typeface="Consolas"/>
              </a:rPr>
              <a:t>&lt;V&gt;</a:t>
            </a:r>
            <a:r>
              <a:rPr lang="fr-FR" dirty="0"/>
              <a:t>...: second type, troisième, etc...</a:t>
            </a:r>
          </a:p>
        </p:txBody>
      </p:sp>
      <p:sp>
        <p:nvSpPr>
          <p:cNvPr id="3" name="Espace réservé du numéro de diapositive 2">
            <a:extLst>
              <a:ext uri="{FF2B5EF4-FFF2-40B4-BE49-F238E27FC236}">
                <a16:creationId xmlns:a16="http://schemas.microsoft.com/office/drawing/2014/main" id="{2CD7AFF1-EC21-63C8-32EF-0C3D739CF9C9}"/>
              </a:ext>
            </a:extLst>
          </p:cNvPr>
          <p:cNvSpPr>
            <a:spLocks noGrp="1"/>
          </p:cNvSpPr>
          <p:nvPr>
            <p:ph type="sldNum" sz="quarter" idx="4"/>
          </p:nvPr>
        </p:nvSpPr>
        <p:spPr/>
        <p:txBody>
          <a:bodyPr/>
          <a:lstStyle/>
          <a:p>
            <a:fld id="{33C783E2-4793-4F48-A271-51A73CC37D74}" type="slidenum">
              <a:rPr lang="fr-FR" smtClean="0"/>
              <a:t>24</a:t>
            </a:fld>
            <a:endParaRPr lang="fr-FR"/>
          </a:p>
        </p:txBody>
      </p:sp>
    </p:spTree>
    <p:extLst>
      <p:ext uri="{BB962C8B-B14F-4D97-AF65-F5344CB8AC3E}">
        <p14:creationId xmlns:p14="http://schemas.microsoft.com/office/powerpoint/2010/main" val="3957199800"/>
      </p:ext>
    </p:extLst>
  </p:cSld>
  <p:clrMapOvr>
    <a:masterClrMapping/>
  </p:clrMapOvr>
  <p:transition>
    <p:push dir="u"/>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Types génériques</a:t>
            </a:r>
          </a:p>
        </p:txBody>
      </p:sp>
      <p:sp>
        <p:nvSpPr>
          <p:cNvPr id="3" name="Espace réservé du contenu 2"/>
          <p:cNvSpPr>
            <a:spLocks noGrp="1"/>
          </p:cNvSpPr>
          <p:nvPr>
            <p:ph idx="1"/>
          </p:nvPr>
        </p:nvSpPr>
        <p:spPr/>
        <p:txBody>
          <a:bodyPr>
            <a:noAutofit/>
          </a:bodyPr>
          <a:lstStyle/>
          <a:p>
            <a:pPr marL="342900" indent="-342900">
              <a:lnSpc>
                <a:spcPct val="80000"/>
              </a:lnSpc>
              <a:buFont typeface="Arial"/>
              <a:buChar char="•"/>
            </a:pPr>
            <a:r>
              <a:rPr lang="fr-FR" dirty="0"/>
              <a:t>Le concept de type générique</a:t>
            </a:r>
          </a:p>
          <a:p>
            <a:pPr marL="342900" indent="-342900">
              <a:lnSpc>
                <a:spcPct val="80000"/>
              </a:lnSpc>
              <a:buFont typeface="Arial"/>
              <a:buChar char="•"/>
            </a:pPr>
            <a:r>
              <a:rPr lang="fr-FR" dirty="0"/>
              <a:t>Classe Générique à un seul paramètre</a:t>
            </a:r>
          </a:p>
          <a:p>
            <a:pPr marL="342900" indent="-342900">
              <a:lnSpc>
                <a:spcPct val="80000"/>
              </a:lnSpc>
              <a:buFont typeface="Arial"/>
              <a:buChar char="•"/>
            </a:pPr>
            <a:r>
              <a:rPr lang="fr-FR" dirty="0"/>
              <a:t>Classe Générique à plusieurs paramètres</a:t>
            </a:r>
          </a:p>
          <a:p>
            <a:pPr marL="342900" indent="-342900">
              <a:lnSpc>
                <a:spcPct val="80000"/>
              </a:lnSpc>
              <a:buFont typeface="Arial"/>
              <a:buChar char="•"/>
            </a:pPr>
            <a:r>
              <a:rPr lang="fr-FR" dirty="0">
                <a:solidFill>
                  <a:schemeClr val="accent4"/>
                </a:solidFill>
              </a:rPr>
              <a:t>Compilation des types génériques</a:t>
            </a:r>
          </a:p>
          <a:p>
            <a:pPr marL="342900" indent="-342900">
              <a:lnSpc>
                <a:spcPct val="80000"/>
              </a:lnSpc>
              <a:buFont typeface="Arial"/>
              <a:buChar char="•"/>
            </a:pPr>
            <a:r>
              <a:rPr lang="fr-FR" dirty="0"/>
              <a:t>Méthodes génériques</a:t>
            </a:r>
          </a:p>
          <a:p>
            <a:pPr marL="342900" indent="-342900">
              <a:lnSpc>
                <a:spcPct val="80000"/>
              </a:lnSpc>
              <a:buFont typeface="Arial"/>
              <a:buChar char="•"/>
            </a:pPr>
            <a:r>
              <a:rPr lang="fr-FR" dirty="0"/>
              <a:t>Limitations sur le type</a:t>
            </a:r>
          </a:p>
          <a:p>
            <a:pPr marL="342900" indent="-342900">
              <a:lnSpc>
                <a:spcPct val="80000"/>
              </a:lnSpc>
              <a:buFont typeface="Arial"/>
              <a:buChar char="•"/>
            </a:pPr>
            <a:r>
              <a:rPr lang="fr-FR" dirty="0"/>
              <a:t>Type générique et héritage</a:t>
            </a:r>
          </a:p>
          <a:p>
            <a:pPr marL="342900" indent="-342900">
              <a:lnSpc>
                <a:spcPct val="80000"/>
              </a:lnSpc>
              <a:buFont typeface="Arial"/>
              <a:buChar char="•"/>
            </a:pPr>
            <a:endParaRPr lang="fr-FR" dirty="0"/>
          </a:p>
          <a:p>
            <a:pPr marL="342900" indent="-342900">
              <a:lnSpc>
                <a:spcPct val="80000"/>
              </a:lnSpc>
              <a:buFont typeface="Arial"/>
              <a:buChar char="•"/>
            </a:pPr>
            <a:endParaRPr lang="fr-FR" dirty="0"/>
          </a:p>
          <a:p>
            <a:pPr marL="342900" indent="-342900">
              <a:lnSpc>
                <a:spcPct val="80000"/>
              </a:lnSpc>
              <a:buFont typeface="Arial"/>
              <a:buChar char="•"/>
            </a:pPr>
            <a:endParaRPr lang="fr-FR" dirty="0"/>
          </a:p>
        </p:txBody>
      </p:sp>
      <p:grpSp>
        <p:nvGrpSpPr>
          <p:cNvPr id="8" name="Groupe 7">
            <a:extLst>
              <a:ext uri="{FF2B5EF4-FFF2-40B4-BE49-F238E27FC236}">
                <a16:creationId xmlns:a16="http://schemas.microsoft.com/office/drawing/2014/main" id="{ACCA99A5-B332-B909-6733-15C39193A78F}"/>
              </a:ext>
            </a:extLst>
          </p:cNvPr>
          <p:cNvGrpSpPr/>
          <p:nvPr/>
        </p:nvGrpSpPr>
        <p:grpSpPr>
          <a:xfrm>
            <a:off x="10470995" y="162401"/>
            <a:ext cx="1404760" cy="1400033"/>
            <a:chOff x="10326324" y="687756"/>
            <a:chExt cx="1393314" cy="1393314"/>
          </a:xfrm>
        </p:grpSpPr>
        <p:sp>
          <p:nvSpPr>
            <p:cNvPr id="5" name="Larme 4">
              <a:extLst>
                <a:ext uri="{FF2B5EF4-FFF2-40B4-BE49-F238E27FC236}">
                  <a16:creationId xmlns:a16="http://schemas.microsoft.com/office/drawing/2014/main" id="{6D659AA5-DE48-3A94-0973-5630499C0B8F}"/>
                </a:ext>
              </a:extLst>
            </p:cNvPr>
            <p:cNvSpPr/>
            <p:nvPr/>
          </p:nvSpPr>
          <p:spPr>
            <a:xfrm rot="8100000">
              <a:off x="10326324" y="687756"/>
              <a:ext cx="1393314" cy="1393314"/>
            </a:xfrm>
            <a:prstGeom prst="teardrop">
              <a:avLst>
                <a:gd name="adj" fmla="val 13287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 name="ZoneTexte 6">
              <a:extLst>
                <a:ext uri="{FF2B5EF4-FFF2-40B4-BE49-F238E27FC236}">
                  <a16:creationId xmlns:a16="http://schemas.microsoft.com/office/drawing/2014/main" id="{4FF3D4ED-5448-D9C2-964C-3C9EFB6B14C0}"/>
                </a:ext>
              </a:extLst>
            </p:cNvPr>
            <p:cNvSpPr txBox="1"/>
            <p:nvPr/>
          </p:nvSpPr>
          <p:spPr>
            <a:xfrm>
              <a:off x="10372029" y="1092958"/>
              <a:ext cx="1301905" cy="702249"/>
            </a:xfrm>
            <a:prstGeom prst="rect">
              <a:avLst/>
            </a:prstGeom>
            <a:noFill/>
          </p:spPr>
          <p:txBody>
            <a:bodyPr wrap="square">
              <a:spAutoFit/>
            </a:bodyPr>
            <a:lstStyle/>
            <a:p>
              <a:pPr algn="ctr"/>
              <a:r>
                <a:rPr lang="fr-FR" sz="2000" b="1" dirty="0"/>
                <a:t>Vous êtes ici</a:t>
              </a:r>
            </a:p>
          </p:txBody>
        </p:sp>
      </p:grpSp>
      <p:sp>
        <p:nvSpPr>
          <p:cNvPr id="4" name="Espace réservé du numéro de diapositive 3">
            <a:extLst>
              <a:ext uri="{FF2B5EF4-FFF2-40B4-BE49-F238E27FC236}">
                <a16:creationId xmlns:a16="http://schemas.microsoft.com/office/drawing/2014/main" id="{DC0126A9-2148-DB92-E0FD-CE909F59BF3A}"/>
              </a:ext>
            </a:extLst>
          </p:cNvPr>
          <p:cNvSpPr>
            <a:spLocks noGrp="1"/>
          </p:cNvSpPr>
          <p:nvPr>
            <p:ph type="sldNum" sz="quarter" idx="4"/>
          </p:nvPr>
        </p:nvSpPr>
        <p:spPr/>
        <p:txBody>
          <a:bodyPr/>
          <a:lstStyle/>
          <a:p>
            <a:fld id="{33C783E2-4793-4F48-A271-51A73CC37D74}" type="slidenum">
              <a:rPr lang="fr-FR" smtClean="0"/>
              <a:t>25</a:t>
            </a:fld>
            <a:endParaRPr lang="fr-FR"/>
          </a:p>
        </p:txBody>
      </p:sp>
    </p:spTree>
    <p:extLst>
      <p:ext uri="{BB962C8B-B14F-4D97-AF65-F5344CB8AC3E}">
        <p14:creationId xmlns:p14="http://schemas.microsoft.com/office/powerpoint/2010/main" val="911301019"/>
      </p:ext>
    </p:extLst>
  </p:cSld>
  <p:clrMapOvr>
    <a:masterClrMapping/>
  </p:clrMapOvr>
  <p:transition>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Que se passe-t-il à la compilation?</a:t>
            </a:r>
          </a:p>
        </p:txBody>
      </p:sp>
      <p:sp>
        <p:nvSpPr>
          <p:cNvPr id="5" name="Espace réservé du contenu 4"/>
          <p:cNvSpPr>
            <a:spLocks noGrp="1"/>
          </p:cNvSpPr>
          <p:nvPr>
            <p:ph idx="1"/>
          </p:nvPr>
        </p:nvSpPr>
        <p:spPr/>
        <p:txBody>
          <a:bodyPr>
            <a:normAutofit/>
          </a:bodyPr>
          <a:lstStyle/>
          <a:p>
            <a:pPr marL="0" indent="0">
              <a:buNone/>
            </a:pPr>
            <a:r>
              <a:rPr lang="fr-FR" dirty="0"/>
              <a:t>Lors de la </a:t>
            </a:r>
            <a:r>
              <a:rPr lang="fr-FR" dirty="0">
                <a:solidFill>
                  <a:schemeClr val="accent4"/>
                </a:solidFill>
              </a:rPr>
              <a:t>compilation</a:t>
            </a:r>
            <a:r>
              <a:rPr lang="fr-FR" dirty="0"/>
              <a:t>, essayons maintenant de comprendre ce qu’il se passe…</a:t>
            </a:r>
          </a:p>
          <a:p>
            <a:pPr marL="457200" indent="-457200">
              <a:buAutoNum type="arabicPeriod"/>
            </a:pPr>
            <a:r>
              <a:rPr lang="fr-FR" dirty="0"/>
              <a:t>Du point de vue de la classe générique.</a:t>
            </a:r>
          </a:p>
          <a:p>
            <a:pPr marL="457200" indent="-457200">
              <a:buAutoNum type="arabicPeriod"/>
            </a:pPr>
            <a:r>
              <a:rPr lang="fr-FR" dirty="0"/>
              <a:t>Du point de vue du client (= la classe qui utilise la classe générique).</a:t>
            </a:r>
          </a:p>
        </p:txBody>
      </p:sp>
      <p:sp>
        <p:nvSpPr>
          <p:cNvPr id="3" name="Espace réservé du numéro de diapositive 2">
            <a:extLst>
              <a:ext uri="{FF2B5EF4-FFF2-40B4-BE49-F238E27FC236}">
                <a16:creationId xmlns:a16="http://schemas.microsoft.com/office/drawing/2014/main" id="{A6B1185B-5221-7848-BA33-4382B602C759}"/>
              </a:ext>
            </a:extLst>
          </p:cNvPr>
          <p:cNvSpPr>
            <a:spLocks noGrp="1"/>
          </p:cNvSpPr>
          <p:nvPr>
            <p:ph type="sldNum" sz="quarter" idx="4"/>
          </p:nvPr>
        </p:nvSpPr>
        <p:spPr/>
        <p:txBody>
          <a:bodyPr/>
          <a:lstStyle/>
          <a:p>
            <a:fld id="{33C783E2-4793-4F48-A271-51A73CC37D74}" type="slidenum">
              <a:rPr lang="fr-FR" smtClean="0"/>
              <a:t>26</a:t>
            </a:fld>
            <a:endParaRPr lang="fr-FR"/>
          </a:p>
        </p:txBody>
      </p:sp>
    </p:spTree>
    <p:extLst>
      <p:ext uri="{BB962C8B-B14F-4D97-AF65-F5344CB8AC3E}">
        <p14:creationId xmlns:p14="http://schemas.microsoft.com/office/powerpoint/2010/main" val="1970506901"/>
      </p:ext>
    </p:extLst>
  </p:cSld>
  <p:clrMapOvr>
    <a:masterClrMapping/>
  </p:clrMapOvr>
  <p:transition>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Compilation de la classe générique</a:t>
            </a:r>
          </a:p>
        </p:txBody>
      </p:sp>
      <p:sp>
        <p:nvSpPr>
          <p:cNvPr id="5" name="Espace réservé du contenu 4"/>
          <p:cNvSpPr>
            <a:spLocks noGrp="1"/>
          </p:cNvSpPr>
          <p:nvPr>
            <p:ph idx="1"/>
          </p:nvPr>
        </p:nvSpPr>
        <p:spPr>
          <a:xfrm>
            <a:off x="838200" y="1825625"/>
            <a:ext cx="10515600" cy="1603375"/>
          </a:xfrm>
        </p:spPr>
        <p:txBody>
          <a:bodyPr>
            <a:normAutofit/>
          </a:bodyPr>
          <a:lstStyle/>
          <a:p>
            <a:pPr marL="0" indent="0">
              <a:buNone/>
            </a:pPr>
            <a:r>
              <a:rPr lang="fr-FR" sz="1800" dirty="0"/>
              <a:t>Pour le compilateur, le </a:t>
            </a:r>
            <a:r>
              <a:rPr lang="fr-FR" sz="1800" dirty="0">
                <a:solidFill>
                  <a:schemeClr val="accent4"/>
                </a:solidFill>
              </a:rPr>
              <a:t>byte code généré lors de compilation de la classe générique </a:t>
            </a:r>
            <a:r>
              <a:rPr lang="fr-FR" sz="1800" dirty="0"/>
              <a:t>est identique à celui qui serait généré pour la classe suivante:</a:t>
            </a:r>
          </a:p>
          <a:p>
            <a:endParaRPr lang="fr-FR" sz="1800" dirty="0"/>
          </a:p>
          <a:p>
            <a:endParaRPr lang="fr-FR" sz="1800" dirty="0"/>
          </a:p>
          <a:p>
            <a:endParaRPr lang="fr-FR" sz="1800" dirty="0"/>
          </a:p>
        </p:txBody>
      </p:sp>
      <p:sp>
        <p:nvSpPr>
          <p:cNvPr id="7" name="ZoneTexte 6">
            <a:extLst>
              <a:ext uri="{FF2B5EF4-FFF2-40B4-BE49-F238E27FC236}">
                <a16:creationId xmlns:a16="http://schemas.microsoft.com/office/drawing/2014/main" id="{9CB8535D-B0A8-F927-C404-0A9EC4755E3B}"/>
              </a:ext>
            </a:extLst>
          </p:cNvPr>
          <p:cNvSpPr txBox="1"/>
          <p:nvPr/>
        </p:nvSpPr>
        <p:spPr>
          <a:xfrm>
            <a:off x="1793018" y="2480489"/>
            <a:ext cx="7557715" cy="3323987"/>
          </a:xfrm>
          <a:prstGeom prst="rect">
            <a:avLst/>
          </a:prstGeom>
          <a:solidFill>
            <a:srgbClr val="2B2B2B"/>
          </a:solidFill>
        </p:spPr>
        <p:txBody>
          <a:bodyPr wrap="square">
            <a:spAutoFit/>
          </a:bodyPr>
          <a:lstStyle/>
          <a:p>
            <a:r>
              <a:rPr lang="fr-BE" sz="1400" dirty="0">
                <a:solidFill>
                  <a:srgbClr val="CC7832"/>
                </a:solidFill>
                <a:effectLst/>
                <a:latin typeface="Consolas" panose="020B0609020204030204" pitchFamily="49" charset="0"/>
                <a:cs typeface="Consolas" panose="020B0609020204030204" pitchFamily="49" charset="0"/>
              </a:rPr>
              <a:t>public class </a:t>
            </a:r>
            <a:r>
              <a:rPr lang="fr-BE" sz="1400" dirty="0">
                <a:latin typeface="Consolas" panose="020B0609020204030204" pitchFamily="49" charset="0"/>
                <a:cs typeface="Consolas" panose="020B0609020204030204" pitchFamily="49" charset="0"/>
              </a:rPr>
              <a:t>Couple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err="1">
                <a:solidFill>
                  <a:srgbClr val="CC7832"/>
                </a:solidFill>
                <a:effectLst/>
                <a:latin typeface="Consolas" panose="020B0609020204030204" pitchFamily="49" charset="0"/>
                <a:cs typeface="Consolas" panose="020B0609020204030204" pitchFamily="49" charset="0"/>
              </a:rPr>
              <a:t>private</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Object </a:t>
            </a:r>
            <a:r>
              <a:rPr lang="fr-BE" sz="1400" dirty="0">
                <a:solidFill>
                  <a:srgbClr val="9876AA"/>
                </a:solidFill>
                <a:effectLst/>
                <a:latin typeface="Consolas" panose="020B0609020204030204" pitchFamily="49" charset="0"/>
                <a:cs typeface="Consolas" panose="020B0609020204030204" pitchFamily="49" charset="0"/>
              </a:rPr>
              <a:t>x</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y</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public </a:t>
            </a:r>
            <a:r>
              <a:rPr lang="fr-BE" sz="1400" dirty="0">
                <a:solidFill>
                  <a:srgbClr val="FFC66D"/>
                </a:solidFill>
                <a:effectLst/>
                <a:latin typeface="Consolas" panose="020B0609020204030204" pitchFamily="49" charset="0"/>
                <a:cs typeface="Consolas" panose="020B0609020204030204" pitchFamily="49" charset="0"/>
              </a:rPr>
              <a:t>Couple</a:t>
            </a:r>
            <a:r>
              <a:rPr lang="fr-BE" sz="1400" dirty="0">
                <a:latin typeface="Consolas" panose="020B0609020204030204" pitchFamily="49" charset="0"/>
                <a:cs typeface="Consolas" panose="020B0609020204030204" pitchFamily="49" charset="0"/>
              </a:rPr>
              <a:t>(Object premier</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Object second)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x </a:t>
            </a:r>
            <a:r>
              <a:rPr lang="fr-BE" sz="1400" dirty="0">
                <a:latin typeface="Consolas" panose="020B0609020204030204" pitchFamily="49" charset="0"/>
                <a:cs typeface="Consolas" panose="020B0609020204030204" pitchFamily="49" charset="0"/>
              </a:rPr>
              <a:t>= premier</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y </a:t>
            </a:r>
            <a:r>
              <a:rPr lang="fr-BE" sz="1400" dirty="0">
                <a:latin typeface="Consolas" panose="020B0609020204030204" pitchFamily="49" charset="0"/>
                <a:cs typeface="Consolas" panose="020B0609020204030204" pitchFamily="49" charset="0"/>
              </a:rPr>
              <a:t>= second</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effectLst/>
                <a:latin typeface="Consolas" panose="020B0609020204030204" pitchFamily="49" charset="0"/>
                <a:cs typeface="Consolas" panose="020B0609020204030204" pitchFamily="49" charset="0"/>
              </a:rPr>
              <a:t>public </a:t>
            </a:r>
            <a:r>
              <a:rPr lang="fr-BE" sz="1400" dirty="0" err="1">
                <a:solidFill>
                  <a:srgbClr val="CC7832"/>
                </a:solidFill>
                <a:effectLst/>
                <a:latin typeface="Consolas" panose="020B0609020204030204" pitchFamily="49" charset="0"/>
                <a:cs typeface="Consolas" panose="020B0609020204030204" pitchFamily="49" charset="0"/>
              </a:rPr>
              <a:t>void</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FFC66D"/>
                </a:solidFill>
                <a:effectLst/>
                <a:latin typeface="Consolas" panose="020B0609020204030204" pitchFamily="49" charset="0"/>
                <a:cs typeface="Consolas" panose="020B0609020204030204" pitchFamily="49" charset="0"/>
              </a:rPr>
              <a:t>affiche</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System.</a:t>
            </a:r>
            <a:r>
              <a:rPr lang="fr-BE" sz="1400" i="1" dirty="0" err="1">
                <a:solidFill>
                  <a:srgbClr val="9876AA"/>
                </a:solidFill>
                <a:effectLst/>
                <a:latin typeface="Consolas" panose="020B0609020204030204" pitchFamily="49" charset="0"/>
                <a:cs typeface="Consolas" panose="020B0609020204030204" pitchFamily="49" charset="0"/>
              </a:rPr>
              <a:t>out</a:t>
            </a:r>
            <a:r>
              <a:rPr lang="fr-BE" sz="1400" dirty="0" err="1">
                <a:latin typeface="Consolas" panose="020B0609020204030204" pitchFamily="49" charset="0"/>
                <a:cs typeface="Consolas" panose="020B0609020204030204" pitchFamily="49" charset="0"/>
              </a:rPr>
              <a:t>.println</a:t>
            </a:r>
            <a:r>
              <a:rPr lang="fr-BE" sz="1400" dirty="0">
                <a:latin typeface="Consolas" panose="020B0609020204030204" pitchFamily="49" charset="0"/>
                <a:cs typeface="Consolas" panose="020B0609020204030204" pitchFamily="49" charset="0"/>
              </a:rPr>
              <a:t>(</a:t>
            </a:r>
            <a:r>
              <a:rPr lang="fr-BE" sz="1400" dirty="0">
                <a:solidFill>
                  <a:srgbClr val="6A8759"/>
                </a:solidFill>
                <a:effectLst/>
                <a:latin typeface="Consolas" panose="020B0609020204030204" pitchFamily="49" charset="0"/>
                <a:cs typeface="Consolas" panose="020B0609020204030204" pitchFamily="49" charset="0"/>
              </a:rPr>
              <a:t>"première : " </a:t>
            </a:r>
            <a:r>
              <a:rPr lang="fr-BE" sz="1400" dirty="0">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x </a:t>
            </a:r>
            <a:r>
              <a:rPr lang="fr-BE" sz="1400" dirty="0">
                <a:latin typeface="Consolas" panose="020B0609020204030204" pitchFamily="49" charset="0"/>
                <a:cs typeface="Consolas" panose="020B0609020204030204" pitchFamily="49" charset="0"/>
              </a:rPr>
              <a:t>+ </a:t>
            </a:r>
            <a:r>
              <a:rPr lang="fr-BE" sz="1400" dirty="0">
                <a:solidFill>
                  <a:srgbClr val="6A8759"/>
                </a:solidFill>
                <a:effectLst/>
                <a:latin typeface="Consolas" panose="020B0609020204030204" pitchFamily="49" charset="0"/>
                <a:cs typeface="Consolas" panose="020B0609020204030204" pitchFamily="49" charset="0"/>
              </a:rPr>
              <a:t>" - deuxième : " </a:t>
            </a:r>
            <a:r>
              <a:rPr lang="fr-BE" sz="1400" dirty="0">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y</a:t>
            </a:r>
            <a:r>
              <a:rPr lang="fr-BE" sz="1400" dirty="0">
                <a:latin typeface="Consolas" panose="020B0609020204030204" pitchFamily="49" charset="0"/>
                <a:cs typeface="Consolas" panose="020B0609020204030204" pitchFamily="49" charset="0"/>
              </a:rPr>
              <a:t>)</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Object </a:t>
            </a:r>
            <a:r>
              <a:rPr lang="fr-BE" sz="1400" dirty="0" err="1">
                <a:solidFill>
                  <a:srgbClr val="FFC66D"/>
                </a:solidFill>
                <a:effectLst/>
                <a:latin typeface="Consolas" panose="020B0609020204030204" pitchFamily="49" charset="0"/>
                <a:cs typeface="Consolas" panose="020B0609020204030204" pitchFamily="49" charset="0"/>
              </a:rPr>
              <a:t>getPremier</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effectLst/>
                <a:latin typeface="Consolas" panose="020B0609020204030204" pitchFamily="49" charset="0"/>
                <a:cs typeface="Consolas" panose="020B0609020204030204" pitchFamily="49" charset="0"/>
              </a:rPr>
              <a:t>return </a:t>
            </a:r>
            <a:r>
              <a:rPr lang="fr-BE" sz="1400" dirty="0">
                <a:solidFill>
                  <a:srgbClr val="9876AA"/>
                </a:solidFill>
                <a:effectLst/>
                <a:latin typeface="Consolas" panose="020B0609020204030204" pitchFamily="49" charset="0"/>
                <a:cs typeface="Consolas" panose="020B0609020204030204" pitchFamily="49" charset="0"/>
              </a:rPr>
              <a:t>x</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a:t>
            </a:r>
            <a:endParaRPr lang="fr-FR" sz="1400" dirty="0">
              <a:latin typeface="Consolas" panose="020B0609020204030204" pitchFamily="49" charset="0"/>
              <a:cs typeface="Consolas" panose="020B0609020204030204" pitchFamily="49" charset="0"/>
            </a:endParaRPr>
          </a:p>
        </p:txBody>
      </p:sp>
      <p:sp>
        <p:nvSpPr>
          <p:cNvPr id="9" name="ZoneTexte 8">
            <a:extLst>
              <a:ext uri="{FF2B5EF4-FFF2-40B4-BE49-F238E27FC236}">
                <a16:creationId xmlns:a16="http://schemas.microsoft.com/office/drawing/2014/main" id="{82EBD64E-FC66-240E-A736-B7627428B2B9}"/>
              </a:ext>
            </a:extLst>
          </p:cNvPr>
          <p:cNvSpPr txBox="1"/>
          <p:nvPr/>
        </p:nvSpPr>
        <p:spPr>
          <a:xfrm>
            <a:off x="838200" y="5804476"/>
            <a:ext cx="8162014" cy="369332"/>
          </a:xfrm>
          <a:prstGeom prst="rect">
            <a:avLst/>
          </a:prstGeom>
          <a:noFill/>
        </p:spPr>
        <p:txBody>
          <a:bodyPr wrap="square">
            <a:spAutoFit/>
          </a:bodyPr>
          <a:lstStyle/>
          <a:p>
            <a:r>
              <a:rPr lang="fr-FR" sz="1800" dirty="0"/>
              <a:t>Le type </a:t>
            </a:r>
            <a:r>
              <a:rPr lang="fr-FR" sz="1600" dirty="0">
                <a:solidFill>
                  <a:schemeClr val="accent4"/>
                </a:solidFill>
                <a:latin typeface="Consolas" panose="020B0609020204030204" pitchFamily="49" charset="0"/>
                <a:cs typeface="Consolas" panose="020B0609020204030204" pitchFamily="49" charset="0"/>
              </a:rPr>
              <a:t>Couple&lt;</a:t>
            </a:r>
            <a:r>
              <a:rPr lang="fr-FR" sz="1600" dirty="0" err="1">
                <a:solidFill>
                  <a:schemeClr val="accent4"/>
                </a:solidFill>
                <a:latin typeface="Consolas" panose="020B0609020204030204" pitchFamily="49" charset="0"/>
                <a:cs typeface="Consolas" panose="020B0609020204030204" pitchFamily="49" charset="0"/>
              </a:rPr>
              <a:t>T</a:t>
            </a:r>
            <a:r>
              <a:rPr lang="fr-FR" sz="1600" dirty="0">
                <a:solidFill>
                  <a:schemeClr val="accent4"/>
                </a:solidFill>
                <a:latin typeface="Consolas" panose="020B0609020204030204" pitchFamily="49" charset="0"/>
                <a:cs typeface="Consolas" panose="020B0609020204030204" pitchFamily="49" charset="0"/>
              </a:rPr>
              <a:t>&gt;</a:t>
            </a:r>
            <a:r>
              <a:rPr lang="fr-FR" sz="1800" dirty="0"/>
              <a:t> a été </a:t>
            </a:r>
            <a:r>
              <a:rPr lang="fr-FR" sz="1800" dirty="0">
                <a:solidFill>
                  <a:schemeClr val="accent4"/>
                </a:solidFill>
              </a:rPr>
              <a:t>remplacé par le « type brut »</a:t>
            </a:r>
            <a:r>
              <a:rPr lang="fr-FR" sz="1800" dirty="0"/>
              <a:t> </a:t>
            </a:r>
            <a:r>
              <a:rPr lang="fr-FR" sz="1600" dirty="0">
                <a:solidFill>
                  <a:schemeClr val="accent4"/>
                </a:solidFill>
                <a:latin typeface="Consolas" panose="020B0609020204030204" pitchFamily="49" charset="0"/>
                <a:cs typeface="Consolas" panose="020B0609020204030204" pitchFamily="49" charset="0"/>
              </a:rPr>
              <a:t>Couple</a:t>
            </a:r>
            <a:r>
              <a:rPr lang="fr-FR" sz="1800" dirty="0"/>
              <a:t>.</a:t>
            </a:r>
            <a:endParaRPr lang="fr-FR" sz="1800" dirty="0">
              <a:solidFill>
                <a:srgbClr val="A6082B"/>
              </a:solidFill>
              <a:latin typeface="Consolas" panose="020B0609020204030204" pitchFamily="49" charset="0"/>
              <a:cs typeface="Consolas" panose="020B0609020204030204" pitchFamily="49" charset="0"/>
            </a:endParaRPr>
          </a:p>
        </p:txBody>
      </p:sp>
      <p:sp>
        <p:nvSpPr>
          <p:cNvPr id="3" name="Espace réservé du numéro de diapositive 2">
            <a:extLst>
              <a:ext uri="{FF2B5EF4-FFF2-40B4-BE49-F238E27FC236}">
                <a16:creationId xmlns:a16="http://schemas.microsoft.com/office/drawing/2014/main" id="{41269A15-D40C-7034-CC87-FFAF63536F24}"/>
              </a:ext>
            </a:extLst>
          </p:cNvPr>
          <p:cNvSpPr>
            <a:spLocks noGrp="1"/>
          </p:cNvSpPr>
          <p:nvPr>
            <p:ph type="sldNum" sz="quarter" idx="4"/>
          </p:nvPr>
        </p:nvSpPr>
        <p:spPr/>
        <p:txBody>
          <a:bodyPr/>
          <a:lstStyle/>
          <a:p>
            <a:fld id="{33C783E2-4793-4F48-A271-51A73CC37D74}" type="slidenum">
              <a:rPr lang="fr-FR" smtClean="0"/>
              <a:t>27</a:t>
            </a:fld>
            <a:endParaRPr lang="fr-FR"/>
          </a:p>
        </p:txBody>
      </p:sp>
    </p:spTree>
    <p:extLst>
      <p:ext uri="{BB962C8B-B14F-4D97-AF65-F5344CB8AC3E}">
        <p14:creationId xmlns:p14="http://schemas.microsoft.com/office/powerpoint/2010/main" val="304572841"/>
      </p:ext>
    </p:extLst>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Compilation de la classe client</a:t>
            </a:r>
          </a:p>
        </p:txBody>
      </p:sp>
      <p:sp>
        <p:nvSpPr>
          <p:cNvPr id="5" name="Espace réservé du contenu 4"/>
          <p:cNvSpPr>
            <a:spLocks noGrp="1"/>
          </p:cNvSpPr>
          <p:nvPr>
            <p:ph idx="1"/>
          </p:nvPr>
        </p:nvSpPr>
        <p:spPr>
          <a:xfrm>
            <a:off x="838200" y="1825625"/>
            <a:ext cx="10515600" cy="752964"/>
          </a:xfrm>
        </p:spPr>
        <p:txBody>
          <a:bodyPr>
            <a:normAutofit/>
          </a:bodyPr>
          <a:lstStyle/>
          <a:p>
            <a:pPr marL="0" indent="0">
              <a:buNone/>
            </a:pPr>
            <a:r>
              <a:rPr lang="fr-FR" sz="1800" dirty="0"/>
              <a:t>Pour </a:t>
            </a:r>
            <a:r>
              <a:rPr lang="fr-FR" sz="1800" dirty="0">
                <a:solidFill>
                  <a:schemeClr val="accent4"/>
                </a:solidFill>
              </a:rPr>
              <a:t>la classe client (qui utilise)</a:t>
            </a:r>
            <a:r>
              <a:rPr lang="fr-FR" sz="1800" dirty="0"/>
              <a:t>, si nous avons par exemple déclaré</a:t>
            </a:r>
          </a:p>
        </p:txBody>
      </p:sp>
      <p:sp>
        <p:nvSpPr>
          <p:cNvPr id="7" name="ZoneTexte 6">
            <a:extLst>
              <a:ext uri="{FF2B5EF4-FFF2-40B4-BE49-F238E27FC236}">
                <a16:creationId xmlns:a16="http://schemas.microsoft.com/office/drawing/2014/main" id="{BBA904A4-8517-4E41-20E6-32E93860B13E}"/>
              </a:ext>
            </a:extLst>
          </p:cNvPr>
          <p:cNvSpPr txBox="1"/>
          <p:nvPr/>
        </p:nvSpPr>
        <p:spPr>
          <a:xfrm>
            <a:off x="2842591" y="2292165"/>
            <a:ext cx="6098650" cy="338554"/>
          </a:xfrm>
          <a:prstGeom prst="rect">
            <a:avLst/>
          </a:prstGeom>
          <a:solidFill>
            <a:srgbClr val="2B2B2B"/>
          </a:solidFill>
        </p:spPr>
        <p:txBody>
          <a:bodyPr wrap="square">
            <a:spAutoFit/>
          </a:bodyPr>
          <a:lstStyle/>
          <a:p>
            <a:r>
              <a:rPr lang="fr-BE" sz="1600" dirty="0">
                <a:latin typeface="Consolas" panose="020B0609020204030204" pitchFamily="49" charset="0"/>
                <a:cs typeface="Consolas" panose="020B0609020204030204" pitchFamily="49" charset="0"/>
              </a:rPr>
              <a:t>Couple&lt;Integer&gt; ci</a:t>
            </a:r>
            <a:r>
              <a:rPr lang="fr-BE" sz="1600" dirty="0">
                <a:solidFill>
                  <a:srgbClr val="CC7832"/>
                </a:solidFill>
                <a:effectLst/>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p:txBody>
      </p:sp>
      <p:sp>
        <p:nvSpPr>
          <p:cNvPr id="9" name="ZoneTexte 8">
            <a:extLst>
              <a:ext uri="{FF2B5EF4-FFF2-40B4-BE49-F238E27FC236}">
                <a16:creationId xmlns:a16="http://schemas.microsoft.com/office/drawing/2014/main" id="{7CBA92BA-E67B-23D4-B8A8-AF5EC6C2D612}"/>
              </a:ext>
            </a:extLst>
          </p:cNvPr>
          <p:cNvSpPr txBox="1"/>
          <p:nvPr/>
        </p:nvSpPr>
        <p:spPr>
          <a:xfrm>
            <a:off x="2842591" y="3294028"/>
            <a:ext cx="6098650" cy="338554"/>
          </a:xfrm>
          <a:prstGeom prst="rect">
            <a:avLst/>
          </a:prstGeom>
          <a:solidFill>
            <a:srgbClr val="2B2B2B"/>
          </a:solidFill>
        </p:spPr>
        <p:txBody>
          <a:bodyPr wrap="square">
            <a:spAutoFit/>
          </a:bodyPr>
          <a:lstStyle/>
          <a:p>
            <a:r>
              <a:rPr lang="fr-BE" sz="1600" dirty="0" err="1">
                <a:latin typeface="Consolas" panose="020B0609020204030204" pitchFamily="49" charset="0"/>
                <a:cs typeface="Consolas" panose="020B0609020204030204" pitchFamily="49" charset="0"/>
              </a:rPr>
              <a:t>ci.getPremier</a:t>
            </a:r>
            <a:r>
              <a:rPr lang="fr-BE" sz="1600" dirty="0">
                <a:latin typeface="Consolas" panose="020B0609020204030204" pitchFamily="49" charset="0"/>
                <a:cs typeface="Consolas" panose="020B0609020204030204" pitchFamily="49" charset="0"/>
              </a:rPr>
              <a:t>()</a:t>
            </a:r>
            <a:r>
              <a:rPr lang="fr-BE" sz="1600" dirty="0">
                <a:solidFill>
                  <a:srgbClr val="CC7832"/>
                </a:solidFill>
                <a:effectLst/>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p:txBody>
      </p:sp>
      <p:sp>
        <p:nvSpPr>
          <p:cNvPr id="11" name="ZoneTexte 10">
            <a:extLst>
              <a:ext uri="{FF2B5EF4-FFF2-40B4-BE49-F238E27FC236}">
                <a16:creationId xmlns:a16="http://schemas.microsoft.com/office/drawing/2014/main" id="{27F6F1BA-8C82-F6E7-C69B-FFFBB30E8605}"/>
              </a:ext>
            </a:extLst>
          </p:cNvPr>
          <p:cNvSpPr txBox="1"/>
          <p:nvPr/>
        </p:nvSpPr>
        <p:spPr>
          <a:xfrm>
            <a:off x="2842591" y="4126614"/>
            <a:ext cx="6098650" cy="338554"/>
          </a:xfrm>
          <a:prstGeom prst="rect">
            <a:avLst/>
          </a:prstGeom>
          <a:solidFill>
            <a:srgbClr val="2B2B2B"/>
          </a:solidFill>
        </p:spPr>
        <p:txBody>
          <a:bodyPr wrap="square">
            <a:spAutoFit/>
          </a:bodyPr>
          <a:lstStyle/>
          <a:p>
            <a:r>
              <a:rPr lang="fr-BE" sz="1600" dirty="0">
                <a:latin typeface="Consolas" panose="020B0609020204030204" pitchFamily="49" charset="0"/>
                <a:cs typeface="Consolas" panose="020B0609020204030204" pitchFamily="49" charset="0"/>
              </a:rPr>
              <a:t>(Integer) </a:t>
            </a:r>
            <a:r>
              <a:rPr lang="fr-BE" sz="1600" dirty="0" err="1">
                <a:latin typeface="Consolas" panose="020B0609020204030204" pitchFamily="49" charset="0"/>
                <a:cs typeface="Consolas" panose="020B0609020204030204" pitchFamily="49" charset="0"/>
              </a:rPr>
              <a:t>ci.getPremier</a:t>
            </a:r>
            <a:r>
              <a:rPr lang="fr-BE" sz="1600" dirty="0">
                <a:latin typeface="Consolas" panose="020B0609020204030204" pitchFamily="49" charset="0"/>
                <a:cs typeface="Consolas" panose="020B0609020204030204" pitchFamily="49" charset="0"/>
              </a:rPr>
              <a:t>()</a:t>
            </a:r>
            <a:r>
              <a:rPr lang="fr-BE" sz="1600" dirty="0">
                <a:solidFill>
                  <a:srgbClr val="CC7832"/>
                </a:solidFill>
                <a:effectLst/>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p:txBody>
      </p:sp>
      <p:sp>
        <p:nvSpPr>
          <p:cNvPr id="12" name="Espace réservé du contenu 4">
            <a:extLst>
              <a:ext uri="{FF2B5EF4-FFF2-40B4-BE49-F238E27FC236}">
                <a16:creationId xmlns:a16="http://schemas.microsoft.com/office/drawing/2014/main" id="{7716DA85-23FD-3235-D6A0-E6895FFCDEEF}"/>
              </a:ext>
            </a:extLst>
          </p:cNvPr>
          <p:cNvSpPr txBox="1">
            <a:spLocks/>
          </p:cNvSpPr>
          <p:nvPr/>
        </p:nvSpPr>
        <p:spPr>
          <a:xfrm>
            <a:off x="838200" y="2962662"/>
            <a:ext cx="10515600" cy="6204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800" dirty="0"/>
              <a:t>Lorsque le compilateur rencontre l’instruction</a:t>
            </a:r>
          </a:p>
        </p:txBody>
      </p:sp>
      <p:sp>
        <p:nvSpPr>
          <p:cNvPr id="13" name="Espace réservé du contenu 4">
            <a:extLst>
              <a:ext uri="{FF2B5EF4-FFF2-40B4-BE49-F238E27FC236}">
                <a16:creationId xmlns:a16="http://schemas.microsoft.com/office/drawing/2014/main" id="{DD22A45A-EC36-57E1-4AC0-C3526C52B271}"/>
              </a:ext>
            </a:extLst>
          </p:cNvPr>
          <p:cNvSpPr txBox="1">
            <a:spLocks/>
          </p:cNvSpPr>
          <p:nvPr/>
        </p:nvSpPr>
        <p:spPr>
          <a:xfrm>
            <a:off x="838200" y="3718036"/>
            <a:ext cx="10515600" cy="62043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800" dirty="0"/>
              <a:t>… il la traduit en insérant une </a:t>
            </a:r>
            <a:r>
              <a:rPr lang="fr-FR" sz="1800" dirty="0">
                <a:solidFill>
                  <a:schemeClr val="accent4"/>
                </a:solidFill>
              </a:rPr>
              <a:t>conversion du type</a:t>
            </a:r>
            <a:r>
              <a:rPr lang="fr-FR" sz="1800" dirty="0">
                <a:solidFill>
                  <a:schemeClr val="accent2"/>
                </a:solidFill>
              </a:rPr>
              <a:t> </a:t>
            </a:r>
            <a:r>
              <a:rPr lang="fr-FR" sz="1600" dirty="0">
                <a:solidFill>
                  <a:schemeClr val="accent4"/>
                </a:solidFill>
                <a:latin typeface="Consolas" panose="020B0609020204030204" pitchFamily="49" charset="0"/>
                <a:cs typeface="Consolas" panose="020B0609020204030204" pitchFamily="49" charset="0"/>
              </a:rPr>
              <a:t>Object</a:t>
            </a:r>
            <a:r>
              <a:rPr lang="fr-FR" sz="1800" dirty="0"/>
              <a:t> en type </a:t>
            </a:r>
            <a:r>
              <a:rPr lang="fr-FR" sz="1600" dirty="0">
                <a:solidFill>
                  <a:schemeClr val="accent4"/>
                </a:solidFill>
                <a:latin typeface="Consolas" panose="020B0609020204030204" pitchFamily="49" charset="0"/>
                <a:cs typeface="Consolas" panose="020B0609020204030204" pitchFamily="49" charset="0"/>
              </a:rPr>
              <a:t>Integer</a:t>
            </a:r>
            <a:r>
              <a:rPr lang="fr-FR" sz="1800" dirty="0"/>
              <a:t>.</a:t>
            </a:r>
          </a:p>
        </p:txBody>
      </p:sp>
      <p:sp>
        <p:nvSpPr>
          <p:cNvPr id="14" name="Espace réservé du contenu 4">
            <a:extLst>
              <a:ext uri="{FF2B5EF4-FFF2-40B4-BE49-F238E27FC236}">
                <a16:creationId xmlns:a16="http://schemas.microsoft.com/office/drawing/2014/main" id="{EC147A02-9187-2740-E3A8-9894CAA616BD}"/>
              </a:ext>
            </a:extLst>
          </p:cNvPr>
          <p:cNvSpPr txBox="1">
            <a:spLocks/>
          </p:cNvSpPr>
          <p:nvPr/>
        </p:nvSpPr>
        <p:spPr>
          <a:xfrm>
            <a:off x="838200" y="4849241"/>
            <a:ext cx="10515600" cy="12414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800" dirty="0"/>
              <a:t>Le compilateur sait en effet que </a:t>
            </a:r>
            <a:r>
              <a:rPr lang="fr-FR" sz="1600" dirty="0">
                <a:solidFill>
                  <a:schemeClr val="accent4"/>
                </a:solidFill>
                <a:latin typeface="Consolas" panose="020B0609020204030204" pitchFamily="49" charset="0"/>
                <a:cs typeface="Consolas" panose="020B0609020204030204" pitchFamily="49" charset="0"/>
              </a:rPr>
              <a:t>ci</a:t>
            </a:r>
            <a:r>
              <a:rPr lang="fr-FR" sz="1800" dirty="0"/>
              <a:t> est de type </a:t>
            </a:r>
            <a:r>
              <a:rPr lang="fr-FR" sz="1600" dirty="0">
                <a:solidFill>
                  <a:schemeClr val="accent4"/>
                </a:solidFill>
                <a:latin typeface="Consolas" panose="020B0609020204030204" pitchFamily="49" charset="0"/>
                <a:cs typeface="Consolas" panose="020B0609020204030204" pitchFamily="49" charset="0"/>
              </a:rPr>
              <a:t>Couple&lt;Integer&gt;</a:t>
            </a:r>
            <a:r>
              <a:rPr lang="fr-FR" sz="1800" dirty="0"/>
              <a:t>.</a:t>
            </a:r>
          </a:p>
          <a:p>
            <a:pPr marL="0" indent="0">
              <a:buFont typeface="Arial" panose="020B0604020202020204" pitchFamily="34" charset="0"/>
              <a:buNone/>
            </a:pPr>
            <a:endParaRPr lang="fr-FR" sz="1800" dirty="0">
              <a:solidFill>
                <a:srgbClr val="A6082B"/>
              </a:solidFill>
              <a:latin typeface="Consolas" panose="020B0609020204030204" pitchFamily="49" charset="0"/>
              <a:cs typeface="Consolas" panose="020B0609020204030204" pitchFamily="49" charset="0"/>
            </a:endParaRPr>
          </a:p>
          <a:p>
            <a:pPr marL="0" indent="0">
              <a:buFont typeface="Arial" panose="020B0604020202020204" pitchFamily="34" charset="0"/>
              <a:buNone/>
            </a:pPr>
            <a:r>
              <a:rPr lang="fr-FR" sz="1800" dirty="0"/>
              <a:t>C’est la raison pour laquelle </a:t>
            </a:r>
            <a:r>
              <a:rPr lang="fr-FR" sz="1600" dirty="0">
                <a:solidFill>
                  <a:schemeClr val="accent4"/>
                </a:solidFill>
                <a:latin typeface="Consolas" panose="020B0609020204030204" pitchFamily="49" charset="0"/>
                <a:cs typeface="Consolas" panose="020B0609020204030204" pitchFamily="49" charset="0"/>
              </a:rPr>
              <a:t>String s = </a:t>
            </a:r>
            <a:r>
              <a:rPr lang="fr-FR" sz="1600" dirty="0" err="1">
                <a:solidFill>
                  <a:schemeClr val="accent4"/>
                </a:solidFill>
                <a:latin typeface="Consolas" panose="020B0609020204030204" pitchFamily="49" charset="0"/>
                <a:cs typeface="Consolas" panose="020B0609020204030204" pitchFamily="49" charset="0"/>
              </a:rPr>
              <a:t>ci.getPremier</a:t>
            </a:r>
            <a:r>
              <a:rPr lang="fr-FR" sz="1600" dirty="0">
                <a:solidFill>
                  <a:schemeClr val="accent4"/>
                </a:solidFill>
                <a:latin typeface="Consolas" panose="020B0609020204030204" pitchFamily="49" charset="0"/>
                <a:cs typeface="Consolas" panose="020B0609020204030204" pitchFamily="49" charset="0"/>
              </a:rPr>
              <a:t>()</a:t>
            </a:r>
            <a:r>
              <a:rPr lang="fr-FR" sz="1800" dirty="0"/>
              <a:t> sera rejeté.</a:t>
            </a:r>
          </a:p>
        </p:txBody>
      </p:sp>
      <p:sp>
        <p:nvSpPr>
          <p:cNvPr id="3" name="Espace réservé du numéro de diapositive 2">
            <a:extLst>
              <a:ext uri="{FF2B5EF4-FFF2-40B4-BE49-F238E27FC236}">
                <a16:creationId xmlns:a16="http://schemas.microsoft.com/office/drawing/2014/main" id="{7CDF2DCA-3095-A946-A0E7-27DC92206A27}"/>
              </a:ext>
            </a:extLst>
          </p:cNvPr>
          <p:cNvSpPr>
            <a:spLocks noGrp="1"/>
          </p:cNvSpPr>
          <p:nvPr>
            <p:ph type="sldNum" sz="quarter" idx="4"/>
          </p:nvPr>
        </p:nvSpPr>
        <p:spPr/>
        <p:txBody>
          <a:bodyPr/>
          <a:lstStyle/>
          <a:p>
            <a:fld id="{33C783E2-4793-4F48-A271-51A73CC37D74}" type="slidenum">
              <a:rPr lang="fr-FR" smtClean="0"/>
              <a:t>28</a:t>
            </a:fld>
            <a:endParaRPr lang="fr-FR"/>
          </a:p>
        </p:txBody>
      </p:sp>
    </p:spTree>
    <p:extLst>
      <p:ext uri="{BB962C8B-B14F-4D97-AF65-F5344CB8AC3E}">
        <p14:creationId xmlns:p14="http://schemas.microsoft.com/office/powerpoint/2010/main" val="4095468689"/>
      </p:ext>
    </p:extLst>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2" grpId="0"/>
      <p:bldP spid="13" grpId="0"/>
      <p:bldP spid="1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Quelques limitations des types génériques</a:t>
            </a:r>
          </a:p>
        </p:txBody>
      </p:sp>
      <p:sp>
        <p:nvSpPr>
          <p:cNvPr id="5" name="Espace réservé du contenu 4"/>
          <p:cNvSpPr>
            <a:spLocks noGrp="1"/>
          </p:cNvSpPr>
          <p:nvPr>
            <p:ph idx="1"/>
          </p:nvPr>
        </p:nvSpPr>
        <p:spPr/>
        <p:txBody>
          <a:bodyPr>
            <a:normAutofit/>
          </a:bodyPr>
          <a:lstStyle/>
          <a:p>
            <a:pPr marL="457200" indent="-457200">
              <a:buFont typeface="+mj-lt"/>
              <a:buAutoNum type="arabicPeriod"/>
            </a:pPr>
            <a:r>
              <a:rPr lang="fr-FR" sz="2400" dirty="0"/>
              <a:t>Lors de l'instanciation, le </a:t>
            </a:r>
            <a:r>
              <a:rPr lang="fr-FR" sz="2400" dirty="0">
                <a:solidFill>
                  <a:schemeClr val="accent4"/>
                </a:solidFill>
              </a:rPr>
              <a:t>type doit être de type objet </a:t>
            </a:r>
            <a:r>
              <a:rPr lang="fr-FR" sz="2400" dirty="0"/>
              <a:t>(et ne peut donc pas être un type primitif)</a:t>
            </a:r>
          </a:p>
          <a:p>
            <a:pPr marL="457200" indent="-457200">
              <a:buFont typeface="+mj-lt"/>
              <a:buAutoNum type="arabicPeriod"/>
            </a:pPr>
            <a:endParaRPr lang="fr-FR" sz="2400" dirty="0"/>
          </a:p>
          <a:p>
            <a:pPr marL="457200" indent="-457200">
              <a:buFont typeface="+mj-lt"/>
              <a:buAutoNum type="arabicPeriod"/>
            </a:pPr>
            <a:r>
              <a:rPr lang="fr-FR" sz="2400" dirty="0"/>
              <a:t>A l’exécution, deux objets de type effectifs différents (</a:t>
            </a:r>
            <a:r>
              <a:rPr lang="fr-FR" sz="2000" dirty="0">
                <a:solidFill>
                  <a:schemeClr val="accent4"/>
                </a:solidFill>
                <a:latin typeface="Consolas" panose="020B0609020204030204" pitchFamily="49" charset="0"/>
                <a:cs typeface="Consolas" panose="020B0609020204030204" pitchFamily="49" charset="0"/>
              </a:rPr>
              <a:t>C&lt;String&gt;</a:t>
            </a:r>
            <a:r>
              <a:rPr lang="fr-FR" sz="2400" dirty="0"/>
              <a:t> et </a:t>
            </a:r>
            <a:r>
              <a:rPr lang="fr-FR" sz="2000" dirty="0">
                <a:solidFill>
                  <a:schemeClr val="accent4"/>
                </a:solidFill>
                <a:latin typeface="Consolas" panose="020B0609020204030204" pitchFamily="49" charset="0"/>
                <a:cs typeface="Consolas" panose="020B0609020204030204" pitchFamily="49" charset="0"/>
              </a:rPr>
              <a:t>C&lt;Integer&gt;</a:t>
            </a:r>
            <a:r>
              <a:rPr lang="fr-FR" sz="2400" dirty="0"/>
              <a:t>) sont considérés comme étant de même type (</a:t>
            </a:r>
            <a:r>
              <a:rPr lang="fr-FR" sz="2400" dirty="0">
                <a:solidFill>
                  <a:schemeClr val="accent4"/>
                </a:solidFill>
                <a:latin typeface="Consolas" panose="020B0609020204030204" pitchFamily="49" charset="0"/>
                <a:cs typeface="Consolas" panose="020B0609020204030204" pitchFamily="49" charset="0"/>
              </a:rPr>
              <a:t>C</a:t>
            </a:r>
            <a:r>
              <a:rPr lang="fr-FR" sz="2400" dirty="0"/>
              <a:t>), puisque </a:t>
            </a:r>
            <a:r>
              <a:rPr lang="fr-FR" sz="2400" dirty="0" err="1">
                <a:solidFill>
                  <a:schemeClr val="accent4"/>
                </a:solidFill>
                <a:latin typeface="Consolas" panose="020B0609020204030204" pitchFamily="49" charset="0"/>
                <a:cs typeface="Consolas" panose="020B0609020204030204" pitchFamily="49" charset="0"/>
              </a:rPr>
              <a:t>T</a:t>
            </a:r>
            <a:r>
              <a:rPr lang="fr-FR" sz="2400" dirty="0"/>
              <a:t> est remplacé par le type brut.</a:t>
            </a:r>
          </a:p>
          <a:p>
            <a:pPr marL="457200" indent="-457200">
              <a:buFont typeface="+mj-lt"/>
              <a:buAutoNum type="arabicPeriod"/>
            </a:pPr>
            <a:endParaRPr lang="fr-FR" sz="2400" dirty="0"/>
          </a:p>
          <a:p>
            <a:pPr marL="457200" indent="-457200">
              <a:buFont typeface="+mj-lt"/>
              <a:buAutoNum type="arabicPeriod"/>
            </a:pPr>
            <a:r>
              <a:rPr lang="fr-FR" sz="2400" dirty="0"/>
              <a:t>Un </a:t>
            </a:r>
            <a:r>
              <a:rPr lang="fr-FR" sz="2400" dirty="0">
                <a:solidFill>
                  <a:schemeClr val="accent4"/>
                </a:solidFill>
              </a:rPr>
              <a:t>champ statique </a:t>
            </a:r>
            <a:r>
              <a:rPr lang="fr-FR" sz="2400" dirty="0"/>
              <a:t>défini dans </a:t>
            </a:r>
            <a:r>
              <a:rPr lang="fr-FR" sz="2000" dirty="0">
                <a:solidFill>
                  <a:schemeClr val="accent4"/>
                </a:solidFill>
                <a:latin typeface="Consolas" panose="020B0609020204030204" pitchFamily="49" charset="0"/>
                <a:cs typeface="Consolas" panose="020B0609020204030204" pitchFamily="49" charset="0"/>
              </a:rPr>
              <a:t>Couple&lt;</a:t>
            </a:r>
            <a:r>
              <a:rPr lang="fr-FR" sz="2000" dirty="0" err="1">
                <a:solidFill>
                  <a:schemeClr val="accent4"/>
                </a:solidFill>
                <a:latin typeface="Consolas" panose="020B0609020204030204" pitchFamily="49" charset="0"/>
                <a:cs typeface="Consolas" panose="020B0609020204030204" pitchFamily="49" charset="0"/>
              </a:rPr>
              <a:t>T</a:t>
            </a:r>
            <a:r>
              <a:rPr lang="fr-FR" sz="2000" dirty="0">
                <a:solidFill>
                  <a:schemeClr val="accent4"/>
                </a:solidFill>
                <a:latin typeface="Consolas" panose="020B0609020204030204" pitchFamily="49" charset="0"/>
                <a:cs typeface="Consolas" panose="020B0609020204030204" pitchFamily="49" charset="0"/>
              </a:rPr>
              <a:t>&gt;</a:t>
            </a:r>
            <a:r>
              <a:rPr lang="fr-FR" sz="2400" dirty="0"/>
              <a:t> sera unique pour toutes les classes effectives.</a:t>
            </a:r>
            <a:br>
              <a:rPr lang="fr-FR" sz="2400" dirty="0"/>
            </a:br>
            <a:r>
              <a:rPr lang="fr-FR" sz="2400" dirty="0"/>
              <a:t>Il ne peut pas être de type </a:t>
            </a:r>
            <a:r>
              <a:rPr lang="fr-FR" sz="2400" dirty="0" err="1">
                <a:solidFill>
                  <a:schemeClr val="accent4"/>
                </a:solidFill>
                <a:latin typeface="Consolas" panose="020B0609020204030204" pitchFamily="49" charset="0"/>
                <a:cs typeface="Consolas" panose="020B0609020204030204" pitchFamily="49" charset="0"/>
              </a:rPr>
              <a:t>T</a:t>
            </a:r>
            <a:r>
              <a:rPr lang="fr-FR" sz="2400" dirty="0"/>
              <a:t>… (puisque potentiellement il y aura différents types </a:t>
            </a:r>
            <a:r>
              <a:rPr lang="fr-FR" sz="2400" dirty="0" err="1">
                <a:solidFill>
                  <a:schemeClr val="accent4"/>
                </a:solidFill>
                <a:latin typeface="Consolas" panose="020B0609020204030204" pitchFamily="49" charset="0"/>
                <a:cs typeface="Consolas" panose="020B0609020204030204" pitchFamily="49" charset="0"/>
              </a:rPr>
              <a:t>T</a:t>
            </a:r>
            <a:r>
              <a:rPr lang="fr-FR" sz="2400" dirty="0"/>
              <a:t>). </a:t>
            </a:r>
          </a:p>
        </p:txBody>
      </p:sp>
      <p:sp>
        <p:nvSpPr>
          <p:cNvPr id="3" name="Espace réservé du numéro de diapositive 2">
            <a:extLst>
              <a:ext uri="{FF2B5EF4-FFF2-40B4-BE49-F238E27FC236}">
                <a16:creationId xmlns:a16="http://schemas.microsoft.com/office/drawing/2014/main" id="{64B8F1BA-F6D0-1A59-CC3C-6DB0D6251B28}"/>
              </a:ext>
            </a:extLst>
          </p:cNvPr>
          <p:cNvSpPr>
            <a:spLocks noGrp="1"/>
          </p:cNvSpPr>
          <p:nvPr>
            <p:ph type="sldNum" sz="quarter" idx="4"/>
          </p:nvPr>
        </p:nvSpPr>
        <p:spPr/>
        <p:txBody>
          <a:bodyPr/>
          <a:lstStyle/>
          <a:p>
            <a:fld id="{33C783E2-4793-4F48-A271-51A73CC37D74}" type="slidenum">
              <a:rPr lang="fr-FR" smtClean="0"/>
              <a:t>29</a:t>
            </a:fld>
            <a:endParaRPr lang="fr-FR"/>
          </a:p>
        </p:txBody>
      </p:sp>
    </p:spTree>
    <p:extLst>
      <p:ext uri="{BB962C8B-B14F-4D97-AF65-F5344CB8AC3E}">
        <p14:creationId xmlns:p14="http://schemas.microsoft.com/office/powerpoint/2010/main" val="1318416971"/>
      </p:ext>
    </p:extLst>
  </p:cSld>
  <p:clrMapOvr>
    <a:masterClrMapping/>
  </p:clrMapOvr>
  <p:transition>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Quelques limitations des types génériques</a:t>
            </a:r>
          </a:p>
        </p:txBody>
      </p:sp>
      <p:sp>
        <p:nvSpPr>
          <p:cNvPr id="5" name="Espace réservé du contenu 4"/>
          <p:cNvSpPr>
            <a:spLocks noGrp="1"/>
          </p:cNvSpPr>
          <p:nvPr>
            <p:ph idx="1"/>
          </p:nvPr>
        </p:nvSpPr>
        <p:spPr/>
        <p:txBody>
          <a:bodyPr>
            <a:normAutofit/>
          </a:bodyPr>
          <a:lstStyle/>
          <a:p>
            <a:pPr marL="457200" indent="-457200">
              <a:buFont typeface="+mj-lt"/>
              <a:buAutoNum type="arabicPeriod" startAt="4"/>
            </a:pPr>
            <a:r>
              <a:rPr lang="fr-FR" sz="2400" dirty="0"/>
              <a:t>On ne peut pas instancier un objet du type paramétré dans la classe: pas de </a:t>
            </a:r>
            <a:r>
              <a:rPr lang="fr-FR" sz="2000" dirty="0">
                <a:solidFill>
                  <a:schemeClr val="accent4"/>
                </a:solidFill>
                <a:latin typeface="Consolas" panose="020B0609020204030204" pitchFamily="49" charset="0"/>
                <a:cs typeface="Consolas" panose="020B0609020204030204" pitchFamily="49" charset="0"/>
              </a:rPr>
              <a:t>new </a:t>
            </a:r>
            <a:r>
              <a:rPr lang="fr-FR" sz="2000" dirty="0" err="1">
                <a:solidFill>
                  <a:schemeClr val="accent4"/>
                </a:solidFill>
                <a:latin typeface="Consolas" panose="020B0609020204030204" pitchFamily="49" charset="0"/>
                <a:cs typeface="Consolas" panose="020B0609020204030204" pitchFamily="49" charset="0"/>
              </a:rPr>
              <a:t>T</a:t>
            </a:r>
            <a:r>
              <a:rPr lang="fr-FR" sz="2000" dirty="0">
                <a:solidFill>
                  <a:schemeClr val="accent4"/>
                </a:solidFill>
                <a:latin typeface="Consolas" panose="020B0609020204030204" pitchFamily="49" charset="0"/>
                <a:cs typeface="Consolas" panose="020B0609020204030204" pitchFamily="49" charset="0"/>
              </a:rPr>
              <a:t>()</a:t>
            </a:r>
            <a:r>
              <a:rPr lang="fr-FR" sz="2400" dirty="0"/>
              <a:t> dans la classe </a:t>
            </a:r>
            <a:r>
              <a:rPr lang="fr-FR" sz="2000" dirty="0">
                <a:solidFill>
                  <a:schemeClr val="accent4"/>
                </a:solidFill>
                <a:latin typeface="Consolas" panose="020B0609020204030204" pitchFamily="49" charset="0"/>
                <a:cs typeface="Consolas" panose="020B0609020204030204" pitchFamily="49" charset="0"/>
              </a:rPr>
              <a:t>Class&lt;</a:t>
            </a:r>
            <a:r>
              <a:rPr lang="fr-FR" sz="2000" dirty="0" err="1">
                <a:solidFill>
                  <a:schemeClr val="accent4"/>
                </a:solidFill>
                <a:latin typeface="Consolas" panose="020B0609020204030204" pitchFamily="49" charset="0"/>
                <a:cs typeface="Consolas" panose="020B0609020204030204" pitchFamily="49" charset="0"/>
              </a:rPr>
              <a:t>T</a:t>
            </a:r>
            <a:r>
              <a:rPr lang="fr-FR" sz="2000" dirty="0">
                <a:solidFill>
                  <a:schemeClr val="accent4"/>
                </a:solidFill>
                <a:latin typeface="Consolas" panose="020B0609020204030204" pitchFamily="49" charset="0"/>
                <a:cs typeface="Consolas" panose="020B0609020204030204" pitchFamily="49" charset="0"/>
              </a:rPr>
              <a:t>&gt;</a:t>
            </a:r>
            <a:r>
              <a:rPr lang="fr-FR" sz="2400" dirty="0"/>
              <a:t>, puisque le type a disparu à la compilation.</a:t>
            </a:r>
          </a:p>
          <a:p>
            <a:pPr marL="457200" indent="-457200">
              <a:buFont typeface="+mj-lt"/>
              <a:buAutoNum type="arabicPeriod" startAt="4"/>
            </a:pPr>
            <a:endParaRPr lang="fr-FR" sz="2400" dirty="0"/>
          </a:p>
          <a:p>
            <a:pPr marL="457200" indent="-457200">
              <a:buFont typeface="+mj-lt"/>
              <a:buAutoNum type="arabicPeriod" startAt="4"/>
            </a:pPr>
            <a:r>
              <a:rPr lang="fr-FR" sz="2400" dirty="0"/>
              <a:t>Il n'est pas possible d'instancier de </a:t>
            </a:r>
            <a:r>
              <a:rPr lang="fr-FR" sz="2400" dirty="0">
                <a:solidFill>
                  <a:schemeClr val="accent4"/>
                </a:solidFill>
              </a:rPr>
              <a:t>tableaux de types </a:t>
            </a:r>
            <a:r>
              <a:rPr lang="fr-FR" sz="2400" dirty="0"/>
              <a:t>génériques: pas de </a:t>
            </a:r>
            <a:r>
              <a:rPr lang="fr-FR" sz="2000" dirty="0">
                <a:solidFill>
                  <a:schemeClr val="accent4"/>
                </a:solidFill>
                <a:latin typeface="Consolas" panose="020B0609020204030204" pitchFamily="49" charset="0"/>
                <a:cs typeface="Consolas" panose="020B0609020204030204" pitchFamily="49" charset="0"/>
              </a:rPr>
              <a:t>new Famille&lt;String&gt;[5]</a:t>
            </a:r>
            <a:r>
              <a:rPr lang="fr-FR" sz="2000" dirty="0">
                <a:solidFill>
                  <a:schemeClr val="accent4"/>
                </a:solidFill>
              </a:rPr>
              <a:t>.</a:t>
            </a:r>
            <a:r>
              <a:rPr lang="fr-FR" sz="2400" dirty="0"/>
              <a:t>..</a:t>
            </a:r>
            <a:br>
              <a:rPr lang="fr-FR" sz="2400" dirty="0"/>
            </a:br>
            <a:r>
              <a:rPr lang="fr-FR" sz="2400" dirty="0"/>
              <a:t>Ni dans la classe générique, ni dans les classes utilisant des génériques.</a:t>
            </a:r>
            <a:br>
              <a:rPr lang="fr-FR" sz="2400" dirty="0"/>
            </a:br>
            <a:r>
              <a:rPr lang="fr-FR" sz="2400" dirty="0"/>
              <a:t>On verra cependant que les Collections parent à ce souci.</a:t>
            </a:r>
          </a:p>
          <a:p>
            <a:pPr marL="457200" indent="-457200">
              <a:buFont typeface="+mj-lt"/>
              <a:buAutoNum type="arabicPeriod" startAt="4"/>
            </a:pPr>
            <a:endParaRPr lang="fr-FR" sz="2400" dirty="0"/>
          </a:p>
          <a:p>
            <a:pPr marL="457200" indent="-457200">
              <a:buFont typeface="+mj-lt"/>
              <a:buAutoNum type="arabicPeriod" startAt="4"/>
            </a:pPr>
            <a:r>
              <a:rPr lang="fr-FR" sz="2400" dirty="0"/>
              <a:t>On ne peut pas lever ou catcher d'instances de classes génériques: pas de </a:t>
            </a:r>
            <a:r>
              <a:rPr lang="fr-FR" sz="2400" dirty="0">
                <a:solidFill>
                  <a:schemeClr val="accent4"/>
                </a:solidFill>
                <a:latin typeface="Consolas" panose="020B0609020204030204" pitchFamily="49" charset="0"/>
                <a:cs typeface="Consolas" panose="020B0609020204030204" pitchFamily="49" charset="0"/>
              </a:rPr>
              <a:t>catch(</a:t>
            </a:r>
            <a:r>
              <a:rPr lang="fr-FR" sz="2400" dirty="0" err="1">
                <a:solidFill>
                  <a:schemeClr val="accent4"/>
                </a:solidFill>
                <a:latin typeface="Consolas" panose="020B0609020204030204" pitchFamily="49" charset="0"/>
                <a:cs typeface="Consolas" panose="020B0609020204030204" pitchFamily="49" charset="0"/>
              </a:rPr>
              <a:t>T</a:t>
            </a:r>
            <a:r>
              <a:rPr lang="fr-FR" sz="2400" dirty="0">
                <a:solidFill>
                  <a:schemeClr val="accent4"/>
                </a:solidFill>
                <a:latin typeface="Consolas" panose="020B0609020204030204" pitchFamily="49" charset="0"/>
                <a:cs typeface="Consolas" panose="020B0609020204030204" pitchFamily="49" charset="0"/>
              </a:rPr>
              <a:t> e)</a:t>
            </a:r>
          </a:p>
        </p:txBody>
      </p:sp>
      <p:sp>
        <p:nvSpPr>
          <p:cNvPr id="3" name="Espace réservé du numéro de diapositive 2">
            <a:extLst>
              <a:ext uri="{FF2B5EF4-FFF2-40B4-BE49-F238E27FC236}">
                <a16:creationId xmlns:a16="http://schemas.microsoft.com/office/drawing/2014/main" id="{F3A8FF77-E911-810C-7455-D2B04AEB747E}"/>
              </a:ext>
            </a:extLst>
          </p:cNvPr>
          <p:cNvSpPr>
            <a:spLocks noGrp="1"/>
          </p:cNvSpPr>
          <p:nvPr>
            <p:ph type="sldNum" sz="quarter" idx="4"/>
          </p:nvPr>
        </p:nvSpPr>
        <p:spPr/>
        <p:txBody>
          <a:bodyPr/>
          <a:lstStyle/>
          <a:p>
            <a:fld id="{33C783E2-4793-4F48-A271-51A73CC37D74}" type="slidenum">
              <a:rPr lang="fr-FR" smtClean="0"/>
              <a:t>30</a:t>
            </a:fld>
            <a:endParaRPr lang="fr-FR"/>
          </a:p>
        </p:txBody>
      </p:sp>
    </p:spTree>
    <p:extLst>
      <p:ext uri="{BB962C8B-B14F-4D97-AF65-F5344CB8AC3E}">
        <p14:creationId xmlns:p14="http://schemas.microsoft.com/office/powerpoint/2010/main" val="1690235302"/>
      </p:ext>
    </p:extLst>
  </p:cSld>
  <p:clrMapOvr>
    <a:masterClrMapping/>
  </p:clrMapOvr>
  <p:transition>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Types génériques</a:t>
            </a:r>
          </a:p>
        </p:txBody>
      </p:sp>
      <p:sp>
        <p:nvSpPr>
          <p:cNvPr id="3" name="Espace réservé du contenu 2"/>
          <p:cNvSpPr>
            <a:spLocks noGrp="1"/>
          </p:cNvSpPr>
          <p:nvPr>
            <p:ph idx="1"/>
          </p:nvPr>
        </p:nvSpPr>
        <p:spPr/>
        <p:txBody>
          <a:bodyPr>
            <a:noAutofit/>
          </a:bodyPr>
          <a:lstStyle/>
          <a:p>
            <a:pPr marL="342900" indent="-342900">
              <a:lnSpc>
                <a:spcPct val="80000"/>
              </a:lnSpc>
              <a:buFont typeface="Arial"/>
              <a:buChar char="•"/>
            </a:pPr>
            <a:r>
              <a:rPr lang="fr-FR" dirty="0"/>
              <a:t>Le concept de type générique</a:t>
            </a:r>
          </a:p>
          <a:p>
            <a:pPr marL="342900" indent="-342900">
              <a:lnSpc>
                <a:spcPct val="80000"/>
              </a:lnSpc>
              <a:buFont typeface="Arial"/>
              <a:buChar char="•"/>
            </a:pPr>
            <a:r>
              <a:rPr lang="fr-FR" dirty="0"/>
              <a:t>Classe Générique à un seul paramètre</a:t>
            </a:r>
          </a:p>
          <a:p>
            <a:pPr marL="342900" indent="-342900">
              <a:lnSpc>
                <a:spcPct val="80000"/>
              </a:lnSpc>
              <a:buFont typeface="Arial"/>
              <a:buChar char="•"/>
            </a:pPr>
            <a:r>
              <a:rPr lang="fr-FR" dirty="0"/>
              <a:t>Classe Générique à plusieurs paramètres</a:t>
            </a:r>
          </a:p>
          <a:p>
            <a:pPr marL="342900" indent="-342900">
              <a:lnSpc>
                <a:spcPct val="80000"/>
              </a:lnSpc>
              <a:buFont typeface="Arial"/>
              <a:buChar char="•"/>
            </a:pPr>
            <a:r>
              <a:rPr lang="fr-FR" dirty="0"/>
              <a:t>Compilation des types génériques</a:t>
            </a:r>
          </a:p>
          <a:p>
            <a:pPr marL="342900" indent="-342900">
              <a:lnSpc>
                <a:spcPct val="80000"/>
              </a:lnSpc>
              <a:buFont typeface="Arial"/>
              <a:buChar char="•"/>
            </a:pPr>
            <a:r>
              <a:rPr lang="fr-FR" dirty="0">
                <a:solidFill>
                  <a:schemeClr val="accent4"/>
                </a:solidFill>
              </a:rPr>
              <a:t>Méthodes génériques</a:t>
            </a:r>
          </a:p>
          <a:p>
            <a:pPr marL="342900" indent="-342900">
              <a:lnSpc>
                <a:spcPct val="80000"/>
              </a:lnSpc>
              <a:buFont typeface="Arial"/>
              <a:buChar char="•"/>
            </a:pPr>
            <a:r>
              <a:rPr lang="fr-FR" dirty="0"/>
              <a:t>Limitations sur le type</a:t>
            </a:r>
          </a:p>
          <a:p>
            <a:pPr marL="342900" indent="-342900">
              <a:lnSpc>
                <a:spcPct val="80000"/>
              </a:lnSpc>
              <a:buFont typeface="Arial"/>
              <a:buChar char="•"/>
            </a:pPr>
            <a:r>
              <a:rPr lang="fr-FR" dirty="0"/>
              <a:t>Type générique et héritage</a:t>
            </a:r>
          </a:p>
          <a:p>
            <a:pPr marL="342900" indent="-342900">
              <a:lnSpc>
                <a:spcPct val="80000"/>
              </a:lnSpc>
              <a:buFont typeface="Arial"/>
              <a:buChar char="•"/>
            </a:pPr>
            <a:endParaRPr lang="fr-FR" dirty="0"/>
          </a:p>
          <a:p>
            <a:pPr marL="342900" indent="-342900">
              <a:lnSpc>
                <a:spcPct val="80000"/>
              </a:lnSpc>
              <a:buFont typeface="Arial"/>
              <a:buChar char="•"/>
            </a:pPr>
            <a:endParaRPr lang="fr-FR" dirty="0"/>
          </a:p>
          <a:p>
            <a:pPr marL="342900" indent="-342900">
              <a:lnSpc>
                <a:spcPct val="80000"/>
              </a:lnSpc>
              <a:buFont typeface="Arial"/>
              <a:buChar char="•"/>
            </a:pPr>
            <a:endParaRPr lang="fr-FR" dirty="0"/>
          </a:p>
        </p:txBody>
      </p:sp>
      <p:grpSp>
        <p:nvGrpSpPr>
          <p:cNvPr id="8" name="Groupe 7">
            <a:extLst>
              <a:ext uri="{FF2B5EF4-FFF2-40B4-BE49-F238E27FC236}">
                <a16:creationId xmlns:a16="http://schemas.microsoft.com/office/drawing/2014/main" id="{ACCA99A5-B332-B909-6733-15C39193A78F}"/>
              </a:ext>
            </a:extLst>
          </p:cNvPr>
          <p:cNvGrpSpPr/>
          <p:nvPr/>
        </p:nvGrpSpPr>
        <p:grpSpPr>
          <a:xfrm>
            <a:off x="10470995" y="162401"/>
            <a:ext cx="1404760" cy="1400033"/>
            <a:chOff x="10326324" y="687756"/>
            <a:chExt cx="1393314" cy="1393314"/>
          </a:xfrm>
        </p:grpSpPr>
        <p:sp>
          <p:nvSpPr>
            <p:cNvPr id="5" name="Larme 4">
              <a:extLst>
                <a:ext uri="{FF2B5EF4-FFF2-40B4-BE49-F238E27FC236}">
                  <a16:creationId xmlns:a16="http://schemas.microsoft.com/office/drawing/2014/main" id="{6D659AA5-DE48-3A94-0973-5630499C0B8F}"/>
                </a:ext>
              </a:extLst>
            </p:cNvPr>
            <p:cNvSpPr/>
            <p:nvPr/>
          </p:nvSpPr>
          <p:spPr>
            <a:xfrm rot="8100000">
              <a:off x="10326324" y="687756"/>
              <a:ext cx="1393314" cy="1393314"/>
            </a:xfrm>
            <a:prstGeom prst="teardrop">
              <a:avLst>
                <a:gd name="adj" fmla="val 13287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 name="ZoneTexte 6">
              <a:extLst>
                <a:ext uri="{FF2B5EF4-FFF2-40B4-BE49-F238E27FC236}">
                  <a16:creationId xmlns:a16="http://schemas.microsoft.com/office/drawing/2014/main" id="{4FF3D4ED-5448-D9C2-964C-3C9EFB6B14C0}"/>
                </a:ext>
              </a:extLst>
            </p:cNvPr>
            <p:cNvSpPr txBox="1"/>
            <p:nvPr/>
          </p:nvSpPr>
          <p:spPr>
            <a:xfrm>
              <a:off x="10372029" y="1092958"/>
              <a:ext cx="1301905" cy="702249"/>
            </a:xfrm>
            <a:prstGeom prst="rect">
              <a:avLst/>
            </a:prstGeom>
            <a:noFill/>
          </p:spPr>
          <p:txBody>
            <a:bodyPr wrap="square">
              <a:spAutoFit/>
            </a:bodyPr>
            <a:lstStyle/>
            <a:p>
              <a:pPr algn="ctr"/>
              <a:r>
                <a:rPr lang="fr-FR" sz="2000" b="1" dirty="0"/>
                <a:t>Vous êtes ici</a:t>
              </a:r>
            </a:p>
          </p:txBody>
        </p:sp>
      </p:grpSp>
      <p:sp>
        <p:nvSpPr>
          <p:cNvPr id="4" name="Espace réservé du numéro de diapositive 3">
            <a:extLst>
              <a:ext uri="{FF2B5EF4-FFF2-40B4-BE49-F238E27FC236}">
                <a16:creationId xmlns:a16="http://schemas.microsoft.com/office/drawing/2014/main" id="{443B39C4-56E6-B3EE-1C5F-0486E3C98AC4}"/>
              </a:ext>
            </a:extLst>
          </p:cNvPr>
          <p:cNvSpPr>
            <a:spLocks noGrp="1"/>
          </p:cNvSpPr>
          <p:nvPr>
            <p:ph type="sldNum" sz="quarter" idx="4"/>
          </p:nvPr>
        </p:nvSpPr>
        <p:spPr/>
        <p:txBody>
          <a:bodyPr/>
          <a:lstStyle/>
          <a:p>
            <a:fld id="{33C783E2-4793-4F48-A271-51A73CC37D74}" type="slidenum">
              <a:rPr lang="fr-FR" smtClean="0"/>
              <a:t>31</a:t>
            </a:fld>
            <a:endParaRPr lang="fr-FR"/>
          </a:p>
        </p:txBody>
      </p:sp>
    </p:spTree>
    <p:extLst>
      <p:ext uri="{BB962C8B-B14F-4D97-AF65-F5344CB8AC3E}">
        <p14:creationId xmlns:p14="http://schemas.microsoft.com/office/powerpoint/2010/main" val="2167587868"/>
      </p:ext>
    </p:extLst>
  </p:cSld>
  <p:clrMapOvr>
    <a:masterClrMapping/>
  </p:clrMapOvr>
  <p:transition>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3424FA-B311-AE48-8395-71D7C77A64C5}"/>
              </a:ext>
            </a:extLst>
          </p:cNvPr>
          <p:cNvSpPr>
            <a:spLocks noGrp="1"/>
          </p:cNvSpPr>
          <p:nvPr>
            <p:ph type="title"/>
          </p:nvPr>
        </p:nvSpPr>
        <p:spPr/>
        <p:txBody>
          <a:bodyPr>
            <a:normAutofit/>
          </a:bodyPr>
          <a:lstStyle/>
          <a:p>
            <a:r>
              <a:rPr lang="fr-FR" dirty="0"/>
              <a:t>Méthodes génériques</a:t>
            </a:r>
          </a:p>
        </p:txBody>
      </p:sp>
      <p:sp>
        <p:nvSpPr>
          <p:cNvPr id="3" name="Espace réservé du contenu 2">
            <a:extLst>
              <a:ext uri="{FF2B5EF4-FFF2-40B4-BE49-F238E27FC236}">
                <a16:creationId xmlns:a16="http://schemas.microsoft.com/office/drawing/2014/main" id="{4F37A94A-1BDE-5A41-925A-D9D3336EF459}"/>
              </a:ext>
            </a:extLst>
          </p:cNvPr>
          <p:cNvSpPr>
            <a:spLocks noGrp="1"/>
          </p:cNvSpPr>
          <p:nvPr>
            <p:ph idx="1"/>
          </p:nvPr>
        </p:nvSpPr>
        <p:spPr/>
        <p:txBody>
          <a:bodyPr>
            <a:normAutofit/>
          </a:bodyPr>
          <a:lstStyle/>
          <a:p>
            <a:pPr marL="0" indent="0">
              <a:buNone/>
            </a:pPr>
            <a:r>
              <a:rPr lang="fr-FR" sz="2000" dirty="0"/>
              <a:t>La même démarche peut s’appliquer à une méthode, de manière à ce qu’une </a:t>
            </a:r>
            <a:r>
              <a:rPr lang="fr-FR" sz="2000" dirty="0">
                <a:solidFill>
                  <a:schemeClr val="accent4"/>
                </a:solidFill>
              </a:rPr>
              <a:t>méthode fonctionne quel que soit le type de ses arguments</a:t>
            </a:r>
            <a:r>
              <a:rPr lang="fr-FR" sz="2000" dirty="0"/>
              <a:t>.</a:t>
            </a:r>
          </a:p>
          <a:p>
            <a:pPr marL="0" indent="0">
              <a:buNone/>
            </a:pPr>
            <a:endParaRPr lang="fr-FR" sz="2000" dirty="0"/>
          </a:p>
          <a:p>
            <a:pPr marL="0" indent="0">
              <a:buNone/>
            </a:pPr>
            <a:r>
              <a:rPr lang="fr-FR" sz="2000" dirty="0"/>
              <a:t>Supposons par exemple que nous ayons besoin d’une méthode qui retourne un élément choisi au hasard d’un tableau d’éléments fourni en entrée.</a:t>
            </a:r>
          </a:p>
          <a:p>
            <a:pPr marL="0" indent="0">
              <a:buNone/>
            </a:pPr>
            <a:r>
              <a:rPr lang="fr-FR" sz="2000" dirty="0"/>
              <a:t>Cette méthode doit pouvoir fonctionner autant pour un tableau de valeurs de type </a:t>
            </a:r>
            <a:r>
              <a:rPr lang="fr-FR" sz="1800" dirty="0">
                <a:solidFill>
                  <a:schemeClr val="accent4"/>
                </a:solidFill>
                <a:latin typeface="Consolas" panose="020B0609020204030204" pitchFamily="49" charset="0"/>
                <a:cs typeface="Consolas" panose="020B0609020204030204" pitchFamily="49" charset="0"/>
              </a:rPr>
              <a:t>Integer</a:t>
            </a:r>
            <a:r>
              <a:rPr lang="fr-FR" sz="2000" dirty="0"/>
              <a:t> que pour un tableau de </a:t>
            </a:r>
            <a:r>
              <a:rPr lang="fr-FR" sz="1800" dirty="0">
                <a:solidFill>
                  <a:schemeClr val="accent4"/>
                </a:solidFill>
                <a:latin typeface="Consolas" panose="020B0609020204030204" pitchFamily="49" charset="0"/>
                <a:cs typeface="Consolas" panose="020B0609020204030204" pitchFamily="49" charset="0"/>
              </a:rPr>
              <a:t>String</a:t>
            </a:r>
            <a:r>
              <a:rPr lang="fr-FR" sz="2000" dirty="0"/>
              <a:t> ou de </a:t>
            </a:r>
            <a:r>
              <a:rPr lang="fr-FR" sz="1800" dirty="0">
                <a:solidFill>
                  <a:schemeClr val="accent4"/>
                </a:solidFill>
                <a:latin typeface="Consolas" panose="020B0609020204030204" pitchFamily="49" charset="0"/>
                <a:cs typeface="Consolas" panose="020B0609020204030204" pitchFamily="49" charset="0"/>
              </a:rPr>
              <a:t>Double</a:t>
            </a:r>
            <a:r>
              <a:rPr lang="fr-FR" sz="2000" dirty="0"/>
              <a:t>…  </a:t>
            </a:r>
          </a:p>
          <a:p>
            <a:pPr marL="0" indent="0">
              <a:buNone/>
            </a:pPr>
            <a:r>
              <a:rPr lang="fr-FR" sz="2000" dirty="0"/>
              <a:t>On veut donc pouvoir faire:</a:t>
            </a:r>
          </a:p>
          <a:p>
            <a:pPr marL="0" indent="0">
              <a:buNone/>
            </a:pPr>
            <a:endParaRPr lang="fr-FR" sz="2000" dirty="0"/>
          </a:p>
        </p:txBody>
      </p:sp>
      <p:sp>
        <p:nvSpPr>
          <p:cNvPr id="7" name="ZoneTexte 6">
            <a:extLst>
              <a:ext uri="{FF2B5EF4-FFF2-40B4-BE49-F238E27FC236}">
                <a16:creationId xmlns:a16="http://schemas.microsoft.com/office/drawing/2014/main" id="{061F90E5-BC4D-6F41-29DC-814850897AC5}"/>
              </a:ext>
            </a:extLst>
          </p:cNvPr>
          <p:cNvSpPr txBox="1"/>
          <p:nvPr/>
        </p:nvSpPr>
        <p:spPr>
          <a:xfrm>
            <a:off x="3046675" y="4762990"/>
            <a:ext cx="6098650" cy="1200329"/>
          </a:xfrm>
          <a:prstGeom prst="rect">
            <a:avLst/>
          </a:prstGeom>
          <a:solidFill>
            <a:srgbClr val="2B2B2B"/>
          </a:solidFill>
        </p:spPr>
        <p:txBody>
          <a:bodyPr wrap="square">
            <a:spAutoFit/>
          </a:bodyPr>
          <a:lstStyle/>
          <a:p>
            <a:r>
              <a:rPr lang="fr-BE" dirty="0">
                <a:latin typeface="Consolas" panose="020B0609020204030204" pitchFamily="49" charset="0"/>
                <a:cs typeface="Consolas" panose="020B0609020204030204" pitchFamily="49" charset="0"/>
              </a:rPr>
              <a:t>Integer[] tabi = {</a:t>
            </a:r>
            <a:r>
              <a:rPr lang="fr-BE" dirty="0">
                <a:solidFill>
                  <a:srgbClr val="6897BB"/>
                </a:solidFill>
                <a:effectLst/>
                <a:latin typeface="Consolas" panose="020B0609020204030204" pitchFamily="49" charset="0"/>
                <a:cs typeface="Consolas" panose="020B0609020204030204" pitchFamily="49" charset="0"/>
              </a:rPr>
              <a:t>1</a:t>
            </a:r>
            <a:r>
              <a:rPr lang="fr-BE" dirty="0">
                <a:solidFill>
                  <a:srgbClr val="CC7832"/>
                </a:solidFill>
                <a:effectLst/>
                <a:latin typeface="Consolas" panose="020B0609020204030204" pitchFamily="49" charset="0"/>
                <a:cs typeface="Consolas" panose="020B0609020204030204" pitchFamily="49" charset="0"/>
              </a:rPr>
              <a:t>, </a:t>
            </a:r>
            <a:r>
              <a:rPr lang="fr-BE" dirty="0">
                <a:solidFill>
                  <a:srgbClr val="6897BB"/>
                </a:solidFill>
                <a:effectLst/>
                <a:latin typeface="Consolas" panose="020B0609020204030204" pitchFamily="49" charset="0"/>
                <a:cs typeface="Consolas" panose="020B0609020204030204" pitchFamily="49" charset="0"/>
              </a:rPr>
              <a:t>5</a:t>
            </a:r>
            <a:r>
              <a:rPr lang="fr-BE" dirty="0">
                <a:solidFill>
                  <a:srgbClr val="CC7832"/>
                </a:solidFill>
                <a:effectLst/>
                <a:latin typeface="Consolas" panose="020B0609020204030204" pitchFamily="49" charset="0"/>
                <a:cs typeface="Consolas" panose="020B0609020204030204" pitchFamily="49" charset="0"/>
              </a:rPr>
              <a:t>, </a:t>
            </a:r>
            <a:r>
              <a:rPr lang="fr-BE" dirty="0">
                <a:solidFill>
                  <a:srgbClr val="6897BB"/>
                </a:solidFill>
                <a:effectLst/>
                <a:latin typeface="Consolas" panose="020B0609020204030204" pitchFamily="49" charset="0"/>
                <a:cs typeface="Consolas" panose="020B0609020204030204" pitchFamily="49" charset="0"/>
              </a:rPr>
              <a:t>8</a:t>
            </a:r>
            <a:r>
              <a:rPr lang="fr-BE" dirty="0">
                <a:solidFill>
                  <a:srgbClr val="CC7832"/>
                </a:solidFill>
                <a:effectLst/>
                <a:latin typeface="Consolas" panose="020B0609020204030204" pitchFamily="49" charset="0"/>
                <a:cs typeface="Consolas" panose="020B0609020204030204" pitchFamily="49" charset="0"/>
              </a:rPr>
              <a:t>, </a:t>
            </a:r>
            <a:r>
              <a:rPr lang="fr-BE" dirty="0">
                <a:solidFill>
                  <a:srgbClr val="6897BB"/>
                </a:solidFill>
                <a:effectLst/>
                <a:latin typeface="Consolas" panose="020B0609020204030204" pitchFamily="49" charset="0"/>
                <a:cs typeface="Consolas" panose="020B0609020204030204" pitchFamily="49" charset="0"/>
              </a:rPr>
              <a:t>4</a:t>
            </a:r>
            <a:r>
              <a:rPr lang="fr-BE" dirty="0">
                <a:solidFill>
                  <a:srgbClr val="CC7832"/>
                </a:solidFill>
                <a:effectLst/>
                <a:latin typeface="Consolas" panose="020B0609020204030204" pitchFamily="49" charset="0"/>
                <a:cs typeface="Consolas" panose="020B0609020204030204" pitchFamily="49" charset="0"/>
              </a:rPr>
              <a:t>, </a:t>
            </a:r>
            <a:r>
              <a:rPr lang="fr-BE" dirty="0">
                <a:solidFill>
                  <a:srgbClr val="6897BB"/>
                </a:solidFill>
                <a:effectLst/>
                <a:latin typeface="Consolas" panose="020B0609020204030204" pitchFamily="49" charset="0"/>
                <a:cs typeface="Consolas" panose="020B0609020204030204" pitchFamily="49" charset="0"/>
              </a:rPr>
              <a:t>9</a:t>
            </a:r>
            <a:r>
              <a:rPr lang="fr-BE" dirty="0">
                <a:latin typeface="Consolas" panose="020B0609020204030204" pitchFamily="49" charset="0"/>
                <a:cs typeface="Consolas" panose="020B0609020204030204" pitchFamily="49" charset="0"/>
              </a:rPr>
              <a:t>}</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String[] </a:t>
            </a:r>
            <a:r>
              <a:rPr lang="fr-BE" dirty="0" err="1">
                <a:latin typeface="Consolas" panose="020B0609020204030204" pitchFamily="49" charset="0"/>
                <a:cs typeface="Consolas" panose="020B0609020204030204" pitchFamily="49" charset="0"/>
              </a:rPr>
              <a:t>tabs</a:t>
            </a:r>
            <a:r>
              <a:rPr lang="fr-BE" dirty="0">
                <a:latin typeface="Consolas" panose="020B0609020204030204" pitchFamily="49" charset="0"/>
                <a:cs typeface="Consolas" panose="020B0609020204030204" pitchFamily="49" charset="0"/>
              </a:rPr>
              <a:t> = { </a:t>
            </a:r>
            <a:r>
              <a:rPr lang="fr-BE" dirty="0">
                <a:solidFill>
                  <a:srgbClr val="6A8759"/>
                </a:solidFill>
                <a:effectLst/>
                <a:latin typeface="Consolas" panose="020B0609020204030204" pitchFamily="49" charset="0"/>
                <a:cs typeface="Consolas" panose="020B0609020204030204" pitchFamily="49" charset="0"/>
              </a:rPr>
              <a:t>"alpha"</a:t>
            </a:r>
            <a:r>
              <a:rPr lang="fr-BE" dirty="0">
                <a:solidFill>
                  <a:srgbClr val="CC7832"/>
                </a:solidFill>
                <a:effectLst/>
                <a:latin typeface="Consolas" panose="020B0609020204030204" pitchFamily="49" charset="0"/>
                <a:cs typeface="Consolas" panose="020B0609020204030204" pitchFamily="49" charset="0"/>
              </a:rPr>
              <a:t>, </a:t>
            </a:r>
            <a:r>
              <a:rPr lang="fr-BE" dirty="0">
                <a:solidFill>
                  <a:srgbClr val="6A8759"/>
                </a:solidFill>
                <a:effectLst/>
                <a:latin typeface="Consolas" panose="020B0609020204030204" pitchFamily="49" charset="0"/>
                <a:cs typeface="Consolas" panose="020B0609020204030204" pitchFamily="49" charset="0"/>
              </a:rPr>
              <a:t>"bravo"</a:t>
            </a:r>
            <a:r>
              <a:rPr lang="fr-BE" dirty="0">
                <a:solidFill>
                  <a:srgbClr val="CC7832"/>
                </a:solidFill>
                <a:effectLst/>
                <a:latin typeface="Consolas" panose="020B0609020204030204" pitchFamily="49" charset="0"/>
                <a:cs typeface="Consolas" panose="020B0609020204030204" pitchFamily="49" charset="0"/>
              </a:rPr>
              <a:t>, </a:t>
            </a:r>
            <a:r>
              <a:rPr lang="fr-BE" dirty="0">
                <a:solidFill>
                  <a:srgbClr val="6A8759"/>
                </a:solidFill>
                <a:effectLst/>
                <a:latin typeface="Consolas" panose="020B0609020204030204" pitchFamily="49" charset="0"/>
                <a:cs typeface="Consolas" panose="020B0609020204030204" pitchFamily="49" charset="0"/>
              </a:rPr>
              <a:t>"</a:t>
            </a:r>
            <a:r>
              <a:rPr lang="fr-BE" dirty="0" err="1">
                <a:solidFill>
                  <a:srgbClr val="6A8759"/>
                </a:solidFill>
                <a:effectLst/>
                <a:latin typeface="Consolas" panose="020B0609020204030204" pitchFamily="49" charset="0"/>
                <a:cs typeface="Consolas" panose="020B0609020204030204" pitchFamily="49" charset="0"/>
              </a:rPr>
              <a:t>charlie</a:t>
            </a:r>
            <a:r>
              <a:rPr lang="fr-BE" dirty="0">
                <a:solidFill>
                  <a:srgbClr val="6A8759"/>
                </a:solidFill>
                <a:effectLst/>
                <a:latin typeface="Consolas" panose="020B0609020204030204" pitchFamily="49" charset="0"/>
                <a:cs typeface="Consolas" panose="020B0609020204030204" pitchFamily="49" charset="0"/>
              </a:rPr>
              <a:t>"</a:t>
            </a:r>
            <a:r>
              <a:rPr lang="fr-BE" dirty="0">
                <a:latin typeface="Consolas" panose="020B0609020204030204" pitchFamily="49" charset="0"/>
                <a:cs typeface="Consolas" panose="020B0609020204030204" pitchFamily="49" charset="0"/>
              </a:rPr>
              <a:t>}</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Integer n = </a:t>
            </a:r>
            <a:r>
              <a:rPr lang="fr-BE" i="1" dirty="0" err="1">
                <a:effectLst/>
                <a:latin typeface="Consolas" panose="020B0609020204030204" pitchFamily="49" charset="0"/>
                <a:cs typeface="Consolas" panose="020B0609020204030204" pitchFamily="49" charset="0"/>
              </a:rPr>
              <a:t>getRandomValue</a:t>
            </a:r>
            <a:r>
              <a:rPr lang="fr-BE" dirty="0">
                <a:latin typeface="Consolas" panose="020B0609020204030204" pitchFamily="49" charset="0"/>
                <a:cs typeface="Consolas" panose="020B0609020204030204" pitchFamily="49" charset="0"/>
              </a:rPr>
              <a:t>(tabi)</a:t>
            </a:r>
            <a:r>
              <a:rPr lang="fr-BE" dirty="0">
                <a:solidFill>
                  <a:srgbClr val="CC7832"/>
                </a:solidFill>
                <a:effectLst/>
                <a:latin typeface="Consolas" panose="020B0609020204030204" pitchFamily="49" charset="0"/>
                <a:cs typeface="Consolas" panose="020B0609020204030204" pitchFamily="49" charset="0"/>
              </a:rPr>
              <a:t>;   </a:t>
            </a:r>
            <a:br>
              <a:rPr lang="fr-BE" dirty="0">
                <a:solidFill>
                  <a:srgbClr val="CC7832"/>
                </a:solidFill>
                <a:effectLst/>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String s = </a:t>
            </a:r>
            <a:r>
              <a:rPr lang="fr-BE" i="1" dirty="0" err="1">
                <a:latin typeface="Consolas" panose="020B0609020204030204" pitchFamily="49" charset="0"/>
                <a:cs typeface="Consolas" panose="020B0609020204030204" pitchFamily="49" charset="0"/>
              </a:rPr>
              <a:t>getRandomValue</a:t>
            </a:r>
            <a:r>
              <a:rPr lang="fr-BE" dirty="0">
                <a:latin typeface="Consolas" panose="020B0609020204030204" pitchFamily="49" charset="0"/>
                <a:cs typeface="Consolas" panose="020B0609020204030204" pitchFamily="49" charset="0"/>
              </a:rPr>
              <a:t>(</a:t>
            </a:r>
            <a:r>
              <a:rPr lang="fr-BE" dirty="0" err="1">
                <a:latin typeface="Consolas" panose="020B0609020204030204" pitchFamily="49" charset="0"/>
                <a:cs typeface="Consolas" panose="020B0609020204030204" pitchFamily="49" charset="0"/>
              </a:rPr>
              <a:t>tabs</a:t>
            </a:r>
            <a:r>
              <a:rPr lang="fr-BE" dirty="0">
                <a:latin typeface="Consolas" panose="020B0609020204030204" pitchFamily="49" charset="0"/>
                <a:cs typeface="Consolas" panose="020B0609020204030204" pitchFamily="49" charset="0"/>
              </a:rPr>
              <a:t>)</a:t>
            </a:r>
            <a:r>
              <a:rPr lang="fr-BE" dirty="0">
                <a:solidFill>
                  <a:srgbClr val="CC7832"/>
                </a:solidFill>
                <a:effectLst/>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
        <p:nvSpPr>
          <p:cNvPr id="4" name="Espace réservé du numéro de diapositive 3">
            <a:extLst>
              <a:ext uri="{FF2B5EF4-FFF2-40B4-BE49-F238E27FC236}">
                <a16:creationId xmlns:a16="http://schemas.microsoft.com/office/drawing/2014/main" id="{FEBA6582-BA33-2250-BA7C-54489CAD6248}"/>
              </a:ext>
            </a:extLst>
          </p:cNvPr>
          <p:cNvSpPr>
            <a:spLocks noGrp="1"/>
          </p:cNvSpPr>
          <p:nvPr>
            <p:ph type="sldNum" sz="quarter" idx="4"/>
          </p:nvPr>
        </p:nvSpPr>
        <p:spPr/>
        <p:txBody>
          <a:bodyPr/>
          <a:lstStyle/>
          <a:p>
            <a:fld id="{33C783E2-4793-4F48-A271-51A73CC37D74}" type="slidenum">
              <a:rPr lang="fr-FR" smtClean="0"/>
              <a:t>32</a:t>
            </a:fld>
            <a:endParaRPr lang="fr-FR"/>
          </a:p>
        </p:txBody>
      </p:sp>
    </p:spTree>
    <p:extLst>
      <p:ext uri="{BB962C8B-B14F-4D97-AF65-F5344CB8AC3E}">
        <p14:creationId xmlns:p14="http://schemas.microsoft.com/office/powerpoint/2010/main" val="1747705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3424FA-B311-AE48-8395-71D7C77A64C5}"/>
              </a:ext>
            </a:extLst>
          </p:cNvPr>
          <p:cNvSpPr>
            <a:spLocks noGrp="1"/>
          </p:cNvSpPr>
          <p:nvPr>
            <p:ph type="title"/>
          </p:nvPr>
        </p:nvSpPr>
        <p:spPr/>
        <p:txBody>
          <a:bodyPr>
            <a:normAutofit/>
          </a:bodyPr>
          <a:lstStyle/>
          <a:p>
            <a:r>
              <a:rPr lang="fr-FR" dirty="0"/>
              <a:t>Méthodes génériques</a:t>
            </a:r>
          </a:p>
        </p:txBody>
      </p:sp>
      <p:sp>
        <p:nvSpPr>
          <p:cNvPr id="3" name="Espace réservé du contenu 2">
            <a:extLst>
              <a:ext uri="{FF2B5EF4-FFF2-40B4-BE49-F238E27FC236}">
                <a16:creationId xmlns:a16="http://schemas.microsoft.com/office/drawing/2014/main" id="{4F37A94A-1BDE-5A41-925A-D9D3336EF459}"/>
              </a:ext>
            </a:extLst>
          </p:cNvPr>
          <p:cNvSpPr>
            <a:spLocks noGrp="1"/>
          </p:cNvSpPr>
          <p:nvPr>
            <p:ph idx="1"/>
          </p:nvPr>
        </p:nvSpPr>
        <p:spPr>
          <a:xfrm>
            <a:off x="838200" y="1825625"/>
            <a:ext cx="10515600" cy="663133"/>
          </a:xfrm>
        </p:spPr>
        <p:txBody>
          <a:bodyPr>
            <a:normAutofit/>
          </a:bodyPr>
          <a:lstStyle/>
          <a:p>
            <a:pPr marL="0" indent="0">
              <a:buNone/>
            </a:pPr>
            <a:r>
              <a:rPr lang="fr-FR" sz="2200" dirty="0"/>
              <a:t>Voici la syntaxe:</a:t>
            </a:r>
          </a:p>
        </p:txBody>
      </p:sp>
      <p:sp>
        <p:nvSpPr>
          <p:cNvPr id="9" name="ZoneTexte 8">
            <a:extLst>
              <a:ext uri="{FF2B5EF4-FFF2-40B4-BE49-F238E27FC236}">
                <a16:creationId xmlns:a16="http://schemas.microsoft.com/office/drawing/2014/main" id="{C6C81B10-6CFC-C9A3-E1E4-C53F20979E3B}"/>
              </a:ext>
            </a:extLst>
          </p:cNvPr>
          <p:cNvSpPr txBox="1"/>
          <p:nvPr/>
        </p:nvSpPr>
        <p:spPr>
          <a:xfrm>
            <a:off x="838200" y="4500597"/>
            <a:ext cx="10515600" cy="1107996"/>
          </a:xfrm>
          <a:prstGeom prst="rect">
            <a:avLst/>
          </a:prstGeom>
          <a:noFill/>
        </p:spPr>
        <p:txBody>
          <a:bodyPr wrap="square">
            <a:spAutoFit/>
          </a:bodyPr>
          <a:lstStyle/>
          <a:p>
            <a:r>
              <a:rPr lang="fr-FR" sz="2200" dirty="0"/>
              <a:t>Remarquez </a:t>
            </a:r>
          </a:p>
          <a:p>
            <a:pPr marL="342900" indent="-342900">
              <a:buFont typeface="Arial" panose="020B0604020202020204" pitchFamily="34" charset="0"/>
              <a:buChar char="•"/>
            </a:pPr>
            <a:r>
              <a:rPr lang="fr-FR" sz="2200" dirty="0"/>
              <a:t>La méthode peut recevoir un </a:t>
            </a:r>
            <a:r>
              <a:rPr lang="fr-FR" sz="2200" dirty="0">
                <a:solidFill>
                  <a:schemeClr val="accent4"/>
                </a:solidFill>
              </a:rPr>
              <a:t>tableau du type générique </a:t>
            </a:r>
            <a:r>
              <a:rPr lang="fr-FR" sz="2200" dirty="0"/>
              <a:t>(instancié en type spécifique).</a:t>
            </a:r>
          </a:p>
          <a:p>
            <a:pPr marL="342900" indent="-342900">
              <a:buFont typeface="Arial" panose="020B0604020202020204" pitchFamily="34" charset="0"/>
              <a:buChar char="•"/>
            </a:pPr>
            <a:r>
              <a:rPr lang="fr-FR" sz="2200" dirty="0"/>
              <a:t>La méthode ne doit pas nécessairement être statique.</a:t>
            </a:r>
          </a:p>
        </p:txBody>
      </p:sp>
      <p:sp>
        <p:nvSpPr>
          <p:cNvPr id="11" name="ZoneTexte 10">
            <a:extLst>
              <a:ext uri="{FF2B5EF4-FFF2-40B4-BE49-F238E27FC236}">
                <a16:creationId xmlns:a16="http://schemas.microsoft.com/office/drawing/2014/main" id="{5F08CD89-9877-7D24-BE13-B2E7212BF7CD}"/>
              </a:ext>
            </a:extLst>
          </p:cNvPr>
          <p:cNvSpPr txBox="1"/>
          <p:nvPr/>
        </p:nvSpPr>
        <p:spPr>
          <a:xfrm>
            <a:off x="2142875" y="2565102"/>
            <a:ext cx="6675121" cy="1477328"/>
          </a:xfrm>
          <a:prstGeom prst="rect">
            <a:avLst/>
          </a:prstGeom>
          <a:solidFill>
            <a:srgbClr val="2B2B2B"/>
          </a:solidFill>
        </p:spPr>
        <p:txBody>
          <a:bodyPr wrap="square">
            <a:spAutoFit/>
          </a:bodyPr>
          <a:lstStyle/>
          <a:p>
            <a:r>
              <a:rPr lang="fr-BE" dirty="0">
                <a:solidFill>
                  <a:srgbClr val="CC7832"/>
                </a:solidFill>
                <a:effectLst/>
                <a:latin typeface="Consolas" panose="020B0609020204030204" pitchFamily="49" charset="0"/>
                <a:cs typeface="Consolas" panose="020B0609020204030204" pitchFamily="49" charset="0"/>
              </a:rPr>
              <a:t>public </a:t>
            </a:r>
            <a:r>
              <a:rPr lang="fr-BE" dirty="0" err="1">
                <a:solidFill>
                  <a:srgbClr val="CC7832"/>
                </a:solidFill>
                <a:effectLst/>
                <a:latin typeface="Consolas" panose="020B0609020204030204" pitchFamily="49" charset="0"/>
                <a:cs typeface="Consolas" panose="020B0609020204030204" pitchFamily="49" charset="0"/>
              </a:rPr>
              <a:t>static</a:t>
            </a: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&lt;</a:t>
            </a:r>
            <a:r>
              <a:rPr lang="fr-BE" dirty="0" err="1">
                <a:solidFill>
                  <a:srgbClr val="507874"/>
                </a:solidFill>
                <a:effectLst/>
                <a:latin typeface="Consolas" panose="020B0609020204030204" pitchFamily="49" charset="0"/>
                <a:cs typeface="Consolas" panose="020B0609020204030204" pitchFamily="49" charset="0"/>
              </a:rPr>
              <a:t>T</a:t>
            </a:r>
            <a:r>
              <a:rPr lang="fr-BE" dirty="0">
                <a:latin typeface="Consolas" panose="020B0609020204030204" pitchFamily="49" charset="0"/>
                <a:cs typeface="Consolas" panose="020B0609020204030204" pitchFamily="49" charset="0"/>
              </a:rPr>
              <a:t>&gt; </a:t>
            </a:r>
            <a:r>
              <a:rPr lang="fr-BE" dirty="0" err="1">
                <a:solidFill>
                  <a:srgbClr val="507874"/>
                </a:solidFill>
                <a:effectLst/>
                <a:latin typeface="Consolas" panose="020B0609020204030204" pitchFamily="49" charset="0"/>
                <a:cs typeface="Consolas" panose="020B0609020204030204" pitchFamily="49" charset="0"/>
              </a:rPr>
              <a:t>T</a:t>
            </a:r>
            <a:r>
              <a:rPr lang="fr-BE" dirty="0">
                <a:solidFill>
                  <a:srgbClr val="507874"/>
                </a:solidFill>
                <a:effectLst/>
                <a:latin typeface="Consolas" panose="020B0609020204030204" pitchFamily="49" charset="0"/>
                <a:cs typeface="Consolas" panose="020B0609020204030204" pitchFamily="49" charset="0"/>
              </a:rPr>
              <a:t> </a:t>
            </a:r>
            <a:r>
              <a:rPr lang="fr-BE" dirty="0" err="1">
                <a:solidFill>
                  <a:srgbClr val="FFC66D"/>
                </a:solidFill>
                <a:effectLst/>
                <a:latin typeface="Consolas" panose="020B0609020204030204" pitchFamily="49" charset="0"/>
                <a:cs typeface="Consolas" panose="020B0609020204030204" pitchFamily="49" charset="0"/>
              </a:rPr>
              <a:t>getRandomValue</a:t>
            </a:r>
            <a:r>
              <a:rPr lang="fr-BE" dirty="0">
                <a:latin typeface="Consolas" panose="020B0609020204030204" pitchFamily="49" charset="0"/>
                <a:cs typeface="Consolas" panose="020B0609020204030204" pitchFamily="49" charset="0"/>
              </a:rPr>
              <a:t>(</a:t>
            </a:r>
            <a:r>
              <a:rPr lang="fr-BE" dirty="0" err="1">
                <a:solidFill>
                  <a:srgbClr val="507874"/>
                </a:solidFill>
                <a:effectLst/>
                <a:latin typeface="Consolas" panose="020B0609020204030204" pitchFamily="49" charset="0"/>
                <a:cs typeface="Consolas" panose="020B0609020204030204" pitchFamily="49" charset="0"/>
              </a:rPr>
              <a:t>T</a:t>
            </a:r>
            <a:r>
              <a:rPr lang="fr-BE" dirty="0">
                <a:latin typeface="Consolas" panose="020B0609020204030204" pitchFamily="49" charset="0"/>
                <a:cs typeface="Consolas" panose="020B0609020204030204" pitchFamily="49" charset="0"/>
              </a:rPr>
              <a:t>[] values) {</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err="1">
                <a:solidFill>
                  <a:srgbClr val="CC7832"/>
                </a:solidFill>
                <a:effectLst/>
                <a:latin typeface="Consolas" panose="020B0609020204030204" pitchFamily="49" charset="0"/>
                <a:cs typeface="Consolas" panose="020B0609020204030204" pitchFamily="49" charset="0"/>
              </a:rPr>
              <a:t>int</a:t>
            </a: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n = </a:t>
            </a:r>
            <a:r>
              <a:rPr lang="fr-BE" dirty="0" err="1">
                <a:latin typeface="Consolas" panose="020B0609020204030204" pitchFamily="49" charset="0"/>
                <a:cs typeface="Consolas" panose="020B0609020204030204" pitchFamily="49" charset="0"/>
              </a:rPr>
              <a:t>values.</a:t>
            </a:r>
            <a:r>
              <a:rPr lang="fr-BE" dirty="0" err="1">
                <a:solidFill>
                  <a:srgbClr val="9876AA"/>
                </a:solidFill>
                <a:effectLst/>
                <a:latin typeface="Consolas" panose="020B0609020204030204" pitchFamily="49" charset="0"/>
                <a:cs typeface="Consolas" panose="020B0609020204030204" pitchFamily="49" charset="0"/>
              </a:rPr>
              <a:t>length</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solidFill>
                  <a:srgbClr val="CC7832"/>
                </a:solidFill>
                <a:effectLst/>
                <a:latin typeface="Consolas" panose="020B0609020204030204" pitchFamily="49" charset="0"/>
                <a:cs typeface="Consolas" panose="020B0609020204030204" pitchFamily="49" charset="0"/>
              </a:rPr>
              <a:t>    if </a:t>
            </a:r>
            <a:r>
              <a:rPr lang="fr-BE" dirty="0">
                <a:latin typeface="Consolas" panose="020B0609020204030204" pitchFamily="49" charset="0"/>
                <a:cs typeface="Consolas" panose="020B0609020204030204" pitchFamily="49" charset="0"/>
              </a:rPr>
              <a:t>(n==</a:t>
            </a:r>
            <a:r>
              <a:rPr lang="fr-BE" dirty="0">
                <a:solidFill>
                  <a:srgbClr val="6897BB"/>
                </a:solidFill>
                <a:effectLst/>
                <a:latin typeface="Consolas" panose="020B0609020204030204" pitchFamily="49" charset="0"/>
                <a:cs typeface="Consolas" panose="020B0609020204030204" pitchFamily="49" charset="0"/>
              </a:rPr>
              <a:t>0</a:t>
            </a:r>
            <a:r>
              <a:rPr lang="fr-BE" dirty="0">
                <a:latin typeface="Consolas" panose="020B0609020204030204" pitchFamily="49" charset="0"/>
                <a:cs typeface="Consolas" panose="020B0609020204030204" pitchFamily="49" charset="0"/>
              </a:rPr>
              <a:t>) </a:t>
            </a:r>
            <a:r>
              <a:rPr lang="fr-BE" dirty="0">
                <a:solidFill>
                  <a:srgbClr val="CC7832"/>
                </a:solidFill>
                <a:effectLst/>
                <a:latin typeface="Consolas" panose="020B0609020204030204" pitchFamily="49" charset="0"/>
                <a:cs typeface="Consolas" panose="020B0609020204030204" pitchFamily="49" charset="0"/>
              </a:rPr>
              <a:t>return </a:t>
            </a:r>
            <a:r>
              <a:rPr lang="fr-BE" dirty="0" err="1">
                <a:solidFill>
                  <a:srgbClr val="CC7832"/>
                </a:solidFill>
                <a:effectLst/>
                <a:latin typeface="Consolas" panose="020B0609020204030204" pitchFamily="49" charset="0"/>
                <a:cs typeface="Consolas" panose="020B0609020204030204" pitchFamily="49" charset="0"/>
              </a:rPr>
              <a:t>null</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solidFill>
                  <a:srgbClr val="CC7832"/>
                </a:solidFill>
                <a:effectLst/>
                <a:latin typeface="Consolas" panose="020B0609020204030204" pitchFamily="49" charset="0"/>
                <a:cs typeface="Consolas" panose="020B0609020204030204" pitchFamily="49" charset="0"/>
              </a:rPr>
              <a:t>    return </a:t>
            </a:r>
            <a:r>
              <a:rPr lang="fr-BE" dirty="0">
                <a:latin typeface="Consolas" panose="020B0609020204030204" pitchFamily="49" charset="0"/>
                <a:cs typeface="Consolas" panose="020B0609020204030204" pitchFamily="49" charset="0"/>
              </a:rPr>
              <a:t>values[(</a:t>
            </a:r>
            <a:r>
              <a:rPr lang="fr-BE" dirty="0" err="1">
                <a:solidFill>
                  <a:srgbClr val="CC7832"/>
                </a:solidFill>
                <a:effectLst/>
                <a:latin typeface="Consolas" panose="020B0609020204030204" pitchFamily="49" charset="0"/>
                <a:cs typeface="Consolas" panose="020B0609020204030204" pitchFamily="49" charset="0"/>
              </a:rPr>
              <a:t>int</a:t>
            </a:r>
            <a:r>
              <a:rPr lang="fr-BE" dirty="0">
                <a:latin typeface="Consolas" panose="020B0609020204030204" pitchFamily="49" charset="0"/>
                <a:cs typeface="Consolas" panose="020B0609020204030204" pitchFamily="49" charset="0"/>
              </a:rPr>
              <a:t>)(n * </a:t>
            </a:r>
            <a:r>
              <a:rPr lang="fr-BE" dirty="0" err="1">
                <a:latin typeface="Consolas" panose="020B0609020204030204" pitchFamily="49" charset="0"/>
                <a:cs typeface="Consolas" panose="020B0609020204030204" pitchFamily="49" charset="0"/>
              </a:rPr>
              <a:t>Math.</a:t>
            </a:r>
            <a:r>
              <a:rPr lang="fr-BE" i="1" dirty="0" err="1">
                <a:effectLst/>
                <a:latin typeface="Consolas" panose="020B0609020204030204" pitchFamily="49" charset="0"/>
                <a:cs typeface="Consolas" panose="020B0609020204030204" pitchFamily="49" charset="0"/>
              </a:rPr>
              <a:t>random</a:t>
            </a:r>
            <a:r>
              <a:rPr lang="fr-BE" dirty="0">
                <a:latin typeface="Consolas" panose="020B0609020204030204" pitchFamily="49" charset="0"/>
                <a:cs typeface="Consolas" panose="020B0609020204030204" pitchFamily="49" charset="0"/>
              </a:rPr>
              <a:t>())]</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
        <p:nvSpPr>
          <p:cNvPr id="4" name="Espace réservé du numéro de diapositive 3">
            <a:extLst>
              <a:ext uri="{FF2B5EF4-FFF2-40B4-BE49-F238E27FC236}">
                <a16:creationId xmlns:a16="http://schemas.microsoft.com/office/drawing/2014/main" id="{EF415572-3FF3-6869-C59A-A37B99E5D4BB}"/>
              </a:ext>
            </a:extLst>
          </p:cNvPr>
          <p:cNvSpPr>
            <a:spLocks noGrp="1"/>
          </p:cNvSpPr>
          <p:nvPr>
            <p:ph type="sldNum" sz="quarter" idx="4"/>
          </p:nvPr>
        </p:nvSpPr>
        <p:spPr/>
        <p:txBody>
          <a:bodyPr/>
          <a:lstStyle/>
          <a:p>
            <a:fld id="{33C783E2-4793-4F48-A271-51A73CC37D74}" type="slidenum">
              <a:rPr lang="fr-FR" smtClean="0"/>
              <a:t>33</a:t>
            </a:fld>
            <a:endParaRPr lang="fr-FR"/>
          </a:p>
        </p:txBody>
      </p:sp>
    </p:spTree>
    <p:extLst>
      <p:ext uri="{BB962C8B-B14F-4D97-AF65-F5344CB8AC3E}">
        <p14:creationId xmlns:p14="http://schemas.microsoft.com/office/powerpoint/2010/main" val="962861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Types génériques</a:t>
            </a:r>
          </a:p>
        </p:txBody>
      </p:sp>
      <p:sp>
        <p:nvSpPr>
          <p:cNvPr id="3" name="Espace réservé du contenu 2"/>
          <p:cNvSpPr>
            <a:spLocks noGrp="1"/>
          </p:cNvSpPr>
          <p:nvPr>
            <p:ph idx="1"/>
          </p:nvPr>
        </p:nvSpPr>
        <p:spPr/>
        <p:txBody>
          <a:bodyPr>
            <a:noAutofit/>
          </a:bodyPr>
          <a:lstStyle/>
          <a:p>
            <a:pPr marL="342900" indent="-342900">
              <a:lnSpc>
                <a:spcPct val="80000"/>
              </a:lnSpc>
              <a:buFont typeface="Arial"/>
              <a:buChar char="•"/>
            </a:pPr>
            <a:r>
              <a:rPr lang="fr-FR" dirty="0"/>
              <a:t>Le concept de type générique</a:t>
            </a:r>
          </a:p>
          <a:p>
            <a:pPr marL="342900" indent="-342900">
              <a:lnSpc>
                <a:spcPct val="80000"/>
              </a:lnSpc>
              <a:buFont typeface="Arial"/>
              <a:buChar char="•"/>
            </a:pPr>
            <a:r>
              <a:rPr lang="fr-FR" dirty="0"/>
              <a:t>Classe Générique à un seul paramètre</a:t>
            </a:r>
          </a:p>
          <a:p>
            <a:pPr marL="342900" indent="-342900">
              <a:lnSpc>
                <a:spcPct val="80000"/>
              </a:lnSpc>
              <a:buFont typeface="Arial"/>
              <a:buChar char="•"/>
            </a:pPr>
            <a:r>
              <a:rPr lang="fr-FR" dirty="0"/>
              <a:t>Classe Générique à plusieurs paramètres</a:t>
            </a:r>
          </a:p>
          <a:p>
            <a:pPr marL="342900" indent="-342900">
              <a:lnSpc>
                <a:spcPct val="80000"/>
              </a:lnSpc>
              <a:buFont typeface="Arial"/>
              <a:buChar char="•"/>
            </a:pPr>
            <a:r>
              <a:rPr lang="fr-FR" dirty="0"/>
              <a:t>Compilation des types génériques</a:t>
            </a:r>
          </a:p>
          <a:p>
            <a:pPr marL="342900" indent="-342900">
              <a:lnSpc>
                <a:spcPct val="80000"/>
              </a:lnSpc>
              <a:buFont typeface="Arial"/>
              <a:buChar char="•"/>
            </a:pPr>
            <a:r>
              <a:rPr lang="fr-FR" dirty="0"/>
              <a:t>Méthodes génériques</a:t>
            </a:r>
          </a:p>
          <a:p>
            <a:pPr marL="342900" indent="-342900">
              <a:lnSpc>
                <a:spcPct val="80000"/>
              </a:lnSpc>
              <a:buFont typeface="Arial"/>
              <a:buChar char="•"/>
            </a:pPr>
            <a:r>
              <a:rPr lang="fr-FR" dirty="0">
                <a:solidFill>
                  <a:schemeClr val="accent4"/>
                </a:solidFill>
              </a:rPr>
              <a:t>Limitations sur le type</a:t>
            </a:r>
          </a:p>
          <a:p>
            <a:pPr marL="342900" indent="-342900">
              <a:lnSpc>
                <a:spcPct val="80000"/>
              </a:lnSpc>
              <a:buFont typeface="Arial"/>
              <a:buChar char="•"/>
            </a:pPr>
            <a:r>
              <a:rPr lang="fr-FR" dirty="0"/>
              <a:t>Type générique et héritage</a:t>
            </a:r>
          </a:p>
          <a:p>
            <a:pPr marL="342900" indent="-342900">
              <a:lnSpc>
                <a:spcPct val="80000"/>
              </a:lnSpc>
              <a:buFont typeface="Arial"/>
              <a:buChar char="•"/>
            </a:pPr>
            <a:endParaRPr lang="fr-FR" dirty="0"/>
          </a:p>
          <a:p>
            <a:pPr marL="342900" indent="-342900">
              <a:lnSpc>
                <a:spcPct val="80000"/>
              </a:lnSpc>
              <a:buFont typeface="Arial"/>
              <a:buChar char="•"/>
            </a:pPr>
            <a:endParaRPr lang="fr-FR" dirty="0"/>
          </a:p>
          <a:p>
            <a:pPr marL="342900" indent="-342900">
              <a:lnSpc>
                <a:spcPct val="80000"/>
              </a:lnSpc>
              <a:buFont typeface="Arial"/>
              <a:buChar char="•"/>
            </a:pPr>
            <a:endParaRPr lang="fr-FR" dirty="0"/>
          </a:p>
        </p:txBody>
      </p:sp>
      <p:grpSp>
        <p:nvGrpSpPr>
          <p:cNvPr id="8" name="Groupe 7">
            <a:extLst>
              <a:ext uri="{FF2B5EF4-FFF2-40B4-BE49-F238E27FC236}">
                <a16:creationId xmlns:a16="http://schemas.microsoft.com/office/drawing/2014/main" id="{ACCA99A5-B332-B909-6733-15C39193A78F}"/>
              </a:ext>
            </a:extLst>
          </p:cNvPr>
          <p:cNvGrpSpPr/>
          <p:nvPr/>
        </p:nvGrpSpPr>
        <p:grpSpPr>
          <a:xfrm>
            <a:off x="10470995" y="162401"/>
            <a:ext cx="1404760" cy="1400033"/>
            <a:chOff x="10326324" y="687756"/>
            <a:chExt cx="1393314" cy="1393314"/>
          </a:xfrm>
        </p:grpSpPr>
        <p:sp>
          <p:nvSpPr>
            <p:cNvPr id="5" name="Larme 4">
              <a:extLst>
                <a:ext uri="{FF2B5EF4-FFF2-40B4-BE49-F238E27FC236}">
                  <a16:creationId xmlns:a16="http://schemas.microsoft.com/office/drawing/2014/main" id="{6D659AA5-DE48-3A94-0973-5630499C0B8F}"/>
                </a:ext>
              </a:extLst>
            </p:cNvPr>
            <p:cNvSpPr/>
            <p:nvPr/>
          </p:nvSpPr>
          <p:spPr>
            <a:xfrm rot="8100000">
              <a:off x="10326324" y="687756"/>
              <a:ext cx="1393314" cy="1393314"/>
            </a:xfrm>
            <a:prstGeom prst="teardrop">
              <a:avLst>
                <a:gd name="adj" fmla="val 13287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 name="ZoneTexte 6">
              <a:extLst>
                <a:ext uri="{FF2B5EF4-FFF2-40B4-BE49-F238E27FC236}">
                  <a16:creationId xmlns:a16="http://schemas.microsoft.com/office/drawing/2014/main" id="{4FF3D4ED-5448-D9C2-964C-3C9EFB6B14C0}"/>
                </a:ext>
              </a:extLst>
            </p:cNvPr>
            <p:cNvSpPr txBox="1"/>
            <p:nvPr/>
          </p:nvSpPr>
          <p:spPr>
            <a:xfrm>
              <a:off x="10372029" y="1092958"/>
              <a:ext cx="1301905" cy="702249"/>
            </a:xfrm>
            <a:prstGeom prst="rect">
              <a:avLst/>
            </a:prstGeom>
            <a:noFill/>
          </p:spPr>
          <p:txBody>
            <a:bodyPr wrap="square">
              <a:spAutoFit/>
            </a:bodyPr>
            <a:lstStyle/>
            <a:p>
              <a:pPr algn="ctr"/>
              <a:r>
                <a:rPr lang="fr-FR" sz="2000" b="1" dirty="0"/>
                <a:t>Vous êtes ici</a:t>
              </a:r>
            </a:p>
          </p:txBody>
        </p:sp>
      </p:grpSp>
      <p:sp>
        <p:nvSpPr>
          <p:cNvPr id="4" name="Espace réservé du numéro de diapositive 3">
            <a:extLst>
              <a:ext uri="{FF2B5EF4-FFF2-40B4-BE49-F238E27FC236}">
                <a16:creationId xmlns:a16="http://schemas.microsoft.com/office/drawing/2014/main" id="{01665D72-CE84-89E3-AE6F-7D933EF80C0D}"/>
              </a:ext>
            </a:extLst>
          </p:cNvPr>
          <p:cNvSpPr>
            <a:spLocks noGrp="1"/>
          </p:cNvSpPr>
          <p:nvPr>
            <p:ph type="sldNum" sz="quarter" idx="4"/>
          </p:nvPr>
        </p:nvSpPr>
        <p:spPr/>
        <p:txBody>
          <a:bodyPr/>
          <a:lstStyle/>
          <a:p>
            <a:fld id="{33C783E2-4793-4F48-A271-51A73CC37D74}" type="slidenum">
              <a:rPr lang="fr-FR" smtClean="0"/>
              <a:t>34</a:t>
            </a:fld>
            <a:endParaRPr lang="fr-FR"/>
          </a:p>
        </p:txBody>
      </p:sp>
    </p:spTree>
    <p:extLst>
      <p:ext uri="{BB962C8B-B14F-4D97-AF65-F5344CB8AC3E}">
        <p14:creationId xmlns:p14="http://schemas.microsoft.com/office/powerpoint/2010/main" val="1773455125"/>
      </p:ext>
    </p:extLst>
  </p:cSld>
  <p:clrMapOvr>
    <a:masterClrMapping/>
  </p:clrMapOvr>
  <p:transition>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3424FA-B311-AE48-8395-71D7C77A64C5}"/>
              </a:ext>
            </a:extLst>
          </p:cNvPr>
          <p:cNvSpPr>
            <a:spLocks noGrp="1"/>
          </p:cNvSpPr>
          <p:nvPr>
            <p:ph type="title"/>
          </p:nvPr>
        </p:nvSpPr>
        <p:spPr/>
        <p:txBody>
          <a:bodyPr>
            <a:normAutofit/>
          </a:bodyPr>
          <a:lstStyle/>
          <a:p>
            <a:r>
              <a:rPr lang="fr-FR" dirty="0"/>
              <a:t>Limitations sur le type &lt;</a:t>
            </a:r>
            <a:r>
              <a:rPr lang="fr-FR" dirty="0" err="1"/>
              <a:t>T</a:t>
            </a:r>
            <a:r>
              <a:rPr lang="fr-FR" dirty="0"/>
              <a:t>&gt;…</a:t>
            </a:r>
          </a:p>
        </p:txBody>
      </p:sp>
      <p:sp>
        <p:nvSpPr>
          <p:cNvPr id="3" name="Espace réservé du contenu 2">
            <a:extLst>
              <a:ext uri="{FF2B5EF4-FFF2-40B4-BE49-F238E27FC236}">
                <a16:creationId xmlns:a16="http://schemas.microsoft.com/office/drawing/2014/main" id="{4F37A94A-1BDE-5A41-925A-D9D3336EF459}"/>
              </a:ext>
            </a:extLst>
          </p:cNvPr>
          <p:cNvSpPr>
            <a:spLocks noGrp="1"/>
          </p:cNvSpPr>
          <p:nvPr>
            <p:ph idx="1"/>
          </p:nvPr>
        </p:nvSpPr>
        <p:spPr>
          <a:xfrm>
            <a:off x="838200" y="1825624"/>
            <a:ext cx="10515600" cy="3064427"/>
          </a:xfrm>
        </p:spPr>
        <p:txBody>
          <a:bodyPr>
            <a:normAutofit/>
          </a:bodyPr>
          <a:lstStyle/>
          <a:p>
            <a:pPr marL="0" indent="0">
              <a:buNone/>
            </a:pPr>
            <a:r>
              <a:rPr lang="fr-FR" sz="2400" dirty="0"/>
              <a:t>Nous verrons maintenant qu’il est possible </a:t>
            </a:r>
            <a:r>
              <a:rPr lang="fr-FR" sz="2400" dirty="0">
                <a:solidFill>
                  <a:schemeClr val="accent4"/>
                </a:solidFill>
              </a:rPr>
              <a:t>d’indiquer des contraintes sur notre type générique </a:t>
            </a:r>
            <a:r>
              <a:rPr lang="fr-FR" sz="2200" dirty="0" err="1">
                <a:solidFill>
                  <a:schemeClr val="accent4"/>
                </a:solidFill>
                <a:latin typeface="Consolas" panose="020B0609020204030204" pitchFamily="49" charset="0"/>
                <a:cs typeface="Consolas" panose="020B0609020204030204" pitchFamily="49" charset="0"/>
              </a:rPr>
              <a:t>T</a:t>
            </a:r>
            <a:r>
              <a:rPr lang="fr-FR" sz="2400" dirty="0"/>
              <a:t>.</a:t>
            </a:r>
          </a:p>
          <a:p>
            <a:r>
              <a:rPr lang="fr-FR" sz="2400" dirty="0"/>
              <a:t>Le type </a:t>
            </a:r>
            <a:r>
              <a:rPr lang="fr-FR" sz="2400" dirty="0" err="1">
                <a:solidFill>
                  <a:schemeClr val="accent4"/>
                </a:solidFill>
                <a:latin typeface="Consolas" panose="020B0609020204030204" pitchFamily="49" charset="0"/>
                <a:cs typeface="Consolas" panose="020B0609020204030204" pitchFamily="49" charset="0"/>
              </a:rPr>
              <a:t>T</a:t>
            </a:r>
            <a:r>
              <a:rPr lang="fr-FR" sz="2400" dirty="0"/>
              <a:t> de notre </a:t>
            </a:r>
            <a:r>
              <a:rPr lang="fr-FR" sz="2400" dirty="0">
                <a:solidFill>
                  <a:schemeClr val="accent4"/>
                </a:solidFill>
              </a:rPr>
              <a:t>classe</a:t>
            </a:r>
            <a:r>
              <a:rPr lang="fr-FR" sz="2400" dirty="0"/>
              <a:t> générique doit hériter d’une certaine classe</a:t>
            </a:r>
          </a:p>
          <a:p>
            <a:r>
              <a:rPr lang="fr-FR" sz="2400" dirty="0"/>
              <a:t>Le type </a:t>
            </a:r>
            <a:r>
              <a:rPr lang="fr-FR" sz="2400" dirty="0" err="1">
                <a:solidFill>
                  <a:schemeClr val="accent4"/>
                </a:solidFill>
                <a:latin typeface="Consolas" panose="020B0609020204030204" pitchFamily="49" charset="0"/>
                <a:cs typeface="Consolas" panose="020B0609020204030204" pitchFamily="49" charset="0"/>
              </a:rPr>
              <a:t>T</a:t>
            </a:r>
            <a:r>
              <a:rPr lang="fr-FR" sz="2400" dirty="0"/>
              <a:t> de notre </a:t>
            </a:r>
            <a:r>
              <a:rPr lang="fr-FR" sz="2400" dirty="0">
                <a:solidFill>
                  <a:schemeClr val="accent4"/>
                </a:solidFill>
              </a:rPr>
              <a:t>méthode</a:t>
            </a:r>
            <a:r>
              <a:rPr lang="fr-FR" sz="2400" dirty="0"/>
              <a:t> générique doit hériter d’une certaine classe</a:t>
            </a:r>
          </a:p>
          <a:p>
            <a:r>
              <a:rPr lang="fr-FR" sz="2400" dirty="0"/>
              <a:t>Le type </a:t>
            </a:r>
            <a:r>
              <a:rPr lang="fr-FR" sz="2400" dirty="0" err="1">
                <a:solidFill>
                  <a:schemeClr val="accent4"/>
                </a:solidFill>
                <a:latin typeface="Consolas" panose="020B0609020204030204" pitchFamily="49" charset="0"/>
                <a:cs typeface="Consolas" panose="020B0609020204030204" pitchFamily="49" charset="0"/>
              </a:rPr>
              <a:t>T</a:t>
            </a:r>
            <a:r>
              <a:rPr lang="fr-FR" sz="2400" dirty="0"/>
              <a:t> doit implémenter une ou plusieurs </a:t>
            </a:r>
            <a:r>
              <a:rPr lang="fr-FR" sz="2400" dirty="0">
                <a:solidFill>
                  <a:schemeClr val="accent4"/>
                </a:solidFill>
              </a:rPr>
              <a:t>interfaces</a:t>
            </a:r>
          </a:p>
          <a:p>
            <a:pPr marL="0" indent="0">
              <a:buNone/>
            </a:pPr>
            <a:endParaRPr lang="fr-FR" sz="2400" dirty="0"/>
          </a:p>
          <a:p>
            <a:endParaRPr lang="fr-FR" sz="2400" dirty="0"/>
          </a:p>
        </p:txBody>
      </p:sp>
      <p:sp>
        <p:nvSpPr>
          <p:cNvPr id="4" name="Espace réservé du numéro de diapositive 3">
            <a:extLst>
              <a:ext uri="{FF2B5EF4-FFF2-40B4-BE49-F238E27FC236}">
                <a16:creationId xmlns:a16="http://schemas.microsoft.com/office/drawing/2014/main" id="{6B717118-D24E-504F-6904-CD46D7D289E3}"/>
              </a:ext>
            </a:extLst>
          </p:cNvPr>
          <p:cNvSpPr>
            <a:spLocks noGrp="1"/>
          </p:cNvSpPr>
          <p:nvPr>
            <p:ph type="sldNum" sz="quarter" idx="4"/>
          </p:nvPr>
        </p:nvSpPr>
        <p:spPr/>
        <p:txBody>
          <a:bodyPr/>
          <a:lstStyle/>
          <a:p>
            <a:fld id="{33C783E2-4793-4F48-A271-51A73CC37D74}" type="slidenum">
              <a:rPr lang="fr-FR" smtClean="0"/>
              <a:t>35</a:t>
            </a:fld>
            <a:endParaRPr lang="fr-FR"/>
          </a:p>
        </p:txBody>
      </p:sp>
    </p:spTree>
    <p:extLst>
      <p:ext uri="{BB962C8B-B14F-4D97-AF65-F5344CB8AC3E}">
        <p14:creationId xmlns:p14="http://schemas.microsoft.com/office/powerpoint/2010/main" val="23969827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3424FA-B311-AE48-8395-71D7C77A64C5}"/>
              </a:ext>
            </a:extLst>
          </p:cNvPr>
          <p:cNvSpPr>
            <a:spLocks noGrp="1"/>
          </p:cNvSpPr>
          <p:nvPr>
            <p:ph type="title"/>
          </p:nvPr>
        </p:nvSpPr>
        <p:spPr/>
        <p:txBody>
          <a:bodyPr>
            <a:normAutofit/>
          </a:bodyPr>
          <a:lstStyle/>
          <a:p>
            <a:r>
              <a:rPr lang="fr-FR" dirty="0"/>
              <a:t>Limitations sur le type &lt;</a:t>
            </a:r>
            <a:r>
              <a:rPr lang="fr-FR" dirty="0" err="1"/>
              <a:t>T</a:t>
            </a:r>
            <a:r>
              <a:rPr lang="fr-FR" dirty="0"/>
              <a:t>&gt; d’une classe</a:t>
            </a:r>
          </a:p>
        </p:txBody>
      </p:sp>
      <p:sp>
        <p:nvSpPr>
          <p:cNvPr id="3" name="Espace réservé du contenu 2">
            <a:extLst>
              <a:ext uri="{FF2B5EF4-FFF2-40B4-BE49-F238E27FC236}">
                <a16:creationId xmlns:a16="http://schemas.microsoft.com/office/drawing/2014/main" id="{4F37A94A-1BDE-5A41-925A-D9D3336EF459}"/>
              </a:ext>
            </a:extLst>
          </p:cNvPr>
          <p:cNvSpPr>
            <a:spLocks noGrp="1"/>
          </p:cNvSpPr>
          <p:nvPr>
            <p:ph idx="1"/>
          </p:nvPr>
        </p:nvSpPr>
        <p:spPr>
          <a:xfrm>
            <a:off x="838200" y="1825625"/>
            <a:ext cx="10515600" cy="2205686"/>
          </a:xfrm>
        </p:spPr>
        <p:txBody>
          <a:bodyPr>
            <a:normAutofit/>
          </a:bodyPr>
          <a:lstStyle/>
          <a:p>
            <a:pPr marL="0" indent="0">
              <a:buNone/>
            </a:pPr>
            <a:r>
              <a:rPr lang="fr-FR" sz="2400" dirty="0"/>
              <a:t>On peut, par exemple, vouloir modéliser un couple de nombres (</a:t>
            </a:r>
            <a:r>
              <a:rPr lang="fr-FR" sz="2000" dirty="0" err="1">
                <a:solidFill>
                  <a:schemeClr val="accent4"/>
                </a:solidFill>
                <a:latin typeface="Consolas" panose="020B0609020204030204" pitchFamily="49" charset="0"/>
                <a:cs typeface="Consolas" panose="020B0609020204030204" pitchFamily="49" charset="0"/>
              </a:rPr>
              <a:t>Number</a:t>
            </a:r>
            <a:r>
              <a:rPr lang="fr-FR" sz="2400" dirty="0"/>
              <a:t>), pour empêcher de créer des couples de </a:t>
            </a:r>
            <a:r>
              <a:rPr lang="fr-FR" sz="2000" dirty="0">
                <a:solidFill>
                  <a:schemeClr val="accent4"/>
                </a:solidFill>
                <a:latin typeface="Consolas" panose="020B0609020204030204" pitchFamily="49" charset="0"/>
                <a:cs typeface="Consolas" panose="020B0609020204030204" pitchFamily="49" charset="0"/>
              </a:rPr>
              <a:t>String</a:t>
            </a:r>
            <a:r>
              <a:rPr lang="fr-FR" sz="2400" dirty="0"/>
              <a:t> ou </a:t>
            </a:r>
            <a:r>
              <a:rPr lang="fr-FR" sz="2000" dirty="0">
                <a:solidFill>
                  <a:schemeClr val="accent4"/>
                </a:solidFill>
                <a:latin typeface="Consolas" panose="020B0609020204030204" pitchFamily="49" charset="0"/>
                <a:cs typeface="Consolas" panose="020B0609020204030204" pitchFamily="49" charset="0"/>
              </a:rPr>
              <a:t>d’Etudiant</a:t>
            </a:r>
            <a:r>
              <a:rPr lang="fr-FR" sz="2400" dirty="0"/>
              <a:t> mais permettre de créer des couples </a:t>
            </a:r>
            <a:r>
              <a:rPr lang="fr-FR" sz="2000" dirty="0">
                <a:solidFill>
                  <a:schemeClr val="accent4"/>
                </a:solidFill>
                <a:latin typeface="Consolas" panose="020B0609020204030204" pitchFamily="49" charset="0"/>
                <a:cs typeface="Consolas" panose="020B0609020204030204" pitchFamily="49" charset="0"/>
              </a:rPr>
              <a:t>d’Integer</a:t>
            </a:r>
            <a:r>
              <a:rPr lang="fr-FR" sz="2400" dirty="0"/>
              <a:t> ou de </a:t>
            </a:r>
            <a:r>
              <a:rPr lang="fr-FR" sz="2000" dirty="0">
                <a:solidFill>
                  <a:schemeClr val="accent4"/>
                </a:solidFill>
                <a:latin typeface="Consolas" panose="020B0609020204030204" pitchFamily="49" charset="0"/>
                <a:cs typeface="Consolas" panose="020B0609020204030204" pitchFamily="49" charset="0"/>
              </a:rPr>
              <a:t>Double</a:t>
            </a:r>
            <a:r>
              <a:rPr lang="fr-FR" sz="2400" dirty="0"/>
              <a:t>.</a:t>
            </a:r>
          </a:p>
          <a:p>
            <a:pPr marL="0" indent="0">
              <a:buNone/>
            </a:pPr>
            <a:endParaRPr lang="fr-FR" sz="2400" dirty="0"/>
          </a:p>
        </p:txBody>
      </p:sp>
      <p:sp>
        <p:nvSpPr>
          <p:cNvPr id="7" name="ZoneTexte 6">
            <a:extLst>
              <a:ext uri="{FF2B5EF4-FFF2-40B4-BE49-F238E27FC236}">
                <a16:creationId xmlns:a16="http://schemas.microsoft.com/office/drawing/2014/main" id="{11E414F7-CDBE-B80C-96B6-90FA444EDF9A}"/>
              </a:ext>
            </a:extLst>
          </p:cNvPr>
          <p:cNvSpPr txBox="1"/>
          <p:nvPr/>
        </p:nvSpPr>
        <p:spPr>
          <a:xfrm>
            <a:off x="1086678" y="3329812"/>
            <a:ext cx="10018644" cy="430887"/>
          </a:xfrm>
          <a:prstGeom prst="rect">
            <a:avLst/>
          </a:prstGeom>
          <a:solidFill>
            <a:srgbClr val="2B2B2B"/>
          </a:solidFill>
        </p:spPr>
        <p:txBody>
          <a:bodyPr wrap="square">
            <a:spAutoFit/>
          </a:bodyPr>
          <a:lstStyle/>
          <a:p>
            <a:r>
              <a:rPr lang="fr-BE" sz="2200" dirty="0">
                <a:solidFill>
                  <a:srgbClr val="CC7832"/>
                </a:solidFill>
                <a:effectLst/>
                <a:latin typeface="Consolas" panose="020B0609020204030204" pitchFamily="49" charset="0"/>
                <a:cs typeface="Consolas" panose="020B0609020204030204" pitchFamily="49" charset="0"/>
              </a:rPr>
              <a:t>class </a:t>
            </a:r>
            <a:r>
              <a:rPr lang="fr-BE" sz="2200" dirty="0">
                <a:latin typeface="Consolas" panose="020B0609020204030204" pitchFamily="49" charset="0"/>
                <a:cs typeface="Consolas" panose="020B0609020204030204" pitchFamily="49" charset="0"/>
              </a:rPr>
              <a:t>Couple&lt;</a:t>
            </a:r>
            <a:r>
              <a:rPr lang="fr-BE" sz="2200" dirty="0" err="1">
                <a:solidFill>
                  <a:srgbClr val="507874"/>
                </a:solidFill>
                <a:effectLst/>
                <a:latin typeface="Consolas" panose="020B0609020204030204" pitchFamily="49" charset="0"/>
                <a:cs typeface="Consolas" panose="020B0609020204030204" pitchFamily="49" charset="0"/>
              </a:rPr>
              <a:t>T</a:t>
            </a:r>
            <a:r>
              <a:rPr lang="fr-BE" sz="2200" dirty="0">
                <a:solidFill>
                  <a:srgbClr val="507874"/>
                </a:solidFill>
                <a:effectLst/>
                <a:latin typeface="Consolas" panose="020B0609020204030204" pitchFamily="49" charset="0"/>
                <a:cs typeface="Consolas" panose="020B0609020204030204" pitchFamily="49" charset="0"/>
              </a:rPr>
              <a:t> </a:t>
            </a:r>
            <a:r>
              <a:rPr lang="fr-BE" sz="2200" dirty="0" err="1">
                <a:solidFill>
                  <a:srgbClr val="CC7832"/>
                </a:solidFill>
                <a:effectLst/>
                <a:latin typeface="Consolas" panose="020B0609020204030204" pitchFamily="49" charset="0"/>
                <a:cs typeface="Consolas" panose="020B0609020204030204" pitchFamily="49" charset="0"/>
              </a:rPr>
              <a:t>extends</a:t>
            </a:r>
            <a:r>
              <a:rPr lang="fr-BE" sz="2200" dirty="0">
                <a:solidFill>
                  <a:srgbClr val="CC7832"/>
                </a:solidFill>
                <a:effectLst/>
                <a:latin typeface="Consolas" panose="020B0609020204030204" pitchFamily="49" charset="0"/>
                <a:cs typeface="Consolas" panose="020B0609020204030204" pitchFamily="49" charset="0"/>
              </a:rPr>
              <a:t> </a:t>
            </a:r>
            <a:r>
              <a:rPr lang="fr-BE" sz="2200" dirty="0" err="1">
                <a:latin typeface="Consolas" panose="020B0609020204030204" pitchFamily="49" charset="0"/>
                <a:cs typeface="Consolas" panose="020B0609020204030204" pitchFamily="49" charset="0"/>
              </a:rPr>
              <a:t>Number</a:t>
            </a:r>
            <a:r>
              <a:rPr lang="fr-BE" sz="2200" dirty="0">
                <a:latin typeface="Consolas" panose="020B0609020204030204" pitchFamily="49" charset="0"/>
                <a:cs typeface="Consolas" panose="020B0609020204030204" pitchFamily="49" charset="0"/>
              </a:rPr>
              <a:t>&gt; { </a:t>
            </a:r>
            <a:r>
              <a:rPr lang="fr-BE" sz="2200" dirty="0">
                <a:solidFill>
                  <a:srgbClr val="808080"/>
                </a:solidFill>
                <a:effectLst/>
                <a:latin typeface="Consolas" panose="020B0609020204030204" pitchFamily="49" charset="0"/>
                <a:cs typeface="Consolas" panose="020B0609020204030204" pitchFamily="49" charset="0"/>
              </a:rPr>
              <a:t>/* le reste est identique */ </a:t>
            </a:r>
            <a:r>
              <a:rPr lang="fr-BE" sz="2200" dirty="0">
                <a:latin typeface="Consolas" panose="020B0609020204030204" pitchFamily="49" charset="0"/>
                <a:cs typeface="Consolas" panose="020B0609020204030204" pitchFamily="49" charset="0"/>
              </a:rPr>
              <a:t>}</a:t>
            </a:r>
            <a:endParaRPr lang="fr-FR" sz="2200" dirty="0">
              <a:latin typeface="Consolas" panose="020B0609020204030204" pitchFamily="49" charset="0"/>
              <a:cs typeface="Consolas" panose="020B0609020204030204" pitchFamily="49" charset="0"/>
            </a:endParaRPr>
          </a:p>
        </p:txBody>
      </p:sp>
      <p:sp>
        <p:nvSpPr>
          <p:cNvPr id="9" name="ZoneTexte 8">
            <a:extLst>
              <a:ext uri="{FF2B5EF4-FFF2-40B4-BE49-F238E27FC236}">
                <a16:creationId xmlns:a16="http://schemas.microsoft.com/office/drawing/2014/main" id="{5839F848-F85B-6BCB-77B1-C1EF6BA439C5}"/>
              </a:ext>
            </a:extLst>
          </p:cNvPr>
          <p:cNvSpPr txBox="1"/>
          <p:nvPr/>
        </p:nvSpPr>
        <p:spPr>
          <a:xfrm>
            <a:off x="838200" y="4014270"/>
            <a:ext cx="10515600" cy="830997"/>
          </a:xfrm>
          <a:prstGeom prst="rect">
            <a:avLst/>
          </a:prstGeom>
          <a:noFill/>
        </p:spPr>
        <p:txBody>
          <a:bodyPr wrap="square">
            <a:spAutoFit/>
          </a:bodyPr>
          <a:lstStyle/>
          <a:p>
            <a:pPr marL="0" indent="0">
              <a:buNone/>
            </a:pPr>
            <a:r>
              <a:rPr lang="fr-FR" sz="2400" dirty="0"/>
              <a:t>À la compilation, le mécanisme d’effacement remplacera </a:t>
            </a:r>
            <a:r>
              <a:rPr lang="fr-FR" sz="2000" dirty="0" err="1">
                <a:solidFill>
                  <a:schemeClr val="accent4"/>
                </a:solidFill>
                <a:latin typeface="Consolas" panose="020B0609020204030204" pitchFamily="49" charset="0"/>
                <a:cs typeface="Consolas" panose="020B0609020204030204" pitchFamily="49" charset="0"/>
              </a:rPr>
              <a:t>T</a:t>
            </a:r>
            <a:r>
              <a:rPr lang="fr-FR" sz="2400" dirty="0"/>
              <a:t> par </a:t>
            </a:r>
            <a:r>
              <a:rPr lang="fr-FR" sz="2000" dirty="0" err="1">
                <a:solidFill>
                  <a:schemeClr val="accent4"/>
                </a:solidFill>
                <a:latin typeface="Consolas" panose="020B0609020204030204" pitchFamily="49" charset="0"/>
                <a:cs typeface="Consolas" panose="020B0609020204030204" pitchFamily="49" charset="0"/>
              </a:rPr>
              <a:t>Number</a:t>
            </a:r>
            <a:r>
              <a:rPr lang="fr-FR" sz="2400" dirty="0"/>
              <a:t>, et plus par </a:t>
            </a:r>
            <a:r>
              <a:rPr lang="fr-FR" sz="2000" dirty="0">
                <a:solidFill>
                  <a:schemeClr val="accent4"/>
                </a:solidFill>
                <a:latin typeface="Consolas" panose="020B0609020204030204" pitchFamily="49" charset="0"/>
                <a:cs typeface="Consolas" panose="020B0609020204030204" pitchFamily="49" charset="0"/>
              </a:rPr>
              <a:t>Object</a:t>
            </a:r>
            <a:r>
              <a:rPr lang="fr-FR" sz="2400" dirty="0"/>
              <a:t> comme dans le cas général.</a:t>
            </a:r>
          </a:p>
        </p:txBody>
      </p:sp>
      <p:sp>
        <p:nvSpPr>
          <p:cNvPr id="4" name="Espace réservé du numéro de diapositive 3">
            <a:extLst>
              <a:ext uri="{FF2B5EF4-FFF2-40B4-BE49-F238E27FC236}">
                <a16:creationId xmlns:a16="http://schemas.microsoft.com/office/drawing/2014/main" id="{E0EF6E89-6581-5F9B-2C06-A6147B293F7A}"/>
              </a:ext>
            </a:extLst>
          </p:cNvPr>
          <p:cNvSpPr>
            <a:spLocks noGrp="1"/>
          </p:cNvSpPr>
          <p:nvPr>
            <p:ph type="sldNum" sz="quarter" idx="4"/>
          </p:nvPr>
        </p:nvSpPr>
        <p:spPr/>
        <p:txBody>
          <a:bodyPr/>
          <a:lstStyle/>
          <a:p>
            <a:fld id="{33C783E2-4793-4F48-A271-51A73CC37D74}" type="slidenum">
              <a:rPr lang="fr-FR" smtClean="0"/>
              <a:t>36</a:t>
            </a:fld>
            <a:endParaRPr lang="fr-FR"/>
          </a:p>
        </p:txBody>
      </p:sp>
    </p:spTree>
    <p:extLst>
      <p:ext uri="{BB962C8B-B14F-4D97-AF65-F5344CB8AC3E}">
        <p14:creationId xmlns:p14="http://schemas.microsoft.com/office/powerpoint/2010/main" val="3559539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3424FA-B311-AE48-8395-71D7C77A64C5}"/>
              </a:ext>
            </a:extLst>
          </p:cNvPr>
          <p:cNvSpPr>
            <a:spLocks noGrp="1"/>
          </p:cNvSpPr>
          <p:nvPr>
            <p:ph type="title"/>
          </p:nvPr>
        </p:nvSpPr>
        <p:spPr/>
        <p:txBody>
          <a:bodyPr>
            <a:normAutofit fontScale="90000"/>
          </a:bodyPr>
          <a:lstStyle/>
          <a:p>
            <a:r>
              <a:rPr lang="fr-FR" dirty="0"/>
              <a:t>Limitations sur le type &lt;</a:t>
            </a:r>
            <a:r>
              <a:rPr lang="fr-FR" dirty="0" err="1"/>
              <a:t>T</a:t>
            </a:r>
            <a:r>
              <a:rPr lang="fr-FR" dirty="0"/>
              <a:t>&gt; d’une méthode</a:t>
            </a:r>
          </a:p>
        </p:txBody>
      </p:sp>
      <p:sp>
        <p:nvSpPr>
          <p:cNvPr id="3" name="Espace réservé du contenu 2">
            <a:extLst>
              <a:ext uri="{FF2B5EF4-FFF2-40B4-BE49-F238E27FC236}">
                <a16:creationId xmlns:a16="http://schemas.microsoft.com/office/drawing/2014/main" id="{4F37A94A-1BDE-5A41-925A-D9D3336EF459}"/>
              </a:ext>
            </a:extLst>
          </p:cNvPr>
          <p:cNvSpPr>
            <a:spLocks noGrp="1"/>
          </p:cNvSpPr>
          <p:nvPr>
            <p:ph idx="1"/>
          </p:nvPr>
        </p:nvSpPr>
        <p:spPr/>
        <p:txBody>
          <a:bodyPr>
            <a:noAutofit/>
          </a:bodyPr>
          <a:lstStyle/>
          <a:p>
            <a:pPr marL="0" indent="0">
              <a:buNone/>
            </a:pPr>
            <a:r>
              <a:rPr lang="fr-FR" sz="2400" dirty="0"/>
              <a:t>C’est </a:t>
            </a:r>
            <a:r>
              <a:rPr lang="fr-FR" sz="2400" dirty="0">
                <a:solidFill>
                  <a:schemeClr val="accent4"/>
                </a:solidFill>
              </a:rPr>
              <a:t>aussi valable pour les méthodes </a:t>
            </a:r>
            <a:r>
              <a:rPr lang="fr-FR" sz="2400" dirty="0"/>
              <a:t>génériques.</a:t>
            </a:r>
          </a:p>
        </p:txBody>
      </p:sp>
      <p:sp>
        <p:nvSpPr>
          <p:cNvPr id="7" name="ZoneTexte 6">
            <a:extLst>
              <a:ext uri="{FF2B5EF4-FFF2-40B4-BE49-F238E27FC236}">
                <a16:creationId xmlns:a16="http://schemas.microsoft.com/office/drawing/2014/main" id="{E16CE5A9-47C3-F397-4C40-92F56480C88C}"/>
              </a:ext>
            </a:extLst>
          </p:cNvPr>
          <p:cNvSpPr txBox="1"/>
          <p:nvPr/>
        </p:nvSpPr>
        <p:spPr>
          <a:xfrm>
            <a:off x="1622065" y="2321004"/>
            <a:ext cx="8953170" cy="1107996"/>
          </a:xfrm>
          <a:prstGeom prst="rect">
            <a:avLst/>
          </a:prstGeom>
          <a:solidFill>
            <a:srgbClr val="2B2B2B"/>
          </a:solidFill>
        </p:spPr>
        <p:txBody>
          <a:bodyPr wrap="square">
            <a:spAutoFit/>
          </a:bodyPr>
          <a:lstStyle/>
          <a:p>
            <a:r>
              <a:rPr lang="fr-BE" sz="2200" dirty="0">
                <a:solidFill>
                  <a:srgbClr val="CC7832"/>
                </a:solidFill>
                <a:effectLst/>
                <a:latin typeface="Consolas" panose="020B0609020204030204" pitchFamily="49" charset="0"/>
                <a:cs typeface="Consolas" panose="020B0609020204030204" pitchFamily="49" charset="0"/>
              </a:rPr>
              <a:t>public </a:t>
            </a:r>
            <a:r>
              <a:rPr lang="fr-BE" sz="2200" dirty="0" err="1">
                <a:solidFill>
                  <a:srgbClr val="CC7832"/>
                </a:solidFill>
                <a:effectLst/>
                <a:latin typeface="Consolas" panose="020B0609020204030204" pitchFamily="49" charset="0"/>
                <a:cs typeface="Consolas" panose="020B0609020204030204" pitchFamily="49" charset="0"/>
              </a:rPr>
              <a:t>static</a:t>
            </a:r>
            <a:r>
              <a:rPr lang="fr-BE" sz="2200" dirty="0">
                <a:solidFill>
                  <a:srgbClr val="CC7832"/>
                </a:solidFill>
                <a:effectLst/>
                <a:latin typeface="Consolas" panose="020B0609020204030204" pitchFamily="49" charset="0"/>
                <a:cs typeface="Consolas" panose="020B0609020204030204" pitchFamily="49" charset="0"/>
              </a:rPr>
              <a:t> </a:t>
            </a:r>
            <a:r>
              <a:rPr lang="fr-BE" sz="2200" dirty="0">
                <a:latin typeface="Consolas" panose="020B0609020204030204" pitchFamily="49" charset="0"/>
                <a:cs typeface="Consolas" panose="020B0609020204030204" pitchFamily="49" charset="0"/>
              </a:rPr>
              <a:t>&lt;</a:t>
            </a:r>
            <a:r>
              <a:rPr lang="fr-BE" sz="2200" dirty="0" err="1">
                <a:solidFill>
                  <a:srgbClr val="507874"/>
                </a:solidFill>
                <a:effectLst/>
                <a:latin typeface="Consolas" panose="020B0609020204030204" pitchFamily="49" charset="0"/>
                <a:cs typeface="Consolas" panose="020B0609020204030204" pitchFamily="49" charset="0"/>
              </a:rPr>
              <a:t>T</a:t>
            </a:r>
            <a:r>
              <a:rPr lang="fr-BE" sz="2200" dirty="0">
                <a:solidFill>
                  <a:srgbClr val="507874"/>
                </a:solidFill>
                <a:effectLst/>
                <a:latin typeface="Consolas" panose="020B0609020204030204" pitchFamily="49" charset="0"/>
                <a:cs typeface="Consolas" panose="020B0609020204030204" pitchFamily="49" charset="0"/>
              </a:rPr>
              <a:t> </a:t>
            </a:r>
            <a:r>
              <a:rPr lang="fr-BE" sz="2200" dirty="0" err="1">
                <a:solidFill>
                  <a:srgbClr val="CC7832"/>
                </a:solidFill>
                <a:effectLst/>
                <a:latin typeface="Consolas" panose="020B0609020204030204" pitchFamily="49" charset="0"/>
                <a:cs typeface="Consolas" panose="020B0609020204030204" pitchFamily="49" charset="0"/>
              </a:rPr>
              <a:t>extends</a:t>
            </a:r>
            <a:r>
              <a:rPr lang="fr-BE" sz="2200" dirty="0">
                <a:solidFill>
                  <a:srgbClr val="CC7832"/>
                </a:solidFill>
                <a:effectLst/>
                <a:latin typeface="Consolas" panose="020B0609020204030204" pitchFamily="49" charset="0"/>
                <a:cs typeface="Consolas" panose="020B0609020204030204" pitchFamily="49" charset="0"/>
              </a:rPr>
              <a:t> </a:t>
            </a:r>
            <a:r>
              <a:rPr lang="fr-BE" sz="2200" dirty="0" err="1">
                <a:latin typeface="Consolas" panose="020B0609020204030204" pitchFamily="49" charset="0"/>
                <a:cs typeface="Consolas" panose="020B0609020204030204" pitchFamily="49" charset="0"/>
              </a:rPr>
              <a:t>Number</a:t>
            </a:r>
            <a:r>
              <a:rPr lang="fr-BE" sz="2200" dirty="0">
                <a:latin typeface="Consolas" panose="020B0609020204030204" pitchFamily="49" charset="0"/>
                <a:cs typeface="Consolas" panose="020B0609020204030204" pitchFamily="49" charset="0"/>
              </a:rPr>
              <a:t>&gt; </a:t>
            </a:r>
            <a:r>
              <a:rPr lang="fr-BE" sz="2200" dirty="0" err="1">
                <a:solidFill>
                  <a:srgbClr val="507874"/>
                </a:solidFill>
                <a:effectLst/>
                <a:latin typeface="Consolas" panose="020B0609020204030204" pitchFamily="49" charset="0"/>
                <a:cs typeface="Consolas" panose="020B0609020204030204" pitchFamily="49" charset="0"/>
              </a:rPr>
              <a:t>T</a:t>
            </a:r>
            <a:r>
              <a:rPr lang="fr-BE" sz="2200" dirty="0">
                <a:solidFill>
                  <a:srgbClr val="507874"/>
                </a:solidFill>
                <a:effectLst/>
                <a:latin typeface="Consolas" panose="020B0609020204030204" pitchFamily="49" charset="0"/>
                <a:cs typeface="Consolas" panose="020B0609020204030204" pitchFamily="49" charset="0"/>
              </a:rPr>
              <a:t> </a:t>
            </a:r>
            <a:r>
              <a:rPr lang="fr-BE" sz="2200" dirty="0">
                <a:solidFill>
                  <a:srgbClr val="FFC66D"/>
                </a:solidFill>
                <a:effectLst/>
                <a:latin typeface="Consolas" panose="020B0609020204030204" pitchFamily="49" charset="0"/>
                <a:cs typeface="Consolas" panose="020B0609020204030204" pitchFamily="49" charset="0"/>
              </a:rPr>
              <a:t>hasard</a:t>
            </a:r>
            <a:r>
              <a:rPr lang="fr-BE" sz="2200" dirty="0">
                <a:latin typeface="Consolas" panose="020B0609020204030204" pitchFamily="49" charset="0"/>
                <a:cs typeface="Consolas" panose="020B0609020204030204" pitchFamily="49" charset="0"/>
              </a:rPr>
              <a:t>(</a:t>
            </a:r>
            <a:r>
              <a:rPr lang="fr-BE" sz="2200" dirty="0" err="1">
                <a:solidFill>
                  <a:srgbClr val="507874"/>
                </a:solidFill>
                <a:effectLst/>
                <a:latin typeface="Consolas" panose="020B0609020204030204" pitchFamily="49" charset="0"/>
                <a:cs typeface="Consolas" panose="020B0609020204030204" pitchFamily="49" charset="0"/>
              </a:rPr>
              <a:t>T</a:t>
            </a:r>
            <a:r>
              <a:rPr lang="fr-BE" sz="2200" dirty="0">
                <a:latin typeface="Consolas" panose="020B0609020204030204" pitchFamily="49" charset="0"/>
                <a:cs typeface="Consolas" panose="020B0609020204030204" pitchFamily="49" charset="0"/>
              </a:rPr>
              <a:t>[] values) {</a:t>
            </a:r>
          </a:p>
          <a:p>
            <a:r>
              <a:rPr lang="fr-BE" sz="2200" dirty="0">
                <a:solidFill>
                  <a:srgbClr val="808080"/>
                </a:solidFill>
                <a:effectLst/>
                <a:latin typeface="Consolas" panose="020B0609020204030204" pitchFamily="49" charset="0"/>
                <a:cs typeface="Consolas" panose="020B0609020204030204" pitchFamily="49" charset="0"/>
              </a:rPr>
              <a:t>    /* le reste est identique */ </a:t>
            </a:r>
          </a:p>
          <a:p>
            <a:r>
              <a:rPr lang="fr-BE" sz="2200" dirty="0">
                <a:latin typeface="Consolas" panose="020B0609020204030204" pitchFamily="49" charset="0"/>
                <a:cs typeface="Consolas" panose="020B0609020204030204" pitchFamily="49" charset="0"/>
              </a:rPr>
              <a:t>}</a:t>
            </a:r>
            <a:endParaRPr lang="fr-FR" sz="2200" dirty="0">
              <a:latin typeface="Consolas" panose="020B0609020204030204" pitchFamily="49" charset="0"/>
              <a:cs typeface="Consolas" panose="020B0609020204030204" pitchFamily="49" charset="0"/>
            </a:endParaRPr>
          </a:p>
        </p:txBody>
      </p:sp>
      <p:sp>
        <p:nvSpPr>
          <p:cNvPr id="9" name="ZoneTexte 8">
            <a:extLst>
              <a:ext uri="{FF2B5EF4-FFF2-40B4-BE49-F238E27FC236}">
                <a16:creationId xmlns:a16="http://schemas.microsoft.com/office/drawing/2014/main" id="{C271D540-2BE9-E28A-EC8B-13339D91D6BA}"/>
              </a:ext>
            </a:extLst>
          </p:cNvPr>
          <p:cNvSpPr txBox="1"/>
          <p:nvPr/>
        </p:nvSpPr>
        <p:spPr>
          <a:xfrm>
            <a:off x="1554480" y="4073257"/>
            <a:ext cx="4289729" cy="430887"/>
          </a:xfrm>
          <a:prstGeom prst="rect">
            <a:avLst/>
          </a:prstGeom>
          <a:solidFill>
            <a:srgbClr val="2B2B2B"/>
          </a:solidFill>
        </p:spPr>
        <p:txBody>
          <a:bodyPr wrap="square">
            <a:spAutoFit/>
          </a:bodyPr>
          <a:lstStyle/>
          <a:p>
            <a:r>
              <a:rPr lang="fr-BE" sz="2200" dirty="0">
                <a:latin typeface="Consolas" panose="020B0609020204030204" pitchFamily="49" charset="0"/>
                <a:cs typeface="Consolas" panose="020B0609020204030204" pitchFamily="49" charset="0"/>
              </a:rPr>
              <a:t>d = </a:t>
            </a:r>
            <a:r>
              <a:rPr lang="fr-BE" sz="2200" i="1" dirty="0">
                <a:effectLst/>
                <a:latin typeface="Consolas" panose="020B0609020204030204" pitchFamily="49" charset="0"/>
                <a:cs typeface="Consolas" panose="020B0609020204030204" pitchFamily="49" charset="0"/>
              </a:rPr>
              <a:t>hasard</a:t>
            </a:r>
            <a:r>
              <a:rPr lang="fr-BE" sz="2200" dirty="0">
                <a:latin typeface="Consolas" panose="020B0609020204030204" pitchFamily="49" charset="0"/>
                <a:cs typeface="Consolas" panose="020B0609020204030204" pitchFamily="49" charset="0"/>
              </a:rPr>
              <a:t>(. . .)</a:t>
            </a:r>
            <a:r>
              <a:rPr lang="fr-BE" sz="2200" dirty="0">
                <a:solidFill>
                  <a:srgbClr val="CC7832"/>
                </a:solidFill>
                <a:effectLst/>
                <a:latin typeface="Consolas" panose="020B0609020204030204" pitchFamily="49" charset="0"/>
                <a:cs typeface="Consolas" panose="020B0609020204030204" pitchFamily="49" charset="0"/>
              </a:rPr>
              <a:t>;</a:t>
            </a:r>
            <a:endParaRPr lang="fr-FR" sz="2200" dirty="0">
              <a:latin typeface="Consolas" panose="020B0609020204030204" pitchFamily="49" charset="0"/>
              <a:cs typeface="Consolas" panose="020B0609020204030204" pitchFamily="49" charset="0"/>
            </a:endParaRPr>
          </a:p>
        </p:txBody>
      </p:sp>
      <p:sp>
        <p:nvSpPr>
          <p:cNvPr id="10" name="Espace réservé du contenu 2">
            <a:extLst>
              <a:ext uri="{FF2B5EF4-FFF2-40B4-BE49-F238E27FC236}">
                <a16:creationId xmlns:a16="http://schemas.microsoft.com/office/drawing/2014/main" id="{0F6AD6AD-CEA0-B567-7C09-164CBDF025E4}"/>
              </a:ext>
            </a:extLst>
          </p:cNvPr>
          <p:cNvSpPr txBox="1">
            <a:spLocks/>
          </p:cNvSpPr>
          <p:nvPr/>
        </p:nvSpPr>
        <p:spPr>
          <a:xfrm>
            <a:off x="838200" y="3670327"/>
            <a:ext cx="10515600" cy="83381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2400" dirty="0"/>
              <a:t>Un appel comme</a:t>
            </a:r>
          </a:p>
        </p:txBody>
      </p:sp>
      <p:sp>
        <p:nvSpPr>
          <p:cNvPr id="11" name="Espace réservé du contenu 2">
            <a:extLst>
              <a:ext uri="{FF2B5EF4-FFF2-40B4-BE49-F238E27FC236}">
                <a16:creationId xmlns:a16="http://schemas.microsoft.com/office/drawing/2014/main" id="{6131EEB3-7253-4A83-D373-8FACBAA49A86}"/>
              </a:ext>
            </a:extLst>
          </p:cNvPr>
          <p:cNvSpPr txBox="1">
            <a:spLocks/>
          </p:cNvSpPr>
          <p:nvPr/>
        </p:nvSpPr>
        <p:spPr>
          <a:xfrm>
            <a:off x="838200" y="4597845"/>
            <a:ext cx="10515600" cy="6758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2400" dirty="0"/>
              <a:t>Sera dès lors traduit par le compilateur comme si on avait écrit </a:t>
            </a:r>
          </a:p>
        </p:txBody>
      </p:sp>
      <p:sp>
        <p:nvSpPr>
          <p:cNvPr id="12" name="ZoneTexte 11">
            <a:extLst>
              <a:ext uri="{FF2B5EF4-FFF2-40B4-BE49-F238E27FC236}">
                <a16:creationId xmlns:a16="http://schemas.microsoft.com/office/drawing/2014/main" id="{557B06A2-DFC9-84FC-B53E-71A094B12B0C}"/>
              </a:ext>
            </a:extLst>
          </p:cNvPr>
          <p:cNvSpPr txBox="1"/>
          <p:nvPr/>
        </p:nvSpPr>
        <p:spPr>
          <a:xfrm>
            <a:off x="1554480" y="5058258"/>
            <a:ext cx="4289729" cy="430887"/>
          </a:xfrm>
          <a:prstGeom prst="rect">
            <a:avLst/>
          </a:prstGeom>
          <a:solidFill>
            <a:srgbClr val="2B2B2B"/>
          </a:solidFill>
        </p:spPr>
        <p:txBody>
          <a:bodyPr wrap="square">
            <a:spAutoFit/>
          </a:bodyPr>
          <a:lstStyle/>
          <a:p>
            <a:r>
              <a:rPr lang="fr-BE" sz="2200" dirty="0">
                <a:latin typeface="Consolas" panose="020B0609020204030204" pitchFamily="49" charset="0"/>
                <a:cs typeface="Consolas" panose="020B0609020204030204" pitchFamily="49" charset="0"/>
              </a:rPr>
              <a:t>d = (</a:t>
            </a:r>
            <a:r>
              <a:rPr lang="fr-BE" sz="2200" dirty="0" err="1">
                <a:latin typeface="Consolas" panose="020B0609020204030204" pitchFamily="49" charset="0"/>
                <a:cs typeface="Consolas" panose="020B0609020204030204" pitchFamily="49" charset="0"/>
              </a:rPr>
              <a:t>Number</a:t>
            </a:r>
            <a:r>
              <a:rPr lang="fr-BE" sz="2200" dirty="0">
                <a:latin typeface="Consolas" panose="020B0609020204030204" pitchFamily="49" charset="0"/>
                <a:cs typeface="Consolas" panose="020B0609020204030204" pitchFamily="49" charset="0"/>
              </a:rPr>
              <a:t>)</a:t>
            </a:r>
            <a:r>
              <a:rPr lang="fr-BE" sz="2200" i="1" dirty="0">
                <a:effectLst/>
                <a:latin typeface="Consolas" panose="020B0609020204030204" pitchFamily="49" charset="0"/>
                <a:cs typeface="Consolas" panose="020B0609020204030204" pitchFamily="49" charset="0"/>
              </a:rPr>
              <a:t>hasard</a:t>
            </a:r>
            <a:r>
              <a:rPr lang="fr-BE" sz="2200" dirty="0">
                <a:latin typeface="Consolas" panose="020B0609020204030204" pitchFamily="49" charset="0"/>
                <a:cs typeface="Consolas" panose="020B0609020204030204" pitchFamily="49" charset="0"/>
              </a:rPr>
              <a:t>(. . .)</a:t>
            </a:r>
            <a:r>
              <a:rPr lang="fr-BE" sz="2200" dirty="0">
                <a:solidFill>
                  <a:srgbClr val="CC7832"/>
                </a:solidFill>
                <a:effectLst/>
                <a:latin typeface="Consolas" panose="020B0609020204030204" pitchFamily="49" charset="0"/>
                <a:cs typeface="Consolas" panose="020B0609020204030204" pitchFamily="49" charset="0"/>
              </a:rPr>
              <a:t>;</a:t>
            </a:r>
            <a:endParaRPr lang="fr-FR" sz="2200" dirty="0">
              <a:latin typeface="Consolas" panose="020B0609020204030204" pitchFamily="49" charset="0"/>
              <a:cs typeface="Consolas" panose="020B0609020204030204" pitchFamily="49" charset="0"/>
            </a:endParaRPr>
          </a:p>
        </p:txBody>
      </p:sp>
      <p:sp>
        <p:nvSpPr>
          <p:cNvPr id="13" name="Espace réservé du contenu 2">
            <a:extLst>
              <a:ext uri="{FF2B5EF4-FFF2-40B4-BE49-F238E27FC236}">
                <a16:creationId xmlns:a16="http://schemas.microsoft.com/office/drawing/2014/main" id="{B2A6484B-91E6-6E34-3A5A-57F317A9BB81}"/>
              </a:ext>
            </a:extLst>
          </p:cNvPr>
          <p:cNvSpPr txBox="1">
            <a:spLocks/>
          </p:cNvSpPr>
          <p:nvPr/>
        </p:nvSpPr>
        <p:spPr>
          <a:xfrm>
            <a:off x="838199" y="5672989"/>
            <a:ext cx="10945633" cy="67585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2400" dirty="0"/>
              <a:t>Ce qui explique pourquoi </a:t>
            </a:r>
            <a:r>
              <a:rPr lang="fr-FR" sz="2400" dirty="0">
                <a:solidFill>
                  <a:schemeClr val="accent4"/>
                </a:solidFill>
                <a:latin typeface="Consolas"/>
                <a:cs typeface="Consolas"/>
              </a:rPr>
              <a:t>Point p = hasard(...);</a:t>
            </a:r>
            <a:r>
              <a:rPr lang="fr-FR" sz="2400" dirty="0"/>
              <a:t> sera refusé par le compilateur.</a:t>
            </a:r>
          </a:p>
        </p:txBody>
      </p:sp>
      <p:sp>
        <p:nvSpPr>
          <p:cNvPr id="4" name="Espace réservé du numéro de diapositive 3">
            <a:extLst>
              <a:ext uri="{FF2B5EF4-FFF2-40B4-BE49-F238E27FC236}">
                <a16:creationId xmlns:a16="http://schemas.microsoft.com/office/drawing/2014/main" id="{1A233068-058B-192B-087D-D5324368DACE}"/>
              </a:ext>
            </a:extLst>
          </p:cNvPr>
          <p:cNvSpPr>
            <a:spLocks noGrp="1"/>
          </p:cNvSpPr>
          <p:nvPr>
            <p:ph type="sldNum" sz="quarter" idx="4"/>
          </p:nvPr>
        </p:nvSpPr>
        <p:spPr/>
        <p:txBody>
          <a:bodyPr/>
          <a:lstStyle/>
          <a:p>
            <a:fld id="{33C783E2-4793-4F48-A271-51A73CC37D74}" type="slidenum">
              <a:rPr lang="fr-FR" smtClean="0"/>
              <a:t>37</a:t>
            </a:fld>
            <a:endParaRPr lang="fr-FR"/>
          </a:p>
        </p:txBody>
      </p:sp>
    </p:spTree>
    <p:extLst>
      <p:ext uri="{BB962C8B-B14F-4D97-AF65-F5344CB8AC3E}">
        <p14:creationId xmlns:p14="http://schemas.microsoft.com/office/powerpoint/2010/main" val="53798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p:bldP spid="11" grpId="0"/>
      <p:bldP spid="12" grpId="0" animBg="1"/>
      <p:bldP spid="1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3424FA-B311-AE48-8395-71D7C77A64C5}"/>
              </a:ext>
            </a:extLst>
          </p:cNvPr>
          <p:cNvSpPr>
            <a:spLocks noGrp="1"/>
          </p:cNvSpPr>
          <p:nvPr>
            <p:ph type="title"/>
          </p:nvPr>
        </p:nvSpPr>
        <p:spPr/>
        <p:txBody>
          <a:bodyPr>
            <a:normAutofit fontScale="90000"/>
          </a:bodyPr>
          <a:lstStyle/>
          <a:p>
            <a:r>
              <a:rPr lang="fr-FR" dirty="0"/>
              <a:t>Le type &lt;</a:t>
            </a:r>
            <a:r>
              <a:rPr lang="fr-FR" dirty="0" err="1"/>
              <a:t>T</a:t>
            </a:r>
            <a:r>
              <a:rPr lang="fr-FR" dirty="0"/>
              <a:t>&gt; doit implémenter une interface</a:t>
            </a:r>
          </a:p>
        </p:txBody>
      </p:sp>
      <p:sp>
        <p:nvSpPr>
          <p:cNvPr id="3" name="Espace réservé du contenu 2">
            <a:extLst>
              <a:ext uri="{FF2B5EF4-FFF2-40B4-BE49-F238E27FC236}">
                <a16:creationId xmlns:a16="http://schemas.microsoft.com/office/drawing/2014/main" id="{4F37A94A-1BDE-5A41-925A-D9D3336EF459}"/>
              </a:ext>
            </a:extLst>
          </p:cNvPr>
          <p:cNvSpPr>
            <a:spLocks noGrp="1"/>
          </p:cNvSpPr>
          <p:nvPr>
            <p:ph idx="1"/>
          </p:nvPr>
        </p:nvSpPr>
        <p:spPr>
          <a:xfrm>
            <a:off x="838200" y="1825625"/>
            <a:ext cx="10515600" cy="830111"/>
          </a:xfrm>
        </p:spPr>
        <p:txBody>
          <a:bodyPr>
            <a:normAutofit/>
          </a:bodyPr>
          <a:lstStyle/>
          <a:p>
            <a:pPr marL="0" indent="0">
              <a:buNone/>
            </a:pPr>
            <a:r>
              <a:rPr lang="fr-FR" sz="2000" dirty="0"/>
              <a:t>Enfin, on peut aussi exiger que </a:t>
            </a:r>
            <a:r>
              <a:rPr lang="fr-FR" sz="2000" dirty="0">
                <a:solidFill>
                  <a:schemeClr val="accent4"/>
                </a:solidFill>
              </a:rPr>
              <a:t>le type implémente une interface</a:t>
            </a:r>
            <a:r>
              <a:rPr lang="fr-FR" sz="2000" dirty="0"/>
              <a:t>. Cela se fait en utilisant le mot clé </a:t>
            </a:r>
            <a:r>
              <a:rPr lang="fr-FR" sz="1800" dirty="0" err="1">
                <a:solidFill>
                  <a:schemeClr val="accent4"/>
                </a:solidFill>
                <a:latin typeface="Consolas"/>
                <a:cs typeface="Consolas"/>
              </a:rPr>
              <a:t>extends</a:t>
            </a:r>
            <a:r>
              <a:rPr lang="fr-FR" sz="2000" dirty="0"/>
              <a:t> (normalement réservé pour l’héritage).</a:t>
            </a:r>
          </a:p>
          <a:p>
            <a:pPr marL="0" indent="0">
              <a:buNone/>
            </a:pPr>
            <a:endParaRPr lang="fr-FR" sz="2000" dirty="0"/>
          </a:p>
        </p:txBody>
      </p:sp>
      <p:sp>
        <p:nvSpPr>
          <p:cNvPr id="7" name="ZoneTexte 6">
            <a:extLst>
              <a:ext uri="{FF2B5EF4-FFF2-40B4-BE49-F238E27FC236}">
                <a16:creationId xmlns:a16="http://schemas.microsoft.com/office/drawing/2014/main" id="{A0B4387A-85DC-050C-DDD6-5CB1A24F8AC1}"/>
              </a:ext>
            </a:extLst>
          </p:cNvPr>
          <p:cNvSpPr txBox="1"/>
          <p:nvPr/>
        </p:nvSpPr>
        <p:spPr>
          <a:xfrm>
            <a:off x="1407380" y="2583036"/>
            <a:ext cx="9382540" cy="369332"/>
          </a:xfrm>
          <a:prstGeom prst="rect">
            <a:avLst/>
          </a:prstGeom>
          <a:solidFill>
            <a:srgbClr val="2B2B2B"/>
          </a:solidFill>
        </p:spPr>
        <p:txBody>
          <a:bodyPr wrap="square">
            <a:spAutoFit/>
          </a:bodyPr>
          <a:lstStyle/>
          <a:p>
            <a:r>
              <a:rPr lang="fr-BE" dirty="0">
                <a:solidFill>
                  <a:srgbClr val="CC7832"/>
                </a:solidFill>
                <a:effectLst/>
                <a:latin typeface="Consolas" panose="020B0609020204030204" pitchFamily="49" charset="0"/>
                <a:cs typeface="Consolas" panose="020B0609020204030204" pitchFamily="49" charset="0"/>
              </a:rPr>
              <a:t>class </a:t>
            </a:r>
            <a:r>
              <a:rPr lang="fr-BE" dirty="0">
                <a:latin typeface="Consolas" panose="020B0609020204030204" pitchFamily="49" charset="0"/>
                <a:cs typeface="Consolas" panose="020B0609020204030204" pitchFamily="49" charset="0"/>
              </a:rPr>
              <a:t>Couple&lt;</a:t>
            </a:r>
            <a:r>
              <a:rPr lang="fr-BE" dirty="0" err="1">
                <a:solidFill>
                  <a:srgbClr val="507874"/>
                </a:solidFill>
                <a:effectLst/>
                <a:latin typeface="Consolas" panose="020B0609020204030204" pitchFamily="49" charset="0"/>
                <a:cs typeface="Consolas" panose="020B0609020204030204" pitchFamily="49" charset="0"/>
              </a:rPr>
              <a:t>T</a:t>
            </a:r>
            <a:r>
              <a:rPr lang="fr-BE" dirty="0">
                <a:solidFill>
                  <a:srgbClr val="507874"/>
                </a:solidFill>
                <a:effectLst/>
                <a:latin typeface="Consolas" panose="020B0609020204030204" pitchFamily="49" charset="0"/>
                <a:cs typeface="Consolas" panose="020B0609020204030204" pitchFamily="49" charset="0"/>
              </a:rPr>
              <a:t> </a:t>
            </a:r>
            <a:r>
              <a:rPr lang="fr-BE" dirty="0" err="1">
                <a:solidFill>
                  <a:srgbClr val="CC7832"/>
                </a:solidFill>
                <a:effectLst/>
                <a:latin typeface="Consolas" panose="020B0609020204030204" pitchFamily="49" charset="0"/>
                <a:cs typeface="Consolas" panose="020B0609020204030204" pitchFamily="49" charset="0"/>
              </a:rPr>
              <a:t>extends</a:t>
            </a: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Comparable&gt; { </a:t>
            </a:r>
            <a:r>
              <a:rPr lang="fr-BE" dirty="0">
                <a:solidFill>
                  <a:srgbClr val="808080"/>
                </a:solidFill>
                <a:effectLst/>
                <a:latin typeface="Consolas" panose="020B0609020204030204" pitchFamily="49" charset="0"/>
                <a:cs typeface="Consolas" panose="020B0609020204030204" pitchFamily="49" charset="0"/>
              </a:rPr>
              <a:t>/* Comparable est une interface */ </a:t>
            </a:r>
            <a:r>
              <a:rPr lang="fr-BE" dirty="0">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
        <p:nvSpPr>
          <p:cNvPr id="8" name="ZoneTexte 7">
            <a:extLst>
              <a:ext uri="{FF2B5EF4-FFF2-40B4-BE49-F238E27FC236}">
                <a16:creationId xmlns:a16="http://schemas.microsoft.com/office/drawing/2014/main" id="{1CC7F319-D7CA-2507-38A9-4E4508015C5C}"/>
              </a:ext>
            </a:extLst>
          </p:cNvPr>
          <p:cNvSpPr txBox="1"/>
          <p:nvPr/>
        </p:nvSpPr>
        <p:spPr>
          <a:xfrm>
            <a:off x="1407380" y="3536301"/>
            <a:ext cx="9382540" cy="369332"/>
          </a:xfrm>
          <a:prstGeom prst="rect">
            <a:avLst/>
          </a:prstGeom>
          <a:solidFill>
            <a:srgbClr val="2B2B2B"/>
          </a:solidFill>
        </p:spPr>
        <p:txBody>
          <a:bodyPr wrap="square">
            <a:spAutoFit/>
          </a:bodyPr>
          <a:lstStyle/>
          <a:p>
            <a:r>
              <a:rPr lang="fr-BE" dirty="0">
                <a:solidFill>
                  <a:srgbClr val="CC7832"/>
                </a:solidFill>
                <a:effectLst/>
                <a:latin typeface="Consolas" panose="020B0609020204030204" pitchFamily="49" charset="0"/>
                <a:cs typeface="Consolas" panose="020B0609020204030204" pitchFamily="49" charset="0"/>
              </a:rPr>
              <a:t>class </a:t>
            </a:r>
            <a:r>
              <a:rPr lang="fr-BE" dirty="0">
                <a:latin typeface="Consolas" panose="020B0609020204030204" pitchFamily="49" charset="0"/>
                <a:cs typeface="Consolas" panose="020B0609020204030204" pitchFamily="49" charset="0"/>
              </a:rPr>
              <a:t>Couple&lt;</a:t>
            </a:r>
            <a:r>
              <a:rPr lang="fr-BE" dirty="0" err="1">
                <a:solidFill>
                  <a:srgbClr val="507874"/>
                </a:solidFill>
                <a:effectLst/>
                <a:latin typeface="Consolas" panose="020B0609020204030204" pitchFamily="49" charset="0"/>
                <a:cs typeface="Consolas" panose="020B0609020204030204" pitchFamily="49" charset="0"/>
              </a:rPr>
              <a:t>T</a:t>
            </a:r>
            <a:r>
              <a:rPr lang="fr-BE" dirty="0">
                <a:solidFill>
                  <a:srgbClr val="507874"/>
                </a:solidFill>
                <a:effectLst/>
                <a:latin typeface="Consolas" panose="020B0609020204030204" pitchFamily="49" charset="0"/>
                <a:cs typeface="Consolas" panose="020B0609020204030204" pitchFamily="49" charset="0"/>
              </a:rPr>
              <a:t> </a:t>
            </a:r>
            <a:r>
              <a:rPr lang="fr-BE" dirty="0" err="1">
                <a:solidFill>
                  <a:srgbClr val="CC7832"/>
                </a:solidFill>
                <a:effectLst/>
                <a:latin typeface="Consolas" panose="020B0609020204030204" pitchFamily="49" charset="0"/>
                <a:cs typeface="Consolas" panose="020B0609020204030204" pitchFamily="49" charset="0"/>
              </a:rPr>
              <a:t>extends</a:t>
            </a: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Comparable &amp; </a:t>
            </a:r>
            <a:r>
              <a:rPr lang="fr-BE" dirty="0" err="1">
                <a:latin typeface="Consolas" panose="020B0609020204030204" pitchFamily="49" charset="0"/>
                <a:cs typeface="Consolas" panose="020B0609020204030204" pitchFamily="49" charset="0"/>
              </a:rPr>
              <a:t>Cloneable</a:t>
            </a:r>
            <a:r>
              <a:rPr lang="fr-BE" dirty="0">
                <a:latin typeface="Consolas" panose="020B0609020204030204" pitchFamily="49" charset="0"/>
                <a:cs typeface="Consolas" panose="020B0609020204030204" pitchFamily="49" charset="0"/>
              </a:rPr>
              <a:t> &gt; { </a:t>
            </a:r>
            <a:r>
              <a:rPr lang="fr-BE" dirty="0">
                <a:solidFill>
                  <a:srgbClr val="808080"/>
                </a:solidFill>
                <a:effectLst/>
                <a:latin typeface="Consolas" panose="020B0609020204030204" pitchFamily="49" charset="0"/>
                <a:cs typeface="Consolas" panose="020B0609020204030204" pitchFamily="49" charset="0"/>
              </a:rPr>
              <a:t>/* . . . */ </a:t>
            </a:r>
            <a:r>
              <a:rPr lang="fr-BE" dirty="0">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
        <p:nvSpPr>
          <p:cNvPr id="10" name="ZoneTexte 9">
            <a:extLst>
              <a:ext uri="{FF2B5EF4-FFF2-40B4-BE49-F238E27FC236}">
                <a16:creationId xmlns:a16="http://schemas.microsoft.com/office/drawing/2014/main" id="{DD723FD7-988F-8F31-F1A0-5F896B1E29B1}"/>
              </a:ext>
            </a:extLst>
          </p:cNvPr>
          <p:cNvSpPr txBox="1"/>
          <p:nvPr/>
        </p:nvSpPr>
        <p:spPr>
          <a:xfrm>
            <a:off x="838200" y="3123725"/>
            <a:ext cx="10510300" cy="400110"/>
          </a:xfrm>
          <a:prstGeom prst="rect">
            <a:avLst/>
          </a:prstGeom>
          <a:noFill/>
        </p:spPr>
        <p:txBody>
          <a:bodyPr wrap="square">
            <a:spAutoFit/>
          </a:bodyPr>
          <a:lstStyle/>
          <a:p>
            <a:pPr marL="0" indent="0">
              <a:buNone/>
            </a:pPr>
            <a:r>
              <a:rPr lang="fr-FR" sz="2000" dirty="0"/>
              <a:t>On peut aussi exiger que le type implémente plusieurs interfaces:</a:t>
            </a:r>
          </a:p>
        </p:txBody>
      </p:sp>
      <p:sp>
        <p:nvSpPr>
          <p:cNvPr id="11" name="ZoneTexte 10">
            <a:extLst>
              <a:ext uri="{FF2B5EF4-FFF2-40B4-BE49-F238E27FC236}">
                <a16:creationId xmlns:a16="http://schemas.microsoft.com/office/drawing/2014/main" id="{A1236DD2-E4FE-5099-325C-53D105EBEC7A}"/>
              </a:ext>
            </a:extLst>
          </p:cNvPr>
          <p:cNvSpPr txBox="1"/>
          <p:nvPr/>
        </p:nvSpPr>
        <p:spPr>
          <a:xfrm>
            <a:off x="838200" y="4039430"/>
            <a:ext cx="10510300" cy="400110"/>
          </a:xfrm>
          <a:prstGeom prst="rect">
            <a:avLst/>
          </a:prstGeom>
          <a:noFill/>
        </p:spPr>
        <p:txBody>
          <a:bodyPr wrap="square">
            <a:spAutoFit/>
          </a:bodyPr>
          <a:lstStyle/>
          <a:p>
            <a:pPr marL="0" indent="0">
              <a:buNone/>
            </a:pPr>
            <a:r>
              <a:rPr lang="fr-FR" sz="2000" dirty="0"/>
              <a:t>Le compilateur remplace </a:t>
            </a:r>
            <a:r>
              <a:rPr lang="fr-FR" dirty="0" err="1">
                <a:solidFill>
                  <a:schemeClr val="accent4"/>
                </a:solidFill>
                <a:latin typeface="Consolas" panose="020B0609020204030204" pitchFamily="49" charset="0"/>
                <a:cs typeface="Consolas" panose="020B0609020204030204" pitchFamily="49" charset="0"/>
              </a:rPr>
              <a:t>T</a:t>
            </a:r>
            <a:r>
              <a:rPr lang="fr-FR" sz="2000" dirty="0"/>
              <a:t> par la première interface.</a:t>
            </a:r>
          </a:p>
        </p:txBody>
      </p:sp>
      <p:sp>
        <p:nvSpPr>
          <p:cNvPr id="12" name="ZoneTexte 11">
            <a:extLst>
              <a:ext uri="{FF2B5EF4-FFF2-40B4-BE49-F238E27FC236}">
                <a16:creationId xmlns:a16="http://schemas.microsoft.com/office/drawing/2014/main" id="{362712FF-309B-7698-E44E-E0E36AEB858D}"/>
              </a:ext>
            </a:extLst>
          </p:cNvPr>
          <p:cNvSpPr txBox="1"/>
          <p:nvPr/>
        </p:nvSpPr>
        <p:spPr>
          <a:xfrm>
            <a:off x="1407380" y="4456478"/>
            <a:ext cx="9382540" cy="369332"/>
          </a:xfrm>
          <a:prstGeom prst="rect">
            <a:avLst/>
          </a:prstGeom>
          <a:solidFill>
            <a:srgbClr val="2B2B2B"/>
          </a:solidFill>
        </p:spPr>
        <p:txBody>
          <a:bodyPr wrap="square">
            <a:spAutoFit/>
          </a:bodyPr>
          <a:lstStyle/>
          <a:p>
            <a:r>
              <a:rPr lang="fr-BE" dirty="0">
                <a:solidFill>
                  <a:srgbClr val="CC7832"/>
                </a:solidFill>
                <a:effectLst/>
                <a:latin typeface="Consolas" panose="020B0609020204030204" pitchFamily="49" charset="0"/>
                <a:cs typeface="Consolas" panose="020B0609020204030204" pitchFamily="49" charset="0"/>
              </a:rPr>
              <a:t>class </a:t>
            </a:r>
            <a:r>
              <a:rPr lang="fr-BE" dirty="0">
                <a:latin typeface="Consolas" panose="020B0609020204030204" pitchFamily="49" charset="0"/>
                <a:cs typeface="Consolas" panose="020B0609020204030204" pitchFamily="49" charset="0"/>
              </a:rPr>
              <a:t>Couple&lt;</a:t>
            </a:r>
            <a:r>
              <a:rPr lang="fr-BE" dirty="0" err="1">
                <a:solidFill>
                  <a:srgbClr val="507874"/>
                </a:solidFill>
                <a:effectLst/>
                <a:latin typeface="Consolas" panose="020B0609020204030204" pitchFamily="49" charset="0"/>
                <a:cs typeface="Consolas" panose="020B0609020204030204" pitchFamily="49" charset="0"/>
              </a:rPr>
              <a:t>T</a:t>
            </a:r>
            <a:r>
              <a:rPr lang="fr-BE" dirty="0">
                <a:solidFill>
                  <a:srgbClr val="507874"/>
                </a:solidFill>
                <a:effectLst/>
                <a:latin typeface="Consolas" panose="020B0609020204030204" pitchFamily="49" charset="0"/>
                <a:cs typeface="Consolas" panose="020B0609020204030204" pitchFamily="49" charset="0"/>
              </a:rPr>
              <a:t> </a:t>
            </a:r>
            <a:r>
              <a:rPr lang="fr-BE" dirty="0" err="1">
                <a:solidFill>
                  <a:srgbClr val="CC7832"/>
                </a:solidFill>
                <a:effectLst/>
                <a:latin typeface="Consolas" panose="020B0609020204030204" pitchFamily="49" charset="0"/>
                <a:cs typeface="Consolas" panose="020B0609020204030204" pitchFamily="49" charset="0"/>
              </a:rPr>
              <a:t>extends</a:t>
            </a: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Point &amp; Comparable &amp; </a:t>
            </a:r>
            <a:r>
              <a:rPr lang="fr-BE" dirty="0" err="1">
                <a:latin typeface="Consolas" panose="020B0609020204030204" pitchFamily="49" charset="0"/>
                <a:cs typeface="Consolas" panose="020B0609020204030204" pitchFamily="49" charset="0"/>
              </a:rPr>
              <a:t>Cloneable</a:t>
            </a:r>
            <a:r>
              <a:rPr lang="fr-BE" dirty="0">
                <a:latin typeface="Consolas" panose="020B0609020204030204" pitchFamily="49" charset="0"/>
                <a:cs typeface="Consolas" panose="020B0609020204030204" pitchFamily="49" charset="0"/>
              </a:rPr>
              <a:t> &gt; { </a:t>
            </a:r>
            <a:r>
              <a:rPr lang="fr-BE" dirty="0">
                <a:solidFill>
                  <a:srgbClr val="808080"/>
                </a:solidFill>
                <a:effectLst/>
                <a:latin typeface="Consolas" panose="020B0609020204030204" pitchFamily="49" charset="0"/>
                <a:cs typeface="Consolas" panose="020B0609020204030204" pitchFamily="49" charset="0"/>
              </a:rPr>
              <a:t>/* . . . */ </a:t>
            </a:r>
            <a:r>
              <a:rPr lang="fr-BE" dirty="0">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
        <p:nvSpPr>
          <p:cNvPr id="14" name="ZoneTexte 13">
            <a:extLst>
              <a:ext uri="{FF2B5EF4-FFF2-40B4-BE49-F238E27FC236}">
                <a16:creationId xmlns:a16="http://schemas.microsoft.com/office/drawing/2014/main" id="{C3162758-0B6B-67AC-F684-4D5F37E9E9B1}"/>
              </a:ext>
            </a:extLst>
          </p:cNvPr>
          <p:cNvSpPr txBox="1"/>
          <p:nvPr/>
        </p:nvSpPr>
        <p:spPr>
          <a:xfrm>
            <a:off x="838199" y="4955135"/>
            <a:ext cx="10510299" cy="707886"/>
          </a:xfrm>
          <a:prstGeom prst="rect">
            <a:avLst/>
          </a:prstGeom>
          <a:noFill/>
        </p:spPr>
        <p:txBody>
          <a:bodyPr wrap="square">
            <a:spAutoFit/>
          </a:bodyPr>
          <a:lstStyle/>
          <a:p>
            <a:pPr marL="0" indent="0">
              <a:buNone/>
            </a:pPr>
            <a:r>
              <a:rPr lang="fr-FR" sz="2000" dirty="0"/>
              <a:t>Dans le cas où on impose </a:t>
            </a:r>
            <a:r>
              <a:rPr lang="fr-FR" sz="2000" dirty="0">
                <a:solidFill>
                  <a:schemeClr val="accent4"/>
                </a:solidFill>
              </a:rPr>
              <a:t>une classe et plusieurs interfaces</a:t>
            </a:r>
            <a:r>
              <a:rPr lang="fr-FR" sz="2000" dirty="0"/>
              <a:t>, la (seule) classe doit être la première dans la liste (parce que le compilateur utilisera la classe dans ses traductions).</a:t>
            </a:r>
          </a:p>
        </p:txBody>
      </p:sp>
      <p:sp>
        <p:nvSpPr>
          <p:cNvPr id="4" name="Espace réservé du numéro de diapositive 3">
            <a:extLst>
              <a:ext uri="{FF2B5EF4-FFF2-40B4-BE49-F238E27FC236}">
                <a16:creationId xmlns:a16="http://schemas.microsoft.com/office/drawing/2014/main" id="{8B28CBF7-2592-AF87-C9FF-514D295C497B}"/>
              </a:ext>
            </a:extLst>
          </p:cNvPr>
          <p:cNvSpPr>
            <a:spLocks noGrp="1"/>
          </p:cNvSpPr>
          <p:nvPr>
            <p:ph type="sldNum" sz="quarter" idx="4"/>
          </p:nvPr>
        </p:nvSpPr>
        <p:spPr/>
        <p:txBody>
          <a:bodyPr/>
          <a:lstStyle/>
          <a:p>
            <a:fld id="{33C783E2-4793-4F48-A271-51A73CC37D74}" type="slidenum">
              <a:rPr lang="fr-FR" smtClean="0"/>
              <a:t>38</a:t>
            </a:fld>
            <a:endParaRPr lang="fr-FR"/>
          </a:p>
        </p:txBody>
      </p:sp>
    </p:spTree>
    <p:extLst>
      <p:ext uri="{BB962C8B-B14F-4D97-AF65-F5344CB8AC3E}">
        <p14:creationId xmlns:p14="http://schemas.microsoft.com/office/powerpoint/2010/main" val="4244269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p:bldP spid="11" grpId="0"/>
      <p:bldP spid="12" grpId="0" animBg="1"/>
      <p:bldP spid="1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Types génériques</a:t>
            </a:r>
          </a:p>
        </p:txBody>
      </p:sp>
      <p:sp>
        <p:nvSpPr>
          <p:cNvPr id="3" name="Espace réservé du contenu 2"/>
          <p:cNvSpPr>
            <a:spLocks noGrp="1"/>
          </p:cNvSpPr>
          <p:nvPr>
            <p:ph idx="1"/>
          </p:nvPr>
        </p:nvSpPr>
        <p:spPr/>
        <p:txBody>
          <a:bodyPr>
            <a:noAutofit/>
          </a:bodyPr>
          <a:lstStyle/>
          <a:p>
            <a:pPr marL="342900" indent="-342900">
              <a:lnSpc>
                <a:spcPct val="80000"/>
              </a:lnSpc>
              <a:buFont typeface="Arial"/>
              <a:buChar char="•"/>
            </a:pPr>
            <a:r>
              <a:rPr lang="fr-FR" dirty="0"/>
              <a:t>Le concept de type générique</a:t>
            </a:r>
          </a:p>
          <a:p>
            <a:pPr marL="342900" indent="-342900">
              <a:lnSpc>
                <a:spcPct val="80000"/>
              </a:lnSpc>
              <a:buFont typeface="Arial"/>
              <a:buChar char="•"/>
            </a:pPr>
            <a:r>
              <a:rPr lang="fr-FR" dirty="0"/>
              <a:t>Classe Générique à un seul paramètre</a:t>
            </a:r>
          </a:p>
          <a:p>
            <a:pPr marL="342900" indent="-342900">
              <a:lnSpc>
                <a:spcPct val="80000"/>
              </a:lnSpc>
              <a:buFont typeface="Arial"/>
              <a:buChar char="•"/>
            </a:pPr>
            <a:r>
              <a:rPr lang="fr-FR" dirty="0"/>
              <a:t>Classe Générique à plusieurs paramètres</a:t>
            </a:r>
          </a:p>
          <a:p>
            <a:pPr marL="342900" indent="-342900">
              <a:lnSpc>
                <a:spcPct val="80000"/>
              </a:lnSpc>
              <a:buFont typeface="Arial"/>
              <a:buChar char="•"/>
            </a:pPr>
            <a:r>
              <a:rPr lang="fr-FR" dirty="0"/>
              <a:t>Compilation des types génériques</a:t>
            </a:r>
          </a:p>
          <a:p>
            <a:pPr marL="342900" indent="-342900">
              <a:lnSpc>
                <a:spcPct val="80000"/>
              </a:lnSpc>
              <a:buFont typeface="Arial"/>
              <a:buChar char="•"/>
            </a:pPr>
            <a:r>
              <a:rPr lang="fr-FR" dirty="0"/>
              <a:t>Méthodes génériques</a:t>
            </a:r>
          </a:p>
          <a:p>
            <a:pPr marL="342900" indent="-342900">
              <a:lnSpc>
                <a:spcPct val="80000"/>
              </a:lnSpc>
              <a:buFont typeface="Arial"/>
              <a:buChar char="•"/>
            </a:pPr>
            <a:r>
              <a:rPr lang="fr-FR" dirty="0"/>
              <a:t>Limitations sur le type</a:t>
            </a:r>
          </a:p>
          <a:p>
            <a:pPr marL="342900" indent="-342900">
              <a:lnSpc>
                <a:spcPct val="80000"/>
              </a:lnSpc>
              <a:buFont typeface="Arial"/>
              <a:buChar char="•"/>
            </a:pPr>
            <a:r>
              <a:rPr lang="fr-FR" dirty="0">
                <a:solidFill>
                  <a:schemeClr val="accent4"/>
                </a:solidFill>
              </a:rPr>
              <a:t>Type générique et héritage</a:t>
            </a:r>
          </a:p>
          <a:p>
            <a:pPr marL="342900" indent="-342900">
              <a:lnSpc>
                <a:spcPct val="80000"/>
              </a:lnSpc>
              <a:buFont typeface="Arial"/>
              <a:buChar char="•"/>
            </a:pPr>
            <a:endParaRPr lang="fr-FR" dirty="0"/>
          </a:p>
          <a:p>
            <a:pPr marL="342900" indent="-342900">
              <a:lnSpc>
                <a:spcPct val="80000"/>
              </a:lnSpc>
              <a:buFont typeface="Arial"/>
              <a:buChar char="•"/>
            </a:pPr>
            <a:endParaRPr lang="fr-FR" dirty="0"/>
          </a:p>
          <a:p>
            <a:pPr marL="342900" indent="-342900">
              <a:lnSpc>
                <a:spcPct val="80000"/>
              </a:lnSpc>
              <a:buFont typeface="Arial"/>
              <a:buChar char="•"/>
            </a:pPr>
            <a:endParaRPr lang="fr-FR" dirty="0"/>
          </a:p>
        </p:txBody>
      </p:sp>
      <p:grpSp>
        <p:nvGrpSpPr>
          <p:cNvPr id="8" name="Groupe 7">
            <a:extLst>
              <a:ext uri="{FF2B5EF4-FFF2-40B4-BE49-F238E27FC236}">
                <a16:creationId xmlns:a16="http://schemas.microsoft.com/office/drawing/2014/main" id="{ACCA99A5-B332-B909-6733-15C39193A78F}"/>
              </a:ext>
            </a:extLst>
          </p:cNvPr>
          <p:cNvGrpSpPr/>
          <p:nvPr/>
        </p:nvGrpSpPr>
        <p:grpSpPr>
          <a:xfrm>
            <a:off x="10470995" y="162401"/>
            <a:ext cx="1404760" cy="1400033"/>
            <a:chOff x="10326324" y="687756"/>
            <a:chExt cx="1393314" cy="1393314"/>
          </a:xfrm>
        </p:grpSpPr>
        <p:sp>
          <p:nvSpPr>
            <p:cNvPr id="5" name="Larme 4">
              <a:extLst>
                <a:ext uri="{FF2B5EF4-FFF2-40B4-BE49-F238E27FC236}">
                  <a16:creationId xmlns:a16="http://schemas.microsoft.com/office/drawing/2014/main" id="{6D659AA5-DE48-3A94-0973-5630499C0B8F}"/>
                </a:ext>
              </a:extLst>
            </p:cNvPr>
            <p:cNvSpPr/>
            <p:nvPr/>
          </p:nvSpPr>
          <p:spPr>
            <a:xfrm rot="8100000">
              <a:off x="10326324" y="687756"/>
              <a:ext cx="1393314" cy="1393314"/>
            </a:xfrm>
            <a:prstGeom prst="teardrop">
              <a:avLst>
                <a:gd name="adj" fmla="val 13287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 name="ZoneTexte 6">
              <a:extLst>
                <a:ext uri="{FF2B5EF4-FFF2-40B4-BE49-F238E27FC236}">
                  <a16:creationId xmlns:a16="http://schemas.microsoft.com/office/drawing/2014/main" id="{4FF3D4ED-5448-D9C2-964C-3C9EFB6B14C0}"/>
                </a:ext>
              </a:extLst>
            </p:cNvPr>
            <p:cNvSpPr txBox="1"/>
            <p:nvPr/>
          </p:nvSpPr>
          <p:spPr>
            <a:xfrm>
              <a:off x="10372029" y="1092958"/>
              <a:ext cx="1301905" cy="702249"/>
            </a:xfrm>
            <a:prstGeom prst="rect">
              <a:avLst/>
            </a:prstGeom>
            <a:noFill/>
          </p:spPr>
          <p:txBody>
            <a:bodyPr wrap="square">
              <a:spAutoFit/>
            </a:bodyPr>
            <a:lstStyle/>
            <a:p>
              <a:pPr algn="ctr"/>
              <a:r>
                <a:rPr lang="fr-FR" sz="2000" b="1" dirty="0"/>
                <a:t>Vous êtes ici</a:t>
              </a:r>
            </a:p>
          </p:txBody>
        </p:sp>
      </p:grpSp>
      <p:sp>
        <p:nvSpPr>
          <p:cNvPr id="4" name="Espace réservé du numéro de diapositive 3">
            <a:extLst>
              <a:ext uri="{FF2B5EF4-FFF2-40B4-BE49-F238E27FC236}">
                <a16:creationId xmlns:a16="http://schemas.microsoft.com/office/drawing/2014/main" id="{835F90A3-703C-C05D-DF86-1335D4FFA043}"/>
              </a:ext>
            </a:extLst>
          </p:cNvPr>
          <p:cNvSpPr>
            <a:spLocks noGrp="1"/>
          </p:cNvSpPr>
          <p:nvPr>
            <p:ph type="sldNum" sz="quarter" idx="4"/>
          </p:nvPr>
        </p:nvSpPr>
        <p:spPr/>
        <p:txBody>
          <a:bodyPr/>
          <a:lstStyle/>
          <a:p>
            <a:fld id="{33C783E2-4793-4F48-A271-51A73CC37D74}" type="slidenum">
              <a:rPr lang="fr-FR" smtClean="0"/>
              <a:t>39</a:t>
            </a:fld>
            <a:endParaRPr lang="fr-FR"/>
          </a:p>
        </p:txBody>
      </p:sp>
    </p:spTree>
    <p:extLst>
      <p:ext uri="{BB962C8B-B14F-4D97-AF65-F5344CB8AC3E}">
        <p14:creationId xmlns:p14="http://schemas.microsoft.com/office/powerpoint/2010/main" val="3439267428"/>
      </p:ext>
    </p:extLst>
  </p:cSld>
  <p:clrMapOvr>
    <a:masterClrMapping/>
  </p:clrMapOvr>
  <p:transition>
    <p:push di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Héritage entre types Génériques</a:t>
            </a:r>
          </a:p>
        </p:txBody>
      </p:sp>
      <p:sp>
        <p:nvSpPr>
          <p:cNvPr id="5" name="Espace réservé du contenu 4"/>
          <p:cNvSpPr>
            <a:spLocks noGrp="1"/>
          </p:cNvSpPr>
          <p:nvPr>
            <p:ph idx="1"/>
          </p:nvPr>
        </p:nvSpPr>
        <p:spPr/>
        <p:txBody>
          <a:bodyPr>
            <a:normAutofit/>
          </a:bodyPr>
          <a:lstStyle/>
          <a:p>
            <a:pPr marL="0" indent="0">
              <a:buNone/>
            </a:pPr>
            <a:r>
              <a:rPr lang="fr-FR" dirty="0"/>
              <a:t>Ceci est </a:t>
            </a:r>
            <a:r>
              <a:rPr lang="fr-FR" dirty="0">
                <a:solidFill>
                  <a:schemeClr val="accent4"/>
                </a:solidFill>
              </a:rPr>
              <a:t>possible</a:t>
            </a:r>
            <a:r>
              <a:rPr lang="fr-FR" dirty="0"/>
              <a:t> </a:t>
            </a:r>
          </a:p>
          <a:p>
            <a:pPr marL="0" indent="0">
              <a:buNone/>
            </a:pPr>
            <a:r>
              <a:rPr lang="fr-FR" sz="1800" dirty="0">
                <a:solidFill>
                  <a:schemeClr val="accent4"/>
                </a:solidFill>
                <a:latin typeface="Consolas"/>
                <a:cs typeface="Consolas"/>
              </a:rPr>
              <a:t>class D&lt;</a:t>
            </a:r>
            <a:r>
              <a:rPr lang="fr-FR" sz="1800" dirty="0" err="1">
                <a:solidFill>
                  <a:schemeClr val="accent4"/>
                </a:solidFill>
                <a:latin typeface="Consolas"/>
                <a:cs typeface="Consolas"/>
              </a:rPr>
              <a:t>T</a:t>
            </a:r>
            <a:r>
              <a:rPr lang="fr-FR" sz="1800" dirty="0">
                <a:solidFill>
                  <a:schemeClr val="accent4"/>
                </a:solidFill>
                <a:latin typeface="Consolas"/>
                <a:cs typeface="Consolas"/>
              </a:rPr>
              <a:t>&gt; </a:t>
            </a:r>
            <a:r>
              <a:rPr lang="fr-FR" sz="1800" dirty="0" err="1">
                <a:solidFill>
                  <a:schemeClr val="accent4"/>
                </a:solidFill>
                <a:latin typeface="Consolas"/>
                <a:cs typeface="Consolas"/>
              </a:rPr>
              <a:t>extends</a:t>
            </a:r>
            <a:r>
              <a:rPr lang="fr-FR" sz="1800" dirty="0">
                <a:solidFill>
                  <a:schemeClr val="accent4"/>
                </a:solidFill>
                <a:latin typeface="Consolas"/>
                <a:cs typeface="Consolas"/>
              </a:rPr>
              <a:t> C&lt;</a:t>
            </a:r>
            <a:r>
              <a:rPr lang="fr-FR" sz="1800" dirty="0" err="1">
                <a:solidFill>
                  <a:schemeClr val="accent4"/>
                </a:solidFill>
                <a:latin typeface="Consolas"/>
                <a:cs typeface="Consolas"/>
              </a:rPr>
              <a:t>T</a:t>
            </a:r>
            <a:r>
              <a:rPr lang="fr-FR" sz="1800" dirty="0">
                <a:solidFill>
                  <a:schemeClr val="accent4"/>
                </a:solidFill>
                <a:latin typeface="Consolas"/>
                <a:cs typeface="Consolas"/>
              </a:rPr>
              <a:t>&gt;</a:t>
            </a:r>
            <a:r>
              <a:rPr lang="fr-FR" sz="1800" dirty="0"/>
              <a:t>: </a:t>
            </a:r>
            <a:br>
              <a:rPr lang="fr-FR" sz="1800" dirty="0"/>
            </a:br>
            <a:r>
              <a:rPr lang="fr-FR" sz="1800" dirty="0"/>
              <a:t>	exemple </a:t>
            </a:r>
            <a:r>
              <a:rPr lang="fr-FR" sz="1800" dirty="0">
                <a:solidFill>
                  <a:schemeClr val="accent4"/>
                </a:solidFill>
                <a:latin typeface="Consolas"/>
                <a:cs typeface="Consolas"/>
              </a:rPr>
              <a:t>D&lt;String&gt;</a:t>
            </a:r>
            <a:r>
              <a:rPr lang="fr-FR" sz="1800" dirty="0"/>
              <a:t> et </a:t>
            </a:r>
            <a:r>
              <a:rPr lang="fr-FR" sz="1800" dirty="0">
                <a:solidFill>
                  <a:schemeClr val="accent4"/>
                </a:solidFill>
                <a:latin typeface="Consolas"/>
                <a:cs typeface="Consolas"/>
              </a:rPr>
              <a:t>C&lt;String&gt;</a:t>
            </a:r>
            <a:endParaRPr lang="fr-FR" sz="1800" dirty="0">
              <a:solidFill>
                <a:schemeClr val="accent4"/>
              </a:solidFill>
            </a:endParaRPr>
          </a:p>
          <a:p>
            <a:pPr marL="0" indent="0">
              <a:buNone/>
            </a:pPr>
            <a:r>
              <a:rPr lang="fr-FR" sz="1800" dirty="0">
                <a:solidFill>
                  <a:schemeClr val="accent4"/>
                </a:solidFill>
                <a:latin typeface="Consolas"/>
                <a:cs typeface="Consolas"/>
              </a:rPr>
              <a:t>class D&lt;U, V&gt; </a:t>
            </a:r>
            <a:r>
              <a:rPr lang="fr-FR" sz="1800" dirty="0" err="1">
                <a:solidFill>
                  <a:schemeClr val="accent4"/>
                </a:solidFill>
                <a:latin typeface="Consolas"/>
                <a:cs typeface="Consolas"/>
              </a:rPr>
              <a:t>extends</a:t>
            </a:r>
            <a:r>
              <a:rPr lang="fr-FR" sz="1800" dirty="0">
                <a:solidFill>
                  <a:schemeClr val="accent4"/>
                </a:solidFill>
                <a:latin typeface="Consolas"/>
                <a:cs typeface="Consolas"/>
              </a:rPr>
              <a:t> C&lt;U, V&gt;</a:t>
            </a:r>
            <a:r>
              <a:rPr lang="fr-FR" sz="1800" dirty="0"/>
              <a:t>: </a:t>
            </a:r>
            <a:br>
              <a:rPr lang="fr-FR" sz="1800" dirty="0"/>
            </a:br>
            <a:r>
              <a:rPr lang="fr-FR" sz="1800" dirty="0"/>
              <a:t>	exemple </a:t>
            </a:r>
            <a:r>
              <a:rPr lang="fr-FR" sz="1800" dirty="0">
                <a:solidFill>
                  <a:schemeClr val="accent4"/>
                </a:solidFill>
                <a:latin typeface="Consolas"/>
                <a:cs typeface="Consolas"/>
              </a:rPr>
              <a:t>D&lt;String, Integer&gt;</a:t>
            </a:r>
            <a:r>
              <a:rPr lang="fr-FR" sz="1800" dirty="0"/>
              <a:t> et </a:t>
            </a:r>
            <a:r>
              <a:rPr lang="fr-FR" sz="1800" dirty="0">
                <a:solidFill>
                  <a:schemeClr val="accent4"/>
                </a:solidFill>
                <a:latin typeface="Consolas"/>
                <a:cs typeface="Consolas"/>
              </a:rPr>
              <a:t>C&lt;String, Integer&gt;</a:t>
            </a:r>
            <a:endParaRPr lang="fr-FR" sz="1800" dirty="0">
              <a:solidFill>
                <a:schemeClr val="accent4"/>
              </a:solidFill>
            </a:endParaRPr>
          </a:p>
          <a:p>
            <a:pPr marL="0" indent="0">
              <a:buNone/>
            </a:pPr>
            <a:r>
              <a:rPr lang="fr-FR" sz="1800" dirty="0">
                <a:solidFill>
                  <a:schemeClr val="accent4"/>
                </a:solidFill>
                <a:latin typeface="Consolas"/>
                <a:cs typeface="Consolas"/>
              </a:rPr>
              <a:t>class D&lt;U, V&gt; </a:t>
            </a:r>
            <a:r>
              <a:rPr lang="fr-FR" sz="1800" dirty="0" err="1">
                <a:solidFill>
                  <a:schemeClr val="accent4"/>
                </a:solidFill>
                <a:latin typeface="Consolas"/>
                <a:cs typeface="Consolas"/>
              </a:rPr>
              <a:t>extends</a:t>
            </a:r>
            <a:r>
              <a:rPr lang="fr-FR" sz="1800" dirty="0">
                <a:solidFill>
                  <a:schemeClr val="accent4"/>
                </a:solidFill>
                <a:latin typeface="Consolas"/>
                <a:cs typeface="Consolas"/>
              </a:rPr>
              <a:t> C&lt;U&gt;</a:t>
            </a:r>
            <a:r>
              <a:rPr lang="fr-FR" sz="1800" dirty="0"/>
              <a:t>: </a:t>
            </a:r>
            <a:br>
              <a:rPr lang="fr-FR" sz="1800" dirty="0"/>
            </a:br>
            <a:r>
              <a:rPr lang="fr-FR" sz="1800" dirty="0"/>
              <a:t>	exemple </a:t>
            </a:r>
            <a:r>
              <a:rPr lang="fr-FR" sz="1800" dirty="0">
                <a:solidFill>
                  <a:schemeClr val="accent4"/>
                </a:solidFill>
                <a:latin typeface="Consolas"/>
                <a:cs typeface="Consolas"/>
              </a:rPr>
              <a:t>D&lt;String, Integer&gt;</a:t>
            </a:r>
            <a:r>
              <a:rPr lang="fr-FR" sz="1800" dirty="0"/>
              <a:t> et </a:t>
            </a:r>
            <a:r>
              <a:rPr lang="fr-FR" sz="1800" dirty="0">
                <a:solidFill>
                  <a:schemeClr val="accent4"/>
                </a:solidFill>
                <a:latin typeface="Consolas"/>
                <a:cs typeface="Consolas"/>
              </a:rPr>
              <a:t>C&lt;String&gt;</a:t>
            </a:r>
          </a:p>
          <a:p>
            <a:pPr marL="0" indent="0">
              <a:buNone/>
            </a:pPr>
            <a:r>
              <a:rPr lang="fr-FR" sz="1800" dirty="0">
                <a:solidFill>
                  <a:schemeClr val="accent4"/>
                </a:solidFill>
                <a:latin typeface="Consolas"/>
                <a:cs typeface="Consolas"/>
              </a:rPr>
              <a:t>class D&lt;</a:t>
            </a:r>
            <a:r>
              <a:rPr lang="fr-FR" sz="1800" dirty="0" err="1">
                <a:solidFill>
                  <a:schemeClr val="accent4"/>
                </a:solidFill>
                <a:latin typeface="Consolas"/>
                <a:cs typeface="Consolas"/>
              </a:rPr>
              <a:t>T</a:t>
            </a:r>
            <a:r>
              <a:rPr lang="fr-FR" sz="1800" dirty="0">
                <a:solidFill>
                  <a:schemeClr val="accent4"/>
                </a:solidFill>
                <a:latin typeface="Consolas"/>
                <a:cs typeface="Consolas"/>
              </a:rPr>
              <a:t> </a:t>
            </a:r>
            <a:r>
              <a:rPr lang="fr-FR" sz="1800" dirty="0" err="1">
                <a:solidFill>
                  <a:schemeClr val="accent4"/>
                </a:solidFill>
                <a:latin typeface="Consolas"/>
                <a:cs typeface="Consolas"/>
              </a:rPr>
              <a:t>extends</a:t>
            </a:r>
            <a:r>
              <a:rPr lang="fr-FR" sz="1800" dirty="0">
                <a:solidFill>
                  <a:schemeClr val="accent4"/>
                </a:solidFill>
                <a:latin typeface="Consolas"/>
                <a:cs typeface="Consolas"/>
              </a:rPr>
              <a:t> </a:t>
            </a:r>
            <a:r>
              <a:rPr lang="fr-FR" sz="1800" dirty="0" err="1">
                <a:solidFill>
                  <a:schemeClr val="accent4"/>
                </a:solidFill>
                <a:latin typeface="Consolas"/>
                <a:cs typeface="Consolas"/>
              </a:rPr>
              <a:t>Number</a:t>
            </a:r>
            <a:r>
              <a:rPr lang="fr-FR" sz="1800" dirty="0">
                <a:solidFill>
                  <a:schemeClr val="accent4"/>
                </a:solidFill>
                <a:latin typeface="Consolas"/>
                <a:cs typeface="Consolas"/>
              </a:rPr>
              <a:t>&gt; </a:t>
            </a:r>
            <a:r>
              <a:rPr lang="fr-FR" sz="1800" dirty="0" err="1">
                <a:solidFill>
                  <a:schemeClr val="accent4"/>
                </a:solidFill>
                <a:latin typeface="Consolas"/>
                <a:cs typeface="Consolas"/>
              </a:rPr>
              <a:t>extends</a:t>
            </a:r>
            <a:r>
              <a:rPr lang="fr-FR" sz="1800" dirty="0">
                <a:solidFill>
                  <a:schemeClr val="accent4"/>
                </a:solidFill>
                <a:latin typeface="Consolas"/>
                <a:cs typeface="Consolas"/>
              </a:rPr>
              <a:t> C&lt;</a:t>
            </a:r>
            <a:r>
              <a:rPr lang="fr-FR" sz="1800" dirty="0" err="1">
                <a:solidFill>
                  <a:schemeClr val="accent4"/>
                </a:solidFill>
                <a:latin typeface="Consolas"/>
                <a:cs typeface="Consolas"/>
              </a:rPr>
              <a:t>T</a:t>
            </a:r>
            <a:r>
              <a:rPr lang="fr-FR" sz="1800" dirty="0">
                <a:solidFill>
                  <a:schemeClr val="accent4"/>
                </a:solidFill>
                <a:latin typeface="Consolas"/>
                <a:cs typeface="Consolas"/>
              </a:rPr>
              <a:t>&gt;</a:t>
            </a:r>
            <a:r>
              <a:rPr lang="fr-FR" sz="1800" dirty="0"/>
              <a:t>: </a:t>
            </a:r>
            <a:br>
              <a:rPr lang="fr-FR" sz="1800" dirty="0"/>
            </a:br>
            <a:r>
              <a:rPr lang="fr-FR" sz="1800" dirty="0"/>
              <a:t>	exemple </a:t>
            </a:r>
            <a:r>
              <a:rPr lang="fr-FR" sz="1800" dirty="0">
                <a:solidFill>
                  <a:schemeClr val="accent4"/>
                </a:solidFill>
                <a:latin typeface="Consolas"/>
                <a:cs typeface="Consolas"/>
              </a:rPr>
              <a:t>D&lt;Double&gt;</a:t>
            </a:r>
            <a:r>
              <a:rPr lang="fr-FR" sz="1800" dirty="0"/>
              <a:t> et </a:t>
            </a:r>
            <a:r>
              <a:rPr lang="fr-FR" sz="1800" dirty="0">
                <a:solidFill>
                  <a:schemeClr val="accent4"/>
                </a:solidFill>
                <a:latin typeface="Consolas"/>
                <a:cs typeface="Consolas"/>
              </a:rPr>
              <a:t>C&lt;Double&gt;</a:t>
            </a:r>
            <a:r>
              <a:rPr lang="fr-FR" sz="1800" dirty="0"/>
              <a:t>, </a:t>
            </a:r>
            <a:br>
              <a:rPr lang="fr-FR" sz="1800" dirty="0"/>
            </a:br>
            <a:r>
              <a:rPr lang="fr-FR" sz="1800" dirty="0"/>
              <a:t>	mais pas </a:t>
            </a:r>
            <a:r>
              <a:rPr lang="fr-FR" sz="1800" dirty="0">
                <a:solidFill>
                  <a:schemeClr val="accent4"/>
                </a:solidFill>
                <a:latin typeface="Consolas"/>
                <a:cs typeface="Consolas"/>
              </a:rPr>
              <a:t>C&lt;String&gt;</a:t>
            </a:r>
            <a:r>
              <a:rPr lang="fr-FR" sz="1800" dirty="0"/>
              <a:t> et </a:t>
            </a:r>
            <a:r>
              <a:rPr lang="fr-FR" sz="1800" dirty="0">
                <a:solidFill>
                  <a:schemeClr val="accent4"/>
                </a:solidFill>
                <a:latin typeface="Consolas"/>
                <a:cs typeface="Consolas"/>
              </a:rPr>
              <a:t>D&lt;</a:t>
            </a:r>
            <a:r>
              <a:rPr lang="fr-FR" sz="1800" dirty="0">
                <a:solidFill>
                  <a:srgbClr val="FF0000"/>
                </a:solidFill>
                <a:latin typeface="Consolas"/>
                <a:cs typeface="Consolas"/>
              </a:rPr>
              <a:t>String</a:t>
            </a:r>
            <a:r>
              <a:rPr lang="fr-FR" sz="1800" dirty="0">
                <a:solidFill>
                  <a:schemeClr val="accent4"/>
                </a:solidFill>
                <a:latin typeface="Consolas"/>
                <a:cs typeface="Consolas"/>
              </a:rPr>
              <a:t>&gt;</a:t>
            </a:r>
            <a:r>
              <a:rPr lang="fr-FR" sz="1800" dirty="0"/>
              <a:t> (car </a:t>
            </a:r>
            <a:r>
              <a:rPr lang="fr-FR" sz="1800" dirty="0">
                <a:solidFill>
                  <a:schemeClr val="accent4"/>
                </a:solidFill>
                <a:latin typeface="Consolas"/>
                <a:cs typeface="Consolas"/>
              </a:rPr>
              <a:t>String</a:t>
            </a:r>
            <a:r>
              <a:rPr lang="fr-FR" sz="1800" dirty="0"/>
              <a:t> n’hérite pas de </a:t>
            </a:r>
            <a:r>
              <a:rPr lang="fr-FR" sz="1800" dirty="0" err="1">
                <a:solidFill>
                  <a:schemeClr val="accent4"/>
                </a:solidFill>
                <a:latin typeface="Consolas"/>
                <a:cs typeface="Consolas"/>
              </a:rPr>
              <a:t>Number</a:t>
            </a:r>
            <a:r>
              <a:rPr lang="fr-FR" sz="1800" dirty="0"/>
              <a:t>)</a:t>
            </a:r>
          </a:p>
          <a:p>
            <a:pPr marL="0" indent="0">
              <a:buNone/>
            </a:pPr>
            <a:r>
              <a:rPr lang="fr-FR" sz="1800" dirty="0">
                <a:solidFill>
                  <a:schemeClr val="accent4"/>
                </a:solidFill>
                <a:latin typeface="Consolas"/>
                <a:cs typeface="Consolas"/>
              </a:rPr>
              <a:t>class D&lt;</a:t>
            </a:r>
            <a:r>
              <a:rPr lang="fr-FR" sz="1800" dirty="0" err="1">
                <a:solidFill>
                  <a:schemeClr val="accent4"/>
                </a:solidFill>
                <a:latin typeface="Consolas"/>
                <a:cs typeface="Consolas"/>
              </a:rPr>
              <a:t>T</a:t>
            </a:r>
            <a:r>
              <a:rPr lang="fr-FR" sz="1800" dirty="0">
                <a:solidFill>
                  <a:schemeClr val="accent4"/>
                </a:solidFill>
                <a:latin typeface="Consolas"/>
                <a:cs typeface="Consolas"/>
              </a:rPr>
              <a:t>&gt; </a:t>
            </a:r>
            <a:r>
              <a:rPr lang="fr-FR" sz="1800" dirty="0" err="1">
                <a:solidFill>
                  <a:schemeClr val="accent4"/>
                </a:solidFill>
                <a:latin typeface="Consolas"/>
                <a:cs typeface="Consolas"/>
              </a:rPr>
              <a:t>extends</a:t>
            </a:r>
            <a:r>
              <a:rPr lang="fr-FR" sz="1800" dirty="0">
                <a:solidFill>
                  <a:schemeClr val="accent4"/>
                </a:solidFill>
                <a:latin typeface="Consolas"/>
                <a:cs typeface="Consolas"/>
              </a:rPr>
              <a:t> X</a:t>
            </a:r>
            <a:r>
              <a:rPr lang="fr-FR" sz="1800" dirty="0"/>
              <a:t>: </a:t>
            </a:r>
            <a:br>
              <a:rPr lang="fr-FR" sz="1800" dirty="0"/>
            </a:br>
            <a:r>
              <a:rPr lang="fr-FR" sz="1800" dirty="0"/>
              <a:t>	Alors, </a:t>
            </a:r>
            <a:r>
              <a:rPr lang="fr-FR" sz="1800" dirty="0">
                <a:solidFill>
                  <a:schemeClr val="accent4"/>
                </a:solidFill>
                <a:latin typeface="Consolas"/>
                <a:cs typeface="Consolas"/>
              </a:rPr>
              <a:t>D&lt;String&gt;</a:t>
            </a:r>
            <a:r>
              <a:rPr lang="fr-FR" sz="1800" dirty="0"/>
              <a:t> et </a:t>
            </a:r>
            <a:r>
              <a:rPr lang="fr-FR" sz="1800" dirty="0">
                <a:solidFill>
                  <a:schemeClr val="accent4"/>
                </a:solidFill>
                <a:latin typeface="Consolas"/>
                <a:cs typeface="Consolas"/>
              </a:rPr>
              <a:t>D&lt;Integer&gt;</a:t>
            </a:r>
            <a:r>
              <a:rPr lang="fr-FR" sz="1800" dirty="0"/>
              <a:t> dérivent alors toutes de </a:t>
            </a:r>
            <a:r>
              <a:rPr lang="fr-FR" sz="1800" dirty="0">
                <a:solidFill>
                  <a:schemeClr val="accent4"/>
                </a:solidFill>
                <a:latin typeface="Consolas"/>
                <a:cs typeface="Consolas"/>
              </a:rPr>
              <a:t>X</a:t>
            </a:r>
          </a:p>
        </p:txBody>
      </p:sp>
      <p:sp>
        <p:nvSpPr>
          <p:cNvPr id="3" name="Espace réservé du numéro de diapositive 2">
            <a:extLst>
              <a:ext uri="{FF2B5EF4-FFF2-40B4-BE49-F238E27FC236}">
                <a16:creationId xmlns:a16="http://schemas.microsoft.com/office/drawing/2014/main" id="{D7FD3EE7-1BE3-BBC4-3D47-19C9CC95BA3C}"/>
              </a:ext>
            </a:extLst>
          </p:cNvPr>
          <p:cNvSpPr>
            <a:spLocks noGrp="1"/>
          </p:cNvSpPr>
          <p:nvPr>
            <p:ph type="sldNum" sz="quarter" idx="4"/>
          </p:nvPr>
        </p:nvSpPr>
        <p:spPr/>
        <p:txBody>
          <a:bodyPr/>
          <a:lstStyle/>
          <a:p>
            <a:fld id="{33C783E2-4793-4F48-A271-51A73CC37D74}" type="slidenum">
              <a:rPr lang="fr-FR" smtClean="0"/>
              <a:t>40</a:t>
            </a:fld>
            <a:endParaRPr lang="fr-FR"/>
          </a:p>
        </p:txBody>
      </p:sp>
    </p:spTree>
    <p:extLst>
      <p:ext uri="{BB962C8B-B14F-4D97-AF65-F5344CB8AC3E}">
        <p14:creationId xmlns:p14="http://schemas.microsoft.com/office/powerpoint/2010/main" val="1539270649"/>
      </p:ext>
    </p:extLst>
  </p:cSld>
  <p:clrMapOvr>
    <a:masterClrMapping/>
  </p:clrMapOvr>
  <p:transition>
    <p:push di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Héritages non possibles</a:t>
            </a:r>
          </a:p>
        </p:txBody>
      </p:sp>
      <p:sp>
        <p:nvSpPr>
          <p:cNvPr id="5" name="Espace réservé du contenu 4"/>
          <p:cNvSpPr>
            <a:spLocks noGrp="1"/>
          </p:cNvSpPr>
          <p:nvPr>
            <p:ph idx="1"/>
          </p:nvPr>
        </p:nvSpPr>
        <p:spPr/>
        <p:txBody>
          <a:bodyPr>
            <a:normAutofit/>
          </a:bodyPr>
          <a:lstStyle/>
          <a:p>
            <a:pPr marL="0" indent="0">
              <a:buNone/>
            </a:pPr>
            <a:r>
              <a:rPr lang="fr-FR" sz="2400" dirty="0"/>
              <a:t>Par contre, ceci n'est </a:t>
            </a:r>
            <a:r>
              <a:rPr lang="fr-FR" sz="2400" dirty="0">
                <a:solidFill>
                  <a:schemeClr val="accent4"/>
                </a:solidFill>
              </a:rPr>
              <a:t>pas possible</a:t>
            </a:r>
            <a:r>
              <a:rPr lang="fr-FR" sz="2400" dirty="0"/>
              <a:t>:</a:t>
            </a:r>
          </a:p>
          <a:p>
            <a:pPr marL="0" indent="0">
              <a:buNone/>
            </a:pPr>
            <a:r>
              <a:rPr lang="fr-FR" sz="2400" dirty="0">
                <a:solidFill>
                  <a:schemeClr val="accent4"/>
                </a:solidFill>
                <a:latin typeface="Consolas"/>
                <a:cs typeface="Consolas"/>
              </a:rPr>
              <a:t>class D </a:t>
            </a:r>
            <a:r>
              <a:rPr lang="fr-FR" sz="2400" dirty="0" err="1">
                <a:solidFill>
                  <a:schemeClr val="accent4"/>
                </a:solidFill>
                <a:latin typeface="Consolas"/>
                <a:cs typeface="Consolas"/>
              </a:rPr>
              <a:t>extends</a:t>
            </a:r>
            <a:r>
              <a:rPr lang="fr-FR" sz="2400" dirty="0">
                <a:solidFill>
                  <a:schemeClr val="accent4"/>
                </a:solidFill>
                <a:latin typeface="Consolas"/>
                <a:cs typeface="Consolas"/>
              </a:rPr>
              <a:t> C&lt;</a:t>
            </a:r>
            <a:r>
              <a:rPr lang="fr-FR" sz="2400" dirty="0" err="1">
                <a:solidFill>
                  <a:schemeClr val="accent4"/>
                </a:solidFill>
                <a:latin typeface="Consolas"/>
                <a:cs typeface="Consolas"/>
              </a:rPr>
              <a:t>T</a:t>
            </a:r>
            <a:r>
              <a:rPr lang="fr-FR" sz="2400" dirty="0">
                <a:solidFill>
                  <a:schemeClr val="accent4"/>
                </a:solidFill>
                <a:latin typeface="Consolas"/>
                <a:cs typeface="Consolas"/>
              </a:rPr>
              <a:t>&gt;</a:t>
            </a:r>
            <a:r>
              <a:rPr lang="fr-FR" sz="2400" dirty="0"/>
              <a:t>: </a:t>
            </a:r>
            <a:br>
              <a:rPr lang="fr-FR" sz="2400" dirty="0"/>
            </a:br>
            <a:r>
              <a:rPr lang="fr-FR" sz="2400" dirty="0"/>
              <a:t>	En effet, </a:t>
            </a:r>
            <a:r>
              <a:rPr lang="fr-FR" sz="2400" dirty="0">
                <a:solidFill>
                  <a:schemeClr val="accent4"/>
                </a:solidFill>
                <a:latin typeface="Consolas"/>
                <a:cs typeface="Consolas"/>
              </a:rPr>
              <a:t>D</a:t>
            </a:r>
            <a:r>
              <a:rPr lang="fr-FR" sz="2400" dirty="0"/>
              <a:t> doit disposer d'un paramètre </a:t>
            </a:r>
            <a:r>
              <a:rPr lang="fr-FR" sz="2400" dirty="0" err="1">
                <a:solidFill>
                  <a:schemeClr val="accent4"/>
                </a:solidFill>
                <a:latin typeface="Consolas"/>
                <a:cs typeface="Consolas"/>
              </a:rPr>
              <a:t>T</a:t>
            </a:r>
            <a:endParaRPr lang="fr-FR" sz="2400" dirty="0">
              <a:solidFill>
                <a:schemeClr val="accent4"/>
              </a:solidFill>
              <a:latin typeface="Consolas"/>
              <a:cs typeface="Consolas"/>
            </a:endParaRPr>
          </a:p>
          <a:p>
            <a:pPr marL="0" indent="0">
              <a:buNone/>
            </a:pPr>
            <a:endParaRPr lang="fr-FR" sz="2400" dirty="0">
              <a:solidFill>
                <a:schemeClr val="accent4"/>
              </a:solidFill>
              <a:latin typeface="Consolas"/>
              <a:cs typeface="Consolas"/>
            </a:endParaRPr>
          </a:p>
          <a:p>
            <a:pPr marL="0" indent="0">
              <a:buNone/>
            </a:pPr>
            <a:r>
              <a:rPr lang="fr-FR" sz="2400" dirty="0">
                <a:solidFill>
                  <a:schemeClr val="accent4"/>
                </a:solidFill>
                <a:latin typeface="Consolas"/>
                <a:cs typeface="Consolas"/>
              </a:rPr>
              <a:t>class D&lt;U&gt; </a:t>
            </a:r>
            <a:r>
              <a:rPr lang="fr-FR" sz="2400" dirty="0" err="1">
                <a:solidFill>
                  <a:schemeClr val="accent4"/>
                </a:solidFill>
                <a:latin typeface="Consolas"/>
                <a:cs typeface="Consolas"/>
              </a:rPr>
              <a:t>extends</a:t>
            </a:r>
            <a:r>
              <a:rPr lang="fr-FR" sz="2400" dirty="0">
                <a:solidFill>
                  <a:schemeClr val="accent4"/>
                </a:solidFill>
                <a:latin typeface="Consolas"/>
                <a:cs typeface="Consolas"/>
              </a:rPr>
              <a:t> C&lt;V </a:t>
            </a:r>
            <a:r>
              <a:rPr lang="fr-FR" sz="2400" dirty="0" err="1">
                <a:solidFill>
                  <a:schemeClr val="accent4"/>
                </a:solidFill>
                <a:latin typeface="Consolas"/>
                <a:cs typeface="Consolas"/>
              </a:rPr>
              <a:t>extends</a:t>
            </a:r>
            <a:r>
              <a:rPr lang="fr-FR" sz="2400" dirty="0">
                <a:solidFill>
                  <a:schemeClr val="accent4"/>
                </a:solidFill>
                <a:latin typeface="Consolas"/>
                <a:cs typeface="Consolas"/>
              </a:rPr>
              <a:t> </a:t>
            </a:r>
            <a:r>
              <a:rPr lang="fr-FR" sz="2400" dirty="0" err="1">
                <a:solidFill>
                  <a:schemeClr val="accent4"/>
                </a:solidFill>
                <a:latin typeface="Consolas"/>
                <a:cs typeface="Consolas"/>
              </a:rPr>
              <a:t>Number</a:t>
            </a:r>
            <a:r>
              <a:rPr lang="fr-FR" sz="2400" dirty="0">
                <a:solidFill>
                  <a:schemeClr val="accent4"/>
                </a:solidFill>
                <a:latin typeface="Consolas"/>
                <a:cs typeface="Consolas"/>
              </a:rPr>
              <a:t>&gt;</a:t>
            </a:r>
            <a:r>
              <a:rPr lang="fr-FR" sz="2400" dirty="0"/>
              <a:t>: </a:t>
            </a:r>
            <a:br>
              <a:rPr lang="fr-FR" sz="2400" dirty="0"/>
            </a:br>
            <a:r>
              <a:rPr lang="fr-FR" sz="2400" dirty="0"/>
              <a:t>	Ceci n’est pas autorisé car </a:t>
            </a:r>
            <a:r>
              <a:rPr lang="fr-FR" sz="2400" dirty="0">
                <a:solidFill>
                  <a:schemeClr val="accent4"/>
                </a:solidFill>
                <a:latin typeface="Consolas"/>
                <a:cs typeface="Consolas"/>
              </a:rPr>
              <a:t>D</a:t>
            </a:r>
            <a:r>
              <a:rPr lang="fr-FR" sz="2400" dirty="0"/>
              <a:t> est moins restrictif que </a:t>
            </a:r>
            <a:r>
              <a:rPr lang="fr-FR" sz="2400" dirty="0">
                <a:solidFill>
                  <a:schemeClr val="accent4"/>
                </a:solidFill>
                <a:latin typeface="Consolas"/>
                <a:cs typeface="Consolas"/>
              </a:rPr>
              <a:t>C</a:t>
            </a:r>
            <a:r>
              <a:rPr lang="fr-FR" sz="2400" dirty="0"/>
              <a:t>: </a:t>
            </a:r>
          </a:p>
          <a:p>
            <a:pPr marL="1371600" lvl="3" indent="0">
              <a:buNone/>
            </a:pPr>
            <a:r>
              <a:rPr lang="fr-FR" sz="2400" dirty="0"/>
              <a:t>le </a:t>
            </a:r>
            <a:r>
              <a:rPr lang="fr-FR" sz="2400" dirty="0">
                <a:solidFill>
                  <a:schemeClr val="accent4"/>
                </a:solidFill>
                <a:latin typeface="Consolas"/>
                <a:cs typeface="Consolas"/>
              </a:rPr>
              <a:t>&lt;U&gt;</a:t>
            </a:r>
            <a:r>
              <a:rPr lang="fr-FR" sz="2400" dirty="0"/>
              <a:t> de </a:t>
            </a:r>
            <a:r>
              <a:rPr lang="fr-FR" sz="2400" dirty="0">
                <a:solidFill>
                  <a:schemeClr val="accent4"/>
                </a:solidFill>
                <a:latin typeface="Consolas"/>
                <a:cs typeface="Consolas"/>
              </a:rPr>
              <a:t>D</a:t>
            </a:r>
            <a:r>
              <a:rPr lang="fr-FR" sz="2400" dirty="0"/>
              <a:t> n’est pas nécessairement un </a:t>
            </a:r>
            <a:r>
              <a:rPr lang="fr-FR" sz="2400" dirty="0" err="1">
                <a:solidFill>
                  <a:schemeClr val="accent4"/>
                </a:solidFill>
                <a:latin typeface="Consolas"/>
                <a:cs typeface="Consolas"/>
              </a:rPr>
              <a:t>Number</a:t>
            </a:r>
            <a:r>
              <a:rPr lang="fr-FR" sz="2400" dirty="0"/>
              <a:t> </a:t>
            </a:r>
          </a:p>
          <a:p>
            <a:pPr marL="1371600" lvl="3" indent="0">
              <a:buNone/>
            </a:pPr>
            <a:r>
              <a:rPr lang="fr-FR" sz="2400" dirty="0"/>
              <a:t>mais (</a:t>
            </a:r>
            <a:r>
              <a:rPr lang="fr-FR" sz="2400" dirty="0">
                <a:solidFill>
                  <a:schemeClr val="accent4"/>
                </a:solidFill>
                <a:latin typeface="Consolas"/>
                <a:cs typeface="Consolas"/>
              </a:rPr>
              <a:t>U</a:t>
            </a:r>
            <a:r>
              <a:rPr lang="fr-FR" sz="2400" dirty="0"/>
              <a:t>) qui hérite de </a:t>
            </a:r>
            <a:r>
              <a:rPr lang="fr-FR" sz="2400" dirty="0">
                <a:solidFill>
                  <a:schemeClr val="accent4"/>
                </a:solidFill>
                <a:latin typeface="Consolas"/>
                <a:cs typeface="Consolas"/>
              </a:rPr>
              <a:t>V</a:t>
            </a:r>
            <a:r>
              <a:rPr lang="fr-FR" sz="2400" dirty="0"/>
              <a:t> qui lui même hérite de </a:t>
            </a:r>
            <a:r>
              <a:rPr lang="fr-FR" sz="2400" dirty="0" err="1">
                <a:solidFill>
                  <a:schemeClr val="accent4"/>
                </a:solidFill>
                <a:latin typeface="Consolas"/>
                <a:cs typeface="Consolas"/>
              </a:rPr>
              <a:t>Number</a:t>
            </a:r>
            <a:r>
              <a:rPr lang="fr-FR" sz="2400" dirty="0"/>
              <a:t> (et donc </a:t>
            </a:r>
            <a:r>
              <a:rPr lang="fr-FR" sz="2400" dirty="0">
                <a:solidFill>
                  <a:schemeClr val="accent4"/>
                </a:solidFill>
                <a:latin typeface="Consolas"/>
                <a:cs typeface="Consolas"/>
              </a:rPr>
              <a:t>U</a:t>
            </a:r>
            <a:r>
              <a:rPr lang="fr-FR" sz="2400" dirty="0"/>
              <a:t> est obligatoirement </a:t>
            </a:r>
            <a:r>
              <a:rPr lang="fr-FR" sz="2400" dirty="0" err="1">
                <a:solidFill>
                  <a:schemeClr val="accent4"/>
                </a:solidFill>
                <a:latin typeface="Consolas"/>
                <a:cs typeface="Consolas"/>
              </a:rPr>
              <a:t>Number</a:t>
            </a:r>
            <a:r>
              <a:rPr lang="fr-FR" sz="2400" dirty="0"/>
              <a:t>)</a:t>
            </a:r>
            <a:endParaRPr lang="fr-FR" sz="2400" dirty="0">
              <a:solidFill>
                <a:srgbClr val="A6082B"/>
              </a:solidFill>
              <a:latin typeface="Consolas"/>
              <a:cs typeface="Consolas"/>
            </a:endParaRPr>
          </a:p>
        </p:txBody>
      </p:sp>
      <p:sp>
        <p:nvSpPr>
          <p:cNvPr id="3" name="Espace réservé du numéro de diapositive 2">
            <a:extLst>
              <a:ext uri="{FF2B5EF4-FFF2-40B4-BE49-F238E27FC236}">
                <a16:creationId xmlns:a16="http://schemas.microsoft.com/office/drawing/2014/main" id="{C422DB25-FA7F-E7E6-2B23-8AEE15E12D0C}"/>
              </a:ext>
            </a:extLst>
          </p:cNvPr>
          <p:cNvSpPr>
            <a:spLocks noGrp="1"/>
          </p:cNvSpPr>
          <p:nvPr>
            <p:ph type="sldNum" sz="quarter" idx="4"/>
          </p:nvPr>
        </p:nvSpPr>
        <p:spPr/>
        <p:txBody>
          <a:bodyPr/>
          <a:lstStyle/>
          <a:p>
            <a:fld id="{33C783E2-4793-4F48-A271-51A73CC37D74}" type="slidenum">
              <a:rPr lang="fr-FR" smtClean="0"/>
              <a:t>41</a:t>
            </a:fld>
            <a:endParaRPr lang="fr-FR"/>
          </a:p>
        </p:txBody>
      </p:sp>
    </p:spTree>
    <p:extLst>
      <p:ext uri="{BB962C8B-B14F-4D97-AF65-F5344CB8AC3E}">
        <p14:creationId xmlns:p14="http://schemas.microsoft.com/office/powerpoint/2010/main" val="2854130502"/>
      </p:ext>
    </p:extLst>
  </p:cSld>
  <p:clrMapOvr>
    <a:masterClrMapping/>
  </p:clrMapOvr>
  <p:transition>
    <p:push di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Un cas particulier…</a:t>
            </a:r>
          </a:p>
        </p:txBody>
      </p:sp>
      <p:sp>
        <p:nvSpPr>
          <p:cNvPr id="5" name="Espace réservé du contenu 4"/>
          <p:cNvSpPr>
            <a:spLocks noGrp="1"/>
          </p:cNvSpPr>
          <p:nvPr>
            <p:ph idx="1"/>
          </p:nvPr>
        </p:nvSpPr>
        <p:spPr/>
        <p:txBody>
          <a:bodyPr>
            <a:normAutofit fontScale="92500" lnSpcReduction="10000"/>
          </a:bodyPr>
          <a:lstStyle/>
          <a:p>
            <a:pPr marL="0" indent="0">
              <a:buNone/>
            </a:pPr>
            <a:r>
              <a:rPr lang="fr-FR" dirty="0"/>
              <a:t>Si </a:t>
            </a:r>
            <a:r>
              <a:rPr lang="fr-FR" dirty="0">
                <a:solidFill>
                  <a:schemeClr val="accent4"/>
                </a:solidFill>
                <a:latin typeface="Consolas"/>
                <a:cs typeface="Consolas"/>
              </a:rPr>
              <a:t>T'</a:t>
            </a:r>
            <a:r>
              <a:rPr lang="fr-FR" dirty="0"/>
              <a:t> hérite de </a:t>
            </a:r>
            <a:r>
              <a:rPr lang="fr-FR" dirty="0" err="1">
                <a:solidFill>
                  <a:schemeClr val="accent4"/>
                </a:solidFill>
                <a:latin typeface="Consolas"/>
                <a:cs typeface="Consolas"/>
              </a:rPr>
              <a:t>T</a:t>
            </a:r>
            <a:r>
              <a:rPr lang="fr-FR" dirty="0"/>
              <a:t>, </a:t>
            </a:r>
            <a:r>
              <a:rPr lang="fr-FR" dirty="0">
                <a:solidFill>
                  <a:schemeClr val="accent4"/>
                </a:solidFill>
                <a:latin typeface="Consolas"/>
                <a:cs typeface="Consolas"/>
              </a:rPr>
              <a:t>C&lt;T'&gt;</a:t>
            </a:r>
            <a:r>
              <a:rPr lang="fr-FR" dirty="0"/>
              <a:t> n'hérite pas de </a:t>
            </a:r>
            <a:r>
              <a:rPr lang="fr-FR" dirty="0">
                <a:solidFill>
                  <a:schemeClr val="accent4"/>
                </a:solidFill>
                <a:latin typeface="Consolas"/>
                <a:cs typeface="Consolas"/>
              </a:rPr>
              <a:t>C&lt;</a:t>
            </a:r>
            <a:r>
              <a:rPr lang="fr-FR" dirty="0" err="1">
                <a:solidFill>
                  <a:schemeClr val="accent4"/>
                </a:solidFill>
                <a:latin typeface="Consolas"/>
                <a:cs typeface="Consolas"/>
              </a:rPr>
              <a:t>T</a:t>
            </a:r>
            <a:r>
              <a:rPr lang="fr-FR" dirty="0">
                <a:solidFill>
                  <a:schemeClr val="accent4"/>
                </a:solidFill>
                <a:latin typeface="Consolas"/>
                <a:cs typeface="Consolas"/>
              </a:rPr>
              <a:t>&gt;</a:t>
            </a:r>
            <a:r>
              <a:rPr lang="fr-FR" dirty="0"/>
              <a:t>.</a:t>
            </a:r>
          </a:p>
          <a:p>
            <a:pPr marL="0" indent="0">
              <a:buNone/>
            </a:pPr>
            <a:endParaRPr lang="fr-FR" dirty="0"/>
          </a:p>
          <a:p>
            <a:pPr marL="0" indent="0">
              <a:buNone/>
            </a:pPr>
            <a:r>
              <a:rPr lang="fr-FR" dirty="0"/>
              <a:t>Montrons-le à l’aide d’un </a:t>
            </a:r>
            <a:r>
              <a:rPr lang="fr-FR" dirty="0">
                <a:solidFill>
                  <a:schemeClr val="accent4"/>
                </a:solidFill>
              </a:rPr>
              <a:t>raisonnement par l’absurde</a:t>
            </a:r>
            <a:r>
              <a:rPr lang="fr-FR" dirty="0"/>
              <a:t>:</a:t>
            </a:r>
          </a:p>
          <a:p>
            <a:pPr marL="0" indent="0">
              <a:buNone/>
            </a:pPr>
            <a:endParaRPr lang="fr-FR" dirty="0"/>
          </a:p>
          <a:p>
            <a:pPr marL="0" indent="0">
              <a:buNone/>
            </a:pPr>
            <a:r>
              <a:rPr lang="fr-FR" dirty="0"/>
              <a:t>Soit </a:t>
            </a:r>
            <a:r>
              <a:rPr lang="fr-FR" dirty="0" err="1">
                <a:solidFill>
                  <a:schemeClr val="accent4"/>
                </a:solidFill>
                <a:latin typeface="Consolas"/>
                <a:cs typeface="Consolas"/>
              </a:rPr>
              <a:t>Integer</a:t>
            </a:r>
            <a:r>
              <a:rPr lang="fr-FR" dirty="0"/>
              <a:t> et </a:t>
            </a:r>
            <a:r>
              <a:rPr lang="fr-FR" dirty="0">
                <a:solidFill>
                  <a:schemeClr val="accent4"/>
                </a:solidFill>
                <a:latin typeface="Consolas"/>
                <a:cs typeface="Consolas"/>
              </a:rPr>
              <a:t>Object</a:t>
            </a:r>
            <a:r>
              <a:rPr lang="fr-FR" dirty="0"/>
              <a:t>: </a:t>
            </a:r>
            <a:r>
              <a:rPr lang="fr-FR" dirty="0" err="1">
                <a:solidFill>
                  <a:schemeClr val="accent4"/>
                </a:solidFill>
                <a:latin typeface="Consolas"/>
                <a:cs typeface="Consolas"/>
              </a:rPr>
              <a:t>Integer</a:t>
            </a:r>
            <a:r>
              <a:rPr lang="fr-FR" dirty="0"/>
              <a:t> hérite de </a:t>
            </a:r>
            <a:r>
              <a:rPr lang="fr-FR" dirty="0">
                <a:solidFill>
                  <a:schemeClr val="accent4"/>
                </a:solidFill>
                <a:latin typeface="Consolas"/>
                <a:cs typeface="Consolas"/>
              </a:rPr>
              <a:t>Object</a:t>
            </a:r>
            <a:r>
              <a:rPr lang="fr-FR" dirty="0"/>
              <a:t>.</a:t>
            </a:r>
          </a:p>
          <a:p>
            <a:pPr marL="0" indent="0">
              <a:buNone/>
            </a:pPr>
            <a:endParaRPr lang="fr-FR" dirty="0"/>
          </a:p>
          <a:p>
            <a:pPr marL="0" indent="0">
              <a:buNone/>
            </a:pPr>
            <a:r>
              <a:rPr lang="fr-FR" dirty="0"/>
              <a:t>En supposant que nous ayons les objets suivants:</a:t>
            </a:r>
          </a:p>
          <a:p>
            <a:pPr marL="0" indent="0">
              <a:buNone/>
            </a:pPr>
            <a:r>
              <a:rPr lang="fr-FR" dirty="0">
                <a:solidFill>
                  <a:schemeClr val="accent4"/>
                </a:solidFill>
                <a:latin typeface="Consolas"/>
                <a:cs typeface="Consolas"/>
              </a:rPr>
              <a:t>Object o1, o2; </a:t>
            </a:r>
            <a:r>
              <a:rPr lang="fr-FR" dirty="0" err="1">
                <a:solidFill>
                  <a:schemeClr val="accent4"/>
                </a:solidFill>
                <a:latin typeface="Consolas"/>
                <a:cs typeface="Consolas"/>
              </a:rPr>
              <a:t>Integer</a:t>
            </a:r>
            <a:r>
              <a:rPr lang="fr-FR" dirty="0">
                <a:solidFill>
                  <a:schemeClr val="accent4"/>
                </a:solidFill>
                <a:latin typeface="Consolas"/>
                <a:cs typeface="Consolas"/>
              </a:rPr>
              <a:t> i1, i2; </a:t>
            </a:r>
            <a:br>
              <a:rPr lang="fr-FR" dirty="0">
                <a:solidFill>
                  <a:schemeClr val="accent4"/>
                </a:solidFill>
                <a:latin typeface="Consolas"/>
                <a:cs typeface="Consolas"/>
              </a:rPr>
            </a:br>
            <a:r>
              <a:rPr lang="fr-FR" dirty="0">
                <a:solidFill>
                  <a:schemeClr val="accent4"/>
                </a:solidFill>
                <a:latin typeface="Consolas"/>
                <a:cs typeface="Consolas"/>
              </a:rPr>
              <a:t>Couple&lt;Object&gt; </a:t>
            </a:r>
            <a:r>
              <a:rPr lang="fr-FR" dirty="0" err="1">
                <a:solidFill>
                  <a:schemeClr val="accent4"/>
                </a:solidFill>
                <a:latin typeface="Consolas"/>
                <a:cs typeface="Consolas"/>
              </a:rPr>
              <a:t>co</a:t>
            </a:r>
            <a:r>
              <a:rPr lang="fr-FR" dirty="0">
                <a:solidFill>
                  <a:schemeClr val="accent4"/>
                </a:solidFill>
                <a:latin typeface="Consolas"/>
                <a:cs typeface="Consolas"/>
              </a:rPr>
              <a:t> = new Couple(o1, o2); </a:t>
            </a:r>
            <a:br>
              <a:rPr lang="fr-FR" dirty="0">
                <a:solidFill>
                  <a:schemeClr val="accent4"/>
                </a:solidFill>
                <a:latin typeface="Consolas"/>
                <a:cs typeface="Consolas"/>
              </a:rPr>
            </a:br>
            <a:r>
              <a:rPr lang="fr-FR" dirty="0">
                <a:solidFill>
                  <a:schemeClr val="accent4"/>
                </a:solidFill>
                <a:latin typeface="Consolas"/>
                <a:cs typeface="Consolas"/>
              </a:rPr>
              <a:t>Couple&lt;</a:t>
            </a:r>
            <a:r>
              <a:rPr lang="fr-FR" dirty="0" err="1">
                <a:solidFill>
                  <a:schemeClr val="accent4"/>
                </a:solidFill>
                <a:latin typeface="Consolas"/>
                <a:cs typeface="Consolas"/>
              </a:rPr>
              <a:t>Integer</a:t>
            </a:r>
            <a:r>
              <a:rPr lang="fr-FR" dirty="0">
                <a:solidFill>
                  <a:schemeClr val="accent4"/>
                </a:solidFill>
                <a:latin typeface="Consolas"/>
                <a:cs typeface="Consolas"/>
              </a:rPr>
              <a:t>&gt; ci = new Couple(i1, i2);</a:t>
            </a:r>
            <a:endParaRPr lang="fr-FR" dirty="0">
              <a:solidFill>
                <a:schemeClr val="accent4"/>
              </a:solidFill>
            </a:endParaRPr>
          </a:p>
        </p:txBody>
      </p:sp>
      <p:sp>
        <p:nvSpPr>
          <p:cNvPr id="3" name="Espace réservé du numéro de diapositive 2">
            <a:extLst>
              <a:ext uri="{FF2B5EF4-FFF2-40B4-BE49-F238E27FC236}">
                <a16:creationId xmlns:a16="http://schemas.microsoft.com/office/drawing/2014/main" id="{6574C017-DDA2-8BC1-4D75-9524F4A9CFDB}"/>
              </a:ext>
            </a:extLst>
          </p:cNvPr>
          <p:cNvSpPr>
            <a:spLocks noGrp="1"/>
          </p:cNvSpPr>
          <p:nvPr>
            <p:ph type="sldNum" sz="quarter" idx="4"/>
          </p:nvPr>
        </p:nvSpPr>
        <p:spPr/>
        <p:txBody>
          <a:bodyPr/>
          <a:lstStyle/>
          <a:p>
            <a:fld id="{33C783E2-4793-4F48-A271-51A73CC37D74}" type="slidenum">
              <a:rPr lang="fr-FR" smtClean="0"/>
              <a:t>42</a:t>
            </a:fld>
            <a:endParaRPr lang="fr-FR"/>
          </a:p>
        </p:txBody>
      </p:sp>
    </p:spTree>
    <p:extLst>
      <p:ext uri="{BB962C8B-B14F-4D97-AF65-F5344CB8AC3E}">
        <p14:creationId xmlns:p14="http://schemas.microsoft.com/office/powerpoint/2010/main" val="2586929519"/>
      </p:ext>
    </p:extLst>
  </p:cSld>
  <p:clrMapOvr>
    <a:masterClrMapping/>
  </p:clrMapOvr>
  <p:transition>
    <p:push di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Un cas particulier…</a:t>
            </a:r>
          </a:p>
        </p:txBody>
      </p:sp>
      <p:sp>
        <p:nvSpPr>
          <p:cNvPr id="5" name="Espace réservé du contenu 4"/>
          <p:cNvSpPr>
            <a:spLocks noGrp="1"/>
          </p:cNvSpPr>
          <p:nvPr>
            <p:ph idx="1"/>
          </p:nvPr>
        </p:nvSpPr>
        <p:spPr/>
        <p:txBody>
          <a:bodyPr>
            <a:normAutofit/>
          </a:bodyPr>
          <a:lstStyle/>
          <a:p>
            <a:pPr marL="0" indent="0">
              <a:buNone/>
            </a:pPr>
            <a:r>
              <a:rPr lang="fr-FR" sz="2000" dirty="0"/>
              <a:t>En mémoire, nous avons donc:</a:t>
            </a:r>
          </a:p>
          <a:p>
            <a:pPr marL="0" indent="0">
              <a:buNone/>
            </a:pPr>
            <a:r>
              <a:rPr lang="fr-FR" sz="2000" dirty="0">
                <a:solidFill>
                  <a:schemeClr val="accent4"/>
                </a:solidFill>
                <a:latin typeface="Consolas"/>
                <a:cs typeface="Consolas"/>
              </a:rPr>
              <a:t>Object o1, o2; </a:t>
            </a:r>
            <a:r>
              <a:rPr lang="fr-FR" sz="2000" dirty="0" err="1">
                <a:solidFill>
                  <a:schemeClr val="accent4"/>
                </a:solidFill>
                <a:latin typeface="Consolas"/>
                <a:cs typeface="Consolas"/>
              </a:rPr>
              <a:t>Integer</a:t>
            </a:r>
            <a:r>
              <a:rPr lang="fr-FR" sz="2000" dirty="0">
                <a:solidFill>
                  <a:schemeClr val="accent4"/>
                </a:solidFill>
                <a:latin typeface="Consolas"/>
                <a:cs typeface="Consolas"/>
              </a:rPr>
              <a:t> i1, i2; </a:t>
            </a:r>
            <a:br>
              <a:rPr lang="fr-FR" sz="2000" dirty="0">
                <a:solidFill>
                  <a:schemeClr val="accent4"/>
                </a:solidFill>
                <a:latin typeface="Consolas"/>
                <a:cs typeface="Consolas"/>
              </a:rPr>
            </a:br>
            <a:r>
              <a:rPr lang="fr-FR" sz="2000" dirty="0">
                <a:solidFill>
                  <a:schemeClr val="accent4"/>
                </a:solidFill>
                <a:latin typeface="Consolas"/>
                <a:cs typeface="Consolas"/>
              </a:rPr>
              <a:t>Couple&lt;Object&gt; </a:t>
            </a:r>
            <a:r>
              <a:rPr lang="fr-FR" sz="2000" dirty="0" err="1">
                <a:solidFill>
                  <a:schemeClr val="accent4"/>
                </a:solidFill>
                <a:latin typeface="Consolas"/>
                <a:cs typeface="Consolas"/>
              </a:rPr>
              <a:t>co</a:t>
            </a:r>
            <a:r>
              <a:rPr lang="fr-FR" sz="2000" dirty="0">
                <a:solidFill>
                  <a:schemeClr val="accent4"/>
                </a:solidFill>
                <a:latin typeface="Consolas"/>
                <a:cs typeface="Consolas"/>
              </a:rPr>
              <a:t> = new Couple(o1, o2); </a:t>
            </a:r>
            <a:br>
              <a:rPr lang="fr-FR" sz="2000" dirty="0">
                <a:solidFill>
                  <a:schemeClr val="accent4"/>
                </a:solidFill>
                <a:latin typeface="Consolas"/>
                <a:cs typeface="Consolas"/>
              </a:rPr>
            </a:br>
            <a:r>
              <a:rPr lang="fr-FR" sz="2000" dirty="0">
                <a:solidFill>
                  <a:schemeClr val="accent4"/>
                </a:solidFill>
                <a:latin typeface="Consolas"/>
                <a:cs typeface="Consolas"/>
              </a:rPr>
              <a:t>Couple&lt;</a:t>
            </a:r>
            <a:r>
              <a:rPr lang="fr-FR" sz="2000" dirty="0" err="1">
                <a:solidFill>
                  <a:schemeClr val="accent4"/>
                </a:solidFill>
                <a:latin typeface="Consolas"/>
                <a:cs typeface="Consolas"/>
              </a:rPr>
              <a:t>Integer</a:t>
            </a:r>
            <a:r>
              <a:rPr lang="fr-FR" sz="2000" dirty="0">
                <a:solidFill>
                  <a:schemeClr val="accent4"/>
                </a:solidFill>
                <a:latin typeface="Consolas"/>
                <a:cs typeface="Consolas"/>
              </a:rPr>
              <a:t>&gt; ci = new Couple(i1, i2);</a:t>
            </a:r>
            <a:endParaRPr lang="fr-FR" sz="2000" dirty="0">
              <a:solidFill>
                <a:schemeClr val="accent4"/>
              </a:solidFill>
            </a:endParaRPr>
          </a:p>
        </p:txBody>
      </p:sp>
      <p:grpSp>
        <p:nvGrpSpPr>
          <p:cNvPr id="16" name="Groupe 15">
            <a:extLst>
              <a:ext uri="{FF2B5EF4-FFF2-40B4-BE49-F238E27FC236}">
                <a16:creationId xmlns:a16="http://schemas.microsoft.com/office/drawing/2014/main" id="{F9811068-60C6-044F-851C-B934B7FEE5CF}"/>
              </a:ext>
            </a:extLst>
          </p:cNvPr>
          <p:cNvGrpSpPr/>
          <p:nvPr/>
        </p:nvGrpSpPr>
        <p:grpSpPr>
          <a:xfrm>
            <a:off x="8960613" y="3463020"/>
            <a:ext cx="1243175" cy="1284270"/>
            <a:chOff x="5003513" y="3463020"/>
            <a:chExt cx="1243175" cy="1284270"/>
          </a:xfrm>
        </p:grpSpPr>
        <p:sp>
          <p:nvSpPr>
            <p:cNvPr id="10" name="Rectangle 9">
              <a:extLst>
                <a:ext uri="{FF2B5EF4-FFF2-40B4-BE49-F238E27FC236}">
                  <a16:creationId xmlns:a16="http://schemas.microsoft.com/office/drawing/2014/main" id="{EEE70FEA-9394-1B44-8FAD-374DC262A283}"/>
                </a:ext>
              </a:extLst>
            </p:cNvPr>
            <p:cNvSpPr/>
            <p:nvPr/>
          </p:nvSpPr>
          <p:spPr>
            <a:xfrm>
              <a:off x="5003513" y="3463020"/>
              <a:ext cx="1243175" cy="1284270"/>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6" name="Rectangle 5">
              <a:extLst>
                <a:ext uri="{FF2B5EF4-FFF2-40B4-BE49-F238E27FC236}">
                  <a16:creationId xmlns:a16="http://schemas.microsoft.com/office/drawing/2014/main" id="{2667FEE4-6462-A745-B783-6CF6134B53F5}"/>
                </a:ext>
              </a:extLst>
            </p:cNvPr>
            <p:cNvSpPr/>
            <p:nvPr/>
          </p:nvSpPr>
          <p:spPr>
            <a:xfrm>
              <a:off x="5188449" y="3627407"/>
              <a:ext cx="914400" cy="380144"/>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latin typeface="Consolas" panose="020B0609020204030204" pitchFamily="49" charset="0"/>
                  <a:cs typeface="Consolas" panose="020B0609020204030204" pitchFamily="49" charset="0"/>
                </a:rPr>
                <a:t>Object</a:t>
              </a:r>
            </a:p>
          </p:txBody>
        </p:sp>
        <p:sp>
          <p:nvSpPr>
            <p:cNvPr id="7" name="Rectangle 6">
              <a:extLst>
                <a:ext uri="{FF2B5EF4-FFF2-40B4-BE49-F238E27FC236}">
                  <a16:creationId xmlns:a16="http://schemas.microsoft.com/office/drawing/2014/main" id="{7D893C86-DDA4-FE40-9F14-5ABF17AECCF2}"/>
                </a:ext>
              </a:extLst>
            </p:cNvPr>
            <p:cNvSpPr/>
            <p:nvPr/>
          </p:nvSpPr>
          <p:spPr>
            <a:xfrm>
              <a:off x="5188449" y="4129871"/>
              <a:ext cx="914400" cy="380144"/>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latin typeface="Consolas" panose="020B0609020204030204" pitchFamily="49" charset="0"/>
                  <a:cs typeface="Consolas" panose="020B0609020204030204" pitchFamily="49" charset="0"/>
                </a:rPr>
                <a:t>Object</a:t>
              </a:r>
            </a:p>
          </p:txBody>
        </p:sp>
      </p:grpSp>
      <p:grpSp>
        <p:nvGrpSpPr>
          <p:cNvPr id="17" name="Groupe 16">
            <a:extLst>
              <a:ext uri="{FF2B5EF4-FFF2-40B4-BE49-F238E27FC236}">
                <a16:creationId xmlns:a16="http://schemas.microsoft.com/office/drawing/2014/main" id="{1D916DB3-F667-AB47-A15C-7DA0123C1AD9}"/>
              </a:ext>
            </a:extLst>
          </p:cNvPr>
          <p:cNvGrpSpPr/>
          <p:nvPr/>
        </p:nvGrpSpPr>
        <p:grpSpPr>
          <a:xfrm>
            <a:off x="8960613" y="4921950"/>
            <a:ext cx="1243175" cy="1284270"/>
            <a:chOff x="5003513" y="4921950"/>
            <a:chExt cx="1243175" cy="1284270"/>
          </a:xfrm>
        </p:grpSpPr>
        <p:sp>
          <p:nvSpPr>
            <p:cNvPr id="11" name="Rectangle 10">
              <a:extLst>
                <a:ext uri="{FF2B5EF4-FFF2-40B4-BE49-F238E27FC236}">
                  <a16:creationId xmlns:a16="http://schemas.microsoft.com/office/drawing/2014/main" id="{032A49DB-E104-2747-9FEB-1DF701893709}"/>
                </a:ext>
              </a:extLst>
            </p:cNvPr>
            <p:cNvSpPr/>
            <p:nvPr/>
          </p:nvSpPr>
          <p:spPr>
            <a:xfrm>
              <a:off x="5003513" y="4921950"/>
              <a:ext cx="1243175" cy="1284270"/>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8" name="Rectangle 7">
              <a:extLst>
                <a:ext uri="{FF2B5EF4-FFF2-40B4-BE49-F238E27FC236}">
                  <a16:creationId xmlns:a16="http://schemas.microsoft.com/office/drawing/2014/main" id="{706E8D23-DF27-904D-8DD6-82331AF45A4D}"/>
                </a:ext>
              </a:extLst>
            </p:cNvPr>
            <p:cNvSpPr/>
            <p:nvPr/>
          </p:nvSpPr>
          <p:spPr>
            <a:xfrm>
              <a:off x="5188449" y="5076063"/>
              <a:ext cx="914400" cy="380144"/>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1400" dirty="0" err="1">
                  <a:latin typeface="Consolas" panose="020B0609020204030204" pitchFamily="49" charset="0"/>
                  <a:cs typeface="Consolas" panose="020B0609020204030204" pitchFamily="49" charset="0"/>
                </a:rPr>
                <a:t>Integer</a:t>
              </a:r>
              <a:endParaRPr lang="fr-FR" sz="1400" dirty="0">
                <a:latin typeface="Consolas" panose="020B0609020204030204" pitchFamily="49" charset="0"/>
                <a:cs typeface="Consolas" panose="020B0609020204030204" pitchFamily="49" charset="0"/>
              </a:endParaRPr>
            </a:p>
          </p:txBody>
        </p:sp>
        <p:sp>
          <p:nvSpPr>
            <p:cNvPr id="9" name="Rectangle 8">
              <a:extLst>
                <a:ext uri="{FF2B5EF4-FFF2-40B4-BE49-F238E27FC236}">
                  <a16:creationId xmlns:a16="http://schemas.microsoft.com/office/drawing/2014/main" id="{ACF848E3-8143-8E42-B3F6-318FE3E61FBB}"/>
                </a:ext>
              </a:extLst>
            </p:cNvPr>
            <p:cNvSpPr/>
            <p:nvPr/>
          </p:nvSpPr>
          <p:spPr>
            <a:xfrm>
              <a:off x="5188449" y="5578527"/>
              <a:ext cx="914400" cy="380144"/>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1400">
                  <a:latin typeface="Consolas" panose="020B0609020204030204" pitchFamily="49" charset="0"/>
                  <a:cs typeface="Consolas" panose="020B0609020204030204" pitchFamily="49" charset="0"/>
                </a:rPr>
                <a:t>Integer</a:t>
              </a:r>
              <a:endParaRPr lang="fr-FR" sz="1400" dirty="0">
                <a:latin typeface="Consolas" panose="020B0609020204030204" pitchFamily="49" charset="0"/>
                <a:cs typeface="Consolas" panose="020B0609020204030204" pitchFamily="49" charset="0"/>
              </a:endParaRPr>
            </a:p>
          </p:txBody>
        </p:sp>
      </p:grpSp>
      <p:sp>
        <p:nvSpPr>
          <p:cNvPr id="14" name="Bulle rectangulaire 13">
            <a:extLst>
              <a:ext uri="{FF2B5EF4-FFF2-40B4-BE49-F238E27FC236}">
                <a16:creationId xmlns:a16="http://schemas.microsoft.com/office/drawing/2014/main" id="{44A12971-966D-E64D-B876-826E10FCBDA5}"/>
              </a:ext>
            </a:extLst>
          </p:cNvPr>
          <p:cNvSpPr/>
          <p:nvPr/>
        </p:nvSpPr>
        <p:spPr>
          <a:xfrm>
            <a:off x="6742448" y="3627407"/>
            <a:ext cx="660114" cy="507870"/>
          </a:xfrm>
          <a:prstGeom prst="wedgeRectCallout">
            <a:avLst>
              <a:gd name="adj1" fmla="val 287203"/>
              <a:gd name="adj2" fmla="val -1842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err="1">
                <a:solidFill>
                  <a:schemeClr val="tx1"/>
                </a:solidFill>
                <a:latin typeface="Consolas" panose="020B0609020204030204" pitchFamily="49" charset="0"/>
                <a:cs typeface="Consolas" panose="020B0609020204030204" pitchFamily="49" charset="0"/>
              </a:rPr>
              <a:t>co</a:t>
            </a:r>
            <a:endParaRPr lang="fr-FR" dirty="0"/>
          </a:p>
        </p:txBody>
      </p:sp>
      <p:sp>
        <p:nvSpPr>
          <p:cNvPr id="15" name="Bulle rectangulaire 14">
            <a:extLst>
              <a:ext uri="{FF2B5EF4-FFF2-40B4-BE49-F238E27FC236}">
                <a16:creationId xmlns:a16="http://schemas.microsoft.com/office/drawing/2014/main" id="{057D8F66-A337-DA49-8EDE-B4F0B696BD45}"/>
              </a:ext>
            </a:extLst>
          </p:cNvPr>
          <p:cNvSpPr/>
          <p:nvPr/>
        </p:nvSpPr>
        <p:spPr>
          <a:xfrm>
            <a:off x="6742448" y="5086337"/>
            <a:ext cx="660114" cy="507870"/>
          </a:xfrm>
          <a:prstGeom prst="wedgeRectCallout">
            <a:avLst>
              <a:gd name="adj1" fmla="val 284090"/>
              <a:gd name="adj2" fmla="val -1842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latin typeface="Consolas" panose="020B0609020204030204" pitchFamily="49" charset="0"/>
                <a:cs typeface="Consolas" panose="020B0609020204030204" pitchFamily="49" charset="0"/>
              </a:rPr>
              <a:t>ci</a:t>
            </a:r>
            <a:endParaRPr lang="fr-FR" dirty="0"/>
          </a:p>
        </p:txBody>
      </p:sp>
      <p:sp>
        <p:nvSpPr>
          <p:cNvPr id="18" name="Rectangle 17">
            <a:extLst>
              <a:ext uri="{FF2B5EF4-FFF2-40B4-BE49-F238E27FC236}">
                <a16:creationId xmlns:a16="http://schemas.microsoft.com/office/drawing/2014/main" id="{B5B3A4C0-C0A7-6C43-841D-33405F2E360D}"/>
              </a:ext>
            </a:extLst>
          </p:cNvPr>
          <p:cNvSpPr/>
          <p:nvPr/>
        </p:nvSpPr>
        <p:spPr>
          <a:xfrm>
            <a:off x="4858477" y="3638219"/>
            <a:ext cx="1957587" cy="369332"/>
          </a:xfrm>
          <a:prstGeom prst="rect">
            <a:avLst/>
          </a:prstGeom>
        </p:spPr>
        <p:txBody>
          <a:bodyPr wrap="none">
            <a:spAutoFit/>
          </a:bodyPr>
          <a:lstStyle/>
          <a:p>
            <a:r>
              <a:rPr lang="fr-FR" b="1" dirty="0">
                <a:solidFill>
                  <a:schemeClr val="accent4"/>
                </a:solidFill>
                <a:latin typeface="Consolas"/>
                <a:cs typeface="Consolas"/>
              </a:rPr>
              <a:t>Couple&lt;Object&gt;</a:t>
            </a:r>
            <a:endParaRPr lang="fr-FR" b="1" dirty="0">
              <a:solidFill>
                <a:schemeClr val="accent4"/>
              </a:solidFill>
            </a:endParaRPr>
          </a:p>
        </p:txBody>
      </p:sp>
      <p:sp>
        <p:nvSpPr>
          <p:cNvPr id="19" name="Rectangle 18">
            <a:extLst>
              <a:ext uri="{FF2B5EF4-FFF2-40B4-BE49-F238E27FC236}">
                <a16:creationId xmlns:a16="http://schemas.microsoft.com/office/drawing/2014/main" id="{CD907130-8CE3-914C-8DD5-36B4C44A8262}"/>
              </a:ext>
            </a:extLst>
          </p:cNvPr>
          <p:cNvSpPr/>
          <p:nvPr/>
        </p:nvSpPr>
        <p:spPr>
          <a:xfrm>
            <a:off x="4724915" y="5107423"/>
            <a:ext cx="2084225" cy="369332"/>
          </a:xfrm>
          <a:prstGeom prst="rect">
            <a:avLst/>
          </a:prstGeom>
        </p:spPr>
        <p:txBody>
          <a:bodyPr wrap="none">
            <a:spAutoFit/>
          </a:bodyPr>
          <a:lstStyle/>
          <a:p>
            <a:r>
              <a:rPr lang="fr-FR" b="1" dirty="0">
                <a:solidFill>
                  <a:schemeClr val="accent4"/>
                </a:solidFill>
                <a:latin typeface="Consolas"/>
                <a:cs typeface="Consolas"/>
              </a:rPr>
              <a:t>Couple&lt;</a:t>
            </a:r>
            <a:r>
              <a:rPr lang="fr-FR" b="1" dirty="0" err="1">
                <a:solidFill>
                  <a:schemeClr val="accent4"/>
                </a:solidFill>
                <a:latin typeface="Consolas"/>
                <a:cs typeface="Consolas"/>
              </a:rPr>
              <a:t>Integer</a:t>
            </a:r>
            <a:r>
              <a:rPr lang="fr-FR" b="1" dirty="0">
                <a:solidFill>
                  <a:schemeClr val="accent4"/>
                </a:solidFill>
                <a:latin typeface="Consolas"/>
                <a:cs typeface="Consolas"/>
              </a:rPr>
              <a:t>&gt;</a:t>
            </a:r>
            <a:endParaRPr lang="fr-FR" b="1" dirty="0">
              <a:solidFill>
                <a:schemeClr val="accent4"/>
              </a:solidFill>
            </a:endParaRPr>
          </a:p>
        </p:txBody>
      </p:sp>
      <p:sp>
        <p:nvSpPr>
          <p:cNvPr id="3" name="Espace réservé du numéro de diapositive 2">
            <a:extLst>
              <a:ext uri="{FF2B5EF4-FFF2-40B4-BE49-F238E27FC236}">
                <a16:creationId xmlns:a16="http://schemas.microsoft.com/office/drawing/2014/main" id="{6E8340FE-C616-167E-DD74-9AC69733148B}"/>
              </a:ext>
            </a:extLst>
          </p:cNvPr>
          <p:cNvSpPr>
            <a:spLocks noGrp="1"/>
          </p:cNvSpPr>
          <p:nvPr>
            <p:ph type="sldNum" sz="quarter" idx="4"/>
          </p:nvPr>
        </p:nvSpPr>
        <p:spPr/>
        <p:txBody>
          <a:bodyPr/>
          <a:lstStyle/>
          <a:p>
            <a:fld id="{33C783E2-4793-4F48-A271-51A73CC37D74}" type="slidenum">
              <a:rPr lang="fr-FR" smtClean="0"/>
              <a:t>43</a:t>
            </a:fld>
            <a:endParaRPr lang="fr-FR"/>
          </a:p>
        </p:txBody>
      </p:sp>
    </p:spTree>
    <p:extLst>
      <p:ext uri="{BB962C8B-B14F-4D97-AF65-F5344CB8AC3E}">
        <p14:creationId xmlns:p14="http://schemas.microsoft.com/office/powerpoint/2010/main" val="1359696053"/>
      </p:ext>
    </p:extLst>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8" grpId="0"/>
      <p:bldP spid="1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Un cas particulier…</a:t>
            </a:r>
          </a:p>
        </p:txBody>
      </p:sp>
      <p:sp>
        <p:nvSpPr>
          <p:cNvPr id="5" name="Espace réservé du contenu 4"/>
          <p:cNvSpPr>
            <a:spLocks noGrp="1"/>
          </p:cNvSpPr>
          <p:nvPr>
            <p:ph idx="1"/>
          </p:nvPr>
        </p:nvSpPr>
        <p:spPr>
          <a:xfrm>
            <a:off x="838200" y="1825626"/>
            <a:ext cx="10515600" cy="565044"/>
          </a:xfrm>
        </p:spPr>
        <p:txBody>
          <a:bodyPr>
            <a:normAutofit/>
          </a:bodyPr>
          <a:lstStyle/>
          <a:p>
            <a:pPr marL="0" indent="0">
              <a:buNone/>
            </a:pPr>
            <a:r>
              <a:rPr lang="fr-FR" sz="2000" dirty="0"/>
              <a:t>Si on considère (erronément) que </a:t>
            </a:r>
            <a:r>
              <a:rPr lang="fr-FR" sz="1800" dirty="0">
                <a:solidFill>
                  <a:schemeClr val="accent4"/>
                </a:solidFill>
                <a:latin typeface="Consolas"/>
                <a:cs typeface="Consolas"/>
              </a:rPr>
              <a:t>Couple&lt;Integer&gt;</a:t>
            </a:r>
            <a:r>
              <a:rPr lang="fr-FR" sz="2000" dirty="0"/>
              <a:t> hérite de </a:t>
            </a:r>
            <a:r>
              <a:rPr lang="fr-FR" sz="1800" dirty="0">
                <a:solidFill>
                  <a:schemeClr val="accent4"/>
                </a:solidFill>
                <a:latin typeface="Consolas"/>
                <a:cs typeface="Consolas"/>
              </a:rPr>
              <a:t>Couple&lt;Object&gt;</a:t>
            </a:r>
            <a:r>
              <a:rPr lang="fr-FR" sz="2000" dirty="0"/>
              <a:t>, on pourrait écrire:</a:t>
            </a:r>
          </a:p>
          <a:p>
            <a:pPr marL="0" indent="0">
              <a:buNone/>
            </a:pPr>
            <a:endParaRPr lang="fr-FR" sz="2000" dirty="0">
              <a:solidFill>
                <a:schemeClr val="accent4"/>
              </a:solidFill>
              <a:latin typeface="Consolas"/>
              <a:cs typeface="Consolas"/>
            </a:endParaRPr>
          </a:p>
          <a:p>
            <a:pPr marL="0" indent="0">
              <a:buNone/>
            </a:pPr>
            <a:endParaRPr lang="fr-FR" sz="2000" dirty="0">
              <a:solidFill>
                <a:schemeClr val="accent4"/>
              </a:solidFill>
              <a:latin typeface="Consolas"/>
              <a:cs typeface="Consolas"/>
            </a:endParaRPr>
          </a:p>
        </p:txBody>
      </p:sp>
      <p:grpSp>
        <p:nvGrpSpPr>
          <p:cNvPr id="12" name="Groupe 11">
            <a:extLst>
              <a:ext uri="{FF2B5EF4-FFF2-40B4-BE49-F238E27FC236}">
                <a16:creationId xmlns:a16="http://schemas.microsoft.com/office/drawing/2014/main" id="{6EC020AE-55A3-5A45-B09E-7FEE81FB2355}"/>
              </a:ext>
            </a:extLst>
          </p:cNvPr>
          <p:cNvGrpSpPr/>
          <p:nvPr/>
        </p:nvGrpSpPr>
        <p:grpSpPr>
          <a:xfrm>
            <a:off x="8439267" y="4061826"/>
            <a:ext cx="1243175" cy="1284270"/>
            <a:chOff x="5003513" y="3463020"/>
            <a:chExt cx="1243175" cy="1284270"/>
          </a:xfrm>
        </p:grpSpPr>
        <p:sp>
          <p:nvSpPr>
            <p:cNvPr id="13" name="Rectangle 12">
              <a:extLst>
                <a:ext uri="{FF2B5EF4-FFF2-40B4-BE49-F238E27FC236}">
                  <a16:creationId xmlns:a16="http://schemas.microsoft.com/office/drawing/2014/main" id="{56255149-EEC5-974C-9BD8-27729BD11937}"/>
                </a:ext>
              </a:extLst>
            </p:cNvPr>
            <p:cNvSpPr/>
            <p:nvPr/>
          </p:nvSpPr>
          <p:spPr>
            <a:xfrm>
              <a:off x="5003513" y="3463020"/>
              <a:ext cx="1243175" cy="1284270"/>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4" name="Rectangle 13">
              <a:extLst>
                <a:ext uri="{FF2B5EF4-FFF2-40B4-BE49-F238E27FC236}">
                  <a16:creationId xmlns:a16="http://schemas.microsoft.com/office/drawing/2014/main" id="{31239ED2-3182-0F4B-93E9-02AE4FFEDF15}"/>
                </a:ext>
              </a:extLst>
            </p:cNvPr>
            <p:cNvSpPr/>
            <p:nvPr/>
          </p:nvSpPr>
          <p:spPr>
            <a:xfrm>
              <a:off x="5188449" y="3627407"/>
              <a:ext cx="914400" cy="380144"/>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latin typeface="Consolas" panose="020B0609020204030204" pitchFamily="49" charset="0"/>
                  <a:cs typeface="Consolas" panose="020B0609020204030204" pitchFamily="49" charset="0"/>
                </a:rPr>
                <a:t>Object</a:t>
              </a:r>
            </a:p>
          </p:txBody>
        </p:sp>
        <p:sp>
          <p:nvSpPr>
            <p:cNvPr id="15" name="Rectangle 14">
              <a:extLst>
                <a:ext uri="{FF2B5EF4-FFF2-40B4-BE49-F238E27FC236}">
                  <a16:creationId xmlns:a16="http://schemas.microsoft.com/office/drawing/2014/main" id="{6ED92B5E-AC08-AA40-B080-C70A0F745C37}"/>
                </a:ext>
              </a:extLst>
            </p:cNvPr>
            <p:cNvSpPr/>
            <p:nvPr/>
          </p:nvSpPr>
          <p:spPr>
            <a:xfrm>
              <a:off x="5188449" y="4129871"/>
              <a:ext cx="914400" cy="380144"/>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latin typeface="Consolas" panose="020B0609020204030204" pitchFamily="49" charset="0"/>
                  <a:cs typeface="Consolas" panose="020B0609020204030204" pitchFamily="49" charset="0"/>
                </a:rPr>
                <a:t>Object</a:t>
              </a:r>
            </a:p>
          </p:txBody>
        </p:sp>
      </p:grpSp>
      <p:grpSp>
        <p:nvGrpSpPr>
          <p:cNvPr id="16" name="Groupe 15">
            <a:extLst>
              <a:ext uri="{FF2B5EF4-FFF2-40B4-BE49-F238E27FC236}">
                <a16:creationId xmlns:a16="http://schemas.microsoft.com/office/drawing/2014/main" id="{CC798948-6464-CA42-94FD-4401BDA0ADED}"/>
              </a:ext>
            </a:extLst>
          </p:cNvPr>
          <p:cNvGrpSpPr/>
          <p:nvPr/>
        </p:nvGrpSpPr>
        <p:grpSpPr>
          <a:xfrm>
            <a:off x="8439267" y="5520756"/>
            <a:ext cx="1243175" cy="1284270"/>
            <a:chOff x="5003513" y="4921950"/>
            <a:chExt cx="1243175" cy="1284270"/>
          </a:xfrm>
        </p:grpSpPr>
        <p:sp>
          <p:nvSpPr>
            <p:cNvPr id="17" name="Rectangle 16">
              <a:extLst>
                <a:ext uri="{FF2B5EF4-FFF2-40B4-BE49-F238E27FC236}">
                  <a16:creationId xmlns:a16="http://schemas.microsoft.com/office/drawing/2014/main" id="{AC71604B-AD90-734D-BA9C-DA9FD9BA3369}"/>
                </a:ext>
              </a:extLst>
            </p:cNvPr>
            <p:cNvSpPr/>
            <p:nvPr/>
          </p:nvSpPr>
          <p:spPr>
            <a:xfrm>
              <a:off x="5003513" y="4921950"/>
              <a:ext cx="1243175" cy="1284270"/>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Rectangle 17">
              <a:extLst>
                <a:ext uri="{FF2B5EF4-FFF2-40B4-BE49-F238E27FC236}">
                  <a16:creationId xmlns:a16="http://schemas.microsoft.com/office/drawing/2014/main" id="{9C878C08-63BC-7740-9AC1-15016A2E8BDF}"/>
                </a:ext>
              </a:extLst>
            </p:cNvPr>
            <p:cNvSpPr/>
            <p:nvPr/>
          </p:nvSpPr>
          <p:spPr>
            <a:xfrm>
              <a:off x="5188449" y="5076063"/>
              <a:ext cx="914400" cy="380144"/>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1400" dirty="0" err="1">
                  <a:latin typeface="Consolas" panose="020B0609020204030204" pitchFamily="49" charset="0"/>
                  <a:cs typeface="Consolas" panose="020B0609020204030204" pitchFamily="49" charset="0"/>
                </a:rPr>
                <a:t>Integer</a:t>
              </a:r>
              <a:endParaRPr lang="fr-FR" sz="1400" dirty="0">
                <a:latin typeface="Consolas" panose="020B0609020204030204" pitchFamily="49" charset="0"/>
                <a:cs typeface="Consolas" panose="020B0609020204030204" pitchFamily="49" charset="0"/>
              </a:endParaRPr>
            </a:p>
          </p:txBody>
        </p:sp>
        <p:sp>
          <p:nvSpPr>
            <p:cNvPr id="19" name="Rectangle 18">
              <a:extLst>
                <a:ext uri="{FF2B5EF4-FFF2-40B4-BE49-F238E27FC236}">
                  <a16:creationId xmlns:a16="http://schemas.microsoft.com/office/drawing/2014/main" id="{6BDE2585-FAAE-7E40-B6BF-31B9FDA060C9}"/>
                </a:ext>
              </a:extLst>
            </p:cNvPr>
            <p:cNvSpPr/>
            <p:nvPr/>
          </p:nvSpPr>
          <p:spPr>
            <a:xfrm>
              <a:off x="5188449" y="5578527"/>
              <a:ext cx="914400" cy="380144"/>
            </a:xfrm>
            <a:prstGeom prst="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fr-FR" sz="1400">
                  <a:latin typeface="Consolas" panose="020B0609020204030204" pitchFamily="49" charset="0"/>
                  <a:cs typeface="Consolas" panose="020B0609020204030204" pitchFamily="49" charset="0"/>
                </a:rPr>
                <a:t>Integer</a:t>
              </a:r>
              <a:endParaRPr lang="fr-FR" sz="1400" dirty="0">
                <a:latin typeface="Consolas" panose="020B0609020204030204" pitchFamily="49" charset="0"/>
                <a:cs typeface="Consolas" panose="020B0609020204030204" pitchFamily="49" charset="0"/>
              </a:endParaRPr>
            </a:p>
          </p:txBody>
        </p:sp>
      </p:grpSp>
      <p:sp>
        <p:nvSpPr>
          <p:cNvPr id="20" name="Bulle rectangulaire 19">
            <a:extLst>
              <a:ext uri="{FF2B5EF4-FFF2-40B4-BE49-F238E27FC236}">
                <a16:creationId xmlns:a16="http://schemas.microsoft.com/office/drawing/2014/main" id="{0AE59556-F40E-C34E-8ED0-51A5E5CA218A}"/>
              </a:ext>
            </a:extLst>
          </p:cNvPr>
          <p:cNvSpPr/>
          <p:nvPr/>
        </p:nvSpPr>
        <p:spPr>
          <a:xfrm>
            <a:off x="6221102" y="4226213"/>
            <a:ext cx="660114" cy="507870"/>
          </a:xfrm>
          <a:prstGeom prst="wedgeRectCallout">
            <a:avLst>
              <a:gd name="adj1" fmla="val 287203"/>
              <a:gd name="adj2" fmla="val -1842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err="1">
                <a:solidFill>
                  <a:schemeClr val="tx1"/>
                </a:solidFill>
                <a:latin typeface="Consolas" panose="020B0609020204030204" pitchFamily="49" charset="0"/>
                <a:cs typeface="Consolas" panose="020B0609020204030204" pitchFamily="49" charset="0"/>
              </a:rPr>
              <a:t>co</a:t>
            </a:r>
            <a:endParaRPr lang="fr-FR" dirty="0"/>
          </a:p>
        </p:txBody>
      </p:sp>
      <p:sp>
        <p:nvSpPr>
          <p:cNvPr id="21" name="Bulle rectangulaire 20">
            <a:extLst>
              <a:ext uri="{FF2B5EF4-FFF2-40B4-BE49-F238E27FC236}">
                <a16:creationId xmlns:a16="http://schemas.microsoft.com/office/drawing/2014/main" id="{6757CC39-3AE0-A645-A7D2-CE23547A9D10}"/>
              </a:ext>
            </a:extLst>
          </p:cNvPr>
          <p:cNvSpPr/>
          <p:nvPr/>
        </p:nvSpPr>
        <p:spPr>
          <a:xfrm>
            <a:off x="6221102" y="5685143"/>
            <a:ext cx="660114" cy="507870"/>
          </a:xfrm>
          <a:prstGeom prst="wedgeRectCallout">
            <a:avLst>
              <a:gd name="adj1" fmla="val 284090"/>
              <a:gd name="adj2" fmla="val -1842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latin typeface="Consolas" panose="020B0609020204030204" pitchFamily="49" charset="0"/>
                <a:cs typeface="Consolas" panose="020B0609020204030204" pitchFamily="49" charset="0"/>
              </a:rPr>
              <a:t>ci</a:t>
            </a:r>
            <a:endParaRPr lang="fr-FR" dirty="0"/>
          </a:p>
        </p:txBody>
      </p:sp>
      <p:sp>
        <p:nvSpPr>
          <p:cNvPr id="22" name="Bulle rectangulaire 21">
            <a:extLst>
              <a:ext uri="{FF2B5EF4-FFF2-40B4-BE49-F238E27FC236}">
                <a16:creationId xmlns:a16="http://schemas.microsoft.com/office/drawing/2014/main" id="{BD4838B5-305C-3B45-A6A4-663AB4F97442}"/>
              </a:ext>
            </a:extLst>
          </p:cNvPr>
          <p:cNvSpPr/>
          <p:nvPr/>
        </p:nvSpPr>
        <p:spPr>
          <a:xfrm>
            <a:off x="6221102" y="4226913"/>
            <a:ext cx="660114" cy="507870"/>
          </a:xfrm>
          <a:prstGeom prst="wedgeRectCallout">
            <a:avLst>
              <a:gd name="adj1" fmla="val 285647"/>
              <a:gd name="adj2" fmla="val 23850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err="1">
                <a:solidFill>
                  <a:schemeClr val="tx1"/>
                </a:solidFill>
                <a:latin typeface="Consolas" panose="020B0609020204030204" pitchFamily="49" charset="0"/>
                <a:cs typeface="Consolas" panose="020B0609020204030204" pitchFamily="49" charset="0"/>
              </a:rPr>
              <a:t>co</a:t>
            </a:r>
            <a:endParaRPr lang="fr-FR" dirty="0"/>
          </a:p>
        </p:txBody>
      </p:sp>
      <p:sp>
        <p:nvSpPr>
          <p:cNvPr id="23" name="Rectangle 22">
            <a:extLst>
              <a:ext uri="{FF2B5EF4-FFF2-40B4-BE49-F238E27FC236}">
                <a16:creationId xmlns:a16="http://schemas.microsoft.com/office/drawing/2014/main" id="{4AEF5132-BB88-D340-AD05-FFCFEFD91C5B}"/>
              </a:ext>
            </a:extLst>
          </p:cNvPr>
          <p:cNvSpPr/>
          <p:nvPr/>
        </p:nvSpPr>
        <p:spPr>
          <a:xfrm>
            <a:off x="4298221" y="4274515"/>
            <a:ext cx="1957587" cy="369332"/>
          </a:xfrm>
          <a:prstGeom prst="rect">
            <a:avLst/>
          </a:prstGeom>
        </p:spPr>
        <p:txBody>
          <a:bodyPr wrap="none">
            <a:spAutoFit/>
          </a:bodyPr>
          <a:lstStyle/>
          <a:p>
            <a:r>
              <a:rPr lang="fr-FR" b="1" dirty="0">
                <a:solidFill>
                  <a:schemeClr val="accent4"/>
                </a:solidFill>
                <a:latin typeface="Consolas"/>
                <a:cs typeface="Consolas"/>
              </a:rPr>
              <a:t>Couple&lt;Object&gt;</a:t>
            </a:r>
            <a:endParaRPr lang="fr-FR" b="1" dirty="0">
              <a:solidFill>
                <a:schemeClr val="accent4"/>
              </a:solidFill>
            </a:endParaRPr>
          </a:p>
        </p:txBody>
      </p:sp>
      <p:sp>
        <p:nvSpPr>
          <p:cNvPr id="24" name="Rectangle 23">
            <a:extLst>
              <a:ext uri="{FF2B5EF4-FFF2-40B4-BE49-F238E27FC236}">
                <a16:creationId xmlns:a16="http://schemas.microsoft.com/office/drawing/2014/main" id="{B7D94847-617E-A94F-AF0F-6BFBEAFE4471}"/>
              </a:ext>
            </a:extLst>
          </p:cNvPr>
          <p:cNvSpPr/>
          <p:nvPr/>
        </p:nvSpPr>
        <p:spPr>
          <a:xfrm>
            <a:off x="4164659" y="5743719"/>
            <a:ext cx="2084225" cy="369332"/>
          </a:xfrm>
          <a:prstGeom prst="rect">
            <a:avLst/>
          </a:prstGeom>
        </p:spPr>
        <p:txBody>
          <a:bodyPr wrap="none">
            <a:spAutoFit/>
          </a:bodyPr>
          <a:lstStyle/>
          <a:p>
            <a:r>
              <a:rPr lang="fr-FR" b="1" dirty="0">
                <a:solidFill>
                  <a:schemeClr val="accent4"/>
                </a:solidFill>
                <a:latin typeface="Consolas"/>
                <a:cs typeface="Consolas"/>
              </a:rPr>
              <a:t>Couple&lt;</a:t>
            </a:r>
            <a:r>
              <a:rPr lang="fr-FR" b="1" dirty="0" err="1">
                <a:solidFill>
                  <a:schemeClr val="accent4"/>
                </a:solidFill>
                <a:latin typeface="Consolas"/>
                <a:cs typeface="Consolas"/>
              </a:rPr>
              <a:t>Integer</a:t>
            </a:r>
            <a:r>
              <a:rPr lang="fr-FR" b="1" dirty="0">
                <a:solidFill>
                  <a:schemeClr val="accent4"/>
                </a:solidFill>
                <a:latin typeface="Consolas"/>
                <a:cs typeface="Consolas"/>
              </a:rPr>
              <a:t>&gt;</a:t>
            </a:r>
            <a:endParaRPr lang="fr-FR" b="1" dirty="0">
              <a:solidFill>
                <a:schemeClr val="accent4"/>
              </a:solidFill>
            </a:endParaRPr>
          </a:p>
        </p:txBody>
      </p:sp>
      <p:sp>
        <p:nvSpPr>
          <p:cNvPr id="25" name="Rectangle 24">
            <a:extLst>
              <a:ext uri="{FF2B5EF4-FFF2-40B4-BE49-F238E27FC236}">
                <a16:creationId xmlns:a16="http://schemas.microsoft.com/office/drawing/2014/main" id="{0495CBDF-F623-234D-8924-CA7790850432}"/>
              </a:ext>
            </a:extLst>
          </p:cNvPr>
          <p:cNvSpPr/>
          <p:nvPr/>
        </p:nvSpPr>
        <p:spPr>
          <a:xfrm>
            <a:off x="8624202" y="5658488"/>
            <a:ext cx="914400" cy="380144"/>
          </a:xfrm>
          <a:prstGeom prst="rect">
            <a:avLst/>
          </a:prstGeom>
          <a:solidFill>
            <a:srgbClr val="FF0000"/>
          </a:solidFill>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dirty="0">
                <a:latin typeface="Consolas" panose="020B0609020204030204" pitchFamily="49" charset="0"/>
                <a:cs typeface="Consolas" panose="020B0609020204030204" pitchFamily="49" charset="0"/>
              </a:rPr>
              <a:t>Object</a:t>
            </a:r>
          </a:p>
        </p:txBody>
      </p:sp>
      <p:sp>
        <p:nvSpPr>
          <p:cNvPr id="7" name="ZoneTexte 6">
            <a:extLst>
              <a:ext uri="{FF2B5EF4-FFF2-40B4-BE49-F238E27FC236}">
                <a16:creationId xmlns:a16="http://schemas.microsoft.com/office/drawing/2014/main" id="{C79E18C6-6000-530C-92FB-AD0F4D8D7C30}"/>
              </a:ext>
            </a:extLst>
          </p:cNvPr>
          <p:cNvSpPr txBox="1"/>
          <p:nvPr/>
        </p:nvSpPr>
        <p:spPr>
          <a:xfrm>
            <a:off x="1221180" y="2319715"/>
            <a:ext cx="7971182" cy="369332"/>
          </a:xfrm>
          <a:prstGeom prst="rect">
            <a:avLst/>
          </a:prstGeom>
          <a:noFill/>
        </p:spPr>
        <p:txBody>
          <a:bodyPr wrap="square">
            <a:spAutoFit/>
          </a:bodyPr>
          <a:lstStyle/>
          <a:p>
            <a:pPr marL="0" indent="0">
              <a:buNone/>
            </a:pPr>
            <a:r>
              <a:rPr lang="fr-FR" sz="1800" dirty="0" err="1">
                <a:solidFill>
                  <a:schemeClr val="accent4"/>
                </a:solidFill>
                <a:latin typeface="Consolas"/>
                <a:cs typeface="Consolas"/>
              </a:rPr>
              <a:t>co</a:t>
            </a:r>
            <a:r>
              <a:rPr lang="fr-FR" sz="1800" dirty="0">
                <a:solidFill>
                  <a:schemeClr val="accent4"/>
                </a:solidFill>
                <a:latin typeface="Consolas"/>
                <a:cs typeface="Consolas"/>
              </a:rPr>
              <a:t> = ci;</a:t>
            </a:r>
            <a:r>
              <a:rPr lang="fr-FR" sz="1800" dirty="0">
                <a:solidFill>
                  <a:srgbClr val="A6082B"/>
                </a:solidFill>
                <a:latin typeface="Consolas"/>
                <a:cs typeface="Consolas"/>
              </a:rPr>
              <a:t> </a:t>
            </a:r>
            <a:r>
              <a:rPr lang="fr-FR" sz="1800" dirty="0">
                <a:solidFill>
                  <a:schemeClr val="accent6"/>
                </a:solidFill>
                <a:latin typeface="Consolas"/>
                <a:cs typeface="Consolas"/>
              </a:rPr>
              <a:t>//puisqu’un Couple d’Entier serait un Couple d’Object</a:t>
            </a:r>
          </a:p>
        </p:txBody>
      </p:sp>
      <p:sp>
        <p:nvSpPr>
          <p:cNvPr id="9" name="ZoneTexte 8">
            <a:extLst>
              <a:ext uri="{FF2B5EF4-FFF2-40B4-BE49-F238E27FC236}">
                <a16:creationId xmlns:a16="http://schemas.microsoft.com/office/drawing/2014/main" id="{1B5D8ACC-6155-127E-3D66-0FE58AC2CD17}"/>
              </a:ext>
            </a:extLst>
          </p:cNvPr>
          <p:cNvSpPr txBox="1"/>
          <p:nvPr/>
        </p:nvSpPr>
        <p:spPr>
          <a:xfrm>
            <a:off x="838200" y="2772856"/>
            <a:ext cx="6098650" cy="400110"/>
          </a:xfrm>
          <a:prstGeom prst="rect">
            <a:avLst/>
          </a:prstGeom>
          <a:noFill/>
        </p:spPr>
        <p:txBody>
          <a:bodyPr wrap="square">
            <a:spAutoFit/>
          </a:bodyPr>
          <a:lstStyle/>
          <a:p>
            <a:pPr marL="0" indent="0">
              <a:buNone/>
            </a:pPr>
            <a:r>
              <a:rPr lang="fr-FR" sz="2000" dirty="0"/>
              <a:t>On pourrait alors aussi écrire:</a:t>
            </a:r>
          </a:p>
        </p:txBody>
      </p:sp>
      <p:sp>
        <p:nvSpPr>
          <p:cNvPr id="11" name="ZoneTexte 10">
            <a:extLst>
              <a:ext uri="{FF2B5EF4-FFF2-40B4-BE49-F238E27FC236}">
                <a16:creationId xmlns:a16="http://schemas.microsoft.com/office/drawing/2014/main" id="{0D3556A5-2A63-389A-A556-3A93513A549A}"/>
              </a:ext>
            </a:extLst>
          </p:cNvPr>
          <p:cNvSpPr txBox="1"/>
          <p:nvPr/>
        </p:nvSpPr>
        <p:spPr>
          <a:xfrm>
            <a:off x="1221180" y="3157064"/>
            <a:ext cx="9147321" cy="369332"/>
          </a:xfrm>
          <a:prstGeom prst="rect">
            <a:avLst/>
          </a:prstGeom>
          <a:noFill/>
        </p:spPr>
        <p:txBody>
          <a:bodyPr wrap="square">
            <a:spAutoFit/>
          </a:bodyPr>
          <a:lstStyle/>
          <a:p>
            <a:pPr marL="0" indent="0">
              <a:buNone/>
            </a:pPr>
            <a:r>
              <a:rPr lang="fr-FR" sz="1800" dirty="0" err="1">
                <a:solidFill>
                  <a:schemeClr val="accent4"/>
                </a:solidFill>
                <a:latin typeface="Consolas"/>
                <a:cs typeface="Consolas"/>
              </a:rPr>
              <a:t>co.setPremier</a:t>
            </a:r>
            <a:r>
              <a:rPr lang="fr-FR" sz="1800" dirty="0">
                <a:solidFill>
                  <a:schemeClr val="accent4"/>
                </a:solidFill>
                <a:latin typeface="Consolas"/>
                <a:cs typeface="Consolas"/>
              </a:rPr>
              <a:t>(o1);</a:t>
            </a:r>
            <a:r>
              <a:rPr lang="fr-FR" sz="1800" dirty="0">
                <a:solidFill>
                  <a:srgbClr val="A6082B"/>
                </a:solidFill>
                <a:latin typeface="Consolas"/>
                <a:cs typeface="Consolas"/>
              </a:rPr>
              <a:t> </a:t>
            </a:r>
            <a:r>
              <a:rPr lang="fr-FR" sz="1800" dirty="0">
                <a:solidFill>
                  <a:schemeClr val="accent6"/>
                </a:solidFill>
                <a:latin typeface="Consolas"/>
                <a:cs typeface="Consolas"/>
              </a:rPr>
              <a:t>//puisqu’un Couple d’Object contient des Object</a:t>
            </a:r>
            <a:endParaRPr lang="fr-FR" sz="1800" dirty="0">
              <a:solidFill>
                <a:schemeClr val="accent6"/>
              </a:solidFill>
            </a:endParaRPr>
          </a:p>
        </p:txBody>
      </p:sp>
      <p:sp>
        <p:nvSpPr>
          <p:cNvPr id="27" name="ZoneTexte 26">
            <a:extLst>
              <a:ext uri="{FF2B5EF4-FFF2-40B4-BE49-F238E27FC236}">
                <a16:creationId xmlns:a16="http://schemas.microsoft.com/office/drawing/2014/main" id="{232B80A7-98E5-F85C-5087-DD88B47F7568}"/>
              </a:ext>
            </a:extLst>
          </p:cNvPr>
          <p:cNvSpPr txBox="1"/>
          <p:nvPr/>
        </p:nvSpPr>
        <p:spPr>
          <a:xfrm>
            <a:off x="838200" y="3627145"/>
            <a:ext cx="10515600" cy="400110"/>
          </a:xfrm>
          <a:prstGeom prst="rect">
            <a:avLst/>
          </a:prstGeom>
          <a:noFill/>
        </p:spPr>
        <p:txBody>
          <a:bodyPr wrap="square">
            <a:spAutoFit/>
          </a:bodyPr>
          <a:lstStyle/>
          <a:p>
            <a:pPr marL="0" indent="0">
              <a:buNone/>
            </a:pPr>
            <a:r>
              <a:rPr lang="fr-FR" sz="2000" dirty="0"/>
              <a:t>Ce qui conduirait à cette </a:t>
            </a:r>
            <a:r>
              <a:rPr lang="fr-FR" sz="2000" dirty="0">
                <a:solidFill>
                  <a:schemeClr val="accent4"/>
                </a:solidFill>
              </a:rPr>
              <a:t>situation impossible</a:t>
            </a:r>
            <a:r>
              <a:rPr lang="fr-FR" sz="2000" dirty="0"/>
              <a:t> (un </a:t>
            </a:r>
            <a:r>
              <a:rPr lang="fr-FR" dirty="0">
                <a:solidFill>
                  <a:schemeClr val="accent4"/>
                </a:solidFill>
                <a:latin typeface="Consolas"/>
                <a:cs typeface="Consolas"/>
              </a:rPr>
              <a:t>Couple&lt;Integer&gt;</a:t>
            </a:r>
            <a:r>
              <a:rPr lang="fr-FR" sz="2000" dirty="0"/>
              <a:t> qui contient un non </a:t>
            </a:r>
            <a:r>
              <a:rPr lang="fr-FR" dirty="0">
                <a:solidFill>
                  <a:schemeClr val="accent4"/>
                </a:solidFill>
                <a:latin typeface="Consolas"/>
                <a:cs typeface="Consolas"/>
              </a:rPr>
              <a:t>Integer</a:t>
            </a:r>
            <a:r>
              <a:rPr lang="fr-FR" sz="2000" dirty="0"/>
              <a:t>)</a:t>
            </a:r>
          </a:p>
        </p:txBody>
      </p:sp>
      <p:sp>
        <p:nvSpPr>
          <p:cNvPr id="3" name="Espace réservé du numéro de diapositive 2">
            <a:extLst>
              <a:ext uri="{FF2B5EF4-FFF2-40B4-BE49-F238E27FC236}">
                <a16:creationId xmlns:a16="http://schemas.microsoft.com/office/drawing/2014/main" id="{1D5C481C-B8E2-AC85-2FD7-D780A05CB3CA}"/>
              </a:ext>
            </a:extLst>
          </p:cNvPr>
          <p:cNvSpPr>
            <a:spLocks noGrp="1"/>
          </p:cNvSpPr>
          <p:nvPr>
            <p:ph type="sldNum" sz="quarter" idx="4"/>
          </p:nvPr>
        </p:nvSpPr>
        <p:spPr/>
        <p:txBody>
          <a:bodyPr/>
          <a:lstStyle/>
          <a:p>
            <a:fld id="{33C783E2-4793-4F48-A271-51A73CC37D74}" type="slidenum">
              <a:rPr lang="fr-FR" smtClean="0"/>
              <a:t>44</a:t>
            </a:fld>
            <a:endParaRPr lang="fr-FR"/>
          </a:p>
        </p:txBody>
      </p:sp>
    </p:spTree>
    <p:extLst>
      <p:ext uri="{BB962C8B-B14F-4D97-AF65-F5344CB8AC3E}">
        <p14:creationId xmlns:p14="http://schemas.microsoft.com/office/powerpoint/2010/main" val="285060066"/>
      </p:ext>
    </p:extLst>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750"/>
                                        <p:tgtEl>
                                          <p:spTgt spid="20"/>
                                        </p:tgtEl>
                                      </p:cBhvr>
                                    </p:animEffect>
                                    <p:set>
                                      <p:cBhvr>
                                        <p:cTn id="12" dur="1" fill="hold">
                                          <p:stCondLst>
                                            <p:cond delay="749"/>
                                          </p:stCondLst>
                                        </p:cTn>
                                        <p:tgtEl>
                                          <p:spTgt spid="20"/>
                                        </p:tgtEl>
                                        <p:attrNameLst>
                                          <p:attrName>style.visibility</p:attrName>
                                        </p:attrNameLst>
                                      </p:cBhvr>
                                      <p:to>
                                        <p:strVal val="hidden"/>
                                      </p:to>
                                    </p:set>
                                  </p:childTnLst>
                                </p:cTn>
                              </p:par>
                              <p:par>
                                <p:cTn id="13" presetID="10"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750"/>
                                        <p:tgtEl>
                                          <p:spTgt spid="2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500"/>
                                        <p:tgtEl>
                                          <p:spTgt spid="2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2" grpId="0" animBg="1"/>
      <p:bldP spid="25" grpId="0" animBg="1"/>
      <p:bldP spid="7" grpId="0"/>
      <p:bldP spid="9" grpId="0"/>
      <p:bldP spid="11" grpId="0"/>
      <p:bldP spid="2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Un cas particulier…</a:t>
            </a:r>
          </a:p>
        </p:txBody>
      </p:sp>
      <p:sp>
        <p:nvSpPr>
          <p:cNvPr id="5" name="Espace réservé du contenu 4"/>
          <p:cNvSpPr>
            <a:spLocks noGrp="1"/>
          </p:cNvSpPr>
          <p:nvPr>
            <p:ph idx="1"/>
          </p:nvPr>
        </p:nvSpPr>
        <p:spPr/>
        <p:txBody>
          <a:bodyPr>
            <a:normAutofit/>
          </a:bodyPr>
          <a:lstStyle/>
          <a:p>
            <a:pPr marL="0" indent="0">
              <a:buNone/>
            </a:pPr>
            <a:r>
              <a:rPr lang="fr-FR" dirty="0"/>
              <a:t>Pour cette raison, les concepteurs de Java ont décidé que </a:t>
            </a:r>
          </a:p>
          <a:p>
            <a:pPr marL="0" indent="0">
              <a:buNone/>
            </a:pPr>
            <a:r>
              <a:rPr lang="fr-FR" dirty="0"/>
              <a:t>    </a:t>
            </a:r>
          </a:p>
          <a:p>
            <a:pPr marL="0" indent="0">
              <a:buNone/>
            </a:pPr>
            <a:r>
              <a:rPr lang="fr-FR" dirty="0"/>
              <a:t>      même si </a:t>
            </a:r>
            <a:r>
              <a:rPr lang="fr-FR" dirty="0">
                <a:solidFill>
                  <a:schemeClr val="accent4"/>
                </a:solidFill>
                <a:latin typeface="Consolas"/>
                <a:cs typeface="Consolas"/>
              </a:rPr>
              <a:t>T'</a:t>
            </a:r>
            <a:r>
              <a:rPr lang="fr-FR" dirty="0"/>
              <a:t> hérite de </a:t>
            </a:r>
            <a:r>
              <a:rPr lang="fr-FR" dirty="0" err="1">
                <a:solidFill>
                  <a:schemeClr val="accent4"/>
                </a:solidFill>
                <a:latin typeface="Consolas"/>
                <a:cs typeface="Consolas"/>
              </a:rPr>
              <a:t>T</a:t>
            </a:r>
            <a:r>
              <a:rPr lang="fr-FR" dirty="0"/>
              <a:t>, </a:t>
            </a:r>
          </a:p>
          <a:p>
            <a:pPr marL="0" indent="0">
              <a:buNone/>
            </a:pPr>
            <a:r>
              <a:rPr lang="fr-FR" dirty="0">
                <a:solidFill>
                  <a:srgbClr val="A6082B"/>
                </a:solidFill>
                <a:latin typeface="Consolas"/>
                <a:cs typeface="Consolas"/>
              </a:rPr>
              <a:t>  </a:t>
            </a:r>
          </a:p>
          <a:p>
            <a:pPr marL="0" indent="0">
              <a:buNone/>
            </a:pPr>
            <a:r>
              <a:rPr lang="fr-FR" dirty="0">
                <a:solidFill>
                  <a:srgbClr val="A6082B"/>
                </a:solidFill>
                <a:latin typeface="Consolas"/>
                <a:cs typeface="Consolas"/>
              </a:rPr>
              <a:t>      </a:t>
            </a:r>
            <a:r>
              <a:rPr lang="fr-FR" dirty="0">
                <a:solidFill>
                  <a:schemeClr val="accent4"/>
                </a:solidFill>
                <a:latin typeface="Consolas"/>
                <a:cs typeface="Consolas"/>
              </a:rPr>
              <a:t>C&lt;T'&gt;</a:t>
            </a:r>
            <a:r>
              <a:rPr lang="fr-FR" dirty="0"/>
              <a:t> n'hérite pas de </a:t>
            </a:r>
            <a:r>
              <a:rPr lang="fr-FR" dirty="0">
                <a:solidFill>
                  <a:schemeClr val="accent4"/>
                </a:solidFill>
                <a:latin typeface="Consolas"/>
                <a:cs typeface="Consolas"/>
              </a:rPr>
              <a:t>C&lt;</a:t>
            </a:r>
            <a:r>
              <a:rPr lang="fr-FR" dirty="0" err="1">
                <a:solidFill>
                  <a:schemeClr val="accent4"/>
                </a:solidFill>
                <a:latin typeface="Consolas"/>
                <a:cs typeface="Consolas"/>
              </a:rPr>
              <a:t>T</a:t>
            </a:r>
            <a:r>
              <a:rPr lang="fr-FR" dirty="0">
                <a:solidFill>
                  <a:schemeClr val="accent4"/>
                </a:solidFill>
                <a:latin typeface="Consolas"/>
                <a:cs typeface="Consolas"/>
              </a:rPr>
              <a:t>&gt;</a:t>
            </a:r>
            <a:r>
              <a:rPr lang="fr-FR" dirty="0"/>
              <a:t>.</a:t>
            </a:r>
          </a:p>
        </p:txBody>
      </p:sp>
      <p:sp>
        <p:nvSpPr>
          <p:cNvPr id="3" name="Espace réservé du numéro de diapositive 2">
            <a:extLst>
              <a:ext uri="{FF2B5EF4-FFF2-40B4-BE49-F238E27FC236}">
                <a16:creationId xmlns:a16="http://schemas.microsoft.com/office/drawing/2014/main" id="{88EFBEEB-A5F4-BFEE-7EA1-97BC00B96FC0}"/>
              </a:ext>
            </a:extLst>
          </p:cNvPr>
          <p:cNvSpPr>
            <a:spLocks noGrp="1"/>
          </p:cNvSpPr>
          <p:nvPr>
            <p:ph type="sldNum" sz="quarter" idx="4"/>
          </p:nvPr>
        </p:nvSpPr>
        <p:spPr/>
        <p:txBody>
          <a:bodyPr/>
          <a:lstStyle/>
          <a:p>
            <a:fld id="{33C783E2-4793-4F48-A271-51A73CC37D74}" type="slidenum">
              <a:rPr lang="fr-FR" smtClean="0"/>
              <a:t>45</a:t>
            </a:fld>
            <a:endParaRPr lang="fr-FR"/>
          </a:p>
        </p:txBody>
      </p:sp>
    </p:spTree>
    <p:extLst>
      <p:ext uri="{BB962C8B-B14F-4D97-AF65-F5344CB8AC3E}">
        <p14:creationId xmlns:p14="http://schemas.microsoft.com/office/powerpoint/2010/main" val="1135464525"/>
      </p:ext>
    </p:extLst>
  </p:cSld>
  <p:clrMapOvr>
    <a:masterClrMapping/>
  </p:clrMapOvr>
  <p:transition>
    <p:push di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Solution: les Jokers (</a:t>
            </a:r>
            <a:r>
              <a:rPr lang="fr-FR" dirty="0" err="1"/>
              <a:t>wildcards</a:t>
            </a:r>
            <a:r>
              <a:rPr lang="fr-FR" dirty="0"/>
              <a:t>)</a:t>
            </a:r>
          </a:p>
        </p:txBody>
      </p:sp>
      <p:sp>
        <p:nvSpPr>
          <p:cNvPr id="5" name="Espace réservé du contenu 4"/>
          <p:cNvSpPr>
            <a:spLocks noGrp="1"/>
          </p:cNvSpPr>
          <p:nvPr>
            <p:ph idx="1"/>
          </p:nvPr>
        </p:nvSpPr>
        <p:spPr>
          <a:xfrm>
            <a:off x="838200" y="1825625"/>
            <a:ext cx="10515600" cy="1325563"/>
          </a:xfrm>
        </p:spPr>
        <p:txBody>
          <a:bodyPr>
            <a:normAutofit/>
          </a:bodyPr>
          <a:lstStyle/>
          <a:p>
            <a:pPr marL="0" indent="0">
              <a:buNone/>
            </a:pPr>
            <a:r>
              <a:rPr lang="fr-FR" sz="2200" dirty="0"/>
              <a:t>Problème: cela étant, comment passer une </a:t>
            </a:r>
            <a:r>
              <a:rPr lang="fr-FR" sz="1900" dirty="0">
                <a:solidFill>
                  <a:schemeClr val="accent4"/>
                </a:solidFill>
                <a:latin typeface="Consolas"/>
                <a:cs typeface="Consolas"/>
              </a:rPr>
              <a:t>List&lt;</a:t>
            </a:r>
            <a:r>
              <a:rPr lang="fr-FR" sz="1900" dirty="0" err="1">
                <a:solidFill>
                  <a:schemeClr val="accent4"/>
                </a:solidFill>
                <a:latin typeface="Consolas"/>
                <a:cs typeface="Consolas"/>
              </a:rPr>
              <a:t>VoitureSansPermis</a:t>
            </a:r>
            <a:r>
              <a:rPr lang="fr-FR" sz="1900" dirty="0">
                <a:solidFill>
                  <a:schemeClr val="accent4"/>
                </a:solidFill>
                <a:latin typeface="Consolas"/>
                <a:cs typeface="Consolas"/>
              </a:rPr>
              <a:t>&gt;</a:t>
            </a:r>
            <a:r>
              <a:rPr lang="fr-FR" sz="2200" dirty="0"/>
              <a:t> à une méthode qui prend en paramètre une </a:t>
            </a:r>
            <a:r>
              <a:rPr lang="fr-FR" sz="1900" dirty="0">
                <a:solidFill>
                  <a:schemeClr val="accent4"/>
                </a:solidFill>
                <a:latin typeface="Consolas"/>
                <a:cs typeface="Consolas"/>
              </a:rPr>
              <a:t>List&lt;Voiture&gt;</a:t>
            </a:r>
            <a:r>
              <a:rPr lang="fr-FR" sz="2200" dirty="0"/>
              <a:t> (sachant que </a:t>
            </a:r>
            <a:r>
              <a:rPr lang="fr-FR" sz="1900" dirty="0" err="1">
                <a:solidFill>
                  <a:schemeClr val="accent4"/>
                </a:solidFill>
                <a:latin typeface="Consolas"/>
                <a:cs typeface="Consolas"/>
              </a:rPr>
              <a:t>VoitureSansPermis</a:t>
            </a:r>
            <a:r>
              <a:rPr lang="fr-FR" sz="2200" dirty="0">
                <a:solidFill>
                  <a:schemeClr val="accent4"/>
                </a:solidFill>
              </a:rPr>
              <a:t> </a:t>
            </a:r>
            <a:r>
              <a:rPr lang="fr-FR" sz="1900" dirty="0" err="1">
                <a:solidFill>
                  <a:schemeClr val="accent4"/>
                </a:solidFill>
                <a:latin typeface="Consolas"/>
                <a:cs typeface="Consolas"/>
              </a:rPr>
              <a:t>extends</a:t>
            </a:r>
            <a:r>
              <a:rPr lang="fr-FR" sz="2200" dirty="0">
                <a:solidFill>
                  <a:schemeClr val="accent4"/>
                </a:solidFill>
              </a:rPr>
              <a:t> </a:t>
            </a:r>
            <a:r>
              <a:rPr lang="fr-FR" sz="1900" dirty="0">
                <a:solidFill>
                  <a:schemeClr val="accent4"/>
                </a:solidFill>
                <a:latin typeface="Consolas"/>
                <a:cs typeface="Consolas"/>
              </a:rPr>
              <a:t>Voiture</a:t>
            </a:r>
            <a:r>
              <a:rPr lang="fr-FR" sz="2200" dirty="0"/>
              <a:t>)?</a:t>
            </a:r>
          </a:p>
          <a:p>
            <a:pPr marL="0" indent="0">
              <a:lnSpc>
                <a:spcPct val="80000"/>
              </a:lnSpc>
              <a:buNone/>
            </a:pPr>
            <a:endParaRPr lang="fr-FR" sz="1400" dirty="0"/>
          </a:p>
          <a:p>
            <a:pPr marL="0" indent="0">
              <a:lnSpc>
                <a:spcPct val="80000"/>
              </a:lnSpc>
              <a:buNone/>
            </a:pPr>
            <a:endParaRPr lang="fr-FR" sz="1400" i="1" dirty="0">
              <a:solidFill>
                <a:schemeClr val="accent2"/>
              </a:solidFill>
            </a:endParaRPr>
          </a:p>
          <a:p>
            <a:pPr marL="0" indent="0">
              <a:buNone/>
            </a:pPr>
            <a:endParaRPr lang="fr-FR" sz="1400" dirty="0">
              <a:latin typeface="Consolas"/>
              <a:cs typeface="Consolas"/>
            </a:endParaRPr>
          </a:p>
        </p:txBody>
      </p:sp>
      <p:sp>
        <p:nvSpPr>
          <p:cNvPr id="7" name="ZoneTexte 6">
            <a:extLst>
              <a:ext uri="{FF2B5EF4-FFF2-40B4-BE49-F238E27FC236}">
                <a16:creationId xmlns:a16="http://schemas.microsoft.com/office/drawing/2014/main" id="{20B929CC-1690-FF19-C34E-7F10D724793B}"/>
              </a:ext>
            </a:extLst>
          </p:cNvPr>
          <p:cNvSpPr txBox="1"/>
          <p:nvPr/>
        </p:nvSpPr>
        <p:spPr>
          <a:xfrm>
            <a:off x="1484243" y="3151188"/>
            <a:ext cx="9997440" cy="2031325"/>
          </a:xfrm>
          <a:prstGeom prst="rect">
            <a:avLst/>
          </a:prstGeom>
          <a:solidFill>
            <a:srgbClr val="2B2B2B"/>
          </a:solidFill>
        </p:spPr>
        <p:txBody>
          <a:bodyPr wrap="square">
            <a:spAutoFit/>
          </a:bodyPr>
          <a:lstStyle/>
          <a:p>
            <a:r>
              <a:rPr lang="fr-BE" dirty="0">
                <a:solidFill>
                  <a:srgbClr val="CC7832"/>
                </a:solidFill>
                <a:effectLst/>
                <a:latin typeface="Consolas" panose="020B0609020204030204" pitchFamily="49" charset="0"/>
                <a:cs typeface="Consolas" panose="020B0609020204030204" pitchFamily="49" charset="0"/>
              </a:rPr>
              <a:t>public </a:t>
            </a:r>
            <a:r>
              <a:rPr lang="fr-BE" dirty="0" err="1">
                <a:solidFill>
                  <a:srgbClr val="CC7832"/>
                </a:solidFill>
                <a:effectLst/>
                <a:latin typeface="Consolas" panose="020B0609020204030204" pitchFamily="49" charset="0"/>
                <a:cs typeface="Consolas" panose="020B0609020204030204" pitchFamily="49" charset="0"/>
              </a:rPr>
              <a:t>static</a:t>
            </a:r>
            <a:r>
              <a:rPr lang="fr-BE" dirty="0">
                <a:solidFill>
                  <a:srgbClr val="CC7832"/>
                </a:solidFill>
                <a:effectLst/>
                <a:latin typeface="Consolas" panose="020B0609020204030204" pitchFamily="49" charset="0"/>
                <a:cs typeface="Consolas" panose="020B0609020204030204" pitchFamily="49" charset="0"/>
              </a:rPr>
              <a:t> </a:t>
            </a:r>
            <a:r>
              <a:rPr lang="fr-BE" dirty="0" err="1">
                <a:solidFill>
                  <a:srgbClr val="CC7832"/>
                </a:solidFill>
                <a:effectLst/>
                <a:latin typeface="Consolas" panose="020B0609020204030204" pitchFamily="49" charset="0"/>
                <a:cs typeface="Consolas" panose="020B0609020204030204" pitchFamily="49" charset="0"/>
              </a:rPr>
              <a:t>void</a:t>
            </a:r>
            <a:r>
              <a:rPr lang="fr-BE" dirty="0">
                <a:solidFill>
                  <a:srgbClr val="CC7832"/>
                </a:solidFill>
                <a:effectLst/>
                <a:latin typeface="Consolas" panose="020B0609020204030204" pitchFamily="49" charset="0"/>
                <a:cs typeface="Consolas" panose="020B0609020204030204" pitchFamily="49" charset="0"/>
              </a:rPr>
              <a:t> </a:t>
            </a:r>
            <a:r>
              <a:rPr lang="fr-BE" dirty="0">
                <a:solidFill>
                  <a:srgbClr val="FFC66D"/>
                </a:solidFill>
                <a:effectLst/>
                <a:latin typeface="Consolas" panose="020B0609020204030204" pitchFamily="49" charset="0"/>
                <a:cs typeface="Consolas" panose="020B0609020204030204" pitchFamily="49" charset="0"/>
              </a:rPr>
              <a:t>main</a:t>
            </a:r>
            <a:r>
              <a:rPr lang="fr-BE" dirty="0">
                <a:latin typeface="Consolas" panose="020B0609020204030204" pitchFamily="49" charset="0"/>
                <a:cs typeface="Consolas" panose="020B0609020204030204" pitchFamily="49" charset="0"/>
              </a:rPr>
              <a:t>(String[] args) {</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List&lt;Voiture&gt; </a:t>
            </a:r>
            <a:r>
              <a:rPr lang="fr-BE" dirty="0" err="1">
                <a:latin typeface="Consolas" panose="020B0609020204030204" pitchFamily="49" charset="0"/>
                <a:cs typeface="Consolas" panose="020B0609020204030204" pitchFamily="49" charset="0"/>
              </a:rPr>
              <a:t>listVoit</a:t>
            </a:r>
            <a:r>
              <a:rPr lang="fr-BE" dirty="0">
                <a:latin typeface="Consolas" panose="020B0609020204030204" pitchFamily="49" charset="0"/>
                <a:cs typeface="Consolas" panose="020B0609020204030204" pitchFamily="49" charset="0"/>
              </a:rPr>
              <a:t> = </a:t>
            </a:r>
            <a:r>
              <a:rPr lang="fr-BE" dirty="0">
                <a:solidFill>
                  <a:srgbClr val="CC7832"/>
                </a:solidFill>
                <a:effectLst/>
                <a:latin typeface="Consolas" panose="020B0609020204030204" pitchFamily="49" charset="0"/>
                <a:cs typeface="Consolas" panose="020B0609020204030204" pitchFamily="49" charset="0"/>
              </a:rPr>
              <a:t>new </a:t>
            </a:r>
            <a:r>
              <a:rPr lang="fr-BE" dirty="0" err="1">
                <a:latin typeface="Consolas" panose="020B0609020204030204" pitchFamily="49" charset="0"/>
                <a:cs typeface="Consolas" panose="020B0609020204030204" pitchFamily="49" charset="0"/>
              </a:rPr>
              <a:t>ArrayList</a:t>
            </a:r>
            <a:r>
              <a:rPr lang="fr-BE" dirty="0">
                <a:latin typeface="Consolas" panose="020B0609020204030204" pitchFamily="49" charset="0"/>
                <a:cs typeface="Consolas" panose="020B0609020204030204" pitchFamily="49" charset="0"/>
              </a:rPr>
              <a:t>&lt;Voiture&gt;()</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List&lt;</a:t>
            </a:r>
            <a:r>
              <a:rPr lang="fr-BE" dirty="0" err="1">
                <a:latin typeface="Consolas" panose="020B0609020204030204" pitchFamily="49" charset="0"/>
                <a:cs typeface="Consolas" panose="020B0609020204030204" pitchFamily="49" charset="0"/>
              </a:rPr>
              <a:t>VoitureSansPermis</a:t>
            </a:r>
            <a:r>
              <a:rPr lang="fr-BE" dirty="0">
                <a:latin typeface="Consolas" panose="020B0609020204030204" pitchFamily="49" charset="0"/>
                <a:cs typeface="Consolas" panose="020B0609020204030204" pitchFamily="49" charset="0"/>
              </a:rPr>
              <a:t>&gt; </a:t>
            </a:r>
            <a:r>
              <a:rPr lang="fr-BE" dirty="0" err="1">
                <a:latin typeface="Consolas" panose="020B0609020204030204" pitchFamily="49" charset="0"/>
                <a:cs typeface="Consolas" panose="020B0609020204030204" pitchFamily="49" charset="0"/>
              </a:rPr>
              <a:t>listVoitSP</a:t>
            </a:r>
            <a:r>
              <a:rPr lang="fr-BE" dirty="0">
                <a:latin typeface="Consolas" panose="020B0609020204030204" pitchFamily="49" charset="0"/>
                <a:cs typeface="Consolas" panose="020B0609020204030204" pitchFamily="49" charset="0"/>
              </a:rPr>
              <a:t> = </a:t>
            </a:r>
            <a:r>
              <a:rPr lang="fr-BE" dirty="0">
                <a:solidFill>
                  <a:srgbClr val="CC7832"/>
                </a:solidFill>
                <a:effectLst/>
                <a:latin typeface="Consolas" panose="020B0609020204030204" pitchFamily="49" charset="0"/>
                <a:cs typeface="Consolas" panose="020B0609020204030204" pitchFamily="49" charset="0"/>
              </a:rPr>
              <a:t>new </a:t>
            </a:r>
            <a:r>
              <a:rPr lang="fr-BE" dirty="0" err="1">
                <a:latin typeface="Consolas" panose="020B0609020204030204" pitchFamily="49" charset="0"/>
                <a:cs typeface="Consolas" panose="020B0609020204030204" pitchFamily="49" charset="0"/>
              </a:rPr>
              <a:t>ArrayList</a:t>
            </a:r>
            <a:r>
              <a:rPr lang="fr-BE" dirty="0">
                <a:latin typeface="Consolas" panose="020B0609020204030204" pitchFamily="49" charset="0"/>
                <a:cs typeface="Consolas" panose="020B0609020204030204" pitchFamily="49" charset="0"/>
              </a:rPr>
              <a:t>&lt;</a:t>
            </a:r>
            <a:r>
              <a:rPr lang="fr-BE" dirty="0" err="1">
                <a:latin typeface="Consolas" panose="020B0609020204030204" pitchFamily="49" charset="0"/>
                <a:cs typeface="Consolas" panose="020B0609020204030204" pitchFamily="49" charset="0"/>
              </a:rPr>
              <a:t>VoitureSansPermis</a:t>
            </a:r>
            <a:r>
              <a:rPr lang="fr-BE" dirty="0">
                <a:latin typeface="Consolas" panose="020B0609020204030204" pitchFamily="49" charset="0"/>
                <a:cs typeface="Consolas" panose="020B0609020204030204" pitchFamily="49" charset="0"/>
              </a:rPr>
              <a:t>&gt;()</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br>
              <a:rPr lang="fr-BE" dirty="0">
                <a:solidFill>
                  <a:srgbClr val="CC7832"/>
                </a:solidFill>
                <a:effectLst/>
                <a:latin typeface="Consolas" panose="020B0609020204030204" pitchFamily="49" charset="0"/>
                <a:cs typeface="Consolas" panose="020B0609020204030204" pitchFamily="49" charset="0"/>
              </a:rPr>
            </a:br>
            <a:r>
              <a:rPr lang="fr-BE" dirty="0">
                <a:solidFill>
                  <a:srgbClr val="CC7832"/>
                </a:solidFill>
                <a:effectLst/>
                <a:latin typeface="Consolas" panose="020B0609020204030204" pitchFamily="49" charset="0"/>
                <a:cs typeface="Consolas" panose="020B0609020204030204" pitchFamily="49" charset="0"/>
              </a:rPr>
              <a:t>    </a:t>
            </a:r>
            <a:r>
              <a:rPr lang="fr-BE" dirty="0" err="1">
                <a:latin typeface="Consolas" panose="020B0609020204030204" pitchFamily="49" charset="0"/>
                <a:cs typeface="Consolas" panose="020B0609020204030204" pitchFamily="49" charset="0"/>
              </a:rPr>
              <a:t>listVoit</a:t>
            </a:r>
            <a:r>
              <a:rPr lang="fr-BE" dirty="0">
                <a:latin typeface="Consolas" panose="020B0609020204030204" pitchFamily="49" charset="0"/>
                <a:cs typeface="Consolas" panose="020B0609020204030204" pitchFamily="49" charset="0"/>
              </a:rPr>
              <a:t> = </a:t>
            </a:r>
            <a:r>
              <a:rPr lang="fr-BE" dirty="0" err="1">
                <a:latin typeface="Consolas" panose="020B0609020204030204" pitchFamily="49" charset="0"/>
                <a:cs typeface="Consolas" panose="020B0609020204030204" pitchFamily="49" charset="0"/>
              </a:rPr>
              <a:t>listVoitSP</a:t>
            </a:r>
            <a:r>
              <a:rPr lang="fr-BE" dirty="0">
                <a:solidFill>
                  <a:srgbClr val="CC7832"/>
                </a:solidFill>
                <a:effectLst/>
                <a:latin typeface="Consolas" panose="020B0609020204030204" pitchFamily="49" charset="0"/>
                <a:cs typeface="Consolas" panose="020B0609020204030204" pitchFamily="49" charset="0"/>
              </a:rPr>
              <a:t>; </a:t>
            </a:r>
            <a:r>
              <a:rPr lang="fr-BE" dirty="0">
                <a:solidFill>
                  <a:srgbClr val="808080"/>
                </a:solidFill>
                <a:effectLst/>
                <a:latin typeface="Consolas" panose="020B0609020204030204" pitchFamily="49" charset="0"/>
                <a:cs typeface="Consolas" panose="020B0609020204030204" pitchFamily="49" charset="0"/>
              </a:rPr>
              <a:t>// Interdit puisque même si T' hérite de </a:t>
            </a:r>
            <a:r>
              <a:rPr lang="fr-BE" dirty="0" err="1">
                <a:solidFill>
                  <a:srgbClr val="808080"/>
                </a:solidFill>
                <a:effectLst/>
                <a:latin typeface="Consolas" panose="020B0609020204030204" pitchFamily="49" charset="0"/>
                <a:cs typeface="Consolas" panose="020B0609020204030204" pitchFamily="49" charset="0"/>
              </a:rPr>
              <a:t>T</a:t>
            </a:r>
            <a:r>
              <a:rPr lang="fr-BE" dirty="0">
                <a:solidFill>
                  <a:srgbClr val="808080"/>
                </a:solidFill>
                <a:effectLst/>
                <a:latin typeface="Consolas" panose="020B0609020204030204" pitchFamily="49" charset="0"/>
                <a:cs typeface="Consolas" panose="020B0609020204030204" pitchFamily="49" charset="0"/>
              </a:rPr>
              <a:t>,   </a:t>
            </a:r>
            <a:br>
              <a:rPr lang="fr-BE" dirty="0">
                <a:solidFill>
                  <a:srgbClr val="808080"/>
                </a:solidFill>
                <a:effectLst/>
                <a:latin typeface="Consolas" panose="020B0609020204030204" pitchFamily="49" charset="0"/>
                <a:cs typeface="Consolas" panose="020B0609020204030204" pitchFamily="49" charset="0"/>
              </a:rPr>
            </a:br>
            <a:r>
              <a:rPr lang="fr-BE" dirty="0">
                <a:solidFill>
                  <a:srgbClr val="808080"/>
                </a:solidFill>
                <a:effectLst/>
                <a:latin typeface="Consolas" panose="020B0609020204030204" pitchFamily="49" charset="0"/>
                <a:cs typeface="Consolas" panose="020B0609020204030204" pitchFamily="49" charset="0"/>
              </a:rPr>
              <a:t>                           // C&lt;T'&gt; n'hérite pas de C&lt;</a:t>
            </a:r>
            <a:r>
              <a:rPr lang="fr-BE" dirty="0" err="1">
                <a:solidFill>
                  <a:srgbClr val="808080"/>
                </a:solidFill>
                <a:effectLst/>
                <a:latin typeface="Consolas" panose="020B0609020204030204" pitchFamily="49" charset="0"/>
                <a:cs typeface="Consolas" panose="020B0609020204030204" pitchFamily="49" charset="0"/>
              </a:rPr>
              <a:t>T</a:t>
            </a:r>
            <a:r>
              <a:rPr lang="fr-BE" dirty="0">
                <a:solidFill>
                  <a:srgbClr val="808080"/>
                </a:solidFill>
                <a:effectLst/>
                <a:latin typeface="Consolas" panose="020B0609020204030204" pitchFamily="49" charset="0"/>
                <a:cs typeface="Consolas" panose="020B0609020204030204" pitchFamily="49" charset="0"/>
              </a:rPr>
              <a:t>&gt;!</a:t>
            </a:r>
            <a:br>
              <a:rPr lang="fr-BE" dirty="0">
                <a:solidFill>
                  <a:srgbClr val="808080"/>
                </a:solidFill>
                <a:effectLst/>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pic>
        <p:nvPicPr>
          <p:cNvPr id="8" name="Image 7">
            <a:extLst>
              <a:ext uri="{FF2B5EF4-FFF2-40B4-BE49-F238E27FC236}">
                <a16:creationId xmlns:a16="http://schemas.microsoft.com/office/drawing/2014/main" id="{C22D00CD-C397-3570-DBB1-4EEBD0BD443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rot="650188">
            <a:off x="10657551" y="324322"/>
            <a:ext cx="1052380" cy="1447173"/>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3" name="Espace réservé du numéro de diapositive 2">
            <a:extLst>
              <a:ext uri="{FF2B5EF4-FFF2-40B4-BE49-F238E27FC236}">
                <a16:creationId xmlns:a16="http://schemas.microsoft.com/office/drawing/2014/main" id="{8E84693C-236E-5445-4A97-44F326CAFA63}"/>
              </a:ext>
            </a:extLst>
          </p:cNvPr>
          <p:cNvSpPr>
            <a:spLocks noGrp="1"/>
          </p:cNvSpPr>
          <p:nvPr>
            <p:ph type="sldNum" sz="quarter" idx="4"/>
          </p:nvPr>
        </p:nvSpPr>
        <p:spPr/>
        <p:txBody>
          <a:bodyPr/>
          <a:lstStyle/>
          <a:p>
            <a:fld id="{33C783E2-4793-4F48-A271-51A73CC37D74}" type="slidenum">
              <a:rPr lang="fr-FR" smtClean="0"/>
              <a:t>46</a:t>
            </a:fld>
            <a:endParaRPr lang="fr-FR"/>
          </a:p>
        </p:txBody>
      </p:sp>
    </p:spTree>
    <p:extLst>
      <p:ext uri="{BB962C8B-B14F-4D97-AF65-F5344CB8AC3E}">
        <p14:creationId xmlns:p14="http://schemas.microsoft.com/office/powerpoint/2010/main" val="1875796707"/>
      </p:ext>
    </p:extLst>
  </p:cSld>
  <p:clrMapOvr>
    <a:masterClrMapping/>
  </p:clrMapOvr>
  <p:transition>
    <p:push dir="u"/>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Les Jokers</a:t>
            </a:r>
          </a:p>
        </p:txBody>
      </p:sp>
      <p:sp>
        <p:nvSpPr>
          <p:cNvPr id="5" name="Espace réservé du contenu 4"/>
          <p:cNvSpPr>
            <a:spLocks noGrp="1"/>
          </p:cNvSpPr>
          <p:nvPr>
            <p:ph idx="1"/>
          </p:nvPr>
        </p:nvSpPr>
        <p:spPr/>
        <p:txBody>
          <a:bodyPr>
            <a:noAutofit/>
          </a:bodyPr>
          <a:lstStyle/>
          <a:p>
            <a:pPr marL="0" indent="0">
              <a:buNone/>
            </a:pPr>
            <a:r>
              <a:rPr lang="fr-FR" sz="2000" dirty="0"/>
              <a:t>La solution est d'utiliser le '</a:t>
            </a:r>
            <a:r>
              <a:rPr lang="fr-FR" sz="2000" dirty="0" err="1"/>
              <a:t>wildcard</a:t>
            </a:r>
            <a:r>
              <a:rPr lang="fr-FR" sz="2000" dirty="0"/>
              <a:t>’ (</a:t>
            </a:r>
            <a:r>
              <a:rPr lang="fr-FR" sz="2000" dirty="0">
                <a:solidFill>
                  <a:schemeClr val="accent4"/>
                </a:solidFill>
              </a:rPr>
              <a:t>joker</a:t>
            </a:r>
            <a:r>
              <a:rPr lang="fr-FR" sz="2000" dirty="0"/>
              <a:t>) </a:t>
            </a:r>
            <a:r>
              <a:rPr lang="fr-FR" sz="2000" dirty="0">
                <a:solidFill>
                  <a:schemeClr val="accent4"/>
                </a:solidFill>
                <a:latin typeface="Consolas"/>
                <a:cs typeface="Consolas"/>
              </a:rPr>
              <a:t>?</a:t>
            </a:r>
            <a:r>
              <a:rPr lang="fr-FR" sz="2000" dirty="0"/>
              <a:t>.</a:t>
            </a:r>
          </a:p>
          <a:p>
            <a:pPr marL="0" indent="0">
              <a:buNone/>
            </a:pPr>
            <a:endParaRPr lang="fr-FR" sz="2000" dirty="0"/>
          </a:p>
          <a:p>
            <a:pPr marL="0" indent="0">
              <a:buNone/>
            </a:pPr>
            <a:r>
              <a:rPr lang="fr-FR" sz="2000" dirty="0"/>
              <a:t>Avec </a:t>
            </a:r>
            <a:r>
              <a:rPr lang="fr-FR" sz="2000" dirty="0">
                <a:solidFill>
                  <a:schemeClr val="accent4"/>
                </a:solidFill>
                <a:latin typeface="Consolas"/>
                <a:cs typeface="Consolas"/>
              </a:rPr>
              <a:t>? </a:t>
            </a:r>
            <a:r>
              <a:rPr lang="fr-FR" sz="2000" dirty="0" err="1">
                <a:solidFill>
                  <a:schemeClr val="accent4"/>
                </a:solidFill>
                <a:latin typeface="Consolas"/>
                <a:cs typeface="Consolas"/>
              </a:rPr>
              <a:t>extends</a:t>
            </a:r>
            <a:r>
              <a:rPr lang="fr-FR" sz="2000" dirty="0">
                <a:solidFill>
                  <a:schemeClr val="accent4"/>
                </a:solidFill>
                <a:latin typeface="Consolas"/>
                <a:cs typeface="Consolas"/>
              </a:rPr>
              <a:t> Voiture</a:t>
            </a:r>
            <a:r>
              <a:rPr lang="fr-FR" sz="2000" dirty="0"/>
              <a:t>, on définit une liste de « trucs qui héritent de voiture ». </a:t>
            </a:r>
          </a:p>
          <a:p>
            <a:pPr marL="0" indent="0">
              <a:buNone/>
            </a:pPr>
            <a:r>
              <a:rPr lang="fr-FR" sz="2000" dirty="0"/>
              <a:t>Avec </a:t>
            </a:r>
            <a:r>
              <a:rPr lang="fr-FR" sz="2000" dirty="0">
                <a:solidFill>
                  <a:schemeClr val="accent4"/>
                </a:solidFill>
                <a:latin typeface="Consolas"/>
                <a:cs typeface="Consolas"/>
              </a:rPr>
              <a:t>? super Voiture</a:t>
            </a:r>
            <a:r>
              <a:rPr lang="fr-FR" sz="2000" dirty="0"/>
              <a:t>, on définit une liste de « trucs dont voiture hérite ».</a:t>
            </a:r>
          </a:p>
          <a:p>
            <a:pPr marL="0" indent="0">
              <a:buNone/>
            </a:pPr>
            <a:endParaRPr lang="fr-FR" sz="2000" dirty="0"/>
          </a:p>
          <a:p>
            <a:pPr marL="0" indent="0">
              <a:buNone/>
            </a:pPr>
            <a:r>
              <a:rPr lang="fr-FR" sz="2000" dirty="0">
                <a:solidFill>
                  <a:schemeClr val="accent4"/>
                </a:solidFill>
                <a:latin typeface="Consolas"/>
                <a:cs typeface="Consolas"/>
              </a:rPr>
              <a:t>List&lt;? </a:t>
            </a:r>
            <a:r>
              <a:rPr lang="fr-FR" sz="2000" dirty="0" err="1">
                <a:solidFill>
                  <a:schemeClr val="accent4"/>
                </a:solidFill>
                <a:latin typeface="Consolas"/>
                <a:cs typeface="Consolas"/>
              </a:rPr>
              <a:t>extends</a:t>
            </a:r>
            <a:r>
              <a:rPr lang="fr-FR" sz="2000" dirty="0">
                <a:solidFill>
                  <a:schemeClr val="accent4"/>
                </a:solidFill>
                <a:latin typeface="Consolas"/>
                <a:cs typeface="Consolas"/>
              </a:rPr>
              <a:t> Voiture&gt; </a:t>
            </a:r>
            <a:r>
              <a:rPr lang="fr-FR" sz="2000" dirty="0" err="1">
                <a:solidFill>
                  <a:schemeClr val="accent4"/>
                </a:solidFill>
                <a:latin typeface="Consolas"/>
                <a:cs typeface="Consolas"/>
              </a:rPr>
              <a:t>listVSP</a:t>
            </a:r>
            <a:r>
              <a:rPr lang="fr-FR" sz="2000" dirty="0">
                <a:solidFill>
                  <a:schemeClr val="accent4"/>
                </a:solidFill>
                <a:latin typeface="Consolas"/>
                <a:cs typeface="Consolas"/>
              </a:rPr>
              <a:t> = new </a:t>
            </a:r>
            <a:r>
              <a:rPr lang="fr-FR" sz="2000" dirty="0" err="1">
                <a:solidFill>
                  <a:schemeClr val="accent4"/>
                </a:solidFill>
                <a:latin typeface="Consolas"/>
                <a:cs typeface="Consolas"/>
              </a:rPr>
              <a:t>ArrayList</a:t>
            </a:r>
            <a:r>
              <a:rPr lang="fr-FR" sz="2000" dirty="0">
                <a:solidFill>
                  <a:schemeClr val="accent4"/>
                </a:solidFill>
                <a:latin typeface="Consolas"/>
                <a:cs typeface="Consolas"/>
              </a:rPr>
              <a:t>&lt;</a:t>
            </a:r>
            <a:r>
              <a:rPr lang="fr-FR" sz="2000" dirty="0" err="1">
                <a:solidFill>
                  <a:schemeClr val="accent4"/>
                </a:solidFill>
                <a:latin typeface="Consolas"/>
                <a:cs typeface="Consolas"/>
              </a:rPr>
              <a:t>VoitureSansPermis</a:t>
            </a:r>
            <a:r>
              <a:rPr lang="fr-FR" sz="2000" dirty="0">
                <a:solidFill>
                  <a:schemeClr val="accent4"/>
                </a:solidFill>
                <a:latin typeface="Consolas"/>
                <a:cs typeface="Consolas"/>
              </a:rPr>
              <a:t>&gt;();</a:t>
            </a:r>
          </a:p>
          <a:p>
            <a:pPr marL="0" indent="0">
              <a:buNone/>
            </a:pPr>
            <a:endParaRPr lang="fr-FR" sz="2000" dirty="0">
              <a:solidFill>
                <a:srgbClr val="A6082B"/>
              </a:solidFill>
              <a:latin typeface="Consolas"/>
              <a:cs typeface="Consolas"/>
            </a:endParaRPr>
          </a:p>
        </p:txBody>
      </p:sp>
      <p:sp>
        <p:nvSpPr>
          <p:cNvPr id="3" name="Rectangle : coins arrondis 2">
            <a:extLst>
              <a:ext uri="{FF2B5EF4-FFF2-40B4-BE49-F238E27FC236}">
                <a16:creationId xmlns:a16="http://schemas.microsoft.com/office/drawing/2014/main" id="{42E23669-60B5-7400-4798-CDEAC70D7357}"/>
              </a:ext>
            </a:extLst>
          </p:cNvPr>
          <p:cNvSpPr/>
          <p:nvPr/>
        </p:nvSpPr>
        <p:spPr>
          <a:xfrm>
            <a:off x="838200" y="3848431"/>
            <a:ext cx="3368040" cy="326004"/>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Image 7">
            <a:extLst>
              <a:ext uri="{FF2B5EF4-FFF2-40B4-BE49-F238E27FC236}">
                <a16:creationId xmlns:a16="http://schemas.microsoft.com/office/drawing/2014/main" id="{97EA32AB-6D24-87C0-FA68-472BEFC2016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rot="650188">
            <a:off x="10657551" y="324322"/>
            <a:ext cx="1052380" cy="1447173"/>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4" name="Espace réservé du numéro de diapositive 3">
            <a:extLst>
              <a:ext uri="{FF2B5EF4-FFF2-40B4-BE49-F238E27FC236}">
                <a16:creationId xmlns:a16="http://schemas.microsoft.com/office/drawing/2014/main" id="{732E1EDB-755B-CF48-2F9D-7B845A39E530}"/>
              </a:ext>
            </a:extLst>
          </p:cNvPr>
          <p:cNvSpPr>
            <a:spLocks noGrp="1"/>
          </p:cNvSpPr>
          <p:nvPr>
            <p:ph type="sldNum" sz="quarter" idx="4"/>
          </p:nvPr>
        </p:nvSpPr>
        <p:spPr/>
        <p:txBody>
          <a:bodyPr/>
          <a:lstStyle/>
          <a:p>
            <a:fld id="{33C783E2-4793-4F48-A271-51A73CC37D74}" type="slidenum">
              <a:rPr lang="fr-FR" smtClean="0"/>
              <a:t>47</a:t>
            </a:fld>
            <a:endParaRPr lang="fr-FR"/>
          </a:p>
        </p:txBody>
      </p:sp>
    </p:spTree>
    <p:extLst>
      <p:ext uri="{BB962C8B-B14F-4D97-AF65-F5344CB8AC3E}">
        <p14:creationId xmlns:p14="http://schemas.microsoft.com/office/powerpoint/2010/main" val="3314923143"/>
      </p:ext>
    </p:extLst>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Les Jokers</a:t>
            </a:r>
          </a:p>
        </p:txBody>
      </p:sp>
      <p:sp>
        <p:nvSpPr>
          <p:cNvPr id="5" name="Espace réservé du contenu 4"/>
          <p:cNvSpPr>
            <a:spLocks noGrp="1"/>
          </p:cNvSpPr>
          <p:nvPr>
            <p:ph idx="1"/>
          </p:nvPr>
        </p:nvSpPr>
        <p:spPr/>
        <p:txBody>
          <a:bodyPr>
            <a:noAutofit/>
          </a:bodyPr>
          <a:lstStyle/>
          <a:p>
            <a:pPr marL="0" indent="0">
              <a:buNone/>
            </a:pPr>
            <a:r>
              <a:rPr lang="fr-FR" sz="1800" dirty="0">
                <a:solidFill>
                  <a:schemeClr val="accent4"/>
                </a:solidFill>
                <a:latin typeface="Consolas" panose="020B0609020204030204" pitchFamily="49" charset="0"/>
                <a:cs typeface="Consolas" panose="020B0609020204030204" pitchFamily="49" charset="0"/>
              </a:rPr>
              <a:t>List&lt;? </a:t>
            </a:r>
            <a:r>
              <a:rPr lang="fr-FR" sz="1800" dirty="0" err="1">
                <a:solidFill>
                  <a:schemeClr val="accent4"/>
                </a:solidFill>
                <a:latin typeface="Consolas" panose="020B0609020204030204" pitchFamily="49" charset="0"/>
                <a:cs typeface="Consolas" panose="020B0609020204030204" pitchFamily="49" charset="0"/>
              </a:rPr>
              <a:t>extends</a:t>
            </a:r>
            <a:r>
              <a:rPr lang="fr-FR" sz="1800" dirty="0">
                <a:solidFill>
                  <a:schemeClr val="accent4"/>
                </a:solidFill>
                <a:latin typeface="Consolas" panose="020B0609020204030204" pitchFamily="49" charset="0"/>
                <a:cs typeface="Consolas" panose="020B0609020204030204" pitchFamily="49" charset="0"/>
              </a:rPr>
              <a:t> Voiture&gt; </a:t>
            </a:r>
            <a:r>
              <a:rPr lang="fr-FR" sz="1800" dirty="0" err="1">
                <a:solidFill>
                  <a:schemeClr val="accent4"/>
                </a:solidFill>
                <a:latin typeface="Consolas" panose="020B0609020204030204" pitchFamily="49" charset="0"/>
                <a:cs typeface="Consolas" panose="020B0609020204030204" pitchFamily="49" charset="0"/>
              </a:rPr>
              <a:t>listVSP</a:t>
            </a:r>
            <a:r>
              <a:rPr lang="fr-FR" sz="1800" dirty="0">
                <a:solidFill>
                  <a:schemeClr val="accent4"/>
                </a:solidFill>
                <a:latin typeface="Consolas" panose="020B0609020204030204" pitchFamily="49" charset="0"/>
                <a:cs typeface="Consolas" panose="020B0609020204030204" pitchFamily="49" charset="0"/>
              </a:rPr>
              <a:t> = new </a:t>
            </a:r>
            <a:r>
              <a:rPr lang="fr-FR" sz="1800" dirty="0" err="1">
                <a:solidFill>
                  <a:schemeClr val="accent4"/>
                </a:solidFill>
                <a:latin typeface="Consolas" panose="020B0609020204030204" pitchFamily="49" charset="0"/>
                <a:cs typeface="Consolas" panose="020B0609020204030204" pitchFamily="49" charset="0"/>
              </a:rPr>
              <a:t>ArrayList</a:t>
            </a:r>
            <a:r>
              <a:rPr lang="fr-FR" sz="1800" dirty="0">
                <a:solidFill>
                  <a:schemeClr val="accent4"/>
                </a:solidFill>
                <a:latin typeface="Consolas" panose="020B0609020204030204" pitchFamily="49" charset="0"/>
                <a:cs typeface="Consolas" panose="020B0609020204030204" pitchFamily="49" charset="0"/>
              </a:rPr>
              <a:t>&lt;</a:t>
            </a:r>
            <a:r>
              <a:rPr lang="fr-FR" sz="1800" dirty="0" err="1">
                <a:solidFill>
                  <a:schemeClr val="accent4"/>
                </a:solidFill>
                <a:latin typeface="Consolas" panose="020B0609020204030204" pitchFamily="49" charset="0"/>
                <a:cs typeface="Consolas" panose="020B0609020204030204" pitchFamily="49" charset="0"/>
              </a:rPr>
              <a:t>VoitureSansPermis</a:t>
            </a:r>
            <a:r>
              <a:rPr lang="fr-FR" sz="1800" dirty="0">
                <a:solidFill>
                  <a:schemeClr val="accent4"/>
                </a:solidFill>
                <a:latin typeface="Consolas" panose="020B0609020204030204" pitchFamily="49" charset="0"/>
                <a:cs typeface="Consolas" panose="020B0609020204030204" pitchFamily="49" charset="0"/>
              </a:rPr>
              <a:t>&gt;();</a:t>
            </a:r>
          </a:p>
          <a:p>
            <a:pPr marL="0" indent="0">
              <a:lnSpc>
                <a:spcPct val="80000"/>
              </a:lnSpc>
              <a:buNone/>
            </a:pPr>
            <a:endParaRPr lang="fr-FR" sz="1800" dirty="0"/>
          </a:p>
          <a:p>
            <a:pPr marL="0" indent="0">
              <a:lnSpc>
                <a:spcPct val="80000"/>
              </a:lnSpc>
              <a:buNone/>
            </a:pPr>
            <a:r>
              <a:rPr lang="fr-FR" sz="2000" dirty="0"/>
              <a:t>On peut ensuite passer l'objet </a:t>
            </a:r>
            <a:r>
              <a:rPr lang="fr-FR" sz="2000" dirty="0" err="1">
                <a:solidFill>
                  <a:schemeClr val="accent4"/>
                </a:solidFill>
                <a:latin typeface="Consolas" panose="020B0609020204030204" pitchFamily="49" charset="0"/>
                <a:cs typeface="Consolas" panose="020B0609020204030204" pitchFamily="49" charset="0"/>
              </a:rPr>
              <a:t>listVSP</a:t>
            </a:r>
            <a:r>
              <a:rPr lang="fr-FR" sz="2000" dirty="0"/>
              <a:t> à une méthode qui en liste le contenu.</a:t>
            </a:r>
          </a:p>
        </p:txBody>
      </p:sp>
      <p:sp>
        <p:nvSpPr>
          <p:cNvPr id="8" name="ZoneTexte 7">
            <a:extLst>
              <a:ext uri="{FF2B5EF4-FFF2-40B4-BE49-F238E27FC236}">
                <a16:creationId xmlns:a16="http://schemas.microsoft.com/office/drawing/2014/main" id="{E5B7FC0A-CBEF-DF1E-F47A-E68594C26D0A}"/>
              </a:ext>
            </a:extLst>
          </p:cNvPr>
          <p:cNvSpPr txBox="1"/>
          <p:nvPr/>
        </p:nvSpPr>
        <p:spPr>
          <a:xfrm>
            <a:off x="1113183" y="3071565"/>
            <a:ext cx="6782462" cy="1477328"/>
          </a:xfrm>
          <a:prstGeom prst="rect">
            <a:avLst/>
          </a:prstGeom>
          <a:solidFill>
            <a:srgbClr val="2B2B2B"/>
          </a:solidFill>
        </p:spPr>
        <p:txBody>
          <a:bodyPr wrap="square">
            <a:spAutoFit/>
          </a:bodyPr>
          <a:lstStyle/>
          <a:p>
            <a:r>
              <a:rPr lang="fr-BE" dirty="0" err="1">
                <a:solidFill>
                  <a:srgbClr val="CC7832"/>
                </a:solidFill>
                <a:effectLst/>
                <a:latin typeface="Consolas" panose="020B0609020204030204" pitchFamily="49" charset="0"/>
                <a:cs typeface="Consolas" panose="020B0609020204030204" pitchFamily="49" charset="0"/>
              </a:rPr>
              <a:t>static</a:t>
            </a:r>
            <a:r>
              <a:rPr lang="fr-BE" dirty="0">
                <a:solidFill>
                  <a:srgbClr val="CC7832"/>
                </a:solidFill>
                <a:effectLst/>
                <a:latin typeface="Consolas" panose="020B0609020204030204" pitchFamily="49" charset="0"/>
                <a:cs typeface="Consolas" panose="020B0609020204030204" pitchFamily="49" charset="0"/>
              </a:rPr>
              <a:t> </a:t>
            </a:r>
            <a:r>
              <a:rPr lang="fr-BE" dirty="0" err="1">
                <a:solidFill>
                  <a:srgbClr val="CC7832"/>
                </a:solidFill>
                <a:effectLst/>
                <a:latin typeface="Consolas" panose="020B0609020204030204" pitchFamily="49" charset="0"/>
                <a:cs typeface="Consolas" panose="020B0609020204030204" pitchFamily="49" charset="0"/>
              </a:rPr>
              <a:t>void</a:t>
            </a:r>
            <a:r>
              <a:rPr lang="fr-BE" dirty="0">
                <a:solidFill>
                  <a:srgbClr val="CC7832"/>
                </a:solidFill>
                <a:effectLst/>
                <a:latin typeface="Consolas" panose="020B0609020204030204" pitchFamily="49" charset="0"/>
                <a:cs typeface="Consolas" panose="020B0609020204030204" pitchFamily="49" charset="0"/>
              </a:rPr>
              <a:t> </a:t>
            </a:r>
            <a:r>
              <a:rPr lang="fr-BE" dirty="0">
                <a:solidFill>
                  <a:srgbClr val="FFC66D"/>
                </a:solidFill>
                <a:effectLst/>
                <a:latin typeface="Consolas" panose="020B0609020204030204" pitchFamily="49" charset="0"/>
                <a:cs typeface="Consolas" panose="020B0609020204030204" pitchFamily="49" charset="0"/>
              </a:rPr>
              <a:t>afficher</a:t>
            </a:r>
            <a:r>
              <a:rPr lang="fr-BE" dirty="0">
                <a:latin typeface="Consolas" panose="020B0609020204030204" pitchFamily="49" charset="0"/>
                <a:cs typeface="Consolas" panose="020B0609020204030204" pitchFamily="49" charset="0"/>
              </a:rPr>
              <a:t>(List&lt;? </a:t>
            </a:r>
            <a:r>
              <a:rPr lang="fr-BE" dirty="0" err="1">
                <a:solidFill>
                  <a:srgbClr val="CC7832"/>
                </a:solidFill>
                <a:effectLst/>
                <a:latin typeface="Consolas" panose="020B0609020204030204" pitchFamily="49" charset="0"/>
                <a:cs typeface="Consolas" panose="020B0609020204030204" pitchFamily="49" charset="0"/>
              </a:rPr>
              <a:t>extends</a:t>
            </a:r>
            <a:r>
              <a:rPr lang="fr-BE" dirty="0">
                <a:solidFill>
                  <a:srgbClr val="CC7832"/>
                </a:solidFill>
                <a:effectLst/>
                <a:latin typeface="Consolas" panose="020B0609020204030204" pitchFamily="49" charset="0"/>
                <a:cs typeface="Consolas" panose="020B0609020204030204" pitchFamily="49" charset="0"/>
              </a:rPr>
              <a:t> </a:t>
            </a:r>
            <a:r>
              <a:rPr lang="fr-BE" dirty="0">
                <a:latin typeface="Consolas" panose="020B0609020204030204" pitchFamily="49" charset="0"/>
                <a:cs typeface="Consolas" panose="020B0609020204030204" pitchFamily="49" charset="0"/>
              </a:rPr>
              <a:t>Voiture&gt; </a:t>
            </a:r>
            <a:r>
              <a:rPr lang="fr-BE" dirty="0" err="1">
                <a:latin typeface="Consolas" panose="020B0609020204030204" pitchFamily="49" charset="0"/>
                <a:cs typeface="Consolas" panose="020B0609020204030204" pitchFamily="49" charset="0"/>
              </a:rPr>
              <a:t>list</a:t>
            </a:r>
            <a:r>
              <a:rPr lang="fr-BE" dirty="0">
                <a:latin typeface="Consolas" panose="020B0609020204030204" pitchFamily="49" charset="0"/>
                <a:cs typeface="Consolas" panose="020B0609020204030204" pitchFamily="49" charset="0"/>
              </a:rPr>
              <a:t>) {</a:t>
            </a:r>
          </a:p>
          <a:p>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a:solidFill>
                  <a:srgbClr val="CC7832"/>
                </a:solidFill>
                <a:effectLst/>
                <a:latin typeface="Consolas" panose="020B0609020204030204" pitchFamily="49" charset="0"/>
                <a:cs typeface="Consolas" panose="020B0609020204030204" pitchFamily="49" charset="0"/>
              </a:rPr>
              <a:t>for </a:t>
            </a:r>
            <a:r>
              <a:rPr lang="fr-BE" dirty="0">
                <a:latin typeface="Consolas" panose="020B0609020204030204" pitchFamily="49" charset="0"/>
                <a:cs typeface="Consolas" panose="020B0609020204030204" pitchFamily="49" charset="0"/>
              </a:rPr>
              <a:t>(Voiture v : </a:t>
            </a:r>
            <a:r>
              <a:rPr lang="fr-BE" dirty="0" err="1">
                <a:latin typeface="Consolas" panose="020B0609020204030204" pitchFamily="49" charset="0"/>
                <a:cs typeface="Consolas" panose="020B0609020204030204" pitchFamily="49" charset="0"/>
              </a:rPr>
              <a:t>list</a:t>
            </a:r>
            <a:r>
              <a:rPr lang="fr-BE" dirty="0">
                <a:latin typeface="Consolas" panose="020B0609020204030204" pitchFamily="49" charset="0"/>
                <a:cs typeface="Consolas" panose="020B0609020204030204" pitchFamily="49" charset="0"/>
              </a:rPr>
              <a:t>)</a:t>
            </a:r>
            <a:br>
              <a:rPr lang="fr-BE" dirty="0">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        </a:t>
            </a:r>
            <a:r>
              <a:rPr lang="fr-BE" dirty="0" err="1">
                <a:latin typeface="Consolas" panose="020B0609020204030204" pitchFamily="49" charset="0"/>
                <a:cs typeface="Consolas" panose="020B0609020204030204" pitchFamily="49" charset="0"/>
              </a:rPr>
              <a:t>System.</a:t>
            </a:r>
            <a:r>
              <a:rPr lang="fr-BE" i="1" dirty="0" err="1">
                <a:solidFill>
                  <a:srgbClr val="9876AA"/>
                </a:solidFill>
                <a:effectLst/>
                <a:latin typeface="Consolas" panose="020B0609020204030204" pitchFamily="49" charset="0"/>
                <a:cs typeface="Consolas" panose="020B0609020204030204" pitchFamily="49" charset="0"/>
              </a:rPr>
              <a:t>out</a:t>
            </a:r>
            <a:r>
              <a:rPr lang="fr-BE" dirty="0" err="1">
                <a:latin typeface="Consolas" panose="020B0609020204030204" pitchFamily="49" charset="0"/>
                <a:cs typeface="Consolas" panose="020B0609020204030204" pitchFamily="49" charset="0"/>
              </a:rPr>
              <a:t>.println</a:t>
            </a:r>
            <a:r>
              <a:rPr lang="fr-BE" dirty="0">
                <a:latin typeface="Consolas" panose="020B0609020204030204" pitchFamily="49" charset="0"/>
                <a:cs typeface="Consolas" panose="020B0609020204030204" pitchFamily="49" charset="0"/>
              </a:rPr>
              <a:t>(</a:t>
            </a:r>
            <a:r>
              <a:rPr lang="fr-BE" dirty="0" err="1">
                <a:latin typeface="Consolas" panose="020B0609020204030204" pitchFamily="49" charset="0"/>
                <a:cs typeface="Consolas" panose="020B0609020204030204" pitchFamily="49" charset="0"/>
              </a:rPr>
              <a:t>v.toString</a:t>
            </a:r>
            <a:r>
              <a:rPr lang="fr-BE" dirty="0">
                <a:latin typeface="Consolas" panose="020B0609020204030204" pitchFamily="49" charset="0"/>
                <a:cs typeface="Consolas" panose="020B0609020204030204" pitchFamily="49" charset="0"/>
              </a:rPr>
              <a:t>())</a:t>
            </a:r>
            <a:r>
              <a:rPr lang="fr-BE" dirty="0">
                <a:solidFill>
                  <a:srgbClr val="CC7832"/>
                </a:solidFill>
                <a:effectLst/>
                <a:latin typeface="Consolas" panose="020B0609020204030204" pitchFamily="49" charset="0"/>
                <a:cs typeface="Consolas" panose="020B0609020204030204" pitchFamily="49" charset="0"/>
              </a:rPr>
              <a:t>;</a:t>
            </a:r>
            <a:br>
              <a:rPr lang="fr-BE" dirty="0">
                <a:solidFill>
                  <a:srgbClr val="CC7832"/>
                </a:solidFill>
                <a:effectLst/>
                <a:latin typeface="Consolas" panose="020B0609020204030204" pitchFamily="49" charset="0"/>
                <a:cs typeface="Consolas" panose="020B0609020204030204" pitchFamily="49" charset="0"/>
              </a:rPr>
            </a:br>
            <a:r>
              <a:rPr lang="fr-BE" dirty="0">
                <a:latin typeface="Consolas" panose="020B0609020204030204" pitchFamily="49" charset="0"/>
                <a:cs typeface="Consolas" panose="020B0609020204030204" pitchFamily="49" charset="0"/>
              </a:rPr>
              <a:t>}</a:t>
            </a:r>
            <a:endParaRPr lang="fr-FR" dirty="0">
              <a:latin typeface="Consolas" panose="020B0609020204030204" pitchFamily="49" charset="0"/>
              <a:cs typeface="Consolas" panose="020B0609020204030204" pitchFamily="49" charset="0"/>
            </a:endParaRPr>
          </a:p>
        </p:txBody>
      </p:sp>
      <p:sp>
        <p:nvSpPr>
          <p:cNvPr id="6" name="Bulle rectangulaire 5">
            <a:extLst>
              <a:ext uri="{FF2B5EF4-FFF2-40B4-BE49-F238E27FC236}">
                <a16:creationId xmlns:a16="http://schemas.microsoft.com/office/drawing/2014/main" id="{C8A47D8B-4B2F-1043-9B7D-AA6E154398D4}"/>
              </a:ext>
            </a:extLst>
          </p:cNvPr>
          <p:cNvSpPr/>
          <p:nvPr/>
        </p:nvSpPr>
        <p:spPr>
          <a:xfrm>
            <a:off x="7275158" y="3550445"/>
            <a:ext cx="3631541" cy="519568"/>
          </a:xfrm>
          <a:prstGeom prst="wedgeRectCallout">
            <a:avLst>
              <a:gd name="adj1" fmla="val -104757"/>
              <a:gd name="adj2" fmla="val 6316"/>
            </a:avLst>
          </a:prstGeom>
          <a:solidFill>
            <a:schemeClr val="accent6"/>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solidFill>
                  <a:schemeClr val="tx1"/>
                </a:solidFill>
                <a:cs typeface="Consolas"/>
              </a:rPr>
              <a:t>possible puisque tous les éléments de la liste héritent de Voiture</a:t>
            </a:r>
            <a:endParaRPr lang="fr-FR" dirty="0">
              <a:solidFill>
                <a:schemeClr val="tx1"/>
              </a:solidFill>
            </a:endParaRPr>
          </a:p>
        </p:txBody>
      </p:sp>
      <p:sp>
        <p:nvSpPr>
          <p:cNvPr id="10" name="ZoneTexte 9">
            <a:extLst>
              <a:ext uri="{FF2B5EF4-FFF2-40B4-BE49-F238E27FC236}">
                <a16:creationId xmlns:a16="http://schemas.microsoft.com/office/drawing/2014/main" id="{75A8001D-7BE6-E317-1EE6-B010716145C9}"/>
              </a:ext>
            </a:extLst>
          </p:cNvPr>
          <p:cNvSpPr txBox="1"/>
          <p:nvPr/>
        </p:nvSpPr>
        <p:spPr>
          <a:xfrm>
            <a:off x="838200" y="5191403"/>
            <a:ext cx="8512534" cy="400110"/>
          </a:xfrm>
          <a:prstGeom prst="rect">
            <a:avLst/>
          </a:prstGeom>
          <a:noFill/>
        </p:spPr>
        <p:txBody>
          <a:bodyPr wrap="square">
            <a:spAutoFit/>
          </a:bodyPr>
          <a:lstStyle/>
          <a:p>
            <a:pPr marL="0" indent="0">
              <a:buNone/>
            </a:pPr>
            <a:r>
              <a:rPr lang="fr-FR" sz="2000" dirty="0"/>
              <a:t>Restriction sur le joker: dès qu'on l'utilise, les listes passent en </a:t>
            </a:r>
            <a:r>
              <a:rPr lang="fr-FR" sz="2000" dirty="0">
                <a:solidFill>
                  <a:schemeClr val="accent4"/>
                </a:solidFill>
              </a:rPr>
              <a:t>lecture seule</a:t>
            </a:r>
            <a:r>
              <a:rPr lang="fr-FR" sz="2000" dirty="0"/>
              <a:t>...</a:t>
            </a:r>
          </a:p>
        </p:txBody>
      </p:sp>
      <p:pic>
        <p:nvPicPr>
          <p:cNvPr id="12" name="Image 11">
            <a:extLst>
              <a:ext uri="{FF2B5EF4-FFF2-40B4-BE49-F238E27FC236}">
                <a16:creationId xmlns:a16="http://schemas.microsoft.com/office/drawing/2014/main" id="{93249549-C5D4-E3A7-821A-ED78DDB5C52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rot="650188">
            <a:off x="10657551" y="324322"/>
            <a:ext cx="1052380" cy="1447173"/>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3" name="Espace réservé du numéro de diapositive 2">
            <a:extLst>
              <a:ext uri="{FF2B5EF4-FFF2-40B4-BE49-F238E27FC236}">
                <a16:creationId xmlns:a16="http://schemas.microsoft.com/office/drawing/2014/main" id="{36F12DE4-D06C-E649-4F52-B4A85F180C99}"/>
              </a:ext>
            </a:extLst>
          </p:cNvPr>
          <p:cNvSpPr>
            <a:spLocks noGrp="1"/>
          </p:cNvSpPr>
          <p:nvPr>
            <p:ph type="sldNum" sz="quarter" idx="4"/>
          </p:nvPr>
        </p:nvSpPr>
        <p:spPr/>
        <p:txBody>
          <a:bodyPr/>
          <a:lstStyle/>
          <a:p>
            <a:fld id="{33C783E2-4793-4F48-A271-51A73CC37D74}" type="slidenum">
              <a:rPr lang="fr-FR" smtClean="0"/>
              <a:t>48</a:t>
            </a:fld>
            <a:endParaRPr lang="fr-FR"/>
          </a:p>
        </p:txBody>
      </p:sp>
    </p:spTree>
    <p:extLst>
      <p:ext uri="{BB962C8B-B14F-4D97-AF65-F5344CB8AC3E}">
        <p14:creationId xmlns:p14="http://schemas.microsoft.com/office/powerpoint/2010/main" val="561572776"/>
      </p:ext>
    </p:extLst>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6" grpId="0" animBg="1"/>
      <p:bldP spid="10"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Les Jokers</a:t>
            </a:r>
          </a:p>
        </p:txBody>
      </p:sp>
      <p:sp>
        <p:nvSpPr>
          <p:cNvPr id="5" name="Espace réservé du contenu 4"/>
          <p:cNvSpPr>
            <a:spLocks noGrp="1"/>
          </p:cNvSpPr>
          <p:nvPr>
            <p:ph idx="1"/>
          </p:nvPr>
        </p:nvSpPr>
        <p:spPr/>
        <p:txBody>
          <a:bodyPr>
            <a:noAutofit/>
          </a:bodyPr>
          <a:lstStyle/>
          <a:p>
            <a:pPr marL="274320" lvl="1" indent="0">
              <a:buNone/>
            </a:pPr>
            <a:r>
              <a:rPr lang="fr-FR" sz="1800" dirty="0">
                <a:solidFill>
                  <a:schemeClr val="accent4"/>
                </a:solidFill>
                <a:latin typeface="Consolas"/>
                <a:cs typeface="Consolas"/>
              </a:rPr>
              <a:t>List&lt;? </a:t>
            </a:r>
            <a:r>
              <a:rPr lang="fr-FR" sz="1800" dirty="0" err="1">
                <a:solidFill>
                  <a:schemeClr val="accent4"/>
                </a:solidFill>
                <a:latin typeface="Consolas"/>
                <a:cs typeface="Consolas"/>
              </a:rPr>
              <a:t>extends</a:t>
            </a:r>
            <a:r>
              <a:rPr lang="fr-FR" sz="1800" dirty="0">
                <a:solidFill>
                  <a:schemeClr val="accent4"/>
                </a:solidFill>
                <a:latin typeface="Consolas"/>
                <a:cs typeface="Consolas"/>
              </a:rPr>
              <a:t> </a:t>
            </a:r>
            <a:r>
              <a:rPr lang="fr-FR" sz="1800" dirty="0" err="1">
                <a:solidFill>
                  <a:schemeClr val="accent4"/>
                </a:solidFill>
                <a:latin typeface="Consolas"/>
                <a:cs typeface="Consolas"/>
              </a:rPr>
              <a:t>Number</a:t>
            </a:r>
            <a:r>
              <a:rPr lang="fr-FR" sz="1800" dirty="0">
                <a:solidFill>
                  <a:schemeClr val="accent4"/>
                </a:solidFill>
                <a:latin typeface="Consolas"/>
                <a:cs typeface="Consolas"/>
              </a:rPr>
              <a:t>&gt; </a:t>
            </a:r>
            <a:r>
              <a:rPr lang="fr-FR" sz="1800" dirty="0" err="1">
                <a:solidFill>
                  <a:schemeClr val="accent4"/>
                </a:solidFill>
                <a:latin typeface="Consolas"/>
                <a:cs typeface="Consolas"/>
              </a:rPr>
              <a:t>ls</a:t>
            </a:r>
            <a:r>
              <a:rPr lang="fr-FR" sz="1800" dirty="0">
                <a:solidFill>
                  <a:schemeClr val="accent4"/>
                </a:solidFill>
                <a:latin typeface="Consolas"/>
                <a:cs typeface="Consolas"/>
              </a:rPr>
              <a:t> = new </a:t>
            </a:r>
            <a:r>
              <a:rPr lang="fr-FR" sz="1800" dirty="0" err="1">
                <a:solidFill>
                  <a:schemeClr val="accent4"/>
                </a:solidFill>
                <a:latin typeface="Consolas"/>
                <a:cs typeface="Consolas"/>
              </a:rPr>
              <a:t>ArrayList</a:t>
            </a:r>
            <a:r>
              <a:rPr lang="fr-FR" sz="1800" dirty="0">
                <a:solidFill>
                  <a:schemeClr val="accent4"/>
                </a:solidFill>
                <a:latin typeface="Consolas"/>
                <a:cs typeface="Consolas"/>
              </a:rPr>
              <a:t>(</a:t>
            </a:r>
            <a:r>
              <a:rPr lang="fr-FR" sz="1800" dirty="0" err="1">
                <a:solidFill>
                  <a:schemeClr val="accent4"/>
                </a:solidFill>
                <a:latin typeface="Consolas"/>
                <a:cs typeface="Consolas"/>
              </a:rPr>
              <a:t>Integer</a:t>
            </a:r>
            <a:r>
              <a:rPr lang="fr-FR" sz="1800" dirty="0">
                <a:solidFill>
                  <a:schemeClr val="accent4"/>
                </a:solidFill>
                <a:latin typeface="Consolas"/>
                <a:cs typeface="Consolas"/>
              </a:rPr>
              <a:t>); </a:t>
            </a:r>
          </a:p>
          <a:p>
            <a:pPr marL="274320" lvl="1" indent="0">
              <a:buNone/>
            </a:pPr>
            <a:r>
              <a:rPr lang="fr-FR" sz="1800" dirty="0" err="1">
                <a:solidFill>
                  <a:schemeClr val="accent4"/>
                </a:solidFill>
                <a:latin typeface="Consolas"/>
                <a:cs typeface="Consolas"/>
              </a:rPr>
              <a:t>Number</a:t>
            </a:r>
            <a:r>
              <a:rPr lang="fr-FR" sz="1800" dirty="0">
                <a:solidFill>
                  <a:schemeClr val="accent4"/>
                </a:solidFill>
                <a:latin typeface="Consolas"/>
                <a:cs typeface="Consolas"/>
              </a:rPr>
              <a:t> n1= new Double(1.0);</a:t>
            </a:r>
          </a:p>
          <a:p>
            <a:pPr marL="274320" lvl="1" indent="0">
              <a:buNone/>
            </a:pPr>
            <a:r>
              <a:rPr lang="fr-FR" sz="1800" dirty="0" err="1">
                <a:solidFill>
                  <a:srgbClr val="FF0000"/>
                </a:solidFill>
                <a:latin typeface="Consolas"/>
                <a:cs typeface="Consolas"/>
              </a:rPr>
              <a:t>ls.add</a:t>
            </a:r>
            <a:r>
              <a:rPr lang="fr-FR" sz="1800" dirty="0">
                <a:solidFill>
                  <a:srgbClr val="FF0000"/>
                </a:solidFill>
                <a:latin typeface="Consolas"/>
                <a:cs typeface="Consolas"/>
              </a:rPr>
              <a:t>(n1)</a:t>
            </a:r>
            <a:r>
              <a:rPr lang="fr-FR" sz="1800" dirty="0">
                <a:latin typeface="Consolas"/>
                <a:cs typeface="Consolas"/>
              </a:rPr>
              <a:t> </a:t>
            </a:r>
            <a:r>
              <a:rPr lang="fr-FR" sz="1800" dirty="0">
                <a:solidFill>
                  <a:schemeClr val="tx2">
                    <a:lumMod val="75000"/>
                  </a:schemeClr>
                </a:solidFill>
                <a:latin typeface="Consolas"/>
                <a:cs typeface="Consolas"/>
              </a:rPr>
              <a:t>// NE COMPILE PAS</a:t>
            </a:r>
          </a:p>
          <a:p>
            <a:endParaRPr lang="fr-FR" sz="2000" dirty="0"/>
          </a:p>
          <a:p>
            <a:pPr marL="0" indent="0">
              <a:buNone/>
            </a:pPr>
            <a:r>
              <a:rPr lang="fr-FR" sz="2000" dirty="0"/>
              <a:t>Explication: </a:t>
            </a:r>
          </a:p>
          <a:p>
            <a:pPr marL="0" indent="0">
              <a:buNone/>
            </a:pPr>
            <a:r>
              <a:rPr lang="fr-FR" sz="2000" dirty="0"/>
              <a:t>avec </a:t>
            </a:r>
            <a:r>
              <a:rPr lang="fr-FR" sz="2000" dirty="0">
                <a:solidFill>
                  <a:schemeClr val="accent4"/>
                </a:solidFill>
                <a:latin typeface="Consolas"/>
                <a:cs typeface="Consolas"/>
              </a:rPr>
              <a:t>List&lt;? </a:t>
            </a:r>
            <a:r>
              <a:rPr lang="fr-FR" sz="2000" dirty="0" err="1">
                <a:solidFill>
                  <a:schemeClr val="accent4"/>
                </a:solidFill>
                <a:latin typeface="Consolas"/>
                <a:cs typeface="Consolas"/>
              </a:rPr>
              <a:t>extends</a:t>
            </a:r>
            <a:r>
              <a:rPr lang="fr-FR" sz="2000" dirty="0">
                <a:solidFill>
                  <a:schemeClr val="accent4"/>
                </a:solidFill>
                <a:latin typeface="Consolas"/>
                <a:cs typeface="Consolas"/>
              </a:rPr>
              <a:t> </a:t>
            </a:r>
            <a:r>
              <a:rPr lang="fr-FR" sz="2000" dirty="0" err="1">
                <a:solidFill>
                  <a:schemeClr val="accent4"/>
                </a:solidFill>
                <a:latin typeface="Consolas"/>
                <a:cs typeface="Consolas"/>
              </a:rPr>
              <a:t>Number</a:t>
            </a:r>
            <a:r>
              <a:rPr lang="fr-FR" sz="2000" dirty="0">
                <a:solidFill>
                  <a:schemeClr val="accent4"/>
                </a:solidFill>
                <a:latin typeface="Consolas"/>
                <a:cs typeface="Consolas"/>
              </a:rPr>
              <a:t>&gt;</a:t>
            </a:r>
            <a:r>
              <a:rPr lang="fr-FR" sz="2000" dirty="0"/>
              <a:t>, on ne peut rien ajouter à la liste, parce qu'il est </a:t>
            </a:r>
            <a:r>
              <a:rPr lang="fr-FR" sz="2000" dirty="0">
                <a:solidFill>
                  <a:schemeClr val="accent4"/>
                </a:solidFill>
              </a:rPr>
              <a:t>impossible de savoir quelle sous-classe</a:t>
            </a:r>
            <a:r>
              <a:rPr lang="fr-FR" sz="2000" dirty="0">
                <a:solidFill>
                  <a:schemeClr val="accent2"/>
                </a:solidFill>
              </a:rPr>
              <a:t> </a:t>
            </a:r>
            <a:r>
              <a:rPr lang="fr-FR" sz="2000" dirty="0"/>
              <a:t>de </a:t>
            </a:r>
            <a:r>
              <a:rPr lang="fr-FR" sz="2000" dirty="0" err="1">
                <a:solidFill>
                  <a:schemeClr val="accent4"/>
                </a:solidFill>
                <a:latin typeface="Consolas"/>
                <a:cs typeface="Consolas"/>
              </a:rPr>
              <a:t>Number</a:t>
            </a:r>
            <a:r>
              <a:rPr lang="fr-FR" sz="2000" dirty="0"/>
              <a:t> on peut effectivement ajouter. </a:t>
            </a:r>
          </a:p>
          <a:p>
            <a:pPr marL="0" indent="0">
              <a:buNone/>
            </a:pPr>
            <a:r>
              <a:rPr lang="fr-FR" sz="2000" dirty="0"/>
              <a:t>S'agit-il d'une </a:t>
            </a:r>
            <a:r>
              <a:rPr lang="fr-FR" sz="2000" dirty="0">
                <a:solidFill>
                  <a:schemeClr val="accent4"/>
                </a:solidFill>
                <a:latin typeface="Consolas"/>
                <a:cs typeface="Consolas"/>
              </a:rPr>
              <a:t>List&lt;</a:t>
            </a:r>
            <a:r>
              <a:rPr lang="fr-FR" sz="2000" dirty="0" err="1">
                <a:solidFill>
                  <a:schemeClr val="accent4"/>
                </a:solidFill>
                <a:latin typeface="Consolas"/>
                <a:cs typeface="Consolas"/>
              </a:rPr>
              <a:t>Integer</a:t>
            </a:r>
            <a:r>
              <a:rPr lang="fr-FR" sz="2000" dirty="0">
                <a:solidFill>
                  <a:schemeClr val="accent4"/>
                </a:solidFill>
                <a:latin typeface="Consolas"/>
                <a:cs typeface="Consolas"/>
              </a:rPr>
              <a:t>&gt;</a:t>
            </a:r>
            <a:r>
              <a:rPr lang="fr-FR" sz="2000" dirty="0"/>
              <a:t>, </a:t>
            </a:r>
            <a:r>
              <a:rPr lang="fr-FR" sz="2000" dirty="0">
                <a:solidFill>
                  <a:schemeClr val="accent4"/>
                </a:solidFill>
                <a:latin typeface="Consolas"/>
                <a:cs typeface="Consolas"/>
              </a:rPr>
              <a:t>List&lt;Double&gt;</a:t>
            </a:r>
            <a:r>
              <a:rPr lang="fr-FR" sz="2000" dirty="0"/>
              <a:t> ou d'une </a:t>
            </a:r>
            <a:r>
              <a:rPr lang="fr-FR" sz="2000" dirty="0">
                <a:solidFill>
                  <a:schemeClr val="accent4"/>
                </a:solidFill>
                <a:latin typeface="Consolas"/>
                <a:cs typeface="Consolas"/>
              </a:rPr>
              <a:t>List&lt;Float&gt;</a:t>
            </a:r>
            <a:r>
              <a:rPr lang="fr-FR" sz="2000" dirty="0"/>
              <a:t>? Impossible de savoir! </a:t>
            </a:r>
          </a:p>
          <a:p>
            <a:pPr marL="0" indent="0">
              <a:buNone/>
            </a:pPr>
            <a:r>
              <a:rPr lang="fr-FR" sz="2000" dirty="0"/>
              <a:t>Par conséquent, on ne peut pas ajouter de </a:t>
            </a:r>
            <a:r>
              <a:rPr lang="fr-FR" sz="2000" dirty="0">
                <a:solidFill>
                  <a:schemeClr val="accent4"/>
                </a:solidFill>
                <a:latin typeface="Consolas"/>
                <a:cs typeface="Consolas"/>
              </a:rPr>
              <a:t>Double</a:t>
            </a:r>
            <a:r>
              <a:rPr lang="fr-FR" sz="2000" dirty="0"/>
              <a:t> – qui pourrait 'casser' les règles de typage la liste réellement utilisée</a:t>
            </a:r>
            <a:r>
              <a:rPr lang="fr-FR" sz="1800" dirty="0"/>
              <a:t>...</a:t>
            </a:r>
          </a:p>
        </p:txBody>
      </p:sp>
      <p:pic>
        <p:nvPicPr>
          <p:cNvPr id="7" name="Image 6">
            <a:extLst>
              <a:ext uri="{FF2B5EF4-FFF2-40B4-BE49-F238E27FC236}">
                <a16:creationId xmlns:a16="http://schemas.microsoft.com/office/drawing/2014/main" id="{7A53D742-7F5D-C7E6-1CE8-A65DC9EA0FC5}"/>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rot="650188">
            <a:off x="10657551" y="324322"/>
            <a:ext cx="1052380" cy="1447173"/>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3" name="Espace réservé du numéro de diapositive 2">
            <a:extLst>
              <a:ext uri="{FF2B5EF4-FFF2-40B4-BE49-F238E27FC236}">
                <a16:creationId xmlns:a16="http://schemas.microsoft.com/office/drawing/2014/main" id="{E6A690E3-F6BE-9DFC-D2E6-5427CDD9AF71}"/>
              </a:ext>
            </a:extLst>
          </p:cNvPr>
          <p:cNvSpPr>
            <a:spLocks noGrp="1"/>
          </p:cNvSpPr>
          <p:nvPr>
            <p:ph type="sldNum" sz="quarter" idx="4"/>
          </p:nvPr>
        </p:nvSpPr>
        <p:spPr/>
        <p:txBody>
          <a:bodyPr/>
          <a:lstStyle/>
          <a:p>
            <a:fld id="{33C783E2-4793-4F48-A271-51A73CC37D74}" type="slidenum">
              <a:rPr lang="fr-FR" smtClean="0"/>
              <a:t>49</a:t>
            </a:fld>
            <a:endParaRPr lang="fr-FR"/>
          </a:p>
        </p:txBody>
      </p:sp>
    </p:spTree>
    <p:extLst>
      <p:ext uri="{BB962C8B-B14F-4D97-AF65-F5344CB8AC3E}">
        <p14:creationId xmlns:p14="http://schemas.microsoft.com/office/powerpoint/2010/main" val="3231074167"/>
      </p:ext>
    </p:extLst>
  </p:cSld>
  <p:clrMapOvr>
    <a:masterClrMapping/>
  </p:clrMapOvr>
  <p:transition>
    <p:push dir="u"/>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D’autres références</a:t>
            </a:r>
          </a:p>
        </p:txBody>
      </p:sp>
      <p:sp>
        <p:nvSpPr>
          <p:cNvPr id="9" name="Espace réservé du contenu 8"/>
          <p:cNvSpPr>
            <a:spLocks noGrp="1"/>
          </p:cNvSpPr>
          <p:nvPr>
            <p:ph idx="1"/>
          </p:nvPr>
        </p:nvSpPr>
        <p:spPr/>
        <p:txBody>
          <a:bodyPr>
            <a:normAutofit/>
          </a:bodyPr>
          <a:lstStyle/>
          <a:p>
            <a:pPr>
              <a:lnSpc>
                <a:spcPct val="150000"/>
              </a:lnSpc>
            </a:pPr>
            <a:r>
              <a:rPr lang="fr-FR" sz="1800" i="1" dirty="0">
                <a:solidFill>
                  <a:schemeClr val="accent2"/>
                </a:solidFill>
                <a:hlinkClick r:id="rId2"/>
              </a:rPr>
              <a:t>http://fr.wikibooks.org/wiki/Programmation_Java/Types_génériques</a:t>
            </a:r>
            <a:endParaRPr lang="fr-FR" sz="1800" i="1" dirty="0">
              <a:solidFill>
                <a:schemeClr val="accent2"/>
              </a:solidFill>
            </a:endParaRPr>
          </a:p>
          <a:p>
            <a:pPr>
              <a:lnSpc>
                <a:spcPct val="150000"/>
              </a:lnSpc>
            </a:pPr>
            <a:endParaRPr lang="fr-FR" sz="1800" i="1" dirty="0">
              <a:solidFill>
                <a:schemeClr val="accent2"/>
              </a:solidFill>
              <a:hlinkClick r:id="" action="ppaction://noaction"/>
            </a:endParaRPr>
          </a:p>
          <a:p>
            <a:pPr>
              <a:lnSpc>
                <a:spcPct val="150000"/>
              </a:lnSpc>
            </a:pPr>
            <a:r>
              <a:rPr lang="fr-FR" sz="1800" i="1" dirty="0">
                <a:solidFill>
                  <a:schemeClr val="accent2"/>
                </a:solidFill>
                <a:hlinkClick r:id="" action="ppaction://noaction"/>
              </a:rPr>
              <a:t>http://docs.oracle.com/javase/tutorial/java/generics/index.html</a:t>
            </a:r>
            <a:endParaRPr lang="fr-FR" sz="1800" i="1" dirty="0">
              <a:solidFill>
                <a:schemeClr val="accent2"/>
              </a:solidFill>
            </a:endParaRPr>
          </a:p>
          <a:p>
            <a:pPr>
              <a:lnSpc>
                <a:spcPct val="150000"/>
              </a:lnSpc>
            </a:pPr>
            <a:endParaRPr lang="fr-FR" sz="1800" i="1" dirty="0">
              <a:solidFill>
                <a:schemeClr val="accent2"/>
              </a:solidFill>
            </a:endParaRPr>
          </a:p>
          <a:p>
            <a:pPr>
              <a:lnSpc>
                <a:spcPct val="150000"/>
              </a:lnSpc>
            </a:pPr>
            <a:r>
              <a:rPr lang="fr-FR" sz="1800" i="1" dirty="0">
                <a:solidFill>
                  <a:schemeClr val="accent2"/>
                </a:solidFill>
                <a:hlinkClick r:id="rId3"/>
              </a:rPr>
              <a:t>https://</a:t>
            </a:r>
            <a:r>
              <a:rPr lang="fr-FR" sz="1800" i="1" dirty="0" err="1">
                <a:solidFill>
                  <a:schemeClr val="accent2"/>
                </a:solidFill>
                <a:hlinkClick r:id="rId3"/>
              </a:rPr>
              <a:t>openclassrooms.com</a:t>
            </a:r>
            <a:r>
              <a:rPr lang="fr-FR" sz="1800" i="1" dirty="0">
                <a:solidFill>
                  <a:schemeClr val="accent2"/>
                </a:solidFill>
                <a:hlinkClick r:id="rId3"/>
              </a:rPr>
              <a:t>/</a:t>
            </a:r>
            <a:r>
              <a:rPr lang="fr-FR" sz="1800" i="1" dirty="0" err="1">
                <a:solidFill>
                  <a:schemeClr val="accent2"/>
                </a:solidFill>
                <a:hlinkClick r:id="rId3"/>
              </a:rPr>
              <a:t>fr</a:t>
            </a:r>
            <a:r>
              <a:rPr lang="fr-FR" sz="1800" i="1" dirty="0">
                <a:solidFill>
                  <a:schemeClr val="accent2"/>
                </a:solidFill>
                <a:hlinkClick r:id="rId3"/>
              </a:rPr>
              <a:t>/courses/26832-apprenez-a-programmer-en-java/22404-apprehendez-la-genericite-en-java</a:t>
            </a:r>
            <a:endParaRPr lang="fr-FR" sz="1800" i="1" dirty="0">
              <a:solidFill>
                <a:schemeClr val="accent2"/>
              </a:solidFill>
            </a:endParaRPr>
          </a:p>
          <a:p>
            <a:pPr>
              <a:lnSpc>
                <a:spcPct val="150000"/>
              </a:lnSpc>
            </a:pPr>
            <a:endParaRPr lang="fr-FR" dirty="0"/>
          </a:p>
        </p:txBody>
      </p:sp>
      <p:pic>
        <p:nvPicPr>
          <p:cNvPr id="7170" name="Picture 2" descr="Chaîne tendue PNG transparents - StickPNG">
            <a:extLst>
              <a:ext uri="{FF2B5EF4-FFF2-40B4-BE49-F238E27FC236}">
                <a16:creationId xmlns:a16="http://schemas.microsoft.com/office/drawing/2014/main" id="{B92AE1CB-876D-ED59-0C36-4F39132E70E3}"/>
              </a:ext>
            </a:extLst>
          </p:cNvPr>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t="39693" b="39693"/>
          <a:stretch/>
        </p:blipFill>
        <p:spPr bwMode="auto">
          <a:xfrm rot="1476660">
            <a:off x="7279944" y="441435"/>
            <a:ext cx="5321960" cy="877614"/>
          </a:xfrm>
          <a:prstGeom prst="rect">
            <a:avLst/>
          </a:prstGeom>
          <a:noFill/>
          <a:extLst>
            <a:ext uri="{909E8E84-426E-40DD-AFC4-6F175D3DCCD1}">
              <a14:hiddenFill xmlns:a14="http://schemas.microsoft.com/office/drawing/2010/main">
                <a:solidFill>
                  <a:srgbClr val="FFFFFF"/>
                </a:solidFill>
              </a14:hiddenFill>
            </a:ext>
          </a:extLst>
        </p:spPr>
      </p:pic>
      <p:sp>
        <p:nvSpPr>
          <p:cNvPr id="3" name="Espace réservé du numéro de diapositive 2">
            <a:extLst>
              <a:ext uri="{FF2B5EF4-FFF2-40B4-BE49-F238E27FC236}">
                <a16:creationId xmlns:a16="http://schemas.microsoft.com/office/drawing/2014/main" id="{3859D508-3757-7FE4-6815-ABE5D7551C0D}"/>
              </a:ext>
            </a:extLst>
          </p:cNvPr>
          <p:cNvSpPr>
            <a:spLocks noGrp="1"/>
          </p:cNvSpPr>
          <p:nvPr>
            <p:ph type="sldNum" sz="quarter" idx="4"/>
          </p:nvPr>
        </p:nvSpPr>
        <p:spPr/>
        <p:txBody>
          <a:bodyPr/>
          <a:lstStyle/>
          <a:p>
            <a:fld id="{33C783E2-4793-4F48-A271-51A73CC37D74}" type="slidenum">
              <a:rPr lang="fr-FR" smtClean="0"/>
              <a:t>50</a:t>
            </a:fld>
            <a:endParaRPr lang="fr-FR"/>
          </a:p>
        </p:txBody>
      </p:sp>
    </p:spTree>
    <p:extLst>
      <p:ext uri="{BB962C8B-B14F-4D97-AF65-F5344CB8AC3E}">
        <p14:creationId xmlns:p14="http://schemas.microsoft.com/office/powerpoint/2010/main" val="2974310696"/>
      </p:ext>
    </p:extLst>
  </p:cSld>
  <p:clrMapOvr>
    <a:masterClrMapping/>
  </p:clrMapOvr>
  <p:transition>
    <p:push dir="u"/>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Exercices</a:t>
            </a:r>
          </a:p>
        </p:txBody>
      </p:sp>
      <p:pic>
        <p:nvPicPr>
          <p:cNvPr id="1030" name="Picture 6" descr="AI &amp; Big Data | IAV">
            <a:extLst>
              <a:ext uri="{FF2B5EF4-FFF2-40B4-BE49-F238E27FC236}">
                <a16:creationId xmlns:a16="http://schemas.microsoft.com/office/drawing/2014/main" id="{3709C831-3988-E91D-67DA-F5E87D122BEC}"/>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l="19581" r="19581"/>
          <a:stretch/>
        </p:blipFill>
        <p:spPr bwMode="auto">
          <a:xfrm>
            <a:off x="3407229" y="942975"/>
            <a:ext cx="5377542" cy="4972050"/>
          </a:xfrm>
          <a:prstGeom prst="rect">
            <a:avLst/>
          </a:prstGeom>
          <a:noFill/>
          <a:extLst>
            <a:ext uri="{909E8E84-426E-40DD-AFC4-6F175D3DCCD1}">
              <a14:hiddenFill xmlns:a14="http://schemas.microsoft.com/office/drawing/2010/main">
                <a:solidFill>
                  <a:srgbClr val="FFFFFF"/>
                </a:solidFill>
              </a14:hiddenFill>
            </a:ext>
          </a:extLst>
        </p:spPr>
      </p:pic>
      <p:sp>
        <p:nvSpPr>
          <p:cNvPr id="3" name="Espace réservé du numéro de diapositive 2">
            <a:extLst>
              <a:ext uri="{FF2B5EF4-FFF2-40B4-BE49-F238E27FC236}">
                <a16:creationId xmlns:a16="http://schemas.microsoft.com/office/drawing/2014/main" id="{A6A3D43A-5803-D9D2-773F-7E8E1AC584C1}"/>
              </a:ext>
            </a:extLst>
          </p:cNvPr>
          <p:cNvSpPr>
            <a:spLocks noGrp="1"/>
          </p:cNvSpPr>
          <p:nvPr>
            <p:ph type="sldNum" sz="quarter" idx="4"/>
          </p:nvPr>
        </p:nvSpPr>
        <p:spPr/>
        <p:txBody>
          <a:bodyPr/>
          <a:lstStyle/>
          <a:p>
            <a:fld id="{33C783E2-4793-4F48-A271-51A73CC37D74}" type="slidenum">
              <a:rPr lang="fr-FR" smtClean="0"/>
              <a:t>51</a:t>
            </a:fld>
            <a:endParaRPr lang="fr-FR"/>
          </a:p>
        </p:txBody>
      </p:sp>
    </p:spTree>
    <p:extLst>
      <p:ext uri="{BB962C8B-B14F-4D97-AF65-F5344CB8AC3E}">
        <p14:creationId xmlns:p14="http://schemas.microsoft.com/office/powerpoint/2010/main" val="3615862344"/>
      </p:ext>
    </p:extLst>
  </p:cSld>
  <p:clrMapOvr>
    <a:masterClrMapping/>
  </p:clrMapOvr>
  <p:transition>
    <p:push dir="u"/>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0BC18DC-5789-A343-9CF8-610E340ECFCA}"/>
              </a:ext>
            </a:extLst>
          </p:cNvPr>
          <p:cNvSpPr>
            <a:spLocks noGrp="1"/>
          </p:cNvSpPr>
          <p:nvPr>
            <p:ph type="title"/>
          </p:nvPr>
        </p:nvSpPr>
        <p:spPr/>
        <p:txBody>
          <a:bodyPr/>
          <a:lstStyle/>
          <a:p>
            <a:r>
              <a:rPr lang="fr-FR" dirty="0"/>
              <a:t>Exercice 36</a:t>
            </a:r>
          </a:p>
        </p:txBody>
      </p:sp>
      <p:sp>
        <p:nvSpPr>
          <p:cNvPr id="5" name="Espace réservé du contenu 4">
            <a:extLst>
              <a:ext uri="{FF2B5EF4-FFF2-40B4-BE49-F238E27FC236}">
                <a16:creationId xmlns:a16="http://schemas.microsoft.com/office/drawing/2014/main" id="{3F8D6BDE-490E-3140-9666-7A039C4FFA76}"/>
              </a:ext>
            </a:extLst>
          </p:cNvPr>
          <p:cNvSpPr>
            <a:spLocks noGrp="1"/>
          </p:cNvSpPr>
          <p:nvPr>
            <p:ph idx="1"/>
          </p:nvPr>
        </p:nvSpPr>
        <p:spPr/>
        <p:txBody>
          <a:bodyPr>
            <a:normAutofit lnSpcReduction="10000"/>
          </a:bodyPr>
          <a:lstStyle/>
          <a:p>
            <a:pPr marL="0" indent="0">
              <a:buNone/>
            </a:pPr>
            <a:r>
              <a:rPr lang="fr-FR" dirty="0"/>
              <a:t>Ecrivez une classe </a:t>
            </a:r>
            <a:r>
              <a:rPr lang="fr-FR" sz="2600" dirty="0" err="1">
                <a:solidFill>
                  <a:schemeClr val="accent4"/>
                </a:solidFill>
                <a:latin typeface="Consolas"/>
                <a:cs typeface="Consolas"/>
              </a:rPr>
              <a:t>TripletI</a:t>
            </a:r>
            <a:r>
              <a:rPr lang="fr-FR" dirty="0"/>
              <a:t>, de façon à ce qu’un triplet contienne trois objets de type identique.</a:t>
            </a:r>
          </a:p>
          <a:p>
            <a:pPr marL="0" indent="0">
              <a:buNone/>
            </a:pPr>
            <a:r>
              <a:rPr lang="fr-FR" dirty="0"/>
              <a:t>Ecrivez aussi un programme dans lequel vous créez un triplet de </a:t>
            </a:r>
            <a:r>
              <a:rPr lang="fr-FR" sz="2600" dirty="0">
                <a:solidFill>
                  <a:schemeClr val="accent4"/>
                </a:solidFill>
                <a:latin typeface="Consolas"/>
                <a:cs typeface="Consolas"/>
              </a:rPr>
              <a:t>String</a:t>
            </a:r>
            <a:r>
              <a:rPr lang="fr-FR" dirty="0"/>
              <a:t>, de </a:t>
            </a:r>
            <a:r>
              <a:rPr lang="fr-FR" sz="2600" dirty="0">
                <a:solidFill>
                  <a:schemeClr val="accent4"/>
                </a:solidFill>
                <a:latin typeface="Consolas"/>
                <a:cs typeface="Consolas"/>
              </a:rPr>
              <a:t>Point</a:t>
            </a:r>
            <a:r>
              <a:rPr lang="fr-FR" dirty="0"/>
              <a:t>, et d’</a:t>
            </a:r>
            <a:r>
              <a:rPr lang="fr-FR" sz="2600" dirty="0">
                <a:solidFill>
                  <a:schemeClr val="accent4"/>
                </a:solidFill>
                <a:latin typeface="Consolas"/>
                <a:cs typeface="Consolas"/>
              </a:rPr>
              <a:t>Integer</a:t>
            </a:r>
            <a:r>
              <a:rPr lang="fr-FR" dirty="0"/>
              <a:t>.</a:t>
            </a:r>
          </a:p>
          <a:p>
            <a:pPr marL="0" indent="0">
              <a:buNone/>
            </a:pPr>
            <a:endParaRPr lang="fr-FR" dirty="0"/>
          </a:p>
          <a:p>
            <a:pPr marL="0" indent="0">
              <a:buNone/>
            </a:pPr>
            <a:r>
              <a:rPr lang="fr-FR" dirty="0"/>
              <a:t>Ecrivez </a:t>
            </a:r>
            <a:r>
              <a:rPr lang="fr-FR" dirty="0" err="1"/>
              <a:t>ensite</a:t>
            </a:r>
            <a:r>
              <a:rPr lang="fr-FR" dirty="0"/>
              <a:t> une classe </a:t>
            </a:r>
            <a:r>
              <a:rPr lang="fr-FR" sz="2600" dirty="0" err="1">
                <a:solidFill>
                  <a:schemeClr val="accent4"/>
                </a:solidFill>
                <a:latin typeface="Consolas"/>
                <a:cs typeface="Consolas"/>
              </a:rPr>
              <a:t>TripletD</a:t>
            </a:r>
            <a:r>
              <a:rPr lang="fr-FR" dirty="0"/>
              <a:t>, de façon à ce qu’un triplet contienne trois objets de types différents.</a:t>
            </a:r>
          </a:p>
          <a:p>
            <a:pPr marL="0" indent="0">
              <a:buNone/>
            </a:pPr>
            <a:r>
              <a:rPr lang="fr-FR" dirty="0"/>
              <a:t>Ecrivez aussi un programme dans lequel vous créez un triplet contenant un </a:t>
            </a:r>
            <a:r>
              <a:rPr lang="fr-FR" dirty="0">
                <a:solidFill>
                  <a:schemeClr val="accent4"/>
                </a:solidFill>
                <a:latin typeface="Consolas"/>
                <a:cs typeface="Consolas"/>
              </a:rPr>
              <a:t>String</a:t>
            </a:r>
            <a:r>
              <a:rPr lang="fr-FR" dirty="0"/>
              <a:t>, un </a:t>
            </a:r>
            <a:r>
              <a:rPr lang="fr-FR" dirty="0">
                <a:solidFill>
                  <a:schemeClr val="accent4"/>
                </a:solidFill>
                <a:latin typeface="Consolas"/>
                <a:cs typeface="Consolas"/>
              </a:rPr>
              <a:t>Integer</a:t>
            </a:r>
            <a:r>
              <a:rPr lang="fr-FR" dirty="0"/>
              <a:t> et un </a:t>
            </a:r>
            <a:r>
              <a:rPr lang="fr-FR" sz="2600" dirty="0">
                <a:solidFill>
                  <a:schemeClr val="accent4"/>
                </a:solidFill>
                <a:latin typeface="Consolas"/>
                <a:cs typeface="Consolas"/>
              </a:rPr>
              <a:t>Double</a:t>
            </a:r>
            <a:r>
              <a:rPr lang="fr-FR" dirty="0"/>
              <a:t> et un triplet contenant un </a:t>
            </a:r>
            <a:r>
              <a:rPr lang="fr-FR" sz="2600" dirty="0">
                <a:solidFill>
                  <a:schemeClr val="accent4"/>
                </a:solidFill>
                <a:latin typeface="Consolas"/>
                <a:cs typeface="Consolas"/>
              </a:rPr>
              <a:t>Point</a:t>
            </a:r>
            <a:r>
              <a:rPr lang="fr-FR" dirty="0"/>
              <a:t>, un </a:t>
            </a:r>
            <a:r>
              <a:rPr lang="fr-FR" dirty="0">
                <a:solidFill>
                  <a:schemeClr val="accent4"/>
                </a:solidFill>
                <a:latin typeface="Consolas"/>
                <a:cs typeface="Consolas"/>
              </a:rPr>
              <a:t>Point</a:t>
            </a:r>
            <a:r>
              <a:rPr lang="fr-FR" dirty="0"/>
              <a:t> et un </a:t>
            </a:r>
            <a:r>
              <a:rPr lang="fr-FR" sz="2600" dirty="0">
                <a:solidFill>
                  <a:schemeClr val="accent4"/>
                </a:solidFill>
                <a:latin typeface="Consolas"/>
                <a:cs typeface="Consolas"/>
              </a:rPr>
              <a:t>Integer</a:t>
            </a:r>
            <a:r>
              <a:rPr lang="fr-FR" dirty="0"/>
              <a:t>.</a:t>
            </a:r>
          </a:p>
          <a:p>
            <a:pPr marL="0" indent="0">
              <a:buNone/>
            </a:pPr>
            <a:endParaRPr lang="fr-FR" dirty="0"/>
          </a:p>
        </p:txBody>
      </p:sp>
      <p:sp>
        <p:nvSpPr>
          <p:cNvPr id="4" name="Espace réservé du numéro de diapositive 3">
            <a:extLst>
              <a:ext uri="{FF2B5EF4-FFF2-40B4-BE49-F238E27FC236}">
                <a16:creationId xmlns:a16="http://schemas.microsoft.com/office/drawing/2014/main" id="{A6F6BF49-A5E9-6B1A-5095-672F05309BB7}"/>
              </a:ext>
            </a:extLst>
          </p:cNvPr>
          <p:cNvSpPr>
            <a:spLocks noGrp="1"/>
          </p:cNvSpPr>
          <p:nvPr>
            <p:ph type="sldNum" sz="quarter" idx="4"/>
          </p:nvPr>
        </p:nvSpPr>
        <p:spPr/>
        <p:txBody>
          <a:bodyPr/>
          <a:lstStyle/>
          <a:p>
            <a:fld id="{33C783E2-4793-4F48-A271-51A73CC37D74}" type="slidenum">
              <a:rPr lang="fr-FR" smtClean="0"/>
              <a:t>52</a:t>
            </a:fld>
            <a:endParaRPr lang="fr-FR"/>
          </a:p>
        </p:txBody>
      </p:sp>
      <p:pic>
        <p:nvPicPr>
          <p:cNvPr id="6" name="Picture 2" descr="blog-nutrition-outlet">
            <a:extLst>
              <a:ext uri="{FF2B5EF4-FFF2-40B4-BE49-F238E27FC236}">
                <a16:creationId xmlns:a16="http://schemas.microsoft.com/office/drawing/2014/main" id="{D31CFA26-048E-C039-7405-B153C38BA0C8}"/>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9793621" y="1"/>
            <a:ext cx="1968936" cy="1968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12355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0E5BC4-2B9C-7341-9117-D1C784D7E791}"/>
              </a:ext>
            </a:extLst>
          </p:cNvPr>
          <p:cNvSpPr>
            <a:spLocks noGrp="1"/>
          </p:cNvSpPr>
          <p:nvPr>
            <p:ph type="title"/>
          </p:nvPr>
        </p:nvSpPr>
        <p:spPr/>
        <p:txBody>
          <a:bodyPr/>
          <a:lstStyle/>
          <a:p>
            <a:r>
              <a:rPr lang="fr-FR" dirty="0"/>
              <a:t>Exercice 37</a:t>
            </a:r>
          </a:p>
        </p:txBody>
      </p:sp>
      <p:sp>
        <p:nvSpPr>
          <p:cNvPr id="3" name="Espace réservé du contenu 2">
            <a:extLst>
              <a:ext uri="{FF2B5EF4-FFF2-40B4-BE49-F238E27FC236}">
                <a16:creationId xmlns:a16="http://schemas.microsoft.com/office/drawing/2014/main" id="{9797369A-581C-3A4F-9EBD-83694F77893C}"/>
              </a:ext>
            </a:extLst>
          </p:cNvPr>
          <p:cNvSpPr>
            <a:spLocks noGrp="1"/>
          </p:cNvSpPr>
          <p:nvPr>
            <p:ph idx="1"/>
          </p:nvPr>
        </p:nvSpPr>
        <p:spPr/>
        <p:txBody>
          <a:bodyPr/>
          <a:lstStyle/>
          <a:p>
            <a:pPr marL="0" indent="0">
              <a:buNone/>
            </a:pPr>
            <a:r>
              <a:rPr lang="fr-FR" dirty="0"/>
              <a:t>Créez une classe </a:t>
            </a:r>
            <a:r>
              <a:rPr lang="fr-FR" sz="2600" dirty="0">
                <a:solidFill>
                  <a:schemeClr val="accent4"/>
                </a:solidFill>
                <a:latin typeface="Consolas"/>
                <a:cs typeface="Consolas"/>
              </a:rPr>
              <a:t>Personne</a:t>
            </a:r>
            <a:r>
              <a:rPr lang="fr-FR" dirty="0"/>
              <a:t> et une classe </a:t>
            </a:r>
            <a:r>
              <a:rPr lang="fr-FR" sz="2600" dirty="0">
                <a:solidFill>
                  <a:schemeClr val="accent4"/>
                </a:solidFill>
                <a:latin typeface="Consolas"/>
                <a:cs typeface="Consolas"/>
              </a:rPr>
              <a:t>Etudiant</a:t>
            </a:r>
            <a:r>
              <a:rPr lang="fr-FR" dirty="0"/>
              <a:t> (qui hérite de </a:t>
            </a:r>
            <a:r>
              <a:rPr lang="fr-FR" sz="2600" dirty="0">
                <a:solidFill>
                  <a:schemeClr val="accent4"/>
                </a:solidFill>
                <a:latin typeface="Consolas"/>
                <a:cs typeface="Consolas"/>
              </a:rPr>
              <a:t>Personne</a:t>
            </a:r>
            <a:r>
              <a:rPr lang="fr-FR" dirty="0"/>
              <a:t>), sans logique spécifique. </a:t>
            </a:r>
          </a:p>
          <a:p>
            <a:pPr marL="0" indent="0">
              <a:buNone/>
            </a:pPr>
            <a:r>
              <a:rPr lang="fr-FR" dirty="0"/>
              <a:t>Ecrivez un </a:t>
            </a:r>
            <a:r>
              <a:rPr lang="fr-FR" sz="2600" dirty="0">
                <a:solidFill>
                  <a:schemeClr val="accent4"/>
                </a:solidFill>
                <a:latin typeface="Consolas"/>
                <a:cs typeface="Consolas"/>
              </a:rPr>
              <a:t>Programme</a:t>
            </a:r>
            <a:r>
              <a:rPr lang="fr-FR" dirty="0"/>
              <a:t> dans lequel vous instanciez un triplet de </a:t>
            </a:r>
            <a:r>
              <a:rPr lang="fr-FR" sz="2600" dirty="0">
                <a:solidFill>
                  <a:schemeClr val="accent4"/>
                </a:solidFill>
                <a:latin typeface="Consolas"/>
                <a:cs typeface="Consolas"/>
              </a:rPr>
              <a:t>Personne</a:t>
            </a:r>
            <a:r>
              <a:rPr lang="fr-FR" dirty="0"/>
              <a:t> et un triplet de </a:t>
            </a:r>
            <a:r>
              <a:rPr lang="fr-FR" sz="2600" dirty="0">
                <a:solidFill>
                  <a:schemeClr val="accent4"/>
                </a:solidFill>
                <a:latin typeface="Consolas"/>
                <a:cs typeface="Consolas"/>
              </a:rPr>
              <a:t>Etudiant</a:t>
            </a:r>
            <a:r>
              <a:rPr lang="fr-FR" dirty="0"/>
              <a:t>.</a:t>
            </a:r>
          </a:p>
          <a:p>
            <a:pPr marL="0" indent="0">
              <a:buNone/>
            </a:pPr>
            <a:endParaRPr lang="fr-FR" dirty="0"/>
          </a:p>
          <a:p>
            <a:pPr marL="0" indent="0">
              <a:buNone/>
            </a:pPr>
            <a:r>
              <a:rPr lang="fr-FR" dirty="0"/>
              <a:t>Ecrivez aussi une méthode </a:t>
            </a:r>
            <a:r>
              <a:rPr lang="fr-FR" sz="2600" dirty="0" err="1">
                <a:solidFill>
                  <a:schemeClr val="accent4"/>
                </a:solidFill>
                <a:latin typeface="Consolas"/>
                <a:cs typeface="Consolas"/>
              </a:rPr>
              <a:t>afficheTriplet</a:t>
            </a:r>
            <a:r>
              <a:rPr lang="fr-FR" dirty="0"/>
              <a:t> qui peut traiter un triplet de </a:t>
            </a:r>
            <a:r>
              <a:rPr lang="fr-FR" sz="2600" dirty="0">
                <a:solidFill>
                  <a:schemeClr val="accent4"/>
                </a:solidFill>
                <a:latin typeface="Consolas"/>
                <a:cs typeface="Consolas"/>
              </a:rPr>
              <a:t>Personne</a:t>
            </a:r>
            <a:r>
              <a:rPr lang="fr-FR" dirty="0"/>
              <a:t> ou de </a:t>
            </a:r>
            <a:r>
              <a:rPr lang="fr-FR" sz="2600" dirty="0">
                <a:solidFill>
                  <a:schemeClr val="accent4"/>
                </a:solidFill>
                <a:latin typeface="Consolas"/>
                <a:cs typeface="Consolas"/>
              </a:rPr>
              <a:t>Etudiant</a:t>
            </a:r>
            <a:r>
              <a:rPr lang="fr-FR" dirty="0"/>
              <a:t> (utilisez le joker).</a:t>
            </a:r>
          </a:p>
          <a:p>
            <a:pPr marL="0" indent="0">
              <a:buNone/>
            </a:pPr>
            <a:r>
              <a:rPr lang="fr-FR" dirty="0"/>
              <a:t>Montrez ensuite que la méthode peut traiter chacune des deux types.</a:t>
            </a:r>
          </a:p>
        </p:txBody>
      </p:sp>
      <p:sp>
        <p:nvSpPr>
          <p:cNvPr id="4" name="Espace réservé du numéro de diapositive 3">
            <a:extLst>
              <a:ext uri="{FF2B5EF4-FFF2-40B4-BE49-F238E27FC236}">
                <a16:creationId xmlns:a16="http://schemas.microsoft.com/office/drawing/2014/main" id="{8681786C-5E2C-447E-3D01-8195A9202125}"/>
              </a:ext>
            </a:extLst>
          </p:cNvPr>
          <p:cNvSpPr>
            <a:spLocks noGrp="1"/>
          </p:cNvSpPr>
          <p:nvPr>
            <p:ph type="sldNum" sz="quarter" idx="4"/>
          </p:nvPr>
        </p:nvSpPr>
        <p:spPr/>
        <p:txBody>
          <a:bodyPr/>
          <a:lstStyle/>
          <a:p>
            <a:fld id="{33C783E2-4793-4F48-A271-51A73CC37D74}" type="slidenum">
              <a:rPr lang="fr-FR" smtClean="0"/>
              <a:t>53</a:t>
            </a:fld>
            <a:endParaRPr lang="fr-FR"/>
          </a:p>
        </p:txBody>
      </p:sp>
      <p:pic>
        <p:nvPicPr>
          <p:cNvPr id="5" name="Picture 2" descr="blog-nutrition-outlet">
            <a:extLst>
              <a:ext uri="{FF2B5EF4-FFF2-40B4-BE49-F238E27FC236}">
                <a16:creationId xmlns:a16="http://schemas.microsoft.com/office/drawing/2014/main" id="{0DCD47E9-02E7-8774-F430-FA03D99F234B}"/>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9793621" y="1"/>
            <a:ext cx="1968936" cy="1968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03391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0E5BC4-2B9C-7341-9117-D1C784D7E791}"/>
              </a:ext>
            </a:extLst>
          </p:cNvPr>
          <p:cNvSpPr>
            <a:spLocks noGrp="1"/>
          </p:cNvSpPr>
          <p:nvPr>
            <p:ph type="title"/>
          </p:nvPr>
        </p:nvSpPr>
        <p:spPr/>
        <p:txBody>
          <a:bodyPr/>
          <a:lstStyle/>
          <a:p>
            <a:r>
              <a:rPr lang="fr-FR" dirty="0"/>
              <a:t>Exercice 38</a:t>
            </a:r>
          </a:p>
        </p:txBody>
      </p:sp>
      <p:sp>
        <p:nvSpPr>
          <p:cNvPr id="3" name="Espace réservé du contenu 2">
            <a:extLst>
              <a:ext uri="{FF2B5EF4-FFF2-40B4-BE49-F238E27FC236}">
                <a16:creationId xmlns:a16="http://schemas.microsoft.com/office/drawing/2014/main" id="{9797369A-581C-3A4F-9EBD-83694F77893C}"/>
              </a:ext>
            </a:extLst>
          </p:cNvPr>
          <p:cNvSpPr>
            <a:spLocks noGrp="1"/>
          </p:cNvSpPr>
          <p:nvPr>
            <p:ph idx="1"/>
          </p:nvPr>
        </p:nvSpPr>
        <p:spPr/>
        <p:txBody>
          <a:bodyPr>
            <a:normAutofit fontScale="85000" lnSpcReduction="20000"/>
          </a:bodyPr>
          <a:lstStyle/>
          <a:p>
            <a:pPr marL="0" indent="0">
              <a:lnSpc>
                <a:spcPct val="110000"/>
              </a:lnSpc>
              <a:buNone/>
            </a:pPr>
            <a:r>
              <a:rPr lang="fr-FR"/>
              <a:t>Ecrivez à présent une classe </a:t>
            </a:r>
            <a:r>
              <a:rPr lang="fr-FR" sz="2600">
                <a:solidFill>
                  <a:schemeClr val="accent4"/>
                </a:solidFill>
                <a:latin typeface="Consolas"/>
                <a:cs typeface="Consolas"/>
              </a:rPr>
              <a:t>UtilGenerique</a:t>
            </a:r>
            <a:r>
              <a:rPr lang="fr-FR"/>
              <a:t> dans laquelle vous définirez une </a:t>
            </a:r>
            <a:r>
              <a:rPr lang="fr-FR">
                <a:solidFill>
                  <a:schemeClr val="accent4"/>
                </a:solidFill>
              </a:rPr>
              <a:t>méthode statique générique</a:t>
            </a:r>
            <a:r>
              <a:rPr lang="fr-FR">
                <a:solidFill>
                  <a:schemeClr val="accent2"/>
                </a:solidFill>
              </a:rPr>
              <a:t> </a:t>
            </a:r>
            <a:r>
              <a:rPr lang="fr-FR" sz="2600">
                <a:solidFill>
                  <a:schemeClr val="accent4"/>
                </a:solidFill>
                <a:latin typeface="Consolas"/>
                <a:cs typeface="Consolas"/>
              </a:rPr>
              <a:t>otGnirts</a:t>
            </a:r>
            <a:r>
              <a:rPr lang="fr-FR"/>
              <a:t> qui retourne une </a:t>
            </a:r>
            <a:r>
              <a:rPr lang="fr-FR" sz="2600">
                <a:solidFill>
                  <a:schemeClr val="accent4"/>
                </a:solidFill>
                <a:latin typeface="Consolas"/>
                <a:cs typeface="Consolas"/>
              </a:rPr>
              <a:t>String</a:t>
            </a:r>
            <a:r>
              <a:rPr lang="fr-FR"/>
              <a:t>.</a:t>
            </a:r>
          </a:p>
          <a:p>
            <a:pPr marL="0" indent="0">
              <a:lnSpc>
                <a:spcPct val="110000"/>
              </a:lnSpc>
              <a:buNone/>
            </a:pPr>
            <a:r>
              <a:rPr lang="fr-FR"/>
              <a:t>Cette méthode retourne le </a:t>
            </a:r>
            <a:r>
              <a:rPr lang="fr-FR" sz="2600">
                <a:solidFill>
                  <a:schemeClr val="accent4"/>
                </a:solidFill>
                <a:latin typeface="Consolas"/>
                <a:cs typeface="Consolas"/>
              </a:rPr>
              <a:t>toString</a:t>
            </a:r>
            <a:r>
              <a:rPr lang="fr-FR"/>
              <a:t> inversé (d’où son nom incongru). </a:t>
            </a:r>
          </a:p>
          <a:p>
            <a:pPr marL="457200" indent="-457200">
              <a:lnSpc>
                <a:spcPct val="110000"/>
              </a:lnSpc>
              <a:buFont typeface="+mj-lt"/>
              <a:buAutoNum type="arabicPeriod"/>
            </a:pPr>
            <a:r>
              <a:rPr lang="fr-FR"/>
              <a:t>Elle génère le </a:t>
            </a:r>
            <a:r>
              <a:rPr lang="fr-FR" sz="2600">
                <a:solidFill>
                  <a:schemeClr val="accent4"/>
                </a:solidFill>
                <a:latin typeface="Consolas"/>
                <a:cs typeface="Consolas"/>
              </a:rPr>
              <a:t>toString</a:t>
            </a:r>
            <a:r>
              <a:rPr lang="fr-FR"/>
              <a:t> de l’objet,</a:t>
            </a:r>
          </a:p>
          <a:p>
            <a:pPr marL="457200" indent="-457200">
              <a:lnSpc>
                <a:spcPct val="110000"/>
              </a:lnSpc>
              <a:buFont typeface="+mj-lt"/>
              <a:buAutoNum type="arabicPeriod"/>
            </a:pPr>
            <a:r>
              <a:rPr lang="fr-FR"/>
              <a:t>Elle inverse cette chaîne de caractères (le premier caractère devient le dernier,…) </a:t>
            </a:r>
          </a:p>
          <a:p>
            <a:pPr marL="457200" indent="-457200">
              <a:lnSpc>
                <a:spcPct val="110000"/>
              </a:lnSpc>
              <a:buFont typeface="+mj-lt"/>
              <a:buAutoNum type="arabicPeriod"/>
            </a:pPr>
            <a:r>
              <a:rPr lang="fr-FR"/>
              <a:t>Puis elle la retourne à l’appelant.</a:t>
            </a:r>
          </a:p>
          <a:p>
            <a:pPr>
              <a:lnSpc>
                <a:spcPct val="110000"/>
              </a:lnSpc>
            </a:pPr>
            <a:endParaRPr lang="fr-FR"/>
          </a:p>
          <a:p>
            <a:pPr marL="0" indent="0">
              <a:lnSpc>
                <a:spcPct val="110000"/>
              </a:lnSpc>
              <a:buNone/>
            </a:pPr>
            <a:r>
              <a:rPr lang="fr-FR"/>
              <a:t>Montrez ensuite dans un petit programme que la méthode fonctionne pour différents types d’objets.</a:t>
            </a:r>
            <a:endParaRPr lang="fr-FR" dirty="0"/>
          </a:p>
        </p:txBody>
      </p:sp>
      <p:sp>
        <p:nvSpPr>
          <p:cNvPr id="4" name="Espace réservé du numéro de diapositive 3">
            <a:extLst>
              <a:ext uri="{FF2B5EF4-FFF2-40B4-BE49-F238E27FC236}">
                <a16:creationId xmlns:a16="http://schemas.microsoft.com/office/drawing/2014/main" id="{9531F742-F138-9362-9696-6811E6D2306E}"/>
              </a:ext>
            </a:extLst>
          </p:cNvPr>
          <p:cNvSpPr>
            <a:spLocks noGrp="1"/>
          </p:cNvSpPr>
          <p:nvPr>
            <p:ph type="sldNum" sz="quarter" idx="4"/>
          </p:nvPr>
        </p:nvSpPr>
        <p:spPr/>
        <p:txBody>
          <a:bodyPr/>
          <a:lstStyle/>
          <a:p>
            <a:fld id="{33C783E2-4793-4F48-A271-51A73CC37D74}" type="slidenum">
              <a:rPr lang="fr-FR" smtClean="0"/>
              <a:t>54</a:t>
            </a:fld>
            <a:endParaRPr lang="fr-FR"/>
          </a:p>
        </p:txBody>
      </p:sp>
      <p:pic>
        <p:nvPicPr>
          <p:cNvPr id="5" name="Picture 2" descr="blog-nutrition-outlet">
            <a:extLst>
              <a:ext uri="{FF2B5EF4-FFF2-40B4-BE49-F238E27FC236}">
                <a16:creationId xmlns:a16="http://schemas.microsoft.com/office/drawing/2014/main" id="{A221410F-6952-D7F4-632D-816D192D2A13}"/>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9793621" y="1"/>
            <a:ext cx="1968936" cy="1968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99698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0E5BC4-2B9C-7341-9117-D1C784D7E791}"/>
              </a:ext>
            </a:extLst>
          </p:cNvPr>
          <p:cNvSpPr>
            <a:spLocks noGrp="1"/>
          </p:cNvSpPr>
          <p:nvPr>
            <p:ph type="title"/>
          </p:nvPr>
        </p:nvSpPr>
        <p:spPr/>
        <p:txBody>
          <a:bodyPr/>
          <a:lstStyle/>
          <a:p>
            <a:r>
              <a:rPr lang="fr-FR" dirty="0"/>
              <a:t>Exercice 39</a:t>
            </a:r>
          </a:p>
        </p:txBody>
      </p:sp>
      <p:sp>
        <p:nvSpPr>
          <p:cNvPr id="3" name="Espace réservé du contenu 2">
            <a:extLst>
              <a:ext uri="{FF2B5EF4-FFF2-40B4-BE49-F238E27FC236}">
                <a16:creationId xmlns:a16="http://schemas.microsoft.com/office/drawing/2014/main" id="{9797369A-581C-3A4F-9EBD-83694F77893C}"/>
              </a:ext>
            </a:extLst>
          </p:cNvPr>
          <p:cNvSpPr>
            <a:spLocks noGrp="1"/>
          </p:cNvSpPr>
          <p:nvPr>
            <p:ph idx="1"/>
          </p:nvPr>
        </p:nvSpPr>
        <p:spPr>
          <a:xfrm>
            <a:off x="838200" y="4004428"/>
            <a:ext cx="10515600" cy="2172535"/>
          </a:xfrm>
        </p:spPr>
        <p:txBody>
          <a:bodyPr>
            <a:normAutofit fontScale="77500" lnSpcReduction="20000"/>
          </a:bodyPr>
          <a:lstStyle/>
          <a:p>
            <a:pPr marL="0" indent="0">
              <a:lnSpc>
                <a:spcPct val="110000"/>
              </a:lnSpc>
              <a:buNone/>
            </a:pPr>
            <a:r>
              <a:rPr lang="fr-FR" dirty="0"/>
              <a:t>Etant donné la classe </a:t>
            </a:r>
            <a:r>
              <a:rPr lang="fr-FR" sz="2600" dirty="0">
                <a:solidFill>
                  <a:schemeClr val="accent4"/>
                </a:solidFill>
                <a:latin typeface="Consolas"/>
                <a:cs typeface="Consolas"/>
              </a:rPr>
              <a:t>Couple</a:t>
            </a:r>
            <a:r>
              <a:rPr lang="fr-FR" dirty="0"/>
              <a:t> donnée ci-dessus, créez une classe </a:t>
            </a:r>
            <a:r>
              <a:rPr lang="fr-FR" sz="2600" dirty="0" err="1">
                <a:solidFill>
                  <a:schemeClr val="accent4"/>
                </a:solidFill>
                <a:latin typeface="Consolas"/>
                <a:cs typeface="Consolas"/>
              </a:rPr>
              <a:t>CoupleNomme</a:t>
            </a:r>
            <a:r>
              <a:rPr lang="fr-FR" dirty="0"/>
              <a:t> qui hérite de </a:t>
            </a:r>
            <a:r>
              <a:rPr lang="fr-FR" sz="2600" dirty="0">
                <a:solidFill>
                  <a:schemeClr val="accent4"/>
                </a:solidFill>
                <a:latin typeface="Consolas"/>
                <a:cs typeface="Consolas"/>
              </a:rPr>
              <a:t>Couple</a:t>
            </a:r>
            <a:r>
              <a:rPr lang="fr-FR" dirty="0"/>
              <a:t>.</a:t>
            </a:r>
          </a:p>
          <a:p>
            <a:pPr marL="0" indent="0">
              <a:lnSpc>
                <a:spcPct val="110000"/>
              </a:lnSpc>
              <a:buNone/>
            </a:pPr>
            <a:r>
              <a:rPr lang="fr-FR" dirty="0"/>
              <a:t>Cette nouvelle classe possède un </a:t>
            </a:r>
            <a:r>
              <a:rPr lang="fr-FR" sz="2600" dirty="0">
                <a:solidFill>
                  <a:schemeClr val="accent4"/>
                </a:solidFill>
                <a:latin typeface="Consolas"/>
                <a:cs typeface="Consolas"/>
              </a:rPr>
              <a:t>nom</a:t>
            </a:r>
            <a:r>
              <a:rPr lang="fr-FR" dirty="0"/>
              <a:t>, de type </a:t>
            </a:r>
            <a:r>
              <a:rPr lang="fr-FR" sz="2600" dirty="0">
                <a:solidFill>
                  <a:schemeClr val="accent4"/>
                </a:solidFill>
                <a:latin typeface="Consolas"/>
                <a:cs typeface="Consolas"/>
              </a:rPr>
              <a:t>String</a:t>
            </a:r>
            <a:r>
              <a:rPr lang="fr-FR" dirty="0"/>
              <a:t>, initialisé dans le constructeur.</a:t>
            </a:r>
          </a:p>
          <a:p>
            <a:pPr marL="0" indent="0">
              <a:lnSpc>
                <a:spcPct val="110000"/>
              </a:lnSpc>
              <a:buNone/>
            </a:pPr>
            <a:r>
              <a:rPr lang="fr-FR" dirty="0"/>
              <a:t>Elle redéfinit aussi la méthode affiche de </a:t>
            </a:r>
            <a:r>
              <a:rPr lang="fr-FR" sz="2600" dirty="0">
                <a:solidFill>
                  <a:schemeClr val="accent4"/>
                </a:solidFill>
                <a:latin typeface="Consolas"/>
                <a:cs typeface="Consolas"/>
              </a:rPr>
              <a:t>Couple&lt;</a:t>
            </a:r>
            <a:r>
              <a:rPr lang="fr-FR" sz="2600" dirty="0" err="1">
                <a:solidFill>
                  <a:schemeClr val="accent4"/>
                </a:solidFill>
                <a:latin typeface="Consolas"/>
                <a:cs typeface="Consolas"/>
              </a:rPr>
              <a:t>T</a:t>
            </a:r>
            <a:r>
              <a:rPr lang="fr-FR" sz="2600" dirty="0">
                <a:solidFill>
                  <a:schemeClr val="accent4"/>
                </a:solidFill>
                <a:latin typeface="Consolas"/>
                <a:cs typeface="Consolas"/>
              </a:rPr>
              <a:t>&gt;</a:t>
            </a:r>
            <a:r>
              <a:rPr lang="fr-FR" dirty="0"/>
              <a:t> pour y inclure le nom, et a un getter.</a:t>
            </a:r>
          </a:p>
          <a:p>
            <a:pPr marL="0" indent="0">
              <a:lnSpc>
                <a:spcPct val="110000"/>
              </a:lnSpc>
              <a:buNone/>
            </a:pPr>
            <a:r>
              <a:rPr lang="fr-FR" dirty="0"/>
              <a:t>Montrez ensuite dans un petit programme que cette nouvelle classe fonctionne.</a:t>
            </a:r>
          </a:p>
        </p:txBody>
      </p:sp>
      <p:sp>
        <p:nvSpPr>
          <p:cNvPr id="5" name="ZoneTexte 4">
            <a:extLst>
              <a:ext uri="{FF2B5EF4-FFF2-40B4-BE49-F238E27FC236}">
                <a16:creationId xmlns:a16="http://schemas.microsoft.com/office/drawing/2014/main" id="{A90CBC49-B076-BB61-2A4C-692916B5E985}"/>
              </a:ext>
            </a:extLst>
          </p:cNvPr>
          <p:cNvSpPr txBox="1"/>
          <p:nvPr/>
        </p:nvSpPr>
        <p:spPr>
          <a:xfrm>
            <a:off x="4000193" y="522784"/>
            <a:ext cx="6494306" cy="3323987"/>
          </a:xfrm>
          <a:prstGeom prst="rect">
            <a:avLst/>
          </a:prstGeom>
          <a:solidFill>
            <a:srgbClr val="2B2B2B"/>
          </a:solidFill>
        </p:spPr>
        <p:txBody>
          <a:bodyPr wrap="square">
            <a:spAutoFit/>
          </a:bodyPr>
          <a:lstStyle/>
          <a:p>
            <a:r>
              <a:rPr lang="fr-BE" sz="1400" dirty="0">
                <a:solidFill>
                  <a:srgbClr val="CC7832"/>
                </a:solidFill>
                <a:effectLst/>
                <a:latin typeface="Consolas" panose="020B0609020204030204" pitchFamily="49" charset="0"/>
                <a:cs typeface="Consolas" panose="020B0609020204030204" pitchFamily="49" charset="0"/>
              </a:rPr>
              <a:t>public class </a:t>
            </a:r>
            <a:r>
              <a:rPr lang="fr-BE" sz="1400" dirty="0">
                <a:latin typeface="Consolas" panose="020B0609020204030204" pitchFamily="49" charset="0"/>
                <a:cs typeface="Consolas" panose="020B0609020204030204" pitchFamily="49" charset="0"/>
              </a:rPr>
              <a:t>Couple&lt;</a:t>
            </a:r>
            <a:r>
              <a:rPr lang="fr-BE" sz="1400" dirty="0" err="1">
                <a:solidFill>
                  <a:srgbClr val="507874"/>
                </a:solidFill>
                <a:effectLst/>
                <a:latin typeface="Consolas" panose="020B0609020204030204" pitchFamily="49" charset="0"/>
                <a:cs typeface="Consolas" panose="020B0609020204030204" pitchFamily="49" charset="0"/>
              </a:rPr>
              <a:t>T</a:t>
            </a:r>
            <a:r>
              <a:rPr lang="fr-BE" sz="1400" dirty="0">
                <a:latin typeface="Consolas" panose="020B0609020204030204" pitchFamily="49" charset="0"/>
                <a:cs typeface="Consolas" panose="020B0609020204030204" pitchFamily="49" charset="0"/>
              </a:rPr>
              <a:t>&gt;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err="1">
                <a:solidFill>
                  <a:srgbClr val="CC7832"/>
                </a:solidFill>
                <a:effectLst/>
                <a:latin typeface="Consolas" panose="020B0609020204030204" pitchFamily="49" charset="0"/>
                <a:cs typeface="Consolas" panose="020B0609020204030204" pitchFamily="49" charset="0"/>
              </a:rPr>
              <a:t>private</a:t>
            </a:r>
            <a:r>
              <a:rPr lang="fr-BE" sz="1400" dirty="0">
                <a:solidFill>
                  <a:srgbClr val="CC7832"/>
                </a:solidFill>
                <a:effectLst/>
                <a:latin typeface="Consolas" panose="020B0609020204030204" pitchFamily="49" charset="0"/>
                <a:cs typeface="Consolas" panose="020B0609020204030204" pitchFamily="49" charset="0"/>
              </a:rPr>
              <a:t> </a:t>
            </a:r>
            <a:r>
              <a:rPr lang="fr-BE" sz="1400" dirty="0" err="1">
                <a:solidFill>
                  <a:srgbClr val="507874"/>
                </a:solidFill>
                <a:effectLst/>
                <a:latin typeface="Consolas" panose="020B0609020204030204" pitchFamily="49" charset="0"/>
                <a:cs typeface="Consolas" panose="020B0609020204030204" pitchFamily="49" charset="0"/>
              </a:rPr>
              <a:t>T</a:t>
            </a:r>
            <a:r>
              <a:rPr lang="fr-BE" sz="1400" dirty="0">
                <a:solidFill>
                  <a:srgbClr val="507874"/>
                </a:solidFill>
                <a:effectLst/>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x</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y</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public </a:t>
            </a:r>
            <a:r>
              <a:rPr lang="fr-BE" sz="1400" dirty="0">
                <a:solidFill>
                  <a:srgbClr val="FFC66D"/>
                </a:solidFill>
                <a:effectLst/>
                <a:latin typeface="Consolas" panose="020B0609020204030204" pitchFamily="49" charset="0"/>
                <a:cs typeface="Consolas" panose="020B0609020204030204" pitchFamily="49" charset="0"/>
              </a:rPr>
              <a:t>Couple</a:t>
            </a:r>
            <a:r>
              <a:rPr lang="fr-BE" sz="1400" dirty="0">
                <a:latin typeface="Consolas" panose="020B0609020204030204" pitchFamily="49" charset="0"/>
                <a:cs typeface="Consolas" panose="020B0609020204030204" pitchFamily="49" charset="0"/>
              </a:rPr>
              <a:t>(</a:t>
            </a:r>
            <a:r>
              <a:rPr lang="fr-BE" sz="1400" dirty="0" err="1">
                <a:solidFill>
                  <a:srgbClr val="507874"/>
                </a:solidFill>
                <a:effectLst/>
                <a:latin typeface="Consolas" panose="020B0609020204030204" pitchFamily="49" charset="0"/>
                <a:cs typeface="Consolas" panose="020B0609020204030204" pitchFamily="49" charset="0"/>
              </a:rPr>
              <a:t>T</a:t>
            </a:r>
            <a:r>
              <a:rPr lang="fr-BE" sz="1400" dirty="0">
                <a:solidFill>
                  <a:srgbClr val="507874"/>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premier</a:t>
            </a:r>
            <a:r>
              <a:rPr lang="fr-BE" sz="1400" dirty="0">
                <a:solidFill>
                  <a:srgbClr val="CC7832"/>
                </a:solidFill>
                <a:effectLst/>
                <a:latin typeface="Consolas" panose="020B0609020204030204" pitchFamily="49" charset="0"/>
                <a:cs typeface="Consolas" panose="020B0609020204030204" pitchFamily="49" charset="0"/>
              </a:rPr>
              <a:t>, </a:t>
            </a:r>
            <a:r>
              <a:rPr lang="fr-BE" sz="1400" dirty="0" err="1">
                <a:solidFill>
                  <a:srgbClr val="507874"/>
                </a:solidFill>
                <a:effectLst/>
                <a:latin typeface="Consolas" panose="020B0609020204030204" pitchFamily="49" charset="0"/>
                <a:cs typeface="Consolas" panose="020B0609020204030204" pitchFamily="49" charset="0"/>
              </a:rPr>
              <a:t>T</a:t>
            </a:r>
            <a:r>
              <a:rPr lang="fr-BE" sz="1400" dirty="0">
                <a:solidFill>
                  <a:srgbClr val="507874"/>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second)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x </a:t>
            </a:r>
            <a:r>
              <a:rPr lang="fr-BE" sz="1400" dirty="0">
                <a:latin typeface="Consolas" panose="020B0609020204030204" pitchFamily="49" charset="0"/>
                <a:cs typeface="Consolas" panose="020B0609020204030204" pitchFamily="49" charset="0"/>
              </a:rPr>
              <a:t>= premier</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y </a:t>
            </a:r>
            <a:r>
              <a:rPr lang="fr-BE" sz="1400" dirty="0">
                <a:latin typeface="Consolas" panose="020B0609020204030204" pitchFamily="49" charset="0"/>
                <a:cs typeface="Consolas" panose="020B0609020204030204" pitchFamily="49" charset="0"/>
              </a:rPr>
              <a:t>= second</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effectLst/>
                <a:latin typeface="Consolas" panose="020B0609020204030204" pitchFamily="49" charset="0"/>
                <a:cs typeface="Consolas" panose="020B0609020204030204" pitchFamily="49" charset="0"/>
              </a:rPr>
              <a:t>public </a:t>
            </a:r>
            <a:r>
              <a:rPr lang="fr-BE" sz="1400" dirty="0" err="1">
                <a:solidFill>
                  <a:srgbClr val="CC7832"/>
                </a:solidFill>
                <a:effectLst/>
                <a:latin typeface="Consolas" panose="020B0609020204030204" pitchFamily="49" charset="0"/>
                <a:cs typeface="Consolas" panose="020B0609020204030204" pitchFamily="49" charset="0"/>
              </a:rPr>
              <a:t>void</a:t>
            </a:r>
            <a:r>
              <a:rPr lang="fr-BE" sz="1400" dirty="0">
                <a:solidFill>
                  <a:srgbClr val="CC7832"/>
                </a:solidFill>
                <a:effectLst/>
                <a:latin typeface="Consolas" panose="020B0609020204030204" pitchFamily="49" charset="0"/>
                <a:cs typeface="Consolas" panose="020B0609020204030204" pitchFamily="49" charset="0"/>
              </a:rPr>
              <a:t> </a:t>
            </a:r>
            <a:r>
              <a:rPr lang="fr-BE" sz="1400" dirty="0">
                <a:solidFill>
                  <a:srgbClr val="FFC66D"/>
                </a:solidFill>
                <a:effectLst/>
                <a:latin typeface="Consolas" panose="020B0609020204030204" pitchFamily="49" charset="0"/>
                <a:cs typeface="Consolas" panose="020B0609020204030204" pitchFamily="49" charset="0"/>
              </a:rPr>
              <a:t>affiche</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err="1">
                <a:latin typeface="Consolas" panose="020B0609020204030204" pitchFamily="49" charset="0"/>
                <a:cs typeface="Consolas" panose="020B0609020204030204" pitchFamily="49" charset="0"/>
              </a:rPr>
              <a:t>System.</a:t>
            </a:r>
            <a:r>
              <a:rPr lang="fr-BE" sz="1400" i="1" dirty="0" err="1">
                <a:solidFill>
                  <a:srgbClr val="9876AA"/>
                </a:solidFill>
                <a:effectLst/>
                <a:latin typeface="Consolas" panose="020B0609020204030204" pitchFamily="49" charset="0"/>
                <a:cs typeface="Consolas" panose="020B0609020204030204" pitchFamily="49" charset="0"/>
              </a:rPr>
              <a:t>out</a:t>
            </a:r>
            <a:r>
              <a:rPr lang="fr-BE" sz="1400" dirty="0" err="1">
                <a:latin typeface="Consolas" panose="020B0609020204030204" pitchFamily="49" charset="0"/>
                <a:cs typeface="Consolas" panose="020B0609020204030204" pitchFamily="49" charset="0"/>
              </a:rPr>
              <a:t>.printf</a:t>
            </a:r>
            <a:r>
              <a:rPr lang="fr-BE" sz="1400" dirty="0">
                <a:latin typeface="Consolas" panose="020B0609020204030204" pitchFamily="49" charset="0"/>
                <a:cs typeface="Consolas" panose="020B0609020204030204" pitchFamily="49" charset="0"/>
              </a:rPr>
              <a:t>(</a:t>
            </a:r>
            <a:r>
              <a:rPr lang="fr-BE" sz="1400" dirty="0">
                <a:solidFill>
                  <a:srgbClr val="6A8759"/>
                </a:solidFill>
                <a:effectLst/>
                <a:latin typeface="Consolas" panose="020B0609020204030204" pitchFamily="49" charset="0"/>
                <a:cs typeface="Consolas" panose="020B0609020204030204" pitchFamily="49" charset="0"/>
              </a:rPr>
              <a:t>"premier: %s, second: %s</a:t>
            </a:r>
            <a:r>
              <a:rPr lang="fr-BE" sz="1400" dirty="0">
                <a:solidFill>
                  <a:srgbClr val="CC7832"/>
                </a:solidFill>
                <a:effectLst/>
                <a:latin typeface="Consolas" panose="020B0609020204030204" pitchFamily="49" charset="0"/>
                <a:cs typeface="Consolas" panose="020B0609020204030204" pitchFamily="49" charset="0"/>
              </a:rPr>
              <a:t>\n</a:t>
            </a:r>
            <a:r>
              <a:rPr lang="fr-BE" sz="1400" dirty="0">
                <a:solidFill>
                  <a:srgbClr val="6A8759"/>
                </a:solidFill>
                <a:effectLst/>
                <a:latin typeface="Consolas" panose="020B0609020204030204" pitchFamily="49" charset="0"/>
                <a:cs typeface="Consolas" panose="020B0609020204030204" pitchFamily="49" charset="0"/>
              </a:rPr>
              <a:t>"</a:t>
            </a:r>
            <a:r>
              <a:rPr lang="fr-BE" sz="1400" dirty="0">
                <a:solidFill>
                  <a:srgbClr val="CC7832"/>
                </a:solidFill>
                <a:effectLst/>
                <a:latin typeface="Consolas" panose="020B0609020204030204" pitchFamily="49" charset="0"/>
                <a:cs typeface="Consolas" panose="020B0609020204030204" pitchFamily="49" charset="0"/>
              </a:rPr>
              <a:t>,</a:t>
            </a:r>
            <a:r>
              <a:rPr lang="fr-BE" sz="1400" dirty="0">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x</a:t>
            </a:r>
            <a:r>
              <a:rPr lang="fr-BE" sz="1400" dirty="0">
                <a:solidFill>
                  <a:srgbClr val="CC7832"/>
                </a:solidFill>
                <a:effectLst/>
                <a:latin typeface="Consolas" panose="020B0609020204030204" pitchFamily="49" charset="0"/>
                <a:cs typeface="Consolas" panose="020B0609020204030204" pitchFamily="49" charset="0"/>
              </a:rPr>
              <a:t>,</a:t>
            </a:r>
            <a:r>
              <a:rPr lang="fr-BE" sz="1400" dirty="0">
                <a:latin typeface="Consolas" panose="020B0609020204030204" pitchFamily="49" charset="0"/>
                <a:cs typeface="Consolas" panose="020B0609020204030204" pitchFamily="49" charset="0"/>
              </a:rPr>
              <a:t> </a:t>
            </a:r>
            <a:r>
              <a:rPr lang="fr-BE" sz="1400" dirty="0">
                <a:solidFill>
                  <a:srgbClr val="9876AA"/>
                </a:solidFill>
                <a:effectLst/>
                <a:latin typeface="Consolas" panose="020B0609020204030204" pitchFamily="49" charset="0"/>
                <a:cs typeface="Consolas" panose="020B0609020204030204" pitchFamily="49" charset="0"/>
              </a:rPr>
              <a:t>y</a:t>
            </a:r>
            <a:r>
              <a:rPr lang="fr-BE" sz="1400" dirty="0">
                <a:latin typeface="Consolas" panose="020B0609020204030204" pitchFamily="49" charset="0"/>
                <a:cs typeface="Consolas" panose="020B0609020204030204" pitchFamily="49" charset="0"/>
              </a:rPr>
              <a:t>)</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effectLst/>
                <a:latin typeface="Consolas" panose="020B0609020204030204" pitchFamily="49" charset="0"/>
                <a:cs typeface="Consolas" panose="020B0609020204030204" pitchFamily="49" charset="0"/>
              </a:rPr>
              <a:t>public </a:t>
            </a:r>
            <a:r>
              <a:rPr lang="fr-BE" sz="1400" dirty="0" err="1">
                <a:solidFill>
                  <a:srgbClr val="507874"/>
                </a:solidFill>
                <a:effectLst/>
                <a:latin typeface="Consolas" panose="020B0609020204030204" pitchFamily="49" charset="0"/>
                <a:cs typeface="Consolas" panose="020B0609020204030204" pitchFamily="49" charset="0"/>
              </a:rPr>
              <a:t>T</a:t>
            </a:r>
            <a:r>
              <a:rPr lang="fr-BE" sz="1400" dirty="0">
                <a:solidFill>
                  <a:srgbClr val="507874"/>
                </a:solidFill>
                <a:effectLst/>
                <a:latin typeface="Consolas" panose="020B0609020204030204" pitchFamily="49" charset="0"/>
                <a:cs typeface="Consolas" panose="020B0609020204030204" pitchFamily="49" charset="0"/>
              </a:rPr>
              <a:t> </a:t>
            </a:r>
            <a:r>
              <a:rPr lang="fr-BE" sz="1400" dirty="0" err="1">
                <a:solidFill>
                  <a:srgbClr val="FFC66D"/>
                </a:solidFill>
                <a:effectLst/>
                <a:latin typeface="Consolas" panose="020B0609020204030204" pitchFamily="49" charset="0"/>
                <a:cs typeface="Consolas" panose="020B0609020204030204" pitchFamily="49" charset="0"/>
              </a:rPr>
              <a:t>getPremier</a:t>
            </a:r>
            <a:r>
              <a:rPr lang="fr-BE" sz="1400" dirty="0">
                <a:latin typeface="Consolas" panose="020B0609020204030204" pitchFamily="49" charset="0"/>
                <a:cs typeface="Consolas" panose="020B0609020204030204" pitchFamily="49" charset="0"/>
              </a:rPr>
              <a:t>() {</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        </a:t>
            </a:r>
            <a:r>
              <a:rPr lang="fr-BE" sz="1400" dirty="0">
                <a:solidFill>
                  <a:srgbClr val="CC7832"/>
                </a:solidFill>
                <a:effectLst/>
                <a:latin typeface="Consolas" panose="020B0609020204030204" pitchFamily="49" charset="0"/>
                <a:cs typeface="Consolas" panose="020B0609020204030204" pitchFamily="49" charset="0"/>
              </a:rPr>
              <a:t>return </a:t>
            </a:r>
            <a:r>
              <a:rPr lang="fr-BE" sz="1400" dirty="0">
                <a:solidFill>
                  <a:srgbClr val="9876AA"/>
                </a:solidFill>
                <a:effectLst/>
                <a:latin typeface="Consolas" panose="020B0609020204030204" pitchFamily="49" charset="0"/>
                <a:cs typeface="Consolas" panose="020B0609020204030204" pitchFamily="49" charset="0"/>
              </a:rPr>
              <a:t>x</a:t>
            </a:r>
            <a:r>
              <a:rPr lang="fr-BE" sz="1400" dirty="0">
                <a:solidFill>
                  <a:srgbClr val="CC7832"/>
                </a:solidFill>
                <a:effectLst/>
                <a:latin typeface="Consolas" panose="020B0609020204030204" pitchFamily="49" charset="0"/>
                <a:cs typeface="Consolas" panose="020B0609020204030204" pitchFamily="49" charset="0"/>
              </a:rPr>
              <a:t>;</a:t>
            </a:r>
            <a:br>
              <a:rPr lang="fr-BE" sz="1400" dirty="0">
                <a:solidFill>
                  <a:srgbClr val="CC7832"/>
                </a:solidFill>
                <a:effectLst/>
                <a:latin typeface="Consolas" panose="020B0609020204030204" pitchFamily="49" charset="0"/>
                <a:cs typeface="Consolas" panose="020B0609020204030204" pitchFamily="49" charset="0"/>
              </a:rPr>
            </a:br>
            <a:r>
              <a:rPr lang="fr-BE" sz="1400" dirty="0">
                <a:solidFill>
                  <a:srgbClr val="CC7832"/>
                </a:solidFill>
                <a:effectLst/>
                <a:latin typeface="Consolas" panose="020B0609020204030204" pitchFamily="49" charset="0"/>
                <a:cs typeface="Consolas" panose="020B0609020204030204" pitchFamily="49" charset="0"/>
              </a:rPr>
              <a:t>    </a:t>
            </a:r>
            <a:r>
              <a:rPr lang="fr-BE" sz="1400" dirty="0">
                <a:latin typeface="Consolas" panose="020B0609020204030204" pitchFamily="49" charset="0"/>
                <a:cs typeface="Consolas" panose="020B0609020204030204" pitchFamily="49" charset="0"/>
              </a:rPr>
              <a:t>}</a:t>
            </a:r>
            <a:br>
              <a:rPr lang="fr-BE" sz="1400" dirty="0">
                <a:latin typeface="Consolas" panose="020B0609020204030204" pitchFamily="49" charset="0"/>
                <a:cs typeface="Consolas" panose="020B0609020204030204" pitchFamily="49" charset="0"/>
              </a:rPr>
            </a:br>
            <a:r>
              <a:rPr lang="fr-BE" sz="1400" dirty="0">
                <a:latin typeface="Consolas" panose="020B0609020204030204" pitchFamily="49" charset="0"/>
                <a:cs typeface="Consolas" panose="020B0609020204030204" pitchFamily="49" charset="0"/>
              </a:rPr>
              <a:t>}</a:t>
            </a:r>
            <a:endParaRPr lang="fr-FR" sz="1400" dirty="0">
              <a:latin typeface="Consolas" panose="020B0609020204030204" pitchFamily="49" charset="0"/>
              <a:cs typeface="Consolas" panose="020B0609020204030204" pitchFamily="49" charset="0"/>
            </a:endParaRPr>
          </a:p>
        </p:txBody>
      </p:sp>
      <p:sp>
        <p:nvSpPr>
          <p:cNvPr id="4" name="Espace réservé du numéro de diapositive 3">
            <a:extLst>
              <a:ext uri="{FF2B5EF4-FFF2-40B4-BE49-F238E27FC236}">
                <a16:creationId xmlns:a16="http://schemas.microsoft.com/office/drawing/2014/main" id="{D8AA4EFF-E771-0CD5-0A45-83817F210FB2}"/>
              </a:ext>
            </a:extLst>
          </p:cNvPr>
          <p:cNvSpPr>
            <a:spLocks noGrp="1"/>
          </p:cNvSpPr>
          <p:nvPr>
            <p:ph type="sldNum" sz="quarter" idx="4"/>
          </p:nvPr>
        </p:nvSpPr>
        <p:spPr/>
        <p:txBody>
          <a:bodyPr/>
          <a:lstStyle/>
          <a:p>
            <a:fld id="{33C783E2-4793-4F48-A271-51A73CC37D74}" type="slidenum">
              <a:rPr lang="fr-FR" smtClean="0"/>
              <a:t>55</a:t>
            </a:fld>
            <a:endParaRPr lang="fr-FR"/>
          </a:p>
        </p:txBody>
      </p:sp>
      <p:pic>
        <p:nvPicPr>
          <p:cNvPr id="7" name="Picture 2" descr="blog-nutrition-outlet">
            <a:extLst>
              <a:ext uri="{FF2B5EF4-FFF2-40B4-BE49-F238E27FC236}">
                <a16:creationId xmlns:a16="http://schemas.microsoft.com/office/drawing/2014/main" id="{3F8BB90E-811A-802A-CEBD-75888C988AEB}"/>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0579885" y="0"/>
            <a:ext cx="1520041" cy="1520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56763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ompresseur mécanique écrasant des  robots">
            <a:extLst>
              <a:ext uri="{FF2B5EF4-FFF2-40B4-BE49-F238E27FC236}">
                <a16:creationId xmlns:a16="http://schemas.microsoft.com/office/drawing/2014/main" id="{B09A29E6-D94C-F45E-1DCA-60801355698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8567" b="15184"/>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D5CA9526-1498-A697-3798-7B8BA0BB3AD1}"/>
              </a:ext>
            </a:extLst>
          </p:cNvPr>
          <p:cNvSpPr txBox="1"/>
          <p:nvPr/>
        </p:nvSpPr>
        <p:spPr>
          <a:xfrm>
            <a:off x="838200" y="947821"/>
            <a:ext cx="10515600" cy="1015663"/>
          </a:xfrm>
          <a:prstGeom prst="rect">
            <a:avLst/>
          </a:prstGeom>
          <a:solidFill>
            <a:srgbClr val="192533">
              <a:alpha val="74902"/>
            </a:srgbClr>
          </a:solidFill>
          <a:effectLst>
            <a:outerShdw blurRad="50800" dist="38100" dir="2700000" algn="tl" rotWithShape="0">
              <a:prstClr val="black">
                <a:alpha val="40000"/>
              </a:prstClr>
            </a:outerShdw>
          </a:effectLst>
        </p:spPr>
        <p:txBody>
          <a:bodyPr wrap="square" rtlCol="0">
            <a:spAutoFit/>
          </a:bodyPr>
          <a:lstStyle/>
          <a:p>
            <a:r>
              <a:rPr lang="fr-FR" sz="6000" b="1" dirty="0"/>
              <a:t>Les expressions Lambda</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6" name="ZoneTexte 5">
            <a:extLst>
              <a:ext uri="{FF2B5EF4-FFF2-40B4-BE49-F238E27FC236}">
                <a16:creationId xmlns:a16="http://schemas.microsoft.com/office/drawing/2014/main" id="{B98B3725-2992-87B6-55AA-FF275B14F609}"/>
              </a:ext>
            </a:extLst>
          </p:cNvPr>
          <p:cNvSpPr txBox="1"/>
          <p:nvPr/>
        </p:nvSpPr>
        <p:spPr>
          <a:xfrm>
            <a:off x="838200" y="2139312"/>
            <a:ext cx="10515600" cy="461665"/>
          </a:xfrm>
          <a:prstGeom prst="rect">
            <a:avLst/>
          </a:prstGeom>
          <a:solidFill>
            <a:srgbClr val="192533">
              <a:alpha val="74902"/>
            </a:srgbClr>
          </a:solidFill>
          <a:effectLst>
            <a:outerShdw blurRad="50800" dist="38100" dir="2700000" algn="tl" rotWithShape="0">
              <a:prstClr val="black">
                <a:alpha val="40000"/>
              </a:prstClr>
            </a:outerShdw>
          </a:effectLst>
        </p:spPr>
        <p:txBody>
          <a:bodyPr wrap="square" rtlCol="0">
            <a:spAutoFit/>
          </a:bodyPr>
          <a:lstStyle/>
          <a:p>
            <a:r>
              <a:rPr lang="fr-FR" sz="2400" dirty="0"/>
              <a:t>Une classe anonyme, c’est long… Voyons un moyen plus simple.</a:t>
            </a:r>
          </a:p>
        </p:txBody>
      </p:sp>
      <p:sp>
        <p:nvSpPr>
          <p:cNvPr id="4" name="ZoneTexte 3">
            <a:extLst>
              <a:ext uri="{FF2B5EF4-FFF2-40B4-BE49-F238E27FC236}">
                <a16:creationId xmlns:a16="http://schemas.microsoft.com/office/drawing/2014/main" id="{E898C803-9780-32F2-4E83-7B3000F30B3C}"/>
              </a:ext>
            </a:extLst>
          </p:cNvPr>
          <p:cNvSpPr txBox="1"/>
          <p:nvPr/>
        </p:nvSpPr>
        <p:spPr>
          <a:xfrm>
            <a:off x="12523808" y="497711"/>
            <a:ext cx="184731" cy="369332"/>
          </a:xfrm>
          <a:prstGeom prst="rect">
            <a:avLst/>
          </a:prstGeom>
          <a:noFill/>
        </p:spPr>
        <p:txBody>
          <a:bodyPr wrap="none" rtlCol="0">
            <a:spAutoFit/>
          </a:bodyPr>
          <a:lstStyle/>
          <a:p>
            <a:endParaRPr lang="fr-FR" dirty="0"/>
          </a:p>
        </p:txBody>
      </p:sp>
    </p:spTree>
    <p:extLst>
      <p:ext uri="{BB962C8B-B14F-4D97-AF65-F5344CB8AC3E}">
        <p14:creationId xmlns:p14="http://schemas.microsoft.com/office/powerpoint/2010/main" val="2721535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Expressions Lambda</a:t>
            </a:r>
          </a:p>
        </p:txBody>
      </p:sp>
      <p:sp>
        <p:nvSpPr>
          <p:cNvPr id="3" name="Espace réservé du contenu 2"/>
          <p:cNvSpPr>
            <a:spLocks noGrp="1"/>
          </p:cNvSpPr>
          <p:nvPr>
            <p:ph idx="1"/>
          </p:nvPr>
        </p:nvSpPr>
        <p:spPr/>
        <p:txBody>
          <a:bodyPr>
            <a:noAutofit/>
          </a:bodyPr>
          <a:lstStyle/>
          <a:p>
            <a:pPr marL="342900" indent="-342900">
              <a:lnSpc>
                <a:spcPct val="80000"/>
              </a:lnSpc>
              <a:buFont typeface="Arial"/>
              <a:buChar char="•"/>
            </a:pPr>
            <a:r>
              <a:rPr lang="fr-FR" dirty="0">
                <a:solidFill>
                  <a:schemeClr val="accent4"/>
                </a:solidFill>
              </a:rPr>
              <a:t>Un exemple pratique</a:t>
            </a:r>
          </a:p>
          <a:p>
            <a:pPr marL="342900" indent="-342900">
              <a:lnSpc>
                <a:spcPct val="80000"/>
              </a:lnSpc>
              <a:buFont typeface="Arial"/>
              <a:buChar char="•"/>
            </a:pPr>
            <a:r>
              <a:rPr lang="fr-FR" dirty="0"/>
              <a:t>Les expressions Lambda</a:t>
            </a:r>
          </a:p>
          <a:p>
            <a:pPr marL="342900" indent="-342900">
              <a:lnSpc>
                <a:spcPct val="80000"/>
              </a:lnSpc>
              <a:buFont typeface="Arial"/>
              <a:buChar char="•"/>
            </a:pPr>
            <a:r>
              <a:rPr lang="fr-FR" dirty="0"/>
              <a:t>La notion d’interface fonctionnelle</a:t>
            </a:r>
          </a:p>
          <a:p>
            <a:pPr marL="342900" indent="-342900">
              <a:lnSpc>
                <a:spcPct val="80000"/>
              </a:lnSpc>
              <a:buFont typeface="Arial"/>
              <a:buChar char="•"/>
            </a:pPr>
            <a:r>
              <a:rPr lang="fr-FR" dirty="0"/>
              <a:t>Quelques exemples pratiques</a:t>
            </a:r>
          </a:p>
          <a:p>
            <a:pPr marL="342900" indent="-342900">
              <a:lnSpc>
                <a:spcPct val="80000"/>
              </a:lnSpc>
              <a:buFont typeface="Arial"/>
              <a:buChar char="•"/>
            </a:pPr>
            <a:r>
              <a:rPr lang="fr-FR" dirty="0"/>
              <a:t>Référence de Méthode</a:t>
            </a:r>
          </a:p>
          <a:p>
            <a:pPr marL="342900" indent="-342900">
              <a:lnSpc>
                <a:spcPct val="80000"/>
              </a:lnSpc>
              <a:buFont typeface="Arial"/>
              <a:buChar char="•"/>
            </a:pPr>
            <a:endParaRPr lang="fr-FR" dirty="0"/>
          </a:p>
          <a:p>
            <a:pPr marL="342900" indent="-342900">
              <a:lnSpc>
                <a:spcPct val="80000"/>
              </a:lnSpc>
              <a:buFont typeface="Arial"/>
              <a:buChar char="•"/>
            </a:pPr>
            <a:endParaRPr lang="fr-FR" dirty="0"/>
          </a:p>
          <a:p>
            <a:pPr marL="342900" indent="-342900">
              <a:lnSpc>
                <a:spcPct val="80000"/>
              </a:lnSpc>
              <a:buFont typeface="Arial"/>
              <a:buChar char="•"/>
            </a:pPr>
            <a:endParaRPr lang="fr-FR" dirty="0"/>
          </a:p>
          <a:p>
            <a:pPr marL="342900" indent="-342900">
              <a:lnSpc>
                <a:spcPct val="80000"/>
              </a:lnSpc>
              <a:buFont typeface="Arial"/>
              <a:buChar char="•"/>
            </a:pPr>
            <a:endParaRPr lang="fr-FR" dirty="0"/>
          </a:p>
        </p:txBody>
      </p:sp>
      <p:grpSp>
        <p:nvGrpSpPr>
          <p:cNvPr id="8" name="Groupe 7">
            <a:extLst>
              <a:ext uri="{FF2B5EF4-FFF2-40B4-BE49-F238E27FC236}">
                <a16:creationId xmlns:a16="http://schemas.microsoft.com/office/drawing/2014/main" id="{ACCA99A5-B332-B909-6733-15C39193A78F}"/>
              </a:ext>
            </a:extLst>
          </p:cNvPr>
          <p:cNvGrpSpPr/>
          <p:nvPr/>
        </p:nvGrpSpPr>
        <p:grpSpPr>
          <a:xfrm>
            <a:off x="10470995" y="162401"/>
            <a:ext cx="1404760" cy="1400033"/>
            <a:chOff x="10326324" y="687756"/>
            <a:chExt cx="1393314" cy="1393314"/>
          </a:xfrm>
        </p:grpSpPr>
        <p:sp>
          <p:nvSpPr>
            <p:cNvPr id="5" name="Larme 4">
              <a:extLst>
                <a:ext uri="{FF2B5EF4-FFF2-40B4-BE49-F238E27FC236}">
                  <a16:creationId xmlns:a16="http://schemas.microsoft.com/office/drawing/2014/main" id="{6D659AA5-DE48-3A94-0973-5630499C0B8F}"/>
                </a:ext>
              </a:extLst>
            </p:cNvPr>
            <p:cNvSpPr/>
            <p:nvPr/>
          </p:nvSpPr>
          <p:spPr>
            <a:xfrm rot="8100000">
              <a:off x="10326324" y="687756"/>
              <a:ext cx="1393314" cy="1393314"/>
            </a:xfrm>
            <a:prstGeom prst="teardrop">
              <a:avLst>
                <a:gd name="adj" fmla="val 13287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 name="ZoneTexte 6">
              <a:extLst>
                <a:ext uri="{FF2B5EF4-FFF2-40B4-BE49-F238E27FC236}">
                  <a16:creationId xmlns:a16="http://schemas.microsoft.com/office/drawing/2014/main" id="{4FF3D4ED-5448-D9C2-964C-3C9EFB6B14C0}"/>
                </a:ext>
              </a:extLst>
            </p:cNvPr>
            <p:cNvSpPr txBox="1"/>
            <p:nvPr/>
          </p:nvSpPr>
          <p:spPr>
            <a:xfrm>
              <a:off x="10372029" y="1092958"/>
              <a:ext cx="1301905" cy="702249"/>
            </a:xfrm>
            <a:prstGeom prst="rect">
              <a:avLst/>
            </a:prstGeom>
            <a:noFill/>
          </p:spPr>
          <p:txBody>
            <a:bodyPr wrap="square">
              <a:spAutoFit/>
            </a:bodyPr>
            <a:lstStyle/>
            <a:p>
              <a:pPr algn="ctr"/>
              <a:r>
                <a:rPr lang="fr-FR" sz="2000" b="1" dirty="0"/>
                <a:t>Vous êtes ici</a:t>
              </a:r>
            </a:p>
          </p:txBody>
        </p:sp>
      </p:grpSp>
      <p:sp>
        <p:nvSpPr>
          <p:cNvPr id="6" name="Espace réservé du numéro de diapositive 5">
            <a:extLst>
              <a:ext uri="{FF2B5EF4-FFF2-40B4-BE49-F238E27FC236}">
                <a16:creationId xmlns:a16="http://schemas.microsoft.com/office/drawing/2014/main" id="{1C7F85B9-E352-9541-30EA-2152B8BE4DCF}"/>
              </a:ext>
            </a:extLst>
          </p:cNvPr>
          <p:cNvSpPr>
            <a:spLocks noGrp="1"/>
          </p:cNvSpPr>
          <p:nvPr>
            <p:ph type="sldNum" sz="quarter" idx="4"/>
          </p:nvPr>
        </p:nvSpPr>
        <p:spPr/>
        <p:txBody>
          <a:bodyPr/>
          <a:lstStyle/>
          <a:p>
            <a:fld id="{33C783E2-4793-4F48-A271-51A73CC37D74}" type="slidenum">
              <a:rPr lang="fr-FR" smtClean="0"/>
              <a:t>57</a:t>
            </a:fld>
            <a:endParaRPr lang="fr-FR"/>
          </a:p>
        </p:txBody>
      </p:sp>
    </p:spTree>
    <p:extLst>
      <p:ext uri="{BB962C8B-B14F-4D97-AF65-F5344CB8AC3E}">
        <p14:creationId xmlns:p14="http://schemas.microsoft.com/office/powerpoint/2010/main" val="2071099981"/>
      </p:ext>
    </p:extLst>
  </p:cSld>
  <p:clrMapOvr>
    <a:masterClrMapping/>
  </p:clrMapOvr>
  <p:transition>
    <p:push dir="u"/>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Partons d’une situation pratique…</a:t>
            </a:r>
          </a:p>
        </p:txBody>
      </p:sp>
      <p:sp>
        <p:nvSpPr>
          <p:cNvPr id="9" name="Espace réservé du contenu 8"/>
          <p:cNvSpPr>
            <a:spLocks noGrp="1"/>
          </p:cNvSpPr>
          <p:nvPr>
            <p:ph idx="1"/>
          </p:nvPr>
        </p:nvSpPr>
        <p:spPr>
          <a:xfrm>
            <a:off x="838200" y="1825625"/>
            <a:ext cx="10515600" cy="1603375"/>
          </a:xfrm>
        </p:spPr>
        <p:txBody>
          <a:bodyPr>
            <a:normAutofit/>
          </a:bodyPr>
          <a:lstStyle/>
          <a:p>
            <a:pPr marL="0" indent="0">
              <a:buNone/>
            </a:pPr>
            <a:r>
              <a:rPr lang="fr-FR" sz="2400" dirty="0"/>
              <a:t>Vous êtes contacté par votre ami Marcel qui vous demande d’écrire une application pour sa nouvelle startup qui vend des melons.</a:t>
            </a:r>
          </a:p>
          <a:p>
            <a:pPr marL="0" indent="0">
              <a:buNone/>
            </a:pPr>
            <a:r>
              <a:rPr lang="fr-FR" sz="2400" dirty="0"/>
              <a:t>Sur base de ses explications, vous construisez la classe </a:t>
            </a:r>
            <a:r>
              <a:rPr lang="fr-FR" sz="2200" dirty="0">
                <a:solidFill>
                  <a:schemeClr val="accent4"/>
                </a:solidFill>
                <a:latin typeface="Consolas" panose="020B0609020204030204" pitchFamily="49" charset="0"/>
                <a:cs typeface="Consolas" panose="020B0609020204030204" pitchFamily="49" charset="0"/>
              </a:rPr>
              <a:t>Melon</a:t>
            </a:r>
            <a:r>
              <a:rPr lang="fr-FR" sz="2400" dirty="0"/>
              <a:t> suivante:</a:t>
            </a:r>
          </a:p>
        </p:txBody>
      </p:sp>
      <p:sp>
        <p:nvSpPr>
          <p:cNvPr id="6" name="ZoneTexte 5">
            <a:extLst>
              <a:ext uri="{FF2B5EF4-FFF2-40B4-BE49-F238E27FC236}">
                <a16:creationId xmlns:a16="http://schemas.microsoft.com/office/drawing/2014/main" id="{643FDE80-01B4-EE8D-A109-9E264D39CDC1}"/>
              </a:ext>
            </a:extLst>
          </p:cNvPr>
          <p:cNvSpPr txBox="1"/>
          <p:nvPr/>
        </p:nvSpPr>
        <p:spPr>
          <a:xfrm>
            <a:off x="2740301" y="3230579"/>
            <a:ext cx="6711397" cy="3046988"/>
          </a:xfrm>
          <a:prstGeom prst="rect">
            <a:avLst/>
          </a:prstGeom>
          <a:solidFill>
            <a:srgbClr val="2B2B2B"/>
          </a:solidFill>
        </p:spPr>
        <p:txBody>
          <a:bodyPr wrap="square">
            <a:spAutoFit/>
          </a:bodyPr>
          <a:lstStyle/>
          <a:p>
            <a:r>
              <a:rPr lang="fr-BE" sz="1600" dirty="0">
                <a:solidFill>
                  <a:srgbClr val="CF8E6D"/>
                </a:solidFill>
                <a:effectLst/>
                <a:latin typeface="Consolas" panose="020B0609020204030204" pitchFamily="49" charset="0"/>
                <a:cs typeface="Consolas" panose="020B0609020204030204" pitchFamily="49" charset="0"/>
              </a:rPr>
              <a:t>public class </a:t>
            </a:r>
            <a:r>
              <a:rPr lang="fr-BE" sz="1600" dirty="0">
                <a:solidFill>
                  <a:srgbClr val="BCBEC4"/>
                </a:solidFill>
                <a:latin typeface="Consolas" panose="020B0609020204030204" pitchFamily="49" charset="0"/>
                <a:cs typeface="Consolas" panose="020B0609020204030204" pitchFamily="49" charset="0"/>
              </a:rPr>
              <a:t>Melon</a:t>
            </a:r>
            <a:r>
              <a:rPr lang="fr-BE" sz="1600" dirty="0">
                <a:solidFill>
                  <a:srgbClr val="BCBEC4"/>
                </a:solidFill>
                <a:effectLst/>
                <a:latin typeface="Consolas" panose="020B0609020204030204" pitchFamily="49" charset="0"/>
                <a:cs typeface="Consolas" panose="020B0609020204030204" pitchFamily="49" charset="0"/>
              </a:rPr>
              <a:t> {</a:t>
            </a:r>
            <a:br>
              <a:rPr lang="fr-BE" sz="1600" dirty="0">
                <a:solidFill>
                  <a:srgbClr val="BCBEC4"/>
                </a:solidFill>
                <a:effectLst/>
                <a:latin typeface="Consolas" panose="020B0609020204030204" pitchFamily="49" charset="0"/>
                <a:cs typeface="Consolas" panose="020B0609020204030204" pitchFamily="49" charset="0"/>
              </a:rPr>
            </a:br>
            <a:r>
              <a:rPr lang="fr-BE" sz="1600" dirty="0">
                <a:solidFill>
                  <a:srgbClr val="BCBEC4"/>
                </a:solidFill>
                <a:effectLst/>
                <a:latin typeface="Consolas" panose="020B0609020204030204" pitchFamily="49" charset="0"/>
                <a:cs typeface="Consolas" panose="020B0609020204030204" pitchFamily="49" charset="0"/>
              </a:rPr>
              <a:t>    </a:t>
            </a:r>
            <a:r>
              <a:rPr lang="fr-BE" sz="1600" dirty="0" err="1">
                <a:solidFill>
                  <a:srgbClr val="CF8E6D"/>
                </a:solidFill>
                <a:effectLst/>
                <a:latin typeface="Consolas" panose="020B0609020204030204" pitchFamily="49" charset="0"/>
                <a:cs typeface="Consolas" panose="020B0609020204030204" pitchFamily="49" charset="0"/>
              </a:rPr>
              <a:t>private</a:t>
            </a:r>
            <a:r>
              <a:rPr lang="fr-BE" sz="1600" dirty="0">
                <a:solidFill>
                  <a:srgbClr val="CF8E6D"/>
                </a:solidFill>
                <a:effectLst/>
                <a:latin typeface="Consolas" panose="020B0609020204030204" pitchFamily="49" charset="0"/>
                <a:cs typeface="Consolas" panose="020B0609020204030204" pitchFamily="49" charset="0"/>
              </a:rPr>
              <a:t> final </a:t>
            </a:r>
            <a:r>
              <a:rPr lang="fr-BE" sz="1600" dirty="0">
                <a:solidFill>
                  <a:srgbClr val="BCBEC4"/>
                </a:solidFill>
                <a:effectLst/>
                <a:latin typeface="Consolas" panose="020B0609020204030204" pitchFamily="49" charset="0"/>
                <a:cs typeface="Consolas" panose="020B0609020204030204" pitchFamily="49" charset="0"/>
              </a:rPr>
              <a:t>String </a:t>
            </a:r>
            <a:r>
              <a:rPr lang="fr-BE" sz="1600" dirty="0">
                <a:solidFill>
                  <a:srgbClr val="C77DBB"/>
                </a:solidFill>
                <a:effectLst/>
                <a:latin typeface="Consolas" panose="020B0609020204030204" pitchFamily="49" charset="0"/>
                <a:cs typeface="Consolas" panose="020B0609020204030204" pitchFamily="49" charset="0"/>
              </a:rPr>
              <a:t>type</a:t>
            </a:r>
            <a:r>
              <a:rPr lang="fr-BE" sz="1600" dirty="0">
                <a:solidFill>
                  <a:srgbClr val="BCBEC4"/>
                </a:solidFill>
                <a:effectLst/>
                <a:latin typeface="Consolas" panose="020B0609020204030204" pitchFamily="49" charset="0"/>
                <a:cs typeface="Consolas" panose="020B0609020204030204" pitchFamily="49" charset="0"/>
              </a:rPr>
              <a:t>;</a:t>
            </a:r>
            <a:br>
              <a:rPr lang="fr-BE" sz="1600" dirty="0">
                <a:solidFill>
                  <a:srgbClr val="BCBEC4"/>
                </a:solidFill>
                <a:effectLst/>
                <a:latin typeface="Consolas" panose="020B0609020204030204" pitchFamily="49" charset="0"/>
                <a:cs typeface="Consolas" panose="020B0609020204030204" pitchFamily="49" charset="0"/>
              </a:rPr>
            </a:br>
            <a:r>
              <a:rPr lang="fr-BE" sz="1600" dirty="0">
                <a:solidFill>
                  <a:srgbClr val="BCBEC4"/>
                </a:solidFill>
                <a:effectLst/>
                <a:latin typeface="Consolas" panose="020B0609020204030204" pitchFamily="49" charset="0"/>
                <a:cs typeface="Consolas" panose="020B0609020204030204" pitchFamily="49" charset="0"/>
              </a:rPr>
              <a:t>    </a:t>
            </a:r>
            <a:r>
              <a:rPr lang="fr-BE" sz="1600" dirty="0" err="1">
                <a:solidFill>
                  <a:srgbClr val="CF8E6D"/>
                </a:solidFill>
                <a:effectLst/>
                <a:latin typeface="Consolas" panose="020B0609020204030204" pitchFamily="49" charset="0"/>
                <a:cs typeface="Consolas" panose="020B0609020204030204" pitchFamily="49" charset="0"/>
              </a:rPr>
              <a:t>private</a:t>
            </a:r>
            <a:r>
              <a:rPr lang="fr-BE" sz="1600" dirty="0">
                <a:solidFill>
                  <a:srgbClr val="CF8E6D"/>
                </a:solidFill>
                <a:effectLst/>
                <a:latin typeface="Consolas" panose="020B0609020204030204" pitchFamily="49" charset="0"/>
                <a:cs typeface="Consolas" panose="020B0609020204030204" pitchFamily="49" charset="0"/>
              </a:rPr>
              <a:t> final </a:t>
            </a:r>
            <a:r>
              <a:rPr lang="fr-BE" sz="1600" dirty="0" err="1">
                <a:solidFill>
                  <a:srgbClr val="CF8E6D"/>
                </a:solidFill>
                <a:effectLst/>
                <a:latin typeface="Consolas" panose="020B0609020204030204" pitchFamily="49" charset="0"/>
                <a:cs typeface="Consolas" panose="020B0609020204030204" pitchFamily="49" charset="0"/>
              </a:rPr>
              <a:t>int</a:t>
            </a:r>
            <a:r>
              <a:rPr lang="fr-BE" sz="1600" dirty="0">
                <a:solidFill>
                  <a:srgbClr val="CF8E6D"/>
                </a:solidFill>
                <a:effectLst/>
                <a:latin typeface="Consolas" panose="020B0609020204030204" pitchFamily="49" charset="0"/>
                <a:cs typeface="Consolas" panose="020B0609020204030204" pitchFamily="49" charset="0"/>
              </a:rPr>
              <a:t> </a:t>
            </a:r>
            <a:r>
              <a:rPr lang="fr-BE" sz="1600" dirty="0">
                <a:solidFill>
                  <a:srgbClr val="C77DBB"/>
                </a:solidFill>
                <a:effectLst/>
                <a:latin typeface="Consolas" panose="020B0609020204030204" pitchFamily="49" charset="0"/>
                <a:cs typeface="Consolas" panose="020B0609020204030204" pitchFamily="49" charset="0"/>
              </a:rPr>
              <a:t>poids</a:t>
            </a:r>
            <a:r>
              <a:rPr lang="fr-BE" sz="1600" dirty="0">
                <a:solidFill>
                  <a:srgbClr val="BCBEC4"/>
                </a:solidFill>
                <a:effectLst/>
                <a:latin typeface="Consolas" panose="020B0609020204030204" pitchFamily="49" charset="0"/>
                <a:cs typeface="Consolas" panose="020B0609020204030204" pitchFamily="49" charset="0"/>
              </a:rPr>
              <a:t>;</a:t>
            </a:r>
            <a:br>
              <a:rPr lang="fr-BE" sz="1600" dirty="0">
                <a:solidFill>
                  <a:srgbClr val="BCBEC4"/>
                </a:solidFill>
                <a:effectLst/>
                <a:latin typeface="Consolas" panose="020B0609020204030204" pitchFamily="49" charset="0"/>
                <a:cs typeface="Consolas" panose="020B0609020204030204" pitchFamily="49" charset="0"/>
              </a:rPr>
            </a:br>
            <a:r>
              <a:rPr lang="fr-BE" sz="1600" dirty="0">
                <a:solidFill>
                  <a:srgbClr val="BCBEC4"/>
                </a:solidFill>
                <a:effectLst/>
                <a:latin typeface="Consolas" panose="020B0609020204030204" pitchFamily="49" charset="0"/>
                <a:cs typeface="Consolas" panose="020B0609020204030204" pitchFamily="49" charset="0"/>
              </a:rPr>
              <a:t>    </a:t>
            </a:r>
            <a:r>
              <a:rPr lang="fr-BE" sz="1600" dirty="0" err="1">
                <a:solidFill>
                  <a:srgbClr val="CF8E6D"/>
                </a:solidFill>
                <a:effectLst/>
                <a:latin typeface="Consolas" panose="020B0609020204030204" pitchFamily="49" charset="0"/>
                <a:cs typeface="Consolas" panose="020B0609020204030204" pitchFamily="49" charset="0"/>
              </a:rPr>
              <a:t>private</a:t>
            </a:r>
            <a:r>
              <a:rPr lang="fr-BE" sz="1600" dirty="0">
                <a:solidFill>
                  <a:srgbClr val="CF8E6D"/>
                </a:solidFill>
                <a:effectLst/>
                <a:latin typeface="Consolas" panose="020B0609020204030204" pitchFamily="49" charset="0"/>
                <a:cs typeface="Consolas" panose="020B0609020204030204" pitchFamily="49" charset="0"/>
              </a:rPr>
              <a:t> final </a:t>
            </a:r>
            <a:r>
              <a:rPr lang="fr-BE" sz="1600" dirty="0">
                <a:solidFill>
                  <a:srgbClr val="BCBEC4"/>
                </a:solidFill>
                <a:effectLst/>
                <a:latin typeface="Consolas" panose="020B0609020204030204" pitchFamily="49" charset="0"/>
                <a:cs typeface="Consolas" panose="020B0609020204030204" pitchFamily="49" charset="0"/>
              </a:rPr>
              <a:t>String </a:t>
            </a:r>
            <a:r>
              <a:rPr lang="fr-BE" sz="1600" dirty="0">
                <a:solidFill>
                  <a:srgbClr val="C77DBB"/>
                </a:solidFill>
                <a:effectLst/>
                <a:latin typeface="Consolas" panose="020B0609020204030204" pitchFamily="49" charset="0"/>
                <a:cs typeface="Consolas" panose="020B0609020204030204" pitchFamily="49" charset="0"/>
              </a:rPr>
              <a:t>origine</a:t>
            </a:r>
            <a:r>
              <a:rPr lang="fr-BE" sz="1600" dirty="0">
                <a:solidFill>
                  <a:srgbClr val="BCBEC4"/>
                </a:solidFill>
                <a:effectLst/>
                <a:latin typeface="Consolas" panose="020B0609020204030204" pitchFamily="49" charset="0"/>
                <a:cs typeface="Consolas" panose="020B0609020204030204" pitchFamily="49" charset="0"/>
              </a:rPr>
              <a:t>;</a:t>
            </a:r>
            <a:br>
              <a:rPr lang="fr-BE" sz="1600" dirty="0">
                <a:solidFill>
                  <a:srgbClr val="BCBEC4"/>
                </a:solidFill>
                <a:effectLst/>
                <a:latin typeface="Consolas" panose="020B0609020204030204" pitchFamily="49" charset="0"/>
                <a:cs typeface="Consolas" panose="020B0609020204030204" pitchFamily="49" charset="0"/>
              </a:rPr>
            </a:br>
            <a:br>
              <a:rPr lang="fr-BE" sz="1600" dirty="0">
                <a:solidFill>
                  <a:srgbClr val="BCBEC4"/>
                </a:solidFill>
                <a:effectLst/>
                <a:latin typeface="Consolas" panose="020B0609020204030204" pitchFamily="49" charset="0"/>
                <a:cs typeface="Consolas" panose="020B0609020204030204" pitchFamily="49" charset="0"/>
              </a:rPr>
            </a:br>
            <a:r>
              <a:rPr lang="fr-BE" sz="1600" dirty="0">
                <a:solidFill>
                  <a:srgbClr val="BCBEC4"/>
                </a:solidFill>
                <a:effectLst/>
                <a:latin typeface="Consolas" panose="020B0609020204030204" pitchFamily="49" charset="0"/>
                <a:cs typeface="Consolas" panose="020B0609020204030204" pitchFamily="49" charset="0"/>
              </a:rPr>
              <a:t>    </a:t>
            </a:r>
            <a:r>
              <a:rPr lang="fr-BE" sz="1600" dirty="0">
                <a:solidFill>
                  <a:srgbClr val="CF8E6D"/>
                </a:solidFill>
                <a:effectLst/>
                <a:latin typeface="Consolas" panose="020B0609020204030204" pitchFamily="49" charset="0"/>
                <a:cs typeface="Consolas" panose="020B0609020204030204" pitchFamily="49" charset="0"/>
              </a:rPr>
              <a:t>public </a:t>
            </a:r>
            <a:r>
              <a:rPr lang="fr-BE" sz="1600" dirty="0">
                <a:solidFill>
                  <a:srgbClr val="56A8F5"/>
                </a:solidFill>
                <a:effectLst/>
                <a:latin typeface="Consolas" panose="020B0609020204030204" pitchFamily="49" charset="0"/>
                <a:cs typeface="Consolas" panose="020B0609020204030204" pitchFamily="49" charset="0"/>
              </a:rPr>
              <a:t>Melon</a:t>
            </a:r>
            <a:r>
              <a:rPr lang="fr-BE" sz="1600" dirty="0">
                <a:solidFill>
                  <a:srgbClr val="BCBEC4"/>
                </a:solidFill>
                <a:effectLst/>
                <a:latin typeface="Consolas" panose="020B0609020204030204" pitchFamily="49" charset="0"/>
                <a:cs typeface="Consolas" panose="020B0609020204030204" pitchFamily="49" charset="0"/>
              </a:rPr>
              <a:t>(String type, </a:t>
            </a:r>
            <a:r>
              <a:rPr lang="fr-BE" sz="1600" dirty="0" err="1">
                <a:solidFill>
                  <a:srgbClr val="CF8E6D"/>
                </a:solidFill>
                <a:effectLst/>
                <a:latin typeface="Consolas" panose="020B0609020204030204" pitchFamily="49" charset="0"/>
                <a:cs typeface="Consolas" panose="020B0609020204030204" pitchFamily="49" charset="0"/>
              </a:rPr>
              <a:t>int</a:t>
            </a:r>
            <a:r>
              <a:rPr lang="fr-BE" sz="1600" dirty="0">
                <a:solidFill>
                  <a:srgbClr val="CF8E6D"/>
                </a:solidFill>
                <a:effectLst/>
                <a:latin typeface="Consolas" panose="020B0609020204030204" pitchFamily="49" charset="0"/>
                <a:cs typeface="Consolas" panose="020B0609020204030204" pitchFamily="49" charset="0"/>
              </a:rPr>
              <a:t> </a:t>
            </a:r>
            <a:r>
              <a:rPr lang="fr-BE" sz="1600" dirty="0">
                <a:solidFill>
                  <a:srgbClr val="BCBEC4"/>
                </a:solidFill>
                <a:effectLst/>
                <a:latin typeface="Consolas" panose="020B0609020204030204" pitchFamily="49" charset="0"/>
                <a:cs typeface="Consolas" panose="020B0609020204030204" pitchFamily="49" charset="0"/>
              </a:rPr>
              <a:t>poids, String origine) {</a:t>
            </a:r>
            <a:br>
              <a:rPr lang="fr-BE" sz="1600" dirty="0">
                <a:solidFill>
                  <a:srgbClr val="BCBEC4"/>
                </a:solidFill>
                <a:effectLst/>
                <a:latin typeface="Consolas" panose="020B0609020204030204" pitchFamily="49" charset="0"/>
                <a:cs typeface="Consolas" panose="020B0609020204030204" pitchFamily="49" charset="0"/>
              </a:rPr>
            </a:br>
            <a:r>
              <a:rPr lang="fr-BE" sz="1600" dirty="0">
                <a:solidFill>
                  <a:srgbClr val="BCBEC4"/>
                </a:solidFill>
                <a:effectLst/>
                <a:latin typeface="Consolas" panose="020B0609020204030204" pitchFamily="49" charset="0"/>
                <a:cs typeface="Consolas" panose="020B0609020204030204" pitchFamily="49" charset="0"/>
              </a:rPr>
              <a:t>        </a:t>
            </a:r>
            <a:r>
              <a:rPr lang="fr-BE" sz="1600" dirty="0" err="1">
                <a:solidFill>
                  <a:srgbClr val="CF8E6D"/>
                </a:solidFill>
                <a:effectLst/>
                <a:latin typeface="Consolas" panose="020B0609020204030204" pitchFamily="49" charset="0"/>
                <a:cs typeface="Consolas" panose="020B0609020204030204" pitchFamily="49" charset="0"/>
              </a:rPr>
              <a:t>this</a:t>
            </a:r>
            <a:r>
              <a:rPr lang="fr-BE" sz="1600" dirty="0" err="1">
                <a:solidFill>
                  <a:srgbClr val="BCBEC4"/>
                </a:solidFill>
                <a:effectLst/>
                <a:latin typeface="Consolas" panose="020B0609020204030204" pitchFamily="49" charset="0"/>
                <a:cs typeface="Consolas" panose="020B0609020204030204" pitchFamily="49" charset="0"/>
              </a:rPr>
              <a:t>.</a:t>
            </a:r>
            <a:r>
              <a:rPr lang="fr-BE" sz="1600" dirty="0" err="1">
                <a:solidFill>
                  <a:srgbClr val="C77DBB"/>
                </a:solidFill>
                <a:effectLst/>
                <a:latin typeface="Consolas" panose="020B0609020204030204" pitchFamily="49" charset="0"/>
                <a:cs typeface="Consolas" panose="020B0609020204030204" pitchFamily="49" charset="0"/>
              </a:rPr>
              <a:t>type</a:t>
            </a:r>
            <a:r>
              <a:rPr lang="fr-BE" sz="1600" dirty="0">
                <a:solidFill>
                  <a:srgbClr val="C77DBB"/>
                </a:solidFill>
                <a:effectLst/>
                <a:latin typeface="Consolas" panose="020B0609020204030204" pitchFamily="49" charset="0"/>
                <a:cs typeface="Consolas" panose="020B0609020204030204" pitchFamily="49" charset="0"/>
              </a:rPr>
              <a:t> </a:t>
            </a:r>
            <a:r>
              <a:rPr lang="fr-BE" sz="1600" dirty="0">
                <a:solidFill>
                  <a:srgbClr val="BCBEC4"/>
                </a:solidFill>
                <a:effectLst/>
                <a:latin typeface="Consolas" panose="020B0609020204030204" pitchFamily="49" charset="0"/>
                <a:cs typeface="Consolas" panose="020B0609020204030204" pitchFamily="49" charset="0"/>
              </a:rPr>
              <a:t>= type;</a:t>
            </a:r>
            <a:br>
              <a:rPr lang="fr-BE" sz="1600" dirty="0">
                <a:solidFill>
                  <a:srgbClr val="BCBEC4"/>
                </a:solidFill>
                <a:effectLst/>
                <a:latin typeface="Consolas" panose="020B0609020204030204" pitchFamily="49" charset="0"/>
                <a:cs typeface="Consolas" panose="020B0609020204030204" pitchFamily="49" charset="0"/>
              </a:rPr>
            </a:br>
            <a:r>
              <a:rPr lang="fr-BE" sz="1600" dirty="0">
                <a:solidFill>
                  <a:srgbClr val="BCBEC4"/>
                </a:solidFill>
                <a:effectLst/>
                <a:latin typeface="Consolas" panose="020B0609020204030204" pitchFamily="49" charset="0"/>
                <a:cs typeface="Consolas" panose="020B0609020204030204" pitchFamily="49" charset="0"/>
              </a:rPr>
              <a:t>        </a:t>
            </a:r>
            <a:r>
              <a:rPr lang="fr-BE" sz="1600" dirty="0" err="1">
                <a:solidFill>
                  <a:srgbClr val="CF8E6D"/>
                </a:solidFill>
                <a:effectLst/>
                <a:latin typeface="Consolas" panose="020B0609020204030204" pitchFamily="49" charset="0"/>
                <a:cs typeface="Consolas" panose="020B0609020204030204" pitchFamily="49" charset="0"/>
              </a:rPr>
              <a:t>this</a:t>
            </a:r>
            <a:r>
              <a:rPr lang="fr-BE" sz="1600" dirty="0" err="1">
                <a:solidFill>
                  <a:srgbClr val="BCBEC4"/>
                </a:solidFill>
                <a:effectLst/>
                <a:latin typeface="Consolas" panose="020B0609020204030204" pitchFamily="49" charset="0"/>
                <a:cs typeface="Consolas" panose="020B0609020204030204" pitchFamily="49" charset="0"/>
              </a:rPr>
              <a:t>.</a:t>
            </a:r>
            <a:r>
              <a:rPr lang="fr-BE" sz="1600" dirty="0" err="1">
                <a:solidFill>
                  <a:srgbClr val="C77DBB"/>
                </a:solidFill>
                <a:effectLst/>
                <a:latin typeface="Consolas" panose="020B0609020204030204" pitchFamily="49" charset="0"/>
                <a:cs typeface="Consolas" panose="020B0609020204030204" pitchFamily="49" charset="0"/>
              </a:rPr>
              <a:t>poids</a:t>
            </a:r>
            <a:r>
              <a:rPr lang="fr-BE" sz="1600" dirty="0">
                <a:solidFill>
                  <a:srgbClr val="C77DBB"/>
                </a:solidFill>
                <a:effectLst/>
                <a:latin typeface="Consolas" panose="020B0609020204030204" pitchFamily="49" charset="0"/>
                <a:cs typeface="Consolas" panose="020B0609020204030204" pitchFamily="49" charset="0"/>
              </a:rPr>
              <a:t> </a:t>
            </a:r>
            <a:r>
              <a:rPr lang="fr-BE" sz="1600" dirty="0">
                <a:solidFill>
                  <a:srgbClr val="BCBEC4"/>
                </a:solidFill>
                <a:effectLst/>
                <a:latin typeface="Consolas" panose="020B0609020204030204" pitchFamily="49" charset="0"/>
                <a:cs typeface="Consolas" panose="020B0609020204030204" pitchFamily="49" charset="0"/>
              </a:rPr>
              <a:t>= poids;</a:t>
            </a:r>
            <a:br>
              <a:rPr lang="fr-BE" sz="1600" dirty="0">
                <a:solidFill>
                  <a:srgbClr val="BCBEC4"/>
                </a:solidFill>
                <a:effectLst/>
                <a:latin typeface="Consolas" panose="020B0609020204030204" pitchFamily="49" charset="0"/>
                <a:cs typeface="Consolas" panose="020B0609020204030204" pitchFamily="49" charset="0"/>
              </a:rPr>
            </a:br>
            <a:r>
              <a:rPr lang="fr-BE" sz="1600" dirty="0">
                <a:solidFill>
                  <a:srgbClr val="BCBEC4"/>
                </a:solidFill>
                <a:effectLst/>
                <a:latin typeface="Consolas" panose="020B0609020204030204" pitchFamily="49" charset="0"/>
                <a:cs typeface="Consolas" panose="020B0609020204030204" pitchFamily="49" charset="0"/>
              </a:rPr>
              <a:t>        </a:t>
            </a:r>
            <a:r>
              <a:rPr lang="fr-BE" sz="1600" dirty="0" err="1">
                <a:solidFill>
                  <a:srgbClr val="CF8E6D"/>
                </a:solidFill>
                <a:effectLst/>
                <a:latin typeface="Consolas" panose="020B0609020204030204" pitchFamily="49" charset="0"/>
                <a:cs typeface="Consolas" panose="020B0609020204030204" pitchFamily="49" charset="0"/>
              </a:rPr>
              <a:t>this</a:t>
            </a:r>
            <a:r>
              <a:rPr lang="fr-BE" sz="1600" dirty="0" err="1">
                <a:solidFill>
                  <a:srgbClr val="BCBEC4"/>
                </a:solidFill>
                <a:effectLst/>
                <a:latin typeface="Consolas" panose="020B0609020204030204" pitchFamily="49" charset="0"/>
                <a:cs typeface="Consolas" panose="020B0609020204030204" pitchFamily="49" charset="0"/>
              </a:rPr>
              <a:t>.</a:t>
            </a:r>
            <a:r>
              <a:rPr lang="fr-BE" sz="1600" dirty="0" err="1">
                <a:solidFill>
                  <a:srgbClr val="C77DBB"/>
                </a:solidFill>
                <a:effectLst/>
                <a:latin typeface="Consolas" panose="020B0609020204030204" pitchFamily="49" charset="0"/>
                <a:cs typeface="Consolas" panose="020B0609020204030204" pitchFamily="49" charset="0"/>
              </a:rPr>
              <a:t>origine</a:t>
            </a:r>
            <a:r>
              <a:rPr lang="fr-BE" sz="1600" dirty="0">
                <a:solidFill>
                  <a:srgbClr val="C77DBB"/>
                </a:solidFill>
                <a:effectLst/>
                <a:latin typeface="Consolas" panose="020B0609020204030204" pitchFamily="49" charset="0"/>
                <a:cs typeface="Consolas" panose="020B0609020204030204" pitchFamily="49" charset="0"/>
              </a:rPr>
              <a:t> </a:t>
            </a:r>
            <a:r>
              <a:rPr lang="fr-BE" sz="1600" dirty="0">
                <a:solidFill>
                  <a:srgbClr val="BCBEC4"/>
                </a:solidFill>
                <a:effectLst/>
                <a:latin typeface="Consolas" panose="020B0609020204030204" pitchFamily="49" charset="0"/>
                <a:cs typeface="Consolas" panose="020B0609020204030204" pitchFamily="49" charset="0"/>
              </a:rPr>
              <a:t>= origine;</a:t>
            </a:r>
            <a:br>
              <a:rPr lang="fr-BE" sz="1600" dirty="0">
                <a:solidFill>
                  <a:srgbClr val="BCBEC4"/>
                </a:solidFill>
                <a:effectLst/>
                <a:latin typeface="Consolas" panose="020B0609020204030204" pitchFamily="49" charset="0"/>
                <a:cs typeface="Consolas" panose="020B0609020204030204" pitchFamily="49" charset="0"/>
              </a:rPr>
            </a:br>
            <a:r>
              <a:rPr lang="fr-BE" sz="1600" dirty="0">
                <a:solidFill>
                  <a:srgbClr val="BCBEC4"/>
                </a:solidFill>
                <a:effectLst/>
                <a:latin typeface="Consolas" panose="020B0609020204030204" pitchFamily="49" charset="0"/>
                <a:cs typeface="Consolas" panose="020B0609020204030204" pitchFamily="49" charset="0"/>
              </a:rPr>
              <a:t>    }</a:t>
            </a:r>
          </a:p>
          <a:p>
            <a:r>
              <a:rPr lang="fr-BE" sz="1600" dirty="0">
                <a:solidFill>
                  <a:srgbClr val="BCBEC4"/>
                </a:solidFill>
                <a:latin typeface="Consolas" panose="020B0609020204030204" pitchFamily="49" charset="0"/>
                <a:cs typeface="Consolas" panose="020B0609020204030204" pitchFamily="49" charset="0"/>
              </a:rPr>
              <a:t>    // + getters, </a:t>
            </a:r>
            <a:r>
              <a:rPr lang="fr-BE" sz="1600" dirty="0" err="1">
                <a:solidFill>
                  <a:srgbClr val="BCBEC4"/>
                </a:solidFill>
                <a:latin typeface="Consolas" panose="020B0609020204030204" pitchFamily="49" charset="0"/>
                <a:cs typeface="Consolas" panose="020B0609020204030204" pitchFamily="49" charset="0"/>
              </a:rPr>
              <a:t>toString</a:t>
            </a:r>
            <a:r>
              <a:rPr lang="fr-BE" sz="1600" dirty="0">
                <a:solidFill>
                  <a:srgbClr val="BCBEC4"/>
                </a:solidFill>
                <a:latin typeface="Consolas" panose="020B0609020204030204" pitchFamily="49" charset="0"/>
                <a:cs typeface="Consolas" panose="020B0609020204030204" pitchFamily="49" charset="0"/>
              </a:rPr>
              <a:t>, ... </a:t>
            </a:r>
          </a:p>
          <a:p>
            <a:r>
              <a:rPr lang="fr-BE" sz="1600" dirty="0">
                <a:solidFill>
                  <a:srgbClr val="BCBEC4"/>
                </a:solidFill>
                <a:effectLst/>
                <a:latin typeface="Consolas" panose="020B0609020204030204" pitchFamily="49" charset="0"/>
                <a:cs typeface="Consolas" panose="020B0609020204030204" pitchFamily="49" charset="0"/>
              </a:rPr>
              <a:t>}</a:t>
            </a:r>
          </a:p>
        </p:txBody>
      </p:sp>
      <p:sp>
        <p:nvSpPr>
          <p:cNvPr id="7" name="Espace réservé du numéro de diapositive 6">
            <a:extLst>
              <a:ext uri="{FF2B5EF4-FFF2-40B4-BE49-F238E27FC236}">
                <a16:creationId xmlns:a16="http://schemas.microsoft.com/office/drawing/2014/main" id="{A3E0D504-C657-77C0-F578-FDAF2230524A}"/>
              </a:ext>
            </a:extLst>
          </p:cNvPr>
          <p:cNvSpPr>
            <a:spLocks noGrp="1"/>
          </p:cNvSpPr>
          <p:nvPr>
            <p:ph type="sldNum" sz="quarter" idx="4"/>
          </p:nvPr>
        </p:nvSpPr>
        <p:spPr/>
        <p:txBody>
          <a:bodyPr/>
          <a:lstStyle/>
          <a:p>
            <a:fld id="{33C783E2-4793-4F48-A271-51A73CC37D74}" type="slidenum">
              <a:rPr lang="fr-FR" smtClean="0"/>
              <a:t>58</a:t>
            </a:fld>
            <a:endParaRPr lang="fr-FR"/>
          </a:p>
        </p:txBody>
      </p:sp>
    </p:spTree>
    <p:extLst>
      <p:ext uri="{BB962C8B-B14F-4D97-AF65-F5344CB8AC3E}">
        <p14:creationId xmlns:p14="http://schemas.microsoft.com/office/powerpoint/2010/main" val="3255591674"/>
      </p:ext>
    </p:extLst>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Filtrer les melons par type</a:t>
            </a:r>
          </a:p>
        </p:txBody>
      </p:sp>
      <p:sp>
        <p:nvSpPr>
          <p:cNvPr id="9" name="Espace réservé du contenu 8"/>
          <p:cNvSpPr>
            <a:spLocks noGrp="1"/>
          </p:cNvSpPr>
          <p:nvPr>
            <p:ph idx="1"/>
          </p:nvPr>
        </p:nvSpPr>
        <p:spPr>
          <a:xfrm>
            <a:off x="838200" y="1825625"/>
            <a:ext cx="10515600" cy="1603375"/>
          </a:xfrm>
        </p:spPr>
        <p:txBody>
          <a:bodyPr>
            <a:normAutofit/>
          </a:bodyPr>
          <a:lstStyle/>
          <a:p>
            <a:pPr marL="0" indent="0">
              <a:buNone/>
            </a:pPr>
            <a:r>
              <a:rPr lang="fr-FR" sz="2400" dirty="0"/>
              <a:t>Marcel vous demande de pouvoir sélectionner des melons selon leur type.</a:t>
            </a:r>
          </a:p>
          <a:p>
            <a:pPr marL="0" indent="0">
              <a:buNone/>
            </a:pPr>
            <a:r>
              <a:rPr lang="fr-FR" sz="2400" dirty="0"/>
              <a:t>Vous écrivez donc une classe </a:t>
            </a:r>
            <a:r>
              <a:rPr lang="fr-FR" sz="2200" dirty="0">
                <a:solidFill>
                  <a:schemeClr val="accent4"/>
                </a:solidFill>
                <a:latin typeface="Consolas" panose="020B0609020204030204" pitchFamily="49" charset="0"/>
                <a:cs typeface="Consolas" panose="020B0609020204030204" pitchFamily="49" charset="0"/>
              </a:rPr>
              <a:t>Filtre</a:t>
            </a:r>
            <a:r>
              <a:rPr lang="fr-FR" sz="2400" dirty="0"/>
              <a:t> qui présente une méthode statique </a:t>
            </a:r>
            <a:r>
              <a:rPr lang="fr-FR" sz="2200" dirty="0" err="1">
                <a:solidFill>
                  <a:schemeClr val="accent4"/>
                </a:solidFill>
                <a:latin typeface="Consolas" panose="020B0609020204030204" pitchFamily="49" charset="0"/>
                <a:cs typeface="Consolas" panose="020B0609020204030204" pitchFamily="49" charset="0"/>
              </a:rPr>
              <a:t>filtrerParType</a:t>
            </a:r>
            <a:r>
              <a:rPr lang="fr-FR" sz="2400" dirty="0"/>
              <a:t>.</a:t>
            </a:r>
          </a:p>
        </p:txBody>
      </p:sp>
      <p:sp>
        <p:nvSpPr>
          <p:cNvPr id="5" name="ZoneTexte 4">
            <a:extLst>
              <a:ext uri="{FF2B5EF4-FFF2-40B4-BE49-F238E27FC236}">
                <a16:creationId xmlns:a16="http://schemas.microsoft.com/office/drawing/2014/main" id="{C62F685A-B56A-5633-70ED-ACD6CA73FC8F}"/>
              </a:ext>
            </a:extLst>
          </p:cNvPr>
          <p:cNvSpPr txBox="1"/>
          <p:nvPr/>
        </p:nvSpPr>
        <p:spPr>
          <a:xfrm>
            <a:off x="838200" y="3086733"/>
            <a:ext cx="10515600" cy="2862322"/>
          </a:xfrm>
          <a:prstGeom prst="rect">
            <a:avLst/>
          </a:prstGeom>
          <a:solidFill>
            <a:srgbClr val="2B2B2B"/>
          </a:solidFill>
        </p:spPr>
        <p:txBody>
          <a:bodyPr wrap="square">
            <a:spAutoFit/>
          </a:bodyPr>
          <a:lstStyle/>
          <a:p>
            <a:r>
              <a:rPr lang="fr-BE" dirty="0">
                <a:solidFill>
                  <a:srgbClr val="CF8E6D"/>
                </a:solidFill>
                <a:effectLst/>
                <a:latin typeface="Consolas" panose="020B0609020204030204" pitchFamily="49" charset="0"/>
                <a:cs typeface="Consolas" panose="020B0609020204030204" pitchFamily="49" charset="0"/>
              </a:rPr>
              <a:t>public class </a:t>
            </a:r>
            <a:r>
              <a:rPr lang="fr-BE" dirty="0">
                <a:solidFill>
                  <a:srgbClr val="BCBEC4"/>
                </a:solidFill>
                <a:effectLst/>
                <a:latin typeface="Consolas" panose="020B0609020204030204" pitchFamily="49" charset="0"/>
                <a:cs typeface="Consolas" panose="020B0609020204030204" pitchFamily="49" charset="0"/>
              </a:rPr>
              <a:t>Filtre {</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dirty="0">
                <a:solidFill>
                  <a:srgbClr val="CF8E6D"/>
                </a:solidFill>
                <a:effectLst/>
                <a:latin typeface="Consolas" panose="020B0609020204030204" pitchFamily="49" charset="0"/>
                <a:cs typeface="Consolas" panose="020B0609020204030204" pitchFamily="49" charset="0"/>
              </a:rPr>
              <a:t>public </a:t>
            </a:r>
            <a:r>
              <a:rPr lang="fr-BE" dirty="0" err="1">
                <a:solidFill>
                  <a:srgbClr val="CF8E6D"/>
                </a:solidFill>
                <a:effectLst/>
                <a:latin typeface="Consolas" panose="020B0609020204030204" pitchFamily="49" charset="0"/>
                <a:cs typeface="Consolas" panose="020B0609020204030204" pitchFamily="49" charset="0"/>
              </a:rPr>
              <a:t>static</a:t>
            </a:r>
            <a:r>
              <a:rPr lang="fr-BE" dirty="0">
                <a:solidFill>
                  <a:srgbClr val="CF8E6D"/>
                </a:solidFill>
                <a:effectLst/>
                <a:latin typeface="Consolas" panose="020B0609020204030204" pitchFamily="49" charset="0"/>
                <a:cs typeface="Consolas" panose="020B0609020204030204" pitchFamily="49" charset="0"/>
              </a:rPr>
              <a:t> </a:t>
            </a:r>
            <a:r>
              <a:rPr lang="fr-BE" dirty="0">
                <a:solidFill>
                  <a:srgbClr val="BCBEC4"/>
                </a:solidFill>
                <a:effectLst/>
                <a:latin typeface="Consolas" panose="020B0609020204030204" pitchFamily="49" charset="0"/>
                <a:cs typeface="Consolas" panose="020B0609020204030204" pitchFamily="49" charset="0"/>
              </a:rPr>
              <a:t>List&lt;Melon&gt; </a:t>
            </a:r>
            <a:r>
              <a:rPr lang="fr-BE" dirty="0" err="1">
                <a:solidFill>
                  <a:srgbClr val="56A8F5"/>
                </a:solidFill>
                <a:effectLst/>
                <a:latin typeface="Consolas" panose="020B0609020204030204" pitchFamily="49" charset="0"/>
                <a:cs typeface="Consolas" panose="020B0609020204030204" pitchFamily="49" charset="0"/>
              </a:rPr>
              <a:t>filtrerParType</a:t>
            </a:r>
            <a:r>
              <a:rPr lang="fr-BE" dirty="0">
                <a:solidFill>
                  <a:srgbClr val="BCBEC4"/>
                </a:solidFill>
                <a:effectLst/>
                <a:latin typeface="Consolas" panose="020B0609020204030204" pitchFamily="49" charset="0"/>
                <a:cs typeface="Consolas" panose="020B0609020204030204" pitchFamily="49" charset="0"/>
              </a:rPr>
              <a:t>(List&lt;Melon&gt; melons, String type) {</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List&lt;Melon&gt; </a:t>
            </a:r>
            <a:r>
              <a:rPr lang="fr-BE" dirty="0" err="1">
                <a:solidFill>
                  <a:srgbClr val="BCBEC4"/>
                </a:solidFill>
                <a:effectLst/>
                <a:latin typeface="Consolas" panose="020B0609020204030204" pitchFamily="49" charset="0"/>
                <a:cs typeface="Consolas" panose="020B0609020204030204" pitchFamily="49" charset="0"/>
              </a:rPr>
              <a:t>resultat</a:t>
            </a:r>
            <a:r>
              <a:rPr lang="fr-BE" dirty="0">
                <a:solidFill>
                  <a:srgbClr val="BCBEC4"/>
                </a:solidFill>
                <a:effectLst/>
                <a:latin typeface="Consolas" panose="020B0609020204030204" pitchFamily="49" charset="0"/>
                <a:cs typeface="Consolas" panose="020B0609020204030204" pitchFamily="49" charset="0"/>
              </a:rPr>
              <a:t> = </a:t>
            </a:r>
            <a:r>
              <a:rPr lang="fr-BE" dirty="0">
                <a:solidFill>
                  <a:srgbClr val="CF8E6D"/>
                </a:solidFill>
                <a:effectLst/>
                <a:latin typeface="Consolas" panose="020B0609020204030204" pitchFamily="49" charset="0"/>
                <a:cs typeface="Consolas" panose="020B0609020204030204" pitchFamily="49" charset="0"/>
              </a:rPr>
              <a:t>new </a:t>
            </a:r>
            <a:r>
              <a:rPr lang="fr-BE" dirty="0" err="1">
                <a:solidFill>
                  <a:srgbClr val="BCBEC4"/>
                </a:solidFill>
                <a:effectLst/>
                <a:latin typeface="Consolas" panose="020B0609020204030204" pitchFamily="49" charset="0"/>
                <a:cs typeface="Consolas" panose="020B0609020204030204" pitchFamily="49" charset="0"/>
              </a:rPr>
              <a:t>ArrayList</a:t>
            </a:r>
            <a:r>
              <a:rPr lang="fr-BE" dirty="0">
                <a:solidFill>
                  <a:srgbClr val="BCBEC4"/>
                </a:solidFill>
                <a:effectLst/>
                <a:latin typeface="Consolas" panose="020B0609020204030204" pitchFamily="49" charset="0"/>
                <a:cs typeface="Consolas" panose="020B0609020204030204" pitchFamily="49" charset="0"/>
              </a:rPr>
              <a:t>&lt;&gt;();</a:t>
            </a:r>
            <a:br>
              <a:rPr lang="fr-BE" dirty="0">
                <a:solidFill>
                  <a:srgbClr val="BCBEC4"/>
                </a:solidFill>
                <a:effectLst/>
                <a:latin typeface="Consolas" panose="020B0609020204030204" pitchFamily="49" charset="0"/>
                <a:cs typeface="Consolas" panose="020B0609020204030204" pitchFamily="49" charset="0"/>
              </a:rPr>
            </a:b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dirty="0">
                <a:solidFill>
                  <a:srgbClr val="CF8E6D"/>
                </a:solidFill>
                <a:effectLst/>
                <a:latin typeface="Consolas" panose="020B0609020204030204" pitchFamily="49" charset="0"/>
                <a:cs typeface="Consolas" panose="020B0609020204030204" pitchFamily="49" charset="0"/>
              </a:rPr>
              <a:t>for </a:t>
            </a:r>
            <a:r>
              <a:rPr lang="fr-BE" dirty="0">
                <a:solidFill>
                  <a:srgbClr val="BCBEC4"/>
                </a:solidFill>
                <a:effectLst/>
                <a:latin typeface="Consolas" panose="020B0609020204030204" pitchFamily="49" charset="0"/>
                <a:cs typeface="Consolas" panose="020B0609020204030204" pitchFamily="49" charset="0"/>
              </a:rPr>
              <a:t>(Melon melon : melons)</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dirty="0">
                <a:solidFill>
                  <a:srgbClr val="CF8E6D"/>
                </a:solidFill>
                <a:effectLst/>
                <a:latin typeface="Consolas" panose="020B0609020204030204" pitchFamily="49" charset="0"/>
                <a:cs typeface="Consolas" panose="020B0609020204030204" pitchFamily="49" charset="0"/>
              </a:rPr>
              <a:t>if </a:t>
            </a:r>
            <a:r>
              <a:rPr lang="fr-BE" dirty="0">
                <a:solidFill>
                  <a:srgbClr val="BCBEC4"/>
                </a:solidFill>
                <a:effectLst/>
                <a:latin typeface="Consolas" panose="020B0609020204030204" pitchFamily="49" charset="0"/>
                <a:cs typeface="Consolas" panose="020B0609020204030204" pitchFamily="49" charset="0"/>
              </a:rPr>
              <a:t>((melon != </a:t>
            </a:r>
            <a:r>
              <a:rPr lang="fr-BE" dirty="0" err="1">
                <a:solidFill>
                  <a:srgbClr val="CF8E6D"/>
                </a:solidFill>
                <a:effectLst/>
                <a:latin typeface="Consolas" panose="020B0609020204030204" pitchFamily="49" charset="0"/>
                <a:cs typeface="Consolas" panose="020B0609020204030204" pitchFamily="49" charset="0"/>
              </a:rPr>
              <a:t>null</a:t>
            </a:r>
            <a:r>
              <a:rPr lang="fr-BE" dirty="0">
                <a:solidFill>
                  <a:srgbClr val="BCBEC4"/>
                </a:solidFill>
                <a:effectLst/>
                <a:latin typeface="Consolas" panose="020B0609020204030204" pitchFamily="49" charset="0"/>
                <a:cs typeface="Consolas" panose="020B0609020204030204" pitchFamily="49" charset="0"/>
              </a:rPr>
              <a:t>) &amp;&amp; </a:t>
            </a:r>
            <a:r>
              <a:rPr lang="fr-BE" dirty="0" err="1">
                <a:solidFill>
                  <a:srgbClr val="BCBEC4"/>
                </a:solidFill>
                <a:effectLst/>
                <a:latin typeface="Consolas" panose="020B0609020204030204" pitchFamily="49" charset="0"/>
                <a:cs typeface="Consolas" panose="020B0609020204030204" pitchFamily="49" charset="0"/>
              </a:rPr>
              <a:t>type.equalsIgnoreCase</a:t>
            </a:r>
            <a:r>
              <a:rPr lang="fr-BE" dirty="0">
                <a:solidFill>
                  <a:srgbClr val="BCBEC4"/>
                </a:solidFill>
                <a:effectLst/>
                <a:latin typeface="Consolas" panose="020B0609020204030204" pitchFamily="49" charset="0"/>
                <a:cs typeface="Consolas" panose="020B0609020204030204" pitchFamily="49" charset="0"/>
              </a:rPr>
              <a:t>(</a:t>
            </a:r>
            <a:r>
              <a:rPr lang="fr-BE" dirty="0" err="1">
                <a:solidFill>
                  <a:srgbClr val="BCBEC4"/>
                </a:solidFill>
                <a:effectLst/>
                <a:latin typeface="Consolas" panose="020B0609020204030204" pitchFamily="49" charset="0"/>
                <a:cs typeface="Consolas" panose="020B0609020204030204" pitchFamily="49" charset="0"/>
              </a:rPr>
              <a:t>melon.getType</a:t>
            </a:r>
            <a:r>
              <a:rPr lang="fr-BE" dirty="0">
                <a:solidFill>
                  <a:srgbClr val="BCBEC4"/>
                </a:solidFill>
                <a:effectLst/>
                <a:latin typeface="Consolas" panose="020B0609020204030204" pitchFamily="49" charset="0"/>
                <a:cs typeface="Consolas" panose="020B0609020204030204" pitchFamily="49" charset="0"/>
              </a:rPr>
              <a:t>()))</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dirty="0" err="1">
                <a:solidFill>
                  <a:srgbClr val="BCBEC4"/>
                </a:solidFill>
                <a:effectLst/>
                <a:latin typeface="Consolas" panose="020B0609020204030204" pitchFamily="49" charset="0"/>
                <a:cs typeface="Consolas" panose="020B0609020204030204" pitchFamily="49" charset="0"/>
              </a:rPr>
              <a:t>resultat.add</a:t>
            </a:r>
            <a:r>
              <a:rPr lang="fr-BE" dirty="0">
                <a:solidFill>
                  <a:srgbClr val="BCBEC4"/>
                </a:solidFill>
                <a:effectLst/>
                <a:latin typeface="Consolas" panose="020B0609020204030204" pitchFamily="49" charset="0"/>
                <a:cs typeface="Consolas" panose="020B0609020204030204" pitchFamily="49" charset="0"/>
              </a:rPr>
              <a:t>(melon);</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dirty="0">
                <a:solidFill>
                  <a:srgbClr val="CF8E6D"/>
                </a:solidFill>
                <a:effectLst/>
                <a:latin typeface="Consolas" panose="020B0609020204030204" pitchFamily="49" charset="0"/>
                <a:cs typeface="Consolas" panose="020B0609020204030204" pitchFamily="49" charset="0"/>
              </a:rPr>
              <a:t>return </a:t>
            </a:r>
            <a:r>
              <a:rPr lang="fr-BE" dirty="0" err="1">
                <a:solidFill>
                  <a:srgbClr val="BCBEC4"/>
                </a:solidFill>
                <a:effectLst/>
                <a:latin typeface="Consolas" panose="020B0609020204030204" pitchFamily="49" charset="0"/>
                <a:cs typeface="Consolas" panose="020B0609020204030204" pitchFamily="49" charset="0"/>
              </a:rPr>
              <a:t>resultat</a:t>
            </a:r>
            <a:r>
              <a:rPr lang="fr-BE" dirty="0">
                <a:solidFill>
                  <a:srgbClr val="BCBEC4"/>
                </a:solidFill>
                <a:effectLst/>
                <a:latin typeface="Consolas" panose="020B0609020204030204" pitchFamily="49" charset="0"/>
                <a:cs typeface="Consolas" panose="020B0609020204030204" pitchFamily="49" charset="0"/>
              </a:rPr>
              <a:t>;</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a:t>
            </a:r>
          </a:p>
        </p:txBody>
      </p:sp>
      <p:sp>
        <p:nvSpPr>
          <p:cNvPr id="7" name="Espace réservé du contenu 8">
            <a:extLst>
              <a:ext uri="{FF2B5EF4-FFF2-40B4-BE49-F238E27FC236}">
                <a16:creationId xmlns:a16="http://schemas.microsoft.com/office/drawing/2014/main" id="{17D65BDD-7459-AD3E-C7F7-A64D852D071F}"/>
              </a:ext>
            </a:extLst>
          </p:cNvPr>
          <p:cNvSpPr txBox="1">
            <a:spLocks/>
          </p:cNvSpPr>
          <p:nvPr/>
        </p:nvSpPr>
        <p:spPr>
          <a:xfrm>
            <a:off x="1121346" y="5643285"/>
            <a:ext cx="10515600" cy="859499"/>
          </a:xfrm>
          <a:prstGeom prst="wedgeRoundRectCallout">
            <a:avLst>
              <a:gd name="adj1" fmla="val 5727"/>
              <a:gd name="adj2" fmla="val -74192"/>
              <a:gd name="adj3" fmla="val 16667"/>
            </a:avLst>
          </a:prstGeom>
          <a:solidFill>
            <a:schemeClr val="accent6"/>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2400" dirty="0"/>
              <a:t>Marcel peut maintenant sélectionner ses melons charentais en utilisant </a:t>
            </a:r>
          </a:p>
          <a:p>
            <a:pPr marL="0" indent="0">
              <a:buNone/>
            </a:pPr>
            <a:r>
              <a:rPr lang="fr-BE" sz="2000" dirty="0">
                <a:solidFill>
                  <a:schemeClr val="accent4"/>
                </a:solidFill>
                <a:effectLst/>
                <a:latin typeface="Consolas" panose="020B0609020204030204" pitchFamily="49" charset="0"/>
                <a:cs typeface="Consolas" panose="020B0609020204030204" pitchFamily="49" charset="0"/>
              </a:rPr>
              <a:t>List&lt;Melon&gt; charentais = </a:t>
            </a:r>
            <a:r>
              <a:rPr lang="fr-BE" sz="2000" dirty="0" err="1">
                <a:solidFill>
                  <a:schemeClr val="accent4"/>
                </a:solidFill>
                <a:effectLst/>
                <a:latin typeface="Consolas" panose="020B0609020204030204" pitchFamily="49" charset="0"/>
                <a:cs typeface="Consolas" panose="020B0609020204030204" pitchFamily="49" charset="0"/>
              </a:rPr>
              <a:t>Filtre.</a:t>
            </a:r>
            <a:r>
              <a:rPr lang="fr-BE" sz="2000" i="1" dirty="0" err="1">
                <a:solidFill>
                  <a:schemeClr val="accent4"/>
                </a:solidFill>
                <a:effectLst/>
                <a:latin typeface="Consolas" panose="020B0609020204030204" pitchFamily="49" charset="0"/>
                <a:cs typeface="Consolas" panose="020B0609020204030204" pitchFamily="49" charset="0"/>
              </a:rPr>
              <a:t>filtrerParType</a:t>
            </a:r>
            <a:r>
              <a:rPr lang="fr-BE" sz="2000" dirty="0">
                <a:solidFill>
                  <a:schemeClr val="accent4"/>
                </a:solidFill>
                <a:effectLst/>
                <a:latin typeface="Consolas" panose="020B0609020204030204" pitchFamily="49" charset="0"/>
                <a:cs typeface="Consolas" panose="020B0609020204030204" pitchFamily="49" charset="0"/>
              </a:rPr>
              <a:t>(melons, "Charentais");</a:t>
            </a:r>
          </a:p>
          <a:p>
            <a:pPr marL="0" indent="0">
              <a:buFont typeface="Arial" panose="020B0604020202020204" pitchFamily="34" charset="0"/>
              <a:buNone/>
            </a:pPr>
            <a:endParaRPr lang="fr-FR" sz="2400" dirty="0"/>
          </a:p>
        </p:txBody>
      </p:sp>
      <p:sp>
        <p:nvSpPr>
          <p:cNvPr id="11" name="Rectangle 10">
            <a:extLst>
              <a:ext uri="{FF2B5EF4-FFF2-40B4-BE49-F238E27FC236}">
                <a16:creationId xmlns:a16="http://schemas.microsoft.com/office/drawing/2014/main" id="{93827E42-1A34-75CA-4A97-5606322056DF}"/>
              </a:ext>
            </a:extLst>
          </p:cNvPr>
          <p:cNvSpPr/>
          <p:nvPr/>
        </p:nvSpPr>
        <p:spPr>
          <a:xfrm>
            <a:off x="8978900" y="2981967"/>
            <a:ext cx="2349500" cy="48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fr-FR" i="1" dirty="0" err="1">
                <a:latin typeface="Consolas" panose="020B0609020204030204" pitchFamily="49" charset="0"/>
                <a:cs typeface="Consolas" panose="020B0609020204030204" pitchFamily="49" charset="0"/>
              </a:rPr>
              <a:t>Filtre.java</a:t>
            </a:r>
            <a:endParaRPr lang="fr-FR" i="1" dirty="0">
              <a:latin typeface="Consolas" panose="020B0609020204030204" pitchFamily="49" charset="0"/>
              <a:cs typeface="Consolas" panose="020B0609020204030204" pitchFamily="49" charset="0"/>
            </a:endParaRPr>
          </a:p>
        </p:txBody>
      </p:sp>
      <p:sp>
        <p:nvSpPr>
          <p:cNvPr id="12" name="Espace réservé du numéro de diapositive 11">
            <a:extLst>
              <a:ext uri="{FF2B5EF4-FFF2-40B4-BE49-F238E27FC236}">
                <a16:creationId xmlns:a16="http://schemas.microsoft.com/office/drawing/2014/main" id="{25058D21-B4D3-D0D8-88E8-1A8D9847B168}"/>
              </a:ext>
            </a:extLst>
          </p:cNvPr>
          <p:cNvSpPr>
            <a:spLocks noGrp="1"/>
          </p:cNvSpPr>
          <p:nvPr>
            <p:ph type="sldNum" sz="quarter" idx="4"/>
          </p:nvPr>
        </p:nvSpPr>
        <p:spPr/>
        <p:txBody>
          <a:bodyPr/>
          <a:lstStyle/>
          <a:p>
            <a:fld id="{33C783E2-4793-4F48-A271-51A73CC37D74}" type="slidenum">
              <a:rPr lang="fr-FR" smtClean="0"/>
              <a:t>59</a:t>
            </a:fld>
            <a:endParaRPr lang="fr-FR"/>
          </a:p>
        </p:txBody>
      </p:sp>
    </p:spTree>
    <p:extLst>
      <p:ext uri="{BB962C8B-B14F-4D97-AF65-F5344CB8AC3E}">
        <p14:creationId xmlns:p14="http://schemas.microsoft.com/office/powerpoint/2010/main" val="2771607350"/>
      </p:ext>
    </p:extLst>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1"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Filtrer les melons selon leur poids</a:t>
            </a:r>
          </a:p>
        </p:txBody>
      </p:sp>
      <p:sp>
        <p:nvSpPr>
          <p:cNvPr id="9" name="Espace réservé du contenu 8"/>
          <p:cNvSpPr>
            <a:spLocks noGrp="1"/>
          </p:cNvSpPr>
          <p:nvPr>
            <p:ph idx="1"/>
          </p:nvPr>
        </p:nvSpPr>
        <p:spPr>
          <a:xfrm>
            <a:off x="838200" y="1825625"/>
            <a:ext cx="11150600" cy="1603375"/>
          </a:xfrm>
        </p:spPr>
        <p:txBody>
          <a:bodyPr>
            <a:normAutofit/>
          </a:bodyPr>
          <a:lstStyle/>
          <a:p>
            <a:pPr marL="0" indent="0">
              <a:buNone/>
            </a:pPr>
            <a:r>
              <a:rPr lang="fr-FR" sz="2400" dirty="0"/>
              <a:t>Le lendemain, Marcel vous demande de pouvoir aussi récupérer les melons d’après leur poids. </a:t>
            </a:r>
          </a:p>
          <a:p>
            <a:pPr marL="0" indent="0">
              <a:buNone/>
            </a:pPr>
            <a:r>
              <a:rPr lang="fr-FR" sz="2400" dirty="0"/>
              <a:t>Vous ajoutez la méthode la méthode statique </a:t>
            </a:r>
            <a:r>
              <a:rPr lang="fr-FR" sz="2200" dirty="0" err="1">
                <a:solidFill>
                  <a:schemeClr val="accent4"/>
                </a:solidFill>
                <a:latin typeface="Consolas" panose="020B0609020204030204" pitchFamily="49" charset="0"/>
                <a:cs typeface="Consolas" panose="020B0609020204030204" pitchFamily="49" charset="0"/>
              </a:rPr>
              <a:t>filtrerParPoids</a:t>
            </a:r>
            <a:r>
              <a:rPr lang="fr-FR" sz="2400" dirty="0"/>
              <a:t> à votre classe </a:t>
            </a:r>
            <a:r>
              <a:rPr lang="fr-FR" sz="2200" dirty="0">
                <a:solidFill>
                  <a:schemeClr val="accent4"/>
                </a:solidFill>
                <a:latin typeface="Consolas" panose="020B0609020204030204" pitchFamily="49" charset="0"/>
                <a:cs typeface="Consolas" panose="020B0609020204030204" pitchFamily="49" charset="0"/>
              </a:rPr>
              <a:t>Filtre</a:t>
            </a:r>
            <a:r>
              <a:rPr lang="fr-FR" sz="2400" dirty="0"/>
              <a:t>.</a:t>
            </a:r>
          </a:p>
        </p:txBody>
      </p:sp>
      <p:sp>
        <p:nvSpPr>
          <p:cNvPr id="5" name="ZoneTexte 4">
            <a:extLst>
              <a:ext uri="{FF2B5EF4-FFF2-40B4-BE49-F238E27FC236}">
                <a16:creationId xmlns:a16="http://schemas.microsoft.com/office/drawing/2014/main" id="{C62F685A-B56A-5633-70ED-ACD6CA73FC8F}"/>
              </a:ext>
            </a:extLst>
          </p:cNvPr>
          <p:cNvSpPr txBox="1"/>
          <p:nvPr/>
        </p:nvSpPr>
        <p:spPr>
          <a:xfrm>
            <a:off x="838200" y="3377211"/>
            <a:ext cx="10515600" cy="2308324"/>
          </a:xfrm>
          <a:prstGeom prst="rect">
            <a:avLst/>
          </a:prstGeom>
          <a:solidFill>
            <a:srgbClr val="2B2B2B"/>
          </a:solidFill>
        </p:spPr>
        <p:txBody>
          <a:bodyPr wrap="square">
            <a:spAutoFit/>
          </a:bodyPr>
          <a:lstStyle/>
          <a:p>
            <a:r>
              <a:rPr lang="fr-BE" dirty="0">
                <a:solidFill>
                  <a:srgbClr val="BCBEC4"/>
                </a:solidFill>
                <a:effectLst/>
                <a:latin typeface="Consolas" panose="020B0609020204030204" pitchFamily="49" charset="0"/>
                <a:cs typeface="Consolas" panose="020B0609020204030204" pitchFamily="49" charset="0"/>
              </a:rPr>
              <a:t>    </a:t>
            </a:r>
            <a:r>
              <a:rPr lang="fr-BE" dirty="0">
                <a:solidFill>
                  <a:srgbClr val="CF8E6D"/>
                </a:solidFill>
                <a:effectLst/>
                <a:latin typeface="Consolas" panose="020B0609020204030204" pitchFamily="49" charset="0"/>
                <a:cs typeface="Consolas" panose="020B0609020204030204" pitchFamily="49" charset="0"/>
              </a:rPr>
              <a:t>public </a:t>
            </a:r>
            <a:r>
              <a:rPr lang="fr-BE" dirty="0" err="1">
                <a:solidFill>
                  <a:srgbClr val="CF8E6D"/>
                </a:solidFill>
                <a:effectLst/>
                <a:latin typeface="Consolas" panose="020B0609020204030204" pitchFamily="49" charset="0"/>
                <a:cs typeface="Consolas" panose="020B0609020204030204" pitchFamily="49" charset="0"/>
              </a:rPr>
              <a:t>static</a:t>
            </a:r>
            <a:r>
              <a:rPr lang="fr-BE" dirty="0">
                <a:solidFill>
                  <a:srgbClr val="CF8E6D"/>
                </a:solidFill>
                <a:effectLst/>
                <a:latin typeface="Consolas" panose="020B0609020204030204" pitchFamily="49" charset="0"/>
                <a:cs typeface="Consolas" panose="020B0609020204030204" pitchFamily="49" charset="0"/>
              </a:rPr>
              <a:t> </a:t>
            </a:r>
            <a:r>
              <a:rPr lang="fr-BE" dirty="0">
                <a:solidFill>
                  <a:srgbClr val="BCBEC4"/>
                </a:solidFill>
                <a:effectLst/>
                <a:latin typeface="Consolas" panose="020B0609020204030204" pitchFamily="49" charset="0"/>
                <a:cs typeface="Consolas" panose="020B0609020204030204" pitchFamily="49" charset="0"/>
              </a:rPr>
              <a:t>List&lt;Melon&gt; </a:t>
            </a:r>
            <a:r>
              <a:rPr lang="fr-BE" dirty="0" err="1">
                <a:solidFill>
                  <a:srgbClr val="56A8F5"/>
                </a:solidFill>
                <a:effectLst/>
                <a:latin typeface="Consolas" panose="020B0609020204030204" pitchFamily="49" charset="0"/>
                <a:cs typeface="Consolas" panose="020B0609020204030204" pitchFamily="49" charset="0"/>
              </a:rPr>
              <a:t>filtrerParPoids</a:t>
            </a:r>
            <a:r>
              <a:rPr lang="fr-BE" dirty="0">
                <a:solidFill>
                  <a:srgbClr val="BCBEC4"/>
                </a:solidFill>
                <a:effectLst/>
                <a:latin typeface="Consolas" panose="020B0609020204030204" pitchFamily="49" charset="0"/>
                <a:cs typeface="Consolas" panose="020B0609020204030204" pitchFamily="49" charset="0"/>
              </a:rPr>
              <a:t>(List&lt;Melon&gt; melons, </a:t>
            </a:r>
            <a:r>
              <a:rPr lang="fr-BE" dirty="0" err="1">
                <a:solidFill>
                  <a:srgbClr val="BCBEC4"/>
                </a:solidFill>
                <a:effectLst/>
                <a:latin typeface="Consolas" panose="020B0609020204030204" pitchFamily="49" charset="0"/>
                <a:cs typeface="Consolas" panose="020B0609020204030204" pitchFamily="49" charset="0"/>
              </a:rPr>
              <a:t>int</a:t>
            </a:r>
            <a:r>
              <a:rPr lang="fr-BE" dirty="0">
                <a:solidFill>
                  <a:srgbClr val="BCBEC4"/>
                </a:solidFill>
                <a:effectLst/>
                <a:latin typeface="Consolas" panose="020B0609020204030204" pitchFamily="49" charset="0"/>
                <a:cs typeface="Consolas" panose="020B0609020204030204" pitchFamily="49" charset="0"/>
              </a:rPr>
              <a:t> poids) {</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List&lt;Melon&gt; </a:t>
            </a:r>
            <a:r>
              <a:rPr lang="fr-BE" dirty="0" err="1">
                <a:solidFill>
                  <a:srgbClr val="BCBEC4"/>
                </a:solidFill>
                <a:effectLst/>
                <a:latin typeface="Consolas" panose="020B0609020204030204" pitchFamily="49" charset="0"/>
                <a:cs typeface="Consolas" panose="020B0609020204030204" pitchFamily="49" charset="0"/>
              </a:rPr>
              <a:t>resultat</a:t>
            </a:r>
            <a:r>
              <a:rPr lang="fr-BE" dirty="0">
                <a:solidFill>
                  <a:srgbClr val="BCBEC4"/>
                </a:solidFill>
                <a:effectLst/>
                <a:latin typeface="Consolas" panose="020B0609020204030204" pitchFamily="49" charset="0"/>
                <a:cs typeface="Consolas" panose="020B0609020204030204" pitchFamily="49" charset="0"/>
              </a:rPr>
              <a:t> = </a:t>
            </a:r>
            <a:r>
              <a:rPr lang="fr-BE" dirty="0">
                <a:solidFill>
                  <a:srgbClr val="CF8E6D"/>
                </a:solidFill>
                <a:effectLst/>
                <a:latin typeface="Consolas" panose="020B0609020204030204" pitchFamily="49" charset="0"/>
                <a:cs typeface="Consolas" panose="020B0609020204030204" pitchFamily="49" charset="0"/>
              </a:rPr>
              <a:t>new </a:t>
            </a:r>
            <a:r>
              <a:rPr lang="fr-BE" dirty="0" err="1">
                <a:solidFill>
                  <a:srgbClr val="BCBEC4"/>
                </a:solidFill>
                <a:effectLst/>
                <a:latin typeface="Consolas" panose="020B0609020204030204" pitchFamily="49" charset="0"/>
                <a:cs typeface="Consolas" panose="020B0609020204030204" pitchFamily="49" charset="0"/>
              </a:rPr>
              <a:t>ArrayList</a:t>
            </a:r>
            <a:r>
              <a:rPr lang="fr-BE" dirty="0">
                <a:solidFill>
                  <a:srgbClr val="BCBEC4"/>
                </a:solidFill>
                <a:effectLst/>
                <a:latin typeface="Consolas" panose="020B0609020204030204" pitchFamily="49" charset="0"/>
                <a:cs typeface="Consolas" panose="020B0609020204030204" pitchFamily="49" charset="0"/>
              </a:rPr>
              <a:t>&lt;&gt;();</a:t>
            </a:r>
            <a:br>
              <a:rPr lang="fr-BE" dirty="0">
                <a:solidFill>
                  <a:srgbClr val="BCBEC4"/>
                </a:solidFill>
                <a:effectLst/>
                <a:latin typeface="Consolas" panose="020B0609020204030204" pitchFamily="49" charset="0"/>
                <a:cs typeface="Consolas" panose="020B0609020204030204" pitchFamily="49" charset="0"/>
              </a:rPr>
            </a:b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dirty="0">
                <a:solidFill>
                  <a:srgbClr val="CF8E6D"/>
                </a:solidFill>
                <a:effectLst/>
                <a:latin typeface="Consolas" panose="020B0609020204030204" pitchFamily="49" charset="0"/>
                <a:cs typeface="Consolas" panose="020B0609020204030204" pitchFamily="49" charset="0"/>
              </a:rPr>
              <a:t>for </a:t>
            </a:r>
            <a:r>
              <a:rPr lang="fr-BE" dirty="0">
                <a:solidFill>
                  <a:srgbClr val="BCBEC4"/>
                </a:solidFill>
                <a:effectLst/>
                <a:latin typeface="Consolas" panose="020B0609020204030204" pitchFamily="49" charset="0"/>
                <a:cs typeface="Consolas" panose="020B0609020204030204" pitchFamily="49" charset="0"/>
              </a:rPr>
              <a:t>(Melon melon : melons)</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dirty="0">
                <a:solidFill>
                  <a:srgbClr val="CF8E6D"/>
                </a:solidFill>
                <a:effectLst/>
                <a:latin typeface="Consolas" panose="020B0609020204030204" pitchFamily="49" charset="0"/>
                <a:cs typeface="Consolas" panose="020B0609020204030204" pitchFamily="49" charset="0"/>
              </a:rPr>
              <a:t>if </a:t>
            </a:r>
            <a:r>
              <a:rPr lang="fr-BE" dirty="0">
                <a:solidFill>
                  <a:srgbClr val="BCBEC4"/>
                </a:solidFill>
                <a:effectLst/>
                <a:latin typeface="Consolas" panose="020B0609020204030204" pitchFamily="49" charset="0"/>
                <a:cs typeface="Consolas" panose="020B0609020204030204" pitchFamily="49" charset="0"/>
              </a:rPr>
              <a:t>((melon != </a:t>
            </a:r>
            <a:r>
              <a:rPr lang="fr-BE" dirty="0" err="1">
                <a:solidFill>
                  <a:srgbClr val="CF8E6D"/>
                </a:solidFill>
                <a:effectLst/>
                <a:latin typeface="Consolas" panose="020B0609020204030204" pitchFamily="49" charset="0"/>
                <a:cs typeface="Consolas" panose="020B0609020204030204" pitchFamily="49" charset="0"/>
              </a:rPr>
              <a:t>null</a:t>
            </a:r>
            <a:r>
              <a:rPr lang="fr-BE" dirty="0">
                <a:solidFill>
                  <a:srgbClr val="BCBEC4"/>
                </a:solidFill>
                <a:effectLst/>
                <a:latin typeface="Consolas" panose="020B0609020204030204" pitchFamily="49" charset="0"/>
                <a:cs typeface="Consolas" panose="020B0609020204030204" pitchFamily="49" charset="0"/>
              </a:rPr>
              <a:t>) &amp;&amp; poids == </a:t>
            </a:r>
            <a:r>
              <a:rPr lang="fr-BE" dirty="0" err="1">
                <a:solidFill>
                  <a:srgbClr val="BCBEC4"/>
                </a:solidFill>
                <a:effectLst/>
                <a:latin typeface="Consolas" panose="020B0609020204030204" pitchFamily="49" charset="0"/>
                <a:cs typeface="Consolas" panose="020B0609020204030204" pitchFamily="49" charset="0"/>
              </a:rPr>
              <a:t>melon.getPoids</a:t>
            </a:r>
            <a:r>
              <a:rPr lang="fr-BE" dirty="0">
                <a:solidFill>
                  <a:srgbClr val="BCBEC4"/>
                </a:solidFill>
                <a:effectLst/>
                <a:latin typeface="Consolas" panose="020B0609020204030204" pitchFamily="49" charset="0"/>
                <a:cs typeface="Consolas" panose="020B0609020204030204" pitchFamily="49" charset="0"/>
              </a:rPr>
              <a:t>()))</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dirty="0" err="1">
                <a:solidFill>
                  <a:srgbClr val="BCBEC4"/>
                </a:solidFill>
                <a:effectLst/>
                <a:latin typeface="Consolas" panose="020B0609020204030204" pitchFamily="49" charset="0"/>
                <a:cs typeface="Consolas" panose="020B0609020204030204" pitchFamily="49" charset="0"/>
              </a:rPr>
              <a:t>resultat.add</a:t>
            </a:r>
            <a:r>
              <a:rPr lang="fr-BE" dirty="0">
                <a:solidFill>
                  <a:srgbClr val="BCBEC4"/>
                </a:solidFill>
                <a:effectLst/>
                <a:latin typeface="Consolas" panose="020B0609020204030204" pitchFamily="49" charset="0"/>
                <a:cs typeface="Consolas" panose="020B0609020204030204" pitchFamily="49" charset="0"/>
              </a:rPr>
              <a:t>(melon);</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dirty="0">
                <a:solidFill>
                  <a:srgbClr val="CF8E6D"/>
                </a:solidFill>
                <a:effectLst/>
                <a:latin typeface="Consolas" panose="020B0609020204030204" pitchFamily="49" charset="0"/>
                <a:cs typeface="Consolas" panose="020B0609020204030204" pitchFamily="49" charset="0"/>
              </a:rPr>
              <a:t>return </a:t>
            </a:r>
            <a:r>
              <a:rPr lang="fr-BE" dirty="0" err="1">
                <a:solidFill>
                  <a:srgbClr val="BCBEC4"/>
                </a:solidFill>
                <a:effectLst/>
                <a:latin typeface="Consolas" panose="020B0609020204030204" pitchFamily="49" charset="0"/>
                <a:cs typeface="Consolas" panose="020B0609020204030204" pitchFamily="49" charset="0"/>
              </a:rPr>
              <a:t>resultat</a:t>
            </a:r>
            <a:r>
              <a:rPr lang="fr-BE" dirty="0">
                <a:solidFill>
                  <a:srgbClr val="BCBEC4"/>
                </a:solidFill>
                <a:effectLst/>
                <a:latin typeface="Consolas" panose="020B0609020204030204" pitchFamily="49" charset="0"/>
                <a:cs typeface="Consolas" panose="020B0609020204030204" pitchFamily="49" charset="0"/>
              </a:rPr>
              <a:t>;</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p>
        </p:txBody>
      </p:sp>
      <p:sp>
        <p:nvSpPr>
          <p:cNvPr id="6" name="Rectangle : coins arrondis 5">
            <a:extLst>
              <a:ext uri="{FF2B5EF4-FFF2-40B4-BE49-F238E27FC236}">
                <a16:creationId xmlns:a16="http://schemas.microsoft.com/office/drawing/2014/main" id="{A7A1F965-739A-C097-6598-74119E55B682}"/>
              </a:ext>
            </a:extLst>
          </p:cNvPr>
          <p:cNvSpPr/>
          <p:nvPr/>
        </p:nvSpPr>
        <p:spPr>
          <a:xfrm>
            <a:off x="9144000" y="3410675"/>
            <a:ext cx="1260088" cy="308803"/>
          </a:xfrm>
          <a:prstGeom prst="round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Forme libre 13">
            <a:extLst>
              <a:ext uri="{FF2B5EF4-FFF2-40B4-BE49-F238E27FC236}">
                <a16:creationId xmlns:a16="http://schemas.microsoft.com/office/drawing/2014/main" id="{04F4748D-7EB2-7CDB-AC0D-B73659D727F2}"/>
              </a:ext>
            </a:extLst>
          </p:cNvPr>
          <p:cNvSpPr/>
          <p:nvPr/>
        </p:nvSpPr>
        <p:spPr>
          <a:xfrm>
            <a:off x="804647" y="3343658"/>
            <a:ext cx="10584000" cy="2376000"/>
          </a:xfrm>
          <a:custGeom>
            <a:avLst/>
            <a:gdLst>
              <a:gd name="connsiteX0" fmla="*/ 4487894 w 10584000"/>
              <a:gd name="connsiteY0" fmla="*/ 1187715 h 2376000"/>
              <a:gd name="connsiteX1" fmla="*/ 4436426 w 10584000"/>
              <a:gd name="connsiteY1" fmla="*/ 1239183 h 2376000"/>
              <a:gd name="connsiteX2" fmla="*/ 4436426 w 10584000"/>
              <a:gd name="connsiteY2" fmla="*/ 1445050 h 2376000"/>
              <a:gd name="connsiteX3" fmla="*/ 4487894 w 10584000"/>
              <a:gd name="connsiteY3" fmla="*/ 1496518 h 2376000"/>
              <a:gd name="connsiteX4" fmla="*/ 7641114 w 10584000"/>
              <a:gd name="connsiteY4" fmla="*/ 1496518 h 2376000"/>
              <a:gd name="connsiteX5" fmla="*/ 7692582 w 10584000"/>
              <a:gd name="connsiteY5" fmla="*/ 1445050 h 2376000"/>
              <a:gd name="connsiteX6" fmla="*/ 7692582 w 10584000"/>
              <a:gd name="connsiteY6" fmla="*/ 1239183 h 2376000"/>
              <a:gd name="connsiteX7" fmla="*/ 7641114 w 10584000"/>
              <a:gd name="connsiteY7" fmla="*/ 1187715 h 2376000"/>
              <a:gd name="connsiteX8" fmla="*/ 8390821 w 10584000"/>
              <a:gd name="connsiteY8" fmla="*/ 67017 h 2376000"/>
              <a:gd name="connsiteX9" fmla="*/ 8339353 w 10584000"/>
              <a:gd name="connsiteY9" fmla="*/ 118485 h 2376000"/>
              <a:gd name="connsiteX10" fmla="*/ 8339353 w 10584000"/>
              <a:gd name="connsiteY10" fmla="*/ 324352 h 2376000"/>
              <a:gd name="connsiteX11" fmla="*/ 8390821 w 10584000"/>
              <a:gd name="connsiteY11" fmla="*/ 375820 h 2376000"/>
              <a:gd name="connsiteX12" fmla="*/ 9547973 w 10584000"/>
              <a:gd name="connsiteY12" fmla="*/ 375820 h 2376000"/>
              <a:gd name="connsiteX13" fmla="*/ 9599441 w 10584000"/>
              <a:gd name="connsiteY13" fmla="*/ 324352 h 2376000"/>
              <a:gd name="connsiteX14" fmla="*/ 9599441 w 10584000"/>
              <a:gd name="connsiteY14" fmla="*/ 118485 h 2376000"/>
              <a:gd name="connsiteX15" fmla="*/ 9547973 w 10584000"/>
              <a:gd name="connsiteY15" fmla="*/ 67017 h 2376000"/>
              <a:gd name="connsiteX16" fmla="*/ 198444 w 10584000"/>
              <a:gd name="connsiteY16" fmla="*/ 0 h 2376000"/>
              <a:gd name="connsiteX17" fmla="*/ 10385556 w 10584000"/>
              <a:gd name="connsiteY17" fmla="*/ 0 h 2376000"/>
              <a:gd name="connsiteX18" fmla="*/ 10584000 w 10584000"/>
              <a:gd name="connsiteY18" fmla="*/ 198444 h 2376000"/>
              <a:gd name="connsiteX19" fmla="*/ 10584000 w 10584000"/>
              <a:gd name="connsiteY19" fmla="*/ 2177556 h 2376000"/>
              <a:gd name="connsiteX20" fmla="*/ 10385556 w 10584000"/>
              <a:gd name="connsiteY20" fmla="*/ 2376000 h 2376000"/>
              <a:gd name="connsiteX21" fmla="*/ 198444 w 10584000"/>
              <a:gd name="connsiteY21" fmla="*/ 2376000 h 2376000"/>
              <a:gd name="connsiteX22" fmla="*/ 0 w 10584000"/>
              <a:gd name="connsiteY22" fmla="*/ 2177556 h 2376000"/>
              <a:gd name="connsiteX23" fmla="*/ 0 w 10584000"/>
              <a:gd name="connsiteY23" fmla="*/ 198444 h 2376000"/>
              <a:gd name="connsiteX24" fmla="*/ 198444 w 10584000"/>
              <a:gd name="connsiteY24" fmla="*/ 0 h 237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584000" h="2376000">
                <a:moveTo>
                  <a:pt x="4487894" y="1187715"/>
                </a:moveTo>
                <a:cubicBezTo>
                  <a:pt x="4459469" y="1187715"/>
                  <a:pt x="4436426" y="1210758"/>
                  <a:pt x="4436426" y="1239183"/>
                </a:cubicBezTo>
                <a:lnTo>
                  <a:pt x="4436426" y="1445050"/>
                </a:lnTo>
                <a:cubicBezTo>
                  <a:pt x="4436426" y="1473475"/>
                  <a:pt x="4459469" y="1496518"/>
                  <a:pt x="4487894" y="1496518"/>
                </a:cubicBezTo>
                <a:lnTo>
                  <a:pt x="7641114" y="1496518"/>
                </a:lnTo>
                <a:cubicBezTo>
                  <a:pt x="7669539" y="1496518"/>
                  <a:pt x="7692582" y="1473475"/>
                  <a:pt x="7692582" y="1445050"/>
                </a:cubicBezTo>
                <a:lnTo>
                  <a:pt x="7692582" y="1239183"/>
                </a:lnTo>
                <a:cubicBezTo>
                  <a:pt x="7692582" y="1210758"/>
                  <a:pt x="7669539" y="1187715"/>
                  <a:pt x="7641114" y="1187715"/>
                </a:cubicBezTo>
                <a:close/>
                <a:moveTo>
                  <a:pt x="8390821" y="67017"/>
                </a:moveTo>
                <a:cubicBezTo>
                  <a:pt x="8362396" y="67017"/>
                  <a:pt x="8339353" y="90060"/>
                  <a:pt x="8339353" y="118485"/>
                </a:cubicBezTo>
                <a:lnTo>
                  <a:pt x="8339353" y="324352"/>
                </a:lnTo>
                <a:cubicBezTo>
                  <a:pt x="8339353" y="352777"/>
                  <a:pt x="8362396" y="375820"/>
                  <a:pt x="8390821" y="375820"/>
                </a:cubicBezTo>
                <a:lnTo>
                  <a:pt x="9547973" y="375820"/>
                </a:lnTo>
                <a:cubicBezTo>
                  <a:pt x="9576398" y="375820"/>
                  <a:pt x="9599441" y="352777"/>
                  <a:pt x="9599441" y="324352"/>
                </a:cubicBezTo>
                <a:lnTo>
                  <a:pt x="9599441" y="118485"/>
                </a:lnTo>
                <a:cubicBezTo>
                  <a:pt x="9599441" y="90060"/>
                  <a:pt x="9576398" y="67017"/>
                  <a:pt x="9547973" y="67017"/>
                </a:cubicBezTo>
                <a:close/>
                <a:moveTo>
                  <a:pt x="198444" y="0"/>
                </a:moveTo>
                <a:lnTo>
                  <a:pt x="10385556" y="0"/>
                </a:lnTo>
                <a:cubicBezTo>
                  <a:pt x="10495154" y="0"/>
                  <a:pt x="10584000" y="88846"/>
                  <a:pt x="10584000" y="198444"/>
                </a:cubicBezTo>
                <a:lnTo>
                  <a:pt x="10584000" y="2177556"/>
                </a:lnTo>
                <a:cubicBezTo>
                  <a:pt x="10584000" y="2287154"/>
                  <a:pt x="10495154" y="2376000"/>
                  <a:pt x="10385556" y="2376000"/>
                </a:cubicBezTo>
                <a:lnTo>
                  <a:pt x="198444" y="2376000"/>
                </a:lnTo>
                <a:cubicBezTo>
                  <a:pt x="88846" y="2376000"/>
                  <a:pt x="0" y="2287154"/>
                  <a:pt x="0" y="2177556"/>
                </a:cubicBezTo>
                <a:lnTo>
                  <a:pt x="0" y="198444"/>
                </a:lnTo>
                <a:cubicBezTo>
                  <a:pt x="0" y="88846"/>
                  <a:pt x="88846" y="0"/>
                  <a:pt x="198444" y="0"/>
                </a:cubicBezTo>
                <a:close/>
              </a:path>
            </a:pathLst>
          </a:custGeom>
          <a:solidFill>
            <a:srgbClr val="70AD47">
              <a:alpha val="25098"/>
            </a:srgbClr>
          </a:solid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5" name="Rectangle : coins arrondis 14">
            <a:extLst>
              <a:ext uri="{FF2B5EF4-FFF2-40B4-BE49-F238E27FC236}">
                <a16:creationId xmlns:a16="http://schemas.microsoft.com/office/drawing/2014/main" id="{8D457E8D-6A76-286A-F635-142A337AED2E}"/>
              </a:ext>
            </a:extLst>
          </p:cNvPr>
          <p:cNvSpPr/>
          <p:nvPr/>
        </p:nvSpPr>
        <p:spPr>
          <a:xfrm>
            <a:off x="5241600" y="4530757"/>
            <a:ext cx="3276000" cy="312672"/>
          </a:xfrm>
          <a:prstGeom prst="round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du contenu 8">
            <a:extLst>
              <a:ext uri="{FF2B5EF4-FFF2-40B4-BE49-F238E27FC236}">
                <a16:creationId xmlns:a16="http://schemas.microsoft.com/office/drawing/2014/main" id="{17D65BDD-7459-AD3E-C7F7-A64D852D071F}"/>
              </a:ext>
            </a:extLst>
          </p:cNvPr>
          <p:cNvSpPr txBox="1">
            <a:spLocks/>
          </p:cNvSpPr>
          <p:nvPr/>
        </p:nvSpPr>
        <p:spPr>
          <a:xfrm>
            <a:off x="3278459" y="5395327"/>
            <a:ext cx="8358487" cy="841270"/>
          </a:xfrm>
          <a:prstGeom prst="wedgeRoundRectCallout">
            <a:avLst>
              <a:gd name="adj1" fmla="val 20679"/>
              <a:gd name="adj2" fmla="val -2835"/>
              <a:gd name="adj3" fmla="val 16667"/>
            </a:avLst>
          </a:prstGeom>
          <a:solidFill>
            <a:schemeClr val="accent6"/>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2400" dirty="0"/>
              <a:t>Et vous commencez à penser qu’on va se retrouver avec une classe Filtre qui présente plein de méthodes quasi-identiques…</a:t>
            </a:r>
          </a:p>
        </p:txBody>
      </p:sp>
      <p:sp>
        <p:nvSpPr>
          <p:cNvPr id="16" name="Rectangle 15">
            <a:extLst>
              <a:ext uri="{FF2B5EF4-FFF2-40B4-BE49-F238E27FC236}">
                <a16:creationId xmlns:a16="http://schemas.microsoft.com/office/drawing/2014/main" id="{97661905-0B76-F5C6-7D62-291E5E4C5146}"/>
              </a:ext>
            </a:extLst>
          </p:cNvPr>
          <p:cNvSpPr/>
          <p:nvPr/>
        </p:nvSpPr>
        <p:spPr>
          <a:xfrm>
            <a:off x="8978900" y="4982242"/>
            <a:ext cx="2349500" cy="48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fr-FR" i="1" dirty="0" err="1">
                <a:latin typeface="Consolas" panose="020B0609020204030204" pitchFamily="49" charset="0"/>
                <a:cs typeface="Consolas" panose="020B0609020204030204" pitchFamily="49" charset="0"/>
              </a:rPr>
              <a:t>Filtre.java</a:t>
            </a:r>
            <a:endParaRPr lang="fr-FR" i="1" dirty="0">
              <a:latin typeface="Consolas" panose="020B0609020204030204" pitchFamily="49" charset="0"/>
              <a:cs typeface="Consolas" panose="020B0609020204030204" pitchFamily="49" charset="0"/>
            </a:endParaRPr>
          </a:p>
        </p:txBody>
      </p:sp>
      <p:sp>
        <p:nvSpPr>
          <p:cNvPr id="17" name="Espace réservé du numéro de diapositive 16">
            <a:extLst>
              <a:ext uri="{FF2B5EF4-FFF2-40B4-BE49-F238E27FC236}">
                <a16:creationId xmlns:a16="http://schemas.microsoft.com/office/drawing/2014/main" id="{7E49601A-A2A9-2DEB-C51D-0586FAC5074A}"/>
              </a:ext>
            </a:extLst>
          </p:cNvPr>
          <p:cNvSpPr>
            <a:spLocks noGrp="1"/>
          </p:cNvSpPr>
          <p:nvPr>
            <p:ph type="sldNum" sz="quarter" idx="4"/>
          </p:nvPr>
        </p:nvSpPr>
        <p:spPr/>
        <p:txBody>
          <a:bodyPr/>
          <a:lstStyle/>
          <a:p>
            <a:fld id="{33C783E2-4793-4F48-A271-51A73CC37D74}" type="slidenum">
              <a:rPr lang="fr-FR" smtClean="0"/>
              <a:t>60</a:t>
            </a:fld>
            <a:endParaRPr lang="fr-FR"/>
          </a:p>
        </p:txBody>
      </p:sp>
    </p:spTree>
    <p:extLst>
      <p:ext uri="{BB962C8B-B14F-4D97-AF65-F5344CB8AC3E}">
        <p14:creationId xmlns:p14="http://schemas.microsoft.com/office/powerpoint/2010/main" val="1331779539"/>
      </p:ext>
    </p:extLst>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randombar(horizontal)">
                                      <p:cBhvr>
                                        <p:cTn id="15" dur="500"/>
                                        <p:tgtEl>
                                          <p:spTgt spid="6"/>
                                        </p:tgtEl>
                                      </p:cBhvr>
                                    </p:animEffect>
                                  </p:childTnLst>
                                </p:cTn>
                              </p:par>
                              <p:par>
                                <p:cTn id="16" presetID="14" presetClass="entr" presetSubtype="1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randombar(horizontal)">
                                      <p:cBhvr>
                                        <p:cTn id="18" dur="500"/>
                                        <p:tgtEl>
                                          <p:spTgt spid="1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4" grpId="0" animBg="1"/>
      <p:bldP spid="15" grpId="0" animBg="1"/>
      <p:bldP spid="7" grpId="0" animBg="1"/>
      <p:bldP spid="16"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Filtrer les melons par type et poids</a:t>
            </a:r>
          </a:p>
        </p:txBody>
      </p:sp>
      <p:sp>
        <p:nvSpPr>
          <p:cNvPr id="9" name="Espace réservé du contenu 8"/>
          <p:cNvSpPr>
            <a:spLocks noGrp="1"/>
          </p:cNvSpPr>
          <p:nvPr>
            <p:ph idx="1"/>
          </p:nvPr>
        </p:nvSpPr>
        <p:spPr>
          <a:xfrm>
            <a:off x="261937" y="1616144"/>
            <a:ext cx="11668126" cy="1603375"/>
          </a:xfrm>
        </p:spPr>
        <p:txBody>
          <a:bodyPr>
            <a:normAutofit/>
          </a:bodyPr>
          <a:lstStyle/>
          <a:p>
            <a:pPr marL="0" indent="0">
              <a:buNone/>
            </a:pPr>
            <a:r>
              <a:rPr lang="fr-FR" sz="2400" dirty="0"/>
              <a:t>Content de votre travail, Marcel vous demande effectivement de pouvoir aussi récupérer les melons selon leur type </a:t>
            </a:r>
            <a:r>
              <a:rPr lang="fr-FR" sz="2400" u="sng" dirty="0"/>
              <a:t>et</a:t>
            </a:r>
            <a:r>
              <a:rPr lang="fr-FR" sz="2400" dirty="0"/>
              <a:t> leur poids, et ceci le plus vite possible. </a:t>
            </a:r>
          </a:p>
          <a:p>
            <a:pPr marL="0" indent="0">
              <a:buNone/>
            </a:pPr>
            <a:r>
              <a:rPr lang="fr-FR" sz="2400" dirty="0"/>
              <a:t>Vous ajoutez la méthode la méthode statique </a:t>
            </a:r>
            <a:r>
              <a:rPr lang="fr-FR" sz="2200" dirty="0" err="1">
                <a:solidFill>
                  <a:schemeClr val="accent4"/>
                </a:solidFill>
                <a:latin typeface="Consolas" panose="020B0609020204030204" pitchFamily="49" charset="0"/>
                <a:cs typeface="Consolas" panose="020B0609020204030204" pitchFamily="49" charset="0"/>
              </a:rPr>
              <a:t>filtrerParTypeEtPoids</a:t>
            </a:r>
            <a:r>
              <a:rPr lang="fr-FR" sz="2400" dirty="0"/>
              <a:t> à la classe </a:t>
            </a:r>
            <a:r>
              <a:rPr lang="fr-FR" sz="2200" dirty="0">
                <a:solidFill>
                  <a:schemeClr val="accent4"/>
                </a:solidFill>
                <a:latin typeface="Consolas" panose="020B0609020204030204" pitchFamily="49" charset="0"/>
                <a:cs typeface="Consolas" panose="020B0609020204030204" pitchFamily="49" charset="0"/>
              </a:rPr>
              <a:t>Filtre</a:t>
            </a:r>
            <a:r>
              <a:rPr lang="fr-FR" sz="2400" dirty="0"/>
              <a:t>.</a:t>
            </a:r>
          </a:p>
        </p:txBody>
      </p:sp>
      <p:sp>
        <p:nvSpPr>
          <p:cNvPr id="5" name="ZoneTexte 4">
            <a:extLst>
              <a:ext uri="{FF2B5EF4-FFF2-40B4-BE49-F238E27FC236}">
                <a16:creationId xmlns:a16="http://schemas.microsoft.com/office/drawing/2014/main" id="{C62F685A-B56A-5633-70ED-ACD6CA73FC8F}"/>
              </a:ext>
            </a:extLst>
          </p:cNvPr>
          <p:cNvSpPr txBox="1"/>
          <p:nvPr/>
        </p:nvSpPr>
        <p:spPr>
          <a:xfrm>
            <a:off x="431800" y="3075582"/>
            <a:ext cx="11328400" cy="2585323"/>
          </a:xfrm>
          <a:prstGeom prst="rect">
            <a:avLst/>
          </a:prstGeom>
          <a:solidFill>
            <a:srgbClr val="2B2B2B"/>
          </a:solidFill>
        </p:spPr>
        <p:txBody>
          <a:bodyPr wrap="square">
            <a:spAutoFit/>
          </a:bodyPr>
          <a:lstStyle/>
          <a:p>
            <a:r>
              <a:rPr lang="fr-BE" dirty="0">
                <a:solidFill>
                  <a:srgbClr val="CF8E6D"/>
                </a:solidFill>
                <a:effectLst/>
                <a:latin typeface="Consolas" panose="020B0609020204030204" pitchFamily="49" charset="0"/>
                <a:cs typeface="Consolas" panose="020B0609020204030204" pitchFamily="49" charset="0"/>
              </a:rPr>
              <a:t>public </a:t>
            </a:r>
            <a:r>
              <a:rPr lang="fr-BE" dirty="0" err="1">
                <a:solidFill>
                  <a:srgbClr val="CF8E6D"/>
                </a:solidFill>
                <a:effectLst/>
                <a:latin typeface="Consolas" panose="020B0609020204030204" pitchFamily="49" charset="0"/>
                <a:cs typeface="Consolas" panose="020B0609020204030204" pitchFamily="49" charset="0"/>
              </a:rPr>
              <a:t>static</a:t>
            </a:r>
            <a:r>
              <a:rPr lang="fr-BE" dirty="0">
                <a:solidFill>
                  <a:srgbClr val="CF8E6D"/>
                </a:solidFill>
                <a:effectLst/>
                <a:latin typeface="Consolas" panose="020B0609020204030204" pitchFamily="49" charset="0"/>
                <a:cs typeface="Consolas" panose="020B0609020204030204" pitchFamily="49" charset="0"/>
              </a:rPr>
              <a:t> </a:t>
            </a:r>
            <a:r>
              <a:rPr lang="fr-BE" dirty="0">
                <a:solidFill>
                  <a:srgbClr val="BCBEC4"/>
                </a:solidFill>
                <a:effectLst/>
                <a:latin typeface="Consolas" panose="020B0609020204030204" pitchFamily="49" charset="0"/>
                <a:cs typeface="Consolas" panose="020B0609020204030204" pitchFamily="49" charset="0"/>
              </a:rPr>
              <a:t>List&lt;Melon&gt; </a:t>
            </a:r>
            <a:r>
              <a:rPr lang="fr-BE" dirty="0" err="1">
                <a:solidFill>
                  <a:srgbClr val="56A8F5"/>
                </a:solidFill>
                <a:effectLst/>
                <a:latin typeface="Consolas" panose="020B0609020204030204" pitchFamily="49" charset="0"/>
                <a:cs typeface="Consolas" panose="020B0609020204030204" pitchFamily="49" charset="0"/>
              </a:rPr>
              <a:t>filtrerParPoids</a:t>
            </a:r>
            <a:r>
              <a:rPr lang="fr-BE" dirty="0">
                <a:solidFill>
                  <a:srgbClr val="BCBEC4"/>
                </a:solidFill>
                <a:effectLst/>
                <a:latin typeface="Consolas" panose="020B0609020204030204" pitchFamily="49" charset="0"/>
                <a:cs typeface="Consolas" panose="020B0609020204030204" pitchFamily="49" charset="0"/>
              </a:rPr>
              <a:t>(List&lt;Melon&gt; melons, </a:t>
            </a:r>
            <a:r>
              <a:rPr lang="fr-BE" dirty="0" err="1">
                <a:solidFill>
                  <a:srgbClr val="BCBEC4"/>
                </a:solidFill>
                <a:effectLst/>
                <a:latin typeface="Consolas" panose="020B0609020204030204" pitchFamily="49" charset="0"/>
                <a:cs typeface="Consolas" panose="020B0609020204030204" pitchFamily="49" charset="0"/>
              </a:rPr>
              <a:t>int</a:t>
            </a:r>
            <a:r>
              <a:rPr lang="fr-BE" dirty="0">
                <a:solidFill>
                  <a:srgbClr val="BCBEC4"/>
                </a:solidFill>
                <a:latin typeface="Consolas" panose="020B0609020204030204" pitchFamily="49" charset="0"/>
                <a:cs typeface="Consolas" panose="020B0609020204030204" pitchFamily="49" charset="0"/>
              </a:rPr>
              <a:t> poids, String type) </a:t>
            </a:r>
            <a:r>
              <a:rPr lang="fr-BE" dirty="0">
                <a:solidFill>
                  <a:srgbClr val="BCBEC4"/>
                </a:solidFill>
                <a:effectLst/>
                <a:latin typeface="Consolas" panose="020B0609020204030204" pitchFamily="49" charset="0"/>
                <a:cs typeface="Consolas" panose="020B0609020204030204" pitchFamily="49" charset="0"/>
              </a:rPr>
              <a:t>{</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List&lt;Melon&gt; </a:t>
            </a:r>
            <a:r>
              <a:rPr lang="fr-BE" dirty="0" err="1">
                <a:solidFill>
                  <a:srgbClr val="BCBEC4"/>
                </a:solidFill>
                <a:effectLst/>
                <a:latin typeface="Consolas" panose="020B0609020204030204" pitchFamily="49" charset="0"/>
                <a:cs typeface="Consolas" panose="020B0609020204030204" pitchFamily="49" charset="0"/>
              </a:rPr>
              <a:t>resultat</a:t>
            </a:r>
            <a:r>
              <a:rPr lang="fr-BE" dirty="0">
                <a:solidFill>
                  <a:srgbClr val="BCBEC4"/>
                </a:solidFill>
                <a:effectLst/>
                <a:latin typeface="Consolas" panose="020B0609020204030204" pitchFamily="49" charset="0"/>
                <a:cs typeface="Consolas" panose="020B0609020204030204" pitchFamily="49" charset="0"/>
              </a:rPr>
              <a:t> = </a:t>
            </a:r>
            <a:r>
              <a:rPr lang="fr-BE" dirty="0">
                <a:solidFill>
                  <a:srgbClr val="CF8E6D"/>
                </a:solidFill>
                <a:effectLst/>
                <a:latin typeface="Consolas" panose="020B0609020204030204" pitchFamily="49" charset="0"/>
                <a:cs typeface="Consolas" panose="020B0609020204030204" pitchFamily="49" charset="0"/>
              </a:rPr>
              <a:t>new </a:t>
            </a:r>
            <a:r>
              <a:rPr lang="fr-BE" dirty="0" err="1">
                <a:solidFill>
                  <a:srgbClr val="BCBEC4"/>
                </a:solidFill>
                <a:effectLst/>
                <a:latin typeface="Consolas" panose="020B0609020204030204" pitchFamily="49" charset="0"/>
                <a:cs typeface="Consolas" panose="020B0609020204030204" pitchFamily="49" charset="0"/>
              </a:rPr>
              <a:t>ArrayList</a:t>
            </a:r>
            <a:r>
              <a:rPr lang="fr-BE" dirty="0">
                <a:solidFill>
                  <a:srgbClr val="BCBEC4"/>
                </a:solidFill>
                <a:effectLst/>
                <a:latin typeface="Consolas" panose="020B0609020204030204" pitchFamily="49" charset="0"/>
                <a:cs typeface="Consolas" panose="020B0609020204030204" pitchFamily="49" charset="0"/>
              </a:rPr>
              <a:t>&lt;&gt;();</a:t>
            </a:r>
            <a:br>
              <a:rPr lang="fr-BE" dirty="0">
                <a:solidFill>
                  <a:srgbClr val="BCBEC4"/>
                </a:solidFill>
                <a:effectLst/>
                <a:latin typeface="Consolas" panose="020B0609020204030204" pitchFamily="49" charset="0"/>
                <a:cs typeface="Consolas" panose="020B0609020204030204" pitchFamily="49" charset="0"/>
              </a:rPr>
            </a:b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dirty="0">
                <a:solidFill>
                  <a:srgbClr val="CF8E6D"/>
                </a:solidFill>
                <a:effectLst/>
                <a:latin typeface="Consolas" panose="020B0609020204030204" pitchFamily="49" charset="0"/>
                <a:cs typeface="Consolas" panose="020B0609020204030204" pitchFamily="49" charset="0"/>
              </a:rPr>
              <a:t>for </a:t>
            </a:r>
            <a:r>
              <a:rPr lang="fr-BE" dirty="0">
                <a:solidFill>
                  <a:srgbClr val="BCBEC4"/>
                </a:solidFill>
                <a:effectLst/>
                <a:latin typeface="Consolas" panose="020B0609020204030204" pitchFamily="49" charset="0"/>
                <a:cs typeface="Consolas" panose="020B0609020204030204" pitchFamily="49" charset="0"/>
              </a:rPr>
              <a:t>(Melon melon : melons)</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dirty="0">
                <a:solidFill>
                  <a:srgbClr val="CF8E6D"/>
                </a:solidFill>
                <a:effectLst/>
                <a:latin typeface="Consolas" panose="020B0609020204030204" pitchFamily="49" charset="0"/>
                <a:cs typeface="Consolas" panose="020B0609020204030204" pitchFamily="49" charset="0"/>
              </a:rPr>
              <a:t>if </a:t>
            </a:r>
            <a:r>
              <a:rPr lang="fr-BE" dirty="0">
                <a:solidFill>
                  <a:srgbClr val="BCBEC4"/>
                </a:solidFill>
                <a:effectLst/>
                <a:latin typeface="Consolas" panose="020B0609020204030204" pitchFamily="49" charset="0"/>
                <a:cs typeface="Consolas" panose="020B0609020204030204" pitchFamily="49" charset="0"/>
              </a:rPr>
              <a:t>((melon != </a:t>
            </a:r>
            <a:r>
              <a:rPr lang="fr-BE" dirty="0" err="1">
                <a:solidFill>
                  <a:srgbClr val="CF8E6D"/>
                </a:solidFill>
                <a:effectLst/>
                <a:latin typeface="Consolas" panose="020B0609020204030204" pitchFamily="49" charset="0"/>
                <a:cs typeface="Consolas" panose="020B0609020204030204" pitchFamily="49" charset="0"/>
              </a:rPr>
              <a:t>null</a:t>
            </a:r>
            <a:r>
              <a:rPr lang="fr-BE" dirty="0">
                <a:solidFill>
                  <a:srgbClr val="BCBEC4"/>
                </a:solidFill>
                <a:effectLst/>
                <a:latin typeface="Consolas" panose="020B0609020204030204" pitchFamily="49" charset="0"/>
                <a:cs typeface="Consolas" panose="020B0609020204030204" pitchFamily="49" charset="0"/>
              </a:rPr>
              <a:t>) &amp;&amp; poids == </a:t>
            </a:r>
            <a:r>
              <a:rPr lang="fr-BE" dirty="0" err="1">
                <a:solidFill>
                  <a:srgbClr val="BCBEC4"/>
                </a:solidFill>
                <a:effectLst/>
                <a:latin typeface="Consolas" panose="020B0609020204030204" pitchFamily="49" charset="0"/>
                <a:cs typeface="Consolas" panose="020B0609020204030204" pitchFamily="49" charset="0"/>
              </a:rPr>
              <a:t>melon.getPoids</a:t>
            </a:r>
            <a:r>
              <a:rPr lang="fr-BE" dirty="0">
                <a:solidFill>
                  <a:srgbClr val="BCBEC4"/>
                </a:solidFill>
                <a:latin typeface="Consolas" panose="020B0609020204030204" pitchFamily="49" charset="0"/>
                <a:cs typeface="Consolas" panose="020B0609020204030204" pitchFamily="49" charset="0"/>
              </a:rPr>
              <a:t>()) </a:t>
            </a:r>
            <a:br>
              <a:rPr lang="fr-BE" dirty="0">
                <a:solidFill>
                  <a:srgbClr val="BCBEC4"/>
                </a:solidFill>
                <a:latin typeface="Consolas" panose="020B0609020204030204" pitchFamily="49" charset="0"/>
                <a:cs typeface="Consolas" panose="020B0609020204030204" pitchFamily="49" charset="0"/>
              </a:rPr>
            </a:br>
            <a:r>
              <a:rPr lang="fr-BE" dirty="0">
                <a:solidFill>
                  <a:srgbClr val="BCBEC4"/>
                </a:solidFill>
                <a:latin typeface="Consolas" panose="020B0609020204030204" pitchFamily="49" charset="0"/>
                <a:cs typeface="Consolas" panose="020B0609020204030204" pitchFamily="49" charset="0"/>
              </a:rPr>
              <a:t>                            &amp;&amp; </a:t>
            </a:r>
            <a:r>
              <a:rPr lang="fr-BE" dirty="0" err="1">
                <a:solidFill>
                  <a:srgbClr val="BCBEC4"/>
                </a:solidFill>
                <a:latin typeface="Consolas" panose="020B0609020204030204" pitchFamily="49" charset="0"/>
                <a:cs typeface="Consolas" panose="020B0609020204030204" pitchFamily="49" charset="0"/>
              </a:rPr>
              <a:t>type.equalsIgnoreCase</a:t>
            </a:r>
            <a:r>
              <a:rPr lang="fr-BE" dirty="0">
                <a:solidFill>
                  <a:srgbClr val="BCBEC4"/>
                </a:solidFill>
                <a:latin typeface="Consolas" panose="020B0609020204030204" pitchFamily="49" charset="0"/>
                <a:cs typeface="Consolas" panose="020B0609020204030204" pitchFamily="49" charset="0"/>
              </a:rPr>
              <a:t>(</a:t>
            </a:r>
            <a:r>
              <a:rPr lang="fr-BE" dirty="0" err="1">
                <a:solidFill>
                  <a:srgbClr val="BCBEC4"/>
                </a:solidFill>
                <a:latin typeface="Consolas" panose="020B0609020204030204" pitchFamily="49" charset="0"/>
                <a:cs typeface="Consolas" panose="020B0609020204030204" pitchFamily="49" charset="0"/>
              </a:rPr>
              <a:t>melon.getType</a:t>
            </a:r>
            <a:r>
              <a:rPr lang="fr-BE" dirty="0">
                <a:solidFill>
                  <a:srgbClr val="BCBEC4"/>
                </a:solidFill>
                <a:latin typeface="Consolas" panose="020B0609020204030204" pitchFamily="49" charset="0"/>
                <a:cs typeface="Consolas" panose="020B0609020204030204" pitchFamily="49" charset="0"/>
              </a:rPr>
              <a:t>()))</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dirty="0" err="1">
                <a:solidFill>
                  <a:srgbClr val="BCBEC4"/>
                </a:solidFill>
                <a:effectLst/>
                <a:latin typeface="Consolas" panose="020B0609020204030204" pitchFamily="49" charset="0"/>
                <a:cs typeface="Consolas" panose="020B0609020204030204" pitchFamily="49" charset="0"/>
              </a:rPr>
              <a:t>resultat.add</a:t>
            </a:r>
            <a:r>
              <a:rPr lang="fr-BE" dirty="0">
                <a:solidFill>
                  <a:srgbClr val="BCBEC4"/>
                </a:solidFill>
                <a:effectLst/>
                <a:latin typeface="Consolas" panose="020B0609020204030204" pitchFamily="49" charset="0"/>
                <a:cs typeface="Consolas" panose="020B0609020204030204" pitchFamily="49" charset="0"/>
              </a:rPr>
              <a:t>(melon);</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dirty="0">
                <a:solidFill>
                  <a:srgbClr val="CF8E6D"/>
                </a:solidFill>
                <a:effectLst/>
                <a:latin typeface="Consolas" panose="020B0609020204030204" pitchFamily="49" charset="0"/>
                <a:cs typeface="Consolas" panose="020B0609020204030204" pitchFamily="49" charset="0"/>
              </a:rPr>
              <a:t>return </a:t>
            </a:r>
            <a:r>
              <a:rPr lang="fr-BE" dirty="0" err="1">
                <a:solidFill>
                  <a:srgbClr val="BCBEC4"/>
                </a:solidFill>
                <a:effectLst/>
                <a:latin typeface="Consolas" panose="020B0609020204030204" pitchFamily="49" charset="0"/>
                <a:cs typeface="Consolas" panose="020B0609020204030204" pitchFamily="49" charset="0"/>
              </a:rPr>
              <a:t>resultat</a:t>
            </a:r>
            <a:r>
              <a:rPr lang="fr-BE" dirty="0">
                <a:solidFill>
                  <a:srgbClr val="BCBEC4"/>
                </a:solidFill>
                <a:effectLst/>
                <a:latin typeface="Consolas" panose="020B0609020204030204" pitchFamily="49" charset="0"/>
                <a:cs typeface="Consolas" panose="020B0609020204030204" pitchFamily="49" charset="0"/>
              </a:rPr>
              <a:t>;</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a:t>
            </a:r>
          </a:p>
        </p:txBody>
      </p:sp>
      <p:sp>
        <p:nvSpPr>
          <p:cNvPr id="7" name="Espace réservé du contenu 8">
            <a:extLst>
              <a:ext uri="{FF2B5EF4-FFF2-40B4-BE49-F238E27FC236}">
                <a16:creationId xmlns:a16="http://schemas.microsoft.com/office/drawing/2014/main" id="{17D65BDD-7459-AD3E-C7F7-A64D852D071F}"/>
              </a:ext>
            </a:extLst>
          </p:cNvPr>
          <p:cNvSpPr txBox="1">
            <a:spLocks/>
          </p:cNvSpPr>
          <p:nvPr/>
        </p:nvSpPr>
        <p:spPr>
          <a:xfrm>
            <a:off x="4267200" y="5260622"/>
            <a:ext cx="7369746" cy="1232251"/>
          </a:xfrm>
          <a:prstGeom prst="wedgeRoundRectCallout">
            <a:avLst>
              <a:gd name="adj1" fmla="val 20679"/>
              <a:gd name="adj2" fmla="val -2835"/>
              <a:gd name="adj3" fmla="val 16667"/>
            </a:avLst>
          </a:prstGeom>
          <a:solidFill>
            <a:schemeClr val="accent6"/>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2400" dirty="0"/>
              <a:t>Ce code n’est pas acceptable: il y a plein de code dupliqué, et on va continuer à ajouter des filtres, ce qui rendra le code de plus en plus difficile à maintenir…</a:t>
            </a:r>
          </a:p>
        </p:txBody>
      </p:sp>
      <p:sp>
        <p:nvSpPr>
          <p:cNvPr id="6" name="Rectangle 5">
            <a:extLst>
              <a:ext uri="{FF2B5EF4-FFF2-40B4-BE49-F238E27FC236}">
                <a16:creationId xmlns:a16="http://schemas.microsoft.com/office/drawing/2014/main" id="{02C749AD-653F-EB41-AE1E-D7E11633B9E7}"/>
              </a:ext>
            </a:extLst>
          </p:cNvPr>
          <p:cNvSpPr/>
          <p:nvPr/>
        </p:nvSpPr>
        <p:spPr>
          <a:xfrm>
            <a:off x="9220200" y="4817142"/>
            <a:ext cx="2349500" cy="48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fr-FR" i="1" dirty="0" err="1">
                <a:latin typeface="Consolas" panose="020B0609020204030204" pitchFamily="49" charset="0"/>
                <a:cs typeface="Consolas" panose="020B0609020204030204" pitchFamily="49" charset="0"/>
              </a:rPr>
              <a:t>Filtre.java</a:t>
            </a:r>
            <a:endParaRPr lang="fr-FR" i="1" dirty="0">
              <a:latin typeface="Consolas" panose="020B0609020204030204" pitchFamily="49" charset="0"/>
              <a:cs typeface="Consolas" panose="020B0609020204030204" pitchFamily="49" charset="0"/>
            </a:endParaRPr>
          </a:p>
        </p:txBody>
      </p:sp>
      <p:sp>
        <p:nvSpPr>
          <p:cNvPr id="8" name="Espace réservé du numéro de diapositive 7">
            <a:extLst>
              <a:ext uri="{FF2B5EF4-FFF2-40B4-BE49-F238E27FC236}">
                <a16:creationId xmlns:a16="http://schemas.microsoft.com/office/drawing/2014/main" id="{7BD858B9-7CDF-D324-C065-2F9998A900CA}"/>
              </a:ext>
            </a:extLst>
          </p:cNvPr>
          <p:cNvSpPr>
            <a:spLocks noGrp="1"/>
          </p:cNvSpPr>
          <p:nvPr>
            <p:ph type="sldNum" sz="quarter" idx="4"/>
          </p:nvPr>
        </p:nvSpPr>
        <p:spPr/>
        <p:txBody>
          <a:bodyPr/>
          <a:lstStyle/>
          <a:p>
            <a:fld id="{33C783E2-4793-4F48-A271-51A73CC37D74}" type="slidenum">
              <a:rPr lang="fr-FR" smtClean="0"/>
              <a:t>61</a:t>
            </a:fld>
            <a:endParaRPr lang="fr-FR"/>
          </a:p>
        </p:txBody>
      </p:sp>
    </p:spTree>
    <p:extLst>
      <p:ext uri="{BB962C8B-B14F-4D97-AF65-F5344CB8AC3E}">
        <p14:creationId xmlns:p14="http://schemas.microsoft.com/office/powerpoint/2010/main" val="2157707821"/>
      </p:ext>
    </p:extLst>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6"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DE6ED3-58CC-1A16-A7FF-D2DC15FCDCDA}"/>
              </a:ext>
            </a:extLst>
          </p:cNvPr>
          <p:cNvSpPr>
            <a:spLocks noGrp="1"/>
          </p:cNvSpPr>
          <p:nvPr>
            <p:ph type="title"/>
          </p:nvPr>
        </p:nvSpPr>
        <p:spPr/>
        <p:txBody>
          <a:bodyPr/>
          <a:lstStyle/>
          <a:p>
            <a:r>
              <a:rPr lang="fr-FR" dirty="0"/>
              <a:t>Il est temps de réfléchir…</a:t>
            </a:r>
          </a:p>
        </p:txBody>
      </p:sp>
      <p:grpSp>
        <p:nvGrpSpPr>
          <p:cNvPr id="12" name="Groupe 11">
            <a:extLst>
              <a:ext uri="{FF2B5EF4-FFF2-40B4-BE49-F238E27FC236}">
                <a16:creationId xmlns:a16="http://schemas.microsoft.com/office/drawing/2014/main" id="{71584935-0999-4321-9AE4-D4BD51449F88}"/>
              </a:ext>
            </a:extLst>
          </p:cNvPr>
          <p:cNvGrpSpPr/>
          <p:nvPr/>
        </p:nvGrpSpPr>
        <p:grpSpPr>
          <a:xfrm>
            <a:off x="695741" y="1825625"/>
            <a:ext cx="5400260" cy="1195872"/>
            <a:chOff x="695740" y="1825624"/>
            <a:chExt cx="6152321" cy="1255505"/>
          </a:xfrm>
        </p:grpSpPr>
        <p:sp>
          <p:nvSpPr>
            <p:cNvPr id="5" name="Rectangle : coins arrondis 4">
              <a:extLst>
                <a:ext uri="{FF2B5EF4-FFF2-40B4-BE49-F238E27FC236}">
                  <a16:creationId xmlns:a16="http://schemas.microsoft.com/office/drawing/2014/main" id="{2790B617-00E6-9EC4-D794-6F95498341F6}"/>
                </a:ext>
              </a:extLst>
            </p:cNvPr>
            <p:cNvSpPr/>
            <p:nvPr/>
          </p:nvSpPr>
          <p:spPr>
            <a:xfrm>
              <a:off x="695740" y="1825624"/>
              <a:ext cx="1958009" cy="1255505"/>
            </a:xfrm>
            <a:prstGeom prst="roundRect">
              <a:avLst>
                <a:gd name="adj" fmla="val 11232"/>
              </a:avLst>
            </a:prstGeom>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fr-FR" dirty="0"/>
                <a:t>Code Commun</a:t>
              </a:r>
            </a:p>
          </p:txBody>
        </p:sp>
        <p:sp>
          <p:nvSpPr>
            <p:cNvPr id="7" name="Rectangle : coins arrondis 6">
              <a:extLst>
                <a:ext uri="{FF2B5EF4-FFF2-40B4-BE49-F238E27FC236}">
                  <a16:creationId xmlns:a16="http://schemas.microsoft.com/office/drawing/2014/main" id="{DA4ADCF4-9518-195C-3729-D5C4FB6FC0C5}"/>
                </a:ext>
              </a:extLst>
            </p:cNvPr>
            <p:cNvSpPr/>
            <p:nvPr/>
          </p:nvSpPr>
          <p:spPr>
            <a:xfrm>
              <a:off x="891209" y="2342458"/>
              <a:ext cx="1567070" cy="529951"/>
            </a:xfrm>
            <a:prstGeom prst="roundRect">
              <a:avLst>
                <a:gd name="adj" fmla="val 11232"/>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fr-FR" dirty="0"/>
                <a:t>Critère 1</a:t>
              </a:r>
            </a:p>
          </p:txBody>
        </p:sp>
        <p:sp>
          <p:nvSpPr>
            <p:cNvPr id="8" name="Rectangle : coins arrondis 7">
              <a:extLst>
                <a:ext uri="{FF2B5EF4-FFF2-40B4-BE49-F238E27FC236}">
                  <a16:creationId xmlns:a16="http://schemas.microsoft.com/office/drawing/2014/main" id="{70EF31A1-4B3A-02DC-8364-099B93CF7FEE}"/>
                </a:ext>
              </a:extLst>
            </p:cNvPr>
            <p:cNvSpPr/>
            <p:nvPr/>
          </p:nvSpPr>
          <p:spPr>
            <a:xfrm>
              <a:off x="2792896" y="1825624"/>
              <a:ext cx="1958009" cy="1255505"/>
            </a:xfrm>
            <a:prstGeom prst="roundRect">
              <a:avLst>
                <a:gd name="adj" fmla="val 11232"/>
              </a:avLst>
            </a:prstGeom>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fr-FR" dirty="0"/>
                <a:t>Code Commun</a:t>
              </a:r>
            </a:p>
          </p:txBody>
        </p:sp>
        <p:sp>
          <p:nvSpPr>
            <p:cNvPr id="9" name="Rectangle : coins arrondis 8">
              <a:extLst>
                <a:ext uri="{FF2B5EF4-FFF2-40B4-BE49-F238E27FC236}">
                  <a16:creationId xmlns:a16="http://schemas.microsoft.com/office/drawing/2014/main" id="{A5520CE8-BE53-7BC9-88A1-065FAFDA06D2}"/>
                </a:ext>
              </a:extLst>
            </p:cNvPr>
            <p:cNvSpPr/>
            <p:nvPr/>
          </p:nvSpPr>
          <p:spPr>
            <a:xfrm>
              <a:off x="2988365" y="2342458"/>
              <a:ext cx="1567070" cy="529951"/>
            </a:xfrm>
            <a:prstGeom prst="roundRect">
              <a:avLst>
                <a:gd name="adj" fmla="val 11232"/>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fr-FR" dirty="0"/>
                <a:t>Critère 2</a:t>
              </a:r>
            </a:p>
          </p:txBody>
        </p:sp>
        <p:sp>
          <p:nvSpPr>
            <p:cNvPr id="10" name="Rectangle : coins arrondis 9">
              <a:extLst>
                <a:ext uri="{FF2B5EF4-FFF2-40B4-BE49-F238E27FC236}">
                  <a16:creationId xmlns:a16="http://schemas.microsoft.com/office/drawing/2014/main" id="{FF8269E0-D563-A8EC-7C12-88D4417530B7}"/>
                </a:ext>
              </a:extLst>
            </p:cNvPr>
            <p:cNvSpPr/>
            <p:nvPr/>
          </p:nvSpPr>
          <p:spPr>
            <a:xfrm>
              <a:off x="4890052" y="1825624"/>
              <a:ext cx="1958009" cy="1255505"/>
            </a:xfrm>
            <a:prstGeom prst="roundRect">
              <a:avLst>
                <a:gd name="adj" fmla="val 11232"/>
              </a:avLst>
            </a:prstGeom>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fr-FR" dirty="0"/>
                <a:t>Code Commun</a:t>
              </a:r>
            </a:p>
          </p:txBody>
        </p:sp>
        <p:sp>
          <p:nvSpPr>
            <p:cNvPr id="11" name="Rectangle : coins arrondis 10">
              <a:extLst>
                <a:ext uri="{FF2B5EF4-FFF2-40B4-BE49-F238E27FC236}">
                  <a16:creationId xmlns:a16="http://schemas.microsoft.com/office/drawing/2014/main" id="{FC05FF7F-9849-2A38-75A5-74395D3B9338}"/>
                </a:ext>
              </a:extLst>
            </p:cNvPr>
            <p:cNvSpPr/>
            <p:nvPr/>
          </p:nvSpPr>
          <p:spPr>
            <a:xfrm>
              <a:off x="5085521" y="2342458"/>
              <a:ext cx="1567070" cy="529951"/>
            </a:xfrm>
            <a:prstGeom prst="roundRect">
              <a:avLst>
                <a:gd name="adj" fmla="val 11232"/>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fr-FR" dirty="0"/>
                <a:t>Critère 3</a:t>
              </a:r>
            </a:p>
          </p:txBody>
        </p:sp>
      </p:grpSp>
      <p:sp>
        <p:nvSpPr>
          <p:cNvPr id="6" name="Espace réservé du contenu 5">
            <a:extLst>
              <a:ext uri="{FF2B5EF4-FFF2-40B4-BE49-F238E27FC236}">
                <a16:creationId xmlns:a16="http://schemas.microsoft.com/office/drawing/2014/main" id="{26A4A6A6-5B73-CBDE-7E07-9BC71010B16F}"/>
              </a:ext>
            </a:extLst>
          </p:cNvPr>
          <p:cNvSpPr>
            <a:spLocks noGrp="1"/>
          </p:cNvSpPr>
          <p:nvPr>
            <p:ph sz="half" idx="2"/>
          </p:nvPr>
        </p:nvSpPr>
        <p:spPr/>
        <p:txBody>
          <a:bodyPr/>
          <a:lstStyle/>
          <a:p>
            <a:pPr marL="0" indent="0">
              <a:buNone/>
            </a:pPr>
            <a:r>
              <a:rPr lang="fr-FR" dirty="0"/>
              <a:t>Si on ajoute des attributs à notre </a:t>
            </a:r>
            <a:r>
              <a:rPr lang="fr-FR" sz="2400" dirty="0">
                <a:solidFill>
                  <a:schemeClr val="accent4"/>
                </a:solidFill>
                <a:latin typeface="Consolas" panose="020B0609020204030204" pitchFamily="49" charset="0"/>
                <a:cs typeface="Consolas" panose="020B0609020204030204" pitchFamily="49" charset="0"/>
              </a:rPr>
              <a:t>Melon</a:t>
            </a:r>
            <a:r>
              <a:rPr lang="fr-FR" dirty="0"/>
              <a:t>, la classe </a:t>
            </a:r>
            <a:r>
              <a:rPr lang="fr-FR" sz="2400" dirty="0">
                <a:solidFill>
                  <a:schemeClr val="accent4"/>
                </a:solidFill>
                <a:latin typeface="Consolas" panose="020B0609020204030204" pitchFamily="49" charset="0"/>
                <a:cs typeface="Consolas" panose="020B0609020204030204" pitchFamily="49" charset="0"/>
              </a:rPr>
              <a:t>Filtre</a:t>
            </a:r>
            <a:r>
              <a:rPr lang="fr-FR" dirty="0"/>
              <a:t> va continuer à s’allonger de plus en plus…</a:t>
            </a:r>
          </a:p>
          <a:p>
            <a:pPr marL="0" indent="0">
              <a:buNone/>
            </a:pPr>
            <a:r>
              <a:rPr lang="fr-FR" dirty="0"/>
              <a:t>Nous devons réfléchir à une solution dans laquelle </a:t>
            </a:r>
          </a:p>
          <a:p>
            <a:r>
              <a:rPr lang="fr-FR" dirty="0"/>
              <a:t>le </a:t>
            </a:r>
            <a:r>
              <a:rPr lang="fr-FR" dirty="0">
                <a:solidFill>
                  <a:schemeClr val="accent4"/>
                </a:solidFill>
              </a:rPr>
              <a:t>code commun </a:t>
            </a:r>
            <a:r>
              <a:rPr lang="fr-FR" dirty="0"/>
              <a:t>n’est écrit qu’une fois, </a:t>
            </a:r>
          </a:p>
          <a:p>
            <a:r>
              <a:rPr lang="fr-FR" dirty="0"/>
              <a:t>et les différents </a:t>
            </a:r>
            <a:r>
              <a:rPr lang="fr-FR" dirty="0">
                <a:solidFill>
                  <a:schemeClr val="accent4"/>
                </a:solidFill>
              </a:rPr>
              <a:t>critères</a:t>
            </a:r>
            <a:r>
              <a:rPr lang="fr-FR" dirty="0"/>
              <a:t> sont passés en paramètre.</a:t>
            </a:r>
          </a:p>
        </p:txBody>
      </p:sp>
      <p:grpSp>
        <p:nvGrpSpPr>
          <p:cNvPr id="32" name="Groupe 31">
            <a:extLst>
              <a:ext uri="{FF2B5EF4-FFF2-40B4-BE49-F238E27FC236}">
                <a16:creationId xmlns:a16="http://schemas.microsoft.com/office/drawing/2014/main" id="{2A72F3D5-20B3-AF90-A10C-2F18423DADF1}"/>
              </a:ext>
            </a:extLst>
          </p:cNvPr>
          <p:cNvGrpSpPr/>
          <p:nvPr/>
        </p:nvGrpSpPr>
        <p:grpSpPr>
          <a:xfrm>
            <a:off x="867316" y="3836504"/>
            <a:ext cx="5057109" cy="2156759"/>
            <a:chOff x="867316" y="3836504"/>
            <a:chExt cx="5057109" cy="2156759"/>
          </a:xfrm>
        </p:grpSpPr>
        <p:sp>
          <p:nvSpPr>
            <p:cNvPr id="16" name="Rectangle : coins arrondis 15">
              <a:extLst>
                <a:ext uri="{FF2B5EF4-FFF2-40B4-BE49-F238E27FC236}">
                  <a16:creationId xmlns:a16="http://schemas.microsoft.com/office/drawing/2014/main" id="{0CDC9E91-A3FF-1E21-D325-15C44BB8339A}"/>
                </a:ext>
              </a:extLst>
            </p:cNvPr>
            <p:cNvSpPr/>
            <p:nvPr/>
          </p:nvSpPr>
          <p:spPr>
            <a:xfrm>
              <a:off x="867316" y="4434440"/>
              <a:ext cx="1375511" cy="504780"/>
            </a:xfrm>
            <a:prstGeom prst="roundRect">
              <a:avLst>
                <a:gd name="adj" fmla="val 11232"/>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fr-FR" dirty="0"/>
                <a:t>Critère 1</a:t>
              </a:r>
            </a:p>
          </p:txBody>
        </p:sp>
        <p:sp>
          <p:nvSpPr>
            <p:cNvPr id="17" name="Rectangle : coins arrondis 16">
              <a:extLst>
                <a:ext uri="{FF2B5EF4-FFF2-40B4-BE49-F238E27FC236}">
                  <a16:creationId xmlns:a16="http://schemas.microsoft.com/office/drawing/2014/main" id="{E9208593-D3E4-1A15-700C-CE0680F31ED9}"/>
                </a:ext>
              </a:extLst>
            </p:cNvPr>
            <p:cNvSpPr/>
            <p:nvPr/>
          </p:nvSpPr>
          <p:spPr>
            <a:xfrm>
              <a:off x="2536540" y="4797391"/>
              <a:ext cx="1718661" cy="1195872"/>
            </a:xfrm>
            <a:prstGeom prst="roundRect">
              <a:avLst>
                <a:gd name="adj" fmla="val 11232"/>
              </a:avLst>
            </a:prstGeom>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fr-FR" dirty="0"/>
                <a:t>Code Commun</a:t>
              </a:r>
            </a:p>
          </p:txBody>
        </p:sp>
        <p:sp>
          <p:nvSpPr>
            <p:cNvPr id="18" name="Rectangle : coins arrondis 17">
              <a:extLst>
                <a:ext uri="{FF2B5EF4-FFF2-40B4-BE49-F238E27FC236}">
                  <a16:creationId xmlns:a16="http://schemas.microsoft.com/office/drawing/2014/main" id="{6E2D3EC0-809A-2A99-8C2B-E05B7C234258}"/>
                </a:ext>
              </a:extLst>
            </p:cNvPr>
            <p:cNvSpPr/>
            <p:nvPr/>
          </p:nvSpPr>
          <p:spPr>
            <a:xfrm>
              <a:off x="2701765" y="3836504"/>
              <a:ext cx="1375511" cy="504780"/>
            </a:xfrm>
            <a:prstGeom prst="roundRect">
              <a:avLst>
                <a:gd name="adj" fmla="val 11232"/>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fr-FR" dirty="0"/>
                <a:t>Critère 2</a:t>
              </a:r>
            </a:p>
          </p:txBody>
        </p:sp>
        <p:sp>
          <p:nvSpPr>
            <p:cNvPr id="20" name="Rectangle : coins arrondis 19">
              <a:extLst>
                <a:ext uri="{FF2B5EF4-FFF2-40B4-BE49-F238E27FC236}">
                  <a16:creationId xmlns:a16="http://schemas.microsoft.com/office/drawing/2014/main" id="{FA0FBDF6-1F45-853F-5C45-B094513E5691}"/>
                </a:ext>
              </a:extLst>
            </p:cNvPr>
            <p:cNvSpPr/>
            <p:nvPr/>
          </p:nvSpPr>
          <p:spPr>
            <a:xfrm>
              <a:off x="4548914" y="4434440"/>
              <a:ext cx="1375511" cy="504780"/>
            </a:xfrm>
            <a:prstGeom prst="roundRect">
              <a:avLst>
                <a:gd name="adj" fmla="val 11232"/>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fr-FR" dirty="0"/>
                <a:t>Critère 3</a:t>
              </a:r>
            </a:p>
          </p:txBody>
        </p:sp>
        <p:cxnSp>
          <p:nvCxnSpPr>
            <p:cNvPr id="23" name="Connecteur en arc 22">
              <a:extLst>
                <a:ext uri="{FF2B5EF4-FFF2-40B4-BE49-F238E27FC236}">
                  <a16:creationId xmlns:a16="http://schemas.microsoft.com/office/drawing/2014/main" id="{A90CA84E-8E9D-9712-787B-D1932F6999BF}"/>
                </a:ext>
              </a:extLst>
            </p:cNvPr>
            <p:cNvCxnSpPr>
              <a:stCxn id="20" idx="2"/>
              <a:endCxn id="17" idx="3"/>
            </p:cNvCxnSpPr>
            <p:nvPr/>
          </p:nvCxnSpPr>
          <p:spPr>
            <a:xfrm rot="5400000">
              <a:off x="4517883" y="4676539"/>
              <a:ext cx="456107" cy="981469"/>
            </a:xfrm>
            <a:prstGeom prst="curvedConnector2">
              <a:avLst/>
            </a:prstGeom>
            <a:ln w="28575">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5" name="Connecteur en arc 24">
              <a:extLst>
                <a:ext uri="{FF2B5EF4-FFF2-40B4-BE49-F238E27FC236}">
                  <a16:creationId xmlns:a16="http://schemas.microsoft.com/office/drawing/2014/main" id="{31D62DF5-2BB1-C3AA-E663-C81C8836733E}"/>
                </a:ext>
              </a:extLst>
            </p:cNvPr>
            <p:cNvCxnSpPr>
              <a:stCxn id="16" idx="2"/>
              <a:endCxn id="17" idx="1"/>
            </p:cNvCxnSpPr>
            <p:nvPr/>
          </p:nvCxnSpPr>
          <p:spPr>
            <a:xfrm rot="16200000" flipH="1">
              <a:off x="1817753" y="4676539"/>
              <a:ext cx="456107" cy="981468"/>
            </a:xfrm>
            <a:prstGeom prst="curvedConnector2">
              <a:avLst/>
            </a:prstGeom>
            <a:ln w="28575">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7" name="Connecteur en arc 26">
              <a:extLst>
                <a:ext uri="{FF2B5EF4-FFF2-40B4-BE49-F238E27FC236}">
                  <a16:creationId xmlns:a16="http://schemas.microsoft.com/office/drawing/2014/main" id="{DC77B7AD-BB2B-78AB-65C0-9724F73A5067}"/>
                </a:ext>
              </a:extLst>
            </p:cNvPr>
            <p:cNvCxnSpPr>
              <a:stCxn id="18" idx="2"/>
              <a:endCxn id="17" idx="0"/>
            </p:cNvCxnSpPr>
            <p:nvPr/>
          </p:nvCxnSpPr>
          <p:spPr>
            <a:xfrm rot="16200000" flipH="1">
              <a:off x="3164643" y="4566162"/>
              <a:ext cx="456107" cy="6350"/>
            </a:xfrm>
            <a:prstGeom prst="curvedConnector3">
              <a:avLst/>
            </a:prstGeom>
            <a:ln w="28575">
              <a:solidFill>
                <a:schemeClr val="accent4"/>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33" name="Espace réservé du numéro de diapositive 32">
            <a:extLst>
              <a:ext uri="{FF2B5EF4-FFF2-40B4-BE49-F238E27FC236}">
                <a16:creationId xmlns:a16="http://schemas.microsoft.com/office/drawing/2014/main" id="{47FEA5B2-164B-9C26-F6A9-78A12CCDE6D1}"/>
              </a:ext>
            </a:extLst>
          </p:cNvPr>
          <p:cNvSpPr>
            <a:spLocks noGrp="1"/>
          </p:cNvSpPr>
          <p:nvPr>
            <p:ph type="sldNum" sz="quarter" idx="4"/>
          </p:nvPr>
        </p:nvSpPr>
        <p:spPr/>
        <p:txBody>
          <a:bodyPr/>
          <a:lstStyle/>
          <a:p>
            <a:fld id="{33C783E2-4793-4F48-A271-51A73CC37D74}" type="slidenum">
              <a:rPr lang="fr-FR" smtClean="0"/>
              <a:t>62</a:t>
            </a:fld>
            <a:endParaRPr lang="fr-FR"/>
          </a:p>
        </p:txBody>
      </p:sp>
    </p:spTree>
    <p:extLst>
      <p:ext uri="{BB962C8B-B14F-4D97-AF65-F5344CB8AC3E}">
        <p14:creationId xmlns:p14="http://schemas.microsoft.com/office/powerpoint/2010/main" val="1574816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up)">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32"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circle(out)">
                                      <p:cBhvr>
                                        <p:cTn id="1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181E817E-BBE5-65A9-AA02-7150D667ADBC}"/>
              </a:ext>
            </a:extLst>
          </p:cNvPr>
          <p:cNvSpPr>
            <a:spLocks noGrp="1"/>
          </p:cNvSpPr>
          <p:nvPr>
            <p:ph type="title"/>
          </p:nvPr>
        </p:nvSpPr>
        <p:spPr/>
        <p:txBody>
          <a:bodyPr/>
          <a:lstStyle/>
          <a:p>
            <a:r>
              <a:rPr lang="fr-FR" dirty="0"/>
              <a:t>Comment passer le critère?</a:t>
            </a:r>
          </a:p>
        </p:txBody>
      </p:sp>
      <p:sp>
        <p:nvSpPr>
          <p:cNvPr id="7" name="Espace réservé du contenu 6">
            <a:extLst>
              <a:ext uri="{FF2B5EF4-FFF2-40B4-BE49-F238E27FC236}">
                <a16:creationId xmlns:a16="http://schemas.microsoft.com/office/drawing/2014/main" id="{D09175DA-7CD9-DA8F-844F-C560A8DA2401}"/>
              </a:ext>
            </a:extLst>
          </p:cNvPr>
          <p:cNvSpPr>
            <a:spLocks noGrp="1"/>
          </p:cNvSpPr>
          <p:nvPr>
            <p:ph idx="1"/>
          </p:nvPr>
        </p:nvSpPr>
        <p:spPr/>
        <p:txBody>
          <a:bodyPr/>
          <a:lstStyle/>
          <a:p>
            <a:pPr marL="0" indent="0">
              <a:buNone/>
            </a:pPr>
            <a:r>
              <a:rPr lang="fr-FR" dirty="0"/>
              <a:t>Qu’est-ce qui est commun aux critères?</a:t>
            </a:r>
          </a:p>
          <a:p>
            <a:r>
              <a:rPr lang="fr-FR" dirty="0"/>
              <a:t>Un critère de sélection (un test que devront passer les melons)</a:t>
            </a:r>
          </a:p>
          <a:p>
            <a:r>
              <a:rPr lang="fr-FR" dirty="0"/>
              <a:t>Un retour sous forme de </a:t>
            </a:r>
            <a:r>
              <a:rPr lang="fr-FR" sz="2400" dirty="0" err="1">
                <a:solidFill>
                  <a:schemeClr val="accent4"/>
                </a:solidFill>
                <a:latin typeface="Consolas" panose="020B0609020204030204" pitchFamily="49" charset="0"/>
                <a:cs typeface="Consolas" panose="020B0609020204030204" pitchFamily="49" charset="0"/>
              </a:rPr>
              <a:t>boolean</a:t>
            </a:r>
            <a:endParaRPr lang="fr-FR" dirty="0">
              <a:solidFill>
                <a:schemeClr val="accent4"/>
              </a:solidFill>
              <a:latin typeface="Consolas" panose="020B0609020204030204" pitchFamily="49" charset="0"/>
              <a:cs typeface="Consolas" panose="020B0609020204030204" pitchFamily="49" charset="0"/>
            </a:endParaRPr>
          </a:p>
          <a:p>
            <a:pPr marL="0" indent="0">
              <a:buNone/>
            </a:pPr>
            <a:r>
              <a:rPr lang="fr-FR" dirty="0"/>
              <a:t>Chaque critère devra donc respecter un </a:t>
            </a:r>
            <a:r>
              <a:rPr lang="fr-FR" dirty="0">
                <a:solidFill>
                  <a:schemeClr val="accent4"/>
                </a:solidFill>
              </a:rPr>
              <a:t>contrat</a:t>
            </a:r>
            <a:r>
              <a:rPr lang="fr-FR" dirty="0"/>
              <a:t> (critère + retour </a:t>
            </a:r>
            <a:r>
              <a:rPr lang="fr-FR" sz="2400" dirty="0" err="1">
                <a:solidFill>
                  <a:schemeClr val="accent4"/>
                </a:solidFill>
                <a:latin typeface="Consolas" panose="020B0609020204030204" pitchFamily="49" charset="0"/>
                <a:cs typeface="Consolas" panose="020B0609020204030204" pitchFamily="49" charset="0"/>
              </a:rPr>
              <a:t>boolean</a:t>
            </a:r>
            <a:r>
              <a:rPr lang="fr-FR" dirty="0"/>
              <a:t>) que l’on exprimera sous forme de…</a:t>
            </a:r>
          </a:p>
          <a:p>
            <a:pPr marL="0" indent="0">
              <a:buNone/>
            </a:pPr>
            <a:endParaRPr lang="fr-FR" dirty="0"/>
          </a:p>
        </p:txBody>
      </p:sp>
      <p:sp>
        <p:nvSpPr>
          <p:cNvPr id="9" name="ZoneTexte 8">
            <a:extLst>
              <a:ext uri="{FF2B5EF4-FFF2-40B4-BE49-F238E27FC236}">
                <a16:creationId xmlns:a16="http://schemas.microsoft.com/office/drawing/2014/main" id="{88CDAD3A-E77C-78EF-DBB6-1E7E4FC77136}"/>
              </a:ext>
            </a:extLst>
          </p:cNvPr>
          <p:cNvSpPr txBox="1"/>
          <p:nvPr/>
        </p:nvSpPr>
        <p:spPr>
          <a:xfrm>
            <a:off x="7448550" y="3714284"/>
            <a:ext cx="1898650" cy="523220"/>
          </a:xfrm>
          <a:prstGeom prst="rect">
            <a:avLst/>
          </a:prstGeom>
          <a:noFill/>
        </p:spPr>
        <p:txBody>
          <a:bodyPr wrap="square">
            <a:spAutoFit/>
          </a:bodyPr>
          <a:lstStyle/>
          <a:p>
            <a:r>
              <a:rPr lang="fr-FR" sz="2800" dirty="0"/>
              <a:t>d’interface.</a:t>
            </a:r>
          </a:p>
        </p:txBody>
      </p:sp>
      <p:sp>
        <p:nvSpPr>
          <p:cNvPr id="10" name="ZoneTexte 9">
            <a:extLst>
              <a:ext uri="{FF2B5EF4-FFF2-40B4-BE49-F238E27FC236}">
                <a16:creationId xmlns:a16="http://schemas.microsoft.com/office/drawing/2014/main" id="{D54AFE77-FB5F-57AD-86DA-F6B40E5C360F}"/>
              </a:ext>
            </a:extLst>
          </p:cNvPr>
          <p:cNvSpPr txBox="1"/>
          <p:nvPr/>
        </p:nvSpPr>
        <p:spPr>
          <a:xfrm>
            <a:off x="838200" y="4234983"/>
            <a:ext cx="10515600" cy="523220"/>
          </a:xfrm>
          <a:prstGeom prst="rect">
            <a:avLst/>
          </a:prstGeom>
          <a:noFill/>
        </p:spPr>
        <p:txBody>
          <a:bodyPr wrap="square">
            <a:spAutoFit/>
          </a:bodyPr>
          <a:lstStyle/>
          <a:p>
            <a:r>
              <a:rPr lang="fr-FR" sz="2800" dirty="0"/>
              <a:t>Définissions alors l’interface </a:t>
            </a:r>
            <a:r>
              <a:rPr lang="fr-FR" sz="2400" dirty="0" err="1">
                <a:solidFill>
                  <a:schemeClr val="accent4"/>
                </a:solidFill>
                <a:latin typeface="Consolas" panose="020B0609020204030204" pitchFamily="49" charset="0"/>
                <a:cs typeface="Consolas" panose="020B0609020204030204" pitchFamily="49" charset="0"/>
              </a:rPr>
              <a:t>PredicatMelon</a:t>
            </a:r>
            <a:r>
              <a:rPr lang="fr-FR" sz="2800" dirty="0"/>
              <a:t> comme suit:</a:t>
            </a:r>
          </a:p>
        </p:txBody>
      </p:sp>
      <p:sp>
        <p:nvSpPr>
          <p:cNvPr id="12" name="ZoneTexte 11">
            <a:extLst>
              <a:ext uri="{FF2B5EF4-FFF2-40B4-BE49-F238E27FC236}">
                <a16:creationId xmlns:a16="http://schemas.microsoft.com/office/drawing/2014/main" id="{0E0DB002-8EC2-38D2-9EBA-6526F89DE823}"/>
              </a:ext>
            </a:extLst>
          </p:cNvPr>
          <p:cNvSpPr txBox="1"/>
          <p:nvPr/>
        </p:nvSpPr>
        <p:spPr>
          <a:xfrm>
            <a:off x="3924300" y="5005918"/>
            <a:ext cx="4343400" cy="923330"/>
          </a:xfrm>
          <a:prstGeom prst="rect">
            <a:avLst/>
          </a:prstGeom>
          <a:solidFill>
            <a:srgbClr val="2B2B2B"/>
          </a:solidFill>
        </p:spPr>
        <p:txBody>
          <a:bodyPr wrap="square">
            <a:spAutoFit/>
          </a:bodyPr>
          <a:lstStyle/>
          <a:p>
            <a:r>
              <a:rPr lang="fr-BE" dirty="0">
                <a:solidFill>
                  <a:srgbClr val="CF8E6D"/>
                </a:solidFill>
                <a:effectLst/>
                <a:latin typeface="Consolas" panose="020B0609020204030204" pitchFamily="49" charset="0"/>
                <a:cs typeface="Consolas" panose="020B0609020204030204" pitchFamily="49" charset="0"/>
              </a:rPr>
              <a:t>public interface </a:t>
            </a:r>
            <a:r>
              <a:rPr lang="fr-BE" dirty="0" err="1">
                <a:solidFill>
                  <a:srgbClr val="BCBEC4"/>
                </a:solidFill>
                <a:effectLst/>
                <a:latin typeface="Consolas" panose="020B0609020204030204" pitchFamily="49" charset="0"/>
                <a:cs typeface="Consolas" panose="020B0609020204030204" pitchFamily="49" charset="0"/>
              </a:rPr>
              <a:t>PredicatMelon</a:t>
            </a:r>
            <a:r>
              <a:rPr lang="fr-BE" dirty="0">
                <a:solidFill>
                  <a:srgbClr val="BCBEC4"/>
                </a:solidFill>
                <a:effectLst/>
                <a:latin typeface="Consolas" panose="020B0609020204030204" pitchFamily="49" charset="0"/>
                <a:cs typeface="Consolas" panose="020B0609020204030204" pitchFamily="49" charset="0"/>
              </a:rPr>
              <a:t> {</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dirty="0" err="1">
                <a:solidFill>
                  <a:srgbClr val="CF8E6D"/>
                </a:solidFill>
                <a:effectLst/>
                <a:latin typeface="Consolas" panose="020B0609020204030204" pitchFamily="49" charset="0"/>
                <a:cs typeface="Consolas" panose="020B0609020204030204" pitchFamily="49" charset="0"/>
              </a:rPr>
              <a:t>boolean</a:t>
            </a:r>
            <a:r>
              <a:rPr lang="fr-BE" dirty="0">
                <a:solidFill>
                  <a:srgbClr val="CF8E6D"/>
                </a:solidFill>
                <a:effectLst/>
                <a:latin typeface="Consolas" panose="020B0609020204030204" pitchFamily="49" charset="0"/>
                <a:cs typeface="Consolas" panose="020B0609020204030204" pitchFamily="49" charset="0"/>
              </a:rPr>
              <a:t> </a:t>
            </a:r>
            <a:r>
              <a:rPr lang="fr-BE" dirty="0">
                <a:solidFill>
                  <a:srgbClr val="56A8F5"/>
                </a:solidFill>
                <a:effectLst/>
                <a:latin typeface="Consolas" panose="020B0609020204030204" pitchFamily="49" charset="0"/>
                <a:cs typeface="Consolas" panose="020B0609020204030204" pitchFamily="49" charset="0"/>
              </a:rPr>
              <a:t>test</a:t>
            </a:r>
            <a:r>
              <a:rPr lang="fr-BE" dirty="0">
                <a:solidFill>
                  <a:srgbClr val="BCBEC4"/>
                </a:solidFill>
                <a:effectLst/>
                <a:latin typeface="Consolas" panose="020B0609020204030204" pitchFamily="49" charset="0"/>
                <a:cs typeface="Consolas" panose="020B0609020204030204" pitchFamily="49" charset="0"/>
              </a:rPr>
              <a:t>(Melon melon);</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a:t>
            </a:r>
          </a:p>
        </p:txBody>
      </p:sp>
      <p:sp>
        <p:nvSpPr>
          <p:cNvPr id="16" name="Espace réservé du numéro de diapositive 15">
            <a:extLst>
              <a:ext uri="{FF2B5EF4-FFF2-40B4-BE49-F238E27FC236}">
                <a16:creationId xmlns:a16="http://schemas.microsoft.com/office/drawing/2014/main" id="{F81956F8-F46F-2876-01C0-A7D151D772D8}"/>
              </a:ext>
            </a:extLst>
          </p:cNvPr>
          <p:cNvSpPr>
            <a:spLocks noGrp="1"/>
          </p:cNvSpPr>
          <p:nvPr>
            <p:ph type="sldNum" sz="quarter" idx="4"/>
          </p:nvPr>
        </p:nvSpPr>
        <p:spPr/>
        <p:txBody>
          <a:bodyPr/>
          <a:lstStyle/>
          <a:p>
            <a:fld id="{33C783E2-4793-4F48-A271-51A73CC37D74}" type="slidenum">
              <a:rPr lang="fr-FR" smtClean="0"/>
              <a:t>63</a:t>
            </a:fld>
            <a:endParaRPr lang="fr-FR"/>
          </a:p>
        </p:txBody>
      </p:sp>
    </p:spTree>
    <p:extLst>
      <p:ext uri="{BB962C8B-B14F-4D97-AF65-F5344CB8AC3E}">
        <p14:creationId xmlns:p14="http://schemas.microsoft.com/office/powerpoint/2010/main" val="3574166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5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181E817E-BBE5-65A9-AA02-7150D667ADBC}"/>
              </a:ext>
            </a:extLst>
          </p:cNvPr>
          <p:cNvSpPr>
            <a:spLocks noGrp="1"/>
          </p:cNvSpPr>
          <p:nvPr>
            <p:ph type="title"/>
          </p:nvPr>
        </p:nvSpPr>
        <p:spPr/>
        <p:txBody>
          <a:bodyPr/>
          <a:lstStyle/>
          <a:p>
            <a:r>
              <a:rPr lang="fr-FR" dirty="0"/>
              <a:t>Nos critères en pratique</a:t>
            </a:r>
          </a:p>
        </p:txBody>
      </p:sp>
      <p:sp>
        <p:nvSpPr>
          <p:cNvPr id="7" name="Espace réservé du contenu 6">
            <a:extLst>
              <a:ext uri="{FF2B5EF4-FFF2-40B4-BE49-F238E27FC236}">
                <a16:creationId xmlns:a16="http://schemas.microsoft.com/office/drawing/2014/main" id="{D09175DA-7CD9-DA8F-844F-C560A8DA2401}"/>
              </a:ext>
            </a:extLst>
          </p:cNvPr>
          <p:cNvSpPr>
            <a:spLocks noGrp="1"/>
          </p:cNvSpPr>
          <p:nvPr>
            <p:ph idx="1"/>
          </p:nvPr>
        </p:nvSpPr>
        <p:spPr>
          <a:xfrm>
            <a:off x="838200" y="1584325"/>
            <a:ext cx="10515600" cy="4351338"/>
          </a:xfrm>
        </p:spPr>
        <p:txBody>
          <a:bodyPr/>
          <a:lstStyle/>
          <a:p>
            <a:pPr marL="0" indent="0">
              <a:buNone/>
            </a:pPr>
            <a:r>
              <a:rPr lang="fr-FR" dirty="0"/>
              <a:t>Voici quelques critères:</a:t>
            </a:r>
          </a:p>
        </p:txBody>
      </p:sp>
      <p:sp>
        <p:nvSpPr>
          <p:cNvPr id="8" name="ZoneTexte 7">
            <a:extLst>
              <a:ext uri="{FF2B5EF4-FFF2-40B4-BE49-F238E27FC236}">
                <a16:creationId xmlns:a16="http://schemas.microsoft.com/office/drawing/2014/main" id="{16A42981-3BEE-A2BC-B456-3D06B1A086D6}"/>
              </a:ext>
            </a:extLst>
          </p:cNvPr>
          <p:cNvSpPr txBox="1"/>
          <p:nvPr/>
        </p:nvSpPr>
        <p:spPr>
          <a:xfrm>
            <a:off x="1003300" y="2172037"/>
            <a:ext cx="8178800" cy="2031325"/>
          </a:xfrm>
          <a:prstGeom prst="rect">
            <a:avLst/>
          </a:prstGeom>
          <a:solidFill>
            <a:srgbClr val="2B2B2B"/>
          </a:solidFill>
          <a:ln>
            <a:solidFill>
              <a:schemeClr val="accent1"/>
            </a:solidFill>
          </a:ln>
        </p:spPr>
        <p:txBody>
          <a:bodyPr wrap="square">
            <a:spAutoFit/>
          </a:bodyPr>
          <a:lstStyle/>
          <a:p>
            <a:r>
              <a:rPr lang="fr-BE" dirty="0">
                <a:solidFill>
                  <a:srgbClr val="CF8E6D"/>
                </a:solidFill>
                <a:effectLst/>
                <a:latin typeface="Consolas" panose="020B0609020204030204" pitchFamily="49" charset="0"/>
                <a:cs typeface="Consolas" panose="020B0609020204030204" pitchFamily="49" charset="0"/>
              </a:rPr>
              <a:t>public class </a:t>
            </a:r>
            <a:r>
              <a:rPr lang="fr-BE" dirty="0" err="1">
                <a:solidFill>
                  <a:srgbClr val="BCBEC4"/>
                </a:solidFill>
                <a:effectLst/>
                <a:latin typeface="Consolas" panose="020B0609020204030204" pitchFamily="49" charset="0"/>
                <a:cs typeface="Consolas" panose="020B0609020204030204" pitchFamily="49" charset="0"/>
              </a:rPr>
              <a:t>PredicatMelonEnorme</a:t>
            </a:r>
            <a:r>
              <a:rPr lang="fr-BE" dirty="0">
                <a:solidFill>
                  <a:srgbClr val="BCBEC4"/>
                </a:solidFill>
                <a:effectLst/>
                <a:latin typeface="Consolas" panose="020B0609020204030204" pitchFamily="49" charset="0"/>
                <a:cs typeface="Consolas" panose="020B0609020204030204" pitchFamily="49" charset="0"/>
              </a:rPr>
              <a:t> </a:t>
            </a:r>
            <a:r>
              <a:rPr lang="fr-BE" dirty="0" err="1">
                <a:solidFill>
                  <a:srgbClr val="CF8E6D"/>
                </a:solidFill>
                <a:effectLst/>
                <a:latin typeface="Consolas" panose="020B0609020204030204" pitchFamily="49" charset="0"/>
                <a:cs typeface="Consolas" panose="020B0609020204030204" pitchFamily="49" charset="0"/>
              </a:rPr>
              <a:t>implements</a:t>
            </a:r>
            <a:r>
              <a:rPr lang="fr-BE" dirty="0">
                <a:solidFill>
                  <a:srgbClr val="CF8E6D"/>
                </a:solidFill>
                <a:effectLst/>
                <a:latin typeface="Consolas" panose="020B0609020204030204" pitchFamily="49" charset="0"/>
                <a:cs typeface="Consolas" panose="020B0609020204030204" pitchFamily="49" charset="0"/>
              </a:rPr>
              <a:t> </a:t>
            </a:r>
            <a:r>
              <a:rPr lang="fr-BE" dirty="0" err="1">
                <a:solidFill>
                  <a:srgbClr val="BCBEC4"/>
                </a:solidFill>
                <a:effectLst/>
                <a:latin typeface="Consolas" panose="020B0609020204030204" pitchFamily="49" charset="0"/>
                <a:cs typeface="Consolas" panose="020B0609020204030204" pitchFamily="49" charset="0"/>
              </a:rPr>
              <a:t>PredicatMelon</a:t>
            </a:r>
            <a:r>
              <a:rPr lang="fr-BE" dirty="0">
                <a:solidFill>
                  <a:srgbClr val="BCBEC4"/>
                </a:solidFill>
                <a:effectLst/>
                <a:latin typeface="Consolas" panose="020B0609020204030204" pitchFamily="49" charset="0"/>
                <a:cs typeface="Consolas" panose="020B0609020204030204" pitchFamily="49" charset="0"/>
              </a:rPr>
              <a:t> {</a:t>
            </a:r>
            <a:br>
              <a:rPr lang="fr-BE" dirty="0">
                <a:solidFill>
                  <a:srgbClr val="BCBEC4"/>
                </a:solidFill>
                <a:effectLst/>
                <a:latin typeface="Consolas" panose="020B0609020204030204" pitchFamily="49" charset="0"/>
                <a:cs typeface="Consolas" panose="020B0609020204030204" pitchFamily="49" charset="0"/>
              </a:rPr>
            </a:b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dirty="0">
                <a:solidFill>
                  <a:srgbClr val="B3AE60"/>
                </a:solidFill>
                <a:effectLst/>
                <a:latin typeface="Consolas" panose="020B0609020204030204" pitchFamily="49" charset="0"/>
                <a:cs typeface="Consolas" panose="020B0609020204030204" pitchFamily="49" charset="0"/>
              </a:rPr>
              <a:t>@</a:t>
            </a:r>
            <a:r>
              <a:rPr lang="fr-BE" dirty="0" err="1">
                <a:solidFill>
                  <a:srgbClr val="B3AE60"/>
                </a:solidFill>
                <a:effectLst/>
                <a:latin typeface="Consolas" panose="020B0609020204030204" pitchFamily="49" charset="0"/>
                <a:cs typeface="Consolas" panose="020B0609020204030204" pitchFamily="49" charset="0"/>
              </a:rPr>
              <a:t>Override</a:t>
            </a:r>
            <a:br>
              <a:rPr lang="fr-BE" dirty="0">
                <a:solidFill>
                  <a:srgbClr val="B3AE60"/>
                </a:solidFill>
                <a:effectLst/>
                <a:latin typeface="Consolas" panose="020B0609020204030204" pitchFamily="49" charset="0"/>
                <a:cs typeface="Consolas" panose="020B0609020204030204" pitchFamily="49" charset="0"/>
              </a:rPr>
            </a:br>
            <a:r>
              <a:rPr lang="fr-BE" dirty="0">
                <a:solidFill>
                  <a:srgbClr val="B3AE60"/>
                </a:solidFill>
                <a:effectLst/>
                <a:latin typeface="Consolas" panose="020B0609020204030204" pitchFamily="49" charset="0"/>
                <a:cs typeface="Consolas" panose="020B0609020204030204" pitchFamily="49" charset="0"/>
              </a:rPr>
              <a:t>    </a:t>
            </a:r>
            <a:r>
              <a:rPr lang="fr-BE" dirty="0">
                <a:solidFill>
                  <a:srgbClr val="CF8E6D"/>
                </a:solidFill>
                <a:effectLst/>
                <a:latin typeface="Consolas" panose="020B0609020204030204" pitchFamily="49" charset="0"/>
                <a:cs typeface="Consolas" panose="020B0609020204030204" pitchFamily="49" charset="0"/>
              </a:rPr>
              <a:t>public </a:t>
            </a:r>
            <a:r>
              <a:rPr lang="fr-BE" dirty="0" err="1">
                <a:solidFill>
                  <a:srgbClr val="CF8E6D"/>
                </a:solidFill>
                <a:effectLst/>
                <a:latin typeface="Consolas" panose="020B0609020204030204" pitchFamily="49" charset="0"/>
                <a:cs typeface="Consolas" panose="020B0609020204030204" pitchFamily="49" charset="0"/>
              </a:rPr>
              <a:t>boolean</a:t>
            </a:r>
            <a:r>
              <a:rPr lang="fr-BE" dirty="0">
                <a:solidFill>
                  <a:srgbClr val="CF8E6D"/>
                </a:solidFill>
                <a:effectLst/>
                <a:latin typeface="Consolas" panose="020B0609020204030204" pitchFamily="49" charset="0"/>
                <a:cs typeface="Consolas" panose="020B0609020204030204" pitchFamily="49" charset="0"/>
              </a:rPr>
              <a:t> </a:t>
            </a:r>
            <a:r>
              <a:rPr lang="fr-BE" dirty="0">
                <a:solidFill>
                  <a:srgbClr val="56A8F5"/>
                </a:solidFill>
                <a:effectLst/>
                <a:latin typeface="Consolas" panose="020B0609020204030204" pitchFamily="49" charset="0"/>
                <a:cs typeface="Consolas" panose="020B0609020204030204" pitchFamily="49" charset="0"/>
              </a:rPr>
              <a:t>test</a:t>
            </a:r>
            <a:r>
              <a:rPr lang="fr-BE" dirty="0">
                <a:solidFill>
                  <a:srgbClr val="BCBEC4"/>
                </a:solidFill>
                <a:effectLst/>
                <a:latin typeface="Consolas" panose="020B0609020204030204" pitchFamily="49" charset="0"/>
                <a:cs typeface="Consolas" panose="020B0609020204030204" pitchFamily="49" charset="0"/>
              </a:rPr>
              <a:t>(Melon melon) {</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dirty="0">
                <a:solidFill>
                  <a:srgbClr val="CF8E6D"/>
                </a:solidFill>
                <a:effectLst/>
                <a:latin typeface="Consolas" panose="020B0609020204030204" pitchFamily="49" charset="0"/>
                <a:cs typeface="Consolas" panose="020B0609020204030204" pitchFamily="49" charset="0"/>
              </a:rPr>
              <a:t>return </a:t>
            </a:r>
            <a:r>
              <a:rPr lang="fr-BE" dirty="0" err="1">
                <a:solidFill>
                  <a:srgbClr val="BCBEC4"/>
                </a:solidFill>
                <a:effectLst/>
                <a:latin typeface="Consolas" panose="020B0609020204030204" pitchFamily="49" charset="0"/>
                <a:cs typeface="Consolas" panose="020B0609020204030204" pitchFamily="49" charset="0"/>
              </a:rPr>
              <a:t>melon.getPoids</a:t>
            </a:r>
            <a:r>
              <a:rPr lang="fr-BE" dirty="0">
                <a:solidFill>
                  <a:srgbClr val="BCBEC4"/>
                </a:solidFill>
                <a:effectLst/>
                <a:latin typeface="Consolas" panose="020B0609020204030204" pitchFamily="49" charset="0"/>
                <a:cs typeface="Consolas" panose="020B0609020204030204" pitchFamily="49" charset="0"/>
              </a:rPr>
              <a:t>() &gt; </a:t>
            </a:r>
            <a:r>
              <a:rPr lang="fr-BE" dirty="0">
                <a:solidFill>
                  <a:srgbClr val="2AACB8"/>
                </a:solidFill>
                <a:effectLst/>
                <a:latin typeface="Consolas" panose="020B0609020204030204" pitchFamily="49" charset="0"/>
                <a:cs typeface="Consolas" panose="020B0609020204030204" pitchFamily="49" charset="0"/>
              </a:rPr>
              <a:t>5000</a:t>
            </a:r>
            <a:r>
              <a:rPr lang="fr-BE" dirty="0">
                <a:solidFill>
                  <a:srgbClr val="BCBEC4"/>
                </a:solidFill>
                <a:effectLst/>
                <a:latin typeface="Consolas" panose="020B0609020204030204" pitchFamily="49" charset="0"/>
                <a:cs typeface="Consolas" panose="020B0609020204030204" pitchFamily="49" charset="0"/>
              </a:rPr>
              <a:t>;</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a:t>
            </a:r>
          </a:p>
        </p:txBody>
      </p:sp>
      <p:sp>
        <p:nvSpPr>
          <p:cNvPr id="11" name="ZoneTexte 10">
            <a:extLst>
              <a:ext uri="{FF2B5EF4-FFF2-40B4-BE49-F238E27FC236}">
                <a16:creationId xmlns:a16="http://schemas.microsoft.com/office/drawing/2014/main" id="{0EBA59A4-DB83-2F2B-D7D4-AB47F00FA15B}"/>
              </a:ext>
            </a:extLst>
          </p:cNvPr>
          <p:cNvSpPr txBox="1"/>
          <p:nvPr/>
        </p:nvSpPr>
        <p:spPr>
          <a:xfrm>
            <a:off x="3022600" y="3713838"/>
            <a:ext cx="8178800" cy="2031325"/>
          </a:xfrm>
          <a:prstGeom prst="rect">
            <a:avLst/>
          </a:prstGeom>
          <a:solidFill>
            <a:srgbClr val="2B2B2B"/>
          </a:solidFill>
          <a:ln>
            <a:solidFill>
              <a:schemeClr val="accent1"/>
            </a:solidFill>
          </a:ln>
        </p:spPr>
        <p:txBody>
          <a:bodyPr wrap="square">
            <a:spAutoFit/>
          </a:bodyPr>
          <a:lstStyle/>
          <a:p>
            <a:r>
              <a:rPr lang="fr-BE" dirty="0">
                <a:solidFill>
                  <a:srgbClr val="CF8E6D"/>
                </a:solidFill>
                <a:effectLst/>
                <a:latin typeface="Consolas" panose="020B0609020204030204" pitchFamily="49" charset="0"/>
                <a:cs typeface="Consolas" panose="020B0609020204030204" pitchFamily="49" charset="0"/>
              </a:rPr>
              <a:t>public class </a:t>
            </a:r>
            <a:r>
              <a:rPr lang="fr-BE" dirty="0" err="1">
                <a:solidFill>
                  <a:srgbClr val="BCBEC4"/>
                </a:solidFill>
                <a:effectLst/>
                <a:latin typeface="Consolas" panose="020B0609020204030204" pitchFamily="49" charset="0"/>
                <a:cs typeface="Consolas" panose="020B0609020204030204" pitchFamily="49" charset="0"/>
              </a:rPr>
              <a:t>PredicatMelonGaia</a:t>
            </a:r>
            <a:r>
              <a:rPr lang="fr-BE" dirty="0">
                <a:solidFill>
                  <a:srgbClr val="BCBEC4"/>
                </a:solidFill>
                <a:effectLst/>
                <a:latin typeface="Consolas" panose="020B0609020204030204" pitchFamily="49" charset="0"/>
                <a:cs typeface="Consolas" panose="020B0609020204030204" pitchFamily="49" charset="0"/>
              </a:rPr>
              <a:t> </a:t>
            </a:r>
            <a:r>
              <a:rPr lang="fr-BE" dirty="0" err="1">
                <a:solidFill>
                  <a:srgbClr val="CF8E6D"/>
                </a:solidFill>
                <a:effectLst/>
                <a:latin typeface="Consolas" panose="020B0609020204030204" pitchFamily="49" charset="0"/>
                <a:cs typeface="Consolas" panose="020B0609020204030204" pitchFamily="49" charset="0"/>
              </a:rPr>
              <a:t>implements</a:t>
            </a:r>
            <a:r>
              <a:rPr lang="fr-BE" dirty="0">
                <a:solidFill>
                  <a:srgbClr val="CF8E6D"/>
                </a:solidFill>
                <a:effectLst/>
                <a:latin typeface="Consolas" panose="020B0609020204030204" pitchFamily="49" charset="0"/>
                <a:cs typeface="Consolas" panose="020B0609020204030204" pitchFamily="49" charset="0"/>
              </a:rPr>
              <a:t> </a:t>
            </a:r>
            <a:r>
              <a:rPr lang="fr-BE" dirty="0" err="1">
                <a:solidFill>
                  <a:srgbClr val="BCBEC4"/>
                </a:solidFill>
                <a:effectLst/>
                <a:latin typeface="Consolas" panose="020B0609020204030204" pitchFamily="49" charset="0"/>
                <a:cs typeface="Consolas" panose="020B0609020204030204" pitchFamily="49" charset="0"/>
              </a:rPr>
              <a:t>PredicatMelon</a:t>
            </a:r>
            <a:r>
              <a:rPr lang="fr-BE" dirty="0">
                <a:solidFill>
                  <a:srgbClr val="BCBEC4"/>
                </a:solidFill>
                <a:effectLst/>
                <a:latin typeface="Consolas" panose="020B0609020204030204" pitchFamily="49" charset="0"/>
                <a:cs typeface="Consolas" panose="020B0609020204030204" pitchFamily="49" charset="0"/>
              </a:rPr>
              <a:t> {</a:t>
            </a:r>
            <a:br>
              <a:rPr lang="fr-BE" dirty="0">
                <a:solidFill>
                  <a:srgbClr val="BCBEC4"/>
                </a:solidFill>
                <a:effectLst/>
                <a:latin typeface="Consolas" panose="020B0609020204030204" pitchFamily="49" charset="0"/>
                <a:cs typeface="Consolas" panose="020B0609020204030204" pitchFamily="49" charset="0"/>
              </a:rPr>
            </a:b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dirty="0">
                <a:solidFill>
                  <a:srgbClr val="B3AE60"/>
                </a:solidFill>
                <a:effectLst/>
                <a:latin typeface="Consolas" panose="020B0609020204030204" pitchFamily="49" charset="0"/>
                <a:cs typeface="Consolas" panose="020B0609020204030204" pitchFamily="49" charset="0"/>
              </a:rPr>
              <a:t>@</a:t>
            </a:r>
            <a:r>
              <a:rPr lang="fr-BE" dirty="0" err="1">
                <a:solidFill>
                  <a:srgbClr val="B3AE60"/>
                </a:solidFill>
                <a:effectLst/>
                <a:latin typeface="Consolas" panose="020B0609020204030204" pitchFamily="49" charset="0"/>
                <a:cs typeface="Consolas" panose="020B0609020204030204" pitchFamily="49" charset="0"/>
              </a:rPr>
              <a:t>Override</a:t>
            </a:r>
            <a:br>
              <a:rPr lang="fr-BE" dirty="0">
                <a:solidFill>
                  <a:srgbClr val="B3AE60"/>
                </a:solidFill>
                <a:effectLst/>
                <a:latin typeface="Consolas" panose="020B0609020204030204" pitchFamily="49" charset="0"/>
                <a:cs typeface="Consolas" panose="020B0609020204030204" pitchFamily="49" charset="0"/>
              </a:rPr>
            </a:br>
            <a:r>
              <a:rPr lang="fr-BE" dirty="0">
                <a:solidFill>
                  <a:srgbClr val="B3AE60"/>
                </a:solidFill>
                <a:effectLst/>
                <a:latin typeface="Consolas" panose="020B0609020204030204" pitchFamily="49" charset="0"/>
                <a:cs typeface="Consolas" panose="020B0609020204030204" pitchFamily="49" charset="0"/>
              </a:rPr>
              <a:t>    </a:t>
            </a:r>
            <a:r>
              <a:rPr lang="fr-BE" dirty="0">
                <a:solidFill>
                  <a:srgbClr val="CF8E6D"/>
                </a:solidFill>
                <a:effectLst/>
                <a:latin typeface="Consolas" panose="020B0609020204030204" pitchFamily="49" charset="0"/>
                <a:cs typeface="Consolas" panose="020B0609020204030204" pitchFamily="49" charset="0"/>
              </a:rPr>
              <a:t>public </a:t>
            </a:r>
            <a:r>
              <a:rPr lang="fr-BE" dirty="0" err="1">
                <a:solidFill>
                  <a:srgbClr val="CF8E6D"/>
                </a:solidFill>
                <a:effectLst/>
                <a:latin typeface="Consolas" panose="020B0609020204030204" pitchFamily="49" charset="0"/>
                <a:cs typeface="Consolas" panose="020B0609020204030204" pitchFamily="49" charset="0"/>
              </a:rPr>
              <a:t>boolean</a:t>
            </a:r>
            <a:r>
              <a:rPr lang="fr-BE" dirty="0">
                <a:solidFill>
                  <a:srgbClr val="CF8E6D"/>
                </a:solidFill>
                <a:effectLst/>
                <a:latin typeface="Consolas" panose="020B0609020204030204" pitchFamily="49" charset="0"/>
                <a:cs typeface="Consolas" panose="020B0609020204030204" pitchFamily="49" charset="0"/>
              </a:rPr>
              <a:t> </a:t>
            </a:r>
            <a:r>
              <a:rPr lang="fr-BE" dirty="0">
                <a:solidFill>
                  <a:srgbClr val="56A8F5"/>
                </a:solidFill>
                <a:effectLst/>
                <a:latin typeface="Consolas" panose="020B0609020204030204" pitchFamily="49" charset="0"/>
                <a:cs typeface="Consolas" panose="020B0609020204030204" pitchFamily="49" charset="0"/>
              </a:rPr>
              <a:t>test</a:t>
            </a:r>
            <a:r>
              <a:rPr lang="fr-BE" dirty="0">
                <a:solidFill>
                  <a:srgbClr val="BCBEC4"/>
                </a:solidFill>
                <a:effectLst/>
                <a:latin typeface="Consolas" panose="020B0609020204030204" pitchFamily="49" charset="0"/>
                <a:cs typeface="Consolas" panose="020B0609020204030204" pitchFamily="49" charset="0"/>
              </a:rPr>
              <a:t>(Melon melon) {</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dirty="0">
                <a:solidFill>
                  <a:srgbClr val="CF8E6D"/>
                </a:solidFill>
                <a:effectLst/>
                <a:latin typeface="Consolas" panose="020B0609020204030204" pitchFamily="49" charset="0"/>
                <a:cs typeface="Consolas" panose="020B0609020204030204" pitchFamily="49" charset="0"/>
              </a:rPr>
              <a:t>return </a:t>
            </a:r>
            <a:r>
              <a:rPr lang="fr-BE" dirty="0">
                <a:solidFill>
                  <a:srgbClr val="6AAB73"/>
                </a:solidFill>
                <a:effectLst/>
                <a:latin typeface="Consolas" panose="020B0609020204030204" pitchFamily="49" charset="0"/>
                <a:cs typeface="Consolas" panose="020B0609020204030204" pitchFamily="49" charset="0"/>
              </a:rPr>
              <a:t>"Gaia"</a:t>
            </a:r>
            <a:r>
              <a:rPr lang="fr-BE" dirty="0">
                <a:solidFill>
                  <a:srgbClr val="BCBEC4"/>
                </a:solidFill>
                <a:effectLst/>
                <a:latin typeface="Consolas" panose="020B0609020204030204" pitchFamily="49" charset="0"/>
                <a:cs typeface="Consolas" panose="020B0609020204030204" pitchFamily="49" charset="0"/>
              </a:rPr>
              <a:t>.</a:t>
            </a:r>
            <a:r>
              <a:rPr lang="fr-BE" dirty="0" err="1">
                <a:solidFill>
                  <a:srgbClr val="BCBEC4"/>
                </a:solidFill>
                <a:effectLst/>
                <a:latin typeface="Consolas" panose="020B0609020204030204" pitchFamily="49" charset="0"/>
                <a:cs typeface="Consolas" panose="020B0609020204030204" pitchFamily="49" charset="0"/>
              </a:rPr>
              <a:t>equalsIgnoreCase</a:t>
            </a:r>
            <a:r>
              <a:rPr lang="fr-BE" dirty="0">
                <a:solidFill>
                  <a:srgbClr val="BCBEC4"/>
                </a:solidFill>
                <a:effectLst/>
                <a:latin typeface="Consolas" panose="020B0609020204030204" pitchFamily="49" charset="0"/>
                <a:cs typeface="Consolas" panose="020B0609020204030204" pitchFamily="49" charset="0"/>
              </a:rPr>
              <a:t>(</a:t>
            </a:r>
            <a:r>
              <a:rPr lang="fr-BE" dirty="0" err="1">
                <a:solidFill>
                  <a:srgbClr val="BCBEC4"/>
                </a:solidFill>
                <a:effectLst/>
                <a:latin typeface="Consolas" panose="020B0609020204030204" pitchFamily="49" charset="0"/>
                <a:cs typeface="Consolas" panose="020B0609020204030204" pitchFamily="49" charset="0"/>
              </a:rPr>
              <a:t>melon.getType</a:t>
            </a:r>
            <a:r>
              <a:rPr lang="fr-BE" dirty="0">
                <a:solidFill>
                  <a:srgbClr val="BCBEC4"/>
                </a:solidFill>
                <a:effectLst/>
                <a:latin typeface="Consolas" panose="020B0609020204030204" pitchFamily="49" charset="0"/>
                <a:cs typeface="Consolas" panose="020B0609020204030204" pitchFamily="49" charset="0"/>
              </a:rPr>
              <a:t>());</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p>
          <a:p>
            <a:r>
              <a:rPr lang="fr-BE" dirty="0">
                <a:solidFill>
                  <a:srgbClr val="BCBEC4"/>
                </a:solidFill>
                <a:effectLst/>
                <a:latin typeface="Consolas" panose="020B0609020204030204" pitchFamily="49" charset="0"/>
                <a:cs typeface="Consolas" panose="020B0609020204030204" pitchFamily="49" charset="0"/>
              </a:rPr>
              <a:t>}</a:t>
            </a:r>
          </a:p>
        </p:txBody>
      </p:sp>
      <p:sp>
        <p:nvSpPr>
          <p:cNvPr id="13" name="Espace réservé du contenu 8">
            <a:extLst>
              <a:ext uri="{FF2B5EF4-FFF2-40B4-BE49-F238E27FC236}">
                <a16:creationId xmlns:a16="http://schemas.microsoft.com/office/drawing/2014/main" id="{1A0C10C1-E3A5-6710-50C7-09A4AA7C0AB4}"/>
              </a:ext>
            </a:extLst>
          </p:cNvPr>
          <p:cNvSpPr txBox="1">
            <a:spLocks/>
          </p:cNvSpPr>
          <p:nvPr/>
        </p:nvSpPr>
        <p:spPr>
          <a:xfrm>
            <a:off x="723900" y="5562601"/>
            <a:ext cx="10913046" cy="940184"/>
          </a:xfrm>
          <a:prstGeom prst="wedgeRoundRectCallout">
            <a:avLst>
              <a:gd name="adj1" fmla="val 14455"/>
              <a:gd name="adj2" fmla="val -74192"/>
              <a:gd name="adj3" fmla="val 16667"/>
            </a:avLst>
          </a:prstGeom>
          <a:solidFill>
            <a:schemeClr val="accent6"/>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2400" dirty="0"/>
              <a:t>Marcel peut maintenant sélectionner ses melons Gold en utilisant </a:t>
            </a:r>
          </a:p>
          <a:p>
            <a:pPr marL="0" indent="0">
              <a:buNone/>
            </a:pPr>
            <a:r>
              <a:rPr lang="fr-BE" sz="2000" dirty="0">
                <a:solidFill>
                  <a:schemeClr val="accent4"/>
                </a:solidFill>
                <a:effectLst/>
                <a:latin typeface="Consolas" panose="020B0609020204030204" pitchFamily="49" charset="0"/>
                <a:cs typeface="Consolas" panose="020B0609020204030204" pitchFamily="49" charset="0"/>
              </a:rPr>
              <a:t>List&lt;Melon&gt; gold = </a:t>
            </a:r>
            <a:r>
              <a:rPr lang="fr-BE" sz="2000" dirty="0" err="1">
                <a:solidFill>
                  <a:schemeClr val="accent4"/>
                </a:solidFill>
                <a:effectLst/>
                <a:latin typeface="Consolas" panose="020B0609020204030204" pitchFamily="49" charset="0"/>
                <a:cs typeface="Consolas" panose="020B0609020204030204" pitchFamily="49" charset="0"/>
              </a:rPr>
              <a:t>Filtre.</a:t>
            </a:r>
            <a:r>
              <a:rPr lang="fr-BE" sz="2000" i="1" dirty="0" err="1">
                <a:solidFill>
                  <a:schemeClr val="accent4"/>
                </a:solidFill>
                <a:effectLst/>
                <a:latin typeface="Consolas" panose="020B0609020204030204" pitchFamily="49" charset="0"/>
                <a:cs typeface="Consolas" panose="020B0609020204030204" pitchFamily="49" charset="0"/>
              </a:rPr>
              <a:t>filtrerMelons</a:t>
            </a:r>
            <a:r>
              <a:rPr lang="fr-BE" sz="2000" dirty="0">
                <a:solidFill>
                  <a:schemeClr val="accent4"/>
                </a:solidFill>
                <a:effectLst/>
                <a:latin typeface="Consolas" panose="020B0609020204030204" pitchFamily="49" charset="0"/>
                <a:cs typeface="Consolas" panose="020B0609020204030204" pitchFamily="49" charset="0"/>
              </a:rPr>
              <a:t>(melons, </a:t>
            </a:r>
            <a:r>
              <a:rPr lang="fr-BE" sz="2000" dirty="0">
                <a:solidFill>
                  <a:schemeClr val="accent4"/>
                </a:solidFill>
                <a:latin typeface="Consolas" panose="020B0609020204030204" pitchFamily="49" charset="0"/>
                <a:cs typeface="Consolas" panose="020B0609020204030204" pitchFamily="49" charset="0"/>
              </a:rPr>
              <a:t>new </a:t>
            </a:r>
            <a:r>
              <a:rPr lang="fr-BE" sz="2000" dirty="0" err="1">
                <a:solidFill>
                  <a:schemeClr val="accent4"/>
                </a:solidFill>
                <a:latin typeface="Consolas" panose="020B0609020204030204" pitchFamily="49" charset="0"/>
                <a:cs typeface="Consolas" panose="020B0609020204030204" pitchFamily="49" charset="0"/>
              </a:rPr>
              <a:t>PredicatMelonGaia</a:t>
            </a:r>
            <a:r>
              <a:rPr lang="fr-BE" sz="2000" dirty="0">
                <a:solidFill>
                  <a:schemeClr val="accent4"/>
                </a:solidFill>
                <a:latin typeface="Consolas" panose="020B0609020204030204" pitchFamily="49" charset="0"/>
                <a:cs typeface="Consolas" panose="020B0609020204030204" pitchFamily="49" charset="0"/>
              </a:rPr>
              <a:t>());</a:t>
            </a:r>
          </a:p>
          <a:p>
            <a:pPr marL="0" indent="0">
              <a:buFont typeface="Arial" panose="020B0604020202020204" pitchFamily="34" charset="0"/>
              <a:buNone/>
            </a:pPr>
            <a:endParaRPr lang="fr-FR" sz="2400" dirty="0"/>
          </a:p>
        </p:txBody>
      </p:sp>
      <p:sp>
        <p:nvSpPr>
          <p:cNvPr id="14" name="Rectangle 13">
            <a:extLst>
              <a:ext uri="{FF2B5EF4-FFF2-40B4-BE49-F238E27FC236}">
                <a16:creationId xmlns:a16="http://schemas.microsoft.com/office/drawing/2014/main" id="{029D4571-5092-AAA9-24E7-9A610ECD551B}"/>
              </a:ext>
            </a:extLst>
          </p:cNvPr>
          <p:cNvSpPr/>
          <p:nvPr/>
        </p:nvSpPr>
        <p:spPr>
          <a:xfrm>
            <a:off x="9118600" y="5745163"/>
            <a:ext cx="2349500" cy="48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fr-FR" i="1" dirty="0" err="1">
                <a:latin typeface="Consolas" panose="020B0609020204030204" pitchFamily="49" charset="0"/>
                <a:cs typeface="Consolas" panose="020B0609020204030204" pitchFamily="49" charset="0"/>
              </a:rPr>
              <a:t>Programme.java</a:t>
            </a:r>
            <a:endParaRPr lang="fr-FR" i="1" dirty="0">
              <a:latin typeface="Consolas" panose="020B0609020204030204" pitchFamily="49" charset="0"/>
              <a:cs typeface="Consolas" panose="020B0609020204030204" pitchFamily="49" charset="0"/>
            </a:endParaRPr>
          </a:p>
        </p:txBody>
      </p:sp>
      <p:sp>
        <p:nvSpPr>
          <p:cNvPr id="15" name="Espace réservé du numéro de diapositive 14">
            <a:extLst>
              <a:ext uri="{FF2B5EF4-FFF2-40B4-BE49-F238E27FC236}">
                <a16:creationId xmlns:a16="http://schemas.microsoft.com/office/drawing/2014/main" id="{8ED99501-4C22-53AB-F7E1-60A1DDBE1934}"/>
              </a:ext>
            </a:extLst>
          </p:cNvPr>
          <p:cNvSpPr>
            <a:spLocks noGrp="1"/>
          </p:cNvSpPr>
          <p:nvPr>
            <p:ph type="sldNum" sz="quarter" idx="4"/>
          </p:nvPr>
        </p:nvSpPr>
        <p:spPr/>
        <p:txBody>
          <a:bodyPr/>
          <a:lstStyle/>
          <a:p>
            <a:fld id="{33C783E2-4793-4F48-A271-51A73CC37D74}" type="slidenum">
              <a:rPr lang="fr-FR" smtClean="0"/>
              <a:t>64</a:t>
            </a:fld>
            <a:endParaRPr lang="fr-FR"/>
          </a:p>
        </p:txBody>
      </p:sp>
    </p:spTree>
    <p:extLst>
      <p:ext uri="{BB962C8B-B14F-4D97-AF65-F5344CB8AC3E}">
        <p14:creationId xmlns:p14="http://schemas.microsoft.com/office/powerpoint/2010/main" val="673339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3" grpId="0" animBg="1"/>
      <p:bldP spid="14"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181E817E-BBE5-65A9-AA02-7150D667ADBC}"/>
              </a:ext>
            </a:extLst>
          </p:cNvPr>
          <p:cNvSpPr>
            <a:spLocks noGrp="1"/>
          </p:cNvSpPr>
          <p:nvPr>
            <p:ph type="title"/>
          </p:nvPr>
        </p:nvSpPr>
        <p:spPr/>
        <p:txBody>
          <a:bodyPr/>
          <a:lstStyle/>
          <a:p>
            <a:r>
              <a:rPr lang="fr-FR" dirty="0"/>
              <a:t>Dans notre </a:t>
            </a:r>
            <a:r>
              <a:rPr lang="fr-FR" sz="4400" dirty="0">
                <a:solidFill>
                  <a:schemeClr val="accent4"/>
                </a:solidFill>
                <a:latin typeface="Consolas" panose="020B0609020204030204" pitchFamily="49" charset="0"/>
                <a:cs typeface="Consolas" panose="020B0609020204030204" pitchFamily="49" charset="0"/>
              </a:rPr>
              <a:t>Filtre</a:t>
            </a:r>
            <a:r>
              <a:rPr lang="fr-FR" dirty="0"/>
              <a:t>…</a:t>
            </a:r>
            <a:endParaRPr lang="fr-FR" dirty="0">
              <a:solidFill>
                <a:schemeClr val="accent4"/>
              </a:solidFill>
              <a:latin typeface="Consolas" panose="020B0609020204030204" pitchFamily="49" charset="0"/>
              <a:cs typeface="Consolas" panose="020B0609020204030204" pitchFamily="49" charset="0"/>
            </a:endParaRPr>
          </a:p>
        </p:txBody>
      </p:sp>
      <p:sp>
        <p:nvSpPr>
          <p:cNvPr id="7" name="Espace réservé du contenu 6">
            <a:extLst>
              <a:ext uri="{FF2B5EF4-FFF2-40B4-BE49-F238E27FC236}">
                <a16:creationId xmlns:a16="http://schemas.microsoft.com/office/drawing/2014/main" id="{D09175DA-7CD9-DA8F-844F-C560A8DA2401}"/>
              </a:ext>
            </a:extLst>
          </p:cNvPr>
          <p:cNvSpPr>
            <a:spLocks noGrp="1"/>
          </p:cNvSpPr>
          <p:nvPr>
            <p:ph idx="1"/>
          </p:nvPr>
        </p:nvSpPr>
        <p:spPr/>
        <p:txBody>
          <a:bodyPr/>
          <a:lstStyle/>
          <a:p>
            <a:pPr marL="0" indent="0">
              <a:buNone/>
            </a:pPr>
            <a:r>
              <a:rPr lang="fr-FR" dirty="0"/>
              <a:t>Nous avons donc ajouté une méthode qui utilise </a:t>
            </a:r>
            <a:r>
              <a:rPr lang="fr-FR" sz="2400" dirty="0" err="1">
                <a:solidFill>
                  <a:schemeClr val="accent4"/>
                </a:solidFill>
                <a:latin typeface="Consolas" panose="020B0609020204030204" pitchFamily="49" charset="0"/>
                <a:cs typeface="Consolas" panose="020B0609020204030204" pitchFamily="49" charset="0"/>
              </a:rPr>
              <a:t>PredicatMelon</a:t>
            </a:r>
            <a:r>
              <a:rPr lang="fr-FR" dirty="0"/>
              <a:t> à notre classe </a:t>
            </a:r>
            <a:r>
              <a:rPr lang="fr-FR" sz="2400" dirty="0">
                <a:solidFill>
                  <a:schemeClr val="accent4"/>
                </a:solidFill>
                <a:latin typeface="Consolas" panose="020B0609020204030204" pitchFamily="49" charset="0"/>
                <a:cs typeface="Consolas" panose="020B0609020204030204" pitchFamily="49" charset="0"/>
              </a:rPr>
              <a:t>Filtre</a:t>
            </a:r>
            <a:r>
              <a:rPr lang="fr-FR" dirty="0"/>
              <a:t>:</a:t>
            </a:r>
          </a:p>
        </p:txBody>
      </p:sp>
      <p:sp>
        <p:nvSpPr>
          <p:cNvPr id="3" name="ZoneTexte 2">
            <a:extLst>
              <a:ext uri="{FF2B5EF4-FFF2-40B4-BE49-F238E27FC236}">
                <a16:creationId xmlns:a16="http://schemas.microsoft.com/office/drawing/2014/main" id="{FD2D0869-DC0D-D2DD-DFE3-7ECD503ECC10}"/>
              </a:ext>
            </a:extLst>
          </p:cNvPr>
          <p:cNvSpPr txBox="1"/>
          <p:nvPr/>
        </p:nvSpPr>
        <p:spPr>
          <a:xfrm>
            <a:off x="673100" y="2790389"/>
            <a:ext cx="10972800" cy="2308324"/>
          </a:xfrm>
          <a:prstGeom prst="rect">
            <a:avLst/>
          </a:prstGeom>
          <a:solidFill>
            <a:srgbClr val="2B2B2B"/>
          </a:solidFill>
        </p:spPr>
        <p:txBody>
          <a:bodyPr wrap="square">
            <a:spAutoFit/>
          </a:bodyPr>
          <a:lstStyle/>
          <a:p>
            <a:r>
              <a:rPr lang="fr-BE" dirty="0">
                <a:solidFill>
                  <a:srgbClr val="CF8E6D"/>
                </a:solidFill>
                <a:effectLst/>
                <a:latin typeface="Consolas" panose="020B0609020204030204" pitchFamily="49" charset="0"/>
                <a:cs typeface="Consolas" panose="020B0609020204030204" pitchFamily="49" charset="0"/>
              </a:rPr>
              <a:t>public </a:t>
            </a:r>
            <a:r>
              <a:rPr lang="fr-BE" dirty="0" err="1">
                <a:solidFill>
                  <a:srgbClr val="CF8E6D"/>
                </a:solidFill>
                <a:effectLst/>
                <a:latin typeface="Consolas" panose="020B0609020204030204" pitchFamily="49" charset="0"/>
                <a:cs typeface="Consolas" panose="020B0609020204030204" pitchFamily="49" charset="0"/>
              </a:rPr>
              <a:t>static</a:t>
            </a:r>
            <a:r>
              <a:rPr lang="fr-BE" dirty="0">
                <a:solidFill>
                  <a:srgbClr val="CF8E6D"/>
                </a:solidFill>
                <a:effectLst/>
                <a:latin typeface="Consolas" panose="020B0609020204030204" pitchFamily="49" charset="0"/>
                <a:cs typeface="Consolas" panose="020B0609020204030204" pitchFamily="49" charset="0"/>
              </a:rPr>
              <a:t> </a:t>
            </a:r>
            <a:r>
              <a:rPr lang="fr-BE" dirty="0">
                <a:solidFill>
                  <a:srgbClr val="BCBEC4"/>
                </a:solidFill>
                <a:effectLst/>
                <a:latin typeface="Consolas" panose="020B0609020204030204" pitchFamily="49" charset="0"/>
                <a:cs typeface="Consolas" panose="020B0609020204030204" pitchFamily="49" charset="0"/>
              </a:rPr>
              <a:t>List&lt;Melon&gt; </a:t>
            </a:r>
            <a:r>
              <a:rPr lang="fr-BE" dirty="0" err="1">
                <a:solidFill>
                  <a:srgbClr val="56A8F5"/>
                </a:solidFill>
                <a:effectLst/>
                <a:latin typeface="Consolas" panose="020B0609020204030204" pitchFamily="49" charset="0"/>
                <a:cs typeface="Consolas" panose="020B0609020204030204" pitchFamily="49" charset="0"/>
              </a:rPr>
              <a:t>filtrerMelons</a:t>
            </a:r>
            <a:r>
              <a:rPr lang="fr-BE" dirty="0">
                <a:solidFill>
                  <a:srgbClr val="BCBEC4"/>
                </a:solidFill>
                <a:effectLst/>
                <a:latin typeface="Consolas" panose="020B0609020204030204" pitchFamily="49" charset="0"/>
                <a:cs typeface="Consolas" panose="020B0609020204030204" pitchFamily="49" charset="0"/>
              </a:rPr>
              <a:t>(List&lt;Melon&gt; melons, </a:t>
            </a:r>
            <a:r>
              <a:rPr lang="fr-BE" dirty="0" err="1">
                <a:solidFill>
                  <a:srgbClr val="BCBEC4"/>
                </a:solidFill>
                <a:effectLst/>
                <a:latin typeface="Consolas" panose="020B0609020204030204" pitchFamily="49" charset="0"/>
                <a:cs typeface="Consolas" panose="020B0609020204030204" pitchFamily="49" charset="0"/>
              </a:rPr>
              <a:t>PredicatMelon</a:t>
            </a:r>
            <a:r>
              <a:rPr lang="fr-BE" dirty="0">
                <a:solidFill>
                  <a:srgbClr val="BCBEC4"/>
                </a:solidFill>
                <a:effectLst/>
                <a:latin typeface="Consolas" panose="020B0609020204030204" pitchFamily="49" charset="0"/>
                <a:cs typeface="Consolas" panose="020B0609020204030204" pitchFamily="49" charset="0"/>
              </a:rPr>
              <a:t> </a:t>
            </a:r>
            <a:r>
              <a:rPr lang="fr-BE" dirty="0" err="1">
                <a:solidFill>
                  <a:srgbClr val="BCBEC4"/>
                </a:solidFill>
                <a:effectLst/>
                <a:latin typeface="Consolas" panose="020B0609020204030204" pitchFamily="49" charset="0"/>
                <a:cs typeface="Consolas" panose="020B0609020204030204" pitchFamily="49" charset="0"/>
              </a:rPr>
              <a:t>predicat</a:t>
            </a:r>
            <a:r>
              <a:rPr lang="fr-BE" dirty="0">
                <a:solidFill>
                  <a:srgbClr val="BCBEC4"/>
                </a:solidFill>
                <a:effectLst/>
                <a:latin typeface="Consolas" panose="020B0609020204030204" pitchFamily="49" charset="0"/>
                <a:cs typeface="Consolas" panose="020B0609020204030204" pitchFamily="49" charset="0"/>
              </a:rPr>
              <a:t>) {</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List&lt;Melon&gt; </a:t>
            </a:r>
            <a:r>
              <a:rPr lang="fr-BE" dirty="0" err="1">
                <a:solidFill>
                  <a:srgbClr val="BCBEC4"/>
                </a:solidFill>
                <a:effectLst/>
                <a:latin typeface="Consolas" panose="020B0609020204030204" pitchFamily="49" charset="0"/>
                <a:cs typeface="Consolas" panose="020B0609020204030204" pitchFamily="49" charset="0"/>
              </a:rPr>
              <a:t>resultat</a:t>
            </a:r>
            <a:r>
              <a:rPr lang="fr-BE" dirty="0">
                <a:solidFill>
                  <a:srgbClr val="BCBEC4"/>
                </a:solidFill>
                <a:effectLst/>
                <a:latin typeface="Consolas" panose="020B0609020204030204" pitchFamily="49" charset="0"/>
                <a:cs typeface="Consolas" panose="020B0609020204030204" pitchFamily="49" charset="0"/>
              </a:rPr>
              <a:t> = </a:t>
            </a:r>
            <a:r>
              <a:rPr lang="fr-BE" dirty="0">
                <a:solidFill>
                  <a:srgbClr val="CF8E6D"/>
                </a:solidFill>
                <a:effectLst/>
                <a:latin typeface="Consolas" panose="020B0609020204030204" pitchFamily="49" charset="0"/>
                <a:cs typeface="Consolas" panose="020B0609020204030204" pitchFamily="49" charset="0"/>
              </a:rPr>
              <a:t>new </a:t>
            </a:r>
            <a:r>
              <a:rPr lang="fr-BE" dirty="0" err="1">
                <a:solidFill>
                  <a:srgbClr val="BCBEC4"/>
                </a:solidFill>
                <a:effectLst/>
                <a:latin typeface="Consolas" panose="020B0609020204030204" pitchFamily="49" charset="0"/>
                <a:cs typeface="Consolas" panose="020B0609020204030204" pitchFamily="49" charset="0"/>
              </a:rPr>
              <a:t>ArrayList</a:t>
            </a:r>
            <a:r>
              <a:rPr lang="fr-BE" dirty="0">
                <a:solidFill>
                  <a:srgbClr val="BCBEC4"/>
                </a:solidFill>
                <a:effectLst/>
                <a:latin typeface="Consolas" panose="020B0609020204030204" pitchFamily="49" charset="0"/>
                <a:cs typeface="Consolas" panose="020B0609020204030204" pitchFamily="49" charset="0"/>
              </a:rPr>
              <a:t>&lt;&gt;();</a:t>
            </a:r>
            <a:br>
              <a:rPr lang="fr-BE" dirty="0">
                <a:solidFill>
                  <a:srgbClr val="BCBEC4"/>
                </a:solidFill>
                <a:effectLst/>
                <a:latin typeface="Consolas" panose="020B0609020204030204" pitchFamily="49" charset="0"/>
                <a:cs typeface="Consolas" panose="020B0609020204030204" pitchFamily="49" charset="0"/>
              </a:rPr>
            </a:b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dirty="0">
                <a:solidFill>
                  <a:srgbClr val="CF8E6D"/>
                </a:solidFill>
                <a:effectLst/>
                <a:latin typeface="Consolas" panose="020B0609020204030204" pitchFamily="49" charset="0"/>
                <a:cs typeface="Consolas" panose="020B0609020204030204" pitchFamily="49" charset="0"/>
              </a:rPr>
              <a:t>for </a:t>
            </a:r>
            <a:r>
              <a:rPr lang="fr-BE" dirty="0">
                <a:solidFill>
                  <a:srgbClr val="BCBEC4"/>
                </a:solidFill>
                <a:effectLst/>
                <a:latin typeface="Consolas" panose="020B0609020204030204" pitchFamily="49" charset="0"/>
                <a:cs typeface="Consolas" panose="020B0609020204030204" pitchFamily="49" charset="0"/>
              </a:rPr>
              <a:t>(Melon melon : melons)</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dirty="0">
                <a:solidFill>
                  <a:srgbClr val="CF8E6D"/>
                </a:solidFill>
                <a:effectLst/>
                <a:latin typeface="Consolas" panose="020B0609020204030204" pitchFamily="49" charset="0"/>
                <a:cs typeface="Consolas" panose="020B0609020204030204" pitchFamily="49" charset="0"/>
              </a:rPr>
              <a:t>if </a:t>
            </a:r>
            <a:r>
              <a:rPr lang="fr-BE" dirty="0">
                <a:solidFill>
                  <a:srgbClr val="BCBEC4"/>
                </a:solidFill>
                <a:effectLst/>
                <a:latin typeface="Consolas" panose="020B0609020204030204" pitchFamily="49" charset="0"/>
                <a:cs typeface="Consolas" panose="020B0609020204030204" pitchFamily="49" charset="0"/>
              </a:rPr>
              <a:t>((melon != </a:t>
            </a:r>
            <a:r>
              <a:rPr lang="fr-BE" dirty="0" err="1">
                <a:solidFill>
                  <a:srgbClr val="CF8E6D"/>
                </a:solidFill>
                <a:effectLst/>
                <a:latin typeface="Consolas" panose="020B0609020204030204" pitchFamily="49" charset="0"/>
                <a:cs typeface="Consolas" panose="020B0609020204030204" pitchFamily="49" charset="0"/>
              </a:rPr>
              <a:t>null</a:t>
            </a:r>
            <a:r>
              <a:rPr lang="fr-BE" dirty="0">
                <a:solidFill>
                  <a:srgbClr val="BCBEC4"/>
                </a:solidFill>
                <a:effectLst/>
                <a:latin typeface="Consolas" panose="020B0609020204030204" pitchFamily="49" charset="0"/>
                <a:cs typeface="Consolas" panose="020B0609020204030204" pitchFamily="49" charset="0"/>
              </a:rPr>
              <a:t>) &amp;&amp; (</a:t>
            </a:r>
            <a:r>
              <a:rPr lang="fr-BE" dirty="0" err="1">
                <a:solidFill>
                  <a:srgbClr val="BCBEC4"/>
                </a:solidFill>
                <a:effectLst/>
                <a:latin typeface="Consolas" panose="020B0609020204030204" pitchFamily="49" charset="0"/>
                <a:cs typeface="Consolas" panose="020B0609020204030204" pitchFamily="49" charset="0"/>
              </a:rPr>
              <a:t>predicat.test</a:t>
            </a:r>
            <a:r>
              <a:rPr lang="fr-BE" dirty="0">
                <a:solidFill>
                  <a:srgbClr val="BCBEC4"/>
                </a:solidFill>
                <a:effectLst/>
                <a:latin typeface="Consolas" panose="020B0609020204030204" pitchFamily="49" charset="0"/>
                <a:cs typeface="Consolas" panose="020B0609020204030204" pitchFamily="49" charset="0"/>
              </a:rPr>
              <a:t>(melon)))</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dirty="0" err="1">
                <a:solidFill>
                  <a:srgbClr val="BCBEC4"/>
                </a:solidFill>
                <a:effectLst/>
                <a:latin typeface="Consolas" panose="020B0609020204030204" pitchFamily="49" charset="0"/>
                <a:cs typeface="Consolas" panose="020B0609020204030204" pitchFamily="49" charset="0"/>
              </a:rPr>
              <a:t>resultat.add</a:t>
            </a:r>
            <a:r>
              <a:rPr lang="fr-BE" dirty="0">
                <a:solidFill>
                  <a:srgbClr val="BCBEC4"/>
                </a:solidFill>
                <a:effectLst/>
                <a:latin typeface="Consolas" panose="020B0609020204030204" pitchFamily="49" charset="0"/>
                <a:cs typeface="Consolas" panose="020B0609020204030204" pitchFamily="49" charset="0"/>
              </a:rPr>
              <a:t>(melon);</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dirty="0">
                <a:solidFill>
                  <a:srgbClr val="CF8E6D"/>
                </a:solidFill>
                <a:effectLst/>
                <a:latin typeface="Consolas" panose="020B0609020204030204" pitchFamily="49" charset="0"/>
                <a:cs typeface="Consolas" panose="020B0609020204030204" pitchFamily="49" charset="0"/>
              </a:rPr>
              <a:t>return </a:t>
            </a:r>
            <a:r>
              <a:rPr lang="fr-BE" dirty="0" err="1">
                <a:solidFill>
                  <a:srgbClr val="BCBEC4"/>
                </a:solidFill>
                <a:effectLst/>
                <a:latin typeface="Consolas" panose="020B0609020204030204" pitchFamily="49" charset="0"/>
                <a:cs typeface="Consolas" panose="020B0609020204030204" pitchFamily="49" charset="0"/>
              </a:rPr>
              <a:t>resultat</a:t>
            </a:r>
            <a:r>
              <a:rPr lang="fr-BE" dirty="0">
                <a:solidFill>
                  <a:srgbClr val="BCBEC4"/>
                </a:solidFill>
                <a:effectLst/>
                <a:latin typeface="Consolas" panose="020B0609020204030204" pitchFamily="49" charset="0"/>
                <a:cs typeface="Consolas" panose="020B0609020204030204" pitchFamily="49" charset="0"/>
              </a:rPr>
              <a:t>;</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a:t>
            </a:r>
          </a:p>
        </p:txBody>
      </p:sp>
      <p:sp>
        <p:nvSpPr>
          <p:cNvPr id="4" name="Rectangle : coins arrondis 3">
            <a:extLst>
              <a:ext uri="{FF2B5EF4-FFF2-40B4-BE49-F238E27FC236}">
                <a16:creationId xmlns:a16="http://schemas.microsoft.com/office/drawing/2014/main" id="{F42FDDB1-CB76-9288-E432-158A4D2DFF45}"/>
              </a:ext>
            </a:extLst>
          </p:cNvPr>
          <p:cNvSpPr/>
          <p:nvPr/>
        </p:nvSpPr>
        <p:spPr>
          <a:xfrm>
            <a:off x="8191500" y="2815789"/>
            <a:ext cx="3009900" cy="308803"/>
          </a:xfrm>
          <a:prstGeom prst="round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A0EE3445-FB5D-57C9-A321-28D903CAA0BB}"/>
              </a:ext>
            </a:extLst>
          </p:cNvPr>
          <p:cNvSpPr/>
          <p:nvPr/>
        </p:nvSpPr>
        <p:spPr>
          <a:xfrm>
            <a:off x="9220200" y="4613942"/>
            <a:ext cx="2349500" cy="48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fr-FR" i="1" dirty="0" err="1">
                <a:latin typeface="Consolas" panose="020B0609020204030204" pitchFamily="49" charset="0"/>
                <a:cs typeface="Consolas" panose="020B0609020204030204" pitchFamily="49" charset="0"/>
              </a:rPr>
              <a:t>Filtre.java</a:t>
            </a:r>
            <a:endParaRPr lang="fr-FR" i="1" dirty="0">
              <a:latin typeface="Consolas" panose="020B0609020204030204" pitchFamily="49" charset="0"/>
              <a:cs typeface="Consolas" panose="020B0609020204030204" pitchFamily="49" charset="0"/>
            </a:endParaRPr>
          </a:p>
        </p:txBody>
      </p:sp>
      <p:sp>
        <p:nvSpPr>
          <p:cNvPr id="12" name="Espace réservé du numéro de diapositive 11">
            <a:extLst>
              <a:ext uri="{FF2B5EF4-FFF2-40B4-BE49-F238E27FC236}">
                <a16:creationId xmlns:a16="http://schemas.microsoft.com/office/drawing/2014/main" id="{A6AB5041-F232-726C-B1CF-011038E824E7}"/>
              </a:ext>
            </a:extLst>
          </p:cNvPr>
          <p:cNvSpPr>
            <a:spLocks noGrp="1"/>
          </p:cNvSpPr>
          <p:nvPr>
            <p:ph type="sldNum" sz="quarter" idx="4"/>
          </p:nvPr>
        </p:nvSpPr>
        <p:spPr/>
        <p:txBody>
          <a:bodyPr/>
          <a:lstStyle/>
          <a:p>
            <a:fld id="{33C783E2-4793-4F48-A271-51A73CC37D74}" type="slidenum">
              <a:rPr lang="fr-FR" smtClean="0"/>
              <a:t>65</a:t>
            </a:fld>
            <a:endParaRPr lang="fr-FR"/>
          </a:p>
        </p:txBody>
      </p:sp>
    </p:spTree>
    <p:extLst>
      <p:ext uri="{BB962C8B-B14F-4D97-AF65-F5344CB8AC3E}">
        <p14:creationId xmlns:p14="http://schemas.microsoft.com/office/powerpoint/2010/main" val="375233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par>
                          <p:cTn id="11" fill="hold">
                            <p:stCondLst>
                              <p:cond delay="500"/>
                            </p:stCondLst>
                            <p:childTnLst>
                              <p:par>
                                <p:cTn id="12" presetID="14" presetClass="entr" presetSubtype="10" fill="hold" grpId="0"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randombar(horizontal)">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0"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80A2EA0-AD71-D03B-1F2C-70A6D9C70426}"/>
              </a:ext>
            </a:extLst>
          </p:cNvPr>
          <p:cNvSpPr>
            <a:spLocks noGrp="1"/>
          </p:cNvSpPr>
          <p:nvPr>
            <p:ph type="title"/>
          </p:nvPr>
        </p:nvSpPr>
        <p:spPr/>
        <p:txBody>
          <a:bodyPr/>
          <a:lstStyle/>
          <a:p>
            <a:r>
              <a:rPr lang="fr-FR" dirty="0"/>
              <a:t>Mais ce n’est pas tout…</a:t>
            </a:r>
          </a:p>
        </p:txBody>
      </p:sp>
      <p:sp>
        <p:nvSpPr>
          <p:cNvPr id="3" name="Espace réservé du contenu 2">
            <a:extLst>
              <a:ext uri="{FF2B5EF4-FFF2-40B4-BE49-F238E27FC236}">
                <a16:creationId xmlns:a16="http://schemas.microsoft.com/office/drawing/2014/main" id="{EBD3DD48-6A79-2C8E-90F8-C78EB8DCAEA1}"/>
              </a:ext>
            </a:extLst>
          </p:cNvPr>
          <p:cNvSpPr>
            <a:spLocks noGrp="1"/>
          </p:cNvSpPr>
          <p:nvPr>
            <p:ph idx="1"/>
          </p:nvPr>
        </p:nvSpPr>
        <p:spPr>
          <a:xfrm>
            <a:off x="838200" y="1812925"/>
            <a:ext cx="10515600" cy="4351338"/>
          </a:xfrm>
        </p:spPr>
        <p:txBody>
          <a:bodyPr/>
          <a:lstStyle/>
          <a:p>
            <a:pPr marL="0" indent="0">
              <a:buNone/>
            </a:pPr>
            <a:r>
              <a:rPr lang="fr-FR" dirty="0"/>
              <a:t>Marcel nous demande maintenant chaque jour d’ajouter plusieurs filtres… La situation s’est améliorée, mais nous voulons éviter d’écrire une nouvelle classe pour chaque filtre (</a:t>
            </a:r>
            <a:r>
              <a:rPr lang="fr-BE" sz="2400" dirty="0" err="1">
                <a:solidFill>
                  <a:schemeClr val="accent4"/>
                </a:solidFill>
                <a:effectLst/>
                <a:latin typeface="Consolas" panose="020B0609020204030204" pitchFamily="49" charset="0"/>
                <a:cs typeface="Consolas" panose="020B0609020204030204" pitchFamily="49" charset="0"/>
              </a:rPr>
              <a:t>PredicatMelonEnorme</a:t>
            </a:r>
            <a:r>
              <a:rPr lang="fr-BE" dirty="0"/>
              <a:t> , </a:t>
            </a:r>
            <a:r>
              <a:rPr lang="fr-BE" sz="2400" dirty="0" err="1">
                <a:solidFill>
                  <a:schemeClr val="accent4"/>
                </a:solidFill>
                <a:effectLst/>
                <a:latin typeface="Consolas" panose="020B0609020204030204" pitchFamily="49" charset="0"/>
                <a:cs typeface="Consolas" panose="020B0609020204030204" pitchFamily="49" charset="0"/>
              </a:rPr>
              <a:t>PredicatMelonGold</a:t>
            </a:r>
            <a:r>
              <a:rPr lang="fr-BE" dirty="0"/>
              <a:t>, </a:t>
            </a:r>
            <a:r>
              <a:rPr lang="fr-BE" sz="2400" dirty="0" err="1">
                <a:solidFill>
                  <a:schemeClr val="accent4"/>
                </a:solidFill>
                <a:effectLst/>
                <a:latin typeface="Consolas" panose="020B0609020204030204" pitchFamily="49" charset="0"/>
                <a:cs typeface="Consolas" panose="020B0609020204030204" pitchFamily="49" charset="0"/>
              </a:rPr>
              <a:t>PredicatMelonEuropeen</a:t>
            </a:r>
            <a:r>
              <a:rPr lang="fr-BE" dirty="0"/>
              <a:t>,...</a:t>
            </a:r>
            <a:r>
              <a:rPr lang="fr-FR" dirty="0"/>
              <a:t>).</a:t>
            </a:r>
          </a:p>
          <a:p>
            <a:pPr marL="0" indent="0">
              <a:buNone/>
            </a:pPr>
            <a:r>
              <a:rPr lang="fr-FR" dirty="0"/>
              <a:t>Nous allons donc utiliser des classes anonymes.</a:t>
            </a:r>
          </a:p>
        </p:txBody>
      </p:sp>
      <p:sp>
        <p:nvSpPr>
          <p:cNvPr id="6" name="ZoneTexte 5">
            <a:extLst>
              <a:ext uri="{FF2B5EF4-FFF2-40B4-BE49-F238E27FC236}">
                <a16:creationId xmlns:a16="http://schemas.microsoft.com/office/drawing/2014/main" id="{66973263-9C4A-4CC7-63FA-1D571DC0ABB3}"/>
              </a:ext>
            </a:extLst>
          </p:cNvPr>
          <p:cNvSpPr txBox="1"/>
          <p:nvPr/>
        </p:nvSpPr>
        <p:spPr>
          <a:xfrm>
            <a:off x="1333500" y="4108788"/>
            <a:ext cx="9652000" cy="1754326"/>
          </a:xfrm>
          <a:prstGeom prst="rect">
            <a:avLst/>
          </a:prstGeom>
          <a:solidFill>
            <a:srgbClr val="2B2B2B"/>
          </a:solidFill>
        </p:spPr>
        <p:txBody>
          <a:bodyPr wrap="square">
            <a:spAutoFit/>
          </a:bodyPr>
          <a:lstStyle/>
          <a:p>
            <a:r>
              <a:rPr lang="fr-BE" dirty="0">
                <a:solidFill>
                  <a:srgbClr val="BCBEC4"/>
                </a:solidFill>
                <a:effectLst/>
                <a:latin typeface="Consolas" panose="020B0609020204030204" pitchFamily="49" charset="0"/>
                <a:cs typeface="Consolas" panose="020B0609020204030204" pitchFamily="49" charset="0"/>
              </a:rPr>
              <a:t>List&lt;Melon&gt; </a:t>
            </a:r>
            <a:r>
              <a:rPr lang="fr-BE" dirty="0" err="1">
                <a:solidFill>
                  <a:srgbClr val="BCBEC4"/>
                </a:solidFill>
                <a:effectLst/>
                <a:latin typeface="Consolas" panose="020B0609020204030204" pitchFamily="49" charset="0"/>
                <a:cs typeface="Consolas" panose="020B0609020204030204" pitchFamily="49" charset="0"/>
              </a:rPr>
              <a:t>europeens</a:t>
            </a:r>
            <a:r>
              <a:rPr lang="fr-BE" dirty="0">
                <a:solidFill>
                  <a:srgbClr val="BCBEC4"/>
                </a:solidFill>
                <a:effectLst/>
                <a:latin typeface="Consolas" panose="020B0609020204030204" pitchFamily="49" charset="0"/>
                <a:cs typeface="Consolas" panose="020B0609020204030204" pitchFamily="49" charset="0"/>
              </a:rPr>
              <a:t> = </a:t>
            </a:r>
            <a:r>
              <a:rPr lang="fr-BE" dirty="0" err="1">
                <a:solidFill>
                  <a:srgbClr val="BCBEC4"/>
                </a:solidFill>
                <a:effectLst/>
                <a:latin typeface="Consolas" panose="020B0609020204030204" pitchFamily="49" charset="0"/>
                <a:cs typeface="Consolas" panose="020B0609020204030204" pitchFamily="49" charset="0"/>
              </a:rPr>
              <a:t>Filtre.</a:t>
            </a:r>
            <a:r>
              <a:rPr lang="fr-BE" i="1" dirty="0" err="1">
                <a:solidFill>
                  <a:srgbClr val="BCBEC4"/>
                </a:solidFill>
                <a:effectLst/>
                <a:latin typeface="Consolas" panose="020B0609020204030204" pitchFamily="49" charset="0"/>
                <a:cs typeface="Consolas" panose="020B0609020204030204" pitchFamily="49" charset="0"/>
              </a:rPr>
              <a:t>filtrerMelons</a:t>
            </a:r>
            <a:r>
              <a:rPr lang="fr-BE" dirty="0">
                <a:solidFill>
                  <a:srgbClr val="BCBEC4"/>
                </a:solidFill>
                <a:effectLst/>
                <a:latin typeface="Consolas" panose="020B0609020204030204" pitchFamily="49" charset="0"/>
                <a:cs typeface="Consolas" panose="020B0609020204030204" pitchFamily="49" charset="0"/>
              </a:rPr>
              <a:t>(melons, </a:t>
            </a:r>
            <a:r>
              <a:rPr lang="fr-BE" dirty="0">
                <a:solidFill>
                  <a:srgbClr val="CF8E6D"/>
                </a:solidFill>
                <a:effectLst/>
                <a:latin typeface="Consolas" panose="020B0609020204030204" pitchFamily="49" charset="0"/>
                <a:cs typeface="Consolas" panose="020B0609020204030204" pitchFamily="49" charset="0"/>
              </a:rPr>
              <a:t>new </a:t>
            </a:r>
            <a:r>
              <a:rPr lang="fr-BE" dirty="0" err="1">
                <a:solidFill>
                  <a:srgbClr val="BCBEC4"/>
                </a:solidFill>
                <a:effectLst/>
                <a:latin typeface="Consolas" panose="020B0609020204030204" pitchFamily="49" charset="0"/>
                <a:cs typeface="Consolas" panose="020B0609020204030204" pitchFamily="49" charset="0"/>
              </a:rPr>
              <a:t>PredicatMelon</a:t>
            </a:r>
            <a:r>
              <a:rPr lang="fr-BE" dirty="0">
                <a:solidFill>
                  <a:srgbClr val="BCBEC4"/>
                </a:solidFill>
                <a:effectLst/>
                <a:latin typeface="Consolas" panose="020B0609020204030204" pitchFamily="49" charset="0"/>
                <a:cs typeface="Consolas" panose="020B0609020204030204" pitchFamily="49" charset="0"/>
              </a:rPr>
              <a:t>() {</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dirty="0">
                <a:solidFill>
                  <a:srgbClr val="B3AE60"/>
                </a:solidFill>
                <a:effectLst/>
                <a:latin typeface="Consolas" panose="020B0609020204030204" pitchFamily="49" charset="0"/>
                <a:cs typeface="Consolas" panose="020B0609020204030204" pitchFamily="49" charset="0"/>
              </a:rPr>
              <a:t>@</a:t>
            </a:r>
            <a:r>
              <a:rPr lang="fr-BE" dirty="0" err="1">
                <a:solidFill>
                  <a:srgbClr val="B3AE60"/>
                </a:solidFill>
                <a:effectLst/>
                <a:latin typeface="Consolas" panose="020B0609020204030204" pitchFamily="49" charset="0"/>
                <a:cs typeface="Consolas" panose="020B0609020204030204" pitchFamily="49" charset="0"/>
              </a:rPr>
              <a:t>Override</a:t>
            </a:r>
            <a:br>
              <a:rPr lang="fr-BE" dirty="0">
                <a:solidFill>
                  <a:srgbClr val="B3AE60"/>
                </a:solidFill>
                <a:effectLst/>
                <a:latin typeface="Consolas" panose="020B0609020204030204" pitchFamily="49" charset="0"/>
                <a:cs typeface="Consolas" panose="020B0609020204030204" pitchFamily="49" charset="0"/>
              </a:rPr>
            </a:br>
            <a:r>
              <a:rPr lang="fr-BE" dirty="0">
                <a:solidFill>
                  <a:srgbClr val="B3AE60"/>
                </a:solidFill>
                <a:effectLst/>
                <a:latin typeface="Consolas" panose="020B0609020204030204" pitchFamily="49" charset="0"/>
                <a:cs typeface="Consolas" panose="020B0609020204030204" pitchFamily="49" charset="0"/>
              </a:rPr>
              <a:t>    </a:t>
            </a:r>
            <a:r>
              <a:rPr lang="fr-BE" dirty="0">
                <a:solidFill>
                  <a:srgbClr val="CF8E6D"/>
                </a:solidFill>
                <a:effectLst/>
                <a:latin typeface="Consolas" panose="020B0609020204030204" pitchFamily="49" charset="0"/>
                <a:cs typeface="Consolas" panose="020B0609020204030204" pitchFamily="49" charset="0"/>
              </a:rPr>
              <a:t>public </a:t>
            </a:r>
            <a:r>
              <a:rPr lang="fr-BE" dirty="0" err="1">
                <a:solidFill>
                  <a:srgbClr val="CF8E6D"/>
                </a:solidFill>
                <a:effectLst/>
                <a:latin typeface="Consolas" panose="020B0609020204030204" pitchFamily="49" charset="0"/>
                <a:cs typeface="Consolas" panose="020B0609020204030204" pitchFamily="49" charset="0"/>
              </a:rPr>
              <a:t>boolean</a:t>
            </a:r>
            <a:r>
              <a:rPr lang="fr-BE" dirty="0">
                <a:solidFill>
                  <a:srgbClr val="CF8E6D"/>
                </a:solidFill>
                <a:effectLst/>
                <a:latin typeface="Consolas" panose="020B0609020204030204" pitchFamily="49" charset="0"/>
                <a:cs typeface="Consolas" panose="020B0609020204030204" pitchFamily="49" charset="0"/>
              </a:rPr>
              <a:t> </a:t>
            </a:r>
            <a:r>
              <a:rPr lang="fr-BE" dirty="0">
                <a:solidFill>
                  <a:srgbClr val="56A8F5"/>
                </a:solidFill>
                <a:effectLst/>
                <a:latin typeface="Consolas" panose="020B0609020204030204" pitchFamily="49" charset="0"/>
                <a:cs typeface="Consolas" panose="020B0609020204030204" pitchFamily="49" charset="0"/>
              </a:rPr>
              <a:t>test</a:t>
            </a:r>
            <a:r>
              <a:rPr lang="fr-BE" dirty="0">
                <a:solidFill>
                  <a:srgbClr val="BCBEC4"/>
                </a:solidFill>
                <a:effectLst/>
                <a:latin typeface="Consolas" panose="020B0609020204030204" pitchFamily="49" charset="0"/>
                <a:cs typeface="Consolas" panose="020B0609020204030204" pitchFamily="49" charset="0"/>
              </a:rPr>
              <a:t>(Melon melon) {</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dirty="0">
                <a:solidFill>
                  <a:srgbClr val="CF8E6D"/>
                </a:solidFill>
                <a:effectLst/>
                <a:latin typeface="Consolas" panose="020B0609020204030204" pitchFamily="49" charset="0"/>
                <a:cs typeface="Consolas" panose="020B0609020204030204" pitchFamily="49" charset="0"/>
              </a:rPr>
              <a:t>return </a:t>
            </a:r>
            <a:r>
              <a:rPr lang="fr-BE" dirty="0">
                <a:solidFill>
                  <a:srgbClr val="6AAB73"/>
                </a:solidFill>
                <a:effectLst/>
                <a:latin typeface="Consolas" panose="020B0609020204030204" pitchFamily="49" charset="0"/>
                <a:cs typeface="Consolas" panose="020B0609020204030204" pitchFamily="49" charset="0"/>
              </a:rPr>
              <a:t>"Europe"</a:t>
            </a:r>
            <a:r>
              <a:rPr lang="fr-BE" dirty="0">
                <a:solidFill>
                  <a:srgbClr val="BCBEC4"/>
                </a:solidFill>
                <a:effectLst/>
                <a:latin typeface="Consolas" panose="020B0609020204030204" pitchFamily="49" charset="0"/>
                <a:cs typeface="Consolas" panose="020B0609020204030204" pitchFamily="49" charset="0"/>
              </a:rPr>
              <a:t>.</a:t>
            </a:r>
            <a:r>
              <a:rPr lang="fr-BE" dirty="0" err="1">
                <a:solidFill>
                  <a:srgbClr val="BCBEC4"/>
                </a:solidFill>
                <a:effectLst/>
                <a:latin typeface="Consolas" panose="020B0609020204030204" pitchFamily="49" charset="0"/>
                <a:cs typeface="Consolas" panose="020B0609020204030204" pitchFamily="49" charset="0"/>
              </a:rPr>
              <a:t>equalsIgnoreCase</a:t>
            </a:r>
            <a:r>
              <a:rPr lang="fr-BE" dirty="0">
                <a:solidFill>
                  <a:srgbClr val="BCBEC4"/>
                </a:solidFill>
                <a:effectLst/>
                <a:latin typeface="Consolas" panose="020B0609020204030204" pitchFamily="49" charset="0"/>
                <a:cs typeface="Consolas" panose="020B0609020204030204" pitchFamily="49" charset="0"/>
              </a:rPr>
              <a:t>(</a:t>
            </a:r>
            <a:r>
              <a:rPr lang="fr-BE" dirty="0" err="1">
                <a:solidFill>
                  <a:srgbClr val="BCBEC4"/>
                </a:solidFill>
                <a:effectLst/>
                <a:latin typeface="Consolas" panose="020B0609020204030204" pitchFamily="49" charset="0"/>
                <a:cs typeface="Consolas" panose="020B0609020204030204" pitchFamily="49" charset="0"/>
              </a:rPr>
              <a:t>melon.getOrigine</a:t>
            </a:r>
            <a:r>
              <a:rPr lang="fr-BE" dirty="0">
                <a:solidFill>
                  <a:srgbClr val="BCBEC4"/>
                </a:solidFill>
                <a:effectLst/>
                <a:latin typeface="Consolas" panose="020B0609020204030204" pitchFamily="49" charset="0"/>
                <a:cs typeface="Consolas" panose="020B0609020204030204" pitchFamily="49" charset="0"/>
              </a:rPr>
              <a:t>());</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a:t>
            </a:r>
          </a:p>
        </p:txBody>
      </p:sp>
      <p:sp>
        <p:nvSpPr>
          <p:cNvPr id="13" name="Forme libre 12">
            <a:extLst>
              <a:ext uri="{FF2B5EF4-FFF2-40B4-BE49-F238E27FC236}">
                <a16:creationId xmlns:a16="http://schemas.microsoft.com/office/drawing/2014/main" id="{D6B2931D-7DF3-2ECC-C1F7-44F163CB9922}"/>
              </a:ext>
            </a:extLst>
          </p:cNvPr>
          <p:cNvSpPr/>
          <p:nvPr/>
        </p:nvSpPr>
        <p:spPr>
          <a:xfrm>
            <a:off x="1358900" y="4114800"/>
            <a:ext cx="9461500" cy="1714500"/>
          </a:xfrm>
          <a:custGeom>
            <a:avLst/>
            <a:gdLst>
              <a:gd name="connsiteX0" fmla="*/ 6667500 w 9461500"/>
              <a:gd name="connsiteY0" fmla="*/ 0 h 1714500"/>
              <a:gd name="connsiteX1" fmla="*/ 9461500 w 9461500"/>
              <a:gd name="connsiteY1" fmla="*/ 0 h 1714500"/>
              <a:gd name="connsiteX2" fmla="*/ 9461500 w 9461500"/>
              <a:gd name="connsiteY2" fmla="*/ 1280527 h 1714500"/>
              <a:gd name="connsiteX3" fmla="*/ 863600 w 9461500"/>
              <a:gd name="connsiteY3" fmla="*/ 1280527 h 1714500"/>
              <a:gd name="connsiteX4" fmla="*/ 863600 w 9461500"/>
              <a:gd name="connsiteY4" fmla="*/ 1714500 h 1714500"/>
              <a:gd name="connsiteX5" fmla="*/ 0 w 9461500"/>
              <a:gd name="connsiteY5" fmla="*/ 1714500 h 1714500"/>
              <a:gd name="connsiteX6" fmla="*/ 0 w 9461500"/>
              <a:gd name="connsiteY6" fmla="*/ 342900 h 1714500"/>
              <a:gd name="connsiteX7" fmla="*/ 6667500 w 9461500"/>
              <a:gd name="connsiteY7" fmla="*/ 342900 h 171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461500" h="1714500">
                <a:moveTo>
                  <a:pt x="6667500" y="0"/>
                </a:moveTo>
                <a:lnTo>
                  <a:pt x="9461500" y="0"/>
                </a:lnTo>
                <a:lnTo>
                  <a:pt x="9461500" y="1280527"/>
                </a:lnTo>
                <a:lnTo>
                  <a:pt x="863600" y="1280527"/>
                </a:lnTo>
                <a:lnTo>
                  <a:pt x="863600" y="1714500"/>
                </a:lnTo>
                <a:lnTo>
                  <a:pt x="0" y="1714500"/>
                </a:lnTo>
                <a:lnTo>
                  <a:pt x="0" y="342900"/>
                </a:lnTo>
                <a:lnTo>
                  <a:pt x="6667500" y="342900"/>
                </a:lnTo>
                <a:close/>
              </a:path>
            </a:pathLst>
          </a:cu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4" name="Rectangle 13">
            <a:extLst>
              <a:ext uri="{FF2B5EF4-FFF2-40B4-BE49-F238E27FC236}">
                <a16:creationId xmlns:a16="http://schemas.microsoft.com/office/drawing/2014/main" id="{9153E28D-5259-15DA-58BC-44D724E1B963}"/>
              </a:ext>
            </a:extLst>
          </p:cNvPr>
          <p:cNvSpPr/>
          <p:nvPr/>
        </p:nvSpPr>
        <p:spPr>
          <a:xfrm>
            <a:off x="8585200" y="5397423"/>
            <a:ext cx="2349500" cy="48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fr-FR" i="1" dirty="0" err="1">
                <a:latin typeface="Consolas" panose="020B0609020204030204" pitchFamily="49" charset="0"/>
                <a:cs typeface="Consolas" panose="020B0609020204030204" pitchFamily="49" charset="0"/>
              </a:rPr>
              <a:t>Programme.java</a:t>
            </a:r>
            <a:endParaRPr lang="fr-FR" i="1" dirty="0">
              <a:latin typeface="Consolas" panose="020B0609020204030204" pitchFamily="49" charset="0"/>
              <a:cs typeface="Consolas" panose="020B0609020204030204" pitchFamily="49" charset="0"/>
            </a:endParaRPr>
          </a:p>
        </p:txBody>
      </p:sp>
      <p:sp>
        <p:nvSpPr>
          <p:cNvPr id="15" name="Espace réservé du numéro de diapositive 14">
            <a:extLst>
              <a:ext uri="{FF2B5EF4-FFF2-40B4-BE49-F238E27FC236}">
                <a16:creationId xmlns:a16="http://schemas.microsoft.com/office/drawing/2014/main" id="{C40CAE4C-1B4E-90BB-791C-7F50CFE490F4}"/>
              </a:ext>
            </a:extLst>
          </p:cNvPr>
          <p:cNvSpPr>
            <a:spLocks noGrp="1"/>
          </p:cNvSpPr>
          <p:nvPr>
            <p:ph type="sldNum" sz="quarter" idx="4"/>
          </p:nvPr>
        </p:nvSpPr>
        <p:spPr/>
        <p:txBody>
          <a:bodyPr/>
          <a:lstStyle/>
          <a:p>
            <a:fld id="{33C783E2-4793-4F48-A271-51A73CC37D74}" type="slidenum">
              <a:rPr lang="fr-FR" smtClean="0"/>
              <a:t>66</a:t>
            </a:fld>
            <a:endParaRPr lang="fr-FR"/>
          </a:p>
        </p:txBody>
      </p:sp>
    </p:spTree>
    <p:extLst>
      <p:ext uri="{BB962C8B-B14F-4D97-AF65-F5344CB8AC3E}">
        <p14:creationId xmlns:p14="http://schemas.microsoft.com/office/powerpoint/2010/main" val="3278719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3" grpId="0" animBg="1"/>
      <p:bldP spid="14"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CA8F90-FFD8-C3BC-FF14-EF02FBF48AA8}"/>
              </a:ext>
            </a:extLst>
          </p:cNvPr>
          <p:cNvSpPr>
            <a:spLocks noGrp="1"/>
          </p:cNvSpPr>
          <p:nvPr>
            <p:ph type="title"/>
          </p:nvPr>
        </p:nvSpPr>
        <p:spPr/>
        <p:txBody>
          <a:bodyPr>
            <a:normAutofit fontScale="90000"/>
          </a:bodyPr>
          <a:lstStyle/>
          <a:p>
            <a:r>
              <a:rPr lang="fr-FR" dirty="0"/>
              <a:t>Nous utilisons donc des classes anonymes.</a:t>
            </a:r>
          </a:p>
        </p:txBody>
      </p:sp>
      <p:sp>
        <p:nvSpPr>
          <p:cNvPr id="3" name="Espace réservé du contenu 2">
            <a:extLst>
              <a:ext uri="{FF2B5EF4-FFF2-40B4-BE49-F238E27FC236}">
                <a16:creationId xmlns:a16="http://schemas.microsoft.com/office/drawing/2014/main" id="{D006C21A-C7BD-3455-BB26-1AA93DD3A65F}"/>
              </a:ext>
            </a:extLst>
          </p:cNvPr>
          <p:cNvSpPr>
            <a:spLocks noGrp="1"/>
          </p:cNvSpPr>
          <p:nvPr>
            <p:ph idx="1"/>
          </p:nvPr>
        </p:nvSpPr>
        <p:spPr>
          <a:xfrm>
            <a:off x="838200" y="1825625"/>
            <a:ext cx="10515600" cy="1325563"/>
          </a:xfrm>
        </p:spPr>
        <p:txBody>
          <a:bodyPr>
            <a:normAutofit lnSpcReduction="10000"/>
          </a:bodyPr>
          <a:lstStyle/>
          <a:p>
            <a:pPr marL="0" indent="0">
              <a:buNone/>
            </a:pPr>
            <a:r>
              <a:rPr lang="fr-FR" dirty="0"/>
              <a:t>Vous pouvez donc utiliser des classes anonymes pour créer vos filtres…</a:t>
            </a:r>
          </a:p>
          <a:p>
            <a:pPr marL="0" indent="0">
              <a:buNone/>
            </a:pPr>
            <a:r>
              <a:rPr lang="fr-FR" dirty="0"/>
              <a:t> Mais ce n’est pas encore idéal, puisque la partie utile de la classe anonyme est relativement courte.</a:t>
            </a:r>
          </a:p>
        </p:txBody>
      </p:sp>
      <p:sp>
        <p:nvSpPr>
          <p:cNvPr id="19" name="ZoneTexte 18">
            <a:extLst>
              <a:ext uri="{FF2B5EF4-FFF2-40B4-BE49-F238E27FC236}">
                <a16:creationId xmlns:a16="http://schemas.microsoft.com/office/drawing/2014/main" id="{8D5A7EE9-9A96-B696-03B0-496EAEFD88E0}"/>
              </a:ext>
            </a:extLst>
          </p:cNvPr>
          <p:cNvSpPr txBox="1"/>
          <p:nvPr/>
        </p:nvSpPr>
        <p:spPr>
          <a:xfrm>
            <a:off x="2266950" y="5207000"/>
            <a:ext cx="7143750" cy="369332"/>
          </a:xfrm>
          <a:prstGeom prst="rect">
            <a:avLst/>
          </a:prstGeom>
          <a:solidFill>
            <a:srgbClr val="2B2B2B"/>
          </a:solidFill>
        </p:spPr>
        <p:txBody>
          <a:bodyPr wrap="square">
            <a:spAutoFit/>
          </a:bodyPr>
          <a:lstStyle/>
          <a:p>
            <a:r>
              <a:rPr lang="fr-BE" dirty="0">
                <a:solidFill>
                  <a:srgbClr val="CF8E6D"/>
                </a:solidFill>
                <a:effectLst/>
                <a:latin typeface="Consolas" panose="020B0609020204030204" pitchFamily="49" charset="0"/>
                <a:cs typeface="Consolas" panose="020B0609020204030204" pitchFamily="49" charset="0"/>
              </a:rPr>
              <a:t>return </a:t>
            </a:r>
            <a:r>
              <a:rPr lang="fr-BE" dirty="0">
                <a:solidFill>
                  <a:srgbClr val="6AAB73"/>
                </a:solidFill>
                <a:effectLst/>
                <a:latin typeface="Consolas" panose="020B0609020204030204" pitchFamily="49" charset="0"/>
                <a:cs typeface="Consolas" panose="020B0609020204030204" pitchFamily="49" charset="0"/>
              </a:rPr>
              <a:t>"Europe"</a:t>
            </a:r>
            <a:r>
              <a:rPr lang="fr-BE" dirty="0">
                <a:solidFill>
                  <a:srgbClr val="BCBEC4"/>
                </a:solidFill>
                <a:effectLst/>
                <a:latin typeface="Consolas" panose="020B0609020204030204" pitchFamily="49" charset="0"/>
                <a:cs typeface="Consolas" panose="020B0609020204030204" pitchFamily="49" charset="0"/>
              </a:rPr>
              <a:t>.</a:t>
            </a:r>
            <a:r>
              <a:rPr lang="fr-BE" dirty="0" err="1">
                <a:solidFill>
                  <a:srgbClr val="BCBEC4"/>
                </a:solidFill>
                <a:effectLst/>
                <a:latin typeface="Consolas" panose="020B0609020204030204" pitchFamily="49" charset="0"/>
                <a:cs typeface="Consolas" panose="020B0609020204030204" pitchFamily="49" charset="0"/>
              </a:rPr>
              <a:t>equalsIgnoreCase</a:t>
            </a:r>
            <a:r>
              <a:rPr lang="fr-BE" dirty="0">
                <a:solidFill>
                  <a:srgbClr val="BCBEC4"/>
                </a:solidFill>
                <a:effectLst/>
                <a:latin typeface="Consolas" panose="020B0609020204030204" pitchFamily="49" charset="0"/>
                <a:cs typeface="Consolas" panose="020B0609020204030204" pitchFamily="49" charset="0"/>
              </a:rPr>
              <a:t>(</a:t>
            </a:r>
            <a:r>
              <a:rPr lang="fr-BE" dirty="0" err="1">
                <a:solidFill>
                  <a:srgbClr val="BCBEC4"/>
                </a:solidFill>
                <a:effectLst/>
                <a:latin typeface="Consolas" panose="020B0609020204030204" pitchFamily="49" charset="0"/>
                <a:cs typeface="Consolas" panose="020B0609020204030204" pitchFamily="49" charset="0"/>
              </a:rPr>
              <a:t>melon.getOrigine</a:t>
            </a:r>
            <a:r>
              <a:rPr lang="fr-BE" dirty="0">
                <a:solidFill>
                  <a:srgbClr val="BCBEC4"/>
                </a:solidFill>
                <a:effectLst/>
                <a:latin typeface="Consolas" panose="020B0609020204030204" pitchFamily="49" charset="0"/>
                <a:cs typeface="Consolas" panose="020B0609020204030204" pitchFamily="49" charset="0"/>
              </a:rPr>
              <a:t>());</a:t>
            </a:r>
            <a:endParaRPr lang="fr-FR" dirty="0"/>
          </a:p>
        </p:txBody>
      </p:sp>
      <p:sp>
        <p:nvSpPr>
          <p:cNvPr id="21" name="ZoneTexte 20">
            <a:extLst>
              <a:ext uri="{FF2B5EF4-FFF2-40B4-BE49-F238E27FC236}">
                <a16:creationId xmlns:a16="http://schemas.microsoft.com/office/drawing/2014/main" id="{264042D5-FD73-FDF7-40E4-6D6F79856E83}"/>
              </a:ext>
            </a:extLst>
          </p:cNvPr>
          <p:cNvSpPr txBox="1"/>
          <p:nvPr/>
        </p:nvSpPr>
        <p:spPr>
          <a:xfrm>
            <a:off x="1206500" y="3151188"/>
            <a:ext cx="9906000" cy="1754326"/>
          </a:xfrm>
          <a:prstGeom prst="rect">
            <a:avLst/>
          </a:prstGeom>
          <a:solidFill>
            <a:srgbClr val="2B2B2B"/>
          </a:solidFill>
        </p:spPr>
        <p:txBody>
          <a:bodyPr wrap="square">
            <a:spAutoFit/>
          </a:bodyPr>
          <a:lstStyle/>
          <a:p>
            <a:r>
              <a:rPr lang="fr-BE" dirty="0">
                <a:solidFill>
                  <a:srgbClr val="CF8E6D"/>
                </a:solidFill>
                <a:effectLst/>
                <a:latin typeface="Consolas" panose="020B0609020204030204" pitchFamily="49" charset="0"/>
                <a:cs typeface="Consolas" panose="020B0609020204030204" pitchFamily="49" charset="0"/>
              </a:rPr>
              <a:t>                                                       new </a:t>
            </a:r>
            <a:r>
              <a:rPr lang="fr-BE" dirty="0" err="1">
                <a:solidFill>
                  <a:srgbClr val="BCBEC4"/>
                </a:solidFill>
                <a:effectLst/>
                <a:latin typeface="Consolas" panose="020B0609020204030204" pitchFamily="49" charset="0"/>
                <a:cs typeface="Consolas" panose="020B0609020204030204" pitchFamily="49" charset="0"/>
              </a:rPr>
              <a:t>PredicatMelon</a:t>
            </a:r>
            <a:r>
              <a:rPr lang="fr-BE" dirty="0">
                <a:solidFill>
                  <a:srgbClr val="BCBEC4"/>
                </a:solidFill>
                <a:effectLst/>
                <a:latin typeface="Consolas" panose="020B0609020204030204" pitchFamily="49" charset="0"/>
                <a:cs typeface="Consolas" panose="020B0609020204030204" pitchFamily="49" charset="0"/>
              </a:rPr>
              <a:t>() {</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dirty="0">
                <a:solidFill>
                  <a:srgbClr val="B3AE60"/>
                </a:solidFill>
                <a:effectLst/>
                <a:latin typeface="Consolas" panose="020B0609020204030204" pitchFamily="49" charset="0"/>
                <a:cs typeface="Consolas" panose="020B0609020204030204" pitchFamily="49" charset="0"/>
              </a:rPr>
              <a:t>@</a:t>
            </a:r>
            <a:r>
              <a:rPr lang="fr-BE" dirty="0" err="1">
                <a:solidFill>
                  <a:srgbClr val="B3AE60"/>
                </a:solidFill>
                <a:effectLst/>
                <a:latin typeface="Consolas" panose="020B0609020204030204" pitchFamily="49" charset="0"/>
                <a:cs typeface="Consolas" panose="020B0609020204030204" pitchFamily="49" charset="0"/>
              </a:rPr>
              <a:t>Override</a:t>
            </a:r>
            <a:br>
              <a:rPr lang="fr-BE" dirty="0">
                <a:solidFill>
                  <a:srgbClr val="B3AE60"/>
                </a:solidFill>
                <a:effectLst/>
                <a:latin typeface="Consolas" panose="020B0609020204030204" pitchFamily="49" charset="0"/>
                <a:cs typeface="Consolas" panose="020B0609020204030204" pitchFamily="49" charset="0"/>
              </a:rPr>
            </a:br>
            <a:r>
              <a:rPr lang="fr-BE" dirty="0">
                <a:solidFill>
                  <a:srgbClr val="B3AE60"/>
                </a:solidFill>
                <a:effectLst/>
                <a:latin typeface="Consolas" panose="020B0609020204030204" pitchFamily="49" charset="0"/>
                <a:cs typeface="Consolas" panose="020B0609020204030204" pitchFamily="49" charset="0"/>
              </a:rPr>
              <a:t>    </a:t>
            </a:r>
            <a:r>
              <a:rPr lang="fr-BE" dirty="0">
                <a:solidFill>
                  <a:srgbClr val="CF8E6D"/>
                </a:solidFill>
                <a:effectLst/>
                <a:latin typeface="Consolas" panose="020B0609020204030204" pitchFamily="49" charset="0"/>
                <a:cs typeface="Consolas" panose="020B0609020204030204" pitchFamily="49" charset="0"/>
              </a:rPr>
              <a:t>public </a:t>
            </a:r>
            <a:r>
              <a:rPr lang="fr-BE" dirty="0" err="1">
                <a:solidFill>
                  <a:srgbClr val="CF8E6D"/>
                </a:solidFill>
                <a:effectLst/>
                <a:latin typeface="Consolas" panose="020B0609020204030204" pitchFamily="49" charset="0"/>
                <a:cs typeface="Consolas" panose="020B0609020204030204" pitchFamily="49" charset="0"/>
              </a:rPr>
              <a:t>boolean</a:t>
            </a:r>
            <a:r>
              <a:rPr lang="fr-BE" dirty="0">
                <a:solidFill>
                  <a:srgbClr val="CF8E6D"/>
                </a:solidFill>
                <a:effectLst/>
                <a:latin typeface="Consolas" panose="020B0609020204030204" pitchFamily="49" charset="0"/>
                <a:cs typeface="Consolas" panose="020B0609020204030204" pitchFamily="49" charset="0"/>
              </a:rPr>
              <a:t> </a:t>
            </a:r>
            <a:r>
              <a:rPr lang="fr-BE" dirty="0">
                <a:solidFill>
                  <a:srgbClr val="56A8F5"/>
                </a:solidFill>
                <a:effectLst/>
                <a:latin typeface="Consolas" panose="020B0609020204030204" pitchFamily="49" charset="0"/>
                <a:cs typeface="Consolas" panose="020B0609020204030204" pitchFamily="49" charset="0"/>
              </a:rPr>
              <a:t>test</a:t>
            </a:r>
            <a:r>
              <a:rPr lang="fr-BE" dirty="0">
                <a:solidFill>
                  <a:srgbClr val="BCBEC4"/>
                </a:solidFill>
                <a:effectLst/>
                <a:latin typeface="Consolas" panose="020B0609020204030204" pitchFamily="49" charset="0"/>
                <a:cs typeface="Consolas" panose="020B0609020204030204" pitchFamily="49" charset="0"/>
              </a:rPr>
              <a:t>(Melon melon) {</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dirty="0">
                <a:solidFill>
                  <a:srgbClr val="CF8E6D"/>
                </a:solidFill>
                <a:effectLst/>
                <a:latin typeface="Consolas" panose="020B0609020204030204" pitchFamily="49" charset="0"/>
                <a:cs typeface="Consolas" panose="020B0609020204030204" pitchFamily="49" charset="0"/>
              </a:rPr>
              <a:t>return </a:t>
            </a:r>
            <a:r>
              <a:rPr lang="fr-BE" dirty="0">
                <a:solidFill>
                  <a:srgbClr val="6AAB73"/>
                </a:solidFill>
                <a:effectLst/>
                <a:latin typeface="Consolas" panose="020B0609020204030204" pitchFamily="49" charset="0"/>
                <a:cs typeface="Consolas" panose="020B0609020204030204" pitchFamily="49" charset="0"/>
              </a:rPr>
              <a:t>"Europe"</a:t>
            </a:r>
            <a:r>
              <a:rPr lang="fr-BE" dirty="0">
                <a:solidFill>
                  <a:srgbClr val="BCBEC4"/>
                </a:solidFill>
                <a:effectLst/>
                <a:latin typeface="Consolas" panose="020B0609020204030204" pitchFamily="49" charset="0"/>
                <a:cs typeface="Consolas" panose="020B0609020204030204" pitchFamily="49" charset="0"/>
              </a:rPr>
              <a:t>.</a:t>
            </a:r>
            <a:r>
              <a:rPr lang="fr-BE" dirty="0" err="1">
                <a:solidFill>
                  <a:srgbClr val="BCBEC4"/>
                </a:solidFill>
                <a:effectLst/>
                <a:latin typeface="Consolas" panose="020B0609020204030204" pitchFamily="49" charset="0"/>
                <a:cs typeface="Consolas" panose="020B0609020204030204" pitchFamily="49" charset="0"/>
              </a:rPr>
              <a:t>equalsIgnoreCase</a:t>
            </a:r>
            <a:r>
              <a:rPr lang="fr-BE" dirty="0">
                <a:solidFill>
                  <a:srgbClr val="BCBEC4"/>
                </a:solidFill>
                <a:effectLst/>
                <a:latin typeface="Consolas" panose="020B0609020204030204" pitchFamily="49" charset="0"/>
                <a:cs typeface="Consolas" panose="020B0609020204030204" pitchFamily="49" charset="0"/>
              </a:rPr>
              <a:t>(</a:t>
            </a:r>
            <a:r>
              <a:rPr lang="fr-BE" dirty="0" err="1">
                <a:solidFill>
                  <a:srgbClr val="BCBEC4"/>
                </a:solidFill>
                <a:effectLst/>
                <a:latin typeface="Consolas" panose="020B0609020204030204" pitchFamily="49" charset="0"/>
                <a:cs typeface="Consolas" panose="020B0609020204030204" pitchFamily="49" charset="0"/>
              </a:rPr>
              <a:t>melon.getOrigine</a:t>
            </a:r>
            <a:r>
              <a:rPr lang="fr-BE" dirty="0">
                <a:solidFill>
                  <a:srgbClr val="BCBEC4"/>
                </a:solidFill>
                <a:effectLst/>
                <a:latin typeface="Consolas" panose="020B0609020204030204" pitchFamily="49" charset="0"/>
                <a:cs typeface="Consolas" panose="020B0609020204030204" pitchFamily="49" charset="0"/>
              </a:rPr>
              <a:t>());</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a:t>
            </a:r>
            <a:endParaRPr lang="fr-FR" dirty="0"/>
          </a:p>
        </p:txBody>
      </p:sp>
      <p:sp>
        <p:nvSpPr>
          <p:cNvPr id="22" name="Forme libre 21">
            <a:extLst>
              <a:ext uri="{FF2B5EF4-FFF2-40B4-BE49-F238E27FC236}">
                <a16:creationId xmlns:a16="http://schemas.microsoft.com/office/drawing/2014/main" id="{B5D66A3D-5320-BD88-0194-C567AD65B7FD}"/>
              </a:ext>
            </a:extLst>
          </p:cNvPr>
          <p:cNvSpPr/>
          <p:nvPr/>
        </p:nvSpPr>
        <p:spPr>
          <a:xfrm>
            <a:off x="1358900" y="3145741"/>
            <a:ext cx="9461500" cy="1714500"/>
          </a:xfrm>
          <a:custGeom>
            <a:avLst/>
            <a:gdLst>
              <a:gd name="connsiteX0" fmla="*/ 6667500 w 9461500"/>
              <a:gd name="connsiteY0" fmla="*/ 0 h 1714500"/>
              <a:gd name="connsiteX1" fmla="*/ 9461500 w 9461500"/>
              <a:gd name="connsiteY1" fmla="*/ 0 h 1714500"/>
              <a:gd name="connsiteX2" fmla="*/ 9461500 w 9461500"/>
              <a:gd name="connsiteY2" fmla="*/ 1280527 h 1714500"/>
              <a:gd name="connsiteX3" fmla="*/ 863600 w 9461500"/>
              <a:gd name="connsiteY3" fmla="*/ 1280527 h 1714500"/>
              <a:gd name="connsiteX4" fmla="*/ 863600 w 9461500"/>
              <a:gd name="connsiteY4" fmla="*/ 1714500 h 1714500"/>
              <a:gd name="connsiteX5" fmla="*/ 0 w 9461500"/>
              <a:gd name="connsiteY5" fmla="*/ 1714500 h 1714500"/>
              <a:gd name="connsiteX6" fmla="*/ 0 w 9461500"/>
              <a:gd name="connsiteY6" fmla="*/ 342900 h 1714500"/>
              <a:gd name="connsiteX7" fmla="*/ 6667500 w 9461500"/>
              <a:gd name="connsiteY7" fmla="*/ 342900 h 171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461500" h="1714500">
                <a:moveTo>
                  <a:pt x="6667500" y="0"/>
                </a:moveTo>
                <a:lnTo>
                  <a:pt x="9461500" y="0"/>
                </a:lnTo>
                <a:lnTo>
                  <a:pt x="9461500" y="1280527"/>
                </a:lnTo>
                <a:lnTo>
                  <a:pt x="863600" y="1280527"/>
                </a:lnTo>
                <a:lnTo>
                  <a:pt x="863600" y="1714500"/>
                </a:lnTo>
                <a:lnTo>
                  <a:pt x="0" y="1714500"/>
                </a:lnTo>
                <a:lnTo>
                  <a:pt x="0" y="342900"/>
                </a:lnTo>
                <a:lnTo>
                  <a:pt x="6667500" y="342900"/>
                </a:lnTo>
                <a:close/>
              </a:path>
            </a:pathLst>
          </a:cu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3" name="Rectangle 22">
            <a:extLst>
              <a:ext uri="{FF2B5EF4-FFF2-40B4-BE49-F238E27FC236}">
                <a16:creationId xmlns:a16="http://schemas.microsoft.com/office/drawing/2014/main" id="{B6D257E7-9D5E-D724-D4FB-72FE27C5C5F5}"/>
              </a:ext>
            </a:extLst>
          </p:cNvPr>
          <p:cNvSpPr/>
          <p:nvPr/>
        </p:nvSpPr>
        <p:spPr>
          <a:xfrm>
            <a:off x="8585200" y="4428364"/>
            <a:ext cx="2349500" cy="48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fr-FR" i="1" dirty="0" err="1">
                <a:latin typeface="Consolas" panose="020B0609020204030204" pitchFamily="49" charset="0"/>
                <a:cs typeface="Consolas" panose="020B0609020204030204" pitchFamily="49" charset="0"/>
              </a:rPr>
              <a:t>Programme.java</a:t>
            </a:r>
            <a:endParaRPr lang="fr-FR" i="1" dirty="0">
              <a:latin typeface="Consolas" panose="020B0609020204030204" pitchFamily="49" charset="0"/>
              <a:cs typeface="Consolas" panose="020B0609020204030204" pitchFamily="49" charset="0"/>
            </a:endParaRPr>
          </a:p>
        </p:txBody>
      </p:sp>
      <p:sp>
        <p:nvSpPr>
          <p:cNvPr id="24" name="Espace réservé du numéro de diapositive 23">
            <a:extLst>
              <a:ext uri="{FF2B5EF4-FFF2-40B4-BE49-F238E27FC236}">
                <a16:creationId xmlns:a16="http://schemas.microsoft.com/office/drawing/2014/main" id="{C32C4FB3-F94C-F7D7-69A3-42961F6F1AFD}"/>
              </a:ext>
            </a:extLst>
          </p:cNvPr>
          <p:cNvSpPr>
            <a:spLocks noGrp="1"/>
          </p:cNvSpPr>
          <p:nvPr>
            <p:ph type="sldNum" sz="quarter" idx="4"/>
          </p:nvPr>
        </p:nvSpPr>
        <p:spPr/>
        <p:txBody>
          <a:bodyPr/>
          <a:lstStyle/>
          <a:p>
            <a:fld id="{33C783E2-4793-4F48-A271-51A73CC37D74}" type="slidenum">
              <a:rPr lang="fr-FR" smtClean="0"/>
              <a:t>67</a:t>
            </a:fld>
            <a:endParaRPr lang="fr-FR"/>
          </a:p>
        </p:txBody>
      </p:sp>
    </p:spTree>
    <p:extLst>
      <p:ext uri="{BB962C8B-B14F-4D97-AF65-F5344CB8AC3E}">
        <p14:creationId xmlns:p14="http://schemas.microsoft.com/office/powerpoint/2010/main" val="1759481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fade">
                                      <p:cBhvr>
                                        <p:cTn id="10" dur="500"/>
                                        <p:tgtEl>
                                          <p:spTgt spid="2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1" grpId="0" animBg="1"/>
      <p:bldP spid="22" grpId="0" animBg="1"/>
      <p:bldP spid="23"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Expressions Lambda</a:t>
            </a:r>
          </a:p>
        </p:txBody>
      </p:sp>
      <p:sp>
        <p:nvSpPr>
          <p:cNvPr id="3" name="Espace réservé du contenu 2"/>
          <p:cNvSpPr>
            <a:spLocks noGrp="1"/>
          </p:cNvSpPr>
          <p:nvPr>
            <p:ph idx="1"/>
          </p:nvPr>
        </p:nvSpPr>
        <p:spPr/>
        <p:txBody>
          <a:bodyPr>
            <a:noAutofit/>
          </a:bodyPr>
          <a:lstStyle/>
          <a:p>
            <a:pPr marL="342900" indent="-342900">
              <a:lnSpc>
                <a:spcPct val="80000"/>
              </a:lnSpc>
              <a:buFont typeface="Arial"/>
              <a:buChar char="•"/>
            </a:pPr>
            <a:r>
              <a:rPr lang="fr-FR" dirty="0"/>
              <a:t>Un exemple pratique</a:t>
            </a:r>
          </a:p>
          <a:p>
            <a:pPr marL="342900" indent="-342900">
              <a:lnSpc>
                <a:spcPct val="80000"/>
              </a:lnSpc>
              <a:buFont typeface="Arial"/>
              <a:buChar char="•"/>
            </a:pPr>
            <a:r>
              <a:rPr lang="fr-FR" dirty="0">
                <a:solidFill>
                  <a:schemeClr val="accent4"/>
                </a:solidFill>
              </a:rPr>
              <a:t>Les expressions Lambda</a:t>
            </a:r>
          </a:p>
          <a:p>
            <a:pPr marL="342900" indent="-342900">
              <a:lnSpc>
                <a:spcPct val="80000"/>
              </a:lnSpc>
              <a:buFont typeface="Arial"/>
              <a:buChar char="•"/>
            </a:pPr>
            <a:r>
              <a:rPr lang="fr-FR" dirty="0"/>
              <a:t>La notion d’interface fonctionnelle</a:t>
            </a:r>
          </a:p>
          <a:p>
            <a:pPr marL="342900" indent="-342900">
              <a:lnSpc>
                <a:spcPct val="80000"/>
              </a:lnSpc>
              <a:buFont typeface="Arial"/>
              <a:buChar char="•"/>
            </a:pPr>
            <a:r>
              <a:rPr lang="fr-FR" dirty="0"/>
              <a:t>Quelques exemples pratiques</a:t>
            </a:r>
          </a:p>
          <a:p>
            <a:pPr marL="342900" indent="-342900">
              <a:lnSpc>
                <a:spcPct val="80000"/>
              </a:lnSpc>
              <a:buFont typeface="Arial"/>
              <a:buChar char="•"/>
            </a:pPr>
            <a:r>
              <a:rPr lang="fr-FR" dirty="0"/>
              <a:t>Référence de Méthode</a:t>
            </a:r>
          </a:p>
          <a:p>
            <a:pPr marL="342900" indent="-342900">
              <a:lnSpc>
                <a:spcPct val="80000"/>
              </a:lnSpc>
              <a:buFont typeface="Arial"/>
              <a:buChar char="•"/>
            </a:pPr>
            <a:endParaRPr lang="fr-FR" dirty="0"/>
          </a:p>
          <a:p>
            <a:pPr marL="342900" indent="-342900">
              <a:lnSpc>
                <a:spcPct val="80000"/>
              </a:lnSpc>
              <a:buFont typeface="Arial"/>
              <a:buChar char="•"/>
            </a:pPr>
            <a:endParaRPr lang="fr-FR" dirty="0"/>
          </a:p>
          <a:p>
            <a:pPr marL="342900" indent="-342900">
              <a:lnSpc>
                <a:spcPct val="80000"/>
              </a:lnSpc>
              <a:buFont typeface="Arial"/>
              <a:buChar char="•"/>
            </a:pPr>
            <a:endParaRPr lang="fr-FR" dirty="0"/>
          </a:p>
          <a:p>
            <a:pPr marL="342900" indent="-342900">
              <a:lnSpc>
                <a:spcPct val="80000"/>
              </a:lnSpc>
              <a:buFont typeface="Arial"/>
              <a:buChar char="•"/>
            </a:pPr>
            <a:endParaRPr lang="fr-FR" dirty="0"/>
          </a:p>
        </p:txBody>
      </p:sp>
      <p:grpSp>
        <p:nvGrpSpPr>
          <p:cNvPr id="8" name="Groupe 7">
            <a:extLst>
              <a:ext uri="{FF2B5EF4-FFF2-40B4-BE49-F238E27FC236}">
                <a16:creationId xmlns:a16="http://schemas.microsoft.com/office/drawing/2014/main" id="{ACCA99A5-B332-B909-6733-15C39193A78F}"/>
              </a:ext>
            </a:extLst>
          </p:cNvPr>
          <p:cNvGrpSpPr/>
          <p:nvPr/>
        </p:nvGrpSpPr>
        <p:grpSpPr>
          <a:xfrm>
            <a:off x="10470995" y="162401"/>
            <a:ext cx="1404760" cy="1400033"/>
            <a:chOff x="10326324" y="687756"/>
            <a:chExt cx="1393314" cy="1393314"/>
          </a:xfrm>
        </p:grpSpPr>
        <p:sp>
          <p:nvSpPr>
            <p:cNvPr id="5" name="Larme 4">
              <a:extLst>
                <a:ext uri="{FF2B5EF4-FFF2-40B4-BE49-F238E27FC236}">
                  <a16:creationId xmlns:a16="http://schemas.microsoft.com/office/drawing/2014/main" id="{6D659AA5-DE48-3A94-0973-5630499C0B8F}"/>
                </a:ext>
              </a:extLst>
            </p:cNvPr>
            <p:cNvSpPr/>
            <p:nvPr/>
          </p:nvSpPr>
          <p:spPr>
            <a:xfrm rot="8100000">
              <a:off x="10326324" y="687756"/>
              <a:ext cx="1393314" cy="1393314"/>
            </a:xfrm>
            <a:prstGeom prst="teardrop">
              <a:avLst>
                <a:gd name="adj" fmla="val 13287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 name="ZoneTexte 6">
              <a:extLst>
                <a:ext uri="{FF2B5EF4-FFF2-40B4-BE49-F238E27FC236}">
                  <a16:creationId xmlns:a16="http://schemas.microsoft.com/office/drawing/2014/main" id="{4FF3D4ED-5448-D9C2-964C-3C9EFB6B14C0}"/>
                </a:ext>
              </a:extLst>
            </p:cNvPr>
            <p:cNvSpPr txBox="1"/>
            <p:nvPr/>
          </p:nvSpPr>
          <p:spPr>
            <a:xfrm>
              <a:off x="10372029" y="1092958"/>
              <a:ext cx="1301905" cy="702249"/>
            </a:xfrm>
            <a:prstGeom prst="rect">
              <a:avLst/>
            </a:prstGeom>
            <a:noFill/>
          </p:spPr>
          <p:txBody>
            <a:bodyPr wrap="square">
              <a:spAutoFit/>
            </a:bodyPr>
            <a:lstStyle/>
            <a:p>
              <a:pPr algn="ctr"/>
              <a:r>
                <a:rPr lang="fr-FR" sz="2000" b="1" dirty="0"/>
                <a:t>Vous êtes ici</a:t>
              </a:r>
            </a:p>
          </p:txBody>
        </p:sp>
      </p:grpSp>
      <p:sp>
        <p:nvSpPr>
          <p:cNvPr id="6" name="Espace réservé du numéro de diapositive 5">
            <a:extLst>
              <a:ext uri="{FF2B5EF4-FFF2-40B4-BE49-F238E27FC236}">
                <a16:creationId xmlns:a16="http://schemas.microsoft.com/office/drawing/2014/main" id="{A3DAB1A6-EC88-BB8A-9F31-216CF475307E}"/>
              </a:ext>
            </a:extLst>
          </p:cNvPr>
          <p:cNvSpPr>
            <a:spLocks noGrp="1"/>
          </p:cNvSpPr>
          <p:nvPr>
            <p:ph type="sldNum" sz="quarter" idx="4"/>
          </p:nvPr>
        </p:nvSpPr>
        <p:spPr/>
        <p:txBody>
          <a:bodyPr/>
          <a:lstStyle/>
          <a:p>
            <a:fld id="{33C783E2-4793-4F48-A271-51A73CC37D74}" type="slidenum">
              <a:rPr lang="fr-FR" smtClean="0"/>
              <a:t>68</a:t>
            </a:fld>
            <a:endParaRPr lang="fr-FR"/>
          </a:p>
        </p:txBody>
      </p:sp>
    </p:spTree>
    <p:extLst>
      <p:ext uri="{BB962C8B-B14F-4D97-AF65-F5344CB8AC3E}">
        <p14:creationId xmlns:p14="http://schemas.microsoft.com/office/powerpoint/2010/main" val="2266535914"/>
      </p:ext>
    </p:extLst>
  </p:cSld>
  <p:clrMapOvr>
    <a:masterClrMapping/>
  </p:clrMapOvr>
  <p:transition>
    <p:push dir="u"/>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CA8F90-FFD8-C3BC-FF14-EF02FBF48AA8}"/>
              </a:ext>
            </a:extLst>
          </p:cNvPr>
          <p:cNvSpPr>
            <a:spLocks noGrp="1"/>
          </p:cNvSpPr>
          <p:nvPr>
            <p:ph type="title"/>
          </p:nvPr>
        </p:nvSpPr>
        <p:spPr/>
        <p:txBody>
          <a:bodyPr/>
          <a:lstStyle/>
          <a:p>
            <a:r>
              <a:rPr lang="fr-FR" dirty="0"/>
              <a:t>On peut encore faire mieux…</a:t>
            </a:r>
          </a:p>
        </p:txBody>
      </p:sp>
      <p:pic>
        <p:nvPicPr>
          <p:cNvPr id="7" name="Image 6">
            <a:extLst>
              <a:ext uri="{FF2B5EF4-FFF2-40B4-BE49-F238E27FC236}">
                <a16:creationId xmlns:a16="http://schemas.microsoft.com/office/drawing/2014/main" id="{9FC5CBFB-0BA5-CAB7-86E5-89C63F27F2EE}"/>
              </a:ext>
            </a:extLst>
          </p:cNvPr>
          <p:cNvPicPr>
            <a:picLocks noChangeAspect="1"/>
          </p:cNvPicPr>
          <p:nvPr/>
        </p:nvPicPr>
        <p:blipFill>
          <a:blip r:embed="rId2"/>
          <a:stretch>
            <a:fillRect/>
          </a:stretch>
        </p:blipFill>
        <p:spPr>
          <a:xfrm>
            <a:off x="1391103" y="2813049"/>
            <a:ext cx="1167494" cy="825501"/>
          </a:xfrm>
          <a:prstGeom prst="rect">
            <a:avLst/>
          </a:prstGeom>
        </p:spPr>
      </p:pic>
      <p:pic>
        <p:nvPicPr>
          <p:cNvPr id="8" name="Image 7">
            <a:extLst>
              <a:ext uri="{FF2B5EF4-FFF2-40B4-BE49-F238E27FC236}">
                <a16:creationId xmlns:a16="http://schemas.microsoft.com/office/drawing/2014/main" id="{7973CAB3-8929-6E86-B96A-AC7905F08637}"/>
              </a:ext>
            </a:extLst>
          </p:cNvPr>
          <p:cNvPicPr>
            <a:picLocks noChangeAspect="1"/>
          </p:cNvPicPr>
          <p:nvPr/>
        </p:nvPicPr>
        <p:blipFill>
          <a:blip r:embed="rId3"/>
          <a:stretch>
            <a:fillRect/>
          </a:stretch>
        </p:blipFill>
        <p:spPr>
          <a:xfrm>
            <a:off x="3530600" y="2940050"/>
            <a:ext cx="6426200" cy="698500"/>
          </a:xfrm>
          <a:prstGeom prst="rect">
            <a:avLst/>
          </a:prstGeom>
        </p:spPr>
      </p:pic>
      <p:cxnSp>
        <p:nvCxnSpPr>
          <p:cNvPr id="10" name="Connecteur droit avec flèche 9">
            <a:extLst>
              <a:ext uri="{FF2B5EF4-FFF2-40B4-BE49-F238E27FC236}">
                <a16:creationId xmlns:a16="http://schemas.microsoft.com/office/drawing/2014/main" id="{08FE5882-3A17-F939-98B6-FEE20D3CBA15}"/>
              </a:ext>
            </a:extLst>
          </p:cNvPr>
          <p:cNvCxnSpPr>
            <a:cxnSpLocks/>
            <a:stCxn id="7" idx="3"/>
            <a:endCxn id="8" idx="1"/>
          </p:cNvCxnSpPr>
          <p:nvPr/>
        </p:nvCxnSpPr>
        <p:spPr>
          <a:xfrm>
            <a:off x="2558597" y="3225800"/>
            <a:ext cx="972003" cy="63500"/>
          </a:xfrm>
          <a:prstGeom prst="straightConnector1">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pic>
        <p:nvPicPr>
          <p:cNvPr id="13" name="Image 12">
            <a:extLst>
              <a:ext uri="{FF2B5EF4-FFF2-40B4-BE49-F238E27FC236}">
                <a16:creationId xmlns:a16="http://schemas.microsoft.com/office/drawing/2014/main" id="{0FB3813F-551C-0D9D-6DA5-A696DD05B17B}"/>
              </a:ext>
            </a:extLst>
          </p:cNvPr>
          <p:cNvPicPr>
            <a:picLocks noChangeAspect="1"/>
          </p:cNvPicPr>
          <p:nvPr/>
        </p:nvPicPr>
        <p:blipFill>
          <a:blip r:embed="rId4"/>
          <a:stretch>
            <a:fillRect/>
          </a:stretch>
        </p:blipFill>
        <p:spPr>
          <a:xfrm>
            <a:off x="2329997" y="4289401"/>
            <a:ext cx="7772400" cy="1498647"/>
          </a:xfrm>
          <a:prstGeom prst="rect">
            <a:avLst/>
          </a:prstGeom>
        </p:spPr>
      </p:pic>
      <p:pic>
        <p:nvPicPr>
          <p:cNvPr id="14" name="Image 13">
            <a:extLst>
              <a:ext uri="{FF2B5EF4-FFF2-40B4-BE49-F238E27FC236}">
                <a16:creationId xmlns:a16="http://schemas.microsoft.com/office/drawing/2014/main" id="{03A79E12-7324-19B4-AA01-8D736204FAF9}"/>
              </a:ext>
            </a:extLst>
          </p:cNvPr>
          <p:cNvPicPr>
            <a:picLocks noChangeAspect="1"/>
          </p:cNvPicPr>
          <p:nvPr/>
        </p:nvPicPr>
        <p:blipFill rotWithShape="1">
          <a:blip r:embed="rId4"/>
          <a:srcRect l="29211" t="18250" r="-80" b="45251"/>
          <a:stretch/>
        </p:blipFill>
        <p:spPr>
          <a:xfrm>
            <a:off x="1847211" y="4638651"/>
            <a:ext cx="9335778" cy="927100"/>
          </a:xfrm>
          <a:prstGeom prst="rect">
            <a:avLst/>
          </a:prstGeom>
        </p:spPr>
      </p:pic>
      <p:sp>
        <p:nvSpPr>
          <p:cNvPr id="6" name="Espace réservé du contenu 5">
            <a:extLst>
              <a:ext uri="{FF2B5EF4-FFF2-40B4-BE49-F238E27FC236}">
                <a16:creationId xmlns:a16="http://schemas.microsoft.com/office/drawing/2014/main" id="{30D8B7CB-F381-1B77-A542-C600DC3B18F6}"/>
              </a:ext>
            </a:extLst>
          </p:cNvPr>
          <p:cNvSpPr>
            <a:spLocks noGrp="1"/>
          </p:cNvSpPr>
          <p:nvPr>
            <p:ph idx="1"/>
          </p:nvPr>
        </p:nvSpPr>
        <p:spPr>
          <a:xfrm>
            <a:off x="914400" y="1825625"/>
            <a:ext cx="10515600" cy="4351338"/>
          </a:xfrm>
        </p:spPr>
        <p:txBody>
          <a:bodyPr/>
          <a:lstStyle/>
          <a:p>
            <a:pPr marL="0" indent="0">
              <a:buNone/>
            </a:pPr>
            <a:r>
              <a:rPr lang="fr-FR" dirty="0"/>
              <a:t>Si vous êtes observateur, vous aurez remarqué qu’</a:t>
            </a:r>
            <a:r>
              <a:rPr lang="fr-FR" dirty="0" err="1"/>
              <a:t>IntelliJ</a:t>
            </a:r>
            <a:r>
              <a:rPr lang="fr-FR" dirty="0"/>
              <a:t> vous propose des améliorations…</a:t>
            </a:r>
          </a:p>
          <a:p>
            <a:pPr marL="0" indent="0">
              <a:buNone/>
            </a:pPr>
            <a:endParaRPr lang="fr-FR" dirty="0"/>
          </a:p>
        </p:txBody>
      </p:sp>
      <p:sp>
        <p:nvSpPr>
          <p:cNvPr id="9" name="Espace réservé du numéro de diapositive 8">
            <a:extLst>
              <a:ext uri="{FF2B5EF4-FFF2-40B4-BE49-F238E27FC236}">
                <a16:creationId xmlns:a16="http://schemas.microsoft.com/office/drawing/2014/main" id="{04714647-67F6-F91B-6227-D7E1BD5FD407}"/>
              </a:ext>
            </a:extLst>
          </p:cNvPr>
          <p:cNvSpPr>
            <a:spLocks noGrp="1"/>
          </p:cNvSpPr>
          <p:nvPr>
            <p:ph type="sldNum" sz="quarter" idx="4"/>
          </p:nvPr>
        </p:nvSpPr>
        <p:spPr/>
        <p:txBody>
          <a:bodyPr/>
          <a:lstStyle/>
          <a:p>
            <a:fld id="{33C783E2-4793-4F48-A271-51A73CC37D74}" type="slidenum">
              <a:rPr lang="fr-FR" smtClean="0"/>
              <a:t>69</a:t>
            </a:fld>
            <a:endParaRPr lang="fr-FR"/>
          </a:p>
        </p:txBody>
      </p:sp>
    </p:spTree>
    <p:extLst>
      <p:ext uri="{BB962C8B-B14F-4D97-AF65-F5344CB8AC3E}">
        <p14:creationId xmlns:p14="http://schemas.microsoft.com/office/powerpoint/2010/main" val="4044448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500"/>
                                        <p:tgtEl>
                                          <p:spTgt spid="10"/>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8" fill="hold" nodeType="clickEffect">
                                  <p:stCondLst>
                                    <p:cond delay="0"/>
                                  </p:stCondLst>
                                  <p:childTnLst>
                                    <p:set>
                                      <p:cBhvr>
                                        <p:cTn id="19" dur="1" fill="hold">
                                          <p:stCondLst>
                                            <p:cond delay="0"/>
                                          </p:stCondLst>
                                        </p:cTn>
                                        <p:tgtEl>
                                          <p:spTgt spid="13"/>
                                        </p:tgtEl>
                                        <p:attrNameLst>
                                          <p:attrName>style.visibility</p:attrName>
                                        </p:attrNameLst>
                                      </p:cBhvr>
                                      <p:to>
                                        <p:strVal val="visible"/>
                                      </p:to>
                                    </p:set>
                                    <p:anim calcmode="lin" valueType="num">
                                      <p:cBhvr additive="base">
                                        <p:cTn id="20" dur="500" fill="hold"/>
                                        <p:tgtEl>
                                          <p:spTgt spid="13"/>
                                        </p:tgtEl>
                                        <p:attrNameLst>
                                          <p:attrName>ppt_x</p:attrName>
                                        </p:attrNameLst>
                                      </p:cBhvr>
                                      <p:tavLst>
                                        <p:tav tm="0">
                                          <p:val>
                                            <p:strVal val="0-#ppt_w/2"/>
                                          </p:val>
                                        </p:tav>
                                        <p:tav tm="100000">
                                          <p:val>
                                            <p:strVal val="#ppt_x"/>
                                          </p:val>
                                        </p:tav>
                                      </p:tavLst>
                                    </p:anim>
                                    <p:anim calcmode="lin" valueType="num">
                                      <p:cBhvr additive="base">
                                        <p:cTn id="21"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nodeType="clickEffect">
                                  <p:stCondLst>
                                    <p:cond delay="0"/>
                                  </p:stCondLst>
                                  <p:childTnLst>
                                    <p:set>
                                      <p:cBhvr>
                                        <p:cTn id="25" dur="1" fill="hold">
                                          <p:stCondLst>
                                            <p:cond delay="0"/>
                                          </p:stCondLst>
                                        </p:cTn>
                                        <p:tgtEl>
                                          <p:spTgt spid="14"/>
                                        </p:tgtEl>
                                        <p:attrNameLst>
                                          <p:attrName>style.visibility</p:attrName>
                                        </p:attrNameLst>
                                      </p:cBhvr>
                                      <p:to>
                                        <p:strVal val="visible"/>
                                      </p:to>
                                    </p:set>
                                    <p:anim calcmode="lin" valueType="num">
                                      <p:cBhvr>
                                        <p:cTn id="26" dur="500" fill="hold"/>
                                        <p:tgtEl>
                                          <p:spTgt spid="14"/>
                                        </p:tgtEl>
                                        <p:attrNameLst>
                                          <p:attrName>ppt_w</p:attrName>
                                        </p:attrNameLst>
                                      </p:cBhvr>
                                      <p:tavLst>
                                        <p:tav tm="0">
                                          <p:val>
                                            <p:fltVal val="0"/>
                                          </p:val>
                                        </p:tav>
                                        <p:tav tm="100000">
                                          <p:val>
                                            <p:strVal val="#ppt_w"/>
                                          </p:val>
                                        </p:tav>
                                      </p:tavLst>
                                    </p:anim>
                                    <p:anim calcmode="lin" valueType="num">
                                      <p:cBhvr>
                                        <p:cTn id="27" dur="500" fill="hold"/>
                                        <p:tgtEl>
                                          <p:spTgt spid="14"/>
                                        </p:tgtEl>
                                        <p:attrNameLst>
                                          <p:attrName>ppt_h</p:attrName>
                                        </p:attrNameLst>
                                      </p:cBhvr>
                                      <p:tavLst>
                                        <p:tav tm="0">
                                          <p:val>
                                            <p:fltVal val="0"/>
                                          </p:val>
                                        </p:tav>
                                        <p:tav tm="100000">
                                          <p:val>
                                            <p:strVal val="#ppt_h"/>
                                          </p:val>
                                        </p:tav>
                                      </p:tavLst>
                                    </p:anim>
                                    <p:animEffect transition="in" filter="fade">
                                      <p:cBhvr>
                                        <p:cTn id="2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BD03C4-A95E-1BB6-1484-51BC2EFBD154}"/>
              </a:ext>
            </a:extLst>
          </p:cNvPr>
          <p:cNvSpPr>
            <a:spLocks noGrp="1"/>
          </p:cNvSpPr>
          <p:nvPr>
            <p:ph type="title"/>
          </p:nvPr>
        </p:nvSpPr>
        <p:spPr/>
        <p:txBody>
          <a:bodyPr>
            <a:normAutofit fontScale="90000"/>
          </a:bodyPr>
          <a:lstStyle/>
          <a:p>
            <a:r>
              <a:rPr lang="fr-FR" dirty="0"/>
              <a:t>Une classe anonyme peut parfois être remplacée par </a:t>
            </a:r>
            <a:r>
              <a:rPr lang="fr-FR" dirty="0">
                <a:solidFill>
                  <a:schemeClr val="accent4"/>
                </a:solidFill>
              </a:rPr>
              <a:t>une expression Lambda</a:t>
            </a:r>
          </a:p>
        </p:txBody>
      </p:sp>
      <p:sp>
        <p:nvSpPr>
          <p:cNvPr id="3" name="Espace réservé du contenu 2">
            <a:extLst>
              <a:ext uri="{FF2B5EF4-FFF2-40B4-BE49-F238E27FC236}">
                <a16:creationId xmlns:a16="http://schemas.microsoft.com/office/drawing/2014/main" id="{D8106D90-FFA1-E91E-ADA2-4EE74CA7747A}"/>
              </a:ext>
            </a:extLst>
          </p:cNvPr>
          <p:cNvSpPr>
            <a:spLocks noGrp="1"/>
          </p:cNvSpPr>
          <p:nvPr>
            <p:ph idx="1"/>
          </p:nvPr>
        </p:nvSpPr>
        <p:spPr>
          <a:xfrm>
            <a:off x="838200" y="1825625"/>
            <a:ext cx="10515600" cy="892175"/>
          </a:xfrm>
        </p:spPr>
        <p:txBody>
          <a:bodyPr/>
          <a:lstStyle/>
          <a:p>
            <a:pPr marL="0" indent="0">
              <a:buNone/>
            </a:pPr>
            <a:r>
              <a:rPr lang="fr-FR" dirty="0" err="1"/>
              <a:t>IntelliJ</a:t>
            </a:r>
            <a:r>
              <a:rPr lang="fr-FR" dirty="0"/>
              <a:t> a remplacé notre classe anonyme…</a:t>
            </a:r>
          </a:p>
        </p:txBody>
      </p:sp>
      <p:sp>
        <p:nvSpPr>
          <p:cNvPr id="5" name="ZoneTexte 4">
            <a:extLst>
              <a:ext uri="{FF2B5EF4-FFF2-40B4-BE49-F238E27FC236}">
                <a16:creationId xmlns:a16="http://schemas.microsoft.com/office/drawing/2014/main" id="{06F6D2BD-EE99-FE0D-7AB6-BF12AB3F5FC4}"/>
              </a:ext>
            </a:extLst>
          </p:cNvPr>
          <p:cNvSpPr txBox="1"/>
          <p:nvPr/>
        </p:nvSpPr>
        <p:spPr>
          <a:xfrm>
            <a:off x="1333500" y="2457788"/>
            <a:ext cx="9652000" cy="1754326"/>
          </a:xfrm>
          <a:prstGeom prst="rect">
            <a:avLst/>
          </a:prstGeom>
          <a:solidFill>
            <a:srgbClr val="2B2B2B"/>
          </a:solidFill>
        </p:spPr>
        <p:txBody>
          <a:bodyPr wrap="square">
            <a:spAutoFit/>
          </a:bodyPr>
          <a:lstStyle/>
          <a:p>
            <a:r>
              <a:rPr lang="fr-BE" dirty="0">
                <a:solidFill>
                  <a:srgbClr val="BCBEC4"/>
                </a:solidFill>
                <a:effectLst/>
                <a:latin typeface="Consolas" panose="020B0609020204030204" pitchFamily="49" charset="0"/>
                <a:cs typeface="Consolas" panose="020B0609020204030204" pitchFamily="49" charset="0"/>
              </a:rPr>
              <a:t>List&lt;Melon&gt; </a:t>
            </a:r>
            <a:r>
              <a:rPr lang="fr-BE" dirty="0" err="1">
                <a:solidFill>
                  <a:srgbClr val="BCBEC4"/>
                </a:solidFill>
                <a:effectLst/>
                <a:latin typeface="Consolas" panose="020B0609020204030204" pitchFamily="49" charset="0"/>
                <a:cs typeface="Consolas" panose="020B0609020204030204" pitchFamily="49" charset="0"/>
              </a:rPr>
              <a:t>europeens</a:t>
            </a:r>
            <a:r>
              <a:rPr lang="fr-BE" dirty="0">
                <a:solidFill>
                  <a:srgbClr val="BCBEC4"/>
                </a:solidFill>
                <a:effectLst/>
                <a:latin typeface="Consolas" panose="020B0609020204030204" pitchFamily="49" charset="0"/>
                <a:cs typeface="Consolas" panose="020B0609020204030204" pitchFamily="49" charset="0"/>
              </a:rPr>
              <a:t> = </a:t>
            </a:r>
            <a:r>
              <a:rPr lang="fr-BE" dirty="0" err="1">
                <a:solidFill>
                  <a:srgbClr val="BCBEC4"/>
                </a:solidFill>
                <a:effectLst/>
                <a:latin typeface="Consolas" panose="020B0609020204030204" pitchFamily="49" charset="0"/>
                <a:cs typeface="Consolas" panose="020B0609020204030204" pitchFamily="49" charset="0"/>
              </a:rPr>
              <a:t>Filtre.</a:t>
            </a:r>
            <a:r>
              <a:rPr lang="fr-BE" i="1" dirty="0" err="1">
                <a:solidFill>
                  <a:srgbClr val="BCBEC4"/>
                </a:solidFill>
                <a:effectLst/>
                <a:latin typeface="Consolas" panose="020B0609020204030204" pitchFamily="49" charset="0"/>
                <a:cs typeface="Consolas" panose="020B0609020204030204" pitchFamily="49" charset="0"/>
              </a:rPr>
              <a:t>filtrerMelons</a:t>
            </a:r>
            <a:r>
              <a:rPr lang="fr-BE" dirty="0">
                <a:solidFill>
                  <a:srgbClr val="BCBEC4"/>
                </a:solidFill>
                <a:effectLst/>
                <a:latin typeface="Consolas" panose="020B0609020204030204" pitchFamily="49" charset="0"/>
                <a:cs typeface="Consolas" panose="020B0609020204030204" pitchFamily="49" charset="0"/>
              </a:rPr>
              <a:t>(melons, </a:t>
            </a:r>
            <a:r>
              <a:rPr lang="fr-BE" dirty="0">
                <a:solidFill>
                  <a:srgbClr val="CF8E6D"/>
                </a:solidFill>
                <a:effectLst/>
                <a:latin typeface="Consolas" panose="020B0609020204030204" pitchFamily="49" charset="0"/>
                <a:cs typeface="Consolas" panose="020B0609020204030204" pitchFamily="49" charset="0"/>
              </a:rPr>
              <a:t>new </a:t>
            </a:r>
            <a:r>
              <a:rPr lang="fr-BE" dirty="0" err="1">
                <a:solidFill>
                  <a:srgbClr val="BCBEC4"/>
                </a:solidFill>
                <a:effectLst/>
                <a:latin typeface="Consolas" panose="020B0609020204030204" pitchFamily="49" charset="0"/>
                <a:cs typeface="Consolas" panose="020B0609020204030204" pitchFamily="49" charset="0"/>
              </a:rPr>
              <a:t>PredicatMelon</a:t>
            </a:r>
            <a:r>
              <a:rPr lang="fr-BE" dirty="0">
                <a:solidFill>
                  <a:srgbClr val="BCBEC4"/>
                </a:solidFill>
                <a:effectLst/>
                <a:latin typeface="Consolas" panose="020B0609020204030204" pitchFamily="49" charset="0"/>
                <a:cs typeface="Consolas" panose="020B0609020204030204" pitchFamily="49" charset="0"/>
              </a:rPr>
              <a:t>() {</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dirty="0">
                <a:solidFill>
                  <a:srgbClr val="B3AE60"/>
                </a:solidFill>
                <a:effectLst/>
                <a:latin typeface="Consolas" panose="020B0609020204030204" pitchFamily="49" charset="0"/>
                <a:cs typeface="Consolas" panose="020B0609020204030204" pitchFamily="49" charset="0"/>
              </a:rPr>
              <a:t>@</a:t>
            </a:r>
            <a:r>
              <a:rPr lang="fr-BE" dirty="0" err="1">
                <a:solidFill>
                  <a:srgbClr val="B3AE60"/>
                </a:solidFill>
                <a:effectLst/>
                <a:latin typeface="Consolas" panose="020B0609020204030204" pitchFamily="49" charset="0"/>
                <a:cs typeface="Consolas" panose="020B0609020204030204" pitchFamily="49" charset="0"/>
              </a:rPr>
              <a:t>Override</a:t>
            </a:r>
            <a:br>
              <a:rPr lang="fr-BE" dirty="0">
                <a:solidFill>
                  <a:srgbClr val="B3AE60"/>
                </a:solidFill>
                <a:effectLst/>
                <a:latin typeface="Consolas" panose="020B0609020204030204" pitchFamily="49" charset="0"/>
                <a:cs typeface="Consolas" panose="020B0609020204030204" pitchFamily="49" charset="0"/>
              </a:rPr>
            </a:br>
            <a:r>
              <a:rPr lang="fr-BE" dirty="0">
                <a:solidFill>
                  <a:srgbClr val="B3AE60"/>
                </a:solidFill>
                <a:effectLst/>
                <a:latin typeface="Consolas" panose="020B0609020204030204" pitchFamily="49" charset="0"/>
                <a:cs typeface="Consolas" panose="020B0609020204030204" pitchFamily="49" charset="0"/>
              </a:rPr>
              <a:t>    </a:t>
            </a:r>
            <a:r>
              <a:rPr lang="fr-BE" dirty="0">
                <a:solidFill>
                  <a:srgbClr val="CF8E6D"/>
                </a:solidFill>
                <a:effectLst/>
                <a:latin typeface="Consolas" panose="020B0609020204030204" pitchFamily="49" charset="0"/>
                <a:cs typeface="Consolas" panose="020B0609020204030204" pitchFamily="49" charset="0"/>
              </a:rPr>
              <a:t>public </a:t>
            </a:r>
            <a:r>
              <a:rPr lang="fr-BE" dirty="0" err="1">
                <a:solidFill>
                  <a:srgbClr val="CF8E6D"/>
                </a:solidFill>
                <a:effectLst/>
                <a:latin typeface="Consolas" panose="020B0609020204030204" pitchFamily="49" charset="0"/>
                <a:cs typeface="Consolas" panose="020B0609020204030204" pitchFamily="49" charset="0"/>
              </a:rPr>
              <a:t>boolean</a:t>
            </a:r>
            <a:r>
              <a:rPr lang="fr-BE" dirty="0">
                <a:solidFill>
                  <a:srgbClr val="CF8E6D"/>
                </a:solidFill>
                <a:effectLst/>
                <a:latin typeface="Consolas" panose="020B0609020204030204" pitchFamily="49" charset="0"/>
                <a:cs typeface="Consolas" panose="020B0609020204030204" pitchFamily="49" charset="0"/>
              </a:rPr>
              <a:t> </a:t>
            </a:r>
            <a:r>
              <a:rPr lang="fr-BE" dirty="0">
                <a:solidFill>
                  <a:srgbClr val="56A8F5"/>
                </a:solidFill>
                <a:effectLst/>
                <a:latin typeface="Consolas" panose="020B0609020204030204" pitchFamily="49" charset="0"/>
                <a:cs typeface="Consolas" panose="020B0609020204030204" pitchFamily="49" charset="0"/>
              </a:rPr>
              <a:t>test</a:t>
            </a:r>
            <a:r>
              <a:rPr lang="fr-BE" dirty="0">
                <a:solidFill>
                  <a:srgbClr val="BCBEC4"/>
                </a:solidFill>
                <a:effectLst/>
                <a:latin typeface="Consolas" panose="020B0609020204030204" pitchFamily="49" charset="0"/>
                <a:cs typeface="Consolas" panose="020B0609020204030204" pitchFamily="49" charset="0"/>
              </a:rPr>
              <a:t>(Melon melon) {</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dirty="0">
                <a:solidFill>
                  <a:srgbClr val="CF8E6D"/>
                </a:solidFill>
                <a:effectLst/>
                <a:latin typeface="Consolas" panose="020B0609020204030204" pitchFamily="49" charset="0"/>
                <a:cs typeface="Consolas" panose="020B0609020204030204" pitchFamily="49" charset="0"/>
              </a:rPr>
              <a:t>return </a:t>
            </a:r>
            <a:r>
              <a:rPr lang="fr-BE" dirty="0">
                <a:solidFill>
                  <a:srgbClr val="6AAB73"/>
                </a:solidFill>
                <a:effectLst/>
                <a:latin typeface="Consolas" panose="020B0609020204030204" pitchFamily="49" charset="0"/>
                <a:cs typeface="Consolas" panose="020B0609020204030204" pitchFamily="49" charset="0"/>
              </a:rPr>
              <a:t>"Europe"</a:t>
            </a:r>
            <a:r>
              <a:rPr lang="fr-BE" dirty="0">
                <a:solidFill>
                  <a:srgbClr val="BCBEC4"/>
                </a:solidFill>
                <a:effectLst/>
                <a:latin typeface="Consolas" panose="020B0609020204030204" pitchFamily="49" charset="0"/>
                <a:cs typeface="Consolas" panose="020B0609020204030204" pitchFamily="49" charset="0"/>
              </a:rPr>
              <a:t>.</a:t>
            </a:r>
            <a:r>
              <a:rPr lang="fr-BE" dirty="0" err="1">
                <a:solidFill>
                  <a:srgbClr val="BCBEC4"/>
                </a:solidFill>
                <a:effectLst/>
                <a:latin typeface="Consolas" panose="020B0609020204030204" pitchFamily="49" charset="0"/>
                <a:cs typeface="Consolas" panose="020B0609020204030204" pitchFamily="49" charset="0"/>
              </a:rPr>
              <a:t>equalsIgnoreCase</a:t>
            </a:r>
            <a:r>
              <a:rPr lang="fr-BE" dirty="0">
                <a:solidFill>
                  <a:srgbClr val="BCBEC4"/>
                </a:solidFill>
                <a:effectLst/>
                <a:latin typeface="Consolas" panose="020B0609020204030204" pitchFamily="49" charset="0"/>
                <a:cs typeface="Consolas" panose="020B0609020204030204" pitchFamily="49" charset="0"/>
              </a:rPr>
              <a:t>(</a:t>
            </a:r>
            <a:r>
              <a:rPr lang="fr-BE" dirty="0" err="1">
                <a:solidFill>
                  <a:srgbClr val="BCBEC4"/>
                </a:solidFill>
                <a:effectLst/>
                <a:latin typeface="Consolas" panose="020B0609020204030204" pitchFamily="49" charset="0"/>
                <a:cs typeface="Consolas" panose="020B0609020204030204" pitchFamily="49" charset="0"/>
              </a:rPr>
              <a:t>melon.getOrigine</a:t>
            </a:r>
            <a:r>
              <a:rPr lang="fr-BE" dirty="0">
                <a:solidFill>
                  <a:srgbClr val="BCBEC4"/>
                </a:solidFill>
                <a:effectLst/>
                <a:latin typeface="Consolas" panose="020B0609020204030204" pitchFamily="49" charset="0"/>
                <a:cs typeface="Consolas" panose="020B0609020204030204" pitchFamily="49" charset="0"/>
              </a:rPr>
              <a:t>());</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a:t>
            </a:r>
          </a:p>
        </p:txBody>
      </p:sp>
      <p:sp>
        <p:nvSpPr>
          <p:cNvPr id="6" name="Forme libre 5">
            <a:extLst>
              <a:ext uri="{FF2B5EF4-FFF2-40B4-BE49-F238E27FC236}">
                <a16:creationId xmlns:a16="http://schemas.microsoft.com/office/drawing/2014/main" id="{6C8475F7-E862-45AB-A34E-86B68D4595D8}"/>
              </a:ext>
            </a:extLst>
          </p:cNvPr>
          <p:cNvSpPr/>
          <p:nvPr/>
        </p:nvSpPr>
        <p:spPr>
          <a:xfrm>
            <a:off x="1358900" y="2463800"/>
            <a:ext cx="9461500" cy="1714500"/>
          </a:xfrm>
          <a:custGeom>
            <a:avLst/>
            <a:gdLst>
              <a:gd name="connsiteX0" fmla="*/ 6667500 w 9461500"/>
              <a:gd name="connsiteY0" fmla="*/ 0 h 1714500"/>
              <a:gd name="connsiteX1" fmla="*/ 9461500 w 9461500"/>
              <a:gd name="connsiteY1" fmla="*/ 0 h 1714500"/>
              <a:gd name="connsiteX2" fmla="*/ 9461500 w 9461500"/>
              <a:gd name="connsiteY2" fmla="*/ 1280527 h 1714500"/>
              <a:gd name="connsiteX3" fmla="*/ 863600 w 9461500"/>
              <a:gd name="connsiteY3" fmla="*/ 1280527 h 1714500"/>
              <a:gd name="connsiteX4" fmla="*/ 863600 w 9461500"/>
              <a:gd name="connsiteY4" fmla="*/ 1714500 h 1714500"/>
              <a:gd name="connsiteX5" fmla="*/ 0 w 9461500"/>
              <a:gd name="connsiteY5" fmla="*/ 1714500 h 1714500"/>
              <a:gd name="connsiteX6" fmla="*/ 0 w 9461500"/>
              <a:gd name="connsiteY6" fmla="*/ 342900 h 1714500"/>
              <a:gd name="connsiteX7" fmla="*/ 6667500 w 9461500"/>
              <a:gd name="connsiteY7" fmla="*/ 342900 h 171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461500" h="1714500">
                <a:moveTo>
                  <a:pt x="6667500" y="0"/>
                </a:moveTo>
                <a:lnTo>
                  <a:pt x="9461500" y="0"/>
                </a:lnTo>
                <a:lnTo>
                  <a:pt x="9461500" y="1280527"/>
                </a:lnTo>
                <a:lnTo>
                  <a:pt x="863600" y="1280527"/>
                </a:lnTo>
                <a:lnTo>
                  <a:pt x="863600" y="1714500"/>
                </a:lnTo>
                <a:lnTo>
                  <a:pt x="0" y="1714500"/>
                </a:lnTo>
                <a:lnTo>
                  <a:pt x="0" y="342900"/>
                </a:lnTo>
                <a:lnTo>
                  <a:pt x="6667500" y="342900"/>
                </a:lnTo>
                <a:close/>
              </a:path>
            </a:pathLst>
          </a:cu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7" name="Rectangle 6">
            <a:extLst>
              <a:ext uri="{FF2B5EF4-FFF2-40B4-BE49-F238E27FC236}">
                <a16:creationId xmlns:a16="http://schemas.microsoft.com/office/drawing/2014/main" id="{10E1813E-037D-CF19-9B36-D73788E6D961}"/>
              </a:ext>
            </a:extLst>
          </p:cNvPr>
          <p:cNvSpPr/>
          <p:nvPr/>
        </p:nvSpPr>
        <p:spPr>
          <a:xfrm>
            <a:off x="8585200" y="3746423"/>
            <a:ext cx="2349500" cy="48259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fr-FR" i="1" dirty="0" err="1">
                <a:latin typeface="Consolas" panose="020B0609020204030204" pitchFamily="49" charset="0"/>
                <a:cs typeface="Consolas" panose="020B0609020204030204" pitchFamily="49" charset="0"/>
              </a:rPr>
              <a:t>Programme.java</a:t>
            </a:r>
            <a:endParaRPr lang="fr-FR" i="1" dirty="0">
              <a:latin typeface="Consolas" panose="020B0609020204030204" pitchFamily="49" charset="0"/>
              <a:cs typeface="Consolas" panose="020B0609020204030204" pitchFamily="49" charset="0"/>
            </a:endParaRPr>
          </a:p>
        </p:txBody>
      </p:sp>
      <p:sp>
        <p:nvSpPr>
          <p:cNvPr id="8" name="Espace réservé du contenu 2">
            <a:extLst>
              <a:ext uri="{FF2B5EF4-FFF2-40B4-BE49-F238E27FC236}">
                <a16:creationId xmlns:a16="http://schemas.microsoft.com/office/drawing/2014/main" id="{BEB55874-B441-932C-77D9-7BD9152C81A4}"/>
              </a:ext>
            </a:extLst>
          </p:cNvPr>
          <p:cNvSpPr txBox="1">
            <a:spLocks/>
          </p:cNvSpPr>
          <p:nvPr/>
        </p:nvSpPr>
        <p:spPr>
          <a:xfrm>
            <a:off x="838200" y="4503152"/>
            <a:ext cx="10515600" cy="8921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dirty="0"/>
              <a:t>…par une expression Lambda</a:t>
            </a:r>
          </a:p>
        </p:txBody>
      </p:sp>
      <p:sp>
        <p:nvSpPr>
          <p:cNvPr id="9" name="ZoneTexte 8">
            <a:extLst>
              <a:ext uri="{FF2B5EF4-FFF2-40B4-BE49-F238E27FC236}">
                <a16:creationId xmlns:a16="http://schemas.microsoft.com/office/drawing/2014/main" id="{BA33E854-6417-8E68-A8ED-6978A300ED2B}"/>
              </a:ext>
            </a:extLst>
          </p:cNvPr>
          <p:cNvSpPr txBox="1"/>
          <p:nvPr/>
        </p:nvSpPr>
        <p:spPr>
          <a:xfrm>
            <a:off x="1155700" y="4991100"/>
            <a:ext cx="184731" cy="369332"/>
          </a:xfrm>
          <a:prstGeom prst="rect">
            <a:avLst/>
          </a:prstGeom>
          <a:noFill/>
        </p:spPr>
        <p:txBody>
          <a:bodyPr wrap="none" rtlCol="0">
            <a:spAutoFit/>
          </a:bodyPr>
          <a:lstStyle/>
          <a:p>
            <a:endParaRPr lang="fr-FR" dirty="0"/>
          </a:p>
        </p:txBody>
      </p:sp>
      <p:sp>
        <p:nvSpPr>
          <p:cNvPr id="11" name="ZoneTexte 10">
            <a:extLst>
              <a:ext uri="{FF2B5EF4-FFF2-40B4-BE49-F238E27FC236}">
                <a16:creationId xmlns:a16="http://schemas.microsoft.com/office/drawing/2014/main" id="{C907EF12-20DE-2118-32E5-14F6991B9303}"/>
              </a:ext>
            </a:extLst>
          </p:cNvPr>
          <p:cNvSpPr txBox="1"/>
          <p:nvPr/>
        </p:nvSpPr>
        <p:spPr>
          <a:xfrm>
            <a:off x="1155700" y="5202049"/>
            <a:ext cx="9550400" cy="646331"/>
          </a:xfrm>
          <a:prstGeom prst="rect">
            <a:avLst/>
          </a:prstGeom>
          <a:solidFill>
            <a:srgbClr val="2B2B2B"/>
          </a:solidFill>
        </p:spPr>
        <p:txBody>
          <a:bodyPr wrap="square">
            <a:spAutoFit/>
          </a:bodyPr>
          <a:lstStyle/>
          <a:p>
            <a:r>
              <a:rPr lang="fr-BE" dirty="0">
                <a:solidFill>
                  <a:srgbClr val="BCBEC4"/>
                </a:solidFill>
                <a:effectLst/>
                <a:latin typeface="Consolas" panose="020B0609020204030204" pitchFamily="49" charset="0"/>
                <a:cs typeface="Consolas" panose="020B0609020204030204" pitchFamily="49" charset="0"/>
              </a:rPr>
              <a:t>List&lt;Melon&gt; </a:t>
            </a:r>
            <a:r>
              <a:rPr lang="fr-BE" dirty="0" err="1">
                <a:solidFill>
                  <a:srgbClr val="BCBEC4"/>
                </a:solidFill>
                <a:effectLst/>
                <a:latin typeface="Consolas" panose="020B0609020204030204" pitchFamily="49" charset="0"/>
                <a:cs typeface="Consolas" panose="020B0609020204030204" pitchFamily="49" charset="0"/>
              </a:rPr>
              <a:t>europeens</a:t>
            </a:r>
            <a:r>
              <a:rPr lang="fr-BE" dirty="0">
                <a:solidFill>
                  <a:srgbClr val="BCBEC4"/>
                </a:solidFill>
                <a:effectLst/>
                <a:latin typeface="Consolas" panose="020B0609020204030204" pitchFamily="49" charset="0"/>
                <a:cs typeface="Consolas" panose="020B0609020204030204" pitchFamily="49" charset="0"/>
              </a:rPr>
              <a:t> = </a:t>
            </a:r>
            <a:r>
              <a:rPr lang="fr-BE" dirty="0" err="1">
                <a:solidFill>
                  <a:srgbClr val="BCBEC4"/>
                </a:solidFill>
                <a:effectLst/>
                <a:latin typeface="Consolas" panose="020B0609020204030204" pitchFamily="49" charset="0"/>
                <a:cs typeface="Consolas" panose="020B0609020204030204" pitchFamily="49" charset="0"/>
              </a:rPr>
              <a:t>Filtre.</a:t>
            </a:r>
            <a:r>
              <a:rPr lang="fr-BE" i="1" dirty="0" err="1">
                <a:solidFill>
                  <a:srgbClr val="BCBEC4"/>
                </a:solidFill>
                <a:effectLst/>
                <a:latin typeface="Consolas" panose="020B0609020204030204" pitchFamily="49" charset="0"/>
                <a:cs typeface="Consolas" panose="020B0609020204030204" pitchFamily="49" charset="0"/>
              </a:rPr>
              <a:t>filtrerMelons</a:t>
            </a:r>
            <a:r>
              <a:rPr lang="fr-BE" dirty="0">
                <a:solidFill>
                  <a:srgbClr val="BCBEC4"/>
                </a:solidFill>
                <a:effectLst/>
                <a:latin typeface="Consolas" panose="020B0609020204030204" pitchFamily="49" charset="0"/>
                <a:cs typeface="Consolas" panose="020B0609020204030204" pitchFamily="49" charset="0"/>
              </a:rPr>
              <a:t>(melons,</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melon -&gt; </a:t>
            </a:r>
            <a:r>
              <a:rPr lang="fr-BE" dirty="0">
                <a:solidFill>
                  <a:srgbClr val="6AAB73"/>
                </a:solidFill>
                <a:effectLst/>
                <a:latin typeface="Consolas" panose="020B0609020204030204" pitchFamily="49" charset="0"/>
                <a:cs typeface="Consolas" panose="020B0609020204030204" pitchFamily="49" charset="0"/>
              </a:rPr>
              <a:t>"Europe"</a:t>
            </a:r>
            <a:r>
              <a:rPr lang="fr-BE" dirty="0">
                <a:solidFill>
                  <a:srgbClr val="BCBEC4"/>
                </a:solidFill>
                <a:effectLst/>
                <a:latin typeface="Consolas" panose="020B0609020204030204" pitchFamily="49" charset="0"/>
                <a:cs typeface="Consolas" panose="020B0609020204030204" pitchFamily="49" charset="0"/>
              </a:rPr>
              <a:t>.</a:t>
            </a:r>
            <a:r>
              <a:rPr lang="fr-BE" dirty="0" err="1">
                <a:solidFill>
                  <a:srgbClr val="BCBEC4"/>
                </a:solidFill>
                <a:effectLst/>
                <a:latin typeface="Consolas" panose="020B0609020204030204" pitchFamily="49" charset="0"/>
                <a:cs typeface="Consolas" panose="020B0609020204030204" pitchFamily="49" charset="0"/>
              </a:rPr>
              <a:t>equalsIgnoreCase</a:t>
            </a:r>
            <a:r>
              <a:rPr lang="fr-BE" dirty="0">
                <a:solidFill>
                  <a:srgbClr val="BCBEC4"/>
                </a:solidFill>
                <a:effectLst/>
                <a:latin typeface="Consolas" panose="020B0609020204030204" pitchFamily="49" charset="0"/>
                <a:cs typeface="Consolas" panose="020B0609020204030204" pitchFamily="49" charset="0"/>
              </a:rPr>
              <a:t>(</a:t>
            </a:r>
            <a:r>
              <a:rPr lang="fr-BE" dirty="0" err="1">
                <a:solidFill>
                  <a:srgbClr val="BCBEC4"/>
                </a:solidFill>
                <a:effectLst/>
                <a:latin typeface="Consolas" panose="020B0609020204030204" pitchFamily="49" charset="0"/>
                <a:cs typeface="Consolas" panose="020B0609020204030204" pitchFamily="49" charset="0"/>
              </a:rPr>
              <a:t>melon.getOrigine</a:t>
            </a:r>
            <a:r>
              <a:rPr lang="fr-BE" dirty="0">
                <a:solidFill>
                  <a:srgbClr val="BCBEC4"/>
                </a:solidFill>
                <a:effectLst/>
                <a:latin typeface="Consolas" panose="020B0609020204030204" pitchFamily="49" charset="0"/>
                <a:cs typeface="Consolas" panose="020B0609020204030204" pitchFamily="49" charset="0"/>
              </a:rPr>
              <a:t>()));</a:t>
            </a:r>
          </a:p>
        </p:txBody>
      </p:sp>
      <p:sp>
        <p:nvSpPr>
          <p:cNvPr id="12" name="Rectangle 11">
            <a:extLst>
              <a:ext uri="{FF2B5EF4-FFF2-40B4-BE49-F238E27FC236}">
                <a16:creationId xmlns:a16="http://schemas.microsoft.com/office/drawing/2014/main" id="{3B638D9D-D905-2100-958B-981D0BADD2BD}"/>
              </a:ext>
            </a:extLst>
          </p:cNvPr>
          <p:cNvSpPr/>
          <p:nvPr/>
        </p:nvSpPr>
        <p:spPr>
          <a:xfrm>
            <a:off x="2209800" y="5537200"/>
            <a:ext cx="6832600" cy="298480"/>
          </a:xfrm>
          <a:prstGeom prst="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15" name="Espace réservé du numéro de diapositive 14">
            <a:extLst>
              <a:ext uri="{FF2B5EF4-FFF2-40B4-BE49-F238E27FC236}">
                <a16:creationId xmlns:a16="http://schemas.microsoft.com/office/drawing/2014/main" id="{87604B6F-F673-DB26-E4C2-3A0ADAB2A504}"/>
              </a:ext>
            </a:extLst>
          </p:cNvPr>
          <p:cNvSpPr>
            <a:spLocks noGrp="1"/>
          </p:cNvSpPr>
          <p:nvPr>
            <p:ph type="sldNum" sz="quarter" idx="4"/>
          </p:nvPr>
        </p:nvSpPr>
        <p:spPr/>
        <p:txBody>
          <a:bodyPr/>
          <a:lstStyle/>
          <a:p>
            <a:fld id="{33C783E2-4793-4F48-A271-51A73CC37D74}" type="slidenum">
              <a:rPr lang="fr-FR" smtClean="0"/>
              <a:t>70</a:t>
            </a:fld>
            <a:endParaRPr lang="fr-FR"/>
          </a:p>
        </p:txBody>
      </p:sp>
    </p:spTree>
    <p:extLst>
      <p:ext uri="{BB962C8B-B14F-4D97-AF65-F5344CB8AC3E}">
        <p14:creationId xmlns:p14="http://schemas.microsoft.com/office/powerpoint/2010/main" val="2136110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8" grpId="0"/>
      <p:bldP spid="11" grpId="0" animBg="1"/>
      <p:bldP spid="12"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Anatomie d'une Expression Lambda</a:t>
            </a:r>
          </a:p>
        </p:txBody>
      </p:sp>
      <p:sp>
        <p:nvSpPr>
          <p:cNvPr id="3" name="Espace réservé du contenu 2"/>
          <p:cNvSpPr>
            <a:spLocks noGrp="1"/>
          </p:cNvSpPr>
          <p:nvPr>
            <p:ph idx="1"/>
          </p:nvPr>
        </p:nvSpPr>
        <p:spPr/>
        <p:txBody>
          <a:bodyPr>
            <a:normAutofit/>
          </a:bodyPr>
          <a:lstStyle/>
          <a:p>
            <a:pPr marL="0" indent="0">
              <a:lnSpc>
                <a:spcPct val="100000"/>
              </a:lnSpc>
              <a:buNone/>
            </a:pPr>
            <a:r>
              <a:rPr lang="fr-FR" sz="2000" dirty="0"/>
              <a:t>Une expression Lambda est comme une méthode: </a:t>
            </a:r>
          </a:p>
          <a:p>
            <a:pPr marL="457200" indent="-457200">
              <a:lnSpc>
                <a:spcPct val="100000"/>
              </a:lnSpc>
              <a:buFont typeface="+mj-lt"/>
              <a:buAutoNum type="arabicPeriod"/>
            </a:pPr>
            <a:r>
              <a:rPr lang="fr-FR" sz="2000" dirty="0"/>
              <a:t>une </a:t>
            </a:r>
            <a:r>
              <a:rPr lang="fr-FR" sz="2000" dirty="0">
                <a:solidFill>
                  <a:schemeClr val="accent4"/>
                </a:solidFill>
              </a:rPr>
              <a:t>liste de paramètres</a:t>
            </a:r>
          </a:p>
          <a:p>
            <a:pPr marL="457200" indent="-457200">
              <a:lnSpc>
                <a:spcPct val="100000"/>
              </a:lnSpc>
              <a:buFont typeface="+mj-lt"/>
              <a:buAutoNum type="arabicPeriod"/>
            </a:pPr>
            <a:r>
              <a:rPr lang="fr-FR" sz="2000" dirty="0"/>
              <a:t>un</a:t>
            </a:r>
            <a:r>
              <a:rPr lang="fr-FR" sz="2000" dirty="0">
                <a:solidFill>
                  <a:schemeClr val="accent4"/>
                </a:solidFill>
              </a:rPr>
              <a:t> corps de méthode</a:t>
            </a:r>
          </a:p>
          <a:p>
            <a:pPr marL="0" indent="0">
              <a:lnSpc>
                <a:spcPct val="100000"/>
              </a:lnSpc>
              <a:buNone/>
            </a:pPr>
            <a:r>
              <a:rPr lang="fr-FR" sz="2000" dirty="0"/>
              <a:t>		      1.		            2.</a:t>
            </a:r>
          </a:p>
          <a:p>
            <a:pPr>
              <a:lnSpc>
                <a:spcPct val="100000"/>
              </a:lnSpc>
            </a:pPr>
            <a:endParaRPr lang="fr-FR" sz="2000" dirty="0"/>
          </a:p>
          <a:p>
            <a:pPr>
              <a:lnSpc>
                <a:spcPct val="100000"/>
              </a:lnSpc>
            </a:pPr>
            <a:endParaRPr lang="fr-FR" sz="2000" dirty="0"/>
          </a:p>
        </p:txBody>
      </p:sp>
      <p:sp>
        <p:nvSpPr>
          <p:cNvPr id="4" name="Rectangle 3"/>
          <p:cNvSpPr/>
          <p:nvPr/>
        </p:nvSpPr>
        <p:spPr>
          <a:xfrm>
            <a:off x="11032535" y="133349"/>
            <a:ext cx="684803" cy="1323439"/>
          </a:xfrm>
          <a:prstGeom prst="rect">
            <a:avLst/>
          </a:prstGeom>
          <a:noFill/>
        </p:spPr>
        <p:txBody>
          <a:bodyPr wrap="none" lIns="91440" tIns="45720" rIns="91440" bIns="45720">
            <a:spAutoFit/>
          </a:bodyPr>
          <a:lstStyle/>
          <a:p>
            <a:pPr algn="ctr"/>
            <a:r>
              <a:rPr lang="nl-BE" sz="8000" b="1" spc="50" dirty="0">
                <a:ln w="13500">
                  <a:solidFill>
                    <a:schemeClr val="accent1">
                      <a:shade val="2500"/>
                      <a:alpha val="6500"/>
                    </a:schemeClr>
                  </a:solidFill>
                  <a:prstDash val="solid"/>
                </a:ln>
                <a:solidFill>
                  <a:schemeClr val="tx1">
                    <a:lumMod val="50000"/>
                    <a:lumOff val="50000"/>
                    <a:alpha val="95000"/>
                  </a:schemeClr>
                </a:solidFill>
                <a:effectLst>
                  <a:innerShdw blurRad="50900" dist="38500" dir="13500000">
                    <a:srgbClr val="000000">
                      <a:alpha val="60000"/>
                    </a:srgbClr>
                  </a:innerShdw>
                </a:effectLst>
                <a:latin typeface="Calibri"/>
                <a:cs typeface="Calibri"/>
              </a:rPr>
              <a:t>λ</a:t>
            </a:r>
          </a:p>
        </p:txBody>
      </p:sp>
      <p:sp>
        <p:nvSpPr>
          <p:cNvPr id="5" name="Rectangle 4">
            <a:extLst>
              <a:ext uri="{FF2B5EF4-FFF2-40B4-BE49-F238E27FC236}">
                <a16:creationId xmlns:a16="http://schemas.microsoft.com/office/drawing/2014/main" id="{80DAF2B1-C46D-C547-BE1B-282EC7B5ED96}"/>
              </a:ext>
            </a:extLst>
          </p:cNvPr>
          <p:cNvSpPr/>
          <p:nvPr/>
        </p:nvSpPr>
        <p:spPr>
          <a:xfrm>
            <a:off x="1912620" y="3336198"/>
            <a:ext cx="2956560" cy="1889556"/>
          </a:xfrm>
          <a:prstGeom prst="rect">
            <a:avLst/>
          </a:prstGeom>
        </p:spPr>
        <p:txBody>
          <a:bodyPr wrap="square">
            <a:spAutoFit/>
          </a:bodyPr>
          <a:lstStyle/>
          <a:p>
            <a:pPr>
              <a:lnSpc>
                <a:spcPct val="150000"/>
              </a:lnSpc>
            </a:pPr>
            <a:r>
              <a:rPr lang="fr-FR" sz="2000" b="1" dirty="0">
                <a:solidFill>
                  <a:schemeClr val="accent4"/>
                </a:solidFill>
                <a:latin typeface="Consolas" panose="020B0609020204030204" pitchFamily="49" charset="0"/>
                <a:cs typeface="Consolas" panose="020B0609020204030204" pitchFamily="49" charset="0"/>
              </a:rPr>
              <a:t>            ()  -&gt; </a:t>
            </a:r>
          </a:p>
          <a:p>
            <a:pPr>
              <a:lnSpc>
                <a:spcPct val="150000"/>
              </a:lnSpc>
            </a:pPr>
            <a:r>
              <a:rPr lang="fr-FR" sz="2000" b="1" dirty="0">
                <a:solidFill>
                  <a:schemeClr val="accent4"/>
                </a:solidFill>
                <a:latin typeface="Consolas" panose="020B0609020204030204" pitchFamily="49" charset="0"/>
                <a:cs typeface="Consolas" panose="020B0609020204030204" pitchFamily="49" charset="0"/>
              </a:rPr>
              <a:t>             s  -&gt;</a:t>
            </a:r>
          </a:p>
          <a:p>
            <a:pPr>
              <a:lnSpc>
                <a:spcPct val="150000"/>
              </a:lnSpc>
            </a:pPr>
            <a:r>
              <a:rPr lang="fr-FR" sz="2000" b="1" dirty="0">
                <a:solidFill>
                  <a:schemeClr val="accent4"/>
                </a:solidFill>
                <a:latin typeface="Consolas" panose="020B0609020204030204" pitchFamily="49" charset="0"/>
                <a:cs typeface="Consolas" panose="020B0609020204030204" pitchFamily="49" charset="0"/>
              </a:rPr>
              <a:t>(</a:t>
            </a:r>
            <a:r>
              <a:rPr lang="fr-FR" sz="2000" b="1" dirty="0" err="1">
                <a:solidFill>
                  <a:schemeClr val="accent4"/>
                </a:solidFill>
                <a:latin typeface="Consolas" panose="020B0609020204030204" pitchFamily="49" charset="0"/>
                <a:cs typeface="Consolas" panose="020B0609020204030204" pitchFamily="49" charset="0"/>
              </a:rPr>
              <a:t>int</a:t>
            </a:r>
            <a:r>
              <a:rPr lang="fr-FR" sz="2000" b="1" dirty="0">
                <a:solidFill>
                  <a:schemeClr val="accent4"/>
                </a:solidFill>
                <a:latin typeface="Consolas" panose="020B0609020204030204" pitchFamily="49" charset="0"/>
                <a:cs typeface="Consolas" panose="020B0609020204030204" pitchFamily="49" charset="0"/>
              </a:rPr>
              <a:t> x, </a:t>
            </a:r>
            <a:r>
              <a:rPr lang="fr-FR" sz="2000" b="1" dirty="0" err="1">
                <a:solidFill>
                  <a:schemeClr val="accent4"/>
                </a:solidFill>
                <a:latin typeface="Consolas" panose="020B0609020204030204" pitchFamily="49" charset="0"/>
                <a:cs typeface="Consolas" panose="020B0609020204030204" pitchFamily="49" charset="0"/>
              </a:rPr>
              <a:t>int</a:t>
            </a:r>
            <a:r>
              <a:rPr lang="fr-FR" sz="2000" b="1" dirty="0">
                <a:solidFill>
                  <a:schemeClr val="accent4"/>
                </a:solidFill>
                <a:latin typeface="Consolas" panose="020B0609020204030204" pitchFamily="49" charset="0"/>
                <a:cs typeface="Consolas" panose="020B0609020204030204" pitchFamily="49" charset="0"/>
              </a:rPr>
              <a:t> y)  -&gt;</a:t>
            </a:r>
          </a:p>
          <a:p>
            <a:pPr>
              <a:lnSpc>
                <a:spcPct val="150000"/>
              </a:lnSpc>
            </a:pPr>
            <a:r>
              <a:rPr lang="fr-FR" sz="2000" b="1" dirty="0">
                <a:solidFill>
                  <a:schemeClr val="accent4"/>
                </a:solidFill>
                <a:latin typeface="Consolas" panose="020B0609020204030204" pitchFamily="49" charset="0"/>
                <a:cs typeface="Consolas" panose="020B0609020204030204" pitchFamily="49" charset="0"/>
              </a:rPr>
              <a:t>     (x, y, z)  -&gt;</a:t>
            </a:r>
          </a:p>
        </p:txBody>
      </p:sp>
      <p:sp>
        <p:nvSpPr>
          <p:cNvPr id="7" name="Rectangle 6">
            <a:extLst>
              <a:ext uri="{FF2B5EF4-FFF2-40B4-BE49-F238E27FC236}">
                <a16:creationId xmlns:a16="http://schemas.microsoft.com/office/drawing/2014/main" id="{B891291F-877A-7A49-B49C-0A09378851EB}"/>
              </a:ext>
            </a:extLst>
          </p:cNvPr>
          <p:cNvSpPr/>
          <p:nvPr/>
        </p:nvSpPr>
        <p:spPr>
          <a:xfrm>
            <a:off x="4696460" y="3344499"/>
            <a:ext cx="5946140" cy="3274551"/>
          </a:xfrm>
          <a:prstGeom prst="rect">
            <a:avLst/>
          </a:prstGeom>
        </p:spPr>
        <p:txBody>
          <a:bodyPr wrap="square">
            <a:spAutoFit/>
          </a:bodyPr>
          <a:lstStyle/>
          <a:p>
            <a:pPr>
              <a:lnSpc>
                <a:spcPct val="150000"/>
              </a:lnSpc>
            </a:pPr>
            <a:r>
              <a:rPr lang="fr-FR" sz="2000" b="1" dirty="0" err="1">
                <a:solidFill>
                  <a:schemeClr val="accent4"/>
                </a:solidFill>
                <a:latin typeface="Consolas" panose="020B0609020204030204" pitchFamily="49" charset="0"/>
                <a:cs typeface="Consolas" panose="020B0609020204030204" pitchFamily="49" charset="0"/>
              </a:rPr>
              <a:t>System.out.println</a:t>
            </a:r>
            <a:r>
              <a:rPr lang="fr-FR" sz="2000" b="1" dirty="0">
                <a:solidFill>
                  <a:schemeClr val="accent4"/>
                </a:solidFill>
                <a:latin typeface="Consolas" panose="020B0609020204030204" pitchFamily="49" charset="0"/>
                <a:cs typeface="Consolas" panose="020B0609020204030204" pitchFamily="49" charset="0"/>
              </a:rPr>
              <a:t>("Hello Lambda!")</a:t>
            </a:r>
          </a:p>
          <a:p>
            <a:pPr>
              <a:lnSpc>
                <a:spcPct val="150000"/>
              </a:lnSpc>
            </a:pPr>
            <a:r>
              <a:rPr lang="fr-FR" sz="2000" b="1" dirty="0" err="1">
                <a:solidFill>
                  <a:schemeClr val="accent4"/>
                </a:solidFill>
                <a:latin typeface="Consolas" panose="020B0609020204030204" pitchFamily="49" charset="0"/>
                <a:cs typeface="Consolas" panose="020B0609020204030204" pitchFamily="49" charset="0"/>
              </a:rPr>
              <a:t>s.length</a:t>
            </a:r>
            <a:r>
              <a:rPr lang="fr-FR" sz="2000" b="1" dirty="0">
                <a:solidFill>
                  <a:schemeClr val="accent4"/>
                </a:solidFill>
                <a:latin typeface="Consolas" panose="020B0609020204030204" pitchFamily="49" charset="0"/>
                <a:cs typeface="Consolas" panose="020B0609020204030204" pitchFamily="49" charset="0"/>
              </a:rPr>
              <a:t>() </a:t>
            </a:r>
          </a:p>
          <a:p>
            <a:pPr>
              <a:lnSpc>
                <a:spcPct val="150000"/>
              </a:lnSpc>
            </a:pPr>
            <a:r>
              <a:rPr lang="fr-FR" sz="2000" b="1" dirty="0">
                <a:solidFill>
                  <a:schemeClr val="accent4"/>
                </a:solidFill>
                <a:latin typeface="Consolas" panose="020B0609020204030204" pitchFamily="49" charset="0"/>
                <a:cs typeface="Consolas" panose="020B0609020204030204" pitchFamily="49" charset="0"/>
              </a:rPr>
              <a:t>x + y </a:t>
            </a:r>
          </a:p>
          <a:p>
            <a:pPr>
              <a:lnSpc>
                <a:spcPct val="150000"/>
              </a:lnSpc>
            </a:pPr>
            <a:r>
              <a:rPr lang="fr-FR" sz="2000" b="1" dirty="0">
                <a:solidFill>
                  <a:schemeClr val="accent4"/>
                </a:solidFill>
                <a:latin typeface="Consolas" panose="020B0609020204030204" pitchFamily="49" charset="0"/>
                <a:cs typeface="Consolas" panose="020B0609020204030204" pitchFamily="49" charset="0"/>
              </a:rPr>
              <a:t>{</a:t>
            </a:r>
          </a:p>
          <a:p>
            <a:pPr>
              <a:lnSpc>
                <a:spcPct val="150000"/>
              </a:lnSpc>
            </a:pPr>
            <a:r>
              <a:rPr lang="fr-FR" sz="2000" b="1" dirty="0">
                <a:solidFill>
                  <a:schemeClr val="accent4"/>
                </a:solidFill>
                <a:latin typeface="Consolas" panose="020B0609020204030204" pitchFamily="49" charset="0"/>
                <a:cs typeface="Consolas" panose="020B0609020204030204" pitchFamily="49" charset="0"/>
              </a:rPr>
              <a:t>  if (x) return y;</a:t>
            </a:r>
          </a:p>
          <a:p>
            <a:pPr>
              <a:lnSpc>
                <a:spcPct val="150000"/>
              </a:lnSpc>
            </a:pPr>
            <a:r>
              <a:rPr lang="fr-FR" sz="2000" b="1" dirty="0">
                <a:solidFill>
                  <a:schemeClr val="accent4"/>
                </a:solidFill>
                <a:latin typeface="Consolas" panose="020B0609020204030204" pitchFamily="49" charset="0"/>
                <a:cs typeface="Consolas" panose="020B0609020204030204" pitchFamily="49" charset="0"/>
              </a:rPr>
              <a:t>  </a:t>
            </a:r>
            <a:r>
              <a:rPr lang="fr-FR" sz="2000" b="1" dirty="0" err="1">
                <a:solidFill>
                  <a:schemeClr val="accent4"/>
                </a:solidFill>
                <a:latin typeface="Consolas" panose="020B0609020204030204" pitchFamily="49" charset="0"/>
                <a:cs typeface="Consolas" panose="020B0609020204030204" pitchFamily="49" charset="0"/>
              </a:rPr>
              <a:t>else</a:t>
            </a:r>
            <a:r>
              <a:rPr lang="fr-FR" sz="2000" b="1" dirty="0">
                <a:solidFill>
                  <a:schemeClr val="accent4"/>
                </a:solidFill>
                <a:latin typeface="Consolas" panose="020B0609020204030204" pitchFamily="49" charset="0"/>
                <a:cs typeface="Consolas" panose="020B0609020204030204" pitchFamily="49" charset="0"/>
              </a:rPr>
              <a:t> return z;</a:t>
            </a:r>
          </a:p>
          <a:p>
            <a:pPr>
              <a:lnSpc>
                <a:spcPct val="150000"/>
              </a:lnSpc>
            </a:pPr>
            <a:r>
              <a:rPr lang="fr-FR" sz="2000" b="1" dirty="0">
                <a:solidFill>
                  <a:schemeClr val="accent4"/>
                </a:solidFill>
                <a:latin typeface="Consolas" panose="020B0609020204030204" pitchFamily="49" charset="0"/>
                <a:cs typeface="Consolas" panose="020B0609020204030204" pitchFamily="49" charset="0"/>
              </a:rPr>
              <a:t>} </a:t>
            </a:r>
          </a:p>
        </p:txBody>
      </p:sp>
      <p:sp>
        <p:nvSpPr>
          <p:cNvPr id="8" name="Espace réservé du numéro de diapositive 7">
            <a:extLst>
              <a:ext uri="{FF2B5EF4-FFF2-40B4-BE49-F238E27FC236}">
                <a16:creationId xmlns:a16="http://schemas.microsoft.com/office/drawing/2014/main" id="{5AA3B6AB-A011-6490-397D-436F54203925}"/>
              </a:ext>
            </a:extLst>
          </p:cNvPr>
          <p:cNvSpPr>
            <a:spLocks noGrp="1"/>
          </p:cNvSpPr>
          <p:nvPr>
            <p:ph type="sldNum" sz="quarter" idx="4"/>
          </p:nvPr>
        </p:nvSpPr>
        <p:spPr/>
        <p:txBody>
          <a:bodyPr/>
          <a:lstStyle/>
          <a:p>
            <a:fld id="{33C783E2-4793-4F48-A271-51A73CC37D74}" type="slidenum">
              <a:rPr lang="fr-FR" smtClean="0"/>
              <a:t>71</a:t>
            </a:fld>
            <a:endParaRPr lang="fr-FR"/>
          </a:p>
        </p:txBody>
      </p:sp>
    </p:spTree>
    <p:extLst>
      <p:ext uri="{BB962C8B-B14F-4D97-AF65-F5344CB8AC3E}">
        <p14:creationId xmlns:p14="http://schemas.microsoft.com/office/powerpoint/2010/main" val="48518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100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wipe(left)">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 calcmode="lin" valueType="num">
                                      <p:cBhvr additive="base">
                                        <p:cTn id="17" dur="500" fill="hold"/>
                                        <p:tgtEl>
                                          <p:spTgt spid="5">
                                            <p:txEl>
                                              <p:pRg st="1" end="1"/>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5">
                                            <p:txEl>
                                              <p:pRg st="1" end="1"/>
                                            </p:txEl>
                                          </p:spTgt>
                                        </p:tgtEl>
                                        <p:attrNameLst>
                                          <p:attrName>ppt_y</p:attrName>
                                        </p:attrNameLst>
                                      </p:cBhvr>
                                      <p:tavLst>
                                        <p:tav tm="0">
                                          <p:val>
                                            <p:strVal val="#ppt_y"/>
                                          </p:val>
                                        </p:tav>
                                        <p:tav tm="100000">
                                          <p:val>
                                            <p:strVal val="#ppt_y"/>
                                          </p:val>
                                        </p:tav>
                                      </p:tavLst>
                                    </p:anim>
                                  </p:childTnLst>
                                </p:cTn>
                              </p:par>
                            </p:childTnLst>
                          </p:cTn>
                        </p:par>
                        <p:par>
                          <p:cTn id="19" fill="hold">
                            <p:stCondLst>
                              <p:cond delay="500"/>
                            </p:stCondLst>
                            <p:childTnLst>
                              <p:par>
                                <p:cTn id="20" presetID="22" presetClass="entr" presetSubtype="8" fill="hold" grpId="0" nodeType="afterEffect">
                                  <p:stCondLst>
                                    <p:cond delay="1000"/>
                                  </p:stCondLst>
                                  <p:childTnLst>
                                    <p:set>
                                      <p:cBhvr>
                                        <p:cTn id="21" dur="1" fill="hold">
                                          <p:stCondLst>
                                            <p:cond delay="0"/>
                                          </p:stCondLst>
                                        </p:cTn>
                                        <p:tgtEl>
                                          <p:spTgt spid="7">
                                            <p:txEl>
                                              <p:pRg st="1" end="1"/>
                                            </p:txEl>
                                          </p:spTgt>
                                        </p:tgtEl>
                                        <p:attrNameLst>
                                          <p:attrName>style.visibility</p:attrName>
                                        </p:attrNameLst>
                                      </p:cBhvr>
                                      <p:to>
                                        <p:strVal val="visible"/>
                                      </p:to>
                                    </p:set>
                                    <p:animEffect transition="in" filter="wipe(left)">
                                      <p:cBhvr>
                                        <p:cTn id="22" dur="500"/>
                                        <p:tgtEl>
                                          <p:spTgt spid="7">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anim calcmode="lin" valueType="num">
                                      <p:cBhvr additive="base">
                                        <p:cTn id="27" dur="500" fill="hold"/>
                                        <p:tgtEl>
                                          <p:spTgt spid="5">
                                            <p:txEl>
                                              <p:pRg st="2" end="2"/>
                                            </p:tx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5">
                                            <p:txEl>
                                              <p:pRg st="2" end="2"/>
                                            </p:txEl>
                                          </p:spTgt>
                                        </p:tgtEl>
                                        <p:attrNameLst>
                                          <p:attrName>ppt_y</p:attrName>
                                        </p:attrNameLst>
                                      </p:cBhvr>
                                      <p:tavLst>
                                        <p:tav tm="0">
                                          <p:val>
                                            <p:strVal val="#ppt_y"/>
                                          </p:val>
                                        </p:tav>
                                        <p:tav tm="100000">
                                          <p:val>
                                            <p:strVal val="#ppt_y"/>
                                          </p:val>
                                        </p:tav>
                                      </p:tavLst>
                                    </p:anim>
                                  </p:childTnLst>
                                </p:cTn>
                              </p:par>
                            </p:childTnLst>
                          </p:cTn>
                        </p:par>
                        <p:par>
                          <p:cTn id="29" fill="hold">
                            <p:stCondLst>
                              <p:cond delay="500"/>
                            </p:stCondLst>
                            <p:childTnLst>
                              <p:par>
                                <p:cTn id="30" presetID="22" presetClass="entr" presetSubtype="8" fill="hold" grpId="0" nodeType="afterEffect">
                                  <p:stCondLst>
                                    <p:cond delay="1000"/>
                                  </p:stCondLst>
                                  <p:childTnLst>
                                    <p:set>
                                      <p:cBhvr>
                                        <p:cTn id="31" dur="1" fill="hold">
                                          <p:stCondLst>
                                            <p:cond delay="0"/>
                                          </p:stCondLst>
                                        </p:cTn>
                                        <p:tgtEl>
                                          <p:spTgt spid="7">
                                            <p:txEl>
                                              <p:pRg st="2" end="2"/>
                                            </p:txEl>
                                          </p:spTgt>
                                        </p:tgtEl>
                                        <p:attrNameLst>
                                          <p:attrName>style.visibility</p:attrName>
                                        </p:attrNameLst>
                                      </p:cBhvr>
                                      <p:to>
                                        <p:strVal val="visible"/>
                                      </p:to>
                                    </p:set>
                                    <p:animEffect transition="in" filter="wipe(left)">
                                      <p:cBhvr>
                                        <p:cTn id="32" dur="500"/>
                                        <p:tgtEl>
                                          <p:spTgt spid="7">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5">
                                            <p:txEl>
                                              <p:pRg st="3" end="3"/>
                                            </p:txEl>
                                          </p:spTgt>
                                        </p:tgtEl>
                                        <p:attrNameLst>
                                          <p:attrName>style.visibility</p:attrName>
                                        </p:attrNameLst>
                                      </p:cBhvr>
                                      <p:to>
                                        <p:strVal val="visible"/>
                                      </p:to>
                                    </p:set>
                                    <p:anim calcmode="lin" valueType="num">
                                      <p:cBhvr additive="base">
                                        <p:cTn id="37" dur="500" fill="hold"/>
                                        <p:tgtEl>
                                          <p:spTgt spid="5">
                                            <p:txEl>
                                              <p:pRg st="3" end="3"/>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5">
                                            <p:txEl>
                                              <p:pRg st="3" end="3"/>
                                            </p:txEl>
                                          </p:spTgt>
                                        </p:tgtEl>
                                        <p:attrNameLst>
                                          <p:attrName>ppt_y</p:attrName>
                                        </p:attrNameLst>
                                      </p:cBhvr>
                                      <p:tavLst>
                                        <p:tav tm="0">
                                          <p:val>
                                            <p:strVal val="#ppt_y"/>
                                          </p:val>
                                        </p:tav>
                                        <p:tav tm="100000">
                                          <p:val>
                                            <p:strVal val="#ppt_y"/>
                                          </p:val>
                                        </p:tav>
                                      </p:tavLst>
                                    </p:anim>
                                  </p:childTnLst>
                                </p:cTn>
                              </p:par>
                            </p:childTnLst>
                          </p:cTn>
                        </p:par>
                        <p:par>
                          <p:cTn id="39" fill="hold">
                            <p:stCondLst>
                              <p:cond delay="500"/>
                            </p:stCondLst>
                            <p:childTnLst>
                              <p:par>
                                <p:cTn id="40" presetID="22" presetClass="entr" presetSubtype="8" fill="hold" grpId="0" nodeType="afterEffect">
                                  <p:stCondLst>
                                    <p:cond delay="1000"/>
                                  </p:stCondLst>
                                  <p:childTnLst>
                                    <p:set>
                                      <p:cBhvr>
                                        <p:cTn id="41" dur="1" fill="hold">
                                          <p:stCondLst>
                                            <p:cond delay="0"/>
                                          </p:stCondLst>
                                        </p:cTn>
                                        <p:tgtEl>
                                          <p:spTgt spid="7">
                                            <p:txEl>
                                              <p:pRg st="3" end="3"/>
                                            </p:txEl>
                                          </p:spTgt>
                                        </p:tgtEl>
                                        <p:attrNameLst>
                                          <p:attrName>style.visibility</p:attrName>
                                        </p:attrNameLst>
                                      </p:cBhvr>
                                      <p:to>
                                        <p:strVal val="visible"/>
                                      </p:to>
                                    </p:set>
                                    <p:animEffect transition="in" filter="wipe(left)">
                                      <p:cBhvr>
                                        <p:cTn id="42" dur="500"/>
                                        <p:tgtEl>
                                          <p:spTgt spid="7">
                                            <p:txEl>
                                              <p:pRg st="3" end="3"/>
                                            </p:txEl>
                                          </p:spTgt>
                                        </p:tgtEl>
                                      </p:cBhvr>
                                    </p:animEffect>
                                  </p:childTnLst>
                                </p:cTn>
                              </p:par>
                            </p:childTnLst>
                          </p:cTn>
                        </p:par>
                        <p:par>
                          <p:cTn id="43" fill="hold">
                            <p:stCondLst>
                              <p:cond delay="2000"/>
                            </p:stCondLst>
                            <p:childTnLst>
                              <p:par>
                                <p:cTn id="44" presetID="22" presetClass="entr" presetSubtype="8" fill="hold" grpId="0" nodeType="afterEffect">
                                  <p:stCondLst>
                                    <p:cond delay="0"/>
                                  </p:stCondLst>
                                  <p:childTnLst>
                                    <p:set>
                                      <p:cBhvr>
                                        <p:cTn id="45" dur="1" fill="hold">
                                          <p:stCondLst>
                                            <p:cond delay="0"/>
                                          </p:stCondLst>
                                        </p:cTn>
                                        <p:tgtEl>
                                          <p:spTgt spid="7">
                                            <p:txEl>
                                              <p:pRg st="4" end="4"/>
                                            </p:txEl>
                                          </p:spTgt>
                                        </p:tgtEl>
                                        <p:attrNameLst>
                                          <p:attrName>style.visibility</p:attrName>
                                        </p:attrNameLst>
                                      </p:cBhvr>
                                      <p:to>
                                        <p:strVal val="visible"/>
                                      </p:to>
                                    </p:set>
                                    <p:animEffect transition="in" filter="wipe(left)">
                                      <p:cBhvr>
                                        <p:cTn id="46" dur="500"/>
                                        <p:tgtEl>
                                          <p:spTgt spid="7">
                                            <p:txEl>
                                              <p:pRg st="4" end="4"/>
                                            </p:txEl>
                                          </p:spTgt>
                                        </p:tgtEl>
                                      </p:cBhvr>
                                    </p:animEffect>
                                  </p:childTnLst>
                                </p:cTn>
                              </p:par>
                            </p:childTnLst>
                          </p:cTn>
                        </p:par>
                        <p:par>
                          <p:cTn id="47" fill="hold">
                            <p:stCondLst>
                              <p:cond delay="2500"/>
                            </p:stCondLst>
                            <p:childTnLst>
                              <p:par>
                                <p:cTn id="48" presetID="22" presetClass="entr" presetSubtype="8" fill="hold" grpId="0" nodeType="afterEffect">
                                  <p:stCondLst>
                                    <p:cond delay="0"/>
                                  </p:stCondLst>
                                  <p:childTnLst>
                                    <p:set>
                                      <p:cBhvr>
                                        <p:cTn id="49" dur="1" fill="hold">
                                          <p:stCondLst>
                                            <p:cond delay="0"/>
                                          </p:stCondLst>
                                        </p:cTn>
                                        <p:tgtEl>
                                          <p:spTgt spid="7">
                                            <p:txEl>
                                              <p:pRg st="5" end="5"/>
                                            </p:txEl>
                                          </p:spTgt>
                                        </p:tgtEl>
                                        <p:attrNameLst>
                                          <p:attrName>style.visibility</p:attrName>
                                        </p:attrNameLst>
                                      </p:cBhvr>
                                      <p:to>
                                        <p:strVal val="visible"/>
                                      </p:to>
                                    </p:set>
                                    <p:animEffect transition="in" filter="wipe(left)">
                                      <p:cBhvr>
                                        <p:cTn id="50" dur="500"/>
                                        <p:tgtEl>
                                          <p:spTgt spid="7">
                                            <p:txEl>
                                              <p:pRg st="5" end="5"/>
                                            </p:txEl>
                                          </p:spTgt>
                                        </p:tgtEl>
                                      </p:cBhvr>
                                    </p:animEffect>
                                  </p:childTnLst>
                                </p:cTn>
                              </p:par>
                            </p:childTnLst>
                          </p:cTn>
                        </p:par>
                        <p:par>
                          <p:cTn id="51" fill="hold">
                            <p:stCondLst>
                              <p:cond delay="3000"/>
                            </p:stCondLst>
                            <p:childTnLst>
                              <p:par>
                                <p:cTn id="52" presetID="22" presetClass="entr" presetSubtype="8" fill="hold" grpId="0" nodeType="afterEffect">
                                  <p:stCondLst>
                                    <p:cond delay="0"/>
                                  </p:stCondLst>
                                  <p:childTnLst>
                                    <p:set>
                                      <p:cBhvr>
                                        <p:cTn id="53" dur="1" fill="hold">
                                          <p:stCondLst>
                                            <p:cond delay="0"/>
                                          </p:stCondLst>
                                        </p:cTn>
                                        <p:tgtEl>
                                          <p:spTgt spid="7">
                                            <p:txEl>
                                              <p:pRg st="6" end="6"/>
                                            </p:txEl>
                                          </p:spTgt>
                                        </p:tgtEl>
                                        <p:attrNameLst>
                                          <p:attrName>style.visibility</p:attrName>
                                        </p:attrNameLst>
                                      </p:cBhvr>
                                      <p:to>
                                        <p:strVal val="visible"/>
                                      </p:to>
                                    </p:set>
                                    <p:animEffect transition="in" filter="wipe(left)">
                                      <p:cBhvr>
                                        <p:cTn id="54" dur="500"/>
                                        <p:tgtEl>
                                          <p:spTgt spid="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7" grpId="0" uiExpand="1"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Expressions Lambda</a:t>
            </a:r>
          </a:p>
        </p:txBody>
      </p:sp>
      <p:sp>
        <p:nvSpPr>
          <p:cNvPr id="3" name="Espace réservé du contenu 2"/>
          <p:cNvSpPr>
            <a:spLocks noGrp="1"/>
          </p:cNvSpPr>
          <p:nvPr>
            <p:ph idx="1"/>
          </p:nvPr>
        </p:nvSpPr>
        <p:spPr/>
        <p:txBody>
          <a:bodyPr>
            <a:noAutofit/>
          </a:bodyPr>
          <a:lstStyle/>
          <a:p>
            <a:pPr marL="342900" indent="-342900">
              <a:lnSpc>
                <a:spcPct val="80000"/>
              </a:lnSpc>
              <a:buFont typeface="Arial"/>
              <a:buChar char="•"/>
            </a:pPr>
            <a:r>
              <a:rPr lang="fr-FR" dirty="0"/>
              <a:t>Un exemple pratique</a:t>
            </a:r>
          </a:p>
          <a:p>
            <a:pPr marL="342900" indent="-342900">
              <a:lnSpc>
                <a:spcPct val="80000"/>
              </a:lnSpc>
              <a:buFont typeface="Arial"/>
              <a:buChar char="•"/>
            </a:pPr>
            <a:r>
              <a:rPr lang="fr-FR" dirty="0"/>
              <a:t>Les expressions Lambda</a:t>
            </a:r>
          </a:p>
          <a:p>
            <a:pPr marL="342900" indent="-342900">
              <a:lnSpc>
                <a:spcPct val="80000"/>
              </a:lnSpc>
              <a:buFont typeface="Arial"/>
              <a:buChar char="•"/>
            </a:pPr>
            <a:r>
              <a:rPr lang="fr-FR" dirty="0">
                <a:solidFill>
                  <a:schemeClr val="accent4"/>
                </a:solidFill>
              </a:rPr>
              <a:t>La notion d’interface fonctionnelle</a:t>
            </a:r>
          </a:p>
          <a:p>
            <a:pPr marL="342900" indent="-342900">
              <a:lnSpc>
                <a:spcPct val="80000"/>
              </a:lnSpc>
              <a:buFont typeface="Arial"/>
              <a:buChar char="•"/>
            </a:pPr>
            <a:r>
              <a:rPr lang="fr-FR" dirty="0"/>
              <a:t>Quelques exemples pratiques</a:t>
            </a:r>
          </a:p>
          <a:p>
            <a:pPr marL="342900" indent="-342900">
              <a:lnSpc>
                <a:spcPct val="80000"/>
              </a:lnSpc>
              <a:buFont typeface="Arial"/>
              <a:buChar char="•"/>
            </a:pPr>
            <a:r>
              <a:rPr lang="fr-FR" dirty="0"/>
              <a:t>Référence de Méthode</a:t>
            </a:r>
          </a:p>
          <a:p>
            <a:pPr marL="342900" indent="-342900">
              <a:lnSpc>
                <a:spcPct val="80000"/>
              </a:lnSpc>
              <a:buFont typeface="Arial"/>
              <a:buChar char="•"/>
            </a:pPr>
            <a:endParaRPr lang="fr-FR" dirty="0"/>
          </a:p>
          <a:p>
            <a:pPr marL="342900" indent="-342900">
              <a:lnSpc>
                <a:spcPct val="80000"/>
              </a:lnSpc>
              <a:buFont typeface="Arial"/>
              <a:buChar char="•"/>
            </a:pPr>
            <a:endParaRPr lang="fr-FR" dirty="0"/>
          </a:p>
          <a:p>
            <a:pPr marL="342900" indent="-342900">
              <a:lnSpc>
                <a:spcPct val="80000"/>
              </a:lnSpc>
              <a:buFont typeface="Arial"/>
              <a:buChar char="•"/>
            </a:pPr>
            <a:endParaRPr lang="fr-FR" dirty="0"/>
          </a:p>
          <a:p>
            <a:pPr marL="342900" indent="-342900">
              <a:lnSpc>
                <a:spcPct val="80000"/>
              </a:lnSpc>
              <a:buFont typeface="Arial"/>
              <a:buChar char="•"/>
            </a:pPr>
            <a:endParaRPr lang="fr-FR" dirty="0"/>
          </a:p>
        </p:txBody>
      </p:sp>
      <p:grpSp>
        <p:nvGrpSpPr>
          <p:cNvPr id="8" name="Groupe 7">
            <a:extLst>
              <a:ext uri="{FF2B5EF4-FFF2-40B4-BE49-F238E27FC236}">
                <a16:creationId xmlns:a16="http://schemas.microsoft.com/office/drawing/2014/main" id="{ACCA99A5-B332-B909-6733-15C39193A78F}"/>
              </a:ext>
            </a:extLst>
          </p:cNvPr>
          <p:cNvGrpSpPr/>
          <p:nvPr/>
        </p:nvGrpSpPr>
        <p:grpSpPr>
          <a:xfrm>
            <a:off x="10470995" y="162401"/>
            <a:ext cx="1404760" cy="1400033"/>
            <a:chOff x="10326324" y="687756"/>
            <a:chExt cx="1393314" cy="1393314"/>
          </a:xfrm>
        </p:grpSpPr>
        <p:sp>
          <p:nvSpPr>
            <p:cNvPr id="5" name="Larme 4">
              <a:extLst>
                <a:ext uri="{FF2B5EF4-FFF2-40B4-BE49-F238E27FC236}">
                  <a16:creationId xmlns:a16="http://schemas.microsoft.com/office/drawing/2014/main" id="{6D659AA5-DE48-3A94-0973-5630499C0B8F}"/>
                </a:ext>
              </a:extLst>
            </p:cNvPr>
            <p:cNvSpPr/>
            <p:nvPr/>
          </p:nvSpPr>
          <p:spPr>
            <a:xfrm rot="8100000">
              <a:off x="10326324" y="687756"/>
              <a:ext cx="1393314" cy="1393314"/>
            </a:xfrm>
            <a:prstGeom prst="teardrop">
              <a:avLst>
                <a:gd name="adj" fmla="val 13287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 name="ZoneTexte 6">
              <a:extLst>
                <a:ext uri="{FF2B5EF4-FFF2-40B4-BE49-F238E27FC236}">
                  <a16:creationId xmlns:a16="http://schemas.microsoft.com/office/drawing/2014/main" id="{4FF3D4ED-5448-D9C2-964C-3C9EFB6B14C0}"/>
                </a:ext>
              </a:extLst>
            </p:cNvPr>
            <p:cNvSpPr txBox="1"/>
            <p:nvPr/>
          </p:nvSpPr>
          <p:spPr>
            <a:xfrm>
              <a:off x="10372029" y="1092958"/>
              <a:ext cx="1301905" cy="702249"/>
            </a:xfrm>
            <a:prstGeom prst="rect">
              <a:avLst/>
            </a:prstGeom>
            <a:noFill/>
          </p:spPr>
          <p:txBody>
            <a:bodyPr wrap="square">
              <a:spAutoFit/>
            </a:bodyPr>
            <a:lstStyle/>
            <a:p>
              <a:pPr algn="ctr"/>
              <a:r>
                <a:rPr lang="fr-FR" sz="2000" b="1" dirty="0"/>
                <a:t>Vous êtes ici</a:t>
              </a:r>
            </a:p>
          </p:txBody>
        </p:sp>
      </p:grpSp>
      <p:sp>
        <p:nvSpPr>
          <p:cNvPr id="6" name="Espace réservé du numéro de diapositive 5">
            <a:extLst>
              <a:ext uri="{FF2B5EF4-FFF2-40B4-BE49-F238E27FC236}">
                <a16:creationId xmlns:a16="http://schemas.microsoft.com/office/drawing/2014/main" id="{43B1137F-F909-D41D-1E8B-DB846C66AC82}"/>
              </a:ext>
            </a:extLst>
          </p:cNvPr>
          <p:cNvSpPr>
            <a:spLocks noGrp="1"/>
          </p:cNvSpPr>
          <p:nvPr>
            <p:ph type="sldNum" sz="quarter" idx="4"/>
          </p:nvPr>
        </p:nvSpPr>
        <p:spPr/>
        <p:txBody>
          <a:bodyPr/>
          <a:lstStyle/>
          <a:p>
            <a:fld id="{33C783E2-4793-4F48-A271-51A73CC37D74}" type="slidenum">
              <a:rPr lang="fr-FR" smtClean="0"/>
              <a:t>72</a:t>
            </a:fld>
            <a:endParaRPr lang="fr-FR"/>
          </a:p>
        </p:txBody>
      </p:sp>
    </p:spTree>
    <p:extLst>
      <p:ext uri="{BB962C8B-B14F-4D97-AF65-F5344CB8AC3E}">
        <p14:creationId xmlns:p14="http://schemas.microsoft.com/office/powerpoint/2010/main" val="4264115673"/>
      </p:ext>
    </p:extLst>
  </p:cSld>
  <p:clrMapOvr>
    <a:masterClrMapping/>
  </p:clrMapOvr>
  <p:transition>
    <p:push dir="u"/>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Interface fonctionnelle</a:t>
            </a:r>
          </a:p>
        </p:txBody>
      </p:sp>
      <p:sp>
        <p:nvSpPr>
          <p:cNvPr id="9" name="Espace réservé du contenu 8"/>
          <p:cNvSpPr>
            <a:spLocks noGrp="1"/>
          </p:cNvSpPr>
          <p:nvPr>
            <p:ph idx="1"/>
          </p:nvPr>
        </p:nvSpPr>
        <p:spPr/>
        <p:txBody>
          <a:bodyPr>
            <a:normAutofit/>
          </a:bodyPr>
          <a:lstStyle/>
          <a:p>
            <a:pPr marL="0" indent="0">
              <a:buNone/>
            </a:pPr>
            <a:r>
              <a:rPr lang="fr-FR" dirty="0"/>
              <a:t>Nous avons rencontré l’interface </a:t>
            </a:r>
            <a:r>
              <a:rPr lang="fr-FR" sz="2600" dirty="0" err="1">
                <a:solidFill>
                  <a:schemeClr val="accent4"/>
                </a:solidFill>
                <a:latin typeface="Consolas" panose="020B0609020204030204" pitchFamily="49" charset="0"/>
                <a:cs typeface="Consolas" panose="020B0609020204030204" pitchFamily="49" charset="0"/>
              </a:rPr>
              <a:t>Predicate</a:t>
            </a:r>
            <a:r>
              <a:rPr lang="fr-FR" dirty="0">
                <a:solidFill>
                  <a:schemeClr val="accent4"/>
                </a:solidFill>
              </a:rPr>
              <a:t> </a:t>
            </a:r>
            <a:r>
              <a:rPr lang="fr-FR" dirty="0"/>
              <a:t>la semaine dernière, qui présentait la (seule) méthode </a:t>
            </a:r>
            <a:r>
              <a:rPr lang="fr-FR" sz="2600" dirty="0">
                <a:solidFill>
                  <a:schemeClr val="accent4"/>
                </a:solidFill>
                <a:latin typeface="Consolas" panose="020B0609020204030204" pitchFamily="49" charset="0"/>
                <a:cs typeface="Consolas" panose="020B0609020204030204" pitchFamily="49" charset="0"/>
              </a:rPr>
              <a:t>test</a:t>
            </a:r>
            <a:r>
              <a:rPr lang="fr-FR" dirty="0"/>
              <a:t>. </a:t>
            </a:r>
          </a:p>
          <a:p>
            <a:pPr marL="0" indent="0">
              <a:buNone/>
            </a:pPr>
            <a:r>
              <a:rPr lang="fr-FR" dirty="0"/>
              <a:t>Cette interface est une </a:t>
            </a:r>
            <a:r>
              <a:rPr lang="fr-FR" dirty="0">
                <a:solidFill>
                  <a:schemeClr val="accent4"/>
                </a:solidFill>
              </a:rPr>
              <a:t>interface fonctionnelle</a:t>
            </a:r>
            <a:r>
              <a:rPr lang="fr-FR" dirty="0"/>
              <a:t>, parce qu’elle ne présente qu’</a:t>
            </a:r>
            <a:r>
              <a:rPr lang="fr-FR" dirty="0">
                <a:solidFill>
                  <a:schemeClr val="accent4"/>
                </a:solidFill>
              </a:rPr>
              <a:t>une seule méthode</a:t>
            </a:r>
            <a:r>
              <a:rPr lang="fr-FR" dirty="0"/>
              <a:t> qui soit à la fois</a:t>
            </a:r>
          </a:p>
          <a:p>
            <a:pPr>
              <a:buFontTx/>
              <a:buChar char="-"/>
            </a:pPr>
            <a:r>
              <a:rPr lang="fr-FR" dirty="0">
                <a:solidFill>
                  <a:schemeClr val="accent4"/>
                </a:solidFill>
              </a:rPr>
              <a:t>Abstraite</a:t>
            </a:r>
          </a:p>
          <a:p>
            <a:pPr>
              <a:buFontTx/>
              <a:buChar char="-"/>
            </a:pPr>
            <a:r>
              <a:rPr lang="fr-FR" dirty="0">
                <a:solidFill>
                  <a:schemeClr val="accent4"/>
                </a:solidFill>
              </a:rPr>
              <a:t>Publique</a:t>
            </a:r>
          </a:p>
          <a:p>
            <a:pPr>
              <a:buFontTx/>
              <a:buChar char="-"/>
            </a:pPr>
            <a:r>
              <a:rPr lang="fr-FR" dirty="0">
                <a:solidFill>
                  <a:schemeClr val="accent4"/>
                </a:solidFill>
              </a:rPr>
              <a:t>Non présente </a:t>
            </a:r>
            <a:r>
              <a:rPr lang="fr-FR" dirty="0"/>
              <a:t>dans </a:t>
            </a:r>
            <a:r>
              <a:rPr lang="fr-FR" sz="2600" dirty="0">
                <a:solidFill>
                  <a:schemeClr val="accent4"/>
                </a:solidFill>
                <a:latin typeface="Consolas" panose="020B0609020204030204" pitchFamily="49" charset="0"/>
                <a:cs typeface="Consolas" panose="020B0609020204030204" pitchFamily="49" charset="0"/>
              </a:rPr>
              <a:t>Object</a:t>
            </a:r>
          </a:p>
          <a:p>
            <a:pPr marL="0" indent="0">
              <a:buNone/>
            </a:pPr>
            <a:endParaRPr lang="fr-FR" dirty="0"/>
          </a:p>
          <a:p>
            <a:pPr marL="0" indent="0">
              <a:buNone/>
            </a:pPr>
            <a:endParaRPr lang="fr-FR" dirty="0"/>
          </a:p>
        </p:txBody>
      </p:sp>
      <p:sp>
        <p:nvSpPr>
          <p:cNvPr id="5" name="ZoneTexte 4">
            <a:extLst>
              <a:ext uri="{FF2B5EF4-FFF2-40B4-BE49-F238E27FC236}">
                <a16:creationId xmlns:a16="http://schemas.microsoft.com/office/drawing/2014/main" id="{B703BD31-03EE-7FED-F390-F61FF178FC22}"/>
              </a:ext>
            </a:extLst>
          </p:cNvPr>
          <p:cNvSpPr txBox="1"/>
          <p:nvPr/>
        </p:nvSpPr>
        <p:spPr>
          <a:xfrm>
            <a:off x="5338083" y="4192705"/>
            <a:ext cx="6157290" cy="1464231"/>
          </a:xfrm>
          <a:prstGeom prst="roundRect">
            <a:avLst/>
          </a:prstGeom>
          <a:solidFill>
            <a:schemeClr val="accent6"/>
          </a:solidFill>
        </p:spPr>
        <p:txBody>
          <a:bodyPr wrap="square">
            <a:spAutoFit/>
          </a:bodyPr>
          <a:lstStyle/>
          <a:p>
            <a:pPr marL="0" indent="0">
              <a:buNone/>
            </a:pPr>
            <a:r>
              <a:rPr lang="fr-FR" sz="2000" dirty="0"/>
              <a:t>Si vous utilisez l'annotation </a:t>
            </a:r>
            <a:r>
              <a:rPr lang="fr-FR" sz="2000" dirty="0">
                <a:solidFill>
                  <a:schemeClr val="accent4"/>
                </a:solidFill>
                <a:latin typeface="Consolas" panose="020B0609020204030204" pitchFamily="49" charset="0"/>
                <a:cs typeface="Consolas" panose="020B0609020204030204" pitchFamily="49" charset="0"/>
              </a:rPr>
              <a:t>@</a:t>
            </a:r>
            <a:r>
              <a:rPr lang="fr-FR" sz="2000" dirty="0" err="1">
                <a:solidFill>
                  <a:schemeClr val="accent4"/>
                </a:solidFill>
                <a:latin typeface="Consolas" panose="020B0609020204030204" pitchFamily="49" charset="0"/>
                <a:cs typeface="Consolas" panose="020B0609020204030204" pitchFamily="49" charset="0"/>
              </a:rPr>
              <a:t>FunctionalInterface</a:t>
            </a:r>
            <a:r>
              <a:rPr lang="fr-FR" sz="2000" dirty="0"/>
              <a:t> avant la déclaration d’une interface, le compilateur vérifiera qu'elle contient bien une seule méthode abstraite (et génèrera une erreur dans le cas contraire).</a:t>
            </a:r>
          </a:p>
        </p:txBody>
      </p:sp>
      <p:sp>
        <p:nvSpPr>
          <p:cNvPr id="7" name="Espace réservé du numéro de diapositive 6">
            <a:extLst>
              <a:ext uri="{FF2B5EF4-FFF2-40B4-BE49-F238E27FC236}">
                <a16:creationId xmlns:a16="http://schemas.microsoft.com/office/drawing/2014/main" id="{50DF8550-BA21-05D1-C6E9-6A5FFF1B4B54}"/>
              </a:ext>
            </a:extLst>
          </p:cNvPr>
          <p:cNvSpPr>
            <a:spLocks noGrp="1"/>
          </p:cNvSpPr>
          <p:nvPr>
            <p:ph type="sldNum" sz="quarter" idx="4"/>
          </p:nvPr>
        </p:nvSpPr>
        <p:spPr/>
        <p:txBody>
          <a:bodyPr/>
          <a:lstStyle/>
          <a:p>
            <a:fld id="{33C783E2-4793-4F48-A271-51A73CC37D74}" type="slidenum">
              <a:rPr lang="fr-FR" smtClean="0"/>
              <a:t>73</a:t>
            </a:fld>
            <a:endParaRPr lang="fr-FR"/>
          </a:p>
        </p:txBody>
      </p:sp>
    </p:spTree>
    <p:extLst>
      <p:ext uri="{BB962C8B-B14F-4D97-AF65-F5344CB8AC3E}">
        <p14:creationId xmlns:p14="http://schemas.microsoft.com/office/powerpoint/2010/main" val="3776857207"/>
      </p:ext>
    </p:extLst>
  </p:cSld>
  <p:clrMapOvr>
    <a:masterClrMapping/>
  </p:clrMapOvr>
  <p:transition>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Exemple et contre-exemple</a:t>
            </a:r>
          </a:p>
        </p:txBody>
      </p:sp>
      <p:sp>
        <p:nvSpPr>
          <p:cNvPr id="3" name="Espace réservé du contenu 2"/>
          <p:cNvSpPr>
            <a:spLocks noGrp="1"/>
          </p:cNvSpPr>
          <p:nvPr>
            <p:ph sz="half" idx="1"/>
          </p:nvPr>
        </p:nvSpPr>
        <p:spPr>
          <a:xfrm>
            <a:off x="838200" y="4986956"/>
            <a:ext cx="5181600" cy="1446467"/>
          </a:xfrm>
        </p:spPr>
        <p:txBody>
          <a:bodyPr>
            <a:normAutofit/>
          </a:bodyPr>
          <a:lstStyle/>
          <a:p>
            <a:pPr marL="0" indent="0">
              <a:buNone/>
            </a:pPr>
            <a:r>
              <a:rPr lang="fr-FR" sz="2600" u="sng" dirty="0"/>
              <a:t>Exemple d'interface fonctionnelle</a:t>
            </a:r>
          </a:p>
          <a:p>
            <a:pPr marL="0" indent="0">
              <a:buNone/>
            </a:pPr>
            <a:r>
              <a:rPr lang="fr-FR" sz="2600" dirty="0"/>
              <a:t>// </a:t>
            </a:r>
            <a:r>
              <a:rPr lang="fr-FR" sz="2600" i="1" dirty="0"/>
              <a:t>Note: </a:t>
            </a:r>
            <a:r>
              <a:rPr lang="fr-FR" sz="2600" i="1" dirty="0" err="1"/>
              <a:t>equals</a:t>
            </a:r>
            <a:r>
              <a:rPr lang="fr-FR" sz="2600" i="1" dirty="0"/>
              <a:t>() appartient à la classe </a:t>
            </a:r>
            <a:r>
              <a:rPr lang="fr-FR" sz="2600" i="1" dirty="0" err="1"/>
              <a:t>java.lang.Object</a:t>
            </a:r>
            <a:r>
              <a:rPr lang="fr-FR" sz="2600" i="1" dirty="0"/>
              <a:t> et est publique</a:t>
            </a:r>
            <a:endParaRPr lang="fr-FR" sz="2600" dirty="0">
              <a:solidFill>
                <a:srgbClr val="C00000"/>
              </a:solidFill>
              <a:latin typeface="Consolas"/>
              <a:cs typeface="Consolas"/>
            </a:endParaRPr>
          </a:p>
        </p:txBody>
      </p:sp>
      <p:sp>
        <p:nvSpPr>
          <p:cNvPr id="13" name="Espace réservé du contenu 12">
            <a:extLst>
              <a:ext uri="{FF2B5EF4-FFF2-40B4-BE49-F238E27FC236}">
                <a16:creationId xmlns:a16="http://schemas.microsoft.com/office/drawing/2014/main" id="{E5B22CC8-0223-BCEC-4605-395B5BD4671B}"/>
              </a:ext>
            </a:extLst>
          </p:cNvPr>
          <p:cNvSpPr>
            <a:spLocks noGrp="1"/>
          </p:cNvSpPr>
          <p:nvPr>
            <p:ph sz="half" idx="2"/>
          </p:nvPr>
        </p:nvSpPr>
        <p:spPr>
          <a:xfrm>
            <a:off x="6172200" y="4986956"/>
            <a:ext cx="5181600" cy="1446467"/>
          </a:xfrm>
        </p:spPr>
        <p:txBody>
          <a:bodyPr>
            <a:normAutofit/>
          </a:bodyPr>
          <a:lstStyle/>
          <a:p>
            <a:pPr marL="0" indent="0">
              <a:buNone/>
            </a:pPr>
            <a:r>
              <a:rPr lang="fr-FR" sz="2600" u="sng" dirty="0"/>
              <a:t>Pas une interface fonctionnelle</a:t>
            </a:r>
          </a:p>
          <a:p>
            <a:pPr marL="0" indent="0">
              <a:buNone/>
            </a:pPr>
            <a:r>
              <a:rPr lang="fr-FR" sz="2600" i="1" dirty="0"/>
              <a:t>// Note: clone() appartient à la classe Object, mais n’est pas publique</a:t>
            </a:r>
          </a:p>
          <a:p>
            <a:pPr marL="0" indent="0">
              <a:buNone/>
            </a:pPr>
            <a:endParaRPr lang="fr-FR" sz="2600" dirty="0"/>
          </a:p>
        </p:txBody>
      </p:sp>
      <p:sp>
        <p:nvSpPr>
          <p:cNvPr id="5" name="ZoneTexte 4">
            <a:extLst>
              <a:ext uri="{FF2B5EF4-FFF2-40B4-BE49-F238E27FC236}">
                <a16:creationId xmlns:a16="http://schemas.microsoft.com/office/drawing/2014/main" id="{3E14C272-4A10-7944-B27D-30D5F0CA26EA}"/>
              </a:ext>
            </a:extLst>
          </p:cNvPr>
          <p:cNvSpPr txBox="1"/>
          <p:nvPr/>
        </p:nvSpPr>
        <p:spPr>
          <a:xfrm>
            <a:off x="932815" y="1777890"/>
            <a:ext cx="4622800" cy="2246769"/>
          </a:xfrm>
          <a:prstGeom prst="rect">
            <a:avLst/>
          </a:prstGeom>
          <a:solidFill>
            <a:srgbClr val="2B2B2B"/>
          </a:solidFill>
        </p:spPr>
        <p:txBody>
          <a:bodyPr wrap="square">
            <a:spAutoFit/>
          </a:bodyPr>
          <a:lstStyle/>
          <a:p>
            <a:r>
              <a:rPr lang="fr-BE" sz="2000" dirty="0">
                <a:solidFill>
                  <a:srgbClr val="B3AE60"/>
                </a:solidFill>
                <a:effectLst/>
                <a:latin typeface="Consolas" panose="020B0609020204030204" pitchFamily="49" charset="0"/>
                <a:cs typeface="Consolas" panose="020B0609020204030204" pitchFamily="49" charset="0"/>
              </a:rPr>
              <a:t>@</a:t>
            </a:r>
            <a:r>
              <a:rPr lang="fr-BE" sz="2000" dirty="0" err="1">
                <a:solidFill>
                  <a:srgbClr val="B3AE60"/>
                </a:solidFill>
                <a:effectLst/>
                <a:latin typeface="Consolas" panose="020B0609020204030204" pitchFamily="49" charset="0"/>
                <a:cs typeface="Consolas" panose="020B0609020204030204" pitchFamily="49" charset="0"/>
              </a:rPr>
              <a:t>FunctionalInterface</a:t>
            </a:r>
            <a:br>
              <a:rPr lang="fr-BE" sz="2000" dirty="0">
                <a:solidFill>
                  <a:srgbClr val="B3AE60"/>
                </a:solidFill>
                <a:effectLst/>
                <a:latin typeface="Consolas" panose="020B0609020204030204" pitchFamily="49" charset="0"/>
                <a:cs typeface="Consolas" panose="020B0609020204030204" pitchFamily="49" charset="0"/>
              </a:rPr>
            </a:br>
            <a:r>
              <a:rPr lang="fr-BE" sz="2000" dirty="0">
                <a:solidFill>
                  <a:srgbClr val="CF8E6D"/>
                </a:solidFill>
                <a:effectLst/>
                <a:latin typeface="Consolas" panose="020B0609020204030204" pitchFamily="49" charset="0"/>
                <a:cs typeface="Consolas" panose="020B0609020204030204" pitchFamily="49" charset="0"/>
              </a:rPr>
              <a:t>public interface </a:t>
            </a:r>
            <a:r>
              <a:rPr lang="fr-BE" sz="2000" dirty="0" err="1">
                <a:solidFill>
                  <a:srgbClr val="BCBEC4"/>
                </a:solidFill>
                <a:effectLst/>
                <a:latin typeface="Consolas" panose="020B0609020204030204" pitchFamily="49" charset="0"/>
                <a:cs typeface="Consolas" panose="020B0609020204030204" pitchFamily="49" charset="0"/>
              </a:rPr>
              <a:t>Comparator</a:t>
            </a:r>
            <a:r>
              <a:rPr lang="fr-BE" sz="2000" dirty="0">
                <a:solidFill>
                  <a:srgbClr val="BCBEC4"/>
                </a:solidFill>
                <a:effectLst/>
                <a:latin typeface="Consolas" panose="020B0609020204030204" pitchFamily="49" charset="0"/>
                <a:cs typeface="Consolas" panose="020B0609020204030204" pitchFamily="49" charset="0"/>
              </a:rPr>
              <a:t>&lt;</a:t>
            </a:r>
            <a:r>
              <a:rPr lang="fr-BE" sz="2000" dirty="0" err="1">
                <a:solidFill>
                  <a:srgbClr val="16BAAC"/>
                </a:solidFill>
                <a:effectLst/>
                <a:latin typeface="Consolas" panose="020B0609020204030204" pitchFamily="49" charset="0"/>
                <a:cs typeface="Consolas" panose="020B0609020204030204" pitchFamily="49" charset="0"/>
              </a:rPr>
              <a:t>T</a:t>
            </a:r>
            <a:r>
              <a:rPr lang="fr-BE" sz="2000" dirty="0">
                <a:solidFill>
                  <a:srgbClr val="BCBEC4"/>
                </a:solidFill>
                <a:effectLst/>
                <a:latin typeface="Consolas" panose="020B0609020204030204" pitchFamily="49" charset="0"/>
                <a:cs typeface="Consolas" panose="020B0609020204030204" pitchFamily="49" charset="0"/>
              </a:rPr>
              <a:t>&gt; {</a:t>
            </a:r>
            <a:br>
              <a:rPr lang="fr-BE" sz="2000" dirty="0">
                <a:solidFill>
                  <a:srgbClr val="BCBEC4"/>
                </a:solidFill>
                <a:effectLst/>
                <a:latin typeface="Consolas" panose="020B0609020204030204" pitchFamily="49" charset="0"/>
                <a:cs typeface="Consolas" panose="020B0609020204030204" pitchFamily="49" charset="0"/>
              </a:rPr>
            </a:br>
            <a:r>
              <a:rPr lang="fr-BE" sz="2000" dirty="0">
                <a:solidFill>
                  <a:srgbClr val="BCBEC4"/>
                </a:solidFill>
                <a:effectLst/>
                <a:latin typeface="Consolas" panose="020B0609020204030204" pitchFamily="49" charset="0"/>
                <a:cs typeface="Consolas" panose="020B0609020204030204" pitchFamily="49" charset="0"/>
              </a:rPr>
              <a:t>    </a:t>
            </a:r>
            <a:r>
              <a:rPr lang="fr-BE" sz="2000" dirty="0" err="1">
                <a:solidFill>
                  <a:srgbClr val="CF8E6D"/>
                </a:solidFill>
                <a:effectLst/>
                <a:latin typeface="Consolas" panose="020B0609020204030204" pitchFamily="49" charset="0"/>
                <a:cs typeface="Consolas" panose="020B0609020204030204" pitchFamily="49" charset="0"/>
              </a:rPr>
              <a:t>boolean</a:t>
            </a:r>
            <a:r>
              <a:rPr lang="fr-BE" sz="2000" dirty="0">
                <a:solidFill>
                  <a:srgbClr val="CF8E6D"/>
                </a:solidFill>
                <a:effectLst/>
                <a:latin typeface="Consolas" panose="020B0609020204030204" pitchFamily="49" charset="0"/>
                <a:cs typeface="Consolas" panose="020B0609020204030204" pitchFamily="49" charset="0"/>
              </a:rPr>
              <a:t> </a:t>
            </a:r>
            <a:r>
              <a:rPr lang="fr-BE" sz="2000" dirty="0" err="1">
                <a:solidFill>
                  <a:srgbClr val="56A8F5"/>
                </a:solidFill>
                <a:effectLst/>
                <a:latin typeface="Consolas" panose="020B0609020204030204" pitchFamily="49" charset="0"/>
                <a:cs typeface="Consolas" panose="020B0609020204030204" pitchFamily="49" charset="0"/>
              </a:rPr>
              <a:t>equals</a:t>
            </a:r>
            <a:r>
              <a:rPr lang="fr-BE" sz="2000" dirty="0">
                <a:solidFill>
                  <a:srgbClr val="BCBEC4"/>
                </a:solidFill>
                <a:effectLst/>
                <a:latin typeface="Consolas" panose="020B0609020204030204" pitchFamily="49" charset="0"/>
                <a:cs typeface="Consolas" panose="020B0609020204030204" pitchFamily="49" charset="0"/>
              </a:rPr>
              <a:t>(Object </a:t>
            </a:r>
            <a:r>
              <a:rPr lang="fr-BE" sz="2000" dirty="0" err="1">
                <a:solidFill>
                  <a:srgbClr val="BCBEC4"/>
                </a:solidFill>
                <a:effectLst/>
                <a:latin typeface="Consolas" panose="020B0609020204030204" pitchFamily="49" charset="0"/>
                <a:cs typeface="Consolas" panose="020B0609020204030204" pitchFamily="49" charset="0"/>
              </a:rPr>
              <a:t>obj</a:t>
            </a:r>
            <a:r>
              <a:rPr lang="fr-BE" sz="2000" dirty="0">
                <a:solidFill>
                  <a:srgbClr val="BCBEC4"/>
                </a:solidFill>
                <a:effectLst/>
                <a:latin typeface="Consolas" panose="020B0609020204030204" pitchFamily="49" charset="0"/>
                <a:cs typeface="Consolas" panose="020B0609020204030204" pitchFamily="49" charset="0"/>
              </a:rPr>
              <a:t>);</a:t>
            </a:r>
            <a:br>
              <a:rPr lang="fr-BE" sz="2000" dirty="0">
                <a:solidFill>
                  <a:srgbClr val="BCBEC4"/>
                </a:solidFill>
                <a:effectLst/>
                <a:latin typeface="Consolas" panose="020B0609020204030204" pitchFamily="49" charset="0"/>
                <a:cs typeface="Consolas" panose="020B0609020204030204" pitchFamily="49" charset="0"/>
              </a:rPr>
            </a:br>
            <a:br>
              <a:rPr lang="fr-BE" sz="2000" dirty="0">
                <a:solidFill>
                  <a:srgbClr val="BCBEC4"/>
                </a:solidFill>
                <a:effectLst/>
                <a:latin typeface="Consolas" panose="020B0609020204030204" pitchFamily="49" charset="0"/>
                <a:cs typeface="Consolas" panose="020B0609020204030204" pitchFamily="49" charset="0"/>
              </a:rPr>
            </a:br>
            <a:r>
              <a:rPr lang="fr-BE" sz="2000" dirty="0">
                <a:solidFill>
                  <a:srgbClr val="BCBEC4"/>
                </a:solidFill>
                <a:effectLst/>
                <a:latin typeface="Consolas" panose="020B0609020204030204" pitchFamily="49" charset="0"/>
                <a:cs typeface="Consolas" panose="020B0609020204030204" pitchFamily="49" charset="0"/>
              </a:rPr>
              <a:t>    </a:t>
            </a:r>
            <a:r>
              <a:rPr lang="fr-BE" sz="2000" dirty="0" err="1">
                <a:solidFill>
                  <a:srgbClr val="CF8E6D"/>
                </a:solidFill>
                <a:effectLst/>
                <a:latin typeface="Consolas" panose="020B0609020204030204" pitchFamily="49" charset="0"/>
                <a:cs typeface="Consolas" panose="020B0609020204030204" pitchFamily="49" charset="0"/>
              </a:rPr>
              <a:t>int</a:t>
            </a:r>
            <a:r>
              <a:rPr lang="fr-BE" sz="2000" dirty="0">
                <a:solidFill>
                  <a:srgbClr val="CF8E6D"/>
                </a:solidFill>
                <a:effectLst/>
                <a:latin typeface="Consolas" panose="020B0609020204030204" pitchFamily="49" charset="0"/>
                <a:cs typeface="Consolas" panose="020B0609020204030204" pitchFamily="49" charset="0"/>
              </a:rPr>
              <a:t> </a:t>
            </a:r>
            <a:r>
              <a:rPr lang="fr-BE" sz="2000" dirty="0">
                <a:solidFill>
                  <a:srgbClr val="56A8F5"/>
                </a:solidFill>
                <a:effectLst/>
                <a:latin typeface="Consolas" panose="020B0609020204030204" pitchFamily="49" charset="0"/>
                <a:cs typeface="Consolas" panose="020B0609020204030204" pitchFamily="49" charset="0"/>
              </a:rPr>
              <a:t>compare</a:t>
            </a:r>
            <a:r>
              <a:rPr lang="fr-BE" sz="2000" dirty="0">
                <a:solidFill>
                  <a:srgbClr val="BCBEC4"/>
                </a:solidFill>
                <a:effectLst/>
                <a:latin typeface="Consolas" panose="020B0609020204030204" pitchFamily="49" charset="0"/>
                <a:cs typeface="Consolas" panose="020B0609020204030204" pitchFamily="49" charset="0"/>
              </a:rPr>
              <a:t>(</a:t>
            </a:r>
            <a:r>
              <a:rPr lang="fr-BE" sz="2000" dirty="0" err="1">
                <a:solidFill>
                  <a:srgbClr val="16BAAC"/>
                </a:solidFill>
                <a:effectLst/>
                <a:latin typeface="Consolas" panose="020B0609020204030204" pitchFamily="49" charset="0"/>
                <a:cs typeface="Consolas" panose="020B0609020204030204" pitchFamily="49" charset="0"/>
              </a:rPr>
              <a:t>T</a:t>
            </a:r>
            <a:r>
              <a:rPr lang="fr-BE" sz="2000" dirty="0">
                <a:solidFill>
                  <a:srgbClr val="16BAAC"/>
                </a:solidFill>
                <a:effectLst/>
                <a:latin typeface="Consolas" panose="020B0609020204030204" pitchFamily="49" charset="0"/>
                <a:cs typeface="Consolas" panose="020B0609020204030204" pitchFamily="49" charset="0"/>
              </a:rPr>
              <a:t> </a:t>
            </a:r>
            <a:r>
              <a:rPr lang="fr-BE" sz="2000" dirty="0">
                <a:solidFill>
                  <a:srgbClr val="BCBEC4"/>
                </a:solidFill>
                <a:effectLst/>
                <a:latin typeface="Consolas" panose="020B0609020204030204" pitchFamily="49" charset="0"/>
                <a:cs typeface="Consolas" panose="020B0609020204030204" pitchFamily="49" charset="0"/>
              </a:rPr>
              <a:t>o1, </a:t>
            </a:r>
            <a:r>
              <a:rPr lang="fr-BE" sz="2000" dirty="0" err="1">
                <a:solidFill>
                  <a:srgbClr val="16BAAC"/>
                </a:solidFill>
                <a:effectLst/>
                <a:latin typeface="Consolas" panose="020B0609020204030204" pitchFamily="49" charset="0"/>
                <a:cs typeface="Consolas" panose="020B0609020204030204" pitchFamily="49" charset="0"/>
              </a:rPr>
              <a:t>T</a:t>
            </a:r>
            <a:r>
              <a:rPr lang="fr-BE" sz="2000" dirty="0">
                <a:solidFill>
                  <a:srgbClr val="16BAAC"/>
                </a:solidFill>
                <a:effectLst/>
                <a:latin typeface="Consolas" panose="020B0609020204030204" pitchFamily="49" charset="0"/>
                <a:cs typeface="Consolas" panose="020B0609020204030204" pitchFamily="49" charset="0"/>
              </a:rPr>
              <a:t> </a:t>
            </a:r>
            <a:r>
              <a:rPr lang="fr-BE" sz="2000" dirty="0">
                <a:solidFill>
                  <a:srgbClr val="BCBEC4"/>
                </a:solidFill>
                <a:effectLst/>
                <a:latin typeface="Consolas" panose="020B0609020204030204" pitchFamily="49" charset="0"/>
                <a:cs typeface="Consolas" panose="020B0609020204030204" pitchFamily="49" charset="0"/>
              </a:rPr>
              <a:t>o2);</a:t>
            </a:r>
            <a:br>
              <a:rPr lang="fr-BE" sz="2000" dirty="0">
                <a:solidFill>
                  <a:srgbClr val="BCBEC4"/>
                </a:solidFill>
                <a:effectLst/>
                <a:latin typeface="Consolas" panose="020B0609020204030204" pitchFamily="49" charset="0"/>
                <a:cs typeface="Consolas" panose="020B0609020204030204" pitchFamily="49" charset="0"/>
              </a:rPr>
            </a:br>
            <a:r>
              <a:rPr lang="fr-BE" sz="2000" dirty="0">
                <a:solidFill>
                  <a:srgbClr val="BCBEC4"/>
                </a:solidFill>
                <a:effectLst/>
                <a:latin typeface="Consolas" panose="020B0609020204030204" pitchFamily="49" charset="0"/>
                <a:cs typeface="Consolas" panose="020B0609020204030204" pitchFamily="49" charset="0"/>
              </a:rPr>
              <a:t>}</a:t>
            </a:r>
          </a:p>
        </p:txBody>
      </p:sp>
      <p:sp>
        <p:nvSpPr>
          <p:cNvPr id="14" name="ZoneTexte 13">
            <a:extLst>
              <a:ext uri="{FF2B5EF4-FFF2-40B4-BE49-F238E27FC236}">
                <a16:creationId xmlns:a16="http://schemas.microsoft.com/office/drawing/2014/main" id="{8CE00D39-EB5A-064C-5990-6640B3AC0CC3}"/>
              </a:ext>
            </a:extLst>
          </p:cNvPr>
          <p:cNvSpPr txBox="1"/>
          <p:nvPr/>
        </p:nvSpPr>
        <p:spPr>
          <a:xfrm>
            <a:off x="6451600" y="1777890"/>
            <a:ext cx="4622800" cy="1938992"/>
          </a:xfrm>
          <a:prstGeom prst="rect">
            <a:avLst/>
          </a:prstGeom>
          <a:solidFill>
            <a:srgbClr val="2B2B2B"/>
          </a:solidFill>
        </p:spPr>
        <p:txBody>
          <a:bodyPr wrap="square">
            <a:spAutoFit/>
          </a:bodyPr>
          <a:lstStyle/>
          <a:p>
            <a:r>
              <a:rPr lang="fr-BE" sz="2000" dirty="0">
                <a:solidFill>
                  <a:srgbClr val="FF0000"/>
                </a:solidFill>
                <a:effectLst/>
                <a:latin typeface="Consolas" panose="020B0609020204030204" pitchFamily="49" charset="0"/>
                <a:cs typeface="Consolas" panose="020B0609020204030204" pitchFamily="49" charset="0"/>
              </a:rPr>
              <a:t>@</a:t>
            </a:r>
            <a:r>
              <a:rPr lang="fr-BE" sz="2000" dirty="0" err="1">
                <a:solidFill>
                  <a:srgbClr val="FF0000"/>
                </a:solidFill>
                <a:effectLst/>
                <a:latin typeface="Consolas" panose="020B0609020204030204" pitchFamily="49" charset="0"/>
                <a:cs typeface="Consolas" panose="020B0609020204030204" pitchFamily="49" charset="0"/>
              </a:rPr>
              <a:t>FunctionalInterface</a:t>
            </a:r>
            <a:br>
              <a:rPr lang="fr-BE" sz="2000" dirty="0">
                <a:solidFill>
                  <a:srgbClr val="B3AE60"/>
                </a:solidFill>
                <a:effectLst/>
                <a:latin typeface="Consolas" panose="020B0609020204030204" pitchFamily="49" charset="0"/>
                <a:cs typeface="Consolas" panose="020B0609020204030204" pitchFamily="49" charset="0"/>
              </a:rPr>
            </a:br>
            <a:r>
              <a:rPr lang="fr-BE" sz="2000" dirty="0">
                <a:solidFill>
                  <a:srgbClr val="CF8E6D"/>
                </a:solidFill>
                <a:effectLst/>
                <a:latin typeface="Consolas" panose="020B0609020204030204" pitchFamily="49" charset="0"/>
                <a:cs typeface="Consolas" panose="020B0609020204030204" pitchFamily="49" charset="0"/>
              </a:rPr>
              <a:t>public interface </a:t>
            </a:r>
            <a:r>
              <a:rPr lang="fr-BE" sz="2000" dirty="0">
                <a:solidFill>
                  <a:srgbClr val="BCBEC4"/>
                </a:solidFill>
                <a:effectLst/>
                <a:latin typeface="Consolas" panose="020B0609020204030204" pitchFamily="49" charset="0"/>
                <a:cs typeface="Consolas" panose="020B0609020204030204" pitchFamily="49" charset="0"/>
              </a:rPr>
              <a:t>Foo {</a:t>
            </a:r>
            <a:br>
              <a:rPr lang="fr-BE" sz="2000" dirty="0">
                <a:solidFill>
                  <a:srgbClr val="BCBEC4"/>
                </a:solidFill>
                <a:effectLst/>
                <a:latin typeface="Consolas" panose="020B0609020204030204" pitchFamily="49" charset="0"/>
                <a:cs typeface="Consolas" panose="020B0609020204030204" pitchFamily="49" charset="0"/>
              </a:rPr>
            </a:br>
            <a:r>
              <a:rPr lang="fr-BE" sz="2000" dirty="0">
                <a:solidFill>
                  <a:srgbClr val="BCBEC4"/>
                </a:solidFill>
                <a:effectLst/>
                <a:latin typeface="Consolas" panose="020B0609020204030204" pitchFamily="49" charset="0"/>
                <a:cs typeface="Consolas" panose="020B0609020204030204" pitchFamily="49" charset="0"/>
              </a:rPr>
              <a:t>    </a:t>
            </a:r>
            <a:r>
              <a:rPr lang="fr-BE" sz="2000" dirty="0" err="1">
                <a:solidFill>
                  <a:srgbClr val="CF8E6D"/>
                </a:solidFill>
                <a:effectLst/>
                <a:latin typeface="Consolas" panose="020B0609020204030204" pitchFamily="49" charset="0"/>
                <a:cs typeface="Consolas" panose="020B0609020204030204" pitchFamily="49" charset="0"/>
              </a:rPr>
              <a:t>int</a:t>
            </a:r>
            <a:r>
              <a:rPr lang="fr-BE" sz="2000" dirty="0">
                <a:solidFill>
                  <a:srgbClr val="CF8E6D"/>
                </a:solidFill>
                <a:effectLst/>
                <a:latin typeface="Consolas" panose="020B0609020204030204" pitchFamily="49" charset="0"/>
                <a:cs typeface="Consolas" panose="020B0609020204030204" pitchFamily="49" charset="0"/>
              </a:rPr>
              <a:t> </a:t>
            </a:r>
            <a:r>
              <a:rPr lang="fr-BE" sz="2000" dirty="0" err="1">
                <a:solidFill>
                  <a:srgbClr val="56A8F5"/>
                </a:solidFill>
                <a:effectLst/>
                <a:latin typeface="Consolas" panose="020B0609020204030204" pitchFamily="49" charset="0"/>
                <a:cs typeface="Consolas" panose="020B0609020204030204" pitchFamily="49" charset="0"/>
              </a:rPr>
              <a:t>doSomething</a:t>
            </a:r>
            <a:r>
              <a:rPr lang="fr-BE" sz="2000" dirty="0">
                <a:solidFill>
                  <a:srgbClr val="BCBEC4"/>
                </a:solidFill>
                <a:effectLst/>
                <a:latin typeface="Consolas" panose="020B0609020204030204" pitchFamily="49" charset="0"/>
                <a:cs typeface="Consolas" panose="020B0609020204030204" pitchFamily="49" charset="0"/>
              </a:rPr>
              <a:t>();</a:t>
            </a:r>
            <a:br>
              <a:rPr lang="fr-BE" sz="2000" dirty="0">
                <a:solidFill>
                  <a:srgbClr val="BCBEC4"/>
                </a:solidFill>
                <a:effectLst/>
                <a:latin typeface="Consolas" panose="020B0609020204030204" pitchFamily="49" charset="0"/>
                <a:cs typeface="Consolas" panose="020B0609020204030204" pitchFamily="49" charset="0"/>
              </a:rPr>
            </a:br>
            <a:br>
              <a:rPr lang="fr-BE" sz="2000" dirty="0">
                <a:solidFill>
                  <a:srgbClr val="BCBEC4"/>
                </a:solidFill>
                <a:effectLst/>
                <a:latin typeface="Consolas" panose="020B0609020204030204" pitchFamily="49" charset="0"/>
                <a:cs typeface="Consolas" panose="020B0609020204030204" pitchFamily="49" charset="0"/>
              </a:rPr>
            </a:br>
            <a:r>
              <a:rPr lang="fr-BE" sz="2000" dirty="0">
                <a:solidFill>
                  <a:srgbClr val="BCBEC4"/>
                </a:solidFill>
                <a:effectLst/>
                <a:latin typeface="Consolas" panose="020B0609020204030204" pitchFamily="49" charset="0"/>
                <a:cs typeface="Consolas" panose="020B0609020204030204" pitchFamily="49" charset="0"/>
              </a:rPr>
              <a:t>    Object </a:t>
            </a:r>
            <a:r>
              <a:rPr lang="fr-BE" sz="2000" dirty="0">
                <a:solidFill>
                  <a:srgbClr val="56A8F5"/>
                </a:solidFill>
                <a:effectLst/>
                <a:latin typeface="Consolas" panose="020B0609020204030204" pitchFamily="49" charset="0"/>
                <a:cs typeface="Consolas" panose="020B0609020204030204" pitchFamily="49" charset="0"/>
              </a:rPr>
              <a:t>clone</a:t>
            </a:r>
            <a:r>
              <a:rPr lang="fr-BE" sz="2000" dirty="0">
                <a:solidFill>
                  <a:srgbClr val="BCBEC4"/>
                </a:solidFill>
                <a:effectLst/>
                <a:latin typeface="Consolas" panose="020B0609020204030204" pitchFamily="49" charset="0"/>
                <a:cs typeface="Consolas" panose="020B0609020204030204" pitchFamily="49" charset="0"/>
              </a:rPr>
              <a:t>();</a:t>
            </a:r>
            <a:br>
              <a:rPr lang="fr-BE" sz="2000" dirty="0">
                <a:solidFill>
                  <a:srgbClr val="BCBEC4"/>
                </a:solidFill>
                <a:effectLst/>
                <a:latin typeface="Consolas" panose="020B0609020204030204" pitchFamily="49" charset="0"/>
                <a:cs typeface="Consolas" panose="020B0609020204030204" pitchFamily="49" charset="0"/>
              </a:rPr>
            </a:br>
            <a:r>
              <a:rPr lang="fr-BE" sz="2000" dirty="0">
                <a:solidFill>
                  <a:srgbClr val="BCBEC4"/>
                </a:solidFill>
                <a:effectLst/>
                <a:latin typeface="Consolas" panose="020B0609020204030204" pitchFamily="49" charset="0"/>
                <a:cs typeface="Consolas" panose="020B0609020204030204" pitchFamily="49" charset="0"/>
              </a:rPr>
              <a:t>}</a:t>
            </a:r>
          </a:p>
        </p:txBody>
      </p:sp>
      <p:sp>
        <p:nvSpPr>
          <p:cNvPr id="7" name="Bulle rectangulaire à coins arrondis 6">
            <a:extLst>
              <a:ext uri="{FF2B5EF4-FFF2-40B4-BE49-F238E27FC236}">
                <a16:creationId xmlns:a16="http://schemas.microsoft.com/office/drawing/2014/main" id="{C667E74D-0C81-6946-80F9-43233190CCB3}"/>
              </a:ext>
            </a:extLst>
          </p:cNvPr>
          <p:cNvSpPr/>
          <p:nvPr/>
        </p:nvSpPr>
        <p:spPr>
          <a:xfrm>
            <a:off x="5705856" y="3777842"/>
            <a:ext cx="5800344" cy="1107457"/>
          </a:xfrm>
          <a:prstGeom prst="wedgeRoundRectCallout">
            <a:avLst>
              <a:gd name="adj1" fmla="val 10555"/>
              <a:gd name="adj2" fmla="val -70929"/>
              <a:gd name="adj3" fmla="val 16667"/>
            </a:avLst>
          </a:prstGeom>
          <a:solidFill>
            <a:schemeClr val="accent6"/>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La méthode </a:t>
            </a:r>
            <a:r>
              <a:rPr lang="fr-FR" sz="1600" dirty="0">
                <a:solidFill>
                  <a:schemeClr val="accent4"/>
                </a:solidFill>
                <a:latin typeface="Consolas" panose="020B0609020204030204" pitchFamily="49" charset="0"/>
                <a:cs typeface="Consolas" panose="020B0609020204030204" pitchFamily="49" charset="0"/>
              </a:rPr>
              <a:t>clone</a:t>
            </a:r>
            <a:r>
              <a:rPr lang="fr-FR" dirty="0"/>
              <a:t> ici n’est pas une redéfinition de la méthode d’</a:t>
            </a:r>
            <a:r>
              <a:rPr lang="fr-FR" sz="1600" dirty="0">
                <a:solidFill>
                  <a:schemeClr val="accent4"/>
                </a:solidFill>
                <a:latin typeface="Consolas" panose="020B0609020204030204" pitchFamily="49" charset="0"/>
                <a:cs typeface="Consolas" panose="020B0609020204030204" pitchFamily="49" charset="0"/>
              </a:rPr>
              <a:t>Object</a:t>
            </a:r>
            <a:r>
              <a:rPr lang="fr-FR" dirty="0"/>
              <a:t> (celle d’</a:t>
            </a:r>
            <a:r>
              <a:rPr lang="fr-FR" sz="1600" dirty="0">
                <a:solidFill>
                  <a:schemeClr val="accent4"/>
                </a:solidFill>
                <a:latin typeface="Consolas" panose="020B0609020204030204" pitchFamily="49" charset="0"/>
                <a:cs typeface="Consolas" panose="020B0609020204030204" pitchFamily="49" charset="0"/>
              </a:rPr>
              <a:t>Object</a:t>
            </a:r>
            <a:r>
              <a:rPr lang="fr-FR" dirty="0"/>
              <a:t> est </a:t>
            </a:r>
            <a:r>
              <a:rPr lang="fr-FR" sz="1600" dirty="0" err="1">
                <a:solidFill>
                  <a:schemeClr val="accent4"/>
                </a:solidFill>
                <a:latin typeface="Consolas" panose="020B0609020204030204" pitchFamily="49" charset="0"/>
                <a:cs typeface="Consolas" panose="020B0609020204030204" pitchFamily="49" charset="0"/>
              </a:rPr>
              <a:t>protected</a:t>
            </a:r>
            <a:r>
              <a:rPr lang="fr-FR" dirty="0"/>
              <a:t>, donc seulement accessible dans le même package ou dans une sous-classe) et donc </a:t>
            </a:r>
            <a:r>
              <a:rPr lang="fr-FR" dirty="0">
                <a:solidFill>
                  <a:schemeClr val="accent4"/>
                </a:solidFill>
                <a:latin typeface="Consolas" panose="020B0609020204030204" pitchFamily="49" charset="0"/>
                <a:cs typeface="Consolas" panose="020B0609020204030204" pitchFamily="49" charset="0"/>
              </a:rPr>
              <a:t>Foo</a:t>
            </a:r>
            <a:r>
              <a:rPr lang="fr-FR" dirty="0"/>
              <a:t> a deux méthodes publiques.</a:t>
            </a:r>
          </a:p>
        </p:txBody>
      </p:sp>
      <p:sp>
        <p:nvSpPr>
          <p:cNvPr id="15" name="Espace réservé du numéro de diapositive 14">
            <a:extLst>
              <a:ext uri="{FF2B5EF4-FFF2-40B4-BE49-F238E27FC236}">
                <a16:creationId xmlns:a16="http://schemas.microsoft.com/office/drawing/2014/main" id="{E7647D9A-F201-D13B-C622-55384379B205}"/>
              </a:ext>
            </a:extLst>
          </p:cNvPr>
          <p:cNvSpPr>
            <a:spLocks noGrp="1"/>
          </p:cNvSpPr>
          <p:nvPr>
            <p:ph type="sldNum" sz="quarter" idx="4"/>
          </p:nvPr>
        </p:nvSpPr>
        <p:spPr/>
        <p:txBody>
          <a:bodyPr/>
          <a:lstStyle/>
          <a:p>
            <a:fld id="{33C783E2-4793-4F48-A271-51A73CC37D74}" type="slidenum">
              <a:rPr lang="fr-FR" smtClean="0"/>
              <a:t>74</a:t>
            </a:fld>
            <a:endParaRPr lang="fr-FR"/>
          </a:p>
        </p:txBody>
      </p:sp>
    </p:spTree>
    <p:extLst>
      <p:ext uri="{BB962C8B-B14F-4D97-AF65-F5344CB8AC3E}">
        <p14:creationId xmlns:p14="http://schemas.microsoft.com/office/powerpoint/2010/main" val="386117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L’annotation </a:t>
            </a:r>
            <a:r>
              <a:rPr lang="fr-FR" sz="4400" dirty="0">
                <a:solidFill>
                  <a:schemeClr val="accent4"/>
                </a:solidFill>
                <a:latin typeface="Consolas" panose="020B0609020204030204" pitchFamily="49" charset="0"/>
                <a:cs typeface="Consolas" panose="020B0609020204030204" pitchFamily="49" charset="0"/>
              </a:rPr>
              <a:t>@</a:t>
            </a:r>
            <a:r>
              <a:rPr lang="fr-FR" sz="4400" dirty="0" err="1">
                <a:solidFill>
                  <a:schemeClr val="accent4"/>
                </a:solidFill>
                <a:latin typeface="Consolas" panose="020B0609020204030204" pitchFamily="49" charset="0"/>
                <a:cs typeface="Consolas" panose="020B0609020204030204" pitchFamily="49" charset="0"/>
              </a:rPr>
              <a:t>FonctionalInterface</a:t>
            </a:r>
            <a:endParaRPr lang="fr-FR" dirty="0">
              <a:solidFill>
                <a:schemeClr val="accent4"/>
              </a:solidFill>
              <a:latin typeface="Consolas" panose="020B0609020204030204" pitchFamily="49" charset="0"/>
              <a:cs typeface="Consolas" panose="020B0609020204030204" pitchFamily="49" charset="0"/>
            </a:endParaRPr>
          </a:p>
        </p:txBody>
      </p:sp>
      <p:sp>
        <p:nvSpPr>
          <p:cNvPr id="3" name="Espace réservé du contenu 2"/>
          <p:cNvSpPr>
            <a:spLocks noGrp="1"/>
          </p:cNvSpPr>
          <p:nvPr>
            <p:ph idx="1"/>
          </p:nvPr>
        </p:nvSpPr>
        <p:spPr/>
        <p:txBody>
          <a:bodyPr>
            <a:normAutofit/>
          </a:bodyPr>
          <a:lstStyle/>
          <a:p>
            <a:pPr marL="0" indent="0">
              <a:buNone/>
            </a:pPr>
            <a:r>
              <a:rPr lang="fr-FR" dirty="0"/>
              <a:t>En utilisant l'annotation </a:t>
            </a:r>
            <a:r>
              <a:rPr lang="fr-FR" sz="2600" dirty="0">
                <a:solidFill>
                  <a:schemeClr val="accent4"/>
                </a:solidFill>
                <a:latin typeface="Consolas"/>
                <a:cs typeface="Consolas"/>
              </a:rPr>
              <a:t>@</a:t>
            </a:r>
            <a:r>
              <a:rPr lang="fr-FR" sz="2600" dirty="0" err="1">
                <a:solidFill>
                  <a:schemeClr val="accent4"/>
                </a:solidFill>
                <a:latin typeface="Consolas"/>
                <a:cs typeface="Consolas"/>
              </a:rPr>
              <a:t>FunctionalInterface</a:t>
            </a:r>
            <a:r>
              <a:rPr lang="fr-FR" dirty="0">
                <a:solidFill>
                  <a:srgbClr val="4584D3"/>
                </a:solidFill>
                <a:latin typeface="Consolas"/>
                <a:cs typeface="Consolas"/>
              </a:rPr>
              <a:t> </a:t>
            </a:r>
            <a:r>
              <a:rPr lang="fr-FR" dirty="0"/>
              <a:t>avant la déclaration de l'interface, le compilateur java vérifiera qu'elle contient bien une seule méthode abstraite (et génèrera une erreur dans le cas contraire).</a:t>
            </a:r>
          </a:p>
          <a:p>
            <a:pPr marL="0" indent="0">
              <a:buNone/>
            </a:pPr>
            <a:endParaRPr lang="fr-FR" dirty="0"/>
          </a:p>
        </p:txBody>
      </p:sp>
      <p:sp>
        <p:nvSpPr>
          <p:cNvPr id="5" name="ZoneTexte 4">
            <a:extLst>
              <a:ext uri="{FF2B5EF4-FFF2-40B4-BE49-F238E27FC236}">
                <a16:creationId xmlns:a16="http://schemas.microsoft.com/office/drawing/2014/main" id="{6BC5C36A-AE7A-243A-A574-8FA7FA53F0D7}"/>
              </a:ext>
            </a:extLst>
          </p:cNvPr>
          <p:cNvSpPr txBox="1"/>
          <p:nvPr/>
        </p:nvSpPr>
        <p:spPr>
          <a:xfrm>
            <a:off x="2968752" y="3429000"/>
            <a:ext cx="6254496" cy="1569660"/>
          </a:xfrm>
          <a:prstGeom prst="rect">
            <a:avLst/>
          </a:prstGeom>
          <a:solidFill>
            <a:srgbClr val="2B2B2B"/>
          </a:solidFill>
        </p:spPr>
        <p:txBody>
          <a:bodyPr wrap="square">
            <a:spAutoFit/>
          </a:bodyPr>
          <a:lstStyle/>
          <a:p>
            <a:r>
              <a:rPr lang="fr-BE" sz="2400" dirty="0">
                <a:solidFill>
                  <a:srgbClr val="B3AE60"/>
                </a:solidFill>
                <a:effectLst/>
                <a:latin typeface="Consolas" panose="020B0609020204030204" pitchFamily="49" charset="0"/>
                <a:cs typeface="Consolas" panose="020B0609020204030204" pitchFamily="49" charset="0"/>
              </a:rPr>
              <a:t>@</a:t>
            </a:r>
            <a:r>
              <a:rPr lang="fr-BE" sz="2400" dirty="0" err="1">
                <a:solidFill>
                  <a:srgbClr val="B3AE60"/>
                </a:solidFill>
                <a:effectLst/>
                <a:latin typeface="Consolas" panose="020B0609020204030204" pitchFamily="49" charset="0"/>
                <a:cs typeface="Consolas" panose="020B0609020204030204" pitchFamily="49" charset="0"/>
              </a:rPr>
              <a:t>FunctionalInterface</a:t>
            </a:r>
            <a:br>
              <a:rPr lang="fr-BE" sz="2400" dirty="0">
                <a:solidFill>
                  <a:srgbClr val="B3AE60"/>
                </a:solidFill>
                <a:effectLst/>
                <a:latin typeface="Consolas" panose="020B0609020204030204" pitchFamily="49" charset="0"/>
                <a:cs typeface="Consolas" panose="020B0609020204030204" pitchFamily="49" charset="0"/>
              </a:rPr>
            </a:br>
            <a:r>
              <a:rPr lang="fr-BE" sz="2400" dirty="0">
                <a:solidFill>
                  <a:srgbClr val="CF8E6D"/>
                </a:solidFill>
                <a:effectLst/>
                <a:latin typeface="Consolas" panose="020B0609020204030204" pitchFamily="49" charset="0"/>
                <a:cs typeface="Consolas" panose="020B0609020204030204" pitchFamily="49" charset="0"/>
              </a:rPr>
              <a:t>public interface </a:t>
            </a:r>
            <a:r>
              <a:rPr lang="fr-BE" sz="2400" dirty="0" err="1">
                <a:solidFill>
                  <a:srgbClr val="BCBEC4"/>
                </a:solidFill>
                <a:effectLst/>
                <a:latin typeface="Consolas" panose="020B0609020204030204" pitchFamily="49" charset="0"/>
                <a:cs typeface="Consolas" panose="020B0609020204030204" pitchFamily="49" charset="0"/>
              </a:rPr>
              <a:t>ExempleInterface</a:t>
            </a:r>
            <a:r>
              <a:rPr lang="fr-BE" sz="2400" dirty="0">
                <a:solidFill>
                  <a:srgbClr val="BCBEC4"/>
                </a:solidFill>
                <a:effectLst/>
                <a:latin typeface="Consolas" panose="020B0609020204030204" pitchFamily="49" charset="0"/>
                <a:cs typeface="Consolas" panose="020B0609020204030204" pitchFamily="49" charset="0"/>
              </a:rPr>
              <a:t> {</a:t>
            </a:r>
            <a:br>
              <a:rPr lang="fr-BE" sz="2400" dirty="0">
                <a:solidFill>
                  <a:srgbClr val="BCBEC4"/>
                </a:solidFill>
                <a:effectLst/>
                <a:latin typeface="Consolas" panose="020B0609020204030204" pitchFamily="49" charset="0"/>
                <a:cs typeface="Consolas" panose="020B0609020204030204" pitchFamily="49" charset="0"/>
              </a:rPr>
            </a:br>
            <a:r>
              <a:rPr lang="fr-BE" sz="2400" dirty="0">
                <a:solidFill>
                  <a:srgbClr val="BCBEC4"/>
                </a:solidFill>
                <a:effectLst/>
                <a:latin typeface="Consolas" panose="020B0609020204030204" pitchFamily="49" charset="0"/>
                <a:cs typeface="Consolas" panose="020B0609020204030204" pitchFamily="49" charset="0"/>
              </a:rPr>
              <a:t>    </a:t>
            </a:r>
            <a:r>
              <a:rPr lang="fr-BE" sz="2400" dirty="0" err="1">
                <a:solidFill>
                  <a:srgbClr val="CF8E6D"/>
                </a:solidFill>
                <a:effectLst/>
                <a:latin typeface="Consolas" panose="020B0609020204030204" pitchFamily="49" charset="0"/>
                <a:cs typeface="Consolas" panose="020B0609020204030204" pitchFamily="49" charset="0"/>
              </a:rPr>
              <a:t>void</a:t>
            </a:r>
            <a:r>
              <a:rPr lang="fr-BE" sz="2400" dirty="0">
                <a:solidFill>
                  <a:srgbClr val="CF8E6D"/>
                </a:solidFill>
                <a:effectLst/>
                <a:latin typeface="Consolas" panose="020B0609020204030204" pitchFamily="49" charset="0"/>
                <a:cs typeface="Consolas" panose="020B0609020204030204" pitchFamily="49" charset="0"/>
              </a:rPr>
              <a:t> </a:t>
            </a:r>
            <a:r>
              <a:rPr lang="fr-BE" sz="2400" dirty="0" err="1">
                <a:solidFill>
                  <a:srgbClr val="56A8F5"/>
                </a:solidFill>
                <a:effectLst/>
                <a:latin typeface="Consolas" panose="020B0609020204030204" pitchFamily="49" charset="0"/>
                <a:cs typeface="Consolas" panose="020B0609020204030204" pitchFamily="49" charset="0"/>
              </a:rPr>
              <a:t>doSomething</a:t>
            </a:r>
            <a:r>
              <a:rPr lang="fr-BE" sz="2400" dirty="0">
                <a:solidFill>
                  <a:srgbClr val="BCBEC4"/>
                </a:solidFill>
                <a:effectLst/>
                <a:latin typeface="Consolas" panose="020B0609020204030204" pitchFamily="49" charset="0"/>
                <a:cs typeface="Consolas" panose="020B0609020204030204" pitchFamily="49" charset="0"/>
              </a:rPr>
              <a:t>();</a:t>
            </a:r>
            <a:br>
              <a:rPr lang="fr-BE" sz="2400" dirty="0">
                <a:solidFill>
                  <a:srgbClr val="BCBEC4"/>
                </a:solidFill>
                <a:effectLst/>
                <a:latin typeface="Consolas" panose="020B0609020204030204" pitchFamily="49" charset="0"/>
                <a:cs typeface="Consolas" panose="020B0609020204030204" pitchFamily="49" charset="0"/>
              </a:rPr>
            </a:br>
            <a:r>
              <a:rPr lang="fr-BE" sz="2400" dirty="0">
                <a:solidFill>
                  <a:srgbClr val="BCBEC4"/>
                </a:solidFill>
                <a:effectLst/>
                <a:latin typeface="Consolas" panose="020B0609020204030204" pitchFamily="49" charset="0"/>
                <a:cs typeface="Consolas" panose="020B0609020204030204" pitchFamily="49" charset="0"/>
              </a:rPr>
              <a:t>}</a:t>
            </a:r>
          </a:p>
        </p:txBody>
      </p:sp>
      <p:sp>
        <p:nvSpPr>
          <p:cNvPr id="7" name="Espace réservé du numéro de diapositive 6">
            <a:extLst>
              <a:ext uri="{FF2B5EF4-FFF2-40B4-BE49-F238E27FC236}">
                <a16:creationId xmlns:a16="http://schemas.microsoft.com/office/drawing/2014/main" id="{AEE36DD1-15E7-56F9-DBB3-525C75F4FA9C}"/>
              </a:ext>
            </a:extLst>
          </p:cNvPr>
          <p:cNvSpPr>
            <a:spLocks noGrp="1"/>
          </p:cNvSpPr>
          <p:nvPr>
            <p:ph type="sldNum" sz="quarter" idx="4"/>
          </p:nvPr>
        </p:nvSpPr>
        <p:spPr/>
        <p:txBody>
          <a:bodyPr/>
          <a:lstStyle/>
          <a:p>
            <a:fld id="{33C783E2-4793-4F48-A271-51A73CC37D74}" type="slidenum">
              <a:rPr lang="fr-FR" smtClean="0"/>
              <a:t>75</a:t>
            </a:fld>
            <a:endParaRPr lang="fr-FR"/>
          </a:p>
        </p:txBody>
      </p:sp>
    </p:spTree>
    <p:extLst>
      <p:ext uri="{BB962C8B-B14F-4D97-AF65-F5344CB8AC3E}">
        <p14:creationId xmlns:p14="http://schemas.microsoft.com/office/powerpoint/2010/main" val="336980838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Quelques exemples d’Interfaces fonctionnelles</a:t>
            </a:r>
          </a:p>
        </p:txBody>
      </p:sp>
      <p:sp>
        <p:nvSpPr>
          <p:cNvPr id="3" name="Espace réservé du contenu 2"/>
          <p:cNvSpPr>
            <a:spLocks noGrp="1"/>
          </p:cNvSpPr>
          <p:nvPr>
            <p:ph idx="1"/>
          </p:nvPr>
        </p:nvSpPr>
        <p:spPr/>
        <p:txBody>
          <a:bodyPr>
            <a:normAutofit/>
          </a:bodyPr>
          <a:lstStyle/>
          <a:p>
            <a:pPr marL="0" indent="0">
              <a:buNone/>
            </a:pPr>
            <a:r>
              <a:rPr lang="fr-FR" dirty="0"/>
              <a:t>Les interfaces suivantes sont de bons exemples d'interfaces fonctionnelles (qui n'ont qu'une méthode, notée entre parenthèses).</a:t>
            </a:r>
          </a:p>
          <a:p>
            <a:r>
              <a:rPr lang="fr-FR" sz="2600" dirty="0" err="1">
                <a:solidFill>
                  <a:schemeClr val="accent4"/>
                </a:solidFill>
                <a:latin typeface="Consolas" panose="020B0609020204030204" pitchFamily="49" charset="0"/>
                <a:cs typeface="Consolas" panose="020B0609020204030204" pitchFamily="49" charset="0"/>
              </a:rPr>
              <a:t>java.util.Comparator</a:t>
            </a:r>
            <a:r>
              <a:rPr lang="fr-FR" sz="2600" dirty="0">
                <a:solidFill>
                  <a:schemeClr val="accent4"/>
                </a:solidFill>
                <a:latin typeface="Consolas" panose="020B0609020204030204" pitchFamily="49" charset="0"/>
                <a:cs typeface="Consolas" panose="020B0609020204030204" pitchFamily="49" charset="0"/>
              </a:rPr>
              <a:t> (compare)</a:t>
            </a:r>
          </a:p>
          <a:p>
            <a:r>
              <a:rPr lang="fr-FR" sz="2600" dirty="0" err="1">
                <a:solidFill>
                  <a:schemeClr val="accent4"/>
                </a:solidFill>
                <a:latin typeface="Consolas" panose="020B0609020204030204" pitchFamily="49" charset="0"/>
                <a:cs typeface="Consolas" panose="020B0609020204030204" pitchFamily="49" charset="0"/>
              </a:rPr>
              <a:t>java.lang.Runnable</a:t>
            </a:r>
            <a:r>
              <a:rPr lang="fr-FR" sz="2600" dirty="0">
                <a:solidFill>
                  <a:schemeClr val="accent4"/>
                </a:solidFill>
                <a:latin typeface="Consolas" panose="020B0609020204030204" pitchFamily="49" charset="0"/>
                <a:cs typeface="Consolas" panose="020B0609020204030204" pitchFamily="49" charset="0"/>
              </a:rPr>
              <a:t> (</a:t>
            </a:r>
            <a:r>
              <a:rPr lang="fr-FR" sz="2600" dirty="0" err="1">
                <a:solidFill>
                  <a:schemeClr val="accent4"/>
                </a:solidFill>
                <a:latin typeface="Consolas" panose="020B0609020204030204" pitchFamily="49" charset="0"/>
                <a:cs typeface="Consolas" panose="020B0609020204030204" pitchFamily="49" charset="0"/>
              </a:rPr>
              <a:t>run</a:t>
            </a:r>
            <a:r>
              <a:rPr lang="fr-FR" sz="2600" dirty="0">
                <a:solidFill>
                  <a:schemeClr val="accent4"/>
                </a:solidFill>
                <a:latin typeface="Consolas" panose="020B0609020204030204" pitchFamily="49" charset="0"/>
                <a:cs typeface="Consolas" panose="020B0609020204030204" pitchFamily="49" charset="0"/>
              </a:rPr>
              <a:t>)</a:t>
            </a:r>
          </a:p>
          <a:p>
            <a:r>
              <a:rPr lang="fr-FR" sz="2600" dirty="0" err="1">
                <a:solidFill>
                  <a:schemeClr val="accent4"/>
                </a:solidFill>
                <a:latin typeface="Consolas" panose="020B0609020204030204" pitchFamily="49" charset="0"/>
                <a:cs typeface="Consolas" panose="020B0609020204030204" pitchFamily="49" charset="0"/>
              </a:rPr>
              <a:t>java.awt.event.ActionListener</a:t>
            </a:r>
            <a:r>
              <a:rPr lang="fr-FR" sz="2600" dirty="0">
                <a:solidFill>
                  <a:schemeClr val="accent4"/>
                </a:solidFill>
                <a:latin typeface="Consolas" panose="020B0609020204030204" pitchFamily="49" charset="0"/>
                <a:cs typeface="Consolas" panose="020B0609020204030204" pitchFamily="49" charset="0"/>
              </a:rPr>
              <a:t> (</a:t>
            </a:r>
            <a:r>
              <a:rPr lang="fr-FR" sz="2600" dirty="0" err="1">
                <a:solidFill>
                  <a:schemeClr val="accent4"/>
                </a:solidFill>
                <a:latin typeface="Consolas" panose="020B0609020204030204" pitchFamily="49" charset="0"/>
                <a:cs typeface="Consolas" panose="020B0609020204030204" pitchFamily="49" charset="0"/>
              </a:rPr>
              <a:t>actionPerformed</a:t>
            </a:r>
            <a:r>
              <a:rPr lang="fr-FR" sz="2600" dirty="0">
                <a:solidFill>
                  <a:schemeClr val="accent4"/>
                </a:solidFill>
                <a:latin typeface="Consolas" panose="020B0609020204030204" pitchFamily="49" charset="0"/>
                <a:cs typeface="Consolas" panose="020B0609020204030204" pitchFamily="49" charset="0"/>
              </a:rPr>
              <a:t>)</a:t>
            </a:r>
          </a:p>
          <a:p>
            <a:r>
              <a:rPr lang="fr-FR" sz="2600" dirty="0" err="1">
                <a:solidFill>
                  <a:schemeClr val="accent4"/>
                </a:solidFill>
                <a:latin typeface="Consolas" panose="020B0609020204030204" pitchFamily="49" charset="0"/>
                <a:cs typeface="Consolas" panose="020B0609020204030204" pitchFamily="49" charset="0"/>
              </a:rPr>
              <a:t>java.swing.event.ChangeListener</a:t>
            </a:r>
            <a:r>
              <a:rPr lang="fr-FR" sz="2600" dirty="0">
                <a:solidFill>
                  <a:schemeClr val="accent4"/>
                </a:solidFill>
                <a:latin typeface="Consolas" panose="020B0609020204030204" pitchFamily="49" charset="0"/>
                <a:cs typeface="Consolas" panose="020B0609020204030204" pitchFamily="49" charset="0"/>
              </a:rPr>
              <a:t> (</a:t>
            </a:r>
            <a:r>
              <a:rPr lang="fr-FR" sz="2600" dirty="0" err="1">
                <a:solidFill>
                  <a:schemeClr val="accent4"/>
                </a:solidFill>
                <a:latin typeface="Consolas" panose="020B0609020204030204" pitchFamily="49" charset="0"/>
                <a:cs typeface="Consolas" panose="020B0609020204030204" pitchFamily="49" charset="0"/>
              </a:rPr>
              <a:t>stateChanged</a:t>
            </a:r>
            <a:r>
              <a:rPr lang="fr-FR" sz="2600" dirty="0">
                <a:solidFill>
                  <a:schemeClr val="accent4"/>
                </a:solidFill>
                <a:latin typeface="Consolas" panose="020B0609020204030204" pitchFamily="49" charset="0"/>
                <a:cs typeface="Consolas" panose="020B0609020204030204" pitchFamily="49" charset="0"/>
              </a:rPr>
              <a:t>)</a:t>
            </a:r>
          </a:p>
        </p:txBody>
      </p:sp>
      <p:sp>
        <p:nvSpPr>
          <p:cNvPr id="4" name="Espace réservé du numéro de diapositive 3">
            <a:extLst>
              <a:ext uri="{FF2B5EF4-FFF2-40B4-BE49-F238E27FC236}">
                <a16:creationId xmlns:a16="http://schemas.microsoft.com/office/drawing/2014/main" id="{99911EF6-AE69-010C-FCF2-0582CF8E9378}"/>
              </a:ext>
            </a:extLst>
          </p:cNvPr>
          <p:cNvSpPr>
            <a:spLocks noGrp="1"/>
          </p:cNvSpPr>
          <p:nvPr>
            <p:ph type="sldNum" sz="quarter" idx="4"/>
          </p:nvPr>
        </p:nvSpPr>
        <p:spPr/>
        <p:txBody>
          <a:bodyPr/>
          <a:lstStyle/>
          <a:p>
            <a:fld id="{33C783E2-4793-4F48-A271-51A73CC37D74}" type="slidenum">
              <a:rPr lang="fr-FR" smtClean="0"/>
              <a:t>76</a:t>
            </a:fld>
            <a:endParaRPr lang="fr-FR"/>
          </a:p>
        </p:txBody>
      </p:sp>
    </p:spTree>
    <p:extLst>
      <p:ext uri="{BB962C8B-B14F-4D97-AF65-F5344CB8AC3E}">
        <p14:creationId xmlns:p14="http://schemas.microsoft.com/office/powerpoint/2010/main" val="2851482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par>
                          <p:cTn id="8" fill="hold">
                            <p:stCondLst>
                              <p:cond delay="2500"/>
                            </p:stCondLst>
                            <p:childTnLst>
                              <p:par>
                                <p:cTn id="9" presetID="10" presetClass="entr" presetSubtype="0" fill="hold" nodeType="afterEffect">
                                  <p:stCondLst>
                                    <p:cond delay="200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fade">
                                      <p:cBhvr>
                                        <p:cTn id="11" dur="500"/>
                                        <p:tgtEl>
                                          <p:spTgt spid="3">
                                            <p:txEl>
                                              <p:pRg st="2" end="2"/>
                                            </p:txEl>
                                          </p:spTgt>
                                        </p:tgtEl>
                                      </p:cBhvr>
                                    </p:animEffect>
                                  </p:childTnLst>
                                </p:cTn>
                              </p:par>
                            </p:childTnLst>
                          </p:cTn>
                        </p:par>
                        <p:par>
                          <p:cTn id="12" fill="hold">
                            <p:stCondLst>
                              <p:cond delay="5000"/>
                            </p:stCondLst>
                            <p:childTnLst>
                              <p:par>
                                <p:cTn id="13" presetID="10" presetClass="entr" presetSubtype="0" fill="hold" nodeType="afterEffect">
                                  <p:stCondLst>
                                    <p:cond delay="200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par>
                          <p:cTn id="16" fill="hold">
                            <p:stCondLst>
                              <p:cond delay="7500"/>
                            </p:stCondLst>
                            <p:childTnLst>
                              <p:par>
                                <p:cTn id="17" presetID="10" presetClass="entr" presetSubtype="0" fill="hold" nodeType="afterEffect">
                                  <p:stCondLst>
                                    <p:cond delay="200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Et quelques-unes plus génériques</a:t>
            </a:r>
          </a:p>
        </p:txBody>
      </p:sp>
      <p:graphicFrame>
        <p:nvGraphicFramePr>
          <p:cNvPr id="10" name="Espace réservé du contenu 9">
            <a:extLst>
              <a:ext uri="{FF2B5EF4-FFF2-40B4-BE49-F238E27FC236}">
                <a16:creationId xmlns:a16="http://schemas.microsoft.com/office/drawing/2014/main" id="{A716B0AF-7716-AB45-8C77-7321A5355825}"/>
              </a:ext>
            </a:extLst>
          </p:cNvPr>
          <p:cNvGraphicFramePr>
            <a:graphicFrameLocks noGrp="1"/>
          </p:cNvGraphicFramePr>
          <p:nvPr>
            <p:ph idx="1"/>
          </p:nvPr>
        </p:nvGraphicFramePr>
        <p:xfrm>
          <a:off x="838200" y="1825625"/>
          <a:ext cx="10515599" cy="3596640"/>
        </p:xfrm>
        <a:graphic>
          <a:graphicData uri="http://schemas.openxmlformats.org/drawingml/2006/table">
            <a:tbl>
              <a:tblPr firstRow="1" bandRow="1">
                <a:tableStyleId>{93296810-A885-4BE3-A3E7-6D5BEEA58F35}</a:tableStyleId>
              </a:tblPr>
              <a:tblGrid>
                <a:gridCol w="2661078">
                  <a:extLst>
                    <a:ext uri="{9D8B030D-6E8A-4147-A177-3AD203B41FA5}">
                      <a16:colId xmlns:a16="http://schemas.microsoft.com/office/drawing/2014/main" val="560251748"/>
                    </a:ext>
                  </a:extLst>
                </a:gridCol>
                <a:gridCol w="2801765">
                  <a:extLst>
                    <a:ext uri="{9D8B030D-6E8A-4147-A177-3AD203B41FA5}">
                      <a16:colId xmlns:a16="http://schemas.microsoft.com/office/drawing/2014/main" val="932282454"/>
                    </a:ext>
                  </a:extLst>
                </a:gridCol>
                <a:gridCol w="5052756">
                  <a:extLst>
                    <a:ext uri="{9D8B030D-6E8A-4147-A177-3AD203B41FA5}">
                      <a16:colId xmlns:a16="http://schemas.microsoft.com/office/drawing/2014/main" val="2525251400"/>
                    </a:ext>
                  </a:extLst>
                </a:gridCol>
              </a:tblGrid>
              <a:tr h="370840">
                <a:tc>
                  <a:txBody>
                    <a:bodyPr/>
                    <a:lstStyle/>
                    <a:p>
                      <a:r>
                        <a:rPr lang="fr-FR" sz="2000" dirty="0">
                          <a:solidFill>
                            <a:srgbClr val="C00000"/>
                          </a:solidFill>
                        </a:rPr>
                        <a:t>Interface</a:t>
                      </a:r>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solidFill>
                  </a:tcPr>
                </a:tc>
                <a:tc>
                  <a:txBody>
                    <a:bodyPr/>
                    <a:lstStyle/>
                    <a:p>
                      <a:r>
                        <a:rPr lang="fr-FR" sz="2000" dirty="0">
                          <a:solidFill>
                            <a:srgbClr val="C00000"/>
                          </a:solidFill>
                        </a:rPr>
                        <a:t>Méthode</a:t>
                      </a:r>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solidFill>
                  </a:tcPr>
                </a:tc>
                <a:tc>
                  <a:txBody>
                    <a:bodyPr/>
                    <a:lstStyle/>
                    <a:p>
                      <a:r>
                        <a:rPr lang="fr-FR" sz="2000" dirty="0">
                          <a:solidFill>
                            <a:srgbClr val="C00000"/>
                          </a:solidFill>
                        </a:rPr>
                        <a:t>Fait…</a:t>
                      </a:r>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solidFill>
                      <a:schemeClr val="accent4"/>
                    </a:solidFill>
                  </a:tcPr>
                </a:tc>
                <a:extLst>
                  <a:ext uri="{0D108BD9-81ED-4DB2-BD59-A6C34878D82A}">
                    <a16:rowId xmlns:a16="http://schemas.microsoft.com/office/drawing/2014/main" val="2915681599"/>
                  </a:ext>
                </a:extLst>
              </a:tr>
              <a:tr h="370840">
                <a:tc>
                  <a:txBody>
                    <a:bodyPr/>
                    <a:lstStyle/>
                    <a:p>
                      <a:r>
                        <a:rPr kumimoji="0" lang="fr-BE" sz="2000" b="1" u="none" strike="noStrike" kern="1200" cap="none" spc="0" normalizeH="0" baseline="0" dirty="0" err="1">
                          <a:ln>
                            <a:noFill/>
                          </a:ln>
                          <a:solidFill>
                            <a:schemeClr val="accent4"/>
                          </a:solidFill>
                          <a:effectLst/>
                          <a:uLnTx/>
                          <a:uFillTx/>
                          <a:latin typeface="Consolas" panose="020B0609020204030204" pitchFamily="49" charset="0"/>
                          <a:ea typeface="+mn-ea"/>
                          <a:cs typeface="Consolas" panose="020B0609020204030204" pitchFamily="49" charset="0"/>
                        </a:rPr>
                        <a:t>Function</a:t>
                      </a:r>
                      <a:r>
                        <a:rPr kumimoji="0" lang="fr-BE"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rPr>
                        <a:t>&lt;T,R&gt;</a:t>
                      </a:r>
                      <a:endParaRPr kumimoji="0" lang="fr-FR"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endParaRPr>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noFill/>
                  </a:tcPr>
                </a:tc>
                <a:tc>
                  <a:txBody>
                    <a:bodyPr/>
                    <a:lstStyle/>
                    <a:p>
                      <a:pPr marL="0" algn="l" defTabSz="914400" rtl="0" eaLnBrk="1" latinLnBrk="0" hangingPunct="1"/>
                      <a:r>
                        <a:rPr kumimoji="0" lang="fr-BE"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rPr>
                        <a:t>R </a:t>
                      </a:r>
                      <a:r>
                        <a:rPr kumimoji="0" lang="fr-BE" sz="2000" b="1" u="none" strike="noStrike" kern="1200" cap="none" spc="0" normalizeH="0" baseline="0" dirty="0" err="1">
                          <a:ln>
                            <a:noFill/>
                          </a:ln>
                          <a:solidFill>
                            <a:schemeClr val="accent4"/>
                          </a:solidFill>
                          <a:effectLst/>
                          <a:uLnTx/>
                          <a:uFillTx/>
                          <a:latin typeface="Consolas" panose="020B0609020204030204" pitchFamily="49" charset="0"/>
                          <a:ea typeface="+mn-ea"/>
                          <a:cs typeface="Consolas" panose="020B0609020204030204" pitchFamily="49" charset="0"/>
                        </a:rPr>
                        <a:t>apply</a:t>
                      </a:r>
                      <a:r>
                        <a:rPr kumimoji="0" lang="fr-BE"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rPr>
                        <a:t>(</a:t>
                      </a:r>
                      <a:r>
                        <a:rPr kumimoji="0" lang="fr-BE" sz="2000" b="1" u="none" strike="noStrike" kern="1200" cap="none" spc="0" normalizeH="0" baseline="0" dirty="0" err="1">
                          <a:ln>
                            <a:noFill/>
                          </a:ln>
                          <a:solidFill>
                            <a:schemeClr val="accent4"/>
                          </a:solidFill>
                          <a:effectLst/>
                          <a:uLnTx/>
                          <a:uFillTx/>
                          <a:latin typeface="Consolas" panose="020B0609020204030204" pitchFamily="49" charset="0"/>
                          <a:ea typeface="+mn-ea"/>
                          <a:cs typeface="Consolas" panose="020B0609020204030204" pitchFamily="49" charset="0"/>
                        </a:rPr>
                        <a:t>T</a:t>
                      </a:r>
                      <a:r>
                        <a:rPr kumimoji="0" lang="fr-BE"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rPr>
                        <a:t> </a:t>
                      </a:r>
                      <a:r>
                        <a:rPr kumimoji="0" lang="fr-BE" sz="2000" b="1" u="none" strike="noStrike" kern="1200" cap="none" spc="0" normalizeH="0" baseline="0" dirty="0" err="1">
                          <a:ln>
                            <a:noFill/>
                          </a:ln>
                          <a:solidFill>
                            <a:schemeClr val="accent4"/>
                          </a:solidFill>
                          <a:effectLst/>
                          <a:uLnTx/>
                          <a:uFillTx/>
                          <a:latin typeface="Consolas" panose="020B0609020204030204" pitchFamily="49" charset="0"/>
                          <a:ea typeface="+mn-ea"/>
                          <a:cs typeface="Consolas" panose="020B0609020204030204" pitchFamily="49" charset="0"/>
                        </a:rPr>
                        <a:t>t</a:t>
                      </a:r>
                      <a:r>
                        <a:rPr kumimoji="0" lang="fr-BE"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rPr>
                        <a:t>)</a:t>
                      </a:r>
                      <a:endParaRPr kumimoji="0" lang="fr-FR"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endParaRPr>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fr-BE" sz="2000" b="1" u="none" strike="noStrike" kern="1200" cap="none" spc="0" normalizeH="0" baseline="0" noProof="0" dirty="0">
                          <a:ln>
                            <a:noFill/>
                          </a:ln>
                          <a:solidFill>
                            <a:schemeClr val="tx1"/>
                          </a:solidFill>
                          <a:effectLst/>
                          <a:uLnTx/>
                          <a:uFillTx/>
                        </a:rPr>
                        <a:t>Traite un paramètre </a:t>
                      </a:r>
                      <a:r>
                        <a:rPr kumimoji="0" lang="fr-BE" sz="2000" b="1" u="none" strike="noStrike" kern="1200" cap="none" spc="0" normalizeH="0" baseline="0" noProof="0" dirty="0" err="1">
                          <a:ln>
                            <a:noFill/>
                          </a:ln>
                          <a:solidFill>
                            <a:schemeClr val="accent4"/>
                          </a:solidFill>
                          <a:effectLst/>
                          <a:uLnTx/>
                          <a:uFillTx/>
                          <a:latin typeface="Consolas" panose="020B0609020204030204" pitchFamily="49" charset="0"/>
                          <a:ea typeface="+mn-ea"/>
                          <a:cs typeface="Consolas" panose="020B0609020204030204" pitchFamily="49" charset="0"/>
                        </a:rPr>
                        <a:t>T</a:t>
                      </a:r>
                      <a:r>
                        <a:rPr kumimoji="0" lang="fr-BE" sz="2000" b="1" u="none" strike="noStrike" kern="1200" cap="none" spc="0" normalizeH="0" baseline="0" noProof="0" dirty="0">
                          <a:ln>
                            <a:noFill/>
                          </a:ln>
                          <a:solidFill>
                            <a:schemeClr val="tx1"/>
                          </a:solidFill>
                          <a:effectLst/>
                          <a:uLnTx/>
                          <a:uFillTx/>
                        </a:rPr>
                        <a:t> et de renvoie un type </a:t>
                      </a:r>
                      <a:r>
                        <a:rPr kumimoji="0" lang="fr-BE" sz="2000" b="1" u="none" strike="noStrike" kern="1200" cap="none" spc="0" normalizeH="0" baseline="0" noProof="0" dirty="0">
                          <a:ln>
                            <a:noFill/>
                          </a:ln>
                          <a:solidFill>
                            <a:schemeClr val="accent4"/>
                          </a:solidFill>
                          <a:effectLst/>
                          <a:uLnTx/>
                          <a:uFillTx/>
                          <a:latin typeface="Consolas" panose="020B0609020204030204" pitchFamily="49" charset="0"/>
                          <a:ea typeface="+mn-ea"/>
                          <a:cs typeface="Consolas" panose="020B0609020204030204" pitchFamily="49" charset="0"/>
                        </a:rPr>
                        <a:t>R</a:t>
                      </a:r>
                      <a:endParaRPr kumimoji="0" lang="fr-FR"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endParaRPr>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noFill/>
                  </a:tcPr>
                </a:tc>
                <a:extLst>
                  <a:ext uri="{0D108BD9-81ED-4DB2-BD59-A6C34878D82A}">
                    <a16:rowId xmlns:a16="http://schemas.microsoft.com/office/drawing/2014/main" val="1027124071"/>
                  </a:ext>
                </a:extLst>
              </a:tr>
              <a:tr h="370840">
                <a:tc>
                  <a:txBody>
                    <a:bodyPr/>
                    <a:lstStyle/>
                    <a:p>
                      <a:r>
                        <a:rPr kumimoji="0" lang="fr-BE" sz="2000" b="1" u="none" strike="noStrike" kern="1200" cap="none" spc="0" normalizeH="0" baseline="0" dirty="0" err="1">
                          <a:ln>
                            <a:noFill/>
                          </a:ln>
                          <a:solidFill>
                            <a:schemeClr val="accent4"/>
                          </a:solidFill>
                          <a:effectLst/>
                          <a:uLnTx/>
                          <a:uFillTx/>
                          <a:latin typeface="Consolas" panose="020B0609020204030204" pitchFamily="49" charset="0"/>
                          <a:ea typeface="+mn-ea"/>
                          <a:cs typeface="Consolas" panose="020B0609020204030204" pitchFamily="49" charset="0"/>
                        </a:rPr>
                        <a:t>Predicate</a:t>
                      </a:r>
                      <a:r>
                        <a:rPr kumimoji="0" lang="fr-BE"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rPr>
                        <a:t>&lt;</a:t>
                      </a:r>
                      <a:r>
                        <a:rPr kumimoji="0" lang="fr-BE" sz="2000" b="1" u="none" strike="noStrike" kern="1200" cap="none" spc="0" normalizeH="0" baseline="0" dirty="0" err="1">
                          <a:ln>
                            <a:noFill/>
                          </a:ln>
                          <a:solidFill>
                            <a:schemeClr val="accent4"/>
                          </a:solidFill>
                          <a:effectLst/>
                          <a:uLnTx/>
                          <a:uFillTx/>
                          <a:latin typeface="Consolas" panose="020B0609020204030204" pitchFamily="49" charset="0"/>
                          <a:ea typeface="+mn-ea"/>
                          <a:cs typeface="Consolas" panose="020B0609020204030204" pitchFamily="49" charset="0"/>
                        </a:rPr>
                        <a:t>T</a:t>
                      </a:r>
                      <a:r>
                        <a:rPr kumimoji="0" lang="fr-BE"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rPr>
                        <a:t>&gt;</a:t>
                      </a:r>
                      <a:endParaRPr kumimoji="0" lang="fr-FR"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endParaRPr>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noFill/>
                  </a:tcPr>
                </a:tc>
                <a:tc>
                  <a:txBody>
                    <a:bodyPr/>
                    <a:lstStyle/>
                    <a:p>
                      <a:pPr marL="0" algn="l" defTabSz="914400" rtl="0" eaLnBrk="1" latinLnBrk="0" hangingPunct="1"/>
                      <a:r>
                        <a:rPr kumimoji="0" lang="fr-BE" sz="2000" b="1" u="none" strike="noStrike" kern="1200" cap="none" spc="0" normalizeH="0" baseline="0" dirty="0" err="1">
                          <a:ln>
                            <a:noFill/>
                          </a:ln>
                          <a:solidFill>
                            <a:schemeClr val="accent4"/>
                          </a:solidFill>
                          <a:effectLst/>
                          <a:uLnTx/>
                          <a:uFillTx/>
                          <a:latin typeface="Consolas" panose="020B0609020204030204" pitchFamily="49" charset="0"/>
                          <a:ea typeface="+mn-ea"/>
                          <a:cs typeface="Consolas" panose="020B0609020204030204" pitchFamily="49" charset="0"/>
                        </a:rPr>
                        <a:t>boolean</a:t>
                      </a:r>
                      <a:r>
                        <a:rPr kumimoji="0" lang="fr-BE"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rPr>
                        <a:t> test(</a:t>
                      </a:r>
                      <a:r>
                        <a:rPr kumimoji="0" lang="fr-BE" sz="2000" b="1" u="none" strike="noStrike" kern="1200" cap="none" spc="0" normalizeH="0" baseline="0" dirty="0" err="1">
                          <a:ln>
                            <a:noFill/>
                          </a:ln>
                          <a:solidFill>
                            <a:schemeClr val="accent4"/>
                          </a:solidFill>
                          <a:effectLst/>
                          <a:uLnTx/>
                          <a:uFillTx/>
                          <a:latin typeface="Consolas" panose="020B0609020204030204" pitchFamily="49" charset="0"/>
                          <a:ea typeface="+mn-ea"/>
                          <a:cs typeface="Consolas" panose="020B0609020204030204" pitchFamily="49" charset="0"/>
                        </a:rPr>
                        <a:t>T</a:t>
                      </a:r>
                      <a:r>
                        <a:rPr kumimoji="0" lang="fr-BE"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rPr>
                        <a:t> </a:t>
                      </a:r>
                      <a:r>
                        <a:rPr kumimoji="0" lang="fr-BE" sz="2000" b="1" u="none" strike="noStrike" kern="1200" cap="none" spc="0" normalizeH="0" baseline="0" dirty="0" err="1">
                          <a:ln>
                            <a:noFill/>
                          </a:ln>
                          <a:solidFill>
                            <a:schemeClr val="accent4"/>
                          </a:solidFill>
                          <a:effectLst/>
                          <a:uLnTx/>
                          <a:uFillTx/>
                          <a:latin typeface="Consolas" panose="020B0609020204030204" pitchFamily="49" charset="0"/>
                          <a:ea typeface="+mn-ea"/>
                          <a:cs typeface="Consolas" panose="020B0609020204030204" pitchFamily="49" charset="0"/>
                        </a:rPr>
                        <a:t>t</a:t>
                      </a:r>
                      <a:r>
                        <a:rPr kumimoji="0" lang="fr-BE"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rPr>
                        <a:t>)</a:t>
                      </a:r>
                      <a:endParaRPr kumimoji="0" lang="fr-FR"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endParaRPr>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noFill/>
                  </a:tcPr>
                </a:tc>
                <a:tc>
                  <a:txBody>
                    <a:bodyPr/>
                    <a:lstStyle/>
                    <a:p>
                      <a:r>
                        <a:rPr lang="fr-BE" sz="2000" b="1" dirty="0">
                          <a:solidFill>
                            <a:schemeClr val="tx1"/>
                          </a:solidFill>
                        </a:rPr>
                        <a:t>Fait un test sur le paramètre et retourne un  </a:t>
                      </a:r>
                      <a:r>
                        <a:rPr kumimoji="0" lang="fr-BE" sz="2000" b="1" u="none" strike="noStrike" kern="1200" cap="none" spc="0" normalizeH="0" baseline="0" dirty="0" err="1">
                          <a:ln>
                            <a:noFill/>
                          </a:ln>
                          <a:solidFill>
                            <a:schemeClr val="accent4"/>
                          </a:solidFill>
                          <a:effectLst/>
                          <a:uLnTx/>
                          <a:uFillTx/>
                          <a:latin typeface="Consolas" panose="020B0609020204030204" pitchFamily="49" charset="0"/>
                          <a:cs typeface="Consolas" panose="020B0609020204030204" pitchFamily="49" charset="0"/>
                        </a:rPr>
                        <a:t>boolean</a:t>
                      </a:r>
                      <a:r>
                        <a:rPr lang="fr-BE" sz="2000" b="1" dirty="0">
                          <a:solidFill>
                            <a:schemeClr val="tx1"/>
                          </a:solidFill>
                        </a:rPr>
                        <a:t>  en fonction du résultat</a:t>
                      </a:r>
                      <a:endParaRPr lang="fr-FR" sz="2000" b="1" i="0" dirty="0">
                        <a:solidFill>
                          <a:schemeClr val="tx1"/>
                        </a:solidFill>
                        <a:latin typeface="Calibri" panose="020F0502020204030204" pitchFamily="34" charset="0"/>
                        <a:cs typeface="Calibri" panose="020F0502020204030204" pitchFamily="34" charset="0"/>
                      </a:endParaRPr>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noFill/>
                  </a:tcPr>
                </a:tc>
                <a:extLst>
                  <a:ext uri="{0D108BD9-81ED-4DB2-BD59-A6C34878D82A}">
                    <a16:rowId xmlns:a16="http://schemas.microsoft.com/office/drawing/2014/main" val="1495817974"/>
                  </a:ext>
                </a:extLst>
              </a:tr>
              <a:tr h="370840">
                <a:tc>
                  <a:txBody>
                    <a:bodyPr/>
                    <a:lstStyle/>
                    <a:p>
                      <a:r>
                        <a:rPr kumimoji="0" lang="fr-BE"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rPr>
                        <a:t>Consumer&lt;</a:t>
                      </a:r>
                      <a:r>
                        <a:rPr kumimoji="0" lang="fr-BE" sz="2000" b="1" u="none" strike="noStrike" kern="1200" cap="none" spc="0" normalizeH="0" baseline="0" dirty="0" err="1">
                          <a:ln>
                            <a:noFill/>
                          </a:ln>
                          <a:solidFill>
                            <a:schemeClr val="accent4"/>
                          </a:solidFill>
                          <a:effectLst/>
                          <a:uLnTx/>
                          <a:uFillTx/>
                          <a:latin typeface="Consolas" panose="020B0609020204030204" pitchFamily="49" charset="0"/>
                          <a:ea typeface="+mn-ea"/>
                          <a:cs typeface="Consolas" panose="020B0609020204030204" pitchFamily="49" charset="0"/>
                        </a:rPr>
                        <a:t>T</a:t>
                      </a:r>
                      <a:r>
                        <a:rPr kumimoji="0" lang="fr-BE"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rPr>
                        <a:t>&gt;</a:t>
                      </a:r>
                      <a:endParaRPr kumimoji="0" lang="fr-FR"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endParaRPr>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noFill/>
                  </a:tcPr>
                </a:tc>
                <a:tc>
                  <a:txBody>
                    <a:bodyPr/>
                    <a:lstStyle/>
                    <a:p>
                      <a:pPr marL="0" algn="l" defTabSz="914400" rtl="0" eaLnBrk="1" latinLnBrk="0" hangingPunct="1"/>
                      <a:r>
                        <a:rPr kumimoji="0" lang="fr-BE" sz="2000" b="1" u="none" strike="noStrike" kern="1200" cap="none" spc="0" normalizeH="0" baseline="0" dirty="0" err="1">
                          <a:ln>
                            <a:noFill/>
                          </a:ln>
                          <a:solidFill>
                            <a:schemeClr val="accent4"/>
                          </a:solidFill>
                          <a:effectLst/>
                          <a:uLnTx/>
                          <a:uFillTx/>
                          <a:latin typeface="Consolas" panose="020B0609020204030204" pitchFamily="49" charset="0"/>
                          <a:ea typeface="+mn-ea"/>
                          <a:cs typeface="Consolas" panose="020B0609020204030204" pitchFamily="49" charset="0"/>
                        </a:rPr>
                        <a:t>void</a:t>
                      </a:r>
                      <a:r>
                        <a:rPr kumimoji="0" lang="fr-BE"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rPr>
                        <a:t> </a:t>
                      </a:r>
                      <a:r>
                        <a:rPr kumimoji="0" lang="fr-BE" sz="2000" b="1" u="none" strike="noStrike" kern="1200" cap="none" spc="0" normalizeH="0" baseline="0" dirty="0" err="1">
                          <a:ln>
                            <a:noFill/>
                          </a:ln>
                          <a:solidFill>
                            <a:schemeClr val="accent4"/>
                          </a:solidFill>
                          <a:effectLst/>
                          <a:uLnTx/>
                          <a:uFillTx/>
                          <a:latin typeface="Consolas" panose="020B0609020204030204" pitchFamily="49" charset="0"/>
                          <a:ea typeface="+mn-ea"/>
                          <a:cs typeface="Consolas" panose="020B0609020204030204" pitchFamily="49" charset="0"/>
                        </a:rPr>
                        <a:t>accept</a:t>
                      </a:r>
                      <a:r>
                        <a:rPr kumimoji="0" lang="fr-BE"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rPr>
                        <a:t>(</a:t>
                      </a:r>
                      <a:r>
                        <a:rPr kumimoji="0" lang="fr-BE" sz="2000" b="1" u="none" strike="noStrike" kern="1200" cap="none" spc="0" normalizeH="0" baseline="0" dirty="0" err="1">
                          <a:ln>
                            <a:noFill/>
                          </a:ln>
                          <a:solidFill>
                            <a:schemeClr val="accent4"/>
                          </a:solidFill>
                          <a:effectLst/>
                          <a:uLnTx/>
                          <a:uFillTx/>
                          <a:latin typeface="Consolas" panose="020B0609020204030204" pitchFamily="49" charset="0"/>
                          <a:ea typeface="+mn-ea"/>
                          <a:cs typeface="Consolas" panose="020B0609020204030204" pitchFamily="49" charset="0"/>
                        </a:rPr>
                        <a:t>T</a:t>
                      </a:r>
                      <a:r>
                        <a:rPr kumimoji="0" lang="fr-BE"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rPr>
                        <a:t> </a:t>
                      </a:r>
                      <a:r>
                        <a:rPr kumimoji="0" lang="fr-BE" sz="2000" b="1" u="none" strike="noStrike" kern="1200" cap="none" spc="0" normalizeH="0" baseline="0" dirty="0" err="1">
                          <a:ln>
                            <a:noFill/>
                          </a:ln>
                          <a:solidFill>
                            <a:schemeClr val="accent4"/>
                          </a:solidFill>
                          <a:effectLst/>
                          <a:uLnTx/>
                          <a:uFillTx/>
                          <a:latin typeface="Consolas" panose="020B0609020204030204" pitchFamily="49" charset="0"/>
                          <a:ea typeface="+mn-ea"/>
                          <a:cs typeface="Consolas" panose="020B0609020204030204" pitchFamily="49" charset="0"/>
                        </a:rPr>
                        <a:t>t</a:t>
                      </a:r>
                      <a:r>
                        <a:rPr kumimoji="0" lang="fr-BE"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rPr>
                        <a:t>)</a:t>
                      </a:r>
                      <a:endParaRPr kumimoji="0" lang="fr-FR"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endParaRPr>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noFill/>
                  </a:tcPr>
                </a:tc>
                <a:tc>
                  <a:txBody>
                    <a:bodyPr/>
                    <a:lstStyle/>
                    <a:p>
                      <a:r>
                        <a:rPr lang="fr-FR" sz="2000" b="1" dirty="0">
                          <a:solidFill>
                            <a:schemeClr val="tx1"/>
                          </a:solidFill>
                        </a:rPr>
                        <a:t>Applique un traitement aux paramètres qu’elle reçoit (et peut les modifier)</a:t>
                      </a:r>
                      <a:endParaRPr lang="fr-FR" sz="2000" b="1" i="0" dirty="0">
                        <a:solidFill>
                          <a:schemeClr val="tx1"/>
                        </a:solidFill>
                        <a:latin typeface="Calibri" panose="020F0502020204030204" pitchFamily="34" charset="0"/>
                        <a:cs typeface="Calibri" panose="020F0502020204030204" pitchFamily="34" charset="0"/>
                      </a:endParaRPr>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noFill/>
                  </a:tcPr>
                </a:tc>
                <a:extLst>
                  <a:ext uri="{0D108BD9-81ED-4DB2-BD59-A6C34878D82A}">
                    <a16:rowId xmlns:a16="http://schemas.microsoft.com/office/drawing/2014/main" val="383976928"/>
                  </a:ext>
                </a:extLst>
              </a:tr>
              <a:tr h="370840">
                <a:tc>
                  <a:txBody>
                    <a:bodyPr/>
                    <a:lstStyle/>
                    <a:p>
                      <a:r>
                        <a:rPr kumimoji="0" lang="fr-BE"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rPr>
                        <a:t>Supplier&lt;</a:t>
                      </a:r>
                      <a:r>
                        <a:rPr kumimoji="0" lang="fr-BE" sz="2000" b="1" u="none" strike="noStrike" kern="1200" cap="none" spc="0" normalizeH="0" baseline="0" dirty="0" err="1">
                          <a:ln>
                            <a:noFill/>
                          </a:ln>
                          <a:solidFill>
                            <a:schemeClr val="accent4"/>
                          </a:solidFill>
                          <a:effectLst/>
                          <a:uLnTx/>
                          <a:uFillTx/>
                          <a:latin typeface="Consolas" panose="020B0609020204030204" pitchFamily="49" charset="0"/>
                          <a:ea typeface="+mn-ea"/>
                          <a:cs typeface="Consolas" panose="020B0609020204030204" pitchFamily="49" charset="0"/>
                        </a:rPr>
                        <a:t>T</a:t>
                      </a:r>
                      <a:r>
                        <a:rPr kumimoji="0" lang="fr-BE"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rPr>
                        <a:t>&gt;</a:t>
                      </a:r>
                      <a:endParaRPr kumimoji="0" lang="fr-FR"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endParaRPr>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noFill/>
                  </a:tcPr>
                </a:tc>
                <a:tc>
                  <a:txBody>
                    <a:bodyPr/>
                    <a:lstStyle/>
                    <a:p>
                      <a:pPr marL="0" algn="l" defTabSz="914400" rtl="0" eaLnBrk="1" latinLnBrk="0" hangingPunct="1"/>
                      <a:r>
                        <a:rPr kumimoji="0" lang="fr-BE" sz="2000" b="1" u="none" strike="noStrike" kern="1200" cap="none" spc="0" normalizeH="0" baseline="0" dirty="0" err="1">
                          <a:ln>
                            <a:noFill/>
                          </a:ln>
                          <a:solidFill>
                            <a:schemeClr val="accent4"/>
                          </a:solidFill>
                          <a:effectLst/>
                          <a:uLnTx/>
                          <a:uFillTx/>
                          <a:latin typeface="Consolas" panose="020B0609020204030204" pitchFamily="49" charset="0"/>
                          <a:ea typeface="+mn-ea"/>
                          <a:cs typeface="Consolas" panose="020B0609020204030204" pitchFamily="49" charset="0"/>
                        </a:rPr>
                        <a:t>T</a:t>
                      </a:r>
                      <a:r>
                        <a:rPr kumimoji="0" lang="fr-BE"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rPr>
                        <a:t> </a:t>
                      </a:r>
                      <a:r>
                        <a:rPr kumimoji="0" lang="fr-BE" sz="2000" b="1" u="none" strike="noStrike" kern="1200" cap="none" spc="0" normalizeH="0" baseline="0" dirty="0" err="1">
                          <a:ln>
                            <a:noFill/>
                          </a:ln>
                          <a:solidFill>
                            <a:schemeClr val="accent4"/>
                          </a:solidFill>
                          <a:effectLst/>
                          <a:uLnTx/>
                          <a:uFillTx/>
                          <a:latin typeface="Consolas" panose="020B0609020204030204" pitchFamily="49" charset="0"/>
                          <a:ea typeface="+mn-ea"/>
                          <a:cs typeface="Consolas" panose="020B0609020204030204" pitchFamily="49" charset="0"/>
                        </a:rPr>
                        <a:t>get</a:t>
                      </a:r>
                      <a:r>
                        <a:rPr kumimoji="0" lang="fr-BE"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rPr>
                        <a:t>()</a:t>
                      </a:r>
                      <a:endParaRPr kumimoji="0" lang="fr-FR"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endParaRPr>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noFill/>
                  </a:tcPr>
                </a:tc>
                <a:tc>
                  <a:txBody>
                    <a:bodyPr/>
                    <a:lstStyle/>
                    <a:p>
                      <a:r>
                        <a:rPr lang="fr-FR" sz="2000" b="1" dirty="0">
                          <a:solidFill>
                            <a:schemeClr val="tx1"/>
                          </a:solidFill>
                        </a:rPr>
                        <a:t>Retourne un élément de type </a:t>
                      </a:r>
                      <a:r>
                        <a:rPr kumimoji="0" lang="fr-FR" sz="2000" b="1" u="none" strike="noStrike" kern="1200" cap="none" spc="0" normalizeH="0" baseline="0" dirty="0" err="1">
                          <a:ln>
                            <a:noFill/>
                          </a:ln>
                          <a:solidFill>
                            <a:schemeClr val="accent4"/>
                          </a:solidFill>
                          <a:effectLst/>
                          <a:uLnTx/>
                          <a:uFillTx/>
                          <a:latin typeface="Consolas" panose="020B0609020204030204" pitchFamily="49" charset="0"/>
                          <a:ea typeface="+mn-ea"/>
                          <a:cs typeface="Consolas" panose="020B0609020204030204" pitchFamily="49" charset="0"/>
                        </a:rPr>
                        <a:t>T</a:t>
                      </a:r>
                      <a:endParaRPr kumimoji="0" lang="fr-FR"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endParaRPr>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noFill/>
                  </a:tcPr>
                </a:tc>
                <a:extLst>
                  <a:ext uri="{0D108BD9-81ED-4DB2-BD59-A6C34878D82A}">
                    <a16:rowId xmlns:a16="http://schemas.microsoft.com/office/drawing/2014/main" val="2648820085"/>
                  </a:ext>
                </a:extLst>
              </a:tr>
              <a:tr h="370840">
                <a:tc>
                  <a:txBody>
                    <a:bodyPr/>
                    <a:lstStyle/>
                    <a:p>
                      <a:r>
                        <a:rPr kumimoji="0" lang="fr-BE" sz="2000" b="1" u="none" strike="noStrike" kern="1200" cap="none" spc="0" normalizeH="0" baseline="0" dirty="0" err="1">
                          <a:ln>
                            <a:noFill/>
                          </a:ln>
                          <a:solidFill>
                            <a:schemeClr val="accent4"/>
                          </a:solidFill>
                          <a:effectLst/>
                          <a:uLnTx/>
                          <a:uFillTx/>
                          <a:latin typeface="Consolas" panose="020B0609020204030204" pitchFamily="49" charset="0"/>
                          <a:ea typeface="+mn-ea"/>
                          <a:cs typeface="Consolas" panose="020B0609020204030204" pitchFamily="49" charset="0"/>
                        </a:rPr>
                        <a:t>BinaryOperation</a:t>
                      </a:r>
                      <a:r>
                        <a:rPr kumimoji="0" lang="fr-BE"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rPr>
                        <a:t>&lt;</a:t>
                      </a:r>
                      <a:r>
                        <a:rPr kumimoji="0" lang="fr-BE" sz="2000" b="1" u="none" strike="noStrike" kern="1200" cap="none" spc="0" normalizeH="0" baseline="0" dirty="0" err="1">
                          <a:ln>
                            <a:noFill/>
                          </a:ln>
                          <a:solidFill>
                            <a:schemeClr val="accent4"/>
                          </a:solidFill>
                          <a:effectLst/>
                          <a:uLnTx/>
                          <a:uFillTx/>
                          <a:latin typeface="Consolas" panose="020B0609020204030204" pitchFamily="49" charset="0"/>
                          <a:ea typeface="+mn-ea"/>
                          <a:cs typeface="Consolas" panose="020B0609020204030204" pitchFamily="49" charset="0"/>
                        </a:rPr>
                        <a:t>T</a:t>
                      </a:r>
                      <a:r>
                        <a:rPr kumimoji="0" lang="fr-BE"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rPr>
                        <a:t>&gt;</a:t>
                      </a:r>
                      <a:endParaRPr kumimoji="0" lang="fr-FR"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endParaRPr>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noFill/>
                  </a:tcPr>
                </a:tc>
                <a:tc>
                  <a:txBody>
                    <a:bodyPr/>
                    <a:lstStyle/>
                    <a:p>
                      <a:pPr marL="0" algn="l" defTabSz="914400" rtl="0" eaLnBrk="1" latinLnBrk="0" hangingPunct="1"/>
                      <a:r>
                        <a:rPr kumimoji="0" lang="fr-BE" sz="2000" b="1" u="none" strike="noStrike" kern="1200" cap="none" spc="0" normalizeH="0" baseline="0" dirty="0" err="1">
                          <a:ln>
                            <a:noFill/>
                          </a:ln>
                          <a:solidFill>
                            <a:schemeClr val="accent4"/>
                          </a:solidFill>
                          <a:effectLst/>
                          <a:uLnTx/>
                          <a:uFillTx/>
                          <a:latin typeface="Consolas" panose="020B0609020204030204" pitchFamily="49" charset="0"/>
                          <a:ea typeface="+mn-ea"/>
                          <a:cs typeface="Consolas" panose="020B0609020204030204" pitchFamily="49" charset="0"/>
                        </a:rPr>
                        <a:t>T</a:t>
                      </a:r>
                      <a:r>
                        <a:rPr kumimoji="0" lang="fr-BE"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rPr>
                        <a:t> </a:t>
                      </a:r>
                      <a:r>
                        <a:rPr kumimoji="0" lang="fr-BE" sz="2000" b="1" u="none" strike="noStrike" kern="1200" cap="none" spc="0" normalizeH="0" baseline="0" dirty="0" err="1">
                          <a:ln>
                            <a:noFill/>
                          </a:ln>
                          <a:solidFill>
                            <a:schemeClr val="accent4"/>
                          </a:solidFill>
                          <a:effectLst/>
                          <a:uLnTx/>
                          <a:uFillTx/>
                          <a:latin typeface="Consolas" panose="020B0609020204030204" pitchFamily="49" charset="0"/>
                          <a:ea typeface="+mn-ea"/>
                          <a:cs typeface="Consolas" panose="020B0609020204030204" pitchFamily="49" charset="0"/>
                        </a:rPr>
                        <a:t>apply</a:t>
                      </a:r>
                      <a:r>
                        <a:rPr kumimoji="0" lang="fr-BE"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rPr>
                        <a:t>(</a:t>
                      </a:r>
                      <a:r>
                        <a:rPr kumimoji="0" lang="fr-BE" sz="2000" b="1" u="none" strike="noStrike" kern="1200" cap="none" spc="0" normalizeH="0" baseline="0" dirty="0" err="1">
                          <a:ln>
                            <a:noFill/>
                          </a:ln>
                          <a:solidFill>
                            <a:schemeClr val="accent4"/>
                          </a:solidFill>
                          <a:effectLst/>
                          <a:uLnTx/>
                          <a:uFillTx/>
                          <a:latin typeface="Consolas" panose="020B0609020204030204" pitchFamily="49" charset="0"/>
                          <a:ea typeface="+mn-ea"/>
                          <a:cs typeface="Consolas" panose="020B0609020204030204" pitchFamily="49" charset="0"/>
                        </a:rPr>
                        <a:t>T</a:t>
                      </a:r>
                      <a:r>
                        <a:rPr kumimoji="0" lang="fr-BE"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rPr>
                        <a:t> t1, </a:t>
                      </a:r>
                      <a:r>
                        <a:rPr kumimoji="0" lang="fr-BE" sz="2000" b="1" u="none" strike="noStrike" kern="1200" cap="none" spc="0" normalizeH="0" baseline="0" dirty="0" err="1">
                          <a:ln>
                            <a:noFill/>
                          </a:ln>
                          <a:solidFill>
                            <a:schemeClr val="accent4"/>
                          </a:solidFill>
                          <a:effectLst/>
                          <a:uLnTx/>
                          <a:uFillTx/>
                          <a:latin typeface="Consolas" panose="020B0609020204030204" pitchFamily="49" charset="0"/>
                          <a:ea typeface="+mn-ea"/>
                          <a:cs typeface="Consolas" panose="020B0609020204030204" pitchFamily="49" charset="0"/>
                        </a:rPr>
                        <a:t>T</a:t>
                      </a:r>
                      <a:r>
                        <a:rPr kumimoji="0" lang="fr-BE"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rPr>
                        <a:t> t2)</a:t>
                      </a:r>
                      <a:endParaRPr kumimoji="0" lang="fr-FR" sz="2000" b="1" u="none" strike="noStrike" kern="1200" cap="none" spc="0" normalizeH="0" baseline="0" dirty="0">
                        <a:ln>
                          <a:noFill/>
                        </a:ln>
                        <a:solidFill>
                          <a:schemeClr val="accent4"/>
                        </a:solidFill>
                        <a:effectLst/>
                        <a:uLnTx/>
                        <a:uFillTx/>
                        <a:latin typeface="Consolas" panose="020B0609020204030204" pitchFamily="49" charset="0"/>
                        <a:ea typeface="+mn-ea"/>
                        <a:cs typeface="Consolas" panose="020B0609020204030204" pitchFamily="49" charset="0"/>
                      </a:endParaRPr>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noFill/>
                  </a:tcPr>
                </a:tc>
                <a:tc>
                  <a:txBody>
                    <a:bodyPr/>
                    <a:lstStyle/>
                    <a:p>
                      <a:r>
                        <a:rPr lang="fr-FR" sz="2000" b="1" dirty="0">
                          <a:solidFill>
                            <a:schemeClr val="tx1"/>
                          </a:solidFill>
                        </a:rPr>
                        <a:t>Applique une opération entre deux paramètres</a:t>
                      </a:r>
                      <a:endParaRPr lang="fr-FR" sz="2000" b="1" i="0" dirty="0">
                        <a:solidFill>
                          <a:schemeClr val="tx1"/>
                        </a:solidFill>
                        <a:latin typeface="Calibri" panose="020F0502020204030204" pitchFamily="34" charset="0"/>
                        <a:cs typeface="Calibri" panose="020F0502020204030204" pitchFamily="34" charset="0"/>
                      </a:endParaRPr>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noFill/>
                  </a:tcPr>
                </a:tc>
                <a:extLst>
                  <a:ext uri="{0D108BD9-81ED-4DB2-BD59-A6C34878D82A}">
                    <a16:rowId xmlns:a16="http://schemas.microsoft.com/office/drawing/2014/main" val="131824652"/>
                  </a:ext>
                </a:extLst>
              </a:tr>
            </a:tbl>
          </a:graphicData>
        </a:graphic>
      </p:graphicFrame>
      <p:sp>
        <p:nvSpPr>
          <p:cNvPr id="11" name="Rectangle : coins arrondis 10">
            <a:extLst>
              <a:ext uri="{FF2B5EF4-FFF2-40B4-BE49-F238E27FC236}">
                <a16:creationId xmlns:a16="http://schemas.microsoft.com/office/drawing/2014/main" id="{7389B37B-BB62-584A-898E-4370679F248B}"/>
              </a:ext>
            </a:extLst>
          </p:cNvPr>
          <p:cNvSpPr/>
          <p:nvPr/>
        </p:nvSpPr>
        <p:spPr>
          <a:xfrm>
            <a:off x="4275859" y="5496240"/>
            <a:ext cx="6904839" cy="442674"/>
          </a:xfrm>
          <a:prstGeom prst="roundRect">
            <a:avLst/>
          </a:prstGeom>
          <a:solidFill>
            <a:schemeClr val="accent6"/>
          </a:solidFill>
          <a:ln>
            <a:solidFill>
              <a:schemeClr val="accent4"/>
            </a:solidFill>
          </a:ln>
        </p:spPr>
        <p:txBody>
          <a:bodyPr wrap="none">
            <a:spAutoFit/>
          </a:bodyPr>
          <a:lstStyle/>
          <a:p>
            <a:r>
              <a:rPr lang="fr-BE" sz="2000" dirty="0">
                <a:latin typeface="Calibri" panose="020F0502020204030204" pitchFamily="34" charset="0"/>
                <a:cs typeface="Calibri" panose="020F0502020204030204" pitchFamily="34" charset="0"/>
              </a:rPr>
              <a:t>Toutes ces interfaces sont dans le package </a:t>
            </a:r>
            <a:r>
              <a:rPr lang="fr-BE" b="1" dirty="0" err="1">
                <a:solidFill>
                  <a:schemeClr val="accent4"/>
                </a:solidFill>
                <a:latin typeface="Consolas" panose="020B0609020204030204" pitchFamily="49" charset="0"/>
                <a:cs typeface="Consolas" panose="020B0609020204030204" pitchFamily="49" charset="0"/>
              </a:rPr>
              <a:t>java.util.function</a:t>
            </a:r>
            <a:endParaRPr lang="fr-FR" dirty="0">
              <a:solidFill>
                <a:schemeClr val="accent4"/>
              </a:solidFill>
            </a:endParaRPr>
          </a:p>
        </p:txBody>
      </p:sp>
      <p:sp>
        <p:nvSpPr>
          <p:cNvPr id="5" name="Espace réservé du numéro de diapositive 4">
            <a:extLst>
              <a:ext uri="{FF2B5EF4-FFF2-40B4-BE49-F238E27FC236}">
                <a16:creationId xmlns:a16="http://schemas.microsoft.com/office/drawing/2014/main" id="{A0E1A57A-81E3-C48C-CC67-DD5FC804A148}"/>
              </a:ext>
            </a:extLst>
          </p:cNvPr>
          <p:cNvSpPr>
            <a:spLocks noGrp="1"/>
          </p:cNvSpPr>
          <p:nvPr>
            <p:ph type="sldNum" sz="quarter" idx="4"/>
          </p:nvPr>
        </p:nvSpPr>
        <p:spPr/>
        <p:txBody>
          <a:bodyPr/>
          <a:lstStyle/>
          <a:p>
            <a:fld id="{33C783E2-4793-4F48-A271-51A73CC37D74}" type="slidenum">
              <a:rPr lang="fr-FR" smtClean="0"/>
              <a:t>77</a:t>
            </a:fld>
            <a:endParaRPr lang="fr-FR"/>
          </a:p>
        </p:txBody>
      </p:sp>
    </p:spTree>
    <p:extLst>
      <p:ext uri="{BB962C8B-B14F-4D97-AF65-F5344CB8AC3E}">
        <p14:creationId xmlns:p14="http://schemas.microsoft.com/office/powerpoint/2010/main" val="211228585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Expressions Lambda</a:t>
            </a:r>
          </a:p>
        </p:txBody>
      </p:sp>
      <p:sp>
        <p:nvSpPr>
          <p:cNvPr id="3" name="Espace réservé du contenu 2"/>
          <p:cNvSpPr>
            <a:spLocks noGrp="1"/>
          </p:cNvSpPr>
          <p:nvPr>
            <p:ph idx="1"/>
          </p:nvPr>
        </p:nvSpPr>
        <p:spPr/>
        <p:txBody>
          <a:bodyPr>
            <a:noAutofit/>
          </a:bodyPr>
          <a:lstStyle/>
          <a:p>
            <a:pPr marL="342900" indent="-342900">
              <a:lnSpc>
                <a:spcPct val="80000"/>
              </a:lnSpc>
              <a:buFont typeface="Arial"/>
              <a:buChar char="•"/>
            </a:pPr>
            <a:r>
              <a:rPr lang="fr-FR" dirty="0"/>
              <a:t>Un exemple pratique</a:t>
            </a:r>
          </a:p>
          <a:p>
            <a:pPr marL="342900" indent="-342900">
              <a:lnSpc>
                <a:spcPct val="80000"/>
              </a:lnSpc>
              <a:buFont typeface="Arial"/>
              <a:buChar char="•"/>
            </a:pPr>
            <a:r>
              <a:rPr lang="fr-FR" dirty="0"/>
              <a:t>Les expressions Lambda</a:t>
            </a:r>
          </a:p>
          <a:p>
            <a:pPr marL="342900" indent="-342900">
              <a:lnSpc>
                <a:spcPct val="80000"/>
              </a:lnSpc>
              <a:buFont typeface="Arial"/>
              <a:buChar char="•"/>
            </a:pPr>
            <a:r>
              <a:rPr lang="fr-FR" dirty="0"/>
              <a:t>La notion d’interface fonctionnelle</a:t>
            </a:r>
          </a:p>
          <a:p>
            <a:pPr marL="342900" indent="-342900">
              <a:lnSpc>
                <a:spcPct val="80000"/>
              </a:lnSpc>
              <a:buFont typeface="Arial"/>
              <a:buChar char="•"/>
            </a:pPr>
            <a:r>
              <a:rPr lang="fr-FR" dirty="0">
                <a:solidFill>
                  <a:schemeClr val="accent4"/>
                </a:solidFill>
              </a:rPr>
              <a:t>Quelques exemples pratiques</a:t>
            </a:r>
          </a:p>
          <a:p>
            <a:pPr marL="342900" indent="-342900">
              <a:lnSpc>
                <a:spcPct val="80000"/>
              </a:lnSpc>
              <a:buFont typeface="Arial"/>
              <a:buChar char="•"/>
            </a:pPr>
            <a:r>
              <a:rPr lang="fr-FR" dirty="0"/>
              <a:t>Référence de Méthode</a:t>
            </a:r>
          </a:p>
          <a:p>
            <a:pPr marL="342900" indent="-342900">
              <a:lnSpc>
                <a:spcPct val="80000"/>
              </a:lnSpc>
              <a:buFont typeface="Arial"/>
              <a:buChar char="•"/>
            </a:pPr>
            <a:endParaRPr lang="fr-FR" dirty="0"/>
          </a:p>
          <a:p>
            <a:pPr marL="342900" indent="-342900">
              <a:lnSpc>
                <a:spcPct val="80000"/>
              </a:lnSpc>
              <a:buFont typeface="Arial"/>
              <a:buChar char="•"/>
            </a:pPr>
            <a:endParaRPr lang="fr-FR" dirty="0"/>
          </a:p>
          <a:p>
            <a:pPr marL="342900" indent="-342900">
              <a:lnSpc>
                <a:spcPct val="80000"/>
              </a:lnSpc>
              <a:buFont typeface="Arial"/>
              <a:buChar char="•"/>
            </a:pPr>
            <a:endParaRPr lang="fr-FR" dirty="0"/>
          </a:p>
          <a:p>
            <a:pPr marL="342900" indent="-342900">
              <a:lnSpc>
                <a:spcPct val="80000"/>
              </a:lnSpc>
              <a:buFont typeface="Arial"/>
              <a:buChar char="•"/>
            </a:pPr>
            <a:endParaRPr lang="fr-FR" dirty="0"/>
          </a:p>
        </p:txBody>
      </p:sp>
      <p:grpSp>
        <p:nvGrpSpPr>
          <p:cNvPr id="8" name="Groupe 7">
            <a:extLst>
              <a:ext uri="{FF2B5EF4-FFF2-40B4-BE49-F238E27FC236}">
                <a16:creationId xmlns:a16="http://schemas.microsoft.com/office/drawing/2014/main" id="{ACCA99A5-B332-B909-6733-15C39193A78F}"/>
              </a:ext>
            </a:extLst>
          </p:cNvPr>
          <p:cNvGrpSpPr/>
          <p:nvPr/>
        </p:nvGrpSpPr>
        <p:grpSpPr>
          <a:xfrm>
            <a:off x="10470995" y="162401"/>
            <a:ext cx="1404760" cy="1400033"/>
            <a:chOff x="10326324" y="687756"/>
            <a:chExt cx="1393314" cy="1393314"/>
          </a:xfrm>
        </p:grpSpPr>
        <p:sp>
          <p:nvSpPr>
            <p:cNvPr id="5" name="Larme 4">
              <a:extLst>
                <a:ext uri="{FF2B5EF4-FFF2-40B4-BE49-F238E27FC236}">
                  <a16:creationId xmlns:a16="http://schemas.microsoft.com/office/drawing/2014/main" id="{6D659AA5-DE48-3A94-0973-5630499C0B8F}"/>
                </a:ext>
              </a:extLst>
            </p:cNvPr>
            <p:cNvSpPr/>
            <p:nvPr/>
          </p:nvSpPr>
          <p:spPr>
            <a:xfrm rot="8100000">
              <a:off x="10326324" y="687756"/>
              <a:ext cx="1393314" cy="1393314"/>
            </a:xfrm>
            <a:prstGeom prst="teardrop">
              <a:avLst>
                <a:gd name="adj" fmla="val 13287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 name="ZoneTexte 6">
              <a:extLst>
                <a:ext uri="{FF2B5EF4-FFF2-40B4-BE49-F238E27FC236}">
                  <a16:creationId xmlns:a16="http://schemas.microsoft.com/office/drawing/2014/main" id="{4FF3D4ED-5448-D9C2-964C-3C9EFB6B14C0}"/>
                </a:ext>
              </a:extLst>
            </p:cNvPr>
            <p:cNvSpPr txBox="1"/>
            <p:nvPr/>
          </p:nvSpPr>
          <p:spPr>
            <a:xfrm>
              <a:off x="10372029" y="1092958"/>
              <a:ext cx="1301905" cy="702249"/>
            </a:xfrm>
            <a:prstGeom prst="rect">
              <a:avLst/>
            </a:prstGeom>
            <a:noFill/>
          </p:spPr>
          <p:txBody>
            <a:bodyPr wrap="square">
              <a:spAutoFit/>
            </a:bodyPr>
            <a:lstStyle/>
            <a:p>
              <a:pPr algn="ctr"/>
              <a:r>
                <a:rPr lang="fr-FR" sz="2000" b="1" dirty="0"/>
                <a:t>Vous êtes ici</a:t>
              </a:r>
            </a:p>
          </p:txBody>
        </p:sp>
      </p:grpSp>
      <p:sp>
        <p:nvSpPr>
          <p:cNvPr id="6" name="Espace réservé du numéro de diapositive 5">
            <a:extLst>
              <a:ext uri="{FF2B5EF4-FFF2-40B4-BE49-F238E27FC236}">
                <a16:creationId xmlns:a16="http://schemas.microsoft.com/office/drawing/2014/main" id="{99BECB08-0C49-89A4-6F81-947D3F91A178}"/>
              </a:ext>
            </a:extLst>
          </p:cNvPr>
          <p:cNvSpPr>
            <a:spLocks noGrp="1"/>
          </p:cNvSpPr>
          <p:nvPr>
            <p:ph type="sldNum" sz="quarter" idx="4"/>
          </p:nvPr>
        </p:nvSpPr>
        <p:spPr/>
        <p:txBody>
          <a:bodyPr/>
          <a:lstStyle/>
          <a:p>
            <a:fld id="{33C783E2-4793-4F48-A271-51A73CC37D74}" type="slidenum">
              <a:rPr lang="fr-FR" smtClean="0"/>
              <a:t>78</a:t>
            </a:fld>
            <a:endParaRPr lang="fr-FR"/>
          </a:p>
        </p:txBody>
      </p:sp>
    </p:spTree>
    <p:extLst>
      <p:ext uri="{BB962C8B-B14F-4D97-AF65-F5344CB8AC3E}">
        <p14:creationId xmlns:p14="http://schemas.microsoft.com/office/powerpoint/2010/main" val="1764269660"/>
      </p:ext>
    </p:extLst>
  </p:cSld>
  <p:clrMapOvr>
    <a:masterClrMapping/>
  </p:clrMapOvr>
  <p:transition>
    <p:push dir="u"/>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p:cNvPicPr>
            <a:picLocks noChangeAspect="1"/>
          </p:cNvPicPr>
          <p:nvPr/>
        </p:nvPicPr>
        <p:blipFill rotWithShape="1">
          <a:blip r:embed="rId2">
            <a:extLst>
              <a:ext uri="{BEBA8EAE-BF5A-486C-A8C5-ECC9F3942E4B}">
                <a14:imgProps xmlns:a14="http://schemas.microsoft.com/office/drawing/2010/main">
                  <a14:imgLayer r:embed="rId3">
                    <a14:imgEffect>
                      <a14:backgroundRemoval t="2913" b="89968" l="19346" r="80109">
                        <a14:foregroundMark x1="68392" y1="26537" x2="70027" y2="28479"/>
                        <a14:foregroundMark x1="77657" y1="45307" x2="77384" y2="43366"/>
                        <a14:foregroundMark x1="49046" y1="4854" x2="50954" y2="3236"/>
                        <a14:foregroundMark x1="78474" y1="40453" x2="80109" y2="42718"/>
                        <a14:foregroundMark x1="24796" y1="44337" x2="23161" y2="49515"/>
                        <a14:foregroundMark x1="19346" y1="49515" x2="20708" y2="44337"/>
                        <a14:foregroundMark x1="30245" y1="60194" x2="30245" y2="55663"/>
                        <a14:backgroundMark x1="31335" y1="77023" x2="53951" y2="77346"/>
                        <a14:backgroundMark x1="53951" y1="77346" x2="31608" y2="72816"/>
                        <a14:backgroundMark x1="31608" y1="72816" x2="51226" y2="90939"/>
                        <a14:backgroundMark x1="51226" y1="90939" x2="56676" y2="76052"/>
                        <a14:backgroundMark x1="41144" y1="70550" x2="41689" y2="77346"/>
                      </a14:backgroundRemoval>
                    </a14:imgEffect>
                  </a14:imgLayer>
                </a14:imgProps>
              </a:ext>
            </a:extLst>
          </a:blip>
          <a:srcRect l="16618" r="15601"/>
          <a:stretch/>
        </p:blipFill>
        <p:spPr>
          <a:xfrm>
            <a:off x="10293872" y="143800"/>
            <a:ext cx="1423466" cy="1768216"/>
          </a:xfrm>
          <a:prstGeom prst="rect">
            <a:avLst/>
          </a:prstGeom>
        </p:spPr>
      </p:pic>
      <p:sp>
        <p:nvSpPr>
          <p:cNvPr id="2" name="Titre 1"/>
          <p:cNvSpPr>
            <a:spLocks noGrp="1"/>
          </p:cNvSpPr>
          <p:nvPr>
            <p:ph type="title"/>
          </p:nvPr>
        </p:nvSpPr>
        <p:spPr/>
        <p:txBody>
          <a:bodyPr>
            <a:normAutofit/>
          </a:bodyPr>
          <a:lstStyle/>
          <a:p>
            <a:r>
              <a:rPr lang="fr-FR" dirty="0"/>
              <a:t>Premier exemple pratique</a:t>
            </a:r>
          </a:p>
        </p:txBody>
      </p:sp>
      <p:sp>
        <p:nvSpPr>
          <p:cNvPr id="3" name="Espace réservé du contenu 2"/>
          <p:cNvSpPr>
            <a:spLocks noGrp="1"/>
          </p:cNvSpPr>
          <p:nvPr>
            <p:ph idx="1"/>
          </p:nvPr>
        </p:nvSpPr>
        <p:spPr/>
        <p:txBody>
          <a:bodyPr>
            <a:normAutofit fontScale="85000" lnSpcReduction="20000"/>
          </a:bodyPr>
          <a:lstStyle/>
          <a:p>
            <a:pPr marL="0" indent="0">
              <a:lnSpc>
                <a:spcPct val="120000"/>
              </a:lnSpc>
              <a:buNone/>
            </a:pPr>
            <a:r>
              <a:rPr lang="fr-FR" dirty="0"/>
              <a:t>Dans la classe </a:t>
            </a:r>
            <a:r>
              <a:rPr lang="fr-FR" sz="2600" dirty="0" err="1">
                <a:solidFill>
                  <a:schemeClr val="accent4"/>
                </a:solidFill>
                <a:latin typeface="Consolas"/>
                <a:cs typeface="Consolas"/>
              </a:rPr>
              <a:t>java.util.Collections</a:t>
            </a:r>
            <a:r>
              <a:rPr lang="fr-FR" dirty="0"/>
              <a:t>, un ensemble de méthodes statiques sont définies, qui permettent d'effectuer des traitements 'standards' sur les collections (</a:t>
            </a:r>
            <a:r>
              <a:rPr lang="fr-FR" sz="2600" dirty="0">
                <a:solidFill>
                  <a:schemeClr val="accent4"/>
                </a:solidFill>
                <a:latin typeface="Consolas"/>
                <a:cs typeface="Consolas"/>
              </a:rPr>
              <a:t>List</a:t>
            </a:r>
            <a:r>
              <a:rPr lang="fr-FR" dirty="0"/>
              <a:t>, </a:t>
            </a:r>
            <a:r>
              <a:rPr lang="fr-FR" sz="2600" dirty="0">
                <a:solidFill>
                  <a:schemeClr val="accent4"/>
                </a:solidFill>
                <a:latin typeface="Consolas"/>
                <a:cs typeface="Consolas"/>
              </a:rPr>
              <a:t>Set</a:t>
            </a:r>
            <a:r>
              <a:rPr lang="fr-FR" dirty="0"/>
              <a:t>, </a:t>
            </a:r>
            <a:r>
              <a:rPr lang="fr-FR" sz="2600" dirty="0" err="1">
                <a:solidFill>
                  <a:schemeClr val="accent4"/>
                </a:solidFill>
                <a:latin typeface="Consolas"/>
                <a:cs typeface="Consolas"/>
              </a:rPr>
              <a:t>Map</a:t>
            </a:r>
            <a:r>
              <a:rPr lang="fr-FR" dirty="0"/>
              <a:t>).</a:t>
            </a:r>
          </a:p>
          <a:p>
            <a:pPr marL="0" indent="0">
              <a:lnSpc>
                <a:spcPct val="120000"/>
              </a:lnSpc>
              <a:buNone/>
            </a:pPr>
            <a:endParaRPr lang="fr-FR" dirty="0"/>
          </a:p>
          <a:p>
            <a:pPr marL="0" indent="0">
              <a:lnSpc>
                <a:spcPct val="120000"/>
              </a:lnSpc>
              <a:buNone/>
            </a:pPr>
            <a:r>
              <a:rPr lang="fr-FR" dirty="0"/>
              <a:t>Parmi ces méthodes, la méthode </a:t>
            </a:r>
            <a:r>
              <a:rPr lang="fr-FR" sz="2600" dirty="0">
                <a:solidFill>
                  <a:schemeClr val="accent4"/>
                </a:solidFill>
                <a:latin typeface="Consolas"/>
                <a:cs typeface="Consolas"/>
              </a:rPr>
              <a:t>sort</a:t>
            </a:r>
            <a:r>
              <a:rPr lang="fr-FR" dirty="0"/>
              <a:t>:</a:t>
            </a:r>
            <a:br>
              <a:rPr lang="fr-FR" dirty="0"/>
            </a:br>
            <a:r>
              <a:rPr lang="fr-FR" dirty="0"/>
              <a:t>    </a:t>
            </a:r>
            <a:r>
              <a:rPr lang="fr-FR" sz="2600" dirty="0">
                <a:solidFill>
                  <a:schemeClr val="accent4"/>
                </a:solidFill>
                <a:latin typeface="Consolas"/>
                <a:cs typeface="Consolas"/>
              </a:rPr>
              <a:t>&lt;</a:t>
            </a:r>
            <a:r>
              <a:rPr lang="fr-FR" sz="2600" dirty="0" err="1">
                <a:solidFill>
                  <a:schemeClr val="accent4"/>
                </a:solidFill>
                <a:latin typeface="Consolas"/>
                <a:cs typeface="Consolas"/>
              </a:rPr>
              <a:t>T</a:t>
            </a:r>
            <a:r>
              <a:rPr lang="fr-FR" sz="2600" dirty="0">
                <a:solidFill>
                  <a:schemeClr val="accent4"/>
                </a:solidFill>
                <a:latin typeface="Consolas"/>
                <a:cs typeface="Consolas"/>
              </a:rPr>
              <a:t>&gt; sort (List &lt;</a:t>
            </a:r>
            <a:r>
              <a:rPr lang="fr-FR" sz="2600" dirty="0" err="1">
                <a:solidFill>
                  <a:schemeClr val="accent4"/>
                </a:solidFill>
                <a:latin typeface="Consolas"/>
                <a:cs typeface="Consolas"/>
              </a:rPr>
              <a:t>T</a:t>
            </a:r>
            <a:r>
              <a:rPr lang="fr-FR" sz="2600" dirty="0">
                <a:solidFill>
                  <a:schemeClr val="accent4"/>
                </a:solidFill>
                <a:latin typeface="Consolas"/>
                <a:cs typeface="Consolas"/>
              </a:rPr>
              <a:t>&gt;, </a:t>
            </a:r>
            <a:r>
              <a:rPr lang="fr-FR" sz="2600" dirty="0" err="1">
                <a:solidFill>
                  <a:schemeClr val="accent4"/>
                </a:solidFill>
                <a:latin typeface="Consolas"/>
                <a:cs typeface="Consolas"/>
              </a:rPr>
              <a:t>Comparator</a:t>
            </a:r>
            <a:r>
              <a:rPr lang="fr-FR" sz="2600" dirty="0">
                <a:solidFill>
                  <a:schemeClr val="accent4"/>
                </a:solidFill>
                <a:latin typeface="Consolas"/>
                <a:cs typeface="Consolas"/>
              </a:rPr>
              <a:t> &lt;? super </a:t>
            </a:r>
            <a:r>
              <a:rPr lang="fr-FR" sz="2600" dirty="0" err="1">
                <a:solidFill>
                  <a:schemeClr val="accent4"/>
                </a:solidFill>
                <a:latin typeface="Consolas"/>
                <a:cs typeface="Consolas"/>
              </a:rPr>
              <a:t>T</a:t>
            </a:r>
            <a:r>
              <a:rPr lang="fr-FR" sz="2600" dirty="0">
                <a:solidFill>
                  <a:schemeClr val="accent4"/>
                </a:solidFill>
                <a:latin typeface="Consolas"/>
                <a:cs typeface="Consolas"/>
              </a:rPr>
              <a:t>&gt; c)</a:t>
            </a:r>
            <a:br>
              <a:rPr lang="fr-FR" sz="2600" dirty="0">
                <a:solidFill>
                  <a:schemeClr val="accent4"/>
                </a:solidFill>
                <a:latin typeface="Consolas"/>
                <a:cs typeface="Consolas"/>
              </a:rPr>
            </a:br>
            <a:r>
              <a:rPr lang="fr-FR" dirty="0"/>
              <a:t>qui permet de trier la </a:t>
            </a:r>
            <a:r>
              <a:rPr lang="fr-FR" sz="2600" dirty="0">
                <a:solidFill>
                  <a:schemeClr val="accent4"/>
                </a:solidFill>
                <a:latin typeface="Consolas"/>
                <a:cs typeface="Consolas"/>
              </a:rPr>
              <a:t>List</a:t>
            </a:r>
            <a:r>
              <a:rPr lang="fr-FR" dirty="0"/>
              <a:t> à l'aide du </a:t>
            </a:r>
            <a:r>
              <a:rPr lang="fr-FR" sz="2600" dirty="0" err="1">
                <a:solidFill>
                  <a:schemeClr val="accent4"/>
                </a:solidFill>
                <a:latin typeface="Consolas"/>
                <a:cs typeface="Consolas"/>
              </a:rPr>
              <a:t>Comparator</a:t>
            </a:r>
            <a:endParaRPr lang="fr-FR" sz="2600" dirty="0">
              <a:solidFill>
                <a:schemeClr val="accent4"/>
              </a:solidFill>
              <a:latin typeface="Consolas"/>
              <a:cs typeface="Consolas"/>
            </a:endParaRPr>
          </a:p>
          <a:p>
            <a:pPr marL="0" indent="0">
              <a:lnSpc>
                <a:spcPct val="120000"/>
              </a:lnSpc>
              <a:buNone/>
            </a:pPr>
            <a:endParaRPr lang="fr-FR" dirty="0">
              <a:solidFill>
                <a:schemeClr val="accent2"/>
              </a:solidFill>
              <a:latin typeface="Consolas"/>
              <a:cs typeface="Consolas"/>
            </a:endParaRPr>
          </a:p>
          <a:p>
            <a:pPr marL="0" indent="0">
              <a:lnSpc>
                <a:spcPct val="120000"/>
              </a:lnSpc>
              <a:buNone/>
            </a:pPr>
            <a:r>
              <a:rPr lang="fr-FR" sz="2600" dirty="0" err="1">
                <a:solidFill>
                  <a:schemeClr val="accent4"/>
                </a:solidFill>
                <a:latin typeface="Consolas"/>
                <a:cs typeface="Consolas"/>
              </a:rPr>
              <a:t>Comparator</a:t>
            </a:r>
            <a:r>
              <a:rPr lang="fr-FR" sz="2600" dirty="0">
                <a:solidFill>
                  <a:schemeClr val="accent4"/>
                </a:solidFill>
                <a:latin typeface="Consolas"/>
                <a:cs typeface="Consolas"/>
              </a:rPr>
              <a:t>&lt;</a:t>
            </a:r>
            <a:r>
              <a:rPr lang="fr-FR" sz="2600" dirty="0" err="1">
                <a:solidFill>
                  <a:schemeClr val="accent4"/>
                </a:solidFill>
                <a:latin typeface="Consolas"/>
                <a:cs typeface="Consolas"/>
              </a:rPr>
              <a:t>T</a:t>
            </a:r>
            <a:r>
              <a:rPr lang="fr-FR" sz="2600" dirty="0">
                <a:solidFill>
                  <a:schemeClr val="accent4"/>
                </a:solidFill>
                <a:latin typeface="Consolas"/>
                <a:cs typeface="Consolas"/>
              </a:rPr>
              <a:t>&gt;</a:t>
            </a:r>
            <a:r>
              <a:rPr lang="fr-FR" dirty="0"/>
              <a:t> est une interface fonctionnelle qui présente la méthode </a:t>
            </a:r>
            <a:r>
              <a:rPr lang="fr-FR" sz="2600" dirty="0">
                <a:solidFill>
                  <a:schemeClr val="accent4"/>
                </a:solidFill>
                <a:latin typeface="Consolas"/>
                <a:cs typeface="Consolas"/>
              </a:rPr>
              <a:t>compare</a:t>
            </a:r>
            <a:r>
              <a:rPr lang="fr-FR" dirty="0"/>
              <a:t>:</a:t>
            </a:r>
            <a:br>
              <a:rPr lang="fr-FR" dirty="0"/>
            </a:br>
            <a:r>
              <a:rPr lang="fr-FR" dirty="0">
                <a:solidFill>
                  <a:schemeClr val="accent2"/>
                </a:solidFill>
                <a:latin typeface="Consolas"/>
                <a:cs typeface="Consolas"/>
              </a:rPr>
              <a:t>  </a:t>
            </a:r>
            <a:r>
              <a:rPr lang="fr-FR" sz="2600" dirty="0">
                <a:solidFill>
                  <a:schemeClr val="accent4"/>
                </a:solidFill>
                <a:latin typeface="Consolas"/>
                <a:cs typeface="Consolas"/>
              </a:rPr>
              <a:t>int compare (</a:t>
            </a:r>
            <a:r>
              <a:rPr lang="fr-FR" sz="2600" dirty="0" err="1">
                <a:solidFill>
                  <a:schemeClr val="accent4"/>
                </a:solidFill>
                <a:latin typeface="Consolas"/>
                <a:cs typeface="Consolas"/>
              </a:rPr>
              <a:t>T</a:t>
            </a:r>
            <a:r>
              <a:rPr lang="fr-FR" sz="2600" dirty="0">
                <a:solidFill>
                  <a:schemeClr val="accent4"/>
                </a:solidFill>
                <a:latin typeface="Consolas"/>
                <a:cs typeface="Consolas"/>
              </a:rPr>
              <a:t> o1, </a:t>
            </a:r>
            <a:r>
              <a:rPr lang="fr-FR" sz="2600" dirty="0" err="1">
                <a:solidFill>
                  <a:schemeClr val="accent4"/>
                </a:solidFill>
                <a:latin typeface="Consolas"/>
                <a:cs typeface="Consolas"/>
              </a:rPr>
              <a:t>T</a:t>
            </a:r>
            <a:r>
              <a:rPr lang="fr-FR" sz="2600" dirty="0">
                <a:solidFill>
                  <a:schemeClr val="accent4"/>
                </a:solidFill>
                <a:latin typeface="Consolas"/>
                <a:cs typeface="Consolas"/>
              </a:rPr>
              <a:t> o2)</a:t>
            </a:r>
          </a:p>
        </p:txBody>
      </p:sp>
      <p:sp>
        <p:nvSpPr>
          <p:cNvPr id="5" name="Espace réservé du numéro de diapositive 4">
            <a:extLst>
              <a:ext uri="{FF2B5EF4-FFF2-40B4-BE49-F238E27FC236}">
                <a16:creationId xmlns:a16="http://schemas.microsoft.com/office/drawing/2014/main" id="{26830B65-3F8B-506A-39FB-8406971EF911}"/>
              </a:ext>
            </a:extLst>
          </p:cNvPr>
          <p:cNvSpPr>
            <a:spLocks noGrp="1"/>
          </p:cNvSpPr>
          <p:nvPr>
            <p:ph type="sldNum" sz="quarter" idx="4"/>
          </p:nvPr>
        </p:nvSpPr>
        <p:spPr/>
        <p:txBody>
          <a:bodyPr/>
          <a:lstStyle/>
          <a:p>
            <a:fld id="{33C783E2-4793-4F48-A271-51A73CC37D74}" type="slidenum">
              <a:rPr lang="fr-FR" smtClean="0"/>
              <a:t>79</a:t>
            </a:fld>
            <a:endParaRPr lang="fr-FR"/>
          </a:p>
        </p:txBody>
      </p:sp>
    </p:spTree>
    <p:extLst>
      <p:ext uri="{BB962C8B-B14F-4D97-AF65-F5344CB8AC3E}">
        <p14:creationId xmlns:p14="http://schemas.microsoft.com/office/powerpoint/2010/main" val="393474865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Premier exemple pratique</a:t>
            </a:r>
          </a:p>
        </p:txBody>
      </p:sp>
      <p:sp>
        <p:nvSpPr>
          <p:cNvPr id="3" name="Espace réservé du contenu 2"/>
          <p:cNvSpPr>
            <a:spLocks noGrp="1"/>
          </p:cNvSpPr>
          <p:nvPr>
            <p:ph idx="1"/>
          </p:nvPr>
        </p:nvSpPr>
        <p:spPr/>
        <p:txBody>
          <a:bodyPr>
            <a:normAutofit/>
          </a:bodyPr>
          <a:lstStyle/>
          <a:p>
            <a:pPr marL="0" indent="0">
              <a:buNone/>
            </a:pPr>
            <a:r>
              <a:rPr lang="fr-FR" dirty="0"/>
              <a:t>Pour trier une </a:t>
            </a:r>
            <a:r>
              <a:rPr lang="fr-FR" sz="2600" dirty="0">
                <a:solidFill>
                  <a:schemeClr val="accent4"/>
                </a:solidFill>
                <a:latin typeface="Consolas"/>
                <a:cs typeface="Consolas"/>
              </a:rPr>
              <a:t>List&lt;String&gt;</a:t>
            </a:r>
            <a:r>
              <a:rPr lang="fr-FR" dirty="0"/>
              <a:t>, on va par exemple utiliser une classe anonyme dans laquelle on implémentera l'interface </a:t>
            </a:r>
            <a:r>
              <a:rPr lang="fr-FR" sz="2600" dirty="0" err="1">
                <a:solidFill>
                  <a:schemeClr val="accent4"/>
                </a:solidFill>
                <a:latin typeface="Consolas"/>
                <a:cs typeface="Consolas"/>
              </a:rPr>
              <a:t>Comparator</a:t>
            </a:r>
            <a:r>
              <a:rPr lang="fr-FR" sz="2600" dirty="0">
                <a:solidFill>
                  <a:schemeClr val="accent4"/>
                </a:solidFill>
                <a:latin typeface="Consolas"/>
                <a:cs typeface="Consolas"/>
              </a:rPr>
              <a:t>&lt;</a:t>
            </a:r>
            <a:r>
              <a:rPr lang="fr-FR" sz="2600" dirty="0" err="1">
                <a:solidFill>
                  <a:schemeClr val="accent4"/>
                </a:solidFill>
                <a:latin typeface="Consolas"/>
                <a:cs typeface="Consolas"/>
              </a:rPr>
              <a:t>T</a:t>
            </a:r>
            <a:r>
              <a:rPr lang="fr-FR" sz="2600" dirty="0">
                <a:solidFill>
                  <a:schemeClr val="accent4"/>
                </a:solidFill>
                <a:latin typeface="Consolas"/>
                <a:cs typeface="Consolas"/>
              </a:rPr>
              <a:t>&gt;</a:t>
            </a:r>
            <a:r>
              <a:rPr lang="fr-FR" dirty="0"/>
              <a:t>:</a:t>
            </a:r>
          </a:p>
          <a:p>
            <a:pPr marL="0" indent="0">
              <a:buNone/>
            </a:pPr>
            <a:r>
              <a:rPr lang="fr-FR" sz="2600" dirty="0" err="1">
                <a:solidFill>
                  <a:schemeClr val="accent4"/>
                </a:solidFill>
                <a:latin typeface="Consolas"/>
                <a:cs typeface="Consolas"/>
              </a:rPr>
              <a:t>Collections.sort</a:t>
            </a:r>
            <a:r>
              <a:rPr lang="fr-FR" sz="2600" dirty="0">
                <a:solidFill>
                  <a:schemeClr val="accent4"/>
                </a:solidFill>
                <a:latin typeface="Consolas"/>
                <a:cs typeface="Consolas"/>
              </a:rPr>
              <a:t>(strings, </a:t>
            </a:r>
            <a:r>
              <a:rPr lang="fr-FR" sz="2600" dirty="0">
                <a:solidFill>
                  <a:schemeClr val="accent2"/>
                </a:solidFill>
                <a:latin typeface="Consolas"/>
                <a:cs typeface="Consolas"/>
              </a:rPr>
              <a:t>new </a:t>
            </a:r>
            <a:r>
              <a:rPr lang="fr-FR" sz="2600" dirty="0" err="1">
                <a:solidFill>
                  <a:schemeClr val="accent2"/>
                </a:solidFill>
                <a:latin typeface="Consolas"/>
                <a:cs typeface="Consolas"/>
              </a:rPr>
              <a:t>Comparator</a:t>
            </a:r>
            <a:r>
              <a:rPr lang="fr-FR" sz="2600" dirty="0">
                <a:solidFill>
                  <a:schemeClr val="accent2"/>
                </a:solidFill>
                <a:latin typeface="Consolas"/>
                <a:cs typeface="Consolas"/>
              </a:rPr>
              <a:t>&lt;String&gt;() {</a:t>
            </a:r>
          </a:p>
          <a:p>
            <a:pPr marL="0" indent="0">
              <a:buNone/>
            </a:pPr>
            <a:r>
              <a:rPr lang="fr-FR" sz="2600" dirty="0">
                <a:solidFill>
                  <a:schemeClr val="accent2"/>
                </a:solidFill>
                <a:latin typeface="Consolas"/>
                <a:cs typeface="Consolas"/>
              </a:rPr>
              <a:t>  public int compare(String s1, String s2) {</a:t>
            </a:r>
          </a:p>
          <a:p>
            <a:pPr marL="0" indent="0">
              <a:buNone/>
            </a:pPr>
            <a:r>
              <a:rPr lang="fr-FR" sz="2600" dirty="0">
                <a:solidFill>
                  <a:schemeClr val="accent2"/>
                </a:solidFill>
                <a:latin typeface="Consolas"/>
                <a:cs typeface="Consolas"/>
              </a:rPr>
              <a:t>    return s1.compareToIgnoreCase(s2);</a:t>
            </a:r>
          </a:p>
          <a:p>
            <a:pPr marL="0" indent="0">
              <a:buNone/>
            </a:pPr>
            <a:r>
              <a:rPr lang="fr-FR" sz="2600" dirty="0">
                <a:solidFill>
                  <a:schemeClr val="accent2"/>
                </a:solidFill>
                <a:latin typeface="Consolas"/>
                <a:cs typeface="Consolas"/>
              </a:rPr>
              <a:t>  }</a:t>
            </a:r>
          </a:p>
          <a:p>
            <a:pPr marL="0" indent="0">
              <a:buNone/>
            </a:pPr>
            <a:r>
              <a:rPr lang="fr-FR" sz="2600" dirty="0">
                <a:solidFill>
                  <a:schemeClr val="accent2"/>
                </a:solidFill>
                <a:latin typeface="Consolas"/>
                <a:cs typeface="Consolas"/>
              </a:rPr>
              <a:t>}</a:t>
            </a:r>
            <a:r>
              <a:rPr lang="fr-FR" sz="2600" dirty="0">
                <a:solidFill>
                  <a:schemeClr val="accent4"/>
                </a:solidFill>
                <a:latin typeface="Consolas"/>
                <a:cs typeface="Consolas"/>
              </a:rPr>
              <a:t> );</a:t>
            </a:r>
          </a:p>
          <a:p>
            <a:pPr marL="0" indent="0">
              <a:buNone/>
            </a:pPr>
            <a:endParaRPr lang="fr-FR" dirty="0"/>
          </a:p>
          <a:p>
            <a:pPr marL="0" indent="0">
              <a:buNone/>
            </a:pPr>
            <a:r>
              <a:rPr lang="fr-FR" dirty="0"/>
              <a:t>Cet appel trie le contenu de la collection </a:t>
            </a:r>
            <a:r>
              <a:rPr lang="fr-FR" sz="2600" dirty="0">
                <a:solidFill>
                  <a:schemeClr val="accent4"/>
                </a:solidFill>
                <a:latin typeface="Consolas"/>
                <a:cs typeface="Consolas"/>
              </a:rPr>
              <a:t>strings</a:t>
            </a:r>
            <a:r>
              <a:rPr lang="fr-FR" dirty="0"/>
              <a:t>. </a:t>
            </a:r>
          </a:p>
        </p:txBody>
      </p:sp>
      <p:sp>
        <p:nvSpPr>
          <p:cNvPr id="7" name="Forme libre 6">
            <a:extLst>
              <a:ext uri="{FF2B5EF4-FFF2-40B4-BE49-F238E27FC236}">
                <a16:creationId xmlns:a16="http://schemas.microsoft.com/office/drawing/2014/main" id="{B2BC9ACE-18C9-864E-8258-A84533185AF5}"/>
              </a:ext>
            </a:extLst>
          </p:cNvPr>
          <p:cNvSpPr/>
          <p:nvPr/>
        </p:nvSpPr>
        <p:spPr>
          <a:xfrm>
            <a:off x="838200" y="2676939"/>
            <a:ext cx="9591261" cy="2398644"/>
          </a:xfrm>
          <a:custGeom>
            <a:avLst/>
            <a:gdLst>
              <a:gd name="connsiteX0" fmla="*/ 3657600 w 7535119"/>
              <a:gd name="connsiteY0" fmla="*/ 0 h 2176040"/>
              <a:gd name="connsiteX1" fmla="*/ 3657600 w 7535119"/>
              <a:gd name="connsiteY1" fmla="*/ 439838 h 2176040"/>
              <a:gd name="connsiteX2" fmla="*/ 0 w 7535119"/>
              <a:gd name="connsiteY2" fmla="*/ 439838 h 2176040"/>
              <a:gd name="connsiteX3" fmla="*/ 0 w 7535119"/>
              <a:gd name="connsiteY3" fmla="*/ 2176040 h 2176040"/>
              <a:gd name="connsiteX4" fmla="*/ 231493 w 7535119"/>
              <a:gd name="connsiteY4" fmla="*/ 2176040 h 2176040"/>
              <a:gd name="connsiteX5" fmla="*/ 231493 w 7535119"/>
              <a:gd name="connsiteY5" fmla="*/ 1724628 h 2176040"/>
              <a:gd name="connsiteX6" fmla="*/ 671331 w 7535119"/>
              <a:gd name="connsiteY6" fmla="*/ 1724628 h 2176040"/>
              <a:gd name="connsiteX7" fmla="*/ 671331 w 7535119"/>
              <a:gd name="connsiteY7" fmla="*/ 1365812 h 2176040"/>
              <a:gd name="connsiteX8" fmla="*/ 7535119 w 7535119"/>
              <a:gd name="connsiteY8" fmla="*/ 1365812 h 2176040"/>
              <a:gd name="connsiteX9" fmla="*/ 7535119 w 7535119"/>
              <a:gd name="connsiteY9" fmla="*/ 1585731 h 2176040"/>
              <a:gd name="connsiteX10" fmla="*/ 7535119 w 7535119"/>
              <a:gd name="connsiteY10" fmla="*/ 0 h 2176040"/>
              <a:gd name="connsiteX11" fmla="*/ 3657600 w 7535119"/>
              <a:gd name="connsiteY11" fmla="*/ 0 h 2176040"/>
              <a:gd name="connsiteX0" fmla="*/ 3657600 w 7535119"/>
              <a:gd name="connsiteY0" fmla="*/ 0 h 2176040"/>
              <a:gd name="connsiteX1" fmla="*/ 3657600 w 7535119"/>
              <a:gd name="connsiteY1" fmla="*/ 439838 h 2176040"/>
              <a:gd name="connsiteX2" fmla="*/ 0 w 7535119"/>
              <a:gd name="connsiteY2" fmla="*/ 439838 h 2176040"/>
              <a:gd name="connsiteX3" fmla="*/ 0 w 7535119"/>
              <a:gd name="connsiteY3" fmla="*/ 2176040 h 2176040"/>
              <a:gd name="connsiteX4" fmla="*/ 231493 w 7535119"/>
              <a:gd name="connsiteY4" fmla="*/ 2176040 h 2176040"/>
              <a:gd name="connsiteX5" fmla="*/ 231493 w 7535119"/>
              <a:gd name="connsiteY5" fmla="*/ 1724628 h 2176040"/>
              <a:gd name="connsiteX6" fmla="*/ 671331 w 7535119"/>
              <a:gd name="connsiteY6" fmla="*/ 1724628 h 2176040"/>
              <a:gd name="connsiteX7" fmla="*/ 671331 w 7535119"/>
              <a:gd name="connsiteY7" fmla="*/ 1365812 h 2176040"/>
              <a:gd name="connsiteX8" fmla="*/ 7535119 w 7535119"/>
              <a:gd name="connsiteY8" fmla="*/ 1365812 h 2176040"/>
              <a:gd name="connsiteX9" fmla="*/ 7529543 w 7535119"/>
              <a:gd name="connsiteY9" fmla="*/ 1362707 h 2176040"/>
              <a:gd name="connsiteX10" fmla="*/ 7535119 w 7535119"/>
              <a:gd name="connsiteY10" fmla="*/ 0 h 2176040"/>
              <a:gd name="connsiteX11" fmla="*/ 3657600 w 7535119"/>
              <a:gd name="connsiteY11" fmla="*/ 0 h 2176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535119" h="2176040">
                <a:moveTo>
                  <a:pt x="3657600" y="0"/>
                </a:moveTo>
                <a:lnTo>
                  <a:pt x="3657600" y="439838"/>
                </a:lnTo>
                <a:lnTo>
                  <a:pt x="0" y="439838"/>
                </a:lnTo>
                <a:lnTo>
                  <a:pt x="0" y="2176040"/>
                </a:lnTo>
                <a:lnTo>
                  <a:pt x="231493" y="2176040"/>
                </a:lnTo>
                <a:lnTo>
                  <a:pt x="231493" y="1724628"/>
                </a:lnTo>
                <a:lnTo>
                  <a:pt x="671331" y="1724628"/>
                </a:lnTo>
                <a:lnTo>
                  <a:pt x="671331" y="1365812"/>
                </a:lnTo>
                <a:lnTo>
                  <a:pt x="7535119" y="1365812"/>
                </a:lnTo>
                <a:lnTo>
                  <a:pt x="7529543" y="1362707"/>
                </a:lnTo>
                <a:cubicBezTo>
                  <a:pt x="7531402" y="908471"/>
                  <a:pt x="7533260" y="454236"/>
                  <a:pt x="7535119" y="0"/>
                </a:cubicBezTo>
                <a:lnTo>
                  <a:pt x="3657600" y="0"/>
                </a:lnTo>
                <a:close/>
              </a:path>
            </a:pathLst>
          </a:cu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Légende sans bordure 1 9">
            <a:extLst>
              <a:ext uri="{FF2B5EF4-FFF2-40B4-BE49-F238E27FC236}">
                <a16:creationId xmlns:a16="http://schemas.microsoft.com/office/drawing/2014/main" id="{EC5803D7-F646-0944-A0C4-679952C20182}"/>
              </a:ext>
            </a:extLst>
          </p:cNvPr>
          <p:cNvSpPr/>
          <p:nvPr/>
        </p:nvSpPr>
        <p:spPr>
          <a:xfrm>
            <a:off x="7168896" y="4352544"/>
            <a:ext cx="2670048" cy="560832"/>
          </a:xfrm>
          <a:prstGeom prst="callout1">
            <a:avLst>
              <a:gd name="adj1" fmla="val 55707"/>
              <a:gd name="adj2" fmla="val -6963"/>
              <a:gd name="adj3" fmla="val -24457"/>
              <a:gd name="adj4" fmla="val -33767"/>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000" b="1" dirty="0">
                <a:ln w="0"/>
                <a:solidFill>
                  <a:schemeClr val="tx1"/>
                </a:solidFill>
                <a:effectLst>
                  <a:outerShdw blurRad="38100" dist="19050" dir="2700000" algn="tl" rotWithShape="0">
                    <a:schemeClr val="dk1">
                      <a:alpha val="40000"/>
                    </a:schemeClr>
                  </a:outerShdw>
                </a:effectLst>
              </a:rPr>
              <a:t>Une classe anonyme!</a:t>
            </a:r>
          </a:p>
        </p:txBody>
      </p:sp>
      <p:pic>
        <p:nvPicPr>
          <p:cNvPr id="5" name="Image 4">
            <a:extLst>
              <a:ext uri="{FF2B5EF4-FFF2-40B4-BE49-F238E27FC236}">
                <a16:creationId xmlns:a16="http://schemas.microsoft.com/office/drawing/2014/main" id="{66A341CD-7AFC-956A-818F-7FC5AF31E811}"/>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2913" b="89968" l="19346" r="80109">
                        <a14:foregroundMark x1="68392" y1="26537" x2="70027" y2="28479"/>
                        <a14:foregroundMark x1="77657" y1="45307" x2="77384" y2="43366"/>
                        <a14:foregroundMark x1="49046" y1="4854" x2="50954" y2="3236"/>
                        <a14:foregroundMark x1="78474" y1="40453" x2="80109" y2="42718"/>
                        <a14:foregroundMark x1="24796" y1="44337" x2="23161" y2="49515"/>
                        <a14:foregroundMark x1="19346" y1="49515" x2="20708" y2="44337"/>
                        <a14:foregroundMark x1="30245" y1="60194" x2="30245" y2="55663"/>
                        <a14:backgroundMark x1="31335" y1="77023" x2="53951" y2="77346"/>
                        <a14:backgroundMark x1="53951" y1="77346" x2="31608" y2="72816"/>
                        <a14:backgroundMark x1="31608" y1="72816" x2="51226" y2="90939"/>
                        <a14:backgroundMark x1="51226" y1="90939" x2="56676" y2="76052"/>
                        <a14:backgroundMark x1="41144" y1="70550" x2="41689" y2="77346"/>
                      </a14:backgroundRemoval>
                    </a14:imgEffect>
                  </a14:imgLayer>
                </a14:imgProps>
              </a:ext>
            </a:extLst>
          </a:blip>
          <a:srcRect l="16618" r="15601"/>
          <a:stretch/>
        </p:blipFill>
        <p:spPr>
          <a:xfrm>
            <a:off x="10293872" y="143800"/>
            <a:ext cx="1423466" cy="1768216"/>
          </a:xfrm>
          <a:prstGeom prst="rect">
            <a:avLst/>
          </a:prstGeom>
        </p:spPr>
      </p:pic>
      <p:sp>
        <p:nvSpPr>
          <p:cNvPr id="8" name="Espace réservé du numéro de diapositive 7">
            <a:extLst>
              <a:ext uri="{FF2B5EF4-FFF2-40B4-BE49-F238E27FC236}">
                <a16:creationId xmlns:a16="http://schemas.microsoft.com/office/drawing/2014/main" id="{89C5D4CA-FAFF-5784-E314-09E288C7839F}"/>
              </a:ext>
            </a:extLst>
          </p:cNvPr>
          <p:cNvSpPr>
            <a:spLocks noGrp="1"/>
          </p:cNvSpPr>
          <p:nvPr>
            <p:ph type="sldNum" sz="quarter" idx="4"/>
          </p:nvPr>
        </p:nvSpPr>
        <p:spPr/>
        <p:txBody>
          <a:bodyPr/>
          <a:lstStyle/>
          <a:p>
            <a:fld id="{33C783E2-4793-4F48-A271-51A73CC37D74}" type="slidenum">
              <a:rPr lang="fr-FR" smtClean="0"/>
              <a:t>80</a:t>
            </a:fld>
            <a:endParaRPr lang="fr-FR"/>
          </a:p>
        </p:txBody>
      </p:sp>
    </p:spTree>
    <p:extLst>
      <p:ext uri="{BB962C8B-B14F-4D97-AF65-F5344CB8AC3E}">
        <p14:creationId xmlns:p14="http://schemas.microsoft.com/office/powerpoint/2010/main" val="34000243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animEffect transition="in" filter="fade">
                                      <p:cBhvr>
                                        <p:cTn id="1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Premier exemple pratique</a:t>
            </a:r>
          </a:p>
        </p:txBody>
      </p:sp>
      <p:sp>
        <p:nvSpPr>
          <p:cNvPr id="3" name="Espace réservé du contenu 2"/>
          <p:cNvSpPr>
            <a:spLocks noGrp="1"/>
          </p:cNvSpPr>
          <p:nvPr>
            <p:ph idx="1"/>
          </p:nvPr>
        </p:nvSpPr>
        <p:spPr/>
        <p:txBody>
          <a:bodyPr>
            <a:normAutofit fontScale="77500" lnSpcReduction="20000"/>
          </a:bodyPr>
          <a:lstStyle/>
          <a:p>
            <a:pPr marL="0" indent="0">
              <a:lnSpc>
                <a:spcPct val="120000"/>
              </a:lnSpc>
              <a:buNone/>
            </a:pPr>
            <a:r>
              <a:rPr lang="fr-FR" sz="3000" dirty="0"/>
              <a:t>En utilisant une expression Lambda, les choses deviennent beaucoup plus lisibles:</a:t>
            </a:r>
          </a:p>
          <a:p>
            <a:pPr marL="0" indent="0">
              <a:lnSpc>
                <a:spcPct val="120000"/>
              </a:lnSpc>
              <a:buNone/>
            </a:pPr>
            <a:r>
              <a:rPr lang="fr-FR" sz="3000" dirty="0" err="1">
                <a:solidFill>
                  <a:schemeClr val="accent4"/>
                </a:solidFill>
                <a:latin typeface="Consolas"/>
                <a:cs typeface="Consolas"/>
              </a:rPr>
              <a:t>Collections.sort</a:t>
            </a:r>
            <a:r>
              <a:rPr lang="fr-FR" sz="3000" dirty="0">
                <a:solidFill>
                  <a:schemeClr val="accent4"/>
                </a:solidFill>
                <a:latin typeface="Consolas"/>
                <a:cs typeface="Consolas"/>
              </a:rPr>
              <a:t>(strings, </a:t>
            </a:r>
            <a:br>
              <a:rPr lang="fr-FR" sz="3000" dirty="0">
                <a:solidFill>
                  <a:schemeClr val="accent4"/>
                </a:solidFill>
                <a:latin typeface="Consolas"/>
                <a:cs typeface="Consolas"/>
              </a:rPr>
            </a:br>
            <a:r>
              <a:rPr lang="fr-FR" sz="3000" dirty="0">
                <a:solidFill>
                  <a:schemeClr val="accent4"/>
                </a:solidFill>
                <a:latin typeface="Consolas"/>
                <a:cs typeface="Consolas"/>
              </a:rPr>
              <a:t>             (s1, s2) -&gt; s1.compareToIgnoreCase(s2));</a:t>
            </a:r>
          </a:p>
          <a:p>
            <a:pPr marL="0" indent="0">
              <a:lnSpc>
                <a:spcPct val="120000"/>
              </a:lnSpc>
              <a:buNone/>
            </a:pPr>
            <a:endParaRPr lang="fr-FR" sz="3000" dirty="0"/>
          </a:p>
          <a:p>
            <a:pPr marL="0" indent="0">
              <a:lnSpc>
                <a:spcPct val="120000"/>
              </a:lnSpc>
              <a:buNone/>
            </a:pPr>
            <a:r>
              <a:rPr lang="fr-FR" sz="3000" dirty="0"/>
              <a:t>par rapport à </a:t>
            </a:r>
          </a:p>
          <a:p>
            <a:pPr marL="0" indent="0">
              <a:lnSpc>
                <a:spcPct val="120000"/>
              </a:lnSpc>
              <a:buNone/>
            </a:pPr>
            <a:r>
              <a:rPr lang="fr-FR" dirty="0" err="1">
                <a:solidFill>
                  <a:schemeClr val="accent4"/>
                </a:solidFill>
                <a:latin typeface="Consolas"/>
                <a:cs typeface="Consolas"/>
              </a:rPr>
              <a:t>Collections.sort</a:t>
            </a:r>
            <a:r>
              <a:rPr lang="fr-FR" dirty="0">
                <a:solidFill>
                  <a:schemeClr val="accent4"/>
                </a:solidFill>
                <a:latin typeface="Consolas"/>
                <a:cs typeface="Consolas"/>
              </a:rPr>
              <a:t>(strings, </a:t>
            </a:r>
            <a:r>
              <a:rPr lang="fr-FR" dirty="0">
                <a:solidFill>
                  <a:schemeClr val="accent2"/>
                </a:solidFill>
                <a:latin typeface="Consolas"/>
                <a:cs typeface="Consolas"/>
              </a:rPr>
              <a:t>new </a:t>
            </a:r>
            <a:r>
              <a:rPr lang="fr-FR" dirty="0" err="1">
                <a:solidFill>
                  <a:schemeClr val="accent2"/>
                </a:solidFill>
                <a:latin typeface="Consolas"/>
                <a:cs typeface="Consolas"/>
              </a:rPr>
              <a:t>Comparator</a:t>
            </a:r>
            <a:r>
              <a:rPr lang="fr-FR" dirty="0">
                <a:solidFill>
                  <a:schemeClr val="accent2"/>
                </a:solidFill>
                <a:latin typeface="Consolas"/>
                <a:cs typeface="Consolas"/>
              </a:rPr>
              <a:t>&lt;String&gt;() {</a:t>
            </a:r>
            <a:br>
              <a:rPr lang="fr-FR" dirty="0">
                <a:solidFill>
                  <a:schemeClr val="accent2"/>
                </a:solidFill>
                <a:latin typeface="Consolas"/>
                <a:cs typeface="Consolas"/>
              </a:rPr>
            </a:br>
            <a:r>
              <a:rPr lang="fr-FR" dirty="0">
                <a:solidFill>
                  <a:schemeClr val="accent2"/>
                </a:solidFill>
                <a:latin typeface="Consolas"/>
                <a:cs typeface="Consolas"/>
              </a:rPr>
              <a:t>   public </a:t>
            </a:r>
            <a:r>
              <a:rPr lang="fr-FR" dirty="0" err="1">
                <a:solidFill>
                  <a:schemeClr val="accent2"/>
                </a:solidFill>
                <a:latin typeface="Consolas"/>
                <a:cs typeface="Consolas"/>
              </a:rPr>
              <a:t>int</a:t>
            </a:r>
            <a:r>
              <a:rPr lang="fr-FR" dirty="0">
                <a:solidFill>
                  <a:schemeClr val="accent2"/>
                </a:solidFill>
                <a:latin typeface="Consolas"/>
                <a:cs typeface="Consolas"/>
              </a:rPr>
              <a:t> compare(String s1, String s2) {</a:t>
            </a:r>
            <a:br>
              <a:rPr lang="fr-FR" dirty="0">
                <a:solidFill>
                  <a:schemeClr val="accent2"/>
                </a:solidFill>
                <a:latin typeface="Consolas"/>
                <a:cs typeface="Consolas"/>
              </a:rPr>
            </a:br>
            <a:r>
              <a:rPr lang="fr-FR" dirty="0">
                <a:solidFill>
                  <a:schemeClr val="accent2"/>
                </a:solidFill>
                <a:latin typeface="Consolas"/>
                <a:cs typeface="Consolas"/>
              </a:rPr>
              <a:t>       return s1.compareToIgnoreCase(s2);</a:t>
            </a:r>
            <a:br>
              <a:rPr lang="fr-FR" dirty="0">
                <a:solidFill>
                  <a:schemeClr val="accent2"/>
                </a:solidFill>
                <a:latin typeface="Consolas"/>
                <a:cs typeface="Consolas"/>
              </a:rPr>
            </a:br>
            <a:r>
              <a:rPr lang="fr-FR" dirty="0">
                <a:solidFill>
                  <a:schemeClr val="accent2"/>
                </a:solidFill>
                <a:latin typeface="Consolas"/>
                <a:cs typeface="Consolas"/>
              </a:rPr>
              <a:t>   }</a:t>
            </a:r>
            <a:br>
              <a:rPr lang="fr-FR" dirty="0">
                <a:solidFill>
                  <a:schemeClr val="accent2"/>
                </a:solidFill>
                <a:latin typeface="Consolas"/>
                <a:cs typeface="Consolas"/>
              </a:rPr>
            </a:br>
            <a:r>
              <a:rPr lang="fr-FR" dirty="0">
                <a:solidFill>
                  <a:schemeClr val="accent2"/>
                </a:solidFill>
                <a:latin typeface="Consolas"/>
                <a:cs typeface="Consolas"/>
              </a:rPr>
              <a:t>}</a:t>
            </a:r>
            <a:r>
              <a:rPr lang="fr-FR" dirty="0">
                <a:solidFill>
                  <a:schemeClr val="accent4"/>
                </a:solidFill>
                <a:latin typeface="Consolas"/>
                <a:cs typeface="Consolas"/>
              </a:rPr>
              <a:t> );</a:t>
            </a:r>
          </a:p>
          <a:p>
            <a:pPr marL="0" indent="0">
              <a:lnSpc>
                <a:spcPct val="120000"/>
              </a:lnSpc>
              <a:buNone/>
            </a:pPr>
            <a:endParaRPr lang="fr-FR" dirty="0">
              <a:solidFill>
                <a:schemeClr val="accent2"/>
              </a:solidFill>
              <a:latin typeface="Consolas"/>
              <a:cs typeface="Consolas"/>
            </a:endParaRPr>
          </a:p>
        </p:txBody>
      </p:sp>
      <p:pic>
        <p:nvPicPr>
          <p:cNvPr id="5" name="Image 4">
            <a:extLst>
              <a:ext uri="{FF2B5EF4-FFF2-40B4-BE49-F238E27FC236}">
                <a16:creationId xmlns:a16="http://schemas.microsoft.com/office/drawing/2014/main" id="{6B15660B-1D01-294E-BFDF-BC19E1969193}"/>
              </a:ext>
            </a:extLst>
          </p:cNvPr>
          <p:cNvPicPr>
            <a:picLocks noChangeAspect="1"/>
          </p:cNvPicPr>
          <p:nvPr/>
        </p:nvPicPr>
        <p:blipFill>
          <a:blip r:embed="rId3"/>
          <a:stretch>
            <a:fillRect/>
          </a:stretch>
        </p:blipFill>
        <p:spPr>
          <a:xfrm>
            <a:off x="3930164" y="5410200"/>
            <a:ext cx="7069914" cy="573911"/>
          </a:xfrm>
          <a:prstGeom prst="rect">
            <a:avLst/>
          </a:prstGeom>
          <a:ln>
            <a:solidFill>
              <a:schemeClr val="accent2"/>
            </a:solidFill>
          </a:ln>
          <a:effectLst>
            <a:outerShdw blurRad="50800" dist="38100" dir="2700000" algn="tl" rotWithShape="0">
              <a:prstClr val="black">
                <a:alpha val="40000"/>
              </a:prstClr>
            </a:outerShdw>
          </a:effectLst>
        </p:spPr>
      </p:pic>
      <p:sp>
        <p:nvSpPr>
          <p:cNvPr id="7" name="Rectangle : coins arrondis 6">
            <a:extLst>
              <a:ext uri="{FF2B5EF4-FFF2-40B4-BE49-F238E27FC236}">
                <a16:creationId xmlns:a16="http://schemas.microsoft.com/office/drawing/2014/main" id="{29E635B8-0B9F-D141-8CF7-8608DC1340C2}"/>
              </a:ext>
            </a:extLst>
          </p:cNvPr>
          <p:cNvSpPr/>
          <p:nvPr/>
        </p:nvSpPr>
        <p:spPr>
          <a:xfrm>
            <a:off x="4448323" y="5410201"/>
            <a:ext cx="1313093" cy="335200"/>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6B9C2F31-4D86-A645-96A2-049B7A4671BF}"/>
              </a:ext>
            </a:extLst>
          </p:cNvPr>
          <p:cNvSpPr/>
          <p:nvPr/>
        </p:nvSpPr>
        <p:spPr>
          <a:xfrm>
            <a:off x="3599728" y="2378551"/>
            <a:ext cx="1283905" cy="320041"/>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 coins arrondis 8">
            <a:extLst>
              <a:ext uri="{FF2B5EF4-FFF2-40B4-BE49-F238E27FC236}">
                <a16:creationId xmlns:a16="http://schemas.microsoft.com/office/drawing/2014/main" id="{EDF3274C-D69F-324A-878C-8CD687B62A91}"/>
              </a:ext>
            </a:extLst>
          </p:cNvPr>
          <p:cNvSpPr/>
          <p:nvPr/>
        </p:nvSpPr>
        <p:spPr>
          <a:xfrm>
            <a:off x="5852434" y="5410201"/>
            <a:ext cx="2353658" cy="335200"/>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 coins arrondis 9">
            <a:extLst>
              <a:ext uri="{FF2B5EF4-FFF2-40B4-BE49-F238E27FC236}">
                <a16:creationId xmlns:a16="http://schemas.microsoft.com/office/drawing/2014/main" id="{3CAB8782-3F0D-5142-89F9-93AC3EDF8760}"/>
              </a:ext>
            </a:extLst>
          </p:cNvPr>
          <p:cNvSpPr/>
          <p:nvPr/>
        </p:nvSpPr>
        <p:spPr>
          <a:xfrm>
            <a:off x="2974694" y="2731335"/>
            <a:ext cx="6359806" cy="320041"/>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 coins arrondis 10">
            <a:extLst>
              <a:ext uri="{FF2B5EF4-FFF2-40B4-BE49-F238E27FC236}">
                <a16:creationId xmlns:a16="http://schemas.microsoft.com/office/drawing/2014/main" id="{D0BD1BE3-135D-E548-AEB3-66E09E03254C}"/>
              </a:ext>
            </a:extLst>
          </p:cNvPr>
          <p:cNvSpPr/>
          <p:nvPr/>
        </p:nvSpPr>
        <p:spPr>
          <a:xfrm>
            <a:off x="3484468" y="4134305"/>
            <a:ext cx="1208868" cy="320041"/>
          </a:xfrm>
          <a:prstGeom prst="round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 name="Image 11">
            <a:extLst>
              <a:ext uri="{FF2B5EF4-FFF2-40B4-BE49-F238E27FC236}">
                <a16:creationId xmlns:a16="http://schemas.microsoft.com/office/drawing/2014/main" id="{90B40C65-758D-4D13-0D98-A5B0CBE3C0A1}"/>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2913" b="89968" l="19346" r="80109">
                        <a14:foregroundMark x1="68392" y1="26537" x2="70027" y2="28479"/>
                        <a14:foregroundMark x1="77657" y1="45307" x2="77384" y2="43366"/>
                        <a14:foregroundMark x1="49046" y1="4854" x2="50954" y2="3236"/>
                        <a14:foregroundMark x1="78474" y1="40453" x2="80109" y2="42718"/>
                        <a14:foregroundMark x1="24796" y1="44337" x2="23161" y2="49515"/>
                        <a14:foregroundMark x1="19346" y1="49515" x2="20708" y2="44337"/>
                        <a14:foregroundMark x1="30245" y1="60194" x2="30245" y2="55663"/>
                        <a14:backgroundMark x1="31335" y1="77023" x2="53951" y2="77346"/>
                        <a14:backgroundMark x1="53951" y1="77346" x2="31608" y2="72816"/>
                        <a14:backgroundMark x1="31608" y1="72816" x2="51226" y2="90939"/>
                        <a14:backgroundMark x1="51226" y1="90939" x2="56676" y2="76052"/>
                        <a14:backgroundMark x1="41144" y1="70550" x2="41689" y2="77346"/>
                      </a14:backgroundRemoval>
                    </a14:imgEffect>
                  </a14:imgLayer>
                </a14:imgProps>
              </a:ext>
            </a:extLst>
          </a:blip>
          <a:srcRect l="16618" r="15601"/>
          <a:stretch/>
        </p:blipFill>
        <p:spPr>
          <a:xfrm>
            <a:off x="10293872" y="143800"/>
            <a:ext cx="1423466" cy="1768216"/>
          </a:xfrm>
          <a:prstGeom prst="rect">
            <a:avLst/>
          </a:prstGeom>
        </p:spPr>
      </p:pic>
      <p:sp>
        <p:nvSpPr>
          <p:cNvPr id="14" name="Forme libre 13">
            <a:extLst>
              <a:ext uri="{FF2B5EF4-FFF2-40B4-BE49-F238E27FC236}">
                <a16:creationId xmlns:a16="http://schemas.microsoft.com/office/drawing/2014/main" id="{754C661B-567D-9EAC-D4A6-8E083730C9D0}"/>
              </a:ext>
            </a:extLst>
          </p:cNvPr>
          <p:cNvSpPr/>
          <p:nvPr/>
        </p:nvSpPr>
        <p:spPr>
          <a:xfrm>
            <a:off x="831930" y="4134305"/>
            <a:ext cx="8254197" cy="1774812"/>
          </a:xfrm>
          <a:custGeom>
            <a:avLst/>
            <a:gdLst>
              <a:gd name="connsiteX0" fmla="*/ 3657600 w 7535119"/>
              <a:gd name="connsiteY0" fmla="*/ 0 h 2176040"/>
              <a:gd name="connsiteX1" fmla="*/ 3657600 w 7535119"/>
              <a:gd name="connsiteY1" fmla="*/ 439838 h 2176040"/>
              <a:gd name="connsiteX2" fmla="*/ 0 w 7535119"/>
              <a:gd name="connsiteY2" fmla="*/ 439838 h 2176040"/>
              <a:gd name="connsiteX3" fmla="*/ 0 w 7535119"/>
              <a:gd name="connsiteY3" fmla="*/ 2176040 h 2176040"/>
              <a:gd name="connsiteX4" fmla="*/ 231493 w 7535119"/>
              <a:gd name="connsiteY4" fmla="*/ 2176040 h 2176040"/>
              <a:gd name="connsiteX5" fmla="*/ 231493 w 7535119"/>
              <a:gd name="connsiteY5" fmla="*/ 1724628 h 2176040"/>
              <a:gd name="connsiteX6" fmla="*/ 671331 w 7535119"/>
              <a:gd name="connsiteY6" fmla="*/ 1724628 h 2176040"/>
              <a:gd name="connsiteX7" fmla="*/ 671331 w 7535119"/>
              <a:gd name="connsiteY7" fmla="*/ 1365812 h 2176040"/>
              <a:gd name="connsiteX8" fmla="*/ 7535119 w 7535119"/>
              <a:gd name="connsiteY8" fmla="*/ 1365812 h 2176040"/>
              <a:gd name="connsiteX9" fmla="*/ 7535119 w 7535119"/>
              <a:gd name="connsiteY9" fmla="*/ 1585731 h 2176040"/>
              <a:gd name="connsiteX10" fmla="*/ 7535119 w 7535119"/>
              <a:gd name="connsiteY10" fmla="*/ 0 h 2176040"/>
              <a:gd name="connsiteX11" fmla="*/ 3657600 w 7535119"/>
              <a:gd name="connsiteY11" fmla="*/ 0 h 2176040"/>
              <a:gd name="connsiteX0" fmla="*/ 3657600 w 7535119"/>
              <a:gd name="connsiteY0" fmla="*/ 0 h 2176040"/>
              <a:gd name="connsiteX1" fmla="*/ 3657600 w 7535119"/>
              <a:gd name="connsiteY1" fmla="*/ 439838 h 2176040"/>
              <a:gd name="connsiteX2" fmla="*/ 0 w 7535119"/>
              <a:gd name="connsiteY2" fmla="*/ 439838 h 2176040"/>
              <a:gd name="connsiteX3" fmla="*/ 0 w 7535119"/>
              <a:gd name="connsiteY3" fmla="*/ 2176040 h 2176040"/>
              <a:gd name="connsiteX4" fmla="*/ 231493 w 7535119"/>
              <a:gd name="connsiteY4" fmla="*/ 2176040 h 2176040"/>
              <a:gd name="connsiteX5" fmla="*/ 231493 w 7535119"/>
              <a:gd name="connsiteY5" fmla="*/ 1724628 h 2176040"/>
              <a:gd name="connsiteX6" fmla="*/ 671331 w 7535119"/>
              <a:gd name="connsiteY6" fmla="*/ 1724628 h 2176040"/>
              <a:gd name="connsiteX7" fmla="*/ 671331 w 7535119"/>
              <a:gd name="connsiteY7" fmla="*/ 1365812 h 2176040"/>
              <a:gd name="connsiteX8" fmla="*/ 7535119 w 7535119"/>
              <a:gd name="connsiteY8" fmla="*/ 1365812 h 2176040"/>
              <a:gd name="connsiteX9" fmla="*/ 7529543 w 7535119"/>
              <a:gd name="connsiteY9" fmla="*/ 1362707 h 2176040"/>
              <a:gd name="connsiteX10" fmla="*/ 7535119 w 7535119"/>
              <a:gd name="connsiteY10" fmla="*/ 0 h 2176040"/>
              <a:gd name="connsiteX11" fmla="*/ 3657600 w 7535119"/>
              <a:gd name="connsiteY11" fmla="*/ 0 h 2176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535119" h="2176040">
                <a:moveTo>
                  <a:pt x="3657600" y="0"/>
                </a:moveTo>
                <a:lnTo>
                  <a:pt x="3657600" y="439838"/>
                </a:lnTo>
                <a:lnTo>
                  <a:pt x="0" y="439838"/>
                </a:lnTo>
                <a:lnTo>
                  <a:pt x="0" y="2176040"/>
                </a:lnTo>
                <a:lnTo>
                  <a:pt x="231493" y="2176040"/>
                </a:lnTo>
                <a:lnTo>
                  <a:pt x="231493" y="1724628"/>
                </a:lnTo>
                <a:lnTo>
                  <a:pt x="671331" y="1724628"/>
                </a:lnTo>
                <a:lnTo>
                  <a:pt x="671331" y="1365812"/>
                </a:lnTo>
                <a:lnTo>
                  <a:pt x="7535119" y="1365812"/>
                </a:lnTo>
                <a:lnTo>
                  <a:pt x="7529543" y="1362707"/>
                </a:lnTo>
                <a:cubicBezTo>
                  <a:pt x="7531402" y="908471"/>
                  <a:pt x="7533260" y="454236"/>
                  <a:pt x="7535119" y="0"/>
                </a:cubicBezTo>
                <a:lnTo>
                  <a:pt x="3657600" y="0"/>
                </a:lnTo>
                <a:close/>
              </a:path>
            </a:pathLst>
          </a:cu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Espace réservé du numéro de diapositive 14">
            <a:extLst>
              <a:ext uri="{FF2B5EF4-FFF2-40B4-BE49-F238E27FC236}">
                <a16:creationId xmlns:a16="http://schemas.microsoft.com/office/drawing/2014/main" id="{7AE64EBA-6254-7FD6-0CD9-E149F32FDA3C}"/>
              </a:ext>
            </a:extLst>
          </p:cNvPr>
          <p:cNvSpPr>
            <a:spLocks noGrp="1"/>
          </p:cNvSpPr>
          <p:nvPr>
            <p:ph type="sldNum" sz="quarter" idx="4"/>
          </p:nvPr>
        </p:nvSpPr>
        <p:spPr/>
        <p:txBody>
          <a:bodyPr/>
          <a:lstStyle/>
          <a:p>
            <a:fld id="{33C783E2-4793-4F48-A271-51A73CC37D74}" type="slidenum">
              <a:rPr lang="fr-FR" smtClean="0"/>
              <a:t>81</a:t>
            </a:fld>
            <a:endParaRPr lang="fr-FR"/>
          </a:p>
        </p:txBody>
      </p:sp>
    </p:spTree>
    <p:extLst>
      <p:ext uri="{BB962C8B-B14F-4D97-AF65-F5344CB8AC3E}">
        <p14:creationId xmlns:p14="http://schemas.microsoft.com/office/powerpoint/2010/main" val="1826811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900" decel="100000" fill="hold"/>
                                        <p:tgtEl>
                                          <p:spTgt spid="5"/>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5"/>
                                        </p:tgtEl>
                                        <p:attrNameLst>
                                          <p:attrName>ppt_y</p:attrName>
                                        </p:attrNameLst>
                                      </p:cBhvr>
                                      <p:tavLst>
                                        <p:tav tm="0">
                                          <p:val>
                                            <p:strVal val="#ppt_y-.03"/>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left)">
                                      <p:cBhvr>
                                        <p:cTn id="18" dur="500"/>
                                        <p:tgtEl>
                                          <p:spTgt spid="11"/>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500"/>
                                        <p:tgtEl>
                                          <p:spTgt spid="8"/>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4" dur="500"/>
                                        <p:tgtEl>
                                          <p:spTgt spid="10"/>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left)">
                                      <p:cBhvr>
                                        <p:cTn id="3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4"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Quelques remarques</a:t>
            </a:r>
          </a:p>
        </p:txBody>
      </p:sp>
      <p:sp>
        <p:nvSpPr>
          <p:cNvPr id="3" name="Espace réservé du contenu 2"/>
          <p:cNvSpPr>
            <a:spLocks noGrp="1"/>
          </p:cNvSpPr>
          <p:nvPr>
            <p:ph idx="1"/>
          </p:nvPr>
        </p:nvSpPr>
        <p:spPr/>
        <p:txBody>
          <a:bodyPr>
            <a:normAutofit lnSpcReduction="10000"/>
          </a:bodyPr>
          <a:lstStyle/>
          <a:p>
            <a:pPr marL="0" indent="0">
              <a:lnSpc>
                <a:spcPct val="100000"/>
              </a:lnSpc>
              <a:buNone/>
            </a:pPr>
            <a:r>
              <a:rPr lang="fr-FR" sz="3000" dirty="0"/>
              <a:t>Remarquez</a:t>
            </a:r>
            <a:r>
              <a:rPr lang="fr-FR" dirty="0"/>
              <a:t> quelques points dans l'expression Lambda</a:t>
            </a:r>
          </a:p>
          <a:p>
            <a:pPr marL="0" indent="0">
              <a:buNone/>
            </a:pPr>
            <a:r>
              <a:rPr lang="fr-FR" sz="2600" dirty="0" err="1">
                <a:solidFill>
                  <a:schemeClr val="accent4"/>
                </a:solidFill>
                <a:latin typeface="Consolas"/>
                <a:cs typeface="Consolas"/>
              </a:rPr>
              <a:t>Collections.sort</a:t>
            </a:r>
            <a:r>
              <a:rPr lang="fr-FR" sz="2600" dirty="0">
                <a:solidFill>
                  <a:schemeClr val="accent4"/>
                </a:solidFill>
                <a:latin typeface="Consolas"/>
                <a:cs typeface="Consolas"/>
              </a:rPr>
              <a:t>(strings, </a:t>
            </a:r>
            <a:br>
              <a:rPr lang="fr-FR" sz="2600" dirty="0">
                <a:solidFill>
                  <a:schemeClr val="accent4"/>
                </a:solidFill>
                <a:latin typeface="Consolas"/>
                <a:cs typeface="Consolas"/>
              </a:rPr>
            </a:br>
            <a:r>
              <a:rPr lang="fr-FR" sz="2600" dirty="0">
                <a:solidFill>
                  <a:schemeClr val="accent4"/>
                </a:solidFill>
                <a:latin typeface="Consolas"/>
                <a:cs typeface="Consolas"/>
              </a:rPr>
              <a:t>             (s1, s2) -&gt; s1.compareToIgnoreCase(s2));</a:t>
            </a:r>
          </a:p>
          <a:p>
            <a:pPr marL="0" indent="0">
              <a:buNone/>
            </a:pPr>
            <a:endParaRPr lang="fr-FR" dirty="0"/>
          </a:p>
          <a:p>
            <a:r>
              <a:rPr lang="fr-FR" dirty="0"/>
              <a:t>les types de s1 et s2 ne sont pas obligatoires: ils sont déduits par le compilateur (à partir de la signature de la méthode </a:t>
            </a:r>
            <a:r>
              <a:rPr lang="fr-FR" sz="2600" dirty="0">
                <a:solidFill>
                  <a:schemeClr val="accent4"/>
                </a:solidFill>
                <a:latin typeface="Consolas"/>
                <a:cs typeface="Consolas"/>
              </a:rPr>
              <a:t>compare</a:t>
            </a:r>
            <a:r>
              <a:rPr lang="fr-FR" dirty="0"/>
              <a:t> de l’interface </a:t>
            </a:r>
            <a:r>
              <a:rPr lang="fr-FR" sz="2600" dirty="0" err="1">
                <a:solidFill>
                  <a:schemeClr val="accent4"/>
                </a:solidFill>
                <a:latin typeface="Consolas"/>
                <a:cs typeface="Consolas"/>
              </a:rPr>
              <a:t>Comparator</a:t>
            </a:r>
            <a:r>
              <a:rPr lang="fr-FR" dirty="0"/>
              <a:t>)</a:t>
            </a:r>
          </a:p>
          <a:p>
            <a:pPr marL="0" indent="0">
              <a:buNone/>
            </a:pPr>
            <a:r>
              <a:rPr lang="fr-FR" dirty="0">
                <a:solidFill>
                  <a:srgbClr val="C00000"/>
                </a:solidFill>
                <a:latin typeface="Consolas"/>
                <a:cs typeface="Consolas"/>
              </a:rPr>
              <a:t>  	 </a:t>
            </a:r>
            <a:r>
              <a:rPr lang="fr-FR" sz="2600" dirty="0" err="1">
                <a:solidFill>
                  <a:schemeClr val="accent4"/>
                </a:solidFill>
                <a:latin typeface="Consolas"/>
                <a:cs typeface="Consolas"/>
              </a:rPr>
              <a:t>int</a:t>
            </a:r>
            <a:r>
              <a:rPr lang="fr-FR" sz="2600" dirty="0">
                <a:solidFill>
                  <a:schemeClr val="accent4"/>
                </a:solidFill>
                <a:latin typeface="Consolas"/>
                <a:cs typeface="Consolas"/>
              </a:rPr>
              <a:t> compare(String s1, String s2) </a:t>
            </a:r>
          </a:p>
          <a:p>
            <a:r>
              <a:rPr lang="fr-FR" dirty="0"/>
              <a:t>le type de retour est aussi déduit, à partir du type de retour de la seule méthode de l'interface (</a:t>
            </a:r>
            <a:r>
              <a:rPr lang="fr-FR" sz="2600" dirty="0">
                <a:solidFill>
                  <a:schemeClr val="accent4"/>
                </a:solidFill>
                <a:latin typeface="Consolas"/>
                <a:cs typeface="Consolas"/>
              </a:rPr>
              <a:t>int</a:t>
            </a:r>
            <a:r>
              <a:rPr lang="fr-FR" dirty="0"/>
              <a:t>)</a:t>
            </a:r>
          </a:p>
          <a:p>
            <a:pPr marL="0" indent="0">
              <a:buNone/>
            </a:pPr>
            <a:endParaRPr lang="fr-FR" dirty="0"/>
          </a:p>
        </p:txBody>
      </p:sp>
      <p:pic>
        <p:nvPicPr>
          <p:cNvPr id="5" name="Image 4">
            <a:extLst>
              <a:ext uri="{FF2B5EF4-FFF2-40B4-BE49-F238E27FC236}">
                <a16:creationId xmlns:a16="http://schemas.microsoft.com/office/drawing/2014/main" id="{0F537342-1CA2-7728-1746-5BCFE57C3E1A}"/>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2913" b="89968" l="19346" r="80109">
                        <a14:foregroundMark x1="68392" y1="26537" x2="70027" y2="28479"/>
                        <a14:foregroundMark x1="77657" y1="45307" x2="77384" y2="43366"/>
                        <a14:foregroundMark x1="49046" y1="4854" x2="50954" y2="3236"/>
                        <a14:foregroundMark x1="78474" y1="40453" x2="80109" y2="42718"/>
                        <a14:foregroundMark x1="24796" y1="44337" x2="23161" y2="49515"/>
                        <a14:foregroundMark x1="19346" y1="49515" x2="20708" y2="44337"/>
                        <a14:foregroundMark x1="30245" y1="60194" x2="30245" y2="55663"/>
                        <a14:backgroundMark x1="31335" y1="77023" x2="53951" y2="77346"/>
                        <a14:backgroundMark x1="53951" y1="77346" x2="31608" y2="72816"/>
                        <a14:backgroundMark x1="31608" y1="72816" x2="51226" y2="90939"/>
                        <a14:backgroundMark x1="51226" y1="90939" x2="56676" y2="76052"/>
                        <a14:backgroundMark x1="41144" y1="70550" x2="41689" y2="77346"/>
                      </a14:backgroundRemoval>
                    </a14:imgEffect>
                  </a14:imgLayer>
                </a14:imgProps>
              </a:ext>
            </a:extLst>
          </a:blip>
          <a:srcRect l="16618" r="15601"/>
          <a:stretch/>
        </p:blipFill>
        <p:spPr>
          <a:xfrm>
            <a:off x="10293872" y="143800"/>
            <a:ext cx="1423466" cy="1768216"/>
          </a:xfrm>
          <a:prstGeom prst="rect">
            <a:avLst/>
          </a:prstGeom>
        </p:spPr>
      </p:pic>
      <p:pic>
        <p:nvPicPr>
          <p:cNvPr id="7" name="Image 6">
            <a:extLst>
              <a:ext uri="{FF2B5EF4-FFF2-40B4-BE49-F238E27FC236}">
                <a16:creationId xmlns:a16="http://schemas.microsoft.com/office/drawing/2014/main" id="{57703CD4-0126-46B8-C5BD-C82CFC0E6F37}"/>
              </a:ext>
            </a:extLst>
          </p:cNvPr>
          <p:cNvPicPr>
            <a:picLocks noChangeAspect="1"/>
          </p:cNvPicPr>
          <p:nvPr/>
        </p:nvPicPr>
        <p:blipFill>
          <a:blip r:embed="rId4"/>
          <a:stretch>
            <a:fillRect/>
          </a:stretch>
        </p:blipFill>
        <p:spPr>
          <a:xfrm>
            <a:off x="6709693" y="5972537"/>
            <a:ext cx="4046544" cy="718976"/>
          </a:xfrm>
          <a:prstGeom prst="rect">
            <a:avLst/>
          </a:prstGeom>
          <a:ln>
            <a:solidFill>
              <a:schemeClr val="accent2"/>
            </a:solidFill>
          </a:ln>
          <a:effectLst>
            <a:outerShdw blurRad="50800" dist="38100" dir="2700000" algn="tl" rotWithShape="0">
              <a:prstClr val="black">
                <a:alpha val="40000"/>
              </a:prstClr>
            </a:outerShdw>
          </a:effectLst>
        </p:spPr>
      </p:pic>
      <p:sp>
        <p:nvSpPr>
          <p:cNvPr id="9" name="Espace réservé du numéro de diapositive 8">
            <a:extLst>
              <a:ext uri="{FF2B5EF4-FFF2-40B4-BE49-F238E27FC236}">
                <a16:creationId xmlns:a16="http://schemas.microsoft.com/office/drawing/2014/main" id="{DD9F2CE4-45F6-F354-1421-F9178DF88C83}"/>
              </a:ext>
            </a:extLst>
          </p:cNvPr>
          <p:cNvSpPr>
            <a:spLocks noGrp="1"/>
          </p:cNvSpPr>
          <p:nvPr>
            <p:ph type="sldNum" sz="quarter" idx="4"/>
          </p:nvPr>
        </p:nvSpPr>
        <p:spPr/>
        <p:txBody>
          <a:bodyPr/>
          <a:lstStyle/>
          <a:p>
            <a:fld id="{33C783E2-4793-4F48-A271-51A73CC37D74}" type="slidenum">
              <a:rPr lang="fr-FR" smtClean="0"/>
              <a:t>82</a:t>
            </a:fld>
            <a:endParaRPr lang="fr-FR"/>
          </a:p>
        </p:txBody>
      </p:sp>
    </p:spTree>
    <p:extLst>
      <p:ext uri="{BB962C8B-B14F-4D97-AF65-F5344CB8AC3E}">
        <p14:creationId xmlns:p14="http://schemas.microsoft.com/office/powerpoint/2010/main" val="50534705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Deuxième exemple pratique</a:t>
            </a:r>
          </a:p>
        </p:txBody>
      </p:sp>
      <p:sp>
        <p:nvSpPr>
          <p:cNvPr id="3" name="Espace réservé du contenu 2"/>
          <p:cNvSpPr>
            <a:spLocks noGrp="1"/>
          </p:cNvSpPr>
          <p:nvPr>
            <p:ph idx="1"/>
          </p:nvPr>
        </p:nvSpPr>
        <p:spPr/>
        <p:txBody>
          <a:bodyPr>
            <a:normAutofit/>
          </a:bodyPr>
          <a:lstStyle/>
          <a:p>
            <a:pPr marL="0" indent="0">
              <a:buNone/>
            </a:pPr>
            <a:r>
              <a:rPr lang="fr-FR" dirty="0"/>
              <a:t>Cet exemple illustre comment les interfaces fonctionnelles permettent d’appliquer un traitement à tous les éléments d’une liste… </a:t>
            </a:r>
          </a:p>
          <a:p>
            <a:pPr marL="0" indent="0">
              <a:buNone/>
            </a:pPr>
            <a:r>
              <a:rPr lang="fr-FR" dirty="0"/>
              <a:t>Nous verrons une utilisation de l’interface fonctionnelle:</a:t>
            </a:r>
            <a:endParaRPr lang="fr-FR" sz="2600" dirty="0">
              <a:solidFill>
                <a:schemeClr val="accent4"/>
              </a:solidFill>
              <a:latin typeface="Consolas"/>
              <a:cs typeface="Consolas"/>
            </a:endParaRPr>
          </a:p>
        </p:txBody>
      </p:sp>
      <p:graphicFrame>
        <p:nvGraphicFramePr>
          <p:cNvPr id="5" name="Tableau 4">
            <a:extLst>
              <a:ext uri="{FF2B5EF4-FFF2-40B4-BE49-F238E27FC236}">
                <a16:creationId xmlns:a16="http://schemas.microsoft.com/office/drawing/2014/main" id="{D10CB4CD-88F8-C745-967A-E5EADC407032}"/>
              </a:ext>
            </a:extLst>
          </p:cNvPr>
          <p:cNvGraphicFramePr>
            <a:graphicFrameLocks noGrp="1"/>
          </p:cNvGraphicFramePr>
          <p:nvPr/>
        </p:nvGraphicFramePr>
        <p:xfrm>
          <a:off x="925976" y="3457918"/>
          <a:ext cx="10515600" cy="457200"/>
        </p:xfrm>
        <a:graphic>
          <a:graphicData uri="http://schemas.openxmlformats.org/drawingml/2006/table">
            <a:tbl>
              <a:tblPr bandRow="1">
                <a:tableStyleId>{5C22544A-7EE6-4342-B048-85BDC9FD1C3A}</a:tableStyleId>
              </a:tblPr>
              <a:tblGrid>
                <a:gridCol w="1736201">
                  <a:extLst>
                    <a:ext uri="{9D8B030D-6E8A-4147-A177-3AD203B41FA5}">
                      <a16:colId xmlns:a16="http://schemas.microsoft.com/office/drawing/2014/main" val="2836864695"/>
                    </a:ext>
                  </a:extLst>
                </a:gridCol>
                <a:gridCol w="2419109">
                  <a:extLst>
                    <a:ext uri="{9D8B030D-6E8A-4147-A177-3AD203B41FA5}">
                      <a16:colId xmlns:a16="http://schemas.microsoft.com/office/drawing/2014/main" val="3760215265"/>
                    </a:ext>
                  </a:extLst>
                </a:gridCol>
                <a:gridCol w="6360290">
                  <a:extLst>
                    <a:ext uri="{9D8B030D-6E8A-4147-A177-3AD203B41FA5}">
                      <a16:colId xmlns:a16="http://schemas.microsoft.com/office/drawing/2014/main" val="3204937455"/>
                    </a:ext>
                  </a:extLst>
                </a:gridCol>
              </a:tblGrid>
              <a:tr h="370840">
                <a:tc>
                  <a:txBody>
                    <a:bodyPr/>
                    <a:lstStyle/>
                    <a:p>
                      <a:r>
                        <a:rPr lang="fr-BE" sz="2000" b="1" dirty="0">
                          <a:solidFill>
                            <a:schemeClr val="accent4"/>
                          </a:solidFill>
                          <a:latin typeface="Consolas" panose="020B0609020204030204" pitchFamily="49" charset="0"/>
                          <a:cs typeface="Consolas" panose="020B0609020204030204" pitchFamily="49" charset="0"/>
                        </a:rPr>
                        <a:t>Consumer&lt;</a:t>
                      </a:r>
                      <a:r>
                        <a:rPr lang="fr-BE" sz="2000" b="1" dirty="0" err="1">
                          <a:solidFill>
                            <a:schemeClr val="accent4"/>
                          </a:solidFill>
                          <a:latin typeface="Consolas" panose="020B0609020204030204" pitchFamily="49" charset="0"/>
                          <a:cs typeface="Consolas" panose="020B0609020204030204" pitchFamily="49" charset="0"/>
                        </a:rPr>
                        <a:t>T</a:t>
                      </a:r>
                      <a:r>
                        <a:rPr lang="fr-BE" sz="2000" b="1" dirty="0">
                          <a:solidFill>
                            <a:schemeClr val="accent4"/>
                          </a:solidFill>
                          <a:latin typeface="Consolas" panose="020B0609020204030204" pitchFamily="49" charset="0"/>
                          <a:cs typeface="Consolas" panose="020B0609020204030204" pitchFamily="49" charset="0"/>
                        </a:rPr>
                        <a:t>&gt;</a:t>
                      </a:r>
                      <a:endParaRPr lang="fr-FR" sz="2000" b="1" dirty="0">
                        <a:solidFill>
                          <a:schemeClr val="accent4"/>
                        </a:solidFill>
                        <a:latin typeface="Consolas" panose="020B0609020204030204" pitchFamily="49" charset="0"/>
                        <a:cs typeface="Consolas" panose="020B0609020204030204" pitchFamily="49" charset="0"/>
                      </a:endParaRPr>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noFill/>
                  </a:tcPr>
                </a:tc>
                <a:tc>
                  <a:txBody>
                    <a:bodyPr/>
                    <a:lstStyle/>
                    <a:p>
                      <a:pPr marL="0" algn="l" defTabSz="914400" rtl="0" eaLnBrk="1" latinLnBrk="0" hangingPunct="1"/>
                      <a:r>
                        <a:rPr lang="fr-BE" sz="2000" b="1" kern="1200" dirty="0" err="1">
                          <a:solidFill>
                            <a:schemeClr val="accent4"/>
                          </a:solidFill>
                          <a:latin typeface="Consolas" panose="020B0609020204030204" pitchFamily="49" charset="0"/>
                          <a:ea typeface="+mn-ea"/>
                          <a:cs typeface="Consolas" panose="020B0609020204030204" pitchFamily="49" charset="0"/>
                        </a:rPr>
                        <a:t>void</a:t>
                      </a:r>
                      <a:r>
                        <a:rPr lang="fr-BE" sz="2000" b="1" kern="1200" dirty="0">
                          <a:solidFill>
                            <a:schemeClr val="accent4"/>
                          </a:solidFill>
                          <a:latin typeface="Consolas" panose="020B0609020204030204" pitchFamily="49" charset="0"/>
                          <a:ea typeface="+mn-ea"/>
                          <a:cs typeface="Consolas" panose="020B0609020204030204" pitchFamily="49" charset="0"/>
                        </a:rPr>
                        <a:t> </a:t>
                      </a:r>
                      <a:r>
                        <a:rPr lang="fr-BE" sz="2000" b="1" kern="1200" dirty="0" err="1">
                          <a:solidFill>
                            <a:schemeClr val="accent4"/>
                          </a:solidFill>
                          <a:latin typeface="Consolas" panose="020B0609020204030204" pitchFamily="49" charset="0"/>
                          <a:ea typeface="+mn-ea"/>
                          <a:cs typeface="Consolas" panose="020B0609020204030204" pitchFamily="49" charset="0"/>
                        </a:rPr>
                        <a:t>accept</a:t>
                      </a:r>
                      <a:r>
                        <a:rPr lang="fr-BE" sz="2000" b="1" kern="1200" dirty="0">
                          <a:solidFill>
                            <a:schemeClr val="accent4"/>
                          </a:solidFill>
                          <a:latin typeface="Consolas" panose="020B0609020204030204" pitchFamily="49" charset="0"/>
                          <a:ea typeface="+mn-ea"/>
                          <a:cs typeface="Consolas" panose="020B0609020204030204" pitchFamily="49" charset="0"/>
                        </a:rPr>
                        <a:t>(</a:t>
                      </a:r>
                      <a:r>
                        <a:rPr lang="fr-BE" sz="2000" b="1" kern="1200" dirty="0" err="1">
                          <a:solidFill>
                            <a:schemeClr val="accent4"/>
                          </a:solidFill>
                          <a:latin typeface="Consolas" panose="020B0609020204030204" pitchFamily="49" charset="0"/>
                          <a:ea typeface="+mn-ea"/>
                          <a:cs typeface="Consolas" panose="020B0609020204030204" pitchFamily="49" charset="0"/>
                        </a:rPr>
                        <a:t>T</a:t>
                      </a:r>
                      <a:r>
                        <a:rPr lang="fr-BE" sz="2000" b="1" kern="1200" dirty="0">
                          <a:solidFill>
                            <a:schemeClr val="accent4"/>
                          </a:solidFill>
                          <a:latin typeface="Consolas" panose="020B0609020204030204" pitchFamily="49" charset="0"/>
                          <a:ea typeface="+mn-ea"/>
                          <a:cs typeface="Consolas" panose="020B0609020204030204" pitchFamily="49" charset="0"/>
                        </a:rPr>
                        <a:t> </a:t>
                      </a:r>
                      <a:r>
                        <a:rPr lang="fr-BE" sz="2000" b="1" kern="1200" dirty="0" err="1">
                          <a:solidFill>
                            <a:schemeClr val="accent4"/>
                          </a:solidFill>
                          <a:latin typeface="Consolas" panose="020B0609020204030204" pitchFamily="49" charset="0"/>
                          <a:ea typeface="+mn-ea"/>
                          <a:cs typeface="Consolas" panose="020B0609020204030204" pitchFamily="49" charset="0"/>
                        </a:rPr>
                        <a:t>t</a:t>
                      </a:r>
                      <a:r>
                        <a:rPr lang="fr-BE" sz="2000" b="1" kern="1200" dirty="0">
                          <a:solidFill>
                            <a:schemeClr val="accent4"/>
                          </a:solidFill>
                          <a:latin typeface="Consolas" panose="020B0609020204030204" pitchFamily="49" charset="0"/>
                          <a:ea typeface="+mn-ea"/>
                          <a:cs typeface="Consolas" panose="020B0609020204030204" pitchFamily="49" charset="0"/>
                        </a:rPr>
                        <a:t>)</a:t>
                      </a:r>
                      <a:endParaRPr lang="fr-FR" sz="2000" b="1" kern="1200" dirty="0">
                        <a:solidFill>
                          <a:schemeClr val="accent4"/>
                        </a:solidFill>
                        <a:latin typeface="Consolas" panose="020B0609020204030204" pitchFamily="49" charset="0"/>
                        <a:ea typeface="+mn-ea"/>
                        <a:cs typeface="Consolas" panose="020B0609020204030204" pitchFamily="49" charset="0"/>
                      </a:endParaRPr>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noFill/>
                  </a:tcPr>
                </a:tc>
                <a:tc>
                  <a:txBody>
                    <a:bodyPr/>
                    <a:lstStyle/>
                    <a:p>
                      <a:r>
                        <a:rPr lang="fr-FR" sz="2400" b="1" i="0" dirty="0">
                          <a:solidFill>
                            <a:schemeClr val="tx1"/>
                          </a:solidFill>
                          <a:latin typeface="Calibri" panose="020F0502020204030204" pitchFamily="34" charset="0"/>
                          <a:cs typeface="Calibri" panose="020F0502020204030204" pitchFamily="34" charset="0"/>
                        </a:rPr>
                        <a:t>Applique un traitement aux paramètres reçus</a:t>
                      </a:r>
                    </a:p>
                  </a:txBody>
                  <a:tcPr>
                    <a:lnL w="12700" cap="flat" cmpd="sng" algn="ctr">
                      <a:solidFill>
                        <a:schemeClr val="accent4"/>
                      </a:solidFill>
                      <a:prstDash val="solid"/>
                      <a:round/>
                      <a:headEnd type="none" w="med" len="med"/>
                      <a:tailEnd type="none" w="med" len="med"/>
                    </a:lnL>
                    <a:lnR w="12700" cap="flat" cmpd="sng" algn="ctr">
                      <a:solidFill>
                        <a:schemeClr val="accent4"/>
                      </a:solidFill>
                      <a:prstDash val="solid"/>
                      <a:round/>
                      <a:headEnd type="none" w="med" len="med"/>
                      <a:tailEnd type="none" w="med" len="med"/>
                    </a:lnR>
                    <a:lnT w="12700" cap="flat" cmpd="sng" algn="ctr">
                      <a:solidFill>
                        <a:schemeClr val="accent4"/>
                      </a:solidFill>
                      <a:prstDash val="solid"/>
                      <a:round/>
                      <a:headEnd type="none" w="med" len="med"/>
                      <a:tailEnd type="none" w="med" len="med"/>
                    </a:lnT>
                    <a:lnB w="12700" cap="flat" cmpd="sng" algn="ctr">
                      <a:solidFill>
                        <a:schemeClr val="accent4"/>
                      </a:solidFill>
                      <a:prstDash val="solid"/>
                      <a:round/>
                      <a:headEnd type="none" w="med" len="med"/>
                      <a:tailEnd type="none" w="med" len="med"/>
                    </a:lnB>
                    <a:noFill/>
                  </a:tcPr>
                </a:tc>
                <a:extLst>
                  <a:ext uri="{0D108BD9-81ED-4DB2-BD59-A6C34878D82A}">
                    <a16:rowId xmlns:a16="http://schemas.microsoft.com/office/drawing/2014/main" val="100593755"/>
                  </a:ext>
                </a:extLst>
              </a:tr>
            </a:tbl>
          </a:graphicData>
        </a:graphic>
      </p:graphicFrame>
      <p:sp>
        <p:nvSpPr>
          <p:cNvPr id="8" name="Rectangle 7">
            <a:extLst>
              <a:ext uri="{FF2B5EF4-FFF2-40B4-BE49-F238E27FC236}">
                <a16:creationId xmlns:a16="http://schemas.microsoft.com/office/drawing/2014/main" id="{B294DA8F-166C-0242-B418-ACAB912F505E}"/>
              </a:ext>
            </a:extLst>
          </p:cNvPr>
          <p:cNvSpPr/>
          <p:nvPr/>
        </p:nvSpPr>
        <p:spPr>
          <a:xfrm>
            <a:off x="4740806" y="4070744"/>
            <a:ext cx="6976532" cy="338554"/>
          </a:xfrm>
          <a:prstGeom prst="rect">
            <a:avLst/>
          </a:prstGeom>
        </p:spPr>
        <p:txBody>
          <a:bodyPr wrap="square">
            <a:spAutoFit/>
          </a:bodyPr>
          <a:lstStyle/>
          <a:p>
            <a:r>
              <a:rPr lang="fr-FR" sz="1600" i="1" dirty="0">
                <a:hlinkClick r:id="rId2"/>
              </a:rPr>
              <a:t>https://docs.oracle.com/javase/8/docs/api/java/util/function/Consumer.html</a:t>
            </a:r>
            <a:endParaRPr lang="fr-FR" sz="1600" i="1" dirty="0"/>
          </a:p>
        </p:txBody>
      </p:sp>
      <p:pic>
        <p:nvPicPr>
          <p:cNvPr id="6" name="Image 5">
            <a:extLst>
              <a:ext uri="{FF2B5EF4-FFF2-40B4-BE49-F238E27FC236}">
                <a16:creationId xmlns:a16="http://schemas.microsoft.com/office/drawing/2014/main" id="{50A4BBD3-97B8-9CFC-C54C-2A8B99EDE76F}"/>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2913" b="89968" l="19346" r="80109">
                        <a14:foregroundMark x1="68392" y1="26537" x2="70027" y2="28479"/>
                        <a14:foregroundMark x1="77657" y1="45307" x2="77384" y2="43366"/>
                        <a14:foregroundMark x1="49046" y1="4854" x2="50954" y2="3236"/>
                        <a14:foregroundMark x1="78474" y1="40453" x2="80109" y2="42718"/>
                        <a14:foregroundMark x1="24796" y1="44337" x2="23161" y2="49515"/>
                        <a14:foregroundMark x1="19346" y1="49515" x2="20708" y2="44337"/>
                        <a14:foregroundMark x1="30245" y1="60194" x2="30245" y2="55663"/>
                        <a14:backgroundMark x1="31335" y1="77023" x2="53951" y2="77346"/>
                        <a14:backgroundMark x1="53951" y1="77346" x2="31608" y2="72816"/>
                        <a14:backgroundMark x1="31608" y1="72816" x2="51226" y2="90939"/>
                        <a14:backgroundMark x1="51226" y1="90939" x2="56676" y2="76052"/>
                        <a14:backgroundMark x1="41144" y1="70550" x2="41689" y2="77346"/>
                      </a14:backgroundRemoval>
                    </a14:imgEffect>
                  </a14:imgLayer>
                </a14:imgProps>
              </a:ext>
            </a:extLst>
          </a:blip>
          <a:srcRect l="16618" r="15601"/>
          <a:stretch/>
        </p:blipFill>
        <p:spPr>
          <a:xfrm flipH="1">
            <a:off x="10293872" y="143800"/>
            <a:ext cx="1423466" cy="1768216"/>
          </a:xfrm>
          <a:prstGeom prst="rect">
            <a:avLst/>
          </a:prstGeom>
        </p:spPr>
      </p:pic>
      <p:sp>
        <p:nvSpPr>
          <p:cNvPr id="9" name="Espace réservé du contenu 2">
            <a:extLst>
              <a:ext uri="{FF2B5EF4-FFF2-40B4-BE49-F238E27FC236}">
                <a16:creationId xmlns:a16="http://schemas.microsoft.com/office/drawing/2014/main" id="{16A670C0-747B-2AF6-D266-0A3963A5831F}"/>
              </a:ext>
            </a:extLst>
          </p:cNvPr>
          <p:cNvSpPr txBox="1">
            <a:spLocks/>
          </p:cNvSpPr>
          <p:nvPr/>
        </p:nvSpPr>
        <p:spPr>
          <a:xfrm>
            <a:off x="838200" y="4706885"/>
            <a:ext cx="10515600" cy="147007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dirty="0"/>
              <a:t>Nous avons une </a:t>
            </a:r>
            <a:r>
              <a:rPr lang="fr-FR" sz="2600" dirty="0">
                <a:solidFill>
                  <a:schemeClr val="accent4"/>
                </a:solidFill>
                <a:latin typeface="Consolas"/>
                <a:cs typeface="Consolas"/>
              </a:rPr>
              <a:t>List</a:t>
            </a:r>
            <a:r>
              <a:rPr lang="fr-FR" dirty="0"/>
              <a:t> d’éléments </a:t>
            </a:r>
            <a:r>
              <a:rPr lang="fr-FR" sz="2600" dirty="0">
                <a:solidFill>
                  <a:schemeClr val="accent4"/>
                </a:solidFill>
                <a:latin typeface="Consolas"/>
                <a:cs typeface="Consolas"/>
              </a:rPr>
              <a:t>liste</a:t>
            </a:r>
            <a:r>
              <a:rPr lang="fr-FR" dirty="0"/>
              <a:t>. Pour les afficher tous, nous pouvons écrire:</a:t>
            </a:r>
          </a:p>
          <a:p>
            <a:pPr marL="0" indent="0">
              <a:buFont typeface="Arial" panose="020B0604020202020204" pitchFamily="34" charset="0"/>
              <a:buNone/>
            </a:pPr>
            <a:r>
              <a:rPr lang="fr-FR" sz="2600" dirty="0">
                <a:solidFill>
                  <a:schemeClr val="accent4"/>
                </a:solidFill>
                <a:latin typeface="Consolas"/>
                <a:cs typeface="Consolas"/>
              </a:rPr>
              <a:t>for(Object </a:t>
            </a:r>
            <a:r>
              <a:rPr lang="fr-FR" sz="2600" dirty="0" err="1">
                <a:solidFill>
                  <a:schemeClr val="accent4"/>
                </a:solidFill>
                <a:latin typeface="Consolas"/>
                <a:cs typeface="Consolas"/>
              </a:rPr>
              <a:t>elem</a:t>
            </a:r>
            <a:r>
              <a:rPr lang="fr-FR" sz="2600" dirty="0">
                <a:solidFill>
                  <a:schemeClr val="accent4"/>
                </a:solidFill>
                <a:latin typeface="Consolas"/>
                <a:cs typeface="Consolas"/>
              </a:rPr>
              <a:t> : liste) </a:t>
            </a:r>
            <a:r>
              <a:rPr lang="fr-FR" sz="2600" dirty="0" err="1">
                <a:solidFill>
                  <a:schemeClr val="accent4"/>
                </a:solidFill>
                <a:latin typeface="Consolas"/>
                <a:cs typeface="Consolas"/>
              </a:rPr>
              <a:t>System.out.println</a:t>
            </a:r>
            <a:r>
              <a:rPr lang="fr-FR" sz="2600" dirty="0">
                <a:solidFill>
                  <a:schemeClr val="accent4"/>
                </a:solidFill>
                <a:latin typeface="Consolas"/>
                <a:cs typeface="Consolas"/>
              </a:rPr>
              <a:t>(</a:t>
            </a:r>
            <a:r>
              <a:rPr lang="fr-FR" sz="2600" dirty="0" err="1">
                <a:solidFill>
                  <a:schemeClr val="accent4"/>
                </a:solidFill>
                <a:latin typeface="Consolas"/>
                <a:cs typeface="Consolas"/>
              </a:rPr>
              <a:t>elem</a:t>
            </a:r>
            <a:r>
              <a:rPr lang="fr-FR" sz="2600" dirty="0">
                <a:solidFill>
                  <a:schemeClr val="accent4"/>
                </a:solidFill>
                <a:latin typeface="Consolas"/>
                <a:cs typeface="Consolas"/>
              </a:rPr>
              <a:t>);</a:t>
            </a:r>
          </a:p>
        </p:txBody>
      </p:sp>
      <p:sp>
        <p:nvSpPr>
          <p:cNvPr id="10" name="Espace réservé du numéro de diapositive 9">
            <a:extLst>
              <a:ext uri="{FF2B5EF4-FFF2-40B4-BE49-F238E27FC236}">
                <a16:creationId xmlns:a16="http://schemas.microsoft.com/office/drawing/2014/main" id="{45567954-811A-E2B4-D866-62B9A0E11DEB}"/>
              </a:ext>
            </a:extLst>
          </p:cNvPr>
          <p:cNvSpPr>
            <a:spLocks noGrp="1"/>
          </p:cNvSpPr>
          <p:nvPr>
            <p:ph type="sldNum" sz="quarter" idx="4"/>
          </p:nvPr>
        </p:nvSpPr>
        <p:spPr/>
        <p:txBody>
          <a:bodyPr/>
          <a:lstStyle/>
          <a:p>
            <a:fld id="{33C783E2-4793-4F48-A271-51A73CC37D74}" type="slidenum">
              <a:rPr lang="fr-FR" smtClean="0"/>
              <a:t>83</a:t>
            </a:fld>
            <a:endParaRPr lang="fr-FR"/>
          </a:p>
        </p:txBody>
      </p:sp>
    </p:spTree>
    <p:extLst>
      <p:ext uri="{BB962C8B-B14F-4D97-AF65-F5344CB8AC3E}">
        <p14:creationId xmlns:p14="http://schemas.microsoft.com/office/powerpoint/2010/main" val="3238788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animEffect transition="in" filter="fade">
                                      <p:cBhvr>
                                        <p:cTn id="15" dur="500"/>
                                        <p:tgtEl>
                                          <p:spTgt spid="9">
                                            <p:txEl>
                                              <p:pRg st="0" end="0"/>
                                            </p:txEl>
                                          </p:spTgt>
                                        </p:tgtEl>
                                      </p:cBhvr>
                                    </p:animEffect>
                                  </p:childTnLst>
                                </p:cTn>
                              </p:par>
                            </p:childTnLst>
                          </p:cTn>
                        </p:par>
                        <p:par>
                          <p:cTn id="16" fill="hold">
                            <p:stCondLst>
                              <p:cond delay="500"/>
                            </p:stCondLst>
                            <p:childTnLst>
                              <p:par>
                                <p:cTn id="17" presetID="22" presetClass="entr" presetSubtype="8" fill="hold" nodeType="afterEffect">
                                  <p:stCondLst>
                                    <p:cond delay="500"/>
                                  </p:stCondLst>
                                  <p:childTnLst>
                                    <p:set>
                                      <p:cBhvr>
                                        <p:cTn id="18" dur="1" fill="hold">
                                          <p:stCondLst>
                                            <p:cond delay="0"/>
                                          </p:stCondLst>
                                        </p:cTn>
                                        <p:tgtEl>
                                          <p:spTgt spid="9">
                                            <p:txEl>
                                              <p:pRg st="1" end="1"/>
                                            </p:txEl>
                                          </p:spTgt>
                                        </p:tgtEl>
                                        <p:attrNameLst>
                                          <p:attrName>style.visibility</p:attrName>
                                        </p:attrNameLst>
                                      </p:cBhvr>
                                      <p:to>
                                        <p:strVal val="visible"/>
                                      </p:to>
                                    </p:set>
                                    <p:animEffect transition="in" filter="wipe(left)">
                                      <p:cBhvr>
                                        <p:cTn id="19"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Deuxième exemple pratique</a:t>
            </a:r>
          </a:p>
        </p:txBody>
      </p:sp>
      <p:sp>
        <p:nvSpPr>
          <p:cNvPr id="3" name="Espace réservé du contenu 2"/>
          <p:cNvSpPr>
            <a:spLocks noGrp="1"/>
          </p:cNvSpPr>
          <p:nvPr>
            <p:ph idx="1"/>
          </p:nvPr>
        </p:nvSpPr>
        <p:spPr/>
        <p:txBody>
          <a:bodyPr>
            <a:normAutofit/>
          </a:bodyPr>
          <a:lstStyle/>
          <a:p>
            <a:pPr marL="0" indent="0">
              <a:buNone/>
            </a:pPr>
            <a:r>
              <a:rPr lang="fr-FR" sz="2600" dirty="0">
                <a:solidFill>
                  <a:schemeClr val="accent4"/>
                </a:solidFill>
                <a:latin typeface="Consolas"/>
                <a:cs typeface="Consolas"/>
              </a:rPr>
              <a:t>List</a:t>
            </a:r>
            <a:r>
              <a:rPr lang="fr-FR" dirty="0"/>
              <a:t> présente une méthode </a:t>
            </a:r>
            <a:r>
              <a:rPr lang="fr-FR" sz="2600" dirty="0" err="1">
                <a:solidFill>
                  <a:schemeClr val="accent4"/>
                </a:solidFill>
                <a:latin typeface="Consolas"/>
                <a:cs typeface="Consolas"/>
              </a:rPr>
              <a:t>forEach</a:t>
            </a:r>
            <a:r>
              <a:rPr lang="fr-FR" dirty="0"/>
              <a:t> (héritée de </a:t>
            </a:r>
            <a:r>
              <a:rPr lang="fr-FR" sz="2600" dirty="0" err="1">
                <a:solidFill>
                  <a:schemeClr val="accent4"/>
                </a:solidFill>
                <a:latin typeface="Consolas"/>
                <a:cs typeface="Consolas"/>
              </a:rPr>
              <a:t>Iterable</a:t>
            </a:r>
            <a:r>
              <a:rPr lang="fr-FR" dirty="0"/>
              <a:t>) qui prend justement un </a:t>
            </a:r>
            <a:r>
              <a:rPr lang="fr-FR" sz="2600" dirty="0">
                <a:solidFill>
                  <a:schemeClr val="accent4"/>
                </a:solidFill>
                <a:latin typeface="Consolas"/>
                <a:cs typeface="Consolas"/>
              </a:rPr>
              <a:t>Consumer&lt;</a:t>
            </a:r>
            <a:r>
              <a:rPr lang="fr-FR" sz="2600" dirty="0" err="1">
                <a:solidFill>
                  <a:schemeClr val="accent4"/>
                </a:solidFill>
                <a:latin typeface="Consolas"/>
                <a:cs typeface="Consolas"/>
              </a:rPr>
              <a:t>T</a:t>
            </a:r>
            <a:r>
              <a:rPr lang="fr-FR" sz="2600" dirty="0">
                <a:solidFill>
                  <a:schemeClr val="accent4"/>
                </a:solidFill>
                <a:latin typeface="Consolas"/>
                <a:cs typeface="Consolas"/>
              </a:rPr>
              <a:t>&gt;</a:t>
            </a:r>
            <a:r>
              <a:rPr lang="fr-FR" dirty="0"/>
              <a:t> en paramètre.</a:t>
            </a:r>
            <a:endParaRPr lang="fr-FR" dirty="0">
              <a:solidFill>
                <a:srgbClr val="C00000"/>
              </a:solidFill>
              <a:latin typeface="Consolas"/>
              <a:cs typeface="Consolas"/>
            </a:endParaRPr>
          </a:p>
        </p:txBody>
      </p:sp>
      <p:pic>
        <p:nvPicPr>
          <p:cNvPr id="5" name="Image 4">
            <a:extLst>
              <a:ext uri="{FF2B5EF4-FFF2-40B4-BE49-F238E27FC236}">
                <a16:creationId xmlns:a16="http://schemas.microsoft.com/office/drawing/2014/main" id="{0C350D7D-1905-B478-D986-515778C894A2}"/>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2913" b="89968" l="19346" r="80109">
                        <a14:foregroundMark x1="68392" y1="26537" x2="70027" y2="28479"/>
                        <a14:foregroundMark x1="77657" y1="45307" x2="77384" y2="43366"/>
                        <a14:foregroundMark x1="49046" y1="4854" x2="50954" y2="3236"/>
                        <a14:foregroundMark x1="78474" y1="40453" x2="80109" y2="42718"/>
                        <a14:foregroundMark x1="24796" y1="44337" x2="23161" y2="49515"/>
                        <a14:foregroundMark x1="19346" y1="49515" x2="20708" y2="44337"/>
                        <a14:foregroundMark x1="30245" y1="60194" x2="30245" y2="55663"/>
                        <a14:backgroundMark x1="31335" y1="77023" x2="53951" y2="77346"/>
                        <a14:backgroundMark x1="53951" y1="77346" x2="31608" y2="72816"/>
                        <a14:backgroundMark x1="31608" y1="72816" x2="51226" y2="90939"/>
                        <a14:backgroundMark x1="51226" y1="90939" x2="56676" y2="76052"/>
                        <a14:backgroundMark x1="41144" y1="70550" x2="41689" y2="77346"/>
                      </a14:backgroundRemoval>
                    </a14:imgEffect>
                  </a14:imgLayer>
                </a14:imgProps>
              </a:ext>
            </a:extLst>
          </a:blip>
          <a:srcRect l="16618" r="15601"/>
          <a:stretch/>
        </p:blipFill>
        <p:spPr>
          <a:xfrm flipH="1">
            <a:off x="10293872" y="143800"/>
            <a:ext cx="1423466" cy="1768216"/>
          </a:xfrm>
          <a:prstGeom prst="rect">
            <a:avLst/>
          </a:prstGeom>
        </p:spPr>
      </p:pic>
      <p:sp>
        <p:nvSpPr>
          <p:cNvPr id="6" name="Espace réservé du contenu 2">
            <a:extLst>
              <a:ext uri="{FF2B5EF4-FFF2-40B4-BE49-F238E27FC236}">
                <a16:creationId xmlns:a16="http://schemas.microsoft.com/office/drawing/2014/main" id="{A7B37823-3BB2-C4F9-69FE-DE0138A89D56}"/>
              </a:ext>
            </a:extLst>
          </p:cNvPr>
          <p:cNvSpPr txBox="1">
            <a:spLocks/>
          </p:cNvSpPr>
          <p:nvPr/>
        </p:nvSpPr>
        <p:spPr>
          <a:xfrm>
            <a:off x="838200" y="4273810"/>
            <a:ext cx="10515600" cy="176821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dirty="0"/>
              <a:t>Cette méthode agit comme si on exécutait:</a:t>
            </a:r>
          </a:p>
          <a:p>
            <a:pPr marL="0" indent="0">
              <a:buFont typeface="Arial" panose="020B0604020202020204" pitchFamily="34" charset="0"/>
              <a:buNone/>
            </a:pPr>
            <a:r>
              <a:rPr lang="fr-BE" dirty="0"/>
              <a:t>	</a:t>
            </a:r>
            <a:r>
              <a:rPr lang="fr-BE" sz="2600" dirty="0">
                <a:solidFill>
                  <a:schemeClr val="accent4"/>
                </a:solidFill>
                <a:latin typeface="Consolas"/>
                <a:cs typeface="Consolas"/>
              </a:rPr>
              <a:t>for (</a:t>
            </a:r>
            <a:r>
              <a:rPr lang="fr-BE" sz="2600" dirty="0" err="1">
                <a:solidFill>
                  <a:schemeClr val="accent4"/>
                </a:solidFill>
                <a:latin typeface="Consolas"/>
                <a:cs typeface="Consolas"/>
              </a:rPr>
              <a:t>T</a:t>
            </a:r>
            <a:r>
              <a:rPr lang="fr-BE" sz="2600" dirty="0">
                <a:solidFill>
                  <a:schemeClr val="accent4"/>
                </a:solidFill>
                <a:latin typeface="Consolas"/>
                <a:cs typeface="Consolas"/>
              </a:rPr>
              <a:t> </a:t>
            </a:r>
            <a:r>
              <a:rPr lang="fr-BE" sz="2600" dirty="0" err="1">
                <a:solidFill>
                  <a:schemeClr val="accent4"/>
                </a:solidFill>
                <a:latin typeface="Consolas"/>
                <a:cs typeface="Consolas"/>
              </a:rPr>
              <a:t>t</a:t>
            </a:r>
            <a:r>
              <a:rPr lang="fr-BE" sz="2600" dirty="0">
                <a:solidFill>
                  <a:schemeClr val="accent4"/>
                </a:solidFill>
                <a:latin typeface="Consolas"/>
                <a:cs typeface="Consolas"/>
              </a:rPr>
              <a:t> : </a:t>
            </a:r>
            <a:r>
              <a:rPr lang="fr-BE" sz="2600" dirty="0" err="1">
                <a:solidFill>
                  <a:schemeClr val="accent4"/>
                </a:solidFill>
                <a:latin typeface="Consolas"/>
                <a:cs typeface="Consolas"/>
              </a:rPr>
              <a:t>this</a:t>
            </a:r>
            <a:r>
              <a:rPr lang="fr-BE" sz="2600" dirty="0">
                <a:solidFill>
                  <a:schemeClr val="accent4"/>
                </a:solidFill>
                <a:latin typeface="Consolas"/>
                <a:cs typeface="Consolas"/>
              </a:rPr>
              <a:t>) </a:t>
            </a:r>
            <a:r>
              <a:rPr lang="fr-BE" sz="2600" dirty="0" err="1">
                <a:solidFill>
                  <a:schemeClr val="accent4"/>
                </a:solidFill>
                <a:latin typeface="Consolas"/>
                <a:cs typeface="Consolas"/>
              </a:rPr>
              <a:t>action.accept</a:t>
            </a:r>
            <a:r>
              <a:rPr lang="fr-BE" sz="2600" dirty="0">
                <a:solidFill>
                  <a:schemeClr val="accent4"/>
                </a:solidFill>
                <a:latin typeface="Consolas"/>
                <a:cs typeface="Consolas"/>
              </a:rPr>
              <a:t>(</a:t>
            </a:r>
            <a:r>
              <a:rPr lang="fr-BE" sz="2600" dirty="0" err="1">
                <a:solidFill>
                  <a:schemeClr val="accent4"/>
                </a:solidFill>
                <a:latin typeface="Consolas"/>
                <a:cs typeface="Consolas"/>
              </a:rPr>
              <a:t>t</a:t>
            </a:r>
            <a:r>
              <a:rPr lang="fr-BE" sz="2600" dirty="0">
                <a:solidFill>
                  <a:schemeClr val="accent4"/>
                </a:solidFill>
                <a:latin typeface="Consolas"/>
                <a:cs typeface="Consolas"/>
              </a:rPr>
              <a:t>);</a:t>
            </a:r>
          </a:p>
          <a:p>
            <a:pPr marL="0" indent="0">
              <a:buFont typeface="Arial" panose="020B0604020202020204" pitchFamily="34" charset="0"/>
              <a:buNone/>
            </a:pPr>
            <a:r>
              <a:rPr lang="fr-FR" dirty="0"/>
              <a:t>(où, pour rappel, </a:t>
            </a:r>
            <a:r>
              <a:rPr lang="fr-BE" sz="2600" dirty="0" err="1">
                <a:solidFill>
                  <a:schemeClr val="accent4"/>
                </a:solidFill>
                <a:latin typeface="Consolas"/>
                <a:cs typeface="Consolas"/>
              </a:rPr>
              <a:t>accept</a:t>
            </a:r>
            <a:r>
              <a:rPr lang="fr-FR" dirty="0"/>
              <a:t> est la méthode abstraite de </a:t>
            </a:r>
            <a:r>
              <a:rPr lang="fr-FR" sz="2600" dirty="0">
                <a:solidFill>
                  <a:schemeClr val="accent4"/>
                </a:solidFill>
                <a:latin typeface="Consolas"/>
                <a:cs typeface="Consolas"/>
              </a:rPr>
              <a:t>Consumer</a:t>
            </a:r>
            <a:r>
              <a:rPr lang="fr-FR" dirty="0"/>
              <a:t>)</a:t>
            </a:r>
            <a:endParaRPr lang="fr-FR" dirty="0">
              <a:solidFill>
                <a:srgbClr val="C00000"/>
              </a:solidFill>
              <a:latin typeface="Consolas"/>
              <a:cs typeface="Consolas"/>
            </a:endParaRPr>
          </a:p>
        </p:txBody>
      </p:sp>
      <p:pic>
        <p:nvPicPr>
          <p:cNvPr id="8" name="Image 7">
            <a:extLst>
              <a:ext uri="{FF2B5EF4-FFF2-40B4-BE49-F238E27FC236}">
                <a16:creationId xmlns:a16="http://schemas.microsoft.com/office/drawing/2014/main" id="{4FADC9C7-0D11-5285-74B0-7879518AB103}"/>
              </a:ext>
            </a:extLst>
          </p:cNvPr>
          <p:cNvPicPr>
            <a:picLocks noChangeAspect="1"/>
          </p:cNvPicPr>
          <p:nvPr/>
        </p:nvPicPr>
        <p:blipFill>
          <a:blip r:embed="rId4"/>
          <a:stretch>
            <a:fillRect/>
          </a:stretch>
        </p:blipFill>
        <p:spPr>
          <a:xfrm>
            <a:off x="2209800" y="2986322"/>
            <a:ext cx="7772400" cy="885355"/>
          </a:xfrm>
          <a:prstGeom prst="rect">
            <a:avLst/>
          </a:prstGeom>
          <a:ln>
            <a:solidFill>
              <a:schemeClr val="accent2"/>
            </a:solidFill>
          </a:ln>
          <a:effectLst>
            <a:outerShdw blurRad="50800" dist="38100" dir="2700000" algn="tl" rotWithShape="0">
              <a:prstClr val="black">
                <a:alpha val="40000"/>
              </a:prstClr>
            </a:outerShdw>
          </a:effectLst>
        </p:spPr>
      </p:pic>
      <p:sp>
        <p:nvSpPr>
          <p:cNvPr id="9" name="Espace réservé du numéro de diapositive 8">
            <a:extLst>
              <a:ext uri="{FF2B5EF4-FFF2-40B4-BE49-F238E27FC236}">
                <a16:creationId xmlns:a16="http://schemas.microsoft.com/office/drawing/2014/main" id="{3AFE915D-3EE4-AC63-1C62-2F1A382BD661}"/>
              </a:ext>
            </a:extLst>
          </p:cNvPr>
          <p:cNvSpPr>
            <a:spLocks noGrp="1"/>
          </p:cNvSpPr>
          <p:nvPr>
            <p:ph type="sldNum" sz="quarter" idx="4"/>
          </p:nvPr>
        </p:nvSpPr>
        <p:spPr/>
        <p:txBody>
          <a:bodyPr/>
          <a:lstStyle/>
          <a:p>
            <a:fld id="{33C783E2-4793-4F48-A271-51A73CC37D74}" type="slidenum">
              <a:rPr lang="fr-FR" smtClean="0"/>
              <a:t>84</a:t>
            </a:fld>
            <a:endParaRPr lang="fr-FR"/>
          </a:p>
        </p:txBody>
      </p:sp>
    </p:spTree>
    <p:extLst>
      <p:ext uri="{BB962C8B-B14F-4D97-AF65-F5344CB8AC3E}">
        <p14:creationId xmlns:p14="http://schemas.microsoft.com/office/powerpoint/2010/main" val="3817851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nodeType="afterEffect">
                                  <p:stCondLst>
                                    <p:cond delay="500"/>
                                  </p:stCondLst>
                                  <p:childTnLst>
                                    <p:set>
                                      <p:cBhvr>
                                        <p:cTn id="10" dur="1" fill="hold">
                                          <p:stCondLst>
                                            <p:cond delay="0"/>
                                          </p:stCondLst>
                                        </p:cTn>
                                        <p:tgtEl>
                                          <p:spTgt spid="6">
                                            <p:txEl>
                                              <p:pRg st="1" end="1"/>
                                            </p:txEl>
                                          </p:spTgt>
                                        </p:tgtEl>
                                        <p:attrNameLst>
                                          <p:attrName>style.visibility</p:attrName>
                                        </p:attrNameLst>
                                      </p:cBhvr>
                                      <p:to>
                                        <p:strVal val="visible"/>
                                      </p:to>
                                    </p:set>
                                    <p:animEffect transition="in" filter="wipe(left)">
                                      <p:cBhvr>
                                        <p:cTn id="11" dur="500"/>
                                        <p:tgtEl>
                                          <p:spTgt spid="6">
                                            <p:txEl>
                                              <p:pRg st="1" end="1"/>
                                            </p:txEl>
                                          </p:spTgt>
                                        </p:tgtEl>
                                      </p:cBhvr>
                                    </p:animEffect>
                                  </p:childTnLst>
                                </p:cTn>
                              </p:par>
                            </p:childTnLst>
                          </p:cTn>
                        </p:par>
                        <p:par>
                          <p:cTn id="12" fill="hold">
                            <p:stCondLst>
                              <p:cond delay="1500"/>
                            </p:stCondLst>
                            <p:childTnLst>
                              <p:par>
                                <p:cTn id="13" presetID="10" presetClass="entr" presetSubtype="0" fill="hold" nodeType="afterEffect">
                                  <p:stCondLst>
                                    <p:cond delay="50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fade">
                                      <p:cBhvr>
                                        <p:cTn id="15"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Deuxième exemple pratique</a:t>
            </a:r>
          </a:p>
        </p:txBody>
      </p:sp>
      <p:sp>
        <p:nvSpPr>
          <p:cNvPr id="3" name="Espace réservé du contenu 2"/>
          <p:cNvSpPr>
            <a:spLocks noGrp="1"/>
          </p:cNvSpPr>
          <p:nvPr>
            <p:ph idx="1"/>
          </p:nvPr>
        </p:nvSpPr>
        <p:spPr/>
        <p:txBody>
          <a:bodyPr>
            <a:normAutofit lnSpcReduction="10000"/>
          </a:bodyPr>
          <a:lstStyle/>
          <a:p>
            <a:pPr marL="0" indent="0">
              <a:buNone/>
            </a:pPr>
            <a:r>
              <a:rPr lang="fr-FR" dirty="0"/>
              <a:t>On peut donc réécrire l’instruction </a:t>
            </a:r>
          </a:p>
          <a:p>
            <a:pPr marL="0" indent="0">
              <a:buNone/>
            </a:pPr>
            <a:r>
              <a:rPr lang="fr-FR" sz="2600" dirty="0">
                <a:solidFill>
                  <a:schemeClr val="accent4"/>
                </a:solidFill>
                <a:latin typeface="Consolas"/>
                <a:cs typeface="Consolas"/>
              </a:rPr>
              <a:t>for(</a:t>
            </a:r>
            <a:r>
              <a:rPr lang="fr-FR" sz="2600" dirty="0" err="1">
                <a:solidFill>
                  <a:schemeClr val="accent4"/>
                </a:solidFill>
                <a:latin typeface="Consolas"/>
                <a:cs typeface="Consolas"/>
              </a:rPr>
              <a:t>Element</a:t>
            </a:r>
            <a:r>
              <a:rPr lang="fr-FR" sz="2600" dirty="0">
                <a:solidFill>
                  <a:schemeClr val="accent4"/>
                </a:solidFill>
                <a:latin typeface="Consolas"/>
                <a:cs typeface="Consolas"/>
              </a:rPr>
              <a:t> </a:t>
            </a:r>
            <a:r>
              <a:rPr lang="fr-FR" sz="2600" dirty="0" err="1">
                <a:solidFill>
                  <a:schemeClr val="accent4"/>
                </a:solidFill>
                <a:latin typeface="Consolas"/>
                <a:cs typeface="Consolas"/>
              </a:rPr>
              <a:t>elem</a:t>
            </a:r>
            <a:r>
              <a:rPr lang="fr-FR" sz="2600" dirty="0">
                <a:solidFill>
                  <a:schemeClr val="accent4"/>
                </a:solidFill>
                <a:latin typeface="Consolas"/>
                <a:cs typeface="Consolas"/>
              </a:rPr>
              <a:t> : liste) </a:t>
            </a:r>
            <a:r>
              <a:rPr lang="fr-FR" sz="2600" dirty="0" err="1">
                <a:solidFill>
                  <a:schemeClr val="accent4"/>
                </a:solidFill>
                <a:latin typeface="Consolas"/>
                <a:cs typeface="Consolas"/>
              </a:rPr>
              <a:t>System.out.println</a:t>
            </a:r>
            <a:r>
              <a:rPr lang="fr-FR" sz="2600" dirty="0">
                <a:solidFill>
                  <a:schemeClr val="accent4"/>
                </a:solidFill>
                <a:latin typeface="Consolas"/>
                <a:cs typeface="Consolas"/>
              </a:rPr>
              <a:t>(</a:t>
            </a:r>
            <a:r>
              <a:rPr lang="fr-FR" sz="2600" dirty="0" err="1">
                <a:solidFill>
                  <a:schemeClr val="accent4"/>
                </a:solidFill>
                <a:latin typeface="Consolas"/>
                <a:cs typeface="Consolas"/>
              </a:rPr>
              <a:t>elem</a:t>
            </a:r>
            <a:r>
              <a:rPr lang="fr-FR" sz="2600" dirty="0">
                <a:solidFill>
                  <a:schemeClr val="accent4"/>
                </a:solidFill>
                <a:latin typeface="Consolas"/>
                <a:cs typeface="Consolas"/>
              </a:rPr>
              <a:t>);</a:t>
            </a:r>
            <a:endParaRPr lang="fr-FR" sz="2600" dirty="0">
              <a:solidFill>
                <a:schemeClr val="accent4"/>
              </a:solidFill>
            </a:endParaRPr>
          </a:p>
          <a:p>
            <a:pPr marL="0" indent="0">
              <a:buNone/>
            </a:pPr>
            <a:endParaRPr lang="fr-FR" dirty="0"/>
          </a:p>
          <a:p>
            <a:pPr marL="0" indent="0">
              <a:buNone/>
            </a:pPr>
            <a:r>
              <a:rPr lang="fr-FR" dirty="0"/>
              <a:t>En son équivalent</a:t>
            </a:r>
          </a:p>
          <a:p>
            <a:pPr marL="0" indent="0">
              <a:buNone/>
            </a:pPr>
            <a:r>
              <a:rPr lang="fr-FR" sz="2600" dirty="0" err="1">
                <a:solidFill>
                  <a:schemeClr val="accent4"/>
                </a:solidFill>
                <a:latin typeface="Consolas"/>
                <a:cs typeface="Consolas"/>
              </a:rPr>
              <a:t>liste.forEach</a:t>
            </a:r>
            <a:r>
              <a:rPr lang="fr-FR" sz="2600" dirty="0">
                <a:solidFill>
                  <a:schemeClr val="accent4"/>
                </a:solidFill>
                <a:latin typeface="Consolas"/>
                <a:cs typeface="Consolas"/>
              </a:rPr>
              <a:t>(new Consumer&lt;</a:t>
            </a:r>
            <a:r>
              <a:rPr lang="fr-FR" sz="2600" dirty="0" err="1">
                <a:solidFill>
                  <a:schemeClr val="accent4"/>
                </a:solidFill>
                <a:latin typeface="Consolas"/>
                <a:cs typeface="Consolas"/>
              </a:rPr>
              <a:t>Element</a:t>
            </a:r>
            <a:r>
              <a:rPr lang="fr-FR" sz="2600" dirty="0">
                <a:solidFill>
                  <a:schemeClr val="accent4"/>
                </a:solidFill>
                <a:latin typeface="Consolas"/>
                <a:cs typeface="Consolas"/>
              </a:rPr>
              <a:t>&gt;() {</a:t>
            </a:r>
          </a:p>
          <a:p>
            <a:pPr marL="0" indent="0">
              <a:buNone/>
            </a:pPr>
            <a:r>
              <a:rPr lang="fr-FR" sz="2600" dirty="0">
                <a:solidFill>
                  <a:schemeClr val="accent4"/>
                </a:solidFill>
                <a:latin typeface="Consolas"/>
                <a:cs typeface="Consolas"/>
              </a:rPr>
              <a:t>  public </a:t>
            </a:r>
            <a:r>
              <a:rPr lang="fr-FR" sz="2600" dirty="0" err="1">
                <a:solidFill>
                  <a:schemeClr val="accent4"/>
                </a:solidFill>
                <a:latin typeface="Consolas"/>
                <a:cs typeface="Consolas"/>
              </a:rPr>
              <a:t>void</a:t>
            </a:r>
            <a:r>
              <a:rPr lang="fr-FR" sz="2600" dirty="0">
                <a:solidFill>
                  <a:schemeClr val="accent4"/>
                </a:solidFill>
                <a:latin typeface="Consolas"/>
                <a:cs typeface="Consolas"/>
              </a:rPr>
              <a:t> </a:t>
            </a:r>
            <a:r>
              <a:rPr lang="fr-FR" sz="2600" dirty="0" err="1">
                <a:solidFill>
                  <a:schemeClr val="accent4"/>
                </a:solidFill>
                <a:latin typeface="Consolas"/>
                <a:cs typeface="Consolas"/>
              </a:rPr>
              <a:t>accept</a:t>
            </a:r>
            <a:r>
              <a:rPr lang="fr-FR" sz="2600" dirty="0">
                <a:solidFill>
                  <a:schemeClr val="accent4"/>
                </a:solidFill>
                <a:latin typeface="Consolas"/>
                <a:cs typeface="Consolas"/>
              </a:rPr>
              <a:t>(</a:t>
            </a:r>
            <a:r>
              <a:rPr lang="fr-FR" sz="2600" dirty="0" err="1">
                <a:solidFill>
                  <a:schemeClr val="accent4"/>
                </a:solidFill>
                <a:latin typeface="Consolas"/>
                <a:cs typeface="Consolas"/>
              </a:rPr>
              <a:t>Element</a:t>
            </a:r>
            <a:r>
              <a:rPr lang="fr-FR" sz="2600" dirty="0">
                <a:solidFill>
                  <a:schemeClr val="accent4"/>
                </a:solidFill>
                <a:latin typeface="Consolas"/>
                <a:cs typeface="Consolas"/>
              </a:rPr>
              <a:t> </a:t>
            </a:r>
            <a:r>
              <a:rPr lang="fr-FR" sz="2600" dirty="0" err="1">
                <a:solidFill>
                  <a:schemeClr val="accent4"/>
                </a:solidFill>
                <a:latin typeface="Consolas"/>
                <a:cs typeface="Consolas"/>
              </a:rPr>
              <a:t>elem</a:t>
            </a:r>
            <a:r>
              <a:rPr lang="fr-FR" sz="2600" dirty="0">
                <a:solidFill>
                  <a:schemeClr val="accent4"/>
                </a:solidFill>
                <a:latin typeface="Consolas"/>
                <a:cs typeface="Consolas"/>
              </a:rPr>
              <a:t>) {</a:t>
            </a:r>
          </a:p>
          <a:p>
            <a:pPr marL="0" indent="0">
              <a:buNone/>
            </a:pPr>
            <a:r>
              <a:rPr lang="fr-FR" sz="2600" dirty="0">
                <a:solidFill>
                  <a:schemeClr val="accent4"/>
                </a:solidFill>
                <a:latin typeface="Consolas"/>
                <a:cs typeface="Consolas"/>
              </a:rPr>
              <a:t>    </a:t>
            </a:r>
            <a:r>
              <a:rPr lang="fr-FR" sz="2600" dirty="0" err="1">
                <a:solidFill>
                  <a:schemeClr val="accent4"/>
                </a:solidFill>
                <a:latin typeface="Consolas"/>
                <a:cs typeface="Consolas"/>
              </a:rPr>
              <a:t>System.out.println</a:t>
            </a:r>
            <a:r>
              <a:rPr lang="fr-FR" sz="2600" dirty="0">
                <a:solidFill>
                  <a:schemeClr val="accent4"/>
                </a:solidFill>
                <a:latin typeface="Consolas"/>
                <a:cs typeface="Consolas"/>
              </a:rPr>
              <a:t>(</a:t>
            </a:r>
            <a:r>
              <a:rPr lang="fr-FR" sz="2600" dirty="0" err="1">
                <a:solidFill>
                  <a:schemeClr val="accent4"/>
                </a:solidFill>
                <a:latin typeface="Consolas"/>
                <a:cs typeface="Consolas"/>
              </a:rPr>
              <a:t>elem</a:t>
            </a:r>
            <a:r>
              <a:rPr lang="fr-FR" sz="2600" dirty="0">
                <a:solidFill>
                  <a:schemeClr val="accent4"/>
                </a:solidFill>
                <a:latin typeface="Consolas"/>
                <a:cs typeface="Consolas"/>
              </a:rPr>
              <a:t>);</a:t>
            </a:r>
          </a:p>
          <a:p>
            <a:pPr marL="0" indent="0">
              <a:buNone/>
            </a:pPr>
            <a:r>
              <a:rPr lang="fr-FR" sz="2600" dirty="0">
                <a:solidFill>
                  <a:schemeClr val="accent4"/>
                </a:solidFill>
                <a:latin typeface="Consolas"/>
                <a:cs typeface="Consolas"/>
              </a:rPr>
              <a:t>  }</a:t>
            </a:r>
          </a:p>
          <a:p>
            <a:pPr marL="0" indent="0">
              <a:buNone/>
            </a:pPr>
            <a:r>
              <a:rPr lang="fr-FR" sz="2600" dirty="0">
                <a:solidFill>
                  <a:schemeClr val="accent4"/>
                </a:solidFill>
                <a:latin typeface="Consolas"/>
                <a:cs typeface="Consolas"/>
              </a:rPr>
              <a:t>});</a:t>
            </a:r>
            <a:r>
              <a:rPr lang="fr-FR" sz="2600" dirty="0">
                <a:solidFill>
                  <a:schemeClr val="accent4"/>
                </a:solidFill>
              </a:rPr>
              <a:t> </a:t>
            </a:r>
          </a:p>
        </p:txBody>
      </p:sp>
      <p:pic>
        <p:nvPicPr>
          <p:cNvPr id="8" name="Image 7">
            <a:extLst>
              <a:ext uri="{FF2B5EF4-FFF2-40B4-BE49-F238E27FC236}">
                <a16:creationId xmlns:a16="http://schemas.microsoft.com/office/drawing/2014/main" id="{4B168F08-2881-B64E-420C-0C6DAB641725}"/>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2913" b="89968" l="19346" r="80109">
                        <a14:foregroundMark x1="68392" y1="26537" x2="70027" y2="28479"/>
                        <a14:foregroundMark x1="77657" y1="45307" x2="77384" y2="43366"/>
                        <a14:foregroundMark x1="49046" y1="4854" x2="50954" y2="3236"/>
                        <a14:foregroundMark x1="78474" y1="40453" x2="80109" y2="42718"/>
                        <a14:foregroundMark x1="24796" y1="44337" x2="23161" y2="49515"/>
                        <a14:foregroundMark x1="19346" y1="49515" x2="20708" y2="44337"/>
                        <a14:foregroundMark x1="30245" y1="60194" x2="30245" y2="55663"/>
                        <a14:backgroundMark x1="31335" y1="77023" x2="53951" y2="77346"/>
                        <a14:backgroundMark x1="53951" y1="77346" x2="31608" y2="72816"/>
                        <a14:backgroundMark x1="31608" y1="72816" x2="51226" y2="90939"/>
                        <a14:backgroundMark x1="51226" y1="90939" x2="56676" y2="76052"/>
                        <a14:backgroundMark x1="41144" y1="70550" x2="41689" y2="77346"/>
                      </a14:backgroundRemoval>
                    </a14:imgEffect>
                  </a14:imgLayer>
                </a14:imgProps>
              </a:ext>
            </a:extLst>
          </a:blip>
          <a:srcRect l="16618" r="15601"/>
          <a:stretch/>
        </p:blipFill>
        <p:spPr>
          <a:xfrm flipH="1">
            <a:off x="10293872" y="143800"/>
            <a:ext cx="1423466" cy="1768216"/>
          </a:xfrm>
          <a:prstGeom prst="rect">
            <a:avLst/>
          </a:prstGeom>
        </p:spPr>
      </p:pic>
      <p:grpSp>
        <p:nvGrpSpPr>
          <p:cNvPr id="28" name="Groupe 27">
            <a:extLst>
              <a:ext uri="{FF2B5EF4-FFF2-40B4-BE49-F238E27FC236}">
                <a16:creationId xmlns:a16="http://schemas.microsoft.com/office/drawing/2014/main" id="{C891A0AD-6B4F-04FA-4FDD-BE59AF822F5B}"/>
              </a:ext>
            </a:extLst>
          </p:cNvPr>
          <p:cNvGrpSpPr/>
          <p:nvPr/>
        </p:nvGrpSpPr>
        <p:grpSpPr>
          <a:xfrm>
            <a:off x="3379808" y="4120587"/>
            <a:ext cx="7114774" cy="1154678"/>
            <a:chOff x="3379808" y="4120587"/>
            <a:chExt cx="7114774" cy="1154678"/>
          </a:xfrm>
        </p:grpSpPr>
        <p:pic>
          <p:nvPicPr>
            <p:cNvPr id="5" name="Image 4">
              <a:extLst>
                <a:ext uri="{FF2B5EF4-FFF2-40B4-BE49-F238E27FC236}">
                  <a16:creationId xmlns:a16="http://schemas.microsoft.com/office/drawing/2014/main" id="{A8FC606D-B4E9-2F47-918A-21E9F8101D76}"/>
                </a:ext>
              </a:extLst>
            </p:cNvPr>
            <p:cNvPicPr>
              <a:picLocks noChangeAspect="1"/>
            </p:cNvPicPr>
            <p:nvPr/>
          </p:nvPicPr>
          <p:blipFill>
            <a:blip r:embed="rId4"/>
            <a:stretch>
              <a:fillRect/>
            </a:stretch>
          </p:blipFill>
          <p:spPr>
            <a:xfrm>
              <a:off x="7377321" y="4803438"/>
              <a:ext cx="3117261" cy="471827"/>
            </a:xfrm>
            <a:prstGeom prst="rect">
              <a:avLst/>
            </a:prstGeom>
            <a:ln>
              <a:solidFill>
                <a:schemeClr val="accent6"/>
              </a:solidFill>
            </a:ln>
            <a:effectLst>
              <a:outerShdw blurRad="50800" dist="38100" dir="2700000" algn="tl" rotWithShape="0">
                <a:prstClr val="black">
                  <a:alpha val="40000"/>
                </a:prstClr>
              </a:outerShdw>
            </a:effectLst>
          </p:spPr>
        </p:pic>
        <p:sp>
          <p:nvSpPr>
            <p:cNvPr id="9" name="Rectangle : coins arrondis 8">
              <a:extLst>
                <a:ext uri="{FF2B5EF4-FFF2-40B4-BE49-F238E27FC236}">
                  <a16:creationId xmlns:a16="http://schemas.microsoft.com/office/drawing/2014/main" id="{13A46724-DCFD-DDAA-B473-25FAFE7E9572}"/>
                </a:ext>
              </a:extLst>
            </p:cNvPr>
            <p:cNvSpPr/>
            <p:nvPr/>
          </p:nvSpPr>
          <p:spPr>
            <a:xfrm>
              <a:off x="3379808" y="4120587"/>
              <a:ext cx="3715473" cy="370390"/>
            </a:xfrm>
            <a:prstGeom prst="roundRect">
              <a:avLst/>
            </a:pr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1" name="Connecteur droit avec flèche 10">
              <a:extLst>
                <a:ext uri="{FF2B5EF4-FFF2-40B4-BE49-F238E27FC236}">
                  <a16:creationId xmlns:a16="http://schemas.microsoft.com/office/drawing/2014/main" id="{342CE404-C0AA-1B76-A4F8-8E27DA1B106E}"/>
                </a:ext>
              </a:extLst>
            </p:cNvPr>
            <p:cNvCxnSpPr>
              <a:cxnSpLocks/>
              <a:endCxn id="5" idx="0"/>
            </p:cNvCxnSpPr>
            <p:nvPr/>
          </p:nvCxnSpPr>
          <p:spPr>
            <a:xfrm>
              <a:off x="7094175" y="4305782"/>
              <a:ext cx="1841777" cy="497656"/>
            </a:xfrm>
            <a:prstGeom prst="straightConnector1">
              <a:avLst/>
            </a:prstGeom>
            <a:ln w="28575">
              <a:solidFill>
                <a:schemeClr val="accent6"/>
              </a:solidFill>
              <a:tailEnd type="triangle" w="lg" len="lg"/>
            </a:ln>
          </p:spPr>
          <p:style>
            <a:lnRef idx="1">
              <a:schemeClr val="accent1"/>
            </a:lnRef>
            <a:fillRef idx="0">
              <a:schemeClr val="accent1"/>
            </a:fillRef>
            <a:effectRef idx="0">
              <a:schemeClr val="accent1"/>
            </a:effectRef>
            <a:fontRef idx="minor">
              <a:schemeClr val="tx1"/>
            </a:fontRef>
          </p:style>
        </p:cxnSp>
      </p:grpSp>
      <p:grpSp>
        <p:nvGrpSpPr>
          <p:cNvPr id="27" name="Groupe 26">
            <a:extLst>
              <a:ext uri="{FF2B5EF4-FFF2-40B4-BE49-F238E27FC236}">
                <a16:creationId xmlns:a16="http://schemas.microsoft.com/office/drawing/2014/main" id="{4C34E2D5-BA46-D52F-9644-BCC73BE3CA88}"/>
              </a:ext>
            </a:extLst>
          </p:cNvPr>
          <p:cNvGrpSpPr/>
          <p:nvPr/>
        </p:nvGrpSpPr>
        <p:grpSpPr>
          <a:xfrm>
            <a:off x="807459" y="3589133"/>
            <a:ext cx="10348221" cy="2595835"/>
            <a:chOff x="807459" y="3589133"/>
            <a:chExt cx="10348221" cy="2595835"/>
          </a:xfrm>
        </p:grpSpPr>
        <p:pic>
          <p:nvPicPr>
            <p:cNvPr id="6" name="Image 5">
              <a:extLst>
                <a:ext uri="{FF2B5EF4-FFF2-40B4-BE49-F238E27FC236}">
                  <a16:creationId xmlns:a16="http://schemas.microsoft.com/office/drawing/2014/main" id="{926C6709-F93E-0045-B2F5-B2EBE004D51F}"/>
                </a:ext>
              </a:extLst>
            </p:cNvPr>
            <p:cNvPicPr>
              <a:picLocks noChangeAspect="1"/>
            </p:cNvPicPr>
            <p:nvPr/>
          </p:nvPicPr>
          <p:blipFill>
            <a:blip r:embed="rId5"/>
            <a:stretch>
              <a:fillRect/>
            </a:stretch>
          </p:blipFill>
          <p:spPr>
            <a:xfrm>
              <a:off x="3039134" y="5713141"/>
              <a:ext cx="8116546" cy="471827"/>
            </a:xfrm>
            <a:prstGeom prst="rect">
              <a:avLst/>
            </a:prstGeom>
            <a:ln>
              <a:solidFill>
                <a:schemeClr val="accent6"/>
              </a:solidFill>
            </a:ln>
            <a:effectLst>
              <a:outerShdw blurRad="50800" dist="38100" dir="2700000" algn="tl" rotWithShape="0">
                <a:prstClr val="black">
                  <a:alpha val="40000"/>
                </a:prstClr>
              </a:outerShdw>
            </a:effectLst>
          </p:spPr>
        </p:pic>
        <p:sp>
          <p:nvSpPr>
            <p:cNvPr id="21" name="Forme libre 20">
              <a:extLst>
                <a:ext uri="{FF2B5EF4-FFF2-40B4-BE49-F238E27FC236}">
                  <a16:creationId xmlns:a16="http://schemas.microsoft.com/office/drawing/2014/main" id="{6EF5D388-BEAD-F984-88D1-A057ACB80584}"/>
                </a:ext>
              </a:extLst>
            </p:cNvPr>
            <p:cNvSpPr/>
            <p:nvPr/>
          </p:nvSpPr>
          <p:spPr>
            <a:xfrm>
              <a:off x="807459" y="3589133"/>
              <a:ext cx="7225371" cy="2447198"/>
            </a:xfrm>
            <a:custGeom>
              <a:avLst/>
              <a:gdLst>
                <a:gd name="connsiteX0" fmla="*/ 1387714 w 7225371"/>
                <a:gd name="connsiteY0" fmla="*/ 0 h 2434136"/>
                <a:gd name="connsiteX1" fmla="*/ 6974745 w 7225371"/>
                <a:gd name="connsiteY1" fmla="*/ 0 h 2434136"/>
                <a:gd name="connsiteX2" fmla="*/ 7225371 w 7225371"/>
                <a:gd name="connsiteY2" fmla="*/ 250626 h 2434136"/>
                <a:gd name="connsiteX3" fmla="*/ 7225371 w 7225371"/>
                <a:gd name="connsiteY3" fmla="*/ 1253102 h 2434136"/>
                <a:gd name="connsiteX4" fmla="*/ 6974745 w 7225371"/>
                <a:gd name="connsiteY4" fmla="*/ 1503728 h 2434136"/>
                <a:gd name="connsiteX5" fmla="*/ 1387714 w 7225371"/>
                <a:gd name="connsiteY5" fmla="*/ 1503728 h 2434136"/>
                <a:gd name="connsiteX6" fmla="*/ 1372457 w 7225371"/>
                <a:gd name="connsiteY6" fmla="*/ 1502190 h 2434136"/>
                <a:gd name="connsiteX7" fmla="*/ 1372457 w 7225371"/>
                <a:gd name="connsiteY7" fmla="*/ 2205389 h 2434136"/>
                <a:gd name="connsiteX8" fmla="*/ 1143710 w 7225371"/>
                <a:gd name="connsiteY8" fmla="*/ 2434136 h 2434136"/>
                <a:gd name="connsiteX9" fmla="*/ 228747 w 7225371"/>
                <a:gd name="connsiteY9" fmla="*/ 2434136 h 2434136"/>
                <a:gd name="connsiteX10" fmla="*/ 0 w 7225371"/>
                <a:gd name="connsiteY10" fmla="*/ 2205389 h 2434136"/>
                <a:gd name="connsiteX11" fmla="*/ 0 w 7225371"/>
                <a:gd name="connsiteY11" fmla="*/ 760201 h 2434136"/>
                <a:gd name="connsiteX12" fmla="*/ 228747 w 7225371"/>
                <a:gd name="connsiteY12" fmla="*/ 531454 h 2434136"/>
                <a:gd name="connsiteX13" fmla="*/ 1137088 w 7225371"/>
                <a:gd name="connsiteY13" fmla="*/ 531454 h 2434136"/>
                <a:gd name="connsiteX14" fmla="*/ 1137088 w 7225371"/>
                <a:gd name="connsiteY14" fmla="*/ 250626 h 2434136"/>
                <a:gd name="connsiteX15" fmla="*/ 1387714 w 7225371"/>
                <a:gd name="connsiteY15" fmla="*/ 0 h 2434136"/>
                <a:gd name="connsiteX0" fmla="*/ 1387714 w 7225371"/>
                <a:gd name="connsiteY0" fmla="*/ 0 h 2434136"/>
                <a:gd name="connsiteX1" fmla="*/ 6974745 w 7225371"/>
                <a:gd name="connsiteY1" fmla="*/ 0 h 2434136"/>
                <a:gd name="connsiteX2" fmla="*/ 7225371 w 7225371"/>
                <a:gd name="connsiteY2" fmla="*/ 250626 h 2434136"/>
                <a:gd name="connsiteX3" fmla="*/ 7225371 w 7225371"/>
                <a:gd name="connsiteY3" fmla="*/ 1253102 h 2434136"/>
                <a:gd name="connsiteX4" fmla="*/ 6974745 w 7225371"/>
                <a:gd name="connsiteY4" fmla="*/ 1503728 h 2434136"/>
                <a:gd name="connsiteX5" fmla="*/ 1387714 w 7225371"/>
                <a:gd name="connsiteY5" fmla="*/ 1503728 h 2434136"/>
                <a:gd name="connsiteX6" fmla="*/ 915257 w 7225371"/>
                <a:gd name="connsiteY6" fmla="*/ 1489128 h 2434136"/>
                <a:gd name="connsiteX7" fmla="*/ 1372457 w 7225371"/>
                <a:gd name="connsiteY7" fmla="*/ 2205389 h 2434136"/>
                <a:gd name="connsiteX8" fmla="*/ 1143710 w 7225371"/>
                <a:gd name="connsiteY8" fmla="*/ 2434136 h 2434136"/>
                <a:gd name="connsiteX9" fmla="*/ 228747 w 7225371"/>
                <a:gd name="connsiteY9" fmla="*/ 2434136 h 2434136"/>
                <a:gd name="connsiteX10" fmla="*/ 0 w 7225371"/>
                <a:gd name="connsiteY10" fmla="*/ 2205389 h 2434136"/>
                <a:gd name="connsiteX11" fmla="*/ 0 w 7225371"/>
                <a:gd name="connsiteY11" fmla="*/ 760201 h 2434136"/>
                <a:gd name="connsiteX12" fmla="*/ 228747 w 7225371"/>
                <a:gd name="connsiteY12" fmla="*/ 531454 h 2434136"/>
                <a:gd name="connsiteX13" fmla="*/ 1137088 w 7225371"/>
                <a:gd name="connsiteY13" fmla="*/ 531454 h 2434136"/>
                <a:gd name="connsiteX14" fmla="*/ 1137088 w 7225371"/>
                <a:gd name="connsiteY14" fmla="*/ 250626 h 2434136"/>
                <a:gd name="connsiteX15" fmla="*/ 1387714 w 7225371"/>
                <a:gd name="connsiteY15" fmla="*/ 0 h 2434136"/>
                <a:gd name="connsiteX0" fmla="*/ 1387714 w 7225371"/>
                <a:gd name="connsiteY0" fmla="*/ 0 h 2447198"/>
                <a:gd name="connsiteX1" fmla="*/ 6974745 w 7225371"/>
                <a:gd name="connsiteY1" fmla="*/ 0 h 2447198"/>
                <a:gd name="connsiteX2" fmla="*/ 7225371 w 7225371"/>
                <a:gd name="connsiteY2" fmla="*/ 250626 h 2447198"/>
                <a:gd name="connsiteX3" fmla="*/ 7225371 w 7225371"/>
                <a:gd name="connsiteY3" fmla="*/ 1253102 h 2447198"/>
                <a:gd name="connsiteX4" fmla="*/ 6974745 w 7225371"/>
                <a:gd name="connsiteY4" fmla="*/ 1503728 h 2447198"/>
                <a:gd name="connsiteX5" fmla="*/ 1387714 w 7225371"/>
                <a:gd name="connsiteY5" fmla="*/ 1503728 h 2447198"/>
                <a:gd name="connsiteX6" fmla="*/ 915257 w 7225371"/>
                <a:gd name="connsiteY6" fmla="*/ 1489128 h 2447198"/>
                <a:gd name="connsiteX7" fmla="*/ 1372457 w 7225371"/>
                <a:gd name="connsiteY7" fmla="*/ 2205389 h 2447198"/>
                <a:gd name="connsiteX8" fmla="*/ 686510 w 7225371"/>
                <a:gd name="connsiteY8" fmla="*/ 2447198 h 2447198"/>
                <a:gd name="connsiteX9" fmla="*/ 228747 w 7225371"/>
                <a:gd name="connsiteY9" fmla="*/ 2434136 h 2447198"/>
                <a:gd name="connsiteX10" fmla="*/ 0 w 7225371"/>
                <a:gd name="connsiteY10" fmla="*/ 2205389 h 2447198"/>
                <a:gd name="connsiteX11" fmla="*/ 0 w 7225371"/>
                <a:gd name="connsiteY11" fmla="*/ 760201 h 2447198"/>
                <a:gd name="connsiteX12" fmla="*/ 228747 w 7225371"/>
                <a:gd name="connsiteY12" fmla="*/ 531454 h 2447198"/>
                <a:gd name="connsiteX13" fmla="*/ 1137088 w 7225371"/>
                <a:gd name="connsiteY13" fmla="*/ 531454 h 2447198"/>
                <a:gd name="connsiteX14" fmla="*/ 1137088 w 7225371"/>
                <a:gd name="connsiteY14" fmla="*/ 250626 h 2447198"/>
                <a:gd name="connsiteX15" fmla="*/ 1387714 w 7225371"/>
                <a:gd name="connsiteY15" fmla="*/ 0 h 2447198"/>
                <a:gd name="connsiteX0" fmla="*/ 1387714 w 7225371"/>
                <a:gd name="connsiteY0" fmla="*/ 0 h 2447198"/>
                <a:gd name="connsiteX1" fmla="*/ 6974745 w 7225371"/>
                <a:gd name="connsiteY1" fmla="*/ 0 h 2447198"/>
                <a:gd name="connsiteX2" fmla="*/ 7225371 w 7225371"/>
                <a:gd name="connsiteY2" fmla="*/ 250626 h 2447198"/>
                <a:gd name="connsiteX3" fmla="*/ 7225371 w 7225371"/>
                <a:gd name="connsiteY3" fmla="*/ 1253102 h 2447198"/>
                <a:gd name="connsiteX4" fmla="*/ 6974745 w 7225371"/>
                <a:gd name="connsiteY4" fmla="*/ 1503728 h 2447198"/>
                <a:gd name="connsiteX5" fmla="*/ 1387714 w 7225371"/>
                <a:gd name="connsiteY5" fmla="*/ 1503728 h 2447198"/>
                <a:gd name="connsiteX6" fmla="*/ 915257 w 7225371"/>
                <a:gd name="connsiteY6" fmla="*/ 1489128 h 2447198"/>
                <a:gd name="connsiteX7" fmla="*/ 915257 w 7225371"/>
                <a:gd name="connsiteY7" fmla="*/ 2218452 h 2447198"/>
                <a:gd name="connsiteX8" fmla="*/ 686510 w 7225371"/>
                <a:gd name="connsiteY8" fmla="*/ 2447198 h 2447198"/>
                <a:gd name="connsiteX9" fmla="*/ 228747 w 7225371"/>
                <a:gd name="connsiteY9" fmla="*/ 2434136 h 2447198"/>
                <a:gd name="connsiteX10" fmla="*/ 0 w 7225371"/>
                <a:gd name="connsiteY10" fmla="*/ 2205389 h 2447198"/>
                <a:gd name="connsiteX11" fmla="*/ 0 w 7225371"/>
                <a:gd name="connsiteY11" fmla="*/ 760201 h 2447198"/>
                <a:gd name="connsiteX12" fmla="*/ 228747 w 7225371"/>
                <a:gd name="connsiteY12" fmla="*/ 531454 h 2447198"/>
                <a:gd name="connsiteX13" fmla="*/ 1137088 w 7225371"/>
                <a:gd name="connsiteY13" fmla="*/ 531454 h 2447198"/>
                <a:gd name="connsiteX14" fmla="*/ 1137088 w 7225371"/>
                <a:gd name="connsiteY14" fmla="*/ 250626 h 2447198"/>
                <a:gd name="connsiteX15" fmla="*/ 1387714 w 7225371"/>
                <a:gd name="connsiteY15" fmla="*/ 0 h 244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225371" h="2447198">
                  <a:moveTo>
                    <a:pt x="1387714" y="0"/>
                  </a:moveTo>
                  <a:lnTo>
                    <a:pt x="6974745" y="0"/>
                  </a:lnTo>
                  <a:cubicBezTo>
                    <a:pt x="7113162" y="0"/>
                    <a:pt x="7225371" y="112209"/>
                    <a:pt x="7225371" y="250626"/>
                  </a:cubicBezTo>
                  <a:lnTo>
                    <a:pt x="7225371" y="1253102"/>
                  </a:lnTo>
                  <a:cubicBezTo>
                    <a:pt x="7225371" y="1391519"/>
                    <a:pt x="7113162" y="1503728"/>
                    <a:pt x="6974745" y="1503728"/>
                  </a:cubicBezTo>
                  <a:lnTo>
                    <a:pt x="1387714" y="1503728"/>
                  </a:lnTo>
                  <a:lnTo>
                    <a:pt x="915257" y="1489128"/>
                  </a:lnTo>
                  <a:lnTo>
                    <a:pt x="915257" y="2218452"/>
                  </a:lnTo>
                  <a:cubicBezTo>
                    <a:pt x="915257" y="2344785"/>
                    <a:pt x="812843" y="2447198"/>
                    <a:pt x="686510" y="2447198"/>
                  </a:cubicBezTo>
                  <a:lnTo>
                    <a:pt x="228747" y="2434136"/>
                  </a:lnTo>
                  <a:cubicBezTo>
                    <a:pt x="102414" y="2434136"/>
                    <a:pt x="0" y="2331722"/>
                    <a:pt x="0" y="2205389"/>
                  </a:cubicBezTo>
                  <a:lnTo>
                    <a:pt x="0" y="760201"/>
                  </a:lnTo>
                  <a:cubicBezTo>
                    <a:pt x="0" y="633868"/>
                    <a:pt x="102414" y="531454"/>
                    <a:pt x="228747" y="531454"/>
                  </a:cubicBezTo>
                  <a:lnTo>
                    <a:pt x="1137088" y="531454"/>
                  </a:lnTo>
                  <a:lnTo>
                    <a:pt x="1137088" y="250626"/>
                  </a:lnTo>
                  <a:cubicBezTo>
                    <a:pt x="1137088" y="112209"/>
                    <a:pt x="1249297" y="0"/>
                    <a:pt x="1387714" y="0"/>
                  </a:cubicBezTo>
                  <a:close/>
                </a:path>
              </a:pathLst>
            </a:custGeom>
            <a:noFill/>
            <a:ln>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cxnSp>
          <p:nvCxnSpPr>
            <p:cNvPr id="19" name="Connecteur droit avec flèche 18">
              <a:extLst>
                <a:ext uri="{FF2B5EF4-FFF2-40B4-BE49-F238E27FC236}">
                  <a16:creationId xmlns:a16="http://schemas.microsoft.com/office/drawing/2014/main" id="{3823DD2D-E50B-9DAF-0594-F357AC991AD5}"/>
                </a:ext>
              </a:extLst>
            </p:cNvPr>
            <p:cNvCxnSpPr>
              <a:cxnSpLocks/>
            </p:cNvCxnSpPr>
            <p:nvPr/>
          </p:nvCxnSpPr>
          <p:spPr>
            <a:xfrm>
              <a:off x="4514127" y="5104435"/>
              <a:ext cx="0" cy="608706"/>
            </a:xfrm>
            <a:prstGeom prst="straightConnector1">
              <a:avLst/>
            </a:prstGeom>
            <a:ln w="28575">
              <a:solidFill>
                <a:schemeClr val="accent6"/>
              </a:solidFill>
              <a:tailEnd type="triangle" w="lg" len="lg"/>
            </a:ln>
          </p:spPr>
          <p:style>
            <a:lnRef idx="1">
              <a:schemeClr val="accent1"/>
            </a:lnRef>
            <a:fillRef idx="0">
              <a:schemeClr val="accent1"/>
            </a:fillRef>
            <a:effectRef idx="0">
              <a:schemeClr val="accent1"/>
            </a:effectRef>
            <a:fontRef idx="minor">
              <a:schemeClr val="tx1"/>
            </a:fontRef>
          </p:style>
        </p:cxnSp>
      </p:grpSp>
      <p:sp>
        <p:nvSpPr>
          <p:cNvPr id="29" name="Espace réservé du numéro de diapositive 28">
            <a:extLst>
              <a:ext uri="{FF2B5EF4-FFF2-40B4-BE49-F238E27FC236}">
                <a16:creationId xmlns:a16="http://schemas.microsoft.com/office/drawing/2014/main" id="{287BBAF8-C3AF-5D79-DA34-8986DA648180}"/>
              </a:ext>
            </a:extLst>
          </p:cNvPr>
          <p:cNvSpPr>
            <a:spLocks noGrp="1"/>
          </p:cNvSpPr>
          <p:nvPr>
            <p:ph type="sldNum" sz="quarter" idx="4"/>
          </p:nvPr>
        </p:nvSpPr>
        <p:spPr/>
        <p:txBody>
          <a:bodyPr/>
          <a:lstStyle/>
          <a:p>
            <a:fld id="{33C783E2-4793-4F48-A271-51A73CC37D74}" type="slidenum">
              <a:rPr lang="fr-FR" smtClean="0"/>
              <a:t>85</a:t>
            </a:fld>
            <a:endParaRPr lang="fr-FR"/>
          </a:p>
        </p:txBody>
      </p:sp>
    </p:spTree>
    <p:extLst>
      <p:ext uri="{BB962C8B-B14F-4D97-AF65-F5344CB8AC3E}">
        <p14:creationId xmlns:p14="http://schemas.microsoft.com/office/powerpoint/2010/main" val="2080198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Deuxième exemple pratique</a:t>
            </a:r>
          </a:p>
        </p:txBody>
      </p:sp>
      <p:sp>
        <p:nvSpPr>
          <p:cNvPr id="3" name="Espace réservé du contenu 2"/>
          <p:cNvSpPr>
            <a:spLocks noGrp="1"/>
          </p:cNvSpPr>
          <p:nvPr>
            <p:ph idx="1"/>
          </p:nvPr>
        </p:nvSpPr>
        <p:spPr/>
        <p:txBody>
          <a:bodyPr>
            <a:normAutofit/>
          </a:bodyPr>
          <a:lstStyle/>
          <a:p>
            <a:pPr marL="0" indent="0">
              <a:buNone/>
            </a:pPr>
            <a:r>
              <a:rPr lang="fr-FR" dirty="0"/>
              <a:t>Et, en utilisant une Expression Lambda, on peut transformer</a:t>
            </a:r>
          </a:p>
          <a:p>
            <a:pPr marL="0" indent="0">
              <a:buNone/>
            </a:pPr>
            <a:r>
              <a:rPr lang="fr-FR" sz="2600" dirty="0" err="1">
                <a:solidFill>
                  <a:schemeClr val="accent4"/>
                </a:solidFill>
                <a:latin typeface="Consolas"/>
                <a:cs typeface="Consolas"/>
              </a:rPr>
              <a:t>liste.forEach</a:t>
            </a:r>
            <a:r>
              <a:rPr lang="fr-FR" sz="2600" dirty="0">
                <a:solidFill>
                  <a:schemeClr val="accent4"/>
                </a:solidFill>
                <a:latin typeface="Consolas"/>
                <a:cs typeface="Consolas"/>
              </a:rPr>
              <a:t>(new Consumer&lt;</a:t>
            </a:r>
            <a:r>
              <a:rPr lang="fr-FR" sz="2600" dirty="0" err="1">
                <a:solidFill>
                  <a:schemeClr val="accent4"/>
                </a:solidFill>
                <a:latin typeface="Consolas"/>
                <a:cs typeface="Consolas"/>
              </a:rPr>
              <a:t>Element</a:t>
            </a:r>
            <a:r>
              <a:rPr lang="fr-FR" sz="2600" dirty="0">
                <a:solidFill>
                  <a:schemeClr val="accent4"/>
                </a:solidFill>
                <a:latin typeface="Consolas"/>
                <a:cs typeface="Consolas"/>
              </a:rPr>
              <a:t>&gt;() {</a:t>
            </a:r>
          </a:p>
          <a:p>
            <a:pPr marL="0" indent="0">
              <a:buNone/>
            </a:pPr>
            <a:r>
              <a:rPr lang="fr-FR" sz="2600" dirty="0">
                <a:solidFill>
                  <a:schemeClr val="accent4"/>
                </a:solidFill>
                <a:latin typeface="Consolas"/>
                <a:cs typeface="Consolas"/>
              </a:rPr>
              <a:t>  public </a:t>
            </a:r>
            <a:r>
              <a:rPr lang="fr-FR" sz="2600" dirty="0" err="1">
                <a:solidFill>
                  <a:schemeClr val="accent4"/>
                </a:solidFill>
                <a:latin typeface="Consolas"/>
                <a:cs typeface="Consolas"/>
              </a:rPr>
              <a:t>void</a:t>
            </a:r>
            <a:r>
              <a:rPr lang="fr-FR" sz="2600" dirty="0">
                <a:solidFill>
                  <a:schemeClr val="accent4"/>
                </a:solidFill>
                <a:latin typeface="Consolas"/>
                <a:cs typeface="Consolas"/>
              </a:rPr>
              <a:t> </a:t>
            </a:r>
            <a:r>
              <a:rPr lang="fr-FR" sz="2600" dirty="0" err="1">
                <a:solidFill>
                  <a:schemeClr val="accent4"/>
                </a:solidFill>
                <a:latin typeface="Consolas"/>
                <a:cs typeface="Consolas"/>
              </a:rPr>
              <a:t>accept</a:t>
            </a:r>
            <a:r>
              <a:rPr lang="fr-FR" sz="2600" dirty="0">
                <a:solidFill>
                  <a:schemeClr val="accent4"/>
                </a:solidFill>
                <a:latin typeface="Consolas"/>
                <a:cs typeface="Consolas"/>
              </a:rPr>
              <a:t>(</a:t>
            </a:r>
            <a:r>
              <a:rPr lang="fr-FR" sz="2600" dirty="0" err="1">
                <a:solidFill>
                  <a:schemeClr val="accent4"/>
                </a:solidFill>
                <a:latin typeface="Consolas"/>
                <a:cs typeface="Consolas"/>
              </a:rPr>
              <a:t>Element</a:t>
            </a:r>
            <a:r>
              <a:rPr lang="fr-FR" sz="2600" dirty="0">
                <a:solidFill>
                  <a:schemeClr val="accent4"/>
                </a:solidFill>
                <a:latin typeface="Consolas"/>
                <a:cs typeface="Consolas"/>
              </a:rPr>
              <a:t> </a:t>
            </a:r>
            <a:r>
              <a:rPr lang="fr-FR" sz="2600" dirty="0" err="1">
                <a:solidFill>
                  <a:schemeClr val="accent4"/>
                </a:solidFill>
                <a:latin typeface="Consolas"/>
                <a:cs typeface="Consolas"/>
              </a:rPr>
              <a:t>elem</a:t>
            </a:r>
            <a:r>
              <a:rPr lang="fr-FR" sz="2600" dirty="0">
                <a:solidFill>
                  <a:schemeClr val="accent4"/>
                </a:solidFill>
                <a:latin typeface="Consolas"/>
                <a:cs typeface="Consolas"/>
              </a:rPr>
              <a:t>) {</a:t>
            </a:r>
          </a:p>
          <a:p>
            <a:pPr marL="0" indent="0">
              <a:buNone/>
            </a:pPr>
            <a:r>
              <a:rPr lang="fr-FR" sz="2600" dirty="0">
                <a:solidFill>
                  <a:schemeClr val="accent4"/>
                </a:solidFill>
                <a:latin typeface="Consolas"/>
                <a:cs typeface="Consolas"/>
              </a:rPr>
              <a:t>    </a:t>
            </a:r>
            <a:r>
              <a:rPr lang="fr-FR" sz="2600" dirty="0" err="1">
                <a:solidFill>
                  <a:schemeClr val="accent4"/>
                </a:solidFill>
                <a:latin typeface="Consolas"/>
                <a:cs typeface="Consolas"/>
              </a:rPr>
              <a:t>System.out.println</a:t>
            </a:r>
            <a:r>
              <a:rPr lang="fr-FR" sz="2600" dirty="0">
                <a:solidFill>
                  <a:schemeClr val="accent4"/>
                </a:solidFill>
                <a:latin typeface="Consolas"/>
                <a:cs typeface="Consolas"/>
              </a:rPr>
              <a:t>(</a:t>
            </a:r>
            <a:r>
              <a:rPr lang="fr-FR" sz="2600" dirty="0" err="1">
                <a:solidFill>
                  <a:schemeClr val="accent4"/>
                </a:solidFill>
                <a:latin typeface="Consolas"/>
                <a:cs typeface="Consolas"/>
              </a:rPr>
              <a:t>elem</a:t>
            </a:r>
            <a:r>
              <a:rPr lang="fr-FR" sz="2600" dirty="0">
                <a:solidFill>
                  <a:schemeClr val="accent4"/>
                </a:solidFill>
                <a:latin typeface="Consolas"/>
                <a:cs typeface="Consolas"/>
              </a:rPr>
              <a:t>);</a:t>
            </a:r>
          </a:p>
          <a:p>
            <a:pPr marL="0" indent="0">
              <a:buNone/>
            </a:pPr>
            <a:r>
              <a:rPr lang="fr-FR" sz="2600" dirty="0">
                <a:solidFill>
                  <a:schemeClr val="accent4"/>
                </a:solidFill>
                <a:latin typeface="Consolas"/>
                <a:cs typeface="Consolas"/>
              </a:rPr>
              <a:t>  }</a:t>
            </a:r>
          </a:p>
          <a:p>
            <a:pPr marL="0" indent="0">
              <a:buNone/>
            </a:pPr>
            <a:r>
              <a:rPr lang="fr-FR" sz="2600" dirty="0">
                <a:solidFill>
                  <a:schemeClr val="accent4"/>
                </a:solidFill>
                <a:latin typeface="Consolas"/>
                <a:cs typeface="Consolas"/>
              </a:rPr>
              <a:t>});</a:t>
            </a:r>
            <a:r>
              <a:rPr lang="fr-FR" sz="2600" dirty="0">
                <a:solidFill>
                  <a:schemeClr val="accent4"/>
                </a:solidFill>
              </a:rPr>
              <a:t> </a:t>
            </a:r>
          </a:p>
          <a:p>
            <a:pPr marL="0" indent="0">
              <a:buNone/>
            </a:pPr>
            <a:r>
              <a:rPr lang="fr-FR" dirty="0"/>
              <a:t>En son équivalent</a:t>
            </a:r>
          </a:p>
          <a:p>
            <a:pPr marL="0" indent="0">
              <a:buNone/>
            </a:pPr>
            <a:r>
              <a:rPr lang="fr-FR" sz="2600" dirty="0" err="1">
                <a:solidFill>
                  <a:schemeClr val="accent4"/>
                </a:solidFill>
                <a:latin typeface="Consolas"/>
                <a:cs typeface="Consolas"/>
              </a:rPr>
              <a:t>liste.forEach</a:t>
            </a:r>
            <a:r>
              <a:rPr lang="fr-FR" sz="2600" dirty="0">
                <a:solidFill>
                  <a:schemeClr val="accent4"/>
                </a:solidFill>
                <a:latin typeface="Consolas"/>
                <a:cs typeface="Consolas"/>
              </a:rPr>
              <a:t>(</a:t>
            </a:r>
            <a:r>
              <a:rPr lang="fr-FR" sz="2600" dirty="0" err="1">
                <a:solidFill>
                  <a:schemeClr val="accent4"/>
                </a:solidFill>
                <a:latin typeface="Consolas"/>
                <a:cs typeface="Consolas"/>
              </a:rPr>
              <a:t>elem</a:t>
            </a:r>
            <a:r>
              <a:rPr lang="fr-FR" sz="2600" dirty="0">
                <a:solidFill>
                  <a:schemeClr val="accent4"/>
                </a:solidFill>
                <a:latin typeface="Consolas"/>
                <a:cs typeface="Consolas"/>
              </a:rPr>
              <a:t> -&gt; </a:t>
            </a:r>
            <a:r>
              <a:rPr lang="fr-FR" sz="2600" dirty="0" err="1">
                <a:solidFill>
                  <a:schemeClr val="accent4"/>
                </a:solidFill>
                <a:latin typeface="Consolas"/>
                <a:cs typeface="Consolas"/>
              </a:rPr>
              <a:t>System.out.println</a:t>
            </a:r>
            <a:r>
              <a:rPr lang="fr-FR" sz="2600" dirty="0">
                <a:solidFill>
                  <a:schemeClr val="accent4"/>
                </a:solidFill>
                <a:latin typeface="Consolas"/>
                <a:cs typeface="Consolas"/>
              </a:rPr>
              <a:t>(</a:t>
            </a:r>
            <a:r>
              <a:rPr lang="fr-FR" sz="2600" dirty="0" err="1">
                <a:solidFill>
                  <a:schemeClr val="accent4"/>
                </a:solidFill>
                <a:latin typeface="Consolas"/>
                <a:cs typeface="Consolas"/>
              </a:rPr>
              <a:t>elem</a:t>
            </a:r>
            <a:r>
              <a:rPr lang="fr-FR" sz="2600" dirty="0">
                <a:solidFill>
                  <a:schemeClr val="accent4"/>
                </a:solidFill>
                <a:latin typeface="Consolas"/>
                <a:cs typeface="Consolas"/>
              </a:rPr>
              <a:t>));</a:t>
            </a:r>
          </a:p>
          <a:p>
            <a:pPr marL="0" indent="0">
              <a:buNone/>
            </a:pPr>
            <a:endParaRPr lang="fr-FR" dirty="0"/>
          </a:p>
        </p:txBody>
      </p:sp>
      <p:pic>
        <p:nvPicPr>
          <p:cNvPr id="5" name="Image 4">
            <a:extLst>
              <a:ext uri="{FF2B5EF4-FFF2-40B4-BE49-F238E27FC236}">
                <a16:creationId xmlns:a16="http://schemas.microsoft.com/office/drawing/2014/main" id="{7D49312F-9D98-4237-50FE-5C41D8C59101}"/>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2913" b="89968" l="19346" r="80109">
                        <a14:foregroundMark x1="68392" y1="26537" x2="70027" y2="28479"/>
                        <a14:foregroundMark x1="77657" y1="45307" x2="77384" y2="43366"/>
                        <a14:foregroundMark x1="49046" y1="4854" x2="50954" y2="3236"/>
                        <a14:foregroundMark x1="78474" y1="40453" x2="80109" y2="42718"/>
                        <a14:foregroundMark x1="24796" y1="44337" x2="23161" y2="49515"/>
                        <a14:foregroundMark x1="19346" y1="49515" x2="20708" y2="44337"/>
                        <a14:foregroundMark x1="30245" y1="60194" x2="30245" y2="55663"/>
                        <a14:backgroundMark x1="31335" y1="77023" x2="53951" y2="77346"/>
                        <a14:backgroundMark x1="53951" y1="77346" x2="31608" y2="72816"/>
                        <a14:backgroundMark x1="31608" y1="72816" x2="51226" y2="90939"/>
                        <a14:backgroundMark x1="51226" y1="90939" x2="56676" y2="76052"/>
                        <a14:backgroundMark x1="41144" y1="70550" x2="41689" y2="77346"/>
                      </a14:backgroundRemoval>
                    </a14:imgEffect>
                  </a14:imgLayer>
                </a14:imgProps>
              </a:ext>
            </a:extLst>
          </a:blip>
          <a:srcRect l="16618" r="15601"/>
          <a:stretch/>
        </p:blipFill>
        <p:spPr>
          <a:xfrm flipH="1">
            <a:off x="10293872" y="143800"/>
            <a:ext cx="1423466" cy="1768216"/>
          </a:xfrm>
          <a:prstGeom prst="rect">
            <a:avLst/>
          </a:prstGeom>
        </p:spPr>
      </p:pic>
      <p:sp>
        <p:nvSpPr>
          <p:cNvPr id="6" name="Espace réservé du numéro de diapositive 5">
            <a:extLst>
              <a:ext uri="{FF2B5EF4-FFF2-40B4-BE49-F238E27FC236}">
                <a16:creationId xmlns:a16="http://schemas.microsoft.com/office/drawing/2014/main" id="{6D76391E-C6C9-8C88-BDDC-9BE08AD9AF65}"/>
              </a:ext>
            </a:extLst>
          </p:cNvPr>
          <p:cNvSpPr>
            <a:spLocks noGrp="1"/>
          </p:cNvSpPr>
          <p:nvPr>
            <p:ph type="sldNum" sz="quarter" idx="4"/>
          </p:nvPr>
        </p:nvSpPr>
        <p:spPr/>
        <p:txBody>
          <a:bodyPr/>
          <a:lstStyle/>
          <a:p>
            <a:fld id="{33C783E2-4793-4F48-A271-51A73CC37D74}" type="slidenum">
              <a:rPr lang="fr-FR" smtClean="0"/>
              <a:t>86</a:t>
            </a:fld>
            <a:endParaRPr lang="fr-FR"/>
          </a:p>
        </p:txBody>
      </p:sp>
    </p:spTree>
    <p:extLst>
      <p:ext uri="{BB962C8B-B14F-4D97-AF65-F5344CB8AC3E}">
        <p14:creationId xmlns:p14="http://schemas.microsoft.com/office/powerpoint/2010/main" val="11796700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Deuxième exemple pratique</a:t>
            </a:r>
          </a:p>
        </p:txBody>
      </p:sp>
      <p:sp>
        <p:nvSpPr>
          <p:cNvPr id="3" name="Espace réservé du contenu 2"/>
          <p:cNvSpPr>
            <a:spLocks noGrp="1"/>
          </p:cNvSpPr>
          <p:nvPr>
            <p:ph idx="1"/>
          </p:nvPr>
        </p:nvSpPr>
        <p:spPr>
          <a:xfrm>
            <a:off x="838200" y="1825625"/>
            <a:ext cx="10515599" cy="4351338"/>
          </a:xfrm>
        </p:spPr>
        <p:txBody>
          <a:bodyPr>
            <a:normAutofit fontScale="92500"/>
          </a:bodyPr>
          <a:lstStyle/>
          <a:p>
            <a:pPr marL="0" indent="0">
              <a:buNone/>
            </a:pPr>
            <a:r>
              <a:rPr lang="fr-FR" dirty="0"/>
              <a:t>La méthode </a:t>
            </a:r>
            <a:r>
              <a:rPr lang="fr-FR" sz="2600" dirty="0" err="1">
                <a:solidFill>
                  <a:schemeClr val="accent4"/>
                </a:solidFill>
                <a:latin typeface="Consolas"/>
                <a:cs typeface="Consolas"/>
              </a:rPr>
              <a:t>liste.forEach</a:t>
            </a:r>
            <a:r>
              <a:rPr lang="fr-FR" dirty="0"/>
              <a:t> prend un objet de type </a:t>
            </a:r>
            <a:r>
              <a:rPr lang="fr-FR" sz="2600" dirty="0">
                <a:solidFill>
                  <a:schemeClr val="accent4"/>
                </a:solidFill>
                <a:latin typeface="Consolas"/>
                <a:cs typeface="Consolas"/>
              </a:rPr>
              <a:t>Consumer&lt;</a:t>
            </a:r>
            <a:r>
              <a:rPr lang="fr-FR" sz="2600" dirty="0" err="1">
                <a:solidFill>
                  <a:schemeClr val="accent4"/>
                </a:solidFill>
                <a:latin typeface="Consolas"/>
                <a:cs typeface="Consolas"/>
              </a:rPr>
              <a:t>Element</a:t>
            </a:r>
            <a:r>
              <a:rPr lang="fr-FR" sz="2600" dirty="0">
                <a:solidFill>
                  <a:schemeClr val="accent4"/>
                </a:solidFill>
                <a:latin typeface="Consolas"/>
                <a:cs typeface="Consolas"/>
              </a:rPr>
              <a:t>&gt;</a:t>
            </a:r>
            <a:r>
              <a:rPr lang="fr-FR" dirty="0"/>
              <a:t>…</a:t>
            </a:r>
            <a:endParaRPr lang="fr-FR" sz="2600" dirty="0">
              <a:solidFill>
                <a:schemeClr val="accent4"/>
              </a:solidFill>
            </a:endParaRPr>
          </a:p>
          <a:p>
            <a:pPr marL="457200" lvl="1" indent="0">
              <a:buNone/>
            </a:pPr>
            <a:r>
              <a:rPr lang="fr-FR" sz="2600" dirty="0" err="1">
                <a:solidFill>
                  <a:schemeClr val="accent4"/>
                </a:solidFill>
                <a:latin typeface="Consolas"/>
                <a:cs typeface="Consolas"/>
              </a:rPr>
              <a:t>liste.forEach</a:t>
            </a:r>
            <a:r>
              <a:rPr lang="fr-FR" sz="2600" dirty="0">
                <a:solidFill>
                  <a:schemeClr val="accent4"/>
                </a:solidFill>
                <a:latin typeface="Consolas"/>
                <a:cs typeface="Consolas"/>
              </a:rPr>
              <a:t>(</a:t>
            </a:r>
            <a:r>
              <a:rPr lang="fr-FR" sz="2600" dirty="0" err="1">
                <a:solidFill>
                  <a:schemeClr val="accent4"/>
                </a:solidFill>
                <a:latin typeface="Consolas"/>
                <a:cs typeface="Consolas"/>
              </a:rPr>
              <a:t>elem</a:t>
            </a:r>
            <a:r>
              <a:rPr lang="fr-FR" sz="2600" dirty="0">
                <a:solidFill>
                  <a:schemeClr val="accent4"/>
                </a:solidFill>
                <a:latin typeface="Consolas"/>
                <a:cs typeface="Consolas"/>
              </a:rPr>
              <a:t> -&gt; </a:t>
            </a:r>
            <a:r>
              <a:rPr lang="fr-FR" sz="2600" dirty="0" err="1">
                <a:solidFill>
                  <a:schemeClr val="accent4"/>
                </a:solidFill>
                <a:latin typeface="Consolas"/>
                <a:cs typeface="Consolas"/>
              </a:rPr>
              <a:t>System.out.println</a:t>
            </a:r>
            <a:r>
              <a:rPr lang="fr-FR" sz="2600" dirty="0">
                <a:solidFill>
                  <a:schemeClr val="accent4"/>
                </a:solidFill>
                <a:latin typeface="Consolas"/>
                <a:cs typeface="Consolas"/>
              </a:rPr>
              <a:t>(</a:t>
            </a:r>
            <a:r>
              <a:rPr lang="fr-FR" sz="2600" dirty="0" err="1">
                <a:solidFill>
                  <a:schemeClr val="accent4"/>
                </a:solidFill>
                <a:latin typeface="Consolas"/>
                <a:cs typeface="Consolas"/>
              </a:rPr>
              <a:t>elem</a:t>
            </a:r>
            <a:r>
              <a:rPr lang="fr-FR" sz="2600" dirty="0">
                <a:solidFill>
                  <a:schemeClr val="accent4"/>
                </a:solidFill>
                <a:latin typeface="Consolas"/>
                <a:cs typeface="Consolas"/>
              </a:rPr>
              <a:t>));</a:t>
            </a:r>
          </a:p>
          <a:p>
            <a:pPr marL="0" indent="0">
              <a:buNone/>
            </a:pPr>
            <a:endParaRPr lang="fr-FR" dirty="0"/>
          </a:p>
          <a:p>
            <a:pPr marL="0" indent="0">
              <a:buNone/>
            </a:pPr>
            <a:r>
              <a:rPr lang="fr-FR" dirty="0"/>
              <a:t>Rien ne nous empêche de stocker cet objet dans une variable…</a:t>
            </a:r>
          </a:p>
          <a:p>
            <a:pPr marL="457200" lvl="1" indent="0">
              <a:buNone/>
            </a:pPr>
            <a:r>
              <a:rPr lang="fr-FR" sz="2600" dirty="0">
                <a:solidFill>
                  <a:schemeClr val="accent4"/>
                </a:solidFill>
                <a:latin typeface="Consolas"/>
                <a:cs typeface="Consolas"/>
              </a:rPr>
              <a:t>Consumer&lt;</a:t>
            </a:r>
            <a:r>
              <a:rPr lang="fr-FR" sz="2600" dirty="0" err="1">
                <a:solidFill>
                  <a:schemeClr val="accent4"/>
                </a:solidFill>
                <a:latin typeface="Consolas"/>
                <a:cs typeface="Consolas"/>
              </a:rPr>
              <a:t>Element</a:t>
            </a:r>
            <a:r>
              <a:rPr lang="fr-FR" sz="2600" dirty="0">
                <a:solidFill>
                  <a:schemeClr val="accent4"/>
                </a:solidFill>
                <a:latin typeface="Consolas"/>
                <a:cs typeface="Consolas"/>
              </a:rPr>
              <a:t>&gt; traitement;</a:t>
            </a:r>
            <a:br>
              <a:rPr lang="fr-FR" sz="2600" dirty="0">
                <a:solidFill>
                  <a:schemeClr val="accent4"/>
                </a:solidFill>
                <a:latin typeface="Consolas"/>
                <a:cs typeface="Consolas"/>
              </a:rPr>
            </a:br>
            <a:r>
              <a:rPr lang="fr-FR" sz="2600" dirty="0">
                <a:solidFill>
                  <a:schemeClr val="accent4"/>
                </a:solidFill>
                <a:latin typeface="Consolas"/>
                <a:cs typeface="Consolas"/>
              </a:rPr>
              <a:t>traitement = </a:t>
            </a:r>
            <a:r>
              <a:rPr lang="fr-FR" sz="2600" dirty="0" err="1">
                <a:solidFill>
                  <a:schemeClr val="accent4"/>
                </a:solidFill>
                <a:latin typeface="Consolas"/>
                <a:cs typeface="Consolas"/>
              </a:rPr>
              <a:t>elem</a:t>
            </a:r>
            <a:r>
              <a:rPr lang="fr-FR" sz="2600" dirty="0">
                <a:solidFill>
                  <a:schemeClr val="accent4"/>
                </a:solidFill>
                <a:latin typeface="Consolas"/>
                <a:cs typeface="Consolas"/>
              </a:rPr>
              <a:t> -&gt; </a:t>
            </a:r>
            <a:r>
              <a:rPr lang="fr-FR" sz="2600" dirty="0" err="1">
                <a:solidFill>
                  <a:schemeClr val="accent4"/>
                </a:solidFill>
                <a:latin typeface="Consolas"/>
                <a:cs typeface="Consolas"/>
              </a:rPr>
              <a:t>System.out.println</a:t>
            </a:r>
            <a:r>
              <a:rPr lang="fr-FR" sz="2600" dirty="0">
                <a:solidFill>
                  <a:schemeClr val="accent4"/>
                </a:solidFill>
                <a:latin typeface="Consolas"/>
                <a:cs typeface="Consolas"/>
              </a:rPr>
              <a:t>(</a:t>
            </a:r>
            <a:r>
              <a:rPr lang="fr-FR" sz="2600" dirty="0" err="1">
                <a:solidFill>
                  <a:schemeClr val="accent4"/>
                </a:solidFill>
                <a:latin typeface="Consolas"/>
                <a:cs typeface="Consolas"/>
              </a:rPr>
              <a:t>elem</a:t>
            </a:r>
            <a:r>
              <a:rPr lang="fr-FR" sz="2600" dirty="0">
                <a:solidFill>
                  <a:schemeClr val="accent4"/>
                </a:solidFill>
                <a:latin typeface="Consolas"/>
                <a:cs typeface="Consolas"/>
              </a:rPr>
              <a:t>);</a:t>
            </a:r>
          </a:p>
          <a:p>
            <a:pPr marL="0" indent="0">
              <a:buNone/>
            </a:pPr>
            <a:endParaRPr lang="fr-FR" dirty="0"/>
          </a:p>
          <a:p>
            <a:pPr marL="0" indent="0">
              <a:buNone/>
            </a:pPr>
            <a:r>
              <a:rPr lang="fr-FR" dirty="0"/>
              <a:t>On peut donc créer plusieurs variables qui correspondent à chaque traitement, et passer le traitement adéquat à nos méthodes; on retrouve ceci dans la </a:t>
            </a:r>
            <a:r>
              <a:rPr lang="fr-FR" dirty="0">
                <a:solidFill>
                  <a:schemeClr val="accent4"/>
                </a:solidFill>
              </a:rPr>
              <a:t>programmation fonctionnelle</a:t>
            </a:r>
            <a:r>
              <a:rPr lang="fr-FR" dirty="0"/>
              <a:t>…</a:t>
            </a:r>
          </a:p>
        </p:txBody>
      </p:sp>
      <p:pic>
        <p:nvPicPr>
          <p:cNvPr id="5" name="Image 4">
            <a:extLst>
              <a:ext uri="{FF2B5EF4-FFF2-40B4-BE49-F238E27FC236}">
                <a16:creationId xmlns:a16="http://schemas.microsoft.com/office/drawing/2014/main" id="{7D49312F-9D98-4237-50FE-5C41D8C59101}"/>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2913" b="89968" l="19346" r="80109">
                        <a14:foregroundMark x1="68392" y1="26537" x2="70027" y2="28479"/>
                        <a14:foregroundMark x1="77657" y1="45307" x2="77384" y2="43366"/>
                        <a14:foregroundMark x1="49046" y1="4854" x2="50954" y2="3236"/>
                        <a14:foregroundMark x1="78474" y1="40453" x2="80109" y2="42718"/>
                        <a14:foregroundMark x1="24796" y1="44337" x2="23161" y2="49515"/>
                        <a14:foregroundMark x1="19346" y1="49515" x2="20708" y2="44337"/>
                        <a14:foregroundMark x1="30245" y1="60194" x2="30245" y2="55663"/>
                        <a14:backgroundMark x1="31335" y1="77023" x2="53951" y2="77346"/>
                        <a14:backgroundMark x1="53951" y1="77346" x2="31608" y2="72816"/>
                        <a14:backgroundMark x1="31608" y1="72816" x2="51226" y2="90939"/>
                        <a14:backgroundMark x1="51226" y1="90939" x2="56676" y2="76052"/>
                        <a14:backgroundMark x1="41144" y1="70550" x2="41689" y2="77346"/>
                      </a14:backgroundRemoval>
                    </a14:imgEffect>
                  </a14:imgLayer>
                </a14:imgProps>
              </a:ext>
            </a:extLst>
          </a:blip>
          <a:srcRect l="16618" r="15601"/>
          <a:stretch/>
        </p:blipFill>
        <p:spPr>
          <a:xfrm flipH="1">
            <a:off x="10293872" y="143800"/>
            <a:ext cx="1423466" cy="1768216"/>
          </a:xfrm>
          <a:prstGeom prst="rect">
            <a:avLst/>
          </a:prstGeom>
        </p:spPr>
      </p:pic>
      <p:sp>
        <p:nvSpPr>
          <p:cNvPr id="6" name="Espace réservé du numéro de diapositive 5">
            <a:extLst>
              <a:ext uri="{FF2B5EF4-FFF2-40B4-BE49-F238E27FC236}">
                <a16:creationId xmlns:a16="http://schemas.microsoft.com/office/drawing/2014/main" id="{83F366C8-7C02-9CD0-F22E-BF522A208391}"/>
              </a:ext>
            </a:extLst>
          </p:cNvPr>
          <p:cNvSpPr>
            <a:spLocks noGrp="1"/>
          </p:cNvSpPr>
          <p:nvPr>
            <p:ph type="sldNum" sz="quarter" idx="4"/>
          </p:nvPr>
        </p:nvSpPr>
        <p:spPr/>
        <p:txBody>
          <a:bodyPr/>
          <a:lstStyle/>
          <a:p>
            <a:fld id="{33C783E2-4793-4F48-A271-51A73CC37D74}" type="slidenum">
              <a:rPr lang="fr-FR" smtClean="0"/>
              <a:t>87</a:t>
            </a:fld>
            <a:endParaRPr lang="fr-FR"/>
          </a:p>
        </p:txBody>
      </p:sp>
    </p:spTree>
    <p:extLst>
      <p:ext uri="{BB962C8B-B14F-4D97-AF65-F5344CB8AC3E}">
        <p14:creationId xmlns:p14="http://schemas.microsoft.com/office/powerpoint/2010/main" val="373945197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Exercice 40</a:t>
            </a:r>
          </a:p>
        </p:txBody>
      </p:sp>
      <p:sp>
        <p:nvSpPr>
          <p:cNvPr id="3" name="Espace réservé du contenu 2"/>
          <p:cNvSpPr>
            <a:spLocks noGrp="1"/>
          </p:cNvSpPr>
          <p:nvPr>
            <p:ph idx="1"/>
          </p:nvPr>
        </p:nvSpPr>
        <p:spPr/>
        <p:txBody>
          <a:bodyPr>
            <a:normAutofit fontScale="92500" lnSpcReduction="10000"/>
          </a:bodyPr>
          <a:lstStyle/>
          <a:p>
            <a:pPr marL="0" indent="0">
              <a:buNone/>
            </a:pPr>
            <a:r>
              <a:rPr lang="fr-FR" dirty="0"/>
              <a:t>Créez une interface fonctionnelle </a:t>
            </a:r>
            <a:r>
              <a:rPr lang="fr-FR" sz="2600" dirty="0">
                <a:solidFill>
                  <a:schemeClr val="accent4"/>
                </a:solidFill>
                <a:latin typeface="Consolas"/>
                <a:cs typeface="Consolas"/>
              </a:rPr>
              <a:t>Calculateur</a:t>
            </a:r>
            <a:r>
              <a:rPr lang="fr-FR" dirty="0"/>
              <a:t> qui présente une méthode </a:t>
            </a:r>
            <a:r>
              <a:rPr lang="fr-FR" sz="2600" dirty="0">
                <a:solidFill>
                  <a:schemeClr val="accent4"/>
                </a:solidFill>
                <a:latin typeface="Consolas"/>
                <a:cs typeface="Consolas"/>
              </a:rPr>
              <a:t>int calcul(int n)</a:t>
            </a:r>
          </a:p>
          <a:p>
            <a:pPr marL="0" indent="0">
              <a:buNone/>
            </a:pPr>
            <a:endParaRPr lang="fr-FR" dirty="0"/>
          </a:p>
          <a:p>
            <a:pPr marL="0" indent="0">
              <a:buNone/>
            </a:pPr>
            <a:r>
              <a:rPr lang="fr-FR" dirty="0"/>
              <a:t>Ecrivez ensuite un programme dans lequel vous créez un tableau de calculateurs définis à l'aide d'expressions lambda:</a:t>
            </a:r>
          </a:p>
          <a:p>
            <a:pPr marL="0" indent="0">
              <a:buNone/>
            </a:pPr>
            <a:r>
              <a:rPr lang="fr-FR" dirty="0"/>
              <a:t>    </a:t>
            </a:r>
            <a:r>
              <a:rPr lang="fr-FR" sz="2600" dirty="0">
                <a:solidFill>
                  <a:schemeClr val="accent4"/>
                </a:solidFill>
                <a:latin typeface="Consolas"/>
                <a:cs typeface="Consolas"/>
              </a:rPr>
              <a:t>{ x -&gt; x * x, x -&gt; 2*x, ...}</a:t>
            </a:r>
          </a:p>
          <a:p>
            <a:pPr marL="0" indent="0">
              <a:buNone/>
            </a:pPr>
            <a:r>
              <a:rPr lang="fr-FR" dirty="0"/>
              <a:t>Dans votre programme, une méthode </a:t>
            </a:r>
            <a:br>
              <a:rPr lang="fr-FR" dirty="0"/>
            </a:br>
            <a:r>
              <a:rPr lang="fr-FR" dirty="0"/>
              <a:t>    </a:t>
            </a:r>
            <a:r>
              <a:rPr lang="fr-FR" sz="2600" dirty="0">
                <a:solidFill>
                  <a:schemeClr val="accent4"/>
                </a:solidFill>
                <a:latin typeface="Consolas"/>
                <a:cs typeface="Consolas"/>
              </a:rPr>
              <a:t>traite (int n, Calculateur c) </a:t>
            </a:r>
            <a:br>
              <a:rPr lang="fr-FR" dirty="0"/>
            </a:br>
            <a:r>
              <a:rPr lang="fr-FR" dirty="0"/>
              <a:t>fera en sorte que le calcul du calculateur soit effectué.</a:t>
            </a:r>
          </a:p>
          <a:p>
            <a:pPr marL="0" indent="0">
              <a:buNone/>
            </a:pPr>
            <a:endParaRPr lang="fr-FR" dirty="0"/>
          </a:p>
          <a:p>
            <a:pPr marL="0" indent="0">
              <a:buNone/>
            </a:pPr>
            <a:r>
              <a:rPr lang="fr-FR" dirty="0"/>
              <a:t>Vous appliquerez ensuite l'ensemble des calculs à quelques nombres. </a:t>
            </a:r>
            <a:endParaRPr lang="fr-FR" dirty="0">
              <a:solidFill>
                <a:schemeClr val="accent2"/>
              </a:solidFill>
              <a:latin typeface="Consolas"/>
              <a:cs typeface="Consolas"/>
            </a:endParaRPr>
          </a:p>
          <a:p>
            <a:pPr marL="0" indent="0">
              <a:buNone/>
            </a:pPr>
            <a:endParaRPr lang="fr-FR" dirty="0">
              <a:solidFill>
                <a:schemeClr val="accent2"/>
              </a:solidFill>
              <a:latin typeface="Consolas"/>
              <a:cs typeface="Consolas"/>
            </a:endParaRPr>
          </a:p>
        </p:txBody>
      </p:sp>
      <p:pic>
        <p:nvPicPr>
          <p:cNvPr id="6" name="Picture 2" descr="blog-nutrition-outlet">
            <a:extLst>
              <a:ext uri="{FF2B5EF4-FFF2-40B4-BE49-F238E27FC236}">
                <a16:creationId xmlns:a16="http://schemas.microsoft.com/office/drawing/2014/main" id="{2B6E6691-5C90-7D06-D128-F59114237D49}"/>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9793621" y="1"/>
            <a:ext cx="1968936" cy="1968936"/>
          </a:xfrm>
          <a:prstGeom prst="rect">
            <a:avLst/>
          </a:prstGeom>
          <a:noFill/>
          <a:extLst>
            <a:ext uri="{909E8E84-426E-40DD-AFC4-6F175D3DCCD1}">
              <a14:hiddenFill xmlns:a14="http://schemas.microsoft.com/office/drawing/2010/main">
                <a:solidFill>
                  <a:srgbClr val="FFFFFF"/>
                </a:solidFill>
              </a14:hiddenFill>
            </a:ext>
          </a:extLst>
        </p:spPr>
      </p:pic>
      <p:sp>
        <p:nvSpPr>
          <p:cNvPr id="7" name="Espace réservé du numéro de diapositive 6">
            <a:extLst>
              <a:ext uri="{FF2B5EF4-FFF2-40B4-BE49-F238E27FC236}">
                <a16:creationId xmlns:a16="http://schemas.microsoft.com/office/drawing/2014/main" id="{58F8E649-AE73-2D9F-4424-6A248DD51A48}"/>
              </a:ext>
            </a:extLst>
          </p:cNvPr>
          <p:cNvSpPr>
            <a:spLocks noGrp="1"/>
          </p:cNvSpPr>
          <p:nvPr>
            <p:ph type="sldNum" sz="quarter" idx="4"/>
          </p:nvPr>
        </p:nvSpPr>
        <p:spPr/>
        <p:txBody>
          <a:bodyPr/>
          <a:lstStyle/>
          <a:p>
            <a:fld id="{33C783E2-4793-4F48-A271-51A73CC37D74}" type="slidenum">
              <a:rPr lang="fr-FR" smtClean="0"/>
              <a:t>88</a:t>
            </a:fld>
            <a:endParaRPr lang="fr-FR"/>
          </a:p>
        </p:txBody>
      </p:sp>
    </p:spTree>
    <p:extLst>
      <p:ext uri="{BB962C8B-B14F-4D97-AF65-F5344CB8AC3E}">
        <p14:creationId xmlns:p14="http://schemas.microsoft.com/office/powerpoint/2010/main" val="152483849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Expressions Lambda</a:t>
            </a:r>
          </a:p>
        </p:txBody>
      </p:sp>
      <p:sp>
        <p:nvSpPr>
          <p:cNvPr id="3" name="Espace réservé du contenu 2"/>
          <p:cNvSpPr>
            <a:spLocks noGrp="1"/>
          </p:cNvSpPr>
          <p:nvPr>
            <p:ph idx="1"/>
          </p:nvPr>
        </p:nvSpPr>
        <p:spPr/>
        <p:txBody>
          <a:bodyPr>
            <a:noAutofit/>
          </a:bodyPr>
          <a:lstStyle/>
          <a:p>
            <a:pPr marL="342900" indent="-342900">
              <a:lnSpc>
                <a:spcPct val="80000"/>
              </a:lnSpc>
              <a:buFont typeface="Arial"/>
              <a:buChar char="•"/>
            </a:pPr>
            <a:r>
              <a:rPr lang="fr-FR" dirty="0"/>
              <a:t>Un exemple pratique</a:t>
            </a:r>
          </a:p>
          <a:p>
            <a:pPr marL="342900" indent="-342900">
              <a:lnSpc>
                <a:spcPct val="80000"/>
              </a:lnSpc>
              <a:buFont typeface="Arial"/>
              <a:buChar char="•"/>
            </a:pPr>
            <a:r>
              <a:rPr lang="fr-FR" dirty="0"/>
              <a:t>Les expressions Lambda</a:t>
            </a:r>
          </a:p>
          <a:p>
            <a:pPr marL="342900" indent="-342900">
              <a:lnSpc>
                <a:spcPct val="80000"/>
              </a:lnSpc>
              <a:buFont typeface="Arial"/>
              <a:buChar char="•"/>
            </a:pPr>
            <a:r>
              <a:rPr lang="fr-FR" dirty="0"/>
              <a:t>La notion d’interface fonctionnelle</a:t>
            </a:r>
          </a:p>
          <a:p>
            <a:pPr marL="342900" indent="-342900">
              <a:lnSpc>
                <a:spcPct val="80000"/>
              </a:lnSpc>
              <a:buFont typeface="Arial"/>
              <a:buChar char="•"/>
            </a:pPr>
            <a:r>
              <a:rPr lang="fr-FR" dirty="0"/>
              <a:t>Quelques exemples pratiques</a:t>
            </a:r>
          </a:p>
          <a:p>
            <a:pPr marL="342900" indent="-342900">
              <a:lnSpc>
                <a:spcPct val="80000"/>
              </a:lnSpc>
              <a:buFont typeface="Arial"/>
              <a:buChar char="•"/>
            </a:pPr>
            <a:r>
              <a:rPr lang="fr-FR" dirty="0">
                <a:solidFill>
                  <a:schemeClr val="accent4"/>
                </a:solidFill>
              </a:rPr>
              <a:t>Référence de Méthode</a:t>
            </a:r>
          </a:p>
          <a:p>
            <a:pPr marL="342900" indent="-342900">
              <a:lnSpc>
                <a:spcPct val="80000"/>
              </a:lnSpc>
              <a:buFont typeface="Arial"/>
              <a:buChar char="•"/>
            </a:pPr>
            <a:endParaRPr lang="fr-FR" dirty="0"/>
          </a:p>
          <a:p>
            <a:pPr marL="342900" indent="-342900">
              <a:lnSpc>
                <a:spcPct val="80000"/>
              </a:lnSpc>
              <a:buFont typeface="Arial"/>
              <a:buChar char="•"/>
            </a:pPr>
            <a:endParaRPr lang="fr-FR" dirty="0"/>
          </a:p>
          <a:p>
            <a:pPr marL="342900" indent="-342900">
              <a:lnSpc>
                <a:spcPct val="80000"/>
              </a:lnSpc>
              <a:buFont typeface="Arial"/>
              <a:buChar char="•"/>
            </a:pPr>
            <a:endParaRPr lang="fr-FR" dirty="0"/>
          </a:p>
          <a:p>
            <a:pPr marL="342900" indent="-342900">
              <a:lnSpc>
                <a:spcPct val="80000"/>
              </a:lnSpc>
              <a:buFont typeface="Arial"/>
              <a:buChar char="•"/>
            </a:pPr>
            <a:endParaRPr lang="fr-FR" dirty="0"/>
          </a:p>
        </p:txBody>
      </p:sp>
      <p:grpSp>
        <p:nvGrpSpPr>
          <p:cNvPr id="8" name="Groupe 7">
            <a:extLst>
              <a:ext uri="{FF2B5EF4-FFF2-40B4-BE49-F238E27FC236}">
                <a16:creationId xmlns:a16="http://schemas.microsoft.com/office/drawing/2014/main" id="{ACCA99A5-B332-B909-6733-15C39193A78F}"/>
              </a:ext>
            </a:extLst>
          </p:cNvPr>
          <p:cNvGrpSpPr/>
          <p:nvPr/>
        </p:nvGrpSpPr>
        <p:grpSpPr>
          <a:xfrm>
            <a:off x="10470995" y="162401"/>
            <a:ext cx="1404760" cy="1400033"/>
            <a:chOff x="10326324" y="687756"/>
            <a:chExt cx="1393314" cy="1393314"/>
          </a:xfrm>
        </p:grpSpPr>
        <p:sp>
          <p:nvSpPr>
            <p:cNvPr id="5" name="Larme 4">
              <a:extLst>
                <a:ext uri="{FF2B5EF4-FFF2-40B4-BE49-F238E27FC236}">
                  <a16:creationId xmlns:a16="http://schemas.microsoft.com/office/drawing/2014/main" id="{6D659AA5-DE48-3A94-0973-5630499C0B8F}"/>
                </a:ext>
              </a:extLst>
            </p:cNvPr>
            <p:cNvSpPr/>
            <p:nvPr/>
          </p:nvSpPr>
          <p:spPr>
            <a:xfrm rot="8100000">
              <a:off x="10326324" y="687756"/>
              <a:ext cx="1393314" cy="1393314"/>
            </a:xfrm>
            <a:prstGeom prst="teardrop">
              <a:avLst>
                <a:gd name="adj" fmla="val 132871"/>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7" name="ZoneTexte 6">
              <a:extLst>
                <a:ext uri="{FF2B5EF4-FFF2-40B4-BE49-F238E27FC236}">
                  <a16:creationId xmlns:a16="http://schemas.microsoft.com/office/drawing/2014/main" id="{4FF3D4ED-5448-D9C2-964C-3C9EFB6B14C0}"/>
                </a:ext>
              </a:extLst>
            </p:cNvPr>
            <p:cNvSpPr txBox="1"/>
            <p:nvPr/>
          </p:nvSpPr>
          <p:spPr>
            <a:xfrm>
              <a:off x="10372029" y="1092958"/>
              <a:ext cx="1301905" cy="702249"/>
            </a:xfrm>
            <a:prstGeom prst="rect">
              <a:avLst/>
            </a:prstGeom>
            <a:noFill/>
          </p:spPr>
          <p:txBody>
            <a:bodyPr wrap="square">
              <a:spAutoFit/>
            </a:bodyPr>
            <a:lstStyle/>
            <a:p>
              <a:pPr algn="ctr"/>
              <a:r>
                <a:rPr lang="fr-FR" sz="2000" b="1" dirty="0"/>
                <a:t>Vous êtes ici</a:t>
              </a:r>
            </a:p>
          </p:txBody>
        </p:sp>
      </p:grpSp>
      <p:sp>
        <p:nvSpPr>
          <p:cNvPr id="6" name="Espace réservé du numéro de diapositive 5">
            <a:extLst>
              <a:ext uri="{FF2B5EF4-FFF2-40B4-BE49-F238E27FC236}">
                <a16:creationId xmlns:a16="http://schemas.microsoft.com/office/drawing/2014/main" id="{5208F1A2-F504-FD56-244E-81ED2F3BD491}"/>
              </a:ext>
            </a:extLst>
          </p:cNvPr>
          <p:cNvSpPr>
            <a:spLocks noGrp="1"/>
          </p:cNvSpPr>
          <p:nvPr>
            <p:ph type="sldNum" sz="quarter" idx="4"/>
          </p:nvPr>
        </p:nvSpPr>
        <p:spPr/>
        <p:txBody>
          <a:bodyPr/>
          <a:lstStyle/>
          <a:p>
            <a:fld id="{33C783E2-4793-4F48-A271-51A73CC37D74}" type="slidenum">
              <a:rPr lang="fr-FR" smtClean="0"/>
              <a:t>89</a:t>
            </a:fld>
            <a:endParaRPr lang="fr-FR"/>
          </a:p>
        </p:txBody>
      </p:sp>
    </p:spTree>
    <p:extLst>
      <p:ext uri="{BB962C8B-B14F-4D97-AF65-F5344CB8AC3E}">
        <p14:creationId xmlns:p14="http://schemas.microsoft.com/office/powerpoint/2010/main" val="2294483750"/>
      </p:ext>
    </p:extLst>
  </p:cSld>
  <p:clrMapOvr>
    <a:masterClrMapping/>
  </p:clrMapOvr>
  <p:transition>
    <p:push dir="u"/>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Références de méthodes</a:t>
            </a:r>
          </a:p>
        </p:txBody>
      </p:sp>
      <p:sp>
        <p:nvSpPr>
          <p:cNvPr id="3" name="Espace réservé du contenu 2"/>
          <p:cNvSpPr>
            <a:spLocks noGrp="1"/>
          </p:cNvSpPr>
          <p:nvPr>
            <p:ph idx="1"/>
          </p:nvPr>
        </p:nvSpPr>
        <p:spPr/>
        <p:txBody>
          <a:bodyPr>
            <a:normAutofit/>
          </a:bodyPr>
          <a:lstStyle/>
          <a:p>
            <a:pPr marL="0" indent="0">
              <a:buNone/>
            </a:pPr>
            <a:r>
              <a:rPr lang="fr-FR" dirty="0"/>
              <a:t>Les expressions lambda ne sont pas la seule nouveauté de Java8 permettant d'exprimer des méthodes fonctionnelles. </a:t>
            </a:r>
          </a:p>
          <a:p>
            <a:pPr marL="0" indent="0">
              <a:buNone/>
            </a:pPr>
            <a:endParaRPr lang="fr-FR" dirty="0"/>
          </a:p>
          <a:p>
            <a:pPr marL="0" indent="0">
              <a:buNone/>
            </a:pPr>
            <a:r>
              <a:rPr lang="fr-FR" dirty="0"/>
              <a:t>Les </a:t>
            </a:r>
            <a:r>
              <a:rPr lang="fr-FR" dirty="0">
                <a:solidFill>
                  <a:schemeClr val="accent4"/>
                </a:solidFill>
              </a:rPr>
              <a:t>références de méthodes</a:t>
            </a:r>
            <a:r>
              <a:rPr lang="fr-FR" dirty="0"/>
              <a:t> permettent aussi cela.</a:t>
            </a:r>
          </a:p>
          <a:p>
            <a:pPr marL="0" indent="0">
              <a:buNone/>
            </a:pPr>
            <a:endParaRPr lang="fr-FR" dirty="0"/>
          </a:p>
          <a:p>
            <a:pPr marL="0" indent="0">
              <a:buNone/>
            </a:pPr>
            <a:r>
              <a:rPr lang="fr-FR" dirty="0"/>
              <a:t>Voici un exemple de référence de méthode: </a:t>
            </a:r>
          </a:p>
          <a:p>
            <a:pPr marL="0" indent="0">
              <a:buNone/>
            </a:pPr>
            <a:r>
              <a:rPr lang="fr-FR" sz="2600" dirty="0">
                <a:solidFill>
                  <a:schemeClr val="accent4"/>
                </a:solidFill>
                <a:latin typeface="Consolas" panose="020B0609020204030204" pitchFamily="49" charset="0"/>
                <a:cs typeface="Consolas" panose="020B0609020204030204" pitchFamily="49" charset="0"/>
              </a:rPr>
              <a:t>  Math::sin</a:t>
            </a:r>
          </a:p>
        </p:txBody>
      </p:sp>
      <p:sp>
        <p:nvSpPr>
          <p:cNvPr id="8" name="Espace réservé du numéro de diapositive 7">
            <a:extLst>
              <a:ext uri="{FF2B5EF4-FFF2-40B4-BE49-F238E27FC236}">
                <a16:creationId xmlns:a16="http://schemas.microsoft.com/office/drawing/2014/main" id="{F7061FE1-98E2-5EF7-BBE1-14BF57EBFB5E}"/>
              </a:ext>
            </a:extLst>
          </p:cNvPr>
          <p:cNvSpPr>
            <a:spLocks noGrp="1"/>
          </p:cNvSpPr>
          <p:nvPr>
            <p:ph type="sldNum" sz="quarter" idx="4"/>
          </p:nvPr>
        </p:nvSpPr>
        <p:spPr/>
        <p:txBody>
          <a:bodyPr/>
          <a:lstStyle/>
          <a:p>
            <a:fld id="{33C783E2-4793-4F48-A271-51A73CC37D74}" type="slidenum">
              <a:rPr lang="fr-FR" smtClean="0"/>
              <a:t>90</a:t>
            </a:fld>
            <a:endParaRPr lang="fr-FR"/>
          </a:p>
        </p:txBody>
      </p:sp>
    </p:spTree>
    <p:extLst>
      <p:ext uri="{BB962C8B-B14F-4D97-AF65-F5344CB8AC3E}">
        <p14:creationId xmlns:p14="http://schemas.microsoft.com/office/powerpoint/2010/main" val="16177603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Références de méthodes</a:t>
            </a:r>
          </a:p>
        </p:txBody>
      </p:sp>
      <p:sp>
        <p:nvSpPr>
          <p:cNvPr id="3" name="Espace réservé du contenu 2"/>
          <p:cNvSpPr>
            <a:spLocks noGrp="1"/>
          </p:cNvSpPr>
          <p:nvPr>
            <p:ph idx="1"/>
          </p:nvPr>
        </p:nvSpPr>
        <p:spPr/>
        <p:txBody>
          <a:bodyPr>
            <a:normAutofit/>
          </a:bodyPr>
          <a:lstStyle/>
          <a:p>
            <a:pPr marL="0" indent="0">
              <a:buNone/>
            </a:pPr>
            <a:r>
              <a:rPr lang="fr-FR" dirty="0"/>
              <a:t>Les références de méthode permettent de réutiliser les définitions de méthodes existantes et de les transmettre comme des </a:t>
            </a:r>
            <a:r>
              <a:rPr lang="fr-FR" dirty="0" err="1"/>
              <a:t>lambdas</a:t>
            </a:r>
            <a:r>
              <a:rPr lang="fr-FR" dirty="0"/>
              <a:t>.</a:t>
            </a:r>
          </a:p>
          <a:p>
            <a:pPr marL="0" indent="0">
              <a:buNone/>
            </a:pPr>
            <a:endParaRPr lang="fr-FR" dirty="0"/>
          </a:p>
          <a:p>
            <a:pPr marL="0" indent="0">
              <a:buNone/>
            </a:pPr>
            <a:r>
              <a:rPr lang="fr-FR" dirty="0"/>
              <a:t>La syntaxe </a:t>
            </a:r>
            <a:r>
              <a:rPr lang="fr-FR" sz="2600" dirty="0">
                <a:solidFill>
                  <a:schemeClr val="accent4"/>
                </a:solidFill>
                <a:latin typeface="Consolas" panose="020B0609020204030204" pitchFamily="49" charset="0"/>
                <a:cs typeface="Consolas" panose="020B0609020204030204" pitchFamily="49" charset="0"/>
              </a:rPr>
              <a:t>Classe::</a:t>
            </a:r>
            <a:r>
              <a:rPr lang="fr-FR" sz="2600" dirty="0" err="1">
                <a:solidFill>
                  <a:schemeClr val="accent4"/>
                </a:solidFill>
                <a:latin typeface="Consolas" panose="020B0609020204030204" pitchFamily="49" charset="0"/>
                <a:cs typeface="Consolas" panose="020B0609020204030204" pitchFamily="49" charset="0"/>
              </a:rPr>
              <a:t>methode</a:t>
            </a:r>
            <a:r>
              <a:rPr lang="fr-FR" dirty="0"/>
              <a:t> permet d’indiquer une référence </a:t>
            </a:r>
            <a:r>
              <a:rPr lang="fr-FR" dirty="0">
                <a:solidFill>
                  <a:schemeClr val="accent4"/>
                </a:solidFill>
              </a:rPr>
              <a:t>sur une méthode statique</a:t>
            </a:r>
            <a:r>
              <a:rPr lang="fr-FR" dirty="0"/>
              <a:t>.</a:t>
            </a:r>
          </a:p>
          <a:p>
            <a:pPr marL="0" indent="0">
              <a:buNone/>
            </a:pPr>
            <a:endParaRPr lang="fr-FR" dirty="0"/>
          </a:p>
          <a:p>
            <a:pPr marL="0" indent="0">
              <a:buNone/>
            </a:pPr>
            <a:r>
              <a:rPr lang="fr-FR" dirty="0"/>
              <a:t>Par exemple, </a:t>
            </a:r>
            <a:r>
              <a:rPr lang="fr-FR" sz="2600" dirty="0">
                <a:solidFill>
                  <a:schemeClr val="accent4"/>
                </a:solidFill>
                <a:latin typeface="Consolas" panose="020B0609020204030204" pitchFamily="49" charset="0"/>
                <a:cs typeface="Consolas" panose="020B0609020204030204" pitchFamily="49" charset="0"/>
              </a:rPr>
              <a:t>Math::sin</a:t>
            </a:r>
            <a:r>
              <a:rPr lang="fr-FR" dirty="0"/>
              <a:t> est une référence vers la méthode statique </a:t>
            </a:r>
            <a:r>
              <a:rPr lang="fr-FR" sz="2600" dirty="0">
                <a:solidFill>
                  <a:schemeClr val="accent4"/>
                </a:solidFill>
                <a:latin typeface="Consolas" panose="020B0609020204030204" pitchFamily="49" charset="0"/>
                <a:cs typeface="Consolas" panose="020B0609020204030204" pitchFamily="49" charset="0"/>
              </a:rPr>
              <a:t>sin</a:t>
            </a:r>
            <a:r>
              <a:rPr lang="fr-FR" dirty="0"/>
              <a:t> de la classe </a:t>
            </a:r>
            <a:r>
              <a:rPr lang="fr-FR" sz="2600" dirty="0">
                <a:solidFill>
                  <a:schemeClr val="accent4"/>
                </a:solidFill>
                <a:latin typeface="Consolas" panose="020B0609020204030204" pitchFamily="49" charset="0"/>
                <a:cs typeface="Consolas" panose="020B0609020204030204" pitchFamily="49" charset="0"/>
              </a:rPr>
              <a:t>Math</a:t>
            </a:r>
          </a:p>
          <a:p>
            <a:pPr marL="0" indent="0">
              <a:buNone/>
            </a:pPr>
            <a:endParaRPr lang="fr-FR" dirty="0"/>
          </a:p>
        </p:txBody>
      </p:sp>
      <p:sp>
        <p:nvSpPr>
          <p:cNvPr id="8" name="Espace réservé du numéro de diapositive 7">
            <a:extLst>
              <a:ext uri="{FF2B5EF4-FFF2-40B4-BE49-F238E27FC236}">
                <a16:creationId xmlns:a16="http://schemas.microsoft.com/office/drawing/2014/main" id="{32C8051B-EC65-BC65-AA97-29103A2A348E}"/>
              </a:ext>
            </a:extLst>
          </p:cNvPr>
          <p:cNvSpPr>
            <a:spLocks noGrp="1"/>
          </p:cNvSpPr>
          <p:nvPr>
            <p:ph type="sldNum" sz="quarter" idx="4"/>
          </p:nvPr>
        </p:nvSpPr>
        <p:spPr/>
        <p:txBody>
          <a:bodyPr/>
          <a:lstStyle/>
          <a:p>
            <a:fld id="{33C783E2-4793-4F48-A271-51A73CC37D74}" type="slidenum">
              <a:rPr lang="fr-FR" smtClean="0"/>
              <a:t>91</a:t>
            </a:fld>
            <a:endParaRPr lang="fr-FR"/>
          </a:p>
        </p:txBody>
      </p:sp>
    </p:spTree>
    <p:extLst>
      <p:ext uri="{BB962C8B-B14F-4D97-AF65-F5344CB8AC3E}">
        <p14:creationId xmlns:p14="http://schemas.microsoft.com/office/powerpoint/2010/main" val="195942003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Références de méthodes</a:t>
            </a:r>
          </a:p>
        </p:txBody>
      </p:sp>
      <p:sp>
        <p:nvSpPr>
          <p:cNvPr id="3" name="Espace réservé du contenu 2"/>
          <p:cNvSpPr>
            <a:spLocks noGrp="1"/>
          </p:cNvSpPr>
          <p:nvPr>
            <p:ph idx="1"/>
          </p:nvPr>
        </p:nvSpPr>
        <p:spPr>
          <a:xfrm>
            <a:off x="838200" y="1690690"/>
            <a:ext cx="10515600" cy="4486273"/>
          </a:xfrm>
        </p:spPr>
        <p:txBody>
          <a:bodyPr>
            <a:normAutofit/>
          </a:bodyPr>
          <a:lstStyle/>
          <a:p>
            <a:pPr marL="0" indent="0">
              <a:lnSpc>
                <a:spcPct val="120000"/>
              </a:lnSpc>
              <a:buNone/>
            </a:pPr>
            <a:r>
              <a:rPr lang="fr-FR" dirty="0"/>
              <a:t>Les expressions lambda permettent, en quelque sorte, de passer une méthode en paramètre, en utilisant une interface fonctionnelle.</a:t>
            </a:r>
          </a:p>
          <a:p>
            <a:pPr marL="0" indent="0">
              <a:lnSpc>
                <a:spcPct val="120000"/>
              </a:lnSpc>
              <a:buNone/>
            </a:pPr>
            <a:r>
              <a:rPr lang="fr-FR" sz="2600" dirty="0">
                <a:solidFill>
                  <a:schemeClr val="accent4"/>
                </a:solidFill>
                <a:latin typeface="Consolas" panose="020B0609020204030204" pitchFamily="49" charset="0"/>
                <a:cs typeface="Consolas" panose="020B0609020204030204" pitchFamily="49" charset="0"/>
              </a:rPr>
              <a:t>@</a:t>
            </a:r>
            <a:r>
              <a:rPr lang="fr-FR" sz="2600" dirty="0" err="1">
                <a:solidFill>
                  <a:schemeClr val="accent4"/>
                </a:solidFill>
                <a:latin typeface="Consolas" panose="020B0609020204030204" pitchFamily="49" charset="0"/>
                <a:cs typeface="Consolas" panose="020B0609020204030204" pitchFamily="49" charset="0"/>
              </a:rPr>
              <a:t>FunctionalInterface</a:t>
            </a:r>
            <a:br>
              <a:rPr lang="fr-FR" sz="2600" dirty="0">
                <a:solidFill>
                  <a:schemeClr val="accent4"/>
                </a:solidFill>
                <a:latin typeface="Consolas" panose="020B0609020204030204" pitchFamily="49" charset="0"/>
                <a:cs typeface="Consolas" panose="020B0609020204030204" pitchFamily="49" charset="0"/>
              </a:rPr>
            </a:br>
            <a:r>
              <a:rPr lang="fr-FR" sz="2600" dirty="0">
                <a:solidFill>
                  <a:schemeClr val="accent4"/>
                </a:solidFill>
                <a:latin typeface="Consolas" panose="020B0609020204030204" pitchFamily="49" charset="0"/>
                <a:cs typeface="Consolas" panose="020B0609020204030204" pitchFamily="49" charset="0"/>
              </a:rPr>
              <a:t>interface Calculateur { public int calcul (int n); }</a:t>
            </a:r>
          </a:p>
          <a:p>
            <a:pPr marL="0" indent="0">
              <a:lnSpc>
                <a:spcPct val="120000"/>
              </a:lnSpc>
              <a:buNone/>
            </a:pPr>
            <a:br>
              <a:rPr lang="fr-FR" dirty="0"/>
            </a:br>
            <a:endParaRPr lang="fr-FR" dirty="0"/>
          </a:p>
        </p:txBody>
      </p:sp>
      <p:sp>
        <p:nvSpPr>
          <p:cNvPr id="9" name="ZoneTexte 8">
            <a:extLst>
              <a:ext uri="{FF2B5EF4-FFF2-40B4-BE49-F238E27FC236}">
                <a16:creationId xmlns:a16="http://schemas.microsoft.com/office/drawing/2014/main" id="{CA017379-246E-EA5D-E251-D7315ED4848E}"/>
              </a:ext>
            </a:extLst>
          </p:cNvPr>
          <p:cNvSpPr txBox="1"/>
          <p:nvPr/>
        </p:nvSpPr>
        <p:spPr>
          <a:xfrm>
            <a:off x="3295165" y="3964166"/>
            <a:ext cx="8200208" cy="2862322"/>
          </a:xfrm>
          <a:prstGeom prst="rect">
            <a:avLst/>
          </a:prstGeom>
          <a:solidFill>
            <a:srgbClr val="2B2B2B"/>
          </a:solidFill>
        </p:spPr>
        <p:txBody>
          <a:bodyPr wrap="square">
            <a:spAutoFit/>
          </a:bodyPr>
          <a:lstStyle/>
          <a:p>
            <a:r>
              <a:rPr lang="fr-BE" dirty="0">
                <a:solidFill>
                  <a:srgbClr val="CF8E6D"/>
                </a:solidFill>
                <a:effectLst/>
                <a:latin typeface="Consolas" panose="020B0609020204030204" pitchFamily="49" charset="0"/>
                <a:cs typeface="Consolas" panose="020B0609020204030204" pitchFamily="49" charset="0"/>
              </a:rPr>
              <a:t>public class </a:t>
            </a:r>
            <a:r>
              <a:rPr lang="fr-BE" dirty="0" err="1">
                <a:solidFill>
                  <a:srgbClr val="BCBEC4"/>
                </a:solidFill>
                <a:effectLst/>
                <a:latin typeface="Consolas" panose="020B0609020204030204" pitchFamily="49" charset="0"/>
                <a:cs typeface="Consolas" panose="020B0609020204030204" pitchFamily="49" charset="0"/>
              </a:rPr>
              <a:t>ProgrammeLambda</a:t>
            </a:r>
            <a:r>
              <a:rPr lang="fr-BE" dirty="0">
                <a:solidFill>
                  <a:srgbClr val="BCBEC4"/>
                </a:solidFill>
                <a:effectLst/>
                <a:latin typeface="Consolas" panose="020B0609020204030204" pitchFamily="49" charset="0"/>
                <a:cs typeface="Consolas" panose="020B0609020204030204" pitchFamily="49" charset="0"/>
              </a:rPr>
              <a:t> {</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dirty="0">
                <a:solidFill>
                  <a:srgbClr val="CF8E6D"/>
                </a:solidFill>
                <a:effectLst/>
                <a:latin typeface="Consolas" panose="020B0609020204030204" pitchFamily="49" charset="0"/>
                <a:cs typeface="Consolas" panose="020B0609020204030204" pitchFamily="49" charset="0"/>
              </a:rPr>
              <a:t>public </a:t>
            </a:r>
            <a:r>
              <a:rPr lang="fr-BE" dirty="0" err="1">
                <a:solidFill>
                  <a:srgbClr val="CF8E6D"/>
                </a:solidFill>
                <a:effectLst/>
                <a:latin typeface="Consolas" panose="020B0609020204030204" pitchFamily="49" charset="0"/>
                <a:cs typeface="Consolas" panose="020B0609020204030204" pitchFamily="49" charset="0"/>
              </a:rPr>
              <a:t>static</a:t>
            </a:r>
            <a:r>
              <a:rPr lang="fr-BE" dirty="0">
                <a:solidFill>
                  <a:srgbClr val="CF8E6D"/>
                </a:solidFill>
                <a:effectLst/>
                <a:latin typeface="Consolas" panose="020B0609020204030204" pitchFamily="49" charset="0"/>
                <a:cs typeface="Consolas" panose="020B0609020204030204" pitchFamily="49" charset="0"/>
              </a:rPr>
              <a:t> </a:t>
            </a:r>
            <a:r>
              <a:rPr lang="fr-BE" dirty="0" err="1">
                <a:solidFill>
                  <a:srgbClr val="CF8E6D"/>
                </a:solidFill>
                <a:effectLst/>
                <a:latin typeface="Consolas" panose="020B0609020204030204" pitchFamily="49" charset="0"/>
                <a:cs typeface="Consolas" panose="020B0609020204030204" pitchFamily="49" charset="0"/>
              </a:rPr>
              <a:t>void</a:t>
            </a:r>
            <a:r>
              <a:rPr lang="fr-BE" dirty="0">
                <a:solidFill>
                  <a:srgbClr val="CF8E6D"/>
                </a:solidFill>
                <a:effectLst/>
                <a:latin typeface="Consolas" panose="020B0609020204030204" pitchFamily="49" charset="0"/>
                <a:cs typeface="Consolas" panose="020B0609020204030204" pitchFamily="49" charset="0"/>
              </a:rPr>
              <a:t> </a:t>
            </a:r>
            <a:r>
              <a:rPr lang="fr-BE" dirty="0">
                <a:solidFill>
                  <a:srgbClr val="56A8F5"/>
                </a:solidFill>
                <a:effectLst/>
                <a:latin typeface="Consolas" panose="020B0609020204030204" pitchFamily="49" charset="0"/>
                <a:cs typeface="Consolas" panose="020B0609020204030204" pitchFamily="49" charset="0"/>
              </a:rPr>
              <a:t>main</a:t>
            </a:r>
            <a:r>
              <a:rPr lang="fr-BE" dirty="0">
                <a:solidFill>
                  <a:srgbClr val="BCBEC4"/>
                </a:solidFill>
                <a:effectLst/>
                <a:latin typeface="Consolas" panose="020B0609020204030204" pitchFamily="49" charset="0"/>
                <a:cs typeface="Consolas" panose="020B0609020204030204" pitchFamily="49" charset="0"/>
              </a:rPr>
              <a:t>(String[] args) {</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i="1" dirty="0">
                <a:solidFill>
                  <a:srgbClr val="BCBEC4"/>
                </a:solidFill>
                <a:effectLst/>
                <a:latin typeface="Consolas" panose="020B0609020204030204" pitchFamily="49" charset="0"/>
                <a:cs typeface="Consolas" panose="020B0609020204030204" pitchFamily="49" charset="0"/>
              </a:rPr>
              <a:t>traite</a:t>
            </a:r>
            <a:r>
              <a:rPr lang="fr-BE" dirty="0">
                <a:solidFill>
                  <a:srgbClr val="BCBEC4"/>
                </a:solidFill>
                <a:effectLst/>
                <a:latin typeface="Consolas" panose="020B0609020204030204" pitchFamily="49" charset="0"/>
                <a:cs typeface="Consolas" panose="020B0609020204030204" pitchFamily="49" charset="0"/>
              </a:rPr>
              <a:t>(</a:t>
            </a:r>
            <a:r>
              <a:rPr lang="fr-BE" dirty="0">
                <a:solidFill>
                  <a:srgbClr val="2AACB8"/>
                </a:solidFill>
                <a:effectLst/>
                <a:latin typeface="Consolas" panose="020B0609020204030204" pitchFamily="49" charset="0"/>
                <a:cs typeface="Consolas" panose="020B0609020204030204" pitchFamily="49" charset="0"/>
              </a:rPr>
              <a:t>5</a:t>
            </a:r>
            <a:r>
              <a:rPr lang="fr-BE" dirty="0">
                <a:solidFill>
                  <a:srgbClr val="BCBEC4"/>
                </a:solidFill>
                <a:effectLst/>
                <a:latin typeface="Consolas" panose="020B0609020204030204" pitchFamily="49" charset="0"/>
                <a:cs typeface="Consolas" panose="020B0609020204030204" pitchFamily="49" charset="0"/>
              </a:rPr>
              <a:t>, x -&gt; x * x);</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i="1" dirty="0">
                <a:solidFill>
                  <a:srgbClr val="BCBEC4"/>
                </a:solidFill>
                <a:effectLst/>
                <a:latin typeface="Consolas" panose="020B0609020204030204" pitchFamily="49" charset="0"/>
                <a:cs typeface="Consolas" panose="020B0609020204030204" pitchFamily="49" charset="0"/>
              </a:rPr>
              <a:t>traite</a:t>
            </a:r>
            <a:r>
              <a:rPr lang="fr-BE" dirty="0">
                <a:solidFill>
                  <a:srgbClr val="BCBEC4"/>
                </a:solidFill>
                <a:effectLst/>
                <a:latin typeface="Consolas" panose="020B0609020204030204" pitchFamily="49" charset="0"/>
                <a:cs typeface="Consolas" panose="020B0609020204030204" pitchFamily="49" charset="0"/>
              </a:rPr>
              <a:t>(</a:t>
            </a:r>
            <a:r>
              <a:rPr lang="fr-BE" dirty="0">
                <a:solidFill>
                  <a:srgbClr val="2AACB8"/>
                </a:solidFill>
                <a:effectLst/>
                <a:latin typeface="Consolas" panose="020B0609020204030204" pitchFamily="49" charset="0"/>
                <a:cs typeface="Consolas" panose="020B0609020204030204" pitchFamily="49" charset="0"/>
              </a:rPr>
              <a:t>15</a:t>
            </a:r>
            <a:r>
              <a:rPr lang="fr-BE" dirty="0">
                <a:solidFill>
                  <a:srgbClr val="BCBEC4"/>
                </a:solidFill>
                <a:effectLst/>
                <a:latin typeface="Consolas" panose="020B0609020204030204" pitchFamily="49" charset="0"/>
                <a:cs typeface="Consolas" panose="020B0609020204030204" pitchFamily="49" charset="0"/>
              </a:rPr>
              <a:t>, x -&gt; </a:t>
            </a:r>
            <a:r>
              <a:rPr lang="fr-BE" dirty="0">
                <a:solidFill>
                  <a:srgbClr val="2AACB8"/>
                </a:solidFill>
                <a:effectLst/>
                <a:latin typeface="Consolas" panose="020B0609020204030204" pitchFamily="49" charset="0"/>
                <a:cs typeface="Consolas" panose="020B0609020204030204" pitchFamily="49" charset="0"/>
              </a:rPr>
              <a:t>2 </a:t>
            </a:r>
            <a:r>
              <a:rPr lang="fr-BE" dirty="0">
                <a:solidFill>
                  <a:srgbClr val="BCBEC4"/>
                </a:solidFill>
                <a:effectLst/>
                <a:latin typeface="Consolas" panose="020B0609020204030204" pitchFamily="49" charset="0"/>
                <a:cs typeface="Consolas" panose="020B0609020204030204" pitchFamily="49" charset="0"/>
              </a:rPr>
              <a:t>* x * x + </a:t>
            </a:r>
            <a:r>
              <a:rPr lang="fr-BE" dirty="0">
                <a:solidFill>
                  <a:srgbClr val="2AACB8"/>
                </a:solidFill>
                <a:effectLst/>
                <a:latin typeface="Consolas" panose="020B0609020204030204" pitchFamily="49" charset="0"/>
                <a:cs typeface="Consolas" panose="020B0609020204030204" pitchFamily="49" charset="0"/>
              </a:rPr>
              <a:t>3 </a:t>
            </a:r>
            <a:r>
              <a:rPr lang="fr-BE" dirty="0">
                <a:solidFill>
                  <a:srgbClr val="BCBEC4"/>
                </a:solidFill>
                <a:effectLst/>
                <a:latin typeface="Consolas" panose="020B0609020204030204" pitchFamily="49" charset="0"/>
                <a:cs typeface="Consolas" panose="020B0609020204030204" pitchFamily="49" charset="0"/>
              </a:rPr>
              <a:t>* x - </a:t>
            </a:r>
            <a:r>
              <a:rPr lang="fr-BE" dirty="0">
                <a:solidFill>
                  <a:srgbClr val="2AACB8"/>
                </a:solidFill>
                <a:effectLst/>
                <a:latin typeface="Consolas" panose="020B0609020204030204" pitchFamily="49" charset="0"/>
                <a:cs typeface="Consolas" panose="020B0609020204030204" pitchFamily="49" charset="0"/>
              </a:rPr>
              <a:t>5</a:t>
            </a:r>
            <a:r>
              <a:rPr lang="fr-BE" dirty="0">
                <a:solidFill>
                  <a:srgbClr val="BCBEC4"/>
                </a:solidFill>
                <a:effectLst/>
                <a:latin typeface="Consolas" panose="020B0609020204030204" pitchFamily="49" charset="0"/>
                <a:cs typeface="Consolas" panose="020B0609020204030204" pitchFamily="49" charset="0"/>
              </a:rPr>
              <a:t>);</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br>
              <a:rPr lang="fr-BE" dirty="0">
                <a:solidFill>
                  <a:srgbClr val="BCBEC4"/>
                </a:solidFill>
                <a:effectLst/>
                <a:latin typeface="Consolas" panose="020B0609020204030204" pitchFamily="49" charset="0"/>
                <a:cs typeface="Consolas" panose="020B0609020204030204" pitchFamily="49" charset="0"/>
              </a:rPr>
            </a:b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dirty="0">
                <a:solidFill>
                  <a:srgbClr val="CF8E6D"/>
                </a:solidFill>
                <a:effectLst/>
                <a:latin typeface="Consolas" panose="020B0609020204030204" pitchFamily="49" charset="0"/>
                <a:cs typeface="Consolas" panose="020B0609020204030204" pitchFamily="49" charset="0"/>
              </a:rPr>
              <a:t>public </a:t>
            </a:r>
            <a:r>
              <a:rPr lang="fr-BE" dirty="0" err="1">
                <a:solidFill>
                  <a:srgbClr val="CF8E6D"/>
                </a:solidFill>
                <a:effectLst/>
                <a:latin typeface="Consolas" panose="020B0609020204030204" pitchFamily="49" charset="0"/>
                <a:cs typeface="Consolas" panose="020B0609020204030204" pitchFamily="49" charset="0"/>
              </a:rPr>
              <a:t>static</a:t>
            </a:r>
            <a:r>
              <a:rPr lang="fr-BE" dirty="0">
                <a:solidFill>
                  <a:srgbClr val="CF8E6D"/>
                </a:solidFill>
                <a:effectLst/>
                <a:latin typeface="Consolas" panose="020B0609020204030204" pitchFamily="49" charset="0"/>
                <a:cs typeface="Consolas" panose="020B0609020204030204" pitchFamily="49" charset="0"/>
              </a:rPr>
              <a:t> </a:t>
            </a:r>
            <a:r>
              <a:rPr lang="fr-BE" dirty="0" err="1">
                <a:solidFill>
                  <a:srgbClr val="CF8E6D"/>
                </a:solidFill>
                <a:effectLst/>
                <a:latin typeface="Consolas" panose="020B0609020204030204" pitchFamily="49" charset="0"/>
                <a:cs typeface="Consolas" panose="020B0609020204030204" pitchFamily="49" charset="0"/>
              </a:rPr>
              <a:t>void</a:t>
            </a:r>
            <a:r>
              <a:rPr lang="fr-BE" dirty="0">
                <a:solidFill>
                  <a:srgbClr val="CF8E6D"/>
                </a:solidFill>
                <a:effectLst/>
                <a:latin typeface="Consolas" panose="020B0609020204030204" pitchFamily="49" charset="0"/>
                <a:cs typeface="Consolas" panose="020B0609020204030204" pitchFamily="49" charset="0"/>
              </a:rPr>
              <a:t> </a:t>
            </a:r>
            <a:r>
              <a:rPr lang="fr-BE" dirty="0">
                <a:solidFill>
                  <a:srgbClr val="56A8F5"/>
                </a:solidFill>
                <a:effectLst/>
                <a:latin typeface="Consolas" panose="020B0609020204030204" pitchFamily="49" charset="0"/>
                <a:cs typeface="Consolas" panose="020B0609020204030204" pitchFamily="49" charset="0"/>
              </a:rPr>
              <a:t>traite</a:t>
            </a:r>
            <a:r>
              <a:rPr lang="fr-BE" dirty="0">
                <a:solidFill>
                  <a:srgbClr val="BCBEC4"/>
                </a:solidFill>
                <a:effectLst/>
                <a:latin typeface="Consolas" panose="020B0609020204030204" pitchFamily="49" charset="0"/>
                <a:cs typeface="Consolas" panose="020B0609020204030204" pitchFamily="49" charset="0"/>
              </a:rPr>
              <a:t>(</a:t>
            </a:r>
            <a:r>
              <a:rPr lang="fr-BE" dirty="0" err="1">
                <a:solidFill>
                  <a:srgbClr val="CF8E6D"/>
                </a:solidFill>
                <a:effectLst/>
                <a:latin typeface="Consolas" panose="020B0609020204030204" pitchFamily="49" charset="0"/>
                <a:cs typeface="Consolas" panose="020B0609020204030204" pitchFamily="49" charset="0"/>
              </a:rPr>
              <a:t>int</a:t>
            </a:r>
            <a:r>
              <a:rPr lang="fr-BE" dirty="0">
                <a:solidFill>
                  <a:srgbClr val="CF8E6D"/>
                </a:solidFill>
                <a:effectLst/>
                <a:latin typeface="Consolas" panose="020B0609020204030204" pitchFamily="49" charset="0"/>
                <a:cs typeface="Consolas" panose="020B0609020204030204" pitchFamily="49" charset="0"/>
              </a:rPr>
              <a:t> </a:t>
            </a:r>
            <a:r>
              <a:rPr lang="fr-BE" dirty="0">
                <a:solidFill>
                  <a:srgbClr val="BCBEC4"/>
                </a:solidFill>
                <a:effectLst/>
                <a:latin typeface="Consolas" panose="020B0609020204030204" pitchFamily="49" charset="0"/>
                <a:cs typeface="Consolas" panose="020B0609020204030204" pitchFamily="49" charset="0"/>
              </a:rPr>
              <a:t>n, Calculateur c) {</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r>
              <a:rPr lang="fr-BE" dirty="0" err="1">
                <a:solidFill>
                  <a:srgbClr val="BCBEC4"/>
                </a:solidFill>
                <a:effectLst/>
                <a:latin typeface="Consolas" panose="020B0609020204030204" pitchFamily="49" charset="0"/>
                <a:cs typeface="Consolas" panose="020B0609020204030204" pitchFamily="49" charset="0"/>
              </a:rPr>
              <a:t>System.</a:t>
            </a:r>
            <a:r>
              <a:rPr lang="fr-BE" i="1" dirty="0" err="1">
                <a:solidFill>
                  <a:srgbClr val="C77DBB"/>
                </a:solidFill>
                <a:effectLst/>
                <a:latin typeface="Consolas" panose="020B0609020204030204" pitchFamily="49" charset="0"/>
                <a:cs typeface="Consolas" panose="020B0609020204030204" pitchFamily="49" charset="0"/>
              </a:rPr>
              <a:t>out</a:t>
            </a:r>
            <a:r>
              <a:rPr lang="fr-BE" dirty="0" err="1">
                <a:solidFill>
                  <a:srgbClr val="BCBEC4"/>
                </a:solidFill>
                <a:effectLst/>
                <a:latin typeface="Consolas" panose="020B0609020204030204" pitchFamily="49" charset="0"/>
                <a:cs typeface="Consolas" panose="020B0609020204030204" pitchFamily="49" charset="0"/>
              </a:rPr>
              <a:t>.println</a:t>
            </a:r>
            <a:r>
              <a:rPr lang="fr-BE" dirty="0">
                <a:solidFill>
                  <a:srgbClr val="BCBEC4"/>
                </a:solidFill>
                <a:effectLst/>
                <a:latin typeface="Consolas" panose="020B0609020204030204" pitchFamily="49" charset="0"/>
                <a:cs typeface="Consolas" panose="020B0609020204030204" pitchFamily="49" charset="0"/>
              </a:rPr>
              <a:t>(</a:t>
            </a:r>
            <a:r>
              <a:rPr lang="fr-BE" dirty="0" err="1">
                <a:solidFill>
                  <a:srgbClr val="BCBEC4"/>
                </a:solidFill>
                <a:effectLst/>
                <a:latin typeface="Consolas" panose="020B0609020204030204" pitchFamily="49" charset="0"/>
                <a:cs typeface="Consolas" panose="020B0609020204030204" pitchFamily="49" charset="0"/>
              </a:rPr>
              <a:t>c.calcul</a:t>
            </a:r>
            <a:r>
              <a:rPr lang="fr-BE" dirty="0">
                <a:solidFill>
                  <a:srgbClr val="BCBEC4"/>
                </a:solidFill>
                <a:effectLst/>
                <a:latin typeface="Consolas" panose="020B0609020204030204" pitchFamily="49" charset="0"/>
                <a:cs typeface="Consolas" panose="020B0609020204030204" pitchFamily="49" charset="0"/>
              </a:rPr>
              <a:t>(n));</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    }</a:t>
            </a:r>
            <a:br>
              <a:rPr lang="fr-BE" dirty="0">
                <a:solidFill>
                  <a:srgbClr val="BCBEC4"/>
                </a:solidFill>
                <a:effectLst/>
                <a:latin typeface="Consolas" panose="020B0609020204030204" pitchFamily="49" charset="0"/>
                <a:cs typeface="Consolas" panose="020B0609020204030204" pitchFamily="49" charset="0"/>
              </a:rPr>
            </a:br>
            <a:r>
              <a:rPr lang="fr-BE" dirty="0">
                <a:solidFill>
                  <a:srgbClr val="BCBEC4"/>
                </a:solidFill>
                <a:effectLst/>
                <a:latin typeface="Consolas" panose="020B0609020204030204" pitchFamily="49" charset="0"/>
                <a:cs typeface="Consolas" panose="020B0609020204030204" pitchFamily="49" charset="0"/>
              </a:rPr>
              <a:t>}</a:t>
            </a:r>
          </a:p>
        </p:txBody>
      </p:sp>
      <p:sp>
        <p:nvSpPr>
          <p:cNvPr id="10" name="Espace réservé du numéro de diapositive 9">
            <a:extLst>
              <a:ext uri="{FF2B5EF4-FFF2-40B4-BE49-F238E27FC236}">
                <a16:creationId xmlns:a16="http://schemas.microsoft.com/office/drawing/2014/main" id="{15866BA4-0398-41E0-039C-3A1CFE14AE4E}"/>
              </a:ext>
            </a:extLst>
          </p:cNvPr>
          <p:cNvSpPr>
            <a:spLocks noGrp="1"/>
          </p:cNvSpPr>
          <p:nvPr>
            <p:ph type="sldNum" sz="quarter" idx="4"/>
          </p:nvPr>
        </p:nvSpPr>
        <p:spPr/>
        <p:txBody>
          <a:bodyPr/>
          <a:lstStyle/>
          <a:p>
            <a:fld id="{33C783E2-4793-4F48-A271-51A73CC37D74}" type="slidenum">
              <a:rPr lang="fr-FR" smtClean="0"/>
              <a:t>92</a:t>
            </a:fld>
            <a:endParaRPr lang="fr-FR"/>
          </a:p>
        </p:txBody>
      </p:sp>
    </p:spTree>
    <p:extLst>
      <p:ext uri="{BB962C8B-B14F-4D97-AF65-F5344CB8AC3E}">
        <p14:creationId xmlns:p14="http://schemas.microsoft.com/office/powerpoint/2010/main" val="302373580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Références de méthodes</a:t>
            </a:r>
          </a:p>
        </p:txBody>
      </p:sp>
      <p:sp>
        <p:nvSpPr>
          <p:cNvPr id="3" name="Espace réservé du contenu 2"/>
          <p:cNvSpPr>
            <a:spLocks noGrp="1"/>
          </p:cNvSpPr>
          <p:nvPr>
            <p:ph idx="1"/>
          </p:nvPr>
        </p:nvSpPr>
        <p:spPr/>
        <p:txBody>
          <a:bodyPr>
            <a:normAutofit/>
          </a:bodyPr>
          <a:lstStyle/>
          <a:p>
            <a:pPr marL="0" indent="0">
              <a:lnSpc>
                <a:spcPct val="100000"/>
              </a:lnSpc>
              <a:buNone/>
            </a:pPr>
            <a:r>
              <a:rPr lang="fr-FR" dirty="0"/>
              <a:t>Soit la classe </a:t>
            </a:r>
            <a:r>
              <a:rPr lang="fr-FR" sz="2600" dirty="0">
                <a:solidFill>
                  <a:schemeClr val="accent4"/>
                </a:solidFill>
                <a:latin typeface="Consolas" panose="020B0609020204030204" pitchFamily="49" charset="0"/>
                <a:cs typeface="Consolas" panose="020B0609020204030204" pitchFamily="49" charset="0"/>
              </a:rPr>
              <a:t>Calcul</a:t>
            </a:r>
            <a:r>
              <a:rPr lang="fr-FR" dirty="0"/>
              <a:t>. </a:t>
            </a:r>
          </a:p>
          <a:p>
            <a:pPr marL="0" indent="0">
              <a:lnSpc>
                <a:spcPct val="100000"/>
              </a:lnSpc>
              <a:buNone/>
            </a:pPr>
            <a:r>
              <a:rPr lang="fr-FR" sz="2600" dirty="0">
                <a:solidFill>
                  <a:schemeClr val="accent4"/>
                </a:solidFill>
                <a:latin typeface="Consolas" panose="020B0609020204030204" pitchFamily="49" charset="0"/>
                <a:cs typeface="Consolas" panose="020B0609020204030204" pitchFamily="49" charset="0"/>
              </a:rPr>
              <a:t>public Calcul {</a:t>
            </a:r>
            <a:br>
              <a:rPr lang="fr-FR" sz="2600" dirty="0">
                <a:solidFill>
                  <a:schemeClr val="accent4"/>
                </a:solidFill>
                <a:latin typeface="Consolas" panose="020B0609020204030204" pitchFamily="49" charset="0"/>
                <a:cs typeface="Consolas" panose="020B0609020204030204" pitchFamily="49" charset="0"/>
              </a:rPr>
            </a:br>
            <a:r>
              <a:rPr lang="fr-FR" sz="2600" dirty="0">
                <a:solidFill>
                  <a:schemeClr val="accent4"/>
                </a:solidFill>
                <a:latin typeface="Consolas" panose="020B0609020204030204" pitchFamily="49" charset="0"/>
                <a:cs typeface="Consolas" panose="020B0609020204030204" pitchFamily="49" charset="0"/>
              </a:rPr>
              <a:t>  public </a:t>
            </a:r>
            <a:r>
              <a:rPr lang="fr-FR" sz="2600" dirty="0" err="1">
                <a:solidFill>
                  <a:schemeClr val="accent4"/>
                </a:solidFill>
                <a:latin typeface="Consolas" panose="020B0609020204030204" pitchFamily="49" charset="0"/>
                <a:cs typeface="Consolas" panose="020B0609020204030204" pitchFamily="49" charset="0"/>
              </a:rPr>
              <a:t>static</a:t>
            </a:r>
            <a:r>
              <a:rPr lang="fr-FR" sz="2600" dirty="0">
                <a:solidFill>
                  <a:schemeClr val="accent4"/>
                </a:solidFill>
                <a:latin typeface="Consolas" panose="020B0609020204030204" pitchFamily="49" charset="0"/>
                <a:cs typeface="Consolas" panose="020B0609020204030204" pitchFamily="49" charset="0"/>
              </a:rPr>
              <a:t> int carre (int n) { return n * n; }</a:t>
            </a:r>
            <a:br>
              <a:rPr lang="fr-FR" sz="2600" dirty="0">
                <a:solidFill>
                  <a:schemeClr val="accent4"/>
                </a:solidFill>
                <a:latin typeface="Consolas" panose="020B0609020204030204" pitchFamily="49" charset="0"/>
                <a:cs typeface="Consolas" panose="020B0609020204030204" pitchFamily="49" charset="0"/>
              </a:rPr>
            </a:br>
            <a:r>
              <a:rPr lang="fr-FR" sz="2600" dirty="0">
                <a:solidFill>
                  <a:schemeClr val="accent4"/>
                </a:solidFill>
                <a:latin typeface="Consolas" panose="020B0609020204030204" pitchFamily="49" charset="0"/>
                <a:cs typeface="Consolas" panose="020B0609020204030204" pitchFamily="49" charset="0"/>
              </a:rPr>
              <a:t>}</a:t>
            </a:r>
          </a:p>
          <a:p>
            <a:pPr marL="0" indent="0">
              <a:lnSpc>
                <a:spcPct val="100000"/>
              </a:lnSpc>
              <a:buNone/>
            </a:pPr>
            <a:r>
              <a:rPr lang="fr-FR" dirty="0"/>
              <a:t>Elle présente une méthode statique qui prend un </a:t>
            </a:r>
            <a:r>
              <a:rPr lang="fr-FR" sz="2600" dirty="0" err="1">
                <a:solidFill>
                  <a:schemeClr val="accent4"/>
                </a:solidFill>
                <a:latin typeface="Consolas" panose="020B0609020204030204" pitchFamily="49" charset="0"/>
                <a:cs typeface="Consolas" panose="020B0609020204030204" pitchFamily="49" charset="0"/>
              </a:rPr>
              <a:t>int</a:t>
            </a:r>
            <a:r>
              <a:rPr lang="fr-FR" dirty="0"/>
              <a:t> et retourne un </a:t>
            </a:r>
            <a:r>
              <a:rPr lang="fr-FR" sz="2600" dirty="0" err="1">
                <a:solidFill>
                  <a:schemeClr val="accent4"/>
                </a:solidFill>
                <a:latin typeface="Consolas" panose="020B0609020204030204" pitchFamily="49" charset="0"/>
                <a:cs typeface="Consolas" panose="020B0609020204030204" pitchFamily="49" charset="0"/>
              </a:rPr>
              <a:t>int</a:t>
            </a:r>
            <a:r>
              <a:rPr lang="fr-FR" dirty="0"/>
              <a:t>; elle est donc conforme à l’interface </a:t>
            </a:r>
            <a:r>
              <a:rPr lang="fr-FR" sz="2600" dirty="0">
                <a:solidFill>
                  <a:schemeClr val="accent4"/>
                </a:solidFill>
                <a:latin typeface="Consolas" panose="020B0609020204030204" pitchFamily="49" charset="0"/>
                <a:cs typeface="Consolas" panose="020B0609020204030204" pitchFamily="49" charset="0"/>
              </a:rPr>
              <a:t>Calculateur</a:t>
            </a:r>
          </a:p>
          <a:p>
            <a:pPr marL="0" indent="0">
              <a:lnSpc>
                <a:spcPct val="100000"/>
              </a:lnSpc>
              <a:buNone/>
            </a:pPr>
            <a:r>
              <a:rPr lang="fr-FR" sz="2600" dirty="0">
                <a:solidFill>
                  <a:schemeClr val="accent4"/>
                </a:solidFill>
                <a:latin typeface="Consolas" panose="020B0609020204030204" pitchFamily="49" charset="0"/>
                <a:cs typeface="Consolas" panose="020B0609020204030204" pitchFamily="49" charset="0"/>
              </a:rPr>
              <a:t>@</a:t>
            </a:r>
            <a:r>
              <a:rPr lang="fr-FR" sz="2600" dirty="0" err="1">
                <a:solidFill>
                  <a:schemeClr val="accent4"/>
                </a:solidFill>
                <a:latin typeface="Consolas" panose="020B0609020204030204" pitchFamily="49" charset="0"/>
                <a:cs typeface="Consolas" panose="020B0609020204030204" pitchFamily="49" charset="0"/>
              </a:rPr>
              <a:t>FunctionalInterface</a:t>
            </a:r>
            <a:br>
              <a:rPr lang="fr-FR" sz="2600" dirty="0">
                <a:solidFill>
                  <a:schemeClr val="accent4"/>
                </a:solidFill>
                <a:latin typeface="Consolas" panose="020B0609020204030204" pitchFamily="49" charset="0"/>
                <a:cs typeface="Consolas" panose="020B0609020204030204" pitchFamily="49" charset="0"/>
              </a:rPr>
            </a:br>
            <a:r>
              <a:rPr lang="fr-FR" sz="2600" dirty="0">
                <a:solidFill>
                  <a:schemeClr val="accent4"/>
                </a:solidFill>
                <a:latin typeface="Consolas" panose="020B0609020204030204" pitchFamily="49" charset="0"/>
                <a:cs typeface="Consolas" panose="020B0609020204030204" pitchFamily="49" charset="0"/>
              </a:rPr>
              <a:t>interface Calculateur { public </a:t>
            </a:r>
            <a:r>
              <a:rPr lang="fr-FR" sz="2600" dirty="0" err="1">
                <a:solidFill>
                  <a:schemeClr val="accent4"/>
                </a:solidFill>
                <a:latin typeface="Consolas" panose="020B0609020204030204" pitchFamily="49" charset="0"/>
                <a:cs typeface="Consolas" panose="020B0609020204030204" pitchFamily="49" charset="0"/>
              </a:rPr>
              <a:t>int</a:t>
            </a:r>
            <a:r>
              <a:rPr lang="fr-FR" sz="2600" dirty="0">
                <a:solidFill>
                  <a:schemeClr val="accent4"/>
                </a:solidFill>
                <a:latin typeface="Consolas" panose="020B0609020204030204" pitchFamily="49" charset="0"/>
                <a:cs typeface="Consolas" panose="020B0609020204030204" pitchFamily="49" charset="0"/>
              </a:rPr>
              <a:t> calcul (</a:t>
            </a:r>
            <a:r>
              <a:rPr lang="fr-FR" sz="2600" dirty="0" err="1">
                <a:solidFill>
                  <a:schemeClr val="accent4"/>
                </a:solidFill>
                <a:latin typeface="Consolas" panose="020B0609020204030204" pitchFamily="49" charset="0"/>
                <a:cs typeface="Consolas" panose="020B0609020204030204" pitchFamily="49" charset="0"/>
              </a:rPr>
              <a:t>int</a:t>
            </a:r>
            <a:r>
              <a:rPr lang="fr-FR" sz="2600" dirty="0">
                <a:solidFill>
                  <a:schemeClr val="accent4"/>
                </a:solidFill>
                <a:latin typeface="Consolas" panose="020B0609020204030204" pitchFamily="49" charset="0"/>
                <a:cs typeface="Consolas" panose="020B0609020204030204" pitchFamily="49" charset="0"/>
              </a:rPr>
              <a:t> n);  }</a:t>
            </a:r>
          </a:p>
        </p:txBody>
      </p:sp>
      <p:sp>
        <p:nvSpPr>
          <p:cNvPr id="8" name="Espace réservé du numéro de diapositive 7">
            <a:extLst>
              <a:ext uri="{FF2B5EF4-FFF2-40B4-BE49-F238E27FC236}">
                <a16:creationId xmlns:a16="http://schemas.microsoft.com/office/drawing/2014/main" id="{585D63F2-8C22-E919-BC57-2180F564BC57}"/>
              </a:ext>
            </a:extLst>
          </p:cNvPr>
          <p:cNvSpPr>
            <a:spLocks noGrp="1"/>
          </p:cNvSpPr>
          <p:nvPr>
            <p:ph type="sldNum" sz="quarter" idx="4"/>
          </p:nvPr>
        </p:nvSpPr>
        <p:spPr/>
        <p:txBody>
          <a:bodyPr/>
          <a:lstStyle/>
          <a:p>
            <a:fld id="{33C783E2-4793-4F48-A271-51A73CC37D74}" type="slidenum">
              <a:rPr lang="fr-FR" smtClean="0"/>
              <a:t>93</a:t>
            </a:fld>
            <a:endParaRPr lang="fr-FR"/>
          </a:p>
        </p:txBody>
      </p:sp>
    </p:spTree>
    <p:extLst>
      <p:ext uri="{BB962C8B-B14F-4D97-AF65-F5344CB8AC3E}">
        <p14:creationId xmlns:p14="http://schemas.microsoft.com/office/powerpoint/2010/main" val="13020039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Références de méthodes</a:t>
            </a:r>
          </a:p>
        </p:txBody>
      </p:sp>
      <p:sp>
        <p:nvSpPr>
          <p:cNvPr id="3" name="Espace réservé du contenu 2"/>
          <p:cNvSpPr>
            <a:spLocks noGrp="1"/>
          </p:cNvSpPr>
          <p:nvPr>
            <p:ph idx="1"/>
          </p:nvPr>
        </p:nvSpPr>
        <p:spPr/>
        <p:txBody>
          <a:bodyPr>
            <a:normAutofit fontScale="85000" lnSpcReduction="10000"/>
          </a:bodyPr>
          <a:lstStyle/>
          <a:p>
            <a:pPr marL="0" indent="0">
              <a:lnSpc>
                <a:spcPct val="110000"/>
              </a:lnSpc>
              <a:buNone/>
            </a:pPr>
            <a:r>
              <a:rPr lang="fr-FR" dirty="0"/>
              <a:t>Il est alors possible de passer une référence à la méthode </a:t>
            </a:r>
            <a:r>
              <a:rPr lang="fr-FR" sz="2600" dirty="0">
                <a:solidFill>
                  <a:schemeClr val="accent4"/>
                </a:solidFill>
                <a:latin typeface="Consolas" panose="020B0609020204030204" pitchFamily="49" charset="0"/>
                <a:cs typeface="Consolas" panose="020B0609020204030204" pitchFamily="49" charset="0"/>
              </a:rPr>
              <a:t>carre</a:t>
            </a:r>
            <a:r>
              <a:rPr lang="fr-FR" dirty="0"/>
              <a:t> d'une manière similaire au passage d’une interface fonctionnelle, grâce à la syntaxe suivante: </a:t>
            </a:r>
          </a:p>
          <a:p>
            <a:pPr marL="0" indent="0">
              <a:lnSpc>
                <a:spcPct val="110000"/>
              </a:lnSpc>
              <a:buNone/>
            </a:pPr>
            <a:r>
              <a:rPr lang="fr-FR" sz="2600" dirty="0">
                <a:solidFill>
                  <a:schemeClr val="accent4"/>
                </a:solidFill>
                <a:latin typeface="Consolas" panose="020B0609020204030204" pitchFamily="49" charset="0"/>
                <a:cs typeface="Consolas" panose="020B0609020204030204" pitchFamily="49" charset="0"/>
              </a:rPr>
              <a:t>Calcul::carre</a:t>
            </a:r>
            <a:r>
              <a:rPr lang="fr-FR" dirty="0"/>
              <a:t> </a:t>
            </a:r>
          </a:p>
          <a:p>
            <a:pPr marL="0" indent="0">
              <a:lnSpc>
                <a:spcPct val="110000"/>
              </a:lnSpc>
              <a:buNone/>
            </a:pPr>
            <a:r>
              <a:rPr lang="fr-FR" dirty="0"/>
              <a:t>Nous pouvons passer cette référence lors de l'appel de traite, et les deux appels suivants seront équivalents: </a:t>
            </a:r>
          </a:p>
          <a:p>
            <a:pPr marL="0" indent="0">
              <a:lnSpc>
                <a:spcPct val="110000"/>
              </a:lnSpc>
              <a:buNone/>
            </a:pPr>
            <a:r>
              <a:rPr lang="fr-FR" sz="2600" dirty="0">
                <a:solidFill>
                  <a:schemeClr val="accent4"/>
                </a:solidFill>
                <a:latin typeface="Consolas" panose="020B0609020204030204" pitchFamily="49" charset="0"/>
                <a:cs typeface="Consolas" panose="020B0609020204030204" pitchFamily="49" charset="0"/>
              </a:rPr>
              <a:t>    traite(5, x -&gt; x*x);</a:t>
            </a:r>
            <a:br>
              <a:rPr lang="fr-FR" sz="2600" dirty="0">
                <a:solidFill>
                  <a:schemeClr val="accent4"/>
                </a:solidFill>
                <a:latin typeface="Consolas" panose="020B0609020204030204" pitchFamily="49" charset="0"/>
                <a:cs typeface="Consolas" panose="020B0609020204030204" pitchFamily="49" charset="0"/>
              </a:rPr>
            </a:br>
            <a:r>
              <a:rPr lang="fr-FR" sz="2600" dirty="0">
                <a:solidFill>
                  <a:schemeClr val="accent4"/>
                </a:solidFill>
                <a:latin typeface="Consolas" panose="020B0609020204030204" pitchFamily="49" charset="0"/>
                <a:cs typeface="Consolas" panose="020B0609020204030204" pitchFamily="49" charset="0"/>
              </a:rPr>
              <a:t>    traite(5, Calcul::carre);</a:t>
            </a:r>
          </a:p>
          <a:p>
            <a:pPr marL="0" indent="0">
              <a:lnSpc>
                <a:spcPct val="110000"/>
              </a:lnSpc>
              <a:buNone/>
            </a:pPr>
            <a:endParaRPr lang="fr-FR" dirty="0"/>
          </a:p>
          <a:p>
            <a:pPr marL="0" indent="0">
              <a:lnSpc>
                <a:spcPct val="110000"/>
              </a:lnSpc>
              <a:buNone/>
            </a:pPr>
            <a:r>
              <a:rPr lang="fr-FR" dirty="0"/>
              <a:t>Notez qu’il ne faut pas préciser le paramètre </a:t>
            </a:r>
            <a:r>
              <a:rPr lang="fr-FR" sz="2600" dirty="0">
                <a:solidFill>
                  <a:schemeClr val="accent4"/>
                </a:solidFill>
                <a:latin typeface="Consolas" panose="020B0609020204030204" pitchFamily="49" charset="0"/>
                <a:cs typeface="Consolas" panose="020B0609020204030204" pitchFamily="49" charset="0"/>
              </a:rPr>
              <a:t>x</a:t>
            </a:r>
            <a:r>
              <a:rPr lang="fr-FR" dirty="0"/>
              <a:t> de </a:t>
            </a:r>
            <a:r>
              <a:rPr lang="fr-FR" sz="2600" dirty="0">
                <a:solidFill>
                  <a:schemeClr val="accent4"/>
                </a:solidFill>
                <a:latin typeface="Consolas" panose="020B0609020204030204" pitchFamily="49" charset="0"/>
                <a:cs typeface="Consolas" panose="020B0609020204030204" pitchFamily="49" charset="0"/>
              </a:rPr>
              <a:t>carre</a:t>
            </a:r>
            <a:r>
              <a:rPr lang="fr-FR" dirty="0"/>
              <a:t>… puisqu’il est précisé juste avant (</a:t>
            </a:r>
            <a:r>
              <a:rPr lang="fr-FR" sz="2600" dirty="0">
                <a:solidFill>
                  <a:schemeClr val="accent4"/>
                </a:solidFill>
                <a:latin typeface="Consolas" panose="020B0609020204030204" pitchFamily="49" charset="0"/>
                <a:cs typeface="Consolas" panose="020B0609020204030204" pitchFamily="49" charset="0"/>
              </a:rPr>
              <a:t>5</a:t>
            </a:r>
            <a:r>
              <a:rPr lang="fr-FR" dirty="0"/>
              <a:t>).</a:t>
            </a:r>
          </a:p>
        </p:txBody>
      </p:sp>
      <p:sp>
        <p:nvSpPr>
          <p:cNvPr id="8" name="Espace réservé du numéro de diapositive 7">
            <a:extLst>
              <a:ext uri="{FF2B5EF4-FFF2-40B4-BE49-F238E27FC236}">
                <a16:creationId xmlns:a16="http://schemas.microsoft.com/office/drawing/2014/main" id="{CAF4280C-9773-C9F2-3CCF-7ACC033F942B}"/>
              </a:ext>
            </a:extLst>
          </p:cNvPr>
          <p:cNvSpPr>
            <a:spLocks noGrp="1"/>
          </p:cNvSpPr>
          <p:nvPr>
            <p:ph type="sldNum" sz="quarter" idx="4"/>
          </p:nvPr>
        </p:nvSpPr>
        <p:spPr/>
        <p:txBody>
          <a:bodyPr/>
          <a:lstStyle/>
          <a:p>
            <a:fld id="{33C783E2-4793-4F48-A271-51A73CC37D74}" type="slidenum">
              <a:rPr lang="fr-FR" smtClean="0"/>
              <a:t>94</a:t>
            </a:fld>
            <a:endParaRPr lang="fr-FR"/>
          </a:p>
        </p:txBody>
      </p:sp>
    </p:spTree>
    <p:extLst>
      <p:ext uri="{BB962C8B-B14F-4D97-AF65-F5344CB8AC3E}">
        <p14:creationId xmlns:p14="http://schemas.microsoft.com/office/powerpoint/2010/main" val="109488522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Un peu plus?</a:t>
            </a:r>
          </a:p>
        </p:txBody>
      </p:sp>
      <p:sp>
        <p:nvSpPr>
          <p:cNvPr id="9" name="Espace réservé du contenu 8"/>
          <p:cNvSpPr>
            <a:spLocks noGrp="1"/>
          </p:cNvSpPr>
          <p:nvPr>
            <p:ph idx="1"/>
          </p:nvPr>
        </p:nvSpPr>
        <p:spPr/>
        <p:txBody>
          <a:bodyPr>
            <a:normAutofit/>
          </a:bodyPr>
          <a:lstStyle/>
          <a:p>
            <a:pPr marL="0" indent="0">
              <a:buNone/>
            </a:pPr>
            <a:r>
              <a:rPr lang="fr-FR" sz="1800" dirty="0"/>
              <a:t>(en anglais) la </a:t>
            </a:r>
            <a:r>
              <a:rPr lang="fr-FR" sz="1800" dirty="0" err="1"/>
              <a:t>javadoc</a:t>
            </a:r>
            <a:r>
              <a:rPr lang="fr-FR" sz="1800" dirty="0"/>
              <a:t> :</a:t>
            </a:r>
          </a:p>
          <a:p>
            <a:pPr marL="0" indent="0">
              <a:buNone/>
            </a:pPr>
            <a:r>
              <a:rPr lang="fr-FR" sz="1800" dirty="0">
                <a:solidFill>
                  <a:schemeClr val="accent2"/>
                </a:solidFill>
                <a:hlinkClick r:id="rId2"/>
              </a:rPr>
              <a:t>https://docs.oracle.com/javase/tutorial/java/javaOO/lambdaexpressions.html</a:t>
            </a:r>
            <a:r>
              <a:rPr lang="fr-FR" sz="1800" dirty="0">
                <a:solidFill>
                  <a:schemeClr val="accent2"/>
                </a:solidFill>
              </a:rPr>
              <a:t> </a:t>
            </a:r>
          </a:p>
          <a:p>
            <a:pPr marL="0" indent="0">
              <a:buNone/>
            </a:pPr>
            <a:endParaRPr lang="fr-FR" sz="1800" dirty="0">
              <a:solidFill>
                <a:schemeClr val="accent2"/>
              </a:solidFill>
            </a:endParaRPr>
          </a:p>
          <a:p>
            <a:pPr marL="0" indent="0">
              <a:buNone/>
            </a:pPr>
            <a:r>
              <a:rPr lang="fr-FR" sz="1800" dirty="0"/>
              <a:t>Voir aussi </a:t>
            </a:r>
            <a:r>
              <a:rPr lang="fr-FR" sz="1800" dirty="0">
                <a:solidFill>
                  <a:schemeClr val="accent2"/>
                </a:solidFill>
                <a:hlinkClick r:id="rId3"/>
              </a:rPr>
              <a:t>https://toungafranck.com/tutoriels/les-nouveautes-java-8/lambda-expressions/</a:t>
            </a:r>
            <a:r>
              <a:rPr lang="fr-FR" sz="1800" dirty="0">
                <a:solidFill>
                  <a:schemeClr val="accent2"/>
                </a:solidFill>
              </a:rPr>
              <a:t> </a:t>
            </a:r>
          </a:p>
          <a:p>
            <a:pPr marL="0" indent="0">
              <a:buNone/>
            </a:pPr>
            <a:r>
              <a:rPr lang="fr-FR" sz="1800" dirty="0"/>
              <a:t>Et </a:t>
            </a:r>
            <a:r>
              <a:rPr lang="fr-FR" sz="1800" dirty="0">
                <a:solidFill>
                  <a:schemeClr val="accent2"/>
                </a:solidFill>
                <a:hlinkClick r:id="rId4"/>
              </a:rPr>
              <a:t>https://www.jmdoudoux.fr/java/dej/chap-lambdas.htm</a:t>
            </a:r>
            <a:endParaRPr lang="fr-FR" sz="1800" dirty="0">
              <a:solidFill>
                <a:schemeClr val="accent2"/>
              </a:solidFill>
            </a:endParaRPr>
          </a:p>
          <a:p>
            <a:pPr marL="0" indent="0">
              <a:buNone/>
            </a:pPr>
            <a:endParaRPr lang="fr-FR" sz="1800" dirty="0">
              <a:solidFill>
                <a:schemeClr val="accent2"/>
              </a:solidFill>
            </a:endParaRPr>
          </a:p>
          <a:p>
            <a:pPr marL="0" indent="0">
              <a:buNone/>
            </a:pPr>
            <a:r>
              <a:rPr lang="fr-FR" sz="1800" dirty="0">
                <a:latin typeface="Calibri" panose="020F0502020204030204" pitchFamily="34" charset="0"/>
                <a:cs typeface="Calibri" panose="020F0502020204030204" pitchFamily="34" charset="0"/>
              </a:rPr>
              <a:t>Si vous voulez approfondir, abordez la notion de Stream qui permet des écritures telles que </a:t>
            </a:r>
          </a:p>
          <a:p>
            <a:pPr marL="0" indent="0">
              <a:buNone/>
            </a:pPr>
            <a:r>
              <a:rPr lang="fr-BE" sz="1600" dirty="0">
                <a:solidFill>
                  <a:schemeClr val="accent4"/>
                </a:solidFill>
                <a:latin typeface="Consolas" panose="020B0609020204030204" pitchFamily="49" charset="0"/>
                <a:cs typeface="Consolas" panose="020B0609020204030204" pitchFamily="49" charset="0"/>
              </a:rPr>
              <a:t>double </a:t>
            </a:r>
            <a:r>
              <a:rPr lang="fr-BE" sz="1600" dirty="0" err="1">
                <a:solidFill>
                  <a:schemeClr val="accent4"/>
                </a:solidFill>
                <a:latin typeface="Consolas" panose="020B0609020204030204" pitchFamily="49" charset="0"/>
                <a:cs typeface="Consolas" panose="020B0609020204030204" pitchFamily="49" charset="0"/>
              </a:rPr>
              <a:t>tailleMoyenneDesHommes</a:t>
            </a:r>
            <a:r>
              <a:rPr lang="fr-BE" sz="1600" dirty="0">
                <a:solidFill>
                  <a:schemeClr val="accent4"/>
                </a:solidFill>
                <a:latin typeface="Consolas" panose="020B0609020204030204" pitchFamily="49" charset="0"/>
                <a:cs typeface="Consolas" panose="020B0609020204030204" pitchFamily="49" charset="0"/>
              </a:rPr>
              <a:t> = </a:t>
            </a:r>
            <a:r>
              <a:rPr lang="fr-BE" sz="1600" dirty="0" err="1">
                <a:solidFill>
                  <a:schemeClr val="accent4"/>
                </a:solidFill>
                <a:latin typeface="Consolas" panose="020B0609020204030204" pitchFamily="49" charset="0"/>
                <a:cs typeface="Consolas" panose="020B0609020204030204" pitchFamily="49" charset="0"/>
              </a:rPr>
              <a:t>employes</a:t>
            </a:r>
            <a:r>
              <a:rPr lang="fr-BE" sz="1600" dirty="0">
                <a:solidFill>
                  <a:schemeClr val="accent4"/>
                </a:solidFill>
                <a:latin typeface="Consolas" panose="020B0609020204030204" pitchFamily="49" charset="0"/>
                <a:cs typeface="Consolas" panose="020B0609020204030204" pitchFamily="49" charset="0"/>
              </a:rPr>
              <a:t> </a:t>
            </a:r>
            <a:br>
              <a:rPr lang="fr-BE" sz="1600" dirty="0">
                <a:solidFill>
                  <a:schemeClr val="accent4"/>
                </a:solidFill>
                <a:latin typeface="Consolas" panose="020B0609020204030204" pitchFamily="49" charset="0"/>
                <a:cs typeface="Consolas" panose="020B0609020204030204" pitchFamily="49" charset="0"/>
              </a:rPr>
            </a:br>
            <a:r>
              <a:rPr lang="fr-BE" sz="1600" dirty="0">
                <a:solidFill>
                  <a:schemeClr val="accent4"/>
                </a:solidFill>
                <a:latin typeface="Consolas" panose="020B0609020204030204" pitchFamily="49" charset="0"/>
                <a:cs typeface="Consolas" panose="020B0609020204030204" pitchFamily="49" charset="0"/>
              </a:rPr>
              <a:t>                               .</a:t>
            </a:r>
            <a:r>
              <a:rPr lang="fr-BE" sz="1600" dirty="0" err="1">
                <a:solidFill>
                  <a:schemeClr val="accent4"/>
                </a:solidFill>
                <a:latin typeface="Consolas" panose="020B0609020204030204" pitchFamily="49" charset="0"/>
                <a:cs typeface="Consolas" panose="020B0609020204030204" pitchFamily="49" charset="0"/>
              </a:rPr>
              <a:t>stream</a:t>
            </a:r>
            <a:r>
              <a:rPr lang="fr-BE" sz="1600" dirty="0">
                <a:solidFill>
                  <a:schemeClr val="accent4"/>
                </a:solidFill>
                <a:latin typeface="Consolas" panose="020B0609020204030204" pitchFamily="49" charset="0"/>
                <a:cs typeface="Consolas" panose="020B0609020204030204" pitchFamily="49" charset="0"/>
              </a:rPr>
              <a:t>() </a:t>
            </a:r>
            <a:br>
              <a:rPr lang="fr-BE" sz="1600" dirty="0">
                <a:solidFill>
                  <a:schemeClr val="accent4"/>
                </a:solidFill>
                <a:latin typeface="Consolas" panose="020B0609020204030204" pitchFamily="49" charset="0"/>
                <a:cs typeface="Consolas" panose="020B0609020204030204" pitchFamily="49" charset="0"/>
              </a:rPr>
            </a:br>
            <a:r>
              <a:rPr lang="fr-BE" sz="1600" dirty="0">
                <a:solidFill>
                  <a:schemeClr val="accent4"/>
                </a:solidFill>
                <a:latin typeface="Consolas" panose="020B0609020204030204" pitchFamily="49" charset="0"/>
                <a:cs typeface="Consolas" panose="020B0609020204030204" pitchFamily="49" charset="0"/>
              </a:rPr>
              <a:t>                               .</a:t>
            </a:r>
            <a:r>
              <a:rPr lang="fr-BE" sz="1600" dirty="0" err="1">
                <a:solidFill>
                  <a:schemeClr val="accent4"/>
                </a:solidFill>
                <a:latin typeface="Consolas" panose="020B0609020204030204" pitchFamily="49" charset="0"/>
                <a:cs typeface="Consolas" panose="020B0609020204030204" pitchFamily="49" charset="0"/>
              </a:rPr>
              <a:t>filter</a:t>
            </a:r>
            <a:r>
              <a:rPr lang="fr-BE" sz="1600" dirty="0">
                <a:solidFill>
                  <a:schemeClr val="accent4"/>
                </a:solidFill>
                <a:latin typeface="Consolas" panose="020B0609020204030204" pitchFamily="49" charset="0"/>
                <a:cs typeface="Consolas" panose="020B0609020204030204" pitchFamily="49" charset="0"/>
              </a:rPr>
              <a:t>(e -&gt; </a:t>
            </a:r>
            <a:r>
              <a:rPr lang="fr-BE" sz="1600" dirty="0" err="1">
                <a:solidFill>
                  <a:schemeClr val="accent4"/>
                </a:solidFill>
                <a:latin typeface="Consolas" panose="020B0609020204030204" pitchFamily="49" charset="0"/>
                <a:cs typeface="Consolas" panose="020B0609020204030204" pitchFamily="49" charset="0"/>
              </a:rPr>
              <a:t>e.getGenre</a:t>
            </a:r>
            <a:r>
              <a:rPr lang="fr-BE" sz="1600" dirty="0">
                <a:solidFill>
                  <a:schemeClr val="accent4"/>
                </a:solidFill>
                <a:latin typeface="Consolas" panose="020B0609020204030204" pitchFamily="49" charset="0"/>
                <a:cs typeface="Consolas" panose="020B0609020204030204" pitchFamily="49" charset="0"/>
              </a:rPr>
              <a:t>() == </a:t>
            </a:r>
            <a:r>
              <a:rPr lang="fr-BE" sz="1600" dirty="0" err="1">
                <a:solidFill>
                  <a:schemeClr val="accent4"/>
                </a:solidFill>
                <a:latin typeface="Consolas" panose="020B0609020204030204" pitchFamily="49" charset="0"/>
                <a:cs typeface="Consolas" panose="020B0609020204030204" pitchFamily="49" charset="0"/>
              </a:rPr>
              <a:t>Genre.HOMME</a:t>
            </a:r>
            <a:r>
              <a:rPr lang="fr-BE" sz="1600" dirty="0">
                <a:solidFill>
                  <a:schemeClr val="accent4"/>
                </a:solidFill>
                <a:latin typeface="Consolas" panose="020B0609020204030204" pitchFamily="49" charset="0"/>
                <a:cs typeface="Consolas" panose="020B0609020204030204" pitchFamily="49" charset="0"/>
              </a:rPr>
              <a:t>) </a:t>
            </a:r>
            <a:br>
              <a:rPr lang="fr-BE" sz="1600" dirty="0">
                <a:solidFill>
                  <a:schemeClr val="accent4"/>
                </a:solidFill>
                <a:latin typeface="Consolas" panose="020B0609020204030204" pitchFamily="49" charset="0"/>
                <a:cs typeface="Consolas" panose="020B0609020204030204" pitchFamily="49" charset="0"/>
              </a:rPr>
            </a:br>
            <a:r>
              <a:rPr lang="fr-BE" sz="1600" dirty="0">
                <a:solidFill>
                  <a:schemeClr val="accent4"/>
                </a:solidFill>
                <a:latin typeface="Consolas" panose="020B0609020204030204" pitchFamily="49" charset="0"/>
                <a:cs typeface="Consolas" panose="020B0609020204030204" pitchFamily="49" charset="0"/>
              </a:rPr>
              <a:t>                               .</a:t>
            </a:r>
            <a:r>
              <a:rPr lang="fr-BE" sz="1600" dirty="0" err="1">
                <a:solidFill>
                  <a:schemeClr val="accent4"/>
                </a:solidFill>
                <a:latin typeface="Consolas" panose="020B0609020204030204" pitchFamily="49" charset="0"/>
                <a:cs typeface="Consolas" panose="020B0609020204030204" pitchFamily="49" charset="0"/>
              </a:rPr>
              <a:t>mapToInt</a:t>
            </a:r>
            <a:r>
              <a:rPr lang="fr-BE" sz="1600" dirty="0">
                <a:solidFill>
                  <a:schemeClr val="accent4"/>
                </a:solidFill>
                <a:latin typeface="Consolas" panose="020B0609020204030204" pitchFamily="49" charset="0"/>
                <a:cs typeface="Consolas" panose="020B0609020204030204" pitchFamily="49" charset="0"/>
              </a:rPr>
              <a:t>(e -&gt; </a:t>
            </a:r>
            <a:r>
              <a:rPr lang="fr-BE" sz="1600" dirty="0" err="1">
                <a:solidFill>
                  <a:schemeClr val="accent4"/>
                </a:solidFill>
                <a:latin typeface="Consolas" panose="020B0609020204030204" pitchFamily="49" charset="0"/>
                <a:cs typeface="Consolas" panose="020B0609020204030204" pitchFamily="49" charset="0"/>
              </a:rPr>
              <a:t>e.getTaille</a:t>
            </a:r>
            <a:r>
              <a:rPr lang="fr-BE" sz="1600" dirty="0">
                <a:solidFill>
                  <a:schemeClr val="accent4"/>
                </a:solidFill>
                <a:latin typeface="Consolas" panose="020B0609020204030204" pitchFamily="49" charset="0"/>
                <a:cs typeface="Consolas" panose="020B0609020204030204" pitchFamily="49" charset="0"/>
              </a:rPr>
              <a:t>()) </a:t>
            </a:r>
            <a:br>
              <a:rPr lang="fr-BE" sz="1600" dirty="0">
                <a:solidFill>
                  <a:schemeClr val="accent4"/>
                </a:solidFill>
                <a:latin typeface="Consolas" panose="020B0609020204030204" pitchFamily="49" charset="0"/>
                <a:cs typeface="Consolas" panose="020B0609020204030204" pitchFamily="49" charset="0"/>
              </a:rPr>
            </a:br>
            <a:r>
              <a:rPr lang="fr-BE" sz="1600" dirty="0">
                <a:solidFill>
                  <a:schemeClr val="accent4"/>
                </a:solidFill>
                <a:latin typeface="Consolas" panose="020B0609020204030204" pitchFamily="49" charset="0"/>
                <a:cs typeface="Consolas" panose="020B0609020204030204" pitchFamily="49" charset="0"/>
              </a:rPr>
              <a:t>                               .</a:t>
            </a:r>
            <a:r>
              <a:rPr lang="fr-BE" sz="1600" dirty="0" err="1">
                <a:solidFill>
                  <a:schemeClr val="accent4"/>
                </a:solidFill>
                <a:latin typeface="Consolas" panose="020B0609020204030204" pitchFamily="49" charset="0"/>
                <a:cs typeface="Consolas" panose="020B0609020204030204" pitchFamily="49" charset="0"/>
              </a:rPr>
              <a:t>average</a:t>
            </a:r>
            <a:r>
              <a:rPr lang="fr-BE" sz="1600" dirty="0">
                <a:solidFill>
                  <a:schemeClr val="accent4"/>
                </a:solidFill>
                <a:latin typeface="Consolas" panose="020B0609020204030204" pitchFamily="49" charset="0"/>
                <a:cs typeface="Consolas" panose="020B0609020204030204" pitchFamily="49" charset="0"/>
              </a:rPr>
              <a:t>() </a:t>
            </a:r>
            <a:br>
              <a:rPr lang="fr-BE" sz="1600" dirty="0">
                <a:solidFill>
                  <a:schemeClr val="accent4"/>
                </a:solidFill>
                <a:latin typeface="Consolas" panose="020B0609020204030204" pitchFamily="49" charset="0"/>
                <a:cs typeface="Consolas" panose="020B0609020204030204" pitchFamily="49" charset="0"/>
              </a:rPr>
            </a:br>
            <a:r>
              <a:rPr lang="fr-BE" sz="1600" dirty="0">
                <a:solidFill>
                  <a:schemeClr val="accent4"/>
                </a:solidFill>
                <a:latin typeface="Consolas" panose="020B0609020204030204" pitchFamily="49" charset="0"/>
                <a:cs typeface="Consolas" panose="020B0609020204030204" pitchFamily="49" charset="0"/>
              </a:rPr>
              <a:t>                               .</a:t>
            </a:r>
            <a:r>
              <a:rPr lang="fr-BE" sz="1600" dirty="0" err="1">
                <a:solidFill>
                  <a:schemeClr val="accent4"/>
                </a:solidFill>
                <a:latin typeface="Consolas" panose="020B0609020204030204" pitchFamily="49" charset="0"/>
                <a:cs typeface="Consolas" panose="020B0609020204030204" pitchFamily="49" charset="0"/>
              </a:rPr>
              <a:t>orElse</a:t>
            </a:r>
            <a:r>
              <a:rPr lang="fr-BE" sz="1600" dirty="0">
                <a:solidFill>
                  <a:schemeClr val="accent4"/>
                </a:solidFill>
                <a:latin typeface="Consolas" panose="020B0609020204030204" pitchFamily="49" charset="0"/>
                <a:cs typeface="Consolas" panose="020B0609020204030204" pitchFamily="49" charset="0"/>
              </a:rPr>
              <a:t>(0);</a:t>
            </a:r>
            <a:endParaRPr lang="fr-FR" sz="1800" dirty="0">
              <a:solidFill>
                <a:schemeClr val="accent4"/>
              </a:solidFill>
              <a:latin typeface="Consolas" panose="020B0609020204030204" pitchFamily="49" charset="0"/>
              <a:cs typeface="Consolas" panose="020B0609020204030204" pitchFamily="49" charset="0"/>
            </a:endParaRPr>
          </a:p>
        </p:txBody>
      </p:sp>
      <p:pic>
        <p:nvPicPr>
          <p:cNvPr id="3" name="Picture 2" descr="Chaîne tendue PNG transparents - StickPNG">
            <a:extLst>
              <a:ext uri="{FF2B5EF4-FFF2-40B4-BE49-F238E27FC236}">
                <a16:creationId xmlns:a16="http://schemas.microsoft.com/office/drawing/2014/main" id="{FA6DC183-D107-68AE-2AB7-3E124E4CAEF9}"/>
              </a:ext>
            </a:extLst>
          </p:cNvPr>
          <p:cNvPicPr>
            <a:picLocks noChangeAspect="1" noChangeArrowheads="1"/>
          </p:cNvPicPr>
          <p:nvPr/>
        </p:nvPicPr>
        <p:blipFill rotWithShape="1">
          <a:blip r:embed="rId5" cstate="screen">
            <a:extLst>
              <a:ext uri="{28A0092B-C50C-407E-A947-70E740481C1C}">
                <a14:useLocalDpi xmlns:a14="http://schemas.microsoft.com/office/drawing/2010/main"/>
              </a:ext>
            </a:extLst>
          </a:blip>
          <a:srcRect t="39693" b="39693"/>
          <a:stretch/>
        </p:blipFill>
        <p:spPr bwMode="auto">
          <a:xfrm rot="1476660">
            <a:off x="7279944" y="441435"/>
            <a:ext cx="5321960" cy="877614"/>
          </a:xfrm>
          <a:prstGeom prst="rect">
            <a:avLst/>
          </a:prstGeom>
          <a:noFill/>
          <a:extLst>
            <a:ext uri="{909E8E84-426E-40DD-AFC4-6F175D3DCCD1}">
              <a14:hiddenFill xmlns:a14="http://schemas.microsoft.com/office/drawing/2010/main">
                <a:solidFill>
                  <a:srgbClr val="FFFFFF"/>
                </a:solidFill>
              </a14:hiddenFill>
            </a:ext>
          </a:extLst>
        </p:spPr>
      </p:pic>
      <p:sp>
        <p:nvSpPr>
          <p:cNvPr id="5" name="Espace réservé du numéro de diapositive 4">
            <a:extLst>
              <a:ext uri="{FF2B5EF4-FFF2-40B4-BE49-F238E27FC236}">
                <a16:creationId xmlns:a16="http://schemas.microsoft.com/office/drawing/2014/main" id="{3FAF1CD1-FACB-020A-6613-0E7A678FA7AD}"/>
              </a:ext>
            </a:extLst>
          </p:cNvPr>
          <p:cNvSpPr>
            <a:spLocks noGrp="1"/>
          </p:cNvSpPr>
          <p:nvPr>
            <p:ph type="sldNum" sz="quarter" idx="4"/>
          </p:nvPr>
        </p:nvSpPr>
        <p:spPr/>
        <p:txBody>
          <a:bodyPr/>
          <a:lstStyle/>
          <a:p>
            <a:fld id="{33C783E2-4793-4F48-A271-51A73CC37D74}" type="slidenum">
              <a:rPr lang="fr-FR" smtClean="0"/>
              <a:t>95</a:t>
            </a:fld>
            <a:endParaRPr lang="fr-FR"/>
          </a:p>
        </p:txBody>
      </p:sp>
    </p:spTree>
    <p:extLst>
      <p:ext uri="{BB962C8B-B14F-4D97-AF65-F5344CB8AC3E}">
        <p14:creationId xmlns:p14="http://schemas.microsoft.com/office/powerpoint/2010/main" val="1663748278"/>
      </p:ext>
    </p:extLst>
  </p:cSld>
  <p:clrMapOvr>
    <a:masterClrMapping/>
  </p:clrMapOvr>
  <p:transition>
    <p:push dir="u"/>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Exercices</a:t>
            </a:r>
          </a:p>
        </p:txBody>
      </p:sp>
      <p:pic>
        <p:nvPicPr>
          <p:cNvPr id="1030" name="Picture 6" descr="AI &amp; Big Data | IAV">
            <a:extLst>
              <a:ext uri="{FF2B5EF4-FFF2-40B4-BE49-F238E27FC236}">
                <a16:creationId xmlns:a16="http://schemas.microsoft.com/office/drawing/2014/main" id="{3709C831-3988-E91D-67DA-F5E87D122BEC}"/>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l="19581" r="19581"/>
          <a:stretch/>
        </p:blipFill>
        <p:spPr bwMode="auto">
          <a:xfrm>
            <a:off x="3407229" y="942975"/>
            <a:ext cx="5377542" cy="4972050"/>
          </a:xfrm>
          <a:prstGeom prst="rect">
            <a:avLst/>
          </a:prstGeom>
          <a:noFill/>
          <a:extLst>
            <a:ext uri="{909E8E84-426E-40DD-AFC4-6F175D3DCCD1}">
              <a14:hiddenFill xmlns:a14="http://schemas.microsoft.com/office/drawing/2010/main">
                <a:solidFill>
                  <a:srgbClr val="FFFFFF"/>
                </a:solidFill>
              </a14:hiddenFill>
            </a:ext>
          </a:extLst>
        </p:spPr>
      </p:pic>
      <p:sp>
        <p:nvSpPr>
          <p:cNvPr id="4" name="Espace réservé du numéro de diapositive 3">
            <a:extLst>
              <a:ext uri="{FF2B5EF4-FFF2-40B4-BE49-F238E27FC236}">
                <a16:creationId xmlns:a16="http://schemas.microsoft.com/office/drawing/2014/main" id="{9AFDAE27-7D93-2DC8-B594-CC78EE14412B}"/>
              </a:ext>
            </a:extLst>
          </p:cNvPr>
          <p:cNvSpPr>
            <a:spLocks noGrp="1"/>
          </p:cNvSpPr>
          <p:nvPr>
            <p:ph type="sldNum" sz="quarter" idx="4"/>
          </p:nvPr>
        </p:nvSpPr>
        <p:spPr/>
        <p:txBody>
          <a:bodyPr/>
          <a:lstStyle/>
          <a:p>
            <a:fld id="{33C783E2-4793-4F48-A271-51A73CC37D74}" type="slidenum">
              <a:rPr lang="fr-FR" smtClean="0"/>
              <a:t>96</a:t>
            </a:fld>
            <a:endParaRPr lang="fr-FR"/>
          </a:p>
        </p:txBody>
      </p:sp>
    </p:spTree>
    <p:extLst>
      <p:ext uri="{BB962C8B-B14F-4D97-AF65-F5344CB8AC3E}">
        <p14:creationId xmlns:p14="http://schemas.microsoft.com/office/powerpoint/2010/main" val="653911762"/>
      </p:ext>
    </p:extLst>
  </p:cSld>
  <p:clrMapOvr>
    <a:masterClrMapping/>
  </p:clrMapOvr>
  <p:transition>
    <p:push dir="u"/>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Exercice 41</a:t>
            </a:r>
          </a:p>
        </p:txBody>
      </p:sp>
      <p:sp>
        <p:nvSpPr>
          <p:cNvPr id="3" name="Espace réservé du contenu 2"/>
          <p:cNvSpPr>
            <a:spLocks noGrp="1"/>
          </p:cNvSpPr>
          <p:nvPr>
            <p:ph idx="1"/>
          </p:nvPr>
        </p:nvSpPr>
        <p:spPr/>
        <p:txBody>
          <a:bodyPr>
            <a:noAutofit/>
          </a:bodyPr>
          <a:lstStyle/>
          <a:p>
            <a:pPr marL="0" indent="0">
              <a:lnSpc>
                <a:spcPct val="100000"/>
              </a:lnSpc>
              <a:buNone/>
            </a:pPr>
            <a:r>
              <a:rPr lang="fr-FR" sz="1800" dirty="0"/>
              <a:t>Voici un programme</a:t>
            </a:r>
          </a:p>
          <a:p>
            <a:pPr marL="0" indent="0">
              <a:lnSpc>
                <a:spcPct val="100000"/>
              </a:lnSpc>
              <a:buNone/>
            </a:pPr>
            <a:r>
              <a:rPr lang="fr-FR" sz="1600" dirty="0">
                <a:solidFill>
                  <a:schemeClr val="accent4"/>
                </a:solidFill>
                <a:latin typeface="Consolas"/>
                <a:cs typeface="Consolas"/>
              </a:rPr>
              <a:t>public class Affichage {</a:t>
            </a:r>
          </a:p>
          <a:p>
            <a:pPr marL="0" indent="0">
              <a:lnSpc>
                <a:spcPct val="100000"/>
              </a:lnSpc>
              <a:buNone/>
            </a:pPr>
            <a:r>
              <a:rPr lang="fr-FR" sz="1600" dirty="0">
                <a:solidFill>
                  <a:schemeClr val="accent4"/>
                </a:solidFill>
                <a:latin typeface="Consolas"/>
                <a:cs typeface="Consolas"/>
              </a:rPr>
              <a:t>    public </a:t>
            </a:r>
            <a:r>
              <a:rPr lang="fr-FR" sz="1600" dirty="0" err="1">
                <a:solidFill>
                  <a:schemeClr val="accent4"/>
                </a:solidFill>
                <a:latin typeface="Consolas"/>
                <a:cs typeface="Consolas"/>
              </a:rPr>
              <a:t>static</a:t>
            </a:r>
            <a:r>
              <a:rPr lang="fr-FR" sz="1600" dirty="0">
                <a:solidFill>
                  <a:schemeClr val="accent4"/>
                </a:solidFill>
                <a:latin typeface="Consolas"/>
                <a:cs typeface="Consolas"/>
              </a:rPr>
              <a:t> </a:t>
            </a:r>
            <a:r>
              <a:rPr lang="fr-FR" sz="1600" dirty="0" err="1">
                <a:solidFill>
                  <a:schemeClr val="accent4"/>
                </a:solidFill>
                <a:latin typeface="Consolas"/>
                <a:cs typeface="Consolas"/>
              </a:rPr>
              <a:t>void</a:t>
            </a:r>
            <a:r>
              <a:rPr lang="fr-FR" sz="1600" dirty="0">
                <a:solidFill>
                  <a:schemeClr val="accent4"/>
                </a:solidFill>
                <a:latin typeface="Consolas"/>
                <a:cs typeface="Consolas"/>
              </a:rPr>
              <a:t> main(String[] </a:t>
            </a:r>
            <a:r>
              <a:rPr lang="fr-FR" sz="1600" dirty="0" err="1">
                <a:solidFill>
                  <a:schemeClr val="accent4"/>
                </a:solidFill>
                <a:latin typeface="Consolas"/>
                <a:cs typeface="Consolas"/>
              </a:rPr>
              <a:t>args</a:t>
            </a:r>
            <a:r>
              <a:rPr lang="fr-FR" sz="1600" dirty="0">
                <a:solidFill>
                  <a:schemeClr val="accent4"/>
                </a:solidFill>
                <a:latin typeface="Consolas"/>
                <a:cs typeface="Consolas"/>
              </a:rPr>
              <a:t>) {</a:t>
            </a:r>
          </a:p>
          <a:p>
            <a:pPr marL="0" indent="0">
              <a:lnSpc>
                <a:spcPct val="100000"/>
              </a:lnSpc>
              <a:buNone/>
            </a:pPr>
            <a:r>
              <a:rPr lang="fr-FR" sz="1600" dirty="0">
                <a:solidFill>
                  <a:schemeClr val="accent4"/>
                </a:solidFill>
                <a:latin typeface="Consolas"/>
                <a:cs typeface="Consolas"/>
              </a:rPr>
              <a:t>        </a:t>
            </a:r>
            <a:r>
              <a:rPr lang="fr-FR" sz="1600" dirty="0" err="1">
                <a:solidFill>
                  <a:schemeClr val="accent4"/>
                </a:solidFill>
                <a:latin typeface="Consolas"/>
                <a:cs typeface="Consolas"/>
              </a:rPr>
              <a:t>int</a:t>
            </a:r>
            <a:r>
              <a:rPr lang="fr-FR" sz="1600" dirty="0">
                <a:solidFill>
                  <a:schemeClr val="accent4"/>
                </a:solidFill>
                <a:latin typeface="Consolas"/>
                <a:cs typeface="Consolas"/>
              </a:rPr>
              <a:t> [] tab = {1, 4, -9, 5, -7, -3, 2 };</a:t>
            </a:r>
          </a:p>
          <a:p>
            <a:pPr marL="0" indent="0">
              <a:lnSpc>
                <a:spcPct val="100000"/>
              </a:lnSpc>
              <a:buNone/>
            </a:pPr>
            <a:r>
              <a:rPr lang="fr-FR" sz="1600" dirty="0">
                <a:solidFill>
                  <a:schemeClr val="accent4"/>
                </a:solidFill>
                <a:latin typeface="Consolas"/>
                <a:cs typeface="Consolas"/>
              </a:rPr>
              <a:t>        </a:t>
            </a:r>
            <a:r>
              <a:rPr lang="fr-FR" sz="1600" dirty="0" err="1">
                <a:solidFill>
                  <a:schemeClr val="accent4"/>
                </a:solidFill>
                <a:latin typeface="Consolas"/>
                <a:cs typeface="Consolas"/>
              </a:rPr>
              <a:t>System.out.println</a:t>
            </a:r>
            <a:r>
              <a:rPr lang="fr-FR" sz="1600" dirty="0">
                <a:solidFill>
                  <a:schemeClr val="accent4"/>
                </a:solidFill>
                <a:latin typeface="Consolas"/>
                <a:cs typeface="Consolas"/>
              </a:rPr>
              <a:t>("Les positifs:");</a:t>
            </a:r>
          </a:p>
          <a:p>
            <a:pPr marL="0" indent="0">
              <a:lnSpc>
                <a:spcPct val="100000"/>
              </a:lnSpc>
              <a:buNone/>
            </a:pPr>
            <a:r>
              <a:rPr lang="fr-FR" sz="1600" dirty="0">
                <a:solidFill>
                  <a:schemeClr val="accent4"/>
                </a:solidFill>
                <a:latin typeface="Consolas"/>
                <a:cs typeface="Consolas"/>
              </a:rPr>
              <a:t>        </a:t>
            </a:r>
            <a:r>
              <a:rPr lang="fr-FR" sz="1600" dirty="0" err="1">
                <a:solidFill>
                  <a:schemeClr val="accent4"/>
                </a:solidFill>
                <a:latin typeface="Consolas"/>
                <a:cs typeface="Consolas"/>
              </a:rPr>
              <a:t>affichageSelectif</a:t>
            </a:r>
            <a:r>
              <a:rPr lang="fr-FR" sz="1600" dirty="0">
                <a:solidFill>
                  <a:schemeClr val="accent4"/>
                </a:solidFill>
                <a:latin typeface="Consolas"/>
                <a:cs typeface="Consolas"/>
              </a:rPr>
              <a:t>(tab, e –&gt; e &gt; 0);</a:t>
            </a:r>
          </a:p>
          <a:p>
            <a:pPr marL="0" indent="0">
              <a:lnSpc>
                <a:spcPct val="100000"/>
              </a:lnSpc>
              <a:buNone/>
            </a:pPr>
            <a:r>
              <a:rPr lang="fr-FR" sz="1600" dirty="0">
                <a:solidFill>
                  <a:schemeClr val="accent4"/>
                </a:solidFill>
                <a:latin typeface="Consolas"/>
                <a:cs typeface="Consolas"/>
              </a:rPr>
              <a:t>    }</a:t>
            </a:r>
          </a:p>
          <a:p>
            <a:pPr marL="0" indent="0">
              <a:lnSpc>
                <a:spcPct val="100000"/>
              </a:lnSpc>
              <a:buNone/>
            </a:pPr>
            <a:r>
              <a:rPr lang="fr-FR" sz="1600" dirty="0">
                <a:solidFill>
                  <a:schemeClr val="accent4"/>
                </a:solidFill>
                <a:latin typeface="Consolas"/>
                <a:cs typeface="Consolas"/>
              </a:rPr>
              <a:t>}</a:t>
            </a:r>
            <a:endParaRPr lang="fr-FR" sz="1600" dirty="0"/>
          </a:p>
          <a:p>
            <a:pPr marL="0" indent="0">
              <a:lnSpc>
                <a:spcPct val="100000"/>
              </a:lnSpc>
              <a:buNone/>
            </a:pPr>
            <a:r>
              <a:rPr lang="fr-FR" sz="1800" dirty="0"/>
              <a:t>Ecrivez la méthode </a:t>
            </a:r>
            <a:r>
              <a:rPr lang="fr-FR" sz="1600" dirty="0" err="1">
                <a:solidFill>
                  <a:schemeClr val="accent4"/>
                </a:solidFill>
                <a:latin typeface="Consolas"/>
                <a:cs typeface="Consolas"/>
              </a:rPr>
              <a:t>affichageSelectif</a:t>
            </a:r>
            <a:r>
              <a:rPr lang="fr-FR" sz="1800" dirty="0"/>
              <a:t> qui affichera les éléments positifs du tableau. Pour ce faire, créez votre propre interface fonctionnelle (</a:t>
            </a:r>
            <a:r>
              <a:rPr lang="fr-FR" sz="1600" dirty="0">
                <a:solidFill>
                  <a:schemeClr val="accent4"/>
                </a:solidFill>
                <a:latin typeface="Consolas"/>
                <a:cs typeface="Consolas"/>
              </a:rPr>
              <a:t>Filtrage</a:t>
            </a:r>
            <a:r>
              <a:rPr lang="fr-FR" sz="1800" dirty="0"/>
              <a:t>).</a:t>
            </a:r>
          </a:p>
          <a:p>
            <a:pPr marL="0" indent="0">
              <a:lnSpc>
                <a:spcPct val="100000"/>
              </a:lnSpc>
              <a:buNone/>
            </a:pPr>
            <a:r>
              <a:rPr lang="fr-FR" sz="1800" dirty="0"/>
              <a:t>Essayez de trouver, dans les interfaces fonctionnelles vues, celle qui pourrait convenir (et adaptez votre solution).</a:t>
            </a:r>
          </a:p>
        </p:txBody>
      </p:sp>
      <p:pic>
        <p:nvPicPr>
          <p:cNvPr id="6" name="Picture 2" descr="blog-nutrition-outlet">
            <a:extLst>
              <a:ext uri="{FF2B5EF4-FFF2-40B4-BE49-F238E27FC236}">
                <a16:creationId xmlns:a16="http://schemas.microsoft.com/office/drawing/2014/main" id="{232BBB77-0067-B167-B5AF-1CA332DBF81A}"/>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9793621" y="1"/>
            <a:ext cx="1968936" cy="1968936"/>
          </a:xfrm>
          <a:prstGeom prst="rect">
            <a:avLst/>
          </a:prstGeom>
          <a:noFill/>
          <a:extLst>
            <a:ext uri="{909E8E84-426E-40DD-AFC4-6F175D3DCCD1}">
              <a14:hiddenFill xmlns:a14="http://schemas.microsoft.com/office/drawing/2010/main">
                <a:solidFill>
                  <a:srgbClr val="FFFFFF"/>
                </a:solidFill>
              </a14:hiddenFill>
            </a:ext>
          </a:extLst>
        </p:spPr>
      </p:pic>
      <p:sp>
        <p:nvSpPr>
          <p:cNvPr id="7" name="Espace réservé du numéro de diapositive 6">
            <a:extLst>
              <a:ext uri="{FF2B5EF4-FFF2-40B4-BE49-F238E27FC236}">
                <a16:creationId xmlns:a16="http://schemas.microsoft.com/office/drawing/2014/main" id="{85FB5FD2-F08D-DA3F-00D3-220C285D7543}"/>
              </a:ext>
            </a:extLst>
          </p:cNvPr>
          <p:cNvSpPr>
            <a:spLocks noGrp="1"/>
          </p:cNvSpPr>
          <p:nvPr>
            <p:ph type="sldNum" sz="quarter" idx="4"/>
          </p:nvPr>
        </p:nvSpPr>
        <p:spPr/>
        <p:txBody>
          <a:bodyPr/>
          <a:lstStyle/>
          <a:p>
            <a:fld id="{33C783E2-4793-4F48-A271-51A73CC37D74}" type="slidenum">
              <a:rPr lang="fr-FR" smtClean="0"/>
              <a:t>97</a:t>
            </a:fld>
            <a:endParaRPr lang="fr-FR"/>
          </a:p>
        </p:txBody>
      </p:sp>
    </p:spTree>
    <p:extLst>
      <p:ext uri="{BB962C8B-B14F-4D97-AF65-F5344CB8AC3E}">
        <p14:creationId xmlns:p14="http://schemas.microsoft.com/office/powerpoint/2010/main" val="267475349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Exercice 42</a:t>
            </a:r>
          </a:p>
        </p:txBody>
      </p:sp>
      <p:sp>
        <p:nvSpPr>
          <p:cNvPr id="3" name="Espace réservé du contenu 2"/>
          <p:cNvSpPr>
            <a:spLocks noGrp="1"/>
          </p:cNvSpPr>
          <p:nvPr>
            <p:ph idx="1"/>
          </p:nvPr>
        </p:nvSpPr>
        <p:spPr/>
        <p:txBody>
          <a:bodyPr>
            <a:noAutofit/>
          </a:bodyPr>
          <a:lstStyle/>
          <a:p>
            <a:pPr marL="0" indent="0">
              <a:lnSpc>
                <a:spcPct val="100000"/>
              </a:lnSpc>
              <a:buNone/>
            </a:pPr>
            <a:r>
              <a:rPr lang="fr-FR" sz="2000" dirty="0"/>
              <a:t>Adaptez le programme précédent pour aussi afficher les négatifs et les pairs.</a:t>
            </a:r>
          </a:p>
          <a:p>
            <a:pPr marL="0" indent="0">
              <a:lnSpc>
                <a:spcPct val="100000"/>
              </a:lnSpc>
              <a:buNone/>
            </a:pPr>
            <a:r>
              <a:rPr lang="fr-FR" sz="2000" dirty="0"/>
              <a:t>Le programme donnera la sortie suivante:</a:t>
            </a:r>
          </a:p>
          <a:p>
            <a:pPr marL="0" indent="0">
              <a:lnSpc>
                <a:spcPct val="100000"/>
              </a:lnSpc>
              <a:buNone/>
            </a:pPr>
            <a:r>
              <a:rPr lang="fr-FR" sz="1800" dirty="0">
                <a:solidFill>
                  <a:schemeClr val="accent4"/>
                </a:solidFill>
                <a:latin typeface="Consolas"/>
                <a:cs typeface="Consolas"/>
              </a:rPr>
              <a:t>Les positifs:</a:t>
            </a:r>
            <a:br>
              <a:rPr lang="fr-FR" sz="1800" dirty="0">
                <a:solidFill>
                  <a:schemeClr val="accent4"/>
                </a:solidFill>
                <a:latin typeface="Consolas"/>
                <a:cs typeface="Consolas"/>
              </a:rPr>
            </a:br>
            <a:r>
              <a:rPr lang="fr-FR" sz="1800" dirty="0">
                <a:solidFill>
                  <a:schemeClr val="accent4"/>
                </a:solidFill>
                <a:latin typeface="Consolas"/>
                <a:cs typeface="Consolas"/>
              </a:rPr>
              <a:t>1 4 5 2</a:t>
            </a:r>
            <a:br>
              <a:rPr lang="fr-FR" sz="1800" dirty="0">
                <a:solidFill>
                  <a:schemeClr val="accent4"/>
                </a:solidFill>
                <a:latin typeface="Consolas"/>
                <a:cs typeface="Consolas"/>
              </a:rPr>
            </a:br>
            <a:r>
              <a:rPr lang="fr-FR" sz="1800" dirty="0">
                <a:solidFill>
                  <a:schemeClr val="accent4"/>
                </a:solidFill>
                <a:latin typeface="Consolas"/>
                <a:cs typeface="Consolas"/>
              </a:rPr>
              <a:t>Les négatifs:</a:t>
            </a:r>
            <a:br>
              <a:rPr lang="fr-FR" sz="1800" dirty="0">
                <a:solidFill>
                  <a:schemeClr val="accent4"/>
                </a:solidFill>
                <a:latin typeface="Consolas"/>
                <a:cs typeface="Consolas"/>
              </a:rPr>
            </a:br>
            <a:r>
              <a:rPr lang="fr-FR" sz="1800" dirty="0">
                <a:solidFill>
                  <a:schemeClr val="accent4"/>
                </a:solidFill>
                <a:latin typeface="Consolas"/>
                <a:cs typeface="Consolas"/>
              </a:rPr>
              <a:t>-9 -7 -3</a:t>
            </a:r>
            <a:br>
              <a:rPr lang="fr-FR" sz="1800" dirty="0">
                <a:solidFill>
                  <a:schemeClr val="accent4"/>
                </a:solidFill>
                <a:latin typeface="Consolas"/>
                <a:cs typeface="Consolas"/>
              </a:rPr>
            </a:br>
            <a:r>
              <a:rPr lang="fr-FR" sz="1800" dirty="0">
                <a:solidFill>
                  <a:schemeClr val="accent4"/>
                </a:solidFill>
                <a:latin typeface="Consolas"/>
                <a:cs typeface="Consolas"/>
              </a:rPr>
              <a:t>Les pairs:</a:t>
            </a:r>
            <a:br>
              <a:rPr lang="fr-FR" sz="1800" dirty="0">
                <a:solidFill>
                  <a:schemeClr val="accent4"/>
                </a:solidFill>
                <a:latin typeface="Consolas"/>
                <a:cs typeface="Consolas"/>
              </a:rPr>
            </a:br>
            <a:r>
              <a:rPr lang="fr-FR" sz="1800" dirty="0">
                <a:solidFill>
                  <a:schemeClr val="accent4"/>
                </a:solidFill>
                <a:latin typeface="Consolas"/>
                <a:cs typeface="Consolas"/>
              </a:rPr>
              <a:t>4 2</a:t>
            </a:r>
            <a:endParaRPr lang="fr-FR" sz="1800" dirty="0">
              <a:solidFill>
                <a:schemeClr val="accent4"/>
              </a:solidFill>
            </a:endParaRPr>
          </a:p>
          <a:p>
            <a:pPr marL="0" indent="0">
              <a:lnSpc>
                <a:spcPct val="100000"/>
              </a:lnSpc>
              <a:buNone/>
            </a:pPr>
            <a:r>
              <a:rPr lang="fr-FR" sz="2000" dirty="0"/>
              <a:t>Utilisez des expressions lambda pour passer le critère de sélection.</a:t>
            </a:r>
          </a:p>
          <a:p>
            <a:pPr marL="0" indent="0">
              <a:lnSpc>
                <a:spcPct val="100000"/>
              </a:lnSpc>
              <a:buNone/>
            </a:pPr>
            <a:endParaRPr lang="fr-FR" sz="2000" dirty="0"/>
          </a:p>
          <a:p>
            <a:pPr marL="0" indent="0">
              <a:lnSpc>
                <a:spcPct val="100000"/>
              </a:lnSpc>
              <a:buNone/>
            </a:pPr>
            <a:r>
              <a:rPr lang="fr-FR" sz="2000" dirty="0"/>
              <a:t>Ensuite, définissez les méthodes de filtrage dans la classe </a:t>
            </a:r>
            <a:r>
              <a:rPr lang="fr-FR" sz="1800" dirty="0">
                <a:solidFill>
                  <a:schemeClr val="accent4"/>
                </a:solidFill>
                <a:latin typeface="Consolas"/>
                <a:cs typeface="Consolas"/>
              </a:rPr>
              <a:t>Affichage</a:t>
            </a:r>
            <a:r>
              <a:rPr lang="fr-FR" sz="2000" dirty="0"/>
              <a:t> et utilisez des références de méthodes plutôt que des </a:t>
            </a:r>
            <a:r>
              <a:rPr lang="fr-FR" sz="2000" dirty="0" err="1"/>
              <a:t>lambdas</a:t>
            </a:r>
            <a:r>
              <a:rPr lang="fr-FR" sz="2000" dirty="0"/>
              <a:t>…</a:t>
            </a:r>
          </a:p>
        </p:txBody>
      </p:sp>
      <p:pic>
        <p:nvPicPr>
          <p:cNvPr id="6" name="Picture 2" descr="blog-nutrition-outlet">
            <a:extLst>
              <a:ext uri="{FF2B5EF4-FFF2-40B4-BE49-F238E27FC236}">
                <a16:creationId xmlns:a16="http://schemas.microsoft.com/office/drawing/2014/main" id="{CCE19B8B-AC15-3F42-AABE-3A8849830B7B}"/>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9793621" y="1"/>
            <a:ext cx="1968936" cy="1968936"/>
          </a:xfrm>
          <a:prstGeom prst="rect">
            <a:avLst/>
          </a:prstGeom>
          <a:noFill/>
          <a:extLst>
            <a:ext uri="{909E8E84-426E-40DD-AFC4-6F175D3DCCD1}">
              <a14:hiddenFill xmlns:a14="http://schemas.microsoft.com/office/drawing/2010/main">
                <a:solidFill>
                  <a:srgbClr val="FFFFFF"/>
                </a:solidFill>
              </a14:hiddenFill>
            </a:ext>
          </a:extLst>
        </p:spPr>
      </p:pic>
      <p:sp>
        <p:nvSpPr>
          <p:cNvPr id="7" name="Espace réservé du numéro de diapositive 6">
            <a:extLst>
              <a:ext uri="{FF2B5EF4-FFF2-40B4-BE49-F238E27FC236}">
                <a16:creationId xmlns:a16="http://schemas.microsoft.com/office/drawing/2014/main" id="{80B0EB48-ED3A-84C4-772B-03B01D2BA4BE}"/>
              </a:ext>
            </a:extLst>
          </p:cNvPr>
          <p:cNvSpPr>
            <a:spLocks noGrp="1"/>
          </p:cNvSpPr>
          <p:nvPr>
            <p:ph type="sldNum" sz="quarter" idx="4"/>
          </p:nvPr>
        </p:nvSpPr>
        <p:spPr/>
        <p:txBody>
          <a:bodyPr/>
          <a:lstStyle/>
          <a:p>
            <a:fld id="{33C783E2-4793-4F48-A271-51A73CC37D74}" type="slidenum">
              <a:rPr lang="fr-FR" smtClean="0"/>
              <a:t>98</a:t>
            </a:fld>
            <a:endParaRPr lang="fr-FR"/>
          </a:p>
        </p:txBody>
      </p:sp>
    </p:spTree>
    <p:extLst>
      <p:ext uri="{BB962C8B-B14F-4D97-AF65-F5344CB8AC3E}">
        <p14:creationId xmlns:p14="http://schemas.microsoft.com/office/powerpoint/2010/main" val="3289225581"/>
      </p:ext>
    </p:extLst>
  </p:cSld>
  <p:clrMapOvr>
    <a:masterClrMapping/>
  </p:clrMapOvr>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ThemeEphec2022</Template>
  <TotalTime>77981</TotalTime>
  <Words>7759</Words>
  <Application>Microsoft Macintosh PowerPoint</Application>
  <PresentationFormat>Grand écran</PresentationFormat>
  <Paragraphs>786</Paragraphs>
  <Slides>98</Slides>
  <Notes>5</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98</vt:i4>
      </vt:variant>
    </vt:vector>
  </HeadingPairs>
  <TitlesOfParts>
    <vt:vector size="104" baseType="lpstr">
      <vt:lpstr>Arial</vt:lpstr>
      <vt:lpstr>Calibri</vt:lpstr>
      <vt:lpstr>Consolas</vt:lpstr>
      <vt:lpstr>Corbel</vt:lpstr>
      <vt:lpstr>Wingdings</vt:lpstr>
      <vt:lpstr>ThemeEphec2022</vt:lpstr>
      <vt:lpstr>JAVA 2</vt:lpstr>
      <vt:lpstr>Vu au dernier cours…</vt:lpstr>
      <vt:lpstr>Présentation PowerPoint</vt:lpstr>
      <vt:lpstr>Présentation PowerPoint</vt:lpstr>
      <vt:lpstr>Exercice 43: écrivez les autres tests…</vt:lpstr>
      <vt:lpstr>Exercice 44</vt:lpstr>
      <vt:lpstr>Exercice 45</vt:lpstr>
      <vt:lpstr>Présentation PowerPoint</vt:lpstr>
      <vt:lpstr>Types génériques</vt:lpstr>
      <vt:lpstr>Les types génériques</vt:lpstr>
      <vt:lpstr>Les types génériques</vt:lpstr>
      <vt:lpstr>Types génériques</vt:lpstr>
      <vt:lpstr>Exemple de classe générique</vt:lpstr>
      <vt:lpstr>Exemple de classe générique</vt:lpstr>
      <vt:lpstr>Exemple avec une classe générique</vt:lpstr>
      <vt:lpstr>Exemple de classe générique</vt:lpstr>
      <vt:lpstr>Utilisation de classe générique</vt:lpstr>
      <vt:lpstr>Utilisation de classe générique</vt:lpstr>
      <vt:lpstr>Avec ou sans type générique…</vt:lpstr>
      <vt:lpstr>Exercice 34</vt:lpstr>
      <vt:lpstr>Types génériques</vt:lpstr>
      <vt:lpstr>Classe générique à deux types</vt:lpstr>
      <vt:lpstr>Exercice 35</vt:lpstr>
      <vt:lpstr>Convention sur les noms de types</vt:lpstr>
      <vt:lpstr>Types génériques</vt:lpstr>
      <vt:lpstr>Que se passe-t-il à la compilation?</vt:lpstr>
      <vt:lpstr>Compilation de la classe générique</vt:lpstr>
      <vt:lpstr>Compilation de la classe client</vt:lpstr>
      <vt:lpstr>Quelques limitations des types génériques</vt:lpstr>
      <vt:lpstr>Quelques limitations des types génériques</vt:lpstr>
      <vt:lpstr>Types génériques</vt:lpstr>
      <vt:lpstr>Méthodes génériques</vt:lpstr>
      <vt:lpstr>Méthodes génériques</vt:lpstr>
      <vt:lpstr>Types génériques</vt:lpstr>
      <vt:lpstr>Limitations sur le type &lt;T&gt;…</vt:lpstr>
      <vt:lpstr>Limitations sur le type &lt;T&gt; d’une classe</vt:lpstr>
      <vt:lpstr>Limitations sur le type &lt;T&gt; d’une méthode</vt:lpstr>
      <vt:lpstr>Le type &lt;T&gt; doit implémenter une interface</vt:lpstr>
      <vt:lpstr>Types génériques</vt:lpstr>
      <vt:lpstr>Héritage entre types Génériques</vt:lpstr>
      <vt:lpstr>Héritages non possibles</vt:lpstr>
      <vt:lpstr>Un cas particulier…</vt:lpstr>
      <vt:lpstr>Un cas particulier…</vt:lpstr>
      <vt:lpstr>Un cas particulier…</vt:lpstr>
      <vt:lpstr>Un cas particulier…</vt:lpstr>
      <vt:lpstr>Solution: les Jokers (wildcards)</vt:lpstr>
      <vt:lpstr>Les Jokers</vt:lpstr>
      <vt:lpstr>Les Jokers</vt:lpstr>
      <vt:lpstr>Les Jokers</vt:lpstr>
      <vt:lpstr>D’autres références</vt:lpstr>
      <vt:lpstr>Exercices</vt:lpstr>
      <vt:lpstr>Exercice 36</vt:lpstr>
      <vt:lpstr>Exercice 37</vt:lpstr>
      <vt:lpstr>Exercice 38</vt:lpstr>
      <vt:lpstr>Exercice 39</vt:lpstr>
      <vt:lpstr>Présentation PowerPoint</vt:lpstr>
      <vt:lpstr>Expressions Lambda</vt:lpstr>
      <vt:lpstr>Partons d’une situation pratique…</vt:lpstr>
      <vt:lpstr>Filtrer les melons par type</vt:lpstr>
      <vt:lpstr>Filtrer les melons selon leur poids</vt:lpstr>
      <vt:lpstr>Filtrer les melons par type et poids</vt:lpstr>
      <vt:lpstr>Il est temps de réfléchir…</vt:lpstr>
      <vt:lpstr>Comment passer le critère?</vt:lpstr>
      <vt:lpstr>Nos critères en pratique</vt:lpstr>
      <vt:lpstr>Dans notre Filtre…</vt:lpstr>
      <vt:lpstr>Mais ce n’est pas tout…</vt:lpstr>
      <vt:lpstr>Nous utilisons donc des classes anonymes.</vt:lpstr>
      <vt:lpstr>Expressions Lambda</vt:lpstr>
      <vt:lpstr>On peut encore faire mieux…</vt:lpstr>
      <vt:lpstr>Une classe anonyme peut parfois être remplacée par une expression Lambda</vt:lpstr>
      <vt:lpstr>Anatomie d'une Expression Lambda</vt:lpstr>
      <vt:lpstr>Expressions Lambda</vt:lpstr>
      <vt:lpstr>Interface fonctionnelle</vt:lpstr>
      <vt:lpstr>Exemple et contre-exemple</vt:lpstr>
      <vt:lpstr>L’annotation @FonctionalInterface</vt:lpstr>
      <vt:lpstr>Quelques exemples d’Interfaces fonctionnelles</vt:lpstr>
      <vt:lpstr>Et quelques-unes plus génériques</vt:lpstr>
      <vt:lpstr>Expressions Lambda</vt:lpstr>
      <vt:lpstr>Premier exemple pratique</vt:lpstr>
      <vt:lpstr>Premier exemple pratique</vt:lpstr>
      <vt:lpstr>Premier exemple pratique</vt:lpstr>
      <vt:lpstr>Quelques remarques</vt:lpstr>
      <vt:lpstr>Deuxième exemple pratique</vt:lpstr>
      <vt:lpstr>Deuxième exemple pratique</vt:lpstr>
      <vt:lpstr>Deuxième exemple pratique</vt:lpstr>
      <vt:lpstr>Deuxième exemple pratique</vt:lpstr>
      <vt:lpstr>Deuxième exemple pratique</vt:lpstr>
      <vt:lpstr>Exercice 40</vt:lpstr>
      <vt:lpstr>Expressions Lambda</vt:lpstr>
      <vt:lpstr>Références de méthodes</vt:lpstr>
      <vt:lpstr>Références de méthodes</vt:lpstr>
      <vt:lpstr>Références de méthodes</vt:lpstr>
      <vt:lpstr>Références de méthodes</vt:lpstr>
      <vt:lpstr>Références de méthodes</vt:lpstr>
      <vt:lpstr>Un peu plus?</vt:lpstr>
      <vt:lpstr>Exercices</vt:lpstr>
      <vt:lpstr>Exercice 41</vt:lpstr>
      <vt:lpstr>Exercice 42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50</cp:revision>
  <dcterms:created xsi:type="dcterms:W3CDTF">2023-01-04T13:50:20Z</dcterms:created>
  <dcterms:modified xsi:type="dcterms:W3CDTF">2026-03-18T16:30:26Z</dcterms:modified>
</cp:coreProperties>
</file>