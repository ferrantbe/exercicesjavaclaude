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7"/>
  </p:notesMasterIdLst>
  <p:sldIdLst>
    <p:sldId id="256" r:id="rId2"/>
    <p:sldId id="679" r:id="rId3"/>
    <p:sldId id="784" r:id="rId4"/>
    <p:sldId id="848" r:id="rId5"/>
    <p:sldId id="849" r:id="rId6"/>
    <p:sldId id="746" r:id="rId7"/>
    <p:sldId id="648" r:id="rId8"/>
    <p:sldId id="650" r:id="rId9"/>
    <p:sldId id="645" r:id="rId10"/>
    <p:sldId id="646" r:id="rId11"/>
    <p:sldId id="647" r:id="rId12"/>
    <p:sldId id="816" r:id="rId13"/>
    <p:sldId id="817" r:id="rId14"/>
    <p:sldId id="544" r:id="rId15"/>
    <p:sldId id="651" r:id="rId16"/>
    <p:sldId id="615" r:id="rId17"/>
    <p:sldId id="652" r:id="rId18"/>
    <p:sldId id="818" r:id="rId19"/>
    <p:sldId id="819" r:id="rId20"/>
    <p:sldId id="685" r:id="rId21"/>
    <p:sldId id="820" r:id="rId22"/>
    <p:sldId id="821" r:id="rId23"/>
    <p:sldId id="822" r:id="rId24"/>
    <p:sldId id="823" r:id="rId25"/>
    <p:sldId id="824" r:id="rId26"/>
    <p:sldId id="825" r:id="rId27"/>
    <p:sldId id="826" r:id="rId28"/>
    <p:sldId id="674" r:id="rId29"/>
    <p:sldId id="847" r:id="rId30"/>
    <p:sldId id="846" r:id="rId31"/>
    <p:sldId id="827" r:id="rId32"/>
    <p:sldId id="797" r:id="rId33"/>
    <p:sldId id="798" r:id="rId34"/>
    <p:sldId id="828" r:id="rId35"/>
    <p:sldId id="799" r:id="rId36"/>
    <p:sldId id="800" r:id="rId37"/>
    <p:sldId id="829" r:id="rId38"/>
    <p:sldId id="830" r:id="rId39"/>
    <p:sldId id="831" r:id="rId40"/>
    <p:sldId id="832" r:id="rId41"/>
    <p:sldId id="667" r:id="rId42"/>
    <p:sldId id="833" r:id="rId43"/>
    <p:sldId id="834" r:id="rId44"/>
    <p:sldId id="835" r:id="rId45"/>
    <p:sldId id="836" r:id="rId46"/>
    <p:sldId id="837" r:id="rId47"/>
    <p:sldId id="838" r:id="rId48"/>
    <p:sldId id="811" r:id="rId49"/>
    <p:sldId id="839" r:id="rId50"/>
    <p:sldId id="840" r:id="rId51"/>
    <p:sldId id="841" r:id="rId52"/>
    <p:sldId id="842" r:id="rId53"/>
    <p:sldId id="843" r:id="rId54"/>
    <p:sldId id="678" r:id="rId55"/>
    <p:sldId id="844" r:id="rId5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appels et Exercice" id="{9A02D4CA-36D1-0242-9570-74B9915D5B21}">
          <p14:sldIdLst>
            <p14:sldId id="256"/>
            <p14:sldId id="679"/>
          </p14:sldIdLst>
        </p14:section>
        <p14:section name="Exercices" id="{F42446ED-B239-4044-895F-045168339FFC}">
          <p14:sldIdLst>
            <p14:sldId id="784"/>
            <p14:sldId id="848"/>
            <p14:sldId id="849"/>
            <p14:sldId id="746"/>
            <p14:sldId id="648"/>
            <p14:sldId id="650"/>
            <p14:sldId id="645"/>
            <p14:sldId id="646"/>
            <p14:sldId id="647"/>
          </p14:sldIdLst>
        </p14:section>
        <p14:section name="Tests Unitaires" id="{7FECEA4C-01CC-644D-96BB-E6D4CEBC9E0D}">
          <p14:sldIdLst>
            <p14:sldId id="816"/>
            <p14:sldId id="817"/>
            <p14:sldId id="544"/>
            <p14:sldId id="651"/>
            <p14:sldId id="615"/>
            <p14:sldId id="652"/>
            <p14:sldId id="818"/>
            <p14:sldId id="819"/>
            <p14:sldId id="685"/>
            <p14:sldId id="820"/>
            <p14:sldId id="821"/>
            <p14:sldId id="822"/>
            <p14:sldId id="823"/>
            <p14:sldId id="824"/>
            <p14:sldId id="825"/>
            <p14:sldId id="826"/>
            <p14:sldId id="674"/>
            <p14:sldId id="847"/>
            <p14:sldId id="846"/>
            <p14:sldId id="827"/>
            <p14:sldId id="797"/>
            <p14:sldId id="798"/>
            <p14:sldId id="828"/>
            <p14:sldId id="799"/>
            <p14:sldId id="800"/>
            <p14:sldId id="829"/>
            <p14:sldId id="830"/>
            <p14:sldId id="831"/>
            <p14:sldId id="832"/>
            <p14:sldId id="667"/>
            <p14:sldId id="833"/>
            <p14:sldId id="834"/>
            <p14:sldId id="835"/>
            <p14:sldId id="836"/>
            <p14:sldId id="837"/>
            <p14:sldId id="838"/>
            <p14:sldId id="811"/>
            <p14:sldId id="839"/>
            <p14:sldId id="840"/>
            <p14:sldId id="841"/>
            <p14:sldId id="842"/>
            <p14:sldId id="843"/>
            <p14:sldId id="678"/>
            <p14:sldId id="844"/>
          </p14:sldIdLst>
        </p14:section>
        <p14:section name="JavaFX - Calculatrice" id="{EDC635EF-1074-B345-BB59-2561197BD4F4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2533"/>
    <a:srgbClr val="2B2B2B"/>
    <a:srgbClr val="2C72B3"/>
    <a:srgbClr val="70AD47"/>
    <a:srgbClr val="B3AF82"/>
    <a:srgbClr val="0102EF"/>
    <a:srgbClr val="2C91AF"/>
    <a:srgbClr val="2968A2"/>
    <a:srgbClr val="2866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767"/>
    <p:restoredTop sz="96327"/>
  </p:normalViewPr>
  <p:slideViewPr>
    <p:cSldViewPr snapToGrid="0">
      <p:cViewPr varScale="1">
        <p:scale>
          <a:sx n="120" d="100"/>
          <a:sy n="120" d="100"/>
        </p:scale>
        <p:origin x="18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341E51-E074-7A41-970F-9DA9AAED5A7B}" type="doc">
      <dgm:prSet loTypeId="urn:microsoft.com/office/officeart/2005/8/layout/pyramid1" loCatId="pyramid" qsTypeId="urn:microsoft.com/office/officeart/2005/8/quickstyle/3d5" qsCatId="3D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2D64241C-CD68-1C42-90FC-E41AF0A04F0A}">
      <dgm:prSet/>
      <dgm:spPr/>
      <dgm:t>
        <a:bodyPr/>
        <a:lstStyle/>
        <a:p>
          <a:r>
            <a:rPr lang="fr-FR" b="1" dirty="0">
              <a:solidFill>
                <a:schemeClr val="accent5"/>
              </a:solidFill>
              <a:highlight>
                <a:srgbClr val="FFFFFF"/>
              </a:highlight>
            </a:rPr>
            <a:t>UAT</a:t>
          </a:r>
          <a:endParaRPr lang="fr-BE" b="1" dirty="0">
            <a:solidFill>
              <a:schemeClr val="accent5"/>
            </a:solidFill>
            <a:highlight>
              <a:srgbClr val="FFFFFF"/>
            </a:highlight>
          </a:endParaRPr>
        </a:p>
      </dgm:t>
    </dgm:pt>
    <dgm:pt modelId="{D6A987B1-1F04-224C-8214-52F8622F445F}" type="parTrans" cxnId="{F0E55E02-A65A-424D-B5E2-7DF9934EC79E}">
      <dgm:prSet/>
      <dgm:spPr/>
      <dgm:t>
        <a:bodyPr/>
        <a:lstStyle/>
        <a:p>
          <a:endParaRPr lang="fr-FR" b="1"/>
        </a:p>
      </dgm:t>
    </dgm:pt>
    <dgm:pt modelId="{81BC721F-BC80-584E-854D-827A6276F069}" type="sibTrans" cxnId="{F0E55E02-A65A-424D-B5E2-7DF9934EC79E}">
      <dgm:prSet/>
      <dgm:spPr/>
      <dgm:t>
        <a:bodyPr/>
        <a:lstStyle/>
        <a:p>
          <a:endParaRPr lang="fr-FR" b="1"/>
        </a:p>
      </dgm:t>
    </dgm:pt>
    <dgm:pt modelId="{FEE0D38C-3F56-A048-B79E-0AC6E1E1DBD0}">
      <dgm:prSet/>
      <dgm:spPr/>
      <dgm:t>
        <a:bodyPr/>
        <a:lstStyle/>
        <a:p>
          <a:r>
            <a:rPr lang="fr-FR" b="1" dirty="0"/>
            <a:t>Test unitaire</a:t>
          </a:r>
          <a:endParaRPr lang="fr-BE" b="1" dirty="0"/>
        </a:p>
      </dgm:t>
    </dgm:pt>
    <dgm:pt modelId="{413E9FA6-5ADE-8C49-A623-3B38D17062D8}" type="parTrans" cxnId="{F2FDE296-AB77-F944-BD23-38811896CB1F}">
      <dgm:prSet/>
      <dgm:spPr/>
      <dgm:t>
        <a:bodyPr/>
        <a:lstStyle/>
        <a:p>
          <a:endParaRPr lang="fr-FR" b="1"/>
        </a:p>
      </dgm:t>
    </dgm:pt>
    <dgm:pt modelId="{65CD3810-DEEF-4244-9ECC-46464263CF21}" type="sibTrans" cxnId="{F2FDE296-AB77-F944-BD23-38811896CB1F}">
      <dgm:prSet/>
      <dgm:spPr/>
      <dgm:t>
        <a:bodyPr/>
        <a:lstStyle/>
        <a:p>
          <a:endParaRPr lang="fr-FR" b="1"/>
        </a:p>
      </dgm:t>
    </dgm:pt>
    <dgm:pt modelId="{687AE9C5-B74E-D241-BF1C-B782D8A64D77}">
      <dgm:prSet/>
      <dgm:spPr/>
      <dgm:t>
        <a:bodyPr/>
        <a:lstStyle/>
        <a:p>
          <a:r>
            <a:rPr lang="fr-FR" b="1" dirty="0"/>
            <a:t>Test d’intégration</a:t>
          </a:r>
          <a:endParaRPr lang="fr-BE" b="1" dirty="0"/>
        </a:p>
      </dgm:t>
    </dgm:pt>
    <dgm:pt modelId="{CE23868D-6A27-2F46-9179-7DB186AEEC06}" type="parTrans" cxnId="{9F716F6B-8175-744D-AD75-253A83745982}">
      <dgm:prSet/>
      <dgm:spPr/>
      <dgm:t>
        <a:bodyPr/>
        <a:lstStyle/>
        <a:p>
          <a:endParaRPr lang="fr-FR" b="1"/>
        </a:p>
      </dgm:t>
    </dgm:pt>
    <dgm:pt modelId="{94331CA5-F702-9943-B02B-92166AEF7360}" type="sibTrans" cxnId="{9F716F6B-8175-744D-AD75-253A83745982}">
      <dgm:prSet/>
      <dgm:spPr/>
      <dgm:t>
        <a:bodyPr/>
        <a:lstStyle/>
        <a:p>
          <a:endParaRPr lang="fr-FR" b="1"/>
        </a:p>
      </dgm:t>
    </dgm:pt>
    <dgm:pt modelId="{FFBF0382-7C50-454B-B377-FB2E728FFB33}">
      <dgm:prSet/>
      <dgm:spPr/>
      <dgm:t>
        <a:bodyPr/>
        <a:lstStyle/>
        <a:p>
          <a:r>
            <a:rPr lang="fr-FR" b="1" dirty="0"/>
            <a:t>Test système</a:t>
          </a:r>
          <a:endParaRPr lang="fr-BE" b="1" dirty="0"/>
        </a:p>
      </dgm:t>
    </dgm:pt>
    <dgm:pt modelId="{A609520F-0A02-8240-BC02-1C28ED783609}" type="parTrans" cxnId="{25163510-0BE7-BB4F-B856-6D8F2CD4B63D}">
      <dgm:prSet/>
      <dgm:spPr/>
      <dgm:t>
        <a:bodyPr/>
        <a:lstStyle/>
        <a:p>
          <a:endParaRPr lang="fr-FR" b="1"/>
        </a:p>
      </dgm:t>
    </dgm:pt>
    <dgm:pt modelId="{919CEE95-0C0B-8647-8AFA-42FFB82EBB6E}" type="sibTrans" cxnId="{25163510-0BE7-BB4F-B856-6D8F2CD4B63D}">
      <dgm:prSet/>
      <dgm:spPr/>
      <dgm:t>
        <a:bodyPr/>
        <a:lstStyle/>
        <a:p>
          <a:endParaRPr lang="fr-FR" b="1"/>
        </a:p>
      </dgm:t>
    </dgm:pt>
    <dgm:pt modelId="{3C0C6269-3DF7-4944-A385-0946C3DD0EF9}" type="pres">
      <dgm:prSet presAssocID="{1E341E51-E074-7A41-970F-9DA9AAED5A7B}" presName="Name0" presStyleCnt="0">
        <dgm:presLayoutVars>
          <dgm:dir/>
          <dgm:animLvl val="lvl"/>
          <dgm:resizeHandles val="exact"/>
        </dgm:presLayoutVars>
      </dgm:prSet>
      <dgm:spPr/>
    </dgm:pt>
    <dgm:pt modelId="{762E89B6-D520-D24B-AEBE-D6D8F02F901C}" type="pres">
      <dgm:prSet presAssocID="{2D64241C-CD68-1C42-90FC-E41AF0A04F0A}" presName="Name8" presStyleCnt="0"/>
      <dgm:spPr/>
    </dgm:pt>
    <dgm:pt modelId="{4B892A79-8B83-3C4F-AA8D-B768B2FD30D8}" type="pres">
      <dgm:prSet presAssocID="{2D64241C-CD68-1C42-90FC-E41AF0A04F0A}" presName="level" presStyleLbl="node1" presStyleIdx="0" presStyleCnt="4">
        <dgm:presLayoutVars>
          <dgm:chMax val="1"/>
          <dgm:bulletEnabled val="1"/>
        </dgm:presLayoutVars>
      </dgm:prSet>
      <dgm:spPr/>
    </dgm:pt>
    <dgm:pt modelId="{94796CA9-C33A-DE4F-99D7-56230E8F7797}" type="pres">
      <dgm:prSet presAssocID="{2D64241C-CD68-1C42-90FC-E41AF0A04F0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1D5A2025-75A3-8842-BA10-A60220383EDC}" type="pres">
      <dgm:prSet presAssocID="{FFBF0382-7C50-454B-B377-FB2E728FFB33}" presName="Name8" presStyleCnt="0"/>
      <dgm:spPr/>
    </dgm:pt>
    <dgm:pt modelId="{9AA91556-3529-C04F-9A27-675AFBEF3BBF}" type="pres">
      <dgm:prSet presAssocID="{FFBF0382-7C50-454B-B377-FB2E728FFB33}" presName="level" presStyleLbl="node1" presStyleIdx="1" presStyleCnt="4">
        <dgm:presLayoutVars>
          <dgm:chMax val="1"/>
          <dgm:bulletEnabled val="1"/>
        </dgm:presLayoutVars>
      </dgm:prSet>
      <dgm:spPr/>
    </dgm:pt>
    <dgm:pt modelId="{50481D80-FD76-9C42-93BC-D26FAD6ED5CE}" type="pres">
      <dgm:prSet presAssocID="{FFBF0382-7C50-454B-B377-FB2E728FFB3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9D5EC38-479F-E145-BC15-6E939FC5CE31}" type="pres">
      <dgm:prSet presAssocID="{687AE9C5-B74E-D241-BF1C-B782D8A64D77}" presName="Name8" presStyleCnt="0"/>
      <dgm:spPr/>
    </dgm:pt>
    <dgm:pt modelId="{404C9B8E-D4F4-0749-B675-99EC850A4210}" type="pres">
      <dgm:prSet presAssocID="{687AE9C5-B74E-D241-BF1C-B782D8A64D77}" presName="level" presStyleLbl="node1" presStyleIdx="2" presStyleCnt="4">
        <dgm:presLayoutVars>
          <dgm:chMax val="1"/>
          <dgm:bulletEnabled val="1"/>
        </dgm:presLayoutVars>
      </dgm:prSet>
      <dgm:spPr/>
    </dgm:pt>
    <dgm:pt modelId="{21E19B4B-EE40-FF40-B3CE-13613E21AA70}" type="pres">
      <dgm:prSet presAssocID="{687AE9C5-B74E-D241-BF1C-B782D8A64D77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F1FB28B-8FF0-8144-A849-BC39B9730A53}" type="pres">
      <dgm:prSet presAssocID="{FEE0D38C-3F56-A048-B79E-0AC6E1E1DBD0}" presName="Name8" presStyleCnt="0"/>
      <dgm:spPr/>
    </dgm:pt>
    <dgm:pt modelId="{4BC0D5D9-043B-6A42-9CCC-C7C180818DB7}" type="pres">
      <dgm:prSet presAssocID="{FEE0D38C-3F56-A048-B79E-0AC6E1E1DBD0}" presName="level" presStyleLbl="node1" presStyleIdx="3" presStyleCnt="4">
        <dgm:presLayoutVars>
          <dgm:chMax val="1"/>
          <dgm:bulletEnabled val="1"/>
        </dgm:presLayoutVars>
      </dgm:prSet>
      <dgm:spPr/>
    </dgm:pt>
    <dgm:pt modelId="{9CCAAC41-FB68-1D43-811C-CC4126B25288}" type="pres">
      <dgm:prSet presAssocID="{FEE0D38C-3F56-A048-B79E-0AC6E1E1DBD0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F0E55E02-A65A-424D-B5E2-7DF9934EC79E}" srcId="{1E341E51-E074-7A41-970F-9DA9AAED5A7B}" destId="{2D64241C-CD68-1C42-90FC-E41AF0A04F0A}" srcOrd="0" destOrd="0" parTransId="{D6A987B1-1F04-224C-8214-52F8622F445F}" sibTransId="{81BC721F-BC80-584E-854D-827A6276F069}"/>
    <dgm:cxn modelId="{25163510-0BE7-BB4F-B856-6D8F2CD4B63D}" srcId="{1E341E51-E074-7A41-970F-9DA9AAED5A7B}" destId="{FFBF0382-7C50-454B-B377-FB2E728FFB33}" srcOrd="1" destOrd="0" parTransId="{A609520F-0A02-8240-BC02-1C28ED783609}" sibTransId="{919CEE95-0C0B-8647-8AFA-42FFB82EBB6E}"/>
    <dgm:cxn modelId="{5489D310-C4A9-9D4D-B374-9997881EA30A}" type="presOf" srcId="{2D64241C-CD68-1C42-90FC-E41AF0A04F0A}" destId="{94796CA9-C33A-DE4F-99D7-56230E8F7797}" srcOrd="1" destOrd="0" presId="urn:microsoft.com/office/officeart/2005/8/layout/pyramid1"/>
    <dgm:cxn modelId="{57D3A711-A5B2-5B48-A98D-0A0CBFB417B0}" type="presOf" srcId="{FFBF0382-7C50-454B-B377-FB2E728FFB33}" destId="{9AA91556-3529-C04F-9A27-675AFBEF3BBF}" srcOrd="0" destOrd="0" presId="urn:microsoft.com/office/officeart/2005/8/layout/pyramid1"/>
    <dgm:cxn modelId="{A90B601A-8697-B74E-AD5E-A64FD102872B}" type="presOf" srcId="{FEE0D38C-3F56-A048-B79E-0AC6E1E1DBD0}" destId="{9CCAAC41-FB68-1D43-811C-CC4126B25288}" srcOrd="1" destOrd="0" presId="urn:microsoft.com/office/officeart/2005/8/layout/pyramid1"/>
    <dgm:cxn modelId="{8AAC382D-8CF4-3B43-ACB7-96F4C7203064}" type="presOf" srcId="{2D64241C-CD68-1C42-90FC-E41AF0A04F0A}" destId="{4B892A79-8B83-3C4F-AA8D-B768B2FD30D8}" srcOrd="0" destOrd="0" presId="urn:microsoft.com/office/officeart/2005/8/layout/pyramid1"/>
    <dgm:cxn modelId="{E5621740-B8D6-C541-AB9B-61108291A23A}" type="presOf" srcId="{FEE0D38C-3F56-A048-B79E-0AC6E1E1DBD0}" destId="{4BC0D5D9-043B-6A42-9CCC-C7C180818DB7}" srcOrd="0" destOrd="0" presId="urn:microsoft.com/office/officeart/2005/8/layout/pyramid1"/>
    <dgm:cxn modelId="{C1A33F54-47F3-6B4F-AF85-25EBBCE6D573}" type="presOf" srcId="{687AE9C5-B74E-D241-BF1C-B782D8A64D77}" destId="{21E19B4B-EE40-FF40-B3CE-13613E21AA70}" srcOrd="1" destOrd="0" presId="urn:microsoft.com/office/officeart/2005/8/layout/pyramid1"/>
    <dgm:cxn modelId="{FD1F2A67-EFB1-1A4D-AF6C-7CECB93D83F7}" type="presOf" srcId="{1E341E51-E074-7A41-970F-9DA9AAED5A7B}" destId="{3C0C6269-3DF7-4944-A385-0946C3DD0EF9}" srcOrd="0" destOrd="0" presId="urn:microsoft.com/office/officeart/2005/8/layout/pyramid1"/>
    <dgm:cxn modelId="{9F716F6B-8175-744D-AD75-253A83745982}" srcId="{1E341E51-E074-7A41-970F-9DA9AAED5A7B}" destId="{687AE9C5-B74E-D241-BF1C-B782D8A64D77}" srcOrd="2" destOrd="0" parTransId="{CE23868D-6A27-2F46-9179-7DB186AEEC06}" sibTransId="{94331CA5-F702-9943-B02B-92166AEF7360}"/>
    <dgm:cxn modelId="{F2FDE296-AB77-F944-BD23-38811896CB1F}" srcId="{1E341E51-E074-7A41-970F-9DA9AAED5A7B}" destId="{FEE0D38C-3F56-A048-B79E-0AC6E1E1DBD0}" srcOrd="3" destOrd="0" parTransId="{413E9FA6-5ADE-8C49-A623-3B38D17062D8}" sibTransId="{65CD3810-DEEF-4244-9ECC-46464263CF21}"/>
    <dgm:cxn modelId="{7ED566A2-CF6D-0340-8AEB-D75BC2474CA5}" type="presOf" srcId="{FFBF0382-7C50-454B-B377-FB2E728FFB33}" destId="{50481D80-FD76-9C42-93BC-D26FAD6ED5CE}" srcOrd="1" destOrd="0" presId="urn:microsoft.com/office/officeart/2005/8/layout/pyramid1"/>
    <dgm:cxn modelId="{3B40D7DE-70D1-C849-B609-19C139BB4619}" type="presOf" srcId="{687AE9C5-B74E-D241-BF1C-B782D8A64D77}" destId="{404C9B8E-D4F4-0749-B675-99EC850A4210}" srcOrd="0" destOrd="0" presId="urn:microsoft.com/office/officeart/2005/8/layout/pyramid1"/>
    <dgm:cxn modelId="{C65162A2-D7CD-024B-B422-F8F825F5C164}" type="presParOf" srcId="{3C0C6269-3DF7-4944-A385-0946C3DD0EF9}" destId="{762E89B6-D520-D24B-AEBE-D6D8F02F901C}" srcOrd="0" destOrd="0" presId="urn:microsoft.com/office/officeart/2005/8/layout/pyramid1"/>
    <dgm:cxn modelId="{FEF339C4-9BEB-134E-BD58-8021BCDBD3BF}" type="presParOf" srcId="{762E89B6-D520-D24B-AEBE-D6D8F02F901C}" destId="{4B892A79-8B83-3C4F-AA8D-B768B2FD30D8}" srcOrd="0" destOrd="0" presId="urn:microsoft.com/office/officeart/2005/8/layout/pyramid1"/>
    <dgm:cxn modelId="{853DFC4C-5D51-0640-8F5C-7E19BB26F2A5}" type="presParOf" srcId="{762E89B6-D520-D24B-AEBE-D6D8F02F901C}" destId="{94796CA9-C33A-DE4F-99D7-56230E8F7797}" srcOrd="1" destOrd="0" presId="urn:microsoft.com/office/officeart/2005/8/layout/pyramid1"/>
    <dgm:cxn modelId="{02CFC2FF-7466-AA44-BF49-F8732C3CD8F2}" type="presParOf" srcId="{3C0C6269-3DF7-4944-A385-0946C3DD0EF9}" destId="{1D5A2025-75A3-8842-BA10-A60220383EDC}" srcOrd="1" destOrd="0" presId="urn:microsoft.com/office/officeart/2005/8/layout/pyramid1"/>
    <dgm:cxn modelId="{F0769DC3-717A-CC4D-B039-81A21053CE0A}" type="presParOf" srcId="{1D5A2025-75A3-8842-BA10-A60220383EDC}" destId="{9AA91556-3529-C04F-9A27-675AFBEF3BBF}" srcOrd="0" destOrd="0" presId="urn:microsoft.com/office/officeart/2005/8/layout/pyramid1"/>
    <dgm:cxn modelId="{04AB1F9C-A591-4B4E-90D9-6319D66AD6C0}" type="presParOf" srcId="{1D5A2025-75A3-8842-BA10-A60220383EDC}" destId="{50481D80-FD76-9C42-93BC-D26FAD6ED5CE}" srcOrd="1" destOrd="0" presId="urn:microsoft.com/office/officeart/2005/8/layout/pyramid1"/>
    <dgm:cxn modelId="{4D903BA7-9E17-B24D-BD5B-16F09799683A}" type="presParOf" srcId="{3C0C6269-3DF7-4944-A385-0946C3DD0EF9}" destId="{F9D5EC38-479F-E145-BC15-6E939FC5CE31}" srcOrd="2" destOrd="0" presId="urn:microsoft.com/office/officeart/2005/8/layout/pyramid1"/>
    <dgm:cxn modelId="{7D6F16E9-F915-3645-BBD1-4B5236D93271}" type="presParOf" srcId="{F9D5EC38-479F-E145-BC15-6E939FC5CE31}" destId="{404C9B8E-D4F4-0749-B675-99EC850A4210}" srcOrd="0" destOrd="0" presId="urn:microsoft.com/office/officeart/2005/8/layout/pyramid1"/>
    <dgm:cxn modelId="{92DF42C6-C47C-B745-8504-CC5C1C971209}" type="presParOf" srcId="{F9D5EC38-479F-E145-BC15-6E939FC5CE31}" destId="{21E19B4B-EE40-FF40-B3CE-13613E21AA70}" srcOrd="1" destOrd="0" presId="urn:microsoft.com/office/officeart/2005/8/layout/pyramid1"/>
    <dgm:cxn modelId="{4EA6EE84-61C0-E94C-8BDC-682684BF7946}" type="presParOf" srcId="{3C0C6269-3DF7-4944-A385-0946C3DD0EF9}" destId="{3F1FB28B-8FF0-8144-A849-BC39B9730A53}" srcOrd="3" destOrd="0" presId="urn:microsoft.com/office/officeart/2005/8/layout/pyramid1"/>
    <dgm:cxn modelId="{D4283744-3D36-D34F-9D6E-D82A916CD18D}" type="presParOf" srcId="{3F1FB28B-8FF0-8144-A849-BC39B9730A53}" destId="{4BC0D5D9-043B-6A42-9CCC-C7C180818DB7}" srcOrd="0" destOrd="0" presId="urn:microsoft.com/office/officeart/2005/8/layout/pyramid1"/>
    <dgm:cxn modelId="{F039FE3D-4256-8743-AEAC-4DC9A336EE91}" type="presParOf" srcId="{3F1FB28B-8FF0-8144-A849-BC39B9730A53}" destId="{9CCAAC41-FB68-1D43-811C-CC4126B25288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892A79-8B83-3C4F-AA8D-B768B2FD30D8}">
      <dsp:nvSpPr>
        <dsp:cNvPr id="0" name=""/>
        <dsp:cNvSpPr/>
      </dsp:nvSpPr>
      <dsp:spPr>
        <a:xfrm>
          <a:off x="1052549" y="0"/>
          <a:ext cx="701699" cy="823097"/>
        </a:xfrm>
        <a:prstGeom prst="trapezoid">
          <a:avLst>
            <a:gd name="adj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>
              <a:solidFill>
                <a:schemeClr val="accent5"/>
              </a:solidFill>
              <a:highlight>
                <a:srgbClr val="FFFFFF"/>
              </a:highlight>
            </a:rPr>
            <a:t>UAT</a:t>
          </a:r>
          <a:endParaRPr lang="fr-BE" sz="1800" b="1" kern="1200" dirty="0">
            <a:solidFill>
              <a:schemeClr val="accent5"/>
            </a:solidFill>
            <a:highlight>
              <a:srgbClr val="FFFFFF"/>
            </a:highlight>
          </a:endParaRPr>
        </a:p>
      </dsp:txBody>
      <dsp:txXfrm>
        <a:off x="1052549" y="0"/>
        <a:ext cx="701699" cy="823097"/>
      </dsp:txXfrm>
    </dsp:sp>
    <dsp:sp modelId="{9AA91556-3529-C04F-9A27-675AFBEF3BBF}">
      <dsp:nvSpPr>
        <dsp:cNvPr id="0" name=""/>
        <dsp:cNvSpPr/>
      </dsp:nvSpPr>
      <dsp:spPr>
        <a:xfrm>
          <a:off x="701699" y="823097"/>
          <a:ext cx="1403399" cy="823097"/>
        </a:xfrm>
        <a:prstGeom prst="trapezoid">
          <a:avLst>
            <a:gd name="adj" fmla="val 42626"/>
          </a:avLst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/>
            <a:t>Test système</a:t>
          </a:r>
          <a:endParaRPr lang="fr-BE" sz="1800" b="1" kern="1200" dirty="0"/>
        </a:p>
      </dsp:txBody>
      <dsp:txXfrm>
        <a:off x="947294" y="823097"/>
        <a:ext cx="912209" cy="823097"/>
      </dsp:txXfrm>
    </dsp:sp>
    <dsp:sp modelId="{404C9B8E-D4F4-0749-B675-99EC850A4210}">
      <dsp:nvSpPr>
        <dsp:cNvPr id="0" name=""/>
        <dsp:cNvSpPr/>
      </dsp:nvSpPr>
      <dsp:spPr>
        <a:xfrm>
          <a:off x="350849" y="1646194"/>
          <a:ext cx="2105099" cy="823097"/>
        </a:xfrm>
        <a:prstGeom prst="trapezoid">
          <a:avLst>
            <a:gd name="adj" fmla="val 42626"/>
          </a:avLst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/>
            <a:t>Test d’intégration</a:t>
          </a:r>
          <a:endParaRPr lang="fr-BE" sz="1800" b="1" kern="1200" dirty="0"/>
        </a:p>
      </dsp:txBody>
      <dsp:txXfrm>
        <a:off x="719242" y="1646194"/>
        <a:ext cx="1368314" cy="823097"/>
      </dsp:txXfrm>
    </dsp:sp>
    <dsp:sp modelId="{4BC0D5D9-043B-6A42-9CCC-C7C180818DB7}">
      <dsp:nvSpPr>
        <dsp:cNvPr id="0" name=""/>
        <dsp:cNvSpPr/>
      </dsp:nvSpPr>
      <dsp:spPr>
        <a:xfrm>
          <a:off x="0" y="2469291"/>
          <a:ext cx="2806799" cy="823097"/>
        </a:xfrm>
        <a:prstGeom prst="trapezoid">
          <a:avLst>
            <a:gd name="adj" fmla="val 42626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/>
            <a:t>Test unitaire</a:t>
          </a:r>
          <a:endParaRPr lang="fr-BE" sz="1800" b="1" kern="1200" dirty="0"/>
        </a:p>
      </dsp:txBody>
      <dsp:txXfrm>
        <a:off x="491189" y="2469291"/>
        <a:ext cx="1824419" cy="8230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FC913C-8767-6A46-ABE4-5FB13F57A51F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0A3CE4-6862-344E-BAF9-BD23A3F04A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0290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0A3CE4-6862-344E-BAF9-BD23A3F04A8C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73203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F35AA9-C5C6-934C-A51C-E9609006C10B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8126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F35AA9-C5C6-934C-A51C-E9609006C10B}" type="slidenum">
              <a:rPr lang="fr-FR" smtClean="0"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632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F35AA9-C5C6-934C-A51C-E9609006C10B}" type="slidenum">
              <a:rPr lang="fr-FR" smtClean="0"/>
              <a:t>55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9064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F50C5AB0-4392-0C4D-81D9-F157F3F77823}"/>
              </a:ext>
            </a:extLst>
          </p:cNvPr>
          <p:cNvCxnSpPr>
            <a:cxnSpLocks/>
          </p:cNvCxnSpPr>
          <p:nvPr/>
        </p:nvCxnSpPr>
        <p:spPr>
          <a:xfrm>
            <a:off x="457202" y="3559391"/>
            <a:ext cx="11343503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9390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5EE1B68-22B8-5144-911D-67D73F7F75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8205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8BCA98C-1917-1B40-ABB2-9D21885BDC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6551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3E845D-F43C-944D-8F99-1B6CA55031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0647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F818906-3F6A-DC45-BB24-EFCB912630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0594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97A31-FE83-AB47-8221-61BFCBFFF8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3900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FDFDBB0-5C1B-0B47-92C8-B08C981D73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0922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9AFBA4C-30EB-4A4E-A60E-1B72FA76A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1638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C1A4DF9-C7A5-CC4A-952D-F6BE2586AB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335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53E1124-F839-AE4B-8F4B-A00427DEEE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0900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8C737BB-8CEC-FF4F-BB70-AC8A804E1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7715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Cliquez et modifiez le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52601"/>
            <a:ext cx="4883253" cy="4373563"/>
          </a:xfrm>
        </p:spPr>
        <p:txBody>
          <a:bodyPr/>
          <a:lstStyle>
            <a:lvl1pPr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nl-BE" dirty="0"/>
              <a:t>Cliquez pour modifier les styles du texte du masque</a:t>
            </a:r>
          </a:p>
          <a:p>
            <a:pPr lvl="1"/>
            <a:r>
              <a:rPr lang="nl-BE" dirty="0"/>
              <a:t>Deuxième niveau</a:t>
            </a:r>
          </a:p>
          <a:p>
            <a:pPr lvl="2"/>
            <a:r>
              <a:rPr lang="nl-BE" dirty="0"/>
              <a:t>Troisième niveau</a:t>
            </a:r>
          </a:p>
          <a:p>
            <a:pPr lvl="3"/>
            <a:r>
              <a:rPr lang="nl-BE" dirty="0"/>
              <a:t>Quatrième niveau</a:t>
            </a:r>
          </a:p>
          <a:p>
            <a:pPr lvl="4"/>
            <a:r>
              <a:rPr lang="nl-BE" dirty="0"/>
              <a:t>Cinquième niveau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5DC0-9EAD-DA46-BDA8-BD693362A350}" type="slidenum">
              <a:rPr lang="fr-FR" smtClean="0"/>
              <a:t>‹N°›</a:t>
            </a:fld>
            <a:endParaRPr lang="fr-FR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>
          <a:xfrm>
            <a:off x="5712885" y="1752601"/>
            <a:ext cx="5397500" cy="4373563"/>
          </a:xfrm>
        </p:spPr>
        <p:txBody>
          <a:bodyPr/>
          <a:lstStyle/>
          <a:p>
            <a:pPr lvl="0"/>
            <a:r>
              <a:rPr lang="nl-BE"/>
              <a:t>Cliquez pour modifier les styles du texte du masque</a:t>
            </a:r>
          </a:p>
          <a:p>
            <a:pPr lvl="1"/>
            <a:r>
              <a:rPr lang="nl-BE"/>
              <a:t>Deuxième niveau</a:t>
            </a:r>
          </a:p>
          <a:p>
            <a:pPr lvl="2"/>
            <a:r>
              <a:rPr lang="nl-BE"/>
              <a:t>Troisième niveau</a:t>
            </a:r>
          </a:p>
          <a:p>
            <a:pPr lvl="3"/>
            <a:r>
              <a:rPr lang="nl-BE"/>
              <a:t>Quatrième niveau</a:t>
            </a:r>
          </a:p>
          <a:p>
            <a:pPr lvl="4"/>
            <a:r>
              <a:rPr lang="nl-BE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06472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E20B9A-8E1B-A28D-369E-A913BEAD7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E227AB-B70D-70BB-9801-A0EA229241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167F4E92-0724-F9C9-225A-B62857773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pPr marL="342900" indent="-342900">
              <a:lnSpc>
                <a:spcPct val="80000"/>
              </a:lnSpc>
              <a:buFont typeface="Arial"/>
              <a:buChar char="•"/>
            </a:pPr>
            <a:endParaRPr lang="fr-FR" dirty="0">
              <a:latin typeface="Consolas"/>
              <a:cs typeface="Consolas"/>
            </a:endParaRP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B6EE52B9-0CE3-2213-2BAE-0A463279C498}"/>
              </a:ext>
            </a:extLst>
          </p:cNvPr>
          <p:cNvGrpSpPr/>
          <p:nvPr userDrawn="1"/>
        </p:nvGrpSpPr>
        <p:grpSpPr>
          <a:xfrm>
            <a:off x="10470995" y="162401"/>
            <a:ext cx="1404760" cy="1400033"/>
            <a:chOff x="10326324" y="687756"/>
            <a:chExt cx="1393314" cy="1393314"/>
          </a:xfrm>
        </p:grpSpPr>
        <p:sp>
          <p:nvSpPr>
            <p:cNvPr id="6" name="Larme 5">
              <a:extLst>
                <a:ext uri="{FF2B5EF4-FFF2-40B4-BE49-F238E27FC236}">
                  <a16:creationId xmlns:a16="http://schemas.microsoft.com/office/drawing/2014/main" id="{A1F4EE74-F2B7-86D4-5897-9A852EB6119F}"/>
                </a:ext>
              </a:extLst>
            </p:cNvPr>
            <p:cNvSpPr/>
            <p:nvPr/>
          </p:nvSpPr>
          <p:spPr>
            <a:xfrm rot="8100000">
              <a:off x="10326324" y="687756"/>
              <a:ext cx="1393314" cy="1393314"/>
            </a:xfrm>
            <a:prstGeom prst="teardrop">
              <a:avLst>
                <a:gd name="adj" fmla="val 132871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4A1BBBAA-A8A5-D081-BE93-F67540128C77}"/>
                </a:ext>
              </a:extLst>
            </p:cNvPr>
            <p:cNvSpPr txBox="1"/>
            <p:nvPr/>
          </p:nvSpPr>
          <p:spPr>
            <a:xfrm>
              <a:off x="10372029" y="1092958"/>
              <a:ext cx="1301905" cy="702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000" b="1" dirty="0"/>
                <a:t>Vous êtes ici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09642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0"/>
              </a:schemeClr>
            </a:gs>
            <a:gs pos="29000">
              <a:schemeClr val="accent5">
                <a:lumMod val="75000"/>
              </a:schemeClr>
            </a:gs>
            <a:gs pos="100000">
              <a:schemeClr val="accent5">
                <a:lumMod val="5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16BB548F-0EDB-6D43-BC7A-59E9CDD0ED25}"/>
              </a:ext>
            </a:extLst>
          </p:cNvPr>
          <p:cNvSpPr txBox="1">
            <a:spLocks/>
          </p:cNvSpPr>
          <p:nvPr/>
        </p:nvSpPr>
        <p:spPr>
          <a:xfrm>
            <a:off x="457201" y="6249391"/>
            <a:ext cx="4177267" cy="32146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sz="1200" b="1" dirty="0"/>
              <a:t>IN2 – 6001 – Programmation Orientée Objet JAVA</a:t>
            </a:r>
            <a:endParaRPr lang="fr-FR" sz="1200" b="1" dirty="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A73AF70B-0DC2-D84B-A8F1-DEAEB08FADFD}"/>
              </a:ext>
            </a:extLst>
          </p:cNvPr>
          <p:cNvSpPr txBox="1">
            <a:spLocks/>
          </p:cNvSpPr>
          <p:nvPr/>
        </p:nvSpPr>
        <p:spPr>
          <a:xfrm>
            <a:off x="457201" y="6502785"/>
            <a:ext cx="4177267" cy="38897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b="1" dirty="0"/>
              <a:t>Frédéric Ferrant – </a:t>
            </a:r>
            <a:r>
              <a:rPr lang="is-IS" sz="1200" b="1" dirty="0"/>
              <a:t>2025-2026</a:t>
            </a:r>
            <a:endParaRPr lang="fr-FR" sz="1200" b="1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5D55A8-0E87-874B-9388-8CD1306BB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07290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4" r:id="rId1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i="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www.iban.fr/verification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f"/><Relationship Id="rId2" Type="http://schemas.openxmlformats.org/officeDocument/2006/relationships/hyperlink" Target="https://junit.org/junit5/docs/5.0.1/api/org/junit/jupiter/api/Assertions.html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nbSaq_ykOl4" TargetMode="External"/><Relationship Id="rId2" Type="http://schemas.openxmlformats.org/officeDocument/2006/relationships/image" Target="../media/image19.tiff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C16338-8FEF-9846-3E8D-6A6E291B15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JAVA 2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AE3EB04-5815-5DFA-3BAB-7E6007A4E3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POO – Module 2</a:t>
            </a:r>
          </a:p>
          <a:p>
            <a:r>
              <a:rPr lang="fr-FR" dirty="0"/>
              <a:t>Semaine 7 – </a:t>
            </a:r>
            <a:r>
              <a:rPr lang="fr-FR" dirty="0" err="1"/>
              <a:t>Junit</a:t>
            </a:r>
            <a:r>
              <a:rPr lang="fr-FR" dirty="0"/>
              <a:t>: tests unitaires</a:t>
            </a:r>
          </a:p>
        </p:txBody>
      </p:sp>
    </p:spTree>
    <p:extLst>
      <p:ext uri="{BB962C8B-B14F-4D97-AF65-F5344CB8AC3E}">
        <p14:creationId xmlns:p14="http://schemas.microsoft.com/office/powerpoint/2010/main" val="458771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BA38E6-91D6-0E28-4148-3A6223E41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Vu au dernier cours…</a:t>
            </a:r>
          </a:p>
        </p:txBody>
      </p:sp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4B38FA8B-146F-A83A-72AA-52BE2670D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fr-FR" dirty="0"/>
              <a:t>Le concept de </a:t>
            </a:r>
            <a:r>
              <a:rPr lang="fr-FR" dirty="0">
                <a:solidFill>
                  <a:schemeClr val="accent4"/>
                </a:solidFill>
              </a:rPr>
              <a:t>type générique </a:t>
            </a:r>
            <a:r>
              <a:rPr lang="fr-FR" dirty="0"/>
              <a:t>(</a:t>
            </a:r>
            <a:r>
              <a:rPr lang="fr-FR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fr-FR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fr-FR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fr-FR" dirty="0"/>
              <a:t>)</a:t>
            </a:r>
          </a:p>
          <a:p>
            <a:pPr lvl="1"/>
            <a:r>
              <a:rPr lang="fr-FR" dirty="0">
                <a:latin typeface="+mj-lt"/>
                <a:cs typeface="Consolas" panose="020B0609020204030204" pitchFamily="49" charset="0"/>
              </a:rPr>
              <a:t>Qu’est ce qu’un type générique?</a:t>
            </a:r>
          </a:p>
          <a:p>
            <a:pPr lvl="1"/>
            <a:r>
              <a:rPr lang="fr-FR" dirty="0">
                <a:latin typeface="+mj-lt"/>
                <a:cs typeface="Consolas" panose="020B0609020204030204" pitchFamily="49" charset="0"/>
              </a:rPr>
              <a:t>Comment créer son type générique à un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fr-FR" dirty="0">
                <a:latin typeface="+mj-lt"/>
                <a:cs typeface="Consolas" panose="020B0609020204030204" pitchFamily="49" charset="0"/>
              </a:rPr>
              <a:t> ou plusieurs paramètres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&lt;U, V&gt;</a:t>
            </a:r>
          </a:p>
          <a:p>
            <a:pPr lvl="1"/>
            <a:r>
              <a:rPr lang="fr-FR" dirty="0"/>
              <a:t>Que se passe-t-il à la compilation?</a:t>
            </a:r>
            <a:endParaRPr lang="fr-FR" dirty="0">
              <a:latin typeface="+mj-lt"/>
              <a:cs typeface="Consolas" panose="020B0609020204030204" pitchFamily="49" charset="0"/>
            </a:endParaRPr>
          </a:p>
          <a:p>
            <a:pPr lvl="1"/>
            <a:r>
              <a:rPr lang="fr-FR" dirty="0">
                <a:latin typeface="+mj-lt"/>
                <a:cs typeface="Consolas" panose="020B0609020204030204" pitchFamily="49" charset="0"/>
              </a:rPr>
              <a:t>Les conventions de nommage</a:t>
            </a:r>
          </a:p>
          <a:p>
            <a:r>
              <a:rPr lang="fr-FR" dirty="0">
                <a:latin typeface="+mj-lt"/>
                <a:cs typeface="Consolas" panose="020B0609020204030204" pitchFamily="49" charset="0"/>
              </a:rPr>
              <a:t>La classe 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Logger</a:t>
            </a:r>
            <a:endParaRPr lang="fr-FR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FR" dirty="0">
                <a:latin typeface="+mj-lt"/>
                <a:cs typeface="Consolas" panose="020B0609020204030204" pitchFamily="49" charset="0"/>
              </a:rPr>
              <a:t>Les expressions Lambda (</a:t>
            </a:r>
            <a:r>
              <a:rPr lang="fr-FR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…-&gt;…</a:t>
            </a:r>
            <a:r>
              <a:rPr lang="fr-FR" dirty="0">
                <a:latin typeface="+mj-lt"/>
                <a:cs typeface="Consolas" panose="020B0609020204030204" pitchFamily="49" charset="0"/>
              </a:rPr>
              <a:t>)</a:t>
            </a:r>
            <a:endParaRPr lang="fr-FR" dirty="0">
              <a:cs typeface="Consolas" panose="020B0609020204030204" pitchFamily="49" charset="0"/>
            </a:endParaRPr>
          </a:p>
          <a:p>
            <a:pPr lvl="1"/>
            <a:r>
              <a:rPr lang="fr-FR" dirty="0">
                <a:cs typeface="Consolas" panose="020B0609020204030204" pitchFamily="49" charset="0"/>
              </a:rPr>
              <a:t>Exemple d’</a:t>
            </a:r>
            <a:r>
              <a:rPr lang="fr-FR" dirty="0">
                <a:solidFill>
                  <a:schemeClr val="accent4"/>
                </a:solidFill>
                <a:cs typeface="Consolas" panose="020B0609020204030204" pitchFamily="49" charset="0"/>
              </a:rPr>
              <a:t>expression Lambda</a:t>
            </a:r>
            <a:endParaRPr lang="fr-FR" dirty="0">
              <a:cs typeface="Consolas" panose="020B0609020204030204" pitchFamily="49" charset="0"/>
            </a:endParaRPr>
          </a:p>
          <a:p>
            <a:pPr lvl="1"/>
            <a:r>
              <a:rPr lang="fr-FR" dirty="0">
                <a:cs typeface="Consolas" panose="020B0609020204030204" pitchFamily="49" charset="0"/>
              </a:rPr>
              <a:t>La notion d’</a:t>
            </a:r>
            <a:r>
              <a:rPr lang="fr-FR" dirty="0">
                <a:solidFill>
                  <a:schemeClr val="accent4"/>
                </a:solidFill>
                <a:cs typeface="Consolas" panose="020B0609020204030204" pitchFamily="49" charset="0"/>
              </a:rPr>
              <a:t>interface fonctionnelle</a:t>
            </a:r>
            <a:endParaRPr lang="fr-FR" dirty="0">
              <a:cs typeface="Consolas" panose="020B0609020204030204" pitchFamily="49" charset="0"/>
            </a:endParaRPr>
          </a:p>
          <a:p>
            <a:pPr lvl="1"/>
            <a:r>
              <a:rPr lang="fr-FR" dirty="0">
                <a:cs typeface="Consolas" panose="020B0609020204030204" pitchFamily="49" charset="0"/>
              </a:rPr>
              <a:t>Quelques exemples</a:t>
            </a:r>
            <a:endParaRPr lang="fr-FR" dirty="0">
              <a:solidFill>
                <a:schemeClr val="accent4"/>
              </a:solidFill>
              <a:cs typeface="Consolas" panose="020B0609020204030204" pitchFamily="49" charset="0"/>
            </a:endParaRPr>
          </a:p>
          <a:p>
            <a:pPr lvl="1"/>
            <a:r>
              <a:rPr lang="fr-FR" dirty="0">
                <a:cs typeface="Consolas" panose="020B0609020204030204" pitchFamily="49" charset="0"/>
              </a:rPr>
              <a:t>Les références de </a:t>
            </a:r>
            <a:r>
              <a:rPr lang="fr-FR" dirty="0">
                <a:solidFill>
                  <a:schemeClr val="accent4"/>
                </a:solidFill>
                <a:cs typeface="Consolas" panose="020B0609020204030204" pitchFamily="49" charset="0"/>
              </a:rPr>
              <a:t>méthodes</a:t>
            </a:r>
          </a:p>
          <a:p>
            <a:pPr lvl="1"/>
            <a:endParaRPr lang="fr-FR" dirty="0">
              <a:solidFill>
                <a:schemeClr val="accent4"/>
              </a:solidFill>
              <a:cs typeface="Consolas" panose="020B06090202040302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F467824-5A05-7D4B-8C3A-9FF661A2D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6151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B8743-A1A3-F231-D0E5-83E3B5F40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xercices en retard format 16:9">
            <a:extLst>
              <a:ext uri="{FF2B5EF4-FFF2-40B4-BE49-F238E27FC236}">
                <a16:creationId xmlns:a16="http://schemas.microsoft.com/office/drawing/2014/main" id="{B63EA7A3-C6B0-E962-2E5D-A4999A4BB5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75" b="21875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3CB2949B-7E66-D937-F71E-1BDB87DBA0C2}"/>
              </a:ext>
            </a:extLst>
          </p:cNvPr>
          <p:cNvSpPr txBox="1"/>
          <p:nvPr/>
        </p:nvSpPr>
        <p:spPr>
          <a:xfrm>
            <a:off x="838200" y="947821"/>
            <a:ext cx="10515600" cy="1015663"/>
          </a:xfrm>
          <a:prstGeom prst="rect">
            <a:avLst/>
          </a:prstGeom>
          <a:solidFill>
            <a:srgbClr val="3C696F">
              <a:alpha val="74902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6000" b="1" dirty="0"/>
              <a:t>Exercices…</a:t>
            </a:r>
            <a:endParaRPr lang="fr-FR" sz="16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F92B336-117C-217E-7A98-B98C382D97FF}"/>
              </a:ext>
            </a:extLst>
          </p:cNvPr>
          <p:cNvSpPr txBox="1"/>
          <p:nvPr/>
        </p:nvSpPr>
        <p:spPr>
          <a:xfrm>
            <a:off x="838200" y="2139312"/>
            <a:ext cx="10515600" cy="461665"/>
          </a:xfrm>
          <a:prstGeom prst="rect">
            <a:avLst/>
          </a:prstGeom>
          <a:solidFill>
            <a:srgbClr val="3C696F">
              <a:alpha val="74902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400" dirty="0"/>
              <a:t>Les exercices du cours précédent…</a:t>
            </a:r>
          </a:p>
        </p:txBody>
      </p:sp>
    </p:spTree>
    <p:extLst>
      <p:ext uri="{BB962C8B-B14F-4D97-AF65-F5344CB8AC3E}">
        <p14:creationId xmlns:p14="http://schemas.microsoft.com/office/powerpoint/2010/main" val="1836031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Exercice</a:t>
            </a:r>
            <a:r>
              <a:rPr lang="en-GB" dirty="0"/>
              <a:t> 23 </a:t>
            </a:r>
            <a:r>
              <a:rPr lang="en-GB" baseline="30000" dirty="0"/>
              <a:t>1</a:t>
            </a:r>
            <a:r>
              <a:rPr lang="en-GB" b="0" dirty="0">
                <a:latin typeface="Calibri Light" panose="020F0302020204030204" pitchFamily="34" charset="0"/>
                <a:cs typeface="Calibri Light" panose="020F0302020204030204" pitchFamily="34" charset="0"/>
              </a:rPr>
              <a:t>/</a:t>
            </a:r>
            <a:r>
              <a:rPr lang="en-GB" baseline="-25000" dirty="0"/>
              <a:t>4</a:t>
            </a:r>
            <a:endParaRPr lang="en-GB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err="1"/>
              <a:t>Ecrivez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classe</a:t>
            </a:r>
            <a:r>
              <a:rPr lang="en-GB" dirty="0"/>
              <a:t> </a:t>
            </a:r>
            <a:r>
              <a:rPr lang="en-GB" sz="2400" dirty="0" err="1">
                <a:solidFill>
                  <a:schemeClr val="accent4"/>
                </a:solidFill>
                <a:latin typeface="Consolas"/>
                <a:cs typeface="Consolas"/>
              </a:rPr>
              <a:t>Compte</a:t>
            </a:r>
            <a:r>
              <a:rPr lang="en-GB" dirty="0"/>
              <a:t> (</a:t>
            </a:r>
            <a:r>
              <a:rPr lang="en-GB" dirty="0" err="1"/>
              <a:t>belge</a:t>
            </a:r>
            <a:r>
              <a:rPr lang="en-GB" dirty="0"/>
              <a:t>).</a:t>
            </a:r>
          </a:p>
          <a:p>
            <a:pPr marL="0" indent="0">
              <a:buNone/>
            </a:pPr>
            <a:r>
              <a:rPr lang="en-GB" dirty="0"/>
              <a:t>La </a:t>
            </a:r>
            <a:r>
              <a:rPr lang="en-GB" dirty="0" err="1"/>
              <a:t>classe</a:t>
            </a:r>
            <a:r>
              <a:rPr lang="en-GB" dirty="0"/>
              <a:t> a </a:t>
            </a:r>
          </a:p>
          <a:p>
            <a:pPr lvl="1"/>
            <a:r>
              <a:rPr lang="en-GB" dirty="0"/>
              <a:t>un </a:t>
            </a:r>
            <a:r>
              <a:rPr lang="en-GB" dirty="0" err="1"/>
              <a:t>constructeur</a:t>
            </a:r>
            <a:r>
              <a:rPr lang="en-GB" dirty="0"/>
              <a:t> par </a:t>
            </a:r>
            <a:r>
              <a:rPr lang="en-GB" dirty="0" err="1"/>
              <a:t>défaut</a:t>
            </a:r>
            <a:r>
              <a:rPr lang="en-GB" dirty="0"/>
              <a:t> (</a:t>
            </a:r>
            <a:r>
              <a:rPr lang="en-GB" dirty="0" err="1"/>
              <a:t>donc</a:t>
            </a:r>
            <a:r>
              <a:rPr lang="en-GB" dirty="0"/>
              <a:t> pas de </a:t>
            </a:r>
            <a:r>
              <a:rPr lang="en-GB" dirty="0" err="1"/>
              <a:t>constructeur</a:t>
            </a:r>
            <a:r>
              <a:rPr lang="en-GB" dirty="0"/>
              <a:t> </a:t>
            </a:r>
            <a:r>
              <a:rPr lang="en-GB" dirty="0" err="1"/>
              <a:t>explicite</a:t>
            </a:r>
            <a:r>
              <a:rPr lang="en-GB" dirty="0"/>
              <a:t>), </a:t>
            </a:r>
          </a:p>
          <a:p>
            <a:pPr lvl="1"/>
            <a:r>
              <a:rPr lang="en-GB" dirty="0"/>
              <a:t>un champ </a:t>
            </a:r>
            <a:r>
              <a:rPr lang="en-GB" dirty="0" err="1"/>
              <a:t>solde</a:t>
            </a:r>
            <a:r>
              <a:rPr lang="en-GB" dirty="0"/>
              <a:t> (0) </a:t>
            </a:r>
            <a:r>
              <a:rPr lang="en-GB" sz="2000" dirty="0">
                <a:solidFill>
                  <a:schemeClr val="accent4"/>
                </a:solidFill>
                <a:latin typeface="Consolas"/>
                <a:cs typeface="Consolas"/>
              </a:rPr>
              <a:t>double</a:t>
            </a:r>
          </a:p>
          <a:p>
            <a:pPr lvl="1"/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méthode</a:t>
            </a:r>
            <a:r>
              <a:rPr lang="en-GB" dirty="0"/>
              <a:t> </a:t>
            </a:r>
            <a:r>
              <a:rPr lang="en-GB" sz="2000" dirty="0">
                <a:solidFill>
                  <a:schemeClr val="accent4"/>
                </a:solidFill>
                <a:latin typeface="Consolas"/>
                <a:cs typeface="Consolas"/>
              </a:rPr>
              <a:t>double </a:t>
            </a:r>
            <a:r>
              <a:rPr lang="en-GB" sz="2000" dirty="0" err="1">
                <a:solidFill>
                  <a:schemeClr val="accent4"/>
                </a:solidFill>
                <a:latin typeface="Consolas"/>
                <a:cs typeface="Consolas"/>
              </a:rPr>
              <a:t>getSolde</a:t>
            </a:r>
            <a:r>
              <a:rPr lang="en-GB" sz="2000" dirty="0">
                <a:solidFill>
                  <a:schemeClr val="accent4"/>
                </a:solidFill>
                <a:latin typeface="Consolas"/>
                <a:cs typeface="Consolas"/>
              </a:rPr>
              <a:t>() </a:t>
            </a:r>
          </a:p>
          <a:p>
            <a:pPr lvl="1"/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méthode</a:t>
            </a:r>
            <a:r>
              <a:rPr lang="en-GB" dirty="0"/>
              <a:t> </a:t>
            </a:r>
            <a:r>
              <a:rPr lang="en-GB" sz="2000" dirty="0">
                <a:solidFill>
                  <a:schemeClr val="accent4"/>
                </a:solidFill>
                <a:latin typeface="Consolas"/>
                <a:cs typeface="Consolas"/>
              </a:rPr>
              <a:t>void </a:t>
            </a:r>
            <a:r>
              <a:rPr lang="en-GB" sz="2000" dirty="0" err="1">
                <a:solidFill>
                  <a:schemeClr val="accent4"/>
                </a:solidFill>
                <a:latin typeface="Consolas"/>
                <a:cs typeface="Consolas"/>
              </a:rPr>
              <a:t>ajoute</a:t>
            </a:r>
            <a:r>
              <a:rPr lang="en-GB" sz="2000" dirty="0">
                <a:solidFill>
                  <a:schemeClr val="accent4"/>
                </a:solidFill>
                <a:latin typeface="Consolas"/>
                <a:cs typeface="Consolas"/>
              </a:rPr>
              <a:t>(</a:t>
            </a:r>
            <a:r>
              <a:rPr lang="en-GB" sz="2000" dirty="0" err="1">
                <a:solidFill>
                  <a:schemeClr val="accent4"/>
                </a:solidFill>
                <a:latin typeface="Consolas"/>
                <a:cs typeface="Consolas"/>
              </a:rPr>
              <a:t>montant</a:t>
            </a:r>
            <a:r>
              <a:rPr lang="en-GB" sz="2000" dirty="0">
                <a:solidFill>
                  <a:schemeClr val="accent4"/>
                </a:solidFill>
                <a:latin typeface="Consolas"/>
                <a:cs typeface="Consolas"/>
              </a:rPr>
              <a:t>) </a:t>
            </a:r>
          </a:p>
          <a:p>
            <a:pPr lvl="1"/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méthode</a:t>
            </a:r>
            <a:r>
              <a:rPr lang="en-GB" dirty="0"/>
              <a:t> </a:t>
            </a:r>
            <a:r>
              <a:rPr lang="en-GB" sz="2000" dirty="0">
                <a:solidFill>
                  <a:schemeClr val="accent4"/>
                </a:solidFill>
                <a:latin typeface="Consolas"/>
                <a:cs typeface="Consolas"/>
              </a:rPr>
              <a:t>double retire(</a:t>
            </a:r>
            <a:r>
              <a:rPr lang="en-GB" sz="2000" dirty="0" err="1">
                <a:solidFill>
                  <a:schemeClr val="accent4"/>
                </a:solidFill>
                <a:latin typeface="Consolas"/>
                <a:cs typeface="Consolas"/>
              </a:rPr>
              <a:t>montant</a:t>
            </a:r>
            <a:r>
              <a:rPr lang="en-GB" sz="2000" dirty="0">
                <a:solidFill>
                  <a:schemeClr val="accent4"/>
                </a:solidFill>
                <a:latin typeface="Consolas"/>
                <a:cs typeface="Consolas"/>
              </a:rPr>
              <a:t>)</a:t>
            </a:r>
            <a:r>
              <a:rPr lang="en-GB" dirty="0"/>
              <a:t>, qui </a:t>
            </a:r>
            <a:r>
              <a:rPr lang="en-GB" dirty="0" err="1"/>
              <a:t>retourne</a:t>
            </a:r>
            <a:r>
              <a:rPr lang="en-GB" dirty="0"/>
              <a:t> le </a:t>
            </a:r>
            <a:r>
              <a:rPr lang="en-GB" dirty="0" err="1"/>
              <a:t>montant</a:t>
            </a:r>
            <a:r>
              <a:rPr lang="en-GB" dirty="0"/>
              <a:t> </a:t>
            </a:r>
            <a:r>
              <a:rPr lang="en-GB" dirty="0" err="1"/>
              <a:t>retiré</a:t>
            </a:r>
            <a:r>
              <a:rPr lang="en-GB" dirty="0"/>
              <a:t>; </a:t>
            </a:r>
            <a:r>
              <a:rPr lang="en-GB" dirty="0" err="1"/>
              <a:t>cette</a:t>
            </a:r>
            <a:r>
              <a:rPr lang="en-GB" dirty="0"/>
              <a:t> </a:t>
            </a:r>
            <a:r>
              <a:rPr lang="en-GB" dirty="0" err="1"/>
              <a:t>méthode</a:t>
            </a:r>
            <a:r>
              <a:rPr lang="en-GB" dirty="0"/>
              <a:t> ne </a:t>
            </a:r>
            <a:r>
              <a:rPr lang="en-GB" dirty="0" err="1"/>
              <a:t>permet</a:t>
            </a:r>
            <a:r>
              <a:rPr lang="en-GB" dirty="0"/>
              <a:t> pas de </a:t>
            </a:r>
            <a:r>
              <a:rPr lang="en-GB" dirty="0" err="1"/>
              <a:t>retirer</a:t>
            </a:r>
            <a:r>
              <a:rPr lang="en-GB" dirty="0"/>
              <a:t> plus que le </a:t>
            </a:r>
            <a:r>
              <a:rPr lang="en-GB" dirty="0" err="1"/>
              <a:t>solde</a:t>
            </a:r>
            <a:r>
              <a:rPr lang="en-GB" dirty="0"/>
              <a:t> disponible (</a:t>
            </a:r>
            <a:r>
              <a:rPr lang="en-GB" dirty="0" err="1"/>
              <a:t>donc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le </a:t>
            </a:r>
            <a:r>
              <a:rPr lang="en-GB" dirty="0" err="1"/>
              <a:t>compte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 </a:t>
            </a:r>
            <a:r>
              <a:rPr lang="en-GB" dirty="0" err="1"/>
              <a:t>à</a:t>
            </a:r>
            <a:r>
              <a:rPr lang="en-GB" dirty="0"/>
              <a:t> 100 et </a:t>
            </a:r>
            <a:r>
              <a:rPr lang="en-GB" dirty="0" err="1"/>
              <a:t>qu’on</a:t>
            </a:r>
            <a:r>
              <a:rPr lang="en-GB" dirty="0"/>
              <a:t> retire 120, </a:t>
            </a:r>
            <a:r>
              <a:rPr lang="en-GB" dirty="0" err="1"/>
              <a:t>elle</a:t>
            </a:r>
            <a:r>
              <a:rPr lang="en-GB" dirty="0"/>
              <a:t> </a:t>
            </a:r>
            <a:r>
              <a:rPr lang="en-GB" dirty="0" err="1"/>
              <a:t>retourne</a:t>
            </a:r>
            <a:r>
              <a:rPr lang="en-GB" dirty="0"/>
              <a:t> 100).</a:t>
            </a:r>
            <a:endParaRPr lang="en-GB" dirty="0">
              <a:solidFill>
                <a:srgbClr val="A6082B"/>
              </a:solidFill>
              <a:latin typeface="Consolas"/>
              <a:cs typeface="Consolas"/>
            </a:endParaRP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1710B6D0-7FD4-ABCE-F8B3-E8DBB7AF54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4</a:t>
            </a:fld>
            <a:endParaRPr lang="fr-FR" dirty="0"/>
          </a:p>
        </p:txBody>
      </p:sp>
      <p:pic>
        <p:nvPicPr>
          <p:cNvPr id="9" name="Picture 2" descr="blog-nutrition-outlet">
            <a:extLst>
              <a:ext uri="{FF2B5EF4-FFF2-40B4-BE49-F238E27FC236}">
                <a16:creationId xmlns:a16="http://schemas.microsoft.com/office/drawing/2014/main" id="{3D8EC3FE-E61A-4F06-AF7D-595AD6601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5970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Exercice</a:t>
            </a:r>
            <a:r>
              <a:rPr lang="en-GB" dirty="0"/>
              <a:t> 23 </a:t>
            </a:r>
            <a:r>
              <a:rPr lang="en-GB" baseline="30000" dirty="0"/>
              <a:t>2</a:t>
            </a:r>
            <a:r>
              <a:rPr lang="en-GB" b="0" dirty="0">
                <a:latin typeface="Calibri Light" panose="020F0302020204030204" pitchFamily="34" charset="0"/>
                <a:cs typeface="Calibri Light" panose="020F0302020204030204" pitchFamily="34" charset="0"/>
              </a:rPr>
              <a:t>/</a:t>
            </a:r>
            <a:r>
              <a:rPr lang="en-GB" baseline="-25000" dirty="0"/>
              <a:t>4</a:t>
            </a:r>
            <a:endParaRPr lang="en-GB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dirty="0" err="1"/>
              <a:t>Ecrivez</a:t>
            </a:r>
            <a:r>
              <a:rPr lang="en-GB" dirty="0"/>
              <a:t> </a:t>
            </a:r>
            <a:r>
              <a:rPr lang="en-GB" dirty="0" err="1"/>
              <a:t>aussi</a:t>
            </a:r>
            <a:r>
              <a:rPr lang="en-GB" dirty="0"/>
              <a:t> un programme </a:t>
            </a:r>
            <a:r>
              <a:rPr lang="en-GB" sz="2600" dirty="0" err="1">
                <a:solidFill>
                  <a:schemeClr val="accent4"/>
                </a:solidFill>
                <a:latin typeface="Consolas"/>
                <a:cs typeface="Consolas"/>
              </a:rPr>
              <a:t>GestionDeCompte</a:t>
            </a:r>
            <a:r>
              <a:rPr lang="en-GB" dirty="0"/>
              <a:t> qui utilise </a:t>
            </a:r>
            <a:r>
              <a:rPr lang="en-GB" dirty="0" err="1"/>
              <a:t>votre</a:t>
            </a:r>
            <a:r>
              <a:rPr lang="en-GB" dirty="0"/>
              <a:t> </a:t>
            </a:r>
            <a:r>
              <a:rPr lang="en-GB" dirty="0" err="1"/>
              <a:t>compte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 err="1"/>
              <a:t>Vérifiez</a:t>
            </a:r>
            <a:r>
              <a:rPr lang="en-GB" dirty="0"/>
              <a:t> que les </a:t>
            </a:r>
            <a:r>
              <a:rPr lang="en-GB" dirty="0" err="1"/>
              <a:t>méthodes</a:t>
            </a:r>
            <a:r>
              <a:rPr lang="en-GB" dirty="0"/>
              <a:t> </a:t>
            </a:r>
            <a:r>
              <a:rPr lang="en-GB" sz="2600" dirty="0" err="1">
                <a:solidFill>
                  <a:schemeClr val="accent4"/>
                </a:solidFill>
                <a:latin typeface="Consolas"/>
                <a:cs typeface="Consolas"/>
              </a:rPr>
              <a:t>ajoute</a:t>
            </a:r>
            <a:r>
              <a:rPr lang="en-GB" dirty="0"/>
              <a:t> et </a:t>
            </a:r>
            <a:r>
              <a:rPr lang="en-GB" sz="2600" dirty="0">
                <a:solidFill>
                  <a:schemeClr val="accent4"/>
                </a:solidFill>
                <a:latin typeface="Consolas"/>
                <a:cs typeface="Consolas"/>
              </a:rPr>
              <a:t>retire</a:t>
            </a:r>
            <a:r>
              <a:rPr lang="en-GB" dirty="0"/>
              <a:t> </a:t>
            </a:r>
            <a:r>
              <a:rPr lang="en-GB" dirty="0" err="1"/>
              <a:t>fonctionnent</a:t>
            </a:r>
            <a:r>
              <a:rPr lang="en-GB" dirty="0"/>
              <a:t> </a:t>
            </a:r>
            <a:r>
              <a:rPr lang="en-GB" dirty="0" err="1"/>
              <a:t>correctement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Un </a:t>
            </a:r>
            <a:r>
              <a:rPr lang="en-GB" dirty="0" err="1"/>
              <a:t>compte</a:t>
            </a:r>
            <a:r>
              <a:rPr lang="en-GB" dirty="0"/>
              <a:t> a </a:t>
            </a:r>
            <a:r>
              <a:rPr lang="en-GB" dirty="0" err="1"/>
              <a:t>également</a:t>
            </a:r>
            <a:r>
              <a:rPr lang="en-GB" dirty="0"/>
              <a:t> un </a:t>
            </a:r>
            <a:r>
              <a:rPr lang="en-GB" dirty="0" err="1"/>
              <a:t>numéro</a:t>
            </a:r>
            <a:r>
              <a:rPr lang="en-GB" dirty="0"/>
              <a:t> de la </a:t>
            </a:r>
            <a:r>
              <a:rPr lang="en-GB" dirty="0" err="1"/>
              <a:t>forme</a:t>
            </a:r>
            <a:r>
              <a:rPr lang="en-GB" dirty="0"/>
              <a:t> </a:t>
            </a:r>
          </a:p>
          <a:p>
            <a:pPr marL="0" indent="0" algn="ctr">
              <a:buNone/>
            </a:pPr>
            <a:r>
              <a:rPr lang="en-GB" dirty="0"/>
              <a:t>BECC NNNN NNNN NNNN </a:t>
            </a:r>
          </a:p>
          <a:p>
            <a:pPr marL="0" indent="0">
              <a:buNone/>
            </a:pPr>
            <a:r>
              <a:rPr lang="en-GB" dirty="0" err="1"/>
              <a:t>Voir</a:t>
            </a:r>
            <a:r>
              <a:rPr lang="en-GB" dirty="0"/>
              <a:t> </a:t>
            </a:r>
            <a:r>
              <a:rPr lang="en-GB" dirty="0">
                <a:hlinkClick r:id="rId2"/>
              </a:rPr>
              <a:t>http://www.iban.fr/verification.html</a:t>
            </a:r>
            <a:r>
              <a:rPr lang="en-GB" dirty="0"/>
              <a:t> pour </a:t>
            </a:r>
            <a:r>
              <a:rPr lang="en-GB" dirty="0" err="1"/>
              <a:t>l’algorithme</a:t>
            </a:r>
            <a:r>
              <a:rPr lang="en-GB" dirty="0"/>
              <a:t> de </a:t>
            </a:r>
            <a:r>
              <a:rPr lang="en-GB" dirty="0" err="1"/>
              <a:t>vérification</a:t>
            </a:r>
            <a:r>
              <a:rPr lang="en-GB" dirty="0"/>
              <a:t> de </a:t>
            </a:r>
            <a:r>
              <a:rPr lang="en-GB" dirty="0" err="1"/>
              <a:t>l’IBAN</a:t>
            </a:r>
            <a:r>
              <a:rPr lang="en-GB" dirty="0"/>
              <a:t> (</a:t>
            </a:r>
            <a:r>
              <a:rPr lang="en-GB" dirty="0" err="1"/>
              <a:t>voir</a:t>
            </a:r>
            <a:r>
              <a:rPr lang="en-GB" dirty="0"/>
              <a:t> </a:t>
            </a:r>
            <a:r>
              <a:rPr lang="en-GB" dirty="0" err="1"/>
              <a:t>aussi</a:t>
            </a:r>
            <a:r>
              <a:rPr lang="en-GB" dirty="0"/>
              <a:t> slide </a:t>
            </a:r>
            <a:r>
              <a:rPr lang="en-GB" dirty="0" err="1"/>
              <a:t>suivant</a:t>
            </a:r>
            <a:r>
              <a:rPr lang="en-GB" dirty="0"/>
              <a:t>).</a:t>
            </a:r>
          </a:p>
          <a:p>
            <a:pPr marL="0" indent="0">
              <a:buNone/>
            </a:pPr>
            <a:r>
              <a:rPr lang="en-GB" dirty="0" err="1"/>
              <a:t>Ajoutez</a:t>
            </a:r>
            <a:r>
              <a:rPr lang="en-GB" dirty="0"/>
              <a:t> </a:t>
            </a:r>
            <a:r>
              <a:rPr lang="en-GB" dirty="0" err="1"/>
              <a:t>donc</a:t>
            </a:r>
            <a:r>
              <a:rPr lang="en-GB" dirty="0"/>
              <a:t> le </a:t>
            </a:r>
            <a:r>
              <a:rPr lang="en-GB" dirty="0" err="1"/>
              <a:t>numéro</a:t>
            </a:r>
            <a:r>
              <a:rPr lang="en-GB" dirty="0"/>
              <a:t> de </a:t>
            </a:r>
            <a:r>
              <a:rPr lang="en-GB" dirty="0" err="1"/>
              <a:t>compte</a:t>
            </a:r>
            <a:r>
              <a:rPr lang="en-GB" dirty="0"/>
              <a:t> </a:t>
            </a:r>
            <a:r>
              <a:rPr lang="en-GB" dirty="0" err="1"/>
              <a:t>à</a:t>
            </a:r>
            <a:r>
              <a:rPr lang="en-GB" dirty="0"/>
              <a:t> </a:t>
            </a:r>
            <a:r>
              <a:rPr lang="en-GB" dirty="0" err="1"/>
              <a:t>votre</a:t>
            </a:r>
            <a:r>
              <a:rPr lang="en-GB" dirty="0"/>
              <a:t> </a:t>
            </a:r>
            <a:r>
              <a:rPr lang="en-GB" dirty="0" err="1"/>
              <a:t>classe</a:t>
            </a:r>
            <a:r>
              <a:rPr lang="en-GB" dirty="0"/>
              <a:t>. Attention, </a:t>
            </a:r>
            <a:r>
              <a:rPr lang="en-GB" dirty="0" err="1"/>
              <a:t>c’est</a:t>
            </a:r>
            <a:r>
              <a:rPr lang="en-GB" dirty="0"/>
              <a:t> bien un </a:t>
            </a:r>
            <a:r>
              <a:rPr lang="en-GB" sz="2600" dirty="0">
                <a:solidFill>
                  <a:schemeClr val="accent4"/>
                </a:solidFill>
                <a:latin typeface="Consolas"/>
                <a:cs typeface="Consolas"/>
              </a:rPr>
              <a:t>String</a:t>
            </a:r>
            <a:r>
              <a:rPr lang="en-GB" dirty="0"/>
              <a:t>!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B690E8D8-814B-C68F-79DE-0C377B9539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5</a:t>
            </a:fld>
            <a:endParaRPr lang="fr-FR" dirty="0"/>
          </a:p>
        </p:txBody>
      </p:sp>
      <p:pic>
        <p:nvPicPr>
          <p:cNvPr id="5" name="Picture 2" descr="blog-nutrition-outlet">
            <a:extLst>
              <a:ext uri="{FF2B5EF4-FFF2-40B4-BE49-F238E27FC236}">
                <a16:creationId xmlns:a16="http://schemas.microsoft.com/office/drawing/2014/main" id="{0793DAB3-6186-96EE-6ED9-7FDEAC5A5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0958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0457A3-71DE-F147-93F9-B50E7F930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Exercice</a:t>
            </a:r>
            <a:r>
              <a:rPr lang="en-GB" dirty="0"/>
              <a:t> 23 </a:t>
            </a:r>
            <a:r>
              <a:rPr lang="en-GB" baseline="30000" dirty="0"/>
              <a:t>3</a:t>
            </a:r>
            <a:r>
              <a:rPr lang="en-GB" b="0" dirty="0">
                <a:latin typeface="Calibri Light" panose="020F0302020204030204" pitchFamily="34" charset="0"/>
                <a:cs typeface="Calibri Light" panose="020F0302020204030204" pitchFamily="34" charset="0"/>
              </a:rPr>
              <a:t>/</a:t>
            </a:r>
            <a:r>
              <a:rPr lang="en-GB" baseline="-25000" dirty="0"/>
              <a:t>4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532E6E-3B82-294D-933D-26745EBC9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b="1" u="sng" dirty="0"/>
              <a:t>Contrôle de l’IBAN</a:t>
            </a:r>
          </a:p>
          <a:p>
            <a:pPr marL="0" indent="0">
              <a:buNone/>
            </a:pPr>
            <a:r>
              <a:rPr lang="fr-FR" dirty="0"/>
              <a:t>Soit le numéro </a:t>
            </a:r>
            <a:r>
              <a:rPr lang="fr-BE" dirty="0"/>
              <a:t>CH10 0023 00A1 0235 0260 1 à vérifier.</a:t>
            </a:r>
          </a:p>
          <a:p>
            <a:pPr marL="457200" indent="-457200">
              <a:buAutoNum type="arabicPeriod"/>
            </a:pPr>
            <a:r>
              <a:rPr lang="fr-BE" dirty="0"/>
              <a:t>Retirer tous les caractères non alphanumériques (A-Z0-9)</a:t>
            </a:r>
            <a:endParaRPr lang="fr-FR" dirty="0"/>
          </a:p>
          <a:p>
            <a:pPr marL="0" indent="0" algn="ctr">
              <a:buNone/>
            </a:pPr>
            <a:r>
              <a:rPr lang="fr-BE" sz="2400" dirty="0">
                <a:solidFill>
                  <a:schemeClr val="accent4"/>
                </a:solidFill>
                <a:latin typeface="Consolas"/>
                <a:cs typeface="Consolas"/>
              </a:rPr>
              <a:t>s = </a:t>
            </a:r>
            <a:r>
              <a:rPr lang="fr-BE" sz="2400" dirty="0" err="1">
                <a:solidFill>
                  <a:schemeClr val="accent4"/>
                </a:solidFill>
                <a:latin typeface="Consolas"/>
                <a:cs typeface="Consolas"/>
              </a:rPr>
              <a:t>s.replaceAll</a:t>
            </a:r>
            <a:r>
              <a:rPr lang="fr-BE" sz="2400" dirty="0">
                <a:solidFill>
                  <a:schemeClr val="accent4"/>
                </a:solidFill>
                <a:latin typeface="Consolas"/>
                <a:cs typeface="Consolas"/>
              </a:rPr>
              <a:t>("[^a-zA-Z0-9]", "");</a:t>
            </a:r>
            <a:endParaRPr lang="fr-BE" sz="2400" dirty="0">
              <a:solidFill>
                <a:schemeClr val="accent4"/>
              </a:solidFill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fr-BE" dirty="0"/>
              <a:t>Déplacer les 4 premiers caractères à droite (allez voir la méthode </a:t>
            </a:r>
            <a:r>
              <a:rPr lang="fr-BE" sz="2400" dirty="0" err="1">
                <a:solidFill>
                  <a:schemeClr val="accent4"/>
                </a:solidFill>
                <a:latin typeface="Consolas"/>
                <a:cs typeface="Consolas"/>
              </a:rPr>
              <a:t>s.substring</a:t>
            </a:r>
            <a:r>
              <a:rPr lang="fr-BE" dirty="0"/>
              <a:t>).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fr-FR" dirty="0"/>
              <a:t>Mettre tout en majuscules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fr-BE" dirty="0"/>
              <a:t>Transformer les caractères alphabétiques en numériques (on peut convertir le </a:t>
            </a:r>
            <a:r>
              <a:rPr lang="fr-BE" sz="2400" dirty="0">
                <a:solidFill>
                  <a:schemeClr val="accent4"/>
                </a:solidFill>
                <a:latin typeface="Consolas"/>
                <a:cs typeface="Consolas"/>
              </a:rPr>
              <a:t>char</a:t>
            </a:r>
            <a:r>
              <a:rPr lang="fr-BE" dirty="0"/>
              <a:t> en </a:t>
            </a:r>
            <a:r>
              <a:rPr lang="fr-BE" sz="2400" dirty="0" err="1">
                <a:solidFill>
                  <a:schemeClr val="accent4"/>
                </a:solidFill>
                <a:latin typeface="Consolas"/>
                <a:cs typeface="Consolas"/>
              </a:rPr>
              <a:t>int</a:t>
            </a:r>
            <a:r>
              <a:rPr lang="fr-BE" dirty="0"/>
              <a:t> pour obtenir son code ascii, sachant que ascii de </a:t>
            </a:r>
            <a:r>
              <a:rPr lang="fr-BE" sz="2400" dirty="0">
                <a:solidFill>
                  <a:schemeClr val="accent4"/>
                </a:solidFill>
                <a:latin typeface="Consolas"/>
                <a:cs typeface="Consolas"/>
              </a:rPr>
              <a:t>'A'</a:t>
            </a:r>
            <a:r>
              <a:rPr lang="fr-BE" dirty="0"/>
              <a:t> est 65) </a:t>
            </a:r>
          </a:p>
          <a:p>
            <a:pPr marL="457200" indent="-457200">
              <a:buFont typeface="+mj-lt"/>
              <a:buAutoNum type="arabicPeriod" startAt="2"/>
            </a:pPr>
            <a:endParaRPr lang="fr-BE" dirty="0"/>
          </a:p>
          <a:p>
            <a:pPr marL="457200" indent="-457200">
              <a:buFont typeface="+mj-lt"/>
              <a:buAutoNum type="arabicPeriod" startAt="2"/>
            </a:pPr>
            <a:endParaRPr lang="fr-BE" dirty="0"/>
          </a:p>
          <a:p>
            <a:pPr marL="457200" indent="-457200">
              <a:buFont typeface="+mj-lt"/>
              <a:buAutoNum type="arabicPeriod" startAt="2"/>
            </a:pPr>
            <a:endParaRPr lang="fr-BE" dirty="0"/>
          </a:p>
          <a:p>
            <a:pPr marL="457200" indent="-457200">
              <a:buFont typeface="+mj-lt"/>
              <a:buAutoNum type="arabicPeriod" startAt="2"/>
            </a:pPr>
            <a:endParaRPr lang="fr-BE" dirty="0"/>
          </a:p>
          <a:p>
            <a:pPr marL="457200" indent="-457200">
              <a:buFont typeface="+mj-lt"/>
              <a:buAutoNum type="arabicPeriod" startAt="2"/>
            </a:pPr>
            <a:r>
              <a:rPr lang="fr-BE" dirty="0"/>
              <a:t>Diviser le nombre obtenu par 97; le reste de la division (%) doit être 1. Utiliser </a:t>
            </a:r>
            <a:r>
              <a:rPr lang="fr-BE" sz="2400" dirty="0" err="1">
                <a:solidFill>
                  <a:schemeClr val="accent4"/>
                </a:solidFill>
                <a:latin typeface="Consolas"/>
                <a:cs typeface="Consolas"/>
              </a:rPr>
              <a:t>BigInteger</a:t>
            </a:r>
            <a:r>
              <a:rPr lang="fr-BE" dirty="0"/>
              <a:t>.</a:t>
            </a:r>
          </a:p>
        </p:txBody>
      </p:sp>
      <p:graphicFrame>
        <p:nvGraphicFramePr>
          <p:cNvPr id="7" name="Tableau 7">
            <a:extLst>
              <a:ext uri="{FF2B5EF4-FFF2-40B4-BE49-F238E27FC236}">
                <a16:creationId xmlns:a16="http://schemas.microsoft.com/office/drawing/2014/main" id="{49B046DF-3711-A347-AAC6-ECAFD01A2DC7}"/>
              </a:ext>
            </a:extLst>
          </p:cNvPr>
          <p:cNvGraphicFramePr>
            <a:graphicFrameLocks noGrp="1"/>
          </p:cNvGraphicFramePr>
          <p:nvPr/>
        </p:nvGraphicFramePr>
        <p:xfrm>
          <a:off x="3972233" y="4465741"/>
          <a:ext cx="4819035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695">
                  <a:extLst>
                    <a:ext uri="{9D8B030D-6E8A-4147-A177-3AD203B41FA5}">
                      <a16:colId xmlns:a16="http://schemas.microsoft.com/office/drawing/2014/main" val="3108691057"/>
                    </a:ext>
                  </a:extLst>
                </a:gridCol>
                <a:gridCol w="370695">
                  <a:extLst>
                    <a:ext uri="{9D8B030D-6E8A-4147-A177-3AD203B41FA5}">
                      <a16:colId xmlns:a16="http://schemas.microsoft.com/office/drawing/2014/main" val="3627964571"/>
                    </a:ext>
                  </a:extLst>
                </a:gridCol>
                <a:gridCol w="370695">
                  <a:extLst>
                    <a:ext uri="{9D8B030D-6E8A-4147-A177-3AD203B41FA5}">
                      <a16:colId xmlns:a16="http://schemas.microsoft.com/office/drawing/2014/main" val="3574538088"/>
                    </a:ext>
                  </a:extLst>
                </a:gridCol>
                <a:gridCol w="370695">
                  <a:extLst>
                    <a:ext uri="{9D8B030D-6E8A-4147-A177-3AD203B41FA5}">
                      <a16:colId xmlns:a16="http://schemas.microsoft.com/office/drawing/2014/main" val="1280928552"/>
                    </a:ext>
                  </a:extLst>
                </a:gridCol>
                <a:gridCol w="370695">
                  <a:extLst>
                    <a:ext uri="{9D8B030D-6E8A-4147-A177-3AD203B41FA5}">
                      <a16:colId xmlns:a16="http://schemas.microsoft.com/office/drawing/2014/main" val="2871858473"/>
                    </a:ext>
                  </a:extLst>
                </a:gridCol>
                <a:gridCol w="370695">
                  <a:extLst>
                    <a:ext uri="{9D8B030D-6E8A-4147-A177-3AD203B41FA5}">
                      <a16:colId xmlns:a16="http://schemas.microsoft.com/office/drawing/2014/main" val="3212231196"/>
                    </a:ext>
                  </a:extLst>
                </a:gridCol>
                <a:gridCol w="370695">
                  <a:extLst>
                    <a:ext uri="{9D8B030D-6E8A-4147-A177-3AD203B41FA5}">
                      <a16:colId xmlns:a16="http://schemas.microsoft.com/office/drawing/2014/main" val="3210174638"/>
                    </a:ext>
                  </a:extLst>
                </a:gridCol>
                <a:gridCol w="370695">
                  <a:extLst>
                    <a:ext uri="{9D8B030D-6E8A-4147-A177-3AD203B41FA5}">
                      <a16:colId xmlns:a16="http://schemas.microsoft.com/office/drawing/2014/main" val="2838379712"/>
                    </a:ext>
                  </a:extLst>
                </a:gridCol>
                <a:gridCol w="370695">
                  <a:extLst>
                    <a:ext uri="{9D8B030D-6E8A-4147-A177-3AD203B41FA5}">
                      <a16:colId xmlns:a16="http://schemas.microsoft.com/office/drawing/2014/main" val="981286387"/>
                    </a:ext>
                  </a:extLst>
                </a:gridCol>
                <a:gridCol w="370695">
                  <a:extLst>
                    <a:ext uri="{9D8B030D-6E8A-4147-A177-3AD203B41FA5}">
                      <a16:colId xmlns:a16="http://schemas.microsoft.com/office/drawing/2014/main" val="194900814"/>
                    </a:ext>
                  </a:extLst>
                </a:gridCol>
                <a:gridCol w="370695">
                  <a:extLst>
                    <a:ext uri="{9D8B030D-6E8A-4147-A177-3AD203B41FA5}">
                      <a16:colId xmlns:a16="http://schemas.microsoft.com/office/drawing/2014/main" val="3781505057"/>
                    </a:ext>
                  </a:extLst>
                </a:gridCol>
                <a:gridCol w="370695">
                  <a:extLst>
                    <a:ext uri="{9D8B030D-6E8A-4147-A177-3AD203B41FA5}">
                      <a16:colId xmlns:a16="http://schemas.microsoft.com/office/drawing/2014/main" val="4210445677"/>
                    </a:ext>
                  </a:extLst>
                </a:gridCol>
                <a:gridCol w="370695">
                  <a:extLst>
                    <a:ext uri="{9D8B030D-6E8A-4147-A177-3AD203B41FA5}">
                      <a16:colId xmlns:a16="http://schemas.microsoft.com/office/drawing/2014/main" val="3484509006"/>
                    </a:ext>
                  </a:extLst>
                </a:gridCol>
              </a:tblGrid>
              <a:tr h="190490">
                <a:tc>
                  <a:txBody>
                    <a:bodyPr/>
                    <a:lstStyle/>
                    <a:p>
                      <a:r>
                        <a:rPr lang="fr-FR" sz="1100" dirty="0"/>
                        <a:t>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B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C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D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F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G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H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I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J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K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L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M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195745"/>
                  </a:ext>
                </a:extLst>
              </a:tr>
              <a:tr h="177698">
                <a:tc>
                  <a:txBody>
                    <a:bodyPr/>
                    <a:lstStyle/>
                    <a:p>
                      <a:r>
                        <a:rPr lang="fr-FR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1803743"/>
                  </a:ext>
                </a:extLst>
              </a:tr>
              <a:tr h="17769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Q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fr-FR" sz="11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Z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52647"/>
                  </a:ext>
                </a:extLst>
              </a:tr>
              <a:tr h="177698">
                <a:tc>
                  <a:txBody>
                    <a:bodyPr/>
                    <a:lstStyle/>
                    <a:p>
                      <a:r>
                        <a:rPr lang="fr-FR" sz="11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2730788"/>
                  </a:ext>
                </a:extLst>
              </a:tr>
            </a:tbl>
          </a:graphicData>
        </a:graphic>
      </p:graphicFrame>
      <p:pic>
        <p:nvPicPr>
          <p:cNvPr id="2051" name="Picture 3" descr="Que peut-on faire avec un IBAN ? Le donner est-il dangereux ?">
            <a:extLst>
              <a:ext uri="{FF2B5EF4-FFF2-40B4-BE49-F238E27FC236}">
                <a16:creationId xmlns:a16="http://schemas.microsoft.com/office/drawing/2014/main" id="{841497A8-5D17-C043-B6ED-1C67A19F1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592" y="497449"/>
            <a:ext cx="2705663" cy="974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655AC80A-3272-8F8F-7893-0A11B2EA1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6</a:t>
            </a:fld>
            <a:endParaRPr lang="fr-FR" dirty="0"/>
          </a:p>
        </p:txBody>
      </p:sp>
      <p:pic>
        <p:nvPicPr>
          <p:cNvPr id="5" name="Picture 2" descr="blog-nutrition-outlet">
            <a:extLst>
              <a:ext uri="{FF2B5EF4-FFF2-40B4-BE49-F238E27FC236}">
                <a16:creationId xmlns:a16="http://schemas.microsoft.com/office/drawing/2014/main" id="{45B34878-ECC4-D2DA-CE31-F052EDE71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8241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Exercice</a:t>
            </a:r>
            <a:r>
              <a:rPr lang="en-GB" dirty="0"/>
              <a:t> 23 </a:t>
            </a:r>
            <a:r>
              <a:rPr lang="en-GB" baseline="30000" dirty="0"/>
              <a:t>4</a:t>
            </a:r>
            <a:r>
              <a:rPr lang="en-GB" b="0" dirty="0">
                <a:latin typeface="Calibri Light" panose="020F0302020204030204" pitchFamily="34" charset="0"/>
                <a:cs typeface="Calibri Light" panose="020F0302020204030204" pitchFamily="34" charset="0"/>
              </a:rPr>
              <a:t>/</a:t>
            </a:r>
            <a:r>
              <a:rPr lang="en-GB" baseline="-25000" dirty="0"/>
              <a:t>4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>
                <a:cs typeface="Consolas"/>
              </a:rPr>
              <a:t>Modifiez votre classe </a:t>
            </a:r>
            <a: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  <a:t>Compte</a:t>
            </a:r>
            <a:r>
              <a:rPr lang="fr-FR" dirty="0">
                <a:cs typeface="Consolas"/>
              </a:rPr>
              <a:t> de manière à utiliser des exceptions</a:t>
            </a:r>
            <a:r>
              <a:rPr lang="mr-IN" dirty="0">
                <a:cs typeface="Consolas"/>
              </a:rPr>
              <a:t>…</a:t>
            </a:r>
            <a:endParaRPr lang="nl-BE" dirty="0">
              <a:cs typeface="Consolas"/>
            </a:endParaRPr>
          </a:p>
          <a:p>
            <a:pPr marL="0" indent="0">
              <a:buNone/>
            </a:pPr>
            <a:r>
              <a:rPr lang="nl-BE" dirty="0">
                <a:cs typeface="Consolas"/>
              </a:rPr>
              <a:t>Construisez un constructeur explicite, qui recevra le numéro du compte (champ final)</a:t>
            </a:r>
            <a:endParaRPr lang="fr-FR" dirty="0">
              <a:cs typeface="Consolas"/>
            </a:endParaRPr>
          </a:p>
          <a:p>
            <a:pPr marL="0" indent="0">
              <a:buNone/>
            </a:pPr>
            <a:r>
              <a:rPr lang="fr-FR" dirty="0">
                <a:cs typeface="Consolas"/>
              </a:rPr>
              <a:t>Créez une </a:t>
            </a:r>
            <a: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  <a:t>Exception</a:t>
            </a:r>
            <a:r>
              <a:rPr lang="fr-FR" dirty="0">
                <a:cs typeface="Consolas"/>
              </a:rPr>
              <a:t> pour chaque erreur possible.</a:t>
            </a:r>
          </a:p>
          <a:p>
            <a:pPr lvl="1"/>
            <a:r>
              <a:rPr lang="en-GB" dirty="0"/>
              <a:t>Pas 16 chars</a:t>
            </a:r>
          </a:p>
          <a:p>
            <a:pPr lvl="1"/>
            <a:r>
              <a:rPr lang="en-GB" dirty="0"/>
              <a:t>Ne commence pas par “BE”</a:t>
            </a:r>
          </a:p>
          <a:p>
            <a:pPr lvl="1"/>
            <a:r>
              <a:rPr lang="en-GB" dirty="0"/>
              <a:t>Modulo 97 inexact.</a:t>
            </a:r>
            <a:endParaRPr lang="fr-FR" strike="sngStrike" dirty="0">
              <a:cs typeface="Consolas"/>
            </a:endParaRPr>
          </a:p>
          <a:p>
            <a:pPr marL="0" indent="0">
              <a:buNone/>
            </a:pPr>
            <a:r>
              <a:rPr lang="fr-FR" dirty="0">
                <a:cs typeface="Consolas"/>
              </a:rPr>
              <a:t>Faites en sorte que le constructeur puisse lever ces exceptions.</a:t>
            </a:r>
          </a:p>
          <a:p>
            <a:pPr marL="0" indent="0">
              <a:buNone/>
            </a:pPr>
            <a:r>
              <a:rPr lang="fr-FR" dirty="0">
                <a:cs typeface="Consolas"/>
              </a:rPr>
              <a:t>Faites en sorte que votre programme </a:t>
            </a:r>
            <a:r>
              <a:rPr lang="fr-FR" sz="2400" dirty="0" err="1">
                <a:solidFill>
                  <a:schemeClr val="accent4"/>
                </a:solidFill>
                <a:latin typeface="Consolas"/>
                <a:cs typeface="Consolas"/>
              </a:rPr>
              <a:t>GestionDeCompte</a:t>
            </a:r>
            <a:r>
              <a:rPr lang="fr-FR" dirty="0">
                <a:cs typeface="Consolas"/>
              </a:rPr>
              <a:t> traite ces exceptions (de toutes façons vous n’avez pas le choix).</a:t>
            </a:r>
          </a:p>
          <a:p>
            <a:pPr marL="0" indent="0">
              <a:buNone/>
            </a:pPr>
            <a:endParaRPr lang="fr-FR" dirty="0">
              <a:cs typeface="Consolas"/>
            </a:endParaRP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1F634E1B-7283-20B8-8B39-434D59FC7D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7</a:t>
            </a:fld>
            <a:endParaRPr lang="fr-FR" dirty="0"/>
          </a:p>
        </p:txBody>
      </p:sp>
      <p:pic>
        <p:nvPicPr>
          <p:cNvPr id="6" name="Picture 2" descr="blog-nutrition-outlet">
            <a:extLst>
              <a:ext uri="{FF2B5EF4-FFF2-40B4-BE49-F238E27FC236}">
                <a16:creationId xmlns:a16="http://schemas.microsoft.com/office/drawing/2014/main" id="{BFF9DF93-BE4D-CDA4-1664-785484236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3350517"/>
      </p:ext>
    </p:extLst>
  </p:cSld>
  <p:clrMapOvr>
    <a:masterClrMapping/>
  </p:clrMapOvr>
  <p:transition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Exercice 24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cs typeface="Consolas"/>
              </a:rPr>
              <a:t>Modifier encore votre classe </a:t>
            </a:r>
            <a: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  <a:t>Compte</a:t>
            </a:r>
            <a:r>
              <a:rPr lang="fr-FR" dirty="0">
                <a:cs typeface="Consolas"/>
              </a:rPr>
              <a:t> pour que les exceptions retournent un message approprié:</a:t>
            </a:r>
          </a:p>
          <a:p>
            <a:pPr marL="457200" lvl="1" indent="0">
              <a:buNone/>
            </a:pPr>
            <a:r>
              <a:rPr lang="fr-FR" dirty="0">
                <a:cs typeface="Consolas"/>
              </a:rPr>
              <a:t>- « L’IBAN doit </a:t>
            </a:r>
            <a:r>
              <a:rPr lang="fr-FR" dirty="0" err="1">
                <a:cs typeface="Consolas"/>
              </a:rPr>
              <a:t>contenit</a:t>
            </a:r>
            <a:r>
              <a:rPr lang="fr-FR" dirty="0">
                <a:cs typeface="Consolas"/>
              </a:rPr>
              <a:t> 16 caractères, en contient </a:t>
            </a:r>
            <a:r>
              <a:rPr lang="fr-FR" dirty="0">
                <a:solidFill>
                  <a:schemeClr val="accent4"/>
                </a:solidFill>
                <a:cs typeface="Consolas"/>
              </a:rPr>
              <a:t>n</a:t>
            </a:r>
            <a:r>
              <a:rPr lang="fr-FR" dirty="0">
                <a:cs typeface="Consolas"/>
              </a:rPr>
              <a:t> »,</a:t>
            </a:r>
          </a:p>
          <a:p>
            <a:pPr marL="457200" lvl="1" indent="0">
              <a:buNone/>
            </a:pPr>
            <a:r>
              <a:rPr lang="fr-FR" dirty="0">
                <a:cs typeface="Consolas"/>
              </a:rPr>
              <a:t>- « L’IBAN doit commencer par BE  - commence par </a:t>
            </a:r>
            <a:r>
              <a:rPr lang="fr-FR" dirty="0">
                <a:solidFill>
                  <a:schemeClr val="accent4"/>
                </a:solidFill>
                <a:cs typeface="Consolas"/>
              </a:rPr>
              <a:t>xx</a:t>
            </a:r>
            <a:r>
              <a:rPr lang="fr-FR" dirty="0">
                <a:cs typeface="Consolas"/>
              </a:rPr>
              <a:t> »,</a:t>
            </a:r>
          </a:p>
          <a:p>
            <a:pPr marL="457200" lvl="1" indent="0">
              <a:buNone/>
            </a:pPr>
            <a:r>
              <a:rPr lang="fr-FR" dirty="0">
                <a:cs typeface="Consolas"/>
              </a:rPr>
              <a:t>- « Le Modulo est incorrect ».</a:t>
            </a:r>
          </a:p>
          <a:p>
            <a:pPr marL="0" indent="0">
              <a:buNone/>
            </a:pPr>
            <a:endParaRPr lang="fr-FR" dirty="0">
              <a:cs typeface="Consolas"/>
            </a:endParaRPr>
          </a:p>
          <a:p>
            <a:pPr marL="0" indent="0">
              <a:buNone/>
            </a:pPr>
            <a:r>
              <a:rPr lang="fr-FR" dirty="0">
                <a:cs typeface="Consolas"/>
              </a:rPr>
              <a:t>Faites en sorte que votre application affiche le message.</a:t>
            </a: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723D9F77-A0BA-CD70-4049-908BE9680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8</a:t>
            </a:fld>
            <a:endParaRPr lang="fr-FR" dirty="0"/>
          </a:p>
        </p:txBody>
      </p:sp>
      <p:pic>
        <p:nvPicPr>
          <p:cNvPr id="5" name="Picture 2" descr="blog-nutrition-outlet">
            <a:extLst>
              <a:ext uri="{FF2B5EF4-FFF2-40B4-BE49-F238E27FC236}">
                <a16:creationId xmlns:a16="http://schemas.microsoft.com/office/drawing/2014/main" id="{457F48D3-24BC-CB97-1922-AD9C1E914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5323215"/>
      </p:ext>
    </p:extLst>
  </p:cSld>
  <p:clrMapOvr>
    <a:masterClrMapping/>
  </p:clrMapOvr>
  <p:transition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Exercice 25</a:t>
            </a:r>
            <a:r>
              <a:rPr lang="en-GB" dirty="0"/>
              <a:t> </a:t>
            </a:r>
            <a:r>
              <a:rPr lang="en-GB" baseline="30000" dirty="0"/>
              <a:t>1</a:t>
            </a:r>
            <a:r>
              <a:rPr lang="en-GB" b="0" dirty="0">
                <a:latin typeface="Calibri Light" panose="020F0302020204030204" pitchFamily="34" charset="0"/>
                <a:cs typeface="Calibri Light" panose="020F0302020204030204" pitchFamily="34" charset="0"/>
              </a:rPr>
              <a:t>/</a:t>
            </a:r>
            <a:r>
              <a:rPr lang="en-GB" baseline="-25000" dirty="0"/>
              <a:t>2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5"/>
            <a:ext cx="1087058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cs typeface="Consolas"/>
              </a:rPr>
              <a:t>Dans cet exercice, vous allez provoquer des exceptions, puis les traiter…</a:t>
            </a:r>
          </a:p>
          <a:p>
            <a:pPr marL="457200" indent="-457200">
              <a:buAutoNum type="arabicPeriod"/>
            </a:pPr>
            <a:r>
              <a:rPr lang="fr-FR" sz="2400" dirty="0">
                <a:cs typeface="Consolas"/>
              </a:rPr>
              <a:t>Ecrivez un programme dans lequel vous définissez un tableau d’entier: </a:t>
            </a:r>
            <a:r>
              <a:rPr lang="fr-FR" sz="2000" dirty="0" err="1">
                <a:solidFill>
                  <a:schemeClr val="accent4"/>
                </a:solidFill>
                <a:latin typeface="Consolas"/>
                <a:cs typeface="Consolas"/>
              </a:rPr>
              <a:t>int</a:t>
            </a:r>
            <a:r>
              <a:rPr lang="fr-FR" sz="2000" dirty="0">
                <a:solidFill>
                  <a:schemeClr val="accent4"/>
                </a:solidFill>
                <a:latin typeface="Consolas"/>
                <a:cs typeface="Consolas"/>
              </a:rPr>
              <a:t> </a:t>
            </a:r>
            <a:r>
              <a:rPr lang="fr-FR" sz="2000" dirty="0" err="1">
                <a:solidFill>
                  <a:schemeClr val="accent4"/>
                </a:solidFill>
                <a:latin typeface="Consolas"/>
                <a:cs typeface="Consolas"/>
              </a:rPr>
              <a:t>t</a:t>
            </a:r>
            <a:r>
              <a:rPr lang="fr-FR" sz="2000" dirty="0">
                <a:solidFill>
                  <a:schemeClr val="accent4"/>
                </a:solidFill>
                <a:latin typeface="Consolas"/>
                <a:cs typeface="Consolas"/>
              </a:rPr>
              <a:t>[];</a:t>
            </a:r>
            <a:r>
              <a:rPr lang="fr-FR" sz="2400" dirty="0">
                <a:cs typeface="Consolas"/>
              </a:rPr>
              <a:t>. </a:t>
            </a:r>
          </a:p>
          <a:p>
            <a:pPr marL="457200" indent="-457200">
              <a:buAutoNum type="arabicPeriod"/>
            </a:pPr>
            <a:r>
              <a:rPr lang="fr-FR" sz="2400" dirty="0">
                <a:cs typeface="Consolas"/>
              </a:rPr>
              <a:t>Demandez à l’utilisateur la taille du tableau (en utilisant un </a:t>
            </a:r>
            <a:r>
              <a:rPr lang="fr-FR" sz="2000" dirty="0">
                <a:latin typeface="Consolas"/>
                <a:cs typeface="Consolas"/>
              </a:rPr>
              <a:t>Scanner</a:t>
            </a:r>
            <a:r>
              <a:rPr lang="fr-FR" sz="2400" dirty="0">
                <a:cs typeface="Consolas"/>
              </a:rPr>
              <a:t>)</a:t>
            </a:r>
          </a:p>
          <a:p>
            <a:pPr marL="457200" indent="-457200">
              <a:buAutoNum type="arabicPeriod"/>
            </a:pPr>
            <a:r>
              <a:rPr lang="fr-FR" sz="2400" dirty="0">
                <a:cs typeface="Consolas"/>
              </a:rPr>
              <a:t>Définissez ensuite le tableau: </a:t>
            </a:r>
            <a:r>
              <a:rPr lang="fr-FR" sz="2000" dirty="0" err="1">
                <a:solidFill>
                  <a:schemeClr val="accent4"/>
                </a:solidFill>
                <a:latin typeface="Consolas"/>
                <a:cs typeface="Consolas"/>
              </a:rPr>
              <a:t>t</a:t>
            </a:r>
            <a:r>
              <a:rPr lang="fr-FR" sz="2000" dirty="0">
                <a:solidFill>
                  <a:schemeClr val="accent4"/>
                </a:solidFill>
                <a:latin typeface="Consolas"/>
                <a:cs typeface="Consolas"/>
              </a:rPr>
              <a:t> = new </a:t>
            </a:r>
            <a:r>
              <a:rPr lang="fr-FR" sz="2000" dirty="0" err="1">
                <a:solidFill>
                  <a:schemeClr val="accent4"/>
                </a:solidFill>
                <a:latin typeface="Consolas"/>
                <a:cs typeface="Consolas"/>
              </a:rPr>
              <a:t>int</a:t>
            </a:r>
            <a:r>
              <a:rPr lang="fr-FR" sz="2000" dirty="0">
                <a:solidFill>
                  <a:schemeClr val="accent4"/>
                </a:solidFill>
                <a:latin typeface="Consolas"/>
                <a:cs typeface="Consolas"/>
              </a:rPr>
              <a:t>[n];</a:t>
            </a:r>
            <a:r>
              <a:rPr lang="fr-FR" sz="2000" dirty="0">
                <a:latin typeface="Consolas"/>
                <a:cs typeface="Consolas"/>
              </a:rPr>
              <a:t> </a:t>
            </a:r>
          </a:p>
          <a:p>
            <a:pPr marL="457200" indent="-457200">
              <a:buAutoNum type="arabicPeriod"/>
            </a:pPr>
            <a:r>
              <a:rPr lang="fr-FR" sz="2400" dirty="0">
                <a:cs typeface="Consolas"/>
              </a:rPr>
              <a:t>Demandez à l’utilisateur dans quelle case du tableau mettre la valeur </a:t>
            </a:r>
            <a:r>
              <a:rPr lang="fr-FR" sz="2400" dirty="0">
                <a:solidFill>
                  <a:schemeClr val="accent4"/>
                </a:solidFill>
                <a:cs typeface="Consolas"/>
              </a:rPr>
              <a:t>12</a:t>
            </a:r>
          </a:p>
          <a:p>
            <a:pPr marL="457200" indent="-457200">
              <a:buAutoNum type="arabicPeriod"/>
            </a:pPr>
            <a:r>
              <a:rPr lang="fr-FR" sz="2400" dirty="0">
                <a:cs typeface="Consolas"/>
              </a:rPr>
              <a:t>Assignez ensuite 12 à cette case: </a:t>
            </a:r>
            <a:r>
              <a:rPr lang="fr-FR" sz="2000" dirty="0" err="1">
                <a:solidFill>
                  <a:schemeClr val="accent4"/>
                </a:solidFill>
                <a:latin typeface="Consolas"/>
                <a:cs typeface="Consolas"/>
              </a:rPr>
              <a:t>t</a:t>
            </a:r>
            <a:r>
              <a:rPr lang="fr-FR" sz="2000" dirty="0">
                <a:solidFill>
                  <a:schemeClr val="accent4"/>
                </a:solidFill>
                <a:latin typeface="Consolas"/>
                <a:cs typeface="Consolas"/>
              </a:rPr>
              <a:t>[i] = 12;</a:t>
            </a:r>
          </a:p>
          <a:p>
            <a:pPr marL="457200" indent="-457200">
              <a:buFont typeface="Arial" pitchFamily="34" charset="0"/>
              <a:buAutoNum type="arabicPeriod"/>
            </a:pPr>
            <a:r>
              <a:rPr lang="fr-FR" sz="2400" dirty="0">
                <a:cs typeface="Consolas"/>
              </a:rPr>
              <a:t>Testez ensuite votre code.</a:t>
            </a:r>
            <a:endParaRPr lang="fr-FR" sz="2400" dirty="0">
              <a:latin typeface="Consolas"/>
              <a:cs typeface="Consolas"/>
            </a:endParaRP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CBE44C9B-673A-7ED6-FBF0-61A9318FB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9</a:t>
            </a:fld>
            <a:endParaRPr lang="fr-FR" dirty="0"/>
          </a:p>
        </p:txBody>
      </p:sp>
      <p:pic>
        <p:nvPicPr>
          <p:cNvPr id="5" name="Picture 2" descr="blog-nutrition-outlet">
            <a:extLst>
              <a:ext uri="{FF2B5EF4-FFF2-40B4-BE49-F238E27FC236}">
                <a16:creationId xmlns:a16="http://schemas.microsoft.com/office/drawing/2014/main" id="{1A14C910-F005-B06C-06C5-A3E8832E9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5025476"/>
      </p:ext>
    </p:extLst>
  </p:cSld>
  <p:clrMapOvr>
    <a:masterClrMapping/>
  </p:clrMapOvr>
  <p:transition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Exercice 25</a:t>
            </a:r>
            <a:r>
              <a:rPr lang="en-GB" dirty="0"/>
              <a:t> </a:t>
            </a:r>
            <a:r>
              <a:rPr lang="en-GB" baseline="30000" dirty="0"/>
              <a:t>2</a:t>
            </a:r>
            <a:r>
              <a:rPr lang="en-GB" b="0" dirty="0">
                <a:latin typeface="Calibri Light" panose="020F0302020204030204" pitchFamily="34" charset="0"/>
                <a:cs typeface="Calibri Light" panose="020F0302020204030204" pitchFamily="34" charset="0"/>
              </a:rPr>
              <a:t>/</a:t>
            </a:r>
            <a:r>
              <a:rPr lang="en-GB" baseline="-25000" dirty="0"/>
              <a:t>2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cs typeface="Consolas"/>
              </a:rPr>
              <a:t>Testez votre programme </a:t>
            </a:r>
          </a:p>
          <a:p>
            <a:r>
              <a:rPr lang="fr-FR" dirty="0">
                <a:cs typeface="Consolas"/>
              </a:rPr>
              <a:t>en indiquant un nombre de cases négatif.</a:t>
            </a:r>
          </a:p>
          <a:p>
            <a:r>
              <a:rPr lang="fr-FR" dirty="0">
                <a:cs typeface="Consolas"/>
              </a:rPr>
              <a:t>en mettant la valeur dans une case hors des limites du tableau.</a:t>
            </a:r>
          </a:p>
          <a:p>
            <a:pPr marL="0" indent="0">
              <a:buNone/>
            </a:pPr>
            <a:r>
              <a:rPr lang="fr-FR" dirty="0">
                <a:cs typeface="Consolas"/>
              </a:rPr>
              <a:t>Que se passe-t-il?</a:t>
            </a:r>
          </a:p>
          <a:p>
            <a:pPr marL="0" indent="0">
              <a:buNone/>
            </a:pPr>
            <a:r>
              <a:rPr lang="fr-FR" dirty="0">
                <a:cs typeface="Consolas"/>
              </a:rPr>
              <a:t>Modifiez le programme en traitant les deux Exceptions rencontrées, de manière à ce qu’il ne plante pas</a:t>
            </a:r>
            <a:r>
              <a:rPr lang="mr-IN" dirty="0">
                <a:cs typeface="Consolas"/>
              </a:rPr>
              <a:t>…</a:t>
            </a:r>
            <a:endParaRPr lang="fr-FR" dirty="0">
              <a:cs typeface="Consolas"/>
            </a:endParaRP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A26D3016-A850-3549-CBB5-73A2476828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10</a:t>
            </a:fld>
            <a:endParaRPr lang="fr-FR" dirty="0"/>
          </a:p>
        </p:txBody>
      </p:sp>
      <p:pic>
        <p:nvPicPr>
          <p:cNvPr id="5" name="Picture 2" descr="blog-nutrition-outlet">
            <a:extLst>
              <a:ext uri="{FF2B5EF4-FFF2-40B4-BE49-F238E27FC236}">
                <a16:creationId xmlns:a16="http://schemas.microsoft.com/office/drawing/2014/main" id="{E281E35F-016C-4F21-77A7-10B26FC9B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7872740"/>
      </p:ext>
    </p:extLst>
  </p:cSld>
  <p:clrMapOvr>
    <a:masterClrMapping/>
  </p:clrMapOvr>
  <p:transition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Exercice 26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4792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cs typeface="Consolas"/>
              </a:rPr>
              <a:t>Essayez de comprendre ce qui s’est passé si vous voyez ce message</a:t>
            </a:r>
            <a:r>
              <a:rPr lang="mr-IN" dirty="0">
                <a:cs typeface="Consolas"/>
              </a:rPr>
              <a:t>…</a:t>
            </a:r>
            <a:endParaRPr lang="nl-BE" dirty="0">
              <a:cs typeface="Consolas"/>
            </a:endParaRPr>
          </a:p>
          <a:p>
            <a:pPr lvl="1"/>
            <a:r>
              <a:rPr lang="nl-BE" dirty="0">
                <a:cs typeface="Consolas"/>
              </a:rPr>
              <a:t>Quelle classe a provoqué l’erreur.</a:t>
            </a:r>
          </a:p>
          <a:p>
            <a:pPr lvl="1"/>
            <a:r>
              <a:rPr lang="nl-BE" dirty="0">
                <a:cs typeface="Consolas"/>
              </a:rPr>
              <a:t>Dans quelle méthode étions-nous?</a:t>
            </a:r>
          </a:p>
          <a:p>
            <a:pPr lvl="1"/>
            <a:r>
              <a:rPr lang="nl-BE" dirty="0">
                <a:cs typeface="Consolas"/>
              </a:rPr>
              <a:t>Par quelle autre méthode ce traitement avait-il été lancé?</a:t>
            </a:r>
          </a:p>
        </p:txBody>
      </p:sp>
      <p:sp>
        <p:nvSpPr>
          <p:cNvPr id="5" name="Rectangle 4"/>
          <p:cNvSpPr/>
          <p:nvPr/>
        </p:nvSpPr>
        <p:spPr>
          <a:xfrm>
            <a:off x="1301040" y="3933905"/>
            <a:ext cx="9259671" cy="1569660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rgbClr val="FF2600"/>
                </a:solidFill>
                <a:latin typeface="Monaco" charset="0"/>
              </a:rPr>
              <a:t>Exception in thread "main" </a:t>
            </a:r>
            <a:r>
              <a:rPr lang="fr-FR" sz="1600" u="sng" dirty="0" err="1">
                <a:solidFill>
                  <a:srgbClr val="0080E1"/>
                </a:solidFill>
                <a:latin typeface="Monaco" charset="0"/>
              </a:rPr>
              <a:t>java.lang.ArithmeticException</a:t>
            </a:r>
            <a:r>
              <a:rPr lang="fr-FR" sz="1600" dirty="0">
                <a:solidFill>
                  <a:srgbClr val="FF2600"/>
                </a:solidFill>
                <a:latin typeface="Monaco" charset="0"/>
              </a:rPr>
              <a:t>: / by </a:t>
            </a:r>
            <a:r>
              <a:rPr lang="fr-FR" sz="1600" dirty="0" err="1">
                <a:solidFill>
                  <a:srgbClr val="FF2600"/>
                </a:solidFill>
                <a:latin typeface="Monaco" charset="0"/>
              </a:rPr>
              <a:t>zero</a:t>
            </a:r>
            <a:endParaRPr lang="fr-FR" sz="1600" dirty="0">
              <a:solidFill>
                <a:srgbClr val="FF2600"/>
              </a:solidFill>
              <a:latin typeface="Monaco" charset="0"/>
            </a:endParaRPr>
          </a:p>
          <a:p>
            <a:r>
              <a:rPr lang="fr-FR" sz="1600" dirty="0">
                <a:solidFill>
                  <a:srgbClr val="FF2600"/>
                </a:solidFill>
                <a:latin typeface="Monaco" charset="0"/>
              </a:rPr>
              <a:t>at </a:t>
            </a:r>
            <a:r>
              <a:rPr lang="fr-FR" sz="1600" dirty="0" err="1">
                <a:solidFill>
                  <a:srgbClr val="FF2600"/>
                </a:solidFill>
                <a:latin typeface="Monaco" charset="0"/>
              </a:rPr>
              <a:t>be.ferrant.Sort</a:t>
            </a:r>
            <a:r>
              <a:rPr lang="fr-FR" sz="1600" dirty="0">
                <a:solidFill>
                  <a:srgbClr val="FF2600"/>
                </a:solidFill>
                <a:latin typeface="Monaco" charset="0"/>
              </a:rPr>
              <a:t>.&lt;</a:t>
            </a:r>
            <a:r>
              <a:rPr lang="fr-FR" sz="1600" dirty="0" err="1">
                <a:solidFill>
                  <a:srgbClr val="FF2600"/>
                </a:solidFill>
                <a:latin typeface="Monaco" charset="0"/>
              </a:rPr>
              <a:t>init</a:t>
            </a:r>
            <a:r>
              <a:rPr lang="fr-FR" sz="1600" dirty="0">
                <a:solidFill>
                  <a:srgbClr val="FF2600"/>
                </a:solidFill>
                <a:latin typeface="Monaco" charset="0"/>
              </a:rPr>
              <a:t>&gt;(</a:t>
            </a:r>
            <a:r>
              <a:rPr lang="fr-FR" sz="1600" u="sng" dirty="0">
                <a:solidFill>
                  <a:srgbClr val="0080E1"/>
                </a:solidFill>
                <a:latin typeface="Monaco" charset="0"/>
              </a:rPr>
              <a:t>Sort.java:17</a:t>
            </a:r>
            <a:r>
              <a:rPr lang="fr-FR" sz="1600" dirty="0">
                <a:solidFill>
                  <a:srgbClr val="FF2600"/>
                </a:solidFill>
                <a:latin typeface="Monaco" charset="0"/>
              </a:rPr>
              <a:t>)</a:t>
            </a:r>
          </a:p>
          <a:p>
            <a:r>
              <a:rPr lang="fr-FR" sz="1600" dirty="0">
                <a:solidFill>
                  <a:srgbClr val="FF2600"/>
                </a:solidFill>
                <a:latin typeface="Monaco" charset="0"/>
              </a:rPr>
              <a:t>at </a:t>
            </a:r>
            <a:r>
              <a:rPr lang="fr-FR" sz="1600" dirty="0" err="1">
                <a:solidFill>
                  <a:srgbClr val="FF2600"/>
                </a:solidFill>
                <a:latin typeface="Monaco" charset="0"/>
              </a:rPr>
              <a:t>be.ferrant.Joueur.lanceUnSort</a:t>
            </a:r>
            <a:r>
              <a:rPr lang="fr-FR" sz="1600" dirty="0">
                <a:solidFill>
                  <a:srgbClr val="FF2600"/>
                </a:solidFill>
                <a:latin typeface="Monaco" charset="0"/>
              </a:rPr>
              <a:t>(</a:t>
            </a:r>
            <a:r>
              <a:rPr lang="fr-FR" sz="1600" u="sng" dirty="0">
                <a:solidFill>
                  <a:srgbClr val="0080E1"/>
                </a:solidFill>
                <a:latin typeface="Monaco" charset="0"/>
              </a:rPr>
              <a:t>Joueur.java:204</a:t>
            </a:r>
            <a:r>
              <a:rPr lang="fr-FR" sz="1600" dirty="0">
                <a:solidFill>
                  <a:srgbClr val="FF2600"/>
                </a:solidFill>
                <a:latin typeface="Monaco" charset="0"/>
              </a:rPr>
              <a:t>)</a:t>
            </a:r>
          </a:p>
          <a:p>
            <a:r>
              <a:rPr lang="fr-FR" sz="1600" dirty="0">
                <a:solidFill>
                  <a:srgbClr val="FF2600"/>
                </a:solidFill>
                <a:latin typeface="Monaco" charset="0"/>
              </a:rPr>
              <a:t>at </a:t>
            </a:r>
            <a:r>
              <a:rPr lang="fr-FR" sz="1600" dirty="0" err="1">
                <a:solidFill>
                  <a:srgbClr val="FF2600"/>
                </a:solidFill>
                <a:latin typeface="Monaco" charset="0"/>
              </a:rPr>
              <a:t>be.ferrant.Partie.joueUnTour</a:t>
            </a:r>
            <a:r>
              <a:rPr lang="fr-FR" sz="1600" dirty="0">
                <a:solidFill>
                  <a:srgbClr val="FF2600"/>
                </a:solidFill>
                <a:latin typeface="Monaco" charset="0"/>
              </a:rPr>
              <a:t>(</a:t>
            </a:r>
            <a:r>
              <a:rPr lang="fr-FR" sz="1600" u="sng" dirty="0">
                <a:solidFill>
                  <a:srgbClr val="0080E1"/>
                </a:solidFill>
                <a:latin typeface="Monaco" charset="0"/>
              </a:rPr>
              <a:t>Partie.java:67</a:t>
            </a:r>
            <a:r>
              <a:rPr lang="fr-FR" sz="1600" dirty="0">
                <a:solidFill>
                  <a:srgbClr val="FF2600"/>
                </a:solidFill>
                <a:latin typeface="Monaco" charset="0"/>
              </a:rPr>
              <a:t>)</a:t>
            </a:r>
          </a:p>
          <a:p>
            <a:r>
              <a:rPr lang="fr-FR" sz="1600" dirty="0">
                <a:solidFill>
                  <a:srgbClr val="FF2600"/>
                </a:solidFill>
                <a:latin typeface="Monaco" charset="0"/>
              </a:rPr>
              <a:t>at </a:t>
            </a:r>
            <a:r>
              <a:rPr lang="fr-FR" sz="1600" dirty="0" err="1">
                <a:solidFill>
                  <a:srgbClr val="FF2600"/>
                </a:solidFill>
                <a:latin typeface="Monaco" charset="0"/>
              </a:rPr>
              <a:t>be.ferrant.Partie.demarre</a:t>
            </a:r>
            <a:r>
              <a:rPr lang="fr-FR" sz="1600" dirty="0">
                <a:solidFill>
                  <a:srgbClr val="FF2600"/>
                </a:solidFill>
                <a:latin typeface="Monaco" charset="0"/>
              </a:rPr>
              <a:t>(</a:t>
            </a:r>
            <a:r>
              <a:rPr lang="fr-FR" sz="1600" u="sng" dirty="0">
                <a:solidFill>
                  <a:srgbClr val="0080E1"/>
                </a:solidFill>
                <a:latin typeface="Monaco" charset="0"/>
              </a:rPr>
              <a:t>Partie.java:50</a:t>
            </a:r>
            <a:r>
              <a:rPr lang="fr-FR" sz="1600" dirty="0">
                <a:solidFill>
                  <a:srgbClr val="FF2600"/>
                </a:solidFill>
                <a:latin typeface="Monaco" charset="0"/>
              </a:rPr>
              <a:t>)</a:t>
            </a:r>
          </a:p>
          <a:p>
            <a:r>
              <a:rPr lang="fr-FR" sz="1600" dirty="0">
                <a:solidFill>
                  <a:srgbClr val="FF2600"/>
                </a:solidFill>
                <a:latin typeface="Monaco" charset="0"/>
              </a:rPr>
              <a:t>at </a:t>
            </a:r>
            <a:r>
              <a:rPr lang="fr-FR" sz="1600" dirty="0" err="1">
                <a:solidFill>
                  <a:srgbClr val="FF2600"/>
                </a:solidFill>
                <a:latin typeface="Monaco" charset="0"/>
              </a:rPr>
              <a:t>be.ferrant.ProgrammeJdR.main</a:t>
            </a:r>
            <a:r>
              <a:rPr lang="fr-FR" sz="1600" dirty="0">
                <a:solidFill>
                  <a:srgbClr val="FF2600"/>
                </a:solidFill>
                <a:latin typeface="Monaco" charset="0"/>
              </a:rPr>
              <a:t>(</a:t>
            </a:r>
            <a:r>
              <a:rPr lang="fr-FR" sz="1600" u="sng" dirty="0">
                <a:solidFill>
                  <a:srgbClr val="0080E1"/>
                </a:solidFill>
                <a:latin typeface="Monaco" charset="0"/>
              </a:rPr>
              <a:t>ProgrammeJdR.java:10</a:t>
            </a:r>
            <a:r>
              <a:rPr lang="fr-FR" sz="1600" dirty="0">
                <a:solidFill>
                  <a:srgbClr val="FF2600"/>
                </a:solidFill>
                <a:latin typeface="Monaco" charset="0"/>
              </a:rPr>
              <a:t>)</a:t>
            </a: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E6C194F2-208E-123A-7E71-7FFF735F9F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11</a:t>
            </a:fld>
            <a:endParaRPr lang="fr-FR" dirty="0"/>
          </a:p>
        </p:txBody>
      </p:sp>
      <p:pic>
        <p:nvPicPr>
          <p:cNvPr id="6" name="Picture 2" descr="blog-nutrition-outlet">
            <a:extLst>
              <a:ext uri="{FF2B5EF4-FFF2-40B4-BE49-F238E27FC236}">
                <a16:creationId xmlns:a16="http://schemas.microsoft.com/office/drawing/2014/main" id="{7F30EE7B-96DA-C7F7-362D-4F81FFB29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800173"/>
      </p:ext>
    </p:extLst>
  </p:cSld>
  <p:clrMapOvr>
    <a:masterClrMapping/>
  </p:clrMapOvr>
  <p:transition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EA289C8D-3839-A327-9B18-B11A82F6EB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1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D5CA9526-1498-A697-3798-7B8BA0BB3AD1}"/>
              </a:ext>
            </a:extLst>
          </p:cNvPr>
          <p:cNvSpPr txBox="1"/>
          <p:nvPr/>
        </p:nvSpPr>
        <p:spPr>
          <a:xfrm>
            <a:off x="838200" y="947821"/>
            <a:ext cx="10515600" cy="1015663"/>
          </a:xfrm>
          <a:prstGeom prst="rect">
            <a:avLst/>
          </a:prstGeom>
          <a:solidFill>
            <a:srgbClr val="192533">
              <a:alpha val="74902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6000" b="1" dirty="0"/>
              <a:t>Tests Unitaires</a:t>
            </a:r>
            <a:endParaRPr lang="fr-FR" sz="16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98B3725-2992-87B6-55AA-FF275B14F609}"/>
              </a:ext>
            </a:extLst>
          </p:cNvPr>
          <p:cNvSpPr txBox="1"/>
          <p:nvPr/>
        </p:nvSpPr>
        <p:spPr>
          <a:xfrm>
            <a:off x="838200" y="2139312"/>
            <a:ext cx="10515600" cy="461665"/>
          </a:xfrm>
          <a:prstGeom prst="rect">
            <a:avLst/>
          </a:prstGeom>
          <a:solidFill>
            <a:srgbClr val="192533">
              <a:alpha val="74902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400" dirty="0"/>
              <a:t>Comment vérifier que nos classes fonctionnent correctement?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898C803-9780-32F2-4E83-7B3000F30B3C}"/>
              </a:ext>
            </a:extLst>
          </p:cNvPr>
          <p:cNvSpPr txBox="1"/>
          <p:nvPr/>
        </p:nvSpPr>
        <p:spPr>
          <a:xfrm>
            <a:off x="12523808" y="49771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40264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277876E-9842-2766-E110-AF7FD541C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Tests Unitaires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213D1547-0ACF-441C-1492-4D21165E6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solidFill>
                  <a:schemeClr val="accent4"/>
                </a:solidFill>
              </a:rPr>
              <a:t>Introduction</a:t>
            </a:r>
          </a:p>
          <a:p>
            <a:r>
              <a:rPr lang="fr-FR" dirty="0"/>
              <a:t>Première classe de test</a:t>
            </a:r>
          </a:p>
          <a:p>
            <a:r>
              <a:rPr lang="fr-FR" dirty="0"/>
              <a:t>Les assertions</a:t>
            </a:r>
          </a:p>
          <a:p>
            <a:r>
              <a:rPr lang="fr-FR" dirty="0"/>
              <a:t>Les annotations </a:t>
            </a:r>
          </a:p>
          <a:p>
            <a:r>
              <a:rPr lang="fr-FR" dirty="0"/>
              <a:t>Un exemple de A à Z</a:t>
            </a:r>
          </a:p>
          <a:p>
            <a:r>
              <a:rPr lang="fr-FR" dirty="0"/>
              <a:t>Bonnes pratiques</a:t>
            </a:r>
          </a:p>
          <a:p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55B0135-9F5C-687F-D0CA-A5309BD03B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9101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Les Tests Logiciels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Lors de la conception de systèmes logiciels, il est primordial de mettre en pratique une stratégie de test pour s’assurer du fonctionnement correct du système.</a:t>
            </a:r>
          </a:p>
          <a:p>
            <a:pPr marL="0" indent="0">
              <a:buNone/>
            </a:pPr>
            <a:r>
              <a:rPr lang="fr-FR" dirty="0"/>
              <a:t>Il existe différents types de tests, selon le niveau de test:</a:t>
            </a:r>
          </a:p>
          <a:p>
            <a:pPr marL="457200" indent="-457200">
              <a:buAutoNum type="arabicPeriod"/>
            </a:pPr>
            <a:r>
              <a:rPr lang="fr-FR" dirty="0"/>
              <a:t>Test </a:t>
            </a:r>
            <a:r>
              <a:rPr lang="fr-FR" dirty="0">
                <a:solidFill>
                  <a:schemeClr val="accent4"/>
                </a:solidFill>
              </a:rPr>
              <a:t>unitaire</a:t>
            </a:r>
            <a:r>
              <a:rPr lang="fr-FR" dirty="0">
                <a:solidFill>
                  <a:srgbClr val="4584D3"/>
                </a:solidFill>
              </a:rPr>
              <a:t> </a:t>
            </a:r>
            <a:r>
              <a:rPr lang="fr-FR" dirty="0"/>
              <a:t>(aussi appelé test de composants)</a:t>
            </a:r>
          </a:p>
          <a:p>
            <a:pPr marL="457200" indent="-457200">
              <a:buAutoNum type="arabicPeriod"/>
            </a:pPr>
            <a:r>
              <a:rPr lang="fr-FR" dirty="0"/>
              <a:t>Test </a:t>
            </a:r>
            <a:r>
              <a:rPr lang="fr-FR" dirty="0">
                <a:solidFill>
                  <a:schemeClr val="accent4"/>
                </a:solidFill>
              </a:rPr>
              <a:t>d’intégration</a:t>
            </a:r>
            <a:r>
              <a:rPr lang="fr-FR" dirty="0">
                <a:solidFill>
                  <a:srgbClr val="4584D3"/>
                </a:solidFill>
              </a:rPr>
              <a:t> </a:t>
            </a:r>
            <a:r>
              <a:rPr lang="fr-FR" dirty="0"/>
              <a:t>(dont le but est de vérifier que différents composants interagissent correctement)</a:t>
            </a:r>
          </a:p>
          <a:p>
            <a:pPr marL="457200" indent="-457200">
              <a:buAutoNum type="arabicPeriod"/>
            </a:pPr>
            <a:r>
              <a:rPr lang="fr-FR" dirty="0"/>
              <a:t>Test </a:t>
            </a:r>
            <a:r>
              <a:rPr lang="fr-FR" dirty="0">
                <a:solidFill>
                  <a:schemeClr val="accent4"/>
                </a:solidFill>
              </a:rPr>
              <a:t>système</a:t>
            </a:r>
            <a:r>
              <a:rPr lang="fr-FR" dirty="0">
                <a:solidFill>
                  <a:srgbClr val="4584D3"/>
                </a:solidFill>
              </a:rPr>
              <a:t> </a:t>
            </a:r>
            <a:r>
              <a:rPr lang="fr-FR" dirty="0"/>
              <a:t>(parfois appelé test fonctionnel)</a:t>
            </a:r>
          </a:p>
          <a:p>
            <a:pPr marL="457200" indent="-457200">
              <a:buAutoNum type="arabicPeriod"/>
            </a:pPr>
            <a:r>
              <a:rPr lang="fr-FR" dirty="0"/>
              <a:t>Test </a:t>
            </a:r>
            <a:r>
              <a:rPr lang="fr-FR" dirty="0">
                <a:solidFill>
                  <a:schemeClr val="accent4"/>
                </a:solidFill>
              </a:rPr>
              <a:t>d’acceptation</a:t>
            </a:r>
            <a:r>
              <a:rPr lang="fr-FR" dirty="0">
                <a:solidFill>
                  <a:srgbClr val="4584D3"/>
                </a:solidFill>
              </a:rPr>
              <a:t> </a:t>
            </a:r>
            <a:r>
              <a:rPr lang="fr-FR" dirty="0"/>
              <a:t>(UAT)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B1058FA9-15A8-7AD4-703C-A920F24BAF35}"/>
              </a:ext>
            </a:extLst>
          </p:cNvPr>
          <p:cNvGraphicFramePr/>
          <p:nvPr/>
        </p:nvGraphicFramePr>
        <p:xfrm>
          <a:off x="9144000" y="3330342"/>
          <a:ext cx="2806799" cy="32923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C18137F-3521-7FB9-5E47-A64FF49906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1646037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Les Tests unitaires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dirty="0"/>
              <a:t>Lors de l’écriture d'un programme, il est inévitable que les modifications de code induisent quelques erreurs, d’autant plus si le programme se compose de milliers de classes et </a:t>
            </a:r>
            <a:r>
              <a:rPr lang="fr-FR" dirty="0">
                <a:solidFill>
                  <a:schemeClr val="accent4"/>
                </a:solidFill>
              </a:rPr>
              <a:t>évolue</a:t>
            </a:r>
            <a:r>
              <a:rPr lang="fr-FR" dirty="0"/>
              <a:t> avec le temps.</a:t>
            </a:r>
          </a:p>
          <a:p>
            <a:pPr marL="0" indent="0">
              <a:buNone/>
            </a:pPr>
            <a:r>
              <a:rPr lang="fr-FR" dirty="0"/>
              <a:t>Une bonne pratique consiste à écrire des </a:t>
            </a:r>
            <a:r>
              <a:rPr lang="fr-FR" dirty="0">
                <a:solidFill>
                  <a:schemeClr val="accent4"/>
                </a:solidFill>
              </a:rPr>
              <a:t>tests unitaires </a:t>
            </a:r>
            <a:r>
              <a:rPr lang="fr-FR" dirty="0"/>
              <a:t>qui vérifient le bon fonctionnement de chacune de vos classes. </a:t>
            </a:r>
          </a:p>
          <a:p>
            <a:pPr marL="0" indent="0">
              <a:buNone/>
            </a:pPr>
            <a:r>
              <a:rPr lang="fr-FR" dirty="0"/>
              <a:t>En pratique, chaque règle de fonctionnement de vos classes devrait être vérifiée par ces </a:t>
            </a:r>
            <a:r>
              <a:rPr lang="fr-FR" dirty="0">
                <a:solidFill>
                  <a:schemeClr val="accent4"/>
                </a:solidFill>
              </a:rPr>
              <a:t>tests unitaires </a:t>
            </a:r>
            <a:r>
              <a:rPr lang="fr-FR" dirty="0"/>
              <a:t>(qui vérifient le fonctionnement de chaque classe de façon individuelle).</a:t>
            </a:r>
          </a:p>
          <a:p>
            <a:pPr marL="0" indent="0">
              <a:buNone/>
            </a:pPr>
            <a:r>
              <a:rPr lang="fr-FR" dirty="0"/>
              <a:t>Le principal intérêt de l’utilisation de tests unitaires est de s'assurer que le code répond toujours aux besoins même après d'éventuelles modifications. Plus généralement, ce type de tests est appelé </a:t>
            </a:r>
            <a:r>
              <a:rPr lang="fr-FR" dirty="0">
                <a:solidFill>
                  <a:schemeClr val="accent4"/>
                </a:solidFill>
              </a:rPr>
              <a:t>tests unitaires de non-régression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6FA85AC-E25F-63F3-14A0-92B48E5C33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8482778"/>
      </p:ext>
    </p:extLst>
  </p:cSld>
  <p:clrMapOvr>
    <a:masterClrMapping/>
  </p:clrMapOvr>
  <p:transition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jUnit</a:t>
            </a:r>
            <a:endParaRPr lang="fr-FR" dirty="0"/>
          </a:p>
        </p:txBody>
      </p:sp>
      <p:sp>
        <p:nvSpPr>
          <p:cNvPr id="9" name="Espace réservé du contenu 8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 err="1">
                <a:solidFill>
                  <a:schemeClr val="accent4"/>
                </a:solidFill>
              </a:rPr>
              <a:t>JUnit</a:t>
            </a:r>
            <a:r>
              <a:rPr lang="fr-FR" dirty="0"/>
              <a:t> est un </a:t>
            </a:r>
            <a:r>
              <a:rPr lang="fr-FR" dirty="0" err="1">
                <a:solidFill>
                  <a:schemeClr val="accent4"/>
                </a:solidFill>
              </a:rPr>
              <a:t>framework</a:t>
            </a:r>
            <a:r>
              <a:rPr lang="fr-FR" dirty="0">
                <a:solidFill>
                  <a:schemeClr val="accent4"/>
                </a:solidFill>
              </a:rPr>
              <a:t> open source </a:t>
            </a:r>
            <a:r>
              <a:rPr lang="fr-FR" dirty="0"/>
              <a:t>pour le développement et l'exécution de tests unitaires automatisables. </a:t>
            </a:r>
          </a:p>
          <a:p>
            <a:pPr marL="0" indent="0">
              <a:buNone/>
            </a:pPr>
            <a:r>
              <a:rPr lang="fr-FR" dirty="0" err="1"/>
              <a:t>JUnit</a:t>
            </a:r>
            <a:r>
              <a:rPr lang="fr-FR" dirty="0"/>
              <a:t> propose :</a:t>
            </a:r>
          </a:p>
          <a:p>
            <a:pPr marL="342900" indent="-342900">
              <a:buFont typeface="Arial" charset="0"/>
              <a:buChar char="•"/>
            </a:pPr>
            <a:r>
              <a:rPr lang="fr-FR" dirty="0"/>
              <a:t>Un </a:t>
            </a:r>
            <a:r>
              <a:rPr lang="fr-FR" dirty="0" err="1">
                <a:solidFill>
                  <a:schemeClr val="accent4"/>
                </a:solidFill>
              </a:rPr>
              <a:t>framework</a:t>
            </a:r>
            <a:r>
              <a:rPr lang="fr-FR" dirty="0"/>
              <a:t> pour le développement des tests unitaires reposant sur des assertions qui testent les résultats attendus</a:t>
            </a:r>
          </a:p>
          <a:p>
            <a:pPr marL="342900" indent="-342900">
              <a:buFont typeface="Arial" charset="0"/>
              <a:buChar char="•"/>
            </a:pPr>
            <a:r>
              <a:rPr lang="fr-FR" dirty="0"/>
              <a:t>Des </a:t>
            </a:r>
            <a:r>
              <a:rPr lang="fr-FR" dirty="0">
                <a:solidFill>
                  <a:schemeClr val="accent4"/>
                </a:solidFill>
              </a:rPr>
              <a:t>applications</a:t>
            </a:r>
            <a:r>
              <a:rPr lang="fr-FR" dirty="0"/>
              <a:t> pour permettre l'exécution des tests et afficher les résultats</a:t>
            </a:r>
          </a:p>
          <a:p>
            <a:pPr marL="342900" indent="-342900">
              <a:buFont typeface="Arial" charset="0"/>
              <a:buChar char="•"/>
            </a:pPr>
            <a:endParaRPr lang="fr-FR" dirty="0"/>
          </a:p>
          <a:p>
            <a:pPr marL="0" indent="0">
              <a:buNone/>
            </a:pPr>
            <a:r>
              <a:rPr lang="fr-FR" dirty="0"/>
              <a:t>Il présente aussi l’avantage d’assurer la </a:t>
            </a:r>
            <a:r>
              <a:rPr lang="fr-FR" dirty="0">
                <a:solidFill>
                  <a:schemeClr val="accent4"/>
                </a:solidFill>
              </a:rPr>
              <a:t>séparation entre le code et les tests</a:t>
            </a:r>
            <a:r>
              <a:rPr lang="fr-FR" dirty="0"/>
              <a:t>, qui sont codés dans des classes distinctes. </a:t>
            </a:r>
          </a:p>
        </p:txBody>
      </p:sp>
      <p:pic>
        <p:nvPicPr>
          <p:cNvPr id="1028" name="Picture 4" descr="JUnit 5 Introduction | Foojay.io Today">
            <a:extLst>
              <a:ext uri="{FF2B5EF4-FFF2-40B4-BE49-F238E27FC236}">
                <a16:creationId xmlns:a16="http://schemas.microsoft.com/office/drawing/2014/main" id="{F98F9C45-ADDA-D9AB-C120-C11BDC0F6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1891" y="169329"/>
            <a:ext cx="2038149" cy="155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E90DA60-0E7A-F500-E30C-847D323B86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5649238"/>
      </p:ext>
    </p:extLst>
  </p:cSld>
  <p:clrMapOvr>
    <a:masterClrMapping/>
  </p:clrMapOvr>
  <p:transition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jUnit</a:t>
            </a:r>
            <a:endParaRPr lang="fr-FR" dirty="0"/>
          </a:p>
        </p:txBody>
      </p:sp>
      <p:sp>
        <p:nvSpPr>
          <p:cNvPr id="9" name="Espace réservé du contenu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err="1">
                <a:solidFill>
                  <a:schemeClr val="accent4"/>
                </a:solidFill>
              </a:rPr>
              <a:t>JUnit</a:t>
            </a:r>
            <a:r>
              <a:rPr lang="fr-FR" dirty="0"/>
              <a:t> permet d'</a:t>
            </a:r>
            <a:r>
              <a:rPr lang="fr-FR" dirty="0">
                <a:solidFill>
                  <a:schemeClr val="accent4"/>
                </a:solidFill>
              </a:rPr>
              <a:t>automatiser les tests</a:t>
            </a:r>
            <a:r>
              <a:rPr lang="fr-FR" dirty="0"/>
              <a:t>. </a:t>
            </a:r>
          </a:p>
          <a:p>
            <a:pPr marL="342900" indent="-342900">
              <a:buFont typeface="Arial" charset="0"/>
              <a:buChar char="•"/>
            </a:pPr>
            <a:r>
              <a:rPr lang="fr-FR" dirty="0"/>
              <a:t>Les tests sont exprimés dans des classes sous la forme de </a:t>
            </a:r>
            <a:r>
              <a:rPr lang="fr-FR" dirty="0">
                <a:solidFill>
                  <a:schemeClr val="accent4"/>
                </a:solidFill>
              </a:rPr>
              <a:t>cas de tests</a:t>
            </a:r>
            <a:r>
              <a:rPr lang="fr-FR" dirty="0">
                <a:solidFill>
                  <a:schemeClr val="accent2"/>
                </a:solidFill>
              </a:rPr>
              <a:t> </a:t>
            </a:r>
            <a:r>
              <a:rPr lang="fr-FR" dirty="0"/>
              <a:t>avec leurs résultats attendus. </a:t>
            </a:r>
          </a:p>
          <a:p>
            <a:pPr marL="342900" indent="-342900">
              <a:buFont typeface="Arial" charset="0"/>
              <a:buChar char="•"/>
            </a:pPr>
            <a:r>
              <a:rPr lang="fr-FR" dirty="0"/>
              <a:t>Les cas de tests peuvent être regroupés en </a:t>
            </a:r>
            <a:r>
              <a:rPr lang="fr-FR" dirty="0">
                <a:solidFill>
                  <a:schemeClr val="accent4"/>
                </a:solidFill>
              </a:rPr>
              <a:t>suites</a:t>
            </a:r>
            <a:r>
              <a:rPr lang="fr-FR" dirty="0"/>
              <a:t>.</a:t>
            </a:r>
          </a:p>
          <a:p>
            <a:pPr marL="342900" indent="-342900">
              <a:buFont typeface="Arial" charset="0"/>
              <a:buChar char="•"/>
            </a:pPr>
            <a:r>
              <a:rPr lang="fr-FR" dirty="0"/>
              <a:t>Des </a:t>
            </a:r>
            <a:r>
              <a:rPr lang="fr-FR" dirty="0">
                <a:solidFill>
                  <a:schemeClr val="accent4"/>
                </a:solidFill>
              </a:rPr>
              <a:t>assertions</a:t>
            </a:r>
            <a:r>
              <a:rPr lang="fr-FR" dirty="0"/>
              <a:t> permettent d’indiquer les conditions à vérifier.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Après l’exécution des tests, un rapport de test est produit qui vous permet de vérifier que vos classes fonctionnent correctement.</a:t>
            </a:r>
          </a:p>
        </p:txBody>
      </p:sp>
      <p:pic>
        <p:nvPicPr>
          <p:cNvPr id="3" name="Picture 4" descr="JUnit 5 Introduction | Foojay.io Today">
            <a:extLst>
              <a:ext uri="{FF2B5EF4-FFF2-40B4-BE49-F238E27FC236}">
                <a16:creationId xmlns:a16="http://schemas.microsoft.com/office/drawing/2014/main" id="{E20AF574-4875-D325-CA06-9C9E5488B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1891" y="169329"/>
            <a:ext cx="2038149" cy="155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8E87C09-C66C-C01F-7FA5-1494C87A6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671335"/>
      </p:ext>
    </p:extLst>
  </p:cSld>
  <p:clrMapOvr>
    <a:masterClrMapping/>
  </p:clrMapOvr>
  <p:transition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277876E-9842-2766-E110-AF7FD541C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Tests Unitaires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4B59E0B-B0D7-19D5-25F1-3CF904AF54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18</a:t>
            </a:fld>
            <a:endParaRPr lang="fr-FR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213D1547-0ACF-441C-1492-4D21165E6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  <a:p>
            <a:r>
              <a:rPr lang="fr-FR" dirty="0">
                <a:solidFill>
                  <a:schemeClr val="accent4"/>
                </a:solidFill>
              </a:rPr>
              <a:t>Première classe de test</a:t>
            </a:r>
          </a:p>
          <a:p>
            <a:r>
              <a:rPr lang="fr-FR" dirty="0"/>
              <a:t>Les assertions</a:t>
            </a:r>
          </a:p>
          <a:p>
            <a:r>
              <a:rPr lang="fr-FR" dirty="0"/>
              <a:t>Les annotations </a:t>
            </a:r>
          </a:p>
          <a:p>
            <a:r>
              <a:rPr lang="fr-FR" dirty="0"/>
              <a:t>Un exemple de A à Z</a:t>
            </a:r>
          </a:p>
          <a:p>
            <a:r>
              <a:rPr lang="fr-FR" dirty="0"/>
              <a:t>Bonnes pratiques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409748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233218-6582-49C5-C50F-7193F528A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Votre première classe de test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F3683B-AE63-4511-327E-CD882646C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Nous avons écrit une classe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Compte</a:t>
            </a:r>
            <a:r>
              <a:rPr lang="fr-FR" sz="2400" dirty="0"/>
              <a:t>; dans </a:t>
            </a:r>
            <a:br>
              <a:rPr lang="fr-FR" sz="2400" dirty="0"/>
            </a:br>
            <a:r>
              <a:rPr lang="fr-FR" sz="2400" dirty="0"/>
              <a:t>cette classe, la méthode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ajoute</a:t>
            </a:r>
            <a:r>
              <a:rPr lang="fr-FR" sz="2400" dirty="0"/>
              <a:t> doit ajouter</a:t>
            </a:r>
            <a:br>
              <a:rPr lang="fr-FR" sz="2400" dirty="0"/>
            </a:br>
            <a:r>
              <a:rPr lang="fr-FR" sz="2400" dirty="0"/>
              <a:t>le montant ajouté au compte, s’il est positif.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dirty="0"/>
              <a:t>Il y a donc deux tests à réaliser:</a:t>
            </a:r>
          </a:p>
          <a:p>
            <a:pPr marL="514350" indent="-514350">
              <a:buAutoNum type="arabicPeriod"/>
            </a:pPr>
            <a:r>
              <a:rPr lang="fr-FR" sz="2400" dirty="0"/>
              <a:t>Vérifier qu’un montant positif est bien ajouté au solde.</a:t>
            </a:r>
          </a:p>
          <a:p>
            <a:pPr marL="514350" indent="-514350">
              <a:buAutoNum type="arabicPeriod"/>
            </a:pPr>
            <a:r>
              <a:rPr lang="fr-FR" sz="2400" dirty="0"/>
              <a:t>Vérifier qu’un montant négatif ne modifie pas le solde.</a:t>
            </a:r>
          </a:p>
          <a:p>
            <a:pPr marL="514350" indent="-514350">
              <a:buAutoNum type="arabicPeriod"/>
            </a:pPr>
            <a:endParaRPr lang="fr-FR" sz="2400" dirty="0"/>
          </a:p>
          <a:p>
            <a:pPr marL="0" indent="0">
              <a:buNone/>
            </a:pPr>
            <a:r>
              <a:rPr lang="fr-FR" sz="2400" dirty="0"/>
              <a:t>Une fois notre test écrit, on pourra l’exécuter </a:t>
            </a:r>
            <a:r>
              <a:rPr lang="fr-FR" sz="2400" dirty="0">
                <a:solidFill>
                  <a:schemeClr val="accent4"/>
                </a:solidFill>
              </a:rPr>
              <a:t>à chaque modification </a:t>
            </a:r>
            <a:r>
              <a:rPr lang="fr-FR" sz="2400" dirty="0"/>
              <a:t>de notre code pour vérifier que le comportement est toujours correct…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6A09BF3-69C5-AF3D-A049-3604BF6732E9}"/>
              </a:ext>
            </a:extLst>
          </p:cNvPr>
          <p:cNvSpPr txBox="1"/>
          <p:nvPr/>
        </p:nvSpPr>
        <p:spPr>
          <a:xfrm>
            <a:off x="6651057" y="1454472"/>
            <a:ext cx="5351648" cy="2308324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Compte {</a:t>
            </a:r>
            <a:b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double </a:t>
            </a:r>
            <a:r>
              <a:rPr lang="fr-BE" sz="1600" dirty="0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solde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fr-BE" sz="16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double </a:t>
            </a:r>
            <a:r>
              <a:rPr lang="fr-BE" sz="1600" dirty="0" err="1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getSolde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() { 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fr-BE" sz="1600" dirty="0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solde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ajoute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double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montant) {</a:t>
            </a:r>
            <a:b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(montant &gt; </a:t>
            </a:r>
            <a:r>
              <a:rPr lang="fr-BE" sz="16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)  </a:t>
            </a:r>
            <a:r>
              <a:rPr lang="fr-BE" sz="1600" dirty="0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solde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+= montant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6ADA2F2-E262-6F3B-C096-DD114F778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11073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Votre première classe de test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Nous utiliserons </a:t>
            </a:r>
            <a:r>
              <a:rPr lang="fr-FR" dirty="0" err="1">
                <a:solidFill>
                  <a:schemeClr val="accent4"/>
                </a:solidFill>
              </a:rPr>
              <a:t>Junit</a:t>
            </a:r>
            <a:r>
              <a:rPr lang="fr-FR" dirty="0">
                <a:solidFill>
                  <a:schemeClr val="accent4"/>
                </a:solidFill>
              </a:rPr>
              <a:t> 5</a:t>
            </a:r>
            <a:r>
              <a:rPr lang="fr-FR" dirty="0"/>
              <a:t>.</a:t>
            </a:r>
          </a:p>
          <a:p>
            <a:pPr marL="0" indent="0">
              <a:buNone/>
            </a:pPr>
            <a:r>
              <a:rPr lang="fr-FR" dirty="0"/>
              <a:t>Pour créer une classe de test, il suffit de sélectionner une classe existante, et de choisir ‘</a:t>
            </a:r>
            <a:r>
              <a:rPr lang="fr-FR" dirty="0" err="1"/>
              <a:t>Navigate</a:t>
            </a:r>
            <a:r>
              <a:rPr lang="fr-FR" dirty="0"/>
              <a:t>/Test’ </a:t>
            </a:r>
          </a:p>
          <a:p>
            <a:pPr marL="0" indent="0">
              <a:buNone/>
            </a:pPr>
            <a:endParaRPr lang="fr-FR" dirty="0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D8D2CAED-BD73-2C41-9EBB-68FDDA6173EF}"/>
              </a:ext>
            </a:extLst>
          </p:cNvPr>
          <p:cNvGrpSpPr/>
          <p:nvPr/>
        </p:nvGrpSpPr>
        <p:grpSpPr>
          <a:xfrm>
            <a:off x="8720186" y="2799825"/>
            <a:ext cx="2828088" cy="2572083"/>
            <a:chOff x="3943076" y="3223336"/>
            <a:chExt cx="2828088" cy="2572083"/>
          </a:xfrm>
        </p:grpSpPr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D39F5253-9996-1446-8F9B-3A64F949D6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1" r="9534" b="66644"/>
            <a:stretch/>
          </p:blipFill>
          <p:spPr>
            <a:xfrm>
              <a:off x="3943076" y="3223336"/>
              <a:ext cx="2824135" cy="1515603"/>
            </a:xfrm>
            <a:prstGeom prst="rect">
              <a:avLst/>
            </a:prstGeom>
          </p:spPr>
        </p:pic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20602E75-D95A-0841-AF0C-A077E66FDB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1" t="80466" r="9534"/>
            <a:stretch/>
          </p:blipFill>
          <p:spPr>
            <a:xfrm>
              <a:off x="3947029" y="4907848"/>
              <a:ext cx="2824135" cy="887571"/>
            </a:xfrm>
            <a:prstGeom prst="rect">
              <a:avLst/>
            </a:prstGeom>
          </p:spPr>
        </p:pic>
      </p:grpSp>
      <p:pic>
        <p:nvPicPr>
          <p:cNvPr id="3" name="Picture 4" descr="JUnit 5 Introduction | Foojay.io Today">
            <a:extLst>
              <a:ext uri="{FF2B5EF4-FFF2-40B4-BE49-F238E27FC236}">
                <a16:creationId xmlns:a16="http://schemas.microsoft.com/office/drawing/2014/main" id="{2DA18D8D-0C9C-64E6-4959-666B56C78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1891" y="169329"/>
            <a:ext cx="2038149" cy="155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FE4EEEFA-5F68-82F3-0E4B-BEFCD4C37032}"/>
              </a:ext>
            </a:extLst>
          </p:cNvPr>
          <p:cNvCxnSpPr>
            <a:cxnSpLocks/>
          </p:cNvCxnSpPr>
          <p:nvPr/>
        </p:nvCxnSpPr>
        <p:spPr>
          <a:xfrm>
            <a:off x="8296747" y="5013061"/>
            <a:ext cx="61601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8AE67D33-4EF1-A4CB-D94A-48227654CDBD}"/>
              </a:ext>
            </a:extLst>
          </p:cNvPr>
          <p:cNvSpPr txBox="1"/>
          <p:nvPr/>
        </p:nvSpPr>
        <p:spPr>
          <a:xfrm>
            <a:off x="838200" y="3712536"/>
            <a:ext cx="620552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Vous pouvez aussi passer par </a:t>
            </a:r>
            <a:r>
              <a:rPr lang="fr-FR" sz="2800" dirty="0">
                <a:solidFill>
                  <a:schemeClr val="accent4"/>
                </a:solidFill>
              </a:rPr>
              <a:t>Alt-Insert</a:t>
            </a:r>
            <a:r>
              <a:rPr lang="fr-FR" sz="2800" dirty="0"/>
              <a:t> ‘</a:t>
            </a:r>
            <a:r>
              <a:rPr lang="fr-FR" sz="2800" dirty="0" err="1"/>
              <a:t>Generate</a:t>
            </a:r>
            <a:r>
              <a:rPr lang="fr-FR" sz="2800" dirty="0"/>
              <a:t>/Test…’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A5C59ED4-77AF-8DD7-6246-AE41FF5D825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48" t="2007" r="3520" b="6196"/>
          <a:stretch/>
        </p:blipFill>
        <p:spPr>
          <a:xfrm>
            <a:off x="4805330" y="4315428"/>
            <a:ext cx="2100760" cy="2314553"/>
          </a:xfrm>
          <a:prstGeom prst="rect">
            <a:avLst/>
          </a:prstGeom>
        </p:spPr>
      </p:pic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8E28F682-C68D-A163-D799-D58869897093}"/>
              </a:ext>
            </a:extLst>
          </p:cNvPr>
          <p:cNvCxnSpPr>
            <a:cxnSpLocks/>
          </p:cNvCxnSpPr>
          <p:nvPr/>
        </p:nvCxnSpPr>
        <p:spPr>
          <a:xfrm flipH="1">
            <a:off x="6784848" y="6311509"/>
            <a:ext cx="92668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2D72F11-15EE-AA30-E8C5-EE4042B8D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673881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25875FC-035F-EF4F-859A-7830E3381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271" y="1434674"/>
            <a:ext cx="4633416" cy="3819965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Votre première classe de test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 err="1"/>
              <a:t>IntelliJ</a:t>
            </a:r>
            <a:r>
              <a:rPr lang="fr-FR" sz="2000" dirty="0"/>
              <a:t> cherche alors la classe </a:t>
            </a:r>
            <a:br>
              <a:rPr lang="fr-FR" sz="2000" dirty="0"/>
            </a:br>
            <a:r>
              <a:rPr lang="fr-FR" sz="2000" dirty="0"/>
              <a:t>de Test liée à la classe sélectionnée.</a:t>
            </a:r>
          </a:p>
          <a:p>
            <a:pPr marL="0" indent="0">
              <a:buNone/>
            </a:pPr>
            <a:r>
              <a:rPr lang="fr-FR" sz="2000" dirty="0"/>
              <a:t>Si elle n’existe pas, il la crée (dans le répertoire </a:t>
            </a:r>
            <a:r>
              <a:rPr lang="fr-FR" sz="2000" dirty="0">
                <a:solidFill>
                  <a:schemeClr val="accent4"/>
                </a:solidFill>
              </a:rPr>
              <a:t>test</a:t>
            </a:r>
            <a:r>
              <a:rPr lang="fr-FR" sz="2000" dirty="0"/>
              <a:t>), en vous demandant quelle librairie de tests vous désirez utiliser (ici </a:t>
            </a:r>
            <a:r>
              <a:rPr lang="fr-FR" sz="2000" dirty="0" err="1"/>
              <a:t>Junit</a:t>
            </a:r>
            <a:r>
              <a:rPr lang="fr-FR" sz="2000" dirty="0"/>
              <a:t> 5).</a:t>
            </a:r>
          </a:p>
          <a:p>
            <a:pPr marL="0" indent="0">
              <a:buNone/>
            </a:pPr>
            <a:r>
              <a:rPr lang="fr-FR" sz="2000" dirty="0"/>
              <a:t>Pour pouvoir utiliser </a:t>
            </a:r>
            <a:r>
              <a:rPr lang="fr-FR" sz="2000" dirty="0" err="1"/>
              <a:t>JUnit</a:t>
            </a:r>
            <a:r>
              <a:rPr lang="fr-FR" sz="2000" dirty="0"/>
              <a:t>, il faut indiquer à votre projet où se trouvent les classes de </a:t>
            </a:r>
            <a:r>
              <a:rPr lang="fr-FR" sz="2000" dirty="0" err="1"/>
              <a:t>JUnit</a:t>
            </a:r>
            <a:r>
              <a:rPr lang="fr-FR" sz="2000" dirty="0"/>
              <a:t>.</a:t>
            </a:r>
          </a:p>
          <a:p>
            <a:pPr marL="0" indent="0">
              <a:buNone/>
            </a:pPr>
            <a:endParaRPr lang="fr-FR" sz="2000" dirty="0"/>
          </a:p>
          <a:p>
            <a:r>
              <a:rPr lang="fr-FR" sz="2000" dirty="0" err="1"/>
              <a:t>Fix</a:t>
            </a:r>
            <a:r>
              <a:rPr lang="fr-FR" sz="2000" dirty="0"/>
              <a:t> + </a:t>
            </a:r>
            <a:r>
              <a:rPr lang="fr-FR" sz="2000" dirty="0" err="1"/>
              <a:t>download</a:t>
            </a:r>
            <a:endParaRPr lang="fr-FR" sz="2000" dirty="0"/>
          </a:p>
          <a:p>
            <a:r>
              <a:rPr lang="fr-FR" sz="2000" dirty="0"/>
              <a:t>Puis ‘</a:t>
            </a:r>
            <a:r>
              <a:rPr lang="fr-FR" sz="2000" dirty="0" err="1"/>
              <a:t>Add</a:t>
            </a:r>
            <a:r>
              <a:rPr lang="fr-FR" sz="2000" dirty="0"/>
              <a:t> </a:t>
            </a:r>
            <a:r>
              <a:rPr lang="fr-FR" sz="2000" dirty="0" err="1"/>
              <a:t>library</a:t>
            </a:r>
            <a:r>
              <a:rPr lang="fr-FR" sz="2000" dirty="0"/>
              <a:t>’</a:t>
            </a:r>
          </a:p>
          <a:p>
            <a:pPr marL="0" indent="0">
              <a:buNone/>
            </a:pPr>
            <a:endParaRPr lang="fr-FR" sz="2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5BAFCE2-591F-C833-30BD-479549600C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21</a:t>
            </a:fld>
            <a:endParaRPr lang="fr-FR"/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D22BE286-4408-E742-B19C-681C874888B9}"/>
              </a:ext>
            </a:extLst>
          </p:cNvPr>
          <p:cNvCxnSpPr>
            <a:cxnSpLocks/>
          </p:cNvCxnSpPr>
          <p:nvPr/>
        </p:nvCxnSpPr>
        <p:spPr>
          <a:xfrm flipH="1">
            <a:off x="10565162" y="2240986"/>
            <a:ext cx="3048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 11" descr="Une image contenant capture d’écran, moniteur, ordinateur, portable&#10;&#10;Description générée automatiquement">
            <a:extLst>
              <a:ext uri="{FF2B5EF4-FFF2-40B4-BE49-F238E27FC236}">
                <a16:creationId xmlns:a16="http://schemas.microsoft.com/office/drawing/2014/main" id="{8E2D534E-E164-0949-B10B-E074E639686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954" r="8017" b="84506"/>
          <a:stretch/>
        </p:blipFill>
        <p:spPr>
          <a:xfrm>
            <a:off x="5178972" y="5359471"/>
            <a:ext cx="4267201" cy="83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115736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1A19F5A4-B6A6-635A-99B5-D1CDD16B3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classe de test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5299ABC-01BC-7BE2-0BF0-16A8901AA9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22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438EB69-0522-D37C-9BA2-C625E7C51F32}"/>
              </a:ext>
            </a:extLst>
          </p:cNvPr>
          <p:cNvSpPr txBox="1"/>
          <p:nvPr/>
        </p:nvSpPr>
        <p:spPr>
          <a:xfrm>
            <a:off x="4764024" y="2294070"/>
            <a:ext cx="7260336" cy="4401205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import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org.junit.jupiter.api.</a:t>
            </a:r>
            <a:r>
              <a:rPr lang="fr-BE" sz="1400" dirty="0" err="1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Test</a:t>
            </a: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import </a:t>
            </a:r>
            <a:r>
              <a:rPr lang="fr-BE" sz="14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org.junit.jupiter.api.Assertions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.*</a:t>
            </a: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CompteTest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fr-BE" sz="1400" dirty="0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@Test</a:t>
            </a:r>
            <a:br>
              <a:rPr lang="fr-BE" sz="1400" dirty="0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400" dirty="0" err="1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 err="1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testAjoutePositifAugmente</a:t>
            </a:r>
            <a:r>
              <a:rPr lang="fr-BE" sz="1400" dirty="0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fr-BE" sz="1400" dirty="0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Compte compte = </a:t>
            </a:r>
            <a:r>
              <a:rPr lang="fr-BE" sz="1400" dirty="0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sz="1400" dirty="0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Compte()</a:t>
            </a:r>
            <a:r>
              <a:rPr lang="fr-BE" sz="1400" dirty="0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double </a:t>
            </a:r>
            <a:r>
              <a:rPr lang="fr-BE" sz="1400" dirty="0" err="1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soldePrecedent</a:t>
            </a:r>
            <a:r>
              <a:rPr lang="fr-BE" sz="1400" dirty="0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fr-BE" sz="1400" dirty="0" err="1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compte.getSolde</a:t>
            </a:r>
            <a:r>
              <a:rPr lang="fr-BE" sz="1400" dirty="0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BE" sz="1400" dirty="0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400" dirty="0" err="1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compte.ajoute</a:t>
            </a:r>
            <a:r>
              <a:rPr lang="fr-BE" sz="1400" dirty="0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fr-BE" sz="1400" dirty="0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1400" dirty="0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400" i="1" dirty="0" err="1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assertEquals</a:t>
            </a:r>
            <a:r>
              <a:rPr lang="fr-BE" sz="1400" dirty="0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400" dirty="0" err="1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soldePrecedent</a:t>
            </a:r>
            <a:r>
              <a:rPr lang="fr-BE" sz="1400" dirty="0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fr-BE" sz="1400" dirty="0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10, </a:t>
            </a:r>
            <a:r>
              <a:rPr lang="fr-BE" sz="1400" dirty="0" err="1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compte.getSolde</a:t>
            </a:r>
            <a:r>
              <a:rPr lang="fr-BE" sz="1400" dirty="0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  <a:r>
              <a:rPr lang="fr-BE" sz="1400" dirty="0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fr-BE" sz="1400" dirty="0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fr-BE" sz="1400" dirty="0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@Test</a:t>
            </a:r>
            <a:br>
              <a:rPr lang="fr-BE" sz="1400" dirty="0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400" dirty="0" err="1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 err="1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testAjouteNegatifNeChangePas</a:t>
            </a:r>
            <a:r>
              <a:rPr lang="fr-BE" sz="1400" dirty="0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fr-BE" sz="1400" dirty="0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Compte compte = </a:t>
            </a:r>
            <a:r>
              <a:rPr lang="fr-BE" sz="1400" dirty="0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sz="1400" dirty="0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Compte()</a:t>
            </a:r>
            <a:r>
              <a:rPr lang="fr-BE" sz="1400" dirty="0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double </a:t>
            </a:r>
            <a:r>
              <a:rPr lang="fr-BE" sz="1400" dirty="0" err="1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soldePrecedent</a:t>
            </a:r>
            <a:r>
              <a:rPr lang="fr-BE" sz="1400" dirty="0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fr-BE" sz="1400" dirty="0" err="1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compte.getSolde</a:t>
            </a:r>
            <a:r>
              <a:rPr lang="fr-BE" sz="1400" dirty="0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BE" sz="1400" dirty="0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400" dirty="0" err="1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compte.ajoute</a:t>
            </a:r>
            <a:r>
              <a:rPr lang="fr-BE" sz="1400" dirty="0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(-</a:t>
            </a:r>
            <a:r>
              <a:rPr lang="fr-BE" sz="1400" dirty="0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fr-BE" sz="1400" dirty="0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1400" dirty="0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400" i="1" dirty="0" err="1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assertEquals</a:t>
            </a:r>
            <a:r>
              <a:rPr lang="fr-BE" sz="1400" dirty="0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400" dirty="0" err="1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soldePrecedent</a:t>
            </a:r>
            <a:r>
              <a:rPr lang="fr-BE" sz="1400" dirty="0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sz="1400" dirty="0" err="1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compte.getSolde</a:t>
            </a:r>
            <a:r>
              <a:rPr lang="fr-BE" sz="1400" dirty="0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  <a:r>
              <a:rPr lang="fr-BE" sz="1400" dirty="0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2B2B2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fr-BE" sz="1400" dirty="0">
                <a:solidFill>
                  <a:srgbClr val="2B2B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2026124-4C71-B71A-100F-54C894F7B474}"/>
              </a:ext>
            </a:extLst>
          </p:cNvPr>
          <p:cNvSpPr txBox="1"/>
          <p:nvPr/>
        </p:nvSpPr>
        <p:spPr>
          <a:xfrm>
            <a:off x="838200" y="2107798"/>
            <a:ext cx="392582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sz="2400" dirty="0"/>
              <a:t>Il y a deux tests à réaliser pour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ajoute</a:t>
            </a:r>
            <a:r>
              <a:rPr lang="fr-FR" sz="2400" dirty="0"/>
              <a:t>:</a:t>
            </a:r>
          </a:p>
          <a:p>
            <a:pPr marL="0" indent="0">
              <a:buNone/>
            </a:pPr>
            <a:endParaRPr lang="fr-FR" sz="2400" dirty="0"/>
          </a:p>
          <a:p>
            <a:pPr marL="514350" indent="-514350">
              <a:buAutoNum type="arabicPeriod"/>
            </a:pPr>
            <a:r>
              <a:rPr lang="fr-FR" sz="2400" dirty="0"/>
              <a:t>un montant positif est bien ajouté au solde.</a:t>
            </a:r>
          </a:p>
          <a:p>
            <a:pPr marL="514350" indent="-514350">
              <a:buAutoNum type="arabicPeriod"/>
            </a:pPr>
            <a:endParaRPr lang="fr-FR" sz="2400" dirty="0"/>
          </a:p>
          <a:p>
            <a:pPr marL="514350" indent="-514350">
              <a:buAutoNum type="arabicPeriod"/>
            </a:pPr>
            <a:r>
              <a:rPr lang="fr-FR" sz="2400" dirty="0"/>
              <a:t>un montant négatif ne modifie pas le solde.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24A6818-EDAD-A9C0-5399-63C11CA27D7F}"/>
              </a:ext>
            </a:extLst>
          </p:cNvPr>
          <p:cNvSpPr txBox="1"/>
          <p:nvPr/>
        </p:nvSpPr>
        <p:spPr>
          <a:xfrm>
            <a:off x="6651057" y="146880"/>
            <a:ext cx="5351648" cy="2031325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Compte {</a:t>
            </a:r>
            <a:b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4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double </a:t>
            </a:r>
            <a:r>
              <a:rPr lang="fr-BE" sz="1400" dirty="0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solde 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fr-BE" sz="14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double </a:t>
            </a:r>
            <a:r>
              <a:rPr lang="fr-BE" sz="1400" dirty="0" err="1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getSolde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() { </a:t>
            </a: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fr-BE" sz="1400" dirty="0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solde</a:t>
            </a: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fr-BE" sz="14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ajoute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double 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montant) {</a:t>
            </a:r>
            <a:b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(montant &gt; </a:t>
            </a:r>
            <a:r>
              <a:rPr lang="fr-BE" sz="14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)  </a:t>
            </a:r>
            <a:r>
              <a:rPr lang="fr-BE" sz="1400" dirty="0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solde 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+= montant</a:t>
            </a: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2AD6582-F59D-4ABF-D4DD-C71F98E7F59E}"/>
              </a:ext>
            </a:extLst>
          </p:cNvPr>
          <p:cNvSpPr txBox="1"/>
          <p:nvPr/>
        </p:nvSpPr>
        <p:spPr>
          <a:xfrm>
            <a:off x="4764504" y="3143719"/>
            <a:ext cx="680770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@Test</a:t>
            </a:r>
            <a:br>
              <a:rPr lang="fr-BE" sz="14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4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 err="1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testAjoutePositifAugmente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Compte compte = </a:t>
            </a: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Compte()</a:t>
            </a: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double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soldePrecedent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compte.getSolde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compte.ajoute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400" i="1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assertEquals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soldePrecedent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fr-BE" sz="14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compte.getSolde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fr-FR" sz="1400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1429BD0-AE60-DC5D-750C-A55C9CA648B5}"/>
              </a:ext>
            </a:extLst>
          </p:cNvPr>
          <p:cNvSpPr txBox="1"/>
          <p:nvPr/>
        </p:nvSpPr>
        <p:spPr>
          <a:xfrm>
            <a:off x="4764504" y="4854133"/>
            <a:ext cx="680770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@Test</a:t>
            </a:r>
            <a:br>
              <a:rPr lang="fr-BE" sz="14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4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 err="1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testAjouteNegatifNeChangePas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Compte compte = </a:t>
            </a: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Compte()</a:t>
            </a: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double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soldePrecedent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compte.getSolde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compte.ajoute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(-</a:t>
            </a:r>
            <a:r>
              <a:rPr lang="fr-BE" sz="14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400" i="1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assertEquals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soldePrecedent</a:t>
            </a: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compte.getSolde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016327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1A19F5A4-B6A6-635A-99B5-D1CDD16B3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Chaque test est une méthode</a:t>
            </a:r>
          </a:p>
        </p:txBody>
      </p: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F54DED54-2F3E-4CD7-C821-C1B6127BC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8999"/>
            <a:ext cx="10515600" cy="2747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Comme vous le voyez, un test a deux caractéristiques:</a:t>
            </a:r>
          </a:p>
          <a:p>
            <a:r>
              <a:rPr lang="fr-FR" sz="2400" dirty="0"/>
              <a:t>Il est préfixé d’une </a:t>
            </a:r>
            <a:r>
              <a:rPr lang="fr-FR" sz="2400" dirty="0">
                <a:solidFill>
                  <a:schemeClr val="accent4"/>
                </a:solidFill>
              </a:rPr>
              <a:t>annotation</a:t>
            </a:r>
            <a:r>
              <a:rPr lang="fr-FR" sz="2400" dirty="0"/>
              <a:t>: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@Test</a:t>
            </a:r>
          </a:p>
          <a:p>
            <a:r>
              <a:rPr lang="fr-FR" sz="2400" dirty="0"/>
              <a:t>Il contient une </a:t>
            </a:r>
            <a:r>
              <a:rPr lang="fr-FR" sz="2400" dirty="0">
                <a:solidFill>
                  <a:schemeClr val="accent4"/>
                </a:solidFill>
              </a:rPr>
              <a:t>assertion</a:t>
            </a:r>
            <a:r>
              <a:rPr lang="fr-FR" sz="2400" dirty="0"/>
              <a:t>, qui vérifie une condition: ici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assertEquals</a:t>
            </a:r>
            <a:endParaRPr lang="fr-FR" sz="22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dirty="0"/>
              <a:t>On a également l’habitude de nommer chaque méthode test d’après ce qu’elle teste, en commençant par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test</a:t>
            </a:r>
            <a:r>
              <a:rPr lang="fr-FR" sz="2400" dirty="0"/>
              <a:t>.</a:t>
            </a:r>
          </a:p>
          <a:p>
            <a:endParaRPr lang="fr-FR" sz="24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2AD6582-F59D-4ABF-D4DD-C71F98E7F59E}"/>
              </a:ext>
            </a:extLst>
          </p:cNvPr>
          <p:cNvSpPr txBox="1"/>
          <p:nvPr/>
        </p:nvSpPr>
        <p:spPr>
          <a:xfrm>
            <a:off x="3498412" y="1548739"/>
            <a:ext cx="5876700" cy="1600438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sz="14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@Test</a:t>
            </a:r>
            <a:br>
              <a:rPr lang="fr-BE" sz="14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 err="1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testAjoutePositifAugmente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    Compte compte = </a:t>
            </a: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Compte()</a:t>
            </a: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double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soldePrecedent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compte.getSolde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compte.ajoute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400" i="1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assertEquals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soldePrecedent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fr-BE" sz="14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compte.getSolde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  <a: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sz="140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FA36EC7-6FEB-6E38-E689-0637F6ACBB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09347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1A19F5A4-B6A6-635A-99B5-D1CDD16B3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Pour lancer les tests…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025CA400-6F0A-9949-4A5E-3A31DE3A711E}"/>
              </a:ext>
            </a:extLst>
          </p:cNvPr>
          <p:cNvGrpSpPr/>
          <p:nvPr/>
        </p:nvGrpSpPr>
        <p:grpSpPr>
          <a:xfrm>
            <a:off x="2381250" y="1145517"/>
            <a:ext cx="7429500" cy="2018876"/>
            <a:chOff x="2381250" y="1145517"/>
            <a:chExt cx="7429500" cy="2018876"/>
          </a:xfrm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BD59CBD4-6120-C041-D581-A7905BDA02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26488" y="1392472"/>
              <a:ext cx="5761054" cy="1567496"/>
            </a:xfrm>
            <a:prstGeom prst="rect">
              <a:avLst/>
            </a:prstGeom>
          </p:spPr>
        </p:pic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F1379ED7-E150-16B0-724E-56FF3EB0D0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-843" b="86009"/>
            <a:stretch/>
          </p:blipFill>
          <p:spPr>
            <a:xfrm>
              <a:off x="2381250" y="1145517"/>
              <a:ext cx="7429500" cy="529388"/>
            </a:xfrm>
            <a:prstGeom prst="rect">
              <a:avLst/>
            </a:prstGeom>
            <a:effectLst>
              <a:softEdge rad="127000"/>
            </a:effectLst>
          </p:spPr>
        </p:pic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F25C0389-76BC-7EAF-DA4D-AA5250A4BA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86786"/>
            <a:stretch/>
          </p:blipFill>
          <p:spPr>
            <a:xfrm>
              <a:off x="2381250" y="2692831"/>
              <a:ext cx="7429500" cy="471562"/>
            </a:xfrm>
            <a:prstGeom prst="rect">
              <a:avLst/>
            </a:prstGeom>
            <a:effectLst>
              <a:softEdge rad="127000"/>
            </a:effectLst>
          </p:spPr>
        </p:pic>
      </p:grp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4AA1EA65-6E2A-C57C-A14E-5B3016D72D74}"/>
              </a:ext>
            </a:extLst>
          </p:cNvPr>
          <p:cNvCxnSpPr>
            <a:cxnSpLocks/>
          </p:cNvCxnSpPr>
          <p:nvPr/>
        </p:nvCxnSpPr>
        <p:spPr>
          <a:xfrm>
            <a:off x="2948570" y="1690663"/>
            <a:ext cx="61601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0B72F753-5835-FD70-E785-94F21232F8F5}"/>
              </a:ext>
            </a:extLst>
          </p:cNvPr>
          <p:cNvCxnSpPr>
            <a:cxnSpLocks/>
          </p:cNvCxnSpPr>
          <p:nvPr/>
        </p:nvCxnSpPr>
        <p:spPr>
          <a:xfrm>
            <a:off x="2948570" y="2388868"/>
            <a:ext cx="61601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du contenu 1">
            <a:extLst>
              <a:ext uri="{FF2B5EF4-FFF2-40B4-BE49-F238E27FC236}">
                <a16:creationId xmlns:a16="http://schemas.microsoft.com/office/drawing/2014/main" id="{596E5FC4-D8BC-9FAD-5451-9C647F7963A5}"/>
              </a:ext>
            </a:extLst>
          </p:cNvPr>
          <p:cNvSpPr txBox="1">
            <a:spLocks/>
          </p:cNvSpPr>
          <p:nvPr/>
        </p:nvSpPr>
        <p:spPr>
          <a:xfrm>
            <a:off x="838200" y="2959967"/>
            <a:ext cx="10515600" cy="3216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dirty="0"/>
              <a:t>Pour lancer </a:t>
            </a:r>
            <a:r>
              <a:rPr lang="fr-FR" sz="2400" dirty="0">
                <a:solidFill>
                  <a:schemeClr val="accent4"/>
                </a:solidFill>
              </a:rPr>
              <a:t>tous les tests de la classe</a:t>
            </a:r>
            <a:r>
              <a:rPr lang="fr-FR" sz="2400" dirty="0"/>
              <a:t>, cliquez sur le rond vert à côté du nom de la classe de test.</a:t>
            </a:r>
          </a:p>
          <a:p>
            <a:r>
              <a:rPr lang="fr-FR" sz="2400" dirty="0"/>
              <a:t>Pour lancer </a:t>
            </a:r>
            <a:r>
              <a:rPr lang="fr-FR" sz="2400" dirty="0">
                <a:solidFill>
                  <a:schemeClr val="accent4"/>
                </a:solidFill>
              </a:rPr>
              <a:t>un test spécifique</a:t>
            </a:r>
            <a:r>
              <a:rPr lang="fr-FR" sz="2400" dirty="0"/>
              <a:t>, cliquez sur le rond vert à côté du nom de la méthode.</a:t>
            </a:r>
            <a:endParaRPr lang="fr-FR" sz="24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CDA357C0-8619-5073-6BCB-0D050C6F4C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0528" y="4836878"/>
            <a:ext cx="6781800" cy="1257300"/>
          </a:xfrm>
          <a:prstGeom prst="rect">
            <a:avLst/>
          </a:prstGeom>
        </p:spPr>
      </p:pic>
      <p:sp>
        <p:nvSpPr>
          <p:cNvPr id="15" name="Bulle rectangulaire à coins arrondis 14">
            <a:extLst>
              <a:ext uri="{FF2B5EF4-FFF2-40B4-BE49-F238E27FC236}">
                <a16:creationId xmlns:a16="http://schemas.microsoft.com/office/drawing/2014/main" id="{0CE2C7AC-2D59-1841-DBDE-3370D5DA22B4}"/>
              </a:ext>
            </a:extLst>
          </p:cNvPr>
          <p:cNvSpPr/>
          <p:nvPr/>
        </p:nvSpPr>
        <p:spPr>
          <a:xfrm>
            <a:off x="838200" y="5103628"/>
            <a:ext cx="2197395" cy="857693"/>
          </a:xfrm>
          <a:prstGeom prst="wedgeRoundRectCallout">
            <a:avLst>
              <a:gd name="adj1" fmla="val 68750"/>
              <a:gd name="adj2" fmla="val -23382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Ici on voit que les deux tests sont passés avec succès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585794F1-C90B-DEAC-8EB9-DA4CC679FA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6471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  <p:bldP spid="1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1A19F5A4-B6A6-635A-99B5-D1CDD16B3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Si un test échoue…</a:t>
            </a:r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D0782A94-38FA-8E8C-06D9-641BF8981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00399"/>
            <a:ext cx="10515600" cy="2976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Si un de vos tests échoue, le nom du test apparaît avec une croix jaune, et la différence entre la valeur attendue et la valeur reçue est affichée.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dirty="0"/>
              <a:t>Attention, un test qui échoue peut signifier:</a:t>
            </a:r>
          </a:p>
          <a:p>
            <a:r>
              <a:rPr lang="fr-FR" sz="2400" dirty="0"/>
              <a:t>Une erreur dans le code de la classe que vous testez</a:t>
            </a:r>
          </a:p>
          <a:p>
            <a:r>
              <a:rPr lang="fr-FR" sz="2400" dirty="0"/>
              <a:t>Une erreur dans le test </a:t>
            </a:r>
            <a:endParaRPr lang="fr-FR" sz="24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fr-FR" sz="2400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40081A05-5F3E-746D-1ECF-7C3EF06D6C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842"/>
          <a:stretch/>
        </p:blipFill>
        <p:spPr>
          <a:xfrm>
            <a:off x="2133600" y="1576782"/>
            <a:ext cx="6478772" cy="1415182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95C4045-3AF2-F6E0-1193-D52AE0BC5B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53253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277876E-9842-2766-E110-AF7FD541C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Tests Unitaires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1862C99-D23E-C0BD-D603-EC45BB9943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26</a:t>
            </a:fld>
            <a:endParaRPr lang="fr-FR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213D1547-0ACF-441C-1492-4D21165E6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  <a:p>
            <a:r>
              <a:rPr lang="fr-FR" dirty="0"/>
              <a:t>Première classe de test</a:t>
            </a:r>
          </a:p>
          <a:p>
            <a:r>
              <a:rPr lang="fr-FR" dirty="0">
                <a:solidFill>
                  <a:schemeClr val="accent4"/>
                </a:solidFill>
              </a:rPr>
              <a:t>Les assertions</a:t>
            </a:r>
          </a:p>
          <a:p>
            <a:r>
              <a:rPr lang="fr-FR" dirty="0"/>
              <a:t>Les annotations </a:t>
            </a:r>
          </a:p>
          <a:p>
            <a:r>
              <a:rPr lang="fr-FR" dirty="0"/>
              <a:t>Un exemple de A à Z</a:t>
            </a:r>
          </a:p>
          <a:p>
            <a:r>
              <a:rPr lang="fr-FR" dirty="0"/>
              <a:t>Bonnes pratiques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122236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 </a:t>
            </a:r>
            <a:r>
              <a:rPr lang="en-GB" dirty="0" err="1"/>
              <a:t>classe</a:t>
            </a:r>
            <a:r>
              <a:rPr lang="en-GB" dirty="0"/>
              <a:t> </a:t>
            </a:r>
            <a:r>
              <a:rPr lang="en-GB" sz="4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Assertions</a:t>
            </a:r>
          </a:p>
        </p:txBody>
      </p:sp>
      <p:sp>
        <p:nvSpPr>
          <p:cNvPr id="7" name="Espace réservé du contenu 8">
            <a:extLst>
              <a:ext uri="{FF2B5EF4-FFF2-40B4-BE49-F238E27FC236}">
                <a16:creationId xmlns:a16="http://schemas.microsoft.com/office/drawing/2014/main" id="{14D4B33E-852E-F21C-0F6C-C0970DCFF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27299"/>
            <a:ext cx="10515600" cy="36496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2400" dirty="0"/>
              <a:t>L’instruction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r>
              <a:rPr lang="fr-FR" sz="2400" dirty="0"/>
              <a:t> permet d'importer des membres statiques (méthodes ou champs) d'une classe sans avoir besoin de préfixer chaque membre du nom de la classe.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dirty="0"/>
              <a:t>La classe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Assertions</a:t>
            </a:r>
            <a:r>
              <a:rPr lang="fr-FR" sz="2400" dirty="0"/>
              <a:t> du package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org.junit.api</a:t>
            </a:r>
            <a:r>
              <a:rPr lang="fr-FR" sz="2400" dirty="0"/>
              <a:t> contient une collection de méthodes statiques qui permettent d’effectuer les tests </a:t>
            </a:r>
            <a:br>
              <a:rPr lang="fr-FR" sz="2400" dirty="0"/>
            </a:br>
            <a:r>
              <a:rPr lang="fr-FR" sz="2400" dirty="0"/>
              <a:t>(</a:t>
            </a:r>
            <a:r>
              <a:rPr lang="fr-FR" sz="2400" dirty="0" err="1"/>
              <a:t>javadoc</a:t>
            </a:r>
            <a:r>
              <a:rPr lang="fr-FR" sz="2400" dirty="0"/>
              <a:t>: </a:t>
            </a:r>
            <a:r>
              <a:rPr lang="fr-FR" sz="2400" dirty="0">
                <a:hlinkClick r:id="rId2"/>
              </a:rPr>
              <a:t>https://junit.org/junit5/docs/5.0.1/api/org/junit/jupiter/api/Assertions.html</a:t>
            </a:r>
            <a:r>
              <a:rPr lang="fr-FR" sz="2400" dirty="0"/>
              <a:t> ).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dirty="0"/>
              <a:t>Une assertion qui échoue lèvera une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AssertionFailedError</a:t>
            </a:r>
            <a:r>
              <a:rPr lang="fr-FR" sz="2400" dirty="0"/>
              <a:t>.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endParaRPr lang="fr-FR" sz="2400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1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x-none" altLang="x-none">
                <a:latin typeface="Arial" charset="0"/>
              </a:rPr>
            </a:br>
            <a:endParaRPr lang="x-none" altLang="x-none">
              <a:latin typeface="Arial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21284" y="63502"/>
            <a:ext cx="2459181" cy="149869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E8E90A01-FD6F-2BE4-3269-859B1052033B}"/>
              </a:ext>
            </a:extLst>
          </p:cNvPr>
          <p:cNvSpPr txBox="1"/>
          <p:nvPr/>
        </p:nvSpPr>
        <p:spPr>
          <a:xfrm>
            <a:off x="2319207" y="2023093"/>
            <a:ext cx="7260336" cy="338554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import </a:t>
            </a:r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org.junit.jupiter.api.Assertions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.*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fr-F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F8A1655-239D-D9C8-B2B5-207B51F43A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04760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Les </a:t>
            </a:r>
            <a:r>
              <a:rPr lang="en-GB" dirty="0" err="1"/>
              <a:t>méthodes</a:t>
            </a:r>
            <a:r>
              <a:rPr lang="en-GB" dirty="0"/>
              <a:t> </a:t>
            </a:r>
            <a:r>
              <a:rPr lang="en-GB" dirty="0" err="1"/>
              <a:t>d’</a:t>
            </a:r>
            <a:r>
              <a:rPr lang="en-GB" sz="4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Assertions</a:t>
            </a:r>
            <a:endParaRPr lang="en-GB" sz="44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1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x-none" altLang="x-none">
                <a:latin typeface="Arial" charset="0"/>
              </a:rPr>
            </a:br>
            <a:endParaRPr lang="x-none" altLang="x-none">
              <a:latin typeface="Arial" charset="0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6B645B97-0341-7CF0-72F7-B2F9D4DB791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21284" y="63502"/>
            <a:ext cx="2459181" cy="149869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02E61823-A829-C3A6-B322-FC1697CE947F}"/>
              </a:ext>
            </a:extLst>
          </p:cNvPr>
          <p:cNvSpPr txBox="1"/>
          <p:nvPr/>
        </p:nvSpPr>
        <p:spPr>
          <a:xfrm>
            <a:off x="5511151" y="6332172"/>
            <a:ext cx="6096000" cy="369332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i="1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assertEquals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3.14159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dirty="0" err="1">
                <a:latin typeface="Consolas" panose="020B0609020204030204" pitchFamily="49" charset="0"/>
                <a:cs typeface="Consolas" panose="020B0609020204030204" pitchFamily="49" charset="0"/>
              </a:rPr>
              <a:t>myPi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0.001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52F4CFF-3C97-1532-23BE-28D5760F1C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28</a:t>
            </a:fld>
            <a:endParaRPr lang="fr-FR"/>
          </a:p>
        </p:txBody>
      </p:sp>
      <p:graphicFrame>
        <p:nvGraphicFramePr>
          <p:cNvPr id="9" name="Espace réservé du contenu 3">
            <a:extLst>
              <a:ext uri="{FF2B5EF4-FFF2-40B4-BE49-F238E27FC236}">
                <a16:creationId xmlns:a16="http://schemas.microsoft.com/office/drawing/2014/main" id="{5010E145-53ED-04E5-690D-F138D7E179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4255666"/>
              </p:ext>
            </p:extLst>
          </p:nvPr>
        </p:nvGraphicFramePr>
        <p:xfrm>
          <a:off x="838200" y="1580093"/>
          <a:ext cx="10905422" cy="47280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9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6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704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1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Assertion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1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93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void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 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assertEquals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(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expected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, 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actual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)</a:t>
                      </a:r>
                      <a:b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</a:b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void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 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assertNotEquals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(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expected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, 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actual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500" b="0" kern="1200" dirty="0">
                        <a:solidFill>
                          <a:schemeClr val="accent4"/>
                        </a:solidFill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chemeClr val="tx1"/>
                          </a:solidFill>
                          <a:effectLst/>
                        </a:rPr>
                        <a:t>Vérifie si les deux valeurs (de type </a:t>
                      </a:r>
                      <a:r>
                        <a:rPr lang="fr-FR" sz="16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int</a:t>
                      </a:r>
                      <a:r>
                        <a:rPr lang="fr-FR" sz="1800" b="0" kern="12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fr-FR" sz="16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short</a:t>
                      </a:r>
                      <a:r>
                        <a:rPr lang="fr-FR" sz="1800" b="0" kern="12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fr-FR" sz="16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long</a:t>
                      </a:r>
                      <a:r>
                        <a:rPr lang="fr-FR" sz="1800" b="0" kern="12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fr-FR" sz="16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byte</a:t>
                      </a:r>
                      <a:r>
                        <a:rPr lang="fr-FR" sz="1800" b="0" kern="12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fr-FR" sz="16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char</a:t>
                      </a:r>
                      <a:r>
                        <a:rPr lang="fr-FR" sz="1800" b="0" kern="1200" dirty="0">
                          <a:solidFill>
                            <a:schemeClr val="tx1"/>
                          </a:solidFill>
                          <a:effectLst/>
                        </a:rPr>
                        <a:t> ou </a:t>
                      </a:r>
                      <a:r>
                        <a:rPr lang="fr-FR" sz="16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java.lang.Object</a:t>
                      </a:r>
                      <a:r>
                        <a:rPr lang="fr-FR" sz="1800" b="0" kern="1200" dirty="0">
                          <a:solidFill>
                            <a:schemeClr val="tx1"/>
                          </a:solidFill>
                          <a:effectLst/>
                        </a:rPr>
                        <a:t>) sont égales (ou </a:t>
                      </a:r>
                      <a:r>
                        <a:rPr lang="fr-FR" sz="1800" b="0" kern="1200" dirty="0" err="1">
                          <a:solidFill>
                            <a:schemeClr val="tx1"/>
                          </a:solidFill>
                          <a:effectLst/>
                        </a:rPr>
                        <a:t>nonn</a:t>
                      </a:r>
                      <a:r>
                        <a:rPr lang="fr-FR" sz="1800" b="0" kern="1200" dirty="0">
                          <a:solidFill>
                            <a:schemeClr val="tx1"/>
                          </a:solidFill>
                          <a:effectLst/>
                        </a:rPr>
                        <a:t> égales).</a:t>
                      </a:r>
                      <a:endParaRPr lang="fr-FR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6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void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 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assertTrue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(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boolean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 condition)</a:t>
                      </a:r>
                      <a:b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</a:b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void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 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assertFalse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(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boolean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 condition)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chemeClr val="tx1"/>
                          </a:solidFill>
                          <a:effectLst/>
                        </a:rPr>
                        <a:t>Vérifie si</a:t>
                      </a:r>
                      <a:r>
                        <a:rPr lang="fr-FR" sz="1800" b="0" kern="1200" baseline="0" dirty="0">
                          <a:solidFill>
                            <a:schemeClr val="tx1"/>
                          </a:solidFill>
                          <a:effectLst/>
                        </a:rPr>
                        <a:t> la </a:t>
                      </a:r>
                      <a:r>
                        <a:rPr lang="fr-FR" sz="1800" b="0" kern="1200" dirty="0">
                          <a:solidFill>
                            <a:schemeClr val="tx1"/>
                          </a:solidFill>
                          <a:effectLst/>
                        </a:rPr>
                        <a:t>condition est </a:t>
                      </a:r>
                      <a:r>
                        <a:rPr lang="fr-FR" sz="16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true</a:t>
                      </a:r>
                      <a:r>
                        <a:rPr lang="fr-FR" sz="1800" b="0" kern="1200" dirty="0">
                          <a:solidFill>
                            <a:schemeClr val="tx1"/>
                          </a:solidFill>
                          <a:effectLst/>
                        </a:rPr>
                        <a:t> (ou </a:t>
                      </a:r>
                      <a:r>
                        <a:rPr lang="fr-FR" sz="16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false</a:t>
                      </a:r>
                      <a:r>
                        <a:rPr lang="fr-FR" sz="2000" b="0" kern="1200" dirty="0">
                          <a:solidFill>
                            <a:schemeClr val="tx1"/>
                          </a:solidFill>
                          <a:effectLst/>
                        </a:rPr>
                        <a:t>).</a:t>
                      </a:r>
                      <a:endParaRPr lang="fr-FR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6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void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 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assertNull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(Object 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object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)</a:t>
                      </a:r>
                      <a:b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</a:b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void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 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assertNotNull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(Object 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object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)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chemeClr val="tx1"/>
                          </a:solidFill>
                          <a:effectLst/>
                        </a:rPr>
                        <a:t>Vérifie si</a:t>
                      </a:r>
                      <a:r>
                        <a:rPr lang="fr-FR" sz="1800" b="0" kern="1200" baseline="0" dirty="0">
                          <a:solidFill>
                            <a:schemeClr val="tx1"/>
                          </a:solidFill>
                          <a:effectLst/>
                        </a:rPr>
                        <a:t> l’objet </a:t>
                      </a:r>
                      <a:r>
                        <a:rPr lang="fr-FR" sz="1800" b="0" kern="1200" dirty="0">
                          <a:solidFill>
                            <a:schemeClr val="tx1"/>
                          </a:solidFill>
                          <a:effectLst/>
                        </a:rPr>
                        <a:t>est </a:t>
                      </a:r>
                      <a:r>
                        <a:rPr lang="fr-FR" sz="16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null</a:t>
                      </a:r>
                      <a:r>
                        <a:rPr lang="fr-FR" sz="1800" b="0" kern="1200" dirty="0">
                          <a:solidFill>
                            <a:schemeClr val="tx1"/>
                          </a:solidFill>
                          <a:effectLst/>
                        </a:rPr>
                        <a:t> (ou non </a:t>
                      </a:r>
                      <a:r>
                        <a:rPr lang="fr-FR" sz="16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null</a:t>
                      </a:r>
                      <a:r>
                        <a:rPr lang="fr-FR" sz="2000" b="0" kern="1200" dirty="0">
                          <a:solidFill>
                            <a:schemeClr val="tx1"/>
                          </a:solidFill>
                          <a:effectLst/>
                        </a:rPr>
                        <a:t>).</a:t>
                      </a:r>
                      <a:endParaRPr lang="fr-FR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753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void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 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assertThrows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(Class type, 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Executable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 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executable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)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chemeClr val="tx1"/>
                          </a:solidFill>
                          <a:effectLst/>
                        </a:rPr>
                        <a:t>Vérifie que l’appel de la méthode </a:t>
                      </a:r>
                      <a:r>
                        <a:rPr lang="fr-FR" sz="16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+mn-ea"/>
                          <a:cs typeface="Consolas" charset="0"/>
                        </a:rPr>
                        <a:t>execute</a:t>
                      </a:r>
                      <a:r>
                        <a:rPr lang="fr-FR" sz="1800" b="0" kern="1200" dirty="0">
                          <a:solidFill>
                            <a:schemeClr val="tx1"/>
                          </a:solidFill>
                          <a:effectLst/>
                        </a:rPr>
                        <a:t> de l’objet </a:t>
                      </a:r>
                      <a:r>
                        <a:rPr lang="fr-FR" sz="16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+mn-ea"/>
                          <a:cs typeface="Consolas" charset="0"/>
                        </a:rPr>
                        <a:t>Executable</a:t>
                      </a:r>
                      <a:r>
                        <a:rPr lang="fr-FR" sz="1800" b="0" kern="1200" dirty="0">
                          <a:solidFill>
                            <a:schemeClr val="tx1"/>
                          </a:solidFill>
                          <a:effectLst/>
                        </a:rPr>
                        <a:t>  lève bien une </a:t>
                      </a:r>
                      <a:r>
                        <a:rPr lang="fr-FR" sz="16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+mn-ea"/>
                          <a:cs typeface="Consolas" charset="0"/>
                        </a:rPr>
                        <a:t>Exception</a:t>
                      </a:r>
                      <a:r>
                        <a:rPr lang="fr-FR" sz="1800" b="0" kern="1200" dirty="0">
                          <a:solidFill>
                            <a:schemeClr val="tx1"/>
                          </a:solidFill>
                          <a:effectLst/>
                        </a:rPr>
                        <a:t> de type </a:t>
                      </a:r>
                      <a:r>
                        <a:rPr lang="fr-FR" sz="16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cs typeface="Consolas" charset="0"/>
                        </a:rPr>
                        <a:t>type</a:t>
                      </a:r>
                      <a:r>
                        <a:rPr lang="fr-FR" sz="1800" b="0" kern="12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fr-FR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753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void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 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assertAll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(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Executable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 ... 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executables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)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chemeClr val="tx1"/>
                          </a:solidFill>
                          <a:effectLst/>
                        </a:rPr>
                        <a:t>Permet de tester plusieurs assertions. Cette assertion est réussie si aucun </a:t>
                      </a:r>
                      <a:r>
                        <a:rPr lang="fr-FR" sz="16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+mn-ea"/>
                          <a:cs typeface="Consolas" charset="0"/>
                        </a:rPr>
                        <a:t>Executable</a:t>
                      </a:r>
                      <a:r>
                        <a:rPr lang="fr-FR" sz="1800" b="0" kern="1200" dirty="0">
                          <a:solidFill>
                            <a:schemeClr val="tx1"/>
                          </a:solidFill>
                          <a:effectLst/>
                        </a:rPr>
                        <a:t> ne lève une </a:t>
                      </a:r>
                      <a:r>
                        <a:rPr lang="fr-FR" sz="16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+mn-ea"/>
                          <a:cs typeface="Consolas" charset="0"/>
                        </a:rPr>
                        <a:t>Exception</a:t>
                      </a:r>
                      <a:r>
                        <a:rPr lang="fr-FR" sz="1800" b="0" kern="12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fr-FR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3934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void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 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assertArrayEquals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(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expectedArray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, 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resultArray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)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chemeClr val="tx1"/>
                          </a:solidFill>
                          <a:effectLst/>
                        </a:rPr>
                        <a:t>Vérifie que les deux tableaux sont égaux. Le type des tableaux peut être </a:t>
                      </a:r>
                      <a:r>
                        <a:rPr lang="fr-FR" sz="16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int</a:t>
                      </a:r>
                      <a:r>
                        <a:rPr lang="fr-FR" sz="1800" b="0" kern="12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fr-FR" sz="16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long</a:t>
                      </a:r>
                      <a:r>
                        <a:rPr lang="fr-FR" sz="1800" b="0" kern="12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fr-FR" sz="16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short</a:t>
                      </a:r>
                      <a:r>
                        <a:rPr lang="fr-FR" sz="1800" b="0" kern="12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fr-FR" sz="16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char</a:t>
                      </a:r>
                      <a:r>
                        <a:rPr lang="fr-FR" sz="1800" b="0" kern="12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fr-FR" sz="16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byte</a:t>
                      </a:r>
                      <a:r>
                        <a:rPr lang="fr-FR" sz="1800" b="0" kern="1200" dirty="0">
                          <a:solidFill>
                            <a:schemeClr val="tx1"/>
                          </a:solidFill>
                          <a:effectLst/>
                        </a:rPr>
                        <a:t> ou </a:t>
                      </a:r>
                      <a:r>
                        <a:rPr lang="fr-FR" sz="16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java.lang.Object</a:t>
                      </a:r>
                      <a:r>
                        <a:rPr lang="fr-FR" sz="1800" b="0" kern="12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fr-FR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32008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BA38E6-91D6-0E28-4148-3A6223E41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Message lors d’une erreur</a:t>
            </a:r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AF62C502-364D-E1F1-1F04-3B79A697926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fr-FR" dirty="0"/>
              <a:t>Toutes les méthodes de la classe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Assertions</a:t>
            </a:r>
            <a:r>
              <a:rPr lang="fr-FR" dirty="0"/>
              <a:t> sont surchargées pour prendre un paramètre supplémentaire, de type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fr-FR" dirty="0"/>
              <a:t>, un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fr-FR" dirty="0"/>
              <a:t> qui s’affichera en cas de test échoué.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FR" dirty="0"/>
          </a:p>
          <a:p>
            <a:pPr marL="0" indent="0">
              <a:buFont typeface="Arial" panose="020B0604020202020204" pitchFamily="34" charset="0"/>
              <a:buNone/>
            </a:pPr>
            <a:endParaRPr lang="fr-FR" dirty="0"/>
          </a:p>
          <a:p>
            <a:pPr marL="0" indent="0">
              <a:buFont typeface="Arial" panose="020B0604020202020204" pitchFamily="34" charset="0"/>
              <a:buNone/>
            </a:pPr>
            <a:endParaRPr lang="fr-FR" dirty="0"/>
          </a:p>
          <a:p>
            <a:endParaRPr lang="fr-FR" dirty="0"/>
          </a:p>
        </p:txBody>
      </p:sp>
      <p:sp>
        <p:nvSpPr>
          <p:cNvPr id="11" name="Espace réservé du contenu 12">
            <a:extLst>
              <a:ext uri="{FF2B5EF4-FFF2-40B4-BE49-F238E27FC236}">
                <a16:creationId xmlns:a16="http://schemas.microsoft.com/office/drawing/2014/main" id="{1CE32B88-D318-462D-8F50-F4502DB0A45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fr-FR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7CA88E18-F3B7-4598-7F71-2F661FE0860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188"/>
          <a:stretch/>
        </p:blipFill>
        <p:spPr>
          <a:xfrm>
            <a:off x="6266326" y="4475356"/>
            <a:ext cx="5087474" cy="1226261"/>
          </a:xfrm>
          <a:prstGeom prst="rect">
            <a:avLst/>
          </a:prstGeom>
        </p:spPr>
      </p:pic>
      <p:graphicFrame>
        <p:nvGraphicFramePr>
          <p:cNvPr id="16" name="Espace réservé du contenu 3">
            <a:extLst>
              <a:ext uri="{FF2B5EF4-FFF2-40B4-BE49-F238E27FC236}">
                <a16:creationId xmlns:a16="http://schemas.microsoft.com/office/drawing/2014/main" id="{97D7AA16-FC4A-8B70-6826-9DD9966A41ED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203902" cy="353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39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1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Assertions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void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 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assertEquals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(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expected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, 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actual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)</a:t>
                      </a:r>
                      <a:b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</a:b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void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 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assertNotEquals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(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expected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, 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actual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500" b="0" kern="1200" dirty="0">
                        <a:solidFill>
                          <a:schemeClr val="accent4"/>
                        </a:solidFill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void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 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assertTrue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(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boolean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 condition)</a:t>
                      </a:r>
                      <a:b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</a:b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void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 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assertFalse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(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boolean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 condition)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void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 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assertNull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(Object 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object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)</a:t>
                      </a:r>
                      <a:b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</a:b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void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 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assertNotNull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(Object 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object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)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void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 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assertThrows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(Class type, 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Executable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 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exec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)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void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 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assertAll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(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Executable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 ... 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executables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)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void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 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assertArrayEquals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(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expectedArray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, </a:t>
                      </a:r>
                      <a:r>
                        <a:rPr lang="fr-FR" sz="15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resultArray</a:t>
                      </a:r>
                      <a:r>
                        <a:rPr lang="fr-FR" sz="15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)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2C5EB9D-A2E1-AD79-298E-42B5A9B1B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29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916822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BA38E6-91D6-0E28-4148-3A6223E41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méthode </a:t>
            </a:r>
            <a:r>
              <a:rPr lang="fr-FR" sz="4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fail</a:t>
            </a:r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AF62C502-364D-E1F1-1F04-3B79A6979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fr-FR" dirty="0"/>
              <a:t>La classe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Assertions</a:t>
            </a:r>
            <a:r>
              <a:rPr lang="fr-FR" dirty="0"/>
              <a:t> présente aussi une méthode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fail</a:t>
            </a:r>
            <a:r>
              <a:rPr lang="fr-FR" dirty="0"/>
              <a:t>, qui fait échouer le test quand elle est rencontrée.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FR" dirty="0"/>
          </a:p>
          <a:p>
            <a:pPr marL="0" indent="0">
              <a:buFont typeface="Arial" panose="020B0604020202020204" pitchFamily="34" charset="0"/>
              <a:buNone/>
            </a:pPr>
            <a:endParaRPr lang="fr-F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fr-FR" dirty="0"/>
              <a:t>Elle peut être utilisée quand vous avez défini les noms de vos tests mais pas encore leur contenu, pour ne pas oublier de les implémenter..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FR" dirty="0"/>
          </a:p>
          <a:p>
            <a:pPr marL="0" indent="0">
              <a:buFont typeface="Arial" panose="020B0604020202020204" pitchFamily="34" charset="0"/>
              <a:buNone/>
            </a:pPr>
            <a:endParaRPr lang="fr-FR" dirty="0"/>
          </a:p>
          <a:p>
            <a:pPr marL="0" indent="0">
              <a:buFont typeface="Arial" panose="020B0604020202020204" pitchFamily="34" charset="0"/>
              <a:buNone/>
            </a:pPr>
            <a:endParaRPr lang="fr-FR" dirty="0"/>
          </a:p>
          <a:p>
            <a:endParaRPr lang="fr-FR" dirty="0"/>
          </a:p>
        </p:txBody>
      </p:sp>
      <p:sp>
        <p:nvSpPr>
          <p:cNvPr id="11" name="Espace réservé du contenu 12">
            <a:extLst>
              <a:ext uri="{FF2B5EF4-FFF2-40B4-BE49-F238E27FC236}">
                <a16:creationId xmlns:a16="http://schemas.microsoft.com/office/drawing/2014/main" id="{1CE32B88-D318-462D-8F50-F4502DB0A45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11CB323-9049-30FA-8E14-B9F743066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206" y="2842941"/>
            <a:ext cx="4076700" cy="711200"/>
          </a:xfrm>
          <a:prstGeom prst="rect">
            <a:avLst/>
          </a:prstGeom>
        </p:spPr>
      </p:pic>
      <p:sp>
        <p:nvSpPr>
          <p:cNvPr id="4" name="Espace réservé du numéro de diapositive 2">
            <a:extLst>
              <a:ext uri="{FF2B5EF4-FFF2-40B4-BE49-F238E27FC236}">
                <a16:creationId xmlns:a16="http://schemas.microsoft.com/office/drawing/2014/main" id="{F48D4BD3-100C-87AB-EAB9-95395DA9BA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30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09537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5D3CFD-2793-CF45-E812-36D93105D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L’interface </a:t>
            </a:r>
            <a:r>
              <a:rPr lang="fr-FR" sz="4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Executable</a:t>
            </a:r>
            <a:endParaRPr lang="fr-FR" sz="44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3826B8-33FB-8F79-1D27-1E13A5315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7557"/>
            <a:ext cx="10515600" cy="4059405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L’interface </a:t>
            </a:r>
            <a:r>
              <a:rPr lang="fr-BE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org.junit.jupiter.api.function.Executable</a:t>
            </a:r>
            <a:r>
              <a:rPr lang="fr-BE" dirty="0"/>
              <a:t> </a:t>
            </a:r>
            <a:r>
              <a:rPr lang="fr-FR" dirty="0"/>
              <a:t>ne contient qu’une méthode; c’</a:t>
            </a:r>
            <a:r>
              <a:rPr lang="fr-BE" dirty="0"/>
              <a:t>est </a:t>
            </a:r>
            <a:r>
              <a:rPr lang="fr-FR" dirty="0"/>
              <a:t> donc une interface fonctionnelle.</a:t>
            </a:r>
          </a:p>
          <a:p>
            <a:pPr marL="0" indent="0">
              <a:buNone/>
            </a:pPr>
            <a:r>
              <a:rPr lang="fr-FR" dirty="0"/>
              <a:t>La seule méthode de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Executable</a:t>
            </a:r>
            <a:r>
              <a:rPr lang="fr-FR" dirty="0"/>
              <a:t> est la méthode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execute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FR" dirty="0"/>
              <a:t>, qui peut lever une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Exception</a:t>
            </a:r>
            <a:r>
              <a:rPr lang="fr-FR" dirty="0"/>
              <a:t>: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CFECEEE-9220-F7A7-C919-ACCB3DEC0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7662" y="4051011"/>
            <a:ext cx="5265821" cy="246091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AFEAD5C1-2B57-6A96-34C0-E44590150363}"/>
              </a:ext>
            </a:extLst>
          </p:cNvPr>
          <p:cNvSpPr txBox="1"/>
          <p:nvPr/>
        </p:nvSpPr>
        <p:spPr>
          <a:xfrm>
            <a:off x="838199" y="1453249"/>
            <a:ext cx="83439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200" b="0" kern="1200" dirty="0" err="1">
                <a:solidFill>
                  <a:schemeClr val="accent4"/>
                </a:solidFill>
                <a:effectLst/>
                <a:latin typeface="Consolas" charset="0"/>
                <a:ea typeface="Consolas" charset="0"/>
                <a:cs typeface="Consolas" charset="0"/>
              </a:rPr>
              <a:t>void</a:t>
            </a:r>
            <a:r>
              <a:rPr lang="fr-FR" sz="2200" b="0" kern="1200" dirty="0">
                <a:solidFill>
                  <a:schemeClr val="accent4"/>
                </a:solidFill>
                <a:effectLst/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fr-FR" sz="2200" b="0" kern="1200" dirty="0" err="1">
                <a:solidFill>
                  <a:schemeClr val="accent4"/>
                </a:solidFill>
                <a:effectLst/>
                <a:latin typeface="Consolas" charset="0"/>
                <a:ea typeface="Consolas" charset="0"/>
                <a:cs typeface="Consolas" charset="0"/>
              </a:rPr>
              <a:t>assertThrows</a:t>
            </a:r>
            <a:r>
              <a:rPr lang="fr-FR" sz="2200" b="0" kern="1200" dirty="0">
                <a:solidFill>
                  <a:schemeClr val="accent4"/>
                </a:solidFill>
                <a:effectLst/>
                <a:latin typeface="Consolas" charset="0"/>
                <a:ea typeface="Consolas" charset="0"/>
                <a:cs typeface="Consolas" charset="0"/>
              </a:rPr>
              <a:t>(Class type, </a:t>
            </a:r>
            <a:r>
              <a:rPr lang="fr-FR" sz="2200" b="1" kern="1200" dirty="0" err="1">
                <a:solidFill>
                  <a:srgbClr val="FFFF00"/>
                </a:solidFill>
                <a:effectLst/>
                <a:latin typeface="Consolas" charset="0"/>
                <a:ea typeface="Consolas" charset="0"/>
                <a:cs typeface="Consolas" charset="0"/>
              </a:rPr>
              <a:t>Executable</a:t>
            </a:r>
            <a:r>
              <a:rPr lang="fr-FR" sz="2200" b="0" kern="1200" dirty="0">
                <a:solidFill>
                  <a:schemeClr val="accent4"/>
                </a:solidFill>
                <a:effectLst/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fr-FR" sz="2200" b="0" kern="1200" dirty="0" err="1">
                <a:solidFill>
                  <a:schemeClr val="accent4"/>
                </a:solidFill>
                <a:effectLst/>
                <a:latin typeface="Consolas" charset="0"/>
                <a:ea typeface="Consolas" charset="0"/>
                <a:cs typeface="Consolas" charset="0"/>
              </a:rPr>
              <a:t>executable</a:t>
            </a:r>
            <a:r>
              <a:rPr lang="fr-FR" sz="2200" b="0" kern="1200" dirty="0">
                <a:solidFill>
                  <a:schemeClr val="accent4"/>
                </a:solidFill>
                <a:effectLst/>
                <a:latin typeface="Consolas" charset="0"/>
                <a:ea typeface="Consolas" charset="0"/>
                <a:cs typeface="Consolas" charset="0"/>
              </a:rPr>
              <a:t>)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FFF45CE-4FD4-68DF-E50A-77DE8FA31A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8496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5D3CFD-2793-CF45-E812-36D93105D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Tester la levée d’une </a:t>
            </a:r>
            <a:r>
              <a:rPr lang="fr-FR" sz="4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Exception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3826B8-33FB-8F79-1D27-1E13A5315CF1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  <a:tailEnd type="triangle"/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marL="0" indent="0">
              <a:buNone/>
            </a:pPr>
            <a:r>
              <a:rPr lang="nl-BE" dirty="0"/>
              <a:t>Pour tester la levée d’une exception, </a:t>
            </a:r>
            <a:r>
              <a:rPr lang="nl-BE" sz="26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Assertions</a:t>
            </a:r>
            <a:r>
              <a:rPr lang="nl-BE" dirty="0"/>
              <a:t> présente la méthode </a:t>
            </a:r>
            <a:r>
              <a:rPr lang="fr-FR" sz="2600" b="0" kern="1200" dirty="0" err="1">
                <a:solidFill>
                  <a:schemeClr val="accent4"/>
                </a:solidFill>
                <a:effectLst/>
                <a:latin typeface="Consolas" charset="0"/>
                <a:ea typeface="Consolas" charset="0"/>
                <a:cs typeface="Consolas" charset="0"/>
              </a:rPr>
              <a:t>void</a:t>
            </a:r>
            <a:r>
              <a:rPr lang="fr-FR" sz="2600" b="0" kern="1200" dirty="0">
                <a:solidFill>
                  <a:schemeClr val="accent4"/>
                </a:solidFill>
                <a:effectLst/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fr-FR" sz="2600" b="0" kern="1200" dirty="0" err="1">
                <a:solidFill>
                  <a:schemeClr val="accent4"/>
                </a:solidFill>
                <a:effectLst/>
                <a:latin typeface="Consolas" charset="0"/>
                <a:ea typeface="Consolas" charset="0"/>
                <a:cs typeface="Consolas" charset="0"/>
              </a:rPr>
              <a:t>assertThrows</a:t>
            </a:r>
            <a:r>
              <a:rPr lang="fr-FR" sz="2600" b="0" kern="1200" dirty="0">
                <a:solidFill>
                  <a:schemeClr val="accent4"/>
                </a:solidFill>
                <a:effectLst/>
                <a:latin typeface="Consolas" charset="0"/>
                <a:ea typeface="Consolas" charset="0"/>
                <a:cs typeface="Consolas" charset="0"/>
              </a:rPr>
              <a:t>(Class type, </a:t>
            </a:r>
            <a:r>
              <a:rPr lang="fr-FR" sz="2600" b="0" kern="1200" dirty="0" err="1">
                <a:solidFill>
                  <a:schemeClr val="accent4"/>
                </a:solidFill>
                <a:effectLst/>
                <a:latin typeface="Consolas" charset="0"/>
                <a:ea typeface="Consolas" charset="0"/>
                <a:cs typeface="Consolas" charset="0"/>
              </a:rPr>
              <a:t>Executable</a:t>
            </a:r>
            <a:r>
              <a:rPr lang="fr-FR" sz="2600" b="0" kern="1200" dirty="0">
                <a:solidFill>
                  <a:schemeClr val="accent4"/>
                </a:solidFill>
                <a:effectLst/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fr-FR" sz="2600" b="0" kern="1200" dirty="0" err="1">
                <a:solidFill>
                  <a:schemeClr val="accent4"/>
                </a:solidFill>
                <a:effectLst/>
                <a:latin typeface="Consolas" charset="0"/>
                <a:ea typeface="Consolas" charset="0"/>
                <a:cs typeface="Consolas" charset="0"/>
              </a:rPr>
              <a:t>executable</a:t>
            </a:r>
            <a:r>
              <a:rPr lang="fr-FR" sz="2600" b="0" kern="1200" dirty="0">
                <a:solidFill>
                  <a:schemeClr val="accent4"/>
                </a:solidFill>
                <a:effectLst/>
                <a:latin typeface="Consolas" charset="0"/>
                <a:ea typeface="Consolas" charset="0"/>
                <a:cs typeface="Consolas" charset="0"/>
              </a:rPr>
              <a:t>)</a:t>
            </a:r>
            <a:r>
              <a:rPr lang="nl-BE" dirty="0"/>
              <a:t>.</a:t>
            </a:r>
          </a:p>
          <a:p>
            <a:pPr marL="0" indent="0">
              <a:buNone/>
            </a:pPr>
            <a:r>
              <a:rPr lang="nl-BE" dirty="0"/>
              <a:t>Un exemple:</a:t>
            </a: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D476AB9-519B-9DFF-3603-6033639AC1B0}"/>
              </a:ext>
            </a:extLst>
          </p:cNvPr>
          <p:cNvSpPr txBox="1"/>
          <p:nvPr/>
        </p:nvSpPr>
        <p:spPr>
          <a:xfrm>
            <a:off x="2669406" y="3172577"/>
            <a:ext cx="8684394" cy="2031325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@Test</a:t>
            </a:r>
            <a:br>
              <a:rPr lang="fr-BE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 err="1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testAjouteNegatifProvoqueException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    Compte compte = 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Compte()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b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i="1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assertThrows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dirty="0" err="1">
                <a:latin typeface="Consolas" panose="020B0609020204030204" pitchFamily="49" charset="0"/>
                <a:cs typeface="Consolas" panose="020B0609020204030204" pitchFamily="49" charset="0"/>
              </a:rPr>
              <a:t>MontantInvalideException.</a:t>
            </a:r>
            <a:r>
              <a:rPr lang="fr-BE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br>
              <a:rPr lang="fr-BE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() -&gt; </a:t>
            </a:r>
            <a:r>
              <a:rPr lang="fr-BE" dirty="0" err="1">
                <a:latin typeface="Consolas" panose="020B0609020204030204" pitchFamily="49" charset="0"/>
                <a:cs typeface="Consolas" panose="020B0609020204030204" pitchFamily="49" charset="0"/>
              </a:rPr>
              <a:t>compte.ajoute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(-10))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Forme libre 6">
            <a:extLst>
              <a:ext uri="{FF2B5EF4-FFF2-40B4-BE49-F238E27FC236}">
                <a16:creationId xmlns:a16="http://schemas.microsoft.com/office/drawing/2014/main" id="{A40F6148-62F5-C2B2-D6B7-786A59EF6CCF}"/>
              </a:ext>
            </a:extLst>
          </p:cNvPr>
          <p:cNvSpPr/>
          <p:nvPr/>
        </p:nvSpPr>
        <p:spPr>
          <a:xfrm>
            <a:off x="1691538" y="2685448"/>
            <a:ext cx="1465549" cy="1808002"/>
          </a:xfrm>
          <a:custGeom>
            <a:avLst/>
            <a:gdLst>
              <a:gd name="connsiteX0" fmla="*/ 497442 w 1527345"/>
              <a:gd name="connsiteY0" fmla="*/ 0 h 1880794"/>
              <a:gd name="connsiteX1" fmla="*/ 45055 w 1527345"/>
              <a:gd name="connsiteY1" fmla="*/ 1135781 h 1880794"/>
              <a:gd name="connsiteX2" fmla="*/ 16179 w 1527345"/>
              <a:gd name="connsiteY2" fmla="*/ 1116531 h 1880794"/>
              <a:gd name="connsiteX3" fmla="*/ 920954 w 1527345"/>
              <a:gd name="connsiteY3" fmla="*/ 1819175 h 1880794"/>
              <a:gd name="connsiteX4" fmla="*/ 1527345 w 1527345"/>
              <a:gd name="connsiteY4" fmla="*/ 1799925 h 1880794"/>
              <a:gd name="connsiteX0" fmla="*/ 461957 w 1491860"/>
              <a:gd name="connsiteY0" fmla="*/ 0 h 1880794"/>
              <a:gd name="connsiteX1" fmla="*/ 9570 w 1491860"/>
              <a:gd name="connsiteY1" fmla="*/ 1135781 h 1880794"/>
              <a:gd name="connsiteX2" fmla="*/ 885469 w 1491860"/>
              <a:gd name="connsiteY2" fmla="*/ 1819175 h 1880794"/>
              <a:gd name="connsiteX3" fmla="*/ 1491860 w 1491860"/>
              <a:gd name="connsiteY3" fmla="*/ 1799925 h 1880794"/>
              <a:gd name="connsiteX0" fmla="*/ 0 w 1029903"/>
              <a:gd name="connsiteY0" fmla="*/ 0 h 1880794"/>
              <a:gd name="connsiteX1" fmla="*/ 423512 w 1029903"/>
              <a:gd name="connsiteY1" fmla="*/ 1819175 h 1880794"/>
              <a:gd name="connsiteX2" fmla="*/ 1029903 w 1029903"/>
              <a:gd name="connsiteY2" fmla="*/ 1799925 h 1880794"/>
              <a:gd name="connsiteX0" fmla="*/ 333285 w 1363188"/>
              <a:gd name="connsiteY0" fmla="*/ 0 h 1817604"/>
              <a:gd name="connsiteX1" fmla="*/ 32897 w 1363188"/>
              <a:gd name="connsiteY1" fmla="*/ 1617789 h 1817604"/>
              <a:gd name="connsiteX2" fmla="*/ 1363188 w 1363188"/>
              <a:gd name="connsiteY2" fmla="*/ 1799925 h 1817604"/>
              <a:gd name="connsiteX0" fmla="*/ 359461 w 1389364"/>
              <a:gd name="connsiteY0" fmla="*/ 0 h 1817604"/>
              <a:gd name="connsiteX1" fmla="*/ 59073 w 1389364"/>
              <a:gd name="connsiteY1" fmla="*/ 1617789 h 1817604"/>
              <a:gd name="connsiteX2" fmla="*/ 1389364 w 1389364"/>
              <a:gd name="connsiteY2" fmla="*/ 1799925 h 1817604"/>
              <a:gd name="connsiteX0" fmla="*/ 399223 w 1429126"/>
              <a:gd name="connsiteY0" fmla="*/ 0 h 1853875"/>
              <a:gd name="connsiteX1" fmla="*/ 98835 w 1429126"/>
              <a:gd name="connsiteY1" fmla="*/ 1617789 h 1853875"/>
              <a:gd name="connsiteX2" fmla="*/ 1429126 w 1429126"/>
              <a:gd name="connsiteY2" fmla="*/ 1799925 h 1853875"/>
              <a:gd name="connsiteX0" fmla="*/ 359462 w 1389365"/>
              <a:gd name="connsiteY0" fmla="*/ 0 h 1834269"/>
              <a:gd name="connsiteX1" fmla="*/ 59074 w 1389365"/>
              <a:gd name="connsiteY1" fmla="*/ 1617789 h 1834269"/>
              <a:gd name="connsiteX2" fmla="*/ 1389365 w 1389365"/>
              <a:gd name="connsiteY2" fmla="*/ 1799925 h 1834269"/>
              <a:gd name="connsiteX0" fmla="*/ 435646 w 1465549"/>
              <a:gd name="connsiteY0" fmla="*/ 0 h 1814652"/>
              <a:gd name="connsiteX1" fmla="*/ 53615 w 1465549"/>
              <a:gd name="connsiteY1" fmla="*/ 1465389 h 1814652"/>
              <a:gd name="connsiteX2" fmla="*/ 1465549 w 1465549"/>
              <a:gd name="connsiteY2" fmla="*/ 1799925 h 1814652"/>
              <a:gd name="connsiteX0" fmla="*/ 435646 w 1465549"/>
              <a:gd name="connsiteY0" fmla="*/ 0 h 1808002"/>
              <a:gd name="connsiteX1" fmla="*/ 53615 w 1465549"/>
              <a:gd name="connsiteY1" fmla="*/ 1465389 h 1808002"/>
              <a:gd name="connsiteX2" fmla="*/ 1465549 w 1465549"/>
              <a:gd name="connsiteY2" fmla="*/ 1799925 h 180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5549" h="1808002">
                <a:moveTo>
                  <a:pt x="435646" y="0"/>
                </a:moveTo>
                <a:cubicBezTo>
                  <a:pt x="523878" y="378995"/>
                  <a:pt x="-198246" y="1231747"/>
                  <a:pt x="53615" y="1465389"/>
                </a:cubicBezTo>
                <a:cubicBezTo>
                  <a:pt x="305476" y="1699031"/>
                  <a:pt x="792984" y="1844727"/>
                  <a:pt x="1465549" y="1799925"/>
                </a:cubicBezTo>
              </a:path>
            </a:pathLst>
          </a:custGeom>
          <a:ln>
            <a:solidFill>
              <a:srgbClr val="FF0000"/>
            </a:solidFill>
            <a:tailEnd type="triangle"/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16634A9-17A0-7048-A422-BBA128FC49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32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6E47A10-72E9-939E-8444-1FD83E06CB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059" b="40694"/>
          <a:stretch/>
        </p:blipFill>
        <p:spPr>
          <a:xfrm>
            <a:off x="7086600" y="5462583"/>
            <a:ext cx="3990472" cy="1030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180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F0094F-EAD1-801B-1CF5-5E98434E4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Note sur les « </a:t>
            </a:r>
            <a:r>
              <a:rPr lang="fr-FR" dirty="0" err="1"/>
              <a:t>varargs</a:t>
            </a:r>
            <a:r>
              <a:rPr lang="fr-FR" dirty="0"/>
              <a:t> » (variable arguments)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F7EF71-3C65-4E8F-593A-8659D54D5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BE" sz="2400" dirty="0"/>
              <a:t>Vous avez peut-être remarqué la méthode </a:t>
            </a:r>
            <a:br>
              <a:rPr lang="nl-BE" sz="2400" dirty="0"/>
            </a:br>
            <a:r>
              <a:rPr lang="fr-FR" sz="2200" b="0" kern="1200" dirty="0" err="1">
                <a:solidFill>
                  <a:schemeClr val="accent4"/>
                </a:solidFill>
                <a:effectLst/>
                <a:latin typeface="Consolas" charset="0"/>
                <a:ea typeface="Consolas" charset="0"/>
                <a:cs typeface="Consolas" charset="0"/>
              </a:rPr>
              <a:t>void</a:t>
            </a:r>
            <a:r>
              <a:rPr lang="fr-FR" sz="2200" b="0" kern="1200" dirty="0">
                <a:solidFill>
                  <a:schemeClr val="accent4"/>
                </a:solidFill>
                <a:effectLst/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fr-FR" sz="2200" b="0" kern="1200" dirty="0" err="1">
                <a:solidFill>
                  <a:schemeClr val="accent4"/>
                </a:solidFill>
                <a:effectLst/>
                <a:latin typeface="Consolas" charset="0"/>
                <a:ea typeface="Consolas" charset="0"/>
                <a:cs typeface="Consolas" charset="0"/>
              </a:rPr>
              <a:t>assertAll</a:t>
            </a:r>
            <a:r>
              <a:rPr lang="fr-FR" sz="2200" b="0" kern="1200" dirty="0">
                <a:solidFill>
                  <a:schemeClr val="accent4"/>
                </a:solidFill>
                <a:effectLst/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fr-FR" sz="2200" b="0" kern="1200" dirty="0" err="1">
                <a:solidFill>
                  <a:schemeClr val="accent4"/>
                </a:solidFill>
                <a:effectLst/>
                <a:latin typeface="Consolas" charset="0"/>
                <a:ea typeface="Consolas" charset="0"/>
                <a:cs typeface="Consolas" charset="0"/>
              </a:rPr>
              <a:t>Executable</a:t>
            </a:r>
            <a:r>
              <a:rPr lang="fr-FR" sz="2200" b="0" kern="1200" dirty="0">
                <a:solidFill>
                  <a:schemeClr val="accent4"/>
                </a:solidFill>
                <a:effectLst/>
                <a:latin typeface="Consolas" charset="0"/>
                <a:ea typeface="Consolas" charset="0"/>
                <a:cs typeface="Consolas" charset="0"/>
              </a:rPr>
              <a:t> ... </a:t>
            </a:r>
            <a:r>
              <a:rPr lang="fr-FR" sz="2200" b="0" kern="1200" dirty="0" err="1">
                <a:solidFill>
                  <a:schemeClr val="accent4"/>
                </a:solidFill>
                <a:effectLst/>
                <a:latin typeface="Consolas" charset="0"/>
                <a:ea typeface="Consolas" charset="0"/>
                <a:cs typeface="Consolas" charset="0"/>
              </a:rPr>
              <a:t>executables</a:t>
            </a:r>
            <a:r>
              <a:rPr lang="fr-FR" sz="2200" b="0" kern="1200" dirty="0">
                <a:solidFill>
                  <a:schemeClr val="accent4"/>
                </a:solidFill>
                <a:effectLst/>
                <a:latin typeface="Consolas" charset="0"/>
                <a:ea typeface="Consolas" charset="0"/>
                <a:cs typeface="Consolas" charset="0"/>
              </a:rPr>
              <a:t>)</a:t>
            </a:r>
            <a:r>
              <a:rPr lang="nl-BE" sz="2400" dirty="0"/>
              <a:t>.</a:t>
            </a:r>
          </a:p>
          <a:p>
            <a:pPr marL="0" indent="0">
              <a:buNone/>
            </a:pPr>
            <a:r>
              <a:rPr lang="nl-BE" sz="2400" dirty="0"/>
              <a:t>En java, les points de suspension (</a:t>
            </a:r>
            <a:r>
              <a:rPr lang="nl-BE" sz="22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...</a:t>
            </a:r>
            <a:r>
              <a:rPr lang="nl-BE" sz="2400" dirty="0"/>
              <a:t>) sont utilisés pour définir une méthode qui accepte un nombre variable d'arguments de même type.</a:t>
            </a:r>
          </a:p>
          <a:p>
            <a:pPr marL="0" indent="0">
              <a:buNone/>
            </a:pPr>
            <a:endParaRPr lang="fr-FR" sz="2400" dirty="0">
              <a:solidFill>
                <a:schemeClr val="accent4"/>
              </a:solidFill>
              <a:latin typeface="Consolas" charset="0"/>
              <a:cs typeface="Consolas" charset="0"/>
            </a:endParaRP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endParaRPr lang="fr-FR" sz="24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D84317D-907D-4815-AF82-3561598613C3}"/>
              </a:ext>
            </a:extLst>
          </p:cNvPr>
          <p:cNvSpPr txBox="1"/>
          <p:nvPr/>
        </p:nvSpPr>
        <p:spPr>
          <a:xfrm>
            <a:off x="1200151" y="3438245"/>
            <a:ext cx="5029200" cy="1754326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fr-BE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somme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... </a:t>
            </a:r>
            <a:r>
              <a:rPr lang="fr-BE" dirty="0" err="1">
                <a:latin typeface="Consolas" panose="020B0609020204030204" pitchFamily="49" charset="0"/>
                <a:cs typeface="Consolas" panose="020B0609020204030204" pitchFamily="49" charset="0"/>
              </a:rPr>
              <a:t>nbs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b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somme = </a:t>
            </a:r>
            <a:r>
              <a:rPr lang="fr-BE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for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nb : </a:t>
            </a:r>
            <a:r>
              <a:rPr lang="fr-BE" dirty="0" err="1">
                <a:latin typeface="Consolas" panose="020B0609020204030204" pitchFamily="49" charset="0"/>
                <a:cs typeface="Consolas" panose="020B0609020204030204" pitchFamily="49" charset="0"/>
              </a:rPr>
              <a:t>nbs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        somme += nb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return 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somme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1E3F639-7A26-6F52-E62A-607A1955C9C1}"/>
              </a:ext>
            </a:extLst>
          </p:cNvPr>
          <p:cNvSpPr txBox="1"/>
          <p:nvPr/>
        </p:nvSpPr>
        <p:spPr>
          <a:xfrm>
            <a:off x="6610350" y="3992242"/>
            <a:ext cx="4962525" cy="923330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dirty="0" err="1">
                <a:latin typeface="Consolas" panose="020B0609020204030204" pitchFamily="49" charset="0"/>
                <a:cs typeface="Consolas" panose="020B0609020204030204" pitchFamily="49" charset="0"/>
              </a:rPr>
              <a:t>System.</a:t>
            </a:r>
            <a:r>
              <a:rPr lang="fr-BE" i="1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fr-BE" dirty="0" err="1">
                <a:latin typeface="Consolas" panose="020B0609020204030204" pitchFamily="49" charset="0"/>
                <a:cs typeface="Consolas" panose="020B0609020204030204" pitchFamily="49" charset="0"/>
              </a:rPr>
              <a:t>.println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i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somme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 err="1">
                <a:latin typeface="Consolas" panose="020B0609020204030204" pitchFamily="49" charset="0"/>
                <a:cs typeface="Consolas" panose="020B0609020204030204" pitchFamily="49" charset="0"/>
              </a:rPr>
              <a:t>System.</a:t>
            </a:r>
            <a:r>
              <a:rPr lang="fr-BE" i="1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fr-BE" dirty="0" err="1">
                <a:latin typeface="Consolas" panose="020B0609020204030204" pitchFamily="49" charset="0"/>
                <a:cs typeface="Consolas" panose="020B0609020204030204" pitchFamily="49" charset="0"/>
              </a:rPr>
              <a:t>.println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i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somme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 err="1">
                <a:latin typeface="Consolas" panose="020B0609020204030204" pitchFamily="49" charset="0"/>
                <a:cs typeface="Consolas" panose="020B0609020204030204" pitchFamily="49" charset="0"/>
              </a:rPr>
              <a:t>System.</a:t>
            </a:r>
            <a:r>
              <a:rPr lang="fr-BE" i="1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fr-BE" dirty="0" err="1">
                <a:latin typeface="Consolas" panose="020B0609020204030204" pitchFamily="49" charset="0"/>
                <a:cs typeface="Consolas" panose="020B0609020204030204" pitchFamily="49" charset="0"/>
              </a:rPr>
              <a:t>.println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i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somme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AB9CC6E-D8F2-56F5-68F6-7954A81A40ED}"/>
              </a:ext>
            </a:extLst>
          </p:cNvPr>
          <p:cNvSpPr txBox="1"/>
          <p:nvPr/>
        </p:nvSpPr>
        <p:spPr>
          <a:xfrm>
            <a:off x="838199" y="5345966"/>
            <a:ext cx="105155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2400" dirty="0"/>
              <a:t>Les varargs doivent être le dernier argument de la méthode. Ils sont traités comme un tableau.</a:t>
            </a:r>
            <a:endParaRPr lang="fr-FR" sz="24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053DBD6-64D7-E03B-87F1-BAC5609D1B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1163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277876E-9842-2766-E110-AF7FD541C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Tests Unitaires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213D1547-0ACF-441C-1492-4D21165E6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  <a:p>
            <a:r>
              <a:rPr lang="fr-FR" dirty="0"/>
              <a:t>Première classe de test</a:t>
            </a:r>
          </a:p>
          <a:p>
            <a:r>
              <a:rPr lang="fr-FR" dirty="0"/>
              <a:t>Les assertions</a:t>
            </a:r>
          </a:p>
          <a:p>
            <a:r>
              <a:rPr lang="fr-FR" dirty="0">
                <a:solidFill>
                  <a:schemeClr val="accent4"/>
                </a:solidFill>
              </a:rPr>
              <a:t>Les annotations </a:t>
            </a:r>
          </a:p>
          <a:p>
            <a:r>
              <a:rPr lang="fr-FR" dirty="0"/>
              <a:t>Un exemple de A à Z</a:t>
            </a:r>
          </a:p>
          <a:p>
            <a:r>
              <a:rPr lang="fr-FR" dirty="0"/>
              <a:t>Bonnes pratiques</a:t>
            </a:r>
          </a:p>
          <a:p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69ECB41-BF0F-6FBA-153E-DF4186C97D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50551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41559ABC-46C3-C1C9-CF73-A67FF54BA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annotations, késako?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EF96BBD3-CF01-E2B2-CD48-2730EDD4B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BE" b="0" i="0" u="none" strike="noStrike" dirty="0">
                <a:effectLst/>
              </a:rPr>
              <a:t>Les </a:t>
            </a:r>
            <a:r>
              <a:rPr lang="fr-BE" b="0" i="0" u="none" strike="noStrike" dirty="0">
                <a:solidFill>
                  <a:schemeClr val="accent4"/>
                </a:solidFill>
                <a:effectLst/>
              </a:rPr>
              <a:t>annotations</a:t>
            </a:r>
            <a:r>
              <a:rPr lang="fr-BE" b="0" i="0" u="none" strike="noStrike" dirty="0">
                <a:effectLst/>
              </a:rPr>
              <a:t> en Java sont des marqueurs qui permettent d’ajouter des </a:t>
            </a:r>
            <a:r>
              <a:rPr lang="fr-BE" b="0" i="0" u="none" strike="noStrike" dirty="0" err="1">
                <a:solidFill>
                  <a:schemeClr val="accent4"/>
                </a:solidFill>
                <a:effectLst/>
              </a:rPr>
              <a:t>méta-données</a:t>
            </a:r>
            <a:r>
              <a:rPr lang="fr-BE" b="0" i="0" u="none" strike="noStrike" dirty="0">
                <a:effectLst/>
              </a:rPr>
              <a:t> aux classes, aux méthodes, aux attributs, aux paramètres, aux variables, aux paquets ou aux annotations elles-mêmes.</a:t>
            </a:r>
          </a:p>
          <a:p>
            <a:pPr marL="0" indent="0">
              <a:buNone/>
            </a:pPr>
            <a:r>
              <a:rPr lang="fr-BE" b="0" i="0" u="none" strike="noStrike" dirty="0">
                <a:effectLst/>
              </a:rPr>
              <a:t>L’intérêt principal des annotations est de fournir une méta-information qui pourra être </a:t>
            </a:r>
            <a:r>
              <a:rPr lang="fr-BE" b="0" i="0" u="none" strike="noStrike" dirty="0">
                <a:solidFill>
                  <a:schemeClr val="accent4"/>
                </a:solidFill>
                <a:effectLst/>
              </a:rPr>
              <a:t>exploitée par un programme</a:t>
            </a:r>
            <a:r>
              <a:rPr lang="fr-BE" b="0" i="0" u="none" strike="noStrike" dirty="0">
                <a:effectLst/>
              </a:rPr>
              <a:t>.</a:t>
            </a:r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r>
              <a:rPr lang="fr-BE" b="0" i="0" u="none" strike="noStrike" dirty="0">
                <a:effectLst/>
              </a:rPr>
              <a:t>Une annotation se déclare presque comme une interface: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C99EAF9-C7ED-D3A3-7D1C-05DD8705A6FC}"/>
              </a:ext>
            </a:extLst>
          </p:cNvPr>
          <p:cNvSpPr txBox="1"/>
          <p:nvPr/>
        </p:nvSpPr>
        <p:spPr>
          <a:xfrm>
            <a:off x="2962275" y="5500985"/>
            <a:ext cx="5534025" cy="400110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interface </a:t>
            </a:r>
            <a:r>
              <a:rPr lang="fr-BE" sz="2000" dirty="0" err="1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MyAnnotation</a:t>
            </a:r>
            <a:r>
              <a:rPr lang="fr-BE" sz="20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{  }</a:t>
            </a:r>
            <a:endParaRPr lang="fr-FR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0" name="Picture 2" descr="Creating Your Own Java Annotations">
            <a:extLst>
              <a:ext uri="{FF2B5EF4-FFF2-40B4-BE49-F238E27FC236}">
                <a16:creationId xmlns:a16="http://schemas.microsoft.com/office/drawing/2014/main" id="{6B54354A-2069-250A-6E50-FAAF1D2D58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7" t="4202" r="1397" b="4202"/>
          <a:stretch/>
        </p:blipFill>
        <p:spPr bwMode="auto">
          <a:xfrm>
            <a:off x="9753600" y="228601"/>
            <a:ext cx="2219324" cy="119502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FD6A3E7-FFE4-5371-80C5-C3AAF17809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02767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995506-F002-F140-DA76-B982EB50F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annotations en JUnit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DA565B-74BB-DC13-B153-3831E4F7C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JUnit utilise les </a:t>
            </a:r>
            <a:r>
              <a:rPr lang="fr-FR" sz="2400" dirty="0">
                <a:solidFill>
                  <a:schemeClr val="accent4"/>
                </a:solidFill>
              </a:rPr>
              <a:t>annotations</a:t>
            </a:r>
            <a:r>
              <a:rPr lang="fr-FR" sz="2400" dirty="0"/>
              <a:t> pour</a:t>
            </a:r>
          </a:p>
          <a:p>
            <a:r>
              <a:rPr lang="fr-FR" sz="2400" dirty="0"/>
              <a:t>Définir le </a:t>
            </a:r>
            <a:r>
              <a:rPr lang="fr-FR" sz="2400" dirty="0">
                <a:solidFill>
                  <a:schemeClr val="accent4"/>
                </a:solidFill>
              </a:rPr>
              <a:t>comportement </a:t>
            </a:r>
            <a:r>
              <a:rPr lang="fr-FR" sz="2400" dirty="0"/>
              <a:t>des tests</a:t>
            </a:r>
          </a:p>
          <a:p>
            <a:r>
              <a:rPr lang="fr-FR" sz="2400" dirty="0"/>
              <a:t>Définir certaines </a:t>
            </a:r>
            <a:r>
              <a:rPr lang="fr-FR" sz="2400" dirty="0">
                <a:solidFill>
                  <a:schemeClr val="accent4"/>
                </a:solidFill>
              </a:rPr>
              <a:t>configurations</a:t>
            </a:r>
            <a:r>
              <a:rPr lang="fr-FR" sz="2400" dirty="0"/>
              <a:t>: </a:t>
            </a:r>
          </a:p>
          <a:p>
            <a:pPr lvl="1"/>
            <a:r>
              <a:rPr lang="fr-FR" sz="2000" dirty="0"/>
              <a:t>Les paramètres des tests</a:t>
            </a:r>
          </a:p>
          <a:p>
            <a:pPr lvl="1"/>
            <a:r>
              <a:rPr lang="fr-FR" sz="2000" dirty="0"/>
              <a:t>Les conditions d’exécution des tests</a:t>
            </a:r>
          </a:p>
          <a:p>
            <a:pPr lvl="1"/>
            <a:r>
              <a:rPr lang="fr-FR" sz="2000" dirty="0"/>
              <a:t>Indiquer des tests de performance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dirty="0"/>
              <a:t>Nous verrons les annotations qui définissent le comportement des tests…</a:t>
            </a:r>
          </a:p>
          <a:p>
            <a:pPr lvl="1"/>
            <a:endParaRPr lang="fr-FR" sz="2000" dirty="0"/>
          </a:p>
          <a:p>
            <a:pPr lvl="1"/>
            <a:endParaRPr lang="fr-FR" sz="2000" dirty="0"/>
          </a:p>
        </p:txBody>
      </p:sp>
      <p:pic>
        <p:nvPicPr>
          <p:cNvPr id="4" name="Picture 2" descr="Creating Your Own Java Annotations">
            <a:extLst>
              <a:ext uri="{FF2B5EF4-FFF2-40B4-BE49-F238E27FC236}">
                <a16:creationId xmlns:a16="http://schemas.microsoft.com/office/drawing/2014/main" id="{0E825CBF-443F-A149-B18A-41A7739ADD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7" t="4202" r="1397" b="4202"/>
          <a:stretch/>
        </p:blipFill>
        <p:spPr bwMode="auto">
          <a:xfrm>
            <a:off x="9753600" y="228601"/>
            <a:ext cx="2219324" cy="119502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2D8ECF-4529-7D40-E8CE-7F52069762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59070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8E44B5-6B3A-C4ED-8A29-86C8A1873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Les annotations qui modifient </a:t>
            </a:r>
            <a:br>
              <a:rPr lang="fr-FR" dirty="0"/>
            </a:br>
            <a:r>
              <a:rPr lang="fr-FR" dirty="0"/>
              <a:t>le comportement des tests. 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471D9810-3B3C-7963-E2B6-595CF94AD1D1}"/>
              </a:ext>
            </a:extLst>
          </p:cNvPr>
          <p:cNvGraphicFramePr>
            <a:graphicFrameLocks/>
          </p:cNvGraphicFramePr>
          <p:nvPr/>
        </p:nvGraphicFramePr>
        <p:xfrm>
          <a:off x="693019" y="2457450"/>
          <a:ext cx="1105130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8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624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Annotation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@Test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Sert à indiquer qu’une méthode est un test; </a:t>
                      </a:r>
                      <a:r>
                        <a:rPr lang="fr-FR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Junit</a:t>
                      </a:r>
                      <a:r>
                        <a:rPr lang="fr-F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exécutera toutes les méthodes annotées avec </a:t>
                      </a:r>
                      <a:r>
                        <a:rPr lang="fr-FR" sz="16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+mn-ea"/>
                          <a:cs typeface="Consolas" charset="0"/>
                        </a:rPr>
                        <a:t>@Test</a:t>
                      </a:r>
                      <a:r>
                        <a:rPr lang="fr-F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lors de l’exécution des tests. L’ordre d’exécution des tests n’est pas fixe…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@</a:t>
                      </a:r>
                      <a:r>
                        <a:rPr lang="fr-FR" sz="16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BeforeEach</a:t>
                      </a:r>
                      <a:endParaRPr lang="fr-FR" sz="1600" b="0" kern="1200" dirty="0">
                        <a:solidFill>
                          <a:schemeClr val="accent4"/>
                        </a:solidFill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chemeClr val="tx1"/>
                          </a:solidFill>
                          <a:effectLst/>
                        </a:rPr>
                        <a:t>Indique une méthode qui devra être exécutée avant chaque test; elle pourra initialiser des objets,…</a:t>
                      </a:r>
                      <a:endParaRPr lang="fr-FR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@</a:t>
                      </a:r>
                      <a:r>
                        <a:rPr lang="fr-FR" sz="16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AfterEach</a:t>
                      </a:r>
                      <a:endParaRPr lang="fr-FR" sz="1600" b="0" kern="1200" dirty="0">
                        <a:solidFill>
                          <a:schemeClr val="accent4"/>
                        </a:solidFill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chemeClr val="tx1"/>
                          </a:solidFill>
                          <a:effectLst/>
                        </a:rPr>
                        <a:t>Indique une méthode qui devra être exécutée après chaque test; elle pourra remettre des objets dans un certain état pour le test suivant,…</a:t>
                      </a:r>
                      <a:endParaRPr lang="fr-FR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@</a:t>
                      </a:r>
                      <a:r>
                        <a:rPr lang="fr-FR" sz="16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BeforeAll</a:t>
                      </a:r>
                      <a:endParaRPr lang="fr-FR" sz="1600" b="0" kern="1200" dirty="0">
                        <a:solidFill>
                          <a:schemeClr val="accent4"/>
                        </a:solidFill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chemeClr val="tx1"/>
                          </a:solidFill>
                          <a:effectLst/>
                        </a:rPr>
                        <a:t>Indique une méthode qui sera lancée avant le premier des tests; elle pourra initialiser des ressources utilisées par tous les tests.</a:t>
                      </a:r>
                      <a:endParaRPr lang="fr-FR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@</a:t>
                      </a:r>
                      <a:r>
                        <a:rPr lang="fr-FR" sz="16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AfterAll</a:t>
                      </a:r>
                      <a:endParaRPr lang="fr-FR" sz="1600" b="0" kern="1200" dirty="0">
                        <a:solidFill>
                          <a:schemeClr val="accent4"/>
                        </a:solidFill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chemeClr val="tx1"/>
                          </a:solidFill>
                          <a:effectLst/>
                        </a:rPr>
                        <a:t>Indique une méthode qui sera lancée après l’exécution du dernier test; elle pourra réinitialiser des ressources utilisées par tous les tests.</a:t>
                      </a:r>
                      <a:endParaRPr lang="fr-FR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0" kern="1200" dirty="0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@</a:t>
                      </a:r>
                      <a:r>
                        <a:rPr lang="fr-FR" sz="1600" b="0" kern="1200" dirty="0" err="1">
                          <a:solidFill>
                            <a:schemeClr val="accent4"/>
                          </a:solidFill>
                          <a:effectLst/>
                          <a:latin typeface="Consolas" charset="0"/>
                          <a:ea typeface="Consolas" charset="0"/>
                          <a:cs typeface="Consolas" charset="0"/>
                        </a:rPr>
                        <a:t>Disabled</a:t>
                      </a:r>
                      <a:endParaRPr lang="fr-FR" sz="1600" b="0" kern="1200" dirty="0">
                        <a:solidFill>
                          <a:schemeClr val="accent4"/>
                        </a:solidFill>
                        <a:effectLst/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chemeClr val="tx1"/>
                          </a:solidFill>
                          <a:effectLst/>
                        </a:rPr>
                        <a:t>Indique un test qui ne doit pas être exécuté.</a:t>
                      </a:r>
                      <a:endParaRPr lang="fr-FR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8194" name="Picture 2" descr="Creating Your Own Java Annotations">
            <a:extLst>
              <a:ext uri="{FF2B5EF4-FFF2-40B4-BE49-F238E27FC236}">
                <a16:creationId xmlns:a16="http://schemas.microsoft.com/office/drawing/2014/main" id="{6811BB47-AD25-3974-D157-8D39FFF059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7" t="4202" r="1397" b="4202"/>
          <a:stretch/>
        </p:blipFill>
        <p:spPr bwMode="auto">
          <a:xfrm>
            <a:off x="9753600" y="228601"/>
            <a:ext cx="2219324" cy="119502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075E265-30FD-9CA8-CE90-C8B82A2B16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42403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277876E-9842-2766-E110-AF7FD541C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Tests Unitaires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213D1547-0ACF-441C-1492-4D21165E6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  <a:p>
            <a:r>
              <a:rPr lang="fr-FR" dirty="0"/>
              <a:t>Première classe de test</a:t>
            </a:r>
          </a:p>
          <a:p>
            <a:r>
              <a:rPr lang="fr-FR" dirty="0"/>
              <a:t>Les assertions</a:t>
            </a:r>
          </a:p>
          <a:p>
            <a:r>
              <a:rPr lang="fr-FR" dirty="0"/>
              <a:t>Les annotations </a:t>
            </a:r>
          </a:p>
          <a:p>
            <a:r>
              <a:rPr lang="fr-FR" dirty="0">
                <a:solidFill>
                  <a:schemeClr val="accent4"/>
                </a:solidFill>
              </a:rPr>
              <a:t>Un exemple de A à Z</a:t>
            </a:r>
          </a:p>
          <a:p>
            <a:r>
              <a:rPr lang="fr-FR" dirty="0"/>
              <a:t>Bonnes pratiques</a:t>
            </a:r>
          </a:p>
          <a:p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CB45354-DCBA-4752-90BB-160448D092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74520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977A8E4B-3BA4-2733-C8EE-31F9871B1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 anchor="ctr">
            <a:normAutofit/>
          </a:bodyPr>
          <a:lstStyle/>
          <a:p>
            <a:r>
              <a:rPr lang="fr-FR" dirty="0"/>
              <a:t>TDD: Test Driven </a:t>
            </a:r>
            <a:r>
              <a:rPr lang="fr-FR" dirty="0" err="1"/>
              <a:t>Development</a:t>
            </a:r>
            <a:endParaRPr lang="fr-FR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B174D92-10FC-8B5D-27C0-6F2B7EA16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752601"/>
            <a:ext cx="3771900" cy="4373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TDD </a:t>
            </a:r>
            <a:r>
              <a:rPr lang="en-US" sz="1800" dirty="0" err="1"/>
              <a:t>est</a:t>
            </a:r>
            <a:r>
              <a:rPr lang="en-US" sz="1800" dirty="0"/>
              <a:t> </a:t>
            </a:r>
            <a:r>
              <a:rPr lang="en-US" sz="1800" dirty="0" err="1"/>
              <a:t>une</a:t>
            </a:r>
            <a:r>
              <a:rPr lang="en-US" sz="1800" dirty="0"/>
              <a:t> </a:t>
            </a:r>
            <a:r>
              <a:rPr lang="en-US" sz="1800" dirty="0" err="1"/>
              <a:t>approche</a:t>
            </a:r>
            <a:r>
              <a:rPr lang="en-US" sz="1800" dirty="0"/>
              <a:t> de </a:t>
            </a:r>
            <a:r>
              <a:rPr lang="en-US" sz="1800" dirty="0" err="1"/>
              <a:t>développement</a:t>
            </a:r>
            <a:r>
              <a:rPr lang="en-US" sz="1800" dirty="0"/>
              <a:t> dans </a:t>
            </a:r>
            <a:r>
              <a:rPr lang="en-US" sz="1800" dirty="0" err="1"/>
              <a:t>laquelle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accent4"/>
                </a:solidFill>
              </a:rPr>
              <a:t>les tests </a:t>
            </a:r>
            <a:r>
              <a:rPr lang="en-US" sz="1800" dirty="0" err="1">
                <a:solidFill>
                  <a:schemeClr val="accent4"/>
                </a:solidFill>
              </a:rPr>
              <a:t>sont</a:t>
            </a:r>
            <a:r>
              <a:rPr lang="en-US" sz="1800" dirty="0">
                <a:solidFill>
                  <a:schemeClr val="accent4"/>
                </a:solidFill>
              </a:rPr>
              <a:t> </a:t>
            </a:r>
            <a:r>
              <a:rPr lang="en-US" sz="1800" dirty="0" err="1">
                <a:solidFill>
                  <a:schemeClr val="accent4"/>
                </a:solidFill>
              </a:rPr>
              <a:t>écrits</a:t>
            </a:r>
            <a:r>
              <a:rPr lang="en-US" sz="1800" dirty="0">
                <a:solidFill>
                  <a:schemeClr val="accent4"/>
                </a:solidFill>
              </a:rPr>
              <a:t> </a:t>
            </a:r>
            <a:r>
              <a:rPr lang="en-US" sz="1800" dirty="0" err="1">
                <a:solidFill>
                  <a:schemeClr val="accent4"/>
                </a:solidFill>
              </a:rPr>
              <a:t>avant</a:t>
            </a:r>
            <a:r>
              <a:rPr lang="en-US" sz="1800" dirty="0">
                <a:solidFill>
                  <a:schemeClr val="accent4"/>
                </a:solidFill>
              </a:rPr>
              <a:t> le code</a:t>
            </a:r>
            <a:r>
              <a:rPr lang="en-US" sz="18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Le </a:t>
            </a:r>
            <a:r>
              <a:rPr lang="en-US" sz="1800" dirty="0" err="1"/>
              <a:t>processus</a:t>
            </a:r>
            <a:r>
              <a:rPr lang="en-US" sz="1800" dirty="0"/>
              <a:t> commence par </a:t>
            </a:r>
            <a:r>
              <a:rPr lang="en-US" sz="1800" dirty="0" err="1"/>
              <a:t>l’écriture</a:t>
            </a:r>
            <a:r>
              <a:rPr lang="en-US" sz="1800" dirty="0"/>
              <a:t> du test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Le test </a:t>
            </a:r>
            <a:r>
              <a:rPr lang="en-US" sz="1800" dirty="0" err="1"/>
              <a:t>échouera</a:t>
            </a:r>
            <a:r>
              <a:rPr lang="en-US" sz="1800" dirty="0"/>
              <a:t>, </a:t>
            </a:r>
            <a:r>
              <a:rPr lang="en-US" sz="1800" dirty="0" err="1"/>
              <a:t>puisque</a:t>
            </a:r>
            <a:r>
              <a:rPr lang="en-US" sz="1800" dirty="0"/>
              <a:t> la </a:t>
            </a:r>
            <a:r>
              <a:rPr lang="en-US" sz="1800" dirty="0" err="1"/>
              <a:t>classe</a:t>
            </a:r>
            <a:r>
              <a:rPr lang="en-US" sz="1800" dirty="0"/>
              <a:t> </a:t>
            </a:r>
            <a:r>
              <a:rPr lang="en-US" sz="1800" dirty="0" err="1"/>
              <a:t>n’est</a:t>
            </a:r>
            <a:r>
              <a:rPr lang="en-US" sz="1800" dirty="0"/>
              <a:t> pas </a:t>
            </a:r>
            <a:r>
              <a:rPr lang="en-US" sz="1800" dirty="0" err="1"/>
              <a:t>écrite</a:t>
            </a:r>
            <a:endParaRPr lang="en-US" sz="1800" dirty="0"/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On </a:t>
            </a:r>
            <a:r>
              <a:rPr lang="en-US" sz="1800" dirty="0" err="1"/>
              <a:t>ajoute</a:t>
            </a:r>
            <a:r>
              <a:rPr lang="en-US" sz="1800" dirty="0"/>
              <a:t> ensuite la </a:t>
            </a:r>
            <a:r>
              <a:rPr lang="en-US" sz="1800" dirty="0" err="1"/>
              <a:t>fonctionnalité</a:t>
            </a:r>
            <a:r>
              <a:rPr lang="en-US" sz="1800" dirty="0"/>
              <a:t> …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… </a:t>
            </a:r>
            <a:r>
              <a:rPr lang="en-US" sz="1800" dirty="0" err="1"/>
              <a:t>en</a:t>
            </a:r>
            <a:r>
              <a:rPr lang="en-US" sz="1800" dirty="0"/>
              <a:t> </a:t>
            </a:r>
            <a:r>
              <a:rPr lang="en-US" sz="1800" dirty="0" err="1"/>
              <a:t>veillant</a:t>
            </a:r>
            <a:r>
              <a:rPr lang="en-US" sz="1800" dirty="0"/>
              <a:t> </a:t>
            </a:r>
            <a:r>
              <a:rPr lang="en-US" sz="1800" dirty="0" err="1"/>
              <a:t>à</a:t>
            </a:r>
            <a:r>
              <a:rPr lang="en-US" sz="1800" dirty="0"/>
              <a:t> </a:t>
            </a:r>
            <a:r>
              <a:rPr lang="en-US" sz="1800" dirty="0" err="1"/>
              <a:t>ce</a:t>
            </a:r>
            <a:r>
              <a:rPr lang="en-US" sz="1800" dirty="0"/>
              <a:t> que les </a:t>
            </a:r>
            <a:r>
              <a:rPr lang="en-US" sz="1800" dirty="0" err="1"/>
              <a:t>autres</a:t>
            </a:r>
            <a:r>
              <a:rPr lang="en-US" sz="1800" dirty="0"/>
              <a:t> tests </a:t>
            </a:r>
            <a:r>
              <a:rPr lang="en-US" sz="1800" dirty="0" err="1"/>
              <a:t>passent</a:t>
            </a:r>
            <a:r>
              <a:rPr lang="en-US" sz="1800" dirty="0"/>
              <a:t> </a:t>
            </a:r>
            <a:r>
              <a:rPr lang="en-US" sz="1800" dirty="0" err="1"/>
              <a:t>toujours</a:t>
            </a:r>
            <a:r>
              <a:rPr lang="en-US" sz="18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Ensuite, on </a:t>
            </a:r>
            <a:r>
              <a:rPr lang="en-US" sz="1800" dirty="0" err="1"/>
              <a:t>remanie</a:t>
            </a:r>
            <a:r>
              <a:rPr lang="en-US" sz="1800" dirty="0"/>
              <a:t> le code (refactoring)</a:t>
            </a:r>
          </a:p>
        </p:txBody>
      </p:sp>
      <p:pic>
        <p:nvPicPr>
          <p:cNvPr id="6" name="Espace réservé du contenu 5" descr="Une image contenant diagramme&#10;&#10;Description générée automatiquement">
            <a:extLst>
              <a:ext uri="{FF2B5EF4-FFF2-40B4-BE49-F238E27FC236}">
                <a16:creationId xmlns:a16="http://schemas.microsoft.com/office/drawing/2014/main" id="{6FEEB5BF-BA4E-56C1-B8FD-9978BD47257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476623" y="1752601"/>
            <a:ext cx="7412824" cy="4373564"/>
          </a:xfrm>
          <a:prstGeom prst="rect">
            <a:avLst/>
          </a:prstGeom>
          <a:noFill/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88144BBC-9640-B20E-AD50-65C946F70203}"/>
              </a:ext>
            </a:extLst>
          </p:cNvPr>
          <p:cNvSpPr txBox="1"/>
          <p:nvPr/>
        </p:nvSpPr>
        <p:spPr>
          <a:xfrm>
            <a:off x="5286104" y="6308207"/>
            <a:ext cx="6603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Exemple pratique </a:t>
            </a:r>
            <a:r>
              <a:rPr lang="fr-FR" dirty="0">
                <a:hlinkClick r:id="rId3"/>
              </a:rPr>
              <a:t>https://www.youtube.com/watch?v=nbSaq_ykOl4</a:t>
            </a:r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B93A449-3BAC-7E4C-FC40-8E24494E7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5DC0-9EAD-DA46-BDA8-BD693362A350}" type="slidenum">
              <a:rPr lang="fr-FR" smtClean="0"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12096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281E8769-93BB-524A-9320-5192C37FE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complet: une calculatrice…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43CF057-C1E3-8D19-62C7-5C9DFB786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GB" dirty="0"/>
              <a:t>Pour </a:t>
            </a:r>
            <a:r>
              <a:rPr lang="en-GB" dirty="0" err="1"/>
              <a:t>cet</a:t>
            </a:r>
            <a:r>
              <a:rPr lang="en-GB" dirty="0"/>
              <a:t> </a:t>
            </a:r>
            <a:r>
              <a:rPr lang="en-GB" dirty="0" err="1"/>
              <a:t>exercice</a:t>
            </a:r>
            <a:r>
              <a:rPr lang="en-GB" dirty="0"/>
              <a:t>, nous </a:t>
            </a:r>
            <a:r>
              <a:rPr lang="en-GB" dirty="0" err="1"/>
              <a:t>allons</a:t>
            </a:r>
            <a:r>
              <a:rPr lang="en-GB" dirty="0"/>
              <a:t> </a:t>
            </a:r>
            <a:r>
              <a:rPr lang="en-GB" dirty="0" err="1"/>
              <a:t>créer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nouvelle </a:t>
            </a:r>
            <a:r>
              <a:rPr lang="en-GB" dirty="0" err="1"/>
              <a:t>classe</a:t>
            </a:r>
            <a:r>
              <a:rPr lang="en-GB" dirty="0"/>
              <a:t> </a:t>
            </a:r>
            <a:r>
              <a:rPr lang="en-GB" sz="2600" dirty="0">
                <a:solidFill>
                  <a:schemeClr val="accent4"/>
                </a:solidFill>
                <a:latin typeface="Consolas"/>
                <a:cs typeface="Consolas"/>
              </a:rPr>
              <a:t>Calculator</a:t>
            </a:r>
            <a:r>
              <a:rPr lang="en-GB" dirty="0"/>
              <a:t> qui </a:t>
            </a:r>
            <a:r>
              <a:rPr lang="en-GB" dirty="0" err="1"/>
              <a:t>permet</a:t>
            </a:r>
            <a:r>
              <a:rPr lang="en-GB" dirty="0"/>
              <a:t> </a:t>
            </a:r>
            <a:r>
              <a:rPr lang="en-GB" dirty="0" err="1"/>
              <a:t>d’effectuer</a:t>
            </a:r>
            <a:r>
              <a:rPr lang="en-GB" dirty="0"/>
              <a:t> des </a:t>
            </a:r>
            <a:r>
              <a:rPr lang="en-GB" dirty="0" err="1"/>
              <a:t>calculs</a:t>
            </a:r>
            <a:r>
              <a:rPr lang="en-GB" dirty="0"/>
              <a:t> entre </a:t>
            </a:r>
            <a:r>
              <a:rPr lang="en-GB" dirty="0" err="1"/>
              <a:t>entiers</a:t>
            </a:r>
            <a:r>
              <a:rPr lang="en-GB" dirty="0"/>
              <a:t>.</a:t>
            </a:r>
          </a:p>
          <a:p>
            <a:pPr marL="0" indent="0" algn="just">
              <a:buNone/>
            </a:pPr>
            <a:r>
              <a:rPr lang="en-GB" dirty="0"/>
              <a:t>Nous </a:t>
            </a:r>
            <a:r>
              <a:rPr lang="en-GB" dirty="0" err="1"/>
              <a:t>allons</a:t>
            </a:r>
            <a:r>
              <a:rPr lang="en-GB" dirty="0"/>
              <a:t> </a:t>
            </a:r>
            <a:r>
              <a:rPr lang="en-GB" dirty="0" err="1"/>
              <a:t>donc</a:t>
            </a:r>
            <a:r>
              <a:rPr lang="en-GB" dirty="0"/>
              <a:t> commencer par </a:t>
            </a:r>
            <a:r>
              <a:rPr lang="en-GB" dirty="0" err="1"/>
              <a:t>créer</a:t>
            </a:r>
            <a:r>
              <a:rPr lang="en-GB" dirty="0"/>
              <a:t> les signatures de </a:t>
            </a:r>
            <a:r>
              <a:rPr lang="en-GB" dirty="0" err="1"/>
              <a:t>nos</a:t>
            </a:r>
            <a:r>
              <a:rPr lang="en-GB" dirty="0"/>
              <a:t> quatre </a:t>
            </a:r>
            <a:r>
              <a:rPr lang="en-GB" dirty="0" err="1"/>
              <a:t>méthodes</a:t>
            </a:r>
            <a:r>
              <a:rPr lang="en-GB" dirty="0"/>
              <a:t> (des </a:t>
            </a:r>
            <a:r>
              <a:rPr lang="en-GB" dirty="0" err="1"/>
              <a:t>méthodes</a:t>
            </a:r>
            <a:r>
              <a:rPr lang="en-GB" dirty="0"/>
              <a:t> </a:t>
            </a:r>
            <a:r>
              <a:rPr lang="en-GB" dirty="0" err="1"/>
              <a:t>vides</a:t>
            </a:r>
            <a:r>
              <a:rPr lang="en-GB" dirty="0"/>
              <a:t>).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C08CCB8-8C2F-BB56-C00A-F85059370CC3}"/>
              </a:ext>
            </a:extLst>
          </p:cNvPr>
          <p:cNvSpPr txBox="1"/>
          <p:nvPr/>
        </p:nvSpPr>
        <p:spPr>
          <a:xfrm>
            <a:off x="2889681" y="3898050"/>
            <a:ext cx="7239739" cy="1754326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fr-BE" dirty="0" err="1">
                <a:latin typeface="Consolas" panose="020B0609020204030204" pitchFamily="49" charset="0"/>
                <a:cs typeface="Consolas" panose="020B0609020204030204" pitchFamily="49" charset="0"/>
              </a:rPr>
              <a:t>Calculator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fr-BE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 err="1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b) {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fr-BE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fr-BE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 err="1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substract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b) {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fr-BE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fr-BE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 err="1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multiply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b) {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fr-BE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fr-BE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 err="1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divide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b) {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fr-BE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9BC3F96-2A79-DC3F-5C16-F873EF401B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95589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Exemple</a:t>
            </a:r>
            <a:r>
              <a:rPr lang="en-GB" dirty="0"/>
              <a:t> </a:t>
            </a:r>
            <a:r>
              <a:rPr lang="en-GB" dirty="0" err="1"/>
              <a:t>complet</a:t>
            </a:r>
            <a:r>
              <a:rPr lang="en-GB" dirty="0"/>
              <a:t>: la </a:t>
            </a:r>
            <a:r>
              <a:rPr lang="en-GB" dirty="0" err="1"/>
              <a:t>classe</a:t>
            </a:r>
            <a:r>
              <a:rPr lang="en-GB" dirty="0"/>
              <a:t> de test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5"/>
            <a:ext cx="5538537" cy="12624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 err="1"/>
              <a:t>Maintenant</a:t>
            </a:r>
            <a:r>
              <a:rPr lang="en-GB" sz="2400" dirty="0"/>
              <a:t>, </a:t>
            </a:r>
            <a:r>
              <a:rPr lang="en-GB" sz="2400" dirty="0" err="1"/>
              <a:t>créez</a:t>
            </a:r>
            <a:r>
              <a:rPr lang="en-GB" sz="2400" dirty="0"/>
              <a:t> la </a:t>
            </a:r>
            <a:r>
              <a:rPr lang="en-GB" sz="2400" dirty="0" err="1"/>
              <a:t>classe</a:t>
            </a:r>
            <a:r>
              <a:rPr lang="en-GB" sz="2400" dirty="0"/>
              <a:t> de test </a:t>
            </a:r>
            <a:r>
              <a:rPr lang="en-GB" sz="2400" dirty="0" err="1"/>
              <a:t>liée</a:t>
            </a:r>
            <a:r>
              <a:rPr lang="en-GB" sz="2400" dirty="0"/>
              <a:t> </a:t>
            </a:r>
            <a:r>
              <a:rPr lang="en-GB" sz="2400" dirty="0" err="1"/>
              <a:t>à</a:t>
            </a:r>
            <a:r>
              <a:rPr lang="en-GB" sz="2400" dirty="0"/>
              <a:t> </a:t>
            </a:r>
            <a:r>
              <a:rPr lang="en-GB" sz="2400" dirty="0" err="1"/>
              <a:t>notre</a:t>
            </a:r>
            <a:r>
              <a:rPr lang="en-GB" sz="2400" dirty="0"/>
              <a:t> </a:t>
            </a:r>
            <a:r>
              <a:rPr lang="en-GB" sz="2400" dirty="0" err="1"/>
              <a:t>classe</a:t>
            </a:r>
            <a:r>
              <a:rPr lang="en-GB" sz="2400" dirty="0"/>
              <a:t> </a:t>
            </a:r>
            <a:r>
              <a:rPr lang="en-GB" sz="2200" dirty="0">
                <a:solidFill>
                  <a:schemeClr val="accent4"/>
                </a:solidFill>
                <a:latin typeface="Consolas"/>
                <a:cs typeface="Consolas"/>
              </a:rPr>
              <a:t>Calculator</a:t>
            </a:r>
            <a:r>
              <a:rPr lang="en-GB" sz="2400" dirty="0"/>
              <a:t>. </a:t>
            </a:r>
            <a:endParaRPr lang="en-GB" sz="2400" dirty="0">
              <a:solidFill>
                <a:schemeClr val="accent4"/>
              </a:solidFill>
              <a:latin typeface="Consolas"/>
              <a:cs typeface="Consolas"/>
            </a:endParaRP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E761BD5C-CE7B-F44E-ADB3-03C15C3BBB8F}"/>
              </a:ext>
            </a:extLst>
          </p:cNvPr>
          <p:cNvGrpSpPr/>
          <p:nvPr/>
        </p:nvGrpSpPr>
        <p:grpSpPr>
          <a:xfrm>
            <a:off x="6849978" y="1689026"/>
            <a:ext cx="3457304" cy="2391613"/>
            <a:chOff x="4145973" y="1491228"/>
            <a:chExt cx="3822700" cy="26443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1522400B-9554-8A41-ACAA-6BBA41D413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75669"/>
            <a:stretch/>
          </p:blipFill>
          <p:spPr>
            <a:xfrm>
              <a:off x="4145973" y="1491228"/>
              <a:ext cx="3822700" cy="952427"/>
            </a:xfrm>
            <a:prstGeom prst="rect">
              <a:avLst/>
            </a:prstGeom>
          </p:spPr>
        </p:pic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ABBDE562-C121-8946-A38C-E505DDB8AE7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58966"/>
            <a:stretch/>
          </p:blipFill>
          <p:spPr>
            <a:xfrm>
              <a:off x="4145973" y="2529357"/>
              <a:ext cx="3822700" cy="1606249"/>
            </a:xfrm>
            <a:prstGeom prst="rect">
              <a:avLst/>
            </a:prstGeom>
          </p:spPr>
        </p:pic>
      </p:grpSp>
      <p:pic>
        <p:nvPicPr>
          <p:cNvPr id="13" name="Image 12">
            <a:extLst>
              <a:ext uri="{FF2B5EF4-FFF2-40B4-BE49-F238E27FC236}">
                <a16:creationId xmlns:a16="http://schemas.microsoft.com/office/drawing/2014/main" id="{EB0385E0-C9F8-8245-BA40-0C9691681F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9055" y="3354281"/>
            <a:ext cx="2437591" cy="14083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1070F7CA-BD8E-064D-134D-9A676FFFCE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7808" y="3903483"/>
            <a:ext cx="3457304" cy="3145031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CAF2BAC4-4E97-15E0-078E-A0C28CF36D74}"/>
              </a:ext>
            </a:extLst>
          </p:cNvPr>
          <p:cNvSpPr txBox="1"/>
          <p:nvPr/>
        </p:nvSpPr>
        <p:spPr>
          <a:xfrm>
            <a:off x="838200" y="2695523"/>
            <a:ext cx="593687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Click-droit sur la </a:t>
            </a:r>
            <a:r>
              <a:rPr lang="en-GB" sz="2400" dirty="0" err="1"/>
              <a:t>classe</a:t>
            </a:r>
            <a:r>
              <a:rPr lang="en-GB" sz="2400" dirty="0"/>
              <a:t> </a:t>
            </a:r>
            <a:r>
              <a:rPr lang="en-GB" sz="2200" dirty="0">
                <a:solidFill>
                  <a:schemeClr val="accent4"/>
                </a:solidFill>
                <a:latin typeface="Consolas"/>
                <a:cs typeface="Consolas"/>
              </a:rPr>
              <a:t>Calculator</a:t>
            </a:r>
            <a:r>
              <a:rPr lang="en-GB" sz="2400" dirty="0"/>
              <a:t> que </a:t>
            </a:r>
            <a:r>
              <a:rPr lang="en-GB" sz="2400" dirty="0" err="1"/>
              <a:t>vous</a:t>
            </a:r>
            <a:r>
              <a:rPr lang="en-GB" sz="2400" dirty="0"/>
              <a:t> </a:t>
            </a:r>
            <a:r>
              <a:rPr lang="en-GB" sz="2400" dirty="0" err="1"/>
              <a:t>venez</a:t>
            </a:r>
            <a:r>
              <a:rPr lang="en-GB" sz="2400" dirty="0"/>
              <a:t> de </a:t>
            </a:r>
            <a:r>
              <a:rPr lang="en-GB" sz="2400" dirty="0" err="1"/>
              <a:t>créer</a:t>
            </a:r>
            <a:r>
              <a:rPr lang="en-GB" sz="2400" dirty="0"/>
              <a:t>, </a:t>
            </a:r>
            <a:r>
              <a:rPr lang="en-GB" sz="2400" dirty="0" err="1"/>
              <a:t>sélectionnez</a:t>
            </a:r>
            <a:r>
              <a:rPr lang="en-GB" sz="2400" dirty="0"/>
              <a:t> ‘Generate…’ </a:t>
            </a:r>
            <a:r>
              <a:rPr lang="en-GB" sz="2400" dirty="0" err="1"/>
              <a:t>puis</a:t>
            </a:r>
            <a:r>
              <a:rPr lang="en-GB" sz="2400" dirty="0"/>
              <a:t> ‘Test…’.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Le nom </a:t>
            </a:r>
            <a:r>
              <a:rPr lang="en-GB" sz="2200" dirty="0" err="1">
                <a:solidFill>
                  <a:schemeClr val="accent4"/>
                </a:solidFill>
                <a:latin typeface="Consolas"/>
                <a:cs typeface="Consolas"/>
              </a:rPr>
              <a:t>CalculatorTest</a:t>
            </a:r>
            <a:r>
              <a:rPr lang="en-GB" sz="2400" dirty="0"/>
              <a:t> </a:t>
            </a:r>
            <a:r>
              <a:rPr lang="en-GB" sz="2400" dirty="0" err="1"/>
              <a:t>est</a:t>
            </a:r>
            <a:r>
              <a:rPr lang="en-GB" sz="2400" dirty="0"/>
              <a:t> </a:t>
            </a:r>
            <a:r>
              <a:rPr lang="en-GB" sz="2400" dirty="0" err="1"/>
              <a:t>automatiquement</a:t>
            </a:r>
            <a:r>
              <a:rPr lang="en-GB" sz="2400" dirty="0"/>
              <a:t> </a:t>
            </a:r>
            <a:r>
              <a:rPr lang="en-GB" sz="2400" dirty="0" err="1"/>
              <a:t>proposé</a:t>
            </a:r>
            <a:r>
              <a:rPr lang="en-GB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Nous </a:t>
            </a:r>
            <a:r>
              <a:rPr lang="en-GB" sz="2400" dirty="0" err="1"/>
              <a:t>commencerons</a:t>
            </a:r>
            <a:r>
              <a:rPr lang="en-GB" sz="2400" dirty="0"/>
              <a:t> par </a:t>
            </a:r>
            <a:r>
              <a:rPr lang="en-GB" sz="2400" dirty="0" err="1"/>
              <a:t>écrire</a:t>
            </a:r>
            <a:r>
              <a:rPr lang="en-GB" sz="2400" dirty="0"/>
              <a:t> le test de la </a:t>
            </a:r>
            <a:r>
              <a:rPr lang="en-GB" sz="2400" dirty="0" err="1"/>
              <a:t>méthode</a:t>
            </a:r>
            <a:r>
              <a:rPr lang="en-GB" sz="2400" dirty="0"/>
              <a:t> </a:t>
            </a:r>
            <a:r>
              <a:rPr lang="en-GB" sz="2200" dirty="0">
                <a:solidFill>
                  <a:schemeClr val="accent4"/>
                </a:solidFill>
                <a:latin typeface="Consolas"/>
                <a:cs typeface="Consolas"/>
              </a:rPr>
              <a:t>add</a:t>
            </a:r>
            <a:r>
              <a:rPr lang="en-GB" sz="2400" dirty="0"/>
              <a:t>, qui </a:t>
            </a:r>
            <a:r>
              <a:rPr lang="en-GB" sz="2400" dirty="0" err="1"/>
              <a:t>vérifiera</a:t>
            </a:r>
            <a:r>
              <a:rPr lang="en-GB" sz="2400" dirty="0"/>
              <a:t> que la </a:t>
            </a:r>
            <a:r>
              <a:rPr lang="en-GB" sz="2400" dirty="0" err="1"/>
              <a:t>somme</a:t>
            </a:r>
            <a:r>
              <a:rPr lang="en-GB" sz="2400" dirty="0"/>
              <a:t> de deux </a:t>
            </a:r>
            <a:r>
              <a:rPr lang="en-GB" sz="2400" dirty="0" err="1"/>
              <a:t>entiers</a:t>
            </a:r>
            <a:r>
              <a:rPr lang="en-GB" sz="2400" dirty="0"/>
              <a:t> </a:t>
            </a:r>
            <a:r>
              <a:rPr lang="en-GB" sz="2400" dirty="0" err="1"/>
              <a:t>est</a:t>
            </a:r>
            <a:r>
              <a:rPr lang="en-GB" sz="2400" dirty="0"/>
              <a:t> </a:t>
            </a:r>
            <a:r>
              <a:rPr lang="en-GB" sz="2400" dirty="0" err="1"/>
              <a:t>calculée</a:t>
            </a:r>
            <a:r>
              <a:rPr lang="en-GB" sz="2400" dirty="0"/>
              <a:t> </a:t>
            </a:r>
            <a:r>
              <a:rPr lang="en-GB" sz="2400" dirty="0" err="1"/>
              <a:t>correctement</a:t>
            </a:r>
            <a:r>
              <a:rPr lang="en-GB" sz="2400" dirty="0"/>
              <a:t>.</a:t>
            </a:r>
            <a:endParaRPr lang="fr-FR" sz="24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0A8CE7D-9AE4-5BE2-E24C-E2E57280DB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6356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281E8769-93BB-524A-9320-5192C37FE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Exemple</a:t>
            </a:r>
            <a:r>
              <a:rPr lang="en-GB" dirty="0"/>
              <a:t> </a:t>
            </a:r>
            <a:r>
              <a:rPr lang="en-GB" dirty="0" err="1"/>
              <a:t>complet</a:t>
            </a:r>
            <a:r>
              <a:rPr lang="en-GB" dirty="0"/>
              <a:t>: premier test</a:t>
            </a:r>
            <a:endParaRPr lang="fr-FR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43CF057-C1E3-8D19-62C7-5C9DFB786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04674"/>
            <a:ext cx="10515600" cy="287228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2400" dirty="0"/>
              <a:t>La </a:t>
            </a:r>
            <a:r>
              <a:rPr lang="en-GB" sz="2400" dirty="0" err="1"/>
              <a:t>classe</a:t>
            </a:r>
            <a:r>
              <a:rPr lang="en-GB" sz="2400" dirty="0"/>
              <a:t> de test </a:t>
            </a:r>
            <a:r>
              <a:rPr lang="en-GB" sz="2200" dirty="0" err="1">
                <a:solidFill>
                  <a:schemeClr val="accent4"/>
                </a:solidFill>
                <a:latin typeface="Consolas"/>
                <a:cs typeface="Consolas"/>
              </a:rPr>
              <a:t>CalculatorTest</a:t>
            </a:r>
            <a:r>
              <a:rPr lang="en-GB" sz="2400" dirty="0"/>
              <a:t> </a:t>
            </a:r>
            <a:r>
              <a:rPr lang="en-GB" sz="2400" dirty="0" err="1"/>
              <a:t>est</a:t>
            </a:r>
            <a:r>
              <a:rPr lang="en-GB" sz="2400" dirty="0"/>
              <a:t> </a:t>
            </a:r>
            <a:r>
              <a:rPr lang="en-GB" sz="2400" dirty="0" err="1"/>
              <a:t>créée</a:t>
            </a:r>
            <a:r>
              <a:rPr lang="en-GB" sz="2400" dirty="0"/>
              <a:t> et </a:t>
            </a:r>
            <a:r>
              <a:rPr lang="en-GB" sz="2400" dirty="0" err="1"/>
              <a:t>contient</a:t>
            </a:r>
            <a:r>
              <a:rPr lang="en-GB" sz="2400" dirty="0"/>
              <a:t> </a:t>
            </a:r>
            <a:r>
              <a:rPr lang="en-GB" sz="2400" dirty="0" err="1"/>
              <a:t>une</a:t>
            </a:r>
            <a:r>
              <a:rPr lang="en-GB" sz="2400" dirty="0"/>
              <a:t> </a:t>
            </a:r>
            <a:r>
              <a:rPr lang="en-GB" sz="2400" dirty="0" err="1"/>
              <a:t>méthode</a:t>
            </a:r>
            <a:r>
              <a:rPr lang="en-GB" sz="2400" dirty="0"/>
              <a:t> </a:t>
            </a:r>
            <a:r>
              <a:rPr lang="en-GB" sz="2200" dirty="0">
                <a:solidFill>
                  <a:schemeClr val="accent4"/>
                </a:solidFill>
                <a:latin typeface="Consolas"/>
                <a:cs typeface="Consolas"/>
              </a:rPr>
              <a:t>add</a:t>
            </a:r>
            <a:r>
              <a:rPr lang="en-GB" sz="2400" dirty="0"/>
              <a:t>.</a:t>
            </a:r>
          </a:p>
          <a:p>
            <a:pPr marL="0" indent="0" algn="just">
              <a:buNone/>
            </a:pPr>
            <a:r>
              <a:rPr lang="en-GB" sz="2400" dirty="0"/>
              <a:t>Nous </a:t>
            </a:r>
            <a:r>
              <a:rPr lang="en-GB" sz="2400" dirty="0" err="1"/>
              <a:t>allons</a:t>
            </a:r>
            <a:r>
              <a:rPr lang="en-GB" sz="2400" dirty="0"/>
              <a:t> </a:t>
            </a:r>
            <a:r>
              <a:rPr lang="en-GB" sz="2400" dirty="0" err="1"/>
              <a:t>renommer</a:t>
            </a:r>
            <a:r>
              <a:rPr lang="en-GB" sz="2400" dirty="0"/>
              <a:t> la </a:t>
            </a:r>
            <a:r>
              <a:rPr lang="en-GB" sz="2400" dirty="0" err="1"/>
              <a:t>méthode</a:t>
            </a:r>
            <a:r>
              <a:rPr lang="en-GB" sz="2400" dirty="0"/>
              <a:t> pour </a:t>
            </a:r>
            <a:r>
              <a:rPr lang="en-GB" sz="2400" dirty="0" err="1"/>
              <a:t>qu’elle</a:t>
            </a:r>
            <a:r>
              <a:rPr lang="en-GB" sz="2400" dirty="0"/>
              <a:t> ait un nom plus pertinent: </a:t>
            </a:r>
            <a:r>
              <a:rPr lang="en-GB" sz="2200" dirty="0" err="1">
                <a:solidFill>
                  <a:schemeClr val="accent4"/>
                </a:solidFill>
                <a:latin typeface="Consolas"/>
                <a:cs typeface="Consolas"/>
              </a:rPr>
              <a:t>testAddTwoIntegers</a:t>
            </a:r>
            <a:endParaRPr lang="en-GB" sz="22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C08CCB8-8C2F-BB56-C00A-F85059370CC3}"/>
              </a:ext>
            </a:extLst>
          </p:cNvPr>
          <p:cNvSpPr txBox="1"/>
          <p:nvPr/>
        </p:nvSpPr>
        <p:spPr>
          <a:xfrm>
            <a:off x="4084819" y="1674674"/>
            <a:ext cx="3438930" cy="1569660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CalculatorTest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@Test</a:t>
            </a:r>
            <a:br>
              <a:rPr lang="fr-BE" sz="16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4E6556F-1718-538B-A0A8-2D289BDA6F2C}"/>
              </a:ext>
            </a:extLst>
          </p:cNvPr>
          <p:cNvSpPr txBox="1"/>
          <p:nvPr/>
        </p:nvSpPr>
        <p:spPr>
          <a:xfrm>
            <a:off x="3908357" y="4607303"/>
            <a:ext cx="3791854" cy="1569660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CalculatorTest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@Test</a:t>
            </a:r>
            <a:br>
              <a:rPr lang="fr-BE" sz="16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testAddTwoIntegers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0EA1C3A-D523-E6C3-E8B0-7E74AB4FB5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16660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281E8769-93BB-524A-9320-5192C37FE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Exemple</a:t>
            </a:r>
            <a:r>
              <a:rPr lang="en-GB" dirty="0"/>
              <a:t> </a:t>
            </a:r>
            <a:r>
              <a:rPr lang="en-GB" dirty="0" err="1"/>
              <a:t>complet</a:t>
            </a:r>
            <a:r>
              <a:rPr lang="en-GB" dirty="0"/>
              <a:t>: premier test</a:t>
            </a:r>
            <a:endParaRPr lang="fr-FR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43CF057-C1E3-8D19-62C7-5C9DFB786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75421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2400" dirty="0"/>
              <a:t>Pour le test </a:t>
            </a:r>
            <a:r>
              <a:rPr lang="en-GB" sz="2400" dirty="0" err="1"/>
              <a:t>lui-même</a:t>
            </a:r>
            <a:r>
              <a:rPr lang="en-GB" sz="2400" dirty="0"/>
              <a:t>, il faut: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/>
              <a:t>Organiser les </a:t>
            </a:r>
            <a:r>
              <a:rPr lang="en-GB" sz="2400" dirty="0" err="1"/>
              <a:t>données</a:t>
            </a:r>
            <a:r>
              <a:rPr lang="en-GB" sz="2400" dirty="0"/>
              <a:t> pour le test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 err="1"/>
              <a:t>Exécuter</a:t>
            </a:r>
            <a:r>
              <a:rPr lang="en-GB" sz="2400" dirty="0"/>
              <a:t> </a:t>
            </a:r>
            <a:r>
              <a:rPr lang="en-GB" sz="2400" dirty="0" err="1"/>
              <a:t>l’action</a:t>
            </a:r>
            <a:r>
              <a:rPr lang="en-GB" sz="2400" dirty="0"/>
              <a:t> </a:t>
            </a:r>
            <a:r>
              <a:rPr lang="en-GB" sz="2400" dirty="0" err="1"/>
              <a:t>à</a:t>
            </a:r>
            <a:r>
              <a:rPr lang="en-GB" sz="2400" dirty="0"/>
              <a:t> tester et </a:t>
            </a:r>
            <a:r>
              <a:rPr lang="en-GB" sz="2400" dirty="0" err="1"/>
              <a:t>récuperer</a:t>
            </a:r>
            <a:r>
              <a:rPr lang="en-GB" sz="2400" dirty="0"/>
              <a:t> le </a:t>
            </a:r>
            <a:r>
              <a:rPr lang="en-GB" sz="2400" dirty="0" err="1"/>
              <a:t>résultat</a:t>
            </a:r>
            <a:endParaRPr lang="en-GB" sz="2400" dirty="0"/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 err="1"/>
              <a:t>Valider</a:t>
            </a:r>
            <a:r>
              <a:rPr lang="en-GB" sz="2400" dirty="0"/>
              <a:t> le </a:t>
            </a:r>
            <a:r>
              <a:rPr lang="en-GB" sz="2400" dirty="0" err="1"/>
              <a:t>résultat</a:t>
            </a:r>
            <a:r>
              <a:rPr lang="en-GB" sz="2400" dirty="0"/>
              <a:t>, et </a:t>
            </a:r>
            <a:r>
              <a:rPr lang="en-GB" sz="2400" dirty="0" err="1"/>
              <a:t>conclure</a:t>
            </a:r>
            <a:r>
              <a:rPr lang="en-GB" sz="2400" dirty="0"/>
              <a:t> </a:t>
            </a:r>
            <a:r>
              <a:rPr lang="en-GB" sz="2400" dirty="0" err="1"/>
              <a:t>à</a:t>
            </a:r>
            <a:r>
              <a:rPr lang="en-GB" sz="2400" dirty="0"/>
              <a:t> un succès </a:t>
            </a:r>
            <a:r>
              <a:rPr lang="en-GB" sz="2400" dirty="0" err="1"/>
              <a:t>ou</a:t>
            </a:r>
            <a:r>
              <a:rPr lang="en-GB" sz="2400" dirty="0"/>
              <a:t> un </a:t>
            </a:r>
            <a:r>
              <a:rPr lang="en-GB" sz="2400" dirty="0" err="1"/>
              <a:t>échec</a:t>
            </a:r>
            <a:r>
              <a:rPr lang="en-GB" sz="2400" dirty="0"/>
              <a:t>.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4E6556F-1718-538B-A0A8-2D289BDA6F2C}"/>
              </a:ext>
            </a:extLst>
          </p:cNvPr>
          <p:cNvSpPr txBox="1"/>
          <p:nvPr/>
        </p:nvSpPr>
        <p:spPr>
          <a:xfrm>
            <a:off x="7561946" y="2644170"/>
            <a:ext cx="3791854" cy="1569660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CalculatorTest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@Test</a:t>
            </a:r>
            <a:br>
              <a:rPr lang="fr-BE" sz="16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testAddTwoIntegers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F46ACE4-F8F8-BAE8-3D15-5262200200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64651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281E8769-93BB-524A-9320-5192C37FE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Exemple</a:t>
            </a:r>
            <a:r>
              <a:rPr lang="en-GB" dirty="0"/>
              <a:t> </a:t>
            </a:r>
            <a:r>
              <a:rPr lang="en-GB" dirty="0" err="1"/>
              <a:t>complet</a:t>
            </a:r>
            <a:r>
              <a:rPr lang="en-GB" dirty="0"/>
              <a:t>: premier test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7B89B4F-538D-7C86-DB2D-70CD13C863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44</a:t>
            </a:fld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4E6556F-1718-538B-A0A8-2D289BDA6F2C}"/>
              </a:ext>
            </a:extLst>
          </p:cNvPr>
          <p:cNvSpPr txBox="1"/>
          <p:nvPr/>
        </p:nvSpPr>
        <p:spPr>
          <a:xfrm>
            <a:off x="6994358" y="2521059"/>
            <a:ext cx="4652210" cy="2062103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sz="16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@Test</a:t>
            </a:r>
            <a:br>
              <a:rPr lang="fr-BE" sz="16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testAddTwoIntegers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>
                <a:solidFill>
                  <a:srgbClr val="808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données du test</a:t>
            </a:r>
            <a:br>
              <a:rPr lang="fr-BE" sz="1600" dirty="0">
                <a:solidFill>
                  <a:srgbClr val="808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808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Calculator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calc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Calculator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a = </a:t>
            </a:r>
            <a:r>
              <a:rPr lang="fr-BE" sz="16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b = </a:t>
            </a:r>
            <a:r>
              <a:rPr lang="fr-BE" sz="16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b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Espace réservé du contenu 5">
            <a:extLst>
              <a:ext uri="{FF2B5EF4-FFF2-40B4-BE49-F238E27FC236}">
                <a16:creationId xmlns:a16="http://schemas.microsoft.com/office/drawing/2014/main" id="{13E3E0A7-AEEA-A8C8-306F-91A60FC7964A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87542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GB" sz="2400" dirty="0"/>
              <a:t>Pour le test </a:t>
            </a:r>
            <a:r>
              <a:rPr lang="en-GB" sz="2400" dirty="0" err="1"/>
              <a:t>lui-même</a:t>
            </a:r>
            <a:r>
              <a:rPr lang="en-GB" sz="2400" dirty="0"/>
              <a:t>, il faut: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>
                <a:solidFill>
                  <a:schemeClr val="accent4"/>
                </a:solidFill>
              </a:rPr>
              <a:t>Organiser les </a:t>
            </a:r>
            <a:r>
              <a:rPr lang="en-GB" sz="2400" dirty="0" err="1">
                <a:solidFill>
                  <a:schemeClr val="accent4"/>
                </a:solidFill>
              </a:rPr>
              <a:t>données</a:t>
            </a:r>
            <a:r>
              <a:rPr lang="en-GB" sz="2400" dirty="0">
                <a:solidFill>
                  <a:schemeClr val="accent4"/>
                </a:solidFill>
              </a:rPr>
              <a:t> pour le test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 err="1"/>
              <a:t>Exécuter</a:t>
            </a:r>
            <a:r>
              <a:rPr lang="en-GB" sz="2400" dirty="0"/>
              <a:t> </a:t>
            </a:r>
            <a:r>
              <a:rPr lang="en-GB" sz="2400" dirty="0" err="1"/>
              <a:t>l’action</a:t>
            </a:r>
            <a:r>
              <a:rPr lang="en-GB" sz="2400" dirty="0"/>
              <a:t> </a:t>
            </a:r>
            <a:r>
              <a:rPr lang="en-GB" sz="2400" dirty="0" err="1"/>
              <a:t>à</a:t>
            </a:r>
            <a:r>
              <a:rPr lang="en-GB" sz="2400" dirty="0"/>
              <a:t> tester et </a:t>
            </a:r>
            <a:r>
              <a:rPr lang="en-GB" sz="2400" dirty="0" err="1"/>
              <a:t>récuperer</a:t>
            </a:r>
            <a:r>
              <a:rPr lang="en-GB" sz="2400" dirty="0"/>
              <a:t> le </a:t>
            </a:r>
            <a:r>
              <a:rPr lang="en-GB" sz="2400" dirty="0" err="1"/>
              <a:t>résultat</a:t>
            </a:r>
            <a:endParaRPr lang="en-GB" sz="2400" dirty="0"/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 err="1"/>
              <a:t>Valider</a:t>
            </a:r>
            <a:r>
              <a:rPr lang="en-GB" sz="2400" dirty="0"/>
              <a:t> le </a:t>
            </a:r>
            <a:r>
              <a:rPr lang="en-GB" sz="2400" dirty="0" err="1"/>
              <a:t>résultat</a:t>
            </a:r>
            <a:r>
              <a:rPr lang="en-GB" sz="2400" dirty="0"/>
              <a:t>, et </a:t>
            </a:r>
            <a:r>
              <a:rPr lang="en-GB" sz="2400" dirty="0" err="1"/>
              <a:t>conclure</a:t>
            </a:r>
            <a:r>
              <a:rPr lang="en-GB" sz="2400" dirty="0"/>
              <a:t> </a:t>
            </a:r>
            <a:r>
              <a:rPr lang="en-GB" sz="2400" dirty="0" err="1"/>
              <a:t>à</a:t>
            </a:r>
            <a:r>
              <a:rPr lang="en-GB" sz="2400" dirty="0"/>
              <a:t> un succès </a:t>
            </a:r>
            <a:r>
              <a:rPr lang="en-GB" sz="2400" dirty="0" err="1"/>
              <a:t>ou</a:t>
            </a:r>
            <a:r>
              <a:rPr lang="en-GB" sz="2400" dirty="0"/>
              <a:t> un </a:t>
            </a:r>
            <a:r>
              <a:rPr lang="en-GB" sz="2400" dirty="0" err="1"/>
              <a:t>échec</a:t>
            </a:r>
            <a:r>
              <a:rPr lang="en-GB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174663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281E8769-93BB-524A-9320-5192C37FE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Exemple</a:t>
            </a:r>
            <a:r>
              <a:rPr lang="en-GB" dirty="0"/>
              <a:t> </a:t>
            </a:r>
            <a:r>
              <a:rPr lang="en-GB" dirty="0" err="1"/>
              <a:t>complet</a:t>
            </a:r>
            <a:r>
              <a:rPr lang="en-GB" dirty="0"/>
              <a:t>: premier test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428B358-39C0-6715-21D6-0E8610F4F3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45</a:t>
            </a:fld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4E6556F-1718-538B-A0A8-2D289BDA6F2C}"/>
              </a:ext>
            </a:extLst>
          </p:cNvPr>
          <p:cNvSpPr txBox="1"/>
          <p:nvPr/>
        </p:nvSpPr>
        <p:spPr>
          <a:xfrm>
            <a:off x="6994358" y="2521059"/>
            <a:ext cx="4652210" cy="2554545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sz="16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@Test</a:t>
            </a:r>
            <a:br>
              <a:rPr lang="fr-BE" sz="16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testAddTwoIntegers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>
                <a:solidFill>
                  <a:srgbClr val="808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données du test</a:t>
            </a:r>
            <a:br>
              <a:rPr lang="fr-BE" sz="1600" dirty="0">
                <a:solidFill>
                  <a:srgbClr val="808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808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Calculator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calc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Calculator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a = </a:t>
            </a:r>
            <a:r>
              <a:rPr lang="fr-BE" sz="16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b = </a:t>
            </a:r>
            <a:r>
              <a:rPr lang="fr-BE" sz="16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fr-BE" sz="1600" dirty="0">
                <a:solidFill>
                  <a:srgbClr val="808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// exécuter l'action</a:t>
            </a:r>
            <a:br>
              <a:rPr lang="fr-BE" sz="1600" dirty="0">
                <a:solidFill>
                  <a:srgbClr val="808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808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somme = 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calc.add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(a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b)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b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Espace réservé du contenu 5">
            <a:extLst>
              <a:ext uri="{FF2B5EF4-FFF2-40B4-BE49-F238E27FC236}">
                <a16:creationId xmlns:a16="http://schemas.microsoft.com/office/drawing/2014/main" id="{044B5A5D-09B0-AEC4-D56B-5A299F21A74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87542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GB" sz="2400"/>
              <a:t>Pour le test lui-même, il faut: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/>
              <a:t>Organiser les données pour le test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>
                <a:solidFill>
                  <a:schemeClr val="accent4"/>
                </a:solidFill>
              </a:rPr>
              <a:t>Exécuter l’action à tester et récuperer le résultat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/>
              <a:t>Valider le résultat, et conclure à un succès ou un échec.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7539720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281E8769-93BB-524A-9320-5192C37FE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Exemple</a:t>
            </a:r>
            <a:r>
              <a:rPr lang="en-GB" dirty="0"/>
              <a:t> </a:t>
            </a:r>
            <a:r>
              <a:rPr lang="en-GB" dirty="0" err="1"/>
              <a:t>complet</a:t>
            </a:r>
            <a:r>
              <a:rPr lang="en-GB" dirty="0"/>
              <a:t>: premier test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B207406-9CC2-990B-1EB0-20ACC551E8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46</a:t>
            </a:fld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4E6556F-1718-538B-A0A8-2D289BDA6F2C}"/>
              </a:ext>
            </a:extLst>
          </p:cNvPr>
          <p:cNvSpPr txBox="1"/>
          <p:nvPr/>
        </p:nvSpPr>
        <p:spPr>
          <a:xfrm>
            <a:off x="6994358" y="2521059"/>
            <a:ext cx="4652210" cy="3046988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sz="16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@Test</a:t>
            </a:r>
            <a:br>
              <a:rPr lang="fr-BE" sz="16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testAddTwoIntegers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>
                <a:solidFill>
                  <a:srgbClr val="808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données du test</a:t>
            </a:r>
            <a:br>
              <a:rPr lang="fr-BE" sz="1600" dirty="0">
                <a:solidFill>
                  <a:srgbClr val="808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808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Calculator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calc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Calculator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a = </a:t>
            </a:r>
            <a:r>
              <a:rPr lang="fr-BE" sz="16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b = </a:t>
            </a:r>
            <a:r>
              <a:rPr lang="fr-BE" sz="16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fr-BE" sz="1600" dirty="0">
                <a:solidFill>
                  <a:srgbClr val="808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// exécuter l'action</a:t>
            </a:r>
            <a:br>
              <a:rPr lang="fr-BE" sz="1600" dirty="0">
                <a:solidFill>
                  <a:srgbClr val="808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808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somme = 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calc.add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(a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b)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fr-BE" sz="1600" dirty="0">
                <a:solidFill>
                  <a:srgbClr val="808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// vérifier le résultat</a:t>
            </a:r>
            <a:br>
              <a:rPr lang="fr-BE" sz="1600" dirty="0">
                <a:solidFill>
                  <a:srgbClr val="808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808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i="1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assertEquals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6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somme)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Espace réservé du contenu 5">
            <a:extLst>
              <a:ext uri="{FF2B5EF4-FFF2-40B4-BE49-F238E27FC236}">
                <a16:creationId xmlns:a16="http://schemas.microsoft.com/office/drawing/2014/main" id="{E4252F9B-A1B1-B230-0BA2-BB0B3197D77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87542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GB" sz="2400"/>
              <a:t>Pour le test lui-même, il faut: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/>
              <a:t>Organiser les données pour le test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/>
              <a:t>Exécuter l’action à tester et récuperer le résultat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>
                <a:solidFill>
                  <a:schemeClr val="accent4"/>
                </a:solidFill>
              </a:rPr>
              <a:t>Valider le résultat, et conclure à un succès ou un échec.</a:t>
            </a:r>
            <a:endParaRPr lang="en-GB" sz="2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2790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281E8769-93BB-524A-9320-5192C37FE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err="1"/>
              <a:t>Exemple</a:t>
            </a:r>
            <a:r>
              <a:rPr lang="en-GB" dirty="0"/>
              <a:t> </a:t>
            </a:r>
            <a:r>
              <a:rPr lang="en-GB" dirty="0" err="1"/>
              <a:t>complet</a:t>
            </a:r>
            <a:r>
              <a:rPr lang="en-GB" dirty="0"/>
              <a:t>: </a:t>
            </a:r>
            <a:r>
              <a:rPr lang="en-GB" dirty="0" err="1"/>
              <a:t>exécution</a:t>
            </a:r>
            <a:r>
              <a:rPr lang="en-GB" dirty="0"/>
              <a:t> du premier test</a:t>
            </a:r>
            <a:endParaRPr lang="fr-FR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43CF057-C1E3-8D19-62C7-5C9DFB786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0106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 err="1"/>
              <a:t>Maintenant</a:t>
            </a:r>
            <a:r>
              <a:rPr lang="en-GB" sz="2400" dirty="0"/>
              <a:t> que le test </a:t>
            </a:r>
            <a:r>
              <a:rPr lang="en-GB" sz="2400" dirty="0" err="1"/>
              <a:t>est</a:t>
            </a:r>
            <a:r>
              <a:rPr lang="en-GB" sz="2400" dirty="0"/>
              <a:t> </a:t>
            </a:r>
            <a:r>
              <a:rPr lang="en-GB" sz="2400" dirty="0" err="1"/>
              <a:t>écrit</a:t>
            </a:r>
            <a:r>
              <a:rPr lang="en-GB" sz="2400" dirty="0"/>
              <a:t>, il faut </a:t>
            </a:r>
            <a:r>
              <a:rPr lang="en-GB" sz="2400" dirty="0" err="1"/>
              <a:t>l’executer</a:t>
            </a:r>
            <a:r>
              <a:rPr lang="en-GB" sz="2400" dirty="0"/>
              <a:t>…</a:t>
            </a:r>
          </a:p>
          <a:p>
            <a:pPr marL="0" indent="0">
              <a:buNone/>
            </a:pPr>
            <a:r>
              <a:rPr lang="en-GB" sz="2400" dirty="0"/>
              <a:t>Comme la </a:t>
            </a:r>
            <a:r>
              <a:rPr lang="en-GB" sz="2400" dirty="0" err="1"/>
              <a:t>méthode</a:t>
            </a:r>
            <a:r>
              <a:rPr lang="en-GB" sz="2400" dirty="0"/>
              <a:t> </a:t>
            </a:r>
            <a:r>
              <a:rPr lang="en-GB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GB" sz="2400" dirty="0"/>
              <a:t> </a:t>
            </a:r>
            <a:r>
              <a:rPr lang="en-GB" sz="2400" dirty="0" err="1"/>
              <a:t>n’est</a:t>
            </a:r>
            <a:r>
              <a:rPr lang="en-GB" sz="2400" dirty="0"/>
              <a:t> pas </a:t>
            </a:r>
            <a:r>
              <a:rPr lang="en-GB" sz="2400" dirty="0" err="1"/>
              <a:t>implémentée</a:t>
            </a:r>
            <a:r>
              <a:rPr lang="en-GB" sz="2400" dirty="0"/>
              <a:t>, le test ne sera pas </a:t>
            </a:r>
            <a:r>
              <a:rPr lang="en-GB" sz="2400" dirty="0" err="1"/>
              <a:t>réussi</a:t>
            </a:r>
            <a:r>
              <a:rPr lang="en-GB" sz="2400" dirty="0"/>
              <a:t>…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La </a:t>
            </a:r>
            <a:r>
              <a:rPr lang="en-GB" sz="2400" dirty="0" err="1"/>
              <a:t>prochaine</a:t>
            </a:r>
            <a:r>
              <a:rPr lang="en-GB" sz="2400" dirty="0"/>
              <a:t> étape </a:t>
            </a:r>
            <a:r>
              <a:rPr lang="en-GB" sz="2400" dirty="0" err="1"/>
              <a:t>consiste</a:t>
            </a:r>
            <a:r>
              <a:rPr lang="en-GB" sz="2400" dirty="0"/>
              <a:t> </a:t>
            </a:r>
            <a:r>
              <a:rPr lang="en-GB" sz="2400" dirty="0" err="1"/>
              <a:t>à</a:t>
            </a:r>
            <a:r>
              <a:rPr lang="en-GB" sz="2400" dirty="0"/>
              <a:t> </a:t>
            </a:r>
            <a:r>
              <a:rPr lang="en-GB" sz="2400" dirty="0" err="1"/>
              <a:t>écrire</a:t>
            </a:r>
            <a:r>
              <a:rPr lang="en-GB" sz="2400" dirty="0"/>
              <a:t> la </a:t>
            </a:r>
            <a:r>
              <a:rPr lang="en-GB" sz="2400" dirty="0" err="1"/>
              <a:t>méthode</a:t>
            </a:r>
            <a:r>
              <a:rPr lang="en-GB" sz="2400" dirty="0"/>
              <a:t> </a:t>
            </a:r>
            <a:r>
              <a:rPr lang="en-GB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GB" sz="2400" dirty="0"/>
              <a:t>.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F4600FD-212D-C29D-8ADC-7909E54E8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9263" y="1852901"/>
            <a:ext cx="3917281" cy="288436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9A15BC8A-6770-B127-5A5C-5F1B084AB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820" y="4546076"/>
            <a:ext cx="6132095" cy="1765822"/>
          </a:xfrm>
          <a:prstGeom prst="rect">
            <a:avLst/>
          </a:prstGeom>
        </p:spPr>
      </p:pic>
      <p:sp>
        <p:nvSpPr>
          <p:cNvPr id="7" name="Virage 6">
            <a:extLst>
              <a:ext uri="{FF2B5EF4-FFF2-40B4-BE49-F238E27FC236}">
                <a16:creationId xmlns:a16="http://schemas.microsoft.com/office/drawing/2014/main" id="{2898738E-EE12-13F9-5025-C0515E28569D}"/>
              </a:ext>
            </a:extLst>
          </p:cNvPr>
          <p:cNvSpPr/>
          <p:nvPr/>
        </p:nvSpPr>
        <p:spPr>
          <a:xfrm rot="10800000">
            <a:off x="7443535" y="4828675"/>
            <a:ext cx="1034716" cy="679356"/>
          </a:xfrm>
          <a:prstGeom prst="bentArrow">
            <a:avLst>
              <a:gd name="adj1" fmla="val 16473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DDF475D-223A-93A8-366C-88C7BC166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9702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281E8769-93BB-524A-9320-5192C37FE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complet: la méthode </a:t>
            </a:r>
            <a:r>
              <a:rPr lang="fr-FR" sz="4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fr-FR" dirty="0"/>
              <a:t>…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43CF057-C1E3-8D19-62C7-5C9DFB786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GB" dirty="0" err="1"/>
              <a:t>Ecrivons</a:t>
            </a:r>
            <a:r>
              <a:rPr lang="en-GB" dirty="0"/>
              <a:t> </a:t>
            </a:r>
            <a:r>
              <a:rPr lang="en-GB" dirty="0" err="1"/>
              <a:t>maintenant</a:t>
            </a:r>
            <a:r>
              <a:rPr lang="en-GB" dirty="0"/>
              <a:t> le code de la </a:t>
            </a:r>
            <a:r>
              <a:rPr lang="en-GB" dirty="0" err="1"/>
              <a:t>méthode</a:t>
            </a:r>
            <a:r>
              <a:rPr lang="en-GB" dirty="0"/>
              <a:t> </a:t>
            </a:r>
            <a:r>
              <a:rPr lang="en-GB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 err="1"/>
              <a:t>C’est</a:t>
            </a:r>
            <a:r>
              <a:rPr lang="en-GB" dirty="0"/>
              <a:t> un </a:t>
            </a:r>
            <a:r>
              <a:rPr lang="en-GB" dirty="0" err="1"/>
              <a:t>changement</a:t>
            </a:r>
            <a:r>
              <a:rPr lang="en-GB" dirty="0"/>
              <a:t> </a:t>
            </a:r>
            <a:r>
              <a:rPr lang="en-GB" dirty="0" err="1"/>
              <a:t>mineur</a:t>
            </a:r>
            <a:r>
              <a:rPr lang="en-GB" dirty="0"/>
              <a:t>, qui correspond </a:t>
            </a:r>
            <a:r>
              <a:rPr lang="en-GB" dirty="0" err="1">
                <a:solidFill>
                  <a:schemeClr val="accent4"/>
                </a:solidFill>
              </a:rPr>
              <a:t>uniquement</a:t>
            </a:r>
            <a:r>
              <a:rPr lang="en-GB" dirty="0"/>
              <a:t> </a:t>
            </a:r>
            <a:r>
              <a:rPr lang="en-GB" dirty="0" err="1"/>
              <a:t>à</a:t>
            </a:r>
            <a:r>
              <a:rPr lang="en-GB" dirty="0"/>
              <a:t> la </a:t>
            </a:r>
            <a:r>
              <a:rPr lang="en-GB" dirty="0" err="1"/>
              <a:t>méthode</a:t>
            </a:r>
            <a:r>
              <a:rPr lang="en-GB" dirty="0"/>
              <a:t> que nous </a:t>
            </a:r>
            <a:r>
              <a:rPr lang="en-GB" dirty="0" err="1"/>
              <a:t>voulons</a:t>
            </a:r>
            <a:r>
              <a:rPr lang="en-GB" dirty="0"/>
              <a:t> tester…</a:t>
            </a:r>
            <a:endParaRPr lang="fr-FR" dirty="0"/>
          </a:p>
          <a:p>
            <a:pPr marL="0" indent="0" algn="just">
              <a:buNone/>
            </a:pPr>
            <a:endParaRPr lang="en-GB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C08CCB8-8C2F-BB56-C00A-F85059370CC3}"/>
              </a:ext>
            </a:extLst>
          </p:cNvPr>
          <p:cNvSpPr txBox="1"/>
          <p:nvPr/>
        </p:nvSpPr>
        <p:spPr>
          <a:xfrm>
            <a:off x="2889681" y="3496997"/>
            <a:ext cx="7239739" cy="2308324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fr-BE" dirty="0" err="1">
                <a:latin typeface="Consolas" panose="020B0609020204030204" pitchFamily="49" charset="0"/>
                <a:cs typeface="Consolas" panose="020B0609020204030204" pitchFamily="49" charset="0"/>
              </a:rPr>
              <a:t>Calculator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fr-BE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 err="1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b) {</a:t>
            </a:r>
            <a:b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a + b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public </a:t>
            </a:r>
            <a:r>
              <a:rPr lang="fr-BE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 err="1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substract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b) {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fr-BE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fr-BE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 err="1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multiply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b) {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fr-BE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double </a:t>
            </a:r>
            <a:r>
              <a:rPr lang="fr-BE" dirty="0" err="1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divide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b) {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fr-BE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7312DFC-D657-F42B-C0F2-24DCA463E8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38069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281E8769-93BB-524A-9320-5192C37FE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err="1"/>
              <a:t>Exemple</a:t>
            </a:r>
            <a:r>
              <a:rPr lang="en-GB" dirty="0"/>
              <a:t> </a:t>
            </a:r>
            <a:r>
              <a:rPr lang="en-GB" dirty="0" err="1"/>
              <a:t>complet</a:t>
            </a:r>
            <a:r>
              <a:rPr lang="en-GB" dirty="0"/>
              <a:t>: </a:t>
            </a:r>
            <a:r>
              <a:rPr lang="en-GB" dirty="0" err="1"/>
              <a:t>exécution</a:t>
            </a:r>
            <a:r>
              <a:rPr lang="en-GB" dirty="0"/>
              <a:t> du premier test</a:t>
            </a:r>
            <a:endParaRPr lang="fr-FR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43CF057-C1E3-8D19-62C7-5C9DFB786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La </a:t>
            </a:r>
            <a:r>
              <a:rPr lang="en-GB" sz="2400" dirty="0" err="1"/>
              <a:t>méthode</a:t>
            </a:r>
            <a:r>
              <a:rPr lang="en-GB" sz="2400" dirty="0"/>
              <a:t> </a:t>
            </a:r>
            <a:r>
              <a:rPr lang="en-GB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GB" sz="2400" dirty="0"/>
              <a:t> </a:t>
            </a:r>
            <a:r>
              <a:rPr lang="en-GB" sz="2400" dirty="0" err="1"/>
              <a:t>étant</a:t>
            </a:r>
            <a:r>
              <a:rPr lang="en-GB" sz="2400" dirty="0"/>
              <a:t> </a:t>
            </a:r>
            <a:r>
              <a:rPr lang="en-GB" sz="2400" dirty="0" err="1"/>
              <a:t>implémentée</a:t>
            </a:r>
            <a:r>
              <a:rPr lang="en-GB" sz="2400" dirty="0"/>
              <a:t>, le test </a:t>
            </a:r>
            <a:r>
              <a:rPr lang="en-GB" sz="2400" dirty="0" err="1"/>
              <a:t>devrait</a:t>
            </a:r>
            <a:r>
              <a:rPr lang="en-GB" sz="2400" dirty="0"/>
              <a:t> passer sans souci (</a:t>
            </a:r>
            <a:r>
              <a:rPr lang="en-GB" sz="2400" dirty="0" err="1"/>
              <a:t>sauf</a:t>
            </a:r>
            <a:r>
              <a:rPr lang="en-GB" sz="2400" dirty="0"/>
              <a:t> </a:t>
            </a:r>
            <a:r>
              <a:rPr lang="en-GB" sz="2400" dirty="0" err="1"/>
              <a:t>erreur</a:t>
            </a:r>
            <a:r>
              <a:rPr lang="en-GB" sz="2400" dirty="0"/>
              <a:t> dans le test </a:t>
            </a:r>
            <a:r>
              <a:rPr lang="en-GB" sz="2400" dirty="0" err="1"/>
              <a:t>ou</a:t>
            </a:r>
            <a:r>
              <a:rPr lang="en-GB" sz="2400" dirty="0"/>
              <a:t> dans la </a:t>
            </a:r>
            <a:r>
              <a:rPr lang="en-GB" sz="2400" dirty="0" err="1"/>
              <a:t>méthode</a:t>
            </a:r>
            <a:r>
              <a:rPr lang="en-GB" sz="2400" dirty="0"/>
              <a:t>)…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On </a:t>
            </a:r>
            <a:r>
              <a:rPr lang="en-GB" sz="2400" dirty="0" err="1"/>
              <a:t>peut</a:t>
            </a:r>
            <a:r>
              <a:rPr lang="en-GB" sz="2400" dirty="0"/>
              <a:t> ensuite faire un </a:t>
            </a:r>
            <a:r>
              <a:rPr lang="en-GB" sz="2400" dirty="0" err="1"/>
              <a:t>peu</a:t>
            </a:r>
            <a:r>
              <a:rPr lang="en-GB" sz="2400" dirty="0"/>
              <a:t> de refactoring, </a:t>
            </a:r>
            <a:r>
              <a:rPr lang="en-GB" sz="2400" dirty="0" err="1"/>
              <a:t>en</a:t>
            </a:r>
            <a:r>
              <a:rPr lang="en-GB" sz="2400" dirty="0"/>
              <a:t> </a:t>
            </a:r>
            <a:r>
              <a:rPr lang="en-GB" sz="2400" dirty="0" err="1"/>
              <a:t>ré</a:t>
            </a:r>
            <a:r>
              <a:rPr lang="en-GB" sz="2400" dirty="0"/>
              <a:t>-executant les tests pour </a:t>
            </a:r>
            <a:r>
              <a:rPr lang="en-GB" sz="2400" dirty="0" err="1"/>
              <a:t>s’assurer</a:t>
            </a:r>
            <a:r>
              <a:rPr lang="en-GB" sz="2400" dirty="0"/>
              <a:t> que la </a:t>
            </a:r>
            <a:r>
              <a:rPr lang="en-GB" sz="2400" dirty="0" err="1"/>
              <a:t>classe</a:t>
            </a:r>
            <a:r>
              <a:rPr lang="en-GB" sz="2400" dirty="0"/>
              <a:t> </a:t>
            </a:r>
            <a:r>
              <a:rPr lang="en-GB" sz="2400" dirty="0" err="1"/>
              <a:t>fonctionne</a:t>
            </a:r>
            <a:r>
              <a:rPr lang="en-GB" sz="2400" dirty="0"/>
              <a:t> </a:t>
            </a:r>
            <a:r>
              <a:rPr lang="en-GB" sz="2400" dirty="0" err="1"/>
              <a:t>toujours</a:t>
            </a:r>
            <a:r>
              <a:rPr lang="en-GB" sz="2400" dirty="0"/>
              <a:t> </a:t>
            </a:r>
            <a:r>
              <a:rPr lang="en-GB" sz="2400" dirty="0" err="1"/>
              <a:t>correctement</a:t>
            </a:r>
            <a:r>
              <a:rPr lang="en-GB" sz="2400" dirty="0"/>
              <a:t>.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8BD2160C-A8A0-FE03-3520-AFFE66CA2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136" y="2886536"/>
            <a:ext cx="6132095" cy="1765822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4384E1E-174A-402E-EFB0-F128C1D84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0668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609FE77-8CA1-3254-D477-8B447D808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43: écrivez les autres tests…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B1AE2E5B-BC55-548C-EE73-17DD68495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Essayez d’écrire les autres tests pour notre classe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Calculator</a:t>
            </a:r>
            <a:r>
              <a:rPr lang="fr-FR" dirty="0"/>
              <a:t>, en utilisant l’approche TDD.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Les méthodes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substract</a:t>
            </a:r>
            <a:r>
              <a:rPr lang="fr-FR" dirty="0"/>
              <a:t> et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multiply</a:t>
            </a:r>
            <a:r>
              <a:rPr lang="fr-FR" dirty="0"/>
              <a:t> ne devraient pas vous causer de souci… </a:t>
            </a:r>
          </a:p>
          <a:p>
            <a:pPr marL="0" indent="0">
              <a:buNone/>
            </a:pPr>
            <a:r>
              <a:rPr lang="fr-FR" dirty="0"/>
              <a:t>Par contre, pour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divide</a:t>
            </a:r>
            <a:r>
              <a:rPr lang="fr-FR" dirty="0"/>
              <a:t>, il y a deux cas à prévoir, puisque la division par </a:t>
            </a:r>
            <a:r>
              <a:rPr lang="fr-FR" dirty="0" err="1"/>
              <a:t>zero</a:t>
            </a:r>
            <a:r>
              <a:rPr lang="fr-FR" dirty="0"/>
              <a:t> cause une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ArithmeticException</a:t>
            </a:r>
            <a:r>
              <a:rPr lang="fr-FR" dirty="0"/>
              <a:t>…</a:t>
            </a:r>
          </a:p>
          <a:p>
            <a:pPr marL="0" indent="0">
              <a:buNone/>
            </a:pPr>
            <a:endParaRPr lang="fr-FR" sz="26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A17C640-364E-DEF3-434C-A4CB241AF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50</a:t>
            </a:fld>
            <a:endParaRPr lang="fr-FR"/>
          </a:p>
        </p:txBody>
      </p:sp>
      <p:pic>
        <p:nvPicPr>
          <p:cNvPr id="3" name="Picture 2" descr="blog-nutrition-outlet">
            <a:extLst>
              <a:ext uri="{FF2B5EF4-FFF2-40B4-BE49-F238E27FC236}">
                <a16:creationId xmlns:a16="http://schemas.microsoft.com/office/drawing/2014/main" id="{1A9C27DA-E747-56F6-3989-3639C21B1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93171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277876E-9842-2766-E110-AF7FD541C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Tests Unitaires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213D1547-0ACF-441C-1492-4D21165E6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  <a:p>
            <a:r>
              <a:rPr lang="fr-FR" dirty="0"/>
              <a:t>Première classe de test</a:t>
            </a:r>
          </a:p>
          <a:p>
            <a:r>
              <a:rPr lang="fr-FR" dirty="0"/>
              <a:t>Les assertions</a:t>
            </a:r>
          </a:p>
          <a:p>
            <a:r>
              <a:rPr lang="fr-FR" dirty="0"/>
              <a:t>Les annotations </a:t>
            </a:r>
          </a:p>
          <a:p>
            <a:r>
              <a:rPr lang="fr-FR" dirty="0"/>
              <a:t>Un exemple de A à Z</a:t>
            </a:r>
          </a:p>
          <a:p>
            <a:r>
              <a:rPr lang="fr-FR" dirty="0">
                <a:solidFill>
                  <a:schemeClr val="accent4"/>
                </a:solidFill>
              </a:rPr>
              <a:t>Bonnes pratiques</a:t>
            </a:r>
          </a:p>
          <a:p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C1B6ADD-C0D6-366E-726F-641D0C156C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37241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33DA99C6-DB15-6A6C-FC6B-7D0A5CC23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Quelques conseils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D9780551-EF55-9787-0E3C-C0C938F85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dirty="0"/>
              <a:t>Écrire des </a:t>
            </a:r>
            <a:r>
              <a:rPr lang="fr-FR" dirty="0">
                <a:solidFill>
                  <a:schemeClr val="accent4"/>
                </a:solidFill>
              </a:rPr>
              <a:t>tests indépendants</a:t>
            </a:r>
            <a:r>
              <a:rPr lang="fr-FR" dirty="0"/>
              <a:t>, de façon à éviter toute dépendance entre les tests. Par exemple, si un test dépend d'un autre test, cela peut entraîner des erreurs et une difficulté à comprendre le comportement des tests.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Écrire des </a:t>
            </a:r>
            <a:r>
              <a:rPr lang="fr-FR" dirty="0">
                <a:solidFill>
                  <a:schemeClr val="accent4"/>
                </a:solidFill>
              </a:rPr>
              <a:t>tests clairs et lisibles</a:t>
            </a:r>
            <a:r>
              <a:rPr lang="fr-FR" dirty="0"/>
              <a:t>. Utilisez des noms de méthodes et de variables significatifs pour faciliter la compréhension des tests. Évitez aussi de surcharger les tests avec des détails techniques inutiles.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Écrire des </a:t>
            </a:r>
            <a:r>
              <a:rPr lang="fr-FR" dirty="0">
                <a:solidFill>
                  <a:schemeClr val="accent4"/>
                </a:solidFill>
              </a:rPr>
              <a:t>tests complets</a:t>
            </a:r>
            <a:r>
              <a:rPr lang="fr-FR" dirty="0"/>
              <a:t> et efficaces : les tests doivent couvrir toutes les conditions possibles. Essayez d'imaginer tous les scénarios possibles et testez-les tous. Évitez également de tester des fonctionnalités non pertinentes.</a:t>
            </a:r>
          </a:p>
          <a:p>
            <a:pPr marL="514350" indent="-514350">
              <a:buFont typeface="+mj-lt"/>
              <a:buAutoNum type="arabicPeriod"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D49C1E8-0BA1-4EA9-8743-D13EA79890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300721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Exercices</a:t>
            </a:r>
          </a:p>
        </p:txBody>
      </p:sp>
      <p:pic>
        <p:nvPicPr>
          <p:cNvPr id="1030" name="Picture 6" descr="AI &amp; Big Data | IAV">
            <a:extLst>
              <a:ext uri="{FF2B5EF4-FFF2-40B4-BE49-F238E27FC236}">
                <a16:creationId xmlns:a16="http://schemas.microsoft.com/office/drawing/2014/main" id="{3709C831-3988-E91D-67DA-F5E87D122B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581" r="19581"/>
          <a:stretch/>
        </p:blipFill>
        <p:spPr bwMode="auto">
          <a:xfrm>
            <a:off x="3407229" y="942975"/>
            <a:ext cx="5377542" cy="497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E0CE59B-3233-350B-E86C-11A0FF33C3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9562781"/>
      </p:ext>
    </p:extLst>
  </p:cSld>
  <p:clrMapOvr>
    <a:masterClrMapping/>
  </p:clrMapOvr>
  <p:transition>
    <p:push dir="u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Exercice</a:t>
            </a:r>
            <a:r>
              <a:rPr lang="en-GB" dirty="0"/>
              <a:t> 44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400" dirty="0" err="1"/>
              <a:t>Ecrivez</a:t>
            </a:r>
            <a:r>
              <a:rPr lang="en-GB" sz="2400" dirty="0"/>
              <a:t> </a:t>
            </a:r>
            <a:r>
              <a:rPr lang="en-GB" sz="2400" dirty="0" err="1"/>
              <a:t>une</a:t>
            </a:r>
            <a:r>
              <a:rPr lang="en-GB" sz="2400" dirty="0"/>
              <a:t> </a:t>
            </a:r>
            <a:r>
              <a:rPr lang="en-GB" sz="2400" dirty="0" err="1"/>
              <a:t>classe</a:t>
            </a:r>
            <a:r>
              <a:rPr lang="en-GB" sz="2400" dirty="0"/>
              <a:t> </a:t>
            </a:r>
            <a:r>
              <a:rPr lang="en-GB" sz="2200" dirty="0" err="1">
                <a:solidFill>
                  <a:schemeClr val="accent4"/>
                </a:solidFill>
                <a:latin typeface="Consolas" charset="0"/>
                <a:ea typeface="Consolas" charset="0"/>
                <a:cs typeface="Consolas" charset="0"/>
              </a:rPr>
              <a:t>Tirelire</a:t>
            </a:r>
            <a:r>
              <a:rPr lang="en-GB" sz="2400" dirty="0"/>
              <a:t> et </a:t>
            </a:r>
            <a:r>
              <a:rPr lang="en-GB" sz="2400" dirty="0" err="1"/>
              <a:t>sa</a:t>
            </a:r>
            <a:r>
              <a:rPr lang="en-GB" sz="2400" dirty="0"/>
              <a:t> </a:t>
            </a:r>
            <a:r>
              <a:rPr lang="en-GB" sz="2400" dirty="0" err="1"/>
              <a:t>classe</a:t>
            </a:r>
            <a:r>
              <a:rPr lang="en-GB" sz="2400" dirty="0"/>
              <a:t> de test. </a:t>
            </a:r>
            <a:br>
              <a:rPr lang="en-GB" sz="2400" dirty="0"/>
            </a:br>
            <a:r>
              <a:rPr lang="en-GB" sz="2400" dirty="0" err="1"/>
              <a:t>Cette</a:t>
            </a:r>
            <a:r>
              <a:rPr lang="en-GB" sz="2400" dirty="0"/>
              <a:t> </a:t>
            </a:r>
            <a:r>
              <a:rPr lang="en-GB" sz="2400" dirty="0" err="1"/>
              <a:t>classe</a:t>
            </a:r>
            <a:r>
              <a:rPr lang="en-GB" sz="2400" dirty="0"/>
              <a:t> a deux </a:t>
            </a:r>
            <a:r>
              <a:rPr lang="en-GB" sz="2400" dirty="0" err="1"/>
              <a:t>méthodes</a:t>
            </a:r>
            <a:r>
              <a:rPr lang="en-GB" sz="2400" dirty="0"/>
              <a:t>, pour </a:t>
            </a:r>
            <a:r>
              <a:rPr lang="en-GB" sz="2400" dirty="0" err="1"/>
              <a:t>effectuer</a:t>
            </a:r>
            <a:r>
              <a:rPr lang="en-GB" sz="2400" dirty="0"/>
              <a:t> un </a:t>
            </a:r>
            <a:r>
              <a:rPr lang="en-GB" sz="2400" dirty="0" err="1"/>
              <a:t>dépôt</a:t>
            </a:r>
            <a:r>
              <a:rPr lang="en-GB" sz="2400" dirty="0"/>
              <a:t> et un </a:t>
            </a:r>
            <a:r>
              <a:rPr lang="en-GB" sz="2400" dirty="0" err="1"/>
              <a:t>retrait</a:t>
            </a:r>
            <a:r>
              <a:rPr lang="en-GB" sz="2400" dirty="0"/>
              <a:t>.</a:t>
            </a:r>
          </a:p>
          <a:p>
            <a:pPr marL="0" indent="0">
              <a:buNone/>
            </a:pPr>
            <a:r>
              <a:rPr lang="en-GB" sz="2400" dirty="0" err="1"/>
              <a:t>Ecrivez</a:t>
            </a:r>
            <a:r>
              <a:rPr lang="en-GB" sz="2400" dirty="0"/>
              <a:t> </a:t>
            </a:r>
          </a:p>
          <a:p>
            <a:r>
              <a:rPr lang="en-GB" sz="2400" dirty="0" err="1"/>
              <a:t>d’abord</a:t>
            </a:r>
            <a:r>
              <a:rPr lang="en-GB" sz="2400" dirty="0"/>
              <a:t> les </a:t>
            </a:r>
            <a:r>
              <a:rPr lang="en-GB" sz="2400" dirty="0" err="1"/>
              <a:t>squelettes</a:t>
            </a:r>
            <a:r>
              <a:rPr lang="en-GB" sz="2400" dirty="0"/>
              <a:t> de </a:t>
            </a:r>
            <a:r>
              <a:rPr lang="en-GB" sz="2400" dirty="0" err="1"/>
              <a:t>vos</a:t>
            </a:r>
            <a:r>
              <a:rPr lang="en-GB" sz="2400" dirty="0"/>
              <a:t> </a:t>
            </a:r>
            <a:r>
              <a:rPr lang="en-GB" sz="2400" dirty="0" err="1"/>
              <a:t>deux</a:t>
            </a:r>
            <a:r>
              <a:rPr lang="en-GB" sz="2400" dirty="0"/>
              <a:t> </a:t>
            </a:r>
            <a:r>
              <a:rPr lang="en-GB" sz="2400" dirty="0" err="1"/>
              <a:t>méthodes</a:t>
            </a:r>
            <a:r>
              <a:rPr lang="en-GB" sz="2400" dirty="0"/>
              <a:t>, </a:t>
            </a:r>
          </a:p>
          <a:p>
            <a:r>
              <a:rPr lang="en-GB" sz="2400" dirty="0" err="1"/>
              <a:t>puis</a:t>
            </a:r>
            <a:r>
              <a:rPr lang="en-GB" sz="2400" dirty="0"/>
              <a:t> </a:t>
            </a:r>
            <a:r>
              <a:rPr lang="en-GB" sz="2400" dirty="0" err="1"/>
              <a:t>chaque</a:t>
            </a:r>
            <a:r>
              <a:rPr lang="en-GB" sz="2400" dirty="0"/>
              <a:t> </a:t>
            </a:r>
            <a:r>
              <a:rPr lang="en-GB" sz="2400" dirty="0" err="1"/>
              <a:t>cas</a:t>
            </a:r>
            <a:r>
              <a:rPr lang="en-GB" sz="2400" dirty="0"/>
              <a:t> de test et la </a:t>
            </a:r>
            <a:r>
              <a:rPr lang="en-GB" sz="2400" dirty="0" err="1"/>
              <a:t>méthode</a:t>
            </a:r>
            <a:r>
              <a:rPr lang="en-GB" sz="2400" dirty="0"/>
              <a:t> </a:t>
            </a:r>
            <a:r>
              <a:rPr lang="en-GB" sz="2400" dirty="0" err="1"/>
              <a:t>correspondante</a:t>
            </a:r>
            <a:endParaRPr lang="en-GB" sz="2400" dirty="0"/>
          </a:p>
          <a:p>
            <a:endParaRPr lang="en-GB" sz="2400" dirty="0"/>
          </a:p>
          <a:p>
            <a:pPr marL="0" indent="0">
              <a:buNone/>
            </a:pPr>
            <a:r>
              <a:rPr lang="en-GB" sz="2400" dirty="0"/>
              <a:t>Les </a:t>
            </a:r>
            <a:r>
              <a:rPr lang="en-GB" sz="2400" dirty="0" err="1"/>
              <a:t>méthodes</a:t>
            </a:r>
            <a:r>
              <a:rPr lang="en-GB" sz="2400" dirty="0"/>
              <a:t> </a:t>
            </a:r>
            <a:r>
              <a:rPr lang="en-GB" sz="2400" dirty="0" err="1"/>
              <a:t>sont</a:t>
            </a:r>
            <a:r>
              <a:rPr lang="en-GB" sz="2400" dirty="0"/>
              <a:t>:</a:t>
            </a:r>
          </a:p>
          <a:p>
            <a:r>
              <a:rPr lang="en-GB" sz="22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depot(double)</a:t>
            </a:r>
            <a:r>
              <a:rPr lang="en-GB" sz="2400" dirty="0"/>
              <a:t> </a:t>
            </a:r>
            <a:r>
              <a:rPr lang="en-GB" sz="2400" dirty="0" err="1"/>
              <a:t>ajoute</a:t>
            </a:r>
            <a:r>
              <a:rPr lang="en-GB" sz="2400" dirty="0"/>
              <a:t> de </a:t>
            </a:r>
            <a:r>
              <a:rPr lang="en-GB" sz="2400" dirty="0" err="1"/>
              <a:t>l’argent</a:t>
            </a:r>
            <a:r>
              <a:rPr lang="en-GB" sz="2400" dirty="0"/>
              <a:t> dans </a:t>
            </a:r>
            <a:r>
              <a:rPr lang="en-GB" sz="2400" dirty="0" err="1"/>
              <a:t>votre</a:t>
            </a:r>
            <a:r>
              <a:rPr lang="en-GB" sz="2400" dirty="0"/>
              <a:t> </a:t>
            </a:r>
            <a:r>
              <a:rPr lang="en-GB" sz="2400" dirty="0" err="1"/>
              <a:t>tirelire</a:t>
            </a:r>
            <a:endParaRPr lang="en-GB" sz="2400" dirty="0"/>
          </a:p>
          <a:p>
            <a:r>
              <a:rPr lang="en-GB" sz="2200" dirty="0" err="1">
                <a:solidFill>
                  <a:schemeClr val="accent4"/>
                </a:solidFill>
                <a:latin typeface="Consolas" charset="0"/>
                <a:cs typeface="Consolas" charset="0"/>
              </a:rPr>
              <a:t>retrait</a:t>
            </a:r>
            <a:r>
              <a:rPr lang="en-GB" sz="22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(double)</a:t>
            </a:r>
            <a:r>
              <a:rPr lang="en-GB" sz="2400" dirty="0"/>
              <a:t> retire de </a:t>
            </a:r>
            <a:r>
              <a:rPr lang="en-GB" sz="2400" dirty="0" err="1"/>
              <a:t>l’argent</a:t>
            </a:r>
            <a:r>
              <a:rPr lang="en-GB" sz="2400" dirty="0"/>
              <a:t> de </a:t>
            </a:r>
            <a:r>
              <a:rPr lang="en-GB" sz="2400" dirty="0" err="1"/>
              <a:t>votre</a:t>
            </a:r>
            <a:r>
              <a:rPr lang="en-GB" sz="2400" dirty="0"/>
              <a:t> </a:t>
            </a:r>
            <a:r>
              <a:rPr lang="en-GB" sz="2400" dirty="0" err="1"/>
              <a:t>tirelire</a:t>
            </a:r>
            <a:r>
              <a:rPr lang="en-GB" sz="2400" dirty="0"/>
              <a:t>, </a:t>
            </a:r>
            <a:r>
              <a:rPr lang="en-GB" sz="2400" dirty="0" err="1"/>
              <a:t>sauf</a:t>
            </a:r>
            <a:r>
              <a:rPr lang="en-GB" sz="2400" dirty="0"/>
              <a:t> </a:t>
            </a:r>
            <a:r>
              <a:rPr lang="en-GB" sz="2400" dirty="0" err="1"/>
              <a:t>si</a:t>
            </a:r>
            <a:r>
              <a:rPr lang="en-GB" sz="2400" dirty="0"/>
              <a:t> le </a:t>
            </a:r>
            <a:r>
              <a:rPr lang="en-GB" sz="2400" dirty="0" err="1"/>
              <a:t>montant</a:t>
            </a:r>
            <a:r>
              <a:rPr lang="en-GB" sz="2400" dirty="0"/>
              <a:t> </a:t>
            </a:r>
            <a:r>
              <a:rPr lang="en-GB" sz="2400" dirty="0" err="1"/>
              <a:t>demandé</a:t>
            </a:r>
            <a:r>
              <a:rPr lang="en-GB" sz="2400" dirty="0"/>
              <a:t> </a:t>
            </a:r>
            <a:r>
              <a:rPr lang="en-GB" sz="2400" dirty="0" err="1"/>
              <a:t>est</a:t>
            </a:r>
            <a:r>
              <a:rPr lang="en-GB" sz="2400" dirty="0"/>
              <a:t> plus </a:t>
            </a:r>
            <a:r>
              <a:rPr lang="en-GB" sz="2400" dirty="0" err="1"/>
              <a:t>élevé</a:t>
            </a:r>
            <a:r>
              <a:rPr lang="en-GB" sz="2400" dirty="0"/>
              <a:t> que le </a:t>
            </a:r>
            <a:r>
              <a:rPr lang="en-GB" sz="2400" dirty="0" err="1"/>
              <a:t>contenu</a:t>
            </a:r>
            <a:r>
              <a:rPr lang="en-GB" sz="2400" dirty="0"/>
              <a:t> de </a:t>
            </a:r>
            <a:r>
              <a:rPr lang="en-GB" sz="2400" dirty="0" err="1"/>
              <a:t>votre</a:t>
            </a:r>
            <a:r>
              <a:rPr lang="en-GB" sz="2400" dirty="0"/>
              <a:t> </a:t>
            </a:r>
            <a:r>
              <a:rPr lang="en-GB" sz="2400" dirty="0" err="1"/>
              <a:t>tirelire</a:t>
            </a:r>
            <a:r>
              <a:rPr lang="en-GB" sz="2400" dirty="0"/>
              <a:t> (</a:t>
            </a:r>
            <a:r>
              <a:rPr lang="en-GB" sz="2400" dirty="0" err="1"/>
              <a:t>quand</a:t>
            </a:r>
            <a:r>
              <a:rPr lang="en-GB" sz="2400" dirty="0"/>
              <a:t> </a:t>
            </a:r>
            <a:r>
              <a:rPr lang="en-GB" sz="2400" dirty="0" err="1"/>
              <a:t>c’est</a:t>
            </a:r>
            <a:r>
              <a:rPr lang="en-GB" sz="2400" dirty="0"/>
              <a:t> le </a:t>
            </a:r>
            <a:r>
              <a:rPr lang="en-GB" sz="2400" dirty="0" err="1"/>
              <a:t>cas</a:t>
            </a:r>
            <a:r>
              <a:rPr lang="en-GB" sz="2400" dirty="0"/>
              <a:t> </a:t>
            </a:r>
            <a:r>
              <a:rPr lang="en-GB" sz="2400" dirty="0" err="1"/>
              <a:t>une</a:t>
            </a:r>
            <a:r>
              <a:rPr lang="en-GB" sz="2400" dirty="0"/>
              <a:t> exception ‘</a:t>
            </a:r>
            <a:r>
              <a:rPr lang="en-GB" sz="2200" dirty="0" err="1">
                <a:solidFill>
                  <a:schemeClr val="accent4"/>
                </a:solidFill>
                <a:latin typeface="Consolas" charset="0"/>
                <a:cs typeface="Consolas" charset="0"/>
              </a:rPr>
              <a:t>ContenuInsuffisant</a:t>
            </a:r>
            <a:r>
              <a:rPr lang="en-GB" sz="2400" dirty="0"/>
              <a:t>’ </a:t>
            </a:r>
            <a:r>
              <a:rPr lang="en-GB" sz="2400" dirty="0" err="1"/>
              <a:t>est</a:t>
            </a:r>
            <a:r>
              <a:rPr lang="en-GB" sz="2400" dirty="0"/>
              <a:t> levée).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6E9A28C-3FD7-4FBD-D7DF-1995B5DC4D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54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E80E64C-6AD0-2F8D-210E-59A6DC1AE7F2}"/>
              </a:ext>
            </a:extLst>
          </p:cNvPr>
          <p:cNvSpPr txBox="1"/>
          <p:nvPr/>
        </p:nvSpPr>
        <p:spPr>
          <a:xfrm>
            <a:off x="5257800" y="5992297"/>
            <a:ext cx="6096000" cy="369332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i="1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assertEquals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3.14159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dirty="0" err="1">
                <a:latin typeface="Consolas" panose="020B0609020204030204" pitchFamily="49" charset="0"/>
                <a:cs typeface="Consolas" panose="020B0609020204030204" pitchFamily="49" charset="0"/>
              </a:rPr>
              <a:t>myPi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0.001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5" name="Picture 2" descr="blog-nutrition-outlet">
            <a:extLst>
              <a:ext uri="{FF2B5EF4-FFF2-40B4-BE49-F238E27FC236}">
                <a16:creationId xmlns:a16="http://schemas.microsoft.com/office/drawing/2014/main" id="{5242D180-DAAD-C740-6EB5-D96E2FC51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70235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45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Vous avez normalement écrit une méthode qui construit une collection </a:t>
            </a:r>
            <a:r>
              <a:rPr lang="fr-FR" sz="2400" i="1" dirty="0" err="1"/>
              <a:t>triée</a:t>
            </a:r>
            <a:r>
              <a:rPr lang="fr-FR" sz="2400" i="1" dirty="0"/>
              <a:t> </a:t>
            </a:r>
            <a:r>
              <a:rPr lang="fr-FR" sz="2400" dirty="0"/>
              <a:t>contenant </a:t>
            </a:r>
            <a:r>
              <a:rPr lang="fr-FR" sz="22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n</a:t>
            </a:r>
            <a:r>
              <a:rPr lang="fr-FR" sz="2400" i="1" dirty="0"/>
              <a:t> </a:t>
            </a:r>
            <a:r>
              <a:rPr lang="fr-FR" sz="2400" dirty="0"/>
              <a:t>nombres entiers (</a:t>
            </a:r>
            <a:r>
              <a:rPr lang="fr-FR" sz="2200" dirty="0">
                <a:solidFill>
                  <a:schemeClr val="accent4"/>
                </a:solidFill>
                <a:latin typeface="Consolas" charset="0"/>
                <a:ea typeface="Consolas" charset="0"/>
                <a:cs typeface="Consolas" charset="0"/>
              </a:rPr>
              <a:t>Integer</a:t>
            </a:r>
            <a:r>
              <a:rPr lang="fr-FR" sz="2400" dirty="0"/>
              <a:t>) </a:t>
            </a:r>
            <a:r>
              <a:rPr lang="fr-FR" sz="2400" dirty="0" err="1"/>
              <a:t>tirés</a:t>
            </a:r>
            <a:r>
              <a:rPr lang="fr-FR" sz="2400" dirty="0"/>
              <a:t> au hasard entre 0 et 1000. </a:t>
            </a:r>
          </a:p>
          <a:p>
            <a:pPr marL="0" indent="0">
              <a:buNone/>
            </a:pPr>
            <a:r>
              <a:rPr lang="fr-FR" sz="2400" dirty="0"/>
              <a:t>Ecrivez un test unitaire qui vérifie que cette méthode fonctionne bien.</a:t>
            </a:r>
          </a:p>
          <a:p>
            <a:pPr marL="0" indent="0">
              <a:buNone/>
            </a:pPr>
            <a:endParaRPr lang="fr-FR" sz="2400" dirty="0"/>
          </a:p>
          <a:p>
            <a:pPr marL="0" indent="0" algn="just">
              <a:buNone/>
            </a:pPr>
            <a:r>
              <a:rPr lang="fr-FR" sz="2400" dirty="0"/>
              <a:t>Utilisez les trois étapes (</a:t>
            </a:r>
            <a:r>
              <a:rPr lang="en-GB" sz="2400" dirty="0"/>
              <a:t>organiser les </a:t>
            </a:r>
            <a:r>
              <a:rPr lang="en-GB" sz="2400" dirty="0" err="1"/>
              <a:t>données</a:t>
            </a:r>
            <a:r>
              <a:rPr lang="en-GB" sz="2400" dirty="0"/>
              <a:t>, </a:t>
            </a:r>
            <a:r>
              <a:rPr lang="en-GB" sz="2400" dirty="0" err="1"/>
              <a:t>exécuter</a:t>
            </a:r>
            <a:r>
              <a:rPr lang="en-GB" sz="2400" dirty="0"/>
              <a:t> </a:t>
            </a:r>
            <a:r>
              <a:rPr lang="en-GB" sz="2400" dirty="0" err="1"/>
              <a:t>l’action</a:t>
            </a:r>
            <a:r>
              <a:rPr lang="en-GB" sz="2400" dirty="0"/>
              <a:t> et </a:t>
            </a:r>
            <a:r>
              <a:rPr lang="en-GB" sz="2400" dirty="0" err="1"/>
              <a:t>récuperer</a:t>
            </a:r>
            <a:r>
              <a:rPr lang="en-GB" sz="2400" dirty="0"/>
              <a:t> le </a:t>
            </a:r>
            <a:r>
              <a:rPr lang="en-GB" sz="2400" dirty="0" err="1"/>
              <a:t>résultat</a:t>
            </a:r>
            <a:r>
              <a:rPr lang="en-GB" sz="2400" dirty="0"/>
              <a:t>, </a:t>
            </a:r>
            <a:r>
              <a:rPr lang="en-GB" sz="2400" dirty="0" err="1"/>
              <a:t>valider</a:t>
            </a:r>
            <a:r>
              <a:rPr lang="en-GB" sz="2400" dirty="0"/>
              <a:t>) pour structurer </a:t>
            </a:r>
            <a:r>
              <a:rPr lang="en-GB" sz="2400" dirty="0" err="1"/>
              <a:t>votre</a:t>
            </a:r>
            <a:r>
              <a:rPr lang="en-GB" sz="2400" dirty="0"/>
              <a:t> test.</a:t>
            </a:r>
            <a:endParaRPr lang="fr-FR" sz="2400" dirty="0"/>
          </a:p>
          <a:p>
            <a:pPr marL="0" indent="0">
              <a:buNone/>
            </a:pPr>
            <a:endParaRPr lang="fr-FR" sz="24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ECB7D60-9E73-128C-F932-E8511B9F8C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55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E0038F6-F505-46CB-D842-EA600E20479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01723" y="227193"/>
            <a:ext cx="2648560" cy="140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01179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Ephec2022">
  <a:themeElements>
    <a:clrScheme name="Personnalisé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EC000"/>
      </a:hlink>
      <a:folHlink>
        <a:srgbClr val="EC7C31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Ephec2022" id="{D8E32F0D-03A5-7849-8B4E-A5D57A69C990}" vid="{085AC1B4-7B56-B14E-B333-323D733F6681}"/>
    </a:ext>
  </a:extLst>
</a:theme>
</file>

<file path=ppt/theme/theme2.xml><?xml version="1.0" encoding="utf-8"?>
<a:theme xmlns:a="http://schemas.openxmlformats.org/drawingml/2006/main" name="Thème Office 2013 –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ThemeEphec2022</Template>
  <TotalTime>112784</TotalTime>
  <Words>4313</Words>
  <Application>Microsoft Macintosh PowerPoint</Application>
  <PresentationFormat>Grand écran</PresentationFormat>
  <Paragraphs>499</Paragraphs>
  <Slides>55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55</vt:i4>
      </vt:variant>
    </vt:vector>
  </HeadingPairs>
  <TitlesOfParts>
    <vt:vector size="62" baseType="lpstr">
      <vt:lpstr>Arial</vt:lpstr>
      <vt:lpstr>Calibri</vt:lpstr>
      <vt:lpstr>Calibri Light</vt:lpstr>
      <vt:lpstr>Consolas</vt:lpstr>
      <vt:lpstr>Corbel</vt:lpstr>
      <vt:lpstr>Monaco</vt:lpstr>
      <vt:lpstr>ThemeEphec2022</vt:lpstr>
      <vt:lpstr>JAVA 2</vt:lpstr>
      <vt:lpstr>Vu au dernier cours…</vt:lpstr>
      <vt:lpstr>Présentation PowerPoint</vt:lpstr>
      <vt:lpstr>Exercice 23 1/4</vt:lpstr>
      <vt:lpstr>Exercice 23 2/4</vt:lpstr>
      <vt:lpstr>Exercice 23 3/4</vt:lpstr>
      <vt:lpstr>Exercice 23 4/4</vt:lpstr>
      <vt:lpstr>Exercice 24</vt:lpstr>
      <vt:lpstr>Exercice 25 1/2</vt:lpstr>
      <vt:lpstr>Exercice 25 2/2</vt:lpstr>
      <vt:lpstr>Exercice 26</vt:lpstr>
      <vt:lpstr>Présentation PowerPoint</vt:lpstr>
      <vt:lpstr>Tests Unitaires</vt:lpstr>
      <vt:lpstr>Les Tests Logiciels</vt:lpstr>
      <vt:lpstr>Les Tests unitaires</vt:lpstr>
      <vt:lpstr>jUnit</vt:lpstr>
      <vt:lpstr>jUnit</vt:lpstr>
      <vt:lpstr>Tests Unitaires</vt:lpstr>
      <vt:lpstr>Votre première classe de test</vt:lpstr>
      <vt:lpstr>Votre première classe de test</vt:lpstr>
      <vt:lpstr>Votre première classe de test</vt:lpstr>
      <vt:lpstr>La classe de test</vt:lpstr>
      <vt:lpstr>Chaque test est une méthode</vt:lpstr>
      <vt:lpstr>Pour lancer les tests…</vt:lpstr>
      <vt:lpstr>Si un test échoue…</vt:lpstr>
      <vt:lpstr>Tests Unitaires</vt:lpstr>
      <vt:lpstr>La classe Assertions</vt:lpstr>
      <vt:lpstr>Les méthodes d’Assertions</vt:lpstr>
      <vt:lpstr>Message lors d’une erreur</vt:lpstr>
      <vt:lpstr>La méthode fail</vt:lpstr>
      <vt:lpstr>L’interface Executable</vt:lpstr>
      <vt:lpstr>Tester la levée d’une Exception</vt:lpstr>
      <vt:lpstr>Note sur les « varargs » (variable arguments)</vt:lpstr>
      <vt:lpstr>Tests Unitaires</vt:lpstr>
      <vt:lpstr>Les annotations, késako?</vt:lpstr>
      <vt:lpstr>Les annotations en JUnit</vt:lpstr>
      <vt:lpstr>Les annotations qui modifient  le comportement des tests. </vt:lpstr>
      <vt:lpstr>Tests Unitaires</vt:lpstr>
      <vt:lpstr>TDD: Test Driven Development</vt:lpstr>
      <vt:lpstr>Exemple complet: une calculatrice…</vt:lpstr>
      <vt:lpstr>Exemple complet: la classe de test</vt:lpstr>
      <vt:lpstr>Exemple complet: premier test</vt:lpstr>
      <vt:lpstr>Exemple complet: premier test</vt:lpstr>
      <vt:lpstr>Exemple complet: premier test</vt:lpstr>
      <vt:lpstr>Exemple complet: premier test</vt:lpstr>
      <vt:lpstr>Exemple complet: premier test</vt:lpstr>
      <vt:lpstr>Exemple complet: exécution du premier test</vt:lpstr>
      <vt:lpstr>Exemple complet: la méthode add…</vt:lpstr>
      <vt:lpstr>Exemple complet: exécution du premier test</vt:lpstr>
      <vt:lpstr>Exercice 43: écrivez les autres tests…</vt:lpstr>
      <vt:lpstr>Tests Unitaires</vt:lpstr>
      <vt:lpstr>Quelques conseils</vt:lpstr>
      <vt:lpstr>Exercices</vt:lpstr>
      <vt:lpstr>Exercice 44</vt:lpstr>
      <vt:lpstr>Exercice 45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2</dc:title>
  <dc:creator>FERRANT Frédéric</dc:creator>
  <cp:lastModifiedBy>FERRANT Frédéric</cp:lastModifiedBy>
  <cp:revision>51</cp:revision>
  <dcterms:created xsi:type="dcterms:W3CDTF">2023-01-04T13:50:20Z</dcterms:created>
  <dcterms:modified xsi:type="dcterms:W3CDTF">2026-03-10T17:06:55Z</dcterms:modified>
</cp:coreProperties>
</file>