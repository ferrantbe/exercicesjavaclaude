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76"/>
  </p:notesMasterIdLst>
  <p:sldIdLst>
    <p:sldId id="256" r:id="rId2"/>
    <p:sldId id="679" r:id="rId3"/>
    <p:sldId id="784" r:id="rId4"/>
    <p:sldId id="840" r:id="rId5"/>
    <p:sldId id="678" r:id="rId6"/>
    <p:sldId id="844" r:id="rId7"/>
    <p:sldId id="851" r:id="rId8"/>
    <p:sldId id="416" r:id="rId9"/>
    <p:sldId id="703" r:id="rId10"/>
    <p:sldId id="705" r:id="rId11"/>
    <p:sldId id="852" r:id="rId12"/>
    <p:sldId id="853" r:id="rId13"/>
    <p:sldId id="708" r:id="rId14"/>
    <p:sldId id="854" r:id="rId15"/>
    <p:sldId id="855" r:id="rId16"/>
    <p:sldId id="704" r:id="rId17"/>
    <p:sldId id="856" r:id="rId18"/>
    <p:sldId id="699" r:id="rId19"/>
    <p:sldId id="857" r:id="rId20"/>
    <p:sldId id="701" r:id="rId21"/>
    <p:sldId id="603" r:id="rId22"/>
    <p:sldId id="858" r:id="rId23"/>
    <p:sldId id="859" r:id="rId24"/>
    <p:sldId id="860" r:id="rId25"/>
    <p:sldId id="558" r:id="rId26"/>
    <p:sldId id="861" r:id="rId27"/>
    <p:sldId id="606" r:id="rId28"/>
    <p:sldId id="713" r:id="rId29"/>
    <p:sldId id="607" r:id="rId30"/>
    <p:sldId id="608" r:id="rId31"/>
    <p:sldId id="581" r:id="rId32"/>
    <p:sldId id="717" r:id="rId33"/>
    <p:sldId id="640" r:id="rId34"/>
    <p:sldId id="641" r:id="rId35"/>
    <p:sldId id="642" r:id="rId36"/>
    <p:sldId id="646" r:id="rId37"/>
    <p:sldId id="643" r:id="rId38"/>
    <p:sldId id="647" r:id="rId39"/>
    <p:sldId id="648" r:id="rId40"/>
    <p:sldId id="862" r:id="rId41"/>
    <p:sldId id="649" r:id="rId42"/>
    <p:sldId id="650" r:id="rId43"/>
    <p:sldId id="863" r:id="rId44"/>
    <p:sldId id="653" r:id="rId45"/>
    <p:sldId id="654" r:id="rId46"/>
    <p:sldId id="655" r:id="rId47"/>
    <p:sldId id="656" r:id="rId48"/>
    <p:sldId id="658" r:id="rId49"/>
    <p:sldId id="659" r:id="rId50"/>
    <p:sldId id="660" r:id="rId51"/>
    <p:sldId id="714" r:id="rId52"/>
    <p:sldId id="661" r:id="rId53"/>
    <p:sldId id="662" r:id="rId54"/>
    <p:sldId id="664" r:id="rId55"/>
    <p:sldId id="665" r:id="rId56"/>
    <p:sldId id="666" r:id="rId57"/>
    <p:sldId id="864" r:id="rId58"/>
    <p:sldId id="668" r:id="rId59"/>
    <p:sldId id="669" r:id="rId60"/>
    <p:sldId id="683" r:id="rId61"/>
    <p:sldId id="684" r:id="rId62"/>
    <p:sldId id="865" r:id="rId63"/>
    <p:sldId id="686" r:id="rId64"/>
    <p:sldId id="866" r:id="rId65"/>
    <p:sldId id="622" r:id="rId66"/>
    <p:sldId id="687" r:id="rId67"/>
    <p:sldId id="688" r:id="rId68"/>
    <p:sldId id="689" r:id="rId69"/>
    <p:sldId id="693" r:id="rId70"/>
    <p:sldId id="690" r:id="rId71"/>
    <p:sldId id="694" r:id="rId72"/>
    <p:sldId id="691" r:id="rId73"/>
    <p:sldId id="695" r:id="rId74"/>
    <p:sldId id="696" r:id="rId7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appels et Exercice" id="{9A02D4CA-36D1-0242-9570-74B9915D5B21}">
          <p14:sldIdLst>
            <p14:sldId id="256"/>
            <p14:sldId id="679"/>
          </p14:sldIdLst>
        </p14:section>
        <p14:section name="Exercices" id="{F42446ED-B239-4044-895F-045168339FFC}">
          <p14:sldIdLst>
            <p14:sldId id="784"/>
            <p14:sldId id="840"/>
            <p14:sldId id="678"/>
            <p14:sldId id="844"/>
          </p14:sldIdLst>
        </p14:section>
        <p14:section name="JavaFX - Calculatrice" id="{EDC635EF-1074-B345-BB59-2561197BD4F4}">
          <p14:sldIdLst>
            <p14:sldId id="851"/>
            <p14:sldId id="416"/>
            <p14:sldId id="703"/>
            <p14:sldId id="705"/>
            <p14:sldId id="852"/>
            <p14:sldId id="853"/>
            <p14:sldId id="708"/>
            <p14:sldId id="854"/>
            <p14:sldId id="855"/>
            <p14:sldId id="704"/>
            <p14:sldId id="856"/>
            <p14:sldId id="699"/>
            <p14:sldId id="857"/>
            <p14:sldId id="701"/>
            <p14:sldId id="603"/>
            <p14:sldId id="858"/>
            <p14:sldId id="859"/>
            <p14:sldId id="860"/>
            <p14:sldId id="558"/>
            <p14:sldId id="861"/>
            <p14:sldId id="606"/>
            <p14:sldId id="713"/>
            <p14:sldId id="607"/>
            <p14:sldId id="608"/>
            <p14:sldId id="581"/>
            <p14:sldId id="717"/>
            <p14:sldId id="640"/>
            <p14:sldId id="641"/>
            <p14:sldId id="642"/>
            <p14:sldId id="646"/>
            <p14:sldId id="643"/>
            <p14:sldId id="647"/>
            <p14:sldId id="648"/>
            <p14:sldId id="862"/>
            <p14:sldId id="649"/>
            <p14:sldId id="650"/>
            <p14:sldId id="863"/>
            <p14:sldId id="653"/>
            <p14:sldId id="654"/>
            <p14:sldId id="655"/>
            <p14:sldId id="656"/>
            <p14:sldId id="658"/>
            <p14:sldId id="659"/>
            <p14:sldId id="660"/>
            <p14:sldId id="714"/>
            <p14:sldId id="661"/>
            <p14:sldId id="662"/>
            <p14:sldId id="664"/>
            <p14:sldId id="665"/>
            <p14:sldId id="666"/>
            <p14:sldId id="864"/>
            <p14:sldId id="668"/>
            <p14:sldId id="669"/>
            <p14:sldId id="683"/>
            <p14:sldId id="684"/>
            <p14:sldId id="865"/>
            <p14:sldId id="686"/>
            <p14:sldId id="866"/>
            <p14:sldId id="622"/>
            <p14:sldId id="687"/>
            <p14:sldId id="688"/>
            <p14:sldId id="689"/>
            <p14:sldId id="693"/>
            <p14:sldId id="690"/>
            <p14:sldId id="694"/>
            <p14:sldId id="691"/>
            <p14:sldId id="695"/>
            <p14:sldId id="69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2533"/>
    <a:srgbClr val="2B2B2B"/>
    <a:srgbClr val="2C72B3"/>
    <a:srgbClr val="70AD47"/>
    <a:srgbClr val="B3AF82"/>
    <a:srgbClr val="0102EF"/>
    <a:srgbClr val="2C91AF"/>
    <a:srgbClr val="2968A2"/>
    <a:srgbClr val="286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13"/>
    <p:restoredTop sz="96327"/>
  </p:normalViewPr>
  <p:slideViewPr>
    <p:cSldViewPr snapToGrid="0">
      <p:cViewPr varScale="1">
        <p:scale>
          <a:sx n="128" d="100"/>
          <a:sy n="128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1AF8D5-7A00-6848-8E7D-701E61CBBC5C}" type="doc">
      <dgm:prSet loTypeId="urn:microsoft.com/office/officeart/2005/8/layout/hierarchy2" loCatId="" qsTypeId="urn:microsoft.com/office/officeart/2005/8/quickstyle/simple5" qsCatId="simple" csTypeId="urn:microsoft.com/office/officeart/2005/8/colors/accent0_1" csCatId="mainScheme" phldr="1"/>
      <dgm:spPr/>
      <dgm:t>
        <a:bodyPr/>
        <a:lstStyle/>
        <a:p>
          <a:endParaRPr lang="fr-FR"/>
        </a:p>
      </dgm:t>
    </dgm:pt>
    <dgm:pt modelId="{8FBD10E3-78AD-0B4D-955E-DECAA3DDD4E7}">
      <dgm:prSet phldrT="[Texte]" custT="1"/>
      <dgm:spPr/>
      <dgm:t>
        <a:bodyPr/>
        <a:lstStyle/>
        <a:p>
          <a:r>
            <a:rPr lang="fr-FR" sz="1400" b="1" dirty="0"/>
            <a:t>On récupère le texte du </a:t>
          </a:r>
          <a:r>
            <a:rPr lang="fr-FR" sz="1400" b="1" dirty="0" err="1"/>
            <a:t>Button</a:t>
          </a:r>
          <a:r>
            <a:rPr lang="fr-FR" sz="1400" b="1" dirty="0"/>
            <a:t>:</a:t>
          </a:r>
        </a:p>
        <a:p>
          <a:r>
            <a:rPr lang="fr-BE" sz="1400" b="1" dirty="0"/>
            <a:t>String val = ((</a:t>
          </a:r>
          <a:r>
            <a:rPr lang="fr-BE" sz="1400" b="1" dirty="0" err="1"/>
            <a:t>Button</a:t>
          </a:r>
          <a:r>
            <a:rPr lang="fr-BE" sz="1400" b="1" dirty="0"/>
            <a:t>) </a:t>
          </a:r>
          <a:r>
            <a:rPr lang="fr-BE" sz="1400" b="1" dirty="0" err="1"/>
            <a:t>event.getSource</a:t>
          </a:r>
          <a:r>
            <a:rPr lang="fr-BE" sz="1400" b="1" dirty="0"/>
            <a:t>()).</a:t>
          </a:r>
          <a:r>
            <a:rPr lang="fr-BE" sz="1400" b="1" dirty="0" err="1"/>
            <a:t>getText</a:t>
          </a:r>
          <a:r>
            <a:rPr lang="fr-BE" sz="1400" b="1" dirty="0"/>
            <a:t>()</a:t>
          </a:r>
          <a:endParaRPr lang="fr-FR" sz="1400" b="1" dirty="0"/>
        </a:p>
      </dgm:t>
    </dgm:pt>
    <dgm:pt modelId="{F4A1F00D-066E-AC42-A46F-373C82886BF2}" type="parTrans" cxnId="{48C7A6EA-46FC-C74B-BB08-B646CFC1B869}">
      <dgm:prSet/>
      <dgm:spPr/>
      <dgm:t>
        <a:bodyPr/>
        <a:lstStyle/>
        <a:p>
          <a:endParaRPr lang="fr-FR" b="1"/>
        </a:p>
      </dgm:t>
    </dgm:pt>
    <dgm:pt modelId="{5D8FBA91-F10D-AF40-9312-D2CD523E980D}" type="sibTrans" cxnId="{48C7A6EA-46FC-C74B-BB08-B646CFC1B869}">
      <dgm:prSet/>
      <dgm:spPr/>
      <dgm:t>
        <a:bodyPr/>
        <a:lstStyle/>
        <a:p>
          <a:endParaRPr lang="fr-FR" b="1"/>
        </a:p>
      </dgm:t>
    </dgm:pt>
    <dgm:pt modelId="{1D577CD9-0CD9-464D-85F2-E1456810747F}">
      <dgm:prSet phldrT="[Texte]" custT="1"/>
      <dgm:spPr/>
      <dgm:t>
        <a:bodyPr/>
        <a:lstStyle/>
        <a:p>
          <a:r>
            <a:rPr lang="fr-FR" sz="1400" b="1" dirty="0"/>
            <a:t>le symbole est =</a:t>
          </a:r>
        </a:p>
      </dgm:t>
    </dgm:pt>
    <dgm:pt modelId="{A6AA9D27-5B0A-164D-9AE2-87D8300D02D3}" type="parTrans" cxnId="{C8079F87-D070-3E4F-99BB-53121E99538E}">
      <dgm:prSet/>
      <dgm:spPr/>
      <dgm:t>
        <a:bodyPr/>
        <a:lstStyle/>
        <a:p>
          <a:endParaRPr lang="fr-FR" b="1"/>
        </a:p>
      </dgm:t>
    </dgm:pt>
    <dgm:pt modelId="{600A9387-ED6E-D642-A0E1-E9820CFFC671}" type="sibTrans" cxnId="{C8079F87-D070-3E4F-99BB-53121E99538E}">
      <dgm:prSet/>
      <dgm:spPr/>
      <dgm:t>
        <a:bodyPr/>
        <a:lstStyle/>
        <a:p>
          <a:endParaRPr lang="fr-FR" b="1"/>
        </a:p>
      </dgm:t>
    </dgm:pt>
    <dgm:pt modelId="{7D58CBA6-C333-174D-95F5-3AEBE3F255F0}">
      <dgm:prSet phldrT="[Texte]" custT="1"/>
      <dgm:spPr/>
      <dgm:t>
        <a:bodyPr/>
        <a:lstStyle/>
        <a:p>
          <a:r>
            <a:rPr lang="fr-FR" sz="1400" b="1" dirty="0"/>
            <a:t>S’il n’y a pas d’</a:t>
          </a:r>
          <a:r>
            <a:rPr lang="fr-FR" sz="1400" b="1" dirty="0" err="1"/>
            <a:t>operator</a:t>
          </a:r>
          <a:r>
            <a:rPr lang="fr-FR" sz="1400" b="1" dirty="0"/>
            <a:t> enregistré: on ne fait rien.</a:t>
          </a:r>
        </a:p>
      </dgm:t>
    </dgm:pt>
    <dgm:pt modelId="{1A727C2C-C615-694F-93FC-91419AE8064D}" type="parTrans" cxnId="{20A48CBC-6E63-BE4F-8CB5-E5F4D9467C8F}">
      <dgm:prSet/>
      <dgm:spPr/>
      <dgm:t>
        <a:bodyPr/>
        <a:lstStyle/>
        <a:p>
          <a:endParaRPr lang="fr-FR" b="1"/>
        </a:p>
      </dgm:t>
    </dgm:pt>
    <dgm:pt modelId="{F38F22EC-8194-3E48-825C-0F5FA6596804}" type="sibTrans" cxnId="{20A48CBC-6E63-BE4F-8CB5-E5F4D9467C8F}">
      <dgm:prSet/>
      <dgm:spPr/>
      <dgm:t>
        <a:bodyPr/>
        <a:lstStyle/>
        <a:p>
          <a:endParaRPr lang="fr-FR" b="1"/>
        </a:p>
      </dgm:t>
    </dgm:pt>
    <dgm:pt modelId="{75B3B5A6-22ED-1A47-B316-0E67B7B166FD}">
      <dgm:prSet phldrT="[Texte]" custT="1"/>
      <dgm:spPr/>
      <dgm:t>
        <a:bodyPr/>
        <a:lstStyle/>
        <a:p>
          <a:pPr algn="ctr">
            <a:buNone/>
          </a:pPr>
          <a:r>
            <a:rPr lang="fr-FR" sz="1400" b="1" dirty="0"/>
            <a:t>Sinon, </a:t>
          </a:r>
        </a:p>
        <a:p>
          <a:pPr algn="ctr">
            <a:buFont typeface="+mj-lt"/>
            <a:buNone/>
          </a:pPr>
          <a:r>
            <a:rPr lang="fr-FR" sz="1400" b="1" dirty="0"/>
            <a:t>- on calcule le résultat, </a:t>
          </a:r>
        </a:p>
        <a:p>
          <a:pPr algn="ctr">
            <a:buFont typeface="+mj-lt"/>
            <a:buNone/>
          </a:pPr>
          <a:r>
            <a:rPr lang="fr-FR" sz="1400" b="1" dirty="0"/>
            <a:t>- on adapte le </a:t>
          </a:r>
          <a:r>
            <a:rPr lang="fr-FR" sz="1400" b="1" dirty="0" err="1"/>
            <a:t>Text</a:t>
          </a:r>
          <a:r>
            <a:rPr lang="fr-FR" sz="1400" b="1" dirty="0"/>
            <a:t>, </a:t>
          </a:r>
        </a:p>
        <a:p>
          <a:pPr algn="ctr">
            <a:buFont typeface="+mj-lt"/>
            <a:buNone/>
          </a:pPr>
          <a:r>
            <a:rPr lang="fr-FR" sz="1400" b="1" dirty="0"/>
            <a:t>- on remet l’</a:t>
          </a:r>
          <a:r>
            <a:rPr lang="fr-FR" sz="1400" b="1" dirty="0" err="1"/>
            <a:t>operator</a:t>
          </a:r>
          <a:r>
            <a:rPr lang="fr-FR" sz="1400" b="1" dirty="0"/>
            <a:t> à ""</a:t>
          </a:r>
        </a:p>
        <a:p>
          <a:pPr algn="ctr">
            <a:buFont typeface="+mj-lt"/>
            <a:buNone/>
          </a:pPr>
          <a:r>
            <a:rPr lang="fr-FR" sz="1400" b="1" dirty="0"/>
            <a:t>- et on enregistre le </a:t>
          </a:r>
          <a:r>
            <a:rPr lang="fr-FR" sz="1400" b="1" dirty="0" err="1"/>
            <a:t>booleen</a:t>
          </a:r>
          <a:r>
            <a:rPr lang="fr-FR" sz="1400" b="1" dirty="0"/>
            <a:t> </a:t>
          </a:r>
          <a:r>
            <a:rPr lang="fr-FR" sz="1400" b="1" dirty="0" err="1"/>
            <a:t>newOperation</a:t>
          </a:r>
          <a:endParaRPr lang="fr-FR" sz="1400" b="1" dirty="0"/>
        </a:p>
      </dgm:t>
    </dgm:pt>
    <dgm:pt modelId="{51D3489F-B8DB-0947-A3C3-BC7B465BDC62}" type="parTrans" cxnId="{2A5EDB30-C41B-5C4B-A29A-7479E8472A1B}">
      <dgm:prSet/>
      <dgm:spPr/>
      <dgm:t>
        <a:bodyPr/>
        <a:lstStyle/>
        <a:p>
          <a:endParaRPr lang="fr-FR" b="1"/>
        </a:p>
      </dgm:t>
    </dgm:pt>
    <dgm:pt modelId="{8DD7328A-B44E-9747-8195-41392C283F2A}" type="sibTrans" cxnId="{2A5EDB30-C41B-5C4B-A29A-7479E8472A1B}">
      <dgm:prSet/>
      <dgm:spPr/>
      <dgm:t>
        <a:bodyPr/>
        <a:lstStyle/>
        <a:p>
          <a:endParaRPr lang="fr-FR" b="1"/>
        </a:p>
      </dgm:t>
    </dgm:pt>
    <dgm:pt modelId="{8F355DF1-7F01-A54E-B224-C6FBE71EB051}">
      <dgm:prSet phldrT="[Texte]" custT="1"/>
      <dgm:spPr/>
      <dgm:t>
        <a:bodyPr/>
        <a:lstStyle/>
        <a:p>
          <a:r>
            <a:rPr lang="fr-FR" sz="1400" b="1" dirty="0"/>
            <a:t>Sinon</a:t>
          </a:r>
        </a:p>
      </dgm:t>
    </dgm:pt>
    <dgm:pt modelId="{4FBC1CE3-57F1-DB42-BDD1-DB769C521E6A}" type="parTrans" cxnId="{BC377DFC-7E4F-4243-8F7B-80F78641CF6A}">
      <dgm:prSet/>
      <dgm:spPr/>
      <dgm:t>
        <a:bodyPr/>
        <a:lstStyle/>
        <a:p>
          <a:endParaRPr lang="fr-FR" b="1"/>
        </a:p>
      </dgm:t>
    </dgm:pt>
    <dgm:pt modelId="{F1709DF4-3901-9F4C-B9EE-9F5EE2EFEACF}" type="sibTrans" cxnId="{BC377DFC-7E4F-4243-8F7B-80F78641CF6A}">
      <dgm:prSet/>
      <dgm:spPr/>
      <dgm:t>
        <a:bodyPr/>
        <a:lstStyle/>
        <a:p>
          <a:endParaRPr lang="fr-FR" b="1"/>
        </a:p>
      </dgm:t>
    </dgm:pt>
    <dgm:pt modelId="{F6912376-88B0-D646-99C3-56E58625BCE7}">
      <dgm:prSet phldrT="[Texte]" custT="1"/>
      <dgm:spPr/>
      <dgm:t>
        <a:bodyPr/>
        <a:lstStyle/>
        <a:p>
          <a:r>
            <a:rPr lang="fr-FR" sz="1400" b="1" dirty="0"/>
            <a:t>Si </a:t>
          </a:r>
          <a:r>
            <a:rPr lang="fr-FR" sz="1400" b="1" dirty="0" err="1"/>
            <a:t>operator</a:t>
          </a:r>
          <a:r>
            <a:rPr lang="fr-FR" sz="1400" b="1" dirty="0"/>
            <a:t> est vide,</a:t>
          </a:r>
        </a:p>
        <a:p>
          <a:r>
            <a:rPr lang="fr-FR" sz="1400" b="1" dirty="0"/>
            <a:t>- </a:t>
          </a:r>
          <a:r>
            <a:rPr lang="fr-FR" sz="1400" b="1" dirty="0" err="1"/>
            <a:t>operator</a:t>
          </a:r>
          <a:r>
            <a:rPr lang="fr-FR" sz="1400" b="1" dirty="0"/>
            <a:t> = val</a:t>
          </a:r>
        </a:p>
        <a:p>
          <a:r>
            <a:rPr lang="fr-FR" sz="1400" b="1" dirty="0"/>
            <a:t>- number1 = la valeur du nombre dans le </a:t>
          </a:r>
          <a:r>
            <a:rPr lang="fr-FR" sz="1400" b="1" dirty="0" err="1"/>
            <a:t>Text</a:t>
          </a:r>
          <a:endParaRPr lang="fr-FR" sz="1400" b="1" dirty="0"/>
        </a:p>
        <a:p>
          <a:r>
            <a:rPr lang="fr-FR" sz="1400" b="1" dirty="0"/>
            <a:t>- on vide </a:t>
          </a:r>
          <a:r>
            <a:rPr lang="fr-FR" sz="1400" b="1" dirty="0" err="1"/>
            <a:t>Text</a:t>
          </a:r>
          <a:endParaRPr lang="fr-FR" sz="1400" b="1" dirty="0"/>
        </a:p>
      </dgm:t>
    </dgm:pt>
    <dgm:pt modelId="{1E118BCF-0CA9-564E-B730-B14FED3CFD2D}" type="parTrans" cxnId="{0BC13B11-B340-5647-9FF3-C00D0E6D4755}">
      <dgm:prSet/>
      <dgm:spPr/>
      <dgm:t>
        <a:bodyPr/>
        <a:lstStyle/>
        <a:p>
          <a:endParaRPr lang="fr-FR"/>
        </a:p>
      </dgm:t>
    </dgm:pt>
    <dgm:pt modelId="{8730FA87-D8A9-554E-A90C-241FAE7AB506}" type="sibTrans" cxnId="{0BC13B11-B340-5647-9FF3-C00D0E6D4755}">
      <dgm:prSet/>
      <dgm:spPr/>
      <dgm:t>
        <a:bodyPr/>
        <a:lstStyle/>
        <a:p>
          <a:endParaRPr lang="fr-FR"/>
        </a:p>
      </dgm:t>
    </dgm:pt>
    <dgm:pt modelId="{EEBBD682-06BC-EF4F-AC5C-75A455994410}">
      <dgm:prSet phldrT="[Texte]" custT="1"/>
      <dgm:spPr/>
      <dgm:t>
        <a:bodyPr/>
        <a:lstStyle/>
        <a:p>
          <a:r>
            <a:rPr lang="fr-FR" sz="1400" b="1"/>
            <a:t>Sinon on ne fait rien</a:t>
          </a:r>
          <a:endParaRPr lang="fr-FR" sz="1400" b="1" dirty="0"/>
        </a:p>
      </dgm:t>
    </dgm:pt>
    <dgm:pt modelId="{C0D90745-E120-3549-96BC-1600939E72C4}" type="parTrans" cxnId="{3A3FD0F7-5ACE-DD48-A70A-32BF1959DCBA}">
      <dgm:prSet/>
      <dgm:spPr/>
      <dgm:t>
        <a:bodyPr/>
        <a:lstStyle/>
        <a:p>
          <a:endParaRPr lang="fr-FR"/>
        </a:p>
      </dgm:t>
    </dgm:pt>
    <dgm:pt modelId="{9A1B031C-B2D6-1F41-ACA4-D274C0B38C50}" type="sibTrans" cxnId="{3A3FD0F7-5ACE-DD48-A70A-32BF1959DCBA}">
      <dgm:prSet/>
      <dgm:spPr/>
      <dgm:t>
        <a:bodyPr/>
        <a:lstStyle/>
        <a:p>
          <a:endParaRPr lang="fr-FR"/>
        </a:p>
      </dgm:t>
    </dgm:pt>
    <dgm:pt modelId="{20B50C4C-5191-8341-A95F-B747647DF5A2}" type="pres">
      <dgm:prSet presAssocID="{4B1AF8D5-7A00-6848-8E7D-701E61CBBC5C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19944BA-86AB-724C-8D39-51C66EBCA9F9}" type="pres">
      <dgm:prSet presAssocID="{8FBD10E3-78AD-0B4D-955E-DECAA3DDD4E7}" presName="root1" presStyleCnt="0"/>
      <dgm:spPr/>
    </dgm:pt>
    <dgm:pt modelId="{9BF78147-4004-C344-B9F7-AF386F423CA5}" type="pres">
      <dgm:prSet presAssocID="{8FBD10E3-78AD-0B4D-955E-DECAA3DDD4E7}" presName="LevelOneTextNode" presStyleLbl="node0" presStyleIdx="0" presStyleCnt="1" custScaleX="180645" custScaleY="158580">
        <dgm:presLayoutVars>
          <dgm:chPref val="3"/>
        </dgm:presLayoutVars>
      </dgm:prSet>
      <dgm:spPr/>
    </dgm:pt>
    <dgm:pt modelId="{7B0BC94D-405F-984F-BD55-DE6FBEACE74D}" type="pres">
      <dgm:prSet presAssocID="{8FBD10E3-78AD-0B4D-955E-DECAA3DDD4E7}" presName="level2hierChild" presStyleCnt="0"/>
      <dgm:spPr/>
    </dgm:pt>
    <dgm:pt modelId="{4FB803BF-AC51-5C47-9BF9-ECC4D54F8A1F}" type="pres">
      <dgm:prSet presAssocID="{A6AA9D27-5B0A-164D-9AE2-87D8300D02D3}" presName="conn2-1" presStyleLbl="parChTrans1D2" presStyleIdx="0" presStyleCnt="2"/>
      <dgm:spPr/>
    </dgm:pt>
    <dgm:pt modelId="{C6B20A8E-77A5-3343-A70B-007A299E22BF}" type="pres">
      <dgm:prSet presAssocID="{A6AA9D27-5B0A-164D-9AE2-87D8300D02D3}" presName="connTx" presStyleLbl="parChTrans1D2" presStyleIdx="0" presStyleCnt="2"/>
      <dgm:spPr/>
    </dgm:pt>
    <dgm:pt modelId="{F0FFD343-9E8B-6D44-8238-C728BF472BC7}" type="pres">
      <dgm:prSet presAssocID="{1D577CD9-0CD9-464D-85F2-E1456810747F}" presName="root2" presStyleCnt="0"/>
      <dgm:spPr/>
    </dgm:pt>
    <dgm:pt modelId="{04CBBA4C-BBC8-7542-9346-68B03FE95BC7}" type="pres">
      <dgm:prSet presAssocID="{1D577CD9-0CD9-464D-85F2-E1456810747F}" presName="LevelTwoTextNode" presStyleLbl="node2" presStyleIdx="0" presStyleCnt="2" custScaleX="105550" custScaleY="65455">
        <dgm:presLayoutVars>
          <dgm:chPref val="3"/>
        </dgm:presLayoutVars>
      </dgm:prSet>
      <dgm:spPr/>
    </dgm:pt>
    <dgm:pt modelId="{4F622305-7B67-D049-8420-4832F0C9FC6E}" type="pres">
      <dgm:prSet presAssocID="{1D577CD9-0CD9-464D-85F2-E1456810747F}" presName="level3hierChild" presStyleCnt="0"/>
      <dgm:spPr/>
    </dgm:pt>
    <dgm:pt modelId="{89618C79-0175-5A40-B1AB-718D12569BB6}" type="pres">
      <dgm:prSet presAssocID="{1A727C2C-C615-694F-93FC-91419AE8064D}" presName="conn2-1" presStyleLbl="parChTrans1D3" presStyleIdx="0" presStyleCnt="4"/>
      <dgm:spPr/>
    </dgm:pt>
    <dgm:pt modelId="{B971A310-F97E-B94F-B85D-04C56F2E532A}" type="pres">
      <dgm:prSet presAssocID="{1A727C2C-C615-694F-93FC-91419AE8064D}" presName="connTx" presStyleLbl="parChTrans1D3" presStyleIdx="0" presStyleCnt="4"/>
      <dgm:spPr/>
    </dgm:pt>
    <dgm:pt modelId="{784D0E69-801E-AA4F-9438-D53C6301E96B}" type="pres">
      <dgm:prSet presAssocID="{7D58CBA6-C333-174D-95F5-3AEBE3F255F0}" presName="root2" presStyleCnt="0"/>
      <dgm:spPr/>
    </dgm:pt>
    <dgm:pt modelId="{204ADB45-D3FE-B24F-A832-4489705CFB2C}" type="pres">
      <dgm:prSet presAssocID="{7D58CBA6-C333-174D-95F5-3AEBE3F255F0}" presName="LevelTwoTextNode" presStyleLbl="node3" presStyleIdx="0" presStyleCnt="4" custScaleX="237489" custScaleY="56693">
        <dgm:presLayoutVars>
          <dgm:chPref val="3"/>
        </dgm:presLayoutVars>
      </dgm:prSet>
      <dgm:spPr/>
    </dgm:pt>
    <dgm:pt modelId="{CA46587F-A1D6-AD47-98F1-DA6F78F93167}" type="pres">
      <dgm:prSet presAssocID="{7D58CBA6-C333-174D-95F5-3AEBE3F255F0}" presName="level3hierChild" presStyleCnt="0"/>
      <dgm:spPr/>
    </dgm:pt>
    <dgm:pt modelId="{33F4CD1B-3FA0-2545-8AD4-431A4B0481BD}" type="pres">
      <dgm:prSet presAssocID="{51D3489F-B8DB-0947-A3C3-BC7B465BDC62}" presName="conn2-1" presStyleLbl="parChTrans1D3" presStyleIdx="1" presStyleCnt="4"/>
      <dgm:spPr/>
    </dgm:pt>
    <dgm:pt modelId="{05B91487-1DE1-3F4B-A1AE-F578D365D3D7}" type="pres">
      <dgm:prSet presAssocID="{51D3489F-B8DB-0947-A3C3-BC7B465BDC62}" presName="connTx" presStyleLbl="parChTrans1D3" presStyleIdx="1" presStyleCnt="4"/>
      <dgm:spPr/>
    </dgm:pt>
    <dgm:pt modelId="{6A6802D3-46E6-5A4A-9F41-D3D51E39E728}" type="pres">
      <dgm:prSet presAssocID="{75B3B5A6-22ED-1A47-B316-0E67B7B166FD}" presName="root2" presStyleCnt="0"/>
      <dgm:spPr/>
    </dgm:pt>
    <dgm:pt modelId="{E949BEC7-0671-0D41-84F6-F3420C5B9C55}" type="pres">
      <dgm:prSet presAssocID="{75B3B5A6-22ED-1A47-B316-0E67B7B166FD}" presName="LevelTwoTextNode" presStyleLbl="node3" presStyleIdx="1" presStyleCnt="4" custScaleX="237489" custScaleY="212451">
        <dgm:presLayoutVars>
          <dgm:chPref val="3"/>
        </dgm:presLayoutVars>
      </dgm:prSet>
      <dgm:spPr/>
    </dgm:pt>
    <dgm:pt modelId="{31705C09-AAD2-174B-AEA1-78081FC12053}" type="pres">
      <dgm:prSet presAssocID="{75B3B5A6-22ED-1A47-B316-0E67B7B166FD}" presName="level3hierChild" presStyleCnt="0"/>
      <dgm:spPr/>
    </dgm:pt>
    <dgm:pt modelId="{F2850FAB-FAF8-3146-9A5B-10E453C49444}" type="pres">
      <dgm:prSet presAssocID="{4FBC1CE3-57F1-DB42-BDD1-DB769C521E6A}" presName="conn2-1" presStyleLbl="parChTrans1D2" presStyleIdx="1" presStyleCnt="2"/>
      <dgm:spPr/>
    </dgm:pt>
    <dgm:pt modelId="{CADB1F2C-5BE9-D643-BD07-1896805A9F8F}" type="pres">
      <dgm:prSet presAssocID="{4FBC1CE3-57F1-DB42-BDD1-DB769C521E6A}" presName="connTx" presStyleLbl="parChTrans1D2" presStyleIdx="1" presStyleCnt="2"/>
      <dgm:spPr/>
    </dgm:pt>
    <dgm:pt modelId="{8405083F-DC2A-524C-B5E6-A49625AEF603}" type="pres">
      <dgm:prSet presAssocID="{8F355DF1-7F01-A54E-B224-C6FBE71EB051}" presName="root2" presStyleCnt="0"/>
      <dgm:spPr/>
    </dgm:pt>
    <dgm:pt modelId="{B3E38314-EBEB-A140-928C-8095862C4265}" type="pres">
      <dgm:prSet presAssocID="{8F355DF1-7F01-A54E-B224-C6FBE71EB051}" presName="LevelTwoTextNode" presStyleLbl="node2" presStyleIdx="1" presStyleCnt="2" custScaleX="105550" custScaleY="65455">
        <dgm:presLayoutVars>
          <dgm:chPref val="3"/>
        </dgm:presLayoutVars>
      </dgm:prSet>
      <dgm:spPr/>
    </dgm:pt>
    <dgm:pt modelId="{6F94E028-96DC-5D48-A91C-85AAB799B54C}" type="pres">
      <dgm:prSet presAssocID="{8F355DF1-7F01-A54E-B224-C6FBE71EB051}" presName="level3hierChild" presStyleCnt="0"/>
      <dgm:spPr/>
    </dgm:pt>
    <dgm:pt modelId="{5E3FAC50-FA4B-6448-9FEE-112CF455615F}" type="pres">
      <dgm:prSet presAssocID="{1E118BCF-0CA9-564E-B730-B14FED3CFD2D}" presName="conn2-1" presStyleLbl="parChTrans1D3" presStyleIdx="2" presStyleCnt="4"/>
      <dgm:spPr/>
    </dgm:pt>
    <dgm:pt modelId="{71BD5D50-9A95-D740-A977-C5EFBE1E8939}" type="pres">
      <dgm:prSet presAssocID="{1E118BCF-0CA9-564E-B730-B14FED3CFD2D}" presName="connTx" presStyleLbl="parChTrans1D3" presStyleIdx="2" presStyleCnt="4"/>
      <dgm:spPr/>
    </dgm:pt>
    <dgm:pt modelId="{C64150AB-8BDA-E348-A7DF-7DA634368C31}" type="pres">
      <dgm:prSet presAssocID="{F6912376-88B0-D646-99C3-56E58625BCE7}" presName="root2" presStyleCnt="0"/>
      <dgm:spPr/>
    </dgm:pt>
    <dgm:pt modelId="{90BB4B01-D8AF-A945-AB84-74A73CFD18DE}" type="pres">
      <dgm:prSet presAssocID="{F6912376-88B0-D646-99C3-56E58625BCE7}" presName="LevelTwoTextNode" presStyleLbl="node3" presStyleIdx="2" presStyleCnt="4" custScaleX="234874" custScaleY="193920">
        <dgm:presLayoutVars>
          <dgm:chPref val="3"/>
        </dgm:presLayoutVars>
      </dgm:prSet>
      <dgm:spPr/>
    </dgm:pt>
    <dgm:pt modelId="{D6EC45CF-9B1F-924D-AA13-4B22F54BDA7A}" type="pres">
      <dgm:prSet presAssocID="{F6912376-88B0-D646-99C3-56E58625BCE7}" presName="level3hierChild" presStyleCnt="0"/>
      <dgm:spPr/>
    </dgm:pt>
    <dgm:pt modelId="{CDFE44B1-1DB8-9D44-9333-1F1F02E494E7}" type="pres">
      <dgm:prSet presAssocID="{C0D90745-E120-3549-96BC-1600939E72C4}" presName="conn2-1" presStyleLbl="parChTrans1D3" presStyleIdx="3" presStyleCnt="4"/>
      <dgm:spPr/>
    </dgm:pt>
    <dgm:pt modelId="{4D246554-26D9-A54A-9B31-95951CBDDF23}" type="pres">
      <dgm:prSet presAssocID="{C0D90745-E120-3549-96BC-1600939E72C4}" presName="connTx" presStyleLbl="parChTrans1D3" presStyleIdx="3" presStyleCnt="4"/>
      <dgm:spPr/>
    </dgm:pt>
    <dgm:pt modelId="{7FBDA7F4-E977-1C4D-9172-82FB1D219F8C}" type="pres">
      <dgm:prSet presAssocID="{EEBBD682-06BC-EF4F-AC5C-75A455994410}" presName="root2" presStyleCnt="0"/>
      <dgm:spPr/>
    </dgm:pt>
    <dgm:pt modelId="{32080277-E2A9-9346-91F0-1826A18E3839}" type="pres">
      <dgm:prSet presAssocID="{EEBBD682-06BC-EF4F-AC5C-75A455994410}" presName="LevelTwoTextNode" presStyleLbl="node3" presStyleIdx="3" presStyleCnt="4" custScaleX="237489" custScaleY="56693">
        <dgm:presLayoutVars>
          <dgm:chPref val="3"/>
        </dgm:presLayoutVars>
      </dgm:prSet>
      <dgm:spPr/>
    </dgm:pt>
    <dgm:pt modelId="{486929BD-D34A-DD46-8FC1-23CC9567FA71}" type="pres">
      <dgm:prSet presAssocID="{EEBBD682-06BC-EF4F-AC5C-75A455994410}" presName="level3hierChild" presStyleCnt="0"/>
      <dgm:spPr/>
    </dgm:pt>
  </dgm:ptLst>
  <dgm:cxnLst>
    <dgm:cxn modelId="{013F6000-7802-F643-A689-03ACDD00714C}" type="presOf" srcId="{1E118BCF-0CA9-564E-B730-B14FED3CFD2D}" destId="{5E3FAC50-FA4B-6448-9FEE-112CF455615F}" srcOrd="0" destOrd="0" presId="urn:microsoft.com/office/officeart/2005/8/layout/hierarchy2"/>
    <dgm:cxn modelId="{334AB509-9C88-9D45-8C36-D4C168DEA361}" type="presOf" srcId="{A6AA9D27-5B0A-164D-9AE2-87D8300D02D3}" destId="{C6B20A8E-77A5-3343-A70B-007A299E22BF}" srcOrd="1" destOrd="0" presId="urn:microsoft.com/office/officeart/2005/8/layout/hierarchy2"/>
    <dgm:cxn modelId="{0BC13B11-B340-5647-9FF3-C00D0E6D4755}" srcId="{8F355DF1-7F01-A54E-B224-C6FBE71EB051}" destId="{F6912376-88B0-D646-99C3-56E58625BCE7}" srcOrd="0" destOrd="0" parTransId="{1E118BCF-0CA9-564E-B730-B14FED3CFD2D}" sibTransId="{8730FA87-D8A9-554E-A90C-241FAE7AB506}"/>
    <dgm:cxn modelId="{BE274125-81F2-DA4A-823D-6123ABD65829}" type="presOf" srcId="{A6AA9D27-5B0A-164D-9AE2-87D8300D02D3}" destId="{4FB803BF-AC51-5C47-9BF9-ECC4D54F8A1F}" srcOrd="0" destOrd="0" presId="urn:microsoft.com/office/officeart/2005/8/layout/hierarchy2"/>
    <dgm:cxn modelId="{2A5EDB30-C41B-5C4B-A29A-7479E8472A1B}" srcId="{1D577CD9-0CD9-464D-85F2-E1456810747F}" destId="{75B3B5A6-22ED-1A47-B316-0E67B7B166FD}" srcOrd="1" destOrd="0" parTransId="{51D3489F-B8DB-0947-A3C3-BC7B465BDC62}" sibTransId="{8DD7328A-B44E-9747-8195-41392C283F2A}"/>
    <dgm:cxn modelId="{AE0D7944-979F-0E45-829D-F78590F48FB5}" type="presOf" srcId="{1D577CD9-0CD9-464D-85F2-E1456810747F}" destId="{04CBBA4C-BBC8-7542-9346-68B03FE95BC7}" srcOrd="0" destOrd="0" presId="urn:microsoft.com/office/officeart/2005/8/layout/hierarchy2"/>
    <dgm:cxn modelId="{26083246-A508-A94D-92CF-05C04BD310FD}" type="presOf" srcId="{51D3489F-B8DB-0947-A3C3-BC7B465BDC62}" destId="{33F4CD1B-3FA0-2545-8AD4-431A4B0481BD}" srcOrd="0" destOrd="0" presId="urn:microsoft.com/office/officeart/2005/8/layout/hierarchy2"/>
    <dgm:cxn modelId="{C037D554-AF06-3542-A60E-73497540EEC3}" type="presOf" srcId="{4FBC1CE3-57F1-DB42-BDD1-DB769C521E6A}" destId="{F2850FAB-FAF8-3146-9A5B-10E453C49444}" srcOrd="0" destOrd="0" presId="urn:microsoft.com/office/officeart/2005/8/layout/hierarchy2"/>
    <dgm:cxn modelId="{C8395955-B30B-9E44-B875-0E66823FDB64}" type="presOf" srcId="{C0D90745-E120-3549-96BC-1600939E72C4}" destId="{4D246554-26D9-A54A-9B31-95951CBDDF23}" srcOrd="1" destOrd="0" presId="urn:microsoft.com/office/officeart/2005/8/layout/hierarchy2"/>
    <dgm:cxn modelId="{5989F556-A469-3846-B831-A93583C1984F}" type="presOf" srcId="{1A727C2C-C615-694F-93FC-91419AE8064D}" destId="{89618C79-0175-5A40-B1AB-718D12569BB6}" srcOrd="0" destOrd="0" presId="urn:microsoft.com/office/officeart/2005/8/layout/hierarchy2"/>
    <dgm:cxn modelId="{F0561A80-B861-CC47-9389-A323F3531610}" type="presOf" srcId="{8FBD10E3-78AD-0B4D-955E-DECAA3DDD4E7}" destId="{9BF78147-4004-C344-B9F7-AF386F423CA5}" srcOrd="0" destOrd="0" presId="urn:microsoft.com/office/officeart/2005/8/layout/hierarchy2"/>
    <dgm:cxn modelId="{F14C2B83-CE7C-494C-8C6D-16607B7DE958}" type="presOf" srcId="{C0D90745-E120-3549-96BC-1600939E72C4}" destId="{CDFE44B1-1DB8-9D44-9333-1F1F02E494E7}" srcOrd="0" destOrd="0" presId="urn:microsoft.com/office/officeart/2005/8/layout/hierarchy2"/>
    <dgm:cxn modelId="{908D3C87-52EC-6F40-9670-3A34CEC531C0}" type="presOf" srcId="{8F355DF1-7F01-A54E-B224-C6FBE71EB051}" destId="{B3E38314-EBEB-A140-928C-8095862C4265}" srcOrd="0" destOrd="0" presId="urn:microsoft.com/office/officeart/2005/8/layout/hierarchy2"/>
    <dgm:cxn modelId="{C8079F87-D070-3E4F-99BB-53121E99538E}" srcId="{8FBD10E3-78AD-0B4D-955E-DECAA3DDD4E7}" destId="{1D577CD9-0CD9-464D-85F2-E1456810747F}" srcOrd="0" destOrd="0" parTransId="{A6AA9D27-5B0A-164D-9AE2-87D8300D02D3}" sibTransId="{600A9387-ED6E-D642-A0E1-E9820CFFC671}"/>
    <dgm:cxn modelId="{F6ED2A8A-AC98-094C-AE51-E7DA417FB83B}" type="presOf" srcId="{4FBC1CE3-57F1-DB42-BDD1-DB769C521E6A}" destId="{CADB1F2C-5BE9-D643-BD07-1896805A9F8F}" srcOrd="1" destOrd="0" presId="urn:microsoft.com/office/officeart/2005/8/layout/hierarchy2"/>
    <dgm:cxn modelId="{60F3C78C-CFF9-8B43-989F-5F12D0D7B07C}" type="presOf" srcId="{75B3B5A6-22ED-1A47-B316-0E67B7B166FD}" destId="{E949BEC7-0671-0D41-84F6-F3420C5B9C55}" srcOrd="0" destOrd="0" presId="urn:microsoft.com/office/officeart/2005/8/layout/hierarchy2"/>
    <dgm:cxn modelId="{96BEA8A5-5F26-254D-8C5B-153F3A905D43}" type="presOf" srcId="{51D3489F-B8DB-0947-A3C3-BC7B465BDC62}" destId="{05B91487-1DE1-3F4B-A1AE-F578D365D3D7}" srcOrd="1" destOrd="0" presId="urn:microsoft.com/office/officeart/2005/8/layout/hierarchy2"/>
    <dgm:cxn modelId="{F8F8F1A6-BDC4-5747-BBC6-10A69F184AB0}" type="presOf" srcId="{1E118BCF-0CA9-564E-B730-B14FED3CFD2D}" destId="{71BD5D50-9A95-D740-A977-C5EFBE1E8939}" srcOrd="1" destOrd="0" presId="urn:microsoft.com/office/officeart/2005/8/layout/hierarchy2"/>
    <dgm:cxn modelId="{57CC90B0-B0BF-C44B-80A5-1D5446179E0A}" type="presOf" srcId="{4B1AF8D5-7A00-6848-8E7D-701E61CBBC5C}" destId="{20B50C4C-5191-8341-A95F-B747647DF5A2}" srcOrd="0" destOrd="0" presId="urn:microsoft.com/office/officeart/2005/8/layout/hierarchy2"/>
    <dgm:cxn modelId="{036493B3-1787-4840-AC3B-CCBF5E8B578E}" type="presOf" srcId="{EEBBD682-06BC-EF4F-AC5C-75A455994410}" destId="{32080277-E2A9-9346-91F0-1826A18E3839}" srcOrd="0" destOrd="0" presId="urn:microsoft.com/office/officeart/2005/8/layout/hierarchy2"/>
    <dgm:cxn modelId="{20A48CBC-6E63-BE4F-8CB5-E5F4D9467C8F}" srcId="{1D577CD9-0CD9-464D-85F2-E1456810747F}" destId="{7D58CBA6-C333-174D-95F5-3AEBE3F255F0}" srcOrd="0" destOrd="0" parTransId="{1A727C2C-C615-694F-93FC-91419AE8064D}" sibTransId="{F38F22EC-8194-3E48-825C-0F5FA6596804}"/>
    <dgm:cxn modelId="{D7726CCB-22D7-7D43-894D-1AB3E5997FB1}" type="presOf" srcId="{1A727C2C-C615-694F-93FC-91419AE8064D}" destId="{B971A310-F97E-B94F-B85D-04C56F2E532A}" srcOrd="1" destOrd="0" presId="urn:microsoft.com/office/officeart/2005/8/layout/hierarchy2"/>
    <dgm:cxn modelId="{46DF06E6-2D97-6C4A-B647-81424A690C7B}" type="presOf" srcId="{F6912376-88B0-D646-99C3-56E58625BCE7}" destId="{90BB4B01-D8AF-A945-AB84-74A73CFD18DE}" srcOrd="0" destOrd="0" presId="urn:microsoft.com/office/officeart/2005/8/layout/hierarchy2"/>
    <dgm:cxn modelId="{48C7A6EA-46FC-C74B-BB08-B646CFC1B869}" srcId="{4B1AF8D5-7A00-6848-8E7D-701E61CBBC5C}" destId="{8FBD10E3-78AD-0B4D-955E-DECAA3DDD4E7}" srcOrd="0" destOrd="0" parTransId="{F4A1F00D-066E-AC42-A46F-373C82886BF2}" sibTransId="{5D8FBA91-F10D-AF40-9312-D2CD523E980D}"/>
    <dgm:cxn modelId="{6F41A7F7-E7A4-FE4D-AEF1-4A396BA3D7E4}" type="presOf" srcId="{7D58CBA6-C333-174D-95F5-3AEBE3F255F0}" destId="{204ADB45-D3FE-B24F-A832-4489705CFB2C}" srcOrd="0" destOrd="0" presId="urn:microsoft.com/office/officeart/2005/8/layout/hierarchy2"/>
    <dgm:cxn modelId="{3A3FD0F7-5ACE-DD48-A70A-32BF1959DCBA}" srcId="{8F355DF1-7F01-A54E-B224-C6FBE71EB051}" destId="{EEBBD682-06BC-EF4F-AC5C-75A455994410}" srcOrd="1" destOrd="0" parTransId="{C0D90745-E120-3549-96BC-1600939E72C4}" sibTransId="{9A1B031C-B2D6-1F41-ACA4-D274C0B38C50}"/>
    <dgm:cxn modelId="{BC377DFC-7E4F-4243-8F7B-80F78641CF6A}" srcId="{8FBD10E3-78AD-0B4D-955E-DECAA3DDD4E7}" destId="{8F355DF1-7F01-A54E-B224-C6FBE71EB051}" srcOrd="1" destOrd="0" parTransId="{4FBC1CE3-57F1-DB42-BDD1-DB769C521E6A}" sibTransId="{F1709DF4-3901-9F4C-B9EE-9F5EE2EFEACF}"/>
    <dgm:cxn modelId="{25DD7002-F890-1945-8324-3F35E3AC92C1}" type="presParOf" srcId="{20B50C4C-5191-8341-A95F-B747647DF5A2}" destId="{519944BA-86AB-724C-8D39-51C66EBCA9F9}" srcOrd="0" destOrd="0" presId="urn:microsoft.com/office/officeart/2005/8/layout/hierarchy2"/>
    <dgm:cxn modelId="{735F7B6E-EA12-0645-8F6E-8F5B8F4CA5CC}" type="presParOf" srcId="{519944BA-86AB-724C-8D39-51C66EBCA9F9}" destId="{9BF78147-4004-C344-B9F7-AF386F423CA5}" srcOrd="0" destOrd="0" presId="urn:microsoft.com/office/officeart/2005/8/layout/hierarchy2"/>
    <dgm:cxn modelId="{B03FD0CB-6113-094C-AD87-45D86D44683B}" type="presParOf" srcId="{519944BA-86AB-724C-8D39-51C66EBCA9F9}" destId="{7B0BC94D-405F-984F-BD55-DE6FBEACE74D}" srcOrd="1" destOrd="0" presId="urn:microsoft.com/office/officeart/2005/8/layout/hierarchy2"/>
    <dgm:cxn modelId="{4F1B73C0-A18B-A441-9AE4-41EBC6EA1453}" type="presParOf" srcId="{7B0BC94D-405F-984F-BD55-DE6FBEACE74D}" destId="{4FB803BF-AC51-5C47-9BF9-ECC4D54F8A1F}" srcOrd="0" destOrd="0" presId="urn:microsoft.com/office/officeart/2005/8/layout/hierarchy2"/>
    <dgm:cxn modelId="{C9F87177-B529-7D4F-BDAB-71262E80D999}" type="presParOf" srcId="{4FB803BF-AC51-5C47-9BF9-ECC4D54F8A1F}" destId="{C6B20A8E-77A5-3343-A70B-007A299E22BF}" srcOrd="0" destOrd="0" presId="urn:microsoft.com/office/officeart/2005/8/layout/hierarchy2"/>
    <dgm:cxn modelId="{6E4664FA-9B27-DE4E-90B3-67311A7D4656}" type="presParOf" srcId="{7B0BC94D-405F-984F-BD55-DE6FBEACE74D}" destId="{F0FFD343-9E8B-6D44-8238-C728BF472BC7}" srcOrd="1" destOrd="0" presId="urn:microsoft.com/office/officeart/2005/8/layout/hierarchy2"/>
    <dgm:cxn modelId="{D2DE819B-EEF6-754E-96EE-89AD5AE1C8AE}" type="presParOf" srcId="{F0FFD343-9E8B-6D44-8238-C728BF472BC7}" destId="{04CBBA4C-BBC8-7542-9346-68B03FE95BC7}" srcOrd="0" destOrd="0" presId="urn:microsoft.com/office/officeart/2005/8/layout/hierarchy2"/>
    <dgm:cxn modelId="{5EFD3223-0E8B-1C4A-8BAD-29B545860C5D}" type="presParOf" srcId="{F0FFD343-9E8B-6D44-8238-C728BF472BC7}" destId="{4F622305-7B67-D049-8420-4832F0C9FC6E}" srcOrd="1" destOrd="0" presId="urn:microsoft.com/office/officeart/2005/8/layout/hierarchy2"/>
    <dgm:cxn modelId="{7877D8CB-9C44-5749-B1A7-6875CA4A538C}" type="presParOf" srcId="{4F622305-7B67-D049-8420-4832F0C9FC6E}" destId="{89618C79-0175-5A40-B1AB-718D12569BB6}" srcOrd="0" destOrd="0" presId="urn:microsoft.com/office/officeart/2005/8/layout/hierarchy2"/>
    <dgm:cxn modelId="{C283BDA4-38DF-024A-B73E-95F9B7E6A7E8}" type="presParOf" srcId="{89618C79-0175-5A40-B1AB-718D12569BB6}" destId="{B971A310-F97E-B94F-B85D-04C56F2E532A}" srcOrd="0" destOrd="0" presId="urn:microsoft.com/office/officeart/2005/8/layout/hierarchy2"/>
    <dgm:cxn modelId="{F02655CD-754A-8B42-9033-4C1E2339CC96}" type="presParOf" srcId="{4F622305-7B67-D049-8420-4832F0C9FC6E}" destId="{784D0E69-801E-AA4F-9438-D53C6301E96B}" srcOrd="1" destOrd="0" presId="urn:microsoft.com/office/officeart/2005/8/layout/hierarchy2"/>
    <dgm:cxn modelId="{BAE37461-CE23-C743-ACE7-5784F78CEB45}" type="presParOf" srcId="{784D0E69-801E-AA4F-9438-D53C6301E96B}" destId="{204ADB45-D3FE-B24F-A832-4489705CFB2C}" srcOrd="0" destOrd="0" presId="urn:microsoft.com/office/officeart/2005/8/layout/hierarchy2"/>
    <dgm:cxn modelId="{F895AF88-15E7-374F-B392-A6DAEE5A0F28}" type="presParOf" srcId="{784D0E69-801E-AA4F-9438-D53C6301E96B}" destId="{CA46587F-A1D6-AD47-98F1-DA6F78F93167}" srcOrd="1" destOrd="0" presId="urn:microsoft.com/office/officeart/2005/8/layout/hierarchy2"/>
    <dgm:cxn modelId="{E0DA0D14-4CD5-F248-B806-7FF1BCB076AB}" type="presParOf" srcId="{4F622305-7B67-D049-8420-4832F0C9FC6E}" destId="{33F4CD1B-3FA0-2545-8AD4-431A4B0481BD}" srcOrd="2" destOrd="0" presId="urn:microsoft.com/office/officeart/2005/8/layout/hierarchy2"/>
    <dgm:cxn modelId="{8C0C7561-B4D4-B74D-9C23-10D9469E8210}" type="presParOf" srcId="{33F4CD1B-3FA0-2545-8AD4-431A4B0481BD}" destId="{05B91487-1DE1-3F4B-A1AE-F578D365D3D7}" srcOrd="0" destOrd="0" presId="urn:microsoft.com/office/officeart/2005/8/layout/hierarchy2"/>
    <dgm:cxn modelId="{52ADC1A7-06DC-9F4E-8225-34A51BC7DBC1}" type="presParOf" srcId="{4F622305-7B67-D049-8420-4832F0C9FC6E}" destId="{6A6802D3-46E6-5A4A-9F41-D3D51E39E728}" srcOrd="3" destOrd="0" presId="urn:microsoft.com/office/officeart/2005/8/layout/hierarchy2"/>
    <dgm:cxn modelId="{78F976E1-B73B-D146-9C6F-5D7F1DC79EA8}" type="presParOf" srcId="{6A6802D3-46E6-5A4A-9F41-D3D51E39E728}" destId="{E949BEC7-0671-0D41-84F6-F3420C5B9C55}" srcOrd="0" destOrd="0" presId="urn:microsoft.com/office/officeart/2005/8/layout/hierarchy2"/>
    <dgm:cxn modelId="{DC9886D6-C5F9-FF40-BD20-294B3B85188B}" type="presParOf" srcId="{6A6802D3-46E6-5A4A-9F41-D3D51E39E728}" destId="{31705C09-AAD2-174B-AEA1-78081FC12053}" srcOrd="1" destOrd="0" presId="urn:microsoft.com/office/officeart/2005/8/layout/hierarchy2"/>
    <dgm:cxn modelId="{2B5BD44A-1A17-B340-A1A1-B729BD203265}" type="presParOf" srcId="{7B0BC94D-405F-984F-BD55-DE6FBEACE74D}" destId="{F2850FAB-FAF8-3146-9A5B-10E453C49444}" srcOrd="2" destOrd="0" presId="urn:microsoft.com/office/officeart/2005/8/layout/hierarchy2"/>
    <dgm:cxn modelId="{A8685AF9-4FE7-FA48-AC0C-EE7D99C6AFE8}" type="presParOf" srcId="{F2850FAB-FAF8-3146-9A5B-10E453C49444}" destId="{CADB1F2C-5BE9-D643-BD07-1896805A9F8F}" srcOrd="0" destOrd="0" presId="urn:microsoft.com/office/officeart/2005/8/layout/hierarchy2"/>
    <dgm:cxn modelId="{63D3FE1B-30DE-3C44-BE4B-7C284BEE3A3B}" type="presParOf" srcId="{7B0BC94D-405F-984F-BD55-DE6FBEACE74D}" destId="{8405083F-DC2A-524C-B5E6-A49625AEF603}" srcOrd="3" destOrd="0" presId="urn:microsoft.com/office/officeart/2005/8/layout/hierarchy2"/>
    <dgm:cxn modelId="{21BE935D-E9C5-FB4E-912A-EE2BDB5BED59}" type="presParOf" srcId="{8405083F-DC2A-524C-B5E6-A49625AEF603}" destId="{B3E38314-EBEB-A140-928C-8095862C4265}" srcOrd="0" destOrd="0" presId="urn:microsoft.com/office/officeart/2005/8/layout/hierarchy2"/>
    <dgm:cxn modelId="{D9EAEBEC-246B-AC45-BEB4-0F19DEED0292}" type="presParOf" srcId="{8405083F-DC2A-524C-B5E6-A49625AEF603}" destId="{6F94E028-96DC-5D48-A91C-85AAB799B54C}" srcOrd="1" destOrd="0" presId="urn:microsoft.com/office/officeart/2005/8/layout/hierarchy2"/>
    <dgm:cxn modelId="{258D9300-A2E9-0841-845E-2AEB00742473}" type="presParOf" srcId="{6F94E028-96DC-5D48-A91C-85AAB799B54C}" destId="{5E3FAC50-FA4B-6448-9FEE-112CF455615F}" srcOrd="0" destOrd="0" presId="urn:microsoft.com/office/officeart/2005/8/layout/hierarchy2"/>
    <dgm:cxn modelId="{B9F7FFF4-4AC1-A64B-B7FE-B42F372ACD41}" type="presParOf" srcId="{5E3FAC50-FA4B-6448-9FEE-112CF455615F}" destId="{71BD5D50-9A95-D740-A977-C5EFBE1E8939}" srcOrd="0" destOrd="0" presId="urn:microsoft.com/office/officeart/2005/8/layout/hierarchy2"/>
    <dgm:cxn modelId="{3DC1DF11-2A2C-E946-B9CD-DA449E8C38C3}" type="presParOf" srcId="{6F94E028-96DC-5D48-A91C-85AAB799B54C}" destId="{C64150AB-8BDA-E348-A7DF-7DA634368C31}" srcOrd="1" destOrd="0" presId="urn:microsoft.com/office/officeart/2005/8/layout/hierarchy2"/>
    <dgm:cxn modelId="{C7B39448-A8A4-E74D-A682-0CECB1C6656D}" type="presParOf" srcId="{C64150AB-8BDA-E348-A7DF-7DA634368C31}" destId="{90BB4B01-D8AF-A945-AB84-74A73CFD18DE}" srcOrd="0" destOrd="0" presId="urn:microsoft.com/office/officeart/2005/8/layout/hierarchy2"/>
    <dgm:cxn modelId="{7DD08104-64E2-BE44-9FDE-DFA429C70BFD}" type="presParOf" srcId="{C64150AB-8BDA-E348-A7DF-7DA634368C31}" destId="{D6EC45CF-9B1F-924D-AA13-4B22F54BDA7A}" srcOrd="1" destOrd="0" presId="urn:microsoft.com/office/officeart/2005/8/layout/hierarchy2"/>
    <dgm:cxn modelId="{7088A567-1316-D346-9349-6CECB2475781}" type="presParOf" srcId="{6F94E028-96DC-5D48-A91C-85AAB799B54C}" destId="{CDFE44B1-1DB8-9D44-9333-1F1F02E494E7}" srcOrd="2" destOrd="0" presId="urn:microsoft.com/office/officeart/2005/8/layout/hierarchy2"/>
    <dgm:cxn modelId="{80139149-6850-8A44-A0FE-EAEEBBD13CC2}" type="presParOf" srcId="{CDFE44B1-1DB8-9D44-9333-1F1F02E494E7}" destId="{4D246554-26D9-A54A-9B31-95951CBDDF23}" srcOrd="0" destOrd="0" presId="urn:microsoft.com/office/officeart/2005/8/layout/hierarchy2"/>
    <dgm:cxn modelId="{47F9DA62-4311-AA4A-B58B-2CB1DA6F709A}" type="presParOf" srcId="{6F94E028-96DC-5D48-A91C-85AAB799B54C}" destId="{7FBDA7F4-E977-1C4D-9172-82FB1D219F8C}" srcOrd="3" destOrd="0" presId="urn:microsoft.com/office/officeart/2005/8/layout/hierarchy2"/>
    <dgm:cxn modelId="{5F27E264-4938-7441-BD1A-CA2CCD2B9D89}" type="presParOf" srcId="{7FBDA7F4-E977-1C4D-9172-82FB1D219F8C}" destId="{32080277-E2A9-9346-91F0-1826A18E3839}" srcOrd="0" destOrd="0" presId="urn:microsoft.com/office/officeart/2005/8/layout/hierarchy2"/>
    <dgm:cxn modelId="{08495D3A-A0ED-904C-83CC-95A2E5A762C5}" type="presParOf" srcId="{7FBDA7F4-E977-1C4D-9172-82FB1D219F8C}" destId="{486929BD-D34A-DD46-8FC1-23CC9567FA7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F78147-4004-C344-B9F7-AF386F423CA5}">
      <dsp:nvSpPr>
        <dsp:cNvPr id="0" name=""/>
        <dsp:cNvSpPr/>
      </dsp:nvSpPr>
      <dsp:spPr>
        <a:xfrm>
          <a:off x="949397" y="1515660"/>
          <a:ext cx="2631373" cy="115498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On récupère le texte du </a:t>
          </a:r>
          <a:r>
            <a:rPr lang="fr-FR" sz="1400" b="1" kern="1200" dirty="0" err="1"/>
            <a:t>Button</a:t>
          </a:r>
          <a:r>
            <a:rPr lang="fr-FR" sz="1400" b="1" kern="1200" dirty="0"/>
            <a:t>: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BE" sz="1400" b="1" kern="1200" dirty="0"/>
            <a:t>String val = ((</a:t>
          </a:r>
          <a:r>
            <a:rPr lang="fr-BE" sz="1400" b="1" kern="1200" dirty="0" err="1"/>
            <a:t>Button</a:t>
          </a:r>
          <a:r>
            <a:rPr lang="fr-BE" sz="1400" b="1" kern="1200" dirty="0"/>
            <a:t>) </a:t>
          </a:r>
          <a:r>
            <a:rPr lang="fr-BE" sz="1400" b="1" kern="1200" dirty="0" err="1"/>
            <a:t>event.getSource</a:t>
          </a:r>
          <a:r>
            <a:rPr lang="fr-BE" sz="1400" b="1" kern="1200" dirty="0"/>
            <a:t>()).</a:t>
          </a:r>
          <a:r>
            <a:rPr lang="fr-BE" sz="1400" b="1" kern="1200" dirty="0" err="1"/>
            <a:t>getText</a:t>
          </a:r>
          <a:r>
            <a:rPr lang="fr-BE" sz="1400" b="1" kern="1200" dirty="0"/>
            <a:t>()</a:t>
          </a:r>
          <a:endParaRPr lang="fr-FR" sz="1400" b="1" kern="1200" dirty="0"/>
        </a:p>
      </dsp:txBody>
      <dsp:txXfrm>
        <a:off x="983225" y="1549488"/>
        <a:ext cx="2563717" cy="1087325"/>
      </dsp:txXfrm>
    </dsp:sp>
    <dsp:sp modelId="{4FB803BF-AC51-5C47-9BF9-ECC4D54F8A1F}">
      <dsp:nvSpPr>
        <dsp:cNvPr id="0" name=""/>
        <dsp:cNvSpPr/>
      </dsp:nvSpPr>
      <dsp:spPr>
        <a:xfrm rot="17933804">
          <a:off x="3269222" y="1549420"/>
          <a:ext cx="1205758" cy="31829"/>
        </a:xfrm>
        <a:custGeom>
          <a:avLst/>
          <a:gdLst/>
          <a:ahLst/>
          <a:cxnLst/>
          <a:rect l="0" t="0" r="0" b="0"/>
          <a:pathLst>
            <a:path>
              <a:moveTo>
                <a:pt x="0" y="15914"/>
              </a:moveTo>
              <a:lnTo>
                <a:pt x="1205758" y="1591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b="1" kern="1200"/>
        </a:p>
      </dsp:txBody>
      <dsp:txXfrm>
        <a:off x="3841957" y="1535191"/>
        <a:ext cx="60287" cy="60287"/>
      </dsp:txXfrm>
    </dsp:sp>
    <dsp:sp modelId="{04CBBA4C-BBC8-7542-9346-68B03FE95BC7}">
      <dsp:nvSpPr>
        <dsp:cNvPr id="0" name=""/>
        <dsp:cNvSpPr/>
      </dsp:nvSpPr>
      <dsp:spPr>
        <a:xfrm>
          <a:off x="4163432" y="799156"/>
          <a:ext cx="1537498" cy="4767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le symbole est =</a:t>
          </a:r>
        </a:p>
      </dsp:txBody>
      <dsp:txXfrm>
        <a:off x="4177395" y="813119"/>
        <a:ext cx="1509572" cy="448800"/>
      </dsp:txXfrm>
    </dsp:sp>
    <dsp:sp modelId="{89618C79-0175-5A40-B1AB-718D12569BB6}">
      <dsp:nvSpPr>
        <dsp:cNvPr id="0" name=""/>
        <dsp:cNvSpPr/>
      </dsp:nvSpPr>
      <dsp:spPr>
        <a:xfrm rot="18307464">
          <a:off x="5485910" y="607458"/>
          <a:ext cx="1012702" cy="31829"/>
        </a:xfrm>
        <a:custGeom>
          <a:avLst/>
          <a:gdLst/>
          <a:ahLst/>
          <a:cxnLst/>
          <a:rect l="0" t="0" r="0" b="0"/>
          <a:pathLst>
            <a:path>
              <a:moveTo>
                <a:pt x="0" y="15914"/>
              </a:moveTo>
              <a:lnTo>
                <a:pt x="1012702" y="159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b="1" kern="1200"/>
        </a:p>
      </dsp:txBody>
      <dsp:txXfrm>
        <a:off x="5966944" y="598055"/>
        <a:ext cx="50635" cy="50635"/>
      </dsp:txXfrm>
    </dsp:sp>
    <dsp:sp modelId="{204ADB45-D3FE-B24F-A832-4489705CFB2C}">
      <dsp:nvSpPr>
        <dsp:cNvPr id="0" name=""/>
        <dsp:cNvSpPr/>
      </dsp:nvSpPr>
      <dsp:spPr>
        <a:xfrm>
          <a:off x="6283592" y="2770"/>
          <a:ext cx="3459394" cy="412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S’il n’y a pas d’</a:t>
          </a:r>
          <a:r>
            <a:rPr lang="fr-FR" sz="1400" b="1" kern="1200" dirty="0" err="1"/>
            <a:t>operator</a:t>
          </a:r>
          <a:r>
            <a:rPr lang="fr-FR" sz="1400" b="1" kern="1200" dirty="0"/>
            <a:t> enregistré: on ne fait rien.</a:t>
          </a:r>
        </a:p>
      </dsp:txBody>
      <dsp:txXfrm>
        <a:off x="6295686" y="14864"/>
        <a:ext cx="3435206" cy="388722"/>
      </dsp:txXfrm>
    </dsp:sp>
    <dsp:sp modelId="{33F4CD1B-3FA0-2545-8AD4-431A4B0481BD}">
      <dsp:nvSpPr>
        <dsp:cNvPr id="0" name=""/>
        <dsp:cNvSpPr/>
      </dsp:nvSpPr>
      <dsp:spPr>
        <a:xfrm rot="1448175">
          <a:off x="5673021" y="1152144"/>
          <a:ext cx="638480" cy="31829"/>
        </a:xfrm>
        <a:custGeom>
          <a:avLst/>
          <a:gdLst/>
          <a:ahLst/>
          <a:cxnLst/>
          <a:rect l="0" t="0" r="0" b="0"/>
          <a:pathLst>
            <a:path>
              <a:moveTo>
                <a:pt x="0" y="15914"/>
              </a:moveTo>
              <a:lnTo>
                <a:pt x="638480" y="159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b="1" kern="1200"/>
        </a:p>
      </dsp:txBody>
      <dsp:txXfrm>
        <a:off x="5976299" y="1152097"/>
        <a:ext cx="31924" cy="31924"/>
      </dsp:txXfrm>
    </dsp:sp>
    <dsp:sp modelId="{E949BEC7-0671-0D41-84F6-F3420C5B9C55}">
      <dsp:nvSpPr>
        <dsp:cNvPr id="0" name=""/>
        <dsp:cNvSpPr/>
      </dsp:nvSpPr>
      <dsp:spPr>
        <a:xfrm>
          <a:off x="6283592" y="524930"/>
          <a:ext cx="3459394" cy="154733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Sinon,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r-FR" sz="1400" b="1" kern="1200" dirty="0"/>
            <a:t>- on calcule le résultat,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r-FR" sz="1400" b="1" kern="1200" dirty="0"/>
            <a:t>- on adapte le </a:t>
          </a:r>
          <a:r>
            <a:rPr lang="fr-FR" sz="1400" b="1" kern="1200" dirty="0" err="1"/>
            <a:t>Text</a:t>
          </a:r>
          <a:r>
            <a:rPr lang="fr-FR" sz="1400" b="1" kern="1200" dirty="0"/>
            <a:t>,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r-FR" sz="1400" b="1" kern="1200" dirty="0"/>
            <a:t>- on remet l’</a:t>
          </a:r>
          <a:r>
            <a:rPr lang="fr-FR" sz="1400" b="1" kern="1200" dirty="0" err="1"/>
            <a:t>operator</a:t>
          </a:r>
          <a:r>
            <a:rPr lang="fr-FR" sz="1400" b="1" kern="1200" dirty="0"/>
            <a:t> à ""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fr-FR" sz="1400" b="1" kern="1200" dirty="0"/>
            <a:t>- et on enregistre le </a:t>
          </a:r>
          <a:r>
            <a:rPr lang="fr-FR" sz="1400" b="1" kern="1200" dirty="0" err="1"/>
            <a:t>booleen</a:t>
          </a:r>
          <a:r>
            <a:rPr lang="fr-FR" sz="1400" b="1" kern="1200" dirty="0"/>
            <a:t> </a:t>
          </a:r>
          <a:r>
            <a:rPr lang="fr-FR" sz="1400" b="1" kern="1200" dirty="0" err="1"/>
            <a:t>newOperation</a:t>
          </a:r>
          <a:endParaRPr lang="fr-FR" sz="1400" b="1" kern="1200" dirty="0"/>
        </a:p>
      </dsp:txBody>
      <dsp:txXfrm>
        <a:off x="6328912" y="570250"/>
        <a:ext cx="3368754" cy="1456698"/>
      </dsp:txXfrm>
    </dsp:sp>
    <dsp:sp modelId="{F2850FAB-FAF8-3146-9A5B-10E453C49444}">
      <dsp:nvSpPr>
        <dsp:cNvPr id="0" name=""/>
        <dsp:cNvSpPr/>
      </dsp:nvSpPr>
      <dsp:spPr>
        <a:xfrm rot="3666196">
          <a:off x="3269222" y="2605052"/>
          <a:ext cx="1205758" cy="31829"/>
        </a:xfrm>
        <a:custGeom>
          <a:avLst/>
          <a:gdLst/>
          <a:ahLst/>
          <a:cxnLst/>
          <a:rect l="0" t="0" r="0" b="0"/>
          <a:pathLst>
            <a:path>
              <a:moveTo>
                <a:pt x="0" y="15914"/>
              </a:moveTo>
              <a:lnTo>
                <a:pt x="1205758" y="15914"/>
              </a:lnTo>
            </a:path>
          </a:pathLst>
        </a:custGeom>
        <a:noFill/>
        <a:ln w="1270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b="1" kern="1200"/>
        </a:p>
      </dsp:txBody>
      <dsp:txXfrm>
        <a:off x="3841957" y="2590823"/>
        <a:ext cx="60287" cy="60287"/>
      </dsp:txXfrm>
    </dsp:sp>
    <dsp:sp modelId="{B3E38314-EBEB-A140-928C-8095862C4265}">
      <dsp:nvSpPr>
        <dsp:cNvPr id="0" name=""/>
        <dsp:cNvSpPr/>
      </dsp:nvSpPr>
      <dsp:spPr>
        <a:xfrm>
          <a:off x="4163432" y="2910420"/>
          <a:ext cx="1537498" cy="47672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Sinon</a:t>
          </a:r>
        </a:p>
      </dsp:txBody>
      <dsp:txXfrm>
        <a:off x="4177395" y="2924383"/>
        <a:ext cx="1509572" cy="448800"/>
      </dsp:txXfrm>
    </dsp:sp>
    <dsp:sp modelId="{5E3FAC50-FA4B-6448-9FEE-112CF455615F}">
      <dsp:nvSpPr>
        <dsp:cNvPr id="0" name=""/>
        <dsp:cNvSpPr/>
      </dsp:nvSpPr>
      <dsp:spPr>
        <a:xfrm rot="20151825">
          <a:off x="5673021" y="3002329"/>
          <a:ext cx="638480" cy="31829"/>
        </a:xfrm>
        <a:custGeom>
          <a:avLst/>
          <a:gdLst/>
          <a:ahLst/>
          <a:cxnLst/>
          <a:rect l="0" t="0" r="0" b="0"/>
          <a:pathLst>
            <a:path>
              <a:moveTo>
                <a:pt x="0" y="15914"/>
              </a:moveTo>
              <a:lnTo>
                <a:pt x="638480" y="159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5976299" y="3002281"/>
        <a:ext cx="31924" cy="31924"/>
      </dsp:txXfrm>
    </dsp:sp>
    <dsp:sp modelId="{90BB4B01-D8AF-A945-AB84-74A73CFD18DE}">
      <dsp:nvSpPr>
        <dsp:cNvPr id="0" name=""/>
        <dsp:cNvSpPr/>
      </dsp:nvSpPr>
      <dsp:spPr>
        <a:xfrm>
          <a:off x="6283592" y="2181517"/>
          <a:ext cx="3421302" cy="141237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Si </a:t>
          </a:r>
          <a:r>
            <a:rPr lang="fr-FR" sz="1400" b="1" kern="1200" dirty="0" err="1"/>
            <a:t>operator</a:t>
          </a:r>
          <a:r>
            <a:rPr lang="fr-FR" sz="1400" b="1" kern="1200" dirty="0"/>
            <a:t> est vide,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- </a:t>
          </a:r>
          <a:r>
            <a:rPr lang="fr-FR" sz="1400" b="1" kern="1200" dirty="0" err="1"/>
            <a:t>operator</a:t>
          </a:r>
          <a:r>
            <a:rPr lang="fr-FR" sz="1400" b="1" kern="1200" dirty="0"/>
            <a:t> = val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- number1 = la valeur du nombre dans le </a:t>
          </a:r>
          <a:r>
            <a:rPr lang="fr-FR" sz="1400" b="1" kern="1200" dirty="0" err="1"/>
            <a:t>Text</a:t>
          </a:r>
          <a:endParaRPr lang="fr-FR" sz="1400" b="1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 dirty="0"/>
            <a:t>- on vide </a:t>
          </a:r>
          <a:r>
            <a:rPr lang="fr-FR" sz="1400" b="1" kern="1200" dirty="0" err="1"/>
            <a:t>Text</a:t>
          </a:r>
          <a:endParaRPr lang="fr-FR" sz="1400" b="1" kern="1200" dirty="0"/>
        </a:p>
      </dsp:txBody>
      <dsp:txXfrm>
        <a:off x="6324959" y="2222884"/>
        <a:ext cx="3338568" cy="1329638"/>
      </dsp:txXfrm>
    </dsp:sp>
    <dsp:sp modelId="{CDFE44B1-1DB8-9D44-9333-1F1F02E494E7}">
      <dsp:nvSpPr>
        <dsp:cNvPr id="0" name=""/>
        <dsp:cNvSpPr/>
      </dsp:nvSpPr>
      <dsp:spPr>
        <a:xfrm rot="3153212">
          <a:off x="5513114" y="3513274"/>
          <a:ext cx="958294" cy="31829"/>
        </a:xfrm>
        <a:custGeom>
          <a:avLst/>
          <a:gdLst/>
          <a:ahLst/>
          <a:cxnLst/>
          <a:rect l="0" t="0" r="0" b="0"/>
          <a:pathLst>
            <a:path>
              <a:moveTo>
                <a:pt x="0" y="15914"/>
              </a:moveTo>
              <a:lnTo>
                <a:pt x="958294" y="15914"/>
              </a:lnTo>
            </a:path>
          </a:pathLst>
        </a:custGeom>
        <a:noFill/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5968304" y="3505231"/>
        <a:ext cx="47914" cy="47914"/>
      </dsp:txXfrm>
    </dsp:sp>
    <dsp:sp modelId="{32080277-E2A9-9346-91F0-1826A18E3839}">
      <dsp:nvSpPr>
        <dsp:cNvPr id="0" name=""/>
        <dsp:cNvSpPr/>
      </dsp:nvSpPr>
      <dsp:spPr>
        <a:xfrm>
          <a:off x="6283592" y="3703138"/>
          <a:ext cx="3459394" cy="41291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b="1" kern="1200"/>
            <a:t>Sinon on ne fait rien</a:t>
          </a:r>
          <a:endParaRPr lang="fr-FR" sz="1400" b="1" kern="1200" dirty="0"/>
        </a:p>
      </dsp:txBody>
      <dsp:txXfrm>
        <a:off x="6295686" y="3715232"/>
        <a:ext cx="3435206" cy="3887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C913C-8767-6A46-ABE4-5FB13F57A51F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0A3CE4-6862-344E-BAF9-BD23A3F04A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029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35AA9-C5C6-934C-A51C-E9609006C10B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9064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F35AA9-C5C6-934C-A51C-E9609006C10B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7342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6F35AA9-C5C6-934C-A51C-E9609006C10B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8575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0A3CE4-6862-344E-BAF9-BD23A3F04A8C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472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50C5AB0-4392-0C4D-81D9-F157F3F77823}"/>
              </a:ext>
            </a:extLst>
          </p:cNvPr>
          <p:cNvCxnSpPr>
            <a:cxnSpLocks/>
          </p:cNvCxnSpPr>
          <p:nvPr/>
        </p:nvCxnSpPr>
        <p:spPr>
          <a:xfrm>
            <a:off x="457202" y="3559391"/>
            <a:ext cx="11343503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39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EE1B68-22B8-5144-911D-67D73F7F75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205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BCA98C-1917-1B40-ABB2-9D21885BD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6551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F3E845D-F43C-944D-8F99-1B6CA55031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6470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F818906-3F6A-DC45-BB24-EFCB912630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59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7A31-FE83-AB47-8221-61BFCBFFF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3900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FDFDBB0-5C1B-0B47-92C8-B08C981D73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0922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9AFBA4C-30EB-4A4E-A60E-1B72FA76A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21638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C1A4DF9-C7A5-CC4A-952D-F6BE2586A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3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53E1124-F839-AE4B-8F4B-A00427DEE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0900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8C737BB-8CEC-FF4F-BB70-AC8A804E1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7715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E20B9A-8E1B-A28D-369E-A913BEAD7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1E227AB-B70D-70BB-9801-A0EA229241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167F4E92-0724-F9C9-225A-B62857773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>
            <a:lvl1pPr>
              <a:defRPr>
                <a:latin typeface="+mn-lt"/>
              </a:defRPr>
            </a:lvl1pPr>
          </a:lstStyle>
          <a:p>
            <a:pPr marL="342900" indent="-342900">
              <a:lnSpc>
                <a:spcPct val="80000"/>
              </a:lnSpc>
              <a:buFont typeface="Arial"/>
              <a:buChar char="•"/>
            </a:pPr>
            <a:endParaRPr lang="fr-FR" dirty="0">
              <a:latin typeface="Consolas"/>
              <a:cs typeface="Consolas"/>
            </a:endParaRP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B6EE52B9-0CE3-2213-2BAE-0A463279C498}"/>
              </a:ext>
            </a:extLst>
          </p:cNvPr>
          <p:cNvGrpSpPr/>
          <p:nvPr userDrawn="1"/>
        </p:nvGrpSpPr>
        <p:grpSpPr>
          <a:xfrm>
            <a:off x="10470995" y="162401"/>
            <a:ext cx="1404760" cy="1400033"/>
            <a:chOff x="10326324" y="687756"/>
            <a:chExt cx="1393314" cy="1393314"/>
          </a:xfrm>
        </p:grpSpPr>
        <p:sp>
          <p:nvSpPr>
            <p:cNvPr id="6" name="Larme 5">
              <a:extLst>
                <a:ext uri="{FF2B5EF4-FFF2-40B4-BE49-F238E27FC236}">
                  <a16:creationId xmlns:a16="http://schemas.microsoft.com/office/drawing/2014/main" id="{A1F4EE74-F2B7-86D4-5897-9A852EB6119F}"/>
                </a:ext>
              </a:extLst>
            </p:cNvPr>
            <p:cNvSpPr/>
            <p:nvPr/>
          </p:nvSpPr>
          <p:spPr>
            <a:xfrm rot="8100000">
              <a:off x="10326324" y="687756"/>
              <a:ext cx="1393314" cy="1393314"/>
            </a:xfrm>
            <a:prstGeom prst="teardrop">
              <a:avLst>
                <a:gd name="adj" fmla="val 132871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4A1BBBAA-A8A5-D081-BE93-F67540128C77}"/>
                </a:ext>
              </a:extLst>
            </p:cNvPr>
            <p:cNvSpPr txBox="1"/>
            <p:nvPr/>
          </p:nvSpPr>
          <p:spPr>
            <a:xfrm>
              <a:off x="10372029" y="1092958"/>
              <a:ext cx="1301905" cy="7022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2000" b="1" dirty="0"/>
                <a:t>Vous êtes ici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9642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50000"/>
              </a:schemeClr>
            </a:gs>
            <a:gs pos="29000">
              <a:schemeClr val="accent5">
                <a:lumMod val="75000"/>
              </a:schemeClr>
            </a:gs>
            <a:gs pos="100000">
              <a:schemeClr val="accent5">
                <a:lumMod val="5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6BB548F-0EDB-6D43-BC7A-59E9CDD0ED25}"/>
              </a:ext>
            </a:extLst>
          </p:cNvPr>
          <p:cNvSpPr txBox="1">
            <a:spLocks/>
          </p:cNvSpPr>
          <p:nvPr/>
        </p:nvSpPr>
        <p:spPr>
          <a:xfrm>
            <a:off x="457201" y="6249391"/>
            <a:ext cx="4177267" cy="32146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sz="1200" b="1" dirty="0"/>
              <a:t>IN2 – 6001 – Programmation Orientée Objet JAVA</a:t>
            </a:r>
            <a:endParaRPr lang="fr-FR" sz="1200" b="1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9" name="Espace réservé du texte 7">
            <a:extLst>
              <a:ext uri="{FF2B5EF4-FFF2-40B4-BE49-F238E27FC236}">
                <a16:creationId xmlns:a16="http://schemas.microsoft.com/office/drawing/2014/main" id="{A73AF70B-0DC2-D84B-A8F1-DEAEB08FADFD}"/>
              </a:ext>
            </a:extLst>
          </p:cNvPr>
          <p:cNvSpPr txBox="1">
            <a:spLocks/>
          </p:cNvSpPr>
          <p:nvPr/>
        </p:nvSpPr>
        <p:spPr>
          <a:xfrm>
            <a:off x="457201" y="6502785"/>
            <a:ext cx="4177267" cy="3889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b="1" dirty="0"/>
              <a:t>Frédéric Ferrant – </a:t>
            </a:r>
            <a:r>
              <a:rPr lang="is-IS" sz="1200" b="1" dirty="0"/>
              <a:t>2025-2026</a:t>
            </a:r>
            <a:endParaRPr lang="fr-FR" sz="1200" b="1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6C5D55A8-0E87-874B-9388-8CD1306BB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314708" y="5717566"/>
            <a:ext cx="1107456" cy="462979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fld id="{33C783E2-4793-4F48-A271-51A73CC37D7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729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4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jfx.io/" TargetMode="External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etbrains.com/help/idea/javafx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www.jetbrains.com/help/idea/opening-fxml-files-in-javafx-scene-builder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if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iff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if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8" Type="http://schemas.microsoft.com/office/2007/relationships/hdphoto" Target="../media/hdphoto8.wdp"/><Relationship Id="rId3" Type="http://schemas.openxmlformats.org/officeDocument/2006/relationships/diagramLayout" Target="../diagrams/layout1.xml"/><Relationship Id="rId7" Type="http://schemas.openxmlformats.org/officeDocument/2006/relationships/image" Target="../media/image38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C16338-8FEF-9846-3E8D-6A6E291B15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JAVA 2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E3EB04-5815-5DFA-3BAB-7E6007A4E3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POO – Module 2</a:t>
            </a:r>
          </a:p>
          <a:p>
            <a:r>
              <a:rPr lang="fr-FR" dirty="0"/>
              <a:t>Semaine 9 – </a:t>
            </a:r>
            <a:r>
              <a:rPr lang="fr-FR" dirty="0" err="1"/>
              <a:t>JavaFX</a:t>
            </a:r>
            <a:r>
              <a:rPr lang="fr-FR" dirty="0"/>
              <a:t> (Calculatrice)</a:t>
            </a:r>
          </a:p>
        </p:txBody>
      </p:sp>
    </p:spTree>
    <p:extLst>
      <p:ext uri="{BB962C8B-B14F-4D97-AF65-F5344CB8AC3E}">
        <p14:creationId xmlns:p14="http://schemas.microsoft.com/office/powerpoint/2010/main" val="458771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BA38E6-91D6-0E28-4148-3A6223E41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Vu au dernier cours…</a:t>
            </a:r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4B38FA8B-146F-A83A-72AA-52BE2670D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fr-FR" dirty="0"/>
              <a:t>Les </a:t>
            </a:r>
            <a:r>
              <a:rPr lang="fr-FR" dirty="0">
                <a:solidFill>
                  <a:schemeClr val="accent4"/>
                </a:solidFill>
              </a:rPr>
              <a:t>Tests Unitaires</a:t>
            </a:r>
            <a:r>
              <a:rPr lang="fr-FR" dirty="0"/>
              <a:t> (</a:t>
            </a:r>
            <a:r>
              <a:rPr lang="fr-FR" dirty="0" err="1"/>
              <a:t>Junit</a:t>
            </a:r>
            <a:r>
              <a:rPr lang="fr-FR" dirty="0"/>
              <a:t>)</a:t>
            </a:r>
          </a:p>
          <a:p>
            <a:pPr lvl="1"/>
            <a:r>
              <a:rPr lang="fr-FR" dirty="0"/>
              <a:t>Comment activer </a:t>
            </a:r>
            <a:r>
              <a:rPr lang="fr-FR" dirty="0" err="1"/>
              <a:t>Junit</a:t>
            </a:r>
            <a:endParaRPr lang="fr-FR" dirty="0"/>
          </a:p>
          <a:p>
            <a:pPr lvl="1"/>
            <a:r>
              <a:rPr lang="fr-FR" dirty="0"/>
              <a:t>Comment créer un test unitaire</a:t>
            </a:r>
          </a:p>
          <a:p>
            <a:pPr lvl="1"/>
            <a:r>
              <a:rPr lang="fr-FR" dirty="0"/>
              <a:t>Les assertions –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assertTrue</a:t>
            </a:r>
            <a:r>
              <a:rPr lang="fr-FR" dirty="0"/>
              <a:t>,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assertEquals</a:t>
            </a:r>
            <a:r>
              <a:rPr lang="fr-FR" dirty="0"/>
              <a:t>,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assertThrows</a:t>
            </a:r>
            <a:r>
              <a:rPr lang="fr-FR" dirty="0"/>
              <a:t> …</a:t>
            </a:r>
          </a:p>
          <a:p>
            <a:pPr lvl="1"/>
            <a:r>
              <a:rPr lang="fr-FR" dirty="0"/>
              <a:t>Les annotations </a:t>
            </a:r>
          </a:p>
          <a:p>
            <a:pPr lvl="1"/>
            <a:r>
              <a:rPr lang="fr-FR" dirty="0"/>
              <a:t>Bonne pratique: TDD – Test Driven </a:t>
            </a:r>
            <a:r>
              <a:rPr lang="fr-FR" dirty="0" err="1"/>
              <a:t>Development</a:t>
            </a:r>
            <a:endParaRPr lang="fr-FR" dirty="0"/>
          </a:p>
          <a:p>
            <a:pPr lvl="1"/>
            <a:endParaRPr lang="fr-FR" dirty="0">
              <a:latin typeface="+mj-lt"/>
              <a:cs typeface="Consolas" panose="020B0609020204030204" pitchFamily="49" charset="0"/>
            </a:endParaRPr>
          </a:p>
          <a:p>
            <a:r>
              <a:rPr lang="fr-FR" dirty="0">
                <a:latin typeface="+mj-lt"/>
                <a:cs typeface="Consolas" panose="020B0609020204030204" pitchFamily="49" charset="0"/>
              </a:rPr>
              <a:t>La  programmation graphique</a:t>
            </a:r>
            <a:endParaRPr lang="fr-FR" dirty="0">
              <a:cs typeface="Consolas" panose="020B0609020204030204" pitchFamily="49" charset="0"/>
            </a:endParaRPr>
          </a:p>
          <a:p>
            <a:pPr lvl="1"/>
            <a:r>
              <a:rPr lang="fr-FR" dirty="0">
                <a:cs typeface="Consolas" panose="020B0609020204030204" pitchFamily="49" charset="0"/>
              </a:rPr>
              <a:t>Modèle MVC</a:t>
            </a:r>
          </a:p>
          <a:p>
            <a:pPr lvl="1"/>
            <a:r>
              <a:rPr lang="fr-FR" dirty="0">
                <a:cs typeface="Consolas" panose="020B0609020204030204" pitchFamily="49" charset="0"/>
              </a:rPr>
              <a:t>Les fichiers FXML</a:t>
            </a:r>
          </a:p>
          <a:p>
            <a:pPr lvl="1"/>
            <a:r>
              <a:rPr lang="fr-FR" dirty="0">
                <a:cs typeface="Consolas" panose="020B0609020204030204" pitchFamily="49" charset="0"/>
              </a:rPr>
              <a:t>La partie graphique de la calculatrice</a:t>
            </a:r>
            <a:endParaRPr lang="fr-FR" dirty="0">
              <a:solidFill>
                <a:schemeClr val="accent4"/>
              </a:solidFill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467824-5A05-7D4B-8C3A-9FF661A2D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6151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B8743-A1A3-F231-D0E5-83E3B5F4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xercices en retard format 16:9">
            <a:extLst>
              <a:ext uri="{FF2B5EF4-FFF2-40B4-BE49-F238E27FC236}">
                <a16:creationId xmlns:a16="http://schemas.microsoft.com/office/drawing/2014/main" id="{B63EA7A3-C6B0-E962-2E5D-A4999A4BB5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5" b="21875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CB2949B-7E66-D937-F71E-1BDB87DBA0C2}"/>
              </a:ext>
            </a:extLst>
          </p:cNvPr>
          <p:cNvSpPr txBox="1"/>
          <p:nvPr/>
        </p:nvSpPr>
        <p:spPr>
          <a:xfrm>
            <a:off x="838200" y="947821"/>
            <a:ext cx="10515600" cy="1015663"/>
          </a:xfrm>
          <a:prstGeom prst="rect">
            <a:avLst/>
          </a:prstGeom>
          <a:solidFill>
            <a:srgbClr val="3C696F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000" b="1" dirty="0"/>
              <a:t>Exercices…</a:t>
            </a:r>
            <a:endParaRPr lang="fr-FR" sz="1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F92B336-117C-217E-7A98-B98C382D97FF}"/>
              </a:ext>
            </a:extLst>
          </p:cNvPr>
          <p:cNvSpPr txBox="1"/>
          <p:nvPr/>
        </p:nvSpPr>
        <p:spPr>
          <a:xfrm>
            <a:off x="838200" y="2139312"/>
            <a:ext cx="10515600" cy="461665"/>
          </a:xfrm>
          <a:prstGeom prst="rect">
            <a:avLst/>
          </a:prstGeom>
          <a:solidFill>
            <a:srgbClr val="3C696F">
              <a:alpha val="74902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Les exercices du cours précédent…</a:t>
            </a:r>
          </a:p>
        </p:txBody>
      </p:sp>
    </p:spTree>
    <p:extLst>
      <p:ext uri="{BB962C8B-B14F-4D97-AF65-F5344CB8AC3E}">
        <p14:creationId xmlns:p14="http://schemas.microsoft.com/office/powerpoint/2010/main" val="1836031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609FE77-8CA1-3254-D477-8B447D80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43: écrivez les autres tests…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B1AE2E5B-BC55-548C-EE73-17DD68495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Essayez d’écrire les autres tests pour notre classe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Calculator</a:t>
            </a:r>
            <a:r>
              <a:rPr lang="fr-FR" dirty="0"/>
              <a:t>, en utilisant l’approche TDD.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Les méthodes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substract</a:t>
            </a:r>
            <a:r>
              <a:rPr lang="fr-FR" dirty="0"/>
              <a:t> et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multiply</a:t>
            </a:r>
            <a:r>
              <a:rPr lang="fr-FR" dirty="0"/>
              <a:t> ne devraient pas vous causer de souci… </a:t>
            </a:r>
          </a:p>
          <a:p>
            <a:pPr marL="0" indent="0">
              <a:buNone/>
            </a:pPr>
            <a:r>
              <a:rPr lang="fr-FR" dirty="0"/>
              <a:t>Par contre, pour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divide</a:t>
            </a:r>
            <a:r>
              <a:rPr lang="fr-FR" dirty="0"/>
              <a:t>, il y a deux cas à prévoir, puisque la division par </a:t>
            </a:r>
            <a:r>
              <a:rPr lang="fr-FR" dirty="0" err="1"/>
              <a:t>zero</a:t>
            </a:r>
            <a:r>
              <a:rPr lang="fr-FR" dirty="0"/>
              <a:t> cause une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ArithmeticException</a:t>
            </a:r>
            <a:r>
              <a:rPr lang="fr-FR" dirty="0"/>
              <a:t>…</a:t>
            </a:r>
          </a:p>
          <a:p>
            <a:pPr marL="0" indent="0">
              <a:buNone/>
            </a:pPr>
            <a:endParaRPr lang="fr-FR" sz="26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A17C640-364E-DEF3-434C-A4CB241AF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</a:t>
            </a:fld>
            <a:endParaRPr lang="fr-FR"/>
          </a:p>
        </p:txBody>
      </p:sp>
      <p:pic>
        <p:nvPicPr>
          <p:cNvPr id="3" name="Picture 2" descr="blog-nutrition-outlet">
            <a:extLst>
              <a:ext uri="{FF2B5EF4-FFF2-40B4-BE49-F238E27FC236}">
                <a16:creationId xmlns:a16="http://schemas.microsoft.com/office/drawing/2014/main" id="{1A9C27DA-E747-56F6-3989-3639C21B11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9317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Exercice</a:t>
            </a:r>
            <a:r>
              <a:rPr lang="en-GB" dirty="0"/>
              <a:t> 44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dirty="0" err="1"/>
              <a:t>Ecrivez</a:t>
            </a:r>
            <a:r>
              <a:rPr lang="en-GB" sz="2400" dirty="0"/>
              <a:t> </a:t>
            </a:r>
            <a:r>
              <a:rPr lang="en-GB" sz="2400" dirty="0" err="1"/>
              <a:t>une</a:t>
            </a:r>
            <a:r>
              <a:rPr lang="en-GB" sz="2400" dirty="0"/>
              <a:t> </a:t>
            </a:r>
            <a:r>
              <a:rPr lang="en-GB" sz="2400" dirty="0" err="1"/>
              <a:t>classe</a:t>
            </a:r>
            <a:r>
              <a:rPr lang="en-GB" sz="2400" dirty="0"/>
              <a:t> </a:t>
            </a:r>
            <a:r>
              <a:rPr lang="en-GB" sz="2200" dirty="0" err="1">
                <a:solidFill>
                  <a:schemeClr val="accent4"/>
                </a:solidFill>
                <a:latin typeface="Consolas" charset="0"/>
                <a:ea typeface="Consolas" charset="0"/>
                <a:cs typeface="Consolas" charset="0"/>
              </a:rPr>
              <a:t>Tirelire</a:t>
            </a:r>
            <a:r>
              <a:rPr lang="en-GB" sz="2400" dirty="0"/>
              <a:t> et </a:t>
            </a:r>
            <a:r>
              <a:rPr lang="en-GB" sz="2400" dirty="0" err="1"/>
              <a:t>sa</a:t>
            </a:r>
            <a:r>
              <a:rPr lang="en-GB" sz="2400" dirty="0"/>
              <a:t> </a:t>
            </a:r>
            <a:r>
              <a:rPr lang="en-GB" sz="2400" dirty="0" err="1"/>
              <a:t>classe</a:t>
            </a:r>
            <a:r>
              <a:rPr lang="en-GB" sz="2400" dirty="0"/>
              <a:t> de test. </a:t>
            </a:r>
            <a:br>
              <a:rPr lang="en-GB" sz="2400" dirty="0"/>
            </a:br>
            <a:r>
              <a:rPr lang="en-GB" sz="2400" dirty="0" err="1"/>
              <a:t>Cette</a:t>
            </a:r>
            <a:r>
              <a:rPr lang="en-GB" sz="2400" dirty="0"/>
              <a:t> </a:t>
            </a:r>
            <a:r>
              <a:rPr lang="en-GB" sz="2400" dirty="0" err="1"/>
              <a:t>classe</a:t>
            </a:r>
            <a:r>
              <a:rPr lang="en-GB" sz="2400" dirty="0"/>
              <a:t> a deux </a:t>
            </a:r>
            <a:r>
              <a:rPr lang="en-GB" sz="2400" dirty="0" err="1"/>
              <a:t>méthodes</a:t>
            </a:r>
            <a:r>
              <a:rPr lang="en-GB" sz="2400" dirty="0"/>
              <a:t>, pour </a:t>
            </a:r>
            <a:r>
              <a:rPr lang="en-GB" sz="2400" dirty="0" err="1"/>
              <a:t>effectuer</a:t>
            </a:r>
            <a:r>
              <a:rPr lang="en-GB" sz="2400" dirty="0"/>
              <a:t> un </a:t>
            </a:r>
            <a:r>
              <a:rPr lang="en-GB" sz="2400" dirty="0" err="1"/>
              <a:t>dépôt</a:t>
            </a:r>
            <a:r>
              <a:rPr lang="en-GB" sz="2400" dirty="0"/>
              <a:t> et un </a:t>
            </a:r>
            <a:r>
              <a:rPr lang="en-GB" sz="2400" dirty="0" err="1"/>
              <a:t>retrait</a:t>
            </a:r>
            <a:r>
              <a:rPr lang="en-GB" sz="2400" dirty="0"/>
              <a:t>.</a:t>
            </a:r>
          </a:p>
          <a:p>
            <a:pPr marL="0" indent="0">
              <a:buNone/>
            </a:pPr>
            <a:r>
              <a:rPr lang="en-GB" sz="2400" dirty="0" err="1"/>
              <a:t>Ecrivez</a:t>
            </a:r>
            <a:r>
              <a:rPr lang="en-GB" sz="2400" dirty="0"/>
              <a:t> </a:t>
            </a:r>
          </a:p>
          <a:p>
            <a:r>
              <a:rPr lang="en-GB" sz="2400" dirty="0" err="1"/>
              <a:t>d’abord</a:t>
            </a:r>
            <a:r>
              <a:rPr lang="en-GB" sz="2400" dirty="0"/>
              <a:t> les </a:t>
            </a:r>
            <a:r>
              <a:rPr lang="en-GB" sz="2400" dirty="0" err="1"/>
              <a:t>squelettes</a:t>
            </a:r>
            <a:r>
              <a:rPr lang="en-GB" sz="2400" dirty="0"/>
              <a:t> de </a:t>
            </a:r>
            <a:r>
              <a:rPr lang="en-GB" sz="2400" dirty="0" err="1"/>
              <a:t>vos</a:t>
            </a:r>
            <a:r>
              <a:rPr lang="en-GB" sz="2400" dirty="0"/>
              <a:t> </a:t>
            </a:r>
            <a:r>
              <a:rPr lang="en-GB" sz="2400" dirty="0" err="1"/>
              <a:t>deux</a:t>
            </a:r>
            <a:r>
              <a:rPr lang="en-GB" sz="2400" dirty="0"/>
              <a:t> </a:t>
            </a:r>
            <a:r>
              <a:rPr lang="en-GB" sz="2400" dirty="0" err="1"/>
              <a:t>méthodes</a:t>
            </a:r>
            <a:r>
              <a:rPr lang="en-GB" sz="2400" dirty="0"/>
              <a:t>, </a:t>
            </a:r>
          </a:p>
          <a:p>
            <a:r>
              <a:rPr lang="en-GB" sz="2400" dirty="0" err="1"/>
              <a:t>puis</a:t>
            </a:r>
            <a:r>
              <a:rPr lang="en-GB" sz="2400" dirty="0"/>
              <a:t> </a:t>
            </a:r>
            <a:r>
              <a:rPr lang="en-GB" sz="2400" dirty="0" err="1"/>
              <a:t>chaque</a:t>
            </a:r>
            <a:r>
              <a:rPr lang="en-GB" sz="2400" dirty="0"/>
              <a:t> </a:t>
            </a:r>
            <a:r>
              <a:rPr lang="en-GB" sz="2400" dirty="0" err="1"/>
              <a:t>cas</a:t>
            </a:r>
            <a:r>
              <a:rPr lang="en-GB" sz="2400" dirty="0"/>
              <a:t> de test et la </a:t>
            </a:r>
            <a:r>
              <a:rPr lang="en-GB" sz="2400" dirty="0" err="1"/>
              <a:t>méthode</a:t>
            </a:r>
            <a:r>
              <a:rPr lang="en-GB" sz="2400" dirty="0"/>
              <a:t> </a:t>
            </a:r>
            <a:r>
              <a:rPr lang="en-GB" sz="2400" dirty="0" err="1"/>
              <a:t>correspondante</a:t>
            </a:r>
            <a:endParaRPr lang="en-GB" sz="2400" dirty="0"/>
          </a:p>
          <a:p>
            <a:endParaRPr lang="en-GB" sz="2400" dirty="0"/>
          </a:p>
          <a:p>
            <a:pPr marL="0" indent="0">
              <a:buNone/>
            </a:pPr>
            <a:r>
              <a:rPr lang="en-GB" sz="2400" dirty="0"/>
              <a:t>Les </a:t>
            </a:r>
            <a:r>
              <a:rPr lang="en-GB" sz="2400" dirty="0" err="1"/>
              <a:t>méthodes</a:t>
            </a:r>
            <a:r>
              <a:rPr lang="en-GB" sz="2400" dirty="0"/>
              <a:t> </a:t>
            </a:r>
            <a:r>
              <a:rPr lang="en-GB" sz="2400" dirty="0" err="1"/>
              <a:t>sont</a:t>
            </a:r>
            <a:r>
              <a:rPr lang="en-GB" sz="2400" dirty="0"/>
              <a:t>:</a:t>
            </a:r>
          </a:p>
          <a:p>
            <a:r>
              <a:rPr lang="en-GB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depot(double)</a:t>
            </a:r>
            <a:r>
              <a:rPr lang="en-GB" sz="2400" dirty="0"/>
              <a:t> </a:t>
            </a:r>
            <a:r>
              <a:rPr lang="en-GB" sz="2400" dirty="0" err="1"/>
              <a:t>ajoute</a:t>
            </a:r>
            <a:r>
              <a:rPr lang="en-GB" sz="2400" dirty="0"/>
              <a:t> de </a:t>
            </a:r>
            <a:r>
              <a:rPr lang="en-GB" sz="2400" dirty="0" err="1"/>
              <a:t>l’argent</a:t>
            </a:r>
            <a:r>
              <a:rPr lang="en-GB" sz="2400" dirty="0"/>
              <a:t> dans </a:t>
            </a:r>
            <a:r>
              <a:rPr lang="en-GB" sz="2400" dirty="0" err="1"/>
              <a:t>votre</a:t>
            </a:r>
            <a:r>
              <a:rPr lang="en-GB" sz="2400" dirty="0"/>
              <a:t> </a:t>
            </a:r>
            <a:r>
              <a:rPr lang="en-GB" sz="2400" dirty="0" err="1"/>
              <a:t>tirelire</a:t>
            </a:r>
            <a:endParaRPr lang="en-GB" sz="2400" dirty="0"/>
          </a:p>
          <a:p>
            <a:r>
              <a:rPr lang="en-GB" sz="2200" dirty="0" err="1">
                <a:solidFill>
                  <a:schemeClr val="accent4"/>
                </a:solidFill>
                <a:latin typeface="Consolas" charset="0"/>
                <a:cs typeface="Consolas" charset="0"/>
              </a:rPr>
              <a:t>retrait</a:t>
            </a:r>
            <a:r>
              <a:rPr lang="en-GB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(double)</a:t>
            </a:r>
            <a:r>
              <a:rPr lang="en-GB" sz="2400" dirty="0"/>
              <a:t> retire de </a:t>
            </a:r>
            <a:r>
              <a:rPr lang="en-GB" sz="2400" dirty="0" err="1"/>
              <a:t>l’argent</a:t>
            </a:r>
            <a:r>
              <a:rPr lang="en-GB" sz="2400" dirty="0"/>
              <a:t> de </a:t>
            </a:r>
            <a:r>
              <a:rPr lang="en-GB" sz="2400" dirty="0" err="1"/>
              <a:t>votre</a:t>
            </a:r>
            <a:r>
              <a:rPr lang="en-GB" sz="2400" dirty="0"/>
              <a:t> </a:t>
            </a:r>
            <a:r>
              <a:rPr lang="en-GB" sz="2400" dirty="0" err="1"/>
              <a:t>tirelire</a:t>
            </a:r>
            <a:r>
              <a:rPr lang="en-GB" sz="2400" dirty="0"/>
              <a:t>, </a:t>
            </a:r>
            <a:r>
              <a:rPr lang="en-GB" sz="2400" dirty="0" err="1"/>
              <a:t>sauf</a:t>
            </a:r>
            <a:r>
              <a:rPr lang="en-GB" sz="2400" dirty="0"/>
              <a:t> </a:t>
            </a:r>
            <a:r>
              <a:rPr lang="en-GB" sz="2400" dirty="0" err="1"/>
              <a:t>si</a:t>
            </a:r>
            <a:r>
              <a:rPr lang="en-GB" sz="2400" dirty="0"/>
              <a:t> le </a:t>
            </a:r>
            <a:r>
              <a:rPr lang="en-GB" sz="2400" dirty="0" err="1"/>
              <a:t>montant</a:t>
            </a:r>
            <a:r>
              <a:rPr lang="en-GB" sz="2400" dirty="0"/>
              <a:t> </a:t>
            </a:r>
            <a:r>
              <a:rPr lang="en-GB" sz="2400" dirty="0" err="1"/>
              <a:t>demandé</a:t>
            </a:r>
            <a:r>
              <a:rPr lang="en-GB" sz="2400" dirty="0"/>
              <a:t> </a:t>
            </a:r>
            <a:r>
              <a:rPr lang="en-GB" sz="2400" dirty="0" err="1"/>
              <a:t>est</a:t>
            </a:r>
            <a:r>
              <a:rPr lang="en-GB" sz="2400" dirty="0"/>
              <a:t> plus </a:t>
            </a:r>
            <a:r>
              <a:rPr lang="en-GB" sz="2400" dirty="0" err="1"/>
              <a:t>élevé</a:t>
            </a:r>
            <a:r>
              <a:rPr lang="en-GB" sz="2400" dirty="0"/>
              <a:t> que le </a:t>
            </a:r>
            <a:r>
              <a:rPr lang="en-GB" sz="2400" dirty="0" err="1"/>
              <a:t>contenu</a:t>
            </a:r>
            <a:r>
              <a:rPr lang="en-GB" sz="2400" dirty="0"/>
              <a:t> de </a:t>
            </a:r>
            <a:r>
              <a:rPr lang="en-GB" sz="2400" dirty="0" err="1"/>
              <a:t>votre</a:t>
            </a:r>
            <a:r>
              <a:rPr lang="en-GB" sz="2400" dirty="0"/>
              <a:t> </a:t>
            </a:r>
            <a:r>
              <a:rPr lang="en-GB" sz="2400" dirty="0" err="1"/>
              <a:t>tirelire</a:t>
            </a:r>
            <a:r>
              <a:rPr lang="en-GB" sz="2400" dirty="0"/>
              <a:t> (</a:t>
            </a:r>
            <a:r>
              <a:rPr lang="en-GB" sz="2400" dirty="0" err="1"/>
              <a:t>quand</a:t>
            </a:r>
            <a:r>
              <a:rPr lang="en-GB" sz="2400" dirty="0"/>
              <a:t> </a:t>
            </a:r>
            <a:r>
              <a:rPr lang="en-GB" sz="2400" dirty="0" err="1"/>
              <a:t>c’est</a:t>
            </a:r>
            <a:r>
              <a:rPr lang="en-GB" sz="2400" dirty="0"/>
              <a:t> le </a:t>
            </a:r>
            <a:r>
              <a:rPr lang="en-GB" sz="2400" dirty="0" err="1"/>
              <a:t>cas</a:t>
            </a:r>
            <a:r>
              <a:rPr lang="en-GB" sz="2400" dirty="0"/>
              <a:t> </a:t>
            </a:r>
            <a:r>
              <a:rPr lang="en-GB" sz="2400" dirty="0" err="1"/>
              <a:t>une</a:t>
            </a:r>
            <a:r>
              <a:rPr lang="en-GB" sz="2400" dirty="0"/>
              <a:t> exception ‘</a:t>
            </a:r>
            <a:r>
              <a:rPr lang="en-GB" sz="2200" dirty="0" err="1">
                <a:solidFill>
                  <a:schemeClr val="accent4"/>
                </a:solidFill>
                <a:latin typeface="Consolas" charset="0"/>
                <a:cs typeface="Consolas" charset="0"/>
              </a:rPr>
              <a:t>ContenuInsuffisant</a:t>
            </a:r>
            <a:r>
              <a:rPr lang="en-GB" sz="2400" dirty="0"/>
              <a:t>’ </a:t>
            </a:r>
            <a:r>
              <a:rPr lang="en-GB" sz="2400" dirty="0" err="1"/>
              <a:t>est</a:t>
            </a:r>
            <a:r>
              <a:rPr lang="en-GB" sz="2400" dirty="0"/>
              <a:t> levée).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6E9A28C-3FD7-4FBD-D7DF-1995B5DC4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E80E64C-6AD0-2F8D-210E-59A6DC1AE7F2}"/>
              </a:ext>
            </a:extLst>
          </p:cNvPr>
          <p:cNvSpPr txBox="1"/>
          <p:nvPr/>
        </p:nvSpPr>
        <p:spPr>
          <a:xfrm>
            <a:off x="5257800" y="5992297"/>
            <a:ext cx="6096000" cy="369332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i="1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assertEquals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3.14159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myPi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0.001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5" name="Picture 2" descr="blog-nutrition-outlet">
            <a:extLst>
              <a:ext uri="{FF2B5EF4-FFF2-40B4-BE49-F238E27FC236}">
                <a16:creationId xmlns:a16="http://schemas.microsoft.com/office/drawing/2014/main" id="{5242D180-DAAD-C740-6EB5-D96E2FC51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93621" y="1"/>
            <a:ext cx="1968936" cy="196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7023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Exercice 45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Vous avez normalement écrit une méthode qui construit une collection </a:t>
            </a:r>
            <a:r>
              <a:rPr lang="fr-FR" sz="2400" i="1" dirty="0" err="1"/>
              <a:t>triée</a:t>
            </a:r>
            <a:r>
              <a:rPr lang="fr-FR" sz="2400" i="1" dirty="0"/>
              <a:t> </a:t>
            </a:r>
            <a:r>
              <a:rPr lang="fr-FR" sz="2400" dirty="0"/>
              <a:t>contenant 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cs typeface="Consolas" charset="0"/>
              </a:rPr>
              <a:t>n</a:t>
            </a:r>
            <a:r>
              <a:rPr lang="fr-FR" sz="2400" i="1" dirty="0"/>
              <a:t> </a:t>
            </a:r>
            <a:r>
              <a:rPr lang="fr-FR" sz="2400" dirty="0"/>
              <a:t>nombres entiers (</a:t>
            </a:r>
            <a:r>
              <a:rPr lang="fr-FR" sz="2200" dirty="0">
                <a:solidFill>
                  <a:schemeClr val="accent4"/>
                </a:solidFill>
                <a:latin typeface="Consolas" charset="0"/>
                <a:ea typeface="Consolas" charset="0"/>
                <a:cs typeface="Consolas" charset="0"/>
              </a:rPr>
              <a:t>Integer</a:t>
            </a:r>
            <a:r>
              <a:rPr lang="fr-FR" sz="2400" dirty="0"/>
              <a:t>) </a:t>
            </a:r>
            <a:r>
              <a:rPr lang="fr-FR" sz="2400" dirty="0" err="1"/>
              <a:t>tirés</a:t>
            </a:r>
            <a:r>
              <a:rPr lang="fr-FR" sz="2400" dirty="0"/>
              <a:t> au hasard entre 0 et 1000. </a:t>
            </a:r>
          </a:p>
          <a:p>
            <a:pPr marL="0" indent="0">
              <a:buNone/>
            </a:pPr>
            <a:r>
              <a:rPr lang="fr-FR" sz="2400" dirty="0"/>
              <a:t>Ecrivez un test unitaire qui vérifie que cette méthode fonctionne bien.</a:t>
            </a:r>
          </a:p>
          <a:p>
            <a:pPr marL="0" indent="0">
              <a:buNone/>
            </a:pPr>
            <a:endParaRPr lang="fr-FR" sz="2400" dirty="0"/>
          </a:p>
          <a:p>
            <a:pPr marL="0" indent="0" algn="just">
              <a:buNone/>
            </a:pPr>
            <a:r>
              <a:rPr lang="fr-FR" sz="2400" dirty="0"/>
              <a:t>Utilisez les trois étapes (</a:t>
            </a:r>
            <a:r>
              <a:rPr lang="en-GB" sz="2400" dirty="0"/>
              <a:t>organiser les </a:t>
            </a:r>
            <a:r>
              <a:rPr lang="en-GB" sz="2400" dirty="0" err="1"/>
              <a:t>données</a:t>
            </a:r>
            <a:r>
              <a:rPr lang="en-GB" sz="2400" dirty="0"/>
              <a:t>, </a:t>
            </a:r>
            <a:r>
              <a:rPr lang="en-GB" sz="2400" dirty="0" err="1"/>
              <a:t>exécuter</a:t>
            </a:r>
            <a:r>
              <a:rPr lang="en-GB" sz="2400" dirty="0"/>
              <a:t> </a:t>
            </a:r>
            <a:r>
              <a:rPr lang="en-GB" sz="2400" dirty="0" err="1"/>
              <a:t>l’action</a:t>
            </a:r>
            <a:r>
              <a:rPr lang="en-GB" sz="2400" dirty="0"/>
              <a:t> et </a:t>
            </a:r>
            <a:r>
              <a:rPr lang="en-GB" sz="2400" dirty="0" err="1"/>
              <a:t>récuperer</a:t>
            </a:r>
            <a:r>
              <a:rPr lang="en-GB" sz="2400" dirty="0"/>
              <a:t> le </a:t>
            </a:r>
            <a:r>
              <a:rPr lang="en-GB" sz="2400" dirty="0" err="1"/>
              <a:t>résultat</a:t>
            </a:r>
            <a:r>
              <a:rPr lang="en-GB" sz="2400" dirty="0"/>
              <a:t>, </a:t>
            </a:r>
            <a:r>
              <a:rPr lang="en-GB" sz="2400" dirty="0" err="1"/>
              <a:t>valider</a:t>
            </a:r>
            <a:r>
              <a:rPr lang="en-GB" sz="2400" dirty="0"/>
              <a:t>) pour structurer </a:t>
            </a:r>
            <a:r>
              <a:rPr lang="en-GB" sz="2400" dirty="0" err="1"/>
              <a:t>votre</a:t>
            </a:r>
            <a:r>
              <a:rPr lang="en-GB" sz="2400" dirty="0"/>
              <a:t> test.</a:t>
            </a:r>
            <a:endParaRPr lang="fr-FR" sz="2400" dirty="0"/>
          </a:p>
          <a:p>
            <a:pPr marL="0" indent="0">
              <a:buNone/>
            </a:pPr>
            <a:endParaRPr lang="fr-FR" sz="24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CB7D60-9E73-128C-F932-E8511B9F8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E0038F6-F505-46CB-D842-EA600E20479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01723" y="227193"/>
            <a:ext cx="2648560" cy="140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011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 robot qui assemble un puzzle représentant l'intérieur d'un superordinateur">
            <a:extLst>
              <a:ext uri="{FF2B5EF4-FFF2-40B4-BE49-F238E27FC236}">
                <a16:creationId xmlns:a16="http://schemas.microsoft.com/office/drawing/2014/main" id="{600BD3C5-8C45-3EEF-5808-6E248F6B39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3" b="32870"/>
          <a:stretch/>
        </p:blipFill>
        <p:spPr bwMode="auto">
          <a:xfrm>
            <a:off x="3001" y="-1"/>
            <a:ext cx="1218599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B3831DA9-FBA5-F9EC-6BB4-2F4B7DA0DD8A}"/>
              </a:ext>
            </a:extLst>
          </p:cNvPr>
          <p:cNvSpPr txBox="1"/>
          <p:nvPr/>
        </p:nvSpPr>
        <p:spPr>
          <a:xfrm>
            <a:off x="838200" y="947821"/>
            <a:ext cx="10515600" cy="1015663"/>
          </a:xfrm>
          <a:prstGeom prst="rect">
            <a:avLst/>
          </a:prstGeom>
          <a:solidFill>
            <a:srgbClr val="53A6D5">
              <a:alpha val="75294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6000" b="1" dirty="0" err="1"/>
              <a:t>JavaFX</a:t>
            </a:r>
            <a:endParaRPr lang="fr-FR" sz="16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B9635C0-7CBA-6DD9-8493-48DDA6F9B7D8}"/>
              </a:ext>
            </a:extLst>
          </p:cNvPr>
          <p:cNvSpPr txBox="1"/>
          <p:nvPr/>
        </p:nvSpPr>
        <p:spPr>
          <a:xfrm>
            <a:off x="838200" y="2139312"/>
            <a:ext cx="10515600" cy="461665"/>
          </a:xfrm>
          <a:prstGeom prst="rect">
            <a:avLst/>
          </a:prstGeom>
          <a:solidFill>
            <a:srgbClr val="53A6D5">
              <a:alpha val="75294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fr-FR" sz="2400" dirty="0"/>
              <a:t>Programmation graphique en Java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8384684E-4F19-1DC3-B47D-F41FA58BCC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0522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JavaFX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>
                <a:solidFill>
                  <a:schemeClr val="accent4"/>
                </a:solidFill>
              </a:rPr>
              <a:t>Introduction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Configuration d’</a:t>
            </a:r>
            <a:r>
              <a:rPr lang="fr-FR" dirty="0" err="1"/>
              <a:t>IntelliJ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Premier projet en </a:t>
            </a:r>
            <a:r>
              <a:rPr lang="fr-FR" dirty="0" err="1"/>
              <a:t>JavaFX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Une calculatrice</a:t>
            </a: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La Vue</a:t>
            </a: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 Contrôleur</a:t>
            </a: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 Modèle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10A63B2-7AC2-1102-2523-655FDE904C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7698737"/>
      </p:ext>
    </p:extLst>
  </p:cSld>
  <p:clrMapOvr>
    <a:masterClrMapping/>
  </p:clrMapOvr>
  <p:transition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Introduction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Nous allons à présent aborder la programmation d’interfaces graphiques.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Depuis le début, Java inclut des API permettant de construire des applications graphiques.</a:t>
            </a:r>
          </a:p>
          <a:p>
            <a:pPr marL="342900" indent="-342900"/>
            <a:r>
              <a:rPr lang="fr-FR" dirty="0">
                <a:solidFill>
                  <a:schemeClr val="accent4"/>
                </a:solidFill>
              </a:rPr>
              <a:t>AWT</a:t>
            </a:r>
            <a:r>
              <a:rPr lang="fr-FR" dirty="0"/>
              <a:t> (Abstract </a:t>
            </a:r>
            <a:r>
              <a:rPr lang="fr-FR" dirty="0" err="1"/>
              <a:t>Window</a:t>
            </a:r>
            <a:r>
              <a:rPr lang="fr-FR" dirty="0"/>
              <a:t> </a:t>
            </a:r>
            <a:r>
              <a:rPr lang="fr-FR" dirty="0" err="1"/>
              <a:t>Toolkit</a:t>
            </a:r>
            <a:r>
              <a:rPr lang="fr-FR" dirty="0"/>
              <a:t>), </a:t>
            </a:r>
          </a:p>
          <a:p>
            <a:pPr marL="342900" indent="-342900"/>
            <a:r>
              <a:rPr lang="fr-FR" dirty="0">
                <a:solidFill>
                  <a:schemeClr val="accent4"/>
                </a:solidFill>
              </a:rPr>
              <a:t>Swing</a:t>
            </a:r>
            <a:r>
              <a:rPr lang="fr-FR" dirty="0"/>
              <a:t>, sorti avec Java 2 en 2007</a:t>
            </a:r>
          </a:p>
          <a:p>
            <a:pPr marL="342900" indent="-342900"/>
            <a:r>
              <a:rPr lang="fr-FR" dirty="0" err="1">
                <a:solidFill>
                  <a:schemeClr val="accent4"/>
                </a:solidFill>
              </a:rPr>
              <a:t>JavaFX</a:t>
            </a:r>
            <a:r>
              <a:rPr lang="fr-FR" dirty="0"/>
              <a:t>, inclus dans Java 8 puis sorti du JDK en Java 11.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28FD58A-126A-E04A-BED9-D240D47BFCF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3864" y="230192"/>
            <a:ext cx="1906387" cy="1173161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3C91B6C-803C-A125-87A9-C93A8661A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0533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AWT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Le premier </a:t>
            </a:r>
            <a:r>
              <a:rPr lang="fr-FR" dirty="0" err="1"/>
              <a:t>framework</a:t>
            </a:r>
            <a:r>
              <a:rPr lang="fr-FR" dirty="0"/>
              <a:t>, </a:t>
            </a:r>
            <a:r>
              <a:rPr lang="fr-FR" dirty="0">
                <a:solidFill>
                  <a:schemeClr val="accent4"/>
                </a:solidFill>
              </a:rPr>
              <a:t>AWT</a:t>
            </a:r>
            <a:r>
              <a:rPr lang="fr-FR" dirty="0"/>
              <a:t> (Abstract </a:t>
            </a:r>
            <a:r>
              <a:rPr lang="fr-FR" dirty="0" err="1"/>
              <a:t>Window</a:t>
            </a:r>
            <a:r>
              <a:rPr lang="fr-FR" dirty="0"/>
              <a:t> </a:t>
            </a:r>
            <a:r>
              <a:rPr lang="fr-FR" dirty="0" err="1"/>
              <a:t>Toolkit</a:t>
            </a:r>
            <a:r>
              <a:rPr lang="fr-FR" dirty="0"/>
              <a:t>), était fortement lié avec la plateforme sur laquelle il tournait: les composants AWT (boutons, zones de textes,…) étaient </a:t>
            </a:r>
            <a:r>
              <a:rPr lang="fr-FR" dirty="0">
                <a:solidFill>
                  <a:schemeClr val="accent4"/>
                </a:solidFill>
              </a:rPr>
              <a:t>associés aux composants de l’OS</a:t>
            </a:r>
            <a:r>
              <a:rPr lang="fr-FR" dirty="0">
                <a:solidFill>
                  <a:schemeClr val="accent2"/>
                </a:solidFill>
              </a:rPr>
              <a:t> </a:t>
            </a:r>
            <a:r>
              <a:rPr lang="fr-FR" dirty="0"/>
              <a:t>sur lequel ils s’exécutaient.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Il y avait donc une couche d’adaptation entre Java et l’OS, qui causait des problèmes de compatibilité, provoquant des comportements différents d’un OS à l’autre…</a:t>
            </a:r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E013156-D239-F076-9794-D15768E7C94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3864" y="230192"/>
            <a:ext cx="1906387" cy="1173161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4A447A-4FC9-5C29-F7BA-E362DEF42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72511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SWING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>
                <a:solidFill>
                  <a:schemeClr val="accent4"/>
                </a:solidFill>
              </a:rPr>
              <a:t>Swing</a:t>
            </a:r>
            <a:r>
              <a:rPr lang="fr-FR" dirty="0"/>
              <a:t>, sorti avec Java 2, est indépendant de la plateforme sur laquelle il s’exécute. </a:t>
            </a:r>
          </a:p>
          <a:p>
            <a:pPr marL="0" indent="0">
              <a:buNone/>
            </a:pPr>
            <a:r>
              <a:rPr lang="fr-FR" dirty="0"/>
              <a:t>Swing présente les quatre familles de classes suivantes: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>
                <a:solidFill>
                  <a:schemeClr val="accent4"/>
                </a:solidFill>
              </a:rPr>
              <a:t>Des composants</a:t>
            </a:r>
            <a:br>
              <a:rPr lang="fr-FR" dirty="0">
                <a:solidFill>
                  <a:schemeClr val="accent2"/>
                </a:solidFill>
              </a:rPr>
            </a:br>
            <a:r>
              <a:rPr lang="fr-FR" dirty="0"/>
              <a:t>Ce sont les éléments qui constituent les interfaces graphiques: boutons, textes, images, fenêtres,….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>
                <a:solidFill>
                  <a:schemeClr val="accent4"/>
                </a:solidFill>
              </a:rPr>
              <a:t>Des conteneurs</a:t>
            </a:r>
            <a:br>
              <a:rPr lang="fr-FR" dirty="0">
                <a:solidFill>
                  <a:schemeClr val="accent2"/>
                </a:solidFill>
              </a:rPr>
            </a:br>
            <a:r>
              <a:rPr lang="fr-FR" dirty="0"/>
              <a:t>Ce sont des composants qui peuvent en contenir d’autres.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>
                <a:solidFill>
                  <a:schemeClr val="accent4"/>
                </a:solidFill>
              </a:rPr>
              <a:t>Des gestionnaires de placement</a:t>
            </a:r>
            <a:br>
              <a:rPr lang="fr-FR" dirty="0">
                <a:solidFill>
                  <a:schemeClr val="accent2"/>
                </a:solidFill>
              </a:rPr>
            </a:br>
            <a:r>
              <a:rPr lang="fr-FR" dirty="0"/>
              <a:t>Le placement des éléments leur est confié; ceci permet aux applications Swing d’être exécutées sur des environnements différents, en pouvant s’y adapter.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>
                <a:solidFill>
                  <a:schemeClr val="accent4"/>
                </a:solidFill>
              </a:rPr>
              <a:t>Des gestionnaires d’événements</a:t>
            </a:r>
            <a:br>
              <a:rPr lang="fr-FR" dirty="0"/>
            </a:br>
            <a:r>
              <a:rPr lang="fr-FR" dirty="0"/>
              <a:t>Les actions de l’utilisateur sont représentées par des événements, objets qui sont traités par les gestionnaires d’événements.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B3630E5-996B-0D29-3608-E80A4B30E49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3864" y="230192"/>
            <a:ext cx="1906387" cy="1173161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5A0CB2F-48D7-B88C-585A-FEB56AFC64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7059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J</a:t>
            </a:r>
            <a:r>
              <a:rPr lang="fr-FR" cap="none" dirty="0" err="1"/>
              <a:t>ava</a:t>
            </a:r>
            <a:r>
              <a:rPr lang="fr-FR" dirty="0" err="1"/>
              <a:t>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La bibliothèque </a:t>
            </a:r>
            <a:r>
              <a:rPr lang="fr-FR" dirty="0" err="1">
                <a:solidFill>
                  <a:schemeClr val="accent4"/>
                </a:solidFill>
              </a:rPr>
              <a:t>JavaFX</a:t>
            </a:r>
            <a:r>
              <a:rPr lang="fr-FR" dirty="0"/>
              <a:t> a été conçue pour remplacer Swing et AWT pour pallier les défauts de ces derniers et fournir de nouvelles fonctionnalités (dont le support des écrans tactiles).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JavaFX</a:t>
            </a:r>
            <a:r>
              <a:rPr lang="fr-FR" dirty="0"/>
              <a:t> est la bibliothèque de création d'interface graphique officielle du langage Java, le développement de Swing (et AWT) étant abandonné.</a:t>
            </a:r>
          </a:p>
          <a:p>
            <a:pPr marL="0" indent="0">
              <a:buNone/>
            </a:pPr>
            <a:r>
              <a:rPr lang="fr-FR" dirty="0"/>
              <a:t>Depuis la version 11 de Java, le projet est dissocié du JDK, et </a:t>
            </a:r>
            <a:r>
              <a:rPr lang="fr-FR" dirty="0" err="1"/>
              <a:t>JavaFX</a:t>
            </a:r>
            <a:r>
              <a:rPr lang="fr-FR" dirty="0"/>
              <a:t> est maintenant un projet open-source géré par la communauté </a:t>
            </a:r>
            <a:r>
              <a:rPr lang="fr-FR" dirty="0" err="1"/>
              <a:t>OpenFX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7389D14-5CF9-E8D8-A60C-E812FFDB31D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3864" y="230192"/>
            <a:ext cx="1906387" cy="117316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E354BBE-5B26-4D96-3280-15200CA8BD6F}"/>
              </a:ext>
            </a:extLst>
          </p:cNvPr>
          <p:cNvSpPr txBox="1"/>
          <p:nvPr/>
        </p:nvSpPr>
        <p:spPr>
          <a:xfrm>
            <a:off x="8499087" y="6127232"/>
            <a:ext cx="28547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b="0" i="0" u="sng" dirty="0">
                <a:effectLst/>
                <a:latin typeface="Söhne"/>
                <a:hlinkClick r:id="rId3"/>
              </a:rPr>
              <a:t>https://openjfx.io/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ACA11F8-FBC2-B306-9EA2-D1294750C8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7236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err="1"/>
              <a:t>J</a:t>
            </a:r>
            <a:r>
              <a:rPr lang="fr-FR" cap="none" dirty="0" err="1"/>
              <a:t>ava</a:t>
            </a:r>
            <a:r>
              <a:rPr lang="fr-FR" dirty="0" err="1"/>
              <a:t>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 err="1">
                <a:solidFill>
                  <a:schemeClr val="accent4"/>
                </a:solidFill>
              </a:rPr>
              <a:t>JavaFX</a:t>
            </a:r>
            <a:r>
              <a:rPr lang="fr-FR" dirty="0"/>
              <a:t> est composé des 7 modules (packages) suivants:</a:t>
            </a:r>
          </a:p>
          <a:p>
            <a:pPr marL="342900" indent="-342900"/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javafx.base</a:t>
            </a:r>
            <a:r>
              <a:rPr lang="fr-FR" dirty="0"/>
              <a:t>: l'API de base</a:t>
            </a:r>
          </a:p>
          <a:p>
            <a:pPr marL="342900" indent="-342900"/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javafx.controls</a:t>
            </a:r>
            <a:r>
              <a:rPr lang="fr-FR" dirty="0"/>
              <a:t>: la majorité des composants graphiques de l'API</a:t>
            </a:r>
          </a:p>
          <a:p>
            <a:pPr marL="342900" indent="-342900"/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javafx.fxml</a:t>
            </a:r>
            <a:r>
              <a:rPr lang="fr-FR" dirty="0"/>
              <a:t>: définit le langage FXML qui permet de décrire une interface utilisateur en XML</a:t>
            </a:r>
          </a:p>
          <a:p>
            <a:pPr marL="342900" indent="-342900"/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javafx.graphics</a:t>
            </a:r>
            <a:r>
              <a:rPr lang="fr-FR" dirty="0"/>
              <a:t>: les  conteneurs, animations, effets visuels, formes 2D et 3D, images, …</a:t>
            </a:r>
          </a:p>
          <a:p>
            <a:pPr marL="342900" indent="-342900"/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javafx.media</a:t>
            </a:r>
            <a:r>
              <a:rPr lang="fr-FR" dirty="0"/>
              <a:t>: lecture de contenu audio et vidéo</a:t>
            </a:r>
          </a:p>
          <a:p>
            <a:pPr marL="342900" indent="-342900"/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javafx.swing</a:t>
            </a:r>
            <a:r>
              <a:rPr lang="fr-FR" dirty="0"/>
              <a:t>: fournit le support entre </a:t>
            </a:r>
            <a:r>
              <a:rPr lang="fr-FR" dirty="0" err="1"/>
              <a:t>JavaFX</a:t>
            </a:r>
            <a:r>
              <a:rPr lang="fr-FR" dirty="0"/>
              <a:t> et Swing</a:t>
            </a:r>
          </a:p>
          <a:p>
            <a:pPr marL="342900" indent="-342900"/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javafx.web</a:t>
            </a:r>
            <a:r>
              <a:rPr lang="fr-FR" dirty="0"/>
              <a:t>: permet l'affichage de contenu web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0EE2E46-9B1B-6DF0-C286-17F1CAE4C8D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73864" y="230192"/>
            <a:ext cx="1906387" cy="1173161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27CCD73-B316-2426-88F5-F1E78CC47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9279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Model View Controller Pattern – MVC Architecture and ...">
            <a:extLst>
              <a:ext uri="{FF2B5EF4-FFF2-40B4-BE49-F238E27FC236}">
                <a16:creationId xmlns:a16="http://schemas.microsoft.com/office/drawing/2014/main" id="{EA8F9335-5DA4-F388-17A4-6CF5D6DFD8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728787" y="3154473"/>
            <a:ext cx="5071324" cy="3354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Architecture MVC</a:t>
            </a:r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A57EA07B-F525-1E8B-C527-4C1985B85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60950"/>
          </a:xfrm>
        </p:spPr>
        <p:txBody>
          <a:bodyPr/>
          <a:lstStyle/>
          <a:p>
            <a:pPr marL="0" indent="0">
              <a:buNone/>
            </a:pPr>
            <a:r>
              <a:rPr lang="fr-FR" sz="2800" dirty="0"/>
              <a:t>Pour des projets graphiques (qui contiennent une partie interface graphique), il est bon de structurer les packages de manière à appliquer le principe </a:t>
            </a:r>
            <a:r>
              <a:rPr lang="fr-FR" sz="2800" dirty="0">
                <a:solidFill>
                  <a:schemeClr val="accent4"/>
                </a:solidFill>
              </a:rPr>
              <a:t>MVC</a:t>
            </a:r>
            <a:r>
              <a:rPr lang="fr-FR" sz="2800" dirty="0"/>
              <a:t> (</a:t>
            </a:r>
            <a:r>
              <a:rPr lang="fr-FR" sz="2800" u="sng" dirty="0">
                <a:solidFill>
                  <a:schemeClr val="accent4"/>
                </a:solidFill>
              </a:rPr>
              <a:t>M</a:t>
            </a:r>
            <a:r>
              <a:rPr lang="fr-FR" sz="2800" dirty="0"/>
              <a:t>odèle </a:t>
            </a:r>
            <a:r>
              <a:rPr lang="fr-FR" sz="2800" u="sng" dirty="0">
                <a:solidFill>
                  <a:schemeClr val="accent4"/>
                </a:solidFill>
              </a:rPr>
              <a:t>V</a:t>
            </a:r>
            <a:r>
              <a:rPr lang="fr-FR" sz="2800" dirty="0"/>
              <a:t>ue </a:t>
            </a:r>
            <a:r>
              <a:rPr lang="fr-FR" sz="2800" u="sng" dirty="0">
                <a:solidFill>
                  <a:schemeClr val="accent4"/>
                </a:solidFill>
              </a:rPr>
              <a:t>C</a:t>
            </a:r>
            <a:r>
              <a:rPr lang="fr-FR" sz="2800" dirty="0"/>
              <a:t>ontrôleur).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E85C0233-1AED-BEB3-0073-FCDF3E4E07C3}"/>
              </a:ext>
            </a:extLst>
          </p:cNvPr>
          <p:cNvSpPr txBox="1">
            <a:spLocks/>
          </p:cNvSpPr>
          <p:nvPr/>
        </p:nvSpPr>
        <p:spPr>
          <a:xfrm>
            <a:off x="838200" y="3154474"/>
            <a:ext cx="5890586" cy="30224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/>
              <a:t>Le </a:t>
            </a:r>
            <a:r>
              <a:rPr lang="fr-FR" sz="2400" dirty="0">
                <a:solidFill>
                  <a:schemeClr val="accent4"/>
                </a:solidFill>
              </a:rPr>
              <a:t>modèle</a:t>
            </a:r>
            <a:r>
              <a:rPr lang="fr-FR" sz="2400" dirty="0"/>
              <a:t> contient les </a:t>
            </a:r>
            <a:r>
              <a:rPr lang="fr-FR" sz="2400" dirty="0">
                <a:solidFill>
                  <a:schemeClr val="accent4"/>
                </a:solidFill>
              </a:rPr>
              <a:t>données</a:t>
            </a:r>
            <a:r>
              <a:rPr lang="fr-FR" sz="2400" dirty="0"/>
              <a:t> et la </a:t>
            </a:r>
            <a:r>
              <a:rPr lang="fr-FR" sz="2400" dirty="0">
                <a:solidFill>
                  <a:schemeClr val="accent4"/>
                </a:solidFill>
              </a:rPr>
              <a:t>logique métier</a:t>
            </a:r>
          </a:p>
          <a:p>
            <a:r>
              <a:rPr lang="fr-FR" sz="2400" dirty="0"/>
              <a:t>La </a:t>
            </a:r>
            <a:r>
              <a:rPr lang="fr-FR" sz="2400" dirty="0">
                <a:solidFill>
                  <a:schemeClr val="accent4"/>
                </a:solidFill>
              </a:rPr>
              <a:t>vue</a:t>
            </a:r>
            <a:r>
              <a:rPr lang="fr-FR" sz="2400" dirty="0"/>
              <a:t> représente l’état du modèle</a:t>
            </a:r>
          </a:p>
          <a:p>
            <a:r>
              <a:rPr lang="fr-FR" sz="2400" dirty="0"/>
              <a:t>Le </a:t>
            </a:r>
            <a:r>
              <a:rPr lang="fr-FR" sz="2400" dirty="0">
                <a:solidFill>
                  <a:schemeClr val="accent4"/>
                </a:solidFill>
              </a:rPr>
              <a:t>contrôleur</a:t>
            </a:r>
            <a:r>
              <a:rPr lang="fr-FR" sz="2400" dirty="0"/>
              <a:t> est le cerveau de l’application</a:t>
            </a:r>
          </a:p>
          <a:p>
            <a:r>
              <a:rPr lang="fr-FR" sz="2400" dirty="0"/>
              <a:t>Le </a:t>
            </a:r>
            <a:r>
              <a:rPr lang="fr-FR" sz="2400" dirty="0">
                <a:solidFill>
                  <a:schemeClr val="accent4"/>
                </a:solidFill>
              </a:rPr>
              <a:t>contrôleur</a:t>
            </a:r>
            <a:r>
              <a:rPr lang="fr-FR" sz="2400" dirty="0"/>
              <a:t> met à jour le modèle</a:t>
            </a:r>
          </a:p>
          <a:p>
            <a:r>
              <a:rPr lang="fr-FR" sz="2400" dirty="0"/>
              <a:t>Le </a:t>
            </a:r>
            <a:r>
              <a:rPr lang="fr-FR" sz="2400" dirty="0">
                <a:solidFill>
                  <a:schemeClr val="accent4"/>
                </a:solidFill>
              </a:rPr>
              <a:t>contrôleur</a:t>
            </a:r>
            <a:r>
              <a:rPr lang="fr-FR" sz="2400" dirty="0"/>
              <a:t> avertit la vue en cas</a:t>
            </a:r>
            <a:br>
              <a:rPr lang="fr-FR" sz="2400" dirty="0"/>
            </a:br>
            <a:r>
              <a:rPr lang="fr-FR" sz="2400" dirty="0"/>
              <a:t>de changement</a:t>
            </a:r>
          </a:p>
        </p:txBody>
      </p:sp>
      <p:sp>
        <p:nvSpPr>
          <p:cNvPr id="5" name="Flèche vers la droite 4">
            <a:extLst>
              <a:ext uri="{FF2B5EF4-FFF2-40B4-BE49-F238E27FC236}">
                <a16:creationId xmlns:a16="http://schemas.microsoft.com/office/drawing/2014/main" id="{F9F996D5-50C8-1E4C-9A6D-CAB58421CE29}"/>
              </a:ext>
            </a:extLst>
          </p:cNvPr>
          <p:cNvSpPr/>
          <p:nvPr/>
        </p:nvSpPr>
        <p:spPr>
          <a:xfrm rot="5400000">
            <a:off x="10750530" y="4579885"/>
            <a:ext cx="402273" cy="331470"/>
          </a:xfrm>
          <a:prstGeom prst="rightArrow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èche vers la droite 8">
            <a:extLst>
              <a:ext uri="{FF2B5EF4-FFF2-40B4-BE49-F238E27FC236}">
                <a16:creationId xmlns:a16="http://schemas.microsoft.com/office/drawing/2014/main" id="{A4D75482-071F-5641-918F-BF322C2B7BA4}"/>
              </a:ext>
            </a:extLst>
          </p:cNvPr>
          <p:cNvSpPr/>
          <p:nvPr/>
        </p:nvSpPr>
        <p:spPr>
          <a:xfrm rot="5400000">
            <a:off x="7459932" y="4650825"/>
            <a:ext cx="402273" cy="331470"/>
          </a:xfrm>
          <a:prstGeom prst="rightArrow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èche vers la droite 10">
            <a:extLst>
              <a:ext uri="{FF2B5EF4-FFF2-40B4-BE49-F238E27FC236}">
                <a16:creationId xmlns:a16="http://schemas.microsoft.com/office/drawing/2014/main" id="{6EA51A3E-1257-5247-96A5-1C0EF5B87516}"/>
              </a:ext>
            </a:extLst>
          </p:cNvPr>
          <p:cNvSpPr/>
          <p:nvPr/>
        </p:nvSpPr>
        <p:spPr>
          <a:xfrm rot="5400000">
            <a:off x="9063312" y="3120840"/>
            <a:ext cx="402273" cy="331470"/>
          </a:xfrm>
          <a:prstGeom prst="rightArrow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 vers la droite 11">
            <a:extLst>
              <a:ext uri="{FF2B5EF4-FFF2-40B4-BE49-F238E27FC236}">
                <a16:creationId xmlns:a16="http://schemas.microsoft.com/office/drawing/2014/main" id="{759A77B1-5B63-1E4F-B069-2B60D255E419}"/>
              </a:ext>
            </a:extLst>
          </p:cNvPr>
          <p:cNvSpPr/>
          <p:nvPr/>
        </p:nvSpPr>
        <p:spPr>
          <a:xfrm rot="10800000">
            <a:off x="10799354" y="4012761"/>
            <a:ext cx="402273" cy="331470"/>
          </a:xfrm>
          <a:prstGeom prst="rightArrow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Flèche vers la droite 18">
            <a:extLst>
              <a:ext uri="{FF2B5EF4-FFF2-40B4-BE49-F238E27FC236}">
                <a16:creationId xmlns:a16="http://schemas.microsoft.com/office/drawing/2014/main" id="{700506B3-7D53-C1E7-2A02-A7DD401D3D17}"/>
              </a:ext>
            </a:extLst>
          </p:cNvPr>
          <p:cNvSpPr/>
          <p:nvPr/>
        </p:nvSpPr>
        <p:spPr>
          <a:xfrm>
            <a:off x="7372785" y="4012761"/>
            <a:ext cx="402273" cy="331470"/>
          </a:xfrm>
          <a:prstGeom prst="rightArrow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06BCEAC-FF74-CBBE-B058-6DBF68DC92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7518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7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1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5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9" dur="indefinite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3" dur="indefinite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9" grpId="0" animBg="1"/>
      <p:bldP spid="19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JavaFX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Introduction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>
                <a:solidFill>
                  <a:schemeClr val="accent4"/>
                </a:solidFill>
              </a:rPr>
              <a:t>Configuration d’</a:t>
            </a:r>
            <a:r>
              <a:rPr lang="fr-FR" dirty="0" err="1">
                <a:solidFill>
                  <a:schemeClr val="accent4"/>
                </a:solidFill>
              </a:rPr>
              <a:t>IntelliJ</a:t>
            </a:r>
            <a:endParaRPr lang="fr-FR" dirty="0">
              <a:solidFill>
                <a:schemeClr val="accent4"/>
              </a:solidFill>
            </a:endParaRP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Premier projet en </a:t>
            </a:r>
            <a:r>
              <a:rPr lang="fr-FR" dirty="0" err="1"/>
              <a:t>JavaFX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Une calculatrice</a:t>
            </a: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La Vue</a:t>
            </a: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 Contrôleur</a:t>
            </a: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 Modèle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1E17A38-7512-2799-A093-1C23B9BB51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1473381"/>
      </p:ext>
    </p:extLst>
  </p:cSld>
  <p:clrMapOvr>
    <a:masterClrMapping/>
  </p:clrMapOvr>
  <p:transition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Configuration d’</a:t>
            </a:r>
            <a:r>
              <a:rPr lang="fr-FR" dirty="0" err="1"/>
              <a:t>IntelliJ</a:t>
            </a:r>
            <a:r>
              <a:rPr lang="fr-FR" dirty="0"/>
              <a:t> pour </a:t>
            </a:r>
            <a:r>
              <a:rPr lang="fr-FR" dirty="0" err="1"/>
              <a:t>JavaFX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 err="1"/>
              <a:t>IntelliJ</a:t>
            </a:r>
            <a:r>
              <a:rPr lang="fr-FR" dirty="0"/>
              <a:t> fonctionne avec </a:t>
            </a:r>
            <a:r>
              <a:rPr lang="fr-FR" dirty="0" err="1"/>
              <a:t>JavaFX</a:t>
            </a:r>
            <a:r>
              <a:rPr lang="fr-FR" dirty="0"/>
              <a:t> de façon native.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Pour pouvoir l’utiliser, il faut cependant:</a:t>
            </a:r>
          </a:p>
          <a:p>
            <a:pPr marL="342900" indent="-342900"/>
            <a:r>
              <a:rPr lang="fr-FR" dirty="0"/>
              <a:t>Télécharger le </a:t>
            </a:r>
            <a:r>
              <a:rPr lang="fr-FR" dirty="0">
                <a:solidFill>
                  <a:schemeClr val="accent4"/>
                </a:solidFill>
              </a:rPr>
              <a:t>JDK </a:t>
            </a:r>
            <a:r>
              <a:rPr lang="fr-FR" dirty="0" err="1">
                <a:solidFill>
                  <a:schemeClr val="accent4"/>
                </a:solidFill>
              </a:rPr>
              <a:t>JavaFX</a:t>
            </a:r>
            <a:r>
              <a:rPr lang="fr-FR" dirty="0"/>
              <a:t>.</a:t>
            </a:r>
          </a:p>
          <a:p>
            <a:pPr marL="342900" indent="-342900"/>
            <a:r>
              <a:rPr lang="fr-FR" dirty="0"/>
              <a:t>Activer le </a:t>
            </a:r>
            <a:r>
              <a:rPr lang="fr-FR" dirty="0">
                <a:solidFill>
                  <a:schemeClr val="accent4"/>
                </a:solidFill>
              </a:rPr>
              <a:t>plugin </a:t>
            </a:r>
            <a:r>
              <a:rPr lang="fr-FR" dirty="0" err="1">
                <a:solidFill>
                  <a:schemeClr val="accent4"/>
                </a:solidFill>
              </a:rPr>
              <a:t>JavaFX</a:t>
            </a:r>
            <a:r>
              <a:rPr lang="fr-FR" dirty="0">
                <a:solidFill>
                  <a:schemeClr val="accent4"/>
                </a:solidFill>
              </a:rPr>
              <a:t> </a:t>
            </a:r>
            <a:r>
              <a:rPr lang="fr-FR" dirty="0"/>
              <a:t>dans l’IDE.</a:t>
            </a:r>
          </a:p>
          <a:p>
            <a:pPr marL="342900" indent="-342900"/>
            <a:r>
              <a:rPr lang="fr-FR" dirty="0"/>
              <a:t>Indiquer à l’IDE où se trouve le JDK </a:t>
            </a:r>
            <a:r>
              <a:rPr lang="fr-FR" dirty="0" err="1"/>
              <a:t>JavaFX</a:t>
            </a:r>
            <a:r>
              <a:rPr lang="fr-FR" dirty="0"/>
              <a:t>.</a:t>
            </a:r>
          </a:p>
          <a:p>
            <a:pPr marL="342900" indent="-342900"/>
            <a:r>
              <a:rPr lang="fr-FR" dirty="0"/>
              <a:t>(optionnel) Activer l’outil de modification des vues.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Pour le détail de la procédure, voir:</a:t>
            </a:r>
          </a:p>
          <a:p>
            <a:pPr marL="0" indent="0">
              <a:buNone/>
            </a:pPr>
            <a:r>
              <a:rPr lang="fr-FR" dirty="0">
                <a:solidFill>
                  <a:schemeClr val="accent4"/>
                </a:solidFill>
              </a:rPr>
              <a:t> </a:t>
            </a:r>
            <a:r>
              <a:rPr lang="fr-FR" dirty="0">
                <a:solidFill>
                  <a:schemeClr val="accent4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https://www.jetbrains.com/help/idea/javafx.html</a:t>
            </a:r>
            <a:r>
              <a:rPr lang="fr-FR" dirty="0">
                <a:solidFill>
                  <a:schemeClr val="accent4"/>
                </a:solidFill>
              </a:rPr>
              <a:t>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365A85-321A-C39C-C4D9-CD71FDFC2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42899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E22796-3150-F920-C932-08441458E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écrans de vos applications </a:t>
            </a:r>
            <a:r>
              <a:rPr lang="fr-FR" dirty="0" err="1"/>
              <a:t>JavaFX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7DC805-377D-FF75-411E-35696D059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600" dirty="0"/>
              <a:t>Les écrans (vues) qui seront utilisés dans vos applications </a:t>
            </a:r>
            <a:r>
              <a:rPr lang="fr-FR" sz="2600" dirty="0" err="1"/>
              <a:t>JavaFX</a:t>
            </a:r>
            <a:r>
              <a:rPr lang="fr-FR" sz="2600" dirty="0"/>
              <a:t> pourront être générés de deux façons:</a:t>
            </a:r>
          </a:p>
          <a:p>
            <a:pPr marL="514350" indent="-514350">
              <a:buAutoNum type="arabicPeriod"/>
            </a:pPr>
            <a:r>
              <a:rPr lang="fr-FR" sz="2600" dirty="0"/>
              <a:t>Vous programmez « à la main » la manière dont les différents composants s’imbriquent les uns dans les autres pour construire votre écran.</a:t>
            </a:r>
          </a:p>
          <a:p>
            <a:pPr marL="514350" indent="-514350">
              <a:buAutoNum type="arabicPeriod"/>
            </a:pPr>
            <a:r>
              <a:rPr lang="fr-FR" sz="2600" dirty="0"/>
              <a:t>Vous créez un fichier </a:t>
            </a:r>
            <a:r>
              <a:rPr lang="fr-FR" sz="2600" dirty="0" err="1">
                <a:solidFill>
                  <a:schemeClr val="accent4"/>
                </a:solidFill>
              </a:rPr>
              <a:t>fxml</a:t>
            </a:r>
            <a:r>
              <a:rPr lang="fr-FR" sz="2600" dirty="0"/>
              <a:t> (de type </a:t>
            </a:r>
            <a:r>
              <a:rPr lang="fr-FR" sz="2600" dirty="0">
                <a:solidFill>
                  <a:schemeClr val="accent4"/>
                </a:solidFill>
              </a:rPr>
              <a:t>XML</a:t>
            </a:r>
            <a:r>
              <a:rPr lang="fr-FR" sz="2600" dirty="0"/>
              <a:t>) qui décrit la structure de votre vue. Ceci peut se faire de 2 manières:</a:t>
            </a:r>
          </a:p>
          <a:p>
            <a:pPr marL="971550" lvl="1" indent="-514350">
              <a:buAutoNum type="arabicPeriod"/>
            </a:pPr>
            <a:r>
              <a:rPr lang="fr-FR" sz="2600" dirty="0"/>
              <a:t>À la main</a:t>
            </a:r>
          </a:p>
          <a:p>
            <a:pPr marL="971550" lvl="1" indent="-514350">
              <a:buAutoNum type="arabicPeriod"/>
            </a:pPr>
            <a:r>
              <a:rPr lang="fr-FR" sz="2600" dirty="0"/>
              <a:t>En utilisant une application, le «  </a:t>
            </a:r>
            <a:r>
              <a:rPr lang="fr-BE" sz="2600" dirty="0" err="1"/>
              <a:t>JavaFX</a:t>
            </a:r>
            <a:r>
              <a:rPr lang="fr-BE" sz="2600" dirty="0"/>
              <a:t> </a:t>
            </a:r>
            <a:r>
              <a:rPr lang="fr-BE" sz="2600" dirty="0" err="1"/>
              <a:t>Scene</a:t>
            </a:r>
            <a:r>
              <a:rPr lang="fr-BE" sz="2600" dirty="0"/>
              <a:t> Builder </a:t>
            </a:r>
            <a:r>
              <a:rPr lang="fr-FR" sz="2600" dirty="0"/>
              <a:t>» pour générer ce fichier </a:t>
            </a:r>
            <a:r>
              <a:rPr lang="fr-FR" sz="2600" dirty="0" err="1">
                <a:solidFill>
                  <a:schemeClr val="accent4"/>
                </a:solidFill>
              </a:rPr>
              <a:t>fxml</a:t>
            </a:r>
            <a:r>
              <a:rPr lang="fr-FR" sz="2600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93C7E9D-AA6B-1871-A894-F5B9F0469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55150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5AE07F-ECDD-FF4D-A516-9534BBC10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 modifier les vues…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844863-2A72-3348-A17C-411E09663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600" dirty="0"/>
              <a:t>Si vous voulez pouvoir modifier facilement les vues (écrans) de vos applications, vous pouvez utiliser </a:t>
            </a:r>
            <a:r>
              <a:rPr lang="fr-FR" sz="2600" dirty="0" err="1">
                <a:solidFill>
                  <a:schemeClr val="accent4"/>
                </a:solidFill>
              </a:rPr>
              <a:t>JavaFX</a:t>
            </a:r>
            <a:r>
              <a:rPr lang="fr-FR" sz="2600" dirty="0">
                <a:solidFill>
                  <a:schemeClr val="accent4"/>
                </a:solidFill>
              </a:rPr>
              <a:t> </a:t>
            </a:r>
            <a:r>
              <a:rPr lang="fr-FR" sz="2600" dirty="0" err="1">
                <a:solidFill>
                  <a:schemeClr val="accent4"/>
                </a:solidFill>
              </a:rPr>
              <a:t>Scene</a:t>
            </a:r>
            <a:r>
              <a:rPr lang="fr-FR" sz="2600" dirty="0">
                <a:solidFill>
                  <a:schemeClr val="accent4"/>
                </a:solidFill>
              </a:rPr>
              <a:t> Builder</a:t>
            </a:r>
            <a:r>
              <a:rPr lang="fr-FR" sz="2600" dirty="0"/>
              <a:t>.</a:t>
            </a:r>
          </a:p>
          <a:p>
            <a:pPr marL="0" indent="0">
              <a:buNone/>
            </a:pPr>
            <a:endParaRPr lang="fr-FR" sz="2600" dirty="0"/>
          </a:p>
          <a:p>
            <a:pPr marL="0" indent="0">
              <a:buNone/>
            </a:pPr>
            <a:r>
              <a:rPr lang="fr-FR" sz="2600" dirty="0"/>
              <a:t>Le site d’</a:t>
            </a:r>
            <a:r>
              <a:rPr lang="fr-FR" sz="2600" dirty="0" err="1"/>
              <a:t>IntelliJ</a:t>
            </a:r>
            <a:r>
              <a:rPr lang="fr-FR" sz="2600" dirty="0"/>
              <a:t> explique clairement comment le télécharger et configurer </a:t>
            </a:r>
            <a:r>
              <a:rPr lang="fr-FR" sz="2600" dirty="0" err="1"/>
              <a:t>IntelliJ</a:t>
            </a:r>
            <a:r>
              <a:rPr lang="fr-FR" sz="2600" dirty="0"/>
              <a:t> pour qu’il l’utilise.</a:t>
            </a:r>
          </a:p>
          <a:p>
            <a:pPr marL="0" indent="0">
              <a:buNone/>
            </a:pPr>
            <a:r>
              <a:rPr lang="fr-FR" sz="2600" dirty="0">
                <a:hlinkClick r:id="rId2"/>
              </a:rPr>
              <a:t>https://www.jetbrains.com/help/idea/opening-fxml-files-in-javafx-scene-builder.html</a:t>
            </a:r>
            <a:endParaRPr lang="fr-FR" sz="26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A400086-E4E3-DE4D-BC75-500F389C37C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09544" y="4343362"/>
            <a:ext cx="5552455" cy="2514638"/>
          </a:xfrm>
          <a:prstGeom prst="rect">
            <a:avLst/>
          </a:pr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EA76F8-3F83-EA63-5F1D-679A18BDD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380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JavaFX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Introduction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Configuration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>
                <a:solidFill>
                  <a:schemeClr val="accent4"/>
                </a:solidFill>
              </a:rPr>
              <a:t>Premier projet en </a:t>
            </a:r>
            <a:r>
              <a:rPr lang="fr-FR" dirty="0" err="1">
                <a:solidFill>
                  <a:schemeClr val="accent4"/>
                </a:solidFill>
              </a:rPr>
              <a:t>JavaFX</a:t>
            </a:r>
            <a:endParaRPr lang="fr-FR" dirty="0">
              <a:solidFill>
                <a:schemeClr val="accent4"/>
              </a:solidFill>
            </a:endParaRP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Une calculatrice</a:t>
            </a: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La Vue</a:t>
            </a: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 Contrôleur</a:t>
            </a: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 Modèle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F74E7B2-AD13-0525-4EF5-6D6BE17AD6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856321"/>
      </p:ext>
    </p:extLst>
  </p:cSld>
  <p:clrMapOvr>
    <a:masterClrMapping/>
  </p:clrMapOvr>
  <p:transition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Création d’un projet </a:t>
            </a:r>
            <a:r>
              <a:rPr lang="fr-FR" dirty="0" err="1"/>
              <a:t>JavaFX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Pour créer un projet </a:t>
            </a:r>
            <a:r>
              <a:rPr lang="fr-FR" dirty="0" err="1"/>
              <a:t>JavaFX</a:t>
            </a:r>
            <a:r>
              <a:rPr lang="fr-FR" dirty="0"/>
              <a:t>, au lieu de créer un nouveau projet Java, on sélectionnera ‘</a:t>
            </a:r>
            <a:r>
              <a:rPr lang="fr-FR" dirty="0" err="1">
                <a:solidFill>
                  <a:schemeClr val="accent4"/>
                </a:solidFill>
              </a:rPr>
              <a:t>JavaFX</a:t>
            </a:r>
            <a:r>
              <a:rPr lang="fr-FR" dirty="0">
                <a:solidFill>
                  <a:schemeClr val="accent4"/>
                </a:solidFill>
              </a:rPr>
              <a:t> Application</a:t>
            </a:r>
            <a:r>
              <a:rPr lang="fr-FR" dirty="0"/>
              <a:t>’.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2FC3163-F938-294E-844A-D170E9D372A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2942" y="276572"/>
            <a:ext cx="1688822" cy="1123892"/>
          </a:xfrm>
          <a:prstGeom prst="rect">
            <a:avLst/>
          </a:prstGeom>
        </p:spPr>
      </p:pic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83571305-D042-444A-92BF-ACFDE810FCA8}"/>
              </a:ext>
            </a:extLst>
          </p:cNvPr>
          <p:cNvCxnSpPr/>
          <p:nvPr/>
        </p:nvCxnSpPr>
        <p:spPr>
          <a:xfrm>
            <a:off x="3174260" y="3629890"/>
            <a:ext cx="150552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E0071DC0-1AD9-2533-6A36-180E44685771}"/>
              </a:ext>
            </a:extLst>
          </p:cNvPr>
          <p:cNvGrpSpPr/>
          <p:nvPr/>
        </p:nvGrpSpPr>
        <p:grpSpPr>
          <a:xfrm>
            <a:off x="4456746" y="2962382"/>
            <a:ext cx="6360607" cy="3965957"/>
            <a:chOff x="4456746" y="2962382"/>
            <a:chExt cx="6360607" cy="3965957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601EA412-E5DF-A94C-A504-008BB2FD2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456746" y="2962382"/>
              <a:ext cx="6360607" cy="3965957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6A8AB4A-0524-8732-FDD3-E135F8E8FC45}"/>
                </a:ext>
              </a:extLst>
            </p:cNvPr>
            <p:cNvSpPr/>
            <p:nvPr/>
          </p:nvSpPr>
          <p:spPr>
            <a:xfrm>
              <a:off x="6503149" y="3429000"/>
              <a:ext cx="1810512" cy="155448"/>
            </a:xfrm>
            <a:prstGeom prst="rect">
              <a:avLst/>
            </a:prstGeom>
            <a:solidFill>
              <a:srgbClr val="3C3F41">
                <a:alpha val="7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FC9437-AE96-B3A9-2B0C-2C1E2D4A3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7186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Création d’un projet </a:t>
            </a:r>
            <a:r>
              <a:rPr lang="fr-FR" dirty="0" err="1"/>
              <a:t>JavaFX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199" y="1825625"/>
            <a:ext cx="10758443" cy="11238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600" dirty="0"/>
              <a:t>Lors de la création d’un projet </a:t>
            </a:r>
            <a:r>
              <a:rPr lang="fr-FR" sz="2600" dirty="0" err="1"/>
              <a:t>JavaFX</a:t>
            </a:r>
            <a:r>
              <a:rPr lang="fr-FR" sz="2600" dirty="0"/>
              <a:t>, une structure est créée dans laquelle apparaît un package ‘application’ (ici j’ai spécifié un autre nom: calculatrice)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73EA366-FCF2-3748-1D6C-AC8018FD377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72942" y="276572"/>
            <a:ext cx="1688822" cy="1123892"/>
          </a:xfrm>
          <a:prstGeom prst="rect">
            <a:avLst/>
          </a:prstGeom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F10ABB7D-AD8C-4507-89A4-584FA6630D11}"/>
              </a:ext>
            </a:extLst>
          </p:cNvPr>
          <p:cNvSpPr txBox="1">
            <a:spLocks/>
          </p:cNvSpPr>
          <p:nvPr/>
        </p:nvSpPr>
        <p:spPr>
          <a:xfrm>
            <a:off x="838199" y="2609705"/>
            <a:ext cx="10758443" cy="27831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1" indent="-457200"/>
            <a:r>
              <a:rPr lang="fr-FR" sz="2600" dirty="0"/>
              <a:t>‘</a:t>
            </a:r>
            <a:r>
              <a:rPr lang="fr-FR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HelloApplication.java</a:t>
            </a:r>
            <a:r>
              <a:rPr lang="fr-FR" sz="2600" dirty="0"/>
              <a:t>’: la classe qui démarre votre application.</a:t>
            </a:r>
          </a:p>
          <a:p>
            <a:pPr marL="914400" lvl="1" indent="-457200"/>
            <a:r>
              <a:rPr lang="fr-FR" sz="2600" dirty="0"/>
              <a:t>‘</a:t>
            </a:r>
            <a:r>
              <a:rPr lang="fr-FR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HelloController.java</a:t>
            </a:r>
            <a:r>
              <a:rPr lang="fr-FR" sz="2600" dirty="0"/>
              <a:t>’: fait le lien entre la vue et le modèle.</a:t>
            </a:r>
          </a:p>
          <a:p>
            <a:pPr marL="914400" lvl="1" indent="-457200"/>
            <a:r>
              <a:rPr lang="fr-FR" sz="2600" dirty="0"/>
              <a:t>‘</a:t>
            </a:r>
            <a:r>
              <a:rPr lang="fr-FR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hello-</a:t>
            </a:r>
            <a:r>
              <a:rPr lang="fr-FR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view.fxml</a:t>
            </a:r>
            <a:r>
              <a:rPr lang="fr-FR" sz="2600" dirty="0"/>
              <a:t>’: contient une définition de l’interface graphique; il n’est pas obligatoire de l’utiliser…</a:t>
            </a:r>
          </a:p>
          <a:p>
            <a:pPr marL="914400" lvl="1" indent="-457200"/>
            <a:endParaRPr lang="fr-FR" sz="26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DA954D-7E88-3D83-70EE-34E452F1D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21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68A36F9-9106-D71A-DFDD-424F9F36E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8300" y="3908484"/>
            <a:ext cx="33655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45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7F839C96-7376-0246-C9C3-15D080A35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Démarrage de l’application ‘</a:t>
            </a:r>
            <a:r>
              <a:rPr lang="fr-FR" dirty="0" err="1"/>
              <a:t>Demo</a:t>
            </a:r>
            <a:r>
              <a:rPr lang="fr-FR" dirty="0"/>
              <a:t>’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D9647A4-4971-290B-710E-86BC737EBD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La classe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HelloApplication</a:t>
            </a:r>
            <a:r>
              <a:rPr lang="fr-FR" sz="2400" dirty="0"/>
              <a:t> contient une méthode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fr-FR" sz="2400" dirty="0"/>
              <a:t>.</a:t>
            </a:r>
          </a:p>
          <a:p>
            <a:pPr marL="0" indent="0">
              <a:buNone/>
            </a:pPr>
            <a:r>
              <a:rPr lang="fr-FR" sz="2400" dirty="0"/>
              <a:t>Cette méthode appelle la méthode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launch</a:t>
            </a:r>
            <a:r>
              <a:rPr lang="fr-FR" sz="2400" dirty="0"/>
              <a:t> de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Application</a:t>
            </a:r>
            <a:r>
              <a:rPr lang="fr-FR" sz="2400" dirty="0"/>
              <a:t>, qui lance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  <a:r>
              <a:rPr lang="fr-FR" sz="2400" dirty="0"/>
              <a:t>.</a:t>
            </a:r>
          </a:p>
          <a:p>
            <a:pPr marL="0" indent="0">
              <a:buNone/>
            </a:pPr>
            <a:r>
              <a:rPr lang="fr-FR" sz="2400" dirty="0"/>
              <a:t>Dans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</a:t>
            </a:r>
            <a:r>
              <a:rPr lang="fr-FR" sz="2400" dirty="0"/>
              <a:t>, un fichier FXML est chargé en mémoire puis le résultat est affiché.</a:t>
            </a:r>
          </a:p>
          <a:p>
            <a:pPr marL="0" indent="0">
              <a:buNone/>
            </a:pPr>
            <a:r>
              <a:rPr lang="fr-FR" sz="2400" dirty="0"/>
              <a:t>Au niveau du fichier FXML, une action est définie pour le bouton « Hello! ».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DB6AEEB-3830-2BBA-9899-AE4B30801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705" y="1690690"/>
            <a:ext cx="5486400" cy="4826000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E68818A-C64E-1F9A-29CA-59124B521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8643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JavaFX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Introduction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Configuration d’</a:t>
            </a:r>
            <a:r>
              <a:rPr lang="fr-FR" dirty="0" err="1"/>
              <a:t>IntelliJ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Premier projet en </a:t>
            </a:r>
            <a:r>
              <a:rPr lang="fr-FR" dirty="0" err="1"/>
              <a:t>JavaFX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>
                <a:solidFill>
                  <a:schemeClr val="accent4"/>
                </a:solidFill>
              </a:rPr>
              <a:t>Une calculatrice</a:t>
            </a: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La Vue</a:t>
            </a: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 Contrôleur</a:t>
            </a: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 Modèle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F8428F0-87A6-0BB9-FC3C-A5D76DAA08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2271223"/>
      </p:ext>
    </p:extLst>
  </p:cSld>
  <p:clrMapOvr>
    <a:masterClrMapping/>
  </p:clrMapOvr>
  <p:transition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4C2D31A7-BFA9-3F46-95B2-D175DEC43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Calculatrice en </a:t>
            </a:r>
            <a:r>
              <a:rPr lang="fr-FR" dirty="0" err="1"/>
              <a:t>JavaFX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B86C034-62E9-6908-FF12-CE173E102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0331" y="1825625"/>
            <a:ext cx="4351338" cy="4351338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15BA20A-D9B0-0C58-0CCD-3FEF362AD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3571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9060598" cy="1325563"/>
          </a:xfrm>
        </p:spPr>
        <p:txBody>
          <a:bodyPr>
            <a:normAutofit/>
          </a:bodyPr>
          <a:lstStyle/>
          <a:p>
            <a:r>
              <a:rPr lang="fr-FR" dirty="0"/>
              <a:t>Une calculatrice en </a:t>
            </a:r>
            <a:r>
              <a:rPr lang="fr-FR" dirty="0" err="1"/>
              <a:t>JavaFX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Pour se frotter un peu à </a:t>
            </a:r>
            <a:r>
              <a:rPr lang="fr-FR" dirty="0" err="1"/>
              <a:t>JavaFX</a:t>
            </a:r>
            <a:r>
              <a:rPr lang="fr-FR" dirty="0"/>
              <a:t>, nous allons créer une calculatrice (simplifiée).</a:t>
            </a:r>
          </a:p>
          <a:p>
            <a:pPr marL="0" indent="0">
              <a:buNone/>
            </a:pPr>
            <a:r>
              <a:rPr lang="fr-FR" dirty="0"/>
              <a:t>Elle fera les quatre opérations élémentaires (+, -, x, :) sur des entiers uniquement (pas de décimaux).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De plus, pour ne pas compliquer trop la logique, l’ordre dans lequel elle fera les opérations sera l’ordre dans lequel elles sont encodées.</a:t>
            </a:r>
          </a:p>
          <a:p>
            <a:pPr marL="0" indent="0">
              <a:buNone/>
            </a:pPr>
            <a:r>
              <a:rPr lang="fr-FR" dirty="0"/>
              <a:t>Ainsi, l’expression 2 x 3 + 4 x 5 ne donnera pas 26 (6 + 20), mais plutôt 50 (</a:t>
            </a:r>
            <a:r>
              <a:rPr lang="fr-FR" dirty="0">
                <a:solidFill>
                  <a:schemeClr val="accent4"/>
                </a:solidFill>
              </a:rPr>
              <a:t>2 x 3 </a:t>
            </a:r>
            <a:r>
              <a:rPr lang="fr-FR" dirty="0"/>
              <a:t>+ 4 x 5 = </a:t>
            </a:r>
            <a:r>
              <a:rPr lang="fr-FR" u="sng" dirty="0">
                <a:solidFill>
                  <a:schemeClr val="accent4"/>
                </a:solidFill>
              </a:rPr>
              <a:t>6</a:t>
            </a:r>
            <a:r>
              <a:rPr lang="fr-FR" dirty="0">
                <a:solidFill>
                  <a:schemeClr val="accent4"/>
                </a:solidFill>
              </a:rPr>
              <a:t> + 4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/>
              <a:t>x 5 = </a:t>
            </a:r>
            <a:r>
              <a:rPr lang="fr-FR" u="sng" dirty="0">
                <a:solidFill>
                  <a:schemeClr val="accent4"/>
                </a:solidFill>
              </a:rPr>
              <a:t>10</a:t>
            </a:r>
            <a:r>
              <a:rPr lang="fr-FR" dirty="0">
                <a:solidFill>
                  <a:schemeClr val="accent4"/>
                </a:solidFill>
              </a:rPr>
              <a:t> x 5</a:t>
            </a:r>
            <a:r>
              <a:rPr lang="fr-FR" dirty="0">
                <a:solidFill>
                  <a:srgbClr val="FF0000"/>
                </a:solidFill>
              </a:rPr>
              <a:t> </a:t>
            </a:r>
            <a:r>
              <a:rPr lang="fr-FR" dirty="0"/>
              <a:t>= 50).</a:t>
            </a:r>
          </a:p>
          <a:p>
            <a:endParaRPr lang="fr-FR" dirty="0"/>
          </a:p>
        </p:txBody>
      </p:sp>
      <p:pic>
        <p:nvPicPr>
          <p:cNvPr id="4" name="Espace réservé du contenu 4">
            <a:extLst>
              <a:ext uri="{FF2B5EF4-FFF2-40B4-BE49-F238E27FC236}">
                <a16:creationId xmlns:a16="http://schemas.microsoft.com/office/drawing/2014/main" id="{5A115DCC-16EF-DBC6-55B6-1F6C4A9ED6D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98798" y="152719"/>
            <a:ext cx="1818540" cy="1818540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7773D66-7F45-EE2B-A177-A021EEA33F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07785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Composants </a:t>
            </a:r>
            <a:r>
              <a:rPr lang="fr-FR" dirty="0" err="1"/>
              <a:t>JavaFX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2400" dirty="0"/>
              <a:t>Nous allons maintenant construire une calculatrice en utilisant quelques composants présents dans </a:t>
            </a:r>
            <a:r>
              <a:rPr lang="fr-FR" sz="2400" dirty="0" err="1"/>
              <a:t>JavaFX</a:t>
            </a:r>
            <a:r>
              <a:rPr lang="fr-FR" sz="2400" dirty="0"/>
              <a:t>. Nous les verrons plus en détails lors de la prochaine séance de cours.  </a:t>
            </a:r>
          </a:p>
          <a:p>
            <a:pPr marL="342900" indent="-342900"/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FR" sz="2400" dirty="0"/>
              <a:t> est un panneau dans lequel les éléments se disposent de façon verticale, les uns en dessous des autres.</a:t>
            </a:r>
          </a:p>
          <a:p>
            <a:pPr marL="342900" indent="-342900"/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FR" sz="2400" dirty="0"/>
              <a:t> est un panneau dans lequel les éléments se disposent de façon horizontale, les un à côté des autres.</a:t>
            </a:r>
          </a:p>
          <a:p>
            <a:pPr marL="342900" indent="-342900"/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FR" sz="2400" dirty="0"/>
              <a:t> est un panneau dans lequel on peut empiler des éléments.</a:t>
            </a:r>
          </a:p>
          <a:p>
            <a:pPr marL="342900" indent="-342900"/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sz="2400" dirty="0"/>
              <a:t> est un composant ‘bouton’, qui permet de déclencher une action quand on le clique</a:t>
            </a:r>
          </a:p>
          <a:p>
            <a:pPr marL="342900" indent="-342900"/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FR" sz="2400" dirty="0"/>
              <a:t> est un composant qui représente un texte</a:t>
            </a:r>
          </a:p>
          <a:p>
            <a:pPr marL="342900" indent="-342900"/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Rectangle</a:t>
            </a:r>
            <a:r>
              <a:rPr lang="fr-FR" sz="2400" dirty="0"/>
              <a:t> est un composant qui dessine un rectangle à l’écran.</a:t>
            </a:r>
          </a:p>
          <a:p>
            <a:pPr marL="342900" indent="-342900"/>
            <a:endParaRPr lang="fr-FR" sz="2400" dirty="0"/>
          </a:p>
          <a:p>
            <a:pPr marL="342900" indent="-342900"/>
            <a:endParaRPr lang="fr-FR" sz="2400" dirty="0"/>
          </a:p>
        </p:txBody>
      </p:sp>
      <p:pic>
        <p:nvPicPr>
          <p:cNvPr id="1030" name="Picture 6" descr="Lego PNG Transparent Images - PNG All">
            <a:extLst>
              <a:ext uri="{FF2B5EF4-FFF2-40B4-BE49-F238E27FC236}">
                <a16:creationId xmlns:a16="http://schemas.microsoft.com/office/drawing/2014/main" id="{FD4B0C50-BC5F-34F2-C65E-27BE1E4DB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30384" y="230192"/>
            <a:ext cx="2124456" cy="1194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CF27E2E-C233-857D-AFA0-A206D3EE0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27956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Structure MVC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Pour ce projet, </a:t>
            </a:r>
          </a:p>
          <a:p>
            <a:pPr marL="342900" indent="-342900"/>
            <a:r>
              <a:rPr lang="fr-FR" sz="2400" dirty="0"/>
              <a:t>notre </a:t>
            </a:r>
            <a:r>
              <a:rPr lang="fr-FR" sz="2400" dirty="0">
                <a:solidFill>
                  <a:schemeClr val="accent4"/>
                </a:solidFill>
              </a:rPr>
              <a:t>vue</a:t>
            </a:r>
            <a:r>
              <a:rPr lang="fr-FR" sz="2400" dirty="0"/>
              <a:t> sera le fichier FXML (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hello-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view.fxml</a:t>
            </a:r>
            <a:r>
              <a:rPr lang="fr-FR" sz="2400" dirty="0"/>
              <a:t>, renommé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view.fxml</a:t>
            </a:r>
            <a:r>
              <a:rPr lang="fr-FR" sz="2400" dirty="0"/>
              <a:t>)</a:t>
            </a:r>
          </a:p>
          <a:p>
            <a:pPr marL="342900" indent="-342900"/>
            <a:r>
              <a:rPr lang="fr-FR" sz="2400" dirty="0"/>
              <a:t>notre </a:t>
            </a:r>
            <a:r>
              <a:rPr lang="fr-FR" sz="2400" dirty="0">
                <a:solidFill>
                  <a:schemeClr val="accent4"/>
                </a:solidFill>
              </a:rPr>
              <a:t>contrôleur</a:t>
            </a:r>
            <a:r>
              <a:rPr lang="fr-FR" sz="2400" dirty="0"/>
              <a:t> sera le fichier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Controller.java</a:t>
            </a:r>
            <a:endParaRPr lang="fr-FR" sz="22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/>
            <a:r>
              <a:rPr lang="fr-FR" sz="2400" dirty="0"/>
              <a:t>nous créerons un </a:t>
            </a:r>
            <a:r>
              <a:rPr lang="fr-FR" sz="2400" dirty="0">
                <a:solidFill>
                  <a:schemeClr val="accent4"/>
                </a:solidFill>
              </a:rPr>
              <a:t>modèle</a:t>
            </a:r>
            <a:r>
              <a:rPr lang="fr-FR" sz="2400" dirty="0"/>
              <a:t>,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Model.java</a:t>
            </a:r>
            <a:endParaRPr lang="fr-FR" sz="22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/>
            <a:r>
              <a:rPr lang="fr-FR" sz="2400" dirty="0"/>
              <a:t>…et le </a:t>
            </a:r>
            <a:r>
              <a:rPr lang="fr-FR" sz="2400" dirty="0">
                <a:solidFill>
                  <a:schemeClr val="accent4"/>
                </a:solidFill>
              </a:rPr>
              <a:t>programme principal</a:t>
            </a:r>
            <a:r>
              <a:rPr lang="fr-FR" sz="2400" dirty="0">
                <a:solidFill>
                  <a:schemeClr val="accent2"/>
                </a:solidFill>
              </a:rPr>
              <a:t> </a:t>
            </a:r>
            <a:r>
              <a:rPr lang="fr-FR" sz="2400" dirty="0"/>
              <a:t>est dans la classe 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Application.java</a:t>
            </a:r>
            <a:r>
              <a:rPr lang="fr-FR" sz="2400" dirty="0"/>
              <a:t>.</a:t>
            </a:r>
          </a:p>
          <a:p>
            <a:pPr marL="342900" indent="-342900"/>
            <a:endParaRPr lang="fr-FR" sz="2400" dirty="0"/>
          </a:p>
          <a:p>
            <a:pPr marL="0" indent="0">
              <a:buNone/>
            </a:pPr>
            <a:r>
              <a:rPr lang="fr-FR" sz="2400" dirty="0"/>
              <a:t>Pour être cohérent, on renommera le package</a:t>
            </a:r>
            <a:br>
              <a:rPr lang="fr-FR" sz="2400" dirty="0"/>
            </a:br>
            <a:r>
              <a:rPr lang="fr-FR" sz="2000" dirty="0"/>
              <a:t>‘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calculatrice</a:t>
            </a:r>
            <a:r>
              <a:rPr lang="fr-FR" sz="2400" dirty="0"/>
              <a:t>’ au lieu de ‘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sample</a:t>
            </a:r>
            <a:r>
              <a:rPr lang="fr-FR" sz="2400" dirty="0"/>
              <a:t>’.</a:t>
            </a:r>
          </a:p>
        </p:txBody>
      </p:sp>
      <p:pic>
        <p:nvPicPr>
          <p:cNvPr id="31746" name="Picture 2" descr="The Model View Controller Pattern – MVC Architecture and Frameworks  Explained">
            <a:extLst>
              <a:ext uri="{FF2B5EF4-FFF2-40B4-BE49-F238E27FC236}">
                <a16:creationId xmlns:a16="http://schemas.microsoft.com/office/drawing/2014/main" id="{96B6A0EA-9508-700A-D2D7-DB6C170E3A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204252" y="230192"/>
            <a:ext cx="1646372" cy="110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F156A5D-6415-0373-CA3D-63B50B44E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27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2436C22E-896E-0603-BF8B-6A34CF860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0038" y="4164177"/>
            <a:ext cx="2720083" cy="239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57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JavaFX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Introduction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Configuration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Premier projet en </a:t>
            </a:r>
            <a:r>
              <a:rPr lang="fr-FR" dirty="0" err="1"/>
              <a:t>JavaFX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Une calculatrice</a:t>
            </a:r>
          </a:p>
          <a:p>
            <a:pPr marL="914400" lvl="1" indent="-457200">
              <a:lnSpc>
                <a:spcPct val="80000"/>
              </a:lnSpc>
              <a:buFont typeface="+mj-lt"/>
              <a:buAutoNum type="arabicPeriod"/>
            </a:pPr>
            <a:r>
              <a:rPr lang="fr-FR" b="1" dirty="0">
                <a:solidFill>
                  <a:schemeClr val="accent4"/>
                </a:solidFill>
              </a:rPr>
              <a:t>La Vue</a:t>
            </a:r>
          </a:p>
          <a:p>
            <a:pPr marL="914400" lvl="1" indent="-457200">
              <a:lnSpc>
                <a:spcPct val="80000"/>
              </a:lnSpc>
              <a:buFont typeface="+mj-lt"/>
              <a:buAutoNum type="arabicPeriod"/>
            </a:pPr>
            <a:r>
              <a:rPr lang="fr-FR" b="1" dirty="0"/>
              <a:t>Le Contrôleur</a:t>
            </a:r>
          </a:p>
          <a:p>
            <a:pPr marL="914400" lvl="1" indent="-457200">
              <a:lnSpc>
                <a:spcPct val="80000"/>
              </a:lnSpc>
              <a:buFont typeface="+mj-lt"/>
              <a:buAutoNum type="arabicPeriod"/>
            </a:pPr>
            <a:r>
              <a:rPr lang="fr-FR" b="1" dirty="0"/>
              <a:t>Le Modèle</a:t>
            </a:r>
            <a:br>
              <a:rPr lang="fr-FR" b="1" dirty="0"/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ADC854-E158-87B4-1A40-D901107925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831600"/>
      </p:ext>
    </p:extLst>
  </p:cSld>
  <p:clrMapOvr>
    <a:masterClrMapping/>
  </p:clrMapOvr>
  <p:transition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8083338-EEB6-404F-A322-058CC4B30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1. La Vue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E81EE35-9874-A143-8F41-5F8EE49D4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524318"/>
            <a:ext cx="6858000" cy="4521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BCC9F93-7AE2-D499-A92A-AB1636769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46794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Classe ou FXML…?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600" dirty="0"/>
              <a:t>Pour la vue d’une application </a:t>
            </a:r>
            <a:r>
              <a:rPr lang="fr-FR" sz="2600" dirty="0" err="1"/>
              <a:t>JavaFX</a:t>
            </a:r>
            <a:r>
              <a:rPr lang="fr-FR" sz="2600" dirty="0"/>
              <a:t>, il y a plusieurs manières de fonctionner: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600" dirty="0"/>
              <a:t>On crée une classe dans laquelle on </a:t>
            </a:r>
            <a:r>
              <a:rPr lang="fr-FR" sz="2600" dirty="0">
                <a:solidFill>
                  <a:schemeClr val="accent4"/>
                </a:solidFill>
              </a:rPr>
              <a:t>programme la structure</a:t>
            </a:r>
            <a:r>
              <a:rPr lang="fr-FR" sz="2600" dirty="0"/>
              <a:t>: on crée un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(…)</a:t>
            </a:r>
            <a:r>
              <a:rPr lang="fr-FR" sz="2600" dirty="0"/>
              <a:t>, un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SplitPane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(…)</a:t>
            </a:r>
            <a:r>
              <a:rPr lang="fr-FR" sz="2600" dirty="0"/>
              <a:t>, etc…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600" dirty="0"/>
              <a:t>En utilisant l’éditeur de vue, on </a:t>
            </a:r>
            <a:r>
              <a:rPr lang="fr-FR" sz="2600" dirty="0">
                <a:solidFill>
                  <a:schemeClr val="accent4"/>
                </a:solidFill>
              </a:rPr>
              <a:t>dessine la structure</a:t>
            </a:r>
            <a:r>
              <a:rPr lang="fr-FR" sz="2600" dirty="0">
                <a:solidFill>
                  <a:schemeClr val="accent2"/>
                </a:solidFill>
              </a:rPr>
              <a:t> </a:t>
            </a:r>
            <a:r>
              <a:rPr lang="fr-FR" sz="2600" dirty="0"/>
              <a:t>de notre écran; cela génère un fichier FXML qui décrit l’interface graphique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600" dirty="0"/>
              <a:t>On crée le fichier FXML à la main</a:t>
            </a:r>
          </a:p>
          <a:p>
            <a:pPr marL="457200" indent="-457200"/>
            <a:endParaRPr lang="fr-FR" sz="2600" dirty="0"/>
          </a:p>
          <a:p>
            <a:pPr marL="0" indent="0">
              <a:buNone/>
            </a:pPr>
            <a:r>
              <a:rPr lang="fr-FR" sz="2600" dirty="0"/>
              <a:t>Nous allons créer le fichier FXML à la main et vérifier de temps en temps avec le l’éditeur de vue.</a:t>
            </a:r>
          </a:p>
        </p:txBody>
      </p:sp>
      <p:pic>
        <p:nvPicPr>
          <p:cNvPr id="5" name="Picture 4" descr="les lunettes bleus - OFF-53% &gt; Livraison gratuite">
            <a:extLst>
              <a:ext uri="{FF2B5EF4-FFF2-40B4-BE49-F238E27FC236}">
                <a16:creationId xmlns:a16="http://schemas.microsoft.com/office/drawing/2014/main" id="{5D612DCC-A4C2-63B7-E1E0-D57D02E05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4936" y="0"/>
            <a:ext cx="2160398" cy="126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A0D7E87-0BC7-8437-AF7E-CF3CB2ACE9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9383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C’est quoi XML?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fr-FR" sz="2400" dirty="0"/>
              <a:t>Les fichiers FXML sont au format XML.</a:t>
            </a:r>
          </a:p>
          <a:p>
            <a:pPr marL="0" indent="0">
              <a:buNone/>
            </a:pPr>
            <a:r>
              <a:rPr lang="fr-BE" sz="2400" dirty="0"/>
              <a:t>XML signifie </a:t>
            </a:r>
            <a:r>
              <a:rPr lang="fr-BE" sz="2400" dirty="0" err="1"/>
              <a:t>e</a:t>
            </a:r>
            <a:r>
              <a:rPr lang="fr-BE" sz="2400" dirty="0" err="1">
                <a:solidFill>
                  <a:schemeClr val="accent4"/>
                </a:solidFill>
              </a:rPr>
              <a:t>X</a:t>
            </a:r>
            <a:r>
              <a:rPr lang="fr-BE" sz="2400" dirty="0" err="1"/>
              <a:t>tensible</a:t>
            </a:r>
            <a:r>
              <a:rPr lang="fr-BE" sz="2400" dirty="0"/>
              <a:t> </a:t>
            </a:r>
            <a:r>
              <a:rPr lang="fr-BE" sz="2400" dirty="0" err="1">
                <a:solidFill>
                  <a:schemeClr val="accent4"/>
                </a:solidFill>
              </a:rPr>
              <a:t>M</a:t>
            </a:r>
            <a:r>
              <a:rPr lang="fr-BE" sz="2400" dirty="0" err="1"/>
              <a:t>arkup</a:t>
            </a:r>
            <a:r>
              <a:rPr lang="fr-BE" sz="2400" dirty="0"/>
              <a:t> </a:t>
            </a:r>
            <a:r>
              <a:rPr lang="fr-BE" sz="2400" dirty="0" err="1">
                <a:solidFill>
                  <a:schemeClr val="accent4"/>
                </a:solidFill>
              </a:rPr>
              <a:t>L</a:t>
            </a:r>
            <a:r>
              <a:rPr lang="fr-BE" sz="2400" dirty="0" err="1"/>
              <a:t>anguage</a:t>
            </a:r>
            <a:r>
              <a:rPr lang="fr-BE" sz="2400" dirty="0"/>
              <a:t> : en français, c'est un langage de balisage extensible.</a:t>
            </a:r>
          </a:p>
          <a:p>
            <a:pPr marL="342900" indent="-342900"/>
            <a:r>
              <a:rPr lang="fr-BE" sz="2400" dirty="0">
                <a:solidFill>
                  <a:schemeClr val="accent4"/>
                </a:solidFill>
              </a:rPr>
              <a:t>Langage:</a:t>
            </a:r>
            <a:r>
              <a:rPr lang="fr-BE" sz="2400" dirty="0"/>
              <a:t> ce format de fichier est conçu pour transmettre des informations. </a:t>
            </a:r>
          </a:p>
          <a:p>
            <a:pPr marL="342900" indent="-342900"/>
            <a:r>
              <a:rPr lang="fr-BE" sz="2400" dirty="0">
                <a:solidFill>
                  <a:schemeClr val="accent4"/>
                </a:solidFill>
              </a:rPr>
              <a:t>Balisage:</a:t>
            </a:r>
            <a:r>
              <a:rPr lang="fr-BE" sz="2400" dirty="0"/>
              <a:t> on accole aux données des « étiquettes » qui qualifient leur contenu. Par exemple, dans Albert Einstein, on étiquettera « Albert » comme étant un prénom, et « Einstein » comme étant un nom de famille.</a:t>
            </a:r>
          </a:p>
          <a:p>
            <a:pPr marL="342900" indent="-342900"/>
            <a:r>
              <a:rPr lang="fr-BE" sz="2400" dirty="0">
                <a:solidFill>
                  <a:schemeClr val="accent4"/>
                </a:solidFill>
              </a:rPr>
              <a:t>Extensible:</a:t>
            </a:r>
            <a:r>
              <a:rPr lang="fr-BE" sz="2400" dirty="0">
                <a:solidFill>
                  <a:schemeClr val="accent2"/>
                </a:solidFill>
              </a:rPr>
              <a:t> </a:t>
            </a:r>
            <a:r>
              <a:rPr lang="fr-BE" sz="2400" dirty="0"/>
              <a:t>selon ses besoins, on peut définir et utiliser les « étiquettes » que l'on souhaite; une fois qu'un jeu d'étiquettes est défini, même par quelqu'un d'autre, on peut l'étendre en y ajoutant ses propres créations.</a:t>
            </a:r>
          </a:p>
        </p:txBody>
      </p:sp>
      <p:pic>
        <p:nvPicPr>
          <p:cNvPr id="4" name="Picture 2" descr="XML Transparent Images | PNG Arts">
            <a:extLst>
              <a:ext uri="{FF2B5EF4-FFF2-40B4-BE49-F238E27FC236}">
                <a16:creationId xmlns:a16="http://schemas.microsoft.com/office/drawing/2014/main" id="{82D198A9-F157-CE5B-9FB8-9215E9EB56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69422" y="110332"/>
            <a:ext cx="1647825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4F15963-3922-EC39-941A-D0887E84C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07718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Exemples de fichiers XML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3FBB17-184A-01D5-6861-9113F61C3686}"/>
              </a:ext>
            </a:extLst>
          </p:cNvPr>
          <p:cNvSpPr/>
          <p:nvPr/>
        </p:nvSpPr>
        <p:spPr>
          <a:xfrm>
            <a:off x="5811520" y="2522555"/>
            <a:ext cx="5791200" cy="3970318"/>
          </a:xfrm>
          <a:prstGeom prst="rect">
            <a:avLst/>
          </a:prstGeom>
          <a:solidFill>
            <a:srgbClr val="F5FFFC"/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r>
              <a:rPr lang="fr-BE" sz="1200" dirty="0">
                <a:solidFill>
                  <a:srgbClr val="8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&lt;?xml version="1.0" </a:t>
            </a:r>
            <a:r>
              <a:rPr lang="fr-BE" sz="1200" dirty="0" err="1">
                <a:solidFill>
                  <a:srgbClr val="8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encoding</a:t>
            </a:r>
            <a:r>
              <a:rPr lang="fr-BE" sz="1200" dirty="0">
                <a:solidFill>
                  <a:srgbClr val="8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="ISO-8859-1"?&gt;</a:t>
            </a:r>
          </a:p>
          <a:p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&lt;email&gt;</a:t>
            </a:r>
          </a:p>
          <a:p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</a:t>
            </a:r>
            <a:r>
              <a:rPr lang="fr-BE" sz="1200" b="1" dirty="0" err="1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entete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&lt;date </a:t>
            </a:r>
            <a:r>
              <a:rPr lang="fr-BE" sz="1200" dirty="0">
                <a:solidFill>
                  <a:srgbClr val="F584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fr-BE" sz="1200" dirty="0">
                <a:solidFill>
                  <a:srgbClr val="993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"JJMMAAAA"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fr-BE" sz="1200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28102003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&lt;/date&gt;</a:t>
            </a:r>
          </a:p>
          <a:p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&lt;heure </a:t>
            </a:r>
            <a:r>
              <a:rPr lang="fr-BE" sz="1200" dirty="0">
                <a:solidFill>
                  <a:srgbClr val="F584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fr-BE" sz="1200" dirty="0">
                <a:solidFill>
                  <a:srgbClr val="993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"24" </a:t>
            </a:r>
            <a:r>
              <a:rPr lang="fr-BE" sz="1200" dirty="0">
                <a:solidFill>
                  <a:srgbClr val="F584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fr-BE" sz="1200" dirty="0">
                <a:solidFill>
                  <a:srgbClr val="993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"(GMT+01 :00)"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fr-BE" sz="1200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14:01:01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&lt;/heure&gt;</a:t>
            </a:r>
          </a:p>
          <a:p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fr-BE" sz="1200" b="1" dirty="0" err="1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expediteur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&lt;adresse </a:t>
            </a:r>
            <a:r>
              <a:rPr lang="fr-BE" sz="1200" dirty="0">
                <a:solidFill>
                  <a:srgbClr val="F584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mail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fr-BE" sz="1200" dirty="0">
                <a:solidFill>
                  <a:srgbClr val="993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sz="1200" dirty="0" err="1">
                <a:solidFill>
                  <a:srgbClr val="993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marcel@ici.fr</a:t>
            </a:r>
            <a:r>
              <a:rPr lang="fr-BE" sz="1200" dirty="0">
                <a:solidFill>
                  <a:srgbClr val="993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  <a:r>
              <a:rPr lang="fr-BE" sz="1200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Marcel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&lt;/adresse&gt;</a:t>
            </a:r>
          </a:p>
          <a:p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&lt;/</a:t>
            </a:r>
            <a:r>
              <a:rPr lang="fr-BE" sz="1200" b="1" dirty="0" err="1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expediteur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fr-BE" sz="1200" b="1" dirty="0" err="1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recepteur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&lt;adresse </a:t>
            </a:r>
            <a:r>
              <a:rPr lang="fr-BE" sz="1200" dirty="0">
                <a:solidFill>
                  <a:srgbClr val="F584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mail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fr-BE" sz="1200" dirty="0">
                <a:solidFill>
                  <a:srgbClr val="993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sz="1200" dirty="0" err="1">
                <a:solidFill>
                  <a:srgbClr val="993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robert@labas.fr</a:t>
            </a:r>
            <a:r>
              <a:rPr lang="fr-BE" sz="1200" dirty="0">
                <a:solidFill>
                  <a:srgbClr val="993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fr-BE" sz="1200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Robert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&lt;/adresse&gt;</a:t>
            </a:r>
          </a:p>
          <a:p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&lt;/</a:t>
            </a:r>
            <a:r>
              <a:rPr lang="fr-BE" sz="1200" b="1" dirty="0" err="1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recepteur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&lt;sujet&gt;</a:t>
            </a:r>
            <a:r>
              <a:rPr lang="fr-BE" sz="1200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Hirondelle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&lt;/sujet&gt;</a:t>
            </a:r>
          </a:p>
          <a:p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&lt;/</a:t>
            </a:r>
            <a:r>
              <a:rPr lang="fr-BE" sz="1200" b="1" dirty="0" err="1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entete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&lt;corps&gt;</a:t>
            </a:r>
          </a:p>
          <a:p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&lt;salutation&gt;</a:t>
            </a:r>
            <a:r>
              <a:rPr lang="fr-BE" sz="1200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Salut,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&lt;/salutation&gt;</a:t>
            </a:r>
          </a:p>
          <a:p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&lt;paragraphe&gt;</a:t>
            </a:r>
            <a:r>
              <a:rPr lang="fr-BE" sz="1200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Pourrais-tu m'indiquer la vitesse de vol d’une</a:t>
            </a:r>
            <a:br>
              <a:rPr lang="fr-BE" sz="1200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200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hirondelle transportant une noix de coco ?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&lt;/paragraphe&gt;</a:t>
            </a:r>
          </a:p>
          <a:p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&lt;politesse&gt;</a:t>
            </a:r>
            <a:r>
              <a:rPr lang="fr-BE" sz="1200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 très bientôt,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&lt;/politesse&gt;</a:t>
            </a:r>
          </a:p>
          <a:p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&lt;signature&gt;</a:t>
            </a:r>
            <a:r>
              <a:rPr lang="fr-BE" sz="1200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Marcel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&lt;/signature&gt;</a:t>
            </a:r>
          </a:p>
          <a:p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&lt;/corps&gt;</a:t>
            </a:r>
          </a:p>
          <a:p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&lt;/email&gt;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DA0289-A218-2765-CC28-DDDE956546B1}"/>
              </a:ext>
            </a:extLst>
          </p:cNvPr>
          <p:cNvSpPr/>
          <p:nvPr/>
        </p:nvSpPr>
        <p:spPr>
          <a:xfrm>
            <a:off x="833843" y="1383676"/>
            <a:ext cx="4608036" cy="1384995"/>
          </a:xfrm>
          <a:prstGeom prst="rect">
            <a:avLst/>
          </a:prstGeom>
          <a:solidFill>
            <a:srgbClr val="F5FFFC"/>
          </a:solidFill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fr-BE" sz="1200" dirty="0">
                <a:solidFill>
                  <a:srgbClr val="8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&lt;?xml version="1.0" </a:t>
            </a:r>
            <a:r>
              <a:rPr lang="fr-BE" sz="1200" dirty="0" err="1">
                <a:solidFill>
                  <a:srgbClr val="8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encoding</a:t>
            </a:r>
            <a:r>
              <a:rPr lang="fr-BE" sz="1200" dirty="0">
                <a:solidFill>
                  <a:srgbClr val="8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="UTF-8"?&gt;</a:t>
            </a:r>
            <a:endParaRPr lang="fr-BE" sz="1200" dirty="0">
              <a:solidFill>
                <a:srgbClr val="40404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/>
            <a:r>
              <a:rPr lang="fr-BE" sz="1200" dirty="0">
                <a:solidFill>
                  <a:srgbClr val="008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&lt;!-- un premier marin --&gt;</a:t>
            </a:r>
            <a:endParaRPr lang="fr-BE" sz="1200" dirty="0">
              <a:solidFill>
                <a:srgbClr val="40404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/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&lt;marin</a:t>
            </a:r>
            <a:r>
              <a:rPr lang="fr-BE" sz="1200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200" dirty="0">
                <a:solidFill>
                  <a:srgbClr val="F584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fr-BE" sz="1200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fr-BE" sz="1200" dirty="0">
                <a:solidFill>
                  <a:srgbClr val="993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"12"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algn="just"/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200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&lt;nom&gt;</a:t>
            </a:r>
            <a:r>
              <a:rPr lang="fr-BE" sz="1200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Surcouf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&lt;/nom&gt;</a:t>
            </a:r>
            <a:endParaRPr lang="fr-BE" sz="1200" dirty="0">
              <a:solidFill>
                <a:srgbClr val="40404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/>
            <a:r>
              <a:rPr lang="fr-BE" sz="1200" b="1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sz="1200" b="1" dirty="0" err="1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prenom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fr-BE" sz="1200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Robert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fr-BE" sz="1200" b="1" dirty="0" err="1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prenom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fr-BE" sz="1200" dirty="0">
              <a:solidFill>
                <a:srgbClr val="40404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/>
            <a:r>
              <a:rPr lang="fr-BE" sz="1200" b="1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&lt;remarque</a:t>
            </a:r>
            <a:r>
              <a:rPr lang="fr-BE" sz="1200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200" dirty="0" err="1">
                <a:solidFill>
                  <a:srgbClr val="F584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lang</a:t>
            </a:r>
            <a:r>
              <a:rPr lang="fr-BE" sz="1200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fr-BE" sz="1200" dirty="0">
                <a:solidFill>
                  <a:srgbClr val="9933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"FR"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fr-BE" sz="1200" dirty="0">
                <a:solidFill>
                  <a:srgbClr val="40404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Capitaine corsaire</a:t>
            </a:r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&lt;/remarque&gt;</a:t>
            </a:r>
            <a:endParaRPr lang="fr-BE" sz="1200" b="1" dirty="0">
              <a:solidFill>
                <a:srgbClr val="40404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just"/>
            <a:r>
              <a:rPr lang="fr-BE" sz="1200" b="1" dirty="0">
                <a:solidFill>
                  <a:srgbClr val="00009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&lt;/marin&gt;</a:t>
            </a:r>
            <a:endParaRPr lang="fr-BE" sz="1200" dirty="0">
              <a:solidFill>
                <a:srgbClr val="40404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5" name="Picture 2" descr="XML Transparent Images | PNG Arts">
            <a:extLst>
              <a:ext uri="{FF2B5EF4-FFF2-40B4-BE49-F238E27FC236}">
                <a16:creationId xmlns:a16="http://schemas.microsoft.com/office/drawing/2014/main" id="{F7E0B414-E766-C513-9010-EB80CAA78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369422" y="110332"/>
            <a:ext cx="1647825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847FD9D-FCBC-7377-C274-B5B261F71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85264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>
            <a:extLst>
              <a:ext uri="{FF2B5EF4-FFF2-40B4-BE49-F238E27FC236}">
                <a16:creationId xmlns:a16="http://schemas.microsoft.com/office/drawing/2014/main" id="{527D1791-DF75-5770-2FBD-F75814523564}"/>
              </a:ext>
            </a:extLst>
          </p:cNvPr>
          <p:cNvSpPr txBox="1"/>
          <p:nvPr/>
        </p:nvSpPr>
        <p:spPr>
          <a:xfrm>
            <a:off x="3420317" y="2340847"/>
            <a:ext cx="7826389" cy="3170099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4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&lt;?</a:t>
            </a:r>
            <a:r>
              <a:rPr lang="fr-BE" sz="1400" dirty="0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xml version</a:t>
            </a:r>
            <a:r>
              <a:rPr lang="fr-BE" sz="14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="1.0" </a:t>
            </a:r>
            <a:r>
              <a:rPr lang="fr-BE" sz="14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encoding</a:t>
            </a:r>
            <a:r>
              <a:rPr lang="fr-BE" sz="14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="UTF-8"</a:t>
            </a:r>
            <a:r>
              <a:rPr lang="fr-BE" sz="14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?&gt;</a:t>
            </a:r>
            <a:br>
              <a:rPr lang="fr-BE" sz="14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4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0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&lt;?</a:t>
            </a:r>
            <a:r>
              <a:rPr lang="fr-BE" sz="1000" dirty="0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fr-BE" sz="10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javafx.geometry.Insets</a:t>
            </a:r>
            <a:r>
              <a:rPr lang="fr-BE" sz="10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?&gt;</a:t>
            </a:r>
            <a:br>
              <a:rPr lang="fr-BE" sz="10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0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&lt;?</a:t>
            </a:r>
            <a:r>
              <a:rPr lang="fr-BE" sz="1000" dirty="0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fr-BE" sz="10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javafx.scene.control.Label</a:t>
            </a:r>
            <a:r>
              <a:rPr lang="fr-BE" sz="10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?&gt;</a:t>
            </a:r>
            <a:br>
              <a:rPr lang="fr-BE" sz="10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0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&lt;?</a:t>
            </a:r>
            <a:r>
              <a:rPr lang="fr-BE" sz="1000" dirty="0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fr-BE" sz="10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javafx.scene.layout.VBox</a:t>
            </a:r>
            <a:r>
              <a:rPr lang="fr-BE" sz="10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?&gt;</a:t>
            </a:r>
            <a:br>
              <a:rPr lang="fr-BE" sz="14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4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&lt;?</a:t>
            </a:r>
            <a:r>
              <a:rPr lang="fr-BE" sz="1400" dirty="0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fr-BE" sz="14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javafx.scene.control.Button</a:t>
            </a:r>
            <a:r>
              <a:rPr lang="fr-BE" sz="14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?&gt;</a:t>
            </a:r>
            <a:br>
              <a:rPr lang="fr-BE" sz="14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sz="1400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BE" sz="14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alignment</a:t>
            </a:r>
            <a:r>
              <a:rPr lang="fr-BE" sz="14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="CENTER" </a:t>
            </a:r>
            <a:r>
              <a:rPr lang="fr-BE" sz="14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spacing</a:t>
            </a:r>
            <a:r>
              <a:rPr lang="fr-BE" sz="14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="20.0" </a:t>
            </a:r>
            <a:r>
              <a:rPr lang="fr-BE" sz="14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xmlns:</a:t>
            </a:r>
            <a:r>
              <a:rPr lang="fr-BE" sz="1400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fx</a:t>
            </a:r>
            <a:r>
              <a:rPr lang="fr-BE" sz="14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="http://</a:t>
            </a:r>
            <a:r>
              <a:rPr lang="fr-BE" sz="14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javafx.com</a:t>
            </a:r>
            <a:r>
              <a:rPr lang="fr-BE" sz="14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fr-BE" sz="14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fxml</a:t>
            </a:r>
            <a:r>
              <a:rPr lang="fr-BE" sz="14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br>
              <a:rPr lang="fr-BE" sz="14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fr-BE" sz="1400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fx</a:t>
            </a:r>
            <a:r>
              <a:rPr lang="fr-BE" sz="14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:controller</a:t>
            </a:r>
            <a:r>
              <a:rPr lang="fr-BE" sz="14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fr-BE" sz="14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calculatrice.Controller</a:t>
            </a:r>
            <a:r>
              <a:rPr lang="fr-BE" sz="14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sz="14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fr-BE" sz="14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1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fr-BE" sz="1100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padding</a:t>
            </a:r>
            <a:r>
              <a:rPr lang="fr-BE" sz="11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fr-BE" sz="11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1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&lt;</a:t>
            </a:r>
            <a:r>
              <a:rPr lang="fr-BE" sz="1100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Insets</a:t>
            </a:r>
            <a:r>
              <a:rPr lang="fr-BE" sz="11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1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bottom</a:t>
            </a:r>
            <a:r>
              <a:rPr lang="fr-BE" sz="11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="20.0" </a:t>
            </a:r>
            <a:r>
              <a:rPr lang="fr-BE" sz="11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left</a:t>
            </a:r>
            <a:r>
              <a:rPr lang="fr-BE" sz="11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="20.0" </a:t>
            </a:r>
            <a:r>
              <a:rPr lang="fr-BE" sz="1100" dirty="0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right</a:t>
            </a:r>
            <a:r>
              <a:rPr lang="fr-BE" sz="11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="20.0" </a:t>
            </a:r>
            <a:r>
              <a:rPr lang="fr-BE" sz="1100" dirty="0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top</a:t>
            </a:r>
            <a:r>
              <a:rPr lang="fr-BE" sz="11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="20.0"</a:t>
            </a:r>
            <a:r>
              <a:rPr lang="fr-BE" sz="11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  <a:br>
              <a:rPr lang="fr-BE" sz="11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1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&lt;/</a:t>
            </a:r>
            <a:r>
              <a:rPr lang="fr-BE" sz="1100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padding</a:t>
            </a:r>
            <a:r>
              <a:rPr lang="fr-BE" sz="11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fr-BE" sz="11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1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1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&lt;Label </a:t>
            </a:r>
            <a:r>
              <a:rPr lang="fr-BE" sz="1100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fx</a:t>
            </a:r>
            <a:r>
              <a:rPr lang="fr-BE" sz="11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:id</a:t>
            </a:r>
            <a:r>
              <a:rPr lang="fr-BE" sz="11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fr-BE" sz="11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welcomeText</a:t>
            </a:r>
            <a:r>
              <a:rPr lang="fr-BE" sz="11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sz="11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  <a:br>
              <a:rPr lang="fr-BE" sz="11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1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&lt;Button </a:t>
            </a:r>
            <a:r>
              <a:rPr lang="fr-BE" sz="11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BE" sz="11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="Hello!" </a:t>
            </a:r>
            <a:r>
              <a:rPr lang="fr-BE" sz="11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onAction</a:t>
            </a:r>
            <a:r>
              <a:rPr lang="fr-BE" sz="11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="#</a:t>
            </a:r>
            <a:r>
              <a:rPr lang="fr-BE" sz="11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onHelloButtonClick</a:t>
            </a:r>
            <a:r>
              <a:rPr lang="fr-BE" sz="11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sz="11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  <a:br>
              <a:rPr lang="fr-BE" sz="14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4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fr-BE" sz="1400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BE" sz="14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fr-F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Fichier FXML initial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30444"/>
          </a:xfrm>
          <a:ln w="38100">
            <a:noFil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fr-FR" sz="2600" dirty="0"/>
              <a:t>Jetons un coup d’œil au fichier FXML créé par défaut:</a:t>
            </a:r>
          </a:p>
        </p:txBody>
      </p:sp>
      <p:cxnSp>
        <p:nvCxnSpPr>
          <p:cNvPr id="7" name="Connecteur en angle 6">
            <a:extLst>
              <a:ext uri="{FF2B5EF4-FFF2-40B4-BE49-F238E27FC236}">
                <a16:creationId xmlns:a16="http://schemas.microsoft.com/office/drawing/2014/main" id="{E8A196B0-729B-CD44-82B8-9C360E8DA76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817063" y="4234416"/>
            <a:ext cx="1030443" cy="228436"/>
          </a:xfrm>
          <a:prstGeom prst="bentConnector3">
            <a:avLst>
              <a:gd name="adj1" fmla="val 99733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7C68AA5D-91B0-619A-143E-91A058FAA7B0}"/>
              </a:ext>
            </a:extLst>
          </p:cNvPr>
          <p:cNvSpPr txBox="1"/>
          <p:nvPr/>
        </p:nvSpPr>
        <p:spPr>
          <a:xfrm>
            <a:off x="1160392" y="5034259"/>
            <a:ext cx="8033303" cy="1020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fr-FR" sz="2600" dirty="0"/>
              <a:t>Une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FR" sz="2600" dirty="0"/>
              <a:t>…</a:t>
            </a:r>
          </a:p>
          <a:p>
            <a:pPr>
              <a:lnSpc>
                <a:spcPct val="120000"/>
              </a:lnSpc>
            </a:pPr>
            <a:r>
              <a:rPr lang="fr-FR" sz="2600" dirty="0"/>
              <a:t>… dont le contrôleur est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calculatrice.Controller</a:t>
            </a:r>
            <a:endParaRPr lang="fr-FR" sz="2400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7" name="Connecteur en angle 16">
            <a:extLst>
              <a:ext uri="{FF2B5EF4-FFF2-40B4-BE49-F238E27FC236}">
                <a16:creationId xmlns:a16="http://schemas.microsoft.com/office/drawing/2014/main" id="{00A2E9C0-123A-9FEC-49A3-A8366291519B}"/>
              </a:ext>
            </a:extLst>
          </p:cNvPr>
          <p:cNvCxnSpPr>
            <a:cxnSpLocks/>
          </p:cNvCxnSpPr>
          <p:nvPr/>
        </p:nvCxnSpPr>
        <p:spPr>
          <a:xfrm rot="16200000" flipV="1">
            <a:off x="7535798" y="4611622"/>
            <a:ext cx="1801627" cy="678179"/>
          </a:xfrm>
          <a:prstGeom prst="bentConnector3">
            <a:avLst>
              <a:gd name="adj1" fmla="val 100049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4" descr="les lunettes bleus - OFF-53% &gt; Livraison gratuite">
            <a:extLst>
              <a:ext uri="{FF2B5EF4-FFF2-40B4-BE49-F238E27FC236}">
                <a16:creationId xmlns:a16="http://schemas.microsoft.com/office/drawing/2014/main" id="{6F6BFB79-5F6C-66EF-87A7-D40E673F8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4936" y="0"/>
            <a:ext cx="2160398" cy="126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EB4DFB-1015-6D4C-2C84-400BA4F3E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3652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C71468-7D6C-E34D-A1E0-BE18D052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 Look de la calculatrice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7F180E-1579-9144-A954-E2A9FF4BECC2}"/>
              </a:ext>
            </a:extLst>
          </p:cNvPr>
          <p:cNvSpPr/>
          <p:nvPr/>
        </p:nvSpPr>
        <p:spPr>
          <a:xfrm>
            <a:off x="7064848" y="1752600"/>
            <a:ext cx="3672348" cy="437356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893D8-A84A-6B41-A9AD-1246D2E54F68}"/>
              </a:ext>
            </a:extLst>
          </p:cNvPr>
          <p:cNvSpPr/>
          <p:nvPr/>
        </p:nvSpPr>
        <p:spPr>
          <a:xfrm>
            <a:off x="7153338" y="1828802"/>
            <a:ext cx="3495368" cy="9143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0CFD1B-19D5-5643-A26E-3347F255C946}"/>
              </a:ext>
            </a:extLst>
          </p:cNvPr>
          <p:cNvSpPr/>
          <p:nvPr/>
        </p:nvSpPr>
        <p:spPr>
          <a:xfrm>
            <a:off x="7153338" y="2858730"/>
            <a:ext cx="3495368" cy="72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69939C-E9E0-5645-9645-62B7022656D3}"/>
              </a:ext>
            </a:extLst>
          </p:cNvPr>
          <p:cNvSpPr/>
          <p:nvPr/>
        </p:nvSpPr>
        <p:spPr>
          <a:xfrm>
            <a:off x="7153338" y="3689235"/>
            <a:ext cx="3495368" cy="72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AC4BDF-3344-284A-8469-5848FBFF3F99}"/>
              </a:ext>
            </a:extLst>
          </p:cNvPr>
          <p:cNvSpPr/>
          <p:nvPr/>
        </p:nvSpPr>
        <p:spPr>
          <a:xfrm>
            <a:off x="7153338" y="4519740"/>
            <a:ext cx="3495368" cy="72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ACCFF-7D5F-0047-A5E9-8C0562A2ACB2}"/>
              </a:ext>
            </a:extLst>
          </p:cNvPr>
          <p:cNvSpPr/>
          <p:nvPr/>
        </p:nvSpPr>
        <p:spPr>
          <a:xfrm>
            <a:off x="7153338" y="5350245"/>
            <a:ext cx="3495368" cy="72000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2292" name="Picture 4" descr="les lunettes bleus - OFF-53% &gt; Livraison gratuite">
            <a:extLst>
              <a:ext uri="{FF2B5EF4-FFF2-40B4-BE49-F238E27FC236}">
                <a16:creationId xmlns:a16="http://schemas.microsoft.com/office/drawing/2014/main" id="{12759FB3-0863-F5C8-CF55-A33B7CA08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4936" y="0"/>
            <a:ext cx="2160398" cy="126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271DA401-38AA-4F96-20B4-DEDF724966CE}"/>
              </a:ext>
            </a:extLst>
          </p:cNvPr>
          <p:cNvSpPr txBox="1">
            <a:spLocks/>
          </p:cNvSpPr>
          <p:nvPr/>
        </p:nvSpPr>
        <p:spPr>
          <a:xfrm>
            <a:off x="838200" y="1763712"/>
            <a:ext cx="56540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La calculatrice sera structurée comme suit: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Une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FR" dirty="0"/>
              <a:t> dans laquelle les éléments s’alignent à verticalement.</a:t>
            </a:r>
          </a:p>
          <a:p>
            <a:pPr marL="457200" indent="-457200">
              <a:buFont typeface="+mj-lt"/>
              <a:buAutoNum type="arabicPeriod"/>
            </a:pPr>
            <a:endParaRPr lang="fr-FR" dirty="0"/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Dans la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FR" dirty="0"/>
              <a:t>, </a:t>
            </a:r>
          </a:p>
          <a:p>
            <a:pPr marL="914400" lvl="1" indent="-457200"/>
            <a:r>
              <a:rPr lang="fr-FR" dirty="0"/>
              <a:t>un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FR" dirty="0"/>
              <a:t> (les </a:t>
            </a:r>
            <a:r>
              <a:rPr lang="fr-FR" dirty="0" err="1"/>
              <a:t>noeuds</a:t>
            </a:r>
            <a:r>
              <a:rPr lang="fr-FR" dirty="0"/>
              <a:t> s’y empilent, les uns au dessus des autres)</a:t>
            </a:r>
          </a:p>
          <a:p>
            <a:pPr marL="914400" lvl="1" indent="-457200"/>
            <a:r>
              <a:rPr lang="fr-FR" dirty="0"/>
              <a:t>et une série de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FR" dirty="0"/>
              <a:t>.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409D810-2136-F412-5220-9FC417688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9072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5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47F180E-1579-9144-A954-E2A9FF4BECC2}"/>
              </a:ext>
            </a:extLst>
          </p:cNvPr>
          <p:cNvSpPr/>
          <p:nvPr/>
        </p:nvSpPr>
        <p:spPr>
          <a:xfrm>
            <a:off x="7064848" y="1752600"/>
            <a:ext cx="3672348" cy="437356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1893D8-A84A-6B41-A9AD-1246D2E54F68}"/>
              </a:ext>
            </a:extLst>
          </p:cNvPr>
          <p:cNvSpPr/>
          <p:nvPr/>
        </p:nvSpPr>
        <p:spPr>
          <a:xfrm>
            <a:off x="7153338" y="1828802"/>
            <a:ext cx="3495368" cy="91439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0CFD1B-19D5-5643-A26E-3347F255C946}"/>
              </a:ext>
            </a:extLst>
          </p:cNvPr>
          <p:cNvSpPr/>
          <p:nvPr/>
        </p:nvSpPr>
        <p:spPr>
          <a:xfrm>
            <a:off x="7153338" y="2858730"/>
            <a:ext cx="3495368" cy="720000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69939C-E9E0-5645-9645-62B7022656D3}"/>
              </a:ext>
            </a:extLst>
          </p:cNvPr>
          <p:cNvSpPr/>
          <p:nvPr/>
        </p:nvSpPr>
        <p:spPr>
          <a:xfrm>
            <a:off x="7153338" y="3689235"/>
            <a:ext cx="3495368" cy="720000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AC4BDF-3344-284A-8469-5848FBFF3F99}"/>
              </a:ext>
            </a:extLst>
          </p:cNvPr>
          <p:cNvSpPr/>
          <p:nvPr/>
        </p:nvSpPr>
        <p:spPr>
          <a:xfrm>
            <a:off x="7153338" y="4519740"/>
            <a:ext cx="3495368" cy="720000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ACCFF-7D5F-0047-A5E9-8C0562A2ACB2}"/>
              </a:ext>
            </a:extLst>
          </p:cNvPr>
          <p:cNvSpPr/>
          <p:nvPr/>
        </p:nvSpPr>
        <p:spPr>
          <a:xfrm>
            <a:off x="7153338" y="5350245"/>
            <a:ext cx="3495368" cy="720000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88E9CC-6777-5440-A7C8-51852A674B9C}"/>
              </a:ext>
            </a:extLst>
          </p:cNvPr>
          <p:cNvSpPr/>
          <p:nvPr/>
        </p:nvSpPr>
        <p:spPr>
          <a:xfrm>
            <a:off x="7197584" y="1884054"/>
            <a:ext cx="3372465" cy="78048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55B3B4A-0C3E-824A-B42E-2AB35DEBDDCE}"/>
              </a:ext>
            </a:extLst>
          </p:cNvPr>
          <p:cNvSpPr txBox="1"/>
          <p:nvPr/>
        </p:nvSpPr>
        <p:spPr>
          <a:xfrm>
            <a:off x="8583932" y="1913549"/>
            <a:ext cx="521110" cy="707886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4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671D89-13AA-C84D-8389-D2DB098141FF}"/>
              </a:ext>
            </a:extLst>
          </p:cNvPr>
          <p:cNvSpPr/>
          <p:nvPr/>
        </p:nvSpPr>
        <p:spPr>
          <a:xfrm>
            <a:off x="7231997" y="2937996"/>
            <a:ext cx="712839" cy="5524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BCC960-401F-2744-9189-949825FF5BB7}"/>
              </a:ext>
            </a:extLst>
          </p:cNvPr>
          <p:cNvSpPr/>
          <p:nvPr/>
        </p:nvSpPr>
        <p:spPr>
          <a:xfrm>
            <a:off x="8100513" y="2937996"/>
            <a:ext cx="712839" cy="5524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352B07-3C29-1046-9A55-2ED77547F839}"/>
              </a:ext>
            </a:extLst>
          </p:cNvPr>
          <p:cNvSpPr/>
          <p:nvPr/>
        </p:nvSpPr>
        <p:spPr>
          <a:xfrm>
            <a:off x="8969029" y="2937996"/>
            <a:ext cx="712839" cy="5524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8019B2-F031-FD49-B98B-98532C631A3C}"/>
              </a:ext>
            </a:extLst>
          </p:cNvPr>
          <p:cNvSpPr/>
          <p:nvPr/>
        </p:nvSpPr>
        <p:spPr>
          <a:xfrm>
            <a:off x="9837546" y="2937996"/>
            <a:ext cx="712839" cy="5524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FA7AA0-11D4-0C44-BF28-AA83E60AA9F1}"/>
              </a:ext>
            </a:extLst>
          </p:cNvPr>
          <p:cNvSpPr/>
          <p:nvPr/>
        </p:nvSpPr>
        <p:spPr>
          <a:xfrm>
            <a:off x="7231997" y="3754074"/>
            <a:ext cx="712839" cy="5524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5F68F5-3B32-7F48-9349-A0B3861A7699}"/>
              </a:ext>
            </a:extLst>
          </p:cNvPr>
          <p:cNvSpPr/>
          <p:nvPr/>
        </p:nvSpPr>
        <p:spPr>
          <a:xfrm>
            <a:off x="8100513" y="3754074"/>
            <a:ext cx="712839" cy="5524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C0F8D0-2D7C-9A40-BEC1-6011DCC67680}"/>
              </a:ext>
            </a:extLst>
          </p:cNvPr>
          <p:cNvSpPr/>
          <p:nvPr/>
        </p:nvSpPr>
        <p:spPr>
          <a:xfrm>
            <a:off x="8969029" y="3754074"/>
            <a:ext cx="712839" cy="5524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6F01D8-BEBA-C146-87A1-A5269D2639AB}"/>
              </a:ext>
            </a:extLst>
          </p:cNvPr>
          <p:cNvSpPr/>
          <p:nvPr/>
        </p:nvSpPr>
        <p:spPr>
          <a:xfrm>
            <a:off x="9837546" y="3754074"/>
            <a:ext cx="712839" cy="5524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B756FD-6718-4E41-A66C-BB2E84F8CF81}"/>
              </a:ext>
            </a:extLst>
          </p:cNvPr>
          <p:cNvSpPr/>
          <p:nvPr/>
        </p:nvSpPr>
        <p:spPr>
          <a:xfrm>
            <a:off x="7231997" y="4589816"/>
            <a:ext cx="712839" cy="5524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64B948-FEA6-3A42-92E2-5DC5E0F6034C}"/>
              </a:ext>
            </a:extLst>
          </p:cNvPr>
          <p:cNvSpPr/>
          <p:nvPr/>
        </p:nvSpPr>
        <p:spPr>
          <a:xfrm>
            <a:off x="8100513" y="4589816"/>
            <a:ext cx="712839" cy="5524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47C3A7-8C62-0B4B-871F-CF49E54584DC}"/>
              </a:ext>
            </a:extLst>
          </p:cNvPr>
          <p:cNvSpPr/>
          <p:nvPr/>
        </p:nvSpPr>
        <p:spPr>
          <a:xfrm>
            <a:off x="8969029" y="4589816"/>
            <a:ext cx="712839" cy="5524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9D1A81-F0D8-D045-9EF2-34FE730E5B32}"/>
              </a:ext>
            </a:extLst>
          </p:cNvPr>
          <p:cNvSpPr/>
          <p:nvPr/>
        </p:nvSpPr>
        <p:spPr>
          <a:xfrm>
            <a:off x="9837546" y="4589816"/>
            <a:ext cx="712839" cy="5524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C9CF3E-289D-3F44-B31A-E8EAAC4FD309}"/>
              </a:ext>
            </a:extLst>
          </p:cNvPr>
          <p:cNvSpPr/>
          <p:nvPr/>
        </p:nvSpPr>
        <p:spPr>
          <a:xfrm>
            <a:off x="7231996" y="5435389"/>
            <a:ext cx="1581354" cy="5524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5A6E86F-D9E7-0946-AEDA-29FC2289DCCE}"/>
              </a:ext>
            </a:extLst>
          </p:cNvPr>
          <p:cNvSpPr/>
          <p:nvPr/>
        </p:nvSpPr>
        <p:spPr>
          <a:xfrm>
            <a:off x="8969029" y="5435389"/>
            <a:ext cx="712839" cy="5524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1ED513-F657-E440-8B55-14586512F5FC}"/>
              </a:ext>
            </a:extLst>
          </p:cNvPr>
          <p:cNvSpPr/>
          <p:nvPr/>
        </p:nvSpPr>
        <p:spPr>
          <a:xfrm>
            <a:off x="9837546" y="5435389"/>
            <a:ext cx="712839" cy="552456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BC71468-7D6C-E34D-A1E0-BE18D052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 look de la calculatrice</a:t>
            </a:r>
          </a:p>
        </p:txBody>
      </p:sp>
      <p:pic>
        <p:nvPicPr>
          <p:cNvPr id="27" name="Picture 4" descr="les lunettes bleus - OFF-53% &gt; Livraison gratuite">
            <a:extLst>
              <a:ext uri="{FF2B5EF4-FFF2-40B4-BE49-F238E27FC236}">
                <a16:creationId xmlns:a16="http://schemas.microsoft.com/office/drawing/2014/main" id="{253797BD-30F4-EAAE-D03F-8CBAF90AF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4936" y="0"/>
            <a:ext cx="2160398" cy="126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Espace réservé du contenu 2">
            <a:extLst>
              <a:ext uri="{FF2B5EF4-FFF2-40B4-BE49-F238E27FC236}">
                <a16:creationId xmlns:a16="http://schemas.microsoft.com/office/drawing/2014/main" id="{A4EEA542-3538-0335-5BDF-3326C34E98A6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47116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fr-FR" dirty="0"/>
              <a:t>Dans le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FR" dirty="0"/>
              <a:t>, centrés</a:t>
            </a:r>
          </a:p>
          <a:p>
            <a:pPr marL="914400" lvl="1" indent="-457200"/>
            <a:r>
              <a:rPr lang="fr-FR" dirty="0"/>
              <a:t>Un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Rectangle</a:t>
            </a:r>
            <a:endParaRPr lang="fr-FR" sz="2200" dirty="0">
              <a:ln w="6350">
                <a:solidFill>
                  <a:schemeClr val="tx1">
                    <a:lumMod val="50000"/>
                    <a:lumOff val="50000"/>
                  </a:schemeClr>
                </a:solidFill>
              </a:ln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914400" lvl="1" indent="-457200"/>
            <a:r>
              <a:rPr lang="fr-FR" dirty="0"/>
              <a:t>Un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FR" dirty="0"/>
              <a:t> (qui s’adaptera à son contenu)</a:t>
            </a:r>
          </a:p>
          <a:p>
            <a:pPr marL="914400" lvl="1" indent="-457200"/>
            <a:endParaRPr lang="fr-FR" dirty="0"/>
          </a:p>
          <a:p>
            <a:pPr marL="457200" indent="-457200">
              <a:buFont typeface="+mj-lt"/>
              <a:buAutoNum type="arabicPeriod"/>
            </a:pPr>
            <a:r>
              <a:rPr lang="fr-FR" dirty="0"/>
              <a:t>Dans chaque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FR" dirty="0"/>
              <a:t>,</a:t>
            </a:r>
          </a:p>
          <a:p>
            <a:pPr marL="914400" lvl="1" indent="-457200"/>
            <a:r>
              <a:rPr lang="fr-FR" dirty="0"/>
              <a:t>3 ou 4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dirty="0"/>
              <a:t> qui déclencheront les actions </a:t>
            </a:r>
            <a:endParaRPr lang="fr-FR" dirty="0"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  <a:solidFill>
                <a:schemeClr val="accent5"/>
              </a:solidFill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0961790-5203-93DC-BA30-7E7A4A4608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690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7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5" presetClass="entr" presetSubtype="1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" presetClass="entr" presetSubtype="1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" presetClass="entr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" presetClass="entr" presetSubtype="1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" presetClass="entr" presetSubtype="1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" presetClass="entr" presetSubtype="1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" presetClass="entr" presetSubtype="1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" presetClass="entr" presetSubtype="1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" presetClass="entr" presetSubtype="1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" presetClass="entr" presetSubtype="1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" presetClass="entr" presetSubtype="1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" presetClass="entr" presetSubtype="1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1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C71468-7D6C-E34D-A1E0-BE18D052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 look de la calculatrice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740D00-7EB2-3B43-88C9-AD4162969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520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Au niveau des dimensions,</a:t>
            </a:r>
          </a:p>
          <a:p>
            <a:pPr marL="342900" indent="-342900"/>
            <a:r>
              <a:rPr lang="fr-FR" dirty="0" err="1"/>
              <a:t>VBox</a:t>
            </a:r>
            <a:r>
              <a:rPr lang="fr-FR" dirty="0"/>
              <a:t>: 300 x 300 px</a:t>
            </a:r>
          </a:p>
          <a:p>
            <a:pPr marL="342900" indent="-342900"/>
            <a:r>
              <a:rPr lang="fr-FR" dirty="0"/>
              <a:t>Espacement H et V: 10 px</a:t>
            </a:r>
          </a:p>
          <a:p>
            <a:pPr marL="342900" indent="-342900"/>
            <a:r>
              <a:rPr lang="fr-FR" dirty="0"/>
              <a:t>Boutons: 50 x 50 px </a:t>
            </a:r>
          </a:p>
          <a:p>
            <a:pPr marL="342900" indent="-342900"/>
            <a:r>
              <a:rPr lang="fr-FR" dirty="0"/>
              <a:t>...et donc largeur totale des éléments 230 px (et Rectangle 230 x 50 px)</a:t>
            </a:r>
          </a:p>
          <a:p>
            <a:pPr marL="342900" indent="-342900"/>
            <a:endParaRPr lang="fr-FR" dirty="0"/>
          </a:p>
        </p:txBody>
      </p: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754D7A1B-A16A-4C48-9B48-8495F4462599}"/>
              </a:ext>
            </a:extLst>
          </p:cNvPr>
          <p:cNvGrpSpPr/>
          <p:nvPr/>
        </p:nvGrpSpPr>
        <p:grpSpPr>
          <a:xfrm>
            <a:off x="6746239" y="1391266"/>
            <a:ext cx="4309566" cy="3735471"/>
            <a:chOff x="154192" y="1446129"/>
            <a:chExt cx="4309566" cy="3735471"/>
          </a:xfrm>
        </p:grpSpPr>
        <p:cxnSp>
          <p:nvCxnSpPr>
            <p:cNvPr id="46" name="Connecteur droit avec flèche 45">
              <a:extLst>
                <a:ext uri="{FF2B5EF4-FFF2-40B4-BE49-F238E27FC236}">
                  <a16:creationId xmlns:a16="http://schemas.microsoft.com/office/drawing/2014/main" id="{B05B4AF4-73C7-234C-A419-94EE28289A50}"/>
                </a:ext>
              </a:extLst>
            </p:cNvPr>
            <p:cNvCxnSpPr>
              <a:cxnSpLocks/>
            </p:cNvCxnSpPr>
            <p:nvPr/>
          </p:nvCxnSpPr>
          <p:spPr>
            <a:xfrm>
              <a:off x="317091" y="2168877"/>
              <a:ext cx="0" cy="2921805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ZoneTexte 29">
              <a:extLst>
                <a:ext uri="{FF2B5EF4-FFF2-40B4-BE49-F238E27FC236}">
                  <a16:creationId xmlns:a16="http://schemas.microsoft.com/office/drawing/2014/main" id="{97BD8CB5-1CFF-014D-A985-22E3BF21F85B}"/>
                </a:ext>
              </a:extLst>
            </p:cNvPr>
            <p:cNvSpPr txBox="1"/>
            <p:nvPr/>
          </p:nvSpPr>
          <p:spPr>
            <a:xfrm rot="16200000">
              <a:off x="110081" y="2495657"/>
              <a:ext cx="39600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/>
                <a:t>50</a:t>
              </a:r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3B1DDF32-C5C4-F445-9670-1FE7D7990649}"/>
                </a:ext>
              </a:extLst>
            </p:cNvPr>
            <p:cNvSpPr txBox="1"/>
            <p:nvPr/>
          </p:nvSpPr>
          <p:spPr>
            <a:xfrm rot="16200000">
              <a:off x="110081" y="2947940"/>
              <a:ext cx="39600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/>
                <a:t>10</a:t>
              </a:r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3F5D6F1B-C7AC-4648-928F-E946C099BD54}"/>
                </a:ext>
              </a:extLst>
            </p:cNvPr>
            <p:cNvSpPr txBox="1"/>
            <p:nvPr/>
          </p:nvSpPr>
          <p:spPr>
            <a:xfrm rot="16200000">
              <a:off x="110081" y="3400225"/>
              <a:ext cx="39600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/>
                <a:t>50</a:t>
              </a:r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F915951C-FA0C-B943-AEA1-2039A52F8543}"/>
                </a:ext>
              </a:extLst>
            </p:cNvPr>
            <p:cNvSpPr txBox="1"/>
            <p:nvPr/>
          </p:nvSpPr>
          <p:spPr>
            <a:xfrm rot="16200000">
              <a:off x="110081" y="3852508"/>
              <a:ext cx="39600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/>
                <a:t>10</a:t>
              </a:r>
            </a:p>
          </p:txBody>
        </p:sp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1F91E989-9818-FA42-ADC0-B6AC15EF097E}"/>
                </a:ext>
              </a:extLst>
            </p:cNvPr>
            <p:cNvSpPr txBox="1"/>
            <p:nvPr/>
          </p:nvSpPr>
          <p:spPr>
            <a:xfrm rot="16200000">
              <a:off x="110081" y="4334289"/>
              <a:ext cx="396000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400" dirty="0"/>
                <a:t>50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888E9CC-6777-5440-A7C8-51852A674B9C}"/>
                </a:ext>
              </a:extLst>
            </p:cNvPr>
            <p:cNvSpPr/>
            <p:nvPr/>
          </p:nvSpPr>
          <p:spPr>
            <a:xfrm>
              <a:off x="614516" y="2179014"/>
              <a:ext cx="3357716" cy="78048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455B3B4A-0C3E-824A-B42E-2AB35DEBDDCE}"/>
                </a:ext>
              </a:extLst>
            </p:cNvPr>
            <p:cNvSpPr txBox="1"/>
            <p:nvPr/>
          </p:nvSpPr>
          <p:spPr>
            <a:xfrm>
              <a:off x="1976284" y="2208510"/>
              <a:ext cx="521110" cy="707886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40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fr-FR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671D89-13AA-C84D-8389-D2DB098141FF}"/>
                </a:ext>
              </a:extLst>
            </p:cNvPr>
            <p:cNvSpPr/>
            <p:nvPr/>
          </p:nvSpPr>
          <p:spPr>
            <a:xfrm>
              <a:off x="667880" y="4147359"/>
              <a:ext cx="684768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0BCC960-401F-2744-9189-949825FF5BB7}"/>
                </a:ext>
              </a:extLst>
            </p:cNvPr>
            <p:cNvSpPr/>
            <p:nvPr/>
          </p:nvSpPr>
          <p:spPr>
            <a:xfrm>
              <a:off x="1506900" y="4147359"/>
              <a:ext cx="684768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3352B07-3C29-1046-9A55-2ED77547F839}"/>
                </a:ext>
              </a:extLst>
            </p:cNvPr>
            <p:cNvSpPr/>
            <p:nvPr/>
          </p:nvSpPr>
          <p:spPr>
            <a:xfrm>
              <a:off x="2375416" y="4147359"/>
              <a:ext cx="684768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E8019B2-F031-FD49-B98B-98532C631A3C}"/>
                </a:ext>
              </a:extLst>
            </p:cNvPr>
            <p:cNvSpPr/>
            <p:nvPr/>
          </p:nvSpPr>
          <p:spPr>
            <a:xfrm>
              <a:off x="3214437" y="4147359"/>
              <a:ext cx="684768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EA2166C-294D-3240-8DF5-CA82C12CE360}"/>
                </a:ext>
              </a:extLst>
            </p:cNvPr>
            <p:cNvSpPr/>
            <p:nvPr/>
          </p:nvSpPr>
          <p:spPr>
            <a:xfrm>
              <a:off x="614516" y="3163523"/>
              <a:ext cx="3357716" cy="720000"/>
            </a:xfrm>
            <a:prstGeom prst="rect">
              <a:avLst/>
            </a:prstGeom>
            <a:no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59" name="Groupe 58">
              <a:extLst>
                <a:ext uri="{FF2B5EF4-FFF2-40B4-BE49-F238E27FC236}">
                  <a16:creationId xmlns:a16="http://schemas.microsoft.com/office/drawing/2014/main" id="{CDEBF706-7ACD-2140-A2AC-3BC6CC133105}"/>
                </a:ext>
              </a:extLst>
            </p:cNvPr>
            <p:cNvGrpSpPr/>
            <p:nvPr/>
          </p:nvGrpSpPr>
          <p:grpSpPr>
            <a:xfrm rot="5400000">
              <a:off x="2617986" y="3335828"/>
              <a:ext cx="3383767" cy="307777"/>
              <a:chOff x="457200" y="1455416"/>
              <a:chExt cx="3383767" cy="307777"/>
            </a:xfrm>
          </p:grpSpPr>
          <p:cxnSp>
            <p:nvCxnSpPr>
              <p:cNvPr id="37" name="Connecteur droit avec flèche 36">
                <a:extLst>
                  <a:ext uri="{FF2B5EF4-FFF2-40B4-BE49-F238E27FC236}">
                    <a16:creationId xmlns:a16="http://schemas.microsoft.com/office/drawing/2014/main" id="{4C8BE0A7-A43E-D544-8AD3-D6A04F60108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149084" y="-49582"/>
                <a:ext cx="0" cy="3383767"/>
              </a:xfrm>
              <a:prstGeom prst="straightConnector1">
                <a:avLst/>
              </a:prstGeom>
              <a:ln w="28575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0534487B-13BF-3746-B3FE-A601647311E7}"/>
                  </a:ext>
                </a:extLst>
              </p:cNvPr>
              <p:cNvSpPr txBox="1"/>
              <p:nvPr/>
            </p:nvSpPr>
            <p:spPr>
              <a:xfrm>
                <a:off x="1470037" y="1455416"/>
                <a:ext cx="45236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400" dirty="0"/>
                  <a:t>300</a:t>
                </a:r>
              </a:p>
            </p:txBody>
          </p:sp>
        </p:grpSp>
        <p:cxnSp>
          <p:nvCxnSpPr>
            <p:cNvPr id="38" name="Connecteur droit avec flèche 37">
              <a:extLst>
                <a:ext uri="{FF2B5EF4-FFF2-40B4-BE49-F238E27FC236}">
                  <a16:creationId xmlns:a16="http://schemas.microsoft.com/office/drawing/2014/main" id="{28BCFEBF-64AB-784F-8885-3E48969FDDF2}"/>
                </a:ext>
              </a:extLst>
            </p:cNvPr>
            <p:cNvCxnSpPr>
              <a:cxnSpLocks/>
            </p:cNvCxnSpPr>
            <p:nvPr/>
          </p:nvCxnSpPr>
          <p:spPr>
            <a:xfrm>
              <a:off x="614516" y="1996263"/>
              <a:ext cx="3357716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ZoneTexte 26">
              <a:extLst>
                <a:ext uri="{FF2B5EF4-FFF2-40B4-BE49-F238E27FC236}">
                  <a16:creationId xmlns:a16="http://schemas.microsoft.com/office/drawing/2014/main" id="{8C0746E4-BD45-9440-8656-2E71DAF33483}"/>
                </a:ext>
              </a:extLst>
            </p:cNvPr>
            <p:cNvSpPr txBox="1"/>
            <p:nvPr/>
          </p:nvSpPr>
          <p:spPr>
            <a:xfrm>
              <a:off x="1974687" y="1799545"/>
              <a:ext cx="445956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400" dirty="0"/>
                <a:t>230</a:t>
              </a:r>
            </a:p>
          </p:txBody>
        </p:sp>
        <p:grpSp>
          <p:nvGrpSpPr>
            <p:cNvPr id="54" name="Groupe 53">
              <a:extLst>
                <a:ext uri="{FF2B5EF4-FFF2-40B4-BE49-F238E27FC236}">
                  <a16:creationId xmlns:a16="http://schemas.microsoft.com/office/drawing/2014/main" id="{95106A92-FC36-5649-B2A9-4EB26377E3BF}"/>
                </a:ext>
              </a:extLst>
            </p:cNvPr>
            <p:cNvGrpSpPr/>
            <p:nvPr/>
          </p:nvGrpSpPr>
          <p:grpSpPr>
            <a:xfrm rot="5400000">
              <a:off x="2146240" y="3264690"/>
              <a:ext cx="307778" cy="3344207"/>
              <a:chOff x="306592" y="1596286"/>
              <a:chExt cx="307778" cy="3344207"/>
            </a:xfrm>
          </p:grpSpPr>
          <p:cxnSp>
            <p:nvCxnSpPr>
              <p:cNvPr id="48" name="Connecteur droit avec flèche 47">
                <a:extLst>
                  <a:ext uri="{FF2B5EF4-FFF2-40B4-BE49-F238E27FC236}">
                    <a16:creationId xmlns:a16="http://schemas.microsoft.com/office/drawing/2014/main" id="{DD4B789B-0DAC-6141-B884-73AFEF66A7A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-1202613" y="3268390"/>
                <a:ext cx="3344207" cy="0"/>
              </a:xfrm>
              <a:prstGeom prst="straightConnector1">
                <a:avLst/>
              </a:prstGeom>
              <a:ln w="28575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ZoneTexte 48">
                <a:extLst>
                  <a:ext uri="{FF2B5EF4-FFF2-40B4-BE49-F238E27FC236}">
                    <a16:creationId xmlns:a16="http://schemas.microsoft.com/office/drawing/2014/main" id="{C5EA08F8-CDF0-5748-96EB-386F7A58793F}"/>
                  </a:ext>
                </a:extLst>
              </p:cNvPr>
              <p:cNvSpPr txBox="1"/>
              <p:nvPr/>
            </p:nvSpPr>
            <p:spPr>
              <a:xfrm rot="16200000">
                <a:off x="262481" y="2648057"/>
                <a:ext cx="39600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dirty="0"/>
                  <a:t>50</a:t>
                </a:r>
              </a:p>
            </p:txBody>
          </p:sp>
          <p:sp>
            <p:nvSpPr>
              <p:cNvPr id="50" name="ZoneTexte 49">
                <a:extLst>
                  <a:ext uri="{FF2B5EF4-FFF2-40B4-BE49-F238E27FC236}">
                    <a16:creationId xmlns:a16="http://schemas.microsoft.com/office/drawing/2014/main" id="{C1862F91-E272-8B48-82FA-88DA5D4A17A5}"/>
                  </a:ext>
                </a:extLst>
              </p:cNvPr>
              <p:cNvSpPr txBox="1"/>
              <p:nvPr/>
            </p:nvSpPr>
            <p:spPr>
              <a:xfrm rot="16200000">
                <a:off x="262481" y="3100340"/>
                <a:ext cx="39600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dirty="0"/>
                  <a:t>10</a:t>
                </a:r>
              </a:p>
            </p:txBody>
          </p:sp>
          <p:sp>
            <p:nvSpPr>
              <p:cNvPr id="51" name="ZoneTexte 50">
                <a:extLst>
                  <a:ext uri="{FF2B5EF4-FFF2-40B4-BE49-F238E27FC236}">
                    <a16:creationId xmlns:a16="http://schemas.microsoft.com/office/drawing/2014/main" id="{4B6F7187-8AE2-FF43-82C8-75B2D03C2B79}"/>
                  </a:ext>
                </a:extLst>
              </p:cNvPr>
              <p:cNvSpPr txBox="1"/>
              <p:nvPr/>
            </p:nvSpPr>
            <p:spPr>
              <a:xfrm rot="16200000">
                <a:off x="262481" y="3552625"/>
                <a:ext cx="39600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dirty="0"/>
                  <a:t>50</a:t>
                </a:r>
              </a:p>
            </p:txBody>
          </p:sp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D194C53D-7722-2B44-9C73-0BA425446273}"/>
                  </a:ext>
                </a:extLst>
              </p:cNvPr>
              <p:cNvSpPr txBox="1"/>
              <p:nvPr/>
            </p:nvSpPr>
            <p:spPr>
              <a:xfrm rot="16200000">
                <a:off x="262481" y="4004908"/>
                <a:ext cx="39600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dirty="0"/>
                  <a:t>10</a:t>
                </a:r>
              </a:p>
            </p:txBody>
          </p:sp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F0F69A46-B629-E245-8426-19FD0FA46EA9}"/>
                  </a:ext>
                </a:extLst>
              </p:cNvPr>
              <p:cNvSpPr txBox="1"/>
              <p:nvPr/>
            </p:nvSpPr>
            <p:spPr>
              <a:xfrm rot="16200000">
                <a:off x="262481" y="4486689"/>
                <a:ext cx="39600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dirty="0"/>
                  <a:t>50</a:t>
                </a:r>
              </a:p>
            </p:txBody>
          </p:sp>
          <p:sp>
            <p:nvSpPr>
              <p:cNvPr id="55" name="ZoneTexte 54">
                <a:extLst>
                  <a:ext uri="{FF2B5EF4-FFF2-40B4-BE49-F238E27FC236}">
                    <a16:creationId xmlns:a16="http://schemas.microsoft.com/office/drawing/2014/main" id="{D601E3BB-CE7F-CC45-B28A-48EB37D6B02B}"/>
                  </a:ext>
                </a:extLst>
              </p:cNvPr>
              <p:cNvSpPr txBox="1"/>
              <p:nvPr/>
            </p:nvSpPr>
            <p:spPr>
              <a:xfrm rot="16200000">
                <a:off x="262481" y="1750308"/>
                <a:ext cx="39600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dirty="0"/>
                  <a:t>50</a:t>
                </a:r>
              </a:p>
            </p:txBody>
          </p:sp>
          <p:sp>
            <p:nvSpPr>
              <p:cNvPr id="56" name="ZoneTexte 55">
                <a:extLst>
                  <a:ext uri="{FF2B5EF4-FFF2-40B4-BE49-F238E27FC236}">
                    <a16:creationId xmlns:a16="http://schemas.microsoft.com/office/drawing/2014/main" id="{BCE9357C-E60C-9B4E-A876-F47877AA6060}"/>
                  </a:ext>
                </a:extLst>
              </p:cNvPr>
              <p:cNvSpPr txBox="1"/>
              <p:nvPr/>
            </p:nvSpPr>
            <p:spPr>
              <a:xfrm rot="16200000">
                <a:off x="262482" y="2202591"/>
                <a:ext cx="39600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400" dirty="0"/>
                  <a:t>10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30CFD1B-19D5-5643-A26E-3347F255C946}"/>
                </a:ext>
              </a:extLst>
            </p:cNvPr>
            <p:cNvSpPr/>
            <p:nvPr/>
          </p:nvSpPr>
          <p:spPr>
            <a:xfrm>
              <a:off x="614516" y="4068093"/>
              <a:ext cx="3357716" cy="720000"/>
            </a:xfrm>
            <a:prstGeom prst="rect">
              <a:avLst/>
            </a:prstGeom>
            <a:no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059BDA06-81D5-0F47-B56E-5406A0C1E186}"/>
                </a:ext>
              </a:extLst>
            </p:cNvPr>
            <p:cNvSpPr/>
            <p:nvPr/>
          </p:nvSpPr>
          <p:spPr>
            <a:xfrm>
              <a:off x="457200" y="1799545"/>
              <a:ext cx="3672348" cy="3382055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A4A27670-8D6C-EF4F-B5FE-9984A9738D2B}"/>
                </a:ext>
              </a:extLst>
            </p:cNvPr>
            <p:cNvGrpSpPr/>
            <p:nvPr/>
          </p:nvGrpSpPr>
          <p:grpSpPr>
            <a:xfrm>
              <a:off x="463954" y="1446129"/>
              <a:ext cx="3672348" cy="307777"/>
              <a:chOff x="457200" y="1455416"/>
              <a:chExt cx="3672348" cy="307777"/>
            </a:xfrm>
          </p:grpSpPr>
          <p:cxnSp>
            <p:nvCxnSpPr>
              <p:cNvPr id="61" name="Connecteur droit avec flèche 60">
                <a:extLst>
                  <a:ext uri="{FF2B5EF4-FFF2-40B4-BE49-F238E27FC236}">
                    <a16:creationId xmlns:a16="http://schemas.microsoft.com/office/drawing/2014/main" id="{BB42C995-807F-D348-813D-B1B3DB53A0B5}"/>
                  </a:ext>
                </a:extLst>
              </p:cNvPr>
              <p:cNvCxnSpPr/>
              <p:nvPr/>
            </p:nvCxnSpPr>
            <p:spPr>
              <a:xfrm>
                <a:off x="457200" y="1642302"/>
                <a:ext cx="3672348" cy="0"/>
              </a:xfrm>
              <a:prstGeom prst="straightConnector1">
                <a:avLst/>
              </a:prstGeom>
              <a:ln w="28575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FF901DDC-7FBF-054A-BF43-104C701720BF}"/>
                  </a:ext>
                </a:extLst>
              </p:cNvPr>
              <p:cNvSpPr txBox="1"/>
              <p:nvPr/>
            </p:nvSpPr>
            <p:spPr>
              <a:xfrm>
                <a:off x="1470036" y="1455416"/>
                <a:ext cx="45236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400" dirty="0"/>
                  <a:t>300</a:t>
                </a:r>
              </a:p>
            </p:txBody>
          </p:sp>
        </p:grpSp>
      </p:grpSp>
      <p:pic>
        <p:nvPicPr>
          <p:cNvPr id="7" name="Picture 4" descr="les lunettes bleus - OFF-53% &gt; Livraison gratuite">
            <a:extLst>
              <a:ext uri="{FF2B5EF4-FFF2-40B4-BE49-F238E27FC236}">
                <a16:creationId xmlns:a16="http://schemas.microsoft.com/office/drawing/2014/main" id="{79819736-A241-E756-267F-B1EFAD9A98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4936" y="0"/>
            <a:ext cx="2160398" cy="126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16B7F0-82C2-30A8-649A-184695E57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64172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C71468-7D6C-E34D-A1E0-BE18D052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En FXML, ça donne…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4ECEE676-050F-2E44-98AE-4ADFCB850631}"/>
              </a:ext>
            </a:extLst>
          </p:cNvPr>
          <p:cNvGrpSpPr/>
          <p:nvPr/>
        </p:nvGrpSpPr>
        <p:grpSpPr>
          <a:xfrm>
            <a:off x="9178460" y="1732997"/>
            <a:ext cx="1981200" cy="2359499"/>
            <a:chOff x="457200" y="1752599"/>
            <a:chExt cx="3672348" cy="4373563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47F180E-1579-9144-A954-E2A9FF4BECC2}"/>
                </a:ext>
              </a:extLst>
            </p:cNvPr>
            <p:cNvSpPr/>
            <p:nvPr/>
          </p:nvSpPr>
          <p:spPr>
            <a:xfrm>
              <a:off x="457200" y="1752599"/>
              <a:ext cx="3672348" cy="4373563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E1893D8-A84A-6B41-A9AD-1246D2E54F68}"/>
                </a:ext>
              </a:extLst>
            </p:cNvPr>
            <p:cNvSpPr/>
            <p:nvPr/>
          </p:nvSpPr>
          <p:spPr>
            <a:xfrm>
              <a:off x="545690" y="1828801"/>
              <a:ext cx="3495368" cy="91439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30CFD1B-19D5-5643-A26E-3347F255C946}"/>
                </a:ext>
              </a:extLst>
            </p:cNvPr>
            <p:cNvSpPr/>
            <p:nvPr/>
          </p:nvSpPr>
          <p:spPr>
            <a:xfrm>
              <a:off x="545690" y="2858730"/>
              <a:ext cx="3495368" cy="720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269939C-E9E0-5645-9645-62B7022656D3}"/>
                </a:ext>
              </a:extLst>
            </p:cNvPr>
            <p:cNvSpPr/>
            <p:nvPr/>
          </p:nvSpPr>
          <p:spPr>
            <a:xfrm>
              <a:off x="545690" y="3689235"/>
              <a:ext cx="3495368" cy="720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BAC4BDF-3344-284A-8469-5848FBFF3F99}"/>
                </a:ext>
              </a:extLst>
            </p:cNvPr>
            <p:cNvSpPr/>
            <p:nvPr/>
          </p:nvSpPr>
          <p:spPr>
            <a:xfrm>
              <a:off x="545690" y="4519740"/>
              <a:ext cx="3495368" cy="720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50ACCFF-7D5F-0047-A5E9-8C0562A2ACB2}"/>
                </a:ext>
              </a:extLst>
            </p:cNvPr>
            <p:cNvSpPr/>
            <p:nvPr/>
          </p:nvSpPr>
          <p:spPr>
            <a:xfrm>
              <a:off x="545690" y="5350245"/>
              <a:ext cx="3495368" cy="720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534DF43D-0EB3-4146-9D31-F7ADB8F3A03B}"/>
              </a:ext>
            </a:extLst>
          </p:cNvPr>
          <p:cNvSpPr txBox="1">
            <a:spLocks/>
          </p:cNvSpPr>
          <p:nvPr/>
        </p:nvSpPr>
        <p:spPr>
          <a:xfrm>
            <a:off x="6025896" y="1690690"/>
            <a:ext cx="3511296" cy="4435474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fr-FR" dirty="0"/>
              <a:t>Une </a:t>
            </a:r>
            <a:r>
              <a:rPr lang="fr-FR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FR" dirty="0"/>
              <a:t>.</a:t>
            </a:r>
          </a:p>
          <a:p>
            <a:r>
              <a:rPr lang="fr-FR" dirty="0"/>
              <a:t>Dans la </a:t>
            </a:r>
            <a:r>
              <a:rPr lang="fr-FR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FR" dirty="0"/>
              <a:t>, 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/>
              <a:t>un </a:t>
            </a:r>
            <a:r>
              <a:rPr lang="fr-FR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endParaRPr lang="fr-FR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fr-FR" dirty="0"/>
              <a:t>une série de </a:t>
            </a:r>
            <a:r>
              <a:rPr lang="fr-FR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endParaRPr lang="fr-FR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47" name="Picture 4" descr="les lunettes bleus - OFF-53% &gt; Livraison gratuite">
            <a:extLst>
              <a:ext uri="{FF2B5EF4-FFF2-40B4-BE49-F238E27FC236}">
                <a16:creationId xmlns:a16="http://schemas.microsoft.com/office/drawing/2014/main" id="{96B7423B-0273-9B5F-58B2-BDB7147A7C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4936" y="0"/>
            <a:ext cx="2160398" cy="126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ZoneTexte 48">
            <a:extLst>
              <a:ext uri="{FF2B5EF4-FFF2-40B4-BE49-F238E27FC236}">
                <a16:creationId xmlns:a16="http://schemas.microsoft.com/office/drawing/2014/main" id="{3CB1B6B2-A881-F1B4-8742-96105D550C1E}"/>
              </a:ext>
            </a:extLst>
          </p:cNvPr>
          <p:cNvSpPr txBox="1"/>
          <p:nvPr/>
        </p:nvSpPr>
        <p:spPr>
          <a:xfrm>
            <a:off x="627887" y="1517125"/>
            <a:ext cx="5350269" cy="3293209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&lt;?</a:t>
            </a:r>
            <a:r>
              <a:rPr lang="fr-BE" sz="1600" dirty="0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xml version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="1.0" </a:t>
            </a:r>
            <a:r>
              <a:rPr lang="fr-BE" sz="16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encoding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="UTF-8"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?&gt;</a:t>
            </a:r>
          </a:p>
          <a:p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&lt;?</a:t>
            </a:r>
            <a:r>
              <a:rPr lang="fr-BE" sz="1600" dirty="0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import </a:t>
            </a:r>
            <a:r>
              <a:rPr lang="fr-BE" sz="16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javafx.scene.layout.VBox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?&gt;</a:t>
            </a:r>
            <a:b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sz="1600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xmlns:</a:t>
            </a:r>
            <a:r>
              <a:rPr lang="fr-BE" sz="1600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fx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="http://</a:t>
            </a:r>
            <a:r>
              <a:rPr lang="fr-BE" sz="16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javafx.com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fr-BE" sz="16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fxml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b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fr-BE" sz="1600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fx</a:t>
            </a:r>
            <a:r>
              <a:rPr lang="fr-BE" sz="16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:controller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fr-BE" sz="16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calculatrice.Controller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fr-BE" sz="1600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&gt;&lt;/</a:t>
            </a:r>
            <a:r>
              <a:rPr lang="fr-BE" sz="1600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fr-BE" sz="1600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&gt;&lt;/</a:t>
            </a:r>
            <a:r>
              <a:rPr lang="fr-BE" sz="1600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fr-BE" sz="1600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&gt;&lt;/</a:t>
            </a:r>
            <a:r>
              <a:rPr lang="fr-BE" sz="1600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fr-BE" sz="1600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&gt;&lt;/</a:t>
            </a:r>
            <a:r>
              <a:rPr lang="fr-BE" sz="1600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fr-BE" sz="1600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&gt;&lt;/</a:t>
            </a:r>
            <a:r>
              <a:rPr lang="fr-BE" sz="1600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fr-BE" sz="1600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4ED5D6B-F010-0E98-F833-0ED5358E71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25233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C71468-7D6C-E34D-A1E0-BE18D052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éléments FXML</a:t>
            </a:r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C2D63D97-E927-5849-B0FF-E7CC8532C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600" dirty="0"/>
              <a:t>Les </a:t>
            </a:r>
            <a:r>
              <a:rPr lang="fr-FR" sz="2600" dirty="0">
                <a:solidFill>
                  <a:schemeClr val="accent4"/>
                </a:solidFill>
              </a:rPr>
              <a:t>éléments</a:t>
            </a:r>
            <a:r>
              <a:rPr lang="fr-FR" sz="2600" dirty="0"/>
              <a:t> qui constituent notre document FXML (par exemple </a:t>
            </a:r>
            <a:r>
              <a:rPr lang="fr-BE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BE" sz="2600" dirty="0"/>
              <a:t>, </a:t>
            </a:r>
            <a:r>
              <a:rPr lang="fr-BE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BE" sz="2600" dirty="0"/>
              <a:t> ou </a:t>
            </a:r>
            <a:r>
              <a:rPr lang="fr-BE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BE" sz="2600" dirty="0"/>
              <a:t>) correspondent à des classes Java définies dans les packages </a:t>
            </a:r>
            <a:r>
              <a:rPr lang="fr-BE" sz="2600" dirty="0" err="1"/>
              <a:t>fxml</a:t>
            </a:r>
            <a:r>
              <a:rPr lang="fr-BE" sz="2600" dirty="0"/>
              <a:t>.</a:t>
            </a:r>
          </a:p>
          <a:p>
            <a:pPr marL="0" indent="0">
              <a:buNone/>
            </a:pPr>
            <a:r>
              <a:rPr lang="fr-BE" sz="2600" dirty="0"/>
              <a:t>Pour connaître les caractéristiques d’un élément, on peut jeter un coup d’œil à la </a:t>
            </a:r>
            <a:r>
              <a:rPr lang="fr-BE" sz="2600" dirty="0" err="1">
                <a:solidFill>
                  <a:schemeClr val="accent4"/>
                </a:solidFill>
              </a:rPr>
              <a:t>javadoc</a:t>
            </a:r>
            <a:r>
              <a:rPr lang="fr-BE" sz="2600" dirty="0"/>
              <a:t> de la classe correspondante.</a:t>
            </a:r>
            <a:endParaRPr lang="fr-FR" sz="2600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EA375C8D-7E5D-9749-A764-53DE4527E29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90801" y="3835833"/>
            <a:ext cx="2748791" cy="198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3F98D10B-B675-7547-BEC5-1CC46BDAB90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46204" y="4146163"/>
            <a:ext cx="2938065" cy="198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A7C6286C-CB69-B041-9D34-346966D588A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882" y="4507818"/>
            <a:ext cx="2487509" cy="1980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" name="Picture 4" descr="les lunettes bleus - OFF-53% &gt; Livraison gratuite">
            <a:extLst>
              <a:ext uri="{FF2B5EF4-FFF2-40B4-BE49-F238E27FC236}">
                <a16:creationId xmlns:a16="http://schemas.microsoft.com/office/drawing/2014/main" id="{1791EE24-3EBB-692E-C06D-3524A63D4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4936" y="0"/>
            <a:ext cx="2160398" cy="126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0643EE1-204D-86E2-80A0-3B671A15DD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2923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C71468-7D6C-E34D-A1E0-BE18D052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Attributs des éléments FXML</a:t>
            </a:r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C2D63D97-E927-5849-B0FF-E7CC8532C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En XML, les éléments </a:t>
            </a:r>
            <a:br>
              <a:rPr lang="fr-FR" dirty="0"/>
            </a:br>
            <a:r>
              <a:rPr lang="fr-FR" dirty="0"/>
              <a:t>   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element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&gt;contenu&lt;/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element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fr-FR" dirty="0"/>
            </a:br>
            <a:r>
              <a:rPr lang="fr-FR" dirty="0"/>
              <a:t>peuvent avoir des </a:t>
            </a:r>
            <a:r>
              <a:rPr lang="fr-FR" dirty="0">
                <a:solidFill>
                  <a:srgbClr val="00B050"/>
                </a:solidFill>
              </a:rPr>
              <a:t>attributs</a:t>
            </a:r>
            <a:br>
              <a:rPr lang="fr-FR" dirty="0"/>
            </a:br>
            <a:r>
              <a:rPr lang="fr-FR" dirty="0"/>
              <a:t>    </a:t>
            </a:r>
            <a:r>
              <a:rPr lang="fr-FR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FR" sz="26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element</a:t>
            </a:r>
            <a:r>
              <a:rPr lang="fr-FR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2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a="valeur"</a:t>
            </a:r>
            <a:r>
              <a:rPr lang="fr-FR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&gt;contenu&lt;/</a:t>
            </a:r>
            <a:r>
              <a:rPr lang="fr-FR" sz="26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element</a:t>
            </a:r>
            <a:r>
              <a:rPr lang="fr-FR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fr-FR" sz="2600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Pour les éléments FXML, les méthodes des classes correspondantes dont le nom commence par ‘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</a:t>
            </a:r>
            <a:r>
              <a:rPr lang="fr-FR" dirty="0"/>
              <a:t>’ correspondent à des attributs modifiables dans le document FXML.</a:t>
            </a:r>
          </a:p>
          <a:p>
            <a:pPr marL="0" indent="0">
              <a:buNone/>
            </a:pPr>
            <a:r>
              <a:rPr lang="fr-FR" sz="1600" i="1" u="sng" dirty="0"/>
              <a:t>Note</a:t>
            </a:r>
            <a:r>
              <a:rPr lang="fr-FR" sz="1600" i="1" dirty="0"/>
              <a:t>: on peut également modifier ces attributs ‘</a:t>
            </a:r>
            <a:r>
              <a:rPr lang="fr-FR" sz="1600" i="1" dirty="0" err="1"/>
              <a:t>programmatiquement</a:t>
            </a:r>
            <a:r>
              <a:rPr lang="fr-FR" sz="1600" i="1" dirty="0"/>
              <a:t>’ à partir du moment où on a une référence vers les objets FXML dans le code.</a:t>
            </a:r>
          </a:p>
        </p:txBody>
      </p:sp>
      <p:pic>
        <p:nvPicPr>
          <p:cNvPr id="6" name="Picture 4" descr="les lunettes bleus - OFF-53% &gt; Livraison gratuite">
            <a:extLst>
              <a:ext uri="{FF2B5EF4-FFF2-40B4-BE49-F238E27FC236}">
                <a16:creationId xmlns:a16="http://schemas.microsoft.com/office/drawing/2014/main" id="{4F928EE6-0420-FF47-36EE-520FFAF01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4936" y="0"/>
            <a:ext cx="2160398" cy="126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A6C9C4C-57DF-4EC1-2535-853E4724D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28413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15">
            <a:extLst>
              <a:ext uri="{FF2B5EF4-FFF2-40B4-BE49-F238E27FC236}">
                <a16:creationId xmlns:a16="http://schemas.microsoft.com/office/drawing/2014/main" id="{21DB8223-2CFB-5D18-B32A-8EBDBCD55A76}"/>
              </a:ext>
            </a:extLst>
          </p:cNvPr>
          <p:cNvSpPr txBox="1">
            <a:spLocks/>
          </p:cNvSpPr>
          <p:nvPr/>
        </p:nvSpPr>
        <p:spPr>
          <a:xfrm>
            <a:off x="838200" y="4959391"/>
            <a:ext cx="10515600" cy="1162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Le paramètre est de type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</a:t>
            </a:r>
            <a:r>
              <a:rPr lang="fr-FR" dirty="0"/>
              <a:t>, une énumération.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Dans le FXML, on aura l’attribut correspondant: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BC71468-7D6C-E34D-A1E0-BE18D052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Attribut de </a:t>
            </a:r>
            <a:r>
              <a:rPr lang="fr-FR" dirty="0" err="1"/>
              <a:t>StackPane</a:t>
            </a:r>
            <a:endParaRPr lang="fr-FR" dirty="0"/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C2D63D97-E927-5849-B0FF-E7CC8532C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813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Ainsi, la méthode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setAlignment</a:t>
            </a:r>
            <a:r>
              <a:rPr lang="fr-FR" dirty="0"/>
              <a:t> d’un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FR" dirty="0"/>
              <a:t> permet de spécifier la façon dont les éléments s’alignent dans le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FR" dirty="0"/>
              <a:t>.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1E77DFB-3762-AD44-9BE4-6308BC5188E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5275" y="2901849"/>
            <a:ext cx="5688525" cy="169831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267627C-1237-7345-B595-B393961E334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06806" y="3282397"/>
            <a:ext cx="2131019" cy="16997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8" name="Connecteur en angle 7">
            <a:extLst>
              <a:ext uri="{FF2B5EF4-FFF2-40B4-BE49-F238E27FC236}">
                <a16:creationId xmlns:a16="http://schemas.microsoft.com/office/drawing/2014/main" id="{2B8B94E0-0844-0147-8086-B3902A7A29A3}"/>
              </a:ext>
            </a:extLst>
          </p:cNvPr>
          <p:cNvCxnSpPr>
            <a:cxnSpLocks/>
          </p:cNvCxnSpPr>
          <p:nvPr/>
        </p:nvCxnSpPr>
        <p:spPr>
          <a:xfrm>
            <a:off x="4739149" y="3506398"/>
            <a:ext cx="4167657" cy="625860"/>
          </a:xfrm>
          <a:prstGeom prst="bentConnector3">
            <a:avLst>
              <a:gd name="adj1" fmla="val -24"/>
            </a:avLst>
          </a:prstGeom>
          <a:ln w="28575">
            <a:tailEnd type="triangle"/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2531369-66CF-D848-9F85-A58237B53C20}"/>
              </a:ext>
            </a:extLst>
          </p:cNvPr>
          <p:cNvSpPr/>
          <p:nvPr/>
        </p:nvSpPr>
        <p:spPr>
          <a:xfrm>
            <a:off x="4878163" y="5952961"/>
            <a:ext cx="5234125" cy="3385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r>
              <a:rPr lang="fr-BE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BE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alignment</a:t>
            </a:r>
            <a:r>
              <a:rPr lang="fr-BE" sz="16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"CENTER"</a:t>
            </a:r>
            <a:r>
              <a:rPr lang="fr-BE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&gt;&lt;/</a:t>
            </a:r>
            <a:r>
              <a:rPr lang="fr-BE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BE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fr-FR" sz="1600" b="1" dirty="0"/>
          </a:p>
        </p:txBody>
      </p:sp>
      <p:pic>
        <p:nvPicPr>
          <p:cNvPr id="3" name="Picture 4" descr="les lunettes bleus - OFF-53% &gt; Livraison gratuite">
            <a:extLst>
              <a:ext uri="{FF2B5EF4-FFF2-40B4-BE49-F238E27FC236}">
                <a16:creationId xmlns:a16="http://schemas.microsoft.com/office/drawing/2014/main" id="{3BCC5E7B-51FE-CECF-47BE-85CF4239A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4936" y="0"/>
            <a:ext cx="2160398" cy="126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B2D94E-1398-158C-3FCF-BF03FF6033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9063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C71468-7D6C-E34D-A1E0-BE18D052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Attribut de VBOX</a:t>
            </a:r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C2D63D97-E927-5849-B0FF-E7CC8532C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786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D’une façon similaire, on spécifiera la taille de la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FR" dirty="0"/>
              <a:t> (en spécifiant ses attributs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prefWidth</a:t>
            </a:r>
            <a:r>
              <a:rPr lang="fr-FR" sz="1800" dirty="0"/>
              <a:t> </a:t>
            </a:r>
            <a:r>
              <a:rPr lang="fr-FR" dirty="0"/>
              <a:t>et</a:t>
            </a:r>
            <a:r>
              <a:rPr lang="fr-FR" sz="1800" dirty="0"/>
              <a:t>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prefHeight</a:t>
            </a:r>
            <a:r>
              <a:rPr lang="fr-FR" dirty="0"/>
              <a:t>).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531369-66CF-D848-9F85-A58237B53C20}"/>
              </a:ext>
            </a:extLst>
          </p:cNvPr>
          <p:cNvSpPr/>
          <p:nvPr/>
        </p:nvSpPr>
        <p:spPr>
          <a:xfrm>
            <a:off x="2020808" y="2759089"/>
            <a:ext cx="6805068" cy="338554"/>
          </a:xfrm>
          <a:prstGeom prst="rect">
            <a:avLst/>
          </a:prstGeom>
          <a:solidFill>
            <a:srgbClr val="2B2B2B"/>
          </a:solidFill>
        </p:spPr>
        <p:txBody>
          <a:bodyPr wrap="none">
            <a:spAutoFit/>
          </a:bodyPr>
          <a:lstStyle/>
          <a:p>
            <a:r>
              <a:rPr lang="fr-BE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BE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prefWidth</a:t>
            </a:r>
            <a:r>
              <a:rPr lang="fr-BE" sz="16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"300" </a:t>
            </a:r>
            <a:r>
              <a:rPr lang="fr-BE" sz="1600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prefHeight</a:t>
            </a:r>
            <a:r>
              <a:rPr lang="fr-BE" sz="16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"300"</a:t>
            </a:r>
            <a:r>
              <a:rPr lang="fr-BE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. . . &gt; &lt;/</a:t>
            </a:r>
            <a:r>
              <a:rPr lang="fr-BE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BE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fr-FR" sz="1600" b="1" dirty="0"/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7989397E-7FC9-5B45-B5B6-A381329DD021}"/>
              </a:ext>
            </a:extLst>
          </p:cNvPr>
          <p:cNvGrpSpPr/>
          <p:nvPr/>
        </p:nvGrpSpPr>
        <p:grpSpPr>
          <a:xfrm>
            <a:off x="6671371" y="3470125"/>
            <a:ext cx="3589882" cy="3164235"/>
            <a:chOff x="189992" y="1446129"/>
            <a:chExt cx="4237968" cy="3735476"/>
          </a:xfrm>
        </p:grpSpPr>
        <p:cxnSp>
          <p:nvCxnSpPr>
            <p:cNvPr id="44" name="Connecteur droit avec flèche 43">
              <a:extLst>
                <a:ext uri="{FF2B5EF4-FFF2-40B4-BE49-F238E27FC236}">
                  <a16:creationId xmlns:a16="http://schemas.microsoft.com/office/drawing/2014/main" id="{F719CAB6-64D9-EE4D-B3D5-483EFA549694}"/>
                </a:ext>
              </a:extLst>
            </p:cNvPr>
            <p:cNvCxnSpPr>
              <a:cxnSpLocks/>
            </p:cNvCxnSpPr>
            <p:nvPr/>
          </p:nvCxnSpPr>
          <p:spPr>
            <a:xfrm>
              <a:off x="317091" y="2168877"/>
              <a:ext cx="0" cy="2921805"/>
            </a:xfrm>
            <a:prstGeom prst="straightConnector1">
              <a:avLst/>
            </a:prstGeom>
            <a:ln w="28575">
              <a:headEnd type="triangle"/>
              <a:tailEnd type="triangle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1874797B-E6A8-824E-AB45-B112C8D7451B}"/>
                </a:ext>
              </a:extLst>
            </p:cNvPr>
            <p:cNvSpPr txBox="1"/>
            <p:nvPr/>
          </p:nvSpPr>
          <p:spPr>
            <a:xfrm rot="16200000">
              <a:off x="110081" y="2531458"/>
              <a:ext cx="395999" cy="2361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dirty="0"/>
                <a:t>50</a:t>
              </a:r>
            </a:p>
          </p:txBody>
        </p: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F5EB5950-CAB8-C047-9560-A3D91F0254E2}"/>
                </a:ext>
              </a:extLst>
            </p:cNvPr>
            <p:cNvSpPr txBox="1"/>
            <p:nvPr/>
          </p:nvSpPr>
          <p:spPr>
            <a:xfrm rot="16200000">
              <a:off x="110078" y="2983741"/>
              <a:ext cx="395999" cy="23617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dirty="0">
                  <a:solidFill>
                    <a:srgbClr val="FF0000"/>
                  </a:solidFill>
                </a:rPr>
                <a:t>10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9B61B876-4A9D-6F4A-B4D4-D3BD41697B17}"/>
                </a:ext>
              </a:extLst>
            </p:cNvPr>
            <p:cNvSpPr txBox="1"/>
            <p:nvPr/>
          </p:nvSpPr>
          <p:spPr>
            <a:xfrm rot="16200000">
              <a:off x="110080" y="3436026"/>
              <a:ext cx="395999" cy="2361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dirty="0"/>
                <a:t>50</a:t>
              </a:r>
            </a:p>
          </p:txBody>
        </p:sp>
        <p:sp>
          <p:nvSpPr>
            <p:cNvPr id="48" name="ZoneTexte 47">
              <a:extLst>
                <a:ext uri="{FF2B5EF4-FFF2-40B4-BE49-F238E27FC236}">
                  <a16:creationId xmlns:a16="http://schemas.microsoft.com/office/drawing/2014/main" id="{5872FEC3-168F-5945-A7E2-E86C83699AD7}"/>
                </a:ext>
              </a:extLst>
            </p:cNvPr>
            <p:cNvSpPr txBox="1"/>
            <p:nvPr/>
          </p:nvSpPr>
          <p:spPr>
            <a:xfrm rot="16200000">
              <a:off x="110080" y="3888309"/>
              <a:ext cx="395999" cy="23617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b="1" dirty="0">
                  <a:solidFill>
                    <a:srgbClr val="FF0000"/>
                  </a:solidFill>
                </a:rPr>
                <a:t>10</a:t>
              </a:r>
            </a:p>
          </p:txBody>
        </p:sp>
        <p:sp>
          <p:nvSpPr>
            <p:cNvPr id="49" name="ZoneTexte 48">
              <a:extLst>
                <a:ext uri="{FF2B5EF4-FFF2-40B4-BE49-F238E27FC236}">
                  <a16:creationId xmlns:a16="http://schemas.microsoft.com/office/drawing/2014/main" id="{1DBB87D5-63C8-B242-8D10-2C7627133098}"/>
                </a:ext>
              </a:extLst>
            </p:cNvPr>
            <p:cNvSpPr txBox="1"/>
            <p:nvPr/>
          </p:nvSpPr>
          <p:spPr>
            <a:xfrm rot="16200000">
              <a:off x="144901" y="4404910"/>
              <a:ext cx="395999" cy="23617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700" dirty="0"/>
                <a:t>50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A5C0273-FE83-D746-BF15-5D7EB6BEC4DE}"/>
                </a:ext>
              </a:extLst>
            </p:cNvPr>
            <p:cNvSpPr/>
            <p:nvPr/>
          </p:nvSpPr>
          <p:spPr>
            <a:xfrm>
              <a:off x="614516" y="2179014"/>
              <a:ext cx="3357716" cy="780489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93422824-D570-3945-B8E8-7702E4239723}"/>
                </a:ext>
              </a:extLst>
            </p:cNvPr>
            <p:cNvSpPr txBox="1"/>
            <p:nvPr/>
          </p:nvSpPr>
          <p:spPr>
            <a:xfrm>
              <a:off x="1976283" y="2208510"/>
              <a:ext cx="521110" cy="69034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32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fr-FR" sz="14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C20B607-C006-4649-AC69-7930DF156F02}"/>
                </a:ext>
              </a:extLst>
            </p:cNvPr>
            <p:cNvSpPr/>
            <p:nvPr/>
          </p:nvSpPr>
          <p:spPr>
            <a:xfrm>
              <a:off x="667880" y="4147359"/>
              <a:ext cx="684768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4D272CA-20E3-DA4A-A3B2-E45E74FD5C1D}"/>
                </a:ext>
              </a:extLst>
            </p:cNvPr>
            <p:cNvSpPr/>
            <p:nvPr/>
          </p:nvSpPr>
          <p:spPr>
            <a:xfrm>
              <a:off x="1506900" y="4147359"/>
              <a:ext cx="684768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1A6D01D-8DB5-9440-A887-5522E5ABA802}"/>
                </a:ext>
              </a:extLst>
            </p:cNvPr>
            <p:cNvSpPr/>
            <p:nvPr/>
          </p:nvSpPr>
          <p:spPr>
            <a:xfrm>
              <a:off x="2375416" y="4147359"/>
              <a:ext cx="684768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019F4B9-2891-274D-A948-4F8696AE8B45}"/>
                </a:ext>
              </a:extLst>
            </p:cNvPr>
            <p:cNvSpPr/>
            <p:nvPr/>
          </p:nvSpPr>
          <p:spPr>
            <a:xfrm>
              <a:off x="3214437" y="4147359"/>
              <a:ext cx="684768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8AA0D2A-6741-784F-B999-A9239C24EF70}"/>
                </a:ext>
              </a:extLst>
            </p:cNvPr>
            <p:cNvSpPr/>
            <p:nvPr/>
          </p:nvSpPr>
          <p:spPr>
            <a:xfrm>
              <a:off x="614516" y="3163523"/>
              <a:ext cx="3357716" cy="720000"/>
            </a:xfrm>
            <a:prstGeom prst="rect">
              <a:avLst/>
            </a:prstGeom>
            <a:no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grpSp>
          <p:nvGrpSpPr>
            <p:cNvPr id="57" name="Groupe 56">
              <a:extLst>
                <a:ext uri="{FF2B5EF4-FFF2-40B4-BE49-F238E27FC236}">
                  <a16:creationId xmlns:a16="http://schemas.microsoft.com/office/drawing/2014/main" id="{35CAA888-20B9-B24A-B74A-41E8CD819C46}"/>
                </a:ext>
              </a:extLst>
            </p:cNvPr>
            <p:cNvGrpSpPr/>
            <p:nvPr/>
          </p:nvGrpSpPr>
          <p:grpSpPr>
            <a:xfrm rot="5400000">
              <a:off x="2617991" y="3371636"/>
              <a:ext cx="3383767" cy="236171"/>
              <a:chOff x="457200" y="1491219"/>
              <a:chExt cx="3383767" cy="236171"/>
            </a:xfrm>
          </p:grpSpPr>
          <p:cxnSp>
            <p:nvCxnSpPr>
              <p:cNvPr id="74" name="Connecteur droit avec flèche 73">
                <a:extLst>
                  <a:ext uri="{FF2B5EF4-FFF2-40B4-BE49-F238E27FC236}">
                    <a16:creationId xmlns:a16="http://schemas.microsoft.com/office/drawing/2014/main" id="{B2850691-98E9-5C42-82BF-F02431F8FDA4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149084" y="-49582"/>
                <a:ext cx="0" cy="3383767"/>
              </a:xfrm>
              <a:prstGeom prst="straightConnector1">
                <a:avLst/>
              </a:prstGeom>
              <a:ln w="28575">
                <a:headEnd type="triangle"/>
                <a:tailEnd type="triangle"/>
              </a:ln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ZoneTexte 74">
                <a:extLst>
                  <a:ext uri="{FF2B5EF4-FFF2-40B4-BE49-F238E27FC236}">
                    <a16:creationId xmlns:a16="http://schemas.microsoft.com/office/drawing/2014/main" id="{C6094474-3F55-884C-A2F3-EBB612821CE6}"/>
                  </a:ext>
                </a:extLst>
              </p:cNvPr>
              <p:cNvSpPr txBox="1"/>
              <p:nvPr/>
            </p:nvSpPr>
            <p:spPr>
              <a:xfrm>
                <a:off x="1508681" y="1491219"/>
                <a:ext cx="375073" cy="23617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700" dirty="0"/>
                  <a:t>300</a:t>
                </a:r>
              </a:p>
            </p:txBody>
          </p:sp>
        </p:grpSp>
        <p:cxnSp>
          <p:nvCxnSpPr>
            <p:cNvPr id="58" name="Connecteur droit avec flèche 57">
              <a:extLst>
                <a:ext uri="{FF2B5EF4-FFF2-40B4-BE49-F238E27FC236}">
                  <a16:creationId xmlns:a16="http://schemas.microsoft.com/office/drawing/2014/main" id="{BDA01E3B-EB8D-234C-8317-7CA99F53EF24}"/>
                </a:ext>
              </a:extLst>
            </p:cNvPr>
            <p:cNvCxnSpPr>
              <a:cxnSpLocks/>
            </p:cNvCxnSpPr>
            <p:nvPr/>
          </p:nvCxnSpPr>
          <p:spPr>
            <a:xfrm>
              <a:off x="614516" y="1996263"/>
              <a:ext cx="3357716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7FFC23F9-E77D-7445-8631-EC2624C4ECE0}"/>
                </a:ext>
              </a:extLst>
            </p:cNvPr>
            <p:cNvSpPr txBox="1"/>
            <p:nvPr/>
          </p:nvSpPr>
          <p:spPr>
            <a:xfrm>
              <a:off x="2010128" y="1799544"/>
              <a:ext cx="375074" cy="23617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700" dirty="0"/>
                <a:t>230</a:t>
              </a:r>
            </a:p>
          </p:txBody>
        </p:sp>
        <p:grpSp>
          <p:nvGrpSpPr>
            <p:cNvPr id="60" name="Groupe 59">
              <a:extLst>
                <a:ext uri="{FF2B5EF4-FFF2-40B4-BE49-F238E27FC236}">
                  <a16:creationId xmlns:a16="http://schemas.microsoft.com/office/drawing/2014/main" id="{1C178E46-B075-3F47-A8F7-FA3A7D9DEAFB}"/>
                </a:ext>
              </a:extLst>
            </p:cNvPr>
            <p:cNvGrpSpPr/>
            <p:nvPr/>
          </p:nvGrpSpPr>
          <p:grpSpPr>
            <a:xfrm rot="5400000">
              <a:off x="2182049" y="3228896"/>
              <a:ext cx="236173" cy="3344207"/>
              <a:chOff x="306594" y="1596286"/>
              <a:chExt cx="236173" cy="3344207"/>
            </a:xfrm>
          </p:grpSpPr>
          <p:cxnSp>
            <p:nvCxnSpPr>
              <p:cNvPr id="66" name="Connecteur droit avec flèche 65">
                <a:extLst>
                  <a:ext uri="{FF2B5EF4-FFF2-40B4-BE49-F238E27FC236}">
                    <a16:creationId xmlns:a16="http://schemas.microsoft.com/office/drawing/2014/main" id="{824F1247-BC03-8540-8F77-AA0711E5FBA8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-1202613" y="3268390"/>
                <a:ext cx="3344207" cy="0"/>
              </a:xfrm>
              <a:prstGeom prst="straightConnector1">
                <a:avLst/>
              </a:prstGeom>
              <a:ln w="28575"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ZoneTexte 66">
                <a:extLst>
                  <a:ext uri="{FF2B5EF4-FFF2-40B4-BE49-F238E27FC236}">
                    <a16:creationId xmlns:a16="http://schemas.microsoft.com/office/drawing/2014/main" id="{AA5A2FB9-FE3F-C943-A74B-4CC89AB407BC}"/>
                  </a:ext>
                </a:extLst>
              </p:cNvPr>
              <p:cNvSpPr txBox="1"/>
              <p:nvPr/>
            </p:nvSpPr>
            <p:spPr>
              <a:xfrm rot="16200000">
                <a:off x="226682" y="2683860"/>
                <a:ext cx="396000" cy="23617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700" dirty="0"/>
                  <a:t>50</a:t>
                </a:r>
              </a:p>
            </p:txBody>
          </p:sp>
          <p:sp>
            <p:nvSpPr>
              <p:cNvPr id="68" name="ZoneTexte 67">
                <a:extLst>
                  <a:ext uri="{FF2B5EF4-FFF2-40B4-BE49-F238E27FC236}">
                    <a16:creationId xmlns:a16="http://schemas.microsoft.com/office/drawing/2014/main" id="{D25A243E-7F45-EC42-B0B5-70CE823858D5}"/>
                  </a:ext>
                </a:extLst>
              </p:cNvPr>
              <p:cNvSpPr txBox="1"/>
              <p:nvPr/>
            </p:nvSpPr>
            <p:spPr>
              <a:xfrm rot="16200000">
                <a:off x="226680" y="3136142"/>
                <a:ext cx="396000" cy="23617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700" dirty="0"/>
                  <a:t>10</a:t>
                </a:r>
              </a:p>
            </p:txBody>
          </p:sp>
          <p:sp>
            <p:nvSpPr>
              <p:cNvPr id="69" name="ZoneTexte 68">
                <a:extLst>
                  <a:ext uri="{FF2B5EF4-FFF2-40B4-BE49-F238E27FC236}">
                    <a16:creationId xmlns:a16="http://schemas.microsoft.com/office/drawing/2014/main" id="{3FDB26B7-9F99-254A-B8E6-DC38C6AF2659}"/>
                  </a:ext>
                </a:extLst>
              </p:cNvPr>
              <p:cNvSpPr txBox="1"/>
              <p:nvPr/>
            </p:nvSpPr>
            <p:spPr>
              <a:xfrm rot="16200000">
                <a:off x="226680" y="3588429"/>
                <a:ext cx="396000" cy="23617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700" dirty="0"/>
                  <a:t>50</a:t>
                </a:r>
              </a:p>
            </p:txBody>
          </p:sp>
          <p:sp>
            <p:nvSpPr>
              <p:cNvPr id="70" name="ZoneTexte 69">
                <a:extLst>
                  <a:ext uri="{FF2B5EF4-FFF2-40B4-BE49-F238E27FC236}">
                    <a16:creationId xmlns:a16="http://schemas.microsoft.com/office/drawing/2014/main" id="{2E8A3DBD-241F-9C46-B9C2-814A8884AE49}"/>
                  </a:ext>
                </a:extLst>
              </p:cNvPr>
              <p:cNvSpPr txBox="1"/>
              <p:nvPr/>
            </p:nvSpPr>
            <p:spPr>
              <a:xfrm rot="16200000">
                <a:off x="226680" y="4040709"/>
                <a:ext cx="396000" cy="23617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700" dirty="0"/>
                  <a:t>10</a:t>
                </a:r>
              </a:p>
            </p:txBody>
          </p:sp>
          <p:sp>
            <p:nvSpPr>
              <p:cNvPr id="71" name="ZoneTexte 70">
                <a:extLst>
                  <a:ext uri="{FF2B5EF4-FFF2-40B4-BE49-F238E27FC236}">
                    <a16:creationId xmlns:a16="http://schemas.microsoft.com/office/drawing/2014/main" id="{9923204D-5B4B-3D4F-9619-46CB9BE312B9}"/>
                  </a:ext>
                </a:extLst>
              </p:cNvPr>
              <p:cNvSpPr txBox="1"/>
              <p:nvPr/>
            </p:nvSpPr>
            <p:spPr>
              <a:xfrm rot="16200000">
                <a:off x="226680" y="4522491"/>
                <a:ext cx="396000" cy="23617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700" dirty="0"/>
                  <a:t>50</a:t>
                </a:r>
              </a:p>
            </p:txBody>
          </p:sp>
          <p:sp>
            <p:nvSpPr>
              <p:cNvPr id="72" name="ZoneTexte 71">
                <a:extLst>
                  <a:ext uri="{FF2B5EF4-FFF2-40B4-BE49-F238E27FC236}">
                    <a16:creationId xmlns:a16="http://schemas.microsoft.com/office/drawing/2014/main" id="{BF0E717B-D836-F14A-BBF6-B518EEBED23F}"/>
                  </a:ext>
                </a:extLst>
              </p:cNvPr>
              <p:cNvSpPr txBox="1"/>
              <p:nvPr/>
            </p:nvSpPr>
            <p:spPr>
              <a:xfrm rot="16200000">
                <a:off x="226680" y="1786110"/>
                <a:ext cx="396000" cy="23617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700" dirty="0"/>
                  <a:t>50</a:t>
                </a:r>
              </a:p>
            </p:txBody>
          </p:sp>
          <p:sp>
            <p:nvSpPr>
              <p:cNvPr id="73" name="ZoneTexte 72">
                <a:extLst>
                  <a:ext uri="{FF2B5EF4-FFF2-40B4-BE49-F238E27FC236}">
                    <a16:creationId xmlns:a16="http://schemas.microsoft.com/office/drawing/2014/main" id="{984658AB-0A52-7E4D-8E32-D99DF21709EC}"/>
                  </a:ext>
                </a:extLst>
              </p:cNvPr>
              <p:cNvSpPr txBox="1"/>
              <p:nvPr/>
            </p:nvSpPr>
            <p:spPr>
              <a:xfrm rot="16200000">
                <a:off x="226680" y="2238394"/>
                <a:ext cx="396000" cy="23617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700" dirty="0"/>
                  <a:t>10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A56B814A-116C-5148-BD5C-95221F6B191C}"/>
                </a:ext>
              </a:extLst>
            </p:cNvPr>
            <p:cNvSpPr/>
            <p:nvPr/>
          </p:nvSpPr>
          <p:spPr>
            <a:xfrm>
              <a:off x="614516" y="4068093"/>
              <a:ext cx="3357716" cy="720000"/>
            </a:xfrm>
            <a:prstGeom prst="rect">
              <a:avLst/>
            </a:prstGeom>
            <a:no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6A72C087-D0F7-4B44-A499-81A7E436F05F}"/>
                </a:ext>
              </a:extLst>
            </p:cNvPr>
            <p:cNvSpPr/>
            <p:nvPr/>
          </p:nvSpPr>
          <p:spPr>
            <a:xfrm>
              <a:off x="457200" y="1799545"/>
              <a:ext cx="3672348" cy="3382055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900"/>
            </a:p>
          </p:txBody>
        </p:sp>
        <p:grpSp>
          <p:nvGrpSpPr>
            <p:cNvPr id="63" name="Groupe 62">
              <a:extLst>
                <a:ext uri="{FF2B5EF4-FFF2-40B4-BE49-F238E27FC236}">
                  <a16:creationId xmlns:a16="http://schemas.microsoft.com/office/drawing/2014/main" id="{A2CB234B-6A3F-754C-9305-0AD8166FCAFE}"/>
                </a:ext>
              </a:extLst>
            </p:cNvPr>
            <p:cNvGrpSpPr/>
            <p:nvPr/>
          </p:nvGrpSpPr>
          <p:grpSpPr>
            <a:xfrm>
              <a:off x="463954" y="1446129"/>
              <a:ext cx="3672348" cy="236171"/>
              <a:chOff x="457200" y="1455416"/>
              <a:chExt cx="3672348" cy="236171"/>
            </a:xfrm>
          </p:grpSpPr>
          <p:cxnSp>
            <p:nvCxnSpPr>
              <p:cNvPr id="64" name="Connecteur droit avec flèche 63">
                <a:extLst>
                  <a:ext uri="{FF2B5EF4-FFF2-40B4-BE49-F238E27FC236}">
                    <a16:creationId xmlns:a16="http://schemas.microsoft.com/office/drawing/2014/main" id="{6C69B609-2784-D24C-A5B7-15EF63622DCD}"/>
                  </a:ext>
                </a:extLst>
              </p:cNvPr>
              <p:cNvCxnSpPr/>
              <p:nvPr/>
            </p:nvCxnSpPr>
            <p:spPr>
              <a:xfrm>
                <a:off x="457200" y="1642302"/>
                <a:ext cx="3672348" cy="0"/>
              </a:xfrm>
              <a:prstGeom prst="straightConnector1">
                <a:avLst/>
              </a:prstGeom>
              <a:ln w="28575">
                <a:headEnd type="triangle"/>
                <a:tailEnd type="triangle"/>
              </a:ln>
              <a:effectLst>
                <a:glow rad="101600">
                  <a:schemeClr val="accent4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ZoneTexte 64">
                <a:extLst>
                  <a:ext uri="{FF2B5EF4-FFF2-40B4-BE49-F238E27FC236}">
                    <a16:creationId xmlns:a16="http://schemas.microsoft.com/office/drawing/2014/main" id="{78D897A8-1D8B-9C4B-9799-59A2B074BC92}"/>
                  </a:ext>
                </a:extLst>
              </p:cNvPr>
              <p:cNvSpPr txBox="1"/>
              <p:nvPr/>
            </p:nvSpPr>
            <p:spPr>
              <a:xfrm>
                <a:off x="1508681" y="1455416"/>
                <a:ext cx="375074" cy="23617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700" dirty="0"/>
                  <a:t>300</a:t>
                </a:r>
              </a:p>
            </p:txBody>
          </p:sp>
        </p:grpSp>
      </p:grpSp>
      <p:pic>
        <p:nvPicPr>
          <p:cNvPr id="76" name="Image 75">
            <a:extLst>
              <a:ext uri="{FF2B5EF4-FFF2-40B4-BE49-F238E27FC236}">
                <a16:creationId xmlns:a16="http://schemas.microsoft.com/office/drawing/2014/main" id="{AC351B84-904A-B44E-8C77-ADB5E4A768E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4546" y="5053715"/>
            <a:ext cx="4079773" cy="13522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A0E8DBF5-BDDC-1243-8360-EBA1F059792A}"/>
              </a:ext>
            </a:extLst>
          </p:cNvPr>
          <p:cNvSpPr/>
          <p:nvPr/>
        </p:nvSpPr>
        <p:spPr>
          <a:xfrm>
            <a:off x="2089632" y="2756592"/>
            <a:ext cx="8151590" cy="338554"/>
          </a:xfrm>
          <a:prstGeom prst="rect">
            <a:avLst/>
          </a:prstGeom>
          <a:solidFill>
            <a:srgbClr val="2B2B2B"/>
          </a:solidFill>
        </p:spPr>
        <p:txBody>
          <a:bodyPr wrap="none">
            <a:spAutoFit/>
          </a:bodyPr>
          <a:lstStyle/>
          <a:p>
            <a:r>
              <a:rPr lang="fr-BE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BE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prefWidth</a:t>
            </a:r>
            <a:r>
              <a:rPr lang="fr-BE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= "300" </a:t>
            </a:r>
            <a:r>
              <a:rPr lang="fr-BE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prefHeight</a:t>
            </a:r>
            <a:r>
              <a:rPr lang="fr-BE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= "300" </a:t>
            </a:r>
            <a:r>
              <a:rPr lang="fr-BE" sz="1600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spacing</a:t>
            </a:r>
            <a:r>
              <a:rPr lang="fr-BE" sz="16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"10"</a:t>
            </a:r>
            <a:r>
              <a:rPr lang="fr-BE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 … &gt; &lt;/</a:t>
            </a:r>
            <a:r>
              <a:rPr lang="fr-BE" sz="16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BE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fr-FR" sz="1600" b="1" dirty="0"/>
          </a:p>
        </p:txBody>
      </p:sp>
      <p:pic>
        <p:nvPicPr>
          <p:cNvPr id="3" name="Picture 4" descr="les lunettes bleus - OFF-53% &gt; Livraison gratuite">
            <a:extLst>
              <a:ext uri="{FF2B5EF4-FFF2-40B4-BE49-F238E27FC236}">
                <a16:creationId xmlns:a16="http://schemas.microsoft.com/office/drawing/2014/main" id="{26B5BB10-D140-3F46-B162-9B4E43508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4936" y="0"/>
            <a:ext cx="2160398" cy="126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contenu 15">
            <a:extLst>
              <a:ext uri="{FF2B5EF4-FFF2-40B4-BE49-F238E27FC236}">
                <a16:creationId xmlns:a16="http://schemas.microsoft.com/office/drawing/2014/main" id="{69E334EB-9B4F-DA79-BE2F-B3CDF4DB1EA1}"/>
              </a:ext>
            </a:extLst>
          </p:cNvPr>
          <p:cNvSpPr txBox="1">
            <a:spLocks/>
          </p:cNvSpPr>
          <p:nvPr/>
        </p:nvSpPr>
        <p:spPr>
          <a:xfrm>
            <a:off x="838200" y="3228674"/>
            <a:ext cx="10515600" cy="20722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A l’intérieur de la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FR" dirty="0"/>
              <a:t>, les éléments </a:t>
            </a:r>
            <a:br>
              <a:rPr lang="fr-FR" dirty="0"/>
            </a:br>
            <a:r>
              <a:rPr lang="fr-FR" dirty="0"/>
              <a:t>seront espacés de 10px.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Trouvez l’attribut à ajouter en </a:t>
            </a:r>
            <a:br>
              <a:rPr lang="fr-FR" dirty="0"/>
            </a:br>
            <a:r>
              <a:rPr lang="fr-FR" dirty="0"/>
              <a:t>consultant la </a:t>
            </a:r>
            <a:r>
              <a:rPr lang="fr-FR" dirty="0" err="1"/>
              <a:t>javadoc</a:t>
            </a:r>
            <a:r>
              <a:rPr lang="fr-FR" dirty="0"/>
              <a:t> de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3F9A23-8139-593E-C837-C7BFF6B86F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02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77" grpId="0" animBg="1"/>
      <p:bldP spid="6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C71468-7D6C-E34D-A1E0-BE18D052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Rectangle dans </a:t>
            </a:r>
            <a:br>
              <a:rPr lang="fr-FR" dirty="0"/>
            </a:br>
            <a:r>
              <a:rPr lang="fr-FR" dirty="0"/>
              <a:t>le </a:t>
            </a:r>
            <a:r>
              <a:rPr lang="fr-FR" dirty="0" err="1"/>
              <a:t>StackPane</a:t>
            </a:r>
            <a:endParaRPr lang="fr-FR" dirty="0"/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C2D63D97-E927-5849-B0FF-E7CC8532C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Nous allons maintenant ajouter le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Rectangle</a:t>
            </a:r>
            <a:r>
              <a:rPr lang="fr-FR" dirty="0"/>
              <a:t> dans le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Vous pouvez à présent visualiser le FXML dans le </a:t>
            </a:r>
            <a:r>
              <a:rPr lang="fr-FR" dirty="0" err="1"/>
              <a:t>SceneBuilder</a:t>
            </a:r>
            <a:r>
              <a:rPr lang="fr-FR" dirty="0"/>
              <a:t>…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Si les classes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FR" sz="1800" dirty="0"/>
              <a:t>,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FR" sz="1800" dirty="0"/>
              <a:t> et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Rectangle</a:t>
            </a:r>
            <a:r>
              <a:rPr lang="fr-FR" sz="1800" dirty="0"/>
              <a:t> </a:t>
            </a:r>
            <a:br>
              <a:rPr lang="fr-FR" sz="1800" dirty="0"/>
            </a:br>
            <a:r>
              <a:rPr lang="fr-FR" dirty="0"/>
              <a:t>ne sont pas reconnus par </a:t>
            </a:r>
            <a:r>
              <a:rPr lang="fr-FR" dirty="0" err="1"/>
              <a:t>SceneBuilder</a:t>
            </a:r>
            <a:r>
              <a:rPr lang="fr-FR" dirty="0"/>
              <a:t>…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D41221-5FAA-C045-8123-7AD7A0CA8FAA}"/>
              </a:ext>
            </a:extLst>
          </p:cNvPr>
          <p:cNvSpPr/>
          <p:nvPr/>
        </p:nvSpPr>
        <p:spPr>
          <a:xfrm>
            <a:off x="1981200" y="2560090"/>
            <a:ext cx="7910053" cy="738664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B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alignment</a:t>
            </a:r>
            <a:r>
              <a:rPr lang="fr-B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="CENTER"&gt;</a:t>
            </a:r>
          </a:p>
          <a:p>
            <a:r>
              <a:rPr lang="fr-B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fr-BE" sz="14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&lt;Rectangle </a:t>
            </a:r>
            <a:r>
              <a:rPr lang="fr-BE" sz="1400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width</a:t>
            </a:r>
            <a:r>
              <a:rPr lang="fr-BE" sz="14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="250"  </a:t>
            </a:r>
            <a:r>
              <a:rPr lang="fr-BE" sz="1400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height</a:t>
            </a:r>
            <a:r>
              <a:rPr lang="fr-BE" sz="14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="50" </a:t>
            </a:r>
            <a:r>
              <a:rPr lang="fr-BE" sz="1400" b="1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fill</a:t>
            </a:r>
            <a:r>
              <a:rPr lang="fr-BE" sz="1400" b="1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="TRANSPARENT" stroke="GRAY"/&gt;</a:t>
            </a:r>
          </a:p>
          <a:p>
            <a:r>
              <a:rPr lang="fr-B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fr-BE" sz="14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BE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fr-FR" sz="1400" b="1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358ABAA-80F8-0945-BE09-53AFDD2F8C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87852" y="4549969"/>
            <a:ext cx="1803400" cy="19103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1F4D820F-4EA2-3A48-A669-46F171EC5480}"/>
              </a:ext>
            </a:extLst>
          </p:cNvPr>
          <p:cNvSpPr/>
          <p:nvPr/>
        </p:nvSpPr>
        <p:spPr>
          <a:xfrm>
            <a:off x="8503196" y="4830357"/>
            <a:ext cx="283388" cy="2833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DD0042C-AF55-D04F-80E2-D33336067855}"/>
              </a:ext>
            </a:extLst>
          </p:cNvPr>
          <p:cNvSpPr/>
          <p:nvPr/>
        </p:nvSpPr>
        <p:spPr>
          <a:xfrm>
            <a:off x="8503196" y="5133252"/>
            <a:ext cx="283388" cy="2833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126D2901-EF43-3749-930C-2689582C28C8}"/>
              </a:ext>
            </a:extLst>
          </p:cNvPr>
          <p:cNvSpPr/>
          <p:nvPr/>
        </p:nvSpPr>
        <p:spPr>
          <a:xfrm>
            <a:off x="8503196" y="5436147"/>
            <a:ext cx="283388" cy="2833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03099BD-69D8-F34A-99F9-F751B86C6DED}"/>
              </a:ext>
            </a:extLst>
          </p:cNvPr>
          <p:cNvSpPr/>
          <p:nvPr/>
        </p:nvSpPr>
        <p:spPr>
          <a:xfrm>
            <a:off x="8503196" y="5739042"/>
            <a:ext cx="283388" cy="2833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DE7268D3-6FC3-124E-82D2-558AF0646164}"/>
              </a:ext>
            </a:extLst>
          </p:cNvPr>
          <p:cNvSpPr/>
          <p:nvPr/>
        </p:nvSpPr>
        <p:spPr>
          <a:xfrm>
            <a:off x="8503196" y="6041937"/>
            <a:ext cx="283388" cy="2833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Picture 4" descr="les lunettes bleus - OFF-53% &gt; Livraison gratuite">
            <a:extLst>
              <a:ext uri="{FF2B5EF4-FFF2-40B4-BE49-F238E27FC236}">
                <a16:creationId xmlns:a16="http://schemas.microsoft.com/office/drawing/2014/main" id="{7B475344-9C50-55DC-3F57-ADE3FB386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4936" y="0"/>
            <a:ext cx="2160398" cy="126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4DB2D1C-8F81-8ED6-B881-BEE2CA288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4638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6" grpId="0" animBg="1"/>
      <p:bldP spid="11" grpId="0" animBg="1"/>
      <p:bldP spid="13" grpId="0" animBg="1"/>
      <p:bldP spid="14" grpId="0" animBg="1"/>
      <p:bldP spid="1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C71468-7D6C-E34D-A1E0-BE18D052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imports dans FXML</a:t>
            </a:r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C2D63D97-E927-5849-B0FF-E7CC8532C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31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La raison est simple: tout comme vous devez parfois importer des classes dans un fichier java, FXML a besoin d’importer les élément qu’il ne connaît pas.</a:t>
            </a:r>
          </a:p>
          <a:p>
            <a:pPr marL="0" indent="0">
              <a:buNone/>
            </a:pPr>
            <a:r>
              <a:rPr lang="fr-FR" sz="2400" dirty="0"/>
              <a:t>Il y a déjà des imports dans le fichier, comme par exemple: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6D2E75-1E8F-1147-BBE7-B5E7A55D7CA2}"/>
              </a:ext>
            </a:extLst>
          </p:cNvPr>
          <p:cNvSpPr/>
          <p:nvPr/>
        </p:nvSpPr>
        <p:spPr>
          <a:xfrm>
            <a:off x="2733368" y="3090446"/>
            <a:ext cx="7157884" cy="338554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FFC45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&lt;?</a:t>
            </a:r>
            <a:r>
              <a:rPr lang="fr-FR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fr-FR" sz="1600" b="1" dirty="0">
                <a:solidFill>
                  <a:srgbClr val="3F7F7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1600" b="1" dirty="0" err="1">
                <a:solidFill>
                  <a:srgbClr val="4F99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javafx.scene.layout.VBox</a:t>
            </a:r>
            <a:r>
              <a:rPr lang="fr-FR" sz="1600" b="1" dirty="0">
                <a:solidFill>
                  <a:srgbClr val="FFC45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?&gt;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A687A2-8439-F147-8CAE-0B5C109BB0DD}"/>
              </a:ext>
            </a:extLst>
          </p:cNvPr>
          <p:cNvSpPr/>
          <p:nvPr/>
        </p:nvSpPr>
        <p:spPr>
          <a:xfrm>
            <a:off x="2733368" y="4196561"/>
            <a:ext cx="7157884" cy="1323439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FFC45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&lt;?</a:t>
            </a:r>
            <a:r>
              <a:rPr lang="fr-FR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fr-FR" sz="1600" b="1" dirty="0">
                <a:solidFill>
                  <a:srgbClr val="3F7F7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1600" b="1" dirty="0" err="1">
                <a:solidFill>
                  <a:srgbClr val="4F99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javafx.geometry</a:t>
            </a:r>
            <a:r>
              <a:rPr lang="fr-FR" sz="1600" b="1" dirty="0">
                <a:solidFill>
                  <a:srgbClr val="4F99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.*</a:t>
            </a:r>
            <a:r>
              <a:rPr lang="fr-FR" sz="1600" b="1" dirty="0">
                <a:solidFill>
                  <a:srgbClr val="FFC45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?&gt;</a:t>
            </a:r>
            <a:br>
              <a:rPr lang="fr-FR" sz="16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FR" sz="1600" b="1" dirty="0">
                <a:solidFill>
                  <a:srgbClr val="FFC45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&lt;?</a:t>
            </a:r>
            <a:r>
              <a:rPr lang="fr-FR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fr-FR" sz="1600" b="1" dirty="0">
                <a:solidFill>
                  <a:srgbClr val="3F7F7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1600" b="1" dirty="0" err="1">
                <a:solidFill>
                  <a:srgbClr val="4F99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javafx.scene.text</a:t>
            </a:r>
            <a:r>
              <a:rPr lang="fr-FR" sz="1600" b="1" dirty="0">
                <a:solidFill>
                  <a:srgbClr val="4F99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.*</a:t>
            </a:r>
            <a:r>
              <a:rPr lang="fr-FR" sz="1600" b="1" dirty="0">
                <a:solidFill>
                  <a:srgbClr val="FFC45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?&gt;</a:t>
            </a:r>
            <a:br>
              <a:rPr lang="fr-FR" sz="1600" b="1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FR" sz="1600" b="1" dirty="0">
                <a:solidFill>
                  <a:srgbClr val="FFC45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&lt;?</a:t>
            </a:r>
            <a:r>
              <a:rPr lang="fr-FR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fr-FR" sz="1600" b="1" dirty="0">
                <a:solidFill>
                  <a:srgbClr val="3F7F7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1600" b="1" dirty="0" err="1">
                <a:solidFill>
                  <a:srgbClr val="4F99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javafx.scene.layout</a:t>
            </a:r>
            <a:r>
              <a:rPr lang="fr-FR" sz="1600" b="1" dirty="0">
                <a:solidFill>
                  <a:srgbClr val="4F99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.*</a:t>
            </a:r>
            <a:r>
              <a:rPr lang="fr-FR" sz="1600" b="1" dirty="0">
                <a:solidFill>
                  <a:srgbClr val="FFC45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?&gt;</a:t>
            </a:r>
            <a:r>
              <a:rPr lang="fr-FR" sz="1600" b="1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fr-FR" sz="1600" b="1" dirty="0">
                <a:solidFill>
                  <a:srgbClr val="008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FR" sz="1600" b="1" dirty="0">
                <a:solidFill>
                  <a:srgbClr val="FFC45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&lt;?</a:t>
            </a:r>
            <a:r>
              <a:rPr lang="fr-FR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fr-FR" sz="1600" b="1" dirty="0">
                <a:solidFill>
                  <a:srgbClr val="3F7F7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1600" b="1" dirty="0" err="1">
                <a:solidFill>
                  <a:srgbClr val="4F99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javafx.scene.shape</a:t>
            </a:r>
            <a:r>
              <a:rPr lang="fr-FR" sz="1600" b="1" dirty="0">
                <a:solidFill>
                  <a:srgbClr val="4F99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.*</a:t>
            </a:r>
            <a:r>
              <a:rPr lang="fr-FR" sz="1600" b="1" dirty="0">
                <a:solidFill>
                  <a:srgbClr val="FFC45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?&gt;</a:t>
            </a:r>
            <a:br>
              <a:rPr lang="fr-FR" sz="1600" b="1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FR" sz="1600" b="1" dirty="0">
                <a:solidFill>
                  <a:srgbClr val="FFC45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&lt;?</a:t>
            </a:r>
            <a:r>
              <a:rPr lang="fr-FR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fr-FR" sz="1600" b="1" dirty="0">
                <a:solidFill>
                  <a:srgbClr val="3F7F7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sz="1600" b="1" dirty="0" err="1">
                <a:solidFill>
                  <a:srgbClr val="4F99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javafx.scene.control</a:t>
            </a:r>
            <a:r>
              <a:rPr lang="fr-FR" sz="1600" b="1" dirty="0">
                <a:solidFill>
                  <a:srgbClr val="4F994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.*</a:t>
            </a:r>
            <a:r>
              <a:rPr lang="fr-FR" sz="1600" b="1" dirty="0">
                <a:solidFill>
                  <a:srgbClr val="FFC45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?&gt;</a:t>
            </a:r>
          </a:p>
        </p:txBody>
      </p:sp>
      <p:pic>
        <p:nvPicPr>
          <p:cNvPr id="3" name="Picture 4" descr="les lunettes bleus - OFF-53% &gt; Livraison gratuite">
            <a:extLst>
              <a:ext uri="{FF2B5EF4-FFF2-40B4-BE49-F238E27FC236}">
                <a16:creationId xmlns:a16="http://schemas.microsoft.com/office/drawing/2014/main" id="{F49BA37C-6D0E-1FEE-3B99-37B73C944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4936" y="0"/>
            <a:ext cx="2160398" cy="126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F139F80-4F71-28BE-DD69-8FD2A276FDD0}"/>
              </a:ext>
            </a:extLst>
          </p:cNvPr>
          <p:cNvSpPr txBox="1"/>
          <p:nvPr/>
        </p:nvSpPr>
        <p:spPr>
          <a:xfrm>
            <a:off x="838200" y="3734896"/>
            <a:ext cx="103723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2400" dirty="0"/>
              <a:t>Nous allons remplacer cet import par une série d’imports: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20934F4-D572-4089-0463-C30419CB7ED9}"/>
              </a:ext>
            </a:extLst>
          </p:cNvPr>
          <p:cNvSpPr txBox="1"/>
          <p:nvPr/>
        </p:nvSpPr>
        <p:spPr>
          <a:xfrm>
            <a:off x="838200" y="5697880"/>
            <a:ext cx="10372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dirty="0"/>
              <a:t>Note: comme pour le code Java, </a:t>
            </a:r>
            <a:r>
              <a:rPr lang="fr-FR" dirty="0" err="1"/>
              <a:t>IntelliJ</a:t>
            </a:r>
            <a:r>
              <a:rPr lang="fr-FR" dirty="0"/>
              <a:t> vous propose aussi une résolution de ce type de problèmes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AC0F42-A896-C554-0D4F-EC093645D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247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7" grpId="0"/>
      <p:bldP spid="10" grpId="0"/>
      <p:bldP spid="10" grpId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C71468-7D6C-E34D-A1E0-BE18D052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La zone de texte pour le résultat</a:t>
            </a:r>
          </a:p>
        </p:txBody>
      </p:sp>
      <p:sp>
        <p:nvSpPr>
          <p:cNvPr id="16" name="Espace réservé du contenu 15">
            <a:extLst>
              <a:ext uri="{FF2B5EF4-FFF2-40B4-BE49-F238E27FC236}">
                <a16:creationId xmlns:a16="http://schemas.microsoft.com/office/drawing/2014/main" id="{C2D63D97-E927-5849-B0FF-E7CC8532C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587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Pour afficher le résultat des calculs, nous allons maintenant ajouter un objet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FR" sz="2400" dirty="0"/>
              <a:t> devant le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Rectangle</a:t>
            </a:r>
            <a:r>
              <a:rPr lang="fr-FR" sz="2400" dirty="0"/>
              <a:t> (rappelez-vous, les éléments sont empilés les uns au dessus des autres dans un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FR" sz="2400" dirty="0"/>
              <a:t>).</a:t>
            </a:r>
          </a:p>
        </p:txBody>
      </p:sp>
      <p:pic>
        <p:nvPicPr>
          <p:cNvPr id="3" name="Picture 4" descr="les lunettes bleus - OFF-53% &gt; Livraison gratuite">
            <a:extLst>
              <a:ext uri="{FF2B5EF4-FFF2-40B4-BE49-F238E27FC236}">
                <a16:creationId xmlns:a16="http://schemas.microsoft.com/office/drawing/2014/main" id="{04645C7A-6B3B-5F21-28E1-E7E3076FC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4936" y="0"/>
            <a:ext cx="2160398" cy="126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FC4BBFE-3786-F3B1-75D5-48E93B1D4F70}"/>
              </a:ext>
            </a:extLst>
          </p:cNvPr>
          <p:cNvSpPr txBox="1"/>
          <p:nvPr/>
        </p:nvSpPr>
        <p:spPr>
          <a:xfrm>
            <a:off x="1280160" y="2982944"/>
            <a:ext cx="9573768" cy="1200329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alignment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="CENTER"</a:t>
            </a: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&lt;Rectangle </a:t>
            </a:r>
            <a:r>
              <a:rPr lang="fr-BE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width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="250" </a:t>
            </a:r>
            <a:r>
              <a:rPr lang="fr-BE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height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="50" </a:t>
            </a:r>
            <a:r>
              <a:rPr lang="fr-BE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fill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="TRANSPARENT" </a:t>
            </a:r>
            <a:r>
              <a:rPr lang="fr-BE" dirty="0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stroke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="GRAY"</a:t>
            </a: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  <a:b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dirty="0">
                <a:solidFill>
                  <a:schemeClr val="accent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dirty="0" err="1">
                <a:solidFill>
                  <a:schemeClr val="accent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BE" dirty="0">
                <a:solidFill>
                  <a:schemeClr val="accent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/&gt;</a:t>
            </a:r>
            <a:b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fr-BE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StackPane</a:t>
            </a: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Espace réservé du contenu 15">
            <a:extLst>
              <a:ext uri="{FF2B5EF4-FFF2-40B4-BE49-F238E27FC236}">
                <a16:creationId xmlns:a16="http://schemas.microsoft.com/office/drawing/2014/main" id="{407863E6-81D0-817C-637F-BB789CB73D52}"/>
              </a:ext>
            </a:extLst>
          </p:cNvPr>
          <p:cNvSpPr txBox="1">
            <a:spLocks/>
          </p:cNvSpPr>
          <p:nvPr/>
        </p:nvSpPr>
        <p:spPr>
          <a:xfrm>
            <a:off x="838200" y="4318207"/>
            <a:ext cx="10515600" cy="1858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400" dirty="0"/>
              <a:t>C’est le contenu de cet objet qui sera modifié par le contrôleur durant les calculs. Il faut donc que le contrôleur ait une référence vers l’objet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FR" sz="2400" dirty="0"/>
              <a:t>.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577CBF-8E85-16D2-624B-5F5A1BEBEC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3913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2AFC1E-BC30-2F42-B7CE-138A29979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Lien FXML ⇔ JAVA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D9E739-004B-AE4C-A1C2-F0F03B448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2400" dirty="0"/>
              <a:t>Le lien entre les composants </a:t>
            </a:r>
            <a:r>
              <a:rPr lang="fr-BE" sz="2400" dirty="0" err="1"/>
              <a:t>décrits</a:t>
            </a:r>
            <a:r>
              <a:rPr lang="fr-BE" sz="2400" dirty="0"/>
              <a:t> dans le fichier FXML et le programme Java est </a:t>
            </a:r>
            <a:r>
              <a:rPr lang="fr-BE" sz="2400" dirty="0" err="1"/>
              <a:t>établi</a:t>
            </a:r>
            <a:r>
              <a:rPr lang="fr-BE" sz="2400" dirty="0"/>
              <a:t> </a:t>
            </a:r>
          </a:p>
          <a:p>
            <a:pPr marL="342900" indent="-342900">
              <a:buFontTx/>
              <a:buChar char="-"/>
            </a:pPr>
            <a:r>
              <a:rPr lang="fr-BE" sz="2400" dirty="0"/>
              <a:t>Au niveau du fichier FXML par les attributs </a:t>
            </a:r>
            <a:r>
              <a:rPr lang="fr-BE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fx:id</a:t>
            </a:r>
            <a:r>
              <a:rPr lang="fr-BE" sz="24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342900" indent="-342900">
              <a:buFontTx/>
              <a:buChar char="-"/>
            </a:pPr>
            <a:r>
              <a:rPr lang="fr-BE" sz="2400" dirty="0"/>
              <a:t>Au niveau du code par les annotations </a:t>
            </a:r>
            <a:r>
              <a:rPr lang="fr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@FXML </a:t>
            </a:r>
          </a:p>
          <a:p>
            <a:pPr marL="0" indent="0">
              <a:buNone/>
            </a:pPr>
            <a:endParaRPr lang="fr-BE" sz="2400" dirty="0"/>
          </a:p>
          <a:p>
            <a:pPr marL="0" indent="0">
              <a:buNone/>
            </a:pPr>
            <a:r>
              <a:rPr lang="fr-BE" sz="2400" dirty="0"/>
              <a:t>L'attribut </a:t>
            </a:r>
            <a:r>
              <a:rPr lang="fr-BE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fx:id</a:t>
            </a:r>
            <a:r>
              <a:rPr lang="fr-BE" sz="2400" dirty="0">
                <a:solidFill>
                  <a:schemeClr val="accent2"/>
                </a:solidFill>
              </a:rPr>
              <a:t> </a:t>
            </a:r>
            <a:r>
              <a:rPr lang="fr-BE" sz="2400" dirty="0"/>
              <a:t>fonctionne en lien avec l'annotation </a:t>
            </a:r>
            <a:r>
              <a:rPr lang="fr-BE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@FXML</a:t>
            </a:r>
            <a:r>
              <a:rPr lang="fr-BE" sz="2400" dirty="0"/>
              <a:t> que l'on peut utiliser dans les </a:t>
            </a:r>
            <a:r>
              <a:rPr lang="fr-BE" sz="2400" dirty="0" err="1"/>
              <a:t>contrôleurs</a:t>
            </a:r>
            <a:r>
              <a:rPr lang="fr-BE" sz="2400" dirty="0"/>
              <a:t>. Elle indique au </a:t>
            </a:r>
            <a:r>
              <a:rPr lang="fr-BE" sz="2400" dirty="0" err="1"/>
              <a:t>système</a:t>
            </a:r>
            <a:r>
              <a:rPr lang="fr-BE" sz="2400" dirty="0"/>
              <a:t> que le composant avec le nom </a:t>
            </a:r>
            <a:r>
              <a:rPr lang="fr-BE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fx:id</a:t>
            </a:r>
            <a:r>
              <a:rPr lang="fr-BE" sz="2400" dirty="0"/>
              <a:t> pourra </a:t>
            </a:r>
            <a:r>
              <a:rPr lang="fr-BE" sz="2400" dirty="0" err="1"/>
              <a:t>être</a:t>
            </a:r>
            <a:r>
              <a:rPr lang="fr-BE" sz="2400" dirty="0"/>
              <a:t> injecté dans l'objet correspondant de la classe </a:t>
            </a:r>
            <a:r>
              <a:rPr lang="fr-BE" sz="2400" dirty="0" err="1"/>
              <a:t>contrôleur</a:t>
            </a:r>
            <a:r>
              <a:rPr lang="fr-BE" sz="2400" dirty="0"/>
              <a:t>. </a:t>
            </a:r>
          </a:p>
          <a:p>
            <a:pPr marL="342900" indent="-342900">
              <a:buFontTx/>
              <a:buChar char="-"/>
            </a:pPr>
            <a:endParaRPr lang="fr-BE" sz="2400" dirty="0">
              <a:solidFill>
                <a:schemeClr val="accent2"/>
              </a:solidFill>
            </a:endParaRPr>
          </a:p>
          <a:p>
            <a:endParaRPr lang="fr-FR" sz="2400" dirty="0"/>
          </a:p>
        </p:txBody>
      </p:sp>
      <p:pic>
        <p:nvPicPr>
          <p:cNvPr id="6" name="Picture 6" descr="Réussir une délégation, déléguer avec efficacité S&amp;G">
            <a:extLst>
              <a:ext uri="{FF2B5EF4-FFF2-40B4-BE49-F238E27FC236}">
                <a16:creationId xmlns:a16="http://schemas.microsoft.com/office/drawing/2014/main" id="{F59C6CD3-811B-4EB4-D0D1-8DB5CAA54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0" b="89906" l="0" r="98789">
                        <a14:foregroundMark x1="430" y1="24832" x2="29766" y2="43809"/>
                        <a14:foregroundMark x1="29766" y1="43809" x2="27813" y2="50202"/>
                        <a14:foregroundMark x1="27813" y1="50202" x2="19258" y2="57268"/>
                        <a14:foregroundMark x1="19258" y1="57268" x2="12461" y2="47510"/>
                        <a14:foregroundMark x1="12461" y1="47510" x2="117" y2="43271"/>
                        <a14:foregroundMark x1="88047" y1="37887" x2="96953" y2="21736"/>
                        <a14:foregroundMark x1="96953" y1="21736" x2="99883" y2="27860"/>
                        <a14:foregroundMark x1="99883" y1="27860" x2="99688" y2="42799"/>
                        <a14:foregroundMark x1="99688" y1="42799" x2="90977" y2="54778"/>
                        <a14:foregroundMark x1="90977" y1="54778" x2="88125" y2="56460"/>
                        <a14:foregroundMark x1="91133" y1="45222" x2="94609" y2="40848"/>
                        <a14:foregroundMark x1="94609" y1="40848" x2="95859" y2="33715"/>
                        <a14:foregroundMark x1="95859" y1="33715" x2="92305" y2="34320"/>
                        <a14:foregroundMark x1="98789" y1="20054" x2="98555" y2="359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994104">
            <a:off x="8516639" y="-438609"/>
            <a:ext cx="3842047" cy="223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47A719-9A2E-5426-7B98-BD5E244B47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91773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2AFC1E-BC30-2F42-B7CE-138A29979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Lien FXML ⇔ JAVA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D9E739-004B-AE4C-A1C2-F0F03B448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124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dirty="0"/>
              <a:t>Nous allons donc ajouter un attribut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fx:id</a:t>
            </a:r>
            <a:r>
              <a:rPr lang="fr-BE" dirty="0"/>
              <a:t> à notre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BE" dirty="0"/>
              <a:t>.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6A7D7A0-69E7-F922-BDE0-DE4D894F6FBF}"/>
              </a:ext>
            </a:extLst>
          </p:cNvPr>
          <p:cNvSpPr txBox="1"/>
          <p:nvPr/>
        </p:nvSpPr>
        <p:spPr>
          <a:xfrm>
            <a:off x="2386997" y="2322202"/>
            <a:ext cx="6099048" cy="369332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fx</a:t>
            </a:r>
            <a:r>
              <a:rPr lang="fr-BE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:id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="output" </a:t>
            </a: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01EB5CC0-F53E-43CE-3D80-16A76C7DACE5}"/>
              </a:ext>
            </a:extLst>
          </p:cNvPr>
          <p:cNvSpPr txBox="1">
            <a:spLocks/>
          </p:cNvSpPr>
          <p:nvPr/>
        </p:nvSpPr>
        <p:spPr>
          <a:xfrm>
            <a:off x="801624" y="2950337"/>
            <a:ext cx="10515600" cy="11491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BE" dirty="0"/>
              <a:t>Dans le contrôleur, nous ajouterons un champ ayant exactement le même nom et le même type, préfixé de l’annotation </a:t>
            </a:r>
            <a:r>
              <a:rPr lang="fr-BE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@FXML</a:t>
            </a:r>
            <a:r>
              <a:rPr lang="fr-BE" dirty="0"/>
              <a:t>.</a:t>
            </a:r>
            <a:endParaRPr lang="fr-FR" dirty="0"/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7704D96D-B8FA-B30B-883F-854A8D01390F}"/>
              </a:ext>
            </a:extLst>
          </p:cNvPr>
          <p:cNvSpPr txBox="1">
            <a:spLocks/>
          </p:cNvSpPr>
          <p:nvPr/>
        </p:nvSpPr>
        <p:spPr>
          <a:xfrm>
            <a:off x="801624" y="5359088"/>
            <a:ext cx="10515600" cy="13144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BE" dirty="0"/>
              <a:t>A partir de maintenant, dans le contrôleur nous pouvons accéder (et modifier) le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BE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BE" dirty="0">
              <a:solidFill>
                <a:schemeClr val="accent2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fr-FR" dirty="0"/>
          </a:p>
        </p:txBody>
      </p:sp>
      <p:pic>
        <p:nvPicPr>
          <p:cNvPr id="23558" name="Picture 6" descr="Réussir une délégation, déléguer avec efficacité S&amp;G">
            <a:extLst>
              <a:ext uri="{FF2B5EF4-FFF2-40B4-BE49-F238E27FC236}">
                <a16:creationId xmlns:a16="http://schemas.microsoft.com/office/drawing/2014/main" id="{51EA7D91-B78B-CF79-5C39-69ED2AADD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0" b="89906" l="0" r="98789">
                        <a14:foregroundMark x1="430" y1="24832" x2="29766" y2="43809"/>
                        <a14:foregroundMark x1="29766" y1="43809" x2="27813" y2="50202"/>
                        <a14:foregroundMark x1="27813" y1="50202" x2="19258" y2="57268"/>
                        <a14:foregroundMark x1="19258" y1="57268" x2="12461" y2="47510"/>
                        <a14:foregroundMark x1="12461" y1="47510" x2="117" y2="43271"/>
                        <a14:foregroundMark x1="88047" y1="37887" x2="96953" y2="21736"/>
                        <a14:foregroundMark x1="96953" y1="21736" x2="99883" y2="27860"/>
                        <a14:foregroundMark x1="99883" y1="27860" x2="99688" y2="42799"/>
                        <a14:foregroundMark x1="99688" y1="42799" x2="90977" y2="54778"/>
                        <a14:foregroundMark x1="90977" y1="54778" x2="88125" y2="56460"/>
                        <a14:foregroundMark x1="91133" y1="45222" x2="94609" y2="40848"/>
                        <a14:foregroundMark x1="94609" y1="40848" x2="95859" y2="33715"/>
                        <a14:foregroundMark x1="95859" y1="33715" x2="92305" y2="34320"/>
                        <a14:foregroundMark x1="98789" y1="20054" x2="98555" y2="359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994104">
            <a:off x="8516639" y="-438609"/>
            <a:ext cx="3842047" cy="223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07EB23BC-80FB-20AE-E65D-7303B9CB7353}"/>
              </a:ext>
            </a:extLst>
          </p:cNvPr>
          <p:cNvSpPr txBox="1"/>
          <p:nvPr/>
        </p:nvSpPr>
        <p:spPr>
          <a:xfrm>
            <a:off x="3170682" y="3951181"/>
            <a:ext cx="4135374" cy="1200329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Controller {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@FXML</a:t>
            </a:r>
            <a:br>
              <a:rPr lang="fr-BE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  <a: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E24D69-ED27-2D83-0CB9-93CFAC310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203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C71468-7D6C-E34D-A1E0-BE18D052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Occupons-nous des </a:t>
            </a:r>
            <a:r>
              <a:rPr lang="fr-FR" dirty="0" err="1"/>
              <a:t>HBox</a:t>
            </a:r>
            <a:endParaRPr lang="fr-FR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0CB88DE9-6D7B-B739-F63E-7FF1C361D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59544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Dans chaque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FR" dirty="0"/>
              <a:t>, les éléments sont espacés de 10px, vous savez déjà comment comment le spécifier (c’est comme pour le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FR" dirty="0"/>
              <a:t>).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grpSp>
        <p:nvGrpSpPr>
          <p:cNvPr id="39" name="Groupe 38">
            <a:extLst>
              <a:ext uri="{FF2B5EF4-FFF2-40B4-BE49-F238E27FC236}">
                <a16:creationId xmlns:a16="http://schemas.microsoft.com/office/drawing/2014/main" id="{82276082-5DF1-E645-8007-D93FE62E5243}"/>
              </a:ext>
            </a:extLst>
          </p:cNvPr>
          <p:cNvGrpSpPr/>
          <p:nvPr/>
        </p:nvGrpSpPr>
        <p:grpSpPr>
          <a:xfrm>
            <a:off x="7428460" y="2802139"/>
            <a:ext cx="1885721" cy="1732584"/>
            <a:chOff x="545690" y="2858730"/>
            <a:chExt cx="3495368" cy="3211515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9C05796-6D17-6143-98BB-A9A69929023D}"/>
                </a:ext>
              </a:extLst>
            </p:cNvPr>
            <p:cNvSpPr/>
            <p:nvPr/>
          </p:nvSpPr>
          <p:spPr>
            <a:xfrm>
              <a:off x="545690" y="2858730"/>
              <a:ext cx="3495368" cy="720000"/>
            </a:xfrm>
            <a:prstGeom prst="rect">
              <a:avLst/>
            </a:prstGeom>
            <a:no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B266F66-7EAE-6241-88CC-ED01E7C64A73}"/>
                </a:ext>
              </a:extLst>
            </p:cNvPr>
            <p:cNvSpPr/>
            <p:nvPr/>
          </p:nvSpPr>
          <p:spPr>
            <a:xfrm>
              <a:off x="545690" y="3689235"/>
              <a:ext cx="3495368" cy="720000"/>
            </a:xfrm>
            <a:prstGeom prst="rect">
              <a:avLst/>
            </a:prstGeom>
            <a:no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08597DA-F307-CC44-B0DD-0347E828149A}"/>
                </a:ext>
              </a:extLst>
            </p:cNvPr>
            <p:cNvSpPr/>
            <p:nvPr/>
          </p:nvSpPr>
          <p:spPr>
            <a:xfrm>
              <a:off x="545690" y="4519740"/>
              <a:ext cx="3495368" cy="720000"/>
            </a:xfrm>
            <a:prstGeom prst="rect">
              <a:avLst/>
            </a:prstGeom>
            <a:no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1F683ED-656E-7145-BA39-264CC9E0DC7C}"/>
                </a:ext>
              </a:extLst>
            </p:cNvPr>
            <p:cNvSpPr/>
            <p:nvPr/>
          </p:nvSpPr>
          <p:spPr>
            <a:xfrm>
              <a:off x="545690" y="5350245"/>
              <a:ext cx="3495368" cy="720000"/>
            </a:xfrm>
            <a:prstGeom prst="rect">
              <a:avLst/>
            </a:prstGeom>
            <a:no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7CE8638-47E4-774B-812F-244B49E96692}"/>
                </a:ext>
              </a:extLst>
            </p:cNvPr>
            <p:cNvSpPr/>
            <p:nvPr/>
          </p:nvSpPr>
          <p:spPr>
            <a:xfrm>
              <a:off x="624348" y="2937996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7C52D900-52DD-524E-B183-FB27D60A17C6}"/>
                </a:ext>
              </a:extLst>
            </p:cNvPr>
            <p:cNvSpPr/>
            <p:nvPr/>
          </p:nvSpPr>
          <p:spPr>
            <a:xfrm>
              <a:off x="1492864" y="2937996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ABCFE891-98DE-8C47-A019-E98622961692}"/>
                </a:ext>
              </a:extLst>
            </p:cNvPr>
            <p:cNvSpPr/>
            <p:nvPr/>
          </p:nvSpPr>
          <p:spPr>
            <a:xfrm>
              <a:off x="2361380" y="2937996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809C7B5-7E04-B049-87F2-985123A9129F}"/>
                </a:ext>
              </a:extLst>
            </p:cNvPr>
            <p:cNvSpPr/>
            <p:nvPr/>
          </p:nvSpPr>
          <p:spPr>
            <a:xfrm>
              <a:off x="3229897" y="2937996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0861400-A935-8045-860E-D89E923CD987}"/>
                </a:ext>
              </a:extLst>
            </p:cNvPr>
            <p:cNvSpPr/>
            <p:nvPr/>
          </p:nvSpPr>
          <p:spPr>
            <a:xfrm>
              <a:off x="624348" y="3754074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08417C59-4F32-1C4A-9925-BA1F5007F5AD}"/>
                </a:ext>
              </a:extLst>
            </p:cNvPr>
            <p:cNvSpPr/>
            <p:nvPr/>
          </p:nvSpPr>
          <p:spPr>
            <a:xfrm>
              <a:off x="1492864" y="3754074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2BCCB7A-FA75-A746-A05E-3A7B0DDE6139}"/>
                </a:ext>
              </a:extLst>
            </p:cNvPr>
            <p:cNvSpPr/>
            <p:nvPr/>
          </p:nvSpPr>
          <p:spPr>
            <a:xfrm>
              <a:off x="2361380" y="3754074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E2EF90FB-60FA-6140-973E-146F0ACB9346}"/>
                </a:ext>
              </a:extLst>
            </p:cNvPr>
            <p:cNvSpPr/>
            <p:nvPr/>
          </p:nvSpPr>
          <p:spPr>
            <a:xfrm>
              <a:off x="3229897" y="3754074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D363F313-545F-D34D-9209-C0FEBB0333B6}"/>
                </a:ext>
              </a:extLst>
            </p:cNvPr>
            <p:cNvSpPr/>
            <p:nvPr/>
          </p:nvSpPr>
          <p:spPr>
            <a:xfrm>
              <a:off x="624348" y="4589816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06EAEFC-EAFD-8C46-81EC-E4E0E369D0A6}"/>
                </a:ext>
              </a:extLst>
            </p:cNvPr>
            <p:cNvSpPr/>
            <p:nvPr/>
          </p:nvSpPr>
          <p:spPr>
            <a:xfrm>
              <a:off x="1492864" y="4589816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5BC0F59-D573-BF4E-9B5C-780FF684AEC0}"/>
                </a:ext>
              </a:extLst>
            </p:cNvPr>
            <p:cNvSpPr/>
            <p:nvPr/>
          </p:nvSpPr>
          <p:spPr>
            <a:xfrm>
              <a:off x="2361380" y="4589816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44D64CA-2600-344A-A4F9-C694B4195ECA}"/>
                </a:ext>
              </a:extLst>
            </p:cNvPr>
            <p:cNvSpPr/>
            <p:nvPr/>
          </p:nvSpPr>
          <p:spPr>
            <a:xfrm>
              <a:off x="3229897" y="4589816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8BAB086-8512-1143-847C-3EB4D91F2274}"/>
                </a:ext>
              </a:extLst>
            </p:cNvPr>
            <p:cNvSpPr/>
            <p:nvPr/>
          </p:nvSpPr>
          <p:spPr>
            <a:xfrm>
              <a:off x="624348" y="5435389"/>
              <a:ext cx="1581354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A3C8FDA-4516-6C42-B3A8-EC3C5E305FF2}"/>
                </a:ext>
              </a:extLst>
            </p:cNvPr>
            <p:cNvSpPr/>
            <p:nvPr/>
          </p:nvSpPr>
          <p:spPr>
            <a:xfrm>
              <a:off x="2361380" y="5435389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6EEA192-E707-214C-A442-C3752C6D7C93}"/>
                </a:ext>
              </a:extLst>
            </p:cNvPr>
            <p:cNvSpPr/>
            <p:nvPr/>
          </p:nvSpPr>
          <p:spPr>
            <a:xfrm>
              <a:off x="3229897" y="5435389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</p:grpSp>
      <p:pic>
        <p:nvPicPr>
          <p:cNvPr id="9" name="Picture 4" descr="les lunettes bleus - OFF-53% &gt; Livraison gratuite">
            <a:extLst>
              <a:ext uri="{FF2B5EF4-FFF2-40B4-BE49-F238E27FC236}">
                <a16:creationId xmlns:a16="http://schemas.microsoft.com/office/drawing/2014/main" id="{319046EC-9882-5F84-F37A-73B6AC48B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4936" y="0"/>
            <a:ext cx="2160398" cy="126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C6C5B46-0718-9E89-C7C3-41EB4F785DF7}"/>
              </a:ext>
            </a:extLst>
          </p:cNvPr>
          <p:cNvSpPr txBox="1"/>
          <p:nvPr/>
        </p:nvSpPr>
        <p:spPr>
          <a:xfrm>
            <a:off x="2329676" y="3149502"/>
            <a:ext cx="3607308" cy="369332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spacing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="10"</a:t>
            </a: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&gt;&lt;/</a:t>
            </a:r>
            <a:r>
              <a:rPr lang="fr-BE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F6A71E6-0C6D-6533-3FDF-C49050722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4598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C71468-7D6C-E34D-A1E0-BE18D052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Dans chaque </a:t>
            </a:r>
            <a:r>
              <a:rPr lang="fr-FR" dirty="0" err="1"/>
              <a:t>HBox</a:t>
            </a:r>
            <a:r>
              <a:rPr lang="fr-FR" dirty="0"/>
              <a:t>, des Button</a:t>
            </a:r>
          </a:p>
        </p:txBody>
      </p:sp>
      <p:sp>
        <p:nvSpPr>
          <p:cNvPr id="41" name="Espace réservé du contenu 40">
            <a:extLst>
              <a:ext uri="{FF2B5EF4-FFF2-40B4-BE49-F238E27FC236}">
                <a16:creationId xmlns:a16="http://schemas.microsoft.com/office/drawing/2014/main" id="{C556F642-8BE9-6742-B33E-95358B329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193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Dans chaque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FR" dirty="0"/>
              <a:t> il y a 4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dirty="0"/>
              <a:t> (3 pour la dernière ligne).</a:t>
            </a:r>
            <a:br>
              <a:rPr lang="fr-FR" dirty="0"/>
            </a:br>
            <a:r>
              <a:rPr lang="fr-FR" dirty="0"/>
              <a:t>Chaque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dirty="0"/>
              <a:t> a une dimension de 50 x 50, et contient un texte (attribut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FR" dirty="0"/>
              <a:t>).</a:t>
            </a:r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74CEFD29-AB6A-104C-A0FE-37693BD21C56}"/>
              </a:ext>
            </a:extLst>
          </p:cNvPr>
          <p:cNvGrpSpPr/>
          <p:nvPr/>
        </p:nvGrpSpPr>
        <p:grpSpPr>
          <a:xfrm>
            <a:off x="7428460" y="2802139"/>
            <a:ext cx="1885721" cy="1732584"/>
            <a:chOff x="545690" y="2858730"/>
            <a:chExt cx="3495368" cy="3211515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56346CE-F521-B645-BDB6-41A7F211E5EC}"/>
                </a:ext>
              </a:extLst>
            </p:cNvPr>
            <p:cNvSpPr/>
            <p:nvPr/>
          </p:nvSpPr>
          <p:spPr>
            <a:xfrm>
              <a:off x="545690" y="2858730"/>
              <a:ext cx="3495368" cy="720000"/>
            </a:xfrm>
            <a:prstGeom prst="rect">
              <a:avLst/>
            </a:prstGeom>
            <a:no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5E976EB-7CD1-004A-B550-38F994A746E5}"/>
                </a:ext>
              </a:extLst>
            </p:cNvPr>
            <p:cNvSpPr/>
            <p:nvPr/>
          </p:nvSpPr>
          <p:spPr>
            <a:xfrm>
              <a:off x="545690" y="3689235"/>
              <a:ext cx="3495368" cy="720000"/>
            </a:xfrm>
            <a:prstGeom prst="rect">
              <a:avLst/>
            </a:prstGeom>
            <a:no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404577C-3D54-7148-876E-D6779E1B34F8}"/>
                </a:ext>
              </a:extLst>
            </p:cNvPr>
            <p:cNvSpPr/>
            <p:nvPr/>
          </p:nvSpPr>
          <p:spPr>
            <a:xfrm>
              <a:off x="545690" y="4519740"/>
              <a:ext cx="3495368" cy="720000"/>
            </a:xfrm>
            <a:prstGeom prst="rect">
              <a:avLst/>
            </a:prstGeom>
            <a:no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DA6F6F3-1968-2943-9047-A7442AB308F0}"/>
                </a:ext>
              </a:extLst>
            </p:cNvPr>
            <p:cNvSpPr/>
            <p:nvPr/>
          </p:nvSpPr>
          <p:spPr>
            <a:xfrm>
              <a:off x="545690" y="5350245"/>
              <a:ext cx="3495368" cy="720000"/>
            </a:xfrm>
            <a:prstGeom prst="rect">
              <a:avLst/>
            </a:prstGeom>
            <a:noFill/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201FB8E-C437-9C41-A3A2-D8634E594190}"/>
                </a:ext>
              </a:extLst>
            </p:cNvPr>
            <p:cNvSpPr/>
            <p:nvPr/>
          </p:nvSpPr>
          <p:spPr>
            <a:xfrm>
              <a:off x="624348" y="2937996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C3DAA8-47AC-224A-BA98-C3CE755471EA}"/>
                </a:ext>
              </a:extLst>
            </p:cNvPr>
            <p:cNvSpPr/>
            <p:nvPr/>
          </p:nvSpPr>
          <p:spPr>
            <a:xfrm>
              <a:off x="1492864" y="2937996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073B81E-20C6-DB48-B866-A2B475E44BDF}"/>
                </a:ext>
              </a:extLst>
            </p:cNvPr>
            <p:cNvSpPr/>
            <p:nvPr/>
          </p:nvSpPr>
          <p:spPr>
            <a:xfrm>
              <a:off x="2361380" y="2937996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9A5142C-6D1E-904A-A5A8-2283CFDD0B38}"/>
                </a:ext>
              </a:extLst>
            </p:cNvPr>
            <p:cNvSpPr/>
            <p:nvPr/>
          </p:nvSpPr>
          <p:spPr>
            <a:xfrm>
              <a:off x="3229897" y="2937996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: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8D842DD-CECD-6841-9E45-A6C7DB08379D}"/>
                </a:ext>
              </a:extLst>
            </p:cNvPr>
            <p:cNvSpPr/>
            <p:nvPr/>
          </p:nvSpPr>
          <p:spPr>
            <a:xfrm>
              <a:off x="624348" y="3754074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9B88D1B-FE42-EB40-B480-7947FE3D3225}"/>
                </a:ext>
              </a:extLst>
            </p:cNvPr>
            <p:cNvSpPr/>
            <p:nvPr/>
          </p:nvSpPr>
          <p:spPr>
            <a:xfrm>
              <a:off x="1492864" y="3754074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D1BE407-4915-0B49-B12F-6B70C79AABB4}"/>
                </a:ext>
              </a:extLst>
            </p:cNvPr>
            <p:cNvSpPr/>
            <p:nvPr/>
          </p:nvSpPr>
          <p:spPr>
            <a:xfrm>
              <a:off x="2361380" y="3754074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C635704-AC19-874D-9BD0-4EFAFA72CE6E}"/>
                </a:ext>
              </a:extLst>
            </p:cNvPr>
            <p:cNvSpPr/>
            <p:nvPr/>
          </p:nvSpPr>
          <p:spPr>
            <a:xfrm>
              <a:off x="3229897" y="3754074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5836A38D-D11A-C148-A17B-050BC17DAD93}"/>
                </a:ext>
              </a:extLst>
            </p:cNvPr>
            <p:cNvSpPr/>
            <p:nvPr/>
          </p:nvSpPr>
          <p:spPr>
            <a:xfrm>
              <a:off x="624348" y="4589816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27E2A77-3DBA-2649-BEF8-A362F4298C6E}"/>
                </a:ext>
              </a:extLst>
            </p:cNvPr>
            <p:cNvSpPr/>
            <p:nvPr/>
          </p:nvSpPr>
          <p:spPr>
            <a:xfrm>
              <a:off x="1492864" y="4589816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2C9D889-0B8C-6D4A-93C9-4068C215A484}"/>
                </a:ext>
              </a:extLst>
            </p:cNvPr>
            <p:cNvSpPr/>
            <p:nvPr/>
          </p:nvSpPr>
          <p:spPr>
            <a:xfrm>
              <a:off x="2361380" y="4589816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EB8B5E1-0042-6445-8349-BA88519C1212}"/>
                </a:ext>
              </a:extLst>
            </p:cNvPr>
            <p:cNvSpPr/>
            <p:nvPr/>
          </p:nvSpPr>
          <p:spPr>
            <a:xfrm>
              <a:off x="3229897" y="4589816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C4F038E-2863-C943-BC2F-E6B66609617D}"/>
                </a:ext>
              </a:extLst>
            </p:cNvPr>
            <p:cNvSpPr/>
            <p:nvPr/>
          </p:nvSpPr>
          <p:spPr>
            <a:xfrm>
              <a:off x="624348" y="5435389"/>
              <a:ext cx="1581354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1D8AC71-17EE-5644-A4EF-3FA04D0D1B0D}"/>
                </a:ext>
              </a:extLst>
            </p:cNvPr>
            <p:cNvSpPr/>
            <p:nvPr/>
          </p:nvSpPr>
          <p:spPr>
            <a:xfrm>
              <a:off x="2361380" y="5435389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=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1CCF736F-AA16-1E40-AF5A-7BDBC072E5CE}"/>
                </a:ext>
              </a:extLst>
            </p:cNvPr>
            <p:cNvSpPr/>
            <p:nvPr/>
          </p:nvSpPr>
          <p:spPr>
            <a:xfrm>
              <a:off x="3229897" y="5435389"/>
              <a:ext cx="712839" cy="552456"/>
            </a:xfrm>
            <a:prstGeom prst="rect">
              <a:avLst/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</p:grpSp>
      <p:pic>
        <p:nvPicPr>
          <p:cNvPr id="6" name="Picture 4" descr="les lunettes bleus - OFF-53% &gt; Livraison gratuite">
            <a:extLst>
              <a:ext uri="{FF2B5EF4-FFF2-40B4-BE49-F238E27FC236}">
                <a16:creationId xmlns:a16="http://schemas.microsoft.com/office/drawing/2014/main" id="{4C01AB6D-6E10-9842-000F-6A6BBC89F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4936" y="0"/>
            <a:ext cx="2160398" cy="126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01E73936-9635-53F6-8E92-EB19A4D95486}"/>
              </a:ext>
            </a:extLst>
          </p:cNvPr>
          <p:cNvSpPr txBox="1"/>
          <p:nvPr/>
        </p:nvSpPr>
        <p:spPr>
          <a:xfrm>
            <a:off x="996697" y="2957037"/>
            <a:ext cx="6273267" cy="156966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sz="1600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spacing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="10" 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&lt;Button </a:t>
            </a:r>
            <a:r>
              <a:rPr lang="fr-BE" sz="16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="7" </a:t>
            </a:r>
            <a:r>
              <a:rPr lang="fr-BE" sz="16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prefWidth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="50" </a:t>
            </a:r>
            <a:r>
              <a:rPr lang="fr-BE" sz="16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prefHeight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="50" 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  <a:b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&lt;Button </a:t>
            </a:r>
            <a:r>
              <a:rPr lang="fr-BE" sz="16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="8" </a:t>
            </a:r>
            <a:r>
              <a:rPr lang="fr-BE" sz="16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prefWidth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="50" </a:t>
            </a:r>
            <a:r>
              <a:rPr lang="fr-BE" sz="16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prefHeight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="50" 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  <a:b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&lt;Button </a:t>
            </a:r>
            <a:r>
              <a:rPr lang="fr-BE" sz="16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="9" </a:t>
            </a:r>
            <a:r>
              <a:rPr lang="fr-BE" sz="16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prefWidth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="50" </a:t>
            </a:r>
            <a:r>
              <a:rPr lang="fr-BE" sz="16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prefHeight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="50" 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  <a:b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&lt;Button </a:t>
            </a:r>
            <a:r>
              <a:rPr lang="fr-BE" sz="16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=":" </a:t>
            </a:r>
            <a:r>
              <a:rPr lang="fr-BE" sz="16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prefWidth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="50" </a:t>
            </a:r>
            <a:r>
              <a:rPr lang="fr-BE" sz="1600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prefHeight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="50" 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  <a:b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fr-BE" sz="1600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BE" sz="1600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Espace réservé du contenu 40">
            <a:extLst>
              <a:ext uri="{FF2B5EF4-FFF2-40B4-BE49-F238E27FC236}">
                <a16:creationId xmlns:a16="http://schemas.microsoft.com/office/drawing/2014/main" id="{4CE4016D-7AFA-6EC2-909B-D8BFDE6F214A}"/>
              </a:ext>
            </a:extLst>
          </p:cNvPr>
          <p:cNvSpPr txBox="1">
            <a:spLocks/>
          </p:cNvSpPr>
          <p:nvPr/>
        </p:nvSpPr>
        <p:spPr>
          <a:xfrm>
            <a:off x="838200" y="4627467"/>
            <a:ext cx="10515600" cy="1636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La dernière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FR" dirty="0"/>
              <a:t> ne contient que 3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dirty="0"/>
              <a:t>, le premier ayant une largeur de 110.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Vous pouvez vérifier votre vue dans le </a:t>
            </a:r>
            <a:r>
              <a:rPr lang="fr-FR" dirty="0" err="1"/>
              <a:t>SceneBuilder</a:t>
            </a:r>
            <a:r>
              <a:rPr lang="fr-FR" dirty="0"/>
              <a:t>…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0A35B8E-1CAA-3589-75CB-CAEEA0CA2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81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C71468-7D6C-E34D-A1E0-BE18D052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Problème d’alignement…</a:t>
            </a:r>
          </a:p>
        </p:txBody>
      </p:sp>
      <p:sp>
        <p:nvSpPr>
          <p:cNvPr id="41" name="Espace réservé du contenu 40">
            <a:extLst>
              <a:ext uri="{FF2B5EF4-FFF2-40B4-BE49-F238E27FC236}">
                <a16:creationId xmlns:a16="http://schemas.microsoft.com/office/drawing/2014/main" id="{C556F642-8BE9-6742-B33E-95358B329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0575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Après vérification dans </a:t>
            </a:r>
            <a:r>
              <a:rPr lang="fr-FR" dirty="0" err="1"/>
              <a:t>SceneBuilder</a:t>
            </a:r>
            <a:r>
              <a:rPr lang="fr-FR" dirty="0"/>
              <a:t>, il apparaît sans doute que votre vue présente un petit défaut…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62161E4-68AD-D74A-A376-8624075B03C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91077" y="2494358"/>
            <a:ext cx="2273059" cy="2234959"/>
          </a:xfrm>
          <a:prstGeom prst="rect">
            <a:avLst/>
          </a:prstGeom>
        </p:spPr>
      </p:pic>
      <p:pic>
        <p:nvPicPr>
          <p:cNvPr id="6" name="Picture 4" descr="les lunettes bleus - OFF-53% &gt; Livraison gratuite">
            <a:extLst>
              <a:ext uri="{FF2B5EF4-FFF2-40B4-BE49-F238E27FC236}">
                <a16:creationId xmlns:a16="http://schemas.microsoft.com/office/drawing/2014/main" id="{58505DFE-1829-8520-A7F7-C1944CDFE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4936" y="0"/>
            <a:ext cx="2160398" cy="126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ABFC973-E96F-5441-40DF-0B94F6E8BD0B}"/>
              </a:ext>
            </a:extLst>
          </p:cNvPr>
          <p:cNvSpPr txBox="1"/>
          <p:nvPr/>
        </p:nvSpPr>
        <p:spPr>
          <a:xfrm>
            <a:off x="4704588" y="5333270"/>
            <a:ext cx="5417820" cy="92333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spacing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="10" </a:t>
            </a:r>
            <a:r>
              <a:rPr lang="fr-BE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alignment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="CENTER" </a:t>
            </a: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b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...</a:t>
            </a:r>
            <a:b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fr-BE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HBox</a:t>
            </a: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9" name="Espace réservé du contenu 40">
            <a:extLst>
              <a:ext uri="{FF2B5EF4-FFF2-40B4-BE49-F238E27FC236}">
                <a16:creationId xmlns:a16="http://schemas.microsoft.com/office/drawing/2014/main" id="{F95C458E-85EB-7E43-92EE-CC3ABD7254D1}"/>
              </a:ext>
            </a:extLst>
          </p:cNvPr>
          <p:cNvSpPr txBox="1">
            <a:spLocks/>
          </p:cNvSpPr>
          <p:nvPr/>
        </p:nvSpPr>
        <p:spPr>
          <a:xfrm>
            <a:off x="838200" y="4760080"/>
            <a:ext cx="10515600" cy="1080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Saurez-vous trouver comment remédier à cela?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D10B742-3C53-34D7-EA98-BBF046916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49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1395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40">
            <a:extLst>
              <a:ext uri="{FF2B5EF4-FFF2-40B4-BE49-F238E27FC236}">
                <a16:creationId xmlns:a16="http://schemas.microsoft.com/office/drawing/2014/main" id="{D831E2DD-67D0-449E-5618-6BA807E2DE56}"/>
              </a:ext>
            </a:extLst>
          </p:cNvPr>
          <p:cNvSpPr txBox="1">
            <a:spLocks/>
          </p:cNvSpPr>
          <p:nvPr/>
        </p:nvSpPr>
        <p:spPr>
          <a:xfrm>
            <a:off x="838200" y="3752770"/>
            <a:ext cx="10515600" cy="20719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sz="2000" u="sng" dirty="0"/>
              <a:t>Note</a:t>
            </a:r>
            <a:r>
              <a:rPr lang="fr-FR" sz="2000" dirty="0"/>
              <a:t>: pour que l’app se lance, il faut deux choses: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000" dirty="0"/>
              <a:t>- Dans la vue, vous devez avoir une référence vers le contrôleur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2000" dirty="0"/>
          </a:p>
          <a:p>
            <a:pPr marL="0" indent="0">
              <a:buFont typeface="Arial" panose="020B0604020202020204" pitchFamily="34" charset="0"/>
              <a:buNone/>
            </a:pPr>
            <a:endParaRPr lang="fr-FR" sz="105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2000" dirty="0"/>
              <a:t>- Et dans la classe </a:t>
            </a:r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Application</a:t>
            </a:r>
            <a:r>
              <a:rPr lang="fr-FR" sz="2000" dirty="0"/>
              <a:t> la méthode </a:t>
            </a:r>
            <a:r>
              <a:rPr lang="fr-FR" sz="20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start(…)</a:t>
            </a:r>
            <a:r>
              <a:rPr lang="fr-FR" sz="2000" dirty="0"/>
              <a:t> doit ouvrir le fichier </a:t>
            </a:r>
            <a:r>
              <a:rPr lang="fr-FR" sz="20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View.fxml</a:t>
            </a:r>
            <a:r>
              <a:rPr lang="fr-FR" sz="2000" dirty="0">
                <a:solidFill>
                  <a:schemeClr val="accent4"/>
                </a:solidFill>
              </a:rPr>
              <a:t> </a:t>
            </a:r>
            <a:endParaRPr lang="fr-FR" sz="3200" dirty="0">
              <a:solidFill>
                <a:schemeClr val="accent4"/>
              </a:solidFill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BC71468-7D6C-E34D-A1E0-BE18D052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Notre vue est (quasiment) terminée</a:t>
            </a:r>
          </a:p>
        </p:txBody>
      </p:sp>
      <p:sp>
        <p:nvSpPr>
          <p:cNvPr id="41" name="Espace réservé du contenu 40">
            <a:extLst>
              <a:ext uri="{FF2B5EF4-FFF2-40B4-BE49-F238E27FC236}">
                <a16:creationId xmlns:a16="http://schemas.microsoft.com/office/drawing/2014/main" id="{C556F642-8BE9-6742-B33E-95358B329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Nous avons maintenant une magnifique calculatrice!</a:t>
            </a:r>
          </a:p>
          <a:p>
            <a:pPr marL="0" indent="0">
              <a:buNone/>
            </a:pPr>
            <a:r>
              <a:rPr lang="fr-FR" dirty="0"/>
              <a:t>Si vous lancez votre application, vous devriez voir la vue, mais vous remarquerez que les boutons ne fonctionnent pas. </a:t>
            </a:r>
          </a:p>
        </p:txBody>
      </p:sp>
      <p:pic>
        <p:nvPicPr>
          <p:cNvPr id="3" name="Picture 4" descr="les lunettes bleus - OFF-53% &gt; Livraison gratuite">
            <a:extLst>
              <a:ext uri="{FF2B5EF4-FFF2-40B4-BE49-F238E27FC236}">
                <a16:creationId xmlns:a16="http://schemas.microsoft.com/office/drawing/2014/main" id="{D4ECCC62-D63D-852E-A28C-EB6F1A7D6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4936" y="0"/>
            <a:ext cx="2160398" cy="126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324432AF-7CC6-FED8-2C01-603308B506EE}"/>
              </a:ext>
            </a:extLst>
          </p:cNvPr>
          <p:cNvSpPr txBox="1"/>
          <p:nvPr/>
        </p:nvSpPr>
        <p:spPr>
          <a:xfrm>
            <a:off x="2574036" y="4557023"/>
            <a:ext cx="7776972" cy="646331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xmlns:</a:t>
            </a:r>
            <a:r>
              <a:rPr lang="fr-BE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fx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="http://</a:t>
            </a:r>
            <a:r>
              <a:rPr lang="fr-BE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javafx.com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fr-BE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fxml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b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fr-BE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fx</a:t>
            </a:r>
            <a:r>
              <a:rPr lang="fr-BE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:controller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fr-BE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calculatrice.Controller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C30D0B-4C54-D24F-1160-A774258F8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103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JavaFX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Introduction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Configuration d’</a:t>
            </a:r>
            <a:r>
              <a:rPr lang="fr-FR" dirty="0" err="1"/>
              <a:t>IntelliJ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Premier projet en </a:t>
            </a:r>
            <a:r>
              <a:rPr lang="fr-FR" dirty="0" err="1"/>
              <a:t>JavaFX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Une calculatrice</a:t>
            </a: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La Vue</a:t>
            </a: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dirty="0">
                <a:solidFill>
                  <a:schemeClr val="accent4"/>
                </a:solidFill>
              </a:rPr>
              <a:t>Le Contrôleur</a:t>
            </a: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 Modèle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964A23-39B9-2F90-2147-CCA1DB3CA7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2156463"/>
      </p:ext>
    </p:extLst>
  </p:cSld>
  <p:clrMapOvr>
    <a:masterClrMapping/>
  </p:clrMapOvr>
  <p:transition>
    <p:push dir="u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8083338-EEB6-404F-A322-058CC4B30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2. Le Contrôleur</a:t>
            </a:r>
          </a:p>
        </p:txBody>
      </p:sp>
      <p:sp>
        <p:nvSpPr>
          <p:cNvPr id="6" name="Espace réservé du numéro de diapositive 4">
            <a:extLst>
              <a:ext uri="{FF2B5EF4-FFF2-40B4-BE49-F238E27FC236}">
                <a16:creationId xmlns:a16="http://schemas.microsoft.com/office/drawing/2014/main" id="{6F8B07B2-AE3F-AA45-87B8-866790F38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457200" rtl="0" eaLnBrk="1" latinLnBrk="0" hangingPunct="1">
              <a:defRPr sz="2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2005DC0-9EAD-DA46-BDA8-BD693362A350}" type="slidenum">
              <a:rPr lang="fr-FR" smtClean="0"/>
              <a:pPr/>
              <a:t>52</a:t>
            </a:fld>
            <a:endParaRPr lang="en-US" dirty="0"/>
          </a:p>
        </p:txBody>
      </p:sp>
      <p:pic>
        <p:nvPicPr>
          <p:cNvPr id="11266" name="Picture 2" descr="Carte pour régulateur - Consigne à distance avec commutation local/distance  sur slot B | VULCANIC">
            <a:extLst>
              <a:ext uri="{FF2B5EF4-FFF2-40B4-BE49-F238E27FC236}">
                <a16:creationId xmlns:a16="http://schemas.microsoft.com/office/drawing/2014/main" id="{07F3E9C8-B0D1-A75A-6986-243D8C13C4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2025" b="21669"/>
          <a:stretch/>
        </p:blipFill>
        <p:spPr bwMode="auto">
          <a:xfrm>
            <a:off x="2943860" y="2113280"/>
            <a:ext cx="6304280" cy="354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04644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La gestion des Button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Notre contrôleur est la classe </a:t>
            </a:r>
            <a:r>
              <a:rPr lang="fr-FR" sz="2600" dirty="0">
                <a:solidFill>
                  <a:schemeClr val="accent4"/>
                </a:solidFill>
              </a:rPr>
              <a:t>Controller</a:t>
            </a:r>
            <a:r>
              <a:rPr lang="fr-FR" dirty="0"/>
              <a:t>, connue par la vue. </a:t>
            </a:r>
          </a:p>
          <a:p>
            <a:pPr marL="0" indent="0">
              <a:buNone/>
            </a:pPr>
            <a:r>
              <a:rPr lang="fr-FR" dirty="0"/>
              <a:t>Il  présente aussi un lien avec la Vue via le champ </a:t>
            </a:r>
            <a:r>
              <a:rPr lang="fr-FR" sz="2600" dirty="0" err="1">
                <a:solidFill>
                  <a:schemeClr val="accent4"/>
                </a:solidFill>
              </a:rPr>
              <a:t>private</a:t>
            </a:r>
            <a:r>
              <a:rPr lang="fr-FR" sz="2600" dirty="0">
                <a:solidFill>
                  <a:schemeClr val="accent4"/>
                </a:solidFill>
              </a:rPr>
              <a:t> </a:t>
            </a:r>
            <a:r>
              <a:rPr lang="fr-FR" sz="2600" dirty="0" err="1">
                <a:solidFill>
                  <a:schemeClr val="accent4"/>
                </a:solidFill>
              </a:rPr>
              <a:t>Text</a:t>
            </a:r>
            <a:r>
              <a:rPr lang="fr-FR" sz="2600" dirty="0">
                <a:solidFill>
                  <a:schemeClr val="accent4"/>
                </a:solidFill>
              </a:rPr>
              <a:t> output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Il faut maintenant que les </a:t>
            </a:r>
            <a:r>
              <a:rPr lang="fr-FR" sz="2600" dirty="0" err="1">
                <a:solidFill>
                  <a:schemeClr val="accent4"/>
                </a:solidFill>
              </a:rPr>
              <a:t>Button</a:t>
            </a:r>
            <a:r>
              <a:rPr lang="fr-FR" dirty="0"/>
              <a:t> puissent présenter un comportement, nous allons voir que cela passe par des méthodes privées préfixées par </a:t>
            </a:r>
            <a:r>
              <a:rPr lang="fr-FR" sz="2600" dirty="0">
                <a:solidFill>
                  <a:schemeClr val="accent4"/>
                </a:solidFill>
              </a:rPr>
              <a:t>@FXML</a:t>
            </a:r>
            <a:r>
              <a:rPr lang="fr-FR" dirty="0"/>
              <a:t>.</a:t>
            </a:r>
          </a:p>
        </p:txBody>
      </p:sp>
      <p:pic>
        <p:nvPicPr>
          <p:cNvPr id="3" name="Picture 2" descr="Puce contrôleur COACh® AT | Site officiel Elo®">
            <a:extLst>
              <a:ext uri="{FF2B5EF4-FFF2-40B4-BE49-F238E27FC236}">
                <a16:creationId xmlns:a16="http://schemas.microsoft.com/office/drawing/2014/main" id="{E5E6CB84-189C-5BF5-E21D-842ECE5CE9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51" t="18438" r="52743" b="11293"/>
          <a:stretch/>
        </p:blipFill>
        <p:spPr bwMode="auto">
          <a:xfrm>
            <a:off x="9791892" y="154782"/>
            <a:ext cx="1845054" cy="160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4D35A2-530E-FE1B-EA97-20AB461B7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3049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La gestion des Button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Si vous jetez un coup d’œil à la classe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dirty="0"/>
              <a:t> dans la </a:t>
            </a:r>
            <a:r>
              <a:rPr lang="fr-FR" dirty="0" err="1"/>
              <a:t>javadoc</a:t>
            </a:r>
            <a:r>
              <a:rPr lang="fr-FR" dirty="0"/>
              <a:t>, vous verrez qu’ils envoient un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ActionEvent</a:t>
            </a:r>
            <a:r>
              <a:rPr lang="fr-FR" dirty="0"/>
              <a:t> quand on les presse (destiné à être traité par un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r>
              <a:rPr lang="fr-FR" dirty="0"/>
              <a:t>).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0B0874E-AF5C-F340-83B4-DBE5F15EAE8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6863" y="3072384"/>
            <a:ext cx="7093934" cy="35238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Picture 2" descr="Puce contrôleur COACh® AT | Site officiel Elo®">
            <a:extLst>
              <a:ext uri="{FF2B5EF4-FFF2-40B4-BE49-F238E27FC236}">
                <a16:creationId xmlns:a16="http://schemas.microsoft.com/office/drawing/2014/main" id="{48C27004-8E24-B9FB-EF14-477D30364D7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51" t="18438" r="52743" b="11293"/>
          <a:stretch/>
        </p:blipFill>
        <p:spPr bwMode="auto">
          <a:xfrm>
            <a:off x="9791892" y="154782"/>
            <a:ext cx="1845054" cy="160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Connecteur en angle 7">
            <a:extLst>
              <a:ext uri="{FF2B5EF4-FFF2-40B4-BE49-F238E27FC236}">
                <a16:creationId xmlns:a16="http://schemas.microsoft.com/office/drawing/2014/main" id="{B38D0499-78DA-7D1F-99B1-9BF0DF1AB69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62657" y="3968494"/>
            <a:ext cx="2121408" cy="1371603"/>
          </a:xfrm>
          <a:prstGeom prst="bentConnector3">
            <a:avLst>
              <a:gd name="adj1" fmla="val 100000"/>
            </a:avLst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8A35D5-8E16-78BF-690A-17E15574A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5740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La gestion des Button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Heureusement, les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dirty="0"/>
              <a:t>, via leur classe parent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ButtonBase</a:t>
            </a:r>
            <a:r>
              <a:rPr lang="fr-FR" dirty="0"/>
              <a:t>, ont une propriété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onAction</a:t>
            </a:r>
            <a:r>
              <a:rPr lang="fr-FR" dirty="0"/>
              <a:t> (et une méthode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setOnAction</a:t>
            </a:r>
            <a:r>
              <a:rPr lang="fr-FR" dirty="0"/>
              <a:t>, à laquelle on passe un gestionnaire d’événement (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ActionEvent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fr-FR" dirty="0"/>
              <a:t> qui pourra traiter l’événement).</a:t>
            </a:r>
            <a:endParaRPr lang="fr-BE" dirty="0">
              <a:effectLst/>
            </a:endParaRP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EE2ED7B1-21A7-444B-9F8C-F134A70C04DA}"/>
              </a:ext>
            </a:extLst>
          </p:cNvPr>
          <p:cNvGrpSpPr/>
          <p:nvPr/>
        </p:nvGrpSpPr>
        <p:grpSpPr>
          <a:xfrm>
            <a:off x="3518912" y="3514980"/>
            <a:ext cx="6272980" cy="632936"/>
            <a:chOff x="1658446" y="2729998"/>
            <a:chExt cx="6272980" cy="632936"/>
          </a:xfrm>
        </p:grpSpPr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5B158C08-99E9-6746-BC6C-77087DD6B3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658446" y="2729998"/>
              <a:ext cx="6272980" cy="631692"/>
            </a:xfrm>
            <a:prstGeom prst="rect">
              <a:avLst/>
            </a:prstGeom>
            <a:ln>
              <a:noFill/>
            </a:ln>
            <a:effectLst>
              <a:outerShdw blurRad="190500" algn="tl" rotWithShape="0">
                <a:srgbClr val="000000">
                  <a:alpha val="70000"/>
                </a:srgbClr>
              </a:outerShdw>
            </a:effectLst>
          </p:spPr>
        </p:pic>
        <p:grpSp>
          <p:nvGrpSpPr>
            <p:cNvPr id="9" name="Groupe 8">
              <a:extLst>
                <a:ext uri="{FF2B5EF4-FFF2-40B4-BE49-F238E27FC236}">
                  <a16:creationId xmlns:a16="http://schemas.microsoft.com/office/drawing/2014/main" id="{CE34CF79-E986-084D-A130-456DC51687E4}"/>
                </a:ext>
              </a:extLst>
            </p:cNvPr>
            <p:cNvGrpSpPr/>
            <p:nvPr/>
          </p:nvGrpSpPr>
          <p:grpSpPr>
            <a:xfrm>
              <a:off x="1658446" y="2729998"/>
              <a:ext cx="6272980" cy="632936"/>
              <a:chOff x="894736" y="3131575"/>
              <a:chExt cx="6272980" cy="632936"/>
            </a:xfrm>
          </p:grpSpPr>
          <p:pic>
            <p:nvPicPr>
              <p:cNvPr id="5" name="Image 4">
                <a:extLst>
                  <a:ext uri="{FF2B5EF4-FFF2-40B4-BE49-F238E27FC236}">
                    <a16:creationId xmlns:a16="http://schemas.microsoft.com/office/drawing/2014/main" id="{DF99A977-E158-A84E-BBC1-0A4D18DE10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894736" y="3132819"/>
                <a:ext cx="1120877" cy="631692"/>
              </a:xfrm>
              <a:prstGeom prst="rect">
                <a:avLst/>
              </a:prstGeom>
            </p:spPr>
          </p:pic>
          <p:pic>
            <p:nvPicPr>
              <p:cNvPr id="8" name="Image 7">
                <a:extLst>
                  <a:ext uri="{FF2B5EF4-FFF2-40B4-BE49-F238E27FC236}">
                    <a16:creationId xmlns:a16="http://schemas.microsoft.com/office/drawing/2014/main" id="{E7C2279B-66C2-814E-86F6-0D6E904C813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730478" y="3131575"/>
                <a:ext cx="5437238" cy="631692"/>
              </a:xfrm>
              <a:prstGeom prst="rect">
                <a:avLst/>
              </a:prstGeom>
            </p:spPr>
          </p:pic>
        </p:grpSp>
      </p:grpSp>
      <p:pic>
        <p:nvPicPr>
          <p:cNvPr id="3" name="Picture 2" descr="Puce contrôleur COACh® AT | Site officiel Elo®">
            <a:extLst>
              <a:ext uri="{FF2B5EF4-FFF2-40B4-BE49-F238E27FC236}">
                <a16:creationId xmlns:a16="http://schemas.microsoft.com/office/drawing/2014/main" id="{519DB2AD-1D06-67F5-EDFA-1861C0ACE2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51" t="18438" r="52743" b="11293"/>
          <a:stretch/>
        </p:blipFill>
        <p:spPr bwMode="auto">
          <a:xfrm>
            <a:off x="9791892" y="154782"/>
            <a:ext cx="1845054" cy="160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contenu 3">
            <a:extLst>
              <a:ext uri="{FF2B5EF4-FFF2-40B4-BE49-F238E27FC236}">
                <a16:creationId xmlns:a16="http://schemas.microsoft.com/office/drawing/2014/main" id="{901BA654-CA45-76A9-CC31-EEE873588F76}"/>
              </a:ext>
            </a:extLst>
          </p:cNvPr>
          <p:cNvSpPr txBox="1">
            <a:spLocks/>
          </p:cNvSpPr>
          <p:nvPr/>
        </p:nvSpPr>
        <p:spPr>
          <a:xfrm>
            <a:off x="838200" y="4215383"/>
            <a:ext cx="10515600" cy="20290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BE" dirty="0"/>
              <a:t>En FXML, on peut indiquer à la vue le nom de la méthode du contrôleur qui doit être invoquée en utilisant l’attribut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fr-BE" sz="2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onAction</a:t>
            </a:r>
            <a:r>
              <a:rPr lang="fr-BE" sz="2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="#</a:t>
            </a:r>
            <a:r>
              <a:rPr lang="fr-BE" sz="2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methodName</a:t>
            </a:r>
            <a:r>
              <a:rPr lang="fr-BE" sz="2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sz="2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BE" dirty="0"/>
              <a:t>Où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methodName</a:t>
            </a:r>
            <a:r>
              <a:rPr lang="fr-BE" dirty="0"/>
              <a:t> correspond à une méthode du contrôleur. 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75B4858-A8BF-77C2-F74D-C04B7A6D1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684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La gestion des Button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Dans le contrôleur, on aura donc une (ou plusieurs) méthodes qui effectueront des actions quand l’utilisateur pressera sur un bouton.</a:t>
            </a:r>
          </a:p>
          <a:p>
            <a:endParaRPr lang="fr-FR" dirty="0">
              <a:effectLst/>
            </a:endParaRPr>
          </a:p>
          <a:p>
            <a:r>
              <a:rPr lang="fr-FR" dirty="0"/>
              <a:t>A votre avis, que devrait-il se passer lors de ces événements?</a:t>
            </a:r>
            <a:endParaRPr lang="fr-FR" dirty="0">
              <a:effectLst/>
            </a:endParaRPr>
          </a:p>
          <a:p>
            <a:r>
              <a:rPr lang="fr-FR" dirty="0"/>
              <a:t>Y a-t-il un comportement unique, doit on identifier deux catégories de touches ou pensez-vous qu’il faille un comportement pour chaque touche?</a:t>
            </a:r>
            <a:endParaRPr lang="fr-BE" dirty="0">
              <a:effectLst/>
            </a:endParaRPr>
          </a:p>
        </p:txBody>
      </p:sp>
      <p:pic>
        <p:nvPicPr>
          <p:cNvPr id="5" name="Picture 2" descr="Puce contrôleur COACh® AT | Site officiel Elo®">
            <a:extLst>
              <a:ext uri="{FF2B5EF4-FFF2-40B4-BE49-F238E27FC236}">
                <a16:creationId xmlns:a16="http://schemas.microsoft.com/office/drawing/2014/main" id="{21E5B95D-D4BE-252C-3FB0-318C53447D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51" t="18438" r="52743" b="11293"/>
          <a:stretch/>
        </p:blipFill>
        <p:spPr bwMode="auto">
          <a:xfrm>
            <a:off x="9791892" y="154782"/>
            <a:ext cx="1845054" cy="160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8AF6DB8-D2F9-833C-8893-9003941E9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77165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La gestion des Button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Il serait judicieux d’identifier deux catégories de touches:</a:t>
            </a:r>
          </a:p>
          <a:p>
            <a:pPr marL="342900" indent="-342900"/>
            <a:r>
              <a:rPr lang="fr-FR" dirty="0">
                <a:effectLst/>
              </a:rPr>
              <a:t>Les </a:t>
            </a:r>
            <a:r>
              <a:rPr lang="fr-FR" dirty="0">
                <a:solidFill>
                  <a:schemeClr val="accent4"/>
                </a:solidFill>
                <a:effectLst/>
              </a:rPr>
              <a:t>chiffres</a:t>
            </a:r>
            <a:r>
              <a:rPr lang="fr-FR" dirty="0"/>
              <a:t>: </a:t>
            </a:r>
            <a:r>
              <a:rPr lang="fr-FR" dirty="0">
                <a:effectLst/>
              </a:rPr>
              <a:t>quand on les enfonce, le nombre affiché se modifie,</a:t>
            </a:r>
          </a:p>
          <a:p>
            <a:pPr marL="342900" indent="-342900"/>
            <a:r>
              <a:rPr lang="fr-FR" dirty="0"/>
              <a:t>Les autres touches, </a:t>
            </a:r>
            <a:r>
              <a:rPr lang="fr-FR" dirty="0">
                <a:solidFill>
                  <a:schemeClr val="accent4"/>
                </a:solidFill>
              </a:rPr>
              <a:t>opérateurs</a:t>
            </a:r>
            <a:r>
              <a:rPr lang="fr-FR" dirty="0"/>
              <a:t>: quand on les presse, la calculatrice effectue des opérations et enregistre le nombre à l’affichage…</a:t>
            </a:r>
          </a:p>
          <a:p>
            <a:pPr marL="342900" indent="-342900"/>
            <a:endParaRPr lang="fr-FR" dirty="0"/>
          </a:p>
          <a:p>
            <a:pPr marL="0" indent="0">
              <a:buNone/>
            </a:pPr>
            <a:r>
              <a:rPr lang="fr-FR" dirty="0"/>
              <a:t>Nous allons donc créer deux méthodes privées dans notre contrôleur :</a:t>
            </a:r>
          </a:p>
          <a:p>
            <a:pPr marL="800100" lvl="1" indent="-342900"/>
            <a:r>
              <a:rPr lang="fr-BE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processNumber</a:t>
            </a:r>
            <a:r>
              <a:rPr lang="fr-BE" dirty="0"/>
              <a:t> qui traitera les nombres </a:t>
            </a:r>
          </a:p>
          <a:p>
            <a:pPr marL="800100" lvl="1" indent="-342900"/>
            <a:r>
              <a:rPr lang="fr-BE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processOperator</a:t>
            </a:r>
            <a:r>
              <a:rPr lang="fr-FR" dirty="0"/>
              <a:t> qui traitera les opérateurs </a:t>
            </a:r>
          </a:p>
          <a:p>
            <a:pPr marL="342900" indent="-342900"/>
            <a:endParaRPr lang="fr-FR" dirty="0"/>
          </a:p>
        </p:txBody>
      </p:sp>
      <p:pic>
        <p:nvPicPr>
          <p:cNvPr id="4098" name="Picture 2" descr="Puce contrôleur COACh® AT | Site officiel Elo®">
            <a:extLst>
              <a:ext uri="{FF2B5EF4-FFF2-40B4-BE49-F238E27FC236}">
                <a16:creationId xmlns:a16="http://schemas.microsoft.com/office/drawing/2014/main" id="{7F592C1F-7421-A3C7-9ACD-F64B83D1AD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51" t="18438" r="52743" b="11293"/>
          <a:stretch/>
        </p:blipFill>
        <p:spPr bwMode="auto">
          <a:xfrm>
            <a:off x="9791892" y="154782"/>
            <a:ext cx="1845054" cy="160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CA76B97-E3F4-39E8-8C70-449B1EC26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4653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La gestion des Button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Pour le moment, créez juste leurs signatures (ainsi qu’un </a:t>
            </a:r>
            <a:r>
              <a:rPr lang="fr-FR" sz="22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("…")</a:t>
            </a:r>
            <a:r>
              <a:rPr lang="fr-FR" sz="2400" dirty="0"/>
              <a:t> pour les distinguer.</a:t>
            </a:r>
          </a:p>
          <a:p>
            <a:pPr marL="0" indent="0">
              <a:buNone/>
            </a:pPr>
            <a:r>
              <a:rPr lang="fr-FR" sz="2400" dirty="0"/>
              <a:t>Attention, pour que la vue puisse les appeler, il faut que ces méthodes soient préfixées par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@FXML</a:t>
            </a:r>
            <a:r>
              <a:rPr lang="fr-FR" sz="2400" dirty="0"/>
              <a:t>.</a:t>
            </a:r>
            <a:endParaRPr lang="fr-BE" sz="2400" dirty="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9" name="Picture 2" descr="Puce contrôleur COACh® AT | Site officiel Elo®">
            <a:extLst>
              <a:ext uri="{FF2B5EF4-FFF2-40B4-BE49-F238E27FC236}">
                <a16:creationId xmlns:a16="http://schemas.microsoft.com/office/drawing/2014/main" id="{D5D500A9-C051-A9A0-B947-852F4BF4BC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51" t="18438" r="52743" b="11293"/>
          <a:stretch/>
        </p:blipFill>
        <p:spPr bwMode="auto">
          <a:xfrm>
            <a:off x="9791892" y="154782"/>
            <a:ext cx="1845054" cy="160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DD180F17-6C73-6D29-4315-CDD1D328CC42}"/>
              </a:ext>
            </a:extLst>
          </p:cNvPr>
          <p:cNvSpPr txBox="1"/>
          <p:nvPr/>
        </p:nvSpPr>
        <p:spPr>
          <a:xfrm>
            <a:off x="4255494" y="3027015"/>
            <a:ext cx="6345077" cy="353943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Controller 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@FXML</a:t>
            </a:r>
            <a:b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@FXML</a:t>
            </a:r>
            <a:b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processNumber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ActionEvent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1600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sz="16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@FXML</a:t>
            </a:r>
            <a:b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processOperator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ActionEvent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1600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sz="1600" dirty="0" err="1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Operator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5" name="Groupe 4">
            <a:extLst>
              <a:ext uri="{FF2B5EF4-FFF2-40B4-BE49-F238E27FC236}">
                <a16:creationId xmlns:a16="http://schemas.microsoft.com/office/drawing/2014/main" id="{FFB29C2B-F80F-7C4B-BA48-8D6B21532EAA}"/>
              </a:ext>
            </a:extLst>
          </p:cNvPr>
          <p:cNvGrpSpPr/>
          <p:nvPr/>
        </p:nvGrpSpPr>
        <p:grpSpPr>
          <a:xfrm>
            <a:off x="6201969" y="5997818"/>
            <a:ext cx="5036162" cy="781037"/>
            <a:chOff x="3742548" y="5924245"/>
            <a:chExt cx="5036162" cy="781037"/>
          </a:xfrm>
        </p:grpSpPr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117D6483-58F0-154B-8620-E7B2B8899F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4281" y="5924245"/>
              <a:ext cx="3694429" cy="781037"/>
            </a:xfrm>
            <a:prstGeom prst="rect">
              <a:avLst/>
            </a:prstGeom>
          </p:spPr>
        </p:pic>
        <p:cxnSp>
          <p:nvCxnSpPr>
            <p:cNvPr id="11" name="Connecteur droit avec flèche 10">
              <a:extLst>
                <a:ext uri="{FF2B5EF4-FFF2-40B4-BE49-F238E27FC236}">
                  <a16:creationId xmlns:a16="http://schemas.microsoft.com/office/drawing/2014/main" id="{A1A89579-2650-564A-97A7-53E483B3A04D}"/>
                </a:ext>
              </a:extLst>
            </p:cNvPr>
            <p:cNvCxnSpPr>
              <a:cxnSpLocks/>
            </p:cNvCxnSpPr>
            <p:nvPr/>
          </p:nvCxnSpPr>
          <p:spPr>
            <a:xfrm>
              <a:off x="4094888" y="6363556"/>
              <a:ext cx="2423532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ZoneTexte 2">
              <a:extLst>
                <a:ext uri="{FF2B5EF4-FFF2-40B4-BE49-F238E27FC236}">
                  <a16:creationId xmlns:a16="http://schemas.microsoft.com/office/drawing/2014/main" id="{FED392E5-CA3D-1B44-A3C7-654F5BEC8943}"/>
                </a:ext>
              </a:extLst>
            </p:cNvPr>
            <p:cNvSpPr txBox="1"/>
            <p:nvPr/>
          </p:nvSpPr>
          <p:spPr>
            <a:xfrm>
              <a:off x="3742548" y="6119559"/>
              <a:ext cx="3642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400" b="1" dirty="0">
                  <a:solidFill>
                    <a:schemeClr val="accent2"/>
                  </a:solidFill>
                </a:rPr>
                <a:t>!!</a:t>
              </a:r>
              <a:endParaRPr lang="fr-FR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59CBF1-890A-72CF-087F-6AF3F20BA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730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808B4344-6FB2-FEA4-F2E2-7E8ADBE96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Du coup, dans la vue, nous pouvons maintenant indiquer aux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dirty="0"/>
              <a:t> quelle méthode traite leur action.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La gestion des Button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664DC022-91CC-5D41-8A64-70997F48ACB8}"/>
              </a:ext>
            </a:extLst>
          </p:cNvPr>
          <p:cNvSpPr txBox="1">
            <a:spLocks/>
          </p:cNvSpPr>
          <p:nvPr/>
        </p:nvSpPr>
        <p:spPr>
          <a:xfrm>
            <a:off x="2391508" y="2827911"/>
            <a:ext cx="7277958" cy="11835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</a:pPr>
            <a:r>
              <a:rPr lang="fr-BE" sz="18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BE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BE" sz="1800" dirty="0">
                <a:latin typeface="Consolas" panose="020B0609020204030204" pitchFamily="49" charset="0"/>
                <a:cs typeface="Consolas" panose="020B0609020204030204" pitchFamily="49" charset="0"/>
              </a:rPr>
              <a:t>="9" . . . </a:t>
            </a:r>
            <a:r>
              <a:rPr lang="fr-BE" sz="18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onAction</a:t>
            </a:r>
            <a:r>
              <a:rPr lang="fr-BE" sz="18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 "#</a:t>
            </a:r>
            <a:r>
              <a:rPr lang="fr-BE" sz="18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processNumber</a:t>
            </a:r>
            <a:r>
              <a:rPr lang="fr-BE" sz="18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sz="1800" dirty="0">
                <a:latin typeface="Consolas" panose="020B0609020204030204" pitchFamily="49" charset="0"/>
                <a:cs typeface="Consolas" panose="020B0609020204030204" pitchFamily="49" charset="0"/>
              </a:rPr>
              <a:t> /&gt;</a:t>
            </a:r>
          </a:p>
          <a:p>
            <a:pPr>
              <a:lnSpc>
                <a:spcPct val="140000"/>
              </a:lnSpc>
            </a:pPr>
            <a:br>
              <a:rPr lang="fr-BE" sz="9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8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BE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BE" sz="1800" dirty="0">
                <a:latin typeface="Consolas" panose="020B0609020204030204" pitchFamily="49" charset="0"/>
                <a:cs typeface="Consolas" panose="020B0609020204030204" pitchFamily="49" charset="0"/>
              </a:rPr>
              <a:t>=":" . . . </a:t>
            </a:r>
            <a:r>
              <a:rPr lang="fr-BE" sz="18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onAction</a:t>
            </a:r>
            <a:r>
              <a:rPr lang="fr-BE" sz="18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="#</a:t>
            </a:r>
            <a:r>
              <a:rPr lang="fr-BE" sz="18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processOperator</a:t>
            </a:r>
            <a:r>
              <a:rPr lang="fr-BE" sz="18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fr-BE" sz="1800" dirty="0">
                <a:latin typeface="Consolas" panose="020B0609020204030204" pitchFamily="49" charset="0"/>
                <a:cs typeface="Consolas" panose="020B0609020204030204" pitchFamily="49" charset="0"/>
              </a:rPr>
              <a:t> /&gt;</a:t>
            </a:r>
          </a:p>
          <a:p>
            <a:pPr>
              <a:lnSpc>
                <a:spcPct val="140000"/>
              </a:lnSpc>
            </a:pPr>
            <a:endParaRPr lang="fr-BE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Espace réservé du contenu 3">
            <a:extLst>
              <a:ext uri="{FF2B5EF4-FFF2-40B4-BE49-F238E27FC236}">
                <a16:creationId xmlns:a16="http://schemas.microsoft.com/office/drawing/2014/main" id="{7B4FD1E9-C556-0412-0DD5-216D506BAC93}"/>
              </a:ext>
            </a:extLst>
          </p:cNvPr>
          <p:cNvSpPr txBox="1">
            <a:spLocks/>
          </p:cNvSpPr>
          <p:nvPr/>
        </p:nvSpPr>
        <p:spPr>
          <a:xfrm>
            <a:off x="990600" y="4304713"/>
            <a:ext cx="10515600" cy="202464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fr-FR" i="1" dirty="0"/>
              <a:t>Attention à ne pas oublier le </a:t>
            </a:r>
            <a:r>
              <a:rPr lang="fr-FR" sz="2400" i="1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fr-FR" i="1" dirty="0"/>
              <a:t> devant le nom des méthodes.</a:t>
            </a:r>
            <a:endParaRPr lang="fr-F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Vous pouvez maintenant tester votre calculatrice… </a:t>
            </a:r>
            <a:br>
              <a:rPr lang="fr-FR" dirty="0"/>
            </a:br>
            <a:r>
              <a:rPr lang="fr-FR" dirty="0"/>
              <a:t>Elle marche! </a:t>
            </a:r>
            <a:r>
              <a:rPr lang="fr-FR" i="1" dirty="0"/>
              <a:t>(enfin, y’a plus qu’à programmer les deux méthodes)</a:t>
            </a:r>
            <a:r>
              <a:rPr lang="fr-FR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FR" dirty="0"/>
              <a:t>Peut-être un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FR" dirty="0"/>
              <a:t> à aligner…</a:t>
            </a:r>
            <a:endParaRPr lang="fr-BE" dirty="0"/>
          </a:p>
        </p:txBody>
      </p:sp>
      <p:pic>
        <p:nvPicPr>
          <p:cNvPr id="12" name="Picture 2" descr="Puce contrôleur COACh® AT | Site officiel Elo®">
            <a:extLst>
              <a:ext uri="{FF2B5EF4-FFF2-40B4-BE49-F238E27FC236}">
                <a16:creationId xmlns:a16="http://schemas.microsoft.com/office/drawing/2014/main" id="{A9B97C8C-B859-B2C4-D22D-5F538A53FC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51" t="18438" r="52743" b="11293"/>
          <a:stretch/>
        </p:blipFill>
        <p:spPr bwMode="auto">
          <a:xfrm>
            <a:off x="9791892" y="154782"/>
            <a:ext cx="1845054" cy="160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C5DF3E5-42C3-5537-5511-5C4B64206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59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5740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8083338-EEB6-404F-A322-058CC4B30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La logique derrière les Boutons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23D639-618D-9C49-80B5-0C7AD222793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348" b="95761" l="404" r="97241">
                        <a14:foregroundMark x1="1884" y1="5000" x2="6460" y2="14348"/>
                        <a14:foregroundMark x1="6460" y1="14348" x2="2221" y2="5000"/>
                        <a14:foregroundMark x1="2221" y1="5000" x2="1952" y2="4891"/>
                        <a14:foregroundMark x1="9017" y1="8478" x2="7672" y2="7500"/>
                        <a14:foregroundMark x1="8950" y1="14457" x2="23822" y2="15870"/>
                        <a14:foregroundMark x1="23822" y1="15870" x2="21871" y2="24565"/>
                        <a14:foregroundMark x1="46770" y1="4674" x2="42328" y2="4674"/>
                        <a14:foregroundMark x1="6931" y1="4348" x2="7268" y2="6848"/>
                        <a14:foregroundMark x1="26851" y1="14348" x2="21467" y2="14891"/>
                        <a14:foregroundMark x1="9892" y1="49130" x2="20054" y2="44130"/>
                        <a14:foregroundMark x1="20054" y1="44130" x2="27927" y2="44783"/>
                        <a14:foregroundMark x1="27927" y1="44783" x2="30754" y2="40978"/>
                        <a14:foregroundMark x1="8883" y1="45435" x2="13594" y2="44348"/>
                        <a14:foregroundMark x1="538" y1="68913" x2="2557" y2="72717"/>
                        <a14:foregroundMark x1="13728" y1="76087" x2="29341" y2="73696"/>
                        <a14:foregroundMark x1="538" y1="94457" x2="7335" y2="90652"/>
                        <a14:foregroundMark x1="7335" y1="90652" x2="14805" y2="90109"/>
                        <a14:foregroundMark x1="14805" y1="90109" x2="16756" y2="83043"/>
                        <a14:foregroundMark x1="3096" y1="95000" x2="10767" y2="95000"/>
                        <a14:foregroundMark x1="10767" y1="95000" x2="17631" y2="88696"/>
                        <a14:foregroundMark x1="17631" y1="88696" x2="17631" y2="88587"/>
                        <a14:foregroundMark x1="52153" y1="63804" x2="53432" y2="39891"/>
                        <a14:foregroundMark x1="53432" y1="39891" x2="63997" y2="39565"/>
                        <a14:foregroundMark x1="63997" y1="39565" x2="66622" y2="51087"/>
                        <a14:foregroundMark x1="66622" y1="51087" x2="65814" y2="62826"/>
                        <a14:foregroundMark x1="65814" y1="62826" x2="65478" y2="63043"/>
                        <a14:foregroundMark x1="52221" y1="5435" x2="57672" y2="12935"/>
                        <a14:foregroundMark x1="64187" y1="17303" x2="64805" y2="17717"/>
                        <a14:foregroundMark x1="64805" y1="17717" x2="66353" y2="53370"/>
                        <a14:foregroundMark x1="66353" y1="53370" x2="52490" y2="54130"/>
                        <a14:foregroundMark x1="52490" y1="6522" x2="52288" y2="18152"/>
                        <a14:foregroundMark x1="52288" y1="18152" x2="54240" y2="29457"/>
                        <a14:foregroundMark x1="54240" y1="29457" x2="53163" y2="38696"/>
                        <a14:foregroundMark x1="70727" y1="17500" x2="65747" y2="30326"/>
                        <a14:foregroundMark x1="65747" y1="30326" x2="65007" y2="43043"/>
                        <a14:foregroundMark x1="65007" y1="43043" x2="67429" y2="58152"/>
                        <a14:foregroundMark x1="67429" y1="58152" x2="79812" y2="48696"/>
                        <a14:foregroundMark x1="79812" y1="48696" x2="84320" y2="35978"/>
                        <a14:foregroundMark x1="84320" y1="35978" x2="83042" y2="24130"/>
                        <a14:foregroundMark x1="83042" y1="24130" x2="83782" y2="10326"/>
                        <a14:foregroundMark x1="83782" y1="10326" x2="75437" y2="16304"/>
                        <a14:foregroundMark x1="75437" y1="16304" x2="75168" y2="16630"/>
                        <a14:foregroundMark x1="52557" y1="5652" x2="53567" y2="6304"/>
                        <a14:foregroundMark x1="56662" y1="4891" x2="56258" y2="7500"/>
                        <a14:foregroundMark x1="95828" y1="4891" x2="88694" y2="5326"/>
                        <a14:foregroundMark x1="88694" y1="5326" x2="84186" y2="17826"/>
                        <a14:foregroundMark x1="84186" y1="17826" x2="82773" y2="30326"/>
                        <a14:foregroundMark x1="82773" y1="30326" x2="85061" y2="43043"/>
                        <a14:foregroundMark x1="85061" y1="43043" x2="93136" y2="44239"/>
                        <a14:foregroundMark x1="93136" y1="44239" x2="96972" y2="37391"/>
                        <a14:foregroundMark x1="97241" y1="95761" x2="81696" y2="91739"/>
                        <a14:foregroundMark x1="81696" y1="91739" x2="74024" y2="73696"/>
                        <a14:foregroundMark x1="74024" y1="73696" x2="71871" y2="62500"/>
                        <a14:foregroundMark x1="71871" y1="62500" x2="75168" y2="50761"/>
                        <a14:foregroundMark x1="75168" y1="50761" x2="82503" y2="44891"/>
                        <a14:foregroundMark x1="82503" y1="44891" x2="90579" y2="43913"/>
                        <a14:foregroundMark x1="90579" y1="43913" x2="96635" y2="50109"/>
                        <a14:foregroundMark x1="96434" y1="69457" x2="96366" y2="75978"/>
                        <a14:foregroundMark x1="96635" y1="50109" x2="96467" y2="66226"/>
                        <a14:backgroundMark x1="58883" y1="13261" x2="63459" y2="16087"/>
                        <a14:backgroundMark x1="63930" y1="16630" x2="62517" y2="16522"/>
                        <a14:backgroundMark x1="58748" y1="13370" x2="58614" y2="14348"/>
                        <a14:backgroundMark x1="95491" y1="67717" x2="97174" y2="6793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9653" y="2108415"/>
            <a:ext cx="6693313" cy="4143908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EE715BA-B8B4-CF96-182A-FB26A2E31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88297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La gestion des Button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208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dirty="0"/>
              <a:t>La première chose à faire, dans les deux méthodes, c’est de savoir sur quel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dirty="0"/>
              <a:t> l’utilisateur a cliqué…</a:t>
            </a:r>
            <a:endParaRPr lang="fr-BE" sz="2800" dirty="0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664DC022-91CC-5D41-8A64-70997F48ACB8}"/>
              </a:ext>
            </a:extLst>
          </p:cNvPr>
          <p:cNvSpPr txBox="1">
            <a:spLocks/>
          </p:cNvSpPr>
          <p:nvPr/>
        </p:nvSpPr>
        <p:spPr>
          <a:xfrm>
            <a:off x="2920181" y="2782448"/>
            <a:ext cx="6412078" cy="5917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800" b="1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40000"/>
              </a:lnSpc>
            </a:pPr>
            <a:r>
              <a:rPr lang="fr-BE" sz="1800" dirty="0">
                <a:latin typeface="Consolas" panose="020B0609020204030204" pitchFamily="49" charset="0"/>
                <a:cs typeface="Consolas" panose="020B0609020204030204" pitchFamily="49" charset="0"/>
              </a:rPr>
              <a:t>String val = ((</a:t>
            </a:r>
            <a:r>
              <a:rPr lang="fr-BE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BE" sz="18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event.getSource</a:t>
            </a:r>
            <a:r>
              <a:rPr lang="fr-BE" sz="1800" dirty="0">
                <a:latin typeface="Consolas" panose="020B0609020204030204" pitchFamily="49" charset="0"/>
                <a:cs typeface="Consolas" panose="020B0609020204030204" pitchFamily="49" charset="0"/>
              </a:rPr>
              <a:t>()).</a:t>
            </a:r>
            <a:r>
              <a:rPr lang="fr-BE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getText</a:t>
            </a:r>
            <a:r>
              <a:rPr lang="fr-BE" sz="18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5" name="Flèche vers le bas 4">
            <a:extLst>
              <a:ext uri="{FF2B5EF4-FFF2-40B4-BE49-F238E27FC236}">
                <a16:creationId xmlns:a16="http://schemas.microsoft.com/office/drawing/2014/main" id="{02FA564D-4CDF-7C49-A9D0-163645287D25}"/>
              </a:ext>
            </a:extLst>
          </p:cNvPr>
          <p:cNvSpPr/>
          <p:nvPr/>
        </p:nvSpPr>
        <p:spPr>
          <a:xfrm rot="10800000">
            <a:off x="6793230" y="3205390"/>
            <a:ext cx="125730" cy="297180"/>
          </a:xfrm>
          <a:prstGeom prst="downArrow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 vers le bas 7">
            <a:extLst>
              <a:ext uri="{FF2B5EF4-FFF2-40B4-BE49-F238E27FC236}">
                <a16:creationId xmlns:a16="http://schemas.microsoft.com/office/drawing/2014/main" id="{C6ED39FB-D7FF-1D4B-BFC0-B051A7FD2BCF}"/>
              </a:ext>
            </a:extLst>
          </p:cNvPr>
          <p:cNvSpPr/>
          <p:nvPr/>
        </p:nvSpPr>
        <p:spPr>
          <a:xfrm rot="10800000">
            <a:off x="5078730" y="3205390"/>
            <a:ext cx="125730" cy="297180"/>
          </a:xfrm>
          <a:prstGeom prst="downArrow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èche vers le bas 8">
            <a:extLst>
              <a:ext uri="{FF2B5EF4-FFF2-40B4-BE49-F238E27FC236}">
                <a16:creationId xmlns:a16="http://schemas.microsoft.com/office/drawing/2014/main" id="{230AF46D-B014-2D41-9A00-5FE6AA3497AD}"/>
              </a:ext>
            </a:extLst>
          </p:cNvPr>
          <p:cNvSpPr/>
          <p:nvPr/>
        </p:nvSpPr>
        <p:spPr>
          <a:xfrm rot="10800000">
            <a:off x="8199120" y="3205390"/>
            <a:ext cx="125730" cy="297180"/>
          </a:xfrm>
          <a:prstGeom prst="downArrow">
            <a:avLst/>
          </a:prstGeom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10D7496-E6C7-237F-1F87-BBD3D61CF7B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348" b="95761" l="789" r="100000">
                        <a14:foregroundMark x1="3684" y1="5000" x2="12632" y2="14348"/>
                        <a14:foregroundMark x1="12632" y1="14348" x2="4342" y2="5000"/>
                        <a14:foregroundMark x1="4342" y1="5000" x2="3816" y2="4891"/>
                        <a14:foregroundMark x1="17632" y1="8478" x2="15000" y2="7500"/>
                        <a14:foregroundMark x1="17500" y1="14457" x2="46579" y2="15870"/>
                        <a14:foregroundMark x1="46579" y1="15870" x2="42763" y2="24565"/>
                        <a14:foregroundMark x1="91447" y1="4674" x2="82763" y2="4674"/>
                        <a14:foregroundMark x1="13553" y1="4348" x2="14211" y2="6848"/>
                        <a14:foregroundMark x1="52500" y1="14348" x2="41974" y2="14891"/>
                        <a14:foregroundMark x1="19342" y1="49130" x2="39211" y2="44130"/>
                        <a14:foregroundMark x1="39211" y1="44130" x2="54605" y2="44783"/>
                        <a14:foregroundMark x1="54605" y1="44783" x2="60132" y2="40978"/>
                        <a14:foregroundMark x1="17368" y1="45435" x2="26579" y2="44348"/>
                        <a14:foregroundMark x1="1053" y1="68913" x2="5000" y2="72717"/>
                        <a14:foregroundMark x1="26842" y1="76087" x2="57368" y2="73696"/>
                        <a14:foregroundMark x1="1053" y1="94457" x2="14342" y2="90652"/>
                        <a14:foregroundMark x1="14342" y1="90652" x2="28947" y2="90109"/>
                        <a14:foregroundMark x1="28947" y1="90109" x2="32763" y2="83043"/>
                        <a14:foregroundMark x1="6053" y1="95000" x2="21053" y2="95000"/>
                        <a14:foregroundMark x1="21053" y1="95000" x2="34474" y2="88696"/>
                        <a14:foregroundMark x1="34474" y1="88696" x2="34474" y2="8858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42713" y="190431"/>
            <a:ext cx="1263222" cy="1528224"/>
          </a:xfrm>
          <a:prstGeom prst="rect">
            <a:avLst/>
          </a:prstGeom>
        </p:spPr>
      </p:pic>
      <p:sp>
        <p:nvSpPr>
          <p:cNvPr id="15" name="Espace réservé du contenu 3">
            <a:extLst>
              <a:ext uri="{FF2B5EF4-FFF2-40B4-BE49-F238E27FC236}">
                <a16:creationId xmlns:a16="http://schemas.microsoft.com/office/drawing/2014/main" id="{8C212A28-03BF-E3CB-34A6-380C42EF743E}"/>
              </a:ext>
            </a:extLst>
          </p:cNvPr>
          <p:cNvSpPr txBox="1">
            <a:spLocks/>
          </p:cNvSpPr>
          <p:nvPr/>
        </p:nvSpPr>
        <p:spPr>
          <a:xfrm>
            <a:off x="843460" y="3732573"/>
            <a:ext cx="10515600" cy="26318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Corbel" panose="020B0503020204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fr-FR" dirty="0"/>
              <a:t> a une méthode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getSource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dirty="0"/>
              <a:t> qui donne la source de l’événement (sous forme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d’Object</a:t>
            </a:r>
            <a:r>
              <a:rPr lang="fr-FR" dirty="0"/>
              <a:t>).</a:t>
            </a:r>
          </a:p>
          <a:p>
            <a:pPr marL="0" indent="0">
              <a:buNone/>
            </a:pPr>
            <a:r>
              <a:rPr lang="fr-FR" dirty="0"/>
              <a:t>On le caste vers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dirty="0"/>
              <a:t>, </a:t>
            </a:r>
          </a:p>
          <a:p>
            <a:pPr marL="0" indent="-182880">
              <a:spcBef>
                <a:spcPts val="0"/>
              </a:spcBef>
              <a:buNone/>
            </a:pPr>
            <a:r>
              <a:rPr lang="fr-FR" dirty="0"/>
              <a:t>puis on utilise la méthode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getText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dirty="0"/>
              <a:t> du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dirty="0"/>
              <a:t> pour connaître le texte affiché sur le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dirty="0"/>
              <a:t>.</a:t>
            </a:r>
            <a:endParaRPr lang="fr-BE" dirty="0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76553CC-BFC0-B5BA-CC8E-2C35ECEEE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0840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2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35" dur="indefinite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48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 animBg="1"/>
      <p:bldP spid="5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boutons numériques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Pour les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dirty="0"/>
              <a:t> dont le texte est un </a:t>
            </a:r>
            <a:r>
              <a:rPr lang="fr-FR" dirty="0">
                <a:solidFill>
                  <a:schemeClr val="accent4"/>
                </a:solidFill>
              </a:rPr>
              <a:t>chiffre</a:t>
            </a:r>
            <a:r>
              <a:rPr lang="fr-FR" dirty="0"/>
              <a:t>, le comportement est assez simple: le contrôleur doit modifier la vue, via la variable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  <a:r>
              <a:rPr lang="fr-FR" dirty="0"/>
              <a:t>…</a:t>
            </a:r>
          </a:p>
          <a:p>
            <a:pPr marL="800100" lvl="1" indent="-342900"/>
            <a:r>
              <a:rPr lang="fr-FR" dirty="0"/>
              <a:t>Si le output contient un ‘0’, on remplace le ‘0’ par le texte du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dirty="0"/>
              <a:t> enfoncé.</a:t>
            </a:r>
          </a:p>
          <a:p>
            <a:pPr marL="800100" lvl="1" indent="-342900"/>
            <a:r>
              <a:rPr lang="fr-FR" dirty="0"/>
              <a:t>Si output ne contient pas ‘0’, on peut y accoler le texte du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dirty="0"/>
              <a:t> (si la calculatrice affiche "56" et qu’on </a:t>
            </a:r>
            <a:r>
              <a:rPr lang="fr-FR" dirty="0" err="1"/>
              <a:t>appuye</a:t>
            </a:r>
            <a:r>
              <a:rPr lang="fr-FR" dirty="0"/>
              <a:t> sur "</a:t>
            </a:r>
            <a:r>
              <a:rPr lang="fr-FR" b="1" dirty="0">
                <a:solidFill>
                  <a:schemeClr val="accent2"/>
                </a:solidFill>
              </a:rPr>
              <a:t>2</a:t>
            </a:r>
            <a:r>
              <a:rPr lang="fr-FR" dirty="0"/>
              <a:t>", il faut qu’elle affiche "56</a:t>
            </a:r>
            <a:r>
              <a:rPr lang="fr-FR" b="1" dirty="0">
                <a:solidFill>
                  <a:schemeClr val="accent2"/>
                </a:solidFill>
              </a:rPr>
              <a:t>2</a:t>
            </a:r>
            <a:r>
              <a:rPr lang="fr-FR" dirty="0"/>
              <a:t>").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/>
              <a:t>Pour info,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  <a:r>
              <a:rPr lang="fr-FR" dirty="0"/>
              <a:t> , de type </a:t>
            </a:r>
            <a:r>
              <a:rPr lang="fr-FR" sz="2600" dirty="0" err="1">
                <a:solidFill>
                  <a:schemeClr val="accent4"/>
                </a:solidFill>
              </a:rPr>
              <a:t>Text</a:t>
            </a:r>
            <a:r>
              <a:rPr lang="fr-FR" dirty="0"/>
              <a:t>, présente les méthodes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getText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dirty="0"/>
              <a:t> et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setText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(String)</a:t>
            </a:r>
            <a:r>
              <a:rPr lang="fr-FR" dirty="0"/>
              <a:t>.</a:t>
            </a:r>
          </a:p>
          <a:p>
            <a:pPr marL="0" indent="0">
              <a:buNone/>
            </a:pPr>
            <a:r>
              <a:rPr lang="fr-FR" dirty="0"/>
              <a:t>Complétez la méthode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processNumber</a:t>
            </a:r>
            <a:r>
              <a:rPr lang="fr-FR" dirty="0"/>
              <a:t>.</a:t>
            </a:r>
            <a:endParaRPr lang="fr-BE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B2C73A64-F323-904D-BC89-49E22977706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825" b="92544" l="2620" r="91266">
                        <a14:foregroundMark x1="29258" y1="8772" x2="58952" y2="22368"/>
                        <a14:foregroundMark x1="58952" y1="22368" x2="89520" y2="17982"/>
                        <a14:foregroundMark x1="89520" y1="17982" x2="60699" y2="7895"/>
                        <a14:foregroundMark x1="60699" y1="7895" x2="31004" y2="7895"/>
                        <a14:foregroundMark x1="71616" y1="52193" x2="89520" y2="78947"/>
                        <a14:foregroundMark x1="89520" y1="78947" x2="57642" y2="89474"/>
                        <a14:foregroundMark x1="57642" y1="89474" x2="24017" y2="90351"/>
                        <a14:foregroundMark x1="24017" y1="90351" x2="46288" y2="65789"/>
                        <a14:foregroundMark x1="46288" y1="65789" x2="69869" y2="57895"/>
                        <a14:foregroundMark x1="23581" y1="74561" x2="52838" y2="91667"/>
                        <a14:foregroundMark x1="52838" y1="91667" x2="83843" y2="91667"/>
                        <a14:foregroundMark x1="83843" y1="91667" x2="53712" y2="66228"/>
                        <a14:foregroundMark x1="53712" y1="66228" x2="24017" y2="73246"/>
                        <a14:foregroundMark x1="24017" y1="73246" x2="24017" y2="73684"/>
                        <a14:foregroundMark x1="24454" y1="85965" x2="13974" y2="75877"/>
                        <a14:foregroundMark x1="6987" y1="77632" x2="20524" y2="78509"/>
                        <a14:foregroundMark x1="31441" y1="93860" x2="4803" y2="77632"/>
                        <a14:foregroundMark x1="4803" y1="77632" x2="37118" y2="76754"/>
                        <a14:foregroundMark x1="37118" y1="76754" x2="32314" y2="92544"/>
                        <a14:foregroundMark x1="90393" y1="5702" x2="85590" y2="68860"/>
                        <a14:foregroundMark x1="85590" y1="68860" x2="61135" y2="42982"/>
                        <a14:foregroundMark x1="61135" y1="42982" x2="76419" y2="14912"/>
                        <a14:foregroundMark x1="76419" y1="14912" x2="82969" y2="12281"/>
                        <a14:foregroundMark x1="91703" y1="5263" x2="60262" y2="5702"/>
                        <a14:foregroundMark x1="60262" y1="5702" x2="37991" y2="32018"/>
                        <a14:foregroundMark x1="37991" y1="32018" x2="53712" y2="65351"/>
                        <a14:foregroundMark x1="53712" y1="65351" x2="81659" y2="48684"/>
                        <a14:foregroundMark x1="81659" y1="48684" x2="87773" y2="19298"/>
                        <a14:foregroundMark x1="2620" y1="73246" x2="4803" y2="736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89808" y="203217"/>
            <a:ext cx="1448118" cy="1439845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C9306CD-1F76-4B8A-E070-BF9DF4286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204396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boutons des opérations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Pour les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dirty="0"/>
              <a:t> dont le texte est un </a:t>
            </a:r>
            <a:r>
              <a:rPr lang="fr-FR" dirty="0">
                <a:solidFill>
                  <a:schemeClr val="accent4"/>
                </a:solidFill>
              </a:rPr>
              <a:t>opérateur</a:t>
            </a:r>
            <a:r>
              <a:rPr lang="fr-FR" dirty="0"/>
              <a:t>, le comportement est différent: il ne suffit plus de modifier la vue.</a:t>
            </a:r>
          </a:p>
          <a:p>
            <a:pPr marL="0" indent="0">
              <a:buNone/>
            </a:pPr>
            <a:r>
              <a:rPr lang="fr-FR" dirty="0"/>
              <a:t>Avant d’écrire le code de la méthode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processOperator</a:t>
            </a:r>
            <a:r>
              <a:rPr lang="fr-FR" dirty="0"/>
              <a:t>,  nous allons devoir nous pencher sur le </a:t>
            </a:r>
            <a:r>
              <a:rPr lang="fr-FR" dirty="0">
                <a:solidFill>
                  <a:schemeClr val="accent4"/>
                </a:solidFill>
              </a:rPr>
              <a:t>modèle</a:t>
            </a:r>
            <a:r>
              <a:rPr lang="fr-FR" dirty="0"/>
              <a:t> de la calculatrice.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Prenez quelques minutes pour réfléchir à la manière dont vous programmeriez une calculatrice sans interface graphique. </a:t>
            </a:r>
          </a:p>
          <a:p>
            <a:pPr lvl="1"/>
            <a:r>
              <a:rPr lang="fr-FR" dirty="0"/>
              <a:t>Que peut faire votre programme?</a:t>
            </a:r>
          </a:p>
          <a:p>
            <a:pPr lvl="1"/>
            <a:r>
              <a:rPr lang="fr-FR" dirty="0"/>
              <a:t>Quelles seraient vos variables?</a:t>
            </a:r>
          </a:p>
          <a:p>
            <a:pPr lvl="1"/>
            <a:r>
              <a:rPr lang="fr-FR" dirty="0"/>
              <a:t>De quel type seraient-elles?</a:t>
            </a:r>
            <a:endParaRPr lang="fr-BE" dirty="0"/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FR" dirty="0" err="1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4A2D003-CD75-1646-BB37-9CAB6FA90F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632" b="90351" l="8649" r="92432">
                        <a14:foregroundMark x1="8649" y1="3070" x2="10811" y2="74123"/>
                        <a14:foregroundMark x1="10811" y1="74123" x2="38378" y2="89912"/>
                        <a14:foregroundMark x1="90811" y1="90789" x2="10270" y2="89912"/>
                        <a14:foregroundMark x1="85946" y1="3070" x2="12973" y2="6140"/>
                        <a14:foregroundMark x1="88649" y1="7018" x2="87568" y2="74561"/>
                        <a14:foregroundMark x1="87568" y1="74561" x2="90811" y2="80263"/>
                        <a14:foregroundMark x1="92432" y1="88596" x2="89189" y2="736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9230" y="247978"/>
            <a:ext cx="1169206" cy="1432690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AA93BC8-CC74-6711-E48A-8A951551F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56651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JavaFX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Introduction</a:t>
            </a:r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Configuration d’</a:t>
            </a:r>
            <a:r>
              <a:rPr lang="fr-FR" dirty="0" err="1"/>
              <a:t>IntelliJ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Premier projet en </a:t>
            </a:r>
            <a:r>
              <a:rPr lang="fr-FR" dirty="0" err="1"/>
              <a:t>JavaFX</a:t>
            </a:r>
            <a:endParaRPr lang="fr-FR" dirty="0"/>
          </a:p>
          <a:p>
            <a:pPr marL="342900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Une calculatrice</a:t>
            </a: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La Vue</a:t>
            </a: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dirty="0"/>
              <a:t>Le Contrôleur</a:t>
            </a:r>
          </a:p>
          <a:p>
            <a:pPr marL="800100" lvl="1" indent="-342900">
              <a:lnSpc>
                <a:spcPct val="80000"/>
              </a:lnSpc>
              <a:buFont typeface="Arial"/>
              <a:buChar char="•"/>
            </a:pPr>
            <a:r>
              <a:rPr lang="fr-FR" dirty="0">
                <a:solidFill>
                  <a:schemeClr val="accent4"/>
                </a:solidFill>
              </a:rPr>
              <a:t>Le Modèle</a:t>
            </a:r>
            <a:br>
              <a:rPr lang="fr-FR" dirty="0"/>
            </a:b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20172A-DE8D-1D3B-0DA7-851E2F6971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5266406"/>
      </p:ext>
    </p:extLst>
  </p:cSld>
  <p:clrMapOvr>
    <a:masterClrMapping/>
  </p:clrMapOvr>
  <p:transition>
    <p:push dir="u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551505-487B-5E4C-9E6C-56BCC8CE2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3. Le Modèle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E440336-805D-69EE-5969-277559C09DD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04202" y="365127"/>
            <a:ext cx="2183596" cy="5963478"/>
          </a:xfrm>
          <a:prstGeom prst="rect">
            <a:avLst/>
          </a:prstGeom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266CCD4-60ED-6156-4D4D-9CD37D230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456710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Que peut faire notre modèle?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dirty="0"/>
              <a:t>Le modèle sera le cœur de notre calculatrice. </a:t>
            </a:r>
            <a:br>
              <a:rPr lang="fr-FR" dirty="0"/>
            </a:br>
            <a:endParaRPr lang="fr-FR" dirty="0"/>
          </a:p>
          <a:p>
            <a:r>
              <a:rPr lang="fr-FR" dirty="0"/>
              <a:t>Son rôle est de calculer. Il présentera donc une méthode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compute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dirty="0"/>
              <a:t>, qui </a:t>
            </a:r>
            <a:r>
              <a:rPr lang="fr-FR" dirty="0">
                <a:solidFill>
                  <a:schemeClr val="accent4"/>
                </a:solidFill>
              </a:rPr>
              <a:t>retourne un nombre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Les </a:t>
            </a:r>
            <a:r>
              <a:rPr lang="fr-FR" dirty="0">
                <a:solidFill>
                  <a:schemeClr val="accent4"/>
                </a:solidFill>
              </a:rPr>
              <a:t>paramètres</a:t>
            </a:r>
            <a:r>
              <a:rPr lang="fr-FR" dirty="0"/>
              <a:t> de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compute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dirty="0"/>
              <a:t> sont</a:t>
            </a:r>
          </a:p>
          <a:p>
            <a:pPr marL="342900" indent="-342900">
              <a:buFontTx/>
              <a:buChar char="-"/>
            </a:pPr>
            <a:r>
              <a:rPr lang="fr-FR" dirty="0">
                <a:solidFill>
                  <a:schemeClr val="accent4"/>
                </a:solidFill>
              </a:rPr>
              <a:t>Deux nombres </a:t>
            </a:r>
            <a:r>
              <a:rPr lang="fr-FR" dirty="0"/>
              <a:t>(pour simplifier on utilisera des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long</a:t>
            </a:r>
            <a:r>
              <a:rPr lang="fr-FR" dirty="0"/>
              <a:t>)</a:t>
            </a:r>
          </a:p>
          <a:p>
            <a:pPr marL="342900" indent="-342900">
              <a:buFontTx/>
              <a:buChar char="-"/>
            </a:pPr>
            <a:r>
              <a:rPr lang="fr-FR" dirty="0">
                <a:solidFill>
                  <a:schemeClr val="accent4"/>
                </a:solidFill>
              </a:rPr>
              <a:t>Un opérateur </a:t>
            </a:r>
            <a:r>
              <a:rPr lang="fr-FR" dirty="0"/>
              <a:t>(donné sous forme de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fr-FR" dirty="0"/>
              <a:t>)</a:t>
            </a:r>
          </a:p>
          <a:p>
            <a:endParaRPr lang="fr-FR" i="1" dirty="0"/>
          </a:p>
          <a:p>
            <a:r>
              <a:rPr lang="fr-FR" i="1" dirty="0"/>
              <a:t>Prenez 2 minutes pour réfléchir à la logique de </a:t>
            </a:r>
            <a:r>
              <a:rPr lang="fr-FR" sz="2600" i="1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compute</a:t>
            </a:r>
            <a:r>
              <a:rPr lang="fr-FR" sz="2600" i="1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i="1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i="1" dirty="0"/>
              <a:t>…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B96A892-0D39-D544-AFFB-A16860AFC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80660" y="365127"/>
            <a:ext cx="1773910" cy="12009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00C0656-935E-ED98-710F-B081FD01CD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835647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La méthode </a:t>
            </a:r>
            <a:r>
              <a:rPr lang="fr-FR" sz="4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calcule(n1, n2, op)</a:t>
            </a:r>
            <a:endParaRPr lang="fr-FR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/>
              <a:t>La logique de la méthode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compute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fr-FR" dirty="0"/>
              <a:t> sera assez simple:</a:t>
            </a:r>
          </a:p>
          <a:p>
            <a:pPr marL="0" indent="0">
              <a:buNone/>
            </a:pPr>
            <a:r>
              <a:rPr lang="fr-FR" dirty="0"/>
              <a:t>Elle reçoit deux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long</a:t>
            </a:r>
            <a:r>
              <a:rPr lang="fr-FR" dirty="0"/>
              <a:t> (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n1</a:t>
            </a:r>
            <a:r>
              <a:rPr lang="fr-FR" dirty="0"/>
              <a:t> et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n2</a:t>
            </a:r>
            <a:r>
              <a:rPr lang="fr-FR" dirty="0"/>
              <a:t>) et un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fr-FR" dirty="0"/>
              <a:t> (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</a:t>
            </a:r>
            <a:r>
              <a:rPr lang="fr-FR" dirty="0"/>
              <a:t>).</a:t>
            </a:r>
          </a:p>
          <a:p>
            <a:pPr marL="0" indent="0">
              <a:buNone/>
            </a:pPr>
            <a:r>
              <a:rPr lang="fr-FR" dirty="0"/>
              <a:t>Elle fait un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switch</a:t>
            </a:r>
            <a:r>
              <a:rPr lang="fr-FR" dirty="0"/>
              <a:t> sur l’opérateur.</a:t>
            </a:r>
          </a:p>
          <a:p>
            <a:pPr marL="457200" lvl="1" indent="0">
              <a:buNone/>
            </a:pPr>
            <a:r>
              <a:rPr lang="fr-FR" dirty="0"/>
              <a:t>Si l’opérateur est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"+"</a:t>
            </a:r>
            <a:r>
              <a:rPr lang="fr-FR" dirty="0"/>
              <a:t>, la méthode retourne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n1 + n2</a:t>
            </a:r>
          </a:p>
          <a:p>
            <a:pPr marL="457200" lvl="1" indent="0">
              <a:buNone/>
            </a:pPr>
            <a:r>
              <a:rPr lang="fr-FR" dirty="0"/>
              <a:t>Pour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"-"</a:t>
            </a:r>
            <a:r>
              <a:rPr lang="fr-FR" sz="1800" dirty="0"/>
              <a:t>, </a:t>
            </a:r>
            <a:r>
              <a:rPr lang="fr-FR" dirty="0"/>
              <a:t>la méthode retourne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n1 - n2</a:t>
            </a:r>
          </a:p>
          <a:p>
            <a:pPr marL="457200" lvl="1" indent="0">
              <a:buNone/>
            </a:pPr>
            <a:r>
              <a:rPr lang="fr-FR" dirty="0"/>
              <a:t>Pour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"x"</a:t>
            </a:r>
            <a:r>
              <a:rPr lang="fr-FR" dirty="0"/>
              <a:t>, elle retourne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n1 * n2</a:t>
            </a:r>
          </a:p>
          <a:p>
            <a:pPr marL="457200" lvl="1" indent="0">
              <a:buNone/>
            </a:pPr>
            <a:r>
              <a:rPr lang="fr-FR" dirty="0"/>
              <a:t>Pour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":"</a:t>
            </a:r>
            <a:r>
              <a:rPr lang="fr-FR" dirty="0"/>
              <a:t>, elle renvoie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n1 / n2</a:t>
            </a:r>
            <a:r>
              <a:rPr lang="fr-FR" dirty="0"/>
              <a:t>, mais en ayant d’abord vérifié si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n2</a:t>
            </a:r>
            <a:r>
              <a:rPr lang="fr-FR" dirty="0"/>
              <a:t> n’était pas égal à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FR" dirty="0"/>
              <a:t> (auquel cas elle renvoie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FR" dirty="0"/>
              <a:t>).</a:t>
            </a:r>
          </a:p>
          <a:p>
            <a:pPr marL="457200" lvl="1" indent="0">
              <a:buNone/>
            </a:pPr>
            <a:r>
              <a:rPr lang="fr-FR" dirty="0"/>
              <a:t>Sinon, elle sort une erreur à la console et renvoie </a:t>
            </a:r>
            <a:r>
              <a:rPr lang="fr-FR" sz="22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Implémentez la méthode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compute</a:t>
            </a:r>
            <a:r>
              <a:rPr lang="fr-FR" dirty="0"/>
              <a:t> dans la classe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Model</a:t>
            </a:r>
            <a:r>
              <a:rPr lang="fr-FR" dirty="0"/>
              <a:t>…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B0C03E7-42F5-A371-876D-A7762114A68E}"/>
              </a:ext>
            </a:extLst>
          </p:cNvPr>
          <p:cNvSpPr txBox="1"/>
          <p:nvPr/>
        </p:nvSpPr>
        <p:spPr>
          <a:xfrm>
            <a:off x="8606028" y="4638580"/>
            <a:ext cx="2747772" cy="923330"/>
          </a:xfrm>
          <a:prstGeom prst="wedgeRectCallout">
            <a:avLst>
              <a:gd name="adj1" fmla="val -32480"/>
              <a:gd name="adj2" fmla="val -61291"/>
            </a:avLst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fr-FR" dirty="0"/>
              <a:t>Pour simplifier, nous ne gérons pas correctement le cas de la division par 0.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574CB7E-0514-0CE5-C8FF-FC82A0E091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80660" y="365127"/>
            <a:ext cx="1773910" cy="12009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66956C3-616E-7768-78D5-56A8CE9D4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520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La méthode </a:t>
            </a:r>
            <a:r>
              <a:rPr lang="fr-FR" sz="4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calcule(n1, n2, op)</a:t>
            </a:r>
            <a:endParaRPr lang="fr-FR" dirty="0">
              <a:solidFill>
                <a:schemeClr val="accent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Ce qui donne: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FE05F8C-C37C-F696-1551-3447E398B47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80660" y="365127"/>
            <a:ext cx="1773910" cy="12009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498D337-DC38-7BDF-F8A8-2417C9E39A85}"/>
              </a:ext>
            </a:extLst>
          </p:cNvPr>
          <p:cNvSpPr txBox="1"/>
          <p:nvPr/>
        </p:nvSpPr>
        <p:spPr>
          <a:xfrm>
            <a:off x="3543300" y="1825625"/>
            <a:ext cx="7740396" cy="4278094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Model 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long </a:t>
            </a:r>
            <a:r>
              <a:rPr lang="fr-BE" sz="1600" dirty="0" err="1">
                <a:solidFill>
                  <a:srgbClr val="FFC66D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compute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long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n1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long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n2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operator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switch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operator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case 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"+"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n1 + n2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case 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"-"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n1 - n2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case 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"x"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n1 * n2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case 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"÷"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(n2 == </a:t>
            </a:r>
            <a:r>
              <a:rPr lang="fr-BE" sz="16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1600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"Erreur : division par 0"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    return </a:t>
            </a:r>
            <a:r>
              <a:rPr lang="fr-BE" sz="16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return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n1 / n2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default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System.</a:t>
            </a:r>
            <a:r>
              <a:rPr lang="fr-BE" sz="1600" i="1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.println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"Erreur : opérateur invalide"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        return </a:t>
            </a:r>
            <a:r>
              <a:rPr lang="fr-BE" sz="16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70B77F7-5E3B-8B41-4103-A72B73062D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7051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contrôleur connaît le </a:t>
            </a:r>
            <a:r>
              <a:rPr lang="fr-FR" dirty="0" err="1"/>
              <a:t>modele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34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Dans le contrôleur, on aura une référence vers le modèle (sous la forme d’une propriété, ou variable d’instance).</a:t>
            </a:r>
            <a:endParaRPr lang="fr-FR" dirty="0">
              <a:effectLst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995B15C-EB89-A197-16D6-41D3F270ABC1}"/>
              </a:ext>
            </a:extLst>
          </p:cNvPr>
          <p:cNvSpPr txBox="1"/>
          <p:nvPr/>
        </p:nvSpPr>
        <p:spPr>
          <a:xfrm>
            <a:off x="3182112" y="2763488"/>
            <a:ext cx="6163056" cy="156966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Controller {</a:t>
            </a:r>
            <a:b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@FXML</a:t>
            </a:r>
            <a:b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BBB52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Model </a:t>
            </a:r>
            <a:r>
              <a:rPr lang="fr-BE" sz="16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model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Model()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fr-BE" sz="16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2808D11-F816-59C2-D7DA-1A2B7046813A}"/>
              </a:ext>
            </a:extLst>
          </p:cNvPr>
          <p:cNvSpPr txBox="1"/>
          <p:nvPr/>
        </p:nvSpPr>
        <p:spPr>
          <a:xfrm>
            <a:off x="838200" y="4441220"/>
            <a:ext cx="10515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/>
              <a:t>On fera appel au modèle pour calculer le résultat des opérations arithmétiques.</a:t>
            </a:r>
          </a:p>
        </p:txBody>
      </p:sp>
      <p:pic>
        <p:nvPicPr>
          <p:cNvPr id="11" name="Picture 2" descr="Puce contrôleur COACh® AT | Site officiel Elo®">
            <a:extLst>
              <a:ext uri="{FF2B5EF4-FFF2-40B4-BE49-F238E27FC236}">
                <a16:creationId xmlns:a16="http://schemas.microsoft.com/office/drawing/2014/main" id="{72C97A12-CDBA-2458-B165-5626F76EFB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51" t="18438" r="52743" b="11293"/>
          <a:stretch/>
        </p:blipFill>
        <p:spPr bwMode="auto">
          <a:xfrm>
            <a:off x="9791892" y="154782"/>
            <a:ext cx="1845054" cy="160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332C463-64EB-3DEE-FE05-ACE83337ED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69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740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contrôleur connaît le </a:t>
            </a:r>
            <a:r>
              <a:rPr lang="fr-FR" dirty="0" err="1"/>
              <a:t>modele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393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sz="2600" dirty="0"/>
              <a:t>Le contrôleur aura aussi une variable pour le premier nombre, et une pour l’opérateur (qui doivent être persistés pendant que l’utilisateur encode le second nombre)</a:t>
            </a:r>
          </a:p>
        </p:txBody>
      </p:sp>
      <p:pic>
        <p:nvPicPr>
          <p:cNvPr id="3" name="Picture 2" descr="Puce contrôleur COACh® AT | Site officiel Elo®">
            <a:extLst>
              <a:ext uri="{FF2B5EF4-FFF2-40B4-BE49-F238E27FC236}">
                <a16:creationId xmlns:a16="http://schemas.microsoft.com/office/drawing/2014/main" id="{5EDE2E95-F590-65BD-90D1-AA89AAFC00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51" t="18438" r="52743" b="11293"/>
          <a:stretch/>
        </p:blipFill>
        <p:spPr bwMode="auto">
          <a:xfrm>
            <a:off x="9791892" y="154782"/>
            <a:ext cx="1845054" cy="160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974069F-9A57-AA6F-9A28-43189F0D6A5A}"/>
              </a:ext>
            </a:extLst>
          </p:cNvPr>
          <p:cNvSpPr txBox="1"/>
          <p:nvPr/>
        </p:nvSpPr>
        <p:spPr>
          <a:xfrm>
            <a:off x="838200" y="3786400"/>
            <a:ext cx="103632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BE" sz="2600" dirty="0"/>
              <a:t>Il a aussi une variable </a:t>
            </a:r>
            <a:r>
              <a:rPr lang="fr-BE" sz="2600" dirty="0" err="1"/>
              <a:t>booléene</a:t>
            </a:r>
            <a:r>
              <a:rPr lang="fr-BE" sz="2600" dirty="0"/>
              <a:t> pour savoir quand on est dans le contexte d’une nouvelle opération.</a:t>
            </a:r>
            <a:endParaRPr lang="fr-FR" sz="26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2AE1EC2-C9E5-4FD6-CB18-BFB5145D2A62}"/>
              </a:ext>
            </a:extLst>
          </p:cNvPr>
          <p:cNvSpPr txBox="1"/>
          <p:nvPr/>
        </p:nvSpPr>
        <p:spPr>
          <a:xfrm>
            <a:off x="3598164" y="2694234"/>
            <a:ext cx="6099048" cy="1077218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Model </a:t>
            </a:r>
            <a:r>
              <a:rPr lang="fr-BE" sz="16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model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Model()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long </a:t>
            </a:r>
            <a:r>
              <a:rPr lang="fr-BE" sz="16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number1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fr-BE" sz="16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fr-BE" sz="1600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operator</a:t>
            </a:r>
            <a:r>
              <a:rPr lang="fr-BE" sz="16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""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A4EC05-89B6-5DBF-68E5-8B4A7E2BDE71}"/>
              </a:ext>
            </a:extLst>
          </p:cNvPr>
          <p:cNvSpPr txBox="1"/>
          <p:nvPr/>
        </p:nvSpPr>
        <p:spPr>
          <a:xfrm>
            <a:off x="3598164" y="4794196"/>
            <a:ext cx="6099048" cy="1323439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Model </a:t>
            </a:r>
            <a:r>
              <a:rPr lang="fr-BE" sz="16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model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Model()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long </a:t>
            </a:r>
            <a:r>
              <a:rPr lang="fr-BE" sz="16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number1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fr-BE" sz="1600" dirty="0">
                <a:solidFill>
                  <a:srgbClr val="6897B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sz="1600" dirty="0" err="1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String </a:t>
            </a:r>
            <a:r>
              <a:rPr lang="fr-BE" sz="1600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operator</a:t>
            </a:r>
            <a:r>
              <a:rPr lang="fr-BE" sz="1600" dirty="0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fr-BE" sz="1600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""</a:t>
            </a:r>
            <a:r>
              <a:rPr lang="fr-BE" sz="1600" dirty="0">
                <a:solidFill>
                  <a:srgbClr val="CC7832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fr-BE" sz="1600" dirty="0" err="1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fr-BE" sz="16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fr-BE" sz="16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 err="1">
                <a:solidFill>
                  <a:srgbClr val="9876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newOperation</a:t>
            </a:r>
            <a:r>
              <a:rPr lang="fr-BE" sz="1600" dirty="0">
                <a:solidFill>
                  <a:srgbClr val="9876A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sz="1600" dirty="0"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fr-BE" sz="1600" dirty="0" err="1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fr-BE" sz="1600" dirty="0">
                <a:solidFill>
                  <a:srgbClr val="CC783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fr-F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334E468-B774-7871-7FB6-F090AD0C2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70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103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 animBg="1"/>
      <p:bldP spid="13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Boutons Numériques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Il reste à apporter une petite modification à la méthode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processNumber</a:t>
            </a:r>
            <a:r>
              <a:rPr lang="fr-FR" dirty="0"/>
              <a:t>, pour qu’elle tienne compte du booléen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newOperation</a:t>
            </a:r>
            <a:r>
              <a:rPr lang="fr-FR" dirty="0"/>
              <a:t>:</a:t>
            </a:r>
          </a:p>
          <a:p>
            <a:pPr marL="0" indent="0">
              <a:buNone/>
            </a:pPr>
            <a:r>
              <a:rPr lang="fr-FR" dirty="0"/>
              <a:t>Avant de coller le nombre du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dirty="0"/>
              <a:t> à la suite du texte déjà affiché, en cas de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newOperation</a:t>
            </a:r>
            <a:r>
              <a:rPr lang="fr-FR" dirty="0"/>
              <a:t>, on fera deux choses:</a:t>
            </a:r>
          </a:p>
          <a:p>
            <a:pPr marL="457200" indent="-457200">
              <a:buAutoNum type="arabicPeriod"/>
            </a:pPr>
            <a:r>
              <a:rPr lang="fr-FR" dirty="0"/>
              <a:t>On vide le texte</a:t>
            </a:r>
          </a:p>
          <a:p>
            <a:pPr marL="457200" indent="-457200">
              <a:buAutoNum type="arabicPeriod"/>
            </a:pPr>
            <a:r>
              <a:rPr lang="fr-FR" dirty="0"/>
              <a:t>On remet </a:t>
            </a:r>
            <a:r>
              <a:rPr lang="fr-FR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newOperation</a:t>
            </a:r>
            <a:r>
              <a:rPr lang="fr-FR" dirty="0"/>
              <a:t> à </a:t>
            </a:r>
            <a:r>
              <a:rPr lang="fr-FR" sz="26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fr-FR" dirty="0"/>
              <a:t>.</a:t>
            </a:r>
            <a:endParaRPr lang="fr-BE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B7AEC79-D404-A4DE-A00F-B118A48B45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825" b="92544" l="2620" r="91266">
                        <a14:foregroundMark x1="29258" y1="8772" x2="58952" y2="22368"/>
                        <a14:foregroundMark x1="58952" y1="22368" x2="89520" y2="17982"/>
                        <a14:foregroundMark x1="89520" y1="17982" x2="60699" y2="7895"/>
                        <a14:foregroundMark x1="60699" y1="7895" x2="31004" y2="7895"/>
                        <a14:foregroundMark x1="71616" y1="52193" x2="89520" y2="78947"/>
                        <a14:foregroundMark x1="89520" y1="78947" x2="57642" y2="89474"/>
                        <a14:foregroundMark x1="57642" y1="89474" x2="24017" y2="90351"/>
                        <a14:foregroundMark x1="24017" y1="90351" x2="46288" y2="65789"/>
                        <a14:foregroundMark x1="46288" y1="65789" x2="69869" y2="57895"/>
                        <a14:foregroundMark x1="23581" y1="74561" x2="52838" y2="91667"/>
                        <a14:foregroundMark x1="52838" y1="91667" x2="83843" y2="91667"/>
                        <a14:foregroundMark x1="83843" y1="91667" x2="53712" y2="66228"/>
                        <a14:foregroundMark x1="53712" y1="66228" x2="24017" y2="73246"/>
                        <a14:foregroundMark x1="24017" y1="73246" x2="24017" y2="73684"/>
                        <a14:foregroundMark x1="24454" y1="85965" x2="13974" y2="75877"/>
                        <a14:foregroundMark x1="6987" y1="77632" x2="20524" y2="78509"/>
                        <a14:foregroundMark x1="31441" y1="93860" x2="4803" y2="77632"/>
                        <a14:foregroundMark x1="4803" y1="77632" x2="37118" y2="76754"/>
                        <a14:foregroundMark x1="37118" y1="76754" x2="32314" y2="92544"/>
                        <a14:foregroundMark x1="90393" y1="5702" x2="85590" y2="68860"/>
                        <a14:foregroundMark x1="85590" y1="68860" x2="61135" y2="42982"/>
                        <a14:foregroundMark x1="61135" y1="42982" x2="76419" y2="14912"/>
                        <a14:foregroundMark x1="76419" y1="14912" x2="82969" y2="12281"/>
                        <a14:foregroundMark x1="91703" y1="5263" x2="60262" y2="5702"/>
                        <a14:foregroundMark x1="60262" y1="5702" x2="37991" y2="32018"/>
                        <a14:foregroundMark x1="37991" y1="32018" x2="53712" y2="65351"/>
                        <a14:foregroundMark x1="53712" y1="65351" x2="81659" y2="48684"/>
                        <a14:foregroundMark x1="81659" y1="48684" x2="87773" y2="19298"/>
                        <a14:foregroundMark x1="2620" y1="73246" x2="4803" y2="736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89808" y="203217"/>
            <a:ext cx="1448118" cy="1439845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8BB7BC6-7627-E075-85EB-E0B625B85B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71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03157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DE6083-8256-154A-B26F-2269D186C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La méthode </a:t>
            </a:r>
            <a:r>
              <a:rPr lang="fr-FR" dirty="0" err="1"/>
              <a:t>processOperator</a:t>
            </a:r>
            <a:endParaRPr lang="fr-FR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23ED637-A493-F443-913A-7143C915E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Vous pouvez maintenant programmer vous-même la méthode </a:t>
            </a:r>
            <a:r>
              <a:rPr lang="fr-BE" sz="26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processOperator</a:t>
            </a:r>
            <a:r>
              <a:rPr lang="fr-FR" dirty="0"/>
              <a:t> (ne gérez pas la priorité des opérateurs).</a:t>
            </a:r>
          </a:p>
          <a:p>
            <a:endParaRPr lang="fr-FR" sz="1050" dirty="0"/>
          </a:p>
          <a:p>
            <a:endParaRPr lang="fr-FR" dirty="0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8829AC68-0E7C-674C-8C81-20D84AAEE5EE}"/>
              </a:ext>
            </a:extLst>
          </p:cNvPr>
          <p:cNvGraphicFramePr/>
          <p:nvPr/>
        </p:nvGraphicFramePr>
        <p:xfrm>
          <a:off x="838200" y="2624328"/>
          <a:ext cx="10692384" cy="41188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CC68B607-C922-B771-C0F9-A8E67A27234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2632" b="90351" l="8649" r="92432">
                        <a14:foregroundMark x1="8649" y1="3070" x2="10811" y2="74123"/>
                        <a14:foregroundMark x1="10811" y1="74123" x2="38378" y2="89912"/>
                        <a14:foregroundMark x1="90811" y1="90789" x2="10270" y2="89912"/>
                        <a14:foregroundMark x1="85946" y1="3070" x2="12973" y2="6140"/>
                        <a14:foregroundMark x1="88649" y1="7018" x2="87568" y2="74561"/>
                        <a14:foregroundMark x1="87568" y1="74561" x2="90811" y2="80263"/>
                        <a14:foregroundMark x1="92432" y1="88596" x2="89189" y2="736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99230" y="247978"/>
            <a:ext cx="1169206" cy="1432690"/>
          </a:xfrm>
          <a:prstGeom prst="rect">
            <a:avLst/>
          </a:prstGeom>
        </p:spPr>
      </p:pic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462BD2F-586C-45C2-1634-C0B8E111B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72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6887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BF78147-4004-C344-B9F7-AF386F423C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graphicEl>
                                              <a:dgm id="{9BF78147-4004-C344-B9F7-AF386F423C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3">
                                            <p:graphicEl>
                                              <a:dgm id="{9BF78147-4004-C344-B9F7-AF386F423CA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FB803BF-AC51-5C47-9BF9-ECC4D54F8A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graphicEl>
                                              <a:dgm id="{4FB803BF-AC51-5C47-9BF9-ECC4D54F8A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">
                                            <p:graphicEl>
                                              <a:dgm id="{4FB803BF-AC51-5C47-9BF9-ECC4D54F8A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4CBBA4C-BBC8-7542-9346-68B03FE95B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">
                                            <p:graphicEl>
                                              <a:dgm id="{04CBBA4C-BBC8-7542-9346-68B03FE95B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">
                                            <p:graphicEl>
                                              <a:dgm id="{04CBBA4C-BBC8-7542-9346-68B03FE95B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9618C79-0175-5A40-B1AB-718D12569B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">
                                            <p:graphicEl>
                                              <a:dgm id="{89618C79-0175-5A40-B1AB-718D12569B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3">
                                            <p:graphicEl>
                                              <a:dgm id="{89618C79-0175-5A40-B1AB-718D12569B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04ADB45-D3FE-B24F-A832-4489705CFB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">
                                            <p:graphicEl>
                                              <a:dgm id="{204ADB45-D3FE-B24F-A832-4489705CFB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3">
                                            <p:graphicEl>
                                              <a:dgm id="{204ADB45-D3FE-B24F-A832-4489705CFB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3F4CD1B-3FA0-2545-8AD4-431A4B0481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">
                                            <p:graphicEl>
                                              <a:dgm id="{33F4CD1B-3FA0-2545-8AD4-431A4B0481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">
                                            <p:graphicEl>
                                              <a:dgm id="{33F4CD1B-3FA0-2545-8AD4-431A4B0481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949BEC7-0671-0D41-84F6-F3420C5B9C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">
                                            <p:graphicEl>
                                              <a:dgm id="{E949BEC7-0671-0D41-84F6-F3420C5B9C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">
                                            <p:graphicEl>
                                              <a:dgm id="{E949BEC7-0671-0D41-84F6-F3420C5B9C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2850FAB-FAF8-3146-9A5B-10E453C494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3">
                                            <p:graphicEl>
                                              <a:dgm id="{F2850FAB-FAF8-3146-9A5B-10E453C494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3">
                                            <p:graphicEl>
                                              <a:dgm id="{F2850FAB-FAF8-3146-9A5B-10E453C494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B3E38314-EBEB-A140-928C-8095862C42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3">
                                            <p:graphicEl>
                                              <a:dgm id="{B3E38314-EBEB-A140-928C-8095862C42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3">
                                            <p:graphicEl>
                                              <a:dgm id="{B3E38314-EBEB-A140-928C-8095862C42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E3FAC50-FA4B-6448-9FEE-112CF45561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3">
                                            <p:graphicEl>
                                              <a:dgm id="{5E3FAC50-FA4B-6448-9FEE-112CF45561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3">
                                            <p:graphicEl>
                                              <a:dgm id="{5E3FAC50-FA4B-6448-9FEE-112CF45561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0BB4B01-D8AF-A945-AB84-74A73CFD18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">
                                            <p:graphicEl>
                                              <a:dgm id="{90BB4B01-D8AF-A945-AB84-74A73CFD18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3">
                                            <p:graphicEl>
                                              <a:dgm id="{90BB4B01-D8AF-A945-AB84-74A73CFD18D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CDFE44B1-1DB8-9D44-9333-1F1F02E494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3">
                                            <p:graphicEl>
                                              <a:dgm id="{CDFE44B1-1DB8-9D44-9333-1F1F02E494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3">
                                            <p:graphicEl>
                                              <a:dgm id="{CDFE44B1-1DB8-9D44-9333-1F1F02E494E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2080277-E2A9-9346-91F0-1826A18E38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">
                                            <p:graphicEl>
                                              <a:dgm id="{32080277-E2A9-9346-91F0-1826A18E38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8" dur="500"/>
                                        <p:tgtEl>
                                          <p:spTgt spid="3">
                                            <p:graphicEl>
                                              <a:dgm id="{32080277-E2A9-9346-91F0-1826A18E383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C71468-7D6C-E34D-A1E0-BE18D052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Un dernier détail</a:t>
            </a:r>
          </a:p>
        </p:txBody>
      </p:sp>
      <p:sp>
        <p:nvSpPr>
          <p:cNvPr id="41" name="Espace réservé du contenu 40">
            <a:extLst>
              <a:ext uri="{FF2B5EF4-FFF2-40B4-BE49-F238E27FC236}">
                <a16:creationId xmlns:a16="http://schemas.microsoft.com/office/drawing/2014/main" id="{C556F642-8BE9-6742-B33E-95358B329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600" dirty="0"/>
              <a:t>Nous pouvons encore améliorer l’aspect de la calculatrice.</a:t>
            </a:r>
          </a:p>
          <a:p>
            <a:pPr marL="0" indent="0">
              <a:buNone/>
            </a:pPr>
            <a:r>
              <a:rPr lang="fr-FR" sz="2600" dirty="0"/>
              <a:t>Dans le FXML, on peut utiliser l’élément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fx:define</a:t>
            </a:r>
            <a:r>
              <a:rPr lang="fr-FR" sz="2600" dirty="0"/>
              <a:t> pour créer un objet utilisable dans notre vue (à l’intérieur du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VBox</a:t>
            </a:r>
            <a:r>
              <a:rPr lang="fr-FR" sz="2600" dirty="0"/>
              <a:t>).</a:t>
            </a:r>
          </a:p>
          <a:p>
            <a:pPr marL="0" indent="0">
              <a:buNone/>
            </a:pPr>
            <a:r>
              <a:rPr lang="fr-FR" sz="2600" dirty="0"/>
              <a:t>On crée donc un objet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Font</a:t>
            </a:r>
            <a:r>
              <a:rPr lang="fr-FR" sz="2600" dirty="0"/>
              <a:t> en lui donnant la référence (id)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FONT</a:t>
            </a:r>
            <a:r>
              <a:rPr lang="fr-FR" sz="2600" dirty="0"/>
              <a:t>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0ED4BA5-B5E4-869B-4173-4F78316A0137}"/>
              </a:ext>
            </a:extLst>
          </p:cNvPr>
          <p:cNvSpPr txBox="1"/>
          <p:nvPr/>
        </p:nvSpPr>
        <p:spPr>
          <a:xfrm>
            <a:off x="838200" y="4290930"/>
            <a:ext cx="1009802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2600" dirty="0"/>
              <a:t>Pour accéder à cet objet et définir la taille de caractères de nos </a:t>
            </a:r>
            <a:r>
              <a:rPr lang="fr-FR" sz="2400" dirty="0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Button</a:t>
            </a:r>
            <a:r>
              <a:rPr lang="fr-FR" sz="2600" dirty="0"/>
              <a:t> et de notre </a:t>
            </a:r>
            <a:r>
              <a:rPr lang="fr-FR" sz="24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FR" sz="2600" dirty="0"/>
              <a:t>, on utilisera la syntaxe suivante: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68672DF-2F46-5650-0153-3FB286F79117}"/>
              </a:ext>
            </a:extLst>
          </p:cNvPr>
          <p:cNvSpPr txBox="1"/>
          <p:nvPr/>
        </p:nvSpPr>
        <p:spPr>
          <a:xfrm>
            <a:off x="2600165" y="3676937"/>
            <a:ext cx="6991670" cy="369332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fx</a:t>
            </a:r>
            <a:r>
              <a:rPr lang="fr-BE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:define</a:t>
            </a: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&gt;&lt;Font </a:t>
            </a:r>
            <a:r>
              <a:rPr lang="fr-BE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fx</a:t>
            </a:r>
            <a:r>
              <a:rPr lang="fr-BE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:id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="FONT" </a:t>
            </a:r>
            <a:r>
              <a:rPr lang="fr-BE" dirty="0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size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="18" </a:t>
            </a: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/&gt;&lt;/</a:t>
            </a:r>
            <a:r>
              <a:rPr lang="fr-BE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fx</a:t>
            </a:r>
            <a:r>
              <a:rPr lang="fr-BE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:define</a:t>
            </a: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32638B6-9791-DDB9-5F04-BECD199E209F}"/>
              </a:ext>
            </a:extLst>
          </p:cNvPr>
          <p:cNvSpPr txBox="1"/>
          <p:nvPr/>
        </p:nvSpPr>
        <p:spPr>
          <a:xfrm>
            <a:off x="2600164" y="5253633"/>
            <a:ext cx="6991669" cy="923330"/>
          </a:xfrm>
          <a:prstGeom prst="rect">
            <a:avLst/>
          </a:prstGeom>
          <a:solidFill>
            <a:srgbClr val="2B2B2B"/>
          </a:solidFill>
        </p:spPr>
        <p:txBody>
          <a:bodyPr wrap="square">
            <a:spAutoFit/>
          </a:bodyPr>
          <a:lstStyle/>
          <a:p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fr-BE" dirty="0" err="1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BE" dirty="0" err="1">
                <a:solidFill>
                  <a:srgbClr val="9876A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fx</a:t>
            </a:r>
            <a:r>
              <a:rPr lang="fr-BE" dirty="0" err="1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:id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="output" </a:t>
            </a:r>
            <a:r>
              <a:rPr lang="fr-BE" dirty="0">
                <a:solidFill>
                  <a:srgbClr val="BABAB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font</a:t>
            </a:r>
            <a:r>
              <a:rPr lang="fr-BE" dirty="0">
                <a:solidFill>
                  <a:srgbClr val="6A875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="$FONT" </a:t>
            </a: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  <a:b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fr-BE" dirty="0">
                <a:solidFill>
                  <a:srgbClr val="E8BF6A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&lt;Button</a:t>
            </a:r>
            <a:r>
              <a:rPr lang="fr-BE" dirty="0">
                <a:latin typeface="Consolas" panose="020B0609020204030204" pitchFamily="49" charset="0"/>
                <a:cs typeface="Consolas" panose="020B0609020204030204" pitchFamily="49" charset="0"/>
              </a:rPr>
              <a:t> ... font="$FONT" ... /&gt;</a:t>
            </a:r>
            <a:endParaRPr lang="fr-FR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2" name="Picture 4" descr="les lunettes bleus - OFF-53% &gt; Livraison gratuite">
            <a:extLst>
              <a:ext uri="{FF2B5EF4-FFF2-40B4-BE49-F238E27FC236}">
                <a16:creationId xmlns:a16="http://schemas.microsoft.com/office/drawing/2014/main" id="{8B508032-6880-5F4B-51D9-71B7EF4003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774936" y="0"/>
            <a:ext cx="2160398" cy="1260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79C1BF0-C6D6-12DE-24EE-B9614A440E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73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9154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  <p:bldP spid="11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C71468-7D6C-E34D-A1E0-BE18D052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Et après...?</a:t>
            </a:r>
          </a:p>
        </p:txBody>
      </p:sp>
      <p:sp>
        <p:nvSpPr>
          <p:cNvPr id="41" name="Espace réservé du contenu 40">
            <a:extLst>
              <a:ext uri="{FF2B5EF4-FFF2-40B4-BE49-F238E27FC236}">
                <a16:creationId xmlns:a16="http://schemas.microsoft.com/office/drawing/2014/main" id="{C556F642-8BE9-6742-B33E-95358B329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La calculatrice n’est pas parfaite:</a:t>
            </a:r>
          </a:p>
          <a:p>
            <a:pPr marL="342900" indent="-342900">
              <a:buFontTx/>
              <a:buChar char="-"/>
            </a:pPr>
            <a:r>
              <a:rPr lang="fr-FR" dirty="0"/>
              <a:t>Si vous encodez </a:t>
            </a:r>
            <a:r>
              <a:rPr lang="fr-FR" dirty="0">
                <a:solidFill>
                  <a:schemeClr val="accent4"/>
                </a:solidFill>
              </a:rPr>
              <a:t>34+=</a:t>
            </a:r>
            <a:r>
              <a:rPr lang="fr-FR" dirty="0"/>
              <a:t>, vous avez un </a:t>
            </a:r>
            <a:r>
              <a:rPr lang="fr-FR" sz="1800" dirty="0" err="1">
                <a:solidFill>
                  <a:schemeClr val="accent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NullPointerException</a:t>
            </a:r>
            <a:r>
              <a:rPr lang="fr-FR" dirty="0"/>
              <a:t>; pourquoi?</a:t>
            </a:r>
          </a:p>
          <a:p>
            <a:pPr marL="342900" indent="-342900">
              <a:buFontTx/>
              <a:buChar char="-"/>
            </a:pPr>
            <a:r>
              <a:rPr lang="fr-FR" dirty="0"/>
              <a:t>La division par 0 devrait provoquer une exception et afficher ‘DIV0’</a:t>
            </a:r>
          </a:p>
          <a:p>
            <a:pPr marL="342900" indent="-342900">
              <a:buFontTx/>
              <a:buChar char="-"/>
            </a:pPr>
            <a:r>
              <a:rPr lang="fr-FR" dirty="0"/>
              <a:t>Vous pouvez lui ajouter </a:t>
            </a:r>
          </a:p>
          <a:p>
            <a:pPr marL="800100" lvl="1" indent="-342900">
              <a:buFontTx/>
              <a:buChar char="-"/>
            </a:pPr>
            <a:r>
              <a:rPr lang="fr-FR" dirty="0"/>
              <a:t>la possibilité d’encoder les chiffres au clavier</a:t>
            </a:r>
          </a:p>
          <a:p>
            <a:pPr marL="800100" lvl="1" indent="-342900">
              <a:buFontTx/>
              <a:buChar char="-"/>
            </a:pPr>
            <a:r>
              <a:rPr lang="fr-FR" dirty="0"/>
              <a:t>un bouton C (pour annuler le dernier chiffre entré),</a:t>
            </a:r>
          </a:p>
          <a:p>
            <a:pPr marL="800100" lvl="1" indent="-342900">
              <a:buFontTx/>
              <a:buChar char="-"/>
            </a:pPr>
            <a:r>
              <a:rPr lang="fr-FR" dirty="0"/>
              <a:t>des opérations mathématiques (modulo, exposant, </a:t>
            </a:r>
            <a:r>
              <a:rPr lang="fr-FR" dirty="0" err="1"/>
              <a:t>trigono</a:t>
            </a:r>
            <a:r>
              <a:rPr lang="fr-FR" dirty="0"/>
              <a:t>…)</a:t>
            </a:r>
          </a:p>
          <a:p>
            <a:pPr marL="800100" lvl="1" indent="-342900">
              <a:buFontTx/>
              <a:buChar char="-"/>
            </a:pPr>
            <a:r>
              <a:rPr lang="fr-FR" dirty="0"/>
              <a:t>la gestion du calcul selon les règles arithmétiques (d’abord la multiplication,…)</a:t>
            </a:r>
          </a:p>
          <a:p>
            <a:pPr marL="800100" lvl="1" indent="-342900">
              <a:buFontTx/>
              <a:buChar char="-"/>
            </a:pPr>
            <a:r>
              <a:rPr lang="fr-FR" dirty="0"/>
              <a:t>des parenthèses</a:t>
            </a:r>
          </a:p>
          <a:p>
            <a:pPr marL="800100" lvl="1" indent="-342900">
              <a:buFontTx/>
              <a:buChar char="-"/>
            </a:pPr>
            <a:r>
              <a:rPr lang="fr-FR" dirty="0"/>
              <a:t>…</a:t>
            </a:r>
          </a:p>
        </p:txBody>
      </p:sp>
      <p:pic>
        <p:nvPicPr>
          <p:cNvPr id="37890" name="Picture 2" descr="Series: What Next? - Bulldog Catholic">
            <a:extLst>
              <a:ext uri="{FF2B5EF4-FFF2-40B4-BE49-F238E27FC236}">
                <a16:creationId xmlns:a16="http://schemas.microsoft.com/office/drawing/2014/main" id="{FA8E98EC-B4A8-FD48-3449-61C3E95EBB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183879" y="230192"/>
            <a:ext cx="3733801" cy="953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126E5A7-EF87-A283-91FC-B93C90B1CB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3C783E2-4793-4F48-A271-51A73CC37D74}" type="slidenum">
              <a:rPr lang="fr-FR" smtClean="0"/>
              <a:t>74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074975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Ephec2022">
  <a:themeElements>
    <a:clrScheme name="Personnalisé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FEC000"/>
      </a:hlink>
      <a:folHlink>
        <a:srgbClr val="EC7C31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Ephec2022" id="{D8E32F0D-03A5-7849-8B4E-A5D57A69C990}" vid="{085AC1B4-7B56-B14E-B333-323D733F6681}"/>
    </a:ext>
  </a:extLst>
</a:theme>
</file>

<file path=ppt/theme/theme2.xml><?xml version="1.0" encoding="utf-8"?>
<a:theme xmlns:a="http://schemas.openxmlformats.org/drawingml/2006/main" name="Thème Office 2013 –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ThemeEphec2022</Template>
  <TotalTime>152961</TotalTime>
  <Words>5402</Words>
  <Application>Microsoft Macintosh PowerPoint</Application>
  <PresentationFormat>Grand écran</PresentationFormat>
  <Paragraphs>642</Paragraphs>
  <Slides>74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74</vt:i4>
      </vt:variant>
    </vt:vector>
  </HeadingPairs>
  <TitlesOfParts>
    <vt:vector size="80" baseType="lpstr">
      <vt:lpstr>Arial</vt:lpstr>
      <vt:lpstr>Calibri</vt:lpstr>
      <vt:lpstr>Consolas</vt:lpstr>
      <vt:lpstr>Corbel</vt:lpstr>
      <vt:lpstr>Söhne</vt:lpstr>
      <vt:lpstr>ThemeEphec2022</vt:lpstr>
      <vt:lpstr>JAVA 2</vt:lpstr>
      <vt:lpstr>Vu au dernier cours…</vt:lpstr>
      <vt:lpstr>Présentation PowerPoint</vt:lpstr>
      <vt:lpstr>Exercice 43: écrivez les autres tests…</vt:lpstr>
      <vt:lpstr>Exercice 44</vt:lpstr>
      <vt:lpstr>Exercice 45</vt:lpstr>
      <vt:lpstr>Présentation PowerPoint</vt:lpstr>
      <vt:lpstr>JavaFX</vt:lpstr>
      <vt:lpstr>Introduction</vt:lpstr>
      <vt:lpstr>AWT</vt:lpstr>
      <vt:lpstr>SWING</vt:lpstr>
      <vt:lpstr>JavaFX</vt:lpstr>
      <vt:lpstr>JavaFX</vt:lpstr>
      <vt:lpstr>Architecture MVC</vt:lpstr>
      <vt:lpstr>JavaFX</vt:lpstr>
      <vt:lpstr>Configuration d’IntelliJ pour JavaFX</vt:lpstr>
      <vt:lpstr>Les écrans de vos applications JavaFX</vt:lpstr>
      <vt:lpstr>Pour modifier les vues…</vt:lpstr>
      <vt:lpstr>JavaFX</vt:lpstr>
      <vt:lpstr>Création d’un projet JavaFX</vt:lpstr>
      <vt:lpstr>Création d’un projet JavaFX</vt:lpstr>
      <vt:lpstr>Démarrage de l’application ‘Demo’</vt:lpstr>
      <vt:lpstr>JavaFX</vt:lpstr>
      <vt:lpstr>Calculatrice en JavaFX</vt:lpstr>
      <vt:lpstr>Une calculatrice en JavaFX</vt:lpstr>
      <vt:lpstr>Composants JavaFX</vt:lpstr>
      <vt:lpstr>Structure MVC</vt:lpstr>
      <vt:lpstr>JavaFX</vt:lpstr>
      <vt:lpstr>1. La Vue</vt:lpstr>
      <vt:lpstr>Classe ou FXML…?</vt:lpstr>
      <vt:lpstr>C’est quoi XML?</vt:lpstr>
      <vt:lpstr>Exemples de fichiers XML</vt:lpstr>
      <vt:lpstr>Fichier FXML initial</vt:lpstr>
      <vt:lpstr>Le Look de la calculatrice</vt:lpstr>
      <vt:lpstr>Le look de la calculatrice</vt:lpstr>
      <vt:lpstr>Le look de la calculatrice</vt:lpstr>
      <vt:lpstr>En FXML, ça donne…</vt:lpstr>
      <vt:lpstr>Les éléments FXML</vt:lpstr>
      <vt:lpstr>Attributs des éléments FXML</vt:lpstr>
      <vt:lpstr>Attribut de StackPane</vt:lpstr>
      <vt:lpstr>Attribut de VBOX</vt:lpstr>
      <vt:lpstr>Rectangle dans  le StackPane</vt:lpstr>
      <vt:lpstr>Les imports dans FXML</vt:lpstr>
      <vt:lpstr>La zone de texte pour le résultat</vt:lpstr>
      <vt:lpstr>Lien FXML ⇔ JAVA</vt:lpstr>
      <vt:lpstr>Lien FXML ⇔ JAVA</vt:lpstr>
      <vt:lpstr>Occupons-nous des HBox</vt:lpstr>
      <vt:lpstr>Dans chaque HBox, des Button</vt:lpstr>
      <vt:lpstr>Problème d’alignement…</vt:lpstr>
      <vt:lpstr>Notre vue est (quasiment) terminée</vt:lpstr>
      <vt:lpstr>JavaFX</vt:lpstr>
      <vt:lpstr>2. Le Contrôleur</vt:lpstr>
      <vt:lpstr>La gestion des Button</vt:lpstr>
      <vt:lpstr>La gestion des Button</vt:lpstr>
      <vt:lpstr>La gestion des Button</vt:lpstr>
      <vt:lpstr>La gestion des Button</vt:lpstr>
      <vt:lpstr>La gestion des Button</vt:lpstr>
      <vt:lpstr>La gestion des Button</vt:lpstr>
      <vt:lpstr>La gestion des Button</vt:lpstr>
      <vt:lpstr>La logique derrière les Boutons</vt:lpstr>
      <vt:lpstr>La gestion des Button</vt:lpstr>
      <vt:lpstr>Les boutons numériques</vt:lpstr>
      <vt:lpstr>Les boutons des opérations</vt:lpstr>
      <vt:lpstr>JavaFX</vt:lpstr>
      <vt:lpstr>3. Le Modèle</vt:lpstr>
      <vt:lpstr>Que peut faire notre modèle?</vt:lpstr>
      <vt:lpstr>La méthode calcule(n1, n2, op)</vt:lpstr>
      <vt:lpstr>La méthode calcule(n1, n2, op)</vt:lpstr>
      <vt:lpstr>Le contrôleur connaît le modele</vt:lpstr>
      <vt:lpstr>Le contrôleur connaît le modele</vt:lpstr>
      <vt:lpstr>Les Boutons Numériques</vt:lpstr>
      <vt:lpstr>La méthode processOperator</vt:lpstr>
      <vt:lpstr>Un dernier détail</vt:lpstr>
      <vt:lpstr>Et après...?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2</dc:title>
  <dc:creator>FERRANT Frédéric</dc:creator>
  <cp:lastModifiedBy>FERRANT Frédéric</cp:lastModifiedBy>
  <cp:revision>52</cp:revision>
  <dcterms:created xsi:type="dcterms:W3CDTF">2023-01-04T13:50:20Z</dcterms:created>
  <dcterms:modified xsi:type="dcterms:W3CDTF">2026-03-23T22:10:41Z</dcterms:modified>
</cp:coreProperties>
</file>