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69"/>
  </p:notesMasterIdLst>
  <p:handoutMasterIdLst>
    <p:handoutMasterId r:id="rId70"/>
  </p:handoutMasterIdLst>
  <p:sldIdLst>
    <p:sldId id="256" r:id="rId2"/>
    <p:sldId id="523" r:id="rId3"/>
    <p:sldId id="257" r:id="rId4"/>
    <p:sldId id="258" r:id="rId5"/>
    <p:sldId id="259" r:id="rId6"/>
    <p:sldId id="260" r:id="rId7"/>
    <p:sldId id="262" r:id="rId8"/>
    <p:sldId id="264" r:id="rId9"/>
    <p:sldId id="266" r:id="rId10"/>
    <p:sldId id="524" r:id="rId11"/>
    <p:sldId id="265" r:id="rId12"/>
    <p:sldId id="267" r:id="rId13"/>
    <p:sldId id="268" r:id="rId14"/>
    <p:sldId id="531" r:id="rId15"/>
    <p:sldId id="534" r:id="rId16"/>
    <p:sldId id="533" r:id="rId17"/>
    <p:sldId id="535" r:id="rId18"/>
    <p:sldId id="536" r:id="rId19"/>
    <p:sldId id="475" r:id="rId20"/>
    <p:sldId id="474" r:id="rId21"/>
    <p:sldId id="496" r:id="rId22"/>
    <p:sldId id="554" r:id="rId23"/>
    <p:sldId id="487" r:id="rId24"/>
    <p:sldId id="489" r:id="rId25"/>
    <p:sldId id="542" r:id="rId26"/>
    <p:sldId id="490" r:id="rId27"/>
    <p:sldId id="525" r:id="rId28"/>
    <p:sldId id="491" r:id="rId29"/>
    <p:sldId id="555" r:id="rId30"/>
    <p:sldId id="541" r:id="rId31"/>
    <p:sldId id="488" r:id="rId32"/>
    <p:sldId id="526" r:id="rId33"/>
    <p:sldId id="527" r:id="rId34"/>
    <p:sldId id="528" r:id="rId35"/>
    <p:sldId id="529" r:id="rId36"/>
    <p:sldId id="530" r:id="rId37"/>
    <p:sldId id="519" r:id="rId38"/>
    <p:sldId id="520" r:id="rId39"/>
    <p:sldId id="537" r:id="rId40"/>
    <p:sldId id="538" r:id="rId41"/>
    <p:sldId id="539" r:id="rId42"/>
    <p:sldId id="521" r:id="rId43"/>
    <p:sldId id="543" r:id="rId44"/>
    <p:sldId id="522" r:id="rId45"/>
    <p:sldId id="515" r:id="rId46"/>
    <p:sldId id="545" r:id="rId47"/>
    <p:sldId id="546" r:id="rId48"/>
    <p:sldId id="547" r:id="rId49"/>
    <p:sldId id="548" r:id="rId50"/>
    <p:sldId id="549" r:id="rId51"/>
    <p:sldId id="551" r:id="rId52"/>
    <p:sldId id="553" r:id="rId53"/>
    <p:sldId id="550" r:id="rId54"/>
    <p:sldId id="482" r:id="rId55"/>
    <p:sldId id="483" r:id="rId56"/>
    <p:sldId id="484" r:id="rId57"/>
    <p:sldId id="544" r:id="rId58"/>
    <p:sldId id="486" r:id="rId59"/>
    <p:sldId id="501" r:id="rId60"/>
    <p:sldId id="497" r:id="rId61"/>
    <p:sldId id="498" r:id="rId62"/>
    <p:sldId id="499" r:id="rId63"/>
    <p:sldId id="500" r:id="rId64"/>
    <p:sldId id="473" r:id="rId65"/>
    <p:sldId id="556" r:id="rId66"/>
    <p:sldId id="557" r:id="rId67"/>
    <p:sldId id="558" r:id="rId6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9A02D4CA-36D1-0242-9570-74B9915D5B21}">
          <p14:sldIdLst>
            <p14:sldId id="256"/>
          </p14:sldIdLst>
        </p14:section>
        <p14:section name="Intro" id="{CC61F583-DB21-1140-9A11-43AAB71E98B0}">
          <p14:sldIdLst>
            <p14:sldId id="523"/>
            <p14:sldId id="257"/>
            <p14:sldId id="258"/>
            <p14:sldId id="259"/>
            <p14:sldId id="260"/>
            <p14:sldId id="262"/>
            <p14:sldId id="264"/>
            <p14:sldId id="266"/>
          </p14:sldIdLst>
        </p14:section>
        <p14:section name="IntelliJ" id="{B1B10B5A-0D6C-624C-8E4A-0CED89627C01}">
          <p14:sldIdLst>
            <p14:sldId id="524"/>
            <p14:sldId id="265"/>
            <p14:sldId id="267"/>
            <p14:sldId id="268"/>
            <p14:sldId id="531"/>
            <p14:sldId id="534"/>
            <p14:sldId id="533"/>
            <p14:sldId id="535"/>
            <p14:sldId id="536"/>
            <p14:sldId id="475"/>
            <p14:sldId id="474"/>
            <p14:sldId id="496"/>
            <p14:sldId id="554"/>
          </p14:sldIdLst>
        </p14:section>
        <p14:section name="Environnement Java" id="{E56EBDD9-73E5-6345-8288-F0B112594117}">
          <p14:sldIdLst>
            <p14:sldId id="487"/>
            <p14:sldId id="489"/>
            <p14:sldId id="542"/>
            <p14:sldId id="490"/>
            <p14:sldId id="525"/>
            <p14:sldId id="491"/>
            <p14:sldId id="555"/>
          </p14:sldIdLst>
        </p14:section>
        <p14:section name="Java vs C#" id="{DFEA05FB-9B10-5444-BAB3-760F2BCAC406}">
          <p14:sldIdLst>
            <p14:sldId id="541"/>
            <p14:sldId id="488"/>
            <p14:sldId id="526"/>
            <p14:sldId id="527"/>
            <p14:sldId id="528"/>
            <p14:sldId id="529"/>
            <p14:sldId id="530"/>
            <p14:sldId id="519"/>
            <p14:sldId id="520"/>
            <p14:sldId id="537"/>
            <p14:sldId id="538"/>
            <p14:sldId id="539"/>
            <p14:sldId id="521"/>
            <p14:sldId id="543"/>
            <p14:sldId id="522"/>
            <p14:sldId id="515"/>
          </p14:sldIdLst>
        </p14:section>
        <p14:section name="Classes, Objets, méthodes" id="{4AA70E49-F60B-4B4D-9468-8BECE09EE7CD}">
          <p14:sldIdLst>
            <p14:sldId id="545"/>
            <p14:sldId id="546"/>
            <p14:sldId id="547"/>
            <p14:sldId id="548"/>
            <p14:sldId id="549"/>
            <p14:sldId id="551"/>
            <p14:sldId id="553"/>
            <p14:sldId id="550"/>
          </p14:sldIdLst>
        </p14:section>
        <p14:section name="https://th.bing.com/th/id/OIG.5Y0kQYZpoGinYmK_.r2_?pid=ImgGn" id="{C71EE524-7B59-E341-BC77-A0DB8B7813E4}">
          <p14:sldIdLst>
            <p14:sldId id="482"/>
            <p14:sldId id="483"/>
            <p14:sldId id="484"/>
            <p14:sldId id="544"/>
            <p14:sldId id="486"/>
            <p14:sldId id="501"/>
          </p14:sldIdLst>
        </p14:section>
        <p14:section name="Syntaxe Java" id="{34B0FE40-7DB0-A54C-9B77-F28A6EBC1807}">
          <p14:sldIdLst>
            <p14:sldId id="497"/>
            <p14:sldId id="498"/>
            <p14:sldId id="499"/>
            <p14:sldId id="500"/>
            <p14:sldId id="473"/>
            <p14:sldId id="556"/>
            <p14:sldId id="557"/>
            <p14:sldId id="55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1F22"/>
    <a:srgbClr val="38FF4F"/>
    <a:srgbClr val="FFDF8B"/>
    <a:srgbClr val="802C31"/>
    <a:srgbClr val="AE6B68"/>
    <a:srgbClr val="9A5239"/>
    <a:srgbClr val="6DC3FB"/>
    <a:srgbClr val="0675AE"/>
    <a:srgbClr val="2868A2"/>
    <a:srgbClr val="2243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17"/>
    <p:restoredTop sz="96327"/>
  </p:normalViewPr>
  <p:slideViewPr>
    <p:cSldViewPr snapToGrid="0">
      <p:cViewPr varScale="1">
        <p:scale>
          <a:sx n="123" d="100"/>
          <a:sy n="123" d="100"/>
        </p:scale>
        <p:origin x="976" y="192"/>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10/03/2026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10/03/2026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t>
            </a:r>
          </a:p>
        </p:txBody>
      </p:sp>
      <p:sp>
        <p:nvSpPr>
          <p:cNvPr id="4" name="Espace réservé du numéro de diapositive 3"/>
          <p:cNvSpPr>
            <a:spLocks noGrp="1"/>
          </p:cNvSpPr>
          <p:nvPr>
            <p:ph type="sldNum" sz="quarter" idx="5"/>
          </p:nvPr>
        </p:nvSpPr>
        <p:spPr/>
        <p:txBody>
          <a:bodyPr/>
          <a:lstStyle/>
          <a:p>
            <a:fld id="{090A3CE4-6862-344E-BAF9-BD23A3F04A8C}" type="slidenum">
              <a:rPr lang="fr-FR" smtClean="0"/>
              <a:t>42</a:t>
            </a:fld>
            <a:endParaRPr lang="fr-FR"/>
          </a:p>
        </p:txBody>
      </p:sp>
    </p:spTree>
    <p:extLst>
      <p:ext uri="{BB962C8B-B14F-4D97-AF65-F5344CB8AC3E}">
        <p14:creationId xmlns:p14="http://schemas.microsoft.com/office/powerpoint/2010/main" val="2967843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2025-2026</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13.jpeg"/><Relationship Id="rId18" Type="http://schemas.openxmlformats.org/officeDocument/2006/relationships/image" Target="../media/image18.jpe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jpeg"/><Relationship Id="rId17" Type="http://schemas.openxmlformats.org/officeDocument/2006/relationships/image" Target="../media/image17.jpe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image" Target="../media/image5.tiff"/><Relationship Id="rId15" Type="http://schemas.openxmlformats.org/officeDocument/2006/relationships/image" Target="../media/image15.png"/><Relationship Id="rId10" Type="http://schemas.openxmlformats.org/officeDocument/2006/relationships/image" Target="../media/image10.gif"/><Relationship Id="rId4" Type="http://schemas.openxmlformats.org/officeDocument/2006/relationships/image" Target="../media/image4.png"/><Relationship Id="rId9" Type="http://schemas.openxmlformats.org/officeDocument/2006/relationships/image" Target="../media/image9.jpeg"/><Relationship Id="rId14"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www.jetbrains.com/idea/download" TargetMode="Externa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hyperlink" Target="https://damienrieu.developpez.com/article/intellij/?page=page_1" TargetMode="External"/><Relationship Id="rId2" Type="http://schemas.openxmlformats.org/officeDocument/2006/relationships/hyperlink" Target="https://www.jetbrains.com/fr-fr/idea/documentatio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blog.jetbrains.com/fr/idea/2022/12/selection-de-raccourcis-clavier-pour-intellij-idea-qui-gagnent-a-etre-connus/"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www.oracle.com/java/technologies/platform-glance.html" TargetMode="External"/><Relationship Id="rId7" Type="http://schemas.openxmlformats.org/officeDocument/2006/relationships/image" Target="../media/image34.png"/><Relationship Id="rId2" Type="http://schemas.openxmlformats.org/officeDocument/2006/relationships/image" Target="../media/image32.png"/><Relationship Id="rId1" Type="http://schemas.openxmlformats.org/officeDocument/2006/relationships/slideLayout" Target="../slideLayouts/slideLayout6.xml"/><Relationship Id="rId6" Type="http://schemas.openxmlformats.org/officeDocument/2006/relationships/image" Target="../media/image33.jpeg"/><Relationship Id="rId5" Type="http://schemas.openxmlformats.org/officeDocument/2006/relationships/hyperlink" Target="https://dev.to/jay_tillu/what-are-jdk-jvm-and-jre-the-exact-difference-between-them-24i6" TargetMode="External"/><Relationship Id="rId4" Type="http://schemas.openxmlformats.org/officeDocument/2006/relationships/hyperlink" Target="https://docs.oracle.com/javase/8/docs/technotes/guides/desc_jdk_structure.html"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docs.oracle.com/javase/8/docs/technotes/guides/desc_jdk_structure.html" TargetMode="External"/><Relationship Id="rId2" Type="http://schemas.openxmlformats.org/officeDocument/2006/relationships/hyperlink" Target="https://www.oracle.com/java/technologies/platform-glance.html" TargetMode="External"/><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33.jpeg"/><Relationship Id="rId4" Type="http://schemas.openxmlformats.org/officeDocument/2006/relationships/hyperlink" Target="https://dev.to/jay_tillu/what-are-jdk-jvm-and-jre-the-exact-difference-between-them-24i6"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4.xml"/><Relationship Id="rId5" Type="http://schemas.openxmlformats.org/officeDocument/2006/relationships/image" Target="../media/image39.svg"/><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docs.oracle.com/javase/10/docs/api/index.html?overview-summary.html" TargetMode="External"/><Relationship Id="rId2" Type="http://schemas.openxmlformats.org/officeDocument/2006/relationships/hyperlink" Target="https://www.jmdoudoux.fr/java/dej/indexavecframes.htm" TargetMode="External"/><Relationship Id="rId1" Type="http://schemas.openxmlformats.org/officeDocument/2006/relationships/slideLayout" Target="../slideLayouts/slideLayout2.xml"/><Relationship Id="rId4" Type="http://schemas.openxmlformats.org/officeDocument/2006/relationships/hyperlink" Target="https://docs.oracle.com/en/java/javase/18/docs/api/index.html?overview-summary.html" TargetMode="External"/></Relationships>
</file>

<file path=ppt/slides/_rels/slide4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hyperlink" Target="https://docs.oracle.com/en/java/javase/18/docs/api/java.base/java/lang/Character.html" TargetMode="External"/><Relationship Id="rId3" Type="http://schemas.openxmlformats.org/officeDocument/2006/relationships/hyperlink" Target="https://docs.oracle.com/en/java/javase/18/docs/api/java.base/java/lang/Short.html" TargetMode="External"/><Relationship Id="rId7" Type="http://schemas.openxmlformats.org/officeDocument/2006/relationships/hyperlink" Target="https://docs.oracle.com/en/java/javase/18/docs/api/java.base/java/lang/Double.html" TargetMode="External"/><Relationship Id="rId2" Type="http://schemas.openxmlformats.org/officeDocument/2006/relationships/hyperlink" Target="https://docs.oracle.com/en/java/javase/18/docs/api/java.base/java/lang/Byte.html" TargetMode="External"/><Relationship Id="rId1" Type="http://schemas.openxmlformats.org/officeDocument/2006/relationships/slideLayout" Target="../slideLayouts/slideLayout2.xml"/><Relationship Id="rId6" Type="http://schemas.openxmlformats.org/officeDocument/2006/relationships/hyperlink" Target="https://docs.oracle.com/en/java/javase/18/docs/api/java.base/java/lang/Float.html" TargetMode="External"/><Relationship Id="rId5" Type="http://schemas.openxmlformats.org/officeDocument/2006/relationships/hyperlink" Target="https://docs.oracle.com/en/java/javase/18/docs/api/java.base/java/lang/Long.html" TargetMode="External"/><Relationship Id="rId4" Type="http://schemas.openxmlformats.org/officeDocument/2006/relationships/hyperlink" Target="https://docs.oracle.com/en/java/javase/18/docs/api/java.base/java/lang/Integer.html" TargetMode="External"/><Relationship Id="rId9" Type="http://schemas.openxmlformats.org/officeDocument/2006/relationships/hyperlink" Target="https://docs.oracle.com/en/java/javase/18/docs/api/java.base/java/lang/Boolean.html"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docs.oracle.com/en/java/javase/18/docs/api/java.base/java/lang/Character.html#MAX_RADIX" TargetMode="External"/><Relationship Id="rId2" Type="http://schemas.openxmlformats.org/officeDocument/2006/relationships/hyperlink" Target="https://docs.oracle.com/en/java/javase/18/docs/api/java.base/java/lang/Character.html#MIN_RADIX" TargetMode="Externa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2.png"/></Relationships>
</file>

<file path=ppt/slides/_rels/slide65.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POO – Module 2</a:t>
            </a:r>
          </a:p>
          <a:p>
            <a:r>
              <a:rPr lang="fr-FR" dirty="0"/>
              <a:t>Semaine 01</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extLst>
      <p:ext uri="{BB962C8B-B14F-4D97-AF65-F5344CB8AC3E}">
        <p14:creationId xmlns:p14="http://schemas.microsoft.com/office/powerpoint/2010/main" val="458771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2105B5-A614-2AE7-5668-F59DC73BA9A9}"/>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A86F01D-ADC5-0F69-4AE3-A8F599764BED}"/>
              </a:ext>
            </a:extLst>
          </p:cNvPr>
          <p:cNvSpPr>
            <a:spLocks noGrp="1"/>
          </p:cNvSpPr>
          <p:nvPr>
            <p:ph idx="1"/>
          </p:nvPr>
        </p:nvSpPr>
        <p:spPr/>
        <p:txBody>
          <a:bodyPr/>
          <a:lstStyle/>
          <a:p>
            <a:endParaRPr lang="fr-FR"/>
          </a:p>
        </p:txBody>
      </p:sp>
      <p:pic>
        <p:nvPicPr>
          <p:cNvPr id="2050" name="Picture 2" descr="langage de programmation Java fond bleu et caf">
            <a:extLst>
              <a:ext uri="{FF2B5EF4-FFF2-40B4-BE49-F238E27FC236}">
                <a16:creationId xmlns:a16="http://schemas.microsoft.com/office/drawing/2014/main" id="{CDF9BD9D-3545-FDA7-D37B-5BADB7AD050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54" t="15640" r="2954" b="31434"/>
          <a:stretch/>
        </p:blipFill>
        <p:spPr bwMode="auto">
          <a:xfrm>
            <a:off x="0" y="0"/>
            <a:ext cx="12192000" cy="6858000"/>
          </a:xfrm>
          <a:prstGeom prst="rect">
            <a:avLst/>
          </a:prstGeom>
          <a:solidFill>
            <a:srgbClr val="34B4DE"/>
          </a:solidFill>
        </p:spPr>
      </p:pic>
      <p:sp>
        <p:nvSpPr>
          <p:cNvPr id="4" name="ZoneTexte 3">
            <a:extLst>
              <a:ext uri="{FF2B5EF4-FFF2-40B4-BE49-F238E27FC236}">
                <a16:creationId xmlns:a16="http://schemas.microsoft.com/office/drawing/2014/main" id="{FC120C01-D014-63EA-3183-232BD830BE28}"/>
              </a:ext>
            </a:extLst>
          </p:cNvPr>
          <p:cNvSpPr txBox="1"/>
          <p:nvPr/>
        </p:nvSpPr>
        <p:spPr>
          <a:xfrm>
            <a:off x="838200" y="947821"/>
            <a:ext cx="7109778" cy="1107996"/>
          </a:xfrm>
          <a:prstGeom prst="rect">
            <a:avLst/>
          </a:prstGeom>
          <a:solidFill>
            <a:srgbClr val="34B4DE">
              <a:alpha val="76078"/>
            </a:srgbClr>
          </a:solidFill>
          <a:effectLst>
            <a:outerShdw blurRad="50800" dist="38100" dir="2700000" algn="tl" rotWithShape="0">
              <a:prstClr val="black">
                <a:alpha val="40000"/>
              </a:prstClr>
            </a:outerShdw>
          </a:effectLst>
        </p:spPr>
        <p:txBody>
          <a:bodyPr wrap="square" rtlCol="0">
            <a:spAutoFit/>
          </a:bodyPr>
          <a:lstStyle/>
          <a:p>
            <a:pPr algn="ctr"/>
            <a:r>
              <a:rPr lang="fr-FR" sz="6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INTRODUCTION</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02816DBF-AA5A-2EFA-30ED-307B4ECEE7F3}"/>
              </a:ext>
            </a:extLst>
          </p:cNvPr>
          <p:cNvSpPr>
            <a:spLocks noGrp="1"/>
          </p:cNvSpPr>
          <p:nvPr>
            <p:ph type="sldNum" sz="quarter" idx="4"/>
          </p:nvPr>
        </p:nvSpPr>
        <p:spPr/>
        <p:txBody>
          <a:bodyPr/>
          <a:lstStyle/>
          <a:p>
            <a:fld id="{33C783E2-4793-4F48-A271-51A73CC37D74}" type="slidenum">
              <a:rPr lang="fr-FR" smtClean="0"/>
              <a:t>2</a:t>
            </a:fld>
            <a:endParaRPr lang="fr-FR"/>
          </a:p>
        </p:txBody>
      </p:sp>
    </p:spTree>
    <p:extLst>
      <p:ext uri="{BB962C8B-B14F-4D97-AF65-F5344CB8AC3E}">
        <p14:creationId xmlns:p14="http://schemas.microsoft.com/office/powerpoint/2010/main" val="828075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D38A8A-1A5D-1763-BD5A-9B5878E4D9C2}"/>
              </a:ext>
            </a:extLst>
          </p:cNvPr>
          <p:cNvSpPr>
            <a:spLocks noGrp="1"/>
          </p:cNvSpPr>
          <p:nvPr>
            <p:ph type="title"/>
          </p:nvPr>
        </p:nvSpPr>
        <p:spPr/>
        <p:txBody>
          <a:bodyPr/>
          <a:lstStyle/>
          <a:p>
            <a:r>
              <a:rPr lang="fr-FR" dirty="0"/>
              <a:t>Qui suis-je?</a:t>
            </a:r>
          </a:p>
        </p:txBody>
      </p:sp>
      <p:pic>
        <p:nvPicPr>
          <p:cNvPr id="6" name="Image 5">
            <a:extLst>
              <a:ext uri="{FF2B5EF4-FFF2-40B4-BE49-F238E27FC236}">
                <a16:creationId xmlns:a16="http://schemas.microsoft.com/office/drawing/2014/main" id="{3E4DFA84-6D99-932B-76FE-C7C567AEED8E}"/>
              </a:ext>
            </a:extLst>
          </p:cNvPr>
          <p:cNvPicPr>
            <a:picLocks noChangeAspect="1"/>
          </p:cNvPicPr>
          <p:nvPr/>
        </p:nvPicPr>
        <p:blipFill>
          <a:blip r:embed="rId2"/>
          <a:stretch>
            <a:fillRect/>
          </a:stretch>
        </p:blipFill>
        <p:spPr>
          <a:xfrm>
            <a:off x="2318138" y="1586199"/>
            <a:ext cx="1582506" cy="1217312"/>
          </a:xfrm>
          <a:prstGeom prst="rect">
            <a:avLst/>
          </a:prstGeom>
        </p:spPr>
      </p:pic>
      <p:pic>
        <p:nvPicPr>
          <p:cNvPr id="7" name="Image 6">
            <a:extLst>
              <a:ext uri="{FF2B5EF4-FFF2-40B4-BE49-F238E27FC236}">
                <a16:creationId xmlns:a16="http://schemas.microsoft.com/office/drawing/2014/main" id="{35F078CA-BF18-A4BE-EA52-66B6D24E280A}"/>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372146" y="1586199"/>
            <a:ext cx="1729916" cy="1202705"/>
          </a:xfrm>
          <a:prstGeom prst="rect">
            <a:avLst/>
          </a:prstGeom>
        </p:spPr>
      </p:pic>
      <p:pic>
        <p:nvPicPr>
          <p:cNvPr id="8" name="Image 7">
            <a:extLst>
              <a:ext uri="{FF2B5EF4-FFF2-40B4-BE49-F238E27FC236}">
                <a16:creationId xmlns:a16="http://schemas.microsoft.com/office/drawing/2014/main" id="{D8C7D672-F4F0-01E4-C51F-70D8C98EB86F}"/>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116720" y="1600698"/>
            <a:ext cx="1635255" cy="1218372"/>
          </a:xfrm>
          <a:prstGeom prst="rect">
            <a:avLst/>
          </a:prstGeom>
          <a:ln>
            <a:noFill/>
          </a:ln>
          <a:effectLst>
            <a:outerShdw blurRad="292100" dist="139700" dir="2700000" algn="tl" rotWithShape="0">
              <a:srgbClr val="333333">
                <a:alpha val="65000"/>
              </a:srgbClr>
            </a:outerShdw>
          </a:effectLst>
        </p:spPr>
      </p:pic>
      <p:pic>
        <p:nvPicPr>
          <p:cNvPr id="9" name="Image 8">
            <a:extLst>
              <a:ext uri="{FF2B5EF4-FFF2-40B4-BE49-F238E27FC236}">
                <a16:creationId xmlns:a16="http://schemas.microsoft.com/office/drawing/2014/main" id="{94FCFDA1-6E5D-B5D5-7822-E8188FD1952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968051" y="1661040"/>
            <a:ext cx="2207088" cy="1220942"/>
          </a:xfrm>
          <a:prstGeom prst="rect">
            <a:avLst/>
          </a:prstGeom>
          <a:ln>
            <a:noFill/>
          </a:ln>
          <a:effectLst>
            <a:outerShdw blurRad="292100" dist="139700" dir="2700000" algn="tl" rotWithShape="0">
              <a:srgbClr val="333333">
                <a:alpha val="65000"/>
              </a:srgbClr>
            </a:outerShdw>
          </a:effectLst>
        </p:spPr>
      </p:pic>
      <p:pic>
        <p:nvPicPr>
          <p:cNvPr id="10" name="Image 9">
            <a:extLst>
              <a:ext uri="{FF2B5EF4-FFF2-40B4-BE49-F238E27FC236}">
                <a16:creationId xmlns:a16="http://schemas.microsoft.com/office/drawing/2014/main" id="{14249E38-D653-A0DE-A589-5D0C5E225CDB}"/>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8391215" y="1647415"/>
            <a:ext cx="1640976" cy="1561007"/>
          </a:xfrm>
          <a:prstGeom prst="rect">
            <a:avLst/>
          </a:prstGeom>
          <a:ln>
            <a:noFill/>
          </a:ln>
          <a:effectLst>
            <a:outerShdw blurRad="292100" dist="139700" dir="2700000" algn="tl" rotWithShape="0">
              <a:srgbClr val="333333">
                <a:alpha val="65000"/>
              </a:srgbClr>
            </a:outerShdw>
          </a:effectLst>
        </p:spPr>
      </p:pic>
      <p:pic>
        <p:nvPicPr>
          <p:cNvPr id="11" name="Picture 2">
            <a:extLst>
              <a:ext uri="{FF2B5EF4-FFF2-40B4-BE49-F238E27FC236}">
                <a16:creationId xmlns:a16="http://schemas.microsoft.com/office/drawing/2014/main" id="{8AE5A1C5-476C-5136-A190-B8B11C7249E9}"/>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4005378" y="2917733"/>
            <a:ext cx="1369366" cy="30971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6" descr="Couverture Le monde sans fin">
            <a:extLst>
              <a:ext uri="{FF2B5EF4-FFF2-40B4-BE49-F238E27FC236}">
                <a16:creationId xmlns:a16="http://schemas.microsoft.com/office/drawing/2014/main" id="{40F84EC8-C816-1C87-6A10-474442107799}"/>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rot="507905">
            <a:off x="7614000" y="3797701"/>
            <a:ext cx="1515970" cy="1773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18" name="Groupe 17">
            <a:extLst>
              <a:ext uri="{FF2B5EF4-FFF2-40B4-BE49-F238E27FC236}">
                <a16:creationId xmlns:a16="http://schemas.microsoft.com/office/drawing/2014/main" id="{317508FC-669C-2529-257E-5D5806340B80}"/>
              </a:ext>
            </a:extLst>
          </p:cNvPr>
          <p:cNvGrpSpPr/>
          <p:nvPr/>
        </p:nvGrpSpPr>
        <p:grpSpPr>
          <a:xfrm>
            <a:off x="9371923" y="3656277"/>
            <a:ext cx="1418787" cy="2336311"/>
            <a:chOff x="9570343" y="3656277"/>
            <a:chExt cx="1418787" cy="2336311"/>
          </a:xfrm>
        </p:grpSpPr>
        <p:pic>
          <p:nvPicPr>
            <p:cNvPr id="4" name="Image 3">
              <a:extLst>
                <a:ext uri="{FF2B5EF4-FFF2-40B4-BE49-F238E27FC236}">
                  <a16:creationId xmlns:a16="http://schemas.microsoft.com/office/drawing/2014/main" id="{F0F0C588-D142-E635-1C25-36889ABE1935}"/>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rot="21371743">
              <a:off x="9713512" y="3656277"/>
              <a:ext cx="1255125" cy="1149748"/>
            </a:xfrm>
            <a:prstGeom prst="rect">
              <a:avLst/>
            </a:prstGeom>
            <a:noFill/>
            <a:ln>
              <a:noFill/>
            </a:ln>
          </p:spPr>
        </p:pic>
        <p:pic>
          <p:nvPicPr>
            <p:cNvPr id="21" name="Picture 32" descr="Jeu de la vie — Wikipédia">
              <a:extLst>
                <a:ext uri="{FF2B5EF4-FFF2-40B4-BE49-F238E27FC236}">
                  <a16:creationId xmlns:a16="http://schemas.microsoft.com/office/drawing/2014/main" id="{9449743F-27FB-C8EC-6A2B-33206F0D0ADF}"/>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9570343" y="4971061"/>
              <a:ext cx="1418787" cy="1021527"/>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grpSp>
      <p:grpSp>
        <p:nvGrpSpPr>
          <p:cNvPr id="17" name="Groupe 16">
            <a:extLst>
              <a:ext uri="{FF2B5EF4-FFF2-40B4-BE49-F238E27FC236}">
                <a16:creationId xmlns:a16="http://schemas.microsoft.com/office/drawing/2014/main" id="{B091B860-EAF6-CCAF-CEE0-0A7B258DF355}"/>
              </a:ext>
            </a:extLst>
          </p:cNvPr>
          <p:cNvGrpSpPr/>
          <p:nvPr/>
        </p:nvGrpSpPr>
        <p:grpSpPr>
          <a:xfrm>
            <a:off x="797976" y="3256930"/>
            <a:ext cx="3254971" cy="2268429"/>
            <a:chOff x="541006" y="3233446"/>
            <a:chExt cx="3254971" cy="2268429"/>
          </a:xfrm>
        </p:grpSpPr>
        <p:pic>
          <p:nvPicPr>
            <p:cNvPr id="13" name="Picture 10" descr="80s Music Icon - 80&amp;#39;s Png - 1600x1600 PNG Download - PNGkit">
              <a:extLst>
                <a:ext uri="{FF2B5EF4-FFF2-40B4-BE49-F238E27FC236}">
                  <a16:creationId xmlns:a16="http://schemas.microsoft.com/office/drawing/2014/main" id="{1D396D44-CA7F-CCB5-F5D0-6EB803ED6B88}"/>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rot="21263296">
              <a:off x="616756" y="4048221"/>
              <a:ext cx="1068153" cy="106298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4" name="Picture 14" descr="Blade runner Logos">
              <a:extLst>
                <a:ext uri="{FF2B5EF4-FFF2-40B4-BE49-F238E27FC236}">
                  <a16:creationId xmlns:a16="http://schemas.microsoft.com/office/drawing/2014/main" id="{9B874F49-22DE-A0B8-FE19-F5F2F9BAC803}"/>
                </a:ext>
              </a:extLst>
            </p:cNvPr>
            <p:cNvPicPr>
              <a:picLocks noChangeAspect="1" noChangeArrowheads="1"/>
            </p:cNvPicPr>
            <p:nvPr/>
          </p:nvPicPr>
          <p:blipFill rotWithShape="1">
            <a:blip r:embed="rId12" cstate="screen">
              <a:extLst>
                <a:ext uri="{28A0092B-C50C-407E-A947-70E740481C1C}">
                  <a14:useLocalDpi xmlns:a14="http://schemas.microsoft.com/office/drawing/2010/main"/>
                </a:ext>
              </a:extLst>
            </a:blip>
            <a:srcRect/>
            <a:stretch/>
          </p:blipFill>
          <p:spPr bwMode="auto">
            <a:xfrm rot="21186418">
              <a:off x="993580" y="5109033"/>
              <a:ext cx="2802397" cy="39284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30" descr="Spirit of Eden by Talk Talk (Album; E4-46977): Reviews, Ratings, Credits,  Song list - Rate Your Music">
              <a:extLst>
                <a:ext uri="{FF2B5EF4-FFF2-40B4-BE49-F238E27FC236}">
                  <a16:creationId xmlns:a16="http://schemas.microsoft.com/office/drawing/2014/main" id="{1795B9B0-4BB9-5668-DB40-EFD1DFCC3F69}"/>
                </a:ext>
              </a:extLst>
            </p:cNvPr>
            <p:cNvPicPr>
              <a:picLocks noChangeAspect="1" noChangeArrowheads="1"/>
            </p:cNvPicPr>
            <p:nvPr/>
          </p:nvPicPr>
          <p:blipFill rotWithShape="1">
            <a:blip r:embed="rId13" cstate="screen">
              <a:extLst>
                <a:ext uri="{28A0092B-C50C-407E-A947-70E740481C1C}">
                  <a14:useLocalDpi xmlns:a14="http://schemas.microsoft.com/office/drawing/2010/main"/>
                </a:ext>
              </a:extLst>
            </a:blip>
            <a:srcRect/>
            <a:stretch/>
          </p:blipFill>
          <p:spPr bwMode="auto">
            <a:xfrm>
              <a:off x="1782702" y="4137150"/>
              <a:ext cx="786587" cy="25157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2" descr="Depeche Mode-logo">
              <a:extLst>
                <a:ext uri="{FF2B5EF4-FFF2-40B4-BE49-F238E27FC236}">
                  <a16:creationId xmlns:a16="http://schemas.microsoft.com/office/drawing/2014/main" id="{335606E8-8F02-9F6B-FD12-1B50C0F97036}"/>
                </a:ext>
              </a:extLst>
            </p:cNvPr>
            <p:cNvPicPr>
              <a:picLocks noChangeAspect="1" noChangeArrowheads="1"/>
            </p:cNvPicPr>
            <p:nvPr/>
          </p:nvPicPr>
          <p:blipFill rotWithShape="1">
            <a:blip r:embed="rId14" cstate="screen">
              <a:extLst>
                <a:ext uri="{28A0092B-C50C-407E-A947-70E740481C1C}">
                  <a14:useLocalDpi xmlns:a14="http://schemas.microsoft.com/office/drawing/2010/main"/>
                </a:ext>
              </a:extLst>
            </a:blip>
            <a:srcRect/>
            <a:stretch/>
          </p:blipFill>
          <p:spPr bwMode="auto">
            <a:xfrm rot="378854">
              <a:off x="1343387" y="3693439"/>
              <a:ext cx="1635255" cy="35350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imple Minds - Sparkle in the Rain 1&quot; Pin">
              <a:extLst>
                <a:ext uri="{FF2B5EF4-FFF2-40B4-BE49-F238E27FC236}">
                  <a16:creationId xmlns:a16="http://schemas.microsoft.com/office/drawing/2014/main" id="{F47ECCAD-7B1A-9B1E-B8E2-BF5871249C35}"/>
                </a:ext>
              </a:extLst>
            </p:cNvPr>
            <p:cNvPicPr>
              <a:picLocks noChangeAspect="1" noChangeArrowheads="1"/>
            </p:cNvPicPr>
            <p:nvPr/>
          </p:nvPicPr>
          <p:blipFill rotWithShape="1">
            <a:blip r:embed="rId15" cstate="screen">
              <a:extLst>
                <a:ext uri="{28A0092B-C50C-407E-A947-70E740481C1C}">
                  <a14:useLocalDpi xmlns:a14="http://schemas.microsoft.com/office/drawing/2010/main"/>
                </a:ext>
              </a:extLst>
            </a:blip>
            <a:srcRect/>
            <a:stretch/>
          </p:blipFill>
          <p:spPr bwMode="auto">
            <a:xfrm rot="21247355">
              <a:off x="541006" y="3233446"/>
              <a:ext cx="879867" cy="877707"/>
            </a:xfrm>
            <a:prstGeom prst="rect">
              <a:avLst/>
            </a:prstGeom>
            <a:noFill/>
            <a:extLst>
              <a:ext uri="{909E8E84-426E-40DD-AFC4-6F175D3DCCD1}">
                <a14:hiddenFill xmlns:a14="http://schemas.microsoft.com/office/drawing/2010/main">
                  <a:solidFill>
                    <a:srgbClr val="FFFFFF"/>
                  </a:solidFill>
                </a14:hiddenFill>
              </a:ext>
            </a:extLst>
          </p:spPr>
        </p:pic>
      </p:grpSp>
      <p:pic>
        <p:nvPicPr>
          <p:cNvPr id="1034" name="Picture 10" descr="Pile Of Roasted Coffee Beans transparent PNG - StickPNG">
            <a:extLst>
              <a:ext uri="{FF2B5EF4-FFF2-40B4-BE49-F238E27FC236}">
                <a16:creationId xmlns:a16="http://schemas.microsoft.com/office/drawing/2014/main" id="{84898890-D5E1-B692-5A3B-079F23B953AA}"/>
              </a:ext>
            </a:extLst>
          </p:cNvPr>
          <p:cNvPicPr>
            <a:picLocks noChangeAspect="1" noChangeArrowheads="1"/>
          </p:cNvPicPr>
          <p:nvPr/>
        </p:nvPicPr>
        <p:blipFill rotWithShape="1">
          <a:blip r:embed="rId16" cstate="screen">
            <a:extLst>
              <a:ext uri="{28A0092B-C50C-407E-A947-70E740481C1C}">
                <a14:useLocalDpi xmlns:a14="http://schemas.microsoft.com/office/drawing/2010/main"/>
              </a:ext>
            </a:extLst>
          </a:blip>
          <a:srcRect l="8245" t="20574" r="5536" b="20045"/>
          <a:stretch/>
        </p:blipFill>
        <p:spPr bwMode="auto">
          <a:xfrm>
            <a:off x="3502661" y="3357075"/>
            <a:ext cx="2229415" cy="153544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asterman - Ressources">
            <a:extLst>
              <a:ext uri="{FF2B5EF4-FFF2-40B4-BE49-F238E27FC236}">
                <a16:creationId xmlns:a16="http://schemas.microsoft.com/office/drawing/2014/main" id="{9BE4FA41-A450-4AD6-7BFA-5BD331C0ED83}"/>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rot="21210768">
            <a:off x="5850572" y="3681716"/>
            <a:ext cx="1519200" cy="201001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 name="Espace réservé du numéro de diapositive 2">
            <a:extLst>
              <a:ext uri="{FF2B5EF4-FFF2-40B4-BE49-F238E27FC236}">
                <a16:creationId xmlns:a16="http://schemas.microsoft.com/office/drawing/2014/main" id="{DA553D22-670F-A246-61A9-018BAAA72094}"/>
              </a:ext>
            </a:extLst>
          </p:cNvPr>
          <p:cNvSpPr>
            <a:spLocks noGrp="1"/>
          </p:cNvSpPr>
          <p:nvPr>
            <p:ph type="sldNum" sz="quarter" idx="4"/>
          </p:nvPr>
        </p:nvSpPr>
        <p:spPr/>
        <p:txBody>
          <a:bodyPr/>
          <a:lstStyle/>
          <a:p>
            <a:fld id="{33C783E2-4793-4F48-A271-51A73CC37D74}" type="slidenum">
              <a:rPr lang="fr-FR" smtClean="0"/>
              <a:t>3</a:t>
            </a:fld>
            <a:endParaRPr lang="fr-FR"/>
          </a:p>
        </p:txBody>
      </p:sp>
      <p:pic>
        <p:nvPicPr>
          <p:cNvPr id="3074" name="Picture 2">
            <a:extLst>
              <a:ext uri="{FF2B5EF4-FFF2-40B4-BE49-F238E27FC236}">
                <a16:creationId xmlns:a16="http://schemas.microsoft.com/office/drawing/2014/main" id="{840DC81B-FD9A-E68F-D911-F9262E3999A1}"/>
              </a:ext>
            </a:extLst>
          </p:cNvPr>
          <p:cNvPicPr>
            <a:picLocks noChangeAspect="1" noChangeArrowheads="1"/>
          </p:cNvPicPr>
          <p:nvPr/>
        </p:nvPicPr>
        <p:blipFill>
          <a:blip r:embed="rId18">
            <a:alphaModFix amt="35000"/>
            <a:extLst>
              <a:ext uri="{28A0092B-C50C-407E-A947-70E740481C1C}">
                <a14:useLocalDpi xmlns:a14="http://schemas.microsoft.com/office/drawing/2010/main" val="0"/>
              </a:ext>
            </a:extLst>
          </a:blip>
          <a:srcRect/>
          <a:stretch>
            <a:fillRect/>
          </a:stretch>
        </p:blipFill>
        <p:spPr bwMode="auto">
          <a:xfrm>
            <a:off x="10248269" y="1794396"/>
            <a:ext cx="1803222" cy="120270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0745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500"/>
                            </p:stCondLst>
                            <p:childTnLst>
                              <p:par>
                                <p:cTn id="14" presetID="10" presetClass="entr" presetSubtype="0" fill="hold" nodeType="afterEffect">
                                  <p:stCondLst>
                                    <p:cond delay="10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074"/>
                                        </p:tgtEl>
                                        <p:attrNameLst>
                                          <p:attrName>style.visibility</p:attrName>
                                        </p:attrNameLst>
                                      </p:cBhvr>
                                      <p:to>
                                        <p:strVal val="visible"/>
                                      </p:to>
                                    </p:set>
                                    <p:animEffect transition="in" filter="wipe(left)">
                                      <p:cBhvr>
                                        <p:cTn id="36" dur="500"/>
                                        <p:tgtEl>
                                          <p:spTgt spid="307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left)">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034"/>
                                        </p:tgtEl>
                                        <p:attrNameLst>
                                          <p:attrName>style.visibility</p:attrName>
                                        </p:attrNameLst>
                                      </p:cBhvr>
                                      <p:to>
                                        <p:strVal val="visible"/>
                                      </p:to>
                                    </p:set>
                                    <p:animEffect transition="in" filter="wipe(left)">
                                      <p:cBhvr>
                                        <p:cTn id="46" dur="500"/>
                                        <p:tgtEl>
                                          <p:spTgt spid="103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050"/>
                                        </p:tgtEl>
                                        <p:attrNameLst>
                                          <p:attrName>style.visibility</p:attrName>
                                        </p:attrNameLst>
                                      </p:cBhvr>
                                      <p:to>
                                        <p:strVal val="visible"/>
                                      </p:to>
                                    </p:set>
                                    <p:animEffect transition="in" filter="wipe(left)">
                                      <p:cBhvr>
                                        <p:cTn id="51" dur="500"/>
                                        <p:tgtEl>
                                          <p:spTgt spid="2050"/>
                                        </p:tgtEl>
                                      </p:cBhvr>
                                    </p:animEffect>
                                  </p:childTnLst>
                                </p:cTn>
                              </p:par>
                              <p:par>
                                <p:cTn id="52" presetID="22" presetClass="entr" presetSubtype="8" fill="hold"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left)">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wipe(left)">
                                      <p:cBhvr>
                                        <p:cTn id="5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85A7B4-E0AB-B048-3520-776E89AE18CE}"/>
              </a:ext>
            </a:extLst>
          </p:cNvPr>
          <p:cNvSpPr>
            <a:spLocks noGrp="1"/>
          </p:cNvSpPr>
          <p:nvPr>
            <p:ph type="title"/>
          </p:nvPr>
        </p:nvSpPr>
        <p:spPr/>
        <p:txBody>
          <a:bodyPr/>
          <a:lstStyle/>
          <a:p>
            <a:r>
              <a:rPr lang="fr-FR" dirty="0"/>
              <a:t>Contenu du cours</a:t>
            </a:r>
          </a:p>
        </p:txBody>
      </p:sp>
      <p:sp>
        <p:nvSpPr>
          <p:cNvPr id="3" name="Espace réservé du contenu 2">
            <a:extLst>
              <a:ext uri="{FF2B5EF4-FFF2-40B4-BE49-F238E27FC236}">
                <a16:creationId xmlns:a16="http://schemas.microsoft.com/office/drawing/2014/main" id="{8FAC407F-3134-7DF0-98A7-256253AEAB71}"/>
              </a:ext>
            </a:extLst>
          </p:cNvPr>
          <p:cNvSpPr>
            <a:spLocks noGrp="1"/>
          </p:cNvSpPr>
          <p:nvPr>
            <p:ph idx="1"/>
          </p:nvPr>
        </p:nvSpPr>
        <p:spPr/>
        <p:txBody>
          <a:bodyPr>
            <a:noAutofit/>
          </a:bodyPr>
          <a:lstStyle/>
          <a:p>
            <a:pPr marL="342900" indent="-342900">
              <a:buFont typeface="Arial"/>
              <a:buChar char="•"/>
            </a:pPr>
            <a:r>
              <a:rPr lang="fr-FR" sz="2400" dirty="0"/>
              <a:t>Approfondissement et mise en pratique de ce qui a été vu en C#</a:t>
            </a:r>
          </a:p>
          <a:p>
            <a:pPr marL="342900" indent="-342900">
              <a:buFont typeface="Arial"/>
              <a:buChar char="•"/>
            </a:pPr>
            <a:r>
              <a:rPr lang="fr-FR" sz="2400" dirty="0"/>
              <a:t>POO, concepts avancés (héritage, types génériques, lambda,</a:t>
            </a:r>
            <a:r>
              <a:rPr lang="mr-IN" sz="2400" dirty="0"/>
              <a:t>…</a:t>
            </a:r>
            <a:r>
              <a:rPr lang="fr-FR" sz="2400" dirty="0"/>
              <a:t>) </a:t>
            </a:r>
          </a:p>
          <a:p>
            <a:pPr marL="342900" indent="-342900">
              <a:buFont typeface="Arial"/>
              <a:buChar char="•"/>
            </a:pPr>
            <a:r>
              <a:rPr lang="fr-FR" sz="2400" dirty="0"/>
              <a:t>Quelques classes du Framework Java</a:t>
            </a:r>
          </a:p>
          <a:p>
            <a:pPr marL="342900" indent="-342900">
              <a:buFont typeface="Arial"/>
              <a:buChar char="•"/>
            </a:pPr>
            <a:r>
              <a:rPr lang="fr-FR" sz="2400" dirty="0"/>
              <a:t>Quelques outils (JUnit, </a:t>
            </a:r>
            <a:r>
              <a:rPr lang="fr-FR" sz="2400" dirty="0" err="1"/>
              <a:t>JavaFX</a:t>
            </a:r>
            <a:r>
              <a:rPr lang="fr-FR" sz="2400" dirty="0"/>
              <a:t>…)</a:t>
            </a:r>
          </a:p>
          <a:p>
            <a:pPr marL="342900" indent="-342900">
              <a:buFont typeface="Arial"/>
              <a:buChar char="•"/>
            </a:pPr>
            <a:endParaRPr lang="fr-FR" sz="900" dirty="0"/>
          </a:p>
          <a:p>
            <a:pPr marL="342900" indent="-342900">
              <a:buFont typeface="Arial"/>
              <a:buChar char="•"/>
            </a:pPr>
            <a:r>
              <a:rPr lang="fr-FR" sz="2400" dirty="0"/>
              <a:t>Explications et </a:t>
            </a:r>
            <a:r>
              <a:rPr lang="fr-FR" sz="2400" dirty="0">
                <a:solidFill>
                  <a:schemeClr val="accent2"/>
                </a:solidFill>
              </a:rPr>
              <a:t>exercices pratiques</a:t>
            </a:r>
          </a:p>
          <a:p>
            <a:pPr marL="342900" indent="-342900">
              <a:buFont typeface="Arial"/>
              <a:buChar char="•"/>
            </a:pPr>
            <a:r>
              <a:rPr lang="fr-FR" sz="2400" dirty="0">
                <a:solidFill>
                  <a:schemeClr val="accent2"/>
                </a:solidFill>
              </a:rPr>
              <a:t>Travail personnel</a:t>
            </a:r>
          </a:p>
          <a:p>
            <a:pPr marL="342900" indent="-342900">
              <a:buFont typeface="Arial"/>
              <a:buChar char="•"/>
            </a:pPr>
            <a:endParaRPr lang="fr-FR" sz="900" dirty="0"/>
          </a:p>
          <a:p>
            <a:pPr marL="342900" indent="-342900">
              <a:buFont typeface="Arial"/>
              <a:buChar char="•"/>
            </a:pPr>
            <a:r>
              <a:rPr lang="fr-FR" sz="2400" dirty="0">
                <a:solidFill>
                  <a:schemeClr val="tx2"/>
                </a:solidFill>
              </a:rPr>
              <a:t>Attention, seul un travail personnel peut vous aider à </a:t>
            </a:r>
            <a:br>
              <a:rPr lang="fr-FR" sz="2400" dirty="0">
                <a:solidFill>
                  <a:schemeClr val="tx2"/>
                </a:solidFill>
              </a:rPr>
            </a:br>
            <a:r>
              <a:rPr lang="fr-FR" sz="2400" dirty="0">
                <a:solidFill>
                  <a:schemeClr val="tx2"/>
                </a:solidFill>
              </a:rPr>
              <a:t>appréhender ce qui sera vu au cours... </a:t>
            </a:r>
            <a:br>
              <a:rPr lang="fr-FR" sz="2400" dirty="0">
                <a:solidFill>
                  <a:schemeClr val="tx2"/>
                </a:solidFill>
              </a:rPr>
            </a:br>
            <a:r>
              <a:rPr lang="fr-FR" sz="2400" dirty="0">
                <a:solidFill>
                  <a:schemeClr val="tx2"/>
                </a:solidFill>
              </a:rPr>
              <a:t>S'il y a un problème, ne faites pas l’autruche</a:t>
            </a:r>
          </a:p>
          <a:p>
            <a:endParaRPr lang="fr-FR" sz="2400" dirty="0"/>
          </a:p>
        </p:txBody>
      </p:sp>
      <p:pic>
        <p:nvPicPr>
          <p:cNvPr id="6" name="Image 5">
            <a:extLst>
              <a:ext uri="{FF2B5EF4-FFF2-40B4-BE49-F238E27FC236}">
                <a16:creationId xmlns:a16="http://schemas.microsoft.com/office/drawing/2014/main" id="{C0281C4E-A26D-865E-3720-403FA8D6EF4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791900" y="4696261"/>
            <a:ext cx="2035126" cy="1615641"/>
          </a:xfrm>
          <a:prstGeom prst="rect">
            <a:avLst/>
          </a:prstGeom>
          <a:ln>
            <a:noFill/>
          </a:ln>
          <a:effectLst>
            <a:outerShdw blurRad="292100" dist="139700" dir="2700000" algn="tl" rotWithShape="0">
              <a:srgbClr val="333333">
                <a:alpha val="65000"/>
              </a:srgbClr>
            </a:outerShdw>
          </a:effectLst>
        </p:spPr>
      </p:pic>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4</a:t>
            </a:fld>
            <a:endParaRPr lang="fr-FR"/>
          </a:p>
        </p:txBody>
      </p:sp>
    </p:spTree>
    <p:extLst>
      <p:ext uri="{BB962C8B-B14F-4D97-AF65-F5344CB8AC3E}">
        <p14:creationId xmlns:p14="http://schemas.microsoft.com/office/powerpoint/2010/main" val="2354735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59CE13-D155-B0E8-54C5-40B113DFD3EA}"/>
              </a:ext>
            </a:extLst>
          </p:cNvPr>
          <p:cNvSpPr>
            <a:spLocks noGrp="1"/>
          </p:cNvSpPr>
          <p:nvPr>
            <p:ph type="title"/>
          </p:nvPr>
        </p:nvSpPr>
        <p:spPr/>
        <p:txBody>
          <a:bodyPr/>
          <a:lstStyle/>
          <a:p>
            <a:r>
              <a:rPr lang="fr-FR" dirty="0"/>
              <a:t>Matière à voir…</a:t>
            </a:r>
          </a:p>
        </p:txBody>
      </p:sp>
      <p:sp>
        <p:nvSpPr>
          <p:cNvPr id="3" name="Espace réservé du contenu 2">
            <a:extLst>
              <a:ext uri="{FF2B5EF4-FFF2-40B4-BE49-F238E27FC236}">
                <a16:creationId xmlns:a16="http://schemas.microsoft.com/office/drawing/2014/main" id="{5BC68197-4408-6682-5DCD-69DFA300831F}"/>
              </a:ext>
            </a:extLst>
          </p:cNvPr>
          <p:cNvSpPr>
            <a:spLocks noGrp="1"/>
          </p:cNvSpPr>
          <p:nvPr>
            <p:ph idx="1"/>
          </p:nvPr>
        </p:nvSpPr>
        <p:spPr/>
        <p:txBody>
          <a:bodyPr/>
          <a:lstStyle/>
          <a:p>
            <a:pPr marL="342900" indent="-342900">
              <a:buFont typeface="Arial" charset="0"/>
              <a:buChar char="•"/>
            </a:pPr>
            <a:r>
              <a:rPr lang="fr-BE" dirty="0"/>
              <a:t>Tableaux en Java</a:t>
            </a:r>
          </a:p>
          <a:p>
            <a:pPr marL="342900" indent="-342900">
              <a:buFont typeface="Arial" charset="0"/>
              <a:buChar char="•"/>
            </a:pPr>
            <a:r>
              <a:rPr lang="fr-BE" dirty="0"/>
              <a:t>Types Primitifs vs Classes</a:t>
            </a:r>
          </a:p>
          <a:p>
            <a:pPr marL="342900" indent="-342900">
              <a:buFont typeface="Arial" charset="0"/>
              <a:buChar char="•"/>
            </a:pPr>
            <a:r>
              <a:rPr lang="fr-BE" i="1" dirty="0">
                <a:solidFill>
                  <a:schemeClr val="accent6"/>
                </a:solidFill>
              </a:rPr>
              <a:t>Anatomie d’une Classe, Classe vs Objet, Utilisation d’Objets</a:t>
            </a:r>
            <a:endParaRPr lang="fr-FR" i="1" dirty="0">
              <a:solidFill>
                <a:schemeClr val="accent6"/>
              </a:solidFill>
            </a:endParaRPr>
          </a:p>
          <a:p>
            <a:pPr marL="342900" indent="-342900">
              <a:buFont typeface="Arial" charset="0"/>
              <a:buChar char="•"/>
            </a:pPr>
            <a:r>
              <a:rPr lang="en-GB" dirty="0"/>
              <a:t>Tests </a:t>
            </a:r>
            <a:r>
              <a:rPr lang="en-GB" dirty="0" err="1"/>
              <a:t>Unitaires</a:t>
            </a:r>
            <a:endParaRPr lang="en-GB" dirty="0"/>
          </a:p>
          <a:p>
            <a:pPr marL="342900" indent="-342900">
              <a:buFont typeface="Arial" charset="0"/>
              <a:buChar char="•"/>
            </a:pPr>
            <a:r>
              <a:rPr lang="fr-BE" i="1" dirty="0">
                <a:solidFill>
                  <a:schemeClr val="accent6"/>
                </a:solidFill>
              </a:rPr>
              <a:t>La force des classes: l’héritage</a:t>
            </a:r>
            <a:endParaRPr lang="fr-FR" i="1" dirty="0">
              <a:solidFill>
                <a:schemeClr val="accent6"/>
              </a:solidFill>
            </a:endParaRPr>
          </a:p>
          <a:p>
            <a:pPr marL="342900" indent="-342900">
              <a:buFont typeface="Arial" charset="0"/>
              <a:buChar char="•"/>
            </a:pPr>
            <a:r>
              <a:rPr lang="fr-FR" dirty="0"/>
              <a:t>Plus loin: classes abstraites, locales, anonymes et interfaces</a:t>
            </a:r>
          </a:p>
          <a:p>
            <a:pPr marL="342900" indent="-342900">
              <a:buFont typeface="Arial" charset="0"/>
              <a:buChar char="•"/>
            </a:pPr>
            <a:r>
              <a:rPr lang="fr-FR" dirty="0"/>
              <a:t>Quelques classes du Framework java</a:t>
            </a:r>
          </a:p>
        </p:txBody>
      </p:sp>
      <p:sp>
        <p:nvSpPr>
          <p:cNvPr id="4" name="Espace réservé du numéro de diapositive 3">
            <a:extLst>
              <a:ext uri="{FF2B5EF4-FFF2-40B4-BE49-F238E27FC236}">
                <a16:creationId xmlns:a16="http://schemas.microsoft.com/office/drawing/2014/main" id="{98606663-2CFC-A36E-A348-1A850B8FAC52}"/>
              </a:ext>
            </a:extLst>
          </p:cNvPr>
          <p:cNvSpPr>
            <a:spLocks noGrp="1"/>
          </p:cNvSpPr>
          <p:nvPr>
            <p:ph type="sldNum" sz="quarter" idx="4"/>
          </p:nvPr>
        </p:nvSpPr>
        <p:spPr/>
        <p:txBody>
          <a:bodyPr/>
          <a:lstStyle/>
          <a:p>
            <a:fld id="{33C783E2-4793-4F48-A271-51A73CC37D74}" type="slidenum">
              <a:rPr lang="fr-FR" smtClean="0"/>
              <a:t>5</a:t>
            </a:fld>
            <a:endParaRPr lang="fr-FR"/>
          </a:p>
        </p:txBody>
      </p:sp>
    </p:spTree>
    <p:extLst>
      <p:ext uri="{BB962C8B-B14F-4D97-AF65-F5344CB8AC3E}">
        <p14:creationId xmlns:p14="http://schemas.microsoft.com/office/powerpoint/2010/main" val="1018116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D165AC-D64E-44CA-0D50-3B6AF96BA5E1}"/>
              </a:ext>
            </a:extLst>
          </p:cNvPr>
          <p:cNvSpPr>
            <a:spLocks noGrp="1"/>
          </p:cNvSpPr>
          <p:nvPr>
            <p:ph type="title"/>
          </p:nvPr>
        </p:nvSpPr>
        <p:spPr/>
        <p:txBody>
          <a:bodyPr/>
          <a:lstStyle/>
          <a:p>
            <a:r>
              <a:rPr lang="fr-FR" dirty="0"/>
              <a:t>… et encore</a:t>
            </a:r>
          </a:p>
        </p:txBody>
      </p:sp>
      <p:sp>
        <p:nvSpPr>
          <p:cNvPr id="3" name="Espace réservé du contenu 2">
            <a:extLst>
              <a:ext uri="{FF2B5EF4-FFF2-40B4-BE49-F238E27FC236}">
                <a16:creationId xmlns:a16="http://schemas.microsoft.com/office/drawing/2014/main" id="{BB4CC73F-B764-5649-5770-33CADDAE9FD1}"/>
              </a:ext>
            </a:extLst>
          </p:cNvPr>
          <p:cNvSpPr>
            <a:spLocks noGrp="1"/>
          </p:cNvSpPr>
          <p:nvPr>
            <p:ph idx="1"/>
          </p:nvPr>
        </p:nvSpPr>
        <p:spPr/>
        <p:txBody>
          <a:bodyPr>
            <a:normAutofit/>
          </a:bodyPr>
          <a:lstStyle/>
          <a:p>
            <a:pPr marL="342900" indent="-342900">
              <a:buFont typeface="Arial" charset="0"/>
              <a:buChar char="•"/>
            </a:pPr>
            <a:r>
              <a:rPr lang="fr-FR" dirty="0"/>
              <a:t>Énumérations</a:t>
            </a:r>
          </a:p>
          <a:p>
            <a:pPr marL="342900" indent="-342900">
              <a:buFont typeface="Arial" charset="0"/>
              <a:buChar char="•"/>
            </a:pPr>
            <a:r>
              <a:rPr lang="fr-FR" dirty="0"/>
              <a:t>Exceptions</a:t>
            </a:r>
          </a:p>
          <a:p>
            <a:pPr marL="342900" indent="-342900">
              <a:buFont typeface="Arial" charset="0"/>
              <a:buChar char="•"/>
            </a:pPr>
            <a:r>
              <a:rPr lang="fr-FR" dirty="0"/>
              <a:t>Types génériques</a:t>
            </a:r>
          </a:p>
          <a:p>
            <a:pPr marL="342900" indent="-342900">
              <a:buFont typeface="Arial" charset="0"/>
              <a:buChar char="•"/>
            </a:pPr>
            <a:r>
              <a:rPr lang="fr-FR" dirty="0"/>
              <a:t>Les Collections</a:t>
            </a:r>
          </a:p>
          <a:p>
            <a:pPr marL="342900" indent="-342900">
              <a:buFont typeface="Arial" charset="0"/>
              <a:buChar char="•"/>
            </a:pPr>
            <a:r>
              <a:rPr lang="fr-FR" dirty="0"/>
              <a:t>Expressions Lambda (programmation fonctionnelle)</a:t>
            </a:r>
          </a:p>
          <a:p>
            <a:pPr marL="342900" indent="-342900">
              <a:buFont typeface="Arial" charset="0"/>
              <a:buChar char="•"/>
            </a:pPr>
            <a:r>
              <a:rPr lang="fr-FR" dirty="0"/>
              <a:t>Développement graphique: </a:t>
            </a:r>
            <a:r>
              <a:rPr lang="fr-FR" dirty="0" err="1"/>
              <a:t>JavaFX</a:t>
            </a:r>
            <a:r>
              <a:rPr lang="fr-FR" dirty="0"/>
              <a:t> et les événements</a:t>
            </a:r>
          </a:p>
          <a:p>
            <a:pPr marL="342900" indent="-342900">
              <a:buFont typeface="Arial" charset="0"/>
              <a:buChar char="•"/>
            </a:pPr>
            <a:r>
              <a:rPr lang="fr-FR" dirty="0"/>
              <a:t>Concepts plus avancés: Threads, Fichiers, </a:t>
            </a:r>
            <a:r>
              <a:rPr lang="fr-FR" dirty="0" err="1"/>
              <a:t>Logging</a:t>
            </a:r>
            <a:r>
              <a:rPr lang="fr-FR" dirty="0"/>
              <a:t> (log4j)</a:t>
            </a:r>
          </a:p>
          <a:p>
            <a:pPr marL="342900" indent="-342900">
              <a:buFont typeface="Arial" charset="0"/>
              <a:buChar char="•"/>
            </a:pPr>
            <a:r>
              <a:rPr lang="fr-FR" dirty="0"/>
              <a:t>Principes de Clean Code</a:t>
            </a:r>
          </a:p>
          <a:p>
            <a:endParaRPr lang="fr-FR" dirty="0"/>
          </a:p>
        </p:txBody>
      </p:sp>
      <p:sp>
        <p:nvSpPr>
          <p:cNvPr id="4" name="Espace réservé du numéro de diapositive 3">
            <a:extLst>
              <a:ext uri="{FF2B5EF4-FFF2-40B4-BE49-F238E27FC236}">
                <a16:creationId xmlns:a16="http://schemas.microsoft.com/office/drawing/2014/main" id="{A9A62249-227E-49D7-16BC-209859B9F6FD}"/>
              </a:ext>
            </a:extLst>
          </p:cNvPr>
          <p:cNvSpPr>
            <a:spLocks noGrp="1"/>
          </p:cNvSpPr>
          <p:nvPr>
            <p:ph type="sldNum" sz="quarter" idx="4"/>
          </p:nvPr>
        </p:nvSpPr>
        <p:spPr/>
        <p:txBody>
          <a:bodyPr/>
          <a:lstStyle/>
          <a:p>
            <a:fld id="{33C783E2-4793-4F48-A271-51A73CC37D74}" type="slidenum">
              <a:rPr lang="fr-FR" smtClean="0"/>
              <a:t>6</a:t>
            </a:fld>
            <a:endParaRPr lang="fr-FR"/>
          </a:p>
        </p:txBody>
      </p:sp>
    </p:spTree>
    <p:extLst>
      <p:ext uri="{BB962C8B-B14F-4D97-AF65-F5344CB8AC3E}">
        <p14:creationId xmlns:p14="http://schemas.microsoft.com/office/powerpoint/2010/main" val="2864278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D8589B-2BBE-6740-49F5-963A930AE450}"/>
              </a:ext>
            </a:extLst>
          </p:cNvPr>
          <p:cNvSpPr>
            <a:spLocks noGrp="1"/>
          </p:cNvSpPr>
          <p:nvPr>
            <p:ph type="title"/>
          </p:nvPr>
        </p:nvSpPr>
        <p:spPr/>
        <p:txBody>
          <a:bodyPr>
            <a:normAutofit fontScale="90000"/>
          </a:bodyPr>
          <a:lstStyle/>
          <a:p>
            <a:r>
              <a:rPr lang="en-US" dirty="0" err="1"/>
              <a:t>Critères</a:t>
            </a:r>
            <a:r>
              <a:rPr lang="en-US" dirty="0"/>
              <a:t> de </a:t>
            </a:r>
            <a:r>
              <a:rPr lang="en-US" dirty="0" err="1"/>
              <a:t>réussite</a:t>
            </a:r>
            <a:r>
              <a:rPr lang="en-US" dirty="0"/>
              <a:t> et acquis </a:t>
            </a:r>
            <a:r>
              <a:rPr lang="en-US" dirty="0" err="1"/>
              <a:t>d’apprentissage</a:t>
            </a:r>
            <a:endParaRPr lang="fr-FR" dirty="0"/>
          </a:p>
        </p:txBody>
      </p:sp>
      <p:sp>
        <p:nvSpPr>
          <p:cNvPr id="9" name="Espace réservé du contenu 2">
            <a:extLst>
              <a:ext uri="{FF2B5EF4-FFF2-40B4-BE49-F238E27FC236}">
                <a16:creationId xmlns:a16="http://schemas.microsoft.com/office/drawing/2014/main" id="{ED5E4ADD-E756-DD1A-6E3D-B4C06A84B601}"/>
              </a:ext>
            </a:extLst>
          </p:cNvPr>
          <p:cNvSpPr txBox="1">
            <a:spLocks/>
          </p:cNvSpPr>
          <p:nvPr/>
        </p:nvSpPr>
        <p:spPr>
          <a:xfrm>
            <a:off x="838200" y="1784061"/>
            <a:ext cx="5181600" cy="4351338"/>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a:t>L’étudiant sera capable […] de concevoir, d’installer et d’utiliser des objets appropriés à la solution </a:t>
            </a:r>
          </a:p>
          <a:p>
            <a:pPr marL="342900" indent="-342900">
              <a:buFont typeface="Symbol" pitchFamily="2" charset="2"/>
              <a:buChar char=""/>
            </a:pPr>
            <a:r>
              <a:rPr lang="fr-FR" dirty="0">
                <a:ea typeface="Times New Roman" panose="02020603050405020304" pitchFamily="18" charset="0"/>
              </a:rPr>
              <a:t>Pouvoir </a:t>
            </a:r>
            <a:r>
              <a:rPr lang="fr-FR" dirty="0">
                <a:solidFill>
                  <a:schemeClr val="accent4"/>
                </a:solidFill>
                <a:ea typeface="Times New Roman" panose="02020603050405020304" pitchFamily="18" charset="0"/>
              </a:rPr>
              <a:t>définir et implémenter </a:t>
            </a:r>
            <a:r>
              <a:rPr lang="fr-FR" dirty="0">
                <a:ea typeface="Times New Roman" panose="02020603050405020304" pitchFamily="18" charset="0"/>
              </a:rPr>
              <a:t>des classes et des objets Java simples</a:t>
            </a:r>
            <a:endParaRPr lang="fr-BE" dirty="0">
              <a:ea typeface="Times New Roman" panose="02020603050405020304" pitchFamily="18" charset="0"/>
            </a:endParaRPr>
          </a:p>
          <a:p>
            <a:pPr marL="342900" indent="-342900">
              <a:buFont typeface="Symbol" pitchFamily="2" charset="2"/>
              <a:buChar char=""/>
            </a:pPr>
            <a:r>
              <a:rPr lang="fr-FR" dirty="0">
                <a:ea typeface="Times New Roman" panose="02020603050405020304" pitchFamily="18" charset="0"/>
              </a:rPr>
              <a:t>Pouvoir </a:t>
            </a:r>
            <a:r>
              <a:rPr lang="fr-FR" dirty="0">
                <a:solidFill>
                  <a:schemeClr val="accent4"/>
                </a:solidFill>
                <a:ea typeface="Times New Roman" panose="02020603050405020304" pitchFamily="18" charset="0"/>
              </a:rPr>
              <a:t>compléter des classes </a:t>
            </a:r>
            <a:r>
              <a:rPr lang="fr-FR" dirty="0">
                <a:ea typeface="Times New Roman" panose="02020603050405020304" pitchFamily="18" charset="0"/>
              </a:rPr>
              <a:t>Java implémentées par un tiers</a:t>
            </a:r>
            <a:endParaRPr lang="fr-BE" dirty="0">
              <a:ea typeface="Times New Roman" panose="02020603050405020304" pitchFamily="18" charset="0"/>
            </a:endParaRPr>
          </a:p>
          <a:p>
            <a:pPr marL="342900" indent="-342900">
              <a:buFont typeface="Symbol" pitchFamily="2" charset="2"/>
              <a:buChar char=""/>
            </a:pPr>
            <a:r>
              <a:rPr lang="fr-FR" dirty="0">
                <a:ea typeface="Times New Roman" panose="02020603050405020304" pitchFamily="18" charset="0"/>
              </a:rPr>
              <a:t>Pouvoir utiliser et interagir avec des classes et objets Java existants</a:t>
            </a:r>
            <a:endParaRPr lang="fr-BE" dirty="0">
              <a:ea typeface="Times New Roman" panose="02020603050405020304" pitchFamily="18" charset="0"/>
            </a:endParaRPr>
          </a:p>
          <a:p>
            <a:pPr marL="342900" indent="-342900">
              <a:buFont typeface="Symbol" pitchFamily="2" charset="2"/>
              <a:buChar char=""/>
            </a:pPr>
            <a:r>
              <a:rPr lang="fr-FR" dirty="0">
                <a:ea typeface="Times New Roman" panose="02020603050405020304" pitchFamily="18" charset="0"/>
              </a:rPr>
              <a:t>Pouvoir dériver de nouvelles classes par </a:t>
            </a:r>
            <a:r>
              <a:rPr lang="fr-FR" dirty="0">
                <a:solidFill>
                  <a:schemeClr val="accent4"/>
                </a:solidFill>
                <a:ea typeface="Times New Roman" panose="02020603050405020304" pitchFamily="18" charset="0"/>
              </a:rPr>
              <a:t>héritage</a:t>
            </a:r>
            <a:r>
              <a:rPr lang="fr-FR" dirty="0">
                <a:ea typeface="Times New Roman" panose="02020603050405020304" pitchFamily="18" charset="0"/>
              </a:rPr>
              <a:t> d’une classe Java existante</a:t>
            </a:r>
            <a:endParaRPr lang="fr-BE" dirty="0">
              <a:ea typeface="Times New Roman" panose="02020603050405020304" pitchFamily="18" charset="0"/>
            </a:endParaRPr>
          </a:p>
          <a:p>
            <a:pPr marL="342900" indent="-342900">
              <a:buFont typeface="Symbol" pitchFamily="2" charset="2"/>
              <a:buChar char=""/>
            </a:pPr>
            <a:r>
              <a:rPr lang="fr-FR" dirty="0">
                <a:ea typeface="Times New Roman" panose="02020603050405020304" pitchFamily="18" charset="0"/>
              </a:rPr>
              <a:t>Pouvoir </a:t>
            </a:r>
            <a:r>
              <a:rPr lang="fr-FR" dirty="0">
                <a:solidFill>
                  <a:schemeClr val="accent4"/>
                </a:solidFill>
                <a:ea typeface="Times New Roman" panose="02020603050405020304" pitchFamily="18" charset="0"/>
              </a:rPr>
              <a:t>utiliser les classes du JDK </a:t>
            </a:r>
            <a:r>
              <a:rPr lang="fr-FR" dirty="0">
                <a:ea typeface="Times New Roman" panose="02020603050405020304" pitchFamily="18" charset="0"/>
              </a:rPr>
              <a:t>pour accéder à des fichiers et pour réaliser une application disposant d’une interface graphique simple (</a:t>
            </a:r>
            <a:r>
              <a:rPr lang="fr-FR" dirty="0" err="1">
                <a:ea typeface="Times New Roman" panose="02020603050405020304" pitchFamily="18" charset="0"/>
              </a:rPr>
              <a:t>JavaFX</a:t>
            </a:r>
            <a:r>
              <a:rPr lang="fr-FR" dirty="0">
                <a:ea typeface="Times New Roman" panose="02020603050405020304" pitchFamily="18" charset="0"/>
              </a:rPr>
              <a:t>).</a:t>
            </a:r>
            <a:endParaRPr lang="fr-BE" dirty="0">
              <a:ea typeface="Times New Roman" panose="02020603050405020304" pitchFamily="18" charset="0"/>
            </a:endParaRPr>
          </a:p>
          <a:p>
            <a:r>
              <a:rPr lang="fr-FR" dirty="0">
                <a:ea typeface="Times New Roman" panose="02020603050405020304" pitchFamily="18" charset="0"/>
              </a:rPr>
              <a:t>Pouvoir démontrer, au travers d’un exercice simple, sa compréhension du concept et du fonctionnement des </a:t>
            </a:r>
            <a:r>
              <a:rPr lang="fr-FR" dirty="0">
                <a:solidFill>
                  <a:schemeClr val="accent4"/>
                </a:solidFill>
                <a:ea typeface="Times New Roman" panose="02020603050405020304" pitchFamily="18" charset="0"/>
              </a:rPr>
              <a:t>expressions lambda </a:t>
            </a:r>
            <a:r>
              <a:rPr lang="fr-FR" dirty="0">
                <a:ea typeface="Times New Roman" panose="02020603050405020304" pitchFamily="18" charset="0"/>
              </a:rPr>
              <a:t>introduites par Java 8</a:t>
            </a:r>
            <a:r>
              <a:rPr lang="fr-BE" dirty="0"/>
              <a:t> </a:t>
            </a:r>
            <a:endParaRPr lang="en-US" dirty="0"/>
          </a:p>
          <a:p>
            <a:endParaRPr lang="fr-FR" dirty="0"/>
          </a:p>
        </p:txBody>
      </p:sp>
      <p:sp>
        <p:nvSpPr>
          <p:cNvPr id="10" name="Espace réservé du contenu 3">
            <a:extLst>
              <a:ext uri="{FF2B5EF4-FFF2-40B4-BE49-F238E27FC236}">
                <a16:creationId xmlns:a16="http://schemas.microsoft.com/office/drawing/2014/main" id="{6B4B94AB-99F5-1308-9028-5E79057B04CF}"/>
              </a:ext>
            </a:extLst>
          </p:cNvPr>
          <p:cNvSpPr txBox="1">
            <a:spLocks/>
          </p:cNvSpPr>
          <p:nvPr/>
        </p:nvSpPr>
        <p:spPr>
          <a:xfrm>
            <a:off x="6172200" y="1700933"/>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dirty="0"/>
              <a:t>L’étudiant sera capable […] de concevoir et mettre en œuvre une procédure de test partiel et intégré </a:t>
            </a:r>
          </a:p>
          <a:p>
            <a:pPr marL="342900" indent="-342900">
              <a:buFont typeface="Symbol" pitchFamily="2" charset="2"/>
              <a:buChar char=""/>
            </a:pPr>
            <a:r>
              <a:rPr lang="fr-FR" sz="1800" dirty="0"/>
              <a:t>Pouvoir </a:t>
            </a:r>
            <a:r>
              <a:rPr lang="fr-FR" sz="1800" dirty="0">
                <a:solidFill>
                  <a:schemeClr val="accent4"/>
                </a:solidFill>
              </a:rPr>
              <a:t>implémenter des classes de test simples </a:t>
            </a:r>
            <a:r>
              <a:rPr lang="fr-FR" sz="1800" dirty="0"/>
              <a:t>(JUnit,…) sur base d’une classe implémentée par un tiers et/ou de spécifications techniques.</a:t>
            </a:r>
            <a:endParaRPr lang="fr-BE" sz="1800" dirty="0"/>
          </a:p>
          <a:p>
            <a:pPr marL="342900" indent="-342900">
              <a:buFont typeface="Symbol" pitchFamily="2" charset="2"/>
              <a:buChar char=""/>
            </a:pPr>
            <a:r>
              <a:rPr lang="fr-FR" sz="1800" dirty="0"/>
              <a:t>Pouvoir implémenter des classes et objets Java simples et les classes de test correspondantes. </a:t>
            </a:r>
            <a:endParaRPr lang="fr-BE" sz="1800" dirty="0"/>
          </a:p>
          <a:p>
            <a:r>
              <a:rPr lang="fr-FR" sz="1800" dirty="0"/>
              <a:t>Pouvoir, par l’exécution d’une batterie de tests (JUnit) implémentée par un tiers, </a:t>
            </a:r>
            <a:r>
              <a:rPr lang="fr-FR" sz="1800" dirty="0">
                <a:solidFill>
                  <a:schemeClr val="accent4"/>
                </a:solidFill>
              </a:rPr>
              <a:t>repérer et débugger des problèmes </a:t>
            </a:r>
            <a:r>
              <a:rPr lang="fr-FR" sz="1800" dirty="0"/>
              <a:t>simples dans des classes Java implémentées par un tiers.</a:t>
            </a:r>
            <a:r>
              <a:rPr lang="fr-BE" sz="1800" dirty="0"/>
              <a:t> </a:t>
            </a:r>
            <a:endParaRPr lang="fr-FR" sz="1800" dirty="0"/>
          </a:p>
          <a:p>
            <a:endParaRPr lang="fr-FR" sz="1800" dirty="0"/>
          </a:p>
        </p:txBody>
      </p:sp>
      <p:sp>
        <p:nvSpPr>
          <p:cNvPr id="3" name="Espace réservé du numéro de diapositive 2">
            <a:extLst>
              <a:ext uri="{FF2B5EF4-FFF2-40B4-BE49-F238E27FC236}">
                <a16:creationId xmlns:a16="http://schemas.microsoft.com/office/drawing/2014/main" id="{07AC601B-9230-A9A1-8290-538D51C71641}"/>
              </a:ext>
            </a:extLst>
          </p:cNvPr>
          <p:cNvSpPr>
            <a:spLocks noGrp="1"/>
          </p:cNvSpPr>
          <p:nvPr>
            <p:ph type="sldNum" sz="quarter" idx="4"/>
          </p:nvPr>
        </p:nvSpPr>
        <p:spPr/>
        <p:txBody>
          <a:bodyPr/>
          <a:lstStyle/>
          <a:p>
            <a:fld id="{33C783E2-4793-4F48-A271-51A73CC37D74}" type="slidenum">
              <a:rPr lang="fr-FR" smtClean="0"/>
              <a:t>7</a:t>
            </a:fld>
            <a:endParaRPr lang="fr-FR"/>
          </a:p>
        </p:txBody>
      </p:sp>
    </p:spTree>
    <p:extLst>
      <p:ext uri="{BB962C8B-B14F-4D97-AF65-F5344CB8AC3E}">
        <p14:creationId xmlns:p14="http://schemas.microsoft.com/office/powerpoint/2010/main" val="835446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AC6FAF-8A7A-13FB-6CF5-599D339034C5}"/>
              </a:ext>
            </a:extLst>
          </p:cNvPr>
          <p:cNvSpPr>
            <a:spLocks noGrp="1"/>
          </p:cNvSpPr>
          <p:nvPr>
            <p:ph type="title"/>
          </p:nvPr>
        </p:nvSpPr>
        <p:spPr/>
        <p:txBody>
          <a:bodyPr/>
          <a:lstStyle/>
          <a:p>
            <a:r>
              <a:rPr lang="fr-FR" dirty="0"/>
              <a:t>En d’autres termes, vous devez pouvoir…</a:t>
            </a:r>
          </a:p>
        </p:txBody>
      </p:sp>
      <p:sp>
        <p:nvSpPr>
          <p:cNvPr id="3" name="Espace réservé du contenu 2">
            <a:extLst>
              <a:ext uri="{FF2B5EF4-FFF2-40B4-BE49-F238E27FC236}">
                <a16:creationId xmlns:a16="http://schemas.microsoft.com/office/drawing/2014/main" id="{3E2E1923-D8EB-4A28-837D-7B8689908084}"/>
              </a:ext>
            </a:extLst>
          </p:cNvPr>
          <p:cNvSpPr>
            <a:spLocks noGrp="1"/>
          </p:cNvSpPr>
          <p:nvPr>
            <p:ph idx="1"/>
          </p:nvPr>
        </p:nvSpPr>
        <p:spPr/>
        <p:txBody>
          <a:bodyPr/>
          <a:lstStyle/>
          <a:p>
            <a:r>
              <a:rPr lang="fr-FR" dirty="0"/>
              <a:t>Concevoir des classes et les </a:t>
            </a:r>
            <a:r>
              <a:rPr lang="fr-FR" dirty="0">
                <a:solidFill>
                  <a:schemeClr val="accent4"/>
                </a:solidFill>
              </a:rPr>
              <a:t>utiliser</a:t>
            </a:r>
          </a:p>
          <a:p>
            <a:r>
              <a:rPr lang="fr-FR" dirty="0"/>
              <a:t>Utiliser à bon escient l’</a:t>
            </a:r>
            <a:r>
              <a:rPr lang="fr-FR" dirty="0">
                <a:solidFill>
                  <a:schemeClr val="accent4"/>
                </a:solidFill>
              </a:rPr>
              <a:t>héritage</a:t>
            </a:r>
          </a:p>
          <a:p>
            <a:r>
              <a:rPr lang="fr-FR" dirty="0"/>
              <a:t>Ecrire et exécuter des </a:t>
            </a:r>
            <a:r>
              <a:rPr lang="fr-FR" dirty="0">
                <a:solidFill>
                  <a:schemeClr val="accent4"/>
                </a:solidFill>
              </a:rPr>
              <a:t>cas de test </a:t>
            </a:r>
            <a:r>
              <a:rPr lang="fr-FR" dirty="0"/>
              <a:t>pour vérifier le bon fonctionnement de classes</a:t>
            </a:r>
          </a:p>
          <a:p>
            <a:r>
              <a:rPr lang="fr-FR" dirty="0"/>
              <a:t>Utiliser les classes du </a:t>
            </a:r>
            <a:r>
              <a:rPr lang="fr-FR" dirty="0">
                <a:solidFill>
                  <a:schemeClr val="accent4"/>
                </a:solidFill>
              </a:rPr>
              <a:t>JDK</a:t>
            </a:r>
            <a:r>
              <a:rPr lang="fr-FR" dirty="0"/>
              <a:t> Java que nous aurons vues au cours: Fichiers, Collections, Exceptions, Events, Threads</a:t>
            </a:r>
          </a:p>
          <a:p>
            <a:endParaRPr lang="fr-FR" dirty="0"/>
          </a:p>
          <a:p>
            <a:endParaRPr lang="fr-FR" dirty="0"/>
          </a:p>
        </p:txBody>
      </p:sp>
      <p:sp>
        <p:nvSpPr>
          <p:cNvPr id="4" name="Rectangle : coins arrondis 3">
            <a:extLst>
              <a:ext uri="{FF2B5EF4-FFF2-40B4-BE49-F238E27FC236}">
                <a16:creationId xmlns:a16="http://schemas.microsoft.com/office/drawing/2014/main" id="{907C684F-3E02-A178-CA9E-A3CDEF0F318E}"/>
              </a:ext>
            </a:extLst>
          </p:cNvPr>
          <p:cNvSpPr/>
          <p:nvPr/>
        </p:nvSpPr>
        <p:spPr>
          <a:xfrm>
            <a:off x="838200" y="1798983"/>
            <a:ext cx="5691809" cy="546652"/>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863F2CED-D0AE-C1B1-0770-34942000C472}"/>
              </a:ext>
            </a:extLst>
          </p:cNvPr>
          <p:cNvSpPr txBox="1"/>
          <p:nvPr/>
        </p:nvSpPr>
        <p:spPr>
          <a:xfrm>
            <a:off x="6698975" y="1887643"/>
            <a:ext cx="3756991" cy="400110"/>
          </a:xfrm>
          <a:prstGeom prst="rect">
            <a:avLst/>
          </a:prstGeom>
          <a:noFill/>
        </p:spPr>
        <p:txBody>
          <a:bodyPr wrap="square" rtlCol="0">
            <a:spAutoFit/>
          </a:bodyPr>
          <a:lstStyle/>
          <a:p>
            <a:r>
              <a:rPr lang="fr-FR" sz="2000" dirty="0">
                <a:solidFill>
                  <a:srgbClr val="00B050"/>
                </a:solidFill>
                <a:latin typeface="Corbel" panose="020B0503020204020204" pitchFamily="34" charset="0"/>
              </a:rPr>
              <a:t>Comme en C#</a:t>
            </a:r>
          </a:p>
        </p:txBody>
      </p:sp>
      <p:sp>
        <p:nvSpPr>
          <p:cNvPr id="6" name="Espace réservé du numéro de diapositive 5">
            <a:extLst>
              <a:ext uri="{FF2B5EF4-FFF2-40B4-BE49-F238E27FC236}">
                <a16:creationId xmlns:a16="http://schemas.microsoft.com/office/drawing/2014/main" id="{2CEC9CA7-CBC6-9C3F-A29C-A529C325F211}"/>
              </a:ext>
            </a:extLst>
          </p:cNvPr>
          <p:cNvSpPr>
            <a:spLocks noGrp="1"/>
          </p:cNvSpPr>
          <p:nvPr>
            <p:ph type="sldNum" sz="quarter" idx="4"/>
          </p:nvPr>
        </p:nvSpPr>
        <p:spPr/>
        <p:txBody>
          <a:bodyPr/>
          <a:lstStyle/>
          <a:p>
            <a:fld id="{33C783E2-4793-4F48-A271-51A73CC37D74}" type="slidenum">
              <a:rPr lang="fr-FR" smtClean="0"/>
              <a:t>8</a:t>
            </a:fld>
            <a:endParaRPr lang="fr-FR"/>
          </a:p>
        </p:txBody>
      </p:sp>
    </p:spTree>
    <p:extLst>
      <p:ext uri="{BB962C8B-B14F-4D97-AF65-F5344CB8AC3E}">
        <p14:creationId xmlns:p14="http://schemas.microsoft.com/office/powerpoint/2010/main" val="580650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505879-0884-3FF6-1A1D-D548FB15EB81}"/>
              </a:ext>
            </a:extLst>
          </p:cNvPr>
          <p:cNvSpPr>
            <a:spLocks noGrp="1"/>
          </p:cNvSpPr>
          <p:nvPr>
            <p:ph type="title"/>
          </p:nvPr>
        </p:nvSpPr>
        <p:spPr/>
        <p:txBody>
          <a:bodyPr/>
          <a:lstStyle/>
          <a:p>
            <a:r>
              <a:rPr lang="fr-FR" dirty="0"/>
              <a:t>… et l’examen?</a:t>
            </a:r>
          </a:p>
        </p:txBody>
      </p:sp>
      <p:sp>
        <p:nvSpPr>
          <p:cNvPr id="3" name="Espace réservé du contenu 2">
            <a:extLst>
              <a:ext uri="{FF2B5EF4-FFF2-40B4-BE49-F238E27FC236}">
                <a16:creationId xmlns:a16="http://schemas.microsoft.com/office/drawing/2014/main" id="{C43EF738-924E-2DA0-7EDB-41FEFFAFB1D3}"/>
              </a:ext>
            </a:extLst>
          </p:cNvPr>
          <p:cNvSpPr>
            <a:spLocks noGrp="1"/>
          </p:cNvSpPr>
          <p:nvPr>
            <p:ph idx="1"/>
          </p:nvPr>
        </p:nvSpPr>
        <p:spPr/>
        <p:txBody>
          <a:bodyPr>
            <a:normAutofit/>
          </a:bodyPr>
          <a:lstStyle/>
          <a:p>
            <a:pPr marL="0" indent="0">
              <a:buNone/>
            </a:pPr>
            <a:r>
              <a:rPr lang="fr-FR" dirty="0"/>
              <a:t>L’examen se déroule à cahier ouvert (pas de par cœur)</a:t>
            </a:r>
          </a:p>
          <a:p>
            <a:pPr marL="0" indent="0">
              <a:buNone/>
            </a:pPr>
            <a:endParaRPr lang="fr-FR" sz="1100" dirty="0"/>
          </a:p>
          <a:p>
            <a:pPr marL="0" indent="0">
              <a:buNone/>
            </a:pPr>
            <a:r>
              <a:rPr lang="fr-FR" dirty="0"/>
              <a:t>Lors de l’examen, vous recevez des questions sur les sujets suivants:</a:t>
            </a:r>
          </a:p>
          <a:p>
            <a:pPr marL="385763" indent="-385763">
              <a:buFont typeface="+mj-lt"/>
              <a:buAutoNum type="arabicPeriod"/>
            </a:pPr>
            <a:r>
              <a:rPr lang="fr-FR" dirty="0"/>
              <a:t>Ecrire une </a:t>
            </a:r>
            <a:r>
              <a:rPr lang="fr-FR" dirty="0">
                <a:solidFill>
                  <a:schemeClr val="accent4"/>
                </a:solidFill>
              </a:rPr>
              <a:t>classe simple </a:t>
            </a:r>
            <a:r>
              <a:rPr lang="fr-FR" dirty="0"/>
              <a:t>(avec </a:t>
            </a:r>
            <a:r>
              <a:rPr lang="fr-FR" dirty="0">
                <a:solidFill>
                  <a:schemeClr val="accent4"/>
                </a:solidFill>
              </a:rPr>
              <a:t>Exception</a:t>
            </a:r>
            <a:r>
              <a:rPr lang="fr-FR" dirty="0"/>
              <a:t>)</a:t>
            </a:r>
          </a:p>
          <a:p>
            <a:pPr marL="385763" indent="-385763">
              <a:buFont typeface="+mj-lt"/>
              <a:buAutoNum type="arabicPeriod"/>
            </a:pPr>
            <a:r>
              <a:rPr lang="fr-FR" dirty="0"/>
              <a:t>Ecrire un </a:t>
            </a:r>
            <a:r>
              <a:rPr lang="fr-FR" dirty="0">
                <a:solidFill>
                  <a:schemeClr val="accent4"/>
                </a:solidFill>
              </a:rPr>
              <a:t>type générique</a:t>
            </a:r>
          </a:p>
          <a:p>
            <a:pPr marL="385763" indent="-385763">
              <a:buFont typeface="+mj-lt"/>
              <a:buAutoNum type="arabicPeriod"/>
            </a:pPr>
            <a:r>
              <a:rPr lang="fr-FR" dirty="0"/>
              <a:t>Ecrire (et exécuter) une </a:t>
            </a:r>
            <a:r>
              <a:rPr lang="fr-FR" dirty="0">
                <a:solidFill>
                  <a:schemeClr val="accent4"/>
                </a:solidFill>
              </a:rPr>
              <a:t>classe de tests </a:t>
            </a:r>
            <a:r>
              <a:rPr lang="fr-FR" dirty="0"/>
              <a:t>pour une classe donnée</a:t>
            </a:r>
          </a:p>
          <a:p>
            <a:pPr marL="385763" indent="-385763">
              <a:buFont typeface="+mj-lt"/>
              <a:buAutoNum type="arabicPeriod"/>
            </a:pPr>
            <a:r>
              <a:rPr lang="fr-FR" dirty="0"/>
              <a:t>Ecrire une </a:t>
            </a:r>
            <a:r>
              <a:rPr lang="fr-FR" dirty="0">
                <a:solidFill>
                  <a:schemeClr val="accent4"/>
                </a:solidFill>
              </a:rPr>
              <a:t>arborescence d’interfaces/classes</a:t>
            </a:r>
          </a:p>
          <a:p>
            <a:pPr marL="385763" indent="-385763">
              <a:buFont typeface="+mj-lt"/>
              <a:buAutoNum type="arabicPeriod"/>
            </a:pPr>
            <a:r>
              <a:rPr lang="fr-FR" dirty="0"/>
              <a:t>Compléter une </a:t>
            </a:r>
            <a:r>
              <a:rPr lang="fr-FR" dirty="0">
                <a:solidFill>
                  <a:schemeClr val="accent4"/>
                </a:solidFill>
              </a:rPr>
              <a:t>application graphique </a:t>
            </a:r>
            <a:r>
              <a:rPr lang="fr-FR" dirty="0"/>
              <a:t>pour qu’elle fonctionne</a:t>
            </a:r>
          </a:p>
          <a:p>
            <a:pPr marL="385763" indent="-385763">
              <a:buFont typeface="+mj-lt"/>
              <a:buAutoNum type="arabicPeriod"/>
            </a:pPr>
            <a:r>
              <a:rPr lang="fr-FR" dirty="0"/>
              <a:t>… et peut-être une question plus avancée (Threads, Log4J,…)</a:t>
            </a:r>
          </a:p>
          <a:p>
            <a:pPr marL="385763" indent="-385763">
              <a:buFont typeface="+mj-lt"/>
              <a:buAutoNum type="arabicPeriod"/>
            </a:pPr>
            <a:endParaRPr lang="fr-FR" dirty="0"/>
          </a:p>
          <a:p>
            <a:pPr marL="0" indent="0">
              <a:buNone/>
            </a:pPr>
            <a:endParaRPr lang="fr-FR" dirty="0"/>
          </a:p>
        </p:txBody>
      </p:sp>
      <p:grpSp>
        <p:nvGrpSpPr>
          <p:cNvPr id="4" name="Groupe 3">
            <a:extLst>
              <a:ext uri="{FF2B5EF4-FFF2-40B4-BE49-F238E27FC236}">
                <a16:creationId xmlns:a16="http://schemas.microsoft.com/office/drawing/2014/main" id="{986B3C48-B50C-ACFA-8D97-D1D97CD06F42}"/>
              </a:ext>
            </a:extLst>
          </p:cNvPr>
          <p:cNvGrpSpPr/>
          <p:nvPr/>
        </p:nvGrpSpPr>
        <p:grpSpPr>
          <a:xfrm>
            <a:off x="9911623" y="507705"/>
            <a:ext cx="1586442" cy="741140"/>
            <a:chOff x="1798321" y="1462674"/>
            <a:chExt cx="8418008" cy="3932652"/>
          </a:xfrm>
        </p:grpSpPr>
        <p:grpSp>
          <p:nvGrpSpPr>
            <p:cNvPr id="5" name="Groupe 4">
              <a:extLst>
                <a:ext uri="{FF2B5EF4-FFF2-40B4-BE49-F238E27FC236}">
                  <a16:creationId xmlns:a16="http://schemas.microsoft.com/office/drawing/2014/main" id="{8B9C5F1E-1B0A-39F8-4BEE-FB70A3EA9C54}"/>
                </a:ext>
              </a:extLst>
            </p:cNvPr>
            <p:cNvGrpSpPr/>
            <p:nvPr/>
          </p:nvGrpSpPr>
          <p:grpSpPr>
            <a:xfrm>
              <a:off x="1798321" y="1462674"/>
              <a:ext cx="1604380" cy="3932652"/>
              <a:chOff x="1798321" y="1462674"/>
              <a:chExt cx="1604380" cy="3932652"/>
            </a:xfrm>
          </p:grpSpPr>
          <p:sp>
            <p:nvSpPr>
              <p:cNvPr id="33" name="Rectangle : coins arrondis 32">
                <a:extLst>
                  <a:ext uri="{FF2B5EF4-FFF2-40B4-BE49-F238E27FC236}">
                    <a16:creationId xmlns:a16="http://schemas.microsoft.com/office/drawing/2014/main" id="{EC08CCC3-E77A-BDA6-BAE7-9970CC0787E6}"/>
                  </a:ext>
                </a:extLst>
              </p:cNvPr>
              <p:cNvSpPr/>
              <p:nvPr/>
            </p:nvSpPr>
            <p:spPr>
              <a:xfrm>
                <a:off x="2260600" y="1462674"/>
                <a:ext cx="680720" cy="228014"/>
              </a:xfrm>
              <a:prstGeom prst="roundRect">
                <a:avLst>
                  <a:gd name="adj" fmla="val 10968"/>
                </a:avLst>
              </a:prstGeom>
              <a:solidFill>
                <a:srgbClr val="FF00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4" name="Rectangle : coins arrondis 33">
                <a:extLst>
                  <a:ext uri="{FF2B5EF4-FFF2-40B4-BE49-F238E27FC236}">
                    <a16:creationId xmlns:a16="http://schemas.microsoft.com/office/drawing/2014/main" id="{1A85BC40-B842-BF9F-66D9-51AAFC8FBD02}"/>
                  </a:ext>
                </a:extLst>
              </p:cNvPr>
              <p:cNvSpPr/>
              <p:nvPr/>
            </p:nvSpPr>
            <p:spPr>
              <a:xfrm>
                <a:off x="1798321" y="1690688"/>
                <a:ext cx="1604380" cy="3704638"/>
              </a:xfrm>
              <a:prstGeom prst="roundRect">
                <a:avLst>
                  <a:gd name="adj" fmla="val 1096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5" name="Rectangle : coins arrondis 34">
                <a:extLst>
                  <a:ext uri="{FF2B5EF4-FFF2-40B4-BE49-F238E27FC236}">
                    <a16:creationId xmlns:a16="http://schemas.microsoft.com/office/drawing/2014/main" id="{36693206-3B01-8A0A-041B-A9F03B09852D}"/>
                  </a:ext>
                </a:extLst>
              </p:cNvPr>
              <p:cNvSpPr/>
              <p:nvPr/>
            </p:nvSpPr>
            <p:spPr>
              <a:xfrm>
                <a:off x="1975671" y="4915312"/>
                <a:ext cx="1249680" cy="252000"/>
              </a:xfrm>
              <a:prstGeom prst="roundRect">
                <a:avLst>
                  <a:gd name="adj" fmla="val 10968"/>
                </a:avLst>
              </a:prstGeom>
              <a:solidFill>
                <a:srgbClr val="FF00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grpSp>
          <p:nvGrpSpPr>
            <p:cNvPr id="6" name="Groupe 5">
              <a:extLst>
                <a:ext uri="{FF2B5EF4-FFF2-40B4-BE49-F238E27FC236}">
                  <a16:creationId xmlns:a16="http://schemas.microsoft.com/office/drawing/2014/main" id="{AD2CBC23-8500-AD4A-0951-346A67CAEE4C}"/>
                </a:ext>
              </a:extLst>
            </p:cNvPr>
            <p:cNvGrpSpPr/>
            <p:nvPr/>
          </p:nvGrpSpPr>
          <p:grpSpPr>
            <a:xfrm>
              <a:off x="8611949" y="1462674"/>
              <a:ext cx="1604380" cy="3932652"/>
              <a:chOff x="1798321" y="1462674"/>
              <a:chExt cx="1604380" cy="3932652"/>
            </a:xfrm>
          </p:grpSpPr>
          <p:sp>
            <p:nvSpPr>
              <p:cNvPr id="23" name="Rectangle : coins arrondis 22">
                <a:extLst>
                  <a:ext uri="{FF2B5EF4-FFF2-40B4-BE49-F238E27FC236}">
                    <a16:creationId xmlns:a16="http://schemas.microsoft.com/office/drawing/2014/main" id="{0A90E1D1-8829-7CCF-77B3-B4B13503C680}"/>
                  </a:ext>
                </a:extLst>
              </p:cNvPr>
              <p:cNvSpPr/>
              <p:nvPr/>
            </p:nvSpPr>
            <p:spPr>
              <a:xfrm>
                <a:off x="2260600" y="1462674"/>
                <a:ext cx="680720" cy="228014"/>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4" name="Rectangle : coins arrondis 23">
                <a:extLst>
                  <a:ext uri="{FF2B5EF4-FFF2-40B4-BE49-F238E27FC236}">
                    <a16:creationId xmlns:a16="http://schemas.microsoft.com/office/drawing/2014/main" id="{778C5989-5A69-77A3-FB73-749AC943D3CF}"/>
                  </a:ext>
                </a:extLst>
              </p:cNvPr>
              <p:cNvSpPr/>
              <p:nvPr/>
            </p:nvSpPr>
            <p:spPr>
              <a:xfrm>
                <a:off x="1798321" y="1690688"/>
                <a:ext cx="1604380" cy="3704638"/>
              </a:xfrm>
              <a:prstGeom prst="roundRect">
                <a:avLst>
                  <a:gd name="adj" fmla="val 10968"/>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5" name="Rectangle : coins arrondis 24">
                <a:extLst>
                  <a:ext uri="{FF2B5EF4-FFF2-40B4-BE49-F238E27FC236}">
                    <a16:creationId xmlns:a16="http://schemas.microsoft.com/office/drawing/2014/main" id="{F3CF859A-F7DF-4398-8E85-EE640BF6FB21}"/>
                  </a:ext>
                </a:extLst>
              </p:cNvPr>
              <p:cNvSpPr/>
              <p:nvPr/>
            </p:nvSpPr>
            <p:spPr>
              <a:xfrm>
                <a:off x="1975671" y="4915312"/>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6" name="Rectangle : coins arrondis 25">
                <a:extLst>
                  <a:ext uri="{FF2B5EF4-FFF2-40B4-BE49-F238E27FC236}">
                    <a16:creationId xmlns:a16="http://schemas.microsoft.com/office/drawing/2014/main" id="{A927AAB2-A260-8731-55A2-0554CADC324E}"/>
                  </a:ext>
                </a:extLst>
              </p:cNvPr>
              <p:cNvSpPr/>
              <p:nvPr/>
            </p:nvSpPr>
            <p:spPr>
              <a:xfrm>
                <a:off x="1975671" y="4481613"/>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7" name="Rectangle : coins arrondis 26">
                <a:extLst>
                  <a:ext uri="{FF2B5EF4-FFF2-40B4-BE49-F238E27FC236}">
                    <a16:creationId xmlns:a16="http://schemas.microsoft.com/office/drawing/2014/main" id="{796AAECE-1B19-60B7-3520-4833F4EC464B}"/>
                  </a:ext>
                </a:extLst>
              </p:cNvPr>
              <p:cNvSpPr/>
              <p:nvPr/>
            </p:nvSpPr>
            <p:spPr>
              <a:xfrm>
                <a:off x="1975671" y="4047915"/>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8" name="Rectangle : coins arrondis 27">
                <a:extLst>
                  <a:ext uri="{FF2B5EF4-FFF2-40B4-BE49-F238E27FC236}">
                    <a16:creationId xmlns:a16="http://schemas.microsoft.com/office/drawing/2014/main" id="{A80882C4-C5F8-A4C7-D55C-242D36327091}"/>
                  </a:ext>
                </a:extLst>
              </p:cNvPr>
              <p:cNvSpPr/>
              <p:nvPr/>
            </p:nvSpPr>
            <p:spPr>
              <a:xfrm>
                <a:off x="1975671" y="3614217"/>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9" name="Rectangle : coins arrondis 28">
                <a:extLst>
                  <a:ext uri="{FF2B5EF4-FFF2-40B4-BE49-F238E27FC236}">
                    <a16:creationId xmlns:a16="http://schemas.microsoft.com/office/drawing/2014/main" id="{A057E326-7517-8044-952E-30A31A111A98}"/>
                  </a:ext>
                </a:extLst>
              </p:cNvPr>
              <p:cNvSpPr/>
              <p:nvPr/>
            </p:nvSpPr>
            <p:spPr>
              <a:xfrm>
                <a:off x="1975671" y="3180519"/>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0" name="Rectangle : coins arrondis 29">
                <a:extLst>
                  <a:ext uri="{FF2B5EF4-FFF2-40B4-BE49-F238E27FC236}">
                    <a16:creationId xmlns:a16="http://schemas.microsoft.com/office/drawing/2014/main" id="{2C6E1E37-4A44-4966-6229-C525A50C8543}"/>
                  </a:ext>
                </a:extLst>
              </p:cNvPr>
              <p:cNvSpPr/>
              <p:nvPr/>
            </p:nvSpPr>
            <p:spPr>
              <a:xfrm>
                <a:off x="1975671" y="2746821"/>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1" name="Rectangle : coins arrondis 30">
                <a:extLst>
                  <a:ext uri="{FF2B5EF4-FFF2-40B4-BE49-F238E27FC236}">
                    <a16:creationId xmlns:a16="http://schemas.microsoft.com/office/drawing/2014/main" id="{4132EFDF-37E9-3D5D-33BA-78BFB81E94F5}"/>
                  </a:ext>
                </a:extLst>
              </p:cNvPr>
              <p:cNvSpPr/>
              <p:nvPr/>
            </p:nvSpPr>
            <p:spPr>
              <a:xfrm>
                <a:off x="1975671" y="2313123"/>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2" name="Rectangle : coins arrondis 31">
                <a:extLst>
                  <a:ext uri="{FF2B5EF4-FFF2-40B4-BE49-F238E27FC236}">
                    <a16:creationId xmlns:a16="http://schemas.microsoft.com/office/drawing/2014/main" id="{C7319F65-B8EC-A3BC-BEAA-B6BE1C0A457F}"/>
                  </a:ext>
                </a:extLst>
              </p:cNvPr>
              <p:cNvSpPr/>
              <p:nvPr/>
            </p:nvSpPr>
            <p:spPr>
              <a:xfrm>
                <a:off x="1975671" y="1879425"/>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grpSp>
          <p:nvGrpSpPr>
            <p:cNvPr id="7" name="Groupe 6">
              <a:extLst>
                <a:ext uri="{FF2B5EF4-FFF2-40B4-BE49-F238E27FC236}">
                  <a16:creationId xmlns:a16="http://schemas.microsoft.com/office/drawing/2014/main" id="{A38DA80C-F770-4C78-6202-227F7BF4966D}"/>
                </a:ext>
              </a:extLst>
            </p:cNvPr>
            <p:cNvGrpSpPr/>
            <p:nvPr/>
          </p:nvGrpSpPr>
          <p:grpSpPr>
            <a:xfrm>
              <a:off x="4062585" y="1462674"/>
              <a:ext cx="1604380" cy="3932652"/>
              <a:chOff x="1798321" y="1462674"/>
              <a:chExt cx="1604380" cy="3932652"/>
            </a:xfrm>
          </p:grpSpPr>
          <p:sp>
            <p:nvSpPr>
              <p:cNvPr id="17" name="Rectangle : coins arrondis 16">
                <a:extLst>
                  <a:ext uri="{FF2B5EF4-FFF2-40B4-BE49-F238E27FC236}">
                    <a16:creationId xmlns:a16="http://schemas.microsoft.com/office/drawing/2014/main" id="{946C5A08-2CFB-BA78-ACB9-8E3318B709AB}"/>
                  </a:ext>
                </a:extLst>
              </p:cNvPr>
              <p:cNvSpPr/>
              <p:nvPr/>
            </p:nvSpPr>
            <p:spPr>
              <a:xfrm>
                <a:off x="2260600" y="1462674"/>
                <a:ext cx="680720" cy="228014"/>
              </a:xfrm>
              <a:prstGeom prst="roundRect">
                <a:avLst>
                  <a:gd name="adj" fmla="val 10968"/>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8" name="Rectangle : coins arrondis 17">
                <a:extLst>
                  <a:ext uri="{FF2B5EF4-FFF2-40B4-BE49-F238E27FC236}">
                    <a16:creationId xmlns:a16="http://schemas.microsoft.com/office/drawing/2014/main" id="{E83EA20E-C837-0406-3C48-0F420847490E}"/>
                  </a:ext>
                </a:extLst>
              </p:cNvPr>
              <p:cNvSpPr/>
              <p:nvPr/>
            </p:nvSpPr>
            <p:spPr>
              <a:xfrm>
                <a:off x="1798321" y="1690688"/>
                <a:ext cx="1604380" cy="3704638"/>
              </a:xfrm>
              <a:prstGeom prst="roundRect">
                <a:avLst>
                  <a:gd name="adj" fmla="val 10968"/>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9" name="Rectangle : coins arrondis 18">
                <a:extLst>
                  <a:ext uri="{FF2B5EF4-FFF2-40B4-BE49-F238E27FC236}">
                    <a16:creationId xmlns:a16="http://schemas.microsoft.com/office/drawing/2014/main" id="{A8D6BE76-100F-1768-0190-5AE2BB1C19DB}"/>
                  </a:ext>
                </a:extLst>
              </p:cNvPr>
              <p:cNvSpPr/>
              <p:nvPr/>
            </p:nvSpPr>
            <p:spPr>
              <a:xfrm>
                <a:off x="1975671" y="4915312"/>
                <a:ext cx="1249680" cy="252000"/>
              </a:xfrm>
              <a:prstGeom prst="roundRect">
                <a:avLst>
                  <a:gd name="adj" fmla="val 10968"/>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0" name="Rectangle : coins arrondis 19">
                <a:extLst>
                  <a:ext uri="{FF2B5EF4-FFF2-40B4-BE49-F238E27FC236}">
                    <a16:creationId xmlns:a16="http://schemas.microsoft.com/office/drawing/2014/main" id="{54672233-5641-989E-00FA-18B76B792E0D}"/>
                  </a:ext>
                </a:extLst>
              </p:cNvPr>
              <p:cNvSpPr/>
              <p:nvPr/>
            </p:nvSpPr>
            <p:spPr>
              <a:xfrm>
                <a:off x="1975671" y="4481613"/>
                <a:ext cx="1249680" cy="252000"/>
              </a:xfrm>
              <a:prstGeom prst="roundRect">
                <a:avLst>
                  <a:gd name="adj" fmla="val 10968"/>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1" name="Rectangle : coins arrondis 20">
                <a:extLst>
                  <a:ext uri="{FF2B5EF4-FFF2-40B4-BE49-F238E27FC236}">
                    <a16:creationId xmlns:a16="http://schemas.microsoft.com/office/drawing/2014/main" id="{2696F887-51E0-D7E3-11E6-8FC1FBC5A672}"/>
                  </a:ext>
                </a:extLst>
              </p:cNvPr>
              <p:cNvSpPr/>
              <p:nvPr/>
            </p:nvSpPr>
            <p:spPr>
              <a:xfrm>
                <a:off x="1975671" y="4047915"/>
                <a:ext cx="1249680" cy="252000"/>
              </a:xfrm>
              <a:prstGeom prst="roundRect">
                <a:avLst>
                  <a:gd name="adj" fmla="val 10968"/>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2" name="Rectangle : coins arrondis 21">
                <a:extLst>
                  <a:ext uri="{FF2B5EF4-FFF2-40B4-BE49-F238E27FC236}">
                    <a16:creationId xmlns:a16="http://schemas.microsoft.com/office/drawing/2014/main" id="{AEC53B17-79C7-0F8F-F01C-E2E1E4E668E7}"/>
                  </a:ext>
                </a:extLst>
              </p:cNvPr>
              <p:cNvSpPr/>
              <p:nvPr/>
            </p:nvSpPr>
            <p:spPr>
              <a:xfrm>
                <a:off x="1975671" y="3614217"/>
                <a:ext cx="1249680" cy="252000"/>
              </a:xfrm>
              <a:prstGeom prst="roundRect">
                <a:avLst>
                  <a:gd name="adj" fmla="val 10968"/>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grpSp>
          <p:nvGrpSpPr>
            <p:cNvPr id="8" name="Groupe 7">
              <a:extLst>
                <a:ext uri="{FF2B5EF4-FFF2-40B4-BE49-F238E27FC236}">
                  <a16:creationId xmlns:a16="http://schemas.microsoft.com/office/drawing/2014/main" id="{62747A6C-0835-0630-7D58-A5D5697F9E62}"/>
                </a:ext>
              </a:extLst>
            </p:cNvPr>
            <p:cNvGrpSpPr/>
            <p:nvPr/>
          </p:nvGrpSpPr>
          <p:grpSpPr>
            <a:xfrm>
              <a:off x="6326849" y="1462674"/>
              <a:ext cx="1604380" cy="3932652"/>
              <a:chOff x="1798321" y="1462674"/>
              <a:chExt cx="1604380" cy="3932652"/>
            </a:xfrm>
          </p:grpSpPr>
          <p:sp>
            <p:nvSpPr>
              <p:cNvPr id="9" name="Rectangle : coins arrondis 8">
                <a:extLst>
                  <a:ext uri="{FF2B5EF4-FFF2-40B4-BE49-F238E27FC236}">
                    <a16:creationId xmlns:a16="http://schemas.microsoft.com/office/drawing/2014/main" id="{C5A1A910-6BA0-D3E7-1329-71FBD42E9303}"/>
                  </a:ext>
                </a:extLst>
              </p:cNvPr>
              <p:cNvSpPr/>
              <p:nvPr/>
            </p:nvSpPr>
            <p:spPr>
              <a:xfrm>
                <a:off x="2260600" y="1462674"/>
                <a:ext cx="680720" cy="228014"/>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0" name="Rectangle : coins arrondis 9">
                <a:extLst>
                  <a:ext uri="{FF2B5EF4-FFF2-40B4-BE49-F238E27FC236}">
                    <a16:creationId xmlns:a16="http://schemas.microsoft.com/office/drawing/2014/main" id="{23650E05-9999-B6FA-66CB-4E6816DAF170}"/>
                  </a:ext>
                </a:extLst>
              </p:cNvPr>
              <p:cNvSpPr/>
              <p:nvPr/>
            </p:nvSpPr>
            <p:spPr>
              <a:xfrm>
                <a:off x="1798321" y="1690688"/>
                <a:ext cx="1604380" cy="3704638"/>
              </a:xfrm>
              <a:prstGeom prst="roundRect">
                <a:avLst>
                  <a:gd name="adj" fmla="val 10968"/>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1" name="Rectangle : coins arrondis 10">
                <a:extLst>
                  <a:ext uri="{FF2B5EF4-FFF2-40B4-BE49-F238E27FC236}">
                    <a16:creationId xmlns:a16="http://schemas.microsoft.com/office/drawing/2014/main" id="{731CA5FB-3BBD-6920-55E1-09CF0544AE27}"/>
                  </a:ext>
                </a:extLst>
              </p:cNvPr>
              <p:cNvSpPr/>
              <p:nvPr/>
            </p:nvSpPr>
            <p:spPr>
              <a:xfrm>
                <a:off x="1975671" y="4915312"/>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2" name="Rectangle : coins arrondis 11">
                <a:extLst>
                  <a:ext uri="{FF2B5EF4-FFF2-40B4-BE49-F238E27FC236}">
                    <a16:creationId xmlns:a16="http://schemas.microsoft.com/office/drawing/2014/main" id="{990521F9-8115-9062-5F07-ECDEC1016AD4}"/>
                  </a:ext>
                </a:extLst>
              </p:cNvPr>
              <p:cNvSpPr/>
              <p:nvPr/>
            </p:nvSpPr>
            <p:spPr>
              <a:xfrm>
                <a:off x="1975671" y="4481613"/>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3" name="Rectangle : coins arrondis 12">
                <a:extLst>
                  <a:ext uri="{FF2B5EF4-FFF2-40B4-BE49-F238E27FC236}">
                    <a16:creationId xmlns:a16="http://schemas.microsoft.com/office/drawing/2014/main" id="{EECC2005-298F-16E2-73A1-1E4E8C8AEDEE}"/>
                  </a:ext>
                </a:extLst>
              </p:cNvPr>
              <p:cNvSpPr/>
              <p:nvPr/>
            </p:nvSpPr>
            <p:spPr>
              <a:xfrm>
                <a:off x="1975671" y="4047915"/>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4" name="Rectangle : coins arrondis 13">
                <a:extLst>
                  <a:ext uri="{FF2B5EF4-FFF2-40B4-BE49-F238E27FC236}">
                    <a16:creationId xmlns:a16="http://schemas.microsoft.com/office/drawing/2014/main" id="{E66681AA-99C6-B379-E0A2-60EE012416BB}"/>
                  </a:ext>
                </a:extLst>
              </p:cNvPr>
              <p:cNvSpPr/>
              <p:nvPr/>
            </p:nvSpPr>
            <p:spPr>
              <a:xfrm>
                <a:off x="1975671" y="3614217"/>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5" name="Rectangle : coins arrondis 14">
                <a:extLst>
                  <a:ext uri="{FF2B5EF4-FFF2-40B4-BE49-F238E27FC236}">
                    <a16:creationId xmlns:a16="http://schemas.microsoft.com/office/drawing/2014/main" id="{51C0B9E8-5C54-FD53-AC8D-DF4875B22F18}"/>
                  </a:ext>
                </a:extLst>
              </p:cNvPr>
              <p:cNvSpPr/>
              <p:nvPr/>
            </p:nvSpPr>
            <p:spPr>
              <a:xfrm>
                <a:off x="1975671" y="3180519"/>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Rectangle : coins arrondis 15">
                <a:extLst>
                  <a:ext uri="{FF2B5EF4-FFF2-40B4-BE49-F238E27FC236}">
                    <a16:creationId xmlns:a16="http://schemas.microsoft.com/office/drawing/2014/main" id="{9ADB53C7-4D91-52F3-EF2D-A2A7FEE7B71B}"/>
                  </a:ext>
                </a:extLst>
              </p:cNvPr>
              <p:cNvSpPr/>
              <p:nvPr/>
            </p:nvSpPr>
            <p:spPr>
              <a:xfrm>
                <a:off x="1975671" y="2746821"/>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grpSp>
      <p:sp>
        <p:nvSpPr>
          <p:cNvPr id="36" name="Espace réservé du numéro de diapositive 35">
            <a:extLst>
              <a:ext uri="{FF2B5EF4-FFF2-40B4-BE49-F238E27FC236}">
                <a16:creationId xmlns:a16="http://schemas.microsoft.com/office/drawing/2014/main" id="{84FD6AE6-5FBE-3646-6773-96C3CD44F790}"/>
              </a:ext>
            </a:extLst>
          </p:cNvPr>
          <p:cNvSpPr>
            <a:spLocks noGrp="1"/>
          </p:cNvSpPr>
          <p:nvPr>
            <p:ph type="sldNum" sz="quarter" idx="4"/>
          </p:nvPr>
        </p:nvSpPr>
        <p:spPr/>
        <p:txBody>
          <a:bodyPr/>
          <a:lstStyle/>
          <a:p>
            <a:fld id="{33C783E2-4793-4F48-A271-51A73CC37D74}" type="slidenum">
              <a:rPr lang="fr-FR" smtClean="0"/>
              <a:t>9</a:t>
            </a:fld>
            <a:endParaRPr lang="fr-FR"/>
          </a:p>
        </p:txBody>
      </p:sp>
    </p:spTree>
    <p:extLst>
      <p:ext uri="{BB962C8B-B14F-4D97-AF65-F5344CB8AC3E}">
        <p14:creationId xmlns:p14="http://schemas.microsoft.com/office/powerpoint/2010/main" val="1935120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outil de développement fond bleu">
            <a:extLst>
              <a:ext uri="{FF2B5EF4-FFF2-40B4-BE49-F238E27FC236}">
                <a16:creationId xmlns:a16="http://schemas.microsoft.com/office/drawing/2014/main" id="{B991BE25-0E00-BE8A-77C1-CF8E6B6A662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26" t="23577" r="3026" b="23577"/>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FC120C01-D014-63EA-3183-232BD830BE28}"/>
              </a:ext>
            </a:extLst>
          </p:cNvPr>
          <p:cNvSpPr txBox="1"/>
          <p:nvPr/>
        </p:nvSpPr>
        <p:spPr>
          <a:xfrm>
            <a:off x="838200" y="947821"/>
            <a:ext cx="7109778" cy="1107996"/>
          </a:xfrm>
          <a:prstGeom prst="rect">
            <a:avLst/>
          </a:prstGeom>
          <a:solidFill>
            <a:srgbClr val="294674">
              <a:alpha val="74902"/>
            </a:srgbClr>
          </a:solidFill>
          <a:effectLst>
            <a:outerShdw blurRad="50800" dist="38100" dir="2700000" algn="tl" rotWithShape="0">
              <a:prstClr val="black">
                <a:alpha val="40000"/>
              </a:prstClr>
            </a:outerShdw>
          </a:effectLst>
        </p:spPr>
        <p:txBody>
          <a:bodyPr wrap="square" rtlCol="0">
            <a:spAutoFit/>
          </a:bodyPr>
          <a:lstStyle/>
          <a:p>
            <a:pPr algn="ctr"/>
            <a:r>
              <a:rPr lang="fr-FR" sz="6600" b="1" dirty="0" err="1">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IntelliJ</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2" name="Espace réservé du numéro de diapositive 1">
            <a:extLst>
              <a:ext uri="{FF2B5EF4-FFF2-40B4-BE49-F238E27FC236}">
                <a16:creationId xmlns:a16="http://schemas.microsoft.com/office/drawing/2014/main" id="{CC6D6087-9263-D1A4-770A-5C2CE172102C}"/>
              </a:ext>
            </a:extLst>
          </p:cNvPr>
          <p:cNvSpPr>
            <a:spLocks noGrp="1"/>
          </p:cNvSpPr>
          <p:nvPr>
            <p:ph type="sldNum" sz="quarter" idx="4"/>
          </p:nvPr>
        </p:nvSpPr>
        <p:spPr/>
        <p:txBody>
          <a:bodyPr/>
          <a:lstStyle/>
          <a:p>
            <a:fld id="{33C783E2-4793-4F48-A271-51A73CC37D74}" type="slidenum">
              <a:rPr lang="fr-FR" smtClean="0"/>
              <a:t>10</a:t>
            </a:fld>
            <a:endParaRPr lang="fr-FR"/>
          </a:p>
        </p:txBody>
      </p:sp>
    </p:spTree>
    <p:extLst>
      <p:ext uri="{BB962C8B-B14F-4D97-AF65-F5344CB8AC3E}">
        <p14:creationId xmlns:p14="http://schemas.microsoft.com/office/powerpoint/2010/main" val="3544237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EE4B9F-0E7E-378B-E958-03A091D1D3D3}"/>
              </a:ext>
            </a:extLst>
          </p:cNvPr>
          <p:cNvSpPr>
            <a:spLocks noGrp="1"/>
          </p:cNvSpPr>
          <p:nvPr>
            <p:ph type="title"/>
          </p:nvPr>
        </p:nvSpPr>
        <p:spPr/>
        <p:txBody>
          <a:bodyPr/>
          <a:lstStyle/>
          <a:p>
            <a:r>
              <a:rPr lang="fr-FR" dirty="0"/>
              <a:t>Environnement de Développement</a:t>
            </a:r>
          </a:p>
        </p:txBody>
      </p:sp>
      <p:sp>
        <p:nvSpPr>
          <p:cNvPr id="3" name="Espace réservé du contenu 2">
            <a:extLst>
              <a:ext uri="{FF2B5EF4-FFF2-40B4-BE49-F238E27FC236}">
                <a16:creationId xmlns:a16="http://schemas.microsoft.com/office/drawing/2014/main" id="{0A637810-AB3D-20E1-F4E9-A43C85657FC3}"/>
              </a:ext>
            </a:extLst>
          </p:cNvPr>
          <p:cNvSpPr>
            <a:spLocks noGrp="1"/>
          </p:cNvSpPr>
          <p:nvPr>
            <p:ph idx="1"/>
          </p:nvPr>
        </p:nvSpPr>
        <p:spPr/>
        <p:txBody>
          <a:bodyPr/>
          <a:lstStyle/>
          <a:p>
            <a:r>
              <a:rPr lang="fr-FR" dirty="0"/>
              <a:t>Les principaux IDE sont Eclipse, </a:t>
            </a:r>
            <a:r>
              <a:rPr lang="fr-FR" dirty="0" err="1"/>
              <a:t>Netbeans</a:t>
            </a:r>
            <a:r>
              <a:rPr lang="fr-FR" dirty="0"/>
              <a:t> et </a:t>
            </a:r>
            <a:r>
              <a:rPr lang="fr-FR" dirty="0" err="1"/>
              <a:t>IntelliJ</a:t>
            </a:r>
            <a:r>
              <a:rPr lang="fr-FR" dirty="0"/>
              <a:t>.</a:t>
            </a:r>
          </a:p>
          <a:p>
            <a:pPr marL="800100" lvl="1" indent="-342900">
              <a:buFont typeface="Arial"/>
              <a:buChar char="•"/>
            </a:pPr>
            <a:r>
              <a:rPr lang="fr-FR" dirty="0">
                <a:solidFill>
                  <a:schemeClr val="accent4"/>
                </a:solidFill>
              </a:rPr>
              <a:t>Eclipse</a:t>
            </a:r>
            <a:r>
              <a:rPr lang="fr-FR" dirty="0"/>
              <a:t> était fort utilisé en entreprise il y a quelques années</a:t>
            </a:r>
          </a:p>
          <a:p>
            <a:pPr marL="800100" lvl="1" indent="-342900">
              <a:buFont typeface="Arial"/>
              <a:buChar char="•"/>
            </a:pPr>
            <a:r>
              <a:rPr lang="fr-FR" dirty="0" err="1">
                <a:solidFill>
                  <a:schemeClr val="accent4"/>
                </a:solidFill>
              </a:rPr>
              <a:t>Netbeans</a:t>
            </a:r>
            <a:r>
              <a:rPr lang="fr-FR" dirty="0"/>
              <a:t> est l’outil « officiel » d’Oracle/java</a:t>
            </a:r>
          </a:p>
          <a:p>
            <a:pPr marL="800100" lvl="1" indent="-342900">
              <a:buFont typeface="Arial"/>
              <a:buChar char="•"/>
            </a:pPr>
            <a:r>
              <a:rPr lang="fr-FR" b="1" dirty="0" err="1">
                <a:solidFill>
                  <a:schemeClr val="accent4"/>
                </a:solidFill>
              </a:rPr>
              <a:t>IntelliJ</a:t>
            </a:r>
            <a:r>
              <a:rPr lang="fr-FR" dirty="0"/>
              <a:t> est de plus en plus utilisé. C’est celui-ci que nous utiliserons.</a:t>
            </a:r>
          </a:p>
        </p:txBody>
      </p:sp>
      <p:pic>
        <p:nvPicPr>
          <p:cNvPr id="4" name="Image 3">
            <a:extLst>
              <a:ext uri="{FF2B5EF4-FFF2-40B4-BE49-F238E27FC236}">
                <a16:creationId xmlns:a16="http://schemas.microsoft.com/office/drawing/2014/main" id="{EFC2233C-D4FA-F270-1D85-D3AD4C43230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5388" y="4131921"/>
            <a:ext cx="2270400" cy="1440000"/>
          </a:xfrm>
          <a:prstGeom prst="rect">
            <a:avLst/>
          </a:prstGeom>
          <a:effectLst>
            <a:outerShdw blurRad="63500" sx="102000" sy="102000" algn="ctr" rotWithShape="0">
              <a:prstClr val="black">
                <a:alpha val="40000"/>
              </a:prstClr>
            </a:outerShdw>
          </a:effectLst>
        </p:spPr>
      </p:pic>
      <p:pic>
        <p:nvPicPr>
          <p:cNvPr id="6" name="Image 5">
            <a:extLst>
              <a:ext uri="{FF2B5EF4-FFF2-40B4-BE49-F238E27FC236}">
                <a16:creationId xmlns:a16="http://schemas.microsoft.com/office/drawing/2014/main" id="{0752585C-E445-B6F4-8833-512840F074A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53670" y="4127425"/>
            <a:ext cx="2155232" cy="1440000"/>
          </a:xfrm>
          <a:prstGeom prst="rect">
            <a:avLst/>
          </a:prstGeom>
          <a:effectLst>
            <a:outerShdw blurRad="63500" sx="102000" sy="102000" algn="ctr" rotWithShape="0">
              <a:prstClr val="black">
                <a:alpha val="40000"/>
              </a:prstClr>
            </a:outerShdw>
          </a:effectLst>
        </p:spPr>
      </p:pic>
      <p:pic>
        <p:nvPicPr>
          <p:cNvPr id="9" name="Image 8">
            <a:extLst>
              <a:ext uri="{FF2B5EF4-FFF2-40B4-BE49-F238E27FC236}">
                <a16:creationId xmlns:a16="http://schemas.microsoft.com/office/drawing/2014/main" id="{06FD0E72-9937-99F1-64C2-D9CE1A54683A}"/>
              </a:ext>
            </a:extLst>
          </p:cNvPr>
          <p:cNvPicPr>
            <a:picLocks noChangeAspect="1"/>
          </p:cNvPicPr>
          <p:nvPr/>
        </p:nvPicPr>
        <p:blipFill rotWithShape="1">
          <a:blip r:embed="rId4"/>
          <a:srcRect l="31722" t="32166" r="31722" b="32166"/>
          <a:stretch/>
        </p:blipFill>
        <p:spPr>
          <a:xfrm>
            <a:off x="7112274" y="4127425"/>
            <a:ext cx="2283107" cy="1440000"/>
          </a:xfrm>
          <a:prstGeom prst="rect">
            <a:avLst/>
          </a:prstGeom>
          <a:effectLst>
            <a:outerShdw blurRad="63500" sx="102000" sy="102000" algn="ctr" rotWithShape="0">
              <a:prstClr val="black">
                <a:alpha val="40000"/>
              </a:prstClr>
            </a:outerShdw>
          </a:effectLst>
        </p:spPr>
      </p:pic>
      <p:sp>
        <p:nvSpPr>
          <p:cNvPr id="5" name="Espace réservé du numéro de diapositive 4">
            <a:extLst>
              <a:ext uri="{FF2B5EF4-FFF2-40B4-BE49-F238E27FC236}">
                <a16:creationId xmlns:a16="http://schemas.microsoft.com/office/drawing/2014/main" id="{989DCC89-615A-B2CB-7A7D-265478F0390B}"/>
              </a:ext>
            </a:extLst>
          </p:cNvPr>
          <p:cNvSpPr>
            <a:spLocks noGrp="1"/>
          </p:cNvSpPr>
          <p:nvPr>
            <p:ph type="sldNum" sz="quarter" idx="4"/>
          </p:nvPr>
        </p:nvSpPr>
        <p:spPr/>
        <p:txBody>
          <a:bodyPr/>
          <a:lstStyle/>
          <a:p>
            <a:fld id="{33C783E2-4793-4F48-A271-51A73CC37D74}" type="slidenum">
              <a:rPr lang="fr-FR" smtClean="0"/>
              <a:t>11</a:t>
            </a:fld>
            <a:endParaRPr lang="fr-FR"/>
          </a:p>
        </p:txBody>
      </p:sp>
    </p:spTree>
    <p:extLst>
      <p:ext uri="{BB962C8B-B14F-4D97-AF65-F5344CB8AC3E}">
        <p14:creationId xmlns:p14="http://schemas.microsoft.com/office/powerpoint/2010/main" val="3037700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9"/>
                                        </p:tgtEl>
                                      </p:cBhvr>
                                    </p:animEffect>
                                    <p:animScale>
                                      <p:cBhvr>
                                        <p:cTn id="7" dur="25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FCD0CF-1CDA-E112-8AD2-0516B13406E1}"/>
              </a:ext>
            </a:extLst>
          </p:cNvPr>
          <p:cNvSpPr>
            <a:spLocks noGrp="1"/>
          </p:cNvSpPr>
          <p:nvPr>
            <p:ph type="title"/>
          </p:nvPr>
        </p:nvSpPr>
        <p:spPr/>
        <p:txBody>
          <a:bodyPr/>
          <a:lstStyle/>
          <a:p>
            <a:r>
              <a:rPr lang="fr-FR" dirty="0"/>
              <a:t>Installation d’</a:t>
            </a:r>
            <a:r>
              <a:rPr lang="fr-FR" dirty="0" err="1"/>
              <a:t>IntelliJ</a:t>
            </a:r>
            <a:endParaRPr lang="fr-FR" dirty="0"/>
          </a:p>
        </p:txBody>
      </p:sp>
      <p:sp>
        <p:nvSpPr>
          <p:cNvPr id="3" name="Espace réservé du contenu 2">
            <a:extLst>
              <a:ext uri="{FF2B5EF4-FFF2-40B4-BE49-F238E27FC236}">
                <a16:creationId xmlns:a16="http://schemas.microsoft.com/office/drawing/2014/main" id="{873349BB-6306-001A-405C-2A769D201C5C}"/>
              </a:ext>
            </a:extLst>
          </p:cNvPr>
          <p:cNvSpPr>
            <a:spLocks noGrp="1"/>
          </p:cNvSpPr>
          <p:nvPr>
            <p:ph idx="1"/>
          </p:nvPr>
        </p:nvSpPr>
        <p:spPr/>
        <p:txBody>
          <a:bodyPr/>
          <a:lstStyle/>
          <a:p>
            <a:pPr marL="0" indent="0">
              <a:buNone/>
            </a:pPr>
            <a:r>
              <a:rPr lang="fr-FR" b="1" dirty="0" err="1"/>
              <a:t>IntelliJ</a:t>
            </a:r>
            <a:r>
              <a:rPr lang="fr-FR" b="1" dirty="0"/>
              <a:t> est téléchargeable sur </a:t>
            </a:r>
            <a:r>
              <a:rPr lang="fr-FR" b="1" dirty="0">
                <a:solidFill>
                  <a:schemeClr val="accent4"/>
                </a:solidFill>
                <a:hlinkClick r:id="rId2">
                  <a:extLst>
                    <a:ext uri="{A12FA001-AC4F-418D-AE19-62706E023703}">
                      <ahyp:hlinkClr xmlns:ahyp="http://schemas.microsoft.com/office/drawing/2018/hyperlinkcolor" val="tx"/>
                    </a:ext>
                  </a:extLst>
                </a:hlinkClick>
              </a:rPr>
              <a:t>http://www.jetbrains.com/idea/download</a:t>
            </a:r>
            <a:r>
              <a:rPr lang="fr-FR" dirty="0"/>
              <a:t>.</a:t>
            </a:r>
          </a:p>
          <a:p>
            <a:pPr marL="0" indent="0">
              <a:buNone/>
            </a:pPr>
            <a:endParaRPr lang="fr-FR" dirty="0"/>
          </a:p>
          <a:p>
            <a:endParaRPr lang="fr-FR" dirty="0"/>
          </a:p>
        </p:txBody>
      </p:sp>
      <p:pic>
        <p:nvPicPr>
          <p:cNvPr id="6" name="Image 5">
            <a:extLst>
              <a:ext uri="{FF2B5EF4-FFF2-40B4-BE49-F238E27FC236}">
                <a16:creationId xmlns:a16="http://schemas.microsoft.com/office/drawing/2014/main" id="{6C46CFA7-69EC-3B5C-F5FA-AB6DE27191EA}"/>
              </a:ext>
            </a:extLst>
          </p:cNvPr>
          <p:cNvPicPr>
            <a:picLocks noChangeAspect="1"/>
          </p:cNvPicPr>
          <p:nvPr/>
        </p:nvPicPr>
        <p:blipFill>
          <a:blip r:embed="rId3"/>
          <a:stretch>
            <a:fillRect/>
          </a:stretch>
        </p:blipFill>
        <p:spPr>
          <a:xfrm>
            <a:off x="1794164" y="2855336"/>
            <a:ext cx="7772400" cy="2598934"/>
          </a:xfrm>
          <a:prstGeom prst="rect">
            <a:avLst/>
          </a:prstGeom>
          <a:ln>
            <a:solidFill>
              <a:schemeClr val="accent1"/>
            </a:solidFill>
          </a:ln>
          <a:effectLst>
            <a:outerShdw blurRad="50800" dist="38100" dir="2700000" algn="tl" rotWithShape="0">
              <a:prstClr val="black">
                <a:alpha val="40000"/>
              </a:prstClr>
            </a:outerShdw>
          </a:effectLst>
        </p:spPr>
      </p:pic>
      <p:pic>
        <p:nvPicPr>
          <p:cNvPr id="5" name="Image 4">
            <a:extLst>
              <a:ext uri="{FF2B5EF4-FFF2-40B4-BE49-F238E27FC236}">
                <a16:creationId xmlns:a16="http://schemas.microsoft.com/office/drawing/2014/main" id="{FECA6CEB-AA2C-927D-8118-6DC0EB0FA798}"/>
              </a:ext>
            </a:extLst>
          </p:cNvPr>
          <p:cNvPicPr>
            <a:picLocks noChangeAspect="1"/>
          </p:cNvPicPr>
          <p:nvPr/>
        </p:nvPicPr>
        <p:blipFill>
          <a:blip r:embed="rId4"/>
          <a:stretch>
            <a:fillRect/>
          </a:stretch>
        </p:blipFill>
        <p:spPr>
          <a:xfrm>
            <a:off x="8653806" y="4980782"/>
            <a:ext cx="3385794" cy="1725066"/>
          </a:xfrm>
          <a:prstGeom prst="rect">
            <a:avLst/>
          </a:prstGeom>
          <a:ln>
            <a:solidFill>
              <a:schemeClr val="accent1"/>
            </a:solidFill>
          </a:ln>
          <a:effectLst>
            <a:outerShdw blurRad="50800" dist="38100" dir="2700000" algn="tl" rotWithShape="0">
              <a:prstClr val="black">
                <a:alpha val="40000"/>
              </a:prstClr>
            </a:outerShdw>
          </a:effectLst>
        </p:spPr>
      </p:pic>
      <p:sp>
        <p:nvSpPr>
          <p:cNvPr id="7" name="Espace réservé du numéro de diapositive 6">
            <a:extLst>
              <a:ext uri="{FF2B5EF4-FFF2-40B4-BE49-F238E27FC236}">
                <a16:creationId xmlns:a16="http://schemas.microsoft.com/office/drawing/2014/main" id="{B07AD485-4EAE-1AAE-FF99-CF25D1CFC39C}"/>
              </a:ext>
            </a:extLst>
          </p:cNvPr>
          <p:cNvSpPr>
            <a:spLocks noGrp="1"/>
          </p:cNvSpPr>
          <p:nvPr>
            <p:ph type="sldNum" sz="quarter" idx="4"/>
          </p:nvPr>
        </p:nvSpPr>
        <p:spPr/>
        <p:txBody>
          <a:bodyPr/>
          <a:lstStyle/>
          <a:p>
            <a:fld id="{33C783E2-4793-4F48-A271-51A73CC37D74}" type="slidenum">
              <a:rPr lang="fr-FR" smtClean="0"/>
              <a:t>12</a:t>
            </a:fld>
            <a:endParaRPr lang="fr-FR"/>
          </a:p>
        </p:txBody>
      </p:sp>
    </p:spTree>
    <p:extLst>
      <p:ext uri="{BB962C8B-B14F-4D97-AF65-F5344CB8AC3E}">
        <p14:creationId xmlns:p14="http://schemas.microsoft.com/office/powerpoint/2010/main" val="4217891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81D7E5-4100-8405-CC8E-4CF82A6F83AE}"/>
              </a:ext>
            </a:extLst>
          </p:cNvPr>
          <p:cNvSpPr>
            <a:spLocks noGrp="1"/>
          </p:cNvSpPr>
          <p:nvPr>
            <p:ph type="title"/>
          </p:nvPr>
        </p:nvSpPr>
        <p:spPr/>
        <p:txBody>
          <a:bodyPr/>
          <a:lstStyle/>
          <a:p>
            <a:r>
              <a:rPr lang="fr-FR" dirty="0"/>
              <a:t>Démarrer avec </a:t>
            </a:r>
            <a:r>
              <a:rPr lang="fr-FR" dirty="0" err="1"/>
              <a:t>IntelliJ</a:t>
            </a:r>
            <a:endParaRPr lang="fr-FR" dirty="0"/>
          </a:p>
        </p:txBody>
      </p:sp>
      <p:sp>
        <p:nvSpPr>
          <p:cNvPr id="3" name="Espace réservé du contenu 2">
            <a:extLst>
              <a:ext uri="{FF2B5EF4-FFF2-40B4-BE49-F238E27FC236}">
                <a16:creationId xmlns:a16="http://schemas.microsoft.com/office/drawing/2014/main" id="{1BCB9B82-ADB9-5728-BF78-A3C4304D44BC}"/>
              </a:ext>
            </a:extLst>
          </p:cNvPr>
          <p:cNvSpPr>
            <a:spLocks noGrp="1"/>
          </p:cNvSpPr>
          <p:nvPr>
            <p:ph idx="1"/>
          </p:nvPr>
        </p:nvSpPr>
        <p:spPr/>
        <p:txBody>
          <a:bodyPr>
            <a:normAutofit/>
          </a:bodyPr>
          <a:lstStyle/>
          <a:p>
            <a:pPr marL="0" indent="0">
              <a:buNone/>
            </a:pPr>
            <a:r>
              <a:rPr lang="fr-FR" dirty="0"/>
              <a:t>Vous trouverez facilement des tutoriels qui vous aideront à vous faire à l’interface d’</a:t>
            </a:r>
            <a:r>
              <a:rPr lang="fr-FR" dirty="0" err="1"/>
              <a:t>IntelliJ</a:t>
            </a:r>
            <a:r>
              <a:rPr lang="fr-FR" dirty="0"/>
              <a:t>, mais le meilleur moyen de l’appréhender reste de l’utiliser…</a:t>
            </a:r>
          </a:p>
          <a:p>
            <a:pPr marL="0" indent="0">
              <a:buNone/>
            </a:pPr>
            <a:endParaRPr lang="fr-FR" dirty="0"/>
          </a:p>
          <a:p>
            <a:pPr marL="0" indent="0">
              <a:buNone/>
            </a:pPr>
            <a:r>
              <a:rPr lang="fr-FR" dirty="0"/>
              <a:t>Le guide officiel:</a:t>
            </a:r>
          </a:p>
          <a:p>
            <a:pPr marL="0" indent="0">
              <a:buNone/>
            </a:pPr>
            <a:r>
              <a:rPr lang="fr-FR" dirty="0">
                <a:solidFill>
                  <a:schemeClr val="accent4"/>
                </a:solidFill>
                <a:hlinkClick r:id="rId2">
                  <a:extLst>
                    <a:ext uri="{A12FA001-AC4F-418D-AE19-62706E023703}">
                      <ahyp:hlinkClr xmlns:ahyp="http://schemas.microsoft.com/office/drawing/2018/hyperlinkcolor" val="tx"/>
                    </a:ext>
                  </a:extLst>
                </a:hlinkClick>
              </a:rPr>
              <a:t>https://www.jetbrains.com/fr-fr/idea/documentation/</a:t>
            </a:r>
            <a:endParaRPr lang="fr-FR" dirty="0">
              <a:solidFill>
                <a:schemeClr val="accent4"/>
              </a:solidFill>
            </a:endParaRPr>
          </a:p>
          <a:p>
            <a:pPr marL="0" indent="0">
              <a:buNone/>
            </a:pPr>
            <a:r>
              <a:rPr lang="fr-FR" dirty="0"/>
              <a:t>… et d’autres:</a:t>
            </a:r>
          </a:p>
          <a:p>
            <a:pPr marL="0" indent="0">
              <a:buNone/>
            </a:pPr>
            <a:r>
              <a:rPr lang="fr-FR" dirty="0">
                <a:solidFill>
                  <a:schemeClr val="accent4"/>
                </a:solidFill>
                <a:hlinkClick r:id="rId3">
                  <a:extLst>
                    <a:ext uri="{A12FA001-AC4F-418D-AE19-62706E023703}">
                      <ahyp:hlinkClr xmlns:ahyp="http://schemas.microsoft.com/office/drawing/2018/hyperlinkcolor" val="tx"/>
                    </a:ext>
                  </a:extLst>
                </a:hlinkClick>
              </a:rPr>
              <a:t>https://damienrieu.developpez.com/article/intellij/?page=page_1</a:t>
            </a:r>
            <a:endParaRPr lang="fr-FR" dirty="0">
              <a:solidFill>
                <a:schemeClr val="accent4"/>
              </a:solidFill>
            </a:endParaRPr>
          </a:p>
          <a:p>
            <a:pPr marL="0" indent="0">
              <a:buNone/>
            </a:pPr>
            <a:endParaRPr lang="fr-FR" dirty="0"/>
          </a:p>
          <a:p>
            <a:pPr marL="0" indent="0">
              <a:buNone/>
            </a:pPr>
            <a:endParaRPr lang="fr-FR" dirty="0"/>
          </a:p>
        </p:txBody>
      </p:sp>
      <p:sp>
        <p:nvSpPr>
          <p:cNvPr id="4" name="Espace réservé du numéro de diapositive 3">
            <a:extLst>
              <a:ext uri="{FF2B5EF4-FFF2-40B4-BE49-F238E27FC236}">
                <a16:creationId xmlns:a16="http://schemas.microsoft.com/office/drawing/2014/main" id="{A49A9DC1-E7E3-CE03-0F68-5FD11F61F915}"/>
              </a:ext>
            </a:extLst>
          </p:cNvPr>
          <p:cNvSpPr>
            <a:spLocks noGrp="1"/>
          </p:cNvSpPr>
          <p:nvPr>
            <p:ph type="sldNum" sz="quarter" idx="4"/>
          </p:nvPr>
        </p:nvSpPr>
        <p:spPr/>
        <p:txBody>
          <a:bodyPr/>
          <a:lstStyle/>
          <a:p>
            <a:fld id="{33C783E2-4793-4F48-A271-51A73CC37D74}" type="slidenum">
              <a:rPr lang="fr-FR" smtClean="0"/>
              <a:t>13</a:t>
            </a:fld>
            <a:endParaRPr lang="fr-FR"/>
          </a:p>
        </p:txBody>
      </p:sp>
    </p:spTree>
    <p:extLst>
      <p:ext uri="{BB962C8B-B14F-4D97-AF65-F5344CB8AC3E}">
        <p14:creationId xmlns:p14="http://schemas.microsoft.com/office/powerpoint/2010/main" val="3044368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1981200" y="152718"/>
            <a:ext cx="7077456" cy="1371600"/>
          </a:xfrm>
        </p:spPr>
        <p:txBody>
          <a:bodyPr>
            <a:normAutofit/>
          </a:bodyPr>
          <a:lstStyle/>
          <a:p>
            <a:r>
              <a:rPr lang="fr-FR" dirty="0"/>
              <a:t>Présentation d’</a:t>
            </a:r>
            <a:r>
              <a:rPr lang="fr-FR" dirty="0" err="1"/>
              <a:t>IntelliJ</a:t>
            </a:r>
            <a:endParaRPr lang="fr-FR" dirty="0"/>
          </a:p>
        </p:txBody>
      </p:sp>
      <p:pic>
        <p:nvPicPr>
          <p:cNvPr id="3" name="Image 2">
            <a:extLst>
              <a:ext uri="{FF2B5EF4-FFF2-40B4-BE49-F238E27FC236}">
                <a16:creationId xmlns:a16="http://schemas.microsoft.com/office/drawing/2014/main" id="{74EA4DC9-CA66-266F-6398-482D2A7C5041}"/>
              </a:ext>
            </a:extLst>
          </p:cNvPr>
          <p:cNvPicPr>
            <a:picLocks noChangeAspect="1"/>
          </p:cNvPicPr>
          <p:nvPr/>
        </p:nvPicPr>
        <p:blipFill rotWithShape="1">
          <a:blip r:embed="rId2">
            <a:alphaModFix/>
          </a:blip>
          <a:srcRect l="-1" r="1"/>
          <a:stretch/>
        </p:blipFill>
        <p:spPr>
          <a:xfrm>
            <a:off x="1310585" y="1163551"/>
            <a:ext cx="8573064" cy="5541731"/>
          </a:xfrm>
          <a:prstGeom prst="rect">
            <a:avLst/>
          </a:prstGeom>
        </p:spPr>
      </p:pic>
      <p:pic>
        <p:nvPicPr>
          <p:cNvPr id="9" name="Image 8">
            <a:extLst>
              <a:ext uri="{FF2B5EF4-FFF2-40B4-BE49-F238E27FC236}">
                <a16:creationId xmlns:a16="http://schemas.microsoft.com/office/drawing/2014/main" id="{D868A5CE-98FE-36CB-E075-4616B350133B}"/>
              </a:ext>
            </a:extLst>
          </p:cNvPr>
          <p:cNvPicPr>
            <a:picLocks noChangeAspect="1"/>
          </p:cNvPicPr>
          <p:nvPr/>
        </p:nvPicPr>
        <p:blipFill rotWithShape="1">
          <a:blip r:embed="rId2"/>
          <a:srcRect l="29025" t="6510" b="34444"/>
          <a:stretch/>
        </p:blipFill>
        <p:spPr>
          <a:xfrm>
            <a:off x="15906833" y="1524318"/>
            <a:ext cx="6084733" cy="3272126"/>
          </a:xfrm>
          <a:prstGeom prst="rect">
            <a:avLst/>
          </a:prstGeom>
        </p:spPr>
      </p:pic>
      <p:pic>
        <p:nvPicPr>
          <p:cNvPr id="10" name="Image 9">
            <a:extLst>
              <a:ext uri="{FF2B5EF4-FFF2-40B4-BE49-F238E27FC236}">
                <a16:creationId xmlns:a16="http://schemas.microsoft.com/office/drawing/2014/main" id="{A0F13F01-C661-CB72-7ACB-E56C84BB92AD}"/>
              </a:ext>
            </a:extLst>
          </p:cNvPr>
          <p:cNvPicPr>
            <a:picLocks noChangeAspect="1"/>
          </p:cNvPicPr>
          <p:nvPr/>
        </p:nvPicPr>
        <p:blipFill rotWithShape="1">
          <a:blip r:embed="rId2"/>
          <a:srcRect t="65555"/>
          <a:stretch/>
        </p:blipFill>
        <p:spPr>
          <a:xfrm>
            <a:off x="13418501" y="4796444"/>
            <a:ext cx="8573065" cy="1908838"/>
          </a:xfrm>
          <a:prstGeom prst="rect">
            <a:avLst/>
          </a:prstGeom>
        </p:spPr>
      </p:pic>
      <p:pic>
        <p:nvPicPr>
          <p:cNvPr id="11" name="Image 10">
            <a:extLst>
              <a:ext uri="{FF2B5EF4-FFF2-40B4-BE49-F238E27FC236}">
                <a16:creationId xmlns:a16="http://schemas.microsoft.com/office/drawing/2014/main" id="{01B8203A-413B-7D33-1A47-44B69BD2C402}"/>
              </a:ext>
            </a:extLst>
          </p:cNvPr>
          <p:cNvPicPr>
            <a:picLocks noChangeAspect="1"/>
          </p:cNvPicPr>
          <p:nvPr/>
        </p:nvPicPr>
        <p:blipFill rotWithShape="1">
          <a:blip r:embed="rId2"/>
          <a:srcRect b="93490"/>
          <a:stretch/>
        </p:blipFill>
        <p:spPr>
          <a:xfrm>
            <a:off x="13418501" y="1163551"/>
            <a:ext cx="8573065" cy="360767"/>
          </a:xfrm>
          <a:prstGeom prst="rect">
            <a:avLst/>
          </a:prstGeom>
        </p:spPr>
      </p:pic>
      <p:pic>
        <p:nvPicPr>
          <p:cNvPr id="12" name="Image 11">
            <a:extLst>
              <a:ext uri="{FF2B5EF4-FFF2-40B4-BE49-F238E27FC236}">
                <a16:creationId xmlns:a16="http://schemas.microsoft.com/office/drawing/2014/main" id="{E359F757-00C2-9D8D-E121-BA410BAB9DEB}"/>
              </a:ext>
            </a:extLst>
          </p:cNvPr>
          <p:cNvPicPr>
            <a:picLocks noChangeAspect="1"/>
          </p:cNvPicPr>
          <p:nvPr/>
        </p:nvPicPr>
        <p:blipFill rotWithShape="1">
          <a:blip r:embed="rId2"/>
          <a:srcRect t="6510" r="70975" b="34444"/>
          <a:stretch/>
        </p:blipFill>
        <p:spPr>
          <a:xfrm>
            <a:off x="13418501" y="1524318"/>
            <a:ext cx="2488332" cy="3272126"/>
          </a:xfrm>
          <a:prstGeom prst="rect">
            <a:avLst/>
          </a:prstGeom>
        </p:spPr>
      </p:pic>
      <p:sp>
        <p:nvSpPr>
          <p:cNvPr id="2" name="Espace réservé du numéro de diapositive 1">
            <a:extLst>
              <a:ext uri="{FF2B5EF4-FFF2-40B4-BE49-F238E27FC236}">
                <a16:creationId xmlns:a16="http://schemas.microsoft.com/office/drawing/2014/main" id="{90187FC6-9448-9314-DB6F-7A13C171B6C2}"/>
              </a:ext>
            </a:extLst>
          </p:cNvPr>
          <p:cNvSpPr>
            <a:spLocks noGrp="1"/>
          </p:cNvSpPr>
          <p:nvPr>
            <p:ph type="sldNum" sz="quarter" idx="4"/>
          </p:nvPr>
        </p:nvSpPr>
        <p:spPr/>
        <p:txBody>
          <a:bodyPr/>
          <a:lstStyle/>
          <a:p>
            <a:fld id="{33C783E2-4793-4F48-A271-51A73CC37D74}" type="slidenum">
              <a:rPr lang="fr-FR" smtClean="0"/>
              <a:t>14</a:t>
            </a:fld>
            <a:endParaRPr lang="fr-FR"/>
          </a:p>
        </p:txBody>
      </p:sp>
    </p:spTree>
    <p:extLst>
      <p:ext uri="{BB962C8B-B14F-4D97-AF65-F5344CB8AC3E}">
        <p14:creationId xmlns:p14="http://schemas.microsoft.com/office/powerpoint/2010/main" val="36249051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FB42F741-5641-A57D-10B0-BF8BBADEBF5F}"/>
              </a:ext>
            </a:extLst>
          </p:cNvPr>
          <p:cNvPicPr>
            <a:picLocks noChangeAspect="1"/>
          </p:cNvPicPr>
          <p:nvPr/>
        </p:nvPicPr>
        <p:blipFill rotWithShape="1">
          <a:blip r:embed="rId2">
            <a:alphaModFix amt="50000"/>
          </a:blip>
          <a:srcRect l="-1" r="1"/>
          <a:stretch/>
        </p:blipFill>
        <p:spPr>
          <a:xfrm>
            <a:off x="1310585" y="1163551"/>
            <a:ext cx="8573064" cy="5541731"/>
          </a:xfrm>
          <a:prstGeom prst="rect">
            <a:avLst/>
          </a:prstGeom>
        </p:spPr>
      </p:pic>
      <p:sp>
        <p:nvSpPr>
          <p:cNvPr id="7" name="Titre 6"/>
          <p:cNvSpPr>
            <a:spLocks noGrp="1"/>
          </p:cNvSpPr>
          <p:nvPr>
            <p:ph type="title"/>
          </p:nvPr>
        </p:nvSpPr>
        <p:spPr>
          <a:xfrm>
            <a:off x="1981200" y="152718"/>
            <a:ext cx="7077456" cy="1371600"/>
          </a:xfrm>
        </p:spPr>
        <p:txBody>
          <a:bodyPr>
            <a:normAutofit/>
          </a:bodyPr>
          <a:lstStyle/>
          <a:p>
            <a:r>
              <a:rPr lang="fr-FR" dirty="0"/>
              <a:t>Le code que vous écrivez</a:t>
            </a:r>
          </a:p>
        </p:txBody>
      </p:sp>
      <p:pic>
        <p:nvPicPr>
          <p:cNvPr id="5" name="Image 4">
            <a:extLst>
              <a:ext uri="{FF2B5EF4-FFF2-40B4-BE49-F238E27FC236}">
                <a16:creationId xmlns:a16="http://schemas.microsoft.com/office/drawing/2014/main" id="{8A39F98C-5A98-674C-66A3-1B9C38B1C1EF}"/>
              </a:ext>
            </a:extLst>
          </p:cNvPr>
          <p:cNvPicPr>
            <a:picLocks noChangeAspect="1"/>
          </p:cNvPicPr>
          <p:nvPr/>
        </p:nvPicPr>
        <p:blipFill rotWithShape="1">
          <a:blip r:embed="rId2"/>
          <a:srcRect l="29025" t="6510" b="34444"/>
          <a:stretch/>
        </p:blipFill>
        <p:spPr>
          <a:xfrm>
            <a:off x="3798916" y="1524318"/>
            <a:ext cx="6084733" cy="3272126"/>
          </a:xfrm>
          <a:prstGeom prst="rect">
            <a:avLst/>
          </a:prstGeom>
        </p:spPr>
      </p:pic>
      <p:pic>
        <p:nvPicPr>
          <p:cNvPr id="8" name="Image 7">
            <a:extLst>
              <a:ext uri="{FF2B5EF4-FFF2-40B4-BE49-F238E27FC236}">
                <a16:creationId xmlns:a16="http://schemas.microsoft.com/office/drawing/2014/main" id="{560C6865-CE2C-44EF-6D67-D768C6FF5D49}"/>
              </a:ext>
            </a:extLst>
          </p:cNvPr>
          <p:cNvPicPr>
            <a:picLocks noChangeAspect="1"/>
          </p:cNvPicPr>
          <p:nvPr/>
        </p:nvPicPr>
        <p:blipFill rotWithShape="1">
          <a:blip r:embed="rId2"/>
          <a:srcRect t="65555"/>
          <a:stretch/>
        </p:blipFill>
        <p:spPr>
          <a:xfrm>
            <a:off x="13418501" y="4796444"/>
            <a:ext cx="8573065" cy="1908838"/>
          </a:xfrm>
          <a:prstGeom prst="rect">
            <a:avLst/>
          </a:prstGeom>
        </p:spPr>
      </p:pic>
      <p:pic>
        <p:nvPicPr>
          <p:cNvPr id="10" name="Image 9">
            <a:extLst>
              <a:ext uri="{FF2B5EF4-FFF2-40B4-BE49-F238E27FC236}">
                <a16:creationId xmlns:a16="http://schemas.microsoft.com/office/drawing/2014/main" id="{1591CF7B-FD1D-8AF1-3CE5-7412D341972B}"/>
              </a:ext>
            </a:extLst>
          </p:cNvPr>
          <p:cNvPicPr>
            <a:picLocks noChangeAspect="1"/>
          </p:cNvPicPr>
          <p:nvPr/>
        </p:nvPicPr>
        <p:blipFill rotWithShape="1">
          <a:blip r:embed="rId2"/>
          <a:srcRect b="93490"/>
          <a:stretch/>
        </p:blipFill>
        <p:spPr>
          <a:xfrm>
            <a:off x="13418501" y="1163551"/>
            <a:ext cx="8573065" cy="360767"/>
          </a:xfrm>
          <a:prstGeom prst="rect">
            <a:avLst/>
          </a:prstGeom>
        </p:spPr>
      </p:pic>
      <p:pic>
        <p:nvPicPr>
          <p:cNvPr id="13" name="Image 12">
            <a:extLst>
              <a:ext uri="{FF2B5EF4-FFF2-40B4-BE49-F238E27FC236}">
                <a16:creationId xmlns:a16="http://schemas.microsoft.com/office/drawing/2014/main" id="{94AF91A0-01C6-BAEE-5C19-3191DC9B2470}"/>
              </a:ext>
            </a:extLst>
          </p:cNvPr>
          <p:cNvPicPr>
            <a:picLocks noChangeAspect="1"/>
          </p:cNvPicPr>
          <p:nvPr/>
        </p:nvPicPr>
        <p:blipFill rotWithShape="1">
          <a:blip r:embed="rId2"/>
          <a:srcRect t="6510" r="70975" b="34444"/>
          <a:stretch/>
        </p:blipFill>
        <p:spPr>
          <a:xfrm>
            <a:off x="13418501" y="1524318"/>
            <a:ext cx="2488332" cy="3272126"/>
          </a:xfrm>
          <a:prstGeom prst="rect">
            <a:avLst/>
          </a:prstGeom>
        </p:spPr>
      </p:pic>
      <p:sp>
        <p:nvSpPr>
          <p:cNvPr id="2" name="Espace réservé du numéro de diapositive 1">
            <a:extLst>
              <a:ext uri="{FF2B5EF4-FFF2-40B4-BE49-F238E27FC236}">
                <a16:creationId xmlns:a16="http://schemas.microsoft.com/office/drawing/2014/main" id="{9CFA48B3-BEB6-8F7C-EBE8-7EAD2E0B0C96}"/>
              </a:ext>
            </a:extLst>
          </p:cNvPr>
          <p:cNvSpPr>
            <a:spLocks noGrp="1"/>
          </p:cNvSpPr>
          <p:nvPr>
            <p:ph type="sldNum" sz="quarter" idx="4"/>
          </p:nvPr>
        </p:nvSpPr>
        <p:spPr/>
        <p:txBody>
          <a:bodyPr/>
          <a:lstStyle/>
          <a:p>
            <a:fld id="{33C783E2-4793-4F48-A271-51A73CC37D74}" type="slidenum">
              <a:rPr lang="fr-FR" smtClean="0"/>
              <a:t>15</a:t>
            </a:fld>
            <a:endParaRPr lang="fr-FR"/>
          </a:p>
        </p:txBody>
      </p:sp>
    </p:spTree>
    <p:extLst>
      <p:ext uri="{BB962C8B-B14F-4D97-AF65-F5344CB8AC3E}">
        <p14:creationId xmlns:p14="http://schemas.microsoft.com/office/powerpoint/2010/main" val="12639072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E53E67CE-7F50-D712-0C1A-E480513C66B9}"/>
              </a:ext>
            </a:extLst>
          </p:cNvPr>
          <p:cNvPicPr>
            <a:picLocks noChangeAspect="1"/>
          </p:cNvPicPr>
          <p:nvPr/>
        </p:nvPicPr>
        <p:blipFill rotWithShape="1">
          <a:blip r:embed="rId2">
            <a:alphaModFix amt="50000"/>
          </a:blip>
          <a:srcRect l="-1" r="1"/>
          <a:stretch/>
        </p:blipFill>
        <p:spPr>
          <a:xfrm>
            <a:off x="1310585" y="1163551"/>
            <a:ext cx="8573064" cy="5541731"/>
          </a:xfrm>
          <a:prstGeom prst="rect">
            <a:avLst/>
          </a:prstGeom>
        </p:spPr>
      </p:pic>
      <p:sp>
        <p:nvSpPr>
          <p:cNvPr id="7" name="Titre 6"/>
          <p:cNvSpPr>
            <a:spLocks noGrp="1"/>
          </p:cNvSpPr>
          <p:nvPr>
            <p:ph type="title"/>
          </p:nvPr>
        </p:nvSpPr>
        <p:spPr>
          <a:xfrm>
            <a:off x="1981200" y="152718"/>
            <a:ext cx="7077456" cy="1371600"/>
          </a:xfrm>
        </p:spPr>
        <p:txBody>
          <a:bodyPr>
            <a:normAutofit fontScale="90000"/>
          </a:bodyPr>
          <a:lstStyle/>
          <a:p>
            <a:r>
              <a:rPr lang="fr-FR" dirty="0"/>
              <a:t>La structure de votre projet</a:t>
            </a:r>
          </a:p>
        </p:txBody>
      </p:sp>
      <p:pic>
        <p:nvPicPr>
          <p:cNvPr id="3" name="Image 2">
            <a:extLst>
              <a:ext uri="{FF2B5EF4-FFF2-40B4-BE49-F238E27FC236}">
                <a16:creationId xmlns:a16="http://schemas.microsoft.com/office/drawing/2014/main" id="{74EA4DC9-CA66-266F-6398-482D2A7C5041}"/>
              </a:ext>
            </a:extLst>
          </p:cNvPr>
          <p:cNvPicPr>
            <a:picLocks noChangeAspect="1"/>
          </p:cNvPicPr>
          <p:nvPr/>
        </p:nvPicPr>
        <p:blipFill rotWithShape="1">
          <a:blip r:embed="rId2"/>
          <a:srcRect t="6510" r="70975" b="34444"/>
          <a:stretch/>
        </p:blipFill>
        <p:spPr>
          <a:xfrm>
            <a:off x="1310585" y="1524318"/>
            <a:ext cx="2488332" cy="3272126"/>
          </a:xfrm>
          <a:prstGeom prst="rect">
            <a:avLst/>
          </a:prstGeom>
        </p:spPr>
      </p:pic>
      <p:pic>
        <p:nvPicPr>
          <p:cNvPr id="8" name="Image 7">
            <a:extLst>
              <a:ext uri="{FF2B5EF4-FFF2-40B4-BE49-F238E27FC236}">
                <a16:creationId xmlns:a16="http://schemas.microsoft.com/office/drawing/2014/main" id="{E05BFAF9-F25A-CC9B-6163-782880A29D2E}"/>
              </a:ext>
            </a:extLst>
          </p:cNvPr>
          <p:cNvPicPr>
            <a:picLocks noChangeAspect="1"/>
          </p:cNvPicPr>
          <p:nvPr/>
        </p:nvPicPr>
        <p:blipFill rotWithShape="1">
          <a:blip r:embed="rId2"/>
          <a:srcRect t="65555"/>
          <a:stretch/>
        </p:blipFill>
        <p:spPr>
          <a:xfrm>
            <a:off x="13418501" y="4796444"/>
            <a:ext cx="8573065" cy="1908838"/>
          </a:xfrm>
          <a:prstGeom prst="rect">
            <a:avLst/>
          </a:prstGeom>
        </p:spPr>
      </p:pic>
      <p:pic>
        <p:nvPicPr>
          <p:cNvPr id="10" name="Image 9">
            <a:extLst>
              <a:ext uri="{FF2B5EF4-FFF2-40B4-BE49-F238E27FC236}">
                <a16:creationId xmlns:a16="http://schemas.microsoft.com/office/drawing/2014/main" id="{92ED707E-A119-2B82-DEA2-C7B8F7409C8B}"/>
              </a:ext>
            </a:extLst>
          </p:cNvPr>
          <p:cNvPicPr>
            <a:picLocks noChangeAspect="1"/>
          </p:cNvPicPr>
          <p:nvPr/>
        </p:nvPicPr>
        <p:blipFill rotWithShape="1">
          <a:blip r:embed="rId2"/>
          <a:srcRect b="93490"/>
          <a:stretch/>
        </p:blipFill>
        <p:spPr>
          <a:xfrm>
            <a:off x="13418501" y="1163551"/>
            <a:ext cx="8573065" cy="360767"/>
          </a:xfrm>
          <a:prstGeom prst="rect">
            <a:avLst/>
          </a:prstGeom>
        </p:spPr>
      </p:pic>
      <p:sp>
        <p:nvSpPr>
          <p:cNvPr id="2" name="Espace réservé du numéro de diapositive 1">
            <a:extLst>
              <a:ext uri="{FF2B5EF4-FFF2-40B4-BE49-F238E27FC236}">
                <a16:creationId xmlns:a16="http://schemas.microsoft.com/office/drawing/2014/main" id="{5A6279A1-0E7C-C60E-CEDA-C76927A01936}"/>
              </a:ext>
            </a:extLst>
          </p:cNvPr>
          <p:cNvSpPr>
            <a:spLocks noGrp="1"/>
          </p:cNvSpPr>
          <p:nvPr>
            <p:ph type="sldNum" sz="quarter" idx="4"/>
          </p:nvPr>
        </p:nvSpPr>
        <p:spPr/>
        <p:txBody>
          <a:bodyPr/>
          <a:lstStyle/>
          <a:p>
            <a:fld id="{33C783E2-4793-4F48-A271-51A73CC37D74}" type="slidenum">
              <a:rPr lang="fr-FR" smtClean="0"/>
              <a:t>16</a:t>
            </a:fld>
            <a:endParaRPr lang="fr-FR"/>
          </a:p>
        </p:txBody>
      </p:sp>
    </p:spTree>
    <p:extLst>
      <p:ext uri="{BB962C8B-B14F-4D97-AF65-F5344CB8AC3E}">
        <p14:creationId xmlns:p14="http://schemas.microsoft.com/office/powerpoint/2010/main" val="38272304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E53E67CE-7F50-D712-0C1A-E480513C66B9}"/>
              </a:ext>
            </a:extLst>
          </p:cNvPr>
          <p:cNvPicPr>
            <a:picLocks noChangeAspect="1"/>
          </p:cNvPicPr>
          <p:nvPr/>
        </p:nvPicPr>
        <p:blipFill rotWithShape="1">
          <a:blip r:embed="rId2">
            <a:alphaModFix amt="50000"/>
          </a:blip>
          <a:srcRect l="-1" r="1"/>
          <a:stretch/>
        </p:blipFill>
        <p:spPr>
          <a:xfrm>
            <a:off x="1310585" y="1163551"/>
            <a:ext cx="8573064" cy="5541731"/>
          </a:xfrm>
          <a:prstGeom prst="rect">
            <a:avLst/>
          </a:prstGeom>
        </p:spPr>
      </p:pic>
      <p:sp>
        <p:nvSpPr>
          <p:cNvPr id="7" name="Titre 6"/>
          <p:cNvSpPr>
            <a:spLocks noGrp="1"/>
          </p:cNvSpPr>
          <p:nvPr>
            <p:ph type="title"/>
          </p:nvPr>
        </p:nvSpPr>
        <p:spPr>
          <a:xfrm>
            <a:off x="1981200" y="152718"/>
            <a:ext cx="7077456" cy="1371600"/>
          </a:xfrm>
        </p:spPr>
        <p:txBody>
          <a:bodyPr>
            <a:normAutofit/>
          </a:bodyPr>
          <a:lstStyle/>
          <a:p>
            <a:r>
              <a:rPr lang="fr-FR" dirty="0"/>
              <a:t>Le résultat de l’exécution</a:t>
            </a:r>
          </a:p>
        </p:txBody>
      </p:sp>
      <p:pic>
        <p:nvPicPr>
          <p:cNvPr id="2" name="Image 1">
            <a:extLst>
              <a:ext uri="{FF2B5EF4-FFF2-40B4-BE49-F238E27FC236}">
                <a16:creationId xmlns:a16="http://schemas.microsoft.com/office/drawing/2014/main" id="{613F9E99-103B-F68A-8230-DAEF48C199C4}"/>
              </a:ext>
            </a:extLst>
          </p:cNvPr>
          <p:cNvPicPr>
            <a:picLocks noChangeAspect="1"/>
          </p:cNvPicPr>
          <p:nvPr/>
        </p:nvPicPr>
        <p:blipFill rotWithShape="1">
          <a:blip r:embed="rId2"/>
          <a:srcRect t="65555"/>
          <a:stretch/>
        </p:blipFill>
        <p:spPr>
          <a:xfrm>
            <a:off x="1310584" y="4796444"/>
            <a:ext cx="8573065" cy="1908838"/>
          </a:xfrm>
          <a:prstGeom prst="rect">
            <a:avLst/>
          </a:prstGeom>
        </p:spPr>
      </p:pic>
      <p:pic>
        <p:nvPicPr>
          <p:cNvPr id="10" name="Image 9">
            <a:extLst>
              <a:ext uri="{FF2B5EF4-FFF2-40B4-BE49-F238E27FC236}">
                <a16:creationId xmlns:a16="http://schemas.microsoft.com/office/drawing/2014/main" id="{2FF5E547-0573-5A60-DF9B-F4DC345F8289}"/>
              </a:ext>
            </a:extLst>
          </p:cNvPr>
          <p:cNvPicPr>
            <a:picLocks noChangeAspect="1"/>
          </p:cNvPicPr>
          <p:nvPr/>
        </p:nvPicPr>
        <p:blipFill rotWithShape="1">
          <a:blip r:embed="rId2"/>
          <a:srcRect b="93490"/>
          <a:stretch/>
        </p:blipFill>
        <p:spPr>
          <a:xfrm>
            <a:off x="13418501" y="1163551"/>
            <a:ext cx="8573065" cy="360767"/>
          </a:xfrm>
          <a:prstGeom prst="rect">
            <a:avLst/>
          </a:prstGeom>
        </p:spPr>
      </p:pic>
      <p:sp>
        <p:nvSpPr>
          <p:cNvPr id="3" name="Espace réservé du numéro de diapositive 2">
            <a:extLst>
              <a:ext uri="{FF2B5EF4-FFF2-40B4-BE49-F238E27FC236}">
                <a16:creationId xmlns:a16="http://schemas.microsoft.com/office/drawing/2014/main" id="{FEEB6122-C29A-E2CC-F08E-848F8C787178}"/>
              </a:ext>
            </a:extLst>
          </p:cNvPr>
          <p:cNvSpPr>
            <a:spLocks noGrp="1"/>
          </p:cNvSpPr>
          <p:nvPr>
            <p:ph type="sldNum" sz="quarter" idx="4"/>
          </p:nvPr>
        </p:nvSpPr>
        <p:spPr/>
        <p:txBody>
          <a:bodyPr/>
          <a:lstStyle/>
          <a:p>
            <a:fld id="{33C783E2-4793-4F48-A271-51A73CC37D74}" type="slidenum">
              <a:rPr lang="fr-FR" smtClean="0"/>
              <a:t>17</a:t>
            </a:fld>
            <a:endParaRPr lang="fr-FR"/>
          </a:p>
        </p:txBody>
      </p:sp>
    </p:spTree>
    <p:extLst>
      <p:ext uri="{BB962C8B-B14F-4D97-AF65-F5344CB8AC3E}">
        <p14:creationId xmlns:p14="http://schemas.microsoft.com/office/powerpoint/2010/main" val="39213062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E53E67CE-7F50-D712-0C1A-E480513C66B9}"/>
              </a:ext>
            </a:extLst>
          </p:cNvPr>
          <p:cNvPicPr>
            <a:picLocks noChangeAspect="1"/>
          </p:cNvPicPr>
          <p:nvPr/>
        </p:nvPicPr>
        <p:blipFill rotWithShape="1">
          <a:blip r:embed="rId2">
            <a:alphaModFix amt="50000"/>
          </a:blip>
          <a:srcRect l="-1" r="1"/>
          <a:stretch/>
        </p:blipFill>
        <p:spPr>
          <a:xfrm>
            <a:off x="1310585" y="1163551"/>
            <a:ext cx="8573064" cy="5541731"/>
          </a:xfrm>
          <a:prstGeom prst="rect">
            <a:avLst/>
          </a:prstGeom>
        </p:spPr>
      </p:pic>
      <p:sp>
        <p:nvSpPr>
          <p:cNvPr id="7" name="Titre 6"/>
          <p:cNvSpPr>
            <a:spLocks noGrp="1"/>
          </p:cNvSpPr>
          <p:nvPr>
            <p:ph type="title"/>
          </p:nvPr>
        </p:nvSpPr>
        <p:spPr>
          <a:xfrm>
            <a:off x="1981200" y="152718"/>
            <a:ext cx="7077456" cy="1371600"/>
          </a:xfrm>
        </p:spPr>
        <p:txBody>
          <a:bodyPr>
            <a:normAutofit fontScale="90000"/>
          </a:bodyPr>
          <a:lstStyle/>
          <a:p>
            <a:r>
              <a:rPr lang="fr-FR" dirty="0"/>
              <a:t>Lancer, mode </a:t>
            </a:r>
            <a:r>
              <a:rPr lang="fr-FR" dirty="0" err="1"/>
              <a:t>debug</a:t>
            </a:r>
            <a:r>
              <a:rPr lang="fr-FR" dirty="0"/>
              <a:t>, projets…</a:t>
            </a:r>
          </a:p>
        </p:txBody>
      </p:sp>
      <p:pic>
        <p:nvPicPr>
          <p:cNvPr id="4" name="Image 3">
            <a:extLst>
              <a:ext uri="{FF2B5EF4-FFF2-40B4-BE49-F238E27FC236}">
                <a16:creationId xmlns:a16="http://schemas.microsoft.com/office/drawing/2014/main" id="{2155D2E2-9A62-F1D8-609F-0C4C47F50B05}"/>
              </a:ext>
            </a:extLst>
          </p:cNvPr>
          <p:cNvPicPr>
            <a:picLocks noChangeAspect="1"/>
          </p:cNvPicPr>
          <p:nvPr/>
        </p:nvPicPr>
        <p:blipFill rotWithShape="1">
          <a:blip r:embed="rId2"/>
          <a:srcRect b="93490"/>
          <a:stretch/>
        </p:blipFill>
        <p:spPr>
          <a:xfrm>
            <a:off x="1310584" y="1163551"/>
            <a:ext cx="8573065" cy="360767"/>
          </a:xfrm>
          <a:prstGeom prst="rect">
            <a:avLst/>
          </a:prstGeom>
        </p:spPr>
      </p:pic>
      <p:sp>
        <p:nvSpPr>
          <p:cNvPr id="2" name="Espace réservé du numéro de diapositive 1">
            <a:extLst>
              <a:ext uri="{FF2B5EF4-FFF2-40B4-BE49-F238E27FC236}">
                <a16:creationId xmlns:a16="http://schemas.microsoft.com/office/drawing/2014/main" id="{D06A50DD-0F4D-DFB9-2374-CB3B69271579}"/>
              </a:ext>
            </a:extLst>
          </p:cNvPr>
          <p:cNvSpPr>
            <a:spLocks noGrp="1"/>
          </p:cNvSpPr>
          <p:nvPr>
            <p:ph type="sldNum" sz="quarter" idx="4"/>
          </p:nvPr>
        </p:nvSpPr>
        <p:spPr/>
        <p:txBody>
          <a:bodyPr/>
          <a:lstStyle/>
          <a:p>
            <a:fld id="{33C783E2-4793-4F48-A271-51A73CC37D74}" type="slidenum">
              <a:rPr lang="fr-FR" smtClean="0"/>
              <a:t>18</a:t>
            </a:fld>
            <a:endParaRPr lang="fr-FR"/>
          </a:p>
        </p:txBody>
      </p:sp>
      <p:pic>
        <p:nvPicPr>
          <p:cNvPr id="3" name="Image 2">
            <a:extLst>
              <a:ext uri="{FF2B5EF4-FFF2-40B4-BE49-F238E27FC236}">
                <a16:creationId xmlns:a16="http://schemas.microsoft.com/office/drawing/2014/main" id="{6F2F0921-0E61-7F75-240B-A1211CBE3E22}"/>
              </a:ext>
            </a:extLst>
          </p:cNvPr>
          <p:cNvPicPr>
            <a:picLocks noChangeAspect="1"/>
          </p:cNvPicPr>
          <p:nvPr/>
        </p:nvPicPr>
        <p:blipFill>
          <a:blip r:embed="rId3"/>
          <a:srcRect l="13683" r="1796" b="20453"/>
          <a:stretch/>
        </p:blipFill>
        <p:spPr>
          <a:xfrm>
            <a:off x="7849589" y="1679286"/>
            <a:ext cx="3574473" cy="1990189"/>
          </a:xfrm>
          <a:prstGeom prst="rect">
            <a:avLst/>
          </a:prstGeom>
          <a:ln>
            <a:solidFill>
              <a:schemeClr val="accent4"/>
            </a:solidFill>
          </a:ln>
        </p:spPr>
      </p:pic>
    </p:spTree>
    <p:extLst>
      <p:ext uri="{BB962C8B-B14F-4D97-AF65-F5344CB8AC3E}">
        <p14:creationId xmlns:p14="http://schemas.microsoft.com/office/powerpoint/2010/main" val="36687946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42" presetClass="path" presetSubtype="0" accel="50000" decel="50000" fill="hold" nodeType="withEffect">
                                  <p:stCondLst>
                                    <p:cond delay="0"/>
                                  </p:stCondLst>
                                  <p:childTnLst>
                                    <p:animMotion origin="layout" path="M -0.10325 -0.16898 L 0.00769 -0.05393 " pathEditMode="relative" rAng="0" ptsTypes="AA">
                                      <p:cBhvr>
                                        <p:cTn id="8" dur="500" fill="hold"/>
                                        <p:tgtEl>
                                          <p:spTgt spid="3"/>
                                        </p:tgtEl>
                                        <p:attrNameLst>
                                          <p:attrName>ppt_x</p:attrName>
                                          <p:attrName>ppt_y</p:attrName>
                                        </p:attrNameLst>
                                      </p:cBhvr>
                                      <p:rCtr x="5547" y="5741"/>
                                    </p:animMotion>
                                  </p:childTnLst>
                                </p:cTn>
                              </p:par>
                              <p:par>
                                <p:cTn id="9" presetID="53" presetClass="entr" presetSubtype="16"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ppt_w</p:attrName>
                                        </p:attrNameLst>
                                      </p:cBhvr>
                                      <p:tavLst>
                                        <p:tav tm="0">
                                          <p:val>
                                            <p:fltVal val="0"/>
                                          </p:val>
                                        </p:tav>
                                        <p:tav tm="100000">
                                          <p:val>
                                            <p:strVal val="#ppt_w"/>
                                          </p:val>
                                        </p:tav>
                                      </p:tavLst>
                                    </p:anim>
                                    <p:anim calcmode="lin" valueType="num">
                                      <p:cBhvr>
                                        <p:cTn id="12" dur="500" fill="hold"/>
                                        <p:tgtEl>
                                          <p:spTgt spid="3"/>
                                        </p:tgtEl>
                                        <p:attrNameLst>
                                          <p:attrName>ppt_h</p:attrName>
                                        </p:attrNameLst>
                                      </p:cBhvr>
                                      <p:tavLst>
                                        <p:tav tm="0">
                                          <p:val>
                                            <p:fltVal val="0"/>
                                          </p:val>
                                        </p:tav>
                                        <p:tav tm="100000">
                                          <p:val>
                                            <p:strVal val="#ppt_h"/>
                                          </p:val>
                                        </p:tav>
                                      </p:tavLst>
                                    </p:anim>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11C477B-9F61-A4D1-4161-868DA1864279}"/>
              </a:ext>
            </a:extLst>
          </p:cNvPr>
          <p:cNvPicPr>
            <a:picLocks noChangeAspect="1"/>
          </p:cNvPicPr>
          <p:nvPr/>
        </p:nvPicPr>
        <p:blipFill rotWithShape="1">
          <a:blip r:embed="rId2"/>
          <a:srcRect r="17605"/>
          <a:stretch/>
        </p:blipFill>
        <p:spPr>
          <a:xfrm>
            <a:off x="5848888" y="1325790"/>
            <a:ext cx="5711345" cy="5246266"/>
          </a:xfrm>
          <a:prstGeom prst="rect">
            <a:avLst/>
          </a:prstGeom>
        </p:spPr>
      </p:pic>
      <p:sp>
        <p:nvSpPr>
          <p:cNvPr id="2" name="Titre 1">
            <a:extLst>
              <a:ext uri="{FF2B5EF4-FFF2-40B4-BE49-F238E27FC236}">
                <a16:creationId xmlns:a16="http://schemas.microsoft.com/office/drawing/2014/main" id="{AFD6BDFD-205E-0545-89E2-EB0A8A57101A}"/>
              </a:ext>
            </a:extLst>
          </p:cNvPr>
          <p:cNvSpPr>
            <a:spLocks noGrp="1"/>
          </p:cNvSpPr>
          <p:nvPr>
            <p:ph type="title"/>
          </p:nvPr>
        </p:nvSpPr>
        <p:spPr/>
        <p:txBody>
          <a:bodyPr/>
          <a:lstStyle/>
          <a:p>
            <a:r>
              <a:rPr lang="fr-FR" dirty="0"/>
              <a:t>Paramétrage d’</a:t>
            </a:r>
            <a:r>
              <a:rPr lang="fr-FR" dirty="0" err="1"/>
              <a:t>IntelliJ</a:t>
            </a:r>
            <a:endParaRPr lang="fr-FR" dirty="0"/>
          </a:p>
        </p:txBody>
      </p:sp>
      <p:sp>
        <p:nvSpPr>
          <p:cNvPr id="6" name="Espace réservé du contenu 5">
            <a:extLst>
              <a:ext uri="{FF2B5EF4-FFF2-40B4-BE49-F238E27FC236}">
                <a16:creationId xmlns:a16="http://schemas.microsoft.com/office/drawing/2014/main" id="{39D036CF-B03E-954E-13E0-165864924814}"/>
              </a:ext>
            </a:extLst>
          </p:cNvPr>
          <p:cNvSpPr>
            <a:spLocks noGrp="1"/>
          </p:cNvSpPr>
          <p:nvPr>
            <p:ph sz="half" idx="1"/>
          </p:nvPr>
        </p:nvSpPr>
        <p:spPr>
          <a:xfrm>
            <a:off x="838200" y="1454727"/>
            <a:ext cx="5181600" cy="4722236"/>
          </a:xfrm>
        </p:spPr>
        <p:txBody>
          <a:bodyPr>
            <a:normAutofit/>
          </a:bodyPr>
          <a:lstStyle/>
          <a:p>
            <a:pPr marL="0" indent="0">
              <a:buNone/>
            </a:pPr>
            <a:r>
              <a:rPr lang="fr-FR" sz="2000" dirty="0"/>
              <a:t>Par défaut, quand vous démarrez une application dans </a:t>
            </a:r>
            <a:r>
              <a:rPr lang="fr-FR" sz="2000" dirty="0" err="1"/>
              <a:t>IntelliJ</a:t>
            </a:r>
            <a:r>
              <a:rPr lang="fr-FR" sz="2000" dirty="0"/>
              <a:t>, </a:t>
            </a:r>
          </a:p>
          <a:p>
            <a:pPr marL="285750" indent="-285750">
              <a:buFontTx/>
              <a:buChar char="-"/>
            </a:pPr>
            <a:r>
              <a:rPr lang="fr-FR" sz="2000" dirty="0"/>
              <a:t>Il vérifie les erreurs </a:t>
            </a:r>
          </a:p>
          <a:p>
            <a:pPr marL="285750" indent="-285750">
              <a:buFontTx/>
              <a:buChar char="-"/>
            </a:pPr>
            <a:r>
              <a:rPr lang="fr-FR" sz="2000" dirty="0"/>
              <a:t>Il lance un </a:t>
            </a:r>
            <a:r>
              <a:rPr lang="fr-FR" sz="2000" dirty="0" err="1"/>
              <a:t>Build</a:t>
            </a:r>
            <a:r>
              <a:rPr lang="fr-FR" sz="2000" dirty="0"/>
              <a:t> (de toutes les classes), </a:t>
            </a:r>
          </a:p>
          <a:p>
            <a:pPr marL="285750" indent="-285750">
              <a:buFontTx/>
              <a:buChar char="-"/>
            </a:pPr>
            <a:r>
              <a:rPr lang="fr-FR" sz="2000" dirty="0"/>
              <a:t>Puis il lance l’application.</a:t>
            </a:r>
          </a:p>
          <a:p>
            <a:r>
              <a:rPr lang="fr-FR" sz="2000" dirty="0"/>
              <a:t>S’il y a des erreurs, ça ne se lance pas… </a:t>
            </a:r>
            <a:r>
              <a:rPr lang="fr-FR" sz="2000" dirty="0">
                <a:sym typeface="Wingdings" pitchFamily="2" charset="2"/>
              </a:rPr>
              <a:t></a:t>
            </a:r>
          </a:p>
          <a:p>
            <a:endParaRPr lang="fr-FR" sz="2000" dirty="0"/>
          </a:p>
          <a:p>
            <a:pPr marL="0" indent="0">
              <a:buNone/>
            </a:pPr>
            <a:r>
              <a:rPr lang="fr-FR" sz="2000" dirty="0"/>
              <a:t>Vous pouvez néanmoins </a:t>
            </a:r>
          </a:p>
          <a:p>
            <a:pPr marL="285750" indent="-285750">
              <a:buFontTx/>
              <a:buChar char="-"/>
            </a:pPr>
            <a:r>
              <a:rPr lang="fr-FR" sz="2000" dirty="0"/>
              <a:t>utiliser le compilateur d’Eclipse</a:t>
            </a:r>
          </a:p>
          <a:p>
            <a:pPr marL="285750" indent="-285750">
              <a:buFontTx/>
              <a:buChar char="-"/>
            </a:pPr>
            <a:r>
              <a:rPr lang="fr-FR" sz="2000" dirty="0"/>
              <a:t>et activer l’option ‘</a:t>
            </a:r>
            <a:r>
              <a:rPr lang="fr-FR" sz="2000" dirty="0" err="1"/>
              <a:t>Proceed</a:t>
            </a:r>
            <a:r>
              <a:rPr lang="fr-FR" sz="2000" dirty="0"/>
              <a:t> on </a:t>
            </a:r>
            <a:r>
              <a:rPr lang="fr-FR" sz="2000" dirty="0" err="1"/>
              <a:t>errors</a:t>
            </a:r>
            <a:r>
              <a:rPr lang="fr-FR" sz="1800" dirty="0"/>
              <a:t>’,</a:t>
            </a:r>
            <a:r>
              <a:rPr lang="fr-FR" sz="2000" dirty="0"/>
              <a:t> </a:t>
            </a:r>
          </a:p>
          <a:p>
            <a:pPr marL="0" indent="0">
              <a:buNone/>
            </a:pPr>
            <a:r>
              <a:rPr lang="fr-FR" sz="2000" dirty="0"/>
              <a:t>Cela vous permet de lancer une application même si le projet n’est pas 100% bug-free.</a:t>
            </a:r>
          </a:p>
          <a:p>
            <a:endParaRPr lang="fr-FR" sz="2000" dirty="0"/>
          </a:p>
          <a:p>
            <a:endParaRPr lang="fr-FR" sz="2000" dirty="0"/>
          </a:p>
        </p:txBody>
      </p:sp>
      <p:sp>
        <p:nvSpPr>
          <p:cNvPr id="12" name="Rectangle : coins arrondis 11">
            <a:extLst>
              <a:ext uri="{FF2B5EF4-FFF2-40B4-BE49-F238E27FC236}">
                <a16:creationId xmlns:a16="http://schemas.microsoft.com/office/drawing/2014/main" id="{94F62692-D089-89A5-C5FE-A7B8AE18A222}"/>
              </a:ext>
            </a:extLst>
          </p:cNvPr>
          <p:cNvSpPr/>
          <p:nvPr/>
        </p:nvSpPr>
        <p:spPr>
          <a:xfrm>
            <a:off x="7757787" y="2034955"/>
            <a:ext cx="1816462" cy="270257"/>
          </a:xfrm>
          <a:prstGeom prst="round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 coins arrondis 12">
            <a:extLst>
              <a:ext uri="{FF2B5EF4-FFF2-40B4-BE49-F238E27FC236}">
                <a16:creationId xmlns:a16="http://schemas.microsoft.com/office/drawing/2014/main" id="{7D4C4833-0EC0-ACE1-B527-DD7FD82C17D4}"/>
              </a:ext>
            </a:extLst>
          </p:cNvPr>
          <p:cNvSpPr/>
          <p:nvPr/>
        </p:nvSpPr>
        <p:spPr>
          <a:xfrm>
            <a:off x="6240026" y="2816030"/>
            <a:ext cx="1517761" cy="843459"/>
          </a:xfrm>
          <a:prstGeom prst="roundRect">
            <a:avLst>
              <a:gd name="adj" fmla="val 7534"/>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 coins arrondis 13">
            <a:extLst>
              <a:ext uri="{FF2B5EF4-FFF2-40B4-BE49-F238E27FC236}">
                <a16:creationId xmlns:a16="http://schemas.microsoft.com/office/drawing/2014/main" id="{E54DC626-98F1-7787-4918-E8F7715B2B75}"/>
              </a:ext>
            </a:extLst>
          </p:cNvPr>
          <p:cNvSpPr/>
          <p:nvPr/>
        </p:nvSpPr>
        <p:spPr>
          <a:xfrm>
            <a:off x="7857665" y="4532539"/>
            <a:ext cx="1816462" cy="216000"/>
          </a:xfrm>
          <a:prstGeom prst="round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numéro de diapositive 2">
            <a:extLst>
              <a:ext uri="{FF2B5EF4-FFF2-40B4-BE49-F238E27FC236}">
                <a16:creationId xmlns:a16="http://schemas.microsoft.com/office/drawing/2014/main" id="{2862BCD1-1A1D-5089-32DD-EA85C52B8941}"/>
              </a:ext>
            </a:extLst>
          </p:cNvPr>
          <p:cNvSpPr>
            <a:spLocks noGrp="1"/>
          </p:cNvSpPr>
          <p:nvPr>
            <p:ph type="sldNum" sz="quarter" idx="4"/>
          </p:nvPr>
        </p:nvSpPr>
        <p:spPr/>
        <p:txBody>
          <a:bodyPr/>
          <a:lstStyle/>
          <a:p>
            <a:fld id="{33C783E2-4793-4F48-A271-51A73CC37D74}" type="slidenum">
              <a:rPr lang="fr-FR" smtClean="0"/>
              <a:t>19</a:t>
            </a:fld>
            <a:endParaRPr lang="fr-FR"/>
          </a:p>
        </p:txBody>
      </p:sp>
    </p:spTree>
    <p:extLst>
      <p:ext uri="{BB962C8B-B14F-4D97-AF65-F5344CB8AC3E}">
        <p14:creationId xmlns:p14="http://schemas.microsoft.com/office/powerpoint/2010/main" val="3513216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childTnLst>
                          </p:cTn>
                        </p:par>
                        <p:par>
                          <p:cTn id="15" fill="hold">
                            <p:stCondLst>
                              <p:cond delay="500"/>
                            </p:stCondLst>
                            <p:childTnLst>
                              <p:par>
                                <p:cTn id="16" presetID="53" presetClass="entr" presetSubtype="16" fill="hold" grpId="0" nodeType="afterEffect">
                                  <p:stCondLst>
                                    <p:cond delay="250"/>
                                  </p:stCondLst>
                                  <p:childTnLst>
                                    <p:set>
                                      <p:cBhvr>
                                        <p:cTn id="17" dur="1" fill="hold">
                                          <p:stCondLst>
                                            <p:cond delay="0"/>
                                          </p:stCondLst>
                                        </p:cTn>
                                        <p:tgtEl>
                                          <p:spTgt spid="12"/>
                                        </p:tgtEl>
                                        <p:attrNameLst>
                                          <p:attrName>style.visibility</p:attrName>
                                        </p:attrNameLst>
                                      </p:cBhvr>
                                      <p:to>
                                        <p:strVal val="visible"/>
                                      </p:to>
                                    </p:set>
                                    <p:anim calcmode="lin" valueType="num">
                                      <p:cBhvr>
                                        <p:cTn id="18" dur="500" fill="hold"/>
                                        <p:tgtEl>
                                          <p:spTgt spid="12"/>
                                        </p:tgtEl>
                                        <p:attrNameLst>
                                          <p:attrName>ppt_w</p:attrName>
                                        </p:attrNameLst>
                                      </p:cBhvr>
                                      <p:tavLst>
                                        <p:tav tm="0">
                                          <p:val>
                                            <p:fltVal val="0"/>
                                          </p:val>
                                        </p:tav>
                                        <p:tav tm="100000">
                                          <p:val>
                                            <p:strVal val="#ppt_w"/>
                                          </p:val>
                                        </p:tav>
                                      </p:tavLst>
                                    </p:anim>
                                    <p:anim calcmode="lin" valueType="num">
                                      <p:cBhvr>
                                        <p:cTn id="19" dur="500" fill="hold"/>
                                        <p:tgtEl>
                                          <p:spTgt spid="12"/>
                                        </p:tgtEl>
                                        <p:attrNameLst>
                                          <p:attrName>ppt_h</p:attrName>
                                        </p:attrNameLst>
                                      </p:cBhvr>
                                      <p:tavLst>
                                        <p:tav tm="0">
                                          <p:val>
                                            <p:fltVal val="0"/>
                                          </p:val>
                                        </p:tav>
                                        <p:tav tm="100000">
                                          <p:val>
                                            <p:strVal val="#ppt_h"/>
                                          </p:val>
                                        </p:tav>
                                      </p:tavLst>
                                    </p:anim>
                                    <p:animEffect transition="in" filter="fade">
                                      <p:cBhvr>
                                        <p:cTn id="20" dur="500"/>
                                        <p:tgtEl>
                                          <p:spTgt spid="12"/>
                                        </p:tgtEl>
                                      </p:cBhvr>
                                    </p:animEffect>
                                  </p:childTnLst>
                                </p:cTn>
                              </p:par>
                            </p:childTnLst>
                          </p:cTn>
                        </p:par>
                        <p:par>
                          <p:cTn id="21" fill="hold">
                            <p:stCondLst>
                              <p:cond delay="1250"/>
                            </p:stCondLst>
                            <p:childTnLst>
                              <p:par>
                                <p:cTn id="22" presetID="53" presetClass="entr" presetSubtype="16" fill="hold" grpId="0" nodeType="afterEffect">
                                  <p:stCondLst>
                                    <p:cond delay="250"/>
                                  </p:stCondLst>
                                  <p:childTnLst>
                                    <p:set>
                                      <p:cBhvr>
                                        <p:cTn id="23" dur="1" fill="hold">
                                          <p:stCondLst>
                                            <p:cond delay="0"/>
                                          </p:stCondLst>
                                        </p:cTn>
                                        <p:tgtEl>
                                          <p:spTgt spid="14"/>
                                        </p:tgtEl>
                                        <p:attrNameLst>
                                          <p:attrName>style.visibility</p:attrName>
                                        </p:attrNameLst>
                                      </p:cBhvr>
                                      <p:to>
                                        <p:strVal val="visible"/>
                                      </p:to>
                                    </p:set>
                                    <p:anim calcmode="lin" valueType="num">
                                      <p:cBhvr>
                                        <p:cTn id="24" dur="500" fill="hold"/>
                                        <p:tgtEl>
                                          <p:spTgt spid="14"/>
                                        </p:tgtEl>
                                        <p:attrNameLst>
                                          <p:attrName>ppt_w</p:attrName>
                                        </p:attrNameLst>
                                      </p:cBhvr>
                                      <p:tavLst>
                                        <p:tav tm="0">
                                          <p:val>
                                            <p:fltVal val="0"/>
                                          </p:val>
                                        </p:tav>
                                        <p:tav tm="100000">
                                          <p:val>
                                            <p:strVal val="#ppt_w"/>
                                          </p:val>
                                        </p:tav>
                                      </p:tavLst>
                                    </p:anim>
                                    <p:anim calcmode="lin" valueType="num">
                                      <p:cBhvr>
                                        <p:cTn id="25" dur="500" fill="hold"/>
                                        <p:tgtEl>
                                          <p:spTgt spid="14"/>
                                        </p:tgtEl>
                                        <p:attrNameLst>
                                          <p:attrName>ppt_h</p:attrName>
                                        </p:attrNameLst>
                                      </p:cBhvr>
                                      <p:tavLst>
                                        <p:tav tm="0">
                                          <p:val>
                                            <p:fltVal val="0"/>
                                          </p:val>
                                        </p:tav>
                                        <p:tav tm="100000">
                                          <p:val>
                                            <p:strVal val="#ppt_h"/>
                                          </p:val>
                                        </p:tav>
                                      </p:tavLst>
                                    </p:anim>
                                    <p:animEffect transition="in" filter="fade">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530B62FD-8713-B1F3-D74E-66A70987092D}"/>
              </a:ext>
            </a:extLst>
          </p:cNvPr>
          <p:cNvPicPr>
            <a:picLocks noChangeAspect="1"/>
          </p:cNvPicPr>
          <p:nvPr/>
        </p:nvPicPr>
        <p:blipFill>
          <a:blip r:embed="rId2"/>
          <a:stretch>
            <a:fillRect/>
          </a:stretch>
        </p:blipFill>
        <p:spPr>
          <a:xfrm>
            <a:off x="4002024" y="2420423"/>
            <a:ext cx="6769608" cy="4630599"/>
          </a:xfrm>
          <a:prstGeom prst="rect">
            <a:avLst/>
          </a:prstGeom>
        </p:spPr>
      </p:pic>
      <p:pic>
        <p:nvPicPr>
          <p:cNvPr id="12" name="Image 11">
            <a:extLst>
              <a:ext uri="{FF2B5EF4-FFF2-40B4-BE49-F238E27FC236}">
                <a16:creationId xmlns:a16="http://schemas.microsoft.com/office/drawing/2014/main" id="{7E016037-04B8-F0A3-FDEB-34BD6F160479}"/>
              </a:ext>
            </a:extLst>
          </p:cNvPr>
          <p:cNvPicPr>
            <a:picLocks noChangeAspect="1"/>
          </p:cNvPicPr>
          <p:nvPr/>
        </p:nvPicPr>
        <p:blipFill>
          <a:blip r:embed="rId3"/>
          <a:stretch>
            <a:fillRect/>
          </a:stretch>
        </p:blipFill>
        <p:spPr>
          <a:xfrm>
            <a:off x="1091703" y="2925133"/>
            <a:ext cx="2786662" cy="1367287"/>
          </a:xfrm>
          <a:prstGeom prst="rect">
            <a:avLst/>
          </a:prstGeom>
        </p:spPr>
      </p:pic>
      <p:sp>
        <p:nvSpPr>
          <p:cNvPr id="2" name="Titre 1">
            <a:extLst>
              <a:ext uri="{FF2B5EF4-FFF2-40B4-BE49-F238E27FC236}">
                <a16:creationId xmlns:a16="http://schemas.microsoft.com/office/drawing/2014/main" id="{AFD6BDFD-205E-0545-89E2-EB0A8A57101A}"/>
              </a:ext>
            </a:extLst>
          </p:cNvPr>
          <p:cNvSpPr>
            <a:spLocks noGrp="1"/>
          </p:cNvSpPr>
          <p:nvPr>
            <p:ph type="title"/>
          </p:nvPr>
        </p:nvSpPr>
        <p:spPr/>
        <p:txBody>
          <a:bodyPr/>
          <a:lstStyle/>
          <a:p>
            <a:r>
              <a:rPr lang="fr-FR" dirty="0"/>
              <a:t>Démarrer une </a:t>
            </a:r>
            <a:r>
              <a:rPr lang="fr-FR" dirty="0" err="1"/>
              <a:t>app</a:t>
            </a:r>
            <a:r>
              <a:rPr lang="fr-FR" dirty="0"/>
              <a:t> avec paramètres</a:t>
            </a:r>
          </a:p>
        </p:txBody>
      </p:sp>
      <p:sp>
        <p:nvSpPr>
          <p:cNvPr id="3" name="Espace réservé du contenu 2">
            <a:extLst>
              <a:ext uri="{FF2B5EF4-FFF2-40B4-BE49-F238E27FC236}">
                <a16:creationId xmlns:a16="http://schemas.microsoft.com/office/drawing/2014/main" id="{190DC390-A879-E54B-8DAE-5BFEEA3FAC91}"/>
              </a:ext>
            </a:extLst>
          </p:cNvPr>
          <p:cNvSpPr>
            <a:spLocks noGrp="1"/>
          </p:cNvSpPr>
          <p:nvPr>
            <p:ph idx="1"/>
          </p:nvPr>
        </p:nvSpPr>
        <p:spPr/>
        <p:txBody>
          <a:bodyPr>
            <a:normAutofit/>
          </a:bodyPr>
          <a:lstStyle/>
          <a:p>
            <a:pPr marL="0" indent="0">
              <a:buNone/>
            </a:pPr>
            <a:r>
              <a:rPr lang="fr-FR" dirty="0"/>
              <a:t>En </a:t>
            </a:r>
            <a:r>
              <a:rPr lang="fr-FR" dirty="0" err="1"/>
              <a:t>IntelliJ</a:t>
            </a:r>
            <a:r>
              <a:rPr lang="fr-FR" dirty="0"/>
              <a:t>, il est possible de démarrer une application Java en lui passant des paramètres:</a:t>
            </a:r>
          </a:p>
        </p:txBody>
      </p:sp>
      <p:sp>
        <p:nvSpPr>
          <p:cNvPr id="5" name="Rectangle : coins arrondis 4">
            <a:extLst>
              <a:ext uri="{FF2B5EF4-FFF2-40B4-BE49-F238E27FC236}">
                <a16:creationId xmlns:a16="http://schemas.microsoft.com/office/drawing/2014/main" id="{E9055483-C47A-1046-9363-60A07DCCCC15}"/>
              </a:ext>
            </a:extLst>
          </p:cNvPr>
          <p:cNvSpPr/>
          <p:nvPr/>
        </p:nvSpPr>
        <p:spPr>
          <a:xfrm>
            <a:off x="6232639" y="4020579"/>
            <a:ext cx="4151587" cy="294290"/>
          </a:xfrm>
          <a:prstGeom prst="round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02A3888F-C7F7-E946-F190-C2F213FB7CE4}"/>
              </a:ext>
            </a:extLst>
          </p:cNvPr>
          <p:cNvSpPr txBox="1"/>
          <p:nvPr/>
        </p:nvSpPr>
        <p:spPr>
          <a:xfrm>
            <a:off x="258418" y="5470152"/>
            <a:ext cx="6098650" cy="369332"/>
          </a:xfrm>
          <a:prstGeom prst="rect">
            <a:avLst/>
          </a:prstGeom>
          <a:noFill/>
        </p:spPr>
        <p:txBody>
          <a:bodyPr wrap="square">
            <a:spAutoFit/>
          </a:bodyPr>
          <a:lstStyle/>
          <a:p>
            <a:r>
              <a:rPr lang="fr-FR" sz="1800" dirty="0">
                <a:solidFill>
                  <a:schemeClr val="accent4"/>
                </a:solidFill>
                <a:latin typeface="Consolas" charset="0"/>
                <a:cs typeface="Consolas" charset="0"/>
              </a:rPr>
              <a:t>public </a:t>
            </a:r>
            <a:r>
              <a:rPr lang="fr-FR" sz="1800" dirty="0" err="1">
                <a:solidFill>
                  <a:schemeClr val="accent4"/>
                </a:solidFill>
                <a:latin typeface="Consolas" charset="0"/>
                <a:cs typeface="Consolas" charset="0"/>
              </a:rPr>
              <a:t>static</a:t>
            </a:r>
            <a:r>
              <a:rPr lang="fr-FR" sz="1800" dirty="0">
                <a:solidFill>
                  <a:schemeClr val="accent4"/>
                </a:solidFill>
                <a:latin typeface="Consolas" charset="0"/>
                <a:cs typeface="Consolas" charset="0"/>
              </a:rPr>
              <a:t> </a:t>
            </a:r>
            <a:r>
              <a:rPr lang="fr-FR" sz="1800" dirty="0" err="1">
                <a:solidFill>
                  <a:schemeClr val="accent4"/>
                </a:solidFill>
                <a:latin typeface="Consolas" charset="0"/>
                <a:cs typeface="Consolas" charset="0"/>
              </a:rPr>
              <a:t>void</a:t>
            </a:r>
            <a:r>
              <a:rPr lang="fr-FR" sz="1800" dirty="0">
                <a:solidFill>
                  <a:schemeClr val="accent4"/>
                </a:solidFill>
                <a:latin typeface="Consolas" charset="0"/>
                <a:cs typeface="Consolas" charset="0"/>
              </a:rPr>
              <a:t> main (String[] args) {  }</a:t>
            </a:r>
            <a:endParaRPr lang="fr-FR" dirty="0"/>
          </a:p>
        </p:txBody>
      </p:sp>
      <p:cxnSp>
        <p:nvCxnSpPr>
          <p:cNvPr id="10" name="Connecteur en arc 9">
            <a:extLst>
              <a:ext uri="{FF2B5EF4-FFF2-40B4-BE49-F238E27FC236}">
                <a16:creationId xmlns:a16="http://schemas.microsoft.com/office/drawing/2014/main" id="{210FBDCE-51BA-1A96-4A0C-A9DC76782D1D}"/>
              </a:ext>
            </a:extLst>
          </p:cNvPr>
          <p:cNvCxnSpPr>
            <a:cxnSpLocks/>
            <a:endCxn id="14" idx="0"/>
          </p:cNvCxnSpPr>
          <p:nvPr/>
        </p:nvCxnSpPr>
        <p:spPr>
          <a:xfrm rot="10800000" flipV="1">
            <a:off x="4293705" y="4158080"/>
            <a:ext cx="1938934" cy="1312071"/>
          </a:xfrm>
          <a:prstGeom prst="curvedConnector2">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 coins arrondis 13">
            <a:extLst>
              <a:ext uri="{FF2B5EF4-FFF2-40B4-BE49-F238E27FC236}">
                <a16:creationId xmlns:a16="http://schemas.microsoft.com/office/drawing/2014/main" id="{9C455087-3876-FB96-D03A-72FD8BDCAD24}"/>
              </a:ext>
            </a:extLst>
          </p:cNvPr>
          <p:cNvSpPr/>
          <p:nvPr/>
        </p:nvSpPr>
        <p:spPr>
          <a:xfrm>
            <a:off x="3363402" y="5470152"/>
            <a:ext cx="1860606" cy="361172"/>
          </a:xfrm>
          <a:prstGeom prst="round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Espace réservé du numéro de diapositive 3">
            <a:extLst>
              <a:ext uri="{FF2B5EF4-FFF2-40B4-BE49-F238E27FC236}">
                <a16:creationId xmlns:a16="http://schemas.microsoft.com/office/drawing/2014/main" id="{57AA7812-9566-461E-D41B-4C4AC111CAD2}"/>
              </a:ext>
            </a:extLst>
          </p:cNvPr>
          <p:cNvSpPr>
            <a:spLocks noGrp="1"/>
          </p:cNvSpPr>
          <p:nvPr>
            <p:ph type="sldNum" sz="quarter" idx="4"/>
          </p:nvPr>
        </p:nvSpPr>
        <p:spPr/>
        <p:txBody>
          <a:bodyPr/>
          <a:lstStyle/>
          <a:p>
            <a:fld id="{33C783E2-4793-4F48-A271-51A73CC37D74}" type="slidenum">
              <a:rPr lang="fr-FR" smtClean="0"/>
              <a:t>20</a:t>
            </a:fld>
            <a:endParaRPr lang="fr-FR"/>
          </a:p>
        </p:txBody>
      </p:sp>
    </p:spTree>
    <p:extLst>
      <p:ext uri="{BB962C8B-B14F-4D97-AF65-F5344CB8AC3E}">
        <p14:creationId xmlns:p14="http://schemas.microsoft.com/office/powerpoint/2010/main" val="1665393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ppt_w</p:attrName>
                                        </p:attrNameLst>
                                      </p:cBhvr>
                                      <p:tavLst>
                                        <p:tav tm="0">
                                          <p:val>
                                            <p:fltVal val="0"/>
                                          </p:val>
                                        </p:tav>
                                        <p:tav tm="100000">
                                          <p:val>
                                            <p:strVal val="#ppt_w"/>
                                          </p:val>
                                        </p:tav>
                                      </p:tavLst>
                                    </p:anim>
                                    <p:anim calcmode="lin" valueType="num">
                                      <p:cBhvr>
                                        <p:cTn id="17" dur="500" fill="hold"/>
                                        <p:tgtEl>
                                          <p:spTgt spid="5"/>
                                        </p:tgtEl>
                                        <p:attrNameLst>
                                          <p:attrName>ppt_h</p:attrName>
                                        </p:attrNameLst>
                                      </p:cBhvr>
                                      <p:tavLst>
                                        <p:tav tm="0">
                                          <p:val>
                                            <p:fltVal val="0"/>
                                          </p:val>
                                        </p:tav>
                                        <p:tav tm="100000">
                                          <p:val>
                                            <p:strVal val="#ppt_h"/>
                                          </p:val>
                                        </p:tav>
                                      </p:tavLst>
                                    </p:anim>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up)">
                                      <p:cBhvr>
                                        <p:cTn id="23" dur="500"/>
                                        <p:tgtEl>
                                          <p:spTgt spid="10"/>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500"/>
                                        <p:tgtEl>
                                          <p:spTgt spid="8"/>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up)">
                                      <p:cBhvr>
                                        <p:cTn id="2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63EA11-F4AE-E1DD-5904-147B0919B1CB}"/>
              </a:ext>
            </a:extLst>
          </p:cNvPr>
          <p:cNvSpPr>
            <a:spLocks noGrp="1"/>
          </p:cNvSpPr>
          <p:nvPr>
            <p:ph type="title"/>
          </p:nvPr>
        </p:nvSpPr>
        <p:spPr/>
        <p:txBody>
          <a:bodyPr/>
          <a:lstStyle/>
          <a:p>
            <a:r>
              <a:rPr lang="fr-FR" dirty="0"/>
              <a:t>Plugins </a:t>
            </a:r>
            <a:r>
              <a:rPr lang="fr-FR" dirty="0" err="1"/>
              <a:t>IntelliJ</a:t>
            </a:r>
            <a:endParaRPr lang="fr-FR" dirty="0"/>
          </a:p>
        </p:txBody>
      </p:sp>
      <p:sp>
        <p:nvSpPr>
          <p:cNvPr id="3" name="Espace réservé du contenu 2">
            <a:extLst>
              <a:ext uri="{FF2B5EF4-FFF2-40B4-BE49-F238E27FC236}">
                <a16:creationId xmlns:a16="http://schemas.microsoft.com/office/drawing/2014/main" id="{C2BAD132-4872-AEDE-7B63-754AAF0AB16C}"/>
              </a:ext>
            </a:extLst>
          </p:cNvPr>
          <p:cNvSpPr>
            <a:spLocks noGrp="1"/>
          </p:cNvSpPr>
          <p:nvPr>
            <p:ph idx="1"/>
          </p:nvPr>
        </p:nvSpPr>
        <p:spPr>
          <a:xfrm>
            <a:off x="838199" y="1825625"/>
            <a:ext cx="11080805" cy="4351338"/>
          </a:xfrm>
        </p:spPr>
        <p:txBody>
          <a:bodyPr/>
          <a:lstStyle/>
          <a:p>
            <a:pPr marL="0" indent="0">
              <a:buNone/>
            </a:pPr>
            <a:r>
              <a:rPr lang="fr-FR" dirty="0" err="1"/>
              <a:t>IntelliJ</a:t>
            </a:r>
            <a:r>
              <a:rPr lang="fr-FR" dirty="0"/>
              <a:t> peut être « étendu » à l’aide de plugins </a:t>
            </a:r>
            <a:r>
              <a:rPr lang="fr-FR" sz="2400" dirty="0"/>
              <a:t>(</a:t>
            </a:r>
            <a:r>
              <a:rPr lang="fr-FR" sz="2400" dirty="0" err="1"/>
              <a:t>IntelliJ</a:t>
            </a:r>
            <a:r>
              <a:rPr lang="fr-FR" sz="2400" dirty="0"/>
              <a:t>/</a:t>
            </a:r>
            <a:r>
              <a:rPr lang="fr-FR" sz="2400" dirty="0" err="1"/>
              <a:t>Preferences</a:t>
            </a:r>
            <a:r>
              <a:rPr lang="fr-FR" sz="2400" dirty="0"/>
              <a:t>/Plugins)</a:t>
            </a:r>
            <a:r>
              <a:rPr lang="fr-FR" dirty="0"/>
              <a:t>.</a:t>
            </a:r>
          </a:p>
          <a:p>
            <a:r>
              <a:rPr lang="fr-FR" dirty="0"/>
              <a:t>Nous pouvons utiliser </a:t>
            </a:r>
            <a:r>
              <a:rPr lang="fr-FR" dirty="0" err="1">
                <a:solidFill>
                  <a:schemeClr val="accent4"/>
                </a:solidFill>
              </a:rPr>
              <a:t>CodeWithMe</a:t>
            </a:r>
            <a:r>
              <a:rPr lang="fr-FR" dirty="0"/>
              <a:t> qui permet la collaboration sur une session </a:t>
            </a:r>
            <a:r>
              <a:rPr lang="fr-FR" dirty="0" err="1"/>
              <a:t>IntelliJ</a:t>
            </a:r>
            <a:r>
              <a:rPr lang="fr-FR" dirty="0"/>
              <a:t>.</a:t>
            </a:r>
          </a:p>
          <a:p>
            <a:endParaRPr lang="fr-FR" dirty="0"/>
          </a:p>
          <a:p>
            <a:r>
              <a:rPr lang="fr-FR" dirty="0"/>
              <a:t>J’utilise également </a:t>
            </a:r>
          </a:p>
          <a:p>
            <a:pPr lvl="1"/>
            <a:r>
              <a:rPr lang="fr-FR" dirty="0" err="1">
                <a:solidFill>
                  <a:schemeClr val="accent4"/>
                </a:solidFill>
              </a:rPr>
              <a:t>KeyPromoterX</a:t>
            </a:r>
            <a:r>
              <a:rPr lang="fr-FR" dirty="0"/>
              <a:t> qui rappelle les raccourcis clavier.</a:t>
            </a:r>
          </a:p>
          <a:p>
            <a:pPr lvl="1"/>
            <a:r>
              <a:rPr lang="fr-FR" dirty="0"/>
              <a:t>Un </a:t>
            </a:r>
            <a:r>
              <a:rPr lang="fr-FR" dirty="0">
                <a:solidFill>
                  <a:schemeClr val="accent4"/>
                </a:solidFill>
              </a:rPr>
              <a:t>thème</a:t>
            </a:r>
            <a:r>
              <a:rPr lang="fr-FR" dirty="0"/>
              <a:t> pour les couleurs de mon </a:t>
            </a:r>
            <a:r>
              <a:rPr lang="fr-FR" dirty="0" err="1"/>
              <a:t>editeur</a:t>
            </a:r>
            <a:r>
              <a:rPr lang="fr-FR" dirty="0"/>
              <a:t>.</a:t>
            </a:r>
          </a:p>
          <a:p>
            <a:endParaRPr lang="fr-FR" dirty="0"/>
          </a:p>
        </p:txBody>
      </p:sp>
      <p:sp>
        <p:nvSpPr>
          <p:cNvPr id="4" name="Espace réservé du numéro de diapositive 3">
            <a:extLst>
              <a:ext uri="{FF2B5EF4-FFF2-40B4-BE49-F238E27FC236}">
                <a16:creationId xmlns:a16="http://schemas.microsoft.com/office/drawing/2014/main" id="{A500F227-5CBA-CA77-12CD-4BF2414313BC}"/>
              </a:ext>
            </a:extLst>
          </p:cNvPr>
          <p:cNvSpPr>
            <a:spLocks noGrp="1"/>
          </p:cNvSpPr>
          <p:nvPr>
            <p:ph type="sldNum" sz="quarter" idx="4"/>
          </p:nvPr>
        </p:nvSpPr>
        <p:spPr/>
        <p:txBody>
          <a:bodyPr/>
          <a:lstStyle/>
          <a:p>
            <a:fld id="{33C783E2-4793-4F48-A271-51A73CC37D74}" type="slidenum">
              <a:rPr lang="fr-FR" smtClean="0"/>
              <a:t>21</a:t>
            </a:fld>
            <a:endParaRPr lang="fr-FR"/>
          </a:p>
        </p:txBody>
      </p:sp>
    </p:spTree>
    <p:extLst>
      <p:ext uri="{BB962C8B-B14F-4D97-AF65-F5344CB8AC3E}">
        <p14:creationId xmlns:p14="http://schemas.microsoft.com/office/powerpoint/2010/main" val="15330196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6A1B0D-68A9-24C8-26D9-0C78AE40F3B7}"/>
              </a:ext>
            </a:extLst>
          </p:cNvPr>
          <p:cNvSpPr>
            <a:spLocks noGrp="1"/>
          </p:cNvSpPr>
          <p:nvPr>
            <p:ph type="title"/>
          </p:nvPr>
        </p:nvSpPr>
        <p:spPr/>
        <p:txBody>
          <a:bodyPr/>
          <a:lstStyle/>
          <a:p>
            <a:r>
              <a:rPr lang="en-GB" dirty="0"/>
              <a:t>Les </a:t>
            </a:r>
            <a:r>
              <a:rPr lang="en-GB" dirty="0" err="1">
                <a:solidFill>
                  <a:schemeClr val="accent4"/>
                </a:solidFill>
              </a:rPr>
              <a:t>raccourcis</a:t>
            </a:r>
            <a:r>
              <a:rPr lang="en-GB" dirty="0">
                <a:solidFill>
                  <a:schemeClr val="accent4"/>
                </a:solidFill>
              </a:rPr>
              <a:t> </a:t>
            </a:r>
            <a:r>
              <a:rPr lang="en-GB" dirty="0"/>
              <a:t>clavier</a:t>
            </a:r>
          </a:p>
        </p:txBody>
      </p:sp>
      <p:sp>
        <p:nvSpPr>
          <p:cNvPr id="3" name="Espace réservé du contenu 2">
            <a:extLst>
              <a:ext uri="{FF2B5EF4-FFF2-40B4-BE49-F238E27FC236}">
                <a16:creationId xmlns:a16="http://schemas.microsoft.com/office/drawing/2014/main" id="{03587FA1-CA85-522A-3F00-B107C54975C5}"/>
              </a:ext>
            </a:extLst>
          </p:cNvPr>
          <p:cNvSpPr>
            <a:spLocks noGrp="1"/>
          </p:cNvSpPr>
          <p:nvPr>
            <p:ph idx="1"/>
          </p:nvPr>
        </p:nvSpPr>
        <p:spPr/>
        <p:txBody>
          <a:bodyPr>
            <a:normAutofit fontScale="92500" lnSpcReduction="10000"/>
          </a:bodyPr>
          <a:lstStyle/>
          <a:p>
            <a:pPr marL="0" indent="0">
              <a:buNone/>
            </a:pPr>
            <a:r>
              <a:rPr lang="en-GB" dirty="0"/>
              <a:t>IntelliJ regorge de </a:t>
            </a:r>
            <a:r>
              <a:rPr lang="en-GB" dirty="0" err="1"/>
              <a:t>raccourcis</a:t>
            </a:r>
            <a:r>
              <a:rPr lang="en-GB" dirty="0"/>
              <a:t> claviers pour </a:t>
            </a:r>
            <a:r>
              <a:rPr lang="en-GB" dirty="0" err="1"/>
              <a:t>vous</a:t>
            </a:r>
            <a:r>
              <a:rPr lang="en-GB" dirty="0"/>
              <a:t> </a:t>
            </a:r>
            <a:r>
              <a:rPr lang="en-GB" dirty="0" err="1"/>
              <a:t>permettre</a:t>
            </a:r>
            <a:r>
              <a:rPr lang="en-GB" dirty="0"/>
              <a:t> de </a:t>
            </a:r>
            <a:r>
              <a:rPr lang="en-GB" dirty="0" err="1"/>
              <a:t>gagner</a:t>
            </a:r>
            <a:r>
              <a:rPr lang="en-GB" dirty="0"/>
              <a:t> du temps. </a:t>
            </a:r>
          </a:p>
          <a:p>
            <a:r>
              <a:rPr lang="en-GB" dirty="0"/>
              <a:t>Les </a:t>
            </a:r>
            <a:r>
              <a:rPr lang="en-GB" dirty="0" err="1"/>
              <a:t>classiques</a:t>
            </a:r>
            <a:r>
              <a:rPr lang="en-GB" dirty="0"/>
              <a:t> </a:t>
            </a:r>
            <a:r>
              <a:rPr lang="en-GB" sz="2400" dirty="0">
                <a:solidFill>
                  <a:schemeClr val="accent4"/>
                </a:solidFill>
                <a:latin typeface="Consolas" panose="020B0609020204030204" pitchFamily="49" charset="0"/>
                <a:cs typeface="Consolas" panose="020B0609020204030204" pitchFamily="49" charset="0"/>
              </a:rPr>
              <a:t>Ctrl-C</a:t>
            </a:r>
            <a:r>
              <a:rPr lang="en-GB" dirty="0"/>
              <a:t>, </a:t>
            </a:r>
            <a:r>
              <a:rPr lang="en-GB" sz="2400" dirty="0">
                <a:solidFill>
                  <a:schemeClr val="accent4"/>
                </a:solidFill>
                <a:latin typeface="Consolas" panose="020B0609020204030204" pitchFamily="49" charset="0"/>
                <a:cs typeface="Consolas" panose="020B0609020204030204" pitchFamily="49" charset="0"/>
              </a:rPr>
              <a:t>Ctrl-X</a:t>
            </a:r>
            <a:r>
              <a:rPr lang="en-GB" dirty="0"/>
              <a:t> et </a:t>
            </a:r>
            <a:r>
              <a:rPr lang="en-GB" sz="2400" dirty="0">
                <a:solidFill>
                  <a:schemeClr val="accent4"/>
                </a:solidFill>
                <a:latin typeface="Consolas" panose="020B0609020204030204" pitchFamily="49" charset="0"/>
                <a:cs typeface="Consolas" panose="020B0609020204030204" pitchFamily="49" charset="0"/>
              </a:rPr>
              <a:t>Ctrl-V</a:t>
            </a:r>
            <a:r>
              <a:rPr lang="en-GB" sz="2400" dirty="0"/>
              <a:t> </a:t>
            </a:r>
            <a:r>
              <a:rPr lang="en-GB" dirty="0" err="1"/>
              <a:t>ou</a:t>
            </a:r>
            <a:r>
              <a:rPr lang="en-GB" sz="2400" dirty="0"/>
              <a:t> </a:t>
            </a:r>
            <a:r>
              <a:rPr lang="fr-BE" sz="2400" dirty="0">
                <a:solidFill>
                  <a:schemeClr val="accent4"/>
                </a:solidFill>
                <a:latin typeface="Consolas" panose="020B0609020204030204" pitchFamily="49" charset="0"/>
                <a:cs typeface="Consolas" panose="020B0609020204030204" pitchFamily="49" charset="0"/>
              </a:rPr>
              <a:t>⌘</a:t>
            </a:r>
            <a:r>
              <a:rPr lang="en-GB" sz="2400" dirty="0">
                <a:solidFill>
                  <a:schemeClr val="accent4"/>
                </a:solidFill>
                <a:latin typeface="Consolas" panose="020B0609020204030204" pitchFamily="49" charset="0"/>
                <a:cs typeface="Consolas" panose="020B0609020204030204" pitchFamily="49" charset="0"/>
              </a:rPr>
              <a:t>-C</a:t>
            </a:r>
            <a:r>
              <a:rPr lang="en-GB" dirty="0"/>
              <a:t>, </a:t>
            </a:r>
            <a:r>
              <a:rPr lang="fr-BE" sz="2400" dirty="0">
                <a:solidFill>
                  <a:schemeClr val="accent4"/>
                </a:solidFill>
                <a:latin typeface="Consolas" panose="020B0609020204030204" pitchFamily="49" charset="0"/>
                <a:cs typeface="Consolas" panose="020B0609020204030204" pitchFamily="49" charset="0"/>
              </a:rPr>
              <a:t>⌘</a:t>
            </a:r>
            <a:r>
              <a:rPr lang="en-GB" sz="2400" dirty="0">
                <a:solidFill>
                  <a:schemeClr val="accent4"/>
                </a:solidFill>
                <a:latin typeface="Consolas" panose="020B0609020204030204" pitchFamily="49" charset="0"/>
                <a:cs typeface="Consolas" panose="020B0609020204030204" pitchFamily="49" charset="0"/>
              </a:rPr>
              <a:t>-X</a:t>
            </a:r>
            <a:r>
              <a:rPr lang="en-GB" dirty="0"/>
              <a:t> et </a:t>
            </a:r>
            <a:r>
              <a:rPr lang="fr-BE" sz="2400" dirty="0">
                <a:solidFill>
                  <a:schemeClr val="accent4"/>
                </a:solidFill>
                <a:latin typeface="Consolas" panose="020B0609020204030204" pitchFamily="49" charset="0"/>
                <a:cs typeface="Consolas" panose="020B0609020204030204" pitchFamily="49" charset="0"/>
              </a:rPr>
              <a:t>⌘</a:t>
            </a:r>
            <a:r>
              <a:rPr lang="en-GB" sz="2400" dirty="0">
                <a:solidFill>
                  <a:schemeClr val="accent4"/>
                </a:solidFill>
                <a:latin typeface="Consolas" panose="020B0609020204030204" pitchFamily="49" charset="0"/>
                <a:cs typeface="Consolas" panose="020B0609020204030204" pitchFamily="49" charset="0"/>
              </a:rPr>
              <a:t>-V </a:t>
            </a:r>
            <a:r>
              <a:rPr lang="en-GB" sz="1500" dirty="0"/>
              <a:t>(copier/</a:t>
            </a:r>
            <a:r>
              <a:rPr lang="en-GB" sz="1500" dirty="0" err="1"/>
              <a:t>couper</a:t>
            </a:r>
            <a:r>
              <a:rPr lang="en-GB" sz="1500" dirty="0"/>
              <a:t>/</a:t>
            </a:r>
            <a:r>
              <a:rPr lang="en-GB" sz="1500" dirty="0" err="1"/>
              <a:t>coller</a:t>
            </a:r>
            <a:r>
              <a:rPr lang="en-GB" sz="1500" dirty="0"/>
              <a:t>)</a:t>
            </a:r>
          </a:p>
          <a:p>
            <a:r>
              <a:rPr lang="fr-BE" dirty="0"/>
              <a:t>Coller les contenus précédents </a:t>
            </a:r>
            <a:r>
              <a:rPr lang="fr-BE" sz="2400" dirty="0">
                <a:solidFill>
                  <a:schemeClr val="accent4"/>
                </a:solidFill>
              </a:rPr>
              <a:t>Maj-Ctrl-V</a:t>
            </a:r>
            <a:r>
              <a:rPr lang="fr-BE" dirty="0"/>
              <a:t> ou </a:t>
            </a:r>
            <a:r>
              <a:rPr lang="fr-BE" sz="2400" dirty="0">
                <a:solidFill>
                  <a:schemeClr val="accent4"/>
                </a:solidFill>
              </a:rPr>
              <a:t>⇧⌘V</a:t>
            </a:r>
            <a:endParaRPr lang="fr-BE" dirty="0"/>
          </a:p>
          <a:p>
            <a:r>
              <a:rPr lang="fr-BE" dirty="0"/>
              <a:t>Reformater le code: </a:t>
            </a:r>
            <a:r>
              <a:rPr lang="fr-BE" sz="2400" dirty="0">
                <a:solidFill>
                  <a:schemeClr val="accent4"/>
                </a:solidFill>
              </a:rPr>
              <a:t>Ctrl-Alt-L</a:t>
            </a:r>
            <a:r>
              <a:rPr lang="fr-BE" dirty="0"/>
              <a:t> ou </a:t>
            </a:r>
            <a:r>
              <a:rPr lang="fr-BE" sz="2400" dirty="0">
                <a:solidFill>
                  <a:schemeClr val="accent4"/>
                </a:solidFill>
              </a:rPr>
              <a:t>⌥-⌘-L</a:t>
            </a:r>
            <a:endParaRPr lang="fr-BE" dirty="0">
              <a:solidFill>
                <a:schemeClr val="accent4"/>
              </a:solidFill>
            </a:endParaRPr>
          </a:p>
          <a:p>
            <a:r>
              <a:rPr lang="en-GB" dirty="0" err="1"/>
              <a:t>Déplacer</a:t>
            </a:r>
            <a:r>
              <a:rPr lang="en-GB" dirty="0"/>
              <a:t> des </a:t>
            </a:r>
            <a:r>
              <a:rPr lang="en-GB" dirty="0" err="1"/>
              <a:t>lignes</a:t>
            </a:r>
            <a:r>
              <a:rPr lang="en-GB" dirty="0"/>
              <a:t> à </a:t>
            </a:r>
            <a:r>
              <a:rPr lang="en-GB" dirty="0" err="1"/>
              <a:t>l’aide</a:t>
            </a:r>
            <a:r>
              <a:rPr lang="en-GB" dirty="0"/>
              <a:t> de </a:t>
            </a:r>
            <a:r>
              <a:rPr lang="fr-BE" sz="2400" b="0" i="0" u="none" strike="noStrike" dirty="0">
                <a:solidFill>
                  <a:schemeClr val="accent4"/>
                </a:solidFill>
                <a:effectLst/>
                <a:latin typeface="JetBrains Sans"/>
              </a:rPr>
              <a:t>Alt -Maj-↑/↓</a:t>
            </a:r>
            <a:r>
              <a:rPr lang="fr-BE" b="0" i="0" u="none" strike="noStrike" dirty="0">
                <a:effectLst/>
                <a:latin typeface="JetBrains Sans"/>
              </a:rPr>
              <a:t> ou </a:t>
            </a:r>
            <a:r>
              <a:rPr lang="fr-BE" sz="2400" dirty="0">
                <a:solidFill>
                  <a:schemeClr val="accent4"/>
                </a:solidFill>
                <a:latin typeface="JetBrains Sans"/>
              </a:rPr>
              <a:t>⌘-⇧-↑/↓</a:t>
            </a:r>
          </a:p>
          <a:p>
            <a:r>
              <a:rPr lang="en-GB" dirty="0" err="1"/>
              <a:t>Dupliquer</a:t>
            </a:r>
            <a:r>
              <a:rPr lang="en-GB" dirty="0"/>
              <a:t> </a:t>
            </a:r>
            <a:r>
              <a:rPr lang="en-GB" dirty="0" err="1"/>
              <a:t>une</a:t>
            </a:r>
            <a:r>
              <a:rPr lang="en-GB" dirty="0"/>
              <a:t> </a:t>
            </a:r>
            <a:r>
              <a:rPr lang="en-GB" dirty="0" err="1"/>
              <a:t>ligne</a:t>
            </a:r>
            <a:r>
              <a:rPr lang="en-GB" dirty="0"/>
              <a:t> à </a:t>
            </a:r>
            <a:r>
              <a:rPr lang="en-GB" dirty="0" err="1"/>
              <a:t>l’aide</a:t>
            </a:r>
            <a:r>
              <a:rPr lang="en-GB" dirty="0"/>
              <a:t> de </a:t>
            </a:r>
            <a:r>
              <a:rPr lang="fr-BE" sz="2400" b="0" i="0" u="none" strike="noStrike" dirty="0">
                <a:solidFill>
                  <a:schemeClr val="accent4"/>
                </a:solidFill>
                <a:effectLst/>
                <a:latin typeface="JetBrains Sans"/>
              </a:rPr>
              <a:t>Ctrl-D</a:t>
            </a:r>
            <a:r>
              <a:rPr lang="fr-BE" b="0" i="0" u="none" strike="noStrike" dirty="0">
                <a:effectLst/>
                <a:latin typeface="JetBrains Sans"/>
              </a:rPr>
              <a:t> ou </a:t>
            </a:r>
            <a:r>
              <a:rPr lang="fr-BE" sz="2400" dirty="0">
                <a:solidFill>
                  <a:schemeClr val="accent4"/>
                </a:solidFill>
                <a:latin typeface="JetBrains Sans"/>
              </a:rPr>
              <a:t>⌘-D</a:t>
            </a:r>
          </a:p>
          <a:p>
            <a:pPr marL="0" indent="0">
              <a:buNone/>
            </a:pPr>
            <a:endParaRPr lang="en-GB" dirty="0"/>
          </a:p>
          <a:p>
            <a:pPr marL="0" indent="0">
              <a:buNone/>
            </a:pPr>
            <a:r>
              <a:rPr lang="en-GB" sz="2600" dirty="0">
                <a:hlinkClick r:id="rId2"/>
              </a:rPr>
              <a:t>https://blog.jetbrains.com/fr/idea/2022/12/selection-de-raccourcis-clavier-pour-intellij-idea-qui-gagnent-a-etre-connus/</a:t>
            </a:r>
            <a:endParaRPr lang="en-GB" sz="2600" dirty="0"/>
          </a:p>
          <a:p>
            <a:pPr marL="0" indent="0">
              <a:buNone/>
            </a:pPr>
            <a:endParaRPr lang="en-GB" dirty="0"/>
          </a:p>
        </p:txBody>
      </p:sp>
      <p:sp>
        <p:nvSpPr>
          <p:cNvPr id="4" name="Espace réservé du numéro de diapositive 3">
            <a:extLst>
              <a:ext uri="{FF2B5EF4-FFF2-40B4-BE49-F238E27FC236}">
                <a16:creationId xmlns:a16="http://schemas.microsoft.com/office/drawing/2014/main" id="{B35C005A-BFDA-6D0A-A87E-3C15FA390919}"/>
              </a:ext>
            </a:extLst>
          </p:cNvPr>
          <p:cNvSpPr>
            <a:spLocks noGrp="1"/>
          </p:cNvSpPr>
          <p:nvPr>
            <p:ph type="sldNum" sz="quarter" idx="4"/>
          </p:nvPr>
        </p:nvSpPr>
        <p:spPr/>
        <p:txBody>
          <a:bodyPr/>
          <a:lstStyle/>
          <a:p>
            <a:fld id="{33C783E2-4793-4F48-A271-51A73CC37D74}" type="slidenum">
              <a:rPr lang="fr-FR" smtClean="0"/>
              <a:t>22</a:t>
            </a:fld>
            <a:endParaRPr lang="fr-FR"/>
          </a:p>
        </p:txBody>
      </p:sp>
    </p:spTree>
    <p:extLst>
      <p:ext uri="{BB962C8B-B14F-4D97-AF65-F5344CB8AC3E}">
        <p14:creationId xmlns:p14="http://schemas.microsoft.com/office/powerpoint/2010/main" val="107343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4" name="Picture 8" descr="Technology city">
            <a:extLst>
              <a:ext uri="{FF2B5EF4-FFF2-40B4-BE49-F238E27FC236}">
                <a16:creationId xmlns:a16="http://schemas.microsoft.com/office/drawing/2014/main" id="{E98392A7-F8D4-1722-13B6-F7596E14519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816" b="28934"/>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E73067B4-4758-7D90-FE25-49374D623451}"/>
              </a:ext>
            </a:extLst>
          </p:cNvPr>
          <p:cNvSpPr txBox="1"/>
          <p:nvPr/>
        </p:nvSpPr>
        <p:spPr>
          <a:xfrm>
            <a:off x="838200" y="947821"/>
            <a:ext cx="7109778" cy="2123658"/>
          </a:xfrm>
          <a:prstGeom prst="rect">
            <a:avLst/>
          </a:prstGeom>
          <a:solidFill>
            <a:srgbClr val="023E71">
              <a:alpha val="76078"/>
            </a:srgbClr>
          </a:solidFill>
          <a:effectLst>
            <a:outerShdw blurRad="50800" dist="38100" dir="2700000" algn="tl" rotWithShape="0">
              <a:prstClr val="black">
                <a:alpha val="40000"/>
              </a:prstClr>
            </a:outerShdw>
          </a:effectLst>
        </p:spPr>
        <p:txBody>
          <a:bodyPr wrap="square" rtlCol="0">
            <a:spAutoFit/>
          </a:bodyPr>
          <a:lstStyle/>
          <a:p>
            <a:pPr algn="ctr"/>
            <a:r>
              <a:rPr lang="fr-FR" sz="6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L’environnement Java</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3" name="Espace réservé du numéro de diapositive 2">
            <a:extLst>
              <a:ext uri="{FF2B5EF4-FFF2-40B4-BE49-F238E27FC236}">
                <a16:creationId xmlns:a16="http://schemas.microsoft.com/office/drawing/2014/main" id="{3918A127-4A9F-4E38-ECD2-0153C0A2B766}"/>
              </a:ext>
            </a:extLst>
          </p:cNvPr>
          <p:cNvSpPr>
            <a:spLocks noGrp="1"/>
          </p:cNvSpPr>
          <p:nvPr>
            <p:ph type="sldNum" sz="quarter" idx="4"/>
          </p:nvPr>
        </p:nvSpPr>
        <p:spPr/>
        <p:txBody>
          <a:bodyPr/>
          <a:lstStyle/>
          <a:p>
            <a:fld id="{33C783E2-4793-4F48-A271-51A73CC37D74}" type="slidenum">
              <a:rPr lang="fr-FR" smtClean="0"/>
              <a:t>23</a:t>
            </a:fld>
            <a:endParaRPr lang="fr-FR"/>
          </a:p>
        </p:txBody>
      </p:sp>
    </p:spTree>
    <p:extLst>
      <p:ext uri="{BB962C8B-B14F-4D97-AF65-F5344CB8AC3E}">
        <p14:creationId xmlns:p14="http://schemas.microsoft.com/office/powerpoint/2010/main" val="3868805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a:extLst>
              <a:ext uri="{FF2B5EF4-FFF2-40B4-BE49-F238E27FC236}">
                <a16:creationId xmlns:a16="http://schemas.microsoft.com/office/drawing/2014/main" id="{CB67DCC7-7150-2BD0-C53C-AFC8FB6A5FF9}"/>
              </a:ext>
            </a:extLst>
          </p:cNvP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r="78437"/>
          <a:stretch/>
        </p:blipFill>
        <p:spPr bwMode="auto">
          <a:xfrm>
            <a:off x="3320580" y="1690690"/>
            <a:ext cx="1916954" cy="2781300"/>
          </a:xfrm>
          <a:prstGeom prst="rect">
            <a:avLst/>
          </a:prstGeom>
          <a:noFill/>
          <a:ln>
            <a:solidFill>
              <a:schemeClr val="bg2"/>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itre 3">
            <a:extLst>
              <a:ext uri="{FF2B5EF4-FFF2-40B4-BE49-F238E27FC236}">
                <a16:creationId xmlns:a16="http://schemas.microsoft.com/office/drawing/2014/main" id="{D3D34309-7328-BA58-7510-F5F11DF56636}"/>
              </a:ext>
            </a:extLst>
          </p:cNvPr>
          <p:cNvSpPr>
            <a:spLocks noGrp="1"/>
          </p:cNvSpPr>
          <p:nvPr>
            <p:ph type="title"/>
          </p:nvPr>
        </p:nvSpPr>
        <p:spPr/>
        <p:txBody>
          <a:bodyPr/>
          <a:lstStyle/>
          <a:p>
            <a:r>
              <a:rPr lang="fr-FR" dirty="0"/>
              <a:t>La plateforme Java</a:t>
            </a:r>
          </a:p>
        </p:txBody>
      </p:sp>
      <p:sp>
        <p:nvSpPr>
          <p:cNvPr id="13" name="ZoneTexte 12">
            <a:extLst>
              <a:ext uri="{FF2B5EF4-FFF2-40B4-BE49-F238E27FC236}">
                <a16:creationId xmlns:a16="http://schemas.microsoft.com/office/drawing/2014/main" id="{8195750D-2B0B-E045-C28F-E905D545B542}"/>
              </a:ext>
            </a:extLst>
          </p:cNvPr>
          <p:cNvSpPr txBox="1"/>
          <p:nvPr/>
        </p:nvSpPr>
        <p:spPr>
          <a:xfrm>
            <a:off x="4167960" y="5797553"/>
            <a:ext cx="7887693" cy="830997"/>
          </a:xfrm>
          <a:prstGeom prst="rect">
            <a:avLst/>
          </a:prstGeom>
          <a:noFill/>
        </p:spPr>
        <p:txBody>
          <a:bodyPr wrap="square">
            <a:spAutoFit/>
          </a:bodyPr>
          <a:lstStyle/>
          <a:p>
            <a:r>
              <a:rPr lang="fr-FR" sz="1600" dirty="0">
                <a:solidFill>
                  <a:schemeClr val="accent4"/>
                </a:solidFill>
                <a:hlinkClick r:id="rId3">
                  <a:extLst>
                    <a:ext uri="{A12FA001-AC4F-418D-AE19-62706E023703}">
                      <ahyp:hlinkClr xmlns:ahyp="http://schemas.microsoft.com/office/drawing/2018/hyperlinkcolor" val="tx"/>
                    </a:ext>
                  </a:extLst>
                </a:hlinkClick>
              </a:rPr>
              <a:t>https://www.oracle.com/java/technologies/platform-glance.html</a:t>
            </a:r>
            <a:r>
              <a:rPr lang="fr-FR" sz="1600" dirty="0"/>
              <a:t> et</a:t>
            </a:r>
            <a:r>
              <a:rPr lang="fr-FR" sz="1600" dirty="0">
                <a:solidFill>
                  <a:schemeClr val="accent4"/>
                </a:solidFill>
              </a:rPr>
              <a:t> </a:t>
            </a:r>
            <a:r>
              <a:rPr lang="fr-FR" sz="1600" dirty="0">
                <a:solidFill>
                  <a:schemeClr val="accent4"/>
                </a:solidFill>
                <a:hlinkClick r:id="rId4">
                  <a:extLst>
                    <a:ext uri="{A12FA001-AC4F-418D-AE19-62706E023703}">
                      <ahyp:hlinkClr xmlns:ahyp="http://schemas.microsoft.com/office/drawing/2018/hyperlinkcolor" val="tx"/>
                    </a:ext>
                  </a:extLst>
                </a:hlinkClick>
              </a:rPr>
              <a:t>https://docs.oracle.com/javase/8/docs/technotes/guides/desc_jdk_structure.html</a:t>
            </a:r>
            <a:endParaRPr lang="fr-FR" sz="1600" dirty="0">
              <a:solidFill>
                <a:schemeClr val="accent4"/>
              </a:solidFill>
            </a:endParaRPr>
          </a:p>
          <a:p>
            <a:r>
              <a:rPr lang="fr-FR" sz="1600" dirty="0">
                <a:solidFill>
                  <a:schemeClr val="accent4"/>
                </a:solidFill>
                <a:hlinkClick r:id="rId5"/>
              </a:rPr>
              <a:t>https://</a:t>
            </a:r>
            <a:r>
              <a:rPr lang="fr-FR" sz="1600" dirty="0" err="1">
                <a:solidFill>
                  <a:schemeClr val="accent4"/>
                </a:solidFill>
                <a:hlinkClick r:id="rId5"/>
              </a:rPr>
              <a:t>dev.to</a:t>
            </a:r>
            <a:r>
              <a:rPr lang="fr-FR" sz="1600" dirty="0">
                <a:solidFill>
                  <a:schemeClr val="accent4"/>
                </a:solidFill>
                <a:hlinkClick r:id="rId5"/>
              </a:rPr>
              <a:t>/</a:t>
            </a:r>
            <a:r>
              <a:rPr lang="fr-FR" sz="1600" dirty="0" err="1">
                <a:solidFill>
                  <a:schemeClr val="accent4"/>
                </a:solidFill>
                <a:hlinkClick r:id="rId5"/>
              </a:rPr>
              <a:t>jay_tillu</a:t>
            </a:r>
            <a:r>
              <a:rPr lang="fr-FR" sz="1600" dirty="0">
                <a:solidFill>
                  <a:schemeClr val="accent4"/>
                </a:solidFill>
                <a:hlinkClick r:id="rId5"/>
              </a:rPr>
              <a:t>/what-are-jdk-jvm-and-jre-the-exact-difference-between-them-24i6</a:t>
            </a:r>
            <a:endParaRPr lang="fr-FR" sz="1600" dirty="0">
              <a:solidFill>
                <a:schemeClr val="accent4"/>
              </a:solidFill>
            </a:endParaRPr>
          </a:p>
        </p:txBody>
      </p:sp>
      <p:pic>
        <p:nvPicPr>
          <p:cNvPr id="10" name="Picture 2" descr="Java SE - Technologies | Oracle Technology Network | Oracle">
            <a:extLst>
              <a:ext uri="{FF2B5EF4-FFF2-40B4-BE49-F238E27FC236}">
                <a16:creationId xmlns:a16="http://schemas.microsoft.com/office/drawing/2014/main" id="{EE118772-41F1-46C6-B3F4-814D1D2E5D1D}"/>
              </a:ext>
            </a:extLst>
          </p:cNvPr>
          <p:cNvPicPr>
            <a:picLocks noChangeAspect="1" noChangeArrowheads="1"/>
          </p:cNvPicPr>
          <p:nvPr/>
        </p:nvPicPr>
        <p:blipFill>
          <a:blip r:embed="rId6">
            <a:extLst>
              <a:ext uri="{28A0092B-C50C-407E-A947-70E740481C1C}">
                <a14:useLocalDpi xmlns:a14="http://schemas.microsoft.com/office/drawing/2010/main"/>
              </a:ext>
            </a:extLst>
          </a:blip>
          <a:stretch>
            <a:fillRect/>
          </a:stretch>
        </p:blipFill>
        <p:spPr bwMode="auto">
          <a:xfrm>
            <a:off x="-6082553" y="2127290"/>
            <a:ext cx="5181600" cy="378386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a:extLst>
              <a:ext uri="{FF2B5EF4-FFF2-40B4-BE49-F238E27FC236}">
                <a16:creationId xmlns:a16="http://schemas.microsoft.com/office/drawing/2014/main" id="{4E95774F-5C41-AE54-AC43-F221ADA5FB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863" r="46976"/>
          <a:stretch/>
        </p:blipFill>
        <p:spPr bwMode="auto">
          <a:xfrm>
            <a:off x="3482897" y="1690690"/>
            <a:ext cx="2859183" cy="2781300"/>
          </a:xfrm>
          <a:prstGeom prst="rect">
            <a:avLst/>
          </a:prstGeom>
          <a:noFill/>
          <a:ln>
            <a:solidFill>
              <a:schemeClr val="bg2"/>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9" name="Picture 2">
            <a:extLst>
              <a:ext uri="{FF2B5EF4-FFF2-40B4-BE49-F238E27FC236}">
                <a16:creationId xmlns:a16="http://schemas.microsoft.com/office/drawing/2014/main" id="{5EAFF626-FBF4-0C6D-6A1E-2DDCFBE0F28C}"/>
              </a:ext>
            </a:extLst>
          </p:cNvP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l="52619"/>
          <a:stretch/>
        </p:blipFill>
        <p:spPr bwMode="auto">
          <a:xfrm>
            <a:off x="3635298" y="1690690"/>
            <a:ext cx="4212128" cy="2781300"/>
          </a:xfrm>
          <a:prstGeom prst="rect">
            <a:avLst/>
          </a:prstGeom>
          <a:noFill/>
          <a:ln>
            <a:solidFill>
              <a:schemeClr val="bg2"/>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4" name="Espace réservé du contenu 8">
            <a:extLst>
              <a:ext uri="{FF2B5EF4-FFF2-40B4-BE49-F238E27FC236}">
                <a16:creationId xmlns:a16="http://schemas.microsoft.com/office/drawing/2014/main" id="{E8914096-8204-C795-ED71-1CEA3818887B}"/>
              </a:ext>
            </a:extLst>
          </p:cNvPr>
          <p:cNvSpPr txBox="1">
            <a:spLocks/>
          </p:cNvSpPr>
          <p:nvPr/>
        </p:nvSpPr>
        <p:spPr>
          <a:xfrm>
            <a:off x="8411816" y="1464508"/>
            <a:ext cx="3256723" cy="3279318"/>
          </a:xfrm>
          <a:prstGeom prst="rect">
            <a:avLst/>
          </a:prstGeom>
        </p:spPr>
        <p:txBody>
          <a:bodyPr vert="horz" lIns="91440" tIns="45720" rIns="91440" bIns="45720" numCol="1"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JVM: machine virtuelle</a:t>
            </a:r>
          </a:p>
          <a:p>
            <a:endParaRPr lang="fr-FR" dirty="0"/>
          </a:p>
          <a:p>
            <a:r>
              <a:rPr lang="fr-FR" dirty="0"/>
              <a:t>JRE: Runtime </a:t>
            </a:r>
            <a:r>
              <a:rPr lang="fr-FR" dirty="0" err="1"/>
              <a:t>Environment</a:t>
            </a:r>
            <a:endParaRPr lang="fr-FR" dirty="0"/>
          </a:p>
          <a:p>
            <a:endParaRPr lang="fr-FR" dirty="0"/>
          </a:p>
          <a:p>
            <a:r>
              <a:rPr lang="fr-FR" dirty="0"/>
              <a:t>JDK: </a:t>
            </a:r>
            <a:r>
              <a:rPr lang="fr-FR" dirty="0" err="1"/>
              <a:t>Development</a:t>
            </a:r>
            <a:r>
              <a:rPr lang="fr-FR" dirty="0"/>
              <a:t> Kit</a:t>
            </a:r>
          </a:p>
        </p:txBody>
      </p:sp>
      <p:pic>
        <p:nvPicPr>
          <p:cNvPr id="25" name="Picture 2" descr="Java (langage) — Wikipédia">
            <a:extLst>
              <a:ext uri="{FF2B5EF4-FFF2-40B4-BE49-F238E27FC236}">
                <a16:creationId xmlns:a16="http://schemas.microsoft.com/office/drawing/2014/main" id="{3BB9C205-9763-757C-4F17-E9ED58CBE92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598" y="1485900"/>
            <a:ext cx="2159000" cy="3886200"/>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numéro de diapositive 1">
            <a:extLst>
              <a:ext uri="{FF2B5EF4-FFF2-40B4-BE49-F238E27FC236}">
                <a16:creationId xmlns:a16="http://schemas.microsoft.com/office/drawing/2014/main" id="{03E375E8-6FF2-B5EA-010F-DD8E023D3C21}"/>
              </a:ext>
            </a:extLst>
          </p:cNvPr>
          <p:cNvSpPr>
            <a:spLocks noGrp="1"/>
          </p:cNvSpPr>
          <p:nvPr>
            <p:ph type="sldNum" sz="quarter" idx="4"/>
          </p:nvPr>
        </p:nvSpPr>
        <p:spPr/>
        <p:txBody>
          <a:bodyPr/>
          <a:lstStyle/>
          <a:p>
            <a:fld id="{33C783E2-4793-4F48-A271-51A73CC37D74}" type="slidenum">
              <a:rPr lang="fr-FR" smtClean="0"/>
              <a:t>24</a:t>
            </a:fld>
            <a:endParaRPr lang="fr-FR"/>
          </a:p>
        </p:txBody>
      </p:sp>
    </p:spTree>
    <p:extLst>
      <p:ext uri="{BB962C8B-B14F-4D97-AF65-F5344CB8AC3E}">
        <p14:creationId xmlns:p14="http://schemas.microsoft.com/office/powerpoint/2010/main" val="4099220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1000"/>
                                        <p:tgtEl>
                                          <p:spTgt spid="20"/>
                                        </p:tgtEl>
                                      </p:cBhvr>
                                    </p:animEffect>
                                  </p:childTnLst>
                                </p:cTn>
                              </p:par>
                              <p:par>
                                <p:cTn id="13" presetID="22" presetClass="exit" presetSubtype="8" fill="hold" nodeType="withEffect">
                                  <p:stCondLst>
                                    <p:cond delay="0"/>
                                  </p:stCondLst>
                                  <p:childTnLst>
                                    <p:animEffect transition="out" filter="wipe(left)">
                                      <p:cBhvr>
                                        <p:cTn id="14" dur="500"/>
                                        <p:tgtEl>
                                          <p:spTgt spid="21"/>
                                        </p:tgtEl>
                                      </p:cBhvr>
                                    </p:animEffect>
                                    <p:set>
                                      <p:cBhvr>
                                        <p:cTn id="15" dur="1" fill="hold">
                                          <p:stCondLst>
                                            <p:cond delay="499"/>
                                          </p:stCondLst>
                                        </p:cTn>
                                        <p:tgtEl>
                                          <p:spTgt spid="21"/>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1500"/>
                                        <p:tgtEl>
                                          <p:spTgt spid="19"/>
                                        </p:tgtEl>
                                      </p:cBhvr>
                                    </p:animEffect>
                                  </p:childTnLst>
                                </p:cTn>
                              </p:par>
                              <p:par>
                                <p:cTn id="21" presetID="22" presetClass="exit" presetSubtype="8" fill="hold" nodeType="withEffect">
                                  <p:stCondLst>
                                    <p:cond delay="0"/>
                                  </p:stCondLst>
                                  <p:childTnLst>
                                    <p:animEffect transition="out" filter="wipe(left)">
                                      <p:cBhvr>
                                        <p:cTn id="22" dur="1000"/>
                                        <p:tgtEl>
                                          <p:spTgt spid="20"/>
                                        </p:tgtEl>
                                      </p:cBhvr>
                                    </p:animEffect>
                                    <p:set>
                                      <p:cBhvr>
                                        <p:cTn id="23" dur="1" fill="hold">
                                          <p:stCondLst>
                                            <p:cond delay="999"/>
                                          </p:stCondLst>
                                        </p:cTn>
                                        <p:tgtEl>
                                          <p:spTgt spid="20"/>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3D34309-7328-BA58-7510-F5F11DF56636}"/>
              </a:ext>
            </a:extLst>
          </p:cNvPr>
          <p:cNvSpPr>
            <a:spLocks noGrp="1"/>
          </p:cNvSpPr>
          <p:nvPr>
            <p:ph type="title"/>
          </p:nvPr>
        </p:nvSpPr>
        <p:spPr/>
        <p:txBody>
          <a:bodyPr/>
          <a:lstStyle/>
          <a:p>
            <a:r>
              <a:rPr lang="fr-FR" dirty="0"/>
              <a:t>Trois éditions principales</a:t>
            </a:r>
          </a:p>
        </p:txBody>
      </p:sp>
      <p:sp>
        <p:nvSpPr>
          <p:cNvPr id="13" name="ZoneTexte 12">
            <a:extLst>
              <a:ext uri="{FF2B5EF4-FFF2-40B4-BE49-F238E27FC236}">
                <a16:creationId xmlns:a16="http://schemas.microsoft.com/office/drawing/2014/main" id="{8195750D-2B0B-E045-C28F-E905D545B542}"/>
              </a:ext>
            </a:extLst>
          </p:cNvPr>
          <p:cNvSpPr txBox="1"/>
          <p:nvPr/>
        </p:nvSpPr>
        <p:spPr>
          <a:xfrm>
            <a:off x="4167960" y="5797553"/>
            <a:ext cx="7887693" cy="830997"/>
          </a:xfrm>
          <a:prstGeom prst="rect">
            <a:avLst/>
          </a:prstGeom>
          <a:noFill/>
        </p:spPr>
        <p:txBody>
          <a:bodyPr wrap="square">
            <a:spAutoFit/>
          </a:bodyPr>
          <a:lstStyle/>
          <a:p>
            <a:r>
              <a:rPr lang="fr-FR" sz="1600" dirty="0">
                <a:solidFill>
                  <a:schemeClr val="accent4"/>
                </a:solidFill>
                <a:hlinkClick r:id="rId2">
                  <a:extLst>
                    <a:ext uri="{A12FA001-AC4F-418D-AE19-62706E023703}">
                      <ahyp:hlinkClr xmlns:ahyp="http://schemas.microsoft.com/office/drawing/2018/hyperlinkcolor" val="tx"/>
                    </a:ext>
                  </a:extLst>
                </a:hlinkClick>
              </a:rPr>
              <a:t>https://www.oracle.com/java/technologies/platform-glance.html</a:t>
            </a:r>
            <a:r>
              <a:rPr lang="fr-FR" sz="1600" dirty="0"/>
              <a:t> et</a:t>
            </a:r>
            <a:r>
              <a:rPr lang="fr-FR" sz="1600" dirty="0">
                <a:solidFill>
                  <a:schemeClr val="accent4"/>
                </a:solidFill>
              </a:rPr>
              <a:t> </a:t>
            </a:r>
            <a:r>
              <a:rPr lang="fr-FR" sz="1600" dirty="0">
                <a:solidFill>
                  <a:schemeClr val="accent4"/>
                </a:solidFill>
                <a:hlinkClick r:id="rId3">
                  <a:extLst>
                    <a:ext uri="{A12FA001-AC4F-418D-AE19-62706E023703}">
                      <ahyp:hlinkClr xmlns:ahyp="http://schemas.microsoft.com/office/drawing/2018/hyperlinkcolor" val="tx"/>
                    </a:ext>
                  </a:extLst>
                </a:hlinkClick>
              </a:rPr>
              <a:t>https://docs.oracle.com/javase/8/docs/technotes/guides/desc_jdk_structure.html</a:t>
            </a:r>
            <a:endParaRPr lang="fr-FR" sz="1600" dirty="0">
              <a:solidFill>
                <a:schemeClr val="accent4"/>
              </a:solidFill>
            </a:endParaRPr>
          </a:p>
          <a:p>
            <a:r>
              <a:rPr lang="fr-FR" sz="1600" dirty="0">
                <a:solidFill>
                  <a:schemeClr val="accent4"/>
                </a:solidFill>
                <a:hlinkClick r:id="rId4"/>
              </a:rPr>
              <a:t>https://</a:t>
            </a:r>
            <a:r>
              <a:rPr lang="fr-FR" sz="1600" dirty="0" err="1">
                <a:solidFill>
                  <a:schemeClr val="accent4"/>
                </a:solidFill>
                <a:hlinkClick r:id="rId4"/>
              </a:rPr>
              <a:t>dev.to</a:t>
            </a:r>
            <a:r>
              <a:rPr lang="fr-FR" sz="1600" dirty="0">
                <a:solidFill>
                  <a:schemeClr val="accent4"/>
                </a:solidFill>
                <a:hlinkClick r:id="rId4"/>
              </a:rPr>
              <a:t>/</a:t>
            </a:r>
            <a:r>
              <a:rPr lang="fr-FR" sz="1600" dirty="0" err="1">
                <a:solidFill>
                  <a:schemeClr val="accent4"/>
                </a:solidFill>
                <a:hlinkClick r:id="rId4"/>
              </a:rPr>
              <a:t>jay_tillu</a:t>
            </a:r>
            <a:r>
              <a:rPr lang="fr-FR" sz="1600" dirty="0">
                <a:solidFill>
                  <a:schemeClr val="accent4"/>
                </a:solidFill>
                <a:hlinkClick r:id="rId4"/>
              </a:rPr>
              <a:t>/what-are-jdk-jvm-and-jre-the-exact-difference-between-them-24i6</a:t>
            </a:r>
            <a:endParaRPr lang="fr-FR" sz="1600" dirty="0">
              <a:solidFill>
                <a:schemeClr val="accent4"/>
              </a:solidFill>
            </a:endParaRPr>
          </a:p>
        </p:txBody>
      </p:sp>
      <p:pic>
        <p:nvPicPr>
          <p:cNvPr id="10" name="Picture 2" descr="Java SE - Technologies | Oracle Technology Network | Oracle">
            <a:extLst>
              <a:ext uri="{FF2B5EF4-FFF2-40B4-BE49-F238E27FC236}">
                <a16:creationId xmlns:a16="http://schemas.microsoft.com/office/drawing/2014/main" id="{EE118772-41F1-46C6-B3F4-814D1D2E5D1D}"/>
              </a:ext>
            </a:extLst>
          </p:cNvPr>
          <p:cNvPicPr>
            <a:picLocks noChangeAspect="1" noChangeArrowheads="1"/>
          </p:cNvPicPr>
          <p:nvPr/>
        </p:nvPicPr>
        <p:blipFill>
          <a:blip r:embed="rId5">
            <a:extLst>
              <a:ext uri="{28A0092B-C50C-407E-A947-70E740481C1C}">
                <a14:useLocalDpi xmlns:a14="http://schemas.microsoft.com/office/drawing/2010/main"/>
              </a:ext>
            </a:extLst>
          </a:blip>
          <a:stretch>
            <a:fillRect/>
          </a:stretch>
        </p:blipFill>
        <p:spPr bwMode="auto">
          <a:xfrm>
            <a:off x="-6082553" y="2127290"/>
            <a:ext cx="5181600" cy="3783865"/>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AB72F495-FC29-02D2-11AC-9DA711A29199}"/>
              </a:ext>
            </a:extLst>
          </p:cNvPr>
          <p:cNvSpPr txBox="1"/>
          <p:nvPr/>
        </p:nvSpPr>
        <p:spPr>
          <a:xfrm>
            <a:off x="4167960" y="5354937"/>
            <a:ext cx="9140024" cy="338554"/>
          </a:xfrm>
          <a:prstGeom prst="rect">
            <a:avLst/>
          </a:prstGeom>
          <a:noFill/>
        </p:spPr>
        <p:txBody>
          <a:bodyPr wrap="square">
            <a:spAutoFit/>
          </a:bodyPr>
          <a:lstStyle/>
          <a:p>
            <a:r>
              <a:rPr lang="fr-FR" sz="1600" u="sng" dirty="0">
                <a:solidFill>
                  <a:schemeClr val="accent4"/>
                </a:solidFill>
              </a:rPr>
              <a:t>https://</a:t>
            </a:r>
            <a:r>
              <a:rPr lang="fr-FR" sz="1600" u="sng" dirty="0" err="1">
                <a:solidFill>
                  <a:schemeClr val="accent4"/>
                </a:solidFill>
              </a:rPr>
              <a:t>jcp.org</a:t>
            </a:r>
            <a:r>
              <a:rPr lang="fr-FR" sz="1600" u="sng" dirty="0">
                <a:solidFill>
                  <a:schemeClr val="accent4"/>
                </a:solidFill>
              </a:rPr>
              <a:t>/en/</a:t>
            </a:r>
            <a:r>
              <a:rPr lang="fr-FR" sz="1600" u="sng" dirty="0" err="1">
                <a:solidFill>
                  <a:schemeClr val="accent4"/>
                </a:solidFill>
              </a:rPr>
              <a:t>jsr</a:t>
            </a:r>
            <a:r>
              <a:rPr lang="fr-FR" sz="1600" u="sng" dirty="0">
                <a:solidFill>
                  <a:schemeClr val="accent4"/>
                </a:solidFill>
              </a:rPr>
              <a:t>/</a:t>
            </a:r>
            <a:r>
              <a:rPr lang="fr-FR" sz="1600" u="sng" dirty="0" err="1">
                <a:solidFill>
                  <a:schemeClr val="accent4"/>
                </a:solidFill>
              </a:rPr>
              <a:t>tech?listBy</a:t>
            </a:r>
            <a:r>
              <a:rPr lang="fr-FR" sz="1600" u="sng" dirty="0">
                <a:solidFill>
                  <a:schemeClr val="accent4"/>
                </a:solidFill>
              </a:rPr>
              <a:t>=2&amp;listByType=platform</a:t>
            </a:r>
          </a:p>
        </p:txBody>
      </p:sp>
      <p:sp>
        <p:nvSpPr>
          <p:cNvPr id="8" name="Espace réservé du contenu 7">
            <a:extLst>
              <a:ext uri="{FF2B5EF4-FFF2-40B4-BE49-F238E27FC236}">
                <a16:creationId xmlns:a16="http://schemas.microsoft.com/office/drawing/2014/main" id="{3C55598E-E20A-3E15-0AEA-1F24D9B23D61}"/>
              </a:ext>
            </a:extLst>
          </p:cNvPr>
          <p:cNvSpPr>
            <a:spLocks noGrp="1"/>
          </p:cNvSpPr>
          <p:nvPr>
            <p:ph sz="half" idx="2"/>
          </p:nvPr>
        </p:nvSpPr>
        <p:spPr>
          <a:xfrm>
            <a:off x="7398326" y="1825625"/>
            <a:ext cx="3955473" cy="4351338"/>
          </a:xfrm>
        </p:spPr>
        <p:txBody>
          <a:bodyPr/>
          <a:lstStyle/>
          <a:p>
            <a:r>
              <a:rPr lang="fr-FR" dirty="0"/>
              <a:t>JSE: édition Standard</a:t>
            </a:r>
          </a:p>
          <a:p>
            <a:r>
              <a:rPr lang="fr-FR" dirty="0"/>
              <a:t>JEE: édition Entreprise</a:t>
            </a:r>
          </a:p>
          <a:p>
            <a:r>
              <a:rPr lang="fr-FR" dirty="0"/>
              <a:t>JME: édition Micro</a:t>
            </a:r>
          </a:p>
          <a:p>
            <a:r>
              <a:rPr lang="fr-FR" dirty="0"/>
              <a:t>…</a:t>
            </a:r>
          </a:p>
          <a:p>
            <a:endParaRPr lang="fr-FR" dirty="0"/>
          </a:p>
          <a:p>
            <a:endParaRPr lang="fr-FR" dirty="0"/>
          </a:p>
        </p:txBody>
      </p:sp>
      <p:pic>
        <p:nvPicPr>
          <p:cNvPr id="11" name="Picture 4" descr="What is the Difference Between Java SE, Java EE, Java ME and JavaFX? – All  Systems GO">
            <a:extLst>
              <a:ext uri="{FF2B5EF4-FFF2-40B4-BE49-F238E27FC236}">
                <a16:creationId xmlns:a16="http://schemas.microsoft.com/office/drawing/2014/main" id="{D23F1833-8502-5B7C-4CF0-48360083E432}"/>
              </a:ext>
            </a:extLst>
          </p:cNvPr>
          <p:cNvPicPr>
            <a:picLocks noGrp="1" noChangeAspect="1" noChangeArrowheads="1"/>
          </p:cNvPicPr>
          <p:nvPr>
            <p:ph sz="half" idx="1"/>
          </p:nvPr>
        </p:nvPicPr>
        <p:blipFill rotWithShape="1">
          <a:blip r:embed="rId6">
            <a:extLst>
              <a:ext uri="{28A0092B-C50C-407E-A947-70E740481C1C}">
                <a14:useLocalDpi xmlns:a14="http://schemas.microsoft.com/office/drawing/2010/main" val="0"/>
              </a:ext>
            </a:extLst>
          </a:blip>
          <a:srcRect t="14036"/>
          <a:stretch/>
        </p:blipFill>
        <p:spPr bwMode="auto">
          <a:xfrm>
            <a:off x="528205" y="1933000"/>
            <a:ext cx="6468924" cy="3317875"/>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numéro de diapositive 1">
            <a:extLst>
              <a:ext uri="{FF2B5EF4-FFF2-40B4-BE49-F238E27FC236}">
                <a16:creationId xmlns:a16="http://schemas.microsoft.com/office/drawing/2014/main" id="{4944EFA8-01DB-2D82-04C9-375193299D69}"/>
              </a:ext>
            </a:extLst>
          </p:cNvPr>
          <p:cNvSpPr>
            <a:spLocks noGrp="1"/>
          </p:cNvSpPr>
          <p:nvPr>
            <p:ph type="sldNum" sz="quarter" idx="4"/>
          </p:nvPr>
        </p:nvSpPr>
        <p:spPr/>
        <p:txBody>
          <a:bodyPr/>
          <a:lstStyle/>
          <a:p>
            <a:fld id="{33C783E2-4793-4F48-A271-51A73CC37D74}" type="slidenum">
              <a:rPr lang="fr-FR" smtClean="0"/>
              <a:t>25</a:t>
            </a:fld>
            <a:endParaRPr lang="fr-FR"/>
          </a:p>
        </p:txBody>
      </p:sp>
    </p:spTree>
    <p:extLst>
      <p:ext uri="{BB962C8B-B14F-4D97-AF65-F5344CB8AC3E}">
        <p14:creationId xmlns:p14="http://schemas.microsoft.com/office/powerpoint/2010/main" val="26041788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43220070-D7A9-9BE6-072A-734D5185DB49}"/>
              </a:ext>
            </a:extLst>
          </p:cNvPr>
          <p:cNvSpPr>
            <a:spLocks noGrp="1"/>
          </p:cNvSpPr>
          <p:nvPr>
            <p:ph type="title"/>
          </p:nvPr>
        </p:nvSpPr>
        <p:spPr/>
        <p:txBody>
          <a:bodyPr/>
          <a:lstStyle/>
          <a:p>
            <a:r>
              <a:rPr lang="fr-FR" dirty="0"/>
              <a:t>Quelle version de java sur mon PC?</a:t>
            </a:r>
          </a:p>
        </p:txBody>
      </p:sp>
      <p:sp>
        <p:nvSpPr>
          <p:cNvPr id="10" name="Forme libre 9">
            <a:extLst>
              <a:ext uri="{FF2B5EF4-FFF2-40B4-BE49-F238E27FC236}">
                <a16:creationId xmlns:a16="http://schemas.microsoft.com/office/drawing/2014/main" id="{24D883D6-CB86-F7EF-F2E8-369BEC272FED}"/>
              </a:ext>
            </a:extLst>
          </p:cNvPr>
          <p:cNvSpPr/>
          <p:nvPr/>
        </p:nvSpPr>
        <p:spPr>
          <a:xfrm rot="5400000">
            <a:off x="-5644166" y="196403"/>
            <a:ext cx="6858000" cy="6465194"/>
          </a:xfrm>
          <a:custGeom>
            <a:avLst/>
            <a:gdLst>
              <a:gd name="connsiteX0" fmla="*/ 0 w 6858000"/>
              <a:gd name="connsiteY0" fmla="*/ 6465194 h 6465194"/>
              <a:gd name="connsiteX1" fmla="*/ 0 w 6858000"/>
              <a:gd name="connsiteY1" fmla="*/ 369194 h 6465194"/>
              <a:gd name="connsiteX2" fmla="*/ 1055807 w 6858000"/>
              <a:gd name="connsiteY2" fmla="*/ 369194 h 6465194"/>
              <a:gd name="connsiteX3" fmla="*/ 1509041 w 6858000"/>
              <a:gd name="connsiteY3" fmla="*/ 0 h 6465194"/>
              <a:gd name="connsiteX4" fmla="*/ 1962275 w 6858000"/>
              <a:gd name="connsiteY4" fmla="*/ 369194 h 6465194"/>
              <a:gd name="connsiteX5" fmla="*/ 6858000 w 6858000"/>
              <a:gd name="connsiteY5" fmla="*/ 369194 h 6465194"/>
              <a:gd name="connsiteX6" fmla="*/ 6858000 w 6858000"/>
              <a:gd name="connsiteY6" fmla="*/ 6465194 h 64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6465194">
                <a:moveTo>
                  <a:pt x="0" y="6465194"/>
                </a:moveTo>
                <a:lnTo>
                  <a:pt x="0" y="369194"/>
                </a:lnTo>
                <a:lnTo>
                  <a:pt x="1055807" y="369194"/>
                </a:lnTo>
                <a:lnTo>
                  <a:pt x="1509041" y="0"/>
                </a:lnTo>
                <a:lnTo>
                  <a:pt x="1962275" y="369194"/>
                </a:lnTo>
                <a:lnTo>
                  <a:pt x="6858000" y="369194"/>
                </a:lnTo>
                <a:lnTo>
                  <a:pt x="6858000" y="6465194"/>
                </a:lnTo>
                <a:close/>
              </a:path>
            </a:pathLst>
          </a:custGeom>
          <a:solidFill>
            <a:srgbClr val="26639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6" name="Forme libre 5">
            <a:extLst>
              <a:ext uri="{FF2B5EF4-FFF2-40B4-BE49-F238E27FC236}">
                <a16:creationId xmlns:a16="http://schemas.microsoft.com/office/drawing/2014/main" id="{89496949-9AE5-65F3-DC3B-B187E9662F3B}"/>
              </a:ext>
            </a:extLst>
          </p:cNvPr>
          <p:cNvSpPr/>
          <p:nvPr/>
        </p:nvSpPr>
        <p:spPr>
          <a:xfrm rot="5400000">
            <a:off x="-5923209" y="196403"/>
            <a:ext cx="6858000" cy="6465194"/>
          </a:xfrm>
          <a:custGeom>
            <a:avLst/>
            <a:gdLst>
              <a:gd name="connsiteX0" fmla="*/ 0 w 6858000"/>
              <a:gd name="connsiteY0" fmla="*/ 6465194 h 6465194"/>
              <a:gd name="connsiteX1" fmla="*/ 0 w 6858000"/>
              <a:gd name="connsiteY1" fmla="*/ 369194 h 6465194"/>
              <a:gd name="connsiteX2" fmla="*/ 1055807 w 6858000"/>
              <a:gd name="connsiteY2" fmla="*/ 369194 h 6465194"/>
              <a:gd name="connsiteX3" fmla="*/ 1509041 w 6858000"/>
              <a:gd name="connsiteY3" fmla="*/ 0 h 6465194"/>
              <a:gd name="connsiteX4" fmla="*/ 1962275 w 6858000"/>
              <a:gd name="connsiteY4" fmla="*/ 369194 h 6465194"/>
              <a:gd name="connsiteX5" fmla="*/ 6858000 w 6858000"/>
              <a:gd name="connsiteY5" fmla="*/ 369194 h 6465194"/>
              <a:gd name="connsiteX6" fmla="*/ 6858000 w 6858000"/>
              <a:gd name="connsiteY6" fmla="*/ 6465194 h 64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6465194">
                <a:moveTo>
                  <a:pt x="0" y="6465194"/>
                </a:moveTo>
                <a:lnTo>
                  <a:pt x="0" y="369194"/>
                </a:lnTo>
                <a:lnTo>
                  <a:pt x="1055807" y="369194"/>
                </a:lnTo>
                <a:lnTo>
                  <a:pt x="1509041" y="0"/>
                </a:lnTo>
                <a:lnTo>
                  <a:pt x="1962275" y="369194"/>
                </a:lnTo>
                <a:lnTo>
                  <a:pt x="6858000" y="369194"/>
                </a:lnTo>
                <a:lnTo>
                  <a:pt x="6858000" y="6465194"/>
                </a:lnTo>
                <a:close/>
              </a:path>
            </a:pathLst>
          </a:custGeom>
          <a:solidFill>
            <a:srgbClr val="1F4E7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 name="Espace réservé du numéro de diapositive 1">
            <a:extLst>
              <a:ext uri="{FF2B5EF4-FFF2-40B4-BE49-F238E27FC236}">
                <a16:creationId xmlns:a16="http://schemas.microsoft.com/office/drawing/2014/main" id="{F478C115-5BF6-FB12-558E-89AD84CCE97E}"/>
              </a:ext>
            </a:extLst>
          </p:cNvPr>
          <p:cNvSpPr>
            <a:spLocks noGrp="1"/>
          </p:cNvSpPr>
          <p:nvPr>
            <p:ph type="sldNum" sz="quarter" idx="4"/>
          </p:nvPr>
        </p:nvSpPr>
        <p:spPr/>
        <p:txBody>
          <a:bodyPr/>
          <a:lstStyle/>
          <a:p>
            <a:fld id="{33C783E2-4793-4F48-A271-51A73CC37D74}" type="slidenum">
              <a:rPr lang="fr-FR" smtClean="0"/>
              <a:t>26</a:t>
            </a:fld>
            <a:endParaRPr lang="fr-FR"/>
          </a:p>
        </p:txBody>
      </p:sp>
    </p:spTree>
    <p:extLst>
      <p:ext uri="{BB962C8B-B14F-4D97-AF65-F5344CB8AC3E}">
        <p14:creationId xmlns:p14="http://schemas.microsoft.com/office/powerpoint/2010/main" val="32960746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43220070-D7A9-9BE6-072A-734D5185DB49}"/>
              </a:ext>
            </a:extLst>
          </p:cNvPr>
          <p:cNvSpPr>
            <a:spLocks noGrp="1"/>
          </p:cNvSpPr>
          <p:nvPr>
            <p:ph type="title"/>
          </p:nvPr>
        </p:nvSpPr>
        <p:spPr/>
        <p:txBody>
          <a:bodyPr/>
          <a:lstStyle/>
          <a:p>
            <a:r>
              <a:rPr lang="fr-FR" dirty="0"/>
              <a:t>Quelle version de java sur mon PC?</a:t>
            </a:r>
          </a:p>
        </p:txBody>
      </p:sp>
      <p:sp>
        <p:nvSpPr>
          <p:cNvPr id="10" name="Forme libre 9">
            <a:extLst>
              <a:ext uri="{FF2B5EF4-FFF2-40B4-BE49-F238E27FC236}">
                <a16:creationId xmlns:a16="http://schemas.microsoft.com/office/drawing/2014/main" id="{24D883D6-CB86-F7EF-F2E8-369BEC272FED}"/>
              </a:ext>
            </a:extLst>
          </p:cNvPr>
          <p:cNvSpPr/>
          <p:nvPr/>
        </p:nvSpPr>
        <p:spPr>
          <a:xfrm rot="5400000">
            <a:off x="5530403" y="196403"/>
            <a:ext cx="6858000" cy="6465194"/>
          </a:xfrm>
          <a:custGeom>
            <a:avLst/>
            <a:gdLst>
              <a:gd name="connsiteX0" fmla="*/ 0 w 6858000"/>
              <a:gd name="connsiteY0" fmla="*/ 6465194 h 6465194"/>
              <a:gd name="connsiteX1" fmla="*/ 0 w 6858000"/>
              <a:gd name="connsiteY1" fmla="*/ 369194 h 6465194"/>
              <a:gd name="connsiteX2" fmla="*/ 1055807 w 6858000"/>
              <a:gd name="connsiteY2" fmla="*/ 369194 h 6465194"/>
              <a:gd name="connsiteX3" fmla="*/ 1509041 w 6858000"/>
              <a:gd name="connsiteY3" fmla="*/ 0 h 6465194"/>
              <a:gd name="connsiteX4" fmla="*/ 1962275 w 6858000"/>
              <a:gd name="connsiteY4" fmla="*/ 369194 h 6465194"/>
              <a:gd name="connsiteX5" fmla="*/ 6858000 w 6858000"/>
              <a:gd name="connsiteY5" fmla="*/ 369194 h 6465194"/>
              <a:gd name="connsiteX6" fmla="*/ 6858000 w 6858000"/>
              <a:gd name="connsiteY6" fmla="*/ 6465194 h 64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6465194">
                <a:moveTo>
                  <a:pt x="0" y="6465194"/>
                </a:moveTo>
                <a:lnTo>
                  <a:pt x="0" y="369194"/>
                </a:lnTo>
                <a:lnTo>
                  <a:pt x="1055807" y="369194"/>
                </a:lnTo>
                <a:lnTo>
                  <a:pt x="1509041" y="0"/>
                </a:lnTo>
                <a:lnTo>
                  <a:pt x="1962275" y="369194"/>
                </a:lnTo>
                <a:lnTo>
                  <a:pt x="6858000" y="369194"/>
                </a:lnTo>
                <a:lnTo>
                  <a:pt x="6858000" y="6465194"/>
                </a:lnTo>
                <a:close/>
              </a:path>
            </a:pathLst>
          </a:custGeom>
          <a:solidFill>
            <a:srgbClr val="26639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6" name="Forme libre 5">
            <a:extLst>
              <a:ext uri="{FF2B5EF4-FFF2-40B4-BE49-F238E27FC236}">
                <a16:creationId xmlns:a16="http://schemas.microsoft.com/office/drawing/2014/main" id="{89496949-9AE5-65F3-DC3B-B187E9662F3B}"/>
              </a:ext>
            </a:extLst>
          </p:cNvPr>
          <p:cNvSpPr/>
          <p:nvPr/>
        </p:nvSpPr>
        <p:spPr>
          <a:xfrm rot="5400000">
            <a:off x="-196403" y="196403"/>
            <a:ext cx="6858000" cy="6465194"/>
          </a:xfrm>
          <a:custGeom>
            <a:avLst/>
            <a:gdLst>
              <a:gd name="connsiteX0" fmla="*/ 0 w 6858000"/>
              <a:gd name="connsiteY0" fmla="*/ 6465194 h 6465194"/>
              <a:gd name="connsiteX1" fmla="*/ 0 w 6858000"/>
              <a:gd name="connsiteY1" fmla="*/ 369194 h 6465194"/>
              <a:gd name="connsiteX2" fmla="*/ 1055807 w 6858000"/>
              <a:gd name="connsiteY2" fmla="*/ 369194 h 6465194"/>
              <a:gd name="connsiteX3" fmla="*/ 1509041 w 6858000"/>
              <a:gd name="connsiteY3" fmla="*/ 0 h 6465194"/>
              <a:gd name="connsiteX4" fmla="*/ 1962275 w 6858000"/>
              <a:gd name="connsiteY4" fmla="*/ 369194 h 6465194"/>
              <a:gd name="connsiteX5" fmla="*/ 6858000 w 6858000"/>
              <a:gd name="connsiteY5" fmla="*/ 369194 h 6465194"/>
              <a:gd name="connsiteX6" fmla="*/ 6858000 w 6858000"/>
              <a:gd name="connsiteY6" fmla="*/ 6465194 h 64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6465194">
                <a:moveTo>
                  <a:pt x="0" y="6465194"/>
                </a:moveTo>
                <a:lnTo>
                  <a:pt x="0" y="369194"/>
                </a:lnTo>
                <a:lnTo>
                  <a:pt x="1055807" y="369194"/>
                </a:lnTo>
                <a:lnTo>
                  <a:pt x="1509041" y="0"/>
                </a:lnTo>
                <a:lnTo>
                  <a:pt x="1962275" y="369194"/>
                </a:lnTo>
                <a:lnTo>
                  <a:pt x="6858000" y="369194"/>
                </a:lnTo>
                <a:lnTo>
                  <a:pt x="6858000" y="6465194"/>
                </a:lnTo>
                <a:close/>
              </a:path>
            </a:pathLst>
          </a:custGeom>
          <a:solidFill>
            <a:srgbClr val="1F4E7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2" name="ZoneTexte 11">
            <a:extLst>
              <a:ext uri="{FF2B5EF4-FFF2-40B4-BE49-F238E27FC236}">
                <a16:creationId xmlns:a16="http://schemas.microsoft.com/office/drawing/2014/main" id="{F9B24534-8DDD-0A8C-8203-EA83F267BC6F}"/>
              </a:ext>
            </a:extLst>
          </p:cNvPr>
          <p:cNvSpPr txBox="1"/>
          <p:nvPr/>
        </p:nvSpPr>
        <p:spPr>
          <a:xfrm>
            <a:off x="1090715" y="384306"/>
            <a:ext cx="4160949" cy="461665"/>
          </a:xfrm>
          <a:prstGeom prst="rect">
            <a:avLst/>
          </a:prstGeom>
          <a:noFill/>
        </p:spPr>
        <p:txBody>
          <a:bodyPr wrap="square">
            <a:spAutoFit/>
          </a:bodyPr>
          <a:lstStyle/>
          <a:p>
            <a:pPr marL="0" indent="0">
              <a:buNone/>
            </a:pPr>
            <a:r>
              <a:rPr lang="fr-FR" sz="2400" dirty="0"/>
              <a:t>Comme </a:t>
            </a:r>
            <a:r>
              <a:rPr lang="fr-FR" sz="2400" b="1" dirty="0"/>
              <a:t>utilisateur</a:t>
            </a:r>
          </a:p>
        </p:txBody>
      </p:sp>
      <p:sp>
        <p:nvSpPr>
          <p:cNvPr id="13" name="ZoneTexte 12">
            <a:extLst>
              <a:ext uri="{FF2B5EF4-FFF2-40B4-BE49-F238E27FC236}">
                <a16:creationId xmlns:a16="http://schemas.microsoft.com/office/drawing/2014/main" id="{8D72F761-386A-9CB7-44F3-EFDA25432277}"/>
              </a:ext>
            </a:extLst>
          </p:cNvPr>
          <p:cNvSpPr txBox="1"/>
          <p:nvPr/>
        </p:nvSpPr>
        <p:spPr>
          <a:xfrm>
            <a:off x="7172762" y="384306"/>
            <a:ext cx="4160949" cy="461665"/>
          </a:xfrm>
          <a:prstGeom prst="rect">
            <a:avLst/>
          </a:prstGeom>
          <a:noFill/>
        </p:spPr>
        <p:txBody>
          <a:bodyPr wrap="square">
            <a:spAutoFit/>
          </a:bodyPr>
          <a:lstStyle/>
          <a:p>
            <a:pPr marL="0" indent="0">
              <a:buNone/>
            </a:pPr>
            <a:r>
              <a:rPr lang="fr-FR" sz="2400" dirty="0"/>
              <a:t>Comme </a:t>
            </a:r>
            <a:r>
              <a:rPr lang="fr-FR" sz="2400" b="1" dirty="0"/>
              <a:t>développeur</a:t>
            </a:r>
          </a:p>
        </p:txBody>
      </p:sp>
      <p:sp>
        <p:nvSpPr>
          <p:cNvPr id="8" name="Espace réservé du contenu 7">
            <a:extLst>
              <a:ext uri="{FF2B5EF4-FFF2-40B4-BE49-F238E27FC236}">
                <a16:creationId xmlns:a16="http://schemas.microsoft.com/office/drawing/2014/main" id="{4A144517-5FBF-1B54-CBCE-3F387C2A8550}"/>
              </a:ext>
            </a:extLst>
          </p:cNvPr>
          <p:cNvSpPr>
            <a:spLocks noGrp="1"/>
          </p:cNvSpPr>
          <p:nvPr>
            <p:ph sz="half" idx="1"/>
          </p:nvPr>
        </p:nvSpPr>
        <p:spPr>
          <a:xfrm>
            <a:off x="605307" y="1161881"/>
            <a:ext cx="5181600" cy="5330992"/>
          </a:xfrm>
        </p:spPr>
        <p:txBody>
          <a:bodyPr>
            <a:normAutofit/>
          </a:bodyPr>
          <a:lstStyle/>
          <a:p>
            <a:r>
              <a:rPr lang="fr-FR" sz="2400" dirty="0"/>
              <a:t>Pour </a:t>
            </a:r>
            <a:r>
              <a:rPr lang="fr-FR" sz="2400" dirty="0">
                <a:solidFill>
                  <a:schemeClr val="accent4"/>
                </a:solidFill>
              </a:rPr>
              <a:t>exécuter un programme Java</a:t>
            </a:r>
            <a:r>
              <a:rPr lang="fr-FR" sz="2400" dirty="0"/>
              <a:t>, votre ordinateur doit contenir un </a:t>
            </a:r>
            <a:r>
              <a:rPr lang="fr-FR" sz="2400" dirty="0">
                <a:solidFill>
                  <a:schemeClr val="accent4"/>
                </a:solidFill>
              </a:rPr>
              <a:t>Java Runtime </a:t>
            </a:r>
            <a:r>
              <a:rPr lang="fr-FR" sz="2400" dirty="0" err="1">
                <a:solidFill>
                  <a:schemeClr val="accent4"/>
                </a:solidFill>
              </a:rPr>
              <a:t>Environment</a:t>
            </a:r>
            <a:r>
              <a:rPr lang="fr-FR" sz="2400" dirty="0"/>
              <a:t>.</a:t>
            </a:r>
          </a:p>
          <a:p>
            <a:r>
              <a:rPr lang="fr-FR" sz="2400" dirty="0"/>
              <a:t>Pour connaître la version de java installée, ouvrir un command prompt (Win) ou un terminal (Mac) et taper</a:t>
            </a:r>
          </a:p>
          <a:p>
            <a:pPr marL="0" indent="0" algn="ctr">
              <a:buNone/>
            </a:pPr>
            <a:r>
              <a:rPr lang="fr-FR" sz="1800" dirty="0">
                <a:solidFill>
                  <a:schemeClr val="accent4"/>
                </a:solidFill>
                <a:latin typeface="Consolas" panose="020B0609020204030204" pitchFamily="49" charset="0"/>
                <a:cs typeface="Consolas" panose="020B0609020204030204" pitchFamily="49" charset="0"/>
              </a:rPr>
              <a:t>java -version</a:t>
            </a:r>
          </a:p>
          <a:p>
            <a:r>
              <a:rPr lang="fr-FR" sz="2400" dirty="0"/>
              <a:t>Si java est installé, vous devriez obtenir la version</a:t>
            </a:r>
          </a:p>
          <a:p>
            <a:pPr marL="274320" lvl="1" indent="0">
              <a:buNone/>
            </a:pPr>
            <a:r>
              <a:rPr lang="fr-BE" sz="1800" dirty="0">
                <a:solidFill>
                  <a:schemeClr val="accent4"/>
                </a:solidFill>
                <a:latin typeface="Consolas" panose="020B0609020204030204" pitchFamily="49" charset="0"/>
                <a:cs typeface="Consolas" panose="020B0609020204030204" pitchFamily="49" charset="0"/>
              </a:rPr>
              <a:t>java version "</a:t>
            </a:r>
            <a:r>
              <a:rPr lang="fr-BE" sz="1800" dirty="0">
                <a:solidFill>
                  <a:schemeClr val="accent1"/>
                </a:solidFill>
                <a:highlight>
                  <a:srgbClr val="FFFF00"/>
                </a:highlight>
                <a:latin typeface="Consolas" panose="020B0609020204030204" pitchFamily="49" charset="0"/>
                <a:cs typeface="Consolas" panose="020B0609020204030204" pitchFamily="49" charset="0"/>
              </a:rPr>
              <a:t>22.0.2</a:t>
            </a:r>
            <a:r>
              <a:rPr lang="fr-BE" sz="1800" dirty="0">
                <a:solidFill>
                  <a:schemeClr val="accent4"/>
                </a:solidFill>
                <a:latin typeface="Consolas" panose="020B0609020204030204" pitchFamily="49" charset="0"/>
                <a:cs typeface="Consolas" panose="020B0609020204030204" pitchFamily="49" charset="0"/>
              </a:rPr>
              <a:t>" 2024-07-16</a:t>
            </a:r>
          </a:p>
          <a:p>
            <a:pPr marL="274320" lvl="1" indent="0">
              <a:buNone/>
            </a:pPr>
            <a:r>
              <a:rPr lang="fr-BE" sz="1800" dirty="0">
                <a:solidFill>
                  <a:schemeClr val="accent4"/>
                </a:solidFill>
                <a:latin typeface="Consolas" panose="020B0609020204030204" pitchFamily="49" charset="0"/>
                <a:cs typeface="Consolas" panose="020B0609020204030204" pitchFamily="49" charset="0"/>
              </a:rPr>
              <a:t>Java(TM) SE Runtime </a:t>
            </a:r>
            <a:r>
              <a:rPr lang="fr-BE" sz="1800" dirty="0" err="1">
                <a:solidFill>
                  <a:schemeClr val="accent4"/>
                </a:solidFill>
                <a:latin typeface="Consolas" panose="020B0609020204030204" pitchFamily="49" charset="0"/>
                <a:cs typeface="Consolas" panose="020B0609020204030204" pitchFamily="49" charset="0"/>
              </a:rPr>
              <a:t>Environment</a:t>
            </a:r>
            <a:r>
              <a:rPr lang="fr-BE" sz="1800" dirty="0">
                <a:solidFill>
                  <a:schemeClr val="accent4"/>
                </a:solidFill>
                <a:latin typeface="Consolas" panose="020B0609020204030204" pitchFamily="49" charset="0"/>
                <a:cs typeface="Consolas" panose="020B0609020204030204" pitchFamily="49" charset="0"/>
              </a:rPr>
              <a:t> (</a:t>
            </a:r>
            <a:r>
              <a:rPr lang="fr-BE" sz="1800" dirty="0" err="1">
                <a:solidFill>
                  <a:schemeClr val="accent4"/>
                </a:solidFill>
                <a:latin typeface="Consolas" panose="020B0609020204030204" pitchFamily="49" charset="0"/>
                <a:cs typeface="Consolas" panose="020B0609020204030204" pitchFamily="49" charset="0"/>
              </a:rPr>
              <a:t>build</a:t>
            </a:r>
            <a:r>
              <a:rPr lang="fr-BE" sz="1800" dirty="0">
                <a:solidFill>
                  <a:schemeClr val="accent4"/>
                </a:solidFill>
                <a:latin typeface="Consolas" panose="020B0609020204030204" pitchFamily="49" charset="0"/>
                <a:cs typeface="Consolas" panose="020B0609020204030204" pitchFamily="49" charset="0"/>
              </a:rPr>
              <a:t> 22.0.2+9-70)</a:t>
            </a:r>
          </a:p>
          <a:p>
            <a:pPr marL="274320" lvl="1" indent="0">
              <a:buNone/>
            </a:pPr>
            <a:r>
              <a:rPr lang="fr-BE" sz="1800" dirty="0">
                <a:solidFill>
                  <a:schemeClr val="accent4"/>
                </a:solidFill>
                <a:latin typeface="Consolas" panose="020B0609020204030204" pitchFamily="49" charset="0"/>
                <a:cs typeface="Consolas" panose="020B0609020204030204" pitchFamily="49" charset="0"/>
              </a:rPr>
              <a:t>Java </a:t>
            </a:r>
            <a:r>
              <a:rPr lang="fr-BE" sz="1800" dirty="0" err="1">
                <a:solidFill>
                  <a:schemeClr val="accent4"/>
                </a:solidFill>
                <a:latin typeface="Consolas" panose="020B0609020204030204" pitchFamily="49" charset="0"/>
                <a:cs typeface="Consolas" panose="020B0609020204030204" pitchFamily="49" charset="0"/>
              </a:rPr>
              <a:t>HotSpot</a:t>
            </a:r>
            <a:r>
              <a:rPr lang="fr-BE" sz="1800" dirty="0">
                <a:solidFill>
                  <a:schemeClr val="accent4"/>
                </a:solidFill>
                <a:latin typeface="Consolas" panose="020B0609020204030204" pitchFamily="49" charset="0"/>
                <a:cs typeface="Consolas" panose="020B0609020204030204" pitchFamily="49" charset="0"/>
              </a:rPr>
              <a:t>(TM) 64-Bit Server VM (</a:t>
            </a:r>
            <a:r>
              <a:rPr lang="fr-BE" sz="1800" dirty="0" err="1">
                <a:solidFill>
                  <a:schemeClr val="accent4"/>
                </a:solidFill>
                <a:latin typeface="Consolas" panose="020B0609020204030204" pitchFamily="49" charset="0"/>
                <a:cs typeface="Consolas" panose="020B0609020204030204" pitchFamily="49" charset="0"/>
              </a:rPr>
              <a:t>build</a:t>
            </a:r>
            <a:r>
              <a:rPr lang="fr-BE" sz="1800" dirty="0">
                <a:solidFill>
                  <a:schemeClr val="accent4"/>
                </a:solidFill>
                <a:latin typeface="Consolas" panose="020B0609020204030204" pitchFamily="49" charset="0"/>
                <a:cs typeface="Consolas" panose="020B0609020204030204" pitchFamily="49" charset="0"/>
              </a:rPr>
              <a:t> 22.0.2+9-70, mixed mode, sharing)</a:t>
            </a:r>
            <a:endParaRPr lang="fr-FR" sz="1800" dirty="0">
              <a:solidFill>
                <a:schemeClr val="accent4"/>
              </a:solidFill>
              <a:latin typeface="Consolas" panose="020B0609020204030204" pitchFamily="49" charset="0"/>
              <a:cs typeface="Consolas" panose="020B0609020204030204" pitchFamily="49" charset="0"/>
            </a:endParaRPr>
          </a:p>
        </p:txBody>
      </p:sp>
      <p:sp>
        <p:nvSpPr>
          <p:cNvPr id="9" name="Espace réservé du contenu 8">
            <a:extLst>
              <a:ext uri="{FF2B5EF4-FFF2-40B4-BE49-F238E27FC236}">
                <a16:creationId xmlns:a16="http://schemas.microsoft.com/office/drawing/2014/main" id="{C2893250-D90F-C101-654D-EC264D179B32}"/>
              </a:ext>
            </a:extLst>
          </p:cNvPr>
          <p:cNvSpPr>
            <a:spLocks noGrp="1"/>
          </p:cNvSpPr>
          <p:nvPr>
            <p:ph sz="half" idx="2"/>
          </p:nvPr>
        </p:nvSpPr>
        <p:spPr>
          <a:xfrm>
            <a:off x="6777507" y="1161881"/>
            <a:ext cx="5181600" cy="5330992"/>
          </a:xfrm>
        </p:spPr>
        <p:txBody>
          <a:bodyPr>
            <a:normAutofit/>
          </a:bodyPr>
          <a:lstStyle/>
          <a:p>
            <a:r>
              <a:rPr lang="fr-FR" sz="2400" dirty="0"/>
              <a:t>Pour </a:t>
            </a:r>
            <a:r>
              <a:rPr lang="fr-FR" sz="2400" dirty="0">
                <a:solidFill>
                  <a:schemeClr val="accent4"/>
                </a:solidFill>
              </a:rPr>
              <a:t>compiler du code Java</a:t>
            </a:r>
            <a:r>
              <a:rPr lang="fr-FR" sz="2400" dirty="0"/>
              <a:t>, votre ordinateur doit contenir un </a:t>
            </a:r>
            <a:r>
              <a:rPr lang="fr-FR" sz="2400" dirty="0">
                <a:solidFill>
                  <a:schemeClr val="accent4"/>
                </a:solidFill>
              </a:rPr>
              <a:t>Java </a:t>
            </a:r>
            <a:r>
              <a:rPr lang="fr-FR" sz="2400" dirty="0" err="1">
                <a:solidFill>
                  <a:schemeClr val="accent4"/>
                </a:solidFill>
              </a:rPr>
              <a:t>Development</a:t>
            </a:r>
            <a:r>
              <a:rPr lang="fr-FR" sz="2400" dirty="0">
                <a:solidFill>
                  <a:schemeClr val="accent4"/>
                </a:solidFill>
              </a:rPr>
              <a:t> Kit</a:t>
            </a:r>
            <a:r>
              <a:rPr lang="fr-FR" sz="2400" dirty="0"/>
              <a:t> (qui contient un JRE).</a:t>
            </a:r>
          </a:p>
          <a:p>
            <a:r>
              <a:rPr lang="fr-FR" sz="2400" dirty="0"/>
              <a:t>Pour connaître la version installée, ouvrir un command prompt (Win) ou un terminal (Mac) et taper</a:t>
            </a:r>
          </a:p>
          <a:p>
            <a:pPr marL="0" lvl="1" indent="0" algn="ctr">
              <a:spcBef>
                <a:spcPts val="1000"/>
              </a:spcBef>
              <a:buNone/>
            </a:pPr>
            <a:r>
              <a:rPr lang="fr-FR" sz="1800" dirty="0" err="1">
                <a:solidFill>
                  <a:schemeClr val="accent4"/>
                </a:solidFill>
                <a:latin typeface="Consolas" panose="020B0609020204030204" pitchFamily="49" charset="0"/>
                <a:cs typeface="Consolas" panose="020B0609020204030204" pitchFamily="49" charset="0"/>
              </a:rPr>
              <a:t>javac</a:t>
            </a:r>
            <a:r>
              <a:rPr lang="fr-FR" sz="1800" dirty="0">
                <a:solidFill>
                  <a:schemeClr val="accent4"/>
                </a:solidFill>
                <a:latin typeface="Consolas" panose="020B0609020204030204" pitchFamily="49" charset="0"/>
                <a:cs typeface="Consolas" panose="020B0609020204030204" pitchFamily="49" charset="0"/>
              </a:rPr>
              <a:t> -version</a:t>
            </a:r>
          </a:p>
          <a:p>
            <a:r>
              <a:rPr lang="fr-FR" sz="2400" dirty="0"/>
              <a:t>Si le compilateur java est installé, vous obtenez la version</a:t>
            </a:r>
          </a:p>
          <a:p>
            <a:pPr marL="0" lvl="1" indent="0" algn="ctr">
              <a:spcBef>
                <a:spcPts val="1000"/>
              </a:spcBef>
              <a:buNone/>
            </a:pPr>
            <a:r>
              <a:rPr lang="fr-BE" sz="1800" dirty="0" err="1">
                <a:solidFill>
                  <a:schemeClr val="accent4"/>
                </a:solidFill>
                <a:latin typeface="Consolas" panose="020B0609020204030204" pitchFamily="49" charset="0"/>
                <a:cs typeface="Consolas" panose="020B0609020204030204" pitchFamily="49" charset="0"/>
              </a:rPr>
              <a:t>javac</a:t>
            </a:r>
            <a:r>
              <a:rPr lang="fr-BE" sz="1800" dirty="0">
                <a:solidFill>
                  <a:schemeClr val="accent4"/>
                </a:solidFill>
                <a:latin typeface="Consolas" panose="020B0609020204030204" pitchFamily="49" charset="0"/>
                <a:cs typeface="Consolas" panose="020B0609020204030204" pitchFamily="49" charset="0"/>
              </a:rPr>
              <a:t> </a:t>
            </a:r>
            <a:r>
              <a:rPr lang="fr-BE" sz="1800" dirty="0">
                <a:solidFill>
                  <a:schemeClr val="accent1"/>
                </a:solidFill>
                <a:highlight>
                  <a:srgbClr val="FFFF00"/>
                </a:highlight>
                <a:latin typeface="Consolas" panose="020B0609020204030204" pitchFamily="49" charset="0"/>
                <a:cs typeface="Consolas" panose="020B0609020204030204" pitchFamily="49" charset="0"/>
              </a:rPr>
              <a:t>22.0.2</a:t>
            </a:r>
            <a:endParaRPr lang="fr-FR" sz="1800" dirty="0">
              <a:solidFill>
                <a:schemeClr val="accent4"/>
              </a:solidFill>
              <a:latin typeface="Consolas" panose="020B0609020204030204" pitchFamily="49" charset="0"/>
              <a:cs typeface="Consolas" panose="020B0609020204030204" pitchFamily="49" charset="0"/>
            </a:endParaRPr>
          </a:p>
          <a:p>
            <a:endParaRPr lang="fr-FR" sz="2400" dirty="0"/>
          </a:p>
        </p:txBody>
      </p:sp>
      <p:pic>
        <p:nvPicPr>
          <p:cNvPr id="5" name="Graphique 4" descr="Programmatrice contour">
            <a:extLst>
              <a:ext uri="{FF2B5EF4-FFF2-40B4-BE49-F238E27FC236}">
                <a16:creationId xmlns:a16="http://schemas.microsoft.com/office/drawing/2014/main" id="{92FD280E-0F8B-4699-41F7-9DAA772320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91141" y="211879"/>
            <a:ext cx="720000" cy="720000"/>
          </a:xfrm>
          <a:prstGeom prst="rect">
            <a:avLst/>
          </a:prstGeom>
        </p:spPr>
      </p:pic>
      <p:pic>
        <p:nvPicPr>
          <p:cNvPr id="14" name="Graphique 13" descr="Couronne d'utilisateur masculine contour">
            <a:extLst>
              <a:ext uri="{FF2B5EF4-FFF2-40B4-BE49-F238E27FC236}">
                <a16:creationId xmlns:a16="http://schemas.microsoft.com/office/drawing/2014/main" id="{5E8B3DDE-7C67-70DF-C0FB-5AC02E1F70A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3147" y="260469"/>
            <a:ext cx="720000" cy="720000"/>
          </a:xfrm>
          <a:prstGeom prst="rect">
            <a:avLst/>
          </a:prstGeom>
        </p:spPr>
      </p:pic>
      <p:sp>
        <p:nvSpPr>
          <p:cNvPr id="2" name="Espace réservé du numéro de diapositive 1">
            <a:extLst>
              <a:ext uri="{FF2B5EF4-FFF2-40B4-BE49-F238E27FC236}">
                <a16:creationId xmlns:a16="http://schemas.microsoft.com/office/drawing/2014/main" id="{5C8CBF00-49C6-B0F7-8D83-6A06B811D5C4}"/>
              </a:ext>
            </a:extLst>
          </p:cNvPr>
          <p:cNvSpPr>
            <a:spLocks noGrp="1"/>
          </p:cNvSpPr>
          <p:nvPr>
            <p:ph type="sldNum" sz="quarter" idx="4"/>
          </p:nvPr>
        </p:nvSpPr>
        <p:spPr/>
        <p:txBody>
          <a:bodyPr/>
          <a:lstStyle/>
          <a:p>
            <a:fld id="{33C783E2-4793-4F48-A271-51A73CC37D74}" type="slidenum">
              <a:rPr lang="fr-FR" smtClean="0"/>
              <a:t>27</a:t>
            </a:fld>
            <a:endParaRPr lang="fr-FR"/>
          </a:p>
        </p:txBody>
      </p:sp>
    </p:spTree>
    <p:extLst>
      <p:ext uri="{BB962C8B-B14F-4D97-AF65-F5344CB8AC3E}">
        <p14:creationId xmlns:p14="http://schemas.microsoft.com/office/powerpoint/2010/main" val="38314741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F3706F-F7CF-C949-B381-AB4D3274DE9A}"/>
              </a:ext>
            </a:extLst>
          </p:cNvPr>
          <p:cNvSpPr>
            <a:spLocks noGrp="1"/>
          </p:cNvSpPr>
          <p:nvPr>
            <p:ph type="title"/>
          </p:nvPr>
        </p:nvSpPr>
        <p:spPr/>
        <p:txBody>
          <a:bodyPr/>
          <a:lstStyle/>
          <a:p>
            <a:r>
              <a:rPr lang="fr-FR" dirty="0"/>
              <a:t>java et </a:t>
            </a:r>
            <a:r>
              <a:rPr lang="fr-FR" dirty="0" err="1"/>
              <a:t>javac</a:t>
            </a:r>
            <a:endParaRPr lang="fr-FR" dirty="0"/>
          </a:p>
        </p:txBody>
      </p:sp>
      <p:sp>
        <p:nvSpPr>
          <p:cNvPr id="3" name="Espace réservé du contenu 2">
            <a:extLst>
              <a:ext uri="{FF2B5EF4-FFF2-40B4-BE49-F238E27FC236}">
                <a16:creationId xmlns:a16="http://schemas.microsoft.com/office/drawing/2014/main" id="{7F339EBE-0B12-7576-574E-F0EBA0A9E80E}"/>
              </a:ext>
            </a:extLst>
          </p:cNvPr>
          <p:cNvSpPr>
            <a:spLocks noGrp="1"/>
          </p:cNvSpPr>
          <p:nvPr>
            <p:ph sz="half" idx="1"/>
          </p:nvPr>
        </p:nvSpPr>
        <p:spPr/>
        <p:txBody>
          <a:bodyPr/>
          <a:lstStyle/>
          <a:p>
            <a:r>
              <a:rPr lang="fr-FR" dirty="0" err="1">
                <a:solidFill>
                  <a:schemeClr val="accent4"/>
                </a:solidFill>
                <a:latin typeface="Consolas" panose="020B0609020204030204" pitchFamily="49" charset="0"/>
                <a:cs typeface="Consolas" panose="020B0609020204030204" pitchFamily="49" charset="0"/>
              </a:rPr>
              <a:t>javac</a:t>
            </a:r>
            <a:r>
              <a:rPr lang="fr-FR" dirty="0"/>
              <a:t> est l’exécutable du compilateur de code java.</a:t>
            </a:r>
          </a:p>
          <a:p>
            <a:endParaRPr lang="fr-FR" dirty="0"/>
          </a:p>
          <a:p>
            <a:r>
              <a:rPr lang="fr-FR" dirty="0">
                <a:solidFill>
                  <a:schemeClr val="accent4"/>
                </a:solidFill>
                <a:latin typeface="Consolas" panose="020B0609020204030204" pitchFamily="49" charset="0"/>
                <a:cs typeface="Consolas" panose="020B0609020204030204" pitchFamily="49" charset="0"/>
              </a:rPr>
              <a:t>java</a:t>
            </a:r>
            <a:r>
              <a:rPr lang="fr-FR" dirty="0"/>
              <a:t> est l’exécutable de l’interpréteur de binaires java.</a:t>
            </a:r>
          </a:p>
          <a:p>
            <a:endParaRPr lang="fr-FR" dirty="0"/>
          </a:p>
        </p:txBody>
      </p:sp>
      <p:pic>
        <p:nvPicPr>
          <p:cNvPr id="7" name="Picture 2">
            <a:extLst>
              <a:ext uri="{FF2B5EF4-FFF2-40B4-BE49-F238E27FC236}">
                <a16:creationId xmlns:a16="http://schemas.microsoft.com/office/drawing/2014/main" id="{D853BFFD-6331-4A8A-1607-56500310664D}"/>
              </a:ext>
            </a:extLst>
          </p:cNvP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l="53688" t="10570" r="1662" b="16631"/>
          <a:stretch/>
        </p:blipFill>
        <p:spPr bwMode="auto">
          <a:xfrm>
            <a:off x="1387367" y="4318830"/>
            <a:ext cx="3501376" cy="1786078"/>
          </a:xfrm>
          <a:prstGeom prst="rect">
            <a:avLst/>
          </a:prstGeom>
          <a:noFill/>
          <a:ln>
            <a:solidFill>
              <a:schemeClr val="bg2"/>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272B631-E74C-E58D-37C2-198A45943DCB}"/>
              </a:ext>
            </a:extLst>
          </p:cNvPr>
          <p:cNvSpPr/>
          <p:nvPr/>
        </p:nvSpPr>
        <p:spPr>
          <a:xfrm>
            <a:off x="7839404" y="1352023"/>
            <a:ext cx="1860331" cy="5713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Code java (.java)</a:t>
            </a:r>
          </a:p>
        </p:txBody>
      </p:sp>
      <p:sp>
        <p:nvSpPr>
          <p:cNvPr id="8" name="Rectangle 7">
            <a:extLst>
              <a:ext uri="{FF2B5EF4-FFF2-40B4-BE49-F238E27FC236}">
                <a16:creationId xmlns:a16="http://schemas.microsoft.com/office/drawing/2014/main" id="{51ABA7C8-BBB5-790B-08A9-FDDB2A71EF68}"/>
              </a:ext>
            </a:extLst>
          </p:cNvPr>
          <p:cNvSpPr/>
          <p:nvPr/>
        </p:nvSpPr>
        <p:spPr>
          <a:xfrm>
            <a:off x="7839404" y="3500422"/>
            <a:ext cx="1860331" cy="571370"/>
          </a:xfrm>
          <a:prstGeom prst="rect">
            <a:avLst/>
          </a:prstGeom>
          <a:gradFill flip="none" rotWithShape="1">
            <a:gsLst>
              <a:gs pos="0">
                <a:schemeClr val="accent3">
                  <a:lumMod val="60000"/>
                  <a:lumOff val="40000"/>
                </a:schemeClr>
              </a:gs>
              <a:gs pos="100000">
                <a:schemeClr val="accent3">
                  <a:lumMod val="75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Bytecode (.class)</a:t>
            </a:r>
          </a:p>
        </p:txBody>
      </p:sp>
      <p:grpSp>
        <p:nvGrpSpPr>
          <p:cNvPr id="40" name="Groupe 39">
            <a:extLst>
              <a:ext uri="{FF2B5EF4-FFF2-40B4-BE49-F238E27FC236}">
                <a16:creationId xmlns:a16="http://schemas.microsoft.com/office/drawing/2014/main" id="{CD0125C3-17C0-A476-794F-4B1F40923B80}"/>
              </a:ext>
            </a:extLst>
          </p:cNvPr>
          <p:cNvGrpSpPr/>
          <p:nvPr/>
        </p:nvGrpSpPr>
        <p:grpSpPr>
          <a:xfrm>
            <a:off x="7960273" y="1923393"/>
            <a:ext cx="1618593" cy="1577029"/>
            <a:chOff x="7960273" y="1923393"/>
            <a:chExt cx="1618593" cy="1577029"/>
          </a:xfrm>
        </p:grpSpPr>
        <p:sp>
          <p:nvSpPr>
            <p:cNvPr id="5" name="Ellipse 4">
              <a:extLst>
                <a:ext uri="{FF2B5EF4-FFF2-40B4-BE49-F238E27FC236}">
                  <a16:creationId xmlns:a16="http://schemas.microsoft.com/office/drawing/2014/main" id="{CDD08010-188A-5B1C-CD93-6CA53BA6DA49}"/>
                </a:ext>
              </a:extLst>
            </p:cNvPr>
            <p:cNvSpPr/>
            <p:nvPr/>
          </p:nvSpPr>
          <p:spPr>
            <a:xfrm>
              <a:off x="7960273" y="2196662"/>
              <a:ext cx="1618593" cy="956441"/>
            </a:xfrm>
            <a:prstGeom prst="ellipse">
              <a:avLst/>
            </a:prstGeom>
            <a:gradFill flip="none" rotWithShape="1">
              <a:gsLst>
                <a:gs pos="0">
                  <a:schemeClr val="accent5">
                    <a:lumMod val="60000"/>
                    <a:lumOff val="40000"/>
                  </a:schemeClr>
                </a:gs>
                <a:gs pos="100000">
                  <a:schemeClr val="accent5">
                    <a:lumMod val="75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err="1"/>
                <a:t>Compilateur</a:t>
              </a:r>
              <a:r>
                <a:rPr lang="en-GB" sz="1400" dirty="0"/>
                <a:t> </a:t>
              </a:r>
              <a:r>
                <a:rPr lang="en-GB" sz="1400" dirty="0" err="1"/>
                <a:t>javac</a:t>
              </a:r>
              <a:endParaRPr lang="en-GB" sz="1400" dirty="0"/>
            </a:p>
          </p:txBody>
        </p:sp>
        <p:cxnSp>
          <p:nvCxnSpPr>
            <p:cNvPr id="18" name="Connecteur droit avec flèche 17">
              <a:extLst>
                <a:ext uri="{FF2B5EF4-FFF2-40B4-BE49-F238E27FC236}">
                  <a16:creationId xmlns:a16="http://schemas.microsoft.com/office/drawing/2014/main" id="{00C8622B-44F3-47FC-71F5-4586BD02F700}"/>
                </a:ext>
              </a:extLst>
            </p:cNvPr>
            <p:cNvCxnSpPr>
              <a:stCxn id="4" idx="2"/>
              <a:endCxn id="5" idx="0"/>
            </p:cNvCxnSpPr>
            <p:nvPr/>
          </p:nvCxnSpPr>
          <p:spPr>
            <a:xfrm>
              <a:off x="8769570" y="1923393"/>
              <a:ext cx="0" cy="273269"/>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 name="Connecteur droit avec flèche 18">
              <a:extLst>
                <a:ext uri="{FF2B5EF4-FFF2-40B4-BE49-F238E27FC236}">
                  <a16:creationId xmlns:a16="http://schemas.microsoft.com/office/drawing/2014/main" id="{164C9A18-BA64-E032-01A6-00E75E9FD608}"/>
                </a:ext>
              </a:extLst>
            </p:cNvPr>
            <p:cNvCxnSpPr>
              <a:cxnSpLocks/>
              <a:stCxn id="5" idx="4"/>
              <a:endCxn id="8" idx="0"/>
            </p:cNvCxnSpPr>
            <p:nvPr/>
          </p:nvCxnSpPr>
          <p:spPr>
            <a:xfrm>
              <a:off x="8769570" y="3153103"/>
              <a:ext cx="0" cy="347319"/>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grpSp>
      <p:cxnSp>
        <p:nvCxnSpPr>
          <p:cNvPr id="20" name="Connecteur droit avec flèche 19">
            <a:extLst>
              <a:ext uri="{FF2B5EF4-FFF2-40B4-BE49-F238E27FC236}">
                <a16:creationId xmlns:a16="http://schemas.microsoft.com/office/drawing/2014/main" id="{E3B315D6-71AF-00BB-1DCE-7FBDC779C2C7}"/>
              </a:ext>
            </a:extLst>
          </p:cNvPr>
          <p:cNvCxnSpPr>
            <a:cxnSpLocks/>
            <a:stCxn id="8" idx="2"/>
            <a:endCxn id="10" idx="0"/>
          </p:cNvCxnSpPr>
          <p:nvPr/>
        </p:nvCxnSpPr>
        <p:spPr>
          <a:xfrm flipH="1">
            <a:off x="8769569" y="4071792"/>
            <a:ext cx="1" cy="573780"/>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1" name="Connecteur droit avec flèche 20">
            <a:extLst>
              <a:ext uri="{FF2B5EF4-FFF2-40B4-BE49-F238E27FC236}">
                <a16:creationId xmlns:a16="http://schemas.microsoft.com/office/drawing/2014/main" id="{8E179861-A9C3-61E1-CDC1-44B6C8277DB9}"/>
              </a:ext>
            </a:extLst>
          </p:cNvPr>
          <p:cNvCxnSpPr>
            <a:cxnSpLocks/>
            <a:stCxn id="8" idx="2"/>
            <a:endCxn id="11" idx="0"/>
          </p:cNvCxnSpPr>
          <p:nvPr/>
        </p:nvCxnSpPr>
        <p:spPr>
          <a:xfrm>
            <a:off x="8769570" y="4071792"/>
            <a:ext cx="1664575" cy="573780"/>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2" name="Connecteur droit avec flèche 21">
            <a:extLst>
              <a:ext uri="{FF2B5EF4-FFF2-40B4-BE49-F238E27FC236}">
                <a16:creationId xmlns:a16="http://schemas.microsoft.com/office/drawing/2014/main" id="{C8B711FA-A6C7-5EE9-D6ED-F0582EFE2326}"/>
              </a:ext>
            </a:extLst>
          </p:cNvPr>
          <p:cNvCxnSpPr>
            <a:cxnSpLocks/>
            <a:stCxn id="8" idx="2"/>
            <a:endCxn id="9" idx="0"/>
          </p:cNvCxnSpPr>
          <p:nvPr/>
        </p:nvCxnSpPr>
        <p:spPr>
          <a:xfrm flipH="1">
            <a:off x="7104993" y="4071792"/>
            <a:ext cx="1664577" cy="573780"/>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41" name="Groupe 40">
            <a:extLst>
              <a:ext uri="{FF2B5EF4-FFF2-40B4-BE49-F238E27FC236}">
                <a16:creationId xmlns:a16="http://schemas.microsoft.com/office/drawing/2014/main" id="{4AA6B6BD-D356-7083-8BAB-EBCA8C6AAF5F}"/>
              </a:ext>
            </a:extLst>
          </p:cNvPr>
          <p:cNvGrpSpPr/>
          <p:nvPr/>
        </p:nvGrpSpPr>
        <p:grpSpPr>
          <a:xfrm>
            <a:off x="6348248" y="4645572"/>
            <a:ext cx="4842642" cy="1264836"/>
            <a:chOff x="6348248" y="4645572"/>
            <a:chExt cx="4842642" cy="1264836"/>
          </a:xfrm>
        </p:grpSpPr>
        <p:sp>
          <p:nvSpPr>
            <p:cNvPr id="9" name="Rectangle : coins arrondis 8">
              <a:extLst>
                <a:ext uri="{FF2B5EF4-FFF2-40B4-BE49-F238E27FC236}">
                  <a16:creationId xmlns:a16="http://schemas.microsoft.com/office/drawing/2014/main" id="{25E84EFB-0119-4794-8E5A-B786B97B45AA}"/>
                </a:ext>
              </a:extLst>
            </p:cNvPr>
            <p:cNvSpPr/>
            <p:nvPr/>
          </p:nvSpPr>
          <p:spPr>
            <a:xfrm>
              <a:off x="6505903" y="4645572"/>
              <a:ext cx="1198180" cy="472966"/>
            </a:xfrm>
            <a:prstGeom prst="roundRect">
              <a:avLst/>
            </a:prstGeom>
            <a:gradFill flip="none" rotWithShape="1">
              <a:gsLst>
                <a:gs pos="0">
                  <a:schemeClr val="accent6">
                    <a:lumMod val="40000"/>
                    <a:lumOff val="60000"/>
                  </a:schemeClr>
                </a:gs>
                <a:gs pos="99000">
                  <a:schemeClr val="accent6">
                    <a:lumMod val="60000"/>
                    <a:lumOff val="40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JVM</a:t>
              </a:r>
            </a:p>
          </p:txBody>
        </p:sp>
        <p:sp>
          <p:nvSpPr>
            <p:cNvPr id="11" name="Rectangle : coins arrondis 10">
              <a:extLst>
                <a:ext uri="{FF2B5EF4-FFF2-40B4-BE49-F238E27FC236}">
                  <a16:creationId xmlns:a16="http://schemas.microsoft.com/office/drawing/2014/main" id="{B2A6FE59-274B-AEE3-8783-97D8E0AA907E}"/>
                </a:ext>
              </a:extLst>
            </p:cNvPr>
            <p:cNvSpPr/>
            <p:nvPr/>
          </p:nvSpPr>
          <p:spPr>
            <a:xfrm>
              <a:off x="9835055" y="4645572"/>
              <a:ext cx="1198180" cy="472966"/>
            </a:xfrm>
            <a:prstGeom prst="roundRect">
              <a:avLst/>
            </a:prstGeom>
            <a:gradFill flip="none" rotWithShape="1">
              <a:gsLst>
                <a:gs pos="0">
                  <a:schemeClr val="accent6">
                    <a:lumMod val="40000"/>
                    <a:lumOff val="60000"/>
                  </a:schemeClr>
                </a:gs>
                <a:gs pos="99000">
                  <a:schemeClr val="accent6">
                    <a:lumMod val="60000"/>
                    <a:lumOff val="40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JVM</a:t>
              </a:r>
            </a:p>
          </p:txBody>
        </p:sp>
        <p:sp>
          <p:nvSpPr>
            <p:cNvPr id="12" name="Rectangle 11">
              <a:extLst>
                <a:ext uri="{FF2B5EF4-FFF2-40B4-BE49-F238E27FC236}">
                  <a16:creationId xmlns:a16="http://schemas.microsoft.com/office/drawing/2014/main" id="{8C871CFD-2AEB-554E-6772-5F0874C166B7}"/>
                </a:ext>
              </a:extLst>
            </p:cNvPr>
            <p:cNvSpPr/>
            <p:nvPr/>
          </p:nvSpPr>
          <p:spPr>
            <a:xfrm>
              <a:off x="6348248" y="5437442"/>
              <a:ext cx="1513490" cy="472966"/>
            </a:xfrm>
            <a:prstGeom prst="rect">
              <a:avLst/>
            </a:prstGeom>
            <a:gradFill>
              <a:gsLst>
                <a:gs pos="50000">
                  <a:schemeClr val="accent2"/>
                </a:gs>
                <a:gs pos="0">
                  <a:schemeClr val="accent2">
                    <a:lumMod val="60000"/>
                    <a:lumOff val="40000"/>
                  </a:schemeClr>
                </a:gs>
                <a:gs pos="99000">
                  <a:schemeClr val="accent2">
                    <a:lumMod val="60000"/>
                    <a:lumOff val="4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Windows</a:t>
              </a:r>
            </a:p>
          </p:txBody>
        </p:sp>
        <p:sp>
          <p:nvSpPr>
            <p:cNvPr id="10" name="Rectangle : coins arrondis 9">
              <a:extLst>
                <a:ext uri="{FF2B5EF4-FFF2-40B4-BE49-F238E27FC236}">
                  <a16:creationId xmlns:a16="http://schemas.microsoft.com/office/drawing/2014/main" id="{28345957-AA5E-9C86-EF38-DEEDFFE39F1E}"/>
                </a:ext>
              </a:extLst>
            </p:cNvPr>
            <p:cNvSpPr/>
            <p:nvPr/>
          </p:nvSpPr>
          <p:spPr>
            <a:xfrm>
              <a:off x="8170479" y="4645572"/>
              <a:ext cx="1198180" cy="472966"/>
            </a:xfrm>
            <a:prstGeom prst="roundRect">
              <a:avLst/>
            </a:prstGeom>
            <a:gradFill flip="none" rotWithShape="1">
              <a:gsLst>
                <a:gs pos="0">
                  <a:schemeClr val="accent6">
                    <a:lumMod val="40000"/>
                    <a:lumOff val="60000"/>
                  </a:schemeClr>
                </a:gs>
                <a:gs pos="99000">
                  <a:schemeClr val="accent6">
                    <a:lumMod val="60000"/>
                    <a:lumOff val="40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JVM</a:t>
              </a:r>
            </a:p>
          </p:txBody>
        </p:sp>
        <p:sp>
          <p:nvSpPr>
            <p:cNvPr id="13" name="Rectangle 12">
              <a:extLst>
                <a:ext uri="{FF2B5EF4-FFF2-40B4-BE49-F238E27FC236}">
                  <a16:creationId xmlns:a16="http://schemas.microsoft.com/office/drawing/2014/main" id="{D25AB2E5-FE9C-F211-0EF8-CD208D26C82F}"/>
                </a:ext>
              </a:extLst>
            </p:cNvPr>
            <p:cNvSpPr/>
            <p:nvPr/>
          </p:nvSpPr>
          <p:spPr>
            <a:xfrm>
              <a:off x="8012824" y="5437442"/>
              <a:ext cx="1513490" cy="472966"/>
            </a:xfrm>
            <a:prstGeom prst="rect">
              <a:avLst/>
            </a:prstGeom>
            <a:gradFill>
              <a:gsLst>
                <a:gs pos="50000">
                  <a:schemeClr val="accent2"/>
                </a:gs>
                <a:gs pos="0">
                  <a:schemeClr val="accent2">
                    <a:lumMod val="60000"/>
                    <a:lumOff val="40000"/>
                  </a:schemeClr>
                </a:gs>
                <a:gs pos="99000">
                  <a:schemeClr val="accent2">
                    <a:lumMod val="60000"/>
                    <a:lumOff val="4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Linux</a:t>
              </a:r>
            </a:p>
          </p:txBody>
        </p:sp>
        <p:sp>
          <p:nvSpPr>
            <p:cNvPr id="14" name="Rectangle 13">
              <a:extLst>
                <a:ext uri="{FF2B5EF4-FFF2-40B4-BE49-F238E27FC236}">
                  <a16:creationId xmlns:a16="http://schemas.microsoft.com/office/drawing/2014/main" id="{180EEB60-2151-5C39-9F4D-0502DD4DB39C}"/>
                </a:ext>
              </a:extLst>
            </p:cNvPr>
            <p:cNvSpPr/>
            <p:nvPr/>
          </p:nvSpPr>
          <p:spPr>
            <a:xfrm>
              <a:off x="9677400" y="5437442"/>
              <a:ext cx="1513490" cy="472966"/>
            </a:xfrm>
            <a:prstGeom prst="rect">
              <a:avLst/>
            </a:prstGeom>
            <a:gradFill>
              <a:gsLst>
                <a:gs pos="50000">
                  <a:schemeClr val="accent2"/>
                </a:gs>
                <a:gs pos="0">
                  <a:schemeClr val="accent2">
                    <a:lumMod val="60000"/>
                    <a:lumOff val="40000"/>
                  </a:schemeClr>
                </a:gs>
                <a:gs pos="99000">
                  <a:schemeClr val="accent2">
                    <a:lumMod val="60000"/>
                    <a:lumOff val="4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Mac</a:t>
              </a:r>
            </a:p>
          </p:txBody>
        </p:sp>
        <p:cxnSp>
          <p:nvCxnSpPr>
            <p:cNvPr id="23" name="Connecteur droit avec flèche 22">
              <a:extLst>
                <a:ext uri="{FF2B5EF4-FFF2-40B4-BE49-F238E27FC236}">
                  <a16:creationId xmlns:a16="http://schemas.microsoft.com/office/drawing/2014/main" id="{34BBFB01-0FA1-0EC8-7F99-6AE6583784FF}"/>
                </a:ext>
              </a:extLst>
            </p:cNvPr>
            <p:cNvCxnSpPr>
              <a:cxnSpLocks/>
              <a:stCxn id="11" idx="2"/>
              <a:endCxn id="14" idx="0"/>
            </p:cNvCxnSpPr>
            <p:nvPr/>
          </p:nvCxnSpPr>
          <p:spPr>
            <a:xfrm>
              <a:off x="10434145" y="5118538"/>
              <a:ext cx="0" cy="318904"/>
            </a:xfrm>
            <a:prstGeom prst="straightConnector1">
              <a:avLst/>
            </a:prstGeom>
            <a:ln w="19050">
              <a:solidFill>
                <a:schemeClr val="tx1"/>
              </a:solidFill>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32" name="Connecteur droit avec flèche 31">
              <a:extLst>
                <a:ext uri="{FF2B5EF4-FFF2-40B4-BE49-F238E27FC236}">
                  <a16:creationId xmlns:a16="http://schemas.microsoft.com/office/drawing/2014/main" id="{504D5675-54CD-6C00-6A83-ED6387F234EC}"/>
                </a:ext>
              </a:extLst>
            </p:cNvPr>
            <p:cNvCxnSpPr>
              <a:cxnSpLocks/>
              <a:stCxn id="10" idx="2"/>
              <a:endCxn id="13" idx="0"/>
            </p:cNvCxnSpPr>
            <p:nvPr/>
          </p:nvCxnSpPr>
          <p:spPr>
            <a:xfrm>
              <a:off x="8769569" y="5118538"/>
              <a:ext cx="0" cy="318904"/>
            </a:xfrm>
            <a:prstGeom prst="straightConnector1">
              <a:avLst/>
            </a:prstGeom>
            <a:ln w="19050">
              <a:solidFill>
                <a:schemeClr val="tx1"/>
              </a:solidFill>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33" name="Connecteur droit avec flèche 32">
              <a:extLst>
                <a:ext uri="{FF2B5EF4-FFF2-40B4-BE49-F238E27FC236}">
                  <a16:creationId xmlns:a16="http://schemas.microsoft.com/office/drawing/2014/main" id="{A7D93E9D-0BA6-BD99-79CD-11D9B6887E06}"/>
                </a:ext>
              </a:extLst>
            </p:cNvPr>
            <p:cNvCxnSpPr>
              <a:cxnSpLocks/>
              <a:stCxn id="9" idx="2"/>
              <a:endCxn id="12" idx="0"/>
            </p:cNvCxnSpPr>
            <p:nvPr/>
          </p:nvCxnSpPr>
          <p:spPr>
            <a:xfrm>
              <a:off x="7104993" y="5118538"/>
              <a:ext cx="0" cy="318904"/>
            </a:xfrm>
            <a:prstGeom prst="straightConnector1">
              <a:avLst/>
            </a:prstGeom>
            <a:ln w="19050">
              <a:solidFill>
                <a:schemeClr val="tx1"/>
              </a:solidFill>
              <a:headEnd type="triangle" w="med" len="med"/>
              <a:tailEnd type="triangle" w="med" len="med"/>
            </a:ln>
          </p:spPr>
          <p:style>
            <a:lnRef idx="1">
              <a:schemeClr val="dk1"/>
            </a:lnRef>
            <a:fillRef idx="0">
              <a:schemeClr val="dk1"/>
            </a:fillRef>
            <a:effectRef idx="0">
              <a:schemeClr val="dk1"/>
            </a:effectRef>
            <a:fontRef idx="minor">
              <a:schemeClr val="tx1"/>
            </a:fontRef>
          </p:style>
        </p:cxnSp>
      </p:grpSp>
      <p:sp>
        <p:nvSpPr>
          <p:cNvPr id="42" name="Espace réservé du numéro de diapositive 41">
            <a:extLst>
              <a:ext uri="{FF2B5EF4-FFF2-40B4-BE49-F238E27FC236}">
                <a16:creationId xmlns:a16="http://schemas.microsoft.com/office/drawing/2014/main" id="{A5FAE0C8-0E67-2E33-3512-9F1CD36BBC26}"/>
              </a:ext>
            </a:extLst>
          </p:cNvPr>
          <p:cNvSpPr>
            <a:spLocks noGrp="1"/>
          </p:cNvSpPr>
          <p:nvPr>
            <p:ph type="sldNum" sz="quarter" idx="4"/>
          </p:nvPr>
        </p:nvSpPr>
        <p:spPr/>
        <p:txBody>
          <a:bodyPr/>
          <a:lstStyle/>
          <a:p>
            <a:fld id="{33C783E2-4793-4F48-A271-51A73CC37D74}" type="slidenum">
              <a:rPr lang="fr-FR" smtClean="0"/>
              <a:t>28</a:t>
            </a:fld>
            <a:endParaRPr lang="fr-FR"/>
          </a:p>
        </p:txBody>
      </p:sp>
    </p:spTree>
    <p:extLst>
      <p:ext uri="{BB962C8B-B14F-4D97-AF65-F5344CB8AC3E}">
        <p14:creationId xmlns:p14="http://schemas.microsoft.com/office/powerpoint/2010/main" val="3620867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up)">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dissolve">
                                      <p:cBhvr>
                                        <p:cTn id="22" dur="5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47"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1000"/>
                                        <p:tgtEl>
                                          <p:spTgt spid="22"/>
                                        </p:tgtEl>
                                      </p:cBhvr>
                                    </p:animEffect>
                                    <p:anim calcmode="lin" valueType="num">
                                      <p:cBhvr>
                                        <p:cTn id="28" dur="1000" fill="hold"/>
                                        <p:tgtEl>
                                          <p:spTgt spid="22"/>
                                        </p:tgtEl>
                                        <p:attrNameLst>
                                          <p:attrName>ppt_x</p:attrName>
                                        </p:attrNameLst>
                                      </p:cBhvr>
                                      <p:tavLst>
                                        <p:tav tm="0">
                                          <p:val>
                                            <p:strVal val="#ppt_x"/>
                                          </p:val>
                                        </p:tav>
                                        <p:tav tm="100000">
                                          <p:val>
                                            <p:strVal val="#ppt_x"/>
                                          </p:val>
                                        </p:tav>
                                      </p:tavLst>
                                    </p:anim>
                                    <p:anim calcmode="lin" valueType="num">
                                      <p:cBhvr>
                                        <p:cTn id="29" dur="1000" fill="hold"/>
                                        <p:tgtEl>
                                          <p:spTgt spid="22"/>
                                        </p:tgtEl>
                                        <p:attrNameLst>
                                          <p:attrName>ppt_y</p:attrName>
                                        </p:attrNameLst>
                                      </p:cBhvr>
                                      <p:tavLst>
                                        <p:tav tm="0">
                                          <p:val>
                                            <p:strVal val="#ppt_y-.1"/>
                                          </p:val>
                                        </p:tav>
                                        <p:tav tm="100000">
                                          <p:val>
                                            <p:strVal val="#ppt_y"/>
                                          </p:val>
                                        </p:tav>
                                      </p:tavLst>
                                    </p:anim>
                                  </p:childTnLst>
                                </p:cTn>
                              </p:par>
                              <p:par>
                                <p:cTn id="30" presetID="47" presetClass="entr" presetSubtype="0"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1000"/>
                                        <p:tgtEl>
                                          <p:spTgt spid="20"/>
                                        </p:tgtEl>
                                      </p:cBhvr>
                                    </p:animEffect>
                                    <p:anim calcmode="lin" valueType="num">
                                      <p:cBhvr>
                                        <p:cTn id="33" dur="1000" fill="hold"/>
                                        <p:tgtEl>
                                          <p:spTgt spid="20"/>
                                        </p:tgtEl>
                                        <p:attrNameLst>
                                          <p:attrName>ppt_x</p:attrName>
                                        </p:attrNameLst>
                                      </p:cBhvr>
                                      <p:tavLst>
                                        <p:tav tm="0">
                                          <p:val>
                                            <p:strVal val="#ppt_x"/>
                                          </p:val>
                                        </p:tav>
                                        <p:tav tm="100000">
                                          <p:val>
                                            <p:strVal val="#ppt_x"/>
                                          </p:val>
                                        </p:tav>
                                      </p:tavLst>
                                    </p:anim>
                                    <p:anim calcmode="lin" valueType="num">
                                      <p:cBhvr>
                                        <p:cTn id="34" dur="1000" fill="hold"/>
                                        <p:tgtEl>
                                          <p:spTgt spid="20"/>
                                        </p:tgtEl>
                                        <p:attrNameLst>
                                          <p:attrName>ppt_y</p:attrName>
                                        </p:attrNameLst>
                                      </p:cBhvr>
                                      <p:tavLst>
                                        <p:tav tm="0">
                                          <p:val>
                                            <p:strVal val="#ppt_y-.1"/>
                                          </p:val>
                                        </p:tav>
                                        <p:tav tm="100000">
                                          <p:val>
                                            <p:strVal val="#ppt_y"/>
                                          </p:val>
                                        </p:tav>
                                      </p:tavLst>
                                    </p:anim>
                                  </p:childTnLst>
                                </p:cTn>
                              </p:par>
                              <p:par>
                                <p:cTn id="35" presetID="47"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1000"/>
                                        <p:tgtEl>
                                          <p:spTgt spid="21"/>
                                        </p:tgtEl>
                                      </p:cBhvr>
                                    </p:animEffect>
                                    <p:anim calcmode="lin" valueType="num">
                                      <p:cBhvr>
                                        <p:cTn id="38" dur="1000" fill="hold"/>
                                        <p:tgtEl>
                                          <p:spTgt spid="21"/>
                                        </p:tgtEl>
                                        <p:attrNameLst>
                                          <p:attrName>ppt_x</p:attrName>
                                        </p:attrNameLst>
                                      </p:cBhvr>
                                      <p:tavLst>
                                        <p:tav tm="0">
                                          <p:val>
                                            <p:strVal val="#ppt_x"/>
                                          </p:val>
                                        </p:tav>
                                        <p:tav tm="100000">
                                          <p:val>
                                            <p:strVal val="#ppt_x"/>
                                          </p:val>
                                        </p:tav>
                                      </p:tavLst>
                                    </p:anim>
                                    <p:anim calcmode="lin" valueType="num">
                                      <p:cBhvr>
                                        <p:cTn id="3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wipe(left)">
                                      <p:cBhvr>
                                        <p:cTn id="4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11CCAD6-6758-40A0-6756-7B6076DD923B}"/>
              </a:ext>
            </a:extLst>
          </p:cNvPr>
          <p:cNvSpPr>
            <a:spLocks noGrp="1"/>
          </p:cNvSpPr>
          <p:nvPr>
            <p:ph type="title"/>
          </p:nvPr>
        </p:nvSpPr>
        <p:spPr/>
        <p:txBody>
          <a:bodyPr>
            <a:normAutofit fontScale="90000"/>
          </a:bodyPr>
          <a:lstStyle/>
          <a:p>
            <a:r>
              <a:rPr lang="en-GB" dirty="0" err="1"/>
              <a:t>Classe</a:t>
            </a:r>
            <a:r>
              <a:rPr lang="en-GB" dirty="0"/>
              <a:t> Java et Programme (</a:t>
            </a:r>
            <a:r>
              <a:rPr lang="en-GB" dirty="0" err="1">
                <a:solidFill>
                  <a:schemeClr val="accent4"/>
                </a:solidFill>
              </a:rPr>
              <a:t>exécutable</a:t>
            </a:r>
            <a:r>
              <a:rPr lang="en-GB" dirty="0"/>
              <a:t>) Java</a:t>
            </a:r>
          </a:p>
        </p:txBody>
      </p:sp>
      <p:sp>
        <p:nvSpPr>
          <p:cNvPr id="7" name="Espace réservé du contenu 6">
            <a:extLst>
              <a:ext uri="{FF2B5EF4-FFF2-40B4-BE49-F238E27FC236}">
                <a16:creationId xmlns:a16="http://schemas.microsoft.com/office/drawing/2014/main" id="{680329CE-E49F-6DBB-819D-936DE801E70D}"/>
              </a:ext>
            </a:extLst>
          </p:cNvPr>
          <p:cNvSpPr>
            <a:spLocks noGrp="1"/>
          </p:cNvSpPr>
          <p:nvPr>
            <p:ph idx="1"/>
          </p:nvPr>
        </p:nvSpPr>
        <p:spPr>
          <a:xfrm>
            <a:off x="838200" y="1825625"/>
            <a:ext cx="10515600" cy="1603375"/>
          </a:xfrm>
        </p:spPr>
        <p:txBody>
          <a:bodyPr/>
          <a:lstStyle/>
          <a:p>
            <a:pPr marL="0" indent="0">
              <a:buNone/>
            </a:pPr>
            <a:r>
              <a:rPr lang="en-GB" dirty="0"/>
              <a:t>En java, </a:t>
            </a:r>
            <a:r>
              <a:rPr lang="en-GB" dirty="0" err="1"/>
              <a:t>n’importe</a:t>
            </a:r>
            <a:r>
              <a:rPr lang="en-GB" dirty="0"/>
              <a:t> quelle </a:t>
            </a:r>
            <a:r>
              <a:rPr lang="en-GB" dirty="0" err="1"/>
              <a:t>classe</a:t>
            </a:r>
            <a:r>
              <a:rPr lang="en-GB" dirty="0"/>
              <a:t> </a:t>
            </a:r>
            <a:r>
              <a:rPr lang="en-GB" dirty="0" err="1">
                <a:solidFill>
                  <a:schemeClr val="accent4"/>
                </a:solidFill>
              </a:rPr>
              <a:t>peut</a:t>
            </a:r>
            <a:r>
              <a:rPr lang="en-GB" dirty="0"/>
              <a:t> </a:t>
            </a:r>
            <a:r>
              <a:rPr lang="en-GB" dirty="0" err="1"/>
              <a:t>être</a:t>
            </a:r>
            <a:r>
              <a:rPr lang="en-GB" dirty="0"/>
              <a:t> executable.</a:t>
            </a:r>
          </a:p>
          <a:p>
            <a:pPr marL="0" indent="0">
              <a:buNone/>
            </a:pPr>
            <a:endParaRPr lang="en-GB" dirty="0"/>
          </a:p>
          <a:p>
            <a:pPr marL="0" indent="0">
              <a:buNone/>
            </a:pPr>
            <a:r>
              <a:rPr lang="en-GB" dirty="0"/>
              <a:t>Il </a:t>
            </a:r>
            <a:r>
              <a:rPr lang="en-GB" dirty="0" err="1"/>
              <a:t>suffit</a:t>
            </a:r>
            <a:r>
              <a:rPr lang="en-GB" dirty="0"/>
              <a:t> </a:t>
            </a:r>
            <a:r>
              <a:rPr lang="en-GB" dirty="0" err="1"/>
              <a:t>qu’elle</a:t>
            </a:r>
            <a:r>
              <a:rPr lang="en-GB" dirty="0"/>
              <a:t> </a:t>
            </a:r>
            <a:r>
              <a:rPr lang="en-GB" dirty="0" err="1"/>
              <a:t>contienne</a:t>
            </a:r>
            <a:r>
              <a:rPr lang="en-GB" dirty="0"/>
              <a:t> </a:t>
            </a:r>
            <a:r>
              <a:rPr lang="en-GB" dirty="0" err="1"/>
              <a:t>une</a:t>
            </a:r>
            <a:r>
              <a:rPr lang="en-GB" dirty="0"/>
              <a:t> </a:t>
            </a:r>
            <a:r>
              <a:rPr lang="en-GB" dirty="0" err="1"/>
              <a:t>méthode</a:t>
            </a:r>
            <a:r>
              <a:rPr lang="en-GB" dirty="0"/>
              <a:t> qui a la signature </a:t>
            </a:r>
            <a:r>
              <a:rPr lang="en-GB" dirty="0" err="1"/>
              <a:t>suivante</a:t>
            </a:r>
            <a:r>
              <a:rPr lang="en-GB" dirty="0"/>
              <a:t>:</a:t>
            </a:r>
          </a:p>
          <a:p>
            <a:pPr marL="0" indent="0">
              <a:buNone/>
            </a:pPr>
            <a:endParaRPr lang="en-GB" dirty="0"/>
          </a:p>
        </p:txBody>
      </p:sp>
      <p:sp>
        <p:nvSpPr>
          <p:cNvPr id="5" name="Espace réservé du numéro de diapositive 4">
            <a:extLst>
              <a:ext uri="{FF2B5EF4-FFF2-40B4-BE49-F238E27FC236}">
                <a16:creationId xmlns:a16="http://schemas.microsoft.com/office/drawing/2014/main" id="{F5BCF544-4CA1-64F4-E6C1-422F81CF6BA1}"/>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9" name="ZoneTexte 8">
            <a:extLst>
              <a:ext uri="{FF2B5EF4-FFF2-40B4-BE49-F238E27FC236}">
                <a16:creationId xmlns:a16="http://schemas.microsoft.com/office/drawing/2014/main" id="{B81D9931-CBBB-866F-50CC-E868FDCFB1D7}"/>
              </a:ext>
            </a:extLst>
          </p:cNvPr>
          <p:cNvSpPr txBox="1"/>
          <p:nvPr/>
        </p:nvSpPr>
        <p:spPr>
          <a:xfrm>
            <a:off x="1178351" y="3442058"/>
            <a:ext cx="9530498" cy="492443"/>
          </a:xfrm>
          <a:prstGeom prst="rect">
            <a:avLst/>
          </a:prstGeom>
          <a:solidFill>
            <a:srgbClr val="1D1F22"/>
          </a:solidFill>
        </p:spPr>
        <p:txBody>
          <a:bodyPr wrap="square">
            <a:spAutoFit/>
          </a:bodyPr>
          <a:lstStyle/>
          <a:p>
            <a:pPr algn="ctr"/>
            <a:r>
              <a:rPr lang="fr-BE" sz="2600" dirty="0">
                <a:solidFill>
                  <a:srgbClr val="CF8E6D"/>
                </a:solidFill>
                <a:effectLst/>
                <a:latin typeface="Consolas" panose="020B0609020204030204" pitchFamily="49" charset="0"/>
                <a:cs typeface="Consolas" panose="020B0609020204030204" pitchFamily="49" charset="0"/>
              </a:rPr>
              <a:t>public </a:t>
            </a:r>
            <a:r>
              <a:rPr lang="fr-BE" sz="2600" dirty="0" err="1">
                <a:solidFill>
                  <a:srgbClr val="CF8E6D"/>
                </a:solidFill>
                <a:effectLst/>
                <a:latin typeface="Consolas" panose="020B0609020204030204" pitchFamily="49" charset="0"/>
                <a:cs typeface="Consolas" panose="020B0609020204030204" pitchFamily="49" charset="0"/>
              </a:rPr>
              <a:t>static</a:t>
            </a:r>
            <a:r>
              <a:rPr lang="fr-BE" sz="2600" dirty="0">
                <a:solidFill>
                  <a:srgbClr val="CF8E6D"/>
                </a:solidFill>
                <a:effectLst/>
                <a:latin typeface="Consolas" panose="020B0609020204030204" pitchFamily="49" charset="0"/>
                <a:cs typeface="Consolas" panose="020B0609020204030204" pitchFamily="49" charset="0"/>
              </a:rPr>
              <a:t> </a:t>
            </a:r>
            <a:r>
              <a:rPr lang="fr-BE" sz="2600" dirty="0" err="1">
                <a:solidFill>
                  <a:srgbClr val="CF8E6D"/>
                </a:solidFill>
                <a:effectLst/>
                <a:latin typeface="Consolas" panose="020B0609020204030204" pitchFamily="49" charset="0"/>
                <a:cs typeface="Consolas" panose="020B0609020204030204" pitchFamily="49" charset="0"/>
              </a:rPr>
              <a:t>void</a:t>
            </a:r>
            <a:r>
              <a:rPr lang="fr-BE" sz="2600" dirty="0">
                <a:solidFill>
                  <a:srgbClr val="CF8E6D"/>
                </a:solidFill>
                <a:effectLst/>
                <a:latin typeface="Consolas" panose="020B0609020204030204" pitchFamily="49" charset="0"/>
                <a:cs typeface="Consolas" panose="020B0609020204030204" pitchFamily="49" charset="0"/>
              </a:rPr>
              <a:t> </a:t>
            </a:r>
            <a:r>
              <a:rPr lang="fr-BE" sz="2600" dirty="0">
                <a:solidFill>
                  <a:srgbClr val="56A8F5"/>
                </a:solidFill>
                <a:effectLst/>
                <a:latin typeface="Consolas" panose="020B0609020204030204" pitchFamily="49" charset="0"/>
                <a:cs typeface="Consolas" panose="020B0609020204030204" pitchFamily="49" charset="0"/>
              </a:rPr>
              <a:t>main</a:t>
            </a:r>
            <a:r>
              <a:rPr lang="fr-BE" sz="2600" dirty="0">
                <a:solidFill>
                  <a:srgbClr val="BCBEC4"/>
                </a:solidFill>
                <a:effectLst/>
                <a:latin typeface="Consolas" panose="020B0609020204030204" pitchFamily="49" charset="0"/>
                <a:cs typeface="Consolas" panose="020B0609020204030204" pitchFamily="49" charset="0"/>
              </a:rPr>
              <a:t>(String[] args)</a:t>
            </a:r>
          </a:p>
        </p:txBody>
      </p:sp>
      <p:sp>
        <p:nvSpPr>
          <p:cNvPr id="11" name="Espace réservé du contenu 6">
            <a:extLst>
              <a:ext uri="{FF2B5EF4-FFF2-40B4-BE49-F238E27FC236}">
                <a16:creationId xmlns:a16="http://schemas.microsoft.com/office/drawing/2014/main" id="{1FE52005-EE46-FC92-21E1-45F9EC2336B9}"/>
              </a:ext>
            </a:extLst>
          </p:cNvPr>
          <p:cNvSpPr txBox="1">
            <a:spLocks/>
          </p:cNvSpPr>
          <p:nvPr/>
        </p:nvSpPr>
        <p:spPr>
          <a:xfrm>
            <a:off x="838200" y="4104188"/>
            <a:ext cx="10515600" cy="222120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Pour tester un ensemble de classes, je </a:t>
            </a:r>
            <a:r>
              <a:rPr lang="en-GB" dirty="0" err="1"/>
              <a:t>vous</a:t>
            </a:r>
            <a:r>
              <a:rPr lang="en-GB" dirty="0"/>
              <a:t> </a:t>
            </a:r>
            <a:r>
              <a:rPr lang="en-GB" dirty="0" err="1"/>
              <a:t>conseille</a:t>
            </a:r>
            <a:r>
              <a:rPr lang="en-GB" dirty="0"/>
              <a:t> </a:t>
            </a:r>
            <a:r>
              <a:rPr lang="en-GB" dirty="0" err="1"/>
              <a:t>plutôt</a:t>
            </a:r>
            <a:r>
              <a:rPr lang="en-GB" dirty="0"/>
              <a:t> </a:t>
            </a:r>
            <a:r>
              <a:rPr lang="en-GB" dirty="0" err="1"/>
              <a:t>d’écrire</a:t>
            </a:r>
            <a:r>
              <a:rPr lang="en-GB" dirty="0"/>
              <a:t> </a:t>
            </a:r>
            <a:r>
              <a:rPr lang="en-GB" dirty="0" err="1"/>
              <a:t>une</a:t>
            </a:r>
            <a:r>
              <a:rPr lang="en-GB" dirty="0"/>
              <a:t> </a:t>
            </a:r>
            <a:r>
              <a:rPr lang="en-GB" dirty="0" err="1"/>
              <a:t>classe</a:t>
            </a:r>
            <a:r>
              <a:rPr lang="en-GB" dirty="0"/>
              <a:t> </a:t>
            </a:r>
            <a:r>
              <a:rPr lang="en-GB" sz="2600" dirty="0">
                <a:solidFill>
                  <a:schemeClr val="accent4"/>
                </a:solidFill>
                <a:latin typeface="Consolas" panose="020B0609020204030204" pitchFamily="49" charset="0"/>
                <a:cs typeface="Consolas" panose="020B0609020204030204" pitchFamily="49" charset="0"/>
              </a:rPr>
              <a:t>Programme</a:t>
            </a:r>
            <a:r>
              <a:rPr lang="en-GB" dirty="0"/>
              <a:t> qui </a:t>
            </a:r>
            <a:r>
              <a:rPr lang="en-GB" dirty="0" err="1"/>
              <a:t>utilisera</a:t>
            </a:r>
            <a:r>
              <a:rPr lang="en-GB" dirty="0"/>
              <a:t> les classes </a:t>
            </a:r>
            <a:r>
              <a:rPr lang="en-GB" dirty="0" err="1"/>
              <a:t>en</a:t>
            </a:r>
            <a:r>
              <a:rPr lang="en-GB" dirty="0"/>
              <a:t> question.</a:t>
            </a:r>
          </a:p>
          <a:p>
            <a:pPr marL="0" indent="0">
              <a:buFont typeface="Arial" panose="020B0604020202020204" pitchFamily="34" charset="0"/>
              <a:buNone/>
            </a:pPr>
            <a:endParaRPr lang="en-GB" dirty="0"/>
          </a:p>
          <a:p>
            <a:pPr marL="0" indent="0">
              <a:buFont typeface="Arial" panose="020B0604020202020204" pitchFamily="34" charset="0"/>
              <a:buNone/>
            </a:pPr>
            <a:r>
              <a:rPr lang="en-GB" dirty="0"/>
              <a:t>Nous </a:t>
            </a:r>
            <a:r>
              <a:rPr lang="en-GB" dirty="0" err="1"/>
              <a:t>verrons</a:t>
            </a:r>
            <a:r>
              <a:rPr lang="en-GB" dirty="0"/>
              <a:t> plus tard </a:t>
            </a:r>
            <a:r>
              <a:rPr lang="en-GB" dirty="0" err="1"/>
              <a:t>une</a:t>
            </a:r>
            <a:r>
              <a:rPr lang="en-GB" dirty="0"/>
              <a:t> </a:t>
            </a:r>
            <a:r>
              <a:rPr lang="en-GB" dirty="0" err="1"/>
              <a:t>autre</a:t>
            </a:r>
            <a:r>
              <a:rPr lang="en-GB" dirty="0"/>
              <a:t> façon de tester </a:t>
            </a:r>
            <a:r>
              <a:rPr lang="en-GB" dirty="0" err="1"/>
              <a:t>si</a:t>
            </a:r>
            <a:r>
              <a:rPr lang="en-GB" dirty="0"/>
              <a:t> </a:t>
            </a:r>
            <a:r>
              <a:rPr lang="en-GB" dirty="0" err="1"/>
              <a:t>une</a:t>
            </a:r>
            <a:r>
              <a:rPr lang="en-GB" dirty="0"/>
              <a:t> </a:t>
            </a:r>
            <a:r>
              <a:rPr lang="en-GB" dirty="0" err="1"/>
              <a:t>classe</a:t>
            </a:r>
            <a:r>
              <a:rPr lang="en-GB" dirty="0"/>
              <a:t> </a:t>
            </a:r>
            <a:r>
              <a:rPr lang="en-GB" dirty="0" err="1"/>
              <a:t>fonctionne</a:t>
            </a:r>
            <a:r>
              <a:rPr lang="en-GB" dirty="0"/>
              <a:t> </a:t>
            </a:r>
            <a:r>
              <a:rPr lang="en-GB" dirty="0" err="1"/>
              <a:t>correctement</a:t>
            </a:r>
            <a:r>
              <a:rPr lang="en-GB" dirty="0"/>
              <a:t>.</a:t>
            </a:r>
          </a:p>
        </p:txBody>
      </p:sp>
    </p:spTree>
    <p:extLst>
      <p:ext uri="{BB962C8B-B14F-4D97-AF65-F5344CB8AC3E}">
        <p14:creationId xmlns:p14="http://schemas.microsoft.com/office/powerpoint/2010/main" val="288666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wipe(up)">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wipe(up)">
                                      <p:cBhvr>
                                        <p:cTn id="17"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différences entre langages de programmation">
            <a:extLst>
              <a:ext uri="{FF2B5EF4-FFF2-40B4-BE49-F238E27FC236}">
                <a16:creationId xmlns:a16="http://schemas.microsoft.com/office/drawing/2014/main" id="{5DB34DF4-A916-2A1B-8BD0-1092955274F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354" b="26396"/>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E73067B4-4758-7D90-FE25-49374D623451}"/>
              </a:ext>
            </a:extLst>
          </p:cNvPr>
          <p:cNvSpPr txBox="1"/>
          <p:nvPr/>
        </p:nvSpPr>
        <p:spPr>
          <a:xfrm>
            <a:off x="838200" y="947821"/>
            <a:ext cx="7109778" cy="1107996"/>
          </a:xfrm>
          <a:prstGeom prst="rect">
            <a:avLst/>
          </a:prstGeom>
          <a:solidFill>
            <a:srgbClr val="6DC3FB">
              <a:alpha val="76078"/>
            </a:srgbClr>
          </a:solidFill>
          <a:effectLst>
            <a:outerShdw blurRad="50800" dist="38100" dir="2700000" algn="tl" rotWithShape="0">
              <a:prstClr val="black">
                <a:alpha val="40000"/>
              </a:prstClr>
            </a:outerShdw>
          </a:effectLst>
        </p:spPr>
        <p:txBody>
          <a:bodyPr wrap="square" rtlCol="0">
            <a:spAutoFit/>
          </a:bodyPr>
          <a:lstStyle/>
          <a:p>
            <a:pPr algn="ctr"/>
            <a:r>
              <a:rPr lang="fr-FR" sz="6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Java vs C#</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30</a:t>
            </a:fld>
            <a:endParaRPr lang="fr-FR"/>
          </a:p>
        </p:txBody>
      </p:sp>
    </p:spTree>
    <p:extLst>
      <p:ext uri="{BB962C8B-B14F-4D97-AF65-F5344CB8AC3E}">
        <p14:creationId xmlns:p14="http://schemas.microsoft.com/office/powerpoint/2010/main" val="3806745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29E1C-903C-8763-9FE7-17D182B403BB}"/>
              </a:ext>
            </a:extLst>
          </p:cNvPr>
          <p:cNvSpPr/>
          <p:nvPr/>
        </p:nvSpPr>
        <p:spPr>
          <a:xfrm>
            <a:off x="181323" y="929299"/>
            <a:ext cx="5120439" cy="5693866"/>
          </a:xfrm>
          <a:prstGeom prst="rect">
            <a:avLst/>
          </a:prstGeom>
          <a:solidFill>
            <a:schemeClr val="tx1"/>
          </a:solidFill>
          <a:ln>
            <a:solidFill>
              <a:schemeClr val="accent2"/>
            </a:solidFill>
          </a:ln>
        </p:spPr>
        <p:txBody>
          <a:bodyPr wrap="square">
            <a:spAutoFit/>
          </a:bodyPr>
          <a:lstStyle/>
          <a:p>
            <a:r>
              <a:rPr lang="fr-BE" sz="1400" dirty="0" err="1">
                <a:solidFill>
                  <a:srgbClr val="0000FF"/>
                </a:solidFill>
                <a:highlight>
                  <a:srgbClr val="FFFFFF"/>
                </a:highlight>
                <a:latin typeface="Consolas" panose="020B0609020204030204" pitchFamily="49" charset="0"/>
              </a:rPr>
              <a:t>namespace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ProgOO</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Personne</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Prénom;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Age;</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CalculAge</a:t>
            </a:r>
            <a:r>
              <a:rPr lang="fr-BE" sz="1400" dirty="0">
                <a:solidFill>
                  <a:srgbClr val="000000"/>
                </a:solidFill>
                <a:highlight>
                  <a:srgbClr val="FFFFFF"/>
                </a:highlight>
                <a:latin typeface="Consolas" panose="020B0609020204030204" pitchFamily="49" charset="0"/>
              </a:rPr>
              <a:t>(</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Année)</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Age = Année -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Afficher()</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Console</a:t>
            </a:r>
            <a:r>
              <a:rPr lang="fr-BE" sz="1400" dirty="0" err="1">
                <a:solidFill>
                  <a:srgbClr val="000000"/>
                </a:solidFill>
                <a:highlight>
                  <a:srgbClr val="FFFFFF"/>
                </a:highlight>
                <a:latin typeface="Consolas" panose="020B0609020204030204" pitchFamily="49" charset="0"/>
              </a:rPr>
              <a:t>.WriteLine</a:t>
            </a:r>
            <a:r>
              <a:rPr lang="fr-BE" sz="1400" dirty="0">
                <a:solidFill>
                  <a:srgbClr val="000000"/>
                </a:solidFill>
                <a:highlight>
                  <a:srgbClr val="FFFFFF"/>
                </a:highlight>
                <a:latin typeface="Consolas" panose="020B0609020204030204" pitchFamily="49" charset="0"/>
              </a:rPr>
              <a:t>(Prénom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p>
          <a:p>
            <a:r>
              <a:rPr lang="fr-BE" sz="1400" dirty="0">
                <a:solidFill>
                  <a:srgbClr val="000000"/>
                </a:solidFill>
                <a:highlight>
                  <a:srgbClr val="FFFFFF"/>
                </a:highlight>
                <a:latin typeface="Consolas" panose="020B0609020204030204" pitchFamily="49" charset="0"/>
              </a:rPr>
              <a:t>			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Age + </a:t>
            </a:r>
            <a:r>
              <a:rPr lang="fr-BE" sz="1400" dirty="0">
                <a:solidFill>
                  <a:srgbClr val="A31515"/>
                </a:solidFill>
                <a:highlight>
                  <a:srgbClr val="FFFFFF"/>
                </a:highlight>
                <a:latin typeface="Consolas" panose="020B0609020204030204" pitchFamily="49" charset="0"/>
              </a:rPr>
              <a:t>" ans)"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Program</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static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Main(</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args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p:txBody>
      </p:sp>
      <p:sp>
        <p:nvSpPr>
          <p:cNvPr id="5" name="Rectangle 4">
            <a:extLst>
              <a:ext uri="{FF2B5EF4-FFF2-40B4-BE49-F238E27FC236}">
                <a16:creationId xmlns:a16="http://schemas.microsoft.com/office/drawing/2014/main" id="{83EE6C17-BF03-B085-A22A-FFF3082B5685}"/>
              </a:ext>
            </a:extLst>
          </p:cNvPr>
          <p:cNvSpPr/>
          <p:nvPr/>
        </p:nvSpPr>
        <p:spPr>
          <a:xfrm>
            <a:off x="5603246" y="929299"/>
            <a:ext cx="5387139" cy="5047536"/>
          </a:xfrm>
          <a:prstGeom prst="rect">
            <a:avLst/>
          </a:prstGeom>
          <a:solidFill>
            <a:schemeClr val="tx1"/>
          </a:solidFill>
          <a:ln>
            <a:solidFill>
              <a:schemeClr val="accent2"/>
            </a:solidFill>
          </a:ln>
        </p:spPr>
        <p:txBody>
          <a:bodyPr wrap="square">
            <a:spAutoFit/>
          </a:bodyPr>
          <a:lstStyle/>
          <a:p>
            <a:r>
              <a:rPr lang="fr-BE" sz="1400" dirty="0">
                <a:solidFill>
                  <a:srgbClr val="0000FF"/>
                </a:solidFill>
                <a:highlight>
                  <a:srgbClr val="FFFFFF"/>
                </a:highlight>
                <a:latin typeface="Consolas" panose="020B0609020204030204" pitchFamily="49" charset="0"/>
              </a:rPr>
              <a:t>package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progOO</a:t>
            </a:r>
            <a:r>
              <a:rPr lang="fr-BE" sz="1400" dirty="0">
                <a:solidFill>
                  <a:srgbClr val="000000"/>
                </a:solidFill>
                <a:highlight>
                  <a:srgbClr val="FFFFFF"/>
                </a:highlight>
                <a:latin typeface="Consolas" panose="020B0609020204030204" pitchFamily="49" charset="0"/>
              </a:rPr>
              <a:t>;</a:t>
            </a:r>
          </a:p>
          <a:p>
            <a:endParaRPr lang="fr-BE" sz="1400" dirty="0">
              <a:solidFill>
                <a:srgbClr val="000000"/>
              </a:solidFill>
              <a:highlight>
                <a:srgbClr val="FFFFFF"/>
              </a:highlight>
              <a:latin typeface="Consolas" panose="020B0609020204030204" pitchFamily="49" charset="0"/>
            </a:endParaRPr>
          </a:p>
          <a:p>
            <a:r>
              <a:rPr lang="fr-BE" sz="1400" dirty="0" err="1">
                <a:solidFill>
                  <a:srgbClr val="0000FF"/>
                </a:solidFill>
                <a:highlight>
                  <a:srgbClr val="FFFFFF"/>
                </a:highlight>
                <a:latin typeface="Consolas" panose="020B0609020204030204" pitchFamily="49" charset="0"/>
              </a:rPr>
              <a:t>private</a:t>
            </a:r>
            <a:r>
              <a:rPr lang="fr-BE" sz="1400" dirty="0">
                <a:solidFill>
                  <a:srgbClr val="0000FF"/>
                </a:solidFill>
                <a:highlight>
                  <a:srgbClr val="FFFFFF"/>
                </a:highlight>
                <a:latin typeface="Consolas" panose="020B0609020204030204" pitchFamily="49" charset="0"/>
              </a:rPr>
              <a:t> 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Personne</a:t>
            </a:r>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nom;</a:t>
            </a:r>
          </a:p>
          <a:p>
            <a:r>
              <a:rPr lang="fr-BE" sz="1400" dirty="0">
                <a:solidFill>
                  <a:srgbClr val="0000FF"/>
                </a:solidFill>
                <a:highlight>
                  <a:srgbClr val="FFFFFF"/>
                </a:highlight>
                <a:latin typeface="Consolas" panose="020B0609020204030204" pitchFamily="49" charset="0"/>
              </a:rPr>
              <a:t>    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prénom;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pPr lvl="1"/>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a:t>
            </a:r>
          </a:p>
          <a:p>
            <a:endParaRPr lang="fr-BE" sz="1400" dirty="0">
              <a:solidFill>
                <a:srgbClr val="0000FF"/>
              </a:solidFill>
              <a:highlight>
                <a:srgbClr val="FFFFFF"/>
              </a:highlight>
              <a:latin typeface="Consolas" panose="020B0609020204030204" pitchFamily="49" charset="0"/>
            </a:endParaRPr>
          </a:p>
          <a:p>
            <a:r>
              <a:rPr lang="fr-BE" sz="1400" dirty="0">
                <a:solidFill>
                  <a:srgbClr val="0000FF"/>
                </a:solidFill>
                <a:highlight>
                  <a:srgbClr val="FFFFFF"/>
                </a:highlight>
                <a:latin typeface="Consolas" panose="020B0609020204030204" pitchFamily="49" charset="0"/>
              </a:rPr>
              <a:t>	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calculAge</a:t>
            </a:r>
            <a:r>
              <a:rPr lang="fr-BE" sz="1400" dirty="0">
                <a:solidFill>
                  <a:srgbClr val="000000"/>
                </a:solidFill>
                <a:highlight>
                  <a:srgbClr val="FFFFFF"/>
                </a:highlight>
                <a:latin typeface="Consolas" panose="020B0609020204030204" pitchFamily="49" charset="0"/>
              </a:rPr>
              <a:t>(</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année) {</a:t>
            </a:r>
          </a:p>
          <a:p>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 = année -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afficher() {</a:t>
            </a:r>
          </a:p>
          <a:p>
            <a:r>
              <a:rPr lang="fr-BE" sz="1400" dirty="0">
                <a:solidFill>
                  <a:srgbClr val="2B91AF"/>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System</a:t>
            </a:r>
            <a:r>
              <a:rPr lang="fr-BE" sz="1400" dirty="0" err="1">
                <a:solidFill>
                  <a:srgbClr val="000000"/>
                </a:solidFill>
                <a:highlight>
                  <a:srgbClr val="FFFFFF"/>
                </a:highlight>
                <a:latin typeface="Consolas" panose="020B0609020204030204" pitchFamily="49" charset="0"/>
              </a:rPr>
              <a:t>.out.println</a:t>
            </a:r>
            <a:r>
              <a:rPr lang="fr-BE" sz="1400" dirty="0">
                <a:solidFill>
                  <a:srgbClr val="000000"/>
                </a:solidFill>
                <a:highlight>
                  <a:srgbClr val="FFFFFF"/>
                </a:highlight>
                <a:latin typeface="Consolas" panose="020B0609020204030204" pitchFamily="49" charset="0"/>
              </a:rPr>
              <a:t> (prénom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p>
          <a:p>
            <a:r>
              <a:rPr lang="fr-BE" sz="1400" dirty="0">
                <a:solidFill>
                  <a:srgbClr val="000000"/>
                </a:solidFill>
                <a:highlight>
                  <a:srgbClr val="FFFFFF"/>
                </a:highlight>
                <a:latin typeface="Consolas" panose="020B0609020204030204" pitchFamily="49" charset="0"/>
              </a:rPr>
              <a:t>			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 + </a:t>
            </a:r>
            <a:r>
              <a:rPr lang="fr-BE" sz="1400" dirty="0">
                <a:solidFill>
                  <a:srgbClr val="A31515"/>
                </a:solidFill>
                <a:highlight>
                  <a:srgbClr val="FFFFFF"/>
                </a:highlight>
                <a:latin typeface="Consolas" panose="020B0609020204030204" pitchFamily="49" charset="0"/>
              </a:rPr>
              <a:t>" ans)"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a:p>
            <a:endParaRPr lang="fr-BE" sz="1400" dirty="0">
              <a:solidFill>
                <a:srgbClr val="000000"/>
              </a:solidFill>
              <a:highlight>
                <a:srgbClr val="FFFFFF"/>
              </a:highlight>
              <a:latin typeface="Consolas" panose="020B0609020204030204" pitchFamily="49" charset="0"/>
            </a:endParaRPr>
          </a:p>
          <a:p>
            <a:r>
              <a:rPr lang="fr-BE" sz="1400" dirty="0">
                <a:solidFill>
                  <a:srgbClr val="0000FF"/>
                </a:solidFill>
                <a:highlight>
                  <a:srgbClr val="FFFFFF"/>
                </a:highlight>
                <a:latin typeface="Consolas" panose="020B0609020204030204" pitchFamily="49" charset="0"/>
              </a:rPr>
              <a:t>public 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Program</a:t>
            </a:r>
            <a:r>
              <a:rPr lang="fr-BE" sz="1400" dirty="0">
                <a:solidFill>
                  <a:srgbClr val="000000"/>
                </a:solidFill>
                <a:highlight>
                  <a:srgbClr val="FFFFFF"/>
                </a:highlight>
                <a:latin typeface="Consolas" panose="020B0609020204030204" pitchFamily="49" charset="0"/>
              </a:rPr>
              <a:t> {</a:t>
            </a:r>
          </a:p>
          <a:p>
            <a:r>
              <a:rPr lang="fr-BE" sz="1400" dirty="0">
                <a:solidFill>
                  <a:srgbClr val="0000FF"/>
                </a:solidFill>
                <a:highlight>
                  <a:srgbClr val="FFFFFF"/>
                </a:highlight>
                <a:latin typeface="Consolas" panose="020B0609020204030204" pitchFamily="49" charset="0"/>
              </a:rPr>
              <a:t>	public </a:t>
            </a:r>
            <a:r>
              <a:rPr lang="fr-BE" sz="1400" dirty="0" err="1">
                <a:solidFill>
                  <a:srgbClr val="0000FF"/>
                </a:solidFill>
                <a:highlight>
                  <a:srgbClr val="FFFFFF"/>
                </a:highlight>
                <a:latin typeface="Consolas" panose="020B0609020204030204" pitchFamily="49" charset="0"/>
              </a:rPr>
              <a:t>static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main(</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args)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p:txBody>
      </p:sp>
      <p:sp>
        <p:nvSpPr>
          <p:cNvPr id="8" name="ZoneTexte 7">
            <a:extLst>
              <a:ext uri="{FF2B5EF4-FFF2-40B4-BE49-F238E27FC236}">
                <a16:creationId xmlns:a16="http://schemas.microsoft.com/office/drawing/2014/main" id="{72906EC3-5CA3-8908-9C73-DE42C5141BE0}"/>
              </a:ext>
            </a:extLst>
          </p:cNvPr>
          <p:cNvSpPr txBox="1"/>
          <p:nvPr/>
        </p:nvSpPr>
        <p:spPr>
          <a:xfrm>
            <a:off x="3921370" y="1084429"/>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C#</a:t>
            </a:r>
          </a:p>
        </p:txBody>
      </p:sp>
      <p:sp>
        <p:nvSpPr>
          <p:cNvPr id="9" name="ZoneTexte 8">
            <a:extLst>
              <a:ext uri="{FF2B5EF4-FFF2-40B4-BE49-F238E27FC236}">
                <a16:creationId xmlns:a16="http://schemas.microsoft.com/office/drawing/2014/main" id="{4E7BBA15-2B0A-3462-B23C-080152B71CD4}"/>
              </a:ext>
            </a:extLst>
          </p:cNvPr>
          <p:cNvSpPr txBox="1"/>
          <p:nvPr/>
        </p:nvSpPr>
        <p:spPr>
          <a:xfrm>
            <a:off x="9821012" y="5554130"/>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java</a:t>
            </a:r>
          </a:p>
        </p:txBody>
      </p:sp>
      <p:sp>
        <p:nvSpPr>
          <p:cNvPr id="13" name="Titre 3">
            <a:extLst>
              <a:ext uri="{FF2B5EF4-FFF2-40B4-BE49-F238E27FC236}">
                <a16:creationId xmlns:a16="http://schemas.microsoft.com/office/drawing/2014/main" id="{26FDD514-3208-94C0-037A-C5D6D46E9A3D}"/>
              </a:ext>
            </a:extLst>
          </p:cNvPr>
          <p:cNvSpPr>
            <a:spLocks noGrp="1"/>
          </p:cNvSpPr>
          <p:nvPr>
            <p:ph type="title"/>
          </p:nvPr>
        </p:nvSpPr>
        <p:spPr>
          <a:xfrm>
            <a:off x="838200" y="126256"/>
            <a:ext cx="10515600" cy="803043"/>
          </a:xfrm>
        </p:spPr>
        <p:txBody>
          <a:bodyPr>
            <a:normAutofit fontScale="90000"/>
          </a:bodyPr>
          <a:lstStyle/>
          <a:p>
            <a:r>
              <a:rPr lang="fr-FR" dirty="0"/>
              <a:t>Pas de grosses différences niveau langage</a:t>
            </a:r>
          </a:p>
        </p:txBody>
      </p:sp>
      <p:sp>
        <p:nvSpPr>
          <p:cNvPr id="15" name="ZoneTexte 14">
            <a:extLst>
              <a:ext uri="{FF2B5EF4-FFF2-40B4-BE49-F238E27FC236}">
                <a16:creationId xmlns:a16="http://schemas.microsoft.com/office/drawing/2014/main" id="{E31ECFFF-2524-A6AD-DB6E-2037A5486B4F}"/>
              </a:ext>
            </a:extLst>
          </p:cNvPr>
          <p:cNvSpPr txBox="1"/>
          <p:nvPr/>
        </p:nvSpPr>
        <p:spPr>
          <a:xfrm>
            <a:off x="13839251" y="838753"/>
            <a:ext cx="3182815" cy="374571"/>
          </a:xfrm>
          <a:prstGeom prst="roundRect">
            <a:avLst/>
          </a:prstGeom>
          <a:solidFill>
            <a:schemeClr val="tx1"/>
          </a:solidFill>
          <a:ln>
            <a:solidFill>
              <a:schemeClr val="accent4"/>
            </a:solidFill>
          </a:ln>
        </p:spPr>
        <p:txBody>
          <a:bodyPr wrap="square" rtlCol="0">
            <a:spAutoFit/>
          </a:bodyPr>
          <a:lstStyle/>
          <a:p>
            <a:r>
              <a:rPr lang="fr-FR" sz="1600" dirty="0">
                <a:solidFill>
                  <a:schemeClr val="accent1"/>
                </a:solidFill>
              </a:rPr>
              <a:t>package pour structurer les classes</a:t>
            </a:r>
          </a:p>
        </p:txBody>
      </p:sp>
      <p:sp>
        <p:nvSpPr>
          <p:cNvPr id="16" name="ZoneTexte 15">
            <a:extLst>
              <a:ext uri="{FF2B5EF4-FFF2-40B4-BE49-F238E27FC236}">
                <a16:creationId xmlns:a16="http://schemas.microsoft.com/office/drawing/2014/main" id="{5305C90B-49DA-3937-5B69-D6F59E224993}"/>
              </a:ext>
            </a:extLst>
          </p:cNvPr>
          <p:cNvSpPr txBox="1"/>
          <p:nvPr/>
        </p:nvSpPr>
        <p:spPr>
          <a:xfrm>
            <a:off x="14777295" y="1328960"/>
            <a:ext cx="3384551" cy="1191816"/>
          </a:xfrm>
          <a:prstGeom prst="roundRect">
            <a:avLst/>
          </a:prstGeom>
          <a:solidFill>
            <a:schemeClr val="tx1"/>
          </a:solidFill>
          <a:ln>
            <a:solidFill>
              <a:schemeClr val="accent4"/>
            </a:solidFill>
          </a:ln>
        </p:spPr>
        <p:txBody>
          <a:bodyPr wrap="square" rtlCol="0">
            <a:spAutoFit/>
          </a:bodyPr>
          <a:lstStyle/>
          <a:p>
            <a:r>
              <a:rPr lang="fr-FR" sz="1600" dirty="0">
                <a:solidFill>
                  <a:schemeClr val="accent1"/>
                </a:solidFill>
              </a:rPr>
              <a:t>Majuscule pour les noms de classes, </a:t>
            </a:r>
            <a:r>
              <a:rPr lang="fr-FR" sz="1600" dirty="0" err="1">
                <a:solidFill>
                  <a:schemeClr val="accent1"/>
                </a:solidFill>
              </a:rPr>
              <a:t>enumérations</a:t>
            </a:r>
            <a:r>
              <a:rPr lang="fr-FR" sz="1600" dirty="0">
                <a:solidFill>
                  <a:schemeClr val="accent1"/>
                </a:solidFill>
              </a:rPr>
              <a:t> et interfaces.</a:t>
            </a:r>
          </a:p>
          <a:p>
            <a:r>
              <a:rPr lang="fr-FR" sz="1600" dirty="0">
                <a:solidFill>
                  <a:schemeClr val="accent1"/>
                </a:solidFill>
              </a:rPr>
              <a:t>minuscule pour les variables, méthodes et packages</a:t>
            </a:r>
          </a:p>
        </p:txBody>
      </p:sp>
      <p:sp>
        <p:nvSpPr>
          <p:cNvPr id="17" name="ZoneTexte 16">
            <a:extLst>
              <a:ext uri="{FF2B5EF4-FFF2-40B4-BE49-F238E27FC236}">
                <a16:creationId xmlns:a16="http://schemas.microsoft.com/office/drawing/2014/main" id="{B919CA6D-4E0E-4787-4209-EC92FBFFB28A}"/>
              </a:ext>
            </a:extLst>
          </p:cNvPr>
          <p:cNvSpPr txBox="1"/>
          <p:nvPr/>
        </p:nvSpPr>
        <p:spPr>
          <a:xfrm>
            <a:off x="14510018" y="4238460"/>
            <a:ext cx="3089034" cy="646986"/>
          </a:xfrm>
          <a:prstGeom prst="roundRect">
            <a:avLst/>
          </a:prstGeom>
          <a:solidFill>
            <a:schemeClr val="tx1"/>
          </a:solidFill>
          <a:ln>
            <a:solidFill>
              <a:schemeClr val="accent4"/>
            </a:solidFill>
          </a:ln>
        </p:spPr>
        <p:txBody>
          <a:bodyPr wrap="square" rtlCol="0">
            <a:spAutoFit/>
          </a:bodyPr>
          <a:lstStyle/>
          <a:p>
            <a:r>
              <a:rPr lang="fr-FR" sz="1600" dirty="0" err="1">
                <a:solidFill>
                  <a:schemeClr val="accent1"/>
                </a:solidFill>
              </a:rPr>
              <a:t>System.out.println</a:t>
            </a:r>
            <a:r>
              <a:rPr lang="fr-FR" sz="1600" dirty="0">
                <a:solidFill>
                  <a:schemeClr val="accent1"/>
                </a:solidFill>
              </a:rPr>
              <a:t>: les classes du </a:t>
            </a:r>
            <a:r>
              <a:rPr lang="fr-FR" sz="1600" dirty="0" err="1">
                <a:solidFill>
                  <a:schemeClr val="accent1"/>
                </a:solidFill>
              </a:rPr>
              <a:t>framework</a:t>
            </a:r>
            <a:r>
              <a:rPr lang="fr-FR" sz="1600" dirty="0">
                <a:solidFill>
                  <a:schemeClr val="accent1"/>
                </a:solidFill>
              </a:rPr>
              <a:t> sont différentes</a:t>
            </a:r>
          </a:p>
        </p:txBody>
      </p:sp>
      <p:sp>
        <p:nvSpPr>
          <p:cNvPr id="18" name="ZoneTexte 17">
            <a:extLst>
              <a:ext uri="{FF2B5EF4-FFF2-40B4-BE49-F238E27FC236}">
                <a16:creationId xmlns:a16="http://schemas.microsoft.com/office/drawing/2014/main" id="{9EE063B0-249A-8F20-2D4E-672EA3052ABA}"/>
              </a:ext>
            </a:extLst>
          </p:cNvPr>
          <p:cNvSpPr txBox="1"/>
          <p:nvPr/>
        </p:nvSpPr>
        <p:spPr>
          <a:xfrm>
            <a:off x="12614188" y="5503068"/>
            <a:ext cx="3203143" cy="374571"/>
          </a:xfrm>
          <a:prstGeom prst="roundRect">
            <a:avLst/>
          </a:prstGeom>
          <a:solidFill>
            <a:schemeClr val="tx1"/>
          </a:solidFill>
          <a:ln>
            <a:solidFill>
              <a:schemeClr val="accent4"/>
            </a:solidFill>
          </a:ln>
        </p:spPr>
        <p:txBody>
          <a:bodyPr wrap="square" rtlCol="0">
            <a:spAutoFit/>
          </a:bodyPr>
          <a:lstStyle/>
          <a:p>
            <a:r>
              <a:rPr lang="fr-FR" sz="1600" dirty="0">
                <a:solidFill>
                  <a:schemeClr val="accent1"/>
                </a:solidFill>
              </a:rPr>
              <a:t>La méthode main </a:t>
            </a:r>
            <a:r>
              <a:rPr lang="fr-FR" sz="1600" u="sng" dirty="0">
                <a:solidFill>
                  <a:schemeClr val="accent1"/>
                </a:solidFill>
              </a:rPr>
              <a:t>doit</a:t>
            </a:r>
            <a:r>
              <a:rPr lang="fr-FR" sz="1600" dirty="0">
                <a:solidFill>
                  <a:schemeClr val="accent1"/>
                </a:solidFill>
              </a:rPr>
              <a:t> être public</a:t>
            </a:r>
          </a:p>
        </p:txBody>
      </p:sp>
      <p:sp>
        <p:nvSpPr>
          <p:cNvPr id="19" name="ZoneTexte 18">
            <a:extLst>
              <a:ext uri="{FF2B5EF4-FFF2-40B4-BE49-F238E27FC236}">
                <a16:creationId xmlns:a16="http://schemas.microsoft.com/office/drawing/2014/main" id="{1DA0995F-902C-4882-3488-A15A3606EAEE}"/>
              </a:ext>
            </a:extLst>
          </p:cNvPr>
          <p:cNvSpPr txBox="1"/>
          <p:nvPr/>
        </p:nvSpPr>
        <p:spPr>
          <a:xfrm>
            <a:off x="13839251" y="3147071"/>
            <a:ext cx="3633966" cy="374571"/>
          </a:xfrm>
          <a:prstGeom prst="roundRect">
            <a:avLst/>
          </a:prstGeom>
          <a:solidFill>
            <a:schemeClr val="tx1"/>
          </a:solidFill>
          <a:ln>
            <a:solidFill>
              <a:schemeClr val="accent4"/>
            </a:solidFill>
          </a:ln>
        </p:spPr>
        <p:txBody>
          <a:bodyPr wrap="square" rtlCol="0">
            <a:spAutoFit/>
          </a:bodyPr>
          <a:lstStyle/>
          <a:p>
            <a:r>
              <a:rPr lang="fr-FR" sz="1600" dirty="0">
                <a:solidFill>
                  <a:schemeClr val="accent1"/>
                </a:solidFill>
              </a:rPr>
              <a:t>Dans un fichier, une seule classe public</a:t>
            </a:r>
          </a:p>
        </p:txBody>
      </p:sp>
      <p:sp>
        <p:nvSpPr>
          <p:cNvPr id="2" name="Rectangle : coins arrondis 1">
            <a:extLst>
              <a:ext uri="{FF2B5EF4-FFF2-40B4-BE49-F238E27FC236}">
                <a16:creationId xmlns:a16="http://schemas.microsoft.com/office/drawing/2014/main" id="{BEE493CD-D6E3-7361-2966-1AF90FF76A72}"/>
              </a:ext>
            </a:extLst>
          </p:cNvPr>
          <p:cNvSpPr/>
          <p:nvPr/>
        </p:nvSpPr>
        <p:spPr>
          <a:xfrm>
            <a:off x="7268066" y="6080532"/>
            <a:ext cx="4468305" cy="646330"/>
          </a:xfrm>
          <a:prstGeom prst="roundRect">
            <a:avLst/>
          </a:prstGeom>
          <a:solidFill>
            <a:schemeClr val="accent6"/>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t>Quelles</a:t>
            </a:r>
            <a:r>
              <a:rPr lang="en-GB" dirty="0"/>
              <a:t> differences </a:t>
            </a:r>
            <a:r>
              <a:rPr lang="en-GB" dirty="0" err="1"/>
              <a:t>repérez-vous</a:t>
            </a:r>
            <a:r>
              <a:rPr lang="en-GB" dirty="0"/>
              <a:t>?</a:t>
            </a:r>
          </a:p>
        </p:txBody>
      </p:sp>
      <p:sp>
        <p:nvSpPr>
          <p:cNvPr id="3" name="Espace réservé du numéro de diapositive 2">
            <a:extLst>
              <a:ext uri="{FF2B5EF4-FFF2-40B4-BE49-F238E27FC236}">
                <a16:creationId xmlns:a16="http://schemas.microsoft.com/office/drawing/2014/main" id="{2E24E434-8A95-6B73-58EB-E8995AF0C440}"/>
              </a:ext>
            </a:extLst>
          </p:cNvPr>
          <p:cNvSpPr>
            <a:spLocks noGrp="1"/>
          </p:cNvSpPr>
          <p:nvPr>
            <p:ph type="sldNum" sz="quarter" idx="4"/>
          </p:nvPr>
        </p:nvSpPr>
        <p:spPr/>
        <p:txBody>
          <a:bodyPr/>
          <a:lstStyle/>
          <a:p>
            <a:fld id="{33C783E2-4793-4F48-A271-51A73CC37D74}" type="slidenum">
              <a:rPr lang="fr-FR" smtClean="0"/>
              <a:t>31</a:t>
            </a:fld>
            <a:endParaRPr lang="fr-FR"/>
          </a:p>
        </p:txBody>
      </p:sp>
    </p:spTree>
    <p:extLst>
      <p:ext uri="{BB962C8B-B14F-4D97-AF65-F5344CB8AC3E}">
        <p14:creationId xmlns:p14="http://schemas.microsoft.com/office/powerpoint/2010/main" val="425399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childTnLst>
                                </p:cTn>
                              </p:par>
                            </p:childTnLst>
                          </p:cTn>
                        </p:par>
                        <p:par>
                          <p:cTn id="8" fill="hold">
                            <p:stCondLst>
                              <p:cond delay="75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75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1+#ppt_w/2"/>
                                          </p:val>
                                        </p:tav>
                                        <p:tav tm="100000">
                                          <p:val>
                                            <p:strVal val="#ppt_x"/>
                                          </p:val>
                                        </p:tav>
                                      </p:tavLst>
                                    </p:anim>
                                    <p:anim calcmode="lin" valueType="num">
                                      <p:cBhvr additive="base">
                                        <p:cTn id="17"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29E1C-903C-8763-9FE7-17D182B403BB}"/>
              </a:ext>
            </a:extLst>
          </p:cNvPr>
          <p:cNvSpPr/>
          <p:nvPr/>
        </p:nvSpPr>
        <p:spPr>
          <a:xfrm>
            <a:off x="181323" y="929299"/>
            <a:ext cx="5120439" cy="5693866"/>
          </a:xfrm>
          <a:prstGeom prst="rect">
            <a:avLst/>
          </a:prstGeom>
          <a:solidFill>
            <a:schemeClr val="tx1"/>
          </a:solidFill>
          <a:ln>
            <a:solidFill>
              <a:schemeClr val="accent2"/>
            </a:solidFill>
          </a:ln>
        </p:spPr>
        <p:txBody>
          <a:bodyPr wrap="square">
            <a:spAutoFit/>
          </a:bodyPr>
          <a:lstStyle/>
          <a:p>
            <a:r>
              <a:rPr lang="fr-BE" sz="1400" dirty="0" err="1">
                <a:solidFill>
                  <a:srgbClr val="0000FF"/>
                </a:solidFill>
                <a:highlight>
                  <a:srgbClr val="FFFFFF"/>
                </a:highlight>
                <a:latin typeface="Consolas" panose="020B0609020204030204" pitchFamily="49" charset="0"/>
              </a:rPr>
              <a:t>namespace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ProgOO</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Personne</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Prénom;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Age;</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CalculAge</a:t>
            </a:r>
            <a:r>
              <a:rPr lang="fr-BE" sz="1400" dirty="0">
                <a:solidFill>
                  <a:srgbClr val="000000"/>
                </a:solidFill>
                <a:highlight>
                  <a:srgbClr val="FFFFFF"/>
                </a:highlight>
                <a:latin typeface="Consolas" panose="020B0609020204030204" pitchFamily="49" charset="0"/>
              </a:rPr>
              <a:t>(</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Année)</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Age = Année -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Afficher()</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Console</a:t>
            </a:r>
            <a:r>
              <a:rPr lang="fr-BE" sz="1400" dirty="0" err="1">
                <a:solidFill>
                  <a:srgbClr val="000000"/>
                </a:solidFill>
                <a:highlight>
                  <a:srgbClr val="FFFFFF"/>
                </a:highlight>
                <a:latin typeface="Consolas" panose="020B0609020204030204" pitchFamily="49" charset="0"/>
              </a:rPr>
              <a:t>.WriteLine</a:t>
            </a:r>
            <a:r>
              <a:rPr lang="fr-BE" sz="1400" dirty="0">
                <a:solidFill>
                  <a:srgbClr val="000000"/>
                </a:solidFill>
                <a:highlight>
                  <a:srgbClr val="FFFFFF"/>
                </a:highlight>
                <a:latin typeface="Consolas" panose="020B0609020204030204" pitchFamily="49" charset="0"/>
              </a:rPr>
              <a:t>(Prénom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p>
          <a:p>
            <a:r>
              <a:rPr lang="fr-BE" sz="1400" dirty="0">
                <a:solidFill>
                  <a:srgbClr val="000000"/>
                </a:solidFill>
                <a:highlight>
                  <a:srgbClr val="FFFFFF"/>
                </a:highlight>
                <a:latin typeface="Consolas" panose="020B0609020204030204" pitchFamily="49" charset="0"/>
              </a:rPr>
              <a:t>			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Age + </a:t>
            </a:r>
            <a:r>
              <a:rPr lang="fr-BE" sz="1400" dirty="0">
                <a:solidFill>
                  <a:srgbClr val="A31515"/>
                </a:solidFill>
                <a:highlight>
                  <a:srgbClr val="FFFFFF"/>
                </a:highlight>
                <a:latin typeface="Consolas" panose="020B0609020204030204" pitchFamily="49" charset="0"/>
              </a:rPr>
              <a:t>" ans)"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Program</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static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Main(</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args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p:txBody>
      </p:sp>
      <p:sp>
        <p:nvSpPr>
          <p:cNvPr id="5" name="Rectangle 4">
            <a:extLst>
              <a:ext uri="{FF2B5EF4-FFF2-40B4-BE49-F238E27FC236}">
                <a16:creationId xmlns:a16="http://schemas.microsoft.com/office/drawing/2014/main" id="{83EE6C17-BF03-B085-A22A-FFF3082B5685}"/>
              </a:ext>
            </a:extLst>
          </p:cNvPr>
          <p:cNvSpPr/>
          <p:nvPr/>
        </p:nvSpPr>
        <p:spPr>
          <a:xfrm>
            <a:off x="5603246" y="929299"/>
            <a:ext cx="5387139" cy="5047536"/>
          </a:xfrm>
          <a:prstGeom prst="rect">
            <a:avLst/>
          </a:prstGeom>
          <a:solidFill>
            <a:schemeClr val="tx1"/>
          </a:solidFill>
          <a:ln>
            <a:solidFill>
              <a:schemeClr val="accent2"/>
            </a:solidFill>
          </a:ln>
        </p:spPr>
        <p:txBody>
          <a:bodyPr wrap="square">
            <a:spAutoFit/>
          </a:bodyPr>
          <a:lstStyle/>
          <a:p>
            <a:r>
              <a:rPr lang="fr-BE" sz="1400" dirty="0">
                <a:solidFill>
                  <a:srgbClr val="0000FF"/>
                </a:solidFill>
                <a:highlight>
                  <a:srgbClr val="FFFFFF"/>
                </a:highlight>
                <a:latin typeface="Consolas" panose="020B0609020204030204" pitchFamily="49" charset="0"/>
              </a:rPr>
              <a:t>package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progOO</a:t>
            </a:r>
            <a:r>
              <a:rPr lang="fr-BE" sz="1400" dirty="0">
                <a:solidFill>
                  <a:srgbClr val="000000"/>
                </a:solidFill>
                <a:highlight>
                  <a:srgbClr val="FFFFFF"/>
                </a:highlight>
                <a:latin typeface="Consolas" panose="020B0609020204030204" pitchFamily="49" charset="0"/>
              </a:rPr>
              <a:t>;</a:t>
            </a:r>
          </a:p>
          <a:p>
            <a:endParaRPr lang="fr-BE" sz="1400" dirty="0">
              <a:solidFill>
                <a:srgbClr val="000000"/>
              </a:solidFill>
              <a:highlight>
                <a:srgbClr val="FFFFFF"/>
              </a:highlight>
              <a:latin typeface="Consolas" panose="020B0609020204030204" pitchFamily="49" charset="0"/>
            </a:endParaRPr>
          </a:p>
          <a:p>
            <a:r>
              <a:rPr lang="fr-BE" sz="1400" dirty="0" err="1">
                <a:solidFill>
                  <a:srgbClr val="0000FF"/>
                </a:solidFill>
                <a:highlight>
                  <a:srgbClr val="FFFFFF"/>
                </a:highlight>
                <a:latin typeface="Consolas" panose="020B0609020204030204" pitchFamily="49" charset="0"/>
              </a:rPr>
              <a:t>private</a:t>
            </a:r>
            <a:r>
              <a:rPr lang="fr-BE" sz="1400" dirty="0">
                <a:solidFill>
                  <a:srgbClr val="0000FF"/>
                </a:solidFill>
                <a:highlight>
                  <a:srgbClr val="FFFFFF"/>
                </a:highlight>
                <a:latin typeface="Consolas" panose="020B0609020204030204" pitchFamily="49" charset="0"/>
              </a:rPr>
              <a:t> 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Personne</a:t>
            </a:r>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nom;</a:t>
            </a:r>
          </a:p>
          <a:p>
            <a:r>
              <a:rPr lang="fr-BE" sz="1400" dirty="0">
                <a:solidFill>
                  <a:srgbClr val="0000FF"/>
                </a:solidFill>
                <a:highlight>
                  <a:srgbClr val="FFFFFF"/>
                </a:highlight>
                <a:latin typeface="Consolas" panose="020B0609020204030204" pitchFamily="49" charset="0"/>
              </a:rPr>
              <a:t>    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prénom;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pPr lvl="1"/>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a:t>
            </a:r>
          </a:p>
          <a:p>
            <a:endParaRPr lang="fr-BE" sz="1400" dirty="0">
              <a:solidFill>
                <a:srgbClr val="0000FF"/>
              </a:solidFill>
              <a:highlight>
                <a:srgbClr val="FFFFFF"/>
              </a:highlight>
              <a:latin typeface="Consolas" panose="020B0609020204030204" pitchFamily="49" charset="0"/>
            </a:endParaRPr>
          </a:p>
          <a:p>
            <a:r>
              <a:rPr lang="fr-BE" sz="1400" dirty="0">
                <a:solidFill>
                  <a:srgbClr val="0000FF"/>
                </a:solidFill>
                <a:highlight>
                  <a:srgbClr val="FFFFFF"/>
                </a:highlight>
                <a:latin typeface="Consolas" panose="020B0609020204030204" pitchFamily="49" charset="0"/>
              </a:rPr>
              <a:t>	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calculAge</a:t>
            </a:r>
            <a:r>
              <a:rPr lang="fr-BE" sz="1400" dirty="0">
                <a:solidFill>
                  <a:srgbClr val="000000"/>
                </a:solidFill>
                <a:highlight>
                  <a:srgbClr val="FFFFFF"/>
                </a:highlight>
                <a:latin typeface="Consolas" panose="020B0609020204030204" pitchFamily="49" charset="0"/>
              </a:rPr>
              <a:t>(</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année) {</a:t>
            </a:r>
          </a:p>
          <a:p>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 = année -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afficher() {</a:t>
            </a:r>
          </a:p>
          <a:p>
            <a:r>
              <a:rPr lang="fr-BE" sz="1400" dirty="0">
                <a:solidFill>
                  <a:srgbClr val="2B91AF"/>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System</a:t>
            </a:r>
            <a:r>
              <a:rPr lang="fr-BE" sz="1400" dirty="0" err="1">
                <a:solidFill>
                  <a:srgbClr val="000000"/>
                </a:solidFill>
                <a:highlight>
                  <a:srgbClr val="FFFFFF"/>
                </a:highlight>
                <a:latin typeface="Consolas" panose="020B0609020204030204" pitchFamily="49" charset="0"/>
              </a:rPr>
              <a:t>.out.println</a:t>
            </a:r>
            <a:r>
              <a:rPr lang="fr-BE" sz="1400" dirty="0">
                <a:solidFill>
                  <a:srgbClr val="000000"/>
                </a:solidFill>
                <a:highlight>
                  <a:srgbClr val="FFFFFF"/>
                </a:highlight>
                <a:latin typeface="Consolas" panose="020B0609020204030204" pitchFamily="49" charset="0"/>
              </a:rPr>
              <a:t> (prénom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p>
          <a:p>
            <a:r>
              <a:rPr lang="fr-BE" sz="1400" dirty="0">
                <a:solidFill>
                  <a:srgbClr val="000000"/>
                </a:solidFill>
                <a:highlight>
                  <a:srgbClr val="FFFFFF"/>
                </a:highlight>
                <a:latin typeface="Consolas" panose="020B0609020204030204" pitchFamily="49" charset="0"/>
              </a:rPr>
              <a:t>			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 + </a:t>
            </a:r>
            <a:r>
              <a:rPr lang="fr-BE" sz="1400" dirty="0">
                <a:solidFill>
                  <a:srgbClr val="A31515"/>
                </a:solidFill>
                <a:highlight>
                  <a:srgbClr val="FFFFFF"/>
                </a:highlight>
                <a:latin typeface="Consolas" panose="020B0609020204030204" pitchFamily="49" charset="0"/>
              </a:rPr>
              <a:t>" ans)"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a:p>
            <a:endParaRPr lang="fr-BE" sz="1400" dirty="0">
              <a:solidFill>
                <a:srgbClr val="000000"/>
              </a:solidFill>
              <a:highlight>
                <a:srgbClr val="FFFFFF"/>
              </a:highlight>
              <a:latin typeface="Consolas" panose="020B0609020204030204" pitchFamily="49" charset="0"/>
            </a:endParaRPr>
          </a:p>
          <a:p>
            <a:r>
              <a:rPr lang="fr-BE" sz="1400" dirty="0">
                <a:solidFill>
                  <a:srgbClr val="0000FF"/>
                </a:solidFill>
                <a:highlight>
                  <a:srgbClr val="FFFFFF"/>
                </a:highlight>
                <a:latin typeface="Consolas" panose="020B0609020204030204" pitchFamily="49" charset="0"/>
              </a:rPr>
              <a:t>public 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Program</a:t>
            </a:r>
            <a:r>
              <a:rPr lang="fr-BE" sz="1400" dirty="0">
                <a:solidFill>
                  <a:srgbClr val="000000"/>
                </a:solidFill>
                <a:highlight>
                  <a:srgbClr val="FFFFFF"/>
                </a:highlight>
                <a:latin typeface="Consolas" panose="020B0609020204030204" pitchFamily="49" charset="0"/>
              </a:rPr>
              <a:t> {</a:t>
            </a:r>
          </a:p>
          <a:p>
            <a:r>
              <a:rPr lang="fr-BE" sz="1400" dirty="0">
                <a:solidFill>
                  <a:srgbClr val="0000FF"/>
                </a:solidFill>
                <a:highlight>
                  <a:srgbClr val="FFFFFF"/>
                </a:highlight>
                <a:latin typeface="Consolas" panose="020B0609020204030204" pitchFamily="49" charset="0"/>
              </a:rPr>
              <a:t>	public </a:t>
            </a:r>
            <a:r>
              <a:rPr lang="fr-BE" sz="1400" dirty="0" err="1">
                <a:solidFill>
                  <a:srgbClr val="0000FF"/>
                </a:solidFill>
                <a:highlight>
                  <a:srgbClr val="FFFFFF"/>
                </a:highlight>
                <a:latin typeface="Consolas" panose="020B0609020204030204" pitchFamily="49" charset="0"/>
              </a:rPr>
              <a:t>static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main(</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args)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p:txBody>
      </p:sp>
      <p:sp>
        <p:nvSpPr>
          <p:cNvPr id="6" name="ZoneTexte 5">
            <a:extLst>
              <a:ext uri="{FF2B5EF4-FFF2-40B4-BE49-F238E27FC236}">
                <a16:creationId xmlns:a16="http://schemas.microsoft.com/office/drawing/2014/main" id="{6D6D0742-A316-9198-5AE2-345AC79D5EA9}"/>
              </a:ext>
            </a:extLst>
          </p:cNvPr>
          <p:cNvSpPr txBox="1"/>
          <p:nvPr/>
        </p:nvSpPr>
        <p:spPr>
          <a:xfrm>
            <a:off x="7787242" y="838753"/>
            <a:ext cx="3182815" cy="374571"/>
          </a:xfrm>
          <a:prstGeom prst="roundRect">
            <a:avLst/>
          </a:prstGeom>
          <a:solidFill>
            <a:schemeClr val="tx1"/>
          </a:solidFill>
          <a:ln>
            <a:solidFill>
              <a:schemeClr val="accent4"/>
            </a:solidFill>
          </a:ln>
          <a:effectLst>
            <a:outerShdw blurRad="50800" dist="38100" dir="2700000" algn="tl" rotWithShape="0">
              <a:prstClr val="black">
                <a:alpha val="40000"/>
              </a:prstClr>
            </a:outerShdw>
          </a:effectLst>
        </p:spPr>
        <p:txBody>
          <a:bodyPr wrap="square" rtlCol="0">
            <a:spAutoFit/>
          </a:bodyPr>
          <a:lstStyle/>
          <a:p>
            <a:r>
              <a:rPr lang="fr-FR" sz="1600" dirty="0">
                <a:solidFill>
                  <a:schemeClr val="accent1"/>
                </a:solidFill>
              </a:rPr>
              <a:t>package pour structurer les classes</a:t>
            </a:r>
          </a:p>
        </p:txBody>
      </p:sp>
      <p:sp>
        <p:nvSpPr>
          <p:cNvPr id="8" name="ZoneTexte 7">
            <a:extLst>
              <a:ext uri="{FF2B5EF4-FFF2-40B4-BE49-F238E27FC236}">
                <a16:creationId xmlns:a16="http://schemas.microsoft.com/office/drawing/2014/main" id="{72906EC3-5CA3-8908-9C73-DE42C5141BE0}"/>
              </a:ext>
            </a:extLst>
          </p:cNvPr>
          <p:cNvSpPr txBox="1"/>
          <p:nvPr/>
        </p:nvSpPr>
        <p:spPr>
          <a:xfrm>
            <a:off x="3921370" y="1084429"/>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C#</a:t>
            </a:r>
          </a:p>
        </p:txBody>
      </p:sp>
      <p:sp>
        <p:nvSpPr>
          <p:cNvPr id="9" name="ZoneTexte 8">
            <a:extLst>
              <a:ext uri="{FF2B5EF4-FFF2-40B4-BE49-F238E27FC236}">
                <a16:creationId xmlns:a16="http://schemas.microsoft.com/office/drawing/2014/main" id="{4E7BBA15-2B0A-3462-B23C-080152B71CD4}"/>
              </a:ext>
            </a:extLst>
          </p:cNvPr>
          <p:cNvSpPr txBox="1"/>
          <p:nvPr/>
        </p:nvSpPr>
        <p:spPr>
          <a:xfrm>
            <a:off x="9821012" y="5554130"/>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java</a:t>
            </a:r>
          </a:p>
        </p:txBody>
      </p:sp>
      <p:sp>
        <p:nvSpPr>
          <p:cNvPr id="13" name="Titre 3">
            <a:extLst>
              <a:ext uri="{FF2B5EF4-FFF2-40B4-BE49-F238E27FC236}">
                <a16:creationId xmlns:a16="http://schemas.microsoft.com/office/drawing/2014/main" id="{26FDD514-3208-94C0-037A-C5D6D46E9A3D}"/>
              </a:ext>
            </a:extLst>
          </p:cNvPr>
          <p:cNvSpPr>
            <a:spLocks noGrp="1"/>
          </p:cNvSpPr>
          <p:nvPr>
            <p:ph type="title"/>
          </p:nvPr>
        </p:nvSpPr>
        <p:spPr>
          <a:xfrm>
            <a:off x="838200" y="126256"/>
            <a:ext cx="10515600" cy="803043"/>
          </a:xfrm>
        </p:spPr>
        <p:txBody>
          <a:bodyPr>
            <a:normAutofit/>
          </a:bodyPr>
          <a:lstStyle/>
          <a:p>
            <a:r>
              <a:rPr lang="fr-FR" dirty="0"/>
              <a:t>Structuration des classes</a:t>
            </a:r>
          </a:p>
        </p:txBody>
      </p:sp>
      <p:sp>
        <p:nvSpPr>
          <p:cNvPr id="3" name="ZoneTexte 2">
            <a:extLst>
              <a:ext uri="{FF2B5EF4-FFF2-40B4-BE49-F238E27FC236}">
                <a16:creationId xmlns:a16="http://schemas.microsoft.com/office/drawing/2014/main" id="{41D64F64-2DDD-DFA5-9BF4-5C52D8155DAE}"/>
              </a:ext>
            </a:extLst>
          </p:cNvPr>
          <p:cNvSpPr txBox="1"/>
          <p:nvPr/>
        </p:nvSpPr>
        <p:spPr>
          <a:xfrm>
            <a:off x="14510018" y="4238460"/>
            <a:ext cx="3089034" cy="646986"/>
          </a:xfrm>
          <a:prstGeom prst="roundRect">
            <a:avLst/>
          </a:prstGeom>
          <a:solidFill>
            <a:schemeClr val="tx1"/>
          </a:solidFill>
          <a:ln>
            <a:solidFill>
              <a:schemeClr val="accent4"/>
            </a:solidFill>
          </a:ln>
        </p:spPr>
        <p:txBody>
          <a:bodyPr wrap="square" rtlCol="0">
            <a:spAutoFit/>
          </a:bodyPr>
          <a:lstStyle/>
          <a:p>
            <a:r>
              <a:rPr lang="fr-FR" sz="1600" dirty="0" err="1">
                <a:solidFill>
                  <a:schemeClr val="accent1"/>
                </a:solidFill>
              </a:rPr>
              <a:t>System.out.println</a:t>
            </a:r>
            <a:r>
              <a:rPr lang="fr-FR" sz="1600" dirty="0">
                <a:solidFill>
                  <a:schemeClr val="accent1"/>
                </a:solidFill>
              </a:rPr>
              <a:t>: les classes du </a:t>
            </a:r>
            <a:r>
              <a:rPr lang="fr-FR" sz="1600" dirty="0" err="1">
                <a:solidFill>
                  <a:schemeClr val="accent1"/>
                </a:solidFill>
              </a:rPr>
              <a:t>framework</a:t>
            </a:r>
            <a:r>
              <a:rPr lang="fr-FR" sz="1600" dirty="0">
                <a:solidFill>
                  <a:schemeClr val="accent1"/>
                </a:solidFill>
              </a:rPr>
              <a:t> sont différentes</a:t>
            </a:r>
          </a:p>
        </p:txBody>
      </p:sp>
      <p:sp>
        <p:nvSpPr>
          <p:cNvPr id="14" name="ZoneTexte 13">
            <a:extLst>
              <a:ext uri="{FF2B5EF4-FFF2-40B4-BE49-F238E27FC236}">
                <a16:creationId xmlns:a16="http://schemas.microsoft.com/office/drawing/2014/main" id="{AFCBA7AC-19E7-9F3C-B8FA-84D6D74A84A8}"/>
              </a:ext>
            </a:extLst>
          </p:cNvPr>
          <p:cNvSpPr txBox="1"/>
          <p:nvPr/>
        </p:nvSpPr>
        <p:spPr>
          <a:xfrm>
            <a:off x="12614188" y="5503068"/>
            <a:ext cx="3203143" cy="374571"/>
          </a:xfrm>
          <a:prstGeom prst="roundRect">
            <a:avLst/>
          </a:prstGeom>
          <a:solidFill>
            <a:schemeClr val="tx1"/>
          </a:solidFill>
          <a:ln>
            <a:solidFill>
              <a:schemeClr val="accent4"/>
            </a:solidFill>
          </a:ln>
        </p:spPr>
        <p:txBody>
          <a:bodyPr wrap="square" rtlCol="0">
            <a:spAutoFit/>
          </a:bodyPr>
          <a:lstStyle/>
          <a:p>
            <a:r>
              <a:rPr lang="fr-FR" sz="1600" dirty="0">
                <a:solidFill>
                  <a:schemeClr val="accent1"/>
                </a:solidFill>
              </a:rPr>
              <a:t>La méthode main </a:t>
            </a:r>
            <a:r>
              <a:rPr lang="fr-FR" sz="1600" u="sng" dirty="0">
                <a:solidFill>
                  <a:schemeClr val="accent1"/>
                </a:solidFill>
              </a:rPr>
              <a:t>doit</a:t>
            </a:r>
            <a:r>
              <a:rPr lang="fr-FR" sz="1600" dirty="0">
                <a:solidFill>
                  <a:schemeClr val="accent1"/>
                </a:solidFill>
              </a:rPr>
              <a:t> être public</a:t>
            </a:r>
          </a:p>
        </p:txBody>
      </p:sp>
      <p:sp>
        <p:nvSpPr>
          <p:cNvPr id="15" name="ZoneTexte 14">
            <a:extLst>
              <a:ext uri="{FF2B5EF4-FFF2-40B4-BE49-F238E27FC236}">
                <a16:creationId xmlns:a16="http://schemas.microsoft.com/office/drawing/2014/main" id="{B4A76009-F6C1-949C-BBBE-1CB77C8FF725}"/>
              </a:ext>
            </a:extLst>
          </p:cNvPr>
          <p:cNvSpPr txBox="1"/>
          <p:nvPr/>
        </p:nvSpPr>
        <p:spPr>
          <a:xfrm>
            <a:off x="13839251" y="3147071"/>
            <a:ext cx="3633966" cy="374571"/>
          </a:xfrm>
          <a:prstGeom prst="roundRect">
            <a:avLst/>
          </a:prstGeom>
          <a:solidFill>
            <a:schemeClr val="tx1"/>
          </a:solidFill>
          <a:ln>
            <a:solidFill>
              <a:schemeClr val="accent4"/>
            </a:solidFill>
          </a:ln>
        </p:spPr>
        <p:txBody>
          <a:bodyPr wrap="square" rtlCol="0">
            <a:spAutoFit/>
          </a:bodyPr>
          <a:lstStyle/>
          <a:p>
            <a:r>
              <a:rPr lang="fr-FR" sz="1600" dirty="0">
                <a:solidFill>
                  <a:schemeClr val="accent1"/>
                </a:solidFill>
              </a:rPr>
              <a:t>Dans un fichier, une seule classe public</a:t>
            </a:r>
          </a:p>
        </p:txBody>
      </p:sp>
      <p:sp>
        <p:nvSpPr>
          <p:cNvPr id="18" name="ZoneTexte 17">
            <a:extLst>
              <a:ext uri="{FF2B5EF4-FFF2-40B4-BE49-F238E27FC236}">
                <a16:creationId xmlns:a16="http://schemas.microsoft.com/office/drawing/2014/main" id="{008AC009-94AF-D3EB-8E00-2CD9848523B1}"/>
              </a:ext>
            </a:extLst>
          </p:cNvPr>
          <p:cNvSpPr txBox="1"/>
          <p:nvPr/>
        </p:nvSpPr>
        <p:spPr>
          <a:xfrm>
            <a:off x="13455537" y="1084429"/>
            <a:ext cx="3384551" cy="1464231"/>
          </a:xfrm>
          <a:prstGeom prst="roundRect">
            <a:avLst/>
          </a:prstGeom>
          <a:solidFill>
            <a:schemeClr val="tx1"/>
          </a:solidFill>
          <a:ln>
            <a:solidFill>
              <a:schemeClr val="accent4"/>
            </a:solidFill>
          </a:ln>
        </p:spPr>
        <p:txBody>
          <a:bodyPr wrap="square" rtlCol="0">
            <a:spAutoFit/>
          </a:bodyPr>
          <a:lstStyle/>
          <a:p>
            <a:r>
              <a:rPr lang="fr-FR" sz="1600" dirty="0">
                <a:solidFill>
                  <a:schemeClr val="accent1"/>
                </a:solidFill>
              </a:rPr>
              <a:t>Majuscule pour les noms de classes, </a:t>
            </a:r>
            <a:r>
              <a:rPr lang="fr-FR" sz="1600" dirty="0" err="1">
                <a:solidFill>
                  <a:schemeClr val="accent1"/>
                </a:solidFill>
              </a:rPr>
              <a:t>enumérations</a:t>
            </a:r>
            <a:r>
              <a:rPr lang="fr-FR" sz="1600" dirty="0">
                <a:solidFill>
                  <a:schemeClr val="accent1"/>
                </a:solidFill>
              </a:rPr>
              <a:t> et interfaces.</a:t>
            </a:r>
          </a:p>
          <a:p>
            <a:endParaRPr lang="fr-FR" sz="1600" dirty="0">
              <a:solidFill>
                <a:schemeClr val="accent1"/>
              </a:solidFill>
            </a:endParaRPr>
          </a:p>
          <a:p>
            <a:r>
              <a:rPr lang="fr-FR" sz="1600" dirty="0">
                <a:solidFill>
                  <a:schemeClr val="accent1"/>
                </a:solidFill>
              </a:rPr>
              <a:t>minuscule pour les variables, méthodes et packages</a:t>
            </a:r>
          </a:p>
        </p:txBody>
      </p:sp>
      <p:sp>
        <p:nvSpPr>
          <p:cNvPr id="2" name="Rectangle : avec coins arrondis en haut 1">
            <a:extLst>
              <a:ext uri="{FF2B5EF4-FFF2-40B4-BE49-F238E27FC236}">
                <a16:creationId xmlns:a16="http://schemas.microsoft.com/office/drawing/2014/main" id="{AA05721D-63E5-3141-3F31-8D1E7988509D}"/>
              </a:ext>
            </a:extLst>
          </p:cNvPr>
          <p:cNvSpPr/>
          <p:nvPr/>
        </p:nvSpPr>
        <p:spPr>
          <a:xfrm>
            <a:off x="181323" y="929299"/>
            <a:ext cx="1807733" cy="284025"/>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 avec coins arrondis en haut 6">
            <a:extLst>
              <a:ext uri="{FF2B5EF4-FFF2-40B4-BE49-F238E27FC236}">
                <a16:creationId xmlns:a16="http://schemas.microsoft.com/office/drawing/2014/main" id="{8AE6C28B-DD27-3522-97C3-49789B4947FF}"/>
              </a:ext>
            </a:extLst>
          </p:cNvPr>
          <p:cNvSpPr/>
          <p:nvPr/>
        </p:nvSpPr>
        <p:spPr>
          <a:xfrm>
            <a:off x="5595767" y="929299"/>
            <a:ext cx="1638310" cy="284025"/>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Espace réservé du numéro de diapositive 9">
            <a:extLst>
              <a:ext uri="{FF2B5EF4-FFF2-40B4-BE49-F238E27FC236}">
                <a16:creationId xmlns:a16="http://schemas.microsoft.com/office/drawing/2014/main" id="{3285BBE8-AEB8-0DE8-29D1-3466D75461A8}"/>
              </a:ext>
            </a:extLst>
          </p:cNvPr>
          <p:cNvSpPr>
            <a:spLocks noGrp="1"/>
          </p:cNvSpPr>
          <p:nvPr>
            <p:ph type="sldNum" sz="quarter" idx="4"/>
          </p:nvPr>
        </p:nvSpPr>
        <p:spPr/>
        <p:txBody>
          <a:bodyPr/>
          <a:lstStyle/>
          <a:p>
            <a:fld id="{33C783E2-4793-4F48-A271-51A73CC37D74}" type="slidenum">
              <a:rPr lang="fr-FR" smtClean="0"/>
              <a:t>32</a:t>
            </a:fld>
            <a:endParaRPr lang="fr-FR"/>
          </a:p>
        </p:txBody>
      </p:sp>
    </p:spTree>
    <p:extLst>
      <p:ext uri="{BB962C8B-B14F-4D97-AF65-F5344CB8AC3E}">
        <p14:creationId xmlns:p14="http://schemas.microsoft.com/office/powerpoint/2010/main" val="22759958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29E1C-903C-8763-9FE7-17D182B403BB}"/>
              </a:ext>
            </a:extLst>
          </p:cNvPr>
          <p:cNvSpPr/>
          <p:nvPr/>
        </p:nvSpPr>
        <p:spPr>
          <a:xfrm>
            <a:off x="181323" y="929299"/>
            <a:ext cx="5120439" cy="5693866"/>
          </a:xfrm>
          <a:prstGeom prst="rect">
            <a:avLst/>
          </a:prstGeom>
          <a:solidFill>
            <a:schemeClr val="tx1"/>
          </a:solidFill>
          <a:ln>
            <a:solidFill>
              <a:schemeClr val="accent2"/>
            </a:solidFill>
          </a:ln>
        </p:spPr>
        <p:txBody>
          <a:bodyPr wrap="square">
            <a:spAutoFit/>
          </a:bodyPr>
          <a:lstStyle/>
          <a:p>
            <a:r>
              <a:rPr lang="fr-BE" sz="1400" dirty="0" err="1">
                <a:solidFill>
                  <a:srgbClr val="0000FF"/>
                </a:solidFill>
                <a:highlight>
                  <a:srgbClr val="FFFFFF"/>
                </a:highlight>
                <a:latin typeface="Consolas" panose="020B0609020204030204" pitchFamily="49" charset="0"/>
              </a:rPr>
              <a:t>namespace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ProgOO</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Personne</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Prénom;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Age;</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CalculAge</a:t>
            </a:r>
            <a:r>
              <a:rPr lang="fr-BE" sz="1400" dirty="0">
                <a:solidFill>
                  <a:srgbClr val="000000"/>
                </a:solidFill>
                <a:highlight>
                  <a:srgbClr val="FFFFFF"/>
                </a:highlight>
                <a:latin typeface="Consolas" panose="020B0609020204030204" pitchFamily="49" charset="0"/>
              </a:rPr>
              <a:t>(</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Année)</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Age = Année -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Afficher()</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Console</a:t>
            </a:r>
            <a:r>
              <a:rPr lang="fr-BE" sz="1400" dirty="0" err="1">
                <a:solidFill>
                  <a:srgbClr val="000000"/>
                </a:solidFill>
                <a:highlight>
                  <a:srgbClr val="FFFFFF"/>
                </a:highlight>
                <a:latin typeface="Consolas" panose="020B0609020204030204" pitchFamily="49" charset="0"/>
              </a:rPr>
              <a:t>.WriteLine</a:t>
            </a:r>
            <a:r>
              <a:rPr lang="fr-BE" sz="1400" dirty="0">
                <a:solidFill>
                  <a:srgbClr val="000000"/>
                </a:solidFill>
                <a:highlight>
                  <a:srgbClr val="FFFFFF"/>
                </a:highlight>
                <a:latin typeface="Consolas" panose="020B0609020204030204" pitchFamily="49" charset="0"/>
              </a:rPr>
              <a:t>(Prénom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p>
          <a:p>
            <a:r>
              <a:rPr lang="fr-BE" sz="1400" dirty="0">
                <a:solidFill>
                  <a:srgbClr val="000000"/>
                </a:solidFill>
                <a:highlight>
                  <a:srgbClr val="FFFFFF"/>
                </a:highlight>
                <a:latin typeface="Consolas" panose="020B0609020204030204" pitchFamily="49" charset="0"/>
              </a:rPr>
              <a:t>			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Age + </a:t>
            </a:r>
            <a:r>
              <a:rPr lang="fr-BE" sz="1400" dirty="0">
                <a:solidFill>
                  <a:srgbClr val="A31515"/>
                </a:solidFill>
                <a:highlight>
                  <a:srgbClr val="FFFFFF"/>
                </a:highlight>
                <a:latin typeface="Consolas" panose="020B0609020204030204" pitchFamily="49" charset="0"/>
              </a:rPr>
              <a:t>" ans)"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Program</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static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Main(</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args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p:txBody>
      </p:sp>
      <p:sp>
        <p:nvSpPr>
          <p:cNvPr id="5" name="Rectangle 4">
            <a:extLst>
              <a:ext uri="{FF2B5EF4-FFF2-40B4-BE49-F238E27FC236}">
                <a16:creationId xmlns:a16="http://schemas.microsoft.com/office/drawing/2014/main" id="{83EE6C17-BF03-B085-A22A-FFF3082B5685}"/>
              </a:ext>
            </a:extLst>
          </p:cNvPr>
          <p:cNvSpPr/>
          <p:nvPr/>
        </p:nvSpPr>
        <p:spPr>
          <a:xfrm>
            <a:off x="5603246" y="929299"/>
            <a:ext cx="5387139" cy="5047536"/>
          </a:xfrm>
          <a:prstGeom prst="rect">
            <a:avLst/>
          </a:prstGeom>
          <a:solidFill>
            <a:schemeClr val="tx1"/>
          </a:solidFill>
          <a:ln>
            <a:solidFill>
              <a:schemeClr val="accent2"/>
            </a:solidFill>
          </a:ln>
        </p:spPr>
        <p:txBody>
          <a:bodyPr wrap="square">
            <a:spAutoFit/>
          </a:bodyPr>
          <a:lstStyle/>
          <a:p>
            <a:r>
              <a:rPr lang="fr-BE" sz="1400" dirty="0">
                <a:solidFill>
                  <a:srgbClr val="0000FF"/>
                </a:solidFill>
                <a:highlight>
                  <a:srgbClr val="FFFFFF"/>
                </a:highlight>
                <a:latin typeface="Consolas" panose="020B0609020204030204" pitchFamily="49" charset="0"/>
              </a:rPr>
              <a:t>package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progOO</a:t>
            </a:r>
            <a:r>
              <a:rPr lang="fr-BE" sz="1400" dirty="0">
                <a:solidFill>
                  <a:srgbClr val="000000"/>
                </a:solidFill>
                <a:highlight>
                  <a:srgbClr val="FFFFFF"/>
                </a:highlight>
                <a:latin typeface="Consolas" panose="020B0609020204030204" pitchFamily="49" charset="0"/>
              </a:rPr>
              <a:t>;</a:t>
            </a:r>
          </a:p>
          <a:p>
            <a:endParaRPr lang="fr-BE" sz="1400" dirty="0">
              <a:solidFill>
                <a:srgbClr val="000000"/>
              </a:solidFill>
              <a:highlight>
                <a:srgbClr val="FFFFFF"/>
              </a:highlight>
              <a:latin typeface="Consolas" panose="020B0609020204030204" pitchFamily="49" charset="0"/>
            </a:endParaRPr>
          </a:p>
          <a:p>
            <a:r>
              <a:rPr lang="fr-BE" sz="1400" dirty="0" err="1">
                <a:solidFill>
                  <a:srgbClr val="0000FF"/>
                </a:solidFill>
                <a:highlight>
                  <a:srgbClr val="FFFFFF"/>
                </a:highlight>
                <a:latin typeface="Consolas" panose="020B0609020204030204" pitchFamily="49" charset="0"/>
              </a:rPr>
              <a:t>private</a:t>
            </a:r>
            <a:r>
              <a:rPr lang="fr-BE" sz="1400" dirty="0">
                <a:solidFill>
                  <a:srgbClr val="0000FF"/>
                </a:solidFill>
                <a:highlight>
                  <a:srgbClr val="FFFFFF"/>
                </a:highlight>
                <a:latin typeface="Consolas" panose="020B0609020204030204" pitchFamily="49" charset="0"/>
              </a:rPr>
              <a:t> 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Personne</a:t>
            </a:r>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nom;</a:t>
            </a:r>
          </a:p>
          <a:p>
            <a:r>
              <a:rPr lang="fr-BE" sz="1400" dirty="0">
                <a:solidFill>
                  <a:srgbClr val="0000FF"/>
                </a:solidFill>
                <a:highlight>
                  <a:srgbClr val="FFFFFF"/>
                </a:highlight>
                <a:latin typeface="Consolas" panose="020B0609020204030204" pitchFamily="49" charset="0"/>
              </a:rPr>
              <a:t>    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prénom;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pPr lvl="1"/>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a:t>
            </a:r>
          </a:p>
          <a:p>
            <a:endParaRPr lang="fr-BE" sz="1400" dirty="0">
              <a:solidFill>
                <a:srgbClr val="0000FF"/>
              </a:solidFill>
              <a:highlight>
                <a:srgbClr val="FFFFFF"/>
              </a:highlight>
              <a:latin typeface="Consolas" panose="020B0609020204030204" pitchFamily="49" charset="0"/>
            </a:endParaRPr>
          </a:p>
          <a:p>
            <a:r>
              <a:rPr lang="fr-BE" sz="1400" dirty="0">
                <a:solidFill>
                  <a:srgbClr val="0000FF"/>
                </a:solidFill>
                <a:highlight>
                  <a:srgbClr val="FFFFFF"/>
                </a:highlight>
                <a:latin typeface="Consolas" panose="020B0609020204030204" pitchFamily="49" charset="0"/>
              </a:rPr>
              <a:t>	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calculAge</a:t>
            </a:r>
            <a:r>
              <a:rPr lang="fr-BE" sz="1400" dirty="0">
                <a:solidFill>
                  <a:srgbClr val="000000"/>
                </a:solidFill>
                <a:highlight>
                  <a:srgbClr val="FFFFFF"/>
                </a:highlight>
                <a:latin typeface="Consolas" panose="020B0609020204030204" pitchFamily="49" charset="0"/>
              </a:rPr>
              <a:t>(</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année) {</a:t>
            </a:r>
          </a:p>
          <a:p>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 = année -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afficher() {</a:t>
            </a:r>
          </a:p>
          <a:p>
            <a:r>
              <a:rPr lang="fr-BE" sz="1400" dirty="0">
                <a:solidFill>
                  <a:srgbClr val="2B91AF"/>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System</a:t>
            </a:r>
            <a:r>
              <a:rPr lang="fr-BE" sz="1400" dirty="0" err="1">
                <a:solidFill>
                  <a:srgbClr val="000000"/>
                </a:solidFill>
                <a:highlight>
                  <a:srgbClr val="FFFFFF"/>
                </a:highlight>
                <a:latin typeface="Consolas" panose="020B0609020204030204" pitchFamily="49" charset="0"/>
              </a:rPr>
              <a:t>.out.println</a:t>
            </a:r>
            <a:r>
              <a:rPr lang="fr-BE" sz="1400" dirty="0">
                <a:solidFill>
                  <a:srgbClr val="000000"/>
                </a:solidFill>
                <a:highlight>
                  <a:srgbClr val="FFFFFF"/>
                </a:highlight>
                <a:latin typeface="Consolas" panose="020B0609020204030204" pitchFamily="49" charset="0"/>
              </a:rPr>
              <a:t> (prénom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p>
          <a:p>
            <a:r>
              <a:rPr lang="fr-BE" sz="1400" dirty="0">
                <a:solidFill>
                  <a:srgbClr val="000000"/>
                </a:solidFill>
                <a:highlight>
                  <a:srgbClr val="FFFFFF"/>
                </a:highlight>
                <a:latin typeface="Consolas" panose="020B0609020204030204" pitchFamily="49" charset="0"/>
              </a:rPr>
              <a:t>			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 + </a:t>
            </a:r>
            <a:r>
              <a:rPr lang="fr-BE" sz="1400" dirty="0">
                <a:solidFill>
                  <a:srgbClr val="A31515"/>
                </a:solidFill>
                <a:highlight>
                  <a:srgbClr val="FFFFFF"/>
                </a:highlight>
                <a:latin typeface="Consolas" panose="020B0609020204030204" pitchFamily="49" charset="0"/>
              </a:rPr>
              <a:t>" ans)"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a:p>
            <a:endParaRPr lang="fr-BE" sz="1400" dirty="0">
              <a:solidFill>
                <a:srgbClr val="000000"/>
              </a:solidFill>
              <a:highlight>
                <a:srgbClr val="FFFFFF"/>
              </a:highlight>
              <a:latin typeface="Consolas" panose="020B0609020204030204" pitchFamily="49" charset="0"/>
            </a:endParaRPr>
          </a:p>
          <a:p>
            <a:r>
              <a:rPr lang="fr-BE" sz="1400" dirty="0">
                <a:solidFill>
                  <a:srgbClr val="0000FF"/>
                </a:solidFill>
                <a:highlight>
                  <a:srgbClr val="FFFFFF"/>
                </a:highlight>
                <a:latin typeface="Consolas" panose="020B0609020204030204" pitchFamily="49" charset="0"/>
              </a:rPr>
              <a:t>public 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Program</a:t>
            </a:r>
            <a:r>
              <a:rPr lang="fr-BE" sz="1400" dirty="0">
                <a:solidFill>
                  <a:srgbClr val="000000"/>
                </a:solidFill>
                <a:highlight>
                  <a:srgbClr val="FFFFFF"/>
                </a:highlight>
                <a:latin typeface="Consolas" panose="020B0609020204030204" pitchFamily="49" charset="0"/>
              </a:rPr>
              <a:t> {</a:t>
            </a:r>
          </a:p>
          <a:p>
            <a:r>
              <a:rPr lang="fr-BE" sz="1400" dirty="0">
                <a:solidFill>
                  <a:srgbClr val="0000FF"/>
                </a:solidFill>
                <a:highlight>
                  <a:srgbClr val="FFFFFF"/>
                </a:highlight>
                <a:latin typeface="Consolas" panose="020B0609020204030204" pitchFamily="49" charset="0"/>
              </a:rPr>
              <a:t>	public </a:t>
            </a:r>
            <a:r>
              <a:rPr lang="fr-BE" sz="1400" dirty="0" err="1">
                <a:solidFill>
                  <a:srgbClr val="0000FF"/>
                </a:solidFill>
                <a:highlight>
                  <a:srgbClr val="FFFFFF"/>
                </a:highlight>
                <a:latin typeface="Consolas" panose="020B0609020204030204" pitchFamily="49" charset="0"/>
              </a:rPr>
              <a:t>static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main(</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args)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p:txBody>
      </p:sp>
      <p:sp>
        <p:nvSpPr>
          <p:cNvPr id="7" name="ZoneTexte 6">
            <a:extLst>
              <a:ext uri="{FF2B5EF4-FFF2-40B4-BE49-F238E27FC236}">
                <a16:creationId xmlns:a16="http://schemas.microsoft.com/office/drawing/2014/main" id="{39DBE925-CD55-041B-4B30-5A5F6311A98C}"/>
              </a:ext>
            </a:extLst>
          </p:cNvPr>
          <p:cNvSpPr txBox="1"/>
          <p:nvPr/>
        </p:nvSpPr>
        <p:spPr>
          <a:xfrm>
            <a:off x="8725286" y="1084429"/>
            <a:ext cx="3384551" cy="1464231"/>
          </a:xfrm>
          <a:prstGeom prst="roundRect">
            <a:avLst/>
          </a:prstGeom>
          <a:solidFill>
            <a:schemeClr val="tx1"/>
          </a:solidFill>
          <a:ln>
            <a:solidFill>
              <a:schemeClr val="accent4"/>
            </a:solidFill>
          </a:ln>
          <a:effectLst>
            <a:outerShdw blurRad="50800" dist="38100" dir="2700000" algn="tl" rotWithShape="0">
              <a:prstClr val="black">
                <a:alpha val="40000"/>
              </a:prstClr>
            </a:outerShdw>
          </a:effectLst>
        </p:spPr>
        <p:txBody>
          <a:bodyPr wrap="square" rtlCol="0">
            <a:spAutoFit/>
          </a:bodyPr>
          <a:lstStyle/>
          <a:p>
            <a:r>
              <a:rPr lang="fr-FR" sz="1600" b="1" dirty="0">
                <a:solidFill>
                  <a:schemeClr val="accent4"/>
                </a:solidFill>
              </a:rPr>
              <a:t>M</a:t>
            </a:r>
            <a:r>
              <a:rPr lang="fr-FR" sz="1600" dirty="0">
                <a:solidFill>
                  <a:schemeClr val="accent1"/>
                </a:solidFill>
              </a:rPr>
              <a:t>ajuscule pour les noms de classes, </a:t>
            </a:r>
            <a:r>
              <a:rPr lang="fr-FR" sz="1600" dirty="0" err="1">
                <a:solidFill>
                  <a:schemeClr val="accent1"/>
                </a:solidFill>
              </a:rPr>
              <a:t>enumérations</a:t>
            </a:r>
            <a:r>
              <a:rPr lang="fr-FR" sz="1600" dirty="0">
                <a:solidFill>
                  <a:schemeClr val="accent1"/>
                </a:solidFill>
              </a:rPr>
              <a:t> et interfaces.</a:t>
            </a:r>
          </a:p>
          <a:p>
            <a:endParaRPr lang="fr-FR" sz="1600" dirty="0">
              <a:solidFill>
                <a:schemeClr val="accent1"/>
              </a:solidFill>
            </a:endParaRPr>
          </a:p>
          <a:p>
            <a:r>
              <a:rPr lang="fr-FR" sz="1600" b="1" dirty="0">
                <a:solidFill>
                  <a:schemeClr val="accent4"/>
                </a:solidFill>
              </a:rPr>
              <a:t>m</a:t>
            </a:r>
            <a:r>
              <a:rPr lang="fr-FR" sz="1600" dirty="0">
                <a:solidFill>
                  <a:schemeClr val="accent1"/>
                </a:solidFill>
              </a:rPr>
              <a:t>inuscule pour les variables, méthodes et packages</a:t>
            </a:r>
          </a:p>
        </p:txBody>
      </p:sp>
      <p:sp>
        <p:nvSpPr>
          <p:cNvPr id="8" name="ZoneTexte 7">
            <a:extLst>
              <a:ext uri="{FF2B5EF4-FFF2-40B4-BE49-F238E27FC236}">
                <a16:creationId xmlns:a16="http://schemas.microsoft.com/office/drawing/2014/main" id="{72906EC3-5CA3-8908-9C73-DE42C5141BE0}"/>
              </a:ext>
            </a:extLst>
          </p:cNvPr>
          <p:cNvSpPr txBox="1"/>
          <p:nvPr/>
        </p:nvSpPr>
        <p:spPr>
          <a:xfrm>
            <a:off x="3921370" y="1084429"/>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C#</a:t>
            </a:r>
          </a:p>
        </p:txBody>
      </p:sp>
      <p:sp>
        <p:nvSpPr>
          <p:cNvPr id="9" name="ZoneTexte 8">
            <a:extLst>
              <a:ext uri="{FF2B5EF4-FFF2-40B4-BE49-F238E27FC236}">
                <a16:creationId xmlns:a16="http://schemas.microsoft.com/office/drawing/2014/main" id="{4E7BBA15-2B0A-3462-B23C-080152B71CD4}"/>
              </a:ext>
            </a:extLst>
          </p:cNvPr>
          <p:cNvSpPr txBox="1"/>
          <p:nvPr/>
        </p:nvSpPr>
        <p:spPr>
          <a:xfrm>
            <a:off x="9821012" y="5554130"/>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java</a:t>
            </a:r>
          </a:p>
        </p:txBody>
      </p:sp>
      <p:sp>
        <p:nvSpPr>
          <p:cNvPr id="13" name="Titre 3">
            <a:extLst>
              <a:ext uri="{FF2B5EF4-FFF2-40B4-BE49-F238E27FC236}">
                <a16:creationId xmlns:a16="http://schemas.microsoft.com/office/drawing/2014/main" id="{26FDD514-3208-94C0-037A-C5D6D46E9A3D}"/>
              </a:ext>
            </a:extLst>
          </p:cNvPr>
          <p:cNvSpPr>
            <a:spLocks noGrp="1"/>
          </p:cNvSpPr>
          <p:nvPr>
            <p:ph type="title"/>
          </p:nvPr>
        </p:nvSpPr>
        <p:spPr>
          <a:xfrm>
            <a:off x="838200" y="126256"/>
            <a:ext cx="10515600" cy="803043"/>
          </a:xfrm>
        </p:spPr>
        <p:txBody>
          <a:bodyPr>
            <a:normAutofit/>
          </a:bodyPr>
          <a:lstStyle/>
          <a:p>
            <a:r>
              <a:rPr lang="fr-FR" dirty="0"/>
              <a:t>Conventions de nommage différentes</a:t>
            </a:r>
          </a:p>
        </p:txBody>
      </p:sp>
      <p:sp>
        <p:nvSpPr>
          <p:cNvPr id="3" name="ZoneTexte 2">
            <a:extLst>
              <a:ext uri="{FF2B5EF4-FFF2-40B4-BE49-F238E27FC236}">
                <a16:creationId xmlns:a16="http://schemas.microsoft.com/office/drawing/2014/main" id="{8FE0BE8A-3B03-7DAE-48D0-272833DB3848}"/>
              </a:ext>
            </a:extLst>
          </p:cNvPr>
          <p:cNvSpPr txBox="1"/>
          <p:nvPr/>
        </p:nvSpPr>
        <p:spPr>
          <a:xfrm>
            <a:off x="14510018" y="4238460"/>
            <a:ext cx="3089034" cy="646986"/>
          </a:xfrm>
          <a:prstGeom prst="roundRect">
            <a:avLst/>
          </a:prstGeom>
          <a:solidFill>
            <a:schemeClr val="tx1"/>
          </a:solidFill>
          <a:ln>
            <a:solidFill>
              <a:schemeClr val="accent4"/>
            </a:solidFill>
          </a:ln>
        </p:spPr>
        <p:txBody>
          <a:bodyPr wrap="square" rtlCol="0">
            <a:spAutoFit/>
          </a:bodyPr>
          <a:lstStyle/>
          <a:p>
            <a:r>
              <a:rPr lang="fr-FR" sz="1600" dirty="0" err="1">
                <a:solidFill>
                  <a:schemeClr val="accent1"/>
                </a:solidFill>
              </a:rPr>
              <a:t>System.out.println</a:t>
            </a:r>
            <a:r>
              <a:rPr lang="fr-FR" sz="1600" dirty="0">
                <a:solidFill>
                  <a:schemeClr val="accent1"/>
                </a:solidFill>
              </a:rPr>
              <a:t>: les classes du </a:t>
            </a:r>
            <a:r>
              <a:rPr lang="fr-FR" sz="1600" dirty="0" err="1">
                <a:solidFill>
                  <a:schemeClr val="accent1"/>
                </a:solidFill>
              </a:rPr>
              <a:t>framework</a:t>
            </a:r>
            <a:r>
              <a:rPr lang="fr-FR" sz="1600" dirty="0">
                <a:solidFill>
                  <a:schemeClr val="accent1"/>
                </a:solidFill>
              </a:rPr>
              <a:t> sont différentes</a:t>
            </a:r>
          </a:p>
        </p:txBody>
      </p:sp>
      <p:sp>
        <p:nvSpPr>
          <p:cNvPr id="14" name="ZoneTexte 13">
            <a:extLst>
              <a:ext uri="{FF2B5EF4-FFF2-40B4-BE49-F238E27FC236}">
                <a16:creationId xmlns:a16="http://schemas.microsoft.com/office/drawing/2014/main" id="{DCE43FCA-0C53-4173-018E-7C1A00AC63F2}"/>
              </a:ext>
            </a:extLst>
          </p:cNvPr>
          <p:cNvSpPr txBox="1"/>
          <p:nvPr/>
        </p:nvSpPr>
        <p:spPr>
          <a:xfrm>
            <a:off x="12614188" y="5503068"/>
            <a:ext cx="3203143" cy="374571"/>
          </a:xfrm>
          <a:prstGeom prst="roundRect">
            <a:avLst/>
          </a:prstGeom>
          <a:solidFill>
            <a:schemeClr val="tx1"/>
          </a:solidFill>
          <a:ln>
            <a:solidFill>
              <a:schemeClr val="accent4"/>
            </a:solidFill>
          </a:ln>
        </p:spPr>
        <p:txBody>
          <a:bodyPr wrap="square" rtlCol="0">
            <a:spAutoFit/>
          </a:bodyPr>
          <a:lstStyle/>
          <a:p>
            <a:r>
              <a:rPr lang="fr-FR" sz="1600" dirty="0">
                <a:solidFill>
                  <a:schemeClr val="accent1"/>
                </a:solidFill>
              </a:rPr>
              <a:t>La méthode main </a:t>
            </a:r>
            <a:r>
              <a:rPr lang="fr-FR" sz="1600" u="sng" dirty="0">
                <a:solidFill>
                  <a:schemeClr val="accent1"/>
                </a:solidFill>
              </a:rPr>
              <a:t>doit</a:t>
            </a:r>
            <a:r>
              <a:rPr lang="fr-FR" sz="1600" dirty="0">
                <a:solidFill>
                  <a:schemeClr val="accent1"/>
                </a:solidFill>
              </a:rPr>
              <a:t> être public</a:t>
            </a:r>
          </a:p>
        </p:txBody>
      </p:sp>
      <p:sp>
        <p:nvSpPr>
          <p:cNvPr id="15" name="ZoneTexte 14">
            <a:extLst>
              <a:ext uri="{FF2B5EF4-FFF2-40B4-BE49-F238E27FC236}">
                <a16:creationId xmlns:a16="http://schemas.microsoft.com/office/drawing/2014/main" id="{53DA4A32-8BDC-F5A4-724E-B5FE2498C83B}"/>
              </a:ext>
            </a:extLst>
          </p:cNvPr>
          <p:cNvSpPr txBox="1"/>
          <p:nvPr/>
        </p:nvSpPr>
        <p:spPr>
          <a:xfrm>
            <a:off x="13839251" y="3147071"/>
            <a:ext cx="3633966" cy="374571"/>
          </a:xfrm>
          <a:prstGeom prst="roundRect">
            <a:avLst/>
          </a:prstGeom>
          <a:solidFill>
            <a:schemeClr val="tx1"/>
          </a:solidFill>
          <a:ln>
            <a:solidFill>
              <a:schemeClr val="accent4"/>
            </a:solidFill>
          </a:ln>
        </p:spPr>
        <p:txBody>
          <a:bodyPr wrap="square" rtlCol="0">
            <a:spAutoFit/>
          </a:bodyPr>
          <a:lstStyle/>
          <a:p>
            <a:r>
              <a:rPr lang="fr-FR" sz="1600" dirty="0">
                <a:solidFill>
                  <a:schemeClr val="accent1"/>
                </a:solidFill>
              </a:rPr>
              <a:t>Dans un fichier, une seule classe public</a:t>
            </a:r>
          </a:p>
        </p:txBody>
      </p:sp>
      <p:sp>
        <p:nvSpPr>
          <p:cNvPr id="2" name="Rectangle : avec coins arrondis en haut 1">
            <a:extLst>
              <a:ext uri="{FF2B5EF4-FFF2-40B4-BE49-F238E27FC236}">
                <a16:creationId xmlns:a16="http://schemas.microsoft.com/office/drawing/2014/main" id="{ECEE7BAC-9628-D112-F7DA-3B55243C9BAE}"/>
              </a:ext>
            </a:extLst>
          </p:cNvPr>
          <p:cNvSpPr/>
          <p:nvPr/>
        </p:nvSpPr>
        <p:spPr>
          <a:xfrm>
            <a:off x="2384672" y="1797690"/>
            <a:ext cx="369708"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 avec coins arrondis en haut 5">
            <a:extLst>
              <a:ext uri="{FF2B5EF4-FFF2-40B4-BE49-F238E27FC236}">
                <a16:creationId xmlns:a16="http://schemas.microsoft.com/office/drawing/2014/main" id="{747EBF26-FE73-9E30-51A2-237F6ECA52C3}"/>
              </a:ext>
            </a:extLst>
          </p:cNvPr>
          <p:cNvSpPr/>
          <p:nvPr/>
        </p:nvSpPr>
        <p:spPr>
          <a:xfrm>
            <a:off x="7437748" y="1590328"/>
            <a:ext cx="358220"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 avec coins arrondis en haut 9">
            <a:extLst>
              <a:ext uri="{FF2B5EF4-FFF2-40B4-BE49-F238E27FC236}">
                <a16:creationId xmlns:a16="http://schemas.microsoft.com/office/drawing/2014/main" id="{21C35FF2-9879-AEE0-822D-86E2722BFF4E}"/>
              </a:ext>
            </a:extLst>
          </p:cNvPr>
          <p:cNvSpPr/>
          <p:nvPr/>
        </p:nvSpPr>
        <p:spPr>
          <a:xfrm>
            <a:off x="2187019" y="2666081"/>
            <a:ext cx="961468"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 avec coins arrondis en haut 10">
            <a:extLst>
              <a:ext uri="{FF2B5EF4-FFF2-40B4-BE49-F238E27FC236}">
                <a16:creationId xmlns:a16="http://schemas.microsoft.com/office/drawing/2014/main" id="{EC60A736-7FB3-9FED-0860-32107B2BC1B9}"/>
              </a:ext>
            </a:extLst>
          </p:cNvPr>
          <p:cNvSpPr/>
          <p:nvPr/>
        </p:nvSpPr>
        <p:spPr>
          <a:xfrm>
            <a:off x="7286919" y="2630665"/>
            <a:ext cx="961536"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Espace réservé du numéro de diapositive 11">
            <a:extLst>
              <a:ext uri="{FF2B5EF4-FFF2-40B4-BE49-F238E27FC236}">
                <a16:creationId xmlns:a16="http://schemas.microsoft.com/office/drawing/2014/main" id="{03621505-7238-0F4C-1A69-F0967C51478B}"/>
              </a:ext>
            </a:extLst>
          </p:cNvPr>
          <p:cNvSpPr>
            <a:spLocks noGrp="1"/>
          </p:cNvSpPr>
          <p:nvPr>
            <p:ph type="sldNum" sz="quarter" idx="4"/>
          </p:nvPr>
        </p:nvSpPr>
        <p:spPr/>
        <p:txBody>
          <a:bodyPr/>
          <a:lstStyle/>
          <a:p>
            <a:fld id="{33C783E2-4793-4F48-A271-51A73CC37D74}" type="slidenum">
              <a:rPr lang="fr-FR" smtClean="0"/>
              <a:t>33</a:t>
            </a:fld>
            <a:endParaRPr lang="fr-FR"/>
          </a:p>
        </p:txBody>
      </p:sp>
    </p:spTree>
    <p:extLst>
      <p:ext uri="{BB962C8B-B14F-4D97-AF65-F5344CB8AC3E}">
        <p14:creationId xmlns:p14="http://schemas.microsoft.com/office/powerpoint/2010/main" val="29115317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dissolve">
                                      <p:cBhvr>
                                        <p:cTn id="15" dur="500"/>
                                        <p:tgtEl>
                                          <p:spTgt spid="11"/>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dissolve">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10" grpId="0" animBg="1"/>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29E1C-903C-8763-9FE7-17D182B403BB}"/>
              </a:ext>
            </a:extLst>
          </p:cNvPr>
          <p:cNvSpPr/>
          <p:nvPr/>
        </p:nvSpPr>
        <p:spPr>
          <a:xfrm>
            <a:off x="181323" y="929299"/>
            <a:ext cx="5120439" cy="5693866"/>
          </a:xfrm>
          <a:prstGeom prst="rect">
            <a:avLst/>
          </a:prstGeom>
          <a:solidFill>
            <a:schemeClr val="tx1"/>
          </a:solidFill>
          <a:ln>
            <a:solidFill>
              <a:schemeClr val="accent2"/>
            </a:solidFill>
          </a:ln>
        </p:spPr>
        <p:txBody>
          <a:bodyPr wrap="square">
            <a:spAutoFit/>
          </a:bodyPr>
          <a:lstStyle/>
          <a:p>
            <a:r>
              <a:rPr lang="fr-BE" sz="1400" dirty="0" err="1">
                <a:solidFill>
                  <a:srgbClr val="0000FF"/>
                </a:solidFill>
                <a:highlight>
                  <a:srgbClr val="FFFFFF"/>
                </a:highlight>
                <a:latin typeface="Consolas" panose="020B0609020204030204" pitchFamily="49" charset="0"/>
              </a:rPr>
              <a:t>namespace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ProgOO</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Personne</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Prénom;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Age;</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CalculAge</a:t>
            </a:r>
            <a:r>
              <a:rPr lang="fr-BE" sz="1400" dirty="0">
                <a:solidFill>
                  <a:srgbClr val="000000"/>
                </a:solidFill>
                <a:highlight>
                  <a:srgbClr val="FFFFFF"/>
                </a:highlight>
                <a:latin typeface="Consolas" panose="020B0609020204030204" pitchFamily="49" charset="0"/>
              </a:rPr>
              <a:t>(</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Année)</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Age = Année -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Afficher()</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Console</a:t>
            </a:r>
            <a:r>
              <a:rPr lang="fr-BE" sz="1400" dirty="0" err="1">
                <a:solidFill>
                  <a:srgbClr val="000000"/>
                </a:solidFill>
                <a:highlight>
                  <a:srgbClr val="FFFFFF"/>
                </a:highlight>
                <a:latin typeface="Consolas" panose="020B0609020204030204" pitchFamily="49" charset="0"/>
              </a:rPr>
              <a:t>.WriteLine</a:t>
            </a:r>
            <a:r>
              <a:rPr lang="fr-BE" sz="1400" dirty="0">
                <a:solidFill>
                  <a:srgbClr val="000000"/>
                </a:solidFill>
                <a:highlight>
                  <a:srgbClr val="FFFFFF"/>
                </a:highlight>
                <a:latin typeface="Consolas" panose="020B0609020204030204" pitchFamily="49" charset="0"/>
              </a:rPr>
              <a:t>(Prénom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p>
          <a:p>
            <a:r>
              <a:rPr lang="fr-BE" sz="1400" dirty="0">
                <a:solidFill>
                  <a:srgbClr val="000000"/>
                </a:solidFill>
                <a:highlight>
                  <a:srgbClr val="FFFFFF"/>
                </a:highlight>
                <a:latin typeface="Consolas" panose="020B0609020204030204" pitchFamily="49" charset="0"/>
              </a:rPr>
              <a:t>			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Age + </a:t>
            </a:r>
            <a:r>
              <a:rPr lang="fr-BE" sz="1400" dirty="0">
                <a:solidFill>
                  <a:srgbClr val="A31515"/>
                </a:solidFill>
                <a:highlight>
                  <a:srgbClr val="FFFFFF"/>
                </a:highlight>
                <a:latin typeface="Consolas" panose="020B0609020204030204" pitchFamily="49" charset="0"/>
              </a:rPr>
              <a:t>" ans)"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Program</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static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Main(</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args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p:txBody>
      </p:sp>
      <p:sp>
        <p:nvSpPr>
          <p:cNvPr id="5" name="Rectangle 4">
            <a:extLst>
              <a:ext uri="{FF2B5EF4-FFF2-40B4-BE49-F238E27FC236}">
                <a16:creationId xmlns:a16="http://schemas.microsoft.com/office/drawing/2014/main" id="{83EE6C17-BF03-B085-A22A-FFF3082B5685}"/>
              </a:ext>
            </a:extLst>
          </p:cNvPr>
          <p:cNvSpPr/>
          <p:nvPr/>
        </p:nvSpPr>
        <p:spPr>
          <a:xfrm>
            <a:off x="5603246" y="929299"/>
            <a:ext cx="5387139" cy="5047536"/>
          </a:xfrm>
          <a:prstGeom prst="rect">
            <a:avLst/>
          </a:prstGeom>
          <a:solidFill>
            <a:schemeClr val="tx1"/>
          </a:solidFill>
          <a:ln>
            <a:solidFill>
              <a:schemeClr val="accent2"/>
            </a:solidFill>
          </a:ln>
        </p:spPr>
        <p:txBody>
          <a:bodyPr wrap="square">
            <a:spAutoFit/>
          </a:bodyPr>
          <a:lstStyle/>
          <a:p>
            <a:r>
              <a:rPr lang="fr-BE" sz="1400" dirty="0">
                <a:solidFill>
                  <a:srgbClr val="0000FF"/>
                </a:solidFill>
                <a:highlight>
                  <a:srgbClr val="FFFFFF"/>
                </a:highlight>
                <a:latin typeface="Consolas" panose="020B0609020204030204" pitchFamily="49" charset="0"/>
              </a:rPr>
              <a:t>package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progOO</a:t>
            </a:r>
            <a:r>
              <a:rPr lang="fr-BE" sz="1400" dirty="0">
                <a:solidFill>
                  <a:srgbClr val="000000"/>
                </a:solidFill>
                <a:highlight>
                  <a:srgbClr val="FFFFFF"/>
                </a:highlight>
                <a:latin typeface="Consolas" panose="020B0609020204030204" pitchFamily="49" charset="0"/>
              </a:rPr>
              <a:t>;</a:t>
            </a:r>
          </a:p>
          <a:p>
            <a:endParaRPr lang="fr-BE" sz="1400" dirty="0">
              <a:solidFill>
                <a:srgbClr val="000000"/>
              </a:solidFill>
              <a:highlight>
                <a:srgbClr val="FFFFFF"/>
              </a:highlight>
              <a:latin typeface="Consolas" panose="020B0609020204030204" pitchFamily="49" charset="0"/>
            </a:endParaRPr>
          </a:p>
          <a:p>
            <a:r>
              <a:rPr lang="fr-BE" sz="1400" dirty="0" err="1">
                <a:solidFill>
                  <a:srgbClr val="0000FF"/>
                </a:solidFill>
                <a:highlight>
                  <a:srgbClr val="FFFFFF"/>
                </a:highlight>
                <a:latin typeface="Consolas" panose="020B0609020204030204" pitchFamily="49" charset="0"/>
              </a:rPr>
              <a:t>private</a:t>
            </a:r>
            <a:r>
              <a:rPr lang="fr-BE" sz="1400" dirty="0">
                <a:solidFill>
                  <a:srgbClr val="0000FF"/>
                </a:solidFill>
                <a:highlight>
                  <a:srgbClr val="FFFFFF"/>
                </a:highlight>
                <a:latin typeface="Consolas" panose="020B0609020204030204" pitchFamily="49" charset="0"/>
              </a:rPr>
              <a:t> 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Personne</a:t>
            </a:r>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nom;</a:t>
            </a:r>
          </a:p>
          <a:p>
            <a:r>
              <a:rPr lang="fr-BE" sz="1400" dirty="0">
                <a:solidFill>
                  <a:srgbClr val="0000FF"/>
                </a:solidFill>
                <a:highlight>
                  <a:srgbClr val="FFFFFF"/>
                </a:highlight>
                <a:latin typeface="Consolas" panose="020B0609020204030204" pitchFamily="49" charset="0"/>
              </a:rPr>
              <a:t>    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prénom;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pPr lvl="1"/>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a:t>
            </a:r>
          </a:p>
          <a:p>
            <a:endParaRPr lang="fr-BE" sz="1400" dirty="0">
              <a:solidFill>
                <a:srgbClr val="0000FF"/>
              </a:solidFill>
              <a:highlight>
                <a:srgbClr val="FFFFFF"/>
              </a:highlight>
              <a:latin typeface="Consolas" panose="020B0609020204030204" pitchFamily="49" charset="0"/>
            </a:endParaRPr>
          </a:p>
          <a:p>
            <a:r>
              <a:rPr lang="fr-BE" sz="1400" dirty="0">
                <a:solidFill>
                  <a:srgbClr val="0000FF"/>
                </a:solidFill>
                <a:highlight>
                  <a:srgbClr val="FFFFFF"/>
                </a:highlight>
                <a:latin typeface="Consolas" panose="020B0609020204030204" pitchFamily="49" charset="0"/>
              </a:rPr>
              <a:t>	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calculAge</a:t>
            </a:r>
            <a:r>
              <a:rPr lang="fr-BE" sz="1400" dirty="0">
                <a:solidFill>
                  <a:srgbClr val="000000"/>
                </a:solidFill>
                <a:highlight>
                  <a:srgbClr val="FFFFFF"/>
                </a:highlight>
                <a:latin typeface="Consolas" panose="020B0609020204030204" pitchFamily="49" charset="0"/>
              </a:rPr>
              <a:t>(</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année) {</a:t>
            </a:r>
          </a:p>
          <a:p>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 = année -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afficher() {</a:t>
            </a:r>
          </a:p>
          <a:p>
            <a:r>
              <a:rPr lang="fr-BE" sz="1400" dirty="0">
                <a:solidFill>
                  <a:srgbClr val="2B91AF"/>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System</a:t>
            </a:r>
            <a:r>
              <a:rPr lang="fr-BE" sz="1400" dirty="0" err="1">
                <a:solidFill>
                  <a:srgbClr val="000000"/>
                </a:solidFill>
                <a:highlight>
                  <a:srgbClr val="FFFFFF"/>
                </a:highlight>
                <a:latin typeface="Consolas" panose="020B0609020204030204" pitchFamily="49" charset="0"/>
              </a:rPr>
              <a:t>.out.println</a:t>
            </a:r>
            <a:r>
              <a:rPr lang="fr-BE" sz="1400" dirty="0">
                <a:solidFill>
                  <a:srgbClr val="000000"/>
                </a:solidFill>
                <a:highlight>
                  <a:srgbClr val="FFFFFF"/>
                </a:highlight>
                <a:latin typeface="Consolas" panose="020B0609020204030204" pitchFamily="49" charset="0"/>
              </a:rPr>
              <a:t> (prénom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p>
          <a:p>
            <a:r>
              <a:rPr lang="fr-BE" sz="1400" dirty="0">
                <a:solidFill>
                  <a:srgbClr val="000000"/>
                </a:solidFill>
                <a:highlight>
                  <a:srgbClr val="FFFFFF"/>
                </a:highlight>
                <a:latin typeface="Consolas" panose="020B0609020204030204" pitchFamily="49" charset="0"/>
              </a:rPr>
              <a:t>			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 + </a:t>
            </a:r>
            <a:r>
              <a:rPr lang="fr-BE" sz="1400" dirty="0">
                <a:solidFill>
                  <a:srgbClr val="A31515"/>
                </a:solidFill>
                <a:highlight>
                  <a:srgbClr val="FFFFFF"/>
                </a:highlight>
                <a:latin typeface="Consolas" panose="020B0609020204030204" pitchFamily="49" charset="0"/>
              </a:rPr>
              <a:t>" ans)"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a:p>
            <a:endParaRPr lang="fr-BE" sz="1400" dirty="0">
              <a:solidFill>
                <a:srgbClr val="000000"/>
              </a:solidFill>
              <a:highlight>
                <a:srgbClr val="FFFFFF"/>
              </a:highlight>
              <a:latin typeface="Consolas" panose="020B0609020204030204" pitchFamily="49" charset="0"/>
            </a:endParaRPr>
          </a:p>
          <a:p>
            <a:r>
              <a:rPr lang="fr-BE" sz="1400" dirty="0">
                <a:solidFill>
                  <a:srgbClr val="0000FF"/>
                </a:solidFill>
                <a:highlight>
                  <a:srgbClr val="FFFFFF"/>
                </a:highlight>
                <a:latin typeface="Consolas" panose="020B0609020204030204" pitchFamily="49" charset="0"/>
              </a:rPr>
              <a:t>public 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Program</a:t>
            </a:r>
            <a:r>
              <a:rPr lang="fr-BE" sz="1400" dirty="0">
                <a:solidFill>
                  <a:srgbClr val="000000"/>
                </a:solidFill>
                <a:highlight>
                  <a:srgbClr val="FFFFFF"/>
                </a:highlight>
                <a:latin typeface="Consolas" panose="020B0609020204030204" pitchFamily="49" charset="0"/>
              </a:rPr>
              <a:t> {</a:t>
            </a:r>
          </a:p>
          <a:p>
            <a:r>
              <a:rPr lang="fr-BE" sz="1400" dirty="0">
                <a:solidFill>
                  <a:srgbClr val="0000FF"/>
                </a:solidFill>
                <a:highlight>
                  <a:srgbClr val="FFFFFF"/>
                </a:highlight>
                <a:latin typeface="Consolas" panose="020B0609020204030204" pitchFamily="49" charset="0"/>
              </a:rPr>
              <a:t>	public </a:t>
            </a:r>
            <a:r>
              <a:rPr lang="fr-BE" sz="1400" dirty="0" err="1">
                <a:solidFill>
                  <a:srgbClr val="0000FF"/>
                </a:solidFill>
                <a:highlight>
                  <a:srgbClr val="FFFFFF"/>
                </a:highlight>
                <a:latin typeface="Consolas" panose="020B0609020204030204" pitchFamily="49" charset="0"/>
              </a:rPr>
              <a:t>static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main(</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args)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p:txBody>
      </p:sp>
      <p:sp>
        <p:nvSpPr>
          <p:cNvPr id="8" name="ZoneTexte 7">
            <a:extLst>
              <a:ext uri="{FF2B5EF4-FFF2-40B4-BE49-F238E27FC236}">
                <a16:creationId xmlns:a16="http://schemas.microsoft.com/office/drawing/2014/main" id="{72906EC3-5CA3-8908-9C73-DE42C5141BE0}"/>
              </a:ext>
            </a:extLst>
          </p:cNvPr>
          <p:cNvSpPr txBox="1"/>
          <p:nvPr/>
        </p:nvSpPr>
        <p:spPr>
          <a:xfrm>
            <a:off x="3921370" y="1084429"/>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C#</a:t>
            </a:r>
          </a:p>
        </p:txBody>
      </p:sp>
      <p:sp>
        <p:nvSpPr>
          <p:cNvPr id="9" name="ZoneTexte 8">
            <a:extLst>
              <a:ext uri="{FF2B5EF4-FFF2-40B4-BE49-F238E27FC236}">
                <a16:creationId xmlns:a16="http://schemas.microsoft.com/office/drawing/2014/main" id="{4E7BBA15-2B0A-3462-B23C-080152B71CD4}"/>
              </a:ext>
            </a:extLst>
          </p:cNvPr>
          <p:cNvSpPr txBox="1"/>
          <p:nvPr/>
        </p:nvSpPr>
        <p:spPr>
          <a:xfrm>
            <a:off x="9821012" y="5554130"/>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java</a:t>
            </a:r>
          </a:p>
        </p:txBody>
      </p:sp>
      <p:sp>
        <p:nvSpPr>
          <p:cNvPr id="12" name="ZoneTexte 11">
            <a:extLst>
              <a:ext uri="{FF2B5EF4-FFF2-40B4-BE49-F238E27FC236}">
                <a16:creationId xmlns:a16="http://schemas.microsoft.com/office/drawing/2014/main" id="{834A9555-F5FE-097B-42C9-125B7528794A}"/>
              </a:ext>
            </a:extLst>
          </p:cNvPr>
          <p:cNvSpPr txBox="1"/>
          <p:nvPr/>
        </p:nvSpPr>
        <p:spPr>
          <a:xfrm>
            <a:off x="7787242" y="3147071"/>
            <a:ext cx="3633966" cy="374571"/>
          </a:xfrm>
          <a:prstGeom prst="roundRect">
            <a:avLst/>
          </a:prstGeom>
          <a:solidFill>
            <a:schemeClr val="tx1"/>
          </a:solidFill>
          <a:ln>
            <a:solidFill>
              <a:schemeClr val="accent4"/>
            </a:solidFill>
          </a:ln>
          <a:effectLst>
            <a:outerShdw blurRad="50800" dist="38100" dir="2700000" algn="tl" rotWithShape="0">
              <a:prstClr val="black">
                <a:alpha val="40000"/>
              </a:prstClr>
            </a:outerShdw>
          </a:effectLst>
        </p:spPr>
        <p:txBody>
          <a:bodyPr wrap="square" rtlCol="0">
            <a:spAutoFit/>
          </a:bodyPr>
          <a:lstStyle/>
          <a:p>
            <a:r>
              <a:rPr lang="fr-FR" sz="1600" dirty="0">
                <a:solidFill>
                  <a:schemeClr val="accent1"/>
                </a:solidFill>
              </a:rPr>
              <a:t>Dans un fichier, une seule classe public</a:t>
            </a:r>
          </a:p>
        </p:txBody>
      </p:sp>
      <p:sp>
        <p:nvSpPr>
          <p:cNvPr id="13" name="Titre 3">
            <a:extLst>
              <a:ext uri="{FF2B5EF4-FFF2-40B4-BE49-F238E27FC236}">
                <a16:creationId xmlns:a16="http://schemas.microsoft.com/office/drawing/2014/main" id="{26FDD514-3208-94C0-037A-C5D6D46E9A3D}"/>
              </a:ext>
            </a:extLst>
          </p:cNvPr>
          <p:cNvSpPr>
            <a:spLocks noGrp="1"/>
          </p:cNvSpPr>
          <p:nvPr>
            <p:ph type="title"/>
          </p:nvPr>
        </p:nvSpPr>
        <p:spPr>
          <a:xfrm>
            <a:off x="838200" y="126256"/>
            <a:ext cx="10515600" cy="803043"/>
          </a:xfrm>
        </p:spPr>
        <p:txBody>
          <a:bodyPr>
            <a:normAutofit/>
          </a:bodyPr>
          <a:lstStyle/>
          <a:p>
            <a:r>
              <a:rPr lang="fr-FR" dirty="0"/>
              <a:t>Lien entre fichier et classe</a:t>
            </a:r>
          </a:p>
        </p:txBody>
      </p:sp>
      <p:sp>
        <p:nvSpPr>
          <p:cNvPr id="3" name="ZoneTexte 2">
            <a:extLst>
              <a:ext uri="{FF2B5EF4-FFF2-40B4-BE49-F238E27FC236}">
                <a16:creationId xmlns:a16="http://schemas.microsoft.com/office/drawing/2014/main" id="{FF0ECBC9-F127-83F5-1A59-01A6DC9B1309}"/>
              </a:ext>
            </a:extLst>
          </p:cNvPr>
          <p:cNvSpPr txBox="1"/>
          <p:nvPr/>
        </p:nvSpPr>
        <p:spPr>
          <a:xfrm>
            <a:off x="14510018" y="4238460"/>
            <a:ext cx="3089034" cy="646986"/>
          </a:xfrm>
          <a:prstGeom prst="roundRect">
            <a:avLst/>
          </a:prstGeom>
          <a:solidFill>
            <a:schemeClr val="tx1"/>
          </a:solidFill>
          <a:ln>
            <a:solidFill>
              <a:schemeClr val="accent4"/>
            </a:solidFill>
          </a:ln>
        </p:spPr>
        <p:txBody>
          <a:bodyPr wrap="square" rtlCol="0">
            <a:spAutoFit/>
          </a:bodyPr>
          <a:lstStyle/>
          <a:p>
            <a:r>
              <a:rPr lang="fr-FR" sz="1600" dirty="0" err="1">
                <a:solidFill>
                  <a:schemeClr val="accent1"/>
                </a:solidFill>
              </a:rPr>
              <a:t>System.out.println</a:t>
            </a:r>
            <a:r>
              <a:rPr lang="fr-FR" sz="1600" dirty="0">
                <a:solidFill>
                  <a:schemeClr val="accent1"/>
                </a:solidFill>
              </a:rPr>
              <a:t>: les classes du </a:t>
            </a:r>
            <a:r>
              <a:rPr lang="fr-FR" sz="1600" dirty="0" err="1">
                <a:solidFill>
                  <a:schemeClr val="accent1"/>
                </a:solidFill>
              </a:rPr>
              <a:t>framework</a:t>
            </a:r>
            <a:r>
              <a:rPr lang="fr-FR" sz="1600" dirty="0">
                <a:solidFill>
                  <a:schemeClr val="accent1"/>
                </a:solidFill>
              </a:rPr>
              <a:t> sont différentes</a:t>
            </a:r>
          </a:p>
        </p:txBody>
      </p:sp>
      <p:sp>
        <p:nvSpPr>
          <p:cNvPr id="14" name="ZoneTexte 13">
            <a:extLst>
              <a:ext uri="{FF2B5EF4-FFF2-40B4-BE49-F238E27FC236}">
                <a16:creationId xmlns:a16="http://schemas.microsoft.com/office/drawing/2014/main" id="{460CD13D-4111-62BC-09FC-0FCD9041AEA6}"/>
              </a:ext>
            </a:extLst>
          </p:cNvPr>
          <p:cNvSpPr txBox="1"/>
          <p:nvPr/>
        </p:nvSpPr>
        <p:spPr>
          <a:xfrm>
            <a:off x="12614188" y="5503068"/>
            <a:ext cx="3203143" cy="374571"/>
          </a:xfrm>
          <a:prstGeom prst="roundRect">
            <a:avLst/>
          </a:prstGeom>
          <a:solidFill>
            <a:schemeClr val="tx1"/>
          </a:solidFill>
          <a:ln>
            <a:solidFill>
              <a:schemeClr val="accent4"/>
            </a:solidFill>
          </a:ln>
        </p:spPr>
        <p:txBody>
          <a:bodyPr wrap="square" rtlCol="0">
            <a:spAutoFit/>
          </a:bodyPr>
          <a:lstStyle/>
          <a:p>
            <a:r>
              <a:rPr lang="fr-FR" sz="1600" dirty="0">
                <a:solidFill>
                  <a:schemeClr val="accent1"/>
                </a:solidFill>
              </a:rPr>
              <a:t>La méthode main </a:t>
            </a:r>
            <a:r>
              <a:rPr lang="fr-FR" sz="1600" u="sng" dirty="0">
                <a:solidFill>
                  <a:schemeClr val="accent1"/>
                </a:solidFill>
              </a:rPr>
              <a:t>doit</a:t>
            </a:r>
            <a:r>
              <a:rPr lang="fr-FR" sz="1600" dirty="0">
                <a:solidFill>
                  <a:schemeClr val="accent1"/>
                </a:solidFill>
              </a:rPr>
              <a:t> être public</a:t>
            </a:r>
          </a:p>
        </p:txBody>
      </p:sp>
      <p:sp>
        <p:nvSpPr>
          <p:cNvPr id="6" name="Rectangle : avec coins arrondis en haut 5">
            <a:extLst>
              <a:ext uri="{FF2B5EF4-FFF2-40B4-BE49-F238E27FC236}">
                <a16:creationId xmlns:a16="http://schemas.microsoft.com/office/drawing/2014/main" id="{9A1D5F54-2498-AF28-BDA5-91372D152C0E}"/>
              </a:ext>
            </a:extLst>
          </p:cNvPr>
          <p:cNvSpPr/>
          <p:nvPr/>
        </p:nvSpPr>
        <p:spPr>
          <a:xfrm>
            <a:off x="5663733" y="1379156"/>
            <a:ext cx="1349809"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 avec coins arrondis en haut 10">
            <a:extLst>
              <a:ext uri="{FF2B5EF4-FFF2-40B4-BE49-F238E27FC236}">
                <a16:creationId xmlns:a16="http://schemas.microsoft.com/office/drawing/2014/main" id="{623559B8-680A-97B4-CDEF-54F97AA166F6}"/>
              </a:ext>
            </a:extLst>
          </p:cNvPr>
          <p:cNvSpPr/>
          <p:nvPr/>
        </p:nvSpPr>
        <p:spPr>
          <a:xfrm>
            <a:off x="5663733" y="4769727"/>
            <a:ext cx="1236687"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 avec coins arrondis en haut 14">
            <a:extLst>
              <a:ext uri="{FF2B5EF4-FFF2-40B4-BE49-F238E27FC236}">
                <a16:creationId xmlns:a16="http://schemas.microsoft.com/office/drawing/2014/main" id="{F11671D9-3DB0-D7DB-4E7D-C37951993608}"/>
              </a:ext>
            </a:extLst>
          </p:cNvPr>
          <p:cNvSpPr/>
          <p:nvPr/>
        </p:nvSpPr>
        <p:spPr>
          <a:xfrm>
            <a:off x="577704" y="1372004"/>
            <a:ext cx="633372"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 avec coins arrondis en haut 16">
            <a:extLst>
              <a:ext uri="{FF2B5EF4-FFF2-40B4-BE49-F238E27FC236}">
                <a16:creationId xmlns:a16="http://schemas.microsoft.com/office/drawing/2014/main" id="{182C1C6D-A1BC-9EEC-4F85-906FB0BBD1CA}"/>
              </a:ext>
            </a:extLst>
          </p:cNvPr>
          <p:cNvSpPr/>
          <p:nvPr/>
        </p:nvSpPr>
        <p:spPr>
          <a:xfrm>
            <a:off x="577704" y="4790856"/>
            <a:ext cx="633372"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Espace réservé du numéro de diapositive 1">
            <a:extLst>
              <a:ext uri="{FF2B5EF4-FFF2-40B4-BE49-F238E27FC236}">
                <a16:creationId xmlns:a16="http://schemas.microsoft.com/office/drawing/2014/main" id="{69009FCB-F6FC-1F9F-3840-AD6E27C8616B}"/>
              </a:ext>
            </a:extLst>
          </p:cNvPr>
          <p:cNvSpPr>
            <a:spLocks noGrp="1"/>
          </p:cNvSpPr>
          <p:nvPr>
            <p:ph type="sldNum" sz="quarter" idx="4"/>
          </p:nvPr>
        </p:nvSpPr>
        <p:spPr/>
        <p:txBody>
          <a:bodyPr/>
          <a:lstStyle/>
          <a:p>
            <a:fld id="{33C783E2-4793-4F48-A271-51A73CC37D74}" type="slidenum">
              <a:rPr lang="fr-FR" smtClean="0"/>
              <a:t>34</a:t>
            </a:fld>
            <a:endParaRPr lang="fr-FR"/>
          </a:p>
        </p:txBody>
      </p:sp>
    </p:spTree>
    <p:extLst>
      <p:ext uri="{BB962C8B-B14F-4D97-AF65-F5344CB8AC3E}">
        <p14:creationId xmlns:p14="http://schemas.microsoft.com/office/powerpoint/2010/main" val="13280632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dissolve">
                                      <p:cBhvr>
                                        <p:cTn id="15" dur="500"/>
                                        <p:tgtEl>
                                          <p:spTgt spid="1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dissolve">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5" grpId="0" animBg="1"/>
      <p:bldP spid="1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29E1C-903C-8763-9FE7-17D182B403BB}"/>
              </a:ext>
            </a:extLst>
          </p:cNvPr>
          <p:cNvSpPr/>
          <p:nvPr/>
        </p:nvSpPr>
        <p:spPr>
          <a:xfrm>
            <a:off x="181323" y="929299"/>
            <a:ext cx="5120439" cy="5693866"/>
          </a:xfrm>
          <a:prstGeom prst="rect">
            <a:avLst/>
          </a:prstGeom>
          <a:solidFill>
            <a:schemeClr val="tx1"/>
          </a:solidFill>
          <a:ln>
            <a:solidFill>
              <a:schemeClr val="accent2"/>
            </a:solidFill>
          </a:ln>
        </p:spPr>
        <p:txBody>
          <a:bodyPr wrap="square">
            <a:spAutoFit/>
          </a:bodyPr>
          <a:lstStyle/>
          <a:p>
            <a:r>
              <a:rPr lang="fr-BE" sz="1400" dirty="0" err="1">
                <a:solidFill>
                  <a:srgbClr val="0000FF"/>
                </a:solidFill>
                <a:highlight>
                  <a:srgbClr val="FFFFFF"/>
                </a:highlight>
                <a:latin typeface="Consolas" panose="020B0609020204030204" pitchFamily="49" charset="0"/>
              </a:rPr>
              <a:t>namespace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ProgOO</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Personne</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Prénom;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Age;</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CalculAge</a:t>
            </a:r>
            <a:r>
              <a:rPr lang="fr-BE" sz="1400" dirty="0">
                <a:solidFill>
                  <a:srgbClr val="000000"/>
                </a:solidFill>
                <a:highlight>
                  <a:srgbClr val="FFFFFF"/>
                </a:highlight>
                <a:latin typeface="Consolas" panose="020B0609020204030204" pitchFamily="49" charset="0"/>
              </a:rPr>
              <a:t>(</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Année)</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Age = Année -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Afficher()</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Console</a:t>
            </a:r>
            <a:r>
              <a:rPr lang="fr-BE" sz="1400" dirty="0" err="1">
                <a:solidFill>
                  <a:srgbClr val="000000"/>
                </a:solidFill>
                <a:highlight>
                  <a:srgbClr val="FFFFFF"/>
                </a:highlight>
                <a:latin typeface="Consolas" panose="020B0609020204030204" pitchFamily="49" charset="0"/>
              </a:rPr>
              <a:t>.WriteLine</a:t>
            </a:r>
            <a:r>
              <a:rPr lang="fr-BE" sz="1400" dirty="0">
                <a:solidFill>
                  <a:srgbClr val="000000"/>
                </a:solidFill>
                <a:highlight>
                  <a:srgbClr val="FFFFFF"/>
                </a:highlight>
                <a:latin typeface="Consolas" panose="020B0609020204030204" pitchFamily="49" charset="0"/>
              </a:rPr>
              <a:t>(Prénom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p>
          <a:p>
            <a:r>
              <a:rPr lang="fr-BE" sz="1400" dirty="0">
                <a:solidFill>
                  <a:srgbClr val="000000"/>
                </a:solidFill>
                <a:highlight>
                  <a:srgbClr val="FFFFFF"/>
                </a:highlight>
                <a:latin typeface="Consolas" panose="020B0609020204030204" pitchFamily="49" charset="0"/>
              </a:rPr>
              <a:t>			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Age + </a:t>
            </a:r>
            <a:r>
              <a:rPr lang="fr-BE" sz="1400" dirty="0">
                <a:solidFill>
                  <a:srgbClr val="A31515"/>
                </a:solidFill>
                <a:highlight>
                  <a:srgbClr val="FFFFFF"/>
                </a:highlight>
                <a:latin typeface="Consolas" panose="020B0609020204030204" pitchFamily="49" charset="0"/>
              </a:rPr>
              <a:t>" ans)"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Program</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static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Main(</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args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p:txBody>
      </p:sp>
      <p:sp>
        <p:nvSpPr>
          <p:cNvPr id="5" name="Rectangle 4">
            <a:extLst>
              <a:ext uri="{FF2B5EF4-FFF2-40B4-BE49-F238E27FC236}">
                <a16:creationId xmlns:a16="http://schemas.microsoft.com/office/drawing/2014/main" id="{83EE6C17-BF03-B085-A22A-FFF3082B5685}"/>
              </a:ext>
            </a:extLst>
          </p:cNvPr>
          <p:cNvSpPr/>
          <p:nvPr/>
        </p:nvSpPr>
        <p:spPr>
          <a:xfrm>
            <a:off x="5603246" y="929299"/>
            <a:ext cx="5387139" cy="5047536"/>
          </a:xfrm>
          <a:prstGeom prst="rect">
            <a:avLst/>
          </a:prstGeom>
          <a:solidFill>
            <a:schemeClr val="tx1"/>
          </a:solidFill>
          <a:ln>
            <a:solidFill>
              <a:schemeClr val="accent2"/>
            </a:solidFill>
          </a:ln>
        </p:spPr>
        <p:txBody>
          <a:bodyPr wrap="square">
            <a:spAutoFit/>
          </a:bodyPr>
          <a:lstStyle/>
          <a:p>
            <a:r>
              <a:rPr lang="fr-BE" sz="1400" dirty="0">
                <a:solidFill>
                  <a:srgbClr val="0000FF"/>
                </a:solidFill>
                <a:highlight>
                  <a:srgbClr val="FFFFFF"/>
                </a:highlight>
                <a:latin typeface="Consolas" panose="020B0609020204030204" pitchFamily="49" charset="0"/>
              </a:rPr>
              <a:t>package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progOO</a:t>
            </a:r>
            <a:r>
              <a:rPr lang="fr-BE" sz="1400" dirty="0">
                <a:solidFill>
                  <a:srgbClr val="000000"/>
                </a:solidFill>
                <a:highlight>
                  <a:srgbClr val="FFFFFF"/>
                </a:highlight>
                <a:latin typeface="Consolas" panose="020B0609020204030204" pitchFamily="49" charset="0"/>
              </a:rPr>
              <a:t>;</a:t>
            </a:r>
          </a:p>
          <a:p>
            <a:endParaRPr lang="fr-BE" sz="1400" dirty="0">
              <a:solidFill>
                <a:srgbClr val="000000"/>
              </a:solidFill>
              <a:highlight>
                <a:srgbClr val="FFFFFF"/>
              </a:highlight>
              <a:latin typeface="Consolas" panose="020B0609020204030204" pitchFamily="49" charset="0"/>
            </a:endParaRPr>
          </a:p>
          <a:p>
            <a:r>
              <a:rPr lang="fr-BE" sz="1400" dirty="0" err="1">
                <a:solidFill>
                  <a:srgbClr val="0000FF"/>
                </a:solidFill>
                <a:highlight>
                  <a:srgbClr val="FFFFFF"/>
                </a:highlight>
                <a:latin typeface="Consolas" panose="020B0609020204030204" pitchFamily="49" charset="0"/>
              </a:rPr>
              <a:t>private</a:t>
            </a:r>
            <a:r>
              <a:rPr lang="fr-BE" sz="1400" dirty="0">
                <a:solidFill>
                  <a:srgbClr val="0000FF"/>
                </a:solidFill>
                <a:highlight>
                  <a:srgbClr val="FFFFFF"/>
                </a:highlight>
                <a:latin typeface="Consolas" panose="020B0609020204030204" pitchFamily="49" charset="0"/>
              </a:rPr>
              <a:t> 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Personne</a:t>
            </a:r>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nom;</a:t>
            </a:r>
          </a:p>
          <a:p>
            <a:r>
              <a:rPr lang="fr-BE" sz="1400" dirty="0">
                <a:solidFill>
                  <a:srgbClr val="0000FF"/>
                </a:solidFill>
                <a:highlight>
                  <a:srgbClr val="FFFFFF"/>
                </a:highlight>
                <a:latin typeface="Consolas" panose="020B0609020204030204" pitchFamily="49" charset="0"/>
              </a:rPr>
              <a:t>    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prénom;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pPr lvl="1"/>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a:t>
            </a:r>
          </a:p>
          <a:p>
            <a:endParaRPr lang="fr-BE" sz="1400" dirty="0">
              <a:solidFill>
                <a:srgbClr val="0000FF"/>
              </a:solidFill>
              <a:highlight>
                <a:srgbClr val="FFFFFF"/>
              </a:highlight>
              <a:latin typeface="Consolas" panose="020B0609020204030204" pitchFamily="49" charset="0"/>
            </a:endParaRPr>
          </a:p>
          <a:p>
            <a:r>
              <a:rPr lang="fr-BE" sz="1400" dirty="0">
                <a:solidFill>
                  <a:srgbClr val="0000FF"/>
                </a:solidFill>
                <a:highlight>
                  <a:srgbClr val="FFFFFF"/>
                </a:highlight>
                <a:latin typeface="Consolas" panose="020B0609020204030204" pitchFamily="49" charset="0"/>
              </a:rPr>
              <a:t>	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calculAge</a:t>
            </a:r>
            <a:r>
              <a:rPr lang="fr-BE" sz="1400" dirty="0">
                <a:solidFill>
                  <a:srgbClr val="000000"/>
                </a:solidFill>
                <a:highlight>
                  <a:srgbClr val="FFFFFF"/>
                </a:highlight>
                <a:latin typeface="Consolas" panose="020B0609020204030204" pitchFamily="49" charset="0"/>
              </a:rPr>
              <a:t>(</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année) {</a:t>
            </a:r>
          </a:p>
          <a:p>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 = année -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afficher() {</a:t>
            </a:r>
          </a:p>
          <a:p>
            <a:r>
              <a:rPr lang="fr-BE" sz="1400" dirty="0">
                <a:solidFill>
                  <a:srgbClr val="2B91AF"/>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System</a:t>
            </a:r>
            <a:r>
              <a:rPr lang="fr-BE" sz="1400" dirty="0" err="1">
                <a:solidFill>
                  <a:srgbClr val="000000"/>
                </a:solidFill>
                <a:highlight>
                  <a:srgbClr val="FFFFFF"/>
                </a:highlight>
                <a:latin typeface="Consolas" panose="020B0609020204030204" pitchFamily="49" charset="0"/>
              </a:rPr>
              <a:t>.out.println</a:t>
            </a:r>
            <a:r>
              <a:rPr lang="fr-BE" sz="1400" dirty="0">
                <a:solidFill>
                  <a:srgbClr val="000000"/>
                </a:solidFill>
                <a:highlight>
                  <a:srgbClr val="FFFFFF"/>
                </a:highlight>
                <a:latin typeface="Consolas" panose="020B0609020204030204" pitchFamily="49" charset="0"/>
              </a:rPr>
              <a:t> (prénom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p>
          <a:p>
            <a:r>
              <a:rPr lang="fr-BE" sz="1400" dirty="0">
                <a:solidFill>
                  <a:srgbClr val="000000"/>
                </a:solidFill>
                <a:highlight>
                  <a:srgbClr val="FFFFFF"/>
                </a:highlight>
                <a:latin typeface="Consolas" panose="020B0609020204030204" pitchFamily="49" charset="0"/>
              </a:rPr>
              <a:t>			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 + </a:t>
            </a:r>
            <a:r>
              <a:rPr lang="fr-BE" sz="1400" dirty="0">
                <a:solidFill>
                  <a:srgbClr val="A31515"/>
                </a:solidFill>
                <a:highlight>
                  <a:srgbClr val="FFFFFF"/>
                </a:highlight>
                <a:latin typeface="Consolas" panose="020B0609020204030204" pitchFamily="49" charset="0"/>
              </a:rPr>
              <a:t>" ans)"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a:p>
            <a:endParaRPr lang="fr-BE" sz="1400" dirty="0">
              <a:solidFill>
                <a:srgbClr val="000000"/>
              </a:solidFill>
              <a:highlight>
                <a:srgbClr val="FFFFFF"/>
              </a:highlight>
              <a:latin typeface="Consolas" panose="020B0609020204030204" pitchFamily="49" charset="0"/>
            </a:endParaRPr>
          </a:p>
          <a:p>
            <a:r>
              <a:rPr lang="fr-BE" sz="1400" dirty="0">
                <a:solidFill>
                  <a:srgbClr val="0000FF"/>
                </a:solidFill>
                <a:highlight>
                  <a:srgbClr val="FFFFFF"/>
                </a:highlight>
                <a:latin typeface="Consolas" panose="020B0609020204030204" pitchFamily="49" charset="0"/>
              </a:rPr>
              <a:t>public 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Program</a:t>
            </a:r>
            <a:r>
              <a:rPr lang="fr-BE" sz="1400" dirty="0">
                <a:solidFill>
                  <a:srgbClr val="000000"/>
                </a:solidFill>
                <a:highlight>
                  <a:srgbClr val="FFFFFF"/>
                </a:highlight>
                <a:latin typeface="Consolas" panose="020B0609020204030204" pitchFamily="49" charset="0"/>
              </a:rPr>
              <a:t> {</a:t>
            </a:r>
          </a:p>
          <a:p>
            <a:r>
              <a:rPr lang="fr-BE" sz="1400" dirty="0">
                <a:solidFill>
                  <a:srgbClr val="0000FF"/>
                </a:solidFill>
                <a:highlight>
                  <a:srgbClr val="FFFFFF"/>
                </a:highlight>
                <a:latin typeface="Consolas" panose="020B0609020204030204" pitchFamily="49" charset="0"/>
              </a:rPr>
              <a:t>	public </a:t>
            </a:r>
            <a:r>
              <a:rPr lang="fr-BE" sz="1400" dirty="0" err="1">
                <a:solidFill>
                  <a:srgbClr val="0000FF"/>
                </a:solidFill>
                <a:highlight>
                  <a:srgbClr val="FFFFFF"/>
                </a:highlight>
                <a:latin typeface="Consolas" panose="020B0609020204030204" pitchFamily="49" charset="0"/>
              </a:rPr>
              <a:t>static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main(</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args)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p:txBody>
      </p:sp>
      <p:sp>
        <p:nvSpPr>
          <p:cNvPr id="8" name="ZoneTexte 7">
            <a:extLst>
              <a:ext uri="{FF2B5EF4-FFF2-40B4-BE49-F238E27FC236}">
                <a16:creationId xmlns:a16="http://schemas.microsoft.com/office/drawing/2014/main" id="{72906EC3-5CA3-8908-9C73-DE42C5141BE0}"/>
              </a:ext>
            </a:extLst>
          </p:cNvPr>
          <p:cNvSpPr txBox="1"/>
          <p:nvPr/>
        </p:nvSpPr>
        <p:spPr>
          <a:xfrm>
            <a:off x="3921370" y="1084429"/>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C#</a:t>
            </a:r>
          </a:p>
        </p:txBody>
      </p:sp>
      <p:sp>
        <p:nvSpPr>
          <p:cNvPr id="9" name="ZoneTexte 8">
            <a:extLst>
              <a:ext uri="{FF2B5EF4-FFF2-40B4-BE49-F238E27FC236}">
                <a16:creationId xmlns:a16="http://schemas.microsoft.com/office/drawing/2014/main" id="{4E7BBA15-2B0A-3462-B23C-080152B71CD4}"/>
              </a:ext>
            </a:extLst>
          </p:cNvPr>
          <p:cNvSpPr txBox="1"/>
          <p:nvPr/>
        </p:nvSpPr>
        <p:spPr>
          <a:xfrm>
            <a:off x="9821012" y="5554130"/>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java</a:t>
            </a:r>
          </a:p>
        </p:txBody>
      </p:sp>
      <p:sp>
        <p:nvSpPr>
          <p:cNvPr id="10" name="ZoneTexte 9">
            <a:extLst>
              <a:ext uri="{FF2B5EF4-FFF2-40B4-BE49-F238E27FC236}">
                <a16:creationId xmlns:a16="http://schemas.microsoft.com/office/drawing/2014/main" id="{1BF16588-4D6B-B8DF-DEA3-1B23AC710419}"/>
              </a:ext>
            </a:extLst>
          </p:cNvPr>
          <p:cNvSpPr txBox="1"/>
          <p:nvPr/>
        </p:nvSpPr>
        <p:spPr>
          <a:xfrm>
            <a:off x="8458009" y="4238460"/>
            <a:ext cx="3089034" cy="646986"/>
          </a:xfrm>
          <a:prstGeom prst="roundRect">
            <a:avLst/>
          </a:prstGeom>
          <a:solidFill>
            <a:schemeClr val="tx1"/>
          </a:solidFill>
          <a:ln>
            <a:solidFill>
              <a:schemeClr val="accent4"/>
            </a:solidFill>
          </a:ln>
          <a:effectLst>
            <a:outerShdw blurRad="50800" dist="38100" dir="2700000" algn="tl" rotWithShape="0">
              <a:prstClr val="black">
                <a:alpha val="40000"/>
              </a:prstClr>
            </a:outerShdw>
          </a:effectLst>
        </p:spPr>
        <p:txBody>
          <a:bodyPr wrap="square" rtlCol="0">
            <a:spAutoFit/>
          </a:bodyPr>
          <a:lstStyle/>
          <a:p>
            <a:r>
              <a:rPr lang="fr-FR" sz="1600" dirty="0" err="1">
                <a:solidFill>
                  <a:schemeClr val="accent1"/>
                </a:solidFill>
              </a:rPr>
              <a:t>System.out.println</a:t>
            </a:r>
            <a:r>
              <a:rPr lang="fr-FR" sz="1600" dirty="0">
                <a:solidFill>
                  <a:schemeClr val="accent1"/>
                </a:solidFill>
              </a:rPr>
              <a:t>: les classes du </a:t>
            </a:r>
            <a:r>
              <a:rPr lang="fr-FR" sz="1600" dirty="0" err="1">
                <a:solidFill>
                  <a:schemeClr val="accent1"/>
                </a:solidFill>
              </a:rPr>
              <a:t>framework</a:t>
            </a:r>
            <a:r>
              <a:rPr lang="fr-FR" sz="1600" dirty="0">
                <a:solidFill>
                  <a:schemeClr val="accent1"/>
                </a:solidFill>
              </a:rPr>
              <a:t> sont différentes</a:t>
            </a:r>
          </a:p>
        </p:txBody>
      </p:sp>
      <p:sp>
        <p:nvSpPr>
          <p:cNvPr id="13" name="Titre 3">
            <a:extLst>
              <a:ext uri="{FF2B5EF4-FFF2-40B4-BE49-F238E27FC236}">
                <a16:creationId xmlns:a16="http://schemas.microsoft.com/office/drawing/2014/main" id="{26FDD514-3208-94C0-037A-C5D6D46E9A3D}"/>
              </a:ext>
            </a:extLst>
          </p:cNvPr>
          <p:cNvSpPr>
            <a:spLocks noGrp="1"/>
          </p:cNvSpPr>
          <p:nvPr>
            <p:ph type="title"/>
          </p:nvPr>
        </p:nvSpPr>
        <p:spPr>
          <a:xfrm>
            <a:off x="838200" y="126256"/>
            <a:ext cx="10515600" cy="803043"/>
          </a:xfrm>
        </p:spPr>
        <p:txBody>
          <a:bodyPr>
            <a:normAutofit/>
          </a:bodyPr>
          <a:lstStyle/>
          <a:p>
            <a:r>
              <a:rPr lang="fr-FR" dirty="0"/>
              <a:t>Classes du Framework différentes</a:t>
            </a:r>
          </a:p>
        </p:txBody>
      </p:sp>
      <p:sp>
        <p:nvSpPr>
          <p:cNvPr id="14" name="ZoneTexte 13">
            <a:extLst>
              <a:ext uri="{FF2B5EF4-FFF2-40B4-BE49-F238E27FC236}">
                <a16:creationId xmlns:a16="http://schemas.microsoft.com/office/drawing/2014/main" id="{460CD13D-4111-62BC-09FC-0FCD9041AEA6}"/>
              </a:ext>
            </a:extLst>
          </p:cNvPr>
          <p:cNvSpPr txBox="1"/>
          <p:nvPr/>
        </p:nvSpPr>
        <p:spPr>
          <a:xfrm>
            <a:off x="12614188" y="5503068"/>
            <a:ext cx="3203143" cy="374571"/>
          </a:xfrm>
          <a:prstGeom prst="roundRect">
            <a:avLst/>
          </a:prstGeom>
          <a:solidFill>
            <a:schemeClr val="tx1"/>
          </a:solidFill>
          <a:ln>
            <a:solidFill>
              <a:schemeClr val="accent4"/>
            </a:solidFill>
          </a:ln>
        </p:spPr>
        <p:txBody>
          <a:bodyPr wrap="square" rtlCol="0">
            <a:spAutoFit/>
          </a:bodyPr>
          <a:lstStyle/>
          <a:p>
            <a:r>
              <a:rPr lang="fr-FR" sz="1600" dirty="0">
                <a:solidFill>
                  <a:schemeClr val="accent1"/>
                </a:solidFill>
              </a:rPr>
              <a:t>La méthode main </a:t>
            </a:r>
            <a:r>
              <a:rPr lang="fr-FR" sz="1600" u="sng" dirty="0">
                <a:solidFill>
                  <a:schemeClr val="accent1"/>
                </a:solidFill>
              </a:rPr>
              <a:t>doit</a:t>
            </a:r>
            <a:r>
              <a:rPr lang="fr-FR" sz="1600" dirty="0">
                <a:solidFill>
                  <a:schemeClr val="accent1"/>
                </a:solidFill>
              </a:rPr>
              <a:t> être public</a:t>
            </a:r>
          </a:p>
        </p:txBody>
      </p:sp>
      <p:sp>
        <p:nvSpPr>
          <p:cNvPr id="2" name="Rectangle : avec coins arrondis en haut 1">
            <a:extLst>
              <a:ext uri="{FF2B5EF4-FFF2-40B4-BE49-F238E27FC236}">
                <a16:creationId xmlns:a16="http://schemas.microsoft.com/office/drawing/2014/main" id="{D8FAB7DD-5D25-DC51-4C60-EE1E16CE1259}"/>
              </a:ext>
            </a:extLst>
          </p:cNvPr>
          <p:cNvSpPr/>
          <p:nvPr/>
        </p:nvSpPr>
        <p:spPr>
          <a:xfrm>
            <a:off x="6575729" y="3742518"/>
            <a:ext cx="1882279"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 avec coins arrondis en haut 2">
            <a:extLst>
              <a:ext uri="{FF2B5EF4-FFF2-40B4-BE49-F238E27FC236}">
                <a16:creationId xmlns:a16="http://schemas.microsoft.com/office/drawing/2014/main" id="{E69E9C00-AC11-BBCF-C99F-9EC01E8DD077}"/>
              </a:ext>
            </a:extLst>
          </p:cNvPr>
          <p:cNvSpPr/>
          <p:nvPr/>
        </p:nvSpPr>
        <p:spPr>
          <a:xfrm>
            <a:off x="1397836" y="3931606"/>
            <a:ext cx="1778998"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Espace réservé du numéro de diapositive 5">
            <a:extLst>
              <a:ext uri="{FF2B5EF4-FFF2-40B4-BE49-F238E27FC236}">
                <a16:creationId xmlns:a16="http://schemas.microsoft.com/office/drawing/2014/main" id="{5BA29073-04C0-9033-F275-DF75AEF43672}"/>
              </a:ext>
            </a:extLst>
          </p:cNvPr>
          <p:cNvSpPr>
            <a:spLocks noGrp="1"/>
          </p:cNvSpPr>
          <p:nvPr>
            <p:ph type="sldNum" sz="quarter" idx="4"/>
          </p:nvPr>
        </p:nvSpPr>
        <p:spPr/>
        <p:txBody>
          <a:bodyPr/>
          <a:lstStyle/>
          <a:p>
            <a:fld id="{33C783E2-4793-4F48-A271-51A73CC37D74}" type="slidenum">
              <a:rPr lang="fr-FR" smtClean="0"/>
              <a:t>35</a:t>
            </a:fld>
            <a:endParaRPr lang="fr-FR"/>
          </a:p>
        </p:txBody>
      </p:sp>
    </p:spTree>
    <p:extLst>
      <p:ext uri="{BB962C8B-B14F-4D97-AF65-F5344CB8AC3E}">
        <p14:creationId xmlns:p14="http://schemas.microsoft.com/office/powerpoint/2010/main" val="25532380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29E1C-903C-8763-9FE7-17D182B403BB}"/>
              </a:ext>
            </a:extLst>
          </p:cNvPr>
          <p:cNvSpPr/>
          <p:nvPr/>
        </p:nvSpPr>
        <p:spPr>
          <a:xfrm>
            <a:off x="181323" y="929299"/>
            <a:ext cx="5120439" cy="5693866"/>
          </a:xfrm>
          <a:prstGeom prst="rect">
            <a:avLst/>
          </a:prstGeom>
          <a:solidFill>
            <a:schemeClr val="tx1"/>
          </a:solidFill>
          <a:ln>
            <a:solidFill>
              <a:schemeClr val="accent2"/>
            </a:solidFill>
          </a:ln>
        </p:spPr>
        <p:txBody>
          <a:bodyPr wrap="square">
            <a:spAutoFit/>
          </a:bodyPr>
          <a:lstStyle/>
          <a:p>
            <a:r>
              <a:rPr lang="fr-BE" sz="1400" dirty="0" err="1">
                <a:solidFill>
                  <a:srgbClr val="0000FF"/>
                </a:solidFill>
                <a:highlight>
                  <a:srgbClr val="FFFFFF"/>
                </a:highlight>
                <a:latin typeface="Consolas" panose="020B0609020204030204" pitchFamily="49" charset="0"/>
              </a:rPr>
              <a:t>namespace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ProgOO</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Personne</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Prénom;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Age;</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CalculAge</a:t>
            </a:r>
            <a:r>
              <a:rPr lang="fr-BE" sz="1400" dirty="0">
                <a:solidFill>
                  <a:srgbClr val="000000"/>
                </a:solidFill>
                <a:highlight>
                  <a:srgbClr val="FFFFFF"/>
                </a:highlight>
                <a:latin typeface="Consolas" panose="020B0609020204030204" pitchFamily="49" charset="0"/>
              </a:rPr>
              <a:t>(</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Année)</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Age = Année -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Afficher()</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Console</a:t>
            </a:r>
            <a:r>
              <a:rPr lang="fr-BE" sz="1400" dirty="0" err="1">
                <a:solidFill>
                  <a:srgbClr val="000000"/>
                </a:solidFill>
                <a:highlight>
                  <a:srgbClr val="FFFFFF"/>
                </a:highlight>
                <a:latin typeface="Consolas" panose="020B0609020204030204" pitchFamily="49" charset="0"/>
              </a:rPr>
              <a:t>.WriteLine</a:t>
            </a:r>
            <a:r>
              <a:rPr lang="fr-BE" sz="1400" dirty="0">
                <a:solidFill>
                  <a:srgbClr val="000000"/>
                </a:solidFill>
                <a:highlight>
                  <a:srgbClr val="FFFFFF"/>
                </a:highlight>
                <a:latin typeface="Consolas" panose="020B0609020204030204" pitchFamily="49" charset="0"/>
              </a:rPr>
              <a:t>(Prénom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p>
          <a:p>
            <a:r>
              <a:rPr lang="fr-BE" sz="1400" dirty="0">
                <a:solidFill>
                  <a:srgbClr val="000000"/>
                </a:solidFill>
                <a:highlight>
                  <a:srgbClr val="FFFFFF"/>
                </a:highlight>
                <a:latin typeface="Consolas" panose="020B0609020204030204" pitchFamily="49" charset="0"/>
              </a:rPr>
              <a:t>			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Age + </a:t>
            </a:r>
            <a:r>
              <a:rPr lang="fr-BE" sz="1400" dirty="0">
                <a:solidFill>
                  <a:srgbClr val="A31515"/>
                </a:solidFill>
                <a:highlight>
                  <a:srgbClr val="FFFFFF"/>
                </a:highlight>
                <a:latin typeface="Consolas" panose="020B0609020204030204" pitchFamily="49" charset="0"/>
              </a:rPr>
              <a:t>" ans)"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Program</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static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Main(</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args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p:txBody>
      </p:sp>
      <p:sp>
        <p:nvSpPr>
          <p:cNvPr id="5" name="Rectangle 4">
            <a:extLst>
              <a:ext uri="{FF2B5EF4-FFF2-40B4-BE49-F238E27FC236}">
                <a16:creationId xmlns:a16="http://schemas.microsoft.com/office/drawing/2014/main" id="{83EE6C17-BF03-B085-A22A-FFF3082B5685}"/>
              </a:ext>
            </a:extLst>
          </p:cNvPr>
          <p:cNvSpPr/>
          <p:nvPr/>
        </p:nvSpPr>
        <p:spPr>
          <a:xfrm>
            <a:off x="5603246" y="929299"/>
            <a:ext cx="5387139" cy="5047536"/>
          </a:xfrm>
          <a:prstGeom prst="rect">
            <a:avLst/>
          </a:prstGeom>
          <a:solidFill>
            <a:schemeClr val="tx1"/>
          </a:solidFill>
          <a:ln>
            <a:solidFill>
              <a:schemeClr val="accent2"/>
            </a:solidFill>
          </a:ln>
        </p:spPr>
        <p:txBody>
          <a:bodyPr wrap="square">
            <a:spAutoFit/>
          </a:bodyPr>
          <a:lstStyle/>
          <a:p>
            <a:r>
              <a:rPr lang="fr-BE" sz="1400" dirty="0">
                <a:solidFill>
                  <a:srgbClr val="0000FF"/>
                </a:solidFill>
                <a:highlight>
                  <a:srgbClr val="FFFFFF"/>
                </a:highlight>
                <a:latin typeface="Consolas" panose="020B0609020204030204" pitchFamily="49" charset="0"/>
              </a:rPr>
              <a:t>package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progOO</a:t>
            </a:r>
            <a:r>
              <a:rPr lang="fr-BE" sz="1400" dirty="0">
                <a:solidFill>
                  <a:srgbClr val="000000"/>
                </a:solidFill>
                <a:highlight>
                  <a:srgbClr val="FFFFFF"/>
                </a:highlight>
                <a:latin typeface="Consolas" panose="020B0609020204030204" pitchFamily="49" charset="0"/>
              </a:rPr>
              <a:t>;</a:t>
            </a:r>
          </a:p>
          <a:p>
            <a:endParaRPr lang="fr-BE" sz="1400" dirty="0">
              <a:solidFill>
                <a:srgbClr val="000000"/>
              </a:solidFill>
              <a:highlight>
                <a:srgbClr val="FFFFFF"/>
              </a:highlight>
              <a:latin typeface="Consolas" panose="020B0609020204030204" pitchFamily="49" charset="0"/>
            </a:endParaRPr>
          </a:p>
          <a:p>
            <a:r>
              <a:rPr lang="fr-BE" sz="1400" dirty="0" err="1">
                <a:solidFill>
                  <a:srgbClr val="0000FF"/>
                </a:solidFill>
                <a:highlight>
                  <a:srgbClr val="FFFFFF"/>
                </a:highlight>
                <a:latin typeface="Consolas" panose="020B0609020204030204" pitchFamily="49" charset="0"/>
              </a:rPr>
              <a:t>private</a:t>
            </a:r>
            <a:r>
              <a:rPr lang="fr-BE" sz="1400" dirty="0">
                <a:solidFill>
                  <a:srgbClr val="0000FF"/>
                </a:solidFill>
                <a:highlight>
                  <a:srgbClr val="FFFFFF"/>
                </a:highlight>
                <a:latin typeface="Consolas" panose="020B0609020204030204" pitchFamily="49" charset="0"/>
              </a:rPr>
              <a:t> 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Personne</a:t>
            </a:r>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nom;</a:t>
            </a:r>
          </a:p>
          <a:p>
            <a:r>
              <a:rPr lang="fr-BE" sz="1400" dirty="0">
                <a:solidFill>
                  <a:srgbClr val="0000FF"/>
                </a:solidFill>
                <a:highlight>
                  <a:srgbClr val="FFFFFF"/>
                </a:highlight>
                <a:latin typeface="Consolas" panose="020B0609020204030204" pitchFamily="49" charset="0"/>
              </a:rPr>
              <a:t>    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prénom;</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pPr lvl="1"/>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a:t>
            </a:r>
          </a:p>
          <a:p>
            <a:endParaRPr lang="fr-BE" sz="1400" dirty="0">
              <a:solidFill>
                <a:srgbClr val="0000FF"/>
              </a:solidFill>
              <a:highlight>
                <a:srgbClr val="FFFFFF"/>
              </a:highlight>
              <a:latin typeface="Consolas" panose="020B0609020204030204" pitchFamily="49" charset="0"/>
            </a:endParaRPr>
          </a:p>
          <a:p>
            <a:r>
              <a:rPr lang="fr-BE" sz="1400" dirty="0">
                <a:solidFill>
                  <a:srgbClr val="0000FF"/>
                </a:solidFill>
                <a:highlight>
                  <a:srgbClr val="FFFFFF"/>
                </a:highlight>
                <a:latin typeface="Consolas" panose="020B0609020204030204" pitchFamily="49" charset="0"/>
              </a:rPr>
              <a:t>	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calculAge</a:t>
            </a:r>
            <a:r>
              <a:rPr lang="fr-BE" sz="1400" dirty="0">
                <a:solidFill>
                  <a:srgbClr val="000000"/>
                </a:solidFill>
                <a:highlight>
                  <a:srgbClr val="FFFFFF"/>
                </a:highlight>
                <a:latin typeface="Consolas" panose="020B0609020204030204" pitchFamily="49" charset="0"/>
              </a:rPr>
              <a:t>(</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année) {</a:t>
            </a:r>
          </a:p>
          <a:p>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 = année - </a:t>
            </a:r>
            <a:r>
              <a:rPr lang="fr-BE" sz="1400" dirty="0" err="1">
                <a:solidFill>
                  <a:srgbClr val="000000"/>
                </a:solidFill>
                <a:highlight>
                  <a:srgbClr val="FFFFFF"/>
                </a:highlight>
                <a:latin typeface="Consolas" panose="020B0609020204030204" pitchFamily="49" charset="0"/>
              </a:rPr>
              <a:t>annéeNaissance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afficher() {</a:t>
            </a:r>
          </a:p>
          <a:p>
            <a:r>
              <a:rPr lang="fr-BE" sz="1400" dirty="0">
                <a:solidFill>
                  <a:srgbClr val="2B91AF"/>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System</a:t>
            </a:r>
            <a:r>
              <a:rPr lang="fr-BE" sz="1400" dirty="0" err="1">
                <a:solidFill>
                  <a:srgbClr val="000000"/>
                </a:solidFill>
                <a:highlight>
                  <a:srgbClr val="FFFFFF"/>
                </a:highlight>
                <a:latin typeface="Consolas" panose="020B0609020204030204" pitchFamily="49" charset="0"/>
              </a:rPr>
              <a:t>.out.println</a:t>
            </a:r>
            <a:r>
              <a:rPr lang="fr-BE" sz="1400" dirty="0">
                <a:solidFill>
                  <a:srgbClr val="000000"/>
                </a:solidFill>
                <a:highlight>
                  <a:srgbClr val="FFFFFF"/>
                </a:highlight>
                <a:latin typeface="Consolas" panose="020B0609020204030204" pitchFamily="49" charset="0"/>
              </a:rPr>
              <a:t> (prénom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p>
          <a:p>
            <a:r>
              <a:rPr lang="fr-BE" sz="1400" dirty="0">
                <a:solidFill>
                  <a:srgbClr val="000000"/>
                </a:solidFill>
                <a:highlight>
                  <a:srgbClr val="FFFFFF"/>
                </a:highlight>
                <a:latin typeface="Consolas" panose="020B0609020204030204" pitchFamily="49" charset="0"/>
              </a:rPr>
              <a:t>			nom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 + </a:t>
            </a:r>
            <a:r>
              <a:rPr lang="fr-BE" sz="1400" dirty="0">
                <a:solidFill>
                  <a:srgbClr val="A31515"/>
                </a:solidFill>
                <a:highlight>
                  <a:srgbClr val="FFFFFF"/>
                </a:highlight>
                <a:latin typeface="Consolas" panose="020B0609020204030204" pitchFamily="49" charset="0"/>
              </a:rPr>
              <a:t>" ans)"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a:p>
            <a:endParaRPr lang="fr-BE" sz="1400" dirty="0">
              <a:solidFill>
                <a:srgbClr val="000000"/>
              </a:solidFill>
              <a:highlight>
                <a:srgbClr val="FFFFFF"/>
              </a:highlight>
              <a:latin typeface="Consolas" panose="020B0609020204030204" pitchFamily="49" charset="0"/>
            </a:endParaRPr>
          </a:p>
          <a:p>
            <a:r>
              <a:rPr lang="fr-BE" sz="1400" dirty="0">
                <a:solidFill>
                  <a:srgbClr val="0000FF"/>
                </a:solidFill>
                <a:highlight>
                  <a:srgbClr val="FFFFFF"/>
                </a:highlight>
                <a:latin typeface="Consolas" panose="020B0609020204030204" pitchFamily="49" charset="0"/>
              </a:rPr>
              <a:t>public 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Program</a:t>
            </a:r>
            <a:r>
              <a:rPr lang="fr-BE" sz="1400" dirty="0">
                <a:solidFill>
                  <a:srgbClr val="000000"/>
                </a:solidFill>
                <a:highlight>
                  <a:srgbClr val="FFFFFF"/>
                </a:highlight>
                <a:latin typeface="Consolas" panose="020B0609020204030204" pitchFamily="49" charset="0"/>
              </a:rPr>
              <a:t> {</a:t>
            </a:r>
          </a:p>
          <a:p>
            <a:r>
              <a:rPr lang="fr-BE" sz="1400" dirty="0">
                <a:solidFill>
                  <a:srgbClr val="0000FF"/>
                </a:solidFill>
                <a:highlight>
                  <a:srgbClr val="FFFFFF"/>
                </a:highlight>
                <a:latin typeface="Consolas" panose="020B0609020204030204" pitchFamily="49" charset="0"/>
              </a:rPr>
              <a:t>	public </a:t>
            </a:r>
            <a:r>
              <a:rPr lang="fr-BE" sz="1400" dirty="0" err="1">
                <a:solidFill>
                  <a:srgbClr val="0000FF"/>
                </a:solidFill>
                <a:highlight>
                  <a:srgbClr val="FFFFFF"/>
                </a:highlight>
                <a:latin typeface="Consolas" panose="020B0609020204030204" pitchFamily="49" charset="0"/>
              </a:rPr>
              <a:t>static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main(</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args)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p:txBody>
      </p:sp>
      <p:sp>
        <p:nvSpPr>
          <p:cNvPr id="8" name="ZoneTexte 7">
            <a:extLst>
              <a:ext uri="{FF2B5EF4-FFF2-40B4-BE49-F238E27FC236}">
                <a16:creationId xmlns:a16="http://schemas.microsoft.com/office/drawing/2014/main" id="{72906EC3-5CA3-8908-9C73-DE42C5141BE0}"/>
              </a:ext>
            </a:extLst>
          </p:cNvPr>
          <p:cNvSpPr txBox="1"/>
          <p:nvPr/>
        </p:nvSpPr>
        <p:spPr>
          <a:xfrm>
            <a:off x="3921370" y="1084429"/>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C#</a:t>
            </a:r>
          </a:p>
        </p:txBody>
      </p:sp>
      <p:sp>
        <p:nvSpPr>
          <p:cNvPr id="9" name="ZoneTexte 8">
            <a:extLst>
              <a:ext uri="{FF2B5EF4-FFF2-40B4-BE49-F238E27FC236}">
                <a16:creationId xmlns:a16="http://schemas.microsoft.com/office/drawing/2014/main" id="{4E7BBA15-2B0A-3462-B23C-080152B71CD4}"/>
              </a:ext>
            </a:extLst>
          </p:cNvPr>
          <p:cNvSpPr txBox="1"/>
          <p:nvPr/>
        </p:nvSpPr>
        <p:spPr>
          <a:xfrm>
            <a:off x="9821012" y="5554130"/>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java</a:t>
            </a:r>
          </a:p>
        </p:txBody>
      </p:sp>
      <p:sp>
        <p:nvSpPr>
          <p:cNvPr id="13" name="Titre 3">
            <a:extLst>
              <a:ext uri="{FF2B5EF4-FFF2-40B4-BE49-F238E27FC236}">
                <a16:creationId xmlns:a16="http://schemas.microsoft.com/office/drawing/2014/main" id="{26FDD514-3208-94C0-037A-C5D6D46E9A3D}"/>
              </a:ext>
            </a:extLst>
          </p:cNvPr>
          <p:cNvSpPr>
            <a:spLocks noGrp="1"/>
          </p:cNvSpPr>
          <p:nvPr>
            <p:ph type="title"/>
          </p:nvPr>
        </p:nvSpPr>
        <p:spPr>
          <a:xfrm>
            <a:off x="838200" y="126256"/>
            <a:ext cx="10515600" cy="803043"/>
          </a:xfrm>
        </p:spPr>
        <p:txBody>
          <a:bodyPr>
            <a:normAutofit/>
          </a:bodyPr>
          <a:lstStyle/>
          <a:p>
            <a:r>
              <a:rPr lang="fr-FR" dirty="0"/>
              <a:t>Méthode main rend la classe exécutable</a:t>
            </a:r>
          </a:p>
        </p:txBody>
      </p:sp>
      <p:sp>
        <p:nvSpPr>
          <p:cNvPr id="14" name="ZoneTexte 13">
            <a:extLst>
              <a:ext uri="{FF2B5EF4-FFF2-40B4-BE49-F238E27FC236}">
                <a16:creationId xmlns:a16="http://schemas.microsoft.com/office/drawing/2014/main" id="{460CD13D-4111-62BC-09FC-0FCD9041AEA6}"/>
              </a:ext>
            </a:extLst>
          </p:cNvPr>
          <p:cNvSpPr txBox="1"/>
          <p:nvPr/>
        </p:nvSpPr>
        <p:spPr>
          <a:xfrm>
            <a:off x="6367378" y="5503068"/>
            <a:ext cx="3203143" cy="374571"/>
          </a:xfrm>
          <a:prstGeom prst="roundRect">
            <a:avLst/>
          </a:prstGeom>
          <a:solidFill>
            <a:schemeClr val="tx1"/>
          </a:solidFill>
          <a:ln>
            <a:solidFill>
              <a:schemeClr val="accent4"/>
            </a:solidFill>
          </a:ln>
          <a:effectLst>
            <a:outerShdw blurRad="50800" dist="38100" dir="2700000" algn="tl" rotWithShape="0">
              <a:prstClr val="black">
                <a:alpha val="40000"/>
              </a:prstClr>
            </a:outerShdw>
          </a:effectLst>
        </p:spPr>
        <p:txBody>
          <a:bodyPr wrap="square" rtlCol="0">
            <a:spAutoFit/>
          </a:bodyPr>
          <a:lstStyle/>
          <a:p>
            <a:r>
              <a:rPr lang="fr-FR" sz="1600" dirty="0">
                <a:solidFill>
                  <a:schemeClr val="accent1"/>
                </a:solidFill>
              </a:rPr>
              <a:t>La méthode main </a:t>
            </a:r>
            <a:r>
              <a:rPr lang="fr-FR" sz="1600" u="sng" dirty="0">
                <a:solidFill>
                  <a:schemeClr val="accent1"/>
                </a:solidFill>
              </a:rPr>
              <a:t>doit</a:t>
            </a:r>
            <a:r>
              <a:rPr lang="fr-FR" sz="1600" dirty="0">
                <a:solidFill>
                  <a:schemeClr val="accent1"/>
                </a:solidFill>
              </a:rPr>
              <a:t> être public</a:t>
            </a:r>
          </a:p>
        </p:txBody>
      </p:sp>
      <p:sp>
        <p:nvSpPr>
          <p:cNvPr id="2" name="Rectangle : avec coins arrondis en haut 1">
            <a:extLst>
              <a:ext uri="{FF2B5EF4-FFF2-40B4-BE49-F238E27FC236}">
                <a16:creationId xmlns:a16="http://schemas.microsoft.com/office/drawing/2014/main" id="{7A2E198D-8DF9-CBD4-3257-F104668ABDB5}"/>
              </a:ext>
            </a:extLst>
          </p:cNvPr>
          <p:cNvSpPr/>
          <p:nvPr/>
        </p:nvSpPr>
        <p:spPr>
          <a:xfrm>
            <a:off x="6065894" y="5025980"/>
            <a:ext cx="4086774"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 avec coins arrondis en haut 2">
            <a:extLst>
              <a:ext uri="{FF2B5EF4-FFF2-40B4-BE49-F238E27FC236}">
                <a16:creationId xmlns:a16="http://schemas.microsoft.com/office/drawing/2014/main" id="{BAD2C37A-91A7-A04C-F3AA-1925D4E6612D}"/>
              </a:ext>
            </a:extLst>
          </p:cNvPr>
          <p:cNvSpPr/>
          <p:nvPr/>
        </p:nvSpPr>
        <p:spPr>
          <a:xfrm>
            <a:off x="979864" y="5215068"/>
            <a:ext cx="3203517"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Espace réservé du numéro de diapositive 5">
            <a:extLst>
              <a:ext uri="{FF2B5EF4-FFF2-40B4-BE49-F238E27FC236}">
                <a16:creationId xmlns:a16="http://schemas.microsoft.com/office/drawing/2014/main" id="{222E1D29-9002-C7EE-683C-449FF2F3E5F9}"/>
              </a:ext>
            </a:extLst>
          </p:cNvPr>
          <p:cNvSpPr>
            <a:spLocks noGrp="1"/>
          </p:cNvSpPr>
          <p:nvPr>
            <p:ph type="sldNum" sz="quarter" idx="4"/>
          </p:nvPr>
        </p:nvSpPr>
        <p:spPr/>
        <p:txBody>
          <a:bodyPr/>
          <a:lstStyle/>
          <a:p>
            <a:fld id="{33C783E2-4793-4F48-A271-51A73CC37D74}" type="slidenum">
              <a:rPr lang="fr-FR" smtClean="0"/>
              <a:t>36</a:t>
            </a:fld>
            <a:endParaRPr lang="fr-FR"/>
          </a:p>
        </p:txBody>
      </p:sp>
    </p:spTree>
    <p:extLst>
      <p:ext uri="{BB962C8B-B14F-4D97-AF65-F5344CB8AC3E}">
        <p14:creationId xmlns:p14="http://schemas.microsoft.com/office/powerpoint/2010/main" val="26181306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a:extLst>
              <a:ext uri="{FF2B5EF4-FFF2-40B4-BE49-F238E27FC236}">
                <a16:creationId xmlns:a16="http://schemas.microsoft.com/office/drawing/2014/main" id="{01FC7CA3-3ACE-D220-05C5-C1A4E990F3A6}"/>
              </a:ext>
            </a:extLst>
          </p:cNvPr>
          <p:cNvSpPr txBox="1">
            <a:spLocks/>
          </p:cNvSpPr>
          <p:nvPr/>
        </p:nvSpPr>
        <p:spPr>
          <a:xfrm>
            <a:off x="273705" y="1364289"/>
            <a:ext cx="6954032" cy="5096780"/>
          </a:xfrm>
          <a:prstGeom prst="rect">
            <a:avLst/>
          </a:prstGeom>
          <a:solidFill>
            <a:schemeClr val="tx1"/>
          </a:solidFill>
          <a:ln>
            <a:solidFill>
              <a:schemeClr val="accent2"/>
            </a:solidFill>
          </a:ln>
        </p:spPr>
        <p:txBody>
          <a:bodyPr vert="horz" wrap="square"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class</a:t>
            </a:r>
            <a:r>
              <a:rPr lang="fr-BE" sz="1200" dirty="0">
                <a:solidFill>
                  <a:srgbClr val="000000"/>
                </a:solidFill>
                <a:highlight>
                  <a:srgbClr val="FFFFFF"/>
                </a:highlight>
                <a:latin typeface="Consolas" panose="020B0609020204030204" pitchFamily="49" charset="0"/>
              </a:rPr>
              <a:t> </a:t>
            </a:r>
            <a:r>
              <a:rPr lang="fr-BE" sz="1200" dirty="0" err="1">
                <a:solidFill>
                  <a:srgbClr val="2B91AF"/>
                </a:solidFill>
                <a:highlight>
                  <a:srgbClr val="FFFFFF"/>
                </a:highlight>
                <a:latin typeface="Consolas" panose="020B0609020204030204" pitchFamily="49" charset="0"/>
              </a:rPr>
              <a:t>CompteBancaire</a:t>
            </a:r>
            <a:r>
              <a:rPr lang="fr-BE" sz="1200" dirty="0">
                <a:solidFill>
                  <a:srgbClr val="000000"/>
                </a:solidFill>
                <a:highlight>
                  <a:srgbClr val="FFFFFF"/>
                </a:highlight>
                <a:latin typeface="Consolas" panose="020B0609020204030204" pitchFamily="49" charset="0"/>
              </a:rPr>
              <a:t> {</a:t>
            </a:r>
          </a:p>
          <a:p>
            <a:pPr marL="0" indent="0">
              <a:buNone/>
            </a:pPr>
            <a:r>
              <a:rPr lang="fr-BE" sz="1200" dirty="0">
                <a:solidFill>
                  <a:srgbClr val="000000"/>
                </a:solidFill>
                <a:highlight>
                  <a:srgbClr val="FFFFFF"/>
                </a:highlight>
                <a:latin typeface="Consolas" panose="020B0609020204030204" pitchFamily="49" charset="0"/>
              </a:rPr>
              <a:t>        </a:t>
            </a:r>
            <a:r>
              <a:rPr lang="fr-BE" sz="1200" dirty="0" err="1">
                <a:solidFill>
                  <a:srgbClr val="0000FF"/>
                </a:solidFill>
                <a:highlight>
                  <a:srgbClr val="FFFFFF"/>
                </a:highlight>
                <a:latin typeface="Consolas" panose="020B0609020204030204" pitchFamily="49" charset="0"/>
              </a:rPr>
              <a:t>private</a:t>
            </a: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double</a:t>
            </a:r>
            <a:r>
              <a:rPr lang="fr-BE" sz="1200" dirty="0">
                <a:solidFill>
                  <a:srgbClr val="000000"/>
                </a:solidFill>
                <a:highlight>
                  <a:srgbClr val="FFFFFF"/>
                </a:highlight>
                <a:latin typeface="Consolas" panose="020B0609020204030204" pitchFamily="49" charset="0"/>
              </a:rPr>
              <a:t> Solde;</a:t>
            </a:r>
          </a:p>
          <a:p>
            <a:pPr marL="0" indent="0">
              <a:buNone/>
            </a:pPr>
            <a:r>
              <a:rPr lang="fr-BE" sz="1200" dirty="0">
                <a:solidFill>
                  <a:srgbClr val="000000"/>
                </a:solidFill>
                <a:highlight>
                  <a:srgbClr val="FFFFFF"/>
                </a:highlight>
                <a:latin typeface="Consolas" panose="020B0609020204030204" pitchFamily="49" charset="0"/>
              </a:rPr>
              <a:t>        </a:t>
            </a:r>
            <a:r>
              <a:rPr lang="fr-BE" sz="1200" dirty="0" err="1">
                <a:solidFill>
                  <a:srgbClr val="0000FF"/>
                </a:solidFill>
                <a:highlight>
                  <a:srgbClr val="FFFFFF"/>
                </a:highlight>
                <a:latin typeface="Consolas" panose="020B0609020204030204" pitchFamily="49" charset="0"/>
              </a:rPr>
              <a:t>private</a:t>
            </a: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long</a:t>
            </a:r>
            <a:r>
              <a:rPr lang="fr-BE" sz="1200" dirty="0">
                <a:solidFill>
                  <a:srgbClr val="000000"/>
                </a:solidFill>
                <a:highlight>
                  <a:srgbClr val="FFFFFF"/>
                </a:highlight>
                <a:latin typeface="Consolas" panose="020B0609020204030204" pitchFamily="49" charset="0"/>
              </a:rPr>
              <a:t> Numéro;</a:t>
            </a:r>
          </a:p>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public</a:t>
            </a:r>
            <a:r>
              <a:rPr lang="fr-BE" sz="1200" dirty="0">
                <a:solidFill>
                  <a:srgbClr val="000000"/>
                </a:solidFill>
                <a:highlight>
                  <a:srgbClr val="FFFFFF"/>
                </a:highlight>
                <a:latin typeface="Consolas" panose="020B0609020204030204" pitchFamily="49" charset="0"/>
              </a:rPr>
              <a:t> </a:t>
            </a:r>
            <a:r>
              <a:rPr lang="fr-BE" sz="1200" dirty="0" err="1">
                <a:solidFill>
                  <a:srgbClr val="000000"/>
                </a:solidFill>
                <a:highlight>
                  <a:srgbClr val="FFFFFF"/>
                </a:highlight>
                <a:latin typeface="Consolas" panose="020B0609020204030204" pitchFamily="49" charset="0"/>
              </a:rPr>
              <a:t>CompteBancaire</a:t>
            </a:r>
            <a:r>
              <a:rPr lang="fr-BE" sz="1200" dirty="0">
                <a:solidFill>
                  <a:srgbClr val="000000"/>
                </a:solidFill>
                <a:highlight>
                  <a:srgbClr val="FFFFFF"/>
                </a:highlight>
                <a:latin typeface="Consolas" panose="020B0609020204030204" pitchFamily="49" charset="0"/>
              </a:rPr>
              <a:t>(</a:t>
            </a:r>
            <a:r>
              <a:rPr lang="fr-BE" sz="1200" dirty="0">
                <a:solidFill>
                  <a:srgbClr val="0000FF"/>
                </a:solidFill>
                <a:highlight>
                  <a:srgbClr val="FFFFFF"/>
                </a:highlight>
                <a:latin typeface="Consolas" panose="020B0609020204030204" pitchFamily="49" charset="0"/>
              </a:rPr>
              <a:t>long</a:t>
            </a:r>
            <a:r>
              <a:rPr lang="fr-BE" sz="1200" dirty="0">
                <a:solidFill>
                  <a:srgbClr val="000000"/>
                </a:solidFill>
                <a:highlight>
                  <a:srgbClr val="FFFFFF"/>
                </a:highlight>
                <a:latin typeface="Consolas" panose="020B0609020204030204" pitchFamily="49" charset="0"/>
              </a:rPr>
              <a:t> Numéro) { </a:t>
            </a:r>
            <a:r>
              <a:rPr lang="fr-BE" sz="1200" dirty="0" err="1">
                <a:solidFill>
                  <a:srgbClr val="0000FF"/>
                </a:solidFill>
                <a:highlight>
                  <a:srgbClr val="FFFFFF"/>
                </a:highlight>
                <a:latin typeface="Consolas" panose="020B0609020204030204" pitchFamily="49" charset="0"/>
              </a:rPr>
              <a:t>this</a:t>
            </a:r>
            <a:r>
              <a:rPr lang="fr-BE" sz="1200" dirty="0" err="1">
                <a:solidFill>
                  <a:srgbClr val="000000"/>
                </a:solidFill>
                <a:highlight>
                  <a:srgbClr val="FFFFFF"/>
                </a:highlight>
                <a:latin typeface="Consolas" panose="020B0609020204030204" pitchFamily="49" charset="0"/>
              </a:rPr>
              <a:t>.Numéro</a:t>
            </a:r>
            <a:r>
              <a:rPr lang="fr-BE" sz="1200" dirty="0">
                <a:solidFill>
                  <a:srgbClr val="000000"/>
                </a:solidFill>
                <a:highlight>
                  <a:srgbClr val="FFFFFF"/>
                </a:highlight>
                <a:latin typeface="Consolas" panose="020B0609020204030204" pitchFamily="49" charset="0"/>
              </a:rPr>
              <a:t> = Numéro; Solde = 0; }</a:t>
            </a:r>
          </a:p>
          <a:p>
            <a:pPr marL="0" indent="0">
              <a:buNone/>
            </a:pPr>
            <a:r>
              <a:rPr lang="fr-BE"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GetSolde</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Solde</a:t>
            </a:r>
            <a:r>
              <a:rPr lang="en-US" sz="1200" dirty="0">
                <a:solidFill>
                  <a:srgbClr val="000000"/>
                </a:solidFill>
                <a:highlight>
                  <a:srgbClr val="FFFFFF"/>
                </a:highlight>
                <a:latin typeface="Consolas" panose="020B0609020204030204" pitchFamily="49" charset="0"/>
              </a:rPr>
              <a:t>; }</a:t>
            </a:r>
          </a:p>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public</a:t>
            </a:r>
            <a:r>
              <a:rPr lang="fr-BE" sz="1200" dirty="0">
                <a:solidFill>
                  <a:srgbClr val="000000"/>
                </a:solidFill>
                <a:highlight>
                  <a:srgbClr val="FFFFFF"/>
                </a:highlight>
                <a:latin typeface="Consolas" panose="020B0609020204030204" pitchFamily="49" charset="0"/>
              </a:rPr>
              <a:t> </a:t>
            </a:r>
            <a:r>
              <a:rPr lang="fr-BE" sz="1200" dirty="0" err="1">
                <a:solidFill>
                  <a:srgbClr val="0000FF"/>
                </a:solidFill>
                <a:highlight>
                  <a:srgbClr val="FFFFFF"/>
                </a:highlight>
                <a:latin typeface="Consolas" panose="020B0609020204030204" pitchFamily="49" charset="0"/>
              </a:rPr>
              <a:t>void</a:t>
            </a:r>
            <a:r>
              <a:rPr lang="fr-BE" sz="1200" dirty="0">
                <a:solidFill>
                  <a:srgbClr val="000000"/>
                </a:solidFill>
                <a:highlight>
                  <a:srgbClr val="FFFFFF"/>
                </a:highlight>
                <a:latin typeface="Consolas" panose="020B0609020204030204" pitchFamily="49" charset="0"/>
              </a:rPr>
              <a:t> </a:t>
            </a:r>
            <a:r>
              <a:rPr lang="fr-BE" sz="1200" dirty="0" err="1">
                <a:solidFill>
                  <a:srgbClr val="000000"/>
                </a:solidFill>
                <a:highlight>
                  <a:srgbClr val="FFFFFF"/>
                </a:highlight>
                <a:latin typeface="Consolas" panose="020B0609020204030204" pitchFamily="49" charset="0"/>
              </a:rPr>
              <a:t>SetSolde</a:t>
            </a:r>
            <a:r>
              <a:rPr lang="fr-BE" sz="1200" dirty="0">
                <a:solidFill>
                  <a:srgbClr val="000000"/>
                </a:solidFill>
                <a:highlight>
                  <a:srgbClr val="FFFFFF"/>
                </a:highlight>
                <a:latin typeface="Consolas" panose="020B0609020204030204" pitchFamily="49" charset="0"/>
              </a:rPr>
              <a:t>(</a:t>
            </a:r>
            <a:r>
              <a:rPr lang="fr-BE" sz="1200" dirty="0">
                <a:solidFill>
                  <a:srgbClr val="0000FF"/>
                </a:solidFill>
                <a:highlight>
                  <a:srgbClr val="FFFFFF"/>
                </a:highlight>
                <a:latin typeface="Consolas" panose="020B0609020204030204" pitchFamily="49" charset="0"/>
              </a:rPr>
              <a:t>double</a:t>
            </a:r>
            <a:r>
              <a:rPr lang="fr-BE" sz="1200" dirty="0">
                <a:solidFill>
                  <a:srgbClr val="000000"/>
                </a:solidFill>
                <a:highlight>
                  <a:srgbClr val="FFFFFF"/>
                </a:highlight>
                <a:latin typeface="Consolas" panose="020B0609020204030204" pitchFamily="49" charset="0"/>
              </a:rPr>
              <a:t> Solde) { </a:t>
            </a:r>
            <a:r>
              <a:rPr lang="fr-BE" sz="1200" dirty="0" err="1">
                <a:solidFill>
                  <a:srgbClr val="0000FF"/>
                </a:solidFill>
                <a:highlight>
                  <a:srgbClr val="FFFFFF"/>
                </a:highlight>
                <a:latin typeface="Consolas" panose="020B0609020204030204" pitchFamily="49" charset="0"/>
              </a:rPr>
              <a:t>this</a:t>
            </a:r>
            <a:r>
              <a:rPr lang="fr-BE" sz="1200" dirty="0" err="1">
                <a:solidFill>
                  <a:srgbClr val="000000"/>
                </a:solidFill>
                <a:highlight>
                  <a:srgbClr val="FFFFFF"/>
                </a:highlight>
                <a:latin typeface="Consolas" panose="020B0609020204030204" pitchFamily="49" charset="0"/>
              </a:rPr>
              <a:t>.Solde</a:t>
            </a:r>
            <a:r>
              <a:rPr lang="fr-BE" sz="1200" dirty="0">
                <a:solidFill>
                  <a:srgbClr val="000000"/>
                </a:solidFill>
                <a:highlight>
                  <a:srgbClr val="FFFFFF"/>
                </a:highlight>
                <a:latin typeface="Consolas" panose="020B0609020204030204" pitchFamily="49" charset="0"/>
              </a:rPr>
              <a:t> = Solde; }</a:t>
            </a:r>
          </a:p>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public</a:t>
            </a:r>
            <a:r>
              <a:rPr lang="fr-BE" sz="1200" dirty="0">
                <a:solidFill>
                  <a:srgbClr val="000000"/>
                </a:solidFill>
                <a:highlight>
                  <a:srgbClr val="FFFFFF"/>
                </a:highlight>
                <a:latin typeface="Consolas" panose="020B0609020204030204" pitchFamily="49" charset="0"/>
              </a:rPr>
              <a:t> </a:t>
            </a:r>
            <a:r>
              <a:rPr lang="fr-BE" sz="1200" dirty="0" err="1">
                <a:solidFill>
                  <a:srgbClr val="0000FF"/>
                </a:solidFill>
                <a:highlight>
                  <a:srgbClr val="FFFFFF"/>
                </a:highlight>
                <a:latin typeface="Consolas" panose="020B0609020204030204" pitchFamily="49" charset="0"/>
              </a:rPr>
              <a:t>void</a:t>
            </a:r>
            <a:r>
              <a:rPr lang="fr-BE" sz="1200" dirty="0">
                <a:solidFill>
                  <a:srgbClr val="000000"/>
                </a:solidFill>
                <a:highlight>
                  <a:srgbClr val="FFFFFF"/>
                </a:highlight>
                <a:latin typeface="Consolas" panose="020B0609020204030204" pitchFamily="49" charset="0"/>
              </a:rPr>
              <a:t> Déposer(</a:t>
            </a:r>
            <a:r>
              <a:rPr lang="fr-BE" sz="1200" dirty="0">
                <a:solidFill>
                  <a:srgbClr val="0000FF"/>
                </a:solidFill>
                <a:highlight>
                  <a:srgbClr val="FFFFFF"/>
                </a:highlight>
                <a:latin typeface="Consolas" panose="020B0609020204030204" pitchFamily="49" charset="0"/>
              </a:rPr>
              <a:t>double</a:t>
            </a:r>
            <a:r>
              <a:rPr lang="fr-BE" sz="1200" dirty="0">
                <a:solidFill>
                  <a:srgbClr val="000000"/>
                </a:solidFill>
                <a:highlight>
                  <a:srgbClr val="FFFFFF"/>
                </a:highlight>
                <a:latin typeface="Consolas" panose="020B0609020204030204" pitchFamily="49" charset="0"/>
              </a:rPr>
              <a:t> Montant) { Solde += Montant; }</a:t>
            </a:r>
          </a:p>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public</a:t>
            </a:r>
            <a:r>
              <a:rPr lang="fr-BE" sz="1200" dirty="0">
                <a:solidFill>
                  <a:srgbClr val="000000"/>
                </a:solidFill>
                <a:highlight>
                  <a:srgbClr val="FFFFFF"/>
                </a:highlight>
                <a:latin typeface="Consolas" panose="020B0609020204030204" pitchFamily="49" charset="0"/>
              </a:rPr>
              <a:t> </a:t>
            </a:r>
            <a:r>
              <a:rPr lang="fr-BE" sz="1200" dirty="0" err="1">
                <a:solidFill>
                  <a:srgbClr val="0000FF"/>
                </a:solidFill>
                <a:highlight>
                  <a:srgbClr val="FFFFFF"/>
                </a:highlight>
                <a:latin typeface="Consolas" panose="020B0609020204030204" pitchFamily="49" charset="0"/>
              </a:rPr>
              <a:t>bool</a:t>
            </a:r>
            <a:r>
              <a:rPr lang="fr-BE" sz="1200" dirty="0">
                <a:solidFill>
                  <a:srgbClr val="000000"/>
                </a:solidFill>
                <a:highlight>
                  <a:srgbClr val="FFFFFF"/>
                </a:highlight>
                <a:latin typeface="Consolas" panose="020B0609020204030204" pitchFamily="49" charset="0"/>
              </a:rPr>
              <a:t> Retirer(</a:t>
            </a:r>
            <a:r>
              <a:rPr lang="fr-BE" sz="1200" dirty="0">
                <a:solidFill>
                  <a:srgbClr val="0000FF"/>
                </a:solidFill>
                <a:highlight>
                  <a:srgbClr val="FFFFFF"/>
                </a:highlight>
                <a:latin typeface="Consolas" panose="020B0609020204030204" pitchFamily="49" charset="0"/>
              </a:rPr>
              <a:t>double</a:t>
            </a:r>
            <a:r>
              <a:rPr lang="fr-BE" sz="1200" dirty="0">
                <a:solidFill>
                  <a:srgbClr val="000000"/>
                </a:solidFill>
                <a:highlight>
                  <a:srgbClr val="FFFFFF"/>
                </a:highlight>
                <a:latin typeface="Consolas" panose="020B0609020204030204" pitchFamily="49" charset="0"/>
              </a:rPr>
              <a:t> Montant)  {</a:t>
            </a:r>
          </a:p>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if</a:t>
            </a:r>
            <a:r>
              <a:rPr lang="fr-BE" sz="1200" dirty="0">
                <a:solidFill>
                  <a:srgbClr val="000000"/>
                </a:solidFill>
                <a:highlight>
                  <a:srgbClr val="FFFFFF"/>
                </a:highlight>
                <a:latin typeface="Consolas" panose="020B0609020204030204" pitchFamily="49" charset="0"/>
              </a:rPr>
              <a:t> (Montant&gt;Solde) {</a:t>
            </a:r>
          </a:p>
          <a:p>
            <a:pPr marL="0" indent="0">
              <a:buNone/>
            </a:pPr>
            <a:r>
              <a:rPr lang="fr-BE" sz="1200" dirty="0">
                <a:solidFill>
                  <a:srgbClr val="000000"/>
                </a:solidFill>
                <a:highlight>
                  <a:srgbClr val="FFFFFF"/>
                </a:highlight>
                <a:latin typeface="Consolas" panose="020B0609020204030204" pitchFamily="49" charset="0"/>
              </a:rPr>
              <a:t>                </a:t>
            </a:r>
            <a:r>
              <a:rPr lang="fr-BE" sz="1200" dirty="0" err="1">
                <a:solidFill>
                  <a:srgbClr val="2B91AF"/>
                </a:solidFill>
                <a:highlight>
                  <a:srgbClr val="FFFFFF"/>
                </a:highlight>
                <a:latin typeface="Consolas" panose="020B0609020204030204" pitchFamily="49" charset="0"/>
              </a:rPr>
              <a:t>Console</a:t>
            </a:r>
            <a:r>
              <a:rPr lang="fr-BE" sz="1200" dirty="0" err="1">
                <a:solidFill>
                  <a:srgbClr val="000000"/>
                </a:solidFill>
                <a:highlight>
                  <a:srgbClr val="FFFFFF"/>
                </a:highlight>
                <a:latin typeface="Consolas" panose="020B0609020204030204" pitchFamily="49" charset="0"/>
              </a:rPr>
              <a:t>.WriteLine</a:t>
            </a:r>
            <a:r>
              <a:rPr lang="fr-BE" sz="1200" dirty="0">
                <a:solidFill>
                  <a:srgbClr val="000000"/>
                </a:solidFill>
                <a:highlight>
                  <a:srgbClr val="FFFFFF"/>
                </a:highlight>
                <a:latin typeface="Consolas" panose="020B0609020204030204" pitchFamily="49" charset="0"/>
              </a:rPr>
              <a:t>(</a:t>
            </a:r>
            <a:r>
              <a:rPr lang="fr-BE" sz="1200" dirty="0">
                <a:solidFill>
                  <a:srgbClr val="A31515"/>
                </a:solidFill>
                <a:highlight>
                  <a:srgbClr val="FFFFFF"/>
                </a:highlight>
                <a:latin typeface="Consolas" panose="020B0609020204030204" pitchFamily="49" charset="0"/>
              </a:rPr>
              <a:t>"Solde insuffisant"</a:t>
            </a:r>
            <a:r>
              <a:rPr lang="fr-BE" sz="1200" dirty="0">
                <a:solidFill>
                  <a:srgbClr val="000000"/>
                </a:solidFill>
                <a:highlight>
                  <a:srgbClr val="FFFFFF"/>
                </a:highlight>
                <a:latin typeface="Consolas" panose="020B0609020204030204" pitchFamily="49" charset="0"/>
              </a:rPr>
              <a:t>);</a:t>
            </a:r>
          </a:p>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return</a:t>
            </a: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false</a:t>
            </a:r>
            <a:r>
              <a:rPr lang="fr-BE" sz="1200" dirty="0">
                <a:solidFill>
                  <a:srgbClr val="000000"/>
                </a:solidFill>
                <a:highlight>
                  <a:srgbClr val="FFFFFF"/>
                </a:highlight>
                <a:latin typeface="Consolas" panose="020B0609020204030204" pitchFamily="49" charset="0"/>
              </a:rPr>
              <a:t>; }</a:t>
            </a:r>
          </a:p>
          <a:p>
            <a:pPr marL="0" indent="0">
              <a:buNone/>
            </a:pPr>
            <a:r>
              <a:rPr lang="fr-BE" sz="1200" dirty="0">
                <a:solidFill>
                  <a:srgbClr val="000000"/>
                </a:solidFill>
                <a:highlight>
                  <a:srgbClr val="FFFFFF"/>
                </a:highlight>
                <a:latin typeface="Consolas" panose="020B0609020204030204" pitchFamily="49" charset="0"/>
              </a:rPr>
              <a:t>            </a:t>
            </a:r>
            <a:r>
              <a:rPr lang="fr-BE" sz="1200" dirty="0" err="1">
                <a:solidFill>
                  <a:srgbClr val="0000FF"/>
                </a:solidFill>
                <a:highlight>
                  <a:srgbClr val="FFFFFF"/>
                </a:highlight>
                <a:latin typeface="Consolas" panose="020B0609020204030204" pitchFamily="49" charset="0"/>
              </a:rPr>
              <a:t>else</a:t>
            </a:r>
            <a:r>
              <a:rPr lang="fr-BE" sz="1200" dirty="0">
                <a:solidFill>
                  <a:srgbClr val="0000FF"/>
                </a:solidFill>
                <a:highlight>
                  <a:srgbClr val="FFFFFF"/>
                </a:highlight>
                <a:latin typeface="Consolas" panose="020B0609020204030204" pitchFamily="49" charset="0"/>
              </a:rPr>
              <a:t> </a:t>
            </a:r>
            <a:r>
              <a:rPr lang="fr-BE" sz="1200" dirty="0">
                <a:solidFill>
                  <a:srgbClr val="000000"/>
                </a:solidFill>
                <a:highlight>
                  <a:srgbClr val="FFFFFF"/>
                </a:highlight>
                <a:latin typeface="Consolas" panose="020B0609020204030204" pitchFamily="49" charset="0"/>
              </a:rPr>
              <a:t>{</a:t>
            </a:r>
          </a:p>
          <a:p>
            <a:pPr marL="0" indent="0">
              <a:buNone/>
            </a:pPr>
            <a:r>
              <a:rPr lang="fr-BE" sz="1200" dirty="0">
                <a:solidFill>
                  <a:srgbClr val="000000"/>
                </a:solidFill>
                <a:highlight>
                  <a:srgbClr val="FFFFFF"/>
                </a:highlight>
                <a:latin typeface="Consolas" panose="020B0609020204030204" pitchFamily="49" charset="0"/>
              </a:rPr>
              <a:t>                Solde -= Montant;</a:t>
            </a:r>
          </a:p>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return</a:t>
            </a:r>
            <a:r>
              <a:rPr lang="fr-BE" sz="1200" dirty="0">
                <a:solidFill>
                  <a:srgbClr val="000000"/>
                </a:solidFill>
                <a:highlight>
                  <a:srgbClr val="FFFFFF"/>
                </a:highlight>
                <a:latin typeface="Consolas" panose="020B0609020204030204" pitchFamily="49" charset="0"/>
              </a:rPr>
              <a:t> </a:t>
            </a:r>
            <a:r>
              <a:rPr lang="fr-BE" sz="1200" dirty="0" err="1">
                <a:solidFill>
                  <a:srgbClr val="0000FF"/>
                </a:solidFill>
                <a:highlight>
                  <a:srgbClr val="FFFFFF"/>
                </a:highlight>
                <a:latin typeface="Consolas" panose="020B0609020204030204" pitchFamily="49" charset="0"/>
              </a:rPr>
              <a:t>true</a:t>
            </a:r>
            <a:r>
              <a:rPr lang="fr-BE" sz="1200" dirty="0">
                <a:solidFill>
                  <a:srgbClr val="000000"/>
                </a:solidFill>
                <a:highlight>
                  <a:srgbClr val="FFFFFF"/>
                </a:highlight>
                <a:latin typeface="Consolas" panose="020B0609020204030204" pitchFamily="49" charset="0"/>
              </a:rPr>
              <a:t>;  }</a:t>
            </a:r>
          </a:p>
          <a:p>
            <a:pPr marL="0" indent="0">
              <a:buNone/>
            </a:pPr>
            <a:r>
              <a:rPr lang="fr-BE" sz="1200" dirty="0">
                <a:solidFill>
                  <a:srgbClr val="000000"/>
                </a:solidFill>
                <a:highlight>
                  <a:srgbClr val="FFFFFF"/>
                </a:highlight>
                <a:latin typeface="Consolas" panose="020B0609020204030204" pitchFamily="49" charset="0"/>
              </a:rPr>
              <a:t>        }</a:t>
            </a:r>
          </a:p>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public</a:t>
            </a:r>
            <a:r>
              <a:rPr lang="fr-BE" sz="1200" dirty="0">
                <a:solidFill>
                  <a:srgbClr val="000000"/>
                </a:solidFill>
                <a:highlight>
                  <a:srgbClr val="FFFFFF"/>
                </a:highlight>
                <a:latin typeface="Consolas" panose="020B0609020204030204" pitchFamily="49" charset="0"/>
              </a:rPr>
              <a:t> </a:t>
            </a:r>
            <a:r>
              <a:rPr lang="fr-BE" sz="1200" dirty="0" err="1">
                <a:solidFill>
                  <a:srgbClr val="0000FF"/>
                </a:solidFill>
                <a:highlight>
                  <a:srgbClr val="FFFFFF"/>
                </a:highlight>
                <a:latin typeface="Consolas" panose="020B0609020204030204" pitchFamily="49" charset="0"/>
              </a:rPr>
              <a:t>void</a:t>
            </a:r>
            <a:r>
              <a:rPr lang="fr-BE" sz="1200" dirty="0">
                <a:solidFill>
                  <a:srgbClr val="000000"/>
                </a:solidFill>
                <a:highlight>
                  <a:srgbClr val="FFFFFF"/>
                </a:highlight>
                <a:latin typeface="Consolas" panose="020B0609020204030204" pitchFamily="49" charset="0"/>
              </a:rPr>
              <a:t> Afficher() {</a:t>
            </a:r>
          </a:p>
          <a:p>
            <a:pPr marL="0" indent="0">
              <a:buNone/>
            </a:pPr>
            <a:r>
              <a:rPr lang="it-IT" sz="1200" dirty="0">
                <a:solidFill>
                  <a:srgbClr val="000000"/>
                </a:solidFill>
                <a:highlight>
                  <a:srgbClr val="FFFFFF"/>
                </a:highlight>
                <a:latin typeface="Consolas" panose="020B0609020204030204" pitchFamily="49" charset="0"/>
              </a:rPr>
              <a:t>            </a:t>
            </a:r>
            <a:r>
              <a:rPr lang="it-IT" sz="1200" dirty="0">
                <a:solidFill>
                  <a:srgbClr val="2B91AF"/>
                </a:solidFill>
                <a:highlight>
                  <a:srgbClr val="FFFFFF"/>
                </a:highlight>
                <a:latin typeface="Consolas" panose="020B0609020204030204" pitchFamily="49" charset="0"/>
              </a:rPr>
              <a:t>Console</a:t>
            </a:r>
            <a:r>
              <a:rPr lang="it-IT" sz="1200" dirty="0">
                <a:solidFill>
                  <a:srgbClr val="000000"/>
                </a:solidFill>
                <a:highlight>
                  <a:srgbClr val="FFFFFF"/>
                </a:highlight>
                <a:latin typeface="Consolas" panose="020B0609020204030204" pitchFamily="49" charset="0"/>
              </a:rPr>
              <a:t>.WriteLine(</a:t>
            </a:r>
            <a:r>
              <a:rPr lang="it-IT" sz="1200" dirty="0">
                <a:solidFill>
                  <a:srgbClr val="A31515"/>
                </a:solidFill>
                <a:highlight>
                  <a:srgbClr val="FFFFFF"/>
                </a:highlight>
                <a:latin typeface="Consolas" panose="020B0609020204030204" pitchFamily="49" charset="0"/>
              </a:rPr>
              <a:t>"Numéro: "</a:t>
            </a:r>
            <a:r>
              <a:rPr lang="it-IT" sz="1200" dirty="0">
                <a:solidFill>
                  <a:srgbClr val="000000"/>
                </a:solidFill>
                <a:highlight>
                  <a:srgbClr val="FFFFFF"/>
                </a:highlight>
                <a:latin typeface="Consolas" panose="020B0609020204030204" pitchFamily="49" charset="0"/>
              </a:rPr>
              <a:t> + Numéro + </a:t>
            </a:r>
            <a:r>
              <a:rPr lang="it-IT" sz="1200" dirty="0">
                <a:solidFill>
                  <a:srgbClr val="A31515"/>
                </a:solidFill>
                <a:highlight>
                  <a:srgbClr val="FFFFFF"/>
                </a:highlight>
                <a:latin typeface="Consolas" panose="020B0609020204030204" pitchFamily="49" charset="0"/>
              </a:rPr>
              <a:t>", solde: "</a:t>
            </a:r>
            <a:r>
              <a:rPr lang="it-IT" sz="1200" dirty="0">
                <a:solidFill>
                  <a:srgbClr val="000000"/>
                </a:solidFill>
                <a:highlight>
                  <a:srgbClr val="FFFFFF"/>
                </a:highlight>
                <a:latin typeface="Consolas" panose="020B0609020204030204" pitchFamily="49" charset="0"/>
              </a:rPr>
              <a:t> + Solde);</a:t>
            </a:r>
          </a:p>
          <a:p>
            <a:pPr marL="0" indent="0">
              <a:buNone/>
            </a:pPr>
            <a:r>
              <a:rPr lang="fr-BE" sz="1200" dirty="0">
                <a:solidFill>
                  <a:srgbClr val="000000"/>
                </a:solidFill>
                <a:highlight>
                  <a:srgbClr val="FFFFFF"/>
                </a:highlight>
                <a:latin typeface="Consolas" panose="020B0609020204030204" pitchFamily="49" charset="0"/>
              </a:rPr>
              <a:t>        }</a:t>
            </a:r>
          </a:p>
          <a:p>
            <a:pPr marL="0" indent="0">
              <a:buNone/>
            </a:pPr>
            <a:r>
              <a:rPr lang="fr-BE" sz="1200" dirty="0">
                <a:solidFill>
                  <a:srgbClr val="000000"/>
                </a:solidFill>
                <a:highlight>
                  <a:srgbClr val="FFFFFF"/>
                </a:highlight>
                <a:latin typeface="Consolas" panose="020B0609020204030204" pitchFamily="49" charset="0"/>
              </a:rPr>
              <a:t>    }</a:t>
            </a:r>
          </a:p>
        </p:txBody>
      </p:sp>
      <p:sp>
        <p:nvSpPr>
          <p:cNvPr id="11" name="Content Placeholder 4">
            <a:extLst>
              <a:ext uri="{FF2B5EF4-FFF2-40B4-BE49-F238E27FC236}">
                <a16:creationId xmlns:a16="http://schemas.microsoft.com/office/drawing/2014/main" id="{34C76723-C747-892A-358C-FD86C9DCAC27}"/>
              </a:ext>
            </a:extLst>
          </p:cNvPr>
          <p:cNvSpPr txBox="1">
            <a:spLocks/>
          </p:cNvSpPr>
          <p:nvPr/>
        </p:nvSpPr>
        <p:spPr>
          <a:xfrm>
            <a:off x="5195562" y="1658885"/>
            <a:ext cx="6954032" cy="5096780"/>
          </a:xfrm>
          <a:prstGeom prst="rect">
            <a:avLst/>
          </a:prstGeom>
          <a:solidFill>
            <a:schemeClr val="tx1"/>
          </a:solidFill>
          <a:ln>
            <a:solidFill>
              <a:schemeClr val="accent2"/>
            </a:solidFill>
          </a:ln>
        </p:spPr>
        <p:txBody>
          <a:bodyPr vert="horz" wrap="square"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class</a:t>
            </a:r>
            <a:r>
              <a:rPr lang="fr-BE" sz="1200" dirty="0">
                <a:solidFill>
                  <a:srgbClr val="000000"/>
                </a:solidFill>
                <a:highlight>
                  <a:srgbClr val="FFFFFF"/>
                </a:highlight>
                <a:latin typeface="Consolas" panose="020B0609020204030204" pitchFamily="49" charset="0"/>
              </a:rPr>
              <a:t> </a:t>
            </a:r>
            <a:r>
              <a:rPr lang="fr-BE" sz="1200" dirty="0" err="1">
                <a:solidFill>
                  <a:srgbClr val="2B91AF"/>
                </a:solidFill>
                <a:highlight>
                  <a:srgbClr val="FFFFFF"/>
                </a:highlight>
                <a:latin typeface="Consolas" panose="020B0609020204030204" pitchFamily="49" charset="0"/>
              </a:rPr>
              <a:t>CompteBancaire</a:t>
            </a:r>
            <a:r>
              <a:rPr lang="fr-BE" sz="1200" dirty="0">
                <a:solidFill>
                  <a:srgbClr val="000000"/>
                </a:solidFill>
                <a:highlight>
                  <a:srgbClr val="FFFFFF"/>
                </a:highlight>
                <a:latin typeface="Consolas" panose="020B0609020204030204" pitchFamily="49" charset="0"/>
              </a:rPr>
              <a:t> {</a:t>
            </a:r>
          </a:p>
          <a:p>
            <a:pPr marL="0" indent="0">
              <a:buNone/>
            </a:pPr>
            <a:r>
              <a:rPr lang="fr-BE" sz="1200" dirty="0">
                <a:solidFill>
                  <a:srgbClr val="000000"/>
                </a:solidFill>
                <a:highlight>
                  <a:srgbClr val="FFFFFF"/>
                </a:highlight>
                <a:latin typeface="Consolas" panose="020B0609020204030204" pitchFamily="49" charset="0"/>
              </a:rPr>
              <a:t>        </a:t>
            </a:r>
            <a:r>
              <a:rPr lang="fr-BE" sz="1200" dirty="0" err="1">
                <a:solidFill>
                  <a:srgbClr val="0000FF"/>
                </a:solidFill>
                <a:highlight>
                  <a:srgbClr val="FFFFFF"/>
                </a:highlight>
                <a:latin typeface="Consolas" panose="020B0609020204030204" pitchFamily="49" charset="0"/>
              </a:rPr>
              <a:t>private</a:t>
            </a: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double</a:t>
            </a:r>
            <a:r>
              <a:rPr lang="fr-BE" sz="1200" dirty="0">
                <a:solidFill>
                  <a:srgbClr val="000000"/>
                </a:solidFill>
                <a:highlight>
                  <a:srgbClr val="FFFFFF"/>
                </a:highlight>
                <a:latin typeface="Consolas" panose="020B0609020204030204" pitchFamily="49" charset="0"/>
              </a:rPr>
              <a:t> solde;</a:t>
            </a:r>
          </a:p>
          <a:p>
            <a:pPr marL="0" indent="0">
              <a:buNone/>
            </a:pPr>
            <a:r>
              <a:rPr lang="fr-BE" sz="1200" dirty="0">
                <a:solidFill>
                  <a:srgbClr val="000000"/>
                </a:solidFill>
                <a:highlight>
                  <a:srgbClr val="FFFFFF"/>
                </a:highlight>
                <a:latin typeface="Consolas" panose="020B0609020204030204" pitchFamily="49" charset="0"/>
              </a:rPr>
              <a:t>        </a:t>
            </a:r>
            <a:r>
              <a:rPr lang="fr-BE" sz="1200" dirty="0" err="1">
                <a:solidFill>
                  <a:srgbClr val="0000FF"/>
                </a:solidFill>
                <a:highlight>
                  <a:srgbClr val="FFFFFF"/>
                </a:highlight>
                <a:latin typeface="Consolas" panose="020B0609020204030204" pitchFamily="49" charset="0"/>
              </a:rPr>
              <a:t>private</a:t>
            </a: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long</a:t>
            </a:r>
            <a:r>
              <a:rPr lang="fr-BE" sz="1200" dirty="0">
                <a:solidFill>
                  <a:srgbClr val="000000"/>
                </a:solidFill>
                <a:highlight>
                  <a:srgbClr val="FFFFFF"/>
                </a:highlight>
                <a:latin typeface="Consolas" panose="020B0609020204030204" pitchFamily="49" charset="0"/>
              </a:rPr>
              <a:t> numéro;</a:t>
            </a:r>
          </a:p>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public</a:t>
            </a:r>
            <a:r>
              <a:rPr lang="fr-BE" sz="1200" dirty="0">
                <a:solidFill>
                  <a:srgbClr val="000000"/>
                </a:solidFill>
                <a:highlight>
                  <a:srgbClr val="FFFFFF"/>
                </a:highlight>
                <a:latin typeface="Consolas" panose="020B0609020204030204" pitchFamily="49" charset="0"/>
              </a:rPr>
              <a:t> </a:t>
            </a:r>
            <a:r>
              <a:rPr lang="fr-BE" sz="1200" dirty="0" err="1">
                <a:solidFill>
                  <a:srgbClr val="000000"/>
                </a:solidFill>
                <a:highlight>
                  <a:srgbClr val="FFFFFF"/>
                </a:highlight>
                <a:latin typeface="Consolas" panose="020B0609020204030204" pitchFamily="49" charset="0"/>
              </a:rPr>
              <a:t>CompteBancaire</a:t>
            </a:r>
            <a:r>
              <a:rPr lang="fr-BE" sz="1200" dirty="0">
                <a:solidFill>
                  <a:srgbClr val="000000"/>
                </a:solidFill>
                <a:highlight>
                  <a:srgbClr val="FFFFFF"/>
                </a:highlight>
                <a:latin typeface="Consolas" panose="020B0609020204030204" pitchFamily="49" charset="0"/>
              </a:rPr>
              <a:t>(</a:t>
            </a:r>
            <a:r>
              <a:rPr lang="fr-BE" sz="1200" dirty="0">
                <a:solidFill>
                  <a:srgbClr val="0000FF"/>
                </a:solidFill>
                <a:highlight>
                  <a:srgbClr val="FFFFFF"/>
                </a:highlight>
                <a:latin typeface="Consolas" panose="020B0609020204030204" pitchFamily="49" charset="0"/>
              </a:rPr>
              <a:t>long</a:t>
            </a:r>
            <a:r>
              <a:rPr lang="fr-BE" sz="1200" dirty="0">
                <a:solidFill>
                  <a:srgbClr val="000000"/>
                </a:solidFill>
                <a:highlight>
                  <a:srgbClr val="FFFFFF"/>
                </a:highlight>
                <a:latin typeface="Consolas" panose="020B0609020204030204" pitchFamily="49" charset="0"/>
              </a:rPr>
              <a:t> numéro) { </a:t>
            </a:r>
            <a:r>
              <a:rPr lang="fr-BE" sz="1200" dirty="0" err="1">
                <a:solidFill>
                  <a:srgbClr val="0000FF"/>
                </a:solidFill>
                <a:highlight>
                  <a:srgbClr val="FFFFFF"/>
                </a:highlight>
                <a:latin typeface="Consolas" panose="020B0609020204030204" pitchFamily="49" charset="0"/>
              </a:rPr>
              <a:t>this</a:t>
            </a:r>
            <a:r>
              <a:rPr lang="fr-BE" sz="1200" dirty="0" err="1">
                <a:solidFill>
                  <a:srgbClr val="000000"/>
                </a:solidFill>
                <a:highlight>
                  <a:srgbClr val="FFFFFF"/>
                </a:highlight>
                <a:latin typeface="Consolas" panose="020B0609020204030204" pitchFamily="49" charset="0"/>
              </a:rPr>
              <a:t>.numéro</a:t>
            </a:r>
            <a:r>
              <a:rPr lang="fr-BE" sz="1200" dirty="0">
                <a:solidFill>
                  <a:srgbClr val="000000"/>
                </a:solidFill>
                <a:highlight>
                  <a:srgbClr val="FFFFFF"/>
                </a:highlight>
                <a:latin typeface="Consolas" panose="020B0609020204030204" pitchFamily="49" charset="0"/>
              </a:rPr>
              <a:t> = numéro; solde = 0; }</a:t>
            </a:r>
          </a:p>
          <a:p>
            <a:pPr marL="0" indent="0">
              <a:buNone/>
            </a:pPr>
            <a:r>
              <a:rPr lang="fr-BE"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getSolde</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solde</a:t>
            </a:r>
            <a:r>
              <a:rPr lang="en-US" sz="1200" dirty="0">
                <a:solidFill>
                  <a:srgbClr val="000000"/>
                </a:solidFill>
                <a:highlight>
                  <a:srgbClr val="FFFFFF"/>
                </a:highlight>
                <a:latin typeface="Consolas" panose="020B0609020204030204" pitchFamily="49" charset="0"/>
              </a:rPr>
              <a:t>; }</a:t>
            </a:r>
          </a:p>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public</a:t>
            </a:r>
            <a:r>
              <a:rPr lang="fr-BE" sz="1200" dirty="0">
                <a:solidFill>
                  <a:srgbClr val="000000"/>
                </a:solidFill>
                <a:highlight>
                  <a:srgbClr val="FFFFFF"/>
                </a:highlight>
                <a:latin typeface="Consolas" panose="020B0609020204030204" pitchFamily="49" charset="0"/>
              </a:rPr>
              <a:t> </a:t>
            </a:r>
            <a:r>
              <a:rPr lang="fr-BE" sz="1200" dirty="0" err="1">
                <a:solidFill>
                  <a:srgbClr val="0000FF"/>
                </a:solidFill>
                <a:highlight>
                  <a:srgbClr val="FFFFFF"/>
                </a:highlight>
                <a:latin typeface="Consolas" panose="020B0609020204030204" pitchFamily="49" charset="0"/>
              </a:rPr>
              <a:t>void</a:t>
            </a:r>
            <a:r>
              <a:rPr lang="fr-BE" sz="1200" dirty="0">
                <a:solidFill>
                  <a:srgbClr val="000000"/>
                </a:solidFill>
                <a:highlight>
                  <a:srgbClr val="FFFFFF"/>
                </a:highlight>
                <a:latin typeface="Consolas" panose="020B0609020204030204" pitchFamily="49" charset="0"/>
              </a:rPr>
              <a:t> </a:t>
            </a:r>
            <a:r>
              <a:rPr lang="fr-BE" sz="1200" dirty="0" err="1">
                <a:solidFill>
                  <a:srgbClr val="000000"/>
                </a:solidFill>
                <a:highlight>
                  <a:srgbClr val="FFFFFF"/>
                </a:highlight>
                <a:latin typeface="Consolas" panose="020B0609020204030204" pitchFamily="49" charset="0"/>
              </a:rPr>
              <a:t>setSolde</a:t>
            </a:r>
            <a:r>
              <a:rPr lang="fr-BE" sz="1200" dirty="0">
                <a:solidFill>
                  <a:srgbClr val="000000"/>
                </a:solidFill>
                <a:highlight>
                  <a:srgbClr val="FFFFFF"/>
                </a:highlight>
                <a:latin typeface="Consolas" panose="020B0609020204030204" pitchFamily="49" charset="0"/>
              </a:rPr>
              <a:t>(</a:t>
            </a:r>
            <a:r>
              <a:rPr lang="fr-BE" sz="1200" dirty="0">
                <a:solidFill>
                  <a:srgbClr val="0000FF"/>
                </a:solidFill>
                <a:highlight>
                  <a:srgbClr val="FFFFFF"/>
                </a:highlight>
                <a:latin typeface="Consolas" panose="020B0609020204030204" pitchFamily="49" charset="0"/>
              </a:rPr>
              <a:t>double</a:t>
            </a:r>
            <a:r>
              <a:rPr lang="fr-BE" sz="1200" dirty="0">
                <a:solidFill>
                  <a:srgbClr val="000000"/>
                </a:solidFill>
                <a:highlight>
                  <a:srgbClr val="FFFFFF"/>
                </a:highlight>
                <a:latin typeface="Consolas" panose="020B0609020204030204" pitchFamily="49" charset="0"/>
              </a:rPr>
              <a:t> solde) { </a:t>
            </a:r>
            <a:r>
              <a:rPr lang="fr-BE" sz="1200" dirty="0" err="1">
                <a:solidFill>
                  <a:srgbClr val="0000FF"/>
                </a:solidFill>
                <a:highlight>
                  <a:srgbClr val="FFFFFF"/>
                </a:highlight>
                <a:latin typeface="Consolas" panose="020B0609020204030204" pitchFamily="49" charset="0"/>
              </a:rPr>
              <a:t>this</a:t>
            </a:r>
            <a:r>
              <a:rPr lang="fr-BE" sz="1200" dirty="0" err="1">
                <a:solidFill>
                  <a:srgbClr val="000000"/>
                </a:solidFill>
                <a:highlight>
                  <a:srgbClr val="FFFFFF"/>
                </a:highlight>
                <a:latin typeface="Consolas" panose="020B0609020204030204" pitchFamily="49" charset="0"/>
              </a:rPr>
              <a:t>.solde</a:t>
            </a:r>
            <a:r>
              <a:rPr lang="fr-BE" sz="1200" dirty="0">
                <a:solidFill>
                  <a:srgbClr val="000000"/>
                </a:solidFill>
                <a:highlight>
                  <a:srgbClr val="FFFFFF"/>
                </a:highlight>
                <a:latin typeface="Consolas" panose="020B0609020204030204" pitchFamily="49" charset="0"/>
              </a:rPr>
              <a:t> = solde; }</a:t>
            </a:r>
          </a:p>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public</a:t>
            </a:r>
            <a:r>
              <a:rPr lang="fr-BE" sz="1200" dirty="0">
                <a:solidFill>
                  <a:srgbClr val="000000"/>
                </a:solidFill>
                <a:highlight>
                  <a:srgbClr val="FFFFFF"/>
                </a:highlight>
                <a:latin typeface="Consolas" panose="020B0609020204030204" pitchFamily="49" charset="0"/>
              </a:rPr>
              <a:t> </a:t>
            </a:r>
            <a:r>
              <a:rPr lang="fr-BE" sz="1200" dirty="0" err="1">
                <a:solidFill>
                  <a:srgbClr val="0000FF"/>
                </a:solidFill>
                <a:highlight>
                  <a:srgbClr val="FFFFFF"/>
                </a:highlight>
                <a:latin typeface="Consolas" panose="020B0609020204030204" pitchFamily="49" charset="0"/>
              </a:rPr>
              <a:t>void</a:t>
            </a:r>
            <a:r>
              <a:rPr lang="fr-BE" sz="1200" dirty="0">
                <a:solidFill>
                  <a:srgbClr val="000000"/>
                </a:solidFill>
                <a:highlight>
                  <a:srgbClr val="FFFFFF"/>
                </a:highlight>
                <a:latin typeface="Consolas" panose="020B0609020204030204" pitchFamily="49" charset="0"/>
              </a:rPr>
              <a:t> déposer(</a:t>
            </a:r>
            <a:r>
              <a:rPr lang="fr-BE" sz="1200" dirty="0">
                <a:solidFill>
                  <a:srgbClr val="0000FF"/>
                </a:solidFill>
                <a:highlight>
                  <a:srgbClr val="FFFFFF"/>
                </a:highlight>
                <a:latin typeface="Consolas" panose="020B0609020204030204" pitchFamily="49" charset="0"/>
              </a:rPr>
              <a:t>double</a:t>
            </a:r>
            <a:r>
              <a:rPr lang="fr-BE" sz="1200" dirty="0">
                <a:solidFill>
                  <a:srgbClr val="000000"/>
                </a:solidFill>
                <a:highlight>
                  <a:srgbClr val="FFFFFF"/>
                </a:highlight>
                <a:latin typeface="Consolas" panose="020B0609020204030204" pitchFamily="49" charset="0"/>
              </a:rPr>
              <a:t> montant) { solde += montant; }</a:t>
            </a:r>
          </a:p>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public</a:t>
            </a:r>
            <a:r>
              <a:rPr lang="fr-BE" sz="1200" dirty="0">
                <a:solidFill>
                  <a:srgbClr val="000000"/>
                </a:solidFill>
                <a:highlight>
                  <a:srgbClr val="FFFFFF"/>
                </a:highlight>
                <a:latin typeface="Consolas" panose="020B0609020204030204" pitchFamily="49" charset="0"/>
              </a:rPr>
              <a:t> </a:t>
            </a:r>
            <a:r>
              <a:rPr lang="fr-BE" sz="1200" dirty="0" err="1">
                <a:solidFill>
                  <a:srgbClr val="0000FF"/>
                </a:solidFill>
                <a:highlight>
                  <a:srgbClr val="FFFFFF"/>
                </a:highlight>
                <a:latin typeface="Consolas" panose="020B0609020204030204" pitchFamily="49" charset="0"/>
              </a:rPr>
              <a:t>bool</a:t>
            </a:r>
            <a:r>
              <a:rPr lang="fr-BE" sz="1200" dirty="0">
                <a:solidFill>
                  <a:srgbClr val="000000"/>
                </a:solidFill>
                <a:highlight>
                  <a:srgbClr val="FFFFFF"/>
                </a:highlight>
                <a:latin typeface="Consolas" panose="020B0609020204030204" pitchFamily="49" charset="0"/>
              </a:rPr>
              <a:t> retirer(</a:t>
            </a:r>
            <a:r>
              <a:rPr lang="fr-BE" sz="1200" dirty="0">
                <a:solidFill>
                  <a:srgbClr val="0000FF"/>
                </a:solidFill>
                <a:highlight>
                  <a:srgbClr val="FFFFFF"/>
                </a:highlight>
                <a:latin typeface="Consolas" panose="020B0609020204030204" pitchFamily="49" charset="0"/>
              </a:rPr>
              <a:t>double</a:t>
            </a:r>
            <a:r>
              <a:rPr lang="fr-BE" sz="1200" dirty="0">
                <a:solidFill>
                  <a:srgbClr val="000000"/>
                </a:solidFill>
                <a:highlight>
                  <a:srgbClr val="FFFFFF"/>
                </a:highlight>
                <a:latin typeface="Consolas" panose="020B0609020204030204" pitchFamily="49" charset="0"/>
              </a:rPr>
              <a:t> montant)  {</a:t>
            </a:r>
          </a:p>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if</a:t>
            </a:r>
            <a:r>
              <a:rPr lang="fr-BE" sz="1200" dirty="0">
                <a:solidFill>
                  <a:srgbClr val="000000"/>
                </a:solidFill>
                <a:highlight>
                  <a:srgbClr val="FFFFFF"/>
                </a:highlight>
                <a:latin typeface="Consolas" panose="020B0609020204030204" pitchFamily="49" charset="0"/>
              </a:rPr>
              <a:t> (montant&gt;solde) {</a:t>
            </a:r>
          </a:p>
          <a:p>
            <a:pPr marL="0" indent="0">
              <a:buNone/>
            </a:pPr>
            <a:r>
              <a:rPr lang="fr-BE" sz="1200" dirty="0">
                <a:solidFill>
                  <a:srgbClr val="000000"/>
                </a:solidFill>
                <a:highlight>
                  <a:srgbClr val="FFFFFF"/>
                </a:highlight>
                <a:latin typeface="Consolas" panose="020B0609020204030204" pitchFamily="49" charset="0"/>
              </a:rPr>
              <a:t>                </a:t>
            </a:r>
            <a:r>
              <a:rPr lang="fr-BE" sz="1200" dirty="0" err="1">
                <a:solidFill>
                  <a:srgbClr val="2B91AF"/>
                </a:solidFill>
                <a:highlight>
                  <a:srgbClr val="FFFFFF"/>
                </a:highlight>
                <a:latin typeface="Consolas" panose="020B0609020204030204" pitchFamily="49" charset="0"/>
              </a:rPr>
              <a:t>System</a:t>
            </a:r>
            <a:r>
              <a:rPr lang="fr-BE" sz="1200" dirty="0" err="1">
                <a:solidFill>
                  <a:srgbClr val="000000"/>
                </a:solidFill>
                <a:highlight>
                  <a:srgbClr val="FFFFFF"/>
                </a:highlight>
                <a:latin typeface="Consolas" panose="020B0609020204030204" pitchFamily="49" charset="0"/>
              </a:rPr>
              <a:t>.out.println</a:t>
            </a:r>
            <a:r>
              <a:rPr lang="fr-BE" sz="1200" dirty="0">
                <a:solidFill>
                  <a:srgbClr val="000000"/>
                </a:solidFill>
                <a:highlight>
                  <a:srgbClr val="FFFFFF"/>
                </a:highlight>
                <a:latin typeface="Consolas" panose="020B0609020204030204" pitchFamily="49" charset="0"/>
              </a:rPr>
              <a:t>(</a:t>
            </a:r>
            <a:r>
              <a:rPr lang="fr-BE" sz="1200" dirty="0">
                <a:solidFill>
                  <a:srgbClr val="A31515"/>
                </a:solidFill>
                <a:highlight>
                  <a:srgbClr val="FFFFFF"/>
                </a:highlight>
                <a:latin typeface="Consolas" panose="020B0609020204030204" pitchFamily="49" charset="0"/>
              </a:rPr>
              <a:t>"Solde insuffisant"</a:t>
            </a:r>
            <a:r>
              <a:rPr lang="fr-BE" sz="1200" dirty="0">
                <a:solidFill>
                  <a:srgbClr val="000000"/>
                </a:solidFill>
                <a:highlight>
                  <a:srgbClr val="FFFFFF"/>
                </a:highlight>
                <a:latin typeface="Consolas" panose="020B0609020204030204" pitchFamily="49" charset="0"/>
              </a:rPr>
              <a:t>);</a:t>
            </a:r>
          </a:p>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return</a:t>
            </a: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false</a:t>
            </a:r>
            <a:r>
              <a:rPr lang="fr-BE" sz="1200" dirty="0">
                <a:solidFill>
                  <a:srgbClr val="000000"/>
                </a:solidFill>
                <a:highlight>
                  <a:srgbClr val="FFFFFF"/>
                </a:highlight>
                <a:latin typeface="Consolas" panose="020B0609020204030204" pitchFamily="49" charset="0"/>
              </a:rPr>
              <a:t>; }</a:t>
            </a:r>
          </a:p>
          <a:p>
            <a:pPr marL="0" indent="0">
              <a:buNone/>
            </a:pPr>
            <a:r>
              <a:rPr lang="fr-BE" sz="1200" dirty="0">
                <a:solidFill>
                  <a:srgbClr val="000000"/>
                </a:solidFill>
                <a:highlight>
                  <a:srgbClr val="FFFFFF"/>
                </a:highlight>
                <a:latin typeface="Consolas" panose="020B0609020204030204" pitchFamily="49" charset="0"/>
              </a:rPr>
              <a:t>            </a:t>
            </a:r>
            <a:r>
              <a:rPr lang="fr-BE" sz="1200" dirty="0" err="1">
                <a:solidFill>
                  <a:srgbClr val="0000FF"/>
                </a:solidFill>
                <a:highlight>
                  <a:srgbClr val="FFFFFF"/>
                </a:highlight>
                <a:latin typeface="Consolas" panose="020B0609020204030204" pitchFamily="49" charset="0"/>
              </a:rPr>
              <a:t>else</a:t>
            </a:r>
            <a:r>
              <a:rPr lang="fr-BE" sz="1200" dirty="0">
                <a:solidFill>
                  <a:srgbClr val="0000FF"/>
                </a:solidFill>
                <a:highlight>
                  <a:srgbClr val="FFFFFF"/>
                </a:highlight>
                <a:latin typeface="Consolas" panose="020B0609020204030204" pitchFamily="49" charset="0"/>
              </a:rPr>
              <a:t> </a:t>
            </a:r>
            <a:r>
              <a:rPr lang="fr-BE" sz="1200" dirty="0">
                <a:solidFill>
                  <a:srgbClr val="000000"/>
                </a:solidFill>
                <a:highlight>
                  <a:srgbClr val="FFFFFF"/>
                </a:highlight>
                <a:latin typeface="Consolas" panose="020B0609020204030204" pitchFamily="49" charset="0"/>
              </a:rPr>
              <a:t>{</a:t>
            </a:r>
          </a:p>
          <a:p>
            <a:pPr marL="0" indent="0">
              <a:buNone/>
            </a:pPr>
            <a:r>
              <a:rPr lang="fr-BE" sz="1200" dirty="0">
                <a:solidFill>
                  <a:srgbClr val="000000"/>
                </a:solidFill>
                <a:highlight>
                  <a:srgbClr val="FFFFFF"/>
                </a:highlight>
                <a:latin typeface="Consolas" panose="020B0609020204030204" pitchFamily="49" charset="0"/>
              </a:rPr>
              <a:t>                solde -= montant;</a:t>
            </a:r>
          </a:p>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return</a:t>
            </a:r>
            <a:r>
              <a:rPr lang="fr-BE" sz="1200" dirty="0">
                <a:solidFill>
                  <a:srgbClr val="000000"/>
                </a:solidFill>
                <a:highlight>
                  <a:srgbClr val="FFFFFF"/>
                </a:highlight>
                <a:latin typeface="Consolas" panose="020B0609020204030204" pitchFamily="49" charset="0"/>
              </a:rPr>
              <a:t> </a:t>
            </a:r>
            <a:r>
              <a:rPr lang="fr-BE" sz="1200" dirty="0" err="1">
                <a:solidFill>
                  <a:srgbClr val="0000FF"/>
                </a:solidFill>
                <a:highlight>
                  <a:srgbClr val="FFFFFF"/>
                </a:highlight>
                <a:latin typeface="Consolas" panose="020B0609020204030204" pitchFamily="49" charset="0"/>
              </a:rPr>
              <a:t>true</a:t>
            </a:r>
            <a:r>
              <a:rPr lang="fr-BE" sz="1200" dirty="0">
                <a:solidFill>
                  <a:srgbClr val="000000"/>
                </a:solidFill>
                <a:highlight>
                  <a:srgbClr val="FFFFFF"/>
                </a:highlight>
                <a:latin typeface="Consolas" panose="020B0609020204030204" pitchFamily="49" charset="0"/>
              </a:rPr>
              <a:t>;  }</a:t>
            </a:r>
          </a:p>
          <a:p>
            <a:pPr marL="0" indent="0">
              <a:buNone/>
            </a:pPr>
            <a:r>
              <a:rPr lang="fr-BE" sz="1200" dirty="0">
                <a:solidFill>
                  <a:srgbClr val="000000"/>
                </a:solidFill>
                <a:highlight>
                  <a:srgbClr val="FFFFFF"/>
                </a:highlight>
                <a:latin typeface="Consolas" panose="020B0609020204030204" pitchFamily="49" charset="0"/>
              </a:rPr>
              <a:t>        }</a:t>
            </a:r>
          </a:p>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public</a:t>
            </a:r>
            <a:r>
              <a:rPr lang="fr-BE" sz="1200" dirty="0">
                <a:solidFill>
                  <a:srgbClr val="000000"/>
                </a:solidFill>
                <a:highlight>
                  <a:srgbClr val="FFFFFF"/>
                </a:highlight>
                <a:latin typeface="Consolas" panose="020B0609020204030204" pitchFamily="49" charset="0"/>
              </a:rPr>
              <a:t> </a:t>
            </a:r>
            <a:r>
              <a:rPr lang="fr-BE" sz="1200" dirty="0" err="1">
                <a:solidFill>
                  <a:srgbClr val="0000FF"/>
                </a:solidFill>
                <a:highlight>
                  <a:srgbClr val="FFFFFF"/>
                </a:highlight>
                <a:latin typeface="Consolas" panose="020B0609020204030204" pitchFamily="49" charset="0"/>
              </a:rPr>
              <a:t>void</a:t>
            </a:r>
            <a:r>
              <a:rPr lang="fr-BE" sz="1200" dirty="0">
                <a:solidFill>
                  <a:srgbClr val="000000"/>
                </a:solidFill>
                <a:highlight>
                  <a:srgbClr val="FFFFFF"/>
                </a:highlight>
                <a:latin typeface="Consolas" panose="020B0609020204030204" pitchFamily="49" charset="0"/>
              </a:rPr>
              <a:t> afficher() {</a:t>
            </a:r>
          </a:p>
          <a:p>
            <a:pPr marL="0" indent="0">
              <a:buNone/>
            </a:pPr>
            <a:r>
              <a:rPr lang="it-IT" sz="1200" dirty="0">
                <a:solidFill>
                  <a:srgbClr val="000000"/>
                </a:solidFill>
                <a:highlight>
                  <a:srgbClr val="FFFFFF"/>
                </a:highlight>
                <a:latin typeface="Consolas" panose="020B0609020204030204" pitchFamily="49" charset="0"/>
              </a:rPr>
              <a:t>            </a:t>
            </a:r>
            <a:r>
              <a:rPr lang="fr-BE" sz="1200" dirty="0" err="1">
                <a:solidFill>
                  <a:srgbClr val="2B91AF"/>
                </a:solidFill>
                <a:highlight>
                  <a:srgbClr val="FFFFFF"/>
                </a:highlight>
                <a:latin typeface="Consolas" panose="020B0609020204030204" pitchFamily="49" charset="0"/>
              </a:rPr>
              <a:t>System</a:t>
            </a:r>
            <a:r>
              <a:rPr lang="fr-BE" sz="1200" dirty="0" err="1">
                <a:solidFill>
                  <a:srgbClr val="000000"/>
                </a:solidFill>
                <a:highlight>
                  <a:srgbClr val="FFFFFF"/>
                </a:highlight>
                <a:latin typeface="Consolas" panose="020B0609020204030204" pitchFamily="49" charset="0"/>
              </a:rPr>
              <a:t>.out.println</a:t>
            </a:r>
            <a:r>
              <a:rPr lang="it-IT" sz="1200" dirty="0">
                <a:solidFill>
                  <a:srgbClr val="000000"/>
                </a:solidFill>
                <a:highlight>
                  <a:srgbClr val="FFFFFF"/>
                </a:highlight>
                <a:latin typeface="Consolas" panose="020B0609020204030204" pitchFamily="49" charset="0"/>
              </a:rPr>
              <a:t>(</a:t>
            </a:r>
            <a:r>
              <a:rPr lang="it-IT" sz="1200" dirty="0">
                <a:solidFill>
                  <a:srgbClr val="A31515"/>
                </a:solidFill>
                <a:highlight>
                  <a:srgbClr val="FFFFFF"/>
                </a:highlight>
                <a:latin typeface="Consolas" panose="020B0609020204030204" pitchFamily="49" charset="0"/>
              </a:rPr>
              <a:t>"Numéro: "</a:t>
            </a:r>
            <a:r>
              <a:rPr lang="it-IT" sz="1200" dirty="0">
                <a:solidFill>
                  <a:srgbClr val="000000"/>
                </a:solidFill>
                <a:highlight>
                  <a:srgbClr val="FFFFFF"/>
                </a:highlight>
                <a:latin typeface="Consolas" panose="020B0609020204030204" pitchFamily="49" charset="0"/>
              </a:rPr>
              <a:t> + </a:t>
            </a:r>
            <a:r>
              <a:rPr lang="it-IT" sz="1200" dirty="0" err="1">
                <a:solidFill>
                  <a:srgbClr val="000000"/>
                </a:solidFill>
                <a:highlight>
                  <a:srgbClr val="FFFFFF"/>
                </a:highlight>
                <a:latin typeface="Consolas" panose="020B0609020204030204" pitchFamily="49" charset="0"/>
              </a:rPr>
              <a:t>numéro</a:t>
            </a:r>
            <a:r>
              <a:rPr lang="it-IT" sz="1200" dirty="0">
                <a:solidFill>
                  <a:srgbClr val="000000"/>
                </a:solidFill>
                <a:highlight>
                  <a:srgbClr val="FFFFFF"/>
                </a:highlight>
                <a:latin typeface="Consolas" panose="020B0609020204030204" pitchFamily="49" charset="0"/>
              </a:rPr>
              <a:t> + </a:t>
            </a:r>
            <a:r>
              <a:rPr lang="it-IT" sz="1200" dirty="0">
                <a:solidFill>
                  <a:srgbClr val="A31515"/>
                </a:solidFill>
                <a:highlight>
                  <a:srgbClr val="FFFFFF"/>
                </a:highlight>
                <a:latin typeface="Consolas" panose="020B0609020204030204" pitchFamily="49" charset="0"/>
              </a:rPr>
              <a:t>", solde: "</a:t>
            </a:r>
            <a:r>
              <a:rPr lang="it-IT" sz="1200" dirty="0">
                <a:solidFill>
                  <a:srgbClr val="000000"/>
                </a:solidFill>
                <a:highlight>
                  <a:srgbClr val="FFFFFF"/>
                </a:highlight>
                <a:latin typeface="Consolas" panose="020B0609020204030204" pitchFamily="49" charset="0"/>
              </a:rPr>
              <a:t> + </a:t>
            </a:r>
            <a:r>
              <a:rPr lang="it-IT" sz="1200" dirty="0" err="1">
                <a:solidFill>
                  <a:srgbClr val="000000"/>
                </a:solidFill>
                <a:highlight>
                  <a:srgbClr val="FFFFFF"/>
                </a:highlight>
                <a:latin typeface="Consolas" panose="020B0609020204030204" pitchFamily="49" charset="0"/>
              </a:rPr>
              <a:t>solde</a:t>
            </a:r>
            <a:r>
              <a:rPr lang="it-IT" sz="1200" dirty="0">
                <a:solidFill>
                  <a:srgbClr val="000000"/>
                </a:solidFill>
                <a:highlight>
                  <a:srgbClr val="FFFFFF"/>
                </a:highlight>
                <a:latin typeface="Consolas" panose="020B0609020204030204" pitchFamily="49" charset="0"/>
              </a:rPr>
              <a:t>);</a:t>
            </a:r>
          </a:p>
          <a:p>
            <a:pPr marL="0" indent="0">
              <a:buNone/>
            </a:pPr>
            <a:r>
              <a:rPr lang="fr-BE" sz="1200" dirty="0">
                <a:solidFill>
                  <a:srgbClr val="000000"/>
                </a:solidFill>
                <a:highlight>
                  <a:srgbClr val="FFFFFF"/>
                </a:highlight>
                <a:latin typeface="Consolas" panose="020B0609020204030204" pitchFamily="49" charset="0"/>
              </a:rPr>
              <a:t>        }</a:t>
            </a:r>
          </a:p>
          <a:p>
            <a:pPr marL="0" indent="0">
              <a:buNone/>
            </a:pPr>
            <a:r>
              <a:rPr lang="fr-BE" sz="1200" dirty="0">
                <a:solidFill>
                  <a:srgbClr val="000000"/>
                </a:solidFill>
                <a:highlight>
                  <a:srgbClr val="FFFFFF"/>
                </a:highlight>
                <a:latin typeface="Consolas" panose="020B0609020204030204" pitchFamily="49" charset="0"/>
              </a:rPr>
              <a:t>    }</a:t>
            </a:r>
          </a:p>
        </p:txBody>
      </p:sp>
      <p:sp>
        <p:nvSpPr>
          <p:cNvPr id="2" name="Titre 1">
            <a:extLst>
              <a:ext uri="{FF2B5EF4-FFF2-40B4-BE49-F238E27FC236}">
                <a16:creationId xmlns:a16="http://schemas.microsoft.com/office/drawing/2014/main" id="{07BC8094-533A-4878-CA6D-F8716BA045E3}"/>
              </a:ext>
            </a:extLst>
          </p:cNvPr>
          <p:cNvSpPr>
            <a:spLocks noGrp="1"/>
          </p:cNvSpPr>
          <p:nvPr>
            <p:ph type="title"/>
          </p:nvPr>
        </p:nvSpPr>
        <p:spPr/>
        <p:txBody>
          <a:bodyPr>
            <a:normAutofit fontScale="90000"/>
          </a:bodyPr>
          <a:lstStyle/>
          <a:p>
            <a:r>
              <a:rPr lang="fr-FR" dirty="0"/>
              <a:t>L’héritage… classe de base et classe dérivée</a:t>
            </a:r>
          </a:p>
        </p:txBody>
      </p:sp>
      <p:sp>
        <p:nvSpPr>
          <p:cNvPr id="9" name="ZoneTexte 8">
            <a:extLst>
              <a:ext uri="{FF2B5EF4-FFF2-40B4-BE49-F238E27FC236}">
                <a16:creationId xmlns:a16="http://schemas.microsoft.com/office/drawing/2014/main" id="{826BE9AE-AB22-0526-C57C-F1AE4753BA42}"/>
              </a:ext>
            </a:extLst>
          </p:cNvPr>
          <p:cNvSpPr txBox="1"/>
          <p:nvPr/>
        </p:nvSpPr>
        <p:spPr>
          <a:xfrm>
            <a:off x="10854426" y="6222438"/>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java</a:t>
            </a:r>
          </a:p>
        </p:txBody>
      </p:sp>
      <p:sp>
        <p:nvSpPr>
          <p:cNvPr id="8" name="ZoneTexte 7">
            <a:extLst>
              <a:ext uri="{FF2B5EF4-FFF2-40B4-BE49-F238E27FC236}">
                <a16:creationId xmlns:a16="http://schemas.microsoft.com/office/drawing/2014/main" id="{CF0772B0-8802-E556-E80B-4AB8F7551693}"/>
              </a:ext>
            </a:extLst>
          </p:cNvPr>
          <p:cNvSpPr txBox="1"/>
          <p:nvPr/>
        </p:nvSpPr>
        <p:spPr>
          <a:xfrm>
            <a:off x="3992931" y="1471600"/>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C#</a:t>
            </a:r>
          </a:p>
        </p:txBody>
      </p:sp>
      <p:sp>
        <p:nvSpPr>
          <p:cNvPr id="3" name="Espace réservé du numéro de diapositive 2">
            <a:extLst>
              <a:ext uri="{FF2B5EF4-FFF2-40B4-BE49-F238E27FC236}">
                <a16:creationId xmlns:a16="http://schemas.microsoft.com/office/drawing/2014/main" id="{0620D852-E4A9-8B89-3967-F270FE0C4142}"/>
              </a:ext>
            </a:extLst>
          </p:cNvPr>
          <p:cNvSpPr>
            <a:spLocks noGrp="1"/>
          </p:cNvSpPr>
          <p:nvPr>
            <p:ph type="sldNum" sz="quarter" idx="4"/>
          </p:nvPr>
        </p:nvSpPr>
        <p:spPr/>
        <p:txBody>
          <a:bodyPr/>
          <a:lstStyle/>
          <a:p>
            <a:fld id="{33C783E2-4793-4F48-A271-51A73CC37D74}" type="slidenum">
              <a:rPr lang="fr-FR" smtClean="0"/>
              <a:t>37</a:t>
            </a:fld>
            <a:endParaRPr lang="fr-FR"/>
          </a:p>
        </p:txBody>
      </p:sp>
    </p:spTree>
    <p:extLst>
      <p:ext uri="{BB962C8B-B14F-4D97-AF65-F5344CB8AC3E}">
        <p14:creationId xmlns:p14="http://schemas.microsoft.com/office/powerpoint/2010/main" val="1356674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1"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BC8094-533A-4878-CA6D-F8716BA045E3}"/>
              </a:ext>
            </a:extLst>
          </p:cNvPr>
          <p:cNvSpPr>
            <a:spLocks noGrp="1"/>
          </p:cNvSpPr>
          <p:nvPr>
            <p:ph type="title"/>
          </p:nvPr>
        </p:nvSpPr>
        <p:spPr/>
        <p:txBody>
          <a:bodyPr/>
          <a:lstStyle/>
          <a:p>
            <a:r>
              <a:rPr lang="fr-FR" dirty="0"/>
              <a:t>…et classe dérivée</a:t>
            </a:r>
          </a:p>
        </p:txBody>
      </p:sp>
      <p:sp>
        <p:nvSpPr>
          <p:cNvPr id="5" name="ZoneTexte 4">
            <a:extLst>
              <a:ext uri="{FF2B5EF4-FFF2-40B4-BE49-F238E27FC236}">
                <a16:creationId xmlns:a16="http://schemas.microsoft.com/office/drawing/2014/main" id="{F2FB58F3-383B-0FBD-62FE-24E47DEB9239}"/>
              </a:ext>
            </a:extLst>
          </p:cNvPr>
          <p:cNvSpPr txBox="1"/>
          <p:nvPr/>
        </p:nvSpPr>
        <p:spPr>
          <a:xfrm>
            <a:off x="520148" y="1340280"/>
            <a:ext cx="7280082" cy="2893100"/>
          </a:xfrm>
          <a:prstGeom prst="rect">
            <a:avLst/>
          </a:prstGeom>
          <a:solidFill>
            <a:schemeClr val="tx1"/>
          </a:solidFill>
          <a:ln>
            <a:solidFill>
              <a:schemeClr val="accent2"/>
            </a:solidFill>
          </a:ln>
        </p:spPr>
        <p:txBody>
          <a:bodyPr wrap="square">
            <a:spAutoFit/>
          </a:bodyPr>
          <a:lstStyle/>
          <a:p>
            <a:pPr marL="0" indent="0">
              <a:buNone/>
            </a:pP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CompteEpargne</a:t>
            </a:r>
            <a:r>
              <a:rPr lang="fr-BE" sz="1400" dirty="0">
                <a:solidFill>
                  <a:srgbClr val="000000"/>
                </a:solidFill>
                <a:highlight>
                  <a:srgbClr val="FFFFFF"/>
                </a:highlight>
                <a:latin typeface="Consolas" panose="020B0609020204030204" pitchFamily="49" charset="0"/>
              </a:rPr>
              <a:t> : </a:t>
            </a:r>
            <a:r>
              <a:rPr lang="fr-BE" sz="1400" dirty="0" err="1">
                <a:solidFill>
                  <a:srgbClr val="2B91AF"/>
                </a:solidFill>
                <a:highlight>
                  <a:srgbClr val="FFFFFF"/>
                </a:highlight>
                <a:latin typeface="Consolas" panose="020B0609020204030204" pitchFamily="49" charset="0"/>
              </a:rPr>
              <a:t>CompteBancaire</a:t>
            </a:r>
            <a:r>
              <a:rPr lang="fr-BE" sz="1400" dirty="0">
                <a:solidFill>
                  <a:srgbClr val="2B91AF"/>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private</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CompteEpargne</a:t>
            </a:r>
            <a:r>
              <a:rPr lang="fr-BE" sz="1400" dirty="0">
                <a:solidFill>
                  <a:srgbClr val="000000"/>
                </a:solidFill>
                <a:highlight>
                  <a:srgbClr val="FFFFFF"/>
                </a:highlight>
                <a:latin typeface="Consolas" panose="020B0609020204030204" pitchFamily="49" charset="0"/>
              </a:rPr>
              <a:t>(</a:t>
            </a:r>
            <a:r>
              <a:rPr lang="fr-BE" sz="1400" dirty="0">
                <a:solidFill>
                  <a:srgbClr val="0000FF"/>
                </a:solidFill>
                <a:highlight>
                  <a:srgbClr val="FFFFFF"/>
                </a:highlight>
                <a:latin typeface="Consolas" panose="020B0609020204030204" pitchFamily="49" charset="0"/>
              </a:rPr>
              <a:t>long</a:t>
            </a:r>
            <a:r>
              <a:rPr lang="fr-BE" sz="1400" dirty="0">
                <a:solidFill>
                  <a:srgbClr val="000000"/>
                </a:solidFill>
                <a:highlight>
                  <a:srgbClr val="FFFFFF"/>
                </a:highlight>
                <a:latin typeface="Consolas" panose="020B0609020204030204" pitchFamily="49" charset="0"/>
              </a:rPr>
              <a:t> Numéro, </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Taux) : </a:t>
            </a:r>
            <a:r>
              <a:rPr lang="fr-BE" sz="1400" dirty="0">
                <a:solidFill>
                  <a:srgbClr val="0000FF"/>
                </a:solidFill>
                <a:highlight>
                  <a:srgbClr val="FFFFFF"/>
                </a:highlight>
                <a:latin typeface="Consolas" panose="020B0609020204030204" pitchFamily="49" charset="0"/>
              </a:rPr>
              <a:t>base</a:t>
            </a:r>
            <a:r>
              <a:rPr lang="fr-BE" sz="1400" dirty="0">
                <a:solidFill>
                  <a:srgbClr val="000000"/>
                </a:solidFill>
                <a:highlight>
                  <a:srgbClr val="FFFFFF"/>
                </a:highlight>
                <a:latin typeface="Consolas" panose="020B0609020204030204" pitchFamily="49" charset="0"/>
              </a:rPr>
              <a:t>(Numéro) {</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 = Taux;</a:t>
            </a:r>
          </a:p>
          <a:p>
            <a:pPr marL="0" indent="0">
              <a:buNone/>
            </a:pPr>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Retirer(</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Montant) { Solde -= Montant;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 </a:t>
            </a:r>
            <a:r>
              <a:rPr lang="fr-BE" sz="1400" dirty="0" err="1">
                <a:solidFill>
                  <a:srgbClr val="0000FF"/>
                </a:solidFill>
                <a:highlight>
                  <a:srgbClr val="FFFFFF"/>
                </a:highlight>
                <a:latin typeface="Consolas" panose="020B0609020204030204" pitchFamily="49" charset="0"/>
              </a:rPr>
              <a:t>override</a:t>
            </a:r>
            <a:r>
              <a:rPr lang="fr-BE" sz="1400" dirty="0">
                <a:solidFill>
                  <a:srgbClr val="0000FF"/>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Déposer(</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Montant) { </a:t>
            </a:r>
          </a:p>
          <a:p>
            <a:r>
              <a:rPr lang="fr-BE" sz="1400" dirty="0">
                <a:solidFill>
                  <a:srgbClr val="000000"/>
                </a:solidFill>
                <a:highlight>
                  <a:srgbClr val="FFFFFF"/>
                </a:highlight>
                <a:latin typeface="Consolas" panose="020B0609020204030204" pitchFamily="49" charset="0"/>
              </a:rPr>
              <a:t>	       if (Solde &gt; Montant) Solde -= Montant; </a:t>
            </a:r>
          </a:p>
          <a:p>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Intérêts() {</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SetSolde</a:t>
            </a:r>
            <a:r>
              <a:rPr lang="fr-BE" sz="1400" dirty="0">
                <a:solidFill>
                  <a:srgbClr val="000000"/>
                </a:solidFill>
                <a:highlight>
                  <a:srgbClr val="FFFFFF"/>
                </a:highlight>
                <a:latin typeface="Consolas" panose="020B0609020204030204" pitchFamily="49" charset="0"/>
              </a:rPr>
              <a:t>(</a:t>
            </a:r>
            <a:r>
              <a:rPr lang="fr-BE" sz="1400" dirty="0" err="1">
                <a:solidFill>
                  <a:srgbClr val="000000"/>
                </a:solidFill>
                <a:highlight>
                  <a:srgbClr val="FFFFFF"/>
                </a:highlight>
                <a:latin typeface="Consolas" panose="020B0609020204030204" pitchFamily="49" charset="0"/>
              </a:rPr>
              <a:t>GetSolde</a:t>
            </a:r>
            <a:r>
              <a:rPr lang="fr-BE" sz="1400" dirty="0">
                <a:solidFill>
                  <a:srgbClr val="000000"/>
                </a:solidFill>
                <a:highlight>
                  <a:srgbClr val="FFFFFF"/>
                </a:highlight>
                <a:latin typeface="Consolas" panose="020B0609020204030204" pitchFamily="49" charset="0"/>
              </a:rPr>
              <a:t>() * (1 +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endParaRPr lang="fr-FR" sz="1400" dirty="0"/>
          </a:p>
        </p:txBody>
      </p:sp>
      <p:sp>
        <p:nvSpPr>
          <p:cNvPr id="7" name="ZoneTexte 6">
            <a:extLst>
              <a:ext uri="{FF2B5EF4-FFF2-40B4-BE49-F238E27FC236}">
                <a16:creationId xmlns:a16="http://schemas.microsoft.com/office/drawing/2014/main" id="{777EC568-4D1D-4A82-5144-1D9600B321F1}"/>
              </a:ext>
            </a:extLst>
          </p:cNvPr>
          <p:cNvSpPr txBox="1"/>
          <p:nvPr/>
        </p:nvSpPr>
        <p:spPr>
          <a:xfrm>
            <a:off x="4073718" y="3660616"/>
            <a:ext cx="7280082" cy="3108543"/>
          </a:xfrm>
          <a:prstGeom prst="rect">
            <a:avLst/>
          </a:prstGeom>
          <a:solidFill>
            <a:schemeClr val="tx1"/>
          </a:solidFill>
          <a:ln>
            <a:solidFill>
              <a:schemeClr val="accent2"/>
            </a:solidFill>
          </a:ln>
        </p:spPr>
        <p:txBody>
          <a:bodyPr wrap="square">
            <a:spAutoFit/>
          </a:bodyPr>
          <a:lstStyle/>
          <a:p>
            <a:pPr marL="0" indent="0">
              <a:buNone/>
            </a:pP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CompteEpargne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extends</a:t>
            </a:r>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CompteBancaire</a:t>
            </a:r>
            <a:r>
              <a:rPr lang="fr-BE" sz="1400" dirty="0">
                <a:solidFill>
                  <a:srgbClr val="2B91AF"/>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private</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CompteEpargne</a:t>
            </a:r>
            <a:r>
              <a:rPr lang="fr-BE" sz="1400" dirty="0">
                <a:solidFill>
                  <a:srgbClr val="000000"/>
                </a:solidFill>
                <a:highlight>
                  <a:srgbClr val="FFFFFF"/>
                </a:highlight>
                <a:latin typeface="Consolas" panose="020B0609020204030204" pitchFamily="49" charset="0"/>
              </a:rPr>
              <a:t>(</a:t>
            </a:r>
            <a:r>
              <a:rPr lang="fr-BE" sz="1400" dirty="0">
                <a:solidFill>
                  <a:srgbClr val="0000FF"/>
                </a:solidFill>
                <a:highlight>
                  <a:srgbClr val="FFFFFF"/>
                </a:highlight>
                <a:latin typeface="Consolas" panose="020B0609020204030204" pitchFamily="49" charset="0"/>
              </a:rPr>
              <a:t>long</a:t>
            </a:r>
            <a:r>
              <a:rPr lang="fr-BE" sz="1400" dirty="0">
                <a:solidFill>
                  <a:srgbClr val="000000"/>
                </a:solidFill>
                <a:highlight>
                  <a:srgbClr val="FFFFFF"/>
                </a:highlight>
                <a:latin typeface="Consolas" panose="020B0609020204030204" pitchFamily="49" charset="0"/>
              </a:rPr>
              <a:t> Numéro, </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Taux) {</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super</a:t>
            </a:r>
            <a:r>
              <a:rPr lang="fr-BE" sz="1400" dirty="0">
                <a:solidFill>
                  <a:srgbClr val="000000"/>
                </a:solidFill>
                <a:highlight>
                  <a:srgbClr val="FFFFFF"/>
                </a:highlight>
                <a:latin typeface="Consolas" panose="020B0609020204030204" pitchFamily="49" charset="0"/>
              </a:rPr>
              <a:t>(Numéro)</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 = Taux;</a:t>
            </a:r>
          </a:p>
          <a:p>
            <a:pPr marL="0" indent="0">
              <a:buNone/>
            </a:pPr>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Override</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déposer(</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montant) { </a:t>
            </a:r>
          </a:p>
          <a:p>
            <a:r>
              <a:rPr lang="fr-BE" sz="1400" dirty="0">
                <a:solidFill>
                  <a:srgbClr val="000000"/>
                </a:solidFill>
                <a:highlight>
                  <a:srgbClr val="FFFFFF"/>
                </a:highlight>
                <a:latin typeface="Consolas" panose="020B0609020204030204" pitchFamily="49" charset="0"/>
              </a:rPr>
              <a:t>	       if (solde &gt; montant) solde -= montant; </a:t>
            </a:r>
          </a:p>
          <a:p>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intérêts() {</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setSolde</a:t>
            </a:r>
            <a:r>
              <a:rPr lang="fr-BE" sz="1400" dirty="0">
                <a:solidFill>
                  <a:srgbClr val="000000"/>
                </a:solidFill>
                <a:highlight>
                  <a:srgbClr val="FFFFFF"/>
                </a:highlight>
                <a:latin typeface="Consolas" panose="020B0609020204030204" pitchFamily="49" charset="0"/>
              </a:rPr>
              <a:t>(</a:t>
            </a:r>
            <a:r>
              <a:rPr lang="fr-BE" sz="1400" dirty="0" err="1">
                <a:solidFill>
                  <a:srgbClr val="000000"/>
                </a:solidFill>
                <a:highlight>
                  <a:srgbClr val="FFFFFF"/>
                </a:highlight>
                <a:latin typeface="Consolas" panose="020B0609020204030204" pitchFamily="49" charset="0"/>
              </a:rPr>
              <a:t>getSolde</a:t>
            </a:r>
            <a:r>
              <a:rPr lang="fr-BE" sz="1400" dirty="0">
                <a:solidFill>
                  <a:srgbClr val="000000"/>
                </a:solidFill>
                <a:highlight>
                  <a:srgbClr val="FFFFFF"/>
                </a:highlight>
                <a:latin typeface="Consolas" panose="020B0609020204030204" pitchFamily="49" charset="0"/>
              </a:rPr>
              <a:t>() * (1 +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endParaRPr lang="fr-FR" sz="1400" dirty="0"/>
          </a:p>
        </p:txBody>
      </p:sp>
      <p:sp>
        <p:nvSpPr>
          <p:cNvPr id="8" name="ZoneTexte 7">
            <a:extLst>
              <a:ext uri="{FF2B5EF4-FFF2-40B4-BE49-F238E27FC236}">
                <a16:creationId xmlns:a16="http://schemas.microsoft.com/office/drawing/2014/main" id="{CF0772B0-8802-E556-E80B-4AB8F7551693}"/>
              </a:ext>
            </a:extLst>
          </p:cNvPr>
          <p:cNvSpPr txBox="1"/>
          <p:nvPr/>
        </p:nvSpPr>
        <p:spPr>
          <a:xfrm>
            <a:off x="6624812" y="3102135"/>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C#</a:t>
            </a:r>
          </a:p>
        </p:txBody>
      </p:sp>
      <p:sp>
        <p:nvSpPr>
          <p:cNvPr id="9" name="ZoneTexte 8">
            <a:extLst>
              <a:ext uri="{FF2B5EF4-FFF2-40B4-BE49-F238E27FC236}">
                <a16:creationId xmlns:a16="http://schemas.microsoft.com/office/drawing/2014/main" id="{826BE9AE-AB22-0526-C57C-F1AE4753BA42}"/>
              </a:ext>
            </a:extLst>
          </p:cNvPr>
          <p:cNvSpPr txBox="1"/>
          <p:nvPr/>
        </p:nvSpPr>
        <p:spPr>
          <a:xfrm>
            <a:off x="10146351" y="6118302"/>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java</a:t>
            </a:r>
          </a:p>
        </p:txBody>
      </p:sp>
      <p:sp>
        <p:nvSpPr>
          <p:cNvPr id="4" name="ZoneTexte 3">
            <a:extLst>
              <a:ext uri="{FF2B5EF4-FFF2-40B4-BE49-F238E27FC236}">
                <a16:creationId xmlns:a16="http://schemas.microsoft.com/office/drawing/2014/main" id="{644949EB-0200-4BD7-3994-214FDA552ADB}"/>
              </a:ext>
            </a:extLst>
          </p:cNvPr>
          <p:cNvSpPr txBox="1"/>
          <p:nvPr/>
        </p:nvSpPr>
        <p:spPr>
          <a:xfrm>
            <a:off x="14442401" y="3337122"/>
            <a:ext cx="3384551" cy="646986"/>
          </a:xfrm>
          <a:prstGeom prst="roundRect">
            <a:avLst/>
          </a:prstGeom>
          <a:solidFill>
            <a:schemeClr val="tx1"/>
          </a:solidFill>
          <a:ln>
            <a:solidFill>
              <a:schemeClr val="accent4"/>
            </a:solidFill>
          </a:ln>
        </p:spPr>
        <p:txBody>
          <a:bodyPr wrap="square" rtlCol="0">
            <a:spAutoFit/>
          </a:bodyPr>
          <a:lstStyle/>
          <a:p>
            <a:r>
              <a:rPr lang="fr-FR" sz="1600" dirty="0">
                <a:solidFill>
                  <a:schemeClr val="accent1"/>
                </a:solidFill>
              </a:rPr>
              <a:t>Pour indiquer l’héritage, on utilise le mot clé </a:t>
            </a:r>
            <a:r>
              <a:rPr lang="fr-FR" sz="1400" dirty="0" err="1">
                <a:solidFill>
                  <a:schemeClr val="accent4"/>
                </a:solidFill>
                <a:latin typeface="Consolas" panose="020B0609020204030204" pitchFamily="49" charset="0"/>
                <a:cs typeface="Consolas" panose="020B0609020204030204" pitchFamily="49" charset="0"/>
              </a:rPr>
              <a:t>extends</a:t>
            </a:r>
            <a:endParaRPr lang="fr-FR" sz="1600" dirty="0">
              <a:solidFill>
                <a:schemeClr val="accent4"/>
              </a:solidFill>
              <a:latin typeface="Consolas" panose="020B0609020204030204" pitchFamily="49" charset="0"/>
              <a:cs typeface="Consolas" panose="020B0609020204030204" pitchFamily="49" charset="0"/>
            </a:endParaRPr>
          </a:p>
        </p:txBody>
      </p:sp>
      <p:sp>
        <p:nvSpPr>
          <p:cNvPr id="6" name="ZoneTexte 5">
            <a:extLst>
              <a:ext uri="{FF2B5EF4-FFF2-40B4-BE49-F238E27FC236}">
                <a16:creationId xmlns:a16="http://schemas.microsoft.com/office/drawing/2014/main" id="{7AC40226-7243-EE71-4E18-99B36BFE1E73}"/>
              </a:ext>
            </a:extLst>
          </p:cNvPr>
          <p:cNvSpPr txBox="1"/>
          <p:nvPr/>
        </p:nvSpPr>
        <p:spPr>
          <a:xfrm>
            <a:off x="13250579" y="4317562"/>
            <a:ext cx="3313581" cy="919401"/>
          </a:xfrm>
          <a:prstGeom prst="roundRect">
            <a:avLst/>
          </a:prstGeom>
          <a:solidFill>
            <a:schemeClr val="tx1"/>
          </a:solidFill>
          <a:ln>
            <a:solidFill>
              <a:schemeClr val="accent4"/>
            </a:solidFill>
          </a:ln>
        </p:spPr>
        <p:txBody>
          <a:bodyPr wrap="square" rtlCol="0">
            <a:spAutoFit/>
          </a:bodyPr>
          <a:lstStyle/>
          <a:p>
            <a:r>
              <a:rPr lang="fr-FR" sz="1600" dirty="0">
                <a:solidFill>
                  <a:schemeClr val="accent1"/>
                </a:solidFill>
              </a:rPr>
              <a:t>L’appel du constructeur ou d’une méthode de la classe mère se fait avec le mot clé </a:t>
            </a:r>
            <a:r>
              <a:rPr lang="fr-FR" sz="1400" dirty="0">
                <a:solidFill>
                  <a:schemeClr val="accent4"/>
                </a:solidFill>
                <a:latin typeface="Consolas" panose="020B0609020204030204" pitchFamily="49" charset="0"/>
                <a:cs typeface="Consolas" panose="020B0609020204030204" pitchFamily="49" charset="0"/>
              </a:rPr>
              <a:t>super</a:t>
            </a:r>
            <a:endParaRPr lang="fr-FR" sz="1600" dirty="0">
              <a:solidFill>
                <a:schemeClr val="accent4"/>
              </a:solidFill>
              <a:latin typeface="Consolas" panose="020B0609020204030204" pitchFamily="49" charset="0"/>
              <a:cs typeface="Consolas" panose="020B0609020204030204" pitchFamily="49" charset="0"/>
            </a:endParaRPr>
          </a:p>
        </p:txBody>
      </p:sp>
      <p:sp>
        <p:nvSpPr>
          <p:cNvPr id="10" name="ZoneTexte 9">
            <a:extLst>
              <a:ext uri="{FF2B5EF4-FFF2-40B4-BE49-F238E27FC236}">
                <a16:creationId xmlns:a16="http://schemas.microsoft.com/office/drawing/2014/main" id="{A301344A-3C3A-4143-9FC4-A3A6AEB99ED2}"/>
              </a:ext>
            </a:extLst>
          </p:cNvPr>
          <p:cNvSpPr txBox="1"/>
          <p:nvPr/>
        </p:nvSpPr>
        <p:spPr>
          <a:xfrm>
            <a:off x="13628025" y="5115780"/>
            <a:ext cx="3384551" cy="919401"/>
          </a:xfrm>
          <a:prstGeom prst="roundRect">
            <a:avLst/>
          </a:prstGeom>
          <a:solidFill>
            <a:schemeClr val="tx1"/>
          </a:solidFill>
          <a:ln>
            <a:solidFill>
              <a:schemeClr val="accent4"/>
            </a:solidFill>
          </a:ln>
        </p:spPr>
        <p:txBody>
          <a:bodyPr wrap="square" rtlCol="0">
            <a:spAutoFit/>
          </a:bodyPr>
          <a:lstStyle/>
          <a:p>
            <a:r>
              <a:rPr lang="fr-FR" sz="1600" dirty="0">
                <a:solidFill>
                  <a:schemeClr val="accent1"/>
                </a:solidFill>
              </a:rPr>
              <a:t>L’annotation optionnelle </a:t>
            </a:r>
            <a:r>
              <a:rPr lang="fr-FR" sz="1400" dirty="0">
                <a:solidFill>
                  <a:schemeClr val="accent4"/>
                </a:solidFill>
                <a:latin typeface="Consolas" panose="020B0609020204030204" pitchFamily="49" charset="0"/>
                <a:cs typeface="Consolas" panose="020B0609020204030204" pitchFamily="49" charset="0"/>
              </a:rPr>
              <a:t>@</a:t>
            </a:r>
            <a:r>
              <a:rPr lang="fr-FR" sz="1400" dirty="0" err="1">
                <a:solidFill>
                  <a:schemeClr val="accent4"/>
                </a:solidFill>
                <a:latin typeface="Consolas" panose="020B0609020204030204" pitchFamily="49" charset="0"/>
                <a:cs typeface="Consolas" panose="020B0609020204030204" pitchFamily="49" charset="0"/>
              </a:rPr>
              <a:t>Override</a:t>
            </a:r>
            <a:r>
              <a:rPr lang="fr-FR" sz="1600" dirty="0">
                <a:solidFill>
                  <a:schemeClr val="accent1"/>
                </a:solidFill>
              </a:rPr>
              <a:t> permet d’indiquer au compilateur qu’on redéfinit une méthode.</a:t>
            </a:r>
            <a:endParaRPr lang="fr-FR" sz="1600" dirty="0">
              <a:solidFill>
                <a:schemeClr val="accent4"/>
              </a:solidFill>
              <a:latin typeface="Consolas" panose="020B0609020204030204" pitchFamily="49" charset="0"/>
              <a:cs typeface="Consolas" panose="020B0609020204030204" pitchFamily="49" charset="0"/>
            </a:endParaRPr>
          </a:p>
        </p:txBody>
      </p:sp>
      <p:sp>
        <p:nvSpPr>
          <p:cNvPr id="3" name="Content Placeholder 4">
            <a:extLst>
              <a:ext uri="{FF2B5EF4-FFF2-40B4-BE49-F238E27FC236}">
                <a16:creationId xmlns:a16="http://schemas.microsoft.com/office/drawing/2014/main" id="{F2BC76E2-B285-2E3D-B95E-A365541D6812}"/>
              </a:ext>
            </a:extLst>
          </p:cNvPr>
          <p:cNvSpPr txBox="1">
            <a:spLocks/>
          </p:cNvSpPr>
          <p:nvPr/>
        </p:nvSpPr>
        <p:spPr>
          <a:xfrm>
            <a:off x="273705" y="4518730"/>
            <a:ext cx="2880000" cy="258532"/>
          </a:xfrm>
          <a:prstGeom prst="rect">
            <a:avLst/>
          </a:prstGeom>
          <a:solidFill>
            <a:schemeClr val="tx1"/>
          </a:solidFill>
          <a:ln>
            <a:solidFill>
              <a:schemeClr val="accent2"/>
            </a:solidFill>
          </a:ln>
        </p:spPr>
        <p:txBody>
          <a:bodyPr vert="horz" wrap="square"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class</a:t>
            </a:r>
            <a:r>
              <a:rPr lang="fr-BE" sz="1200" dirty="0">
                <a:solidFill>
                  <a:srgbClr val="000000"/>
                </a:solidFill>
                <a:highlight>
                  <a:srgbClr val="FFFFFF"/>
                </a:highlight>
                <a:latin typeface="Consolas" panose="020B0609020204030204" pitchFamily="49" charset="0"/>
              </a:rPr>
              <a:t> </a:t>
            </a:r>
            <a:r>
              <a:rPr lang="fr-BE" sz="1200" dirty="0" err="1">
                <a:solidFill>
                  <a:srgbClr val="2B91AF"/>
                </a:solidFill>
                <a:highlight>
                  <a:srgbClr val="FFFFFF"/>
                </a:highlight>
                <a:latin typeface="Consolas" panose="020B0609020204030204" pitchFamily="49" charset="0"/>
              </a:rPr>
              <a:t>CompteBancaire</a:t>
            </a:r>
            <a:r>
              <a:rPr lang="fr-BE" sz="1200" dirty="0">
                <a:solidFill>
                  <a:srgbClr val="000000"/>
                </a:solidFill>
                <a:highlight>
                  <a:srgbClr val="FFFFFF"/>
                </a:highlight>
                <a:latin typeface="Consolas" panose="020B0609020204030204" pitchFamily="49" charset="0"/>
              </a:rPr>
              <a:t> { ... }</a:t>
            </a:r>
          </a:p>
        </p:txBody>
      </p:sp>
      <p:sp>
        <p:nvSpPr>
          <p:cNvPr id="11" name="Content Placeholder 4">
            <a:extLst>
              <a:ext uri="{FF2B5EF4-FFF2-40B4-BE49-F238E27FC236}">
                <a16:creationId xmlns:a16="http://schemas.microsoft.com/office/drawing/2014/main" id="{0DAF42AE-49BA-0539-6A9D-7E63483410AF}"/>
              </a:ext>
            </a:extLst>
          </p:cNvPr>
          <p:cNvSpPr txBox="1">
            <a:spLocks/>
          </p:cNvSpPr>
          <p:nvPr/>
        </p:nvSpPr>
        <p:spPr>
          <a:xfrm>
            <a:off x="8499460" y="2920004"/>
            <a:ext cx="2880000" cy="258532"/>
          </a:xfrm>
          <a:prstGeom prst="rect">
            <a:avLst/>
          </a:prstGeom>
          <a:solidFill>
            <a:schemeClr val="tx1"/>
          </a:solidFill>
          <a:ln>
            <a:solidFill>
              <a:schemeClr val="accent2"/>
            </a:solidFill>
          </a:ln>
        </p:spPr>
        <p:txBody>
          <a:bodyPr vert="horz" wrap="square"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class</a:t>
            </a:r>
            <a:r>
              <a:rPr lang="fr-BE" sz="1200" dirty="0">
                <a:solidFill>
                  <a:srgbClr val="000000"/>
                </a:solidFill>
                <a:highlight>
                  <a:srgbClr val="FFFFFF"/>
                </a:highlight>
                <a:latin typeface="Consolas" panose="020B0609020204030204" pitchFamily="49" charset="0"/>
              </a:rPr>
              <a:t> </a:t>
            </a:r>
            <a:r>
              <a:rPr lang="fr-BE" sz="1200" dirty="0" err="1">
                <a:solidFill>
                  <a:srgbClr val="2B91AF"/>
                </a:solidFill>
                <a:highlight>
                  <a:srgbClr val="FFFFFF"/>
                </a:highlight>
                <a:latin typeface="Consolas" panose="020B0609020204030204" pitchFamily="49" charset="0"/>
              </a:rPr>
              <a:t>CompteBancaire</a:t>
            </a:r>
            <a:r>
              <a:rPr lang="fr-BE" sz="1200" dirty="0">
                <a:solidFill>
                  <a:srgbClr val="000000"/>
                </a:solidFill>
                <a:highlight>
                  <a:srgbClr val="FFFFFF"/>
                </a:highlight>
                <a:latin typeface="Consolas" panose="020B0609020204030204" pitchFamily="49" charset="0"/>
              </a:rPr>
              <a:t> { </a:t>
            </a:r>
            <a:r>
              <a:rPr lang="nl-BE" sz="1200" dirty="0">
                <a:solidFill>
                  <a:srgbClr val="000000"/>
                </a:solidFill>
                <a:highlight>
                  <a:srgbClr val="FFFFFF"/>
                </a:highlight>
                <a:latin typeface="Consolas" panose="020B0609020204030204" pitchFamily="49" charset="0"/>
              </a:rPr>
              <a:t>... </a:t>
            </a:r>
            <a:r>
              <a:rPr lang="fr-BE" sz="1200" dirty="0">
                <a:solidFill>
                  <a:srgbClr val="000000"/>
                </a:solidFill>
                <a:highlight>
                  <a:srgbClr val="FFFFFF"/>
                </a:highlight>
                <a:latin typeface="Consolas" panose="020B0609020204030204" pitchFamily="49" charset="0"/>
              </a:rPr>
              <a:t>}</a:t>
            </a:r>
          </a:p>
        </p:txBody>
      </p:sp>
      <p:sp>
        <p:nvSpPr>
          <p:cNvPr id="14" name="Rectangle : coins arrondis 13">
            <a:extLst>
              <a:ext uri="{FF2B5EF4-FFF2-40B4-BE49-F238E27FC236}">
                <a16:creationId xmlns:a16="http://schemas.microsoft.com/office/drawing/2014/main" id="{50666542-20CD-87AA-BE15-1F9F4350D0CC}"/>
              </a:ext>
            </a:extLst>
          </p:cNvPr>
          <p:cNvSpPr/>
          <p:nvPr/>
        </p:nvSpPr>
        <p:spPr>
          <a:xfrm>
            <a:off x="7522589" y="311393"/>
            <a:ext cx="4468305" cy="646330"/>
          </a:xfrm>
          <a:prstGeom prst="roundRect">
            <a:avLst/>
          </a:prstGeom>
          <a:solidFill>
            <a:schemeClr val="accent6"/>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t>Quelles</a:t>
            </a:r>
            <a:r>
              <a:rPr lang="en-GB" dirty="0"/>
              <a:t> differences </a:t>
            </a:r>
            <a:r>
              <a:rPr lang="en-GB" dirty="0" err="1"/>
              <a:t>repérez-vous</a:t>
            </a:r>
            <a:r>
              <a:rPr lang="en-GB" dirty="0"/>
              <a:t>?</a:t>
            </a:r>
          </a:p>
        </p:txBody>
      </p:sp>
      <p:sp>
        <p:nvSpPr>
          <p:cNvPr id="12" name="Espace réservé du numéro de diapositive 11">
            <a:extLst>
              <a:ext uri="{FF2B5EF4-FFF2-40B4-BE49-F238E27FC236}">
                <a16:creationId xmlns:a16="http://schemas.microsoft.com/office/drawing/2014/main" id="{549DA26B-EE74-5504-936A-016FBBC41207}"/>
              </a:ext>
            </a:extLst>
          </p:cNvPr>
          <p:cNvSpPr>
            <a:spLocks noGrp="1"/>
          </p:cNvSpPr>
          <p:nvPr>
            <p:ph type="sldNum" sz="quarter" idx="4"/>
          </p:nvPr>
        </p:nvSpPr>
        <p:spPr/>
        <p:txBody>
          <a:bodyPr/>
          <a:lstStyle/>
          <a:p>
            <a:fld id="{33C783E2-4793-4F48-A271-51A73CC37D74}" type="slidenum">
              <a:rPr lang="fr-FR" smtClean="0"/>
              <a:t>38</a:t>
            </a:fld>
            <a:endParaRPr lang="fr-FR"/>
          </a:p>
        </p:txBody>
      </p:sp>
    </p:spTree>
    <p:extLst>
      <p:ext uri="{BB962C8B-B14F-4D97-AF65-F5344CB8AC3E}">
        <p14:creationId xmlns:p14="http://schemas.microsoft.com/office/powerpoint/2010/main" val="12800044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1+#ppt_w/2"/>
                                          </p:val>
                                        </p:tav>
                                        <p:tav tm="100000">
                                          <p:val>
                                            <p:strVal val="#ppt_x"/>
                                          </p:val>
                                        </p:tav>
                                      </p:tavLst>
                                    </p:anim>
                                    <p:anim calcmode="lin" valueType="num">
                                      <p:cBhvr additive="base">
                                        <p:cTn id="16"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BC8094-533A-4878-CA6D-F8716BA045E3}"/>
              </a:ext>
            </a:extLst>
          </p:cNvPr>
          <p:cNvSpPr>
            <a:spLocks noGrp="1"/>
          </p:cNvSpPr>
          <p:nvPr>
            <p:ph type="title"/>
          </p:nvPr>
        </p:nvSpPr>
        <p:spPr/>
        <p:txBody>
          <a:bodyPr/>
          <a:lstStyle/>
          <a:p>
            <a:r>
              <a:rPr lang="fr-FR" dirty="0"/>
              <a:t>Héritage: </a:t>
            </a:r>
            <a:r>
              <a:rPr lang="fr-FR" sz="4400" dirty="0" err="1">
                <a:latin typeface="Consolas" panose="020B0609020204030204" pitchFamily="49" charset="0"/>
                <a:cs typeface="Consolas" panose="020B0609020204030204" pitchFamily="49" charset="0"/>
              </a:rPr>
              <a:t>extends</a:t>
            </a:r>
            <a:endParaRPr lang="fr-FR" dirty="0">
              <a:latin typeface="Consolas" panose="020B0609020204030204" pitchFamily="49" charset="0"/>
              <a:cs typeface="Consolas" panose="020B0609020204030204" pitchFamily="49" charset="0"/>
            </a:endParaRPr>
          </a:p>
        </p:txBody>
      </p:sp>
      <p:sp>
        <p:nvSpPr>
          <p:cNvPr id="5" name="ZoneTexte 4">
            <a:extLst>
              <a:ext uri="{FF2B5EF4-FFF2-40B4-BE49-F238E27FC236}">
                <a16:creationId xmlns:a16="http://schemas.microsoft.com/office/drawing/2014/main" id="{F2FB58F3-383B-0FBD-62FE-24E47DEB9239}"/>
              </a:ext>
            </a:extLst>
          </p:cNvPr>
          <p:cNvSpPr txBox="1"/>
          <p:nvPr/>
        </p:nvSpPr>
        <p:spPr>
          <a:xfrm>
            <a:off x="520148" y="1340280"/>
            <a:ext cx="7280082" cy="2893100"/>
          </a:xfrm>
          <a:prstGeom prst="rect">
            <a:avLst/>
          </a:prstGeom>
          <a:solidFill>
            <a:schemeClr val="tx1"/>
          </a:solidFill>
          <a:ln>
            <a:solidFill>
              <a:schemeClr val="accent2"/>
            </a:solidFill>
          </a:ln>
        </p:spPr>
        <p:txBody>
          <a:bodyPr wrap="square">
            <a:spAutoFit/>
          </a:bodyPr>
          <a:lstStyle/>
          <a:p>
            <a:pPr marL="0" indent="0">
              <a:buNone/>
            </a:pP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CompteEpargne</a:t>
            </a:r>
            <a:r>
              <a:rPr lang="fr-BE" sz="1400" dirty="0">
                <a:solidFill>
                  <a:srgbClr val="000000"/>
                </a:solidFill>
                <a:highlight>
                  <a:srgbClr val="FFFFFF"/>
                </a:highlight>
                <a:latin typeface="Consolas" panose="020B0609020204030204" pitchFamily="49" charset="0"/>
              </a:rPr>
              <a:t> : </a:t>
            </a:r>
            <a:r>
              <a:rPr lang="fr-BE" sz="1400" dirty="0" err="1">
                <a:solidFill>
                  <a:srgbClr val="2B91AF"/>
                </a:solidFill>
                <a:highlight>
                  <a:srgbClr val="FFFFFF"/>
                </a:highlight>
                <a:latin typeface="Consolas" panose="020B0609020204030204" pitchFamily="49" charset="0"/>
              </a:rPr>
              <a:t>CompteBancaire</a:t>
            </a:r>
            <a:r>
              <a:rPr lang="fr-BE" sz="1400" dirty="0">
                <a:solidFill>
                  <a:srgbClr val="2B91AF"/>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private</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CompteEpargne</a:t>
            </a:r>
            <a:r>
              <a:rPr lang="fr-BE" sz="1400" dirty="0">
                <a:solidFill>
                  <a:srgbClr val="000000"/>
                </a:solidFill>
                <a:highlight>
                  <a:srgbClr val="FFFFFF"/>
                </a:highlight>
                <a:latin typeface="Consolas" panose="020B0609020204030204" pitchFamily="49" charset="0"/>
              </a:rPr>
              <a:t>(</a:t>
            </a:r>
            <a:r>
              <a:rPr lang="fr-BE" sz="1400" dirty="0">
                <a:solidFill>
                  <a:srgbClr val="0000FF"/>
                </a:solidFill>
                <a:highlight>
                  <a:srgbClr val="FFFFFF"/>
                </a:highlight>
                <a:latin typeface="Consolas" panose="020B0609020204030204" pitchFamily="49" charset="0"/>
              </a:rPr>
              <a:t>long</a:t>
            </a:r>
            <a:r>
              <a:rPr lang="fr-BE" sz="1400" dirty="0">
                <a:solidFill>
                  <a:srgbClr val="000000"/>
                </a:solidFill>
                <a:highlight>
                  <a:srgbClr val="FFFFFF"/>
                </a:highlight>
                <a:latin typeface="Consolas" panose="020B0609020204030204" pitchFamily="49" charset="0"/>
              </a:rPr>
              <a:t> Numéro, </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Taux) : </a:t>
            </a:r>
            <a:r>
              <a:rPr lang="fr-BE" sz="1400" dirty="0">
                <a:solidFill>
                  <a:srgbClr val="0000FF"/>
                </a:solidFill>
                <a:highlight>
                  <a:srgbClr val="FFFFFF"/>
                </a:highlight>
                <a:latin typeface="Consolas" panose="020B0609020204030204" pitchFamily="49" charset="0"/>
              </a:rPr>
              <a:t>base</a:t>
            </a:r>
            <a:r>
              <a:rPr lang="fr-BE" sz="1400" dirty="0">
                <a:solidFill>
                  <a:srgbClr val="000000"/>
                </a:solidFill>
                <a:highlight>
                  <a:srgbClr val="FFFFFF"/>
                </a:highlight>
                <a:latin typeface="Consolas" panose="020B0609020204030204" pitchFamily="49" charset="0"/>
              </a:rPr>
              <a:t>(Numéro) {</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 = Taux;</a:t>
            </a:r>
          </a:p>
          <a:p>
            <a:pPr marL="0" indent="0">
              <a:buNone/>
            </a:pPr>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Retirer(</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Montant) { Solde -= Montant;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 </a:t>
            </a:r>
            <a:r>
              <a:rPr lang="fr-BE" sz="1400" dirty="0" err="1">
                <a:solidFill>
                  <a:srgbClr val="0000FF"/>
                </a:solidFill>
                <a:highlight>
                  <a:srgbClr val="FFFFFF"/>
                </a:highlight>
                <a:latin typeface="Consolas" panose="020B0609020204030204" pitchFamily="49" charset="0"/>
              </a:rPr>
              <a:t>override</a:t>
            </a:r>
            <a:r>
              <a:rPr lang="fr-BE" sz="1400" dirty="0">
                <a:solidFill>
                  <a:srgbClr val="0000FF"/>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Déposer(</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Montant) { </a:t>
            </a:r>
          </a:p>
          <a:p>
            <a:r>
              <a:rPr lang="fr-BE" sz="1400" dirty="0">
                <a:solidFill>
                  <a:srgbClr val="000000"/>
                </a:solidFill>
                <a:highlight>
                  <a:srgbClr val="FFFFFF"/>
                </a:highlight>
                <a:latin typeface="Consolas" panose="020B0609020204030204" pitchFamily="49" charset="0"/>
              </a:rPr>
              <a:t>	       if (Solde &gt; Montant) Solde -= Montant; </a:t>
            </a:r>
          </a:p>
          <a:p>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Intérêts() {</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SetSolde</a:t>
            </a:r>
            <a:r>
              <a:rPr lang="fr-BE" sz="1400" dirty="0">
                <a:solidFill>
                  <a:srgbClr val="000000"/>
                </a:solidFill>
                <a:highlight>
                  <a:srgbClr val="FFFFFF"/>
                </a:highlight>
                <a:latin typeface="Consolas" panose="020B0609020204030204" pitchFamily="49" charset="0"/>
              </a:rPr>
              <a:t>(</a:t>
            </a:r>
            <a:r>
              <a:rPr lang="fr-BE" sz="1400" dirty="0" err="1">
                <a:solidFill>
                  <a:srgbClr val="000000"/>
                </a:solidFill>
                <a:highlight>
                  <a:srgbClr val="FFFFFF"/>
                </a:highlight>
                <a:latin typeface="Consolas" panose="020B0609020204030204" pitchFamily="49" charset="0"/>
              </a:rPr>
              <a:t>GetSolde</a:t>
            </a:r>
            <a:r>
              <a:rPr lang="fr-BE" sz="1400" dirty="0">
                <a:solidFill>
                  <a:srgbClr val="000000"/>
                </a:solidFill>
                <a:highlight>
                  <a:srgbClr val="FFFFFF"/>
                </a:highlight>
                <a:latin typeface="Consolas" panose="020B0609020204030204" pitchFamily="49" charset="0"/>
              </a:rPr>
              <a:t>() * (1 +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endParaRPr lang="fr-FR" sz="1400" dirty="0"/>
          </a:p>
        </p:txBody>
      </p:sp>
      <p:sp>
        <p:nvSpPr>
          <p:cNvPr id="7" name="ZoneTexte 6">
            <a:extLst>
              <a:ext uri="{FF2B5EF4-FFF2-40B4-BE49-F238E27FC236}">
                <a16:creationId xmlns:a16="http://schemas.microsoft.com/office/drawing/2014/main" id="{777EC568-4D1D-4A82-5144-1D9600B321F1}"/>
              </a:ext>
            </a:extLst>
          </p:cNvPr>
          <p:cNvSpPr txBox="1"/>
          <p:nvPr/>
        </p:nvSpPr>
        <p:spPr>
          <a:xfrm>
            <a:off x="4073718" y="3660616"/>
            <a:ext cx="7280082" cy="3108543"/>
          </a:xfrm>
          <a:prstGeom prst="rect">
            <a:avLst/>
          </a:prstGeom>
          <a:solidFill>
            <a:schemeClr val="tx1"/>
          </a:solidFill>
          <a:ln>
            <a:solidFill>
              <a:schemeClr val="accent2"/>
            </a:solidFill>
          </a:ln>
        </p:spPr>
        <p:txBody>
          <a:bodyPr wrap="square">
            <a:spAutoFit/>
          </a:bodyPr>
          <a:lstStyle/>
          <a:p>
            <a:pPr marL="0" indent="0">
              <a:buNone/>
            </a:pP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CompteEpargne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extends</a:t>
            </a:r>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CompteBancaire</a:t>
            </a:r>
            <a:r>
              <a:rPr lang="fr-BE" sz="1400" dirty="0">
                <a:solidFill>
                  <a:srgbClr val="2B91AF"/>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private</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CompteEpargne</a:t>
            </a:r>
            <a:r>
              <a:rPr lang="fr-BE" sz="1400" dirty="0">
                <a:solidFill>
                  <a:srgbClr val="000000"/>
                </a:solidFill>
                <a:highlight>
                  <a:srgbClr val="FFFFFF"/>
                </a:highlight>
                <a:latin typeface="Consolas" panose="020B0609020204030204" pitchFamily="49" charset="0"/>
              </a:rPr>
              <a:t>(</a:t>
            </a:r>
            <a:r>
              <a:rPr lang="fr-BE" sz="1400" dirty="0">
                <a:solidFill>
                  <a:srgbClr val="0000FF"/>
                </a:solidFill>
                <a:highlight>
                  <a:srgbClr val="FFFFFF"/>
                </a:highlight>
                <a:latin typeface="Consolas" panose="020B0609020204030204" pitchFamily="49" charset="0"/>
              </a:rPr>
              <a:t>long</a:t>
            </a:r>
            <a:r>
              <a:rPr lang="fr-BE" sz="1400" dirty="0">
                <a:solidFill>
                  <a:srgbClr val="000000"/>
                </a:solidFill>
                <a:highlight>
                  <a:srgbClr val="FFFFFF"/>
                </a:highlight>
                <a:latin typeface="Consolas" panose="020B0609020204030204" pitchFamily="49" charset="0"/>
              </a:rPr>
              <a:t> Numéro, </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Taux) {</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super</a:t>
            </a:r>
            <a:r>
              <a:rPr lang="fr-BE" sz="1400" dirty="0">
                <a:solidFill>
                  <a:srgbClr val="000000"/>
                </a:solidFill>
                <a:highlight>
                  <a:srgbClr val="FFFFFF"/>
                </a:highlight>
                <a:latin typeface="Consolas" panose="020B0609020204030204" pitchFamily="49" charset="0"/>
              </a:rPr>
              <a:t>(Numéro)</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 = Taux;</a:t>
            </a:r>
          </a:p>
          <a:p>
            <a:pPr marL="0" indent="0">
              <a:buNone/>
            </a:pPr>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Override</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déposer(</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montant) { </a:t>
            </a:r>
          </a:p>
          <a:p>
            <a:r>
              <a:rPr lang="fr-BE" sz="1400" dirty="0">
                <a:solidFill>
                  <a:srgbClr val="000000"/>
                </a:solidFill>
                <a:highlight>
                  <a:srgbClr val="FFFFFF"/>
                </a:highlight>
                <a:latin typeface="Consolas" panose="020B0609020204030204" pitchFamily="49" charset="0"/>
              </a:rPr>
              <a:t>	       if (solde &gt; montant) solde -= montant; </a:t>
            </a:r>
          </a:p>
          <a:p>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intérêts() {</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setSolde</a:t>
            </a:r>
            <a:r>
              <a:rPr lang="fr-BE" sz="1400" dirty="0">
                <a:solidFill>
                  <a:srgbClr val="000000"/>
                </a:solidFill>
                <a:highlight>
                  <a:srgbClr val="FFFFFF"/>
                </a:highlight>
                <a:latin typeface="Consolas" panose="020B0609020204030204" pitchFamily="49" charset="0"/>
              </a:rPr>
              <a:t>(</a:t>
            </a:r>
            <a:r>
              <a:rPr lang="fr-BE" sz="1400" dirty="0" err="1">
                <a:solidFill>
                  <a:srgbClr val="000000"/>
                </a:solidFill>
                <a:highlight>
                  <a:srgbClr val="FFFFFF"/>
                </a:highlight>
                <a:latin typeface="Consolas" panose="020B0609020204030204" pitchFamily="49" charset="0"/>
              </a:rPr>
              <a:t>getSolde</a:t>
            </a:r>
            <a:r>
              <a:rPr lang="fr-BE" sz="1400" dirty="0">
                <a:solidFill>
                  <a:srgbClr val="000000"/>
                </a:solidFill>
                <a:highlight>
                  <a:srgbClr val="FFFFFF"/>
                </a:highlight>
                <a:latin typeface="Consolas" panose="020B0609020204030204" pitchFamily="49" charset="0"/>
              </a:rPr>
              <a:t>() * (1 +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endParaRPr lang="fr-FR" sz="1400" dirty="0"/>
          </a:p>
        </p:txBody>
      </p:sp>
      <p:sp>
        <p:nvSpPr>
          <p:cNvPr id="8" name="ZoneTexte 7">
            <a:extLst>
              <a:ext uri="{FF2B5EF4-FFF2-40B4-BE49-F238E27FC236}">
                <a16:creationId xmlns:a16="http://schemas.microsoft.com/office/drawing/2014/main" id="{CF0772B0-8802-E556-E80B-4AB8F7551693}"/>
              </a:ext>
            </a:extLst>
          </p:cNvPr>
          <p:cNvSpPr txBox="1"/>
          <p:nvPr/>
        </p:nvSpPr>
        <p:spPr>
          <a:xfrm>
            <a:off x="6624812" y="3102135"/>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C#</a:t>
            </a:r>
          </a:p>
        </p:txBody>
      </p:sp>
      <p:sp>
        <p:nvSpPr>
          <p:cNvPr id="9" name="ZoneTexte 8">
            <a:extLst>
              <a:ext uri="{FF2B5EF4-FFF2-40B4-BE49-F238E27FC236}">
                <a16:creationId xmlns:a16="http://schemas.microsoft.com/office/drawing/2014/main" id="{826BE9AE-AB22-0526-C57C-F1AE4753BA42}"/>
              </a:ext>
            </a:extLst>
          </p:cNvPr>
          <p:cNvSpPr txBox="1"/>
          <p:nvPr/>
        </p:nvSpPr>
        <p:spPr>
          <a:xfrm>
            <a:off x="10146351" y="6118302"/>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java</a:t>
            </a:r>
          </a:p>
        </p:txBody>
      </p:sp>
      <p:sp>
        <p:nvSpPr>
          <p:cNvPr id="6" name="ZoneTexte 5">
            <a:extLst>
              <a:ext uri="{FF2B5EF4-FFF2-40B4-BE49-F238E27FC236}">
                <a16:creationId xmlns:a16="http://schemas.microsoft.com/office/drawing/2014/main" id="{7AC40226-7243-EE71-4E18-99B36BFE1E73}"/>
              </a:ext>
            </a:extLst>
          </p:cNvPr>
          <p:cNvSpPr txBox="1"/>
          <p:nvPr/>
        </p:nvSpPr>
        <p:spPr>
          <a:xfrm>
            <a:off x="13250579" y="4317562"/>
            <a:ext cx="3313581" cy="919401"/>
          </a:xfrm>
          <a:prstGeom prst="roundRect">
            <a:avLst/>
          </a:prstGeom>
          <a:solidFill>
            <a:schemeClr val="tx1"/>
          </a:solidFill>
          <a:ln>
            <a:solidFill>
              <a:schemeClr val="accent4"/>
            </a:solidFill>
          </a:ln>
        </p:spPr>
        <p:txBody>
          <a:bodyPr wrap="square" rtlCol="0">
            <a:spAutoFit/>
          </a:bodyPr>
          <a:lstStyle/>
          <a:p>
            <a:r>
              <a:rPr lang="fr-FR" sz="1600" dirty="0">
                <a:solidFill>
                  <a:schemeClr val="accent1"/>
                </a:solidFill>
              </a:rPr>
              <a:t>L’appel du constructeur ou d’une méthode de la classe mère se fait avec le mot clé </a:t>
            </a:r>
            <a:r>
              <a:rPr lang="fr-FR" sz="1400" dirty="0">
                <a:solidFill>
                  <a:schemeClr val="accent4"/>
                </a:solidFill>
                <a:latin typeface="Consolas" panose="020B0609020204030204" pitchFamily="49" charset="0"/>
                <a:cs typeface="Consolas" panose="020B0609020204030204" pitchFamily="49" charset="0"/>
              </a:rPr>
              <a:t>super</a:t>
            </a:r>
            <a:endParaRPr lang="fr-FR" sz="1600" dirty="0">
              <a:solidFill>
                <a:schemeClr val="accent4"/>
              </a:solidFill>
              <a:latin typeface="Consolas" panose="020B0609020204030204" pitchFamily="49" charset="0"/>
              <a:cs typeface="Consolas" panose="020B0609020204030204" pitchFamily="49" charset="0"/>
            </a:endParaRPr>
          </a:p>
        </p:txBody>
      </p:sp>
      <p:sp>
        <p:nvSpPr>
          <p:cNvPr id="10" name="ZoneTexte 9">
            <a:extLst>
              <a:ext uri="{FF2B5EF4-FFF2-40B4-BE49-F238E27FC236}">
                <a16:creationId xmlns:a16="http://schemas.microsoft.com/office/drawing/2014/main" id="{A301344A-3C3A-4143-9FC4-A3A6AEB99ED2}"/>
              </a:ext>
            </a:extLst>
          </p:cNvPr>
          <p:cNvSpPr txBox="1"/>
          <p:nvPr/>
        </p:nvSpPr>
        <p:spPr>
          <a:xfrm>
            <a:off x="13628025" y="5115780"/>
            <a:ext cx="3384551" cy="919401"/>
          </a:xfrm>
          <a:prstGeom prst="roundRect">
            <a:avLst/>
          </a:prstGeom>
          <a:solidFill>
            <a:schemeClr val="tx1"/>
          </a:solidFill>
          <a:ln>
            <a:solidFill>
              <a:schemeClr val="accent4"/>
            </a:solidFill>
          </a:ln>
        </p:spPr>
        <p:txBody>
          <a:bodyPr wrap="square" rtlCol="0">
            <a:spAutoFit/>
          </a:bodyPr>
          <a:lstStyle/>
          <a:p>
            <a:r>
              <a:rPr lang="fr-FR" sz="1600" dirty="0">
                <a:solidFill>
                  <a:schemeClr val="accent1"/>
                </a:solidFill>
              </a:rPr>
              <a:t>L’annotation optionnelle </a:t>
            </a:r>
            <a:r>
              <a:rPr lang="fr-FR" sz="1400" dirty="0">
                <a:solidFill>
                  <a:schemeClr val="accent4"/>
                </a:solidFill>
                <a:latin typeface="Consolas" panose="020B0609020204030204" pitchFamily="49" charset="0"/>
                <a:cs typeface="Consolas" panose="020B0609020204030204" pitchFamily="49" charset="0"/>
              </a:rPr>
              <a:t>@</a:t>
            </a:r>
            <a:r>
              <a:rPr lang="fr-FR" sz="1400" dirty="0" err="1">
                <a:solidFill>
                  <a:schemeClr val="accent4"/>
                </a:solidFill>
                <a:latin typeface="Consolas" panose="020B0609020204030204" pitchFamily="49" charset="0"/>
                <a:cs typeface="Consolas" panose="020B0609020204030204" pitchFamily="49" charset="0"/>
              </a:rPr>
              <a:t>Override</a:t>
            </a:r>
            <a:r>
              <a:rPr lang="fr-FR" sz="1600" dirty="0">
                <a:solidFill>
                  <a:schemeClr val="accent1"/>
                </a:solidFill>
              </a:rPr>
              <a:t> permet d’indiquer au compilateur qu’on redéfinit une méthode.</a:t>
            </a:r>
            <a:endParaRPr lang="fr-FR" sz="1600" dirty="0">
              <a:solidFill>
                <a:schemeClr val="accent4"/>
              </a:solidFill>
              <a:latin typeface="Consolas" panose="020B0609020204030204" pitchFamily="49" charset="0"/>
              <a:cs typeface="Consolas" panose="020B0609020204030204" pitchFamily="49" charset="0"/>
            </a:endParaRPr>
          </a:p>
        </p:txBody>
      </p:sp>
      <p:sp>
        <p:nvSpPr>
          <p:cNvPr id="3" name="Content Placeholder 4">
            <a:extLst>
              <a:ext uri="{FF2B5EF4-FFF2-40B4-BE49-F238E27FC236}">
                <a16:creationId xmlns:a16="http://schemas.microsoft.com/office/drawing/2014/main" id="{F584B6CF-23DE-5764-4FBD-64E994A3AA96}"/>
              </a:ext>
            </a:extLst>
          </p:cNvPr>
          <p:cNvSpPr txBox="1">
            <a:spLocks/>
          </p:cNvSpPr>
          <p:nvPr/>
        </p:nvSpPr>
        <p:spPr>
          <a:xfrm>
            <a:off x="273705" y="4518730"/>
            <a:ext cx="2880000" cy="258532"/>
          </a:xfrm>
          <a:prstGeom prst="rect">
            <a:avLst/>
          </a:prstGeom>
          <a:solidFill>
            <a:schemeClr val="tx1"/>
          </a:solidFill>
          <a:ln>
            <a:solidFill>
              <a:schemeClr val="accent2"/>
            </a:solidFill>
          </a:ln>
        </p:spPr>
        <p:txBody>
          <a:bodyPr vert="horz" wrap="square"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class</a:t>
            </a:r>
            <a:r>
              <a:rPr lang="fr-BE" sz="1200" dirty="0">
                <a:solidFill>
                  <a:srgbClr val="000000"/>
                </a:solidFill>
                <a:highlight>
                  <a:srgbClr val="FFFFFF"/>
                </a:highlight>
                <a:latin typeface="Consolas" panose="020B0609020204030204" pitchFamily="49" charset="0"/>
              </a:rPr>
              <a:t> </a:t>
            </a:r>
            <a:r>
              <a:rPr lang="fr-BE" sz="1200" dirty="0" err="1">
                <a:solidFill>
                  <a:srgbClr val="2B91AF"/>
                </a:solidFill>
                <a:highlight>
                  <a:srgbClr val="FFFFFF"/>
                </a:highlight>
                <a:latin typeface="Consolas" panose="020B0609020204030204" pitchFamily="49" charset="0"/>
              </a:rPr>
              <a:t>CompteBancaire</a:t>
            </a:r>
            <a:r>
              <a:rPr lang="fr-BE" sz="1200" dirty="0">
                <a:solidFill>
                  <a:srgbClr val="000000"/>
                </a:solidFill>
                <a:highlight>
                  <a:srgbClr val="FFFFFF"/>
                </a:highlight>
                <a:latin typeface="Consolas" panose="020B0609020204030204" pitchFamily="49" charset="0"/>
              </a:rPr>
              <a:t> { ... }</a:t>
            </a:r>
          </a:p>
        </p:txBody>
      </p:sp>
      <p:sp>
        <p:nvSpPr>
          <p:cNvPr id="11" name="Content Placeholder 4">
            <a:extLst>
              <a:ext uri="{FF2B5EF4-FFF2-40B4-BE49-F238E27FC236}">
                <a16:creationId xmlns:a16="http://schemas.microsoft.com/office/drawing/2014/main" id="{33D54670-5EE3-931E-8EC9-0FB8361ED4C1}"/>
              </a:ext>
            </a:extLst>
          </p:cNvPr>
          <p:cNvSpPr txBox="1">
            <a:spLocks/>
          </p:cNvSpPr>
          <p:nvPr/>
        </p:nvSpPr>
        <p:spPr>
          <a:xfrm>
            <a:off x="8499460" y="2900126"/>
            <a:ext cx="2880000" cy="258532"/>
          </a:xfrm>
          <a:prstGeom prst="rect">
            <a:avLst/>
          </a:prstGeom>
          <a:solidFill>
            <a:schemeClr val="tx1"/>
          </a:solidFill>
          <a:ln>
            <a:solidFill>
              <a:schemeClr val="accent2"/>
            </a:solidFill>
          </a:ln>
        </p:spPr>
        <p:txBody>
          <a:bodyPr vert="horz" wrap="square"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class</a:t>
            </a:r>
            <a:r>
              <a:rPr lang="fr-BE" sz="1200" dirty="0">
                <a:solidFill>
                  <a:srgbClr val="000000"/>
                </a:solidFill>
                <a:highlight>
                  <a:srgbClr val="FFFFFF"/>
                </a:highlight>
                <a:latin typeface="Consolas" panose="020B0609020204030204" pitchFamily="49" charset="0"/>
              </a:rPr>
              <a:t> </a:t>
            </a:r>
            <a:r>
              <a:rPr lang="fr-BE" sz="1200" dirty="0" err="1">
                <a:solidFill>
                  <a:srgbClr val="2B91AF"/>
                </a:solidFill>
                <a:highlight>
                  <a:srgbClr val="FFFFFF"/>
                </a:highlight>
                <a:latin typeface="Consolas" panose="020B0609020204030204" pitchFamily="49" charset="0"/>
              </a:rPr>
              <a:t>CompteBancaire</a:t>
            </a:r>
            <a:r>
              <a:rPr lang="fr-BE" sz="1200" dirty="0">
                <a:solidFill>
                  <a:srgbClr val="000000"/>
                </a:solidFill>
                <a:highlight>
                  <a:srgbClr val="FFFFFF"/>
                </a:highlight>
                <a:latin typeface="Consolas" panose="020B0609020204030204" pitchFamily="49" charset="0"/>
              </a:rPr>
              <a:t> { </a:t>
            </a:r>
            <a:r>
              <a:rPr lang="nl-BE" sz="1200" dirty="0">
                <a:solidFill>
                  <a:srgbClr val="000000"/>
                </a:solidFill>
                <a:highlight>
                  <a:srgbClr val="FFFFFF"/>
                </a:highlight>
                <a:latin typeface="Consolas" panose="020B0609020204030204" pitchFamily="49" charset="0"/>
              </a:rPr>
              <a:t>... </a:t>
            </a:r>
            <a:r>
              <a:rPr lang="fr-BE" sz="1200" dirty="0">
                <a:solidFill>
                  <a:srgbClr val="000000"/>
                </a:solidFill>
                <a:highlight>
                  <a:srgbClr val="FFFFFF"/>
                </a:highlight>
                <a:latin typeface="Consolas" panose="020B0609020204030204" pitchFamily="49" charset="0"/>
              </a:rPr>
              <a:t>}</a:t>
            </a:r>
          </a:p>
        </p:txBody>
      </p:sp>
      <p:sp>
        <p:nvSpPr>
          <p:cNvPr id="4" name="ZoneTexte 3">
            <a:extLst>
              <a:ext uri="{FF2B5EF4-FFF2-40B4-BE49-F238E27FC236}">
                <a16:creationId xmlns:a16="http://schemas.microsoft.com/office/drawing/2014/main" id="{644949EB-0200-4BD7-3994-214FDA552ADB}"/>
              </a:ext>
            </a:extLst>
          </p:cNvPr>
          <p:cNvSpPr txBox="1"/>
          <p:nvPr/>
        </p:nvSpPr>
        <p:spPr>
          <a:xfrm>
            <a:off x="8554383" y="3337122"/>
            <a:ext cx="3384551" cy="646986"/>
          </a:xfrm>
          <a:prstGeom prst="roundRect">
            <a:avLst/>
          </a:prstGeom>
          <a:solidFill>
            <a:schemeClr val="tx1"/>
          </a:solidFill>
          <a:ln>
            <a:solidFill>
              <a:schemeClr val="accent4"/>
            </a:solidFill>
          </a:ln>
          <a:effectLst>
            <a:outerShdw blurRad="50800" dist="38100" dir="2700000" algn="tl" rotWithShape="0">
              <a:prstClr val="black">
                <a:alpha val="40000"/>
              </a:prstClr>
            </a:outerShdw>
          </a:effectLst>
        </p:spPr>
        <p:txBody>
          <a:bodyPr wrap="square" rtlCol="0">
            <a:spAutoFit/>
          </a:bodyPr>
          <a:lstStyle/>
          <a:p>
            <a:r>
              <a:rPr lang="fr-FR" sz="1600" dirty="0">
                <a:solidFill>
                  <a:schemeClr val="accent1"/>
                </a:solidFill>
              </a:rPr>
              <a:t>Pour indiquer l’héritage, on utilise le mot clé </a:t>
            </a:r>
            <a:r>
              <a:rPr lang="fr-FR" sz="1400" dirty="0" err="1">
                <a:solidFill>
                  <a:schemeClr val="accent4"/>
                </a:solidFill>
                <a:latin typeface="Consolas" panose="020B0609020204030204" pitchFamily="49" charset="0"/>
                <a:cs typeface="Consolas" panose="020B0609020204030204" pitchFamily="49" charset="0"/>
              </a:rPr>
              <a:t>extends</a:t>
            </a:r>
            <a:endParaRPr lang="fr-FR" sz="1600" dirty="0">
              <a:solidFill>
                <a:schemeClr val="accent4"/>
              </a:solidFill>
              <a:latin typeface="Consolas" panose="020B0609020204030204" pitchFamily="49" charset="0"/>
              <a:cs typeface="Consolas" panose="020B0609020204030204" pitchFamily="49" charset="0"/>
            </a:endParaRPr>
          </a:p>
        </p:txBody>
      </p:sp>
      <p:sp>
        <p:nvSpPr>
          <p:cNvPr id="12" name="Rectangle : avec coins arrondis en haut 11">
            <a:extLst>
              <a:ext uri="{FF2B5EF4-FFF2-40B4-BE49-F238E27FC236}">
                <a16:creationId xmlns:a16="http://schemas.microsoft.com/office/drawing/2014/main" id="{B4E34745-4A14-76CD-7B00-ED80D9A8C9C9}"/>
              </a:ext>
            </a:extLst>
          </p:cNvPr>
          <p:cNvSpPr/>
          <p:nvPr/>
        </p:nvSpPr>
        <p:spPr>
          <a:xfrm>
            <a:off x="6096000" y="3670042"/>
            <a:ext cx="2265575"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 avec coins arrondis en haut 12">
            <a:extLst>
              <a:ext uri="{FF2B5EF4-FFF2-40B4-BE49-F238E27FC236}">
                <a16:creationId xmlns:a16="http://schemas.microsoft.com/office/drawing/2014/main" id="{CE05A3BC-A2B1-9137-FFBD-8F375EE2211E}"/>
              </a:ext>
            </a:extLst>
          </p:cNvPr>
          <p:cNvSpPr/>
          <p:nvPr/>
        </p:nvSpPr>
        <p:spPr>
          <a:xfrm>
            <a:off x="2505201" y="1351633"/>
            <a:ext cx="1718007"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Espace réservé du numéro de diapositive 13">
            <a:extLst>
              <a:ext uri="{FF2B5EF4-FFF2-40B4-BE49-F238E27FC236}">
                <a16:creationId xmlns:a16="http://schemas.microsoft.com/office/drawing/2014/main" id="{19F3A492-BF38-50D7-F432-76058C2A4701}"/>
              </a:ext>
            </a:extLst>
          </p:cNvPr>
          <p:cNvSpPr>
            <a:spLocks noGrp="1"/>
          </p:cNvSpPr>
          <p:nvPr>
            <p:ph type="sldNum" sz="quarter" idx="4"/>
          </p:nvPr>
        </p:nvSpPr>
        <p:spPr/>
        <p:txBody>
          <a:bodyPr/>
          <a:lstStyle/>
          <a:p>
            <a:fld id="{33C783E2-4793-4F48-A271-51A73CC37D74}" type="slidenum">
              <a:rPr lang="fr-FR" smtClean="0"/>
              <a:t>39</a:t>
            </a:fld>
            <a:endParaRPr lang="fr-FR"/>
          </a:p>
        </p:txBody>
      </p:sp>
    </p:spTree>
    <p:extLst>
      <p:ext uri="{BB962C8B-B14F-4D97-AF65-F5344CB8AC3E}">
        <p14:creationId xmlns:p14="http://schemas.microsoft.com/office/powerpoint/2010/main" val="1659004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dissolve">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BC8094-533A-4878-CA6D-F8716BA045E3}"/>
              </a:ext>
            </a:extLst>
          </p:cNvPr>
          <p:cNvSpPr>
            <a:spLocks noGrp="1"/>
          </p:cNvSpPr>
          <p:nvPr>
            <p:ph type="title"/>
          </p:nvPr>
        </p:nvSpPr>
        <p:spPr/>
        <p:txBody>
          <a:bodyPr>
            <a:normAutofit fontScale="90000"/>
          </a:bodyPr>
          <a:lstStyle/>
          <a:p>
            <a:r>
              <a:rPr lang="fr-FR" dirty="0"/>
              <a:t>Appel du constructeur de la classe parent</a:t>
            </a:r>
          </a:p>
        </p:txBody>
      </p:sp>
      <p:sp>
        <p:nvSpPr>
          <p:cNvPr id="5" name="ZoneTexte 4">
            <a:extLst>
              <a:ext uri="{FF2B5EF4-FFF2-40B4-BE49-F238E27FC236}">
                <a16:creationId xmlns:a16="http://schemas.microsoft.com/office/drawing/2014/main" id="{F2FB58F3-383B-0FBD-62FE-24E47DEB9239}"/>
              </a:ext>
            </a:extLst>
          </p:cNvPr>
          <p:cNvSpPr txBox="1"/>
          <p:nvPr/>
        </p:nvSpPr>
        <p:spPr>
          <a:xfrm>
            <a:off x="520148" y="1340280"/>
            <a:ext cx="7280082" cy="2893100"/>
          </a:xfrm>
          <a:prstGeom prst="rect">
            <a:avLst/>
          </a:prstGeom>
          <a:solidFill>
            <a:schemeClr val="tx1"/>
          </a:solidFill>
          <a:ln>
            <a:solidFill>
              <a:schemeClr val="accent2"/>
            </a:solidFill>
          </a:ln>
        </p:spPr>
        <p:txBody>
          <a:bodyPr wrap="square">
            <a:spAutoFit/>
          </a:bodyPr>
          <a:lstStyle/>
          <a:p>
            <a:pPr marL="0" indent="0">
              <a:buNone/>
            </a:pP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CompteEpargne</a:t>
            </a:r>
            <a:r>
              <a:rPr lang="fr-BE" sz="1400" dirty="0">
                <a:solidFill>
                  <a:srgbClr val="000000"/>
                </a:solidFill>
                <a:highlight>
                  <a:srgbClr val="FFFFFF"/>
                </a:highlight>
                <a:latin typeface="Consolas" panose="020B0609020204030204" pitchFamily="49" charset="0"/>
              </a:rPr>
              <a:t> : </a:t>
            </a:r>
            <a:r>
              <a:rPr lang="fr-BE" sz="1400" dirty="0" err="1">
                <a:solidFill>
                  <a:srgbClr val="2B91AF"/>
                </a:solidFill>
                <a:highlight>
                  <a:srgbClr val="FFFFFF"/>
                </a:highlight>
                <a:latin typeface="Consolas" panose="020B0609020204030204" pitchFamily="49" charset="0"/>
              </a:rPr>
              <a:t>CompteBancaire</a:t>
            </a:r>
            <a:r>
              <a:rPr lang="fr-BE" sz="1400" dirty="0">
                <a:solidFill>
                  <a:srgbClr val="2B91AF"/>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private</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CompteEpargne</a:t>
            </a:r>
            <a:r>
              <a:rPr lang="fr-BE" sz="1400" dirty="0">
                <a:solidFill>
                  <a:srgbClr val="000000"/>
                </a:solidFill>
                <a:highlight>
                  <a:srgbClr val="FFFFFF"/>
                </a:highlight>
                <a:latin typeface="Consolas" panose="020B0609020204030204" pitchFamily="49" charset="0"/>
              </a:rPr>
              <a:t>(</a:t>
            </a:r>
            <a:r>
              <a:rPr lang="fr-BE" sz="1400" dirty="0">
                <a:solidFill>
                  <a:srgbClr val="0000FF"/>
                </a:solidFill>
                <a:highlight>
                  <a:srgbClr val="FFFFFF"/>
                </a:highlight>
                <a:latin typeface="Consolas" panose="020B0609020204030204" pitchFamily="49" charset="0"/>
              </a:rPr>
              <a:t>long</a:t>
            </a:r>
            <a:r>
              <a:rPr lang="fr-BE" sz="1400" dirty="0">
                <a:solidFill>
                  <a:srgbClr val="000000"/>
                </a:solidFill>
                <a:highlight>
                  <a:srgbClr val="FFFFFF"/>
                </a:highlight>
                <a:latin typeface="Consolas" panose="020B0609020204030204" pitchFamily="49" charset="0"/>
              </a:rPr>
              <a:t> Numéro, </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Taux) : </a:t>
            </a:r>
            <a:r>
              <a:rPr lang="fr-BE" sz="1400" dirty="0">
                <a:solidFill>
                  <a:srgbClr val="0000FF"/>
                </a:solidFill>
                <a:highlight>
                  <a:srgbClr val="FFFFFF"/>
                </a:highlight>
                <a:latin typeface="Consolas" panose="020B0609020204030204" pitchFamily="49" charset="0"/>
              </a:rPr>
              <a:t>base</a:t>
            </a:r>
            <a:r>
              <a:rPr lang="fr-BE" sz="1400" dirty="0">
                <a:solidFill>
                  <a:srgbClr val="000000"/>
                </a:solidFill>
                <a:highlight>
                  <a:srgbClr val="FFFFFF"/>
                </a:highlight>
                <a:latin typeface="Consolas" panose="020B0609020204030204" pitchFamily="49" charset="0"/>
              </a:rPr>
              <a:t>(Numéro) {</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 = Taux;</a:t>
            </a:r>
          </a:p>
          <a:p>
            <a:pPr marL="0" indent="0">
              <a:buNone/>
            </a:pPr>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Retirer(</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Montant) { Solde -= Montant;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 </a:t>
            </a:r>
            <a:r>
              <a:rPr lang="fr-BE" sz="1400" dirty="0" err="1">
                <a:solidFill>
                  <a:srgbClr val="0000FF"/>
                </a:solidFill>
                <a:highlight>
                  <a:srgbClr val="FFFFFF"/>
                </a:highlight>
                <a:latin typeface="Consolas" panose="020B0609020204030204" pitchFamily="49" charset="0"/>
              </a:rPr>
              <a:t>override</a:t>
            </a:r>
            <a:r>
              <a:rPr lang="fr-BE" sz="1400" dirty="0">
                <a:solidFill>
                  <a:srgbClr val="0000FF"/>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Déposer(</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Montant) { </a:t>
            </a:r>
          </a:p>
          <a:p>
            <a:r>
              <a:rPr lang="fr-BE" sz="1400" dirty="0">
                <a:solidFill>
                  <a:srgbClr val="000000"/>
                </a:solidFill>
                <a:highlight>
                  <a:srgbClr val="FFFFFF"/>
                </a:highlight>
                <a:latin typeface="Consolas" panose="020B0609020204030204" pitchFamily="49" charset="0"/>
              </a:rPr>
              <a:t>	       if (Solde &gt; Montant) Solde -= Montant; </a:t>
            </a:r>
          </a:p>
          <a:p>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Intérêts() {</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SetSolde</a:t>
            </a:r>
            <a:r>
              <a:rPr lang="fr-BE" sz="1400" dirty="0">
                <a:solidFill>
                  <a:srgbClr val="000000"/>
                </a:solidFill>
                <a:highlight>
                  <a:srgbClr val="FFFFFF"/>
                </a:highlight>
                <a:latin typeface="Consolas" panose="020B0609020204030204" pitchFamily="49" charset="0"/>
              </a:rPr>
              <a:t>(</a:t>
            </a:r>
            <a:r>
              <a:rPr lang="fr-BE" sz="1400" dirty="0" err="1">
                <a:solidFill>
                  <a:srgbClr val="000000"/>
                </a:solidFill>
                <a:highlight>
                  <a:srgbClr val="FFFFFF"/>
                </a:highlight>
                <a:latin typeface="Consolas" panose="020B0609020204030204" pitchFamily="49" charset="0"/>
              </a:rPr>
              <a:t>GetSolde</a:t>
            </a:r>
            <a:r>
              <a:rPr lang="fr-BE" sz="1400" dirty="0">
                <a:solidFill>
                  <a:srgbClr val="000000"/>
                </a:solidFill>
                <a:highlight>
                  <a:srgbClr val="FFFFFF"/>
                </a:highlight>
                <a:latin typeface="Consolas" panose="020B0609020204030204" pitchFamily="49" charset="0"/>
              </a:rPr>
              <a:t>() * (1 +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endParaRPr lang="fr-FR" sz="1400" dirty="0"/>
          </a:p>
        </p:txBody>
      </p:sp>
      <p:sp>
        <p:nvSpPr>
          <p:cNvPr id="7" name="ZoneTexte 6">
            <a:extLst>
              <a:ext uri="{FF2B5EF4-FFF2-40B4-BE49-F238E27FC236}">
                <a16:creationId xmlns:a16="http://schemas.microsoft.com/office/drawing/2014/main" id="{777EC568-4D1D-4A82-5144-1D9600B321F1}"/>
              </a:ext>
            </a:extLst>
          </p:cNvPr>
          <p:cNvSpPr txBox="1"/>
          <p:nvPr/>
        </p:nvSpPr>
        <p:spPr>
          <a:xfrm>
            <a:off x="4073718" y="3660616"/>
            <a:ext cx="7280082" cy="3108543"/>
          </a:xfrm>
          <a:prstGeom prst="rect">
            <a:avLst/>
          </a:prstGeom>
          <a:solidFill>
            <a:schemeClr val="tx1"/>
          </a:solidFill>
          <a:ln>
            <a:solidFill>
              <a:schemeClr val="accent2"/>
            </a:solidFill>
          </a:ln>
        </p:spPr>
        <p:txBody>
          <a:bodyPr wrap="square">
            <a:spAutoFit/>
          </a:bodyPr>
          <a:lstStyle/>
          <a:p>
            <a:pPr marL="0" indent="0">
              <a:buNone/>
            </a:pP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CompteEpargne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extends</a:t>
            </a:r>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CompteBancaire</a:t>
            </a:r>
            <a:r>
              <a:rPr lang="fr-BE" sz="1400" dirty="0">
                <a:solidFill>
                  <a:srgbClr val="2B91AF"/>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private</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CompteEpargne</a:t>
            </a:r>
            <a:r>
              <a:rPr lang="fr-BE" sz="1400" dirty="0">
                <a:solidFill>
                  <a:srgbClr val="000000"/>
                </a:solidFill>
                <a:highlight>
                  <a:srgbClr val="FFFFFF"/>
                </a:highlight>
                <a:latin typeface="Consolas" panose="020B0609020204030204" pitchFamily="49" charset="0"/>
              </a:rPr>
              <a:t>(</a:t>
            </a:r>
            <a:r>
              <a:rPr lang="fr-BE" sz="1400" dirty="0">
                <a:solidFill>
                  <a:srgbClr val="0000FF"/>
                </a:solidFill>
                <a:highlight>
                  <a:srgbClr val="FFFFFF"/>
                </a:highlight>
                <a:latin typeface="Consolas" panose="020B0609020204030204" pitchFamily="49" charset="0"/>
              </a:rPr>
              <a:t>long</a:t>
            </a:r>
            <a:r>
              <a:rPr lang="fr-BE" sz="1400" dirty="0">
                <a:solidFill>
                  <a:srgbClr val="000000"/>
                </a:solidFill>
                <a:highlight>
                  <a:srgbClr val="FFFFFF"/>
                </a:highlight>
                <a:latin typeface="Consolas" panose="020B0609020204030204" pitchFamily="49" charset="0"/>
              </a:rPr>
              <a:t> numéro, </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taux) {</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super</a:t>
            </a:r>
            <a:r>
              <a:rPr lang="fr-BE" sz="1400" dirty="0">
                <a:solidFill>
                  <a:srgbClr val="000000"/>
                </a:solidFill>
                <a:highlight>
                  <a:srgbClr val="FFFFFF"/>
                </a:highlight>
                <a:latin typeface="Consolas" panose="020B0609020204030204" pitchFamily="49" charset="0"/>
              </a:rPr>
              <a:t>(numéro)</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 = taux;</a:t>
            </a:r>
          </a:p>
          <a:p>
            <a:pPr marL="0" indent="0">
              <a:buNone/>
            </a:pPr>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Override</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déposer(</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montant) { </a:t>
            </a:r>
          </a:p>
          <a:p>
            <a:r>
              <a:rPr lang="fr-BE" sz="1400" dirty="0">
                <a:solidFill>
                  <a:srgbClr val="000000"/>
                </a:solidFill>
                <a:highlight>
                  <a:srgbClr val="FFFFFF"/>
                </a:highlight>
                <a:latin typeface="Consolas" panose="020B0609020204030204" pitchFamily="49" charset="0"/>
              </a:rPr>
              <a:t>	       if (solde &gt; montant) solde -= montant; </a:t>
            </a:r>
          </a:p>
          <a:p>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intérêts() {</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setSolde</a:t>
            </a:r>
            <a:r>
              <a:rPr lang="fr-BE" sz="1400" dirty="0">
                <a:solidFill>
                  <a:srgbClr val="000000"/>
                </a:solidFill>
                <a:highlight>
                  <a:srgbClr val="FFFFFF"/>
                </a:highlight>
                <a:latin typeface="Consolas" panose="020B0609020204030204" pitchFamily="49" charset="0"/>
              </a:rPr>
              <a:t>(</a:t>
            </a:r>
            <a:r>
              <a:rPr lang="fr-BE" sz="1400" dirty="0" err="1">
                <a:solidFill>
                  <a:srgbClr val="000000"/>
                </a:solidFill>
                <a:highlight>
                  <a:srgbClr val="FFFFFF"/>
                </a:highlight>
                <a:latin typeface="Consolas" panose="020B0609020204030204" pitchFamily="49" charset="0"/>
              </a:rPr>
              <a:t>getSolde</a:t>
            </a:r>
            <a:r>
              <a:rPr lang="fr-BE" sz="1400" dirty="0">
                <a:solidFill>
                  <a:srgbClr val="000000"/>
                </a:solidFill>
                <a:highlight>
                  <a:srgbClr val="FFFFFF"/>
                </a:highlight>
                <a:latin typeface="Consolas" panose="020B0609020204030204" pitchFamily="49" charset="0"/>
              </a:rPr>
              <a:t>() * (1 +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endParaRPr lang="fr-FR" sz="1400" dirty="0"/>
          </a:p>
        </p:txBody>
      </p:sp>
      <p:sp>
        <p:nvSpPr>
          <p:cNvPr id="8" name="ZoneTexte 7">
            <a:extLst>
              <a:ext uri="{FF2B5EF4-FFF2-40B4-BE49-F238E27FC236}">
                <a16:creationId xmlns:a16="http://schemas.microsoft.com/office/drawing/2014/main" id="{CF0772B0-8802-E556-E80B-4AB8F7551693}"/>
              </a:ext>
            </a:extLst>
          </p:cNvPr>
          <p:cNvSpPr txBox="1"/>
          <p:nvPr/>
        </p:nvSpPr>
        <p:spPr>
          <a:xfrm>
            <a:off x="6624812" y="3102135"/>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C#</a:t>
            </a:r>
          </a:p>
        </p:txBody>
      </p:sp>
      <p:sp>
        <p:nvSpPr>
          <p:cNvPr id="9" name="ZoneTexte 8">
            <a:extLst>
              <a:ext uri="{FF2B5EF4-FFF2-40B4-BE49-F238E27FC236}">
                <a16:creationId xmlns:a16="http://schemas.microsoft.com/office/drawing/2014/main" id="{826BE9AE-AB22-0526-C57C-F1AE4753BA42}"/>
              </a:ext>
            </a:extLst>
          </p:cNvPr>
          <p:cNvSpPr txBox="1"/>
          <p:nvPr/>
        </p:nvSpPr>
        <p:spPr>
          <a:xfrm>
            <a:off x="10146351" y="6118302"/>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java</a:t>
            </a:r>
          </a:p>
        </p:txBody>
      </p:sp>
      <p:sp>
        <p:nvSpPr>
          <p:cNvPr id="6" name="ZoneTexte 5">
            <a:extLst>
              <a:ext uri="{FF2B5EF4-FFF2-40B4-BE49-F238E27FC236}">
                <a16:creationId xmlns:a16="http://schemas.microsoft.com/office/drawing/2014/main" id="{7AC40226-7243-EE71-4E18-99B36BFE1E73}"/>
              </a:ext>
            </a:extLst>
          </p:cNvPr>
          <p:cNvSpPr txBox="1"/>
          <p:nvPr/>
        </p:nvSpPr>
        <p:spPr>
          <a:xfrm>
            <a:off x="8653527" y="4330088"/>
            <a:ext cx="3313581" cy="919401"/>
          </a:xfrm>
          <a:prstGeom prst="roundRect">
            <a:avLst/>
          </a:prstGeom>
          <a:solidFill>
            <a:schemeClr val="tx1"/>
          </a:solidFill>
          <a:ln>
            <a:solidFill>
              <a:schemeClr val="accent4"/>
            </a:solidFill>
          </a:ln>
          <a:effectLst>
            <a:outerShdw blurRad="50800" dist="38100" dir="2700000" algn="tl" rotWithShape="0">
              <a:prstClr val="black">
                <a:alpha val="40000"/>
              </a:prstClr>
            </a:outerShdw>
          </a:effectLst>
        </p:spPr>
        <p:txBody>
          <a:bodyPr wrap="square" rtlCol="0">
            <a:spAutoFit/>
          </a:bodyPr>
          <a:lstStyle/>
          <a:p>
            <a:r>
              <a:rPr lang="fr-FR" sz="1600" dirty="0">
                <a:solidFill>
                  <a:schemeClr val="accent1"/>
                </a:solidFill>
              </a:rPr>
              <a:t>L’appel du constructeur ou d’une méthode de la classe mère se fait avec le mot clé </a:t>
            </a:r>
            <a:r>
              <a:rPr lang="fr-FR" sz="1400" dirty="0">
                <a:solidFill>
                  <a:schemeClr val="accent4"/>
                </a:solidFill>
                <a:latin typeface="Consolas" panose="020B0609020204030204" pitchFamily="49" charset="0"/>
                <a:cs typeface="Consolas" panose="020B0609020204030204" pitchFamily="49" charset="0"/>
              </a:rPr>
              <a:t>super</a:t>
            </a:r>
            <a:endParaRPr lang="fr-FR" sz="1600" dirty="0">
              <a:solidFill>
                <a:schemeClr val="accent4"/>
              </a:solidFill>
              <a:latin typeface="Consolas" panose="020B0609020204030204" pitchFamily="49" charset="0"/>
              <a:cs typeface="Consolas" panose="020B0609020204030204" pitchFamily="49" charset="0"/>
            </a:endParaRPr>
          </a:p>
        </p:txBody>
      </p:sp>
      <p:sp>
        <p:nvSpPr>
          <p:cNvPr id="3" name="ZoneTexte 2">
            <a:extLst>
              <a:ext uri="{FF2B5EF4-FFF2-40B4-BE49-F238E27FC236}">
                <a16:creationId xmlns:a16="http://schemas.microsoft.com/office/drawing/2014/main" id="{1E5D9AE6-C209-ACA4-1679-25A7F0D9E9A5}"/>
              </a:ext>
            </a:extLst>
          </p:cNvPr>
          <p:cNvSpPr txBox="1"/>
          <p:nvPr/>
        </p:nvSpPr>
        <p:spPr>
          <a:xfrm>
            <a:off x="13464353" y="4429759"/>
            <a:ext cx="3384551" cy="919401"/>
          </a:xfrm>
          <a:prstGeom prst="roundRect">
            <a:avLst/>
          </a:prstGeom>
          <a:solidFill>
            <a:schemeClr val="tx1"/>
          </a:solidFill>
          <a:ln>
            <a:solidFill>
              <a:schemeClr val="accent4"/>
            </a:solidFill>
          </a:ln>
        </p:spPr>
        <p:txBody>
          <a:bodyPr wrap="square" rtlCol="0">
            <a:spAutoFit/>
          </a:bodyPr>
          <a:lstStyle/>
          <a:p>
            <a:r>
              <a:rPr lang="fr-FR" sz="1600" dirty="0">
                <a:solidFill>
                  <a:schemeClr val="accent1"/>
                </a:solidFill>
              </a:rPr>
              <a:t>L’annotation optionnelle </a:t>
            </a:r>
            <a:r>
              <a:rPr lang="fr-FR" sz="1400" dirty="0">
                <a:solidFill>
                  <a:schemeClr val="accent4"/>
                </a:solidFill>
                <a:latin typeface="Consolas" panose="020B0609020204030204" pitchFamily="49" charset="0"/>
                <a:cs typeface="Consolas" panose="020B0609020204030204" pitchFamily="49" charset="0"/>
              </a:rPr>
              <a:t>@</a:t>
            </a:r>
            <a:r>
              <a:rPr lang="fr-FR" sz="1400" dirty="0" err="1">
                <a:solidFill>
                  <a:schemeClr val="accent4"/>
                </a:solidFill>
                <a:latin typeface="Consolas" panose="020B0609020204030204" pitchFamily="49" charset="0"/>
                <a:cs typeface="Consolas" panose="020B0609020204030204" pitchFamily="49" charset="0"/>
              </a:rPr>
              <a:t>Override</a:t>
            </a:r>
            <a:r>
              <a:rPr lang="fr-FR" sz="1600" dirty="0">
                <a:solidFill>
                  <a:schemeClr val="accent1"/>
                </a:solidFill>
              </a:rPr>
              <a:t> permet d’indiquer au compilateur qu’on redéfinit une méthode.</a:t>
            </a:r>
            <a:endParaRPr lang="fr-FR" sz="1600" dirty="0">
              <a:solidFill>
                <a:schemeClr val="accent4"/>
              </a:solidFill>
              <a:latin typeface="Consolas" panose="020B0609020204030204" pitchFamily="49" charset="0"/>
              <a:cs typeface="Consolas" panose="020B0609020204030204" pitchFamily="49" charset="0"/>
            </a:endParaRPr>
          </a:p>
        </p:txBody>
      </p:sp>
      <p:sp>
        <p:nvSpPr>
          <p:cNvPr id="11" name="Content Placeholder 4">
            <a:extLst>
              <a:ext uri="{FF2B5EF4-FFF2-40B4-BE49-F238E27FC236}">
                <a16:creationId xmlns:a16="http://schemas.microsoft.com/office/drawing/2014/main" id="{4FCF04AA-F417-A938-525A-4195E6C7F3C4}"/>
              </a:ext>
            </a:extLst>
          </p:cNvPr>
          <p:cNvSpPr txBox="1">
            <a:spLocks/>
          </p:cNvSpPr>
          <p:nvPr/>
        </p:nvSpPr>
        <p:spPr>
          <a:xfrm>
            <a:off x="273705" y="4518730"/>
            <a:ext cx="2880000" cy="258532"/>
          </a:xfrm>
          <a:prstGeom prst="rect">
            <a:avLst/>
          </a:prstGeom>
          <a:solidFill>
            <a:schemeClr val="tx1"/>
          </a:solidFill>
          <a:ln>
            <a:solidFill>
              <a:schemeClr val="accent2"/>
            </a:solidFill>
          </a:ln>
        </p:spPr>
        <p:txBody>
          <a:bodyPr vert="horz" wrap="square"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class</a:t>
            </a:r>
            <a:r>
              <a:rPr lang="fr-BE" sz="1200" dirty="0">
                <a:solidFill>
                  <a:srgbClr val="000000"/>
                </a:solidFill>
                <a:highlight>
                  <a:srgbClr val="FFFFFF"/>
                </a:highlight>
                <a:latin typeface="Consolas" panose="020B0609020204030204" pitchFamily="49" charset="0"/>
              </a:rPr>
              <a:t> </a:t>
            </a:r>
            <a:r>
              <a:rPr lang="fr-BE" sz="1200" dirty="0" err="1">
                <a:solidFill>
                  <a:srgbClr val="2B91AF"/>
                </a:solidFill>
                <a:highlight>
                  <a:srgbClr val="FFFFFF"/>
                </a:highlight>
                <a:latin typeface="Consolas" panose="020B0609020204030204" pitchFamily="49" charset="0"/>
              </a:rPr>
              <a:t>CompteBancaire</a:t>
            </a:r>
            <a:r>
              <a:rPr lang="fr-BE" sz="1200" dirty="0">
                <a:solidFill>
                  <a:srgbClr val="000000"/>
                </a:solidFill>
                <a:highlight>
                  <a:srgbClr val="FFFFFF"/>
                </a:highlight>
                <a:latin typeface="Consolas" panose="020B0609020204030204" pitchFamily="49" charset="0"/>
              </a:rPr>
              <a:t> { ... }</a:t>
            </a:r>
          </a:p>
        </p:txBody>
      </p:sp>
      <p:sp>
        <p:nvSpPr>
          <p:cNvPr id="12" name="Content Placeholder 4">
            <a:extLst>
              <a:ext uri="{FF2B5EF4-FFF2-40B4-BE49-F238E27FC236}">
                <a16:creationId xmlns:a16="http://schemas.microsoft.com/office/drawing/2014/main" id="{CC4CD06C-2066-C2E2-B5CE-B233698E0266}"/>
              </a:ext>
            </a:extLst>
          </p:cNvPr>
          <p:cNvSpPr txBox="1">
            <a:spLocks/>
          </p:cNvSpPr>
          <p:nvPr/>
        </p:nvSpPr>
        <p:spPr>
          <a:xfrm>
            <a:off x="8499460" y="2979638"/>
            <a:ext cx="2880000" cy="258532"/>
          </a:xfrm>
          <a:prstGeom prst="rect">
            <a:avLst/>
          </a:prstGeom>
          <a:solidFill>
            <a:schemeClr val="tx1"/>
          </a:solidFill>
          <a:ln>
            <a:solidFill>
              <a:schemeClr val="accent2"/>
            </a:solidFill>
          </a:ln>
        </p:spPr>
        <p:txBody>
          <a:bodyPr vert="horz" wrap="square"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class</a:t>
            </a:r>
            <a:r>
              <a:rPr lang="fr-BE" sz="1200" dirty="0">
                <a:solidFill>
                  <a:srgbClr val="000000"/>
                </a:solidFill>
                <a:highlight>
                  <a:srgbClr val="FFFFFF"/>
                </a:highlight>
                <a:latin typeface="Consolas" panose="020B0609020204030204" pitchFamily="49" charset="0"/>
              </a:rPr>
              <a:t> </a:t>
            </a:r>
            <a:r>
              <a:rPr lang="fr-BE" sz="1200" dirty="0" err="1">
                <a:solidFill>
                  <a:srgbClr val="2B91AF"/>
                </a:solidFill>
                <a:highlight>
                  <a:srgbClr val="FFFFFF"/>
                </a:highlight>
                <a:latin typeface="Consolas" panose="020B0609020204030204" pitchFamily="49" charset="0"/>
              </a:rPr>
              <a:t>CompteBancaire</a:t>
            </a:r>
            <a:r>
              <a:rPr lang="fr-BE" sz="1200" dirty="0">
                <a:solidFill>
                  <a:srgbClr val="000000"/>
                </a:solidFill>
                <a:highlight>
                  <a:srgbClr val="FFFFFF"/>
                </a:highlight>
                <a:latin typeface="Consolas" panose="020B0609020204030204" pitchFamily="49" charset="0"/>
              </a:rPr>
              <a:t> { </a:t>
            </a:r>
            <a:r>
              <a:rPr lang="nl-BE" sz="1200" dirty="0">
                <a:solidFill>
                  <a:srgbClr val="000000"/>
                </a:solidFill>
                <a:highlight>
                  <a:srgbClr val="FFFFFF"/>
                </a:highlight>
                <a:latin typeface="Consolas" panose="020B0609020204030204" pitchFamily="49" charset="0"/>
              </a:rPr>
              <a:t>... </a:t>
            </a:r>
            <a:r>
              <a:rPr lang="fr-BE" sz="1200" dirty="0">
                <a:solidFill>
                  <a:srgbClr val="000000"/>
                </a:solidFill>
                <a:highlight>
                  <a:srgbClr val="FFFFFF"/>
                </a:highlight>
                <a:latin typeface="Consolas" panose="020B0609020204030204" pitchFamily="49" charset="0"/>
              </a:rPr>
              <a:t>}</a:t>
            </a:r>
          </a:p>
        </p:txBody>
      </p:sp>
      <p:sp>
        <p:nvSpPr>
          <p:cNvPr id="4" name="Rectangle : avec coins arrondis en haut 3">
            <a:extLst>
              <a:ext uri="{FF2B5EF4-FFF2-40B4-BE49-F238E27FC236}">
                <a16:creationId xmlns:a16="http://schemas.microsoft.com/office/drawing/2014/main" id="{EEF5671F-B94C-E6B2-8FB9-05115FDFDE35}"/>
              </a:ext>
            </a:extLst>
          </p:cNvPr>
          <p:cNvSpPr/>
          <p:nvPr/>
        </p:nvSpPr>
        <p:spPr>
          <a:xfrm>
            <a:off x="5264258" y="4330088"/>
            <a:ext cx="1443017"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 avec coins arrondis en haut 9">
            <a:extLst>
              <a:ext uri="{FF2B5EF4-FFF2-40B4-BE49-F238E27FC236}">
                <a16:creationId xmlns:a16="http://schemas.microsoft.com/office/drawing/2014/main" id="{25F744D3-4D24-45B8-464C-12CA038D8136}"/>
              </a:ext>
            </a:extLst>
          </p:cNvPr>
          <p:cNvSpPr/>
          <p:nvPr/>
        </p:nvSpPr>
        <p:spPr>
          <a:xfrm>
            <a:off x="5970674" y="1787398"/>
            <a:ext cx="1495355"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Espace réservé du numéro de diapositive 12">
            <a:extLst>
              <a:ext uri="{FF2B5EF4-FFF2-40B4-BE49-F238E27FC236}">
                <a16:creationId xmlns:a16="http://schemas.microsoft.com/office/drawing/2014/main" id="{C2D14D9A-F590-26EF-0746-20A37C2CC8FD}"/>
              </a:ext>
            </a:extLst>
          </p:cNvPr>
          <p:cNvSpPr>
            <a:spLocks noGrp="1"/>
          </p:cNvSpPr>
          <p:nvPr>
            <p:ph type="sldNum" sz="quarter" idx="4"/>
          </p:nvPr>
        </p:nvSpPr>
        <p:spPr/>
        <p:txBody>
          <a:bodyPr/>
          <a:lstStyle/>
          <a:p>
            <a:fld id="{33C783E2-4793-4F48-A271-51A73CC37D74}" type="slidenum">
              <a:rPr lang="fr-FR" smtClean="0"/>
              <a:t>40</a:t>
            </a:fld>
            <a:endParaRPr lang="fr-FR"/>
          </a:p>
        </p:txBody>
      </p:sp>
    </p:spTree>
    <p:extLst>
      <p:ext uri="{BB962C8B-B14F-4D97-AF65-F5344CB8AC3E}">
        <p14:creationId xmlns:p14="http://schemas.microsoft.com/office/powerpoint/2010/main" val="674288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dissolv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BC8094-533A-4878-CA6D-F8716BA045E3}"/>
              </a:ext>
            </a:extLst>
          </p:cNvPr>
          <p:cNvSpPr>
            <a:spLocks noGrp="1"/>
          </p:cNvSpPr>
          <p:nvPr>
            <p:ph type="title"/>
          </p:nvPr>
        </p:nvSpPr>
        <p:spPr/>
        <p:txBody>
          <a:bodyPr/>
          <a:lstStyle/>
          <a:p>
            <a:r>
              <a:rPr lang="fr-FR" dirty="0"/>
              <a:t>Annotation </a:t>
            </a:r>
            <a:r>
              <a:rPr lang="fr-FR" sz="4400" dirty="0">
                <a:solidFill>
                  <a:schemeClr val="accent4"/>
                </a:solidFill>
                <a:latin typeface="Consolas" panose="020B0609020204030204" pitchFamily="49" charset="0"/>
                <a:cs typeface="Consolas" panose="020B0609020204030204" pitchFamily="49" charset="0"/>
              </a:rPr>
              <a:t>@</a:t>
            </a:r>
            <a:r>
              <a:rPr lang="fr-FR" sz="4400" dirty="0" err="1">
                <a:solidFill>
                  <a:schemeClr val="accent4"/>
                </a:solidFill>
                <a:latin typeface="Consolas" panose="020B0609020204030204" pitchFamily="49" charset="0"/>
                <a:cs typeface="Consolas" panose="020B0609020204030204" pitchFamily="49" charset="0"/>
              </a:rPr>
              <a:t>Override</a:t>
            </a:r>
            <a:endParaRPr lang="fr-FR" dirty="0">
              <a:solidFill>
                <a:schemeClr val="accent4"/>
              </a:solidFill>
              <a:latin typeface="Consolas" panose="020B0609020204030204" pitchFamily="49" charset="0"/>
              <a:cs typeface="Consolas" panose="020B0609020204030204" pitchFamily="49" charset="0"/>
            </a:endParaRPr>
          </a:p>
        </p:txBody>
      </p:sp>
      <p:sp>
        <p:nvSpPr>
          <p:cNvPr id="5" name="ZoneTexte 4">
            <a:extLst>
              <a:ext uri="{FF2B5EF4-FFF2-40B4-BE49-F238E27FC236}">
                <a16:creationId xmlns:a16="http://schemas.microsoft.com/office/drawing/2014/main" id="{F2FB58F3-383B-0FBD-62FE-24E47DEB9239}"/>
              </a:ext>
            </a:extLst>
          </p:cNvPr>
          <p:cNvSpPr txBox="1"/>
          <p:nvPr/>
        </p:nvSpPr>
        <p:spPr>
          <a:xfrm>
            <a:off x="520148" y="1340280"/>
            <a:ext cx="7280082" cy="2893100"/>
          </a:xfrm>
          <a:prstGeom prst="rect">
            <a:avLst/>
          </a:prstGeom>
          <a:solidFill>
            <a:schemeClr val="tx1"/>
          </a:solidFill>
          <a:ln>
            <a:solidFill>
              <a:schemeClr val="accent2"/>
            </a:solidFill>
          </a:ln>
        </p:spPr>
        <p:txBody>
          <a:bodyPr wrap="square">
            <a:spAutoFit/>
          </a:bodyPr>
          <a:lstStyle/>
          <a:p>
            <a:pPr marL="0" indent="0">
              <a:buNone/>
            </a:pP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CompteEpargne</a:t>
            </a:r>
            <a:r>
              <a:rPr lang="fr-BE" sz="1400" dirty="0">
                <a:solidFill>
                  <a:srgbClr val="000000"/>
                </a:solidFill>
                <a:highlight>
                  <a:srgbClr val="FFFFFF"/>
                </a:highlight>
                <a:latin typeface="Consolas" panose="020B0609020204030204" pitchFamily="49" charset="0"/>
              </a:rPr>
              <a:t> : </a:t>
            </a:r>
            <a:r>
              <a:rPr lang="fr-BE" sz="1400" dirty="0" err="1">
                <a:solidFill>
                  <a:srgbClr val="2B91AF"/>
                </a:solidFill>
                <a:highlight>
                  <a:srgbClr val="FFFFFF"/>
                </a:highlight>
                <a:latin typeface="Consolas" panose="020B0609020204030204" pitchFamily="49" charset="0"/>
              </a:rPr>
              <a:t>CompteBancaire</a:t>
            </a:r>
            <a:r>
              <a:rPr lang="fr-BE" sz="1400" dirty="0">
                <a:solidFill>
                  <a:srgbClr val="2B91AF"/>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private</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CompteEpargne</a:t>
            </a:r>
            <a:r>
              <a:rPr lang="fr-BE" sz="1400" dirty="0">
                <a:solidFill>
                  <a:srgbClr val="000000"/>
                </a:solidFill>
                <a:highlight>
                  <a:srgbClr val="FFFFFF"/>
                </a:highlight>
                <a:latin typeface="Consolas" panose="020B0609020204030204" pitchFamily="49" charset="0"/>
              </a:rPr>
              <a:t>(</a:t>
            </a:r>
            <a:r>
              <a:rPr lang="fr-BE" sz="1400" dirty="0">
                <a:solidFill>
                  <a:srgbClr val="0000FF"/>
                </a:solidFill>
                <a:highlight>
                  <a:srgbClr val="FFFFFF"/>
                </a:highlight>
                <a:latin typeface="Consolas" panose="020B0609020204030204" pitchFamily="49" charset="0"/>
              </a:rPr>
              <a:t>long</a:t>
            </a:r>
            <a:r>
              <a:rPr lang="fr-BE" sz="1400" dirty="0">
                <a:solidFill>
                  <a:srgbClr val="000000"/>
                </a:solidFill>
                <a:highlight>
                  <a:srgbClr val="FFFFFF"/>
                </a:highlight>
                <a:latin typeface="Consolas" panose="020B0609020204030204" pitchFamily="49" charset="0"/>
              </a:rPr>
              <a:t> Numéro, </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Taux) : </a:t>
            </a:r>
            <a:r>
              <a:rPr lang="fr-BE" sz="1400" dirty="0">
                <a:solidFill>
                  <a:srgbClr val="0000FF"/>
                </a:solidFill>
                <a:highlight>
                  <a:srgbClr val="FFFFFF"/>
                </a:highlight>
                <a:latin typeface="Consolas" panose="020B0609020204030204" pitchFamily="49" charset="0"/>
              </a:rPr>
              <a:t>base</a:t>
            </a:r>
            <a:r>
              <a:rPr lang="fr-BE" sz="1400" dirty="0">
                <a:solidFill>
                  <a:srgbClr val="000000"/>
                </a:solidFill>
                <a:highlight>
                  <a:srgbClr val="FFFFFF"/>
                </a:highlight>
                <a:latin typeface="Consolas" panose="020B0609020204030204" pitchFamily="49" charset="0"/>
              </a:rPr>
              <a:t>(Numéro) {</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 = Taux;</a:t>
            </a:r>
          </a:p>
          <a:p>
            <a:pPr marL="0" indent="0">
              <a:buNone/>
            </a:pPr>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Retirer(</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Montant) { Solde -= Montant;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 </a:t>
            </a:r>
            <a:r>
              <a:rPr lang="fr-BE" sz="1400" dirty="0" err="1">
                <a:solidFill>
                  <a:srgbClr val="0000FF"/>
                </a:solidFill>
                <a:highlight>
                  <a:srgbClr val="FFFFFF"/>
                </a:highlight>
                <a:latin typeface="Consolas" panose="020B0609020204030204" pitchFamily="49" charset="0"/>
              </a:rPr>
              <a:t>override</a:t>
            </a:r>
            <a:r>
              <a:rPr lang="fr-BE" sz="1400" dirty="0">
                <a:solidFill>
                  <a:srgbClr val="0000FF"/>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Déposer(</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Montant) { </a:t>
            </a:r>
          </a:p>
          <a:p>
            <a:r>
              <a:rPr lang="fr-BE" sz="1400" dirty="0">
                <a:solidFill>
                  <a:srgbClr val="000000"/>
                </a:solidFill>
                <a:highlight>
                  <a:srgbClr val="FFFFFF"/>
                </a:highlight>
                <a:latin typeface="Consolas" panose="020B0609020204030204" pitchFamily="49" charset="0"/>
              </a:rPr>
              <a:t>	       if (Solde &gt; Montant) Solde -= Montant; </a:t>
            </a:r>
          </a:p>
          <a:p>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Intérêts() {</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SetSolde</a:t>
            </a:r>
            <a:r>
              <a:rPr lang="fr-BE" sz="1400" dirty="0">
                <a:solidFill>
                  <a:srgbClr val="000000"/>
                </a:solidFill>
                <a:highlight>
                  <a:srgbClr val="FFFFFF"/>
                </a:highlight>
                <a:latin typeface="Consolas" panose="020B0609020204030204" pitchFamily="49" charset="0"/>
              </a:rPr>
              <a:t>(</a:t>
            </a:r>
            <a:r>
              <a:rPr lang="fr-BE" sz="1400" dirty="0" err="1">
                <a:solidFill>
                  <a:srgbClr val="000000"/>
                </a:solidFill>
                <a:highlight>
                  <a:srgbClr val="FFFFFF"/>
                </a:highlight>
                <a:latin typeface="Consolas" panose="020B0609020204030204" pitchFamily="49" charset="0"/>
              </a:rPr>
              <a:t>GetSolde</a:t>
            </a:r>
            <a:r>
              <a:rPr lang="fr-BE" sz="1400" dirty="0">
                <a:solidFill>
                  <a:srgbClr val="000000"/>
                </a:solidFill>
                <a:highlight>
                  <a:srgbClr val="FFFFFF"/>
                </a:highlight>
                <a:latin typeface="Consolas" panose="020B0609020204030204" pitchFamily="49" charset="0"/>
              </a:rPr>
              <a:t>() * (1 +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endParaRPr lang="fr-FR" sz="1400" dirty="0"/>
          </a:p>
        </p:txBody>
      </p:sp>
      <p:sp>
        <p:nvSpPr>
          <p:cNvPr id="7" name="ZoneTexte 6">
            <a:extLst>
              <a:ext uri="{FF2B5EF4-FFF2-40B4-BE49-F238E27FC236}">
                <a16:creationId xmlns:a16="http://schemas.microsoft.com/office/drawing/2014/main" id="{777EC568-4D1D-4A82-5144-1D9600B321F1}"/>
              </a:ext>
            </a:extLst>
          </p:cNvPr>
          <p:cNvSpPr txBox="1"/>
          <p:nvPr/>
        </p:nvSpPr>
        <p:spPr>
          <a:xfrm>
            <a:off x="4073718" y="3660616"/>
            <a:ext cx="7280082" cy="3108543"/>
          </a:xfrm>
          <a:prstGeom prst="rect">
            <a:avLst/>
          </a:prstGeom>
          <a:solidFill>
            <a:schemeClr val="tx1"/>
          </a:solidFill>
          <a:ln>
            <a:solidFill>
              <a:schemeClr val="accent2"/>
            </a:solidFill>
          </a:ln>
        </p:spPr>
        <p:txBody>
          <a:bodyPr wrap="square">
            <a:spAutoFit/>
          </a:bodyPr>
          <a:lstStyle/>
          <a:p>
            <a:pPr marL="0" indent="0">
              <a:buNone/>
            </a:pPr>
            <a:r>
              <a:rPr lang="fr-BE" sz="1400" dirty="0">
                <a:solidFill>
                  <a:srgbClr val="0000FF"/>
                </a:solidFill>
                <a:highlight>
                  <a:srgbClr val="FFFFFF"/>
                </a:highlight>
                <a:latin typeface="Consolas" panose="020B0609020204030204" pitchFamily="49" charset="0"/>
              </a:rPr>
              <a:t>class</a:t>
            </a:r>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CompteEpargne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extends</a:t>
            </a:r>
            <a:r>
              <a:rPr lang="fr-BE" sz="1400" dirty="0">
                <a:solidFill>
                  <a:srgbClr val="000000"/>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CompteBancaire</a:t>
            </a:r>
            <a:r>
              <a:rPr lang="fr-BE" sz="1400" dirty="0">
                <a:solidFill>
                  <a:srgbClr val="2B91AF"/>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private</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CompteEpargne</a:t>
            </a:r>
            <a:r>
              <a:rPr lang="fr-BE" sz="1400" dirty="0">
                <a:solidFill>
                  <a:srgbClr val="000000"/>
                </a:solidFill>
                <a:highlight>
                  <a:srgbClr val="FFFFFF"/>
                </a:highlight>
                <a:latin typeface="Consolas" panose="020B0609020204030204" pitchFamily="49" charset="0"/>
              </a:rPr>
              <a:t>(</a:t>
            </a:r>
            <a:r>
              <a:rPr lang="fr-BE" sz="1400" dirty="0">
                <a:solidFill>
                  <a:srgbClr val="0000FF"/>
                </a:solidFill>
                <a:highlight>
                  <a:srgbClr val="FFFFFF"/>
                </a:highlight>
                <a:latin typeface="Consolas" panose="020B0609020204030204" pitchFamily="49" charset="0"/>
              </a:rPr>
              <a:t>long</a:t>
            </a:r>
            <a:r>
              <a:rPr lang="fr-BE" sz="1400" dirty="0">
                <a:solidFill>
                  <a:srgbClr val="000000"/>
                </a:solidFill>
                <a:highlight>
                  <a:srgbClr val="FFFFFF"/>
                </a:highlight>
                <a:latin typeface="Consolas" panose="020B0609020204030204" pitchFamily="49" charset="0"/>
              </a:rPr>
              <a:t> Numéro, </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Taux) {</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super</a:t>
            </a:r>
            <a:r>
              <a:rPr lang="fr-BE" sz="1400" dirty="0">
                <a:solidFill>
                  <a:srgbClr val="000000"/>
                </a:solidFill>
                <a:highlight>
                  <a:srgbClr val="FFFFFF"/>
                </a:highlight>
                <a:latin typeface="Consolas" panose="020B0609020204030204" pitchFamily="49" charset="0"/>
              </a:rPr>
              <a:t>(Numéro)</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 = Taux;</a:t>
            </a:r>
          </a:p>
          <a:p>
            <a:pPr marL="0" indent="0">
              <a:buNone/>
            </a:pPr>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Override</a:t>
            </a:r>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déposer(</a:t>
            </a:r>
            <a:r>
              <a:rPr lang="fr-BE" sz="1400" dirty="0">
                <a:solidFill>
                  <a:srgbClr val="0000FF"/>
                </a:solidFill>
                <a:highlight>
                  <a:srgbClr val="FFFFFF"/>
                </a:highlight>
                <a:latin typeface="Consolas" panose="020B0609020204030204" pitchFamily="49" charset="0"/>
              </a:rPr>
              <a:t>double</a:t>
            </a:r>
            <a:r>
              <a:rPr lang="fr-BE" sz="1400" dirty="0">
                <a:solidFill>
                  <a:srgbClr val="000000"/>
                </a:solidFill>
                <a:highlight>
                  <a:srgbClr val="FFFFFF"/>
                </a:highlight>
                <a:latin typeface="Consolas" panose="020B0609020204030204" pitchFamily="49" charset="0"/>
              </a:rPr>
              <a:t> montant) { </a:t>
            </a:r>
          </a:p>
          <a:p>
            <a:r>
              <a:rPr lang="fr-BE" sz="1400" dirty="0">
                <a:solidFill>
                  <a:srgbClr val="000000"/>
                </a:solidFill>
                <a:highlight>
                  <a:srgbClr val="FFFFFF"/>
                </a:highlight>
                <a:latin typeface="Consolas" panose="020B0609020204030204" pitchFamily="49" charset="0"/>
              </a:rPr>
              <a:t>	       if (solde &gt; montant) solde -= montant; </a:t>
            </a:r>
          </a:p>
          <a:p>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intérêts() {</a:t>
            </a:r>
          </a:p>
          <a:p>
            <a:pPr marL="0" indent="0">
              <a:buNone/>
            </a:pP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setSolde</a:t>
            </a:r>
            <a:r>
              <a:rPr lang="fr-BE" sz="1400" dirty="0">
                <a:solidFill>
                  <a:srgbClr val="000000"/>
                </a:solidFill>
                <a:highlight>
                  <a:srgbClr val="FFFFFF"/>
                </a:highlight>
                <a:latin typeface="Consolas" panose="020B0609020204030204" pitchFamily="49" charset="0"/>
              </a:rPr>
              <a:t>(</a:t>
            </a:r>
            <a:r>
              <a:rPr lang="fr-BE" sz="1400" dirty="0" err="1">
                <a:solidFill>
                  <a:srgbClr val="000000"/>
                </a:solidFill>
                <a:highlight>
                  <a:srgbClr val="FFFFFF"/>
                </a:highlight>
                <a:latin typeface="Consolas" panose="020B0609020204030204" pitchFamily="49" charset="0"/>
              </a:rPr>
              <a:t>getSolde</a:t>
            </a:r>
            <a:r>
              <a:rPr lang="fr-BE" sz="1400" dirty="0">
                <a:solidFill>
                  <a:srgbClr val="000000"/>
                </a:solidFill>
                <a:highlight>
                  <a:srgbClr val="FFFFFF"/>
                </a:highlight>
                <a:latin typeface="Consolas" panose="020B0609020204030204" pitchFamily="49" charset="0"/>
              </a:rPr>
              <a:t>() * (1 + </a:t>
            </a:r>
            <a:r>
              <a:rPr lang="fr-BE" sz="1400" dirty="0" err="1">
                <a:solidFill>
                  <a:srgbClr val="000000"/>
                </a:solidFill>
                <a:highlight>
                  <a:srgbClr val="FFFFFF"/>
                </a:highlight>
                <a:latin typeface="Consolas" panose="020B0609020204030204" pitchFamily="49" charset="0"/>
              </a:rPr>
              <a:t>tauxIntérêt</a:t>
            </a:r>
            <a:r>
              <a:rPr lang="fr-BE" sz="1400" dirty="0">
                <a:solidFill>
                  <a:srgbClr val="000000"/>
                </a:solidFill>
                <a:highlight>
                  <a:srgbClr val="FFFFFF"/>
                </a:highlight>
                <a:latin typeface="Consolas" panose="020B0609020204030204" pitchFamily="49" charset="0"/>
              </a:rPr>
              <a:t>));</a:t>
            </a:r>
          </a:p>
          <a:p>
            <a:pPr marL="0" indent="0">
              <a:buNone/>
            </a:pPr>
            <a:r>
              <a:rPr lang="fr-BE" sz="1400" dirty="0">
                <a:solidFill>
                  <a:srgbClr val="000000"/>
                </a:solidFill>
                <a:highlight>
                  <a:srgbClr val="FFFFFF"/>
                </a:highlight>
                <a:latin typeface="Consolas" panose="020B0609020204030204" pitchFamily="49" charset="0"/>
              </a:rPr>
              <a:t>        }</a:t>
            </a:r>
          </a:p>
          <a:p>
            <a:pPr marL="0" indent="0">
              <a:buNone/>
            </a:pPr>
            <a:r>
              <a:rPr lang="fr-BE" sz="1400" dirty="0">
                <a:solidFill>
                  <a:srgbClr val="000000"/>
                </a:solidFill>
                <a:highlight>
                  <a:srgbClr val="FFFFFF"/>
                </a:highlight>
                <a:latin typeface="Consolas" panose="020B0609020204030204" pitchFamily="49" charset="0"/>
              </a:rPr>
              <a:t>    }</a:t>
            </a:r>
            <a:endParaRPr lang="fr-FR" sz="1400" dirty="0"/>
          </a:p>
        </p:txBody>
      </p:sp>
      <p:sp>
        <p:nvSpPr>
          <p:cNvPr id="8" name="ZoneTexte 7">
            <a:extLst>
              <a:ext uri="{FF2B5EF4-FFF2-40B4-BE49-F238E27FC236}">
                <a16:creationId xmlns:a16="http://schemas.microsoft.com/office/drawing/2014/main" id="{CF0772B0-8802-E556-E80B-4AB8F7551693}"/>
              </a:ext>
            </a:extLst>
          </p:cNvPr>
          <p:cNvSpPr txBox="1"/>
          <p:nvPr/>
        </p:nvSpPr>
        <p:spPr>
          <a:xfrm>
            <a:off x="6624812" y="3102135"/>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C#</a:t>
            </a:r>
          </a:p>
        </p:txBody>
      </p:sp>
      <p:sp>
        <p:nvSpPr>
          <p:cNvPr id="9" name="ZoneTexte 8">
            <a:extLst>
              <a:ext uri="{FF2B5EF4-FFF2-40B4-BE49-F238E27FC236}">
                <a16:creationId xmlns:a16="http://schemas.microsoft.com/office/drawing/2014/main" id="{826BE9AE-AB22-0526-C57C-F1AE4753BA42}"/>
              </a:ext>
            </a:extLst>
          </p:cNvPr>
          <p:cNvSpPr txBox="1"/>
          <p:nvPr/>
        </p:nvSpPr>
        <p:spPr>
          <a:xfrm>
            <a:off x="10146351" y="6118302"/>
            <a:ext cx="1063869" cy="374571"/>
          </a:xfrm>
          <a:prstGeom prst="roundRect">
            <a:avLst/>
          </a:prstGeom>
          <a:solidFill>
            <a:schemeClr val="accent4"/>
          </a:solidFill>
          <a:ln>
            <a:solidFill>
              <a:schemeClr val="accent4"/>
            </a:solidFill>
          </a:ln>
        </p:spPr>
        <p:txBody>
          <a:bodyPr wrap="square" rtlCol="0">
            <a:spAutoFit/>
          </a:bodyPr>
          <a:lstStyle/>
          <a:p>
            <a:pPr algn="ctr"/>
            <a:r>
              <a:rPr lang="fr-FR" sz="1600" dirty="0">
                <a:solidFill>
                  <a:schemeClr val="accent1"/>
                </a:solidFill>
              </a:rPr>
              <a:t>java</a:t>
            </a:r>
          </a:p>
        </p:txBody>
      </p:sp>
      <p:sp>
        <p:nvSpPr>
          <p:cNvPr id="10" name="ZoneTexte 9">
            <a:extLst>
              <a:ext uri="{FF2B5EF4-FFF2-40B4-BE49-F238E27FC236}">
                <a16:creationId xmlns:a16="http://schemas.microsoft.com/office/drawing/2014/main" id="{A301344A-3C3A-4143-9FC4-A3A6AEB99ED2}"/>
              </a:ext>
            </a:extLst>
          </p:cNvPr>
          <p:cNvSpPr txBox="1"/>
          <p:nvPr/>
        </p:nvSpPr>
        <p:spPr>
          <a:xfrm>
            <a:off x="8680244" y="4429759"/>
            <a:ext cx="3384551" cy="919401"/>
          </a:xfrm>
          <a:prstGeom prst="roundRect">
            <a:avLst/>
          </a:prstGeom>
          <a:solidFill>
            <a:schemeClr val="tx1"/>
          </a:solidFill>
          <a:ln>
            <a:solidFill>
              <a:schemeClr val="accent4"/>
            </a:solidFill>
          </a:ln>
          <a:effectLst>
            <a:outerShdw blurRad="50800" dist="38100" dir="2700000" algn="tl" rotWithShape="0">
              <a:prstClr val="black">
                <a:alpha val="40000"/>
              </a:prstClr>
            </a:outerShdw>
          </a:effectLst>
        </p:spPr>
        <p:txBody>
          <a:bodyPr wrap="square" rtlCol="0">
            <a:spAutoFit/>
          </a:bodyPr>
          <a:lstStyle/>
          <a:p>
            <a:r>
              <a:rPr lang="fr-FR" sz="1600" dirty="0">
                <a:solidFill>
                  <a:schemeClr val="accent1"/>
                </a:solidFill>
              </a:rPr>
              <a:t>L’annotation optionnelle </a:t>
            </a:r>
            <a:r>
              <a:rPr lang="fr-FR" sz="1400" dirty="0">
                <a:solidFill>
                  <a:schemeClr val="accent4"/>
                </a:solidFill>
                <a:latin typeface="Consolas" panose="020B0609020204030204" pitchFamily="49" charset="0"/>
                <a:cs typeface="Consolas" panose="020B0609020204030204" pitchFamily="49" charset="0"/>
              </a:rPr>
              <a:t>@</a:t>
            </a:r>
            <a:r>
              <a:rPr lang="fr-FR" sz="1400" dirty="0" err="1">
                <a:solidFill>
                  <a:schemeClr val="accent4"/>
                </a:solidFill>
                <a:latin typeface="Consolas" panose="020B0609020204030204" pitchFamily="49" charset="0"/>
                <a:cs typeface="Consolas" panose="020B0609020204030204" pitchFamily="49" charset="0"/>
              </a:rPr>
              <a:t>Override</a:t>
            </a:r>
            <a:r>
              <a:rPr lang="fr-FR" sz="1600" dirty="0">
                <a:solidFill>
                  <a:schemeClr val="accent1"/>
                </a:solidFill>
              </a:rPr>
              <a:t> permet d’indiquer au compilateur qu’on redéfinit une méthode.</a:t>
            </a:r>
            <a:endParaRPr lang="fr-FR" sz="1600" dirty="0">
              <a:solidFill>
                <a:schemeClr val="accent4"/>
              </a:solidFill>
              <a:latin typeface="Consolas" panose="020B0609020204030204" pitchFamily="49" charset="0"/>
              <a:cs typeface="Consolas" panose="020B0609020204030204" pitchFamily="49" charset="0"/>
            </a:endParaRPr>
          </a:p>
        </p:txBody>
      </p:sp>
      <p:sp>
        <p:nvSpPr>
          <p:cNvPr id="3" name="Content Placeholder 4">
            <a:extLst>
              <a:ext uri="{FF2B5EF4-FFF2-40B4-BE49-F238E27FC236}">
                <a16:creationId xmlns:a16="http://schemas.microsoft.com/office/drawing/2014/main" id="{F0CE7004-E9BC-8E12-9BDA-4D7098620F94}"/>
              </a:ext>
            </a:extLst>
          </p:cNvPr>
          <p:cNvSpPr txBox="1">
            <a:spLocks/>
          </p:cNvSpPr>
          <p:nvPr/>
        </p:nvSpPr>
        <p:spPr>
          <a:xfrm>
            <a:off x="273705" y="4518730"/>
            <a:ext cx="2880000" cy="258532"/>
          </a:xfrm>
          <a:prstGeom prst="rect">
            <a:avLst/>
          </a:prstGeom>
          <a:solidFill>
            <a:schemeClr val="tx1"/>
          </a:solidFill>
          <a:ln>
            <a:solidFill>
              <a:schemeClr val="accent2"/>
            </a:solidFill>
          </a:ln>
        </p:spPr>
        <p:txBody>
          <a:bodyPr vert="horz" wrap="square"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class</a:t>
            </a:r>
            <a:r>
              <a:rPr lang="fr-BE" sz="1200" dirty="0">
                <a:solidFill>
                  <a:srgbClr val="000000"/>
                </a:solidFill>
                <a:highlight>
                  <a:srgbClr val="FFFFFF"/>
                </a:highlight>
                <a:latin typeface="Consolas" panose="020B0609020204030204" pitchFamily="49" charset="0"/>
              </a:rPr>
              <a:t> </a:t>
            </a:r>
            <a:r>
              <a:rPr lang="fr-BE" sz="1200" dirty="0" err="1">
                <a:solidFill>
                  <a:srgbClr val="2B91AF"/>
                </a:solidFill>
                <a:highlight>
                  <a:srgbClr val="FFFFFF"/>
                </a:highlight>
                <a:latin typeface="Consolas" panose="020B0609020204030204" pitchFamily="49" charset="0"/>
              </a:rPr>
              <a:t>CompteBancaire</a:t>
            </a:r>
            <a:r>
              <a:rPr lang="fr-BE" sz="1200" dirty="0">
                <a:solidFill>
                  <a:srgbClr val="000000"/>
                </a:solidFill>
                <a:highlight>
                  <a:srgbClr val="FFFFFF"/>
                </a:highlight>
                <a:latin typeface="Consolas" panose="020B0609020204030204" pitchFamily="49" charset="0"/>
              </a:rPr>
              <a:t> { ... }</a:t>
            </a:r>
          </a:p>
        </p:txBody>
      </p:sp>
      <p:sp>
        <p:nvSpPr>
          <p:cNvPr id="11" name="Content Placeholder 4">
            <a:extLst>
              <a:ext uri="{FF2B5EF4-FFF2-40B4-BE49-F238E27FC236}">
                <a16:creationId xmlns:a16="http://schemas.microsoft.com/office/drawing/2014/main" id="{A07E63F0-A734-7DB6-2047-FA5CCD5D36A8}"/>
              </a:ext>
            </a:extLst>
          </p:cNvPr>
          <p:cNvSpPr txBox="1">
            <a:spLocks/>
          </p:cNvSpPr>
          <p:nvPr/>
        </p:nvSpPr>
        <p:spPr>
          <a:xfrm>
            <a:off x="8499460" y="3059150"/>
            <a:ext cx="2880000" cy="258532"/>
          </a:xfrm>
          <a:prstGeom prst="rect">
            <a:avLst/>
          </a:prstGeom>
          <a:solidFill>
            <a:schemeClr val="tx1"/>
          </a:solidFill>
          <a:ln>
            <a:solidFill>
              <a:schemeClr val="accent2"/>
            </a:solidFill>
          </a:ln>
        </p:spPr>
        <p:txBody>
          <a:bodyPr vert="horz" wrap="square"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fr-BE" sz="1200" dirty="0">
                <a:solidFill>
                  <a:srgbClr val="000000"/>
                </a:solidFill>
                <a:highlight>
                  <a:srgbClr val="FFFFFF"/>
                </a:highlight>
                <a:latin typeface="Consolas" panose="020B0609020204030204" pitchFamily="49" charset="0"/>
              </a:rPr>
              <a:t> </a:t>
            </a:r>
            <a:r>
              <a:rPr lang="fr-BE" sz="1200" dirty="0">
                <a:solidFill>
                  <a:srgbClr val="0000FF"/>
                </a:solidFill>
                <a:highlight>
                  <a:srgbClr val="FFFFFF"/>
                </a:highlight>
                <a:latin typeface="Consolas" panose="020B0609020204030204" pitchFamily="49" charset="0"/>
              </a:rPr>
              <a:t>class</a:t>
            </a:r>
            <a:r>
              <a:rPr lang="fr-BE" sz="1200" dirty="0">
                <a:solidFill>
                  <a:srgbClr val="000000"/>
                </a:solidFill>
                <a:highlight>
                  <a:srgbClr val="FFFFFF"/>
                </a:highlight>
                <a:latin typeface="Consolas" panose="020B0609020204030204" pitchFamily="49" charset="0"/>
              </a:rPr>
              <a:t> </a:t>
            </a:r>
            <a:r>
              <a:rPr lang="fr-BE" sz="1200" dirty="0" err="1">
                <a:solidFill>
                  <a:srgbClr val="2B91AF"/>
                </a:solidFill>
                <a:highlight>
                  <a:srgbClr val="FFFFFF"/>
                </a:highlight>
                <a:latin typeface="Consolas" panose="020B0609020204030204" pitchFamily="49" charset="0"/>
              </a:rPr>
              <a:t>CompteBancaire</a:t>
            </a:r>
            <a:r>
              <a:rPr lang="fr-BE" sz="1200" dirty="0">
                <a:solidFill>
                  <a:srgbClr val="000000"/>
                </a:solidFill>
                <a:highlight>
                  <a:srgbClr val="FFFFFF"/>
                </a:highlight>
                <a:latin typeface="Consolas" panose="020B0609020204030204" pitchFamily="49" charset="0"/>
              </a:rPr>
              <a:t> { </a:t>
            </a:r>
            <a:r>
              <a:rPr lang="nl-BE" sz="1200" dirty="0">
                <a:solidFill>
                  <a:srgbClr val="000000"/>
                </a:solidFill>
                <a:highlight>
                  <a:srgbClr val="FFFFFF"/>
                </a:highlight>
                <a:latin typeface="Consolas" panose="020B0609020204030204" pitchFamily="49" charset="0"/>
              </a:rPr>
              <a:t>... </a:t>
            </a:r>
            <a:r>
              <a:rPr lang="fr-BE" sz="1200" dirty="0">
                <a:solidFill>
                  <a:srgbClr val="000000"/>
                </a:solidFill>
                <a:highlight>
                  <a:srgbClr val="FFFFFF"/>
                </a:highlight>
                <a:latin typeface="Consolas" panose="020B0609020204030204" pitchFamily="49" charset="0"/>
              </a:rPr>
              <a:t>}</a:t>
            </a:r>
          </a:p>
        </p:txBody>
      </p:sp>
      <p:sp>
        <p:nvSpPr>
          <p:cNvPr id="4" name="Rectangle : avec coins arrondis en haut 3">
            <a:extLst>
              <a:ext uri="{FF2B5EF4-FFF2-40B4-BE49-F238E27FC236}">
                <a16:creationId xmlns:a16="http://schemas.microsoft.com/office/drawing/2014/main" id="{473CC65D-13B9-F836-FF5E-ABFB5D33D48F}"/>
              </a:ext>
            </a:extLst>
          </p:cNvPr>
          <p:cNvSpPr/>
          <p:nvPr/>
        </p:nvSpPr>
        <p:spPr>
          <a:xfrm>
            <a:off x="4891171" y="4964595"/>
            <a:ext cx="1066569"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Espace réservé du numéro de diapositive 5">
            <a:extLst>
              <a:ext uri="{FF2B5EF4-FFF2-40B4-BE49-F238E27FC236}">
                <a16:creationId xmlns:a16="http://schemas.microsoft.com/office/drawing/2014/main" id="{EE1AA99C-AF36-F5B1-9759-BF49BB55D651}"/>
              </a:ext>
            </a:extLst>
          </p:cNvPr>
          <p:cNvSpPr>
            <a:spLocks noGrp="1"/>
          </p:cNvSpPr>
          <p:nvPr>
            <p:ph type="sldNum" sz="quarter" idx="4"/>
          </p:nvPr>
        </p:nvSpPr>
        <p:spPr/>
        <p:txBody>
          <a:bodyPr/>
          <a:lstStyle/>
          <a:p>
            <a:fld id="{33C783E2-4793-4F48-A271-51A73CC37D74}" type="slidenum">
              <a:rPr lang="fr-FR" smtClean="0"/>
              <a:t>41</a:t>
            </a:fld>
            <a:endParaRPr lang="fr-FR"/>
          </a:p>
        </p:txBody>
      </p:sp>
      <p:sp>
        <p:nvSpPr>
          <p:cNvPr id="12" name="Rectangle : avec coins arrondis en haut 11">
            <a:extLst>
              <a:ext uri="{FF2B5EF4-FFF2-40B4-BE49-F238E27FC236}">
                <a16:creationId xmlns:a16="http://schemas.microsoft.com/office/drawing/2014/main" id="{65B806BC-0892-123F-D4F9-707B541BAEE4}"/>
              </a:ext>
            </a:extLst>
          </p:cNvPr>
          <p:cNvSpPr/>
          <p:nvPr/>
        </p:nvSpPr>
        <p:spPr>
          <a:xfrm>
            <a:off x="2027582" y="2642830"/>
            <a:ext cx="890547" cy="288000"/>
          </a:xfrm>
          <a:prstGeom prst="round2SameRect">
            <a:avLst/>
          </a:prstGeom>
          <a:solidFill>
            <a:srgbClr val="38FF4F">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07032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dissolve">
                                      <p:cBhvr>
                                        <p:cTn id="1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BC8094-533A-4878-CA6D-F8716BA045E3}"/>
              </a:ext>
            </a:extLst>
          </p:cNvPr>
          <p:cNvSpPr>
            <a:spLocks noGrp="1"/>
          </p:cNvSpPr>
          <p:nvPr>
            <p:ph type="title"/>
          </p:nvPr>
        </p:nvSpPr>
        <p:spPr/>
        <p:txBody>
          <a:bodyPr/>
          <a:lstStyle/>
          <a:p>
            <a:r>
              <a:rPr lang="fr-FR" dirty="0"/>
              <a:t>De quelle classe est mon objet?</a:t>
            </a:r>
          </a:p>
        </p:txBody>
      </p:sp>
      <p:sp>
        <p:nvSpPr>
          <p:cNvPr id="3" name="Espace réservé du contenu 2">
            <a:extLst>
              <a:ext uri="{FF2B5EF4-FFF2-40B4-BE49-F238E27FC236}">
                <a16:creationId xmlns:a16="http://schemas.microsoft.com/office/drawing/2014/main" id="{3392242A-C237-D4DB-7954-4599242E56F3}"/>
              </a:ext>
            </a:extLst>
          </p:cNvPr>
          <p:cNvSpPr>
            <a:spLocks noGrp="1"/>
          </p:cNvSpPr>
          <p:nvPr>
            <p:ph idx="1"/>
          </p:nvPr>
        </p:nvSpPr>
        <p:spPr>
          <a:xfrm>
            <a:off x="838199" y="1825625"/>
            <a:ext cx="10754803" cy="4351338"/>
          </a:xfrm>
        </p:spPr>
        <p:txBody>
          <a:bodyPr>
            <a:normAutofit/>
          </a:bodyPr>
          <a:lstStyle/>
          <a:p>
            <a:pPr marL="0" indent="0">
              <a:buNone/>
            </a:pPr>
            <a:r>
              <a:rPr lang="fr-FR" dirty="0"/>
              <a:t>En C#, </a:t>
            </a:r>
          </a:p>
          <a:p>
            <a:pPr marL="0" indent="0">
              <a:buNone/>
            </a:pPr>
            <a:r>
              <a:rPr lang="fr-FR" dirty="0"/>
              <a:t>On écrivait </a:t>
            </a:r>
            <a:r>
              <a:rPr lang="fr-FR" sz="2400" dirty="0">
                <a:solidFill>
                  <a:schemeClr val="accent4"/>
                </a:solidFill>
                <a:latin typeface="Consolas" panose="020B0609020204030204" pitchFamily="49" charset="0"/>
                <a:cs typeface="Consolas" panose="020B0609020204030204" pitchFamily="49" charset="0"/>
              </a:rPr>
              <a:t>p2 </a:t>
            </a:r>
            <a:r>
              <a:rPr lang="fr-FR" sz="2400" dirty="0" err="1">
                <a:solidFill>
                  <a:schemeClr val="accent4"/>
                </a:solidFill>
                <a:latin typeface="Consolas" panose="020B0609020204030204" pitchFamily="49" charset="0"/>
                <a:cs typeface="Consolas" panose="020B0609020204030204" pitchFamily="49" charset="0"/>
              </a:rPr>
              <a:t>is</a:t>
            </a:r>
            <a:r>
              <a:rPr lang="fr-FR" sz="2400" dirty="0">
                <a:solidFill>
                  <a:schemeClr val="accent4"/>
                </a:solidFill>
                <a:latin typeface="Consolas" panose="020B0609020204030204" pitchFamily="49" charset="0"/>
                <a:cs typeface="Consolas" panose="020B0609020204030204" pitchFamily="49" charset="0"/>
              </a:rPr>
              <a:t> Mage</a:t>
            </a:r>
            <a:r>
              <a:rPr lang="fr-FR" dirty="0"/>
              <a:t> pour savoir si l’objet </a:t>
            </a:r>
            <a:r>
              <a:rPr lang="fr-FR" sz="2400" dirty="0">
                <a:solidFill>
                  <a:schemeClr val="accent4"/>
                </a:solidFill>
                <a:latin typeface="Consolas" panose="020B0609020204030204" pitchFamily="49" charset="0"/>
                <a:cs typeface="Consolas" panose="020B0609020204030204" pitchFamily="49" charset="0"/>
              </a:rPr>
              <a:t>p2</a:t>
            </a:r>
            <a:r>
              <a:rPr lang="fr-FR" dirty="0"/>
              <a:t> était de type </a:t>
            </a:r>
            <a:r>
              <a:rPr lang="fr-FR" sz="2400" dirty="0">
                <a:solidFill>
                  <a:schemeClr val="accent4"/>
                </a:solidFill>
                <a:latin typeface="Consolas" panose="020B0609020204030204" pitchFamily="49" charset="0"/>
                <a:cs typeface="Consolas" panose="020B0609020204030204" pitchFamily="49" charset="0"/>
              </a:rPr>
              <a:t>Mage</a:t>
            </a:r>
            <a:r>
              <a:rPr lang="fr-FR" dirty="0"/>
              <a:t>. </a:t>
            </a:r>
          </a:p>
          <a:p>
            <a:pPr marL="0" indent="0">
              <a:buNone/>
            </a:pPr>
            <a:endParaRPr lang="fr-FR" dirty="0"/>
          </a:p>
          <a:p>
            <a:pPr marL="0" indent="0">
              <a:buNone/>
            </a:pPr>
            <a:r>
              <a:rPr lang="fr-FR" dirty="0"/>
              <a:t>En Java,</a:t>
            </a:r>
          </a:p>
          <a:p>
            <a:pPr marL="0" indent="0">
              <a:buNone/>
            </a:pPr>
            <a:r>
              <a:rPr lang="fr-FR" dirty="0"/>
              <a:t>On écrit </a:t>
            </a:r>
            <a:r>
              <a:rPr lang="fr-FR" sz="2400" dirty="0">
                <a:solidFill>
                  <a:schemeClr val="accent4"/>
                </a:solidFill>
                <a:latin typeface="Consolas" panose="020B0609020204030204" pitchFamily="49" charset="0"/>
                <a:cs typeface="Consolas" panose="020B0609020204030204" pitchFamily="49" charset="0"/>
              </a:rPr>
              <a:t>p2 </a:t>
            </a:r>
            <a:r>
              <a:rPr lang="fr-FR" sz="2400" dirty="0" err="1">
                <a:solidFill>
                  <a:schemeClr val="accent4"/>
                </a:solidFill>
                <a:latin typeface="Consolas" panose="020B0609020204030204" pitchFamily="49" charset="0"/>
                <a:cs typeface="Consolas" panose="020B0609020204030204" pitchFamily="49" charset="0"/>
              </a:rPr>
              <a:t>instanceOf</a:t>
            </a:r>
            <a:r>
              <a:rPr lang="fr-FR" sz="2400" dirty="0">
                <a:solidFill>
                  <a:schemeClr val="accent4"/>
                </a:solidFill>
                <a:latin typeface="Consolas" panose="020B0609020204030204" pitchFamily="49" charset="0"/>
                <a:cs typeface="Consolas" panose="020B0609020204030204" pitchFamily="49" charset="0"/>
              </a:rPr>
              <a:t> Mage</a:t>
            </a:r>
            <a:r>
              <a:rPr lang="fr-FR" dirty="0"/>
              <a:t> pour savoir si l’objet </a:t>
            </a:r>
            <a:r>
              <a:rPr lang="fr-FR" sz="2400" dirty="0">
                <a:solidFill>
                  <a:schemeClr val="accent4"/>
                </a:solidFill>
                <a:latin typeface="Consolas" panose="020B0609020204030204" pitchFamily="49" charset="0"/>
                <a:cs typeface="Consolas" panose="020B0609020204030204" pitchFamily="49" charset="0"/>
              </a:rPr>
              <a:t>p2</a:t>
            </a:r>
            <a:r>
              <a:rPr lang="fr-FR" dirty="0"/>
              <a:t> est de type </a:t>
            </a:r>
            <a:r>
              <a:rPr lang="fr-FR" sz="2400" dirty="0">
                <a:solidFill>
                  <a:schemeClr val="accent4"/>
                </a:solidFill>
                <a:latin typeface="Consolas" panose="020B0609020204030204" pitchFamily="49" charset="0"/>
                <a:cs typeface="Consolas" panose="020B0609020204030204" pitchFamily="49" charset="0"/>
              </a:rPr>
              <a:t>Mage</a:t>
            </a:r>
            <a:r>
              <a:rPr lang="fr-FR" dirty="0"/>
              <a:t>.</a:t>
            </a:r>
          </a:p>
          <a:p>
            <a:pPr marL="0" indent="0">
              <a:buNone/>
            </a:pPr>
            <a:r>
              <a:rPr lang="fr-FR" dirty="0"/>
              <a:t>Si </a:t>
            </a:r>
            <a:r>
              <a:rPr lang="fr-FR" sz="2400" dirty="0" err="1">
                <a:solidFill>
                  <a:schemeClr val="accent4"/>
                </a:solidFill>
                <a:latin typeface="Consolas" panose="020B0609020204030204" pitchFamily="49" charset="0"/>
                <a:cs typeface="Consolas" panose="020B0609020204030204" pitchFamily="49" charset="0"/>
              </a:rPr>
              <a:t>monCompte</a:t>
            </a:r>
            <a:r>
              <a:rPr lang="fr-FR" dirty="0"/>
              <a:t> est de type </a:t>
            </a:r>
            <a:r>
              <a:rPr lang="fr-FR" sz="2400" dirty="0" err="1">
                <a:solidFill>
                  <a:schemeClr val="accent4"/>
                </a:solidFill>
                <a:latin typeface="Consolas" panose="020B0609020204030204" pitchFamily="49" charset="0"/>
                <a:cs typeface="Consolas" panose="020B0609020204030204" pitchFamily="49" charset="0"/>
              </a:rPr>
              <a:t>CompteEpargne</a:t>
            </a:r>
            <a:r>
              <a:rPr lang="fr-FR" dirty="0"/>
              <a:t>, alors</a:t>
            </a:r>
          </a:p>
          <a:p>
            <a:r>
              <a:rPr lang="fr-FR" sz="2400" dirty="0" err="1">
                <a:solidFill>
                  <a:schemeClr val="accent4"/>
                </a:solidFill>
                <a:latin typeface="Consolas" panose="020B0609020204030204" pitchFamily="49" charset="0"/>
                <a:cs typeface="Consolas" panose="020B0609020204030204" pitchFamily="49" charset="0"/>
              </a:rPr>
              <a:t>monCompte</a:t>
            </a:r>
            <a:r>
              <a:rPr lang="fr-FR" sz="2400" dirty="0">
                <a:solidFill>
                  <a:schemeClr val="accent4"/>
                </a:solidFill>
                <a:latin typeface="Consolas" panose="020B0609020204030204" pitchFamily="49" charset="0"/>
                <a:cs typeface="Consolas" panose="020B0609020204030204" pitchFamily="49" charset="0"/>
              </a:rPr>
              <a:t> </a:t>
            </a:r>
            <a:r>
              <a:rPr lang="fr-FR" sz="2400" dirty="0" err="1">
                <a:solidFill>
                  <a:schemeClr val="accent4"/>
                </a:solidFill>
                <a:latin typeface="Consolas" panose="020B0609020204030204" pitchFamily="49" charset="0"/>
                <a:cs typeface="Consolas" panose="020B0609020204030204" pitchFamily="49" charset="0"/>
              </a:rPr>
              <a:t>instanceOf</a:t>
            </a:r>
            <a:r>
              <a:rPr lang="fr-FR" sz="2400" dirty="0">
                <a:solidFill>
                  <a:schemeClr val="accent4"/>
                </a:solidFill>
                <a:latin typeface="Consolas" panose="020B0609020204030204" pitchFamily="49" charset="0"/>
                <a:cs typeface="Consolas" panose="020B0609020204030204" pitchFamily="49" charset="0"/>
              </a:rPr>
              <a:t> Compte</a:t>
            </a:r>
            <a:r>
              <a:rPr lang="fr-FR" dirty="0"/>
              <a:t> retourne </a:t>
            </a:r>
            <a:r>
              <a:rPr lang="fr-FR" sz="2400" dirty="0" err="1">
                <a:solidFill>
                  <a:schemeClr val="accent4"/>
                </a:solidFill>
                <a:latin typeface="Consolas" panose="020B0609020204030204" pitchFamily="49" charset="0"/>
                <a:cs typeface="Consolas" panose="020B0609020204030204" pitchFamily="49" charset="0"/>
              </a:rPr>
              <a:t>true</a:t>
            </a:r>
            <a:endParaRPr lang="fr-FR" sz="2400" dirty="0">
              <a:solidFill>
                <a:schemeClr val="accent4"/>
              </a:solidFill>
              <a:latin typeface="Consolas" panose="020B0609020204030204" pitchFamily="49" charset="0"/>
              <a:cs typeface="Consolas" panose="020B0609020204030204" pitchFamily="49" charset="0"/>
            </a:endParaRPr>
          </a:p>
          <a:p>
            <a:r>
              <a:rPr lang="fr-FR" sz="2400" dirty="0" err="1">
                <a:solidFill>
                  <a:schemeClr val="accent4"/>
                </a:solidFill>
                <a:latin typeface="Consolas" panose="020B0609020204030204" pitchFamily="49" charset="0"/>
                <a:cs typeface="Consolas" panose="020B0609020204030204" pitchFamily="49" charset="0"/>
              </a:rPr>
              <a:t>monCompte</a:t>
            </a:r>
            <a:r>
              <a:rPr lang="fr-FR" sz="2400" dirty="0">
                <a:solidFill>
                  <a:schemeClr val="accent4"/>
                </a:solidFill>
                <a:latin typeface="Consolas" panose="020B0609020204030204" pitchFamily="49" charset="0"/>
                <a:cs typeface="Consolas" panose="020B0609020204030204" pitchFamily="49" charset="0"/>
              </a:rPr>
              <a:t> </a:t>
            </a:r>
            <a:r>
              <a:rPr lang="fr-FR" sz="2400" dirty="0" err="1">
                <a:solidFill>
                  <a:schemeClr val="accent4"/>
                </a:solidFill>
                <a:latin typeface="Consolas" panose="020B0609020204030204" pitchFamily="49" charset="0"/>
                <a:cs typeface="Consolas" panose="020B0609020204030204" pitchFamily="49" charset="0"/>
              </a:rPr>
              <a:t>instanceOf</a:t>
            </a:r>
            <a:r>
              <a:rPr lang="fr-FR" sz="2400" dirty="0">
                <a:solidFill>
                  <a:schemeClr val="accent4"/>
                </a:solidFill>
                <a:latin typeface="Consolas" panose="020B0609020204030204" pitchFamily="49" charset="0"/>
                <a:cs typeface="Consolas" panose="020B0609020204030204" pitchFamily="49" charset="0"/>
              </a:rPr>
              <a:t> </a:t>
            </a:r>
            <a:r>
              <a:rPr lang="fr-FR" sz="2400" dirty="0" err="1">
                <a:solidFill>
                  <a:schemeClr val="accent4"/>
                </a:solidFill>
                <a:latin typeface="Consolas" panose="020B0609020204030204" pitchFamily="49" charset="0"/>
                <a:cs typeface="Consolas" panose="020B0609020204030204" pitchFamily="49" charset="0"/>
              </a:rPr>
              <a:t>CompteEpargne</a:t>
            </a:r>
            <a:r>
              <a:rPr lang="fr-FR" dirty="0"/>
              <a:t> retourne </a:t>
            </a:r>
            <a:r>
              <a:rPr lang="fr-FR" sz="2400" dirty="0" err="1">
                <a:solidFill>
                  <a:schemeClr val="accent4"/>
                </a:solidFill>
                <a:latin typeface="Consolas" panose="020B0609020204030204" pitchFamily="49" charset="0"/>
                <a:cs typeface="Consolas" panose="020B0609020204030204" pitchFamily="49" charset="0"/>
              </a:rPr>
              <a:t>true</a:t>
            </a:r>
            <a:endParaRPr lang="fr-FR" sz="2400" dirty="0">
              <a:solidFill>
                <a:schemeClr val="accent4"/>
              </a:solidFill>
              <a:latin typeface="Consolas" panose="020B0609020204030204" pitchFamily="49" charset="0"/>
              <a:cs typeface="Consolas" panose="020B0609020204030204" pitchFamily="49" charset="0"/>
            </a:endParaRPr>
          </a:p>
          <a:p>
            <a:pPr marL="0" indent="0">
              <a:buNone/>
            </a:pPr>
            <a:endParaRPr lang="fr-FR" dirty="0"/>
          </a:p>
        </p:txBody>
      </p:sp>
      <p:sp>
        <p:nvSpPr>
          <p:cNvPr id="15" name="ZoneTexte 14">
            <a:extLst>
              <a:ext uri="{FF2B5EF4-FFF2-40B4-BE49-F238E27FC236}">
                <a16:creationId xmlns:a16="http://schemas.microsoft.com/office/drawing/2014/main" id="{F0DBE1E4-7C26-013F-120E-31B8E78CBDB4}"/>
              </a:ext>
            </a:extLst>
          </p:cNvPr>
          <p:cNvSpPr txBox="1"/>
          <p:nvPr/>
        </p:nvSpPr>
        <p:spPr>
          <a:xfrm>
            <a:off x="838200" y="3316073"/>
            <a:ext cx="2898913" cy="523220"/>
          </a:xfrm>
          <a:prstGeom prst="rect">
            <a:avLst/>
          </a:prstGeom>
          <a:solidFill>
            <a:schemeClr val="accent4"/>
          </a:solidFill>
          <a:ln>
            <a:solidFill>
              <a:schemeClr val="accent2"/>
            </a:solidFill>
          </a:ln>
        </p:spPr>
        <p:txBody>
          <a:bodyPr wrap="square">
            <a:spAutoFit/>
          </a:bodyPr>
          <a:lstStyle/>
          <a:p>
            <a:r>
              <a:rPr lang="fr-FR" sz="2800" dirty="0">
                <a:solidFill>
                  <a:schemeClr val="accent1"/>
                </a:solidFill>
              </a:rPr>
              <a:t>En Java</a:t>
            </a:r>
          </a:p>
        </p:txBody>
      </p:sp>
      <p:sp>
        <p:nvSpPr>
          <p:cNvPr id="16" name="ZoneTexte 15">
            <a:extLst>
              <a:ext uri="{FF2B5EF4-FFF2-40B4-BE49-F238E27FC236}">
                <a16:creationId xmlns:a16="http://schemas.microsoft.com/office/drawing/2014/main" id="{3E5DDA15-D8EE-A94B-80BA-8DAA1B6A3EC4}"/>
              </a:ext>
            </a:extLst>
          </p:cNvPr>
          <p:cNvSpPr txBox="1"/>
          <p:nvPr/>
        </p:nvSpPr>
        <p:spPr>
          <a:xfrm>
            <a:off x="838200" y="1786019"/>
            <a:ext cx="2898913" cy="523220"/>
          </a:xfrm>
          <a:prstGeom prst="rect">
            <a:avLst/>
          </a:prstGeom>
          <a:solidFill>
            <a:schemeClr val="accent4"/>
          </a:solidFill>
          <a:ln>
            <a:solidFill>
              <a:schemeClr val="accent2"/>
            </a:solidFill>
          </a:ln>
        </p:spPr>
        <p:txBody>
          <a:bodyPr wrap="square">
            <a:spAutoFit/>
          </a:bodyPr>
          <a:lstStyle/>
          <a:p>
            <a:r>
              <a:rPr lang="fr-FR" sz="2800" dirty="0">
                <a:solidFill>
                  <a:schemeClr val="accent1"/>
                </a:solidFill>
              </a:rPr>
              <a:t>En C#</a:t>
            </a:r>
          </a:p>
        </p:txBody>
      </p:sp>
      <p:sp>
        <p:nvSpPr>
          <p:cNvPr id="4" name="Espace réservé du numéro de diapositive 3">
            <a:extLst>
              <a:ext uri="{FF2B5EF4-FFF2-40B4-BE49-F238E27FC236}">
                <a16:creationId xmlns:a16="http://schemas.microsoft.com/office/drawing/2014/main" id="{AF9D827E-2260-3CA9-0775-B2A13B0CFB22}"/>
              </a:ext>
            </a:extLst>
          </p:cNvPr>
          <p:cNvSpPr>
            <a:spLocks noGrp="1"/>
          </p:cNvSpPr>
          <p:nvPr>
            <p:ph type="sldNum" sz="quarter" idx="4"/>
          </p:nvPr>
        </p:nvSpPr>
        <p:spPr/>
        <p:txBody>
          <a:bodyPr/>
          <a:lstStyle/>
          <a:p>
            <a:fld id="{33C783E2-4793-4F48-A271-51A73CC37D74}" type="slidenum">
              <a:rPr lang="fr-FR" smtClean="0"/>
              <a:t>42</a:t>
            </a:fld>
            <a:endParaRPr lang="fr-FR"/>
          </a:p>
        </p:txBody>
      </p:sp>
    </p:spTree>
    <p:extLst>
      <p:ext uri="{BB962C8B-B14F-4D97-AF65-F5344CB8AC3E}">
        <p14:creationId xmlns:p14="http://schemas.microsoft.com/office/powerpoint/2010/main" val="3590209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C0E0EE-43AF-8CD2-447E-AF1C20C0885C}"/>
              </a:ext>
            </a:extLst>
          </p:cNvPr>
          <p:cNvSpPr>
            <a:spLocks noGrp="1"/>
          </p:cNvSpPr>
          <p:nvPr>
            <p:ph type="title"/>
          </p:nvPr>
        </p:nvSpPr>
        <p:spPr/>
        <p:txBody>
          <a:bodyPr/>
          <a:lstStyle/>
          <a:p>
            <a:r>
              <a:rPr lang="fr-FR" dirty="0"/>
              <a:t>En résumé…</a:t>
            </a:r>
          </a:p>
        </p:txBody>
      </p:sp>
      <p:sp>
        <p:nvSpPr>
          <p:cNvPr id="3" name="Espace réservé du contenu 2">
            <a:extLst>
              <a:ext uri="{FF2B5EF4-FFF2-40B4-BE49-F238E27FC236}">
                <a16:creationId xmlns:a16="http://schemas.microsoft.com/office/drawing/2014/main" id="{6AEFD615-E28E-6818-D28D-3020F007EE2A}"/>
              </a:ext>
            </a:extLst>
          </p:cNvPr>
          <p:cNvSpPr>
            <a:spLocks noGrp="1"/>
          </p:cNvSpPr>
          <p:nvPr>
            <p:ph idx="1"/>
          </p:nvPr>
        </p:nvSpPr>
        <p:spPr>
          <a:xfrm>
            <a:off x="838200" y="1570383"/>
            <a:ext cx="10515600" cy="4606580"/>
          </a:xfrm>
        </p:spPr>
        <p:txBody>
          <a:bodyPr>
            <a:normAutofit fontScale="92500" lnSpcReduction="10000"/>
          </a:bodyPr>
          <a:lstStyle/>
          <a:p>
            <a:r>
              <a:rPr lang="fr-FR" sz="2200" dirty="0" err="1">
                <a:solidFill>
                  <a:schemeClr val="accent4"/>
                </a:solidFill>
                <a:latin typeface="Consolas" panose="020B0609020204030204" pitchFamily="49" charset="0"/>
                <a:cs typeface="Consolas" panose="020B0609020204030204" pitchFamily="49" charset="0"/>
              </a:rPr>
              <a:t>namespace</a:t>
            </a:r>
            <a:r>
              <a:rPr lang="fr-FR" sz="2400" dirty="0"/>
              <a:t> devient </a:t>
            </a:r>
            <a:r>
              <a:rPr lang="fr-FR" sz="2200" dirty="0">
                <a:solidFill>
                  <a:schemeClr val="accent4"/>
                </a:solidFill>
                <a:latin typeface="Consolas" panose="020B0609020204030204" pitchFamily="49" charset="0"/>
                <a:cs typeface="Consolas" panose="020B0609020204030204" pitchFamily="49" charset="0"/>
              </a:rPr>
              <a:t>package</a:t>
            </a:r>
          </a:p>
          <a:p>
            <a:r>
              <a:rPr lang="fr-FR" sz="2400" dirty="0"/>
              <a:t>Conventions de nommage différentes: </a:t>
            </a:r>
          </a:p>
          <a:p>
            <a:pPr lvl="1"/>
            <a:r>
              <a:rPr lang="fr-FR" sz="2000" dirty="0"/>
              <a:t>Majuscule pour les noms de classes, </a:t>
            </a:r>
            <a:r>
              <a:rPr lang="fr-FR" sz="2000" dirty="0" err="1"/>
              <a:t>enumérations</a:t>
            </a:r>
            <a:r>
              <a:rPr lang="fr-FR" sz="2000" dirty="0"/>
              <a:t> et interfaces.</a:t>
            </a:r>
          </a:p>
          <a:p>
            <a:pPr lvl="1"/>
            <a:r>
              <a:rPr lang="fr-FR" sz="2000" dirty="0"/>
              <a:t>minuscule pour les variables, méthodes et packages</a:t>
            </a:r>
          </a:p>
          <a:p>
            <a:r>
              <a:rPr lang="fr-FR" sz="2400" dirty="0"/>
              <a:t>Un fichier .java ne peut contenir qu’une seule classe </a:t>
            </a:r>
            <a:r>
              <a:rPr lang="fr-FR" sz="2200" dirty="0">
                <a:solidFill>
                  <a:schemeClr val="accent4"/>
                </a:solidFill>
                <a:latin typeface="Consolas" panose="020B0609020204030204" pitchFamily="49" charset="0"/>
                <a:cs typeface="Consolas" panose="020B0609020204030204" pitchFamily="49" charset="0"/>
              </a:rPr>
              <a:t>public</a:t>
            </a:r>
          </a:p>
          <a:p>
            <a:r>
              <a:rPr lang="fr-BE" sz="2200" dirty="0" err="1">
                <a:solidFill>
                  <a:schemeClr val="accent4"/>
                </a:solidFill>
                <a:latin typeface="Consolas" panose="020B0609020204030204" pitchFamily="49" charset="0"/>
                <a:cs typeface="Consolas" panose="020B0609020204030204" pitchFamily="49" charset="0"/>
              </a:rPr>
              <a:t>Console.WriteLine</a:t>
            </a:r>
            <a:r>
              <a:rPr lang="fr-BE" sz="2400" dirty="0"/>
              <a:t> devient </a:t>
            </a:r>
            <a:r>
              <a:rPr lang="fr-BE" sz="2200" dirty="0" err="1">
                <a:solidFill>
                  <a:schemeClr val="accent4"/>
                </a:solidFill>
                <a:latin typeface="Consolas" panose="020B0609020204030204" pitchFamily="49" charset="0"/>
                <a:cs typeface="Consolas" panose="020B0609020204030204" pitchFamily="49" charset="0"/>
              </a:rPr>
              <a:t>System.out.println</a:t>
            </a:r>
            <a:endParaRPr lang="fr-BE" sz="2200" dirty="0">
              <a:solidFill>
                <a:schemeClr val="accent4"/>
              </a:solidFill>
              <a:latin typeface="Consolas" panose="020B0609020204030204" pitchFamily="49" charset="0"/>
              <a:cs typeface="Consolas" panose="020B0609020204030204" pitchFamily="49" charset="0"/>
            </a:endParaRPr>
          </a:p>
          <a:p>
            <a:r>
              <a:rPr lang="fr-FR" sz="2400" dirty="0"/>
              <a:t>En java, la méthode </a:t>
            </a:r>
            <a:r>
              <a:rPr lang="fr-FR" sz="2200" dirty="0">
                <a:solidFill>
                  <a:schemeClr val="accent4"/>
                </a:solidFill>
                <a:latin typeface="Consolas" panose="020B0609020204030204" pitchFamily="49" charset="0"/>
                <a:cs typeface="Consolas" panose="020B0609020204030204" pitchFamily="49" charset="0"/>
              </a:rPr>
              <a:t>main</a:t>
            </a:r>
            <a:r>
              <a:rPr lang="fr-FR" sz="2400" dirty="0"/>
              <a:t> qui rend une classe exécutable doit être </a:t>
            </a:r>
            <a:r>
              <a:rPr lang="fr-FR" sz="2200" dirty="0">
                <a:solidFill>
                  <a:schemeClr val="accent4"/>
                </a:solidFill>
                <a:latin typeface="Consolas" panose="020B0609020204030204" pitchFamily="49" charset="0"/>
                <a:cs typeface="Consolas" panose="020B0609020204030204" pitchFamily="49" charset="0"/>
              </a:rPr>
              <a:t>public</a:t>
            </a:r>
            <a:r>
              <a:rPr lang="fr-FR" sz="2400" dirty="0"/>
              <a:t>.</a:t>
            </a:r>
          </a:p>
          <a:p>
            <a:r>
              <a:rPr lang="fr-FR" sz="2200" dirty="0" err="1">
                <a:solidFill>
                  <a:schemeClr val="accent4"/>
                </a:solidFill>
                <a:latin typeface="Consolas" panose="020B0609020204030204" pitchFamily="49" charset="0"/>
                <a:cs typeface="Consolas" panose="020B0609020204030204" pitchFamily="49" charset="0"/>
              </a:rPr>
              <a:t>ClasseEnfant</a:t>
            </a:r>
            <a:r>
              <a:rPr lang="fr-FR" sz="2200" dirty="0">
                <a:solidFill>
                  <a:schemeClr val="accent4"/>
                </a:solidFill>
                <a:latin typeface="Consolas" panose="020B0609020204030204" pitchFamily="49" charset="0"/>
                <a:cs typeface="Consolas" panose="020B0609020204030204" pitchFamily="49" charset="0"/>
              </a:rPr>
              <a:t> : </a:t>
            </a:r>
            <a:r>
              <a:rPr lang="fr-FR" sz="2200" dirty="0" err="1">
                <a:solidFill>
                  <a:schemeClr val="accent4"/>
                </a:solidFill>
                <a:latin typeface="Consolas" panose="020B0609020204030204" pitchFamily="49" charset="0"/>
                <a:cs typeface="Consolas" panose="020B0609020204030204" pitchFamily="49" charset="0"/>
              </a:rPr>
              <a:t>ClasseParent</a:t>
            </a:r>
            <a:r>
              <a:rPr lang="fr-FR" sz="2400" dirty="0"/>
              <a:t> devient </a:t>
            </a:r>
            <a:r>
              <a:rPr lang="fr-FR" sz="2200" dirty="0" err="1">
                <a:solidFill>
                  <a:schemeClr val="accent4"/>
                </a:solidFill>
                <a:latin typeface="Consolas" panose="020B0609020204030204" pitchFamily="49" charset="0"/>
                <a:cs typeface="Consolas" panose="020B0609020204030204" pitchFamily="49" charset="0"/>
              </a:rPr>
              <a:t>ClasseEnfant</a:t>
            </a:r>
            <a:r>
              <a:rPr lang="fr-FR" sz="2200" dirty="0">
                <a:solidFill>
                  <a:schemeClr val="accent4"/>
                </a:solidFill>
                <a:latin typeface="Consolas" panose="020B0609020204030204" pitchFamily="49" charset="0"/>
                <a:cs typeface="Consolas" panose="020B0609020204030204" pitchFamily="49" charset="0"/>
              </a:rPr>
              <a:t> </a:t>
            </a:r>
            <a:r>
              <a:rPr lang="fr-FR" sz="2200" dirty="0" err="1">
                <a:solidFill>
                  <a:schemeClr val="accent4"/>
                </a:solidFill>
                <a:latin typeface="Consolas" panose="020B0609020204030204" pitchFamily="49" charset="0"/>
                <a:cs typeface="Consolas" panose="020B0609020204030204" pitchFamily="49" charset="0"/>
              </a:rPr>
              <a:t>extends</a:t>
            </a:r>
            <a:r>
              <a:rPr lang="fr-FR" sz="2200" dirty="0">
                <a:solidFill>
                  <a:schemeClr val="accent4"/>
                </a:solidFill>
                <a:latin typeface="Consolas" panose="020B0609020204030204" pitchFamily="49" charset="0"/>
                <a:cs typeface="Consolas" panose="020B0609020204030204" pitchFamily="49" charset="0"/>
              </a:rPr>
              <a:t> </a:t>
            </a:r>
            <a:r>
              <a:rPr lang="fr-FR" sz="2200" dirty="0" err="1">
                <a:solidFill>
                  <a:schemeClr val="accent4"/>
                </a:solidFill>
                <a:latin typeface="Consolas" panose="020B0609020204030204" pitchFamily="49" charset="0"/>
                <a:cs typeface="Consolas" panose="020B0609020204030204" pitchFamily="49" charset="0"/>
              </a:rPr>
              <a:t>ClasseParent</a:t>
            </a:r>
            <a:endParaRPr lang="fr-FR" sz="2200" dirty="0">
              <a:solidFill>
                <a:schemeClr val="accent4"/>
              </a:solidFill>
              <a:latin typeface="Consolas" panose="020B0609020204030204" pitchFamily="49" charset="0"/>
              <a:cs typeface="Consolas" panose="020B0609020204030204" pitchFamily="49" charset="0"/>
            </a:endParaRPr>
          </a:p>
          <a:p>
            <a:r>
              <a:rPr lang="fr-FR" sz="2400" dirty="0"/>
              <a:t>En java, on appelle explicitement le constructeur parent à l’aide de </a:t>
            </a:r>
            <a:r>
              <a:rPr lang="fr-FR" sz="2200" dirty="0">
                <a:solidFill>
                  <a:schemeClr val="accent4"/>
                </a:solidFill>
                <a:latin typeface="Consolas" panose="020B0609020204030204" pitchFamily="49" charset="0"/>
                <a:cs typeface="Consolas" panose="020B0609020204030204" pitchFamily="49" charset="0"/>
              </a:rPr>
              <a:t>super(…)</a:t>
            </a:r>
          </a:p>
          <a:p>
            <a:r>
              <a:rPr lang="fr-FR" sz="2400" dirty="0"/>
              <a:t>On peut utiliser l’annotation </a:t>
            </a:r>
            <a:r>
              <a:rPr lang="fr-FR" sz="2200" dirty="0">
                <a:solidFill>
                  <a:schemeClr val="accent4"/>
                </a:solidFill>
                <a:latin typeface="Consolas" panose="020B0609020204030204" pitchFamily="49" charset="0"/>
                <a:cs typeface="Consolas" panose="020B0609020204030204" pitchFamily="49" charset="0"/>
              </a:rPr>
              <a:t>@</a:t>
            </a:r>
            <a:r>
              <a:rPr lang="fr-FR" sz="2200" dirty="0" err="1">
                <a:solidFill>
                  <a:schemeClr val="accent4"/>
                </a:solidFill>
                <a:latin typeface="Consolas" panose="020B0609020204030204" pitchFamily="49" charset="0"/>
                <a:cs typeface="Consolas" panose="020B0609020204030204" pitchFamily="49" charset="0"/>
              </a:rPr>
              <a:t>Override</a:t>
            </a:r>
            <a:r>
              <a:rPr lang="fr-FR" sz="2400" dirty="0"/>
              <a:t> pour indiquer au compilateur qu’une méthode est redéfinie</a:t>
            </a:r>
          </a:p>
          <a:p>
            <a:r>
              <a:rPr lang="fr-FR" sz="2200" dirty="0">
                <a:solidFill>
                  <a:schemeClr val="accent4"/>
                </a:solidFill>
                <a:latin typeface="Consolas" panose="020B0609020204030204" pitchFamily="49" charset="0"/>
                <a:cs typeface="Consolas" panose="020B0609020204030204" pitchFamily="49" charset="0"/>
              </a:rPr>
              <a:t>Objet </a:t>
            </a:r>
            <a:r>
              <a:rPr lang="fr-FR" sz="2200" dirty="0" err="1">
                <a:solidFill>
                  <a:schemeClr val="accent4"/>
                </a:solidFill>
                <a:latin typeface="Consolas" panose="020B0609020204030204" pitchFamily="49" charset="0"/>
                <a:cs typeface="Consolas" panose="020B0609020204030204" pitchFamily="49" charset="0"/>
              </a:rPr>
              <a:t>is</a:t>
            </a:r>
            <a:r>
              <a:rPr lang="fr-FR" sz="2200" dirty="0">
                <a:solidFill>
                  <a:schemeClr val="accent4"/>
                </a:solidFill>
                <a:latin typeface="Consolas" panose="020B0609020204030204" pitchFamily="49" charset="0"/>
                <a:cs typeface="Consolas" panose="020B0609020204030204" pitchFamily="49" charset="0"/>
              </a:rPr>
              <a:t> Classe</a:t>
            </a:r>
            <a:r>
              <a:rPr lang="fr-FR" sz="2400" dirty="0"/>
              <a:t> devient </a:t>
            </a:r>
            <a:r>
              <a:rPr lang="fr-FR" sz="2200" dirty="0">
                <a:solidFill>
                  <a:schemeClr val="accent4"/>
                </a:solidFill>
                <a:latin typeface="Consolas" panose="020B0609020204030204" pitchFamily="49" charset="0"/>
                <a:cs typeface="Consolas" panose="020B0609020204030204" pitchFamily="49" charset="0"/>
              </a:rPr>
              <a:t>Objet</a:t>
            </a:r>
            <a:r>
              <a:rPr lang="fr-FR" sz="2200" dirty="0"/>
              <a:t> </a:t>
            </a:r>
            <a:r>
              <a:rPr lang="fr-FR" sz="2200" dirty="0" err="1">
                <a:solidFill>
                  <a:schemeClr val="accent4"/>
                </a:solidFill>
                <a:latin typeface="Consolas" panose="020B0609020204030204" pitchFamily="49" charset="0"/>
                <a:cs typeface="Consolas" panose="020B0609020204030204" pitchFamily="49" charset="0"/>
              </a:rPr>
              <a:t>instanceOf</a:t>
            </a:r>
            <a:r>
              <a:rPr lang="fr-FR" sz="2200" dirty="0">
                <a:solidFill>
                  <a:schemeClr val="accent4"/>
                </a:solidFill>
                <a:latin typeface="Consolas" panose="020B0609020204030204" pitchFamily="49" charset="0"/>
                <a:cs typeface="Consolas" panose="020B0609020204030204" pitchFamily="49" charset="0"/>
              </a:rPr>
              <a:t> Classe</a:t>
            </a:r>
          </a:p>
          <a:p>
            <a:endParaRPr lang="fr-FR" sz="2400" dirty="0"/>
          </a:p>
          <a:p>
            <a:endParaRPr lang="fr-FR" sz="2400" dirty="0"/>
          </a:p>
        </p:txBody>
      </p:sp>
      <p:sp>
        <p:nvSpPr>
          <p:cNvPr id="4" name="Espace réservé du numéro de diapositive 3">
            <a:extLst>
              <a:ext uri="{FF2B5EF4-FFF2-40B4-BE49-F238E27FC236}">
                <a16:creationId xmlns:a16="http://schemas.microsoft.com/office/drawing/2014/main" id="{B37D5407-6E05-7F99-DDD8-4A2485C61BCB}"/>
              </a:ext>
            </a:extLst>
          </p:cNvPr>
          <p:cNvSpPr>
            <a:spLocks noGrp="1"/>
          </p:cNvSpPr>
          <p:nvPr>
            <p:ph type="sldNum" sz="quarter" idx="4"/>
          </p:nvPr>
        </p:nvSpPr>
        <p:spPr/>
        <p:txBody>
          <a:bodyPr/>
          <a:lstStyle/>
          <a:p>
            <a:fld id="{33C783E2-4793-4F48-A271-51A73CC37D74}" type="slidenum">
              <a:rPr lang="fr-FR" smtClean="0"/>
              <a:t>43</a:t>
            </a:fld>
            <a:endParaRPr lang="fr-FR"/>
          </a:p>
        </p:txBody>
      </p:sp>
    </p:spTree>
    <p:extLst>
      <p:ext uri="{BB962C8B-B14F-4D97-AF65-F5344CB8AC3E}">
        <p14:creationId xmlns:p14="http://schemas.microsoft.com/office/powerpoint/2010/main" val="80234062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BC8094-533A-4878-CA6D-F8716BA045E3}"/>
              </a:ext>
            </a:extLst>
          </p:cNvPr>
          <p:cNvSpPr>
            <a:spLocks noGrp="1"/>
          </p:cNvSpPr>
          <p:nvPr>
            <p:ph type="title"/>
          </p:nvPr>
        </p:nvSpPr>
        <p:spPr/>
        <p:txBody>
          <a:bodyPr/>
          <a:lstStyle/>
          <a:p>
            <a:r>
              <a:rPr lang="fr-FR" dirty="0"/>
              <a:t>Encore deux points…</a:t>
            </a:r>
          </a:p>
        </p:txBody>
      </p:sp>
      <p:sp>
        <p:nvSpPr>
          <p:cNvPr id="3" name="Espace réservé du contenu 2">
            <a:extLst>
              <a:ext uri="{FF2B5EF4-FFF2-40B4-BE49-F238E27FC236}">
                <a16:creationId xmlns:a16="http://schemas.microsoft.com/office/drawing/2014/main" id="{3392242A-C237-D4DB-7954-4599242E56F3}"/>
              </a:ext>
            </a:extLst>
          </p:cNvPr>
          <p:cNvSpPr>
            <a:spLocks noGrp="1"/>
          </p:cNvSpPr>
          <p:nvPr>
            <p:ph idx="1"/>
          </p:nvPr>
        </p:nvSpPr>
        <p:spPr>
          <a:xfrm>
            <a:off x="838199" y="1825625"/>
            <a:ext cx="10754803" cy="4351338"/>
          </a:xfrm>
        </p:spPr>
        <p:txBody>
          <a:bodyPr>
            <a:normAutofit/>
          </a:bodyPr>
          <a:lstStyle/>
          <a:p>
            <a:r>
              <a:rPr lang="fr-FR" sz="2400" dirty="0"/>
              <a:t>Il n’y a pas de transtypage en Java; on peut </a:t>
            </a:r>
            <a:r>
              <a:rPr lang="fr-FR" sz="2400" dirty="0" err="1"/>
              <a:t>caster</a:t>
            </a:r>
            <a:r>
              <a:rPr lang="fr-FR" sz="2400" dirty="0"/>
              <a:t> mais le compilateur se plaindra si ce n’est pas possible (pas de </a:t>
            </a:r>
            <a:r>
              <a:rPr lang="fr-FR" sz="2000" dirty="0" err="1">
                <a:solidFill>
                  <a:schemeClr val="accent4"/>
                </a:solidFill>
                <a:latin typeface="Consolas" panose="020B0609020204030204" pitchFamily="49" charset="0"/>
                <a:cs typeface="Consolas" panose="020B0609020204030204" pitchFamily="49" charset="0"/>
              </a:rPr>
              <a:t>null</a:t>
            </a:r>
            <a:r>
              <a:rPr lang="fr-FR" sz="2400" dirty="0"/>
              <a:t> comme en C#).</a:t>
            </a:r>
          </a:p>
          <a:p>
            <a:endParaRPr lang="fr-FR" sz="2400" dirty="0"/>
          </a:p>
          <a:p>
            <a:r>
              <a:rPr lang="fr-FR" sz="2400" dirty="0"/>
              <a:t>Java permet aussi d’interdire l’extension d’une classe, en spécifiant que la classe est </a:t>
            </a:r>
            <a:r>
              <a:rPr lang="fr-FR" sz="2000" dirty="0">
                <a:solidFill>
                  <a:schemeClr val="accent4"/>
                </a:solidFill>
                <a:latin typeface="Consolas" panose="020B0609020204030204" pitchFamily="49" charset="0"/>
                <a:cs typeface="Consolas" panose="020B0609020204030204" pitchFamily="49" charset="0"/>
              </a:rPr>
              <a:t>final</a:t>
            </a:r>
            <a:r>
              <a:rPr lang="fr-FR" sz="2400" dirty="0"/>
              <a:t>. C’est le cas par exemple pour </a:t>
            </a:r>
            <a:r>
              <a:rPr lang="fr-FR" sz="2000" dirty="0">
                <a:solidFill>
                  <a:schemeClr val="accent4"/>
                </a:solidFill>
                <a:latin typeface="Consolas" panose="020B0609020204030204" pitchFamily="49" charset="0"/>
                <a:cs typeface="Consolas" panose="020B0609020204030204" pitchFamily="49" charset="0"/>
              </a:rPr>
              <a:t>String</a:t>
            </a:r>
            <a:r>
              <a:rPr lang="fr-FR" sz="2400" dirty="0"/>
              <a:t>.</a:t>
            </a:r>
          </a:p>
          <a:p>
            <a:r>
              <a:rPr lang="fr-FR" sz="2000" dirty="0">
                <a:solidFill>
                  <a:schemeClr val="accent4"/>
                </a:solidFill>
                <a:latin typeface="Consolas" panose="020B0609020204030204" pitchFamily="49" charset="0"/>
                <a:cs typeface="Consolas" panose="020B0609020204030204" pitchFamily="49" charset="0"/>
              </a:rPr>
              <a:t>final</a:t>
            </a:r>
            <a:r>
              <a:rPr lang="fr-FR" sz="2400" dirty="0"/>
              <a:t> peut aussi indiquer qu’une méthode d’une classe ne peut pas être redéfinie.</a:t>
            </a:r>
          </a:p>
          <a:p>
            <a:r>
              <a:rPr lang="fr-FR" sz="2000" dirty="0">
                <a:solidFill>
                  <a:schemeClr val="accent4"/>
                </a:solidFill>
                <a:latin typeface="Consolas" panose="020B0609020204030204" pitchFamily="49" charset="0"/>
                <a:cs typeface="Consolas" panose="020B0609020204030204" pitchFamily="49" charset="0"/>
              </a:rPr>
              <a:t>final</a:t>
            </a:r>
            <a:r>
              <a:rPr lang="fr-FR" sz="2400" dirty="0"/>
              <a:t> sur un attribut le transforme en constante (on l’écrira en général en MAJUSCULES)</a:t>
            </a:r>
          </a:p>
          <a:p>
            <a:r>
              <a:rPr lang="fr-FR" sz="2400" dirty="0"/>
              <a:t>Enfin, </a:t>
            </a:r>
            <a:r>
              <a:rPr lang="fr-FR" sz="2000" dirty="0">
                <a:solidFill>
                  <a:schemeClr val="accent4"/>
                </a:solidFill>
                <a:latin typeface="Consolas" panose="020B0609020204030204" pitchFamily="49" charset="0"/>
                <a:cs typeface="Consolas" panose="020B0609020204030204" pitchFamily="49" charset="0"/>
              </a:rPr>
              <a:t>final</a:t>
            </a:r>
            <a:r>
              <a:rPr lang="fr-FR" sz="2400" dirty="0"/>
              <a:t> sur un paramètre de méthode s’assure que le paramètre ne changera pas de référence.</a:t>
            </a:r>
          </a:p>
          <a:p>
            <a:endParaRPr lang="fr-FR" sz="2400" dirty="0"/>
          </a:p>
        </p:txBody>
      </p:sp>
      <p:sp>
        <p:nvSpPr>
          <p:cNvPr id="4" name="Espace réservé du numéro de diapositive 3">
            <a:extLst>
              <a:ext uri="{FF2B5EF4-FFF2-40B4-BE49-F238E27FC236}">
                <a16:creationId xmlns:a16="http://schemas.microsoft.com/office/drawing/2014/main" id="{C050CEDE-463C-81C3-DAF9-1743249E9468}"/>
              </a:ext>
            </a:extLst>
          </p:cNvPr>
          <p:cNvSpPr>
            <a:spLocks noGrp="1"/>
          </p:cNvSpPr>
          <p:nvPr>
            <p:ph type="sldNum" sz="quarter" idx="4"/>
          </p:nvPr>
        </p:nvSpPr>
        <p:spPr/>
        <p:txBody>
          <a:bodyPr/>
          <a:lstStyle/>
          <a:p>
            <a:fld id="{33C783E2-4793-4F48-A271-51A73CC37D74}" type="slidenum">
              <a:rPr lang="fr-FR" smtClean="0"/>
              <a:t>44</a:t>
            </a:fld>
            <a:endParaRPr lang="fr-FR"/>
          </a:p>
        </p:txBody>
      </p:sp>
    </p:spTree>
    <p:extLst>
      <p:ext uri="{BB962C8B-B14F-4D97-AF65-F5344CB8AC3E}">
        <p14:creationId xmlns:p14="http://schemas.microsoft.com/office/powerpoint/2010/main" val="1571134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3534EF-7BD5-A772-1DC3-C2ED0D2327F9}"/>
              </a:ext>
            </a:extLst>
          </p:cNvPr>
          <p:cNvSpPr>
            <a:spLocks noGrp="1"/>
          </p:cNvSpPr>
          <p:nvPr>
            <p:ph type="title"/>
          </p:nvPr>
        </p:nvSpPr>
        <p:spPr/>
        <p:txBody>
          <a:bodyPr/>
          <a:lstStyle/>
          <a:p>
            <a:r>
              <a:rPr lang="fr-FR" dirty="0"/>
              <a:t>Quelques liens intéressants</a:t>
            </a:r>
          </a:p>
        </p:txBody>
      </p:sp>
      <p:sp>
        <p:nvSpPr>
          <p:cNvPr id="3" name="Espace réservé du contenu 2">
            <a:extLst>
              <a:ext uri="{FF2B5EF4-FFF2-40B4-BE49-F238E27FC236}">
                <a16:creationId xmlns:a16="http://schemas.microsoft.com/office/drawing/2014/main" id="{6F29911D-158A-14A5-0E97-29682DE155F9}"/>
              </a:ext>
            </a:extLst>
          </p:cNvPr>
          <p:cNvSpPr>
            <a:spLocks noGrp="1"/>
          </p:cNvSpPr>
          <p:nvPr>
            <p:ph idx="1"/>
          </p:nvPr>
        </p:nvSpPr>
        <p:spPr/>
        <p:txBody>
          <a:bodyPr>
            <a:normAutofit fontScale="85000" lnSpcReduction="20000"/>
          </a:bodyPr>
          <a:lstStyle/>
          <a:p>
            <a:pPr marL="0" indent="0">
              <a:buNone/>
            </a:pPr>
            <a:r>
              <a:rPr lang="fr-FR" dirty="0"/>
              <a:t>La page ‘officielle’ de java:</a:t>
            </a:r>
            <a:endParaRPr lang="fr-FR" dirty="0">
              <a:hlinkClick r:id="rId2"/>
            </a:endParaRPr>
          </a:p>
          <a:p>
            <a:r>
              <a:rPr lang="fr-FR" dirty="0">
                <a:hlinkClick r:id="rId2"/>
              </a:rPr>
              <a:t>https://www.oracle.com/fr/java/</a:t>
            </a:r>
          </a:p>
          <a:p>
            <a:r>
              <a:rPr lang="fr-FR" dirty="0">
                <a:hlinkClick r:id="rId2"/>
              </a:rPr>
              <a:t>https://docs.oracle.com/en/java/javase/18/</a:t>
            </a:r>
          </a:p>
          <a:p>
            <a:endParaRPr lang="fr-FR" dirty="0">
              <a:hlinkClick r:id="rId2"/>
            </a:endParaRPr>
          </a:p>
          <a:p>
            <a:pPr marL="0" indent="0">
              <a:buNone/>
            </a:pPr>
            <a:r>
              <a:rPr lang="fr-FR" dirty="0"/>
              <a:t>La </a:t>
            </a:r>
            <a:r>
              <a:rPr lang="fr-FR" dirty="0" err="1"/>
              <a:t>javadoc</a:t>
            </a:r>
            <a:r>
              <a:rPr lang="fr-FR" dirty="0"/>
              <a:t>, documentation officielle de java:</a:t>
            </a:r>
          </a:p>
          <a:p>
            <a:r>
              <a:rPr lang="fr-FR" dirty="0">
                <a:hlinkClick r:id="rId3"/>
              </a:rPr>
              <a:t>https://docs.oracle.com/javase/10/docs/api/index.html?overview-summary.html</a:t>
            </a:r>
            <a:endParaRPr lang="fr-FR" dirty="0"/>
          </a:p>
          <a:p>
            <a:r>
              <a:rPr lang="fr-FR" dirty="0">
                <a:hlinkClick r:id="rId4"/>
              </a:rPr>
              <a:t>https://docs.oracle.com/en/java/javase/18/docs/api/index.html?overview-summary.html</a:t>
            </a:r>
            <a:endParaRPr lang="fr-FR" dirty="0"/>
          </a:p>
          <a:p>
            <a:endParaRPr lang="fr-FR" dirty="0"/>
          </a:p>
          <a:p>
            <a:pPr marL="0" indent="0">
              <a:buNone/>
            </a:pPr>
            <a:r>
              <a:rPr lang="fr-FR" dirty="0"/>
              <a:t>Un site bien fait et très exhaustif:</a:t>
            </a:r>
            <a:endParaRPr lang="fr-FR" dirty="0">
              <a:hlinkClick r:id="rId2"/>
            </a:endParaRPr>
          </a:p>
          <a:p>
            <a:r>
              <a:rPr lang="fr-FR" dirty="0">
                <a:hlinkClick r:id="rId2"/>
              </a:rPr>
              <a:t>https://www.jmdoudoux.fr/java/dej/indexavecframes.htm</a:t>
            </a:r>
            <a:endParaRPr lang="fr-FR" dirty="0"/>
          </a:p>
          <a:p>
            <a:pPr marL="0" indent="0">
              <a:buNone/>
            </a:pPr>
            <a:endParaRPr lang="fr-FR" dirty="0"/>
          </a:p>
        </p:txBody>
      </p:sp>
      <p:sp>
        <p:nvSpPr>
          <p:cNvPr id="4" name="Espace réservé du numéro de diapositive 3">
            <a:extLst>
              <a:ext uri="{FF2B5EF4-FFF2-40B4-BE49-F238E27FC236}">
                <a16:creationId xmlns:a16="http://schemas.microsoft.com/office/drawing/2014/main" id="{B8B328E7-FD75-F9DE-89AE-8C82D6E4D678}"/>
              </a:ext>
            </a:extLst>
          </p:cNvPr>
          <p:cNvSpPr>
            <a:spLocks noGrp="1"/>
          </p:cNvSpPr>
          <p:nvPr>
            <p:ph type="sldNum" sz="quarter" idx="4"/>
          </p:nvPr>
        </p:nvSpPr>
        <p:spPr/>
        <p:txBody>
          <a:bodyPr/>
          <a:lstStyle/>
          <a:p>
            <a:fld id="{33C783E2-4793-4F48-A271-51A73CC37D74}" type="slidenum">
              <a:rPr lang="fr-FR" smtClean="0"/>
              <a:t>45</a:t>
            </a:fld>
            <a:endParaRPr lang="fr-FR"/>
          </a:p>
        </p:txBody>
      </p:sp>
    </p:spTree>
    <p:extLst>
      <p:ext uri="{BB962C8B-B14F-4D97-AF65-F5344CB8AC3E}">
        <p14:creationId xmlns:p14="http://schemas.microsoft.com/office/powerpoint/2010/main" val="14709774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ogrammation orienté objet ">
            <a:extLst>
              <a:ext uri="{FF2B5EF4-FFF2-40B4-BE49-F238E27FC236}">
                <a16:creationId xmlns:a16="http://schemas.microsoft.com/office/drawing/2014/main" id="{46063A04-F0D5-D58E-8F44-E71452010F2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358" b="37392"/>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007E8BDD-906E-63FC-2904-DF485629DA59}"/>
              </a:ext>
            </a:extLst>
          </p:cNvPr>
          <p:cNvSpPr txBox="1"/>
          <p:nvPr/>
        </p:nvSpPr>
        <p:spPr>
          <a:xfrm>
            <a:off x="838200" y="947821"/>
            <a:ext cx="10769600" cy="1107996"/>
          </a:xfrm>
          <a:prstGeom prst="rect">
            <a:avLst/>
          </a:prstGeom>
          <a:solidFill>
            <a:srgbClr val="802C31">
              <a:alpha val="73333"/>
            </a:srgbClr>
          </a:solidFill>
          <a:effectLst>
            <a:outerShdw blurRad="50800" dist="38100" dir="2700000" algn="tl" rotWithShape="0">
              <a:prstClr val="black">
                <a:alpha val="40000"/>
              </a:prstClr>
            </a:outerShdw>
          </a:effectLst>
        </p:spPr>
        <p:txBody>
          <a:bodyPr wrap="square" rtlCol="0">
            <a:spAutoFit/>
          </a:bodyPr>
          <a:lstStyle/>
          <a:p>
            <a:pPr algn="ctr"/>
            <a:r>
              <a:rPr lang="fr-FR" sz="6600" b="1" dirty="0">
                <a:latin typeface="Calibri" panose="020F0502020204030204" pitchFamily="34" charset="0"/>
                <a:cs typeface="Calibri" panose="020F0502020204030204" pitchFamily="34" charset="0"/>
              </a:rPr>
              <a:t>Programmation Orienté Objet</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3" name="Espace réservé du numéro de diapositive 2">
            <a:extLst>
              <a:ext uri="{FF2B5EF4-FFF2-40B4-BE49-F238E27FC236}">
                <a16:creationId xmlns:a16="http://schemas.microsoft.com/office/drawing/2014/main" id="{2104CD7E-0BBD-4D3F-0157-B4DDCB27E8D0}"/>
              </a:ext>
            </a:extLst>
          </p:cNvPr>
          <p:cNvSpPr>
            <a:spLocks noGrp="1"/>
          </p:cNvSpPr>
          <p:nvPr>
            <p:ph type="sldNum" sz="quarter" idx="4"/>
          </p:nvPr>
        </p:nvSpPr>
        <p:spPr/>
        <p:txBody>
          <a:bodyPr/>
          <a:lstStyle/>
          <a:p>
            <a:fld id="{33C783E2-4793-4F48-A271-51A73CC37D74}" type="slidenum">
              <a:rPr lang="fr-FR" smtClean="0"/>
              <a:t>46</a:t>
            </a:fld>
            <a:endParaRPr lang="fr-FR"/>
          </a:p>
        </p:txBody>
      </p:sp>
    </p:spTree>
    <p:extLst>
      <p:ext uri="{BB962C8B-B14F-4D97-AF65-F5344CB8AC3E}">
        <p14:creationId xmlns:p14="http://schemas.microsoft.com/office/powerpoint/2010/main" val="2184457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03C3C6E-DD84-5415-EDC7-C560A6150093}"/>
              </a:ext>
            </a:extLst>
          </p:cNvPr>
          <p:cNvSpPr>
            <a:spLocks noGrp="1"/>
          </p:cNvSpPr>
          <p:nvPr>
            <p:ph type="title"/>
          </p:nvPr>
        </p:nvSpPr>
        <p:spPr/>
        <p:txBody>
          <a:bodyPr>
            <a:normAutofit/>
          </a:bodyPr>
          <a:lstStyle/>
          <a:p>
            <a:r>
              <a:rPr lang="fr-FR" dirty="0"/>
              <a:t>Les principes de la POO</a:t>
            </a:r>
          </a:p>
        </p:txBody>
      </p:sp>
      <p:sp>
        <p:nvSpPr>
          <p:cNvPr id="5" name="Espace réservé du contenu 4">
            <a:extLst>
              <a:ext uri="{FF2B5EF4-FFF2-40B4-BE49-F238E27FC236}">
                <a16:creationId xmlns:a16="http://schemas.microsoft.com/office/drawing/2014/main" id="{26DD993E-C481-FA6F-D045-63FD09879968}"/>
              </a:ext>
            </a:extLst>
          </p:cNvPr>
          <p:cNvSpPr>
            <a:spLocks noGrp="1"/>
          </p:cNvSpPr>
          <p:nvPr>
            <p:ph idx="1"/>
          </p:nvPr>
        </p:nvSpPr>
        <p:spPr/>
        <p:txBody>
          <a:bodyPr>
            <a:normAutofit/>
          </a:bodyPr>
          <a:lstStyle/>
          <a:p>
            <a:pPr marL="514350" indent="-514350" algn="l">
              <a:buFont typeface="+mj-lt"/>
              <a:buAutoNum type="arabicPeriod"/>
            </a:pPr>
            <a:r>
              <a:rPr lang="fr-BE" b="1" i="0" u="none" strike="noStrike" dirty="0">
                <a:solidFill>
                  <a:schemeClr val="accent4"/>
                </a:solidFill>
                <a:effectLst/>
                <a:latin typeface="Söhne"/>
              </a:rPr>
              <a:t>Encapsulation</a:t>
            </a:r>
            <a:r>
              <a:rPr lang="fr-BE" b="1" i="0" u="none" strike="noStrike" dirty="0">
                <a:solidFill>
                  <a:srgbClr val="D1D5DB"/>
                </a:solidFill>
                <a:effectLst/>
                <a:latin typeface="Söhne"/>
              </a:rPr>
              <a:t> :</a:t>
            </a:r>
            <a:r>
              <a:rPr lang="fr-BE" b="0" i="0" u="none" strike="noStrike" dirty="0">
                <a:solidFill>
                  <a:srgbClr val="D1D5DB"/>
                </a:solidFill>
                <a:effectLst/>
                <a:latin typeface="Söhne"/>
              </a:rPr>
              <a:t> L'encapsulation consiste à regrouper les </a:t>
            </a:r>
            <a:r>
              <a:rPr lang="fr-BE" b="0" i="0" u="none" strike="noStrike" dirty="0">
                <a:solidFill>
                  <a:schemeClr val="accent4"/>
                </a:solidFill>
                <a:effectLst/>
                <a:latin typeface="Söhne"/>
              </a:rPr>
              <a:t>données</a:t>
            </a:r>
            <a:r>
              <a:rPr lang="fr-BE" b="0" i="0" u="none" strike="noStrike" dirty="0">
                <a:solidFill>
                  <a:srgbClr val="D1D5DB"/>
                </a:solidFill>
                <a:effectLst/>
                <a:latin typeface="Söhne"/>
              </a:rPr>
              <a:t> (champs) et les </a:t>
            </a:r>
            <a:r>
              <a:rPr lang="fr-BE" b="0" i="0" u="none" strike="noStrike" dirty="0">
                <a:solidFill>
                  <a:schemeClr val="accent4"/>
                </a:solidFill>
                <a:effectLst/>
                <a:latin typeface="Söhne"/>
              </a:rPr>
              <a:t>méthodes</a:t>
            </a:r>
            <a:r>
              <a:rPr lang="fr-BE" b="0" i="0" u="none" strike="noStrike" dirty="0">
                <a:solidFill>
                  <a:srgbClr val="D1D5DB"/>
                </a:solidFill>
                <a:effectLst/>
                <a:latin typeface="Söhne"/>
              </a:rPr>
              <a:t> qui les manipulent au sein d'une entité unique, appelée </a:t>
            </a:r>
            <a:r>
              <a:rPr lang="fr-BE" b="0" i="0" u="none" strike="noStrike" dirty="0">
                <a:solidFill>
                  <a:schemeClr val="accent4"/>
                </a:solidFill>
                <a:effectLst/>
                <a:latin typeface="Söhne"/>
              </a:rPr>
              <a:t>objet</a:t>
            </a:r>
            <a:r>
              <a:rPr lang="fr-BE" b="0" i="0" u="none" strike="noStrike" dirty="0">
                <a:solidFill>
                  <a:srgbClr val="D1D5DB"/>
                </a:solidFill>
                <a:effectLst/>
                <a:latin typeface="Söhne"/>
              </a:rPr>
              <a:t>. Cela permet de cacher les détails d'implémentation internes et de fournir une interface claire pour interagir avec l'objet. </a:t>
            </a:r>
          </a:p>
          <a:p>
            <a:pPr marL="514350" indent="-514350" algn="l">
              <a:buFont typeface="+mj-lt"/>
              <a:buAutoNum type="arabicPeriod"/>
            </a:pPr>
            <a:r>
              <a:rPr lang="fr-BE" b="1" i="0" u="none" strike="noStrike" dirty="0">
                <a:solidFill>
                  <a:schemeClr val="accent4"/>
                </a:solidFill>
                <a:effectLst/>
                <a:latin typeface="Söhne"/>
              </a:rPr>
              <a:t>Héritage</a:t>
            </a:r>
            <a:r>
              <a:rPr lang="fr-BE" b="1" i="0" u="none" strike="noStrike" dirty="0">
                <a:solidFill>
                  <a:srgbClr val="D1D5DB"/>
                </a:solidFill>
                <a:effectLst/>
                <a:latin typeface="Söhne"/>
              </a:rPr>
              <a:t> :</a:t>
            </a:r>
            <a:r>
              <a:rPr lang="fr-BE" b="0" i="0" u="none" strike="noStrike" dirty="0">
                <a:solidFill>
                  <a:srgbClr val="D1D5DB"/>
                </a:solidFill>
                <a:effectLst/>
                <a:latin typeface="Söhne"/>
              </a:rPr>
              <a:t> L'héritage permet à une classe (type d'objet) d’hériter des propriétés et des méthodes d'une autre classe. Cela favorise la </a:t>
            </a:r>
            <a:r>
              <a:rPr lang="fr-BE" b="0" i="0" u="none" strike="noStrike" dirty="0">
                <a:solidFill>
                  <a:schemeClr val="accent4"/>
                </a:solidFill>
                <a:effectLst/>
                <a:latin typeface="Söhne"/>
              </a:rPr>
              <a:t>réutilisation du code </a:t>
            </a:r>
            <a:r>
              <a:rPr lang="fr-BE" b="0" i="0" u="none" strike="noStrike" dirty="0">
                <a:solidFill>
                  <a:srgbClr val="D1D5DB"/>
                </a:solidFill>
                <a:effectLst/>
                <a:latin typeface="Söhne"/>
              </a:rPr>
              <a:t>et la création de hiérarchies de classes.</a:t>
            </a:r>
          </a:p>
          <a:p>
            <a:pPr marL="514350" indent="-514350" algn="l">
              <a:buFont typeface="+mj-lt"/>
              <a:buAutoNum type="arabicPeriod"/>
            </a:pPr>
            <a:r>
              <a:rPr lang="fr-BE" b="1" i="0" u="none" strike="noStrike" dirty="0">
                <a:solidFill>
                  <a:schemeClr val="accent4"/>
                </a:solidFill>
                <a:effectLst/>
                <a:latin typeface="Söhne"/>
              </a:rPr>
              <a:t>Polymorphisme</a:t>
            </a:r>
            <a:r>
              <a:rPr lang="fr-BE" b="1" i="0" u="none" strike="noStrike" dirty="0">
                <a:solidFill>
                  <a:srgbClr val="D1D5DB"/>
                </a:solidFill>
                <a:effectLst/>
                <a:latin typeface="Söhne"/>
              </a:rPr>
              <a:t> :</a:t>
            </a:r>
            <a:r>
              <a:rPr lang="fr-BE" b="0" i="0" u="none" strike="noStrike" dirty="0">
                <a:solidFill>
                  <a:srgbClr val="D1D5DB"/>
                </a:solidFill>
                <a:effectLst/>
                <a:latin typeface="Söhne"/>
              </a:rPr>
              <a:t> Le polymorphisme permet à des objets de différentes classes d'être </a:t>
            </a:r>
            <a:r>
              <a:rPr lang="fr-BE" b="0" i="0" u="none" strike="noStrike" dirty="0">
                <a:solidFill>
                  <a:schemeClr val="accent4"/>
                </a:solidFill>
                <a:effectLst/>
                <a:latin typeface="Söhne"/>
              </a:rPr>
              <a:t>traités de manière uniforme</a:t>
            </a:r>
            <a:r>
              <a:rPr lang="fr-BE" b="0" i="0" u="none" strike="noStrike" dirty="0">
                <a:solidFill>
                  <a:srgbClr val="D1D5DB"/>
                </a:solidFill>
                <a:effectLst/>
                <a:latin typeface="Söhne"/>
              </a:rPr>
              <a:t>. </a:t>
            </a:r>
          </a:p>
        </p:txBody>
      </p:sp>
      <p:sp>
        <p:nvSpPr>
          <p:cNvPr id="2" name="Espace réservé du numéro de diapositive 1">
            <a:extLst>
              <a:ext uri="{FF2B5EF4-FFF2-40B4-BE49-F238E27FC236}">
                <a16:creationId xmlns:a16="http://schemas.microsoft.com/office/drawing/2014/main" id="{8C69C209-49D9-CAB0-8E75-B16880273FDE}"/>
              </a:ext>
            </a:extLst>
          </p:cNvPr>
          <p:cNvSpPr>
            <a:spLocks noGrp="1"/>
          </p:cNvSpPr>
          <p:nvPr>
            <p:ph type="sldNum" sz="quarter" idx="4"/>
          </p:nvPr>
        </p:nvSpPr>
        <p:spPr/>
        <p:txBody>
          <a:bodyPr/>
          <a:lstStyle/>
          <a:p>
            <a:fld id="{33C783E2-4793-4F48-A271-51A73CC37D74}" type="slidenum">
              <a:rPr lang="fr-FR" smtClean="0"/>
              <a:t>47</a:t>
            </a:fld>
            <a:endParaRPr lang="fr-FR"/>
          </a:p>
        </p:txBody>
      </p:sp>
    </p:spTree>
    <p:extLst>
      <p:ext uri="{BB962C8B-B14F-4D97-AF65-F5344CB8AC3E}">
        <p14:creationId xmlns:p14="http://schemas.microsoft.com/office/powerpoint/2010/main" val="10090099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03C3C6E-DD84-5415-EDC7-C560A6150093}"/>
              </a:ext>
            </a:extLst>
          </p:cNvPr>
          <p:cNvSpPr>
            <a:spLocks noGrp="1"/>
          </p:cNvSpPr>
          <p:nvPr>
            <p:ph type="title"/>
          </p:nvPr>
        </p:nvSpPr>
        <p:spPr/>
        <p:txBody>
          <a:bodyPr>
            <a:normAutofit/>
          </a:bodyPr>
          <a:lstStyle/>
          <a:p>
            <a:r>
              <a:rPr lang="fr-FR" dirty="0"/>
              <a:t>Les principes de la POO</a:t>
            </a:r>
          </a:p>
        </p:txBody>
      </p:sp>
      <p:sp>
        <p:nvSpPr>
          <p:cNvPr id="5" name="Espace réservé du contenu 4">
            <a:extLst>
              <a:ext uri="{FF2B5EF4-FFF2-40B4-BE49-F238E27FC236}">
                <a16:creationId xmlns:a16="http://schemas.microsoft.com/office/drawing/2014/main" id="{26DD993E-C481-FA6F-D045-63FD09879968}"/>
              </a:ext>
            </a:extLst>
          </p:cNvPr>
          <p:cNvSpPr>
            <a:spLocks noGrp="1"/>
          </p:cNvSpPr>
          <p:nvPr>
            <p:ph idx="1"/>
          </p:nvPr>
        </p:nvSpPr>
        <p:spPr/>
        <p:txBody>
          <a:bodyPr>
            <a:normAutofit/>
          </a:bodyPr>
          <a:lstStyle/>
          <a:p>
            <a:pPr marL="514350" indent="-514350" algn="l">
              <a:buFont typeface="+mj-lt"/>
              <a:buAutoNum type="arabicPeriod" startAt="4"/>
            </a:pPr>
            <a:r>
              <a:rPr lang="fr-BE" b="1" i="0" u="none" strike="noStrike" dirty="0">
                <a:solidFill>
                  <a:schemeClr val="accent4"/>
                </a:solidFill>
                <a:effectLst/>
                <a:latin typeface="Söhne"/>
              </a:rPr>
              <a:t>Abstraction</a:t>
            </a:r>
            <a:r>
              <a:rPr lang="fr-BE" b="1" i="0" u="none" strike="noStrike" dirty="0">
                <a:solidFill>
                  <a:srgbClr val="D1D5DB"/>
                </a:solidFill>
                <a:effectLst/>
                <a:latin typeface="Söhne"/>
              </a:rPr>
              <a:t> :</a:t>
            </a:r>
            <a:r>
              <a:rPr lang="fr-BE" b="0" i="0" u="none" strike="noStrike" dirty="0">
                <a:solidFill>
                  <a:srgbClr val="D1D5DB"/>
                </a:solidFill>
                <a:effectLst/>
                <a:latin typeface="Söhne"/>
              </a:rPr>
              <a:t> L'abstraction consiste à simplifier la complexité en modélisant des concepts du monde réel sous forme d'objets aux caractéristiques pertinentes pour le problème que vous tentez de résoudre. Cela permet de se concentrer sur l'essentiel et d'</a:t>
            </a:r>
            <a:r>
              <a:rPr lang="fr-BE" b="0" i="0" u="none" strike="noStrike" dirty="0">
                <a:solidFill>
                  <a:schemeClr val="accent4"/>
                </a:solidFill>
                <a:effectLst/>
                <a:latin typeface="Söhne"/>
              </a:rPr>
              <a:t>ignorer les détails inutiles</a:t>
            </a:r>
            <a:r>
              <a:rPr lang="fr-BE" b="0" i="0" u="none" strike="noStrike" dirty="0">
                <a:solidFill>
                  <a:srgbClr val="D1D5DB"/>
                </a:solidFill>
                <a:effectLst/>
                <a:latin typeface="Söhne"/>
              </a:rPr>
              <a:t>.</a:t>
            </a:r>
          </a:p>
          <a:p>
            <a:pPr marL="514350" indent="-514350" algn="l">
              <a:buFont typeface="+mj-lt"/>
              <a:buAutoNum type="arabicPeriod" startAt="4"/>
            </a:pPr>
            <a:r>
              <a:rPr lang="fr-BE" b="1" i="0" u="none" strike="noStrike" dirty="0">
                <a:solidFill>
                  <a:schemeClr val="accent4"/>
                </a:solidFill>
                <a:effectLst/>
                <a:latin typeface="Söhne"/>
              </a:rPr>
              <a:t>Classes et Objets </a:t>
            </a:r>
            <a:r>
              <a:rPr lang="fr-BE" b="1" i="0" u="none" strike="noStrike" dirty="0">
                <a:solidFill>
                  <a:srgbClr val="D1D5DB"/>
                </a:solidFill>
                <a:effectLst/>
                <a:latin typeface="Söhne"/>
              </a:rPr>
              <a:t>:</a:t>
            </a:r>
            <a:r>
              <a:rPr lang="fr-BE" b="0" i="0" u="none" strike="noStrike" dirty="0">
                <a:solidFill>
                  <a:srgbClr val="D1D5DB"/>
                </a:solidFill>
                <a:effectLst/>
                <a:latin typeface="Söhne"/>
              </a:rPr>
              <a:t> Une classe est un modèle ou un plan pour créer des objets. Les objets sont des instances de classes. Les classes définissent les propriétés et les méthodes communes à tous les objets créés à partir de la classe.</a:t>
            </a:r>
          </a:p>
        </p:txBody>
      </p:sp>
      <p:sp>
        <p:nvSpPr>
          <p:cNvPr id="2" name="Espace réservé du numéro de diapositive 1">
            <a:extLst>
              <a:ext uri="{FF2B5EF4-FFF2-40B4-BE49-F238E27FC236}">
                <a16:creationId xmlns:a16="http://schemas.microsoft.com/office/drawing/2014/main" id="{909553A7-DD2C-3B93-9646-DFA457C137E1}"/>
              </a:ext>
            </a:extLst>
          </p:cNvPr>
          <p:cNvSpPr>
            <a:spLocks noGrp="1"/>
          </p:cNvSpPr>
          <p:nvPr>
            <p:ph type="sldNum" sz="quarter" idx="4"/>
          </p:nvPr>
        </p:nvSpPr>
        <p:spPr/>
        <p:txBody>
          <a:bodyPr/>
          <a:lstStyle/>
          <a:p>
            <a:fld id="{33C783E2-4793-4F48-A271-51A73CC37D74}" type="slidenum">
              <a:rPr lang="fr-FR" smtClean="0"/>
              <a:t>48</a:t>
            </a:fld>
            <a:endParaRPr lang="fr-FR"/>
          </a:p>
        </p:txBody>
      </p:sp>
    </p:spTree>
    <p:extLst>
      <p:ext uri="{BB962C8B-B14F-4D97-AF65-F5344CB8AC3E}">
        <p14:creationId xmlns:p14="http://schemas.microsoft.com/office/powerpoint/2010/main" val="2350791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03C3C6E-DD84-5415-EDC7-C560A6150093}"/>
              </a:ext>
            </a:extLst>
          </p:cNvPr>
          <p:cNvSpPr>
            <a:spLocks noGrp="1"/>
          </p:cNvSpPr>
          <p:nvPr>
            <p:ph type="title"/>
          </p:nvPr>
        </p:nvSpPr>
        <p:spPr/>
        <p:txBody>
          <a:bodyPr>
            <a:normAutofit/>
          </a:bodyPr>
          <a:lstStyle/>
          <a:p>
            <a:r>
              <a:rPr lang="fr-FR" dirty="0"/>
              <a:t>Les principes de la POO</a:t>
            </a:r>
          </a:p>
        </p:txBody>
      </p:sp>
      <p:sp>
        <p:nvSpPr>
          <p:cNvPr id="5" name="Espace réservé du contenu 4">
            <a:extLst>
              <a:ext uri="{FF2B5EF4-FFF2-40B4-BE49-F238E27FC236}">
                <a16:creationId xmlns:a16="http://schemas.microsoft.com/office/drawing/2014/main" id="{26DD993E-C481-FA6F-D045-63FD09879968}"/>
              </a:ext>
            </a:extLst>
          </p:cNvPr>
          <p:cNvSpPr>
            <a:spLocks noGrp="1"/>
          </p:cNvSpPr>
          <p:nvPr>
            <p:ph idx="1"/>
          </p:nvPr>
        </p:nvSpPr>
        <p:spPr/>
        <p:txBody>
          <a:bodyPr>
            <a:normAutofit/>
          </a:bodyPr>
          <a:lstStyle/>
          <a:p>
            <a:pPr marL="514350" indent="-514350" algn="l">
              <a:buFont typeface="+mj-lt"/>
              <a:buAutoNum type="arabicPeriod" startAt="6"/>
            </a:pPr>
            <a:r>
              <a:rPr lang="fr-BE" b="1" i="0" u="none" strike="noStrike" dirty="0">
                <a:solidFill>
                  <a:schemeClr val="accent4"/>
                </a:solidFill>
                <a:effectLst/>
                <a:latin typeface="Söhne"/>
              </a:rPr>
              <a:t>Constructeurs et Destructeurs </a:t>
            </a:r>
            <a:r>
              <a:rPr lang="fr-BE" b="1" i="0" u="none" strike="noStrike" dirty="0">
                <a:solidFill>
                  <a:srgbClr val="D1D5DB"/>
                </a:solidFill>
                <a:effectLst/>
                <a:latin typeface="Söhne"/>
              </a:rPr>
              <a:t>:</a:t>
            </a:r>
            <a:r>
              <a:rPr lang="fr-BE" b="0" i="0" u="none" strike="noStrike" dirty="0">
                <a:solidFill>
                  <a:srgbClr val="D1D5DB"/>
                </a:solidFill>
                <a:effectLst/>
                <a:latin typeface="Söhne"/>
              </a:rPr>
              <a:t> Les constructeurs sont des méthodes spéciales appelées lors de la création d'un nouvel objet. Ils permettent d'initialiser les propriétés de l'objet. Les destructeurs, quant à eux, sont appelés lors de la destruction de l'objet et peuvent être utilisés pour libérer des ressources.</a:t>
            </a:r>
          </a:p>
          <a:p>
            <a:pPr marL="514350" indent="-514350" algn="l">
              <a:buFont typeface="+mj-lt"/>
              <a:buAutoNum type="arabicPeriod" startAt="6"/>
            </a:pPr>
            <a:r>
              <a:rPr lang="fr-BE" b="1" i="0" u="none" strike="noStrike" dirty="0">
                <a:solidFill>
                  <a:schemeClr val="accent4"/>
                </a:solidFill>
                <a:effectLst/>
                <a:latin typeface="Söhne"/>
              </a:rPr>
              <a:t>Association</a:t>
            </a:r>
            <a:r>
              <a:rPr lang="fr-BE" b="1" i="0" u="none" strike="noStrike" dirty="0">
                <a:solidFill>
                  <a:srgbClr val="D1D5DB"/>
                </a:solidFill>
                <a:effectLst/>
                <a:latin typeface="Söhne"/>
              </a:rPr>
              <a:t> :</a:t>
            </a:r>
            <a:r>
              <a:rPr lang="fr-BE" b="0" i="0" u="none" strike="noStrike" dirty="0">
                <a:solidFill>
                  <a:srgbClr val="D1D5DB"/>
                </a:solidFill>
                <a:effectLst/>
                <a:latin typeface="Söhne"/>
              </a:rPr>
              <a:t> L'association représente la relation entre deux objets. Elle peut être unidirectionnelle ou bidirectionnelle, et elle peut être composée de relations telles que "un-à-un", "un-à-plusieurs", ou "plusieurs-à-plusieurs".</a:t>
            </a:r>
          </a:p>
        </p:txBody>
      </p:sp>
      <p:sp>
        <p:nvSpPr>
          <p:cNvPr id="2" name="Espace réservé du numéro de diapositive 1">
            <a:extLst>
              <a:ext uri="{FF2B5EF4-FFF2-40B4-BE49-F238E27FC236}">
                <a16:creationId xmlns:a16="http://schemas.microsoft.com/office/drawing/2014/main" id="{68CE9F21-F24B-C5D2-BA65-9BBE665CCFB8}"/>
              </a:ext>
            </a:extLst>
          </p:cNvPr>
          <p:cNvSpPr>
            <a:spLocks noGrp="1"/>
          </p:cNvSpPr>
          <p:nvPr>
            <p:ph type="sldNum" sz="quarter" idx="4"/>
          </p:nvPr>
        </p:nvSpPr>
        <p:spPr/>
        <p:txBody>
          <a:bodyPr/>
          <a:lstStyle/>
          <a:p>
            <a:fld id="{33C783E2-4793-4F48-A271-51A73CC37D74}" type="slidenum">
              <a:rPr lang="fr-FR" smtClean="0"/>
              <a:t>49</a:t>
            </a:fld>
            <a:endParaRPr lang="fr-FR"/>
          </a:p>
        </p:txBody>
      </p:sp>
    </p:spTree>
    <p:extLst>
      <p:ext uri="{BB962C8B-B14F-4D97-AF65-F5344CB8AC3E}">
        <p14:creationId xmlns:p14="http://schemas.microsoft.com/office/powerpoint/2010/main" val="18077543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31B9F1-2C07-C94A-9528-5E58899CB375}"/>
              </a:ext>
            </a:extLst>
          </p:cNvPr>
          <p:cNvSpPr>
            <a:spLocks noGrp="1"/>
          </p:cNvSpPr>
          <p:nvPr>
            <p:ph type="title"/>
          </p:nvPr>
        </p:nvSpPr>
        <p:spPr/>
        <p:txBody>
          <a:bodyPr/>
          <a:lstStyle/>
          <a:p>
            <a:r>
              <a:rPr lang="fr-FR" dirty="0"/>
              <a:t>Exercice 1</a:t>
            </a:r>
          </a:p>
        </p:txBody>
      </p:sp>
      <p:sp>
        <p:nvSpPr>
          <p:cNvPr id="3" name="Espace réservé du contenu 2">
            <a:extLst>
              <a:ext uri="{FF2B5EF4-FFF2-40B4-BE49-F238E27FC236}">
                <a16:creationId xmlns:a16="http://schemas.microsoft.com/office/drawing/2014/main" id="{6D69007D-F661-1041-9584-8871E41E1A4B}"/>
              </a:ext>
            </a:extLst>
          </p:cNvPr>
          <p:cNvSpPr>
            <a:spLocks noGrp="1"/>
          </p:cNvSpPr>
          <p:nvPr>
            <p:ph idx="1"/>
          </p:nvPr>
        </p:nvSpPr>
        <p:spPr/>
        <p:txBody>
          <a:bodyPr>
            <a:noAutofit/>
          </a:bodyPr>
          <a:lstStyle/>
          <a:p>
            <a:r>
              <a:rPr lang="fr-FR" sz="2400" dirty="0"/>
              <a:t>Créez une classe </a:t>
            </a:r>
            <a:r>
              <a:rPr lang="fr-FR" sz="2200" dirty="0">
                <a:solidFill>
                  <a:schemeClr val="accent4"/>
                </a:solidFill>
                <a:latin typeface="Consolas" charset="0"/>
                <a:cs typeface="Consolas" charset="0"/>
              </a:rPr>
              <a:t>Personne</a:t>
            </a:r>
            <a:r>
              <a:rPr lang="fr-FR" sz="2400" dirty="0"/>
              <a:t>.</a:t>
            </a:r>
          </a:p>
          <a:p>
            <a:r>
              <a:rPr lang="fr-FR" sz="2400" dirty="0"/>
              <a:t>La classe présente quatre champs public:</a:t>
            </a:r>
          </a:p>
          <a:p>
            <a:pPr lvl="1"/>
            <a:r>
              <a:rPr lang="fr-FR" sz="2000" dirty="0"/>
              <a:t>un </a:t>
            </a:r>
            <a:r>
              <a:rPr lang="fr-FR" sz="1800" dirty="0">
                <a:solidFill>
                  <a:schemeClr val="accent4"/>
                </a:solidFill>
                <a:latin typeface="Consolas" charset="0"/>
                <a:cs typeface="Consolas" charset="0"/>
              </a:rPr>
              <a:t>nom</a:t>
            </a:r>
            <a:r>
              <a:rPr lang="fr-FR" sz="2000" dirty="0"/>
              <a:t>, un </a:t>
            </a:r>
            <a:r>
              <a:rPr lang="fr-FR" sz="1800" dirty="0">
                <a:solidFill>
                  <a:schemeClr val="accent4"/>
                </a:solidFill>
                <a:latin typeface="Consolas" charset="0"/>
                <a:cs typeface="Consolas" charset="0"/>
              </a:rPr>
              <a:t>prénom</a:t>
            </a:r>
            <a:r>
              <a:rPr lang="fr-FR" sz="2000" dirty="0"/>
              <a:t>, une année de </a:t>
            </a:r>
            <a:r>
              <a:rPr lang="fr-FR" sz="1800" dirty="0">
                <a:solidFill>
                  <a:schemeClr val="accent4"/>
                </a:solidFill>
                <a:latin typeface="Consolas" charset="0"/>
                <a:cs typeface="Consolas" charset="0"/>
              </a:rPr>
              <a:t>naissance</a:t>
            </a:r>
            <a:r>
              <a:rPr lang="fr-FR" sz="2000" dirty="0"/>
              <a:t> et un </a:t>
            </a:r>
            <a:r>
              <a:rPr lang="fr-FR" sz="1800" dirty="0" err="1">
                <a:solidFill>
                  <a:schemeClr val="accent4"/>
                </a:solidFill>
                <a:latin typeface="Consolas" charset="0"/>
                <a:cs typeface="Consolas" charset="0"/>
              </a:rPr>
              <a:t>age</a:t>
            </a:r>
            <a:r>
              <a:rPr lang="fr-FR" sz="2000" dirty="0"/>
              <a:t>. </a:t>
            </a:r>
          </a:p>
          <a:p>
            <a:r>
              <a:rPr lang="fr-FR" sz="2400" dirty="0"/>
              <a:t>La classe présente aussi deux méthodes public:</a:t>
            </a:r>
          </a:p>
          <a:p>
            <a:pPr lvl="1"/>
            <a:r>
              <a:rPr lang="fr-FR" sz="2000" dirty="0"/>
              <a:t>Une méthode </a:t>
            </a:r>
            <a:r>
              <a:rPr lang="fr-FR" sz="1800" dirty="0" err="1">
                <a:solidFill>
                  <a:schemeClr val="accent4"/>
                </a:solidFill>
                <a:latin typeface="Consolas" charset="0"/>
                <a:cs typeface="Consolas" charset="0"/>
              </a:rPr>
              <a:t>computeAge</a:t>
            </a:r>
            <a:r>
              <a:rPr lang="fr-FR" sz="1800" dirty="0">
                <a:solidFill>
                  <a:schemeClr val="accent4"/>
                </a:solidFill>
                <a:latin typeface="Consolas" charset="0"/>
                <a:cs typeface="Consolas" charset="0"/>
              </a:rPr>
              <a:t>(</a:t>
            </a:r>
            <a:r>
              <a:rPr lang="fr-FR" sz="1800" dirty="0" err="1">
                <a:solidFill>
                  <a:schemeClr val="accent4"/>
                </a:solidFill>
                <a:latin typeface="Consolas" charset="0"/>
                <a:cs typeface="Consolas" charset="0"/>
              </a:rPr>
              <a:t>int</a:t>
            </a:r>
            <a:r>
              <a:rPr lang="fr-FR" sz="1800" dirty="0">
                <a:solidFill>
                  <a:schemeClr val="accent4"/>
                </a:solidFill>
                <a:latin typeface="Consolas" charset="0"/>
                <a:cs typeface="Consolas" charset="0"/>
              </a:rPr>
              <a:t> </a:t>
            </a:r>
            <a:r>
              <a:rPr lang="fr-FR" sz="1800" dirty="0" err="1">
                <a:solidFill>
                  <a:schemeClr val="accent4"/>
                </a:solidFill>
                <a:latin typeface="Consolas" charset="0"/>
                <a:cs typeface="Consolas" charset="0"/>
              </a:rPr>
              <a:t>year</a:t>
            </a:r>
            <a:r>
              <a:rPr lang="fr-FR" sz="1800" dirty="0">
                <a:solidFill>
                  <a:schemeClr val="accent4"/>
                </a:solidFill>
                <a:latin typeface="Consolas" charset="0"/>
                <a:cs typeface="Consolas" charset="0"/>
              </a:rPr>
              <a:t>)</a:t>
            </a:r>
            <a:r>
              <a:rPr lang="fr-FR" sz="2000" dirty="0"/>
              <a:t> qui calcule l’âge de la personne à l’année </a:t>
            </a:r>
            <a:r>
              <a:rPr lang="fr-FR" sz="1800" dirty="0" err="1">
                <a:solidFill>
                  <a:schemeClr val="accent4"/>
                </a:solidFill>
                <a:latin typeface="Consolas" charset="0"/>
                <a:cs typeface="Consolas" charset="0"/>
              </a:rPr>
              <a:t>year</a:t>
            </a:r>
            <a:r>
              <a:rPr lang="fr-FR" sz="2000" dirty="0"/>
              <a:t>.</a:t>
            </a:r>
          </a:p>
          <a:p>
            <a:pPr lvl="1"/>
            <a:r>
              <a:rPr lang="fr-FR" sz="2000" dirty="0"/>
              <a:t>Une méthode  </a:t>
            </a:r>
            <a:r>
              <a:rPr lang="fr-FR" sz="1800" dirty="0">
                <a:solidFill>
                  <a:schemeClr val="accent4"/>
                </a:solidFill>
                <a:latin typeface="Consolas" charset="0"/>
                <a:cs typeface="Consolas" charset="0"/>
              </a:rPr>
              <a:t>display()</a:t>
            </a:r>
            <a:r>
              <a:rPr lang="fr-FR" sz="2000" dirty="0"/>
              <a:t> qui affiche les propriétés de la personne.</a:t>
            </a:r>
          </a:p>
          <a:p>
            <a:r>
              <a:rPr lang="fr-FR" sz="2400" dirty="0"/>
              <a:t>Vous écrivez un programme (</a:t>
            </a:r>
            <a:r>
              <a:rPr lang="fr-FR" sz="2200" dirty="0">
                <a:solidFill>
                  <a:schemeClr val="accent4"/>
                </a:solidFill>
                <a:latin typeface="Consolas" charset="0"/>
                <a:cs typeface="Consolas" charset="0"/>
              </a:rPr>
              <a:t>main</a:t>
            </a:r>
            <a:r>
              <a:rPr lang="fr-FR" sz="2400" dirty="0"/>
              <a:t>) dans lequel vous créez une </a:t>
            </a:r>
            <a:r>
              <a:rPr lang="fr-FR" sz="2200" dirty="0">
                <a:solidFill>
                  <a:schemeClr val="accent4"/>
                </a:solidFill>
                <a:latin typeface="Consolas" charset="0"/>
                <a:cs typeface="Consolas" charset="0"/>
              </a:rPr>
              <a:t>Personne</a:t>
            </a:r>
            <a:r>
              <a:rPr lang="fr-FR" sz="2400" dirty="0"/>
              <a:t>.</a:t>
            </a:r>
          </a:p>
          <a:p>
            <a:r>
              <a:rPr lang="fr-FR" sz="2400" dirty="0"/>
              <a:t>Dans le programme, vous affichez le prénom, le nom et l’âge de la personne.</a:t>
            </a:r>
          </a:p>
          <a:p>
            <a:endParaRPr lang="fr-FR" sz="2400" dirty="0"/>
          </a:p>
          <a:p>
            <a:endParaRPr lang="fr-FR" sz="2400" dirty="0"/>
          </a:p>
        </p:txBody>
      </p:sp>
      <p:pic>
        <p:nvPicPr>
          <p:cNvPr id="6" name="Picture 2" descr="blog-nutrition-outlet">
            <a:extLst>
              <a:ext uri="{FF2B5EF4-FFF2-40B4-BE49-F238E27FC236}">
                <a16:creationId xmlns:a16="http://schemas.microsoft.com/office/drawing/2014/main" id="{A26EDAED-4DF2-24BD-A3FC-E7810642A1EC}"/>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Espace réservé du numéro de diapositive 3">
            <a:extLst>
              <a:ext uri="{FF2B5EF4-FFF2-40B4-BE49-F238E27FC236}">
                <a16:creationId xmlns:a16="http://schemas.microsoft.com/office/drawing/2014/main" id="{1B6B6DEC-21FE-9DF4-8A42-321AA0678DCE}"/>
              </a:ext>
            </a:extLst>
          </p:cNvPr>
          <p:cNvSpPr>
            <a:spLocks noGrp="1"/>
          </p:cNvSpPr>
          <p:nvPr>
            <p:ph type="sldNum" sz="quarter" idx="4"/>
          </p:nvPr>
        </p:nvSpPr>
        <p:spPr/>
        <p:txBody>
          <a:bodyPr/>
          <a:lstStyle/>
          <a:p>
            <a:fld id="{33C783E2-4793-4F48-A271-51A73CC37D74}" type="slidenum">
              <a:rPr lang="fr-FR" smtClean="0"/>
              <a:t>50</a:t>
            </a:fld>
            <a:endParaRPr lang="fr-FR"/>
          </a:p>
        </p:txBody>
      </p:sp>
    </p:spTree>
    <p:extLst>
      <p:ext uri="{BB962C8B-B14F-4D97-AF65-F5344CB8AC3E}">
        <p14:creationId xmlns:p14="http://schemas.microsoft.com/office/powerpoint/2010/main" val="37689382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A8C39D-450E-83BB-1B39-F18F93895D9F}"/>
              </a:ext>
            </a:extLst>
          </p:cNvPr>
          <p:cNvSpPr>
            <a:spLocks noGrp="1"/>
          </p:cNvSpPr>
          <p:nvPr>
            <p:ph type="title"/>
          </p:nvPr>
        </p:nvSpPr>
        <p:spPr/>
        <p:txBody>
          <a:bodyPr/>
          <a:lstStyle/>
          <a:p>
            <a:r>
              <a:rPr lang="fr-FR" dirty="0"/>
              <a:t>Encapsulation: getters et setters</a:t>
            </a:r>
          </a:p>
        </p:txBody>
      </p:sp>
      <p:sp>
        <p:nvSpPr>
          <p:cNvPr id="3" name="Espace réservé du contenu 2">
            <a:extLst>
              <a:ext uri="{FF2B5EF4-FFF2-40B4-BE49-F238E27FC236}">
                <a16:creationId xmlns:a16="http://schemas.microsoft.com/office/drawing/2014/main" id="{9690CA80-403E-36F6-FC2C-5A1564626C5C}"/>
              </a:ext>
            </a:extLst>
          </p:cNvPr>
          <p:cNvSpPr>
            <a:spLocks noGrp="1"/>
          </p:cNvSpPr>
          <p:nvPr>
            <p:ph idx="1"/>
          </p:nvPr>
        </p:nvSpPr>
        <p:spPr/>
        <p:txBody>
          <a:bodyPr>
            <a:normAutofit/>
          </a:bodyPr>
          <a:lstStyle/>
          <a:p>
            <a:pPr marL="0" indent="0">
              <a:buNone/>
            </a:pPr>
            <a:r>
              <a:rPr lang="fr-FR" dirty="0"/>
              <a:t>Les getters et les setters sont des méthodes qui permettent de mettre en œuvre le principe d'</a:t>
            </a:r>
            <a:r>
              <a:rPr lang="fr-FR" dirty="0">
                <a:solidFill>
                  <a:schemeClr val="accent4"/>
                </a:solidFill>
              </a:rPr>
              <a:t>encapsulation.</a:t>
            </a:r>
          </a:p>
          <a:p>
            <a:pPr marL="0" indent="0">
              <a:buNone/>
            </a:pPr>
            <a:r>
              <a:rPr lang="fr-FR" dirty="0"/>
              <a:t>Les </a:t>
            </a:r>
            <a:r>
              <a:rPr lang="fr-FR" dirty="0">
                <a:solidFill>
                  <a:schemeClr val="accent4"/>
                </a:solidFill>
              </a:rPr>
              <a:t>détails</a:t>
            </a:r>
            <a:r>
              <a:rPr lang="fr-FR" dirty="0"/>
              <a:t> d'implémentation de la classe sont </a:t>
            </a:r>
            <a:r>
              <a:rPr lang="fr-FR" dirty="0">
                <a:solidFill>
                  <a:schemeClr val="accent4"/>
                </a:solidFill>
              </a:rPr>
              <a:t>cachés</a:t>
            </a:r>
            <a:r>
              <a:rPr lang="fr-FR" dirty="0"/>
              <a:t>, mais les attributs peuvent toujours être manipulés de manière contrôlée.</a:t>
            </a:r>
          </a:p>
          <a:p>
            <a:pPr marL="0" indent="0">
              <a:buNone/>
            </a:pPr>
            <a:r>
              <a:rPr lang="fr-BE" dirty="0"/>
              <a:t>L'utilisation de getters et de setters favorise l'encapsulation en permettant un accès contrôlé aux attributs privés d'une classe. Cela permet également d'appliquer des règles ou des validations lors de la récupération ou de la modification des valeurs, si nécessaire. </a:t>
            </a:r>
            <a:endParaRPr lang="fr-FR" dirty="0"/>
          </a:p>
        </p:txBody>
      </p:sp>
      <p:sp>
        <p:nvSpPr>
          <p:cNvPr id="4" name="Espace réservé du numéro de diapositive 3">
            <a:extLst>
              <a:ext uri="{FF2B5EF4-FFF2-40B4-BE49-F238E27FC236}">
                <a16:creationId xmlns:a16="http://schemas.microsoft.com/office/drawing/2014/main" id="{4A3DD614-4AAD-A12E-593F-5C1B54C18056}"/>
              </a:ext>
            </a:extLst>
          </p:cNvPr>
          <p:cNvSpPr>
            <a:spLocks noGrp="1"/>
          </p:cNvSpPr>
          <p:nvPr>
            <p:ph type="sldNum" sz="quarter" idx="4"/>
          </p:nvPr>
        </p:nvSpPr>
        <p:spPr/>
        <p:txBody>
          <a:bodyPr/>
          <a:lstStyle/>
          <a:p>
            <a:fld id="{33C783E2-4793-4F48-A271-51A73CC37D74}" type="slidenum">
              <a:rPr lang="fr-FR" smtClean="0"/>
              <a:t>51</a:t>
            </a:fld>
            <a:endParaRPr lang="fr-FR"/>
          </a:p>
        </p:txBody>
      </p:sp>
    </p:spTree>
    <p:extLst>
      <p:ext uri="{BB962C8B-B14F-4D97-AF65-F5344CB8AC3E}">
        <p14:creationId xmlns:p14="http://schemas.microsoft.com/office/powerpoint/2010/main" val="20660877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A8C39D-450E-83BB-1B39-F18F93895D9F}"/>
              </a:ext>
            </a:extLst>
          </p:cNvPr>
          <p:cNvSpPr>
            <a:spLocks noGrp="1"/>
          </p:cNvSpPr>
          <p:nvPr>
            <p:ph type="title"/>
          </p:nvPr>
        </p:nvSpPr>
        <p:spPr/>
        <p:txBody>
          <a:bodyPr/>
          <a:lstStyle/>
          <a:p>
            <a:r>
              <a:rPr lang="fr-FR" dirty="0"/>
              <a:t>Encapsulation: getters et setters</a:t>
            </a:r>
          </a:p>
        </p:txBody>
      </p:sp>
      <p:sp>
        <p:nvSpPr>
          <p:cNvPr id="3" name="Espace réservé du contenu 2">
            <a:extLst>
              <a:ext uri="{FF2B5EF4-FFF2-40B4-BE49-F238E27FC236}">
                <a16:creationId xmlns:a16="http://schemas.microsoft.com/office/drawing/2014/main" id="{9690CA80-403E-36F6-FC2C-5A1564626C5C}"/>
              </a:ext>
            </a:extLst>
          </p:cNvPr>
          <p:cNvSpPr>
            <a:spLocks noGrp="1"/>
          </p:cNvSpPr>
          <p:nvPr>
            <p:ph idx="1"/>
          </p:nvPr>
        </p:nvSpPr>
        <p:spPr/>
        <p:txBody>
          <a:bodyPr>
            <a:normAutofit/>
          </a:bodyPr>
          <a:lstStyle/>
          <a:p>
            <a:pPr marL="0" indent="0">
              <a:buNone/>
            </a:pPr>
            <a:r>
              <a:rPr lang="fr-FR" dirty="0"/>
              <a:t>Getter:</a:t>
            </a:r>
          </a:p>
          <a:p>
            <a:pPr marL="457200" lvl="1" indent="0">
              <a:buNone/>
            </a:pPr>
            <a:r>
              <a:rPr lang="fr-FR" dirty="0"/>
              <a:t>Un </a:t>
            </a:r>
            <a:r>
              <a:rPr lang="fr-FR" dirty="0">
                <a:solidFill>
                  <a:schemeClr val="accent4"/>
                </a:solidFill>
              </a:rPr>
              <a:t>getter</a:t>
            </a:r>
            <a:r>
              <a:rPr lang="fr-FR" dirty="0"/>
              <a:t> permet de </a:t>
            </a:r>
            <a:r>
              <a:rPr lang="fr-FR" dirty="0">
                <a:solidFill>
                  <a:schemeClr val="accent4"/>
                </a:solidFill>
              </a:rPr>
              <a:t>récupérer</a:t>
            </a:r>
            <a:r>
              <a:rPr lang="fr-FR" dirty="0"/>
              <a:t> la valeur d'un attribut d'une classe.</a:t>
            </a:r>
          </a:p>
          <a:p>
            <a:pPr marL="457200" lvl="1" indent="0">
              <a:buNone/>
            </a:pPr>
            <a:r>
              <a:rPr lang="fr-FR" dirty="0"/>
              <a:t>Il commence généralement par le mot-clé </a:t>
            </a:r>
            <a:r>
              <a:rPr lang="fr-FR" sz="2200" dirty="0" err="1">
                <a:solidFill>
                  <a:schemeClr val="accent4"/>
                </a:solidFill>
                <a:latin typeface="Consolas" charset="0"/>
                <a:cs typeface="Consolas" charset="0"/>
              </a:rPr>
              <a:t>get</a:t>
            </a:r>
            <a:r>
              <a:rPr lang="fr-FR" dirty="0"/>
              <a:t> suivi du nom de l’attribut avec la première lettre en majuscule.</a:t>
            </a:r>
          </a:p>
          <a:p>
            <a:pPr marL="457200" lvl="1" indent="0">
              <a:buNone/>
            </a:pPr>
            <a:endParaRPr lang="fr-FR" dirty="0"/>
          </a:p>
          <a:p>
            <a:pPr marL="0" indent="0">
              <a:buNone/>
            </a:pPr>
            <a:r>
              <a:rPr lang="fr-FR" dirty="0"/>
              <a:t>Setter:</a:t>
            </a:r>
          </a:p>
          <a:p>
            <a:pPr marL="457200" lvl="1" indent="0">
              <a:buNone/>
            </a:pPr>
            <a:r>
              <a:rPr lang="fr-FR" dirty="0"/>
              <a:t>Un </a:t>
            </a:r>
            <a:r>
              <a:rPr lang="fr-FR" dirty="0">
                <a:solidFill>
                  <a:schemeClr val="accent4"/>
                </a:solidFill>
              </a:rPr>
              <a:t>setter</a:t>
            </a:r>
            <a:r>
              <a:rPr lang="fr-FR" dirty="0"/>
              <a:t> est une méthode qui permet de </a:t>
            </a:r>
            <a:r>
              <a:rPr lang="fr-FR" dirty="0">
                <a:solidFill>
                  <a:schemeClr val="accent4"/>
                </a:solidFill>
              </a:rPr>
              <a:t>modifier</a:t>
            </a:r>
            <a:r>
              <a:rPr lang="fr-FR" dirty="0"/>
              <a:t> la valeur d’un champ.</a:t>
            </a:r>
          </a:p>
          <a:p>
            <a:pPr marL="457200" lvl="1" indent="0">
              <a:buNone/>
            </a:pPr>
            <a:r>
              <a:rPr lang="fr-FR" dirty="0"/>
              <a:t>Il commence généralement par le mot-clé </a:t>
            </a:r>
            <a:r>
              <a:rPr lang="fr-FR" sz="2400" dirty="0">
                <a:solidFill>
                  <a:schemeClr val="accent4"/>
                </a:solidFill>
                <a:latin typeface="Consolas" charset="0"/>
                <a:cs typeface="Consolas" charset="0"/>
              </a:rPr>
              <a:t>set</a:t>
            </a:r>
            <a:r>
              <a:rPr lang="fr-FR" dirty="0"/>
              <a:t> suivi du nom du champ avec la première lettre en majuscule, suivi d'un paramètre représentant la nouvelle valeur.</a:t>
            </a:r>
          </a:p>
        </p:txBody>
      </p:sp>
      <p:sp>
        <p:nvSpPr>
          <p:cNvPr id="4" name="Espace réservé du numéro de diapositive 3">
            <a:extLst>
              <a:ext uri="{FF2B5EF4-FFF2-40B4-BE49-F238E27FC236}">
                <a16:creationId xmlns:a16="http://schemas.microsoft.com/office/drawing/2014/main" id="{F3EF95B6-7119-1495-2FF4-107B94B22542}"/>
              </a:ext>
            </a:extLst>
          </p:cNvPr>
          <p:cNvSpPr>
            <a:spLocks noGrp="1"/>
          </p:cNvSpPr>
          <p:nvPr>
            <p:ph type="sldNum" sz="quarter" idx="4"/>
          </p:nvPr>
        </p:nvSpPr>
        <p:spPr/>
        <p:txBody>
          <a:bodyPr/>
          <a:lstStyle/>
          <a:p>
            <a:fld id="{33C783E2-4793-4F48-A271-51A73CC37D74}" type="slidenum">
              <a:rPr lang="fr-FR" smtClean="0"/>
              <a:t>52</a:t>
            </a:fld>
            <a:endParaRPr lang="fr-FR"/>
          </a:p>
        </p:txBody>
      </p:sp>
    </p:spTree>
    <p:extLst>
      <p:ext uri="{BB962C8B-B14F-4D97-AF65-F5344CB8AC3E}">
        <p14:creationId xmlns:p14="http://schemas.microsoft.com/office/powerpoint/2010/main" val="37374297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31B9F1-2C07-C94A-9528-5E58899CB375}"/>
              </a:ext>
            </a:extLst>
          </p:cNvPr>
          <p:cNvSpPr>
            <a:spLocks noGrp="1"/>
          </p:cNvSpPr>
          <p:nvPr>
            <p:ph type="title"/>
          </p:nvPr>
        </p:nvSpPr>
        <p:spPr/>
        <p:txBody>
          <a:bodyPr/>
          <a:lstStyle/>
          <a:p>
            <a:r>
              <a:rPr lang="fr-FR" dirty="0"/>
              <a:t>Exercice 2</a:t>
            </a:r>
          </a:p>
        </p:txBody>
      </p:sp>
      <p:sp>
        <p:nvSpPr>
          <p:cNvPr id="3" name="Espace réservé du contenu 2">
            <a:extLst>
              <a:ext uri="{FF2B5EF4-FFF2-40B4-BE49-F238E27FC236}">
                <a16:creationId xmlns:a16="http://schemas.microsoft.com/office/drawing/2014/main" id="{6D69007D-F661-1041-9584-8871E41E1A4B}"/>
              </a:ext>
            </a:extLst>
          </p:cNvPr>
          <p:cNvSpPr>
            <a:spLocks noGrp="1"/>
          </p:cNvSpPr>
          <p:nvPr>
            <p:ph idx="1"/>
          </p:nvPr>
        </p:nvSpPr>
        <p:spPr/>
        <p:txBody>
          <a:bodyPr>
            <a:noAutofit/>
          </a:bodyPr>
          <a:lstStyle/>
          <a:p>
            <a:r>
              <a:rPr lang="fr-FR" sz="2400" dirty="0"/>
              <a:t>Modifiez la classe </a:t>
            </a:r>
            <a:r>
              <a:rPr lang="fr-FR" sz="2400" dirty="0">
                <a:solidFill>
                  <a:schemeClr val="accent4"/>
                </a:solidFill>
                <a:latin typeface="Consolas" charset="0"/>
                <a:cs typeface="Consolas" charset="0"/>
              </a:rPr>
              <a:t>Personne</a:t>
            </a:r>
            <a:r>
              <a:rPr lang="fr-FR" sz="2400" dirty="0"/>
              <a:t> pour encapsuler les attributs et utilisez des accesseurs pour y accéder.</a:t>
            </a:r>
          </a:p>
          <a:p>
            <a:r>
              <a:rPr lang="fr-FR" sz="2400" dirty="0"/>
              <a:t>Modifiez également votre programme pour qu’il fonctionne toujours.</a:t>
            </a:r>
          </a:p>
          <a:p>
            <a:endParaRPr lang="fr-FR" sz="2400" dirty="0"/>
          </a:p>
        </p:txBody>
      </p:sp>
      <p:pic>
        <p:nvPicPr>
          <p:cNvPr id="6" name="Picture 2" descr="blog-nutrition-outlet">
            <a:extLst>
              <a:ext uri="{FF2B5EF4-FFF2-40B4-BE49-F238E27FC236}">
                <a16:creationId xmlns:a16="http://schemas.microsoft.com/office/drawing/2014/main" id="{A26EDAED-4DF2-24BD-A3FC-E7810642A1EC}"/>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7" name="Groupe 6">
            <a:extLst>
              <a:ext uri="{FF2B5EF4-FFF2-40B4-BE49-F238E27FC236}">
                <a16:creationId xmlns:a16="http://schemas.microsoft.com/office/drawing/2014/main" id="{0C2558A7-EE95-7E3E-EFFC-ED96B83B96D7}"/>
              </a:ext>
            </a:extLst>
          </p:cNvPr>
          <p:cNvGrpSpPr/>
          <p:nvPr/>
        </p:nvGrpSpPr>
        <p:grpSpPr>
          <a:xfrm>
            <a:off x="3609681" y="3165484"/>
            <a:ext cx="7645924" cy="3752686"/>
            <a:chOff x="3430571" y="3165484"/>
            <a:chExt cx="7645924" cy="3752686"/>
          </a:xfrm>
        </p:grpSpPr>
        <p:sp>
          <p:nvSpPr>
            <p:cNvPr id="4" name="Bulle ronde 3">
              <a:extLst>
                <a:ext uri="{FF2B5EF4-FFF2-40B4-BE49-F238E27FC236}">
                  <a16:creationId xmlns:a16="http://schemas.microsoft.com/office/drawing/2014/main" id="{C71BA73A-EDFB-97A3-E792-FB87FA1587D9}"/>
                </a:ext>
              </a:extLst>
            </p:cNvPr>
            <p:cNvSpPr/>
            <p:nvPr/>
          </p:nvSpPr>
          <p:spPr>
            <a:xfrm>
              <a:off x="5781905" y="3165484"/>
              <a:ext cx="5294590" cy="1529064"/>
            </a:xfrm>
            <a:prstGeom prst="wedgeEllipseCallout">
              <a:avLst>
                <a:gd name="adj1" fmla="val -51074"/>
                <a:gd name="adj2" fmla="val 53868"/>
              </a:avLst>
            </a:prstGeom>
            <a:solidFill>
              <a:schemeClr val="accent4"/>
            </a:solidFill>
            <a:ln>
              <a:solidFill>
                <a:schemeClr val="accent6"/>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u="sng" dirty="0">
                  <a:solidFill>
                    <a:schemeClr val="accent1"/>
                  </a:solidFill>
                </a:rPr>
                <a:t>Note</a:t>
              </a:r>
              <a:r>
                <a:rPr lang="fr-FR" sz="2000" dirty="0">
                  <a:solidFill>
                    <a:schemeClr val="accent1"/>
                  </a:solidFill>
                </a:rPr>
                <a:t>: votre IDE peut vous aider à générer automatiquement les getters et setters (entre autres)…</a:t>
              </a:r>
            </a:p>
          </p:txBody>
        </p:sp>
        <p:pic>
          <p:nvPicPr>
            <p:cNvPr id="1026" name="Picture 2" descr="Robot PNG pour téléchargement gratuit">
              <a:extLst>
                <a:ext uri="{FF2B5EF4-FFF2-40B4-BE49-F238E27FC236}">
                  <a16:creationId xmlns:a16="http://schemas.microsoft.com/office/drawing/2014/main" id="{DA9B9AB3-29B1-D612-E08A-4F623025C4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0571" y="3991801"/>
              <a:ext cx="2926369" cy="2926369"/>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Espace réservé du numéro de diapositive 7">
            <a:extLst>
              <a:ext uri="{FF2B5EF4-FFF2-40B4-BE49-F238E27FC236}">
                <a16:creationId xmlns:a16="http://schemas.microsoft.com/office/drawing/2014/main" id="{AAD2002F-190D-7601-1A27-D7683692FD48}"/>
              </a:ext>
            </a:extLst>
          </p:cNvPr>
          <p:cNvSpPr>
            <a:spLocks noGrp="1"/>
          </p:cNvSpPr>
          <p:nvPr>
            <p:ph type="sldNum" sz="quarter" idx="4"/>
          </p:nvPr>
        </p:nvSpPr>
        <p:spPr/>
        <p:txBody>
          <a:bodyPr/>
          <a:lstStyle/>
          <a:p>
            <a:fld id="{33C783E2-4793-4F48-A271-51A73CC37D74}" type="slidenum">
              <a:rPr lang="fr-FR" smtClean="0"/>
              <a:t>53</a:t>
            </a:fld>
            <a:endParaRPr lang="fr-FR"/>
          </a:p>
        </p:txBody>
      </p:sp>
    </p:spTree>
    <p:extLst>
      <p:ext uri="{BB962C8B-B14F-4D97-AF65-F5344CB8AC3E}">
        <p14:creationId xmlns:p14="http://schemas.microsoft.com/office/powerpoint/2010/main" val="4017107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futuristic computer keyboard, highly detailed, 4k, blue">
            <a:extLst>
              <a:ext uri="{FF2B5EF4-FFF2-40B4-BE49-F238E27FC236}">
                <a16:creationId xmlns:a16="http://schemas.microsoft.com/office/drawing/2014/main" id="{8CC92E9B-4D5D-A260-A3E0-7C63C11A8C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3698"/>
          <a:stretch/>
        </p:blipFill>
        <p:spPr bwMode="auto">
          <a:xfrm>
            <a:off x="0" y="-6348"/>
            <a:ext cx="12192000" cy="6864348"/>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007E8BDD-906E-63FC-2904-DF485629DA59}"/>
              </a:ext>
            </a:extLst>
          </p:cNvPr>
          <p:cNvSpPr txBox="1"/>
          <p:nvPr/>
        </p:nvSpPr>
        <p:spPr>
          <a:xfrm>
            <a:off x="838200" y="947821"/>
            <a:ext cx="10769600" cy="1107996"/>
          </a:xfrm>
          <a:prstGeom prst="rect">
            <a:avLst/>
          </a:prstGeom>
          <a:solidFill>
            <a:srgbClr val="224360">
              <a:alpha val="74510"/>
            </a:srgbClr>
          </a:solidFill>
          <a:effectLst>
            <a:outerShdw blurRad="50800" dist="38100" dir="2700000" algn="tl" rotWithShape="0">
              <a:prstClr val="black">
                <a:alpha val="40000"/>
              </a:prstClr>
            </a:outerShdw>
          </a:effectLst>
        </p:spPr>
        <p:txBody>
          <a:bodyPr wrap="square" rtlCol="0">
            <a:spAutoFit/>
          </a:bodyPr>
          <a:lstStyle/>
          <a:p>
            <a:pPr algn="ctr"/>
            <a:r>
              <a:rPr lang="fr-FR" sz="6600" b="1" dirty="0">
                <a:latin typeface="Calibri" panose="020F0502020204030204" pitchFamily="34" charset="0"/>
                <a:cs typeface="Calibri" panose="020F0502020204030204" pitchFamily="34" charset="0"/>
              </a:rPr>
              <a:t>Entrée de données au clavier</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3" name="Espace réservé du numéro de diapositive 2">
            <a:extLst>
              <a:ext uri="{FF2B5EF4-FFF2-40B4-BE49-F238E27FC236}">
                <a16:creationId xmlns:a16="http://schemas.microsoft.com/office/drawing/2014/main" id="{1224193B-61B5-0EA2-FA2B-6275DD4E10C6}"/>
              </a:ext>
            </a:extLst>
          </p:cNvPr>
          <p:cNvSpPr>
            <a:spLocks noGrp="1"/>
          </p:cNvSpPr>
          <p:nvPr>
            <p:ph type="sldNum" sz="quarter" idx="4"/>
          </p:nvPr>
        </p:nvSpPr>
        <p:spPr/>
        <p:txBody>
          <a:bodyPr/>
          <a:lstStyle/>
          <a:p>
            <a:fld id="{33C783E2-4793-4F48-A271-51A73CC37D74}" type="slidenum">
              <a:rPr lang="fr-FR" smtClean="0"/>
              <a:t>54</a:t>
            </a:fld>
            <a:endParaRPr lang="fr-FR"/>
          </a:p>
        </p:txBody>
      </p:sp>
    </p:spTree>
    <p:extLst>
      <p:ext uri="{BB962C8B-B14F-4D97-AF65-F5344CB8AC3E}">
        <p14:creationId xmlns:p14="http://schemas.microsoft.com/office/powerpoint/2010/main" val="92863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03C3C6E-DD84-5415-EDC7-C560A6150093}"/>
              </a:ext>
            </a:extLst>
          </p:cNvPr>
          <p:cNvSpPr>
            <a:spLocks noGrp="1"/>
          </p:cNvSpPr>
          <p:nvPr>
            <p:ph type="title"/>
          </p:nvPr>
        </p:nvSpPr>
        <p:spPr/>
        <p:txBody>
          <a:bodyPr>
            <a:normAutofit fontScale="90000"/>
          </a:bodyPr>
          <a:lstStyle/>
          <a:p>
            <a:r>
              <a:rPr lang="fr-FR" dirty="0"/>
              <a:t>Pour les entrées au clavier, on utilise la classe </a:t>
            </a:r>
            <a:r>
              <a:rPr lang="fr-FR" sz="4400" dirty="0">
                <a:solidFill>
                  <a:schemeClr val="accent4"/>
                </a:solidFill>
                <a:latin typeface="Consolas" panose="020B0609020204030204" pitchFamily="49" charset="0"/>
                <a:ea typeface="+mn-ea"/>
                <a:cs typeface="Consolas" panose="020B0609020204030204" pitchFamily="49" charset="0"/>
              </a:rPr>
              <a:t>Scanner</a:t>
            </a:r>
            <a:r>
              <a:rPr lang="fr-FR" dirty="0"/>
              <a:t>…</a:t>
            </a:r>
          </a:p>
        </p:txBody>
      </p:sp>
      <p:sp>
        <p:nvSpPr>
          <p:cNvPr id="5" name="Espace réservé du contenu 4">
            <a:extLst>
              <a:ext uri="{FF2B5EF4-FFF2-40B4-BE49-F238E27FC236}">
                <a16:creationId xmlns:a16="http://schemas.microsoft.com/office/drawing/2014/main" id="{26DD993E-C481-FA6F-D045-63FD09879968}"/>
              </a:ext>
            </a:extLst>
          </p:cNvPr>
          <p:cNvSpPr>
            <a:spLocks noGrp="1"/>
          </p:cNvSpPr>
          <p:nvPr>
            <p:ph idx="1"/>
          </p:nvPr>
        </p:nvSpPr>
        <p:spPr/>
        <p:txBody>
          <a:bodyPr/>
          <a:lstStyle/>
          <a:p>
            <a:pPr marL="0" indent="0">
              <a:buNone/>
            </a:pPr>
            <a:r>
              <a:rPr lang="fr-FR" dirty="0"/>
              <a:t>Cette classe nous permet de récupérer ce qui a été entré par l’utilisateur à la console. </a:t>
            </a:r>
            <a:r>
              <a:rPr lang="fr-FR" sz="2600" dirty="0">
                <a:solidFill>
                  <a:schemeClr val="accent4"/>
                </a:solidFill>
                <a:latin typeface="Consolas" panose="020B0609020204030204" pitchFamily="49" charset="0"/>
                <a:cs typeface="Consolas" panose="020B0609020204030204" pitchFamily="49" charset="0"/>
              </a:rPr>
              <a:t>Scanner</a:t>
            </a:r>
            <a:r>
              <a:rPr lang="fr-FR" dirty="0"/>
              <a:t> a plusieurs méthodes utiles: </a:t>
            </a:r>
            <a:r>
              <a:rPr lang="fr-FR" sz="2600" dirty="0" err="1">
                <a:solidFill>
                  <a:schemeClr val="accent4"/>
                </a:solidFill>
                <a:latin typeface="Consolas" panose="020B0609020204030204" pitchFamily="49" charset="0"/>
                <a:cs typeface="Consolas" panose="020B0609020204030204" pitchFamily="49" charset="0"/>
              </a:rPr>
              <a:t>nextLine</a:t>
            </a:r>
            <a:r>
              <a:rPr lang="fr-FR" sz="2600" dirty="0">
                <a:solidFill>
                  <a:schemeClr val="accent4"/>
                </a:solidFill>
                <a:latin typeface="Consolas" panose="020B0609020204030204" pitchFamily="49" charset="0"/>
                <a:cs typeface="Consolas" panose="020B0609020204030204" pitchFamily="49" charset="0"/>
              </a:rPr>
              <a:t>()</a:t>
            </a:r>
            <a:r>
              <a:rPr lang="fr-FR" dirty="0"/>
              <a:t>, </a:t>
            </a:r>
            <a:r>
              <a:rPr lang="fr-FR" sz="2600" dirty="0" err="1">
                <a:solidFill>
                  <a:schemeClr val="accent4"/>
                </a:solidFill>
                <a:latin typeface="Consolas" panose="020B0609020204030204" pitchFamily="49" charset="0"/>
                <a:cs typeface="Consolas" panose="020B0609020204030204" pitchFamily="49" charset="0"/>
              </a:rPr>
              <a:t>nextInt</a:t>
            </a:r>
            <a:r>
              <a:rPr lang="fr-FR" sz="2600" dirty="0">
                <a:solidFill>
                  <a:schemeClr val="accent4"/>
                </a:solidFill>
                <a:latin typeface="Consolas" panose="020B0609020204030204" pitchFamily="49" charset="0"/>
                <a:cs typeface="Consolas" panose="020B0609020204030204" pitchFamily="49" charset="0"/>
              </a:rPr>
              <a:t>()</a:t>
            </a:r>
            <a:r>
              <a:rPr lang="fr-FR" dirty="0"/>
              <a:t>,</a:t>
            </a:r>
            <a:r>
              <a:rPr lang="mr-IN" dirty="0"/>
              <a:t>…</a:t>
            </a:r>
            <a:r>
              <a:rPr lang="fr-FR" dirty="0"/>
              <a:t>.</a:t>
            </a:r>
            <a:endParaRPr lang="fr-FR" dirty="0">
              <a:solidFill>
                <a:srgbClr val="4584D3"/>
              </a:solidFill>
            </a:endParaRPr>
          </a:p>
          <a:p>
            <a:pPr marL="0" indent="0">
              <a:buNone/>
            </a:pPr>
            <a:endParaRPr lang="fr-FR" dirty="0"/>
          </a:p>
        </p:txBody>
      </p:sp>
      <p:pic>
        <p:nvPicPr>
          <p:cNvPr id="8" name="Image 7">
            <a:extLst>
              <a:ext uri="{FF2B5EF4-FFF2-40B4-BE49-F238E27FC236}">
                <a16:creationId xmlns:a16="http://schemas.microsoft.com/office/drawing/2014/main" id="{646BF92D-47EB-D432-387F-7DAEBDB1CCE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834632" y="3089556"/>
            <a:ext cx="8166672" cy="3403317"/>
          </a:xfrm>
          <a:prstGeom prst="rect">
            <a:avLst/>
          </a:prstGeom>
        </p:spPr>
      </p:pic>
      <p:sp>
        <p:nvSpPr>
          <p:cNvPr id="9" name="Rectangle : coins arrondis 8">
            <a:extLst>
              <a:ext uri="{FF2B5EF4-FFF2-40B4-BE49-F238E27FC236}">
                <a16:creationId xmlns:a16="http://schemas.microsoft.com/office/drawing/2014/main" id="{7BB432EC-84B2-8ECC-C217-95A2A4F6483B}"/>
              </a:ext>
            </a:extLst>
          </p:cNvPr>
          <p:cNvSpPr/>
          <p:nvPr/>
        </p:nvSpPr>
        <p:spPr>
          <a:xfrm>
            <a:off x="6085548" y="4577807"/>
            <a:ext cx="1160891" cy="222637"/>
          </a:xfrm>
          <a:prstGeom prst="round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 coins arrondis 9">
            <a:extLst>
              <a:ext uri="{FF2B5EF4-FFF2-40B4-BE49-F238E27FC236}">
                <a16:creationId xmlns:a16="http://schemas.microsoft.com/office/drawing/2014/main" id="{87BE0F1E-DC54-BE87-BB94-475F4F6C2DB5}"/>
              </a:ext>
            </a:extLst>
          </p:cNvPr>
          <p:cNvSpPr/>
          <p:nvPr/>
        </p:nvSpPr>
        <p:spPr>
          <a:xfrm>
            <a:off x="5735691" y="5205960"/>
            <a:ext cx="1160891" cy="222637"/>
          </a:xfrm>
          <a:prstGeom prst="round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u numéro de diapositive 1">
            <a:extLst>
              <a:ext uri="{FF2B5EF4-FFF2-40B4-BE49-F238E27FC236}">
                <a16:creationId xmlns:a16="http://schemas.microsoft.com/office/drawing/2014/main" id="{01987B96-DE0A-EDCA-6F92-EBB9CA33CB7C}"/>
              </a:ext>
            </a:extLst>
          </p:cNvPr>
          <p:cNvSpPr>
            <a:spLocks noGrp="1"/>
          </p:cNvSpPr>
          <p:nvPr>
            <p:ph type="sldNum" sz="quarter" idx="4"/>
          </p:nvPr>
        </p:nvSpPr>
        <p:spPr/>
        <p:txBody>
          <a:bodyPr/>
          <a:lstStyle/>
          <a:p>
            <a:fld id="{33C783E2-4793-4F48-A271-51A73CC37D74}" type="slidenum">
              <a:rPr lang="fr-FR" smtClean="0"/>
              <a:t>55</a:t>
            </a:fld>
            <a:endParaRPr lang="fr-FR"/>
          </a:p>
        </p:txBody>
      </p:sp>
    </p:spTree>
    <p:extLst>
      <p:ext uri="{BB962C8B-B14F-4D97-AF65-F5344CB8AC3E}">
        <p14:creationId xmlns:p14="http://schemas.microsoft.com/office/powerpoint/2010/main" val="681927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1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F2B1B1-88B1-5CF8-2157-D8C6FA7C1CD5}"/>
              </a:ext>
            </a:extLst>
          </p:cNvPr>
          <p:cNvSpPr>
            <a:spLocks noGrp="1"/>
          </p:cNvSpPr>
          <p:nvPr>
            <p:ph type="title"/>
          </p:nvPr>
        </p:nvSpPr>
        <p:spPr/>
        <p:txBody>
          <a:bodyPr>
            <a:normAutofit/>
          </a:bodyPr>
          <a:lstStyle/>
          <a:p>
            <a:r>
              <a:rPr lang="fr-FR" dirty="0"/>
              <a:t>La </a:t>
            </a:r>
            <a:r>
              <a:rPr lang="fr-FR" dirty="0" err="1"/>
              <a:t>Javadoc</a:t>
            </a:r>
            <a:endParaRPr lang="fr-FR" dirty="0"/>
          </a:p>
        </p:txBody>
      </p:sp>
      <p:sp>
        <p:nvSpPr>
          <p:cNvPr id="3" name="Espace réservé du contenu 2">
            <a:extLst>
              <a:ext uri="{FF2B5EF4-FFF2-40B4-BE49-F238E27FC236}">
                <a16:creationId xmlns:a16="http://schemas.microsoft.com/office/drawing/2014/main" id="{A7BDC481-0D2D-88F3-5291-99F51E1BC529}"/>
              </a:ext>
            </a:extLst>
          </p:cNvPr>
          <p:cNvSpPr>
            <a:spLocks noGrp="1"/>
          </p:cNvSpPr>
          <p:nvPr>
            <p:ph idx="1"/>
          </p:nvPr>
        </p:nvSpPr>
        <p:spPr>
          <a:xfrm>
            <a:off x="668216" y="1485900"/>
            <a:ext cx="10902461" cy="4691063"/>
          </a:xfrm>
        </p:spPr>
        <p:txBody>
          <a:bodyPr>
            <a:normAutofit fontScale="92500" lnSpcReduction="10000"/>
          </a:bodyPr>
          <a:lstStyle/>
          <a:p>
            <a:pPr marL="0" indent="0">
              <a:buNone/>
            </a:pPr>
            <a:r>
              <a:rPr lang="fr-FR" sz="2400" dirty="0"/>
              <a:t>Pour connaître les caractéristiques d’une classe Java, il suffit de consulter la </a:t>
            </a:r>
            <a:r>
              <a:rPr lang="fr-FR" sz="2400" dirty="0" err="1"/>
              <a:t>Javadoc</a:t>
            </a:r>
            <a:r>
              <a:rPr lang="fr-FR" sz="2400" dirty="0"/>
              <a:t>: </a:t>
            </a:r>
            <a:r>
              <a:rPr lang="fr-FR" sz="2300" u="sng" dirty="0">
                <a:solidFill>
                  <a:schemeClr val="accent4"/>
                </a:solidFill>
              </a:rPr>
              <a:t>https://</a:t>
            </a:r>
            <a:r>
              <a:rPr lang="fr-FR" sz="2300" u="sng" dirty="0" err="1">
                <a:solidFill>
                  <a:schemeClr val="accent4"/>
                </a:solidFill>
              </a:rPr>
              <a:t>docs.oracle.com</a:t>
            </a:r>
            <a:r>
              <a:rPr lang="fr-FR" sz="2300" u="sng" dirty="0">
                <a:solidFill>
                  <a:schemeClr val="accent4"/>
                </a:solidFill>
              </a:rPr>
              <a:t>/en/java/</a:t>
            </a:r>
            <a:r>
              <a:rPr lang="fr-FR" sz="2300" u="sng" dirty="0" err="1">
                <a:solidFill>
                  <a:schemeClr val="accent4"/>
                </a:solidFill>
              </a:rPr>
              <a:t>javase</a:t>
            </a:r>
            <a:r>
              <a:rPr lang="fr-FR" sz="2300" u="sng" dirty="0">
                <a:solidFill>
                  <a:schemeClr val="accent4"/>
                </a:solidFill>
              </a:rPr>
              <a:t>/15/docs/api/</a:t>
            </a:r>
            <a:r>
              <a:rPr lang="fr-FR" sz="2300" u="sng" dirty="0" err="1">
                <a:solidFill>
                  <a:schemeClr val="accent4"/>
                </a:solidFill>
              </a:rPr>
              <a:t>java.base</a:t>
            </a:r>
            <a:r>
              <a:rPr lang="fr-FR" sz="2300" u="sng" dirty="0">
                <a:solidFill>
                  <a:schemeClr val="accent4"/>
                </a:solidFill>
              </a:rPr>
              <a:t>/java/</a:t>
            </a:r>
            <a:r>
              <a:rPr lang="fr-FR" sz="2300" u="sng" dirty="0" err="1">
                <a:solidFill>
                  <a:schemeClr val="accent4"/>
                </a:solidFill>
              </a:rPr>
              <a:t>util</a:t>
            </a:r>
            <a:r>
              <a:rPr lang="fr-FR" sz="2300" u="sng" dirty="0">
                <a:solidFill>
                  <a:schemeClr val="accent4"/>
                </a:solidFill>
              </a:rPr>
              <a:t>/</a:t>
            </a:r>
            <a:r>
              <a:rPr lang="fr-FR" sz="2300" u="sng" dirty="0" err="1">
                <a:solidFill>
                  <a:schemeClr val="accent4"/>
                </a:solidFill>
              </a:rPr>
              <a:t>Scanner.html</a:t>
            </a:r>
            <a:endParaRPr lang="fr-FR" sz="2300" u="sng" dirty="0">
              <a:solidFill>
                <a:schemeClr val="accent4"/>
              </a:solidFill>
            </a:endParaRPr>
          </a:p>
          <a:p>
            <a:pPr marL="0" indent="0">
              <a:buNone/>
            </a:pPr>
            <a:endParaRPr lang="fr-FR" sz="2400" dirty="0"/>
          </a:p>
          <a:p>
            <a:pPr marL="0" indent="0">
              <a:buNone/>
            </a:pPr>
            <a:r>
              <a:rPr lang="fr-FR" sz="2400" dirty="0"/>
              <a:t>Une page </a:t>
            </a:r>
            <a:r>
              <a:rPr lang="fr-FR" sz="2400" dirty="0" err="1"/>
              <a:t>Javadoc</a:t>
            </a:r>
            <a:r>
              <a:rPr lang="fr-FR" sz="2400" dirty="0"/>
              <a:t>, au format HTML, reprend toujours</a:t>
            </a:r>
          </a:p>
          <a:p>
            <a:r>
              <a:rPr lang="fr-FR" sz="2400" dirty="0"/>
              <a:t>Une explication </a:t>
            </a:r>
            <a:r>
              <a:rPr lang="fr-FR" sz="2400" dirty="0">
                <a:solidFill>
                  <a:schemeClr val="accent4"/>
                </a:solidFill>
              </a:rPr>
              <a:t>générale</a:t>
            </a:r>
            <a:r>
              <a:rPr lang="fr-FR" sz="2400" dirty="0"/>
              <a:t> de la classe, avec parfois des détails sur son utilisation</a:t>
            </a:r>
          </a:p>
          <a:p>
            <a:r>
              <a:rPr lang="fr-FR" sz="2400" dirty="0"/>
              <a:t>Un </a:t>
            </a:r>
            <a:r>
              <a:rPr lang="fr-FR" sz="2400" dirty="0">
                <a:solidFill>
                  <a:schemeClr val="accent4"/>
                </a:solidFill>
              </a:rPr>
              <a:t>inventaire</a:t>
            </a:r>
            <a:r>
              <a:rPr lang="fr-FR" sz="2400" dirty="0"/>
              <a:t> des constructeurs de la classe, et un inventaire des méthodes de la classe.</a:t>
            </a:r>
          </a:p>
          <a:p>
            <a:r>
              <a:rPr lang="fr-FR" sz="2400" dirty="0"/>
              <a:t>Une </a:t>
            </a:r>
            <a:r>
              <a:rPr lang="fr-FR" sz="2400" dirty="0">
                <a:solidFill>
                  <a:schemeClr val="accent4"/>
                </a:solidFill>
              </a:rPr>
              <a:t>description</a:t>
            </a:r>
            <a:r>
              <a:rPr lang="fr-FR" sz="2400" dirty="0"/>
              <a:t> de chaque constructeur et de chaque méthode, décrivant chaque fois </a:t>
            </a:r>
          </a:p>
          <a:p>
            <a:pPr lvl="1"/>
            <a:r>
              <a:rPr lang="fr-FR" sz="2000" dirty="0"/>
              <a:t>les paramètres, </a:t>
            </a:r>
          </a:p>
          <a:p>
            <a:pPr lvl="1"/>
            <a:r>
              <a:rPr lang="fr-FR" sz="2000" dirty="0"/>
              <a:t>les valeurs retournées</a:t>
            </a:r>
          </a:p>
          <a:p>
            <a:pPr lvl="1"/>
            <a:r>
              <a:rPr lang="fr-FR" sz="2000" dirty="0"/>
              <a:t>les éventuelles Exceptions.</a:t>
            </a:r>
          </a:p>
          <a:p>
            <a:pPr marL="0" indent="0">
              <a:buNone/>
            </a:pPr>
            <a:endParaRPr lang="fr-FR" dirty="0"/>
          </a:p>
          <a:p>
            <a:pPr marL="0" indent="0">
              <a:buNone/>
            </a:pPr>
            <a:r>
              <a:rPr lang="fr-FR" sz="2400" dirty="0"/>
              <a:t>Pour notre classe </a:t>
            </a:r>
            <a:r>
              <a:rPr lang="fr-FR" sz="2400" dirty="0">
                <a:solidFill>
                  <a:schemeClr val="accent4"/>
                </a:solidFill>
                <a:latin typeface="Consolas" panose="020B0609020204030204" pitchFamily="49" charset="0"/>
                <a:cs typeface="Consolas" panose="020B0609020204030204" pitchFamily="49" charset="0"/>
              </a:rPr>
              <a:t>Scanner</a:t>
            </a:r>
            <a:r>
              <a:rPr lang="fr-FR" sz="2400" dirty="0"/>
              <a:t>, de quelles méthodes pourrions-nous avoir besoin (quelles valeurs lire à la console)?</a:t>
            </a:r>
          </a:p>
        </p:txBody>
      </p:sp>
      <p:sp>
        <p:nvSpPr>
          <p:cNvPr id="8" name="Slide Number Placeholder 5">
            <a:extLst>
              <a:ext uri="{FF2B5EF4-FFF2-40B4-BE49-F238E27FC236}">
                <a16:creationId xmlns:a16="http://schemas.microsoft.com/office/drawing/2014/main" id="{0F51C1F6-E97D-3DCB-01E5-AE49F0AAB8F4}"/>
              </a:ext>
            </a:extLst>
          </p:cNvPr>
          <p:cNvSpPr txBox="1">
            <a:spLocks/>
          </p:cNvSpPr>
          <p:nvPr/>
        </p:nvSpPr>
        <p:spPr>
          <a:xfrm rot="16200000">
            <a:off x="10346324" y="7819804"/>
            <a:ext cx="1315721"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9CBC1A-C8E6-436B-AD6F-7C57258D788E}" type="slidenum">
              <a:rPr lang="nl-NL"/>
              <a:pPr/>
              <a:t>56</a:t>
            </a:fld>
            <a:endParaRPr lang="nl-NL" dirty="0"/>
          </a:p>
        </p:txBody>
      </p:sp>
      <p:sp>
        <p:nvSpPr>
          <p:cNvPr id="4" name="Espace réservé du numéro de diapositive 3">
            <a:extLst>
              <a:ext uri="{FF2B5EF4-FFF2-40B4-BE49-F238E27FC236}">
                <a16:creationId xmlns:a16="http://schemas.microsoft.com/office/drawing/2014/main" id="{27BA1C7E-94FC-44C3-9036-78BE3ACD19E0}"/>
              </a:ext>
            </a:extLst>
          </p:cNvPr>
          <p:cNvSpPr>
            <a:spLocks noGrp="1"/>
          </p:cNvSpPr>
          <p:nvPr>
            <p:ph type="sldNum" sz="quarter" idx="4"/>
          </p:nvPr>
        </p:nvSpPr>
        <p:spPr/>
        <p:txBody>
          <a:bodyPr/>
          <a:lstStyle/>
          <a:p>
            <a:fld id="{33C783E2-4793-4F48-A271-51A73CC37D74}" type="slidenum">
              <a:rPr lang="fr-FR" smtClean="0"/>
              <a:t>56</a:t>
            </a:fld>
            <a:endParaRPr lang="fr-FR"/>
          </a:p>
        </p:txBody>
      </p:sp>
    </p:spTree>
    <p:extLst>
      <p:ext uri="{BB962C8B-B14F-4D97-AF65-F5344CB8AC3E}">
        <p14:creationId xmlns:p14="http://schemas.microsoft.com/office/powerpoint/2010/main" val="40682949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F2B1B1-88B1-5CF8-2157-D8C6FA7C1CD5}"/>
              </a:ext>
            </a:extLst>
          </p:cNvPr>
          <p:cNvSpPr>
            <a:spLocks noGrp="1"/>
          </p:cNvSpPr>
          <p:nvPr>
            <p:ph type="title"/>
          </p:nvPr>
        </p:nvSpPr>
        <p:spPr>
          <a:xfrm>
            <a:off x="838200" y="365127"/>
            <a:ext cx="10802510" cy="1325563"/>
          </a:xfrm>
        </p:spPr>
        <p:txBody>
          <a:bodyPr>
            <a:normAutofit fontScale="90000"/>
          </a:bodyPr>
          <a:lstStyle/>
          <a:p>
            <a:r>
              <a:rPr lang="fr-FR" dirty="0"/>
              <a:t>Les méthodes de Scanner qui nous intéressent</a:t>
            </a:r>
          </a:p>
        </p:txBody>
      </p:sp>
      <p:sp>
        <p:nvSpPr>
          <p:cNvPr id="8" name="Slide Number Placeholder 5">
            <a:extLst>
              <a:ext uri="{FF2B5EF4-FFF2-40B4-BE49-F238E27FC236}">
                <a16:creationId xmlns:a16="http://schemas.microsoft.com/office/drawing/2014/main" id="{0F51C1F6-E97D-3DCB-01E5-AE49F0AAB8F4}"/>
              </a:ext>
            </a:extLst>
          </p:cNvPr>
          <p:cNvSpPr txBox="1">
            <a:spLocks/>
          </p:cNvSpPr>
          <p:nvPr/>
        </p:nvSpPr>
        <p:spPr>
          <a:xfrm rot="16200000">
            <a:off x="10346324" y="7819804"/>
            <a:ext cx="1315721"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9CBC1A-C8E6-436B-AD6F-7C57258D788E}" type="slidenum">
              <a:rPr lang="nl-NL"/>
              <a:pPr/>
              <a:t>57</a:t>
            </a:fld>
            <a:endParaRPr lang="nl-NL" dirty="0"/>
          </a:p>
        </p:txBody>
      </p:sp>
      <p:pic>
        <p:nvPicPr>
          <p:cNvPr id="11" name="Espace réservé du contenu 10">
            <a:extLst>
              <a:ext uri="{FF2B5EF4-FFF2-40B4-BE49-F238E27FC236}">
                <a16:creationId xmlns:a16="http://schemas.microsoft.com/office/drawing/2014/main" id="{62D4A737-E171-BAD7-CD9C-03672EBBE13C}"/>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995702" y="1288473"/>
            <a:ext cx="10200596" cy="5292482"/>
          </a:xfrm>
          <a:prstGeom prst="rect">
            <a:avLst/>
          </a:prstGeom>
        </p:spPr>
      </p:pic>
      <p:sp>
        <p:nvSpPr>
          <p:cNvPr id="3" name="Rectangle : coins arrondis 2">
            <a:extLst>
              <a:ext uri="{FF2B5EF4-FFF2-40B4-BE49-F238E27FC236}">
                <a16:creationId xmlns:a16="http://schemas.microsoft.com/office/drawing/2014/main" id="{6B38160A-B379-194D-3806-D22159818E44}"/>
              </a:ext>
            </a:extLst>
          </p:cNvPr>
          <p:cNvSpPr/>
          <p:nvPr/>
        </p:nvSpPr>
        <p:spPr>
          <a:xfrm>
            <a:off x="995701" y="1273605"/>
            <a:ext cx="10087267" cy="243765"/>
          </a:xfrm>
          <a:prstGeom prst="roundRect">
            <a:avLst/>
          </a:prstGeom>
          <a:solidFill>
            <a:srgbClr val="FFDF8B">
              <a:alpha val="25882"/>
            </a:srgbClr>
          </a:solidFill>
          <a:ln w="19050">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 coins arrondis 3">
            <a:extLst>
              <a:ext uri="{FF2B5EF4-FFF2-40B4-BE49-F238E27FC236}">
                <a16:creationId xmlns:a16="http://schemas.microsoft.com/office/drawing/2014/main" id="{B2A042B2-F128-463E-752D-69F250D93A00}"/>
              </a:ext>
            </a:extLst>
          </p:cNvPr>
          <p:cNvSpPr/>
          <p:nvPr/>
        </p:nvSpPr>
        <p:spPr>
          <a:xfrm>
            <a:off x="995701" y="3307116"/>
            <a:ext cx="10087267" cy="2386807"/>
          </a:xfrm>
          <a:prstGeom prst="roundRect">
            <a:avLst>
              <a:gd name="adj" fmla="val 2810"/>
            </a:avLst>
          </a:prstGeom>
          <a:solidFill>
            <a:srgbClr val="FFDF8B">
              <a:alpha val="25882"/>
            </a:srgb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Espace réservé du numéro de diapositive 4">
            <a:extLst>
              <a:ext uri="{FF2B5EF4-FFF2-40B4-BE49-F238E27FC236}">
                <a16:creationId xmlns:a16="http://schemas.microsoft.com/office/drawing/2014/main" id="{8FFB57B0-2E94-F924-A3D3-E2D09B347FAD}"/>
              </a:ext>
            </a:extLst>
          </p:cNvPr>
          <p:cNvSpPr>
            <a:spLocks noGrp="1"/>
          </p:cNvSpPr>
          <p:nvPr>
            <p:ph type="sldNum" sz="quarter" idx="4"/>
          </p:nvPr>
        </p:nvSpPr>
        <p:spPr/>
        <p:txBody>
          <a:bodyPr/>
          <a:lstStyle/>
          <a:p>
            <a:fld id="{33C783E2-4793-4F48-A271-51A73CC37D74}" type="slidenum">
              <a:rPr lang="fr-FR" smtClean="0"/>
              <a:t>57</a:t>
            </a:fld>
            <a:endParaRPr lang="fr-FR"/>
          </a:p>
        </p:txBody>
      </p:sp>
    </p:spTree>
    <p:extLst>
      <p:ext uri="{BB962C8B-B14F-4D97-AF65-F5344CB8AC3E}">
        <p14:creationId xmlns:p14="http://schemas.microsoft.com/office/powerpoint/2010/main" val="48599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fltVal val="0"/>
                                          </p:val>
                                        </p:tav>
                                        <p:tav tm="100000">
                                          <p:val>
                                            <p:strVal val="#ppt_h"/>
                                          </p:val>
                                        </p:tav>
                                      </p:tavLst>
                                    </p:anim>
                                    <p:animEffect transition="in" filter="fade">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F2B1B1-88B1-5CF8-2157-D8C6FA7C1CD5}"/>
              </a:ext>
            </a:extLst>
          </p:cNvPr>
          <p:cNvSpPr>
            <a:spLocks noGrp="1"/>
          </p:cNvSpPr>
          <p:nvPr>
            <p:ph type="title"/>
          </p:nvPr>
        </p:nvSpPr>
        <p:spPr/>
        <p:txBody>
          <a:bodyPr>
            <a:normAutofit/>
          </a:bodyPr>
          <a:lstStyle/>
          <a:p>
            <a:r>
              <a:rPr lang="fr-FR" dirty="0"/>
              <a:t>Les principales méthodes de Scanner</a:t>
            </a:r>
          </a:p>
        </p:txBody>
      </p:sp>
      <p:sp>
        <p:nvSpPr>
          <p:cNvPr id="3" name="Espace réservé du contenu 2">
            <a:extLst>
              <a:ext uri="{FF2B5EF4-FFF2-40B4-BE49-F238E27FC236}">
                <a16:creationId xmlns:a16="http://schemas.microsoft.com/office/drawing/2014/main" id="{A7BDC481-0D2D-88F3-5291-99F51E1BC529}"/>
              </a:ext>
            </a:extLst>
          </p:cNvPr>
          <p:cNvSpPr>
            <a:spLocks noGrp="1"/>
          </p:cNvSpPr>
          <p:nvPr>
            <p:ph idx="1"/>
          </p:nvPr>
        </p:nvSpPr>
        <p:spPr>
          <a:xfrm>
            <a:off x="668216" y="1825625"/>
            <a:ext cx="10902461" cy="4351338"/>
          </a:xfrm>
        </p:spPr>
        <p:txBody>
          <a:bodyPr>
            <a:normAutofit/>
          </a:bodyPr>
          <a:lstStyle/>
          <a:p>
            <a:pPr marL="0" indent="0">
              <a:buNone/>
            </a:pPr>
            <a:r>
              <a:rPr lang="fr-FR" sz="2400" u="sng" dirty="0"/>
              <a:t>Note</a:t>
            </a:r>
            <a:r>
              <a:rPr lang="fr-FR" sz="2400" dirty="0"/>
              <a:t>: les méthodes </a:t>
            </a:r>
            <a:r>
              <a:rPr lang="fr-FR" sz="2000" dirty="0" err="1">
                <a:solidFill>
                  <a:schemeClr val="accent4"/>
                </a:solidFill>
                <a:latin typeface="Consolas" panose="020B0609020204030204" pitchFamily="49" charset="0"/>
                <a:cs typeface="Consolas" panose="020B0609020204030204" pitchFamily="49" charset="0"/>
              </a:rPr>
              <a:t>nextInt</a:t>
            </a:r>
            <a:r>
              <a:rPr lang="fr-FR" sz="2400" dirty="0"/>
              <a:t>, </a:t>
            </a:r>
            <a:r>
              <a:rPr lang="fr-FR" sz="2000" dirty="0" err="1">
                <a:solidFill>
                  <a:schemeClr val="accent4"/>
                </a:solidFill>
                <a:latin typeface="Consolas" panose="020B0609020204030204" pitchFamily="49" charset="0"/>
                <a:cs typeface="Consolas" panose="020B0609020204030204" pitchFamily="49" charset="0"/>
              </a:rPr>
              <a:t>nextByte</a:t>
            </a:r>
            <a:r>
              <a:rPr lang="fr-FR" sz="2400" dirty="0"/>
              <a:t>,… (pour les valeurs entières) acceptent  aussi un </a:t>
            </a:r>
            <a:r>
              <a:rPr lang="fr-FR" sz="2000" dirty="0" err="1">
                <a:solidFill>
                  <a:schemeClr val="accent4"/>
                </a:solidFill>
                <a:latin typeface="Consolas" panose="020B0609020204030204" pitchFamily="49" charset="0"/>
                <a:cs typeface="Consolas" panose="020B0609020204030204" pitchFamily="49" charset="0"/>
              </a:rPr>
              <a:t>int</a:t>
            </a:r>
            <a:r>
              <a:rPr lang="fr-FR" sz="2400" dirty="0"/>
              <a:t> pour indiquer la base dans laquelle le nombre doit être interprété.</a:t>
            </a:r>
          </a:p>
          <a:p>
            <a:pPr marL="0" indent="0">
              <a:buNone/>
            </a:pPr>
            <a:endParaRPr lang="fr-FR" sz="2400" dirty="0"/>
          </a:p>
        </p:txBody>
      </p:sp>
      <p:sp>
        <p:nvSpPr>
          <p:cNvPr id="8" name="Slide Number Placeholder 5">
            <a:extLst>
              <a:ext uri="{FF2B5EF4-FFF2-40B4-BE49-F238E27FC236}">
                <a16:creationId xmlns:a16="http://schemas.microsoft.com/office/drawing/2014/main" id="{0F51C1F6-E97D-3DCB-01E5-AE49F0AAB8F4}"/>
              </a:ext>
            </a:extLst>
          </p:cNvPr>
          <p:cNvSpPr txBox="1">
            <a:spLocks/>
          </p:cNvSpPr>
          <p:nvPr/>
        </p:nvSpPr>
        <p:spPr>
          <a:xfrm rot="16200000">
            <a:off x="10346324" y="7819804"/>
            <a:ext cx="1315721"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9CBC1A-C8E6-436B-AD6F-7C57258D788E}" type="slidenum">
              <a:rPr lang="nl-NL"/>
              <a:pPr/>
              <a:t>58</a:t>
            </a:fld>
            <a:endParaRPr lang="nl-NL" dirty="0"/>
          </a:p>
        </p:txBody>
      </p:sp>
      <p:pic>
        <p:nvPicPr>
          <p:cNvPr id="9" name="Image 8">
            <a:extLst>
              <a:ext uri="{FF2B5EF4-FFF2-40B4-BE49-F238E27FC236}">
                <a16:creationId xmlns:a16="http://schemas.microsoft.com/office/drawing/2014/main" id="{CF6E329F-D2E1-F8F6-AD78-E51ADBADCAF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31784" y="2988247"/>
            <a:ext cx="7772400" cy="1603828"/>
          </a:xfrm>
          <a:prstGeom prst="rect">
            <a:avLst/>
          </a:prstGeom>
        </p:spPr>
      </p:pic>
      <p:sp>
        <p:nvSpPr>
          <p:cNvPr id="4" name="Espace réservé du numéro de diapositive 3">
            <a:extLst>
              <a:ext uri="{FF2B5EF4-FFF2-40B4-BE49-F238E27FC236}">
                <a16:creationId xmlns:a16="http://schemas.microsoft.com/office/drawing/2014/main" id="{7C2BD310-36A1-774A-CC7A-C39CB7FDEBF3}"/>
              </a:ext>
            </a:extLst>
          </p:cNvPr>
          <p:cNvSpPr>
            <a:spLocks noGrp="1"/>
          </p:cNvSpPr>
          <p:nvPr>
            <p:ph type="sldNum" sz="quarter" idx="4"/>
          </p:nvPr>
        </p:nvSpPr>
        <p:spPr/>
        <p:txBody>
          <a:bodyPr/>
          <a:lstStyle/>
          <a:p>
            <a:fld id="{33C783E2-4793-4F48-A271-51A73CC37D74}" type="slidenum">
              <a:rPr lang="fr-FR" smtClean="0"/>
              <a:t>58</a:t>
            </a:fld>
            <a:endParaRPr lang="fr-FR"/>
          </a:p>
        </p:txBody>
      </p:sp>
    </p:spTree>
    <p:extLst>
      <p:ext uri="{BB962C8B-B14F-4D97-AF65-F5344CB8AC3E}">
        <p14:creationId xmlns:p14="http://schemas.microsoft.com/office/powerpoint/2010/main" val="2559088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31B9F1-2C07-C94A-9528-5E58899CB375}"/>
              </a:ext>
            </a:extLst>
          </p:cNvPr>
          <p:cNvSpPr>
            <a:spLocks noGrp="1"/>
          </p:cNvSpPr>
          <p:nvPr>
            <p:ph type="title"/>
          </p:nvPr>
        </p:nvSpPr>
        <p:spPr/>
        <p:txBody>
          <a:bodyPr/>
          <a:lstStyle/>
          <a:p>
            <a:r>
              <a:rPr lang="fr-FR" dirty="0"/>
              <a:t>Exercice 3</a:t>
            </a:r>
          </a:p>
        </p:txBody>
      </p:sp>
      <p:sp>
        <p:nvSpPr>
          <p:cNvPr id="3" name="Espace réservé du contenu 2">
            <a:extLst>
              <a:ext uri="{FF2B5EF4-FFF2-40B4-BE49-F238E27FC236}">
                <a16:creationId xmlns:a16="http://schemas.microsoft.com/office/drawing/2014/main" id="{6D69007D-F661-1041-9584-8871E41E1A4B}"/>
              </a:ext>
            </a:extLst>
          </p:cNvPr>
          <p:cNvSpPr>
            <a:spLocks noGrp="1"/>
          </p:cNvSpPr>
          <p:nvPr>
            <p:ph idx="1"/>
          </p:nvPr>
        </p:nvSpPr>
        <p:spPr/>
        <p:txBody>
          <a:bodyPr>
            <a:noAutofit/>
          </a:bodyPr>
          <a:lstStyle/>
          <a:p>
            <a:r>
              <a:rPr lang="fr-FR" sz="2400" dirty="0"/>
              <a:t>Ecrivez une application </a:t>
            </a:r>
            <a:r>
              <a:rPr lang="fr-FR" sz="2200" dirty="0">
                <a:solidFill>
                  <a:schemeClr val="accent4"/>
                </a:solidFill>
                <a:latin typeface="Consolas" charset="0"/>
                <a:cs typeface="Consolas" charset="0"/>
              </a:rPr>
              <a:t>Hello</a:t>
            </a:r>
            <a:r>
              <a:rPr lang="fr-FR" sz="2400" dirty="0"/>
              <a:t>.</a:t>
            </a:r>
          </a:p>
          <a:p>
            <a:r>
              <a:rPr lang="fr-FR" sz="2400" dirty="0"/>
              <a:t>Dans la méthode </a:t>
            </a:r>
            <a:r>
              <a:rPr lang="fr-FR" sz="2200" dirty="0">
                <a:solidFill>
                  <a:schemeClr val="accent4"/>
                </a:solidFill>
                <a:latin typeface="Consolas" charset="0"/>
                <a:cs typeface="Consolas" charset="0"/>
              </a:rPr>
              <a:t>main</a:t>
            </a:r>
            <a:r>
              <a:rPr lang="fr-FR" sz="2400" dirty="0"/>
              <a:t> de cette application, vous utilisez la classe </a:t>
            </a:r>
            <a:r>
              <a:rPr lang="fr-FR" sz="2200" dirty="0">
                <a:solidFill>
                  <a:schemeClr val="accent4"/>
                </a:solidFill>
                <a:latin typeface="Consolas" charset="0"/>
                <a:cs typeface="Consolas" charset="0"/>
              </a:rPr>
              <a:t>Scanner</a:t>
            </a:r>
            <a:r>
              <a:rPr lang="fr-FR" sz="2400" dirty="0"/>
              <a:t> pour demander le prénom, le nom de l’utilisateur et son âge. </a:t>
            </a:r>
          </a:p>
          <a:p>
            <a:r>
              <a:rPr lang="fr-FR" sz="2400" dirty="0"/>
              <a:t>Vous créez ensuite une Personne.</a:t>
            </a:r>
          </a:p>
          <a:p>
            <a:r>
              <a:rPr lang="fr-FR" sz="2400" dirty="0"/>
              <a:t>Enfin, vous affichez le prénom, le nom </a:t>
            </a:r>
            <a:br>
              <a:rPr lang="fr-FR" sz="2400" dirty="0"/>
            </a:br>
            <a:r>
              <a:rPr lang="fr-FR" sz="2400" dirty="0"/>
              <a:t>et l’âge de la personne.</a:t>
            </a:r>
          </a:p>
          <a:p>
            <a:endParaRPr lang="fr-FR" sz="2400" dirty="0"/>
          </a:p>
          <a:p>
            <a:endParaRPr lang="fr-FR" sz="2400" dirty="0"/>
          </a:p>
        </p:txBody>
      </p:sp>
      <p:sp>
        <p:nvSpPr>
          <p:cNvPr id="4" name="Rectangle 3">
            <a:extLst>
              <a:ext uri="{FF2B5EF4-FFF2-40B4-BE49-F238E27FC236}">
                <a16:creationId xmlns:a16="http://schemas.microsoft.com/office/drawing/2014/main" id="{D49F84E4-6BE6-49A8-8CF4-6084D1F01B78}"/>
              </a:ext>
            </a:extLst>
          </p:cNvPr>
          <p:cNvSpPr/>
          <p:nvPr/>
        </p:nvSpPr>
        <p:spPr>
          <a:xfrm>
            <a:off x="6611253" y="3034578"/>
            <a:ext cx="5387139" cy="3323987"/>
          </a:xfrm>
          <a:prstGeom prst="rect">
            <a:avLst/>
          </a:prstGeom>
          <a:solidFill>
            <a:schemeClr val="tx1"/>
          </a:solidFill>
        </p:spPr>
        <p:txBody>
          <a:bodyPr wrap="square">
            <a:spAutoFit/>
          </a:bodyPr>
          <a:lstStyle/>
          <a:p>
            <a:r>
              <a:rPr lang="fr-BE" sz="1400" dirty="0">
                <a:solidFill>
                  <a:srgbClr val="0000FF"/>
                </a:solidFill>
                <a:highlight>
                  <a:srgbClr val="FFFFFF"/>
                </a:highlight>
                <a:latin typeface="Consolas" panose="020B0609020204030204" pitchFamily="49" charset="0"/>
              </a:rPr>
              <a:t>public class</a:t>
            </a:r>
            <a:r>
              <a:rPr lang="fr-BE" sz="1400" dirty="0">
                <a:solidFill>
                  <a:srgbClr val="000000"/>
                </a:solidFill>
                <a:highlight>
                  <a:srgbClr val="FFFFFF"/>
                </a:highlight>
                <a:latin typeface="Consolas" panose="020B0609020204030204" pitchFamily="49" charset="0"/>
              </a:rPr>
              <a:t> </a:t>
            </a:r>
            <a:r>
              <a:rPr lang="fr-BE" sz="1400" dirty="0">
                <a:solidFill>
                  <a:srgbClr val="2B91AF"/>
                </a:solidFill>
                <a:highlight>
                  <a:srgbClr val="FFFFFF"/>
                </a:highlight>
                <a:latin typeface="Consolas" panose="020B0609020204030204" pitchFamily="49" charset="0"/>
              </a:rPr>
              <a:t>Person</a:t>
            </a:r>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lastName</a:t>
            </a:r>
            <a:r>
              <a:rPr lang="fr-BE" sz="1400" dirty="0">
                <a:solidFill>
                  <a:srgbClr val="000000"/>
                </a:solidFill>
                <a:highlight>
                  <a:srgbClr val="FFFFFF"/>
                </a:highlight>
                <a:latin typeface="Consolas" panose="020B0609020204030204" pitchFamily="49" charset="0"/>
              </a:rPr>
              <a:t>;</a:t>
            </a:r>
          </a:p>
          <a:p>
            <a:r>
              <a:rPr lang="fr-BE" sz="1400" dirty="0">
                <a:solidFill>
                  <a:srgbClr val="0000FF"/>
                </a:solidFill>
                <a:highlight>
                  <a:srgbClr val="FFFFFF"/>
                </a:highlight>
                <a:latin typeface="Consolas" panose="020B0609020204030204" pitchFamily="49" charset="0"/>
              </a:rPr>
              <a:t>    public</a:t>
            </a:r>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String</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firstName</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birthYear</a:t>
            </a:r>
            <a:r>
              <a:rPr lang="fr-BE" sz="1400" dirty="0">
                <a:solidFill>
                  <a:srgbClr val="000000"/>
                </a:solidFill>
                <a:highlight>
                  <a:srgbClr val="FFFFFF"/>
                </a:highlight>
                <a:latin typeface="Consolas" panose="020B0609020204030204" pitchFamily="49" charset="0"/>
              </a:rPr>
              <a:t>;</a:t>
            </a:r>
          </a:p>
          <a:p>
            <a:pPr lvl="1"/>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a:t>
            </a:r>
          </a:p>
          <a:p>
            <a:endParaRPr lang="fr-BE" sz="1400" dirty="0">
              <a:solidFill>
                <a:srgbClr val="0000FF"/>
              </a:solidFill>
              <a:highlight>
                <a:srgbClr val="FFFFFF"/>
              </a:highlight>
              <a:latin typeface="Consolas" panose="020B0609020204030204" pitchFamily="49" charset="0"/>
            </a:endParaRPr>
          </a:p>
          <a:p>
            <a:r>
              <a:rPr lang="fr-BE" sz="1400" dirty="0">
                <a:solidFill>
                  <a:srgbClr val="0000FF"/>
                </a:solidFill>
                <a:highlight>
                  <a:srgbClr val="FFFFFF"/>
                </a:highlight>
                <a:latin typeface="Consolas" panose="020B0609020204030204" pitchFamily="49" charset="0"/>
              </a:rPr>
              <a:t>	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computeAge</a:t>
            </a:r>
            <a:r>
              <a:rPr lang="fr-BE" sz="1400" dirty="0">
                <a:solidFill>
                  <a:srgbClr val="000000"/>
                </a:solidFill>
                <a:highlight>
                  <a:srgbClr val="FFFFFF"/>
                </a:highlight>
                <a:latin typeface="Consolas" panose="020B0609020204030204" pitchFamily="49" charset="0"/>
              </a:rPr>
              <a:t>(</a:t>
            </a:r>
            <a:r>
              <a:rPr lang="fr-BE" sz="1400" dirty="0" err="1">
                <a:solidFill>
                  <a:srgbClr val="0000FF"/>
                </a:solidFill>
                <a:highlight>
                  <a:srgbClr val="FFFFFF"/>
                </a:highlight>
                <a:latin typeface="Consolas" panose="020B0609020204030204" pitchFamily="49" charset="0"/>
              </a:rPr>
              <a:t>int</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year</a:t>
            </a:r>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 = </a:t>
            </a:r>
            <a:r>
              <a:rPr lang="fr-BE" sz="1400" dirty="0" err="1">
                <a:solidFill>
                  <a:srgbClr val="000000"/>
                </a:solidFill>
                <a:highlight>
                  <a:srgbClr val="FFFFFF"/>
                </a:highlight>
                <a:latin typeface="Consolas" panose="020B0609020204030204" pitchFamily="49" charset="0"/>
              </a:rPr>
              <a:t>year</a:t>
            </a:r>
            <a:r>
              <a:rPr lang="fr-BE" sz="1400" dirty="0">
                <a:solidFill>
                  <a:srgbClr val="000000"/>
                </a:solidFill>
                <a:highlight>
                  <a:srgbClr val="FFFFFF"/>
                </a:highlight>
                <a:latin typeface="Consolas" panose="020B0609020204030204" pitchFamily="49" charset="0"/>
              </a:rPr>
              <a:t> - </a:t>
            </a:r>
            <a:r>
              <a:rPr lang="fr-BE" sz="1400" dirty="0" err="1">
                <a:solidFill>
                  <a:srgbClr val="000000"/>
                </a:solidFill>
                <a:highlight>
                  <a:srgbClr val="FFFFFF"/>
                </a:highlight>
                <a:latin typeface="Consolas" panose="020B0609020204030204" pitchFamily="49" charset="0"/>
              </a:rPr>
              <a:t>birthYear</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endParaRPr lang="fr-BE" sz="1400" dirty="0">
              <a:solidFill>
                <a:srgbClr val="000000"/>
              </a:solidFill>
              <a:highlight>
                <a:srgbClr val="FFFFFF"/>
              </a:highlight>
              <a:latin typeface="Consolas" panose="020B0609020204030204" pitchFamily="49" charset="0"/>
            </a:endParaRPr>
          </a:p>
          <a:p>
            <a:r>
              <a:rPr lang="fr-BE" sz="1400" dirty="0">
                <a:solidFill>
                  <a:srgbClr val="000000"/>
                </a:solidFill>
                <a:highlight>
                  <a:srgbClr val="FFFFFF"/>
                </a:highlight>
                <a:latin typeface="Consolas" panose="020B0609020204030204" pitchFamily="49" charset="0"/>
              </a:rPr>
              <a:t>	</a:t>
            </a:r>
            <a:r>
              <a:rPr lang="fr-BE" sz="1400" dirty="0">
                <a:solidFill>
                  <a:srgbClr val="0000FF"/>
                </a:solidFill>
                <a:highlight>
                  <a:srgbClr val="FFFFFF"/>
                </a:highlight>
                <a:latin typeface="Consolas" panose="020B0609020204030204" pitchFamily="49" charset="0"/>
              </a:rPr>
              <a:t>public</a:t>
            </a:r>
            <a:r>
              <a:rPr lang="fr-BE" sz="1400" dirty="0">
                <a:solidFill>
                  <a:srgbClr val="000000"/>
                </a:solidFill>
                <a:highlight>
                  <a:srgbClr val="FFFFFF"/>
                </a:highlight>
                <a:latin typeface="Consolas" panose="020B0609020204030204" pitchFamily="49" charset="0"/>
              </a:rPr>
              <a:t> </a:t>
            </a:r>
            <a:r>
              <a:rPr lang="fr-BE" sz="1400" dirty="0" err="1">
                <a:solidFill>
                  <a:srgbClr val="0000FF"/>
                </a:solidFill>
                <a:highlight>
                  <a:srgbClr val="FFFFFF"/>
                </a:highlight>
                <a:latin typeface="Consolas" panose="020B0609020204030204" pitchFamily="49" charset="0"/>
              </a:rPr>
              <a:t>void</a:t>
            </a:r>
            <a:r>
              <a:rPr lang="fr-BE" sz="1400" dirty="0">
                <a:solidFill>
                  <a:srgbClr val="000000"/>
                </a:solidFill>
                <a:highlight>
                  <a:srgbClr val="FFFFFF"/>
                </a:highlight>
                <a:latin typeface="Consolas" panose="020B0609020204030204" pitchFamily="49" charset="0"/>
              </a:rPr>
              <a:t> display() {</a:t>
            </a:r>
          </a:p>
          <a:p>
            <a:r>
              <a:rPr lang="fr-BE" sz="1400" dirty="0">
                <a:solidFill>
                  <a:srgbClr val="2B91AF"/>
                </a:solidFill>
                <a:highlight>
                  <a:srgbClr val="FFFFFF"/>
                </a:highlight>
                <a:latin typeface="Consolas" panose="020B0609020204030204" pitchFamily="49" charset="0"/>
              </a:rPr>
              <a:t>		</a:t>
            </a:r>
            <a:r>
              <a:rPr lang="fr-BE" sz="1400" dirty="0" err="1">
                <a:solidFill>
                  <a:srgbClr val="2B91AF"/>
                </a:solidFill>
                <a:highlight>
                  <a:srgbClr val="FFFFFF"/>
                </a:highlight>
                <a:latin typeface="Consolas" panose="020B0609020204030204" pitchFamily="49" charset="0"/>
              </a:rPr>
              <a:t>System</a:t>
            </a:r>
            <a:r>
              <a:rPr lang="fr-BE" sz="1400" dirty="0" err="1">
                <a:solidFill>
                  <a:srgbClr val="000000"/>
                </a:solidFill>
                <a:highlight>
                  <a:srgbClr val="FFFFFF"/>
                </a:highlight>
                <a:latin typeface="Consolas" panose="020B0609020204030204" pitchFamily="49" charset="0"/>
              </a:rPr>
              <a:t>.out.println</a:t>
            </a:r>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firstName</a:t>
            </a:r>
            <a:r>
              <a:rPr lang="fr-BE" sz="1400" dirty="0">
                <a:solidFill>
                  <a:srgbClr val="000000"/>
                </a:solidFill>
                <a:highlight>
                  <a:srgbClr val="FFFFFF"/>
                </a:highlight>
                <a:latin typeface="Consolas" panose="020B0609020204030204" pitchFamily="49" charset="0"/>
              </a:rPr>
              <a:t>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p>
          <a:p>
            <a:r>
              <a:rPr lang="fr-BE" sz="1400" dirty="0">
                <a:solidFill>
                  <a:srgbClr val="000000"/>
                </a:solidFill>
                <a:highlight>
                  <a:srgbClr val="FFFFFF"/>
                </a:highlight>
                <a:latin typeface="Consolas" panose="020B0609020204030204" pitchFamily="49" charset="0"/>
              </a:rPr>
              <a:t>			</a:t>
            </a:r>
            <a:r>
              <a:rPr lang="fr-BE" sz="1400" dirty="0" err="1">
                <a:solidFill>
                  <a:srgbClr val="000000"/>
                </a:solidFill>
                <a:highlight>
                  <a:srgbClr val="FFFFFF"/>
                </a:highlight>
                <a:latin typeface="Consolas" panose="020B0609020204030204" pitchFamily="49" charset="0"/>
              </a:rPr>
              <a:t>lastName</a:t>
            </a:r>
            <a:r>
              <a:rPr lang="fr-BE" sz="1400" dirty="0">
                <a:solidFill>
                  <a:srgbClr val="000000"/>
                </a:solidFill>
                <a:highlight>
                  <a:srgbClr val="FFFFFF"/>
                </a:highlight>
                <a:latin typeface="Consolas" panose="020B0609020204030204" pitchFamily="49" charset="0"/>
              </a:rPr>
              <a:t> + </a:t>
            </a:r>
            <a:r>
              <a:rPr lang="fr-BE" sz="1400" dirty="0">
                <a:solidFill>
                  <a:srgbClr val="A31515"/>
                </a:solidFill>
                <a:highlight>
                  <a:srgbClr val="FFFFFF"/>
                </a:highlight>
                <a:latin typeface="Consolas" panose="020B0609020204030204" pitchFamily="49" charset="0"/>
              </a:rPr>
              <a:t>" ("</a:t>
            </a:r>
            <a:r>
              <a:rPr lang="fr-BE" sz="1400" dirty="0">
                <a:solidFill>
                  <a:srgbClr val="000000"/>
                </a:solidFill>
                <a:highlight>
                  <a:srgbClr val="FFFFFF"/>
                </a:highlight>
                <a:latin typeface="Consolas" panose="020B0609020204030204" pitchFamily="49" charset="0"/>
              </a:rPr>
              <a:t> + </a:t>
            </a:r>
            <a:r>
              <a:rPr lang="fr-BE" sz="1400" dirty="0" err="1">
                <a:solidFill>
                  <a:srgbClr val="000000"/>
                </a:solidFill>
                <a:highlight>
                  <a:srgbClr val="FFFFFF"/>
                </a:highlight>
                <a:latin typeface="Consolas" panose="020B0609020204030204" pitchFamily="49" charset="0"/>
              </a:rPr>
              <a:t>age</a:t>
            </a:r>
            <a:r>
              <a:rPr lang="fr-BE" sz="1400" dirty="0">
                <a:solidFill>
                  <a:srgbClr val="000000"/>
                </a:solidFill>
                <a:highlight>
                  <a:srgbClr val="FFFFFF"/>
                </a:highlight>
                <a:latin typeface="Consolas" panose="020B0609020204030204" pitchFamily="49" charset="0"/>
              </a:rPr>
              <a:t> + </a:t>
            </a:r>
            <a:r>
              <a:rPr lang="fr-BE" sz="1400" dirty="0">
                <a:solidFill>
                  <a:srgbClr val="A31515"/>
                </a:solidFill>
                <a:highlight>
                  <a:srgbClr val="FFFFFF"/>
                </a:highlight>
                <a:latin typeface="Consolas" panose="020B0609020204030204" pitchFamily="49" charset="0"/>
              </a:rPr>
              <a:t>" ans)"</a:t>
            </a:r>
            <a:r>
              <a:rPr lang="fr-BE" sz="1400" dirty="0">
                <a:solidFill>
                  <a:srgbClr val="000000"/>
                </a:solidFill>
                <a:highlight>
                  <a:srgbClr val="FFFFFF"/>
                </a:highlight>
                <a:latin typeface="Consolas" panose="020B0609020204030204" pitchFamily="49" charset="0"/>
              </a:rPr>
              <a:t>);</a:t>
            </a:r>
          </a:p>
          <a:p>
            <a:r>
              <a:rPr lang="fr-BE" sz="1400" dirty="0">
                <a:solidFill>
                  <a:srgbClr val="000000"/>
                </a:solidFill>
                <a:highlight>
                  <a:srgbClr val="FFFFFF"/>
                </a:highlight>
                <a:latin typeface="Consolas" panose="020B0609020204030204" pitchFamily="49" charset="0"/>
              </a:rPr>
              <a:t>	}</a:t>
            </a:r>
          </a:p>
          <a:p>
            <a:r>
              <a:rPr lang="fr-BE" sz="1400" dirty="0">
                <a:solidFill>
                  <a:srgbClr val="000000"/>
                </a:solidFill>
                <a:highlight>
                  <a:srgbClr val="FFFFFF"/>
                </a:highlight>
                <a:latin typeface="Consolas" panose="020B0609020204030204" pitchFamily="49" charset="0"/>
              </a:rPr>
              <a:t>}</a:t>
            </a:r>
          </a:p>
        </p:txBody>
      </p:sp>
      <p:pic>
        <p:nvPicPr>
          <p:cNvPr id="6" name="Picture 2" descr="blog-nutrition-outlet">
            <a:extLst>
              <a:ext uri="{FF2B5EF4-FFF2-40B4-BE49-F238E27FC236}">
                <a16:creationId xmlns:a16="http://schemas.microsoft.com/office/drawing/2014/main" id="{A26EDAED-4DF2-24BD-A3FC-E7810642A1EC}"/>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8" name="Groupe 7">
            <a:extLst>
              <a:ext uri="{FF2B5EF4-FFF2-40B4-BE49-F238E27FC236}">
                <a16:creationId xmlns:a16="http://schemas.microsoft.com/office/drawing/2014/main" id="{3F7F85F1-66E7-070E-4174-12F4C2B84262}"/>
              </a:ext>
            </a:extLst>
          </p:cNvPr>
          <p:cNvGrpSpPr/>
          <p:nvPr/>
        </p:nvGrpSpPr>
        <p:grpSpPr>
          <a:xfrm>
            <a:off x="3790987" y="4678460"/>
            <a:ext cx="2411263" cy="1193283"/>
            <a:chOff x="3790987" y="4678460"/>
            <a:chExt cx="2411263" cy="1193283"/>
          </a:xfrm>
        </p:grpSpPr>
        <p:pic>
          <p:nvPicPr>
            <p:cNvPr id="2050" name="Picture 2" descr="C# Logo Download Icon PNG Transparent Background, Free Download #28402 -  FreeIconsPNG">
              <a:extLst>
                <a:ext uri="{FF2B5EF4-FFF2-40B4-BE49-F238E27FC236}">
                  <a16:creationId xmlns:a16="http://schemas.microsoft.com/office/drawing/2014/main" id="{2EDD3D19-1C8D-B041-396E-B794E70979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1240590">
              <a:off x="4959247" y="4678460"/>
              <a:ext cx="1243003" cy="1193283"/>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DCD110C5-825E-AFB0-457E-766898727082}"/>
                </a:ext>
              </a:extLst>
            </p:cNvPr>
            <p:cNvSpPr txBox="1"/>
            <p:nvPr/>
          </p:nvSpPr>
          <p:spPr>
            <a:xfrm rot="21240000">
              <a:off x="3790987" y="5151023"/>
              <a:ext cx="1367682" cy="523220"/>
            </a:xfrm>
            <a:prstGeom prst="rect">
              <a:avLst/>
            </a:prstGeom>
            <a:noFill/>
          </p:spPr>
          <p:txBody>
            <a:bodyPr wrap="none" rtlCol="0">
              <a:spAutoFit/>
            </a:bodyPr>
            <a:lstStyle/>
            <a:p>
              <a:r>
                <a:rPr lang="en-GB" sz="2800" b="1" dirty="0">
                  <a:latin typeface="Helvetica" pitchFamily="2" charset="0"/>
                  <a:cs typeface="Consolas" panose="020B0609020204030204" pitchFamily="49" charset="0"/>
                </a:rPr>
                <a:t>VU EN </a:t>
              </a:r>
            </a:p>
          </p:txBody>
        </p:sp>
      </p:grpSp>
      <p:sp>
        <p:nvSpPr>
          <p:cNvPr id="9" name="Espace réservé du numéro de diapositive 8">
            <a:extLst>
              <a:ext uri="{FF2B5EF4-FFF2-40B4-BE49-F238E27FC236}">
                <a16:creationId xmlns:a16="http://schemas.microsoft.com/office/drawing/2014/main" id="{9C5C798C-081C-332A-917E-49DB00CDA639}"/>
              </a:ext>
            </a:extLst>
          </p:cNvPr>
          <p:cNvSpPr>
            <a:spLocks noGrp="1"/>
          </p:cNvSpPr>
          <p:nvPr>
            <p:ph type="sldNum" sz="quarter" idx="4"/>
          </p:nvPr>
        </p:nvSpPr>
        <p:spPr/>
        <p:txBody>
          <a:bodyPr/>
          <a:lstStyle/>
          <a:p>
            <a:fld id="{33C783E2-4793-4F48-A271-51A73CC37D74}" type="slidenum">
              <a:rPr lang="fr-FR" smtClean="0"/>
              <a:t>59</a:t>
            </a:fld>
            <a:endParaRPr lang="fr-FR"/>
          </a:p>
        </p:txBody>
      </p:sp>
    </p:spTree>
    <p:extLst>
      <p:ext uri="{BB962C8B-B14F-4D97-AF65-F5344CB8AC3E}">
        <p14:creationId xmlns:p14="http://schemas.microsoft.com/office/powerpoint/2010/main" val="1180707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 calcmode="lin" valueType="num">
                                      <p:cBhvr>
                                        <p:cTn id="14" dur="500" fill="hold"/>
                                        <p:tgtEl>
                                          <p:spTgt spid="8"/>
                                        </p:tgtEl>
                                        <p:attrNameLst>
                                          <p:attrName>style.rotation</p:attrName>
                                        </p:attrNameLst>
                                      </p:cBhvr>
                                      <p:tavLst>
                                        <p:tav tm="0">
                                          <p:val>
                                            <p:fltVal val="90"/>
                                          </p:val>
                                        </p:tav>
                                        <p:tav tm="100000">
                                          <p:val>
                                            <p:fltVal val="0"/>
                                          </p:val>
                                        </p:tav>
                                      </p:tavLst>
                                    </p:anim>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langage de programmation café, bleu, détails">
            <a:extLst>
              <a:ext uri="{FF2B5EF4-FFF2-40B4-BE49-F238E27FC236}">
                <a16:creationId xmlns:a16="http://schemas.microsoft.com/office/drawing/2014/main" id="{6426E3C7-B68A-591C-39CC-726CC29B80A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3857" b="9893"/>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7821"/>
            <a:ext cx="6241473" cy="1107996"/>
          </a:xfrm>
          <a:prstGeom prst="rect">
            <a:avLst/>
          </a:prstGeom>
          <a:solidFill>
            <a:srgbClr val="0675AE">
              <a:alpha val="75686"/>
            </a:srgbClr>
          </a:solidFill>
          <a:effectLst>
            <a:outerShdw blurRad="50800" dist="38100" dir="2700000" algn="tl" rotWithShape="0">
              <a:prstClr val="black">
                <a:alpha val="40000"/>
              </a:prstClr>
            </a:outerShdw>
          </a:effectLst>
        </p:spPr>
        <p:txBody>
          <a:bodyPr wrap="square" rtlCol="0">
            <a:spAutoFit/>
          </a:bodyPr>
          <a:lstStyle/>
          <a:p>
            <a:r>
              <a:rPr lang="fr-FR" sz="6600" b="1" dirty="0">
                <a:latin typeface="Calibri" panose="020F0502020204030204" pitchFamily="34" charset="0"/>
                <a:cs typeface="Calibri" panose="020F0502020204030204" pitchFamily="34" charset="0"/>
              </a:rPr>
              <a:t> Java</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3" name="ZoneTexte 2">
            <a:extLst>
              <a:ext uri="{FF2B5EF4-FFF2-40B4-BE49-F238E27FC236}">
                <a16:creationId xmlns:a16="http://schemas.microsoft.com/office/drawing/2014/main" id="{5C796F83-48C5-5FA8-A9C5-EF410C8DB499}"/>
              </a:ext>
            </a:extLst>
          </p:cNvPr>
          <p:cNvSpPr txBox="1"/>
          <p:nvPr/>
        </p:nvSpPr>
        <p:spPr>
          <a:xfrm>
            <a:off x="838200" y="2139312"/>
            <a:ext cx="6241473" cy="461665"/>
          </a:xfrm>
          <a:prstGeom prst="rect">
            <a:avLst/>
          </a:prstGeom>
          <a:solidFill>
            <a:srgbClr val="0675AE">
              <a:alpha val="75686"/>
            </a:srgbClr>
          </a:solidFill>
          <a:effectLst>
            <a:outerShdw blurRad="50800" dist="38100" dir="2700000" algn="tl" rotWithShape="0">
              <a:prstClr val="black">
                <a:alpha val="40000"/>
              </a:prstClr>
            </a:outerShdw>
          </a:effectLst>
        </p:spPr>
        <p:txBody>
          <a:bodyPr wrap="square" rtlCol="0">
            <a:spAutoFit/>
          </a:bodyPr>
          <a:lstStyle/>
          <a:p>
            <a:r>
              <a:rPr lang="fr-FR" sz="2400" dirty="0"/>
              <a:t> Retour sur quelques détails de la syntaxe Java</a:t>
            </a:r>
          </a:p>
        </p:txBody>
      </p:sp>
      <p:sp>
        <p:nvSpPr>
          <p:cNvPr id="4" name="Espace réservé du numéro de diapositive 3">
            <a:extLst>
              <a:ext uri="{FF2B5EF4-FFF2-40B4-BE49-F238E27FC236}">
                <a16:creationId xmlns:a16="http://schemas.microsoft.com/office/drawing/2014/main" id="{B5704B63-9316-3C3E-6155-13B9DF0E6D5B}"/>
              </a:ext>
            </a:extLst>
          </p:cNvPr>
          <p:cNvSpPr>
            <a:spLocks noGrp="1"/>
          </p:cNvSpPr>
          <p:nvPr>
            <p:ph type="sldNum" sz="quarter" idx="4"/>
          </p:nvPr>
        </p:nvSpPr>
        <p:spPr/>
        <p:txBody>
          <a:bodyPr/>
          <a:lstStyle/>
          <a:p>
            <a:fld id="{33C783E2-4793-4F48-A271-51A73CC37D74}" type="slidenum">
              <a:rPr lang="fr-FR" smtClean="0"/>
              <a:t>60</a:t>
            </a:fld>
            <a:endParaRPr lang="fr-FR"/>
          </a:p>
        </p:txBody>
      </p:sp>
    </p:spTree>
    <p:extLst>
      <p:ext uri="{BB962C8B-B14F-4D97-AF65-F5344CB8AC3E}">
        <p14:creationId xmlns:p14="http://schemas.microsoft.com/office/powerpoint/2010/main" val="198097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F63EBC-D460-0E1D-C60C-6F9A63670E9B}"/>
              </a:ext>
            </a:extLst>
          </p:cNvPr>
          <p:cNvSpPr>
            <a:spLocks noGrp="1"/>
          </p:cNvSpPr>
          <p:nvPr>
            <p:ph type="title"/>
          </p:nvPr>
        </p:nvSpPr>
        <p:spPr/>
        <p:txBody>
          <a:bodyPr/>
          <a:lstStyle/>
          <a:p>
            <a:r>
              <a:rPr lang="fr-FR" dirty="0"/>
              <a:t>Types primitifs vs Objets</a:t>
            </a:r>
          </a:p>
        </p:txBody>
      </p:sp>
      <p:sp>
        <p:nvSpPr>
          <p:cNvPr id="3" name="Espace réservé du contenu 2">
            <a:extLst>
              <a:ext uri="{FF2B5EF4-FFF2-40B4-BE49-F238E27FC236}">
                <a16:creationId xmlns:a16="http://schemas.microsoft.com/office/drawing/2014/main" id="{4A227486-C447-16B1-A0A7-4EBD5F71F50F}"/>
              </a:ext>
            </a:extLst>
          </p:cNvPr>
          <p:cNvSpPr>
            <a:spLocks noGrp="1"/>
          </p:cNvSpPr>
          <p:nvPr>
            <p:ph idx="1"/>
          </p:nvPr>
        </p:nvSpPr>
        <p:spPr>
          <a:xfrm>
            <a:off x="838200" y="1825625"/>
            <a:ext cx="10515600" cy="1103686"/>
          </a:xfrm>
        </p:spPr>
        <p:txBody>
          <a:bodyPr/>
          <a:lstStyle/>
          <a:p>
            <a:pPr marL="0" indent="0">
              <a:buNone/>
            </a:pPr>
            <a:r>
              <a:rPr lang="fr-FR" dirty="0"/>
              <a:t>Vous connaissez déjà la différence entre les 8 types primitifs (</a:t>
            </a:r>
            <a:r>
              <a:rPr lang="fr-FR" sz="2400" dirty="0" err="1">
                <a:solidFill>
                  <a:schemeClr val="accent4"/>
                </a:solidFill>
                <a:latin typeface="Consolas" panose="020B0609020204030204" pitchFamily="49" charset="0"/>
                <a:cs typeface="Consolas" panose="020B0609020204030204" pitchFamily="49" charset="0"/>
              </a:rPr>
              <a:t>int</a:t>
            </a:r>
            <a:r>
              <a:rPr lang="fr-FR" dirty="0"/>
              <a:t>, </a:t>
            </a:r>
            <a:r>
              <a:rPr lang="fr-FR" sz="2400" dirty="0" err="1">
                <a:solidFill>
                  <a:schemeClr val="accent4"/>
                </a:solidFill>
                <a:latin typeface="Consolas" panose="020B0609020204030204" pitchFamily="49" charset="0"/>
                <a:cs typeface="Consolas" panose="020B0609020204030204" pitchFamily="49" charset="0"/>
              </a:rPr>
              <a:t>boolean</a:t>
            </a:r>
            <a:r>
              <a:rPr lang="fr-FR" dirty="0"/>
              <a:t>, </a:t>
            </a:r>
            <a:r>
              <a:rPr lang="fr-FR" sz="2400" dirty="0">
                <a:solidFill>
                  <a:schemeClr val="accent4"/>
                </a:solidFill>
                <a:latin typeface="Consolas" panose="020B0609020204030204" pitchFamily="49" charset="0"/>
                <a:cs typeface="Consolas" panose="020B0609020204030204" pitchFamily="49" charset="0"/>
              </a:rPr>
              <a:t>double</a:t>
            </a:r>
            <a:r>
              <a:rPr lang="fr-FR" dirty="0"/>
              <a:t>,…) et les objets, instances de classes.</a:t>
            </a:r>
          </a:p>
        </p:txBody>
      </p:sp>
      <p:grpSp>
        <p:nvGrpSpPr>
          <p:cNvPr id="4" name="Groupe 3">
            <a:extLst>
              <a:ext uri="{FF2B5EF4-FFF2-40B4-BE49-F238E27FC236}">
                <a16:creationId xmlns:a16="http://schemas.microsoft.com/office/drawing/2014/main" id="{9BF9A0B4-05D3-6FC8-F14D-FBC41BCF50F7}"/>
              </a:ext>
            </a:extLst>
          </p:cNvPr>
          <p:cNvGrpSpPr/>
          <p:nvPr/>
        </p:nvGrpSpPr>
        <p:grpSpPr>
          <a:xfrm>
            <a:off x="1266068" y="3028365"/>
            <a:ext cx="3102654" cy="792989"/>
            <a:chOff x="245102" y="4483449"/>
            <a:chExt cx="3102654" cy="792989"/>
          </a:xfrm>
        </p:grpSpPr>
        <p:sp>
          <p:nvSpPr>
            <p:cNvPr id="5" name="Rectangle 4">
              <a:extLst>
                <a:ext uri="{FF2B5EF4-FFF2-40B4-BE49-F238E27FC236}">
                  <a16:creationId xmlns:a16="http://schemas.microsoft.com/office/drawing/2014/main" id="{5AE6D592-8C0D-44EB-D9D9-D6018749674B}"/>
                </a:ext>
              </a:extLst>
            </p:cNvPr>
            <p:cNvSpPr/>
            <p:nvPr/>
          </p:nvSpPr>
          <p:spPr>
            <a:xfrm>
              <a:off x="245102" y="4776371"/>
              <a:ext cx="2214578" cy="500067"/>
            </a:xfrm>
            <a:prstGeom prst="rect">
              <a:avLst/>
            </a:prstGeom>
            <a:scene3d>
              <a:camera prst="orthographicFront"/>
              <a:lightRig rig="chilly" dir="t"/>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2682" tIns="122682" rIns="163576" bIns="184023" numCol="1" spcCol="1270" anchor="t" anchorCtr="0">
              <a:noAutofit/>
            </a:bodyPr>
            <a:lstStyle/>
            <a:p>
              <a:pPr marL="228600" lvl="1" indent="-228600" algn="r" defTabSz="1022350">
                <a:lnSpc>
                  <a:spcPct val="90000"/>
                </a:lnSpc>
                <a:spcBef>
                  <a:spcPct val="0"/>
                </a:spcBef>
                <a:spcAft>
                  <a:spcPct val="15000"/>
                </a:spcAft>
              </a:pPr>
              <a:r>
                <a:rPr lang="fr-BE" sz="2300" b="1" i="1" kern="1200" dirty="0" err="1">
                  <a:solidFill>
                    <a:schemeClr val="tx1"/>
                  </a:solidFill>
                  <a:latin typeface="Consolas"/>
                  <a:cs typeface="Consolas"/>
                </a:rPr>
                <a:t>int</a:t>
              </a:r>
              <a:r>
                <a:rPr lang="fr-BE" sz="2300" b="1" kern="1200" dirty="0">
                  <a:solidFill>
                    <a:schemeClr val="tx1"/>
                  </a:solidFill>
                  <a:latin typeface="Consolas"/>
                  <a:cs typeface="Consolas"/>
                </a:rPr>
                <a:t> hauteur</a:t>
              </a:r>
              <a:endParaRPr lang="fr-BE" sz="2300" b="1" dirty="0">
                <a:solidFill>
                  <a:schemeClr val="tx1"/>
                </a:solidFill>
                <a:latin typeface="Consolas"/>
                <a:cs typeface="Consolas"/>
              </a:endParaRPr>
            </a:p>
          </p:txBody>
        </p:sp>
        <p:sp>
          <p:nvSpPr>
            <p:cNvPr id="6" name="Rectangle 5">
              <a:extLst>
                <a:ext uri="{FF2B5EF4-FFF2-40B4-BE49-F238E27FC236}">
                  <a16:creationId xmlns:a16="http://schemas.microsoft.com/office/drawing/2014/main" id="{305EA1F6-1446-074A-DCAF-E957C1FA5AB2}"/>
                </a:ext>
              </a:extLst>
            </p:cNvPr>
            <p:cNvSpPr/>
            <p:nvPr/>
          </p:nvSpPr>
          <p:spPr>
            <a:xfrm>
              <a:off x="2409341" y="4776371"/>
              <a:ext cx="938415" cy="500067"/>
            </a:xfrm>
            <a:prstGeom prst="rect">
              <a:avLst/>
            </a:prstGeom>
            <a:scene3d>
              <a:camera prst="orthographicFront"/>
              <a:lightRig rig="chilly" dir="t"/>
            </a:scene3d>
          </p:spPr>
          <p:style>
            <a:lnRef idx="2">
              <a:schemeClr val="accent3"/>
            </a:lnRef>
            <a:fillRef idx="1">
              <a:schemeClr val="lt1"/>
            </a:fillRef>
            <a:effectRef idx="0">
              <a:schemeClr val="accent3"/>
            </a:effectRef>
            <a:fontRef idx="minor">
              <a:schemeClr val="dk1"/>
            </a:fontRef>
          </p:style>
          <p:txBody>
            <a:bodyPr spcFirstLastPara="0" vert="horz" wrap="square" lIns="122682" tIns="122682" rIns="163576" bIns="184023" numCol="1" spcCol="1270" anchor="t" anchorCtr="0">
              <a:noAutofit/>
            </a:bodyPr>
            <a:lstStyle/>
            <a:p>
              <a:pPr marL="228600" lvl="1" indent="-228600" algn="ctr" defTabSz="1022350">
                <a:lnSpc>
                  <a:spcPct val="90000"/>
                </a:lnSpc>
                <a:spcBef>
                  <a:spcPct val="0"/>
                </a:spcBef>
                <a:spcAft>
                  <a:spcPct val="15000"/>
                </a:spcAft>
              </a:pPr>
              <a:r>
                <a:rPr lang="fr-BE" sz="2300" b="1" kern="1200" dirty="0"/>
                <a:t>200</a:t>
              </a:r>
              <a:endParaRPr lang="fr-BE" sz="2300" b="1" dirty="0"/>
            </a:p>
          </p:txBody>
        </p:sp>
        <p:sp>
          <p:nvSpPr>
            <p:cNvPr id="7" name="ZoneTexte 6">
              <a:extLst>
                <a:ext uri="{FF2B5EF4-FFF2-40B4-BE49-F238E27FC236}">
                  <a16:creationId xmlns:a16="http://schemas.microsoft.com/office/drawing/2014/main" id="{50D5B3F2-4A0B-9278-19EA-457279F0FE9D}"/>
                </a:ext>
              </a:extLst>
            </p:cNvPr>
            <p:cNvSpPr txBox="1"/>
            <p:nvPr/>
          </p:nvSpPr>
          <p:spPr>
            <a:xfrm>
              <a:off x="468580" y="4483449"/>
              <a:ext cx="1425390" cy="369332"/>
            </a:xfrm>
            <a:prstGeom prst="rect">
              <a:avLst/>
            </a:prstGeom>
            <a:noFill/>
          </p:spPr>
          <p:txBody>
            <a:bodyPr wrap="none" rtlCol="0">
              <a:spAutoFit/>
            </a:bodyPr>
            <a:lstStyle/>
            <a:p>
              <a:r>
                <a:rPr lang="fr-FR" b="1" dirty="0">
                  <a:solidFill>
                    <a:schemeClr val="accent4"/>
                  </a:solidFill>
                </a:rPr>
                <a:t>type primitif</a:t>
              </a:r>
            </a:p>
          </p:txBody>
        </p:sp>
      </p:grpSp>
      <p:grpSp>
        <p:nvGrpSpPr>
          <p:cNvPr id="8" name="Groupe 7">
            <a:extLst>
              <a:ext uri="{FF2B5EF4-FFF2-40B4-BE49-F238E27FC236}">
                <a16:creationId xmlns:a16="http://schemas.microsoft.com/office/drawing/2014/main" id="{74201259-A362-9F09-78DF-990B5C5423FC}"/>
              </a:ext>
            </a:extLst>
          </p:cNvPr>
          <p:cNvGrpSpPr/>
          <p:nvPr/>
        </p:nvGrpSpPr>
        <p:grpSpPr>
          <a:xfrm>
            <a:off x="5041066" y="3028365"/>
            <a:ext cx="5340333" cy="1543777"/>
            <a:chOff x="3426956" y="4483449"/>
            <a:chExt cx="5340333" cy="1543777"/>
          </a:xfrm>
        </p:grpSpPr>
        <p:sp>
          <p:nvSpPr>
            <p:cNvPr id="9" name="Rectangle 8">
              <a:extLst>
                <a:ext uri="{FF2B5EF4-FFF2-40B4-BE49-F238E27FC236}">
                  <a16:creationId xmlns:a16="http://schemas.microsoft.com/office/drawing/2014/main" id="{F1A5DABF-E1E6-F709-1845-CFC1B5EC42F5}"/>
                </a:ext>
              </a:extLst>
            </p:cNvPr>
            <p:cNvSpPr/>
            <p:nvPr/>
          </p:nvSpPr>
          <p:spPr>
            <a:xfrm>
              <a:off x="3426956" y="4776371"/>
              <a:ext cx="2480808" cy="500067"/>
            </a:xfrm>
            <a:prstGeom prst="rect">
              <a:avLst/>
            </a:prstGeom>
            <a:scene3d>
              <a:camera prst="orthographicFront"/>
              <a:lightRig rig="chilly" dir="t"/>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2682" tIns="122682" rIns="163576" bIns="184023" numCol="1" spcCol="1270" anchor="t" anchorCtr="0">
              <a:noAutofit/>
            </a:bodyPr>
            <a:lstStyle/>
            <a:p>
              <a:pPr marL="228600" lvl="1" indent="-228600" algn="r" defTabSz="1022350">
                <a:lnSpc>
                  <a:spcPct val="90000"/>
                </a:lnSpc>
                <a:spcBef>
                  <a:spcPct val="0"/>
                </a:spcBef>
                <a:spcAft>
                  <a:spcPct val="15000"/>
                </a:spcAft>
              </a:pPr>
              <a:r>
                <a:rPr lang="fr-BE" sz="2300" b="1" i="1" kern="1200" dirty="0">
                  <a:solidFill>
                    <a:schemeClr val="tx1"/>
                  </a:solidFill>
                  <a:latin typeface="Consolas"/>
                  <a:cs typeface="Consolas"/>
                </a:rPr>
                <a:t>Etudiant </a:t>
              </a:r>
              <a:r>
                <a:rPr lang="fr-BE" sz="2300" b="1" kern="1200" dirty="0" err="1">
                  <a:solidFill>
                    <a:schemeClr val="tx1"/>
                  </a:solidFill>
                  <a:latin typeface="Consolas"/>
                  <a:cs typeface="Consolas"/>
                </a:rPr>
                <a:t>alex</a:t>
              </a:r>
              <a:endParaRPr lang="fr-BE" sz="2300" b="1" dirty="0">
                <a:solidFill>
                  <a:schemeClr val="tx1"/>
                </a:solidFill>
                <a:latin typeface="Consolas"/>
                <a:cs typeface="Consolas"/>
              </a:endParaRPr>
            </a:p>
          </p:txBody>
        </p:sp>
        <p:sp>
          <p:nvSpPr>
            <p:cNvPr id="10" name="Rectangle 9">
              <a:extLst>
                <a:ext uri="{FF2B5EF4-FFF2-40B4-BE49-F238E27FC236}">
                  <a16:creationId xmlns:a16="http://schemas.microsoft.com/office/drawing/2014/main" id="{B62D28D3-9435-FEAD-F478-C86A334966B8}"/>
                </a:ext>
              </a:extLst>
            </p:cNvPr>
            <p:cNvSpPr/>
            <p:nvPr/>
          </p:nvSpPr>
          <p:spPr>
            <a:xfrm>
              <a:off x="5969481" y="4776371"/>
              <a:ext cx="642942" cy="500067"/>
            </a:xfrm>
            <a:prstGeom prst="rect">
              <a:avLst/>
            </a:prstGeom>
            <a:scene3d>
              <a:camera prst="orthographicFront"/>
              <a:lightRig rig="chilly" dir="t"/>
            </a:scene3d>
          </p:spPr>
          <p:style>
            <a:lnRef idx="2">
              <a:schemeClr val="accent3"/>
            </a:lnRef>
            <a:fillRef idx="1">
              <a:schemeClr val="lt1"/>
            </a:fillRef>
            <a:effectRef idx="0">
              <a:schemeClr val="accent3"/>
            </a:effectRef>
            <a:fontRef idx="minor">
              <a:schemeClr val="dk1"/>
            </a:fontRef>
          </p:style>
          <p:txBody>
            <a:bodyPr spcFirstLastPara="0" vert="horz" wrap="square" lIns="122682" tIns="122682" rIns="163576" bIns="184023" numCol="1" spcCol="1270" anchor="t" anchorCtr="0">
              <a:noAutofit/>
            </a:bodyPr>
            <a:lstStyle/>
            <a:p>
              <a:pPr marL="228600" lvl="1" indent="-228600" algn="ctr" defTabSz="1022350">
                <a:lnSpc>
                  <a:spcPct val="90000"/>
                </a:lnSpc>
                <a:spcBef>
                  <a:spcPct val="0"/>
                </a:spcBef>
                <a:spcAft>
                  <a:spcPct val="15000"/>
                </a:spcAft>
              </a:pPr>
              <a:endParaRPr lang="fr-BE" sz="2300" b="1" dirty="0"/>
            </a:p>
          </p:txBody>
        </p:sp>
        <p:grpSp>
          <p:nvGrpSpPr>
            <p:cNvPr id="11" name="Group 15">
              <a:extLst>
                <a:ext uri="{FF2B5EF4-FFF2-40B4-BE49-F238E27FC236}">
                  <a16:creationId xmlns:a16="http://schemas.microsoft.com/office/drawing/2014/main" id="{52417B57-B0B3-F25B-5E09-0C8ADF011BD4}"/>
                </a:ext>
              </a:extLst>
            </p:cNvPr>
            <p:cNvGrpSpPr/>
            <p:nvPr/>
          </p:nvGrpSpPr>
          <p:grpSpPr>
            <a:xfrm>
              <a:off x="6969612" y="4598466"/>
              <a:ext cx="1797677" cy="1428760"/>
              <a:chOff x="1233809" y="2766600"/>
              <a:chExt cx="6410025" cy="3300635"/>
            </a:xfrm>
          </p:grpSpPr>
          <p:grpSp>
            <p:nvGrpSpPr>
              <p:cNvPr id="17" name="Group 5">
                <a:extLst>
                  <a:ext uri="{FF2B5EF4-FFF2-40B4-BE49-F238E27FC236}">
                    <a16:creationId xmlns:a16="http://schemas.microsoft.com/office/drawing/2014/main" id="{CDDF1363-F643-5472-FE91-A4FD853528CB}"/>
                  </a:ext>
                </a:extLst>
              </p:cNvPr>
              <p:cNvGrpSpPr/>
              <p:nvPr/>
            </p:nvGrpSpPr>
            <p:grpSpPr>
              <a:xfrm>
                <a:off x="1233809" y="2766600"/>
                <a:ext cx="6410025" cy="1155222"/>
                <a:chOff x="34" y="21882"/>
                <a:chExt cx="3338191" cy="1155222"/>
              </a:xfrm>
              <a:scene3d>
                <a:camera prst="orthographicFront"/>
                <a:lightRig rig="chilly" dir="t"/>
              </a:scene3d>
            </p:grpSpPr>
            <p:sp>
              <p:nvSpPr>
                <p:cNvPr id="19" name="Round Same Side Corner Rectangle 17">
                  <a:extLst>
                    <a:ext uri="{FF2B5EF4-FFF2-40B4-BE49-F238E27FC236}">
                      <a16:creationId xmlns:a16="http://schemas.microsoft.com/office/drawing/2014/main" id="{B6B7C16A-620B-589E-4FC7-D878BF656114}"/>
                    </a:ext>
                  </a:extLst>
                </p:cNvPr>
                <p:cNvSpPr/>
                <p:nvPr/>
              </p:nvSpPr>
              <p:spPr>
                <a:xfrm>
                  <a:off x="34" y="21882"/>
                  <a:ext cx="3338191" cy="1155222"/>
                </a:xfrm>
                <a:prstGeom prst="round2SameRect">
                  <a:avLst/>
                </a:prstGeom>
                <a:sp3d prstMaterial="translucentPowder">
                  <a:bevelT w="127000" h="25400" prst="softRound"/>
                </a:sp3d>
              </p:spPr>
              <p:style>
                <a:lnRef idx="1">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fr-FR"/>
                </a:p>
              </p:txBody>
            </p:sp>
            <p:sp>
              <p:nvSpPr>
                <p:cNvPr id="20" name="Round Same Side Corner Rectangle 4">
                  <a:extLst>
                    <a:ext uri="{FF2B5EF4-FFF2-40B4-BE49-F238E27FC236}">
                      <a16:creationId xmlns:a16="http://schemas.microsoft.com/office/drawing/2014/main" id="{7088DEBF-E7E5-A33A-5D25-D1DD9B90D8A8}"/>
                    </a:ext>
                  </a:extLst>
                </p:cNvPr>
                <p:cNvSpPr/>
                <p:nvPr/>
              </p:nvSpPr>
              <p:spPr>
                <a:xfrm>
                  <a:off x="32371" y="54217"/>
                  <a:ext cx="3273519" cy="112288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3576" tIns="93472" rIns="163576" bIns="93472" numCol="1" spcCol="1270" anchor="ctr" anchorCtr="0">
                  <a:noAutofit/>
                </a:bodyPr>
                <a:lstStyle/>
                <a:p>
                  <a:pPr lvl="0" algn="ctr" defTabSz="1022350">
                    <a:lnSpc>
                      <a:spcPct val="90000"/>
                    </a:lnSpc>
                    <a:spcBef>
                      <a:spcPct val="0"/>
                    </a:spcBef>
                    <a:spcAft>
                      <a:spcPct val="35000"/>
                    </a:spcAft>
                  </a:pPr>
                  <a:r>
                    <a:rPr lang="fr-BE" sz="2300" b="1" kern="1200" dirty="0" err="1"/>
                    <a:t>alex</a:t>
                  </a:r>
                  <a:endParaRPr lang="fr-BE" sz="2300" b="1" kern="1200" dirty="0"/>
                </a:p>
              </p:txBody>
            </p:sp>
          </p:grpSp>
          <p:sp>
            <p:nvSpPr>
              <p:cNvPr id="18" name="Rectangle 17">
                <a:extLst>
                  <a:ext uri="{FF2B5EF4-FFF2-40B4-BE49-F238E27FC236}">
                    <a16:creationId xmlns:a16="http://schemas.microsoft.com/office/drawing/2014/main" id="{1DD548D7-7351-2093-1305-EA424D3A65B1}"/>
                  </a:ext>
                </a:extLst>
              </p:cNvPr>
              <p:cNvSpPr/>
              <p:nvPr/>
            </p:nvSpPr>
            <p:spPr>
              <a:xfrm>
                <a:off x="1233809" y="3921822"/>
                <a:ext cx="6410025" cy="2145413"/>
              </a:xfrm>
              <a:prstGeom prst="rect">
                <a:avLst/>
              </a:prstGeom>
              <a:scene3d>
                <a:camera prst="orthographicFront"/>
                <a:lightRig rig="chilly" dir="t"/>
              </a:scene3d>
              <a:sp3d extrusionH="1700" prstMaterial="dkEdge">
                <a:bevelT w="25400" h="6350" prst="softRound"/>
                <a:bevelB w="0" h="0" prst="convex"/>
              </a:sp3d>
            </p:spPr>
            <p:style>
              <a:lnRef idx="1">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fr-FR"/>
              </a:p>
            </p:txBody>
          </p:sp>
        </p:grpSp>
        <p:cxnSp>
          <p:nvCxnSpPr>
            <p:cNvPr id="12" name="Straight Arrow Connector 20">
              <a:extLst>
                <a:ext uri="{FF2B5EF4-FFF2-40B4-BE49-F238E27FC236}">
                  <a16:creationId xmlns:a16="http://schemas.microsoft.com/office/drawing/2014/main" id="{EF6FEFC7-EEFD-5B04-C9AA-167AA76EF265}"/>
                </a:ext>
              </a:extLst>
            </p:cNvPr>
            <p:cNvCxnSpPr>
              <a:endCxn id="19" idx="2"/>
            </p:cNvCxnSpPr>
            <p:nvPr/>
          </p:nvCxnSpPr>
          <p:spPr>
            <a:xfrm flipV="1">
              <a:off x="6280632" y="4848499"/>
              <a:ext cx="688980" cy="175643"/>
            </a:xfrm>
            <a:prstGeom prst="straightConnector1">
              <a:avLst/>
            </a:prstGeom>
            <a:ln>
              <a:headEnd type="oval" w="lg" len="lg"/>
              <a:tailEnd type="stealth" w="lg" len="lg"/>
            </a:ln>
          </p:spPr>
          <p:style>
            <a:lnRef idx="2">
              <a:schemeClr val="accent2"/>
            </a:lnRef>
            <a:fillRef idx="0">
              <a:schemeClr val="accent2"/>
            </a:fillRef>
            <a:effectRef idx="1">
              <a:schemeClr val="accent2"/>
            </a:effectRef>
            <a:fontRef idx="minor">
              <a:schemeClr val="tx1"/>
            </a:fontRef>
          </p:style>
        </p:cxnSp>
        <p:sp>
          <p:nvSpPr>
            <p:cNvPr id="13" name="Rectangle 12">
              <a:extLst>
                <a:ext uri="{FF2B5EF4-FFF2-40B4-BE49-F238E27FC236}">
                  <a16:creationId xmlns:a16="http://schemas.microsoft.com/office/drawing/2014/main" id="{F63D8EBF-10D3-A202-AE23-550A90469247}"/>
                </a:ext>
              </a:extLst>
            </p:cNvPr>
            <p:cNvSpPr/>
            <p:nvPr/>
          </p:nvSpPr>
          <p:spPr>
            <a:xfrm>
              <a:off x="8001024" y="5169971"/>
              <a:ext cx="642942" cy="214314"/>
            </a:xfrm>
            <a:prstGeom prst="rect">
              <a:avLst/>
            </a:prstGeom>
            <a:scene3d>
              <a:camera prst="orthographicFront"/>
              <a:lightRig rig="chilly" dir="t"/>
            </a:scene3d>
          </p:spPr>
          <p:style>
            <a:lnRef idx="2">
              <a:schemeClr val="accent3"/>
            </a:lnRef>
            <a:fillRef idx="1">
              <a:schemeClr val="lt1"/>
            </a:fillRef>
            <a:effectRef idx="0">
              <a:schemeClr val="accent3"/>
            </a:effectRef>
            <a:fontRef idx="minor">
              <a:schemeClr val="dk1"/>
            </a:fontRef>
          </p:style>
          <p:txBody>
            <a:bodyPr spcFirstLastPara="0" vert="horz" wrap="square" lIns="122682" tIns="122682" rIns="163576" bIns="184023" numCol="1" spcCol="1270" anchor="t" anchorCtr="0">
              <a:noAutofit/>
            </a:bodyPr>
            <a:lstStyle/>
            <a:p>
              <a:pPr marL="228600" lvl="1" indent="-228600" algn="ctr" defTabSz="1022350">
                <a:lnSpc>
                  <a:spcPct val="90000"/>
                </a:lnSpc>
                <a:spcBef>
                  <a:spcPct val="0"/>
                </a:spcBef>
                <a:spcAft>
                  <a:spcPct val="15000"/>
                </a:spcAft>
              </a:pPr>
              <a:endParaRPr lang="fr-BE" sz="2300" dirty="0"/>
            </a:p>
          </p:txBody>
        </p:sp>
        <p:sp>
          <p:nvSpPr>
            <p:cNvPr id="14" name="Rectangle 13">
              <a:extLst>
                <a:ext uri="{FF2B5EF4-FFF2-40B4-BE49-F238E27FC236}">
                  <a16:creationId xmlns:a16="http://schemas.microsoft.com/office/drawing/2014/main" id="{DF3C5433-827A-CFC5-9A32-F68548C90C4F}"/>
                </a:ext>
              </a:extLst>
            </p:cNvPr>
            <p:cNvSpPr/>
            <p:nvPr/>
          </p:nvSpPr>
          <p:spPr>
            <a:xfrm>
              <a:off x="8001024" y="5455722"/>
              <a:ext cx="642942" cy="214314"/>
            </a:xfrm>
            <a:prstGeom prst="rect">
              <a:avLst/>
            </a:prstGeom>
            <a:scene3d>
              <a:camera prst="orthographicFront"/>
              <a:lightRig rig="chilly" dir="t"/>
            </a:scene3d>
          </p:spPr>
          <p:style>
            <a:lnRef idx="2">
              <a:schemeClr val="accent3"/>
            </a:lnRef>
            <a:fillRef idx="1">
              <a:schemeClr val="lt1"/>
            </a:fillRef>
            <a:effectRef idx="0">
              <a:schemeClr val="accent3"/>
            </a:effectRef>
            <a:fontRef idx="minor">
              <a:schemeClr val="dk1"/>
            </a:fontRef>
          </p:style>
          <p:txBody>
            <a:bodyPr spcFirstLastPara="0" vert="horz" wrap="square" lIns="122682" tIns="122682" rIns="163576" bIns="184023" numCol="1" spcCol="1270" anchor="t" anchorCtr="0">
              <a:noAutofit/>
            </a:bodyPr>
            <a:lstStyle/>
            <a:p>
              <a:pPr marL="228600" lvl="1" indent="-228600" algn="ctr" defTabSz="1022350">
                <a:lnSpc>
                  <a:spcPct val="90000"/>
                </a:lnSpc>
                <a:spcBef>
                  <a:spcPct val="0"/>
                </a:spcBef>
                <a:spcAft>
                  <a:spcPct val="15000"/>
                </a:spcAft>
              </a:pPr>
              <a:endParaRPr lang="fr-BE" sz="2300" dirty="0"/>
            </a:p>
          </p:txBody>
        </p:sp>
        <p:sp>
          <p:nvSpPr>
            <p:cNvPr id="15" name="Rectangle 14">
              <a:extLst>
                <a:ext uri="{FF2B5EF4-FFF2-40B4-BE49-F238E27FC236}">
                  <a16:creationId xmlns:a16="http://schemas.microsoft.com/office/drawing/2014/main" id="{9F4CC6CC-A053-D7AA-A122-5B90A9714F74}"/>
                </a:ext>
              </a:extLst>
            </p:cNvPr>
            <p:cNvSpPr/>
            <p:nvPr/>
          </p:nvSpPr>
          <p:spPr>
            <a:xfrm>
              <a:off x="8001024" y="5741473"/>
              <a:ext cx="642942" cy="214314"/>
            </a:xfrm>
            <a:prstGeom prst="rect">
              <a:avLst/>
            </a:prstGeom>
            <a:scene3d>
              <a:camera prst="orthographicFront"/>
              <a:lightRig rig="chilly" dir="t"/>
            </a:scene3d>
          </p:spPr>
          <p:style>
            <a:lnRef idx="2">
              <a:schemeClr val="accent3"/>
            </a:lnRef>
            <a:fillRef idx="1">
              <a:schemeClr val="lt1"/>
            </a:fillRef>
            <a:effectRef idx="0">
              <a:schemeClr val="accent3"/>
            </a:effectRef>
            <a:fontRef idx="minor">
              <a:schemeClr val="dk1"/>
            </a:fontRef>
          </p:style>
          <p:txBody>
            <a:bodyPr spcFirstLastPara="0" vert="horz" wrap="square" lIns="122682" tIns="122682" rIns="163576" bIns="184023" numCol="1" spcCol="1270" anchor="t" anchorCtr="0">
              <a:noAutofit/>
            </a:bodyPr>
            <a:lstStyle/>
            <a:p>
              <a:pPr marL="228600" lvl="1" indent="-228600" algn="ctr" defTabSz="1022350">
                <a:lnSpc>
                  <a:spcPct val="90000"/>
                </a:lnSpc>
                <a:spcBef>
                  <a:spcPct val="0"/>
                </a:spcBef>
                <a:spcAft>
                  <a:spcPct val="15000"/>
                </a:spcAft>
              </a:pPr>
              <a:endParaRPr lang="fr-BE" sz="2300" dirty="0"/>
            </a:p>
          </p:txBody>
        </p:sp>
        <p:sp>
          <p:nvSpPr>
            <p:cNvPr id="16" name="ZoneTexte 15">
              <a:extLst>
                <a:ext uri="{FF2B5EF4-FFF2-40B4-BE49-F238E27FC236}">
                  <a16:creationId xmlns:a16="http://schemas.microsoft.com/office/drawing/2014/main" id="{C5703473-827C-469B-94AB-4B367ACA535E}"/>
                </a:ext>
              </a:extLst>
            </p:cNvPr>
            <p:cNvSpPr txBox="1"/>
            <p:nvPr/>
          </p:nvSpPr>
          <p:spPr>
            <a:xfrm>
              <a:off x="3671432" y="4483449"/>
              <a:ext cx="736099" cy="369332"/>
            </a:xfrm>
            <a:prstGeom prst="rect">
              <a:avLst/>
            </a:prstGeom>
            <a:noFill/>
          </p:spPr>
          <p:txBody>
            <a:bodyPr wrap="none" rtlCol="0">
              <a:spAutoFit/>
            </a:bodyPr>
            <a:lstStyle/>
            <a:p>
              <a:r>
                <a:rPr lang="fr-FR" b="1" dirty="0">
                  <a:solidFill>
                    <a:schemeClr val="accent4"/>
                  </a:solidFill>
                </a:rPr>
                <a:t>objet</a:t>
              </a:r>
            </a:p>
          </p:txBody>
        </p:sp>
      </p:grpSp>
      <p:sp>
        <p:nvSpPr>
          <p:cNvPr id="21" name="Espace réservé du contenu 2">
            <a:extLst>
              <a:ext uri="{FF2B5EF4-FFF2-40B4-BE49-F238E27FC236}">
                <a16:creationId xmlns:a16="http://schemas.microsoft.com/office/drawing/2014/main" id="{30E9773C-EAB1-E874-56EC-722C7A1A2B85}"/>
              </a:ext>
            </a:extLst>
          </p:cNvPr>
          <p:cNvSpPr txBox="1">
            <a:spLocks/>
          </p:cNvSpPr>
          <p:nvPr/>
        </p:nvSpPr>
        <p:spPr>
          <a:xfrm>
            <a:off x="838200" y="4786697"/>
            <a:ext cx="10515600" cy="14709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a:t>Les valeurs des variables de </a:t>
            </a:r>
            <a:r>
              <a:rPr lang="fr-FR" dirty="0">
                <a:solidFill>
                  <a:schemeClr val="accent4"/>
                </a:solidFill>
              </a:rPr>
              <a:t>type primitif sont stockées dans les variables</a:t>
            </a:r>
            <a:r>
              <a:rPr lang="fr-FR" dirty="0"/>
              <a:t>, alors que les valeurs contenues dans les variables de </a:t>
            </a:r>
            <a:r>
              <a:rPr lang="fr-FR" dirty="0">
                <a:solidFill>
                  <a:schemeClr val="accent4"/>
                </a:solidFill>
              </a:rPr>
              <a:t>type objet sont des pointeurs vers les objets</a:t>
            </a:r>
            <a:r>
              <a:rPr lang="fr-FR" dirty="0"/>
              <a:t>.</a:t>
            </a:r>
          </a:p>
        </p:txBody>
      </p:sp>
      <p:sp>
        <p:nvSpPr>
          <p:cNvPr id="22" name="Espace réservé du numéro de diapositive 21">
            <a:extLst>
              <a:ext uri="{FF2B5EF4-FFF2-40B4-BE49-F238E27FC236}">
                <a16:creationId xmlns:a16="http://schemas.microsoft.com/office/drawing/2014/main" id="{A3227668-4F3A-06AE-6D1A-213344F21F19}"/>
              </a:ext>
            </a:extLst>
          </p:cNvPr>
          <p:cNvSpPr>
            <a:spLocks noGrp="1"/>
          </p:cNvSpPr>
          <p:nvPr>
            <p:ph type="sldNum" sz="quarter" idx="4"/>
          </p:nvPr>
        </p:nvSpPr>
        <p:spPr/>
        <p:txBody>
          <a:bodyPr/>
          <a:lstStyle/>
          <a:p>
            <a:fld id="{33C783E2-4793-4F48-A271-51A73CC37D74}" type="slidenum">
              <a:rPr lang="fr-FR" smtClean="0"/>
              <a:t>61</a:t>
            </a:fld>
            <a:endParaRPr lang="fr-FR"/>
          </a:p>
        </p:txBody>
      </p:sp>
    </p:spTree>
    <p:extLst>
      <p:ext uri="{BB962C8B-B14F-4D97-AF65-F5344CB8AC3E}">
        <p14:creationId xmlns:p14="http://schemas.microsoft.com/office/powerpoint/2010/main" val="1363419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up)">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672782-2206-CD6A-DB09-2243CE2F95E3}"/>
              </a:ext>
            </a:extLst>
          </p:cNvPr>
          <p:cNvSpPr>
            <a:spLocks noGrp="1"/>
          </p:cNvSpPr>
          <p:nvPr>
            <p:ph type="title"/>
          </p:nvPr>
        </p:nvSpPr>
        <p:spPr/>
        <p:txBody>
          <a:bodyPr/>
          <a:lstStyle/>
          <a:p>
            <a:r>
              <a:rPr lang="fr-FR" dirty="0"/>
              <a:t>Types primitifs et </a:t>
            </a:r>
            <a:r>
              <a:rPr lang="fr-FR" dirty="0" err="1"/>
              <a:t>Wrappers</a:t>
            </a:r>
            <a:endParaRPr lang="fr-FR" dirty="0"/>
          </a:p>
        </p:txBody>
      </p:sp>
      <p:sp>
        <p:nvSpPr>
          <p:cNvPr id="3" name="Espace réservé du contenu 2">
            <a:extLst>
              <a:ext uri="{FF2B5EF4-FFF2-40B4-BE49-F238E27FC236}">
                <a16:creationId xmlns:a16="http://schemas.microsoft.com/office/drawing/2014/main" id="{8D0C04D3-CA06-CC76-64AF-382D13D3760B}"/>
              </a:ext>
            </a:extLst>
          </p:cNvPr>
          <p:cNvSpPr>
            <a:spLocks noGrp="1"/>
          </p:cNvSpPr>
          <p:nvPr>
            <p:ph idx="1"/>
          </p:nvPr>
        </p:nvSpPr>
        <p:spPr/>
        <p:txBody>
          <a:bodyPr/>
          <a:lstStyle/>
          <a:p>
            <a:pPr marL="0" indent="0">
              <a:buNone/>
            </a:pPr>
            <a:r>
              <a:rPr lang="fr-FR" dirty="0"/>
              <a:t>Pour chaque type primitif (</a:t>
            </a:r>
            <a:r>
              <a:rPr lang="fr-FR" sz="2400" dirty="0" err="1">
                <a:solidFill>
                  <a:schemeClr val="accent4"/>
                </a:solidFill>
                <a:latin typeface="Consolas" panose="020B0609020204030204" pitchFamily="49" charset="0"/>
                <a:cs typeface="Consolas" panose="020B0609020204030204" pitchFamily="49" charset="0"/>
              </a:rPr>
              <a:t>boolean</a:t>
            </a:r>
            <a:r>
              <a:rPr lang="fr-FR" dirty="0"/>
              <a:t>, </a:t>
            </a:r>
            <a:r>
              <a:rPr lang="fr-FR" sz="2400" dirty="0">
                <a:solidFill>
                  <a:schemeClr val="accent4"/>
                </a:solidFill>
                <a:latin typeface="Consolas" panose="020B0609020204030204" pitchFamily="49" charset="0"/>
                <a:cs typeface="Consolas" panose="020B0609020204030204" pitchFamily="49" charset="0"/>
              </a:rPr>
              <a:t>short</a:t>
            </a:r>
            <a:r>
              <a:rPr lang="fr-FR" dirty="0"/>
              <a:t>, </a:t>
            </a:r>
            <a:r>
              <a:rPr lang="fr-FR" sz="2400" dirty="0">
                <a:solidFill>
                  <a:schemeClr val="accent4"/>
                </a:solidFill>
                <a:latin typeface="Consolas" panose="020B0609020204030204" pitchFamily="49" charset="0"/>
                <a:cs typeface="Consolas" panose="020B0609020204030204" pitchFamily="49" charset="0"/>
              </a:rPr>
              <a:t>byte</a:t>
            </a:r>
            <a:r>
              <a:rPr lang="fr-FR" dirty="0"/>
              <a:t>, </a:t>
            </a:r>
            <a:r>
              <a:rPr lang="fr-FR" sz="2400" dirty="0" err="1">
                <a:solidFill>
                  <a:schemeClr val="accent4"/>
                </a:solidFill>
                <a:latin typeface="Consolas" panose="020B0609020204030204" pitchFamily="49" charset="0"/>
                <a:cs typeface="Consolas" panose="020B0609020204030204" pitchFamily="49" charset="0"/>
              </a:rPr>
              <a:t>int</a:t>
            </a:r>
            <a:r>
              <a:rPr lang="fr-FR" dirty="0"/>
              <a:t>, </a:t>
            </a:r>
            <a:r>
              <a:rPr lang="fr-FR" sz="2400" dirty="0">
                <a:solidFill>
                  <a:schemeClr val="accent4"/>
                </a:solidFill>
                <a:latin typeface="Consolas" panose="020B0609020204030204" pitchFamily="49" charset="0"/>
                <a:cs typeface="Consolas" panose="020B0609020204030204" pitchFamily="49" charset="0"/>
              </a:rPr>
              <a:t>long</a:t>
            </a:r>
            <a:r>
              <a:rPr lang="fr-FR" dirty="0"/>
              <a:t>, </a:t>
            </a:r>
            <a:r>
              <a:rPr lang="fr-FR" sz="2400" dirty="0">
                <a:solidFill>
                  <a:schemeClr val="accent4"/>
                </a:solidFill>
                <a:latin typeface="Consolas" panose="020B0609020204030204" pitchFamily="49" charset="0"/>
                <a:cs typeface="Consolas" panose="020B0609020204030204" pitchFamily="49" charset="0"/>
              </a:rPr>
              <a:t>char</a:t>
            </a:r>
            <a:r>
              <a:rPr lang="fr-FR" dirty="0"/>
              <a:t>, </a:t>
            </a:r>
            <a:r>
              <a:rPr lang="fr-FR" sz="2400" dirty="0">
                <a:solidFill>
                  <a:schemeClr val="accent4"/>
                </a:solidFill>
                <a:latin typeface="Consolas" panose="020B0609020204030204" pitchFamily="49" charset="0"/>
                <a:cs typeface="Consolas" panose="020B0609020204030204" pitchFamily="49" charset="0"/>
              </a:rPr>
              <a:t>double</a:t>
            </a:r>
            <a:r>
              <a:rPr lang="fr-FR" dirty="0"/>
              <a:t>, </a:t>
            </a:r>
            <a:r>
              <a:rPr lang="fr-FR" sz="2400" dirty="0" err="1">
                <a:solidFill>
                  <a:schemeClr val="accent4"/>
                </a:solidFill>
                <a:latin typeface="Consolas" panose="020B0609020204030204" pitchFamily="49" charset="0"/>
                <a:cs typeface="Consolas" panose="020B0609020204030204" pitchFamily="49" charset="0"/>
              </a:rPr>
              <a:t>float</a:t>
            </a:r>
            <a:r>
              <a:rPr lang="fr-FR" dirty="0"/>
              <a:t>), il existe une classe correspondante appelée </a:t>
            </a:r>
            <a:r>
              <a:rPr lang="fr-FR" dirty="0" err="1"/>
              <a:t>Wrapper</a:t>
            </a:r>
            <a:r>
              <a:rPr lang="fr-FR" dirty="0"/>
              <a:t>.</a:t>
            </a:r>
          </a:p>
        </p:txBody>
      </p:sp>
      <p:graphicFrame>
        <p:nvGraphicFramePr>
          <p:cNvPr id="4" name="Tableau 4">
            <a:extLst>
              <a:ext uri="{FF2B5EF4-FFF2-40B4-BE49-F238E27FC236}">
                <a16:creationId xmlns:a16="http://schemas.microsoft.com/office/drawing/2014/main" id="{FAE774F1-7D19-410A-C1F2-902076F653DC}"/>
              </a:ext>
            </a:extLst>
          </p:cNvPr>
          <p:cNvGraphicFramePr>
            <a:graphicFrameLocks noGrp="1"/>
          </p:cNvGraphicFramePr>
          <p:nvPr>
            <p:extLst>
              <p:ext uri="{D42A27DB-BD31-4B8C-83A1-F6EECF244321}">
                <p14:modId xmlns:p14="http://schemas.microsoft.com/office/powerpoint/2010/main" val="551225298"/>
              </p:ext>
            </p:extLst>
          </p:nvPr>
        </p:nvGraphicFramePr>
        <p:xfrm>
          <a:off x="548640" y="3155313"/>
          <a:ext cx="11344479" cy="3332480"/>
        </p:xfrm>
        <a:graphic>
          <a:graphicData uri="http://schemas.openxmlformats.org/drawingml/2006/table">
            <a:tbl>
              <a:tblPr firstRow="1">
                <a:tableStyleId>{5C22544A-7EE6-4342-B048-85BDC9FD1C3A}</a:tableStyleId>
              </a:tblPr>
              <a:tblGrid>
                <a:gridCol w="1498664">
                  <a:extLst>
                    <a:ext uri="{9D8B030D-6E8A-4147-A177-3AD203B41FA5}">
                      <a16:colId xmlns:a16="http://schemas.microsoft.com/office/drawing/2014/main" val="939812460"/>
                    </a:ext>
                  </a:extLst>
                </a:gridCol>
                <a:gridCol w="1437005">
                  <a:extLst>
                    <a:ext uri="{9D8B030D-6E8A-4147-A177-3AD203B41FA5}">
                      <a16:colId xmlns:a16="http://schemas.microsoft.com/office/drawing/2014/main" val="2911015869"/>
                    </a:ext>
                  </a:extLst>
                </a:gridCol>
                <a:gridCol w="8408810">
                  <a:extLst>
                    <a:ext uri="{9D8B030D-6E8A-4147-A177-3AD203B41FA5}">
                      <a16:colId xmlns:a16="http://schemas.microsoft.com/office/drawing/2014/main" val="1498340483"/>
                    </a:ext>
                  </a:extLst>
                </a:gridCol>
              </a:tblGrid>
              <a:tr h="351212">
                <a:tc>
                  <a:txBody>
                    <a:bodyPr/>
                    <a:lstStyle/>
                    <a:p>
                      <a:pPr algn="ctr"/>
                      <a:r>
                        <a:rPr lang="fr-FR" dirty="0"/>
                        <a:t>Type Primitif</a:t>
                      </a:r>
                    </a:p>
                  </a:txBody>
                  <a:tcPr/>
                </a:tc>
                <a:tc>
                  <a:txBody>
                    <a:bodyPr/>
                    <a:lstStyle/>
                    <a:p>
                      <a:pPr algn="ctr"/>
                      <a:r>
                        <a:rPr lang="fr-FR" dirty="0" err="1"/>
                        <a:t>Wrapper</a:t>
                      </a:r>
                      <a:endParaRPr lang="fr-FR" dirty="0"/>
                    </a:p>
                  </a:txBody>
                  <a:tcPr/>
                </a:tc>
                <a:tc>
                  <a:txBody>
                    <a:bodyPr/>
                    <a:lstStyle/>
                    <a:p>
                      <a:r>
                        <a:rPr lang="fr-FR" dirty="0" err="1"/>
                        <a:t>javadoc</a:t>
                      </a:r>
                      <a:endParaRPr lang="fr-FR" dirty="0"/>
                    </a:p>
                  </a:txBody>
                  <a:tcPr/>
                </a:tc>
                <a:extLst>
                  <a:ext uri="{0D108BD9-81ED-4DB2-BD59-A6C34878D82A}">
                    <a16:rowId xmlns:a16="http://schemas.microsoft.com/office/drawing/2014/main" val="4229854325"/>
                  </a:ext>
                </a:extLst>
              </a:tr>
              <a:tr h="370840">
                <a:tc>
                  <a:txBody>
                    <a:bodyPr/>
                    <a:lstStyle/>
                    <a:p>
                      <a:pPr algn="ctr"/>
                      <a:r>
                        <a:rPr lang="fr-BE" sz="1800" b="0" kern="1200" dirty="0" err="1">
                          <a:solidFill>
                            <a:schemeClr val="accent2"/>
                          </a:solidFill>
                          <a:latin typeface="Consolas" panose="020B0609020204030204" pitchFamily="49" charset="0"/>
                          <a:ea typeface="+mn-ea"/>
                          <a:cs typeface="Consolas" panose="020B0609020204030204" pitchFamily="49" charset="0"/>
                        </a:rPr>
                        <a:t>byte</a:t>
                      </a:r>
                      <a:endParaRPr lang="fr-BE" sz="1800" b="0" kern="1200" dirty="0">
                        <a:solidFill>
                          <a:schemeClr val="accent2"/>
                        </a:solidFill>
                        <a:latin typeface="Consolas" panose="020B0609020204030204" pitchFamily="49" charset="0"/>
                        <a:ea typeface="+mn-ea"/>
                        <a:cs typeface="Consolas" panose="020B0609020204030204" pitchFamily="49" charset="0"/>
                      </a:endParaRPr>
                    </a:p>
                  </a:txBody>
                  <a:tcPr/>
                </a:tc>
                <a:tc>
                  <a:txBody>
                    <a:bodyPr/>
                    <a:lstStyle/>
                    <a:p>
                      <a:pPr algn="ctr"/>
                      <a:r>
                        <a:rPr lang="fr-FR" sz="1800" b="0" dirty="0">
                          <a:solidFill>
                            <a:schemeClr val="accent2"/>
                          </a:solidFill>
                          <a:latin typeface="Consolas" panose="020B0609020204030204" pitchFamily="49" charset="0"/>
                          <a:cs typeface="Consolas" panose="020B0609020204030204" pitchFamily="49" charset="0"/>
                        </a:rPr>
                        <a:t>Byte</a:t>
                      </a:r>
                    </a:p>
                  </a:txBody>
                  <a:tcPr/>
                </a:tc>
                <a:tc>
                  <a:txBody>
                    <a:bodyPr/>
                    <a:lstStyle/>
                    <a:p>
                      <a:r>
                        <a:rPr lang="fr-FR" dirty="0">
                          <a:solidFill>
                            <a:schemeClr val="accent5"/>
                          </a:solidFill>
                          <a:hlinkClick r:id="rId2">
                            <a:extLst>
                              <a:ext uri="{A12FA001-AC4F-418D-AE19-62706E023703}">
                                <ahyp:hlinkClr xmlns:ahyp="http://schemas.microsoft.com/office/drawing/2018/hyperlinkcolor" val="tx"/>
                              </a:ext>
                            </a:extLst>
                          </a:hlinkClick>
                        </a:rPr>
                        <a:t>https://docs.oracle.com/en/java/javase/18/docs/api/java.base/java/lang/Byte.html</a:t>
                      </a:r>
                      <a:endParaRPr lang="fr-FR" dirty="0">
                        <a:solidFill>
                          <a:schemeClr val="accent5"/>
                        </a:solidFill>
                      </a:endParaRPr>
                    </a:p>
                  </a:txBody>
                  <a:tcPr/>
                </a:tc>
                <a:extLst>
                  <a:ext uri="{0D108BD9-81ED-4DB2-BD59-A6C34878D82A}">
                    <a16:rowId xmlns:a16="http://schemas.microsoft.com/office/drawing/2014/main" val="382917972"/>
                  </a:ext>
                </a:extLst>
              </a:tr>
              <a:tr h="370840">
                <a:tc>
                  <a:txBody>
                    <a:bodyPr/>
                    <a:lstStyle/>
                    <a:p>
                      <a:pPr algn="ctr"/>
                      <a:r>
                        <a:rPr lang="fr-BE" sz="1800" b="0" kern="1200" dirty="0">
                          <a:solidFill>
                            <a:schemeClr val="accent2"/>
                          </a:solidFill>
                          <a:latin typeface="Consolas" panose="020B0609020204030204" pitchFamily="49" charset="0"/>
                          <a:ea typeface="+mn-ea"/>
                          <a:cs typeface="Consolas" panose="020B0609020204030204" pitchFamily="49" charset="0"/>
                        </a:rPr>
                        <a:t>short</a:t>
                      </a:r>
                    </a:p>
                  </a:txBody>
                  <a:tcPr/>
                </a:tc>
                <a:tc>
                  <a:txBody>
                    <a:bodyPr/>
                    <a:lstStyle/>
                    <a:p>
                      <a:pPr algn="ctr"/>
                      <a:r>
                        <a:rPr lang="fr-FR" sz="1800" b="0" dirty="0">
                          <a:solidFill>
                            <a:schemeClr val="accent2"/>
                          </a:solidFill>
                          <a:latin typeface="Consolas" panose="020B0609020204030204" pitchFamily="49" charset="0"/>
                          <a:cs typeface="Consolas" panose="020B0609020204030204" pitchFamily="49" charset="0"/>
                        </a:rPr>
                        <a:t>Short</a:t>
                      </a:r>
                    </a:p>
                  </a:txBody>
                  <a:tcPr/>
                </a:tc>
                <a:tc>
                  <a:txBody>
                    <a:bodyPr/>
                    <a:lstStyle/>
                    <a:p>
                      <a:r>
                        <a:rPr lang="fr-FR" dirty="0">
                          <a:solidFill>
                            <a:schemeClr val="accent5"/>
                          </a:solidFill>
                          <a:hlinkClick r:id="rId3">
                            <a:extLst>
                              <a:ext uri="{A12FA001-AC4F-418D-AE19-62706E023703}">
                                <ahyp:hlinkClr xmlns:ahyp="http://schemas.microsoft.com/office/drawing/2018/hyperlinkcolor" val="tx"/>
                              </a:ext>
                            </a:extLst>
                          </a:hlinkClick>
                        </a:rPr>
                        <a:t>https://docs.oracle.com/en/java/javase/18/docs/api/java.base/java/lang/Short.html</a:t>
                      </a:r>
                      <a:endParaRPr lang="fr-FR" dirty="0">
                        <a:solidFill>
                          <a:schemeClr val="accent5"/>
                        </a:solidFill>
                      </a:endParaRPr>
                    </a:p>
                  </a:txBody>
                  <a:tcPr/>
                </a:tc>
                <a:extLst>
                  <a:ext uri="{0D108BD9-81ED-4DB2-BD59-A6C34878D82A}">
                    <a16:rowId xmlns:a16="http://schemas.microsoft.com/office/drawing/2014/main" val="477454643"/>
                  </a:ext>
                </a:extLst>
              </a:tr>
              <a:tr h="370840">
                <a:tc>
                  <a:txBody>
                    <a:bodyPr/>
                    <a:lstStyle/>
                    <a:p>
                      <a:pPr algn="ctr"/>
                      <a:r>
                        <a:rPr lang="fr-BE" sz="1800" b="0" kern="1200" dirty="0" err="1">
                          <a:solidFill>
                            <a:schemeClr val="accent2"/>
                          </a:solidFill>
                          <a:latin typeface="Consolas" panose="020B0609020204030204" pitchFamily="49" charset="0"/>
                          <a:ea typeface="+mn-ea"/>
                          <a:cs typeface="Consolas" panose="020B0609020204030204" pitchFamily="49" charset="0"/>
                        </a:rPr>
                        <a:t>int</a:t>
                      </a:r>
                      <a:endParaRPr lang="fr-BE" sz="1800" b="0" kern="1200" dirty="0">
                        <a:solidFill>
                          <a:schemeClr val="accent2"/>
                        </a:solidFill>
                        <a:latin typeface="Consolas" panose="020B0609020204030204" pitchFamily="49" charset="0"/>
                        <a:ea typeface="+mn-ea"/>
                        <a:cs typeface="Consolas" panose="020B0609020204030204" pitchFamily="49" charset="0"/>
                      </a:endParaRPr>
                    </a:p>
                  </a:txBody>
                  <a:tcPr/>
                </a:tc>
                <a:tc>
                  <a:txBody>
                    <a:bodyPr/>
                    <a:lstStyle/>
                    <a:p>
                      <a:pPr algn="ctr"/>
                      <a:r>
                        <a:rPr lang="fr-FR" sz="1800" b="0" dirty="0">
                          <a:solidFill>
                            <a:schemeClr val="accent2"/>
                          </a:solidFill>
                          <a:latin typeface="Consolas" panose="020B0609020204030204" pitchFamily="49" charset="0"/>
                          <a:cs typeface="Consolas" panose="020B0609020204030204" pitchFamily="49" charset="0"/>
                        </a:rPr>
                        <a:t>Integer</a:t>
                      </a:r>
                    </a:p>
                  </a:txBody>
                  <a:tcPr/>
                </a:tc>
                <a:tc>
                  <a:txBody>
                    <a:bodyPr/>
                    <a:lstStyle/>
                    <a:p>
                      <a:r>
                        <a:rPr lang="fr-FR" dirty="0">
                          <a:solidFill>
                            <a:schemeClr val="accent5"/>
                          </a:solidFill>
                          <a:hlinkClick r:id="rId4">
                            <a:extLst>
                              <a:ext uri="{A12FA001-AC4F-418D-AE19-62706E023703}">
                                <ahyp:hlinkClr xmlns:ahyp="http://schemas.microsoft.com/office/drawing/2018/hyperlinkcolor" val="tx"/>
                              </a:ext>
                            </a:extLst>
                          </a:hlinkClick>
                        </a:rPr>
                        <a:t>https://docs.oracle.com/en/java/javase/18/docs/api/java.base/java/lang/Integer.html</a:t>
                      </a:r>
                      <a:endParaRPr lang="fr-FR" dirty="0">
                        <a:solidFill>
                          <a:schemeClr val="accent5"/>
                        </a:solidFill>
                      </a:endParaRPr>
                    </a:p>
                  </a:txBody>
                  <a:tcPr/>
                </a:tc>
                <a:extLst>
                  <a:ext uri="{0D108BD9-81ED-4DB2-BD59-A6C34878D82A}">
                    <a16:rowId xmlns:a16="http://schemas.microsoft.com/office/drawing/2014/main" val="3275910658"/>
                  </a:ext>
                </a:extLst>
              </a:tr>
              <a:tr h="370840">
                <a:tc>
                  <a:txBody>
                    <a:bodyPr/>
                    <a:lstStyle/>
                    <a:p>
                      <a:pPr algn="ctr"/>
                      <a:r>
                        <a:rPr lang="fr-BE" sz="1800" b="0" kern="1200" dirty="0">
                          <a:solidFill>
                            <a:schemeClr val="accent2"/>
                          </a:solidFill>
                          <a:latin typeface="Consolas" panose="020B0609020204030204" pitchFamily="49" charset="0"/>
                          <a:ea typeface="+mn-ea"/>
                          <a:cs typeface="Consolas" panose="020B0609020204030204" pitchFamily="49" charset="0"/>
                        </a:rPr>
                        <a:t>long</a:t>
                      </a:r>
                    </a:p>
                  </a:txBody>
                  <a:tcPr/>
                </a:tc>
                <a:tc>
                  <a:txBody>
                    <a:bodyPr/>
                    <a:lstStyle/>
                    <a:p>
                      <a:pPr algn="ctr"/>
                      <a:r>
                        <a:rPr lang="fr-FR" sz="1800" b="0" dirty="0">
                          <a:solidFill>
                            <a:schemeClr val="accent2"/>
                          </a:solidFill>
                          <a:latin typeface="Consolas" panose="020B0609020204030204" pitchFamily="49" charset="0"/>
                          <a:cs typeface="Consolas" panose="020B0609020204030204" pitchFamily="49" charset="0"/>
                        </a:rPr>
                        <a:t>Long</a:t>
                      </a:r>
                    </a:p>
                  </a:txBody>
                  <a:tcPr/>
                </a:tc>
                <a:tc>
                  <a:txBody>
                    <a:bodyPr/>
                    <a:lstStyle/>
                    <a:p>
                      <a:r>
                        <a:rPr lang="fr-FR" dirty="0">
                          <a:solidFill>
                            <a:schemeClr val="accent5"/>
                          </a:solidFill>
                          <a:hlinkClick r:id="rId5">
                            <a:extLst>
                              <a:ext uri="{A12FA001-AC4F-418D-AE19-62706E023703}">
                                <ahyp:hlinkClr xmlns:ahyp="http://schemas.microsoft.com/office/drawing/2018/hyperlinkcolor" val="tx"/>
                              </a:ext>
                            </a:extLst>
                          </a:hlinkClick>
                        </a:rPr>
                        <a:t>https://docs.oracle.com/en/java/javase/18/docs/api/java.base/java/lang/Long.html</a:t>
                      </a:r>
                      <a:endParaRPr lang="fr-FR" dirty="0">
                        <a:solidFill>
                          <a:schemeClr val="accent5"/>
                        </a:solidFill>
                      </a:endParaRPr>
                    </a:p>
                  </a:txBody>
                  <a:tcPr/>
                </a:tc>
                <a:extLst>
                  <a:ext uri="{0D108BD9-81ED-4DB2-BD59-A6C34878D82A}">
                    <a16:rowId xmlns:a16="http://schemas.microsoft.com/office/drawing/2014/main" val="3665636912"/>
                  </a:ext>
                </a:extLst>
              </a:tr>
              <a:tr h="370840">
                <a:tc>
                  <a:txBody>
                    <a:bodyPr/>
                    <a:lstStyle/>
                    <a:p>
                      <a:pPr algn="ctr"/>
                      <a:r>
                        <a:rPr lang="fr-BE" sz="1800" b="0" kern="1200" dirty="0">
                          <a:solidFill>
                            <a:schemeClr val="accent2"/>
                          </a:solidFill>
                          <a:latin typeface="Consolas" panose="020B0609020204030204" pitchFamily="49" charset="0"/>
                          <a:ea typeface="+mn-ea"/>
                          <a:cs typeface="Consolas" panose="020B0609020204030204" pitchFamily="49" charset="0"/>
                        </a:rPr>
                        <a:t>float</a:t>
                      </a:r>
                    </a:p>
                  </a:txBody>
                  <a:tcPr/>
                </a:tc>
                <a:tc>
                  <a:txBody>
                    <a:bodyPr/>
                    <a:lstStyle/>
                    <a:p>
                      <a:pPr algn="ctr"/>
                      <a:r>
                        <a:rPr lang="fr-FR" sz="1800" b="0" dirty="0" err="1">
                          <a:solidFill>
                            <a:schemeClr val="accent2"/>
                          </a:solidFill>
                          <a:latin typeface="Consolas" panose="020B0609020204030204" pitchFamily="49" charset="0"/>
                          <a:cs typeface="Consolas" panose="020B0609020204030204" pitchFamily="49" charset="0"/>
                        </a:rPr>
                        <a:t>Float</a:t>
                      </a:r>
                      <a:endParaRPr lang="fr-FR" sz="1800" b="0" dirty="0">
                        <a:solidFill>
                          <a:schemeClr val="accent2"/>
                        </a:solidFill>
                        <a:latin typeface="Consolas" panose="020B0609020204030204" pitchFamily="49" charset="0"/>
                        <a:cs typeface="Consolas" panose="020B0609020204030204" pitchFamily="49" charset="0"/>
                      </a:endParaRPr>
                    </a:p>
                  </a:txBody>
                  <a:tcPr/>
                </a:tc>
                <a:tc>
                  <a:txBody>
                    <a:bodyPr/>
                    <a:lstStyle/>
                    <a:p>
                      <a:r>
                        <a:rPr lang="fr-FR" dirty="0">
                          <a:solidFill>
                            <a:schemeClr val="accent5"/>
                          </a:solidFill>
                          <a:hlinkClick r:id="rId6">
                            <a:extLst>
                              <a:ext uri="{A12FA001-AC4F-418D-AE19-62706E023703}">
                                <ahyp:hlinkClr xmlns:ahyp="http://schemas.microsoft.com/office/drawing/2018/hyperlinkcolor" val="tx"/>
                              </a:ext>
                            </a:extLst>
                          </a:hlinkClick>
                        </a:rPr>
                        <a:t>https://docs.oracle.com/en/java/javase/18/docs/api/java.base/java/lang/Float.html</a:t>
                      </a:r>
                      <a:endParaRPr lang="fr-FR" dirty="0">
                        <a:solidFill>
                          <a:schemeClr val="accent5"/>
                        </a:solidFill>
                      </a:endParaRPr>
                    </a:p>
                  </a:txBody>
                  <a:tcPr/>
                </a:tc>
                <a:extLst>
                  <a:ext uri="{0D108BD9-81ED-4DB2-BD59-A6C34878D82A}">
                    <a16:rowId xmlns:a16="http://schemas.microsoft.com/office/drawing/2014/main" val="527728548"/>
                  </a:ext>
                </a:extLst>
              </a:tr>
              <a:tr h="370840">
                <a:tc>
                  <a:txBody>
                    <a:bodyPr/>
                    <a:lstStyle/>
                    <a:p>
                      <a:pPr algn="ctr"/>
                      <a:r>
                        <a:rPr lang="fr-BE" sz="1800" b="0" kern="1200" dirty="0">
                          <a:solidFill>
                            <a:schemeClr val="accent2"/>
                          </a:solidFill>
                          <a:latin typeface="Consolas" panose="020B0609020204030204" pitchFamily="49" charset="0"/>
                          <a:ea typeface="+mn-ea"/>
                          <a:cs typeface="Consolas" panose="020B0609020204030204" pitchFamily="49" charset="0"/>
                        </a:rPr>
                        <a:t>double</a:t>
                      </a:r>
                    </a:p>
                  </a:txBody>
                  <a:tcPr/>
                </a:tc>
                <a:tc>
                  <a:txBody>
                    <a:bodyPr/>
                    <a:lstStyle/>
                    <a:p>
                      <a:pPr algn="ctr"/>
                      <a:r>
                        <a:rPr lang="fr-FR" sz="1800" b="0" dirty="0">
                          <a:solidFill>
                            <a:schemeClr val="accent2"/>
                          </a:solidFill>
                          <a:latin typeface="Consolas" panose="020B0609020204030204" pitchFamily="49" charset="0"/>
                          <a:cs typeface="Consolas" panose="020B0609020204030204" pitchFamily="49" charset="0"/>
                        </a:rPr>
                        <a:t>Double</a:t>
                      </a:r>
                    </a:p>
                  </a:txBody>
                  <a:tcPr/>
                </a:tc>
                <a:tc>
                  <a:txBody>
                    <a:bodyPr/>
                    <a:lstStyle/>
                    <a:p>
                      <a:r>
                        <a:rPr lang="fr-FR" dirty="0">
                          <a:solidFill>
                            <a:schemeClr val="accent5"/>
                          </a:solidFill>
                          <a:hlinkClick r:id="rId7">
                            <a:extLst>
                              <a:ext uri="{A12FA001-AC4F-418D-AE19-62706E023703}">
                                <ahyp:hlinkClr xmlns:ahyp="http://schemas.microsoft.com/office/drawing/2018/hyperlinkcolor" val="tx"/>
                              </a:ext>
                            </a:extLst>
                          </a:hlinkClick>
                        </a:rPr>
                        <a:t>https://docs.oracle.com/en/java/javase/18/docs/api/java.base/java/lang/Double.html</a:t>
                      </a:r>
                      <a:endParaRPr lang="fr-FR" dirty="0">
                        <a:solidFill>
                          <a:schemeClr val="accent5"/>
                        </a:solidFill>
                      </a:endParaRPr>
                    </a:p>
                  </a:txBody>
                  <a:tcPr/>
                </a:tc>
                <a:extLst>
                  <a:ext uri="{0D108BD9-81ED-4DB2-BD59-A6C34878D82A}">
                    <a16:rowId xmlns:a16="http://schemas.microsoft.com/office/drawing/2014/main" val="2721095096"/>
                  </a:ext>
                </a:extLst>
              </a:tr>
              <a:tr h="370840">
                <a:tc>
                  <a:txBody>
                    <a:bodyPr/>
                    <a:lstStyle/>
                    <a:p>
                      <a:pPr algn="ctr"/>
                      <a:r>
                        <a:rPr lang="fr-BE" sz="1800" b="0" kern="1200" dirty="0">
                          <a:solidFill>
                            <a:schemeClr val="accent2"/>
                          </a:solidFill>
                          <a:latin typeface="Consolas" panose="020B0609020204030204" pitchFamily="49" charset="0"/>
                          <a:ea typeface="+mn-ea"/>
                          <a:cs typeface="Consolas" panose="020B0609020204030204" pitchFamily="49" charset="0"/>
                        </a:rPr>
                        <a:t>char</a:t>
                      </a:r>
                    </a:p>
                  </a:txBody>
                  <a:tcPr/>
                </a:tc>
                <a:tc>
                  <a:txBody>
                    <a:bodyPr/>
                    <a:lstStyle/>
                    <a:p>
                      <a:pPr algn="ctr"/>
                      <a:r>
                        <a:rPr lang="fr-FR" sz="1800" b="0" dirty="0" err="1">
                          <a:solidFill>
                            <a:schemeClr val="accent2"/>
                          </a:solidFill>
                          <a:latin typeface="Consolas" panose="020B0609020204030204" pitchFamily="49" charset="0"/>
                          <a:cs typeface="Consolas" panose="020B0609020204030204" pitchFamily="49" charset="0"/>
                        </a:rPr>
                        <a:t>Character</a:t>
                      </a:r>
                      <a:endParaRPr lang="fr-FR" sz="1800" b="0" dirty="0">
                        <a:solidFill>
                          <a:schemeClr val="accent2"/>
                        </a:solidFill>
                        <a:latin typeface="Consolas" panose="020B0609020204030204" pitchFamily="49" charset="0"/>
                        <a:cs typeface="Consolas" panose="020B0609020204030204" pitchFamily="49" charset="0"/>
                      </a:endParaRPr>
                    </a:p>
                  </a:txBody>
                  <a:tcPr/>
                </a:tc>
                <a:tc>
                  <a:txBody>
                    <a:bodyPr/>
                    <a:lstStyle/>
                    <a:p>
                      <a:r>
                        <a:rPr lang="fr-FR" dirty="0">
                          <a:solidFill>
                            <a:schemeClr val="accent5"/>
                          </a:solidFill>
                          <a:hlinkClick r:id="rId8">
                            <a:extLst>
                              <a:ext uri="{A12FA001-AC4F-418D-AE19-62706E023703}">
                                <ahyp:hlinkClr xmlns:ahyp="http://schemas.microsoft.com/office/drawing/2018/hyperlinkcolor" val="tx"/>
                              </a:ext>
                            </a:extLst>
                          </a:hlinkClick>
                        </a:rPr>
                        <a:t>https://docs.oracle.com/en/java/javase/18/docs/api/java.base/java/lang/Character.html</a:t>
                      </a:r>
                      <a:r>
                        <a:rPr lang="fr-FR" dirty="0">
                          <a:solidFill>
                            <a:schemeClr val="accent5"/>
                          </a:solidFill>
                        </a:rPr>
                        <a:t> </a:t>
                      </a:r>
                    </a:p>
                  </a:txBody>
                  <a:tcPr/>
                </a:tc>
                <a:extLst>
                  <a:ext uri="{0D108BD9-81ED-4DB2-BD59-A6C34878D82A}">
                    <a16:rowId xmlns:a16="http://schemas.microsoft.com/office/drawing/2014/main" val="2483451707"/>
                  </a:ext>
                </a:extLst>
              </a:tr>
              <a:tr h="370840">
                <a:tc>
                  <a:txBody>
                    <a:bodyPr/>
                    <a:lstStyle/>
                    <a:p>
                      <a:pPr algn="ctr"/>
                      <a:r>
                        <a:rPr lang="fr-BE" sz="1800" b="0" kern="1200" dirty="0" err="1">
                          <a:solidFill>
                            <a:schemeClr val="accent2"/>
                          </a:solidFill>
                          <a:latin typeface="Consolas" panose="020B0609020204030204" pitchFamily="49" charset="0"/>
                          <a:ea typeface="+mn-ea"/>
                          <a:cs typeface="Consolas" panose="020B0609020204030204" pitchFamily="49" charset="0"/>
                        </a:rPr>
                        <a:t>boolean</a:t>
                      </a:r>
                      <a:endParaRPr lang="fr-BE" sz="1800" b="0" kern="1200" dirty="0">
                        <a:solidFill>
                          <a:schemeClr val="accent2"/>
                        </a:solidFill>
                        <a:latin typeface="Consolas" panose="020B0609020204030204" pitchFamily="49" charset="0"/>
                        <a:ea typeface="+mn-ea"/>
                        <a:cs typeface="Consolas" panose="020B0609020204030204" pitchFamily="49" charset="0"/>
                      </a:endParaRPr>
                    </a:p>
                  </a:txBody>
                  <a:tcPr/>
                </a:tc>
                <a:tc>
                  <a:txBody>
                    <a:bodyPr/>
                    <a:lstStyle/>
                    <a:p>
                      <a:pPr algn="ctr"/>
                      <a:r>
                        <a:rPr lang="fr-FR" sz="1800" b="0" dirty="0">
                          <a:solidFill>
                            <a:schemeClr val="accent2"/>
                          </a:solidFill>
                          <a:latin typeface="Consolas" panose="020B0609020204030204" pitchFamily="49" charset="0"/>
                          <a:cs typeface="Consolas" panose="020B0609020204030204" pitchFamily="49" charset="0"/>
                        </a:rPr>
                        <a:t>Boolean</a:t>
                      </a:r>
                    </a:p>
                  </a:txBody>
                  <a:tcPr/>
                </a:tc>
                <a:tc>
                  <a:txBody>
                    <a:bodyPr/>
                    <a:lstStyle/>
                    <a:p>
                      <a:r>
                        <a:rPr lang="fr-FR" dirty="0">
                          <a:solidFill>
                            <a:schemeClr val="accent5"/>
                          </a:solidFill>
                          <a:hlinkClick r:id="rId9">
                            <a:extLst>
                              <a:ext uri="{A12FA001-AC4F-418D-AE19-62706E023703}">
                                <ahyp:hlinkClr xmlns:ahyp="http://schemas.microsoft.com/office/drawing/2018/hyperlinkcolor" val="tx"/>
                              </a:ext>
                            </a:extLst>
                          </a:hlinkClick>
                        </a:rPr>
                        <a:t>https://docs.oracle.com/en/java/javase/18/docs/api/java.base/java/lang/Boolean.html</a:t>
                      </a:r>
                      <a:r>
                        <a:rPr lang="fr-FR" dirty="0">
                          <a:solidFill>
                            <a:schemeClr val="accent5"/>
                          </a:solidFill>
                        </a:rPr>
                        <a:t> </a:t>
                      </a:r>
                    </a:p>
                  </a:txBody>
                  <a:tcPr/>
                </a:tc>
                <a:extLst>
                  <a:ext uri="{0D108BD9-81ED-4DB2-BD59-A6C34878D82A}">
                    <a16:rowId xmlns:a16="http://schemas.microsoft.com/office/drawing/2014/main" val="3160444575"/>
                  </a:ext>
                </a:extLst>
              </a:tr>
            </a:tbl>
          </a:graphicData>
        </a:graphic>
      </p:graphicFrame>
      <p:sp>
        <p:nvSpPr>
          <p:cNvPr id="5" name="Espace réservé du numéro de diapositive 4">
            <a:extLst>
              <a:ext uri="{FF2B5EF4-FFF2-40B4-BE49-F238E27FC236}">
                <a16:creationId xmlns:a16="http://schemas.microsoft.com/office/drawing/2014/main" id="{73FD2C11-2809-2117-89F7-89E2C12A2EAE}"/>
              </a:ext>
            </a:extLst>
          </p:cNvPr>
          <p:cNvSpPr>
            <a:spLocks noGrp="1"/>
          </p:cNvSpPr>
          <p:nvPr>
            <p:ph type="sldNum" sz="quarter" idx="4"/>
          </p:nvPr>
        </p:nvSpPr>
        <p:spPr/>
        <p:txBody>
          <a:bodyPr/>
          <a:lstStyle/>
          <a:p>
            <a:fld id="{33C783E2-4793-4F48-A271-51A73CC37D74}" type="slidenum">
              <a:rPr lang="fr-FR" smtClean="0"/>
              <a:t>62</a:t>
            </a:fld>
            <a:endParaRPr lang="fr-FR"/>
          </a:p>
        </p:txBody>
      </p:sp>
    </p:spTree>
    <p:extLst>
      <p:ext uri="{BB962C8B-B14F-4D97-AF65-F5344CB8AC3E}">
        <p14:creationId xmlns:p14="http://schemas.microsoft.com/office/powerpoint/2010/main" val="2121811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672782-2206-CD6A-DB09-2243CE2F95E3}"/>
              </a:ext>
            </a:extLst>
          </p:cNvPr>
          <p:cNvSpPr>
            <a:spLocks noGrp="1"/>
          </p:cNvSpPr>
          <p:nvPr>
            <p:ph type="title"/>
          </p:nvPr>
        </p:nvSpPr>
        <p:spPr/>
        <p:txBody>
          <a:bodyPr/>
          <a:lstStyle/>
          <a:p>
            <a:r>
              <a:rPr lang="fr-FR" dirty="0"/>
              <a:t>Types primitifs et </a:t>
            </a:r>
            <a:r>
              <a:rPr lang="fr-FR" dirty="0" err="1"/>
              <a:t>Wrappers</a:t>
            </a:r>
            <a:endParaRPr lang="fr-FR" dirty="0"/>
          </a:p>
        </p:txBody>
      </p:sp>
      <p:sp>
        <p:nvSpPr>
          <p:cNvPr id="3" name="Espace réservé du contenu 2">
            <a:extLst>
              <a:ext uri="{FF2B5EF4-FFF2-40B4-BE49-F238E27FC236}">
                <a16:creationId xmlns:a16="http://schemas.microsoft.com/office/drawing/2014/main" id="{8D0C04D3-CA06-CC76-64AF-382D13D3760B}"/>
              </a:ext>
            </a:extLst>
          </p:cNvPr>
          <p:cNvSpPr>
            <a:spLocks noGrp="1"/>
          </p:cNvSpPr>
          <p:nvPr>
            <p:ph idx="1"/>
          </p:nvPr>
        </p:nvSpPr>
        <p:spPr>
          <a:xfrm>
            <a:off x="838199" y="1825625"/>
            <a:ext cx="10715045" cy="4351338"/>
          </a:xfrm>
        </p:spPr>
        <p:txBody>
          <a:bodyPr>
            <a:normAutofit fontScale="92500" lnSpcReduction="10000"/>
          </a:bodyPr>
          <a:lstStyle/>
          <a:p>
            <a:pPr marL="0" indent="0">
              <a:buNone/>
            </a:pPr>
            <a:r>
              <a:rPr lang="fr-FR" dirty="0"/>
              <a:t>Les </a:t>
            </a:r>
            <a:r>
              <a:rPr lang="fr-FR" dirty="0" err="1"/>
              <a:t>Wrappers</a:t>
            </a:r>
            <a:r>
              <a:rPr lang="fr-FR" dirty="0"/>
              <a:t> (classes enveloppantes) présentent </a:t>
            </a:r>
          </a:p>
          <a:p>
            <a:r>
              <a:rPr lang="fr-FR" dirty="0"/>
              <a:t>des méthodes qui permettent la conversion de String à type primitif:</a:t>
            </a:r>
          </a:p>
          <a:p>
            <a:pPr marL="0" indent="0" algn="ctr">
              <a:buNone/>
            </a:pPr>
            <a:r>
              <a:rPr lang="fr-FR" dirty="0"/>
              <a:t> </a:t>
            </a:r>
            <a:r>
              <a:rPr lang="fr-BE" sz="2400" b="0" i="0" u="none" strike="noStrike" dirty="0" err="1">
                <a:solidFill>
                  <a:schemeClr val="accent4"/>
                </a:solidFill>
                <a:effectLst/>
                <a:latin typeface="Consolas" panose="020B0609020204030204" pitchFamily="49" charset="0"/>
                <a:cs typeface="Consolas" panose="020B0609020204030204" pitchFamily="49" charset="0"/>
              </a:rPr>
              <a:t>static</a:t>
            </a:r>
            <a:r>
              <a:rPr lang="fr-BE" sz="2400" b="0" i="0" u="none" strike="noStrike" dirty="0">
                <a:solidFill>
                  <a:schemeClr val="accent4"/>
                </a:solidFill>
                <a:effectLst/>
                <a:latin typeface="Consolas" panose="020B0609020204030204" pitchFamily="49" charset="0"/>
                <a:cs typeface="Consolas" panose="020B0609020204030204" pitchFamily="49" charset="0"/>
              </a:rPr>
              <a:t> </a:t>
            </a:r>
            <a:r>
              <a:rPr lang="fr-BE" sz="2400" b="0" i="0" u="none" strike="noStrike" dirty="0" err="1">
                <a:solidFill>
                  <a:schemeClr val="accent4"/>
                </a:solidFill>
                <a:effectLst/>
                <a:latin typeface="Consolas" panose="020B0609020204030204" pitchFamily="49" charset="0"/>
                <a:cs typeface="Consolas" panose="020B0609020204030204" pitchFamily="49" charset="0"/>
              </a:rPr>
              <a:t>int</a:t>
            </a:r>
            <a:r>
              <a:rPr lang="fr-BE" sz="2400" b="0" i="0" u="none" strike="noStrike" dirty="0">
                <a:solidFill>
                  <a:schemeClr val="accent4"/>
                </a:solidFill>
                <a:effectLst/>
                <a:latin typeface="Consolas" panose="020B0609020204030204" pitchFamily="49" charset="0"/>
                <a:cs typeface="Consolas" panose="020B0609020204030204" pitchFamily="49" charset="0"/>
              </a:rPr>
              <a:t> </a:t>
            </a:r>
            <a:r>
              <a:rPr lang="fr-BE" sz="2400" b="0" i="0" u="none" strike="noStrike" dirty="0" err="1">
                <a:solidFill>
                  <a:schemeClr val="accent4"/>
                </a:solidFill>
                <a:effectLst/>
                <a:latin typeface="Consolas" panose="020B0609020204030204" pitchFamily="49" charset="0"/>
                <a:cs typeface="Consolas" panose="020B0609020204030204" pitchFamily="49" charset="0"/>
              </a:rPr>
              <a:t>parseInt</a:t>
            </a:r>
            <a:r>
              <a:rPr lang="fr-BE" sz="2400" b="0" i="0" u="none" strike="noStrike" dirty="0">
                <a:solidFill>
                  <a:schemeClr val="accent4"/>
                </a:solidFill>
                <a:effectLst/>
                <a:latin typeface="Consolas" panose="020B0609020204030204" pitchFamily="49" charset="0"/>
                <a:cs typeface="Consolas" panose="020B0609020204030204" pitchFamily="49" charset="0"/>
              </a:rPr>
              <a:t>(String </a:t>
            </a:r>
            <a:r>
              <a:rPr lang="fr-BE" sz="2400" b="0" i="0" u="none" strike="noStrike" dirty="0" err="1">
                <a:solidFill>
                  <a:schemeClr val="accent4"/>
                </a:solidFill>
                <a:effectLst/>
                <a:latin typeface="Consolas" panose="020B0609020204030204" pitchFamily="49" charset="0"/>
                <a:cs typeface="Consolas" panose="020B0609020204030204" pitchFamily="49" charset="0"/>
              </a:rPr>
              <a:t>str</a:t>
            </a:r>
            <a:r>
              <a:rPr lang="fr-BE" sz="2400" b="0" i="0" u="none" strike="noStrike" dirty="0">
                <a:solidFill>
                  <a:schemeClr val="accent4"/>
                </a:solidFill>
                <a:effectLst/>
                <a:latin typeface="Consolas" panose="020B0609020204030204" pitchFamily="49" charset="0"/>
                <a:cs typeface="Consolas" panose="020B0609020204030204" pitchFamily="49" charset="0"/>
              </a:rPr>
              <a:t>);</a:t>
            </a:r>
            <a:endParaRPr lang="fr-FR" dirty="0">
              <a:solidFill>
                <a:schemeClr val="accent4"/>
              </a:solidFill>
              <a:latin typeface="Consolas" panose="020B0609020204030204" pitchFamily="49" charset="0"/>
              <a:cs typeface="Consolas" panose="020B0609020204030204" pitchFamily="49" charset="0"/>
            </a:endParaRPr>
          </a:p>
          <a:p>
            <a:r>
              <a:rPr lang="fr-FR" dirty="0"/>
              <a:t> des constantes utiles: </a:t>
            </a:r>
          </a:p>
          <a:p>
            <a:pPr marL="0" indent="0" algn="ctr">
              <a:buNone/>
            </a:pPr>
            <a:r>
              <a:rPr lang="fr-BE" sz="2300" dirty="0" err="1">
                <a:solidFill>
                  <a:schemeClr val="accent4"/>
                </a:solidFill>
                <a:latin typeface="Consolas" panose="020B0609020204030204" pitchFamily="49" charset="0"/>
                <a:cs typeface="Consolas" panose="020B0609020204030204" pitchFamily="49" charset="0"/>
              </a:rPr>
              <a:t>Integer.MIN_VALUE</a:t>
            </a:r>
            <a:r>
              <a:rPr lang="fr-BE" sz="2300" dirty="0">
                <a:solidFill>
                  <a:schemeClr val="accent4"/>
                </a:solidFill>
                <a:latin typeface="Consolas" panose="020B0609020204030204" pitchFamily="49" charset="0"/>
                <a:cs typeface="Consolas" panose="020B0609020204030204" pitchFamily="49" charset="0"/>
              </a:rPr>
              <a:t>, </a:t>
            </a:r>
            <a:r>
              <a:rPr lang="fr-BE" sz="2300" dirty="0" err="1">
                <a:solidFill>
                  <a:schemeClr val="accent4"/>
                </a:solidFill>
                <a:latin typeface="Consolas" panose="020B0609020204030204" pitchFamily="49" charset="0"/>
                <a:cs typeface="Consolas" panose="020B0609020204030204" pitchFamily="49" charset="0"/>
              </a:rPr>
              <a:t>Integer.MAX_VALUE</a:t>
            </a:r>
            <a:r>
              <a:rPr lang="fr-BE" sz="2300" dirty="0">
                <a:solidFill>
                  <a:schemeClr val="accent4"/>
                </a:solidFill>
                <a:latin typeface="Consolas" panose="020B0609020204030204" pitchFamily="49" charset="0"/>
                <a:cs typeface="Consolas" panose="020B0609020204030204" pitchFamily="49" charset="0"/>
              </a:rPr>
              <a:t>, </a:t>
            </a:r>
            <a:r>
              <a:rPr lang="fr-BE" sz="2300" dirty="0" err="1">
                <a:solidFill>
                  <a:schemeClr val="accent4"/>
                </a:solidFill>
                <a:latin typeface="Consolas" panose="020B0609020204030204" pitchFamily="49" charset="0"/>
                <a:cs typeface="Consolas" panose="020B0609020204030204" pitchFamily="49" charset="0"/>
              </a:rPr>
              <a:t>Double.POSITIVE_INFINITY</a:t>
            </a:r>
            <a:endParaRPr lang="fr-BE" sz="2300" dirty="0">
              <a:solidFill>
                <a:schemeClr val="accent4"/>
              </a:solidFill>
              <a:latin typeface="Consolas" panose="020B0609020204030204" pitchFamily="49" charset="0"/>
              <a:cs typeface="Consolas" panose="020B0609020204030204" pitchFamily="49" charset="0"/>
            </a:endParaRPr>
          </a:p>
          <a:p>
            <a:r>
              <a:rPr lang="fr-FR" dirty="0"/>
              <a:t> des méthodes statiques utiles: </a:t>
            </a:r>
          </a:p>
          <a:p>
            <a:pPr marL="0" indent="0" algn="ctr">
              <a:buNone/>
            </a:pPr>
            <a:r>
              <a:rPr lang="nl-BE" sz="2400" dirty="0">
                <a:solidFill>
                  <a:schemeClr val="accent4"/>
                </a:solidFill>
                <a:latin typeface="Consolas" panose="020B0609020204030204" pitchFamily="49" charset="0"/>
                <a:cs typeface="Consolas" panose="020B0609020204030204" pitchFamily="49" charset="0"/>
              </a:rPr>
              <a:t>Character.isDigit(char c), Character.isSpace(char c)</a:t>
            </a:r>
          </a:p>
          <a:p>
            <a:pPr marL="0" indent="0" algn="ctr">
              <a:buNone/>
            </a:pPr>
            <a:endParaRPr lang="fr-FR" sz="2400" dirty="0">
              <a:solidFill>
                <a:schemeClr val="accent4"/>
              </a:solidFill>
              <a:latin typeface="Consolas" panose="020B0609020204030204" pitchFamily="49" charset="0"/>
              <a:cs typeface="Consolas" panose="020B0609020204030204" pitchFamily="49" charset="0"/>
            </a:endParaRPr>
          </a:p>
          <a:p>
            <a:pPr marL="0" indent="0">
              <a:buNone/>
            </a:pPr>
            <a:r>
              <a:rPr lang="fr-FR" dirty="0"/>
              <a:t>En outre, depuis Java 5.0, l’</a:t>
            </a:r>
            <a:r>
              <a:rPr lang="fr-FR" dirty="0" err="1"/>
              <a:t>auto-boxing</a:t>
            </a:r>
            <a:r>
              <a:rPr lang="fr-FR" dirty="0"/>
              <a:t> et l’unboxing permettent d’écrire :</a:t>
            </a:r>
          </a:p>
          <a:p>
            <a:pPr marL="0" indent="0" algn="ctr">
              <a:buNone/>
            </a:pPr>
            <a:r>
              <a:rPr lang="fr-FR" sz="2400" dirty="0"/>
              <a:t> </a:t>
            </a:r>
            <a:r>
              <a:rPr lang="fr-BE" sz="2400" b="0" i="0" u="none" strike="noStrike" dirty="0">
                <a:solidFill>
                  <a:schemeClr val="accent4"/>
                </a:solidFill>
                <a:effectLst/>
                <a:latin typeface="Consolas" panose="020B0609020204030204" pitchFamily="49" charset="0"/>
                <a:cs typeface="Consolas" panose="020B0609020204030204" pitchFamily="49" charset="0"/>
              </a:rPr>
              <a:t>Integer i = 5; </a:t>
            </a:r>
            <a:r>
              <a:rPr lang="fr-FR" sz="2600" dirty="0"/>
              <a:t>et</a:t>
            </a:r>
            <a:r>
              <a:rPr lang="fr-BE" sz="2400" b="0" i="0" u="none" strike="noStrike" dirty="0">
                <a:solidFill>
                  <a:schemeClr val="accent4"/>
                </a:solidFill>
                <a:effectLst/>
                <a:latin typeface="Consolas" panose="020B0609020204030204" pitchFamily="49" charset="0"/>
                <a:cs typeface="Consolas" panose="020B0609020204030204" pitchFamily="49" charset="0"/>
              </a:rPr>
              <a:t> </a:t>
            </a:r>
            <a:r>
              <a:rPr lang="fr-BE" sz="2400" b="0" i="0" u="none" strike="noStrike" dirty="0" err="1">
                <a:solidFill>
                  <a:schemeClr val="accent4"/>
                </a:solidFill>
                <a:effectLst/>
                <a:latin typeface="Consolas" panose="020B0609020204030204" pitchFamily="49" charset="0"/>
                <a:cs typeface="Consolas" panose="020B0609020204030204" pitchFamily="49" charset="0"/>
              </a:rPr>
              <a:t>int</a:t>
            </a:r>
            <a:r>
              <a:rPr lang="fr-BE" sz="2400" b="0" i="0" u="none" strike="noStrike" dirty="0">
                <a:solidFill>
                  <a:schemeClr val="accent4"/>
                </a:solidFill>
                <a:effectLst/>
                <a:latin typeface="Consolas" panose="020B0609020204030204" pitchFamily="49" charset="0"/>
                <a:cs typeface="Consolas" panose="020B0609020204030204" pitchFamily="49" charset="0"/>
              </a:rPr>
              <a:t> j = i;</a:t>
            </a:r>
            <a:endParaRPr lang="fr-FR" sz="2400" dirty="0">
              <a:solidFill>
                <a:schemeClr val="accent4"/>
              </a:solidFill>
              <a:latin typeface="Consolas" panose="020B0609020204030204" pitchFamily="49" charset="0"/>
              <a:cs typeface="Consolas" panose="020B0609020204030204" pitchFamily="49" charset="0"/>
            </a:endParaRPr>
          </a:p>
          <a:p>
            <a:pPr marL="0" indent="0">
              <a:buNone/>
            </a:pPr>
            <a:endParaRPr lang="fr-FR" dirty="0"/>
          </a:p>
          <a:p>
            <a:pPr marL="0" indent="0" algn="ctr">
              <a:buNone/>
            </a:pPr>
            <a:endParaRPr lang="fr-FR" sz="2400" dirty="0">
              <a:solidFill>
                <a:schemeClr val="accent4"/>
              </a:solidFill>
              <a:latin typeface="Consolas" panose="020B0609020204030204" pitchFamily="49" charset="0"/>
              <a:cs typeface="Consolas" panose="020B0609020204030204" pitchFamily="49" charset="0"/>
            </a:endParaRPr>
          </a:p>
        </p:txBody>
      </p:sp>
      <p:sp>
        <p:nvSpPr>
          <p:cNvPr id="4" name="Espace réservé du numéro de diapositive 3">
            <a:extLst>
              <a:ext uri="{FF2B5EF4-FFF2-40B4-BE49-F238E27FC236}">
                <a16:creationId xmlns:a16="http://schemas.microsoft.com/office/drawing/2014/main" id="{0D2099D1-3F11-EEF3-B981-A8736476DF3B}"/>
              </a:ext>
            </a:extLst>
          </p:cNvPr>
          <p:cNvSpPr>
            <a:spLocks noGrp="1"/>
          </p:cNvSpPr>
          <p:nvPr>
            <p:ph type="sldNum" sz="quarter" idx="4"/>
          </p:nvPr>
        </p:nvSpPr>
        <p:spPr/>
        <p:txBody>
          <a:bodyPr/>
          <a:lstStyle/>
          <a:p>
            <a:fld id="{33C783E2-4793-4F48-A271-51A73CC37D74}" type="slidenum">
              <a:rPr lang="fr-FR" smtClean="0"/>
              <a:t>63</a:t>
            </a:fld>
            <a:endParaRPr lang="fr-FR"/>
          </a:p>
        </p:txBody>
      </p:sp>
    </p:spTree>
    <p:extLst>
      <p:ext uri="{BB962C8B-B14F-4D97-AF65-F5344CB8AC3E}">
        <p14:creationId xmlns:p14="http://schemas.microsoft.com/office/powerpoint/2010/main" val="41927652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31B9F1-2C07-C94A-9528-5E58899CB375}"/>
              </a:ext>
            </a:extLst>
          </p:cNvPr>
          <p:cNvSpPr>
            <a:spLocks noGrp="1"/>
          </p:cNvSpPr>
          <p:nvPr>
            <p:ph type="title"/>
          </p:nvPr>
        </p:nvSpPr>
        <p:spPr/>
        <p:txBody>
          <a:bodyPr/>
          <a:lstStyle/>
          <a:p>
            <a:r>
              <a:rPr lang="fr-FR" dirty="0"/>
              <a:t>Exercice 4</a:t>
            </a:r>
          </a:p>
        </p:txBody>
      </p:sp>
      <p:sp>
        <p:nvSpPr>
          <p:cNvPr id="3" name="Espace réservé du contenu 2">
            <a:extLst>
              <a:ext uri="{FF2B5EF4-FFF2-40B4-BE49-F238E27FC236}">
                <a16:creationId xmlns:a16="http://schemas.microsoft.com/office/drawing/2014/main" id="{6D69007D-F661-1041-9584-8871E41E1A4B}"/>
              </a:ext>
            </a:extLst>
          </p:cNvPr>
          <p:cNvSpPr>
            <a:spLocks noGrp="1"/>
          </p:cNvSpPr>
          <p:nvPr>
            <p:ph idx="1"/>
          </p:nvPr>
        </p:nvSpPr>
        <p:spPr/>
        <p:txBody>
          <a:bodyPr>
            <a:noAutofit/>
          </a:bodyPr>
          <a:lstStyle/>
          <a:p>
            <a:r>
              <a:rPr lang="fr-FR" sz="2400" dirty="0"/>
              <a:t>Les méthodes </a:t>
            </a:r>
            <a:r>
              <a:rPr lang="fr-BE" sz="2000" b="0" i="0" u="none" strike="noStrike" dirty="0" err="1">
                <a:solidFill>
                  <a:schemeClr val="accent4"/>
                </a:solidFill>
                <a:effectLst/>
                <a:latin typeface="Consolas" panose="020B0609020204030204" pitchFamily="49" charset="0"/>
                <a:cs typeface="Consolas" panose="020B0609020204030204" pitchFamily="49" charset="0"/>
              </a:rPr>
              <a:t>parseInt</a:t>
            </a:r>
            <a:r>
              <a:rPr lang="fr-FR" sz="2400" dirty="0"/>
              <a:t> de conversion de </a:t>
            </a:r>
            <a:r>
              <a:rPr lang="fr-FR" sz="2000" dirty="0">
                <a:solidFill>
                  <a:schemeClr val="accent4"/>
                </a:solidFill>
                <a:latin typeface="Consolas" charset="0"/>
                <a:cs typeface="Consolas" charset="0"/>
              </a:rPr>
              <a:t>String</a:t>
            </a:r>
            <a:r>
              <a:rPr lang="fr-FR" sz="2400" dirty="0"/>
              <a:t> en </a:t>
            </a:r>
            <a:r>
              <a:rPr lang="fr-FR" sz="2000" dirty="0">
                <a:solidFill>
                  <a:schemeClr val="accent4"/>
                </a:solidFill>
                <a:latin typeface="Consolas" charset="0"/>
                <a:cs typeface="Consolas" charset="0"/>
              </a:rPr>
              <a:t>Integer</a:t>
            </a:r>
            <a:r>
              <a:rPr lang="fr-FR" sz="2400" dirty="0"/>
              <a:t> acceptent un second paramètre, </a:t>
            </a:r>
            <a:r>
              <a:rPr lang="fr-FR" sz="2000" dirty="0" err="1">
                <a:solidFill>
                  <a:schemeClr val="accent4"/>
                </a:solidFill>
                <a:latin typeface="Consolas" charset="0"/>
                <a:cs typeface="Consolas" charset="0"/>
              </a:rPr>
              <a:t>radix</a:t>
            </a:r>
            <a:r>
              <a:rPr lang="fr-FR" sz="2400" dirty="0"/>
              <a:t>, qui permet de spécifier la base depuis laquelle on interprète un nombre (8, 10, 16 ou même 26). Les constantes </a:t>
            </a:r>
            <a:r>
              <a:rPr lang="fr-BE" sz="2000" dirty="0">
                <a:solidFill>
                  <a:schemeClr val="accent4"/>
                </a:solidFill>
                <a:latin typeface="Consolas" panose="020B0609020204030204" pitchFamily="49" charset="0"/>
                <a:cs typeface="Consolas" panose="020B0609020204030204" pitchFamily="49" charset="0"/>
                <a:hlinkClick r:id="rId2">
                  <a:extLst>
                    <a:ext uri="{A12FA001-AC4F-418D-AE19-62706E023703}">
                      <ahyp:hlinkClr xmlns:ahyp="http://schemas.microsoft.com/office/drawing/2018/hyperlinkcolor" val="tx"/>
                    </a:ext>
                  </a:extLst>
                </a:hlinkClick>
              </a:rPr>
              <a:t>Character.MIN_RADIX</a:t>
            </a:r>
            <a:r>
              <a:rPr lang="fr-FR" sz="2400" dirty="0"/>
              <a:t> et </a:t>
            </a:r>
            <a:r>
              <a:rPr lang="fr-BE" sz="2000" dirty="0">
                <a:solidFill>
                  <a:schemeClr val="accent4"/>
                </a:solidFill>
                <a:latin typeface="Consolas" panose="020B0609020204030204" pitchFamily="49" charset="0"/>
                <a:cs typeface="Consolas" panose="020B0609020204030204" pitchFamily="49" charset="0"/>
                <a:hlinkClick r:id="rId3">
                  <a:extLst>
                    <a:ext uri="{A12FA001-AC4F-418D-AE19-62706E023703}">
                      <ahyp:hlinkClr xmlns:ahyp="http://schemas.microsoft.com/office/drawing/2018/hyperlinkcolor" val="tx"/>
                    </a:ext>
                  </a:extLst>
                </a:hlinkClick>
              </a:rPr>
              <a:t>Character.MAX_RADIX</a:t>
            </a:r>
            <a:r>
              <a:rPr lang="fr-FR" sz="2400" dirty="0"/>
              <a:t> permettent de connaître les bases min et max utilisables.</a:t>
            </a:r>
          </a:p>
          <a:p>
            <a:r>
              <a:rPr lang="fr-FR" sz="2400" dirty="0"/>
              <a:t>Ecrivez une application </a:t>
            </a:r>
            <a:r>
              <a:rPr lang="fr-FR" sz="2200" dirty="0">
                <a:solidFill>
                  <a:schemeClr val="accent4"/>
                </a:solidFill>
                <a:latin typeface="Consolas" charset="0"/>
                <a:cs typeface="Consolas" charset="0"/>
              </a:rPr>
              <a:t>Base</a:t>
            </a:r>
            <a:r>
              <a:rPr lang="fr-FR" sz="2400" dirty="0"/>
              <a:t> dans laquelle vous utilisez la classe </a:t>
            </a:r>
            <a:r>
              <a:rPr lang="fr-FR" sz="2200" dirty="0">
                <a:solidFill>
                  <a:schemeClr val="accent4"/>
                </a:solidFill>
                <a:latin typeface="Consolas" charset="0"/>
                <a:cs typeface="Consolas" charset="0"/>
              </a:rPr>
              <a:t>Scanner</a:t>
            </a:r>
            <a:r>
              <a:rPr lang="fr-FR" sz="2400" dirty="0"/>
              <a:t> pour lire deux entiers; le premier est une base et le second un nombre. Vous affichez ensuite le nombre en base 10. Vous pouvez demander en boucle et arrêter à 0, 0.</a:t>
            </a:r>
          </a:p>
          <a:p>
            <a:pPr marL="342900" indent="-342900"/>
            <a:r>
              <a:rPr lang="fr-FR" sz="2400" dirty="0"/>
              <a:t>Exécuter </a:t>
            </a:r>
            <a:r>
              <a:rPr lang="fr-FR" sz="2200" dirty="0">
                <a:solidFill>
                  <a:schemeClr val="accent4"/>
                </a:solidFill>
                <a:latin typeface="Consolas" charset="0"/>
                <a:cs typeface="Consolas" charset="0"/>
              </a:rPr>
              <a:t>Base</a:t>
            </a:r>
            <a:r>
              <a:rPr lang="fr-FR" sz="2400" dirty="0"/>
              <a:t> avec </a:t>
            </a:r>
            <a:r>
              <a:rPr lang="fr-FR" sz="2200" dirty="0">
                <a:solidFill>
                  <a:schemeClr val="accent4"/>
                </a:solidFill>
                <a:latin typeface="Consolas" charset="0"/>
                <a:cs typeface="Consolas" charset="0"/>
              </a:rPr>
              <a:t>10</a:t>
            </a:r>
            <a:r>
              <a:rPr lang="fr-FR" sz="2400" dirty="0"/>
              <a:t> et </a:t>
            </a:r>
            <a:r>
              <a:rPr lang="fr-FR" sz="2200" dirty="0">
                <a:solidFill>
                  <a:schemeClr val="accent4"/>
                </a:solidFill>
                <a:latin typeface="Consolas" charset="0"/>
                <a:cs typeface="Consolas" charset="0"/>
              </a:rPr>
              <a:t>150</a:t>
            </a:r>
            <a:r>
              <a:rPr lang="fr-FR" sz="2400" dirty="0"/>
              <a:t> donnera </a:t>
            </a:r>
            <a:r>
              <a:rPr lang="fr-FR" sz="2200" dirty="0">
                <a:solidFill>
                  <a:schemeClr val="accent4"/>
                </a:solidFill>
                <a:latin typeface="Consolas" charset="0"/>
                <a:cs typeface="Consolas" charset="0"/>
              </a:rPr>
              <a:t>150</a:t>
            </a:r>
          </a:p>
          <a:p>
            <a:pPr marL="342900" indent="-342900"/>
            <a:r>
              <a:rPr lang="fr-FR" sz="2400" dirty="0"/>
              <a:t>Exécuter </a:t>
            </a:r>
            <a:r>
              <a:rPr lang="fr-FR" sz="2200" dirty="0">
                <a:solidFill>
                  <a:schemeClr val="accent4"/>
                </a:solidFill>
                <a:latin typeface="Consolas" charset="0"/>
                <a:cs typeface="Consolas" charset="0"/>
              </a:rPr>
              <a:t>Base</a:t>
            </a:r>
            <a:r>
              <a:rPr lang="fr-FR" sz="2400" dirty="0"/>
              <a:t> avec </a:t>
            </a:r>
            <a:r>
              <a:rPr lang="fr-FR" sz="2200" dirty="0">
                <a:solidFill>
                  <a:schemeClr val="accent4"/>
                </a:solidFill>
                <a:latin typeface="Consolas" charset="0"/>
                <a:cs typeface="Consolas" charset="0"/>
              </a:rPr>
              <a:t>16</a:t>
            </a:r>
            <a:r>
              <a:rPr lang="fr-FR" sz="2400" dirty="0"/>
              <a:t> et </a:t>
            </a:r>
            <a:r>
              <a:rPr lang="fr-FR" sz="2200" dirty="0">
                <a:solidFill>
                  <a:schemeClr val="accent4"/>
                </a:solidFill>
                <a:latin typeface="Consolas" charset="0"/>
                <a:cs typeface="Consolas" charset="0"/>
              </a:rPr>
              <a:t>100</a:t>
            </a:r>
            <a:r>
              <a:rPr lang="fr-FR" sz="2400" dirty="0"/>
              <a:t> donnera </a:t>
            </a:r>
            <a:r>
              <a:rPr lang="fr-FR" sz="2200" dirty="0">
                <a:solidFill>
                  <a:schemeClr val="accent4"/>
                </a:solidFill>
                <a:latin typeface="Consolas" charset="0"/>
                <a:cs typeface="Consolas" charset="0"/>
              </a:rPr>
              <a:t>256</a:t>
            </a:r>
          </a:p>
          <a:p>
            <a:pPr marL="342900" indent="-342900"/>
            <a:r>
              <a:rPr lang="fr-FR" sz="2400" dirty="0"/>
              <a:t>Exécuter </a:t>
            </a:r>
            <a:r>
              <a:rPr lang="fr-FR" sz="2200" dirty="0">
                <a:solidFill>
                  <a:schemeClr val="accent4"/>
                </a:solidFill>
                <a:latin typeface="Consolas" charset="0"/>
                <a:cs typeface="Consolas" charset="0"/>
              </a:rPr>
              <a:t>Base</a:t>
            </a:r>
            <a:r>
              <a:rPr lang="fr-FR" sz="2400" dirty="0"/>
              <a:t> avec </a:t>
            </a:r>
            <a:r>
              <a:rPr lang="fr-FR" sz="2200" dirty="0">
                <a:solidFill>
                  <a:schemeClr val="accent4"/>
                </a:solidFill>
                <a:latin typeface="Consolas" charset="0"/>
                <a:cs typeface="Consolas" charset="0"/>
              </a:rPr>
              <a:t>16</a:t>
            </a:r>
            <a:r>
              <a:rPr lang="fr-FR" sz="2400" dirty="0"/>
              <a:t> et </a:t>
            </a:r>
            <a:r>
              <a:rPr lang="fr-FR" sz="2200" dirty="0">
                <a:solidFill>
                  <a:schemeClr val="accent4"/>
                </a:solidFill>
                <a:latin typeface="Consolas" charset="0"/>
                <a:cs typeface="Consolas" charset="0"/>
              </a:rPr>
              <a:t>CAFE</a:t>
            </a:r>
            <a:r>
              <a:rPr lang="fr-FR" sz="2400" dirty="0"/>
              <a:t> donnera </a:t>
            </a:r>
            <a:r>
              <a:rPr lang="fr-FR" sz="2200" dirty="0">
                <a:solidFill>
                  <a:schemeClr val="accent4"/>
                </a:solidFill>
                <a:latin typeface="Consolas" charset="0"/>
                <a:cs typeface="Consolas" charset="0"/>
              </a:rPr>
              <a:t>51966</a:t>
            </a:r>
          </a:p>
        </p:txBody>
      </p:sp>
      <p:pic>
        <p:nvPicPr>
          <p:cNvPr id="1026" name="Picture 2" descr="blog-nutrition-outlet">
            <a:extLst>
              <a:ext uri="{FF2B5EF4-FFF2-40B4-BE49-F238E27FC236}">
                <a16:creationId xmlns:a16="http://schemas.microsoft.com/office/drawing/2014/main" id="{9F7669FB-8553-A044-8BC2-6E9BE5DE2FFF}"/>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6BB50CA7-2F03-26BE-6638-D8D0D71AEBCC}"/>
              </a:ext>
            </a:extLst>
          </p:cNvPr>
          <p:cNvPicPr>
            <a:picLocks noChangeAspect="1"/>
          </p:cNvPicPr>
          <p:nvPr/>
        </p:nvPicPr>
        <p:blipFill>
          <a:blip r:embed="rId5"/>
          <a:stretch>
            <a:fillRect/>
          </a:stretch>
        </p:blipFill>
        <p:spPr>
          <a:xfrm>
            <a:off x="7410450" y="4647372"/>
            <a:ext cx="4229100" cy="1181100"/>
          </a:xfrm>
          <a:prstGeom prst="rect">
            <a:avLst/>
          </a:prstGeom>
          <a:effectLst>
            <a:outerShdw blurRad="50800" dist="38100" dir="2700000" algn="tl" rotWithShape="0">
              <a:prstClr val="black">
                <a:alpha val="40000"/>
              </a:prstClr>
            </a:outerShdw>
          </a:effectLst>
        </p:spPr>
      </p:pic>
      <p:sp>
        <p:nvSpPr>
          <p:cNvPr id="5" name="Espace réservé du numéro de diapositive 4">
            <a:extLst>
              <a:ext uri="{FF2B5EF4-FFF2-40B4-BE49-F238E27FC236}">
                <a16:creationId xmlns:a16="http://schemas.microsoft.com/office/drawing/2014/main" id="{C9553549-2D0A-BA09-D670-5D12F69C1AAB}"/>
              </a:ext>
            </a:extLst>
          </p:cNvPr>
          <p:cNvSpPr>
            <a:spLocks noGrp="1"/>
          </p:cNvSpPr>
          <p:nvPr>
            <p:ph type="sldNum" sz="quarter" idx="4"/>
          </p:nvPr>
        </p:nvSpPr>
        <p:spPr/>
        <p:txBody>
          <a:bodyPr/>
          <a:lstStyle/>
          <a:p>
            <a:fld id="{33C783E2-4793-4F48-A271-51A73CC37D74}" type="slidenum">
              <a:rPr lang="fr-FR" smtClean="0"/>
              <a:t>64</a:t>
            </a:fld>
            <a:endParaRPr lang="fr-FR"/>
          </a:p>
        </p:txBody>
      </p:sp>
    </p:spTree>
    <p:extLst>
      <p:ext uri="{BB962C8B-B14F-4D97-AF65-F5344CB8AC3E}">
        <p14:creationId xmlns:p14="http://schemas.microsoft.com/office/powerpoint/2010/main" val="30415934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59408-255A-ECEB-A689-4C2B3A9C033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ABD5602-F203-46FF-8B1F-ADB9EF2665BC}"/>
              </a:ext>
            </a:extLst>
          </p:cNvPr>
          <p:cNvSpPr>
            <a:spLocks noGrp="1"/>
          </p:cNvSpPr>
          <p:nvPr>
            <p:ph type="title"/>
          </p:nvPr>
        </p:nvSpPr>
        <p:spPr/>
        <p:txBody>
          <a:bodyPr/>
          <a:lstStyle/>
          <a:p>
            <a:r>
              <a:rPr lang="fr-FR" dirty="0"/>
              <a:t>Exercice G.1</a:t>
            </a:r>
          </a:p>
        </p:txBody>
      </p:sp>
      <p:sp>
        <p:nvSpPr>
          <p:cNvPr id="3" name="Espace réservé du contenu 2">
            <a:extLst>
              <a:ext uri="{FF2B5EF4-FFF2-40B4-BE49-F238E27FC236}">
                <a16:creationId xmlns:a16="http://schemas.microsoft.com/office/drawing/2014/main" id="{53A08C38-3C52-F65B-C2D7-1C23654CABA9}"/>
              </a:ext>
            </a:extLst>
          </p:cNvPr>
          <p:cNvSpPr>
            <a:spLocks noGrp="1"/>
          </p:cNvSpPr>
          <p:nvPr>
            <p:ph idx="1"/>
          </p:nvPr>
        </p:nvSpPr>
        <p:spPr/>
        <p:txBody>
          <a:bodyPr>
            <a:noAutofit/>
          </a:bodyPr>
          <a:lstStyle/>
          <a:p>
            <a:r>
              <a:rPr lang="nl-BE" sz="2400" dirty="0"/>
              <a:t>Ecrivez une classe </a:t>
            </a:r>
            <a:r>
              <a:rPr lang="nl-BE" sz="2000" dirty="0">
                <a:solidFill>
                  <a:schemeClr val="accent4"/>
                </a:solidFill>
                <a:latin typeface="Consolas" panose="020B0609020204030204" pitchFamily="49" charset="0"/>
                <a:cs typeface="Consolas" panose="020B0609020204030204" pitchFamily="49" charset="0"/>
              </a:rPr>
              <a:t>Joueur</a:t>
            </a:r>
            <a:r>
              <a:rPr lang="nl-BE" sz="2400" dirty="0"/>
              <a:t>.</a:t>
            </a:r>
          </a:p>
          <a:p>
            <a:r>
              <a:rPr lang="fr-FR" sz="2400" dirty="0"/>
              <a:t>Un joueur a un pseudo et un email. Ces données sont immuables (non modifiables), et sont créées au moment où le joueur est créé (constructeur).</a:t>
            </a:r>
          </a:p>
          <a:p>
            <a:r>
              <a:rPr lang="fr-FR" sz="2400" dirty="0"/>
              <a:t>La classe présente deux méthodes </a:t>
            </a:r>
            <a:r>
              <a:rPr lang="fr-FR" sz="2000" dirty="0" err="1">
                <a:solidFill>
                  <a:schemeClr val="accent4"/>
                </a:solidFill>
                <a:latin typeface="Consolas" panose="020B0609020204030204" pitchFamily="49" charset="0"/>
                <a:cs typeface="Consolas" panose="020B0609020204030204" pitchFamily="49" charset="0"/>
              </a:rPr>
              <a:t>getPseudo</a:t>
            </a:r>
            <a:r>
              <a:rPr lang="fr-FR" sz="2400" dirty="0"/>
              <a:t> et </a:t>
            </a:r>
            <a:r>
              <a:rPr lang="fr-FR" sz="2000" dirty="0" err="1">
                <a:solidFill>
                  <a:schemeClr val="accent4"/>
                </a:solidFill>
                <a:latin typeface="Consolas" panose="020B0609020204030204" pitchFamily="49" charset="0"/>
                <a:cs typeface="Consolas" panose="020B0609020204030204" pitchFamily="49" charset="0"/>
              </a:rPr>
              <a:t>getEmail</a:t>
            </a:r>
            <a:endParaRPr lang="fr-FR" sz="2400" dirty="0">
              <a:solidFill>
                <a:schemeClr val="accent4"/>
              </a:solidFill>
              <a:latin typeface="Consolas" panose="020B0609020204030204" pitchFamily="49" charset="0"/>
              <a:cs typeface="Consolas" panose="020B0609020204030204" pitchFamily="49" charset="0"/>
            </a:endParaRPr>
          </a:p>
          <a:p>
            <a:r>
              <a:rPr lang="fr-FR" sz="2400" dirty="0"/>
              <a:t>Elle présente aussi ainsi une méthode </a:t>
            </a:r>
            <a:r>
              <a:rPr lang="fr-FR" sz="2000" dirty="0" err="1">
                <a:solidFill>
                  <a:schemeClr val="accent4"/>
                </a:solidFill>
                <a:latin typeface="Consolas" panose="020B0609020204030204" pitchFamily="49" charset="0"/>
                <a:cs typeface="Consolas" panose="020B0609020204030204" pitchFamily="49" charset="0"/>
              </a:rPr>
              <a:t>toString</a:t>
            </a:r>
            <a:r>
              <a:rPr lang="fr-FR" sz="2400" dirty="0"/>
              <a:t> (qui retourne un </a:t>
            </a:r>
            <a:r>
              <a:rPr lang="fr-FR" sz="2000" dirty="0">
                <a:solidFill>
                  <a:schemeClr val="accent4"/>
                </a:solidFill>
                <a:latin typeface="Consolas" panose="020B0609020204030204" pitchFamily="49" charset="0"/>
                <a:cs typeface="Consolas" panose="020B0609020204030204" pitchFamily="49" charset="0"/>
              </a:rPr>
              <a:t>String</a:t>
            </a:r>
            <a:r>
              <a:rPr lang="fr-FR" sz="2400" dirty="0"/>
              <a:t>); celle-ci retourne le pseudo et le mail au format suivant: </a:t>
            </a:r>
            <a:r>
              <a:rPr lang="fr-FR" sz="2000" dirty="0">
                <a:solidFill>
                  <a:schemeClr val="accent4"/>
                </a:solidFill>
                <a:latin typeface="Consolas" panose="020B0609020204030204" pitchFamily="49" charset="0"/>
                <a:cs typeface="Consolas" panose="020B0609020204030204" pitchFamily="49" charset="0"/>
              </a:rPr>
              <a:t>pseudo &lt;</a:t>
            </a:r>
            <a:r>
              <a:rPr lang="fr-FR" sz="2000" dirty="0" err="1">
                <a:solidFill>
                  <a:schemeClr val="accent4"/>
                </a:solidFill>
                <a:latin typeface="Consolas" panose="020B0609020204030204" pitchFamily="49" charset="0"/>
                <a:cs typeface="Consolas" panose="020B0609020204030204" pitchFamily="49" charset="0"/>
              </a:rPr>
              <a:t>pseudo@mail.com</a:t>
            </a:r>
            <a:r>
              <a:rPr lang="fr-FR" sz="2000" dirty="0">
                <a:solidFill>
                  <a:schemeClr val="accent4"/>
                </a:solidFill>
                <a:latin typeface="Consolas" panose="020B0609020204030204" pitchFamily="49" charset="0"/>
                <a:cs typeface="Consolas" panose="020B0609020204030204" pitchFamily="49" charset="0"/>
              </a:rPr>
              <a:t>&gt; </a:t>
            </a:r>
          </a:p>
        </p:txBody>
      </p:sp>
      <p:sp>
        <p:nvSpPr>
          <p:cNvPr id="5" name="Espace réservé du numéro de diapositive 4">
            <a:extLst>
              <a:ext uri="{FF2B5EF4-FFF2-40B4-BE49-F238E27FC236}">
                <a16:creationId xmlns:a16="http://schemas.microsoft.com/office/drawing/2014/main" id="{EA96E775-CB93-7D07-C501-5A4C152BADF7}"/>
              </a:ext>
            </a:extLst>
          </p:cNvPr>
          <p:cNvSpPr>
            <a:spLocks noGrp="1"/>
          </p:cNvSpPr>
          <p:nvPr>
            <p:ph type="sldNum" sz="quarter" idx="4"/>
          </p:nvPr>
        </p:nvSpPr>
        <p:spPr/>
        <p:txBody>
          <a:bodyPr/>
          <a:lstStyle/>
          <a:p>
            <a:fld id="{33C783E2-4793-4F48-A271-51A73CC37D74}" type="slidenum">
              <a:rPr lang="fr-FR" smtClean="0"/>
              <a:t>65</a:t>
            </a:fld>
            <a:endParaRPr lang="fr-FR"/>
          </a:p>
        </p:txBody>
      </p:sp>
      <p:pic>
        <p:nvPicPr>
          <p:cNvPr id="6" name="Picture 2" descr="Game Hub - Apps on Google Play">
            <a:extLst>
              <a:ext uri="{FF2B5EF4-FFF2-40B4-BE49-F238E27FC236}">
                <a16:creationId xmlns:a16="http://schemas.microsoft.com/office/drawing/2014/main" id="{ED403A7F-C6B9-9C78-5048-5738FF63D4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425092">
            <a:off x="10019709" y="361023"/>
            <a:ext cx="1647536" cy="16475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818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E5A1C-A393-B029-1EB0-595717FDCC1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0E74FA2-729F-4200-95DE-28AD802451A0}"/>
              </a:ext>
            </a:extLst>
          </p:cNvPr>
          <p:cNvSpPr>
            <a:spLocks noGrp="1"/>
          </p:cNvSpPr>
          <p:nvPr>
            <p:ph type="title"/>
          </p:nvPr>
        </p:nvSpPr>
        <p:spPr/>
        <p:txBody>
          <a:bodyPr/>
          <a:lstStyle/>
          <a:p>
            <a:r>
              <a:rPr lang="fr-FR" dirty="0"/>
              <a:t>Exercice G.2</a:t>
            </a:r>
          </a:p>
        </p:txBody>
      </p:sp>
      <p:sp>
        <p:nvSpPr>
          <p:cNvPr id="3" name="Espace réservé du contenu 2">
            <a:extLst>
              <a:ext uri="{FF2B5EF4-FFF2-40B4-BE49-F238E27FC236}">
                <a16:creationId xmlns:a16="http://schemas.microsoft.com/office/drawing/2014/main" id="{205B4CCD-23F3-A0BD-611D-9331A6404AD7}"/>
              </a:ext>
            </a:extLst>
          </p:cNvPr>
          <p:cNvSpPr>
            <a:spLocks noGrp="1"/>
          </p:cNvSpPr>
          <p:nvPr>
            <p:ph idx="1"/>
          </p:nvPr>
        </p:nvSpPr>
        <p:spPr/>
        <p:txBody>
          <a:bodyPr>
            <a:noAutofit/>
          </a:bodyPr>
          <a:lstStyle/>
          <a:p>
            <a:r>
              <a:rPr lang="nl-BE" sz="2400" dirty="0"/>
              <a:t>Ecrivez une classe </a:t>
            </a:r>
            <a:r>
              <a:rPr lang="nl-BE" sz="2000" dirty="0">
                <a:solidFill>
                  <a:schemeClr val="accent4"/>
                </a:solidFill>
                <a:latin typeface="Consolas" panose="020B0609020204030204" pitchFamily="49" charset="0"/>
                <a:cs typeface="Consolas" panose="020B0609020204030204" pitchFamily="49" charset="0"/>
              </a:rPr>
              <a:t>Partie</a:t>
            </a:r>
            <a:r>
              <a:rPr lang="nl-BE" sz="2400" dirty="0"/>
              <a:t>.</a:t>
            </a:r>
          </a:p>
          <a:p>
            <a:r>
              <a:rPr lang="fr-FR" sz="2400" dirty="0"/>
              <a:t>Cette classe, pour le moment vide, modélise une partie entre deux joueurs (champs de la classe).</a:t>
            </a:r>
          </a:p>
          <a:p>
            <a:r>
              <a:rPr lang="fr-FR" sz="2400" dirty="0"/>
              <a:t>Elle présente un constructeur qui prend les deux </a:t>
            </a:r>
            <a:r>
              <a:rPr lang="fr-FR" sz="2000" dirty="0">
                <a:solidFill>
                  <a:schemeClr val="accent4"/>
                </a:solidFill>
                <a:latin typeface="Consolas" panose="020B0609020204030204" pitchFamily="49" charset="0"/>
                <a:cs typeface="Consolas" panose="020B0609020204030204" pitchFamily="49" charset="0"/>
              </a:rPr>
              <a:t>Joueur</a:t>
            </a:r>
            <a:r>
              <a:rPr lang="fr-FR" sz="2400" dirty="0"/>
              <a:t> qui sont dans la partie.</a:t>
            </a:r>
          </a:p>
          <a:p>
            <a:r>
              <a:rPr lang="fr-FR" sz="2400" dirty="0"/>
              <a:t>Elle présente aussi ainsi une méthode </a:t>
            </a:r>
            <a:r>
              <a:rPr lang="fr-FR" sz="2000" dirty="0" err="1">
                <a:solidFill>
                  <a:schemeClr val="accent4"/>
                </a:solidFill>
                <a:latin typeface="Consolas" panose="020B0609020204030204" pitchFamily="49" charset="0"/>
                <a:cs typeface="Consolas" panose="020B0609020204030204" pitchFamily="49" charset="0"/>
              </a:rPr>
              <a:t>toString</a:t>
            </a:r>
            <a:r>
              <a:rPr lang="fr-FR" sz="2400" dirty="0"/>
              <a:t> (qui retourne un </a:t>
            </a:r>
            <a:r>
              <a:rPr lang="fr-FR" sz="2000" dirty="0">
                <a:solidFill>
                  <a:schemeClr val="accent4"/>
                </a:solidFill>
                <a:latin typeface="Consolas" panose="020B0609020204030204" pitchFamily="49" charset="0"/>
                <a:cs typeface="Consolas" panose="020B0609020204030204" pitchFamily="49" charset="0"/>
              </a:rPr>
              <a:t>String</a:t>
            </a:r>
            <a:r>
              <a:rPr lang="fr-FR" sz="2400" dirty="0"/>
              <a:t>); celle-ci retourne </a:t>
            </a:r>
            <a:r>
              <a:rPr lang="fr-FR" sz="2000" dirty="0">
                <a:solidFill>
                  <a:schemeClr val="accent4"/>
                </a:solidFill>
                <a:latin typeface="Consolas" panose="020B0609020204030204" pitchFamily="49" charset="0"/>
                <a:cs typeface="Consolas" panose="020B0609020204030204" pitchFamily="49" charset="0"/>
              </a:rPr>
              <a:t>Partie entre Joueur1 et Joueur2 </a:t>
            </a:r>
            <a:br>
              <a:rPr lang="fr-FR" sz="2400" dirty="0"/>
            </a:br>
            <a:r>
              <a:rPr lang="fr-FR" sz="2400" dirty="0"/>
              <a:t>Dans ce </a:t>
            </a:r>
            <a:r>
              <a:rPr lang="fr-FR" sz="2000" dirty="0">
                <a:solidFill>
                  <a:schemeClr val="accent4"/>
                </a:solidFill>
                <a:latin typeface="Consolas" panose="020B0609020204030204" pitchFamily="49" charset="0"/>
                <a:cs typeface="Consolas" panose="020B0609020204030204" pitchFamily="49" charset="0"/>
              </a:rPr>
              <a:t>String</a:t>
            </a:r>
            <a:r>
              <a:rPr lang="fr-FR" sz="2400" dirty="0"/>
              <a:t>, les joueurs sont utilisés tels quels, ce qui provoque l’appel de </a:t>
            </a:r>
            <a:r>
              <a:rPr lang="fr-FR" sz="2000" dirty="0" err="1">
                <a:solidFill>
                  <a:schemeClr val="accent4"/>
                </a:solidFill>
                <a:latin typeface="Consolas" panose="020B0609020204030204" pitchFamily="49" charset="0"/>
                <a:cs typeface="Consolas" panose="020B0609020204030204" pitchFamily="49" charset="0"/>
              </a:rPr>
              <a:t>Joueur.toString</a:t>
            </a:r>
            <a:r>
              <a:rPr lang="fr-FR" sz="2400" dirty="0"/>
              <a:t>.</a:t>
            </a:r>
          </a:p>
        </p:txBody>
      </p:sp>
      <p:sp>
        <p:nvSpPr>
          <p:cNvPr id="5" name="Espace réservé du numéro de diapositive 4">
            <a:extLst>
              <a:ext uri="{FF2B5EF4-FFF2-40B4-BE49-F238E27FC236}">
                <a16:creationId xmlns:a16="http://schemas.microsoft.com/office/drawing/2014/main" id="{9D17DBAB-710E-EDAF-7469-B85B543E743B}"/>
              </a:ext>
            </a:extLst>
          </p:cNvPr>
          <p:cNvSpPr>
            <a:spLocks noGrp="1"/>
          </p:cNvSpPr>
          <p:nvPr>
            <p:ph type="sldNum" sz="quarter" idx="4"/>
          </p:nvPr>
        </p:nvSpPr>
        <p:spPr/>
        <p:txBody>
          <a:bodyPr/>
          <a:lstStyle/>
          <a:p>
            <a:fld id="{33C783E2-4793-4F48-A271-51A73CC37D74}" type="slidenum">
              <a:rPr lang="fr-FR" smtClean="0"/>
              <a:t>66</a:t>
            </a:fld>
            <a:endParaRPr lang="fr-FR"/>
          </a:p>
        </p:txBody>
      </p:sp>
      <p:pic>
        <p:nvPicPr>
          <p:cNvPr id="6" name="Picture 2" descr="Game Hub - Apps on Google Play">
            <a:extLst>
              <a:ext uri="{FF2B5EF4-FFF2-40B4-BE49-F238E27FC236}">
                <a16:creationId xmlns:a16="http://schemas.microsoft.com/office/drawing/2014/main" id="{150CE8CB-CA58-73D8-18C0-606E865A10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425092">
            <a:off x="10019709" y="361023"/>
            <a:ext cx="1647536" cy="16475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00792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41CC4-6118-3DB9-35E9-39AE220B9A3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8E2A4DB-CDB6-DE53-EBC5-4F9F3F273487}"/>
              </a:ext>
            </a:extLst>
          </p:cNvPr>
          <p:cNvSpPr>
            <a:spLocks noGrp="1"/>
          </p:cNvSpPr>
          <p:nvPr>
            <p:ph type="title"/>
          </p:nvPr>
        </p:nvSpPr>
        <p:spPr/>
        <p:txBody>
          <a:bodyPr/>
          <a:lstStyle/>
          <a:p>
            <a:r>
              <a:rPr lang="fr-FR" dirty="0"/>
              <a:t>Exercice G.3</a:t>
            </a:r>
          </a:p>
        </p:txBody>
      </p:sp>
      <p:sp>
        <p:nvSpPr>
          <p:cNvPr id="3" name="Espace réservé du contenu 2">
            <a:extLst>
              <a:ext uri="{FF2B5EF4-FFF2-40B4-BE49-F238E27FC236}">
                <a16:creationId xmlns:a16="http://schemas.microsoft.com/office/drawing/2014/main" id="{8D32C315-589D-5354-E4BE-390B699255E9}"/>
              </a:ext>
            </a:extLst>
          </p:cNvPr>
          <p:cNvSpPr>
            <a:spLocks noGrp="1"/>
          </p:cNvSpPr>
          <p:nvPr>
            <p:ph idx="1"/>
          </p:nvPr>
        </p:nvSpPr>
        <p:spPr/>
        <p:txBody>
          <a:bodyPr>
            <a:noAutofit/>
          </a:bodyPr>
          <a:lstStyle/>
          <a:p>
            <a:r>
              <a:rPr lang="nl-BE" sz="2400" dirty="0"/>
              <a:t>Ecrivez une classe </a:t>
            </a:r>
            <a:r>
              <a:rPr lang="nl-BE" sz="2000" dirty="0">
                <a:solidFill>
                  <a:schemeClr val="accent4"/>
                </a:solidFill>
                <a:latin typeface="Consolas" panose="020B0609020204030204" pitchFamily="49" charset="0"/>
                <a:cs typeface="Consolas" panose="020B0609020204030204" pitchFamily="49" charset="0"/>
              </a:rPr>
              <a:t>GameHub</a:t>
            </a:r>
            <a:r>
              <a:rPr lang="nl-BE" sz="2400" dirty="0"/>
              <a:t>.</a:t>
            </a:r>
          </a:p>
          <a:p>
            <a:r>
              <a:rPr lang="fr-FR" sz="2400" dirty="0"/>
              <a:t>Cette classe contient une méthode </a:t>
            </a:r>
            <a:r>
              <a:rPr lang="fr-FR" sz="2000" dirty="0">
                <a:solidFill>
                  <a:schemeClr val="accent4"/>
                </a:solidFill>
                <a:latin typeface="Consolas" panose="020B0609020204030204" pitchFamily="49" charset="0"/>
                <a:cs typeface="Consolas" panose="020B0609020204030204" pitchFamily="49" charset="0"/>
              </a:rPr>
              <a:t>main</a:t>
            </a:r>
            <a:r>
              <a:rPr lang="fr-FR" sz="2400" dirty="0"/>
              <a:t> dans laquelle elle crée deux joueurs (en demandant leurs pseudo et leur email à l’aide d’un </a:t>
            </a:r>
            <a:r>
              <a:rPr lang="fr-FR" sz="2000" dirty="0">
                <a:solidFill>
                  <a:schemeClr val="accent4"/>
                </a:solidFill>
                <a:latin typeface="Consolas" panose="020B0609020204030204" pitchFamily="49" charset="0"/>
                <a:cs typeface="Consolas" panose="020B0609020204030204" pitchFamily="49" charset="0"/>
              </a:rPr>
              <a:t>Scanner</a:t>
            </a:r>
            <a:r>
              <a:rPr lang="fr-FR" sz="2400" dirty="0"/>
              <a:t>), puis génère une partie entre les deux joueurs.</a:t>
            </a:r>
          </a:p>
        </p:txBody>
      </p:sp>
      <p:sp>
        <p:nvSpPr>
          <p:cNvPr id="5" name="Espace réservé du numéro de diapositive 4">
            <a:extLst>
              <a:ext uri="{FF2B5EF4-FFF2-40B4-BE49-F238E27FC236}">
                <a16:creationId xmlns:a16="http://schemas.microsoft.com/office/drawing/2014/main" id="{EDFDCD71-D4D6-18FE-6A39-6A74BFC86420}"/>
              </a:ext>
            </a:extLst>
          </p:cNvPr>
          <p:cNvSpPr>
            <a:spLocks noGrp="1"/>
          </p:cNvSpPr>
          <p:nvPr>
            <p:ph type="sldNum" sz="quarter" idx="4"/>
          </p:nvPr>
        </p:nvSpPr>
        <p:spPr/>
        <p:txBody>
          <a:bodyPr/>
          <a:lstStyle/>
          <a:p>
            <a:fld id="{33C783E2-4793-4F48-A271-51A73CC37D74}" type="slidenum">
              <a:rPr lang="fr-FR" smtClean="0"/>
              <a:t>67</a:t>
            </a:fld>
            <a:endParaRPr lang="fr-FR"/>
          </a:p>
        </p:txBody>
      </p:sp>
      <p:pic>
        <p:nvPicPr>
          <p:cNvPr id="6" name="Picture 2" descr="Game Hub - Apps on Google Play">
            <a:extLst>
              <a:ext uri="{FF2B5EF4-FFF2-40B4-BE49-F238E27FC236}">
                <a16:creationId xmlns:a16="http://schemas.microsoft.com/office/drawing/2014/main" id="{B65D42C3-E054-6FD1-8613-3E4EA034A1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425092">
            <a:off x="10019709" y="361023"/>
            <a:ext cx="1647536" cy="16475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2901733"/>
      </p:ext>
    </p:extLst>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114554</TotalTime>
  <Words>6336</Words>
  <Application>Microsoft Macintosh PowerPoint</Application>
  <PresentationFormat>Grand écran</PresentationFormat>
  <Paragraphs>939</Paragraphs>
  <Slides>67</Slides>
  <Notes>1</Notes>
  <HiddenSlides>0</HiddenSlides>
  <MMClips>0</MMClips>
  <ScaleCrop>false</ScaleCrop>
  <HeadingPairs>
    <vt:vector size="6" baseType="variant">
      <vt:variant>
        <vt:lpstr>Polices utilisées</vt:lpstr>
      </vt:variant>
      <vt:variant>
        <vt:i4>11</vt:i4>
      </vt:variant>
      <vt:variant>
        <vt:lpstr>Thème</vt:lpstr>
      </vt:variant>
      <vt:variant>
        <vt:i4>1</vt:i4>
      </vt:variant>
      <vt:variant>
        <vt:lpstr>Titres des diapositives</vt:lpstr>
      </vt:variant>
      <vt:variant>
        <vt:i4>67</vt:i4>
      </vt:variant>
    </vt:vector>
  </HeadingPairs>
  <TitlesOfParts>
    <vt:vector size="79" baseType="lpstr">
      <vt:lpstr>Aptos</vt:lpstr>
      <vt:lpstr>Arial</vt:lpstr>
      <vt:lpstr>Calibri</vt:lpstr>
      <vt:lpstr>Consolas</vt:lpstr>
      <vt:lpstr>Corbel</vt:lpstr>
      <vt:lpstr>Helvetica</vt:lpstr>
      <vt:lpstr>JetBrains Sans</vt:lpstr>
      <vt:lpstr>Söhne</vt:lpstr>
      <vt:lpstr>Symbol</vt:lpstr>
      <vt:lpstr>Times New Roman</vt:lpstr>
      <vt:lpstr>Wingdings</vt:lpstr>
      <vt:lpstr>ThemeEphec2022</vt:lpstr>
      <vt:lpstr>JAVA 2</vt:lpstr>
      <vt:lpstr>Présentation PowerPoint</vt:lpstr>
      <vt:lpstr>Qui suis-je?</vt:lpstr>
      <vt:lpstr>Contenu du cours</vt:lpstr>
      <vt:lpstr>Matière à voir…</vt:lpstr>
      <vt:lpstr>… et encore</vt:lpstr>
      <vt:lpstr>Critères de réussite et acquis d’apprentissage</vt:lpstr>
      <vt:lpstr>En d’autres termes, vous devez pouvoir…</vt:lpstr>
      <vt:lpstr>… et l’examen?</vt:lpstr>
      <vt:lpstr>Présentation PowerPoint</vt:lpstr>
      <vt:lpstr>Environnement de Développement</vt:lpstr>
      <vt:lpstr>Installation d’IntelliJ</vt:lpstr>
      <vt:lpstr>Démarrer avec IntelliJ</vt:lpstr>
      <vt:lpstr>Présentation d’IntelliJ</vt:lpstr>
      <vt:lpstr>Le code que vous écrivez</vt:lpstr>
      <vt:lpstr>La structure de votre projet</vt:lpstr>
      <vt:lpstr>Le résultat de l’exécution</vt:lpstr>
      <vt:lpstr>Lancer, mode debug, projets…</vt:lpstr>
      <vt:lpstr>Paramétrage d’IntelliJ</vt:lpstr>
      <vt:lpstr>Démarrer une app avec paramètres</vt:lpstr>
      <vt:lpstr>Plugins IntelliJ</vt:lpstr>
      <vt:lpstr>Les raccourcis clavier</vt:lpstr>
      <vt:lpstr>Présentation PowerPoint</vt:lpstr>
      <vt:lpstr>La plateforme Java</vt:lpstr>
      <vt:lpstr>Trois éditions principales</vt:lpstr>
      <vt:lpstr>Quelle version de java sur mon PC?</vt:lpstr>
      <vt:lpstr>Quelle version de java sur mon PC?</vt:lpstr>
      <vt:lpstr>java et javac</vt:lpstr>
      <vt:lpstr>Classe Java et Programme (exécutable) Java</vt:lpstr>
      <vt:lpstr>Présentation PowerPoint</vt:lpstr>
      <vt:lpstr>Pas de grosses différences niveau langage</vt:lpstr>
      <vt:lpstr>Structuration des classes</vt:lpstr>
      <vt:lpstr>Conventions de nommage différentes</vt:lpstr>
      <vt:lpstr>Lien entre fichier et classe</vt:lpstr>
      <vt:lpstr>Classes du Framework différentes</vt:lpstr>
      <vt:lpstr>Méthode main rend la classe exécutable</vt:lpstr>
      <vt:lpstr>L’héritage… classe de base et classe dérivée</vt:lpstr>
      <vt:lpstr>…et classe dérivée</vt:lpstr>
      <vt:lpstr>Héritage: extends</vt:lpstr>
      <vt:lpstr>Appel du constructeur de la classe parent</vt:lpstr>
      <vt:lpstr>Annotation @Override</vt:lpstr>
      <vt:lpstr>De quelle classe est mon objet?</vt:lpstr>
      <vt:lpstr>En résumé…</vt:lpstr>
      <vt:lpstr>Encore deux points…</vt:lpstr>
      <vt:lpstr>Quelques liens intéressants</vt:lpstr>
      <vt:lpstr>Présentation PowerPoint</vt:lpstr>
      <vt:lpstr>Les principes de la POO</vt:lpstr>
      <vt:lpstr>Les principes de la POO</vt:lpstr>
      <vt:lpstr>Les principes de la POO</vt:lpstr>
      <vt:lpstr>Exercice 1</vt:lpstr>
      <vt:lpstr>Encapsulation: getters et setters</vt:lpstr>
      <vt:lpstr>Encapsulation: getters et setters</vt:lpstr>
      <vt:lpstr>Exercice 2</vt:lpstr>
      <vt:lpstr>Présentation PowerPoint</vt:lpstr>
      <vt:lpstr>Pour les entrées au clavier, on utilise la classe Scanner…</vt:lpstr>
      <vt:lpstr>La Javadoc</vt:lpstr>
      <vt:lpstr>Les méthodes de Scanner qui nous intéressent</vt:lpstr>
      <vt:lpstr>Les principales méthodes de Scanner</vt:lpstr>
      <vt:lpstr>Exercice 3</vt:lpstr>
      <vt:lpstr>Présentation PowerPoint</vt:lpstr>
      <vt:lpstr>Types primitifs vs Objets</vt:lpstr>
      <vt:lpstr>Types primitifs et Wrappers</vt:lpstr>
      <vt:lpstr>Types primitifs et Wrappers</vt:lpstr>
      <vt:lpstr>Exercice 4</vt:lpstr>
      <vt:lpstr>Exercice G.1</vt:lpstr>
      <vt:lpstr>Exercice G.2</vt:lpstr>
      <vt:lpstr>Exercice G.3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33</cp:revision>
  <dcterms:created xsi:type="dcterms:W3CDTF">2023-01-04T13:50:20Z</dcterms:created>
  <dcterms:modified xsi:type="dcterms:W3CDTF">2026-03-10T17:08:46Z</dcterms:modified>
</cp:coreProperties>
</file>