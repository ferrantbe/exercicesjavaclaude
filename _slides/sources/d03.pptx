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8"/>
  </p:notesMasterIdLst>
  <p:sldIdLst>
    <p:sldId id="256" r:id="rId2"/>
    <p:sldId id="695" r:id="rId3"/>
    <p:sldId id="657" r:id="rId4"/>
    <p:sldId id="698" r:id="rId5"/>
    <p:sldId id="679" r:id="rId6"/>
    <p:sldId id="505" r:id="rId7"/>
    <p:sldId id="510" r:id="rId8"/>
    <p:sldId id="511" r:id="rId9"/>
    <p:sldId id="513" r:id="rId10"/>
    <p:sldId id="696" r:id="rId11"/>
    <p:sldId id="697" r:id="rId12"/>
    <p:sldId id="741" r:id="rId13"/>
    <p:sldId id="689" r:id="rId14"/>
    <p:sldId id="738" r:id="rId15"/>
    <p:sldId id="524" r:id="rId16"/>
    <p:sldId id="523" r:id="rId17"/>
    <p:sldId id="739" r:id="rId18"/>
    <p:sldId id="740" r:id="rId19"/>
    <p:sldId id="667" r:id="rId20"/>
    <p:sldId id="690" r:id="rId21"/>
    <p:sldId id="691" r:id="rId22"/>
    <p:sldId id="692" r:id="rId23"/>
    <p:sldId id="527" r:id="rId24"/>
    <p:sldId id="529" r:id="rId25"/>
    <p:sldId id="528" r:id="rId26"/>
    <p:sldId id="631" r:id="rId27"/>
    <p:sldId id="659" r:id="rId28"/>
    <p:sldId id="517" r:id="rId29"/>
    <p:sldId id="693" r:id="rId30"/>
    <p:sldId id="703" r:id="rId31"/>
    <p:sldId id="636" r:id="rId32"/>
    <p:sldId id="633" r:id="rId33"/>
    <p:sldId id="635" r:id="rId34"/>
    <p:sldId id="634" r:id="rId35"/>
    <p:sldId id="694" r:id="rId36"/>
    <p:sldId id="699" r:id="rId37"/>
    <p:sldId id="704" r:id="rId38"/>
    <p:sldId id="637" r:id="rId39"/>
    <p:sldId id="632" r:id="rId40"/>
    <p:sldId id="705" r:id="rId41"/>
    <p:sldId id="645" r:id="rId42"/>
    <p:sldId id="587" r:id="rId43"/>
    <p:sldId id="588" r:id="rId44"/>
    <p:sldId id="590" r:id="rId45"/>
    <p:sldId id="589" r:id="rId46"/>
    <p:sldId id="706" r:id="rId47"/>
    <p:sldId id="639" r:id="rId48"/>
    <p:sldId id="617" r:id="rId49"/>
    <p:sldId id="618" r:id="rId50"/>
    <p:sldId id="707" r:id="rId51"/>
    <p:sldId id="644" r:id="rId52"/>
    <p:sldId id="640" r:id="rId53"/>
    <p:sldId id="641" r:id="rId54"/>
    <p:sldId id="642" r:id="rId55"/>
    <p:sldId id="643" r:id="rId56"/>
    <p:sldId id="731" r:id="rId57"/>
    <p:sldId id="732" r:id="rId58"/>
    <p:sldId id="733" r:id="rId59"/>
    <p:sldId id="734" r:id="rId60"/>
    <p:sldId id="735" r:id="rId61"/>
    <p:sldId id="736" r:id="rId62"/>
    <p:sldId id="737" r:id="rId63"/>
    <p:sldId id="742" r:id="rId64"/>
    <p:sldId id="743" r:id="rId65"/>
    <p:sldId id="744" r:id="rId66"/>
    <p:sldId id="745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9A02D4CA-36D1-0242-9570-74B9915D5B21}">
          <p14:sldIdLst>
            <p14:sldId id="256"/>
          </p14:sldIdLst>
        </p14:section>
        <p14:section name="Rappels" id="{34B0FE40-7DB0-A54C-9B77-F28A6EBC1807}">
          <p14:sldIdLst>
            <p14:sldId id="695"/>
            <p14:sldId id="657"/>
          </p14:sldIdLst>
        </p14:section>
        <p14:section name="Exercices précédents" id="{F387760D-5366-5D45-86E6-5ADE685E8186}">
          <p14:sldIdLst>
            <p14:sldId id="698"/>
            <p14:sldId id="679"/>
            <p14:sldId id="505"/>
            <p14:sldId id="510"/>
            <p14:sldId id="511"/>
            <p14:sldId id="513"/>
            <p14:sldId id="696"/>
            <p14:sldId id="697"/>
            <p14:sldId id="741"/>
          </p14:sldIdLst>
        </p14:section>
        <p14:section name="Autres Types" id="{908196BA-BF7A-4D49-86EF-76BCAA847D54}">
          <p14:sldIdLst>
            <p14:sldId id="689"/>
            <p14:sldId id="738"/>
            <p14:sldId id="524"/>
            <p14:sldId id="523"/>
            <p14:sldId id="739"/>
            <p14:sldId id="740"/>
            <p14:sldId id="667"/>
            <p14:sldId id="690"/>
            <p14:sldId id="691"/>
            <p14:sldId id="692"/>
            <p14:sldId id="527"/>
            <p14:sldId id="529"/>
            <p14:sldId id="528"/>
            <p14:sldId id="631"/>
            <p14:sldId id="659"/>
            <p14:sldId id="517"/>
          </p14:sldIdLst>
        </p14:section>
        <p14:section name="Interfaces" id="{E1DCA78F-92A2-4540-A9C5-C7AAC08261DC}">
          <p14:sldIdLst>
            <p14:sldId id="693"/>
            <p14:sldId id="703"/>
            <p14:sldId id="636"/>
            <p14:sldId id="633"/>
            <p14:sldId id="635"/>
            <p14:sldId id="634"/>
            <p14:sldId id="694"/>
            <p14:sldId id="699"/>
            <p14:sldId id="704"/>
            <p14:sldId id="637"/>
            <p14:sldId id="632"/>
            <p14:sldId id="705"/>
            <p14:sldId id="645"/>
            <p14:sldId id="587"/>
            <p14:sldId id="588"/>
            <p14:sldId id="590"/>
            <p14:sldId id="589"/>
            <p14:sldId id="706"/>
            <p14:sldId id="639"/>
            <p14:sldId id="617"/>
            <p14:sldId id="618"/>
            <p14:sldId id="707"/>
            <p14:sldId id="644"/>
            <p14:sldId id="640"/>
            <p14:sldId id="641"/>
            <p14:sldId id="642"/>
            <p14:sldId id="643"/>
            <p14:sldId id="731"/>
            <p14:sldId id="732"/>
            <p14:sldId id="733"/>
            <p14:sldId id="734"/>
            <p14:sldId id="735"/>
            <p14:sldId id="736"/>
            <p14:sldId id="737"/>
            <p14:sldId id="742"/>
            <p14:sldId id="743"/>
            <p14:sldId id="744"/>
            <p14:sldId id="7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F3874"/>
    <a:srgbClr val="0F3D49"/>
    <a:srgbClr val="71AD47"/>
    <a:srgbClr val="2867A1"/>
    <a:srgbClr val="296BA6"/>
    <a:srgbClr val="3C696F"/>
    <a:srgbClr val="558491"/>
    <a:srgbClr val="5692FF"/>
    <a:srgbClr val="599B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6327"/>
  </p:normalViewPr>
  <p:slideViewPr>
    <p:cSldViewPr snapToGrid="0">
      <p:cViewPr varScale="1">
        <p:scale>
          <a:sx n="128" d="100"/>
          <a:sy n="128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17/02/2026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925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B70B38A-4526-1E53-C96A-750F127803D7}"/>
              </a:ext>
            </a:extLst>
          </p:cNvPr>
          <p:cNvGrpSpPr/>
          <p:nvPr userDrawn="1"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5" name="Larme 4">
              <a:extLst>
                <a:ext uri="{FF2B5EF4-FFF2-40B4-BE49-F238E27FC236}">
                  <a16:creationId xmlns:a16="http://schemas.microsoft.com/office/drawing/2014/main" id="{CEDC4753-E350-4373-D704-A2AC071720E3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224AFDDD-6EFD-2D48-2732-DB6F1E2B06AC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1090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Cliquez et modifiez le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1"/>
            <a:ext cx="4883253" cy="4373563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nl-BE" dirty="0"/>
              <a:t>Cliquez pour modifier les styles du texte du masque</a:t>
            </a:r>
          </a:p>
          <a:p>
            <a:pPr lvl="1"/>
            <a:r>
              <a:rPr lang="nl-BE" dirty="0"/>
              <a:t>Deuxième niveau</a:t>
            </a:r>
          </a:p>
          <a:p>
            <a:pPr lvl="2"/>
            <a:r>
              <a:rPr lang="nl-BE" dirty="0"/>
              <a:t>Troisième niveau</a:t>
            </a:r>
          </a:p>
          <a:p>
            <a:pPr lvl="3"/>
            <a:r>
              <a:rPr lang="nl-BE" dirty="0"/>
              <a:t>Quatrième niveau</a:t>
            </a:r>
          </a:p>
          <a:p>
            <a:pPr lvl="4"/>
            <a:r>
              <a:rPr lang="nl-BE" dirty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05DC0-9EAD-DA46-BDA8-BD693362A350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3"/>
          </p:nvPr>
        </p:nvSpPr>
        <p:spPr>
          <a:xfrm>
            <a:off x="5712885" y="1752601"/>
            <a:ext cx="5397500" cy="4373563"/>
          </a:xfrm>
        </p:spPr>
        <p:txBody>
          <a:bodyPr/>
          <a:lstStyle/>
          <a:p>
            <a:pPr lvl="0"/>
            <a:r>
              <a:rPr lang="nl-BE"/>
              <a:t>Cliquez pour modifier les styles du texte du masque</a:t>
            </a:r>
          </a:p>
          <a:p>
            <a:pPr lvl="1"/>
            <a:r>
              <a:rPr lang="nl-BE"/>
              <a:t>Deuxième niveau</a:t>
            </a:r>
          </a:p>
          <a:p>
            <a:pPr lvl="2"/>
            <a:r>
              <a:rPr lang="nl-BE"/>
              <a:t>Troisième niveau</a:t>
            </a:r>
          </a:p>
          <a:p>
            <a:pPr lvl="3"/>
            <a:r>
              <a:rPr lang="nl-BE"/>
              <a:t>Quatrième niveau</a:t>
            </a:r>
          </a:p>
          <a:p>
            <a:pPr lvl="4"/>
            <a:r>
              <a:rPr lang="nl-BE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751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2025-2026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3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lang/Runnable.html" TargetMode="External"/><Relationship Id="rId2" Type="http://schemas.openxmlformats.org/officeDocument/2006/relationships/hyperlink" Target="https://docs.oracle.com/javase/8/docs/api/java/util/Observe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javase/8/docs/api/java/lang/Comparable.html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7/docs/api/java/lang/Cloneable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refactoring.guru/design-patterns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JAVA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POO – Module 3</a:t>
            </a:r>
          </a:p>
          <a:p>
            <a:r>
              <a:rPr lang="fr-FR" dirty="0"/>
              <a:t>Semaine 3</a:t>
            </a:r>
          </a:p>
        </p:txBody>
      </p:sp>
    </p:spTree>
    <p:extLst>
      <p:ext uri="{BB962C8B-B14F-4D97-AF65-F5344CB8AC3E}">
        <p14:creationId xmlns:p14="http://schemas.microsoft.com/office/powerpoint/2010/main" val="45877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1A359-665C-7EF3-F766-44D051AE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 au dernier cours…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989C80-45D8-CEAF-65AF-7BB8EDE3D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Date et heure avec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LocalDate</a:t>
            </a:r>
            <a:r>
              <a:rPr lang="fr-FR" dirty="0"/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LocalTime</a:t>
            </a:r>
            <a:r>
              <a:rPr lang="fr-FR" dirty="0"/>
              <a:t> 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LocalDateTime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Structure des classes en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package</a:t>
            </a: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Les accesseurs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FR" dirty="0"/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protected</a:t>
            </a:r>
            <a:r>
              <a:rPr lang="fr-FR" dirty="0"/>
              <a:t>, aucun 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dirty="0"/>
              <a:t>Structure des fichiers: Maven (main/</a:t>
            </a:r>
            <a:r>
              <a:rPr lang="fr-FR" dirty="0">
                <a:solidFill>
                  <a:srgbClr val="5692FF"/>
                </a:solidFill>
              </a:rPr>
              <a:t>java</a:t>
            </a:r>
            <a:r>
              <a:rPr lang="fr-FR" dirty="0"/>
              <a:t>, test/</a:t>
            </a:r>
            <a:r>
              <a:rPr lang="fr-FR" dirty="0">
                <a:solidFill>
                  <a:srgbClr val="599B5F"/>
                </a:solidFill>
              </a:rPr>
              <a:t>java</a:t>
            </a:r>
            <a:r>
              <a:rPr lang="fr-FR" dirty="0"/>
              <a:t> et </a:t>
            </a:r>
            <a:r>
              <a:rPr lang="fr-FR" dirty="0" err="1">
                <a:solidFill>
                  <a:srgbClr val="C97C55"/>
                </a:solidFill>
              </a:rPr>
              <a:t>target</a:t>
            </a:r>
            <a:r>
              <a:rPr lang="fr-FR" dirty="0"/>
              <a:t>)</a:t>
            </a:r>
          </a:p>
          <a:p>
            <a:r>
              <a:rPr lang="fr-FR" dirty="0"/>
              <a:t>Tableaux à plusieurs dimensions: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[][]</a:t>
            </a:r>
          </a:p>
          <a:p>
            <a:r>
              <a:rPr lang="fr-FR" dirty="0"/>
              <a:t>Boucle for </a:t>
            </a:r>
            <a:r>
              <a:rPr lang="fr-FR" dirty="0" err="1"/>
              <a:t>each</a:t>
            </a:r>
            <a:r>
              <a:rPr lang="fr-FR" dirty="0"/>
              <a:t>: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 : tab)</a:t>
            </a:r>
          </a:p>
          <a:p>
            <a:r>
              <a:rPr lang="fr-FR" dirty="0"/>
              <a:t>Opérateur ternaire: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(condition) ?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valSiVrai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valSiFaux</a:t>
            </a:r>
            <a:endParaRPr lang="fr-FR" dirty="0"/>
          </a:p>
          <a:p>
            <a:r>
              <a:rPr lang="fr-FR" dirty="0"/>
              <a:t>Affichage formatté: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System.out.printf</a:t>
            </a:r>
            <a:r>
              <a:rPr lang="fr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("%s=%d\n", "i", 10);</a:t>
            </a:r>
          </a:p>
          <a:p>
            <a:r>
              <a:rPr lang="fr-FR" dirty="0"/>
              <a:t>Les énumérations (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fr-FR" dirty="0"/>
              <a:t>) et les enregistrements (</a:t>
            </a:r>
            <a:r>
              <a:rPr lang="fr-BE" sz="2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r>
              <a:rPr lang="fr-FR" dirty="0"/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93D211-D6CB-2ECC-CFA7-308EF0B57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4240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5BC5AAA-86F1-6907-DAAB-E3C9F7DA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Analyse de code par </a:t>
            </a:r>
            <a:r>
              <a:rPr lang="fr-FR" sz="4000" dirty="0" err="1"/>
              <a:t>IntelliJ</a:t>
            </a:r>
            <a:endParaRPr lang="fr-FR" sz="4000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AF047BC-18EC-055F-9307-E82342665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err="1"/>
              <a:t>IntelliJ</a:t>
            </a:r>
            <a:r>
              <a:rPr lang="fr-FR" sz="2000" dirty="0"/>
              <a:t> peut analyser votre code pour suggérer des améliorations à votre code.</a:t>
            </a:r>
          </a:p>
          <a:p>
            <a:pPr marL="0" indent="0">
              <a:buNone/>
            </a:pPr>
            <a:endParaRPr lang="fr-FR" sz="20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AEFD4F7-14F2-FFB1-EAF1-1A174941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420"/>
          <a:stretch/>
        </p:blipFill>
        <p:spPr>
          <a:xfrm>
            <a:off x="739591" y="2518093"/>
            <a:ext cx="3167106" cy="3028345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5211060C-3D20-0AEB-8BCB-C33A858CFCD5}"/>
              </a:ext>
            </a:extLst>
          </p:cNvPr>
          <p:cNvSpPr txBox="1"/>
          <p:nvPr/>
        </p:nvSpPr>
        <p:spPr>
          <a:xfrm>
            <a:off x="887504" y="4210396"/>
            <a:ext cx="1307707" cy="189168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8FF28E6-CCFD-BDD8-93BB-2253AB269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630" y="2518093"/>
            <a:ext cx="6808168" cy="1889782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5D760400-ECEA-E034-3708-530FA3863867}"/>
              </a:ext>
            </a:extLst>
          </p:cNvPr>
          <p:cNvSpPr txBox="1"/>
          <p:nvPr/>
        </p:nvSpPr>
        <p:spPr>
          <a:xfrm>
            <a:off x="6161832" y="4088839"/>
            <a:ext cx="48097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accent4"/>
                </a:solidFill>
              </a:rPr>
              <a:t>Certaines erreurs liées aux termes en français…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7DA679B-28E5-B3FA-692C-BC4B7CA8B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772" y="4732076"/>
            <a:ext cx="7772400" cy="145779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B34EB9A-B451-6B22-0849-558897056112}"/>
              </a:ext>
            </a:extLst>
          </p:cNvPr>
          <p:cNvSpPr txBox="1"/>
          <p:nvPr/>
        </p:nvSpPr>
        <p:spPr>
          <a:xfrm>
            <a:off x="6320096" y="5905251"/>
            <a:ext cx="44931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accent4"/>
                </a:solidFill>
              </a:rPr>
              <a:t>… mais d’autres sont plus pertinentes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F678F48-E5F3-F2C3-95B0-7B01A5B09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974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 animBg="1"/>
      <p:bldP spid="19" grpId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8743-A1A3-F231-D0E5-83E3B5F4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ercices en retard format 16:9">
            <a:extLst>
              <a:ext uri="{FF2B5EF4-FFF2-40B4-BE49-F238E27FC236}">
                <a16:creationId xmlns:a16="http://schemas.microsoft.com/office/drawing/2014/main" id="{B63EA7A3-C6B0-E962-2E5D-A4999A4BB5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CB2949B-7E66-D937-F71E-1BDB87DBA0C2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3C696F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/>
              <a:t>Exercices…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92B336-117C-217E-7A98-B98C382D97FF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3C696F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Les exercices du cours précédent…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2E81B2-54F7-7A5A-4CCD-C48568CC9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3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5b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nl-BE" sz="2400" dirty="0"/>
              <a:t>Ecrivez un programme Java qui crée une matrice carrée de taille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x n</a:t>
            </a:r>
            <a:r>
              <a:rPr lang="nl-BE" sz="2400" dirty="0"/>
              <a:t>.</a:t>
            </a:r>
          </a:p>
          <a:p>
            <a:pPr marL="0" indent="0">
              <a:buNone/>
            </a:pPr>
            <a:r>
              <a:rPr lang="nl-BE" sz="2400" dirty="0"/>
              <a:t>Cette matrice contiendra les nombres de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nl-BE" sz="2400" dirty="0"/>
              <a:t> à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n²</a:t>
            </a:r>
            <a:r>
              <a:rPr lang="nl-BE" sz="2400" dirty="0"/>
              <a:t>.</a:t>
            </a:r>
          </a:p>
          <a:p>
            <a:r>
              <a:rPr lang="nl-BE" sz="2400" dirty="0"/>
              <a:t>Vous demanderez à l’utilisateur la valeur de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nl-BE" sz="2400" dirty="0"/>
              <a:t>.</a:t>
            </a:r>
          </a:p>
          <a:p>
            <a:r>
              <a:rPr lang="nl-BE" sz="2400" dirty="0"/>
              <a:t>Vous initialiserez ensuite les valeurs dans la matrice.</a:t>
            </a:r>
          </a:p>
          <a:p>
            <a:r>
              <a:rPr lang="nl-BE" sz="2400" dirty="0"/>
              <a:t>Ensuite, vous afficherez la matrice.</a:t>
            </a:r>
          </a:p>
          <a:p>
            <a:endParaRPr lang="fr-FR" sz="2400" dirty="0"/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6346BD79-731A-E59A-644E-A39D634D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A5090DD-8F12-24E0-2008-81D1A91E8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229" y="3951718"/>
            <a:ext cx="5291328" cy="222524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266B1D-59D5-C6C3-3CDC-591735E5C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407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Exercice 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sz="2400" dirty="0"/>
              <a:t>Le triangle de Pascal est une présentation des coefficients des termes des binômes de Newton (a + b)</a:t>
            </a:r>
            <a:r>
              <a:rPr lang="nl-BE" sz="2400" baseline="30000" dirty="0"/>
              <a:t>n</a:t>
            </a:r>
            <a:r>
              <a:rPr lang="nl-BE" sz="2400" dirty="0"/>
              <a:t>  : </a:t>
            </a:r>
            <a:r>
              <a:rPr lang="nl-BE" sz="2400" dirty="0">
                <a:solidFill>
                  <a:schemeClr val="accent4"/>
                </a:solidFill>
              </a:rPr>
              <a:t>1</a:t>
            </a:r>
            <a:r>
              <a:rPr lang="nl-BE" sz="2400" dirty="0"/>
              <a:t> pour 0, </a:t>
            </a:r>
            <a:r>
              <a:rPr lang="nl-BE" sz="2400" dirty="0">
                <a:solidFill>
                  <a:schemeClr val="accent4"/>
                </a:solidFill>
              </a:rPr>
              <a:t>1</a:t>
            </a:r>
            <a:r>
              <a:rPr lang="nl-BE" sz="2400" dirty="0"/>
              <a:t> a + </a:t>
            </a:r>
            <a:r>
              <a:rPr lang="nl-BE" sz="2400" dirty="0">
                <a:solidFill>
                  <a:schemeClr val="accent4"/>
                </a:solidFill>
              </a:rPr>
              <a:t>1</a:t>
            </a:r>
            <a:r>
              <a:rPr lang="nl-BE" sz="2400" dirty="0"/>
              <a:t> b pour 1, </a:t>
            </a:r>
            <a:r>
              <a:rPr lang="nl-BE" sz="2400" dirty="0">
                <a:solidFill>
                  <a:schemeClr val="accent4"/>
                </a:solidFill>
              </a:rPr>
              <a:t>1</a:t>
            </a:r>
            <a:r>
              <a:rPr lang="nl-BE" sz="2400" dirty="0"/>
              <a:t> a</a:t>
            </a:r>
            <a:r>
              <a:rPr lang="nl-BE" sz="2400" baseline="30000" dirty="0"/>
              <a:t>2</a:t>
            </a:r>
            <a:r>
              <a:rPr lang="nl-BE" sz="2400" dirty="0"/>
              <a:t> + </a:t>
            </a:r>
            <a:r>
              <a:rPr lang="nl-BE" sz="2400" dirty="0">
                <a:solidFill>
                  <a:schemeClr val="accent4"/>
                </a:solidFill>
              </a:rPr>
              <a:t>2</a:t>
            </a:r>
            <a:r>
              <a:rPr lang="nl-BE" sz="2400" dirty="0"/>
              <a:t> ab + </a:t>
            </a:r>
            <a:r>
              <a:rPr lang="nl-BE" sz="2400" dirty="0">
                <a:solidFill>
                  <a:schemeClr val="accent4"/>
                </a:solidFill>
              </a:rPr>
              <a:t>1</a:t>
            </a:r>
            <a:r>
              <a:rPr lang="nl-BE" sz="2400" dirty="0"/>
              <a:t> b</a:t>
            </a:r>
            <a:r>
              <a:rPr lang="nl-BE" sz="2400" baseline="30000" dirty="0"/>
              <a:t>2</a:t>
            </a:r>
            <a:r>
              <a:rPr lang="nl-BE" sz="2400" dirty="0"/>
              <a:t>, …</a:t>
            </a:r>
          </a:p>
          <a:p>
            <a:r>
              <a:rPr lang="nl-BE" sz="2400" dirty="0"/>
              <a:t>Chaque terme est la somme des deux termes du dessus. Une ligne </a:t>
            </a:r>
            <a:r>
              <a:rPr lang="nl-BE" sz="2400" dirty="0">
                <a:solidFill>
                  <a:schemeClr val="accent4"/>
                </a:solidFill>
              </a:rPr>
              <a:t>n</a:t>
            </a:r>
            <a:r>
              <a:rPr lang="nl-BE" sz="2400" dirty="0"/>
              <a:t> donnée contient </a:t>
            </a:r>
            <a:r>
              <a:rPr lang="nl-BE" sz="2400" dirty="0">
                <a:solidFill>
                  <a:schemeClr val="accent4"/>
                </a:solidFill>
              </a:rPr>
              <a:t>n</a:t>
            </a:r>
            <a:r>
              <a:rPr lang="nl-BE" sz="2400" dirty="0"/>
              <a:t> nombres, et le triangle commence par 1 et 1, 1.</a:t>
            </a:r>
          </a:p>
          <a:p>
            <a:r>
              <a:rPr lang="nl-BE" sz="2400" dirty="0"/>
              <a:t>Ecrivez une classe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Pascal</a:t>
            </a:r>
            <a:r>
              <a:rPr lang="nl-BE" sz="2400" dirty="0"/>
              <a:t> possédant une méthode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int[][] triangle(int n)</a:t>
            </a:r>
            <a:r>
              <a:rPr lang="nl-BE" sz="2400" dirty="0"/>
              <a:t> qui calcule et retourne ce tableau jusqu’à la ligne </a:t>
            </a:r>
            <a:r>
              <a:rPr lang="nl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nl-BE" sz="2400" dirty="0"/>
              <a:t>.</a:t>
            </a:r>
          </a:p>
          <a:p>
            <a:r>
              <a:rPr lang="fr-FR" sz="2400" dirty="0"/>
              <a:t>Ecrivez ensuite un programme qui demande </a:t>
            </a:r>
            <a:r>
              <a:rPr lang="nl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fr-FR" sz="2400" dirty="0"/>
              <a:t> à l’utilisateur, puis calcule</a:t>
            </a:r>
            <a:br>
              <a:rPr lang="fr-FR" sz="2400" dirty="0"/>
            </a:br>
            <a:r>
              <a:rPr lang="fr-FR" sz="2400" dirty="0"/>
              <a:t>et  affiche le triangle en utilisant deux boucles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for...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each</a:t>
            </a:r>
            <a:r>
              <a:rPr lang="fr-FR" sz="2400" dirty="0"/>
              <a:t> imbriquées.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52BF91C-2A3C-42B2-2229-08C4343B1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31243" y="4235985"/>
            <a:ext cx="2794000" cy="200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6346BD79-731A-E59A-644E-A39D634D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B044D1-DAB9-C73D-395A-AE693FDF2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0312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sz="2400" dirty="0"/>
              <a:t>Le package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exercice07</a:t>
            </a:r>
            <a:r>
              <a:rPr lang="nl-BE" sz="2400" dirty="0"/>
              <a:t> contient une classe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Player</a:t>
            </a:r>
            <a:r>
              <a:rPr lang="nl-BE" sz="2400" dirty="0"/>
              <a:t>. Comme vous pouvez le voir, un joueur a un nom et un nombre de points accumulés lors d’un jeu.</a:t>
            </a:r>
          </a:p>
          <a:p>
            <a:r>
              <a:rPr lang="nl-BE" sz="2400" dirty="0"/>
              <a:t>Le petit programme joint crée deux joueurs, Max et Paul</a:t>
            </a:r>
          </a:p>
          <a:p>
            <a:r>
              <a:rPr lang="nl-BE" sz="2400" dirty="0"/>
              <a:t>Ensuite, ils jouent à un jeu où ils tirent chacun un dé. Celui qui a le plus gros nombre marque un point, jusqu’à ce qu’un d’eux ait le nombre maximum de points défini par le programme.</a:t>
            </a:r>
          </a:p>
          <a:p>
            <a:r>
              <a:rPr lang="nl-BE" sz="2400" dirty="0"/>
              <a:t>Utilisez une instruction ternaire pour </a:t>
            </a:r>
          </a:p>
          <a:p>
            <a:pPr lvl="1"/>
            <a:r>
              <a:rPr lang="nl-BE" sz="2000" dirty="0"/>
              <a:t>que la méthode </a:t>
            </a: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playAndReturnWinner</a:t>
            </a:r>
            <a:r>
              <a:rPr lang="nl-BE" sz="2000" dirty="0"/>
              <a:t> du jeu retourne le gagnant (ligne 21 de </a:t>
            </a: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Game</a:t>
            </a:r>
            <a:r>
              <a:rPr lang="nl-BE" sz="2000" dirty="0"/>
              <a:t>).</a:t>
            </a:r>
          </a:p>
          <a:p>
            <a:pPr lvl="1"/>
            <a:r>
              <a:rPr lang="nl-BE" sz="2000" dirty="0"/>
              <a:t>ajouter un point au premier ou au deuxième à chaque tour (à la ligne 31 de </a:t>
            </a: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Game</a:t>
            </a:r>
            <a:r>
              <a:rPr lang="nl-BE" sz="2000" dirty="0"/>
              <a:t>).</a:t>
            </a:r>
          </a:p>
          <a:p>
            <a:r>
              <a:rPr lang="fr-FR" sz="2400" dirty="0"/>
              <a:t>Si vous séchez un peu, rappelez-vous que l’opérateur ternaire retourne une valeur…</a:t>
            </a:r>
          </a:p>
        </p:txBody>
      </p:sp>
      <p:pic>
        <p:nvPicPr>
          <p:cNvPr id="4" name="Picture 2" descr="blog-nutrition-outlet">
            <a:extLst>
              <a:ext uri="{FF2B5EF4-FFF2-40B4-BE49-F238E27FC236}">
                <a16:creationId xmlns:a16="http://schemas.microsoft.com/office/drawing/2014/main" id="{AE909D04-1445-C2DE-CDC4-54EBDD048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A4543F-A59A-75C2-AEA3-B3C0D8AF4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646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noProof="0" dirty="0"/>
              <a:t>Une voiture se caractérise par une marque, un modèle, un numéro de série.</a:t>
            </a:r>
          </a:p>
          <a:p>
            <a:pPr marL="0" indent="0">
              <a:buNone/>
            </a:pPr>
            <a:r>
              <a:rPr lang="fr-FR" sz="1800" dirty="0"/>
              <a:t>Une vente est faite par un vendeur, concerne une voiture, et est faite à </a:t>
            </a:r>
            <a:r>
              <a:rPr lang="fr-FR" sz="1800" noProof="0" dirty="0"/>
              <a:t>un prix catalogue et un prix réel</a:t>
            </a:r>
          </a:p>
          <a:p>
            <a:pPr lvl="1"/>
            <a:r>
              <a:rPr lang="fr-FR" sz="1600" noProof="0" dirty="0"/>
              <a:t>Lors de la vente, le vendeur applique souvent un pourcentage de réduction sur le prix catalogue, ce qui donne le prix réel</a:t>
            </a:r>
          </a:p>
          <a:p>
            <a:r>
              <a:rPr lang="fr-FR" sz="1800" noProof="0" dirty="0"/>
              <a:t>Créez une classe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</a:t>
            </a:r>
            <a:r>
              <a:rPr lang="fr-FR" sz="1800" noProof="0" dirty="0"/>
              <a:t> définissant les attributs ci-dessus</a:t>
            </a:r>
          </a:p>
          <a:p>
            <a:r>
              <a:rPr lang="fr-FR" sz="1800" dirty="0"/>
              <a:t>Créez la classe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Sale</a:t>
            </a:r>
            <a:r>
              <a:rPr lang="fr-FR" sz="1800" dirty="0"/>
              <a:t> pour modéliser la vente; elle contient:</a:t>
            </a:r>
          </a:p>
          <a:p>
            <a:pPr lvl="1"/>
            <a:r>
              <a:rPr lang="fr-FR" sz="1600" noProof="0" dirty="0"/>
              <a:t>Une méthode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computeRealPrice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(double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reduction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sz="1600" noProof="0" dirty="0"/>
              <a:t> prenant en entrée le taux de réduction,</a:t>
            </a:r>
            <a:br>
              <a:rPr lang="fr-FR" sz="1600" noProof="0" dirty="0"/>
            </a:br>
            <a:r>
              <a:rPr lang="fr-FR" sz="1600" noProof="0" dirty="0"/>
              <a:t>qui retourne le prix avec réduction.</a:t>
            </a:r>
          </a:p>
          <a:p>
            <a:pPr lvl="1"/>
            <a:r>
              <a:rPr lang="fr-FR" sz="1600" noProof="0" dirty="0"/>
              <a:t>Une méthode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display()</a:t>
            </a:r>
            <a:r>
              <a:rPr lang="fr-FR" sz="1600" noProof="0" dirty="0"/>
              <a:t> permettant à l’objet d’afficher ses données</a:t>
            </a:r>
          </a:p>
          <a:p>
            <a:r>
              <a:rPr lang="fr-FR" sz="1800" noProof="0" dirty="0"/>
              <a:t>Dans sa classe, le vendeur (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Vendor</a:t>
            </a:r>
            <a:r>
              <a:rPr lang="fr-FR" sz="1800" noProof="0" dirty="0"/>
              <a:t>) qui est une personne possède aussi un tableau de 10 ventes </a:t>
            </a:r>
            <a:r>
              <a:rPr lang="fr-FR" sz="1600" noProof="0" dirty="0"/>
              <a:t>(nous verrons mieux plus tard)</a:t>
            </a:r>
            <a:r>
              <a:rPr lang="fr-FR" sz="1800" noProof="0" dirty="0"/>
              <a:t>.</a:t>
            </a:r>
          </a:p>
          <a:p>
            <a:r>
              <a:rPr lang="fr-FR" sz="1800" noProof="0" dirty="0"/>
              <a:t>Créez ensuite plusieurs objets des différentes classes et exécutez des ventes avec et sans taux de réduction</a:t>
            </a:r>
          </a:p>
          <a:p>
            <a:pPr marL="0" indent="0">
              <a:buNone/>
            </a:pPr>
            <a:r>
              <a:rPr lang="fr-FR" sz="1600" u="sng" dirty="0"/>
              <a:t>Note</a:t>
            </a:r>
            <a:r>
              <a:rPr lang="fr-FR" sz="1600" dirty="0"/>
              <a:t>: </a:t>
            </a:r>
            <a:r>
              <a:rPr lang="fr-BE" sz="1600" dirty="0"/>
              <a:t>vous devez créer les champs et les méthodes nécessaires pour créer une vente, attribuer une ristourne…</a:t>
            </a:r>
            <a:endParaRPr lang="fr-FR" sz="1600" noProof="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C0D95BC5-C218-F091-CE72-C1B5258359AF}"/>
              </a:ext>
            </a:extLst>
          </p:cNvPr>
          <p:cNvGrpSpPr/>
          <p:nvPr/>
        </p:nvGrpSpPr>
        <p:grpSpPr>
          <a:xfrm>
            <a:off x="4060411" y="902543"/>
            <a:ext cx="5580158" cy="544292"/>
            <a:chOff x="3326293" y="299259"/>
            <a:chExt cx="6050855" cy="59020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2314E9-CB10-1C4E-856D-81746CF0FAA2}"/>
                </a:ext>
              </a:extLst>
            </p:cNvPr>
            <p:cNvSpPr/>
            <p:nvPr/>
          </p:nvSpPr>
          <p:spPr>
            <a:xfrm>
              <a:off x="3326293" y="299259"/>
              <a:ext cx="899056" cy="5902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Car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B134B6-D227-0DDF-3B57-F4E527D0763B}"/>
                </a:ext>
              </a:extLst>
            </p:cNvPr>
            <p:cNvSpPr/>
            <p:nvPr/>
          </p:nvSpPr>
          <p:spPr>
            <a:xfrm>
              <a:off x="5119544" y="299259"/>
              <a:ext cx="899056" cy="5902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Sale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B4D3F55-3A99-089E-825F-D58021F9BE41}"/>
                </a:ext>
              </a:extLst>
            </p:cNvPr>
            <p:cNvSpPr/>
            <p:nvPr/>
          </p:nvSpPr>
          <p:spPr>
            <a:xfrm>
              <a:off x="6919098" y="299259"/>
              <a:ext cx="899056" cy="5902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Vendor</a:t>
              </a:r>
              <a:endParaRPr lang="fr-F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2256B6-C8C2-D275-A596-E8AD378F4F6B}"/>
                </a:ext>
              </a:extLst>
            </p:cNvPr>
            <p:cNvSpPr/>
            <p:nvPr/>
          </p:nvSpPr>
          <p:spPr>
            <a:xfrm>
              <a:off x="8478092" y="299259"/>
              <a:ext cx="899056" cy="5902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Person</a:t>
              </a:r>
            </a:p>
          </p:txBody>
        </p:sp>
        <p:sp>
          <p:nvSpPr>
            <p:cNvPr id="9" name="Flèche vers la droite 8">
              <a:extLst>
                <a:ext uri="{FF2B5EF4-FFF2-40B4-BE49-F238E27FC236}">
                  <a16:creationId xmlns:a16="http://schemas.microsoft.com/office/drawing/2014/main" id="{EF73ECC5-A7EE-7154-9DD6-ADC6D7D0FBEF}"/>
                </a:ext>
              </a:extLst>
            </p:cNvPr>
            <p:cNvSpPr/>
            <p:nvPr/>
          </p:nvSpPr>
          <p:spPr>
            <a:xfrm>
              <a:off x="7818154" y="473510"/>
              <a:ext cx="659232" cy="241702"/>
            </a:xfrm>
            <a:prstGeom prst="rightArrow">
              <a:avLst>
                <a:gd name="adj1" fmla="val 10000"/>
                <a:gd name="adj2" fmla="val 84393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966A25-87BE-6CFF-9F4C-74A827CF2E75}"/>
                </a:ext>
              </a:extLst>
            </p:cNvPr>
            <p:cNvSpPr/>
            <p:nvPr/>
          </p:nvSpPr>
          <p:spPr>
            <a:xfrm>
              <a:off x="6019307" y="573505"/>
              <a:ext cx="900000" cy="25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0DA518-F0B6-B8D0-C6DC-4E0CA03327B7}"/>
                </a:ext>
              </a:extLst>
            </p:cNvPr>
            <p:cNvSpPr/>
            <p:nvPr/>
          </p:nvSpPr>
          <p:spPr>
            <a:xfrm>
              <a:off x="4223398" y="573505"/>
              <a:ext cx="900000" cy="25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40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FA0D2325-FD7E-6449-25A4-5210D81C2B4F}"/>
                </a:ext>
              </a:extLst>
            </p:cNvPr>
            <p:cNvSpPr txBox="1"/>
            <p:nvPr/>
          </p:nvSpPr>
          <p:spPr>
            <a:xfrm>
              <a:off x="4150809" y="619961"/>
              <a:ext cx="429687" cy="266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>
                  <a:latin typeface="Consolas" panose="020B0609020204030204" pitchFamily="49" charset="0"/>
                  <a:cs typeface="Consolas" panose="020B0609020204030204" pitchFamily="49" charset="0"/>
                </a:rPr>
                <a:t>[1]</a:t>
              </a: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7647653-86CE-687C-E4A4-1DADDB5FF33E}"/>
                </a:ext>
              </a:extLst>
            </p:cNvPr>
            <p:cNvSpPr txBox="1"/>
            <p:nvPr/>
          </p:nvSpPr>
          <p:spPr>
            <a:xfrm>
              <a:off x="4471455" y="619961"/>
              <a:ext cx="721053" cy="266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1000" dirty="0">
                  <a:latin typeface="Consolas" panose="020B0609020204030204" pitchFamily="49" charset="0"/>
                  <a:cs typeface="Consolas" panose="020B0609020204030204" pitchFamily="49" charset="0"/>
                </a:rPr>
                <a:t>[0..1]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AE84679C-2C6C-0AA5-3157-C2B69A953D86}"/>
                </a:ext>
              </a:extLst>
            </p:cNvPr>
            <p:cNvSpPr txBox="1"/>
            <p:nvPr/>
          </p:nvSpPr>
          <p:spPr>
            <a:xfrm>
              <a:off x="6595722" y="619961"/>
              <a:ext cx="429687" cy="266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>
                  <a:latin typeface="Consolas" panose="020B0609020204030204" pitchFamily="49" charset="0"/>
                  <a:cs typeface="Consolas" panose="020B0609020204030204" pitchFamily="49" charset="0"/>
                </a:rPr>
                <a:t>[1]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C1562B4C-E250-0A0E-0473-9486A21639D0}"/>
                </a:ext>
              </a:extLst>
            </p:cNvPr>
            <p:cNvSpPr txBox="1"/>
            <p:nvPr/>
          </p:nvSpPr>
          <p:spPr>
            <a:xfrm>
              <a:off x="5942484" y="619961"/>
              <a:ext cx="429687" cy="266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dirty="0">
                  <a:latin typeface="Consolas" panose="020B0609020204030204" pitchFamily="49" charset="0"/>
                  <a:cs typeface="Consolas" panose="020B0609020204030204" pitchFamily="49" charset="0"/>
                </a:rPr>
                <a:t>[*]</a:t>
              </a:r>
            </a:p>
          </p:txBody>
        </p:sp>
      </p:grpSp>
      <p:sp>
        <p:nvSpPr>
          <p:cNvPr id="10" name="Explosion 2 9">
            <a:extLst>
              <a:ext uri="{FF2B5EF4-FFF2-40B4-BE49-F238E27FC236}">
                <a16:creationId xmlns:a16="http://schemas.microsoft.com/office/drawing/2014/main" id="{4F26F99A-C6AF-429D-63B2-C9BA9BE95D4D}"/>
              </a:ext>
            </a:extLst>
          </p:cNvPr>
          <p:cNvSpPr/>
          <p:nvPr/>
        </p:nvSpPr>
        <p:spPr>
          <a:xfrm>
            <a:off x="9316940" y="2822714"/>
            <a:ext cx="2663687" cy="1405393"/>
          </a:xfrm>
          <a:prstGeom prst="irregularSeal2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1"/>
                </a:solidFill>
              </a:rPr>
              <a:t>Vu en C#</a:t>
            </a:r>
          </a:p>
        </p:txBody>
      </p:sp>
      <p:pic>
        <p:nvPicPr>
          <p:cNvPr id="11" name="Picture 2" descr="blog-nutrition-outlet">
            <a:extLst>
              <a:ext uri="{FF2B5EF4-FFF2-40B4-BE49-F238E27FC236}">
                <a16:creationId xmlns:a16="http://schemas.microsoft.com/office/drawing/2014/main" id="{4B4F5835-F12E-26D6-C4C4-5853D8C69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F679B1-7775-5EAF-9F27-0D2818F6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3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6733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800" noProof="0" dirty="0"/>
              <a:t>On vous demande d’écrire un programme qui pourra piloter un feu de signalisation.</a:t>
            </a:r>
          </a:p>
          <a:p>
            <a:pPr marL="0" indent="0">
              <a:buNone/>
            </a:pPr>
            <a:r>
              <a:rPr lang="fr-FR" sz="1800" dirty="0"/>
              <a:t>Vous écrirez donc deux classes (</a:t>
            </a:r>
            <a:r>
              <a:rPr lang="fr-FR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Programme</a:t>
            </a:r>
            <a:r>
              <a:rPr lang="fr-FR" sz="1800" dirty="0"/>
              <a:t> et </a:t>
            </a:r>
            <a:r>
              <a:rPr lang="fr-FR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FeuDeSignalisation</a:t>
            </a:r>
            <a:r>
              <a:rPr lang="fr-FR" sz="1800" dirty="0"/>
              <a:t>) et une </a:t>
            </a:r>
            <a:r>
              <a:rPr lang="fr-FR" sz="1800" dirty="0" err="1"/>
              <a:t>enum</a:t>
            </a:r>
            <a:r>
              <a:rPr lang="fr-FR" sz="1800" dirty="0"/>
              <a:t> </a:t>
            </a:r>
            <a:r>
              <a:rPr lang="fr-FR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CouleurDeFeu</a:t>
            </a:r>
            <a:r>
              <a:rPr lang="fr-FR" sz="1800" dirty="0"/>
              <a:t>.</a:t>
            </a:r>
          </a:p>
          <a:p>
            <a:r>
              <a:rPr lang="fr-FR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CouleurDeFeu</a:t>
            </a:r>
            <a:r>
              <a:rPr lang="fr-FR" sz="1800" dirty="0"/>
              <a:t> contiendra trois couleurs (constantes): </a:t>
            </a:r>
            <a:r>
              <a:rPr lang="fr-FR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VERT</a:t>
            </a:r>
            <a:r>
              <a:rPr lang="fr-FR" sz="1800" dirty="0"/>
              <a:t>, </a:t>
            </a:r>
            <a:r>
              <a:rPr lang="fr-FR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ORANGE</a:t>
            </a:r>
            <a:r>
              <a:rPr lang="fr-FR" sz="1800" dirty="0"/>
              <a:t> et </a:t>
            </a:r>
            <a:r>
              <a:rPr lang="fr-FR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ROUGE</a:t>
            </a:r>
            <a:r>
              <a:rPr lang="fr-FR" sz="1800" dirty="0"/>
              <a:t>.</a:t>
            </a:r>
            <a:endParaRPr lang="fr-FR" sz="1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FeuDeSignalisation</a:t>
            </a:r>
            <a:r>
              <a:rPr lang="fr-FR" sz="2000" noProof="0" dirty="0"/>
              <a:t> présente quatre méthodes:</a:t>
            </a:r>
          </a:p>
          <a:p>
            <a:pPr lvl="1"/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desactive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sz="2000" dirty="0"/>
              <a:t> rend le feu inactif: il affiche une couleur orange et ne change pas de couleur.</a:t>
            </a:r>
          </a:p>
          <a:p>
            <a:pPr lvl="1"/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active()</a:t>
            </a:r>
            <a:r>
              <a:rPr lang="fr-FR" sz="2000" noProof="0" dirty="0"/>
              <a:t> rend le feu actif: le feu devient rouge et peut changer de couleur.</a:t>
            </a:r>
          </a:p>
          <a:p>
            <a:pPr lvl="1"/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changeDeCouleur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sz="2000" dirty="0"/>
              <a:t> fait passer la couleur du feu de vert </a:t>
            </a:r>
            <a:r>
              <a:rPr lang="fr-FR" sz="2000" dirty="0">
                <a:sym typeface="Wingdings" pitchFamily="2" charset="2"/>
              </a:rPr>
              <a:t></a:t>
            </a:r>
            <a:r>
              <a:rPr lang="fr-FR" sz="2000" dirty="0"/>
              <a:t> orange </a:t>
            </a:r>
            <a:r>
              <a:rPr lang="fr-FR" sz="2000" dirty="0">
                <a:sym typeface="Wingdings" pitchFamily="2" charset="2"/>
              </a:rPr>
              <a:t></a:t>
            </a:r>
            <a:r>
              <a:rPr lang="fr-FR" sz="2000" dirty="0"/>
              <a:t> rouge </a:t>
            </a:r>
            <a:r>
              <a:rPr lang="fr-FR" sz="2000" dirty="0">
                <a:sym typeface="Wingdings" pitchFamily="2" charset="2"/>
              </a:rPr>
              <a:t> vert</a:t>
            </a:r>
            <a:r>
              <a:rPr lang="fr-FR" sz="2000" dirty="0"/>
              <a:t>.</a:t>
            </a:r>
          </a:p>
          <a:p>
            <a:pPr lvl="1"/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affiche()</a:t>
            </a:r>
            <a:r>
              <a:rPr lang="fr-FR" sz="2000" noProof="0" dirty="0"/>
              <a:t> affiche la couleur du feu ainsi que son état (actif/inactif).</a:t>
            </a:r>
          </a:p>
          <a:p>
            <a:pPr lvl="1"/>
            <a:r>
              <a:rPr lang="fr-FR" sz="2000" dirty="0"/>
              <a:t>En outre, un nouveau feu est toujours inactif.</a:t>
            </a:r>
            <a:endParaRPr lang="fr-FR" sz="2000" noProof="0" dirty="0"/>
          </a:p>
          <a:p>
            <a:pPr marL="0" indent="0">
              <a:buNone/>
            </a:pPr>
            <a:r>
              <a:rPr lang="fr-FR" sz="1800" dirty="0"/>
              <a:t>Vous écrivez ensuite un </a:t>
            </a:r>
            <a:r>
              <a:rPr lang="fr-FR" sz="1800" noProof="0" dirty="0"/>
              <a:t>programme dans lequel vous instanciez un feu et vous le faites changer de couleur. Activez-le et désactivez-le également pour vérifier son bon fonctionnement (un feu désactivé ne peut pas changer de couleur, il reste orange).</a:t>
            </a:r>
          </a:p>
        </p:txBody>
      </p:sp>
      <p:pic>
        <p:nvPicPr>
          <p:cNvPr id="4" name="Picture 2" descr="blog-nutrition-outlet">
            <a:extLst>
              <a:ext uri="{FF2B5EF4-FFF2-40B4-BE49-F238E27FC236}">
                <a16:creationId xmlns:a16="http://schemas.microsoft.com/office/drawing/2014/main" id="{50920832-6341-3EA7-B721-72D19EE0F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8535B2-2DAE-2A57-1458-064AF5C43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354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6733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noProof="0" dirty="0"/>
              <a:t>Créez une classe </a:t>
            </a:r>
            <a:r>
              <a:rPr lang="fr-FR" sz="1800" noProof="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Temperature</a:t>
            </a:r>
            <a:r>
              <a:rPr lang="fr-FR" sz="2000" noProof="0" dirty="0"/>
              <a:t>, qui permettra de stocker une température et de l’exprimer aussi bien en degrés Celsius que Fahrenheit</a:t>
            </a:r>
            <a:r>
              <a:rPr lang="fr-FR" sz="2000" dirty="0"/>
              <a:t>. Utilisez une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fr-FR" sz="2000" dirty="0"/>
              <a:t> pour les unités (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TemperatureUnit</a:t>
            </a:r>
            <a:r>
              <a:rPr lang="fr-FR" sz="2000" dirty="0"/>
              <a:t>).</a:t>
            </a:r>
            <a:endParaRPr lang="fr-FR" sz="2000" noProof="0" dirty="0"/>
          </a:p>
          <a:p>
            <a:pPr marL="0" indent="0">
              <a:buNone/>
            </a:pPr>
            <a:r>
              <a:rPr lang="fr-FR" sz="2000" noProof="0" dirty="0"/>
              <a:t>Plus précisément, cette classe devra </a:t>
            </a:r>
          </a:p>
          <a:p>
            <a:pPr lvl="1"/>
            <a:r>
              <a:rPr lang="fr-FR" sz="2000" noProof="0" dirty="0"/>
              <a:t>Posséder un constructeur prenant en entrée la température et l’unité initiale</a:t>
            </a:r>
          </a:p>
          <a:p>
            <a:pPr lvl="1"/>
            <a:r>
              <a:rPr lang="fr-FR" sz="2000" noProof="0" dirty="0"/>
              <a:t>Posséder une méthode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getValue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TemperatureUnit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sz="2000" noProof="0" dirty="0"/>
              <a:t> pour renvoyer la température dans l’unité voulue</a:t>
            </a:r>
          </a:p>
          <a:p>
            <a:pPr lvl="1"/>
            <a:r>
              <a:rPr lang="fr-FR" sz="2000" dirty="0"/>
              <a:t>Posséder une méthode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(double,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TemperatureUnit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sz="2000" dirty="0"/>
              <a:t> pour modifier la valeur de la température</a:t>
            </a:r>
            <a:endParaRPr lang="fr-FR" sz="2000" noProof="0" dirty="0"/>
          </a:p>
          <a:p>
            <a:pPr lvl="1"/>
            <a:r>
              <a:rPr lang="fr-FR" sz="2000" noProof="0" dirty="0"/>
              <a:t>… et tous les éléments qui vous sembleront nécessaires</a:t>
            </a:r>
          </a:p>
          <a:p>
            <a:r>
              <a:rPr lang="fr-FR" sz="2000" noProof="0" dirty="0"/>
              <a:t>Pour info: 	°C </a:t>
            </a:r>
            <a:r>
              <a:rPr lang="fr-FR" sz="2000" noProof="0" dirty="0">
                <a:sym typeface="Wingdings" panose="05000000000000000000" pitchFamily="2" charset="2"/>
              </a:rPr>
              <a:t> °F : y = x*9 / 5 + 32		(10°C  50°F)</a:t>
            </a:r>
          </a:p>
          <a:p>
            <a:pPr marL="0" indent="0">
              <a:buNone/>
            </a:pPr>
            <a:r>
              <a:rPr lang="fr-FR" sz="2000" noProof="0" dirty="0">
                <a:sym typeface="Wingdings" panose="05000000000000000000" pitchFamily="2" charset="2"/>
              </a:rPr>
              <a:t>		° F  °C : y = (x – 32) * 5 / 9		(23°F  -5°C)</a:t>
            </a:r>
          </a:p>
          <a:p>
            <a:pPr marL="0" indent="0">
              <a:buNone/>
            </a:pPr>
            <a:r>
              <a:rPr lang="fr-FR" sz="2000" u="sng" dirty="0">
                <a:sym typeface="Wingdings" panose="05000000000000000000" pitchFamily="2" charset="2"/>
              </a:rPr>
              <a:t>Note</a:t>
            </a:r>
            <a:r>
              <a:rPr lang="fr-FR" sz="2000" dirty="0">
                <a:sym typeface="Wingdings" panose="05000000000000000000" pitchFamily="2" charset="2"/>
              </a:rPr>
              <a:t>: pour les conversions, si vos calculs ne tombent pas juste, réfléchissez au type des opérations.</a:t>
            </a:r>
            <a:endParaRPr lang="fr-FR" sz="2000" noProof="0" dirty="0"/>
          </a:p>
        </p:txBody>
      </p:sp>
      <p:pic>
        <p:nvPicPr>
          <p:cNvPr id="4" name="Picture 2" descr="blog-nutrition-outlet">
            <a:extLst>
              <a:ext uri="{FF2B5EF4-FFF2-40B4-BE49-F238E27FC236}">
                <a16:creationId xmlns:a16="http://schemas.microsoft.com/office/drawing/2014/main" id="{50920832-6341-3EA7-B721-72D19EE0F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FAE78F-CFEF-78FB-7EA4-26E02DF70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04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351338"/>
          </a:xfrm>
        </p:spPr>
        <p:txBody>
          <a:bodyPr>
            <a:noAutofit/>
          </a:bodyPr>
          <a:lstStyle/>
          <a:p>
            <a:r>
              <a:rPr lang="fr-FR" sz="2000" noProof="0" dirty="0"/>
              <a:t>Créez une classe </a:t>
            </a:r>
            <a:r>
              <a:rPr lang="fr-FR" sz="1800" noProof="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Card</a:t>
            </a:r>
            <a:r>
              <a:rPr lang="fr-FR" sz="2000" noProof="0" dirty="0"/>
              <a:t>, qui représente une carte à jouer</a:t>
            </a:r>
            <a:r>
              <a:rPr lang="fr-FR" sz="2000" dirty="0"/>
              <a:t>. Chaque carte a </a:t>
            </a:r>
          </a:p>
          <a:p>
            <a:pPr lvl="1"/>
            <a:r>
              <a:rPr lang="fr-FR" sz="1600" dirty="0"/>
              <a:t>une couleur (</a:t>
            </a:r>
            <a:r>
              <a:rPr lang="fr-FR" sz="1600" dirty="0" err="1"/>
              <a:t>enum</a:t>
            </a:r>
            <a:r>
              <a:rPr lang="fr-FR" sz="1600" dirty="0"/>
              <a:t>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fr-FR" sz="1600" dirty="0"/>
              <a:t>) parmi 4 (pique (</a:t>
            </a:r>
            <a:r>
              <a:rPr lang="fr-FR" sz="1600" dirty="0" err="1"/>
              <a:t>spades</a:t>
            </a:r>
            <a:r>
              <a:rPr lang="fr-FR" sz="1600" dirty="0"/>
              <a:t>), cœur (</a:t>
            </a:r>
            <a:r>
              <a:rPr lang="fr-FR" sz="1600" dirty="0" err="1"/>
              <a:t>hearts</a:t>
            </a:r>
            <a:r>
              <a:rPr lang="fr-FR" sz="1600" dirty="0"/>
              <a:t>), carreau (</a:t>
            </a:r>
            <a:r>
              <a:rPr lang="fr-FR" sz="1600" dirty="0" err="1"/>
              <a:t>diamonds</a:t>
            </a:r>
            <a:r>
              <a:rPr lang="fr-FR" sz="1600" dirty="0"/>
              <a:t>) et trèfle (clubs)) </a:t>
            </a:r>
          </a:p>
          <a:p>
            <a:pPr lvl="1"/>
            <a:r>
              <a:rPr lang="fr-FR" sz="1600" dirty="0"/>
              <a:t>une valeur (</a:t>
            </a:r>
            <a:r>
              <a:rPr lang="fr-FR" sz="1600" dirty="0" err="1"/>
              <a:t>enum</a:t>
            </a:r>
            <a:r>
              <a:rPr lang="fr-FR" sz="1600" dirty="0"/>
              <a:t>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fr-FR" sz="1600" dirty="0"/>
              <a:t>) parmi 13 (de 1 à 10, ainsi que le valet (Jack), la dame (Queen) et le roi (King)).</a:t>
            </a:r>
          </a:p>
          <a:p>
            <a:pPr lvl="1"/>
            <a:r>
              <a:rPr lang="fr-FR" sz="1600" dirty="0"/>
              <a:t>une méthode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fr-FR" sz="1600" dirty="0"/>
              <a:t> qui affiche la carte en français, comme « As de Pique » ou « 3 de Cœur ».</a:t>
            </a:r>
          </a:p>
          <a:p>
            <a:r>
              <a:rPr lang="fr-FR" sz="2000" noProof="0" dirty="0"/>
              <a:t>Créez une classe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Deck</a:t>
            </a:r>
            <a:r>
              <a:rPr lang="fr-FR" sz="2000" noProof="0" dirty="0"/>
              <a:t>, qui représente un jeu de cartes complet</a:t>
            </a:r>
            <a:r>
              <a:rPr lang="fr-FR" sz="2000" dirty="0"/>
              <a:t>. Il ne contient pas de Jokers. La classe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Deck</a:t>
            </a:r>
            <a:r>
              <a:rPr lang="fr-FR" sz="2000" dirty="0"/>
              <a:t> présente</a:t>
            </a:r>
          </a:p>
          <a:p>
            <a:pPr lvl="1"/>
            <a:r>
              <a:rPr lang="fr-FR" sz="1600" dirty="0"/>
              <a:t>Un constructeur qui créera les 4 x 13 cartes du jeu de cartes. </a:t>
            </a:r>
          </a:p>
          <a:p>
            <a:pPr lvl="1"/>
            <a:r>
              <a:rPr lang="fr-FR" sz="1600" dirty="0"/>
              <a:t>Une méthode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shuffle</a:t>
            </a:r>
            <a:r>
              <a:rPr lang="fr-FR" sz="1600" dirty="0"/>
              <a:t> qui mélangera</a:t>
            </a:r>
            <a:r>
              <a:rPr lang="fr-FR" sz="1600" baseline="30000" dirty="0"/>
              <a:t>*</a:t>
            </a:r>
            <a:r>
              <a:rPr lang="fr-FR" sz="1600" dirty="0"/>
              <a:t> les cartes du jeu.</a:t>
            </a:r>
          </a:p>
          <a:p>
            <a:r>
              <a:rPr lang="fr-FR" sz="2000" dirty="0"/>
              <a:t>Ensuite, écrivez un programme qui crée un jeu de cartes, l’affiche (trié) puis le mélange et l’affiche à nouveau.</a:t>
            </a:r>
            <a:endParaRPr lang="fr-FR" sz="1200" dirty="0"/>
          </a:p>
        </p:txBody>
      </p:sp>
      <p:pic>
        <p:nvPicPr>
          <p:cNvPr id="1028" name="Picture 4" descr="Carte de jeu de jeu PNG Transparent Picture | PNG Mart">
            <a:extLst>
              <a:ext uri="{FF2B5EF4-FFF2-40B4-BE49-F238E27FC236}">
                <a16:creationId xmlns:a16="http://schemas.microsoft.com/office/drawing/2014/main" id="{E6077E59-61C2-4064-D782-B50B16FF3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819506">
            <a:off x="9977476" y="1719409"/>
            <a:ext cx="2095610" cy="15717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251379A-70BE-1BC0-C8E0-4F634286675E}"/>
              </a:ext>
            </a:extLst>
          </p:cNvPr>
          <p:cNvSpPr txBox="1"/>
          <p:nvPr/>
        </p:nvSpPr>
        <p:spPr>
          <a:xfrm>
            <a:off x="1192696" y="5116851"/>
            <a:ext cx="102969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Police système Courant"/>
              <a:buChar char="*"/>
            </a:pPr>
            <a:r>
              <a:rPr lang="fr-FR" sz="1600" dirty="0"/>
              <a:t>Une manière de mélanger les cartes consiste à parcourir les cartes de 1 à 52, et à chaque fois échanger la carte courante avec une autre carte choisie aléatoirement dans le paquet.</a:t>
            </a:r>
            <a:br>
              <a:rPr lang="fr-FR" sz="1600" dirty="0"/>
            </a:br>
            <a:r>
              <a:rPr lang="fr-FR" sz="1600" dirty="0"/>
              <a:t>Pour générer un nombre aléatoire, utilisez la classe </a:t>
            </a:r>
            <a:r>
              <a:rPr lang="fr-BE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java.util.Random</a:t>
            </a:r>
            <a:r>
              <a:rPr lang="fr-FR" sz="1600" dirty="0"/>
              <a:t> qui présente une méthode 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nextInt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sz="1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n)</a:t>
            </a:r>
            <a:r>
              <a:rPr lang="fr-FR" sz="1600" dirty="0"/>
              <a:t> qui retourne un nombre compris entre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FR" sz="1600" dirty="0"/>
              <a:t> (inclus) et </a:t>
            </a:r>
            <a:r>
              <a:rPr lang="fr-FR" sz="1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fr-FR" sz="1600" dirty="0"/>
              <a:t> (exclus).</a:t>
            </a:r>
            <a:endParaRPr lang="fr-FR" sz="1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" name="Picture 2" descr="blog-nutrition-outlet">
            <a:extLst>
              <a:ext uri="{FF2B5EF4-FFF2-40B4-BE49-F238E27FC236}">
                <a16:creationId xmlns:a16="http://schemas.microsoft.com/office/drawing/2014/main" id="{C5B8E06B-8673-BC4B-B395-C024D6750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F89EA3-1735-B7B8-71AF-5818E4327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283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990FE-2871-BFA8-2A89-9EB734EA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2A7E44-4636-8CEB-D6C9-9F10E8748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41B3AE-6DAE-BFC2-8012-3361D31E1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351338"/>
          </a:xfrm>
        </p:spPr>
        <p:txBody>
          <a:bodyPr>
            <a:noAutofit/>
          </a:bodyPr>
          <a:lstStyle/>
          <a:p>
            <a:r>
              <a:rPr lang="fr-FR" noProof="0" dirty="0"/>
              <a:t>Créez un record </a:t>
            </a:r>
            <a:r>
              <a:rPr lang="fr-FR" sz="2400" noProof="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Student</a:t>
            </a:r>
            <a:r>
              <a:rPr lang="fr-FR" noProof="0" dirty="0"/>
              <a:t>, qui représente un étudiant et sa note</a:t>
            </a:r>
            <a:r>
              <a:rPr lang="fr-FR" dirty="0"/>
              <a:t>. </a:t>
            </a:r>
          </a:p>
          <a:p>
            <a:r>
              <a:rPr lang="fr-FR" dirty="0"/>
              <a:t>Un étudiant a</a:t>
            </a:r>
          </a:p>
          <a:p>
            <a:pPr lvl="1"/>
            <a:r>
              <a:rPr lang="fr-FR" dirty="0"/>
              <a:t>un nom (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une cote (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dirty="0"/>
              <a:t>) de 0 à 20</a:t>
            </a:r>
          </a:p>
          <a:p>
            <a:pPr lvl="1"/>
            <a:r>
              <a:rPr lang="fr-FR" dirty="0"/>
              <a:t>une méthode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passe</a:t>
            </a:r>
            <a:r>
              <a:rPr lang="fr-FR" sz="2000" dirty="0"/>
              <a:t> </a:t>
            </a:r>
            <a:r>
              <a:rPr lang="fr-FR" dirty="0"/>
              <a:t>() qui indique si l’étudiant a réussi ou pas (cote ≥ 10).</a:t>
            </a:r>
          </a:p>
          <a:p>
            <a:r>
              <a:rPr lang="fr-FR" dirty="0"/>
              <a:t>Ensuite, écrivez un programme qui crée un tableau d’étudiants, et affiche chaque étudiant suivi de « réussi » ou de « échec ».</a:t>
            </a:r>
            <a:endParaRPr lang="fr-FR" sz="1600" dirty="0"/>
          </a:p>
        </p:txBody>
      </p:sp>
      <p:pic>
        <p:nvPicPr>
          <p:cNvPr id="4" name="Picture 2" descr="blog-nutrition-outlet">
            <a:extLst>
              <a:ext uri="{FF2B5EF4-FFF2-40B4-BE49-F238E27FC236}">
                <a16:creationId xmlns:a16="http://schemas.microsoft.com/office/drawing/2014/main" id="{81B406E1-1B63-3B79-3B55-B788936A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B48AB7-2911-CADA-E8D9-90C774C6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206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lasse de cours de programmation art abstrait à la manière de picasse">
            <a:extLst>
              <a:ext uri="{FF2B5EF4-FFF2-40B4-BE49-F238E27FC236}">
                <a16:creationId xmlns:a16="http://schemas.microsoft.com/office/drawing/2014/main" id="{8101D152-7DE3-CBE8-48EE-2B4ECB781B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3F0E3-E637-79C1-4DA0-C29FF4C8620E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47774F">
              <a:alpha val="69804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/>
              <a:t>Classe Abstraite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C796F83-48C5-5FA8-A9C5-EF410C8DB499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47774F">
              <a:alpha val="75294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Un modèle de classe sur base duquel des classes enfant seront créées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1DFEF1-FAFC-ECE7-F556-CD1C79696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3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FD7F1-95ED-8A69-7D3B-C150E953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56B125-5E22-9D7D-F5A8-86F29212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classes abstraites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F3AE8A-3B37-37DC-AF9D-916AEFE4B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sz="2400" dirty="0">
                <a:cs typeface="Consolas"/>
              </a:rPr>
              <a:t>Il est possible de définir une classe qui ne permet pas d’instancier des objets, qu’on appelle </a:t>
            </a:r>
            <a:r>
              <a:rPr lang="nl-BE" sz="2400" dirty="0">
                <a:solidFill>
                  <a:schemeClr val="accent4"/>
                </a:solidFill>
                <a:cs typeface="Consolas"/>
              </a:rPr>
              <a:t>classe abstraite</a:t>
            </a:r>
            <a:r>
              <a:rPr lang="nl-BE" sz="2400" dirty="0">
                <a:cs typeface="Consolas"/>
              </a:rPr>
              <a:t>.</a:t>
            </a:r>
          </a:p>
          <a:p>
            <a:pPr marL="0" indent="0">
              <a:buNone/>
            </a:pPr>
            <a:endParaRPr lang="nl-BE" sz="2400" dirty="0">
              <a:cs typeface="Consolas"/>
            </a:endParaRPr>
          </a:p>
          <a:p>
            <a:pPr marL="0" indent="0">
              <a:buNone/>
            </a:pPr>
            <a:r>
              <a:rPr lang="nl-BE" sz="2400" dirty="0">
                <a:cs typeface="Consolas"/>
              </a:rPr>
              <a:t>On utilise pour cela le mot clé 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abstract</a:t>
            </a:r>
            <a:r>
              <a:rPr lang="nl-BE" sz="2400" dirty="0">
                <a:latin typeface="+mn-lt"/>
                <a:cs typeface="Consolas"/>
              </a:rPr>
              <a:t>.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+mn-lt"/>
                <a:cs typeface="Consolas"/>
              </a:rPr>
              <a:t>	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abstract class Vehicule { ... }</a:t>
            </a:r>
          </a:p>
          <a:p>
            <a:pPr marL="0" indent="0">
              <a:buNone/>
            </a:pPr>
            <a:endParaRPr lang="nl-BE" sz="2400" dirty="0">
              <a:cs typeface="Consolas"/>
            </a:endParaRPr>
          </a:p>
          <a:p>
            <a:pPr marL="0" indent="0">
              <a:buNone/>
            </a:pPr>
            <a:r>
              <a:rPr lang="nl-BE" sz="2400" dirty="0">
                <a:cs typeface="Consolas"/>
              </a:rPr>
              <a:t>On pourra bien déclarer des objets de type </a:t>
            </a: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Vehicule</a:t>
            </a:r>
            <a:r>
              <a:rPr lang="nl-BE" sz="2400" dirty="0">
                <a:cs typeface="Consolas"/>
              </a:rPr>
              <a:t>, mais pas en instancier:</a:t>
            </a:r>
          </a:p>
          <a:p>
            <a:pPr marL="0" indent="0">
              <a:buNone/>
            </a:pP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	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Vehicule vehicule;         </a:t>
            </a:r>
            <a:r>
              <a:rPr lang="nl-BE" sz="2000" dirty="0">
                <a:solidFill>
                  <a:schemeClr val="accent6"/>
                </a:solidFill>
                <a:latin typeface="Consolas"/>
                <a:cs typeface="Consolas"/>
              </a:rPr>
              <a:t>// OK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</a:t>
            </a:r>
            <a:r>
              <a:rPr lang="nl-BE" sz="2000" dirty="0">
                <a:solidFill>
                  <a:schemeClr val="accent2"/>
                </a:solidFill>
                <a:latin typeface="Consolas"/>
                <a:cs typeface="Consolas"/>
              </a:rPr>
              <a:t>vehicule = new Vehicule();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 </a:t>
            </a:r>
            <a:r>
              <a:rPr lang="nl-BE" sz="2000" dirty="0">
                <a:solidFill>
                  <a:schemeClr val="accent6"/>
                </a:solidFill>
                <a:latin typeface="Consolas"/>
                <a:cs typeface="Consolas"/>
              </a:rPr>
              <a:t>// erreur de compil°</a:t>
            </a:r>
            <a:endParaRPr lang="nl-BE" sz="2400" dirty="0">
              <a:solidFill>
                <a:schemeClr val="accent6"/>
              </a:solidFill>
              <a:latin typeface="Consolas"/>
              <a:cs typeface="Consolas"/>
            </a:endParaRPr>
          </a:p>
          <a:p>
            <a:pPr marL="0" indent="0">
              <a:buNone/>
            </a:pPr>
            <a:endParaRPr lang="nl-BE" sz="2400" dirty="0">
              <a:cs typeface="Consolas"/>
            </a:endParaRPr>
          </a:p>
        </p:txBody>
      </p:sp>
      <p:sp>
        <p:nvSpPr>
          <p:cNvPr id="4" name="Parchemin horizontal 3">
            <a:extLst>
              <a:ext uri="{FF2B5EF4-FFF2-40B4-BE49-F238E27FC236}">
                <a16:creationId xmlns:a16="http://schemas.microsoft.com/office/drawing/2014/main" id="{B63240EF-BF0D-F419-4D3C-B5958038D053}"/>
              </a:ext>
            </a:extLst>
          </p:cNvPr>
          <p:cNvSpPr/>
          <p:nvPr/>
        </p:nvSpPr>
        <p:spPr>
          <a:xfrm>
            <a:off x="9796006" y="5390984"/>
            <a:ext cx="2162755" cy="785979"/>
          </a:xfrm>
          <a:prstGeom prst="horizontalScroll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Héritage…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4116CD3-9B6E-008F-370C-001C3F68D988}"/>
              </a:ext>
            </a:extLst>
          </p:cNvPr>
          <p:cNvSpPr/>
          <p:nvPr/>
        </p:nvSpPr>
        <p:spPr>
          <a:xfrm>
            <a:off x="1445078" y="5783973"/>
            <a:ext cx="8205107" cy="45041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/>
              <a:t>À quoi pourraient servir des classes qu’on ne peut pas instancier? Une idée?</a:t>
            </a:r>
            <a:endParaRPr lang="nl-BE" sz="2000" dirty="0">
              <a:cs typeface="Consolas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EF57A9-3C02-CBC3-2CBB-BB19D38CE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97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DC44E8-5A9E-5199-B0B6-0DA56D05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classes abstraites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B675AB-3B76-F935-F336-4B21E55A1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51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2000" dirty="0">
                <a:cs typeface="Consolas"/>
              </a:rPr>
              <a:t>Dans une classe abstraite, on peut définir des champs et des méthodes.</a:t>
            </a:r>
          </a:p>
          <a:p>
            <a:pPr marL="0" indent="0">
              <a:buNone/>
            </a:pPr>
            <a:r>
              <a:rPr lang="nl-BE" sz="2000" dirty="0">
                <a:cs typeface="Consolas"/>
              </a:rPr>
              <a:t>On pourra y retrouver deux sortes de méthodes:</a:t>
            </a:r>
          </a:p>
          <a:p>
            <a:r>
              <a:rPr lang="nl-BE" sz="2000" dirty="0">
                <a:cs typeface="Consolas"/>
              </a:rPr>
              <a:t>Des méthodes ‘normales’</a:t>
            </a:r>
          </a:p>
          <a:p>
            <a:r>
              <a:rPr lang="nl-BE" sz="2000" dirty="0">
                <a:cs typeface="Consolas"/>
              </a:rPr>
              <a:t>Des </a:t>
            </a:r>
            <a:r>
              <a:rPr lang="nl-BE" sz="2000" dirty="0">
                <a:solidFill>
                  <a:schemeClr val="accent4"/>
                </a:solidFill>
                <a:cs typeface="Consolas"/>
              </a:rPr>
              <a:t>méthodes abstraites</a:t>
            </a:r>
            <a:r>
              <a:rPr lang="nl-BE" sz="2000" dirty="0">
                <a:cs typeface="Consolas"/>
              </a:rPr>
              <a:t>, qui seront uniquement définies à l’aide de leur entête. Elles seront redéfinies dans les sous-classes.</a:t>
            </a:r>
            <a:endParaRPr lang="fr-FR" sz="2000" dirty="0">
              <a:latin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B218AA5-BC82-E3F9-8659-606E03D08E9E}"/>
              </a:ext>
            </a:extLst>
          </p:cNvPr>
          <p:cNvSpPr txBox="1"/>
          <p:nvPr/>
        </p:nvSpPr>
        <p:spPr>
          <a:xfrm>
            <a:off x="4963885" y="3737534"/>
            <a:ext cx="6998265" cy="2462213"/>
          </a:xfrm>
          <a:prstGeom prst="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0102E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solidFill>
                  <a:srgbClr val="0102E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abstract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2C91A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Vehicule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 err="1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protected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final </a:t>
            </a:r>
            <a:r>
              <a:rPr lang="fr-BE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marque 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""; </a:t>
            </a:r>
          </a:p>
          <a:p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 err="1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protected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vitesse;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400" dirty="0" err="1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accelerer</a:t>
            </a:r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deltaVitesse</a:t>
            </a:r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this.vitesse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deltaVitesse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</a:t>
            </a:r>
          </a:p>
          <a:p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400" dirty="0" err="1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decelerer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deltaVitesse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this.vitesse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fr-BE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Math</a:t>
            </a:r>
            <a:r>
              <a:rPr lang="fr-BE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.max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this.vitesse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fr-BE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deltaVitesse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0f); </a:t>
            </a:r>
          </a:p>
          <a:p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</a:t>
            </a:r>
          </a:p>
          <a:p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abstract </a:t>
            </a:r>
            <a:r>
              <a:rPr lang="fr-BE" sz="1400" dirty="0" err="1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sz="1400" dirty="0">
                <a:solidFill>
                  <a:srgbClr val="0102E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getNbRoues</a:t>
            </a: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  <a:b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9CB0A5C-D257-E87B-5AAB-87C991A700C3}"/>
              </a:ext>
            </a:extLst>
          </p:cNvPr>
          <p:cNvSpPr txBox="1"/>
          <p:nvPr/>
        </p:nvSpPr>
        <p:spPr>
          <a:xfrm>
            <a:off x="5370723" y="5703671"/>
            <a:ext cx="3501302" cy="247880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fr-FR" sz="1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C2B213-3E86-0787-ED51-84CC81B01F16}"/>
              </a:ext>
            </a:extLst>
          </p:cNvPr>
          <p:cNvSpPr/>
          <p:nvPr/>
        </p:nvSpPr>
        <p:spPr>
          <a:xfrm>
            <a:off x="9204370" y="1457870"/>
            <a:ext cx="1014843" cy="590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onsolas" panose="020B0609020204030204" pitchFamily="49" charset="0"/>
                <a:cs typeface="Consolas" panose="020B0609020204030204" pitchFamily="49" charset="0"/>
              </a:rPr>
              <a:t>Voiture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73EBA9-8485-3284-E850-3AF99A688EEE}"/>
              </a:ext>
            </a:extLst>
          </p:cNvPr>
          <p:cNvSpPr/>
          <p:nvPr/>
        </p:nvSpPr>
        <p:spPr>
          <a:xfrm>
            <a:off x="9798878" y="321295"/>
            <a:ext cx="1267202" cy="590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Vehicule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Flèche vers la droite 10">
            <a:extLst>
              <a:ext uri="{FF2B5EF4-FFF2-40B4-BE49-F238E27FC236}">
                <a16:creationId xmlns:a16="http://schemas.microsoft.com/office/drawing/2014/main" id="{630A6214-9F22-9375-B756-0E46965C1815}"/>
              </a:ext>
            </a:extLst>
          </p:cNvPr>
          <p:cNvSpPr/>
          <p:nvPr/>
        </p:nvSpPr>
        <p:spPr>
          <a:xfrm rot="18245568">
            <a:off x="9559981" y="1073401"/>
            <a:ext cx="659232" cy="241702"/>
          </a:xfrm>
          <a:prstGeom prst="rightArrow">
            <a:avLst>
              <a:gd name="adj1" fmla="val 10000"/>
              <a:gd name="adj2" fmla="val 84393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8BF9B0-39F3-F706-5DE0-6C798B83BF90}"/>
              </a:ext>
            </a:extLst>
          </p:cNvPr>
          <p:cNvSpPr/>
          <p:nvPr/>
        </p:nvSpPr>
        <p:spPr>
          <a:xfrm>
            <a:off x="10645744" y="1457870"/>
            <a:ext cx="1014843" cy="5902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latin typeface="Consolas" panose="020B0609020204030204" pitchFamily="49" charset="0"/>
                <a:cs typeface="Consolas" panose="020B0609020204030204" pitchFamily="49" charset="0"/>
              </a:rPr>
              <a:t>Moto</a:t>
            </a:r>
          </a:p>
        </p:txBody>
      </p:sp>
      <p:sp>
        <p:nvSpPr>
          <p:cNvPr id="13" name="Flèche vers la droite 12">
            <a:extLst>
              <a:ext uri="{FF2B5EF4-FFF2-40B4-BE49-F238E27FC236}">
                <a16:creationId xmlns:a16="http://schemas.microsoft.com/office/drawing/2014/main" id="{41EB11B9-3C60-0BA1-1904-77D23647E8A4}"/>
              </a:ext>
            </a:extLst>
          </p:cNvPr>
          <p:cNvSpPr/>
          <p:nvPr/>
        </p:nvSpPr>
        <p:spPr>
          <a:xfrm rot="13818205">
            <a:off x="10585595" y="1073401"/>
            <a:ext cx="659232" cy="241702"/>
          </a:xfrm>
          <a:prstGeom prst="rightArrow">
            <a:avLst>
              <a:gd name="adj1" fmla="val 10000"/>
              <a:gd name="adj2" fmla="val 84393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C7E45E-6F40-65B1-4D80-68B46473E0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57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33EB01-5113-E96B-42AB-D7A2D9C6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exemple…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15611F-0C78-1A9F-188C-CFEC67B9B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sz="2400" dirty="0">
                <a:latin typeface="+mn-lt"/>
                <a:cs typeface="Arial"/>
              </a:rPr>
              <a:t>Vous écrivez un programme pour initier des enfants de primaire </a:t>
            </a:r>
            <a:r>
              <a:rPr lang="nl-BE" sz="2400" dirty="0">
                <a:cs typeface="Arial"/>
              </a:rPr>
              <a:t>à la géométrie</a:t>
            </a:r>
            <a:r>
              <a:rPr lang="nl-BE" sz="2400" dirty="0">
                <a:latin typeface="+mn-lt"/>
                <a:cs typeface="Arial"/>
              </a:rPr>
              <a:t>.</a:t>
            </a:r>
          </a:p>
          <a:p>
            <a:pPr marL="0" indent="0">
              <a:buNone/>
            </a:pPr>
            <a:r>
              <a:rPr lang="nl-BE" sz="2400" dirty="0">
                <a:latin typeface="+mn-lt"/>
                <a:cs typeface="Arial"/>
              </a:rPr>
              <a:t>Ce programme devra leur permettre de manipuler des formes géométriques (cercles, triangles et carrés) affichées à l’écran.</a:t>
            </a:r>
          </a:p>
          <a:p>
            <a:pPr marL="0" indent="0">
              <a:buNone/>
            </a:pPr>
            <a:endParaRPr lang="nl-BE" sz="2400" dirty="0">
              <a:latin typeface="+mn-lt"/>
              <a:cs typeface="Arial"/>
            </a:endParaRPr>
          </a:p>
          <a:p>
            <a:pPr marL="0" indent="0">
              <a:buNone/>
            </a:pPr>
            <a:r>
              <a:rPr lang="nl-BE" sz="2400" dirty="0">
                <a:latin typeface="+mn-lt"/>
                <a:cs typeface="Arial"/>
              </a:rPr>
              <a:t>Vous décidez donc de créer une classe de base,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Forme</a:t>
            </a:r>
            <a:r>
              <a:rPr lang="nl-BE" sz="2400" dirty="0">
                <a:latin typeface="+mn-lt"/>
                <a:cs typeface="Arial"/>
              </a:rPr>
              <a:t>, qui modélise les propriétés de base de vos formes (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position</a:t>
            </a:r>
            <a:r>
              <a:rPr lang="nl-BE" sz="2400" dirty="0">
                <a:latin typeface="+mn-lt"/>
                <a:cs typeface="Arial"/>
              </a:rPr>
              <a:t>,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rotation</a:t>
            </a:r>
            <a:r>
              <a:rPr lang="nl-BE" sz="2400" dirty="0">
                <a:latin typeface="+mn-lt"/>
                <a:cs typeface="Arial"/>
              </a:rPr>
              <a:t>, ainsi que deux méthodes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deplace(dx,dy)</a:t>
            </a:r>
            <a:r>
              <a:rPr lang="nl-BE" sz="2400" dirty="0">
                <a:latin typeface="+mn-lt"/>
                <a:cs typeface="Arial"/>
              </a:rPr>
              <a:t> et</a:t>
            </a:r>
            <a:r>
              <a:rPr lang="nl-BE" dirty="0">
                <a:cs typeface="Arial"/>
              </a:rPr>
              <a:t>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tourne(angle)</a:t>
            </a:r>
            <a:r>
              <a:rPr lang="nl-BE" sz="2400" dirty="0">
                <a:latin typeface="+mn-lt"/>
                <a:cs typeface="Arial"/>
              </a:rPr>
              <a:t>). </a:t>
            </a:r>
          </a:p>
          <a:p>
            <a:pPr marL="0" indent="0">
              <a:buNone/>
            </a:pPr>
            <a:r>
              <a:rPr lang="nl-BE" sz="2400" dirty="0">
                <a:latin typeface="+mn-lt"/>
                <a:cs typeface="Arial"/>
              </a:rPr>
              <a:t>Dans votre classe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Forme</a:t>
            </a:r>
            <a:r>
              <a:rPr lang="nl-BE" sz="2400" dirty="0">
                <a:latin typeface="+mn-lt"/>
                <a:cs typeface="Arial"/>
              </a:rPr>
              <a:t>, vous ajoutez aussi deux méthodes abstraites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affiche()</a:t>
            </a:r>
            <a:r>
              <a:rPr lang="nl-BE" sz="2400" dirty="0">
                <a:latin typeface="+mn-lt"/>
                <a:cs typeface="Arial"/>
              </a:rPr>
              <a:t> et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efface()</a:t>
            </a:r>
            <a:r>
              <a:rPr lang="nl-BE" sz="2400" dirty="0">
                <a:latin typeface="+mn-lt"/>
                <a:cs typeface="Arial"/>
              </a:rPr>
              <a:t>, qui seront implémentées de façon spécifique dans les sous-classes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Cercle</a:t>
            </a:r>
            <a:r>
              <a:rPr lang="nl-BE" sz="2400" dirty="0">
                <a:latin typeface="+mn-lt"/>
                <a:cs typeface="Arial"/>
              </a:rPr>
              <a:t>,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</a:t>
            </a:r>
            <a:r>
              <a:rPr lang="nl-BE" sz="2400" dirty="0">
                <a:latin typeface="+mn-lt"/>
                <a:cs typeface="Arial"/>
              </a:rPr>
              <a:t> et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Carre</a:t>
            </a:r>
            <a:r>
              <a:rPr lang="nl-BE" sz="2400" dirty="0">
                <a:latin typeface="+mn-lt"/>
                <a:cs typeface="Arial"/>
              </a:rPr>
              <a:t>.</a:t>
            </a:r>
          </a:p>
          <a:p>
            <a:pPr marL="0" indent="0">
              <a:buNone/>
            </a:pPr>
            <a:endParaRPr lang="fr-FR" sz="24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F2EDB1C-9A8D-F6C7-22BE-EF4211FF7377}"/>
              </a:ext>
            </a:extLst>
          </p:cNvPr>
          <p:cNvGrpSpPr/>
          <p:nvPr/>
        </p:nvGrpSpPr>
        <p:grpSpPr>
          <a:xfrm rot="762091">
            <a:off x="10108880" y="500271"/>
            <a:ext cx="1511865" cy="769720"/>
            <a:chOff x="9344382" y="500270"/>
            <a:chExt cx="1511865" cy="7697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13065B-9C52-C877-9E08-4A36F5D53384}"/>
                </a:ext>
              </a:extLst>
            </p:cNvPr>
            <p:cNvSpPr/>
            <p:nvPr/>
          </p:nvSpPr>
          <p:spPr>
            <a:xfrm rot="20700000">
              <a:off x="9344382" y="657107"/>
              <a:ext cx="612883" cy="61288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8B681310-0304-F115-F57D-CE67182E9B77}"/>
                </a:ext>
              </a:extLst>
            </p:cNvPr>
            <p:cNvSpPr/>
            <p:nvPr/>
          </p:nvSpPr>
          <p:spPr>
            <a:xfrm rot="900000">
              <a:off x="10243364" y="657105"/>
              <a:ext cx="612883" cy="612883"/>
            </a:xfrm>
            <a:prstGeom prst="triangle">
              <a:avLst/>
            </a:prstGeom>
            <a:solidFill>
              <a:srgbClr val="0102E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62542DF-13FA-3364-0530-26C0D0AA8BDF}"/>
                </a:ext>
              </a:extLst>
            </p:cNvPr>
            <p:cNvSpPr/>
            <p:nvPr/>
          </p:nvSpPr>
          <p:spPr>
            <a:xfrm>
              <a:off x="9868050" y="500270"/>
              <a:ext cx="612883" cy="61288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2FD867D-4601-5C38-BA22-347D83056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2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35133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000" noProof="0" dirty="0"/>
              <a:t>Créez une classe abstraite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r>
              <a:rPr lang="fr-FR" sz="2000" noProof="0" dirty="0"/>
              <a:t>, qui représente une forme géométrique. </a:t>
            </a:r>
            <a:br>
              <a:rPr lang="fr-FR" sz="2000" noProof="0" dirty="0"/>
            </a:br>
            <a:r>
              <a:rPr lang="fr-FR" sz="2000" noProof="0" dirty="0"/>
              <a:t>La classe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r>
              <a:rPr lang="fr-FR" sz="2000" noProof="0" dirty="0"/>
              <a:t> implémente</a:t>
            </a:r>
            <a:endParaRPr lang="fr-FR" sz="2000" dirty="0"/>
          </a:p>
          <a:p>
            <a:pPr lvl="1"/>
            <a:r>
              <a:rPr lang="fr-FR" sz="2000" dirty="0"/>
              <a:t>la position de son centre modélisée par une autre classe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fr-FR" dirty="0"/>
              <a:t> </a:t>
            </a:r>
            <a:r>
              <a:rPr lang="fr-FR" sz="2000" dirty="0"/>
              <a:t>qui a 2 attributs publics,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fr-FR" sz="2000" dirty="0"/>
              <a:t> et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fr-FR" sz="2000" dirty="0"/>
              <a:t>,</a:t>
            </a:r>
          </a:p>
          <a:p>
            <a:pPr lvl="1"/>
            <a:r>
              <a:rPr lang="fr-FR" sz="2000" dirty="0"/>
              <a:t>une rotation en degrés, modélisée par un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fr-FR" sz="2000" dirty="0"/>
              <a:t> qui vaudra toujours entre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FR" sz="2000" dirty="0"/>
              <a:t> et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360</a:t>
            </a:r>
            <a:r>
              <a:rPr lang="fr-FR" sz="2000" dirty="0"/>
              <a:t>,</a:t>
            </a:r>
          </a:p>
          <a:p>
            <a:pPr lvl="1"/>
            <a:r>
              <a:rPr lang="fr-FR" sz="2000" dirty="0"/>
              <a:t>une méthode abstraite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affiche()</a:t>
            </a:r>
            <a:r>
              <a:rPr lang="fr-FR" sz="2000" dirty="0"/>
              <a:t> et une méthode abstraite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efface()</a:t>
            </a:r>
            <a:r>
              <a:rPr lang="fr-FR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noProof="0" dirty="0"/>
              <a:t>Créez aussi trois classes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Square</a:t>
            </a:r>
            <a:r>
              <a:rPr lang="fr-FR" sz="2000" noProof="0" dirty="0"/>
              <a:t>,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fr-FR" sz="2400" noProof="0" dirty="0"/>
              <a:t> </a:t>
            </a:r>
            <a:r>
              <a:rPr lang="fr-FR" sz="2000" noProof="0" dirty="0"/>
              <a:t>et</a:t>
            </a:r>
            <a:r>
              <a:rPr lang="fr-FR" sz="2400" noProof="0" dirty="0"/>
              <a:t>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</a:t>
            </a:r>
            <a:r>
              <a:rPr lang="fr-FR" sz="2400" noProof="0" dirty="0"/>
              <a:t> </a:t>
            </a:r>
            <a:r>
              <a:rPr lang="fr-FR" sz="2000" noProof="0" dirty="0"/>
              <a:t>qui représentent les trois formes utilisées dans l’application.</a:t>
            </a:r>
            <a:br>
              <a:rPr lang="fr-FR" sz="2000" noProof="0" dirty="0"/>
            </a:br>
            <a:r>
              <a:rPr lang="fr-FR" sz="2000" noProof="0" dirty="0"/>
              <a:t>Ces classes implémentent les méthodes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affiche()</a:t>
            </a:r>
            <a:r>
              <a:rPr lang="fr-FR" sz="2000" noProof="0" dirty="0"/>
              <a:t> et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efface()</a:t>
            </a:r>
            <a:r>
              <a:rPr lang="fr-FR" sz="2000" noProof="0" dirty="0"/>
              <a:t> en affichant un texte à la console (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 suis un cercle et je m’affiche </a:t>
            </a:r>
            <a:r>
              <a:rPr lang="fr-FR" sz="2000" noProof="0" dirty="0"/>
              <a:t>/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 suis un carré et je m’efface</a:t>
            </a:r>
            <a:r>
              <a:rPr lang="fr-FR" sz="2000" noProof="0" dirty="0"/>
              <a:t>).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noProof="0" dirty="0"/>
              <a:t>Créez enfin un programme qui manipule les formes. Créez un tableau de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r>
              <a:rPr lang="fr-FR" sz="2000" noProof="0" dirty="0"/>
              <a:t>, et instanciez quelques formes, puis appelez leurs méthodes.</a:t>
            </a:r>
            <a:endParaRPr lang="fr-FR" sz="2000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DD9442BA-7AD5-62BF-B10D-FB4A29F0EA85}"/>
              </a:ext>
            </a:extLst>
          </p:cNvPr>
          <p:cNvGrpSpPr/>
          <p:nvPr/>
        </p:nvGrpSpPr>
        <p:grpSpPr>
          <a:xfrm rot="762091">
            <a:off x="7674606" y="500270"/>
            <a:ext cx="1511865" cy="769720"/>
            <a:chOff x="9344382" y="500270"/>
            <a:chExt cx="1511865" cy="7697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90E853-6D03-A37F-97E7-0863DB9C37FA}"/>
                </a:ext>
              </a:extLst>
            </p:cNvPr>
            <p:cNvSpPr/>
            <p:nvPr/>
          </p:nvSpPr>
          <p:spPr>
            <a:xfrm rot="20700000">
              <a:off x="9344382" y="657107"/>
              <a:ext cx="612883" cy="61288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4F78907F-DB18-F386-C761-B7EBF1D6149F}"/>
                </a:ext>
              </a:extLst>
            </p:cNvPr>
            <p:cNvSpPr/>
            <p:nvPr/>
          </p:nvSpPr>
          <p:spPr>
            <a:xfrm rot="900000">
              <a:off x="10243364" y="657105"/>
              <a:ext cx="612883" cy="612883"/>
            </a:xfrm>
            <a:prstGeom prst="triangle">
              <a:avLst/>
            </a:prstGeom>
            <a:solidFill>
              <a:srgbClr val="0102E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9C4A5110-E089-383F-EF3B-4AA0D74D40AD}"/>
                </a:ext>
              </a:extLst>
            </p:cNvPr>
            <p:cNvSpPr/>
            <p:nvPr/>
          </p:nvSpPr>
          <p:spPr>
            <a:xfrm>
              <a:off x="9868050" y="500270"/>
              <a:ext cx="612883" cy="61288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6" name="Picture 2" descr="blog-nutrition-outlet">
            <a:extLst>
              <a:ext uri="{FF2B5EF4-FFF2-40B4-BE49-F238E27FC236}">
                <a16:creationId xmlns:a16="http://schemas.microsoft.com/office/drawing/2014/main" id="{7ABEB3DE-A78C-FB9D-8A8C-42EB51664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9073EE-1275-FCBC-8BEF-E33C0F83B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294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351338"/>
          </a:xfrm>
        </p:spPr>
        <p:txBody>
          <a:bodyPr>
            <a:noAutofit/>
          </a:bodyPr>
          <a:lstStyle/>
          <a:p>
            <a:r>
              <a:rPr lang="fr-BE" sz="2000" dirty="0"/>
              <a:t>Créez une classe abstraite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Animal</a:t>
            </a:r>
            <a:r>
              <a:rPr lang="fr-BE" sz="2000" dirty="0"/>
              <a:t>, qui représente un animal. La classe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Animal</a:t>
            </a:r>
            <a:br>
              <a:rPr lang="fr-BE" sz="2000" dirty="0">
                <a:solidFill>
                  <a:srgbClr val="E8BF6A"/>
                </a:solidFill>
                <a:effectLst/>
              </a:rPr>
            </a:br>
            <a:r>
              <a:rPr lang="fr-BE" sz="2000" dirty="0">
                <a:solidFill>
                  <a:srgbClr val="E8BF6A"/>
                </a:solidFill>
                <a:effectLst/>
              </a:rPr>
              <a:t>    </a:t>
            </a:r>
            <a:r>
              <a:rPr lang="fr-BE" sz="2000" dirty="0"/>
              <a:t>présente une méthode abstraite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makeNoise</a:t>
            </a:r>
            <a:r>
              <a:rPr lang="fr-BE" sz="2000" dirty="0"/>
              <a:t>.</a:t>
            </a:r>
          </a:p>
          <a:p>
            <a:r>
              <a:rPr lang="fr-BE" sz="2000" dirty="0"/>
              <a:t>Créez également deux classes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Dog</a:t>
            </a:r>
            <a:r>
              <a:rPr lang="fr-BE" sz="2000" dirty="0"/>
              <a:t> et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</a:t>
            </a:r>
            <a:r>
              <a:rPr lang="fr-BE" sz="2000" dirty="0"/>
              <a:t>, qui définissent la méthode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makeNoise</a:t>
            </a:r>
            <a:r>
              <a:rPr lang="fr-BE" sz="2000" dirty="0"/>
              <a:t> comme suit:</a:t>
            </a:r>
            <a:endParaRPr lang="fr-BE" sz="2000" dirty="0">
              <a:solidFill>
                <a:srgbClr val="E8BF6A"/>
              </a:solidFill>
            </a:endParaRPr>
          </a:p>
          <a:p>
            <a:pPr lvl="1"/>
            <a:r>
              <a:rPr lang="fr-BE" sz="2000" dirty="0"/>
              <a:t>un 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Dog</a:t>
            </a:r>
            <a:r>
              <a:rPr lang="fr-BE" sz="2000" dirty="0"/>
              <a:t> provoque l'affichage de 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"J'aboie"</a:t>
            </a:r>
            <a:r>
              <a:rPr lang="fr-BE" sz="2000" dirty="0"/>
              <a:t>,</a:t>
            </a:r>
            <a:endParaRPr lang="fr-BE" sz="2000" dirty="0">
              <a:solidFill>
                <a:srgbClr val="E8BF6A"/>
              </a:solidFill>
              <a:effectLst/>
            </a:endParaRPr>
          </a:p>
          <a:p>
            <a:pPr lvl="1"/>
            <a:r>
              <a:rPr lang="fr-BE" sz="2000" dirty="0"/>
              <a:t>Un 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</a:t>
            </a:r>
            <a:r>
              <a:rPr lang="fr-BE" sz="2000" dirty="0"/>
              <a:t> provoque l'affichage de 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"Je miaule"</a:t>
            </a:r>
            <a:r>
              <a:rPr lang="fr-BE" sz="2000" dirty="0"/>
              <a:t>.</a:t>
            </a:r>
            <a:endParaRPr lang="fr-BE" sz="2000" dirty="0">
              <a:solidFill>
                <a:srgbClr val="E8BF6A"/>
              </a:solidFill>
            </a:endParaRPr>
          </a:p>
          <a:p>
            <a:r>
              <a:rPr lang="fr-BE" sz="2000" dirty="0"/>
              <a:t>Créez aussi un programme qui crée un tableau de 10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Animal</a:t>
            </a:r>
            <a:r>
              <a:rPr lang="fr-BE" sz="2000" dirty="0"/>
              <a:t>, que vous instanciez (50% de chances de créer un 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Dog</a:t>
            </a:r>
            <a:r>
              <a:rPr lang="fr-BE" sz="2000" dirty="0"/>
              <a:t> et 50% un </a:t>
            </a:r>
            <a:r>
              <a:rPr lang="fr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Cat</a:t>
            </a:r>
            <a:r>
              <a:rPr lang="fr-BE" sz="2000" dirty="0"/>
              <a:t>).</a:t>
            </a:r>
          </a:p>
          <a:p>
            <a:r>
              <a:rPr lang="fr-BE" sz="2000" dirty="0"/>
              <a:t>Invoquez ensuite la méthode </a:t>
            </a:r>
            <a:r>
              <a:rPr lang="fr-BE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makeNoise</a:t>
            </a:r>
            <a:r>
              <a:rPr lang="fr-BE" sz="2000" dirty="0">
                <a:solidFill>
                  <a:srgbClr val="E8BF6A"/>
                </a:solidFill>
                <a:effectLst/>
              </a:rPr>
              <a:t> </a:t>
            </a:r>
            <a:r>
              <a:rPr lang="fr-BE" sz="2000" dirty="0"/>
              <a:t>sur les objets créés (utilisez le polymorphisme).</a:t>
            </a:r>
            <a:endParaRPr lang="fr-FR" sz="2000" dirty="0"/>
          </a:p>
        </p:txBody>
      </p:sp>
      <p:pic>
        <p:nvPicPr>
          <p:cNvPr id="1026" name="Picture 2" descr="blog-nutrition-outlet">
            <a:extLst>
              <a:ext uri="{FF2B5EF4-FFF2-40B4-BE49-F238E27FC236}">
                <a16:creationId xmlns:a16="http://schemas.microsoft.com/office/drawing/2014/main" id="{9F7669FB-8553-A044-8BC2-6E9BE5DE2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05559B-DE9D-9A32-5FFA-9B2763285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9123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AF3BC-69D8-FDAA-F1DF-FE7197C0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/>
              <a:t>Autre exemple: récupération d’info-comptes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7B5C6-4270-4759-3E05-897EA51EA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8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Voyons maintenant un exemple susceptible de ressembler à ce que vous pourriez rencontrer dans un environnement plus professionnel.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F7167315-244E-7334-F785-356292B75869}"/>
              </a:ext>
            </a:extLst>
          </p:cNvPr>
          <p:cNvGrpSpPr/>
          <p:nvPr/>
        </p:nvGrpSpPr>
        <p:grpSpPr>
          <a:xfrm>
            <a:off x="5707362" y="4603980"/>
            <a:ext cx="2919742" cy="1104424"/>
            <a:chOff x="3022325" y="2510421"/>
            <a:chExt cx="3387725" cy="1104424"/>
          </a:xfrm>
        </p:grpSpPr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A1B8B7F1-5C87-6E9B-15EB-FD10CDD25001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InfoCompte</a:t>
              </a:r>
              <a:endParaRPr lang="fr-FR" dirty="0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C1A88168-C944-B475-A0FD-E6784A348626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7386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+ String </a:t>
              </a:r>
              <a:r>
                <a:rPr lang="fr-FR" sz="1400" dirty="0" err="1"/>
                <a:t>numeroDeCompte</a:t>
              </a:r>
              <a:endParaRPr lang="fr-FR" sz="1400" dirty="0"/>
            </a:p>
            <a:p>
              <a:r>
                <a:rPr lang="fr-FR" sz="1400" dirty="0"/>
                <a:t>+ Mouvement[] mouvement</a:t>
              </a:r>
            </a:p>
            <a:p>
              <a:r>
                <a:rPr lang="fr-FR" sz="1400" dirty="0"/>
                <a:t>+ </a:t>
              </a:r>
              <a:r>
                <a:rPr lang="fr-FR" sz="1400" dirty="0" err="1"/>
                <a:t>ajouterMouvement</a:t>
              </a:r>
              <a:r>
                <a:rPr lang="fr-FR" sz="1400" dirty="0"/>
                <a:t>(mouvement)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AD587D1B-ACFC-A3A4-3112-797FE3779752}"/>
              </a:ext>
            </a:extLst>
          </p:cNvPr>
          <p:cNvGrpSpPr/>
          <p:nvPr/>
        </p:nvGrpSpPr>
        <p:grpSpPr>
          <a:xfrm>
            <a:off x="9149813" y="4603980"/>
            <a:ext cx="2203987" cy="1319867"/>
            <a:chOff x="3022325" y="2510421"/>
            <a:chExt cx="3387725" cy="1319867"/>
          </a:xfrm>
        </p:grpSpPr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2DA7EC4-BFCE-7612-86B6-2EB75B1E0FF5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Mouvement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2818D4D3-00B4-C5AC-0309-49304187920C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+ </a:t>
              </a:r>
              <a:r>
                <a:rPr lang="fr-FR" sz="1400" dirty="0" err="1"/>
                <a:t>int</a:t>
              </a:r>
              <a:r>
                <a:rPr lang="fr-FR" sz="1400" dirty="0"/>
                <a:t> </a:t>
              </a:r>
              <a:r>
                <a:rPr lang="fr-FR" sz="1400" dirty="0" err="1"/>
                <a:t>numero</a:t>
              </a:r>
              <a:endParaRPr lang="fr-FR" sz="1400" dirty="0"/>
            </a:p>
            <a:p>
              <a:r>
                <a:rPr lang="fr-FR" sz="1400" dirty="0"/>
                <a:t>+ </a:t>
              </a:r>
              <a:r>
                <a:rPr lang="fr-FR" sz="1400" dirty="0" err="1"/>
                <a:t>LocalDate</a:t>
              </a:r>
              <a:r>
                <a:rPr lang="fr-FR" sz="1400" dirty="0"/>
                <a:t> date</a:t>
              </a:r>
            </a:p>
            <a:p>
              <a:r>
                <a:rPr lang="fr-FR" sz="1400" dirty="0"/>
                <a:t>+ double montant</a:t>
              </a:r>
            </a:p>
            <a:p>
              <a:r>
                <a:rPr lang="fr-FR" sz="1400" dirty="0"/>
                <a:t>+ String communication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061C9D67-411F-23E4-B879-F6C1E1819E0E}"/>
              </a:ext>
            </a:extLst>
          </p:cNvPr>
          <p:cNvGrpSpPr/>
          <p:nvPr/>
        </p:nvGrpSpPr>
        <p:grpSpPr>
          <a:xfrm>
            <a:off x="1178085" y="4603980"/>
            <a:ext cx="4006569" cy="1104424"/>
            <a:chOff x="3022325" y="2510421"/>
            <a:chExt cx="3387725" cy="1104424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DD67AF4F-48E6-9244-5580-E80AFFC72DEC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DonneeBanque</a:t>
              </a:r>
              <a:endParaRPr lang="fr-FR" dirty="0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2018A12-96A3-9612-19D4-7C9B14B115AD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7386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+ </a:t>
              </a:r>
              <a:r>
                <a:rPr lang="fr-FR" sz="1400" dirty="0" err="1"/>
                <a:t>InfoCompte</a:t>
              </a:r>
              <a:r>
                <a:rPr lang="fr-FR" sz="1400" dirty="0"/>
                <a:t>[] </a:t>
              </a:r>
              <a:r>
                <a:rPr lang="fr-FR" sz="1400" dirty="0" err="1"/>
                <a:t>infoComptes</a:t>
              </a:r>
              <a:endParaRPr lang="fr-FR" sz="1400" dirty="0"/>
            </a:p>
            <a:p>
              <a:r>
                <a:rPr lang="fr-FR" sz="1400" dirty="0"/>
                <a:t>+ </a:t>
              </a:r>
              <a:r>
                <a:rPr lang="fr-FR" sz="1400" dirty="0" err="1"/>
                <a:t>void</a:t>
              </a:r>
              <a:r>
                <a:rPr lang="fr-FR" sz="1400" dirty="0"/>
                <a:t> </a:t>
              </a:r>
              <a:r>
                <a:rPr lang="fr-FR" sz="1400" dirty="0" err="1"/>
                <a:t>creeInfoComptes</a:t>
              </a:r>
              <a:r>
                <a:rPr lang="fr-FR" sz="1400" dirty="0"/>
                <a:t>(</a:t>
              </a:r>
              <a:r>
                <a:rPr lang="fr-FR" sz="1400" dirty="0" err="1"/>
                <a:t>int</a:t>
              </a:r>
              <a:r>
                <a:rPr lang="fr-FR" sz="1400" dirty="0"/>
                <a:t> </a:t>
              </a:r>
              <a:r>
                <a:rPr lang="fr-FR" sz="1400" dirty="0" err="1"/>
                <a:t>nbComptes</a:t>
              </a:r>
              <a:r>
                <a:rPr lang="fr-FR" sz="1400" dirty="0"/>
                <a:t>)</a:t>
              </a:r>
            </a:p>
            <a:p>
              <a:r>
                <a:rPr lang="fr-FR" sz="1400" dirty="0"/>
                <a:t>+ </a:t>
              </a:r>
              <a:r>
                <a:rPr lang="fr-FR" sz="1400" dirty="0" err="1"/>
                <a:t>void</a:t>
              </a:r>
              <a:r>
                <a:rPr lang="fr-FR" sz="1400" dirty="0"/>
                <a:t> </a:t>
              </a:r>
              <a:r>
                <a:rPr lang="fr-FR" sz="1400" dirty="0" err="1"/>
                <a:t>ajouteInfoCompte</a:t>
              </a:r>
              <a:r>
                <a:rPr lang="fr-FR" sz="1400" dirty="0"/>
                <a:t>(</a:t>
              </a:r>
              <a:r>
                <a:rPr lang="fr-FR" sz="1400" dirty="0" err="1"/>
                <a:t>int</a:t>
              </a:r>
              <a:r>
                <a:rPr lang="fr-FR" sz="1400" dirty="0"/>
                <a:t> n°, </a:t>
              </a:r>
              <a:r>
                <a:rPr lang="fr-FR" sz="1400" dirty="0" err="1"/>
                <a:t>Infocompte</a:t>
              </a:r>
              <a:r>
                <a:rPr lang="fr-FR" sz="1400" dirty="0"/>
                <a:t> info)</a:t>
              </a:r>
            </a:p>
          </p:txBody>
        </p:sp>
      </p:grp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89E5509F-16F6-0E9B-CD86-570EB95A4116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442447" y="4788646"/>
            <a:ext cx="2264915" cy="36576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9250427B-1C67-2B17-9E9B-414615EC0DB5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7949901" y="4788646"/>
            <a:ext cx="1199912" cy="550426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6C9F423B-A2EA-5EB3-FB42-129C1C02D506}"/>
              </a:ext>
            </a:extLst>
          </p:cNvPr>
          <p:cNvSpPr txBox="1"/>
          <p:nvPr/>
        </p:nvSpPr>
        <p:spPr>
          <a:xfrm>
            <a:off x="838200" y="2432164"/>
            <a:ext cx="1051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000" dirty="0"/>
              <a:t>Vous écrivez une application qui va récupérer des informations de comptes auprès de différentes banques, dans un objet </a:t>
            </a:r>
            <a:r>
              <a:rPr lang="fr-FR" sz="2000" dirty="0" err="1">
                <a:solidFill>
                  <a:schemeClr val="accent4"/>
                </a:solidFill>
              </a:rPr>
              <a:t>DonneeBanque</a:t>
            </a:r>
            <a:r>
              <a:rPr lang="fr-FR" sz="2000" dirty="0"/>
              <a:t>, puis transformer ces données en un </a:t>
            </a:r>
            <a:r>
              <a:rPr lang="fr-FR" sz="2000" dirty="0">
                <a:solidFill>
                  <a:schemeClr val="accent4"/>
                </a:solidFill>
              </a:rPr>
              <a:t>Rapport</a:t>
            </a:r>
            <a:r>
              <a:rPr lang="fr-FR" sz="2000" dirty="0"/>
              <a:t> que vous pourrez visualiser.</a:t>
            </a:r>
          </a:p>
          <a:p>
            <a:pPr marL="0" indent="0">
              <a:buNone/>
            </a:pPr>
            <a:r>
              <a:rPr lang="fr-FR" sz="2000" dirty="0"/>
              <a:t>Les </a:t>
            </a:r>
            <a:r>
              <a:rPr lang="fr-FR" sz="2000" dirty="0">
                <a:solidFill>
                  <a:schemeClr val="accent4"/>
                </a:solidFill>
              </a:rPr>
              <a:t>informations</a:t>
            </a:r>
            <a:r>
              <a:rPr lang="fr-FR" sz="2000" dirty="0"/>
              <a:t> récupérées concernent différents </a:t>
            </a:r>
            <a:r>
              <a:rPr lang="fr-FR" sz="2000" dirty="0">
                <a:solidFill>
                  <a:schemeClr val="accent4"/>
                </a:solidFill>
              </a:rPr>
              <a:t>comptes</a:t>
            </a:r>
            <a:r>
              <a:rPr lang="fr-FR" sz="2000" dirty="0"/>
              <a:t>, chaque compte étant caractérisé par son numéro et une liste de mouvements.</a:t>
            </a:r>
          </a:p>
          <a:p>
            <a:pPr marL="0" indent="0">
              <a:buNone/>
            </a:pPr>
            <a:r>
              <a:rPr lang="fr-FR" sz="2000" dirty="0"/>
              <a:t>Pour chaque compte, vous récupérez les </a:t>
            </a:r>
            <a:r>
              <a:rPr lang="fr-FR" sz="2000" dirty="0">
                <a:solidFill>
                  <a:schemeClr val="accent4"/>
                </a:solidFill>
              </a:rPr>
              <a:t>mouvements</a:t>
            </a:r>
            <a:r>
              <a:rPr lang="fr-FR" sz="2000" dirty="0"/>
              <a:t> sur les comptes (entrées et sorties).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72D225-D8DE-CD28-AB11-6BEB67B42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388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AF3BC-69D8-FDAA-F1DF-FE7197C0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Récupération d’info-comptes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7B5C6-4270-4759-3E05-897EA51EA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665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Chaque mouvement est caractérisé par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C60D729-AE0C-6C80-32AB-D491C067B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184" y="4367031"/>
            <a:ext cx="6108700" cy="1574800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28B706E5-8458-EE7E-2593-FCAAA57D81C3}"/>
              </a:ext>
            </a:extLst>
          </p:cNvPr>
          <p:cNvGrpSpPr/>
          <p:nvPr/>
        </p:nvGrpSpPr>
        <p:grpSpPr>
          <a:xfrm>
            <a:off x="974001" y="4490290"/>
            <a:ext cx="2203987" cy="1319867"/>
            <a:chOff x="3022325" y="2510421"/>
            <a:chExt cx="3387725" cy="1319867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0E212C1F-A839-1DE8-4E4A-9080193F25D5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Mouvement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89E4C4E4-4C2A-A0FF-FC17-E2C61F38A904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954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+ </a:t>
              </a:r>
              <a:r>
                <a:rPr lang="fr-FR" sz="1400" dirty="0" err="1"/>
                <a:t>int</a:t>
              </a:r>
              <a:r>
                <a:rPr lang="fr-FR" sz="1400" dirty="0"/>
                <a:t> </a:t>
              </a:r>
              <a:r>
                <a:rPr lang="fr-FR" sz="1400" dirty="0" err="1"/>
                <a:t>numero</a:t>
              </a:r>
              <a:endParaRPr lang="fr-FR" sz="1400" dirty="0"/>
            </a:p>
            <a:p>
              <a:r>
                <a:rPr lang="fr-FR" sz="1400" dirty="0"/>
                <a:t>+ </a:t>
              </a:r>
              <a:r>
                <a:rPr lang="fr-FR" sz="1400" dirty="0" err="1"/>
                <a:t>LocalDate</a:t>
              </a:r>
              <a:r>
                <a:rPr lang="fr-FR" sz="1400" dirty="0"/>
                <a:t> date</a:t>
              </a:r>
            </a:p>
            <a:p>
              <a:r>
                <a:rPr lang="fr-FR" sz="1400" dirty="0"/>
                <a:t>+ double montant</a:t>
              </a:r>
            </a:p>
            <a:p>
              <a:r>
                <a:rPr lang="fr-FR" sz="1400" dirty="0"/>
                <a:t>+ String communication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3F84EE7-A2E9-B129-AEB9-5CB70CF0704B}"/>
              </a:ext>
            </a:extLst>
          </p:cNvPr>
          <p:cNvGrpSpPr/>
          <p:nvPr/>
        </p:nvGrpSpPr>
        <p:grpSpPr>
          <a:xfrm>
            <a:off x="2048005" y="4711849"/>
            <a:ext cx="3729001" cy="313490"/>
            <a:chOff x="2048005" y="4711849"/>
            <a:chExt cx="3729001" cy="313490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2B464B1-6801-FBF0-E86B-EB47129633D0}"/>
                </a:ext>
              </a:extLst>
            </p:cNvPr>
            <p:cNvSpPr/>
            <p:nvPr/>
          </p:nvSpPr>
          <p:spPr>
            <a:xfrm>
              <a:off x="5508065" y="4711849"/>
              <a:ext cx="268941" cy="258184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A65E1C32-101F-8575-E3CE-793E05992FC8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2048005" y="4840941"/>
              <a:ext cx="3460060" cy="184398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D99783A-E827-3F08-3BF1-762F8BA76FE0}"/>
              </a:ext>
            </a:extLst>
          </p:cNvPr>
          <p:cNvGrpSpPr/>
          <p:nvPr/>
        </p:nvGrpSpPr>
        <p:grpSpPr>
          <a:xfrm>
            <a:off x="2354893" y="4693745"/>
            <a:ext cx="5660658" cy="535871"/>
            <a:chOff x="2001362" y="4730638"/>
            <a:chExt cx="4169646" cy="535871"/>
          </a:xfrm>
        </p:grpSpPr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2EC881DD-31EF-2309-94D6-D673129818E1}"/>
                </a:ext>
              </a:extLst>
            </p:cNvPr>
            <p:cNvSpPr/>
            <p:nvPr/>
          </p:nvSpPr>
          <p:spPr>
            <a:xfrm>
              <a:off x="5569339" y="4730638"/>
              <a:ext cx="601669" cy="258184"/>
            </a:xfrm>
            <a:prstGeom prst="round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AB1027E6-4182-61EC-A999-C2AE7340238D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2001362" y="4859730"/>
              <a:ext cx="3567978" cy="406779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1FA014B-D4F4-D33B-56E4-3753CCD69E36}"/>
              </a:ext>
            </a:extLst>
          </p:cNvPr>
          <p:cNvGrpSpPr/>
          <p:nvPr/>
        </p:nvGrpSpPr>
        <p:grpSpPr>
          <a:xfrm>
            <a:off x="2486532" y="5025339"/>
            <a:ext cx="8110488" cy="405476"/>
            <a:chOff x="156003" y="4711849"/>
            <a:chExt cx="5974192" cy="405476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414FF3B7-FC03-F5B1-849B-042AE46DB2A6}"/>
                </a:ext>
              </a:extLst>
            </p:cNvPr>
            <p:cNvSpPr/>
            <p:nvPr/>
          </p:nvSpPr>
          <p:spPr>
            <a:xfrm>
              <a:off x="5608887" y="4711849"/>
              <a:ext cx="521308" cy="258184"/>
            </a:xfrm>
            <a:prstGeom prst="round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18A5018E-F21F-910D-B56C-CF39616D67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6003" y="4840941"/>
              <a:ext cx="5491762" cy="276384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90876A89-D46E-3E03-B2E0-EBBE5554A9DC}"/>
              </a:ext>
            </a:extLst>
          </p:cNvPr>
          <p:cNvGrpSpPr/>
          <p:nvPr/>
        </p:nvGrpSpPr>
        <p:grpSpPr>
          <a:xfrm>
            <a:off x="2865474" y="5014434"/>
            <a:ext cx="4634544" cy="663352"/>
            <a:chOff x="2835625" y="4711849"/>
            <a:chExt cx="3413809" cy="663352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EED98916-8C1E-31E7-FE5C-894904CC8B23}"/>
                </a:ext>
              </a:extLst>
            </p:cNvPr>
            <p:cNvSpPr/>
            <p:nvPr/>
          </p:nvSpPr>
          <p:spPr>
            <a:xfrm>
              <a:off x="4308032" y="4711849"/>
              <a:ext cx="1941402" cy="258184"/>
            </a:xfrm>
            <a:prstGeom prst="roundRect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1C43551-33FC-35BB-A0F4-7A3735F0407A}"/>
                </a:ext>
              </a:extLst>
            </p:cNvPr>
            <p:cNvCxnSpPr>
              <a:cxnSpLocks/>
              <a:stCxn id="23" idx="1"/>
            </p:cNvCxnSpPr>
            <p:nvPr/>
          </p:nvCxnSpPr>
          <p:spPr>
            <a:xfrm flipH="1">
              <a:off x="2835625" y="4840941"/>
              <a:ext cx="1472407" cy="53426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ZoneTexte 31">
            <a:extLst>
              <a:ext uri="{FF2B5EF4-FFF2-40B4-BE49-F238E27FC236}">
                <a16:creationId xmlns:a16="http://schemas.microsoft.com/office/drawing/2014/main" id="{42497D69-74DF-3685-A5F9-BE5D937DD5CD}"/>
              </a:ext>
            </a:extLst>
          </p:cNvPr>
          <p:cNvSpPr txBox="1"/>
          <p:nvPr/>
        </p:nvSpPr>
        <p:spPr>
          <a:xfrm>
            <a:off x="838200" y="2276459"/>
            <a:ext cx="1059806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Un montant (positif ou négatif),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Une date </a:t>
            </a:r>
            <a:r>
              <a:rPr lang="fr-FR" sz="1600" dirty="0"/>
              <a:t>(en réalité il y en a deux, mais pour l’exercice nous en prendrons une)</a:t>
            </a:r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Un numéro d’ordre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Une communication.</a:t>
            </a:r>
          </a:p>
          <a:p>
            <a:pPr marL="0" indent="0">
              <a:buNone/>
            </a:pPr>
            <a:r>
              <a:rPr lang="fr-FR" sz="2400" dirty="0"/>
              <a:t>Vous recevez des classes </a:t>
            </a:r>
            <a:r>
              <a:rPr lang="fr-FR" sz="2400" dirty="0" err="1">
                <a:solidFill>
                  <a:schemeClr val="accent4"/>
                </a:solidFill>
              </a:rPr>
              <a:t>DonneeBanque</a:t>
            </a:r>
            <a:r>
              <a:rPr lang="fr-FR" sz="2400" dirty="0"/>
              <a:t>, </a:t>
            </a:r>
            <a:r>
              <a:rPr lang="fr-FR" sz="2400" dirty="0" err="1">
                <a:solidFill>
                  <a:schemeClr val="accent4"/>
                </a:solidFill>
              </a:rPr>
              <a:t>InfoCompte</a:t>
            </a:r>
            <a:r>
              <a:rPr lang="fr-FR" sz="2400" dirty="0"/>
              <a:t> et </a:t>
            </a:r>
            <a:r>
              <a:rPr lang="fr-FR" sz="2400" dirty="0">
                <a:solidFill>
                  <a:schemeClr val="accent4"/>
                </a:solidFill>
              </a:rPr>
              <a:t>Mouvement</a:t>
            </a:r>
            <a:r>
              <a:rPr lang="fr-FR" sz="2400" dirty="0"/>
              <a:t>…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5C2F4FC-29A2-050F-D93D-6FC2603DB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4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4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0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A2CAFF-6E69-F79E-B0A5-0025E67F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difficulté…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176E0F-4242-6B93-2E5F-F24717B6C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 souci pour écrire votre application est que les différentes banques n’utilisent pas le même format de données…</a:t>
            </a:r>
          </a:p>
          <a:p>
            <a:pPr marL="0" indent="0">
              <a:buNone/>
            </a:pPr>
            <a:r>
              <a:rPr lang="fr-FR" sz="2400" dirty="0"/>
              <a:t>Chaque banque vous fournit une classe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DataProvider</a:t>
            </a:r>
            <a:r>
              <a:rPr lang="fr-FR" sz="2400" dirty="0"/>
              <a:t>, mais…</a:t>
            </a:r>
          </a:p>
          <a:p>
            <a:r>
              <a:rPr lang="fr-FR" sz="2400" b="1" dirty="0"/>
              <a:t>Big Money</a:t>
            </a:r>
            <a:r>
              <a:rPr lang="fr-FR" sz="2400" dirty="0"/>
              <a:t> vous envoie un fichier au format </a:t>
            </a:r>
            <a:r>
              <a:rPr lang="fr-FR" sz="2400" dirty="0">
                <a:solidFill>
                  <a:schemeClr val="accent4"/>
                </a:solidFill>
              </a:rPr>
              <a:t>CSV</a:t>
            </a:r>
            <a:r>
              <a:rPr lang="fr-FR" sz="2400" dirty="0"/>
              <a:t> (Comma </a:t>
            </a:r>
            <a:r>
              <a:rPr lang="fr-FR" sz="2400" dirty="0" err="1"/>
              <a:t>Separated</a:t>
            </a:r>
            <a:r>
              <a:rPr lang="fr-FR" sz="2400" dirty="0"/>
              <a:t> Values)</a:t>
            </a:r>
          </a:p>
          <a:p>
            <a:r>
              <a:rPr lang="fr-FR" sz="2400" b="1" dirty="0" err="1"/>
              <a:t>Icilo</a:t>
            </a:r>
            <a:r>
              <a:rPr lang="fr-FR" sz="2400" b="1" dirty="0"/>
              <a:t> </a:t>
            </a:r>
            <a:r>
              <a:rPr lang="fr-FR" sz="2400" b="1" dirty="0" err="1"/>
              <a:t>Zeille</a:t>
            </a:r>
            <a:r>
              <a:rPr lang="fr-FR" sz="2400" dirty="0"/>
              <a:t> vous envoie un fichier </a:t>
            </a:r>
            <a:r>
              <a:rPr lang="fr-FR" sz="2400" dirty="0">
                <a:solidFill>
                  <a:schemeClr val="accent4"/>
                </a:solidFill>
              </a:rPr>
              <a:t>XML</a:t>
            </a:r>
            <a:r>
              <a:rPr lang="fr-FR" sz="2400" dirty="0"/>
              <a:t> </a:t>
            </a:r>
            <a:r>
              <a:rPr lang="fr-BE" sz="2400" b="0" i="0" u="none" strike="noStrike" dirty="0">
                <a:solidFill>
                  <a:srgbClr val="E8EAED"/>
                </a:solidFill>
                <a:effectLst/>
                <a:latin typeface="Google Sans"/>
              </a:rPr>
              <a:t>(Extensible Markup </a:t>
            </a:r>
            <a:r>
              <a:rPr lang="fr-BE" sz="2400" b="0" i="0" u="none" strike="noStrike" dirty="0" err="1">
                <a:solidFill>
                  <a:srgbClr val="E8EAED"/>
                </a:solidFill>
                <a:effectLst/>
                <a:latin typeface="Google Sans"/>
              </a:rPr>
              <a:t>Language</a:t>
            </a:r>
            <a:r>
              <a:rPr lang="fr-BE" sz="2400" b="0" i="0" u="none" strike="noStrike" dirty="0">
                <a:solidFill>
                  <a:srgbClr val="E8EAED"/>
                </a:solidFill>
                <a:effectLst/>
                <a:latin typeface="Google Sans"/>
              </a:rPr>
              <a:t>)</a:t>
            </a:r>
            <a:endParaRPr lang="fr-FR" sz="2400" dirty="0"/>
          </a:p>
          <a:p>
            <a:r>
              <a:rPr lang="fr-FR" sz="2400" dirty="0"/>
              <a:t>Chez </a:t>
            </a:r>
            <a:r>
              <a:rPr lang="fr-FR" sz="2400" b="1" dirty="0"/>
              <a:t>Fric En Vrac</a:t>
            </a:r>
            <a:r>
              <a:rPr lang="fr-FR" sz="2400" dirty="0"/>
              <a:t>, vous vous connectez à une </a:t>
            </a:r>
            <a:r>
              <a:rPr lang="fr-FR" sz="2400" dirty="0">
                <a:solidFill>
                  <a:schemeClr val="accent4"/>
                </a:solidFill>
              </a:rPr>
              <a:t>API</a:t>
            </a:r>
            <a:r>
              <a:rPr lang="fr-FR" sz="2400" dirty="0"/>
              <a:t> (</a:t>
            </a:r>
            <a:r>
              <a:rPr lang="fr-BE" sz="2400" b="0" i="0" u="none" strike="noStrike" dirty="0">
                <a:solidFill>
                  <a:srgbClr val="E2EEFF"/>
                </a:solidFill>
                <a:effectLst/>
                <a:latin typeface="Google Sans"/>
              </a:rPr>
              <a:t>Application </a:t>
            </a:r>
            <a:r>
              <a:rPr lang="fr-BE" sz="2400" b="0" i="0" u="none" strike="noStrike" dirty="0" err="1">
                <a:solidFill>
                  <a:srgbClr val="E2EEFF"/>
                </a:solidFill>
                <a:effectLst/>
                <a:latin typeface="Google Sans"/>
              </a:rPr>
              <a:t>Programming</a:t>
            </a:r>
            <a:r>
              <a:rPr lang="fr-BE" sz="2400" b="0" i="0" u="none" strike="noStrike" dirty="0">
                <a:solidFill>
                  <a:srgbClr val="E2EEFF"/>
                </a:solidFill>
                <a:effectLst/>
                <a:latin typeface="Google Sans"/>
              </a:rPr>
              <a:t> Interface)</a:t>
            </a:r>
            <a:r>
              <a:rPr lang="fr-FR" sz="2400" dirty="0"/>
              <a:t>.</a:t>
            </a:r>
          </a:p>
          <a:p>
            <a:r>
              <a:rPr lang="fr-FR" sz="2400" dirty="0"/>
              <a:t>Chez </a:t>
            </a:r>
            <a:r>
              <a:rPr lang="fr-FR" sz="2400" b="1" dirty="0" err="1"/>
              <a:t>Pom</a:t>
            </a:r>
            <a:r>
              <a:rPr lang="fr-FR" sz="2400" b="1" dirty="0"/>
              <a:t> </a:t>
            </a:r>
            <a:r>
              <a:rPr lang="fr-FR" sz="2400" b="1" dirty="0" err="1"/>
              <a:t>Pafric</a:t>
            </a:r>
            <a:r>
              <a:rPr lang="fr-FR" sz="2400" dirty="0"/>
              <a:t>, ils communiquent au format </a:t>
            </a:r>
            <a:r>
              <a:rPr lang="fr-FR" sz="2400" dirty="0">
                <a:solidFill>
                  <a:schemeClr val="accent4"/>
                </a:solidFill>
              </a:rPr>
              <a:t>JSON</a:t>
            </a:r>
            <a:r>
              <a:rPr lang="fr-FR" sz="2400" dirty="0"/>
              <a:t> (</a:t>
            </a:r>
            <a:r>
              <a:rPr lang="fr-BE" sz="2400" b="0" i="0" u="none" strike="noStrike" dirty="0">
                <a:solidFill>
                  <a:srgbClr val="E8EAED"/>
                </a:solidFill>
                <a:effectLst/>
                <a:latin typeface="Google Sans"/>
              </a:rPr>
              <a:t>JavaScript Object Notation</a:t>
            </a:r>
            <a:r>
              <a:rPr lang="fr-FR" sz="2400" dirty="0"/>
              <a:t>)</a:t>
            </a:r>
          </a:p>
          <a:p>
            <a:pPr marL="0" indent="0">
              <a:buNone/>
            </a:pPr>
            <a:r>
              <a:rPr lang="fr-FR" sz="2400" dirty="0"/>
              <a:t>Vous ne pouvez donc pas utiliser la même logique pour récupérer les données des quatre banques.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90EC4B-C62E-731A-8C55-60EB67222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420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5E46BF-6EC7-8B46-B42A-2C5AC194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Votre solution…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F002DD-3215-4FD2-C306-8B2D3CA42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27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dirty="0"/>
              <a:t>Vous allez, pour chaque banque, écrire une classe qui 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 dirty="0"/>
              <a:t>Récupère les données auprès de la banque, et les transforme en un objet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DonneeBanque</a:t>
            </a:r>
            <a:r>
              <a:rPr lang="fr-FR" sz="2400" dirty="0"/>
              <a:t>,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 dirty="0"/>
              <a:t>Utilise cet objet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DonneeBanque</a:t>
            </a:r>
            <a:r>
              <a:rPr lang="fr-FR" sz="2400" dirty="0"/>
              <a:t> pour générer un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RapportBanque</a:t>
            </a:r>
            <a:r>
              <a:rPr lang="fr-FR" sz="2400" dirty="0"/>
              <a:t> qui permettra de visualiser ces données d’une manière uniforme </a:t>
            </a:r>
          </a:p>
          <a:p>
            <a:pPr marL="0" indent="0">
              <a:buNone/>
            </a:pPr>
            <a:r>
              <a:rPr lang="fr-FR" sz="2400" dirty="0"/>
              <a:t>Le deuxième point étant identique pour toutes les banques, il sera codé dans une classe parent abstraite…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AD790A7B-BABE-A0BB-55C6-B55465DCF72E}"/>
              </a:ext>
            </a:extLst>
          </p:cNvPr>
          <p:cNvGrpSpPr/>
          <p:nvPr/>
        </p:nvGrpSpPr>
        <p:grpSpPr>
          <a:xfrm>
            <a:off x="7051769" y="4799555"/>
            <a:ext cx="4006569" cy="673537"/>
            <a:chOff x="3022325" y="2510421"/>
            <a:chExt cx="3387725" cy="673537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D8758C76-E508-5EC1-E949-48BA6B264852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VDBFricEnVrac</a:t>
              </a:r>
              <a:endParaRPr lang="fr-FR" dirty="0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1F53EBC-DAFD-2FE1-AC63-01ACCC5956FE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+ </a:t>
              </a:r>
              <a:r>
                <a:rPr lang="fr-FR" sz="1400" dirty="0" err="1"/>
                <a:t>DonneeBanque</a:t>
              </a:r>
              <a:r>
                <a:rPr lang="fr-FR" sz="1400" dirty="0"/>
                <a:t> </a:t>
              </a:r>
              <a:r>
                <a:rPr lang="fr-FR" sz="1400" dirty="0" err="1"/>
                <a:t>recupereDonneesDeBanque</a:t>
              </a:r>
              <a:r>
                <a:rPr lang="fr-FR" sz="1400" dirty="0"/>
                <a:t> ()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C83947D5-1BB7-55E7-4C54-5CE5F89484E8}"/>
              </a:ext>
            </a:extLst>
          </p:cNvPr>
          <p:cNvGrpSpPr/>
          <p:nvPr/>
        </p:nvGrpSpPr>
        <p:grpSpPr>
          <a:xfrm>
            <a:off x="7434326" y="5695676"/>
            <a:ext cx="3241455" cy="673537"/>
            <a:chOff x="3022325" y="2510421"/>
            <a:chExt cx="3387725" cy="673537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3D6B5D93-2689-6BD8-27C7-4010C9A6ACE6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FricEnVracDataProvider</a:t>
              </a:r>
              <a:endParaRPr lang="fr-FR" dirty="0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EFF9F15D-BAA4-4E55-7A77-BC97E142AF78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+ String[][] </a:t>
              </a:r>
              <a:r>
                <a:rPr lang="fr-FR" sz="1400" dirty="0" err="1"/>
                <a:t>provideBankData</a:t>
              </a:r>
              <a:r>
                <a:rPr lang="fr-FR" sz="1400" dirty="0"/>
                <a:t>()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18F223B0-2F16-9E02-55F0-6DBFBF6AE2B4}"/>
              </a:ext>
            </a:extLst>
          </p:cNvPr>
          <p:cNvGrpSpPr/>
          <p:nvPr/>
        </p:nvGrpSpPr>
        <p:grpSpPr>
          <a:xfrm>
            <a:off x="1691319" y="5028602"/>
            <a:ext cx="4006569" cy="888980"/>
            <a:chOff x="3022325" y="2510421"/>
            <a:chExt cx="3387725" cy="888980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990F051-7B6D-3BF8-1B62-AA2E7DA6DFDE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i="1" dirty="0" err="1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VisualiseurDeDonneesBancaires</a:t>
              </a:r>
              <a:endParaRPr lang="fr-FR" i="1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AC89A880-9852-30C1-ED24-7F958535B973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+ </a:t>
              </a:r>
              <a:r>
                <a:rPr lang="fr-FR" sz="1400" i="1" dirty="0" err="1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DonneeBanque</a:t>
              </a:r>
              <a:r>
                <a:rPr lang="fr-FR" sz="1400" i="1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 </a:t>
              </a:r>
              <a:r>
                <a:rPr lang="fr-FR" sz="1400" i="1" dirty="0" err="1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recupereDonneesDeBanque</a:t>
              </a:r>
              <a:r>
                <a:rPr lang="fr-FR" sz="1400" i="1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 ();</a:t>
              </a:r>
            </a:p>
            <a:p>
              <a:r>
                <a:rPr lang="fr-FR" sz="1400" dirty="0"/>
                <a:t>+ </a:t>
              </a:r>
              <a:r>
                <a:rPr lang="fr-FR" sz="1400" dirty="0" err="1"/>
                <a:t>RapportBanque</a:t>
              </a:r>
              <a:r>
                <a:rPr lang="fr-FR" sz="1400" dirty="0"/>
                <a:t> </a:t>
              </a:r>
              <a:r>
                <a:rPr lang="fr-FR" sz="1400" dirty="0" err="1"/>
                <a:t>formaterDonnees</a:t>
              </a:r>
              <a:r>
                <a:rPr lang="fr-FR" sz="1400" dirty="0"/>
                <a:t>()</a:t>
              </a:r>
            </a:p>
          </p:txBody>
        </p:sp>
      </p:grp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111D4779-EE3E-B005-9B4B-24F30806D64E}"/>
              </a:ext>
            </a:extLst>
          </p:cNvPr>
          <p:cNvCxnSpPr>
            <a:cxnSpLocks/>
            <a:stCxn id="5" idx="1"/>
            <a:endCxn id="11" idx="3"/>
          </p:cNvCxnSpPr>
          <p:nvPr/>
        </p:nvCxnSpPr>
        <p:spPr>
          <a:xfrm flipH="1">
            <a:off x="5697888" y="4984221"/>
            <a:ext cx="1353881" cy="229047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539CEF05-DC59-7765-B558-9F187446A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0406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FED821-1D05-A8E4-5DB4-2C19AC784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663518" cy="1325563"/>
          </a:xfrm>
        </p:spPr>
        <p:txBody>
          <a:bodyPr>
            <a:normAutofit/>
          </a:bodyPr>
          <a:lstStyle/>
          <a:p>
            <a:r>
              <a:rPr lang="fr-FR" sz="4000" dirty="0"/>
              <a:t>Le rapport bancaire – récupération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D9DBA-331E-EEC7-3FAF-B90974294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7203"/>
            <a:ext cx="10515600" cy="4127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2000" dirty="0"/>
              <a:t>Dans la classe abstraite, la méthode abstraite </a:t>
            </a: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recupereDonneesDeBanque</a:t>
            </a:r>
            <a:r>
              <a:rPr lang="nl-BE" sz="2000" dirty="0"/>
              <a:t> sera responsable de récupérer les données auprès d’une banque. </a:t>
            </a:r>
          </a:p>
          <a:p>
            <a:pPr marL="0" indent="0">
              <a:buNone/>
            </a:pPr>
            <a:r>
              <a:rPr lang="nl-BE" sz="2000" dirty="0"/>
              <a:t>La classe abstraite sera étendue par une classe concrète pour chaque banque, qui redéfinira la méthode en fonction de ce qui est reçu pour chaque banque.</a:t>
            </a:r>
          </a:p>
          <a:p>
            <a:pPr marL="0" indent="0">
              <a:buNone/>
            </a:pPr>
            <a:endParaRPr lang="nl-BE" sz="2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nl-BE" sz="2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abstract class VisualiseurDeDonneesBancaires {</a:t>
            </a:r>
          </a:p>
          <a:p>
            <a:pPr marL="0" indent="0">
              <a:buNone/>
            </a:pP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... </a:t>
            </a:r>
            <a:endParaRPr lang="nl-BE" sz="18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protected abstract DonneeBanque recupereDonneesDeBanque();</a:t>
            </a:r>
          </a:p>
          <a:p>
            <a:pPr marL="0" indent="0">
              <a:buNone/>
            </a:pPr>
            <a:endParaRPr lang="nl-BE" sz="18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456F18C-DC7A-9BFA-7D84-CD30F38D30A4}"/>
              </a:ext>
            </a:extLst>
          </p:cNvPr>
          <p:cNvSpPr txBox="1"/>
          <p:nvPr/>
        </p:nvSpPr>
        <p:spPr>
          <a:xfrm>
            <a:off x="3729163" y="5097924"/>
            <a:ext cx="1669774" cy="355691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EF808D1-C8DB-1A6C-224B-033C3F67D1A9}"/>
              </a:ext>
            </a:extLst>
          </p:cNvPr>
          <p:cNvSpPr txBox="1"/>
          <p:nvPr/>
        </p:nvSpPr>
        <p:spPr>
          <a:xfrm>
            <a:off x="4042611" y="5586450"/>
            <a:ext cx="7555285" cy="923330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266299"/>
                </a:solidFill>
              </a:rPr>
              <a:t>Les méthodes qui redéfinissent </a:t>
            </a:r>
            <a:r>
              <a:rPr lang="nl-BE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recupereDonneesDeBanque</a:t>
            </a:r>
            <a:r>
              <a:rPr lang="fr-FR" dirty="0">
                <a:solidFill>
                  <a:srgbClr val="266299"/>
                </a:solidFill>
              </a:rPr>
              <a:t> récupèreront les données pour chaque banque, à un format propre à la banque, puis les transformeront en un objet </a:t>
            </a:r>
            <a:r>
              <a:rPr lang="nl-BE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DonneeBanque</a:t>
            </a:r>
            <a:r>
              <a:rPr lang="fr-FR" dirty="0">
                <a:solidFill>
                  <a:srgbClr val="266299"/>
                </a:solidFill>
              </a:rPr>
              <a:t>, défini par nous…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5E8952F-94E1-2528-569E-818C0911F943}"/>
              </a:ext>
            </a:extLst>
          </p:cNvPr>
          <p:cNvGrpSpPr/>
          <p:nvPr/>
        </p:nvGrpSpPr>
        <p:grpSpPr>
          <a:xfrm>
            <a:off x="8005749" y="3429000"/>
            <a:ext cx="3811143" cy="1104424"/>
            <a:chOff x="3022325" y="2510421"/>
            <a:chExt cx="3387725" cy="1104424"/>
          </a:xfrm>
          <a:solidFill>
            <a:schemeClr val="tx1"/>
          </a:solidFill>
        </p:grpSpPr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EC666A90-7BFE-43C1-04F5-20BA4A0F4C8C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>
                  <a:solidFill>
                    <a:schemeClr val="bg1"/>
                  </a:solidFill>
                </a:rPr>
                <a:t>DonneeBanque</a:t>
              </a:r>
              <a:endParaRPr lang="fr-FR" dirty="0">
                <a:solidFill>
                  <a:schemeClr val="bg1"/>
                </a:solidFill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721812C3-B631-54CA-5A01-C4B3075ACB82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738664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1"/>
                  </a:solidFill>
                </a:rPr>
                <a:t>+ </a:t>
              </a:r>
              <a:r>
                <a:rPr lang="fr-FR" sz="1400" dirty="0" err="1">
                  <a:solidFill>
                    <a:schemeClr val="bg1"/>
                  </a:solidFill>
                </a:rPr>
                <a:t>InfoCompte</a:t>
              </a:r>
              <a:r>
                <a:rPr lang="fr-FR" sz="1400" dirty="0">
                  <a:solidFill>
                    <a:schemeClr val="bg1"/>
                  </a:solidFill>
                </a:rPr>
                <a:t>[] </a:t>
              </a:r>
              <a:r>
                <a:rPr lang="fr-FR" sz="1400" dirty="0" err="1">
                  <a:solidFill>
                    <a:schemeClr val="bg1"/>
                  </a:solidFill>
                </a:rPr>
                <a:t>infoComptes</a:t>
              </a:r>
              <a:endParaRPr lang="fr-FR" sz="1400" dirty="0">
                <a:solidFill>
                  <a:schemeClr val="bg1"/>
                </a:solidFill>
              </a:endParaRPr>
            </a:p>
            <a:p>
              <a:r>
                <a:rPr lang="fr-FR" sz="1400" dirty="0">
                  <a:solidFill>
                    <a:schemeClr val="bg1"/>
                  </a:solidFill>
                </a:rPr>
                <a:t>+ </a:t>
              </a:r>
              <a:r>
                <a:rPr lang="fr-FR" sz="1400" dirty="0" err="1">
                  <a:solidFill>
                    <a:schemeClr val="bg1"/>
                  </a:solidFill>
                </a:rPr>
                <a:t>void</a:t>
              </a:r>
              <a:r>
                <a:rPr lang="fr-FR" sz="1400" dirty="0">
                  <a:solidFill>
                    <a:schemeClr val="bg1"/>
                  </a:solidFill>
                </a:rPr>
                <a:t> </a:t>
              </a:r>
              <a:r>
                <a:rPr lang="fr-FR" sz="1400" dirty="0" err="1">
                  <a:solidFill>
                    <a:schemeClr val="bg1"/>
                  </a:solidFill>
                </a:rPr>
                <a:t>creeInfoComptes</a:t>
              </a:r>
              <a:r>
                <a:rPr lang="fr-FR" sz="1400" dirty="0">
                  <a:solidFill>
                    <a:schemeClr val="bg1"/>
                  </a:solidFill>
                </a:rPr>
                <a:t>(</a:t>
              </a:r>
              <a:r>
                <a:rPr lang="fr-FR" sz="1400" dirty="0" err="1">
                  <a:solidFill>
                    <a:schemeClr val="bg1"/>
                  </a:solidFill>
                </a:rPr>
                <a:t>int</a:t>
              </a:r>
              <a:r>
                <a:rPr lang="fr-FR" sz="1400" dirty="0">
                  <a:solidFill>
                    <a:schemeClr val="bg1"/>
                  </a:solidFill>
                </a:rPr>
                <a:t> </a:t>
              </a:r>
              <a:r>
                <a:rPr lang="fr-FR" sz="1400" dirty="0" err="1">
                  <a:solidFill>
                    <a:schemeClr val="bg1"/>
                  </a:solidFill>
                </a:rPr>
                <a:t>nbComptes</a:t>
              </a:r>
              <a:r>
                <a:rPr lang="fr-FR" sz="1400" dirty="0">
                  <a:solidFill>
                    <a:schemeClr val="bg1"/>
                  </a:solidFill>
                </a:rPr>
                <a:t>)</a:t>
              </a:r>
            </a:p>
            <a:p>
              <a:r>
                <a:rPr lang="fr-FR" sz="1400" dirty="0">
                  <a:solidFill>
                    <a:schemeClr val="bg1"/>
                  </a:solidFill>
                </a:rPr>
                <a:t>+ </a:t>
              </a:r>
              <a:r>
                <a:rPr lang="fr-FR" sz="1400" dirty="0" err="1">
                  <a:solidFill>
                    <a:schemeClr val="bg1"/>
                  </a:solidFill>
                </a:rPr>
                <a:t>void</a:t>
              </a:r>
              <a:r>
                <a:rPr lang="fr-FR" sz="1400" dirty="0">
                  <a:solidFill>
                    <a:schemeClr val="bg1"/>
                  </a:solidFill>
                </a:rPr>
                <a:t> </a:t>
              </a:r>
              <a:r>
                <a:rPr lang="fr-FR" sz="1400" dirty="0" err="1">
                  <a:solidFill>
                    <a:schemeClr val="bg1"/>
                  </a:solidFill>
                </a:rPr>
                <a:t>ajouteInfoCompte</a:t>
              </a:r>
              <a:r>
                <a:rPr lang="fr-FR" sz="1400" dirty="0">
                  <a:solidFill>
                    <a:schemeClr val="bg1"/>
                  </a:solidFill>
                </a:rPr>
                <a:t>(</a:t>
              </a:r>
              <a:r>
                <a:rPr lang="fr-FR" sz="1400" dirty="0" err="1">
                  <a:solidFill>
                    <a:schemeClr val="bg1"/>
                  </a:solidFill>
                </a:rPr>
                <a:t>int</a:t>
              </a:r>
              <a:r>
                <a:rPr lang="fr-FR" sz="1400" dirty="0">
                  <a:solidFill>
                    <a:schemeClr val="bg1"/>
                  </a:solidFill>
                </a:rPr>
                <a:t> n°, </a:t>
              </a:r>
              <a:r>
                <a:rPr lang="fr-FR" sz="1400" dirty="0" err="1">
                  <a:solidFill>
                    <a:schemeClr val="bg1"/>
                  </a:solidFill>
                </a:rPr>
                <a:t>Infocompte</a:t>
              </a:r>
              <a:r>
                <a:rPr lang="fr-FR" sz="1400" dirty="0">
                  <a:solidFill>
                    <a:schemeClr val="bg1"/>
                  </a:solidFill>
                </a:rPr>
                <a:t> info)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4D3E9067-CB38-0C0C-A413-516BAB68FCD4}"/>
              </a:ext>
            </a:extLst>
          </p:cNvPr>
          <p:cNvGrpSpPr/>
          <p:nvPr/>
        </p:nvGrpSpPr>
        <p:grpSpPr>
          <a:xfrm>
            <a:off x="7799403" y="1297934"/>
            <a:ext cx="4006569" cy="888980"/>
            <a:chOff x="3022325" y="2510421"/>
            <a:chExt cx="3387725" cy="888980"/>
          </a:xfrm>
          <a:solidFill>
            <a:schemeClr val="tx1"/>
          </a:solidFill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291FA64C-666C-5966-DEB3-31E210ED6C0F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i="1" dirty="0" err="1">
                  <a:solidFill>
                    <a:schemeClr val="bg1"/>
                  </a:solidFill>
                </a:rPr>
                <a:t>VisualiseurDeDonneesBancaires</a:t>
              </a:r>
              <a:endParaRPr lang="fr-FR" i="1" dirty="0">
                <a:solidFill>
                  <a:schemeClr val="bg1"/>
                </a:solidFill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F091C3FB-C4D1-70E6-046D-6C6BEE6CFF78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52322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chemeClr val="bg1"/>
                  </a:solidFill>
                </a:rPr>
                <a:t>+ </a:t>
              </a:r>
              <a:r>
                <a:rPr lang="fr-FR" sz="1400" i="1" dirty="0" err="1">
                  <a:solidFill>
                    <a:schemeClr val="bg1"/>
                  </a:solidFill>
                </a:rPr>
                <a:t>DonneeBanque</a:t>
              </a:r>
              <a:r>
                <a:rPr lang="fr-FR" sz="1400" i="1" dirty="0">
                  <a:solidFill>
                    <a:schemeClr val="bg1"/>
                  </a:solidFill>
                </a:rPr>
                <a:t> </a:t>
              </a:r>
              <a:r>
                <a:rPr lang="fr-FR" sz="1400" i="1" dirty="0" err="1">
                  <a:solidFill>
                    <a:schemeClr val="bg1"/>
                  </a:solidFill>
                </a:rPr>
                <a:t>recupereDonneesDeBanque</a:t>
              </a:r>
              <a:r>
                <a:rPr lang="fr-FR" sz="1400" i="1" dirty="0">
                  <a:solidFill>
                    <a:schemeClr val="bg1"/>
                  </a:solidFill>
                </a:rPr>
                <a:t> ();</a:t>
              </a:r>
            </a:p>
            <a:p>
              <a:r>
                <a:rPr lang="fr-FR" sz="1400" dirty="0">
                  <a:solidFill>
                    <a:schemeClr val="bg1"/>
                  </a:solidFill>
                </a:rPr>
                <a:t>+ </a:t>
              </a:r>
              <a:r>
                <a:rPr lang="fr-FR" sz="1400" dirty="0" err="1">
                  <a:solidFill>
                    <a:schemeClr val="bg1"/>
                  </a:solidFill>
                </a:rPr>
                <a:t>RapportBanque</a:t>
              </a:r>
              <a:r>
                <a:rPr lang="fr-FR" sz="1400" dirty="0">
                  <a:solidFill>
                    <a:schemeClr val="bg1"/>
                  </a:solidFill>
                </a:rPr>
                <a:t> </a:t>
              </a:r>
              <a:r>
                <a:rPr lang="fr-FR" sz="1400" dirty="0" err="1">
                  <a:solidFill>
                    <a:schemeClr val="bg1"/>
                  </a:solidFill>
                </a:rPr>
                <a:t>formaterDonnees</a:t>
              </a:r>
              <a:r>
                <a:rPr lang="fr-FR" sz="1400" dirty="0">
                  <a:solidFill>
                    <a:schemeClr val="bg1"/>
                  </a:solidFill>
                </a:rPr>
                <a:t>()</a:t>
              </a:r>
            </a:p>
          </p:txBody>
        </p:sp>
      </p:grp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896A9CA8-8F32-F6B1-E251-7DBE7D341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96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FED821-1D05-A8E4-5DB4-2C19AC78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 rapport bancaire – formatage de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D9DBA-331E-EEC7-3FAF-B90974294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201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2400" dirty="0"/>
              <a:t>Une autre méthode, </a:t>
            </a: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formaterDonnees</a:t>
            </a:r>
            <a:r>
              <a:rPr lang="nl-BE" sz="2400" dirty="0"/>
              <a:t>, sera implémentée et aura pour responsabilité de créer le rapport et de le mettre en forme.</a:t>
            </a:r>
          </a:p>
          <a:p>
            <a:pPr marL="0" indent="0">
              <a:buNone/>
            </a:pPr>
            <a:endParaRPr lang="nl-BE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nl-BE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abstract class VisualiseurDeDonneesBancaires {</a:t>
            </a:r>
          </a:p>
          <a:p>
            <a:pPr marL="0" indent="0">
              <a:buNone/>
            </a:pPr>
            <a:r>
              <a:rPr lang="nl-BE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... </a:t>
            </a:r>
            <a:endParaRPr lang="nl-BE" sz="19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nl-BE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protected abstract </a:t>
            </a:r>
            <a:r>
              <a:rPr lang="nl-BE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DonneeBanque recupereDonneesDeBanque</a:t>
            </a:r>
            <a:r>
              <a:rPr lang="nl-BE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nl-BE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Rapport formaterDonnees() { </a:t>
            </a:r>
            <a:r>
              <a:rPr lang="nl-BE" sz="19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logique pour formatter le rapport</a:t>
            </a:r>
            <a:endParaRPr lang="nl-BE" sz="19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nl-BE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BankData data = </a:t>
            </a:r>
            <a:r>
              <a:rPr lang="nl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recupereDonneesDeBanque</a:t>
            </a:r>
            <a:r>
              <a:rPr lang="nl-BE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nl-BE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...</a:t>
            </a:r>
          </a:p>
          <a:p>
            <a:pPr marL="0" indent="0">
              <a:buNone/>
            </a:pPr>
            <a:r>
              <a:rPr lang="nl-BE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nl-BE" sz="19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C684FC3-1BEA-6680-FD1E-BF63FC73DEC3}"/>
              </a:ext>
            </a:extLst>
          </p:cNvPr>
          <p:cNvSpPr txBox="1"/>
          <p:nvPr/>
        </p:nvSpPr>
        <p:spPr>
          <a:xfrm>
            <a:off x="7015448" y="5374021"/>
            <a:ext cx="4454768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1"/>
                </a:solidFill>
              </a:rPr>
              <a:t>Notez que la méthode concrète utilise la méthode abstraite…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760E28-8856-B0E6-7108-F382C152EFEB}"/>
              </a:ext>
            </a:extLst>
          </p:cNvPr>
          <p:cNvSpPr txBox="1"/>
          <p:nvPr/>
        </p:nvSpPr>
        <p:spPr>
          <a:xfrm>
            <a:off x="2327564" y="4194148"/>
            <a:ext cx="1059274" cy="355691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ABD3286-FAB1-1BC6-8F46-59A411865A0F}"/>
              </a:ext>
            </a:extLst>
          </p:cNvPr>
          <p:cNvSpPr txBox="1"/>
          <p:nvPr/>
        </p:nvSpPr>
        <p:spPr>
          <a:xfrm>
            <a:off x="3570309" y="4869754"/>
            <a:ext cx="3696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accent2"/>
                </a:solidFill>
              </a:rPr>
              <a:t>J’utilise un String dans l’exemple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4542E8A-7910-3245-D19F-11030FFF6E64}"/>
              </a:ext>
            </a:extLst>
          </p:cNvPr>
          <p:cNvCxnSpPr>
            <a:cxnSpLocks/>
            <a:stCxn id="5" idx="2"/>
            <a:endCxn id="6" idx="1"/>
          </p:cNvCxnSpPr>
          <p:nvPr/>
        </p:nvCxnSpPr>
        <p:spPr>
          <a:xfrm>
            <a:off x="2857201" y="4549839"/>
            <a:ext cx="713108" cy="50458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e 6">
            <a:extLst>
              <a:ext uri="{FF2B5EF4-FFF2-40B4-BE49-F238E27FC236}">
                <a16:creationId xmlns:a16="http://schemas.microsoft.com/office/drawing/2014/main" id="{EEB14D03-A002-4A85-CFC9-5D49780588DB}"/>
              </a:ext>
            </a:extLst>
          </p:cNvPr>
          <p:cNvGrpSpPr/>
          <p:nvPr/>
        </p:nvGrpSpPr>
        <p:grpSpPr>
          <a:xfrm>
            <a:off x="8381408" y="2540020"/>
            <a:ext cx="3639250" cy="807479"/>
            <a:chOff x="3022325" y="2510421"/>
            <a:chExt cx="3387725" cy="888980"/>
          </a:xfrm>
          <a:solidFill>
            <a:schemeClr val="tx1"/>
          </a:solidFill>
        </p:grpSpPr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777C85F0-8845-B7A2-E4B0-47F37D57DB5F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i="1" dirty="0" err="1">
                  <a:solidFill>
                    <a:schemeClr val="bg1"/>
                  </a:solidFill>
                </a:rPr>
                <a:t>VisualiseurDeDonneesBancaires</a:t>
              </a:r>
              <a:endParaRPr lang="fr-FR" sz="1600" i="1" dirty="0">
                <a:solidFill>
                  <a:schemeClr val="bg1"/>
                </a:solidFill>
              </a:endParaRP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5C05625-79EB-DDE1-397A-D1E5DF160B6E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52322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</a:rPr>
                <a:t>+ </a:t>
              </a:r>
              <a:r>
                <a:rPr lang="fr-FR" sz="1200" i="1" dirty="0" err="1">
                  <a:solidFill>
                    <a:schemeClr val="bg1"/>
                  </a:solidFill>
                </a:rPr>
                <a:t>DonneeBanque</a:t>
              </a:r>
              <a:r>
                <a:rPr lang="fr-FR" sz="1200" i="1" dirty="0">
                  <a:solidFill>
                    <a:schemeClr val="bg1"/>
                  </a:solidFill>
                </a:rPr>
                <a:t> </a:t>
              </a:r>
              <a:r>
                <a:rPr lang="fr-FR" sz="1200" i="1" dirty="0" err="1">
                  <a:solidFill>
                    <a:schemeClr val="bg1"/>
                  </a:solidFill>
                </a:rPr>
                <a:t>recupereDonneesDeBanque</a:t>
              </a:r>
              <a:r>
                <a:rPr lang="fr-FR" sz="1200" i="1" dirty="0">
                  <a:solidFill>
                    <a:schemeClr val="bg1"/>
                  </a:solidFill>
                </a:rPr>
                <a:t> ();</a:t>
              </a:r>
            </a:p>
            <a:p>
              <a:r>
                <a:rPr lang="fr-FR" sz="1200" dirty="0">
                  <a:solidFill>
                    <a:schemeClr val="bg1"/>
                  </a:solidFill>
                </a:rPr>
                <a:t>+ </a:t>
              </a:r>
              <a:r>
                <a:rPr lang="fr-FR" sz="1200" dirty="0" err="1">
                  <a:solidFill>
                    <a:schemeClr val="bg1"/>
                  </a:solidFill>
                </a:rPr>
                <a:t>RapportBanque</a:t>
              </a:r>
              <a:r>
                <a:rPr lang="fr-FR" sz="1200" dirty="0">
                  <a:solidFill>
                    <a:schemeClr val="bg1"/>
                  </a:solidFill>
                </a:rPr>
                <a:t> </a:t>
              </a:r>
              <a:r>
                <a:rPr lang="fr-FR" sz="1200" dirty="0" err="1">
                  <a:solidFill>
                    <a:schemeClr val="bg1"/>
                  </a:solidFill>
                </a:rPr>
                <a:t>formaterDonnees</a:t>
              </a:r>
              <a:r>
                <a:rPr lang="fr-FR" sz="1200" dirty="0">
                  <a:solidFill>
                    <a:schemeClr val="bg1"/>
                  </a:solidFill>
                </a:rPr>
                <a:t>()</a:t>
              </a:r>
            </a:p>
          </p:txBody>
        </p:sp>
      </p:grp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2E293E5-0F75-D15E-67C5-1674D8C3B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28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FED821-1D05-A8E4-5DB4-2C19AC78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rapport bancaire: classes concrètes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D9DBA-331E-EEC7-3FAF-B90974294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1248" cy="466724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nl-BE" sz="2600" dirty="0"/>
              <a:t>Enfin, différentes classes étendront l’Afficheur abstrait, pour récupérer les données dans différentes banques; leur méthode </a:t>
            </a:r>
            <a:r>
              <a:rPr lang="nl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recupereDonneesDeBanque</a:t>
            </a:r>
            <a:r>
              <a:rPr lang="nl-BE" sz="2600" dirty="0"/>
              <a:t> sera implémentée et sera spécifique à chaque banque, comme par exemple pour la banque Fric En Vrac:</a:t>
            </a:r>
            <a:endParaRPr lang="nl-BE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VisualiseurFricEnVrac extends VisualiseurDeDonneesBancaires {</a:t>
            </a:r>
          </a:p>
          <a:p>
            <a:pPr marL="0" indent="0">
              <a:buNone/>
            </a:pP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pPr marL="0" indent="0">
              <a:buNone/>
            </a:pP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@Overrides</a:t>
            </a:r>
          </a:p>
          <a:p>
            <a:pPr marL="0" indent="0">
              <a:buNone/>
            </a:pP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protected DonneeBanque recupereDonneesDeBanque(){</a:t>
            </a:r>
          </a:p>
          <a:p>
            <a:pPr marL="0" indent="0">
              <a:buNone/>
            </a:pPr>
            <a:r>
              <a:rPr lang="nl-BE" sz="22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nl-BE" sz="19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implémentation pour récupérer les données auprès de la banque Fric En Vrac</a:t>
            </a:r>
            <a:endParaRPr lang="nl-BE" sz="22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...</a:t>
            </a:r>
          </a:p>
          <a:p>
            <a:pPr marL="0" indent="0">
              <a:buNone/>
            </a:pP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nl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C684FC3-1BEA-6680-FD1E-BF63FC73DEC3}"/>
              </a:ext>
            </a:extLst>
          </p:cNvPr>
          <p:cNvSpPr txBox="1"/>
          <p:nvPr/>
        </p:nvSpPr>
        <p:spPr>
          <a:xfrm>
            <a:off x="4090737" y="5381972"/>
            <a:ext cx="7854215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1"/>
                </a:solidFill>
              </a:rPr>
              <a:t>Ici la méthode récupère les données de la banque, et les formate en retournant un objet </a:t>
            </a:r>
            <a:r>
              <a:rPr lang="fr-FR" b="1" dirty="0" err="1">
                <a:solidFill>
                  <a:schemeClr val="accent2"/>
                </a:solidFill>
              </a:rPr>
              <a:t>DonneeBanque</a:t>
            </a:r>
            <a:r>
              <a:rPr lang="fr-FR" b="1" dirty="0">
                <a:solidFill>
                  <a:schemeClr val="accent1"/>
                </a:solidFill>
              </a:rPr>
              <a:t> (format connu par la classe abstraite)…</a:t>
            </a:r>
          </a:p>
          <a:p>
            <a:r>
              <a:rPr lang="fr-FR" b="1" dirty="0">
                <a:solidFill>
                  <a:schemeClr val="accent1"/>
                </a:solidFill>
              </a:rPr>
              <a:t>C’est la méthode qui connaît la structure du message retourné par la banque.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7F4C71A-F011-351F-B0AA-94579C4BB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968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11522-5E87-9A4E-9BDD-AD1B2D9F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 du rapport bancaire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B88FA5-096C-4941-BD3B-B9CEB6FCE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votre programme de gestion, votre afficheur de Rapports dans ne manipule que des </a:t>
            </a:r>
            <a:r>
              <a:rPr lang="nl-BE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VisualiseurDeDonneesBancaires</a:t>
            </a:r>
            <a:r>
              <a:rPr lang="fr-FR" dirty="0"/>
              <a:t> </a:t>
            </a:r>
          </a:p>
          <a:p>
            <a:r>
              <a:rPr lang="fr-FR" dirty="0"/>
              <a:t>Il n’a pas besoin de savoir que c’est un afficheur pour Bin Money, </a:t>
            </a:r>
            <a:r>
              <a:rPr lang="fr-FR" dirty="0" err="1"/>
              <a:t>Icilo</a:t>
            </a:r>
            <a:r>
              <a:rPr lang="fr-FR" dirty="0"/>
              <a:t> </a:t>
            </a:r>
            <a:r>
              <a:rPr lang="fr-FR" dirty="0" err="1"/>
              <a:t>Zeille</a:t>
            </a:r>
            <a:r>
              <a:rPr lang="fr-FR" dirty="0"/>
              <a:t>, Fric En Vrac ou </a:t>
            </a:r>
            <a:r>
              <a:rPr lang="fr-FR" dirty="0" err="1"/>
              <a:t>Pom</a:t>
            </a:r>
            <a:r>
              <a:rPr lang="fr-FR" dirty="0"/>
              <a:t> </a:t>
            </a:r>
            <a:r>
              <a:rPr lang="fr-FR" dirty="0" err="1"/>
              <a:t>Pafric</a:t>
            </a:r>
            <a:r>
              <a:rPr lang="fr-FR" dirty="0"/>
              <a:t>…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8CDF3D6-EFED-924A-A042-83C670992057}"/>
              </a:ext>
            </a:extLst>
          </p:cNvPr>
          <p:cNvSpPr txBox="1"/>
          <p:nvPr/>
        </p:nvSpPr>
        <p:spPr>
          <a:xfrm>
            <a:off x="6581563" y="3957558"/>
            <a:ext cx="33877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i="1" dirty="0" err="1"/>
              <a:t>VisualiseurDeDonneesBancaires</a:t>
            </a:r>
            <a:endParaRPr lang="fr-FR" i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A88DDA1-D14F-D64B-A0BD-572C59E3F28A}"/>
              </a:ext>
            </a:extLst>
          </p:cNvPr>
          <p:cNvSpPr txBox="1"/>
          <p:nvPr/>
        </p:nvSpPr>
        <p:spPr>
          <a:xfrm>
            <a:off x="8420392" y="5527755"/>
            <a:ext cx="26201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VisualiseurFricEnVrac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D0EDB7-B88B-5247-87D6-91E45ACAB7B7}"/>
              </a:ext>
            </a:extLst>
          </p:cNvPr>
          <p:cNvSpPr txBox="1"/>
          <p:nvPr/>
        </p:nvSpPr>
        <p:spPr>
          <a:xfrm>
            <a:off x="5707733" y="5527755"/>
            <a:ext cx="24102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VisualiseurPomPafric</a:t>
            </a:r>
            <a:endParaRPr lang="fr-FR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C56F45A2-7730-C04A-9C25-5491AB6E820D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5928191" y="4326890"/>
            <a:ext cx="2347235" cy="565196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E938044-7497-EA43-9633-205EA655A175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H="1" flipV="1">
            <a:off x="8275426" y="4326890"/>
            <a:ext cx="1455032" cy="1200865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6930AA21-AE01-CB44-8337-BAD8CC1502DC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6912843" y="4326890"/>
            <a:ext cx="1362583" cy="1200865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55FD3430-A695-3644-AE94-2E9437BBAE13}"/>
              </a:ext>
            </a:extLst>
          </p:cNvPr>
          <p:cNvSpPr txBox="1"/>
          <p:nvPr/>
        </p:nvSpPr>
        <p:spPr>
          <a:xfrm>
            <a:off x="9538842" y="4875848"/>
            <a:ext cx="24102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VisualiseurIciloZeille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834734F-2CCD-0A4E-810E-A49A7424E963}"/>
              </a:ext>
            </a:extLst>
          </p:cNvPr>
          <p:cNvSpPr txBox="1"/>
          <p:nvPr/>
        </p:nvSpPr>
        <p:spPr>
          <a:xfrm>
            <a:off x="4723081" y="4892086"/>
            <a:ext cx="24102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VisualiseurBigMoney</a:t>
            </a:r>
            <a:endParaRPr lang="fr-FR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8EB3688-92DB-8F55-6668-31D3D7CCB4C1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H="1" flipV="1">
            <a:off x="8275426" y="4326890"/>
            <a:ext cx="2468526" cy="548958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AC8EDF-2721-2D1C-A83A-9A5701E03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321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AF3BC-69D8-FDAA-F1DF-FE7197C0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 pratique, ça donne…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BBDE9B98-89F8-D7F8-7B4B-1060E51E2B2D}"/>
              </a:ext>
            </a:extLst>
          </p:cNvPr>
          <p:cNvGrpSpPr/>
          <p:nvPr/>
        </p:nvGrpSpPr>
        <p:grpSpPr>
          <a:xfrm>
            <a:off x="3030516" y="3338670"/>
            <a:ext cx="4006569" cy="888980"/>
            <a:chOff x="3022325" y="2510421"/>
            <a:chExt cx="3387725" cy="888980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AA79D1B3-99DF-7126-E82D-EEABC5329760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i="1" dirty="0" err="1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VisualiseurDeDonneesBancaires</a:t>
              </a:r>
              <a:endParaRPr lang="fr-FR" i="1" dirty="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A78015BD-7D1C-899F-88FC-DD58E758FAC3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+ </a:t>
              </a:r>
              <a:r>
                <a:rPr lang="fr-FR" sz="1400" i="1" dirty="0" err="1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DonneeBanque</a:t>
              </a:r>
              <a:r>
                <a:rPr lang="fr-FR" sz="1400" i="1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 </a:t>
              </a:r>
              <a:r>
                <a:rPr lang="fr-FR" sz="1400" i="1" dirty="0" err="1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recupereDonneesDeBanque</a:t>
              </a:r>
              <a:r>
                <a:rPr lang="fr-FR" sz="1400" i="1" dirty="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 ();</a:t>
              </a:r>
            </a:p>
            <a:p>
              <a:r>
                <a:rPr lang="fr-FR" sz="1400" dirty="0"/>
                <a:t>+ </a:t>
              </a:r>
              <a:r>
                <a:rPr lang="fr-FR" sz="1400" dirty="0" err="1"/>
                <a:t>RapportBanque</a:t>
              </a:r>
              <a:r>
                <a:rPr lang="fr-FR" sz="1400" dirty="0"/>
                <a:t> </a:t>
              </a:r>
              <a:r>
                <a:rPr lang="fr-FR" sz="1400" dirty="0" err="1"/>
                <a:t>formaterDonnees</a:t>
              </a:r>
              <a:r>
                <a:rPr lang="fr-FR" sz="1400" dirty="0"/>
                <a:t>()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11882B99-DD37-6A50-CDA6-3937B5484391}"/>
              </a:ext>
            </a:extLst>
          </p:cNvPr>
          <p:cNvGrpSpPr/>
          <p:nvPr/>
        </p:nvGrpSpPr>
        <p:grpSpPr>
          <a:xfrm>
            <a:off x="595310" y="4632577"/>
            <a:ext cx="4006569" cy="673537"/>
            <a:chOff x="3022325" y="2510421"/>
            <a:chExt cx="3387725" cy="673537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52C63794-F748-86F9-3A48-4ABA3CD6C208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VisualiseurFricEnVrac</a:t>
              </a:r>
              <a:endParaRPr lang="fr-FR" dirty="0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3072924-692E-D1DB-C04A-31CE2B9DEC4A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+ </a:t>
              </a:r>
              <a:r>
                <a:rPr lang="fr-FR" sz="1400" dirty="0" err="1"/>
                <a:t>DonneeBanque</a:t>
              </a:r>
              <a:r>
                <a:rPr lang="fr-FR" sz="1400" dirty="0"/>
                <a:t> </a:t>
              </a:r>
              <a:r>
                <a:rPr lang="fr-FR" sz="1400" dirty="0" err="1"/>
                <a:t>recupereDonneesDeBanque</a:t>
              </a:r>
              <a:r>
                <a:rPr lang="fr-FR" sz="1400" dirty="0"/>
                <a:t> ()</a:t>
              </a:r>
            </a:p>
          </p:txBody>
        </p:sp>
      </p:grp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7AE84C84-D6DB-BF02-D90F-9BAD33932E4A}"/>
              </a:ext>
            </a:extLst>
          </p:cNvPr>
          <p:cNvCxnSpPr>
            <a:cxnSpLocks/>
            <a:stCxn id="18" idx="0"/>
            <a:endCxn id="16" idx="2"/>
          </p:cNvCxnSpPr>
          <p:nvPr/>
        </p:nvCxnSpPr>
        <p:spPr>
          <a:xfrm flipV="1">
            <a:off x="2598594" y="4227650"/>
            <a:ext cx="2435206" cy="40492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FFCBB165-51DB-E9C6-E9F4-46279F480E3A}"/>
              </a:ext>
            </a:extLst>
          </p:cNvPr>
          <p:cNvGrpSpPr/>
          <p:nvPr/>
        </p:nvGrpSpPr>
        <p:grpSpPr>
          <a:xfrm>
            <a:off x="977867" y="5528698"/>
            <a:ext cx="3241455" cy="673537"/>
            <a:chOff x="3022325" y="2510421"/>
            <a:chExt cx="3387725" cy="673537"/>
          </a:xfrm>
        </p:grpSpPr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7E1CD929-4DE5-9EA9-A8C0-EC730B993F34}"/>
                </a:ext>
              </a:extLst>
            </p:cNvPr>
            <p:cNvSpPr txBox="1"/>
            <p:nvPr/>
          </p:nvSpPr>
          <p:spPr>
            <a:xfrm>
              <a:off x="3022325" y="2510421"/>
              <a:ext cx="338772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err="1"/>
                <a:t>FricEnVracDataProvider</a:t>
              </a:r>
              <a:endParaRPr lang="fr-FR" dirty="0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62618931-DB44-4C80-A840-C4497B303447}"/>
                </a:ext>
              </a:extLst>
            </p:cNvPr>
            <p:cNvSpPr txBox="1"/>
            <p:nvPr/>
          </p:nvSpPr>
          <p:spPr>
            <a:xfrm>
              <a:off x="3022325" y="2876181"/>
              <a:ext cx="338772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+ String[][] </a:t>
              </a:r>
              <a:r>
                <a:rPr lang="fr-FR" sz="1400" dirty="0" err="1"/>
                <a:t>provideBankData</a:t>
              </a:r>
              <a:r>
                <a:rPr lang="fr-FR" sz="1400" dirty="0"/>
                <a:t>()</a:t>
              </a: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27CBE793-029D-EE95-C617-A2A0403EA3B2}"/>
              </a:ext>
            </a:extLst>
          </p:cNvPr>
          <p:cNvGrpSpPr/>
          <p:nvPr/>
        </p:nvGrpSpPr>
        <p:grpSpPr>
          <a:xfrm>
            <a:off x="1256003" y="1631351"/>
            <a:ext cx="10175715" cy="1319867"/>
            <a:chOff x="1256003" y="1694196"/>
            <a:chExt cx="10175715" cy="1319867"/>
          </a:xfrm>
        </p:grpSpPr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BD2CC001-B86E-6C31-7CED-BF37E944B883}"/>
                </a:ext>
              </a:extLst>
            </p:cNvPr>
            <p:cNvGrpSpPr/>
            <p:nvPr/>
          </p:nvGrpSpPr>
          <p:grpSpPr>
            <a:xfrm>
              <a:off x="5785280" y="1694196"/>
              <a:ext cx="2919742" cy="1104424"/>
              <a:chOff x="3022325" y="2510421"/>
              <a:chExt cx="3387725" cy="1104424"/>
            </a:xfrm>
          </p:grpSpPr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50591AF7-CA72-F57A-0277-45440FBE12CD}"/>
                  </a:ext>
                </a:extLst>
              </p:cNvPr>
              <p:cNvSpPr txBox="1"/>
              <p:nvPr/>
            </p:nvSpPr>
            <p:spPr>
              <a:xfrm>
                <a:off x="3022325" y="2510421"/>
                <a:ext cx="338772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 err="1"/>
                  <a:t>InfoCompte</a:t>
                </a:r>
                <a:endParaRPr lang="fr-FR" dirty="0"/>
              </a:p>
            </p:txBody>
          </p:sp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572D79FD-9275-FAA6-CC88-85DE68258AF2}"/>
                  </a:ext>
                </a:extLst>
              </p:cNvPr>
              <p:cNvSpPr txBox="1"/>
              <p:nvPr/>
            </p:nvSpPr>
            <p:spPr>
              <a:xfrm>
                <a:off x="3022325" y="2876181"/>
                <a:ext cx="3387725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+ String </a:t>
                </a:r>
                <a:r>
                  <a:rPr lang="fr-FR" sz="1400" dirty="0" err="1"/>
                  <a:t>numeroDeCompte</a:t>
                </a:r>
                <a:endParaRPr lang="fr-FR" sz="1400" dirty="0"/>
              </a:p>
              <a:p>
                <a:r>
                  <a:rPr lang="fr-FR" sz="1400" dirty="0"/>
                  <a:t>+ Mouvement[] mouvement</a:t>
                </a:r>
              </a:p>
              <a:p>
                <a:r>
                  <a:rPr lang="fr-FR" sz="1400" dirty="0"/>
                  <a:t>+ </a:t>
                </a:r>
                <a:r>
                  <a:rPr lang="fr-FR" sz="1400" dirty="0" err="1"/>
                  <a:t>ajouterMouvement</a:t>
                </a:r>
                <a:r>
                  <a:rPr lang="fr-FR" sz="1400" dirty="0"/>
                  <a:t>(mouvement)</a:t>
                </a:r>
              </a:p>
            </p:txBody>
          </p:sp>
        </p:grp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6D8026BF-5692-8F61-378A-7D5CFCC84202}"/>
                </a:ext>
              </a:extLst>
            </p:cNvPr>
            <p:cNvGrpSpPr/>
            <p:nvPr/>
          </p:nvGrpSpPr>
          <p:grpSpPr>
            <a:xfrm>
              <a:off x="9227731" y="1694196"/>
              <a:ext cx="2203987" cy="1319867"/>
              <a:chOff x="3022325" y="2510421"/>
              <a:chExt cx="3387725" cy="1319867"/>
            </a:xfrm>
          </p:grpSpPr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D31F6B92-A0B0-5451-627B-0A1F7A2FF7B0}"/>
                  </a:ext>
                </a:extLst>
              </p:cNvPr>
              <p:cNvSpPr txBox="1"/>
              <p:nvPr/>
            </p:nvSpPr>
            <p:spPr>
              <a:xfrm>
                <a:off x="3022325" y="2510421"/>
                <a:ext cx="338772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/>
                  <a:t>Mouvement</a:t>
                </a:r>
              </a:p>
            </p:txBody>
          </p: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8363A66E-BDA5-C339-1CBE-0B8E2F2371C2}"/>
                  </a:ext>
                </a:extLst>
              </p:cNvPr>
              <p:cNvSpPr txBox="1"/>
              <p:nvPr/>
            </p:nvSpPr>
            <p:spPr>
              <a:xfrm>
                <a:off x="3022325" y="2876181"/>
                <a:ext cx="3387725" cy="95410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+ </a:t>
                </a:r>
                <a:r>
                  <a:rPr lang="fr-FR" sz="1400" dirty="0" err="1"/>
                  <a:t>int</a:t>
                </a:r>
                <a:r>
                  <a:rPr lang="fr-FR" sz="1400" dirty="0"/>
                  <a:t> </a:t>
                </a:r>
                <a:r>
                  <a:rPr lang="fr-FR" sz="1400" dirty="0" err="1"/>
                  <a:t>numero</a:t>
                </a:r>
                <a:endParaRPr lang="fr-FR" sz="1400" dirty="0"/>
              </a:p>
              <a:p>
                <a:r>
                  <a:rPr lang="fr-FR" sz="1400" dirty="0"/>
                  <a:t>+ </a:t>
                </a:r>
                <a:r>
                  <a:rPr lang="fr-FR" sz="1400" dirty="0" err="1"/>
                  <a:t>LocalDate</a:t>
                </a:r>
                <a:r>
                  <a:rPr lang="fr-FR" sz="1400" dirty="0"/>
                  <a:t> date</a:t>
                </a:r>
              </a:p>
              <a:p>
                <a:r>
                  <a:rPr lang="fr-FR" sz="1400" dirty="0"/>
                  <a:t>+ double montant</a:t>
                </a:r>
              </a:p>
              <a:p>
                <a:r>
                  <a:rPr lang="fr-FR" sz="1400" dirty="0"/>
                  <a:t>+ String communication</a:t>
                </a:r>
              </a:p>
            </p:txBody>
          </p:sp>
        </p:grp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F6D565F2-4B09-51ED-D949-EEDB9BF833C3}"/>
                </a:ext>
              </a:extLst>
            </p:cNvPr>
            <p:cNvGrpSpPr/>
            <p:nvPr/>
          </p:nvGrpSpPr>
          <p:grpSpPr>
            <a:xfrm>
              <a:off x="1256003" y="1694196"/>
              <a:ext cx="4006569" cy="1104424"/>
              <a:chOff x="3022325" y="2510421"/>
              <a:chExt cx="3387725" cy="1104424"/>
            </a:xfrm>
          </p:grpSpPr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A695175F-68D0-BC47-A8C7-37D02F38628E}"/>
                  </a:ext>
                </a:extLst>
              </p:cNvPr>
              <p:cNvSpPr txBox="1"/>
              <p:nvPr/>
            </p:nvSpPr>
            <p:spPr>
              <a:xfrm>
                <a:off x="3022325" y="2510421"/>
                <a:ext cx="338772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 err="1"/>
                  <a:t>DonneeBanque</a:t>
                </a:r>
                <a:endParaRPr lang="fr-FR" dirty="0"/>
              </a:p>
            </p:txBody>
          </p:sp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A9612475-772D-6CC8-2E5E-FCB205CB7E38}"/>
                  </a:ext>
                </a:extLst>
              </p:cNvPr>
              <p:cNvSpPr txBox="1"/>
              <p:nvPr/>
            </p:nvSpPr>
            <p:spPr>
              <a:xfrm>
                <a:off x="3022325" y="2876181"/>
                <a:ext cx="3387725" cy="7386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/>
                  <a:t>+ </a:t>
                </a:r>
                <a:r>
                  <a:rPr lang="fr-FR" sz="1400" dirty="0" err="1"/>
                  <a:t>InfoCompte</a:t>
                </a:r>
                <a:r>
                  <a:rPr lang="fr-FR" sz="1400" dirty="0"/>
                  <a:t>[] </a:t>
                </a:r>
                <a:r>
                  <a:rPr lang="fr-FR" sz="1400" dirty="0" err="1"/>
                  <a:t>infoComptes</a:t>
                </a:r>
                <a:endParaRPr lang="fr-FR" sz="1400" dirty="0"/>
              </a:p>
              <a:p>
                <a:r>
                  <a:rPr lang="fr-FR" sz="1400" dirty="0"/>
                  <a:t>+ </a:t>
                </a:r>
                <a:r>
                  <a:rPr lang="fr-FR" sz="1400" dirty="0" err="1"/>
                  <a:t>void</a:t>
                </a:r>
                <a:r>
                  <a:rPr lang="fr-FR" sz="1400" dirty="0"/>
                  <a:t> </a:t>
                </a:r>
                <a:r>
                  <a:rPr lang="fr-FR" sz="1400" dirty="0" err="1"/>
                  <a:t>creeInfoComptes</a:t>
                </a:r>
                <a:r>
                  <a:rPr lang="fr-FR" sz="1400" dirty="0"/>
                  <a:t>(</a:t>
                </a:r>
                <a:r>
                  <a:rPr lang="fr-FR" sz="1400" dirty="0" err="1"/>
                  <a:t>int</a:t>
                </a:r>
                <a:r>
                  <a:rPr lang="fr-FR" sz="1400" dirty="0"/>
                  <a:t> </a:t>
                </a:r>
                <a:r>
                  <a:rPr lang="fr-FR" sz="1400" dirty="0" err="1"/>
                  <a:t>nbComptes</a:t>
                </a:r>
                <a:r>
                  <a:rPr lang="fr-FR" sz="1400" dirty="0"/>
                  <a:t>)</a:t>
                </a:r>
              </a:p>
              <a:p>
                <a:r>
                  <a:rPr lang="fr-FR" sz="1400" dirty="0"/>
                  <a:t>+ </a:t>
                </a:r>
                <a:r>
                  <a:rPr lang="fr-FR" sz="1400" dirty="0" err="1"/>
                  <a:t>void</a:t>
                </a:r>
                <a:r>
                  <a:rPr lang="fr-FR" sz="1400" dirty="0"/>
                  <a:t> </a:t>
                </a:r>
                <a:r>
                  <a:rPr lang="fr-FR" sz="1400" dirty="0" err="1"/>
                  <a:t>ajouteInfoCompte</a:t>
                </a:r>
                <a:r>
                  <a:rPr lang="fr-FR" sz="1400" dirty="0"/>
                  <a:t>(</a:t>
                </a:r>
                <a:r>
                  <a:rPr lang="fr-FR" sz="1400" dirty="0" err="1"/>
                  <a:t>int</a:t>
                </a:r>
                <a:r>
                  <a:rPr lang="fr-FR" sz="1400" dirty="0"/>
                  <a:t> n°, </a:t>
                </a:r>
                <a:r>
                  <a:rPr lang="fr-FR" sz="1400" dirty="0" err="1"/>
                  <a:t>Infocompte</a:t>
                </a:r>
                <a:r>
                  <a:rPr lang="fr-FR" sz="1400" dirty="0"/>
                  <a:t> info)</a:t>
                </a:r>
              </a:p>
            </p:txBody>
          </p:sp>
        </p:grp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7746AEA7-8234-0910-8897-34BD09B7F30A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 flipV="1">
              <a:off x="3520365" y="1878862"/>
              <a:ext cx="2264915" cy="36576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48B531A5-5EFE-87B3-0FB3-7F282F0202BA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 flipV="1">
              <a:off x="8027819" y="1878862"/>
              <a:ext cx="1199912" cy="550426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5B7ABE-89AF-2E90-26C2-495137155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54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351338"/>
          </a:xfrm>
        </p:spPr>
        <p:txBody>
          <a:bodyPr>
            <a:noAutofit/>
          </a:bodyPr>
          <a:lstStyle/>
          <a:p>
            <a:r>
              <a:rPr lang="fr-FR" sz="2000" noProof="0" dirty="0"/>
              <a:t>Le programme utilise pour le moment la classe </a:t>
            </a:r>
            <a:r>
              <a:rPr lang="fr-FR" sz="1800" noProof="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VisualiseurFricEnVrac</a:t>
            </a:r>
            <a:r>
              <a:rPr lang="fr-FR" sz="2000" noProof="0" dirty="0"/>
              <a:t>. </a:t>
            </a:r>
            <a:r>
              <a:rPr lang="fr-FR" sz="2000" dirty="0"/>
              <a:t>Vous disposez aussi du data provider de la banque </a:t>
            </a:r>
            <a:r>
              <a:rPr lang="fr-FR" sz="2000" dirty="0" err="1"/>
              <a:t>BanquierPépère</a:t>
            </a:r>
            <a:r>
              <a:rPr lang="fr-FR" sz="2000" dirty="0"/>
              <a:t>, </a:t>
            </a:r>
            <a:r>
              <a:rPr lang="fr-FR" sz="1800" noProof="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BanquierPepereDataProvider</a:t>
            </a:r>
            <a:r>
              <a:rPr lang="fr-FR" sz="2000" noProof="0" dirty="0"/>
              <a:t>.</a:t>
            </a:r>
          </a:p>
          <a:p>
            <a:r>
              <a:rPr lang="fr-FR" sz="2000" dirty="0"/>
              <a:t>Ecrivez la classe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VisualiseurBanquierPepere</a:t>
            </a:r>
            <a:r>
              <a:rPr lang="fr-FR" sz="2000" dirty="0"/>
              <a:t> et utilisez la dans le programme pour récupérer les données de cette deuxième banque.</a:t>
            </a:r>
            <a:endParaRPr lang="fr-FR" sz="1200" dirty="0"/>
          </a:p>
        </p:txBody>
      </p:sp>
      <p:pic>
        <p:nvPicPr>
          <p:cNvPr id="1026" name="Picture 2" descr="blog-nutrition-outlet">
            <a:extLst>
              <a:ext uri="{FF2B5EF4-FFF2-40B4-BE49-F238E27FC236}">
                <a16:creationId xmlns:a16="http://schemas.microsoft.com/office/drawing/2014/main" id="{9F7669FB-8553-A044-8BC2-6E9BE5DE2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1DBE7E52-7BD7-DFE4-63F8-7D978FBF7DBD}"/>
              </a:ext>
            </a:extLst>
          </p:cNvPr>
          <p:cNvSpPr txBox="1"/>
          <p:nvPr/>
        </p:nvSpPr>
        <p:spPr>
          <a:xfrm>
            <a:off x="7897763" y="3429000"/>
            <a:ext cx="2039217" cy="30777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bg1"/>
                </a:solidFill>
              </a:rPr>
              <a:t>InfoCompte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787368D-E83F-C47E-A40E-00054926708B}"/>
              </a:ext>
            </a:extLst>
          </p:cNvPr>
          <p:cNvSpPr txBox="1"/>
          <p:nvPr/>
        </p:nvSpPr>
        <p:spPr>
          <a:xfrm>
            <a:off x="7897763" y="3732789"/>
            <a:ext cx="2039217" cy="553998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+ String </a:t>
            </a:r>
            <a:r>
              <a:rPr lang="fr-FR" sz="1000" dirty="0" err="1">
                <a:solidFill>
                  <a:schemeClr val="bg1"/>
                </a:solidFill>
              </a:rPr>
              <a:t>numeroDeCompte</a:t>
            </a:r>
            <a:endParaRPr lang="fr-FR" sz="1000" dirty="0">
              <a:solidFill>
                <a:schemeClr val="bg1"/>
              </a:solidFill>
            </a:endParaRPr>
          </a:p>
          <a:p>
            <a:r>
              <a:rPr lang="fr-FR" sz="1000" dirty="0">
                <a:solidFill>
                  <a:schemeClr val="bg1"/>
                </a:solidFill>
              </a:rPr>
              <a:t>+ Mouvement[] mouvement</a:t>
            </a:r>
          </a:p>
          <a:p>
            <a:r>
              <a:rPr lang="fr-FR" sz="1000" dirty="0">
                <a:solidFill>
                  <a:schemeClr val="bg1"/>
                </a:solidFill>
              </a:rPr>
              <a:t>+ </a:t>
            </a:r>
            <a:r>
              <a:rPr lang="fr-FR" sz="1000" dirty="0" err="1">
                <a:solidFill>
                  <a:schemeClr val="bg1"/>
                </a:solidFill>
              </a:rPr>
              <a:t>ajouterMouvement</a:t>
            </a:r>
            <a:r>
              <a:rPr lang="fr-FR" sz="1000" dirty="0">
                <a:solidFill>
                  <a:schemeClr val="bg1"/>
                </a:solidFill>
              </a:rPr>
              <a:t>(mouvement)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D6B1DD4-9B44-8D67-3C7D-82485B61290F}"/>
              </a:ext>
            </a:extLst>
          </p:cNvPr>
          <p:cNvSpPr txBox="1"/>
          <p:nvPr/>
        </p:nvSpPr>
        <p:spPr>
          <a:xfrm>
            <a:off x="10063124" y="3429000"/>
            <a:ext cx="1539317" cy="30777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Mouvement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C782A5-0ED6-25B7-6757-94812799270D}"/>
              </a:ext>
            </a:extLst>
          </p:cNvPr>
          <p:cNvSpPr txBox="1"/>
          <p:nvPr/>
        </p:nvSpPr>
        <p:spPr>
          <a:xfrm>
            <a:off x="10063124" y="3732789"/>
            <a:ext cx="1539317" cy="70788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+ </a:t>
            </a:r>
            <a:r>
              <a:rPr lang="fr-FR" sz="1000" dirty="0" err="1">
                <a:solidFill>
                  <a:schemeClr val="bg1"/>
                </a:solidFill>
              </a:rPr>
              <a:t>int</a:t>
            </a:r>
            <a:r>
              <a:rPr lang="fr-FR" sz="1000" dirty="0">
                <a:solidFill>
                  <a:schemeClr val="bg1"/>
                </a:solidFill>
              </a:rPr>
              <a:t> </a:t>
            </a:r>
            <a:r>
              <a:rPr lang="fr-FR" sz="1000" dirty="0" err="1">
                <a:solidFill>
                  <a:schemeClr val="bg1"/>
                </a:solidFill>
              </a:rPr>
              <a:t>numero</a:t>
            </a:r>
            <a:endParaRPr lang="fr-FR" sz="1000" dirty="0">
              <a:solidFill>
                <a:schemeClr val="bg1"/>
              </a:solidFill>
            </a:endParaRPr>
          </a:p>
          <a:p>
            <a:r>
              <a:rPr lang="fr-FR" sz="1000" dirty="0">
                <a:solidFill>
                  <a:schemeClr val="bg1"/>
                </a:solidFill>
              </a:rPr>
              <a:t>+ String </a:t>
            </a:r>
            <a:r>
              <a:rPr lang="fr-FR" sz="1000" dirty="0" err="1">
                <a:solidFill>
                  <a:schemeClr val="bg1"/>
                </a:solidFill>
              </a:rPr>
              <a:t>deCompte</a:t>
            </a:r>
            <a:endParaRPr lang="fr-FR" sz="1000" dirty="0">
              <a:solidFill>
                <a:schemeClr val="bg1"/>
              </a:solidFill>
            </a:endParaRPr>
          </a:p>
          <a:p>
            <a:r>
              <a:rPr lang="fr-FR" sz="1000" dirty="0">
                <a:solidFill>
                  <a:schemeClr val="bg1"/>
                </a:solidFill>
              </a:rPr>
              <a:t>+ double montant</a:t>
            </a:r>
          </a:p>
          <a:p>
            <a:r>
              <a:rPr lang="fr-FR" sz="1000" dirty="0">
                <a:solidFill>
                  <a:schemeClr val="bg1"/>
                </a:solidFill>
              </a:rPr>
              <a:t>+ String communication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270676B-33E7-CFAF-BDD6-9CBF3413ACF6}"/>
              </a:ext>
            </a:extLst>
          </p:cNvPr>
          <p:cNvSpPr txBox="1"/>
          <p:nvPr/>
        </p:nvSpPr>
        <p:spPr>
          <a:xfrm>
            <a:off x="4973336" y="3429000"/>
            <a:ext cx="2798282" cy="30777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bg1"/>
                </a:solidFill>
              </a:rPr>
              <a:t>DonneeBanque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E4F1785-36A5-7867-FF11-67B7FF973E48}"/>
              </a:ext>
            </a:extLst>
          </p:cNvPr>
          <p:cNvSpPr txBox="1"/>
          <p:nvPr/>
        </p:nvSpPr>
        <p:spPr>
          <a:xfrm>
            <a:off x="4973336" y="3732789"/>
            <a:ext cx="2798282" cy="553998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+ </a:t>
            </a:r>
            <a:r>
              <a:rPr lang="fr-FR" sz="1000" dirty="0" err="1">
                <a:solidFill>
                  <a:schemeClr val="bg1"/>
                </a:solidFill>
              </a:rPr>
              <a:t>InfoCompte</a:t>
            </a:r>
            <a:r>
              <a:rPr lang="fr-FR" sz="1000" dirty="0">
                <a:solidFill>
                  <a:schemeClr val="bg1"/>
                </a:solidFill>
              </a:rPr>
              <a:t>[] </a:t>
            </a:r>
            <a:r>
              <a:rPr lang="fr-FR" sz="1000" dirty="0" err="1">
                <a:solidFill>
                  <a:schemeClr val="bg1"/>
                </a:solidFill>
              </a:rPr>
              <a:t>infoComptes</a:t>
            </a:r>
            <a:endParaRPr lang="fr-FR" sz="1000" dirty="0">
              <a:solidFill>
                <a:schemeClr val="bg1"/>
              </a:solidFill>
            </a:endParaRPr>
          </a:p>
          <a:p>
            <a:r>
              <a:rPr lang="fr-FR" sz="1000" dirty="0">
                <a:solidFill>
                  <a:schemeClr val="bg1"/>
                </a:solidFill>
              </a:rPr>
              <a:t>+ </a:t>
            </a:r>
            <a:r>
              <a:rPr lang="fr-FR" sz="1000" dirty="0" err="1">
                <a:solidFill>
                  <a:schemeClr val="bg1"/>
                </a:solidFill>
              </a:rPr>
              <a:t>creeInfoComptes</a:t>
            </a:r>
            <a:r>
              <a:rPr lang="fr-FR" sz="1000" dirty="0">
                <a:solidFill>
                  <a:schemeClr val="bg1"/>
                </a:solidFill>
              </a:rPr>
              <a:t>(</a:t>
            </a:r>
            <a:r>
              <a:rPr lang="fr-FR" sz="1000" dirty="0" err="1">
                <a:solidFill>
                  <a:schemeClr val="bg1"/>
                </a:solidFill>
              </a:rPr>
              <a:t>int</a:t>
            </a:r>
            <a:r>
              <a:rPr lang="fr-FR" sz="1000" dirty="0">
                <a:solidFill>
                  <a:schemeClr val="bg1"/>
                </a:solidFill>
              </a:rPr>
              <a:t> </a:t>
            </a:r>
            <a:r>
              <a:rPr lang="fr-FR" sz="1000" dirty="0" err="1">
                <a:solidFill>
                  <a:schemeClr val="bg1"/>
                </a:solidFill>
              </a:rPr>
              <a:t>nbComptes</a:t>
            </a:r>
            <a:r>
              <a:rPr lang="fr-FR" sz="1000" dirty="0">
                <a:solidFill>
                  <a:schemeClr val="bg1"/>
                </a:solidFill>
              </a:rPr>
              <a:t>)</a:t>
            </a:r>
          </a:p>
          <a:p>
            <a:r>
              <a:rPr lang="fr-FR" sz="1000" dirty="0">
                <a:solidFill>
                  <a:schemeClr val="bg1"/>
                </a:solidFill>
              </a:rPr>
              <a:t>+ </a:t>
            </a:r>
            <a:r>
              <a:rPr lang="fr-FR" sz="1000" dirty="0" err="1">
                <a:solidFill>
                  <a:schemeClr val="bg1"/>
                </a:solidFill>
              </a:rPr>
              <a:t>ajouteInfoCompte</a:t>
            </a:r>
            <a:r>
              <a:rPr lang="fr-FR" sz="1000" dirty="0">
                <a:solidFill>
                  <a:schemeClr val="bg1"/>
                </a:solidFill>
              </a:rPr>
              <a:t>(</a:t>
            </a:r>
            <a:r>
              <a:rPr lang="fr-FR" sz="1000" dirty="0" err="1">
                <a:solidFill>
                  <a:schemeClr val="bg1"/>
                </a:solidFill>
              </a:rPr>
              <a:t>int</a:t>
            </a:r>
            <a:r>
              <a:rPr lang="fr-FR" sz="1000" dirty="0">
                <a:solidFill>
                  <a:schemeClr val="bg1"/>
                </a:solidFill>
              </a:rPr>
              <a:t> n°, </a:t>
            </a:r>
            <a:r>
              <a:rPr lang="fr-FR" sz="1000" dirty="0" err="1">
                <a:solidFill>
                  <a:schemeClr val="bg1"/>
                </a:solidFill>
              </a:rPr>
              <a:t>Infocompte</a:t>
            </a:r>
            <a:r>
              <a:rPr lang="fr-FR" sz="1000" dirty="0">
                <a:solidFill>
                  <a:schemeClr val="bg1"/>
                </a:solidFill>
              </a:rPr>
              <a:t> info)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CCEBD9A-C45E-5AC9-1670-83DECC4D47B8}"/>
              </a:ext>
            </a:extLst>
          </p:cNvPr>
          <p:cNvSpPr txBox="1"/>
          <p:nvPr/>
        </p:nvSpPr>
        <p:spPr>
          <a:xfrm>
            <a:off x="1971148" y="3793719"/>
            <a:ext cx="2798282" cy="30777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 err="1">
                <a:solidFill>
                  <a:schemeClr val="bg1"/>
                </a:solidFill>
              </a:rPr>
              <a:t>VisualiseurDeDonneesBancaires</a:t>
            </a:r>
            <a:endParaRPr lang="fr-FR" sz="1400" i="1" dirty="0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10B5473-A597-E846-E136-538B8FA0148D}"/>
              </a:ext>
            </a:extLst>
          </p:cNvPr>
          <p:cNvSpPr txBox="1"/>
          <p:nvPr/>
        </p:nvSpPr>
        <p:spPr>
          <a:xfrm>
            <a:off x="1971148" y="4097508"/>
            <a:ext cx="279828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i="1" dirty="0">
                <a:solidFill>
                  <a:schemeClr val="bg1"/>
                </a:solidFill>
              </a:rPr>
              <a:t>+ </a:t>
            </a:r>
            <a:r>
              <a:rPr lang="fr-FR" sz="1000" i="1" dirty="0" err="1">
                <a:solidFill>
                  <a:schemeClr val="bg1"/>
                </a:solidFill>
              </a:rPr>
              <a:t>DonneeBanque</a:t>
            </a:r>
            <a:r>
              <a:rPr lang="fr-FR" sz="1000" i="1" dirty="0">
                <a:solidFill>
                  <a:schemeClr val="bg1"/>
                </a:solidFill>
              </a:rPr>
              <a:t> </a:t>
            </a:r>
            <a:r>
              <a:rPr lang="fr-FR" sz="1000" i="1" dirty="0" err="1">
                <a:solidFill>
                  <a:schemeClr val="bg1"/>
                </a:solidFill>
              </a:rPr>
              <a:t>recupDonneeBanque</a:t>
            </a:r>
            <a:r>
              <a:rPr lang="fr-FR" sz="1000" i="1" dirty="0">
                <a:solidFill>
                  <a:schemeClr val="bg1"/>
                </a:solidFill>
              </a:rPr>
              <a:t>();</a:t>
            </a:r>
          </a:p>
          <a:p>
            <a:r>
              <a:rPr lang="fr-FR" sz="1000" dirty="0">
                <a:solidFill>
                  <a:schemeClr val="bg1"/>
                </a:solidFill>
              </a:rPr>
              <a:t>+ </a:t>
            </a:r>
            <a:r>
              <a:rPr lang="fr-FR" sz="1000" dirty="0" err="1">
                <a:solidFill>
                  <a:schemeClr val="bg1"/>
                </a:solidFill>
              </a:rPr>
              <a:t>RapportBanque</a:t>
            </a:r>
            <a:r>
              <a:rPr lang="fr-FR" sz="1000" dirty="0">
                <a:solidFill>
                  <a:schemeClr val="bg1"/>
                </a:solidFill>
              </a:rPr>
              <a:t> </a:t>
            </a:r>
            <a:r>
              <a:rPr lang="fr-FR" sz="1000" dirty="0" err="1">
                <a:solidFill>
                  <a:schemeClr val="bg1"/>
                </a:solidFill>
              </a:rPr>
              <a:t>formatData</a:t>
            </a:r>
            <a:r>
              <a:rPr lang="fr-FR" sz="1000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C9D3F31-E980-C477-5116-CBA0600E0969}"/>
              </a:ext>
            </a:extLst>
          </p:cNvPr>
          <p:cNvSpPr txBox="1"/>
          <p:nvPr/>
        </p:nvSpPr>
        <p:spPr>
          <a:xfrm>
            <a:off x="270343" y="4899451"/>
            <a:ext cx="2798282" cy="30777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bg1"/>
                </a:solidFill>
              </a:rPr>
              <a:t>VisualiseurFricEnVrac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6DD030F-B864-094F-62AE-142012528C45}"/>
              </a:ext>
            </a:extLst>
          </p:cNvPr>
          <p:cNvSpPr txBox="1"/>
          <p:nvPr/>
        </p:nvSpPr>
        <p:spPr>
          <a:xfrm>
            <a:off x="270343" y="5203240"/>
            <a:ext cx="2798282" cy="24622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+ </a:t>
            </a:r>
            <a:r>
              <a:rPr lang="fr-FR" sz="1000" dirty="0" err="1">
                <a:solidFill>
                  <a:schemeClr val="bg1"/>
                </a:solidFill>
              </a:rPr>
              <a:t>DonnéeBanque</a:t>
            </a:r>
            <a:r>
              <a:rPr lang="fr-FR" sz="1000" dirty="0">
                <a:solidFill>
                  <a:schemeClr val="bg1"/>
                </a:solidFill>
              </a:rPr>
              <a:t> </a:t>
            </a:r>
            <a:r>
              <a:rPr lang="fr-FR" sz="1000" dirty="0" err="1">
                <a:solidFill>
                  <a:schemeClr val="bg1"/>
                </a:solidFill>
              </a:rPr>
              <a:t>recupDonneeBanque</a:t>
            </a:r>
            <a:r>
              <a:rPr lang="fr-FR" sz="1000" dirty="0">
                <a:solidFill>
                  <a:schemeClr val="bg1"/>
                </a:solidFill>
              </a:rPr>
              <a:t>()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CBD7323-9487-105F-B147-35896355E0B9}"/>
              </a:ext>
            </a:extLst>
          </p:cNvPr>
          <p:cNvCxnSpPr>
            <a:cxnSpLocks/>
            <a:stCxn id="16" idx="0"/>
            <a:endCxn id="19" idx="2"/>
          </p:cNvCxnSpPr>
          <p:nvPr/>
        </p:nvCxnSpPr>
        <p:spPr>
          <a:xfrm flipV="1">
            <a:off x="1669484" y="4497618"/>
            <a:ext cx="1700805" cy="40183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11DAD0BE-FAF0-C700-1017-724AE2DCEC6B}"/>
              </a:ext>
            </a:extLst>
          </p:cNvPr>
          <p:cNvSpPr txBox="1"/>
          <p:nvPr/>
        </p:nvSpPr>
        <p:spPr>
          <a:xfrm>
            <a:off x="537530" y="5507380"/>
            <a:ext cx="2263909" cy="30777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bg1"/>
                </a:solidFill>
              </a:rPr>
              <a:t>FricEnVracDataProvider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E7142DF-B059-643E-BB16-EAEB5B109590}"/>
              </a:ext>
            </a:extLst>
          </p:cNvPr>
          <p:cNvSpPr txBox="1"/>
          <p:nvPr/>
        </p:nvSpPr>
        <p:spPr>
          <a:xfrm>
            <a:off x="537530" y="5811169"/>
            <a:ext cx="2263909" cy="24622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+ String[][] </a:t>
            </a:r>
            <a:r>
              <a:rPr lang="fr-FR" sz="1000" dirty="0" err="1">
                <a:solidFill>
                  <a:schemeClr val="bg1"/>
                </a:solidFill>
              </a:rPr>
              <a:t>provideBankData</a:t>
            </a:r>
            <a:r>
              <a:rPr lang="fr-FR" sz="1000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2F2A55A-8103-5DDF-A2BF-0FB2F305875C}"/>
              </a:ext>
            </a:extLst>
          </p:cNvPr>
          <p:cNvSpPr txBox="1"/>
          <p:nvPr/>
        </p:nvSpPr>
        <p:spPr>
          <a:xfrm>
            <a:off x="3370289" y="4899451"/>
            <a:ext cx="2798282" cy="307777"/>
          </a:xfrm>
          <a:prstGeom prst="rect">
            <a:avLst/>
          </a:prstGeom>
          <a:solidFill>
            <a:schemeClr val="accent4"/>
          </a:solidFill>
          <a:ln>
            <a:solidFill>
              <a:srgbClr val="296BA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1400" dirty="0" err="1">
                <a:solidFill>
                  <a:srgbClr val="296BA6"/>
                </a:solidFill>
              </a:rPr>
              <a:t>VisualiseurBanquierPepere</a:t>
            </a:r>
            <a:endParaRPr lang="fr-FR" sz="1400" dirty="0">
              <a:solidFill>
                <a:srgbClr val="296BA6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2FB245A-FA81-F362-6FDD-32FB5F158195}"/>
              </a:ext>
            </a:extLst>
          </p:cNvPr>
          <p:cNvSpPr txBox="1"/>
          <p:nvPr/>
        </p:nvSpPr>
        <p:spPr>
          <a:xfrm>
            <a:off x="3370289" y="5203240"/>
            <a:ext cx="2798282" cy="246221"/>
          </a:xfrm>
          <a:prstGeom prst="rect">
            <a:avLst/>
          </a:prstGeom>
          <a:solidFill>
            <a:schemeClr val="accent4"/>
          </a:solidFill>
          <a:ln>
            <a:solidFill>
              <a:srgbClr val="296BA6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296BA6"/>
                </a:solidFill>
              </a:rPr>
              <a:t>+ </a:t>
            </a:r>
            <a:r>
              <a:rPr lang="fr-FR" sz="1000" dirty="0" err="1">
                <a:solidFill>
                  <a:srgbClr val="296BA6"/>
                </a:solidFill>
              </a:rPr>
              <a:t>DonnéeBanque</a:t>
            </a:r>
            <a:r>
              <a:rPr lang="fr-FR" sz="1000" dirty="0">
                <a:solidFill>
                  <a:srgbClr val="296BA6"/>
                </a:solidFill>
              </a:rPr>
              <a:t> </a:t>
            </a:r>
            <a:r>
              <a:rPr lang="fr-FR" sz="1000" dirty="0" err="1">
                <a:solidFill>
                  <a:srgbClr val="296BA6"/>
                </a:solidFill>
              </a:rPr>
              <a:t>recupDonneeBanque</a:t>
            </a:r>
            <a:r>
              <a:rPr lang="fr-FR" sz="1000" dirty="0">
                <a:solidFill>
                  <a:srgbClr val="296BA6"/>
                </a:solidFill>
              </a:rPr>
              <a:t>()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955245F5-B61E-9E6E-2A9A-0C768A6195A8}"/>
              </a:ext>
            </a:extLst>
          </p:cNvPr>
          <p:cNvGrpSpPr/>
          <p:nvPr/>
        </p:nvGrpSpPr>
        <p:grpSpPr>
          <a:xfrm>
            <a:off x="3537419" y="5562401"/>
            <a:ext cx="2580444" cy="502304"/>
            <a:chOff x="3637476" y="5507380"/>
            <a:chExt cx="2263909" cy="502304"/>
          </a:xfrm>
          <a:solidFill>
            <a:schemeClr val="tx1"/>
          </a:solidFill>
        </p:grpSpPr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754AE061-2AE0-BE3C-8D04-473272C5E9DF}"/>
                </a:ext>
              </a:extLst>
            </p:cNvPr>
            <p:cNvSpPr txBox="1"/>
            <p:nvPr/>
          </p:nvSpPr>
          <p:spPr>
            <a:xfrm>
              <a:off x="3637476" y="5507380"/>
              <a:ext cx="2263909" cy="26161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dirty="0" err="1">
                  <a:solidFill>
                    <a:schemeClr val="bg1"/>
                  </a:solidFill>
                </a:rPr>
                <a:t>BanquierPepereDataProvider</a:t>
              </a:r>
              <a:endParaRPr lang="fr-FR" sz="1100" dirty="0">
                <a:solidFill>
                  <a:schemeClr val="bg1"/>
                </a:solidFill>
              </a:endParaRPr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9981092C-706D-4720-B813-90F30105F63D}"/>
                </a:ext>
              </a:extLst>
            </p:cNvPr>
            <p:cNvSpPr txBox="1"/>
            <p:nvPr/>
          </p:nvSpPr>
          <p:spPr>
            <a:xfrm>
              <a:off x="3637476" y="5763463"/>
              <a:ext cx="2263909" cy="24622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000" dirty="0">
                  <a:solidFill>
                    <a:schemeClr val="bg1"/>
                  </a:solidFill>
                </a:rPr>
                <a:t>+ String[][] </a:t>
              </a:r>
              <a:r>
                <a:rPr lang="fr-FR" sz="1000" dirty="0" err="1">
                  <a:solidFill>
                    <a:schemeClr val="bg1"/>
                  </a:solidFill>
                </a:rPr>
                <a:t>provideBankData</a:t>
              </a:r>
              <a:r>
                <a:rPr lang="fr-FR" sz="1000" dirty="0">
                  <a:solidFill>
                    <a:schemeClr val="bg1"/>
                  </a:solidFill>
                </a:rPr>
                <a:t>()</a:t>
              </a:r>
            </a:p>
          </p:txBody>
        </p:sp>
      </p:grp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93654FE-54AB-6C3C-0C1C-1245F72B69C0}"/>
              </a:ext>
            </a:extLst>
          </p:cNvPr>
          <p:cNvCxnSpPr>
            <a:cxnSpLocks/>
            <a:stCxn id="28" idx="0"/>
            <a:endCxn id="19" idx="2"/>
          </p:cNvCxnSpPr>
          <p:nvPr/>
        </p:nvCxnSpPr>
        <p:spPr>
          <a:xfrm flipH="1" flipV="1">
            <a:off x="3370289" y="4497618"/>
            <a:ext cx="1399141" cy="40183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1C368C-BDAD-E6FF-3BBC-4CA75799A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208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534F-0310-27D3-BD2E-708AEB98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Appareils électroniques&#10;&#10;Description générée automatiquement">
            <a:extLst>
              <a:ext uri="{FF2B5EF4-FFF2-40B4-BE49-F238E27FC236}">
                <a16:creationId xmlns:a16="http://schemas.microsoft.com/office/drawing/2014/main" id="{5E3D1360-3CC7-6BF1-2950-EF6AC48EE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7BA4CE7-DE8C-E53A-D06C-78CD284981F8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558491">
              <a:alpha val="76078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/>
              <a:t>Les interfaces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BC0B69-5D42-E2AD-0A52-F087958D158E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558491">
              <a:alpha val="76078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Purement abstraites, elles définissent une façon d’utiliser les classes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5E1295-40C9-D18A-1C82-665E2FF6D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65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E107A84D-43B9-0394-FB10-E8FF39D8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interfaces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F36290B-EDDB-A092-C006-6D0BFAA94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>
                <a:solidFill>
                  <a:schemeClr val="accent4"/>
                </a:solidFill>
              </a:rPr>
              <a:t>Intro</a:t>
            </a:r>
          </a:p>
          <a:p>
            <a:pPr lvl="1"/>
            <a:r>
              <a:rPr lang="fr-FR" dirty="0"/>
              <a:t>Exercice 17 et 18</a:t>
            </a:r>
          </a:p>
          <a:p>
            <a:r>
              <a:rPr lang="fr-FR" dirty="0"/>
              <a:t>Interfaces multiples: Shape Mesurable, Translatable,…</a:t>
            </a:r>
          </a:p>
          <a:p>
            <a:pPr lvl="1"/>
            <a:r>
              <a:rPr lang="fr-FR" dirty="0"/>
              <a:t>Exercice 19</a:t>
            </a:r>
          </a:p>
          <a:p>
            <a:r>
              <a:rPr lang="fr-FR" dirty="0"/>
              <a:t>Interfaces particulières</a:t>
            </a:r>
          </a:p>
          <a:p>
            <a:pPr lvl="1"/>
            <a:r>
              <a:rPr lang="fr-FR" dirty="0"/>
              <a:t>Interfaces de marquage</a:t>
            </a:r>
          </a:p>
          <a:p>
            <a:pPr lvl="1"/>
            <a:r>
              <a:rPr lang="fr-FR" dirty="0"/>
              <a:t>Interfaces fonctionnelles</a:t>
            </a:r>
          </a:p>
          <a:p>
            <a:r>
              <a:rPr lang="fr-FR" dirty="0"/>
              <a:t>Utilité des interfaces: découplage</a:t>
            </a:r>
          </a:p>
          <a:p>
            <a:r>
              <a:rPr lang="fr-FR" dirty="0"/>
              <a:t>Cas concret:  Transport et </a:t>
            </a:r>
            <a:r>
              <a:rPr lang="fr-FR" dirty="0" err="1"/>
              <a:t>StationService</a:t>
            </a:r>
            <a:endParaRPr lang="fr-FR" dirty="0"/>
          </a:p>
          <a:p>
            <a:r>
              <a:rPr lang="fr-FR" dirty="0"/>
              <a:t>Deuxième cas concret: le Design Pattern Observer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6E0FD58-2B5B-426C-4A13-597A1D211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735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CBB9AE-8C95-33C4-5E8A-7545F3923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interfaces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F0341B-4AA8-3480-3241-84C0BF0BB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Jetez un coup d’œil à la </a:t>
            </a:r>
            <a:r>
              <a:rPr lang="fr-FR" sz="2400" dirty="0" err="1"/>
              <a:t>javadoc</a:t>
            </a:r>
            <a:r>
              <a:rPr lang="fr-FR" sz="2400" dirty="0"/>
              <a:t> de </a:t>
            </a:r>
            <a:r>
              <a:rPr lang="fr-FR" sz="2400" dirty="0">
                <a:solidFill>
                  <a:schemeClr val="accent4"/>
                </a:solidFill>
              </a:rPr>
              <a:t>Observer</a:t>
            </a:r>
            <a:r>
              <a:rPr lang="fr-FR" sz="2400" dirty="0"/>
              <a:t>: </a:t>
            </a:r>
            <a:r>
              <a:rPr lang="fr-FR" sz="2400" dirty="0">
                <a:hlinkClick r:id="rId2"/>
              </a:rPr>
              <a:t>https://docs.oracle.com/javase/8/docs/api/java/util/Observer.html</a:t>
            </a:r>
            <a:endParaRPr lang="fr-FR" sz="2400" dirty="0"/>
          </a:p>
          <a:p>
            <a:pPr marL="0" indent="0">
              <a:buNone/>
            </a:pPr>
            <a:r>
              <a:rPr lang="fr-FR" sz="2400" dirty="0"/>
              <a:t>Regardez aussi celle de </a:t>
            </a:r>
            <a:r>
              <a:rPr lang="fr-FR" sz="2400" dirty="0" err="1">
                <a:solidFill>
                  <a:schemeClr val="accent4"/>
                </a:solidFill>
              </a:rPr>
              <a:t>Runnable</a:t>
            </a:r>
            <a:r>
              <a:rPr lang="fr-FR" sz="2400" dirty="0"/>
              <a:t>: </a:t>
            </a:r>
            <a:r>
              <a:rPr lang="fr-FR" sz="2400" dirty="0">
                <a:hlinkClick r:id="rId3"/>
              </a:rPr>
              <a:t>https://docs.oracle.com/javase/8/docs/api/java/lang/Runnable.html</a:t>
            </a:r>
            <a:endParaRPr lang="fr-FR" sz="2400" dirty="0"/>
          </a:p>
          <a:p>
            <a:pPr marL="0" indent="0">
              <a:buNone/>
            </a:pPr>
            <a:r>
              <a:rPr lang="fr-FR" sz="2400" dirty="0"/>
              <a:t>Ou celle de </a:t>
            </a:r>
            <a:r>
              <a:rPr lang="fr-FR" sz="2400" dirty="0">
                <a:solidFill>
                  <a:schemeClr val="accent4"/>
                </a:solidFill>
              </a:rPr>
              <a:t>Comparable</a:t>
            </a:r>
            <a:r>
              <a:rPr lang="fr-FR" sz="2400" dirty="0"/>
              <a:t>: </a:t>
            </a:r>
            <a:r>
              <a:rPr lang="fr-FR" sz="2400" dirty="0">
                <a:hlinkClick r:id="rId4"/>
              </a:rPr>
              <a:t>https://docs.oracle.com/javase/8/docs/api/java/lang/Comparable.html</a:t>
            </a: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r>
              <a:rPr lang="fr-FR" sz="2400" dirty="0"/>
              <a:t>S’agit-il de classes ou d’interfaces?</a:t>
            </a:r>
          </a:p>
          <a:p>
            <a:r>
              <a:rPr lang="fr-FR" sz="2400" dirty="0"/>
              <a:t>Y a-t-il un lien exprimé (dans la description) entre les classes et les interfaces?</a:t>
            </a:r>
          </a:p>
          <a:p>
            <a:r>
              <a:rPr lang="fr-FR" sz="2400" dirty="0"/>
              <a:t>Comment traduiriez-vous les noms de ces interfaces en français?</a:t>
            </a:r>
          </a:p>
          <a:p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D45D78-B614-53EB-34A0-F26D455D7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47032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DC44E8-5A9E-5199-B0B6-0DA56D05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interfaces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B675AB-3B76-F935-F336-4B21E55A1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l-BE" sz="2400" dirty="0">
                <a:cs typeface="Consolas"/>
              </a:rPr>
              <a:t>Une </a:t>
            </a:r>
            <a:r>
              <a:rPr lang="nl-BE" sz="2400" dirty="0">
                <a:solidFill>
                  <a:schemeClr val="accent4"/>
                </a:solidFill>
                <a:cs typeface="Consolas"/>
              </a:rPr>
              <a:t>interface</a:t>
            </a:r>
            <a:r>
              <a:rPr lang="nl-BE" sz="2400" dirty="0">
                <a:cs typeface="Consolas"/>
              </a:rPr>
              <a:t> est l’équivalent d’une classe abstraite qui ne contiendrait que des méthodes abstraites (et publiques).</a:t>
            </a:r>
          </a:p>
          <a:p>
            <a:pPr marL="0" indent="0">
              <a:buNone/>
            </a:pPr>
            <a:endParaRPr lang="nl-BE" sz="2400" dirty="0">
              <a:cs typeface="Consolas"/>
            </a:endParaRPr>
          </a:p>
          <a:p>
            <a:pPr marL="0" indent="0">
              <a:buNone/>
            </a:pPr>
            <a:r>
              <a:rPr lang="nl-BE" sz="2400" dirty="0">
                <a:cs typeface="Consolas"/>
              </a:rPr>
              <a:t>Pour déclarer une interface, on utilise le mot clé 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interface</a:t>
            </a:r>
            <a:r>
              <a:rPr lang="nl-BE" sz="2400" dirty="0">
                <a:latin typeface="+mn-lt"/>
                <a:cs typeface="Consolas"/>
              </a:rPr>
              <a:t>.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+mn-lt"/>
                <a:cs typeface="Consolas"/>
              </a:rPr>
              <a:t>	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interface Mesurable { ... }</a:t>
            </a:r>
          </a:p>
          <a:p>
            <a:pPr marL="0" indent="0">
              <a:buNone/>
            </a:pPr>
            <a:endParaRPr lang="nl-BE" sz="2400" dirty="0">
              <a:cs typeface="Consolas"/>
            </a:endParaRPr>
          </a:p>
          <a:p>
            <a:pPr marL="0" indent="0">
              <a:buNone/>
            </a:pPr>
            <a:r>
              <a:rPr lang="nl-BE" sz="2400" dirty="0">
                <a:cs typeface="Consolas"/>
              </a:rPr>
              <a:t>Comme pour les classes abstraites, on pourra déclarer des objets de type </a:t>
            </a:r>
            <a:r>
              <a:rPr lang="nl-BE" sz="2100" dirty="0">
                <a:solidFill>
                  <a:schemeClr val="accent4"/>
                </a:solidFill>
                <a:latin typeface="Consolas"/>
                <a:cs typeface="Consolas"/>
              </a:rPr>
              <a:t>Mesurable</a:t>
            </a:r>
            <a:r>
              <a:rPr lang="nl-BE" sz="2400" dirty="0">
                <a:cs typeface="Consolas"/>
              </a:rPr>
              <a:t>, mais pas en instancier:</a:t>
            </a:r>
          </a:p>
          <a:p>
            <a:pPr marL="0" indent="0">
              <a:buNone/>
            </a:pPr>
            <a:r>
              <a:rPr lang="nl-BE" sz="2400" dirty="0">
                <a:solidFill>
                  <a:schemeClr val="accent4"/>
                </a:solidFill>
                <a:latin typeface="Consolas"/>
                <a:cs typeface="Consolas"/>
              </a:rPr>
              <a:t>	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Mesurable mesurable;         </a:t>
            </a:r>
            <a:r>
              <a:rPr lang="nl-BE" sz="2000" dirty="0">
                <a:solidFill>
                  <a:schemeClr val="accent6"/>
                </a:solidFill>
                <a:latin typeface="Consolas"/>
                <a:cs typeface="Consolas"/>
              </a:rPr>
              <a:t>// OK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</a:t>
            </a:r>
            <a:r>
              <a:rPr lang="nl-BE" sz="2000" dirty="0">
                <a:solidFill>
                  <a:schemeClr val="accent2"/>
                </a:solidFill>
                <a:latin typeface="Consolas"/>
                <a:cs typeface="Consolas"/>
              </a:rPr>
              <a:t>mesurable = new Mesurable();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 </a:t>
            </a:r>
            <a:r>
              <a:rPr lang="nl-BE" sz="2000" dirty="0">
                <a:solidFill>
                  <a:schemeClr val="accent6"/>
                </a:solidFill>
                <a:latin typeface="Consolas"/>
                <a:cs typeface="Consolas"/>
              </a:rPr>
              <a:t>// erreur de compil°</a:t>
            </a:r>
            <a:endParaRPr lang="nl-BE" sz="2400" dirty="0">
              <a:solidFill>
                <a:schemeClr val="accent6"/>
              </a:solidFill>
              <a:latin typeface="Consolas"/>
              <a:cs typeface="Consolas"/>
            </a:endParaRPr>
          </a:p>
          <a:p>
            <a:pPr marL="0" indent="0">
              <a:buNone/>
            </a:pPr>
            <a:endParaRPr lang="nl-BE" sz="2400" dirty="0">
              <a:cs typeface="Consolas"/>
            </a:endParaRPr>
          </a:p>
          <a:p>
            <a:pPr marL="0" indent="0">
              <a:buNone/>
            </a:pPr>
            <a:r>
              <a:rPr lang="fr-FR" sz="2400" dirty="0">
                <a:latin typeface="+mn-lt"/>
              </a:rPr>
              <a:t>Les interfaces servent à définir un comportement attendu d’une classe.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C836E9-D66E-478A-205C-7889690D0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9888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DC44E8-5A9E-5199-B0B6-0DA56D05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interfaces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B675AB-3B76-F935-F336-4B21E55A1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sz="2400" dirty="0">
                <a:cs typeface="Consolas"/>
              </a:rPr>
              <a:t>Dans le cas de notre interface 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Mesurable</a:t>
            </a:r>
            <a:r>
              <a:rPr lang="nl-BE" sz="2400" dirty="0">
                <a:cs typeface="Consolas"/>
              </a:rPr>
              <a:t>, pour qu’un objet soit mesurable, il faut qu’on puisse lui demander sa mesure (via une méthode 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getMeasure()</a:t>
            </a:r>
            <a:r>
              <a:rPr lang="nl-BE" sz="2400" dirty="0">
                <a:cs typeface="Consolas"/>
              </a:rPr>
              <a:t>)</a:t>
            </a:r>
            <a:r>
              <a:rPr lang="nl-BE" sz="2400" dirty="0">
                <a:latin typeface="+mn-lt"/>
                <a:cs typeface="Consolas"/>
              </a:rPr>
              <a:t>.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+mn-lt"/>
                <a:cs typeface="Consolas"/>
              </a:rPr>
              <a:t>	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interface Mesurable { 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    double getMeasure();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}</a:t>
            </a:r>
          </a:p>
          <a:p>
            <a:pPr marL="0" indent="0">
              <a:buNone/>
            </a:pPr>
            <a:endParaRPr lang="nl-BE" sz="2400" dirty="0">
              <a:cs typeface="Consolas"/>
            </a:endParaRPr>
          </a:p>
          <a:p>
            <a:pPr marL="0" indent="0">
              <a:buNone/>
            </a:pPr>
            <a:r>
              <a:rPr lang="nl-BE" sz="2400" dirty="0">
                <a:cs typeface="Consolas"/>
              </a:rPr>
              <a:t>Les méthodes des interfaces étant de toutes façons publiques (puisque destinées à être redéfinies), le mot clé 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public</a:t>
            </a:r>
            <a:r>
              <a:rPr lang="nl-BE" sz="2400" dirty="0">
                <a:cs typeface="Consolas"/>
              </a:rPr>
              <a:t> est superflu.</a:t>
            </a:r>
            <a:endParaRPr lang="nl-BE" sz="2400" dirty="0">
              <a:solidFill>
                <a:schemeClr val="accent6"/>
              </a:solidFill>
              <a:latin typeface="Consolas"/>
              <a:cs typeface="Consola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A58825-9874-B5A3-EA3D-CCEBD3A2F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87542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1ECC4F-00A1-F43E-006E-AF1E1FECF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Une classe implémente une interface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0BB939-F266-2134-5D43-68949F0B3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Une fois que vous avez défini une interface, vous pouvez indiquer qu’une classe implémente (= est conforme à) l’interface en utilisant le mot clé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nl-BE" sz="2400" dirty="0">
                <a:solidFill>
                  <a:schemeClr val="accent4"/>
                </a:solidFill>
                <a:latin typeface="+mn-lt"/>
                <a:cs typeface="Consolas"/>
              </a:rPr>
              <a:t>	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public abstract class Forme implements Mesurable { 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    public abstract double getMeasure();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}</a:t>
            </a:r>
          </a:p>
          <a:p>
            <a:pPr marL="0" indent="0">
              <a:buNone/>
            </a:pPr>
            <a:r>
              <a:rPr lang="fr-FR" sz="2400" dirty="0"/>
              <a:t>ou</a:t>
            </a:r>
          </a:p>
          <a:p>
            <a:pPr marL="0" indent="0">
              <a:buNone/>
            </a:pPr>
            <a:r>
              <a:rPr lang="nl-BE" dirty="0">
                <a:solidFill>
                  <a:schemeClr val="accent4"/>
                </a:solidFill>
                <a:latin typeface="+mn-lt"/>
                <a:cs typeface="Consolas"/>
              </a:rPr>
              <a:t>	</a:t>
            </a: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public class Examen implements Mesurable { 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    public double getMeasure() {...} 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}</a:t>
            </a:r>
            <a:endParaRPr lang="fr-FR" sz="2400" dirty="0"/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3B744E-5583-3B82-9DBA-6652598B0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9782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4DDBB-9776-A751-1BAE-D5FE0371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CDDEE6-EDF1-1664-FF94-391DDC77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8C92C1-B6FB-78FE-D9A9-A32FCE704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noProof="0" dirty="0"/>
              <a:t>Vous devez créer une interface et deux classes qui implémentent cette interface, puis les utiliser.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/>
              <a:t>Vous définissez l’interface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Calculateur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Elle présente la méthode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calcule(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b)</a:t>
            </a:r>
            <a:r>
              <a:rPr lang="fr-FR" sz="2000" dirty="0"/>
              <a:t> qui effectue un calcul sur les deux nombres reçus.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noProof="0" dirty="0"/>
              <a:t>Définissez également deux classes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Addition</a:t>
            </a:r>
            <a:r>
              <a:rPr lang="fr-FR" sz="2000" noProof="0" dirty="0"/>
              <a:t> et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Multiplication</a:t>
            </a:r>
            <a:r>
              <a:rPr lang="fr-FR" sz="2000" noProof="0" dirty="0"/>
              <a:t>, qui implémentent l’interface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Calculateur</a:t>
            </a:r>
            <a:r>
              <a:rPr lang="fr-FR" sz="2000" noProof="0" dirty="0"/>
              <a:t> en définissant la méthode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calcule</a:t>
            </a:r>
            <a:r>
              <a:rPr lang="fr-FR" sz="2000" noProof="0" dirty="0"/>
              <a:t> de manière appropriée.</a:t>
            </a:r>
            <a:endParaRPr lang="fr-FR" sz="1800" noProof="0" dirty="0"/>
          </a:p>
          <a:p>
            <a:pPr marL="342900" indent="-342900">
              <a:buFont typeface="+mj-lt"/>
              <a:buAutoNum type="arabicPeriod"/>
            </a:pPr>
            <a:r>
              <a:rPr lang="fr-FR" sz="2000" dirty="0"/>
              <a:t>Enfin, écrivez une classe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Programme</a:t>
            </a:r>
            <a:r>
              <a:rPr lang="fr-FR" sz="2000" dirty="0"/>
              <a:t> qui présente les méthodes suivantes:</a:t>
            </a:r>
          </a:p>
          <a:p>
            <a:pPr lvl="1"/>
            <a:r>
              <a:rPr lang="fr-FR" sz="2000" dirty="0"/>
              <a:t>Une méthode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effectueCalcul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b, Calculateur calculateur)</a:t>
            </a:r>
            <a:r>
              <a:rPr lang="fr-FR" sz="2000" dirty="0"/>
              <a:t> qui effectue un calcul à l’aide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Calculateur</a:t>
            </a:r>
            <a:r>
              <a:rPr lang="fr-FR" sz="2000" dirty="0"/>
              <a:t> du reçu en paramètre.</a:t>
            </a:r>
          </a:p>
          <a:p>
            <a:pPr lvl="1"/>
            <a:r>
              <a:rPr lang="fr-FR" sz="2000" dirty="0"/>
              <a:t>Une méthode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FR" sz="2000" dirty="0"/>
              <a:t> qui lance le programme, crée deux objets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Addition</a:t>
            </a:r>
            <a:r>
              <a:rPr lang="fr-FR" sz="2800" dirty="0"/>
              <a:t> et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Multiplication</a:t>
            </a:r>
            <a:r>
              <a:rPr lang="fr-FR" sz="2800" dirty="0"/>
              <a:t>, </a:t>
            </a:r>
            <a:r>
              <a:rPr lang="fr-FR" sz="2000" dirty="0"/>
              <a:t>et effectue quelques calculs</a:t>
            </a:r>
            <a:r>
              <a:rPr lang="fr-FR" sz="1600" dirty="0"/>
              <a:t>…</a:t>
            </a:r>
            <a:r>
              <a:rPr lang="fr-FR" sz="2000" dirty="0"/>
              <a:t> </a:t>
            </a:r>
            <a:endParaRPr lang="fr-FR" sz="800" dirty="0"/>
          </a:p>
        </p:txBody>
      </p:sp>
      <p:pic>
        <p:nvPicPr>
          <p:cNvPr id="1026" name="Picture 2" descr="blog-nutrition-outlet">
            <a:extLst>
              <a:ext uri="{FF2B5EF4-FFF2-40B4-BE49-F238E27FC236}">
                <a16:creationId xmlns:a16="http://schemas.microsoft.com/office/drawing/2014/main" id="{1F4A5692-6995-EAB3-1D36-E7BCBDC4F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2D6330-E82F-21C6-9F4F-01AB32BE6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7161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B6BB3-1BD7-20FC-778E-0158DD2E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9739FC-45EC-D4CD-EBBD-84606C515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18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95FC00-EB9F-7B92-E236-455F9732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noProof="0" dirty="0"/>
              <a:t>Vous allez maintenant écrire un petit programme permettant à des clients d’effectuer des paiements en ligne, via PayPal ou par Carte de Crédit.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/>
              <a:t>Vous définissez l’interface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Paiement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Elle présente la méthode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effectuerPaiement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(double montant)</a:t>
            </a:r>
            <a:r>
              <a:rPr lang="fr-FR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noProof="0" dirty="0"/>
              <a:t>Définissez également deux classes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PayPal</a:t>
            </a:r>
            <a:r>
              <a:rPr lang="fr-FR" sz="2000" noProof="0" dirty="0"/>
              <a:t> et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CarteDeCredit</a:t>
            </a:r>
            <a:r>
              <a:rPr lang="fr-FR" sz="2000" noProof="0" dirty="0"/>
              <a:t>, qui implémentent l’interface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Paiement</a:t>
            </a:r>
            <a:r>
              <a:rPr lang="fr-FR" sz="2000" noProof="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1800" dirty="0"/>
              <a:t>Pour </a:t>
            </a:r>
            <a:r>
              <a:rPr lang="fr-FR" sz="1800" dirty="0" err="1"/>
              <a:t>Paypal</a:t>
            </a:r>
            <a:r>
              <a:rPr lang="fr-FR" sz="1800" dirty="0"/>
              <a:t>, le paiement consiste à se connecter à </a:t>
            </a:r>
            <a:r>
              <a:rPr lang="fr-FR" sz="1800" dirty="0" err="1"/>
              <a:t>Paypal</a:t>
            </a:r>
            <a:r>
              <a:rPr lang="fr-FR" sz="1800" dirty="0"/>
              <a:t>, sélectionner un moyen de paiement et valider la transaction (les trois étapes seront affichées à l’aide de </a:t>
            </a:r>
            <a:r>
              <a:rPr lang="fr-FR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fr-FR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sz="1800" dirty="0"/>
              <a:t>).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sz="1800" noProof="0" dirty="0"/>
              <a:t>Pour </a:t>
            </a:r>
            <a:r>
              <a:rPr lang="fr-FR" sz="1800" noProof="0" dirty="0" err="1"/>
              <a:t>CarteDeCredit</a:t>
            </a:r>
            <a:r>
              <a:rPr lang="fr-FR" sz="1800" noProof="0" dirty="0"/>
              <a:t>, l’utilisateur authentifie la transaction puis le paiement est exécuté (idem).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000" dirty="0"/>
              <a:t>Définissez aussi une classe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fr-FR" sz="2000" dirty="0"/>
              <a:t> qui présente une méthode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executePaiement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(Paiement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moyenDePaiement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double montant)</a:t>
            </a:r>
            <a:r>
              <a:rPr lang="fr-FR" sz="2000" dirty="0"/>
              <a:t>.</a:t>
            </a:r>
          </a:p>
          <a:p>
            <a:pPr marL="0" indent="0">
              <a:buNone/>
            </a:pPr>
            <a:r>
              <a:rPr lang="fr-FR" sz="2000" dirty="0"/>
              <a:t>Enfin, écrivez un programme qui instancie un objet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Paypal</a:t>
            </a:r>
            <a:r>
              <a:rPr lang="fr-FR" sz="2000" dirty="0"/>
              <a:t>, un objet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CarteDeCredit</a:t>
            </a:r>
            <a:r>
              <a:rPr lang="fr-FR" sz="2000" dirty="0"/>
              <a:t> et un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fr-FR" sz="2000" dirty="0"/>
              <a:t>. Votre programme demande ensuite l’exécution d’un paiement par chaque moyen de paiement. </a:t>
            </a:r>
            <a:endParaRPr lang="fr-FR" sz="1200" dirty="0"/>
          </a:p>
        </p:txBody>
      </p:sp>
      <p:pic>
        <p:nvPicPr>
          <p:cNvPr id="1026" name="Picture 2" descr="blog-nutrition-outlet">
            <a:extLst>
              <a:ext uri="{FF2B5EF4-FFF2-40B4-BE49-F238E27FC236}">
                <a16:creationId xmlns:a16="http://schemas.microsoft.com/office/drawing/2014/main" id="{8A547916-AF72-BB36-9A0B-B83CB5B1A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24AC43-85B4-F209-B937-3609D694A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13149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87F9C-C3F5-7BDE-1E81-E8FCE033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014CF190-6D5E-E0D0-DD0B-3E0A9C2D0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interfaces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4B2FED0-307C-F8B3-2024-FE53B96A6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Intro</a:t>
            </a:r>
          </a:p>
          <a:p>
            <a:pPr lvl="1"/>
            <a:r>
              <a:rPr lang="fr-FR" dirty="0"/>
              <a:t>Exercice 17 et 18</a:t>
            </a:r>
          </a:p>
          <a:p>
            <a:pPr>
              <a:lnSpc>
                <a:spcPct val="100000"/>
              </a:lnSpc>
            </a:pPr>
            <a:r>
              <a:rPr lang="fr-FR" b="1" dirty="0">
                <a:solidFill>
                  <a:schemeClr val="accent4"/>
                </a:solidFill>
              </a:rPr>
              <a:t>Interfaces multiples: Shape Mesurable, Translatable,…</a:t>
            </a:r>
          </a:p>
          <a:p>
            <a:pPr lvl="1"/>
            <a:r>
              <a:rPr lang="fr-FR" dirty="0"/>
              <a:t>Exercice 19</a:t>
            </a:r>
          </a:p>
          <a:p>
            <a:r>
              <a:rPr lang="fr-FR" dirty="0"/>
              <a:t>Interfaces particulières</a:t>
            </a:r>
          </a:p>
          <a:p>
            <a:pPr lvl="1"/>
            <a:r>
              <a:rPr lang="fr-FR" dirty="0"/>
              <a:t>Interfaces de marquage</a:t>
            </a:r>
          </a:p>
          <a:p>
            <a:pPr lvl="1"/>
            <a:r>
              <a:rPr lang="fr-FR" dirty="0"/>
              <a:t>Interfaces fonctionnelles</a:t>
            </a:r>
          </a:p>
          <a:p>
            <a:r>
              <a:rPr lang="fr-FR" dirty="0"/>
              <a:t>Utilité des interfaces: découplage</a:t>
            </a:r>
          </a:p>
          <a:p>
            <a:r>
              <a:rPr lang="fr-FR" dirty="0"/>
              <a:t>Cas concret:  Transport et </a:t>
            </a:r>
            <a:r>
              <a:rPr lang="fr-FR" dirty="0" err="1"/>
              <a:t>StationService</a:t>
            </a:r>
            <a:endParaRPr lang="fr-FR" dirty="0"/>
          </a:p>
          <a:p>
            <a:r>
              <a:rPr lang="fr-FR" dirty="0"/>
              <a:t>Deuxième cas concret: le Design Pattern Observer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72EBAEF-ED4B-AFF7-5757-B14BEF5C1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6973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AA6A95-ACE7-631B-1E8C-DB15C701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Interfaces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DCD966-A8A1-22A4-8F4D-C44D9E3F9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Vous savez déjà qu’en Java, une classe ne peut hériter que d’une seule autre classe (pas de double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FR" sz="2400" dirty="0"/>
              <a:t>).</a:t>
            </a:r>
          </a:p>
          <a:p>
            <a:pPr marL="0" indent="0">
              <a:buNone/>
            </a:pPr>
            <a:r>
              <a:rPr lang="fr-FR" sz="2400" dirty="0"/>
              <a:t>Par contre, rien n’empêche d’implémenter plusieurs interfaces.</a:t>
            </a:r>
          </a:p>
          <a:p>
            <a:pPr marL="0" indent="0">
              <a:buNone/>
            </a:pPr>
            <a:r>
              <a:rPr lang="fr-FR" sz="2400" dirty="0"/>
              <a:t>Si nous définissons deux interfaces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Translatable</a:t>
            </a:r>
            <a:r>
              <a:rPr lang="fr-FR" sz="2400" dirty="0"/>
              <a:t> et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Rotatable</a:t>
            </a:r>
            <a:r>
              <a:rPr lang="fr-FR" sz="2400" dirty="0"/>
              <a:t>, nous pouvons très bien définir: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public class Square extends Forme </a:t>
            </a:r>
            <a:b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</a:b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		implements Mesurable, Translatable, Rotatable { 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    public double getMeasure() {...}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    public void translate(double dx, double dy) {...}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    public void rotate(double alpha) {...}</a:t>
            </a:r>
          </a:p>
          <a:p>
            <a:pPr marL="0" indent="0">
              <a:buNone/>
            </a:pPr>
            <a:r>
              <a:rPr lang="nl-BE" sz="2000" dirty="0">
                <a:solidFill>
                  <a:schemeClr val="accent4"/>
                </a:solidFill>
                <a:latin typeface="Consolas"/>
                <a:cs typeface="Consolas"/>
              </a:rPr>
              <a:t>	}</a:t>
            </a:r>
            <a:endParaRPr lang="fr-FR" sz="2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381139-AA0A-EB7E-D6FA-791C49705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743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1B9F1-2C07-C94A-9528-5E58899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19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69007D-F661-1041-9584-8871E41E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709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noProof="0" dirty="0"/>
              <a:t>Avant de commencer, copiez les classes du package </a:t>
            </a:r>
            <a:r>
              <a:rPr lang="fr-FR" sz="1800" spc="-4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e14</a:t>
            </a:r>
            <a:r>
              <a:rPr lang="fr-FR" sz="2000" noProof="0" dirty="0"/>
              <a:t> dans le package </a:t>
            </a:r>
            <a:r>
              <a:rPr lang="fr-FR" sz="1800" spc="-4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e19</a:t>
            </a:r>
            <a:r>
              <a:rPr lang="fr-FR" sz="2000" noProof="0" dirty="0"/>
              <a:t>.</a:t>
            </a:r>
          </a:p>
          <a:p>
            <a:r>
              <a:rPr lang="fr-FR" sz="2000" noProof="0" dirty="0"/>
              <a:t>Créez une interface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Translatable</a:t>
            </a:r>
            <a:r>
              <a:rPr lang="fr-FR" sz="2000" noProof="0" dirty="0"/>
              <a:t>, qui présente une méthode </a:t>
            </a:r>
            <a:r>
              <a:rPr lang="fr-FR" sz="1800" spc="-4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translate(double dx, double </a:t>
            </a:r>
            <a:r>
              <a:rPr lang="fr-FR" sz="1800" spc="-4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fr-FR" sz="1800" spc="-4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fr-FR" sz="2000" noProof="0" dirty="0"/>
              <a:t>Créez une interface </a:t>
            </a:r>
            <a:r>
              <a:rPr lang="fr-FR" sz="1800" noProof="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Rotatable</a:t>
            </a:r>
            <a:r>
              <a:rPr lang="fr-FR" sz="2000" noProof="0" dirty="0"/>
              <a:t>, qui présente une méthode </a:t>
            </a:r>
            <a:r>
              <a:rPr lang="fr-FR" sz="1800" spc="-4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rotate</a:t>
            </a:r>
            <a:r>
              <a:rPr lang="fr-FR" sz="1800" spc="-4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(double alpha)</a:t>
            </a:r>
            <a:endParaRPr lang="fr-FR" sz="2000" noProof="0" dirty="0"/>
          </a:p>
          <a:p>
            <a:r>
              <a:rPr lang="fr-FR" sz="2000" noProof="0" dirty="0"/>
              <a:t>Reprenez votre classe abstraite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r>
              <a:rPr lang="fr-FR" sz="2000" noProof="0" dirty="0"/>
              <a:t>, et faites-la implémenter les deux interfaces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Translatable</a:t>
            </a:r>
            <a:r>
              <a:rPr lang="fr-FR" sz="2400" noProof="0" dirty="0"/>
              <a:t> </a:t>
            </a:r>
            <a:r>
              <a:rPr lang="fr-FR" sz="2000" noProof="0" dirty="0"/>
              <a:t>et</a:t>
            </a:r>
            <a:r>
              <a:rPr lang="fr-FR" sz="2400" noProof="0" dirty="0"/>
              <a:t> </a:t>
            </a:r>
            <a:r>
              <a:rPr lang="fr-FR" sz="1800" noProof="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Rotatable</a:t>
            </a:r>
            <a:r>
              <a:rPr lang="fr-FR" sz="2000" noProof="0" dirty="0"/>
              <a:t>. </a:t>
            </a:r>
          </a:p>
          <a:p>
            <a:pPr marL="0" indent="0">
              <a:buNone/>
            </a:pPr>
            <a:r>
              <a:rPr lang="fr-FR" sz="2000" noProof="0" dirty="0"/>
              <a:t>Les méthodes des interfaces doivent-elles être concrètes ou abstraites dans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Shape</a:t>
            </a:r>
            <a:r>
              <a:rPr lang="fr-FR" sz="2000" noProof="0" dirty="0"/>
              <a:t>?</a:t>
            </a:r>
            <a:endParaRPr lang="fr-FR" sz="2000" dirty="0"/>
          </a:p>
          <a:p>
            <a:pPr marL="0" indent="0">
              <a:buNone/>
            </a:pPr>
            <a:r>
              <a:rPr lang="fr-FR" sz="2000" noProof="0" dirty="0"/>
              <a:t>Faut-il mettre à jour les trois classes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Square</a:t>
            </a:r>
            <a:r>
              <a:rPr lang="fr-FR" sz="2000" noProof="0" dirty="0"/>
              <a:t>,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Circle</a:t>
            </a:r>
            <a:r>
              <a:rPr lang="fr-FR" sz="2400" noProof="0" dirty="0"/>
              <a:t> </a:t>
            </a:r>
            <a:r>
              <a:rPr lang="fr-FR" sz="2000" noProof="0" dirty="0"/>
              <a:t>et</a:t>
            </a:r>
            <a:r>
              <a:rPr lang="fr-FR" sz="2400" noProof="0" dirty="0"/>
              <a:t> </a:t>
            </a:r>
            <a:r>
              <a:rPr lang="fr-FR" sz="1800" noProof="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Triangle</a:t>
            </a:r>
            <a:r>
              <a:rPr lang="fr-FR" sz="2000" noProof="0" dirty="0"/>
              <a:t>?</a:t>
            </a:r>
            <a:endParaRPr lang="fr-FR" sz="2000" dirty="0"/>
          </a:p>
          <a:p>
            <a:r>
              <a:rPr lang="fr-FR" sz="2000" noProof="0" dirty="0"/>
              <a:t>Si oui, faites en sorte que les méthodes ajoutées affichent (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 suis un triangle et je tourne de X degrés</a:t>
            </a:r>
            <a:r>
              <a:rPr lang="fr-FR" sz="2000" noProof="0" dirty="0"/>
              <a:t>/ </a:t>
            </a:r>
            <a:r>
              <a:rPr lang="fr-FR" sz="18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 suis un carré et je me déplace de DX, DY</a:t>
            </a:r>
            <a:r>
              <a:rPr lang="fr-FR" sz="2000" noProof="0" dirty="0"/>
              <a:t>). </a:t>
            </a:r>
          </a:p>
          <a:p>
            <a:r>
              <a:rPr lang="fr-FR" sz="2000" noProof="0" dirty="0"/>
              <a:t>Adaptez enfin votre programme qui manipule les formes pour qu’il fasse aussi effectuer ces transformations à vos formes.</a:t>
            </a:r>
            <a:endParaRPr lang="fr-FR" sz="2000" dirty="0"/>
          </a:p>
        </p:txBody>
      </p:sp>
      <p:pic>
        <p:nvPicPr>
          <p:cNvPr id="1026" name="Picture 2" descr="blog-nutrition-outlet">
            <a:extLst>
              <a:ext uri="{FF2B5EF4-FFF2-40B4-BE49-F238E27FC236}">
                <a16:creationId xmlns:a16="http://schemas.microsoft.com/office/drawing/2014/main" id="{9F7669FB-8553-A044-8BC2-6E9BE5DE2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e 19">
            <a:extLst>
              <a:ext uri="{FF2B5EF4-FFF2-40B4-BE49-F238E27FC236}">
                <a16:creationId xmlns:a16="http://schemas.microsoft.com/office/drawing/2014/main" id="{23E4D168-DC31-C6B7-5E69-E64687AF7365}"/>
              </a:ext>
            </a:extLst>
          </p:cNvPr>
          <p:cNvGrpSpPr/>
          <p:nvPr/>
        </p:nvGrpSpPr>
        <p:grpSpPr>
          <a:xfrm rot="762091">
            <a:off x="7674606" y="500270"/>
            <a:ext cx="1511865" cy="769720"/>
            <a:chOff x="9344382" y="500270"/>
            <a:chExt cx="1511865" cy="7697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1A6062D-F9FB-94F4-D1F0-2D3740ED3E0E}"/>
                </a:ext>
              </a:extLst>
            </p:cNvPr>
            <p:cNvSpPr/>
            <p:nvPr/>
          </p:nvSpPr>
          <p:spPr>
            <a:xfrm rot="20700000">
              <a:off x="9344382" y="657107"/>
              <a:ext cx="612883" cy="61288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Triangle 21">
              <a:extLst>
                <a:ext uri="{FF2B5EF4-FFF2-40B4-BE49-F238E27FC236}">
                  <a16:creationId xmlns:a16="http://schemas.microsoft.com/office/drawing/2014/main" id="{4CD2A338-CF34-A81B-4FD3-BDDAFC98AB2A}"/>
                </a:ext>
              </a:extLst>
            </p:cNvPr>
            <p:cNvSpPr/>
            <p:nvPr/>
          </p:nvSpPr>
          <p:spPr>
            <a:xfrm rot="900000">
              <a:off x="10243364" y="657105"/>
              <a:ext cx="612883" cy="612883"/>
            </a:xfrm>
            <a:prstGeom prst="triangle">
              <a:avLst/>
            </a:prstGeom>
            <a:solidFill>
              <a:srgbClr val="0102E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60A3619A-9130-9055-964C-1614A984C751}"/>
                </a:ext>
              </a:extLst>
            </p:cNvPr>
            <p:cNvSpPr/>
            <p:nvPr/>
          </p:nvSpPr>
          <p:spPr>
            <a:xfrm>
              <a:off x="9868050" y="500270"/>
              <a:ext cx="612883" cy="61288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52464D-841E-48B8-398A-7D3FE49EF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938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A9B32-EF02-76D5-E5B0-441A0F24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CC34542F-99C8-969D-7122-751838DE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interfaces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7165F14-86EC-E4D1-B235-7163E4AE9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Intro</a:t>
            </a:r>
          </a:p>
          <a:p>
            <a:pPr lvl="1"/>
            <a:r>
              <a:rPr lang="fr-FR" dirty="0"/>
              <a:t>Exercice 17 et 18</a:t>
            </a:r>
          </a:p>
          <a:p>
            <a:r>
              <a:rPr lang="fr-FR" dirty="0"/>
              <a:t>Interfaces multiples: Shape Mesurable, Translatable,…</a:t>
            </a:r>
          </a:p>
          <a:p>
            <a:pPr lvl="1"/>
            <a:r>
              <a:rPr lang="fr-FR" dirty="0"/>
              <a:t>Exercice 19</a:t>
            </a:r>
          </a:p>
          <a:p>
            <a:r>
              <a:rPr lang="fr-FR" b="1" dirty="0">
                <a:solidFill>
                  <a:schemeClr val="accent4"/>
                </a:solidFill>
              </a:rPr>
              <a:t>Interfaces particulières</a:t>
            </a:r>
          </a:p>
          <a:p>
            <a:pPr lvl="1"/>
            <a:r>
              <a:rPr lang="fr-FR" dirty="0"/>
              <a:t>Interfaces de marquage</a:t>
            </a:r>
          </a:p>
          <a:p>
            <a:pPr lvl="1"/>
            <a:r>
              <a:rPr lang="fr-FR" dirty="0"/>
              <a:t>Interfaces fonctionnelles</a:t>
            </a:r>
          </a:p>
          <a:p>
            <a:r>
              <a:rPr lang="fr-FR" dirty="0"/>
              <a:t>Utilité des interfaces: découplage</a:t>
            </a:r>
          </a:p>
          <a:p>
            <a:r>
              <a:rPr lang="fr-FR" dirty="0"/>
              <a:t>Cas concret:  Transport et </a:t>
            </a:r>
            <a:r>
              <a:rPr lang="fr-FR" dirty="0" err="1"/>
              <a:t>StationService</a:t>
            </a:r>
            <a:endParaRPr lang="fr-FR" dirty="0"/>
          </a:p>
          <a:p>
            <a:r>
              <a:rPr lang="fr-FR" dirty="0"/>
              <a:t>Deuxième cas concret: le Design Pattern Observer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71F936E-39B7-4737-6AA6-ED902A90B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8025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2BE50D-6E7D-E0D8-18B4-7CB119C0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Interfaces de marquage (</a:t>
            </a:r>
            <a:r>
              <a:rPr lang="fr-FR" dirty="0" err="1"/>
              <a:t>tagging</a:t>
            </a:r>
            <a:r>
              <a:rPr lang="fr-FR" dirty="0"/>
              <a:t> interface)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ECD6F0-2744-7ED4-05FA-0194E09A2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Il existe des interfaces sans méthodes, qu’on appelle </a:t>
            </a:r>
            <a:r>
              <a:rPr lang="fr-FR" sz="2400" dirty="0">
                <a:solidFill>
                  <a:schemeClr val="accent4"/>
                </a:solidFill>
              </a:rPr>
              <a:t>interfaces de marquage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r>
              <a:rPr lang="fr-FR" sz="2400" dirty="0"/>
              <a:t>Ainsi par exemple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Cloneable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r>
              <a:rPr lang="fr-FR" sz="2400" dirty="0">
                <a:hlinkClick r:id="rId2"/>
              </a:rPr>
              <a:t>https://docs.oracle.com/javase/7/docs/api/java/lang/Cloneable.html</a:t>
            </a:r>
            <a:endParaRPr lang="fr-FR" sz="2400" dirty="0"/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Cette interface indique que l’objet qui l’implémente peut être cloné (donc que l’appel de la méthode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Object.clone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sz="2400" dirty="0"/>
              <a:t> est possible, parce qu’elle a été redéfinie (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Override</a:t>
            </a:r>
            <a:r>
              <a:rPr lang="fr-FR" sz="2400" dirty="0"/>
              <a:t>) au niveau de la classe).  Cette interface ne contient pas de méthode parce que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clone</a:t>
            </a:r>
            <a:r>
              <a:rPr lang="fr-FR" sz="2400" dirty="0"/>
              <a:t> est par défaut dans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Utilité: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Cloneable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object.clone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fr-FR" sz="2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04B5F8-4D00-6C14-91EE-3C4F7374A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03995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Interface Fonctionnelle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dirty="0"/>
              <a:t>Un concept qui s’avèrera intéressant plus tard dans le cours est celui d’</a:t>
            </a:r>
            <a:r>
              <a:rPr lang="fr-FR" dirty="0">
                <a:solidFill>
                  <a:schemeClr val="accent4"/>
                </a:solidFill>
              </a:rPr>
              <a:t>interface fonctionnelle</a:t>
            </a:r>
            <a:r>
              <a:rPr lang="fr-FR" dirty="0"/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dirty="0"/>
              <a:t>Une </a:t>
            </a:r>
            <a:r>
              <a:rPr lang="fr-FR" dirty="0">
                <a:solidFill>
                  <a:schemeClr val="accent4"/>
                </a:solidFill>
              </a:rPr>
              <a:t>interface fonctionnelle</a:t>
            </a:r>
            <a:r>
              <a:rPr lang="fr-FR" dirty="0"/>
              <a:t> est une interface qui n'a </a:t>
            </a:r>
            <a:r>
              <a:rPr lang="fr-FR" dirty="0">
                <a:solidFill>
                  <a:schemeClr val="accent4"/>
                </a:solidFill>
              </a:rPr>
              <a:t>qu'une seule méthode</a:t>
            </a:r>
            <a:r>
              <a:rPr lang="fr-FR" dirty="0">
                <a:solidFill>
                  <a:srgbClr val="4584D3"/>
                </a:solidFill>
              </a:rPr>
              <a:t> </a:t>
            </a:r>
            <a:r>
              <a:rPr lang="fr-FR" dirty="0"/>
              <a:t>qui soit à la fois:</a:t>
            </a:r>
            <a:endParaRPr lang="fr-FR" dirty="0">
              <a:solidFill>
                <a:srgbClr val="4584D3"/>
              </a:solidFill>
            </a:endParaRPr>
          </a:p>
          <a:p>
            <a:pPr marL="342900" indent="-342900">
              <a:buFontTx/>
              <a:buChar char="-"/>
            </a:pPr>
            <a:r>
              <a:rPr lang="fr-FR" dirty="0"/>
              <a:t>abstraite</a:t>
            </a:r>
          </a:p>
          <a:p>
            <a:pPr marL="342900" indent="-342900">
              <a:buFontTx/>
              <a:buChar char="-"/>
            </a:pPr>
            <a:r>
              <a:rPr lang="fr-FR" dirty="0"/>
              <a:t>publique</a:t>
            </a:r>
          </a:p>
          <a:p>
            <a:pPr marL="342900" indent="-342900">
              <a:buFontTx/>
              <a:buChar char="-"/>
            </a:pPr>
            <a:r>
              <a:rPr lang="fr-FR" dirty="0"/>
              <a:t>n'appartient pas à Object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D5B2F8-7F71-93A0-6DA4-62C2F8391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8915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Interface Fonctionnelle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u="sng" dirty="0"/>
              <a:t>Exemple d'interface fonctionnelle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5DDF3AD-AA69-6818-48CA-0A4CCA6BD362}"/>
              </a:ext>
            </a:extLst>
          </p:cNvPr>
          <p:cNvSpPr txBox="1"/>
          <p:nvPr/>
        </p:nvSpPr>
        <p:spPr>
          <a:xfrm>
            <a:off x="1489436" y="2275222"/>
            <a:ext cx="10042688" cy="1477328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Note: </a:t>
            </a:r>
            <a:r>
              <a:rPr lang="fr-BE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equals</a:t>
            </a:r>
            <a:r>
              <a:rPr lang="fr-BE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appartient à la classe </a:t>
            </a:r>
            <a:r>
              <a:rPr lang="fr-BE" dirty="0" err="1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java.lang.Object</a:t>
            </a:r>
            <a:r>
              <a:rPr lang="fr-BE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et est publique</a:t>
            </a:r>
            <a:br>
              <a:rPr lang="fr-BE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interface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Comparator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solidFill>
                  <a:srgbClr val="50787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&gt;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equals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(Object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obj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compare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 err="1">
                <a:solidFill>
                  <a:srgbClr val="50787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BE" dirty="0">
                <a:solidFill>
                  <a:srgbClr val="50787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o1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solidFill>
                  <a:srgbClr val="50787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-BE" dirty="0">
                <a:solidFill>
                  <a:srgbClr val="50787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o2)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72DB146-7E89-03B2-4C3E-A3D0E1893D25}"/>
              </a:ext>
            </a:extLst>
          </p:cNvPr>
          <p:cNvSpPr txBox="1">
            <a:spLocks/>
          </p:cNvSpPr>
          <p:nvPr/>
        </p:nvSpPr>
        <p:spPr>
          <a:xfrm>
            <a:off x="838200" y="4001295"/>
            <a:ext cx="10515600" cy="617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400" u="sng" dirty="0"/>
              <a:t>Ceci n’est pas une interface fonctionnelle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790BDB0-3773-114E-9FF7-F8E28DF9E3AD}"/>
              </a:ext>
            </a:extLst>
          </p:cNvPr>
          <p:cNvSpPr txBox="1"/>
          <p:nvPr/>
        </p:nvSpPr>
        <p:spPr>
          <a:xfrm>
            <a:off x="1489436" y="4483639"/>
            <a:ext cx="10042688" cy="1477328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Note: clone() appartient à la classe Object, mais n’est pas publique</a:t>
            </a:r>
            <a:br>
              <a:rPr lang="fr-BE" dirty="0">
                <a:solidFill>
                  <a:srgbClr val="808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interface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Foo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Object </a:t>
            </a:r>
            <a:r>
              <a:rPr lang="fr-BE" dirty="0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clone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Bulle rectangulaire 6">
            <a:extLst>
              <a:ext uri="{FF2B5EF4-FFF2-40B4-BE49-F238E27FC236}">
                <a16:creationId xmlns:a16="http://schemas.microsoft.com/office/drawing/2014/main" id="{C667E74D-0C81-6946-80F9-43233190CCB3}"/>
              </a:ext>
            </a:extLst>
          </p:cNvPr>
          <p:cNvSpPr/>
          <p:nvPr/>
        </p:nvSpPr>
        <p:spPr>
          <a:xfrm>
            <a:off x="5314949" y="5410201"/>
            <a:ext cx="5459888" cy="766762"/>
          </a:xfrm>
          <a:prstGeom prst="wedgeRectCallout">
            <a:avLst>
              <a:gd name="adj1" fmla="val -73753"/>
              <a:gd name="adj2" fmla="val -37621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Donc clone ici n’est pas une redéfinition de la méthode d’Object, donc Foo a deux méthodes publiques.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CF7613-0447-1811-7718-D6DC817E9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73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Interface Fonctionnelle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3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En utilisant l'annotation </a:t>
            </a:r>
            <a:r>
              <a:rPr lang="fr-FR" dirty="0">
                <a:solidFill>
                  <a:schemeClr val="accent4"/>
                </a:solidFill>
                <a:latin typeface="Consolas"/>
                <a:cs typeface="Consolas"/>
              </a:rPr>
              <a:t>@</a:t>
            </a:r>
            <a:r>
              <a:rPr lang="fr-FR" dirty="0" err="1">
                <a:solidFill>
                  <a:schemeClr val="accent4"/>
                </a:solidFill>
                <a:latin typeface="Consolas"/>
                <a:cs typeface="Consolas"/>
              </a:rPr>
              <a:t>FunctionalInterface</a:t>
            </a:r>
            <a:r>
              <a:rPr lang="fr-FR" dirty="0"/>
              <a:t> avant la déclaration de l'interface, le compilateur java vérifiera qu'elle contient bien une seule méthode abstraite (et génèrera une erreur dans le cas contraire).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C188458-495F-B4D1-9C4F-FD18E4C9055D}"/>
              </a:ext>
            </a:extLst>
          </p:cNvPr>
          <p:cNvSpPr txBox="1"/>
          <p:nvPr/>
        </p:nvSpPr>
        <p:spPr>
          <a:xfrm>
            <a:off x="2121031" y="3976549"/>
            <a:ext cx="7956222" cy="156966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24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fr-BE" sz="2400" dirty="0" err="1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FunctionalInterface</a:t>
            </a:r>
            <a:br>
              <a:rPr lang="fr-BE" sz="24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interface </a:t>
            </a:r>
            <a:r>
              <a:rPr lang="fr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ExempleInterface</a:t>
            </a: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24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4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doSomething</a:t>
            </a: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24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5641C2-1D1C-5FA1-69AA-B4D1F6EEE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327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Quelques Interfaces Fonctionnelles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interfaces suivantes sont de bons exemples d'interfaces fonctionnelles (qui n'ont qu'une méthode, notée entre parenthèses).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5196C3D-82D7-C282-CF57-0EB551D4102C}"/>
              </a:ext>
            </a:extLst>
          </p:cNvPr>
          <p:cNvSpPr txBox="1"/>
          <p:nvPr/>
        </p:nvSpPr>
        <p:spPr>
          <a:xfrm>
            <a:off x="1668544" y="3051927"/>
            <a:ext cx="938909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java.util.Comparator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 (compare)</a:t>
            </a:r>
          </a:p>
          <a:p>
            <a:pPr marL="457200" lvl="1" indent="0">
              <a:buNone/>
            </a:pP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java.lang.Runnable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 (run)</a:t>
            </a:r>
          </a:p>
          <a:p>
            <a:pPr marL="457200" lvl="1" indent="0">
              <a:buNone/>
            </a:pP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java.awt.event.ActionListener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 (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actionPerformed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)</a:t>
            </a:r>
          </a:p>
          <a:p>
            <a:pPr marL="457200" lvl="1" indent="0">
              <a:buNone/>
            </a:pP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java.swing.event.ChangeListener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 (</a:t>
            </a:r>
            <a:r>
              <a:rPr lang="fr-FR" sz="2600" dirty="0" err="1">
                <a:solidFill>
                  <a:schemeClr val="accent4"/>
                </a:solidFill>
                <a:latin typeface="Consolas"/>
                <a:cs typeface="Consolas"/>
              </a:rPr>
              <a:t>stateChanged</a:t>
            </a:r>
            <a:r>
              <a:rPr lang="fr-FR" sz="2600" dirty="0">
                <a:solidFill>
                  <a:schemeClr val="accent4"/>
                </a:solidFill>
                <a:latin typeface="Consolas"/>
                <a:cs typeface="Consolas"/>
              </a:rPr>
              <a:t>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109A27-2088-76FE-E7DA-EFBD959CA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0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7ADE-E9F6-3464-4C54-70839C100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B3C0767E-89CE-02FB-346E-0F3B899B7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interfaces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0B2C401-4629-5A68-1BAA-3B39EC09D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Intro</a:t>
            </a:r>
          </a:p>
          <a:p>
            <a:pPr lvl="1"/>
            <a:r>
              <a:rPr lang="fr-FR" dirty="0"/>
              <a:t>Exercice 17 et 18</a:t>
            </a:r>
          </a:p>
          <a:p>
            <a:r>
              <a:rPr lang="fr-FR" dirty="0"/>
              <a:t>Interfaces multiples: Shape Mesurable, Translatable,…</a:t>
            </a:r>
          </a:p>
          <a:p>
            <a:pPr lvl="1"/>
            <a:r>
              <a:rPr lang="fr-FR" dirty="0"/>
              <a:t>Exercice 19</a:t>
            </a:r>
          </a:p>
          <a:p>
            <a:r>
              <a:rPr lang="fr-FR" dirty="0"/>
              <a:t>Interfaces particulières</a:t>
            </a:r>
          </a:p>
          <a:p>
            <a:pPr lvl="1"/>
            <a:r>
              <a:rPr lang="fr-FR" dirty="0"/>
              <a:t>Interfaces de marquage</a:t>
            </a:r>
          </a:p>
          <a:p>
            <a:pPr lvl="1"/>
            <a:r>
              <a:rPr lang="fr-FR" dirty="0"/>
              <a:t>Interfaces fonctionnelles</a:t>
            </a:r>
          </a:p>
          <a:p>
            <a:r>
              <a:rPr lang="fr-FR" b="1" dirty="0">
                <a:solidFill>
                  <a:schemeClr val="accent4"/>
                </a:solidFill>
              </a:rPr>
              <a:t>Utilité des interfaces: découplage</a:t>
            </a:r>
          </a:p>
          <a:p>
            <a:r>
              <a:rPr lang="fr-FR" dirty="0"/>
              <a:t>Cas concret:  Transport et </a:t>
            </a:r>
            <a:r>
              <a:rPr lang="fr-FR" dirty="0" err="1"/>
              <a:t>StationService</a:t>
            </a:r>
            <a:endParaRPr lang="fr-FR" dirty="0"/>
          </a:p>
          <a:p>
            <a:r>
              <a:rPr lang="fr-FR" dirty="0"/>
              <a:t>Deuxième cas concret: le Design Pattern Observer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E3B9888-3111-4098-2B76-8C19A9A8C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16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DD1F6-CA27-9ED3-0A38-D3A8297F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Mais à quoi ça sert, les interfaces?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6D5CEB-E503-76B8-5937-3C5A0B6AA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97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000" dirty="0">
                <a:effectLst/>
                <a:latin typeface="+mn-lt"/>
                <a:cs typeface="Consolas" panose="020B0609020204030204" pitchFamily="49" charset="0"/>
              </a:rPr>
              <a:t>Les interfaces ont plusieurs fonctions:</a:t>
            </a:r>
          </a:p>
          <a:p>
            <a:r>
              <a:rPr lang="fr-BE" sz="2000" dirty="0">
                <a:latin typeface="+mn-lt"/>
                <a:cs typeface="Consolas" panose="020B0609020204030204" pitchFamily="49" charset="0"/>
              </a:rPr>
              <a:t>Une interface peut être vue comme un </a:t>
            </a:r>
            <a:r>
              <a:rPr lang="fr-BE" sz="2000" dirty="0">
                <a:solidFill>
                  <a:schemeClr val="accent4"/>
                </a:solidFill>
                <a:latin typeface="+mn-lt"/>
                <a:cs typeface="Consolas" panose="020B0609020204030204" pitchFamily="49" charset="0"/>
              </a:rPr>
              <a:t>contrat</a:t>
            </a:r>
            <a:r>
              <a:rPr lang="fr-BE" sz="2000" dirty="0">
                <a:latin typeface="+mn-lt"/>
                <a:cs typeface="Consolas" panose="020B0609020204030204" pitchFamily="49" charset="0"/>
              </a:rPr>
              <a:t>: si une classe déclare implémenter une interface, l’utilisateur sait qu’elle présentera certaines méthodes (= manières d’</a:t>
            </a:r>
            <a:r>
              <a:rPr lang="fr-BE" sz="2000" dirty="0" err="1">
                <a:latin typeface="+mn-lt"/>
                <a:cs typeface="Consolas" panose="020B0609020204030204" pitchFamily="49" charset="0"/>
              </a:rPr>
              <a:t>intéragir</a:t>
            </a:r>
            <a:r>
              <a:rPr lang="fr-BE" sz="2000" dirty="0">
                <a:latin typeface="+mn-lt"/>
                <a:cs typeface="Consolas" panose="020B0609020204030204" pitchFamily="49" charset="0"/>
              </a:rPr>
              <a:t> avec elle)</a:t>
            </a:r>
          </a:p>
          <a:p>
            <a:r>
              <a:rPr lang="fr-BE" sz="2000" dirty="0">
                <a:effectLst/>
                <a:latin typeface="+mn-lt"/>
                <a:cs typeface="Consolas" panose="020B0609020204030204" pitchFamily="49" charset="0"/>
              </a:rPr>
              <a:t>L’interfac</a:t>
            </a:r>
            <a:r>
              <a:rPr lang="fr-BE" sz="2000" dirty="0">
                <a:latin typeface="+mn-lt"/>
                <a:cs typeface="Consolas" panose="020B0609020204030204" pitchFamily="49" charset="0"/>
              </a:rPr>
              <a:t>e permet l’</a:t>
            </a:r>
            <a:r>
              <a:rPr lang="fr-BE" sz="2000" dirty="0">
                <a:solidFill>
                  <a:schemeClr val="accent4"/>
                </a:solidFill>
                <a:latin typeface="+mn-lt"/>
                <a:cs typeface="Consolas" panose="020B0609020204030204" pitchFamily="49" charset="0"/>
              </a:rPr>
              <a:t>abstraction</a:t>
            </a:r>
            <a:r>
              <a:rPr lang="fr-BE" sz="2000" dirty="0">
                <a:latin typeface="+mn-lt"/>
                <a:cs typeface="Consolas" panose="020B0609020204030204" pitchFamily="49" charset="0"/>
              </a:rPr>
              <a:t>: on cache les détails de l’implémentation (comment) en montrant la fonctionnalité (quoi).</a:t>
            </a:r>
          </a:p>
          <a:p>
            <a:r>
              <a:rPr lang="fr-BE" sz="2000" dirty="0">
                <a:effectLst/>
                <a:latin typeface="+mn-lt"/>
                <a:cs typeface="Consolas" panose="020B0609020204030204" pitchFamily="49" charset="0"/>
              </a:rPr>
              <a:t>En utilisant des interfaces, on assure un </a:t>
            </a:r>
            <a:r>
              <a:rPr lang="fr-BE" sz="2000" dirty="0">
                <a:solidFill>
                  <a:schemeClr val="accent4"/>
                </a:solidFill>
                <a:effectLst/>
                <a:latin typeface="+mn-lt"/>
                <a:cs typeface="Consolas" panose="020B0609020204030204" pitchFamily="49" charset="0"/>
              </a:rPr>
              <a:t>couplage faible (loose </a:t>
            </a:r>
            <a:r>
              <a:rPr lang="fr-BE" sz="2000" dirty="0" err="1">
                <a:solidFill>
                  <a:schemeClr val="accent4"/>
                </a:solidFill>
                <a:effectLst/>
                <a:latin typeface="+mn-lt"/>
                <a:cs typeface="Consolas" panose="020B0609020204030204" pitchFamily="49" charset="0"/>
              </a:rPr>
              <a:t>coupling</a:t>
            </a:r>
            <a:r>
              <a:rPr lang="fr-BE" sz="2000" dirty="0">
                <a:solidFill>
                  <a:schemeClr val="accent4"/>
                </a:solidFill>
                <a:effectLst/>
                <a:latin typeface="+mn-lt"/>
                <a:cs typeface="Consolas" panose="020B0609020204030204" pitchFamily="49" charset="0"/>
              </a:rPr>
              <a:t>)</a:t>
            </a:r>
            <a:r>
              <a:rPr lang="fr-BE" sz="2000" dirty="0">
                <a:effectLst/>
                <a:latin typeface="+mn-lt"/>
                <a:cs typeface="Consolas" panose="020B0609020204030204" pitchFamily="49" charset="0"/>
              </a:rPr>
              <a:t> entre nos objets: une dépendance moins forte qui permet qu’un changement d’un objet n’en affecte pas un autre. </a:t>
            </a:r>
          </a:p>
          <a:p>
            <a:r>
              <a:rPr lang="fr-BE" sz="2000" dirty="0">
                <a:latin typeface="+mn-lt"/>
                <a:cs typeface="Consolas" panose="020B0609020204030204" pitchFamily="49" charset="0"/>
              </a:rPr>
              <a:t>Java ne permettant pas l’héritage multiple, les interfaces peuvent être vues comme une manière d’ « hériter » de plusieurs comportements (une classe peut en effet </a:t>
            </a:r>
            <a:r>
              <a:rPr lang="fr-BE" sz="2000" dirty="0">
                <a:solidFill>
                  <a:schemeClr val="accent4"/>
                </a:solidFill>
                <a:latin typeface="+mn-lt"/>
                <a:cs typeface="Consolas" panose="020B0609020204030204" pitchFamily="49" charset="0"/>
              </a:rPr>
              <a:t>implémenter plusieurs interfaces</a:t>
            </a:r>
            <a:r>
              <a:rPr lang="fr-BE" sz="2000" dirty="0">
                <a:latin typeface="+mn-lt"/>
                <a:cs typeface="Consolas" panose="020B0609020204030204" pitchFamily="49" charset="0"/>
              </a:rPr>
              <a:t>).</a:t>
            </a:r>
          </a:p>
          <a:p>
            <a:r>
              <a:rPr lang="fr-BE" sz="2000" dirty="0">
                <a:latin typeface="+mn-lt"/>
                <a:cs typeface="Consolas" panose="020B0609020204030204" pitchFamily="49" charset="0"/>
              </a:rPr>
              <a:t>Les interfaces peuvent aussi supporter le </a:t>
            </a:r>
            <a:r>
              <a:rPr lang="fr-BE" sz="2000" dirty="0">
                <a:solidFill>
                  <a:schemeClr val="accent4"/>
                </a:solidFill>
                <a:latin typeface="+mn-lt"/>
                <a:cs typeface="Consolas" panose="020B0609020204030204" pitchFamily="49" charset="0"/>
              </a:rPr>
              <a:t>polymorphisme</a:t>
            </a:r>
            <a:r>
              <a:rPr lang="fr-BE" sz="2000" dirty="0">
                <a:latin typeface="+mn-lt"/>
                <a:cs typeface="Consolas" panose="020B0609020204030204" pitchFamily="49" charset="0"/>
              </a:rPr>
              <a:t>: vous pouvez utilisez l’interface pour définir des références à des objets qui implémentent l’interface.</a:t>
            </a:r>
          </a:p>
          <a:p>
            <a:endParaRPr lang="fr-BE" sz="2000" dirty="0">
              <a:effectLst/>
              <a:latin typeface="+mn-lt"/>
              <a:cs typeface="Consolas" panose="020B0609020204030204" pitchFamily="49" charset="0"/>
            </a:endParaRPr>
          </a:p>
          <a:p>
            <a:endParaRPr lang="fr-BE" sz="2000" dirty="0">
              <a:effectLst/>
              <a:latin typeface="+mn-lt"/>
              <a:cs typeface="Consolas" panose="020B0609020204030204" pitchFamily="49" charset="0"/>
            </a:endParaRPr>
          </a:p>
        </p:txBody>
      </p:sp>
      <p:sp>
        <p:nvSpPr>
          <p:cNvPr id="4" name="Bulle rectangulaire à coins arrondis 3">
            <a:extLst>
              <a:ext uri="{FF2B5EF4-FFF2-40B4-BE49-F238E27FC236}">
                <a16:creationId xmlns:a16="http://schemas.microsoft.com/office/drawing/2014/main" id="{5B6E8FE6-C57A-92FB-C681-B60DE42EB4C2}"/>
              </a:ext>
            </a:extLst>
          </p:cNvPr>
          <p:cNvSpPr/>
          <p:nvPr/>
        </p:nvSpPr>
        <p:spPr>
          <a:xfrm>
            <a:off x="8186057" y="3309259"/>
            <a:ext cx="3559629" cy="283028"/>
          </a:xfrm>
          <a:prstGeom prst="wedgeRoundRectCallout">
            <a:avLst>
              <a:gd name="adj1" fmla="val -71598"/>
              <a:gd name="adj2" fmla="val 62501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2867A1"/>
                </a:solidFill>
              </a:rPr>
              <a:t>Voir slide suivant…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22B3F5-982A-DF98-715A-92EDF83F9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154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2341EE-1028-794E-BD66-09D8B4F2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Couplage faible: exemple de Non-découplage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B620388-5143-DF4F-8F5E-0F3FF1DE07C2}"/>
              </a:ext>
            </a:extLst>
          </p:cNvPr>
          <p:cNvSpPr txBox="1"/>
          <p:nvPr/>
        </p:nvSpPr>
        <p:spPr>
          <a:xfrm>
            <a:off x="4656381" y="5471931"/>
            <a:ext cx="5783019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rgbClr val="2867A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Le contrôleur ne peut pas être utilisé avec une autre interface graphique que la classe GUI (sans être modifié)…</a:t>
            </a:r>
          </a:p>
        </p:txBody>
      </p:sp>
      <p:sp>
        <p:nvSpPr>
          <p:cNvPr id="3" name="Espace réservé du contenu 10">
            <a:extLst>
              <a:ext uri="{FF2B5EF4-FFF2-40B4-BE49-F238E27FC236}">
                <a16:creationId xmlns:a16="http://schemas.microsoft.com/office/drawing/2014/main" id="{1DE46695-430A-42DD-A3CA-A5757FC954E3}"/>
              </a:ext>
            </a:extLst>
          </p:cNvPr>
          <p:cNvSpPr txBox="1">
            <a:spLocks/>
          </p:cNvSpPr>
          <p:nvPr/>
        </p:nvSpPr>
        <p:spPr>
          <a:xfrm>
            <a:off x="1099162" y="1694498"/>
            <a:ext cx="4409954" cy="2971066"/>
          </a:xfrm>
          <a:prstGeom prst="rect">
            <a:avLst/>
          </a:prstGeom>
          <a:solidFill>
            <a:srgbClr val="2B2B2B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1600" dirty="0">
                <a:latin typeface="Consolas"/>
                <a:cs typeface="Consolas"/>
              </a:rPr>
              <a:t>public class </a:t>
            </a:r>
            <a:r>
              <a:rPr lang="en" sz="1600" dirty="0">
                <a:solidFill>
                  <a:schemeClr val="accent4"/>
                </a:solidFill>
                <a:latin typeface="Consolas"/>
                <a:cs typeface="Consolas"/>
              </a:rPr>
              <a:t>GUI </a:t>
            </a:r>
            <a:r>
              <a:rPr lang="en" sz="1600" dirty="0">
                <a:latin typeface="Consolas"/>
                <a:cs typeface="Consolas"/>
              </a:rPr>
              <a:t>{ </a:t>
            </a:r>
          </a:p>
          <a:p>
            <a:r>
              <a:rPr lang="en" sz="1600" dirty="0">
                <a:latin typeface="Consolas"/>
                <a:cs typeface="Consolas"/>
              </a:rPr>
              <a:t>  private </a:t>
            </a:r>
            <a:r>
              <a:rPr lang="en" sz="1600" dirty="0" err="1">
                <a:latin typeface="Consolas"/>
                <a:cs typeface="Consolas"/>
              </a:rPr>
              <a:t>Controleur</a:t>
            </a:r>
            <a:r>
              <a:rPr lang="en" sz="1600" dirty="0">
                <a:latin typeface="Consolas"/>
                <a:cs typeface="Consolas"/>
              </a:rPr>
              <a:t> </a:t>
            </a:r>
            <a:r>
              <a:rPr lang="en" sz="1600" dirty="0" err="1">
                <a:latin typeface="Consolas"/>
                <a:cs typeface="Consolas"/>
              </a:rPr>
              <a:t>ctr</a:t>
            </a:r>
            <a:r>
              <a:rPr lang="en" sz="1600" dirty="0">
                <a:latin typeface="Consolas"/>
                <a:cs typeface="Consolas"/>
              </a:rPr>
              <a:t>; </a:t>
            </a:r>
          </a:p>
          <a:p>
            <a:r>
              <a:rPr lang="en" sz="1600" dirty="0">
                <a:latin typeface="Consolas"/>
                <a:cs typeface="Consolas"/>
              </a:rPr>
              <a:t>  public GUI() { </a:t>
            </a:r>
          </a:p>
          <a:p>
            <a:r>
              <a:rPr lang="en" sz="1600" dirty="0">
                <a:latin typeface="Consolas"/>
                <a:cs typeface="Consolas"/>
              </a:rPr>
              <a:t>    </a:t>
            </a:r>
            <a:r>
              <a:rPr lang="en" sz="1600" dirty="0" err="1">
                <a:latin typeface="Consolas"/>
                <a:cs typeface="Consolas"/>
              </a:rPr>
              <a:t>ctr</a:t>
            </a:r>
            <a:r>
              <a:rPr lang="en" sz="1600" dirty="0">
                <a:latin typeface="Consolas"/>
                <a:cs typeface="Consolas"/>
              </a:rPr>
              <a:t> = new </a:t>
            </a:r>
            <a:r>
              <a:rPr lang="en" sz="1600" dirty="0" err="1">
                <a:latin typeface="Consolas"/>
                <a:cs typeface="Consolas"/>
              </a:rPr>
              <a:t>Controleur</a:t>
            </a:r>
            <a:r>
              <a:rPr lang="en" sz="1600" dirty="0">
                <a:latin typeface="Consolas"/>
                <a:cs typeface="Consolas"/>
              </a:rPr>
              <a:t>(...);</a:t>
            </a:r>
          </a:p>
          <a:p>
            <a:r>
              <a:rPr lang="en" sz="1600" dirty="0">
                <a:latin typeface="Consolas"/>
                <a:cs typeface="Consolas"/>
              </a:rPr>
              <a:t>    </a:t>
            </a:r>
            <a:r>
              <a:rPr lang="en" sz="1600" dirty="0" err="1">
                <a:latin typeface="Consolas"/>
                <a:cs typeface="Consolas"/>
              </a:rPr>
              <a:t>ctr.setAfficheur</a:t>
            </a:r>
            <a:r>
              <a:rPr lang="en" sz="1600" dirty="0">
                <a:latin typeface="Consolas"/>
                <a:cs typeface="Consolas"/>
              </a:rPr>
              <a:t>(this); }</a:t>
            </a:r>
          </a:p>
          <a:p>
            <a:r>
              <a:rPr lang="fr-FR" sz="1600" dirty="0">
                <a:latin typeface="Consolas"/>
                <a:cs typeface="Consolas"/>
              </a:rPr>
              <a:t>  ...</a:t>
            </a:r>
          </a:p>
          <a:p>
            <a:r>
              <a:rPr lang="fr-BE" sz="1600" dirty="0">
                <a:latin typeface="Consolas"/>
                <a:cs typeface="Consolas"/>
              </a:rPr>
              <a:t>  public </a:t>
            </a:r>
            <a:r>
              <a:rPr lang="fr-BE" sz="1600" dirty="0" err="1">
                <a:latin typeface="Consolas"/>
                <a:cs typeface="Consolas"/>
              </a:rPr>
              <a:t>void</a:t>
            </a:r>
            <a:r>
              <a:rPr lang="fr-BE" sz="1600" dirty="0">
                <a:latin typeface="Consolas"/>
                <a:cs typeface="Consolas"/>
              </a:rPr>
              <a:t> affiche(String m) {...} </a:t>
            </a:r>
          </a:p>
          <a:p>
            <a:r>
              <a:rPr lang="fr-BE" sz="1600" dirty="0">
                <a:latin typeface="Consolas"/>
                <a:cs typeface="Consolas"/>
              </a:rPr>
              <a:t>}</a:t>
            </a:r>
            <a:endParaRPr lang="fr-FR" sz="1400" dirty="0"/>
          </a:p>
        </p:txBody>
      </p:sp>
      <p:sp>
        <p:nvSpPr>
          <p:cNvPr id="4" name="Espace réservé du contenu 11">
            <a:extLst>
              <a:ext uri="{FF2B5EF4-FFF2-40B4-BE49-F238E27FC236}">
                <a16:creationId xmlns:a16="http://schemas.microsoft.com/office/drawing/2014/main" id="{E2E3E5B1-BC69-ABB8-53F8-8C04A84BD3B0}"/>
              </a:ext>
            </a:extLst>
          </p:cNvPr>
          <p:cNvSpPr txBox="1">
            <a:spLocks/>
          </p:cNvSpPr>
          <p:nvPr/>
        </p:nvSpPr>
        <p:spPr>
          <a:xfrm>
            <a:off x="6767105" y="2305062"/>
            <a:ext cx="4409954" cy="2971065"/>
          </a:xfrm>
          <a:prstGeom prst="rect">
            <a:avLst/>
          </a:prstGeom>
          <a:solidFill>
            <a:srgbClr val="2B2B2B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600" dirty="0">
                <a:latin typeface="Consolas"/>
                <a:cs typeface="Consolas"/>
              </a:rPr>
              <a:t>public class </a:t>
            </a:r>
            <a:r>
              <a:rPr lang="fr-BE" sz="1600" dirty="0" err="1">
                <a:latin typeface="Consolas"/>
                <a:cs typeface="Consolas"/>
              </a:rPr>
              <a:t>Controleur</a:t>
            </a:r>
            <a:r>
              <a:rPr lang="fr-BE" sz="1600" dirty="0">
                <a:latin typeface="Consolas"/>
                <a:cs typeface="Consolas"/>
              </a:rPr>
              <a:t> {</a:t>
            </a:r>
          </a:p>
          <a:p>
            <a:r>
              <a:rPr lang="fr-BE" sz="1600" dirty="0">
                <a:latin typeface="Consolas"/>
                <a:cs typeface="Consolas"/>
              </a:rPr>
              <a:t>  </a:t>
            </a:r>
            <a:r>
              <a:rPr lang="fr-BE" sz="1600" dirty="0" err="1">
                <a:latin typeface="Consolas"/>
                <a:cs typeface="Consolas"/>
              </a:rPr>
              <a:t>private</a:t>
            </a:r>
            <a:r>
              <a:rPr lang="fr-BE" sz="1600" dirty="0">
                <a:latin typeface="Consolas"/>
                <a:cs typeface="Consolas"/>
              </a:rPr>
              <a:t> GUI gui;</a:t>
            </a:r>
          </a:p>
          <a:p>
            <a:r>
              <a:rPr lang="fr-BE" sz="1600" dirty="0">
                <a:latin typeface="Consolas"/>
                <a:cs typeface="Consolas"/>
              </a:rPr>
              <a:t>  public </a:t>
            </a:r>
            <a:r>
              <a:rPr lang="fr-BE" sz="1600" dirty="0" err="1">
                <a:latin typeface="Consolas"/>
                <a:cs typeface="Consolas"/>
              </a:rPr>
              <a:t>void</a:t>
            </a:r>
            <a:r>
              <a:rPr lang="fr-BE" sz="1600" dirty="0">
                <a:latin typeface="Consolas"/>
                <a:cs typeface="Consolas"/>
              </a:rPr>
              <a:t> </a:t>
            </a:r>
            <a:r>
              <a:rPr lang="fr-BE" sz="1600" dirty="0" err="1">
                <a:latin typeface="Consolas"/>
                <a:cs typeface="Consolas"/>
              </a:rPr>
              <a:t>setAfficheur</a:t>
            </a:r>
            <a:r>
              <a:rPr lang="fr-BE" sz="1600" dirty="0">
                <a:latin typeface="Consolas"/>
                <a:cs typeface="Consolas"/>
              </a:rPr>
              <a:t>(</a:t>
            </a:r>
            <a:r>
              <a:rPr lang="fr-BE" sz="1600" dirty="0">
                <a:solidFill>
                  <a:schemeClr val="accent4"/>
                </a:solidFill>
                <a:latin typeface="Consolas"/>
                <a:cs typeface="Consolas"/>
              </a:rPr>
              <a:t>GUI</a:t>
            </a:r>
            <a:r>
              <a:rPr lang="fr-BE" sz="1600" dirty="0">
                <a:latin typeface="Consolas"/>
                <a:cs typeface="Consolas"/>
              </a:rPr>
              <a:t> gui) {</a:t>
            </a:r>
          </a:p>
          <a:p>
            <a:r>
              <a:rPr lang="fr-BE" sz="1600" dirty="0">
                <a:latin typeface="Consolas"/>
                <a:cs typeface="Consolas"/>
              </a:rPr>
              <a:t>    </a:t>
            </a:r>
            <a:r>
              <a:rPr lang="fr-BE" sz="1600" dirty="0" err="1">
                <a:latin typeface="Consolas"/>
                <a:cs typeface="Consolas"/>
              </a:rPr>
              <a:t>this.afficheur</a:t>
            </a:r>
            <a:r>
              <a:rPr lang="fr-BE" sz="1600" dirty="0">
                <a:latin typeface="Consolas"/>
                <a:cs typeface="Consolas"/>
              </a:rPr>
              <a:t> = gui; </a:t>
            </a:r>
          </a:p>
          <a:p>
            <a:r>
              <a:rPr lang="fr-BE" sz="1600" dirty="0">
                <a:latin typeface="Consolas"/>
                <a:cs typeface="Consolas"/>
              </a:rPr>
              <a:t>  } </a:t>
            </a:r>
          </a:p>
          <a:p>
            <a:r>
              <a:rPr lang="fr-BE" sz="1600" dirty="0">
                <a:latin typeface="Consolas"/>
                <a:cs typeface="Consolas"/>
              </a:rPr>
              <a:t>  ... </a:t>
            </a:r>
          </a:p>
          <a:p>
            <a:r>
              <a:rPr lang="fr-BE" sz="1600" dirty="0">
                <a:latin typeface="Consolas"/>
                <a:cs typeface="Consolas"/>
              </a:rPr>
              <a:t>    ...{ </a:t>
            </a:r>
            <a:r>
              <a:rPr lang="fr-BE" sz="1600" dirty="0" err="1">
                <a:latin typeface="Consolas"/>
                <a:cs typeface="Consolas"/>
              </a:rPr>
              <a:t>gui.affiche</a:t>
            </a:r>
            <a:r>
              <a:rPr lang="fr-BE" sz="1600" dirty="0">
                <a:latin typeface="Consolas"/>
                <a:cs typeface="Consolas"/>
              </a:rPr>
              <a:t>(message); } </a:t>
            </a:r>
          </a:p>
          <a:p>
            <a:r>
              <a:rPr lang="fr-BE" sz="1600" dirty="0">
                <a:latin typeface="Consolas"/>
                <a:cs typeface="Consolas"/>
              </a:rPr>
              <a:t>}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4EBF09D3-DE35-A84A-A246-5259F994E206}"/>
              </a:ext>
            </a:extLst>
          </p:cNvPr>
          <p:cNvCxnSpPr>
            <a:cxnSpLocks/>
          </p:cNvCxnSpPr>
          <p:nvPr/>
        </p:nvCxnSpPr>
        <p:spPr>
          <a:xfrm flipH="1" flipV="1">
            <a:off x="3673366" y="1886494"/>
            <a:ext cx="3306202" cy="1308119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2ADBFD-A90C-F27C-83C8-F52037C53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26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2341EE-1028-794E-BD66-09D8B4F2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Couplage faible: découplage</a:t>
            </a:r>
          </a:p>
        </p:txBody>
      </p:sp>
      <p:sp>
        <p:nvSpPr>
          <p:cNvPr id="7" name="Espace réservé du contenu 10">
            <a:extLst>
              <a:ext uri="{FF2B5EF4-FFF2-40B4-BE49-F238E27FC236}">
                <a16:creationId xmlns:a16="http://schemas.microsoft.com/office/drawing/2014/main" id="{400FFCED-6E19-8A4D-9B74-C211AEDB7186}"/>
              </a:ext>
            </a:extLst>
          </p:cNvPr>
          <p:cNvSpPr txBox="1">
            <a:spLocks/>
          </p:cNvSpPr>
          <p:nvPr/>
        </p:nvSpPr>
        <p:spPr>
          <a:xfrm>
            <a:off x="6748124" y="2057821"/>
            <a:ext cx="3627918" cy="1138617"/>
          </a:xfrm>
          <a:prstGeom prst="rect">
            <a:avLst/>
          </a:prstGeom>
          <a:solidFill>
            <a:srgbClr val="2B2B2B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1600" dirty="0">
                <a:latin typeface="Consolas"/>
                <a:cs typeface="Consolas"/>
              </a:rPr>
              <a:t>public interface </a:t>
            </a:r>
            <a:r>
              <a:rPr lang="fr-BE" sz="1600" dirty="0">
                <a:solidFill>
                  <a:schemeClr val="accent4"/>
                </a:solidFill>
                <a:latin typeface="Consolas"/>
                <a:cs typeface="Consolas"/>
              </a:rPr>
              <a:t>Afficheur</a:t>
            </a:r>
            <a:r>
              <a:rPr lang="fr-BE" sz="1600" dirty="0">
                <a:latin typeface="Consolas"/>
                <a:cs typeface="Consolas"/>
              </a:rPr>
              <a:t> { </a:t>
            </a:r>
          </a:p>
          <a:p>
            <a:r>
              <a:rPr lang="fr-BE" sz="1600" dirty="0">
                <a:latin typeface="Consolas"/>
                <a:cs typeface="Consolas"/>
              </a:rPr>
              <a:t>  </a:t>
            </a:r>
            <a:r>
              <a:rPr lang="fr-BE" sz="1600" dirty="0" err="1">
                <a:latin typeface="Consolas"/>
                <a:cs typeface="Consolas"/>
              </a:rPr>
              <a:t>void</a:t>
            </a:r>
            <a:r>
              <a:rPr lang="fr-BE" sz="1600" dirty="0">
                <a:latin typeface="Consolas"/>
                <a:cs typeface="Consolas"/>
              </a:rPr>
              <a:t> affiche(String message);</a:t>
            </a:r>
          </a:p>
          <a:p>
            <a:r>
              <a:rPr lang="fr-BE" sz="1600" dirty="0">
                <a:latin typeface="Consolas"/>
                <a:cs typeface="Consolas"/>
              </a:rPr>
              <a:t>}</a:t>
            </a:r>
            <a:endParaRPr lang="fr-BE" sz="1600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2991BD8-5335-ED4D-B89C-C82C67FAC67E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943600" y="2627130"/>
            <a:ext cx="804524" cy="693866"/>
          </a:xfrm>
          <a:prstGeom prst="straightConnector1">
            <a:avLst/>
          </a:prstGeom>
          <a:ln w="28575">
            <a:solidFill>
              <a:schemeClr val="accent4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2B9F12B4-C1FB-AB4D-8125-201E768F3093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8562083" y="3196438"/>
            <a:ext cx="697466" cy="510374"/>
          </a:xfrm>
          <a:prstGeom prst="straightConnector1">
            <a:avLst/>
          </a:prstGeom>
          <a:ln w="28575">
            <a:solidFill>
              <a:schemeClr val="accent4"/>
            </a:solidFill>
            <a:prstDash val="sys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508B2659-EB8E-9958-7B39-2567664DBBBB}"/>
              </a:ext>
            </a:extLst>
          </p:cNvPr>
          <p:cNvSpPr txBox="1"/>
          <p:nvPr/>
        </p:nvSpPr>
        <p:spPr>
          <a:xfrm>
            <a:off x="508924" y="5471931"/>
            <a:ext cx="5263623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rgbClr val="2867A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Le contrôleur est utilisé avec un Afficheur; un autre Afficheur peut être utilisé sans modifier </a:t>
            </a:r>
            <a:r>
              <a:rPr lang="fr-FR" dirty="0" err="1"/>
              <a:t>Controleur</a:t>
            </a:r>
            <a:r>
              <a:rPr lang="fr-FR" dirty="0"/>
              <a:t>…</a:t>
            </a:r>
          </a:p>
        </p:txBody>
      </p:sp>
      <p:sp>
        <p:nvSpPr>
          <p:cNvPr id="8" name="Espace réservé du contenu 11">
            <a:extLst>
              <a:ext uri="{FF2B5EF4-FFF2-40B4-BE49-F238E27FC236}">
                <a16:creationId xmlns:a16="http://schemas.microsoft.com/office/drawing/2014/main" id="{8D669575-38BC-46A1-DAA4-66C35D96CD4E}"/>
              </a:ext>
            </a:extLst>
          </p:cNvPr>
          <p:cNvSpPr txBox="1">
            <a:spLocks/>
          </p:cNvSpPr>
          <p:nvPr/>
        </p:nvSpPr>
        <p:spPr>
          <a:xfrm>
            <a:off x="6748124" y="3706812"/>
            <a:ext cx="5022850" cy="2678221"/>
          </a:xfrm>
          <a:prstGeom prst="rect">
            <a:avLst/>
          </a:prstGeom>
          <a:solidFill>
            <a:srgbClr val="2B2B2B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Consolas"/>
                <a:cs typeface="Consolas"/>
              </a:rPr>
              <a:t>public class Controleur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Consolas"/>
                <a:cs typeface="Consolas"/>
              </a:rPr>
              <a:t>  private </a:t>
            </a:r>
            <a:r>
              <a:rPr lang="fr-BE" sz="1600">
                <a:solidFill>
                  <a:schemeClr val="accent4"/>
                </a:solidFill>
                <a:latin typeface="Consolas"/>
                <a:cs typeface="Consolas"/>
              </a:rPr>
              <a:t>Afficheur</a:t>
            </a:r>
            <a:r>
              <a:rPr lang="fr-BE" sz="1600">
                <a:latin typeface="Consolas"/>
                <a:cs typeface="Consolas"/>
              </a:rPr>
              <a:t> gui;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Consolas"/>
                <a:cs typeface="Consolas"/>
              </a:rPr>
              <a:t>  public void setAfficheur(Afficheur gui)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Consolas"/>
                <a:cs typeface="Consolas"/>
              </a:rPr>
              <a:t>    this.afficheur = gui;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Consolas"/>
                <a:cs typeface="Consolas"/>
              </a:rPr>
              <a:t>  }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Consolas"/>
                <a:cs typeface="Consolas"/>
              </a:rPr>
              <a:t>  ...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Consolas"/>
                <a:cs typeface="Consolas"/>
              </a:rPr>
              <a:t>    gui.affiche(message);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Consolas"/>
                <a:cs typeface="Consolas"/>
              </a:rPr>
              <a:t>}</a:t>
            </a:r>
            <a:endParaRPr lang="fr-BE" sz="1600" dirty="0">
              <a:latin typeface="Consolas"/>
              <a:cs typeface="Consolas"/>
            </a:endParaRPr>
          </a:p>
        </p:txBody>
      </p:sp>
      <p:sp>
        <p:nvSpPr>
          <p:cNvPr id="14" name="Espace réservé du contenu 10">
            <a:extLst>
              <a:ext uri="{FF2B5EF4-FFF2-40B4-BE49-F238E27FC236}">
                <a16:creationId xmlns:a16="http://schemas.microsoft.com/office/drawing/2014/main" id="{6D4062A7-9134-688A-2C8D-1E349C3440EC}"/>
              </a:ext>
            </a:extLst>
          </p:cNvPr>
          <p:cNvSpPr txBox="1">
            <a:spLocks/>
          </p:cNvSpPr>
          <p:nvPr/>
        </p:nvSpPr>
        <p:spPr>
          <a:xfrm>
            <a:off x="838201" y="1858279"/>
            <a:ext cx="5105400" cy="2990741"/>
          </a:xfrm>
          <a:prstGeom prst="rect">
            <a:avLst/>
          </a:prstGeom>
          <a:solidFill>
            <a:srgbClr val="2B2B2B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sz="1600">
                <a:latin typeface="Consolas"/>
                <a:cs typeface="Consolas"/>
              </a:rPr>
              <a:t>public class </a:t>
            </a:r>
            <a:r>
              <a:rPr lang="en" sz="1600">
                <a:solidFill>
                  <a:schemeClr val="accent4"/>
                </a:solidFill>
                <a:latin typeface="Consolas"/>
                <a:cs typeface="Consolas"/>
              </a:rPr>
              <a:t>GUI</a:t>
            </a:r>
            <a:r>
              <a:rPr lang="en" sz="1600">
                <a:latin typeface="Consolas"/>
                <a:cs typeface="Consolas"/>
              </a:rPr>
              <a:t> implements Afficheur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sz="1600">
                <a:latin typeface="Consolas"/>
                <a:cs typeface="Consolas"/>
              </a:rPr>
              <a:t>  private Controleur ctr;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sz="1600">
                <a:latin typeface="Consolas"/>
                <a:cs typeface="Consolas"/>
              </a:rPr>
              <a:t>  public GUI()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sz="1600">
                <a:latin typeface="Consolas"/>
                <a:cs typeface="Consolas"/>
              </a:rPr>
              <a:t>    ctr = new Controleur(...);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sz="1600">
                <a:latin typeface="Consolas"/>
                <a:cs typeface="Consolas"/>
              </a:rPr>
              <a:t>    ctr.setAfficheur(this);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600">
                <a:latin typeface="Consolas"/>
                <a:cs typeface="Consolas"/>
              </a:rPr>
              <a:t>  ...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Consolas"/>
                <a:cs typeface="Consolas"/>
              </a:rPr>
              <a:t>  public void affiche(String m) {...}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sz="1600">
                <a:latin typeface="Consolas"/>
                <a:cs typeface="Consolas"/>
              </a:rPr>
              <a:t>}</a:t>
            </a:r>
            <a:endParaRPr lang="fr-FR" sz="1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ACEE46-3B67-F9A1-2F5B-C19A960F6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77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5BB5-F160-855B-04C9-C35AD7E4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0CD81D9C-8138-8BA4-3DD8-E55BA6DAA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interfaces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13EA846-2E4E-BAB6-DAE0-9652CF1E4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Intro</a:t>
            </a:r>
          </a:p>
          <a:p>
            <a:pPr lvl="1"/>
            <a:r>
              <a:rPr lang="fr-FR" dirty="0"/>
              <a:t>Exercice 17 et 18</a:t>
            </a:r>
          </a:p>
          <a:p>
            <a:r>
              <a:rPr lang="fr-FR" dirty="0"/>
              <a:t>Interfaces multiples: Shape Mesurable, Translatable,…</a:t>
            </a:r>
          </a:p>
          <a:p>
            <a:pPr lvl="1"/>
            <a:r>
              <a:rPr lang="fr-FR" dirty="0"/>
              <a:t>Exercice 19</a:t>
            </a:r>
          </a:p>
          <a:p>
            <a:r>
              <a:rPr lang="fr-FR" dirty="0"/>
              <a:t>Interfaces particulières</a:t>
            </a:r>
          </a:p>
          <a:p>
            <a:pPr lvl="1"/>
            <a:r>
              <a:rPr lang="fr-FR" dirty="0"/>
              <a:t>Interfaces de marquage</a:t>
            </a:r>
          </a:p>
          <a:p>
            <a:pPr lvl="1"/>
            <a:r>
              <a:rPr lang="fr-FR" dirty="0"/>
              <a:t>Interfaces fonctionnelles</a:t>
            </a:r>
          </a:p>
          <a:p>
            <a:r>
              <a:rPr lang="fr-FR" dirty="0"/>
              <a:t>Utilité des interfaces: découplage</a:t>
            </a:r>
          </a:p>
          <a:p>
            <a:pPr>
              <a:lnSpc>
                <a:spcPct val="100000"/>
              </a:lnSpc>
            </a:pPr>
            <a:r>
              <a:rPr lang="fr-FR" b="1" dirty="0">
                <a:solidFill>
                  <a:schemeClr val="accent4"/>
                </a:solidFill>
              </a:rPr>
              <a:t>Cas concret:  Transport et </a:t>
            </a:r>
            <a:r>
              <a:rPr lang="fr-FR" b="1" dirty="0" err="1">
                <a:solidFill>
                  <a:schemeClr val="accent4"/>
                </a:solidFill>
              </a:rPr>
              <a:t>StationService</a:t>
            </a:r>
            <a:endParaRPr lang="fr-FR" b="1" dirty="0">
              <a:solidFill>
                <a:schemeClr val="accent4"/>
              </a:solidFill>
            </a:endParaRPr>
          </a:p>
          <a:p>
            <a:r>
              <a:rPr lang="fr-FR" dirty="0"/>
              <a:t>Deuxième cas concret: le Design Pattern Observer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D3E094-BB63-7DE2-08A5-EB7088246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91289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DD1F6-CA27-9ED3-0A38-D3A8297F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force des interfaces…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6D5CEB-E503-76B8-5937-3C5A0B6AA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9706" cy="44797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2000" dirty="0">
                <a:effectLst/>
                <a:latin typeface="+mn-lt"/>
                <a:cs typeface="Consolas" panose="020B0609020204030204" pitchFamily="49" charset="0"/>
              </a:rPr>
              <a:t>Voici une seconde illustration de l’avantage d’utiliser des interfaces pour augmenter le découplage…</a:t>
            </a:r>
          </a:p>
          <a:p>
            <a:pPr marL="0" indent="0">
              <a:buNone/>
            </a:pPr>
            <a:r>
              <a:rPr lang="fr-BE" sz="2000" dirty="0">
                <a:effectLst/>
                <a:latin typeface="+mn-lt"/>
                <a:cs typeface="Consolas" panose="020B0609020204030204" pitchFamily="49" charset="0"/>
              </a:rPr>
              <a:t>Supposons que nous ayons développé </a:t>
            </a:r>
            <a:r>
              <a:rPr lang="fr-BE" sz="2000" dirty="0">
                <a:latin typeface="+mn-lt"/>
                <a:cs typeface="Consolas" panose="020B0609020204030204" pitchFamily="49" charset="0"/>
              </a:rPr>
              <a:t>l</a:t>
            </a:r>
            <a:r>
              <a:rPr lang="fr-BE" sz="2000" dirty="0">
                <a:effectLst/>
                <a:latin typeface="+mn-lt"/>
                <a:cs typeface="Consolas" panose="020B0609020204030204" pitchFamily="49" charset="0"/>
              </a:rPr>
              <a:t>es classes suivantes:</a:t>
            </a: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ublic abstract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Transport {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bouge(); } </a:t>
            </a:r>
            <a:r>
              <a:rPr lang="fr-BE" sz="16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classe abstraite</a:t>
            </a:r>
            <a:endParaRPr lang="fr-BE" sz="1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Voiture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Transport {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bouge() { </a:t>
            </a:r>
            <a:r>
              <a:rPr lang="fr-BE" sz="1600" dirty="0">
                <a:solidFill>
                  <a:srgbClr val="71AD4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conduit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};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Avion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Transport {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bouge() { </a:t>
            </a:r>
            <a:r>
              <a:rPr lang="fr-BE" sz="1600" dirty="0">
                <a:solidFill>
                  <a:srgbClr val="71AD4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vole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};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Moto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Transport {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bouge() { </a:t>
            </a:r>
            <a:r>
              <a:rPr lang="fr-BE" sz="1600" dirty="0">
                <a:solidFill>
                  <a:srgbClr val="71AD4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 faufile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Velo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Transport {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bouge() { </a:t>
            </a:r>
            <a:r>
              <a:rPr lang="fr-BE" sz="1600" dirty="0" err="1">
                <a:solidFill>
                  <a:srgbClr val="71AD4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pedale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};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8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E18B07-FBDA-1672-A7AD-5B3CD8C3F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4689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DD1F6-CA27-9ED3-0A38-D3A8297F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Classe abstraite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Transport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6D5CEB-E503-76B8-5937-3C5A0B6AA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dirty="0">
                <a:effectLst/>
                <a:latin typeface="+mn-lt"/>
                <a:cs typeface="Consolas" panose="020B0609020204030204" pitchFamily="49" charset="0"/>
              </a:rPr>
              <a:t>On code à présent la classe </a:t>
            </a:r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StationService</a:t>
            </a:r>
            <a:r>
              <a:rPr lang="fr-BE" dirty="0">
                <a:effectLst/>
                <a:latin typeface="+mn-lt"/>
                <a:cs typeface="Consolas" panose="020B0609020204030204" pitchFamily="49" charset="0"/>
              </a:rPr>
              <a:t>.</a:t>
            </a:r>
          </a:p>
          <a:p>
            <a:pPr marL="0" indent="0">
              <a:buNone/>
            </a:pPr>
            <a:endParaRPr lang="fr-BE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4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4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StationService</a:t>
            </a: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endParaRPr lang="fr-BE" sz="2400" dirty="0">
              <a:solidFill>
                <a:schemeClr val="accent4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faireLePlein</a:t>
            </a: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(Transport transport) {  </a:t>
            </a:r>
          </a:p>
          <a:p>
            <a:pPr marL="0" indent="0">
              <a:buNone/>
            </a:pP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(transport </a:t>
            </a:r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Velo</a:t>
            </a: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 </a:t>
            </a:r>
          </a:p>
          <a:p>
            <a:pPr marL="0" indent="0">
              <a:buNone/>
            </a:pPr>
            <a:r>
              <a:rPr lang="fr-BE" sz="24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// ne pas faire le plein   </a:t>
            </a:r>
          </a:p>
          <a:p>
            <a:pPr marL="0" indent="0">
              <a:buNone/>
            </a:pP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  </a:t>
            </a:r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 </a:t>
            </a:r>
          </a:p>
          <a:p>
            <a:pPr marL="0" indent="0">
              <a:buNone/>
            </a:pPr>
            <a:r>
              <a:rPr lang="fr-BE" sz="24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// faire le plein  </a:t>
            </a:r>
          </a:p>
          <a:p>
            <a:pPr marL="0" indent="0">
              <a:buNone/>
            </a:pP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  </a:t>
            </a:r>
          </a:p>
          <a:p>
            <a:pPr marL="0" indent="0">
              <a:buNone/>
            </a:pP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 </a:t>
            </a:r>
            <a:b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EE97B7-5828-102E-E870-405481544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233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DD1F6-CA27-9ED3-0A38-D3A8297F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6D5CEB-E503-76B8-5937-3C5A0B6AA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 dirty="0">
                <a:effectLst/>
                <a:latin typeface="+mn-lt"/>
                <a:cs typeface="Consolas" panose="020B0609020204030204" pitchFamily="49" charset="0"/>
              </a:rPr>
              <a:t>Tout marche bien jusqu’au moment où un développeur crée la classe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Tricycle</a:t>
            </a:r>
            <a:r>
              <a:rPr lang="fr-BE" sz="2400" dirty="0">
                <a:effectLst/>
                <a:latin typeface="+mn-lt"/>
                <a:cs typeface="Consolas" panose="020B0609020204030204" pitchFamily="49" charset="0"/>
              </a:rPr>
              <a:t>: dès qu’un tricycle se présente à la pompe à essence, nous avons un problème.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StationService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faireLePlein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(Transport transport) {  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(transport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Velo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</a:t>
            </a:r>
            <a:r>
              <a:rPr lang="fr-BE" sz="20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ne pas faire le plein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 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fr-BE" sz="2000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faire le plein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  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fr-BE" sz="2400" dirty="0">
                <a:effectLst/>
                <a:latin typeface="+mn-lt"/>
                <a:cs typeface="Consolas" panose="020B0609020204030204" pitchFamily="49" charset="0"/>
              </a:rPr>
              <a:t>Le souci de cette classe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StationService</a:t>
            </a:r>
            <a:r>
              <a:rPr lang="fr-BE" sz="2400" dirty="0">
                <a:effectLst/>
                <a:latin typeface="+mn-lt"/>
                <a:cs typeface="Consolas" panose="020B0609020204030204" pitchFamily="49" charset="0"/>
              </a:rPr>
              <a:t> est qu’il faut potentiellement  la modifier chaque fois un nouveau transport est </a:t>
            </a:r>
            <a:r>
              <a:rPr lang="fr-BE" sz="2400" dirty="0">
                <a:latin typeface="+mn-lt"/>
                <a:cs typeface="Consolas" panose="020B0609020204030204" pitchFamily="49" charset="0"/>
              </a:rPr>
              <a:t>créé…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A2A9F9-67BF-C1A8-4487-042147158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92858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DD1F6-CA27-9ED3-0A38-D3A8297F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Interface…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6D5CEB-E503-76B8-5937-3C5A0B6AA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114"/>
            <a:ext cx="10515600" cy="4663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2000" dirty="0">
                <a:latin typeface="+mn-lt"/>
                <a:cs typeface="Consolas" panose="020B0609020204030204" pitchFamily="49" charset="0"/>
              </a:rPr>
              <a:t>En écrivant une interface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Motorise</a:t>
            </a:r>
            <a:r>
              <a:rPr lang="fr-BE" sz="2000" dirty="0">
                <a:latin typeface="+mn-lt"/>
                <a:cs typeface="Consolas" panose="020B0609020204030204" pitchFamily="49" charset="0"/>
              </a:rPr>
              <a:t> que n’implémenteront que les transports à moteur, on pourra régler notre souci…</a:t>
            </a: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interface Motorise { public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faisLePlein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 } </a:t>
            </a:r>
          </a:p>
          <a:p>
            <a:pPr marL="0" indent="0">
              <a:buNone/>
            </a:pPr>
            <a:r>
              <a:rPr lang="fr-BE" sz="2000" dirty="0">
                <a:latin typeface="+mn-lt"/>
                <a:cs typeface="Consolas" panose="020B0609020204030204" pitchFamily="49" charset="0"/>
              </a:rPr>
              <a:t>… et on modifie nos transports à moteur…</a:t>
            </a:r>
            <a:r>
              <a:rPr lang="fr-BE" sz="1600" dirty="0">
                <a:latin typeface="+mn-lt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Voiture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Transport </a:t>
            </a:r>
            <a:r>
              <a:rPr lang="fr-BE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Motorise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bouge() { </a:t>
            </a:r>
            <a:r>
              <a:rPr lang="fr-BE" sz="1600" dirty="0">
                <a:solidFill>
                  <a:srgbClr val="71AD4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conduit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};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fr-BE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faisLePlein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{...};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Avion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Transport  </a:t>
            </a:r>
            <a:r>
              <a:rPr lang="fr-BE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Motorise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bouge() { </a:t>
            </a:r>
            <a:r>
              <a:rPr lang="fr-BE" sz="1600" dirty="0">
                <a:solidFill>
                  <a:srgbClr val="71AD4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vole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}; 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faisLePlein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{...};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Moto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Transport  </a:t>
            </a:r>
            <a:r>
              <a:rPr lang="fr-BE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Motorise 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bouge() { </a:t>
            </a:r>
            <a:r>
              <a:rPr lang="fr-BE" sz="1600" dirty="0" err="1">
                <a:solidFill>
                  <a:srgbClr val="71AD4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seFaufile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 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fr-BE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faisLePlein</a:t>
            </a:r>
            <a:r>
              <a:rPr lang="fr-BE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{...};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pPr marL="0" indent="0">
              <a:buNone/>
            </a:pP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Velo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Transport {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bouge() { </a:t>
            </a:r>
            <a:r>
              <a:rPr lang="fr-BE" sz="1600" dirty="0" err="1">
                <a:solidFill>
                  <a:srgbClr val="71AD4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pedale</a:t>
            </a: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}; </a:t>
            </a:r>
            <a:b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121750-0D2E-0192-D187-88B309BBF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22198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DD1F6-CA27-9ED3-0A38-D3A8297F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Et notre station service fonctionne!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6D5CEB-E503-76B8-5937-3C5A0B6AA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2400" dirty="0">
                <a:latin typeface="+mn-lt"/>
                <a:cs typeface="Consolas" panose="020B0609020204030204" pitchFamily="49" charset="0"/>
              </a:rPr>
              <a:t>La méthode faire le plein ne s’applique plus maintenant qu’aux classes qui implémentent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Motorise</a:t>
            </a:r>
            <a:r>
              <a:rPr lang="fr-BE" sz="2400" dirty="0">
                <a:latin typeface="+mn-lt"/>
                <a:cs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endParaRPr lang="fr-BE" sz="2400" dirty="0">
              <a:latin typeface="+mn-lt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StationService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faireLePlein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(Transport transport) {  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(transport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Motorise) 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transport.faisLePlein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   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fr-BE" sz="2000" dirty="0">
                <a:latin typeface="+mn-lt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fr-BE" sz="2400" dirty="0">
                <a:latin typeface="+mn-lt"/>
                <a:cs typeface="Consolas" panose="020B0609020204030204" pitchFamily="49" charset="0"/>
              </a:rPr>
              <a:t>Le fait d’utiliser une interface permet de modéliser un comportement transversal et de supprimer la dépendance qui existait entre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Transport</a:t>
            </a:r>
            <a:r>
              <a:rPr lang="fr-BE" sz="2400" dirty="0">
                <a:latin typeface="+mn-lt"/>
                <a:cs typeface="Consolas" panose="020B0609020204030204" pitchFamily="49" charset="0"/>
              </a:rPr>
              <a:t> et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StationService</a:t>
            </a:r>
            <a:r>
              <a:rPr lang="fr-BE" sz="2400" dirty="0">
                <a:latin typeface="+mn-lt"/>
                <a:cs typeface="Consolas" panose="020B0609020204030204" pitchFamily="49" charset="0"/>
              </a:rPr>
              <a:t>.</a:t>
            </a:r>
            <a:endParaRPr lang="fr-BE" sz="2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E43841-51B5-99A2-201B-B59B5748A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40860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F2474-6042-C2BC-F7D0-68AE26694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663CCBBE-5CD1-97BB-706D-2B502F62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interfaces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627EF3B-7BED-3D9C-7EE2-855C6DAF5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Intro</a:t>
            </a:r>
          </a:p>
          <a:p>
            <a:pPr lvl="1"/>
            <a:r>
              <a:rPr lang="fr-FR" dirty="0"/>
              <a:t>Exercice 17 et 18</a:t>
            </a:r>
          </a:p>
          <a:p>
            <a:r>
              <a:rPr lang="fr-FR" dirty="0"/>
              <a:t>Interfaces multiples: Shape Mesurable, Translatable,…</a:t>
            </a:r>
          </a:p>
          <a:p>
            <a:pPr lvl="1"/>
            <a:r>
              <a:rPr lang="fr-FR" dirty="0"/>
              <a:t>Exercice 19</a:t>
            </a:r>
          </a:p>
          <a:p>
            <a:r>
              <a:rPr lang="fr-FR" dirty="0"/>
              <a:t>Interfaces particulières</a:t>
            </a:r>
          </a:p>
          <a:p>
            <a:pPr lvl="1"/>
            <a:r>
              <a:rPr lang="fr-FR" dirty="0"/>
              <a:t>Interfaces de marquage</a:t>
            </a:r>
          </a:p>
          <a:p>
            <a:pPr lvl="1"/>
            <a:r>
              <a:rPr lang="fr-FR" dirty="0"/>
              <a:t>Interfaces fonctionnelles</a:t>
            </a:r>
          </a:p>
          <a:p>
            <a:r>
              <a:rPr lang="fr-FR" dirty="0"/>
              <a:t>Utilité des interfaces: découplage</a:t>
            </a:r>
          </a:p>
          <a:p>
            <a:r>
              <a:rPr lang="fr-FR" dirty="0"/>
              <a:t>Cas concret:  Transport et </a:t>
            </a:r>
            <a:r>
              <a:rPr lang="fr-FR" dirty="0" err="1"/>
              <a:t>StationService</a:t>
            </a:r>
            <a:endParaRPr lang="fr-FR" dirty="0"/>
          </a:p>
          <a:p>
            <a:r>
              <a:rPr lang="fr-FR" b="1" dirty="0">
                <a:solidFill>
                  <a:schemeClr val="accent4"/>
                </a:solidFill>
              </a:rPr>
              <a:t>Deuxième cas concret: le Design Pattern Observer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B4E9F53-CCBD-3A4F-525D-27F476E10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8745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2A50D-0C25-23D6-303A-02C2EE9B8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68E87C-1495-49A3-D510-B2B8AE64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Design Patterns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E5FCE6-531C-1892-6486-ED8E65062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sz="2400" dirty="0">
                <a:latin typeface="+mn-lt"/>
                <a:cs typeface="Consolas" panose="020B0609020204030204" pitchFamily="49" charset="0"/>
              </a:rPr>
              <a:t>Un </a:t>
            </a:r>
            <a:r>
              <a:rPr lang="fr-BE" sz="2400" dirty="0">
                <a:solidFill>
                  <a:schemeClr val="accent4"/>
                </a:solidFill>
                <a:latin typeface="+mn-lt"/>
                <a:cs typeface="Consolas" panose="020B0609020204030204" pitchFamily="49" charset="0"/>
              </a:rPr>
              <a:t>Design Pattern </a:t>
            </a:r>
            <a:r>
              <a:rPr lang="fr-BE" sz="2400" dirty="0">
                <a:latin typeface="+mn-lt"/>
                <a:cs typeface="Consolas" panose="020B0609020204030204" pitchFamily="49" charset="0"/>
              </a:rPr>
              <a:t>(Patron de Conception) est une façon standard de résoudre un problème de conception logiciel récurrent.</a:t>
            </a:r>
          </a:p>
          <a:p>
            <a:pPr marL="0" indent="0">
              <a:buNone/>
            </a:pPr>
            <a:r>
              <a:rPr lang="fr-FR" sz="2400" dirty="0"/>
              <a:t>Les design patterns présentent une structure de classes/d’interfaces permettant de régler un problème de conception.</a:t>
            </a:r>
            <a:endParaRPr lang="fr-BE" sz="2400" dirty="0">
              <a:latin typeface="+mn-lt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400" dirty="0">
                <a:latin typeface="+mn-lt"/>
                <a:cs typeface="Consolas" panose="020B0609020204030204" pitchFamily="49" charset="0"/>
              </a:rPr>
              <a:t>Si vous avez un problème pour organiser votre code, d’autres personnes y ont surement déjà pensé avant vous. Les design patterns sont des solutions clé en mains pour résoudre certains de vos problèmes.	</a:t>
            </a:r>
          </a:p>
          <a:p>
            <a:pPr marL="0" indent="0">
              <a:buNone/>
            </a:pPr>
            <a:endParaRPr lang="fr-BE" sz="2400" dirty="0">
              <a:latin typeface="+mn-lt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r-BE" sz="2400" dirty="0">
                <a:latin typeface="+mn-lt"/>
                <a:cs typeface="Consolas" panose="020B0609020204030204" pitchFamily="49" charset="0"/>
              </a:rPr>
              <a:t>Ces modèles sont habituellement classés en trois grandes catégories :</a:t>
            </a:r>
          </a:p>
          <a:p>
            <a:r>
              <a:rPr lang="fr-BE" sz="2400" dirty="0">
                <a:latin typeface="+mn-lt"/>
                <a:cs typeface="Consolas" panose="020B0609020204030204" pitchFamily="49" charset="0"/>
              </a:rPr>
              <a:t>les modèles de </a:t>
            </a:r>
            <a:r>
              <a:rPr lang="fr-BE" sz="2400" dirty="0">
                <a:solidFill>
                  <a:schemeClr val="accent4"/>
                </a:solidFill>
                <a:latin typeface="+mn-lt"/>
                <a:cs typeface="Consolas" panose="020B0609020204030204" pitchFamily="49" charset="0"/>
              </a:rPr>
              <a:t>création</a:t>
            </a:r>
            <a:r>
              <a:rPr lang="fr-BE" sz="2400" dirty="0">
                <a:latin typeface="+mn-lt"/>
                <a:cs typeface="Consolas" panose="020B0609020204030204" pitchFamily="49" charset="0"/>
              </a:rPr>
              <a:t> (</a:t>
            </a:r>
            <a:r>
              <a:rPr lang="fr-BE" sz="2400" dirty="0" err="1">
                <a:latin typeface="+mn-lt"/>
                <a:cs typeface="Consolas" panose="020B0609020204030204" pitchFamily="49" charset="0"/>
              </a:rPr>
              <a:t>creational</a:t>
            </a:r>
            <a:r>
              <a:rPr lang="fr-BE" sz="2400" dirty="0">
                <a:latin typeface="+mn-lt"/>
                <a:cs typeface="Consolas" panose="020B0609020204030204" pitchFamily="49" charset="0"/>
              </a:rPr>
              <a:t> patterns)</a:t>
            </a:r>
          </a:p>
          <a:p>
            <a:r>
              <a:rPr lang="fr-BE" sz="2400" dirty="0">
                <a:latin typeface="+mn-lt"/>
                <a:cs typeface="Consolas" panose="020B0609020204030204" pitchFamily="49" charset="0"/>
              </a:rPr>
              <a:t>les modèles de </a:t>
            </a:r>
            <a:r>
              <a:rPr lang="fr-BE" sz="2400" dirty="0">
                <a:solidFill>
                  <a:schemeClr val="accent4"/>
                </a:solidFill>
                <a:latin typeface="+mn-lt"/>
                <a:cs typeface="Consolas" panose="020B0609020204030204" pitchFamily="49" charset="0"/>
              </a:rPr>
              <a:t>structuration</a:t>
            </a:r>
            <a:r>
              <a:rPr lang="fr-BE" sz="2400" dirty="0">
                <a:latin typeface="+mn-lt"/>
                <a:cs typeface="Consolas" panose="020B0609020204030204" pitchFamily="49" charset="0"/>
              </a:rPr>
              <a:t> (structural patterns)</a:t>
            </a:r>
          </a:p>
          <a:p>
            <a:r>
              <a:rPr lang="fr-BE" sz="2400" dirty="0">
                <a:latin typeface="+mn-lt"/>
                <a:cs typeface="Consolas" panose="020B0609020204030204" pitchFamily="49" charset="0"/>
              </a:rPr>
              <a:t>les modèles de </a:t>
            </a:r>
            <a:r>
              <a:rPr lang="fr-BE" sz="2400" dirty="0">
                <a:solidFill>
                  <a:schemeClr val="accent4"/>
                </a:solidFill>
                <a:latin typeface="+mn-lt"/>
                <a:cs typeface="Consolas" panose="020B0609020204030204" pitchFamily="49" charset="0"/>
              </a:rPr>
              <a:t>comportement</a:t>
            </a:r>
            <a:r>
              <a:rPr lang="fr-BE" sz="2400" dirty="0">
                <a:latin typeface="+mn-lt"/>
                <a:cs typeface="Consolas" panose="020B0609020204030204" pitchFamily="49" charset="0"/>
              </a:rPr>
              <a:t> (</a:t>
            </a:r>
            <a:r>
              <a:rPr lang="fr-BE" sz="2400" dirty="0" err="1">
                <a:latin typeface="+mn-lt"/>
                <a:cs typeface="Consolas" panose="020B0609020204030204" pitchFamily="49" charset="0"/>
              </a:rPr>
              <a:t>behavioral</a:t>
            </a:r>
            <a:r>
              <a:rPr lang="fr-BE" sz="2400" dirty="0">
                <a:latin typeface="+mn-lt"/>
                <a:cs typeface="Consolas" panose="020B0609020204030204" pitchFamily="49" charset="0"/>
              </a:rPr>
              <a:t> patterns)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CEB53EB-8BF7-A292-7DF8-EC7C429A3B46}"/>
              </a:ext>
            </a:extLst>
          </p:cNvPr>
          <p:cNvSpPr txBox="1"/>
          <p:nvPr/>
        </p:nvSpPr>
        <p:spPr>
          <a:xfrm>
            <a:off x="7710311" y="6123541"/>
            <a:ext cx="4481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2"/>
              </a:rPr>
              <a:t>https://</a:t>
            </a:r>
            <a:r>
              <a:rPr lang="fr-FR" dirty="0" err="1">
                <a:hlinkClick r:id="rId2"/>
              </a:rPr>
              <a:t>refactoring.guru</a:t>
            </a:r>
            <a:r>
              <a:rPr lang="fr-FR" dirty="0">
                <a:hlinkClick r:id="rId2"/>
              </a:rPr>
              <a:t>/design-patterns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CCB967-F881-0F7C-2DF4-CCF888AA8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22289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8E3EE9-7D6B-07C3-933B-DFA46CC06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748058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Le design Pattern </a:t>
            </a:r>
            <a:r>
              <a:rPr lang="fr-FR" dirty="0">
                <a:solidFill>
                  <a:schemeClr val="accent4"/>
                </a:solidFill>
              </a:rPr>
              <a:t>Observer</a:t>
            </a:r>
            <a:r>
              <a:rPr lang="fr-FR" dirty="0"/>
              <a:t> – la problématique</a:t>
            </a:r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DA2098-1E86-3D4A-B00C-E5081B3A4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Nous allons maintenant aborder le design pattern Observer, un pattern de comportement.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Imaginez deux types d’objets: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fr-FR" sz="2400" dirty="0"/>
              <a:t> et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Fournisseur</a:t>
            </a:r>
            <a:r>
              <a:rPr lang="fr-FR" sz="2400" dirty="0"/>
              <a:t>. </a:t>
            </a:r>
          </a:p>
          <a:p>
            <a:pPr marL="0" indent="0">
              <a:buNone/>
            </a:pPr>
            <a:r>
              <a:rPr lang="fr-FR" sz="2400" dirty="0"/>
              <a:t>Le client veut savoir quand un nouveau produit sera disponible. </a:t>
            </a:r>
          </a:p>
          <a:p>
            <a:pPr marL="0" indent="0">
              <a:buNone/>
            </a:pPr>
            <a:r>
              <a:rPr lang="fr-FR" sz="2400" dirty="0"/>
              <a:t>Il y a deux moyens (inefficaces) de satisfaire cette demande: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 dirty="0"/>
              <a:t>Le Client demande régulièrement au Fournisseur si le produit est disponible.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400" dirty="0"/>
              <a:t>Le Fournisseur envoie un message à tous les Clients les informant de chaque nouveau produit disponible.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D9C201-A533-3419-7494-BA7118B4E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5588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40C3A-190C-04E6-8245-73702FB2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F7F395-79C0-2E86-18F5-D091BB04B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 design Pattern </a:t>
            </a:r>
            <a:r>
              <a:rPr lang="fr-FR" dirty="0">
                <a:solidFill>
                  <a:schemeClr val="accent4"/>
                </a:solidFill>
              </a:rPr>
              <a:t>Observer</a:t>
            </a:r>
            <a:r>
              <a:rPr lang="fr-FR" dirty="0"/>
              <a:t> – 1</a:t>
            </a:r>
            <a:r>
              <a:rPr lang="fr-FR" baseline="30000" dirty="0"/>
              <a:t>ère</a:t>
            </a:r>
            <a:r>
              <a:rPr lang="fr-FR" dirty="0"/>
              <a:t> solution</a:t>
            </a:r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62B99-301E-49FC-905A-632B85B6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9478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sz="2400" b="1" dirty="0"/>
              <a:t>Problème</a:t>
            </a:r>
            <a:r>
              <a:rPr lang="fr-FR" sz="2400" dirty="0"/>
              <a:t>: </a:t>
            </a:r>
          </a:p>
          <a:p>
            <a:pPr marL="0" indent="0">
              <a:buNone/>
            </a:pPr>
            <a:r>
              <a:rPr lang="fr-FR" sz="2400" dirty="0"/>
              <a:t>Comment faire pour que les Clients ne soient informés que quand il y a un nouveau produit…?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b="1" dirty="0"/>
              <a:t>Solution</a:t>
            </a:r>
            <a:r>
              <a:rPr lang="fr-FR" sz="2400" dirty="0"/>
              <a:t>: </a:t>
            </a:r>
          </a:p>
          <a:p>
            <a:pPr marL="0" indent="0">
              <a:buNone/>
            </a:pPr>
            <a:r>
              <a:rPr lang="fr-FR" sz="2400" dirty="0"/>
              <a:t>Le Fournisseur propose à ses Clients de s’enregistrer via deux méthodes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addSubscriber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(Client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subscriber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sz="2400" dirty="0"/>
              <a:t> et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removeSubscriber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(Client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subscriber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r>
              <a:rPr lang="fr-FR" sz="2400" dirty="0"/>
              <a:t>Quand un nouveau produit arrive, il prévient tous les clients enregistrés via une méthode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update()</a:t>
            </a:r>
            <a:r>
              <a:rPr lang="fr-FR" sz="2400" dirty="0"/>
              <a:t>…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Voir </a:t>
            </a:r>
            <a:r>
              <a:rPr lang="fr-BE" sz="22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be.ephec.java.cours03.observer.step1</a:t>
            </a:r>
            <a:endParaRPr lang="fr-FR" sz="22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E7635F-B818-0E45-FCAB-124CC6DFB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9032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5DA21-22BE-693E-7F91-84415F406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1388C4-5CE3-41F1-DCF0-E4B19AAC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design Pattern </a:t>
            </a:r>
            <a:r>
              <a:rPr lang="fr-FR" dirty="0">
                <a:solidFill>
                  <a:schemeClr val="accent4"/>
                </a:solidFill>
              </a:rPr>
              <a:t>Observer</a:t>
            </a:r>
            <a:r>
              <a:rPr lang="fr-FR" dirty="0"/>
              <a:t> – le pattern </a:t>
            </a:r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658D20-DC8E-75F3-AE2B-085D4E8D3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400" b="1" dirty="0"/>
              <a:t>Deuxième problème:</a:t>
            </a:r>
            <a:endParaRPr lang="fr-FR" sz="2400" dirty="0"/>
          </a:p>
          <a:p>
            <a:pPr marL="0" indent="0">
              <a:buNone/>
            </a:pPr>
            <a:r>
              <a:rPr lang="fr-FR" sz="2400" dirty="0"/>
              <a:t>Un Magasin est aussi intéressé par l’info. </a:t>
            </a:r>
          </a:p>
          <a:p>
            <a:pPr marL="0" indent="0">
              <a:buNone/>
            </a:pPr>
            <a:r>
              <a:rPr lang="fr-FR" sz="2400" dirty="0"/>
              <a:t>Le souci dans notre implémentation actuelle est que les méthodes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addSubscriber</a:t>
            </a:r>
            <a:r>
              <a:rPr lang="fr-FR" sz="2400" dirty="0"/>
              <a:t> et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removeSubscriber</a:t>
            </a:r>
            <a:r>
              <a:rPr lang="fr-FR" sz="2400" dirty="0"/>
              <a:t> prennent un client en paramètre, pas un Magasin.</a:t>
            </a:r>
          </a:p>
          <a:p>
            <a:pPr marL="0" indent="0">
              <a:buNone/>
            </a:pPr>
            <a:r>
              <a:rPr lang="fr-FR" sz="2400" dirty="0"/>
              <a:t>Dans une application, plusieurs classes peuvent être intéressées par l’information: Client, Magasin, Prospect,…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b="1" dirty="0"/>
              <a:t>Solution:</a:t>
            </a:r>
            <a:endParaRPr lang="fr-FR" sz="2400" dirty="0"/>
          </a:p>
          <a:p>
            <a:pPr marL="0" indent="0">
              <a:buNone/>
            </a:pPr>
            <a:r>
              <a:rPr lang="fr-FR" sz="2400" dirty="0"/>
              <a:t>On définit donc une interface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Subscriber</a:t>
            </a:r>
            <a:r>
              <a:rPr lang="fr-FR" sz="2400" dirty="0"/>
              <a:t> présentant la méthode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update()</a:t>
            </a:r>
            <a:r>
              <a:rPr lang="fr-FR" sz="2400" dirty="0"/>
              <a:t>, et les classes qui désirent êtres tenues au courant implémentent cette interface. </a:t>
            </a:r>
          </a:p>
          <a:p>
            <a:pPr marL="0" indent="0">
              <a:buNone/>
            </a:pPr>
            <a:r>
              <a:rPr lang="fr-FR" sz="2400" dirty="0"/>
              <a:t>Les méthodes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addSubscriber</a:t>
            </a:r>
            <a:r>
              <a:rPr lang="fr-FR" sz="2400" dirty="0"/>
              <a:t> et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removeSubscriber</a:t>
            </a:r>
            <a:r>
              <a:rPr lang="fr-FR" sz="2400" dirty="0"/>
              <a:t> prennent maintenant un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Subscriber</a:t>
            </a:r>
            <a:r>
              <a:rPr lang="fr-FR" sz="2400" dirty="0"/>
              <a:t> en paramètre. 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F28EBF-12E4-FF50-25A1-99BA4CA09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3472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BC2BF5-4C63-E04A-4AED-DC4D36DD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design Pattern </a:t>
            </a:r>
            <a:r>
              <a:rPr lang="fr-FR" dirty="0">
                <a:solidFill>
                  <a:schemeClr val="accent4"/>
                </a:solidFill>
              </a:rPr>
              <a:t>Observer</a:t>
            </a:r>
            <a:endParaRPr lang="fr-FR" dirty="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B841A6D-CE3E-27BA-868E-8834A2A64F30}"/>
              </a:ext>
            </a:extLst>
          </p:cNvPr>
          <p:cNvGrpSpPr/>
          <p:nvPr/>
        </p:nvGrpSpPr>
        <p:grpSpPr>
          <a:xfrm>
            <a:off x="1886673" y="1852692"/>
            <a:ext cx="8411505" cy="4351338"/>
            <a:chOff x="1886673" y="1852692"/>
            <a:chExt cx="8411505" cy="4351338"/>
          </a:xfrm>
        </p:grpSpPr>
        <p:pic>
          <p:nvPicPr>
            <p:cNvPr id="9" name="Espace réservé du contenu 3">
              <a:extLst>
                <a:ext uri="{FF2B5EF4-FFF2-40B4-BE49-F238E27FC236}">
                  <a16:creationId xmlns:a16="http://schemas.microsoft.com/office/drawing/2014/main" id="{1E9DFCB3-48CF-E7A7-F47D-F08671CBA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821" y="1852692"/>
              <a:ext cx="8404357" cy="435133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6D527B-491B-E0EB-33E5-1157F5DDA366}"/>
                </a:ext>
              </a:extLst>
            </p:cNvPr>
            <p:cNvSpPr/>
            <p:nvPr/>
          </p:nvSpPr>
          <p:spPr>
            <a:xfrm>
              <a:off x="1886673" y="4653023"/>
              <a:ext cx="2395960" cy="15510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CBBD08F-3F71-A825-B312-37047EC4C9FC}"/>
                </a:ext>
              </a:extLst>
            </p:cNvPr>
            <p:cNvSpPr/>
            <p:nvPr/>
          </p:nvSpPr>
          <p:spPr>
            <a:xfrm>
              <a:off x="6805913" y="5717894"/>
              <a:ext cx="2395960" cy="486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7EDD5AF9-C10B-BF51-B0FF-3677D317B8D7}"/>
              </a:ext>
            </a:extLst>
          </p:cNvPr>
          <p:cNvSpPr txBox="1"/>
          <p:nvPr/>
        </p:nvSpPr>
        <p:spPr>
          <a:xfrm>
            <a:off x="5654232" y="6292818"/>
            <a:ext cx="6099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000" dirty="0"/>
              <a:t>Voir </a:t>
            </a:r>
            <a:r>
              <a:rPr lang="fr-BE" sz="18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be.ephec.java.cours03.observer.step2</a:t>
            </a:r>
            <a:endParaRPr lang="fr-FR" sz="18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F5D48BE-2611-97DB-1062-D85F0B0CB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8274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8881-8B82-134B-EF3E-7AA7A54C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C7AF13-84D5-8A6D-B645-D4F59A97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20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B100A-897A-7190-BA9C-A67C52821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709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400" dirty="0"/>
              <a:t>Reprenez les classes de </a:t>
            </a:r>
            <a:r>
              <a:rPr lang="fr-BE" sz="2200" dirty="0">
                <a:solidFill>
                  <a:schemeClr val="accent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be.ephec.java.cours03.observer.step2</a:t>
            </a:r>
            <a:r>
              <a:rPr lang="fr-FR" sz="2400" dirty="0"/>
              <a:t> et ajoutez une nouvelle classe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Prospect</a:t>
            </a:r>
            <a:r>
              <a:rPr lang="fr-FR" sz="2400" dirty="0"/>
              <a:t> qui désire aussi être mise au courant des arrivées de produits.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Modifiez également le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Programme</a:t>
            </a:r>
            <a:r>
              <a:rPr lang="fr-FR" sz="2400" dirty="0"/>
              <a:t> pour y inclure ce troisième acteur…</a:t>
            </a:r>
          </a:p>
          <a:p>
            <a:pPr marL="0" indent="0">
              <a:buNone/>
            </a:pP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26" name="Picture 2" descr="blog-nutrition-outlet">
            <a:extLst>
              <a:ext uri="{FF2B5EF4-FFF2-40B4-BE49-F238E27FC236}">
                <a16:creationId xmlns:a16="http://schemas.microsoft.com/office/drawing/2014/main" id="{B776FC04-4359-535B-4ED3-20A62F4D4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9E198D-09FF-E199-18A1-BD048CB0E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391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9D05C-0F61-9889-22C0-18830F728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965E81-D013-9980-3F00-C0C1AB2D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G.10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750302-458E-243E-533D-21B1A2ED4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Créez maintenant une classe abstraite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Jeu</a:t>
            </a:r>
            <a:r>
              <a:rPr lang="fr-BE" sz="2400" dirty="0"/>
              <a:t> qui :</a:t>
            </a:r>
          </a:p>
          <a:p>
            <a:r>
              <a:rPr lang="fr-BE" sz="2400" dirty="0"/>
              <a:t>possède un champ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protected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Partie partie</a:t>
            </a:r>
            <a:r>
              <a:rPr lang="fr-BE" sz="2400" dirty="0"/>
              <a:t>,</a:t>
            </a:r>
          </a:p>
          <a:p>
            <a:r>
              <a:rPr lang="fr-BE" sz="2400" dirty="0"/>
              <a:t>a un constructeur qui reçoit une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Partie</a:t>
            </a:r>
            <a:r>
              <a:rPr lang="fr-BE" sz="2400" dirty="0"/>
              <a:t>,</a:t>
            </a:r>
          </a:p>
          <a:p>
            <a:r>
              <a:rPr lang="fr-BE" sz="2400" dirty="0"/>
              <a:t>déclare une méthode abstraite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jouer()</a:t>
            </a:r>
            <a:r>
              <a:rPr lang="fr-BE" sz="2400" dirty="0"/>
              <a:t>. Celle-ci sera implémentée de manière différente dans les différents jeux…</a:t>
            </a:r>
            <a:endParaRPr lang="fr-BE" sz="20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962C70-0BDB-753F-805F-37EB61B27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63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D1C46CEC-0C6B-9EDF-B059-33D0CC863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8184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8168-35E7-FE0A-2E54-0AC0EFFE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7526F2-563A-596D-F6A0-F902392F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G.11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CA8B99-DCBD-7405-214A-B0E723C3B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Créez une interface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ObservateurPartie</a:t>
            </a:r>
            <a:r>
              <a:rPr lang="fr-BE" sz="2400" dirty="0"/>
              <a:t> avec trois méthodes :</a:t>
            </a:r>
          </a:p>
          <a:p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onDebut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(Partie partie)</a:t>
            </a:r>
            <a:r>
              <a:rPr lang="fr-BE" sz="2400" dirty="0"/>
              <a:t>,</a:t>
            </a:r>
          </a:p>
          <a:p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onCoup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(Partie partie)</a:t>
            </a:r>
            <a:r>
              <a:rPr lang="fr-BE" sz="2400" dirty="0"/>
              <a:t>,</a:t>
            </a:r>
          </a:p>
          <a:p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onFin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(Partie partie)</a:t>
            </a:r>
            <a:r>
              <a:rPr lang="fr-BE" sz="2400" dirty="0"/>
              <a:t>.</a:t>
            </a:r>
          </a:p>
          <a:p>
            <a:pPr marL="0" indent="0">
              <a:buNone/>
            </a:pPr>
            <a:r>
              <a:rPr lang="fr-BE" sz="2400" dirty="0"/>
              <a:t>L’idée est de pouvoir “observer” le déroulement d’une partie.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EE9739-7A2D-7B84-352D-00C1A85E3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64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E71F1195-77A9-7E3F-290E-0E3EC60E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3719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C4E2-0B1F-03DA-B75D-B69FF78D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846D4D-777B-C6FE-3500-7D320A7C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G.12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DE8385-5EE8-AD6B-6CCB-9717A9D2B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Nous allons maintenant modifier la classe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Partie</a:t>
            </a:r>
            <a:r>
              <a:rPr lang="fr-BE" sz="2400" dirty="0"/>
              <a:t> pour qu’elle puisse </a:t>
            </a:r>
            <a:br>
              <a:rPr lang="fr-BE" sz="2400" dirty="0"/>
            </a:br>
            <a:r>
              <a:rPr lang="fr-BE" sz="2400" dirty="0"/>
              <a:t>enregistrer des 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Observateur</a:t>
            </a:r>
            <a:r>
              <a:rPr lang="fr-BE" sz="2400" dirty="0"/>
              <a:t>.</a:t>
            </a:r>
          </a:p>
          <a:p>
            <a:pPr marL="0" indent="0">
              <a:buNone/>
            </a:pPr>
            <a:r>
              <a:rPr lang="fr-BE" sz="2400" dirty="0"/>
              <a:t>Ajoutez-lui :</a:t>
            </a:r>
          </a:p>
          <a:p>
            <a:r>
              <a:rPr lang="fr-BE" sz="2400" dirty="0"/>
              <a:t>une liste d’observateurs </a:t>
            </a:r>
          </a:p>
          <a:p>
            <a:pPr marL="0" indent="0" algn="ctr">
              <a:buNone/>
            </a:pPr>
            <a:r>
              <a:rPr lang="fr-BE" sz="20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List&lt;Observateur&gt; observateurs = new </a:t>
            </a:r>
            <a:r>
              <a:rPr lang="fr-BE" sz="20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fr-BE" sz="20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&lt;&gt;();</a:t>
            </a:r>
            <a:endParaRPr lang="fr-BE" sz="2400" dirty="0"/>
          </a:p>
          <a:p>
            <a:r>
              <a:rPr lang="fr-BE" sz="2400" dirty="0"/>
              <a:t>des méthodes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ajouterObservateur</a:t>
            </a:r>
            <a:r>
              <a:rPr lang="fr-BE" sz="2400" dirty="0"/>
              <a:t>,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retirerObservateur</a:t>
            </a:r>
            <a:r>
              <a:rPr lang="fr-BE" sz="2400" dirty="0"/>
              <a:t> qui appelleront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observateurs.add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(observateur)</a:t>
            </a:r>
            <a:r>
              <a:rPr lang="fr-BE" sz="2400" dirty="0"/>
              <a:t> et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observateurs.remove</a:t>
            </a:r>
            <a:r>
              <a:rPr lang="fr-BE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(observateur)</a:t>
            </a:r>
            <a:r>
              <a:rPr lang="fr-BE" sz="2400" dirty="0"/>
              <a:t>.</a:t>
            </a:r>
          </a:p>
          <a:p>
            <a:r>
              <a:rPr lang="fr-BE" sz="2400" dirty="0"/>
              <a:t>des méthodes privées pour notifier les observateurs (</a:t>
            </a:r>
            <a:r>
              <a:rPr lang="fr-BE" sz="20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notifierDebut</a:t>
            </a:r>
            <a:r>
              <a:rPr lang="fr-BE" sz="2400" dirty="0"/>
              <a:t>, </a:t>
            </a:r>
            <a:r>
              <a:rPr lang="fr-BE" sz="20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notifierCoup</a:t>
            </a:r>
            <a:r>
              <a:rPr lang="fr-BE" sz="2400" dirty="0"/>
              <a:t>, </a:t>
            </a:r>
            <a:r>
              <a:rPr lang="fr-BE" sz="20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notifierFin</a:t>
            </a:r>
            <a:r>
              <a:rPr lang="fr-BE" sz="2400" dirty="0"/>
              <a:t>). Utilisez la boucle </a:t>
            </a:r>
            <a:r>
              <a:rPr lang="fr-BE" sz="20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foreach</a:t>
            </a:r>
            <a:r>
              <a:rPr lang="fr-BE" sz="2400" dirty="0"/>
              <a:t> pour parcourir la liste </a:t>
            </a:r>
            <a:r>
              <a:rPr lang="fr-BE" sz="200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observateurs</a:t>
            </a:r>
            <a:r>
              <a:rPr lang="fr-BE" sz="2400" dirty="0"/>
              <a:t>.</a:t>
            </a:r>
          </a:p>
          <a:p>
            <a:r>
              <a:rPr lang="fr-BE" sz="2400" dirty="0"/>
              <a:t>appelez </a:t>
            </a:r>
            <a:r>
              <a:rPr lang="fr-BE" sz="20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notifierDebut</a:t>
            </a:r>
            <a:r>
              <a:rPr lang="fr-BE" sz="2400" dirty="0"/>
              <a:t> dans le constructeur et </a:t>
            </a:r>
            <a:r>
              <a:rPr lang="fr-BE" sz="2000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notifierFin</a:t>
            </a:r>
            <a:r>
              <a:rPr lang="fr-BE" sz="2400" dirty="0"/>
              <a:t> dans terminer.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CCFD7B3-0763-4603-CCB0-B423F5E95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65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CDC4D91E-7703-E0D5-9C6F-9C350580C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D9CF9B7-922C-FD07-61C3-E0E8814EB08F}"/>
              </a:ext>
            </a:extLst>
          </p:cNvPr>
          <p:cNvSpPr/>
          <p:nvPr/>
        </p:nvSpPr>
        <p:spPr>
          <a:xfrm rot="211171">
            <a:off x="8303172" y="2458167"/>
            <a:ext cx="3459387" cy="970833"/>
          </a:xfrm>
          <a:prstGeom prst="roundRect">
            <a:avLst>
              <a:gd name="adj" fmla="val 2099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… on verra les collections (</a:t>
            </a:r>
            <a:r>
              <a:rPr lang="en-GB" sz="2000" dirty="0" err="1"/>
              <a:t>dont</a:t>
            </a:r>
            <a:r>
              <a:rPr lang="en-GB" sz="2000" dirty="0"/>
              <a:t> </a:t>
            </a:r>
            <a:r>
              <a:rPr lang="en-GB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GB" sz="2000" dirty="0"/>
              <a:t> et 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GB" sz="2000" dirty="0"/>
              <a:t>) </a:t>
            </a:r>
            <a:r>
              <a:rPr lang="en-GB" sz="2000" dirty="0" err="1"/>
              <a:t>en</a:t>
            </a:r>
            <a:r>
              <a:rPr lang="en-GB" sz="2000" dirty="0"/>
              <a:t> details plus tard.</a:t>
            </a:r>
          </a:p>
        </p:txBody>
      </p:sp>
    </p:spTree>
    <p:extLst>
      <p:ext uri="{BB962C8B-B14F-4D97-AF65-F5344CB8AC3E}">
        <p14:creationId xmlns:p14="http://schemas.microsoft.com/office/powerpoint/2010/main" val="373683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FA745-78E5-8EE6-B535-65FC5EE9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4E7D7-9E54-0AE2-685C-BAFA351C3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G.13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5BDFCE-9006-03D6-1942-2CE5FD4DC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2400" dirty="0"/>
              <a:t>Créez une classe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JournalParties</a:t>
            </a:r>
            <a:r>
              <a:rPr lang="fr-BE" sz="2400" dirty="0"/>
              <a:t> qui implémente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ObservateurPartie</a:t>
            </a:r>
            <a:r>
              <a:rPr lang="fr-BE" sz="2400" dirty="0"/>
              <a:t> </a:t>
            </a:r>
            <a:br>
              <a:rPr lang="fr-BE" sz="2400" dirty="0"/>
            </a:br>
            <a:r>
              <a:rPr lang="fr-BE" sz="2400" dirty="0"/>
              <a:t>et qui affiche sur la console </a:t>
            </a:r>
          </a:p>
          <a:p>
            <a:pPr>
              <a:buFontTx/>
              <a:buChar char="-"/>
            </a:pPr>
            <a:r>
              <a:rPr lang="fr-BE" sz="2400" dirty="0"/>
              <a:t>quand une partie commence, </a:t>
            </a:r>
          </a:p>
          <a:p>
            <a:pPr>
              <a:buFontTx/>
              <a:buChar char="-"/>
            </a:pPr>
            <a:r>
              <a:rPr lang="fr-BE" sz="2400" dirty="0"/>
              <a:t>quand un coup est joué (appel de </a:t>
            </a:r>
            <a:r>
              <a:rPr lang="fr-BE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notifierCoup</a:t>
            </a:r>
            <a:r>
              <a:rPr lang="fr-BE" sz="2400" dirty="0"/>
              <a:t> dans le jeu), </a:t>
            </a:r>
          </a:p>
          <a:p>
            <a:pPr>
              <a:buFontTx/>
              <a:buChar char="-"/>
            </a:pPr>
            <a:r>
              <a:rPr lang="fr-BE" sz="2400" dirty="0"/>
              <a:t>et quand elle se termine.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09E877-E0ED-B01B-C4E6-269E5BB67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66</a:t>
            </a:fld>
            <a:endParaRPr lang="fr-FR"/>
          </a:p>
        </p:txBody>
      </p:sp>
      <p:pic>
        <p:nvPicPr>
          <p:cNvPr id="6" name="Picture 2" descr="Game Hub - Apps on Google Play">
            <a:extLst>
              <a:ext uri="{FF2B5EF4-FFF2-40B4-BE49-F238E27FC236}">
                <a16:creationId xmlns:a16="http://schemas.microsoft.com/office/drawing/2014/main" id="{AC942CA4-1A16-7488-0785-3EA290E7E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5092">
            <a:off x="10019709" y="361023"/>
            <a:ext cx="1647536" cy="16475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42635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67357</TotalTime>
  <Words>5959</Words>
  <Application>Microsoft Macintosh PowerPoint</Application>
  <PresentationFormat>Grand écran</PresentationFormat>
  <Paragraphs>697</Paragraphs>
  <Slides>66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66</vt:i4>
      </vt:variant>
    </vt:vector>
  </HeadingPairs>
  <TitlesOfParts>
    <vt:vector size="74" baseType="lpstr">
      <vt:lpstr>Arial</vt:lpstr>
      <vt:lpstr>Calibri</vt:lpstr>
      <vt:lpstr>Consolas</vt:lpstr>
      <vt:lpstr>Corbel</vt:lpstr>
      <vt:lpstr>Google Sans</vt:lpstr>
      <vt:lpstr>Police système Courant</vt:lpstr>
      <vt:lpstr>Wingdings</vt:lpstr>
      <vt:lpstr>ThemeEphec2022</vt:lpstr>
      <vt:lpstr>JAVA 2</vt:lpstr>
      <vt:lpstr>Vu au dernier cours…</vt:lpstr>
      <vt:lpstr>Analyse de code par IntelliJ</vt:lpstr>
      <vt:lpstr>Présentation PowerPoint</vt:lpstr>
      <vt:lpstr>Exercice 5b</vt:lpstr>
      <vt:lpstr>Exercice 6</vt:lpstr>
      <vt:lpstr>Exercice 7</vt:lpstr>
      <vt:lpstr>Exercice 8</vt:lpstr>
      <vt:lpstr>Exercice 9</vt:lpstr>
      <vt:lpstr>Exercice 10</vt:lpstr>
      <vt:lpstr>Exercice 11</vt:lpstr>
      <vt:lpstr>Exercice 12</vt:lpstr>
      <vt:lpstr>Présentation PowerPoint</vt:lpstr>
      <vt:lpstr>Les classes abstraites</vt:lpstr>
      <vt:lpstr>Les classes abstraites</vt:lpstr>
      <vt:lpstr>Un exemple…</vt:lpstr>
      <vt:lpstr>Exercice 14</vt:lpstr>
      <vt:lpstr>Exercice 15</vt:lpstr>
      <vt:lpstr>Autre exemple: récupération d’info-comptes</vt:lpstr>
      <vt:lpstr>Récupération d’info-comptes</vt:lpstr>
      <vt:lpstr>La difficulté…</vt:lpstr>
      <vt:lpstr>Votre solution…</vt:lpstr>
      <vt:lpstr>Le rapport bancaire – récupération de données</vt:lpstr>
      <vt:lpstr>Le rapport bancaire – formatage de données</vt:lpstr>
      <vt:lpstr>Le rapport bancaire: classes concrètes</vt:lpstr>
      <vt:lpstr>Utilisation du rapport bancaire</vt:lpstr>
      <vt:lpstr>En pratique, ça donne…</vt:lpstr>
      <vt:lpstr>Exercice 16</vt:lpstr>
      <vt:lpstr>Présentation PowerPoint</vt:lpstr>
      <vt:lpstr>Les interfaces</vt:lpstr>
      <vt:lpstr>Les interfaces</vt:lpstr>
      <vt:lpstr>Les interfaces</vt:lpstr>
      <vt:lpstr>Les interfaces</vt:lpstr>
      <vt:lpstr>Une classe implémente une interface</vt:lpstr>
      <vt:lpstr>Exercice 17</vt:lpstr>
      <vt:lpstr>Exercice 18</vt:lpstr>
      <vt:lpstr>Les interfaces</vt:lpstr>
      <vt:lpstr>Interfaces</vt:lpstr>
      <vt:lpstr>Exercice 19</vt:lpstr>
      <vt:lpstr>Les interfaces</vt:lpstr>
      <vt:lpstr>Interfaces de marquage (tagging interface)</vt:lpstr>
      <vt:lpstr>Interface Fonctionnelle</vt:lpstr>
      <vt:lpstr>Interface Fonctionnelle</vt:lpstr>
      <vt:lpstr>Interface Fonctionnelle</vt:lpstr>
      <vt:lpstr>Quelques Interfaces Fonctionnelles</vt:lpstr>
      <vt:lpstr>Les interfaces</vt:lpstr>
      <vt:lpstr>Mais à quoi ça sert, les interfaces?</vt:lpstr>
      <vt:lpstr>Couplage faible: exemple de Non-découplage</vt:lpstr>
      <vt:lpstr>Couplage faible: découplage</vt:lpstr>
      <vt:lpstr>Les interfaces</vt:lpstr>
      <vt:lpstr>La force des interfaces…</vt:lpstr>
      <vt:lpstr>Classe abstraite Transport</vt:lpstr>
      <vt:lpstr>Problème…</vt:lpstr>
      <vt:lpstr>Interface…</vt:lpstr>
      <vt:lpstr>Et notre station service fonctionne!</vt:lpstr>
      <vt:lpstr>Les interfaces</vt:lpstr>
      <vt:lpstr>Les Design Patterns</vt:lpstr>
      <vt:lpstr>Le design Pattern Observer – la problématique</vt:lpstr>
      <vt:lpstr>Le design Pattern Observer – 1ère solution</vt:lpstr>
      <vt:lpstr>Le design Pattern Observer – le pattern </vt:lpstr>
      <vt:lpstr>Le design Pattern Observer</vt:lpstr>
      <vt:lpstr>Exercice 20</vt:lpstr>
      <vt:lpstr>Exercice G.10</vt:lpstr>
      <vt:lpstr>Exercice G.11</vt:lpstr>
      <vt:lpstr>Exercice G.12</vt:lpstr>
      <vt:lpstr>Exercice G.13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creator>FERRANT Frédéric</dc:creator>
  <cp:lastModifiedBy>FERRANT Frédéric</cp:lastModifiedBy>
  <cp:revision>48</cp:revision>
  <dcterms:created xsi:type="dcterms:W3CDTF">2023-01-04T13:50:20Z</dcterms:created>
  <dcterms:modified xsi:type="dcterms:W3CDTF">2026-02-17T18:29:03Z</dcterms:modified>
</cp:coreProperties>
</file>