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0"/>
  </p:notesMasterIdLst>
  <p:sldIdLst>
    <p:sldId id="256" r:id="rId2"/>
    <p:sldId id="679" r:id="rId3"/>
    <p:sldId id="738" r:id="rId4"/>
    <p:sldId id="750" r:id="rId5"/>
    <p:sldId id="776" r:id="rId6"/>
    <p:sldId id="778" r:id="rId7"/>
    <p:sldId id="779" r:id="rId8"/>
    <p:sldId id="780" r:id="rId9"/>
    <p:sldId id="781" r:id="rId10"/>
    <p:sldId id="783" r:id="rId11"/>
    <p:sldId id="789" r:id="rId12"/>
    <p:sldId id="790" r:id="rId13"/>
    <p:sldId id="791" r:id="rId14"/>
    <p:sldId id="793" r:id="rId15"/>
    <p:sldId id="792" r:id="rId16"/>
    <p:sldId id="794" r:id="rId17"/>
    <p:sldId id="795" r:id="rId18"/>
    <p:sldId id="796" r:id="rId19"/>
    <p:sldId id="797" r:id="rId20"/>
    <p:sldId id="747" r:id="rId21"/>
    <p:sldId id="745" r:id="rId22"/>
    <p:sldId id="680" r:id="rId23"/>
    <p:sldId id="681" r:id="rId24"/>
    <p:sldId id="682" r:id="rId25"/>
    <p:sldId id="696" r:id="rId26"/>
    <p:sldId id="683" r:id="rId27"/>
    <p:sldId id="684" r:id="rId28"/>
    <p:sldId id="599" r:id="rId29"/>
    <p:sldId id="686" r:id="rId30"/>
    <p:sldId id="687" r:id="rId31"/>
    <p:sldId id="688" r:id="rId32"/>
    <p:sldId id="619" r:id="rId33"/>
    <p:sldId id="620" r:id="rId34"/>
    <p:sldId id="621" r:id="rId35"/>
    <p:sldId id="748" r:id="rId36"/>
    <p:sldId id="622" r:id="rId37"/>
    <p:sldId id="623" r:id="rId38"/>
    <p:sldId id="697" r:id="rId39"/>
    <p:sldId id="689" r:id="rId40"/>
    <p:sldId id="749" r:id="rId41"/>
    <p:sldId id="690" r:id="rId42"/>
    <p:sldId id="691" r:id="rId43"/>
    <p:sldId id="692" r:id="rId44"/>
    <p:sldId id="685" r:id="rId45"/>
    <p:sldId id="651" r:id="rId46"/>
    <p:sldId id="652" r:id="rId47"/>
    <p:sldId id="746" r:id="rId48"/>
    <p:sldId id="648" r:id="rId49"/>
    <p:sldId id="694" r:id="rId50"/>
    <p:sldId id="693" r:id="rId51"/>
    <p:sldId id="631" r:id="rId52"/>
    <p:sldId id="634" r:id="rId53"/>
    <p:sldId id="632" r:id="rId54"/>
    <p:sldId id="633" r:id="rId55"/>
    <p:sldId id="637" r:id="rId56"/>
    <p:sldId id="636" r:id="rId57"/>
    <p:sldId id="635" r:id="rId58"/>
    <p:sldId id="650" r:id="rId59"/>
    <p:sldId id="698" r:id="rId60"/>
    <p:sldId id="639" r:id="rId61"/>
    <p:sldId id="699" r:id="rId62"/>
    <p:sldId id="641" r:id="rId63"/>
    <p:sldId id="644" r:id="rId64"/>
    <p:sldId id="645" r:id="rId65"/>
    <p:sldId id="646" r:id="rId66"/>
    <p:sldId id="700" r:id="rId67"/>
    <p:sldId id="643" r:id="rId68"/>
    <p:sldId id="647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9A02D4CA-36D1-0242-9570-74B9915D5B21}">
          <p14:sldIdLst>
            <p14:sldId id="256"/>
          </p14:sldIdLst>
        </p14:section>
        <p14:section name="Rappels" id="{34B0FE40-7DB0-A54C-9B77-F28A6EBC1807}">
          <p14:sldIdLst>
            <p14:sldId id="679"/>
          </p14:sldIdLst>
        </p14:section>
        <p14:section name="Exercices" id="{17F16D93-E78A-A44F-9E0C-E7C4560ECEB3}">
          <p14:sldIdLst>
            <p14:sldId id="738"/>
            <p14:sldId id="750"/>
            <p14:sldId id="776"/>
            <p14:sldId id="778"/>
            <p14:sldId id="779"/>
            <p14:sldId id="780"/>
            <p14:sldId id="781"/>
            <p14:sldId id="783"/>
            <p14:sldId id="789"/>
            <p14:sldId id="790"/>
            <p14:sldId id="791"/>
            <p14:sldId id="793"/>
            <p14:sldId id="792"/>
            <p14:sldId id="794"/>
            <p14:sldId id="795"/>
            <p14:sldId id="796"/>
            <p14:sldId id="797"/>
          </p14:sldIdLst>
        </p14:section>
        <p14:section name="Exceptions" id="{2A7C4132-0733-0A41-9BEB-EF16739C1992}">
          <p14:sldIdLst>
            <p14:sldId id="747"/>
            <p14:sldId id="745"/>
            <p14:sldId id="680"/>
            <p14:sldId id="681"/>
            <p14:sldId id="682"/>
            <p14:sldId id="696"/>
            <p14:sldId id="683"/>
            <p14:sldId id="684"/>
            <p14:sldId id="599"/>
            <p14:sldId id="686"/>
            <p14:sldId id="687"/>
            <p14:sldId id="688"/>
            <p14:sldId id="619"/>
            <p14:sldId id="620"/>
            <p14:sldId id="621"/>
            <p14:sldId id="748"/>
            <p14:sldId id="622"/>
            <p14:sldId id="623"/>
            <p14:sldId id="697"/>
            <p14:sldId id="689"/>
            <p14:sldId id="749"/>
            <p14:sldId id="690"/>
            <p14:sldId id="691"/>
            <p14:sldId id="692"/>
            <p14:sldId id="685"/>
            <p14:sldId id="651"/>
            <p14:sldId id="652"/>
            <p14:sldId id="746"/>
            <p14:sldId id="648"/>
            <p14:sldId id="694"/>
            <p14:sldId id="693"/>
            <p14:sldId id="631"/>
            <p14:sldId id="634"/>
            <p14:sldId id="632"/>
            <p14:sldId id="633"/>
            <p14:sldId id="637"/>
            <p14:sldId id="636"/>
            <p14:sldId id="635"/>
            <p14:sldId id="650"/>
            <p14:sldId id="698"/>
            <p14:sldId id="639"/>
            <p14:sldId id="699"/>
            <p14:sldId id="641"/>
            <p14:sldId id="644"/>
            <p14:sldId id="645"/>
            <p14:sldId id="646"/>
            <p14:sldId id="700"/>
            <p14:sldId id="643"/>
            <p14:sldId id="6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7CE7"/>
    <a:srgbClr val="787878"/>
    <a:srgbClr val="FF5E60"/>
    <a:srgbClr val="474D59"/>
    <a:srgbClr val="1D1F22"/>
    <a:srgbClr val="2E4C64"/>
    <a:srgbClr val="AF7021"/>
    <a:srgbClr val="D785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7"/>
    <p:restoredTop sz="96327"/>
  </p:normalViewPr>
  <p:slideViewPr>
    <p:cSldViewPr snapToGrid="0">
      <p:cViewPr varScale="1">
        <p:scale>
          <a:sx n="135" d="100"/>
          <a:sy n="135" d="100"/>
        </p:scale>
        <p:origin x="18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8556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26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3475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9076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320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B70B38A-4526-1E53-C96A-750F127803D7}"/>
              </a:ext>
            </a:extLst>
          </p:cNvPr>
          <p:cNvGrpSpPr/>
          <p:nvPr userDrawn="1"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CEDC4753-E350-4373-D704-A2AC071720E3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24AFDDD-6EFD-2D48-2732-DB6F1E2B06AC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1090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4883253" cy="4373563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nl-BE" dirty="0"/>
              <a:t>Cliquez pour modifier les styles du texte du masque</a:t>
            </a:r>
          </a:p>
          <a:p>
            <a:pPr lvl="1"/>
            <a:r>
              <a:rPr lang="nl-BE" dirty="0"/>
              <a:t>Deuxième niveau</a:t>
            </a:r>
          </a:p>
          <a:p>
            <a:pPr lvl="2"/>
            <a:r>
              <a:rPr lang="nl-BE" dirty="0"/>
              <a:t>Troisième niveau</a:t>
            </a:r>
          </a:p>
          <a:p>
            <a:pPr lvl="3"/>
            <a:r>
              <a:rPr lang="nl-BE" dirty="0"/>
              <a:t>Quatrième niveau</a:t>
            </a:r>
          </a:p>
          <a:p>
            <a:pPr lvl="4"/>
            <a:r>
              <a:rPr lang="nl-BE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>
          <a:xfrm>
            <a:off x="5712885" y="1752601"/>
            <a:ext cx="5397500" cy="4373563"/>
          </a:xfrm>
        </p:spPr>
        <p:txBody>
          <a:bodyPr/>
          <a:lstStyle/>
          <a:p>
            <a:pPr lvl="0"/>
            <a:r>
              <a:rPr lang="nl-BE"/>
              <a:t>Cliquez pour modifier les styles du texte du masque</a:t>
            </a:r>
          </a:p>
          <a:p>
            <a:pPr lvl="1"/>
            <a:r>
              <a:rPr lang="nl-BE"/>
              <a:t>Deuxième niveau</a:t>
            </a:r>
          </a:p>
          <a:p>
            <a:pPr lvl="2"/>
            <a:r>
              <a:rPr lang="nl-BE"/>
              <a:t>Troisième niveau</a:t>
            </a:r>
          </a:p>
          <a:p>
            <a:pPr lvl="3"/>
            <a:r>
              <a:rPr lang="nl-BE"/>
              <a:t>Quatrième niveau</a:t>
            </a:r>
          </a:p>
          <a:p>
            <a:pPr lvl="4"/>
            <a:r>
              <a:rPr lang="nl-BE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5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2025-2026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3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www.iban.fr/verification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JAVA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POO – Module 6</a:t>
            </a:r>
          </a:p>
          <a:p>
            <a:r>
              <a:rPr lang="fr-FR" dirty="0"/>
              <a:t>Semaine 6 – Exceptions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A38E6-91D6-0E28-4148-3A6223E4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 au dernier cours…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4B38FA8B-146F-A83A-72AA-52BE2670D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framework</a:t>
            </a:r>
            <a:r>
              <a:rPr lang="fr-FR" dirty="0"/>
              <a:t> </a:t>
            </a:r>
            <a:r>
              <a:rPr lang="fr-FR" dirty="0">
                <a:solidFill>
                  <a:schemeClr val="accent4"/>
                </a:solidFill>
              </a:rPr>
              <a:t>collections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fr-FR" sz="2800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Iterator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sz="2800" dirty="0"/>
              <a:t>Les interfaces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Collection</a:t>
            </a:r>
            <a:r>
              <a:rPr lang="fr-FR" sz="2800" dirty="0"/>
              <a:t>,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fr-FR" sz="2800" dirty="0"/>
              <a:t>,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fr-FR" sz="2800" dirty="0"/>
              <a:t>,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Queue</a:t>
            </a:r>
            <a:r>
              <a:rPr lang="fr-FR" sz="2800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Deque</a:t>
            </a:r>
            <a:r>
              <a:rPr lang="fr-FR" sz="2800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Comparable</a:t>
            </a:r>
            <a:r>
              <a:rPr lang="fr-FR" sz="2800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SortedSet</a:t>
            </a:r>
            <a:r>
              <a:rPr lang="fr-FR" sz="2800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SortedMap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sz="2800" dirty="0"/>
              <a:t>Les classes correspondant aux interfaces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sz="2800" dirty="0"/>
              <a:t>La classe utilitaire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Collections</a:t>
            </a:r>
          </a:p>
          <a:p>
            <a:pPr lvl="1"/>
            <a:endParaRPr lang="fr-FR" sz="28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7F02C45-40F7-9A41-D3B5-BAAF8BD85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15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8743-A1A3-F231-D0E5-83E3B5F4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ercices en retard format 16:9">
            <a:extLst>
              <a:ext uri="{FF2B5EF4-FFF2-40B4-BE49-F238E27FC236}">
                <a16:creationId xmlns:a16="http://schemas.microsoft.com/office/drawing/2014/main" id="{B63EA7A3-C6B0-E962-2E5D-A4999A4BB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CB2949B-7E66-D937-F71E-1BDB87DBA0C2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Exercice…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92B336-117C-217E-7A98-B98C382D97FF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L’exercice du cours précédent…</a:t>
            </a:r>
          </a:p>
        </p:txBody>
      </p:sp>
    </p:spTree>
    <p:extLst>
      <p:ext uri="{BB962C8B-B14F-4D97-AF65-F5344CB8AC3E}">
        <p14:creationId xmlns:p14="http://schemas.microsoft.com/office/powerpoint/2010/main" val="183603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27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err="1"/>
              <a:t>Écrivez</a:t>
            </a:r>
            <a:r>
              <a:rPr lang="fr-FR" sz="2400" dirty="0"/>
              <a:t> un programme qui construit une collection </a:t>
            </a:r>
            <a:r>
              <a:rPr lang="fr-FR" sz="2400" i="1" dirty="0" err="1"/>
              <a:t>triée</a:t>
            </a:r>
            <a:r>
              <a:rPr lang="fr-FR" sz="2400" i="1" dirty="0"/>
              <a:t> </a:t>
            </a:r>
            <a:r>
              <a:rPr lang="fr-FR" sz="2400" dirty="0"/>
              <a:t>contenant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n</a:t>
            </a:r>
            <a:r>
              <a:rPr lang="fr-FR" sz="2400" i="1" dirty="0"/>
              <a:t> </a:t>
            </a:r>
            <a:r>
              <a:rPr lang="fr-FR" sz="2400" dirty="0"/>
              <a:t>nombres entiers (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ea typeface="Consolas" charset="0"/>
                <a:cs typeface="Consolas" charset="0"/>
              </a:rPr>
              <a:t>Integer</a:t>
            </a:r>
            <a:r>
              <a:rPr lang="fr-FR" sz="2400" dirty="0"/>
              <a:t>) </a:t>
            </a:r>
            <a:r>
              <a:rPr lang="fr-FR" sz="2400" dirty="0" err="1"/>
              <a:t>tirés</a:t>
            </a:r>
            <a:r>
              <a:rPr lang="fr-FR" sz="2400" dirty="0"/>
              <a:t> au hasard entre 0 et 1000. </a:t>
            </a:r>
          </a:p>
          <a:p>
            <a:pPr marL="0" indent="0">
              <a:buNone/>
            </a:pPr>
            <a:r>
              <a:rPr lang="fr-FR" sz="2400" dirty="0"/>
              <a:t>La valeur de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n</a:t>
            </a:r>
            <a:r>
              <a:rPr lang="fr-FR" sz="2400" i="1" dirty="0"/>
              <a:t> </a:t>
            </a:r>
            <a:r>
              <a:rPr lang="fr-FR" sz="2400" dirty="0"/>
              <a:t>est lue au </a:t>
            </a:r>
            <a:r>
              <a:rPr lang="fr-FR" sz="2400" dirty="0" err="1"/>
              <a:t>début</a:t>
            </a:r>
            <a:r>
              <a:rPr lang="fr-FR" sz="2400" dirty="0"/>
              <a:t> de l’</a:t>
            </a:r>
            <a:r>
              <a:rPr lang="fr-FR" sz="2400" dirty="0" err="1"/>
              <a:t>exécution</a:t>
            </a:r>
            <a:r>
              <a:rPr lang="fr-FR" sz="2400" dirty="0"/>
              <a:t> ou est un paramètre du programme. </a:t>
            </a:r>
          </a:p>
          <a:p>
            <a:pPr marL="0" indent="0">
              <a:buNone/>
            </a:pPr>
            <a:r>
              <a:rPr lang="fr-FR" sz="2400" dirty="0"/>
              <a:t>Le programme affiche la collection construite afin qu’on puisse constater qu’elle est bien </a:t>
            </a:r>
            <a:r>
              <a:rPr lang="fr-FR" sz="2400" dirty="0" err="1"/>
              <a:t>triée</a:t>
            </a:r>
            <a:r>
              <a:rPr lang="fr-FR" sz="2400" dirty="0"/>
              <a:t>. </a:t>
            </a:r>
          </a:p>
          <a:p>
            <a:r>
              <a:rPr lang="fr-FR" sz="2400" dirty="0"/>
              <a:t>Dans la </a:t>
            </a:r>
            <a:r>
              <a:rPr lang="fr-FR" sz="2400" dirty="0" err="1"/>
              <a:t>première</a:t>
            </a:r>
            <a:r>
              <a:rPr lang="fr-FR" sz="2400" dirty="0"/>
              <a:t> version du programme la collection est une sorte de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List&lt;Integer&gt;</a:t>
            </a:r>
            <a:r>
              <a:rPr lang="fr-FR" sz="2400" dirty="0"/>
              <a:t> (par exemple un </a:t>
            </a:r>
            <a:r>
              <a:rPr lang="fr-FR" sz="22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ArrayList</a:t>
            </a:r>
            <a:r>
              <a:rPr lang="fr-FR" sz="2400" dirty="0"/>
              <a:t> ou une </a:t>
            </a:r>
            <a:r>
              <a:rPr lang="fr-FR" sz="22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LinkedList</a:t>
            </a:r>
            <a:r>
              <a:rPr lang="fr-FR" sz="2400" dirty="0"/>
              <a:t>) que vous triez en utilisant une </a:t>
            </a:r>
            <a:r>
              <a:rPr lang="fr-FR" sz="2400" dirty="0" err="1"/>
              <a:t>méthode</a:t>
            </a:r>
            <a:r>
              <a:rPr lang="fr-FR" sz="2400" dirty="0"/>
              <a:t> statique </a:t>
            </a:r>
            <a:r>
              <a:rPr lang="fr-FR" sz="2400" i="1" dirty="0"/>
              <a:t>ad hoc </a:t>
            </a:r>
            <a:r>
              <a:rPr lang="fr-FR" sz="2400" dirty="0"/>
              <a:t>de la classe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Collections</a:t>
            </a:r>
            <a:r>
              <a:rPr lang="fr-FR" sz="2400" dirty="0"/>
              <a:t>. </a:t>
            </a:r>
          </a:p>
          <a:p>
            <a:r>
              <a:rPr lang="fr-FR" sz="2400" dirty="0"/>
              <a:t>Dans une </a:t>
            </a:r>
            <a:r>
              <a:rPr lang="fr-FR" sz="2400" dirty="0" err="1"/>
              <a:t>deuxième</a:t>
            </a:r>
            <a:r>
              <a:rPr lang="fr-FR" sz="2400" dirty="0"/>
              <a:t> version, la collection est une sorte de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Set&lt;Integer&gt;</a:t>
            </a:r>
            <a:r>
              <a:rPr lang="fr-FR" sz="2400" dirty="0">
                <a:solidFill>
                  <a:srgbClr val="C00000"/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fr-FR" sz="2400" dirty="0"/>
              <a:t>(un </a:t>
            </a:r>
            <a:r>
              <a:rPr lang="fr-FR" sz="22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TreeSet</a:t>
            </a:r>
            <a:r>
              <a:rPr lang="fr-FR" sz="2400" dirty="0"/>
              <a:t>) si bien qu’elle est constamment </a:t>
            </a:r>
            <a:r>
              <a:rPr lang="fr-FR" sz="2400" dirty="0" err="1"/>
              <a:t>triée</a:t>
            </a:r>
            <a:r>
              <a:rPr lang="fr-FR" sz="2400" dirty="0"/>
              <a:t>. </a:t>
            </a:r>
          </a:p>
          <a:p>
            <a:pPr marL="0" indent="0">
              <a:buNone/>
            </a:pP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78040F-3077-7A44-AF41-910DB695C1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1723" y="227193"/>
            <a:ext cx="2648560" cy="140912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1FBA8F-0C6E-8C35-4E4D-97439AF1D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892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28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1825625"/>
            <a:ext cx="1078327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Vous allez modéliser un annuaire</a:t>
            </a:r>
            <a:r>
              <a:rPr lang="fr-FR" dirty="0">
                <a:solidFill>
                  <a:srgbClr val="A6082B"/>
                </a:solidFill>
              </a:rPr>
              <a:t> </a:t>
            </a:r>
            <a:r>
              <a:rPr lang="fr-FR" dirty="0"/>
              <a:t>qui </a:t>
            </a:r>
            <a:r>
              <a:rPr lang="fr-FR" dirty="0" err="1"/>
              <a:t>mémorisere</a:t>
            </a:r>
            <a:r>
              <a:rPr lang="fr-FR" dirty="0"/>
              <a:t> des </a:t>
            </a:r>
            <a:r>
              <a:rPr lang="fr-FR" dirty="0" err="1"/>
              <a:t>numéros</a:t>
            </a:r>
            <a:r>
              <a:rPr lang="fr-FR" dirty="0"/>
              <a:t> de </a:t>
            </a:r>
            <a:r>
              <a:rPr lang="fr-FR" dirty="0" err="1"/>
              <a:t>téléphone</a:t>
            </a:r>
            <a:r>
              <a:rPr lang="fr-FR" dirty="0"/>
              <a:t> et d’adresses. Chaque </a:t>
            </a:r>
            <a:r>
              <a:rPr lang="fr-FR" dirty="0" err="1"/>
              <a:t>entrée</a:t>
            </a:r>
            <a:r>
              <a:rPr lang="fr-FR" dirty="0"/>
              <a:t> de l’annuaire est </a:t>
            </a:r>
            <a:r>
              <a:rPr lang="fr-FR" dirty="0" err="1"/>
              <a:t>représentée</a:t>
            </a:r>
            <a:r>
              <a:rPr lang="fr-FR" dirty="0"/>
              <a:t> par une fiche à plusieurs champs : un </a:t>
            </a:r>
            <a:r>
              <a:rPr lang="fr-FR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nom</a:t>
            </a:r>
            <a:r>
              <a:rPr lang="fr-FR" dirty="0"/>
              <a:t>, un </a:t>
            </a:r>
            <a:r>
              <a:rPr lang="fr-FR" sz="26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numéro</a:t>
            </a:r>
            <a:r>
              <a:rPr lang="fr-FR" i="1" dirty="0"/>
              <a:t> </a:t>
            </a:r>
            <a:r>
              <a:rPr lang="fr-FR" dirty="0"/>
              <a:t>et une </a:t>
            </a:r>
            <a:r>
              <a:rPr lang="fr-FR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adresse</a:t>
            </a:r>
            <a:r>
              <a:rPr lang="fr-FR" dirty="0"/>
              <a:t>. La structure des fiches est </a:t>
            </a:r>
            <a:r>
              <a:rPr lang="fr-FR" dirty="0" err="1"/>
              <a:t>décrite</a:t>
            </a:r>
            <a:r>
              <a:rPr lang="fr-FR" dirty="0"/>
              <a:t> par une classe </a:t>
            </a:r>
            <a:r>
              <a:rPr lang="fr-FR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Fiche</a:t>
            </a:r>
            <a:r>
              <a:rPr lang="fr-FR" dirty="0"/>
              <a:t> que vous devez </a:t>
            </a:r>
            <a:r>
              <a:rPr lang="fr-FR" dirty="0" err="1"/>
              <a:t>écrire</a:t>
            </a:r>
            <a:r>
              <a:rPr lang="fr-FR" dirty="0"/>
              <a:t>. </a:t>
            </a:r>
          </a:p>
          <a:p>
            <a:pPr marL="0" indent="0">
              <a:buNone/>
            </a:pPr>
            <a:r>
              <a:rPr lang="fr-FR" dirty="0" err="1"/>
              <a:t>Écrivez</a:t>
            </a:r>
            <a:r>
              <a:rPr lang="fr-FR" dirty="0"/>
              <a:t> </a:t>
            </a:r>
            <a:r>
              <a:rPr lang="fr-FR" dirty="0" err="1"/>
              <a:t>également</a:t>
            </a:r>
            <a:r>
              <a:rPr lang="fr-FR" dirty="0"/>
              <a:t> une classe </a:t>
            </a:r>
            <a:r>
              <a:rPr lang="fr-FR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Annuaire</a:t>
            </a:r>
            <a:r>
              <a:rPr lang="fr-FR" dirty="0"/>
              <a:t> comportant une table associative (</a:t>
            </a:r>
            <a:r>
              <a:rPr lang="fr-FR" sz="26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Map</a:t>
            </a:r>
            <a:r>
              <a:rPr lang="fr-FR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&lt;</a:t>
            </a:r>
            <a:r>
              <a:rPr lang="fr-FR" sz="26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String,Fiche</a:t>
            </a:r>
            <a:r>
              <a:rPr lang="fr-FR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&gt;</a:t>
            </a:r>
            <a:r>
              <a:rPr lang="fr-FR" dirty="0"/>
              <a:t>) qui sera faite d’associations ( </a:t>
            </a:r>
            <a:r>
              <a:rPr lang="fr-FR" sz="26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un_nom</a:t>
            </a:r>
            <a:r>
              <a:rPr lang="fr-FR" sz="26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une_fiche</a:t>
            </a:r>
            <a:r>
              <a:rPr lang="fr-FR" dirty="0"/>
              <a:t>). </a:t>
            </a:r>
          </a:p>
          <a:p>
            <a:pPr marL="0" indent="0">
              <a:buNone/>
            </a:pPr>
            <a:r>
              <a:rPr lang="fr-FR" dirty="0"/>
              <a:t>Dans un premier temps, la table associative en question sera une instance de la classe </a:t>
            </a:r>
            <a:r>
              <a:rPr lang="fr-FR" sz="26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HashMap</a:t>
            </a:r>
            <a:r>
              <a:rPr lang="fr-FR" dirty="0"/>
              <a:t>. </a:t>
            </a:r>
          </a:p>
          <a:p>
            <a:pPr marL="0" indent="0">
              <a:buNone/>
            </a:pPr>
            <a:r>
              <a:rPr lang="fr-FR" dirty="0"/>
              <a:t>Peut-on faire en sorte que les fiches apparaissent dans l’ordre des noms?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F0D235-AEE8-6B4F-B4AD-098C2BC405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98768">
            <a:off x="10432555" y="197009"/>
            <a:ext cx="1253562" cy="144145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90DD63-5248-D28D-E1A8-0504411DE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88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29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3064933"/>
            <a:ext cx="10783277" cy="3112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Voici un code qui vous permet de lire depuis un fichier texte, en utilisant la classe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Scanner</a:t>
            </a:r>
            <a:r>
              <a:rPr lang="fr-FR" sz="2400" dirty="0"/>
              <a:t> que vous avez déjà rencontrée…</a:t>
            </a:r>
          </a:p>
          <a:p>
            <a:pPr marL="0" indent="0">
              <a:buNone/>
            </a:pPr>
            <a:r>
              <a:rPr lang="fr-BE" sz="2400" dirty="0"/>
              <a:t>Ecrivez un programme qui </a:t>
            </a:r>
          </a:p>
          <a:p>
            <a:r>
              <a:rPr lang="fr-BE" sz="2400" dirty="0"/>
              <a:t>lit une liste de noms d'étudiants à partir d'un fichier et stocke ces noms dans une 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fr-BE" sz="2400" dirty="0"/>
              <a:t>. </a:t>
            </a:r>
          </a:p>
          <a:p>
            <a:r>
              <a:rPr lang="fr-BE" sz="2400" dirty="0"/>
              <a:t>trie les noms par ordre alphabétique </a:t>
            </a:r>
          </a:p>
          <a:p>
            <a:r>
              <a:rPr lang="fr-BE" sz="2400" dirty="0"/>
              <a:t> les affiche à l'écran. </a:t>
            </a: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C01C1F9-E0A7-E863-C6DD-BF9F3E2164B7}"/>
              </a:ext>
            </a:extLst>
          </p:cNvPr>
          <p:cNvSpPr txBox="1"/>
          <p:nvPr/>
        </p:nvSpPr>
        <p:spPr>
          <a:xfrm>
            <a:off x="846150" y="1821556"/>
            <a:ext cx="8178800" cy="9233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String chemin = 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frederic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/Downloads/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Lorem.txt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File fichier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File(chemin)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Scanner scanner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Scanner(fichier)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6386" name="Picture 2" descr="Student PNG Free Images with Transparent Background - (4,408 Free Downloads)">
            <a:extLst>
              <a:ext uri="{FF2B5EF4-FFF2-40B4-BE49-F238E27FC236}">
                <a16:creationId xmlns:a16="http://schemas.microsoft.com/office/drawing/2014/main" id="{8E1C20B1-FE66-DFD1-6C49-B729CB168B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776" b="16776"/>
          <a:stretch/>
        </p:blipFill>
        <p:spPr bwMode="auto">
          <a:xfrm>
            <a:off x="9304867" y="169333"/>
            <a:ext cx="2540000" cy="168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ACB879-5170-FBC7-33F6-8EDF26463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2590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30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3064933"/>
            <a:ext cx="10783277" cy="31120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dirty="0"/>
              <a:t>Ecrivez un un programme qui </a:t>
            </a:r>
          </a:p>
          <a:p>
            <a:r>
              <a:rPr lang="fr-FR" sz="2400" dirty="0"/>
              <a:t>lit un texte à partir d'un fichier</a:t>
            </a:r>
          </a:p>
          <a:p>
            <a:r>
              <a:rPr lang="fr-FR" sz="2400" dirty="0"/>
              <a:t>compte le nombre d'occurrences de chaque mot dans le texte</a:t>
            </a:r>
          </a:p>
          <a:p>
            <a:r>
              <a:rPr lang="fr-FR" sz="2400" dirty="0"/>
              <a:t>affiche les résultats à l'écran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Utilisez une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HashMap</a:t>
            </a:r>
            <a:r>
              <a:rPr lang="fr-FR" sz="2400" dirty="0"/>
              <a:t> pour stocker les mots et leur nombre d'occurrences.</a:t>
            </a:r>
          </a:p>
          <a:p>
            <a:pPr marL="0" indent="0">
              <a:buNone/>
            </a:pPr>
            <a:r>
              <a:rPr lang="fr-FR" sz="2400" dirty="0"/>
              <a:t>Y a-t-il une différence si vous utilisez plutôt une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SortedMap</a:t>
            </a:r>
            <a:r>
              <a:rPr lang="fr-FR" sz="2400" dirty="0"/>
              <a:t>? (utilisez les deux dans le même programme).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C01C1F9-E0A7-E863-C6DD-BF9F3E2164B7}"/>
              </a:ext>
            </a:extLst>
          </p:cNvPr>
          <p:cNvSpPr txBox="1"/>
          <p:nvPr/>
        </p:nvSpPr>
        <p:spPr>
          <a:xfrm>
            <a:off x="838199" y="1821556"/>
            <a:ext cx="8178800" cy="9233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String chemin = 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frederic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/Downloads/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Lorem.txt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File fichier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File(chemin)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Scanner scanner = 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Scanner(fichier)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288F8E4-EE83-108E-D1F6-383138AB24C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1613" y="165233"/>
            <a:ext cx="2117988" cy="211798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46809C-E65B-97A0-863D-577B95253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2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31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fr-FR" sz="2400" dirty="0"/>
              <a:t>L’interface Collection présente la méthode  </a:t>
            </a:r>
          </a:p>
          <a:p>
            <a:pPr marL="0" indent="0">
              <a:buNone/>
            </a:pP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removeIf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Predicate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 Super E&gt;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filter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2400" dirty="0"/>
              <a:t> </a:t>
            </a:r>
          </a:p>
          <a:p>
            <a:pPr marL="0" indent="0">
              <a:buNone/>
            </a:pPr>
            <a:r>
              <a:rPr lang="fr-FR" sz="2400" dirty="0"/>
              <a:t>qui supprime les éléments qui satisfont à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Predicate.test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400" dirty="0"/>
              <a:t> </a:t>
            </a:r>
          </a:p>
          <a:p>
            <a:pPr marL="0" indent="0">
              <a:buNone/>
            </a:pPr>
            <a:r>
              <a:rPr lang="fr-FR" sz="2400" dirty="0"/>
              <a:t>Remarquez que </a:t>
            </a:r>
            <a:r>
              <a:rPr lang="fr-FR" sz="2400" dirty="0" err="1"/>
              <a:t>Predicate</a:t>
            </a:r>
            <a:r>
              <a:rPr lang="fr-FR" sz="2400" dirty="0"/>
              <a:t> est une interface et créez une classe anonyme pour votre test.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Ecrivez un un programme qui </a:t>
            </a:r>
          </a:p>
          <a:p>
            <a:r>
              <a:rPr lang="fr-FR" sz="2400" dirty="0"/>
              <a:t>génère une liste de 100 nombres entiers aléatoires entre 1 et 1000.</a:t>
            </a:r>
          </a:p>
          <a:p>
            <a:r>
              <a:rPr lang="fr-FR" sz="2400" dirty="0"/>
              <a:t>stocke les nombres dans un </a:t>
            </a:r>
            <a:r>
              <a:rPr lang="fr-FR" sz="2200" dirty="0" err="1">
                <a:solidFill>
                  <a:schemeClr val="accent4"/>
                </a:solidFill>
              </a:rPr>
              <a:t>LinkedList</a:t>
            </a:r>
            <a:endParaRPr lang="fr-FR" sz="2200" dirty="0">
              <a:solidFill>
                <a:schemeClr val="accent4"/>
              </a:solidFill>
            </a:endParaRPr>
          </a:p>
          <a:p>
            <a:r>
              <a:rPr lang="fr-FR" sz="2400" dirty="0"/>
              <a:t>une fois la liste générée, supprime les nombres pairs de celle-ci</a:t>
            </a:r>
          </a:p>
          <a:p>
            <a:r>
              <a:rPr lang="fr-FR" sz="2400" dirty="0"/>
              <a:t>affiche les résultats à l'écran</a:t>
            </a:r>
          </a:p>
        </p:txBody>
      </p:sp>
      <p:pic>
        <p:nvPicPr>
          <p:cNvPr id="20482" name="Picture 2" descr="569,355 Number Pattern Images, Stock Photos &amp; Vectors | Shutterstock">
            <a:extLst>
              <a:ext uri="{FF2B5EF4-FFF2-40B4-BE49-F238E27FC236}">
                <a16:creationId xmlns:a16="http://schemas.microsoft.com/office/drawing/2014/main" id="{FC51EB08-F503-5F79-2B6A-1C50A37AD8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91368" y="254000"/>
            <a:ext cx="2019632" cy="200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33BD25-092E-2C73-A0B7-387EAB9C9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40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32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Ecrivez un un programme qui </a:t>
            </a:r>
          </a:p>
          <a:p>
            <a:r>
              <a:rPr lang="fr-FR" sz="2400" dirty="0"/>
              <a:t>génère 100 nombres entiers aléatoires entre 1 et 1000.</a:t>
            </a:r>
          </a:p>
          <a:p>
            <a:r>
              <a:rPr lang="fr-FR" sz="2400" dirty="0"/>
              <a:t>stocke les nombres dans un </a:t>
            </a:r>
            <a:r>
              <a:rPr lang="fr-FR" sz="2200" dirty="0" err="1">
                <a:solidFill>
                  <a:schemeClr val="accent4"/>
                </a:solidFill>
              </a:rPr>
              <a:t>HashSet</a:t>
            </a:r>
            <a:endParaRPr lang="fr-FR" sz="2200" dirty="0">
              <a:solidFill>
                <a:schemeClr val="accent4"/>
              </a:solidFill>
            </a:endParaRPr>
          </a:p>
          <a:p>
            <a:r>
              <a:rPr lang="fr-FR" sz="2400" dirty="0"/>
              <a:t>une fois les nombres générés, le programme demande un nombre à l’utilisateur et indique si le nombre a été généré.</a:t>
            </a:r>
          </a:p>
        </p:txBody>
      </p:sp>
      <p:pic>
        <p:nvPicPr>
          <p:cNvPr id="20482" name="Picture 2" descr="569,355 Number Pattern Images, Stock Photos &amp; Vectors | Shutterstock">
            <a:extLst>
              <a:ext uri="{FF2B5EF4-FFF2-40B4-BE49-F238E27FC236}">
                <a16:creationId xmlns:a16="http://schemas.microsoft.com/office/drawing/2014/main" id="{FC51EB08-F503-5F79-2B6A-1C50A37AD8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5400000">
            <a:off x="9791368" y="254000"/>
            <a:ext cx="2019632" cy="200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DA4F3C-8626-245D-8741-84FFE3481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902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CE8BE-8324-B5ED-EFC1-C9A33F81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33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342012-12ED-4084-5594-42694F35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BE" sz="2200" b="0" i="0" u="none" strike="noStrike" dirty="0">
                <a:effectLst/>
                <a:latin typeface="+mj-lt"/>
              </a:rPr>
              <a:t>Créez une </a:t>
            </a:r>
            <a:r>
              <a:rPr lang="fr-BE" sz="2200" b="0" i="0" u="none" strike="noStrike" dirty="0">
                <a:solidFill>
                  <a:schemeClr val="accent4"/>
                </a:solidFill>
                <a:effectLst/>
                <a:latin typeface="+mj-lt"/>
              </a:rPr>
              <a:t>liste</a:t>
            </a:r>
            <a:r>
              <a:rPr lang="fr-BE" sz="2200" b="0" i="0" u="none" strike="noStrike" dirty="0">
                <a:effectLst/>
                <a:latin typeface="+mj-lt"/>
              </a:rPr>
              <a:t> d'étudiants.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200" b="0" i="0" u="none" strike="noStrike" dirty="0">
                <a:effectLst/>
                <a:latin typeface="+mj-lt"/>
              </a:rPr>
              <a:t>Créez un </a:t>
            </a:r>
            <a:r>
              <a:rPr lang="fr-BE" sz="2200" b="0" i="0" u="none" strike="noStrike" dirty="0">
                <a:solidFill>
                  <a:schemeClr val="accent4"/>
                </a:solidFill>
                <a:effectLst/>
                <a:latin typeface="+mj-lt"/>
              </a:rPr>
              <a:t>ensemble</a:t>
            </a:r>
            <a:r>
              <a:rPr lang="fr-BE" sz="2200" b="0" i="0" u="none" strike="noStrike" dirty="0">
                <a:effectLst/>
                <a:latin typeface="+mj-lt"/>
              </a:rPr>
              <a:t> de noms de cours.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200" b="0" i="0" u="none" strike="noStrike" dirty="0">
                <a:effectLst/>
                <a:latin typeface="+mj-lt"/>
              </a:rPr>
              <a:t>Créez une carte (</a:t>
            </a:r>
            <a:r>
              <a:rPr lang="fr-BE" sz="2200" b="0" i="0" u="none" strike="noStrike" dirty="0" err="1">
                <a:solidFill>
                  <a:schemeClr val="accent4"/>
                </a:solidFill>
                <a:effectLst/>
                <a:latin typeface="+mj-lt"/>
              </a:rPr>
              <a:t>map</a:t>
            </a:r>
            <a:r>
              <a:rPr lang="fr-BE" sz="2200" b="0" i="0" u="none" strike="noStrike" dirty="0">
                <a:effectLst/>
                <a:latin typeface="+mj-lt"/>
              </a:rPr>
              <a:t>) qui associe chaque étudiant à un ensemble de cours qu'il suit.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200" b="0" i="0" u="none" strike="noStrike" dirty="0">
                <a:effectLst/>
                <a:latin typeface="+mj-lt"/>
              </a:rPr>
              <a:t>Ajoutez quelques étudiants avec leurs cours correspondants.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BE" sz="2200" b="0" i="0" u="none" strike="noStrike" dirty="0">
                <a:effectLst/>
                <a:latin typeface="+mj-lt"/>
              </a:rPr>
              <a:t>Affichez tous les étudiants et les cours qu'ils suivent.</a:t>
            </a:r>
          </a:p>
          <a:p>
            <a:pPr marL="0" indent="0">
              <a:buNone/>
            </a:pPr>
            <a:endParaRPr lang="fr-FR" sz="2200" dirty="0">
              <a:latin typeface="+mj-lt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1F09B4-3D74-E06A-1A79-AF72A742F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F70CAC3-B7AE-5F5F-B8B7-5115C159C9DF}"/>
              </a:ext>
            </a:extLst>
          </p:cNvPr>
          <p:cNvGrpSpPr/>
          <p:nvPr/>
        </p:nvGrpSpPr>
        <p:grpSpPr>
          <a:xfrm>
            <a:off x="10115550" y="61915"/>
            <a:ext cx="1901766" cy="1628775"/>
            <a:chOff x="5123597" y="0"/>
            <a:chExt cx="4572000" cy="4572000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24C0D59D-D7AB-B52B-CFBB-1739FB096648}"/>
                </a:ext>
              </a:extLst>
            </p:cNvPr>
            <p:cNvGrpSpPr/>
            <p:nvPr/>
          </p:nvGrpSpPr>
          <p:grpSpPr>
            <a:xfrm>
              <a:off x="5581291" y="862642"/>
              <a:ext cx="3946584" cy="3342735"/>
              <a:chOff x="5581291" y="862642"/>
              <a:chExt cx="3946584" cy="3342735"/>
            </a:xfrm>
          </p:grpSpPr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96FB6758-185A-EF44-5DCA-02B0D814D62D}"/>
                  </a:ext>
                </a:extLst>
              </p:cNvPr>
              <p:cNvGrpSpPr/>
              <p:nvPr/>
            </p:nvGrpSpPr>
            <p:grpSpPr>
              <a:xfrm>
                <a:off x="5581291" y="862642"/>
                <a:ext cx="3946584" cy="1949569"/>
                <a:chOff x="5581291" y="862642"/>
                <a:chExt cx="3946584" cy="1949569"/>
              </a:xfrm>
            </p:grpSpPr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7EE9C4FC-5A99-F752-BBE6-53825846BA32}"/>
                    </a:ext>
                  </a:extLst>
                </p:cNvPr>
                <p:cNvSpPr/>
                <p:nvPr/>
              </p:nvSpPr>
              <p:spPr>
                <a:xfrm>
                  <a:off x="5581291" y="1134374"/>
                  <a:ext cx="625415" cy="59090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" name="Ellipse 5">
                  <a:extLst>
                    <a:ext uri="{FF2B5EF4-FFF2-40B4-BE49-F238E27FC236}">
                      <a16:creationId xmlns:a16="http://schemas.microsoft.com/office/drawing/2014/main" id="{6B7EAEEF-90A6-3163-5C44-AC84B8CC7C24}"/>
                    </a:ext>
                  </a:extLst>
                </p:cNvPr>
                <p:cNvSpPr/>
                <p:nvPr/>
              </p:nvSpPr>
              <p:spPr>
                <a:xfrm>
                  <a:off x="6556076" y="1027908"/>
                  <a:ext cx="806569" cy="62836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" name="Ellipse 6">
                  <a:extLst>
                    <a:ext uri="{FF2B5EF4-FFF2-40B4-BE49-F238E27FC236}">
                      <a16:creationId xmlns:a16="http://schemas.microsoft.com/office/drawing/2014/main" id="{CD34AEFD-143D-B236-BF3C-BF758ABAD0F3}"/>
                    </a:ext>
                  </a:extLst>
                </p:cNvPr>
                <p:cNvSpPr/>
                <p:nvPr/>
              </p:nvSpPr>
              <p:spPr>
                <a:xfrm>
                  <a:off x="7586933" y="1115646"/>
                  <a:ext cx="703052" cy="62836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" name="Ellipse 7">
                  <a:extLst>
                    <a:ext uri="{FF2B5EF4-FFF2-40B4-BE49-F238E27FC236}">
                      <a16:creationId xmlns:a16="http://schemas.microsoft.com/office/drawing/2014/main" id="{444661EE-1DAF-732A-55FB-20AFFDBC2B79}"/>
                    </a:ext>
                  </a:extLst>
                </p:cNvPr>
                <p:cNvSpPr/>
                <p:nvPr/>
              </p:nvSpPr>
              <p:spPr>
                <a:xfrm>
                  <a:off x="8587596" y="862642"/>
                  <a:ext cx="754811" cy="74618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" name="Forme libre 8">
                  <a:extLst>
                    <a:ext uri="{FF2B5EF4-FFF2-40B4-BE49-F238E27FC236}">
                      <a16:creationId xmlns:a16="http://schemas.microsoft.com/office/drawing/2014/main" id="{B39684CF-C501-FA61-CD05-EB2A2407AC37}"/>
                    </a:ext>
                  </a:extLst>
                </p:cNvPr>
                <p:cNvSpPr/>
                <p:nvPr/>
              </p:nvSpPr>
              <p:spPr>
                <a:xfrm>
                  <a:off x="6461185" y="1850366"/>
                  <a:ext cx="961845" cy="616789"/>
                </a:xfrm>
                <a:custGeom>
                  <a:avLst/>
                  <a:gdLst>
                    <a:gd name="connsiteX0" fmla="*/ 414068 w 961845"/>
                    <a:gd name="connsiteY0" fmla="*/ 0 h 616789"/>
                    <a:gd name="connsiteX1" fmla="*/ 336430 w 961845"/>
                    <a:gd name="connsiteY1" fmla="*/ 17253 h 616789"/>
                    <a:gd name="connsiteX2" fmla="*/ 47445 w 961845"/>
                    <a:gd name="connsiteY2" fmla="*/ 332117 h 616789"/>
                    <a:gd name="connsiteX3" fmla="*/ 0 w 961845"/>
                    <a:gd name="connsiteY3" fmla="*/ 616789 h 616789"/>
                    <a:gd name="connsiteX4" fmla="*/ 565030 w 961845"/>
                    <a:gd name="connsiteY4" fmla="*/ 582283 h 616789"/>
                    <a:gd name="connsiteX5" fmla="*/ 961845 w 961845"/>
                    <a:gd name="connsiteY5" fmla="*/ 534838 h 616789"/>
                    <a:gd name="connsiteX6" fmla="*/ 948906 w 961845"/>
                    <a:gd name="connsiteY6" fmla="*/ 435634 h 616789"/>
                    <a:gd name="connsiteX7" fmla="*/ 849702 w 961845"/>
                    <a:gd name="connsiteY7" fmla="*/ 103517 h 616789"/>
                    <a:gd name="connsiteX8" fmla="*/ 388189 w 961845"/>
                    <a:gd name="connsiteY8" fmla="*/ 47445 h 616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61845" h="616789">
                      <a:moveTo>
                        <a:pt x="414068" y="0"/>
                      </a:moveTo>
                      <a:lnTo>
                        <a:pt x="336430" y="17253"/>
                      </a:lnTo>
                      <a:lnTo>
                        <a:pt x="47445" y="332117"/>
                      </a:lnTo>
                      <a:lnTo>
                        <a:pt x="0" y="616789"/>
                      </a:lnTo>
                      <a:lnTo>
                        <a:pt x="565030" y="582283"/>
                      </a:lnTo>
                      <a:lnTo>
                        <a:pt x="961845" y="534838"/>
                      </a:lnTo>
                      <a:lnTo>
                        <a:pt x="948906" y="435634"/>
                      </a:lnTo>
                      <a:lnTo>
                        <a:pt x="849702" y="103517"/>
                      </a:lnTo>
                      <a:lnTo>
                        <a:pt x="388189" y="47445"/>
                      </a:lnTo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" name="Forme libre 9">
                  <a:extLst>
                    <a:ext uri="{FF2B5EF4-FFF2-40B4-BE49-F238E27FC236}">
                      <a16:creationId xmlns:a16="http://schemas.microsoft.com/office/drawing/2014/main" id="{022A00B4-F6A7-FA83-F3F6-67964E4FADC0}"/>
                    </a:ext>
                  </a:extLst>
                </p:cNvPr>
                <p:cNvSpPr/>
                <p:nvPr/>
              </p:nvSpPr>
              <p:spPr>
                <a:xfrm>
                  <a:off x="7561053" y="1828800"/>
                  <a:ext cx="793630" cy="983411"/>
                </a:xfrm>
                <a:custGeom>
                  <a:avLst/>
                  <a:gdLst>
                    <a:gd name="connsiteX0" fmla="*/ 189781 w 793630"/>
                    <a:gd name="connsiteY0" fmla="*/ 910087 h 983411"/>
                    <a:gd name="connsiteX1" fmla="*/ 560717 w 793630"/>
                    <a:gd name="connsiteY1" fmla="*/ 983411 h 983411"/>
                    <a:gd name="connsiteX2" fmla="*/ 746185 w 793630"/>
                    <a:gd name="connsiteY2" fmla="*/ 595223 h 983411"/>
                    <a:gd name="connsiteX3" fmla="*/ 565030 w 793630"/>
                    <a:gd name="connsiteY3" fmla="*/ 258792 h 983411"/>
                    <a:gd name="connsiteX4" fmla="*/ 711679 w 793630"/>
                    <a:gd name="connsiteY4" fmla="*/ 452887 h 983411"/>
                    <a:gd name="connsiteX5" fmla="*/ 793630 w 793630"/>
                    <a:gd name="connsiteY5" fmla="*/ 370936 h 983411"/>
                    <a:gd name="connsiteX6" fmla="*/ 694426 w 793630"/>
                    <a:gd name="connsiteY6" fmla="*/ 142336 h 983411"/>
                    <a:gd name="connsiteX7" fmla="*/ 534838 w 793630"/>
                    <a:gd name="connsiteY7" fmla="*/ 0 h 983411"/>
                    <a:gd name="connsiteX8" fmla="*/ 51758 w 793630"/>
                    <a:gd name="connsiteY8" fmla="*/ 4313 h 983411"/>
                    <a:gd name="connsiteX9" fmla="*/ 0 w 793630"/>
                    <a:gd name="connsiteY9" fmla="*/ 301925 h 983411"/>
                    <a:gd name="connsiteX10" fmla="*/ 112143 w 793630"/>
                    <a:gd name="connsiteY10" fmla="*/ 396815 h 983411"/>
                    <a:gd name="connsiteX11" fmla="*/ 189781 w 793630"/>
                    <a:gd name="connsiteY11" fmla="*/ 910087 h 983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793630" h="983411">
                      <a:moveTo>
                        <a:pt x="189781" y="910087"/>
                      </a:moveTo>
                      <a:lnTo>
                        <a:pt x="560717" y="983411"/>
                      </a:lnTo>
                      <a:lnTo>
                        <a:pt x="746185" y="595223"/>
                      </a:lnTo>
                      <a:lnTo>
                        <a:pt x="565030" y="258792"/>
                      </a:lnTo>
                      <a:lnTo>
                        <a:pt x="711679" y="452887"/>
                      </a:lnTo>
                      <a:lnTo>
                        <a:pt x="793630" y="370936"/>
                      </a:lnTo>
                      <a:lnTo>
                        <a:pt x="694426" y="142336"/>
                      </a:lnTo>
                      <a:lnTo>
                        <a:pt x="534838" y="0"/>
                      </a:lnTo>
                      <a:lnTo>
                        <a:pt x="51758" y="4313"/>
                      </a:lnTo>
                      <a:lnTo>
                        <a:pt x="0" y="301925"/>
                      </a:lnTo>
                      <a:lnTo>
                        <a:pt x="112143" y="396815"/>
                      </a:lnTo>
                      <a:lnTo>
                        <a:pt x="189781" y="910087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" name="Forme libre 10">
                  <a:extLst>
                    <a:ext uri="{FF2B5EF4-FFF2-40B4-BE49-F238E27FC236}">
                      <a16:creationId xmlns:a16="http://schemas.microsoft.com/office/drawing/2014/main" id="{3F0FC13F-E3D6-7E02-87A4-BB5EEBE2812E}"/>
                    </a:ext>
                  </a:extLst>
                </p:cNvPr>
                <p:cNvSpPr/>
                <p:nvPr/>
              </p:nvSpPr>
              <p:spPr>
                <a:xfrm>
                  <a:off x="8842075" y="1738223"/>
                  <a:ext cx="685800" cy="621102"/>
                </a:xfrm>
                <a:custGeom>
                  <a:avLst/>
                  <a:gdLst>
                    <a:gd name="connsiteX0" fmla="*/ 603850 w 685800"/>
                    <a:gd name="connsiteY0" fmla="*/ 17252 h 621102"/>
                    <a:gd name="connsiteX1" fmla="*/ 685800 w 685800"/>
                    <a:gd name="connsiteY1" fmla="*/ 94890 h 621102"/>
                    <a:gd name="connsiteX2" fmla="*/ 349370 w 685800"/>
                    <a:gd name="connsiteY2" fmla="*/ 332117 h 621102"/>
                    <a:gd name="connsiteX3" fmla="*/ 0 w 685800"/>
                    <a:gd name="connsiteY3" fmla="*/ 621102 h 621102"/>
                    <a:gd name="connsiteX4" fmla="*/ 4314 w 685800"/>
                    <a:gd name="connsiteY4" fmla="*/ 327803 h 621102"/>
                    <a:gd name="connsiteX5" fmla="*/ 90578 w 685800"/>
                    <a:gd name="connsiteY5" fmla="*/ 0 h 621102"/>
                    <a:gd name="connsiteX6" fmla="*/ 241540 w 685800"/>
                    <a:gd name="connsiteY6" fmla="*/ 51758 h 621102"/>
                    <a:gd name="connsiteX7" fmla="*/ 603850 w 685800"/>
                    <a:gd name="connsiteY7" fmla="*/ 17252 h 621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85800" h="621102">
                      <a:moveTo>
                        <a:pt x="603850" y="17252"/>
                      </a:moveTo>
                      <a:lnTo>
                        <a:pt x="685800" y="94890"/>
                      </a:lnTo>
                      <a:lnTo>
                        <a:pt x="349370" y="332117"/>
                      </a:lnTo>
                      <a:lnTo>
                        <a:pt x="0" y="621102"/>
                      </a:lnTo>
                      <a:lnTo>
                        <a:pt x="4314" y="327803"/>
                      </a:lnTo>
                      <a:lnTo>
                        <a:pt x="90578" y="0"/>
                      </a:lnTo>
                      <a:lnTo>
                        <a:pt x="241540" y="51758"/>
                      </a:lnTo>
                      <a:lnTo>
                        <a:pt x="603850" y="1725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3" name="Forme libre 12">
                <a:extLst>
                  <a:ext uri="{FF2B5EF4-FFF2-40B4-BE49-F238E27FC236}">
                    <a16:creationId xmlns:a16="http://schemas.microsoft.com/office/drawing/2014/main" id="{040B86EF-2F5F-B28D-C722-E21DB13804E1}"/>
                  </a:ext>
                </a:extLst>
              </p:cNvPr>
              <p:cNvSpPr/>
              <p:nvPr/>
            </p:nvSpPr>
            <p:spPr>
              <a:xfrm>
                <a:off x="5827143" y="3554083"/>
                <a:ext cx="112144" cy="345057"/>
              </a:xfrm>
              <a:custGeom>
                <a:avLst/>
                <a:gdLst>
                  <a:gd name="connsiteX0" fmla="*/ 38819 w 112144"/>
                  <a:gd name="connsiteY0" fmla="*/ 280359 h 345057"/>
                  <a:gd name="connsiteX1" fmla="*/ 0 w 112144"/>
                  <a:gd name="connsiteY1" fmla="*/ 0 h 345057"/>
                  <a:gd name="connsiteX2" fmla="*/ 99204 w 112144"/>
                  <a:gd name="connsiteY2" fmla="*/ 8626 h 345057"/>
                  <a:gd name="connsiteX3" fmla="*/ 112144 w 112144"/>
                  <a:gd name="connsiteY3" fmla="*/ 345057 h 345057"/>
                  <a:gd name="connsiteX4" fmla="*/ 38819 w 112144"/>
                  <a:gd name="connsiteY4" fmla="*/ 280359 h 345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144" h="345057">
                    <a:moveTo>
                      <a:pt x="38819" y="280359"/>
                    </a:moveTo>
                    <a:lnTo>
                      <a:pt x="0" y="0"/>
                    </a:lnTo>
                    <a:lnTo>
                      <a:pt x="99204" y="8626"/>
                    </a:lnTo>
                    <a:lnTo>
                      <a:pt x="112144" y="345057"/>
                    </a:lnTo>
                    <a:lnTo>
                      <a:pt x="38819" y="28035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Forme libre 13">
                <a:extLst>
                  <a:ext uri="{FF2B5EF4-FFF2-40B4-BE49-F238E27FC236}">
                    <a16:creationId xmlns:a16="http://schemas.microsoft.com/office/drawing/2014/main" id="{B5FF7536-054F-7AED-5A9E-263ABC286804}"/>
                  </a:ext>
                </a:extLst>
              </p:cNvPr>
              <p:cNvSpPr/>
              <p:nvPr/>
            </p:nvSpPr>
            <p:spPr>
              <a:xfrm>
                <a:off x="6068683" y="3575649"/>
                <a:ext cx="146649" cy="323491"/>
              </a:xfrm>
              <a:custGeom>
                <a:avLst/>
                <a:gdLst>
                  <a:gd name="connsiteX0" fmla="*/ 0 w 146649"/>
                  <a:gd name="connsiteY0" fmla="*/ 0 h 323491"/>
                  <a:gd name="connsiteX1" fmla="*/ 4313 w 146649"/>
                  <a:gd name="connsiteY1" fmla="*/ 276045 h 323491"/>
                  <a:gd name="connsiteX2" fmla="*/ 146649 w 146649"/>
                  <a:gd name="connsiteY2" fmla="*/ 323491 h 323491"/>
                  <a:gd name="connsiteX3" fmla="*/ 116457 w 146649"/>
                  <a:gd name="connsiteY3" fmla="*/ 12940 h 323491"/>
                  <a:gd name="connsiteX4" fmla="*/ 0 w 146649"/>
                  <a:gd name="connsiteY4" fmla="*/ 0 h 323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649" h="323491">
                    <a:moveTo>
                      <a:pt x="0" y="0"/>
                    </a:moveTo>
                    <a:cubicBezTo>
                      <a:pt x="1438" y="92015"/>
                      <a:pt x="2875" y="184030"/>
                      <a:pt x="4313" y="276045"/>
                    </a:cubicBezTo>
                    <a:lnTo>
                      <a:pt x="146649" y="323491"/>
                    </a:lnTo>
                    <a:lnTo>
                      <a:pt x="116457" y="129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508FDD27-277F-39C5-6854-FEB0090414BF}"/>
                  </a:ext>
                </a:extLst>
              </p:cNvPr>
              <p:cNvSpPr/>
              <p:nvPr/>
            </p:nvSpPr>
            <p:spPr>
              <a:xfrm>
                <a:off x="6430992" y="3502325"/>
                <a:ext cx="2971800" cy="703052"/>
              </a:xfrm>
              <a:custGeom>
                <a:avLst/>
                <a:gdLst>
                  <a:gd name="connsiteX0" fmla="*/ 86265 w 2971800"/>
                  <a:gd name="connsiteY0" fmla="*/ 651294 h 703052"/>
                  <a:gd name="connsiteX1" fmla="*/ 646982 w 2971800"/>
                  <a:gd name="connsiteY1" fmla="*/ 616788 h 703052"/>
                  <a:gd name="connsiteX2" fmla="*/ 970472 w 2971800"/>
                  <a:gd name="connsiteY2" fmla="*/ 629728 h 703052"/>
                  <a:gd name="connsiteX3" fmla="*/ 1419046 w 2971800"/>
                  <a:gd name="connsiteY3" fmla="*/ 703052 h 703052"/>
                  <a:gd name="connsiteX4" fmla="*/ 2018582 w 2971800"/>
                  <a:gd name="connsiteY4" fmla="*/ 698739 h 703052"/>
                  <a:gd name="connsiteX5" fmla="*/ 2713008 w 2971800"/>
                  <a:gd name="connsiteY5" fmla="*/ 659920 h 703052"/>
                  <a:gd name="connsiteX6" fmla="*/ 2971800 w 2971800"/>
                  <a:gd name="connsiteY6" fmla="*/ 616788 h 703052"/>
                  <a:gd name="connsiteX7" fmla="*/ 2885536 w 2971800"/>
                  <a:gd name="connsiteY7" fmla="*/ 521898 h 703052"/>
                  <a:gd name="connsiteX8" fmla="*/ 2549106 w 2971800"/>
                  <a:gd name="connsiteY8" fmla="*/ 483079 h 703052"/>
                  <a:gd name="connsiteX9" fmla="*/ 2286000 w 2971800"/>
                  <a:gd name="connsiteY9" fmla="*/ 508958 h 703052"/>
                  <a:gd name="connsiteX10" fmla="*/ 1729597 w 2971800"/>
                  <a:gd name="connsiteY10" fmla="*/ 508958 h 703052"/>
                  <a:gd name="connsiteX11" fmla="*/ 1699404 w 2971800"/>
                  <a:gd name="connsiteY11" fmla="*/ 427007 h 703052"/>
                  <a:gd name="connsiteX12" fmla="*/ 1686465 w 2971800"/>
                  <a:gd name="connsiteY12" fmla="*/ 25879 h 703052"/>
                  <a:gd name="connsiteX13" fmla="*/ 1591574 w 2971800"/>
                  <a:gd name="connsiteY13" fmla="*/ 30192 h 703052"/>
                  <a:gd name="connsiteX14" fmla="*/ 1660585 w 2971800"/>
                  <a:gd name="connsiteY14" fmla="*/ 534837 h 703052"/>
                  <a:gd name="connsiteX15" fmla="*/ 1406106 w 2971800"/>
                  <a:gd name="connsiteY15" fmla="*/ 474452 h 703052"/>
                  <a:gd name="connsiteX16" fmla="*/ 1380227 w 2971800"/>
                  <a:gd name="connsiteY16" fmla="*/ 0 h 703052"/>
                  <a:gd name="connsiteX17" fmla="*/ 1298276 w 2971800"/>
                  <a:gd name="connsiteY17" fmla="*/ 38818 h 703052"/>
                  <a:gd name="connsiteX18" fmla="*/ 1324155 w 2971800"/>
                  <a:gd name="connsiteY18" fmla="*/ 478766 h 703052"/>
                  <a:gd name="connsiteX19" fmla="*/ 728933 w 2971800"/>
                  <a:gd name="connsiteY19" fmla="*/ 362309 h 703052"/>
                  <a:gd name="connsiteX20" fmla="*/ 0 w 2971800"/>
                  <a:gd name="connsiteY20" fmla="*/ 431320 h 703052"/>
                  <a:gd name="connsiteX21" fmla="*/ 86265 w 2971800"/>
                  <a:gd name="connsiteY21" fmla="*/ 651294 h 703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71800" h="703052">
                    <a:moveTo>
                      <a:pt x="86265" y="651294"/>
                    </a:moveTo>
                    <a:lnTo>
                      <a:pt x="646982" y="616788"/>
                    </a:lnTo>
                    <a:lnTo>
                      <a:pt x="970472" y="629728"/>
                    </a:lnTo>
                    <a:lnTo>
                      <a:pt x="1419046" y="703052"/>
                    </a:lnTo>
                    <a:lnTo>
                      <a:pt x="2018582" y="698739"/>
                    </a:lnTo>
                    <a:lnTo>
                      <a:pt x="2713008" y="659920"/>
                    </a:lnTo>
                    <a:lnTo>
                      <a:pt x="2971800" y="616788"/>
                    </a:lnTo>
                    <a:lnTo>
                      <a:pt x="2885536" y="521898"/>
                    </a:lnTo>
                    <a:lnTo>
                      <a:pt x="2549106" y="483079"/>
                    </a:lnTo>
                    <a:lnTo>
                      <a:pt x="2286000" y="508958"/>
                    </a:lnTo>
                    <a:lnTo>
                      <a:pt x="1729597" y="508958"/>
                    </a:lnTo>
                    <a:lnTo>
                      <a:pt x="1699404" y="427007"/>
                    </a:lnTo>
                    <a:lnTo>
                      <a:pt x="1686465" y="25879"/>
                    </a:lnTo>
                    <a:lnTo>
                      <a:pt x="1591574" y="30192"/>
                    </a:lnTo>
                    <a:lnTo>
                      <a:pt x="1660585" y="534837"/>
                    </a:lnTo>
                    <a:lnTo>
                      <a:pt x="1406106" y="474452"/>
                    </a:lnTo>
                    <a:lnTo>
                      <a:pt x="1380227" y="0"/>
                    </a:lnTo>
                    <a:lnTo>
                      <a:pt x="1298276" y="38818"/>
                    </a:lnTo>
                    <a:lnTo>
                      <a:pt x="1324155" y="478766"/>
                    </a:lnTo>
                    <a:lnTo>
                      <a:pt x="728933" y="362309"/>
                    </a:lnTo>
                    <a:lnTo>
                      <a:pt x="0" y="431320"/>
                    </a:lnTo>
                    <a:lnTo>
                      <a:pt x="86265" y="65129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5126" name="Picture 6" descr="Student Clipart, Download Free Transparent PNG Format Clipart Images on  Pngtree">
              <a:extLst>
                <a:ext uri="{FF2B5EF4-FFF2-40B4-BE49-F238E27FC236}">
                  <a16:creationId xmlns:a16="http://schemas.microsoft.com/office/drawing/2014/main" id="{CB539909-007C-68EE-3AA4-E1831D61AA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3597" y="0"/>
              <a:ext cx="4572000" cy="457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4046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90A7-45D3-F6FA-600A-8552A977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523AE-8D31-E6AB-41CA-8D3C8A70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L’état de notre </a:t>
            </a:r>
            <a:r>
              <a:rPr lang="fr-FR" dirty="0" err="1"/>
              <a:t>GameHub</a:t>
            </a:r>
            <a:r>
              <a:rPr lang="fr-FR" dirty="0"/>
              <a:t>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684428-6383-9E43-61FF-705A323F7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000" b="1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GameHub</a:t>
            </a:r>
            <a:endParaRPr lang="fr-BE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400" b="1" dirty="0"/>
              <a:t>Responsabilité :</a:t>
            </a:r>
            <a:r>
              <a:rPr lang="fr-BE" sz="2400" dirty="0"/>
              <a:t> point d’entrée console.</a:t>
            </a:r>
          </a:p>
          <a:p>
            <a:r>
              <a:rPr lang="fr-BE" sz="2400" dirty="0"/>
              <a:t>Saisit les joueurs</a:t>
            </a:r>
          </a:p>
          <a:p>
            <a:r>
              <a:rPr lang="fr-BE" sz="2400" dirty="0"/>
              <a:t>Propose le choix du jeu (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fr-BE" sz="2400" dirty="0"/>
              <a:t>)</a:t>
            </a:r>
          </a:p>
          <a:p>
            <a:r>
              <a:rPr lang="fr-BE" sz="2400" dirty="0"/>
              <a:t>Demande une instance de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</a:t>
            </a:r>
            <a:r>
              <a:rPr lang="fr-BE" sz="2400" dirty="0"/>
              <a:t> via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JeuFactory</a:t>
            </a:r>
            <a:endParaRPr lang="fr-BE" sz="2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BE" sz="2400" dirty="0"/>
              <a:t>Si le jeu est configurable : appelle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configure(scanner)</a:t>
            </a:r>
          </a:p>
          <a:p>
            <a:r>
              <a:rPr lang="fr-BE" sz="2400" dirty="0"/>
              <a:t>Lance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jeu.jouer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(j1, j2)</a:t>
            </a:r>
            <a:r>
              <a:rPr lang="fr-BE" sz="2400" dirty="0"/>
              <a:t>, puis clôture la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990730-730A-4987-C0DB-58E3C3C93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AEE308CA-AFAB-E6AE-B498-60A2BA5F2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94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AB9AE-52C6-20A5-0AC8-B91B8BF1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8858DB-71B1-E537-2FED-08D8CCFA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L’état de notre </a:t>
            </a:r>
            <a:r>
              <a:rPr lang="fr-FR" dirty="0" err="1"/>
              <a:t>GameHub</a:t>
            </a:r>
            <a:r>
              <a:rPr lang="fr-FR" dirty="0"/>
              <a:t>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8F416C-BBF9-BDE1-0BC7-3F357BC1E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1600" b="1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</a:t>
            </a:r>
            <a:r>
              <a:rPr lang="fr-BE" sz="1800" b="1" dirty="0"/>
              <a:t> (interface)</a:t>
            </a:r>
            <a:endParaRPr lang="fr-BE" sz="1800" dirty="0"/>
          </a:p>
          <a:p>
            <a:pPr marL="0" indent="0">
              <a:buNone/>
            </a:pPr>
            <a:r>
              <a:rPr lang="fr-BE" sz="1800" b="1" dirty="0"/>
              <a:t>Responsabilité :</a:t>
            </a:r>
            <a:r>
              <a:rPr lang="fr-BE" sz="1800" dirty="0"/>
              <a:t> contrat commun à tous les jeux du hub.</a:t>
            </a:r>
          </a:p>
          <a:p>
            <a:pPr marL="0" indent="0">
              <a:buNone/>
            </a:pP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getType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1600" dirty="0"/>
              <a:t> – </a:t>
            </a:r>
            <a:r>
              <a:rPr lang="fr-BE" sz="1600" dirty="0" err="1"/>
              <a:t>enum</a:t>
            </a:r>
            <a:r>
              <a:rPr lang="fr-BE" sz="1600" dirty="0"/>
              <a:t> qui contient les types de jeux possibles</a:t>
            </a:r>
            <a:endParaRPr lang="fr-BE" sz="1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jouer(Joueur j1, Joueur j2)</a:t>
            </a:r>
            <a:r>
              <a:rPr lang="fr-BE" sz="1600" dirty="0"/>
              <a:t> – </a:t>
            </a:r>
            <a:r>
              <a:rPr lang="fr-BE" sz="1600" dirty="0" err="1"/>
              <a:t>enum</a:t>
            </a:r>
            <a:r>
              <a:rPr lang="fr-BE" sz="1600" dirty="0"/>
              <a:t> qui contient le résultat: J1_GAGNE, J2_GAGNE, EGALITE</a:t>
            </a:r>
            <a:br>
              <a:rPr lang="fr-BE" sz="1800" dirty="0"/>
            </a:br>
            <a:endParaRPr lang="fr-BE" sz="1800" dirty="0"/>
          </a:p>
          <a:p>
            <a:pPr marL="0" indent="0">
              <a:buNone/>
            </a:pPr>
            <a:r>
              <a:rPr lang="fr-BE" sz="1600" b="1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JeuConfigurable</a:t>
            </a:r>
            <a:r>
              <a:rPr lang="fr-BE" sz="1800" b="1" dirty="0"/>
              <a:t> (interface)</a:t>
            </a:r>
            <a:endParaRPr lang="fr-BE" sz="1800" dirty="0"/>
          </a:p>
          <a:p>
            <a:pPr marL="0" indent="0">
              <a:buNone/>
            </a:pPr>
            <a:r>
              <a:rPr lang="fr-BE" sz="1800" b="1" dirty="0"/>
              <a:t>Responsabilité :</a:t>
            </a:r>
            <a:r>
              <a:rPr lang="fr-BE" sz="1800" dirty="0"/>
              <a:t> marque un jeu comme “configurable avant de jouer”.</a:t>
            </a:r>
          </a:p>
          <a:p>
            <a:pPr marL="0" indent="0">
              <a:buNone/>
            </a:pP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configure(Scanner in)</a:t>
            </a:r>
          </a:p>
          <a:p>
            <a:pPr marL="0" indent="0">
              <a:buNone/>
            </a:pPr>
            <a:endParaRPr lang="fr-BE" sz="1800" dirty="0"/>
          </a:p>
          <a:p>
            <a:pPr marL="0" indent="0">
              <a:buNone/>
            </a:pPr>
            <a:r>
              <a:rPr lang="fr-BE" sz="1600" b="1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JeuFactory</a:t>
            </a:r>
            <a:endParaRPr lang="fr-BE" sz="1600" b="1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1800" b="1" dirty="0"/>
              <a:t>Responsabilité :</a:t>
            </a:r>
            <a:r>
              <a:rPr lang="fr-BE" sz="1800" dirty="0"/>
              <a:t> isoler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GameHub</a:t>
            </a:r>
            <a:r>
              <a:rPr lang="fr-BE" sz="1800" dirty="0"/>
              <a:t> des classes concrètes.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creer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800" dirty="0"/>
              <a:t> - Retourne une implémentation de jeu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742D9B-77B7-96F8-8A76-9F16E967D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5A1B3203-8901-3336-68AF-E58E4F210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2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2577-54C5-CDFE-B766-FB8CEE77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7AAC68-20A3-5E3F-4746-8C09754A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E43634-FF8F-6CE9-F108-F8B8D8F3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Nous allons maintenant créer un Jeu de Bataille.</a:t>
            </a:r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r>
              <a:rPr lang="fr-BE" sz="2400" dirty="0"/>
              <a:t>Commençons par redéfinir notre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BE" sz="2400" dirty="0"/>
              <a:t> de cartes en utilisant le concept de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fr-BE" sz="2400" dirty="0"/>
              <a:t> au lieu d’utiliser un tableau de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Carte</a:t>
            </a:r>
            <a:r>
              <a:rPr lang="fr-BE" sz="2400" dirty="0"/>
              <a:t>. Le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BE" sz="2400" dirty="0"/>
              <a:t> a été défini dans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cours02.exercice11</a:t>
            </a:r>
            <a:r>
              <a:rPr lang="fr-BE" sz="2400" dirty="0"/>
              <a:t>.</a:t>
            </a:r>
          </a:p>
          <a:p>
            <a:pPr marL="0" indent="0">
              <a:buNone/>
            </a:pPr>
            <a:r>
              <a:rPr lang="fr-BE" sz="2400" dirty="0"/>
              <a:t>Il faut modifier </a:t>
            </a:r>
          </a:p>
          <a:p>
            <a:pPr>
              <a:buFontTx/>
              <a:buChar char="-"/>
            </a:pPr>
            <a:r>
              <a:rPr lang="fr-BE" sz="2400" dirty="0"/>
              <a:t>Le champ cartes qui contient les cartes du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</a:p>
          <a:p>
            <a:pPr>
              <a:buFontTx/>
              <a:buChar char="-"/>
            </a:pPr>
            <a:r>
              <a:rPr lang="fr-BE" sz="2400" dirty="0"/>
              <a:t>Le constructeur du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</a:p>
          <a:p>
            <a:pPr>
              <a:buFontTx/>
              <a:buChar char="-"/>
            </a:pPr>
            <a:r>
              <a:rPr lang="fr-BE" sz="2400" dirty="0"/>
              <a:t>La méthode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shuffle</a:t>
            </a:r>
            <a:r>
              <a:rPr lang="fr-BE" sz="2400" dirty="0"/>
              <a:t> qui sera simplifiée: il suffit maintenant d’appeler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Collections.shuffle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(List)</a:t>
            </a:r>
            <a:r>
              <a:rPr lang="fr-BE" sz="2400" dirty="0"/>
              <a:t>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6D1CC3-A344-F307-81DC-7CF3CDA39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2EA4118B-08FC-A700-6FFD-5C7666003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16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038F-7A3F-30ED-BB41-0199A0C3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5AF85-726A-B363-5A02-DF415224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E499BF-399B-F23B-D088-7E12C48B8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Nous allons aussi redéfinir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Carte</a:t>
            </a:r>
            <a:r>
              <a:rPr lang="fr-BE" sz="2400" dirty="0"/>
              <a:t>.</a:t>
            </a:r>
          </a:p>
          <a:p>
            <a:pPr>
              <a:buFontTx/>
              <a:buChar char="-"/>
            </a:pPr>
            <a:r>
              <a:rPr lang="fr-BE" sz="2400" dirty="0"/>
              <a:t>On renomme la classe en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Carte</a:t>
            </a:r>
            <a:r>
              <a:rPr lang="fr-BE" sz="2400" dirty="0"/>
              <a:t> au lieu de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fr-BE" sz="2400" dirty="0"/>
              <a:t>.</a:t>
            </a:r>
          </a:p>
          <a:p>
            <a:pPr>
              <a:buFontTx/>
              <a:buChar char="-"/>
            </a:pPr>
            <a:r>
              <a:rPr lang="fr-BE" sz="2400" dirty="0"/>
              <a:t>On lui rajoute un getter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getValeur</a:t>
            </a:r>
            <a:r>
              <a:rPr lang="fr-BE" sz="2400" dirty="0"/>
              <a:t>.</a:t>
            </a:r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r>
              <a:rPr lang="fr-BE" sz="2400" dirty="0"/>
              <a:t>On crée aussi l’</a:t>
            </a:r>
            <a:r>
              <a:rPr lang="fr-BE" sz="2400" dirty="0" err="1"/>
              <a:t>enum</a:t>
            </a:r>
            <a:r>
              <a:rPr lang="fr-BE" sz="2400" dirty="0"/>
              <a:t>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Valeur</a:t>
            </a:r>
            <a:r>
              <a:rPr lang="fr-BE" sz="2400" dirty="0"/>
              <a:t> sur le modèle de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fr-BE" sz="2400" dirty="0"/>
              <a:t>.</a:t>
            </a:r>
          </a:p>
          <a:p>
            <a:pPr>
              <a:buFontTx/>
              <a:buChar char="-"/>
            </a:pPr>
            <a:r>
              <a:rPr lang="fr-BE" sz="2400" dirty="0"/>
              <a:t>L’ordre de l’</a:t>
            </a:r>
            <a:r>
              <a:rPr lang="fr-BE" sz="2400" dirty="0" err="1"/>
              <a:t>enum</a:t>
            </a:r>
            <a:r>
              <a:rPr lang="fr-BE" sz="2400" dirty="0"/>
              <a:t> est modifié: la première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Valeur</a:t>
            </a:r>
            <a:r>
              <a:rPr lang="fr-BE" sz="2400" dirty="0"/>
              <a:t> est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DEUX</a:t>
            </a:r>
            <a:r>
              <a:rPr lang="fr-BE" sz="2400" dirty="0"/>
              <a:t>, et la dernière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fr-BE" sz="2400" dirty="0"/>
              <a:t> (ce qui fera qu’une comparaison de deux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Valeur</a:t>
            </a:r>
            <a:r>
              <a:rPr lang="fr-BE" sz="2400" dirty="0"/>
              <a:t> correspondra aux règles du jeu de bataille (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c1.getValeur().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compareTo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(c2.getValeur())</a:t>
            </a:r>
            <a:r>
              <a:rPr lang="fr-BE" sz="2400" dirty="0"/>
              <a:t>).</a:t>
            </a:r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sz="24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AB872C-5B4A-DE69-CDC5-DA0CA27F6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F831A562-9AED-80CC-8B0D-C7D70F6B5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747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F288-0D6B-F0A7-5E4E-AE4F43A0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FDD077-1824-97B5-E865-D6C969AB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5B34BF-363B-620B-5894-C1C4660D3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On commencera par une version simplifiée du jeu de bataille, pour laquelle les cartes sont jetées à la poubelle en cas de bataille:</a:t>
            </a:r>
          </a:p>
          <a:p>
            <a:pPr marL="457200" indent="-457200">
              <a:buAutoNum type="arabicPeriod"/>
            </a:pPr>
            <a:r>
              <a:rPr lang="fr-BE" sz="2400" dirty="0"/>
              <a:t>Une classe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JeuBatailleV0</a:t>
            </a:r>
            <a:r>
              <a:rPr lang="fr-BE" sz="2400" dirty="0"/>
              <a:t>.</a:t>
            </a:r>
          </a:p>
          <a:p>
            <a:pPr lvl="1"/>
            <a:r>
              <a:rPr lang="fr-BE" dirty="0"/>
              <a:t>Dans cette classe, une variable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maxTours</a:t>
            </a:r>
            <a:r>
              <a:rPr lang="fr-BE" dirty="0"/>
              <a:t> donne le nombre maximum de tours pour éviter que le jeu ne tourne indéfiniment.</a:t>
            </a:r>
          </a:p>
          <a:p>
            <a:pPr lvl="1"/>
            <a:r>
              <a:rPr lang="fr-BE" dirty="0"/>
              <a:t>Comme dans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JeuNim</a:t>
            </a:r>
            <a:r>
              <a:rPr lang="fr-BE" dirty="0"/>
              <a:t>, la méthode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getType</a:t>
            </a:r>
            <a:r>
              <a:rPr lang="fr-BE" dirty="0"/>
              <a:t> retourne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TypeJeu.BATAILLE</a:t>
            </a:r>
            <a:r>
              <a:rPr lang="fr-BE" dirty="0"/>
              <a:t>.</a:t>
            </a:r>
          </a:p>
          <a:p>
            <a:pPr lvl="1"/>
            <a:endParaRPr lang="fr-BE" dirty="0"/>
          </a:p>
          <a:p>
            <a:pPr lvl="1"/>
            <a:r>
              <a:rPr lang="fr-BE" dirty="0"/>
              <a:t>Pour rendre le code plus lisible, on y ajoutera 2 méthodes privées:</a:t>
            </a:r>
          </a:p>
          <a:p>
            <a:pPr lvl="2"/>
            <a:r>
              <a:rPr lang="fr-BE" dirty="0"/>
              <a:t>La méthode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comparer(Carte c1, Carte c2)</a:t>
            </a:r>
            <a:r>
              <a:rPr lang="fr-BE" dirty="0"/>
              <a:t> compare les forces des deux cartes</a:t>
            </a:r>
          </a:p>
          <a:p>
            <a:pPr lvl="2"/>
            <a:r>
              <a:rPr lang="fr-BE" dirty="0"/>
              <a:t>La méthode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distribuer(Deck deck,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Deque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&lt;Carte&gt; j1,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Deque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&lt;Carte&gt; j2)</a:t>
            </a:r>
            <a:r>
              <a:rPr lang="fr-BE" dirty="0"/>
              <a:t> s’assure de distribuer les cartes du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BE" dirty="0"/>
              <a:t> (jeu de cartes) entre deux collections de type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Deque</a:t>
            </a:r>
            <a:r>
              <a:rPr lang="fr-BE" dirty="0"/>
              <a:t> qui représentent la main de chaque joueur.</a:t>
            </a:r>
            <a:endParaRPr lang="fr-BE" sz="2400" dirty="0"/>
          </a:p>
          <a:p>
            <a:pPr lvl="2"/>
            <a:endParaRPr lang="fr-BE" sz="24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0EB10C-4147-5374-4BE3-C96ACDB3D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D2E44EE1-9F8A-13B4-6283-9D7EDD5D1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114894" y="366916"/>
            <a:ext cx="1557556" cy="155755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843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A8A2-A3A4-FB0E-69BB-D357F6E7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D272E7-3A85-9281-36FC-BFAECEBA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FB94CA-B19C-582D-A99D-5469AED33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Nous nous attaquons maintenant à la méthode </a:t>
            </a:r>
            <a:br>
              <a:rPr lang="fr-BE" sz="2400" dirty="0"/>
            </a:br>
            <a:r>
              <a:rPr lang="fr-BE" sz="2400" dirty="0"/>
              <a:t>   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jouer(Joueur joueur1, Joueur joueur2)</a:t>
            </a:r>
            <a:r>
              <a:rPr lang="fr-BE" sz="2400" dirty="0"/>
              <a:t> </a:t>
            </a:r>
            <a:br>
              <a:rPr lang="fr-BE" sz="2400" dirty="0"/>
            </a:br>
            <a:r>
              <a:rPr lang="fr-BE" sz="2400" dirty="0"/>
              <a:t>qui modélise le déroulement du jeu; dans la version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JeuBatailleV0</a:t>
            </a:r>
            <a:r>
              <a:rPr lang="fr-BE" sz="2400" dirty="0"/>
              <a:t>, cette méthode ne prend pas encore en compte les situations de bataille (deux cartes identiques); si les joueurs déposent deux cartes identiques, celles-ci sont retirées du jeu.</a:t>
            </a:r>
          </a:p>
          <a:p>
            <a:pPr>
              <a:buFontTx/>
              <a:buChar char="-"/>
            </a:pPr>
            <a:r>
              <a:rPr lang="fr-BE" sz="2400" dirty="0"/>
              <a:t>On vérifie d’abord que les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Joueur</a:t>
            </a:r>
            <a:r>
              <a:rPr lang="fr-BE" sz="2400" dirty="0"/>
              <a:t> reçus sont non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fr-BE" sz="2400" dirty="0"/>
              <a:t>.</a:t>
            </a:r>
          </a:p>
          <a:p>
            <a:pPr>
              <a:buFontTx/>
              <a:buChar char="-"/>
            </a:pPr>
            <a:r>
              <a:rPr lang="fr-BE" sz="2400" dirty="0"/>
              <a:t>Ensuite, on construit le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BE" sz="2400" dirty="0"/>
              <a:t> de cartes et on le mélange.</a:t>
            </a:r>
          </a:p>
          <a:p>
            <a:pPr>
              <a:buFontTx/>
              <a:buChar char="-"/>
            </a:pPr>
            <a:r>
              <a:rPr lang="fr-BE" sz="2400" dirty="0"/>
              <a:t>Ensuite, on crée deux objets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Deque</a:t>
            </a:r>
            <a:r>
              <a:rPr lang="fr-BE" sz="2400" dirty="0"/>
              <a:t> (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ArrayDeque</a:t>
            </a:r>
            <a:r>
              <a:rPr lang="fr-BE" sz="2400" dirty="0"/>
              <a:t>) qui représentent la main de chaque joueur. Ces mains sont remplies en utilisant la méthode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distribuer(…)</a:t>
            </a:r>
            <a:r>
              <a:rPr lang="fr-BE" sz="2400" dirty="0"/>
              <a:t>.</a:t>
            </a:r>
          </a:p>
          <a:p>
            <a:pPr>
              <a:buFontTx/>
              <a:buChar char="-"/>
            </a:pPr>
            <a:r>
              <a:rPr lang="fr-BE" sz="2400" dirty="0"/>
              <a:t>On crée aussi une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fr-BE" sz="2400" dirty="0"/>
              <a:t> (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fr-BE" sz="2400" dirty="0"/>
              <a:t>)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cimetiere</a:t>
            </a:r>
            <a:r>
              <a:rPr lang="fr-BE" sz="2400" dirty="0"/>
              <a:t> qui contiendra les cartes retirées.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5D3F93A-11BB-E80B-25B1-1B09F4EB8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9D890C20-0EC5-12AB-558B-117B48143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549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6028F-529B-71EA-1E36-0819E719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3CF5E-333F-EC51-C0DC-842E66AA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2411D0-8CEA-C8BD-B074-5C20D96AE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Méthode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jouer(Joueur joueur1, Joueur joueur2)</a:t>
            </a:r>
            <a:r>
              <a:rPr lang="fr-BE" sz="2400" dirty="0"/>
              <a:t> (suite)</a:t>
            </a:r>
          </a:p>
          <a:p>
            <a:pPr>
              <a:buFontTx/>
              <a:buChar char="-"/>
            </a:pPr>
            <a:r>
              <a:rPr lang="fr-BE" sz="2400" dirty="0"/>
              <a:t>On initialise un compteur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tours = 0</a:t>
            </a:r>
            <a:r>
              <a:rPr lang="fr-BE" sz="2400" dirty="0"/>
              <a:t>.</a:t>
            </a:r>
          </a:p>
          <a:p>
            <a:pPr>
              <a:buFontTx/>
              <a:buChar char="-"/>
            </a:pPr>
            <a:r>
              <a:rPr lang="fr-BE" sz="2400" dirty="0"/>
              <a:t>Ensuite, tant qu’aucune des deux pioches n’est vide et qu’on n’a pas atteint le nombre maximum de tours,</a:t>
            </a:r>
          </a:p>
          <a:p>
            <a:pPr lvl="1">
              <a:buFontTx/>
              <a:buChar char="-"/>
            </a:pPr>
            <a:r>
              <a:rPr lang="fr-BE" sz="2000" dirty="0"/>
              <a:t>On incrémente le tour en cours</a:t>
            </a:r>
          </a:p>
          <a:p>
            <a:pPr lvl="1">
              <a:buFontTx/>
              <a:buChar char="-"/>
            </a:pPr>
            <a:r>
              <a:rPr lang="fr-BE" sz="2000" dirty="0"/>
              <a:t>On pioche la première carte de chaque joueur en utilisant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piocheJ1.pollFirst()</a:t>
            </a:r>
            <a:r>
              <a:rPr lang="fr-BE" sz="2000" dirty="0"/>
              <a:t> et</a:t>
            </a:r>
            <a:r>
              <a:rPr lang="fr-BE" sz="2800" dirty="0"/>
              <a:t>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piocheJ2.pollFirst()</a:t>
            </a:r>
            <a:r>
              <a:rPr lang="fr-BE" sz="2800" dirty="0"/>
              <a:t>.</a:t>
            </a:r>
            <a:endParaRPr lang="fr-BE" sz="2000" dirty="0"/>
          </a:p>
          <a:p>
            <a:pPr lvl="1">
              <a:buFontTx/>
              <a:buChar char="-"/>
            </a:pPr>
            <a:r>
              <a:rPr lang="fr-BE" sz="2000" dirty="0"/>
              <a:t>On compare les deux cartes en appelant la méthode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comparer(Carte c1, Carte c2)</a:t>
            </a:r>
            <a:r>
              <a:rPr lang="fr-BE" sz="2000" dirty="0"/>
              <a:t>.</a:t>
            </a:r>
          </a:p>
          <a:p>
            <a:pPr lvl="1">
              <a:buFontTx/>
              <a:buChar char="-"/>
            </a:pPr>
            <a:r>
              <a:rPr lang="fr-BE" sz="2000" dirty="0"/>
              <a:t>En fonction du résultat de la comparaison, </a:t>
            </a:r>
          </a:p>
          <a:p>
            <a:pPr lvl="2">
              <a:buFontTx/>
              <a:buChar char="-"/>
            </a:pPr>
            <a:r>
              <a:rPr lang="fr-BE" dirty="0"/>
              <a:t>Les deux cartes sont ajoutées à la fin de la pioche du joueur adéquat en utilisant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piocheJ1.addLast(…)</a:t>
            </a:r>
            <a:r>
              <a:rPr lang="fr-BE" sz="1600" dirty="0"/>
              <a:t> ou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piocheJ2.addLast(…)</a:t>
            </a:r>
            <a:r>
              <a:rPr lang="fr-BE" sz="1600" dirty="0"/>
              <a:t>.</a:t>
            </a:r>
          </a:p>
          <a:p>
            <a:pPr lvl="2">
              <a:buFontTx/>
              <a:buChar char="-"/>
            </a:pPr>
            <a:r>
              <a:rPr lang="fr-BE" dirty="0"/>
              <a:t>Ou (en cas d’égalité) les deux cartes sont ajoutées au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cimetiere</a:t>
            </a:r>
            <a:r>
              <a:rPr lang="fr-BE" dirty="0"/>
              <a:t>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BDE8C1-A4BE-7B59-5D90-A31BF0BBE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444DE9B8-B4BC-4F13-15FD-E2E1DD59A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47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0D7C-08C6-6495-F261-A8D0A982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80597F-1495-F4C3-724F-59E21600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8366AB-ED00-3EE6-7C55-C8D511DFF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Méthode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jouer(Joueur joueur1, Joueur joueur2)</a:t>
            </a:r>
            <a:r>
              <a:rPr lang="fr-BE" sz="2400" dirty="0"/>
              <a:t> (suite)</a:t>
            </a:r>
          </a:p>
          <a:p>
            <a:pPr>
              <a:buFontTx/>
              <a:buChar char="-"/>
            </a:pPr>
            <a:r>
              <a:rPr lang="fr-BE" sz="2400" dirty="0"/>
              <a:t>Une fois qu’on sort de la boucle, on doit déterminer le résultat de la partie.</a:t>
            </a:r>
          </a:p>
          <a:p>
            <a:pPr lvl="1">
              <a:buFontTx/>
              <a:buChar char="-"/>
            </a:pPr>
            <a:r>
              <a:rPr lang="fr-BE" sz="2000" dirty="0"/>
              <a:t>Soit la pioche des deux joueurs sont vides: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ResultatPartie.MATCH_NUL</a:t>
            </a:r>
            <a:r>
              <a:rPr lang="fr-BE" sz="2000" dirty="0"/>
              <a:t>.</a:t>
            </a:r>
          </a:p>
          <a:p>
            <a:pPr lvl="1">
              <a:buFontTx/>
              <a:buChar char="-"/>
            </a:pPr>
            <a:r>
              <a:rPr lang="fr-BE" sz="2000" dirty="0"/>
              <a:t>Soit la pioche du joueur1 est vide: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ResultatPartie.JOUEUR1_GAGNE</a:t>
            </a:r>
            <a:r>
              <a:rPr lang="fr-BE" sz="2000" dirty="0"/>
              <a:t>.</a:t>
            </a:r>
          </a:p>
          <a:p>
            <a:pPr lvl="1">
              <a:buFontTx/>
              <a:buChar char="-"/>
            </a:pPr>
            <a:r>
              <a:rPr lang="fr-BE" sz="2000" dirty="0"/>
              <a:t>Soit la pioche du joueur2 est vide: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ResultatPartie.JOUEUR2_GAGNE</a:t>
            </a:r>
            <a:r>
              <a:rPr lang="fr-BE" sz="2000" dirty="0"/>
              <a:t>.</a:t>
            </a:r>
          </a:p>
          <a:p>
            <a:pPr lvl="1">
              <a:buFontTx/>
              <a:buChar char="-"/>
            </a:pPr>
            <a:r>
              <a:rPr lang="fr-BE" sz="2000" dirty="0"/>
              <a:t>Sinon (aucune pioche n’est vide: on a atteint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maxTours</a:t>
            </a:r>
            <a:r>
              <a:rPr lang="fr-BE" sz="2000" dirty="0"/>
              <a:t>):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ResultatPartie.MATCH_NUL</a:t>
            </a:r>
            <a:r>
              <a:rPr lang="fr-BE" sz="2000" dirty="0"/>
              <a:t>.</a:t>
            </a:r>
          </a:p>
          <a:p>
            <a:pPr lvl="2">
              <a:buFontTx/>
              <a:buChar char="-"/>
            </a:pPr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17DB21-8C71-9F74-C952-978C305EE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0D9710C2-837D-165C-D1C2-F7992CA5C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605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37EB2-4D45-42DB-5D9A-3C74E928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31405-9938-7452-975C-E0CE6ED8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G.20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EF11B4-1910-5E51-5BF8-B1030D1A7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Pour la version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JeuBatailleV1</a:t>
            </a:r>
            <a:r>
              <a:rPr lang="fr-BE" sz="2400" dirty="0"/>
              <a:t>,</a:t>
            </a:r>
          </a:p>
          <a:p>
            <a:pPr>
              <a:buFontTx/>
              <a:buChar char="-"/>
            </a:pPr>
            <a:r>
              <a:rPr lang="fr-BE" sz="2400" dirty="0"/>
              <a:t>Les cartes déposées sur la table par les deux joueurs sont mises dans une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fr-BE" sz="2400" dirty="0"/>
              <a:t> (appelée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pot</a:t>
            </a:r>
            <a:r>
              <a:rPr lang="fr-BE" sz="2400" dirty="0"/>
              <a:t>).</a:t>
            </a:r>
          </a:p>
          <a:p>
            <a:pPr>
              <a:buFontTx/>
              <a:buChar char="-"/>
            </a:pPr>
            <a:r>
              <a:rPr lang="fr-BE" sz="2400" dirty="0"/>
              <a:t>En cas d’égalité, on appelle la méthode </a:t>
            </a:r>
            <a:br>
              <a:rPr lang="fr-BE" sz="2400" dirty="0"/>
            </a:br>
            <a:r>
              <a:rPr lang="fr-BE" sz="2400" dirty="0"/>
              <a:t>   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resoudreBataille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(piocheJ1, piocheJ2, pot, joueur1, joueur2)</a:t>
            </a:r>
            <a:r>
              <a:rPr lang="fr-BE" sz="2000" dirty="0"/>
              <a:t> .</a:t>
            </a:r>
            <a:endParaRPr lang="fr-BE" sz="2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Tx/>
              <a:buChar char="-"/>
            </a:pPr>
            <a:r>
              <a:rPr lang="fr-BE" sz="2400" dirty="0"/>
              <a:t>Je vous laisse comprendre la logique ce cette méthode qui boucle de manière à prendre en compte le fait que deux cartes visibles successives (ou plus) soient égales.</a:t>
            </a:r>
          </a:p>
          <a:p>
            <a:pPr>
              <a:buFontTx/>
              <a:buChar char="-"/>
            </a:pPr>
            <a:endParaRPr lang="fr-BE" sz="2000" dirty="0"/>
          </a:p>
          <a:p>
            <a:pPr lvl="2">
              <a:buFontTx/>
              <a:buChar char="-"/>
            </a:pPr>
            <a:endParaRPr lang="fr-BE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7ABE31-1D7F-B77C-E961-DE74A46C3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AA17ED1D-1D3E-E2D3-1A16-64783E55E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688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F8485-8A36-D2A8-8288-69179CA66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60B4825-3875-6CFD-CBD6-36DFD379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" y="0"/>
            <a:ext cx="12189026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39A88CC-5ABE-A7FF-9C13-70784A30BB2E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474D59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Les Exceptions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C42855-600D-9FCA-BC83-CAF0D3E2C987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474D59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Gérer les situations exceptionnelles qui peuvent survenir…</a:t>
            </a:r>
          </a:p>
        </p:txBody>
      </p:sp>
    </p:spTree>
    <p:extLst>
      <p:ext uri="{BB962C8B-B14F-4D97-AF65-F5344CB8AC3E}">
        <p14:creationId xmlns:p14="http://schemas.microsoft.com/office/powerpoint/2010/main" val="37214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Exemple pratique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Plusieurs Exceptions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Communication avec le gestionnaire d'Exception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mécanisme de gestion des Exceptions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Exceptions standard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méthode </a:t>
            </a:r>
            <a:r>
              <a:rPr lang="fr-FR" dirty="0" err="1">
                <a:latin typeface="Consolas"/>
                <a:cs typeface="Consolas"/>
              </a:rPr>
              <a:t>printStackTrace</a:t>
            </a: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CA99A5-B332-B909-6733-15C39193A78F}"/>
              </a:ext>
            </a:extLst>
          </p:cNvPr>
          <p:cNvGrpSpPr/>
          <p:nvPr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6D659AA5-DE48-3A94-0973-5630499C0B8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FF3D4ED-5448-D9C2-964C-3C9EFB6B14C0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67A0404C-AAA0-DF2F-DC71-3C0768595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9768621"/>
      </p:ext>
    </p:extLst>
  </p:cSld>
  <p:clrMapOvr>
    <a:masterClrMapping/>
  </p:clrMapOvr>
  <p:transition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6C517DB-1423-3BFF-4A64-6B3C7F118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935"/>
            <a:ext cx="10515600" cy="1325563"/>
          </a:xfrm>
        </p:spPr>
        <p:txBody>
          <a:bodyPr/>
          <a:lstStyle/>
          <a:p>
            <a:r>
              <a:rPr lang="fr-FR" dirty="0"/>
              <a:t>Petite expérience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445B462-3246-E10D-D2E8-18FCEA14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3005"/>
            <a:ext cx="10515600" cy="1186952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Que se passe-t-il si vous écrivez ce code dans une méthode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dirty="0"/>
              <a:t>?</a:t>
            </a:r>
          </a:p>
          <a:p>
            <a:pPr marL="0" indent="0">
              <a:buNone/>
            </a:pPr>
            <a:r>
              <a:rPr lang="fr-FR" dirty="0" err="1"/>
              <a:t>IntelliJ</a:t>
            </a:r>
            <a:r>
              <a:rPr lang="fr-FR" dirty="0"/>
              <a:t> vous donne-t-il un warning?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9A441E6-CC38-C774-DF83-2805A4286FDE}"/>
              </a:ext>
            </a:extLst>
          </p:cNvPr>
          <p:cNvSpPr txBox="1"/>
          <p:nvPr/>
        </p:nvSpPr>
        <p:spPr>
          <a:xfrm>
            <a:off x="912744" y="1514158"/>
            <a:ext cx="3086827" cy="58477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"/>
                <a:cs typeface="Consolas" panose="020B0609020204030204" pitchFamily="49" charset="0"/>
              </a:rPr>
              <a:t>i </a:t>
            </a:r>
            <a:r>
              <a:rPr lang="fr-BE" sz="1600" dirty="0">
                <a:latin typeface=""/>
              </a:rPr>
              <a:t>= </a:t>
            </a:r>
            <a:r>
              <a:rPr lang="fr-BE" sz="1600" dirty="0">
                <a:solidFill>
                  <a:srgbClr val="6897BB"/>
                </a:solidFill>
                <a:effectLst/>
                <a:latin typeface=""/>
              </a:rPr>
              <a:t>0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/i)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A9165B-3E10-6A62-196E-29AE8FBF3791}"/>
              </a:ext>
            </a:extLst>
          </p:cNvPr>
          <p:cNvSpPr txBox="1"/>
          <p:nvPr/>
        </p:nvSpPr>
        <p:spPr>
          <a:xfrm>
            <a:off x="1804416" y="5553340"/>
            <a:ext cx="9937967" cy="58477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Exception in thread "main" </a:t>
            </a:r>
            <a:r>
              <a:rPr lang="fr-FR" sz="1600" dirty="0" err="1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java.lang.</a:t>
            </a:r>
            <a:r>
              <a:rPr lang="fr-FR" sz="1600" dirty="0" err="1">
                <a:solidFill>
                  <a:srgbClr val="7878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ArithmeticException</a:t>
            </a:r>
            <a:r>
              <a:rPr lang="fr-FR" sz="1600" dirty="0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/ by </a:t>
            </a:r>
            <a:r>
              <a:rPr lang="fr-FR" sz="1600" dirty="0" err="1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zero</a:t>
            </a:r>
            <a:endParaRPr lang="fr-FR" sz="1600" dirty="0">
              <a:solidFill>
                <a:srgbClr val="FF5E6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at 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be.ephec.java.cours05.introException.TestException.main</a:t>
            </a:r>
            <a:r>
              <a:rPr lang="fr-FR" sz="1600" dirty="0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007CE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TestException.java:6</a:t>
            </a:r>
            <a:r>
              <a:rPr lang="fr-FR" sz="1600" dirty="0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6EC1852-C08E-1470-2932-EAAE0963BC0F}"/>
              </a:ext>
            </a:extLst>
          </p:cNvPr>
          <p:cNvSpPr txBox="1"/>
          <p:nvPr/>
        </p:nvSpPr>
        <p:spPr>
          <a:xfrm>
            <a:off x="5835805" y="1514158"/>
            <a:ext cx="4438185" cy="83099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divideBy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i)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/i)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363F71-FDF5-7163-7831-C940F6E4CAF5}"/>
              </a:ext>
            </a:extLst>
          </p:cNvPr>
          <p:cNvSpPr txBox="1"/>
          <p:nvPr/>
        </p:nvSpPr>
        <p:spPr>
          <a:xfrm>
            <a:off x="838199" y="3598959"/>
            <a:ext cx="105155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800" dirty="0"/>
              <a:t>Et si vous appelez la méthode de droite au lieu d’exécuter la 2</a:t>
            </a:r>
            <a:r>
              <a:rPr lang="fr-FR" sz="2800" baseline="30000" dirty="0"/>
              <a:t>ème</a:t>
            </a:r>
            <a:r>
              <a:rPr lang="fr-FR" sz="2800" dirty="0"/>
              <a:t> ligne?</a:t>
            </a:r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sz="2800" dirty="0"/>
              <a:t>Pouvez-vous exécuter le code? </a:t>
            </a:r>
          </a:p>
          <a:p>
            <a:pPr marL="0" indent="0">
              <a:buNone/>
            </a:pPr>
            <a:r>
              <a:rPr lang="fr-FR" sz="2800" dirty="0"/>
              <a:t>Que se passe-t-il à l’exécution?</a:t>
            </a:r>
          </a:p>
        </p:txBody>
      </p:sp>
      <p:cxnSp>
        <p:nvCxnSpPr>
          <p:cNvPr id="10" name="Connecteur en angle 9">
            <a:extLst>
              <a:ext uri="{FF2B5EF4-FFF2-40B4-BE49-F238E27FC236}">
                <a16:creationId xmlns:a16="http://schemas.microsoft.com/office/drawing/2014/main" id="{EBFBBEE0-149F-B94D-7A96-36EDB13DA1A8}"/>
              </a:ext>
            </a:extLst>
          </p:cNvPr>
          <p:cNvCxnSpPr>
            <a:cxnSpLocks/>
            <a:endCxn id="13" idx="3"/>
          </p:cNvCxnSpPr>
          <p:nvPr/>
        </p:nvCxnSpPr>
        <p:spPr>
          <a:xfrm rot="16200000" flipV="1">
            <a:off x="9740888" y="2462759"/>
            <a:ext cx="1740300" cy="674096"/>
          </a:xfrm>
          <a:prstGeom prst="bentConnector2">
            <a:avLst/>
          </a:prstGeom>
          <a:ln w="190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Expérience - Icônes éducation gratuites">
            <a:extLst>
              <a:ext uri="{FF2B5EF4-FFF2-40B4-BE49-F238E27FC236}">
                <a16:creationId xmlns:a16="http://schemas.microsoft.com/office/drawing/2014/main" id="{CB326682-0F62-8B78-34D8-57C9B65BD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230193"/>
            <a:ext cx="1026742" cy="102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Espace réservé du numéro de diapositive 4">
            <a:extLst>
              <a:ext uri="{FF2B5EF4-FFF2-40B4-BE49-F238E27FC236}">
                <a16:creationId xmlns:a16="http://schemas.microsoft.com/office/drawing/2014/main" id="{02F93034-6AF7-220D-70F5-470B6FA87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7596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4">
            <a:extLst>
              <a:ext uri="{FF2B5EF4-FFF2-40B4-BE49-F238E27FC236}">
                <a16:creationId xmlns:a16="http://schemas.microsoft.com/office/drawing/2014/main" id="{68D4B21A-5D4E-8152-8B5B-812AF08B8E78}"/>
              </a:ext>
            </a:extLst>
          </p:cNvPr>
          <p:cNvSpPr txBox="1">
            <a:spLocks/>
          </p:cNvSpPr>
          <p:nvPr/>
        </p:nvSpPr>
        <p:spPr>
          <a:xfrm>
            <a:off x="838199" y="3469341"/>
            <a:ext cx="11223172" cy="21803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Que se passe-t-il si vous écrivez ce code dans une méthode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dirty="0"/>
              <a:t>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 err="1"/>
              <a:t>IntelliJ</a:t>
            </a:r>
            <a:r>
              <a:rPr lang="fr-FR" dirty="0"/>
              <a:t> vous donne-t-il un warning? Et si vous appelez la méthode de droite?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Pouvez-vous exécuter le code?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Que se passe-t-il à l’exécution?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6C517DB-1423-3BFF-4A64-6B3C7F11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Une autre expérience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445B462-3246-E10D-D2E8-18FCEA14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078"/>
            <a:ext cx="10515600" cy="96643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Ecrivez maintenant une classe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Truc</a:t>
            </a:r>
            <a:r>
              <a:rPr lang="fr-FR" dirty="0"/>
              <a:t> qui présente une méthode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truc()</a:t>
            </a:r>
            <a:r>
              <a:rPr lang="fr-FR" dirty="0"/>
              <a:t> qui retourne un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fr-FR" dirty="0"/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9A441E6-CC38-C774-DF83-2805A4286FDE}"/>
              </a:ext>
            </a:extLst>
          </p:cNvPr>
          <p:cNvSpPr txBox="1"/>
          <p:nvPr/>
        </p:nvSpPr>
        <p:spPr>
          <a:xfrm>
            <a:off x="904723" y="2565514"/>
            <a:ext cx="3585501" cy="58477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Truc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t.truc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EB6E6C3-1F6F-CDD1-19AD-D6867664326F}"/>
              </a:ext>
            </a:extLst>
          </p:cNvPr>
          <p:cNvSpPr txBox="1"/>
          <p:nvPr/>
        </p:nvSpPr>
        <p:spPr>
          <a:xfrm>
            <a:off x="5404624" y="2565514"/>
            <a:ext cx="6096000" cy="83099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callMethodTruc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(Truc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t.truc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60714E5-EC0D-D398-9D25-9529D4B3A01B}"/>
              </a:ext>
            </a:extLst>
          </p:cNvPr>
          <p:cNvSpPr txBox="1"/>
          <p:nvPr/>
        </p:nvSpPr>
        <p:spPr>
          <a:xfrm>
            <a:off x="1698272" y="5584453"/>
            <a:ext cx="10044111" cy="83099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Exception in thread "main" </a:t>
            </a:r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java.lang.</a:t>
            </a:r>
            <a:r>
              <a:rPr lang="fr-FR" sz="1600" dirty="0" err="1">
                <a:solidFill>
                  <a:srgbClr val="7878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NullPointerException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Cannot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invoke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"be.ephec.java.cours05.introException.Truc.truc()" </a:t>
            </a:r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because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endParaRPr lang="fr-FR" sz="1600" dirty="0">
              <a:solidFill>
                <a:srgbClr val="FF5E6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at be.ephec.java.cours05.introException.TestException.main(</a:t>
            </a:r>
            <a:r>
              <a:rPr lang="fr-FR" sz="1600" dirty="0">
                <a:solidFill>
                  <a:srgbClr val="007CE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TestException.java:6</a:t>
            </a:r>
            <a:r>
              <a:rPr lang="fr-FR" sz="1600" dirty="0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pic>
        <p:nvPicPr>
          <p:cNvPr id="13" name="Picture 14" descr="Expérience - Icônes éducation gratuites">
            <a:extLst>
              <a:ext uri="{FF2B5EF4-FFF2-40B4-BE49-F238E27FC236}">
                <a16:creationId xmlns:a16="http://schemas.microsoft.com/office/drawing/2014/main" id="{19BFAE60-A797-BBEF-41F9-2535EB9DE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230193"/>
            <a:ext cx="1026742" cy="102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ce réservé du numéro de diapositive 4">
            <a:extLst>
              <a:ext uri="{FF2B5EF4-FFF2-40B4-BE49-F238E27FC236}">
                <a16:creationId xmlns:a16="http://schemas.microsoft.com/office/drawing/2014/main" id="{BC4CE7DF-232C-5C44-762C-B47AC76E0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911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 animBg="1"/>
      <p:bldP spid="8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F0D8D-E373-8B00-945B-468FAB1D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RuntimeExceptions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069595-C713-8ED4-D0E3-48DD7625E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2243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/>
              <a:t>Nous venons de provoquer deux exceptions.</a:t>
            </a:r>
          </a:p>
          <a:p>
            <a:pPr marL="0" indent="0">
              <a:buNone/>
            </a:pPr>
            <a:r>
              <a:rPr lang="fr-FR" dirty="0" err="1"/>
              <a:t>IntelliJ</a:t>
            </a:r>
            <a:r>
              <a:rPr lang="fr-FR" dirty="0"/>
              <a:t> peut vous prévenir des cas « évidents » où votre code n’est pas correct, mais pas toujours…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Si le code des méthodes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callMethodTruc</a:t>
            </a:r>
            <a:r>
              <a:rPr lang="fr-FR" dirty="0"/>
              <a:t> et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divideBy</a:t>
            </a:r>
            <a:r>
              <a:rPr lang="fr-FR" dirty="0"/>
              <a:t> avait été correctement écrit, on aurait vérifié (avant l’appel ou dans la méthode, c’est une question de choix) que:</a:t>
            </a:r>
          </a:p>
          <a:p>
            <a:r>
              <a:rPr lang="fr-FR" dirty="0"/>
              <a:t>Le dénominateur était bien différent de zéro avant de diviser.</a:t>
            </a:r>
          </a:p>
          <a:p>
            <a:r>
              <a:rPr lang="fr-FR" dirty="0"/>
              <a:t>L’objet sur lequel on voulait appeler une méthode était bien non </a:t>
            </a:r>
            <a:r>
              <a:rPr lang="fr-FR" dirty="0" err="1"/>
              <a:t>null</a:t>
            </a:r>
            <a:r>
              <a:rPr lang="fr-FR" dirty="0"/>
              <a:t>.</a:t>
            </a:r>
          </a:p>
        </p:txBody>
      </p:sp>
      <p:pic>
        <p:nvPicPr>
          <p:cNvPr id="7" name="Picture 14" descr="Expérience - Icônes éducation gratuites">
            <a:extLst>
              <a:ext uri="{FF2B5EF4-FFF2-40B4-BE49-F238E27FC236}">
                <a16:creationId xmlns:a16="http://schemas.microsoft.com/office/drawing/2014/main" id="{3B7FE3F8-EA45-873F-0AC2-0303B37DD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3888" y="230193"/>
            <a:ext cx="1026742" cy="102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4">
            <a:extLst>
              <a:ext uri="{FF2B5EF4-FFF2-40B4-BE49-F238E27FC236}">
                <a16:creationId xmlns:a16="http://schemas.microsoft.com/office/drawing/2014/main" id="{D002A333-9967-4E0C-70AE-DB3681C10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06A27FB-8ACB-7FBB-0815-B7288EB50E44}"/>
              </a:ext>
            </a:extLst>
          </p:cNvPr>
          <p:cNvSpPr txBox="1"/>
          <p:nvPr/>
        </p:nvSpPr>
        <p:spPr>
          <a:xfrm>
            <a:off x="7952218" y="1533236"/>
            <a:ext cx="3608412" cy="58477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FR" sz="1600" dirty="0" err="1">
                <a:solidFill>
                  <a:srgbClr val="FF5E6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java.lang.</a:t>
            </a:r>
            <a:r>
              <a:rPr lang="fr-FR" sz="1600" dirty="0" err="1">
                <a:solidFill>
                  <a:srgbClr val="7878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ArithmeticException</a:t>
            </a:r>
            <a:endParaRPr lang="fr-FR" sz="1600" dirty="0">
              <a:solidFill>
                <a:srgbClr val="FF5E6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1600" dirty="0" err="1">
                <a:solidFill>
                  <a:srgbClr val="FF5E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java.lang.</a:t>
            </a:r>
            <a:r>
              <a:rPr lang="fr-FR" sz="1600" dirty="0" err="1">
                <a:solidFill>
                  <a:srgbClr val="7878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NullPointerException</a:t>
            </a:r>
            <a:endParaRPr lang="fr-FR" sz="1600" dirty="0">
              <a:solidFill>
                <a:srgbClr val="FF5E6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928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Exemple pratique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Plusieurs Exceptions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Communication avec le gestionnaire d'Exception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mécanisme de gestion des Exceptions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Exceptions standard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méthode </a:t>
            </a:r>
            <a:r>
              <a:rPr lang="fr-FR" dirty="0" err="1">
                <a:latin typeface="Consolas"/>
                <a:cs typeface="Consolas"/>
              </a:rPr>
              <a:t>printStackTrace</a:t>
            </a: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CA99A5-B332-B909-6733-15C39193A78F}"/>
              </a:ext>
            </a:extLst>
          </p:cNvPr>
          <p:cNvGrpSpPr/>
          <p:nvPr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6D659AA5-DE48-3A94-0973-5630499C0B8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FF3D4ED-5448-D9C2-964C-3C9EFB6B14C0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BF304A1D-2C8E-5F1F-E103-3B7F3F453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6659703"/>
      </p:ext>
    </p:extLst>
  </p:cSld>
  <p:clrMapOvr>
    <a:masterClrMapping/>
  </p:clrMapOvr>
  <p:transition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DBF4F9A-583E-9DE0-A3BC-0D9943A5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Exceptions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0AB7E9C-BEDD-5825-9C3D-27A4EAC9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Lors de l'exécution d'un programme, certains événements hors contrôle (et non prévisibles) peuvent empêcher son déroulement.</a:t>
            </a:r>
          </a:p>
          <a:p>
            <a:r>
              <a:rPr lang="fr-FR" dirty="0"/>
              <a:t>une DB qui ne répond pas</a:t>
            </a:r>
          </a:p>
          <a:p>
            <a:r>
              <a:rPr lang="fr-FR" dirty="0"/>
              <a:t>un fichier vide</a:t>
            </a:r>
          </a:p>
          <a:p>
            <a:r>
              <a:rPr lang="fr-FR" dirty="0"/>
              <a:t>une donnée incorrecte/incomplète reçue par une méthode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La gestion de l'erreur n'est pas nécessairement à faire par la méthode où l'erreur s'est produite.</a:t>
            </a:r>
          </a:p>
          <a:p>
            <a:endParaRPr lang="fr-FR" dirty="0"/>
          </a:p>
        </p:txBody>
      </p:sp>
      <p:sp>
        <p:nvSpPr>
          <p:cNvPr id="2" name="Espace réservé du numéro de diapositive 4">
            <a:extLst>
              <a:ext uri="{FF2B5EF4-FFF2-40B4-BE49-F238E27FC236}">
                <a16:creationId xmlns:a16="http://schemas.microsoft.com/office/drawing/2014/main" id="{540A7FFF-BC3F-1480-6B30-8061D3388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5916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DBF4F9A-583E-9DE0-A3BC-0D9943A5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Exceptions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0AB7E9C-BEDD-5825-9C3D-27A4EAC9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Java propose un mécanisme, la </a:t>
            </a:r>
            <a:r>
              <a:rPr lang="fr-FR" dirty="0">
                <a:solidFill>
                  <a:schemeClr val="accent4"/>
                </a:solidFill>
              </a:rPr>
              <a:t>gestion d'exceptions</a:t>
            </a:r>
            <a:r>
              <a:rPr lang="fr-FR" dirty="0"/>
              <a:t>, qui permet</a:t>
            </a:r>
          </a:p>
          <a:p>
            <a:r>
              <a:rPr lang="fr-FR" dirty="0"/>
              <a:t>de dissocier la </a:t>
            </a:r>
            <a:r>
              <a:rPr lang="fr-FR" dirty="0">
                <a:solidFill>
                  <a:schemeClr val="accent4"/>
                </a:solidFill>
              </a:rPr>
              <a:t>détection</a:t>
            </a:r>
            <a:r>
              <a:rPr lang="fr-FR" dirty="0"/>
              <a:t> d'une anomalie de son traitement</a:t>
            </a:r>
          </a:p>
          <a:p>
            <a:r>
              <a:rPr lang="fr-FR" dirty="0"/>
              <a:t>de séparer la </a:t>
            </a:r>
            <a:r>
              <a:rPr lang="fr-FR" dirty="0">
                <a:solidFill>
                  <a:schemeClr val="accent4"/>
                </a:solidFill>
              </a:rPr>
              <a:t>gestion des anomalies </a:t>
            </a:r>
            <a:r>
              <a:rPr lang="fr-FR" dirty="0"/>
              <a:t>du reste du code (ce qui contribue à la lisibilité du code)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En pratique, le flux normal est interrompu par une instruction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throw</a:t>
            </a:r>
            <a:r>
              <a:rPr lang="fr-FR" dirty="0">
                <a:solidFill>
                  <a:srgbClr val="A6082B"/>
                </a:solidFill>
              </a:rPr>
              <a:t> </a:t>
            </a:r>
            <a:r>
              <a:rPr lang="fr-FR" dirty="0"/>
              <a:t>(qui contient un objet de type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/>
              <a:t>). </a:t>
            </a:r>
          </a:p>
          <a:p>
            <a:pPr marL="0" indent="0">
              <a:buNone/>
            </a:pPr>
            <a:r>
              <a:rPr lang="fr-FR" dirty="0"/>
              <a:t>Cette interruption provoque alors le branchement à un ensemble d'instructions nommées 'gestionnaire d'instructions' (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catch</a:t>
            </a:r>
            <a:r>
              <a:rPr lang="fr-FR" dirty="0"/>
              <a:t>).</a:t>
            </a:r>
          </a:p>
        </p:txBody>
      </p:sp>
      <p:sp>
        <p:nvSpPr>
          <p:cNvPr id="2" name="Espace réservé du numéro de diapositive 4">
            <a:extLst>
              <a:ext uri="{FF2B5EF4-FFF2-40B4-BE49-F238E27FC236}">
                <a16:creationId xmlns:a16="http://schemas.microsoft.com/office/drawing/2014/main" id="{F57D5CA1-0559-A217-DB40-657DDFFEF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2567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r 15"/>
          <p:cNvGrpSpPr/>
          <p:nvPr/>
        </p:nvGrpSpPr>
        <p:grpSpPr>
          <a:xfrm>
            <a:off x="1862486" y="4484506"/>
            <a:ext cx="3614388" cy="1611907"/>
            <a:chOff x="338486" y="4375646"/>
            <a:chExt cx="3614388" cy="1611907"/>
          </a:xfrm>
        </p:grpSpPr>
        <p:sp>
          <p:nvSpPr>
            <p:cNvPr id="12" name="Rectangle 11"/>
            <p:cNvSpPr/>
            <p:nvPr/>
          </p:nvSpPr>
          <p:spPr>
            <a:xfrm>
              <a:off x="338486" y="4857750"/>
              <a:ext cx="3109022" cy="1129803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A608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457199" y="4857750"/>
              <a:ext cx="3495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bg1"/>
                  </a:solidFill>
                  <a:latin typeface="Consolas"/>
                  <a:cs typeface="Consolas"/>
                </a:rPr>
                <a:t>instruction;</a:t>
              </a:r>
            </a:p>
            <a:p>
              <a:r>
                <a:rPr lang="fr-FR" b="1" dirty="0">
                  <a:solidFill>
                    <a:schemeClr val="bg1"/>
                  </a:solidFill>
                  <a:latin typeface="Consolas"/>
                  <a:cs typeface="Consolas"/>
                </a:rPr>
                <a:t>... new Point(-1, 2);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8486" y="4375646"/>
              <a:ext cx="3109022" cy="492145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A608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bg1"/>
                  </a:solidFill>
                  <a:latin typeface="Consolas"/>
                  <a:cs typeface="Consolas"/>
                </a:rPr>
                <a:t>Programme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Un premier 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Supposons que nous ayons écrit une classe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Point</a:t>
            </a:r>
            <a:r>
              <a:rPr lang="fr-FR" sz="2400" dirty="0"/>
              <a:t> qui interdise des coordonnées négatives.</a:t>
            </a:r>
          </a:p>
          <a:p>
            <a:pPr marL="0" indent="0">
              <a:buNone/>
            </a:pPr>
            <a:r>
              <a:rPr lang="fr-FR" sz="2400" dirty="0"/>
              <a:t>Dans le constructeur, on vérifiera la validité des coordonnées passées par l'appelant.</a:t>
            </a:r>
          </a:p>
          <a:p>
            <a:pPr marL="0" indent="0">
              <a:buNone/>
            </a:pPr>
            <a:r>
              <a:rPr lang="fr-FR" sz="2400" dirty="0"/>
              <a:t>Si elles ne sont pas valides le constructeur lancera une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sz="2400" dirty="0"/>
              <a:t>. Cette exception pourra ensuite être reçue par l'appelant, qui effectuera le traitement approprié.</a:t>
            </a:r>
            <a:endParaRPr lang="fr-FR" sz="2400" dirty="0">
              <a:solidFill>
                <a:srgbClr val="000000"/>
              </a:solidFill>
              <a:cs typeface="Consolas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974850" y="5611134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Consolas"/>
                <a:cs typeface="Consolas"/>
              </a:rPr>
              <a:t>gestion de l'exception;</a:t>
            </a:r>
          </a:p>
        </p:txBody>
      </p:sp>
      <p:grpSp>
        <p:nvGrpSpPr>
          <p:cNvPr id="19" name="Grouper 18"/>
          <p:cNvGrpSpPr/>
          <p:nvPr/>
        </p:nvGrpSpPr>
        <p:grpSpPr>
          <a:xfrm>
            <a:off x="4810126" y="4484506"/>
            <a:ext cx="5463633" cy="1611907"/>
            <a:chOff x="3286125" y="4375646"/>
            <a:chExt cx="5463633" cy="1611907"/>
          </a:xfrm>
        </p:grpSpPr>
        <p:grpSp>
          <p:nvGrpSpPr>
            <p:cNvPr id="17" name="Grouper 16"/>
            <p:cNvGrpSpPr/>
            <p:nvPr/>
          </p:nvGrpSpPr>
          <p:grpSpPr>
            <a:xfrm>
              <a:off x="5640736" y="4375646"/>
              <a:ext cx="3109022" cy="1611907"/>
              <a:chOff x="5640736" y="4375646"/>
              <a:chExt cx="3109022" cy="1611907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5640736" y="4857750"/>
                <a:ext cx="3109022" cy="112980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A608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ZoneTexte 7"/>
              <p:cNvSpPr txBox="1"/>
              <p:nvPr/>
            </p:nvSpPr>
            <p:spPr>
              <a:xfrm>
                <a:off x="5982107" y="5026541"/>
                <a:ext cx="27205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chemeClr val="bg1"/>
                    </a:solidFill>
                    <a:latin typeface="Consolas"/>
                    <a:cs typeface="Consolas"/>
                  </a:rPr>
                  <a:t>vérifie coordonnées.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640736" y="4375646"/>
                <a:ext cx="3109022" cy="49214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rgbClr val="A6082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solidFill>
                      <a:schemeClr val="bg1"/>
                    </a:solidFill>
                    <a:latin typeface="Consolas"/>
                    <a:cs typeface="Consolas"/>
                  </a:rPr>
                  <a:t>Point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" name="Flèche vers la droite 17"/>
            <p:cNvSpPr/>
            <p:nvPr/>
          </p:nvSpPr>
          <p:spPr>
            <a:xfrm>
              <a:off x="3286125" y="5261470"/>
              <a:ext cx="2695982" cy="134403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</p:grpSp>
      <p:sp>
        <p:nvSpPr>
          <p:cNvPr id="9" name="Flèche vers la gauche 8"/>
          <p:cNvSpPr/>
          <p:nvPr/>
        </p:nvSpPr>
        <p:spPr>
          <a:xfrm>
            <a:off x="5083871" y="5560829"/>
            <a:ext cx="3635376" cy="614958"/>
          </a:xfrm>
          <a:prstGeom prst="leftArrow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rgbClr val="A6082B"/>
                </a:solidFill>
                <a:latin typeface="Consolas"/>
                <a:cs typeface="Consolas"/>
              </a:rPr>
              <a:t>! Erreur de Constructeur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2E39F9A3-F883-4BB0-A7B4-8661DFA52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164603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B27507-2BB5-0049-ABB6-2321F4E5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trois phases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8A439E-4908-574E-8C04-ED8ABB0F0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Dans le contexte du traitement d’exceptions, il y a 3 phases:</a:t>
            </a:r>
          </a:p>
          <a:p>
            <a:pPr marL="457200" indent="-457200">
              <a:buAutoNum type="arabicPeriod"/>
            </a:pPr>
            <a:r>
              <a:rPr lang="fr-FR" dirty="0"/>
              <a:t>La création de l’objet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Exception</a:t>
            </a:r>
            <a:r>
              <a:rPr lang="fr-FR" dirty="0"/>
              <a:t> qui contiendra l’information concernant ce qui « ne tourne pas rond ».</a:t>
            </a:r>
          </a:p>
          <a:p>
            <a:pPr marL="457200" indent="-457200">
              <a:buAutoNum type="arabicPeriod"/>
            </a:pPr>
            <a:r>
              <a:rPr lang="fr-FR" dirty="0"/>
              <a:t>Le fait pour l’appelé de lancer l’exception.</a:t>
            </a:r>
          </a:p>
          <a:p>
            <a:pPr marL="457200" indent="-457200">
              <a:buAutoNum type="arabicPeriod"/>
            </a:pPr>
            <a:r>
              <a:rPr lang="fr-FR" dirty="0"/>
              <a:t>Le fait pour l’appelant de traiter l’exception.</a:t>
            </a:r>
          </a:p>
          <a:p>
            <a:pPr marL="457200" indent="-457200"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A574AAF-3554-1CDC-EB8E-37A6109D3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3087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1. L'exception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Lorsqu'une 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/>
              <a:t> est levée, un objet est passé à l'appelant. Cet objet pourra contenir des informations supplémentaires pour celui qui le recevra.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Nous créerons donc une classe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ConstructorException</a:t>
            </a:r>
            <a:r>
              <a:rPr lang="fr-FR" dirty="0"/>
              <a:t> qui hérite de 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>
              <a:solidFill>
                <a:srgbClr val="000000"/>
              </a:solidFill>
              <a:cs typeface="Consola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AC2C004-8A46-A0B3-22DD-04F963995422}"/>
              </a:ext>
            </a:extLst>
          </p:cNvPr>
          <p:cNvSpPr txBox="1"/>
          <p:nvPr/>
        </p:nvSpPr>
        <p:spPr>
          <a:xfrm>
            <a:off x="1807029" y="4861241"/>
            <a:ext cx="8577942" cy="46166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Exception {}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3255F5FC-17CA-EB6B-1DDB-0414136D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3773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Lancer l'exception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200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Pour lancer l'exception, on utilisera une instruction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652AB4-DCC5-7911-3E7F-84AE04B1B979}"/>
              </a:ext>
            </a:extLst>
          </p:cNvPr>
          <p:cNvSpPr txBox="1"/>
          <p:nvPr/>
        </p:nvSpPr>
        <p:spPr>
          <a:xfrm>
            <a:off x="3048000" y="2283963"/>
            <a:ext cx="6096000" cy="46166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fr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44D308A-3F79-D9F5-4AE4-E7BD0850AEF9}"/>
              </a:ext>
            </a:extLst>
          </p:cNvPr>
          <p:cNvSpPr txBox="1"/>
          <p:nvPr/>
        </p:nvSpPr>
        <p:spPr>
          <a:xfrm>
            <a:off x="674914" y="5571448"/>
            <a:ext cx="10842172" cy="46166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2400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y) </a:t>
            </a:r>
            <a:r>
              <a:rPr lang="fr-BE" sz="2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throws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 { ... }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9CF35ED-7744-64F1-94B2-CDC05D45BC65}"/>
              </a:ext>
            </a:extLst>
          </p:cNvPr>
          <p:cNvSpPr txBox="1">
            <a:spLocks/>
          </p:cNvSpPr>
          <p:nvPr/>
        </p:nvSpPr>
        <p:spPr>
          <a:xfrm>
            <a:off x="838200" y="2362199"/>
            <a:ext cx="10515600" cy="3814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fr-FR" dirty="0">
              <a:cs typeface="Consola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cs typeface="Consolas"/>
              </a:rPr>
              <a:t>... qui transmet un objet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ConstructorException</a:t>
            </a:r>
            <a:r>
              <a:rPr lang="fr-FR" dirty="0"/>
              <a:t> </a:t>
            </a:r>
            <a:r>
              <a:rPr lang="fr-FR" dirty="0">
                <a:cs typeface="Consolas"/>
              </a:rPr>
              <a:t>à la méthode qui fait appel à notre constructeur.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dirty="0">
              <a:cs typeface="Consola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cs typeface="Consolas"/>
              </a:rPr>
              <a:t>Pour que le compilateur sache que le constructeur peut lever une Exception, nous devrons indiquer ceci en utilisant '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throws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ConstructorException</a:t>
            </a:r>
            <a:r>
              <a:rPr lang="fr-FR" dirty="0">
                <a:cs typeface="Consolas"/>
              </a:rPr>
              <a:t>' dans l'entête du constructeur.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55DC74A-A9BC-2578-B4C1-084A37EF1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913771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Lancer l'exception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2FCF351-A6A1-FE23-8182-96B8C5468BDE}"/>
              </a:ext>
            </a:extLst>
          </p:cNvPr>
          <p:cNvSpPr txBox="1"/>
          <p:nvPr/>
        </p:nvSpPr>
        <p:spPr>
          <a:xfrm>
            <a:off x="707571" y="1425671"/>
            <a:ext cx="10776858" cy="473975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Point {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fr-BE" sz="2200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y)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throws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((x &lt;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|| (y &lt;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))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fr-BE" sz="22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= x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fr-BE" sz="22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= 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affiche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2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22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coordonnees</a:t>
            </a:r>
            <a:r>
              <a:rPr lang="fr-BE" sz="2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"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2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Exception {}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ACA238DC-E370-AAA2-6B94-BC3CAC909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DAA6966-4D28-C7C8-D646-B984D3E13E43}"/>
              </a:ext>
            </a:extLst>
          </p:cNvPr>
          <p:cNvSpPr/>
          <p:nvPr/>
        </p:nvSpPr>
        <p:spPr>
          <a:xfrm>
            <a:off x="5496910" y="2280746"/>
            <a:ext cx="4372304" cy="38888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4FEFDF9-136B-4062-B919-C8DAA93CEC3A}"/>
              </a:ext>
            </a:extLst>
          </p:cNvPr>
          <p:cNvSpPr/>
          <p:nvPr/>
        </p:nvSpPr>
        <p:spPr>
          <a:xfrm>
            <a:off x="5633544" y="2669628"/>
            <a:ext cx="5023946" cy="38888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Légende encadrée 1 5">
            <a:extLst>
              <a:ext uri="{FF2B5EF4-FFF2-40B4-BE49-F238E27FC236}">
                <a16:creationId xmlns:a16="http://schemas.microsoft.com/office/drawing/2014/main" id="{088592A5-0E48-11CE-4C09-C8BF9A69BBC6}"/>
              </a:ext>
            </a:extLst>
          </p:cNvPr>
          <p:cNvSpPr/>
          <p:nvPr/>
        </p:nvSpPr>
        <p:spPr>
          <a:xfrm>
            <a:off x="4340773" y="1690690"/>
            <a:ext cx="6936828" cy="337807"/>
          </a:xfrm>
          <a:prstGeom prst="borderCallout1">
            <a:avLst>
              <a:gd name="adj1" fmla="val 112091"/>
              <a:gd name="adj2" fmla="val 19474"/>
              <a:gd name="adj3" fmla="val 174727"/>
              <a:gd name="adj4" fmla="val 28918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Prévient</a:t>
            </a:r>
            <a:r>
              <a:rPr lang="en-GB" dirty="0"/>
              <a:t> les </a:t>
            </a:r>
            <a:r>
              <a:rPr lang="en-GB" dirty="0" err="1"/>
              <a:t>appelants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cette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dirty="0" err="1"/>
              <a:t>pourrait</a:t>
            </a:r>
            <a:r>
              <a:rPr lang="en-GB" dirty="0"/>
              <a:t> lever </a:t>
            </a:r>
            <a:r>
              <a:rPr lang="en-GB" dirty="0" err="1"/>
              <a:t>une</a:t>
            </a:r>
            <a:r>
              <a:rPr lang="en-GB" dirty="0"/>
              <a:t> Exception</a:t>
            </a:r>
          </a:p>
        </p:txBody>
      </p:sp>
      <p:sp>
        <p:nvSpPr>
          <p:cNvPr id="7" name="Légende encadrée 1 6">
            <a:extLst>
              <a:ext uri="{FF2B5EF4-FFF2-40B4-BE49-F238E27FC236}">
                <a16:creationId xmlns:a16="http://schemas.microsoft.com/office/drawing/2014/main" id="{30C561AD-BB46-BE1D-19EE-BFAA843B9016}"/>
              </a:ext>
            </a:extLst>
          </p:cNvPr>
          <p:cNvSpPr/>
          <p:nvPr/>
        </p:nvSpPr>
        <p:spPr>
          <a:xfrm>
            <a:off x="4340773" y="3247698"/>
            <a:ext cx="6936828" cy="337807"/>
          </a:xfrm>
          <a:prstGeom prst="borderCallout1">
            <a:avLst>
              <a:gd name="adj1" fmla="val -6140"/>
              <a:gd name="adj2" fmla="val 26444"/>
              <a:gd name="adj3" fmla="val -49290"/>
              <a:gd name="adj4" fmla="val 28463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Cette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dirty="0" err="1"/>
              <a:t>lève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Exception </a:t>
            </a:r>
            <a:r>
              <a:rPr lang="en-GB" dirty="0" err="1"/>
              <a:t>parce</a:t>
            </a:r>
            <a:r>
              <a:rPr lang="en-GB" dirty="0"/>
              <a:t> </a:t>
            </a:r>
            <a:r>
              <a:rPr lang="en-GB" dirty="0" err="1"/>
              <a:t>qu’une</a:t>
            </a:r>
            <a:r>
              <a:rPr lang="en-GB" dirty="0"/>
              <a:t> </a:t>
            </a:r>
            <a:r>
              <a:rPr lang="en-GB" dirty="0" err="1"/>
              <a:t>valeur</a:t>
            </a:r>
            <a:r>
              <a:rPr lang="en-GB" dirty="0"/>
              <a:t> est </a:t>
            </a:r>
            <a:r>
              <a:rPr lang="en-GB" dirty="0" err="1"/>
              <a:t>négative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514187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Gérer l'exception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cs typeface="Consolas"/>
              </a:rPr>
              <a:t>L'appelant va essayer de faire le traitement (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try</a:t>
            </a:r>
            <a:r>
              <a:rPr lang="fr-FR" sz="2400" dirty="0">
                <a:cs typeface="Consolas"/>
              </a:rPr>
              <a:t>), et attraper chaque exception possible (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catch</a:t>
            </a:r>
            <a:r>
              <a:rPr lang="fr-FR" sz="2400" dirty="0">
                <a:cs typeface="Consolas"/>
              </a:rPr>
              <a:t>).</a:t>
            </a:r>
          </a:p>
          <a:p>
            <a:pPr marL="0" indent="0">
              <a:buNone/>
            </a:pPr>
            <a:endParaRPr lang="fr-FR" sz="2400" dirty="0">
              <a:cs typeface="Consolas"/>
            </a:endParaRPr>
          </a:p>
          <a:p>
            <a:pPr marL="0" indent="0">
              <a:buNone/>
            </a:pPr>
            <a:r>
              <a:rPr lang="fr-FR" sz="2400" dirty="0">
                <a:cs typeface="Consolas"/>
              </a:rPr>
              <a:t>Pour gérer correctement l'exception, il faut, au niveau de la classe qui appelle le constructeur, utiliser un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try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... catch</a:t>
            </a:r>
            <a:r>
              <a:rPr lang="fr-FR" sz="2400" dirty="0">
                <a:cs typeface="Consolas"/>
              </a:rPr>
              <a:t>.</a:t>
            </a:r>
          </a:p>
          <a:p>
            <a:pPr marL="0" indent="0">
              <a:buNone/>
            </a:pPr>
            <a:r>
              <a:rPr lang="fr-FR" sz="2400" dirty="0">
                <a:cs typeface="Consolas"/>
              </a:rPr>
              <a:t>Cette construction est constituée de deux éléments:</a:t>
            </a:r>
          </a:p>
          <a:p>
            <a:r>
              <a:rPr lang="fr-FR" sz="2400" dirty="0">
                <a:cs typeface="Consolas"/>
              </a:rPr>
              <a:t>l'appel du constructeur doit être inclus dans un </a:t>
            </a:r>
            <a:br>
              <a:rPr lang="fr-FR" sz="2400" dirty="0">
                <a:cs typeface="Consolas"/>
              </a:rPr>
            </a:br>
            <a:r>
              <a:rPr lang="fr-FR" sz="2400" dirty="0">
                <a:cs typeface="Consolas"/>
              </a:rPr>
              <a:t>bloc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try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 { ... }</a:t>
            </a:r>
            <a:endParaRPr lang="fr-FR" sz="2400" dirty="0">
              <a:latin typeface="Consolas"/>
              <a:cs typeface="Consolas"/>
            </a:endParaRPr>
          </a:p>
          <a:p>
            <a:r>
              <a:rPr lang="fr-FR" sz="2400" dirty="0">
                <a:cs typeface="Consolas"/>
              </a:rPr>
              <a:t>faire suivre ce bloc par un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catch</a:t>
            </a:r>
            <a:r>
              <a:rPr lang="fr-FR" sz="2400" dirty="0">
                <a:cs typeface="Consolas"/>
              </a:rPr>
              <a:t> de chaque exception possible, dans lequel est codé le traitement à appliquer en cas d’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sz="2400" dirty="0">
                <a:cs typeface="Consolas"/>
              </a:rPr>
              <a:t>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6B390EB-03EE-CFC6-9EF2-10D8AB284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0428299"/>
      </p:ext>
    </p:extLst>
  </p:cSld>
  <p:clrMapOvr>
    <a:masterClrMapping/>
  </p:clrMapOvr>
  <p:transition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Gérer l'exception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68E1812-ABC0-ADBA-0DCB-20137C96A5EC}"/>
              </a:ext>
            </a:extLst>
          </p:cNvPr>
          <p:cNvSpPr txBox="1"/>
          <p:nvPr/>
        </p:nvSpPr>
        <p:spPr>
          <a:xfrm>
            <a:off x="936172" y="2014167"/>
            <a:ext cx="8839200" cy="313932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Point a =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Point (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a.affiche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Point (-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a.affiche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2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fr-BE" sz="22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"Erreur construction "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2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lang="fr-BE" sz="2200" i="1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(-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fr-BE" sz="22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ici on quitte le programme</a:t>
            </a:r>
            <a:br>
              <a:rPr lang="fr-BE" sz="22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DF7F5400-F9E5-5598-4AE6-A46594758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 dirty="0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FA552FBC-3E2C-7771-5BAC-733C05A3E57C}"/>
              </a:ext>
            </a:extLst>
          </p:cNvPr>
          <p:cNvSpPr/>
          <p:nvPr/>
        </p:nvSpPr>
        <p:spPr>
          <a:xfrm>
            <a:off x="936172" y="2077227"/>
            <a:ext cx="703442" cy="38888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égende encadrée 1 4">
            <a:extLst>
              <a:ext uri="{FF2B5EF4-FFF2-40B4-BE49-F238E27FC236}">
                <a16:creationId xmlns:a16="http://schemas.microsoft.com/office/drawing/2014/main" id="{EACB58ED-454B-6A27-0900-1501091D55DC}"/>
              </a:ext>
            </a:extLst>
          </p:cNvPr>
          <p:cNvSpPr/>
          <p:nvPr/>
        </p:nvSpPr>
        <p:spPr>
          <a:xfrm>
            <a:off x="1125359" y="1475927"/>
            <a:ext cx="3488682" cy="337807"/>
          </a:xfrm>
          <a:prstGeom prst="borderCallout1">
            <a:avLst>
              <a:gd name="adj1" fmla="val 99646"/>
              <a:gd name="adj2" fmla="val 15042"/>
              <a:gd name="adj3" fmla="val 177839"/>
              <a:gd name="adj4" fmla="val 8246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 </a:t>
            </a:r>
            <a:r>
              <a:rPr lang="en-GB" dirty="0" err="1"/>
              <a:t>essaye</a:t>
            </a:r>
            <a:r>
              <a:rPr lang="en-GB" dirty="0"/>
              <a:t> de </a:t>
            </a:r>
            <a:r>
              <a:rPr lang="en-GB" dirty="0" err="1"/>
              <a:t>construire</a:t>
            </a:r>
            <a:r>
              <a:rPr lang="en-GB" dirty="0"/>
              <a:t> un Point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35BF87-9E84-AD67-8D65-AEB98126F8B1}"/>
              </a:ext>
            </a:extLst>
          </p:cNvPr>
          <p:cNvSpPr/>
          <p:nvPr/>
        </p:nvSpPr>
        <p:spPr>
          <a:xfrm>
            <a:off x="1287892" y="3737861"/>
            <a:ext cx="7908659" cy="107782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Légende encadrée 1 6">
            <a:extLst>
              <a:ext uri="{FF2B5EF4-FFF2-40B4-BE49-F238E27FC236}">
                <a16:creationId xmlns:a16="http://schemas.microsoft.com/office/drawing/2014/main" id="{0B3A9B09-819A-A460-EBA7-CF82ED2BBDAE}"/>
              </a:ext>
            </a:extLst>
          </p:cNvPr>
          <p:cNvSpPr/>
          <p:nvPr/>
        </p:nvSpPr>
        <p:spPr>
          <a:xfrm>
            <a:off x="3080282" y="5308061"/>
            <a:ext cx="5075745" cy="337807"/>
          </a:xfrm>
          <a:prstGeom prst="borderCallout1">
            <a:avLst>
              <a:gd name="adj1" fmla="val -6140"/>
              <a:gd name="adj2" fmla="val 10523"/>
              <a:gd name="adj3" fmla="val -142629"/>
              <a:gd name="adj4" fmla="val 4932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… et </a:t>
            </a:r>
            <a:r>
              <a:rPr lang="en-GB" dirty="0" err="1"/>
              <a:t>voici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l’on</a:t>
            </a:r>
            <a:r>
              <a:rPr lang="en-GB" dirty="0"/>
              <a:t> fait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l’Exception</a:t>
            </a:r>
            <a:r>
              <a:rPr lang="en-GB" dirty="0"/>
              <a:t> se </a:t>
            </a:r>
            <a:r>
              <a:rPr lang="en-GB" dirty="0" err="1"/>
              <a:t>produit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597500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5B5F0-0669-1988-8D07-09B6099C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 résumé, il faut: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372362-52F2-4DAD-F60B-6AEC48DAD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8C534FA-CB95-324A-E8EA-2DC8FC670C71}"/>
              </a:ext>
            </a:extLst>
          </p:cNvPr>
          <p:cNvSpPr txBox="1"/>
          <p:nvPr/>
        </p:nvSpPr>
        <p:spPr>
          <a:xfrm>
            <a:off x="707571" y="1528339"/>
            <a:ext cx="7948749" cy="43088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MonException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Exception {}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B6056FD-C834-D3AB-F40A-D6D1D9E53B90}"/>
              </a:ext>
            </a:extLst>
          </p:cNvPr>
          <p:cNvSpPr txBox="1"/>
          <p:nvPr/>
        </p:nvSpPr>
        <p:spPr>
          <a:xfrm>
            <a:off x="707571" y="2125016"/>
            <a:ext cx="7948749" cy="298543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Classe {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traitement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throws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MonException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    ...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ici on lance l’erreur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MonException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A4D5E8A-5B61-985D-6507-64AC74999B4D}"/>
              </a:ext>
            </a:extLst>
          </p:cNvPr>
          <p:cNvSpPr txBox="1"/>
          <p:nvPr/>
        </p:nvSpPr>
        <p:spPr>
          <a:xfrm>
            <a:off x="3364992" y="4333498"/>
            <a:ext cx="8503444" cy="2462213"/>
          </a:xfrm>
          <a:prstGeom prst="rect">
            <a:avLst/>
          </a:prstGeom>
          <a:solidFill>
            <a:srgbClr val="000000"/>
          </a:solidFill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Classe c =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Classe()</a:t>
            </a:r>
            <a:r>
              <a:rPr lang="fr-BE" sz="220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c.traitement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MonException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r>
              <a:rPr lang="fr-BE" sz="22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// ici on traite l’erreur si elle s’est produite</a:t>
            </a:r>
            <a:br>
              <a:rPr lang="fr-BE" sz="2200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Bulle rectangulaire à coins arrondis 7">
            <a:extLst>
              <a:ext uri="{FF2B5EF4-FFF2-40B4-BE49-F238E27FC236}">
                <a16:creationId xmlns:a16="http://schemas.microsoft.com/office/drawing/2014/main" id="{68061E4B-B694-9E73-08D7-3C3215D473BE}"/>
              </a:ext>
            </a:extLst>
          </p:cNvPr>
          <p:cNvSpPr/>
          <p:nvPr/>
        </p:nvSpPr>
        <p:spPr>
          <a:xfrm>
            <a:off x="6248739" y="872236"/>
            <a:ext cx="2407581" cy="443553"/>
          </a:xfrm>
          <a:prstGeom prst="wedgeRoundRectCallout">
            <a:avLst>
              <a:gd name="adj1" fmla="val -47545"/>
              <a:gd name="adj2" fmla="val 108708"/>
              <a:gd name="adj3" fmla="val 16667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Une classe Exception</a:t>
            </a:r>
          </a:p>
        </p:txBody>
      </p:sp>
      <p:sp>
        <p:nvSpPr>
          <p:cNvPr id="9" name="Bulle rectangulaire à coins arrondis 8">
            <a:extLst>
              <a:ext uri="{FF2B5EF4-FFF2-40B4-BE49-F238E27FC236}">
                <a16:creationId xmlns:a16="http://schemas.microsoft.com/office/drawing/2014/main" id="{FF98355B-129F-BE89-BCA3-90A0846DF68B}"/>
              </a:ext>
            </a:extLst>
          </p:cNvPr>
          <p:cNvSpPr/>
          <p:nvPr/>
        </p:nvSpPr>
        <p:spPr>
          <a:xfrm>
            <a:off x="8223843" y="3207223"/>
            <a:ext cx="3413103" cy="596681"/>
          </a:xfrm>
          <a:prstGeom prst="wedgeRoundRectCallout">
            <a:avLst>
              <a:gd name="adj1" fmla="val -74693"/>
              <a:gd name="adj2" fmla="val 53539"/>
              <a:gd name="adj3" fmla="val 16667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Une méthode qui peut lancer (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FR" dirty="0">
                <a:solidFill>
                  <a:schemeClr val="tx1"/>
                </a:solidFill>
              </a:rPr>
              <a:t>) l’Exception…</a:t>
            </a:r>
          </a:p>
        </p:txBody>
      </p:sp>
      <p:sp>
        <p:nvSpPr>
          <p:cNvPr id="10" name="Bulle rectangulaire à coins arrondis 9">
            <a:extLst>
              <a:ext uri="{FF2B5EF4-FFF2-40B4-BE49-F238E27FC236}">
                <a16:creationId xmlns:a16="http://schemas.microsoft.com/office/drawing/2014/main" id="{59329A44-CE25-E0B7-D6FB-B8C30F40E68A}"/>
              </a:ext>
            </a:extLst>
          </p:cNvPr>
          <p:cNvSpPr/>
          <p:nvPr/>
        </p:nvSpPr>
        <p:spPr>
          <a:xfrm>
            <a:off x="7242049" y="1936639"/>
            <a:ext cx="4394898" cy="594000"/>
          </a:xfrm>
          <a:prstGeom prst="wedgeRoundRectCallout">
            <a:avLst>
              <a:gd name="adj1" fmla="val -79409"/>
              <a:gd name="adj2" fmla="val 74064"/>
              <a:gd name="adj3" fmla="val 16667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… qui prévient ses clients qu’elle est susceptible de lancer l’Exception (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throws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Bulle rectangulaire à coins arrondis 10">
            <a:extLst>
              <a:ext uri="{FF2B5EF4-FFF2-40B4-BE49-F238E27FC236}">
                <a16:creationId xmlns:a16="http://schemas.microsoft.com/office/drawing/2014/main" id="{F6E8C918-2838-B825-3D63-D24E2287F7AF}"/>
              </a:ext>
            </a:extLst>
          </p:cNvPr>
          <p:cNvSpPr/>
          <p:nvPr/>
        </p:nvSpPr>
        <p:spPr>
          <a:xfrm>
            <a:off x="6547104" y="4067238"/>
            <a:ext cx="5193792" cy="594000"/>
          </a:xfrm>
          <a:prstGeom prst="wedgeRoundRectCallout">
            <a:avLst>
              <a:gd name="adj1" fmla="val -92512"/>
              <a:gd name="adj2" fmla="val 33013"/>
              <a:gd name="adj3" fmla="val 16667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Comme le client sait qu’il pourrait recevoir une Exception, il essaye (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FR" dirty="0">
                <a:solidFill>
                  <a:schemeClr val="tx1"/>
                </a:solidFill>
              </a:rPr>
              <a:t>) d’appeler la méthode…</a:t>
            </a:r>
          </a:p>
        </p:txBody>
      </p:sp>
      <p:sp>
        <p:nvSpPr>
          <p:cNvPr id="12" name="Bulle rectangulaire à coins arrondis 11">
            <a:extLst>
              <a:ext uri="{FF2B5EF4-FFF2-40B4-BE49-F238E27FC236}">
                <a16:creationId xmlns:a16="http://schemas.microsoft.com/office/drawing/2014/main" id="{988DC35E-C219-8837-62EE-C2EE867E78F1}"/>
              </a:ext>
            </a:extLst>
          </p:cNvPr>
          <p:cNvSpPr/>
          <p:nvPr/>
        </p:nvSpPr>
        <p:spPr>
          <a:xfrm>
            <a:off x="7448995" y="5070675"/>
            <a:ext cx="4650931" cy="594000"/>
          </a:xfrm>
          <a:prstGeom prst="wedgeRoundRectCallout">
            <a:avLst>
              <a:gd name="adj1" fmla="val -69186"/>
              <a:gd name="adj2" fmla="val 57644"/>
              <a:gd name="adj3" fmla="val 16667"/>
            </a:avLst>
          </a:prstGeom>
          <a:solidFill>
            <a:schemeClr val="accent6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… et il prévoit une réaction s’il attrape (</a:t>
            </a:r>
            <a:r>
              <a:rPr lang="fr-FR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catch</a:t>
            </a:r>
            <a:r>
              <a:rPr lang="fr-FR" dirty="0">
                <a:solidFill>
                  <a:schemeClr val="tx1"/>
                </a:solidFill>
              </a:rPr>
              <a:t>) l’Exception </a:t>
            </a:r>
          </a:p>
        </p:txBody>
      </p:sp>
    </p:spTree>
    <p:extLst>
      <p:ext uri="{BB962C8B-B14F-4D97-AF65-F5344CB8AC3E}">
        <p14:creationId xmlns:p14="http://schemas.microsoft.com/office/powerpoint/2010/main" val="24906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propriétés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fr-FR" dirty="0">
                <a:cs typeface="Consolas"/>
              </a:rPr>
              <a:t>Dans ce premier exemple, on ne gère qu'une exception; il est néanmoins possible d'en traiter plusieurs.</a:t>
            </a:r>
          </a:p>
          <a:p>
            <a:pPr marL="457200" indent="-457200">
              <a:buAutoNum type="arabicPeriod"/>
            </a:pPr>
            <a:endParaRPr lang="fr-FR" dirty="0">
              <a:cs typeface="Consolas"/>
            </a:endParaRPr>
          </a:p>
          <a:p>
            <a:pPr marL="457200" indent="-457200">
              <a:buAutoNum type="arabicPeriod"/>
            </a:pPr>
            <a:r>
              <a:rPr lang="fr-FR" dirty="0">
                <a:cs typeface="Consolas"/>
              </a:rPr>
              <a:t>Ici, le gestionnaire d'exception ne reçoit aucune information; il est possible de lui transmettre plus d'information via l'objet 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>
                <a:cs typeface="Consolas"/>
              </a:rPr>
              <a:t>.</a:t>
            </a:r>
          </a:p>
          <a:p>
            <a:pPr marL="457200" indent="-457200">
              <a:buAutoNum type="arabicPeriod"/>
            </a:pPr>
            <a:endParaRPr lang="fr-FR" dirty="0">
              <a:cs typeface="Consolas"/>
            </a:endParaRPr>
          </a:p>
          <a:p>
            <a:pPr marL="457200" indent="-457200">
              <a:buAutoNum type="arabicPeriod"/>
            </a:pPr>
            <a:r>
              <a:rPr lang="fr-FR" dirty="0">
                <a:cs typeface="Consolas"/>
              </a:rPr>
              <a:t>La classe 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>
                <a:cs typeface="Consolas"/>
              </a:rPr>
              <a:t> présente aussi certaines méthodes utiles qu'il n'est pas nécessaire de redéfinir dans les sous-classes...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D3A7CDE4-3890-7AEE-E34D-03307FC96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3806823"/>
      </p:ext>
    </p:extLst>
  </p:cSld>
  <p:clrMapOvr>
    <a:masterClrMapping/>
  </p:clrMapOvr>
  <p:transition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propriétés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fr-FR" dirty="0">
                <a:cs typeface="Consolas"/>
              </a:rPr>
              <a:t>Dans notre exemple, le gestionnaire d'exception se contente d'interrompre le programme; il est possible d'exécuter d'autres traitements (comme par exemple continuer l'exécution du programme).</a:t>
            </a:r>
          </a:p>
          <a:p>
            <a:pPr marL="457200" indent="-457200">
              <a:buAutoNum type="arabicPeriod" startAt="4"/>
            </a:pPr>
            <a:endParaRPr lang="fr-FR" dirty="0">
              <a:cs typeface="Consolas"/>
            </a:endParaRPr>
          </a:p>
          <a:p>
            <a:pPr marL="457200" indent="-457200">
              <a:buAutoNum type="arabicPeriod" startAt="4"/>
            </a:pPr>
            <a:r>
              <a:rPr lang="fr-FR" dirty="0">
                <a:cs typeface="Consolas"/>
              </a:rPr>
              <a:t>Remarquez que le gestionnaire d'exception est indépendant des méthodes qui le déclenchent... Cela permet à des 'clients' différents qui utilisent la même méthode  d'utiliser leur propre logique.</a:t>
            </a:r>
          </a:p>
          <a:p>
            <a:pPr marL="457200" indent="-457200">
              <a:buAutoNum type="arabicPeriod" startAt="4"/>
            </a:pPr>
            <a:endParaRPr lang="fr-FR" dirty="0">
              <a:cs typeface="Consolas"/>
            </a:endParaRPr>
          </a:p>
          <a:p>
            <a:pPr marL="457200" indent="-457200">
              <a:buAutoNum type="arabicPeriod" startAt="4"/>
            </a:pPr>
            <a:r>
              <a:rPr lang="fr-FR" dirty="0">
                <a:cs typeface="Consolas"/>
              </a:rPr>
              <a:t>Il est possible de placer plusieurs blocs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...catch</a:t>
            </a:r>
            <a:r>
              <a:rPr lang="fr-FR" dirty="0">
                <a:cs typeface="Consolas"/>
              </a:rPr>
              <a:t> dans la même méthode, voire de les imbriquer...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87F922EE-B2EE-20A0-1C22-5A81B258F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5133854"/>
      </p:ext>
    </p:extLst>
  </p:cSld>
  <p:clrMapOvr>
    <a:masterClrMapping/>
  </p:clrMapOvr>
  <p:transition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Exemple pratique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Plusieurs Exceptions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Communication avec le gestionnaire d'Exception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mécanisme de gestion des Exceptions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Exceptions standard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méthode </a:t>
            </a:r>
            <a:r>
              <a:rPr lang="fr-FR" dirty="0" err="1">
                <a:latin typeface="Consolas"/>
                <a:cs typeface="Consolas"/>
              </a:rPr>
              <a:t>printStackTrace</a:t>
            </a: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CA99A5-B332-B909-6733-15C39193A78F}"/>
              </a:ext>
            </a:extLst>
          </p:cNvPr>
          <p:cNvGrpSpPr/>
          <p:nvPr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6D659AA5-DE48-3A94-0973-5630499C0B8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FF3D4ED-5448-D9C2-964C-3C9EFB6B14C0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EA754F58-EF11-85C8-7F4C-80309173C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3676460"/>
      </p:ext>
    </p:extLst>
  </p:cSld>
  <p:clrMapOvr>
    <a:masterClrMapping/>
  </p:clrMapOvr>
  <p:transition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Plusieurs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Voyons maintenant le cas d'une classe qui peut lever plusieurs types d'exceptions..</a:t>
            </a:r>
            <a:r>
              <a:rPr lang="fr-FR" dirty="0">
                <a:cs typeface="Consolas"/>
              </a:rPr>
              <a:t>.</a:t>
            </a:r>
          </a:p>
          <a:p>
            <a:pPr marL="0" indent="0">
              <a:buNone/>
            </a:pPr>
            <a:endParaRPr lang="fr-FR" dirty="0">
              <a:solidFill>
                <a:srgbClr val="000000"/>
              </a:solidFill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Reprenons notre classe 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Point</a:t>
            </a:r>
            <a:r>
              <a:rPr lang="fr-FR" dirty="0">
                <a:cs typeface="Consolas"/>
              </a:rPr>
              <a:t>, et ajoutons-lui une méthode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deplace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()</a:t>
            </a:r>
            <a:r>
              <a:rPr lang="fr-FR" dirty="0">
                <a:cs typeface="Consolas"/>
              </a:rPr>
              <a:t>. 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Dans cette méthode, il faut aussi vérifier la validité des coordonnées, et le cas échéant déclencher une exception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MoveException</a:t>
            </a:r>
            <a:r>
              <a:rPr lang="fr-FR" dirty="0">
                <a:cs typeface="Consolas"/>
              </a:rPr>
              <a:t>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82A9C27-CD53-E0AD-E7C6-1873FE1D1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3599933"/>
      </p:ext>
    </p:extLst>
  </p:cSld>
  <p:clrMapOvr>
    <a:masterClrMapping/>
  </p:clrMapOvr>
  <p:transition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4D500-EA6C-4AA0-9BF1-20DECD45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E5881-16B7-D23C-769A-E7691CF46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4C8C4B-ECAB-8238-C33F-C2B955253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709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>
                <a:cs typeface="Consolas"/>
              </a:rPr>
              <a:t>Créez une classe </a:t>
            </a:r>
            <a:r>
              <a:rPr lang="fr-FR" sz="2200" dirty="0" err="1">
                <a:solidFill>
                  <a:schemeClr val="accent4"/>
                </a:solidFill>
                <a:latin typeface="Consolas"/>
                <a:cs typeface="Consolas"/>
              </a:rPr>
              <a:t>MoveException</a:t>
            </a:r>
            <a:r>
              <a:rPr lang="fr-FR" sz="2400" dirty="0">
                <a:cs typeface="Consolas"/>
              </a:rPr>
              <a:t>.</a:t>
            </a:r>
          </a:p>
          <a:p>
            <a:pPr marL="0" indent="0">
              <a:buNone/>
            </a:pPr>
            <a:endParaRPr lang="fr-FR" sz="2400" dirty="0">
              <a:cs typeface="Consolas"/>
            </a:endParaRPr>
          </a:p>
          <a:p>
            <a:pPr marL="0" indent="0">
              <a:buNone/>
            </a:pPr>
            <a:r>
              <a:rPr lang="fr-FR" sz="2400" dirty="0">
                <a:cs typeface="Consolas"/>
              </a:rPr>
              <a:t>Reprenez la classe </a:t>
            </a:r>
            <a:r>
              <a:rPr lang="fr-FR" sz="2200" dirty="0">
                <a:solidFill>
                  <a:schemeClr val="accent4"/>
                </a:solidFill>
                <a:latin typeface="Consolas"/>
                <a:cs typeface="Consolas"/>
              </a:rPr>
              <a:t>Point</a:t>
            </a:r>
            <a:r>
              <a:rPr lang="fr-FR" sz="2400" dirty="0">
                <a:cs typeface="Consolas"/>
              </a:rPr>
              <a:t>, et ajoutez-lui une méthode </a:t>
            </a:r>
            <a:r>
              <a:rPr lang="fr-FR" sz="2200" dirty="0" err="1">
                <a:solidFill>
                  <a:schemeClr val="accent4"/>
                </a:solidFill>
                <a:latin typeface="Consolas"/>
                <a:cs typeface="Consolas"/>
              </a:rPr>
              <a:t>deplace</a:t>
            </a:r>
            <a:r>
              <a:rPr lang="fr-FR" sz="2200" dirty="0">
                <a:solidFill>
                  <a:schemeClr val="accent4"/>
                </a:solidFill>
                <a:latin typeface="Consolas"/>
                <a:cs typeface="Consolas"/>
              </a:rPr>
              <a:t>(</a:t>
            </a:r>
            <a:r>
              <a:rPr lang="fr-FR" sz="22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200" dirty="0">
                <a:solidFill>
                  <a:schemeClr val="accent4"/>
                </a:solidFill>
                <a:latin typeface="Consolas"/>
                <a:cs typeface="Consolas"/>
              </a:rPr>
              <a:t> dx, </a:t>
            </a:r>
            <a:r>
              <a:rPr lang="fr-FR" sz="22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2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fr-FR" sz="2200" dirty="0" err="1">
                <a:solidFill>
                  <a:schemeClr val="accent4"/>
                </a:solidFill>
                <a:latin typeface="Consolas"/>
                <a:cs typeface="Consolas"/>
              </a:rPr>
              <a:t>dy</a:t>
            </a:r>
            <a:r>
              <a:rPr lang="fr-FR" sz="2200" dirty="0">
                <a:solidFill>
                  <a:schemeClr val="accent4"/>
                </a:solidFill>
                <a:latin typeface="Consolas"/>
                <a:cs typeface="Consolas"/>
              </a:rPr>
              <a:t>)</a:t>
            </a:r>
            <a:r>
              <a:rPr lang="fr-FR" sz="2400" dirty="0">
                <a:cs typeface="Consolas"/>
              </a:rPr>
              <a:t>. </a:t>
            </a:r>
          </a:p>
          <a:p>
            <a:pPr marL="0" indent="0">
              <a:buNone/>
            </a:pPr>
            <a:r>
              <a:rPr lang="fr-FR" sz="2400" dirty="0">
                <a:cs typeface="Consolas"/>
              </a:rPr>
              <a:t>Dans cette méthode, il faut aussi vérifier la validité des coordonnées.</a:t>
            </a:r>
          </a:p>
          <a:p>
            <a:pPr marL="0" indent="0">
              <a:buNone/>
            </a:pPr>
            <a:r>
              <a:rPr lang="fr-FR" sz="2400" dirty="0">
                <a:cs typeface="Consolas"/>
              </a:rPr>
              <a:t>Si une des coordonnées est négative, il faut déclencher une exception </a:t>
            </a:r>
            <a:r>
              <a:rPr lang="fr-FR" sz="2200" dirty="0" err="1">
                <a:solidFill>
                  <a:schemeClr val="accent4"/>
                </a:solidFill>
                <a:latin typeface="Consolas"/>
                <a:cs typeface="Consolas"/>
              </a:rPr>
              <a:t>MoveException</a:t>
            </a:r>
            <a:r>
              <a:rPr lang="fr-FR" sz="2400" dirty="0">
                <a:cs typeface="Consolas"/>
              </a:rPr>
              <a:t>.</a:t>
            </a:r>
          </a:p>
          <a:p>
            <a:pPr marL="0" indent="0">
              <a:buNone/>
            </a:pPr>
            <a:endParaRPr lang="fr-FR" sz="2400" dirty="0">
              <a:cs typeface="Consolas"/>
            </a:endParaRPr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78AC1646-CDC0-1B68-A1F9-E001227C6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A379A1A-1C48-6FA8-F1BE-FC0B45A8A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714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Plusieurs Exceptions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2938D5-53AC-D84D-7443-6EF5A22328CC}"/>
              </a:ext>
            </a:extLst>
          </p:cNvPr>
          <p:cNvSpPr txBox="1"/>
          <p:nvPr/>
        </p:nvSpPr>
        <p:spPr>
          <a:xfrm>
            <a:off x="566057" y="1690690"/>
            <a:ext cx="11059886" cy="178510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deplace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throws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MoveException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(((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+ dx) &lt;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|| ((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&lt;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))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MoveException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+= dx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+=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BC8B75D-206F-A69E-C9A5-42D1383A5937}"/>
              </a:ext>
            </a:extLst>
          </p:cNvPr>
          <p:cNvSpPr txBox="1"/>
          <p:nvPr/>
        </p:nvSpPr>
        <p:spPr>
          <a:xfrm>
            <a:off x="2243296" y="5059820"/>
            <a:ext cx="7770724" cy="430887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MoveException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Exception { 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9CB048FC-39D1-D5EA-BC2D-A4F8F7168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0874907"/>
      </p:ext>
    </p:extLst>
  </p:cSld>
  <p:clrMapOvr>
    <a:masterClrMapping/>
  </p:clrMapOvr>
  <p:transition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Remarques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L'implémentation suivante de la méthode 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main</a:t>
            </a:r>
            <a:r>
              <a:rPr lang="fr-FR" dirty="0">
                <a:cs typeface="Consolas"/>
              </a:rPr>
              <a:t> dans le programme principal serait incorrecte: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8924774-2AA4-2216-C749-395667F6D313}"/>
              </a:ext>
            </a:extLst>
          </p:cNvPr>
          <p:cNvSpPr txBox="1">
            <a:spLocks/>
          </p:cNvSpPr>
          <p:nvPr/>
        </p:nvSpPr>
        <p:spPr>
          <a:xfrm>
            <a:off x="838200" y="4974543"/>
            <a:ext cx="10515600" cy="1491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cs typeface="Consolas"/>
              </a:rPr>
              <a:t>En effet, comme la méthode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deplace</a:t>
            </a:r>
            <a:r>
              <a:rPr lang="fr-FR" dirty="0">
                <a:cs typeface="Consolas"/>
              </a:rPr>
              <a:t> est susceptible de lever une exception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MoveException</a:t>
            </a:r>
            <a:r>
              <a:rPr lang="fr-FR" dirty="0">
                <a:cs typeface="Consolas"/>
              </a:rPr>
              <a:t>, il faut que l'on prévoie de l'attraper...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EC54ADF-9808-6AA8-91F7-52965D0E4954}"/>
              </a:ext>
            </a:extLst>
          </p:cNvPr>
          <p:cNvSpPr txBox="1"/>
          <p:nvPr/>
        </p:nvSpPr>
        <p:spPr>
          <a:xfrm>
            <a:off x="1894114" y="2845164"/>
            <a:ext cx="8403772" cy="1446550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Point a =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Point(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a.deplace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{ ... 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BC8A6F7D-9B77-292B-BE8A-96BF373CA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898587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Remarques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67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Ceci est accepté par le compilateur...</a:t>
            </a:r>
          </a:p>
          <a:p>
            <a:pPr marL="0" indent="0">
              <a:buNone/>
            </a:pPr>
            <a:endParaRPr lang="fr-FR" dirty="0">
              <a:solidFill>
                <a:srgbClr val="000000"/>
              </a:solidFill>
              <a:cs typeface="Consola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FBFF2D6-1D93-354C-1111-8DC624245552}"/>
              </a:ext>
            </a:extLst>
          </p:cNvPr>
          <p:cNvSpPr txBox="1"/>
          <p:nvPr/>
        </p:nvSpPr>
        <p:spPr>
          <a:xfrm>
            <a:off x="1894114" y="2289993"/>
            <a:ext cx="8403772" cy="1785104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   Point a =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Point(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a.deplace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{ ... }</a:t>
            </a:r>
          </a:p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MoveException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{ ... 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717318FA-118F-3C58-8DE7-4BCF7AA9A45C}"/>
              </a:ext>
            </a:extLst>
          </p:cNvPr>
          <p:cNvSpPr txBox="1">
            <a:spLocks/>
          </p:cNvSpPr>
          <p:nvPr/>
        </p:nvSpPr>
        <p:spPr>
          <a:xfrm>
            <a:off x="838200" y="4365172"/>
            <a:ext cx="10515600" cy="927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cs typeface="Consolas"/>
              </a:rPr>
              <a:t>Depuis Java 7, on peut aussi spécifier un traitement identique pour plusieurs Exceptions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14521F3-95D8-F4DC-0217-34523F11E366}"/>
              </a:ext>
            </a:extLst>
          </p:cNvPr>
          <p:cNvSpPr txBox="1"/>
          <p:nvPr/>
        </p:nvSpPr>
        <p:spPr>
          <a:xfrm>
            <a:off x="1894113" y="5384589"/>
            <a:ext cx="8969829" cy="769441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fr-BE" sz="22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{ Point a = 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Point(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a.deplace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2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r>
              <a:rPr lang="fr-BE" sz="22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MoveException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fr-BE" sz="2200" dirty="0">
                <a:latin typeface="Consolas" panose="020B0609020204030204" pitchFamily="49" charset="0"/>
                <a:cs typeface="Consolas" panose="020B0609020204030204" pitchFamily="49" charset="0"/>
              </a:rPr>
              <a:t>) { ... }</a:t>
            </a:r>
            <a:endParaRPr lang="fr-FR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6BF9D3DE-8F5F-6FE1-C7C1-B51F994F2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23027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9F27F-59C8-C49E-1552-DCA998DB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Exceptions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70A904E-309B-1E3A-FDBD-B8663F44FC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tretch/>
        </p:blipFill>
        <p:spPr>
          <a:xfrm>
            <a:off x="1112431" y="1825625"/>
            <a:ext cx="4633138" cy="4351338"/>
          </a:xfrm>
          <a:prstGeom prst="rect">
            <a:avLst/>
          </a:prstGeo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6913B0-B9A9-5CA3-D1C1-4423D607FF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rtl="0">
              <a:buNone/>
            </a:pPr>
            <a:r>
              <a:rPr lang="fr-BE" sz="2000" dirty="0">
                <a:effectLst/>
              </a:rPr>
              <a:t>Vous pouvez définir vos exceptions en héritant de la classe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Exception</a:t>
            </a:r>
            <a:r>
              <a:rPr lang="fr-BE" sz="2000" dirty="0">
                <a:effectLst/>
              </a:rPr>
              <a:t> ou de la classe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RuntimeException</a:t>
            </a:r>
            <a:r>
              <a:rPr lang="fr-BE" sz="2000" dirty="0">
                <a:effectLst/>
              </a:rPr>
              <a:t>.</a:t>
            </a:r>
            <a:endParaRPr lang="fr-FR" sz="2000" dirty="0"/>
          </a:p>
        </p:txBody>
      </p:sp>
      <p:sp>
        <p:nvSpPr>
          <p:cNvPr id="3" name="Espace réservé du numéro de diapositive 4">
            <a:extLst>
              <a:ext uri="{FF2B5EF4-FFF2-40B4-BE49-F238E27FC236}">
                <a16:creationId xmlns:a16="http://schemas.microsoft.com/office/drawing/2014/main" id="{8124BD12-EC7A-5DB5-5B66-3A1A80ACA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 dirty="0"/>
          </a:p>
        </p:txBody>
      </p:sp>
      <p:sp>
        <p:nvSpPr>
          <p:cNvPr id="4" name="Espace réservé du contenu 5">
            <a:extLst>
              <a:ext uri="{FF2B5EF4-FFF2-40B4-BE49-F238E27FC236}">
                <a16:creationId xmlns:a16="http://schemas.microsoft.com/office/drawing/2014/main" id="{473423B6-A0CC-2823-62DF-57EC2A24E9E6}"/>
              </a:ext>
            </a:extLst>
          </p:cNvPr>
          <p:cNvSpPr txBox="1">
            <a:spLocks/>
          </p:cNvSpPr>
          <p:nvPr/>
        </p:nvSpPr>
        <p:spPr>
          <a:xfrm>
            <a:off x="6172200" y="2715641"/>
            <a:ext cx="5181600" cy="3709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sz="2000" dirty="0"/>
              <a:t>Les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RuntimeException</a:t>
            </a:r>
            <a:r>
              <a:rPr lang="fr-BE" sz="2000" dirty="0"/>
              <a:t> sont des exceptions qui peuvent généralement être évitées par programmation. </a:t>
            </a:r>
          </a:p>
          <a:p>
            <a:r>
              <a:rPr lang="fr-BE" sz="2000" dirty="0"/>
              <a:t>Si vous vérifiez </a:t>
            </a:r>
            <a:r>
              <a:rPr lang="fr-BE" sz="2000" dirty="0" err="1"/>
              <a:t>null</a:t>
            </a:r>
            <a:r>
              <a:rPr lang="fr-BE" sz="2000" dirty="0"/>
              <a:t> avant d'appeler une méthode,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NullPointerException</a:t>
            </a:r>
            <a:r>
              <a:rPr lang="fr-BE" sz="2000" dirty="0"/>
              <a:t> ne se produira jamais. </a:t>
            </a:r>
          </a:p>
          <a:p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ArrayIndexOutOfBoundException</a:t>
            </a:r>
            <a:r>
              <a:rPr lang="fr-BE" sz="2000" dirty="0"/>
              <a:t> ne se produira pas si vous vérifiez d'abord l'index.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2000" dirty="0"/>
              <a:t>Les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RuntimeException</a:t>
            </a:r>
            <a:r>
              <a:rPr lang="fr-BE" sz="2000" dirty="0"/>
              <a:t> ne sont pas vérifiées par le compilateur (donc pas de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try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...catch</a:t>
            </a:r>
            <a:r>
              <a:rPr lang="fr-BE" sz="2000" dirty="0"/>
              <a:t> obligatoire).</a:t>
            </a:r>
          </a:p>
          <a:p>
            <a:endParaRPr lang="fr-FR" sz="2000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3D99C55-E6DC-9712-6035-D1AC8F66EA8E}"/>
              </a:ext>
            </a:extLst>
          </p:cNvPr>
          <p:cNvSpPr/>
          <p:nvPr/>
        </p:nvSpPr>
        <p:spPr>
          <a:xfrm>
            <a:off x="1189704" y="3057832"/>
            <a:ext cx="1910416" cy="381000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D247F09-F90E-FA78-5EEF-916BFAC8778A}"/>
              </a:ext>
            </a:extLst>
          </p:cNvPr>
          <p:cNvSpPr/>
          <p:nvPr/>
        </p:nvSpPr>
        <p:spPr>
          <a:xfrm>
            <a:off x="1465006" y="4517923"/>
            <a:ext cx="1910416" cy="381000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6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1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Ecrivez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sz="2400" dirty="0" err="1">
                <a:solidFill>
                  <a:schemeClr val="accent4"/>
                </a:solidFill>
                <a:latin typeface="Consolas"/>
                <a:cs typeface="Consolas"/>
              </a:rPr>
              <a:t>Compte</a:t>
            </a:r>
            <a:r>
              <a:rPr lang="en-GB" dirty="0"/>
              <a:t> (</a:t>
            </a:r>
            <a:r>
              <a:rPr lang="en-GB" dirty="0" err="1"/>
              <a:t>belge</a:t>
            </a:r>
            <a:r>
              <a:rPr lang="en-GB" dirty="0"/>
              <a:t>).</a:t>
            </a:r>
          </a:p>
          <a:p>
            <a:pPr marL="0" indent="0">
              <a:buNone/>
            </a:pPr>
            <a:r>
              <a:rPr lang="en-GB" dirty="0"/>
              <a:t>La </a:t>
            </a:r>
            <a:r>
              <a:rPr lang="en-GB" dirty="0" err="1"/>
              <a:t>classe</a:t>
            </a:r>
            <a:r>
              <a:rPr lang="en-GB" dirty="0"/>
              <a:t> a </a:t>
            </a:r>
          </a:p>
          <a:p>
            <a:pPr lvl="1"/>
            <a:r>
              <a:rPr lang="en-GB" dirty="0"/>
              <a:t>un </a:t>
            </a:r>
            <a:r>
              <a:rPr lang="en-GB" dirty="0" err="1"/>
              <a:t>constructeur</a:t>
            </a:r>
            <a:r>
              <a:rPr lang="en-GB" dirty="0"/>
              <a:t> par </a:t>
            </a:r>
            <a:r>
              <a:rPr lang="en-GB" dirty="0" err="1"/>
              <a:t>défaut</a:t>
            </a:r>
            <a:r>
              <a:rPr lang="en-GB" dirty="0"/>
              <a:t> (</a:t>
            </a:r>
            <a:r>
              <a:rPr lang="en-GB" dirty="0" err="1"/>
              <a:t>donc</a:t>
            </a:r>
            <a:r>
              <a:rPr lang="en-GB" dirty="0"/>
              <a:t> pas de </a:t>
            </a:r>
            <a:r>
              <a:rPr lang="en-GB" dirty="0" err="1"/>
              <a:t>constructeur</a:t>
            </a:r>
            <a:r>
              <a:rPr lang="en-GB" dirty="0"/>
              <a:t> </a:t>
            </a:r>
            <a:r>
              <a:rPr lang="en-GB" dirty="0" err="1"/>
              <a:t>explicite</a:t>
            </a:r>
            <a:r>
              <a:rPr lang="en-GB" dirty="0"/>
              <a:t>), </a:t>
            </a:r>
          </a:p>
          <a:p>
            <a:pPr lvl="1"/>
            <a:r>
              <a:rPr lang="en-GB" dirty="0"/>
              <a:t>un champ </a:t>
            </a:r>
            <a:r>
              <a:rPr lang="en-GB" dirty="0" err="1"/>
              <a:t>solde</a:t>
            </a:r>
            <a:r>
              <a:rPr lang="en-GB" dirty="0"/>
              <a:t> (0)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double</a:t>
            </a:r>
          </a:p>
          <a:p>
            <a:pPr lvl="1"/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double 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getSolde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() </a:t>
            </a:r>
          </a:p>
          <a:p>
            <a:pPr lvl="1"/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void 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ajoute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(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montant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) </a:t>
            </a:r>
          </a:p>
          <a:p>
            <a:pPr lvl="1"/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double retire(</a:t>
            </a:r>
            <a:r>
              <a:rPr lang="en-GB" sz="2000" dirty="0" err="1">
                <a:solidFill>
                  <a:schemeClr val="accent4"/>
                </a:solidFill>
                <a:latin typeface="Consolas"/>
                <a:cs typeface="Consolas"/>
              </a:rPr>
              <a:t>montant</a:t>
            </a:r>
            <a:r>
              <a:rPr lang="en-GB" sz="2000" dirty="0">
                <a:solidFill>
                  <a:schemeClr val="accent4"/>
                </a:solidFill>
                <a:latin typeface="Consolas"/>
                <a:cs typeface="Consolas"/>
              </a:rPr>
              <a:t>)</a:t>
            </a:r>
            <a:r>
              <a:rPr lang="en-GB" dirty="0"/>
              <a:t>, qui </a:t>
            </a:r>
            <a:r>
              <a:rPr lang="en-GB" dirty="0" err="1"/>
              <a:t>retourne</a:t>
            </a:r>
            <a:r>
              <a:rPr lang="en-GB" dirty="0"/>
              <a:t> le </a:t>
            </a:r>
            <a:r>
              <a:rPr lang="en-GB" dirty="0" err="1"/>
              <a:t>montant</a:t>
            </a:r>
            <a:r>
              <a:rPr lang="en-GB" dirty="0"/>
              <a:t> </a:t>
            </a:r>
            <a:r>
              <a:rPr lang="en-GB" dirty="0" err="1"/>
              <a:t>retiré</a:t>
            </a:r>
            <a:r>
              <a:rPr lang="en-GB" dirty="0"/>
              <a:t>; </a:t>
            </a:r>
            <a:r>
              <a:rPr lang="en-GB" dirty="0" err="1"/>
              <a:t>cette</a:t>
            </a:r>
            <a:r>
              <a:rPr lang="en-GB" dirty="0"/>
              <a:t> </a:t>
            </a:r>
            <a:r>
              <a:rPr lang="en-GB" dirty="0" err="1"/>
              <a:t>méthode</a:t>
            </a:r>
            <a:r>
              <a:rPr lang="en-GB" dirty="0"/>
              <a:t> ne </a:t>
            </a:r>
            <a:r>
              <a:rPr lang="en-GB" dirty="0" err="1"/>
              <a:t>permet</a:t>
            </a:r>
            <a:r>
              <a:rPr lang="en-GB" dirty="0"/>
              <a:t> pas de </a:t>
            </a:r>
            <a:r>
              <a:rPr lang="en-GB" dirty="0" err="1"/>
              <a:t>retirer</a:t>
            </a:r>
            <a:r>
              <a:rPr lang="en-GB" dirty="0"/>
              <a:t> plus que le </a:t>
            </a:r>
            <a:r>
              <a:rPr lang="en-GB" dirty="0" err="1"/>
              <a:t>solde</a:t>
            </a:r>
            <a:r>
              <a:rPr lang="en-GB" dirty="0"/>
              <a:t> disponible (</a:t>
            </a:r>
            <a:r>
              <a:rPr lang="en-GB" dirty="0" err="1"/>
              <a:t>donc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le </a:t>
            </a:r>
            <a:r>
              <a:rPr lang="en-GB" dirty="0" err="1"/>
              <a:t>compte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à</a:t>
            </a:r>
            <a:r>
              <a:rPr lang="en-GB" dirty="0"/>
              <a:t> 100 et </a:t>
            </a:r>
            <a:r>
              <a:rPr lang="en-GB" dirty="0" err="1"/>
              <a:t>qu’on</a:t>
            </a:r>
            <a:r>
              <a:rPr lang="en-GB" dirty="0"/>
              <a:t> retire 120, </a:t>
            </a:r>
            <a:r>
              <a:rPr lang="en-GB" dirty="0" err="1"/>
              <a:t>elle</a:t>
            </a:r>
            <a:r>
              <a:rPr lang="en-GB" dirty="0"/>
              <a:t> </a:t>
            </a:r>
            <a:r>
              <a:rPr lang="en-GB" dirty="0" err="1"/>
              <a:t>retourne</a:t>
            </a:r>
            <a:r>
              <a:rPr lang="en-GB" dirty="0"/>
              <a:t> 100).</a:t>
            </a:r>
            <a:endParaRPr lang="en-GB" dirty="0">
              <a:solidFill>
                <a:srgbClr val="A6082B"/>
              </a:solidFill>
              <a:latin typeface="Consolas"/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710B6D0-7FD4-ABCE-F8B3-E8DBB7AF5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 dirty="0"/>
          </a:p>
        </p:txBody>
      </p:sp>
      <p:pic>
        <p:nvPicPr>
          <p:cNvPr id="9" name="Picture 2" descr="blog-nutrition-outlet">
            <a:extLst>
              <a:ext uri="{FF2B5EF4-FFF2-40B4-BE49-F238E27FC236}">
                <a16:creationId xmlns:a16="http://schemas.microsoft.com/office/drawing/2014/main" id="{3D8EC3FE-E61A-4F06-AF7D-595AD6601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9705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2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 err="1"/>
              <a:t>Ecrivez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un programme </a:t>
            </a:r>
            <a:r>
              <a:rPr lang="en-GB" sz="2600" dirty="0" err="1">
                <a:solidFill>
                  <a:schemeClr val="accent4"/>
                </a:solidFill>
                <a:latin typeface="Consolas"/>
                <a:cs typeface="Consolas"/>
              </a:rPr>
              <a:t>GestionDeCompte</a:t>
            </a:r>
            <a:r>
              <a:rPr lang="en-GB" dirty="0"/>
              <a:t> qui utilise </a:t>
            </a:r>
            <a:r>
              <a:rPr lang="en-GB" dirty="0" err="1"/>
              <a:t>votre</a:t>
            </a:r>
            <a:r>
              <a:rPr lang="en-GB" dirty="0"/>
              <a:t> </a:t>
            </a:r>
            <a:r>
              <a:rPr lang="en-GB" dirty="0" err="1"/>
              <a:t>compte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 err="1"/>
              <a:t>Vérifiez</a:t>
            </a:r>
            <a:r>
              <a:rPr lang="en-GB" dirty="0"/>
              <a:t> que les </a:t>
            </a:r>
            <a:r>
              <a:rPr lang="en-GB" dirty="0" err="1"/>
              <a:t>méthodes</a:t>
            </a:r>
            <a:r>
              <a:rPr lang="en-GB" dirty="0"/>
              <a:t> </a:t>
            </a:r>
            <a:r>
              <a:rPr lang="en-GB" sz="2600" dirty="0" err="1">
                <a:solidFill>
                  <a:schemeClr val="accent4"/>
                </a:solidFill>
                <a:latin typeface="Consolas"/>
                <a:cs typeface="Consolas"/>
              </a:rPr>
              <a:t>ajoute</a:t>
            </a:r>
            <a:r>
              <a:rPr lang="en-GB" dirty="0"/>
              <a:t> et </a:t>
            </a:r>
            <a:r>
              <a:rPr lang="en-GB" sz="2600" dirty="0">
                <a:solidFill>
                  <a:schemeClr val="accent4"/>
                </a:solidFill>
                <a:latin typeface="Consolas"/>
                <a:cs typeface="Consolas"/>
              </a:rPr>
              <a:t>retire</a:t>
            </a:r>
            <a:r>
              <a:rPr lang="en-GB" dirty="0"/>
              <a:t> </a:t>
            </a:r>
            <a:r>
              <a:rPr lang="en-GB" dirty="0" err="1"/>
              <a:t>fonctionnent</a:t>
            </a:r>
            <a:r>
              <a:rPr lang="en-GB" dirty="0"/>
              <a:t> </a:t>
            </a:r>
            <a:r>
              <a:rPr lang="en-GB" dirty="0" err="1"/>
              <a:t>correctement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Un </a:t>
            </a:r>
            <a:r>
              <a:rPr lang="en-GB" dirty="0" err="1"/>
              <a:t>compte</a:t>
            </a:r>
            <a:r>
              <a:rPr lang="en-GB" dirty="0"/>
              <a:t> a </a:t>
            </a:r>
            <a:r>
              <a:rPr lang="en-GB" dirty="0" err="1"/>
              <a:t>également</a:t>
            </a:r>
            <a:r>
              <a:rPr lang="en-GB" dirty="0"/>
              <a:t> un </a:t>
            </a:r>
            <a:r>
              <a:rPr lang="en-GB" dirty="0" err="1"/>
              <a:t>numéro</a:t>
            </a:r>
            <a:r>
              <a:rPr lang="en-GB" dirty="0"/>
              <a:t> de la </a:t>
            </a:r>
            <a:r>
              <a:rPr lang="en-GB" dirty="0" err="1"/>
              <a:t>forme</a:t>
            </a:r>
            <a:r>
              <a:rPr lang="en-GB" dirty="0"/>
              <a:t> </a:t>
            </a:r>
          </a:p>
          <a:p>
            <a:pPr marL="0" indent="0" algn="ctr">
              <a:buNone/>
            </a:pPr>
            <a:r>
              <a:rPr lang="en-GB" dirty="0"/>
              <a:t>BECC NNNN NNNN NNNN </a:t>
            </a:r>
          </a:p>
          <a:p>
            <a:pPr marL="0" indent="0">
              <a:buNone/>
            </a:pPr>
            <a:r>
              <a:rPr lang="en-GB" dirty="0" err="1"/>
              <a:t>Voir</a:t>
            </a:r>
            <a:r>
              <a:rPr lang="en-GB" dirty="0"/>
              <a:t> </a:t>
            </a:r>
            <a:r>
              <a:rPr lang="en-GB" dirty="0">
                <a:hlinkClick r:id="rId2"/>
              </a:rPr>
              <a:t>http://www.iban.fr/verification.html</a:t>
            </a:r>
            <a:r>
              <a:rPr lang="en-GB" dirty="0"/>
              <a:t> pour </a:t>
            </a:r>
            <a:r>
              <a:rPr lang="en-GB" dirty="0" err="1"/>
              <a:t>l’algorithme</a:t>
            </a:r>
            <a:r>
              <a:rPr lang="en-GB" dirty="0"/>
              <a:t> de </a:t>
            </a:r>
            <a:r>
              <a:rPr lang="en-GB" dirty="0" err="1"/>
              <a:t>vérification</a:t>
            </a:r>
            <a:r>
              <a:rPr lang="en-GB" dirty="0"/>
              <a:t> de </a:t>
            </a:r>
            <a:r>
              <a:rPr lang="en-GB" dirty="0" err="1"/>
              <a:t>l’IBAN</a:t>
            </a:r>
            <a:r>
              <a:rPr lang="en-GB" dirty="0"/>
              <a:t> (</a:t>
            </a:r>
            <a:r>
              <a:rPr lang="en-GB" dirty="0" err="1"/>
              <a:t>voir</a:t>
            </a:r>
            <a:r>
              <a:rPr lang="en-GB" dirty="0"/>
              <a:t> </a:t>
            </a:r>
            <a:r>
              <a:rPr lang="en-GB" dirty="0" err="1"/>
              <a:t>aussi</a:t>
            </a:r>
            <a:r>
              <a:rPr lang="en-GB" dirty="0"/>
              <a:t> slide </a:t>
            </a:r>
            <a:r>
              <a:rPr lang="en-GB" dirty="0" err="1"/>
              <a:t>suivant</a:t>
            </a:r>
            <a:r>
              <a:rPr lang="en-GB" dirty="0"/>
              <a:t>).</a:t>
            </a:r>
          </a:p>
          <a:p>
            <a:pPr marL="0" indent="0">
              <a:buNone/>
            </a:pPr>
            <a:r>
              <a:rPr lang="en-GB" dirty="0" err="1"/>
              <a:t>Ajoutez</a:t>
            </a:r>
            <a:r>
              <a:rPr lang="en-GB" dirty="0"/>
              <a:t> </a:t>
            </a:r>
            <a:r>
              <a:rPr lang="en-GB" dirty="0" err="1"/>
              <a:t>donc</a:t>
            </a:r>
            <a:r>
              <a:rPr lang="en-GB" dirty="0"/>
              <a:t> le </a:t>
            </a:r>
            <a:r>
              <a:rPr lang="en-GB" dirty="0" err="1"/>
              <a:t>numéro</a:t>
            </a:r>
            <a:r>
              <a:rPr lang="en-GB" dirty="0"/>
              <a:t> de </a:t>
            </a:r>
            <a:r>
              <a:rPr lang="en-GB" dirty="0" err="1"/>
              <a:t>compte</a:t>
            </a:r>
            <a:r>
              <a:rPr lang="en-GB" dirty="0"/>
              <a:t> </a:t>
            </a:r>
            <a:r>
              <a:rPr lang="en-GB" dirty="0" err="1"/>
              <a:t>à</a:t>
            </a:r>
            <a:r>
              <a:rPr lang="en-GB" dirty="0"/>
              <a:t> </a:t>
            </a:r>
            <a:r>
              <a:rPr lang="en-GB" dirty="0" err="1"/>
              <a:t>votre</a:t>
            </a:r>
            <a:r>
              <a:rPr lang="en-GB" dirty="0"/>
              <a:t> </a:t>
            </a:r>
            <a:r>
              <a:rPr lang="en-GB" dirty="0" err="1"/>
              <a:t>classe</a:t>
            </a:r>
            <a:r>
              <a:rPr lang="en-GB" dirty="0"/>
              <a:t>. Attention, </a:t>
            </a:r>
            <a:r>
              <a:rPr lang="en-GB" dirty="0" err="1"/>
              <a:t>c’est</a:t>
            </a:r>
            <a:r>
              <a:rPr lang="en-GB" dirty="0"/>
              <a:t> bien un </a:t>
            </a:r>
            <a:r>
              <a:rPr lang="en-GB" sz="2600" dirty="0">
                <a:solidFill>
                  <a:schemeClr val="accent4"/>
                </a:solidFill>
                <a:latin typeface="Consolas"/>
                <a:cs typeface="Consolas"/>
              </a:rPr>
              <a:t>String</a:t>
            </a:r>
            <a:r>
              <a:rPr lang="en-GB" dirty="0"/>
              <a:t>!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B690E8D8-814B-C68F-79DE-0C377B953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0793DAB3-6186-96EE-6ED9-7FDEAC5A5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958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457A3-71DE-F147-93F9-B50E7F93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3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532E6E-3B82-294D-933D-26745EBC9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u="sng" dirty="0"/>
              <a:t>Contrôle de l’IBAN</a:t>
            </a:r>
          </a:p>
          <a:p>
            <a:pPr marL="0" indent="0">
              <a:buNone/>
            </a:pPr>
            <a:r>
              <a:rPr lang="fr-FR" dirty="0"/>
              <a:t>Soit le numéro </a:t>
            </a:r>
            <a:r>
              <a:rPr lang="fr-BE" dirty="0"/>
              <a:t>CH10 0023 00A1 0235 0260 1 à vérifier.</a:t>
            </a:r>
          </a:p>
          <a:p>
            <a:pPr marL="457200" indent="-457200">
              <a:buAutoNum type="arabicPeriod"/>
            </a:pPr>
            <a:r>
              <a:rPr lang="fr-BE" dirty="0"/>
              <a:t>Retirer tous les caractères non alphanumériques (A-Z0-9)</a:t>
            </a:r>
            <a:endParaRPr lang="fr-FR" dirty="0"/>
          </a:p>
          <a:p>
            <a:pPr marL="0" indent="0" algn="ctr">
              <a:buNone/>
            </a:pP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s =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s.replaceAll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("[^a-zA-Z0-9]", "");</a:t>
            </a:r>
            <a:endParaRPr lang="fr-BE" sz="2400" dirty="0">
              <a:solidFill>
                <a:schemeClr val="accent4"/>
              </a:solidFill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fr-BE" dirty="0"/>
              <a:t>Déplacer les 4 premiers caractères à droite (allez voir la méthode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s.substring</a:t>
            </a:r>
            <a:r>
              <a:rPr lang="fr-BE" dirty="0"/>
              <a:t>).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fr-FR" dirty="0"/>
              <a:t>Mettre tout en majuscules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fr-BE" dirty="0"/>
              <a:t>Transformer les caractères alphabétiques en numériques (on peut convertir le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char</a:t>
            </a:r>
            <a:r>
              <a:rPr lang="fr-BE" dirty="0"/>
              <a:t> en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BE" dirty="0"/>
              <a:t> pour obtenir son code ascii, sachant que ascii de </a:t>
            </a:r>
            <a:r>
              <a:rPr lang="fr-BE" sz="2400" dirty="0">
                <a:solidFill>
                  <a:schemeClr val="accent4"/>
                </a:solidFill>
                <a:latin typeface="Consolas"/>
                <a:cs typeface="Consolas"/>
              </a:rPr>
              <a:t>'A'</a:t>
            </a:r>
            <a:r>
              <a:rPr lang="fr-BE" dirty="0"/>
              <a:t> est 65) </a:t>
            </a:r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endParaRPr lang="fr-BE" dirty="0"/>
          </a:p>
          <a:p>
            <a:pPr marL="457200" indent="-457200">
              <a:buFont typeface="+mj-lt"/>
              <a:buAutoNum type="arabicPeriod" startAt="2"/>
            </a:pPr>
            <a:r>
              <a:rPr lang="fr-BE" dirty="0"/>
              <a:t>Diviser le nombre obtenu par 97; le reste de la division (%) doit être 1. Utiliser </a:t>
            </a:r>
            <a:r>
              <a:rPr lang="fr-BE" sz="2400" dirty="0" err="1">
                <a:solidFill>
                  <a:schemeClr val="accent4"/>
                </a:solidFill>
                <a:latin typeface="Consolas"/>
                <a:cs typeface="Consolas"/>
              </a:rPr>
              <a:t>BigInteger</a:t>
            </a:r>
            <a:r>
              <a:rPr lang="fr-BE" dirty="0"/>
              <a:t>.</a:t>
            </a:r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49B046DF-3711-A347-AAC6-ECAFD01A2DC7}"/>
              </a:ext>
            </a:extLst>
          </p:cNvPr>
          <p:cNvGraphicFramePr>
            <a:graphicFrameLocks noGrp="1"/>
          </p:cNvGraphicFramePr>
          <p:nvPr/>
        </p:nvGraphicFramePr>
        <p:xfrm>
          <a:off x="3972233" y="4465741"/>
          <a:ext cx="481903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695">
                  <a:extLst>
                    <a:ext uri="{9D8B030D-6E8A-4147-A177-3AD203B41FA5}">
                      <a16:colId xmlns:a16="http://schemas.microsoft.com/office/drawing/2014/main" val="310869105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627964571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574538088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1280928552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2871858473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212231196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210174638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2838379712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98128638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194900814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78150505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4210445677"/>
                    </a:ext>
                  </a:extLst>
                </a:gridCol>
                <a:gridCol w="370695">
                  <a:extLst>
                    <a:ext uri="{9D8B030D-6E8A-4147-A177-3AD203B41FA5}">
                      <a16:colId xmlns:a16="http://schemas.microsoft.com/office/drawing/2014/main" val="3484509006"/>
                    </a:ext>
                  </a:extLst>
                </a:gridCol>
              </a:tblGrid>
              <a:tr h="190490">
                <a:tc>
                  <a:txBody>
                    <a:bodyPr/>
                    <a:lstStyle/>
                    <a:p>
                      <a:r>
                        <a:rPr lang="fr-FR" sz="1100" dirty="0"/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F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H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I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J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K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M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95745"/>
                  </a:ext>
                </a:extLst>
              </a:tr>
              <a:tr h="177698">
                <a:tc>
                  <a:txBody>
                    <a:bodyPr/>
                    <a:lstStyle/>
                    <a:p>
                      <a:r>
                        <a:rPr lang="fr-FR" sz="11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803743"/>
                  </a:ext>
                </a:extLst>
              </a:tr>
              <a:tr h="17769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fr-FR" sz="11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1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52647"/>
                  </a:ext>
                </a:extLst>
              </a:tr>
              <a:tr h="177698">
                <a:tc>
                  <a:txBody>
                    <a:bodyPr/>
                    <a:lstStyle/>
                    <a:p>
                      <a:r>
                        <a:rPr lang="fr-FR" sz="11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730788"/>
                  </a:ext>
                </a:extLst>
              </a:tr>
            </a:tbl>
          </a:graphicData>
        </a:graphic>
      </p:graphicFrame>
      <p:pic>
        <p:nvPicPr>
          <p:cNvPr id="2051" name="Picture 3" descr="Que peut-on faire avec un IBAN ? Le donner est-il dangereux ?">
            <a:extLst>
              <a:ext uri="{FF2B5EF4-FFF2-40B4-BE49-F238E27FC236}">
                <a16:creationId xmlns:a16="http://schemas.microsoft.com/office/drawing/2014/main" id="{841497A8-5D17-C043-B6ED-1C67A19F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592" y="497449"/>
            <a:ext cx="2705663" cy="97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655AC80A-3272-8F8F-7893-0A11B2EA1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45B34878-ECC4-D2DA-CE31-F052EDE71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2416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Exercice</a:t>
            </a:r>
            <a:r>
              <a:rPr lang="en-GB" dirty="0"/>
              <a:t> 23 </a:t>
            </a:r>
            <a:r>
              <a:rPr lang="en-GB" baseline="30000" dirty="0"/>
              <a:t>4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Modifiez votre classe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Compte</a:t>
            </a:r>
            <a:r>
              <a:rPr lang="fr-FR" dirty="0">
                <a:cs typeface="Consolas"/>
              </a:rPr>
              <a:t> de manière à utiliser des exceptions</a:t>
            </a:r>
            <a:r>
              <a:rPr lang="mr-IN" dirty="0">
                <a:cs typeface="Consolas"/>
              </a:rPr>
              <a:t>…</a:t>
            </a:r>
            <a:endParaRPr lang="nl-BE" dirty="0">
              <a:cs typeface="Consolas"/>
            </a:endParaRPr>
          </a:p>
          <a:p>
            <a:pPr marL="0" indent="0">
              <a:buNone/>
            </a:pPr>
            <a:r>
              <a:rPr lang="nl-BE" dirty="0">
                <a:cs typeface="Consolas"/>
              </a:rPr>
              <a:t>Construisez un constructeur explicite, qui recevra le numéro du compte (champ final)</a:t>
            </a: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Créez une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>
                <a:cs typeface="Consolas"/>
              </a:rPr>
              <a:t> pour chaque erreur possible.</a:t>
            </a:r>
          </a:p>
          <a:p>
            <a:pPr lvl="1"/>
            <a:r>
              <a:rPr lang="en-GB" dirty="0"/>
              <a:t>Pas 16 chars</a:t>
            </a:r>
          </a:p>
          <a:p>
            <a:pPr lvl="1"/>
            <a:r>
              <a:rPr lang="en-GB" dirty="0"/>
              <a:t>Ne commence pas par “BE”</a:t>
            </a:r>
          </a:p>
          <a:p>
            <a:pPr lvl="1"/>
            <a:r>
              <a:rPr lang="en-GB" dirty="0"/>
              <a:t>Modulo 97 inexact.</a:t>
            </a:r>
            <a:endParaRPr lang="fr-FR" strike="sngStrike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Faites en sorte que le constructeur puisse lever ces exceptions.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Faites en sorte que votre programme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GestionDeCompte</a:t>
            </a:r>
            <a:r>
              <a:rPr lang="fr-FR" dirty="0">
                <a:cs typeface="Consolas"/>
              </a:rPr>
              <a:t> traite ces exceptions (de toutes façons vous n’avez pas le choix).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1F634E1B-7283-20B8-8B39-434D59FC7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 dirty="0"/>
          </a:p>
        </p:txBody>
      </p: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BFF9DF93-BE4D-CDA4-1664-785484236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350517"/>
      </p:ext>
    </p:extLst>
  </p:cSld>
  <p:clrMapOvr>
    <a:masterClrMapping/>
  </p:clrMapOvr>
  <p:transition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Exemple pratique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Plusieurs Exceptions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Communication avec le gestionnaire d'Exception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mécanisme de gestion des Exceptions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Exceptions standard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méthode </a:t>
            </a:r>
            <a:r>
              <a:rPr lang="fr-FR" dirty="0" err="1">
                <a:latin typeface="Consolas"/>
                <a:cs typeface="Consolas"/>
              </a:rPr>
              <a:t>printStackTrace</a:t>
            </a: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CA99A5-B332-B909-6733-15C39193A78F}"/>
              </a:ext>
            </a:extLst>
          </p:cNvPr>
          <p:cNvGrpSpPr/>
          <p:nvPr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6D659AA5-DE48-3A94-0973-5630499C0B8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FF3D4ED-5448-D9C2-964C-3C9EFB6B14C0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EB7EE2F1-632A-44D0-6332-2B5209BC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4629760"/>
      </p:ext>
    </p:extLst>
  </p:cSld>
  <p:clrMapOvr>
    <a:masterClrMapping/>
  </p:clrMapOvr>
  <p:transition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avec le gestionnaire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Il y a plusieurs façons de communiquer avec le gestionnaire d'exceptions:</a:t>
            </a:r>
          </a:p>
          <a:p>
            <a:pPr marL="457200" indent="-457200">
              <a:buAutoNum type="arabicPeriod"/>
            </a:pPr>
            <a:r>
              <a:rPr lang="fr-FR" dirty="0">
                <a:solidFill>
                  <a:schemeClr val="accent4"/>
                </a:solidFill>
                <a:cs typeface="Consolas"/>
              </a:rPr>
              <a:t>via l'objet</a:t>
            </a:r>
            <a:r>
              <a:rPr lang="fr-FR" dirty="0">
                <a:cs typeface="Consolas"/>
              </a:rPr>
              <a:t> fourni dans le </a:t>
            </a:r>
            <a:r>
              <a:rPr lang="fr-FR" dirty="0" err="1">
                <a:cs typeface="Consolas"/>
              </a:rPr>
              <a:t>throw</a:t>
            </a:r>
            <a:r>
              <a:rPr lang="fr-FR" dirty="0">
                <a:cs typeface="Consolas"/>
              </a:rPr>
              <a:t>.</a:t>
            </a:r>
          </a:p>
          <a:p>
            <a:pPr marL="457200" indent="-457200">
              <a:buAutoNum type="arabicPeriod"/>
            </a:pPr>
            <a:r>
              <a:rPr lang="fr-FR" dirty="0">
                <a:cs typeface="Consolas"/>
              </a:rPr>
              <a:t>par la classe </a:t>
            </a:r>
            <a:r>
              <a:rPr lang="fr-FR" dirty="0">
                <a:solidFill>
                  <a:schemeClr val="accent4"/>
                </a:solidFill>
                <a:cs typeface="Consolas"/>
              </a:rPr>
              <a:t>Exception</a:t>
            </a:r>
            <a:r>
              <a:rPr lang="fr-FR" dirty="0">
                <a:cs typeface="Consolas"/>
              </a:rPr>
              <a:t>.</a:t>
            </a:r>
          </a:p>
          <a:p>
            <a:pPr marL="457200" indent="-457200">
              <a:buAutoNum type="arabicPeriod"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«communiquer avec le gestionnaire d'exceptions » signifie ici que l’objet qui jette l’exception peut fournir des informations à l’objet qui reçoit l’exception.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31B53B3B-854A-8473-72B9-010EAE5DE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672453"/>
      </p:ext>
    </p:extLst>
  </p:cSld>
  <p:clrMapOvr>
    <a:masterClrMapping/>
  </p:clrMapOvr>
  <p:transition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via l'objet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Comme l'objet Exception est transmis au gestionnaire d'exception, on peut (lors de sa conception) lui ajouter des propriétés...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Par exemple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BF9312-445F-E62D-1B5A-1218DD27D777}"/>
              </a:ext>
            </a:extLst>
          </p:cNvPr>
          <p:cNvSpPr txBox="1"/>
          <p:nvPr/>
        </p:nvSpPr>
        <p:spPr>
          <a:xfrm>
            <a:off x="3306337" y="3429000"/>
            <a:ext cx="6963936" cy="2554545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Exception {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0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ord) {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fr-BE" sz="20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fr-BE" sz="20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= abs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fr-BE" sz="20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</a:t>
            </a:r>
            <a:r>
              <a:rPr lang="fr-BE" sz="20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= ord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E022054-B461-F73A-F8EB-9023CF46F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32632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via l'objet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Lorsque l'exception se produit, il faut donner des valeurs aux champs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Par exemple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213AAF-D347-1635-6A93-4513855123A3}"/>
              </a:ext>
            </a:extLst>
          </p:cNvPr>
          <p:cNvSpPr txBox="1"/>
          <p:nvPr/>
        </p:nvSpPr>
        <p:spPr>
          <a:xfrm>
            <a:off x="2782230" y="3702425"/>
            <a:ext cx="6099716" cy="40011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(x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y) 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83444308-79CC-FBAA-A9C0-EA7E0E527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410148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via l'objet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Le gestionnaire d'exception peut ensuite utiliser les valeurs de ces propriétés... (qui sont ici publiques)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Par exemple</a:t>
            </a:r>
          </a:p>
          <a:p>
            <a:pPr marL="0" indent="0">
              <a:buNone/>
            </a:pPr>
            <a:r>
              <a:rPr lang="fr-FR" dirty="0">
                <a:latin typeface="Consolas"/>
                <a:cs typeface="Consolas"/>
              </a:rPr>
              <a:t> </a:t>
            </a:r>
            <a:endParaRPr lang="fr-FR" dirty="0">
              <a:solidFill>
                <a:schemeClr val="accent4"/>
              </a:solidFill>
              <a:latin typeface="Consolas"/>
              <a:cs typeface="Consola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806DFD-1457-A74A-F5E4-2BD2E5CB8DFB}"/>
              </a:ext>
            </a:extLst>
          </p:cNvPr>
          <p:cNvSpPr txBox="1"/>
          <p:nvPr/>
        </p:nvSpPr>
        <p:spPr>
          <a:xfrm>
            <a:off x="838200" y="4001294"/>
            <a:ext cx="10515600" cy="1631216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0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"Erreur </a:t>
            </a:r>
            <a:r>
              <a:rPr lang="fr-BE" sz="2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construct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Point"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0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2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coordonnees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transmises: "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e.</a:t>
            </a:r>
            <a:r>
              <a:rPr lang="fr-BE" sz="20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fr-BE" sz="20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e.</a:t>
            </a:r>
            <a:r>
              <a:rPr lang="fr-BE" sz="20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ord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0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(-</a:t>
            </a:r>
            <a:r>
              <a:rPr lang="fr-BE" sz="20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C4F1D2-6105-5FE9-56A4-77F53EAB7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679303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via la classe Exception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La classe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>
                <a:cs typeface="Consolas"/>
              </a:rPr>
              <a:t> présente un constructeur à un argument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String</a:t>
            </a:r>
            <a:r>
              <a:rPr lang="fr-FR" dirty="0">
                <a:cs typeface="Consolas"/>
              </a:rPr>
              <a:t>. 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On peut réutiliser ce constructeur (via un appel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super()</a:t>
            </a:r>
            <a:r>
              <a:rPr lang="fr-FR" dirty="0">
                <a:cs typeface="Consolas"/>
              </a:rPr>
              <a:t>) quand on veut uniquement transmettre un message textuel à l'appelant. 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412DDAEC-3149-3326-A60A-20B142905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2184404"/>
      </p:ext>
    </p:extLst>
  </p:cSld>
  <p:clrMapOvr>
    <a:masterClrMapping/>
  </p:clrMapOvr>
  <p:transition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via la classe Exception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On doit alors, dans le constructeur de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ConstructorException</a:t>
            </a:r>
            <a:r>
              <a:rPr lang="fr-FR" dirty="0">
                <a:cs typeface="Consolas"/>
              </a:rPr>
              <a:t>, faire appel au constructeur de la superclasse.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C6C14C2-6F5A-F7C9-2272-518C78275015}"/>
              </a:ext>
            </a:extLst>
          </p:cNvPr>
          <p:cNvSpPr txBox="1"/>
          <p:nvPr/>
        </p:nvSpPr>
        <p:spPr>
          <a:xfrm>
            <a:off x="2882590" y="3248788"/>
            <a:ext cx="7120053" cy="1631216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Exception {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(String msg) {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super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(msg) 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FE5E5BD9-1593-8F52-2BD0-577E47604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17066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via la classe Exception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8402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Ensuite, dans la méthode qui génère l'exception, on construit l'exception en lui passant une chaîne de caractères.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Par exemple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00FA725-1F94-6D92-F13A-FC0210277791}"/>
              </a:ext>
            </a:extLst>
          </p:cNvPr>
          <p:cNvSpPr txBox="1"/>
          <p:nvPr/>
        </p:nvSpPr>
        <p:spPr>
          <a:xfrm>
            <a:off x="485725" y="4001294"/>
            <a:ext cx="11379173" cy="707886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new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"Erreur </a:t>
            </a:r>
            <a:r>
              <a:rPr lang="fr-BE" sz="2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construct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r-BE" sz="2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coordonnees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"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+ x + 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 "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+ y)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EA7A1B2-D436-43EB-0C3C-50A3B128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505839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Communiquer via la classe Exception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Le gestionnaire d'exception peut ensuite utiliser le message transmis par le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throw</a:t>
            </a:r>
            <a:r>
              <a:rPr lang="fr-FR" dirty="0">
                <a:cs typeface="Consolas"/>
              </a:rPr>
              <a:t>...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Par exemple</a:t>
            </a:r>
          </a:p>
          <a:p>
            <a:pPr marL="0" indent="0">
              <a:buNone/>
            </a:pPr>
            <a:r>
              <a:rPr lang="fr-FR" dirty="0">
                <a:latin typeface="Consolas"/>
                <a:cs typeface="Consolas"/>
              </a:rPr>
              <a:t> </a:t>
            </a:r>
            <a:endParaRPr lang="fr-FR" dirty="0">
              <a:solidFill>
                <a:schemeClr val="accent4"/>
              </a:solidFill>
              <a:latin typeface="Consolas"/>
              <a:cs typeface="Consola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132A53-4123-6800-291F-CCDC4610FC03}"/>
              </a:ext>
            </a:extLst>
          </p:cNvPr>
          <p:cNvSpPr txBox="1"/>
          <p:nvPr/>
        </p:nvSpPr>
        <p:spPr>
          <a:xfrm>
            <a:off x="2709746" y="4001294"/>
            <a:ext cx="7030843" cy="1631216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ConstructorException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  <a:b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0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"Erreur </a:t>
            </a:r>
            <a:r>
              <a:rPr lang="fr-BE" sz="2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construct</a:t>
            </a:r>
            <a:r>
              <a:rPr lang="fr-BE" sz="20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Point"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0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e.toString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2000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(-</a:t>
            </a:r>
            <a:r>
              <a:rPr lang="fr-BE" sz="20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0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4CD58C91-152C-E589-C3D3-1F0C6B8D8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483744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Modifier encore votre classe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Compte</a:t>
            </a:r>
            <a:r>
              <a:rPr lang="fr-FR" dirty="0">
                <a:cs typeface="Consolas"/>
              </a:rPr>
              <a:t> pour que les exceptions retournent un message approprié:</a:t>
            </a:r>
          </a:p>
          <a:p>
            <a:pPr marL="457200" lvl="1" indent="0">
              <a:buNone/>
            </a:pPr>
            <a:r>
              <a:rPr lang="fr-FR" dirty="0">
                <a:cs typeface="Consolas"/>
              </a:rPr>
              <a:t>- « L’IBAN doit </a:t>
            </a:r>
            <a:r>
              <a:rPr lang="fr-FR" dirty="0" err="1">
                <a:cs typeface="Consolas"/>
              </a:rPr>
              <a:t>contenit</a:t>
            </a:r>
            <a:r>
              <a:rPr lang="fr-FR" dirty="0">
                <a:cs typeface="Consolas"/>
              </a:rPr>
              <a:t> 16 caractères, en contient </a:t>
            </a:r>
            <a:r>
              <a:rPr lang="fr-FR" dirty="0">
                <a:solidFill>
                  <a:schemeClr val="accent4"/>
                </a:solidFill>
                <a:cs typeface="Consolas"/>
              </a:rPr>
              <a:t>n</a:t>
            </a:r>
            <a:r>
              <a:rPr lang="fr-FR" dirty="0">
                <a:cs typeface="Consolas"/>
              </a:rPr>
              <a:t> »,</a:t>
            </a:r>
          </a:p>
          <a:p>
            <a:pPr marL="457200" lvl="1" indent="0">
              <a:buNone/>
            </a:pPr>
            <a:r>
              <a:rPr lang="fr-FR" dirty="0">
                <a:cs typeface="Consolas"/>
              </a:rPr>
              <a:t>- « L’IBAN doit commencer par BE  - commence par </a:t>
            </a:r>
            <a:r>
              <a:rPr lang="fr-FR" dirty="0">
                <a:solidFill>
                  <a:schemeClr val="accent4"/>
                </a:solidFill>
                <a:cs typeface="Consolas"/>
              </a:rPr>
              <a:t>xx</a:t>
            </a:r>
            <a:r>
              <a:rPr lang="fr-FR" dirty="0">
                <a:cs typeface="Consolas"/>
              </a:rPr>
              <a:t> »,</a:t>
            </a:r>
          </a:p>
          <a:p>
            <a:pPr marL="457200" lvl="1" indent="0">
              <a:buNone/>
            </a:pPr>
            <a:r>
              <a:rPr lang="fr-FR" dirty="0">
                <a:cs typeface="Consolas"/>
              </a:rPr>
              <a:t>- « Le Modulo est incorrect ».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Faites en sorte que votre application affiche le message.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23D9F77-A0BA-CD70-4049-908BE9680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58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457F48D3-24BC-CB97-1922-AD9C1E914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323215"/>
      </p:ext>
    </p:extLst>
  </p:cSld>
  <p:clrMapOvr>
    <a:masterClrMapping/>
  </p:clrMapOvr>
  <p:transition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Exemple pratique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Plusieurs Exceptions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Communication avec le gestionnaire d'Exception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Le mécanisme de gestion des Exceptions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Exceptions standard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méthode </a:t>
            </a:r>
            <a:r>
              <a:rPr lang="fr-FR" dirty="0" err="1">
                <a:latin typeface="Consolas"/>
                <a:cs typeface="Consolas"/>
              </a:rPr>
              <a:t>printStackTrace</a:t>
            </a: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CA99A5-B332-B909-6733-15C39193A78F}"/>
              </a:ext>
            </a:extLst>
          </p:cNvPr>
          <p:cNvGrpSpPr/>
          <p:nvPr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6D659AA5-DE48-3A94-0973-5630499C0B8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FF3D4ED-5448-D9C2-964C-3C9EFB6B14C0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FE743D1A-223C-91C7-6AEC-8D703DA95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59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8689698"/>
      </p:ext>
    </p:extLst>
  </p:cSld>
  <p:clrMapOvr>
    <a:masterClrMapping/>
  </p:clrMapOvr>
  <p:transition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 mécanisme de 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Dans le processus de gestion des exceptions, plusieurs points peuvent être pris en compte:</a:t>
            </a:r>
          </a:p>
          <a:p>
            <a:pPr marL="342900" indent="-342900">
              <a:buFont typeface="Arial"/>
              <a:buChar char="•"/>
            </a:pPr>
            <a:r>
              <a:rPr lang="fr-FR" dirty="0">
                <a:cs typeface="Consolas"/>
              </a:rPr>
              <a:t>l'exécution du programme peut continuer après la gestion de l'exception</a:t>
            </a:r>
          </a:p>
          <a:p>
            <a:pPr marL="342900" indent="-342900">
              <a:buFont typeface="Arial"/>
              <a:buChar char="•"/>
            </a:pPr>
            <a:r>
              <a:rPr lang="fr-FR" dirty="0">
                <a:cs typeface="Consolas"/>
              </a:rPr>
              <a:t>quand on a affaire à une exception qui hérite d'une autre exception, on peut décider du choix du gestionnaire d’exception (en effet, on peut catcher la classe enfant ou sa classe parent)</a:t>
            </a:r>
          </a:p>
          <a:p>
            <a:pPr marL="342900" indent="-342900">
              <a:buFont typeface="Arial"/>
              <a:buChar char="•"/>
            </a:pPr>
            <a:r>
              <a:rPr lang="fr-FR" dirty="0">
                <a:cs typeface="Consolas"/>
              </a:rPr>
              <a:t>l'exception peut être gérée à différents niveaux (on peut la lever de méthode en méthode)</a:t>
            </a:r>
          </a:p>
          <a:p>
            <a:pPr marL="342900" indent="-342900">
              <a:buFont typeface="Arial"/>
              <a:buChar char="•"/>
            </a:pPr>
            <a:r>
              <a:rPr lang="fr-FR" dirty="0">
                <a:cs typeface="Consolas"/>
              </a:rPr>
              <a:t>lors du traitement de l'exception, on peut en (</a:t>
            </a:r>
            <a:r>
              <a:rPr lang="fr-FR" dirty="0" err="1">
                <a:cs typeface="Consolas"/>
              </a:rPr>
              <a:t>re</a:t>
            </a:r>
            <a:r>
              <a:rPr lang="fr-FR" dirty="0">
                <a:cs typeface="Consolas"/>
              </a:rPr>
              <a:t>-)déclencher une autre</a:t>
            </a:r>
          </a:p>
          <a:p>
            <a:pPr marL="342900" indent="-342900">
              <a:buFont typeface="Arial"/>
              <a:buChar char="•"/>
            </a:pPr>
            <a:r>
              <a:rPr lang="fr-FR" dirty="0">
                <a:cs typeface="Consolas"/>
              </a:rPr>
              <a:t>il existe un bloc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finally</a:t>
            </a:r>
            <a:r>
              <a:rPr lang="fr-FR" dirty="0">
                <a:cs typeface="Consolas"/>
              </a:rPr>
              <a:t> qui sera exécuté après le traitement des exceptions (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try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 {…} catch (Exception e) {…} 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finally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 {…}</a:t>
            </a:r>
            <a:r>
              <a:rPr lang="fr-FR" dirty="0">
                <a:cs typeface="Consolas"/>
              </a:rPr>
              <a:t>).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8F070F00-E440-F77A-7ADA-D31E3714B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6736080"/>
      </p:ext>
    </p:extLst>
  </p:cSld>
  <p:clrMapOvr>
    <a:masterClrMapping/>
  </p:clrMapOvr>
  <p:transition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Exemple pratique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Plusieurs Exceptions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Communication avec le gestionnaire d'Exception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mécanisme de gestion des Exceptions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Les Exceptions standard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méthode </a:t>
            </a:r>
            <a:r>
              <a:rPr lang="fr-FR" dirty="0" err="1">
                <a:latin typeface="Consolas"/>
                <a:cs typeface="Consolas"/>
              </a:rPr>
              <a:t>printStackTrace</a:t>
            </a: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CA99A5-B332-B909-6733-15C39193A78F}"/>
              </a:ext>
            </a:extLst>
          </p:cNvPr>
          <p:cNvGrpSpPr/>
          <p:nvPr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6D659AA5-DE48-3A94-0973-5630499C0B8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FF3D4ED-5448-D9C2-964C-3C9EFB6B14C0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078DEBA8-250F-1ED2-4617-85089C8B8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0580070"/>
      </p:ext>
    </p:extLst>
  </p:cSld>
  <p:clrMapOvr>
    <a:masterClrMapping/>
  </p:clrMapOvr>
  <p:transition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Exceptions Standard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Java fournit de nombreuses exceptions prédéfinies dérivées de la classe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>
                <a:cs typeface="Consolas"/>
              </a:rPr>
              <a:t>.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Certaines de ces exceptions sont même utilisées par la JVM: dépassement des limites d’un tableau, division par 0, </a:t>
            </a:r>
            <a:r>
              <a:rPr lang="mr-IN" dirty="0">
                <a:cs typeface="Consolas"/>
              </a:rPr>
              <a:t>…</a:t>
            </a:r>
            <a:endParaRPr lang="fr-FR" dirty="0">
              <a:cs typeface="Consolas"/>
            </a:endParaRPr>
          </a:p>
        </p:txBody>
      </p:sp>
      <p:pic>
        <p:nvPicPr>
          <p:cNvPr id="9" name="Espace réservé du contenu 4"/>
          <p:cNvPicPr>
            <a:picLocks noChangeAspect="1"/>
          </p:cNvPicPr>
          <p:nvPr/>
        </p:nvPicPr>
        <p:blipFill rotWithShape="1">
          <a:blip r:embed="rId2"/>
          <a:srcRect l="-1028" t="29233" r="40667"/>
          <a:stretch/>
        </p:blipFill>
        <p:spPr>
          <a:xfrm>
            <a:off x="6623824" y="3808926"/>
            <a:ext cx="2498550" cy="2865309"/>
          </a:xfrm>
          <a:prstGeom prst="rect">
            <a:avLst/>
          </a:prstGeom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A0DAB8D-DBC0-3144-53DB-0D06D9E55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0749029"/>
      </p:ext>
    </p:extLst>
  </p:cSld>
  <p:clrMapOvr>
    <a:masterClrMapping/>
  </p:clrMapOvr>
  <p:transition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Exceptions Standard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dirty="0">
                <a:cs typeface="Consolas"/>
              </a:rPr>
              <a:t>Les exceptions se divisent en deux catégories:</a:t>
            </a:r>
          </a:p>
          <a:p>
            <a:r>
              <a:rPr lang="fr-FR" sz="2400" dirty="0">
                <a:cs typeface="Consolas"/>
              </a:rPr>
              <a:t>Les exceptions explicites (vérifiées), qui doivent être traitées dans la méthode ou levées par la clause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throws</a:t>
            </a:r>
            <a:r>
              <a:rPr lang="fr-FR" sz="2400" dirty="0">
                <a:cs typeface="Consolas"/>
              </a:rPr>
              <a:t>.</a:t>
            </a:r>
          </a:p>
          <a:p>
            <a:r>
              <a:rPr lang="fr-FR" sz="2400" dirty="0">
                <a:cs typeface="Consolas"/>
              </a:rPr>
              <a:t>Les exceptions implicites (hors contrôle), qui ne doivent pas être obligatoirement traitées (mais on peut le faire)</a:t>
            </a:r>
          </a:p>
          <a:p>
            <a:pPr marL="0" indent="0">
              <a:buNone/>
            </a:pPr>
            <a:endParaRPr lang="fr-FR" sz="2400" dirty="0">
              <a:cs typeface="Consolas"/>
            </a:endParaRPr>
          </a:p>
          <a:p>
            <a:pPr marL="0" indent="0">
              <a:buNone/>
            </a:pPr>
            <a:r>
              <a:rPr lang="fr-FR" sz="2400" dirty="0">
                <a:cs typeface="Consolas"/>
              </a:rPr>
              <a:t>En pratique, </a:t>
            </a:r>
          </a:p>
          <a:p>
            <a:r>
              <a:rPr lang="fr-FR" sz="2400" dirty="0">
                <a:cs typeface="Consolas"/>
              </a:rPr>
              <a:t>les premières sont liées à certains traitements (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IOException</a:t>
            </a:r>
            <a:r>
              <a:rPr lang="fr-FR" sz="2400" dirty="0">
                <a:cs typeface="Consolas"/>
              </a:rPr>
              <a:t>,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FileNotFoundException</a:t>
            </a:r>
            <a:r>
              <a:rPr lang="fr-FR" sz="2400" dirty="0">
                <a:cs typeface="Consolas"/>
              </a:rPr>
              <a:t>,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CharConversionException</a:t>
            </a:r>
            <a:r>
              <a:rPr lang="fr-FR" sz="2400" dirty="0">
                <a:cs typeface="Consolas"/>
              </a:rPr>
              <a:t>, </a:t>
            </a:r>
            <a:r>
              <a:rPr lang="mr-IN" sz="2400" dirty="0">
                <a:cs typeface="Consolas"/>
              </a:rPr>
              <a:t>…</a:t>
            </a:r>
            <a:r>
              <a:rPr lang="fr-FR" sz="2400" dirty="0">
                <a:cs typeface="Consolas"/>
              </a:rPr>
              <a:t>) </a:t>
            </a:r>
          </a:p>
          <a:p>
            <a:r>
              <a:rPr lang="fr-FR" sz="2400" dirty="0">
                <a:cs typeface="Consolas"/>
              </a:rPr>
              <a:t>les secondes peuvent survenir n’importe où (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NullPointerException</a:t>
            </a:r>
            <a:r>
              <a:rPr lang="fr-FR" sz="2400" dirty="0">
                <a:cs typeface="Consolas"/>
              </a:rPr>
              <a:t>,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ArithmeticException</a:t>
            </a:r>
            <a:r>
              <a:rPr lang="fr-FR" sz="2400" dirty="0">
                <a:cs typeface="Consolas"/>
              </a:rPr>
              <a:t> ,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NegativeArraySizeException</a:t>
            </a:r>
            <a:r>
              <a:rPr lang="fr-FR" sz="2400" dirty="0">
                <a:cs typeface="Consolas"/>
              </a:rPr>
              <a:t>, </a:t>
            </a:r>
            <a:r>
              <a:rPr lang="mr-IN" sz="2400" dirty="0">
                <a:cs typeface="Consolas"/>
              </a:rPr>
              <a:t>…</a:t>
            </a:r>
            <a:r>
              <a:rPr lang="fr-FR" sz="2400" dirty="0">
                <a:cs typeface="Consolas"/>
              </a:rPr>
              <a:t>) 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733C70B7-DA26-B047-9CAB-52598736E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7881216"/>
      </p:ext>
    </p:extLst>
  </p:cSld>
  <p:clrMapOvr>
    <a:masterClrMapping/>
  </p:clrMapOvr>
  <p:transition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25</a:t>
            </a:r>
            <a:r>
              <a:rPr lang="en-GB" dirty="0"/>
              <a:t> </a:t>
            </a:r>
            <a:r>
              <a:rPr lang="en-GB" baseline="30000" dirty="0"/>
              <a:t>1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8705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cs typeface="Consolas"/>
              </a:rPr>
              <a:t>Dans cet exercice, vous allez provoquer des exceptions, puis les traiter…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Ecrivez un programme dans lequel vous définissez un tableau d’entier: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[];</a:t>
            </a:r>
            <a:r>
              <a:rPr lang="fr-FR" sz="2400" dirty="0">
                <a:cs typeface="Consolas"/>
              </a:rPr>
              <a:t>. 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Demandez à l’utilisateur la taille du tableau (en utilisant un </a:t>
            </a:r>
            <a:r>
              <a:rPr lang="fr-FR" sz="2000" dirty="0">
                <a:latin typeface="Consolas"/>
                <a:cs typeface="Consolas"/>
              </a:rPr>
              <a:t>Scanner</a:t>
            </a:r>
            <a:r>
              <a:rPr lang="fr-FR" sz="2400" dirty="0">
                <a:cs typeface="Consolas"/>
              </a:rPr>
              <a:t>)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Définissez ensuite le tableau: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 = new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int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[n];</a:t>
            </a:r>
            <a:r>
              <a:rPr lang="fr-FR" sz="2000" dirty="0">
                <a:latin typeface="Consolas"/>
                <a:cs typeface="Consolas"/>
              </a:rPr>
              <a:t> 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Demandez à l’utilisateur dans quelle case du tableau mettre la valeur </a:t>
            </a:r>
            <a:r>
              <a:rPr lang="fr-FR" sz="2400" dirty="0">
                <a:solidFill>
                  <a:schemeClr val="accent4"/>
                </a:solidFill>
                <a:cs typeface="Consolas"/>
              </a:rPr>
              <a:t>12</a:t>
            </a:r>
          </a:p>
          <a:p>
            <a:pPr marL="457200" indent="-457200">
              <a:buAutoNum type="arabicPeriod"/>
            </a:pPr>
            <a:r>
              <a:rPr lang="fr-FR" sz="2400" dirty="0">
                <a:cs typeface="Consolas"/>
              </a:rPr>
              <a:t>Assignez ensuite 12 à cette case: </a:t>
            </a:r>
            <a:r>
              <a:rPr lang="fr-FR" sz="2000" dirty="0" err="1">
                <a:solidFill>
                  <a:schemeClr val="accent4"/>
                </a:solidFill>
                <a:latin typeface="Consolas"/>
                <a:cs typeface="Consolas"/>
              </a:rPr>
              <a:t>t</a:t>
            </a:r>
            <a:r>
              <a:rPr lang="fr-FR" sz="2000" dirty="0">
                <a:solidFill>
                  <a:schemeClr val="accent4"/>
                </a:solidFill>
                <a:latin typeface="Consolas"/>
                <a:cs typeface="Consolas"/>
              </a:rPr>
              <a:t>[i] = 12;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fr-FR" sz="2400" dirty="0">
                <a:cs typeface="Consolas"/>
              </a:rPr>
              <a:t>Testez ensuite votre code.</a:t>
            </a:r>
            <a:endParaRPr lang="fr-FR" sz="2400" dirty="0">
              <a:latin typeface="Consolas"/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CBE44C9B-673A-7ED6-FBF0-61A9318FB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64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1A14C910-F005-B06C-06C5-A3E8832E9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025476"/>
      </p:ext>
    </p:extLst>
  </p:cSld>
  <p:clrMapOvr>
    <a:masterClrMapping/>
  </p:clrMapOvr>
  <p:transition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25</a:t>
            </a:r>
            <a:r>
              <a:rPr lang="en-GB" dirty="0"/>
              <a:t> </a:t>
            </a:r>
            <a:r>
              <a:rPr lang="en-GB" baseline="30000" dirty="0"/>
              <a:t>2</a:t>
            </a:r>
            <a:r>
              <a:rPr lang="en-GB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/</a:t>
            </a:r>
            <a:r>
              <a:rPr lang="en-GB" baseline="-25000" dirty="0"/>
              <a:t>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Testez votre programme </a:t>
            </a:r>
          </a:p>
          <a:p>
            <a:r>
              <a:rPr lang="fr-FR" dirty="0">
                <a:cs typeface="Consolas"/>
              </a:rPr>
              <a:t>en indiquant un nombre de cases négatif.</a:t>
            </a:r>
          </a:p>
          <a:p>
            <a:r>
              <a:rPr lang="fr-FR" dirty="0">
                <a:cs typeface="Consolas"/>
              </a:rPr>
              <a:t>en mettant la valeur dans une case hors des limites du tableau.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Que se passe-t-il?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Modifiez le programme en traitant les deux Exceptions rencontrées, de manière à ce qu’il ne plante pas</a:t>
            </a:r>
            <a:r>
              <a:rPr lang="mr-IN" dirty="0">
                <a:cs typeface="Consolas"/>
              </a:rPr>
              <a:t>…</a:t>
            </a:r>
            <a:endParaRPr lang="fr-FR" dirty="0">
              <a:cs typeface="Consolas"/>
            </a:endParaRP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A26D3016-A850-3549-CBB5-73A247682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65</a:t>
            </a:fld>
            <a:endParaRPr lang="fr-FR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E281E35F-016C-4F21-77A7-10B26FC9B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872740"/>
      </p:ext>
    </p:extLst>
  </p:cSld>
  <p:clrMapOvr>
    <a:masterClrMapping/>
  </p:clrMapOvr>
  <p:transition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exceptions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Exemple pratique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Plusieurs Exceptions 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Communication avec le gestionnaire d'Exception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mécanisme de gestion des Exceptions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Les Exceptions standard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La méthode </a:t>
            </a:r>
            <a:r>
              <a:rPr lang="fr-FR" dirty="0" err="1">
                <a:solidFill>
                  <a:schemeClr val="accent4"/>
                </a:solidFill>
                <a:latin typeface="Consolas"/>
                <a:cs typeface="Consolas"/>
              </a:rPr>
              <a:t>printStackTrace</a:t>
            </a:r>
            <a:endParaRPr lang="fr-FR" dirty="0">
              <a:solidFill>
                <a:schemeClr val="accent4"/>
              </a:solidFill>
              <a:latin typeface="Consolas"/>
              <a:cs typeface="Consola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ACCA99A5-B332-B909-6733-15C39193A78F}"/>
              </a:ext>
            </a:extLst>
          </p:cNvPr>
          <p:cNvGrpSpPr/>
          <p:nvPr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6D659AA5-DE48-3A94-0973-5630499C0B8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FF3D4ED-5448-D9C2-964C-3C9EFB6B14C0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E2057FF2-4FC7-7DA2-0EA0-56FB8A514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3832333"/>
      </p:ext>
    </p:extLst>
  </p:cSld>
  <p:clrMapOvr>
    <a:masterClrMapping/>
  </p:clrMapOvr>
  <p:transition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méthode </a:t>
            </a:r>
            <a:r>
              <a:rPr lang="fr-FR" dirty="0" err="1"/>
              <a:t>PrintStackTrace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Vous avez peut-être déjà rencontré ce type de message:</a:t>
            </a: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endParaRPr lang="fr-FR" dirty="0">
              <a:cs typeface="Consolas"/>
            </a:endParaRPr>
          </a:p>
          <a:p>
            <a:pPr marL="0" indent="0">
              <a:buNone/>
            </a:pPr>
            <a:r>
              <a:rPr lang="fr-FR" dirty="0">
                <a:cs typeface="Consolas"/>
              </a:rPr>
              <a:t>On l’obtient quand une exception surgit sans être traitée, ou quand elle est déclarée explicitement dans la méthode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main</a:t>
            </a:r>
            <a:r>
              <a:rPr lang="fr-FR" dirty="0">
                <a:cs typeface="Consolas"/>
              </a:rPr>
              <a:t>. </a:t>
            </a:r>
          </a:p>
          <a:p>
            <a:pPr marL="0" indent="0">
              <a:buNone/>
            </a:pPr>
            <a:r>
              <a:rPr lang="fr-FR" dirty="0">
                <a:cs typeface="Consolas"/>
              </a:rPr>
              <a:t>On affiche ce message à partir d’une 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Exception</a:t>
            </a:r>
            <a:r>
              <a:rPr lang="fr-FR" dirty="0">
                <a:cs typeface="Consolas"/>
              </a:rPr>
              <a:t> en appelant la méthode </a:t>
            </a:r>
            <a:r>
              <a:rPr lang="fr-FR" sz="2400" dirty="0" err="1">
                <a:solidFill>
                  <a:schemeClr val="accent4"/>
                </a:solidFill>
                <a:latin typeface="Consolas"/>
                <a:cs typeface="Consolas"/>
              </a:rPr>
              <a:t>printStackTrace</a:t>
            </a:r>
            <a:r>
              <a:rPr lang="fr-FR" sz="2400" dirty="0">
                <a:solidFill>
                  <a:schemeClr val="accent4"/>
                </a:solidFill>
                <a:latin typeface="Consolas"/>
                <a:cs typeface="Consolas"/>
              </a:rPr>
              <a:t>()</a:t>
            </a:r>
            <a:r>
              <a:rPr lang="fr-FR" dirty="0">
                <a:cs typeface="Consolas"/>
              </a:rPr>
              <a:t> sur l’exception.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/>
          <a:srcRect l="1266" t="59590" r="3895" b="4960"/>
          <a:stretch/>
        </p:blipFill>
        <p:spPr>
          <a:xfrm>
            <a:off x="2194560" y="2459466"/>
            <a:ext cx="7944522" cy="1480370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90F62795-9157-29F9-845A-CA09892D2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1034131"/>
      </p:ext>
    </p:extLst>
  </p:cSld>
  <p:clrMapOvr>
    <a:masterClrMapping/>
  </p:clrMapOvr>
  <p:transition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26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479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cs typeface="Consolas"/>
              </a:rPr>
              <a:t>Essayez de comprendre ce qui s’est passé si vous voyez ce message</a:t>
            </a:r>
            <a:r>
              <a:rPr lang="mr-IN" dirty="0">
                <a:cs typeface="Consolas"/>
              </a:rPr>
              <a:t>…</a:t>
            </a:r>
            <a:endParaRPr lang="nl-BE" dirty="0">
              <a:cs typeface="Consolas"/>
            </a:endParaRPr>
          </a:p>
          <a:p>
            <a:pPr lvl="1"/>
            <a:r>
              <a:rPr lang="nl-BE" dirty="0">
                <a:cs typeface="Consolas"/>
              </a:rPr>
              <a:t>Quelle classe a provoqué l’erreur.</a:t>
            </a:r>
          </a:p>
          <a:p>
            <a:pPr lvl="1"/>
            <a:r>
              <a:rPr lang="nl-BE" dirty="0">
                <a:cs typeface="Consolas"/>
              </a:rPr>
              <a:t>Dans quelle méthode étions-nous?</a:t>
            </a:r>
          </a:p>
          <a:p>
            <a:pPr lvl="1"/>
            <a:r>
              <a:rPr lang="nl-BE" dirty="0">
                <a:cs typeface="Consolas"/>
              </a:rPr>
              <a:t>Par quelle autre méthode ce traitement avait-il été lancé?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01040" y="3933905"/>
            <a:ext cx="9259671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Exception in thread "main" </a:t>
            </a:r>
            <a:r>
              <a:rPr lang="fr-FR" sz="1600" u="sng" dirty="0" err="1">
                <a:solidFill>
                  <a:srgbClr val="0080E1"/>
                </a:solidFill>
                <a:latin typeface="Monaco" charset="0"/>
              </a:rPr>
              <a:t>java.lang.ArithmeticException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: / by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zero</a:t>
            </a:r>
            <a:endParaRPr lang="fr-FR" sz="1600" dirty="0">
              <a:solidFill>
                <a:srgbClr val="FF2600"/>
              </a:solidFill>
              <a:latin typeface="Monaco" charset="0"/>
            </a:endParaRP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be.ferrant.Sort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.&lt;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init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&gt;(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Sort.java:17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be.ferrant.Joueur.lanceUnSort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Joueur.java:204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be.ferrant.Partie.joueUnTour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Partie.java:67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be.ferrant.Partie.demarre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Partie.java:50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  <a:p>
            <a:r>
              <a:rPr lang="fr-FR" sz="1600" dirty="0">
                <a:solidFill>
                  <a:srgbClr val="FF2600"/>
                </a:solidFill>
                <a:latin typeface="Monaco" charset="0"/>
              </a:rPr>
              <a:t>at </a:t>
            </a:r>
            <a:r>
              <a:rPr lang="fr-FR" sz="1600" dirty="0" err="1">
                <a:solidFill>
                  <a:srgbClr val="FF2600"/>
                </a:solidFill>
                <a:latin typeface="Monaco" charset="0"/>
              </a:rPr>
              <a:t>be.ferrant.ProgrammeJdR.main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(</a:t>
            </a:r>
            <a:r>
              <a:rPr lang="fr-FR" sz="1600" u="sng" dirty="0">
                <a:solidFill>
                  <a:srgbClr val="0080E1"/>
                </a:solidFill>
                <a:latin typeface="Monaco" charset="0"/>
              </a:rPr>
              <a:t>ProgrammeJdR.java:10</a:t>
            </a:r>
            <a:r>
              <a:rPr lang="fr-FR" sz="1600" dirty="0">
                <a:solidFill>
                  <a:srgbClr val="FF2600"/>
                </a:solidFill>
                <a:latin typeface="Monaco" charset="0"/>
              </a:rPr>
              <a:t>)</a:t>
            </a:r>
          </a:p>
        </p:txBody>
      </p:sp>
      <p:sp>
        <p:nvSpPr>
          <p:cNvPr id="4" name="Espace réservé du numéro de diapositive 4">
            <a:extLst>
              <a:ext uri="{FF2B5EF4-FFF2-40B4-BE49-F238E27FC236}">
                <a16:creationId xmlns:a16="http://schemas.microsoft.com/office/drawing/2014/main" id="{E6C194F2-208E-123A-7E71-7FFF735F9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</p:spPr>
        <p:txBody>
          <a:bodyPr/>
          <a:lstStyle/>
          <a:p>
            <a:fld id="{33C783E2-4793-4F48-A271-51A73CC37D74}" type="slidenum">
              <a:rPr lang="fr-FR" smtClean="0"/>
              <a:t>68</a:t>
            </a:fld>
            <a:endParaRPr lang="fr-FR" dirty="0"/>
          </a:p>
        </p:txBody>
      </p: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7F30EE7B-96DA-C7F7-362D-4F81FFB29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00173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81991</TotalTime>
  <Words>5023</Words>
  <Application>Microsoft Macintosh PowerPoint</Application>
  <PresentationFormat>Grand écran</PresentationFormat>
  <Paragraphs>611</Paragraphs>
  <Slides>68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5" baseType="lpstr">
      <vt:lpstr>Arial</vt:lpstr>
      <vt:lpstr>Calibri</vt:lpstr>
      <vt:lpstr>Calibri Light</vt:lpstr>
      <vt:lpstr>Consolas</vt:lpstr>
      <vt:lpstr>Corbel</vt:lpstr>
      <vt:lpstr>Monaco</vt:lpstr>
      <vt:lpstr>ThemeEphec2022</vt:lpstr>
      <vt:lpstr>JAVA 2</vt:lpstr>
      <vt:lpstr>Vu au dernier cours…</vt:lpstr>
      <vt:lpstr>Présentation PowerPoint</vt:lpstr>
      <vt:lpstr>Exercice 27</vt:lpstr>
      <vt:lpstr>Exercice 28</vt:lpstr>
      <vt:lpstr>Exercice 29</vt:lpstr>
      <vt:lpstr>Exercice 30</vt:lpstr>
      <vt:lpstr>Exercice 31</vt:lpstr>
      <vt:lpstr>Exercice 32</vt:lpstr>
      <vt:lpstr>Exercice 33</vt:lpstr>
      <vt:lpstr>L’état de notre GameHub…</vt:lpstr>
      <vt:lpstr>L’état de notre GameHub…</vt:lpstr>
      <vt:lpstr>Exercice G.14</vt:lpstr>
      <vt:lpstr>Exercice G.15</vt:lpstr>
      <vt:lpstr>Exercice G.16</vt:lpstr>
      <vt:lpstr>Exercice G.17</vt:lpstr>
      <vt:lpstr>Exercice G.18</vt:lpstr>
      <vt:lpstr>Exercice G.19</vt:lpstr>
      <vt:lpstr>Exercice G.20</vt:lpstr>
      <vt:lpstr>Présentation PowerPoint</vt:lpstr>
      <vt:lpstr>Gestion des exceptions</vt:lpstr>
      <vt:lpstr>Petite expérience</vt:lpstr>
      <vt:lpstr>Une autre expérience</vt:lpstr>
      <vt:lpstr>RuntimeExceptions</vt:lpstr>
      <vt:lpstr>Gestion des exceptions</vt:lpstr>
      <vt:lpstr>Exceptions</vt:lpstr>
      <vt:lpstr>Exceptions</vt:lpstr>
      <vt:lpstr>Un premier exemple</vt:lpstr>
      <vt:lpstr>Les trois phases</vt:lpstr>
      <vt:lpstr>1. L'exception</vt:lpstr>
      <vt:lpstr>2. Lancer l'exception</vt:lpstr>
      <vt:lpstr>2. Lancer l'exception</vt:lpstr>
      <vt:lpstr>3. Gérer l'exception</vt:lpstr>
      <vt:lpstr>3. Gérer l'exception</vt:lpstr>
      <vt:lpstr>En résumé, il faut:</vt:lpstr>
      <vt:lpstr>Quelques propriétés</vt:lpstr>
      <vt:lpstr>Quelques propriétés</vt:lpstr>
      <vt:lpstr>Gestion des exceptions</vt:lpstr>
      <vt:lpstr>Plusieurs Exceptions</vt:lpstr>
      <vt:lpstr>Exercice 22</vt:lpstr>
      <vt:lpstr>Plusieurs Exceptions</vt:lpstr>
      <vt:lpstr>Quelques Remarques</vt:lpstr>
      <vt:lpstr>Quelques Remarques</vt:lpstr>
      <vt:lpstr>Les Exceptions</vt:lpstr>
      <vt:lpstr>Exercice 23 1/4</vt:lpstr>
      <vt:lpstr>Exercice 23 2/4</vt:lpstr>
      <vt:lpstr>Exercice 23 3/4</vt:lpstr>
      <vt:lpstr>Exercice 23 4/4</vt:lpstr>
      <vt:lpstr>Gestion des exceptions</vt:lpstr>
      <vt:lpstr>Communiquer avec le gestionnaire</vt:lpstr>
      <vt:lpstr>Communiquer via l'objet</vt:lpstr>
      <vt:lpstr>Communiquer via l'objet</vt:lpstr>
      <vt:lpstr>Communiquer via l'objet</vt:lpstr>
      <vt:lpstr>Communiquer via la classe Exception</vt:lpstr>
      <vt:lpstr>Communiquer via la classe Exception</vt:lpstr>
      <vt:lpstr>Communiquer via la classe Exception</vt:lpstr>
      <vt:lpstr>Communiquer via la classe Exception</vt:lpstr>
      <vt:lpstr>Exercice 24</vt:lpstr>
      <vt:lpstr>Gestion des exceptions</vt:lpstr>
      <vt:lpstr>Le mécanisme de gestion des exceptions</vt:lpstr>
      <vt:lpstr>Gestion des exceptions</vt:lpstr>
      <vt:lpstr>Les Exceptions Standard</vt:lpstr>
      <vt:lpstr>Les Exceptions Standard</vt:lpstr>
      <vt:lpstr>Exercice 25 1/2</vt:lpstr>
      <vt:lpstr>Exercice 25 2/2</vt:lpstr>
      <vt:lpstr>Gestion des exceptions</vt:lpstr>
      <vt:lpstr>La méthode PrintStackTrace</vt:lpstr>
      <vt:lpstr>Exercice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56</cp:revision>
  <dcterms:created xsi:type="dcterms:W3CDTF">2023-01-04T13:50:20Z</dcterms:created>
  <dcterms:modified xsi:type="dcterms:W3CDTF">2026-03-03T21:01:41Z</dcterms:modified>
</cp:coreProperties>
</file>