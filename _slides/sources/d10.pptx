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56" r:id="rId2"/>
    <p:sldId id="836" r:id="rId3"/>
    <p:sldId id="716" r:id="rId4"/>
    <p:sldId id="722" r:id="rId5"/>
    <p:sldId id="724" r:id="rId6"/>
    <p:sldId id="743" r:id="rId7"/>
    <p:sldId id="841" r:id="rId8"/>
    <p:sldId id="675" r:id="rId9"/>
    <p:sldId id="677" r:id="rId10"/>
    <p:sldId id="676" r:id="rId11"/>
    <p:sldId id="838" r:id="rId12"/>
    <p:sldId id="727" r:id="rId13"/>
    <p:sldId id="719" r:id="rId14"/>
    <p:sldId id="720" r:id="rId15"/>
    <p:sldId id="728" r:id="rId16"/>
    <p:sldId id="750" r:id="rId17"/>
    <p:sldId id="670" r:id="rId18"/>
    <p:sldId id="671" r:id="rId19"/>
    <p:sldId id="672" r:id="rId20"/>
    <p:sldId id="673" r:id="rId21"/>
    <p:sldId id="751" r:id="rId22"/>
    <p:sldId id="752" r:id="rId23"/>
    <p:sldId id="729" r:id="rId24"/>
    <p:sldId id="725" r:id="rId25"/>
    <p:sldId id="731" r:id="rId26"/>
    <p:sldId id="730" r:id="rId27"/>
    <p:sldId id="726" r:id="rId28"/>
    <p:sldId id="839" r:id="rId29"/>
    <p:sldId id="682" r:id="rId30"/>
    <p:sldId id="852" r:id="rId31"/>
    <p:sldId id="744" r:id="rId32"/>
    <p:sldId id="842" r:id="rId33"/>
    <p:sldId id="558" r:id="rId34"/>
    <p:sldId id="732" r:id="rId35"/>
    <p:sldId id="733" r:id="rId36"/>
    <p:sldId id="745" r:id="rId37"/>
    <p:sldId id="580" r:id="rId38"/>
    <p:sldId id="746" r:id="rId39"/>
    <p:sldId id="692" r:id="rId40"/>
    <p:sldId id="747" r:id="rId41"/>
    <p:sldId id="739" r:id="rId42"/>
    <p:sldId id="740" r:id="rId43"/>
    <p:sldId id="741" r:id="rId44"/>
    <p:sldId id="846" r:id="rId45"/>
    <p:sldId id="847" r:id="rId46"/>
    <p:sldId id="848" r:id="rId47"/>
    <p:sldId id="849" r:id="rId48"/>
    <p:sldId id="850" r:id="rId49"/>
    <p:sldId id="85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ppels et Exercice" id="{9A02D4CA-36D1-0242-9570-74B9915D5B21}">
          <p14:sldIdLst>
            <p14:sldId id="256"/>
          </p14:sldIdLst>
        </p14:section>
        <p14:section name="Collections" id="{01457E24-874F-3943-8F41-B58A48800F47}">
          <p14:sldIdLst/>
        </p14:section>
        <p14:section name="Section 1" id="{96EAF012-E5D9-B148-A99B-B6EA2F15630A}">
          <p14:sldIdLst>
            <p14:sldId id="836"/>
            <p14:sldId id="716"/>
            <p14:sldId id="722"/>
            <p14:sldId id="724"/>
            <p14:sldId id="743"/>
          </p14:sldIdLst>
        </p14:section>
        <p14:section name="Section 2" id="{85397BD4-1C0D-3245-987A-62148CE26282}">
          <p14:sldIdLst>
            <p14:sldId id="841"/>
            <p14:sldId id="675"/>
            <p14:sldId id="677"/>
            <p14:sldId id="676"/>
            <p14:sldId id="838"/>
            <p14:sldId id="727"/>
            <p14:sldId id="719"/>
            <p14:sldId id="720"/>
            <p14:sldId id="728"/>
            <p14:sldId id="750"/>
            <p14:sldId id="670"/>
            <p14:sldId id="671"/>
            <p14:sldId id="672"/>
            <p14:sldId id="673"/>
            <p14:sldId id="751"/>
            <p14:sldId id="752"/>
            <p14:sldId id="729"/>
            <p14:sldId id="725"/>
            <p14:sldId id="731"/>
            <p14:sldId id="730"/>
            <p14:sldId id="726"/>
            <p14:sldId id="839"/>
            <p14:sldId id="682"/>
            <p14:sldId id="852"/>
            <p14:sldId id="744"/>
            <p14:sldId id="842"/>
            <p14:sldId id="558"/>
            <p14:sldId id="732"/>
            <p14:sldId id="733"/>
            <p14:sldId id="745"/>
            <p14:sldId id="580"/>
            <p14:sldId id="746"/>
            <p14:sldId id="692"/>
            <p14:sldId id="747"/>
            <p14:sldId id="739"/>
            <p14:sldId id="740"/>
            <p14:sldId id="741"/>
            <p14:sldId id="846"/>
            <p14:sldId id="847"/>
            <p14:sldId id="848"/>
            <p14:sldId id="849"/>
            <p14:sldId id="850"/>
            <p14:sldId id="8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D41"/>
    <a:srgbClr val="C45D07"/>
    <a:srgbClr val="9DC3E7"/>
    <a:srgbClr val="2B2B2B"/>
    <a:srgbClr val="FFFFFF"/>
    <a:srgbClr val="4F994C"/>
    <a:srgbClr val="FFC45A"/>
    <a:srgbClr val="3C3F41"/>
    <a:srgbClr val="FF7E0B"/>
    <a:srgbClr val="2A6C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yle à thème 2 - Accentuation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27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068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6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20B9A-8E1B-A28D-369E-A913BEAD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E227AB-B70D-70BB-9801-A0EA22924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67F4E92-0724-F9C9-225A-B6285777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EE52B9-0CE3-2213-2BAE-0A463279C498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6" name="Larme 5">
              <a:extLst>
                <a:ext uri="{FF2B5EF4-FFF2-40B4-BE49-F238E27FC236}">
                  <a16:creationId xmlns:a16="http://schemas.microsoft.com/office/drawing/2014/main" id="{A1F4EE74-F2B7-86D4-5897-9A852EB6119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A1BBBAA-A8A5-D081-BE93-F67540128C77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67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536391E-BA76-6C84-5CCD-7B7E926FCA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929AD13-331A-B3B1-58CE-4F411144D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fr-FR" dirty="0"/>
              <a:t>Exercice</a:t>
            </a:r>
          </a:p>
        </p:txBody>
      </p:sp>
      <p:pic>
        <p:nvPicPr>
          <p:cNvPr id="5" name="Picture 6" descr="AI &amp; Big Data | IAV">
            <a:extLst>
              <a:ext uri="{FF2B5EF4-FFF2-40B4-BE49-F238E27FC236}">
                <a16:creationId xmlns:a16="http://schemas.microsoft.com/office/drawing/2014/main" id="{1A31DBF3-3F61-3732-6514-14BEB8F2F33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94498" y="193110"/>
            <a:ext cx="1427367" cy="131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96CC4C8-FFED-68B8-6355-4E53BC5E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9847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nl-BE" dirty="0"/>
              <a:t>Cliquez pour modifier les styles du texte du masque</a:t>
            </a:r>
          </a:p>
          <a:p>
            <a:pPr lvl="1"/>
            <a:r>
              <a:rPr lang="nl-BE" dirty="0"/>
              <a:t>Deuxième niveau</a:t>
            </a:r>
          </a:p>
          <a:p>
            <a:pPr lvl="2"/>
            <a:r>
              <a:rPr lang="nl-BE" dirty="0"/>
              <a:t>Troisième niveau</a:t>
            </a:r>
          </a:p>
          <a:p>
            <a:pPr lvl="3"/>
            <a:r>
              <a:rPr lang="nl-BE" dirty="0"/>
              <a:t>Quatrième niveau</a:t>
            </a:r>
          </a:p>
          <a:p>
            <a:pPr lvl="4"/>
            <a:r>
              <a:rPr lang="nl-BE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63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4883253" cy="4373563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5712885" y="1752601"/>
            <a:ext cx="5397500" cy="43735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825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73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4" r:id="rId14"/>
    <p:sldLayoutId id="2147483675" r:id="rId1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un.uobasrah.edu.iq/lectures/6699.pdf" TargetMode="Externa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5740103/javafx-what-is-the-difference-between-eventhandler-and-eventfilter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5740103/javafx-what-is-the-difference-between-eventhandler-and-eventfilter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5740103/javafx-what-is-the-difference-between-eventhandler-and-eventfilter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4Sskmf1yco" TargetMode="External"/><Relationship Id="rId7" Type="http://schemas.openxmlformats.org/officeDocument/2006/relationships/image" Target="../media/image2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ikkelsvartveit/javafx-minesweeper" TargetMode="External"/><Relationship Id="rId5" Type="http://schemas.openxmlformats.org/officeDocument/2006/relationships/hyperlink" Target="https://www.youtube.com/watch?v=DvqURR_XN5U" TargetMode="External"/><Relationship Id="rId4" Type="http://schemas.openxmlformats.org/officeDocument/2006/relationships/hyperlink" Target="https://www.youtube.com/watch?v=JwcyxuKko_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2</a:t>
            </a:r>
          </a:p>
          <a:p>
            <a:r>
              <a:rPr lang="fr-FR"/>
              <a:t>Semaine 10 </a:t>
            </a:r>
            <a:r>
              <a:rPr lang="fr-FR" dirty="0"/>
              <a:t>– </a:t>
            </a:r>
            <a:r>
              <a:rPr lang="fr-FR" dirty="0" err="1"/>
              <a:t>JavaFX</a:t>
            </a:r>
            <a:r>
              <a:rPr lang="fr-FR" dirty="0"/>
              <a:t> – Evénements et Composants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estion d'évènement java à façon de magritte">
            <a:extLst>
              <a:ext uri="{FF2B5EF4-FFF2-40B4-BE49-F238E27FC236}">
                <a16:creationId xmlns:a16="http://schemas.microsoft.com/office/drawing/2014/main" id="{78746EF9-D414-6676-70AD-79B406190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0" b="59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3C518A9-F53E-AF8B-1A0F-DE0E577D97C6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Les événements en </a:t>
            </a:r>
            <a:r>
              <a:rPr lang="fr-FR" sz="6000" b="1" dirty="0" err="1"/>
              <a:t>JavaFX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6827A0-833A-F971-0F39-65B0CC03A55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Les notifications qui permettent de savoir que quelque chose se passe…</a:t>
            </a:r>
          </a:p>
        </p:txBody>
      </p:sp>
    </p:spTree>
    <p:extLst>
      <p:ext uri="{BB962C8B-B14F-4D97-AF65-F5344CB8AC3E}">
        <p14:creationId xmlns:p14="http://schemas.microsoft.com/office/powerpoint/2010/main" val="198092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Une application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6B30D8-A1D6-7C5A-7807-24869A87A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3502316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6734676C-31F8-374F-944F-03A9C3FF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Une application </a:t>
            </a:r>
            <a:r>
              <a:rPr lang="fr-FR" dirty="0" err="1"/>
              <a:t>JavaFX</a:t>
            </a:r>
            <a:r>
              <a:rPr lang="fr-FR" dirty="0"/>
              <a:t> Simple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5F18A-DA2E-F441-8CEF-206D2CBB16B8}"/>
              </a:ext>
            </a:extLst>
          </p:cNvPr>
          <p:cNvSpPr/>
          <p:nvPr/>
        </p:nvSpPr>
        <p:spPr>
          <a:xfrm>
            <a:off x="1387338" y="368119"/>
            <a:ext cx="7555345" cy="6124754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ClickMeApp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Application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 {    </a:t>
            </a:r>
            <a:r>
              <a:rPr lang="fr-BE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launch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1400" dirty="0" err="1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(Stage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"Cliquez-moi 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.setOnAction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(e -&gt;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clickBouton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crée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dans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lesquel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sera déposé le bouton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root.getChildren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crée la scène qui sera affichée dans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primaryStage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>
                <a:solidFill>
                  <a:srgbClr val="6897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>
                <a:solidFill>
                  <a:srgbClr val="6897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prépare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primary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stage et on l'affiche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primaryStage.setScene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primaryStage.setTitle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"Cliquez-moi 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primaryStage.show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clickBouton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.setText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"Vous avez cliqué!"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1FE7701-D542-E473-B1FC-4A5B4F8DC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2E5394-B66E-E486-4A46-DDF990FC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682" y="250182"/>
            <a:ext cx="3318967" cy="273895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0F4500D-FE94-FC4D-77EB-007850C6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682" y="2656373"/>
            <a:ext cx="3318967" cy="273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9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53A882CF-C0F1-D940-B849-39975D58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Démarrage d’une application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5F18A-DA2E-F441-8CEF-206D2CBB16B8}"/>
              </a:ext>
            </a:extLst>
          </p:cNvPr>
          <p:cNvSpPr/>
          <p:nvPr/>
        </p:nvSpPr>
        <p:spPr>
          <a:xfrm>
            <a:off x="2096662" y="117936"/>
            <a:ext cx="7555345" cy="6124754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ClickMeApp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Application {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(String[]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 {    </a:t>
            </a:r>
            <a:r>
              <a:rPr lang="fr-BE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launch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1400" dirty="0" err="1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BBB52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(Stage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"Cliquez-moi 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.setOnAction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(e -&gt;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clickBouton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crée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dans lequel sera déposé le bouton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root 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root.getChildren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crée la scène qui sera affichée dans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primaryStage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>
                <a:solidFill>
                  <a:srgbClr val="6897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400" dirty="0">
                <a:solidFill>
                  <a:srgbClr val="6897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solidFill>
                <a:srgbClr val="CC783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on prépare le </a:t>
            </a:r>
            <a:r>
              <a:rPr lang="fr-BE" sz="1400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primary</a:t>
            </a: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stage et on l'affiche</a:t>
            </a:r>
            <a:b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primaryStage.setScene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primaryStage.setTitle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"Cliquez-moi 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primaryStage.show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B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FFC6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clickBouton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() {    </a:t>
            </a:r>
            <a:r>
              <a:rPr lang="fr-BE" sz="14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fr-B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.setText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6A875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"Vous avez cliqué!"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fr-B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avec flèche vers le bas 1">
            <a:extLst>
              <a:ext uri="{FF2B5EF4-FFF2-40B4-BE49-F238E27FC236}">
                <a16:creationId xmlns:a16="http://schemas.microsoft.com/office/drawing/2014/main" id="{E2B1DE64-62E0-BE4E-88E2-497A65F46E04}"/>
              </a:ext>
            </a:extLst>
          </p:cNvPr>
          <p:cNvSpPr/>
          <p:nvPr/>
        </p:nvSpPr>
        <p:spPr>
          <a:xfrm>
            <a:off x="4230254" y="41878"/>
            <a:ext cx="6262255" cy="1004723"/>
          </a:xfrm>
          <a:prstGeom prst="downArrowCallout">
            <a:avLst>
              <a:gd name="adj1" fmla="val 15807"/>
              <a:gd name="adj2" fmla="val 25000"/>
              <a:gd name="adj3" fmla="val 20404"/>
              <a:gd name="adj4" fmla="val 53554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main appelle la méthode </a:t>
            </a:r>
            <a:r>
              <a:rPr lang="fr-FR" sz="1400" dirty="0" err="1">
                <a:solidFill>
                  <a:schemeClr val="tx1"/>
                </a:solidFill>
              </a:rPr>
              <a:t>static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r>
              <a:rPr lang="fr-FR" sz="1400" dirty="0" err="1">
                <a:solidFill>
                  <a:schemeClr val="tx1"/>
                </a:solidFill>
              </a:rPr>
              <a:t>launch</a:t>
            </a:r>
            <a:r>
              <a:rPr lang="fr-FR" sz="1400" dirty="0">
                <a:solidFill>
                  <a:schemeClr val="tx1"/>
                </a:solidFill>
              </a:rPr>
              <a:t>() de </a:t>
            </a:r>
            <a:r>
              <a:rPr lang="fr-FR" sz="1400" dirty="0" err="1">
                <a:solidFill>
                  <a:schemeClr val="tx1"/>
                </a:solidFill>
              </a:rPr>
              <a:t>javafx.application.Application</a:t>
            </a:r>
            <a:r>
              <a:rPr lang="fr-FR" sz="1400" dirty="0">
                <a:solidFill>
                  <a:schemeClr val="tx1"/>
                </a:solidFill>
              </a:rPr>
              <a:t>. Cette méthode instancie le </a:t>
            </a:r>
            <a:r>
              <a:rPr lang="fr-FR" sz="1400" dirty="0" err="1">
                <a:solidFill>
                  <a:schemeClr val="tx1"/>
                </a:solidFill>
              </a:rPr>
              <a:t>ClickMeApp</a:t>
            </a:r>
            <a:r>
              <a:rPr lang="fr-FR" sz="1400" dirty="0">
                <a:solidFill>
                  <a:schemeClr val="tx1"/>
                </a:solidFill>
              </a:rPr>
              <a:t>, appelle init() puis start(Stage).</a:t>
            </a:r>
          </a:p>
        </p:txBody>
      </p:sp>
      <p:sp>
        <p:nvSpPr>
          <p:cNvPr id="3" name="Rectangle avec flèche vers la gauche 2">
            <a:extLst>
              <a:ext uri="{FF2B5EF4-FFF2-40B4-BE49-F238E27FC236}">
                <a16:creationId xmlns:a16="http://schemas.microsoft.com/office/drawing/2014/main" id="{DBB824D9-D7F3-5046-9758-D15CB7E48DFA}"/>
              </a:ext>
            </a:extLst>
          </p:cNvPr>
          <p:cNvSpPr/>
          <p:nvPr/>
        </p:nvSpPr>
        <p:spPr>
          <a:xfrm>
            <a:off x="6511644" y="2249635"/>
            <a:ext cx="3583695" cy="530510"/>
          </a:xfrm>
          <a:prstGeom prst="leftArrowCallout">
            <a:avLst>
              <a:gd name="adj1" fmla="val 25000"/>
              <a:gd name="adj2" fmla="val 30910"/>
              <a:gd name="adj3" fmla="val 25000"/>
              <a:gd name="adj4" fmla="val 93322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Crée le bouton et lui assigne un </a:t>
            </a:r>
            <a:r>
              <a:rPr lang="fr-FR" sz="1400" dirty="0" err="1">
                <a:solidFill>
                  <a:schemeClr val="tx1"/>
                </a:solidFill>
              </a:rPr>
              <a:t>EventHandler</a:t>
            </a:r>
            <a:r>
              <a:rPr lang="fr-FR" sz="1400" dirty="0">
                <a:solidFill>
                  <a:schemeClr val="tx1"/>
                </a:solidFill>
              </a:rPr>
              <a:t> (la méthode </a:t>
            </a:r>
            <a:r>
              <a:rPr lang="fr-FR" sz="1400" dirty="0" err="1">
                <a:solidFill>
                  <a:schemeClr val="tx1"/>
                </a:solidFill>
              </a:rPr>
              <a:t>clickBouton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avec flèche vers la gauche 7">
            <a:extLst>
              <a:ext uri="{FF2B5EF4-FFF2-40B4-BE49-F238E27FC236}">
                <a16:creationId xmlns:a16="http://schemas.microsoft.com/office/drawing/2014/main" id="{9031510E-4571-E74B-BA4D-1B1FE710ED7B}"/>
              </a:ext>
            </a:extLst>
          </p:cNvPr>
          <p:cNvSpPr/>
          <p:nvPr/>
        </p:nvSpPr>
        <p:spPr>
          <a:xfrm>
            <a:off x="6234555" y="3268522"/>
            <a:ext cx="4036291" cy="337127"/>
          </a:xfrm>
          <a:prstGeom prst="leftArrowCallout">
            <a:avLst>
              <a:gd name="adj1" fmla="val 35959"/>
              <a:gd name="adj2" fmla="val 50000"/>
              <a:gd name="adj3" fmla="val 46918"/>
              <a:gd name="adj4" fmla="val 93322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… et on met le bouton dans le </a:t>
            </a:r>
            <a:r>
              <a:rPr lang="fr-FR" sz="1400" dirty="0" err="1">
                <a:solidFill>
                  <a:schemeClr val="tx1"/>
                </a:solidFill>
              </a:rPr>
              <a:t>layout</a:t>
            </a:r>
            <a:r>
              <a:rPr lang="fr-FR" sz="1400" dirty="0">
                <a:solidFill>
                  <a:schemeClr val="tx1"/>
                </a:solidFill>
              </a:rPr>
              <a:t> Pane</a:t>
            </a:r>
          </a:p>
        </p:txBody>
      </p:sp>
      <p:sp>
        <p:nvSpPr>
          <p:cNvPr id="4" name="Rectangle avec flèche vers le bas 3">
            <a:extLst>
              <a:ext uri="{FF2B5EF4-FFF2-40B4-BE49-F238E27FC236}">
                <a16:creationId xmlns:a16="http://schemas.microsoft.com/office/drawing/2014/main" id="{313EB706-8D00-0347-97B1-EB58EC32824A}"/>
              </a:ext>
            </a:extLst>
          </p:cNvPr>
          <p:cNvSpPr/>
          <p:nvPr/>
        </p:nvSpPr>
        <p:spPr>
          <a:xfrm>
            <a:off x="3546765" y="1524318"/>
            <a:ext cx="4341097" cy="581572"/>
          </a:xfrm>
          <a:prstGeom prst="downArrowCallout">
            <a:avLst>
              <a:gd name="adj1" fmla="val 25000"/>
              <a:gd name="adj2" fmla="val 34074"/>
              <a:gd name="adj3" fmla="val 25000"/>
              <a:gd name="adj4" fmla="val 54391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La méthode </a:t>
            </a:r>
            <a:r>
              <a:rPr lang="fr-FR" sz="1400" dirty="0" err="1">
                <a:solidFill>
                  <a:schemeClr val="tx1"/>
                </a:solidFill>
              </a:rPr>
              <a:t>start</a:t>
            </a:r>
            <a:r>
              <a:rPr lang="fr-FR" sz="1400" dirty="0">
                <a:solidFill>
                  <a:schemeClr val="tx1"/>
                </a:solidFill>
              </a:rPr>
              <a:t> reçoit un objet Stage (une fenêtre)</a:t>
            </a:r>
          </a:p>
        </p:txBody>
      </p:sp>
      <p:sp>
        <p:nvSpPr>
          <p:cNvPr id="11" name="Rectangle avec flèche vers la gauche 10">
            <a:extLst>
              <a:ext uri="{FF2B5EF4-FFF2-40B4-BE49-F238E27FC236}">
                <a16:creationId xmlns:a16="http://schemas.microsoft.com/office/drawing/2014/main" id="{AB4BDA87-57A0-F948-B481-0F5D06F6FFCC}"/>
              </a:ext>
            </a:extLst>
          </p:cNvPr>
          <p:cNvSpPr/>
          <p:nvPr/>
        </p:nvSpPr>
        <p:spPr>
          <a:xfrm>
            <a:off x="6908809" y="3954898"/>
            <a:ext cx="3362037" cy="337127"/>
          </a:xfrm>
          <a:prstGeom prst="leftArrowCallout">
            <a:avLst>
              <a:gd name="adj1" fmla="val 35959"/>
              <a:gd name="adj2" fmla="val 50000"/>
              <a:gd name="adj3" fmla="val 46918"/>
              <a:gd name="adj4" fmla="val 93322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… la </a:t>
            </a:r>
            <a:r>
              <a:rPr lang="fr-FR" sz="1400" dirty="0" err="1">
                <a:solidFill>
                  <a:schemeClr val="tx1"/>
                </a:solidFill>
              </a:rPr>
              <a:t>Scene</a:t>
            </a:r>
            <a:r>
              <a:rPr lang="fr-FR" sz="1400" dirty="0">
                <a:solidFill>
                  <a:schemeClr val="tx1"/>
                </a:solidFill>
              </a:rPr>
              <a:t> reçoit un </a:t>
            </a:r>
            <a:r>
              <a:rPr lang="fr-FR" sz="1400" dirty="0" err="1">
                <a:solidFill>
                  <a:schemeClr val="tx1"/>
                </a:solidFill>
              </a:rPr>
              <a:t>layout</a:t>
            </a:r>
            <a:r>
              <a:rPr lang="fr-FR" sz="1400" dirty="0">
                <a:solidFill>
                  <a:schemeClr val="tx1"/>
                </a:solidFill>
              </a:rPr>
              <a:t> (Pane)</a:t>
            </a:r>
          </a:p>
        </p:txBody>
      </p:sp>
      <p:sp>
        <p:nvSpPr>
          <p:cNvPr id="12" name="Rectangle avec flèche vers la gauche 11">
            <a:extLst>
              <a:ext uri="{FF2B5EF4-FFF2-40B4-BE49-F238E27FC236}">
                <a16:creationId xmlns:a16="http://schemas.microsoft.com/office/drawing/2014/main" id="{BE0AA3FB-B92A-C54B-81B7-A01FB9EF0F0E}"/>
              </a:ext>
            </a:extLst>
          </p:cNvPr>
          <p:cNvSpPr/>
          <p:nvPr/>
        </p:nvSpPr>
        <p:spPr>
          <a:xfrm>
            <a:off x="6234555" y="5072503"/>
            <a:ext cx="3362037" cy="337127"/>
          </a:xfrm>
          <a:prstGeom prst="leftArrowCallout">
            <a:avLst>
              <a:gd name="adj1" fmla="val 35959"/>
              <a:gd name="adj2" fmla="val 50000"/>
              <a:gd name="adj3" fmla="val 46918"/>
              <a:gd name="adj4" fmla="val 93322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… puis on affiche le </a:t>
            </a:r>
            <a:r>
              <a:rPr lang="fr-FR" sz="1400" dirty="0" err="1">
                <a:solidFill>
                  <a:schemeClr val="tx1"/>
                </a:solidFill>
              </a:rPr>
              <a:t>primaryStage</a:t>
            </a:r>
            <a:r>
              <a:rPr lang="fr-FR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Rectangle avec flèche vers la gauche 12">
            <a:extLst>
              <a:ext uri="{FF2B5EF4-FFF2-40B4-BE49-F238E27FC236}">
                <a16:creationId xmlns:a16="http://schemas.microsoft.com/office/drawing/2014/main" id="{26C85A51-7D8E-6B4A-959C-A11B6BC2F51B}"/>
              </a:ext>
            </a:extLst>
          </p:cNvPr>
          <p:cNvSpPr/>
          <p:nvPr/>
        </p:nvSpPr>
        <p:spPr>
          <a:xfrm>
            <a:off x="6895963" y="4624535"/>
            <a:ext cx="3362037" cy="337127"/>
          </a:xfrm>
          <a:prstGeom prst="leftArrowCallout">
            <a:avLst>
              <a:gd name="adj1" fmla="val 35959"/>
              <a:gd name="adj2" fmla="val 50000"/>
              <a:gd name="adj3" fmla="val 46918"/>
              <a:gd name="adj4" fmla="val 93322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On dépose une </a:t>
            </a:r>
            <a:r>
              <a:rPr lang="fr-FR" sz="1400" dirty="0" err="1">
                <a:solidFill>
                  <a:schemeClr val="tx1"/>
                </a:solidFill>
              </a:rPr>
              <a:t>Scene</a:t>
            </a:r>
            <a:r>
              <a:rPr lang="fr-FR" sz="1400" dirty="0">
                <a:solidFill>
                  <a:schemeClr val="tx1"/>
                </a:solidFill>
              </a:rPr>
              <a:t> dans le Stage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F8CD64A-25B2-594A-8F0E-686797BAE4CA}"/>
              </a:ext>
            </a:extLst>
          </p:cNvPr>
          <p:cNvGrpSpPr/>
          <p:nvPr/>
        </p:nvGrpSpPr>
        <p:grpSpPr>
          <a:xfrm>
            <a:off x="6257168" y="6305256"/>
            <a:ext cx="2633191" cy="504000"/>
            <a:chOff x="5042222" y="5413423"/>
            <a:chExt cx="2633191" cy="504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8FEAA7-DAD0-7548-A382-E32018E8B143}"/>
                </a:ext>
              </a:extLst>
            </p:cNvPr>
            <p:cNvSpPr/>
            <p:nvPr/>
          </p:nvSpPr>
          <p:spPr>
            <a:xfrm>
              <a:off x="5507832" y="5513666"/>
              <a:ext cx="21675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_0clickMe.ClickMeApp</a:t>
              </a:r>
              <a:endParaRPr lang="fr-FR" sz="1600" b="1" dirty="0"/>
            </a:p>
          </p:txBody>
        </p: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AC4B7C70-FCD0-814F-8AC9-539E0E34C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42222" y="5413423"/>
              <a:ext cx="504000" cy="504000"/>
            </a:xfrm>
            <a:prstGeom prst="rect">
              <a:avLst/>
            </a:prstGeom>
          </p:spPr>
        </p:pic>
      </p:grp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EA56BE-DAD6-C9F0-0C0A-9807F798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95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3" grpId="0" animBg="1"/>
      <p:bldP spid="8" grpId="0" animBg="1"/>
      <p:bldP spid="4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Les Events, </a:t>
            </a:r>
            <a:r>
              <a:rPr lang="fr-FR" dirty="0" err="1">
                <a:solidFill>
                  <a:schemeClr val="accent4"/>
                </a:solidFill>
              </a:rPr>
              <a:t>EventHandlers</a:t>
            </a:r>
            <a:r>
              <a:rPr lang="fr-FR" dirty="0">
                <a:solidFill>
                  <a:schemeClr val="accent4"/>
                </a:solidFill>
              </a:rPr>
              <a:t> et </a:t>
            </a:r>
            <a:r>
              <a:rPr lang="fr-FR" dirty="0" err="1">
                <a:solidFill>
                  <a:schemeClr val="accent4"/>
                </a:solidFill>
              </a:rPr>
              <a:t>EventFilters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E6C3DE-B870-F196-3E45-106D6324E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20480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e qu'il se passe derrière l'écran quand on clique sur un bouton">
            <a:extLst>
              <a:ext uri="{FF2B5EF4-FFF2-40B4-BE49-F238E27FC236}">
                <a16:creationId xmlns:a16="http://schemas.microsoft.com/office/drawing/2014/main" id="{4693E6BD-7BD4-A611-312A-98B0ECC32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60" b="569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3C518A9-F53E-AF8B-1A0F-DE0E577D97C6}"/>
              </a:ext>
            </a:extLst>
          </p:cNvPr>
          <p:cNvSpPr txBox="1"/>
          <p:nvPr/>
        </p:nvSpPr>
        <p:spPr>
          <a:xfrm>
            <a:off x="838200" y="947821"/>
            <a:ext cx="10515600" cy="923330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5400" b="1" dirty="0"/>
              <a:t>La programmation événementielle</a:t>
            </a:r>
            <a:endParaRPr lang="fr-FR" sz="1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6827A0-833A-F971-0F39-65B0CC03A55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Des événements au niveau de la vue déclenchent des actions du contrôleur.</a:t>
            </a:r>
          </a:p>
        </p:txBody>
      </p:sp>
    </p:spTree>
    <p:extLst>
      <p:ext uri="{BB962C8B-B14F-4D97-AF65-F5344CB8AC3E}">
        <p14:creationId xmlns:p14="http://schemas.microsoft.com/office/powerpoint/2010/main" val="35058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événementielle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400" dirty="0"/>
              <a:t>Par </a:t>
            </a:r>
            <a:r>
              <a:rPr lang="fr-FR" sz="2400" dirty="0">
                <a:solidFill>
                  <a:schemeClr val="accent4"/>
                </a:solidFill>
              </a:rPr>
              <a:t>programmation événementielle</a:t>
            </a:r>
            <a:r>
              <a:rPr lang="fr-FR" sz="2400" dirty="0"/>
              <a:t>, on désigne un paradigme de programmation fondé sur les </a:t>
            </a:r>
            <a:r>
              <a:rPr lang="fr-FR" sz="2400" dirty="0">
                <a:solidFill>
                  <a:schemeClr val="accent4"/>
                </a:solidFill>
              </a:rPr>
              <a:t>événements</a:t>
            </a:r>
            <a:r>
              <a:rPr lang="fr-FR" sz="2400" dirty="0"/>
              <a:t>. </a:t>
            </a:r>
          </a:p>
          <a:p>
            <a:pPr marL="0" indent="0">
              <a:buNone/>
            </a:pPr>
            <a:r>
              <a:rPr lang="fr-FR" sz="2400" dirty="0"/>
              <a:t>Le programme est défini par la manière dont il réagit aux différents événements qui peuvent se produire (click de souris, touche pressée au clavier, fermeture de fenêtre,…).</a:t>
            </a:r>
          </a:p>
          <a:p>
            <a:pPr marL="0" indent="0">
              <a:buNone/>
            </a:pPr>
            <a:r>
              <a:rPr lang="fr-FR" sz="2400" dirty="0"/>
              <a:t>On trouvera dans ce type de programme trois sortes d’objets: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Les objets qui modélisent les </a:t>
            </a:r>
            <a:r>
              <a:rPr lang="fr-FR" sz="2400" dirty="0">
                <a:solidFill>
                  <a:schemeClr val="accent4"/>
                </a:solidFill>
              </a:rPr>
              <a:t>événements</a:t>
            </a:r>
            <a:r>
              <a:rPr lang="fr-FR" sz="2400" dirty="0"/>
              <a:t> (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sz="2400" dirty="0"/>
              <a:t>)</a:t>
            </a:r>
            <a:endParaRPr lang="fr-FR" sz="2400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Les objets qui </a:t>
            </a:r>
            <a:r>
              <a:rPr lang="fr-FR" sz="2400" dirty="0">
                <a:solidFill>
                  <a:schemeClr val="accent4"/>
                </a:solidFill>
              </a:rPr>
              <a:t>génèrent</a:t>
            </a:r>
            <a:r>
              <a:rPr lang="fr-FR" sz="2400" dirty="0"/>
              <a:t> ces événements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Les objets qui </a:t>
            </a:r>
            <a:r>
              <a:rPr lang="fr-FR" sz="2400" dirty="0">
                <a:solidFill>
                  <a:schemeClr val="accent4"/>
                </a:solidFill>
              </a:rPr>
              <a:t>traitent</a:t>
            </a:r>
            <a:r>
              <a:rPr lang="fr-FR" sz="2400" dirty="0"/>
              <a:t> les événements (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sz="2400" dirty="0"/>
              <a:t>)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La programmation événementielle est souvent utilisée dans les applications graphiques.</a:t>
            </a:r>
          </a:p>
          <a:p>
            <a:pPr marL="0" indent="0">
              <a:buNone/>
            </a:pPr>
            <a:endParaRPr lang="fr-FR" sz="36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AA4F8323-325F-AA40-ACCF-99C7111DCD67}"/>
              </a:ext>
            </a:extLst>
          </p:cNvPr>
          <p:cNvGrpSpPr/>
          <p:nvPr/>
        </p:nvGrpSpPr>
        <p:grpSpPr>
          <a:xfrm>
            <a:off x="6231764" y="6188405"/>
            <a:ext cx="3540258" cy="504000"/>
            <a:chOff x="4843436" y="5430943"/>
            <a:chExt cx="3540258" cy="504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FBD4C-69C0-1E48-800F-8149871B2F50}"/>
                </a:ext>
              </a:extLst>
            </p:cNvPr>
            <p:cNvSpPr/>
            <p:nvPr/>
          </p:nvSpPr>
          <p:spPr>
            <a:xfrm>
              <a:off x="5350299" y="5513666"/>
              <a:ext cx="303339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_1clickCounter.ClickCounterApp</a:t>
              </a:r>
              <a:endParaRPr lang="fr-FR" sz="1600" b="1" dirty="0"/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2D21FD6-6379-C744-B8AB-A288F466E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952A6B6-3323-9A2C-5D7F-835FB3DF9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00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B69D4BD-8350-2641-94F9-9662E122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événementielle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principe est le suivant:</a:t>
            </a:r>
            <a:endParaRPr lang="fr-FR" sz="3600" dirty="0"/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1EDBE817-AC85-2240-9035-A77F784B33A2}"/>
              </a:ext>
            </a:extLst>
          </p:cNvPr>
          <p:cNvSpPr/>
          <p:nvPr/>
        </p:nvSpPr>
        <p:spPr>
          <a:xfrm>
            <a:off x="6096000" y="4688385"/>
            <a:ext cx="1700981" cy="515880"/>
          </a:xfrm>
          <a:prstGeom prst="bevel">
            <a:avLst>
              <a:gd name="adj" fmla="val 545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Cliquez-moi!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5BD55BDA-122C-2747-A4C0-8834FA6BB286}"/>
              </a:ext>
            </a:extLst>
          </p:cNvPr>
          <p:cNvGrpSpPr/>
          <p:nvPr/>
        </p:nvGrpSpPr>
        <p:grpSpPr>
          <a:xfrm>
            <a:off x="8148116" y="4114100"/>
            <a:ext cx="3047084" cy="1244741"/>
            <a:chOff x="4467540" y="4051953"/>
            <a:chExt cx="3047084" cy="1244741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C8C03BA-7B8E-E543-872F-B1BC4E6FF8E8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10" name="Forme libre 9">
                <a:extLst>
                  <a:ext uri="{FF2B5EF4-FFF2-40B4-BE49-F238E27FC236}">
                    <a16:creationId xmlns:a16="http://schemas.microsoft.com/office/drawing/2014/main" id="{6C04E4D1-8C64-BC45-B5D0-8605D38DBA6F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0B0345-9E0A-494D-AF58-2ECE8E514D12}"/>
                  </a:ext>
                </a:extLst>
              </p:cNvPr>
              <p:cNvSpPr/>
              <p:nvPr/>
            </p:nvSpPr>
            <p:spPr>
              <a:xfrm rot="21000827">
                <a:off x="4139926" y="2578809"/>
                <a:ext cx="3068600" cy="75455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3600" b="1" dirty="0">
                    <a:ln w="12700">
                      <a:noFill/>
                      <a:prstDash val="solid"/>
                    </a:ln>
                    <a:solidFill>
                      <a:srgbClr val="FFC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BD42778E-CACA-8A42-A00C-604DD9D74527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8AA65675-C7E9-3A4C-B271-55C18FFBB11D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5E5FAB52-B985-694B-9428-3C2E53DDAEC9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CD71E551-C840-434A-8942-4B5086859C60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18" name="Flèche vers le bas 17">
            <a:extLst>
              <a:ext uri="{FF2B5EF4-FFF2-40B4-BE49-F238E27FC236}">
                <a16:creationId xmlns:a16="http://schemas.microsoft.com/office/drawing/2014/main" id="{38EBD270-3321-3F4B-BC1D-F2EC375AAADB}"/>
              </a:ext>
            </a:extLst>
          </p:cNvPr>
          <p:cNvSpPr/>
          <p:nvPr/>
        </p:nvSpPr>
        <p:spPr>
          <a:xfrm rot="9000000">
            <a:off x="7631561" y="4962197"/>
            <a:ext cx="268008" cy="610749"/>
          </a:xfrm>
          <a:prstGeom prst="downArrow">
            <a:avLst>
              <a:gd name="adj1" fmla="val 34366"/>
              <a:gd name="adj2" fmla="val 1700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E5513E7E-E9DA-874C-A995-C3BAD653F0F8}"/>
              </a:ext>
            </a:extLst>
          </p:cNvPr>
          <p:cNvSpPr/>
          <p:nvPr/>
        </p:nvSpPr>
        <p:spPr>
          <a:xfrm>
            <a:off x="10703138" y="5078141"/>
            <a:ext cx="717902" cy="898405"/>
          </a:xfrm>
          <a:prstGeom prst="arc">
            <a:avLst>
              <a:gd name="adj1" fmla="val 17211676"/>
              <a:gd name="adj2" fmla="val 3330045"/>
            </a:avLst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en angle 20">
            <a:extLst>
              <a:ext uri="{FF2B5EF4-FFF2-40B4-BE49-F238E27FC236}">
                <a16:creationId xmlns:a16="http://schemas.microsoft.com/office/drawing/2014/main" id="{6B0729F1-8DA9-D942-822E-0C0CD961948E}"/>
              </a:ext>
            </a:extLst>
          </p:cNvPr>
          <p:cNvCxnSpPr/>
          <p:nvPr/>
        </p:nvCxnSpPr>
        <p:spPr>
          <a:xfrm rot="10800000">
            <a:off x="7252027" y="5524573"/>
            <a:ext cx="1996965" cy="701234"/>
          </a:xfrm>
          <a:prstGeom prst="bentConnector3">
            <a:avLst>
              <a:gd name="adj1" fmla="val 100000"/>
            </a:avLst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23AD0E21-2769-744D-B5FA-1D6BBCD8024D}"/>
              </a:ext>
            </a:extLst>
          </p:cNvPr>
          <p:cNvSpPr txBox="1"/>
          <p:nvPr/>
        </p:nvSpPr>
        <p:spPr>
          <a:xfrm>
            <a:off x="9059806" y="5654529"/>
            <a:ext cx="1993779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Consolas" panose="020B0609020204030204" pitchFamily="49" charset="0"/>
                <a:cs typeface="Consolas" panose="020B0609020204030204" pitchFamily="49" charset="0"/>
              </a:rPr>
              <a:t>Code du gestionnaire d’événement</a:t>
            </a:r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8500D42F-5125-4E31-7161-6D4C43CBFDCB}"/>
              </a:ext>
            </a:extLst>
          </p:cNvPr>
          <p:cNvSpPr txBox="1">
            <a:spLocks/>
          </p:cNvSpPr>
          <p:nvPr/>
        </p:nvSpPr>
        <p:spPr>
          <a:xfrm>
            <a:off x="838200" y="2279156"/>
            <a:ext cx="10515600" cy="2554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fr-FR" sz="2400" dirty="0"/>
              <a:t>Un événement se produit au niveau de l’interface utilisateur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fr-FR" sz="2400" dirty="0"/>
              <a:t>Cela génère un événement…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fr-FR" sz="2400" dirty="0"/>
              <a:t>… qui est envoyé aux classes qui traitent l’événement…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fr-FR" sz="2400" dirty="0"/>
              <a:t>… qui à leur tour peuvent avoir un impact sur l’interface utilisateur</a:t>
            </a:r>
            <a:endParaRPr lang="fr-FR" sz="36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187B2B-BB76-6517-A108-758E0E9C8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97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événements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La classe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javafx.event.Event</a:t>
            </a:r>
            <a:r>
              <a:rPr lang="fr-FR" sz="2400" dirty="0"/>
              <a:t> est la classe de base des événements FX.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Chaque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sz="2400" dirty="0"/>
              <a:t> est associé à</a:t>
            </a:r>
          </a:p>
          <a:p>
            <a:r>
              <a:rPr lang="fr-BE" sz="2400" dirty="0"/>
              <a:t>Une </a:t>
            </a:r>
            <a:r>
              <a:rPr lang="fr-BE" sz="2400" dirty="0">
                <a:solidFill>
                  <a:schemeClr val="accent4"/>
                </a:solidFill>
              </a:rPr>
              <a:t>source</a:t>
            </a:r>
            <a:r>
              <a:rPr lang="fr-BE" sz="2400" dirty="0"/>
              <a:t>, à l’origine de l’événement (la souris,…)</a:t>
            </a:r>
          </a:p>
          <a:p>
            <a:r>
              <a:rPr lang="fr-BE" sz="2400" dirty="0"/>
              <a:t>Une </a:t>
            </a:r>
            <a:r>
              <a:rPr lang="fr-BE" sz="2400" dirty="0">
                <a:solidFill>
                  <a:schemeClr val="accent4"/>
                </a:solidFill>
              </a:rPr>
              <a:t>cible</a:t>
            </a:r>
            <a:r>
              <a:rPr lang="fr-BE" sz="2400" dirty="0"/>
              <a:t>, le nœud sur lequel l’événement se produit</a:t>
            </a:r>
          </a:p>
          <a:p>
            <a:r>
              <a:rPr lang="fr-BE" sz="2400" dirty="0"/>
              <a:t>Et un </a:t>
            </a:r>
            <a:r>
              <a:rPr lang="fr-BE" sz="2400" dirty="0">
                <a:solidFill>
                  <a:schemeClr val="accent4"/>
                </a:solidFill>
              </a:rPr>
              <a:t>type</a:t>
            </a:r>
            <a:r>
              <a:rPr lang="fr-BE" sz="2400" dirty="0"/>
              <a:t> d’événement (click, touche enfoncée,…)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Cette classe a plusieurs sous-classes, qui permettent chacune de gérer un type d’événement: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FR" sz="2400" dirty="0"/>
              <a:t> 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MouseEvent</a:t>
            </a:r>
            <a:r>
              <a:rPr lang="fr-FR" sz="2400" dirty="0"/>
              <a:t> 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KeyEvent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DragEvent</a:t>
            </a:r>
            <a:r>
              <a:rPr lang="fr-FR" sz="2400" dirty="0"/>
              <a:t>,…</a:t>
            </a:r>
          </a:p>
          <a:p>
            <a:pPr marL="0" indent="0">
              <a:buNone/>
            </a:pPr>
            <a:endParaRPr lang="fr-BE" sz="240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B287EEC-1B0C-3B4E-9B95-EF97B94B4CD5}"/>
              </a:ext>
            </a:extLst>
          </p:cNvPr>
          <p:cNvGrpSpPr/>
          <p:nvPr/>
        </p:nvGrpSpPr>
        <p:grpSpPr>
          <a:xfrm>
            <a:off x="9275988" y="210212"/>
            <a:ext cx="2530811" cy="1198497"/>
            <a:chOff x="4139926" y="2291668"/>
            <a:chExt cx="3068600" cy="1453173"/>
          </a:xfrm>
        </p:grpSpPr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C6FF5052-5761-5147-A3F3-FF0C06FCB44F}"/>
                </a:ext>
              </a:extLst>
            </p:cNvPr>
            <p:cNvSpPr/>
            <p:nvPr/>
          </p:nvSpPr>
          <p:spPr>
            <a:xfrm>
              <a:off x="4445421" y="2291668"/>
              <a:ext cx="2552170" cy="1453173"/>
            </a:xfrm>
            <a:custGeom>
              <a:avLst/>
              <a:gdLst>
                <a:gd name="connsiteX0" fmla="*/ 1884783 w 3023118"/>
                <a:gd name="connsiteY0" fmla="*/ 615821 h 2286000"/>
                <a:gd name="connsiteX1" fmla="*/ 1847461 w 3023118"/>
                <a:gd name="connsiteY1" fmla="*/ 102637 h 2286000"/>
                <a:gd name="connsiteX2" fmla="*/ 1483567 w 3023118"/>
                <a:gd name="connsiteY2" fmla="*/ 494523 h 2286000"/>
                <a:gd name="connsiteX3" fmla="*/ 1138335 w 3023118"/>
                <a:gd name="connsiteY3" fmla="*/ 0 h 2286000"/>
                <a:gd name="connsiteX4" fmla="*/ 1063690 w 3023118"/>
                <a:gd name="connsiteY4" fmla="*/ 541176 h 2286000"/>
                <a:gd name="connsiteX5" fmla="*/ 569167 w 3023118"/>
                <a:gd name="connsiteY5" fmla="*/ 270588 h 2286000"/>
                <a:gd name="connsiteX6" fmla="*/ 811763 w 3023118"/>
                <a:gd name="connsiteY6" fmla="*/ 867747 h 2286000"/>
                <a:gd name="connsiteX7" fmla="*/ 158620 w 3023118"/>
                <a:gd name="connsiteY7" fmla="*/ 858417 h 2286000"/>
                <a:gd name="connsiteX8" fmla="*/ 485192 w 3023118"/>
                <a:gd name="connsiteY8" fmla="*/ 1156996 h 2286000"/>
                <a:gd name="connsiteX9" fmla="*/ 0 w 3023118"/>
                <a:gd name="connsiteY9" fmla="*/ 1399592 h 2286000"/>
                <a:gd name="connsiteX10" fmla="*/ 653143 w 3023118"/>
                <a:gd name="connsiteY10" fmla="*/ 1446245 h 2286000"/>
                <a:gd name="connsiteX11" fmla="*/ 130628 w 3023118"/>
                <a:gd name="connsiteY11" fmla="*/ 2099388 h 2286000"/>
                <a:gd name="connsiteX12" fmla="*/ 961053 w 3023118"/>
                <a:gd name="connsiteY12" fmla="*/ 1744825 h 2286000"/>
                <a:gd name="connsiteX13" fmla="*/ 933061 w 3023118"/>
                <a:gd name="connsiteY13" fmla="*/ 2286000 h 2286000"/>
                <a:gd name="connsiteX14" fmla="*/ 1324947 w 3023118"/>
                <a:gd name="connsiteY14" fmla="*/ 1884784 h 2286000"/>
                <a:gd name="connsiteX15" fmla="*/ 1511559 w 3023118"/>
                <a:gd name="connsiteY15" fmla="*/ 2202025 h 2286000"/>
                <a:gd name="connsiteX16" fmla="*/ 1604865 w 3023118"/>
                <a:gd name="connsiteY16" fmla="*/ 2006082 h 2286000"/>
                <a:gd name="connsiteX17" fmla="*/ 1819469 w 3023118"/>
                <a:gd name="connsiteY17" fmla="*/ 2155372 h 2286000"/>
                <a:gd name="connsiteX18" fmla="*/ 1847461 w 3023118"/>
                <a:gd name="connsiteY18" fmla="*/ 1763486 h 2286000"/>
                <a:gd name="connsiteX19" fmla="*/ 2332653 w 3023118"/>
                <a:gd name="connsiteY19" fmla="*/ 1959429 h 2286000"/>
                <a:gd name="connsiteX20" fmla="*/ 2118049 w 3023118"/>
                <a:gd name="connsiteY20" fmla="*/ 1548882 h 2286000"/>
                <a:gd name="connsiteX21" fmla="*/ 3023118 w 3023118"/>
                <a:gd name="connsiteY21" fmla="*/ 1548882 h 2286000"/>
                <a:gd name="connsiteX22" fmla="*/ 2369975 w 3023118"/>
                <a:gd name="connsiteY22" fmla="*/ 1194319 h 2286000"/>
                <a:gd name="connsiteX23" fmla="*/ 2873828 w 3023118"/>
                <a:gd name="connsiteY23" fmla="*/ 923731 h 2286000"/>
                <a:gd name="connsiteX24" fmla="*/ 2239347 w 3023118"/>
                <a:gd name="connsiteY24" fmla="*/ 886408 h 2286000"/>
                <a:gd name="connsiteX25" fmla="*/ 2481943 w 3023118"/>
                <a:gd name="connsiteY25" fmla="*/ 363894 h 2286000"/>
                <a:gd name="connsiteX26" fmla="*/ 1884783 w 3023118"/>
                <a:gd name="connsiteY26" fmla="*/ 615821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23118" h="2286000">
                  <a:moveTo>
                    <a:pt x="1884783" y="615821"/>
                  </a:moveTo>
                  <a:lnTo>
                    <a:pt x="1847461" y="102637"/>
                  </a:lnTo>
                  <a:lnTo>
                    <a:pt x="1483567" y="494523"/>
                  </a:lnTo>
                  <a:lnTo>
                    <a:pt x="1138335" y="0"/>
                  </a:lnTo>
                  <a:lnTo>
                    <a:pt x="1063690" y="541176"/>
                  </a:lnTo>
                  <a:lnTo>
                    <a:pt x="569167" y="270588"/>
                  </a:lnTo>
                  <a:lnTo>
                    <a:pt x="811763" y="867747"/>
                  </a:lnTo>
                  <a:lnTo>
                    <a:pt x="158620" y="858417"/>
                  </a:lnTo>
                  <a:lnTo>
                    <a:pt x="485192" y="1156996"/>
                  </a:lnTo>
                  <a:lnTo>
                    <a:pt x="0" y="1399592"/>
                  </a:lnTo>
                  <a:lnTo>
                    <a:pt x="653143" y="1446245"/>
                  </a:lnTo>
                  <a:lnTo>
                    <a:pt x="130628" y="2099388"/>
                  </a:lnTo>
                  <a:lnTo>
                    <a:pt x="961053" y="1744825"/>
                  </a:lnTo>
                  <a:lnTo>
                    <a:pt x="933061" y="2286000"/>
                  </a:lnTo>
                  <a:lnTo>
                    <a:pt x="1324947" y="1884784"/>
                  </a:lnTo>
                  <a:lnTo>
                    <a:pt x="1511559" y="2202025"/>
                  </a:lnTo>
                  <a:lnTo>
                    <a:pt x="1604865" y="2006082"/>
                  </a:lnTo>
                  <a:lnTo>
                    <a:pt x="1819469" y="2155372"/>
                  </a:lnTo>
                  <a:lnTo>
                    <a:pt x="1847461" y="1763486"/>
                  </a:lnTo>
                  <a:lnTo>
                    <a:pt x="2332653" y="1959429"/>
                  </a:lnTo>
                  <a:lnTo>
                    <a:pt x="2118049" y="1548882"/>
                  </a:lnTo>
                  <a:lnTo>
                    <a:pt x="3023118" y="1548882"/>
                  </a:lnTo>
                  <a:lnTo>
                    <a:pt x="2369975" y="1194319"/>
                  </a:lnTo>
                  <a:lnTo>
                    <a:pt x="2873828" y="923731"/>
                  </a:lnTo>
                  <a:lnTo>
                    <a:pt x="2239347" y="886408"/>
                  </a:lnTo>
                  <a:lnTo>
                    <a:pt x="2481943" y="363894"/>
                  </a:lnTo>
                  <a:lnTo>
                    <a:pt x="1884783" y="615821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F40FE8-E742-8440-B477-4052F16D94CD}"/>
                </a:ext>
              </a:extLst>
            </p:cNvPr>
            <p:cNvSpPr/>
            <p:nvPr/>
          </p:nvSpPr>
          <p:spPr>
            <a:xfrm rot="21000827">
              <a:off x="4139926" y="2601570"/>
              <a:ext cx="3068600" cy="70903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fr-FR" sz="3200" b="1" dirty="0">
                  <a:ln w="12700">
                    <a:noFill/>
                    <a:prstDash val="solid"/>
                  </a:ln>
                  <a:solidFill>
                    <a:srgbClr val="FFC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Evénement</a:t>
              </a: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617F2E-691D-B4F5-7B23-EAFEFED35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67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types d’événements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Nous avons déjà rencontré </a:t>
            </a:r>
            <a:r>
              <a:rPr lang="fr-FR" sz="2200" dirty="0">
                <a:solidFill>
                  <a:srgbClr val="FFC000"/>
                </a:solidFill>
              </a:rPr>
              <a:t>l’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FR" sz="2400" dirty="0"/>
              <a:t> (celui qui est créé lors du click sur le bouton, par exemple).</a:t>
            </a:r>
          </a:p>
          <a:p>
            <a:pPr marL="0" indent="0">
              <a:buNone/>
            </a:pPr>
            <a:r>
              <a:rPr lang="fr-FR" sz="2400" dirty="0"/>
              <a:t>Mais </a:t>
            </a:r>
            <a:r>
              <a:rPr lang="fr-FR" sz="2200" dirty="0">
                <a:solidFill>
                  <a:srgbClr val="FFC000"/>
                </a:solidFill>
              </a:rPr>
              <a:t>Event</a:t>
            </a:r>
            <a:r>
              <a:rPr lang="fr-FR" sz="2400" dirty="0"/>
              <a:t> a d’autres sous-classes. En voici quelques-unes: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5217436C-89C5-0448-B928-EE9A4C3E9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5717"/>
              </p:ext>
            </p:extLst>
          </p:nvPr>
        </p:nvGraphicFramePr>
        <p:xfrm>
          <a:off x="1296062" y="3090608"/>
          <a:ext cx="9446148" cy="303276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1841209">
                  <a:extLst>
                    <a:ext uri="{9D8B030D-6E8A-4147-A177-3AD203B41FA5}">
                      <a16:colId xmlns:a16="http://schemas.microsoft.com/office/drawing/2014/main" val="1078980151"/>
                    </a:ext>
                  </a:extLst>
                </a:gridCol>
                <a:gridCol w="2595508">
                  <a:extLst>
                    <a:ext uri="{9D8B030D-6E8A-4147-A177-3AD203B41FA5}">
                      <a16:colId xmlns:a16="http://schemas.microsoft.com/office/drawing/2014/main" val="324650493"/>
                    </a:ext>
                  </a:extLst>
                </a:gridCol>
                <a:gridCol w="5009431">
                  <a:extLst>
                    <a:ext uri="{9D8B030D-6E8A-4147-A177-3AD203B41FA5}">
                      <a16:colId xmlns:a16="http://schemas.microsoft.com/office/drawing/2014/main" val="4095328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ActionEvent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javafx.event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Résulte de l’</a:t>
                      </a:r>
                      <a:r>
                        <a:rPr lang="fr-FR" sz="1800" b="0" dirty="0">
                          <a:solidFill>
                            <a:srgbClr val="FFC000"/>
                          </a:solidFill>
                        </a:rPr>
                        <a:t>action de l’utilisateur</a:t>
                      </a:r>
                      <a:r>
                        <a:rPr lang="fr-FR" sz="1800" b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fr-FR" sz="1800" b="0" dirty="0"/>
                        <a:t>(sur un bouton ou un autre contrôle)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19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InputEvent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javafx.scene.input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Créé lors d’une </a:t>
                      </a:r>
                      <a:r>
                        <a:rPr lang="fr-FR" sz="1800" b="0" dirty="0">
                          <a:solidFill>
                            <a:srgbClr val="FFC000"/>
                          </a:solidFill>
                        </a:rPr>
                        <a:t>entrée</a:t>
                      </a:r>
                      <a:r>
                        <a:rPr lang="fr-FR" sz="1800" b="0" dirty="0"/>
                        <a:t> par l’utilisateur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2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KeyEvent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 err="1"/>
                        <a:t>javafx.scene.input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Créé lors d’actions au </a:t>
                      </a:r>
                      <a:r>
                        <a:rPr lang="fr-FR" sz="1800" b="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clavier</a:t>
                      </a:r>
                      <a:r>
                        <a:rPr lang="fr-FR" sz="1800" b="0" dirty="0"/>
                        <a:t> (</a:t>
                      </a:r>
                      <a:r>
                        <a:rPr lang="fr-FR" sz="1800" b="0" dirty="0" err="1"/>
                        <a:t>KeyEvent</a:t>
                      </a:r>
                      <a:r>
                        <a:rPr lang="fr-FR" sz="1800" b="0" dirty="0"/>
                        <a:t> hérite de </a:t>
                      </a:r>
                      <a:r>
                        <a:rPr lang="fr-FR" sz="1800" b="0" dirty="0" err="1"/>
                        <a:t>InputEvent</a:t>
                      </a:r>
                      <a:r>
                        <a:rPr lang="fr-FR" sz="18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08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MouseEvent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 err="1"/>
                        <a:t>javafx.scene.input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Créé lors d’actions de la </a:t>
                      </a:r>
                      <a:r>
                        <a:rPr lang="fr-FR" sz="1800" b="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1800" b="0" dirty="0"/>
                        <a:t> (</a:t>
                      </a:r>
                      <a:r>
                        <a:rPr lang="fr-FR" sz="1800" b="0" dirty="0" err="1"/>
                        <a:t>MouseEvent</a:t>
                      </a:r>
                      <a:r>
                        <a:rPr lang="fr-FR" sz="1800" b="0" dirty="0"/>
                        <a:t> hérite de </a:t>
                      </a:r>
                      <a:r>
                        <a:rPr lang="fr-FR" sz="1800" b="0" dirty="0" err="1"/>
                        <a:t>InputEvent</a:t>
                      </a:r>
                      <a:r>
                        <a:rPr lang="fr-FR" sz="18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61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TouchEvent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 err="1"/>
                        <a:t>javafx.scene.input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Créé lors de l’utilisation de matériel </a:t>
                      </a:r>
                      <a:r>
                        <a:rPr lang="fr-FR" sz="1800" b="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tactile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1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WindowEvent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 err="1"/>
                        <a:t>javafx.stage</a:t>
                      </a:r>
                      <a:endParaRPr lang="fr-FR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Créé à la modification du statut de la </a:t>
                      </a:r>
                      <a:r>
                        <a:rPr lang="fr-FR" sz="1800" b="0" kern="1200" dirty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fenêtre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28551"/>
                  </a:ext>
                </a:extLst>
              </a:tr>
            </a:tbl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33C777D8-0B80-334A-86A8-28C7B9D57161}"/>
              </a:ext>
            </a:extLst>
          </p:cNvPr>
          <p:cNvGrpSpPr/>
          <p:nvPr/>
        </p:nvGrpSpPr>
        <p:grpSpPr>
          <a:xfrm>
            <a:off x="6231764" y="6188405"/>
            <a:ext cx="2333582" cy="504000"/>
            <a:chOff x="4843436" y="5430943"/>
            <a:chExt cx="2333582" cy="504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4C33D2-0993-2347-B364-3E2461DB4864}"/>
                </a:ext>
              </a:extLst>
            </p:cNvPr>
            <p:cNvSpPr/>
            <p:nvPr/>
          </p:nvSpPr>
          <p:spPr>
            <a:xfrm>
              <a:off x="5350299" y="5513666"/>
              <a:ext cx="18267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_2event.EventApp</a:t>
              </a:r>
              <a:endParaRPr lang="fr-FR" sz="1600" b="1" dirty="0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FAA6CAD-746E-994C-B55A-994A7F630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733A44C-269F-6A40-6DC7-4183B7C93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76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types d’événements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classes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KeyEvent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MouseEvent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TouchEvent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WindowEvent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400" dirty="0"/>
              <a:t>etc… présentent des champs statiques de type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EventType</a:t>
            </a:r>
            <a:r>
              <a:rPr lang="fr-FR" sz="22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 </a:t>
            </a:r>
            <a:r>
              <a:rPr lang="fr-FR" sz="22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FR" sz="22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Event&gt;</a:t>
            </a:r>
            <a:r>
              <a:rPr lang="fr-FR" sz="2400" dirty="0"/>
              <a:t> qui représentent des sous-types d’événements: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DF6D7-3F58-BA48-85C0-D7E49A86B0E4}"/>
              </a:ext>
            </a:extLst>
          </p:cNvPr>
          <p:cNvSpPr/>
          <p:nvPr/>
        </p:nvSpPr>
        <p:spPr>
          <a:xfrm>
            <a:off x="2481795" y="3286036"/>
            <a:ext cx="1823175" cy="14773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err="1">
                <a:latin typeface="Consolas" panose="020B0609020204030204" pitchFamily="49" charset="0"/>
                <a:cs typeface="Consolas" panose="020B0609020204030204" pitchFamily="49" charset="0"/>
              </a:rPr>
              <a:t>KeyEvent</a:t>
            </a:r>
            <a:endParaRPr lang="fr-F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ANY 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KEY_PRESSED </a:t>
            </a:r>
            <a:b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KEY_RELEASED</a:t>
            </a:r>
            <a:b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KEY_TYPED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2BD923-7A34-724D-A55C-19844D1DFD9F}"/>
              </a:ext>
            </a:extLst>
          </p:cNvPr>
          <p:cNvSpPr/>
          <p:nvPr/>
        </p:nvSpPr>
        <p:spPr>
          <a:xfrm>
            <a:off x="7406290" y="3286036"/>
            <a:ext cx="2695505" cy="175432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err="1">
                <a:latin typeface="Consolas" panose="020B0609020204030204" pitchFamily="49" charset="0"/>
                <a:cs typeface="Consolas" panose="020B0609020204030204" pitchFamily="49" charset="0"/>
              </a:rPr>
              <a:t>WindowEvent</a:t>
            </a:r>
            <a:endParaRPr lang="fr-F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WINDOW_CLOSE_REQUEST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WINDOW_HIDDEN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WINDOWHIDING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WINDOWSHOWING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WINDOW_SHOWN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DBFB45-7270-F34C-8107-CA0C140DCE9B}"/>
              </a:ext>
            </a:extLst>
          </p:cNvPr>
          <p:cNvSpPr/>
          <p:nvPr/>
        </p:nvSpPr>
        <p:spPr>
          <a:xfrm>
            <a:off x="4767950" y="3286036"/>
            <a:ext cx="2175358" cy="34163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MouseEvent</a:t>
            </a:r>
            <a:endParaRPr lang="fr-F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MOUSE_PRESSED   </a:t>
            </a:r>
            <a:b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MOUSE_RELEASED 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MOUSE_CLICKED</a:t>
            </a:r>
          </a:p>
          <a:p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MOUSE_ENTERED</a:t>
            </a: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MOUSE_EXITED MOUSE_MOVED</a:t>
            </a:r>
          </a:p>
          <a:p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MOUSE_DRAGGED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AD6DF7-A374-37B5-3BD4-B794BB730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L’</a:t>
            </a:r>
            <a:r>
              <a:rPr lang="fr-FR" cap="none" dirty="0" err="1"/>
              <a:t>event</a:t>
            </a:r>
            <a:r>
              <a:rPr lang="fr-FR" cap="none" dirty="0"/>
              <a:t> </a:t>
            </a:r>
            <a:r>
              <a:rPr lang="fr-FR" cap="none" dirty="0" err="1"/>
              <a:t>KeyEvent</a:t>
            </a:r>
            <a:endParaRPr lang="fr-FR" dirty="0"/>
          </a:p>
        </p:txBody>
      </p:sp>
      <p:graphicFrame>
        <p:nvGraphicFramePr>
          <p:cNvPr id="12" name="Espace réservé du contenu 11">
            <a:extLst>
              <a:ext uri="{FF2B5EF4-FFF2-40B4-BE49-F238E27FC236}">
                <a16:creationId xmlns:a16="http://schemas.microsoft.com/office/drawing/2014/main" id="{D16A63BC-D38F-0448-9A2E-6B44DA76A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38796"/>
              </p:ext>
            </p:extLst>
          </p:nvPr>
        </p:nvGraphicFramePr>
        <p:xfrm>
          <a:off x="838200" y="1825625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4216858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javafx.scene.input.KeyEvent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279060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getCharacter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String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getCode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KeyCode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getText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String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isAltDown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isControlDown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isMetaDown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isShiftDown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getEventType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KeyEvent.KEY_PRESSED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b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KeyEvent.KEY_RELEASED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</a:t>
                      </a:r>
                      <a:b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KeyEvent.KEY_TYPED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547100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0A0068E8-894A-B540-824C-C880417387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4987" y="129770"/>
            <a:ext cx="2431809" cy="162283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037" name="Picture 13" descr="page11image102652192">
            <a:extLst>
              <a:ext uri="{FF2B5EF4-FFF2-40B4-BE49-F238E27FC236}">
                <a16:creationId xmlns:a16="http://schemas.microsoft.com/office/drawing/2014/main" id="{35F1C772-0A5A-9D41-A222-233A2C26E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92895" y="2284517"/>
            <a:ext cx="4465258" cy="217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70EB9C3-4238-D64A-8858-3652C0CF3C5B}"/>
              </a:ext>
            </a:extLst>
          </p:cNvPr>
          <p:cNvSpPr/>
          <p:nvPr/>
        </p:nvSpPr>
        <p:spPr>
          <a:xfrm>
            <a:off x="5962944" y="4456146"/>
            <a:ext cx="3911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/>
              <a:t>Source: </a:t>
            </a:r>
            <a:r>
              <a:rPr lang="fr-FR" sz="1400" i="1" dirty="0">
                <a:hlinkClick r:id="rId5"/>
              </a:rPr>
              <a:t>http://un.uobasrah.edu.iq/lectures/6699.pdf</a:t>
            </a:r>
            <a:endParaRPr lang="fr-FR" sz="1400" i="1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AC2F5CC7-6FD0-3946-B44D-1428C2A22782}"/>
              </a:ext>
            </a:extLst>
          </p:cNvPr>
          <p:cNvGrpSpPr/>
          <p:nvPr/>
        </p:nvGrpSpPr>
        <p:grpSpPr>
          <a:xfrm>
            <a:off x="6291139" y="6048691"/>
            <a:ext cx="2991326" cy="504000"/>
            <a:chOff x="4843436" y="5430943"/>
            <a:chExt cx="2991326" cy="504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E6662C-3B3F-5349-B748-D647D627D0CE}"/>
                </a:ext>
              </a:extLst>
            </p:cNvPr>
            <p:cNvSpPr/>
            <p:nvPr/>
          </p:nvSpPr>
          <p:spPr>
            <a:xfrm>
              <a:off x="5350299" y="5513666"/>
              <a:ext cx="248446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_3keyEvent.KeyEventApp</a:t>
              </a:r>
              <a:endParaRPr lang="fr-FR" sz="1600" b="1" dirty="0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69CDC135-D355-394C-83A0-079594E48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24B1FE-A0E0-5941-AA2B-2398E4756FC8}"/>
              </a:ext>
            </a:extLst>
          </p:cNvPr>
          <p:cNvSpPr/>
          <p:nvPr/>
        </p:nvSpPr>
        <p:spPr>
          <a:xfrm>
            <a:off x="6176801" y="4772841"/>
            <a:ext cx="14189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KEY_PRESSED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46627-C9F8-3C47-8EF9-13CA5F660A40}"/>
              </a:ext>
            </a:extLst>
          </p:cNvPr>
          <p:cNvSpPr/>
          <p:nvPr/>
        </p:nvSpPr>
        <p:spPr>
          <a:xfrm>
            <a:off x="7615712" y="4772841"/>
            <a:ext cx="15311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KEY_RELEASED</a:t>
            </a:r>
          </a:p>
        </p:txBody>
      </p:sp>
      <p:sp>
        <p:nvSpPr>
          <p:cNvPr id="15" name="Trapèze 14">
            <a:extLst>
              <a:ext uri="{FF2B5EF4-FFF2-40B4-BE49-F238E27FC236}">
                <a16:creationId xmlns:a16="http://schemas.microsoft.com/office/drawing/2014/main" id="{F65A8151-7EE5-C746-844B-27E08ADEF97B}"/>
              </a:ext>
            </a:extLst>
          </p:cNvPr>
          <p:cNvSpPr/>
          <p:nvPr/>
        </p:nvSpPr>
        <p:spPr>
          <a:xfrm>
            <a:off x="6429090" y="5410199"/>
            <a:ext cx="914400" cy="19974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rapèze 15">
            <a:extLst>
              <a:ext uri="{FF2B5EF4-FFF2-40B4-BE49-F238E27FC236}">
                <a16:creationId xmlns:a16="http://schemas.microsoft.com/office/drawing/2014/main" id="{359A18B5-D89D-EA4A-88F3-A9AC0AEDE8F4}"/>
              </a:ext>
            </a:extLst>
          </p:cNvPr>
          <p:cNvSpPr/>
          <p:nvPr/>
        </p:nvSpPr>
        <p:spPr>
          <a:xfrm>
            <a:off x="7921063" y="5410199"/>
            <a:ext cx="914400" cy="19974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rapèze 3">
            <a:extLst>
              <a:ext uri="{FF2B5EF4-FFF2-40B4-BE49-F238E27FC236}">
                <a16:creationId xmlns:a16="http://schemas.microsoft.com/office/drawing/2014/main" id="{76F08B3A-CFB9-6F46-992C-CF5C1FCD9CAD}"/>
              </a:ext>
            </a:extLst>
          </p:cNvPr>
          <p:cNvSpPr/>
          <p:nvPr/>
        </p:nvSpPr>
        <p:spPr>
          <a:xfrm>
            <a:off x="6429090" y="5271389"/>
            <a:ext cx="914400" cy="33855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apèze 12">
            <a:extLst>
              <a:ext uri="{FF2B5EF4-FFF2-40B4-BE49-F238E27FC236}">
                <a16:creationId xmlns:a16="http://schemas.microsoft.com/office/drawing/2014/main" id="{24BC1210-3EEF-3043-93DC-43F9627B39BC}"/>
              </a:ext>
            </a:extLst>
          </p:cNvPr>
          <p:cNvSpPr/>
          <p:nvPr/>
        </p:nvSpPr>
        <p:spPr>
          <a:xfrm>
            <a:off x="7924106" y="5271389"/>
            <a:ext cx="914400" cy="33855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BAEBB21-0E2F-3E2A-40AF-9CD073C767A9}"/>
              </a:ext>
            </a:extLst>
          </p:cNvPr>
          <p:cNvCxnSpPr/>
          <p:nvPr/>
        </p:nvCxnSpPr>
        <p:spPr>
          <a:xfrm>
            <a:off x="3137647" y="2850776"/>
            <a:ext cx="2555248" cy="0"/>
          </a:xfrm>
          <a:prstGeom prst="line">
            <a:avLst/>
          </a:prstGeom>
          <a:ln>
            <a:solidFill>
              <a:schemeClr val="accent6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2204365-189C-1E7E-9407-F5D201227A7D}"/>
              </a:ext>
            </a:extLst>
          </p:cNvPr>
          <p:cNvCxnSpPr>
            <a:cxnSpLocks/>
          </p:cNvCxnSpPr>
          <p:nvPr/>
        </p:nvCxnSpPr>
        <p:spPr>
          <a:xfrm flipV="1">
            <a:off x="3765176" y="5035194"/>
            <a:ext cx="2411625" cy="236195"/>
          </a:xfrm>
          <a:prstGeom prst="line">
            <a:avLst/>
          </a:prstGeom>
          <a:ln>
            <a:solidFill>
              <a:schemeClr val="accent6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83F6B8-1D2D-03EA-501F-F4CFE524E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8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/>
      <p:bldP spid="14" grpId="0"/>
      <p:bldP spid="15" grpId="0" animBg="1"/>
      <p:bldP spid="16" grpId="0" animBg="1"/>
      <p:bldP spid="4" grpId="0" animBg="1"/>
      <p:bldP spid="4" grpId="1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none" dirty="0"/>
              <a:t>L’</a:t>
            </a:r>
            <a:r>
              <a:rPr lang="fr-FR" cap="none" dirty="0" err="1"/>
              <a:t>event</a:t>
            </a:r>
            <a:r>
              <a:rPr lang="fr-FR" cap="none" dirty="0"/>
              <a:t> </a:t>
            </a:r>
            <a:r>
              <a:rPr lang="fr-FR" cap="none" dirty="0" err="1"/>
              <a:t>MouseEvent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AEE4527-CA2E-FB40-BFDC-956BD575B8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0247" y="87853"/>
            <a:ext cx="3148189" cy="1371600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A77C01AB-1812-B440-A728-73B94A3A8E13}"/>
              </a:ext>
            </a:extLst>
          </p:cNvPr>
          <p:cNvGrpSpPr/>
          <p:nvPr/>
        </p:nvGrpSpPr>
        <p:grpSpPr>
          <a:xfrm>
            <a:off x="6231764" y="5811189"/>
            <a:ext cx="3533654" cy="504000"/>
            <a:chOff x="4843436" y="5430943"/>
            <a:chExt cx="3533654" cy="504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20ED43-36A4-8F40-B638-7AD1279DA837}"/>
                </a:ext>
              </a:extLst>
            </p:cNvPr>
            <p:cNvSpPr/>
            <p:nvPr/>
          </p:nvSpPr>
          <p:spPr>
            <a:xfrm>
              <a:off x="5350299" y="5513666"/>
              <a:ext cx="30267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_4mouseEvent.MouseEventApp</a:t>
              </a:r>
              <a:endParaRPr lang="fr-FR" sz="1600" b="1" dirty="0"/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15AB1AF0-E078-5046-81D3-191E4B41B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graphicFrame>
        <p:nvGraphicFramePr>
          <p:cNvPr id="11" name="Espace réservé du contenu 11">
            <a:extLst>
              <a:ext uri="{FF2B5EF4-FFF2-40B4-BE49-F238E27FC236}">
                <a16:creationId xmlns:a16="http://schemas.microsoft.com/office/drawing/2014/main" id="{5B79F056-02DE-5C45-B46B-A8274DA2CE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151741"/>
              </p:ext>
            </p:extLst>
          </p:nvPr>
        </p:nvGraphicFramePr>
        <p:xfrm>
          <a:off x="1981201" y="1752600"/>
          <a:ext cx="3662363" cy="43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363">
                  <a:extLst>
                    <a:ext uri="{9D8B030D-6E8A-4147-A177-3AD203B41FA5}">
                      <a16:colId xmlns:a16="http://schemas.microsoft.com/office/drawing/2014/main" val="4216858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javafx.scene.input.MouseEvent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7897" marR="87897"/>
                </a:tc>
                <a:extLst>
                  <a:ext uri="{0D108BD9-81ED-4DB2-BD59-A6C34878D82A}">
                    <a16:rowId xmlns:a16="http://schemas.microsoft.com/office/drawing/2014/main" val="279060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getClickCount</a:t>
                      </a: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int</a:t>
                      </a:r>
                      <a:endParaRPr lang="fr-FR" sz="16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getX</a:t>
                      </a: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(), 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getY</a:t>
                      </a: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(): double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getSceneX</a:t>
                      </a: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(), -Y(): double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getScreenX</a:t>
                      </a: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(), -Y(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): double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isControlDown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isMetaDown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isShiftDown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endParaRPr lang="fr-FR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getEventType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():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fr-FR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MouseEvent.MOUSE_PRESSED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    </a:t>
                      </a:r>
                      <a:b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FR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.MOUSE_RELEASED .MOUSE_CLICKED, .MOUSE_ENTERED .MOUSE_EXITED, .MOUSE_MOVED .MOUSE_DRAGGED  </a:t>
                      </a:r>
                    </a:p>
                  </a:txBody>
                  <a:tcPr marL="87897" marR="87897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547100"/>
                  </a:ext>
                </a:extLst>
              </a:tr>
            </a:tbl>
          </a:graphicData>
        </a:graphic>
      </p:graphicFrame>
      <p:sp>
        <p:nvSpPr>
          <p:cNvPr id="12" name="Bulle rectangulaire 11">
            <a:extLst>
              <a:ext uri="{FF2B5EF4-FFF2-40B4-BE49-F238E27FC236}">
                <a16:creationId xmlns:a16="http://schemas.microsoft.com/office/drawing/2014/main" id="{271E6781-CD92-F943-BC7B-D4A3A13EC91E}"/>
              </a:ext>
            </a:extLst>
          </p:cNvPr>
          <p:cNvSpPr/>
          <p:nvPr/>
        </p:nvSpPr>
        <p:spPr>
          <a:xfrm>
            <a:off x="5324382" y="3270038"/>
            <a:ext cx="1879232" cy="338554"/>
          </a:xfrm>
          <a:prstGeom prst="wedgeRectCallout">
            <a:avLst>
              <a:gd name="adj1" fmla="val -61044"/>
              <a:gd name="adj2" fmla="val 16752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sz="1600" dirty="0"/>
              <a:t>par rapport à l’écran</a:t>
            </a:r>
          </a:p>
        </p:txBody>
      </p:sp>
      <p:sp>
        <p:nvSpPr>
          <p:cNvPr id="13" name="Bulle rectangulaire 12">
            <a:extLst>
              <a:ext uri="{FF2B5EF4-FFF2-40B4-BE49-F238E27FC236}">
                <a16:creationId xmlns:a16="http://schemas.microsoft.com/office/drawing/2014/main" id="{932B131E-5A6C-4A48-9A8D-FB64681B7B3B}"/>
              </a:ext>
            </a:extLst>
          </p:cNvPr>
          <p:cNvSpPr/>
          <p:nvPr/>
        </p:nvSpPr>
        <p:spPr>
          <a:xfrm>
            <a:off x="5324383" y="2893334"/>
            <a:ext cx="2004075" cy="338554"/>
          </a:xfrm>
          <a:prstGeom prst="wedgeRectCallout">
            <a:avLst>
              <a:gd name="adj1" fmla="val -63220"/>
              <a:gd name="adj2" fmla="val 19442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sz="1600" dirty="0"/>
              <a:t>par rapport à la scène</a:t>
            </a:r>
          </a:p>
        </p:txBody>
      </p:sp>
      <p:sp>
        <p:nvSpPr>
          <p:cNvPr id="14" name="Bulle rectangulaire 13">
            <a:extLst>
              <a:ext uri="{FF2B5EF4-FFF2-40B4-BE49-F238E27FC236}">
                <a16:creationId xmlns:a16="http://schemas.microsoft.com/office/drawing/2014/main" id="{B47436D9-F810-8044-8587-67F07536286D}"/>
              </a:ext>
            </a:extLst>
          </p:cNvPr>
          <p:cNvSpPr/>
          <p:nvPr/>
        </p:nvSpPr>
        <p:spPr>
          <a:xfrm>
            <a:off x="4926754" y="2516631"/>
            <a:ext cx="2534668" cy="338554"/>
          </a:xfrm>
          <a:prstGeom prst="wedgeRectCallout">
            <a:avLst>
              <a:gd name="adj1" fmla="val -59558"/>
              <a:gd name="adj2" fmla="val 20666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sz="1600" dirty="0"/>
              <a:t>par rapport au nœud source</a:t>
            </a:r>
          </a:p>
        </p:txBody>
      </p:sp>
      <p:sp>
        <p:nvSpPr>
          <p:cNvPr id="17" name="Bulle rectangulaire 16">
            <a:extLst>
              <a:ext uri="{FF2B5EF4-FFF2-40B4-BE49-F238E27FC236}">
                <a16:creationId xmlns:a16="http://schemas.microsoft.com/office/drawing/2014/main" id="{FA0D614B-B6E6-6E42-898A-3E73A0998616}"/>
              </a:ext>
            </a:extLst>
          </p:cNvPr>
          <p:cNvSpPr/>
          <p:nvPr/>
        </p:nvSpPr>
        <p:spPr>
          <a:xfrm>
            <a:off x="5324382" y="4017461"/>
            <a:ext cx="1449436" cy="338554"/>
          </a:xfrm>
          <a:prstGeom prst="wedgeRectCallout">
            <a:avLst>
              <a:gd name="adj1" fmla="val -66157"/>
              <a:gd name="adj2" fmla="val -11431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sz="1600" dirty="0"/>
              <a:t>touches clavier</a:t>
            </a:r>
          </a:p>
        </p:txBody>
      </p:sp>
      <p:sp>
        <p:nvSpPr>
          <p:cNvPr id="18" name="Parenthèse fermante 17">
            <a:extLst>
              <a:ext uri="{FF2B5EF4-FFF2-40B4-BE49-F238E27FC236}">
                <a16:creationId xmlns:a16="http://schemas.microsoft.com/office/drawing/2014/main" id="{375D97C5-98C6-1847-A78B-87759694FC72}"/>
              </a:ext>
            </a:extLst>
          </p:cNvPr>
          <p:cNvSpPr/>
          <p:nvPr/>
        </p:nvSpPr>
        <p:spPr>
          <a:xfrm>
            <a:off x="4876801" y="3673504"/>
            <a:ext cx="49954" cy="1009815"/>
          </a:xfrm>
          <a:prstGeom prst="rightBracket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5CCF8-2806-AADC-BE59-233C47F62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88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cap="none" dirty="0"/>
              <a:t>Coordonnées du </a:t>
            </a:r>
            <a:r>
              <a:rPr lang="fr-FR" cap="none" dirty="0" err="1"/>
              <a:t>MouseEvent</a:t>
            </a:r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6F47894-9443-6145-B349-E89AC78EEF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0704" y="1459453"/>
            <a:ext cx="7376096" cy="4893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ACB25401-C2CC-4848-BEA7-E67FF4FD96FA}"/>
              </a:ext>
            </a:extLst>
          </p:cNvPr>
          <p:cNvGrpSpPr/>
          <p:nvPr/>
        </p:nvGrpSpPr>
        <p:grpSpPr>
          <a:xfrm>
            <a:off x="7590609" y="3495280"/>
            <a:ext cx="857927" cy="463326"/>
            <a:chOff x="7344251" y="4306496"/>
            <a:chExt cx="857927" cy="463332"/>
          </a:xfrm>
        </p:grpSpPr>
        <p:cxnSp>
          <p:nvCxnSpPr>
            <p:cNvPr id="28" name="Connecteur droit avec flèche 27">
              <a:extLst>
                <a:ext uri="{FF2B5EF4-FFF2-40B4-BE49-F238E27FC236}">
                  <a16:creationId xmlns:a16="http://schemas.microsoft.com/office/drawing/2014/main" id="{CD67E33F-FF07-BB4E-9FBC-D9B60CD0EE35}"/>
                </a:ext>
              </a:extLst>
            </p:cNvPr>
            <p:cNvCxnSpPr>
              <a:cxnSpLocks/>
            </p:cNvCxnSpPr>
            <p:nvPr/>
          </p:nvCxnSpPr>
          <p:spPr>
            <a:xfrm>
              <a:off x="7392074" y="4634176"/>
              <a:ext cx="0" cy="1356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5151E7E-54F3-6F4A-A642-A3DBFE4ECCCE}"/>
                </a:ext>
              </a:extLst>
            </p:cNvPr>
            <p:cNvSpPr/>
            <p:nvPr/>
          </p:nvSpPr>
          <p:spPr>
            <a:xfrm>
              <a:off x="7344251" y="4306496"/>
              <a:ext cx="857927" cy="422108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getY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F0EF0335-20E1-E64E-9FC8-C036CC1849ED}"/>
              </a:ext>
            </a:extLst>
          </p:cNvPr>
          <p:cNvGrpSpPr/>
          <p:nvPr/>
        </p:nvGrpSpPr>
        <p:grpSpPr>
          <a:xfrm>
            <a:off x="6343753" y="3930717"/>
            <a:ext cx="857927" cy="439070"/>
            <a:chOff x="6097395" y="4741933"/>
            <a:chExt cx="857927" cy="439070"/>
          </a:xfrm>
        </p:grpSpPr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B62703BF-CF8B-FF4B-9642-DC646473E893}"/>
                </a:ext>
              </a:extLst>
            </p:cNvPr>
            <p:cNvCxnSpPr>
              <a:cxnSpLocks/>
            </p:cNvCxnSpPr>
            <p:nvPr/>
          </p:nvCxnSpPr>
          <p:spPr>
            <a:xfrm>
              <a:off x="6635469" y="4741933"/>
              <a:ext cx="15374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F554ED-BE6E-AB41-B42A-42DCF23BCCF9}"/>
                </a:ext>
              </a:extLst>
            </p:cNvPr>
            <p:cNvSpPr/>
            <p:nvPr/>
          </p:nvSpPr>
          <p:spPr>
            <a:xfrm>
              <a:off x="6097395" y="4758900"/>
              <a:ext cx="857927" cy="422103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getX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F1E52B77-15FE-2046-9392-FE930E5862C8}"/>
              </a:ext>
            </a:extLst>
          </p:cNvPr>
          <p:cNvGrpSpPr/>
          <p:nvPr/>
        </p:nvGrpSpPr>
        <p:grpSpPr>
          <a:xfrm>
            <a:off x="7446573" y="2490335"/>
            <a:ext cx="1581548" cy="1468259"/>
            <a:chOff x="7181681" y="3301550"/>
            <a:chExt cx="1581548" cy="1468278"/>
          </a:xfrm>
        </p:grpSpPr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03CB9DC6-A816-D94A-9708-31818791D059}"/>
                </a:ext>
              </a:extLst>
            </p:cNvPr>
            <p:cNvCxnSpPr>
              <a:cxnSpLocks/>
            </p:cNvCxnSpPr>
            <p:nvPr/>
          </p:nvCxnSpPr>
          <p:spPr>
            <a:xfrm>
              <a:off x="7181681" y="3301550"/>
              <a:ext cx="0" cy="14682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C724563-17F2-614B-A478-5E0520211F84}"/>
                </a:ext>
              </a:extLst>
            </p:cNvPr>
            <p:cNvSpPr/>
            <p:nvPr/>
          </p:nvSpPr>
          <p:spPr>
            <a:xfrm>
              <a:off x="7344251" y="3699593"/>
              <a:ext cx="1418978" cy="422108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getSceneY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2C350E19-CF02-9541-BE0A-91D995816946}"/>
              </a:ext>
            </a:extLst>
          </p:cNvPr>
          <p:cNvGrpSpPr/>
          <p:nvPr/>
        </p:nvGrpSpPr>
        <p:grpSpPr>
          <a:xfrm>
            <a:off x="7177186" y="1487348"/>
            <a:ext cx="1944611" cy="2471233"/>
            <a:chOff x="6930828" y="2298563"/>
            <a:chExt cx="1944611" cy="2471265"/>
          </a:xfrm>
        </p:grpSpPr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0CBF10D9-3FD3-8F44-BC37-7AB12D761DC6}"/>
                </a:ext>
              </a:extLst>
            </p:cNvPr>
            <p:cNvCxnSpPr>
              <a:cxnSpLocks/>
            </p:cNvCxnSpPr>
            <p:nvPr/>
          </p:nvCxnSpPr>
          <p:spPr>
            <a:xfrm>
              <a:off x="6930828" y="2298563"/>
              <a:ext cx="0" cy="247126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5C6D0E9-9DF2-584C-A6D7-39E225AE15FA}"/>
                </a:ext>
              </a:extLst>
            </p:cNvPr>
            <p:cNvSpPr/>
            <p:nvPr/>
          </p:nvSpPr>
          <p:spPr>
            <a:xfrm>
              <a:off x="7344251" y="2582892"/>
              <a:ext cx="1531188" cy="422108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getScreenY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08C2EBA7-BC5F-8941-BF90-340056AD59B1}"/>
              </a:ext>
            </a:extLst>
          </p:cNvPr>
          <p:cNvGrpSpPr/>
          <p:nvPr/>
        </p:nvGrpSpPr>
        <p:grpSpPr>
          <a:xfrm>
            <a:off x="4094509" y="3244427"/>
            <a:ext cx="2953593" cy="422103"/>
            <a:chOff x="3835625" y="4055642"/>
            <a:chExt cx="2953593" cy="422103"/>
          </a:xfrm>
        </p:grpSpPr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CA54629E-1EF5-DE47-82B7-7454BAFFB19D}"/>
                </a:ext>
              </a:extLst>
            </p:cNvPr>
            <p:cNvCxnSpPr>
              <a:cxnSpLocks/>
            </p:cNvCxnSpPr>
            <p:nvPr/>
          </p:nvCxnSpPr>
          <p:spPr>
            <a:xfrm>
              <a:off x="3835625" y="4102662"/>
              <a:ext cx="295359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AAAE040-2C91-8441-89F1-634ECD41A286}"/>
                </a:ext>
              </a:extLst>
            </p:cNvPr>
            <p:cNvSpPr/>
            <p:nvPr/>
          </p:nvSpPr>
          <p:spPr>
            <a:xfrm>
              <a:off x="4792559" y="4055642"/>
              <a:ext cx="1418978" cy="422103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getSceneX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84FEA840-D13E-AB4A-A6C9-5DFD8879AE88}"/>
              </a:ext>
            </a:extLst>
          </p:cNvPr>
          <p:cNvGrpSpPr/>
          <p:nvPr/>
        </p:nvGrpSpPr>
        <p:grpSpPr>
          <a:xfrm>
            <a:off x="2560679" y="1706940"/>
            <a:ext cx="4474896" cy="422103"/>
            <a:chOff x="2314322" y="2518155"/>
            <a:chExt cx="4474896" cy="422103"/>
          </a:xfrm>
        </p:grpSpPr>
        <p:cxnSp>
          <p:nvCxnSpPr>
            <p:cNvPr id="5" name="Connecteur droit avec flèche 4">
              <a:extLst>
                <a:ext uri="{FF2B5EF4-FFF2-40B4-BE49-F238E27FC236}">
                  <a16:creationId xmlns:a16="http://schemas.microsoft.com/office/drawing/2014/main" id="{60D7C6AA-B013-0347-B25C-461269509E40}"/>
                </a:ext>
              </a:extLst>
            </p:cNvPr>
            <p:cNvCxnSpPr/>
            <p:nvPr/>
          </p:nvCxnSpPr>
          <p:spPr>
            <a:xfrm>
              <a:off x="2314322" y="2621819"/>
              <a:ext cx="447489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4897EE-E006-154E-BC4F-BB4E251EA2A1}"/>
                </a:ext>
              </a:extLst>
            </p:cNvPr>
            <p:cNvSpPr/>
            <p:nvPr/>
          </p:nvSpPr>
          <p:spPr>
            <a:xfrm>
              <a:off x="3594937" y="2518155"/>
              <a:ext cx="1531188" cy="422103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6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getScreenX</a:t>
              </a:r>
              <a:r>
                <a:rPr lang="fr-FR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  <p:sp>
        <p:nvSpPr>
          <p:cNvPr id="44" name="Ellipse 43">
            <a:extLst>
              <a:ext uri="{FF2B5EF4-FFF2-40B4-BE49-F238E27FC236}">
                <a16:creationId xmlns:a16="http://schemas.microsoft.com/office/drawing/2014/main" id="{153C26BC-3FEC-164E-8FFC-2E4E7AB67309}"/>
              </a:ext>
            </a:extLst>
          </p:cNvPr>
          <p:cNvSpPr/>
          <p:nvPr/>
        </p:nvSpPr>
        <p:spPr>
          <a:xfrm>
            <a:off x="7048674" y="3893139"/>
            <a:ext cx="36000" cy="36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2C8F5C1-8330-20B2-BDCA-F13236FFA9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0247" y="87853"/>
            <a:ext cx="3148189" cy="137160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1100503-FBB8-C10D-9EBB-42EF45CB5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35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Gestionnaire d’événement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 </a:t>
            </a:r>
            <a:r>
              <a:rPr lang="fr-FR" dirty="0">
                <a:solidFill>
                  <a:schemeClr val="accent4"/>
                </a:solidFill>
              </a:rPr>
              <a:t>gestionnaire d’événement</a:t>
            </a:r>
            <a:r>
              <a:rPr lang="fr-FR" dirty="0"/>
              <a:t> 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Event&gt;</a:t>
            </a:r>
            <a:r>
              <a:rPr lang="fr-FR" dirty="0"/>
              <a:t>) va effectuer un traitement via sa méthode unique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dirty="0"/>
              <a:t>. </a:t>
            </a:r>
          </a:p>
          <a:p>
            <a:pPr marL="0" indent="0">
              <a:buNone/>
            </a:pPr>
            <a:r>
              <a:rPr lang="fr-FR" dirty="0"/>
              <a:t>Il reçoit, via l’événement, une référence vers l’objet sur lequel l’événement s’est produit.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Certains événements (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dirty="0"/>
              <a:t>) fournissent des informations complémentaires, comme par exemple le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MouseEvent</a:t>
            </a:r>
            <a:r>
              <a:rPr lang="fr-FR" dirty="0"/>
              <a:t> qui fournit des informations sur le nombre de clicks, le bouton enfoncé, etc…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1BCF48-170A-3BFC-AB00-762812A74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143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Gestionnaire d’événement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8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dirty="0"/>
              <a:t> est défini dans le package </a:t>
            </a:r>
            <a:r>
              <a:rPr lang="fr-FR" dirty="0" err="1"/>
              <a:t>javafx.event</a:t>
            </a:r>
            <a:r>
              <a:rPr lang="fr-FR" dirty="0"/>
              <a:t>. </a:t>
            </a:r>
          </a:p>
          <a:p>
            <a:pPr marL="0" indent="0">
              <a:buNone/>
            </a:pPr>
            <a:r>
              <a:rPr lang="fr-FR" dirty="0"/>
              <a:t>En consultant la </a:t>
            </a:r>
            <a:r>
              <a:rPr lang="fr-FR" dirty="0" err="1"/>
              <a:t>javadoc</a:t>
            </a:r>
            <a:r>
              <a:rPr lang="fr-FR" dirty="0"/>
              <a:t>, vous verrez que l’interface générique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Event&gt;</a:t>
            </a:r>
            <a:r>
              <a:rPr lang="fr-FR" dirty="0"/>
              <a:t> présente une seule méthode: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dirty="0"/>
              <a:t>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4214CC-10DA-AA46-B26F-3B3317CB52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7200" y="3861606"/>
            <a:ext cx="5859821" cy="9964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7CA4748A-6B66-0517-15B4-CBFCD4788B9F}"/>
              </a:ext>
            </a:extLst>
          </p:cNvPr>
          <p:cNvSpPr txBox="1">
            <a:spLocks/>
          </p:cNvSpPr>
          <p:nvPr/>
        </p:nvSpPr>
        <p:spPr>
          <a:xfrm>
            <a:off x="838200" y="5105853"/>
            <a:ext cx="10515600" cy="996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C’est donc une interface fonctionnelle, et sa méthode reçoit des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599A47-62CF-7783-9A3E-5BEE0B368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57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Gestionnaire d’événement façon 1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3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Vous pouvez donc, pour gérer ce qui se passe lors du clic sur un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sz="2400" dirty="0"/>
              <a:t>, créer une classe qui implémente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endParaRPr lang="fr-FR" sz="2400" dirty="0"/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04AE625-9AE8-1A61-5EB8-F4166DC1831E}"/>
              </a:ext>
            </a:extLst>
          </p:cNvPr>
          <p:cNvSpPr txBox="1">
            <a:spLocks/>
          </p:cNvSpPr>
          <p:nvPr/>
        </p:nvSpPr>
        <p:spPr>
          <a:xfrm>
            <a:off x="838200" y="4740095"/>
            <a:ext cx="10515600" cy="1033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Ensuite, sur votre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sz="2400" dirty="0"/>
              <a:t>, appeler la méthode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setOnAction</a:t>
            </a:r>
            <a:r>
              <a:rPr lang="fr-FR" sz="2400" dirty="0"/>
              <a:t> et lui passer votre objet.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AACD38F-1239-74AF-84E2-4EB04DEF67D3}"/>
              </a:ext>
            </a:extLst>
          </p:cNvPr>
          <p:cNvSpPr txBox="1"/>
          <p:nvPr/>
        </p:nvSpPr>
        <p:spPr>
          <a:xfrm>
            <a:off x="2367280" y="2595404"/>
            <a:ext cx="7680959" cy="203132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MonGestionnaireDeButton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ae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Classique"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F670927-37FF-9755-FDEF-48E2791F3715}"/>
              </a:ext>
            </a:extLst>
          </p:cNvPr>
          <p:cNvSpPr txBox="1"/>
          <p:nvPr/>
        </p:nvSpPr>
        <p:spPr>
          <a:xfrm>
            <a:off x="2367280" y="5240999"/>
            <a:ext cx="7680958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MonGestionnaireDeButton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F0E32C-143A-93CD-4313-75CE3EBA6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98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Gestionnaire d’événement façon 2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6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défaut de cette façon de travailler est qu’il vous faut créer une classe par gestionnaire de bouton… Pas très pratique.</a:t>
            </a:r>
          </a:p>
          <a:p>
            <a:pPr marL="0" indent="0">
              <a:buNone/>
            </a:pPr>
            <a:r>
              <a:rPr lang="fr-FR" sz="2400" dirty="0"/>
              <a:t>Avant Java 8, on avait pris l’habitude de travailler avec des classes anonymes: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757DE4-9E2C-A22D-A56B-E26D0A6FD85F}"/>
              </a:ext>
            </a:extLst>
          </p:cNvPr>
          <p:cNvSpPr txBox="1"/>
          <p:nvPr/>
        </p:nvSpPr>
        <p:spPr>
          <a:xfrm>
            <a:off x="2250440" y="3144520"/>
            <a:ext cx="7691120" cy="230832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&gt;()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Anonyme"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DE21FA16-DA5B-46DB-A34D-512A18FBE382}"/>
              </a:ext>
            </a:extLst>
          </p:cNvPr>
          <p:cNvSpPr txBox="1">
            <a:spLocks/>
          </p:cNvSpPr>
          <p:nvPr/>
        </p:nvSpPr>
        <p:spPr>
          <a:xfrm>
            <a:off x="838200" y="5474931"/>
            <a:ext cx="10515600" cy="571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Mais cela reste encore assez peu lisible…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6DA3A21-3682-F080-1048-29F292A11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FC8B3FE7-03B5-3041-F829-2804FBCDDA9B}"/>
              </a:ext>
            </a:extLst>
          </p:cNvPr>
          <p:cNvSpPr/>
          <p:nvPr/>
        </p:nvSpPr>
        <p:spPr>
          <a:xfrm>
            <a:off x="2166730" y="3558209"/>
            <a:ext cx="7384774" cy="1928191"/>
          </a:xfrm>
          <a:custGeom>
            <a:avLst/>
            <a:gdLst>
              <a:gd name="csX0" fmla="*/ 1918253 w 7384774"/>
              <a:gd name="csY0" fmla="*/ 139148 h 1928191"/>
              <a:gd name="csX1" fmla="*/ 1898374 w 7384774"/>
              <a:gd name="csY1" fmla="*/ 496956 h 1928191"/>
              <a:gd name="csX2" fmla="*/ 0 w 7384774"/>
              <a:gd name="csY2" fmla="*/ 496956 h 1928191"/>
              <a:gd name="csX3" fmla="*/ 0 w 7384774"/>
              <a:gd name="csY3" fmla="*/ 1928191 h 1928191"/>
              <a:gd name="csX4" fmla="*/ 308113 w 7384774"/>
              <a:gd name="csY4" fmla="*/ 1928191 h 1928191"/>
              <a:gd name="csX5" fmla="*/ 308113 w 7384774"/>
              <a:gd name="csY5" fmla="*/ 1490869 h 1928191"/>
              <a:gd name="csX6" fmla="*/ 7384774 w 7384774"/>
              <a:gd name="csY6" fmla="*/ 1490869 h 1928191"/>
              <a:gd name="csX7" fmla="*/ 7384774 w 7384774"/>
              <a:gd name="csY7" fmla="*/ 0 h 1928191"/>
              <a:gd name="csX8" fmla="*/ 7265505 w 7384774"/>
              <a:gd name="csY8" fmla="*/ 0 h 1928191"/>
              <a:gd name="csX0" fmla="*/ 1918253 w 7384774"/>
              <a:gd name="csY0" fmla="*/ 139148 h 1928191"/>
              <a:gd name="csX1" fmla="*/ 1898374 w 7384774"/>
              <a:gd name="csY1" fmla="*/ 496956 h 1928191"/>
              <a:gd name="csX2" fmla="*/ 0 w 7384774"/>
              <a:gd name="csY2" fmla="*/ 496956 h 1928191"/>
              <a:gd name="csX3" fmla="*/ 0 w 7384774"/>
              <a:gd name="csY3" fmla="*/ 1928191 h 1928191"/>
              <a:gd name="csX4" fmla="*/ 308113 w 7384774"/>
              <a:gd name="csY4" fmla="*/ 1928191 h 1928191"/>
              <a:gd name="csX5" fmla="*/ 308113 w 7384774"/>
              <a:gd name="csY5" fmla="*/ 1490869 h 1928191"/>
              <a:gd name="csX6" fmla="*/ 7384774 w 7384774"/>
              <a:gd name="csY6" fmla="*/ 1490869 h 1928191"/>
              <a:gd name="csX7" fmla="*/ 7384774 w 7384774"/>
              <a:gd name="csY7" fmla="*/ 0 h 1928191"/>
              <a:gd name="csX8" fmla="*/ 1928192 w 7384774"/>
              <a:gd name="csY8" fmla="*/ 9939 h 1928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84774" h="1928191">
                <a:moveTo>
                  <a:pt x="1918253" y="139148"/>
                </a:moveTo>
                <a:lnTo>
                  <a:pt x="1898374" y="496956"/>
                </a:lnTo>
                <a:lnTo>
                  <a:pt x="0" y="496956"/>
                </a:lnTo>
                <a:lnTo>
                  <a:pt x="0" y="1928191"/>
                </a:lnTo>
                <a:lnTo>
                  <a:pt x="308113" y="1928191"/>
                </a:lnTo>
                <a:lnTo>
                  <a:pt x="308113" y="1490869"/>
                </a:lnTo>
                <a:lnTo>
                  <a:pt x="7384774" y="1490869"/>
                </a:lnTo>
                <a:lnTo>
                  <a:pt x="7384774" y="0"/>
                </a:lnTo>
                <a:lnTo>
                  <a:pt x="1928192" y="9939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90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Gestionnaire d’événement façon 3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Une solution plus lisible est rendue possible par le fait 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dirty="0"/>
              <a:t> est une interface fonctionnelle (elle a une seule méthode publique non héritée).</a:t>
            </a:r>
          </a:p>
          <a:p>
            <a:pPr marL="0" indent="0">
              <a:buNone/>
            </a:pPr>
            <a:r>
              <a:rPr lang="fr-FR" dirty="0"/>
              <a:t>On peut donc encore raccourcir et écrire: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48C6B1-B9AA-BD82-2372-102676E83C2B}"/>
              </a:ext>
            </a:extLst>
          </p:cNvPr>
          <p:cNvSpPr txBox="1"/>
          <p:nvPr/>
        </p:nvSpPr>
        <p:spPr>
          <a:xfrm>
            <a:off x="1940560" y="3881735"/>
            <a:ext cx="7985760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((e) -&gt;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Fonctionnel"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CD3EEA-496F-38D7-340B-263674BA4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32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Gestionnaire d’événement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9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avons donc vu trois manières d’implémenter l’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2AC40AE-B5CC-D74D-A49A-D4FDE5CA111E}"/>
              </a:ext>
            </a:extLst>
          </p:cNvPr>
          <p:cNvSpPr txBox="1"/>
          <p:nvPr/>
        </p:nvSpPr>
        <p:spPr>
          <a:xfrm>
            <a:off x="1380625" y="4518314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Une classe spécifique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B659656-8E44-D84B-9D70-BCDAAAFBCB2F}"/>
              </a:ext>
            </a:extLst>
          </p:cNvPr>
          <p:cNvSpPr txBox="1"/>
          <p:nvPr/>
        </p:nvSpPr>
        <p:spPr>
          <a:xfrm>
            <a:off x="9593670" y="2970386"/>
            <a:ext cx="1704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Une classe anonyme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43EE7A-FEAC-8A4B-8A46-BEBFF0F5D1F1}"/>
              </a:ext>
            </a:extLst>
          </p:cNvPr>
          <p:cNvSpPr txBox="1"/>
          <p:nvPr/>
        </p:nvSpPr>
        <p:spPr>
          <a:xfrm>
            <a:off x="8378028" y="6004027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Une expression lambda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DA2C5D7-9868-9436-248E-1874FC483B04}"/>
              </a:ext>
            </a:extLst>
          </p:cNvPr>
          <p:cNvSpPr txBox="1"/>
          <p:nvPr/>
        </p:nvSpPr>
        <p:spPr>
          <a:xfrm>
            <a:off x="1127760" y="2379076"/>
            <a:ext cx="4821019" cy="138499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MonGestionnaireDeButton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1200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ae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2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Classique"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fr-FR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E807152-7FE9-D564-695B-E96FB83D75F7}"/>
              </a:ext>
            </a:extLst>
          </p:cNvPr>
          <p:cNvSpPr txBox="1"/>
          <p:nvPr/>
        </p:nvSpPr>
        <p:spPr>
          <a:xfrm>
            <a:off x="1127760" y="3844750"/>
            <a:ext cx="4821018" cy="646331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MonGestionnaireDeButton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9820E8D-7A49-574A-A4D4-AF3A3735CE3A}"/>
              </a:ext>
            </a:extLst>
          </p:cNvPr>
          <p:cNvSpPr txBox="1"/>
          <p:nvPr/>
        </p:nvSpPr>
        <p:spPr>
          <a:xfrm>
            <a:off x="6675344" y="3334620"/>
            <a:ext cx="4806564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&gt;() {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1200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b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2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Anonyme"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})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538496-2DC6-E243-5FEE-8CFF891A4852}"/>
              </a:ext>
            </a:extLst>
          </p:cNvPr>
          <p:cNvSpPr txBox="1"/>
          <p:nvPr/>
        </p:nvSpPr>
        <p:spPr>
          <a:xfrm>
            <a:off x="5516880" y="5336881"/>
            <a:ext cx="5466080" cy="646331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 b = 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b.setOnAction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((e) -&gt; 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2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Fonctionnel"</a:t>
            </a:r>
            <a: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F6C8F39-2BBF-90A0-84CB-D44B413A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01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104900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Enregistrer et désenregistrer un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fr-FR" sz="4400" cap="none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vent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fr-FR" sz="4400" cap="none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andler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637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fr-BE" dirty="0"/>
              <a:t>Nous venons de voir les méthodes de type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setOnXXX</a:t>
            </a:r>
            <a:r>
              <a:rPr lang="fr-BE" dirty="0"/>
              <a:t> qui permettent de déclarer l’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/>
              <a:t> d’un événement spécifique:</a:t>
            </a:r>
            <a:endParaRPr lang="fr-BE" sz="1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B9818A-DA87-0596-EAF7-11A75FF3072D}"/>
              </a:ext>
            </a:extLst>
          </p:cNvPr>
          <p:cNvSpPr txBox="1"/>
          <p:nvPr/>
        </p:nvSpPr>
        <p:spPr>
          <a:xfrm>
            <a:off x="2479040" y="2861995"/>
            <a:ext cx="8067040" cy="40011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button.setOnAction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(e -&gt;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"Button!"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94C1F325-1CB1-1431-C61F-E40EA8A221FE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80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fr-BE" dirty="0"/>
              <a:t>Ces méthodes appelées </a:t>
            </a:r>
            <a:r>
              <a:rPr lang="fr-BE" i="1" dirty="0"/>
              <a:t>méthodes de commodité </a:t>
            </a:r>
            <a:r>
              <a:rPr lang="fr-BE" dirty="0"/>
              <a:t>sont un moyen rapide d’ajouter un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/>
              <a:t>, mais la classe 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</a:t>
            </a:r>
            <a:r>
              <a:rPr lang="fr-BE" dirty="0"/>
              <a:t> (qui est la classe mère de tous les ‘composants’) présente aussi d’autres manières d’ajouter des gestionnaires d’événements à un nœud </a:t>
            </a:r>
            <a:r>
              <a:rPr lang="fr-BE" dirty="0" err="1"/>
              <a:t>JavaFX</a:t>
            </a:r>
            <a:r>
              <a:rPr lang="fr-BE" dirty="0"/>
              <a:t>…</a:t>
            </a:r>
            <a:endParaRPr lang="fr-BE" sz="1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6DD16BA-78D9-E9CF-7056-F151BBD88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828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1070771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Enregistrer et désenregistrer un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fr-FR" sz="4400" cap="none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vent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fr-FR" sz="4400" cap="none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andler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fr-BE" sz="2400" dirty="0"/>
              <a:t>La classe 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</a:t>
            </a:r>
            <a:r>
              <a:rPr lang="fr-BE" sz="2400" dirty="0"/>
              <a:t> présente donc les méthodes suivantes:</a:t>
            </a:r>
          </a:p>
          <a:p>
            <a:pPr marL="457200" lvl="1" indent="0" fontAlgn="base">
              <a:buNone/>
            </a:pP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setEventHandler</a:t>
            </a:r>
            <a:endParaRPr lang="fr-BE" sz="2200" dirty="0">
              <a:solidFill>
                <a:schemeClr val="accent4"/>
              </a:solidFill>
            </a:endParaRPr>
          </a:p>
          <a:p>
            <a:pPr marL="457200" lvl="1" indent="0" fontAlgn="base">
              <a:buNone/>
            </a:pP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addEventHandler</a:t>
            </a:r>
            <a:endParaRPr lang="fr-BE" sz="2200" dirty="0">
              <a:solidFill>
                <a:schemeClr val="accent4"/>
              </a:solidFill>
            </a:endParaRPr>
          </a:p>
          <a:p>
            <a:pPr marL="457200" lvl="1" indent="0" fontAlgn="base">
              <a:buNone/>
            </a:pP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removeEventHandler</a:t>
            </a:r>
            <a:r>
              <a:rPr lang="fr-BE" sz="2200" dirty="0">
                <a:solidFill>
                  <a:schemeClr val="accent4"/>
                </a:solidFill>
              </a:rPr>
              <a:t> </a:t>
            </a:r>
          </a:p>
          <a:p>
            <a:pPr marL="0" indent="0" fontAlgn="base">
              <a:buNone/>
            </a:pPr>
            <a:r>
              <a:rPr lang="fr-BE" sz="2400" dirty="0"/>
              <a:t>Qui ont toutes pour signature:</a:t>
            </a:r>
            <a:endParaRPr lang="fr-BE" dirty="0"/>
          </a:p>
          <a:p>
            <a:pPr marL="0" indent="0" algn="ctr" fontAlgn="base">
              <a:buNone/>
            </a:pP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EventType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fr-BE" sz="2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eventType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 super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fr-BE" sz="2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fr-BE" sz="2200" dirty="0">
              <a:solidFill>
                <a:schemeClr val="accent4"/>
              </a:solidFill>
            </a:endParaRPr>
          </a:p>
          <a:p>
            <a:pPr marL="0" indent="0" fontAlgn="base">
              <a:buNone/>
            </a:pPr>
            <a:endParaRPr lang="fr-BE" sz="1800" dirty="0"/>
          </a:p>
          <a:p>
            <a:pPr marL="0" indent="0" fontAlgn="base">
              <a:buNone/>
            </a:pPr>
            <a:r>
              <a:rPr lang="fr-BE" sz="2400" dirty="0"/>
              <a:t>Par exemple:</a:t>
            </a:r>
            <a:br>
              <a:rPr lang="fr-BE" sz="1800" dirty="0"/>
            </a:br>
            <a:r>
              <a:rPr lang="fr-BE" sz="1800" dirty="0"/>
              <a:t>   </a:t>
            </a:r>
            <a:r>
              <a:rPr lang="fr-BE" sz="2000" dirty="0"/>
              <a:t>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scene.addEventHandler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MouseEvent.MOUSE_CLICKED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(</a:t>
            </a:r>
            <a:r>
              <a:rPr lang="fr-BE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 -&gt; </a:t>
            </a:r>
            <a:r>
              <a:rPr lang="fr-BE" sz="2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BE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("Click!")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</p:txBody>
      </p:sp>
      <p:sp>
        <p:nvSpPr>
          <p:cNvPr id="10" name="Bulle rectangulaire 9">
            <a:extLst>
              <a:ext uri="{FF2B5EF4-FFF2-40B4-BE49-F238E27FC236}">
                <a16:creationId xmlns:a16="http://schemas.microsoft.com/office/drawing/2014/main" id="{E22AC73D-3BA1-BBC7-D531-A2B4F6676906}"/>
              </a:ext>
            </a:extLst>
          </p:cNvPr>
          <p:cNvSpPr/>
          <p:nvPr/>
        </p:nvSpPr>
        <p:spPr>
          <a:xfrm>
            <a:off x="3855045" y="4302629"/>
            <a:ext cx="2186111" cy="369332"/>
          </a:xfrm>
          <a:prstGeom prst="wedgeRectCallout">
            <a:avLst>
              <a:gd name="adj1" fmla="val -22616"/>
              <a:gd name="adj2" fmla="val -80857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dirty="0"/>
              <a:t>Le type d’événement</a:t>
            </a:r>
          </a:p>
        </p:txBody>
      </p:sp>
      <p:sp>
        <p:nvSpPr>
          <p:cNvPr id="11" name="Bulle rectangulaire 10">
            <a:extLst>
              <a:ext uri="{FF2B5EF4-FFF2-40B4-BE49-F238E27FC236}">
                <a16:creationId xmlns:a16="http://schemas.microsoft.com/office/drawing/2014/main" id="{B6781E8D-9BA2-2F00-F939-F60690C5CBA6}"/>
              </a:ext>
            </a:extLst>
          </p:cNvPr>
          <p:cNvSpPr/>
          <p:nvPr/>
        </p:nvSpPr>
        <p:spPr>
          <a:xfrm>
            <a:off x="7585164" y="4302629"/>
            <a:ext cx="2947538" cy="369332"/>
          </a:xfrm>
          <a:prstGeom prst="wedgeRectCallout">
            <a:avLst>
              <a:gd name="adj1" fmla="val 19181"/>
              <a:gd name="adj2" fmla="val -77026"/>
            </a:avLst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fr-FR" dirty="0"/>
              <a:t>Le gestionnaire d’événement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D124EB-CAD2-F15D-0BCB-0E7C123A7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08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303"/>
            <a:ext cx="10515600" cy="1325563"/>
          </a:xfrm>
        </p:spPr>
        <p:txBody>
          <a:bodyPr/>
          <a:lstStyle/>
          <a:p>
            <a:r>
              <a:rPr lang="fr-FR" dirty="0"/>
              <a:t>La propagation des </a:t>
            </a:r>
            <a:r>
              <a:rPr lang="fr-FR" dirty="0" err="1"/>
              <a:t>evenements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C4C52-7F42-2E4E-A436-82763CA856C4}"/>
              </a:ext>
            </a:extLst>
          </p:cNvPr>
          <p:cNvSpPr/>
          <p:nvPr/>
        </p:nvSpPr>
        <p:spPr>
          <a:xfrm>
            <a:off x="1981200" y="5968954"/>
            <a:ext cx="85237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i="1" dirty="0"/>
              <a:t>Source: </a:t>
            </a:r>
            <a:r>
              <a:rPr lang="fr-FR" sz="1200" i="1" dirty="0">
                <a:hlinkClick r:id="rId2"/>
              </a:rPr>
              <a:t>https://stackoverflow.com/questions/25740103/javafx-what-is-the-difference-between-eventhandler-and-eventfilter</a:t>
            </a:r>
            <a:endParaRPr lang="fr-FR" sz="1200" i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3E26F97-7D94-2143-B907-8C837FC3BD12}"/>
              </a:ext>
            </a:extLst>
          </p:cNvPr>
          <p:cNvGrpSpPr/>
          <p:nvPr/>
        </p:nvGrpSpPr>
        <p:grpSpPr>
          <a:xfrm>
            <a:off x="3603171" y="1759076"/>
            <a:ext cx="4005944" cy="3151241"/>
            <a:chOff x="1665513" y="1772829"/>
            <a:chExt cx="5018314" cy="3947613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C164CF95-3D0A-8A47-BFBE-C85F0D5C7FB6}"/>
                </a:ext>
              </a:extLst>
            </p:cNvPr>
            <p:cNvSpPr/>
            <p:nvPr/>
          </p:nvSpPr>
          <p:spPr>
            <a:xfrm>
              <a:off x="3287485" y="1772829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91234DF-841B-7F4F-A6FC-A0BFED02FBC3}"/>
                </a:ext>
              </a:extLst>
            </p:cNvPr>
            <p:cNvSpPr/>
            <p:nvPr/>
          </p:nvSpPr>
          <p:spPr>
            <a:xfrm>
              <a:off x="3287485" y="2645047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Scene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E81C4B6-1051-9B4E-8ECB-EDCA0F0A503B}"/>
                </a:ext>
              </a:extLst>
            </p:cNvPr>
            <p:cNvSpPr/>
            <p:nvPr/>
          </p:nvSpPr>
          <p:spPr>
            <a:xfrm>
              <a:off x="3287485" y="3517265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BorderPane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4D5A57C-C4A8-4745-9AB0-31AF2357FCAB}"/>
                </a:ext>
              </a:extLst>
            </p:cNvPr>
            <p:cNvSpPr/>
            <p:nvPr/>
          </p:nvSpPr>
          <p:spPr>
            <a:xfrm>
              <a:off x="3287485" y="4389483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Pane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6BE3D6E-E636-DA41-8D9F-1AA64F0F6F00}"/>
                </a:ext>
              </a:extLst>
            </p:cNvPr>
            <p:cNvSpPr/>
            <p:nvPr/>
          </p:nvSpPr>
          <p:spPr>
            <a:xfrm>
              <a:off x="1665513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Rectangle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71EC6A08-A8AF-3746-8A0C-EBE27F43EC0C}"/>
                </a:ext>
              </a:extLst>
            </p:cNvPr>
            <p:cNvSpPr/>
            <p:nvPr/>
          </p:nvSpPr>
          <p:spPr>
            <a:xfrm>
              <a:off x="4855027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Circle</a:t>
              </a:r>
            </a:p>
          </p:txBody>
        </p:sp>
      </p:grpSp>
      <p:sp>
        <p:nvSpPr>
          <p:cNvPr id="14" name="Terminaison 13">
            <a:extLst>
              <a:ext uri="{FF2B5EF4-FFF2-40B4-BE49-F238E27FC236}">
                <a16:creationId xmlns:a16="http://schemas.microsoft.com/office/drawing/2014/main" id="{D4A57323-E62E-D74E-8CCE-D59AB9DA5E4E}"/>
              </a:ext>
            </a:extLst>
          </p:cNvPr>
          <p:cNvSpPr/>
          <p:nvPr/>
        </p:nvSpPr>
        <p:spPr>
          <a:xfrm>
            <a:off x="8414657" y="4474029"/>
            <a:ext cx="1812018" cy="301752"/>
          </a:xfrm>
          <a:prstGeom prst="flowChartTerminator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rminaison 14">
            <a:extLst>
              <a:ext uri="{FF2B5EF4-FFF2-40B4-BE49-F238E27FC236}">
                <a16:creationId xmlns:a16="http://schemas.microsoft.com/office/drawing/2014/main" id="{D03C91D6-B180-FB41-84DB-5CB998525D44}"/>
              </a:ext>
            </a:extLst>
          </p:cNvPr>
          <p:cNvSpPr/>
          <p:nvPr/>
        </p:nvSpPr>
        <p:spPr>
          <a:xfrm>
            <a:off x="8414657" y="4985658"/>
            <a:ext cx="1812018" cy="301752"/>
          </a:xfrm>
          <a:prstGeom prst="flowChartTerminator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BD7D9B6-4181-6D42-A43A-EC0A5AFF0F12}"/>
              </a:ext>
            </a:extLst>
          </p:cNvPr>
          <p:cNvCxnSpPr>
            <a:endCxn id="14" idx="1"/>
          </p:cNvCxnSpPr>
          <p:nvPr/>
        </p:nvCxnSpPr>
        <p:spPr>
          <a:xfrm flipV="1">
            <a:off x="7609115" y="4624905"/>
            <a:ext cx="805542" cy="1023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82DA460-6A02-4941-B33F-B4C0C8D0EA0A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7609115" y="4727218"/>
            <a:ext cx="805542" cy="40931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égende sans bordure 1 20">
            <a:extLst>
              <a:ext uri="{FF2B5EF4-FFF2-40B4-BE49-F238E27FC236}">
                <a16:creationId xmlns:a16="http://schemas.microsoft.com/office/drawing/2014/main" id="{E1F975EF-7275-4E43-97F6-F2E34D4321BD}"/>
              </a:ext>
            </a:extLst>
          </p:cNvPr>
          <p:cNvSpPr/>
          <p:nvPr/>
        </p:nvSpPr>
        <p:spPr>
          <a:xfrm>
            <a:off x="7506154" y="3474626"/>
            <a:ext cx="2095047" cy="301752"/>
          </a:xfrm>
          <a:prstGeom prst="callout1">
            <a:avLst>
              <a:gd name="adj1" fmla="val 98115"/>
              <a:gd name="adj2" fmla="val 19725"/>
              <a:gd name="adj3" fmla="val 372240"/>
              <a:gd name="adj4" fmla="val 25057"/>
            </a:avLst>
          </a:prstGeom>
          <a:noFill/>
          <a:ln w="127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addEventHandler</a:t>
            </a:r>
            <a:endParaRPr lang="fr-FR" sz="1600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596CF2D-3C72-024B-9D14-6B019FC961C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27868" y="2125274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918552C-264B-114B-9486-6A2C5EE70EB4}"/>
              </a:ext>
            </a:extLst>
          </p:cNvPr>
          <p:cNvCxnSpPr>
            <a:cxnSpLocks/>
          </p:cNvCxnSpPr>
          <p:nvPr/>
        </p:nvCxnSpPr>
        <p:spPr>
          <a:xfrm>
            <a:off x="5627868" y="2812309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7C96B72-01CC-6F44-A843-F9F764DE7E1B}"/>
              </a:ext>
            </a:extLst>
          </p:cNvPr>
          <p:cNvCxnSpPr>
            <a:cxnSpLocks/>
          </p:cNvCxnSpPr>
          <p:nvPr/>
        </p:nvCxnSpPr>
        <p:spPr>
          <a:xfrm>
            <a:off x="5627868" y="3519116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9157CA7-6F1D-B34F-8D9F-5A7F4EA69EC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627868" y="4220980"/>
            <a:ext cx="1251315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4CE0640D-ACFF-6244-90AC-66482A5F4CD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333105" y="4220980"/>
            <a:ext cx="1294762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F7DD1873-5835-D249-92B0-385AC4CF8052}"/>
              </a:ext>
            </a:extLst>
          </p:cNvPr>
          <p:cNvGrpSpPr/>
          <p:nvPr/>
        </p:nvGrpSpPr>
        <p:grpSpPr>
          <a:xfrm>
            <a:off x="6564135" y="3855944"/>
            <a:ext cx="1668586" cy="681620"/>
            <a:chOff x="4467540" y="4051953"/>
            <a:chExt cx="3047084" cy="1244741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9C28895-0B76-E743-9340-4830EF9A20BB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38" name="Forme libre 37">
                <a:extLst>
                  <a:ext uri="{FF2B5EF4-FFF2-40B4-BE49-F238E27FC236}">
                    <a16:creationId xmlns:a16="http://schemas.microsoft.com/office/drawing/2014/main" id="{3527E8FC-E1D3-5E43-B392-E1C4A7AC9D4C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42D49A0-6F58-4645-BF54-815FD8F896D1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6049FB0C-BD81-6744-89FA-30B75BAD963B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F666ACC0-FF61-1B46-AEFC-F2F7CF34B73D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0E09215A-89A9-344A-93D3-C254ADE7A6F7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8B72436B-F811-9B48-A13F-974B879A42C9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sp>
        <p:nvSpPr>
          <p:cNvPr id="40" name="Arc 39">
            <a:extLst>
              <a:ext uri="{FF2B5EF4-FFF2-40B4-BE49-F238E27FC236}">
                <a16:creationId xmlns:a16="http://schemas.microsoft.com/office/drawing/2014/main" id="{5AD60BDF-850D-FE45-B327-348190E5546C}"/>
              </a:ext>
            </a:extLst>
          </p:cNvPr>
          <p:cNvSpPr/>
          <p:nvPr/>
        </p:nvSpPr>
        <p:spPr>
          <a:xfrm>
            <a:off x="7982371" y="4043939"/>
            <a:ext cx="924463" cy="632123"/>
          </a:xfrm>
          <a:prstGeom prst="arc">
            <a:avLst>
              <a:gd name="adj1" fmla="val 13490468"/>
              <a:gd name="adj2" fmla="val 21549927"/>
            </a:avLst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8F738D51-4751-6B4B-8CCF-6CC473596C1B}"/>
              </a:ext>
            </a:extLst>
          </p:cNvPr>
          <p:cNvSpPr/>
          <p:nvPr/>
        </p:nvSpPr>
        <p:spPr>
          <a:xfrm rot="1583111">
            <a:off x="7950003" y="4213871"/>
            <a:ext cx="924463" cy="632123"/>
          </a:xfrm>
          <a:prstGeom prst="arc">
            <a:avLst>
              <a:gd name="adj1" fmla="val 13490468"/>
              <a:gd name="adj2" fmla="val 21549927"/>
            </a:avLst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966007-E810-9939-09C7-7953205D3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2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326 -0.33681 C -0.0743 -0.34607 -0.07535 -0.35533 -0.07239 -0.30394 C -0.06944 -0.25232 -0.06875 -0.08357 -0.05573 -0.02778 C -0.04253 0.028 -0.00451 0.01689 0.00625 0.03125 " pathEditMode="fixed" ptsTypes="AAAA">
                                      <p:cBhvr>
                                        <p:cTn id="4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1" grpId="0" animBg="1"/>
      <p:bldP spid="40" grpId="0" animBg="1"/>
      <p:bldP spid="4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fr-FR" sz="4400" cap="none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vent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Filter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C4C52-7F42-2E4E-A436-82763CA856C4}"/>
              </a:ext>
            </a:extLst>
          </p:cNvPr>
          <p:cNvSpPr/>
          <p:nvPr/>
        </p:nvSpPr>
        <p:spPr>
          <a:xfrm>
            <a:off x="2076029" y="5978389"/>
            <a:ext cx="85237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i="1" dirty="0"/>
              <a:t>Source: </a:t>
            </a:r>
            <a:r>
              <a:rPr lang="fr-FR" sz="1200" i="1" dirty="0">
                <a:hlinkClick r:id="rId2"/>
              </a:rPr>
              <a:t>https://stackoverflow.com/questions/25740103/javafx-what-is-the-difference-between-eventhandler-and-eventfilter</a:t>
            </a:r>
            <a:endParaRPr lang="fr-FR" sz="1200" i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3E26F97-7D94-2143-B907-8C837FC3BD12}"/>
              </a:ext>
            </a:extLst>
          </p:cNvPr>
          <p:cNvGrpSpPr/>
          <p:nvPr/>
        </p:nvGrpSpPr>
        <p:grpSpPr>
          <a:xfrm>
            <a:off x="7436208" y="2228470"/>
            <a:ext cx="4005944" cy="3151241"/>
            <a:chOff x="1665513" y="1772829"/>
            <a:chExt cx="5018314" cy="3947613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C164CF95-3D0A-8A47-BFBE-C85F0D5C7FB6}"/>
                </a:ext>
              </a:extLst>
            </p:cNvPr>
            <p:cNvSpPr/>
            <p:nvPr/>
          </p:nvSpPr>
          <p:spPr>
            <a:xfrm>
              <a:off x="3287485" y="1772829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91234DF-841B-7F4F-A6FC-A0BFED02FBC3}"/>
                </a:ext>
              </a:extLst>
            </p:cNvPr>
            <p:cNvSpPr/>
            <p:nvPr/>
          </p:nvSpPr>
          <p:spPr>
            <a:xfrm>
              <a:off x="3287485" y="2645047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Scene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E81C4B6-1051-9B4E-8ECB-EDCA0F0A503B}"/>
                </a:ext>
              </a:extLst>
            </p:cNvPr>
            <p:cNvSpPr/>
            <p:nvPr/>
          </p:nvSpPr>
          <p:spPr>
            <a:xfrm>
              <a:off x="3287485" y="3517265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BorderPane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4D5A57C-C4A8-4745-9AB0-31AF2357FCAB}"/>
                </a:ext>
              </a:extLst>
            </p:cNvPr>
            <p:cNvSpPr/>
            <p:nvPr/>
          </p:nvSpPr>
          <p:spPr>
            <a:xfrm>
              <a:off x="3287485" y="4389483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Pane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6BE3D6E-E636-DA41-8D9F-1AA64F0F6F00}"/>
                </a:ext>
              </a:extLst>
            </p:cNvPr>
            <p:cNvSpPr/>
            <p:nvPr/>
          </p:nvSpPr>
          <p:spPr>
            <a:xfrm>
              <a:off x="1665513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Rectangle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71EC6A08-A8AF-3746-8A0C-EBE27F43EC0C}"/>
                </a:ext>
              </a:extLst>
            </p:cNvPr>
            <p:cNvSpPr/>
            <p:nvPr/>
          </p:nvSpPr>
          <p:spPr>
            <a:xfrm>
              <a:off x="4855027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Circle</a:t>
              </a:r>
            </a:p>
          </p:txBody>
        </p:sp>
      </p:grp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596CF2D-3C72-024B-9D14-6B019FC961C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460905" y="2594668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918552C-264B-114B-9486-6A2C5EE70EB4}"/>
              </a:ext>
            </a:extLst>
          </p:cNvPr>
          <p:cNvCxnSpPr>
            <a:cxnSpLocks/>
          </p:cNvCxnSpPr>
          <p:nvPr/>
        </p:nvCxnSpPr>
        <p:spPr>
          <a:xfrm>
            <a:off x="9460257" y="3303071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7C96B72-01CC-6F44-A843-F9F764DE7E1B}"/>
              </a:ext>
            </a:extLst>
          </p:cNvPr>
          <p:cNvCxnSpPr>
            <a:cxnSpLocks/>
          </p:cNvCxnSpPr>
          <p:nvPr/>
        </p:nvCxnSpPr>
        <p:spPr>
          <a:xfrm>
            <a:off x="9460257" y="3971619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9157CA7-6F1D-B34F-8D9F-5A7F4EA69EC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460905" y="4690374"/>
            <a:ext cx="1251315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4CE0640D-ACFF-6244-90AC-66482A5F4CD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8166142" y="4690374"/>
            <a:ext cx="1294762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rme libre 27">
            <a:extLst>
              <a:ext uri="{FF2B5EF4-FFF2-40B4-BE49-F238E27FC236}">
                <a16:creationId xmlns:a16="http://schemas.microsoft.com/office/drawing/2014/main" id="{7969752A-1A37-984B-BB8A-DAC48DE26395}"/>
              </a:ext>
            </a:extLst>
          </p:cNvPr>
          <p:cNvSpPr/>
          <p:nvPr/>
        </p:nvSpPr>
        <p:spPr>
          <a:xfrm>
            <a:off x="8379263" y="2370040"/>
            <a:ext cx="2263861" cy="2532432"/>
          </a:xfrm>
          <a:custGeom>
            <a:avLst/>
            <a:gdLst>
              <a:gd name="connsiteX0" fmla="*/ 1733 w 2267175"/>
              <a:gd name="connsiteY0" fmla="*/ 32657 h 2531888"/>
              <a:gd name="connsiteX1" fmla="*/ 269521 w 2267175"/>
              <a:gd name="connsiteY1" fmla="*/ 2201091 h 2531888"/>
              <a:gd name="connsiteX2" fmla="*/ 1680310 w 2267175"/>
              <a:gd name="connsiteY2" fmla="*/ 2488474 h 2531888"/>
              <a:gd name="connsiteX3" fmla="*/ 2228950 w 2267175"/>
              <a:gd name="connsiteY3" fmla="*/ 1841863 h 2531888"/>
              <a:gd name="connsiteX4" fmla="*/ 2176699 w 2267175"/>
              <a:gd name="connsiteY4" fmla="*/ 0 h 2531888"/>
              <a:gd name="connsiteX0" fmla="*/ 273 w 2382557"/>
              <a:gd name="connsiteY0" fmla="*/ 19594 h 2532432"/>
              <a:gd name="connsiteX1" fmla="*/ 384903 w 2382557"/>
              <a:gd name="connsiteY1" fmla="*/ 2201091 h 2532432"/>
              <a:gd name="connsiteX2" fmla="*/ 1795692 w 2382557"/>
              <a:gd name="connsiteY2" fmla="*/ 2488474 h 2532432"/>
              <a:gd name="connsiteX3" fmla="*/ 2344332 w 2382557"/>
              <a:gd name="connsiteY3" fmla="*/ 1841863 h 2532432"/>
              <a:gd name="connsiteX4" fmla="*/ 2292081 w 2382557"/>
              <a:gd name="connsiteY4" fmla="*/ 0 h 2532432"/>
              <a:gd name="connsiteX0" fmla="*/ 0 w 2382284"/>
              <a:gd name="connsiteY0" fmla="*/ 19594 h 2532432"/>
              <a:gd name="connsiteX1" fmla="*/ 384630 w 2382284"/>
              <a:gd name="connsiteY1" fmla="*/ 2201091 h 2532432"/>
              <a:gd name="connsiteX2" fmla="*/ 1795419 w 2382284"/>
              <a:gd name="connsiteY2" fmla="*/ 2488474 h 2532432"/>
              <a:gd name="connsiteX3" fmla="*/ 2344059 w 2382284"/>
              <a:gd name="connsiteY3" fmla="*/ 1841863 h 2532432"/>
              <a:gd name="connsiteX4" fmla="*/ 2291808 w 2382284"/>
              <a:gd name="connsiteY4" fmla="*/ 0 h 253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284" h="2532432">
                <a:moveTo>
                  <a:pt x="0" y="19594"/>
                </a:moveTo>
                <a:cubicBezTo>
                  <a:pt x="90235" y="984067"/>
                  <a:pt x="85393" y="1789611"/>
                  <a:pt x="384630" y="2201091"/>
                </a:cubicBezTo>
                <a:cubicBezTo>
                  <a:pt x="683867" y="2612571"/>
                  <a:pt x="1468848" y="2548345"/>
                  <a:pt x="1795419" y="2488474"/>
                </a:cubicBezTo>
                <a:cubicBezTo>
                  <a:pt x="2121990" y="2428603"/>
                  <a:pt x="2261327" y="2256609"/>
                  <a:pt x="2344059" y="1841863"/>
                </a:cubicBezTo>
                <a:cubicBezTo>
                  <a:pt x="2426791" y="1427117"/>
                  <a:pt x="2359299" y="713558"/>
                  <a:pt x="2291808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F7DD1873-5835-D249-92B0-385AC4CF8052}"/>
              </a:ext>
            </a:extLst>
          </p:cNvPr>
          <p:cNvGrpSpPr/>
          <p:nvPr/>
        </p:nvGrpSpPr>
        <p:grpSpPr>
          <a:xfrm>
            <a:off x="10050406" y="2503587"/>
            <a:ext cx="1668586" cy="681620"/>
            <a:chOff x="4467540" y="4051953"/>
            <a:chExt cx="3047084" cy="1244741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9C28895-0B76-E743-9340-4830EF9A20BB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38" name="Forme libre 37">
                <a:extLst>
                  <a:ext uri="{FF2B5EF4-FFF2-40B4-BE49-F238E27FC236}">
                    <a16:creationId xmlns:a16="http://schemas.microsoft.com/office/drawing/2014/main" id="{3527E8FC-E1D3-5E43-B392-E1C4A7AC9D4C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42D49A0-6F58-4645-BF54-815FD8F896D1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6049FB0C-BD81-6744-89FA-30B75BAD963B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F666ACC0-FF61-1B46-AEFC-F2F7CF34B73D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0E09215A-89A9-344A-93D3-C254ADE7A6F7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8B72436B-F811-9B48-A13F-974B879A42C9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87BE522-844D-1C4E-9B55-C1AA26B9024E}"/>
              </a:ext>
            </a:extLst>
          </p:cNvPr>
          <p:cNvSpPr/>
          <p:nvPr/>
        </p:nvSpPr>
        <p:spPr>
          <a:xfrm>
            <a:off x="838200" y="1796363"/>
            <a:ext cx="635819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800" dirty="0"/>
              <a:t>Lors du déclenchement d’un événement, le processus qui détermine quel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Node</a:t>
            </a:r>
            <a:r>
              <a:rPr lang="fr-BE" sz="2800" dirty="0"/>
              <a:t> traite l’événement se déroule en </a:t>
            </a:r>
            <a:r>
              <a:rPr lang="fr-BE" sz="2800" dirty="0">
                <a:solidFill>
                  <a:schemeClr val="accent4"/>
                </a:solidFill>
              </a:rPr>
              <a:t>deux phases</a:t>
            </a:r>
            <a:r>
              <a:rPr lang="fr-BE" sz="2800" dirty="0">
                <a:solidFill>
                  <a:schemeClr val="accent2"/>
                </a:solidFill>
              </a:rPr>
              <a:t> </a:t>
            </a:r>
            <a:r>
              <a:rPr lang="fr-BE" sz="2800" dirty="0"/>
              <a:t>: </a:t>
            </a:r>
          </a:p>
          <a:p>
            <a:endParaRPr lang="fr-B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800" dirty="0" err="1"/>
              <a:t>event</a:t>
            </a:r>
            <a:r>
              <a:rPr lang="fr-BE" sz="2800" dirty="0"/>
              <a:t> </a:t>
            </a:r>
            <a:r>
              <a:rPr lang="fr-BE" sz="2800" dirty="0" err="1"/>
              <a:t>capturing</a:t>
            </a:r>
            <a:r>
              <a:rPr lang="fr-BE" sz="2800" dirty="0"/>
              <a:t> (descente)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800" dirty="0" err="1"/>
              <a:t>event</a:t>
            </a:r>
            <a:r>
              <a:rPr lang="fr-BE" sz="2800" dirty="0"/>
              <a:t> </a:t>
            </a:r>
            <a:r>
              <a:rPr lang="fr-BE" sz="2800" dirty="0" err="1"/>
              <a:t>bubbling</a:t>
            </a:r>
            <a:r>
              <a:rPr lang="fr-BE" sz="2800" dirty="0"/>
              <a:t> (remontée)</a:t>
            </a:r>
          </a:p>
          <a:p>
            <a:endParaRPr lang="fr-BE" sz="28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1B6B8D-7392-04E5-DDCB-311362F5B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48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815 -0.05833 C -0.23919 -0.06782 -0.21276 0.20209 -0.2099 0.25371 C -0.2069 0.34051 -0.01276 0.31829 0.00299 0.24445 C 0.00807 0.13843 0.00052 -0.02777 -0.00065 -0.06504 " pathEditMode="fixed" rAng="0" ptsTypes="AAAA">
                                      <p:cBhvr>
                                        <p:cTn id="2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35" y="1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dirty="0"/>
              <a:t> et 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</a:t>
            </a:r>
            <a:endParaRPr lang="fr-FR" sz="4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0C4C52-7F42-2E4E-A436-82763CA856C4}"/>
              </a:ext>
            </a:extLst>
          </p:cNvPr>
          <p:cNvSpPr/>
          <p:nvPr/>
        </p:nvSpPr>
        <p:spPr>
          <a:xfrm>
            <a:off x="1981200" y="6545014"/>
            <a:ext cx="85237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i="1" dirty="0"/>
              <a:t>Source: </a:t>
            </a:r>
            <a:r>
              <a:rPr lang="fr-FR" sz="1200" i="1" dirty="0">
                <a:hlinkClick r:id="rId2"/>
              </a:rPr>
              <a:t>https://stackoverflow.com/questions/25740103/javafx-what-is-the-difference-between-eventhandler-and-eventfilter</a:t>
            </a:r>
            <a:endParaRPr lang="fr-FR" sz="1200" i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3E26F97-7D94-2143-B907-8C837FC3BD12}"/>
              </a:ext>
            </a:extLst>
          </p:cNvPr>
          <p:cNvGrpSpPr/>
          <p:nvPr/>
        </p:nvGrpSpPr>
        <p:grpSpPr>
          <a:xfrm>
            <a:off x="3603171" y="2949180"/>
            <a:ext cx="4005944" cy="3151241"/>
            <a:chOff x="1665513" y="1772829"/>
            <a:chExt cx="5018314" cy="3947613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C164CF95-3D0A-8A47-BFBE-C85F0D5C7FB6}"/>
                </a:ext>
              </a:extLst>
            </p:cNvPr>
            <p:cNvSpPr/>
            <p:nvPr/>
          </p:nvSpPr>
          <p:spPr>
            <a:xfrm>
              <a:off x="3287485" y="1772829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91234DF-841B-7F4F-A6FC-A0BFED02FBC3}"/>
                </a:ext>
              </a:extLst>
            </p:cNvPr>
            <p:cNvSpPr/>
            <p:nvPr/>
          </p:nvSpPr>
          <p:spPr>
            <a:xfrm>
              <a:off x="3287485" y="2645047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Scene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E81C4B6-1051-9B4E-8ECB-EDCA0F0A503B}"/>
                </a:ext>
              </a:extLst>
            </p:cNvPr>
            <p:cNvSpPr/>
            <p:nvPr/>
          </p:nvSpPr>
          <p:spPr>
            <a:xfrm>
              <a:off x="3287485" y="3517265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BorderPane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4D5A57C-C4A8-4745-9AB0-31AF2357FCAB}"/>
                </a:ext>
              </a:extLst>
            </p:cNvPr>
            <p:cNvSpPr/>
            <p:nvPr/>
          </p:nvSpPr>
          <p:spPr>
            <a:xfrm>
              <a:off x="3287485" y="4389483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Pane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6BE3D6E-E636-DA41-8D9F-1AA64F0F6F00}"/>
                </a:ext>
              </a:extLst>
            </p:cNvPr>
            <p:cNvSpPr/>
            <p:nvPr/>
          </p:nvSpPr>
          <p:spPr>
            <a:xfrm>
              <a:off x="1665513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Rectangle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71EC6A08-A8AF-3746-8A0C-EBE27F43EC0C}"/>
                </a:ext>
              </a:extLst>
            </p:cNvPr>
            <p:cNvSpPr/>
            <p:nvPr/>
          </p:nvSpPr>
          <p:spPr>
            <a:xfrm>
              <a:off x="4855027" y="5261700"/>
              <a:ext cx="1828800" cy="4587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Circle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4F168DFA-5D85-D543-BB5A-7BAB16FFC9A6}"/>
              </a:ext>
            </a:extLst>
          </p:cNvPr>
          <p:cNvGrpSpPr/>
          <p:nvPr/>
        </p:nvGrpSpPr>
        <p:grpSpPr>
          <a:xfrm>
            <a:off x="7609115" y="5664133"/>
            <a:ext cx="2617560" cy="301752"/>
            <a:chOff x="6085115" y="4474029"/>
            <a:chExt cx="2617560" cy="301752"/>
          </a:xfrm>
        </p:grpSpPr>
        <p:sp>
          <p:nvSpPr>
            <p:cNvPr id="14" name="Terminaison 13">
              <a:extLst>
                <a:ext uri="{FF2B5EF4-FFF2-40B4-BE49-F238E27FC236}">
                  <a16:creationId xmlns:a16="http://schemas.microsoft.com/office/drawing/2014/main" id="{D4A57323-E62E-D74E-8CCE-D59AB9DA5E4E}"/>
                </a:ext>
              </a:extLst>
            </p:cNvPr>
            <p:cNvSpPr/>
            <p:nvPr/>
          </p:nvSpPr>
          <p:spPr>
            <a:xfrm>
              <a:off x="6890657" y="4474029"/>
              <a:ext cx="1812018" cy="301752"/>
            </a:xfrm>
            <a:prstGeom prst="flowChartTerminator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EventHandler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7BD7D9B6-4181-6D42-A43A-EC0A5AFF0F12}"/>
                </a:ext>
              </a:extLst>
            </p:cNvPr>
            <p:cNvCxnSpPr>
              <a:endCxn id="14" idx="1"/>
            </p:cNvCxnSpPr>
            <p:nvPr/>
          </p:nvCxnSpPr>
          <p:spPr>
            <a:xfrm flipV="1">
              <a:off x="6085115" y="4624905"/>
              <a:ext cx="805542" cy="10231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A266123-F455-684D-B17F-CE468002D782}"/>
              </a:ext>
            </a:extLst>
          </p:cNvPr>
          <p:cNvGrpSpPr/>
          <p:nvPr/>
        </p:nvGrpSpPr>
        <p:grpSpPr>
          <a:xfrm>
            <a:off x="7609115" y="5917321"/>
            <a:ext cx="2617560" cy="553032"/>
            <a:chOff x="6085115" y="4985658"/>
            <a:chExt cx="2617560" cy="553032"/>
          </a:xfrm>
        </p:grpSpPr>
        <p:sp>
          <p:nvSpPr>
            <p:cNvPr id="15" name="Terminaison 14">
              <a:extLst>
                <a:ext uri="{FF2B5EF4-FFF2-40B4-BE49-F238E27FC236}">
                  <a16:creationId xmlns:a16="http://schemas.microsoft.com/office/drawing/2014/main" id="{D03C91D6-B180-FB41-84DB-5CB998525D44}"/>
                </a:ext>
              </a:extLst>
            </p:cNvPr>
            <p:cNvSpPr/>
            <p:nvPr/>
          </p:nvSpPr>
          <p:spPr>
            <a:xfrm>
              <a:off x="6890657" y="5236938"/>
              <a:ext cx="1812018" cy="301752"/>
            </a:xfrm>
            <a:prstGeom prst="flowChartTerminator">
              <a:avLst/>
            </a:prstGeom>
            <a:solidFill>
              <a:schemeClr val="accent3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EventHandler</a:t>
              </a:r>
              <a:endParaRPr lang="fr-F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582DA460-6A02-4941-B33F-B4C0C8D0EA0A}"/>
                </a:ext>
              </a:extLst>
            </p:cNvPr>
            <p:cNvCxnSpPr>
              <a:cxnSpLocks/>
              <a:stCxn id="12" idx="3"/>
              <a:endCxn id="15" idx="1"/>
            </p:cNvCxnSpPr>
            <p:nvPr/>
          </p:nvCxnSpPr>
          <p:spPr>
            <a:xfrm>
              <a:off x="6085115" y="4985658"/>
              <a:ext cx="805542" cy="402156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égende sans bordure 1 20">
            <a:extLst>
              <a:ext uri="{FF2B5EF4-FFF2-40B4-BE49-F238E27FC236}">
                <a16:creationId xmlns:a16="http://schemas.microsoft.com/office/drawing/2014/main" id="{E1F975EF-7275-4E43-97F6-F2E34D4321BD}"/>
              </a:ext>
            </a:extLst>
          </p:cNvPr>
          <p:cNvSpPr/>
          <p:nvPr/>
        </p:nvSpPr>
        <p:spPr>
          <a:xfrm>
            <a:off x="7506154" y="4664730"/>
            <a:ext cx="2095047" cy="301752"/>
          </a:xfrm>
          <a:prstGeom prst="callout1">
            <a:avLst>
              <a:gd name="adj1" fmla="val 98115"/>
              <a:gd name="adj2" fmla="val 19725"/>
              <a:gd name="adj3" fmla="val 372240"/>
              <a:gd name="adj4" fmla="val 25057"/>
            </a:avLst>
          </a:prstGeom>
          <a:noFill/>
          <a:ln w="127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addEventHandler</a:t>
            </a:r>
            <a:endParaRPr lang="fr-FR" sz="1600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596CF2D-3C72-024B-9D14-6B019FC961C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27868" y="3315378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918552C-264B-114B-9486-6A2C5EE70EB4}"/>
              </a:ext>
            </a:extLst>
          </p:cNvPr>
          <p:cNvCxnSpPr>
            <a:cxnSpLocks/>
          </p:cNvCxnSpPr>
          <p:nvPr/>
        </p:nvCxnSpPr>
        <p:spPr>
          <a:xfrm>
            <a:off x="5627868" y="4002413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7C96B72-01CC-6F44-A843-F9F764DE7E1B}"/>
              </a:ext>
            </a:extLst>
          </p:cNvPr>
          <p:cNvCxnSpPr>
            <a:cxnSpLocks/>
          </p:cNvCxnSpPr>
          <p:nvPr/>
        </p:nvCxnSpPr>
        <p:spPr>
          <a:xfrm>
            <a:off x="5627868" y="4709220"/>
            <a:ext cx="1" cy="33006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9157CA7-6F1D-B34F-8D9F-5A7F4EA69EC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627868" y="5411084"/>
            <a:ext cx="1251315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4CE0640D-ACFF-6244-90AC-66482A5F4CD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333105" y="5411084"/>
            <a:ext cx="1294762" cy="323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4">
            <a:extLst>
              <a:ext uri="{FF2B5EF4-FFF2-40B4-BE49-F238E27FC236}">
                <a16:creationId xmlns:a16="http://schemas.microsoft.com/office/drawing/2014/main" id="{51C9A90E-EA2D-1041-BABE-B92AB349766A}"/>
              </a:ext>
            </a:extLst>
          </p:cNvPr>
          <p:cNvGrpSpPr/>
          <p:nvPr/>
        </p:nvGrpSpPr>
        <p:grpSpPr>
          <a:xfrm>
            <a:off x="2697162" y="4441122"/>
            <a:ext cx="2200772" cy="1341095"/>
            <a:chOff x="1173162" y="3251017"/>
            <a:chExt cx="2200772" cy="1341095"/>
          </a:xfrm>
        </p:grpSpPr>
        <p:sp>
          <p:nvSpPr>
            <p:cNvPr id="41" name="Terminaison 40">
              <a:extLst>
                <a:ext uri="{FF2B5EF4-FFF2-40B4-BE49-F238E27FC236}">
                  <a16:creationId xmlns:a16="http://schemas.microsoft.com/office/drawing/2014/main" id="{684816CC-1209-EA42-9D76-F6E25BFC0BFD}"/>
                </a:ext>
              </a:extLst>
            </p:cNvPr>
            <p:cNvSpPr/>
            <p:nvPr/>
          </p:nvSpPr>
          <p:spPr>
            <a:xfrm>
              <a:off x="1173162" y="3251017"/>
              <a:ext cx="1812018" cy="301752"/>
            </a:xfrm>
            <a:prstGeom prst="flowChartTerminator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solidFill>
                    <a:schemeClr val="accent5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EventFilter</a:t>
              </a:r>
              <a:endParaRPr lang="fr-FR" sz="16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9BA9A2D5-A1E4-6146-B596-E738FE87E43C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2985180" y="4524800"/>
              <a:ext cx="388754" cy="67312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Légende sans bordure 1 43">
            <a:extLst>
              <a:ext uri="{FF2B5EF4-FFF2-40B4-BE49-F238E27FC236}">
                <a16:creationId xmlns:a16="http://schemas.microsoft.com/office/drawing/2014/main" id="{401C1FBD-B0E4-B346-B324-7EAACF07D758}"/>
              </a:ext>
            </a:extLst>
          </p:cNvPr>
          <p:cNvSpPr/>
          <p:nvPr/>
        </p:nvSpPr>
        <p:spPr>
          <a:xfrm>
            <a:off x="2555648" y="3441718"/>
            <a:ext cx="2095047" cy="301752"/>
          </a:xfrm>
          <a:prstGeom prst="callout1">
            <a:avLst>
              <a:gd name="adj1" fmla="val 95433"/>
              <a:gd name="adj2" fmla="val 82683"/>
              <a:gd name="adj3" fmla="val 352888"/>
              <a:gd name="adj4" fmla="val 100246"/>
            </a:avLst>
          </a:prstGeom>
          <a:noFill/>
          <a:ln w="127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rgbClr val="9DC3E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addEventFilter</a:t>
            </a:r>
            <a:endParaRPr lang="fr-FR" sz="1600" dirty="0">
              <a:solidFill>
                <a:srgbClr val="9DC3E7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F7DD1873-5835-D249-92B0-385AC4CF8052}"/>
              </a:ext>
            </a:extLst>
          </p:cNvPr>
          <p:cNvGrpSpPr/>
          <p:nvPr/>
        </p:nvGrpSpPr>
        <p:grpSpPr>
          <a:xfrm>
            <a:off x="7849277" y="3082040"/>
            <a:ext cx="1668586" cy="681620"/>
            <a:chOff x="4467540" y="4051953"/>
            <a:chExt cx="3047084" cy="1244741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9C28895-0B76-E743-9340-4830EF9A20BB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38" name="Forme libre 37">
                <a:extLst>
                  <a:ext uri="{FF2B5EF4-FFF2-40B4-BE49-F238E27FC236}">
                    <a16:creationId xmlns:a16="http://schemas.microsoft.com/office/drawing/2014/main" id="{3527E8FC-E1D3-5E43-B392-E1C4A7AC9D4C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42D49A0-6F58-4645-BF54-815FD8F896D1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6049FB0C-BD81-6744-89FA-30B75BAD963B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F666ACC0-FF61-1B46-AEFC-F2F7CF34B73D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0E09215A-89A9-344A-93D3-C254ADE7A6F7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8B72436B-F811-9B48-A13F-974B879A42C9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336DFE2A-089F-3940-A9BA-F47DFCB2D085}"/>
              </a:ext>
            </a:extLst>
          </p:cNvPr>
          <p:cNvGrpSpPr/>
          <p:nvPr/>
        </p:nvGrpSpPr>
        <p:grpSpPr>
          <a:xfrm>
            <a:off x="7849277" y="3082040"/>
            <a:ext cx="1668586" cy="681620"/>
            <a:chOff x="4467540" y="4051953"/>
            <a:chExt cx="3047084" cy="1244741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84216C77-FFF8-AA4E-9B57-12443E691790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51" name="Forme libre 50">
                <a:extLst>
                  <a:ext uri="{FF2B5EF4-FFF2-40B4-BE49-F238E27FC236}">
                    <a16:creationId xmlns:a16="http://schemas.microsoft.com/office/drawing/2014/main" id="{9E47AE38-D9DA-984C-BA31-56A193DA4763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6861F44-D1C3-8F4A-9926-9AC339FD6171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8AC65626-F48B-AC43-8913-7CBBFBDEC8F0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7664E0B6-5DBE-F04C-B75F-93D63D35ECA8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24DDBC7D-A31D-6B47-808A-8D594148FFEC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AAB60A63-A43C-0C47-BB97-264A4E2DD0F1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11982EC3-F2A1-3A40-8E31-230E1EA19350}"/>
              </a:ext>
            </a:extLst>
          </p:cNvPr>
          <p:cNvGrpSpPr/>
          <p:nvPr/>
        </p:nvGrpSpPr>
        <p:grpSpPr>
          <a:xfrm>
            <a:off x="7849277" y="3082040"/>
            <a:ext cx="1668586" cy="681620"/>
            <a:chOff x="4467540" y="4051953"/>
            <a:chExt cx="3047084" cy="1244741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A77F2ED3-8187-7548-A160-45E5CF0193D7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59" name="Forme libre 58">
                <a:extLst>
                  <a:ext uri="{FF2B5EF4-FFF2-40B4-BE49-F238E27FC236}">
                    <a16:creationId xmlns:a16="http://schemas.microsoft.com/office/drawing/2014/main" id="{B1DD00C3-27F5-404F-9E5D-111331CF5191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7C991DA-8C48-E54D-95BD-D104FCB2FE4F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30366DF2-F1B0-4E46-B1A8-EFC62B5642A2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16FF8C9B-6D66-3C43-81CC-BE5B046A013F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E8CE18CB-AAED-E645-B9CC-3CF455F193D9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CBDA2549-9D07-DC4E-BF3B-D446B8912D95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B8F5FBA8-1010-EC43-9F18-AAC0BD06ECCD}"/>
              </a:ext>
            </a:extLst>
          </p:cNvPr>
          <p:cNvSpPr/>
          <p:nvPr/>
        </p:nvSpPr>
        <p:spPr>
          <a:xfrm>
            <a:off x="838200" y="1460805"/>
            <a:ext cx="672256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800" dirty="0"/>
              <a:t>Deux types d’objets traitent les 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sz="28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800" dirty="0"/>
              <a:t>Les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EventFilters</a:t>
            </a:r>
            <a:r>
              <a:rPr lang="fr-BE" sz="2800" dirty="0"/>
              <a:t> lors de la descente.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2800" dirty="0"/>
              <a:t>Les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EventHandlers</a:t>
            </a:r>
            <a:r>
              <a:rPr lang="fr-BE" sz="2800" dirty="0"/>
              <a:t> lors de la remontée. </a:t>
            </a:r>
          </a:p>
          <a:p>
            <a:endParaRPr lang="fr-FR" sz="2800" dirty="0"/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B170D6E-10D3-6949-B6F4-421F955C7BCC}"/>
              </a:ext>
            </a:extLst>
          </p:cNvPr>
          <p:cNvGrpSpPr/>
          <p:nvPr/>
        </p:nvGrpSpPr>
        <p:grpSpPr>
          <a:xfrm>
            <a:off x="7849277" y="3082040"/>
            <a:ext cx="1668586" cy="681620"/>
            <a:chOff x="4467540" y="4051953"/>
            <a:chExt cx="3047084" cy="1244741"/>
          </a:xfrm>
        </p:grpSpPr>
        <p:grpSp>
          <p:nvGrpSpPr>
            <p:cNvPr id="70" name="Groupe 69">
              <a:extLst>
                <a:ext uri="{FF2B5EF4-FFF2-40B4-BE49-F238E27FC236}">
                  <a16:creationId xmlns:a16="http://schemas.microsoft.com/office/drawing/2014/main" id="{8C07C978-9AE5-174E-8EC8-8819C197FA4F}"/>
                </a:ext>
              </a:extLst>
            </p:cNvPr>
            <p:cNvGrpSpPr/>
            <p:nvPr/>
          </p:nvGrpSpPr>
          <p:grpSpPr>
            <a:xfrm>
              <a:off x="4886162" y="4051953"/>
              <a:ext cx="2628462" cy="1244741"/>
              <a:chOff x="4139926" y="2291668"/>
              <a:chExt cx="3068600" cy="1453173"/>
            </a:xfrm>
          </p:grpSpPr>
          <p:sp>
            <p:nvSpPr>
              <p:cNvPr id="75" name="Forme libre 74">
                <a:extLst>
                  <a:ext uri="{FF2B5EF4-FFF2-40B4-BE49-F238E27FC236}">
                    <a16:creationId xmlns:a16="http://schemas.microsoft.com/office/drawing/2014/main" id="{49D6EA01-875F-4D41-885E-472BE4AC6EC2}"/>
                  </a:ext>
                </a:extLst>
              </p:cNvPr>
              <p:cNvSpPr/>
              <p:nvPr/>
            </p:nvSpPr>
            <p:spPr>
              <a:xfrm>
                <a:off x="4445421" y="2291668"/>
                <a:ext cx="2552170" cy="1453173"/>
              </a:xfrm>
              <a:custGeom>
                <a:avLst/>
                <a:gdLst>
                  <a:gd name="connsiteX0" fmla="*/ 1884783 w 3023118"/>
                  <a:gd name="connsiteY0" fmla="*/ 615821 h 2286000"/>
                  <a:gd name="connsiteX1" fmla="*/ 1847461 w 3023118"/>
                  <a:gd name="connsiteY1" fmla="*/ 102637 h 2286000"/>
                  <a:gd name="connsiteX2" fmla="*/ 1483567 w 3023118"/>
                  <a:gd name="connsiteY2" fmla="*/ 494523 h 2286000"/>
                  <a:gd name="connsiteX3" fmla="*/ 1138335 w 3023118"/>
                  <a:gd name="connsiteY3" fmla="*/ 0 h 2286000"/>
                  <a:gd name="connsiteX4" fmla="*/ 1063690 w 3023118"/>
                  <a:gd name="connsiteY4" fmla="*/ 541176 h 2286000"/>
                  <a:gd name="connsiteX5" fmla="*/ 569167 w 3023118"/>
                  <a:gd name="connsiteY5" fmla="*/ 270588 h 2286000"/>
                  <a:gd name="connsiteX6" fmla="*/ 811763 w 3023118"/>
                  <a:gd name="connsiteY6" fmla="*/ 867747 h 2286000"/>
                  <a:gd name="connsiteX7" fmla="*/ 158620 w 3023118"/>
                  <a:gd name="connsiteY7" fmla="*/ 858417 h 2286000"/>
                  <a:gd name="connsiteX8" fmla="*/ 485192 w 3023118"/>
                  <a:gd name="connsiteY8" fmla="*/ 1156996 h 2286000"/>
                  <a:gd name="connsiteX9" fmla="*/ 0 w 3023118"/>
                  <a:gd name="connsiteY9" fmla="*/ 1399592 h 2286000"/>
                  <a:gd name="connsiteX10" fmla="*/ 653143 w 3023118"/>
                  <a:gd name="connsiteY10" fmla="*/ 1446245 h 2286000"/>
                  <a:gd name="connsiteX11" fmla="*/ 130628 w 3023118"/>
                  <a:gd name="connsiteY11" fmla="*/ 2099388 h 2286000"/>
                  <a:gd name="connsiteX12" fmla="*/ 961053 w 3023118"/>
                  <a:gd name="connsiteY12" fmla="*/ 1744825 h 2286000"/>
                  <a:gd name="connsiteX13" fmla="*/ 933061 w 3023118"/>
                  <a:gd name="connsiteY13" fmla="*/ 2286000 h 2286000"/>
                  <a:gd name="connsiteX14" fmla="*/ 1324947 w 3023118"/>
                  <a:gd name="connsiteY14" fmla="*/ 1884784 h 2286000"/>
                  <a:gd name="connsiteX15" fmla="*/ 1511559 w 3023118"/>
                  <a:gd name="connsiteY15" fmla="*/ 2202025 h 2286000"/>
                  <a:gd name="connsiteX16" fmla="*/ 1604865 w 3023118"/>
                  <a:gd name="connsiteY16" fmla="*/ 2006082 h 2286000"/>
                  <a:gd name="connsiteX17" fmla="*/ 1819469 w 3023118"/>
                  <a:gd name="connsiteY17" fmla="*/ 2155372 h 2286000"/>
                  <a:gd name="connsiteX18" fmla="*/ 1847461 w 3023118"/>
                  <a:gd name="connsiteY18" fmla="*/ 1763486 h 2286000"/>
                  <a:gd name="connsiteX19" fmla="*/ 2332653 w 3023118"/>
                  <a:gd name="connsiteY19" fmla="*/ 1959429 h 2286000"/>
                  <a:gd name="connsiteX20" fmla="*/ 2118049 w 3023118"/>
                  <a:gd name="connsiteY20" fmla="*/ 1548882 h 2286000"/>
                  <a:gd name="connsiteX21" fmla="*/ 3023118 w 3023118"/>
                  <a:gd name="connsiteY21" fmla="*/ 1548882 h 2286000"/>
                  <a:gd name="connsiteX22" fmla="*/ 2369975 w 3023118"/>
                  <a:gd name="connsiteY22" fmla="*/ 1194319 h 2286000"/>
                  <a:gd name="connsiteX23" fmla="*/ 2873828 w 3023118"/>
                  <a:gd name="connsiteY23" fmla="*/ 923731 h 2286000"/>
                  <a:gd name="connsiteX24" fmla="*/ 2239347 w 3023118"/>
                  <a:gd name="connsiteY24" fmla="*/ 886408 h 2286000"/>
                  <a:gd name="connsiteX25" fmla="*/ 2481943 w 3023118"/>
                  <a:gd name="connsiteY25" fmla="*/ 363894 h 2286000"/>
                  <a:gd name="connsiteX26" fmla="*/ 1884783 w 3023118"/>
                  <a:gd name="connsiteY26" fmla="*/ 615821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23118" h="2286000">
                    <a:moveTo>
                      <a:pt x="1884783" y="615821"/>
                    </a:moveTo>
                    <a:lnTo>
                      <a:pt x="1847461" y="102637"/>
                    </a:lnTo>
                    <a:lnTo>
                      <a:pt x="1483567" y="494523"/>
                    </a:lnTo>
                    <a:lnTo>
                      <a:pt x="1138335" y="0"/>
                    </a:lnTo>
                    <a:lnTo>
                      <a:pt x="1063690" y="541176"/>
                    </a:lnTo>
                    <a:lnTo>
                      <a:pt x="569167" y="270588"/>
                    </a:lnTo>
                    <a:lnTo>
                      <a:pt x="811763" y="867747"/>
                    </a:lnTo>
                    <a:lnTo>
                      <a:pt x="158620" y="858417"/>
                    </a:lnTo>
                    <a:lnTo>
                      <a:pt x="485192" y="1156996"/>
                    </a:lnTo>
                    <a:lnTo>
                      <a:pt x="0" y="1399592"/>
                    </a:lnTo>
                    <a:lnTo>
                      <a:pt x="653143" y="1446245"/>
                    </a:lnTo>
                    <a:lnTo>
                      <a:pt x="130628" y="2099388"/>
                    </a:lnTo>
                    <a:lnTo>
                      <a:pt x="961053" y="1744825"/>
                    </a:lnTo>
                    <a:lnTo>
                      <a:pt x="933061" y="2286000"/>
                    </a:lnTo>
                    <a:lnTo>
                      <a:pt x="1324947" y="1884784"/>
                    </a:lnTo>
                    <a:lnTo>
                      <a:pt x="1511559" y="2202025"/>
                    </a:lnTo>
                    <a:lnTo>
                      <a:pt x="1604865" y="2006082"/>
                    </a:lnTo>
                    <a:lnTo>
                      <a:pt x="1819469" y="2155372"/>
                    </a:lnTo>
                    <a:lnTo>
                      <a:pt x="1847461" y="1763486"/>
                    </a:lnTo>
                    <a:lnTo>
                      <a:pt x="2332653" y="1959429"/>
                    </a:lnTo>
                    <a:lnTo>
                      <a:pt x="2118049" y="1548882"/>
                    </a:lnTo>
                    <a:lnTo>
                      <a:pt x="3023118" y="1548882"/>
                    </a:lnTo>
                    <a:lnTo>
                      <a:pt x="2369975" y="1194319"/>
                    </a:lnTo>
                    <a:lnTo>
                      <a:pt x="2873828" y="923731"/>
                    </a:lnTo>
                    <a:lnTo>
                      <a:pt x="2239347" y="886408"/>
                    </a:lnTo>
                    <a:lnTo>
                      <a:pt x="2481943" y="363894"/>
                    </a:lnTo>
                    <a:lnTo>
                      <a:pt x="1884783" y="615821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90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FB59E07-9628-974E-8523-834813FF0CBD}"/>
                  </a:ext>
                </a:extLst>
              </p:cNvPr>
              <p:cNvSpPr/>
              <p:nvPr/>
            </p:nvSpPr>
            <p:spPr>
              <a:xfrm rot="21000827">
                <a:off x="4139926" y="2595201"/>
                <a:ext cx="3068600" cy="721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fr-FR" sz="1600" b="1" dirty="0">
                    <a:ln w="12700">
                      <a:noFill/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Evénement</a:t>
                </a:r>
              </a:p>
            </p:txBody>
          </p: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78D5BCAD-07D9-AC4B-B10D-6370E28E5FC5}"/>
                </a:ext>
              </a:extLst>
            </p:cNvPr>
            <p:cNvGrpSpPr/>
            <p:nvPr/>
          </p:nvGrpSpPr>
          <p:grpSpPr>
            <a:xfrm>
              <a:off x="4467540" y="4079457"/>
              <a:ext cx="736611" cy="1100506"/>
              <a:chOff x="3153747" y="2382820"/>
              <a:chExt cx="736611" cy="1100506"/>
            </a:xfrm>
          </p:grpSpPr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B759F5E7-DC1B-CC45-971B-E88DA7605ED0}"/>
                  </a:ext>
                </a:extLst>
              </p:cNvPr>
              <p:cNvSpPr/>
              <p:nvPr/>
            </p:nvSpPr>
            <p:spPr>
              <a:xfrm rot="18941501">
                <a:off x="3153747" y="2382820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73" name="Arc 72">
                <a:extLst>
                  <a:ext uri="{FF2B5EF4-FFF2-40B4-BE49-F238E27FC236}">
                    <a16:creationId xmlns:a16="http://schemas.microsoft.com/office/drawing/2014/main" id="{A0D54923-961D-5849-A36A-EB56FE4D3320}"/>
                  </a:ext>
                </a:extLst>
              </p:cNvPr>
              <p:cNvSpPr/>
              <p:nvPr/>
            </p:nvSpPr>
            <p:spPr>
              <a:xfrm rot="18394680">
                <a:off x="3153747" y="2550772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  <p:sp>
            <p:nvSpPr>
              <p:cNvPr id="74" name="Arc 73">
                <a:extLst>
                  <a:ext uri="{FF2B5EF4-FFF2-40B4-BE49-F238E27FC236}">
                    <a16:creationId xmlns:a16="http://schemas.microsoft.com/office/drawing/2014/main" id="{D3FBED7B-77F6-F940-9F68-4EB2FE223F22}"/>
                  </a:ext>
                </a:extLst>
              </p:cNvPr>
              <p:cNvSpPr/>
              <p:nvPr/>
            </p:nvSpPr>
            <p:spPr>
              <a:xfrm rot="17674455">
                <a:off x="3153747" y="2746715"/>
                <a:ext cx="736611" cy="736611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000"/>
              </a:p>
            </p:txBody>
          </p:sp>
        </p:grp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DE762E-FF86-2A05-168C-F951A8341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9ACE9E-A4C1-C88B-3D4A-0D1F217A5B57}"/>
              </a:ext>
            </a:extLst>
          </p:cNvPr>
          <p:cNvCxnSpPr>
            <a:cxnSpLocks/>
            <a:stCxn id="41" idx="3"/>
            <a:endCxn id="9" idx="1"/>
          </p:cNvCxnSpPr>
          <p:nvPr/>
        </p:nvCxnSpPr>
        <p:spPr>
          <a:xfrm flipV="1">
            <a:off x="4509180" y="4524801"/>
            <a:ext cx="388754" cy="6719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83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322 -0.06482 C -0.4401 -0.02894 -0.42968 0.09884 -0.42447 0.15115 " pathEditMode="fixed" rAng="0" ptsTypes="AA">
                                      <p:cBhvr>
                                        <p:cTn id="4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1078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448 0.15115 C -0.41684 0.20138 -0.42084 0.19328 -0.41198 0.25231 C -0.39722 0.33865 -0.20851 0.43425 -0.05729 0.42986 C -0.0257 0.42777 -0.01893 0.39583 -0.0184 0.3956 " pathEditMode="fixed" rAng="0" ptsTypes="AAAA">
                                      <p:cBhvr>
                                        <p:cTn id="5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5" y="13935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23 0.39746 C -0.01701 0.39398 -0.01892 0.32917 -0.01892 0.31551 " pathEditMode="fixed" rAng="0" ptsTypes="AA">
                                      <p:cBhvr>
                                        <p:cTn id="6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409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92 0.3155 C -0.01388 0.20925 -0.02777 -0.0257 -0.02899 -0.06181 " pathEditMode="fixed" rAng="0" ptsTypes="AA">
                                      <p:cBhvr>
                                        <p:cTn id="6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" y="-1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4" grpId="0" animBg="1"/>
      <p:bldP spid="66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cap="none" dirty="0"/>
              <a:t>La méthode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consume()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fr-BE" dirty="0"/>
              <a:t>La classe 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dirty="0"/>
              <a:t> présente une méthode 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consume()</a:t>
            </a:r>
            <a:r>
              <a:rPr lang="fr-BE" dirty="0"/>
              <a:t>.</a:t>
            </a:r>
          </a:p>
          <a:p>
            <a:pPr marL="0" indent="0" fontAlgn="base">
              <a:buNone/>
            </a:pPr>
            <a:r>
              <a:rPr lang="fr-BE" dirty="0"/>
              <a:t>L’appel de cette méthode permet à un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</a:t>
            </a:r>
            <a:r>
              <a:rPr lang="fr-BE" dirty="0"/>
              <a:t> ou un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/>
              <a:t> d’indiquer que l’événement a été traité. </a:t>
            </a:r>
          </a:p>
          <a:p>
            <a:pPr marL="0" indent="0" fontAlgn="base">
              <a:buNone/>
            </a:pPr>
            <a:r>
              <a:rPr lang="fr-BE" dirty="0"/>
              <a:t>L’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dirty="0"/>
              <a:t> n’est ensuite plus transmis dans la chaîne de traitement de l’événement (et ne déclenche donc pas d’autre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</a:t>
            </a:r>
            <a:r>
              <a:rPr lang="fr-BE" dirty="0"/>
              <a:t> ni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BE" dirty="0"/>
              <a:t>). </a:t>
            </a:r>
          </a:p>
          <a:p>
            <a:pPr marL="0" indent="0" fontAlgn="base">
              <a:buNone/>
            </a:pPr>
            <a:endParaRPr lang="fr-BE" dirty="0"/>
          </a:p>
          <a:p>
            <a:pPr marL="0" indent="0" fontAlgn="base">
              <a:buNone/>
            </a:pPr>
            <a:r>
              <a:rPr lang="fr-BE" dirty="0"/>
              <a:t>L’utilisation de cette méthode dans un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</a:t>
            </a:r>
            <a:r>
              <a:rPr lang="fr-BE" dirty="0"/>
              <a:t> permet à un composant d’empêcher qu’un de ses ‘enfants’ ne traite l’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dirty="0"/>
              <a:t>. 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2A0FFEA8-FAD9-0F49-AC4D-F22177DB2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07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pic>
        <p:nvPicPr>
          <p:cNvPr id="4" name="Picture 6" descr="AI &amp; Big Data | IAV">
            <a:extLst>
              <a:ext uri="{FF2B5EF4-FFF2-40B4-BE49-F238E27FC236}">
                <a16:creationId xmlns:a16="http://schemas.microsoft.com/office/drawing/2014/main" id="{ABCF0774-D7EC-2D44-A779-3AAEFAF57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581" r="19581"/>
          <a:stretch/>
        </p:blipFill>
        <p:spPr bwMode="auto">
          <a:xfrm>
            <a:off x="3407229" y="942975"/>
            <a:ext cx="5377542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9BA87D2-AA7B-66AF-A1E0-F8DE02718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523151"/>
      </p:ext>
    </p:extLst>
  </p:cSld>
  <p:clrMapOvr>
    <a:masterClrMapping/>
  </p:clrMapOvr>
  <p:transition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46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8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/>
              <a:t>Créez 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nl-BE" dirty="0"/>
              <a:t> contenant les éléments suivants.</a:t>
            </a:r>
          </a:p>
          <a:p>
            <a:pPr marL="457200" indent="-457200">
              <a:buFont typeface="+mj-lt"/>
              <a:buAutoNum type="arabicPeriod"/>
            </a:pPr>
            <a:r>
              <a:rPr lang="nl-BE" dirty="0"/>
              <a:t>Vérifiez qu’un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MouseEvent.MOUSE_CLICKED</a:t>
            </a:r>
            <a:r>
              <a:rPr lang="nl-BE" dirty="0"/>
              <a:t> est bien traité par l’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EventFilter</a:t>
            </a:r>
            <a:r>
              <a:rPr lang="nl-BE" dirty="0"/>
              <a:t> et par les deux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EventHandlers</a:t>
            </a:r>
            <a:r>
              <a:rPr lang="nl-BE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nl-BE" dirty="0"/>
              <a:t>Ensuite, modifiez votre code pour que les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EventHandlers</a:t>
            </a:r>
            <a:r>
              <a:rPr lang="nl-BE" dirty="0"/>
              <a:t> ne réagissent pas.</a:t>
            </a:r>
          </a:p>
          <a:p>
            <a:endParaRPr lang="fr-FR" dirty="0"/>
          </a:p>
        </p:txBody>
      </p: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44205C69-8DEE-974A-A79A-567A3FC53E5A}"/>
              </a:ext>
            </a:extLst>
          </p:cNvPr>
          <p:cNvGrpSpPr/>
          <p:nvPr/>
        </p:nvGrpSpPr>
        <p:grpSpPr>
          <a:xfrm>
            <a:off x="4894874" y="3961061"/>
            <a:ext cx="5782097" cy="2699396"/>
            <a:chOff x="1431503" y="2416526"/>
            <a:chExt cx="6412431" cy="2993673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9A85D1A-AA97-0741-A7E9-7C2BE5A59FF0}"/>
                </a:ext>
              </a:extLst>
            </p:cNvPr>
            <p:cNvGrpSpPr/>
            <p:nvPr/>
          </p:nvGrpSpPr>
          <p:grpSpPr>
            <a:xfrm>
              <a:off x="1537687" y="2416526"/>
              <a:ext cx="5922659" cy="2993673"/>
              <a:chOff x="1173162" y="2949179"/>
              <a:chExt cx="6966260" cy="3521174"/>
            </a:xfrm>
          </p:grpSpPr>
          <p:grpSp>
            <p:nvGrpSpPr>
              <p:cNvPr id="62" name="Groupe 61">
                <a:extLst>
                  <a:ext uri="{FF2B5EF4-FFF2-40B4-BE49-F238E27FC236}">
                    <a16:creationId xmlns:a16="http://schemas.microsoft.com/office/drawing/2014/main" id="{69985A50-5A7A-ED4C-B505-287FEEBCF9D3}"/>
                  </a:ext>
                </a:extLst>
              </p:cNvPr>
              <p:cNvGrpSpPr/>
              <p:nvPr/>
            </p:nvGrpSpPr>
            <p:grpSpPr>
              <a:xfrm>
                <a:off x="2079171" y="2949179"/>
                <a:ext cx="3558654" cy="3151241"/>
                <a:chOff x="1665513" y="1772829"/>
                <a:chExt cx="4457986" cy="3947613"/>
              </a:xfrm>
            </p:grpSpPr>
            <p:sp>
              <p:nvSpPr>
                <p:cNvPr id="63" name="Rectangle : coins arrondis 62">
                  <a:extLst>
                    <a:ext uri="{FF2B5EF4-FFF2-40B4-BE49-F238E27FC236}">
                      <a16:creationId xmlns:a16="http://schemas.microsoft.com/office/drawing/2014/main" id="{ADDE8420-16FF-C048-A3B4-8AB2192C4F3A}"/>
                    </a:ext>
                  </a:extLst>
                </p:cNvPr>
                <p:cNvSpPr/>
                <p:nvPr/>
              </p:nvSpPr>
              <p:spPr>
                <a:xfrm>
                  <a:off x="3287485" y="1772829"/>
                  <a:ext cx="1828800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Stage</a:t>
                  </a:r>
                </a:p>
              </p:txBody>
            </p:sp>
            <p:sp>
              <p:nvSpPr>
                <p:cNvPr id="64" name="Rectangle : coins arrondis 63">
                  <a:extLst>
                    <a:ext uri="{FF2B5EF4-FFF2-40B4-BE49-F238E27FC236}">
                      <a16:creationId xmlns:a16="http://schemas.microsoft.com/office/drawing/2014/main" id="{D6B9524D-704E-1C40-9446-AB55BA5485F1}"/>
                    </a:ext>
                  </a:extLst>
                </p:cNvPr>
                <p:cNvSpPr/>
                <p:nvPr/>
              </p:nvSpPr>
              <p:spPr>
                <a:xfrm>
                  <a:off x="3287485" y="2645047"/>
                  <a:ext cx="1828800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latin typeface="Consolas" panose="020B0609020204030204" pitchFamily="49" charset="0"/>
                      <a:cs typeface="Consolas" panose="020B0609020204030204" pitchFamily="49" charset="0"/>
                    </a:rPr>
                    <a:t>Scene</a:t>
                  </a:r>
                  <a:endParaRPr lang="fr-FR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65" name="Rectangle : coins arrondis 64">
                  <a:extLst>
                    <a:ext uri="{FF2B5EF4-FFF2-40B4-BE49-F238E27FC236}">
                      <a16:creationId xmlns:a16="http://schemas.microsoft.com/office/drawing/2014/main" id="{5D99A977-7DAA-DB4F-B65A-0E23396CE70D}"/>
                    </a:ext>
                  </a:extLst>
                </p:cNvPr>
                <p:cNvSpPr/>
                <p:nvPr/>
              </p:nvSpPr>
              <p:spPr>
                <a:xfrm>
                  <a:off x="3287485" y="3517265"/>
                  <a:ext cx="1828800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latin typeface="Consolas" panose="020B0609020204030204" pitchFamily="49" charset="0"/>
                      <a:cs typeface="Consolas" panose="020B0609020204030204" pitchFamily="49" charset="0"/>
                    </a:rPr>
                    <a:t>BorderPane</a:t>
                  </a:r>
                  <a:endParaRPr lang="fr-FR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66" name="Rectangle : coins arrondis 65">
                  <a:extLst>
                    <a:ext uri="{FF2B5EF4-FFF2-40B4-BE49-F238E27FC236}">
                      <a16:creationId xmlns:a16="http://schemas.microsoft.com/office/drawing/2014/main" id="{6FEE9AA8-142D-AE4D-8A0B-3941041D9B5A}"/>
                    </a:ext>
                  </a:extLst>
                </p:cNvPr>
                <p:cNvSpPr/>
                <p:nvPr/>
              </p:nvSpPr>
              <p:spPr>
                <a:xfrm>
                  <a:off x="3287485" y="4389483"/>
                  <a:ext cx="1828800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latin typeface="Consolas" panose="020B0609020204030204" pitchFamily="49" charset="0"/>
                      <a:cs typeface="Consolas" panose="020B0609020204030204" pitchFamily="49" charset="0"/>
                    </a:rPr>
                    <a:t>StackPane</a:t>
                  </a:r>
                  <a:endParaRPr lang="fr-FR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67" name="Rectangle : coins arrondis 66">
                  <a:extLst>
                    <a:ext uri="{FF2B5EF4-FFF2-40B4-BE49-F238E27FC236}">
                      <a16:creationId xmlns:a16="http://schemas.microsoft.com/office/drawing/2014/main" id="{B6C26C93-F83C-674B-A5B3-3B34A0752C3E}"/>
                    </a:ext>
                  </a:extLst>
                </p:cNvPr>
                <p:cNvSpPr/>
                <p:nvPr/>
              </p:nvSpPr>
              <p:spPr>
                <a:xfrm>
                  <a:off x="1665513" y="5261700"/>
                  <a:ext cx="1828800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Rectangle</a:t>
                  </a:r>
                </a:p>
              </p:txBody>
            </p:sp>
            <p:sp>
              <p:nvSpPr>
                <p:cNvPr id="68" name="Rectangle : coins arrondis 67">
                  <a:extLst>
                    <a:ext uri="{FF2B5EF4-FFF2-40B4-BE49-F238E27FC236}">
                      <a16:creationId xmlns:a16="http://schemas.microsoft.com/office/drawing/2014/main" id="{2BC7AFE4-6A5F-8F45-A848-9879608279D4}"/>
                    </a:ext>
                  </a:extLst>
                </p:cNvPr>
                <p:cNvSpPr/>
                <p:nvPr/>
              </p:nvSpPr>
              <p:spPr>
                <a:xfrm>
                  <a:off x="4294701" y="5261700"/>
                  <a:ext cx="1828798" cy="45874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Circle</a:t>
                  </a:r>
                </a:p>
              </p:txBody>
            </p:sp>
          </p:grpSp>
          <p:grpSp>
            <p:nvGrpSpPr>
              <p:cNvPr id="69" name="Groupe 68">
                <a:extLst>
                  <a:ext uri="{FF2B5EF4-FFF2-40B4-BE49-F238E27FC236}">
                    <a16:creationId xmlns:a16="http://schemas.microsoft.com/office/drawing/2014/main" id="{73455187-FB3A-2341-87BA-1105977B2278}"/>
                  </a:ext>
                </a:extLst>
              </p:cNvPr>
              <p:cNvGrpSpPr/>
              <p:nvPr/>
            </p:nvGrpSpPr>
            <p:grpSpPr>
              <a:xfrm>
                <a:off x="2985180" y="4524800"/>
                <a:ext cx="5154241" cy="1441085"/>
                <a:chOff x="2985180" y="3334696"/>
                <a:chExt cx="5154241" cy="1441085"/>
              </a:xfrm>
            </p:grpSpPr>
            <p:sp>
              <p:nvSpPr>
                <p:cNvPr id="70" name="Terminaison 69">
                  <a:extLst>
                    <a:ext uri="{FF2B5EF4-FFF2-40B4-BE49-F238E27FC236}">
                      <a16:creationId xmlns:a16="http://schemas.microsoft.com/office/drawing/2014/main" id="{54C041B3-0E34-DD46-AC6A-C9A7D20E67D0}"/>
                    </a:ext>
                  </a:extLst>
                </p:cNvPr>
                <p:cNvSpPr/>
                <p:nvPr/>
              </p:nvSpPr>
              <p:spPr>
                <a:xfrm>
                  <a:off x="6327405" y="4474028"/>
                  <a:ext cx="1812016" cy="301753"/>
                </a:xfrm>
                <a:prstGeom prst="flowChartTerminator">
                  <a:avLst/>
                </a:prstGeom>
                <a:solidFill>
                  <a:schemeClr val="accent3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latin typeface="Consolas" panose="020B0609020204030204" pitchFamily="49" charset="0"/>
                      <a:cs typeface="Consolas" panose="020B0609020204030204" pitchFamily="49" charset="0"/>
                    </a:rPr>
                    <a:t>EventHandler</a:t>
                  </a:r>
                  <a:endParaRPr lang="fr-FR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cxnSp>
              <p:nvCxnSpPr>
                <p:cNvPr id="71" name="Connecteur droit 70">
                  <a:extLst>
                    <a:ext uri="{FF2B5EF4-FFF2-40B4-BE49-F238E27FC236}">
                      <a16:creationId xmlns:a16="http://schemas.microsoft.com/office/drawing/2014/main" id="{018D9DBE-4C3D-054C-8343-22B119E40B5E}"/>
                    </a:ext>
                  </a:extLst>
                </p:cNvPr>
                <p:cNvCxnSpPr>
                  <a:cxnSpLocks/>
                  <a:stCxn id="68" idx="3"/>
                  <a:endCxn id="70" idx="1"/>
                </p:cNvCxnSpPr>
                <p:nvPr/>
              </p:nvCxnSpPr>
              <p:spPr>
                <a:xfrm flipV="1">
                  <a:off x="5637826" y="4624905"/>
                  <a:ext cx="689580" cy="102312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Connecteur droit 116">
                  <a:extLst>
                    <a:ext uri="{FF2B5EF4-FFF2-40B4-BE49-F238E27FC236}">
                      <a16:creationId xmlns:a16="http://schemas.microsoft.com/office/drawing/2014/main" id="{A6EBECBF-3062-1B49-BCC3-46B8B23A0272}"/>
                    </a:ext>
                  </a:extLst>
                </p:cNvPr>
                <p:cNvCxnSpPr>
                  <a:cxnSpLocks/>
                  <a:stCxn id="82" idx="3"/>
                  <a:endCxn id="65" idx="1"/>
                </p:cNvCxnSpPr>
                <p:nvPr/>
              </p:nvCxnSpPr>
              <p:spPr>
                <a:xfrm flipV="1">
                  <a:off x="2985180" y="3334696"/>
                  <a:ext cx="388754" cy="67197"/>
                </a:xfrm>
                <a:prstGeom prst="line">
                  <a:avLst/>
                </a:prstGeom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necteur droit 6">
                  <a:extLst>
                    <a:ext uri="{FF2B5EF4-FFF2-40B4-BE49-F238E27FC236}">
                      <a16:creationId xmlns:a16="http://schemas.microsoft.com/office/drawing/2014/main" id="{D42A6597-471E-A0C9-658E-90A203C640C9}"/>
                    </a:ext>
                  </a:extLst>
                </p:cNvPr>
                <p:cNvCxnSpPr>
                  <a:cxnSpLocks/>
                  <a:stCxn id="82" idx="3"/>
                  <a:endCxn id="65" idx="1"/>
                </p:cNvCxnSpPr>
                <p:nvPr/>
              </p:nvCxnSpPr>
              <p:spPr>
                <a:xfrm flipV="1">
                  <a:off x="2985180" y="3334696"/>
                  <a:ext cx="388755" cy="67198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e 71">
                <a:extLst>
                  <a:ext uri="{FF2B5EF4-FFF2-40B4-BE49-F238E27FC236}">
                    <a16:creationId xmlns:a16="http://schemas.microsoft.com/office/drawing/2014/main" id="{2B63D6E3-FF51-1F48-909A-3108E74CC493}"/>
                  </a:ext>
                </a:extLst>
              </p:cNvPr>
              <p:cNvGrpSpPr/>
              <p:nvPr/>
            </p:nvGrpSpPr>
            <p:grpSpPr>
              <a:xfrm>
                <a:off x="5637825" y="5917321"/>
                <a:ext cx="2501597" cy="553032"/>
                <a:chOff x="5637825" y="4985658"/>
                <a:chExt cx="2501597" cy="553032"/>
              </a:xfrm>
            </p:grpSpPr>
            <p:sp>
              <p:nvSpPr>
                <p:cNvPr id="73" name="Terminaison 72">
                  <a:extLst>
                    <a:ext uri="{FF2B5EF4-FFF2-40B4-BE49-F238E27FC236}">
                      <a16:creationId xmlns:a16="http://schemas.microsoft.com/office/drawing/2014/main" id="{D01C6DC1-E722-D047-B1F3-B43CFB97D043}"/>
                    </a:ext>
                  </a:extLst>
                </p:cNvPr>
                <p:cNvSpPr/>
                <p:nvPr/>
              </p:nvSpPr>
              <p:spPr>
                <a:xfrm>
                  <a:off x="6327405" y="5236938"/>
                  <a:ext cx="1812017" cy="301752"/>
                </a:xfrm>
                <a:prstGeom prst="flowChartTerminator">
                  <a:avLst/>
                </a:prstGeom>
                <a:solidFill>
                  <a:schemeClr val="accent3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latin typeface="Consolas" panose="020B0609020204030204" pitchFamily="49" charset="0"/>
                      <a:cs typeface="Consolas" panose="020B0609020204030204" pitchFamily="49" charset="0"/>
                    </a:rPr>
                    <a:t>EventHandler</a:t>
                  </a:r>
                  <a:endParaRPr lang="fr-FR" sz="1200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cxnSp>
              <p:nvCxnSpPr>
                <p:cNvPr id="74" name="Connecteur droit 73">
                  <a:extLst>
                    <a:ext uri="{FF2B5EF4-FFF2-40B4-BE49-F238E27FC236}">
                      <a16:creationId xmlns:a16="http://schemas.microsoft.com/office/drawing/2014/main" id="{D1FA779F-DD26-914C-BD80-431C75797573}"/>
                    </a:ext>
                  </a:extLst>
                </p:cNvPr>
                <p:cNvCxnSpPr>
                  <a:cxnSpLocks/>
                  <a:stCxn id="68" idx="3"/>
                  <a:endCxn id="73" idx="1"/>
                </p:cNvCxnSpPr>
                <p:nvPr/>
              </p:nvCxnSpPr>
              <p:spPr>
                <a:xfrm>
                  <a:off x="5637825" y="4985658"/>
                  <a:ext cx="689580" cy="402156"/>
                </a:xfrm>
                <a:prstGeom prst="line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1A6390BD-5D42-D34F-8CD1-D10D82D52DA1}"/>
                  </a:ext>
                </a:extLst>
              </p:cNvPr>
              <p:cNvCxnSpPr>
                <a:cxnSpLocks/>
                <a:endCxn id="64" idx="0"/>
              </p:cNvCxnSpPr>
              <p:nvPr/>
            </p:nvCxnSpPr>
            <p:spPr>
              <a:xfrm>
                <a:off x="4103867" y="3315377"/>
                <a:ext cx="1" cy="33006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eur droit 76">
                <a:extLst>
                  <a:ext uri="{FF2B5EF4-FFF2-40B4-BE49-F238E27FC236}">
                    <a16:creationId xmlns:a16="http://schemas.microsoft.com/office/drawing/2014/main" id="{6B9CF028-8FF6-5D40-BA5D-ED53F81A5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3867" y="4002412"/>
                <a:ext cx="1" cy="33006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eur droit 77">
                <a:extLst>
                  <a:ext uri="{FF2B5EF4-FFF2-40B4-BE49-F238E27FC236}">
                    <a16:creationId xmlns:a16="http://schemas.microsoft.com/office/drawing/2014/main" id="{E4026834-8FE7-4147-B4CB-95ADD3339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3867" y="4709219"/>
                <a:ext cx="1" cy="33006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necteur droit 78">
                <a:extLst>
                  <a:ext uri="{FF2B5EF4-FFF2-40B4-BE49-F238E27FC236}">
                    <a16:creationId xmlns:a16="http://schemas.microsoft.com/office/drawing/2014/main" id="{F27E3CEC-506A-A64A-8B94-306C0342717B}"/>
                  </a:ext>
                </a:extLst>
              </p:cNvPr>
              <p:cNvCxnSpPr>
                <a:cxnSpLocks/>
                <a:stCxn id="66" idx="2"/>
                <a:endCxn id="68" idx="0"/>
              </p:cNvCxnSpPr>
              <p:nvPr/>
            </p:nvCxnSpPr>
            <p:spPr>
              <a:xfrm>
                <a:off x="4103868" y="5404160"/>
                <a:ext cx="804025" cy="330063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necteur droit 79">
                <a:extLst>
                  <a:ext uri="{FF2B5EF4-FFF2-40B4-BE49-F238E27FC236}">
                    <a16:creationId xmlns:a16="http://schemas.microsoft.com/office/drawing/2014/main" id="{D931EB0C-936A-2749-837E-ED5C53D722E5}"/>
                  </a:ext>
                </a:extLst>
              </p:cNvPr>
              <p:cNvCxnSpPr>
                <a:cxnSpLocks/>
                <a:endCxn id="67" idx="0"/>
              </p:cNvCxnSpPr>
              <p:nvPr/>
            </p:nvCxnSpPr>
            <p:spPr>
              <a:xfrm flipH="1">
                <a:off x="2809105" y="5411083"/>
                <a:ext cx="1294762" cy="32313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B198C4BC-7182-3E44-96F2-6A99DC9FBC0E}"/>
                  </a:ext>
                </a:extLst>
              </p:cNvPr>
              <p:cNvGrpSpPr/>
              <p:nvPr/>
            </p:nvGrpSpPr>
            <p:grpSpPr>
              <a:xfrm>
                <a:off x="1173162" y="4441121"/>
                <a:ext cx="2200772" cy="1341095"/>
                <a:chOff x="1173162" y="3251017"/>
                <a:chExt cx="2200772" cy="1341095"/>
              </a:xfrm>
            </p:grpSpPr>
            <p:sp>
              <p:nvSpPr>
                <p:cNvPr id="82" name="Terminaison 81">
                  <a:extLst>
                    <a:ext uri="{FF2B5EF4-FFF2-40B4-BE49-F238E27FC236}">
                      <a16:creationId xmlns:a16="http://schemas.microsoft.com/office/drawing/2014/main" id="{5B5E4F1D-4649-DA48-A119-7471E8A63FE2}"/>
                    </a:ext>
                  </a:extLst>
                </p:cNvPr>
                <p:cNvSpPr/>
                <p:nvPr/>
              </p:nvSpPr>
              <p:spPr>
                <a:xfrm>
                  <a:off x="1173162" y="3251017"/>
                  <a:ext cx="1812018" cy="301752"/>
                </a:xfrm>
                <a:prstGeom prst="flowChartTerminator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200" dirty="0" err="1">
                      <a:solidFill>
                        <a:schemeClr val="accent5">
                          <a:lumMod val="50000"/>
                        </a:schemeClr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EventFilter</a:t>
                  </a:r>
                  <a:endParaRPr lang="fr-FR" sz="1200" dirty="0">
                    <a:solidFill>
                      <a:schemeClr val="accent5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  <p:cxnSp>
              <p:nvCxnSpPr>
                <p:cNvPr id="83" name="Connecteur droit 82">
                  <a:extLst>
                    <a:ext uri="{FF2B5EF4-FFF2-40B4-BE49-F238E27FC236}">
                      <a16:creationId xmlns:a16="http://schemas.microsoft.com/office/drawing/2014/main" id="{B5B28447-E0CB-CE47-B040-BFEE518D3C7F}"/>
                    </a:ext>
                  </a:extLst>
                </p:cNvPr>
                <p:cNvCxnSpPr>
                  <a:cxnSpLocks/>
                  <a:endCxn id="65" idx="1"/>
                </p:cNvCxnSpPr>
                <p:nvPr/>
              </p:nvCxnSpPr>
              <p:spPr>
                <a:xfrm flipV="1">
                  <a:off x="2985180" y="4524800"/>
                  <a:ext cx="388754" cy="67312"/>
                </a:xfrm>
                <a:prstGeom prst="line">
                  <a:avLst/>
                </a:prstGeom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C13FDC46-557E-2F48-9928-F603B7F11D08}"/>
                </a:ext>
              </a:extLst>
            </p:cNvPr>
            <p:cNvSpPr/>
            <p:nvPr/>
          </p:nvSpPr>
          <p:spPr>
            <a:xfrm>
              <a:off x="7532596" y="4633810"/>
              <a:ext cx="311338" cy="3113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/>
                <a:t>3</a:t>
              </a:r>
            </a:p>
          </p:txBody>
        </p:sp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1BB6F79E-12B9-884D-B9FC-36CF542CCA3F}"/>
                </a:ext>
              </a:extLst>
            </p:cNvPr>
            <p:cNvSpPr/>
            <p:nvPr/>
          </p:nvSpPr>
          <p:spPr>
            <a:xfrm>
              <a:off x="7532596" y="5066297"/>
              <a:ext cx="311338" cy="3113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/>
                <a:t>2</a:t>
              </a:r>
            </a:p>
          </p:txBody>
        </p: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905C7A43-4029-0546-95A0-384F1185D1BA}"/>
                </a:ext>
              </a:extLst>
            </p:cNvPr>
            <p:cNvSpPr/>
            <p:nvPr/>
          </p:nvSpPr>
          <p:spPr>
            <a:xfrm>
              <a:off x="1431503" y="3348707"/>
              <a:ext cx="311338" cy="3113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/>
                <a:t>1</a:t>
              </a: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A9A02F1-39F0-B833-97CF-2A6731C11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/>
          </a:p>
        </p:txBody>
      </p:sp>
      <p:pic>
        <p:nvPicPr>
          <p:cNvPr id="8" name="Picture 2" descr="blog-nutrition-outlet">
            <a:extLst>
              <a:ext uri="{FF2B5EF4-FFF2-40B4-BE49-F238E27FC236}">
                <a16:creationId xmlns:a16="http://schemas.microsoft.com/office/drawing/2014/main" id="{CF221289-BE3A-DC55-7799-8AED57817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618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es composants graphiques d'une application java ">
            <a:extLst>
              <a:ext uri="{FF2B5EF4-FFF2-40B4-BE49-F238E27FC236}">
                <a16:creationId xmlns:a16="http://schemas.microsoft.com/office/drawing/2014/main" id="{673DF300-F788-7057-BF3F-73D803E4A4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5" b="293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3C518A9-F53E-AF8B-1A0F-DE0E577D97C6}"/>
              </a:ext>
            </a:extLst>
          </p:cNvPr>
          <p:cNvSpPr txBox="1"/>
          <p:nvPr/>
        </p:nvSpPr>
        <p:spPr>
          <a:xfrm>
            <a:off x="838200" y="947821"/>
            <a:ext cx="10515600" cy="923330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5400" b="1" dirty="0" err="1"/>
              <a:t>Layouts</a:t>
            </a:r>
            <a:r>
              <a:rPr lang="fr-FR" sz="5400" b="1" dirty="0"/>
              <a:t> et contrôles</a:t>
            </a:r>
            <a:endParaRPr lang="fr-FR" sz="1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6827A0-833A-F971-0F39-65B0CC03A55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112D41">
              <a:alpha val="5137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Les constituants de la vue</a:t>
            </a:r>
          </a:p>
        </p:txBody>
      </p:sp>
    </p:spTree>
    <p:extLst>
      <p:ext uri="{BB962C8B-B14F-4D97-AF65-F5344CB8AC3E}">
        <p14:creationId xmlns:p14="http://schemas.microsoft.com/office/powerpoint/2010/main" val="296404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Stage / </a:t>
            </a:r>
            <a:r>
              <a:rPr lang="fr-FR" dirty="0" err="1">
                <a:solidFill>
                  <a:schemeClr val="accent4"/>
                </a:solidFill>
              </a:rPr>
              <a:t>Scene</a:t>
            </a:r>
            <a:r>
              <a:rPr lang="fr-FR" dirty="0">
                <a:solidFill>
                  <a:schemeClr val="accent4"/>
                </a:solidFill>
              </a:rPr>
              <a:t> / </a:t>
            </a:r>
            <a:r>
              <a:rPr lang="fr-FR" dirty="0" err="1">
                <a:solidFill>
                  <a:schemeClr val="accent4"/>
                </a:solidFill>
              </a:rPr>
              <a:t>Layout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8A2038-1E80-2C73-798F-920124AA9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432178"/>
      </p:ext>
    </p:extLst>
  </p:cSld>
  <p:clrMapOvr>
    <a:masterClrMapping/>
  </p:clrMapOvr>
  <p:transition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7DBDA5-5E17-5AF3-84C6-B451F80E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Stage / </a:t>
            </a:r>
            <a:r>
              <a:rPr lang="fr-FR" dirty="0" err="1"/>
              <a:t>Scene</a:t>
            </a:r>
            <a:endParaRPr lang="fr-FR" dirty="0"/>
          </a:p>
        </p:txBody>
      </p:sp>
      <p:pic>
        <p:nvPicPr>
          <p:cNvPr id="6" name="Picture 2" descr="The JavaFX Scene - what it is and how to use it effectively – Eden Coding">
            <a:extLst>
              <a:ext uri="{FF2B5EF4-FFF2-40B4-BE49-F238E27FC236}">
                <a16:creationId xmlns:a16="http://schemas.microsoft.com/office/drawing/2014/main" id="{633ADCD0-4824-E94E-AC71-63A6C4BCDB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988634" y="1479032"/>
            <a:ext cx="8214732" cy="462078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8ED4BAB-953D-8A9D-6BA2-AFE752453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934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Stage / </a:t>
            </a:r>
            <a:r>
              <a:rPr lang="fr-FR" dirty="0" err="1"/>
              <a:t>Scene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Dans une application </a:t>
            </a:r>
            <a:r>
              <a:rPr lang="fr-FR" dirty="0" err="1"/>
              <a:t>JavaFX</a:t>
            </a:r>
            <a:r>
              <a:rPr lang="fr-FR" dirty="0"/>
              <a:t>, nous avons rencontré les classes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ainsi que plusieurs gestionnaires de </a:t>
            </a:r>
            <a:r>
              <a:rPr lang="fr-FR" dirty="0" err="1"/>
              <a:t>Layout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 est la fenêtre principale de l’application. Si votre application présente plusieurs fenêtres, chacune sera un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.</a:t>
            </a:r>
          </a:p>
          <a:p>
            <a:r>
              <a:rPr lang="fr-FR" dirty="0"/>
              <a:t>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est une certaine présentation de la fenêtre. Pour  modifier le contenu de la fenêtre, il suffit de créer un autre objet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et de le placer dans 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Dans une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, les éléments sont placés dans un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Pane</a:t>
            </a:r>
            <a:r>
              <a:rPr lang="fr-FR" dirty="0"/>
              <a:t> qui gère la manière dont ceux-ci se positionnent.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2DF54F-B21C-4B43-B58A-EE1AE1CC9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5543" y="132079"/>
            <a:ext cx="1809933" cy="13517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BDA17A-4A3C-BE45-0BD2-906AF76CE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778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Quelques propriétés du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:</a:t>
            </a:r>
          </a:p>
          <a:p>
            <a:pPr marL="285750" indent="-28575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StageStyle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{DECORATED, UNDECORATED, TRANSPARENT, UTILITY}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Owner</a:t>
            </a:r>
            <a:r>
              <a:rPr lang="fr-FR" dirty="0"/>
              <a:t> (la fenêtre à laquelle 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Stage</a:t>
            </a:r>
            <a:r>
              <a:rPr lang="fr-FR" dirty="0"/>
              <a:t> appartient). </a:t>
            </a:r>
            <a:br>
              <a:rPr lang="fr-FR" dirty="0"/>
            </a:br>
            <a:r>
              <a:rPr lang="fr-FR" dirty="0"/>
              <a:t>Quand l’</a:t>
            </a:r>
            <a:r>
              <a:rPr lang="fr-FR" dirty="0" err="1"/>
              <a:t>Owner</a:t>
            </a:r>
            <a:r>
              <a:rPr lang="fr-FR" dirty="0"/>
              <a:t> est fermé, toutes les sous-fenêtres le sont également.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Modality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{NONE, WINDOW_MODAL, APPLICATION_MODAL}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maxWidth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maxHeight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minWidth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minHeight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resizable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/>
            <a:endParaRPr lang="fr-FR" sz="1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3E8283-FC2D-E443-AD53-DD63C1CE0C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5543" y="132079"/>
            <a:ext cx="1809933" cy="13517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E8E648-A941-D158-228A-508685DEA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596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4723E76-2575-FA48-B426-8AE28DF44C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5543" y="122140"/>
            <a:ext cx="1802958" cy="13716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Scene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objet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contient un graphe d’éléments: des contenants (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</a:t>
            </a:r>
            <a:r>
              <a:rPr lang="fr-FR" dirty="0"/>
              <a:t>) et des </a:t>
            </a:r>
            <a:r>
              <a:rPr lang="fr-FR" dirty="0" err="1"/>
              <a:t>nodes</a:t>
            </a:r>
            <a:r>
              <a:rPr lang="fr-FR" dirty="0"/>
              <a:t> terminaux.</a:t>
            </a:r>
          </a:p>
          <a:p>
            <a:pPr marL="0" indent="0">
              <a:buNone/>
            </a:pPr>
            <a:r>
              <a:rPr lang="fr-FR" dirty="0"/>
              <a:t>On peut créer plusieurs objets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au sein de la même application, et passer de l’un à l’autre au besoin.</a:t>
            </a:r>
          </a:p>
          <a:p>
            <a:pPr marL="0" indent="0">
              <a:buNone/>
            </a:pPr>
            <a:r>
              <a:rPr lang="fr-FR" dirty="0"/>
              <a:t>Si la taille de 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n’est pas spécifiée, celle-ci s’adapte à son contenu.</a:t>
            </a:r>
          </a:p>
          <a:p>
            <a:pPr marL="0" indent="0">
              <a:buNone/>
            </a:pPr>
            <a:r>
              <a:rPr lang="fr-FR" dirty="0"/>
              <a:t>Le constructeur de l’objet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 doit recevoir au moins un objet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</a:t>
            </a:r>
            <a:r>
              <a:rPr lang="fr-FR" dirty="0"/>
              <a:t>, qui sera la racine du graphe de 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Scene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FB981B4-5B36-B448-ABC6-38ED6C3AA176}"/>
              </a:ext>
            </a:extLst>
          </p:cNvPr>
          <p:cNvGrpSpPr/>
          <p:nvPr/>
        </p:nvGrpSpPr>
        <p:grpSpPr>
          <a:xfrm>
            <a:off x="5794443" y="6188405"/>
            <a:ext cx="3918566" cy="504000"/>
            <a:chOff x="4843436" y="5430943"/>
            <a:chExt cx="3918566" cy="504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DB0F25-B26B-A844-97F7-D2426E0851CA}"/>
                </a:ext>
              </a:extLst>
            </p:cNvPr>
            <p:cNvSpPr/>
            <p:nvPr/>
          </p:nvSpPr>
          <p:spPr>
            <a:xfrm>
              <a:off x="5350299" y="5513666"/>
              <a:ext cx="34117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_6sceneSwitcher.SceneSwitcherApp</a:t>
              </a:r>
              <a:endParaRPr lang="fr-FR" sz="1600" b="1" dirty="0"/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007889B3-2586-4645-AF24-BD664F84F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40B30C-98B5-1726-1131-DACE2068F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7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Quitter une application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543F76-C256-C3FC-3BEC-47249A81D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179212"/>
      </p:ext>
    </p:extLst>
  </p:cSld>
  <p:clrMapOvr>
    <a:masterClrMapping/>
  </p:clrMapOvr>
  <p:transition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Quitter l’application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La fermeture d’une application peut se faire de différentes manières: </a:t>
            </a:r>
          </a:p>
          <a:p>
            <a:pPr marL="285750" indent="-285750"/>
            <a:r>
              <a:rPr lang="fr-FR" sz="2400" dirty="0"/>
              <a:t>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sz="2400" dirty="0"/>
              <a:t> ‘Quitter’, </a:t>
            </a:r>
          </a:p>
          <a:p>
            <a:pPr marL="285750" indent="-285750"/>
            <a:r>
              <a:rPr lang="fr-FR" sz="2400" dirty="0"/>
              <a:t>une option dans un menu, </a:t>
            </a:r>
          </a:p>
          <a:p>
            <a:pPr marL="285750" indent="-285750"/>
            <a:r>
              <a:rPr lang="fr-FR" sz="2400" dirty="0"/>
              <a:t>la fermeture de la fenêtre principale.</a:t>
            </a:r>
          </a:p>
          <a:p>
            <a:pPr marL="0" indent="0">
              <a:buNone/>
            </a:pPr>
            <a:r>
              <a:rPr lang="fr-FR" sz="2400" dirty="0"/>
              <a:t>Vous pouvez implémenter une méthode qui affiche une boîte de dialogue « Quitter? Oui/Non » puis ferme les fichiers,… Il faudra alors qu’elle soit appelée à chacun des trois événements ci-dessus.</a:t>
            </a:r>
          </a:p>
          <a:p>
            <a:pPr marL="0" indent="0">
              <a:buNone/>
            </a:pPr>
            <a:r>
              <a:rPr lang="fr-FR" sz="2400" dirty="0"/>
              <a:t>La fermeture de la fenêtre génère un événement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CloseRequest</a:t>
            </a:r>
            <a:r>
              <a:rPr lang="fr-FR" sz="2400" dirty="0"/>
              <a:t>.</a:t>
            </a:r>
            <a:endParaRPr lang="fr-FR" sz="20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78B36D2-E995-E24A-AB57-E8EC6D61204F}"/>
              </a:ext>
            </a:extLst>
          </p:cNvPr>
          <p:cNvGrpSpPr/>
          <p:nvPr/>
        </p:nvGrpSpPr>
        <p:grpSpPr>
          <a:xfrm>
            <a:off x="5794443" y="6188405"/>
            <a:ext cx="2368270" cy="504000"/>
            <a:chOff x="4843436" y="5430943"/>
            <a:chExt cx="2368270" cy="50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83976B-2A82-344A-A9D9-1FB8932A7CE8}"/>
                </a:ext>
              </a:extLst>
            </p:cNvPr>
            <p:cNvSpPr/>
            <p:nvPr/>
          </p:nvSpPr>
          <p:spPr>
            <a:xfrm>
              <a:off x="5350299" y="5513666"/>
              <a:ext cx="18614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_7exitApp.ExitApp</a:t>
              </a:r>
              <a:endParaRPr lang="fr-FR" sz="1600" b="1" dirty="0"/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EEDCF840-83BE-494C-8EF6-7157B3CFE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1EEBE4-43BA-467D-38C5-90F3B3380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60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>
                <a:solidFill>
                  <a:schemeClr val="accent4"/>
                </a:solidFill>
              </a:rPr>
              <a:t>Layouts</a:t>
            </a:r>
            <a:r>
              <a:rPr lang="fr-FR" dirty="0">
                <a:solidFill>
                  <a:schemeClr val="accent4"/>
                </a:solidFill>
              </a:rPr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Contrôles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884B90-ADCC-001F-8769-B2F5B71CC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334836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Layout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En </a:t>
            </a:r>
            <a:r>
              <a:rPr lang="fr-FR" sz="2400" dirty="0" err="1"/>
              <a:t>JavaFX</a:t>
            </a:r>
            <a:r>
              <a:rPr lang="fr-FR" sz="2400" dirty="0"/>
              <a:t>, c’est une bonne pratique de ne pas gérer soi-même la manière dont les éléments s’agencent à l’écran, mais de laisser cela à des objets dont c’est le rôle.</a:t>
            </a:r>
          </a:p>
          <a:p>
            <a:pPr marL="0" indent="0">
              <a:buNone/>
            </a:pPr>
            <a:r>
              <a:rPr lang="fr-FR" sz="2400" dirty="0"/>
              <a:t>Quelques gestionnaires de </a:t>
            </a:r>
            <a:r>
              <a:rPr lang="fr-FR" sz="2400" dirty="0" err="1"/>
              <a:t>layout</a:t>
            </a:r>
            <a:r>
              <a:rPr lang="fr-FR" sz="2400" dirty="0"/>
              <a:t> :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sz="2400" dirty="0"/>
              <a:t>:  les éléments sont disposés verticalement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sz="2400" dirty="0"/>
              <a:t>: les éléments sont disposés horizontalement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FlowPane</a:t>
            </a:r>
            <a:r>
              <a:rPr lang="fr-FR" sz="2400" dirty="0"/>
              <a:t>: placement comme un texte 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BorderPane</a:t>
            </a:r>
            <a:r>
              <a:rPr lang="fr-FR" sz="2400" dirty="0"/>
              <a:t>: ce </a:t>
            </a:r>
            <a:r>
              <a:rPr lang="fr-FR" sz="2400" dirty="0" err="1"/>
              <a:t>layout</a:t>
            </a:r>
            <a:r>
              <a:rPr lang="fr-FR" sz="2400" dirty="0"/>
              <a:t> présente 5 zones: Center, Top, </a:t>
            </a:r>
            <a:r>
              <a:rPr lang="fr-FR" sz="2400" dirty="0" err="1"/>
              <a:t>Bottom</a:t>
            </a:r>
            <a:r>
              <a:rPr lang="fr-FR" sz="2400" dirty="0"/>
              <a:t>, </a:t>
            </a:r>
            <a:r>
              <a:rPr lang="fr-FR" sz="2400" dirty="0" err="1"/>
              <a:t>Left</a:t>
            </a:r>
            <a:r>
              <a:rPr lang="fr-FR" sz="2400" dirty="0"/>
              <a:t> et Right.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GridPane</a:t>
            </a:r>
            <a:r>
              <a:rPr lang="fr-FR" sz="2400" dirty="0"/>
              <a:t>: placement dans une grille (comme un tableau Excel)</a:t>
            </a:r>
          </a:p>
          <a:p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sz="2400" dirty="0"/>
              <a:t>: placement les uns au dessus des autres</a:t>
            </a:r>
          </a:p>
          <a:p>
            <a:endParaRPr lang="fr-FR" sz="2400" dirty="0"/>
          </a:p>
          <a:p>
            <a:endParaRPr lang="fr-FR" sz="2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E3E22F0-36E3-314E-B462-69FEF2A62F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6132" y="230192"/>
            <a:ext cx="1728249" cy="1347503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C13903DC-13FE-B94F-AAE3-BC140AFDE0FF}"/>
              </a:ext>
            </a:extLst>
          </p:cNvPr>
          <p:cNvGrpSpPr/>
          <p:nvPr/>
        </p:nvGrpSpPr>
        <p:grpSpPr>
          <a:xfrm>
            <a:off x="5794444" y="6188405"/>
            <a:ext cx="2692077" cy="504000"/>
            <a:chOff x="4843436" y="5430943"/>
            <a:chExt cx="2692077" cy="504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A4DBE6-0BC2-0948-B94C-516E9A0672FC}"/>
                </a:ext>
              </a:extLst>
            </p:cNvPr>
            <p:cNvSpPr/>
            <p:nvPr/>
          </p:nvSpPr>
          <p:spPr>
            <a:xfrm>
              <a:off x="5350299" y="5513666"/>
              <a:ext cx="218521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_8layouts.LayoutsApp</a:t>
              </a:r>
              <a:endParaRPr lang="fr-FR" sz="1600" b="1" dirty="0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F62758C-9000-E143-A76E-0DFE21F97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96AB2E-464A-F545-EF12-DDDDE34CE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36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Events, </a:t>
            </a:r>
            <a:r>
              <a:rPr lang="fr-FR" dirty="0" err="1"/>
              <a:t>EventHandlers</a:t>
            </a:r>
            <a:r>
              <a:rPr lang="fr-FR" dirty="0"/>
              <a:t> et </a:t>
            </a:r>
            <a:r>
              <a:rPr lang="fr-FR" dirty="0" err="1"/>
              <a:t>EventFilters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Stage / </a:t>
            </a:r>
            <a:r>
              <a:rPr lang="fr-FR" dirty="0" err="1"/>
              <a:t>Scene</a:t>
            </a:r>
            <a:r>
              <a:rPr lang="fr-FR" dirty="0"/>
              <a:t> / </a:t>
            </a:r>
            <a:r>
              <a:rPr lang="fr-FR" dirty="0" err="1"/>
              <a:t>Layout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Quitter une application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 err="1"/>
              <a:t>Layouts</a:t>
            </a:r>
            <a:r>
              <a:rPr lang="fr-FR" dirty="0"/>
              <a:t> principaux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Contrôles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4B0C75-6585-7DEA-FAEB-07D8A7E63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552885"/>
      </p:ext>
    </p:extLst>
  </p:cSld>
  <p:clrMapOvr>
    <a:masterClrMapping/>
  </p:clrMapOvr>
  <p:transition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Contrôles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Etant un ensemble de packages dédiés à la création d’interfaces graphiques, il est normal que </a:t>
            </a:r>
            <a:r>
              <a:rPr lang="fr-FR" dirty="0" err="1"/>
              <a:t>JavaFX</a:t>
            </a:r>
            <a:r>
              <a:rPr lang="fr-FR" dirty="0"/>
              <a:t> présente des contrôles.</a:t>
            </a:r>
          </a:p>
          <a:p>
            <a:pPr marL="0" indent="0">
              <a:buNone/>
            </a:pPr>
            <a:r>
              <a:rPr lang="fr-FR" dirty="0"/>
              <a:t>Nous passerons en revue </a:t>
            </a:r>
          </a:p>
          <a:p>
            <a:pPr marL="342900" indent="-342900"/>
            <a:r>
              <a:rPr lang="fr-FR" dirty="0"/>
              <a:t>Quelques contrôles simples (destinés à recevoir les entrées de l’utilisateur)</a:t>
            </a:r>
          </a:p>
          <a:p>
            <a:pPr marL="342900" indent="-342900"/>
            <a:r>
              <a:rPr lang="fr-FR" dirty="0"/>
              <a:t>Quelques contrôles plus avancés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CAF99C-AA48-A343-AB99-8591E13BA6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2068" y="230192"/>
            <a:ext cx="2604202" cy="12454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841016-0301-C81E-C0FA-093E29DB0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311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Contrôles Simples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TextField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TextField</a:t>
            </a:r>
            <a:r>
              <a:rPr lang="fr-FR" dirty="0"/>
              <a:t> est une boîte dans laquelle l’utilisateur peut entrer du texte.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fr-FR" dirty="0"/>
              <a:t> est un contrôle qui peut être coché ou non par l’utilisateur.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RadioButton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RadioButton</a:t>
            </a:r>
            <a:r>
              <a:rPr lang="fr-FR" dirty="0"/>
              <a:t> ressemble à 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fr-FR" dirty="0"/>
              <a:t>, à cela près qu’ils sont généralement présentés en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ToggleGroup</a:t>
            </a:r>
            <a:r>
              <a:rPr lang="fr-FR" dirty="0"/>
              <a:t> et que l’utilisateur ne peut qu’en sélectionner un seul.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2A91B44-AF09-5D4C-A8D0-D698EBBF362A}"/>
              </a:ext>
            </a:extLst>
          </p:cNvPr>
          <p:cNvGrpSpPr/>
          <p:nvPr/>
        </p:nvGrpSpPr>
        <p:grpSpPr>
          <a:xfrm>
            <a:off x="5794443" y="6188405"/>
            <a:ext cx="2512540" cy="504000"/>
            <a:chOff x="4843436" y="5430943"/>
            <a:chExt cx="2512540" cy="504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428008-4C10-5547-8D47-ECA74C92162F}"/>
                </a:ext>
              </a:extLst>
            </p:cNvPr>
            <p:cNvSpPr/>
            <p:nvPr/>
          </p:nvSpPr>
          <p:spPr>
            <a:xfrm>
              <a:off x="5350299" y="5513666"/>
              <a:ext cx="20056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_09simpleControls.*</a:t>
              </a:r>
              <a:endParaRPr lang="fr-FR" sz="1600" b="1" dirty="0"/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08A54DD-EFCA-3A40-988C-DAC1F04CB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08CBE250-C7DF-A747-A96B-0B1BED0050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20911" y="1458623"/>
            <a:ext cx="3416300" cy="48701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BD2A47-7185-144F-8BDB-7DCD352FA8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424" y="2989249"/>
            <a:ext cx="1360280" cy="39956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4A05DC0-3C2A-0644-960F-A9A08051382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36"/>
          <a:stretch/>
        </p:blipFill>
        <p:spPr>
          <a:xfrm>
            <a:off x="5580546" y="4470180"/>
            <a:ext cx="1360280" cy="399567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8F37F-C736-8BDC-8770-18E9D343D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9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Contrôles Avancés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Slider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Slider</a:t>
            </a:r>
            <a:r>
              <a:rPr lang="fr-FR" dirty="0"/>
              <a:t> est un contrôle qui permet de doser une valeur.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ProgressBar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ProgressBar</a:t>
            </a:r>
            <a:r>
              <a:rPr lang="fr-FR" dirty="0"/>
              <a:t> montre un état d’avancement.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ProgressIndicator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Un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ProgressIndicator</a:t>
            </a:r>
            <a:r>
              <a:rPr lang="fr-FR" dirty="0"/>
              <a:t> est une autre manière de montrer l’avancement d’un processus.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2A91B44-AF09-5D4C-A8D0-D698EBBF362A}"/>
              </a:ext>
            </a:extLst>
          </p:cNvPr>
          <p:cNvGrpSpPr/>
          <p:nvPr/>
        </p:nvGrpSpPr>
        <p:grpSpPr>
          <a:xfrm>
            <a:off x="5794443" y="6188405"/>
            <a:ext cx="2767418" cy="504000"/>
            <a:chOff x="4843436" y="5430943"/>
            <a:chExt cx="2767418" cy="504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428008-4C10-5547-8D47-ECA74C92162F}"/>
                </a:ext>
              </a:extLst>
            </p:cNvPr>
            <p:cNvSpPr/>
            <p:nvPr/>
          </p:nvSpPr>
          <p:spPr>
            <a:xfrm>
              <a:off x="5350299" y="5513666"/>
              <a:ext cx="226055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sz="1600" b="1" dirty="0"/>
                <a:t>_10advancedControls.*</a:t>
              </a:r>
              <a:endParaRPr lang="fr-FR" sz="1600" b="1" dirty="0"/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08A54DD-EFCA-3A40-988C-DAC1F04CB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3436" y="5430943"/>
              <a:ext cx="506863" cy="504000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E798BB-25FF-3C66-D1B8-F2C63952D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7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pic>
        <p:nvPicPr>
          <p:cNvPr id="4" name="Picture 6" descr="AI &amp; Big Data | IAV">
            <a:extLst>
              <a:ext uri="{FF2B5EF4-FFF2-40B4-BE49-F238E27FC236}">
                <a16:creationId xmlns:a16="http://schemas.microsoft.com/office/drawing/2014/main" id="{ABCF0774-D7EC-2D44-A779-3AAEFAF57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581" r="19581"/>
          <a:stretch/>
        </p:blipFill>
        <p:spPr bwMode="auto">
          <a:xfrm>
            <a:off x="3407229" y="942975"/>
            <a:ext cx="5377542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E9D83CF-0B38-35E5-F2ED-F941D9020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33698"/>
      </p:ext>
    </p:extLst>
  </p:cSld>
  <p:clrMapOvr>
    <a:masterClrMapping/>
  </p:clrMapOvr>
  <p:transition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Créez une application composée d’un champ texte et d’un bouton.</a:t>
            </a:r>
          </a:p>
          <a:p>
            <a:pPr marL="0" indent="0">
              <a:buNone/>
            </a:pPr>
            <a:r>
              <a:rPr lang="fr-FR" dirty="0"/>
              <a:t>Cette application vous permettra de compter le nombre de participants à un événement.</a:t>
            </a:r>
          </a:p>
          <a:p>
            <a:pPr marL="0" indent="0">
              <a:buNone/>
            </a:pPr>
            <a:r>
              <a:rPr lang="fr-FR" dirty="0"/>
              <a:t>A chaque participant, vous enfoncerez le bouton ‘+1’ et la valeur dans le champ texte sera incrémentée.</a:t>
            </a:r>
          </a:p>
          <a:p>
            <a:pPr marL="0" indent="0">
              <a:buNone/>
            </a:pPr>
            <a:r>
              <a:rPr lang="fr-FR" dirty="0"/>
              <a:t>La valeur initiale du champ texte est ‘0’.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943100" y="4695092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943100" y="2945423"/>
            <a:ext cx="2180492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pic>
        <p:nvPicPr>
          <p:cNvPr id="7" name="Picture 2" descr="blog-nutrition-outlet">
            <a:extLst>
              <a:ext uri="{FF2B5EF4-FFF2-40B4-BE49-F238E27FC236}">
                <a16:creationId xmlns:a16="http://schemas.microsoft.com/office/drawing/2014/main" id="{08319EF9-9216-0FCF-C2D3-D55C35826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0A819B5-70EC-3709-6E57-09EB875F4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0796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Vous reprenez l’application précédente, en lui ajoutant un bouton ‘Reset’ qui remet à zéro le compteur.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943100" y="4695092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943100" y="2945423"/>
            <a:ext cx="2180492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pic>
        <p:nvPicPr>
          <p:cNvPr id="8" name="Picture 2" descr="blog-nutrition-outlet">
            <a:extLst>
              <a:ext uri="{FF2B5EF4-FFF2-40B4-BE49-F238E27FC236}">
                <a16:creationId xmlns:a16="http://schemas.microsoft.com/office/drawing/2014/main" id="{AEF80C90-81FA-6014-7403-7CC25049A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04ABF81-FCA9-9B31-C622-8D5577CD6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7769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Votre application fonctionnant bien, on vous a maintenant demandé de compter séparément les hommes et les femmes.</a:t>
            </a:r>
          </a:p>
          <a:p>
            <a:pPr marL="0" indent="0">
              <a:buNone/>
            </a:pPr>
            <a:r>
              <a:rPr lang="fr-FR" dirty="0"/>
              <a:t>Vous allez donc ajouter un deuxième bouton et un deuxième champ texte.</a:t>
            </a:r>
          </a:p>
          <a:p>
            <a:pPr marL="0" indent="0">
              <a:buNone/>
            </a:pPr>
            <a:r>
              <a:rPr lang="fr-FR" dirty="0"/>
              <a:t>Vous pouvez également ajouter un label au dessus des compteurs.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591408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591408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375409-6CA3-E4E7-E18C-5728A5ED7B5A}"/>
              </a:ext>
            </a:extLst>
          </p:cNvPr>
          <p:cNvSpPr/>
          <p:nvPr/>
        </p:nvSpPr>
        <p:spPr>
          <a:xfrm>
            <a:off x="3200400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71C259A-2475-5A05-EC7B-2D3CFA80D57A}"/>
              </a:ext>
            </a:extLst>
          </p:cNvPr>
          <p:cNvSpPr/>
          <p:nvPr/>
        </p:nvSpPr>
        <p:spPr>
          <a:xfrm>
            <a:off x="3200400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5CEA1B-9F30-F7FF-D609-CDC8671B78FA}"/>
              </a:ext>
            </a:extLst>
          </p:cNvPr>
          <p:cNvSpPr/>
          <p:nvPr/>
        </p:nvSpPr>
        <p:spPr>
          <a:xfrm>
            <a:off x="1591408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hommes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A7EB9A8-508D-A803-C24D-D8470D9C2B7E}"/>
              </a:ext>
            </a:extLst>
          </p:cNvPr>
          <p:cNvSpPr/>
          <p:nvPr/>
        </p:nvSpPr>
        <p:spPr>
          <a:xfrm>
            <a:off x="3200400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femmes</a:t>
            </a:r>
          </a:p>
        </p:txBody>
      </p:sp>
      <p:pic>
        <p:nvPicPr>
          <p:cNvPr id="10" name="Picture 2" descr="blog-nutrition-outlet">
            <a:extLst>
              <a:ext uri="{FF2B5EF4-FFF2-40B4-BE49-F238E27FC236}">
                <a16:creationId xmlns:a16="http://schemas.microsoft.com/office/drawing/2014/main" id="{DB42045A-6E7D-BB8E-0D6E-CC42FE5C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55E33682-850C-9C5E-2D1F-4AC947504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370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BE24-6477-C231-7DDE-9516E570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E9C69-4B84-62CF-6745-CEDD2E6C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514" y="1825625"/>
            <a:ext cx="5999285" cy="4667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Vous vous rendez compte que le fait de cliquer sur les boutons n’est pas très pratique…</a:t>
            </a:r>
          </a:p>
          <a:p>
            <a:pPr marL="0" indent="0">
              <a:buNone/>
            </a:pPr>
            <a:r>
              <a:rPr lang="fr-FR" dirty="0"/>
              <a:t>Vous allez maintenant faire en sorte que les compteurs s’incrémentent quand vous enfoncez la touche H (premier compteur) ou F (deuxième compteur).</a:t>
            </a:r>
          </a:p>
          <a:p>
            <a:pPr marL="0" indent="0">
              <a:buNone/>
            </a:pPr>
            <a:r>
              <a:rPr lang="fr-FR" dirty="0"/>
              <a:t>Ajoutez aussi ce qu’il faut pour qu’une pression sur ‘0’ remette à zéro les deux compteurs.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477576E-92E9-3DBC-DC50-9D89C7E6BDF4}"/>
              </a:ext>
            </a:extLst>
          </p:cNvPr>
          <p:cNvSpPr/>
          <p:nvPr/>
        </p:nvSpPr>
        <p:spPr>
          <a:xfrm>
            <a:off x="1107831" y="2039815"/>
            <a:ext cx="3851031" cy="4042800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EB7172C-5BB5-F914-9696-83BF574A6FD0}"/>
              </a:ext>
            </a:extLst>
          </p:cNvPr>
          <p:cNvSpPr/>
          <p:nvPr/>
        </p:nvSpPr>
        <p:spPr>
          <a:xfrm>
            <a:off x="1943100" y="5354515"/>
            <a:ext cx="2180492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97D783-8592-B9CA-2EF2-414B9D967447}"/>
              </a:ext>
            </a:extLst>
          </p:cNvPr>
          <p:cNvSpPr/>
          <p:nvPr/>
        </p:nvSpPr>
        <p:spPr>
          <a:xfrm>
            <a:off x="1591408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29EF5D-7855-9C43-AED7-ACA775C93AE1}"/>
              </a:ext>
            </a:extLst>
          </p:cNvPr>
          <p:cNvSpPr/>
          <p:nvPr/>
        </p:nvSpPr>
        <p:spPr>
          <a:xfrm>
            <a:off x="1591408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E375409-6CA3-E4E7-E18C-5728A5ED7B5A}"/>
              </a:ext>
            </a:extLst>
          </p:cNvPr>
          <p:cNvSpPr/>
          <p:nvPr/>
        </p:nvSpPr>
        <p:spPr>
          <a:xfrm>
            <a:off x="3200400" y="4695092"/>
            <a:ext cx="1274885" cy="483577"/>
          </a:xfrm>
          <a:prstGeom prst="roundRect">
            <a:avLst>
              <a:gd name="adj" fmla="val 1598"/>
            </a:avLst>
          </a:prstGeom>
          <a:solidFill>
            <a:srgbClr val="ECEC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71C259A-2475-5A05-EC7B-2D3CFA80D57A}"/>
              </a:ext>
            </a:extLst>
          </p:cNvPr>
          <p:cNvSpPr/>
          <p:nvPr/>
        </p:nvSpPr>
        <p:spPr>
          <a:xfrm>
            <a:off x="3200400" y="3213588"/>
            <a:ext cx="1274885" cy="483577"/>
          </a:xfrm>
          <a:prstGeom prst="roundRect">
            <a:avLst>
              <a:gd name="adj" fmla="val 1598"/>
            </a:avLst>
          </a:prstGeom>
          <a:solidFill>
            <a:schemeClr val="tx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5CEA1B-9F30-F7FF-D609-CDC8671B78FA}"/>
              </a:ext>
            </a:extLst>
          </p:cNvPr>
          <p:cNvSpPr/>
          <p:nvPr/>
        </p:nvSpPr>
        <p:spPr>
          <a:xfrm>
            <a:off x="1591408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hommes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A7EB9A8-508D-A803-C24D-D8470D9C2B7E}"/>
              </a:ext>
            </a:extLst>
          </p:cNvPr>
          <p:cNvSpPr/>
          <p:nvPr/>
        </p:nvSpPr>
        <p:spPr>
          <a:xfrm>
            <a:off x="3200400" y="2554165"/>
            <a:ext cx="1274885" cy="483577"/>
          </a:xfrm>
          <a:prstGeom prst="roundRect">
            <a:avLst>
              <a:gd name="adj" fmla="val 159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femmes</a:t>
            </a:r>
          </a:p>
        </p:txBody>
      </p:sp>
      <p:pic>
        <p:nvPicPr>
          <p:cNvPr id="10" name="Picture 2" descr="blog-nutrition-outlet">
            <a:extLst>
              <a:ext uri="{FF2B5EF4-FFF2-40B4-BE49-F238E27FC236}">
                <a16:creationId xmlns:a16="http://schemas.microsoft.com/office/drawing/2014/main" id="{051F9AD1-3CF7-A46B-DD25-CD975CFA8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12E56D2-2808-FFFA-D643-B4804CF35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817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26D5-B847-62A4-6FB6-F0892AD1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1FC5A-1CB1-C5C9-9B36-7B0ADF1D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AA05C-A164-800D-5E1B-CD33D7C30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667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éviter que vous vous ennuyiez durant les trois prochaines semaines, voici un exercice de longue haleine…</a:t>
            </a:r>
          </a:p>
          <a:p>
            <a:pPr marL="0" indent="0">
              <a:buNone/>
            </a:pPr>
            <a:r>
              <a:rPr lang="fr-FR" dirty="0"/>
              <a:t>Je vous propose de créer un jeu de démineur.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Picture 2" descr="blog-nutrition-outlet">
            <a:extLst>
              <a:ext uri="{FF2B5EF4-FFF2-40B4-BE49-F238E27FC236}">
                <a16:creationId xmlns:a16="http://schemas.microsoft.com/office/drawing/2014/main" id="{0EB24F46-61AC-D71A-E64A-1BE535062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1D6C8C42-840D-B349-7D1B-0D65D9F22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F62320B-472E-2938-CFB5-A47780974B4B}"/>
              </a:ext>
            </a:extLst>
          </p:cNvPr>
          <p:cNvSpPr txBox="1"/>
          <p:nvPr/>
        </p:nvSpPr>
        <p:spPr>
          <a:xfrm>
            <a:off x="1416579" y="3429000"/>
            <a:ext cx="95813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Videos</a:t>
            </a:r>
            <a:r>
              <a:rPr lang="en-GB" dirty="0"/>
              <a:t>:</a:t>
            </a:r>
          </a:p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français </a:t>
            </a:r>
            <a:r>
              <a:rPr lang="en-GB" dirty="0">
                <a:hlinkClick r:id="rId3"/>
              </a:rPr>
              <a:t>https://www.youtube.com/watch?v=44Sskmf1yco</a:t>
            </a:r>
            <a:endParaRPr lang="en-GB" dirty="0"/>
          </a:p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détaillé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anglaise (Eclipse) </a:t>
            </a:r>
            <a:r>
              <a:rPr lang="en-GB" dirty="0">
                <a:hlinkClick r:id="rId4"/>
              </a:rPr>
              <a:t>https://www.youtube.com/watch?v=JwcyxuKko_M</a:t>
            </a:r>
            <a:endParaRPr lang="en-GB" dirty="0"/>
          </a:p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anglais</a:t>
            </a:r>
            <a:r>
              <a:rPr lang="en-GB" dirty="0"/>
              <a:t> </a:t>
            </a:r>
            <a:r>
              <a:rPr lang="en-GB" dirty="0">
                <a:hlinkClick r:id="rId5"/>
              </a:rPr>
              <a:t>https://www.youtube.com/watch?v=DvqURR_XN5U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Git</a:t>
            </a:r>
            <a:r>
              <a:rPr lang="en-GB" dirty="0"/>
              <a:t>:</a:t>
            </a:r>
          </a:p>
          <a:p>
            <a:r>
              <a:rPr lang="en-GB" dirty="0">
                <a:hlinkClick r:id="rId6"/>
              </a:rPr>
              <a:t>https://github.com/mikkelsvartveit/javafx-minesweeper</a:t>
            </a:r>
            <a:endParaRPr lang="en-GB" dirty="0"/>
          </a:p>
          <a:p>
            <a:endParaRPr lang="en-GB" dirty="0"/>
          </a:p>
        </p:txBody>
      </p:sp>
      <p:pic>
        <p:nvPicPr>
          <p:cNvPr id="1026" name="Picture 2" descr="Minesweeper 247: Play Free Minesweeper Online Anytime, Anywhere">
            <a:extLst>
              <a:ext uri="{FF2B5EF4-FFF2-40B4-BE49-F238E27FC236}">
                <a16:creationId xmlns:a16="http://schemas.microsoft.com/office/drawing/2014/main" id="{F2005471-F78F-E3B9-A2CC-EE9060F6D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" t="2032" r="3059" b="3008"/>
          <a:stretch/>
        </p:blipFill>
        <p:spPr bwMode="auto">
          <a:xfrm>
            <a:off x="8669866" y="4625212"/>
            <a:ext cx="2402635" cy="1619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7253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109387</TotalTime>
  <Words>3152</Words>
  <Application>Microsoft Macintosh PowerPoint</Application>
  <PresentationFormat>Grand écran</PresentationFormat>
  <Paragraphs>470</Paragraphs>
  <Slides>49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Consolas</vt:lpstr>
      <vt:lpstr>Corbel</vt:lpstr>
      <vt:lpstr>ThemeEphec2022</vt:lpstr>
      <vt:lpstr>JAVA 2</vt:lpstr>
      <vt:lpstr>Présentation PowerPoint</vt:lpstr>
      <vt:lpstr>JavaFX</vt:lpstr>
      <vt:lpstr>Une application JavaFX Simple</vt:lpstr>
      <vt:lpstr>Démarrage d’une application JavaFX</vt:lpstr>
      <vt:lpstr>JavaFX</vt:lpstr>
      <vt:lpstr>Présentation PowerPoint</vt:lpstr>
      <vt:lpstr>Programmation événementielle</vt:lpstr>
      <vt:lpstr>Programmation événementielle</vt:lpstr>
      <vt:lpstr>Les événements</vt:lpstr>
      <vt:lpstr>Les types d’événements</vt:lpstr>
      <vt:lpstr>Les types d’événements</vt:lpstr>
      <vt:lpstr>L’event KeyEvent</vt:lpstr>
      <vt:lpstr>L’event MouseEvent</vt:lpstr>
      <vt:lpstr>Coordonnées du MouseEvent</vt:lpstr>
      <vt:lpstr>Gestionnaire d’événement</vt:lpstr>
      <vt:lpstr>Gestionnaire d’événement</vt:lpstr>
      <vt:lpstr>Gestionnaire d’événement façon 1</vt:lpstr>
      <vt:lpstr>Gestionnaire d’événement façon 2</vt:lpstr>
      <vt:lpstr>Gestionnaire d’événement façon 3</vt:lpstr>
      <vt:lpstr>Gestionnaire d’événement</vt:lpstr>
      <vt:lpstr>Enregistrer et désenregistrer un EventHandler</vt:lpstr>
      <vt:lpstr>Enregistrer et désenregistrer un EventHandler</vt:lpstr>
      <vt:lpstr>La propagation des evenements</vt:lpstr>
      <vt:lpstr>Les EventFilter</vt:lpstr>
      <vt:lpstr>EventHandler et EventFilter</vt:lpstr>
      <vt:lpstr>La méthode consume()</vt:lpstr>
      <vt:lpstr>Exercices</vt:lpstr>
      <vt:lpstr>Exercice 46</vt:lpstr>
      <vt:lpstr>Présentation PowerPoint</vt:lpstr>
      <vt:lpstr>JavaFX</vt:lpstr>
      <vt:lpstr>Stage / Scene</vt:lpstr>
      <vt:lpstr>Stage / Scene</vt:lpstr>
      <vt:lpstr>Stage</vt:lpstr>
      <vt:lpstr>Scene</vt:lpstr>
      <vt:lpstr>JavaFX</vt:lpstr>
      <vt:lpstr>Quitter l’application</vt:lpstr>
      <vt:lpstr>JavaFX</vt:lpstr>
      <vt:lpstr>Layout</vt:lpstr>
      <vt:lpstr>JavaFX</vt:lpstr>
      <vt:lpstr>Contrôles</vt:lpstr>
      <vt:lpstr>Contrôles Simples</vt:lpstr>
      <vt:lpstr>Contrôles Avancés</vt:lpstr>
      <vt:lpstr>Exercices</vt:lpstr>
      <vt:lpstr>Exercice 47</vt:lpstr>
      <vt:lpstr>Exercice 48</vt:lpstr>
      <vt:lpstr>Exercice 49</vt:lpstr>
      <vt:lpstr>Exercice 50</vt:lpstr>
      <vt:lpstr>Exercice 51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75</cp:revision>
  <dcterms:created xsi:type="dcterms:W3CDTF">2023-01-04T13:50:20Z</dcterms:created>
  <dcterms:modified xsi:type="dcterms:W3CDTF">2026-04-22T08:03:06Z</dcterms:modified>
</cp:coreProperties>
</file>