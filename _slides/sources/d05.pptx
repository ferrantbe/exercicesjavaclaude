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51"/>
  </p:notesMasterIdLst>
  <p:sldIdLst>
    <p:sldId id="256" r:id="rId2"/>
    <p:sldId id="695" r:id="rId3"/>
    <p:sldId id="738" r:id="rId4"/>
    <p:sldId id="777" r:id="rId5"/>
    <p:sldId id="717" r:id="rId6"/>
    <p:sldId id="754" r:id="rId7"/>
    <p:sldId id="755" r:id="rId8"/>
    <p:sldId id="756" r:id="rId9"/>
    <p:sldId id="690" r:id="rId10"/>
    <p:sldId id="757" r:id="rId11"/>
    <p:sldId id="784" r:id="rId12"/>
    <p:sldId id="691" r:id="rId13"/>
    <p:sldId id="758" r:id="rId14"/>
    <p:sldId id="723" r:id="rId15"/>
    <p:sldId id="759" r:id="rId16"/>
    <p:sldId id="782" r:id="rId17"/>
    <p:sldId id="760" r:id="rId18"/>
    <p:sldId id="689" r:id="rId19"/>
    <p:sldId id="718" r:id="rId20"/>
    <p:sldId id="719" r:id="rId21"/>
    <p:sldId id="761" r:id="rId22"/>
    <p:sldId id="721" r:id="rId23"/>
    <p:sldId id="722" r:id="rId24"/>
    <p:sldId id="724" r:id="rId25"/>
    <p:sldId id="762" r:id="rId26"/>
    <p:sldId id="763" r:id="rId27"/>
    <p:sldId id="764" r:id="rId28"/>
    <p:sldId id="765" r:id="rId29"/>
    <p:sldId id="766" r:id="rId30"/>
    <p:sldId id="767" r:id="rId31"/>
    <p:sldId id="768" r:id="rId32"/>
    <p:sldId id="769" r:id="rId33"/>
    <p:sldId id="770" r:id="rId34"/>
    <p:sldId id="771" r:id="rId35"/>
    <p:sldId id="740" r:id="rId36"/>
    <p:sldId id="772" r:id="rId37"/>
    <p:sldId id="773" r:id="rId38"/>
    <p:sldId id="774" r:id="rId39"/>
    <p:sldId id="680" r:id="rId40"/>
    <p:sldId id="775" r:id="rId41"/>
    <p:sldId id="688" r:id="rId42"/>
    <p:sldId id="776" r:id="rId43"/>
    <p:sldId id="778" r:id="rId44"/>
    <p:sldId id="779" r:id="rId45"/>
    <p:sldId id="780" r:id="rId46"/>
    <p:sldId id="781" r:id="rId47"/>
    <p:sldId id="783" r:id="rId48"/>
    <p:sldId id="789" r:id="rId49"/>
    <p:sldId id="790"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appels et Exercice" id="{9A02D4CA-36D1-0242-9570-74B9915D5B21}">
          <p14:sldIdLst>
            <p14:sldId id="256"/>
            <p14:sldId id="695"/>
          </p14:sldIdLst>
        </p14:section>
        <p14:section name="Exercices" id="{091625CF-CC0A-E34B-BD84-E963EB97FC8E}">
          <p14:sldIdLst>
            <p14:sldId id="738"/>
          </p14:sldIdLst>
        </p14:section>
        <p14:section name="Collections" id="{01457E24-874F-3943-8F41-B58A48800F47}">
          <p14:sldIdLst>
            <p14:sldId id="777"/>
            <p14:sldId id="717"/>
            <p14:sldId id="754"/>
            <p14:sldId id="755"/>
            <p14:sldId id="756"/>
            <p14:sldId id="690"/>
            <p14:sldId id="757"/>
            <p14:sldId id="784"/>
            <p14:sldId id="691"/>
            <p14:sldId id="758"/>
            <p14:sldId id="723"/>
            <p14:sldId id="759"/>
            <p14:sldId id="782"/>
            <p14:sldId id="760"/>
            <p14:sldId id="689"/>
            <p14:sldId id="718"/>
            <p14:sldId id="719"/>
            <p14:sldId id="761"/>
            <p14:sldId id="721"/>
            <p14:sldId id="722"/>
            <p14:sldId id="724"/>
            <p14:sldId id="762"/>
            <p14:sldId id="763"/>
            <p14:sldId id="764"/>
            <p14:sldId id="765"/>
            <p14:sldId id="766"/>
            <p14:sldId id="767"/>
            <p14:sldId id="768"/>
            <p14:sldId id="769"/>
            <p14:sldId id="770"/>
            <p14:sldId id="771"/>
            <p14:sldId id="740"/>
            <p14:sldId id="772"/>
            <p14:sldId id="773"/>
            <p14:sldId id="774"/>
            <p14:sldId id="680"/>
            <p14:sldId id="775"/>
            <p14:sldId id="688"/>
            <p14:sldId id="776"/>
            <p14:sldId id="778"/>
            <p14:sldId id="779"/>
            <p14:sldId id="780"/>
            <p14:sldId id="781"/>
            <p14:sldId id="783"/>
            <p14:sldId id="789"/>
            <p14:sldId id="7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709BBD"/>
    <a:srgbClr val="2B2B2B"/>
    <a:srgbClr val="FF7E0B"/>
    <a:srgbClr val="2A6CA7"/>
    <a:srgbClr val="0102EF"/>
    <a:srgbClr val="2C91AF"/>
    <a:srgbClr val="2968A2"/>
    <a:srgbClr val="2866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573"/>
    <p:restoredTop sz="96327"/>
  </p:normalViewPr>
  <p:slideViewPr>
    <p:cSldViewPr snapToGrid="0">
      <p:cViewPr varScale="1">
        <p:scale>
          <a:sx n="120" d="100"/>
          <a:sy n="120" d="100"/>
        </p:scale>
        <p:origin x="200" y="3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02/03/2026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F6F35AA9-C5C6-934C-A51C-E9609006C10B}" type="slidenum">
              <a:rPr lang="fr-FR" smtClean="0"/>
              <a:t>33</a:t>
            </a:fld>
            <a:endParaRPr lang="fr-FR"/>
          </a:p>
        </p:txBody>
      </p:sp>
    </p:spTree>
    <p:extLst>
      <p:ext uri="{BB962C8B-B14F-4D97-AF65-F5344CB8AC3E}">
        <p14:creationId xmlns:p14="http://schemas.microsoft.com/office/powerpoint/2010/main" val="216025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6F35AA9-C5C6-934C-A51C-E9609006C10B}" type="slidenum">
              <a:rPr lang="fr-FR" smtClean="0"/>
              <a:t>41</a:t>
            </a:fld>
            <a:endParaRPr lang="fr-FR"/>
          </a:p>
        </p:txBody>
      </p:sp>
    </p:spTree>
    <p:extLst>
      <p:ext uri="{BB962C8B-B14F-4D97-AF65-F5344CB8AC3E}">
        <p14:creationId xmlns:p14="http://schemas.microsoft.com/office/powerpoint/2010/main" val="782681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E20B9A-8E1B-A28D-369E-A913BEAD777D}"/>
              </a:ext>
            </a:extLst>
          </p:cNvPr>
          <p:cNvSpPr>
            <a:spLocks noGrp="1"/>
          </p:cNvSpPr>
          <p:nvPr>
            <p:ph type="title"/>
          </p:nvPr>
        </p:nvSpPr>
        <p:spPr/>
        <p:txBody>
          <a:bodyPr/>
          <a:lstStyle/>
          <a:p>
            <a:r>
              <a:rPr lang="fr-FR"/>
              <a:t>Modifiez le style du titre</a:t>
            </a:r>
          </a:p>
        </p:txBody>
      </p:sp>
      <p:sp>
        <p:nvSpPr>
          <p:cNvPr id="3" name="Espace réservé du numéro de diapositive 2">
            <a:extLst>
              <a:ext uri="{FF2B5EF4-FFF2-40B4-BE49-F238E27FC236}">
                <a16:creationId xmlns:a16="http://schemas.microsoft.com/office/drawing/2014/main" id="{D1E227AB-B70D-70BB-9801-A0EA2292415F}"/>
              </a:ext>
            </a:extLst>
          </p:cNvPr>
          <p:cNvSpPr>
            <a:spLocks noGrp="1"/>
          </p:cNvSpPr>
          <p:nvPr>
            <p:ph type="sldNum" sz="quarter" idx="10"/>
          </p:nvPr>
        </p:nvSpPr>
        <p:spPr/>
        <p:txBody>
          <a:bodyPr/>
          <a:lstStyle/>
          <a:p>
            <a:fld id="{33C783E2-4793-4F48-A271-51A73CC37D74}" type="slidenum">
              <a:rPr lang="fr-FR" smtClean="0"/>
              <a:t>‹N°›</a:t>
            </a:fld>
            <a:endParaRPr lang="fr-FR"/>
          </a:p>
        </p:txBody>
      </p:sp>
      <p:sp>
        <p:nvSpPr>
          <p:cNvPr id="4" name="Espace réservé du contenu 2">
            <a:extLst>
              <a:ext uri="{FF2B5EF4-FFF2-40B4-BE49-F238E27FC236}">
                <a16:creationId xmlns:a16="http://schemas.microsoft.com/office/drawing/2014/main" id="{167F4E92-0724-F9C9-225A-B62857773291}"/>
              </a:ext>
            </a:extLst>
          </p:cNvPr>
          <p:cNvSpPr>
            <a:spLocks noGrp="1"/>
          </p:cNvSpPr>
          <p:nvPr>
            <p:ph idx="1"/>
          </p:nvPr>
        </p:nvSpPr>
        <p:spPr>
          <a:xfrm>
            <a:off x="838200" y="1825625"/>
            <a:ext cx="10515600" cy="4351338"/>
          </a:xfrm>
        </p:spPr>
        <p:txBody>
          <a:bodyPr>
            <a:noAutofit/>
          </a:bodyPr>
          <a:lstStyle>
            <a:lvl1pPr>
              <a:defRPr>
                <a:latin typeface="+mn-lt"/>
              </a:defRPr>
            </a:lvl1pPr>
          </a:lstStyle>
          <a:p>
            <a:pPr marL="342900" indent="-342900">
              <a:lnSpc>
                <a:spcPct val="80000"/>
              </a:lnSpc>
              <a:buFont typeface="Arial"/>
              <a:buChar char="•"/>
            </a:pPr>
            <a:endParaRPr lang="fr-FR" dirty="0">
              <a:latin typeface="Consolas"/>
              <a:cs typeface="Consolas"/>
            </a:endParaRPr>
          </a:p>
        </p:txBody>
      </p:sp>
      <p:grpSp>
        <p:nvGrpSpPr>
          <p:cNvPr id="5" name="Groupe 4">
            <a:extLst>
              <a:ext uri="{FF2B5EF4-FFF2-40B4-BE49-F238E27FC236}">
                <a16:creationId xmlns:a16="http://schemas.microsoft.com/office/drawing/2014/main" id="{B6EE52B9-0CE3-2213-2BAE-0A463279C498}"/>
              </a:ext>
            </a:extLst>
          </p:cNvPr>
          <p:cNvGrpSpPr/>
          <p:nvPr userDrawn="1"/>
        </p:nvGrpSpPr>
        <p:grpSpPr>
          <a:xfrm>
            <a:off x="10470995" y="162401"/>
            <a:ext cx="1404760" cy="1400033"/>
            <a:chOff x="10326324" y="687756"/>
            <a:chExt cx="1393314" cy="1393314"/>
          </a:xfrm>
        </p:grpSpPr>
        <p:sp>
          <p:nvSpPr>
            <p:cNvPr id="6" name="Larme 5">
              <a:extLst>
                <a:ext uri="{FF2B5EF4-FFF2-40B4-BE49-F238E27FC236}">
                  <a16:creationId xmlns:a16="http://schemas.microsoft.com/office/drawing/2014/main" id="{A1F4EE74-F2B7-86D4-5897-9A852EB6119F}"/>
                </a:ext>
              </a:extLst>
            </p:cNvPr>
            <p:cNvSpPr/>
            <p:nvPr/>
          </p:nvSpPr>
          <p:spPr>
            <a:xfrm rot="8100000">
              <a:off x="10326324" y="687756"/>
              <a:ext cx="1393314" cy="1393314"/>
            </a:xfrm>
            <a:prstGeom prst="teardrop">
              <a:avLst>
                <a:gd name="adj" fmla="val 13287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 name="ZoneTexte 6">
              <a:extLst>
                <a:ext uri="{FF2B5EF4-FFF2-40B4-BE49-F238E27FC236}">
                  <a16:creationId xmlns:a16="http://schemas.microsoft.com/office/drawing/2014/main" id="{4A1BBBAA-A8A5-D081-BE93-F67540128C77}"/>
                </a:ext>
              </a:extLst>
            </p:cNvPr>
            <p:cNvSpPr txBox="1"/>
            <p:nvPr/>
          </p:nvSpPr>
          <p:spPr>
            <a:xfrm>
              <a:off x="10372029" y="1092958"/>
              <a:ext cx="1301905" cy="702249"/>
            </a:xfrm>
            <a:prstGeom prst="rect">
              <a:avLst/>
            </a:prstGeom>
            <a:noFill/>
          </p:spPr>
          <p:txBody>
            <a:bodyPr wrap="square">
              <a:spAutoFit/>
            </a:bodyPr>
            <a:lstStyle/>
            <a:p>
              <a:pPr algn="ctr"/>
              <a:r>
                <a:rPr lang="fr-FR" sz="2000" b="1" dirty="0"/>
                <a:t>Vous êtes ici</a:t>
              </a:r>
            </a:p>
          </p:txBody>
        </p:sp>
      </p:grpSp>
    </p:spTree>
    <p:extLst>
      <p:ext uri="{BB962C8B-B14F-4D97-AF65-F5344CB8AC3E}">
        <p14:creationId xmlns:p14="http://schemas.microsoft.com/office/powerpoint/2010/main" val="2577670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Disposition personnalisée">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536391E-BA76-6C84-5CCD-7B7E926FCACE}"/>
              </a:ext>
            </a:extLst>
          </p:cNvPr>
          <p:cNvSpPr>
            <a:spLocks noGrp="1"/>
          </p:cNvSpPr>
          <p:nvPr>
            <p:ph type="sldNum" sz="quarter" idx="10"/>
          </p:nvPr>
        </p:nvSpPr>
        <p:spPr/>
        <p:txBody>
          <a:bodyPr/>
          <a:lstStyle/>
          <a:p>
            <a:fld id="{33C783E2-4793-4F48-A271-51A73CC37D74}" type="slidenum">
              <a:rPr lang="fr-FR" smtClean="0"/>
              <a:t>‹N°›</a:t>
            </a:fld>
            <a:endParaRPr lang="fr-FR" dirty="0"/>
          </a:p>
        </p:txBody>
      </p:sp>
      <p:sp>
        <p:nvSpPr>
          <p:cNvPr id="4" name="Titre 1">
            <a:extLst>
              <a:ext uri="{FF2B5EF4-FFF2-40B4-BE49-F238E27FC236}">
                <a16:creationId xmlns:a16="http://schemas.microsoft.com/office/drawing/2014/main" id="{4929AD13-331A-B3B1-58CE-4F411144D22C}"/>
              </a:ext>
            </a:extLst>
          </p:cNvPr>
          <p:cNvSpPr>
            <a:spLocks noGrp="1"/>
          </p:cNvSpPr>
          <p:nvPr>
            <p:ph type="title"/>
          </p:nvPr>
        </p:nvSpPr>
        <p:spPr>
          <a:xfrm>
            <a:off x="838200" y="365127"/>
            <a:ext cx="10515600" cy="1325563"/>
          </a:xfrm>
        </p:spPr>
        <p:txBody>
          <a:bodyPr/>
          <a:lstStyle/>
          <a:p>
            <a:r>
              <a:rPr lang="fr-FR" dirty="0"/>
              <a:t>Exercice</a:t>
            </a:r>
          </a:p>
        </p:txBody>
      </p:sp>
      <p:pic>
        <p:nvPicPr>
          <p:cNvPr id="5" name="Picture 6" descr="AI &amp; Big Data | IAV">
            <a:extLst>
              <a:ext uri="{FF2B5EF4-FFF2-40B4-BE49-F238E27FC236}">
                <a16:creationId xmlns:a16="http://schemas.microsoft.com/office/drawing/2014/main" id="{1A31DBF3-3F61-3732-6514-14BEB8F2F332}"/>
              </a:ext>
            </a:extLst>
          </p:cNvPr>
          <p:cNvPicPr>
            <a:picLocks noChangeAspect="1" noChangeArrowheads="1"/>
          </p:cNvPicPr>
          <p:nvPr userDrawn="1"/>
        </p:nvPicPr>
        <p:blipFill rotWithShape="1">
          <a:blip r:embed="rId2" cstate="screen">
            <a:extLst>
              <a:ext uri="{28A0092B-C50C-407E-A947-70E740481C1C}">
                <a14:useLocalDpi xmlns:a14="http://schemas.microsoft.com/office/drawing/2010/main"/>
              </a:ext>
            </a:extLst>
          </a:blip>
          <a:srcRect/>
          <a:stretch/>
        </p:blipFill>
        <p:spPr bwMode="auto">
          <a:xfrm>
            <a:off x="10494498" y="193110"/>
            <a:ext cx="1427367" cy="1319737"/>
          </a:xfrm>
          <a:prstGeom prst="rect">
            <a:avLst/>
          </a:prstGeom>
          <a:noFill/>
          <a:extLst>
            <a:ext uri="{909E8E84-426E-40DD-AFC4-6F175D3DCCD1}">
              <a14:hiddenFill xmlns:a14="http://schemas.microsoft.com/office/drawing/2010/main">
                <a:solidFill>
                  <a:srgbClr val="FFFFFF"/>
                </a:solidFill>
              </a14:hiddenFill>
            </a:ext>
          </a:extLst>
        </p:spPr>
      </p:pic>
      <p:sp>
        <p:nvSpPr>
          <p:cNvPr id="6" name="Espace réservé du contenu 2">
            <a:extLst>
              <a:ext uri="{FF2B5EF4-FFF2-40B4-BE49-F238E27FC236}">
                <a16:creationId xmlns:a16="http://schemas.microsoft.com/office/drawing/2014/main" id="{A96CC4C8-FFED-68B8-6355-4E53BC5E1FDE}"/>
              </a:ext>
            </a:extLst>
          </p:cNvPr>
          <p:cNvSpPr>
            <a:spLocks noGrp="1"/>
          </p:cNvSpPr>
          <p:nvPr>
            <p:ph idx="1"/>
          </p:nvPr>
        </p:nvSpPr>
        <p:spPr>
          <a:xfrm>
            <a:off x="838200" y="1825625"/>
            <a:ext cx="10515600" cy="4351338"/>
          </a:xfrm>
        </p:spPr>
        <p:txBody>
          <a:bodyPr>
            <a:noAutofit/>
          </a:bodyPr>
          <a:lstStyle>
            <a:lvl1pPr>
              <a:defRPr>
                <a:latin typeface="+mn-lt"/>
              </a:defRPr>
            </a:lvl1pPr>
          </a:lstStyle>
          <a:p>
            <a:pPr marL="342900" indent="-342900">
              <a:lnSpc>
                <a:spcPct val="80000"/>
              </a:lnSpc>
              <a:buFont typeface="Arial"/>
              <a:buChar char="•"/>
            </a:pPr>
            <a:endParaRPr lang="fr-FR" dirty="0">
              <a:latin typeface="Consolas"/>
              <a:cs typeface="Consolas"/>
            </a:endParaRPr>
          </a:p>
        </p:txBody>
      </p:sp>
    </p:spTree>
    <p:extLst>
      <p:ext uri="{BB962C8B-B14F-4D97-AF65-F5344CB8AC3E}">
        <p14:creationId xmlns:p14="http://schemas.microsoft.com/office/powerpoint/2010/main" val="2098476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2025-2026</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72" r:id="rId5"/>
    <p:sldLayoutId id="2147483673" r:id="rId6"/>
    <p:sldLayoutId id="2147483665" r:id="rId7"/>
    <p:sldLayoutId id="2147483666" r:id="rId8"/>
    <p:sldLayoutId id="2147483667" r:id="rId9"/>
    <p:sldLayoutId id="2147483668" r:id="rId10"/>
    <p:sldLayoutId id="2147483669" r:id="rId11"/>
    <p:sldLayoutId id="2147483670" r:id="rId12"/>
    <p:sldLayoutId id="2147483671" r:id="rId13"/>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6.tiff"/></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8.tif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8.tif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tif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docs.oracle.com/javase/8/docs/api/index.html?java/util/Collection.html" TargetMode="External"/><Relationship Id="rId2" Type="http://schemas.openxmlformats.org/officeDocument/2006/relationships/hyperlink" Target="http://docs.oracle.com/javase/tutorial/collections/" TargetMode="Externa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hyperlink" Target="http://www.javaincloud.com/2013/10/collection-framework-part-1.html" TargetMode="External"/><Relationship Id="rId4" Type="http://schemas.openxmlformats.org/officeDocument/2006/relationships/hyperlink" Target="https://openclassrooms.com/courses/apprenez-a-programmer-en-java/les-collections-d-objets" TargetMode="External"/></Relationships>
</file>

<file path=ppt/slides/_rels/slide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tif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p:txBody>
          <a:bodyPr/>
          <a:lstStyle/>
          <a:p>
            <a:r>
              <a:rPr lang="fr-FR" dirty="0"/>
              <a:t>JAVA 2</a:t>
            </a:r>
          </a:p>
        </p:txBody>
      </p:sp>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POO – Module 2</a:t>
            </a:r>
          </a:p>
          <a:p>
            <a:r>
              <a:rPr lang="fr-FR" dirty="0"/>
              <a:t>Semaine 5 - Collections</a:t>
            </a:r>
          </a:p>
        </p:txBody>
      </p:sp>
    </p:spTree>
    <p:extLst>
      <p:ext uri="{BB962C8B-B14F-4D97-AF65-F5344CB8AC3E}">
        <p14:creationId xmlns:p14="http://schemas.microsoft.com/office/powerpoint/2010/main" val="458771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51A359-665C-7EF3-F766-44D051AE6CB7}"/>
              </a:ext>
            </a:extLst>
          </p:cNvPr>
          <p:cNvSpPr>
            <a:spLocks noGrp="1"/>
          </p:cNvSpPr>
          <p:nvPr>
            <p:ph type="title"/>
          </p:nvPr>
        </p:nvSpPr>
        <p:spPr/>
        <p:txBody>
          <a:bodyPr/>
          <a:lstStyle/>
          <a:p>
            <a:r>
              <a:rPr lang="fr-FR" dirty="0"/>
              <a:t>Vu au dernier cours…</a:t>
            </a:r>
          </a:p>
        </p:txBody>
      </p:sp>
      <p:sp>
        <p:nvSpPr>
          <p:cNvPr id="3" name="Espace réservé du contenu 2">
            <a:extLst>
              <a:ext uri="{FF2B5EF4-FFF2-40B4-BE49-F238E27FC236}">
                <a16:creationId xmlns:a16="http://schemas.microsoft.com/office/drawing/2014/main" id="{59989C80-45D8-CEAF-65AF-7BB8EDE3DF11}"/>
              </a:ext>
            </a:extLst>
          </p:cNvPr>
          <p:cNvSpPr>
            <a:spLocks noGrp="1"/>
          </p:cNvSpPr>
          <p:nvPr>
            <p:ph idx="1"/>
          </p:nvPr>
        </p:nvSpPr>
        <p:spPr/>
        <p:txBody>
          <a:bodyPr>
            <a:normAutofit/>
          </a:bodyPr>
          <a:lstStyle/>
          <a:p>
            <a:r>
              <a:rPr lang="fr-FR" dirty="0"/>
              <a:t>Les </a:t>
            </a:r>
            <a:r>
              <a:rPr lang="fr-FR" dirty="0">
                <a:solidFill>
                  <a:schemeClr val="accent4"/>
                </a:solidFill>
              </a:rPr>
              <a:t>interfaces</a:t>
            </a:r>
            <a:r>
              <a:rPr lang="fr-FR" dirty="0"/>
              <a:t> </a:t>
            </a:r>
          </a:p>
          <a:p>
            <a:pPr lvl="1"/>
            <a:r>
              <a:rPr lang="fr-FR" dirty="0"/>
              <a:t>exemple du design pattern </a:t>
            </a:r>
            <a:r>
              <a:rPr lang="fr-FR" sz="2200" dirty="0">
                <a:solidFill>
                  <a:schemeClr val="accent4"/>
                </a:solidFill>
                <a:latin typeface="Consolas" panose="020B0609020204030204" pitchFamily="49" charset="0"/>
                <a:cs typeface="Consolas" panose="020B0609020204030204" pitchFamily="49" charset="0"/>
              </a:rPr>
              <a:t>Observer</a:t>
            </a:r>
            <a:r>
              <a:rPr lang="fr-FR" dirty="0"/>
              <a:t> </a:t>
            </a:r>
            <a:endParaRPr lang="fr-FR" dirty="0">
              <a:solidFill>
                <a:schemeClr val="accent4"/>
              </a:solidFill>
            </a:endParaRPr>
          </a:p>
          <a:p>
            <a:pPr lvl="1"/>
            <a:r>
              <a:rPr lang="fr-FR" dirty="0"/>
              <a:t>exemple de programme plus construit: jeu de </a:t>
            </a:r>
            <a:r>
              <a:rPr lang="fr-FR" dirty="0" err="1"/>
              <a:t>Nim</a:t>
            </a:r>
            <a:endParaRPr lang="fr-FR" dirty="0">
              <a:solidFill>
                <a:schemeClr val="accent4"/>
              </a:solidFill>
            </a:endParaRPr>
          </a:p>
          <a:p>
            <a:r>
              <a:rPr lang="fr-FR" dirty="0"/>
              <a:t>Champs et méthodes d’Interfaces (</a:t>
            </a:r>
            <a:r>
              <a:rPr lang="fr-FR" dirty="0">
                <a:solidFill>
                  <a:schemeClr val="accent4"/>
                </a:solidFill>
              </a:rPr>
              <a:t>méthodes par défaut </a:t>
            </a:r>
            <a:r>
              <a:rPr lang="fr-FR" dirty="0"/>
              <a:t>à partir de java 8)</a:t>
            </a:r>
            <a:endParaRPr lang="fr-FR" dirty="0">
              <a:solidFill>
                <a:schemeClr val="accent4"/>
              </a:solidFill>
            </a:endParaRPr>
          </a:p>
          <a:p>
            <a:r>
              <a:rPr lang="fr-FR" dirty="0"/>
              <a:t>Champs et méthodes de classe: </a:t>
            </a:r>
            <a:r>
              <a:rPr lang="fr-FR" sz="2600" dirty="0" err="1">
                <a:solidFill>
                  <a:schemeClr val="accent4"/>
                </a:solidFill>
                <a:latin typeface="Consolas" panose="020B0609020204030204" pitchFamily="49" charset="0"/>
                <a:cs typeface="Consolas" panose="020B0609020204030204" pitchFamily="49" charset="0"/>
              </a:rPr>
              <a:t>static</a:t>
            </a:r>
            <a:endParaRPr lang="fr-FR" sz="2600" dirty="0">
              <a:solidFill>
                <a:schemeClr val="accent4"/>
              </a:solidFill>
              <a:latin typeface="Consolas" panose="020B0609020204030204" pitchFamily="49" charset="0"/>
              <a:cs typeface="Consolas" panose="020B0609020204030204" pitchFamily="49" charset="0"/>
            </a:endParaRPr>
          </a:p>
          <a:p>
            <a:r>
              <a:rPr lang="nl-BE" dirty="0">
                <a:solidFill>
                  <a:schemeClr val="accent4"/>
                </a:solidFill>
              </a:rPr>
              <a:t>Cycle de vie </a:t>
            </a:r>
            <a:r>
              <a:rPr lang="nl-BE" dirty="0"/>
              <a:t>des objets (heap et stack, garbage collect)</a:t>
            </a:r>
            <a:endParaRPr lang="fr-FR" sz="2600" dirty="0">
              <a:solidFill>
                <a:schemeClr val="accent4"/>
              </a:solidFill>
              <a:latin typeface="Consolas" panose="020B0609020204030204" pitchFamily="49" charset="0"/>
              <a:cs typeface="Consolas" panose="020B0609020204030204" pitchFamily="49" charset="0"/>
            </a:endParaRPr>
          </a:p>
          <a:p>
            <a:endParaRPr lang="fr-FR" dirty="0"/>
          </a:p>
        </p:txBody>
      </p:sp>
      <p:sp>
        <p:nvSpPr>
          <p:cNvPr id="5" name="Espace réservé du numéro de diapositive 4">
            <a:extLst>
              <a:ext uri="{FF2B5EF4-FFF2-40B4-BE49-F238E27FC236}">
                <a16:creationId xmlns:a16="http://schemas.microsoft.com/office/drawing/2014/main" id="{49DA0716-EDC5-4FF3-5579-A375068BE41C}"/>
              </a:ext>
            </a:extLst>
          </p:cNvPr>
          <p:cNvSpPr>
            <a:spLocks noGrp="1"/>
          </p:cNvSpPr>
          <p:nvPr>
            <p:ph type="sldNum" sz="quarter" idx="4"/>
          </p:nvPr>
        </p:nvSpPr>
        <p:spPr/>
        <p:txBody>
          <a:bodyPr/>
          <a:lstStyle/>
          <a:p>
            <a:fld id="{33C783E2-4793-4F48-A271-51A73CC37D74}" type="slidenum">
              <a:rPr lang="fr-FR" smtClean="0"/>
              <a:t>2</a:t>
            </a:fld>
            <a:endParaRPr lang="fr-FR" dirty="0"/>
          </a:p>
        </p:txBody>
      </p:sp>
    </p:spTree>
    <p:extLst>
      <p:ext uri="{BB962C8B-B14F-4D97-AF65-F5344CB8AC3E}">
        <p14:creationId xmlns:p14="http://schemas.microsoft.com/office/powerpoint/2010/main" val="2744240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B8743-A1A3-F231-D0E5-83E3B5F40A3F}"/>
            </a:ext>
          </a:extLst>
        </p:cNvPr>
        <p:cNvGrpSpPr/>
        <p:nvPr/>
      </p:nvGrpSpPr>
      <p:grpSpPr>
        <a:xfrm>
          <a:off x="0" y="0"/>
          <a:ext cx="0" cy="0"/>
          <a:chOff x="0" y="0"/>
          <a:chExt cx="0" cy="0"/>
        </a:xfrm>
      </p:grpSpPr>
      <p:pic>
        <p:nvPicPr>
          <p:cNvPr id="1026" name="Picture 2" descr="exercices en retard format 16:9">
            <a:extLst>
              <a:ext uri="{FF2B5EF4-FFF2-40B4-BE49-F238E27FC236}">
                <a16:creationId xmlns:a16="http://schemas.microsoft.com/office/drawing/2014/main" id="{B63EA7A3-C6B0-E962-2E5D-A4999A4BB54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1875" b="21875"/>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3CB2949B-7E66-D937-F71E-1BDB87DBA0C2}"/>
              </a:ext>
            </a:extLst>
          </p:cNvPr>
          <p:cNvSpPr txBox="1"/>
          <p:nvPr/>
        </p:nvSpPr>
        <p:spPr>
          <a:xfrm>
            <a:off x="838200" y="947821"/>
            <a:ext cx="10515600" cy="1015663"/>
          </a:xfrm>
          <a:prstGeom prst="rect">
            <a:avLst/>
          </a:prstGeom>
          <a:solidFill>
            <a:srgbClr val="3C696F">
              <a:alpha val="74902"/>
            </a:srgbClr>
          </a:solidFill>
          <a:effectLst>
            <a:outerShdw blurRad="50800" dist="38100" dir="2700000" algn="tl" rotWithShape="0">
              <a:prstClr val="black">
                <a:alpha val="40000"/>
              </a:prstClr>
            </a:outerShdw>
          </a:effectLst>
        </p:spPr>
        <p:txBody>
          <a:bodyPr wrap="square" rtlCol="0">
            <a:spAutoFit/>
          </a:bodyPr>
          <a:lstStyle/>
          <a:p>
            <a:r>
              <a:rPr lang="fr-FR" sz="6000" b="1" dirty="0"/>
              <a:t>Exercice…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3" name="ZoneTexte 2">
            <a:extLst>
              <a:ext uri="{FF2B5EF4-FFF2-40B4-BE49-F238E27FC236}">
                <a16:creationId xmlns:a16="http://schemas.microsoft.com/office/drawing/2014/main" id="{AF92B336-117C-217E-7A98-B98C382D97FF}"/>
              </a:ext>
            </a:extLst>
          </p:cNvPr>
          <p:cNvSpPr txBox="1"/>
          <p:nvPr/>
        </p:nvSpPr>
        <p:spPr>
          <a:xfrm>
            <a:off x="838200" y="2139312"/>
            <a:ext cx="10515600" cy="461665"/>
          </a:xfrm>
          <a:prstGeom prst="rect">
            <a:avLst/>
          </a:prstGeom>
          <a:solidFill>
            <a:srgbClr val="3C696F">
              <a:alpha val="74902"/>
            </a:srgbClr>
          </a:solidFill>
          <a:effectLst>
            <a:outerShdw blurRad="50800" dist="38100" dir="2700000" algn="tl" rotWithShape="0">
              <a:prstClr val="black">
                <a:alpha val="40000"/>
              </a:prstClr>
            </a:outerShdw>
          </a:effectLst>
        </p:spPr>
        <p:txBody>
          <a:bodyPr wrap="square" rtlCol="0">
            <a:spAutoFit/>
          </a:bodyPr>
          <a:lstStyle/>
          <a:p>
            <a:r>
              <a:rPr lang="fr-FR" sz="2400" dirty="0"/>
              <a:t>Les exercices du cours précédent…</a:t>
            </a:r>
          </a:p>
        </p:txBody>
      </p:sp>
    </p:spTree>
    <p:extLst>
      <p:ext uri="{BB962C8B-B14F-4D97-AF65-F5344CB8AC3E}">
        <p14:creationId xmlns:p14="http://schemas.microsoft.com/office/powerpoint/2010/main" val="1836031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111885AA-C21D-DFF6-5F8F-29377AF3DA69}"/>
              </a:ext>
            </a:extLst>
          </p:cNvPr>
          <p:cNvPicPr>
            <a:picLocks noChangeAspect="1"/>
          </p:cNvPicPr>
          <p:nvPr/>
        </p:nvPicPr>
        <p:blipFill rotWithShape="1">
          <a:blip r:embed="rId2"/>
          <a:srcRect l="5556" r="5556"/>
          <a:stretch/>
        </p:blipFill>
        <p:spPr>
          <a:xfrm>
            <a:off x="0" y="0"/>
            <a:ext cx="12192000" cy="6858000"/>
          </a:xfrm>
          <a:prstGeom prst="rect">
            <a:avLst/>
          </a:prstGeom>
        </p:spPr>
      </p:pic>
      <p:sp>
        <p:nvSpPr>
          <p:cNvPr id="4" name="ZoneTexte 3">
            <a:extLst>
              <a:ext uri="{FF2B5EF4-FFF2-40B4-BE49-F238E27FC236}">
                <a16:creationId xmlns:a16="http://schemas.microsoft.com/office/drawing/2014/main" id="{88140D2F-722A-02CE-8FDD-BF412DAA2485}"/>
              </a:ext>
            </a:extLst>
          </p:cNvPr>
          <p:cNvSpPr txBox="1"/>
          <p:nvPr/>
        </p:nvSpPr>
        <p:spPr>
          <a:xfrm>
            <a:off x="838200" y="947821"/>
            <a:ext cx="10515600" cy="1015663"/>
          </a:xfrm>
          <a:prstGeom prst="rect">
            <a:avLst/>
          </a:prstGeom>
          <a:solidFill>
            <a:srgbClr val="709BBD">
              <a:alpha val="74902"/>
            </a:srgbClr>
          </a:solidFill>
          <a:effectLst>
            <a:outerShdw blurRad="50800" dist="38100" dir="2700000" algn="tl" rotWithShape="0">
              <a:prstClr val="black">
                <a:alpha val="40000"/>
              </a:prstClr>
            </a:outerShdw>
          </a:effectLst>
        </p:spPr>
        <p:txBody>
          <a:bodyPr wrap="square" rtlCol="0">
            <a:spAutoFit/>
          </a:bodyPr>
          <a:lstStyle/>
          <a:p>
            <a:r>
              <a:rPr lang="fr-FR" sz="6000" b="1" dirty="0">
                <a:cs typeface="Calibri" panose="020F0502020204030204" pitchFamily="34" charset="0"/>
              </a:rPr>
              <a:t>Les collections</a:t>
            </a:r>
            <a:endParaRPr lang="fr-FR" sz="1600" b="1" dirty="0">
              <a:ln w="0"/>
              <a:effectLst>
                <a:outerShdw blurRad="38100" dist="19050" dir="2700000" algn="tl" rotWithShape="0">
                  <a:schemeClr val="dk1">
                    <a:alpha val="40000"/>
                  </a:schemeClr>
                </a:outerShdw>
              </a:effectLst>
              <a:cs typeface="Calibri" panose="020F0502020204030204" pitchFamily="34" charset="0"/>
            </a:endParaRPr>
          </a:p>
        </p:txBody>
      </p:sp>
      <p:sp>
        <p:nvSpPr>
          <p:cNvPr id="5" name="ZoneTexte 4">
            <a:extLst>
              <a:ext uri="{FF2B5EF4-FFF2-40B4-BE49-F238E27FC236}">
                <a16:creationId xmlns:a16="http://schemas.microsoft.com/office/drawing/2014/main" id="{B7D637D6-03EE-273C-0999-B9E762FB9FAB}"/>
              </a:ext>
            </a:extLst>
          </p:cNvPr>
          <p:cNvSpPr txBox="1"/>
          <p:nvPr/>
        </p:nvSpPr>
        <p:spPr>
          <a:xfrm>
            <a:off x="838200" y="2139312"/>
            <a:ext cx="10515600" cy="461665"/>
          </a:xfrm>
          <a:prstGeom prst="rect">
            <a:avLst/>
          </a:prstGeom>
          <a:solidFill>
            <a:srgbClr val="709BBD">
              <a:alpha val="74902"/>
            </a:srgbClr>
          </a:solidFill>
          <a:effectLst>
            <a:outerShdw blurRad="50800" dist="38100" dir="2700000" algn="tl" rotWithShape="0">
              <a:prstClr val="black">
                <a:alpha val="40000"/>
              </a:prstClr>
            </a:outerShdw>
          </a:effectLst>
        </p:spPr>
        <p:txBody>
          <a:bodyPr wrap="square" rtlCol="0">
            <a:spAutoFit/>
          </a:bodyPr>
          <a:lstStyle/>
          <a:p>
            <a:r>
              <a:rPr lang="fr-FR" sz="2400" b="1" dirty="0">
                <a:cs typeface="Calibri" panose="020F0502020204030204" pitchFamily="34" charset="0"/>
              </a:rPr>
              <a:t>Comment manipuler des groupes d’éléments…</a:t>
            </a:r>
          </a:p>
        </p:txBody>
      </p:sp>
    </p:spTree>
    <p:extLst>
      <p:ext uri="{BB962C8B-B14F-4D97-AF65-F5344CB8AC3E}">
        <p14:creationId xmlns:p14="http://schemas.microsoft.com/office/powerpoint/2010/main" val="1509636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Collections</a:t>
            </a:r>
          </a:p>
        </p:txBody>
      </p:sp>
      <p:sp>
        <p:nvSpPr>
          <p:cNvPr id="11" name="Espace réservé du contenu 10">
            <a:extLst>
              <a:ext uri="{FF2B5EF4-FFF2-40B4-BE49-F238E27FC236}">
                <a16:creationId xmlns:a16="http://schemas.microsoft.com/office/drawing/2014/main" id="{3AF5EDFA-132B-BBED-90F9-653F49F32C48}"/>
              </a:ext>
            </a:extLst>
          </p:cNvPr>
          <p:cNvSpPr>
            <a:spLocks noGrp="1"/>
          </p:cNvSpPr>
          <p:nvPr>
            <p:ph idx="1"/>
          </p:nvPr>
        </p:nvSpPr>
        <p:spPr/>
        <p:txBody>
          <a:bodyPr/>
          <a:lstStyle/>
          <a:p>
            <a:pPr marL="342900" indent="-342900">
              <a:buFont typeface="Arial" charset="0"/>
              <a:buChar char="•"/>
            </a:pPr>
            <a:r>
              <a:rPr lang="fr-BE" dirty="0">
                <a:solidFill>
                  <a:schemeClr val="accent4"/>
                </a:solidFill>
              </a:rPr>
              <a:t>Pourquoi les Collections?</a:t>
            </a:r>
          </a:p>
          <a:p>
            <a:pPr marL="342900" indent="-342900">
              <a:buFont typeface="Arial" charset="0"/>
              <a:buChar char="•"/>
            </a:pPr>
            <a:r>
              <a:rPr lang="fr-BE" dirty="0"/>
              <a:t>Itérateur</a:t>
            </a:r>
          </a:p>
          <a:p>
            <a:pPr marL="342900" indent="-342900">
              <a:buFont typeface="Arial" charset="0"/>
              <a:buChar char="•"/>
            </a:pPr>
            <a:r>
              <a:rPr lang="fr-BE" dirty="0"/>
              <a:t>Les Interfaces de Collections</a:t>
            </a:r>
          </a:p>
          <a:p>
            <a:pPr marL="342900" indent="-342900">
              <a:buFont typeface="Arial" charset="0"/>
              <a:buChar char="•"/>
            </a:pPr>
            <a:r>
              <a:rPr lang="fr-BE" dirty="0"/>
              <a:t>La notion d’ordre (Comparable et </a:t>
            </a:r>
            <a:r>
              <a:rPr lang="fr-BE" dirty="0" err="1"/>
              <a:t>Sorted</a:t>
            </a:r>
            <a:r>
              <a:rPr lang="fr-BE" dirty="0"/>
              <a:t>...)</a:t>
            </a:r>
          </a:p>
          <a:p>
            <a:pPr marL="342900" indent="-342900">
              <a:buFont typeface="Arial" charset="0"/>
              <a:buChar char="•"/>
            </a:pPr>
            <a:r>
              <a:rPr lang="fr-BE" dirty="0"/>
              <a:t>Les classes concrètes</a:t>
            </a:r>
          </a:p>
          <a:p>
            <a:pPr marL="342900" indent="-342900">
              <a:buFont typeface="Arial" charset="0"/>
              <a:buChar char="•"/>
            </a:pPr>
            <a:r>
              <a:rPr lang="fr-BE" dirty="0"/>
              <a:t>Algorithmes: la classe Collections</a:t>
            </a:r>
          </a:p>
          <a:p>
            <a:pPr marL="342900" indent="-342900">
              <a:buFont typeface="Arial" charset="0"/>
              <a:buChar char="•"/>
            </a:pPr>
            <a:endParaRPr lang="fr-BE" dirty="0"/>
          </a:p>
        </p:txBody>
      </p:sp>
      <p:sp>
        <p:nvSpPr>
          <p:cNvPr id="3" name="Espace réservé du numéro de diapositive 2">
            <a:extLst>
              <a:ext uri="{FF2B5EF4-FFF2-40B4-BE49-F238E27FC236}">
                <a16:creationId xmlns:a16="http://schemas.microsoft.com/office/drawing/2014/main" id="{8DD814E5-C21A-8FE8-D594-E98AB8334D3C}"/>
              </a:ext>
            </a:extLst>
          </p:cNvPr>
          <p:cNvSpPr>
            <a:spLocks noGrp="1"/>
          </p:cNvSpPr>
          <p:nvPr>
            <p:ph type="sldNum" sz="quarter" idx="10"/>
          </p:nvPr>
        </p:nvSpPr>
        <p:spPr/>
        <p:txBody>
          <a:bodyPr/>
          <a:lstStyle/>
          <a:p>
            <a:fld id="{33C783E2-4793-4F48-A271-51A73CC37D74}" type="slidenum">
              <a:rPr lang="fr-FR" smtClean="0"/>
              <a:t>5</a:t>
            </a:fld>
            <a:endParaRPr lang="fr-FR"/>
          </a:p>
        </p:txBody>
      </p:sp>
    </p:spTree>
    <p:extLst>
      <p:ext uri="{BB962C8B-B14F-4D97-AF65-F5344CB8AC3E}">
        <p14:creationId xmlns:p14="http://schemas.microsoft.com/office/powerpoint/2010/main" val="901442671"/>
      </p:ext>
    </p:extLst>
  </p:cSld>
  <p:clrMapOvr>
    <a:masterClrMapping/>
  </p:clrMapOvr>
  <p:transition>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Les Collections…</a:t>
            </a:r>
          </a:p>
        </p:txBody>
      </p:sp>
      <p:sp>
        <p:nvSpPr>
          <p:cNvPr id="3" name="Espace réservé du contenu 2"/>
          <p:cNvSpPr>
            <a:spLocks noGrp="1"/>
          </p:cNvSpPr>
          <p:nvPr>
            <p:ph idx="1"/>
          </p:nvPr>
        </p:nvSpPr>
        <p:spPr/>
        <p:txBody>
          <a:bodyPr>
            <a:normAutofit lnSpcReduction="10000"/>
          </a:bodyPr>
          <a:lstStyle/>
          <a:p>
            <a:r>
              <a:rPr lang="fr-FR" dirty="0"/>
              <a:t>Une </a:t>
            </a:r>
            <a:r>
              <a:rPr lang="fr-FR" sz="2600" dirty="0">
                <a:solidFill>
                  <a:schemeClr val="accent4"/>
                </a:solidFill>
                <a:latin typeface="Consolas" panose="020B0609020204030204" pitchFamily="49" charset="0"/>
                <a:cs typeface="Consolas" panose="020B0609020204030204" pitchFamily="49" charset="0"/>
              </a:rPr>
              <a:t>Collection</a:t>
            </a:r>
            <a:r>
              <a:rPr lang="fr-FR" dirty="0"/>
              <a:t> (aussi appelé parfois Container) est un objet qui représente une </a:t>
            </a:r>
            <a:r>
              <a:rPr lang="fr-FR" dirty="0">
                <a:solidFill>
                  <a:schemeClr val="accent4"/>
                </a:solidFill>
              </a:rPr>
              <a:t>structure de données </a:t>
            </a:r>
            <a:r>
              <a:rPr lang="fr-FR" dirty="0"/>
              <a:t>(ensemble, liste, file,…).</a:t>
            </a:r>
          </a:p>
          <a:p>
            <a:r>
              <a:rPr lang="fr-FR" dirty="0"/>
              <a:t>Typiquement, une collection représentera un groupe naturel de données, comme une main au poker (un ensemble de cartes), un dossier d'emails, un carnet d’adresses, une file de clients devant une caisse.</a:t>
            </a:r>
          </a:p>
          <a:p>
            <a:r>
              <a:rPr lang="fr-FR" dirty="0"/>
              <a:t>Le </a:t>
            </a:r>
            <a:r>
              <a:rPr lang="fr-FR" dirty="0" err="1">
                <a:solidFill>
                  <a:schemeClr val="accent4"/>
                </a:solidFill>
              </a:rPr>
              <a:t>framework</a:t>
            </a:r>
            <a:r>
              <a:rPr lang="fr-FR" dirty="0"/>
              <a:t> des collections présente une manière unifiée de représenter et d’utiliser ces structures de données.</a:t>
            </a:r>
          </a:p>
          <a:p>
            <a:endParaRPr lang="fr-FR" dirty="0"/>
          </a:p>
          <a:p>
            <a:r>
              <a:rPr lang="fr-FR" dirty="0"/>
              <a:t>Ces collections se trouvent dans le package </a:t>
            </a:r>
            <a:r>
              <a:rPr lang="fr-FR" sz="2600" dirty="0" err="1">
                <a:solidFill>
                  <a:schemeClr val="accent4"/>
                </a:solidFill>
                <a:latin typeface="Consolas" panose="020B0609020204030204" pitchFamily="49" charset="0"/>
                <a:cs typeface="Consolas" panose="020B0609020204030204" pitchFamily="49" charset="0"/>
              </a:rPr>
              <a:t>java.util</a:t>
            </a:r>
            <a:r>
              <a:rPr lang="fr-FR" dirty="0"/>
              <a:t>.</a:t>
            </a:r>
          </a:p>
        </p:txBody>
      </p:sp>
      <p:sp>
        <p:nvSpPr>
          <p:cNvPr id="4" name="Espace réservé du numéro de diapositive 3">
            <a:extLst>
              <a:ext uri="{FF2B5EF4-FFF2-40B4-BE49-F238E27FC236}">
                <a16:creationId xmlns:a16="http://schemas.microsoft.com/office/drawing/2014/main" id="{9FEB36E2-B3EB-86B2-70CC-523C0CF778FD}"/>
              </a:ext>
            </a:extLst>
          </p:cNvPr>
          <p:cNvSpPr>
            <a:spLocks noGrp="1"/>
          </p:cNvSpPr>
          <p:nvPr>
            <p:ph type="sldNum" sz="quarter" idx="4"/>
          </p:nvPr>
        </p:nvSpPr>
        <p:spPr/>
        <p:txBody>
          <a:bodyPr/>
          <a:lstStyle/>
          <a:p>
            <a:fld id="{33C783E2-4793-4F48-A271-51A73CC37D74}" type="slidenum">
              <a:rPr lang="fr-FR" smtClean="0"/>
              <a:t>6</a:t>
            </a:fld>
            <a:endParaRPr lang="fr-FR"/>
          </a:p>
        </p:txBody>
      </p:sp>
    </p:spTree>
    <p:extLst>
      <p:ext uri="{BB962C8B-B14F-4D97-AF65-F5344CB8AC3E}">
        <p14:creationId xmlns:p14="http://schemas.microsoft.com/office/powerpoint/2010/main" val="2629167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Pourquoi utiliser les Collections…?</a:t>
            </a:r>
          </a:p>
        </p:txBody>
      </p:sp>
      <p:sp>
        <p:nvSpPr>
          <p:cNvPr id="3" name="Espace réservé du contenu 2"/>
          <p:cNvSpPr>
            <a:spLocks noGrp="1"/>
          </p:cNvSpPr>
          <p:nvPr>
            <p:ph idx="1"/>
          </p:nvPr>
        </p:nvSpPr>
        <p:spPr/>
        <p:txBody>
          <a:bodyPr>
            <a:normAutofit/>
          </a:bodyPr>
          <a:lstStyle/>
          <a:p>
            <a:pPr marL="0" indent="0">
              <a:buNone/>
            </a:pPr>
            <a:r>
              <a:rPr lang="fr-FR" dirty="0"/>
              <a:t>Les collections ont un intérêt certain: leur utilisation…</a:t>
            </a:r>
          </a:p>
          <a:p>
            <a:pPr marL="342900" indent="-342900">
              <a:buFont typeface="Arial"/>
              <a:buChar char="•"/>
            </a:pPr>
            <a:r>
              <a:rPr lang="fr-FR" dirty="0">
                <a:solidFill>
                  <a:schemeClr val="accent4"/>
                </a:solidFill>
              </a:rPr>
              <a:t>diminue l'effort </a:t>
            </a:r>
            <a:r>
              <a:rPr lang="fr-FR" dirty="0"/>
              <a:t>de programmation</a:t>
            </a:r>
            <a:endParaRPr lang="fr-FR" b="0" dirty="0"/>
          </a:p>
          <a:p>
            <a:pPr marL="342900" indent="-342900">
              <a:buFont typeface="Arial"/>
              <a:buChar char="•"/>
            </a:pPr>
            <a:r>
              <a:rPr lang="fr-FR" dirty="0"/>
              <a:t>augmente la </a:t>
            </a:r>
            <a:r>
              <a:rPr lang="fr-FR" dirty="0">
                <a:solidFill>
                  <a:schemeClr val="accent4"/>
                </a:solidFill>
              </a:rPr>
              <a:t>rapidité</a:t>
            </a:r>
            <a:r>
              <a:rPr lang="fr-FR" dirty="0"/>
              <a:t> d'exécution et la qualité des applications</a:t>
            </a:r>
            <a:endParaRPr lang="fr-FR" b="0" dirty="0"/>
          </a:p>
          <a:p>
            <a:pPr marL="342900" indent="-342900">
              <a:buFont typeface="Arial"/>
              <a:buChar char="•"/>
            </a:pPr>
            <a:r>
              <a:rPr lang="fr-FR" dirty="0"/>
              <a:t>permet à des APIs différentes d'utiliser le </a:t>
            </a:r>
            <a:r>
              <a:rPr lang="fr-FR" dirty="0">
                <a:solidFill>
                  <a:schemeClr val="accent4"/>
                </a:solidFill>
              </a:rPr>
              <a:t>même outil</a:t>
            </a:r>
            <a:endParaRPr lang="fr-FR" b="0" dirty="0">
              <a:solidFill>
                <a:schemeClr val="accent4"/>
              </a:solidFill>
            </a:endParaRPr>
          </a:p>
          <a:p>
            <a:pPr marL="342900" indent="-342900">
              <a:buFont typeface="Arial"/>
              <a:buChar char="•"/>
            </a:pPr>
            <a:r>
              <a:rPr lang="fr-FR" dirty="0">
                <a:solidFill>
                  <a:schemeClr val="accent4"/>
                </a:solidFill>
              </a:rPr>
              <a:t>réduit l'effort </a:t>
            </a:r>
            <a:r>
              <a:rPr lang="fr-FR" dirty="0"/>
              <a:t>nécessaire pour apprendre et utiliser de nouveaux APIs</a:t>
            </a:r>
            <a:endParaRPr lang="fr-FR" b="0" dirty="0"/>
          </a:p>
          <a:p>
            <a:pPr marL="342900" indent="-342900">
              <a:buFont typeface="Arial"/>
              <a:buChar char="•"/>
            </a:pPr>
            <a:r>
              <a:rPr lang="fr-FR" dirty="0"/>
              <a:t>permet de développer de nouveaux APIs </a:t>
            </a:r>
            <a:r>
              <a:rPr lang="fr-FR" dirty="0">
                <a:solidFill>
                  <a:schemeClr val="accent4"/>
                </a:solidFill>
              </a:rPr>
              <a:t>plus simplement</a:t>
            </a:r>
            <a:endParaRPr lang="fr-FR" b="0" dirty="0">
              <a:solidFill>
                <a:schemeClr val="accent4"/>
              </a:solidFill>
            </a:endParaRPr>
          </a:p>
          <a:p>
            <a:pPr marL="342900" indent="-342900">
              <a:buFont typeface="Arial"/>
              <a:buChar char="•"/>
            </a:pPr>
            <a:r>
              <a:rPr lang="fr-FR" dirty="0"/>
              <a:t>soutient la </a:t>
            </a:r>
            <a:r>
              <a:rPr lang="fr-FR" dirty="0">
                <a:solidFill>
                  <a:schemeClr val="accent4"/>
                </a:solidFill>
              </a:rPr>
              <a:t>réutilisation</a:t>
            </a:r>
          </a:p>
        </p:txBody>
      </p:sp>
      <p:sp>
        <p:nvSpPr>
          <p:cNvPr id="4" name="Espace réservé du numéro de diapositive 3">
            <a:extLst>
              <a:ext uri="{FF2B5EF4-FFF2-40B4-BE49-F238E27FC236}">
                <a16:creationId xmlns:a16="http://schemas.microsoft.com/office/drawing/2014/main" id="{92A10D3D-2C1F-381C-9BD7-65CA92D4430D}"/>
              </a:ext>
            </a:extLst>
          </p:cNvPr>
          <p:cNvSpPr>
            <a:spLocks noGrp="1"/>
          </p:cNvSpPr>
          <p:nvPr>
            <p:ph type="sldNum" sz="quarter" idx="4"/>
          </p:nvPr>
        </p:nvSpPr>
        <p:spPr/>
        <p:txBody>
          <a:bodyPr/>
          <a:lstStyle/>
          <a:p>
            <a:fld id="{33C783E2-4793-4F48-A271-51A73CC37D74}" type="slidenum">
              <a:rPr lang="fr-FR" smtClean="0"/>
              <a:t>7</a:t>
            </a:fld>
            <a:endParaRPr lang="fr-FR"/>
          </a:p>
        </p:txBody>
      </p:sp>
    </p:spTree>
    <p:extLst>
      <p:ext uri="{BB962C8B-B14F-4D97-AF65-F5344CB8AC3E}">
        <p14:creationId xmlns:p14="http://schemas.microsoft.com/office/powerpoint/2010/main" val="2347250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Le Framework des Collections</a:t>
            </a:r>
          </a:p>
        </p:txBody>
      </p:sp>
      <p:sp>
        <p:nvSpPr>
          <p:cNvPr id="3" name="Espace réservé du contenu 2"/>
          <p:cNvSpPr>
            <a:spLocks noGrp="1"/>
          </p:cNvSpPr>
          <p:nvPr>
            <p:ph idx="1"/>
          </p:nvPr>
        </p:nvSpPr>
        <p:spPr/>
        <p:txBody>
          <a:bodyPr>
            <a:normAutofit/>
          </a:bodyPr>
          <a:lstStyle/>
          <a:p>
            <a:pPr marL="0" indent="0">
              <a:buNone/>
            </a:pPr>
            <a:r>
              <a:rPr lang="fr-FR" dirty="0"/>
              <a:t>Le </a:t>
            </a:r>
            <a:r>
              <a:rPr lang="fr-FR" dirty="0" err="1">
                <a:solidFill>
                  <a:schemeClr val="accent4"/>
                </a:solidFill>
              </a:rPr>
              <a:t>framework</a:t>
            </a:r>
            <a:r>
              <a:rPr lang="fr-FR" dirty="0"/>
              <a:t> des collections contient différentes choses:</a:t>
            </a:r>
          </a:p>
          <a:p>
            <a:pPr marL="342900" indent="-342900"/>
            <a:r>
              <a:rPr lang="fr-FR" dirty="0"/>
              <a:t>Des </a:t>
            </a:r>
            <a:r>
              <a:rPr lang="fr-FR" dirty="0">
                <a:solidFill>
                  <a:schemeClr val="accent4"/>
                </a:solidFill>
              </a:rPr>
              <a:t>interfaces</a:t>
            </a:r>
            <a:r>
              <a:rPr lang="fr-FR" dirty="0"/>
              <a:t>, types abstraits qui représentent les grandes familles de collections. Utiliser une interface permet de ne pas se soucier de l’implémentation.</a:t>
            </a:r>
          </a:p>
          <a:p>
            <a:pPr marL="342900" indent="-342900"/>
            <a:r>
              <a:rPr lang="fr-FR" dirty="0"/>
              <a:t>Des </a:t>
            </a:r>
            <a:r>
              <a:rPr lang="fr-FR" dirty="0">
                <a:solidFill>
                  <a:schemeClr val="accent4"/>
                </a:solidFill>
              </a:rPr>
              <a:t>classes</a:t>
            </a:r>
            <a:r>
              <a:rPr lang="fr-FR" dirty="0"/>
              <a:t>, implémentations concrètes des interfaces. Ces classes constituent les structures réutilisables qui font la force du </a:t>
            </a:r>
            <a:r>
              <a:rPr lang="fr-FR" dirty="0" err="1"/>
              <a:t>framework</a:t>
            </a:r>
            <a:r>
              <a:rPr lang="fr-FR" dirty="0"/>
              <a:t>.</a:t>
            </a:r>
          </a:p>
          <a:p>
            <a:pPr marL="342900" indent="-342900"/>
            <a:r>
              <a:rPr lang="fr-FR" dirty="0"/>
              <a:t>Des </a:t>
            </a:r>
            <a:r>
              <a:rPr lang="fr-FR" dirty="0">
                <a:solidFill>
                  <a:schemeClr val="accent4"/>
                </a:solidFill>
              </a:rPr>
              <a:t>algorithmes</a:t>
            </a:r>
            <a:r>
              <a:rPr lang="fr-FR" dirty="0"/>
              <a:t>, sous forme de méthodes statiques générales </a:t>
            </a:r>
            <a:r>
              <a:rPr lang="fr-FR" dirty="0" err="1"/>
              <a:t>appliquables</a:t>
            </a:r>
            <a:r>
              <a:rPr lang="fr-FR" dirty="0"/>
              <a:t> aux collections (par exemple pour rechercher un maximum, trier, mélanger, copier des éléments de collections).</a:t>
            </a:r>
          </a:p>
        </p:txBody>
      </p:sp>
      <p:sp>
        <p:nvSpPr>
          <p:cNvPr id="4" name="Espace réservé du numéro de diapositive 3">
            <a:extLst>
              <a:ext uri="{FF2B5EF4-FFF2-40B4-BE49-F238E27FC236}">
                <a16:creationId xmlns:a16="http://schemas.microsoft.com/office/drawing/2014/main" id="{4BEB5D0F-17FA-767C-B096-9AD6CE7052DD}"/>
              </a:ext>
            </a:extLst>
          </p:cNvPr>
          <p:cNvSpPr>
            <a:spLocks noGrp="1"/>
          </p:cNvSpPr>
          <p:nvPr>
            <p:ph type="sldNum" sz="quarter" idx="4"/>
          </p:nvPr>
        </p:nvSpPr>
        <p:spPr/>
        <p:txBody>
          <a:bodyPr/>
          <a:lstStyle/>
          <a:p>
            <a:fld id="{33C783E2-4793-4F48-A271-51A73CC37D74}" type="slidenum">
              <a:rPr lang="fr-FR" smtClean="0"/>
              <a:t>8</a:t>
            </a:fld>
            <a:endParaRPr lang="fr-FR"/>
          </a:p>
        </p:txBody>
      </p:sp>
    </p:spTree>
    <p:extLst>
      <p:ext uri="{BB962C8B-B14F-4D97-AF65-F5344CB8AC3E}">
        <p14:creationId xmlns:p14="http://schemas.microsoft.com/office/powerpoint/2010/main" val="839616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Types Génériques</a:t>
            </a:r>
          </a:p>
        </p:txBody>
      </p:sp>
      <p:sp>
        <p:nvSpPr>
          <p:cNvPr id="3" name="Espace réservé du contenu 2"/>
          <p:cNvSpPr>
            <a:spLocks noGrp="1"/>
          </p:cNvSpPr>
          <p:nvPr>
            <p:ph idx="1"/>
          </p:nvPr>
        </p:nvSpPr>
        <p:spPr/>
        <p:txBody>
          <a:bodyPr>
            <a:noAutofit/>
          </a:bodyPr>
          <a:lstStyle/>
          <a:p>
            <a:pPr marL="0" indent="0">
              <a:buNone/>
            </a:pPr>
            <a:r>
              <a:rPr lang="fr-FR" sz="2400" dirty="0"/>
              <a:t>Depuis Java 5, toutes les classes et les interfaces liées aux collections sont ‘typées’; on les appelle des classes (et interfaces) </a:t>
            </a:r>
            <a:r>
              <a:rPr lang="fr-FR" sz="2400" dirty="0">
                <a:solidFill>
                  <a:schemeClr val="accent4"/>
                </a:solidFill>
              </a:rPr>
              <a:t>génériques</a:t>
            </a:r>
            <a:r>
              <a:rPr lang="fr-FR" sz="2400" dirty="0"/>
              <a:t>.</a:t>
            </a:r>
          </a:p>
          <a:p>
            <a:pPr marL="0" indent="0">
              <a:buNone/>
            </a:pPr>
            <a:r>
              <a:rPr lang="fr-FR" sz="2400" dirty="0"/>
              <a:t>En pratique, cela se manifeste par ce type de notations: </a:t>
            </a:r>
          </a:p>
          <a:p>
            <a:pPr marL="274320" lvl="1" indent="0">
              <a:buNone/>
            </a:pPr>
            <a:r>
              <a:rPr lang="fr-FR" dirty="0">
                <a:solidFill>
                  <a:schemeClr val="accent4"/>
                </a:solidFill>
                <a:latin typeface="Consolas" charset="0"/>
                <a:ea typeface="Consolas" charset="0"/>
                <a:cs typeface="Consolas" charset="0"/>
              </a:rPr>
              <a:t>public interface Collection&lt;E&gt; {…}</a:t>
            </a:r>
          </a:p>
          <a:p>
            <a:pPr marL="45720" indent="0">
              <a:buNone/>
            </a:pPr>
            <a:r>
              <a:rPr lang="fr-FR" sz="2400" dirty="0"/>
              <a:t>Le </a:t>
            </a:r>
            <a:r>
              <a:rPr lang="fr-FR" sz="2400" dirty="0">
                <a:solidFill>
                  <a:schemeClr val="accent4"/>
                </a:solidFill>
                <a:latin typeface="Consolas" charset="0"/>
                <a:cs typeface="Consolas" charset="0"/>
              </a:rPr>
              <a:t>E</a:t>
            </a:r>
            <a:r>
              <a:rPr lang="fr-FR" sz="2400" dirty="0"/>
              <a:t> désigne le type des objets de la collection. </a:t>
            </a:r>
          </a:p>
          <a:p>
            <a:pPr marL="45720" indent="0">
              <a:buNone/>
            </a:pPr>
            <a:endParaRPr lang="fr-FR" sz="2400" dirty="0"/>
          </a:p>
          <a:p>
            <a:pPr marL="0" indent="0">
              <a:buNone/>
            </a:pPr>
            <a:r>
              <a:rPr lang="fr-FR" sz="2400" dirty="0"/>
              <a:t>Pour déclarer une collection, on écrira:</a:t>
            </a:r>
          </a:p>
          <a:p>
            <a:pPr marL="274320" lvl="1" indent="0">
              <a:buNone/>
            </a:pPr>
            <a:r>
              <a:rPr lang="fr-FR" dirty="0">
                <a:solidFill>
                  <a:schemeClr val="accent4"/>
                </a:solidFill>
                <a:latin typeface="Consolas" charset="0"/>
                <a:cs typeface="Consolas" charset="0"/>
              </a:rPr>
              <a:t>Collection&lt;Point&gt; points;</a:t>
            </a:r>
          </a:p>
          <a:p>
            <a:pPr marL="45720" indent="0">
              <a:buNone/>
            </a:pPr>
            <a:r>
              <a:rPr lang="fr-FR" sz="2400" dirty="0"/>
              <a:t>Les classes génériques permettent de vérifier le type des objets insérés dans la collection, au moment de la compilation plutôt qu’à l’exécution.</a:t>
            </a:r>
          </a:p>
          <a:p>
            <a:pPr indent="-182880"/>
            <a:endParaRPr lang="fr-FR" sz="2400" dirty="0"/>
          </a:p>
        </p:txBody>
      </p:sp>
      <p:sp>
        <p:nvSpPr>
          <p:cNvPr id="4" name="Espace réservé du numéro de diapositive 3">
            <a:extLst>
              <a:ext uri="{FF2B5EF4-FFF2-40B4-BE49-F238E27FC236}">
                <a16:creationId xmlns:a16="http://schemas.microsoft.com/office/drawing/2014/main" id="{D0A987A0-26FF-3887-DD8D-2D35CBC1E697}"/>
              </a:ext>
            </a:extLst>
          </p:cNvPr>
          <p:cNvSpPr>
            <a:spLocks noGrp="1"/>
          </p:cNvSpPr>
          <p:nvPr>
            <p:ph type="sldNum" sz="quarter" idx="4"/>
          </p:nvPr>
        </p:nvSpPr>
        <p:spPr/>
        <p:txBody>
          <a:bodyPr/>
          <a:lstStyle/>
          <a:p>
            <a:fld id="{33C783E2-4793-4F48-A271-51A73CC37D74}" type="slidenum">
              <a:rPr lang="fr-FR" smtClean="0"/>
              <a:t>9</a:t>
            </a:fld>
            <a:endParaRPr lang="fr-FR"/>
          </a:p>
        </p:txBody>
      </p:sp>
    </p:spTree>
    <p:extLst>
      <p:ext uri="{BB962C8B-B14F-4D97-AF65-F5344CB8AC3E}">
        <p14:creationId xmlns:p14="http://schemas.microsoft.com/office/powerpoint/2010/main" val="567473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Collections</a:t>
            </a:r>
          </a:p>
        </p:txBody>
      </p:sp>
      <p:sp>
        <p:nvSpPr>
          <p:cNvPr id="3" name="Espace réservé du contenu 2"/>
          <p:cNvSpPr>
            <a:spLocks noGrp="1"/>
          </p:cNvSpPr>
          <p:nvPr>
            <p:ph idx="1"/>
          </p:nvPr>
        </p:nvSpPr>
        <p:spPr/>
        <p:txBody>
          <a:bodyPr>
            <a:normAutofit/>
          </a:bodyPr>
          <a:lstStyle/>
          <a:p>
            <a:pPr marL="342900" indent="-342900">
              <a:buFont typeface="Arial" charset="0"/>
              <a:buChar char="•"/>
            </a:pPr>
            <a:r>
              <a:rPr lang="fr-BE" dirty="0"/>
              <a:t>Pourquoi les Collections?</a:t>
            </a:r>
          </a:p>
          <a:p>
            <a:pPr marL="342900" indent="-342900">
              <a:buFont typeface="Arial" charset="0"/>
              <a:buChar char="•"/>
            </a:pPr>
            <a:r>
              <a:rPr lang="fr-BE" dirty="0" err="1">
                <a:solidFill>
                  <a:schemeClr val="accent4"/>
                </a:solidFill>
              </a:rPr>
              <a:t>Itérateur</a:t>
            </a:r>
            <a:endParaRPr lang="fr-BE" dirty="0">
              <a:solidFill>
                <a:schemeClr val="accent4"/>
              </a:solidFill>
            </a:endParaRPr>
          </a:p>
          <a:p>
            <a:pPr marL="342900" indent="-342900">
              <a:buFont typeface="Arial" charset="0"/>
              <a:buChar char="•"/>
            </a:pPr>
            <a:r>
              <a:rPr lang="fr-BE" dirty="0"/>
              <a:t>Les Interfaces de Collections</a:t>
            </a:r>
          </a:p>
          <a:p>
            <a:pPr marL="342900" indent="-342900">
              <a:buFont typeface="Arial" charset="0"/>
              <a:buChar char="•"/>
            </a:pPr>
            <a:r>
              <a:rPr lang="fr-BE" dirty="0"/>
              <a:t>La notion d’ordre (Comparable et </a:t>
            </a:r>
            <a:r>
              <a:rPr lang="fr-BE" dirty="0" err="1"/>
              <a:t>Sorted</a:t>
            </a:r>
            <a:r>
              <a:rPr lang="fr-BE" dirty="0"/>
              <a:t>...)</a:t>
            </a:r>
          </a:p>
          <a:p>
            <a:pPr marL="342900" indent="-342900">
              <a:buFont typeface="Arial" charset="0"/>
              <a:buChar char="•"/>
            </a:pPr>
            <a:r>
              <a:rPr lang="fr-BE" dirty="0"/>
              <a:t>Les classes concrètes</a:t>
            </a:r>
          </a:p>
          <a:p>
            <a:pPr marL="342900" indent="-342900">
              <a:buFont typeface="Arial" charset="0"/>
              <a:buChar char="•"/>
            </a:pPr>
            <a:r>
              <a:rPr lang="fr-BE" dirty="0"/>
              <a:t>Algorithmes: la classe Collections</a:t>
            </a:r>
          </a:p>
          <a:p>
            <a:pPr marL="342900" indent="-342900">
              <a:buFont typeface="Arial" charset="0"/>
              <a:buChar char="•"/>
            </a:pPr>
            <a:endParaRPr lang="fr-BE" dirty="0"/>
          </a:p>
        </p:txBody>
      </p:sp>
      <p:sp>
        <p:nvSpPr>
          <p:cNvPr id="4" name="Espace réservé du numéro de diapositive 3">
            <a:extLst>
              <a:ext uri="{FF2B5EF4-FFF2-40B4-BE49-F238E27FC236}">
                <a16:creationId xmlns:a16="http://schemas.microsoft.com/office/drawing/2014/main" id="{5DC17DA8-9F98-7095-CF7F-AC10DBE337E5}"/>
              </a:ext>
            </a:extLst>
          </p:cNvPr>
          <p:cNvSpPr>
            <a:spLocks noGrp="1"/>
          </p:cNvSpPr>
          <p:nvPr>
            <p:ph type="sldNum" sz="quarter" idx="10"/>
          </p:nvPr>
        </p:nvSpPr>
        <p:spPr/>
        <p:txBody>
          <a:bodyPr/>
          <a:lstStyle/>
          <a:p>
            <a:fld id="{33C783E2-4793-4F48-A271-51A73CC37D74}" type="slidenum">
              <a:rPr lang="fr-FR" smtClean="0"/>
              <a:t>10</a:t>
            </a:fld>
            <a:endParaRPr lang="fr-FR"/>
          </a:p>
        </p:txBody>
      </p:sp>
    </p:spTree>
    <p:extLst>
      <p:ext uri="{BB962C8B-B14F-4D97-AF65-F5344CB8AC3E}">
        <p14:creationId xmlns:p14="http://schemas.microsoft.com/office/powerpoint/2010/main" val="1493525322"/>
      </p:ext>
    </p:extLst>
  </p:cSld>
  <p:clrMapOvr>
    <a:masterClrMapping/>
  </p:clrMapOvr>
  <p:transition>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2D93E-1689-84D5-BFFD-A679D611EFA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C07B251-6577-F648-3835-FE45181203B2}"/>
              </a:ext>
            </a:extLst>
          </p:cNvPr>
          <p:cNvSpPr>
            <a:spLocks noGrp="1"/>
          </p:cNvSpPr>
          <p:nvPr>
            <p:ph type="title"/>
          </p:nvPr>
        </p:nvSpPr>
        <p:spPr/>
        <p:txBody>
          <a:bodyPr>
            <a:normAutofit/>
          </a:bodyPr>
          <a:lstStyle/>
          <a:p>
            <a:r>
              <a:rPr lang="fr-FR" sz="4800" dirty="0" err="1">
                <a:solidFill>
                  <a:schemeClr val="accent4"/>
                </a:solidFill>
                <a:latin typeface="Consolas" panose="020B0609020204030204" pitchFamily="49" charset="0"/>
                <a:cs typeface="Consolas" panose="020B0609020204030204" pitchFamily="49" charset="0"/>
              </a:rPr>
              <a:t>Iterable</a:t>
            </a:r>
            <a:r>
              <a:rPr lang="fr-FR" dirty="0"/>
              <a:t> et </a:t>
            </a:r>
            <a:r>
              <a:rPr lang="fr-FR" sz="4800" dirty="0" err="1">
                <a:solidFill>
                  <a:schemeClr val="accent4"/>
                </a:solidFill>
                <a:latin typeface="Consolas" panose="020B0609020204030204" pitchFamily="49" charset="0"/>
                <a:cs typeface="Consolas" panose="020B0609020204030204" pitchFamily="49" charset="0"/>
              </a:rPr>
              <a:t>Iterator</a:t>
            </a:r>
            <a:endParaRPr lang="fr-FR" dirty="0"/>
          </a:p>
        </p:txBody>
      </p:sp>
      <p:sp>
        <p:nvSpPr>
          <p:cNvPr id="3" name="Espace réservé du contenu 2">
            <a:extLst>
              <a:ext uri="{FF2B5EF4-FFF2-40B4-BE49-F238E27FC236}">
                <a16:creationId xmlns:a16="http://schemas.microsoft.com/office/drawing/2014/main" id="{72DC3274-03E4-28F5-7D18-11B46207F6CD}"/>
              </a:ext>
            </a:extLst>
          </p:cNvPr>
          <p:cNvSpPr>
            <a:spLocks noGrp="1"/>
          </p:cNvSpPr>
          <p:nvPr>
            <p:ph idx="1"/>
          </p:nvPr>
        </p:nvSpPr>
        <p:spPr>
          <a:xfrm>
            <a:off x="838199" y="1825625"/>
            <a:ext cx="11187223" cy="1762463"/>
          </a:xfrm>
        </p:spPr>
        <p:txBody>
          <a:bodyPr>
            <a:normAutofit/>
          </a:bodyPr>
          <a:lstStyle/>
          <a:p>
            <a:pPr marL="0" indent="0">
              <a:buNone/>
            </a:pPr>
            <a:r>
              <a:rPr lang="fr-FR" dirty="0"/>
              <a:t>L’interface </a:t>
            </a:r>
            <a:r>
              <a:rPr lang="fr-FR" sz="2600" dirty="0" err="1">
                <a:solidFill>
                  <a:schemeClr val="accent4"/>
                </a:solidFill>
                <a:latin typeface="Consolas" charset="0"/>
                <a:ea typeface="Consolas" charset="0"/>
                <a:cs typeface="Consolas" charset="0"/>
              </a:rPr>
              <a:t>Iterable</a:t>
            </a:r>
            <a:r>
              <a:rPr lang="fr-FR" sz="2600" dirty="0">
                <a:solidFill>
                  <a:schemeClr val="accent4"/>
                </a:solidFill>
                <a:latin typeface="Consolas" charset="0"/>
                <a:ea typeface="Consolas" charset="0"/>
                <a:cs typeface="Consolas" charset="0"/>
              </a:rPr>
              <a:t>&lt;E&gt;</a:t>
            </a:r>
            <a:r>
              <a:rPr lang="fr-FR" dirty="0"/>
              <a:t> présente une méthode </a:t>
            </a:r>
            <a:r>
              <a:rPr lang="fr-FR" sz="2600" dirty="0" err="1">
                <a:solidFill>
                  <a:schemeClr val="accent4"/>
                </a:solidFill>
                <a:latin typeface="Consolas" charset="0"/>
                <a:cs typeface="Consolas" charset="0"/>
              </a:rPr>
              <a:t>iterator</a:t>
            </a:r>
            <a:r>
              <a:rPr lang="fr-FR" sz="2600" dirty="0">
                <a:solidFill>
                  <a:schemeClr val="accent4"/>
                </a:solidFill>
                <a:latin typeface="Consolas" charset="0"/>
                <a:cs typeface="Consolas" charset="0"/>
              </a:rPr>
              <a:t>()</a:t>
            </a:r>
            <a:r>
              <a:rPr lang="fr-FR" dirty="0"/>
              <a:t> qui retourne un </a:t>
            </a:r>
            <a:r>
              <a:rPr lang="fr-FR" sz="2600" dirty="0" err="1">
                <a:solidFill>
                  <a:schemeClr val="accent4"/>
                </a:solidFill>
                <a:latin typeface="Consolas" charset="0"/>
                <a:cs typeface="Consolas" charset="0"/>
              </a:rPr>
              <a:t>Iterator</a:t>
            </a:r>
            <a:r>
              <a:rPr lang="fr-FR" sz="2600" dirty="0">
                <a:solidFill>
                  <a:schemeClr val="accent4"/>
                </a:solidFill>
                <a:latin typeface="Consolas" charset="0"/>
                <a:cs typeface="Consolas" charset="0"/>
              </a:rPr>
              <a:t>&lt;E&gt;</a:t>
            </a:r>
            <a:r>
              <a:rPr lang="fr-FR" dirty="0"/>
              <a:t>. </a:t>
            </a:r>
          </a:p>
          <a:p>
            <a:pPr marL="0" indent="0">
              <a:buNone/>
            </a:pPr>
            <a:r>
              <a:rPr lang="fr-FR" dirty="0"/>
              <a:t>Un </a:t>
            </a:r>
            <a:r>
              <a:rPr lang="fr-FR" sz="2600" dirty="0" err="1">
                <a:solidFill>
                  <a:schemeClr val="accent4"/>
                </a:solidFill>
                <a:latin typeface="Consolas" charset="0"/>
                <a:cs typeface="Consolas" charset="0"/>
              </a:rPr>
              <a:t>Iterator</a:t>
            </a:r>
            <a:r>
              <a:rPr lang="fr-FR" dirty="0"/>
              <a:t> permet d’itérer (= de parcourir un à un) les éléments d’une collection.</a:t>
            </a:r>
          </a:p>
          <a:p>
            <a:pPr marL="0" indent="0">
              <a:buNone/>
            </a:pPr>
            <a:endParaRPr lang="fr-FR" dirty="0"/>
          </a:p>
          <a:p>
            <a:pPr marL="0" indent="0">
              <a:buNone/>
            </a:pPr>
            <a:endParaRPr lang="fr-FR" dirty="0"/>
          </a:p>
          <a:p>
            <a:pPr marL="0" indent="0">
              <a:buNone/>
            </a:pPr>
            <a:endParaRPr lang="fr-FR" dirty="0"/>
          </a:p>
        </p:txBody>
      </p:sp>
      <p:sp>
        <p:nvSpPr>
          <p:cNvPr id="4" name="Espace réservé du numéro de diapositive 3">
            <a:extLst>
              <a:ext uri="{FF2B5EF4-FFF2-40B4-BE49-F238E27FC236}">
                <a16:creationId xmlns:a16="http://schemas.microsoft.com/office/drawing/2014/main" id="{83F2AE85-A2EA-6064-D8DF-9CD1C54A1F24}"/>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5" name="Rectangle 4">
            <a:extLst>
              <a:ext uri="{FF2B5EF4-FFF2-40B4-BE49-F238E27FC236}">
                <a16:creationId xmlns:a16="http://schemas.microsoft.com/office/drawing/2014/main" id="{064406B6-3567-9429-965A-BDECB2365B88}"/>
              </a:ext>
            </a:extLst>
          </p:cNvPr>
          <p:cNvSpPr/>
          <p:nvPr/>
        </p:nvSpPr>
        <p:spPr>
          <a:xfrm>
            <a:off x="2599981" y="4126474"/>
            <a:ext cx="6862071" cy="1380274"/>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5" name="Groupe 14">
            <a:extLst>
              <a:ext uri="{FF2B5EF4-FFF2-40B4-BE49-F238E27FC236}">
                <a16:creationId xmlns:a16="http://schemas.microsoft.com/office/drawing/2014/main" id="{C6F95988-7BB3-C8E5-4D78-0F1CE29C0117}"/>
              </a:ext>
            </a:extLst>
          </p:cNvPr>
          <p:cNvGrpSpPr/>
          <p:nvPr/>
        </p:nvGrpSpPr>
        <p:grpSpPr>
          <a:xfrm>
            <a:off x="2822713" y="4359410"/>
            <a:ext cx="6399144" cy="914400"/>
            <a:chOff x="2822713" y="4292189"/>
            <a:chExt cx="6399144" cy="914400"/>
          </a:xfrm>
        </p:grpSpPr>
        <p:sp>
          <p:nvSpPr>
            <p:cNvPr id="6" name="Rectangle 5">
              <a:extLst>
                <a:ext uri="{FF2B5EF4-FFF2-40B4-BE49-F238E27FC236}">
                  <a16:creationId xmlns:a16="http://schemas.microsoft.com/office/drawing/2014/main" id="{69321852-6C75-7A2B-CD91-FA8B30C2E807}"/>
                </a:ext>
              </a:extLst>
            </p:cNvPr>
            <p:cNvSpPr/>
            <p:nvPr/>
          </p:nvSpPr>
          <p:spPr>
            <a:xfrm>
              <a:off x="2822713" y="4292189"/>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E1</a:t>
              </a:r>
            </a:p>
          </p:txBody>
        </p:sp>
        <p:sp>
          <p:nvSpPr>
            <p:cNvPr id="7" name="Rectangle 6">
              <a:extLst>
                <a:ext uri="{FF2B5EF4-FFF2-40B4-BE49-F238E27FC236}">
                  <a16:creationId xmlns:a16="http://schemas.microsoft.com/office/drawing/2014/main" id="{06844B0F-596F-2144-EE87-296D47626389}"/>
                </a:ext>
              </a:extLst>
            </p:cNvPr>
            <p:cNvSpPr/>
            <p:nvPr/>
          </p:nvSpPr>
          <p:spPr>
            <a:xfrm>
              <a:off x="3936419" y="4292189"/>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E2</a:t>
              </a:r>
            </a:p>
          </p:txBody>
        </p:sp>
        <p:sp>
          <p:nvSpPr>
            <p:cNvPr id="8" name="Rectangle 7">
              <a:extLst>
                <a:ext uri="{FF2B5EF4-FFF2-40B4-BE49-F238E27FC236}">
                  <a16:creationId xmlns:a16="http://schemas.microsoft.com/office/drawing/2014/main" id="{7B977300-F6D7-9FD8-EA2A-D08ABB9B62B3}"/>
                </a:ext>
              </a:extLst>
            </p:cNvPr>
            <p:cNvSpPr/>
            <p:nvPr/>
          </p:nvSpPr>
          <p:spPr>
            <a:xfrm>
              <a:off x="5050125" y="4292189"/>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E3</a:t>
              </a:r>
            </a:p>
          </p:txBody>
        </p:sp>
        <p:sp>
          <p:nvSpPr>
            <p:cNvPr id="10" name="Rectangle 9">
              <a:extLst>
                <a:ext uri="{FF2B5EF4-FFF2-40B4-BE49-F238E27FC236}">
                  <a16:creationId xmlns:a16="http://schemas.microsoft.com/office/drawing/2014/main" id="{7241EC4D-3CB7-ED2D-E4A2-B879EBE58F2B}"/>
                </a:ext>
              </a:extLst>
            </p:cNvPr>
            <p:cNvSpPr/>
            <p:nvPr/>
          </p:nvSpPr>
          <p:spPr>
            <a:xfrm>
              <a:off x="7193749" y="4292189"/>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E</a:t>
              </a:r>
              <a:r>
                <a:rPr lang="en-GB" baseline="-25000" dirty="0"/>
                <a:t>n-1</a:t>
              </a:r>
            </a:p>
          </p:txBody>
        </p:sp>
        <p:sp>
          <p:nvSpPr>
            <p:cNvPr id="11" name="Rectangle 10">
              <a:extLst>
                <a:ext uri="{FF2B5EF4-FFF2-40B4-BE49-F238E27FC236}">
                  <a16:creationId xmlns:a16="http://schemas.microsoft.com/office/drawing/2014/main" id="{5D4B20E3-21E9-EE4A-B3D5-C79F2A5E1F07}"/>
                </a:ext>
              </a:extLst>
            </p:cNvPr>
            <p:cNvSpPr/>
            <p:nvPr/>
          </p:nvSpPr>
          <p:spPr>
            <a:xfrm>
              <a:off x="8307457" y="4292189"/>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E</a:t>
              </a:r>
              <a:r>
                <a:rPr lang="en-GB" baseline="-25000" dirty="0"/>
                <a:t>n</a:t>
              </a:r>
            </a:p>
          </p:txBody>
        </p:sp>
        <p:sp>
          <p:nvSpPr>
            <p:cNvPr id="12" name="Ellipse 11">
              <a:extLst>
                <a:ext uri="{FF2B5EF4-FFF2-40B4-BE49-F238E27FC236}">
                  <a16:creationId xmlns:a16="http://schemas.microsoft.com/office/drawing/2014/main" id="{4AF557E3-C087-4408-95B0-3B0C5D737526}"/>
                </a:ext>
              </a:extLst>
            </p:cNvPr>
            <p:cNvSpPr/>
            <p:nvPr/>
          </p:nvSpPr>
          <p:spPr>
            <a:xfrm>
              <a:off x="6163831" y="4677389"/>
              <a:ext cx="144000" cy="144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Ellipse 12">
              <a:extLst>
                <a:ext uri="{FF2B5EF4-FFF2-40B4-BE49-F238E27FC236}">
                  <a16:creationId xmlns:a16="http://schemas.microsoft.com/office/drawing/2014/main" id="{60B28580-C842-EF04-C91D-958F4B497C29}"/>
                </a:ext>
              </a:extLst>
            </p:cNvPr>
            <p:cNvSpPr/>
            <p:nvPr/>
          </p:nvSpPr>
          <p:spPr>
            <a:xfrm>
              <a:off x="6507137" y="4677389"/>
              <a:ext cx="144000" cy="144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Ellipse 13">
              <a:extLst>
                <a:ext uri="{FF2B5EF4-FFF2-40B4-BE49-F238E27FC236}">
                  <a16:creationId xmlns:a16="http://schemas.microsoft.com/office/drawing/2014/main" id="{34AF6469-C6F1-44A8-3373-1378C9C261DA}"/>
                </a:ext>
              </a:extLst>
            </p:cNvPr>
            <p:cNvSpPr/>
            <p:nvPr/>
          </p:nvSpPr>
          <p:spPr>
            <a:xfrm>
              <a:off x="6850443" y="4677389"/>
              <a:ext cx="144000" cy="144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6" name="Flèche vers le bas 15">
            <a:extLst>
              <a:ext uri="{FF2B5EF4-FFF2-40B4-BE49-F238E27FC236}">
                <a16:creationId xmlns:a16="http://schemas.microsoft.com/office/drawing/2014/main" id="{7144CC91-D592-8333-CE46-B50D61583731}"/>
              </a:ext>
            </a:extLst>
          </p:cNvPr>
          <p:cNvSpPr/>
          <p:nvPr/>
        </p:nvSpPr>
        <p:spPr>
          <a:xfrm rot="10800000">
            <a:off x="2755958" y="3588088"/>
            <a:ext cx="275250" cy="771322"/>
          </a:xfrm>
          <a:prstGeom prst="downArrow">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4" name="Flèche courbée vers le haut 23">
            <a:extLst>
              <a:ext uri="{FF2B5EF4-FFF2-40B4-BE49-F238E27FC236}">
                <a16:creationId xmlns:a16="http://schemas.microsoft.com/office/drawing/2014/main" id="{E5E102C0-5896-BE53-A744-2CD55444FF5F}"/>
              </a:ext>
            </a:extLst>
          </p:cNvPr>
          <p:cNvSpPr/>
          <p:nvPr/>
        </p:nvSpPr>
        <p:spPr>
          <a:xfrm>
            <a:off x="2298391" y="5382705"/>
            <a:ext cx="1153682" cy="435836"/>
          </a:xfrm>
          <a:prstGeom prst="curvedUp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err="1">
                <a:solidFill>
                  <a:schemeClr val="accent4"/>
                </a:solidFill>
                <a:latin typeface="Consolas" panose="020B0609020204030204" pitchFamily="49" charset="0"/>
                <a:cs typeface="Consolas" panose="020B0609020204030204" pitchFamily="49" charset="0"/>
              </a:rPr>
              <a:t>hasNext</a:t>
            </a:r>
            <a:r>
              <a:rPr lang="en-GB" sz="1200" dirty="0">
                <a:solidFill>
                  <a:schemeClr val="accent4"/>
                </a:solidFill>
                <a:latin typeface="Consolas" panose="020B0609020204030204" pitchFamily="49" charset="0"/>
                <a:cs typeface="Consolas" panose="020B0609020204030204" pitchFamily="49" charset="0"/>
              </a:rPr>
              <a:t>()</a:t>
            </a:r>
          </a:p>
        </p:txBody>
      </p:sp>
      <p:sp>
        <p:nvSpPr>
          <p:cNvPr id="36" name="Flèche courbée vers le haut 35">
            <a:extLst>
              <a:ext uri="{FF2B5EF4-FFF2-40B4-BE49-F238E27FC236}">
                <a16:creationId xmlns:a16="http://schemas.microsoft.com/office/drawing/2014/main" id="{F33DB14A-AFAC-3ED3-936E-501FBF80FFE4}"/>
              </a:ext>
            </a:extLst>
          </p:cNvPr>
          <p:cNvSpPr/>
          <p:nvPr/>
        </p:nvSpPr>
        <p:spPr>
          <a:xfrm>
            <a:off x="8933018" y="5382705"/>
            <a:ext cx="1153682" cy="435836"/>
          </a:xfrm>
          <a:prstGeom prst="curvedUp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err="1">
                <a:solidFill>
                  <a:schemeClr val="accent4"/>
                </a:solidFill>
                <a:latin typeface="Consolas" panose="020B0609020204030204" pitchFamily="49" charset="0"/>
                <a:cs typeface="Consolas" panose="020B0609020204030204" pitchFamily="49" charset="0"/>
              </a:rPr>
              <a:t>hasNext</a:t>
            </a:r>
            <a:r>
              <a:rPr lang="en-GB" sz="1200" dirty="0">
                <a:solidFill>
                  <a:schemeClr val="accent4"/>
                </a:solidFill>
                <a:latin typeface="Consolas" panose="020B0609020204030204" pitchFamily="49" charset="0"/>
                <a:cs typeface="Consolas" panose="020B0609020204030204" pitchFamily="49" charset="0"/>
              </a:rPr>
              <a:t>()</a:t>
            </a:r>
          </a:p>
        </p:txBody>
      </p:sp>
      <p:sp>
        <p:nvSpPr>
          <p:cNvPr id="37" name="ZoneTexte 36">
            <a:extLst>
              <a:ext uri="{FF2B5EF4-FFF2-40B4-BE49-F238E27FC236}">
                <a16:creationId xmlns:a16="http://schemas.microsoft.com/office/drawing/2014/main" id="{94D9C36F-7A3C-F42C-B2AA-586C9CDE98D4}"/>
              </a:ext>
            </a:extLst>
          </p:cNvPr>
          <p:cNvSpPr txBox="1"/>
          <p:nvPr/>
        </p:nvSpPr>
        <p:spPr>
          <a:xfrm>
            <a:off x="3043997" y="4098475"/>
            <a:ext cx="694421" cy="276999"/>
          </a:xfrm>
          <a:prstGeom prst="rect">
            <a:avLst/>
          </a:prstGeom>
          <a:noFill/>
        </p:spPr>
        <p:txBody>
          <a:bodyPr wrap="square" rtlCol="0">
            <a:spAutoFit/>
          </a:bodyPr>
          <a:lstStyle/>
          <a:p>
            <a:r>
              <a:rPr lang="en-GB" sz="1200" dirty="0">
                <a:solidFill>
                  <a:schemeClr val="accent4"/>
                </a:solidFill>
                <a:latin typeface="Consolas" panose="020B0609020204030204" pitchFamily="49" charset="0"/>
                <a:cs typeface="Consolas" panose="020B0609020204030204" pitchFamily="49" charset="0"/>
              </a:rPr>
              <a:t>next()</a:t>
            </a:r>
          </a:p>
        </p:txBody>
      </p:sp>
      <p:grpSp>
        <p:nvGrpSpPr>
          <p:cNvPr id="46" name="Groupe 45">
            <a:extLst>
              <a:ext uri="{FF2B5EF4-FFF2-40B4-BE49-F238E27FC236}">
                <a16:creationId xmlns:a16="http://schemas.microsoft.com/office/drawing/2014/main" id="{33A6DA01-A52F-DD05-D809-7A195D4C3246}"/>
              </a:ext>
            </a:extLst>
          </p:cNvPr>
          <p:cNvGrpSpPr/>
          <p:nvPr/>
        </p:nvGrpSpPr>
        <p:grpSpPr>
          <a:xfrm>
            <a:off x="3404162" y="3588088"/>
            <a:ext cx="1432057" cy="2230453"/>
            <a:chOff x="3404162" y="2973936"/>
            <a:chExt cx="1432057" cy="2230453"/>
          </a:xfrm>
        </p:grpSpPr>
        <p:sp>
          <p:nvSpPr>
            <p:cNvPr id="17" name="Flèche vers le bas 16">
              <a:extLst>
                <a:ext uri="{FF2B5EF4-FFF2-40B4-BE49-F238E27FC236}">
                  <a16:creationId xmlns:a16="http://schemas.microsoft.com/office/drawing/2014/main" id="{7DA8F4CD-C131-4328-C1A1-B76414C0296B}"/>
                </a:ext>
              </a:extLst>
            </p:cNvPr>
            <p:cNvSpPr/>
            <p:nvPr/>
          </p:nvSpPr>
          <p:spPr>
            <a:xfrm rot="10800000">
              <a:off x="3853759" y="2973936"/>
              <a:ext cx="275250" cy="771322"/>
            </a:xfrm>
            <a:prstGeom prst="downArrow">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Flèche courbée vers le haut 30">
              <a:extLst>
                <a:ext uri="{FF2B5EF4-FFF2-40B4-BE49-F238E27FC236}">
                  <a16:creationId xmlns:a16="http://schemas.microsoft.com/office/drawing/2014/main" id="{0BD22AF3-6167-BB62-A7E6-C91A5E41AA09}"/>
                </a:ext>
              </a:extLst>
            </p:cNvPr>
            <p:cNvSpPr/>
            <p:nvPr/>
          </p:nvSpPr>
          <p:spPr>
            <a:xfrm>
              <a:off x="3404162" y="4768553"/>
              <a:ext cx="1153682" cy="435836"/>
            </a:xfrm>
            <a:prstGeom prst="curvedUp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err="1">
                  <a:solidFill>
                    <a:schemeClr val="accent4"/>
                  </a:solidFill>
                  <a:latin typeface="Consolas" panose="020B0609020204030204" pitchFamily="49" charset="0"/>
                  <a:cs typeface="Consolas" panose="020B0609020204030204" pitchFamily="49" charset="0"/>
                </a:rPr>
                <a:t>hasNext</a:t>
              </a:r>
              <a:r>
                <a:rPr lang="en-GB" sz="1200" dirty="0">
                  <a:solidFill>
                    <a:schemeClr val="accent4"/>
                  </a:solidFill>
                  <a:latin typeface="Consolas" panose="020B0609020204030204" pitchFamily="49" charset="0"/>
                  <a:cs typeface="Consolas" panose="020B0609020204030204" pitchFamily="49" charset="0"/>
                </a:rPr>
                <a:t>()</a:t>
              </a:r>
            </a:p>
          </p:txBody>
        </p:sp>
        <p:sp>
          <p:nvSpPr>
            <p:cNvPr id="38" name="ZoneTexte 37">
              <a:extLst>
                <a:ext uri="{FF2B5EF4-FFF2-40B4-BE49-F238E27FC236}">
                  <a16:creationId xmlns:a16="http://schemas.microsoft.com/office/drawing/2014/main" id="{33494146-E122-8378-6CA5-87FD96EEA84D}"/>
                </a:ext>
              </a:extLst>
            </p:cNvPr>
            <p:cNvSpPr txBox="1"/>
            <p:nvPr/>
          </p:nvSpPr>
          <p:spPr>
            <a:xfrm>
              <a:off x="4141798" y="3484323"/>
              <a:ext cx="694421" cy="276999"/>
            </a:xfrm>
            <a:prstGeom prst="rect">
              <a:avLst/>
            </a:prstGeom>
            <a:noFill/>
          </p:spPr>
          <p:txBody>
            <a:bodyPr wrap="square" rtlCol="0">
              <a:spAutoFit/>
            </a:bodyPr>
            <a:lstStyle/>
            <a:p>
              <a:r>
                <a:rPr lang="en-GB" sz="1200" dirty="0">
                  <a:solidFill>
                    <a:schemeClr val="accent4"/>
                  </a:solidFill>
                  <a:latin typeface="Consolas" panose="020B0609020204030204" pitchFamily="49" charset="0"/>
                  <a:cs typeface="Consolas" panose="020B0609020204030204" pitchFamily="49" charset="0"/>
                </a:rPr>
                <a:t>next()</a:t>
              </a:r>
            </a:p>
          </p:txBody>
        </p:sp>
      </p:grpSp>
      <p:grpSp>
        <p:nvGrpSpPr>
          <p:cNvPr id="45" name="Groupe 44">
            <a:extLst>
              <a:ext uri="{FF2B5EF4-FFF2-40B4-BE49-F238E27FC236}">
                <a16:creationId xmlns:a16="http://schemas.microsoft.com/office/drawing/2014/main" id="{0A13F6B4-9265-5F88-F400-67BDC0ABB0DD}"/>
              </a:ext>
            </a:extLst>
          </p:cNvPr>
          <p:cNvGrpSpPr/>
          <p:nvPr/>
        </p:nvGrpSpPr>
        <p:grpSpPr>
          <a:xfrm>
            <a:off x="4509933" y="3588088"/>
            <a:ext cx="1432633" cy="2230453"/>
            <a:chOff x="4509933" y="2973936"/>
            <a:chExt cx="1432633" cy="2230453"/>
          </a:xfrm>
        </p:grpSpPr>
        <p:sp>
          <p:nvSpPr>
            <p:cNvPr id="18" name="Flèche vers le bas 17">
              <a:extLst>
                <a:ext uri="{FF2B5EF4-FFF2-40B4-BE49-F238E27FC236}">
                  <a16:creationId xmlns:a16="http://schemas.microsoft.com/office/drawing/2014/main" id="{B74DECD6-4F78-8455-1DEE-BBBC659B10B9}"/>
                </a:ext>
              </a:extLst>
            </p:cNvPr>
            <p:cNvSpPr/>
            <p:nvPr/>
          </p:nvSpPr>
          <p:spPr>
            <a:xfrm rot="10800000">
              <a:off x="4960106" y="2973936"/>
              <a:ext cx="275250" cy="771322"/>
            </a:xfrm>
            <a:prstGeom prst="downArrow">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Flèche courbée vers le haut 31">
              <a:extLst>
                <a:ext uri="{FF2B5EF4-FFF2-40B4-BE49-F238E27FC236}">
                  <a16:creationId xmlns:a16="http://schemas.microsoft.com/office/drawing/2014/main" id="{1D5EA6F7-F615-24F7-B980-05B70AFF0188}"/>
                </a:ext>
              </a:extLst>
            </p:cNvPr>
            <p:cNvSpPr/>
            <p:nvPr/>
          </p:nvSpPr>
          <p:spPr>
            <a:xfrm>
              <a:off x="4509933" y="4768553"/>
              <a:ext cx="1153682" cy="435836"/>
            </a:xfrm>
            <a:prstGeom prst="curvedUp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err="1">
                  <a:solidFill>
                    <a:schemeClr val="accent4"/>
                  </a:solidFill>
                  <a:latin typeface="Consolas" panose="020B0609020204030204" pitchFamily="49" charset="0"/>
                  <a:cs typeface="Consolas" panose="020B0609020204030204" pitchFamily="49" charset="0"/>
                </a:rPr>
                <a:t>hasNext</a:t>
              </a:r>
              <a:r>
                <a:rPr lang="en-GB" sz="1200" dirty="0">
                  <a:solidFill>
                    <a:schemeClr val="accent4"/>
                  </a:solidFill>
                  <a:latin typeface="Consolas" panose="020B0609020204030204" pitchFamily="49" charset="0"/>
                  <a:cs typeface="Consolas" panose="020B0609020204030204" pitchFamily="49" charset="0"/>
                </a:rPr>
                <a:t>()</a:t>
              </a:r>
            </a:p>
          </p:txBody>
        </p:sp>
        <p:sp>
          <p:nvSpPr>
            <p:cNvPr id="39" name="ZoneTexte 38">
              <a:extLst>
                <a:ext uri="{FF2B5EF4-FFF2-40B4-BE49-F238E27FC236}">
                  <a16:creationId xmlns:a16="http://schemas.microsoft.com/office/drawing/2014/main" id="{7A2037A8-41A1-279D-1BFB-A1B56C5A7C59}"/>
                </a:ext>
              </a:extLst>
            </p:cNvPr>
            <p:cNvSpPr txBox="1"/>
            <p:nvPr/>
          </p:nvSpPr>
          <p:spPr>
            <a:xfrm>
              <a:off x="5248145" y="3484323"/>
              <a:ext cx="694421" cy="276999"/>
            </a:xfrm>
            <a:prstGeom prst="rect">
              <a:avLst/>
            </a:prstGeom>
            <a:noFill/>
          </p:spPr>
          <p:txBody>
            <a:bodyPr wrap="square" rtlCol="0">
              <a:spAutoFit/>
            </a:bodyPr>
            <a:lstStyle/>
            <a:p>
              <a:r>
                <a:rPr lang="en-GB" sz="1200" dirty="0">
                  <a:solidFill>
                    <a:schemeClr val="accent4"/>
                  </a:solidFill>
                  <a:latin typeface="Consolas" panose="020B0609020204030204" pitchFamily="49" charset="0"/>
                  <a:cs typeface="Consolas" panose="020B0609020204030204" pitchFamily="49" charset="0"/>
                </a:rPr>
                <a:t>next()</a:t>
              </a:r>
            </a:p>
          </p:txBody>
        </p:sp>
      </p:grpSp>
      <p:grpSp>
        <p:nvGrpSpPr>
          <p:cNvPr id="47" name="Groupe 46">
            <a:extLst>
              <a:ext uri="{FF2B5EF4-FFF2-40B4-BE49-F238E27FC236}">
                <a16:creationId xmlns:a16="http://schemas.microsoft.com/office/drawing/2014/main" id="{A0F7AA1F-BB19-A239-DC4F-3DE38854BCC8}"/>
              </a:ext>
            </a:extLst>
          </p:cNvPr>
          <p:cNvGrpSpPr/>
          <p:nvPr/>
        </p:nvGrpSpPr>
        <p:grpSpPr>
          <a:xfrm>
            <a:off x="6721475" y="3588088"/>
            <a:ext cx="1373963" cy="2230453"/>
            <a:chOff x="6721475" y="2973936"/>
            <a:chExt cx="1373963" cy="2230453"/>
          </a:xfrm>
        </p:grpSpPr>
        <p:sp>
          <p:nvSpPr>
            <p:cNvPr id="19" name="Flèche vers le bas 18">
              <a:extLst>
                <a:ext uri="{FF2B5EF4-FFF2-40B4-BE49-F238E27FC236}">
                  <a16:creationId xmlns:a16="http://schemas.microsoft.com/office/drawing/2014/main" id="{7E0078C7-7347-1039-C17C-60F04A6646C8}"/>
                </a:ext>
              </a:extLst>
            </p:cNvPr>
            <p:cNvSpPr/>
            <p:nvPr/>
          </p:nvSpPr>
          <p:spPr>
            <a:xfrm rot="10800000">
              <a:off x="7112978" y="2973936"/>
              <a:ext cx="275250" cy="771322"/>
            </a:xfrm>
            <a:prstGeom prst="downArrow">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Flèche courbée vers le haut 32">
              <a:extLst>
                <a:ext uri="{FF2B5EF4-FFF2-40B4-BE49-F238E27FC236}">
                  <a16:creationId xmlns:a16="http://schemas.microsoft.com/office/drawing/2014/main" id="{78A14689-49AA-A1F2-1A08-EEC5D9A262F4}"/>
                </a:ext>
              </a:extLst>
            </p:cNvPr>
            <p:cNvSpPr/>
            <p:nvPr/>
          </p:nvSpPr>
          <p:spPr>
            <a:xfrm>
              <a:off x="6721475" y="4768553"/>
              <a:ext cx="1153682" cy="435836"/>
            </a:xfrm>
            <a:prstGeom prst="curvedUp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err="1">
                  <a:solidFill>
                    <a:schemeClr val="accent4"/>
                  </a:solidFill>
                  <a:latin typeface="Consolas" panose="020B0609020204030204" pitchFamily="49" charset="0"/>
                  <a:cs typeface="Consolas" panose="020B0609020204030204" pitchFamily="49" charset="0"/>
                </a:rPr>
                <a:t>hasNext</a:t>
              </a:r>
              <a:r>
                <a:rPr lang="en-GB" sz="1200" dirty="0">
                  <a:solidFill>
                    <a:schemeClr val="accent4"/>
                  </a:solidFill>
                  <a:latin typeface="Consolas" panose="020B0609020204030204" pitchFamily="49" charset="0"/>
                  <a:cs typeface="Consolas" panose="020B0609020204030204" pitchFamily="49" charset="0"/>
                </a:rPr>
                <a:t>()</a:t>
              </a:r>
            </a:p>
          </p:txBody>
        </p:sp>
        <p:sp>
          <p:nvSpPr>
            <p:cNvPr id="40" name="ZoneTexte 39">
              <a:extLst>
                <a:ext uri="{FF2B5EF4-FFF2-40B4-BE49-F238E27FC236}">
                  <a16:creationId xmlns:a16="http://schemas.microsoft.com/office/drawing/2014/main" id="{423691BE-95A8-5E2C-86FE-4F3B3D082C9C}"/>
                </a:ext>
              </a:extLst>
            </p:cNvPr>
            <p:cNvSpPr txBox="1"/>
            <p:nvPr/>
          </p:nvSpPr>
          <p:spPr>
            <a:xfrm>
              <a:off x="7401017" y="3468259"/>
              <a:ext cx="694421" cy="276999"/>
            </a:xfrm>
            <a:prstGeom prst="rect">
              <a:avLst/>
            </a:prstGeom>
            <a:noFill/>
          </p:spPr>
          <p:txBody>
            <a:bodyPr wrap="square" rtlCol="0">
              <a:spAutoFit/>
            </a:bodyPr>
            <a:lstStyle/>
            <a:p>
              <a:r>
                <a:rPr lang="en-GB" sz="1200" dirty="0">
                  <a:solidFill>
                    <a:schemeClr val="accent4"/>
                  </a:solidFill>
                  <a:latin typeface="Consolas" panose="020B0609020204030204" pitchFamily="49" charset="0"/>
                  <a:cs typeface="Consolas" panose="020B0609020204030204" pitchFamily="49" charset="0"/>
                </a:rPr>
                <a:t>next()</a:t>
              </a:r>
            </a:p>
          </p:txBody>
        </p:sp>
      </p:grpSp>
      <p:grpSp>
        <p:nvGrpSpPr>
          <p:cNvPr id="48" name="Groupe 47">
            <a:extLst>
              <a:ext uri="{FF2B5EF4-FFF2-40B4-BE49-F238E27FC236}">
                <a16:creationId xmlns:a16="http://schemas.microsoft.com/office/drawing/2014/main" id="{EEC3BB60-CB9E-68B5-1CCE-E350F5D57AF0}"/>
              </a:ext>
            </a:extLst>
          </p:cNvPr>
          <p:cNvGrpSpPr/>
          <p:nvPr/>
        </p:nvGrpSpPr>
        <p:grpSpPr>
          <a:xfrm>
            <a:off x="7827246" y="3588088"/>
            <a:ext cx="1357447" cy="2230453"/>
            <a:chOff x="7827246" y="2973936"/>
            <a:chExt cx="1357447" cy="2230453"/>
          </a:xfrm>
        </p:grpSpPr>
        <p:sp>
          <p:nvSpPr>
            <p:cNvPr id="20" name="Flèche vers le bas 19">
              <a:extLst>
                <a:ext uri="{FF2B5EF4-FFF2-40B4-BE49-F238E27FC236}">
                  <a16:creationId xmlns:a16="http://schemas.microsoft.com/office/drawing/2014/main" id="{0D0D782E-DE43-ADA5-F519-84F52871D060}"/>
                </a:ext>
              </a:extLst>
            </p:cNvPr>
            <p:cNvSpPr/>
            <p:nvPr/>
          </p:nvSpPr>
          <p:spPr>
            <a:xfrm rot="10800000">
              <a:off x="8227871" y="2973936"/>
              <a:ext cx="275250" cy="771322"/>
            </a:xfrm>
            <a:prstGeom prst="downArrow">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Flèche courbée vers le haut 34">
              <a:extLst>
                <a:ext uri="{FF2B5EF4-FFF2-40B4-BE49-F238E27FC236}">
                  <a16:creationId xmlns:a16="http://schemas.microsoft.com/office/drawing/2014/main" id="{00C7BFF4-F403-4187-560D-C0C80125ADDA}"/>
                </a:ext>
              </a:extLst>
            </p:cNvPr>
            <p:cNvSpPr/>
            <p:nvPr/>
          </p:nvSpPr>
          <p:spPr>
            <a:xfrm>
              <a:off x="7827246" y="4768553"/>
              <a:ext cx="1153682" cy="435836"/>
            </a:xfrm>
            <a:prstGeom prst="curvedUp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err="1">
                  <a:solidFill>
                    <a:schemeClr val="accent4"/>
                  </a:solidFill>
                  <a:latin typeface="Consolas" panose="020B0609020204030204" pitchFamily="49" charset="0"/>
                  <a:cs typeface="Consolas" panose="020B0609020204030204" pitchFamily="49" charset="0"/>
                </a:rPr>
                <a:t>hasNext</a:t>
              </a:r>
              <a:r>
                <a:rPr lang="en-GB" sz="1200" dirty="0">
                  <a:solidFill>
                    <a:schemeClr val="accent4"/>
                  </a:solidFill>
                  <a:latin typeface="Consolas" panose="020B0609020204030204" pitchFamily="49" charset="0"/>
                  <a:cs typeface="Consolas" panose="020B0609020204030204" pitchFamily="49" charset="0"/>
                </a:rPr>
                <a:t>()</a:t>
              </a:r>
            </a:p>
          </p:txBody>
        </p:sp>
        <p:sp>
          <p:nvSpPr>
            <p:cNvPr id="41" name="ZoneTexte 40">
              <a:extLst>
                <a:ext uri="{FF2B5EF4-FFF2-40B4-BE49-F238E27FC236}">
                  <a16:creationId xmlns:a16="http://schemas.microsoft.com/office/drawing/2014/main" id="{3D4D14B7-85D2-7397-D35E-BDD90C612B0A}"/>
                </a:ext>
              </a:extLst>
            </p:cNvPr>
            <p:cNvSpPr txBox="1"/>
            <p:nvPr/>
          </p:nvSpPr>
          <p:spPr>
            <a:xfrm>
              <a:off x="8490272" y="3468259"/>
              <a:ext cx="694421" cy="276999"/>
            </a:xfrm>
            <a:prstGeom prst="rect">
              <a:avLst/>
            </a:prstGeom>
            <a:noFill/>
          </p:spPr>
          <p:txBody>
            <a:bodyPr wrap="square" rtlCol="0">
              <a:spAutoFit/>
            </a:bodyPr>
            <a:lstStyle/>
            <a:p>
              <a:r>
                <a:rPr lang="en-GB" sz="1200" dirty="0">
                  <a:solidFill>
                    <a:schemeClr val="accent4"/>
                  </a:solidFill>
                  <a:latin typeface="Consolas" panose="020B0609020204030204" pitchFamily="49" charset="0"/>
                  <a:cs typeface="Consolas" panose="020B0609020204030204" pitchFamily="49" charset="0"/>
                </a:rPr>
                <a:t>next()</a:t>
              </a:r>
            </a:p>
          </p:txBody>
        </p:sp>
      </p:grpSp>
      <p:sp>
        <p:nvSpPr>
          <p:cNvPr id="44" name="Éclair 43">
            <a:extLst>
              <a:ext uri="{FF2B5EF4-FFF2-40B4-BE49-F238E27FC236}">
                <a16:creationId xmlns:a16="http://schemas.microsoft.com/office/drawing/2014/main" id="{CBEFD5AF-26ED-8BE4-5691-E54DD6298E06}"/>
              </a:ext>
            </a:extLst>
          </p:cNvPr>
          <p:cNvSpPr/>
          <p:nvPr/>
        </p:nvSpPr>
        <p:spPr>
          <a:xfrm flipH="1">
            <a:off x="9371950" y="3328136"/>
            <a:ext cx="410881" cy="702892"/>
          </a:xfrm>
          <a:prstGeom prst="lightningBol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ZoneTexte 48">
            <a:extLst>
              <a:ext uri="{FF2B5EF4-FFF2-40B4-BE49-F238E27FC236}">
                <a16:creationId xmlns:a16="http://schemas.microsoft.com/office/drawing/2014/main" id="{DD9872D5-6395-2D4B-2A4E-54DEEBD455F2}"/>
              </a:ext>
            </a:extLst>
          </p:cNvPr>
          <p:cNvSpPr txBox="1"/>
          <p:nvPr/>
        </p:nvSpPr>
        <p:spPr>
          <a:xfrm>
            <a:off x="9667431" y="3477682"/>
            <a:ext cx="2330933" cy="276999"/>
          </a:xfrm>
          <a:prstGeom prst="rect">
            <a:avLst/>
          </a:prstGeom>
          <a:noFill/>
        </p:spPr>
        <p:txBody>
          <a:bodyPr wrap="square" rtlCol="0">
            <a:spAutoFit/>
          </a:bodyPr>
          <a:lstStyle/>
          <a:p>
            <a:r>
              <a:rPr lang="en-GB" sz="1200" dirty="0" err="1">
                <a:latin typeface="Consolas" panose="020B0609020204030204" pitchFamily="49" charset="0"/>
                <a:cs typeface="Consolas" panose="020B0609020204030204" pitchFamily="49" charset="0"/>
              </a:rPr>
              <a:t>NoSuchElementException</a:t>
            </a:r>
            <a:endParaRPr lang="en-GB" sz="1200" dirty="0">
              <a:latin typeface="Consolas" panose="020B0609020204030204" pitchFamily="49" charset="0"/>
              <a:cs typeface="Consolas" panose="020B0609020204030204" pitchFamily="49" charset="0"/>
            </a:endParaRPr>
          </a:p>
        </p:txBody>
      </p:sp>
      <p:sp>
        <p:nvSpPr>
          <p:cNvPr id="50" name="ZoneTexte 49">
            <a:extLst>
              <a:ext uri="{FF2B5EF4-FFF2-40B4-BE49-F238E27FC236}">
                <a16:creationId xmlns:a16="http://schemas.microsoft.com/office/drawing/2014/main" id="{7C2FFE4A-3B8E-7DF2-FEA1-F4582B27E2D0}"/>
              </a:ext>
            </a:extLst>
          </p:cNvPr>
          <p:cNvSpPr txBox="1"/>
          <p:nvPr/>
        </p:nvSpPr>
        <p:spPr>
          <a:xfrm>
            <a:off x="9207683" y="4088039"/>
            <a:ext cx="694421" cy="276999"/>
          </a:xfrm>
          <a:prstGeom prst="rect">
            <a:avLst/>
          </a:prstGeom>
          <a:noFill/>
        </p:spPr>
        <p:txBody>
          <a:bodyPr wrap="square" rtlCol="0">
            <a:spAutoFit/>
          </a:bodyPr>
          <a:lstStyle/>
          <a:p>
            <a:r>
              <a:rPr lang="en-GB" sz="1200" dirty="0">
                <a:latin typeface="Consolas" panose="020B0609020204030204" pitchFamily="49" charset="0"/>
                <a:cs typeface="Consolas" panose="020B0609020204030204" pitchFamily="49" charset="0"/>
              </a:rPr>
              <a:t>next()</a:t>
            </a:r>
          </a:p>
        </p:txBody>
      </p:sp>
    </p:spTree>
    <p:extLst>
      <p:ext uri="{BB962C8B-B14F-4D97-AF65-F5344CB8AC3E}">
        <p14:creationId xmlns:p14="http://schemas.microsoft.com/office/powerpoint/2010/main" val="1535519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fade">
                                      <p:cBhvr>
                                        <p:cTn id="15" dur="500"/>
                                        <p:tgtEl>
                                          <p:spTgt spid="3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6"/>
                                        </p:tgtEl>
                                        <p:attrNameLst>
                                          <p:attrName>style.visibility</p:attrName>
                                        </p:attrNameLst>
                                      </p:cBhvr>
                                      <p:to>
                                        <p:strVal val="visible"/>
                                      </p:to>
                                    </p:set>
                                    <p:animEffect transition="in" filter="fade">
                                      <p:cBhvr>
                                        <p:cTn id="20" dur="500"/>
                                        <p:tgtEl>
                                          <p:spTgt spid="4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5"/>
                                        </p:tgtEl>
                                        <p:attrNameLst>
                                          <p:attrName>style.visibility</p:attrName>
                                        </p:attrNameLst>
                                      </p:cBhvr>
                                      <p:to>
                                        <p:strVal val="visible"/>
                                      </p:to>
                                    </p:set>
                                    <p:animEffect transition="in" filter="fade">
                                      <p:cBhvr>
                                        <p:cTn id="25" dur="500"/>
                                        <p:tgtEl>
                                          <p:spTgt spid="4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47"/>
                                        </p:tgtEl>
                                        <p:attrNameLst>
                                          <p:attrName>style.visibility</p:attrName>
                                        </p:attrNameLst>
                                      </p:cBhvr>
                                      <p:to>
                                        <p:strVal val="visible"/>
                                      </p:to>
                                    </p:set>
                                    <p:animEffect transition="in" filter="fade">
                                      <p:cBhvr>
                                        <p:cTn id="30" dur="500"/>
                                        <p:tgtEl>
                                          <p:spTgt spid="4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8"/>
                                        </p:tgtEl>
                                        <p:attrNameLst>
                                          <p:attrName>style.visibility</p:attrName>
                                        </p:attrNameLst>
                                      </p:cBhvr>
                                      <p:to>
                                        <p:strVal val="visible"/>
                                      </p:to>
                                    </p:set>
                                    <p:animEffect transition="in" filter="fade">
                                      <p:cBhvr>
                                        <p:cTn id="35" dur="500"/>
                                        <p:tgtEl>
                                          <p:spTgt spid="4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fade">
                                      <p:cBhvr>
                                        <p:cTn id="40" dur="500"/>
                                        <p:tgtEl>
                                          <p:spTgt spid="36"/>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50"/>
                                        </p:tgtEl>
                                        <p:attrNameLst>
                                          <p:attrName>style.visibility</p:attrName>
                                        </p:attrNameLst>
                                      </p:cBhvr>
                                      <p:to>
                                        <p:strVal val="visible"/>
                                      </p:to>
                                    </p:set>
                                    <p:animEffect transition="in" filter="fade">
                                      <p:cBhvr>
                                        <p:cTn id="45" dur="500"/>
                                        <p:tgtEl>
                                          <p:spTgt spid="5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44"/>
                                        </p:tgtEl>
                                        <p:attrNameLst>
                                          <p:attrName>style.visibility</p:attrName>
                                        </p:attrNameLst>
                                      </p:cBhvr>
                                      <p:to>
                                        <p:strVal val="visible"/>
                                      </p:to>
                                    </p:set>
                                    <p:animEffect transition="in" filter="fade">
                                      <p:cBhvr>
                                        <p:cTn id="48" dur="500"/>
                                        <p:tgtEl>
                                          <p:spTgt spid="4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49"/>
                                        </p:tgtEl>
                                        <p:attrNameLst>
                                          <p:attrName>style.visibility</p:attrName>
                                        </p:attrNameLst>
                                      </p:cBhvr>
                                      <p:to>
                                        <p:strVal val="visible"/>
                                      </p:to>
                                    </p:set>
                                    <p:animEffect transition="in" filter="fade">
                                      <p:cBhvr>
                                        <p:cTn id="51"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4" grpId="0" animBg="1"/>
      <p:bldP spid="36" grpId="0" animBg="1"/>
      <p:bldP spid="37" grpId="0"/>
      <p:bldP spid="44" grpId="0" animBg="1"/>
      <p:bldP spid="49" grpId="0"/>
      <p:bldP spid="5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4400" dirty="0" err="1">
                <a:solidFill>
                  <a:schemeClr val="accent4"/>
                </a:solidFill>
                <a:latin typeface="Consolas" panose="020B0609020204030204" pitchFamily="49" charset="0"/>
                <a:cs typeface="Consolas" panose="020B0609020204030204" pitchFamily="49" charset="0"/>
              </a:rPr>
              <a:t>Iterable</a:t>
            </a:r>
            <a:r>
              <a:rPr lang="fr-FR" dirty="0"/>
              <a:t> et </a:t>
            </a:r>
            <a:r>
              <a:rPr lang="fr-FR" sz="4400" dirty="0" err="1">
                <a:solidFill>
                  <a:schemeClr val="accent4"/>
                </a:solidFill>
                <a:latin typeface="Consolas" panose="020B0609020204030204" pitchFamily="49" charset="0"/>
                <a:cs typeface="Consolas" panose="020B0609020204030204" pitchFamily="49" charset="0"/>
              </a:rPr>
              <a:t>Iterator</a:t>
            </a:r>
            <a:endParaRPr lang="fr-FR" dirty="0">
              <a:solidFill>
                <a:schemeClr val="accent4"/>
              </a:solidFill>
              <a:latin typeface="Consolas" panose="020B0609020204030204" pitchFamily="49" charset="0"/>
              <a:cs typeface="Consolas" panose="020B0609020204030204" pitchFamily="49" charset="0"/>
            </a:endParaRPr>
          </a:p>
        </p:txBody>
      </p:sp>
      <p:sp>
        <p:nvSpPr>
          <p:cNvPr id="3" name="Espace réservé du contenu 2"/>
          <p:cNvSpPr>
            <a:spLocks noGrp="1"/>
          </p:cNvSpPr>
          <p:nvPr>
            <p:ph idx="1"/>
          </p:nvPr>
        </p:nvSpPr>
        <p:spPr>
          <a:xfrm>
            <a:off x="838199" y="1825625"/>
            <a:ext cx="11187223" cy="4351338"/>
          </a:xfrm>
        </p:spPr>
        <p:txBody>
          <a:bodyPr>
            <a:normAutofit/>
          </a:bodyPr>
          <a:lstStyle/>
          <a:p>
            <a:pPr marL="0" indent="0">
              <a:buNone/>
            </a:pPr>
            <a:r>
              <a:rPr lang="fr-FR" dirty="0"/>
              <a:t>L’</a:t>
            </a:r>
            <a:r>
              <a:rPr lang="fr-FR" sz="2600" dirty="0" err="1">
                <a:solidFill>
                  <a:schemeClr val="accent4"/>
                </a:solidFill>
                <a:latin typeface="Consolas" panose="020B0609020204030204" pitchFamily="49" charset="0"/>
                <a:cs typeface="Consolas" panose="020B0609020204030204" pitchFamily="49" charset="0"/>
              </a:rPr>
              <a:t>Iterator</a:t>
            </a:r>
            <a:r>
              <a:rPr lang="fr-FR" dirty="0"/>
              <a:t> présente plusieurs méthodes intéressantes:</a:t>
            </a:r>
          </a:p>
          <a:p>
            <a:r>
              <a:rPr lang="fr-FR" sz="2600" dirty="0" err="1">
                <a:solidFill>
                  <a:schemeClr val="accent4"/>
                </a:solidFill>
                <a:latin typeface="Consolas" charset="0"/>
                <a:cs typeface="Consolas" charset="0"/>
              </a:rPr>
              <a:t>boolean</a:t>
            </a:r>
            <a:r>
              <a:rPr lang="fr-FR" sz="2600" dirty="0">
                <a:solidFill>
                  <a:schemeClr val="accent4"/>
                </a:solidFill>
                <a:latin typeface="Consolas" charset="0"/>
                <a:cs typeface="Consolas" charset="0"/>
              </a:rPr>
              <a:t> </a:t>
            </a:r>
            <a:r>
              <a:rPr lang="fr-FR" sz="2600" dirty="0" err="1">
                <a:solidFill>
                  <a:schemeClr val="accent4"/>
                </a:solidFill>
                <a:latin typeface="Consolas" charset="0"/>
                <a:cs typeface="Consolas" charset="0"/>
              </a:rPr>
              <a:t>hasNext</a:t>
            </a:r>
            <a:r>
              <a:rPr lang="fr-FR" sz="2600" dirty="0">
                <a:solidFill>
                  <a:schemeClr val="accent4"/>
                </a:solidFill>
                <a:latin typeface="Consolas" charset="0"/>
                <a:cs typeface="Consolas" charset="0"/>
              </a:rPr>
              <a:t>()</a:t>
            </a:r>
            <a:r>
              <a:rPr lang="fr-FR" dirty="0"/>
              <a:t> retourne </a:t>
            </a:r>
            <a:r>
              <a:rPr lang="fr-FR" sz="2600" dirty="0" err="1">
                <a:solidFill>
                  <a:schemeClr val="accent4"/>
                </a:solidFill>
                <a:latin typeface="Consolas" charset="0"/>
                <a:cs typeface="Consolas" charset="0"/>
              </a:rPr>
              <a:t>true</a:t>
            </a:r>
            <a:r>
              <a:rPr lang="fr-FR" dirty="0"/>
              <a:t> s’il y a encore un élément dans la collection</a:t>
            </a:r>
            <a:endParaRPr lang="fr-FR" dirty="0">
              <a:solidFill>
                <a:srgbClr val="C00000"/>
              </a:solidFill>
              <a:latin typeface="Consolas" charset="0"/>
              <a:ea typeface="Consolas" charset="0"/>
              <a:cs typeface="Consolas" charset="0"/>
            </a:endParaRPr>
          </a:p>
          <a:p>
            <a:r>
              <a:rPr lang="fr-FR" sz="2600" dirty="0">
                <a:solidFill>
                  <a:schemeClr val="accent4"/>
                </a:solidFill>
                <a:latin typeface="Consolas" charset="0"/>
                <a:ea typeface="Consolas" charset="0"/>
                <a:cs typeface="Consolas" charset="0"/>
              </a:rPr>
              <a:t>E </a:t>
            </a:r>
            <a:r>
              <a:rPr lang="fr-FR" sz="2600" dirty="0" err="1">
                <a:solidFill>
                  <a:schemeClr val="accent4"/>
                </a:solidFill>
                <a:latin typeface="Consolas" charset="0"/>
                <a:ea typeface="Consolas" charset="0"/>
                <a:cs typeface="Consolas" charset="0"/>
              </a:rPr>
              <a:t>next</a:t>
            </a:r>
            <a:r>
              <a:rPr lang="fr-FR" sz="2600" dirty="0">
                <a:solidFill>
                  <a:schemeClr val="accent4"/>
                </a:solidFill>
                <a:latin typeface="Consolas" charset="0"/>
                <a:ea typeface="Consolas" charset="0"/>
                <a:cs typeface="Consolas" charset="0"/>
              </a:rPr>
              <a:t>()</a:t>
            </a:r>
            <a:r>
              <a:rPr lang="fr-FR" dirty="0"/>
              <a:t> renvoie le prochain élément de la collection</a:t>
            </a:r>
            <a:endParaRPr lang="fr-FR" dirty="0">
              <a:solidFill>
                <a:srgbClr val="C00000"/>
              </a:solidFill>
              <a:latin typeface="Consolas" charset="0"/>
              <a:ea typeface="Consolas" charset="0"/>
              <a:cs typeface="Consolas" charset="0"/>
            </a:endParaRPr>
          </a:p>
          <a:p>
            <a:r>
              <a:rPr lang="fr-FR" sz="2600" dirty="0" err="1">
                <a:solidFill>
                  <a:schemeClr val="accent4"/>
                </a:solidFill>
                <a:latin typeface="Consolas" charset="0"/>
                <a:ea typeface="Consolas" charset="0"/>
                <a:cs typeface="Consolas" charset="0"/>
              </a:rPr>
              <a:t>void</a:t>
            </a:r>
            <a:r>
              <a:rPr lang="fr-FR" sz="2600" dirty="0">
                <a:solidFill>
                  <a:schemeClr val="accent4"/>
                </a:solidFill>
                <a:latin typeface="Consolas" charset="0"/>
                <a:ea typeface="Consolas" charset="0"/>
                <a:cs typeface="Consolas" charset="0"/>
              </a:rPr>
              <a:t> </a:t>
            </a:r>
            <a:r>
              <a:rPr lang="fr-FR" sz="2600" dirty="0" err="1">
                <a:solidFill>
                  <a:schemeClr val="accent4"/>
                </a:solidFill>
                <a:latin typeface="Consolas" charset="0"/>
                <a:ea typeface="Consolas" charset="0"/>
                <a:cs typeface="Consolas" charset="0"/>
              </a:rPr>
              <a:t>remove</a:t>
            </a:r>
            <a:r>
              <a:rPr lang="fr-FR" sz="2600" dirty="0">
                <a:solidFill>
                  <a:schemeClr val="accent4"/>
                </a:solidFill>
                <a:latin typeface="Consolas" charset="0"/>
                <a:ea typeface="Consolas" charset="0"/>
                <a:cs typeface="Consolas" charset="0"/>
              </a:rPr>
              <a:t>()</a:t>
            </a:r>
            <a:r>
              <a:rPr lang="fr-FR" dirty="0"/>
              <a:t> supprime le dernier élément retourné par l’</a:t>
            </a:r>
            <a:r>
              <a:rPr lang="fr-FR" dirty="0" err="1"/>
              <a:t>itérateur</a:t>
            </a:r>
            <a:endParaRPr lang="fr-FR" dirty="0"/>
          </a:p>
          <a:p>
            <a:pPr marL="0" indent="0">
              <a:buNone/>
            </a:pPr>
            <a:endParaRPr lang="fr-FR" dirty="0"/>
          </a:p>
          <a:p>
            <a:pPr marL="0" indent="0">
              <a:buNone/>
            </a:pPr>
            <a:r>
              <a:rPr lang="fr-FR" dirty="0"/>
              <a:t>Si on appelle </a:t>
            </a:r>
            <a:r>
              <a:rPr lang="fr-FR" sz="2600" dirty="0" err="1">
                <a:solidFill>
                  <a:schemeClr val="accent4"/>
                </a:solidFill>
                <a:latin typeface="Consolas" charset="0"/>
                <a:ea typeface="Consolas" charset="0"/>
                <a:cs typeface="Consolas" charset="0"/>
              </a:rPr>
              <a:t>next</a:t>
            </a:r>
            <a:r>
              <a:rPr lang="fr-FR" sz="2600" dirty="0">
                <a:solidFill>
                  <a:schemeClr val="accent4"/>
                </a:solidFill>
                <a:latin typeface="Consolas" charset="0"/>
                <a:ea typeface="Consolas" charset="0"/>
                <a:cs typeface="Consolas" charset="0"/>
              </a:rPr>
              <a:t>()</a:t>
            </a:r>
            <a:r>
              <a:rPr lang="fr-FR" dirty="0"/>
              <a:t> quand la collection n’a plus d’éléments, on obtient une </a:t>
            </a:r>
            <a:r>
              <a:rPr lang="fr-FR" sz="2600" dirty="0" err="1">
                <a:solidFill>
                  <a:schemeClr val="accent4"/>
                </a:solidFill>
                <a:latin typeface="Consolas" charset="0"/>
                <a:ea typeface="Consolas" charset="0"/>
                <a:cs typeface="Consolas" charset="0"/>
              </a:rPr>
              <a:t>NoSuchElementException</a:t>
            </a:r>
            <a:r>
              <a:rPr lang="fr-FR" dirty="0"/>
              <a:t>.</a:t>
            </a:r>
          </a:p>
        </p:txBody>
      </p:sp>
      <p:sp>
        <p:nvSpPr>
          <p:cNvPr id="4" name="Espace réservé du numéro de diapositive 3">
            <a:extLst>
              <a:ext uri="{FF2B5EF4-FFF2-40B4-BE49-F238E27FC236}">
                <a16:creationId xmlns:a16="http://schemas.microsoft.com/office/drawing/2014/main" id="{F5B57CC5-AA85-2063-0480-E5F5FE685D73}"/>
              </a:ext>
            </a:extLst>
          </p:cNvPr>
          <p:cNvSpPr>
            <a:spLocks noGrp="1"/>
          </p:cNvSpPr>
          <p:nvPr>
            <p:ph type="sldNum" sz="quarter" idx="4"/>
          </p:nvPr>
        </p:nvSpPr>
        <p:spPr/>
        <p:txBody>
          <a:bodyPr/>
          <a:lstStyle/>
          <a:p>
            <a:fld id="{33C783E2-4793-4F48-A271-51A73CC37D74}" type="slidenum">
              <a:rPr lang="fr-FR" smtClean="0"/>
              <a:t>12</a:t>
            </a:fld>
            <a:endParaRPr lang="fr-FR"/>
          </a:p>
        </p:txBody>
      </p:sp>
    </p:spTree>
    <p:extLst>
      <p:ext uri="{BB962C8B-B14F-4D97-AF65-F5344CB8AC3E}">
        <p14:creationId xmlns:p14="http://schemas.microsoft.com/office/powerpoint/2010/main" val="1411424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err="1"/>
              <a:t>Iterable</a:t>
            </a:r>
            <a:r>
              <a:rPr lang="fr-FR" dirty="0"/>
              <a:t> et </a:t>
            </a:r>
            <a:r>
              <a:rPr lang="fr-FR" dirty="0" err="1"/>
              <a:t>Iterator</a:t>
            </a:r>
            <a:endParaRPr lang="fr-FR" dirty="0"/>
          </a:p>
        </p:txBody>
      </p:sp>
      <p:sp>
        <p:nvSpPr>
          <p:cNvPr id="3" name="Espace réservé du contenu 2"/>
          <p:cNvSpPr>
            <a:spLocks noGrp="1"/>
          </p:cNvSpPr>
          <p:nvPr>
            <p:ph idx="1"/>
          </p:nvPr>
        </p:nvSpPr>
        <p:spPr>
          <a:xfrm>
            <a:off x="838200" y="1825625"/>
            <a:ext cx="10515600" cy="2142076"/>
          </a:xfrm>
        </p:spPr>
        <p:txBody>
          <a:bodyPr>
            <a:noAutofit/>
          </a:bodyPr>
          <a:lstStyle/>
          <a:p>
            <a:pPr marL="0" indent="0">
              <a:lnSpc>
                <a:spcPct val="150000"/>
              </a:lnSpc>
              <a:buNone/>
            </a:pPr>
            <a:r>
              <a:rPr lang="fr-FR" sz="2600" dirty="0"/>
              <a:t>Pour parcourir </a:t>
            </a:r>
            <a:r>
              <a:rPr lang="fr-FR" sz="2400" dirty="0"/>
              <a:t>l’</a:t>
            </a:r>
            <a:r>
              <a:rPr lang="fr-FR" sz="2400" dirty="0" err="1">
                <a:solidFill>
                  <a:schemeClr val="accent4"/>
                </a:solidFill>
                <a:latin typeface="Consolas" charset="0"/>
                <a:ea typeface="Consolas" charset="0"/>
                <a:cs typeface="Consolas" charset="0"/>
              </a:rPr>
              <a:t>Iterator</a:t>
            </a:r>
            <a:r>
              <a:rPr lang="fr-FR" sz="2600" dirty="0"/>
              <a:t>:</a:t>
            </a:r>
          </a:p>
        </p:txBody>
      </p:sp>
      <p:sp>
        <p:nvSpPr>
          <p:cNvPr id="8" name="ZoneTexte 7">
            <a:extLst>
              <a:ext uri="{FF2B5EF4-FFF2-40B4-BE49-F238E27FC236}">
                <a16:creationId xmlns:a16="http://schemas.microsoft.com/office/drawing/2014/main" id="{7E5060FB-387C-237C-E8E3-9698D10463E4}"/>
              </a:ext>
            </a:extLst>
          </p:cNvPr>
          <p:cNvSpPr txBox="1"/>
          <p:nvPr/>
        </p:nvSpPr>
        <p:spPr>
          <a:xfrm>
            <a:off x="950187" y="2508012"/>
            <a:ext cx="10756260" cy="3170099"/>
          </a:xfrm>
          <a:prstGeom prst="rect">
            <a:avLst/>
          </a:prstGeom>
          <a:solidFill>
            <a:srgbClr val="2B2B2B"/>
          </a:solidFill>
        </p:spPr>
        <p:txBody>
          <a:bodyPr wrap="square">
            <a:spAutoFit/>
          </a:bodyPr>
          <a:lstStyle/>
          <a:p>
            <a:r>
              <a:rPr lang="fr-BE" sz="2000" dirty="0">
                <a:latin typeface="Consolas" panose="020B0609020204030204" pitchFamily="49" charset="0"/>
                <a:cs typeface="Consolas" panose="020B0609020204030204" pitchFamily="49" charset="0"/>
              </a:rPr>
              <a:t>List&lt;</a:t>
            </a:r>
            <a:r>
              <a:rPr lang="fr-BE" sz="2000" dirty="0" err="1">
                <a:latin typeface="Consolas" panose="020B0609020204030204" pitchFamily="49" charset="0"/>
                <a:cs typeface="Consolas" panose="020B0609020204030204" pitchFamily="49" charset="0"/>
              </a:rPr>
              <a:t>Task</a:t>
            </a:r>
            <a:r>
              <a:rPr lang="fr-BE" sz="2000" dirty="0">
                <a:latin typeface="Consolas" panose="020B0609020204030204" pitchFamily="49" charset="0"/>
                <a:cs typeface="Consolas" panose="020B0609020204030204" pitchFamily="49" charset="0"/>
              </a:rPr>
              <a:t>&gt; taches = </a:t>
            </a:r>
            <a:r>
              <a:rPr lang="fr-BE" sz="2000" dirty="0">
                <a:solidFill>
                  <a:srgbClr val="CC7832"/>
                </a:solidFill>
                <a:effectLst/>
                <a:latin typeface="Consolas" panose="020B0609020204030204" pitchFamily="49" charset="0"/>
                <a:cs typeface="Consolas" panose="020B0609020204030204" pitchFamily="49" charset="0"/>
              </a:rPr>
              <a:t>new </a:t>
            </a:r>
            <a:r>
              <a:rPr lang="fr-BE" sz="2000" dirty="0" err="1">
                <a:latin typeface="Consolas" panose="020B0609020204030204" pitchFamily="49" charset="0"/>
                <a:cs typeface="Consolas" panose="020B0609020204030204" pitchFamily="49" charset="0"/>
              </a:rPr>
              <a:t>ArrayList</a:t>
            </a:r>
            <a:r>
              <a:rPr lang="fr-BE" sz="2000" dirty="0">
                <a:latin typeface="Consolas" panose="020B0609020204030204" pitchFamily="49" charset="0"/>
                <a:cs typeface="Consolas" panose="020B0609020204030204" pitchFamily="49" charset="0"/>
              </a:rPr>
              <a:t>&lt;&gt;()</a:t>
            </a:r>
            <a:r>
              <a:rPr lang="fr-BE" sz="2000" dirty="0">
                <a:solidFill>
                  <a:srgbClr val="CC7832"/>
                </a:solidFill>
                <a:effectLst/>
                <a:latin typeface="Consolas" panose="020B0609020204030204" pitchFamily="49" charset="0"/>
                <a:cs typeface="Consolas" panose="020B0609020204030204" pitchFamily="49" charset="0"/>
              </a:rPr>
              <a:t>;</a:t>
            </a:r>
            <a:br>
              <a:rPr lang="fr-BE" sz="2000" dirty="0">
                <a:solidFill>
                  <a:srgbClr val="CC7832"/>
                </a:solidFill>
                <a:effectLst/>
                <a:latin typeface="Consolas" panose="020B0609020204030204" pitchFamily="49" charset="0"/>
                <a:cs typeface="Consolas" panose="020B0609020204030204" pitchFamily="49" charset="0"/>
              </a:rPr>
            </a:br>
            <a:r>
              <a:rPr lang="fr-BE" sz="2000" dirty="0" err="1">
                <a:solidFill>
                  <a:srgbClr val="FFFFFF"/>
                </a:solidFill>
                <a:effectLst/>
                <a:latin typeface="Consolas" panose="020B0609020204030204" pitchFamily="49" charset="0"/>
                <a:cs typeface="Consolas" panose="020B0609020204030204" pitchFamily="49" charset="0"/>
              </a:rPr>
              <a:t>genereTaches</a:t>
            </a:r>
            <a:r>
              <a:rPr lang="fr-BE" sz="2000" dirty="0">
                <a:solidFill>
                  <a:srgbClr val="FFFFFF"/>
                </a:solidFill>
                <a:effectLst/>
                <a:latin typeface="Consolas" panose="020B0609020204030204" pitchFamily="49" charset="0"/>
                <a:cs typeface="Consolas" panose="020B0609020204030204" pitchFamily="49" charset="0"/>
              </a:rPr>
              <a:t>(taches)</a:t>
            </a:r>
            <a:r>
              <a:rPr lang="fr-BE" sz="2000" dirty="0">
                <a:solidFill>
                  <a:srgbClr val="CC7832"/>
                </a:solidFill>
                <a:effectLst/>
                <a:latin typeface="Consolas" panose="020B0609020204030204" pitchFamily="49" charset="0"/>
                <a:cs typeface="Consolas" panose="020B0609020204030204" pitchFamily="49" charset="0"/>
              </a:rPr>
              <a:t>;</a:t>
            </a:r>
          </a:p>
          <a:p>
            <a:r>
              <a:rPr lang="fr-BE" sz="2000" dirty="0" err="1">
                <a:latin typeface="Consolas" panose="020B0609020204030204" pitchFamily="49" charset="0"/>
                <a:cs typeface="Consolas" panose="020B0609020204030204" pitchFamily="49" charset="0"/>
              </a:rPr>
              <a:t>Iterator</a:t>
            </a:r>
            <a:r>
              <a:rPr lang="fr-BE" sz="2000" dirty="0">
                <a:latin typeface="Consolas" panose="020B0609020204030204" pitchFamily="49" charset="0"/>
                <a:cs typeface="Consolas" panose="020B0609020204030204" pitchFamily="49" charset="0"/>
              </a:rPr>
              <a:t>&lt;</a:t>
            </a:r>
            <a:r>
              <a:rPr lang="fr-BE" sz="2000" dirty="0" err="1">
                <a:latin typeface="Consolas" panose="020B0609020204030204" pitchFamily="49" charset="0"/>
                <a:cs typeface="Consolas" panose="020B0609020204030204" pitchFamily="49" charset="0"/>
              </a:rPr>
              <a:t>Task</a:t>
            </a:r>
            <a:r>
              <a:rPr lang="fr-BE" sz="2000" dirty="0">
                <a:latin typeface="Consolas" panose="020B0609020204030204" pitchFamily="49" charset="0"/>
                <a:cs typeface="Consolas" panose="020B0609020204030204" pitchFamily="49" charset="0"/>
              </a:rPr>
              <a:t>&gt; </a:t>
            </a:r>
            <a:r>
              <a:rPr lang="fr-BE" sz="2000" dirty="0" err="1">
                <a:latin typeface="Consolas" panose="020B0609020204030204" pitchFamily="49" charset="0"/>
                <a:cs typeface="Consolas" panose="020B0609020204030204" pitchFamily="49" charset="0"/>
              </a:rPr>
              <a:t>it</a:t>
            </a:r>
            <a:r>
              <a:rPr lang="fr-BE" sz="2000" dirty="0">
                <a:latin typeface="Consolas" panose="020B0609020204030204" pitchFamily="49" charset="0"/>
                <a:cs typeface="Consolas" panose="020B0609020204030204" pitchFamily="49" charset="0"/>
              </a:rPr>
              <a:t> = </a:t>
            </a:r>
            <a:r>
              <a:rPr lang="fr-BE" sz="2000" dirty="0" err="1">
                <a:latin typeface="Consolas" panose="020B0609020204030204" pitchFamily="49" charset="0"/>
                <a:cs typeface="Consolas" panose="020B0609020204030204" pitchFamily="49" charset="0"/>
              </a:rPr>
              <a:t>taches.iterator</a:t>
            </a:r>
            <a:r>
              <a:rPr lang="fr-BE" sz="2000" dirty="0">
                <a:latin typeface="Consolas" panose="020B0609020204030204" pitchFamily="49" charset="0"/>
                <a:cs typeface="Consolas" panose="020B0609020204030204" pitchFamily="49" charset="0"/>
              </a:rPr>
              <a:t>()</a:t>
            </a:r>
            <a:r>
              <a:rPr lang="fr-BE" sz="2000" dirty="0">
                <a:solidFill>
                  <a:srgbClr val="CC7832"/>
                </a:solidFill>
                <a:effectLst/>
                <a:latin typeface="Consolas" panose="020B0609020204030204" pitchFamily="49" charset="0"/>
                <a:cs typeface="Consolas" panose="020B0609020204030204" pitchFamily="49" charset="0"/>
              </a:rPr>
              <a:t>; </a:t>
            </a:r>
            <a:r>
              <a:rPr lang="fr-BE" sz="2000" dirty="0">
                <a:solidFill>
                  <a:srgbClr val="808080"/>
                </a:solidFill>
                <a:latin typeface="Consolas" panose="020B0609020204030204" pitchFamily="49" charset="0"/>
                <a:cs typeface="Consolas" panose="020B0609020204030204" pitchFamily="49" charset="0"/>
              </a:rPr>
              <a:t>// récupérer l’itérateur d’une List</a:t>
            </a:r>
            <a:endParaRPr lang="fr-BE" sz="2000" dirty="0">
              <a:solidFill>
                <a:srgbClr val="CC7832"/>
              </a:solidFill>
              <a:effectLst/>
              <a:latin typeface="Consolas" panose="020B0609020204030204" pitchFamily="49" charset="0"/>
              <a:cs typeface="Consolas" panose="020B0609020204030204" pitchFamily="49" charset="0"/>
            </a:endParaRPr>
          </a:p>
          <a:p>
            <a:br>
              <a:rPr lang="fr-BE" sz="2000" dirty="0">
                <a:solidFill>
                  <a:srgbClr val="CC7832"/>
                </a:solidFill>
                <a:effectLst/>
                <a:latin typeface="Consolas" panose="020B0609020204030204" pitchFamily="49" charset="0"/>
                <a:cs typeface="Consolas" panose="020B0609020204030204" pitchFamily="49" charset="0"/>
              </a:rPr>
            </a:br>
            <a:r>
              <a:rPr lang="fr-BE" sz="2000" dirty="0" err="1">
                <a:solidFill>
                  <a:srgbClr val="CC7832"/>
                </a:solidFill>
                <a:effectLst/>
                <a:latin typeface="Consolas" panose="020B0609020204030204" pitchFamily="49" charset="0"/>
                <a:cs typeface="Consolas" panose="020B0609020204030204" pitchFamily="49" charset="0"/>
              </a:rPr>
              <a:t>while</a:t>
            </a:r>
            <a:r>
              <a:rPr lang="fr-BE" sz="2000" dirty="0">
                <a:latin typeface="Consolas" panose="020B0609020204030204" pitchFamily="49" charset="0"/>
                <a:cs typeface="Consolas" panose="020B0609020204030204" pitchFamily="49" charset="0"/>
              </a:rPr>
              <a:t>(</a:t>
            </a:r>
            <a:r>
              <a:rPr lang="fr-BE" sz="2000" dirty="0" err="1">
                <a:latin typeface="Consolas" panose="020B0609020204030204" pitchFamily="49" charset="0"/>
                <a:cs typeface="Consolas" panose="020B0609020204030204" pitchFamily="49" charset="0"/>
              </a:rPr>
              <a:t>it.hasNext</a:t>
            </a:r>
            <a:r>
              <a:rPr lang="fr-BE" sz="2000" dirty="0">
                <a:latin typeface="Consolas" panose="020B0609020204030204" pitchFamily="49" charset="0"/>
                <a:cs typeface="Consolas" panose="020B0609020204030204" pitchFamily="49" charset="0"/>
              </a:rPr>
              <a:t>()){    </a:t>
            </a:r>
            <a:r>
              <a:rPr lang="fr-BE" sz="2000" dirty="0">
                <a:solidFill>
                  <a:srgbClr val="808080"/>
                </a:solidFill>
                <a:effectLst/>
                <a:latin typeface="Consolas" panose="020B0609020204030204" pitchFamily="49" charset="0"/>
                <a:cs typeface="Consolas" panose="020B0609020204030204" pitchFamily="49" charset="0"/>
              </a:rPr>
              <a:t>// tant qu’il y a un suivant</a:t>
            </a:r>
            <a:br>
              <a:rPr lang="fr-BE" sz="2000" dirty="0">
                <a:solidFill>
                  <a:srgbClr val="808080"/>
                </a:solidFill>
                <a:effectLst/>
                <a:latin typeface="Consolas" panose="020B0609020204030204" pitchFamily="49" charset="0"/>
                <a:cs typeface="Consolas" panose="020B0609020204030204" pitchFamily="49" charset="0"/>
              </a:rPr>
            </a:br>
            <a:r>
              <a:rPr lang="fr-BE" sz="2000" dirty="0">
                <a:solidFill>
                  <a:srgbClr val="808080"/>
                </a:solidFill>
                <a:effectLst/>
                <a:latin typeface="Consolas" panose="020B0609020204030204" pitchFamily="49" charset="0"/>
                <a:cs typeface="Consolas" panose="020B0609020204030204" pitchFamily="49" charset="0"/>
              </a:rPr>
              <a:t>    </a:t>
            </a:r>
            <a:r>
              <a:rPr lang="fr-BE" sz="2000" dirty="0" err="1">
                <a:latin typeface="Consolas" panose="020B0609020204030204" pitchFamily="49" charset="0"/>
                <a:cs typeface="Consolas" panose="020B0609020204030204" pitchFamily="49" charset="0"/>
              </a:rPr>
              <a:t>Task</a:t>
            </a:r>
            <a:r>
              <a:rPr lang="fr-BE" sz="2000" dirty="0">
                <a:latin typeface="Consolas" panose="020B0609020204030204" pitchFamily="49" charset="0"/>
                <a:cs typeface="Consolas" panose="020B0609020204030204" pitchFamily="49" charset="0"/>
              </a:rPr>
              <a:t> </a:t>
            </a:r>
            <a:r>
              <a:rPr lang="fr-BE" sz="2000" dirty="0" err="1">
                <a:latin typeface="Consolas" panose="020B0609020204030204" pitchFamily="49" charset="0"/>
                <a:cs typeface="Consolas" panose="020B0609020204030204" pitchFamily="49" charset="0"/>
              </a:rPr>
              <a:t>t</a:t>
            </a:r>
            <a:r>
              <a:rPr lang="fr-BE" sz="2000" dirty="0">
                <a:latin typeface="Consolas" panose="020B0609020204030204" pitchFamily="49" charset="0"/>
                <a:cs typeface="Consolas" panose="020B0609020204030204" pitchFamily="49" charset="0"/>
              </a:rPr>
              <a:t> = </a:t>
            </a:r>
            <a:r>
              <a:rPr lang="fr-BE" sz="2000" dirty="0" err="1">
                <a:latin typeface="Consolas" panose="020B0609020204030204" pitchFamily="49" charset="0"/>
                <a:cs typeface="Consolas" panose="020B0609020204030204" pitchFamily="49" charset="0"/>
              </a:rPr>
              <a:t>it.next</a:t>
            </a:r>
            <a:r>
              <a:rPr lang="fr-BE" sz="2000" dirty="0">
                <a:latin typeface="Consolas" panose="020B0609020204030204" pitchFamily="49" charset="0"/>
                <a:cs typeface="Consolas" panose="020B0609020204030204" pitchFamily="49" charset="0"/>
              </a:rPr>
              <a:t>()</a:t>
            </a:r>
            <a:r>
              <a:rPr lang="fr-BE" sz="2000" dirty="0">
                <a:solidFill>
                  <a:srgbClr val="CC7832"/>
                </a:solidFill>
                <a:effectLst/>
                <a:latin typeface="Consolas" panose="020B0609020204030204" pitchFamily="49" charset="0"/>
                <a:cs typeface="Consolas" panose="020B0609020204030204" pitchFamily="49" charset="0"/>
              </a:rPr>
              <a:t>; </a:t>
            </a:r>
            <a:r>
              <a:rPr lang="fr-BE" sz="2000" dirty="0">
                <a:solidFill>
                  <a:srgbClr val="808080"/>
                </a:solidFill>
                <a:effectLst/>
                <a:latin typeface="Consolas" panose="020B0609020204030204" pitchFamily="49" charset="0"/>
                <a:cs typeface="Consolas" panose="020B0609020204030204" pitchFamily="49" charset="0"/>
              </a:rPr>
              <a:t>// sélectionner le suivant</a:t>
            </a:r>
            <a:br>
              <a:rPr lang="fr-BE" sz="2000" dirty="0">
                <a:solidFill>
                  <a:srgbClr val="808080"/>
                </a:solidFill>
                <a:effectLst/>
                <a:latin typeface="Consolas" panose="020B0609020204030204" pitchFamily="49" charset="0"/>
                <a:cs typeface="Consolas" panose="020B0609020204030204" pitchFamily="49" charset="0"/>
              </a:rPr>
            </a:br>
            <a:r>
              <a:rPr lang="fr-BE" sz="2000" dirty="0">
                <a:solidFill>
                  <a:srgbClr val="808080"/>
                </a:solidFill>
                <a:effectLst/>
                <a:latin typeface="Consolas" panose="020B0609020204030204" pitchFamily="49" charset="0"/>
                <a:cs typeface="Consolas" panose="020B0609020204030204" pitchFamily="49" charset="0"/>
              </a:rPr>
              <a:t>    </a:t>
            </a:r>
            <a:r>
              <a:rPr lang="fr-BE" sz="2000" dirty="0">
                <a:solidFill>
                  <a:srgbClr val="CC7832"/>
                </a:solidFill>
                <a:effectLst/>
                <a:latin typeface="Consolas" panose="020B0609020204030204" pitchFamily="49" charset="0"/>
                <a:cs typeface="Consolas" panose="020B0609020204030204" pitchFamily="49" charset="0"/>
              </a:rPr>
              <a:t>if </a:t>
            </a:r>
            <a:r>
              <a:rPr lang="fr-BE" sz="2000" dirty="0">
                <a:latin typeface="Consolas" panose="020B0609020204030204" pitchFamily="49" charset="0"/>
                <a:cs typeface="Consolas" panose="020B0609020204030204" pitchFamily="49" charset="0"/>
              </a:rPr>
              <a:t>(</a:t>
            </a:r>
            <a:r>
              <a:rPr lang="fr-BE" sz="2000" dirty="0" err="1">
                <a:latin typeface="Consolas" panose="020B0609020204030204" pitchFamily="49" charset="0"/>
                <a:cs typeface="Consolas" panose="020B0609020204030204" pitchFamily="49" charset="0"/>
              </a:rPr>
              <a:t>t.condition</a:t>
            </a:r>
            <a:r>
              <a:rPr lang="fr-BE" sz="2000" dirty="0">
                <a:latin typeface="Consolas" panose="020B0609020204030204" pitchFamily="49" charset="0"/>
                <a:cs typeface="Consolas" panose="020B0609020204030204" pitchFamily="49" charset="0"/>
              </a:rPr>
              <a:t>())</a:t>
            </a:r>
            <a:br>
              <a:rPr lang="fr-BE" sz="2000" dirty="0">
                <a:latin typeface="Consolas" panose="020B0609020204030204" pitchFamily="49" charset="0"/>
                <a:cs typeface="Consolas" panose="020B0609020204030204" pitchFamily="49" charset="0"/>
              </a:rPr>
            </a:br>
            <a:r>
              <a:rPr lang="fr-BE" sz="2000" dirty="0">
                <a:latin typeface="Consolas" panose="020B0609020204030204" pitchFamily="49" charset="0"/>
                <a:cs typeface="Consolas" panose="020B0609020204030204" pitchFamily="49" charset="0"/>
              </a:rPr>
              <a:t>        </a:t>
            </a:r>
            <a:r>
              <a:rPr lang="fr-BE" sz="2000" dirty="0" err="1">
                <a:latin typeface="Consolas" panose="020B0609020204030204" pitchFamily="49" charset="0"/>
                <a:cs typeface="Consolas" panose="020B0609020204030204" pitchFamily="49" charset="0"/>
              </a:rPr>
              <a:t>it.remove</a:t>
            </a:r>
            <a:r>
              <a:rPr lang="fr-BE" sz="2000" dirty="0">
                <a:latin typeface="Consolas" panose="020B0609020204030204" pitchFamily="49" charset="0"/>
                <a:cs typeface="Consolas" panose="020B0609020204030204" pitchFamily="49" charset="0"/>
              </a:rPr>
              <a:t>()</a:t>
            </a:r>
            <a:r>
              <a:rPr lang="fr-BE" sz="2000" dirty="0">
                <a:solidFill>
                  <a:srgbClr val="CC7832"/>
                </a:solidFill>
                <a:effectLst/>
                <a:latin typeface="Consolas" panose="020B0609020204030204" pitchFamily="49" charset="0"/>
                <a:cs typeface="Consolas" panose="020B0609020204030204" pitchFamily="49" charset="0"/>
              </a:rPr>
              <a:t>;    </a:t>
            </a:r>
            <a:r>
              <a:rPr lang="fr-BE" sz="2000" dirty="0">
                <a:solidFill>
                  <a:srgbClr val="808080"/>
                </a:solidFill>
                <a:effectLst/>
                <a:latin typeface="Consolas" panose="020B0609020204030204" pitchFamily="49" charset="0"/>
                <a:cs typeface="Consolas" panose="020B0609020204030204" pitchFamily="49" charset="0"/>
              </a:rPr>
              <a:t>// par exemple suppression de ceux qui</a:t>
            </a:r>
            <a:br>
              <a:rPr lang="fr-BE" sz="2000" dirty="0">
                <a:solidFill>
                  <a:srgbClr val="808080"/>
                </a:solidFill>
                <a:effectLst/>
                <a:latin typeface="Consolas" panose="020B0609020204030204" pitchFamily="49" charset="0"/>
                <a:cs typeface="Consolas" panose="020B0609020204030204" pitchFamily="49" charset="0"/>
              </a:rPr>
            </a:br>
            <a:r>
              <a:rPr lang="fr-BE" sz="2000" dirty="0">
                <a:solidFill>
                  <a:srgbClr val="808080"/>
                </a:solidFill>
                <a:effectLst/>
                <a:latin typeface="Consolas" panose="020B0609020204030204" pitchFamily="49" charset="0"/>
                <a:cs typeface="Consolas" panose="020B0609020204030204" pitchFamily="49" charset="0"/>
              </a:rPr>
              <a:t>                        // remplissent une condition</a:t>
            </a:r>
            <a:br>
              <a:rPr lang="fr-BE" sz="2000" dirty="0">
                <a:solidFill>
                  <a:srgbClr val="808080"/>
                </a:solidFill>
                <a:effectLst/>
                <a:latin typeface="Consolas" panose="020B0609020204030204" pitchFamily="49" charset="0"/>
                <a:cs typeface="Consolas" panose="020B0609020204030204" pitchFamily="49" charset="0"/>
              </a:rPr>
            </a:br>
            <a:r>
              <a:rPr lang="fr-BE" sz="2000" dirty="0">
                <a:latin typeface="Consolas" panose="020B0609020204030204" pitchFamily="49" charset="0"/>
                <a:cs typeface="Consolas" panose="020B0609020204030204" pitchFamily="49" charset="0"/>
              </a:rPr>
              <a:t>}</a:t>
            </a:r>
            <a:endParaRPr lang="fr-FR" sz="2000" dirty="0">
              <a:latin typeface="Consolas" panose="020B0609020204030204" pitchFamily="49" charset="0"/>
              <a:cs typeface="Consolas" panose="020B0609020204030204" pitchFamily="49" charset="0"/>
            </a:endParaRPr>
          </a:p>
        </p:txBody>
      </p:sp>
      <p:sp>
        <p:nvSpPr>
          <p:cNvPr id="5" name="Espace réservé du numéro de diapositive 4">
            <a:extLst>
              <a:ext uri="{FF2B5EF4-FFF2-40B4-BE49-F238E27FC236}">
                <a16:creationId xmlns:a16="http://schemas.microsoft.com/office/drawing/2014/main" id="{DABF99A8-6972-3A3D-CA46-8429EE51D87B}"/>
              </a:ext>
            </a:extLst>
          </p:cNvPr>
          <p:cNvSpPr>
            <a:spLocks noGrp="1"/>
          </p:cNvSpPr>
          <p:nvPr>
            <p:ph type="sldNum" sz="quarter" idx="4"/>
          </p:nvPr>
        </p:nvSpPr>
        <p:spPr/>
        <p:txBody>
          <a:bodyPr/>
          <a:lstStyle/>
          <a:p>
            <a:fld id="{33C783E2-4793-4F48-A271-51A73CC37D74}" type="slidenum">
              <a:rPr lang="fr-FR" smtClean="0"/>
              <a:t>13</a:t>
            </a:fld>
            <a:endParaRPr lang="fr-FR"/>
          </a:p>
        </p:txBody>
      </p:sp>
      <p:sp>
        <p:nvSpPr>
          <p:cNvPr id="7" name="ZoneTexte 6">
            <a:extLst>
              <a:ext uri="{FF2B5EF4-FFF2-40B4-BE49-F238E27FC236}">
                <a16:creationId xmlns:a16="http://schemas.microsoft.com/office/drawing/2014/main" id="{4FB1C136-3554-D31C-736D-6D9B5AD6ACCB}"/>
              </a:ext>
            </a:extLst>
          </p:cNvPr>
          <p:cNvSpPr txBox="1"/>
          <p:nvPr/>
        </p:nvSpPr>
        <p:spPr>
          <a:xfrm>
            <a:off x="838199" y="5718222"/>
            <a:ext cx="10868247" cy="461665"/>
          </a:xfrm>
          <a:prstGeom prst="rect">
            <a:avLst/>
          </a:prstGeom>
          <a:noFill/>
        </p:spPr>
        <p:txBody>
          <a:bodyPr wrap="square">
            <a:spAutoFit/>
          </a:bodyPr>
          <a:lstStyle/>
          <a:p>
            <a:r>
              <a:rPr lang="fr-FR" sz="2400" dirty="0"/>
              <a:t>La majorité des collections sont itérables de cette manière. </a:t>
            </a:r>
            <a:endParaRPr lang="fr-FR" dirty="0"/>
          </a:p>
        </p:txBody>
      </p:sp>
      <p:sp>
        <p:nvSpPr>
          <p:cNvPr id="4" name="Bulle rectangulaire à coins arrondis 3">
            <a:extLst>
              <a:ext uri="{FF2B5EF4-FFF2-40B4-BE49-F238E27FC236}">
                <a16:creationId xmlns:a16="http://schemas.microsoft.com/office/drawing/2014/main" id="{766DEF33-04F2-6E1A-617C-615A3842A526}"/>
              </a:ext>
            </a:extLst>
          </p:cNvPr>
          <p:cNvSpPr/>
          <p:nvPr/>
        </p:nvSpPr>
        <p:spPr>
          <a:xfrm>
            <a:off x="6596720" y="1019990"/>
            <a:ext cx="4553880" cy="980903"/>
          </a:xfrm>
          <a:prstGeom prst="wedgeRoundRectCallout">
            <a:avLst>
              <a:gd name="adj1" fmla="val -39177"/>
              <a:gd name="adj2" fmla="val 102349"/>
              <a:gd name="adj3" fmla="val 16667"/>
            </a:avLst>
          </a:prstGeom>
          <a:solidFill>
            <a:schemeClr val="accent6"/>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400" dirty="0"/>
              <a:t>Lors d’un </a:t>
            </a:r>
            <a:r>
              <a:rPr lang="fr-FR" sz="2200" dirty="0" err="1">
                <a:solidFill>
                  <a:schemeClr val="accent4"/>
                </a:solidFill>
                <a:latin typeface="Consolas" panose="020B0609020204030204" pitchFamily="49" charset="0"/>
                <a:cs typeface="Consolas" panose="020B0609020204030204" pitchFamily="49" charset="0"/>
              </a:rPr>
              <a:t>foreach</a:t>
            </a:r>
            <a:r>
              <a:rPr lang="fr-FR" sz="2400" dirty="0"/>
              <a:t>, impossible de modifier la liste; ceci le permet.</a:t>
            </a:r>
          </a:p>
        </p:txBody>
      </p:sp>
    </p:spTree>
    <p:extLst>
      <p:ext uri="{BB962C8B-B14F-4D97-AF65-F5344CB8AC3E}">
        <p14:creationId xmlns:p14="http://schemas.microsoft.com/office/powerpoint/2010/main" val="1869973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par>
                          <p:cTn id="13" fill="hold">
                            <p:stCondLst>
                              <p:cond delay="500"/>
                            </p:stCondLst>
                            <p:childTnLst>
                              <p:par>
                                <p:cTn id="14" presetID="22" presetClass="entr" presetSubtype="2"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right)">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La package </a:t>
            </a:r>
            <a:r>
              <a:rPr lang="fr-FR" sz="4400" cap="none" dirty="0" err="1">
                <a:solidFill>
                  <a:schemeClr val="accent4"/>
                </a:solidFill>
                <a:latin typeface="Consolas" panose="020B0609020204030204" pitchFamily="49" charset="0"/>
                <a:cs typeface="Consolas" panose="020B0609020204030204" pitchFamily="49" charset="0"/>
              </a:rPr>
              <a:t>java.util</a:t>
            </a:r>
            <a:endParaRPr lang="fr-FR" sz="4400" dirty="0">
              <a:solidFill>
                <a:schemeClr val="accent4"/>
              </a:solidFill>
              <a:latin typeface="Consolas" panose="020B0609020204030204" pitchFamily="49" charset="0"/>
              <a:cs typeface="Consolas" panose="020B0609020204030204" pitchFamily="49" charset="0"/>
            </a:endParaRPr>
          </a:p>
        </p:txBody>
      </p:sp>
      <p:sp>
        <p:nvSpPr>
          <p:cNvPr id="3" name="Espace réservé du contenu 2"/>
          <p:cNvSpPr>
            <a:spLocks noGrp="1"/>
          </p:cNvSpPr>
          <p:nvPr>
            <p:ph idx="1"/>
          </p:nvPr>
        </p:nvSpPr>
        <p:spPr/>
        <p:txBody>
          <a:bodyPr>
            <a:normAutofit fontScale="85000" lnSpcReduction="20000"/>
          </a:bodyPr>
          <a:lstStyle/>
          <a:p>
            <a:pPr marL="0" indent="0">
              <a:buNone/>
            </a:pPr>
            <a:r>
              <a:rPr lang="fr-FR" dirty="0"/>
              <a:t>Le package </a:t>
            </a:r>
            <a:r>
              <a:rPr lang="fr-FR" sz="2600" dirty="0" err="1">
                <a:solidFill>
                  <a:schemeClr val="accent4"/>
                </a:solidFill>
                <a:latin typeface="Consolas" panose="020B0609020204030204" pitchFamily="49" charset="0"/>
                <a:cs typeface="Consolas" panose="020B0609020204030204" pitchFamily="49" charset="0"/>
              </a:rPr>
              <a:t>java.util</a:t>
            </a:r>
            <a:r>
              <a:rPr lang="fr-FR" dirty="0"/>
              <a:t> contient aussi d’autres classes et interfaces que celles qui concernent les collections:</a:t>
            </a:r>
          </a:p>
          <a:p>
            <a:r>
              <a:rPr lang="fr-FR" dirty="0"/>
              <a:t>Nous avons déjà utilisé la classe </a:t>
            </a:r>
            <a:r>
              <a:rPr lang="fr-FR" sz="2600" dirty="0" err="1">
                <a:solidFill>
                  <a:schemeClr val="accent4"/>
                </a:solidFill>
                <a:latin typeface="Consolas" panose="020B0609020204030204" pitchFamily="49" charset="0"/>
                <a:cs typeface="Consolas" panose="020B0609020204030204" pitchFamily="49" charset="0"/>
              </a:rPr>
              <a:t>java.util.Scanner</a:t>
            </a:r>
            <a:endParaRPr lang="fr-FR" dirty="0">
              <a:solidFill>
                <a:schemeClr val="accent4"/>
              </a:solidFill>
              <a:latin typeface="Consolas" panose="020B0609020204030204" pitchFamily="49" charset="0"/>
              <a:cs typeface="Consolas" panose="020B0609020204030204" pitchFamily="49" charset="0"/>
            </a:endParaRPr>
          </a:p>
          <a:p>
            <a:r>
              <a:rPr lang="fr-FR" dirty="0"/>
              <a:t>La classe </a:t>
            </a:r>
            <a:r>
              <a:rPr lang="fr-FR" sz="2600" dirty="0" err="1">
                <a:solidFill>
                  <a:schemeClr val="accent4"/>
                </a:solidFill>
                <a:latin typeface="Consolas" panose="020B0609020204030204" pitchFamily="49" charset="0"/>
                <a:cs typeface="Consolas" panose="020B0609020204030204" pitchFamily="49" charset="0"/>
              </a:rPr>
              <a:t>Properties</a:t>
            </a:r>
            <a:r>
              <a:rPr lang="fr-FR" dirty="0"/>
              <a:t> représente des propriétés qui peuvent être utilisées dans votre application.</a:t>
            </a:r>
          </a:p>
          <a:p>
            <a:r>
              <a:rPr lang="fr-FR" dirty="0"/>
              <a:t>La classe </a:t>
            </a:r>
            <a:r>
              <a:rPr lang="fr-FR" sz="2600" dirty="0" err="1">
                <a:solidFill>
                  <a:schemeClr val="accent4"/>
                </a:solidFill>
                <a:latin typeface="Consolas" panose="020B0609020204030204" pitchFamily="49" charset="0"/>
                <a:cs typeface="Consolas" panose="020B0609020204030204" pitchFamily="49" charset="0"/>
              </a:rPr>
              <a:t>StringTokenizer</a:t>
            </a:r>
            <a:r>
              <a:rPr lang="fr-FR" dirty="0"/>
              <a:t>  permet de séparer une String en mots (</a:t>
            </a:r>
            <a:r>
              <a:rPr lang="fr-FR" dirty="0" err="1"/>
              <a:t>tokens</a:t>
            </a:r>
            <a:r>
              <a:rPr lang="fr-FR" dirty="0"/>
              <a:t>).</a:t>
            </a:r>
          </a:p>
          <a:p>
            <a:r>
              <a:rPr lang="fr-FR" dirty="0"/>
              <a:t>Les classes de </a:t>
            </a:r>
            <a:r>
              <a:rPr lang="fr-FR" sz="2600" dirty="0" err="1">
                <a:solidFill>
                  <a:schemeClr val="accent4"/>
                </a:solidFill>
                <a:latin typeface="Consolas" panose="020B0609020204030204" pitchFamily="49" charset="0"/>
                <a:cs typeface="Consolas" panose="020B0609020204030204" pitchFamily="49" charset="0"/>
              </a:rPr>
              <a:t>java.util.logging</a:t>
            </a:r>
            <a:r>
              <a:rPr lang="fr-FR" dirty="0"/>
              <a:t> permettent de tracer ce qui se passe lors de l’exécution d’une application</a:t>
            </a:r>
          </a:p>
          <a:p>
            <a:r>
              <a:rPr lang="fr-FR" dirty="0"/>
              <a:t>Les classes de </a:t>
            </a:r>
            <a:r>
              <a:rPr lang="fr-FR" sz="2600" dirty="0" err="1">
                <a:solidFill>
                  <a:schemeClr val="accent4"/>
                </a:solidFill>
                <a:latin typeface="Consolas" panose="020B0609020204030204" pitchFamily="49" charset="0"/>
                <a:cs typeface="Consolas" panose="020B0609020204030204" pitchFamily="49" charset="0"/>
              </a:rPr>
              <a:t>java.util.zip</a:t>
            </a:r>
            <a:r>
              <a:rPr lang="fr-FR" dirty="0"/>
              <a:t> permettent de compresser/décompresser des fichiers.</a:t>
            </a:r>
          </a:p>
          <a:p>
            <a:endParaRPr lang="fr-FR" dirty="0">
              <a:solidFill>
                <a:srgbClr val="C00000"/>
              </a:solidFill>
              <a:latin typeface="Consolas" charset="0"/>
              <a:ea typeface="Consolas" charset="0"/>
              <a:cs typeface="Consolas" charset="0"/>
            </a:endParaRPr>
          </a:p>
          <a:p>
            <a:pPr marL="0" indent="0">
              <a:buNone/>
            </a:pPr>
            <a:r>
              <a:rPr lang="fr-FR" dirty="0"/>
              <a:t>Nous allons à présent passer en revue ce que nous offre le package </a:t>
            </a:r>
            <a:r>
              <a:rPr lang="fr-FR" sz="2600" dirty="0" err="1">
                <a:solidFill>
                  <a:schemeClr val="accent4"/>
                </a:solidFill>
                <a:latin typeface="Consolas" panose="020B0609020204030204" pitchFamily="49" charset="0"/>
                <a:cs typeface="Consolas" panose="020B0609020204030204" pitchFamily="49" charset="0"/>
              </a:rPr>
              <a:t>java.util</a:t>
            </a:r>
            <a:r>
              <a:rPr lang="fr-FR" dirty="0"/>
              <a:t> en termes de collections</a:t>
            </a:r>
            <a:endParaRPr lang="fr-FR" dirty="0">
              <a:solidFill>
                <a:srgbClr val="C00000"/>
              </a:solidFill>
              <a:latin typeface="Consolas" charset="0"/>
              <a:ea typeface="Consolas" charset="0"/>
              <a:cs typeface="Consolas" charset="0"/>
            </a:endParaRPr>
          </a:p>
        </p:txBody>
      </p:sp>
      <p:sp>
        <p:nvSpPr>
          <p:cNvPr id="4" name="Espace réservé du numéro de diapositive 3">
            <a:extLst>
              <a:ext uri="{FF2B5EF4-FFF2-40B4-BE49-F238E27FC236}">
                <a16:creationId xmlns:a16="http://schemas.microsoft.com/office/drawing/2014/main" id="{7D0A6087-981E-5CF3-5B81-8E540234F90B}"/>
              </a:ext>
            </a:extLst>
          </p:cNvPr>
          <p:cNvSpPr>
            <a:spLocks noGrp="1"/>
          </p:cNvSpPr>
          <p:nvPr>
            <p:ph type="sldNum" sz="quarter" idx="4"/>
          </p:nvPr>
        </p:nvSpPr>
        <p:spPr/>
        <p:txBody>
          <a:bodyPr/>
          <a:lstStyle/>
          <a:p>
            <a:fld id="{33C783E2-4793-4F48-A271-51A73CC37D74}" type="slidenum">
              <a:rPr lang="fr-FR" smtClean="0"/>
              <a:t>14</a:t>
            </a:fld>
            <a:endParaRPr lang="fr-FR"/>
          </a:p>
        </p:txBody>
      </p:sp>
    </p:spTree>
    <p:extLst>
      <p:ext uri="{BB962C8B-B14F-4D97-AF65-F5344CB8AC3E}">
        <p14:creationId xmlns:p14="http://schemas.microsoft.com/office/powerpoint/2010/main" val="2628684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Collections</a:t>
            </a:r>
          </a:p>
        </p:txBody>
      </p:sp>
      <p:sp>
        <p:nvSpPr>
          <p:cNvPr id="3" name="Espace réservé du contenu 2"/>
          <p:cNvSpPr>
            <a:spLocks noGrp="1"/>
          </p:cNvSpPr>
          <p:nvPr>
            <p:ph idx="1"/>
          </p:nvPr>
        </p:nvSpPr>
        <p:spPr/>
        <p:txBody>
          <a:bodyPr>
            <a:normAutofit/>
          </a:bodyPr>
          <a:lstStyle/>
          <a:p>
            <a:pPr marL="342900" indent="-342900">
              <a:buFont typeface="Arial" charset="0"/>
              <a:buChar char="•"/>
            </a:pPr>
            <a:r>
              <a:rPr lang="fr-BE" dirty="0"/>
              <a:t>Pourquoi les Collections?</a:t>
            </a:r>
          </a:p>
          <a:p>
            <a:pPr marL="342900" indent="-342900">
              <a:buFont typeface="Arial" charset="0"/>
              <a:buChar char="•"/>
            </a:pPr>
            <a:r>
              <a:rPr lang="fr-BE" dirty="0" err="1"/>
              <a:t>Itérateur</a:t>
            </a:r>
            <a:endParaRPr lang="fr-BE" dirty="0"/>
          </a:p>
          <a:p>
            <a:pPr marL="342900" indent="-342900">
              <a:buFont typeface="Arial" charset="0"/>
              <a:buChar char="•"/>
            </a:pPr>
            <a:r>
              <a:rPr lang="fr-BE" dirty="0">
                <a:solidFill>
                  <a:schemeClr val="accent4"/>
                </a:solidFill>
              </a:rPr>
              <a:t>Les Interfaces de Collections</a:t>
            </a:r>
          </a:p>
          <a:p>
            <a:pPr marL="342900" indent="-342900">
              <a:buFont typeface="Arial" charset="0"/>
              <a:buChar char="•"/>
            </a:pPr>
            <a:r>
              <a:rPr lang="fr-BE" dirty="0"/>
              <a:t>La notion d’ordre (Comparable et </a:t>
            </a:r>
            <a:r>
              <a:rPr lang="fr-BE" dirty="0" err="1"/>
              <a:t>Sorted</a:t>
            </a:r>
            <a:r>
              <a:rPr lang="fr-BE" dirty="0"/>
              <a:t>...)</a:t>
            </a:r>
          </a:p>
          <a:p>
            <a:pPr marL="342900" indent="-342900">
              <a:buFont typeface="Arial" charset="0"/>
              <a:buChar char="•"/>
            </a:pPr>
            <a:r>
              <a:rPr lang="fr-BE" dirty="0"/>
              <a:t>Les classes concrètes</a:t>
            </a:r>
          </a:p>
          <a:p>
            <a:pPr marL="342900" indent="-342900">
              <a:buFont typeface="Arial" charset="0"/>
              <a:buChar char="•"/>
            </a:pPr>
            <a:r>
              <a:rPr lang="fr-BE" dirty="0"/>
              <a:t>Algorithmes: la classe Collections</a:t>
            </a:r>
          </a:p>
          <a:p>
            <a:pPr marL="342900" indent="-342900">
              <a:buFont typeface="Arial" charset="0"/>
              <a:buChar char="•"/>
            </a:pPr>
            <a:endParaRPr lang="fr-BE" dirty="0"/>
          </a:p>
        </p:txBody>
      </p:sp>
      <p:sp>
        <p:nvSpPr>
          <p:cNvPr id="4" name="Espace réservé du numéro de diapositive 3">
            <a:extLst>
              <a:ext uri="{FF2B5EF4-FFF2-40B4-BE49-F238E27FC236}">
                <a16:creationId xmlns:a16="http://schemas.microsoft.com/office/drawing/2014/main" id="{DEA5F735-5252-BE70-C25C-B24EA9D5D4D2}"/>
              </a:ext>
            </a:extLst>
          </p:cNvPr>
          <p:cNvSpPr>
            <a:spLocks noGrp="1"/>
          </p:cNvSpPr>
          <p:nvPr>
            <p:ph type="sldNum" sz="quarter" idx="10"/>
          </p:nvPr>
        </p:nvSpPr>
        <p:spPr/>
        <p:txBody>
          <a:bodyPr/>
          <a:lstStyle/>
          <a:p>
            <a:fld id="{33C783E2-4793-4F48-A271-51A73CC37D74}" type="slidenum">
              <a:rPr lang="fr-FR" smtClean="0"/>
              <a:t>15</a:t>
            </a:fld>
            <a:endParaRPr lang="fr-FR"/>
          </a:p>
        </p:txBody>
      </p:sp>
    </p:spTree>
    <p:extLst>
      <p:ext uri="{BB962C8B-B14F-4D97-AF65-F5344CB8AC3E}">
        <p14:creationId xmlns:p14="http://schemas.microsoft.com/office/powerpoint/2010/main" val="4086424622"/>
      </p:ext>
    </p:extLst>
  </p:cSld>
  <p:clrMapOvr>
    <a:masterClrMapping/>
  </p:clrMapOvr>
  <p:transition>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a:extLst>
              <a:ext uri="{FF2B5EF4-FFF2-40B4-BE49-F238E27FC236}">
                <a16:creationId xmlns:a16="http://schemas.microsoft.com/office/drawing/2014/main" id="{FE803CA3-A045-FE1B-8513-644F347A136E}"/>
              </a:ext>
            </a:extLst>
          </p:cNvPr>
          <p:cNvSpPr>
            <a:spLocks noGrp="1"/>
          </p:cNvSpPr>
          <p:nvPr>
            <p:ph type="title"/>
          </p:nvPr>
        </p:nvSpPr>
        <p:spPr/>
        <p:txBody>
          <a:bodyPr/>
          <a:lstStyle/>
          <a:p>
            <a:r>
              <a:rPr lang="fr-FR" dirty="0"/>
              <a:t>Interfaces et Classes concrètes</a:t>
            </a:r>
          </a:p>
        </p:txBody>
      </p:sp>
      <p:sp>
        <p:nvSpPr>
          <p:cNvPr id="9" name="Espace réservé du contenu 8">
            <a:extLst>
              <a:ext uri="{FF2B5EF4-FFF2-40B4-BE49-F238E27FC236}">
                <a16:creationId xmlns:a16="http://schemas.microsoft.com/office/drawing/2014/main" id="{1E712E6F-561B-ECF8-0840-19601FB51366}"/>
              </a:ext>
            </a:extLst>
          </p:cNvPr>
          <p:cNvSpPr>
            <a:spLocks noGrp="1"/>
          </p:cNvSpPr>
          <p:nvPr>
            <p:ph idx="1"/>
          </p:nvPr>
        </p:nvSpPr>
        <p:spPr/>
        <p:txBody>
          <a:bodyPr>
            <a:normAutofit/>
          </a:bodyPr>
          <a:lstStyle/>
          <a:p>
            <a:pPr marL="0" indent="0">
              <a:buNone/>
            </a:pPr>
            <a:r>
              <a:rPr lang="fr-FR" sz="2400" dirty="0"/>
              <a:t>Nous avons vu précédemment que l’</a:t>
            </a:r>
            <a:r>
              <a:rPr lang="fr-FR" sz="2400" dirty="0">
                <a:solidFill>
                  <a:schemeClr val="accent4"/>
                </a:solidFill>
              </a:rPr>
              <a:t>utilisation </a:t>
            </a:r>
            <a:r>
              <a:rPr lang="fr-BE" sz="2400" dirty="0">
                <a:solidFill>
                  <a:schemeClr val="accent4"/>
                </a:solidFill>
              </a:rPr>
              <a:t>d'interfaces</a:t>
            </a:r>
            <a:r>
              <a:rPr lang="fr-BE" sz="2400" dirty="0"/>
              <a:t> permet de créer des structures de données flexibles et modulaires, en favorisant le polymorphisme et la réutilisabilité du code.</a:t>
            </a:r>
          </a:p>
          <a:p>
            <a:pPr marL="0" indent="0">
              <a:buNone/>
            </a:pPr>
            <a:endParaRPr lang="fr-BE" sz="2400" dirty="0"/>
          </a:p>
          <a:p>
            <a:pPr marL="0" indent="0">
              <a:buNone/>
            </a:pPr>
            <a:r>
              <a:rPr lang="fr-BE" sz="2400" dirty="0"/>
              <a:t>C’est donc aussi le cas pour les </a:t>
            </a:r>
            <a:r>
              <a:rPr lang="fr-BE" sz="2400" dirty="0">
                <a:solidFill>
                  <a:schemeClr val="accent4"/>
                </a:solidFill>
              </a:rPr>
              <a:t>collections</a:t>
            </a:r>
            <a:r>
              <a:rPr lang="fr-BE" sz="2400" dirty="0"/>
              <a:t>, qui contiennent </a:t>
            </a:r>
          </a:p>
          <a:p>
            <a:r>
              <a:rPr lang="fr-BE" sz="2400" dirty="0"/>
              <a:t>un </a:t>
            </a:r>
            <a:r>
              <a:rPr lang="fr-BE" sz="2400" dirty="0">
                <a:solidFill>
                  <a:schemeClr val="accent4"/>
                </a:solidFill>
              </a:rPr>
              <a:t>ensemble d’interfaces</a:t>
            </a:r>
            <a:r>
              <a:rPr lang="fr-BE" sz="2400" dirty="0"/>
              <a:t>, qui définissent des contrats de comportements</a:t>
            </a:r>
          </a:p>
          <a:p>
            <a:r>
              <a:rPr lang="fr-BE" sz="2400" dirty="0"/>
              <a:t>Un </a:t>
            </a:r>
            <a:r>
              <a:rPr lang="fr-BE" sz="2400" dirty="0">
                <a:solidFill>
                  <a:schemeClr val="accent4"/>
                </a:solidFill>
              </a:rPr>
              <a:t>ensemble de classes </a:t>
            </a:r>
            <a:r>
              <a:rPr lang="fr-BE" sz="2400" dirty="0"/>
              <a:t>concrètes qui implémentent ces interfaces.</a:t>
            </a:r>
          </a:p>
          <a:p>
            <a:pPr marL="0" indent="0">
              <a:buNone/>
            </a:pPr>
            <a:r>
              <a:rPr lang="fr-BE" sz="2400" dirty="0"/>
              <a:t>On utilise le plus souvent des références vers des objets de type interfaces, ce qui permet d’être plus souple et de modifier nos implémentations sous-jacentes si nécessaire. </a:t>
            </a:r>
          </a:p>
          <a:p>
            <a:pPr marL="0" indent="0">
              <a:buNone/>
            </a:pPr>
            <a:endParaRPr lang="fr-FR" sz="2400" dirty="0"/>
          </a:p>
        </p:txBody>
      </p:sp>
      <p:sp>
        <p:nvSpPr>
          <p:cNvPr id="3" name="Espace réservé du numéro de diapositive 2">
            <a:extLst>
              <a:ext uri="{FF2B5EF4-FFF2-40B4-BE49-F238E27FC236}">
                <a16:creationId xmlns:a16="http://schemas.microsoft.com/office/drawing/2014/main" id="{3E5F55A7-959C-AC31-853F-A0476D897A05}"/>
              </a:ext>
            </a:extLst>
          </p:cNvPr>
          <p:cNvSpPr>
            <a:spLocks noGrp="1"/>
          </p:cNvSpPr>
          <p:nvPr>
            <p:ph type="sldNum" sz="quarter" idx="4"/>
          </p:nvPr>
        </p:nvSpPr>
        <p:spPr/>
        <p:txBody>
          <a:bodyPr/>
          <a:lstStyle/>
          <a:p>
            <a:fld id="{33C783E2-4793-4F48-A271-51A73CC37D74}" type="slidenum">
              <a:rPr lang="fr-FR" smtClean="0"/>
              <a:t>16</a:t>
            </a:fld>
            <a:endParaRPr lang="fr-FR"/>
          </a:p>
        </p:txBody>
      </p:sp>
    </p:spTree>
    <p:extLst>
      <p:ext uri="{BB962C8B-B14F-4D97-AF65-F5344CB8AC3E}">
        <p14:creationId xmlns:p14="http://schemas.microsoft.com/office/powerpoint/2010/main" val="23684115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Les Interfaces </a:t>
            </a:r>
            <a:br>
              <a:rPr lang="fr-FR" dirty="0"/>
            </a:br>
            <a:endParaRPr lang="fr-FR" dirty="0"/>
          </a:p>
        </p:txBody>
      </p:sp>
      <p:sp>
        <p:nvSpPr>
          <p:cNvPr id="3" name="Espace réservé du contenu 2"/>
          <p:cNvSpPr>
            <a:spLocks noGrp="1"/>
          </p:cNvSpPr>
          <p:nvPr>
            <p:ph idx="1"/>
          </p:nvPr>
        </p:nvSpPr>
        <p:spPr>
          <a:xfrm>
            <a:off x="838200" y="2904057"/>
            <a:ext cx="10515600" cy="3272905"/>
          </a:xfrm>
        </p:spPr>
        <p:txBody>
          <a:bodyPr>
            <a:noAutofit/>
          </a:bodyPr>
          <a:lstStyle/>
          <a:p>
            <a:r>
              <a:rPr lang="fr-FR" sz="1800" dirty="0" err="1">
                <a:solidFill>
                  <a:schemeClr val="accent4"/>
                </a:solidFill>
                <a:latin typeface="Consolas" panose="020B0609020204030204" pitchFamily="49" charset="0"/>
                <a:cs typeface="Consolas" panose="020B0609020204030204" pitchFamily="49" charset="0"/>
              </a:rPr>
              <a:t>java.lang.Iterable</a:t>
            </a:r>
            <a:r>
              <a:rPr lang="fr-FR" sz="2000" dirty="0"/>
              <a:t> qui ne fait pas partie du package </a:t>
            </a:r>
            <a:r>
              <a:rPr lang="fr-FR" sz="1800" dirty="0" err="1">
                <a:solidFill>
                  <a:schemeClr val="accent4"/>
                </a:solidFill>
                <a:latin typeface="Consolas" panose="020B0609020204030204" pitchFamily="49" charset="0"/>
                <a:cs typeface="Consolas" panose="020B0609020204030204" pitchFamily="49" charset="0"/>
              </a:rPr>
              <a:t>java.util</a:t>
            </a:r>
            <a:r>
              <a:rPr lang="fr-FR" sz="2000" dirty="0"/>
              <a:t>.</a:t>
            </a:r>
          </a:p>
          <a:p>
            <a:r>
              <a:rPr lang="fr-FR" sz="1800" dirty="0">
                <a:solidFill>
                  <a:schemeClr val="accent4"/>
                </a:solidFill>
                <a:latin typeface="Consolas" panose="020B0609020204030204" pitchFamily="49" charset="0"/>
                <a:cs typeface="Consolas" panose="020B0609020204030204" pitchFamily="49" charset="0"/>
              </a:rPr>
              <a:t>Collection</a:t>
            </a:r>
            <a:r>
              <a:rPr lang="fr-FR" sz="2000" dirty="0"/>
              <a:t> est la base des collections, et hérite de </a:t>
            </a:r>
            <a:r>
              <a:rPr lang="fr-FR" sz="1800" dirty="0" err="1">
                <a:solidFill>
                  <a:schemeClr val="accent4"/>
                </a:solidFill>
                <a:latin typeface="Consolas" panose="020B0609020204030204" pitchFamily="49" charset="0"/>
                <a:cs typeface="Consolas" panose="020B0609020204030204" pitchFamily="49" charset="0"/>
              </a:rPr>
              <a:t>Iterable</a:t>
            </a:r>
            <a:r>
              <a:rPr lang="fr-FR" sz="2000" dirty="0"/>
              <a:t>.</a:t>
            </a:r>
          </a:p>
          <a:p>
            <a:r>
              <a:rPr lang="fr-FR" sz="1800" dirty="0">
                <a:solidFill>
                  <a:schemeClr val="accent4"/>
                </a:solidFill>
                <a:latin typeface="Consolas" panose="020B0609020204030204" pitchFamily="49" charset="0"/>
                <a:cs typeface="Consolas" panose="020B0609020204030204" pitchFamily="49" charset="0"/>
              </a:rPr>
              <a:t>List</a:t>
            </a:r>
            <a:r>
              <a:rPr lang="fr-FR" sz="2000" dirty="0"/>
              <a:t> permet de modéliser des séquences d’éléments.</a:t>
            </a:r>
          </a:p>
          <a:p>
            <a:r>
              <a:rPr lang="fr-FR" sz="1800" dirty="0">
                <a:solidFill>
                  <a:schemeClr val="accent4"/>
                </a:solidFill>
                <a:latin typeface="Consolas" panose="020B0609020204030204" pitchFamily="49" charset="0"/>
                <a:cs typeface="Consolas" panose="020B0609020204030204" pitchFamily="49" charset="0"/>
              </a:rPr>
              <a:t>Queue</a:t>
            </a:r>
            <a:r>
              <a:rPr lang="fr-FR" sz="2000" dirty="0"/>
              <a:t> (se prononce </a:t>
            </a:r>
            <a:r>
              <a:rPr lang="fr-FR" sz="2000" dirty="0">
                <a:solidFill>
                  <a:schemeClr val="accent4"/>
                </a:solidFill>
              </a:rPr>
              <a:t>[</a:t>
            </a:r>
            <a:r>
              <a:rPr lang="fr-BE" sz="2000" dirty="0">
                <a:solidFill>
                  <a:schemeClr val="accent4"/>
                </a:solidFill>
              </a:rPr>
              <a:t>kju</a:t>
            </a:r>
            <a:r>
              <a:rPr lang="fr-FR" sz="2000" dirty="0">
                <a:solidFill>
                  <a:schemeClr val="accent4"/>
                </a:solidFill>
              </a:rPr>
              <a:t>]</a:t>
            </a:r>
            <a:r>
              <a:rPr lang="fr-FR" sz="2000" dirty="0"/>
              <a:t>) est une structure qui modélise une file d’attente (entrée d’un côté).</a:t>
            </a:r>
          </a:p>
          <a:p>
            <a:r>
              <a:rPr lang="fr-FR" sz="1800" dirty="0" err="1">
                <a:solidFill>
                  <a:schemeClr val="accent4"/>
                </a:solidFill>
                <a:latin typeface="Consolas" panose="020B0609020204030204" pitchFamily="49" charset="0"/>
                <a:cs typeface="Consolas" panose="020B0609020204030204" pitchFamily="49" charset="0"/>
              </a:rPr>
              <a:t>Deque</a:t>
            </a:r>
            <a:r>
              <a:rPr lang="fr-FR" sz="2000" dirty="0"/>
              <a:t> (</a:t>
            </a:r>
            <a:r>
              <a:rPr lang="fr-BE" sz="2000" dirty="0">
                <a:solidFill>
                  <a:schemeClr val="accent4"/>
                </a:solidFill>
              </a:rPr>
              <a:t>[</a:t>
            </a:r>
            <a:r>
              <a:rPr lang="fr-BE" sz="2000" dirty="0" err="1">
                <a:solidFill>
                  <a:schemeClr val="accent4"/>
                </a:solidFill>
              </a:rPr>
              <a:t>dɛk</a:t>
            </a:r>
            <a:r>
              <a:rPr lang="fr-BE" sz="2000" dirty="0">
                <a:solidFill>
                  <a:schemeClr val="accent4"/>
                </a:solidFill>
              </a:rPr>
              <a:t>]</a:t>
            </a:r>
            <a:r>
              <a:rPr lang="fr-FR" sz="2000" dirty="0"/>
              <a:t>) sont des files dans lesquelles les entrées peuvent se faire des deux côtés.</a:t>
            </a:r>
          </a:p>
          <a:p>
            <a:r>
              <a:rPr lang="fr-FR" sz="1800" dirty="0">
                <a:solidFill>
                  <a:schemeClr val="accent4"/>
                </a:solidFill>
                <a:latin typeface="Consolas" panose="020B0609020204030204" pitchFamily="49" charset="0"/>
                <a:cs typeface="Consolas" panose="020B0609020204030204" pitchFamily="49" charset="0"/>
              </a:rPr>
              <a:t>Set</a:t>
            </a:r>
            <a:r>
              <a:rPr lang="fr-FR" sz="2000" dirty="0"/>
              <a:t> représente un ensemble d’éléments (donc pas de doublons).</a:t>
            </a:r>
          </a:p>
          <a:p>
            <a:r>
              <a:rPr lang="fr-FR" sz="1800" dirty="0" err="1">
                <a:solidFill>
                  <a:schemeClr val="accent4"/>
                </a:solidFill>
                <a:latin typeface="Consolas" panose="020B0609020204030204" pitchFamily="49" charset="0"/>
                <a:cs typeface="Consolas" panose="020B0609020204030204" pitchFamily="49" charset="0"/>
              </a:rPr>
              <a:t>Map</a:t>
            </a:r>
            <a:r>
              <a:rPr lang="fr-FR" sz="2000" dirty="0"/>
              <a:t> contient des paires clés-valeurs dans lesquelles les clés sont uniques.</a:t>
            </a:r>
          </a:p>
          <a:p>
            <a:r>
              <a:rPr lang="fr-FR" sz="1800" dirty="0" err="1">
                <a:solidFill>
                  <a:schemeClr val="accent4"/>
                </a:solidFill>
                <a:latin typeface="Consolas" panose="020B0609020204030204" pitchFamily="49" charset="0"/>
                <a:cs typeface="Consolas" panose="020B0609020204030204" pitchFamily="49" charset="0"/>
              </a:rPr>
              <a:t>Sorted</a:t>
            </a:r>
            <a:r>
              <a:rPr lang="fr-FR" sz="1800" dirty="0">
                <a:solidFill>
                  <a:schemeClr val="accent4"/>
                </a:solidFill>
                <a:latin typeface="Consolas" panose="020B0609020204030204" pitchFamily="49" charset="0"/>
                <a:cs typeface="Consolas" panose="020B0609020204030204" pitchFamily="49" charset="0"/>
              </a:rPr>
              <a:t>...</a:t>
            </a:r>
            <a:r>
              <a:rPr lang="fr-FR" sz="2000" dirty="0"/>
              <a:t> indique que la structure reste triée.</a:t>
            </a:r>
          </a:p>
        </p:txBody>
      </p:sp>
      <p:grpSp>
        <p:nvGrpSpPr>
          <p:cNvPr id="61" name="Groupe 60">
            <a:extLst>
              <a:ext uri="{FF2B5EF4-FFF2-40B4-BE49-F238E27FC236}">
                <a16:creationId xmlns:a16="http://schemas.microsoft.com/office/drawing/2014/main" id="{26E7F202-6680-2C46-9147-912B5F7190D8}"/>
              </a:ext>
            </a:extLst>
          </p:cNvPr>
          <p:cNvGrpSpPr/>
          <p:nvPr/>
        </p:nvGrpSpPr>
        <p:grpSpPr>
          <a:xfrm>
            <a:off x="733646" y="1069556"/>
            <a:ext cx="11140901" cy="1713361"/>
            <a:chOff x="9928437" y="1813736"/>
            <a:chExt cx="6518196" cy="2267763"/>
          </a:xfrm>
        </p:grpSpPr>
        <p:grpSp>
          <p:nvGrpSpPr>
            <p:cNvPr id="14" name="Groupe 13">
              <a:extLst>
                <a:ext uri="{FF2B5EF4-FFF2-40B4-BE49-F238E27FC236}">
                  <a16:creationId xmlns:a16="http://schemas.microsoft.com/office/drawing/2014/main" id="{CA6A44DB-24F9-F64D-9A6C-37270DF12DEF}"/>
                </a:ext>
              </a:extLst>
            </p:cNvPr>
            <p:cNvGrpSpPr/>
            <p:nvPr/>
          </p:nvGrpSpPr>
          <p:grpSpPr>
            <a:xfrm>
              <a:off x="15147222" y="2978278"/>
              <a:ext cx="1299411" cy="1103221"/>
              <a:chOff x="10455844" y="3338657"/>
              <a:chExt cx="1299411" cy="1103221"/>
            </a:xfrm>
          </p:grpSpPr>
          <p:sp>
            <p:nvSpPr>
              <p:cNvPr id="8" name="ZoneTexte 7">
                <a:extLst>
                  <a:ext uri="{FF2B5EF4-FFF2-40B4-BE49-F238E27FC236}">
                    <a16:creationId xmlns:a16="http://schemas.microsoft.com/office/drawing/2014/main" id="{21D08207-20AD-B344-95DF-D362F55A6147}"/>
                  </a:ext>
                </a:extLst>
              </p:cNvPr>
              <p:cNvSpPr txBox="1"/>
              <p:nvPr/>
            </p:nvSpPr>
            <p:spPr>
              <a:xfrm>
                <a:off x="10455844" y="3338657"/>
                <a:ext cx="1299411" cy="366629"/>
              </a:xfrm>
              <a:prstGeom prst="rect">
                <a:avLst/>
              </a:prstGeom>
              <a:solidFill>
                <a:srgbClr val="FF7F0B"/>
              </a:solidFill>
            </p:spPr>
            <p:txBody>
              <a:bodyPr wrap="square" rtlCol="0" anchor="ctr">
                <a:spAutoFit/>
              </a:bodyPr>
              <a:lstStyle/>
              <a:p>
                <a:pPr algn="ctr"/>
                <a:r>
                  <a:rPr lang="fr-FR" sz="1200" b="1" dirty="0" err="1">
                    <a:latin typeface="Consolas" panose="020B0609020204030204" pitchFamily="49" charset="0"/>
                    <a:cs typeface="Consolas" panose="020B0609020204030204" pitchFamily="49" charset="0"/>
                  </a:rPr>
                  <a:t>Map</a:t>
                </a:r>
                <a:endParaRPr lang="fr-FR" sz="1200" b="1" dirty="0">
                  <a:latin typeface="Consolas" panose="020B0609020204030204" pitchFamily="49" charset="0"/>
                  <a:cs typeface="Consolas" panose="020B0609020204030204" pitchFamily="49" charset="0"/>
                </a:endParaRPr>
              </a:p>
            </p:txBody>
          </p:sp>
          <p:cxnSp>
            <p:nvCxnSpPr>
              <p:cNvPr id="9" name="Connecteur droit avec flèche 8">
                <a:extLst>
                  <a:ext uri="{FF2B5EF4-FFF2-40B4-BE49-F238E27FC236}">
                    <a16:creationId xmlns:a16="http://schemas.microsoft.com/office/drawing/2014/main" id="{7FD6A6C7-CA29-5E4B-9EF9-8352964666A8}"/>
                  </a:ext>
                </a:extLst>
              </p:cNvPr>
              <p:cNvCxnSpPr>
                <a:cxnSpLocks/>
                <a:stCxn id="10" idx="0"/>
                <a:endCxn id="8" idx="2"/>
              </p:cNvCxnSpPr>
              <p:nvPr/>
            </p:nvCxnSpPr>
            <p:spPr>
              <a:xfrm flipV="1">
                <a:off x="11105550" y="3705286"/>
                <a:ext cx="0" cy="3699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ZoneTexte 9">
                <a:extLst>
                  <a:ext uri="{FF2B5EF4-FFF2-40B4-BE49-F238E27FC236}">
                    <a16:creationId xmlns:a16="http://schemas.microsoft.com/office/drawing/2014/main" id="{5EDCC03E-799B-0A4C-848A-4C76521834C7}"/>
                  </a:ext>
                </a:extLst>
              </p:cNvPr>
              <p:cNvSpPr txBox="1"/>
              <p:nvPr/>
            </p:nvSpPr>
            <p:spPr>
              <a:xfrm>
                <a:off x="10455844" y="4075249"/>
                <a:ext cx="1299411" cy="366629"/>
              </a:xfrm>
              <a:prstGeom prst="rect">
                <a:avLst/>
              </a:prstGeom>
              <a:solidFill>
                <a:srgbClr val="FF7F0B"/>
              </a:solidFill>
            </p:spPr>
            <p:txBody>
              <a:bodyPr wrap="square" rtlCol="0" anchor="ctr">
                <a:spAutoFit/>
              </a:bodyPr>
              <a:lstStyle/>
              <a:p>
                <a:pPr algn="ctr"/>
                <a:r>
                  <a:rPr lang="fr-FR" sz="1200" b="1" dirty="0" err="1">
                    <a:latin typeface="Consolas" panose="020B0609020204030204" pitchFamily="49" charset="0"/>
                    <a:cs typeface="Consolas" panose="020B0609020204030204" pitchFamily="49" charset="0"/>
                  </a:rPr>
                  <a:t>SortedMap</a:t>
                </a:r>
                <a:endParaRPr lang="fr-FR" sz="1200" b="1" dirty="0">
                  <a:latin typeface="Consolas" panose="020B0609020204030204" pitchFamily="49" charset="0"/>
                  <a:cs typeface="Consolas" panose="020B0609020204030204" pitchFamily="49" charset="0"/>
                </a:endParaRPr>
              </a:p>
            </p:txBody>
          </p:sp>
        </p:grpSp>
        <p:grpSp>
          <p:nvGrpSpPr>
            <p:cNvPr id="58" name="Groupe 57">
              <a:extLst>
                <a:ext uri="{FF2B5EF4-FFF2-40B4-BE49-F238E27FC236}">
                  <a16:creationId xmlns:a16="http://schemas.microsoft.com/office/drawing/2014/main" id="{62C6F2D9-E904-A44C-BF1A-38ABE50BD991}"/>
                </a:ext>
              </a:extLst>
            </p:cNvPr>
            <p:cNvGrpSpPr/>
            <p:nvPr/>
          </p:nvGrpSpPr>
          <p:grpSpPr>
            <a:xfrm>
              <a:off x="9928437" y="1813736"/>
              <a:ext cx="4659580" cy="2267763"/>
              <a:chOff x="9928437" y="1813736"/>
              <a:chExt cx="4659580" cy="2267763"/>
            </a:xfrm>
          </p:grpSpPr>
          <p:cxnSp>
            <p:nvCxnSpPr>
              <p:cNvPr id="16" name="Connecteur droit avec flèche 15">
                <a:extLst>
                  <a:ext uri="{FF2B5EF4-FFF2-40B4-BE49-F238E27FC236}">
                    <a16:creationId xmlns:a16="http://schemas.microsoft.com/office/drawing/2014/main" id="{4473CF29-878D-0D4B-B316-AFE61B374357}"/>
                  </a:ext>
                </a:extLst>
              </p:cNvPr>
              <p:cNvCxnSpPr>
                <a:cxnSpLocks/>
                <a:stCxn id="19" idx="0"/>
                <a:endCxn id="31" idx="2"/>
              </p:cNvCxnSpPr>
              <p:nvPr/>
            </p:nvCxnSpPr>
            <p:spPr>
              <a:xfrm flipV="1">
                <a:off x="12258228" y="2599500"/>
                <a:ext cx="0" cy="11153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ZoneTexte 18">
                <a:extLst>
                  <a:ext uri="{FF2B5EF4-FFF2-40B4-BE49-F238E27FC236}">
                    <a16:creationId xmlns:a16="http://schemas.microsoft.com/office/drawing/2014/main" id="{9D819548-1180-7945-9017-5FB2C27A1991}"/>
                  </a:ext>
                </a:extLst>
              </p:cNvPr>
              <p:cNvSpPr txBox="1"/>
              <p:nvPr/>
            </p:nvSpPr>
            <p:spPr>
              <a:xfrm>
                <a:off x="11608522" y="3714869"/>
                <a:ext cx="1299411" cy="366629"/>
              </a:xfrm>
              <a:prstGeom prst="rect">
                <a:avLst/>
              </a:prstGeom>
              <a:solidFill>
                <a:srgbClr val="FF7F0B"/>
              </a:solidFill>
            </p:spPr>
            <p:txBody>
              <a:bodyPr wrap="square" rtlCol="0" anchor="ctr">
                <a:spAutoFit/>
              </a:bodyPr>
              <a:lstStyle/>
              <a:p>
                <a:pPr algn="ctr"/>
                <a:r>
                  <a:rPr lang="fr-FR" sz="1200" b="1" dirty="0" err="1">
                    <a:latin typeface="Consolas" panose="020B0609020204030204" pitchFamily="49" charset="0"/>
                    <a:cs typeface="Consolas" panose="020B0609020204030204" pitchFamily="49" charset="0"/>
                  </a:rPr>
                  <a:t>Deque</a:t>
                </a:r>
                <a:endParaRPr lang="fr-FR" sz="1200" b="1" dirty="0">
                  <a:latin typeface="Consolas" panose="020B0609020204030204" pitchFamily="49" charset="0"/>
                  <a:cs typeface="Consolas" panose="020B0609020204030204" pitchFamily="49" charset="0"/>
                </a:endParaRPr>
              </a:p>
            </p:txBody>
          </p:sp>
          <p:cxnSp>
            <p:nvCxnSpPr>
              <p:cNvPr id="20" name="Connecteur droit avec flèche 19">
                <a:extLst>
                  <a:ext uri="{FF2B5EF4-FFF2-40B4-BE49-F238E27FC236}">
                    <a16:creationId xmlns:a16="http://schemas.microsoft.com/office/drawing/2014/main" id="{26DE191F-5E75-774F-8765-2F9017968CC6}"/>
                  </a:ext>
                </a:extLst>
              </p:cNvPr>
              <p:cNvCxnSpPr>
                <a:cxnSpLocks/>
                <a:stCxn id="40" idx="0"/>
                <a:endCxn id="38" idx="2"/>
              </p:cNvCxnSpPr>
              <p:nvPr/>
            </p:nvCxnSpPr>
            <p:spPr>
              <a:xfrm flipV="1">
                <a:off x="13938312" y="3350781"/>
                <a:ext cx="0" cy="36408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ZoneTexte 23">
                <a:extLst>
                  <a:ext uri="{FF2B5EF4-FFF2-40B4-BE49-F238E27FC236}">
                    <a16:creationId xmlns:a16="http://schemas.microsoft.com/office/drawing/2014/main" id="{2A65E27D-EE6F-224B-9FB5-2C44672E1E3E}"/>
                  </a:ext>
                </a:extLst>
              </p:cNvPr>
              <p:cNvSpPr txBox="1"/>
              <p:nvPr/>
            </p:nvSpPr>
            <p:spPr>
              <a:xfrm>
                <a:off x="9928437" y="2984152"/>
                <a:ext cx="1299411" cy="366629"/>
              </a:xfrm>
              <a:prstGeom prst="rect">
                <a:avLst/>
              </a:prstGeom>
              <a:solidFill>
                <a:srgbClr val="FF7F0B"/>
              </a:solidFill>
            </p:spPr>
            <p:txBody>
              <a:bodyPr wrap="square" rtlCol="0" anchor="ctr">
                <a:spAutoFit/>
              </a:bodyPr>
              <a:lstStyle/>
              <a:p>
                <a:pPr algn="ctr"/>
                <a:r>
                  <a:rPr lang="fr-FR" sz="1200" b="1" dirty="0">
                    <a:latin typeface="Consolas" panose="020B0609020204030204" pitchFamily="49" charset="0"/>
                    <a:cs typeface="Consolas" panose="020B0609020204030204" pitchFamily="49" charset="0"/>
                  </a:rPr>
                  <a:t>List</a:t>
                </a:r>
              </a:p>
            </p:txBody>
          </p:sp>
          <p:sp>
            <p:nvSpPr>
              <p:cNvPr id="31" name="ZoneTexte 30">
                <a:extLst>
                  <a:ext uri="{FF2B5EF4-FFF2-40B4-BE49-F238E27FC236}">
                    <a16:creationId xmlns:a16="http://schemas.microsoft.com/office/drawing/2014/main" id="{96EB3A3A-5D81-2346-B211-E515C0175000}"/>
                  </a:ext>
                </a:extLst>
              </p:cNvPr>
              <p:cNvSpPr txBox="1"/>
              <p:nvPr/>
            </p:nvSpPr>
            <p:spPr>
              <a:xfrm>
                <a:off x="11608522" y="2232870"/>
                <a:ext cx="1299411" cy="366629"/>
              </a:xfrm>
              <a:prstGeom prst="rect">
                <a:avLst/>
              </a:prstGeom>
              <a:solidFill>
                <a:srgbClr val="FF7F0B"/>
              </a:solidFill>
            </p:spPr>
            <p:txBody>
              <a:bodyPr wrap="square" rtlCol="0" anchor="ctr">
                <a:spAutoFit/>
              </a:bodyPr>
              <a:lstStyle/>
              <a:p>
                <a:pPr algn="ctr"/>
                <a:r>
                  <a:rPr lang="fr-FR" sz="1200" b="1" dirty="0">
                    <a:latin typeface="Consolas" panose="020B0609020204030204" pitchFamily="49" charset="0"/>
                    <a:cs typeface="Consolas" panose="020B0609020204030204" pitchFamily="49" charset="0"/>
                  </a:rPr>
                  <a:t>Collection</a:t>
                </a:r>
              </a:p>
            </p:txBody>
          </p:sp>
          <p:sp>
            <p:nvSpPr>
              <p:cNvPr id="38" name="ZoneTexte 37">
                <a:extLst>
                  <a:ext uri="{FF2B5EF4-FFF2-40B4-BE49-F238E27FC236}">
                    <a16:creationId xmlns:a16="http://schemas.microsoft.com/office/drawing/2014/main" id="{A68636D5-FDCC-0243-9C75-2D457D1598DA}"/>
                  </a:ext>
                </a:extLst>
              </p:cNvPr>
              <p:cNvSpPr txBox="1"/>
              <p:nvPr/>
            </p:nvSpPr>
            <p:spPr>
              <a:xfrm>
                <a:off x="13288606" y="2984152"/>
                <a:ext cx="1299411" cy="366629"/>
              </a:xfrm>
              <a:prstGeom prst="rect">
                <a:avLst/>
              </a:prstGeom>
              <a:solidFill>
                <a:srgbClr val="FF7F0B"/>
              </a:solidFill>
            </p:spPr>
            <p:txBody>
              <a:bodyPr wrap="square" rtlCol="0" anchor="ctr">
                <a:spAutoFit/>
              </a:bodyPr>
              <a:lstStyle/>
              <a:p>
                <a:pPr algn="ctr"/>
                <a:r>
                  <a:rPr lang="fr-FR" sz="1200" b="1" dirty="0">
                    <a:latin typeface="Consolas" panose="020B0609020204030204" pitchFamily="49" charset="0"/>
                    <a:cs typeface="Consolas" panose="020B0609020204030204" pitchFamily="49" charset="0"/>
                  </a:rPr>
                  <a:t>Set</a:t>
                </a:r>
              </a:p>
            </p:txBody>
          </p:sp>
          <p:sp>
            <p:nvSpPr>
              <p:cNvPr id="40" name="ZoneTexte 39">
                <a:extLst>
                  <a:ext uri="{FF2B5EF4-FFF2-40B4-BE49-F238E27FC236}">
                    <a16:creationId xmlns:a16="http://schemas.microsoft.com/office/drawing/2014/main" id="{652CFE2E-0191-7F40-905C-E62AED7E6547}"/>
                  </a:ext>
                </a:extLst>
              </p:cNvPr>
              <p:cNvSpPr txBox="1"/>
              <p:nvPr/>
            </p:nvSpPr>
            <p:spPr>
              <a:xfrm>
                <a:off x="13288606" y="3714870"/>
                <a:ext cx="1299411" cy="366629"/>
              </a:xfrm>
              <a:prstGeom prst="rect">
                <a:avLst/>
              </a:prstGeom>
              <a:solidFill>
                <a:srgbClr val="FF7F0B"/>
              </a:solidFill>
            </p:spPr>
            <p:txBody>
              <a:bodyPr wrap="square" rtlCol="0" anchor="ctr">
                <a:spAutoFit/>
              </a:bodyPr>
              <a:lstStyle/>
              <a:p>
                <a:pPr algn="ctr"/>
                <a:r>
                  <a:rPr lang="fr-FR" sz="1200" b="1" dirty="0" err="1">
                    <a:latin typeface="Consolas" panose="020B0609020204030204" pitchFamily="49" charset="0"/>
                    <a:cs typeface="Consolas" panose="020B0609020204030204" pitchFamily="49" charset="0"/>
                  </a:rPr>
                  <a:t>SortedSet</a:t>
                </a:r>
                <a:endParaRPr lang="fr-FR" sz="1200" b="1" dirty="0">
                  <a:latin typeface="Consolas" panose="020B0609020204030204" pitchFamily="49" charset="0"/>
                  <a:cs typeface="Consolas" panose="020B0609020204030204" pitchFamily="49" charset="0"/>
                </a:endParaRPr>
              </a:p>
            </p:txBody>
          </p:sp>
          <p:sp>
            <p:nvSpPr>
              <p:cNvPr id="45" name="ZoneTexte 44">
                <a:extLst>
                  <a:ext uri="{FF2B5EF4-FFF2-40B4-BE49-F238E27FC236}">
                    <a16:creationId xmlns:a16="http://schemas.microsoft.com/office/drawing/2014/main" id="{BD2099B2-0E20-4D43-B355-6D5815F2163C}"/>
                  </a:ext>
                </a:extLst>
              </p:cNvPr>
              <p:cNvSpPr txBox="1"/>
              <p:nvPr/>
            </p:nvSpPr>
            <p:spPr>
              <a:xfrm>
                <a:off x="11608522" y="2978280"/>
                <a:ext cx="1299411" cy="366629"/>
              </a:xfrm>
              <a:prstGeom prst="rect">
                <a:avLst/>
              </a:prstGeom>
              <a:solidFill>
                <a:srgbClr val="FF7F0B"/>
              </a:solidFill>
            </p:spPr>
            <p:txBody>
              <a:bodyPr wrap="square" rtlCol="0" anchor="ctr">
                <a:spAutoFit/>
              </a:bodyPr>
              <a:lstStyle/>
              <a:p>
                <a:pPr algn="ctr"/>
                <a:r>
                  <a:rPr lang="fr-FR" sz="1200" b="1" dirty="0">
                    <a:latin typeface="Consolas" panose="020B0609020204030204" pitchFamily="49" charset="0"/>
                    <a:cs typeface="Consolas" panose="020B0609020204030204" pitchFamily="49" charset="0"/>
                  </a:rPr>
                  <a:t>Queue</a:t>
                </a:r>
              </a:p>
            </p:txBody>
          </p:sp>
          <p:cxnSp>
            <p:nvCxnSpPr>
              <p:cNvPr id="50" name="Connecteur en angle 49">
                <a:extLst>
                  <a:ext uri="{FF2B5EF4-FFF2-40B4-BE49-F238E27FC236}">
                    <a16:creationId xmlns:a16="http://schemas.microsoft.com/office/drawing/2014/main" id="{999F260D-9901-454D-8E59-460EA2F12C71}"/>
                  </a:ext>
                </a:extLst>
              </p:cNvPr>
              <p:cNvCxnSpPr>
                <a:stCxn id="31" idx="2"/>
                <a:endCxn id="24" idx="0"/>
              </p:cNvCxnSpPr>
              <p:nvPr/>
            </p:nvCxnSpPr>
            <p:spPr>
              <a:xfrm rot="5400000">
                <a:off x="11225859" y="1951784"/>
                <a:ext cx="384652" cy="1680085"/>
              </a:xfrm>
              <a:prstGeom prst="bentConnector3">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Connecteur en angle 52">
                <a:extLst>
                  <a:ext uri="{FF2B5EF4-FFF2-40B4-BE49-F238E27FC236}">
                    <a16:creationId xmlns:a16="http://schemas.microsoft.com/office/drawing/2014/main" id="{61C069FA-2F98-464C-A7E1-CFA0DDCCE8DF}"/>
                  </a:ext>
                </a:extLst>
              </p:cNvPr>
              <p:cNvCxnSpPr>
                <a:cxnSpLocks/>
                <a:stCxn id="31" idx="2"/>
                <a:endCxn id="38" idx="0"/>
              </p:cNvCxnSpPr>
              <p:nvPr/>
            </p:nvCxnSpPr>
            <p:spPr>
              <a:xfrm rot="16200000" flipH="1">
                <a:off x="12905944" y="1951784"/>
                <a:ext cx="384652" cy="1680084"/>
              </a:xfrm>
              <a:prstGeom prst="bentConnector3">
                <a:avLst>
                  <a:gd name="adj1" fmla="val 50000"/>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70" name="ZoneTexte 69">
                <a:extLst>
                  <a:ext uri="{FF2B5EF4-FFF2-40B4-BE49-F238E27FC236}">
                    <a16:creationId xmlns:a16="http://schemas.microsoft.com/office/drawing/2014/main" id="{654EED94-DACA-5D42-A288-F5797FED9D34}"/>
                  </a:ext>
                </a:extLst>
              </p:cNvPr>
              <p:cNvSpPr txBox="1"/>
              <p:nvPr/>
            </p:nvSpPr>
            <p:spPr>
              <a:xfrm>
                <a:off x="10029508" y="1813736"/>
                <a:ext cx="1299411" cy="366629"/>
              </a:xfrm>
              <a:prstGeom prst="rect">
                <a:avLst/>
              </a:prstGeom>
              <a:pattFill prst="ltUpDiag">
                <a:fgClr>
                  <a:srgbClr val="FF7F0B"/>
                </a:fgClr>
                <a:bgClr>
                  <a:srgbClr val="FFC000"/>
                </a:bgClr>
              </a:pattFill>
            </p:spPr>
            <p:txBody>
              <a:bodyPr wrap="square" rtlCol="0" anchor="ctr">
                <a:spAutoFit/>
              </a:bodyPr>
              <a:lstStyle/>
              <a:p>
                <a:pPr algn="ctr"/>
                <a:r>
                  <a:rPr lang="fr-FR" sz="1200" b="1" dirty="0" err="1">
                    <a:solidFill>
                      <a:schemeClr val="bg1"/>
                    </a:solidFill>
                    <a:latin typeface="Consolas" panose="020B0609020204030204" pitchFamily="49" charset="0"/>
                    <a:cs typeface="Consolas" panose="020B0609020204030204" pitchFamily="49" charset="0"/>
                  </a:rPr>
                  <a:t>java.lang.Iterable</a:t>
                </a:r>
                <a:endParaRPr lang="fr-FR" sz="1200" b="1" dirty="0">
                  <a:solidFill>
                    <a:schemeClr val="bg1"/>
                  </a:solidFill>
                  <a:latin typeface="Consolas" panose="020B0609020204030204" pitchFamily="49" charset="0"/>
                  <a:cs typeface="Consolas" panose="020B0609020204030204" pitchFamily="49" charset="0"/>
                </a:endParaRPr>
              </a:p>
            </p:txBody>
          </p:sp>
          <p:cxnSp>
            <p:nvCxnSpPr>
              <p:cNvPr id="72" name="Connecteur en angle 71">
                <a:extLst>
                  <a:ext uri="{FF2B5EF4-FFF2-40B4-BE49-F238E27FC236}">
                    <a16:creationId xmlns:a16="http://schemas.microsoft.com/office/drawing/2014/main" id="{49DAC360-BD84-6B41-ADE5-7601BFBE0E3C}"/>
                  </a:ext>
                </a:extLst>
              </p:cNvPr>
              <p:cNvCxnSpPr>
                <a:cxnSpLocks/>
                <a:stCxn id="70" idx="3"/>
                <a:endCxn id="31" idx="0"/>
              </p:cNvCxnSpPr>
              <p:nvPr/>
            </p:nvCxnSpPr>
            <p:spPr>
              <a:xfrm>
                <a:off x="11328919" y="1997051"/>
                <a:ext cx="929308" cy="235819"/>
              </a:xfrm>
              <a:prstGeom prst="bentConnector2">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 name="Connecteur en angle 3">
                <a:extLst>
                  <a:ext uri="{FF2B5EF4-FFF2-40B4-BE49-F238E27FC236}">
                    <a16:creationId xmlns:a16="http://schemas.microsoft.com/office/drawing/2014/main" id="{CFA1337B-8CD0-C78A-3F22-90362E8ADD27}"/>
                  </a:ext>
                </a:extLst>
              </p:cNvPr>
              <p:cNvCxnSpPr>
                <a:cxnSpLocks/>
                <a:stCxn id="45" idx="2"/>
                <a:endCxn id="19" idx="0"/>
              </p:cNvCxnSpPr>
              <p:nvPr/>
            </p:nvCxnSpPr>
            <p:spPr>
              <a:xfrm rot="5400000">
                <a:off x="12073248" y="3534578"/>
                <a:ext cx="369959" cy="7430"/>
              </a:xfrm>
              <a:prstGeom prst="bentConnector3">
                <a:avLst>
                  <a:gd name="adj1" fmla="val 50000"/>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60" name="Connecteur droit 59">
              <a:extLst>
                <a:ext uri="{FF2B5EF4-FFF2-40B4-BE49-F238E27FC236}">
                  <a16:creationId xmlns:a16="http://schemas.microsoft.com/office/drawing/2014/main" id="{A508D6F3-BA1D-1346-8D4F-44416273B001}"/>
                </a:ext>
              </a:extLst>
            </p:cNvPr>
            <p:cNvCxnSpPr>
              <a:cxnSpLocks/>
            </p:cNvCxnSpPr>
            <p:nvPr/>
          </p:nvCxnSpPr>
          <p:spPr>
            <a:xfrm>
              <a:off x="14867620" y="2163164"/>
              <a:ext cx="0" cy="1915021"/>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5" name="Espace réservé du numéro de diapositive 4">
            <a:extLst>
              <a:ext uri="{FF2B5EF4-FFF2-40B4-BE49-F238E27FC236}">
                <a16:creationId xmlns:a16="http://schemas.microsoft.com/office/drawing/2014/main" id="{13BCB5AF-1FAB-5314-11E8-235C551D9DBA}"/>
              </a:ext>
            </a:extLst>
          </p:cNvPr>
          <p:cNvSpPr>
            <a:spLocks noGrp="1"/>
          </p:cNvSpPr>
          <p:nvPr>
            <p:ph type="sldNum" sz="quarter" idx="4"/>
          </p:nvPr>
        </p:nvSpPr>
        <p:spPr/>
        <p:txBody>
          <a:bodyPr/>
          <a:lstStyle/>
          <a:p>
            <a:fld id="{33C783E2-4793-4F48-A271-51A73CC37D74}" type="slidenum">
              <a:rPr lang="fr-FR" smtClean="0"/>
              <a:t>17</a:t>
            </a:fld>
            <a:endParaRPr lang="fr-FR"/>
          </a:p>
        </p:txBody>
      </p:sp>
    </p:spTree>
    <p:extLst>
      <p:ext uri="{BB962C8B-B14F-4D97-AF65-F5344CB8AC3E}">
        <p14:creationId xmlns:p14="http://schemas.microsoft.com/office/powerpoint/2010/main" val="13768059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Les Interfaces: Collection</a:t>
            </a:r>
          </a:p>
        </p:txBody>
      </p:sp>
      <p:sp>
        <p:nvSpPr>
          <p:cNvPr id="3" name="Espace réservé du contenu 2"/>
          <p:cNvSpPr>
            <a:spLocks noGrp="1"/>
          </p:cNvSpPr>
          <p:nvPr>
            <p:ph idx="1"/>
          </p:nvPr>
        </p:nvSpPr>
        <p:spPr>
          <a:xfrm>
            <a:off x="838199" y="1825625"/>
            <a:ext cx="10879139" cy="4351338"/>
          </a:xfrm>
        </p:spPr>
        <p:txBody>
          <a:bodyPr>
            <a:normAutofit/>
          </a:bodyPr>
          <a:lstStyle/>
          <a:p>
            <a:pPr marL="0" indent="0">
              <a:buNone/>
            </a:pPr>
            <a:r>
              <a:rPr lang="fr-FR" sz="2000" dirty="0"/>
              <a:t>Une </a:t>
            </a:r>
            <a:r>
              <a:rPr lang="fr-FR" sz="2000" dirty="0">
                <a:solidFill>
                  <a:schemeClr val="accent4"/>
                </a:solidFill>
              </a:rPr>
              <a:t>Collection</a:t>
            </a:r>
            <a:r>
              <a:rPr lang="fr-FR" sz="2000" dirty="0"/>
              <a:t> représente un groupe d'objets (ses éléments).</a:t>
            </a:r>
          </a:p>
          <a:p>
            <a:pPr marL="274320" lvl="1" indent="0">
              <a:buNone/>
            </a:pPr>
            <a:r>
              <a:rPr lang="fr-FR" sz="1800" dirty="0">
                <a:solidFill>
                  <a:schemeClr val="accent4"/>
                </a:solidFill>
                <a:latin typeface="Consolas" charset="0"/>
                <a:ea typeface="Consolas" charset="0"/>
                <a:cs typeface="Consolas" charset="0"/>
              </a:rPr>
              <a:t>public interface Collection&lt;E&gt; </a:t>
            </a:r>
            <a:r>
              <a:rPr lang="fr-FR" sz="1800" dirty="0" err="1">
                <a:solidFill>
                  <a:schemeClr val="accent4"/>
                </a:solidFill>
                <a:latin typeface="Consolas" charset="0"/>
                <a:ea typeface="Consolas" charset="0"/>
                <a:cs typeface="Consolas" charset="0"/>
              </a:rPr>
              <a:t>extends</a:t>
            </a:r>
            <a:r>
              <a:rPr lang="fr-FR" sz="1800" dirty="0">
                <a:solidFill>
                  <a:schemeClr val="accent4"/>
                </a:solidFill>
                <a:latin typeface="Consolas" charset="0"/>
                <a:ea typeface="Consolas" charset="0"/>
                <a:cs typeface="Consolas" charset="0"/>
              </a:rPr>
              <a:t> </a:t>
            </a:r>
            <a:r>
              <a:rPr lang="fr-FR" sz="1800" dirty="0" err="1">
                <a:solidFill>
                  <a:schemeClr val="accent4"/>
                </a:solidFill>
                <a:latin typeface="Consolas" charset="0"/>
                <a:ea typeface="Consolas" charset="0"/>
                <a:cs typeface="Consolas" charset="0"/>
              </a:rPr>
              <a:t>Iterable</a:t>
            </a:r>
            <a:r>
              <a:rPr lang="fr-FR" sz="1800" dirty="0">
                <a:solidFill>
                  <a:schemeClr val="accent4"/>
                </a:solidFill>
                <a:latin typeface="Consolas" charset="0"/>
                <a:ea typeface="Consolas" charset="0"/>
                <a:cs typeface="Consolas" charset="0"/>
              </a:rPr>
              <a:t>&lt;E&gt;</a:t>
            </a:r>
          </a:p>
          <a:p>
            <a:pPr marL="0" indent="0">
              <a:buNone/>
            </a:pPr>
            <a:endParaRPr lang="fr-FR" sz="2000" dirty="0"/>
          </a:p>
          <a:p>
            <a:pPr marL="0" indent="0">
              <a:buNone/>
            </a:pPr>
            <a:r>
              <a:rPr lang="fr-FR" sz="2000" dirty="0"/>
              <a:t>On trouve dans cette interface quelques méthodes intéressantes:</a:t>
            </a:r>
          </a:p>
          <a:p>
            <a:pPr marL="342900" indent="-342900">
              <a:buFont typeface="Arial" charset="0"/>
              <a:buChar char="•"/>
            </a:pPr>
            <a:r>
              <a:rPr lang="fr-FR" sz="1800" dirty="0" err="1">
                <a:solidFill>
                  <a:schemeClr val="accent4"/>
                </a:solidFill>
                <a:latin typeface="Consolas" charset="0"/>
                <a:ea typeface="Consolas" charset="0"/>
                <a:cs typeface="Consolas" charset="0"/>
              </a:rPr>
              <a:t>boolean</a:t>
            </a:r>
            <a:r>
              <a:rPr lang="fr-FR" sz="1800" dirty="0">
                <a:solidFill>
                  <a:schemeClr val="accent4"/>
                </a:solidFill>
                <a:latin typeface="Consolas" charset="0"/>
                <a:ea typeface="Consolas" charset="0"/>
                <a:cs typeface="Consolas" charset="0"/>
              </a:rPr>
              <a:t> </a:t>
            </a:r>
            <a:r>
              <a:rPr lang="fr-FR" sz="1800" dirty="0" err="1">
                <a:solidFill>
                  <a:schemeClr val="accent4"/>
                </a:solidFill>
                <a:latin typeface="Consolas" charset="0"/>
                <a:ea typeface="Consolas" charset="0"/>
                <a:cs typeface="Consolas" charset="0"/>
              </a:rPr>
              <a:t>add</a:t>
            </a:r>
            <a:r>
              <a:rPr lang="fr-FR" sz="1800" dirty="0">
                <a:solidFill>
                  <a:schemeClr val="accent4"/>
                </a:solidFill>
                <a:latin typeface="Consolas" charset="0"/>
                <a:ea typeface="Consolas" charset="0"/>
                <a:cs typeface="Consolas" charset="0"/>
              </a:rPr>
              <a:t>(E e)</a:t>
            </a:r>
            <a:r>
              <a:rPr lang="fr-FR" sz="2000" dirty="0"/>
              <a:t> et </a:t>
            </a:r>
            <a:r>
              <a:rPr lang="fr-FR" sz="1800" dirty="0" err="1">
                <a:solidFill>
                  <a:schemeClr val="accent4"/>
                </a:solidFill>
                <a:latin typeface="Consolas" charset="0"/>
                <a:ea typeface="Consolas" charset="0"/>
                <a:cs typeface="Consolas" charset="0"/>
              </a:rPr>
              <a:t>addAll</a:t>
            </a:r>
            <a:r>
              <a:rPr lang="fr-FR" sz="1800" dirty="0">
                <a:solidFill>
                  <a:schemeClr val="accent4"/>
                </a:solidFill>
                <a:latin typeface="Consolas" charset="0"/>
                <a:ea typeface="Consolas" charset="0"/>
                <a:cs typeface="Consolas" charset="0"/>
              </a:rPr>
              <a:t>(Collection&lt;E&gt; c)</a:t>
            </a:r>
            <a:endParaRPr lang="fr-FR" sz="2000" dirty="0">
              <a:solidFill>
                <a:schemeClr val="accent4"/>
              </a:solidFill>
              <a:latin typeface="Consolas" charset="0"/>
              <a:ea typeface="Consolas" charset="0"/>
              <a:cs typeface="Consolas" charset="0"/>
            </a:endParaRPr>
          </a:p>
          <a:p>
            <a:pPr marL="342900" indent="-342900">
              <a:buFont typeface="Arial" charset="0"/>
              <a:buChar char="•"/>
            </a:pPr>
            <a:r>
              <a:rPr lang="fr-FR" sz="1800" dirty="0" err="1">
                <a:solidFill>
                  <a:schemeClr val="accent4"/>
                </a:solidFill>
                <a:latin typeface="Consolas" charset="0"/>
                <a:ea typeface="Consolas" charset="0"/>
                <a:cs typeface="Consolas" charset="0"/>
              </a:rPr>
              <a:t>boolean</a:t>
            </a:r>
            <a:r>
              <a:rPr lang="fr-FR" sz="1800" dirty="0">
                <a:solidFill>
                  <a:schemeClr val="accent4"/>
                </a:solidFill>
                <a:latin typeface="Consolas" charset="0"/>
                <a:ea typeface="Consolas" charset="0"/>
                <a:cs typeface="Consolas" charset="0"/>
              </a:rPr>
              <a:t> </a:t>
            </a:r>
            <a:r>
              <a:rPr lang="fr-FR" sz="1800" dirty="0" err="1">
                <a:solidFill>
                  <a:schemeClr val="accent4"/>
                </a:solidFill>
                <a:latin typeface="Consolas" charset="0"/>
                <a:ea typeface="Consolas" charset="0"/>
                <a:cs typeface="Consolas" charset="0"/>
              </a:rPr>
              <a:t>remove</a:t>
            </a:r>
            <a:r>
              <a:rPr lang="fr-FR" sz="1800" dirty="0">
                <a:solidFill>
                  <a:schemeClr val="accent4"/>
                </a:solidFill>
                <a:latin typeface="Consolas" charset="0"/>
                <a:ea typeface="Consolas" charset="0"/>
                <a:cs typeface="Consolas" charset="0"/>
              </a:rPr>
              <a:t>(E e)</a:t>
            </a:r>
            <a:r>
              <a:rPr lang="fr-FR" sz="2000" dirty="0"/>
              <a:t> et </a:t>
            </a:r>
            <a:r>
              <a:rPr lang="fr-FR" sz="1800" dirty="0" err="1">
                <a:solidFill>
                  <a:schemeClr val="accent4"/>
                </a:solidFill>
                <a:latin typeface="Consolas" charset="0"/>
                <a:ea typeface="Consolas" charset="0"/>
                <a:cs typeface="Consolas" charset="0"/>
              </a:rPr>
              <a:t>removeAll</a:t>
            </a:r>
            <a:r>
              <a:rPr lang="fr-FR" sz="1800" dirty="0">
                <a:solidFill>
                  <a:schemeClr val="accent4"/>
                </a:solidFill>
                <a:latin typeface="Consolas" charset="0"/>
                <a:ea typeface="Consolas" charset="0"/>
                <a:cs typeface="Consolas" charset="0"/>
              </a:rPr>
              <a:t>(Collection&lt;E&gt; c)</a:t>
            </a:r>
          </a:p>
          <a:p>
            <a:pPr marL="342900" indent="-342900">
              <a:buFont typeface="Arial" charset="0"/>
              <a:buChar char="•"/>
            </a:pPr>
            <a:r>
              <a:rPr lang="fr-FR" sz="1800" dirty="0" err="1">
                <a:solidFill>
                  <a:schemeClr val="accent4"/>
                </a:solidFill>
                <a:latin typeface="Consolas" charset="0"/>
                <a:ea typeface="Consolas" charset="0"/>
                <a:cs typeface="Consolas" charset="0"/>
              </a:rPr>
              <a:t>boolean</a:t>
            </a:r>
            <a:r>
              <a:rPr lang="fr-FR" sz="1800" dirty="0">
                <a:solidFill>
                  <a:schemeClr val="accent4"/>
                </a:solidFill>
                <a:latin typeface="Consolas" charset="0"/>
                <a:ea typeface="Consolas" charset="0"/>
                <a:cs typeface="Consolas" charset="0"/>
              </a:rPr>
              <a:t> </a:t>
            </a:r>
            <a:r>
              <a:rPr lang="fr-FR" sz="1800" dirty="0" err="1">
                <a:solidFill>
                  <a:schemeClr val="accent4"/>
                </a:solidFill>
                <a:latin typeface="Consolas" charset="0"/>
                <a:ea typeface="Consolas" charset="0"/>
                <a:cs typeface="Consolas" charset="0"/>
              </a:rPr>
              <a:t>retainAll</a:t>
            </a:r>
            <a:r>
              <a:rPr lang="fr-FR" sz="1800" dirty="0">
                <a:solidFill>
                  <a:schemeClr val="accent4"/>
                </a:solidFill>
                <a:latin typeface="Consolas" charset="0"/>
                <a:ea typeface="Consolas" charset="0"/>
                <a:cs typeface="Consolas" charset="0"/>
              </a:rPr>
              <a:t>(Collection&lt;E&gt; c)</a:t>
            </a:r>
            <a:r>
              <a:rPr lang="fr-FR" sz="2000" dirty="0"/>
              <a:t>: retire de la collection les éléments qui ne sont pas dans </a:t>
            </a:r>
            <a:r>
              <a:rPr lang="fr-FR" sz="2000" dirty="0">
                <a:solidFill>
                  <a:schemeClr val="accent4"/>
                </a:solidFill>
                <a:latin typeface="Consolas" charset="0"/>
                <a:ea typeface="Consolas" charset="0"/>
                <a:cs typeface="Consolas" charset="0"/>
              </a:rPr>
              <a:t>c</a:t>
            </a:r>
            <a:endParaRPr lang="fr-FR" sz="2000" dirty="0"/>
          </a:p>
          <a:p>
            <a:pPr marL="342900" indent="-342900">
              <a:buFont typeface="Arial" charset="0"/>
              <a:buChar char="•"/>
            </a:pPr>
            <a:r>
              <a:rPr lang="fr-FR" sz="1800" dirty="0" err="1">
                <a:solidFill>
                  <a:schemeClr val="accent4"/>
                </a:solidFill>
                <a:latin typeface="Consolas" charset="0"/>
                <a:ea typeface="Consolas" charset="0"/>
                <a:cs typeface="Consolas" charset="0"/>
              </a:rPr>
              <a:t>void</a:t>
            </a:r>
            <a:r>
              <a:rPr lang="fr-FR" sz="1800" dirty="0">
                <a:solidFill>
                  <a:schemeClr val="accent4"/>
                </a:solidFill>
                <a:latin typeface="Consolas" charset="0"/>
                <a:ea typeface="Consolas" charset="0"/>
                <a:cs typeface="Consolas" charset="0"/>
              </a:rPr>
              <a:t> </a:t>
            </a:r>
            <a:r>
              <a:rPr lang="fr-FR" sz="1800" dirty="0" err="1">
                <a:solidFill>
                  <a:schemeClr val="accent4"/>
                </a:solidFill>
                <a:latin typeface="Consolas" charset="0"/>
                <a:ea typeface="Consolas" charset="0"/>
                <a:cs typeface="Consolas" charset="0"/>
              </a:rPr>
              <a:t>clear</a:t>
            </a:r>
            <a:r>
              <a:rPr lang="fr-FR" sz="1800" dirty="0">
                <a:solidFill>
                  <a:schemeClr val="accent4"/>
                </a:solidFill>
                <a:latin typeface="Consolas" charset="0"/>
                <a:ea typeface="Consolas" charset="0"/>
                <a:cs typeface="Consolas" charset="0"/>
              </a:rPr>
              <a:t>()</a:t>
            </a:r>
          </a:p>
          <a:p>
            <a:pPr marL="342900" indent="-342900">
              <a:buFont typeface="Arial" charset="0"/>
              <a:buChar char="•"/>
            </a:pPr>
            <a:r>
              <a:rPr lang="fr-FR" sz="1800" dirty="0" err="1">
                <a:solidFill>
                  <a:schemeClr val="accent4"/>
                </a:solidFill>
                <a:latin typeface="Consolas" charset="0"/>
                <a:ea typeface="Consolas" charset="0"/>
                <a:cs typeface="Consolas" charset="0"/>
              </a:rPr>
              <a:t>boolean</a:t>
            </a:r>
            <a:r>
              <a:rPr lang="fr-FR" sz="1800" dirty="0">
                <a:solidFill>
                  <a:schemeClr val="accent4"/>
                </a:solidFill>
                <a:latin typeface="Consolas" charset="0"/>
                <a:ea typeface="Consolas" charset="0"/>
                <a:cs typeface="Consolas" charset="0"/>
              </a:rPr>
              <a:t> </a:t>
            </a:r>
            <a:r>
              <a:rPr lang="fr-FR" sz="1800" dirty="0" err="1">
                <a:solidFill>
                  <a:schemeClr val="accent4"/>
                </a:solidFill>
                <a:latin typeface="Consolas" charset="0"/>
                <a:ea typeface="Consolas" charset="0"/>
                <a:cs typeface="Consolas" charset="0"/>
              </a:rPr>
              <a:t>contains</a:t>
            </a:r>
            <a:r>
              <a:rPr lang="fr-FR" sz="1800" dirty="0">
                <a:solidFill>
                  <a:schemeClr val="accent4"/>
                </a:solidFill>
                <a:latin typeface="Consolas" charset="0"/>
                <a:ea typeface="Consolas" charset="0"/>
                <a:cs typeface="Consolas" charset="0"/>
              </a:rPr>
              <a:t>(Object o)</a:t>
            </a:r>
            <a:r>
              <a:rPr lang="fr-FR" sz="2000" dirty="0"/>
              <a:t> et </a:t>
            </a:r>
            <a:r>
              <a:rPr lang="fr-FR" sz="1800" dirty="0" err="1">
                <a:solidFill>
                  <a:schemeClr val="accent4"/>
                </a:solidFill>
                <a:latin typeface="Consolas" charset="0"/>
                <a:ea typeface="Consolas" charset="0"/>
                <a:cs typeface="Consolas" charset="0"/>
              </a:rPr>
              <a:t>containsAll</a:t>
            </a:r>
            <a:r>
              <a:rPr lang="fr-FR" sz="1800" dirty="0">
                <a:solidFill>
                  <a:schemeClr val="accent4"/>
                </a:solidFill>
                <a:latin typeface="Consolas" charset="0"/>
                <a:ea typeface="Consolas" charset="0"/>
                <a:cs typeface="Consolas" charset="0"/>
              </a:rPr>
              <a:t>(Collection&lt;E&gt; c)</a:t>
            </a:r>
          </a:p>
          <a:p>
            <a:pPr marL="342900" indent="-342900">
              <a:buFont typeface="Arial" charset="0"/>
              <a:buChar char="•"/>
            </a:pPr>
            <a:r>
              <a:rPr lang="fr-FR" sz="1800" dirty="0" err="1">
                <a:solidFill>
                  <a:schemeClr val="accent4"/>
                </a:solidFill>
                <a:latin typeface="Consolas" charset="0"/>
                <a:ea typeface="Consolas" charset="0"/>
                <a:cs typeface="Consolas" charset="0"/>
              </a:rPr>
              <a:t>boolean</a:t>
            </a:r>
            <a:r>
              <a:rPr lang="fr-FR" sz="1800" dirty="0">
                <a:solidFill>
                  <a:schemeClr val="accent4"/>
                </a:solidFill>
                <a:latin typeface="Consolas" charset="0"/>
                <a:ea typeface="Consolas" charset="0"/>
                <a:cs typeface="Consolas" charset="0"/>
              </a:rPr>
              <a:t> </a:t>
            </a:r>
            <a:r>
              <a:rPr lang="fr-FR" sz="1800" dirty="0" err="1">
                <a:solidFill>
                  <a:schemeClr val="accent4"/>
                </a:solidFill>
                <a:latin typeface="Consolas" charset="0"/>
                <a:ea typeface="Consolas" charset="0"/>
                <a:cs typeface="Consolas" charset="0"/>
              </a:rPr>
              <a:t>isEmpty</a:t>
            </a:r>
            <a:r>
              <a:rPr lang="fr-FR" sz="1800" dirty="0">
                <a:solidFill>
                  <a:schemeClr val="accent4"/>
                </a:solidFill>
                <a:latin typeface="Consolas" charset="0"/>
                <a:ea typeface="Consolas" charset="0"/>
                <a:cs typeface="Consolas" charset="0"/>
              </a:rPr>
              <a:t>(), </a:t>
            </a:r>
            <a:r>
              <a:rPr lang="fr-FR" sz="1800" dirty="0" err="1">
                <a:solidFill>
                  <a:schemeClr val="accent4"/>
                </a:solidFill>
                <a:latin typeface="Consolas" charset="0"/>
                <a:ea typeface="Consolas" charset="0"/>
                <a:cs typeface="Consolas" charset="0"/>
              </a:rPr>
              <a:t>int</a:t>
            </a:r>
            <a:r>
              <a:rPr lang="fr-FR" sz="1800" dirty="0">
                <a:solidFill>
                  <a:schemeClr val="accent4"/>
                </a:solidFill>
                <a:latin typeface="Consolas" charset="0"/>
                <a:ea typeface="Consolas" charset="0"/>
                <a:cs typeface="Consolas" charset="0"/>
              </a:rPr>
              <a:t> size()</a:t>
            </a:r>
          </a:p>
          <a:p>
            <a:pPr marL="342900" indent="-342900">
              <a:buFont typeface="Arial" charset="0"/>
              <a:buChar char="•"/>
            </a:pPr>
            <a:r>
              <a:rPr lang="fr-FR" sz="1800" dirty="0" err="1">
                <a:solidFill>
                  <a:schemeClr val="accent4"/>
                </a:solidFill>
                <a:latin typeface="Consolas" charset="0"/>
                <a:ea typeface="Consolas" charset="0"/>
                <a:cs typeface="Consolas" charset="0"/>
              </a:rPr>
              <a:t>Iterator</a:t>
            </a:r>
            <a:r>
              <a:rPr lang="fr-FR" sz="1800" dirty="0">
                <a:solidFill>
                  <a:schemeClr val="accent4"/>
                </a:solidFill>
                <a:latin typeface="Consolas" charset="0"/>
                <a:ea typeface="Consolas" charset="0"/>
                <a:cs typeface="Consolas" charset="0"/>
              </a:rPr>
              <a:t>&lt;E&gt; </a:t>
            </a:r>
            <a:r>
              <a:rPr lang="fr-FR" sz="1800" dirty="0" err="1">
                <a:solidFill>
                  <a:schemeClr val="accent4"/>
                </a:solidFill>
                <a:latin typeface="Consolas" charset="0"/>
                <a:ea typeface="Consolas" charset="0"/>
                <a:cs typeface="Consolas" charset="0"/>
              </a:rPr>
              <a:t>iterator</a:t>
            </a:r>
            <a:r>
              <a:rPr lang="fr-FR" sz="1800" dirty="0">
                <a:solidFill>
                  <a:schemeClr val="accent4"/>
                </a:solidFill>
                <a:latin typeface="Consolas" charset="0"/>
                <a:ea typeface="Consolas" charset="0"/>
                <a:cs typeface="Consolas" charset="0"/>
              </a:rPr>
              <a:t>()</a:t>
            </a:r>
            <a:r>
              <a:rPr lang="fr-FR" sz="2000" dirty="0"/>
              <a:t> et </a:t>
            </a:r>
            <a:r>
              <a:rPr lang="fr-FR" sz="1800" dirty="0">
                <a:solidFill>
                  <a:schemeClr val="accent4"/>
                </a:solidFill>
                <a:latin typeface="Consolas" charset="0"/>
                <a:ea typeface="Consolas" charset="0"/>
                <a:cs typeface="Consolas" charset="0"/>
              </a:rPr>
              <a:t>Object[] </a:t>
            </a:r>
            <a:r>
              <a:rPr lang="fr-FR" sz="1800" dirty="0" err="1">
                <a:solidFill>
                  <a:schemeClr val="accent4"/>
                </a:solidFill>
                <a:latin typeface="Consolas" charset="0"/>
                <a:ea typeface="Consolas" charset="0"/>
                <a:cs typeface="Consolas" charset="0"/>
              </a:rPr>
              <a:t>toArray</a:t>
            </a:r>
            <a:r>
              <a:rPr lang="fr-FR" sz="1800" dirty="0">
                <a:solidFill>
                  <a:schemeClr val="accent4"/>
                </a:solidFill>
                <a:latin typeface="Consolas" charset="0"/>
                <a:ea typeface="Consolas" charset="0"/>
                <a:cs typeface="Consolas" charset="0"/>
              </a:rPr>
              <a:t>()</a:t>
            </a:r>
          </a:p>
        </p:txBody>
      </p:sp>
      <p:sp>
        <p:nvSpPr>
          <p:cNvPr id="6" name="ZoneTexte 5">
            <a:extLst>
              <a:ext uri="{FF2B5EF4-FFF2-40B4-BE49-F238E27FC236}">
                <a16:creationId xmlns:a16="http://schemas.microsoft.com/office/drawing/2014/main" id="{0515F410-8407-FE59-2EC1-18453D38A74A}"/>
              </a:ext>
            </a:extLst>
          </p:cNvPr>
          <p:cNvSpPr txBox="1"/>
          <p:nvPr/>
        </p:nvSpPr>
        <p:spPr>
          <a:xfrm>
            <a:off x="9421256" y="346526"/>
            <a:ext cx="2220953" cy="369332"/>
          </a:xfrm>
          <a:prstGeom prst="rect">
            <a:avLst/>
          </a:prstGeom>
          <a:solidFill>
            <a:srgbClr val="FF7F0B"/>
          </a:solidFill>
        </p:spPr>
        <p:txBody>
          <a:bodyPr wrap="square" rtlCol="0" anchor="ctr">
            <a:spAutoFit/>
          </a:bodyPr>
          <a:lstStyle/>
          <a:p>
            <a:pPr algn="ctr"/>
            <a:r>
              <a:rPr lang="fr-FR" b="1" dirty="0">
                <a:latin typeface="Consolas" panose="020B0609020204030204" pitchFamily="49" charset="0"/>
                <a:cs typeface="Consolas" panose="020B0609020204030204" pitchFamily="49" charset="0"/>
              </a:rPr>
              <a:t>Collection</a:t>
            </a:r>
          </a:p>
        </p:txBody>
      </p:sp>
      <p:grpSp>
        <p:nvGrpSpPr>
          <p:cNvPr id="13" name="Groupe 12">
            <a:extLst>
              <a:ext uri="{FF2B5EF4-FFF2-40B4-BE49-F238E27FC236}">
                <a16:creationId xmlns:a16="http://schemas.microsoft.com/office/drawing/2014/main" id="{89C53031-A248-5829-EC6E-B8E568C8F2F1}"/>
              </a:ext>
            </a:extLst>
          </p:cNvPr>
          <p:cNvGrpSpPr/>
          <p:nvPr/>
        </p:nvGrpSpPr>
        <p:grpSpPr>
          <a:xfrm>
            <a:off x="9421257" y="1128180"/>
            <a:ext cx="1346176" cy="758652"/>
            <a:chOff x="8675649" y="1023274"/>
            <a:chExt cx="1856083" cy="1046017"/>
          </a:xfrm>
        </p:grpSpPr>
        <p:sp>
          <p:nvSpPr>
            <p:cNvPr id="10" name="Rectangle : coins arrondis 9">
              <a:extLst>
                <a:ext uri="{FF2B5EF4-FFF2-40B4-BE49-F238E27FC236}">
                  <a16:creationId xmlns:a16="http://schemas.microsoft.com/office/drawing/2014/main" id="{1D3B7731-63DD-CEC9-DA97-DE698A07B225}"/>
                </a:ext>
              </a:extLst>
            </p:cNvPr>
            <p:cNvSpPr/>
            <p:nvPr/>
          </p:nvSpPr>
          <p:spPr>
            <a:xfrm>
              <a:off x="8675649" y="1023274"/>
              <a:ext cx="1856083" cy="1046017"/>
            </a:xfrm>
            <a:prstGeom prst="roundRect">
              <a:avLst/>
            </a:prstGeom>
            <a:solidFill>
              <a:srgbClr val="FF7E0B"/>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llipse 6">
              <a:extLst>
                <a:ext uri="{FF2B5EF4-FFF2-40B4-BE49-F238E27FC236}">
                  <a16:creationId xmlns:a16="http://schemas.microsoft.com/office/drawing/2014/main" id="{321C6CF4-E66E-CCC7-5D43-BDAB710CAF19}"/>
                </a:ext>
              </a:extLst>
            </p:cNvPr>
            <p:cNvSpPr/>
            <p:nvPr/>
          </p:nvSpPr>
          <p:spPr>
            <a:xfrm>
              <a:off x="8927006" y="1147158"/>
              <a:ext cx="360000" cy="360000"/>
            </a:xfrm>
            <a:prstGeom prst="ellipse">
              <a:avLst/>
            </a:prstGeom>
            <a:solidFill>
              <a:schemeClr val="accent2">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id="{024CBC45-10F1-61B9-F360-562339996723}"/>
                </a:ext>
              </a:extLst>
            </p:cNvPr>
            <p:cNvSpPr/>
            <p:nvPr/>
          </p:nvSpPr>
          <p:spPr>
            <a:xfrm>
              <a:off x="8809463" y="1597781"/>
              <a:ext cx="360000" cy="360000"/>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8B8CED95-9185-E818-605C-A7350506287A}"/>
                </a:ext>
              </a:extLst>
            </p:cNvPr>
            <p:cNvSpPr/>
            <p:nvPr/>
          </p:nvSpPr>
          <p:spPr>
            <a:xfrm>
              <a:off x="9490597" y="1131917"/>
              <a:ext cx="360000" cy="360000"/>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A0B01B6C-2DBA-456A-89B2-6FA46ABA7BA1}"/>
                </a:ext>
              </a:extLst>
            </p:cNvPr>
            <p:cNvSpPr/>
            <p:nvPr/>
          </p:nvSpPr>
          <p:spPr>
            <a:xfrm>
              <a:off x="9560665" y="1597781"/>
              <a:ext cx="360000" cy="360000"/>
            </a:xfrm>
            <a:prstGeom prst="ellipse">
              <a:avLst/>
            </a:prstGeom>
            <a:solidFill>
              <a:schemeClr val="accent6">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llipse 11">
              <a:extLst>
                <a:ext uri="{FF2B5EF4-FFF2-40B4-BE49-F238E27FC236}">
                  <a16:creationId xmlns:a16="http://schemas.microsoft.com/office/drawing/2014/main" id="{4BBB9D35-9934-C2C4-BDA2-358706598132}"/>
                </a:ext>
              </a:extLst>
            </p:cNvPr>
            <p:cNvSpPr/>
            <p:nvPr/>
          </p:nvSpPr>
          <p:spPr>
            <a:xfrm>
              <a:off x="9975958" y="1469061"/>
              <a:ext cx="360000" cy="360000"/>
            </a:xfrm>
            <a:prstGeom prst="ellipse">
              <a:avLst/>
            </a:prstGeom>
            <a:solidFill>
              <a:schemeClr val="accent5">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4" name="Espace réservé du numéro de diapositive 3">
            <a:extLst>
              <a:ext uri="{FF2B5EF4-FFF2-40B4-BE49-F238E27FC236}">
                <a16:creationId xmlns:a16="http://schemas.microsoft.com/office/drawing/2014/main" id="{211AA234-B48E-ACFE-0202-2DE9C54E3AC7}"/>
              </a:ext>
            </a:extLst>
          </p:cNvPr>
          <p:cNvSpPr>
            <a:spLocks noGrp="1"/>
          </p:cNvSpPr>
          <p:nvPr>
            <p:ph type="sldNum" sz="quarter" idx="4"/>
          </p:nvPr>
        </p:nvSpPr>
        <p:spPr/>
        <p:txBody>
          <a:bodyPr/>
          <a:lstStyle/>
          <a:p>
            <a:fld id="{33C783E2-4793-4F48-A271-51A73CC37D74}" type="slidenum">
              <a:rPr lang="fr-FR" smtClean="0"/>
              <a:t>18</a:t>
            </a:fld>
            <a:endParaRPr lang="fr-FR"/>
          </a:p>
        </p:txBody>
      </p:sp>
    </p:spTree>
    <p:extLst>
      <p:ext uri="{BB962C8B-B14F-4D97-AF65-F5344CB8AC3E}">
        <p14:creationId xmlns:p14="http://schemas.microsoft.com/office/powerpoint/2010/main" val="21408294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Les Interfaces: List</a:t>
            </a:r>
          </a:p>
        </p:txBody>
      </p:sp>
      <p:sp>
        <p:nvSpPr>
          <p:cNvPr id="3" name="Espace réservé du contenu 2"/>
          <p:cNvSpPr>
            <a:spLocks noGrp="1"/>
          </p:cNvSpPr>
          <p:nvPr>
            <p:ph idx="1"/>
          </p:nvPr>
        </p:nvSpPr>
        <p:spPr>
          <a:xfrm>
            <a:off x="838200" y="1825625"/>
            <a:ext cx="10713720" cy="4351338"/>
          </a:xfrm>
        </p:spPr>
        <p:txBody>
          <a:bodyPr>
            <a:normAutofit lnSpcReduction="10000"/>
          </a:bodyPr>
          <a:lstStyle/>
          <a:p>
            <a:pPr marL="0" indent="0">
              <a:buNone/>
            </a:pPr>
            <a:r>
              <a:rPr lang="fr-FR" sz="2000" dirty="0"/>
              <a:t>Une </a:t>
            </a:r>
            <a:r>
              <a:rPr lang="fr-FR" sz="2000" dirty="0">
                <a:solidFill>
                  <a:schemeClr val="accent4"/>
                </a:solidFill>
              </a:rPr>
              <a:t>List</a:t>
            </a:r>
            <a:r>
              <a:rPr lang="fr-FR" sz="2000" dirty="0"/>
              <a:t> représente une collection ordonnée d’éléments.</a:t>
            </a:r>
          </a:p>
          <a:p>
            <a:pPr marL="274320" lvl="1" indent="0">
              <a:buNone/>
            </a:pPr>
            <a:r>
              <a:rPr lang="fr-FR" sz="1800" dirty="0">
                <a:solidFill>
                  <a:schemeClr val="accent4"/>
                </a:solidFill>
                <a:latin typeface="Consolas" charset="0"/>
                <a:ea typeface="Consolas" charset="0"/>
                <a:cs typeface="Consolas" charset="0"/>
              </a:rPr>
              <a:t>public interface List&lt;E&gt; </a:t>
            </a:r>
            <a:r>
              <a:rPr lang="fr-FR" sz="1800" dirty="0" err="1">
                <a:solidFill>
                  <a:schemeClr val="accent4"/>
                </a:solidFill>
                <a:latin typeface="Consolas" charset="0"/>
                <a:ea typeface="Consolas" charset="0"/>
                <a:cs typeface="Consolas" charset="0"/>
              </a:rPr>
              <a:t>extends</a:t>
            </a:r>
            <a:r>
              <a:rPr lang="fr-FR" sz="1800" dirty="0">
                <a:solidFill>
                  <a:schemeClr val="accent4"/>
                </a:solidFill>
                <a:latin typeface="Consolas" charset="0"/>
                <a:ea typeface="Consolas" charset="0"/>
                <a:cs typeface="Consolas" charset="0"/>
              </a:rPr>
              <a:t> Collection&lt;E&gt;</a:t>
            </a:r>
          </a:p>
          <a:p>
            <a:pPr marL="0" indent="0">
              <a:buNone/>
            </a:pPr>
            <a:endParaRPr lang="fr-FR" sz="2000" dirty="0"/>
          </a:p>
          <a:p>
            <a:pPr marL="0" indent="0">
              <a:buNone/>
            </a:pPr>
            <a:r>
              <a:rPr lang="fr-FR" sz="2000" dirty="0"/>
              <a:t>En plus des méthodes disponibles au niveau de l’interface </a:t>
            </a:r>
            <a:r>
              <a:rPr lang="fr-FR" sz="1800" dirty="0">
                <a:solidFill>
                  <a:schemeClr val="accent4"/>
                </a:solidFill>
                <a:latin typeface="Consolas" charset="0"/>
                <a:cs typeface="Consolas" charset="0"/>
              </a:rPr>
              <a:t>Collection</a:t>
            </a:r>
            <a:r>
              <a:rPr lang="fr-FR" sz="2000" dirty="0"/>
              <a:t>, les listes présentent des comportements spécifiques:</a:t>
            </a:r>
          </a:p>
          <a:p>
            <a:pPr marL="342900" indent="-342900"/>
            <a:r>
              <a:rPr lang="fr-FR" sz="2000" dirty="0"/>
              <a:t>Manipuler des éléments par rapport à leur position dans la liste: </a:t>
            </a:r>
            <a:r>
              <a:rPr lang="fr-FR" sz="1800" dirty="0" err="1">
                <a:solidFill>
                  <a:schemeClr val="accent4"/>
                </a:solidFill>
                <a:latin typeface="Consolas" charset="0"/>
                <a:cs typeface="Consolas" charset="0"/>
              </a:rPr>
              <a:t>get</a:t>
            </a:r>
            <a:r>
              <a:rPr lang="fr-FR" sz="2000" dirty="0"/>
              <a:t>, </a:t>
            </a:r>
            <a:r>
              <a:rPr lang="fr-FR" sz="1800" dirty="0">
                <a:solidFill>
                  <a:schemeClr val="accent4"/>
                </a:solidFill>
                <a:latin typeface="Consolas" charset="0"/>
                <a:cs typeface="Consolas" charset="0"/>
              </a:rPr>
              <a:t>set</a:t>
            </a:r>
            <a:r>
              <a:rPr lang="fr-FR" sz="2000" dirty="0"/>
              <a:t>, </a:t>
            </a:r>
            <a:r>
              <a:rPr lang="fr-FR" sz="1800" dirty="0" err="1">
                <a:solidFill>
                  <a:schemeClr val="accent4"/>
                </a:solidFill>
                <a:latin typeface="Consolas" charset="0"/>
                <a:cs typeface="Consolas" charset="0"/>
              </a:rPr>
              <a:t>add</a:t>
            </a:r>
            <a:r>
              <a:rPr lang="fr-FR" sz="1800" dirty="0">
                <a:solidFill>
                  <a:schemeClr val="accent4"/>
                </a:solidFill>
                <a:latin typeface="Consolas" charset="0"/>
                <a:cs typeface="Consolas" charset="0"/>
              </a:rPr>
              <a:t>(</a:t>
            </a:r>
            <a:r>
              <a:rPr lang="fr-FR" sz="1800" dirty="0" err="1">
                <a:solidFill>
                  <a:schemeClr val="accent4"/>
                </a:solidFill>
                <a:latin typeface="Consolas" charset="0"/>
                <a:cs typeface="Consolas" charset="0"/>
              </a:rPr>
              <a:t>int</a:t>
            </a:r>
            <a:r>
              <a:rPr lang="fr-FR" sz="1800" dirty="0">
                <a:solidFill>
                  <a:schemeClr val="accent4"/>
                </a:solidFill>
                <a:latin typeface="Consolas" charset="0"/>
                <a:cs typeface="Consolas" charset="0"/>
              </a:rPr>
              <a:t> index, E e)</a:t>
            </a:r>
            <a:r>
              <a:rPr lang="fr-FR" sz="2000" dirty="0"/>
              <a:t>, </a:t>
            </a:r>
            <a:r>
              <a:rPr lang="fr-FR" sz="1800" dirty="0" err="1">
                <a:solidFill>
                  <a:schemeClr val="accent4"/>
                </a:solidFill>
                <a:latin typeface="Consolas" charset="0"/>
                <a:cs typeface="Consolas" charset="0"/>
              </a:rPr>
              <a:t>addAll</a:t>
            </a:r>
            <a:r>
              <a:rPr lang="fr-BE" sz="1800" dirty="0">
                <a:solidFill>
                  <a:schemeClr val="accent4"/>
                </a:solidFill>
                <a:latin typeface="Consolas" charset="0"/>
                <a:cs typeface="Consolas" charset="0"/>
              </a:rPr>
              <a:t>(</a:t>
            </a:r>
            <a:r>
              <a:rPr lang="fr-BE" sz="1800" dirty="0" err="1">
                <a:solidFill>
                  <a:schemeClr val="accent4"/>
                </a:solidFill>
                <a:latin typeface="Consolas" charset="0"/>
                <a:cs typeface="Consolas" charset="0"/>
              </a:rPr>
              <a:t>int</a:t>
            </a:r>
            <a:r>
              <a:rPr lang="fr-BE" sz="1800" dirty="0">
                <a:solidFill>
                  <a:schemeClr val="accent4"/>
                </a:solidFill>
                <a:latin typeface="Consolas" charset="0"/>
                <a:cs typeface="Consolas" charset="0"/>
              </a:rPr>
              <a:t> index, Collection&lt;E&gt; c)</a:t>
            </a:r>
            <a:r>
              <a:rPr lang="fr-FR" sz="2000" dirty="0"/>
              <a:t>, </a:t>
            </a:r>
            <a:r>
              <a:rPr lang="fr-FR" sz="1800" dirty="0" err="1">
                <a:solidFill>
                  <a:schemeClr val="accent4"/>
                </a:solidFill>
                <a:latin typeface="Consolas" charset="0"/>
                <a:cs typeface="Consolas" charset="0"/>
              </a:rPr>
              <a:t>remove</a:t>
            </a:r>
            <a:r>
              <a:rPr lang="fr-FR" sz="2000" dirty="0"/>
              <a:t>.</a:t>
            </a:r>
          </a:p>
          <a:p>
            <a:pPr marL="342900" indent="-342900"/>
            <a:r>
              <a:rPr lang="fr-FR" sz="2000" dirty="0"/>
              <a:t>Rechercher un élément dans la liste et retourner son emplacement: </a:t>
            </a:r>
            <a:r>
              <a:rPr lang="fr-FR" sz="1800" dirty="0" err="1">
                <a:solidFill>
                  <a:schemeClr val="accent4"/>
                </a:solidFill>
                <a:latin typeface="Consolas" charset="0"/>
                <a:cs typeface="Consolas" charset="0"/>
              </a:rPr>
              <a:t>indexOf</a:t>
            </a:r>
            <a:r>
              <a:rPr lang="fr-FR" sz="2000" dirty="0"/>
              <a:t>, </a:t>
            </a:r>
            <a:r>
              <a:rPr lang="fr-FR" sz="1800" dirty="0" err="1">
                <a:solidFill>
                  <a:schemeClr val="accent4"/>
                </a:solidFill>
                <a:latin typeface="Consolas" charset="0"/>
                <a:cs typeface="Consolas" charset="0"/>
              </a:rPr>
              <a:t>lastIndexOf</a:t>
            </a:r>
            <a:r>
              <a:rPr lang="fr-FR" sz="2000" dirty="0"/>
              <a:t>. </a:t>
            </a:r>
          </a:p>
          <a:p>
            <a:pPr marL="342900" indent="-342900"/>
            <a:r>
              <a:rPr lang="fr-FR" sz="2000" dirty="0"/>
              <a:t>Utiliser un </a:t>
            </a:r>
            <a:r>
              <a:rPr lang="fr-FR" sz="2000" dirty="0" err="1"/>
              <a:t>iterateur</a:t>
            </a:r>
            <a:r>
              <a:rPr lang="fr-FR" sz="2000" dirty="0"/>
              <a:t> spécifique qui permet de parcourir la liste dans les deux directions: </a:t>
            </a:r>
            <a:r>
              <a:rPr lang="fr-FR" sz="1800" dirty="0" err="1">
                <a:solidFill>
                  <a:schemeClr val="accent4"/>
                </a:solidFill>
                <a:latin typeface="Consolas" charset="0"/>
                <a:cs typeface="Consolas" charset="0"/>
              </a:rPr>
              <a:t>listIterator</a:t>
            </a:r>
            <a:r>
              <a:rPr lang="fr-FR" sz="2000" dirty="0"/>
              <a:t> retourne un </a:t>
            </a:r>
            <a:r>
              <a:rPr lang="fr-FR" sz="1800" dirty="0" err="1">
                <a:solidFill>
                  <a:schemeClr val="accent4"/>
                </a:solidFill>
                <a:latin typeface="Consolas" charset="0"/>
                <a:cs typeface="Consolas" charset="0"/>
              </a:rPr>
              <a:t>ListIterator</a:t>
            </a:r>
            <a:r>
              <a:rPr lang="fr-FR" sz="1800" dirty="0">
                <a:solidFill>
                  <a:schemeClr val="accent4"/>
                </a:solidFill>
                <a:latin typeface="Consolas" charset="0"/>
                <a:cs typeface="Consolas" charset="0"/>
              </a:rPr>
              <a:t>&lt;E&gt;</a:t>
            </a:r>
            <a:r>
              <a:rPr lang="fr-FR" sz="2000" dirty="0"/>
              <a:t> que l’on peut parcourir avec </a:t>
            </a:r>
            <a:r>
              <a:rPr lang="fr-FR" sz="1800" dirty="0" err="1">
                <a:solidFill>
                  <a:schemeClr val="accent4"/>
                </a:solidFill>
                <a:latin typeface="Consolas" charset="0"/>
                <a:cs typeface="Consolas" charset="0"/>
              </a:rPr>
              <a:t>next</a:t>
            </a:r>
            <a:r>
              <a:rPr lang="fr-FR" sz="2000" dirty="0"/>
              <a:t> (</a:t>
            </a:r>
            <a:r>
              <a:rPr lang="fr-FR" sz="1800" dirty="0" err="1">
                <a:solidFill>
                  <a:schemeClr val="accent4"/>
                </a:solidFill>
                <a:latin typeface="Consolas" charset="0"/>
                <a:cs typeface="Consolas" charset="0"/>
              </a:rPr>
              <a:t>hasNext</a:t>
            </a:r>
            <a:r>
              <a:rPr lang="fr-FR" sz="2000" dirty="0"/>
              <a:t>) et </a:t>
            </a:r>
            <a:r>
              <a:rPr lang="fr-FR" sz="1800" dirty="0" err="1">
                <a:solidFill>
                  <a:schemeClr val="accent4"/>
                </a:solidFill>
                <a:latin typeface="Consolas" charset="0"/>
                <a:cs typeface="Consolas" charset="0"/>
              </a:rPr>
              <a:t>previous</a:t>
            </a:r>
            <a:r>
              <a:rPr lang="fr-FR" sz="2000" dirty="0"/>
              <a:t> (</a:t>
            </a:r>
            <a:r>
              <a:rPr lang="fr-FR" sz="1800" dirty="0" err="1">
                <a:solidFill>
                  <a:schemeClr val="accent4"/>
                </a:solidFill>
                <a:latin typeface="Consolas" charset="0"/>
                <a:cs typeface="Consolas" charset="0"/>
              </a:rPr>
              <a:t>hasPrevious</a:t>
            </a:r>
            <a:r>
              <a:rPr lang="fr-FR" sz="2000" dirty="0"/>
              <a:t>).</a:t>
            </a:r>
          </a:p>
          <a:p>
            <a:pPr marL="342900" indent="-342900"/>
            <a:r>
              <a:rPr lang="fr-FR" sz="2000" dirty="0" err="1"/>
              <a:t>Trvailler</a:t>
            </a:r>
            <a:r>
              <a:rPr lang="fr-FR" sz="2000" dirty="0"/>
              <a:t> sur une partie de la liste en utilisant la méthode </a:t>
            </a:r>
            <a:r>
              <a:rPr lang="fr-FR" sz="1800" dirty="0" err="1">
                <a:solidFill>
                  <a:schemeClr val="accent4"/>
                </a:solidFill>
                <a:latin typeface="Consolas" charset="0"/>
                <a:cs typeface="Consolas" charset="0"/>
              </a:rPr>
              <a:t>subList</a:t>
            </a:r>
            <a:r>
              <a:rPr lang="fr-FR" sz="1800" dirty="0">
                <a:solidFill>
                  <a:schemeClr val="accent4"/>
                </a:solidFill>
                <a:latin typeface="Consolas" charset="0"/>
                <a:cs typeface="Consolas" charset="0"/>
              </a:rPr>
              <a:t>(</a:t>
            </a:r>
            <a:r>
              <a:rPr lang="fr-FR" sz="1800" dirty="0" err="1">
                <a:solidFill>
                  <a:schemeClr val="accent4"/>
                </a:solidFill>
                <a:latin typeface="Consolas" charset="0"/>
                <a:cs typeface="Consolas" charset="0"/>
              </a:rPr>
              <a:t>int</a:t>
            </a:r>
            <a:r>
              <a:rPr lang="fr-FR" sz="1800" dirty="0">
                <a:solidFill>
                  <a:schemeClr val="accent4"/>
                </a:solidFill>
                <a:latin typeface="Consolas" charset="0"/>
                <a:cs typeface="Consolas" charset="0"/>
              </a:rPr>
              <a:t> </a:t>
            </a:r>
            <a:r>
              <a:rPr lang="fr-FR" sz="1800" dirty="0" err="1">
                <a:solidFill>
                  <a:schemeClr val="accent4"/>
                </a:solidFill>
                <a:latin typeface="Consolas" charset="0"/>
                <a:cs typeface="Consolas" charset="0"/>
              </a:rPr>
              <a:t>from</a:t>
            </a:r>
            <a:r>
              <a:rPr lang="fr-FR" sz="1800" dirty="0">
                <a:solidFill>
                  <a:schemeClr val="accent4"/>
                </a:solidFill>
                <a:latin typeface="Consolas" charset="0"/>
                <a:cs typeface="Consolas" charset="0"/>
              </a:rPr>
              <a:t>, </a:t>
            </a:r>
            <a:r>
              <a:rPr lang="fr-FR" sz="1800" dirty="0" err="1">
                <a:solidFill>
                  <a:schemeClr val="accent4"/>
                </a:solidFill>
                <a:latin typeface="Consolas" charset="0"/>
                <a:cs typeface="Consolas" charset="0"/>
              </a:rPr>
              <a:t>int</a:t>
            </a:r>
            <a:r>
              <a:rPr lang="fr-FR" sz="1800" dirty="0">
                <a:solidFill>
                  <a:schemeClr val="accent4"/>
                </a:solidFill>
                <a:latin typeface="Consolas" charset="0"/>
                <a:cs typeface="Consolas" charset="0"/>
              </a:rPr>
              <a:t> to)</a:t>
            </a:r>
            <a:r>
              <a:rPr lang="fr-FR" sz="2000" dirty="0"/>
              <a:t> qui retourne une </a:t>
            </a:r>
            <a:r>
              <a:rPr lang="fr-FR" sz="1800" dirty="0">
                <a:solidFill>
                  <a:schemeClr val="accent4"/>
                </a:solidFill>
                <a:latin typeface="Consolas" charset="0"/>
                <a:cs typeface="Consolas" charset="0"/>
              </a:rPr>
              <a:t>List</a:t>
            </a:r>
            <a:r>
              <a:rPr lang="fr-FR" sz="2000" dirty="0"/>
              <a:t>.</a:t>
            </a:r>
          </a:p>
        </p:txBody>
      </p:sp>
      <p:sp>
        <p:nvSpPr>
          <p:cNvPr id="6" name="ZoneTexte 5">
            <a:extLst>
              <a:ext uri="{FF2B5EF4-FFF2-40B4-BE49-F238E27FC236}">
                <a16:creationId xmlns:a16="http://schemas.microsoft.com/office/drawing/2014/main" id="{3FC1AC69-322D-D84B-C763-3BBAACC8B959}"/>
              </a:ext>
            </a:extLst>
          </p:cNvPr>
          <p:cNvSpPr txBox="1"/>
          <p:nvPr/>
        </p:nvSpPr>
        <p:spPr>
          <a:xfrm>
            <a:off x="9421256" y="346526"/>
            <a:ext cx="2220953" cy="369332"/>
          </a:xfrm>
          <a:prstGeom prst="rect">
            <a:avLst/>
          </a:prstGeom>
          <a:solidFill>
            <a:srgbClr val="FF7F0B"/>
          </a:solidFill>
        </p:spPr>
        <p:txBody>
          <a:bodyPr wrap="square" rtlCol="0" anchor="ctr">
            <a:spAutoFit/>
          </a:bodyPr>
          <a:lstStyle/>
          <a:p>
            <a:pPr algn="ctr"/>
            <a:r>
              <a:rPr lang="fr-FR" b="1" dirty="0">
                <a:latin typeface="Consolas" panose="020B0609020204030204" pitchFamily="49" charset="0"/>
                <a:cs typeface="Consolas" panose="020B0609020204030204" pitchFamily="49" charset="0"/>
              </a:rPr>
              <a:t>List</a:t>
            </a:r>
          </a:p>
        </p:txBody>
      </p:sp>
      <p:grpSp>
        <p:nvGrpSpPr>
          <p:cNvPr id="19" name="Groupe 18">
            <a:extLst>
              <a:ext uri="{FF2B5EF4-FFF2-40B4-BE49-F238E27FC236}">
                <a16:creationId xmlns:a16="http://schemas.microsoft.com/office/drawing/2014/main" id="{2BD7936F-B8B4-39E9-F4D9-B54C34DDBEE4}"/>
              </a:ext>
            </a:extLst>
          </p:cNvPr>
          <p:cNvGrpSpPr/>
          <p:nvPr/>
        </p:nvGrpSpPr>
        <p:grpSpPr>
          <a:xfrm>
            <a:off x="8488496" y="1196888"/>
            <a:ext cx="2163150" cy="755500"/>
            <a:chOff x="8488496" y="1196888"/>
            <a:chExt cx="2163150" cy="755500"/>
          </a:xfrm>
        </p:grpSpPr>
        <p:sp>
          <p:nvSpPr>
            <p:cNvPr id="8" name="Rectangle : coins arrondis 7">
              <a:extLst>
                <a:ext uri="{FF2B5EF4-FFF2-40B4-BE49-F238E27FC236}">
                  <a16:creationId xmlns:a16="http://schemas.microsoft.com/office/drawing/2014/main" id="{021F4CA9-BB78-1366-4B95-CFB5F22DD176}"/>
                </a:ext>
              </a:extLst>
            </p:cNvPr>
            <p:cNvSpPr/>
            <p:nvPr/>
          </p:nvSpPr>
          <p:spPr>
            <a:xfrm>
              <a:off x="8488496" y="1196888"/>
              <a:ext cx="2163150" cy="409736"/>
            </a:xfrm>
            <a:prstGeom prst="roundRect">
              <a:avLst/>
            </a:prstGeom>
            <a:solidFill>
              <a:srgbClr val="FF7E0B"/>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9F2C6EFE-E714-34DD-05E4-E9C11D77FB49}"/>
                </a:ext>
              </a:extLst>
            </p:cNvPr>
            <p:cNvSpPr/>
            <p:nvPr/>
          </p:nvSpPr>
          <p:spPr>
            <a:xfrm>
              <a:off x="8997703" y="1273920"/>
              <a:ext cx="255257" cy="255257"/>
            </a:xfrm>
            <a:prstGeom prst="ellipse">
              <a:avLst/>
            </a:prstGeom>
            <a:solidFill>
              <a:schemeClr val="accent6">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8E98332D-AC43-C2C3-2CE2-3E3EFC9EEC24}"/>
                </a:ext>
              </a:extLst>
            </p:cNvPr>
            <p:cNvSpPr/>
            <p:nvPr/>
          </p:nvSpPr>
          <p:spPr>
            <a:xfrm>
              <a:off x="8583376" y="1273920"/>
              <a:ext cx="255257" cy="255257"/>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EEC573D7-54A6-4E41-AC33-DD57F8B7EC45}"/>
                </a:ext>
              </a:extLst>
            </p:cNvPr>
            <p:cNvSpPr/>
            <p:nvPr/>
          </p:nvSpPr>
          <p:spPr>
            <a:xfrm>
              <a:off x="9412030" y="1273920"/>
              <a:ext cx="255257" cy="255257"/>
            </a:xfrm>
            <a:prstGeom prst="ellipse">
              <a:avLst/>
            </a:prstGeom>
            <a:solidFill>
              <a:schemeClr val="accent5">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llipse 11">
              <a:extLst>
                <a:ext uri="{FF2B5EF4-FFF2-40B4-BE49-F238E27FC236}">
                  <a16:creationId xmlns:a16="http://schemas.microsoft.com/office/drawing/2014/main" id="{AC7100C8-1738-0132-EBFD-239EE55BB254}"/>
                </a:ext>
              </a:extLst>
            </p:cNvPr>
            <p:cNvSpPr/>
            <p:nvPr/>
          </p:nvSpPr>
          <p:spPr>
            <a:xfrm>
              <a:off x="9826357" y="1273920"/>
              <a:ext cx="255257" cy="255257"/>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llipse 12">
              <a:extLst>
                <a:ext uri="{FF2B5EF4-FFF2-40B4-BE49-F238E27FC236}">
                  <a16:creationId xmlns:a16="http://schemas.microsoft.com/office/drawing/2014/main" id="{84E6E93B-C0A4-64F2-1822-4AEA9AE5452B}"/>
                </a:ext>
              </a:extLst>
            </p:cNvPr>
            <p:cNvSpPr/>
            <p:nvPr/>
          </p:nvSpPr>
          <p:spPr>
            <a:xfrm>
              <a:off x="10240682" y="1273920"/>
              <a:ext cx="255257" cy="255257"/>
            </a:xfrm>
            <a:prstGeom prst="ellipse">
              <a:avLst/>
            </a:prstGeom>
            <a:solidFill>
              <a:schemeClr val="accent2">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229FA282-EE9F-A3E8-A596-0E60C14C5AFE}"/>
                </a:ext>
              </a:extLst>
            </p:cNvPr>
            <p:cNvSpPr txBox="1"/>
            <p:nvPr/>
          </p:nvSpPr>
          <p:spPr>
            <a:xfrm>
              <a:off x="8583376" y="1583056"/>
              <a:ext cx="288862" cy="369332"/>
            </a:xfrm>
            <a:prstGeom prst="rect">
              <a:avLst/>
            </a:prstGeom>
            <a:noFill/>
          </p:spPr>
          <p:txBody>
            <a:bodyPr wrap="none" rtlCol="0">
              <a:spAutoFit/>
            </a:bodyPr>
            <a:lstStyle/>
            <a:p>
              <a:r>
                <a:rPr lang="fr-FR" dirty="0">
                  <a:solidFill>
                    <a:schemeClr val="accent4"/>
                  </a:solidFill>
                </a:rPr>
                <a:t>1</a:t>
              </a:r>
            </a:p>
          </p:txBody>
        </p:sp>
        <p:sp>
          <p:nvSpPr>
            <p:cNvPr id="15" name="ZoneTexte 14">
              <a:extLst>
                <a:ext uri="{FF2B5EF4-FFF2-40B4-BE49-F238E27FC236}">
                  <a16:creationId xmlns:a16="http://schemas.microsoft.com/office/drawing/2014/main" id="{CE021BD0-F012-D872-B789-2BFFD095388E}"/>
                </a:ext>
              </a:extLst>
            </p:cNvPr>
            <p:cNvSpPr txBox="1"/>
            <p:nvPr/>
          </p:nvSpPr>
          <p:spPr>
            <a:xfrm>
              <a:off x="8978597" y="1583056"/>
              <a:ext cx="303288" cy="369332"/>
            </a:xfrm>
            <a:prstGeom prst="rect">
              <a:avLst/>
            </a:prstGeom>
            <a:noFill/>
          </p:spPr>
          <p:txBody>
            <a:bodyPr wrap="none" rtlCol="0">
              <a:spAutoFit/>
            </a:bodyPr>
            <a:lstStyle/>
            <a:p>
              <a:r>
                <a:rPr lang="fr-FR" dirty="0">
                  <a:solidFill>
                    <a:schemeClr val="accent4"/>
                  </a:solidFill>
                </a:rPr>
                <a:t>2</a:t>
              </a:r>
            </a:p>
          </p:txBody>
        </p:sp>
        <p:sp>
          <p:nvSpPr>
            <p:cNvPr id="16" name="ZoneTexte 15">
              <a:extLst>
                <a:ext uri="{FF2B5EF4-FFF2-40B4-BE49-F238E27FC236}">
                  <a16:creationId xmlns:a16="http://schemas.microsoft.com/office/drawing/2014/main" id="{A384BB30-BB2C-99D0-88B8-48773C4E67E6}"/>
                </a:ext>
              </a:extLst>
            </p:cNvPr>
            <p:cNvSpPr txBox="1"/>
            <p:nvPr/>
          </p:nvSpPr>
          <p:spPr>
            <a:xfrm>
              <a:off x="9388244" y="1583056"/>
              <a:ext cx="288862" cy="369332"/>
            </a:xfrm>
            <a:prstGeom prst="rect">
              <a:avLst/>
            </a:prstGeom>
            <a:noFill/>
          </p:spPr>
          <p:txBody>
            <a:bodyPr wrap="none" rtlCol="0">
              <a:spAutoFit/>
            </a:bodyPr>
            <a:lstStyle/>
            <a:p>
              <a:r>
                <a:rPr lang="fr-FR" dirty="0">
                  <a:solidFill>
                    <a:schemeClr val="accent4"/>
                  </a:solidFill>
                </a:rPr>
                <a:t>3</a:t>
              </a:r>
            </a:p>
          </p:txBody>
        </p:sp>
        <p:sp>
          <p:nvSpPr>
            <p:cNvPr id="17" name="ZoneTexte 16">
              <a:extLst>
                <a:ext uri="{FF2B5EF4-FFF2-40B4-BE49-F238E27FC236}">
                  <a16:creationId xmlns:a16="http://schemas.microsoft.com/office/drawing/2014/main" id="{4C4B2EE5-51FF-5C75-0617-71E9014F7EBF}"/>
                </a:ext>
              </a:extLst>
            </p:cNvPr>
            <p:cNvSpPr txBox="1"/>
            <p:nvPr/>
          </p:nvSpPr>
          <p:spPr>
            <a:xfrm>
              <a:off x="9783465" y="1583056"/>
              <a:ext cx="303288" cy="369332"/>
            </a:xfrm>
            <a:prstGeom prst="rect">
              <a:avLst/>
            </a:prstGeom>
            <a:noFill/>
          </p:spPr>
          <p:txBody>
            <a:bodyPr wrap="none" rtlCol="0">
              <a:spAutoFit/>
            </a:bodyPr>
            <a:lstStyle/>
            <a:p>
              <a:r>
                <a:rPr lang="fr-FR" dirty="0">
                  <a:solidFill>
                    <a:schemeClr val="accent4"/>
                  </a:solidFill>
                </a:rPr>
                <a:t>4</a:t>
              </a:r>
            </a:p>
          </p:txBody>
        </p:sp>
        <p:sp>
          <p:nvSpPr>
            <p:cNvPr id="18" name="ZoneTexte 17">
              <a:extLst>
                <a:ext uri="{FF2B5EF4-FFF2-40B4-BE49-F238E27FC236}">
                  <a16:creationId xmlns:a16="http://schemas.microsoft.com/office/drawing/2014/main" id="{DB735D9E-0FF6-D616-D330-F616DE5FE665}"/>
                </a:ext>
              </a:extLst>
            </p:cNvPr>
            <p:cNvSpPr txBox="1"/>
            <p:nvPr/>
          </p:nvSpPr>
          <p:spPr>
            <a:xfrm>
              <a:off x="10193113" y="1583056"/>
              <a:ext cx="295274" cy="369332"/>
            </a:xfrm>
            <a:prstGeom prst="rect">
              <a:avLst/>
            </a:prstGeom>
            <a:noFill/>
          </p:spPr>
          <p:txBody>
            <a:bodyPr wrap="none" rtlCol="0">
              <a:spAutoFit/>
            </a:bodyPr>
            <a:lstStyle/>
            <a:p>
              <a:r>
                <a:rPr lang="fr-FR" dirty="0">
                  <a:solidFill>
                    <a:schemeClr val="accent4"/>
                  </a:solidFill>
                </a:rPr>
                <a:t>5</a:t>
              </a:r>
            </a:p>
          </p:txBody>
        </p:sp>
      </p:grpSp>
      <p:sp>
        <p:nvSpPr>
          <p:cNvPr id="4" name="Espace réservé du numéro de diapositive 3">
            <a:extLst>
              <a:ext uri="{FF2B5EF4-FFF2-40B4-BE49-F238E27FC236}">
                <a16:creationId xmlns:a16="http://schemas.microsoft.com/office/drawing/2014/main" id="{656209F7-5CB4-4D51-91F4-047A25D0D984}"/>
              </a:ext>
            </a:extLst>
          </p:cNvPr>
          <p:cNvSpPr>
            <a:spLocks noGrp="1"/>
          </p:cNvSpPr>
          <p:nvPr>
            <p:ph type="sldNum" sz="quarter" idx="4"/>
          </p:nvPr>
        </p:nvSpPr>
        <p:spPr/>
        <p:txBody>
          <a:bodyPr/>
          <a:lstStyle/>
          <a:p>
            <a:fld id="{33C783E2-4793-4F48-A271-51A73CC37D74}" type="slidenum">
              <a:rPr lang="fr-FR" smtClean="0"/>
              <a:t>19</a:t>
            </a:fld>
            <a:endParaRPr lang="fr-FR"/>
          </a:p>
        </p:txBody>
      </p:sp>
    </p:spTree>
    <p:extLst>
      <p:ext uri="{BB962C8B-B14F-4D97-AF65-F5344CB8AC3E}">
        <p14:creationId xmlns:p14="http://schemas.microsoft.com/office/powerpoint/2010/main" val="3554684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Les Interfaces: Set</a:t>
            </a:r>
          </a:p>
        </p:txBody>
      </p:sp>
      <p:sp>
        <p:nvSpPr>
          <p:cNvPr id="3" name="Espace réservé du contenu 2"/>
          <p:cNvSpPr>
            <a:spLocks noGrp="1"/>
          </p:cNvSpPr>
          <p:nvPr>
            <p:ph idx="1"/>
          </p:nvPr>
        </p:nvSpPr>
        <p:spPr/>
        <p:txBody>
          <a:bodyPr>
            <a:normAutofit/>
          </a:bodyPr>
          <a:lstStyle/>
          <a:p>
            <a:pPr marL="0" indent="0">
              <a:buNone/>
            </a:pPr>
            <a:r>
              <a:rPr lang="fr-FR" sz="2000" dirty="0"/>
              <a:t>Un </a:t>
            </a:r>
            <a:r>
              <a:rPr lang="fr-FR" sz="2000" dirty="0">
                <a:solidFill>
                  <a:schemeClr val="accent4"/>
                </a:solidFill>
              </a:rPr>
              <a:t>Set</a:t>
            </a:r>
            <a:r>
              <a:rPr lang="fr-FR" sz="2000" dirty="0"/>
              <a:t> représente un ensemble d’éléments sans doubles.</a:t>
            </a:r>
          </a:p>
          <a:p>
            <a:pPr marL="274320" lvl="1" indent="0">
              <a:buNone/>
            </a:pPr>
            <a:r>
              <a:rPr lang="fr-FR" sz="1800" dirty="0">
                <a:solidFill>
                  <a:schemeClr val="accent4"/>
                </a:solidFill>
                <a:latin typeface="Consolas" charset="0"/>
                <a:ea typeface="Consolas" charset="0"/>
                <a:cs typeface="Consolas" charset="0"/>
              </a:rPr>
              <a:t>public interface Set&lt;E&gt; </a:t>
            </a:r>
            <a:r>
              <a:rPr lang="fr-FR" sz="1800" dirty="0" err="1">
                <a:solidFill>
                  <a:schemeClr val="accent4"/>
                </a:solidFill>
                <a:latin typeface="Consolas" charset="0"/>
                <a:ea typeface="Consolas" charset="0"/>
                <a:cs typeface="Consolas" charset="0"/>
              </a:rPr>
              <a:t>extends</a:t>
            </a:r>
            <a:r>
              <a:rPr lang="fr-FR" sz="1800" dirty="0">
                <a:solidFill>
                  <a:schemeClr val="accent4"/>
                </a:solidFill>
                <a:latin typeface="Consolas" charset="0"/>
                <a:ea typeface="Consolas" charset="0"/>
                <a:cs typeface="Consolas" charset="0"/>
              </a:rPr>
              <a:t> Collection&lt;E&gt;</a:t>
            </a:r>
          </a:p>
          <a:p>
            <a:pPr marL="0" indent="0">
              <a:buNone/>
            </a:pPr>
            <a:endParaRPr lang="fr-FR" sz="2000" dirty="0">
              <a:solidFill>
                <a:schemeClr val="accent4"/>
              </a:solidFill>
            </a:endParaRPr>
          </a:p>
          <a:p>
            <a:pPr marL="0" indent="0">
              <a:buNone/>
            </a:pPr>
            <a:r>
              <a:rPr lang="fr-FR" sz="2000" dirty="0">
                <a:solidFill>
                  <a:schemeClr val="accent4"/>
                </a:solidFill>
              </a:rPr>
              <a:t>Set</a:t>
            </a:r>
            <a:r>
              <a:rPr lang="fr-FR" sz="2000" dirty="0"/>
              <a:t> présente exactement les mêmes méthodes que </a:t>
            </a:r>
            <a:r>
              <a:rPr lang="fr-FR" sz="2000" dirty="0">
                <a:solidFill>
                  <a:schemeClr val="accent4"/>
                </a:solidFill>
              </a:rPr>
              <a:t>Collection</a:t>
            </a:r>
            <a:r>
              <a:rPr lang="fr-FR" sz="2000" dirty="0"/>
              <a:t>, en assurant que la structure ne contient pas de doubles.</a:t>
            </a:r>
          </a:p>
          <a:p>
            <a:pPr marL="0" indent="0">
              <a:buNone/>
            </a:pPr>
            <a:r>
              <a:rPr lang="fr-FR" sz="2000" dirty="0"/>
              <a:t>Pour assurer l’unicité de ses éléments, Set utilise la méthode </a:t>
            </a:r>
            <a:r>
              <a:rPr lang="fr-FR" sz="1800" dirty="0" err="1">
                <a:solidFill>
                  <a:schemeClr val="accent4"/>
                </a:solidFill>
                <a:latin typeface="Consolas" charset="0"/>
                <a:cs typeface="Consolas" charset="0"/>
              </a:rPr>
              <a:t>equals</a:t>
            </a:r>
            <a:r>
              <a:rPr lang="fr-FR" sz="2000" dirty="0"/>
              <a:t> des objets qu’il contient (cette méthode est définie pour </a:t>
            </a:r>
            <a:r>
              <a:rPr lang="fr-FR" sz="1800" dirty="0">
                <a:solidFill>
                  <a:schemeClr val="accent4"/>
                </a:solidFill>
                <a:latin typeface="Consolas" charset="0"/>
                <a:cs typeface="Consolas" charset="0"/>
              </a:rPr>
              <a:t>Object</a:t>
            </a:r>
            <a:r>
              <a:rPr lang="fr-FR" sz="2000" dirty="0"/>
              <a:t> mais peut être redéfinie). </a:t>
            </a:r>
          </a:p>
          <a:p>
            <a:r>
              <a:rPr lang="fr-FR" sz="2000" dirty="0"/>
              <a:t>Plus exactement, si </a:t>
            </a:r>
            <a:r>
              <a:rPr lang="fr-FR" sz="1800" dirty="0">
                <a:solidFill>
                  <a:schemeClr val="accent4"/>
                </a:solidFill>
                <a:latin typeface="Consolas" charset="0"/>
                <a:cs typeface="Consolas" charset="0"/>
              </a:rPr>
              <a:t>s</a:t>
            </a:r>
            <a:r>
              <a:rPr lang="fr-FR" sz="2000" dirty="0"/>
              <a:t> est un </a:t>
            </a:r>
            <a:r>
              <a:rPr lang="fr-FR" sz="1800" dirty="0">
                <a:solidFill>
                  <a:schemeClr val="accent4"/>
                </a:solidFill>
                <a:latin typeface="Consolas" charset="0"/>
                <a:cs typeface="Consolas" charset="0"/>
              </a:rPr>
              <a:t>Set</a:t>
            </a:r>
            <a:r>
              <a:rPr lang="fr-FR" sz="2000" dirty="0"/>
              <a:t> et qu’on tente de faire </a:t>
            </a:r>
            <a:r>
              <a:rPr lang="fr-FR" sz="1800" dirty="0" err="1">
                <a:solidFill>
                  <a:schemeClr val="accent4"/>
                </a:solidFill>
                <a:latin typeface="Consolas" charset="0"/>
                <a:cs typeface="Consolas" charset="0"/>
              </a:rPr>
              <a:t>s.add</a:t>
            </a:r>
            <a:r>
              <a:rPr lang="fr-FR" sz="1800" dirty="0">
                <a:solidFill>
                  <a:schemeClr val="accent4"/>
                </a:solidFill>
                <a:latin typeface="Consolas" charset="0"/>
                <a:cs typeface="Consolas" charset="0"/>
              </a:rPr>
              <a:t>(e)</a:t>
            </a:r>
            <a:r>
              <a:rPr lang="fr-FR" sz="2000" dirty="0"/>
              <a:t>, il vérifie que l’ensemble ne contient pas déjà un élément </a:t>
            </a:r>
            <a:r>
              <a:rPr lang="fr-FR" sz="1800" dirty="0">
                <a:solidFill>
                  <a:schemeClr val="accent4"/>
                </a:solidFill>
                <a:latin typeface="Consolas" charset="0"/>
                <a:cs typeface="Consolas" charset="0"/>
              </a:rPr>
              <a:t>e2</a:t>
            </a:r>
            <a:r>
              <a:rPr lang="fr-FR" sz="2000" dirty="0"/>
              <a:t> tel que</a:t>
            </a:r>
          </a:p>
          <a:p>
            <a:pPr marL="0" indent="0" algn="ctr">
              <a:buNone/>
            </a:pPr>
            <a:r>
              <a:rPr lang="fr-BE" sz="1800" dirty="0">
                <a:solidFill>
                  <a:schemeClr val="accent4"/>
                </a:solidFill>
                <a:latin typeface="Consolas" charset="0"/>
                <a:cs typeface="Consolas" charset="0"/>
              </a:rPr>
              <a:t>(e == </a:t>
            </a:r>
            <a:r>
              <a:rPr lang="fr-BE" sz="1800" dirty="0" err="1">
                <a:solidFill>
                  <a:schemeClr val="accent4"/>
                </a:solidFill>
                <a:latin typeface="Consolas" charset="0"/>
                <a:cs typeface="Consolas" charset="0"/>
              </a:rPr>
              <a:t>null</a:t>
            </a:r>
            <a:r>
              <a:rPr lang="fr-BE" sz="1800" dirty="0">
                <a:solidFill>
                  <a:schemeClr val="accent4"/>
                </a:solidFill>
                <a:latin typeface="Consolas" charset="0"/>
                <a:cs typeface="Consolas" charset="0"/>
              </a:rPr>
              <a:t> ? e2 == </a:t>
            </a:r>
            <a:r>
              <a:rPr lang="fr-BE" sz="1800" dirty="0" err="1">
                <a:solidFill>
                  <a:schemeClr val="accent4"/>
                </a:solidFill>
                <a:latin typeface="Consolas" charset="0"/>
                <a:cs typeface="Consolas" charset="0"/>
              </a:rPr>
              <a:t>null</a:t>
            </a:r>
            <a:r>
              <a:rPr lang="fr-BE" sz="1800" dirty="0">
                <a:solidFill>
                  <a:schemeClr val="accent4"/>
                </a:solidFill>
                <a:latin typeface="Consolas" charset="0"/>
                <a:cs typeface="Consolas" charset="0"/>
              </a:rPr>
              <a:t> : </a:t>
            </a:r>
            <a:r>
              <a:rPr lang="fr-BE" sz="1800" dirty="0" err="1">
                <a:solidFill>
                  <a:schemeClr val="accent4"/>
                </a:solidFill>
                <a:latin typeface="Consolas" charset="0"/>
                <a:cs typeface="Consolas" charset="0"/>
              </a:rPr>
              <a:t>e.equals</a:t>
            </a:r>
            <a:r>
              <a:rPr lang="fr-BE" sz="1800" dirty="0">
                <a:solidFill>
                  <a:schemeClr val="accent4"/>
                </a:solidFill>
                <a:latin typeface="Consolas" charset="0"/>
                <a:cs typeface="Consolas" charset="0"/>
              </a:rPr>
              <a:t>(e2))</a:t>
            </a:r>
            <a:r>
              <a:rPr lang="fr-FR" sz="2000" dirty="0"/>
              <a:t> </a:t>
            </a:r>
          </a:p>
          <a:p>
            <a:pPr marL="0" indent="0">
              <a:buNone/>
            </a:pPr>
            <a:r>
              <a:rPr lang="fr-FR" sz="2000" dirty="0"/>
              <a:t>	</a:t>
            </a:r>
            <a:r>
              <a:rPr lang="fr-FR" sz="2000" dirty="0">
                <a:solidFill>
                  <a:srgbClr val="2A6CA7"/>
                </a:solidFill>
              </a:rPr>
              <a:t>ou</a:t>
            </a:r>
            <a:endParaRPr lang="fr-FR" sz="2000" dirty="0"/>
          </a:p>
        </p:txBody>
      </p:sp>
      <p:sp>
        <p:nvSpPr>
          <p:cNvPr id="6" name="ZoneTexte 5">
            <a:extLst>
              <a:ext uri="{FF2B5EF4-FFF2-40B4-BE49-F238E27FC236}">
                <a16:creationId xmlns:a16="http://schemas.microsoft.com/office/drawing/2014/main" id="{2C304F0C-4B0A-199A-5C11-8354CE011D05}"/>
              </a:ext>
            </a:extLst>
          </p:cNvPr>
          <p:cNvSpPr txBox="1"/>
          <p:nvPr/>
        </p:nvSpPr>
        <p:spPr>
          <a:xfrm>
            <a:off x="9421256" y="346526"/>
            <a:ext cx="2220953" cy="369332"/>
          </a:xfrm>
          <a:prstGeom prst="rect">
            <a:avLst/>
          </a:prstGeom>
          <a:solidFill>
            <a:srgbClr val="FF7F0B"/>
          </a:solidFill>
        </p:spPr>
        <p:txBody>
          <a:bodyPr wrap="square" rtlCol="0" anchor="ctr">
            <a:spAutoFit/>
          </a:bodyPr>
          <a:lstStyle/>
          <a:p>
            <a:pPr algn="ctr"/>
            <a:r>
              <a:rPr lang="fr-FR" b="1" dirty="0">
                <a:latin typeface="Consolas" panose="020B0609020204030204" pitchFamily="49" charset="0"/>
                <a:cs typeface="Consolas" panose="020B0609020204030204" pitchFamily="49" charset="0"/>
              </a:rPr>
              <a:t>Set</a:t>
            </a:r>
          </a:p>
        </p:txBody>
      </p:sp>
      <p:grpSp>
        <p:nvGrpSpPr>
          <p:cNvPr id="7" name="Groupe 6">
            <a:extLst>
              <a:ext uri="{FF2B5EF4-FFF2-40B4-BE49-F238E27FC236}">
                <a16:creationId xmlns:a16="http://schemas.microsoft.com/office/drawing/2014/main" id="{088B1E6D-304F-6827-00E5-D738185937E6}"/>
              </a:ext>
            </a:extLst>
          </p:cNvPr>
          <p:cNvGrpSpPr/>
          <p:nvPr/>
        </p:nvGrpSpPr>
        <p:grpSpPr>
          <a:xfrm>
            <a:off x="8458083" y="934859"/>
            <a:ext cx="2163150" cy="755831"/>
            <a:chOff x="8632757" y="653725"/>
            <a:chExt cx="3050788" cy="1065980"/>
          </a:xfrm>
        </p:grpSpPr>
        <p:sp>
          <p:nvSpPr>
            <p:cNvPr id="8" name="Ellipse 7">
              <a:extLst>
                <a:ext uri="{FF2B5EF4-FFF2-40B4-BE49-F238E27FC236}">
                  <a16:creationId xmlns:a16="http://schemas.microsoft.com/office/drawing/2014/main" id="{B12680E2-2002-289A-5BB5-C81AD1D9B2EA}"/>
                </a:ext>
              </a:extLst>
            </p:cNvPr>
            <p:cNvSpPr/>
            <p:nvPr/>
          </p:nvSpPr>
          <p:spPr>
            <a:xfrm>
              <a:off x="8632757" y="653725"/>
              <a:ext cx="3050788" cy="1065980"/>
            </a:xfrm>
            <a:prstGeom prst="ellipse">
              <a:avLst/>
            </a:prstGeom>
            <a:solidFill>
              <a:srgbClr val="FF7E0B"/>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E1FF2F1B-0F92-D250-F248-3FBF9C095326}"/>
                </a:ext>
              </a:extLst>
            </p:cNvPr>
            <p:cNvSpPr/>
            <p:nvPr/>
          </p:nvSpPr>
          <p:spPr>
            <a:xfrm>
              <a:off x="8956019" y="1006714"/>
              <a:ext cx="360000" cy="360000"/>
            </a:xfrm>
            <a:prstGeom prst="ellipse">
              <a:avLst/>
            </a:prstGeom>
            <a:solidFill>
              <a:schemeClr val="accent6">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1236D959-E215-FAD9-A87B-D5812EB9D5C1}"/>
                </a:ext>
              </a:extLst>
            </p:cNvPr>
            <p:cNvSpPr/>
            <p:nvPr/>
          </p:nvSpPr>
          <p:spPr>
            <a:xfrm>
              <a:off x="9529323" y="784956"/>
              <a:ext cx="360000" cy="360000"/>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6B5941D9-2E25-D883-2BAE-2B2C066BDFA5}"/>
                </a:ext>
              </a:extLst>
            </p:cNvPr>
            <p:cNvSpPr/>
            <p:nvPr/>
          </p:nvSpPr>
          <p:spPr>
            <a:xfrm>
              <a:off x="9978150" y="1131915"/>
              <a:ext cx="360000" cy="360000"/>
            </a:xfrm>
            <a:prstGeom prst="ellipse">
              <a:avLst/>
            </a:prstGeom>
            <a:solidFill>
              <a:schemeClr val="accent5">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llipse 11">
              <a:extLst>
                <a:ext uri="{FF2B5EF4-FFF2-40B4-BE49-F238E27FC236}">
                  <a16:creationId xmlns:a16="http://schemas.microsoft.com/office/drawing/2014/main" id="{4D9E8122-778A-AC5A-78BF-91A9CEC2B2C7}"/>
                </a:ext>
              </a:extLst>
            </p:cNvPr>
            <p:cNvSpPr/>
            <p:nvPr/>
          </p:nvSpPr>
          <p:spPr>
            <a:xfrm>
              <a:off x="10504745" y="852281"/>
              <a:ext cx="360000" cy="360000"/>
            </a:xfrm>
            <a:prstGeom prst="ellipse">
              <a:avLst/>
            </a:prstGeom>
            <a:solidFill>
              <a:schemeClr val="accent3">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llipse 12">
              <a:extLst>
                <a:ext uri="{FF2B5EF4-FFF2-40B4-BE49-F238E27FC236}">
                  <a16:creationId xmlns:a16="http://schemas.microsoft.com/office/drawing/2014/main" id="{D470A5D1-6137-033C-33B1-6BC84EEF739E}"/>
                </a:ext>
              </a:extLst>
            </p:cNvPr>
            <p:cNvSpPr/>
            <p:nvPr/>
          </p:nvSpPr>
          <p:spPr>
            <a:xfrm>
              <a:off x="10998360" y="1006714"/>
              <a:ext cx="360000" cy="360000"/>
            </a:xfrm>
            <a:prstGeom prst="ellipse">
              <a:avLst/>
            </a:prstGeom>
            <a:solidFill>
              <a:schemeClr val="accent2">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4" name="Espace réservé du numéro de diapositive 3">
            <a:extLst>
              <a:ext uri="{FF2B5EF4-FFF2-40B4-BE49-F238E27FC236}">
                <a16:creationId xmlns:a16="http://schemas.microsoft.com/office/drawing/2014/main" id="{73132C84-EE17-64E4-0F40-BA96C331DC36}"/>
              </a:ext>
            </a:extLst>
          </p:cNvPr>
          <p:cNvSpPr>
            <a:spLocks noGrp="1"/>
          </p:cNvSpPr>
          <p:nvPr>
            <p:ph type="sldNum" sz="quarter" idx="4"/>
          </p:nvPr>
        </p:nvSpPr>
        <p:spPr/>
        <p:txBody>
          <a:bodyPr/>
          <a:lstStyle/>
          <a:p>
            <a:fld id="{33C783E2-4793-4F48-A271-51A73CC37D74}" type="slidenum">
              <a:rPr lang="fr-FR" smtClean="0"/>
              <a:t>20</a:t>
            </a:fld>
            <a:endParaRPr lang="fr-FR"/>
          </a:p>
        </p:txBody>
      </p:sp>
      <p:sp>
        <p:nvSpPr>
          <p:cNvPr id="5" name="Bulle rectangulaire à coins arrondis 4">
            <a:extLst>
              <a:ext uri="{FF2B5EF4-FFF2-40B4-BE49-F238E27FC236}">
                <a16:creationId xmlns:a16="http://schemas.microsoft.com/office/drawing/2014/main" id="{80FA0C0B-47BC-96F4-C953-1969D9AFA41A}"/>
              </a:ext>
            </a:extLst>
          </p:cNvPr>
          <p:cNvSpPr/>
          <p:nvPr/>
        </p:nvSpPr>
        <p:spPr>
          <a:xfrm>
            <a:off x="4632941" y="5726488"/>
            <a:ext cx="4309607" cy="579245"/>
          </a:xfrm>
          <a:prstGeom prst="wedgeRoundRectCallout">
            <a:avLst>
              <a:gd name="adj1" fmla="val -25999"/>
              <a:gd name="adj2" fmla="val -118251"/>
              <a:gd name="adj3" fmla="val 16667"/>
            </a:avLst>
          </a:prstGeom>
          <a:solidFill>
            <a:schemeClr val="accent6"/>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buNone/>
            </a:pPr>
            <a:r>
              <a:rPr lang="fr-BE" sz="1800" b="1" i="0" u="none" strike="noStrike" dirty="0">
                <a:solidFill>
                  <a:srgbClr val="E8EAED"/>
                </a:solidFill>
                <a:effectLst/>
                <a:latin typeface="+mn-lt"/>
              </a:rPr>
              <a:t>	        </a:t>
            </a:r>
            <a:r>
              <a:rPr lang="fr-BE" b="1" i="0" u="none" strike="noStrike" dirty="0">
                <a:solidFill>
                  <a:srgbClr val="E8EAED"/>
                </a:solidFill>
                <a:effectLst/>
                <a:latin typeface="+mn-lt"/>
              </a:rPr>
              <a:t>➀</a:t>
            </a:r>
            <a:r>
              <a:rPr lang="fr-BE" sz="1800" b="0" i="0" u="none" strike="noStrike" dirty="0">
                <a:solidFill>
                  <a:srgbClr val="E8EAED"/>
                </a:solidFill>
                <a:effectLst/>
                <a:latin typeface="+mn-lt"/>
              </a:rPr>
              <a:t> si </a:t>
            </a:r>
            <a:r>
              <a:rPr lang="fr-FR" sz="1800" dirty="0"/>
              <a:t>(</a:t>
            </a:r>
            <a:r>
              <a:rPr lang="fr-BE" sz="1600" dirty="0">
                <a:solidFill>
                  <a:schemeClr val="accent4"/>
                </a:solidFill>
                <a:latin typeface="Consolas" charset="0"/>
                <a:cs typeface="Consolas" charset="0"/>
              </a:rPr>
              <a:t>e</a:t>
            </a:r>
            <a:r>
              <a:rPr lang="fr-FR" sz="1800" dirty="0"/>
              <a:t> est </a:t>
            </a:r>
            <a:r>
              <a:rPr lang="fr-BE" sz="1600" dirty="0" err="1">
                <a:solidFill>
                  <a:schemeClr val="accent4"/>
                </a:solidFill>
                <a:latin typeface="Consolas" charset="0"/>
                <a:cs typeface="Consolas" charset="0"/>
              </a:rPr>
              <a:t>null</a:t>
            </a:r>
            <a:r>
              <a:rPr lang="fr-FR" sz="1800" dirty="0"/>
              <a:t> et </a:t>
            </a:r>
            <a:r>
              <a:rPr lang="fr-BE" sz="1600" dirty="0">
                <a:solidFill>
                  <a:schemeClr val="accent4"/>
                </a:solidFill>
                <a:latin typeface="Consolas" charset="0"/>
                <a:cs typeface="Consolas" charset="0"/>
              </a:rPr>
              <a:t>e2</a:t>
            </a:r>
            <a:r>
              <a:rPr lang="fr-FR" sz="1800" dirty="0"/>
              <a:t> est </a:t>
            </a:r>
            <a:r>
              <a:rPr lang="fr-BE" sz="1600" dirty="0" err="1">
                <a:solidFill>
                  <a:schemeClr val="accent4"/>
                </a:solidFill>
                <a:latin typeface="Consolas" charset="0"/>
                <a:cs typeface="Consolas" charset="0"/>
              </a:rPr>
              <a:t>null</a:t>
            </a:r>
            <a:r>
              <a:rPr lang="fr-FR" sz="1800" dirty="0"/>
              <a:t>) </a:t>
            </a:r>
          </a:p>
          <a:p>
            <a:pPr marL="0" indent="0">
              <a:buNone/>
            </a:pPr>
            <a:r>
              <a:rPr lang="fr-FR" dirty="0"/>
              <a:t>	</a:t>
            </a:r>
            <a:r>
              <a:rPr lang="fr-FR" sz="1800" dirty="0"/>
              <a:t>ou   </a:t>
            </a:r>
            <a:r>
              <a:rPr lang="fr-BE" sz="1800" b="1" dirty="0">
                <a:solidFill>
                  <a:srgbClr val="E8EAED"/>
                </a:solidFill>
                <a:latin typeface="+mn-lt"/>
              </a:rPr>
              <a:t>②</a:t>
            </a:r>
            <a:r>
              <a:rPr lang="fr-BE" sz="1200" b="0" i="0" u="none" strike="noStrike" dirty="0">
                <a:solidFill>
                  <a:srgbClr val="E8EAED"/>
                </a:solidFill>
                <a:effectLst/>
                <a:latin typeface="Google Sans"/>
              </a:rPr>
              <a:t> </a:t>
            </a:r>
            <a:r>
              <a:rPr lang="fr-FR" sz="1800" dirty="0"/>
              <a:t>si (</a:t>
            </a:r>
            <a:r>
              <a:rPr lang="fr-BE" sz="1600" dirty="0">
                <a:solidFill>
                  <a:schemeClr val="accent4"/>
                </a:solidFill>
                <a:latin typeface="Consolas" charset="0"/>
                <a:cs typeface="Consolas" charset="0"/>
              </a:rPr>
              <a:t>e</a:t>
            </a:r>
            <a:r>
              <a:rPr lang="fr-FR" sz="1800" dirty="0"/>
              <a:t> égale </a:t>
            </a:r>
            <a:r>
              <a:rPr lang="fr-BE" sz="1600" dirty="0">
                <a:solidFill>
                  <a:schemeClr val="accent4"/>
                </a:solidFill>
                <a:latin typeface="Consolas" charset="0"/>
                <a:cs typeface="Consolas" charset="0"/>
              </a:rPr>
              <a:t>e2</a:t>
            </a:r>
            <a:r>
              <a:rPr lang="fr-FR" sz="1800" dirty="0"/>
              <a:t>).</a:t>
            </a:r>
          </a:p>
        </p:txBody>
      </p:sp>
    </p:spTree>
    <p:extLst>
      <p:ext uri="{BB962C8B-B14F-4D97-AF65-F5344CB8AC3E}">
        <p14:creationId xmlns:p14="http://schemas.microsoft.com/office/powerpoint/2010/main" val="3755495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wipe(left)">
                                      <p:cBhvr>
                                        <p:cTn id="7" dur="500"/>
                                        <p:tgtEl>
                                          <p:spTgt spid="5">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wipe(left)">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wipe(left)">
                                      <p:cBhvr>
                                        <p:cTn id="17"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Les Interfaces: Queue</a:t>
            </a:r>
          </a:p>
        </p:txBody>
      </p:sp>
      <p:sp>
        <p:nvSpPr>
          <p:cNvPr id="3" name="Espace réservé du contenu 2"/>
          <p:cNvSpPr>
            <a:spLocks noGrp="1"/>
          </p:cNvSpPr>
          <p:nvPr>
            <p:ph idx="1"/>
          </p:nvPr>
        </p:nvSpPr>
        <p:spPr/>
        <p:txBody>
          <a:bodyPr>
            <a:normAutofit/>
          </a:bodyPr>
          <a:lstStyle/>
          <a:p>
            <a:pPr marL="0" indent="0">
              <a:buNone/>
            </a:pPr>
            <a:r>
              <a:rPr lang="fr-FR" sz="2000" dirty="0"/>
              <a:t>Une </a:t>
            </a:r>
            <a:r>
              <a:rPr lang="fr-FR" sz="2000" dirty="0">
                <a:solidFill>
                  <a:schemeClr val="accent4"/>
                </a:solidFill>
              </a:rPr>
              <a:t>Queue</a:t>
            </a:r>
            <a:r>
              <a:rPr lang="fr-FR" sz="2000" dirty="0"/>
              <a:t> représente un une file d’attente, dans laquelle des éléments sont rangés avant d’être traités.</a:t>
            </a:r>
          </a:p>
          <a:p>
            <a:pPr marL="274320" lvl="1" indent="0">
              <a:buNone/>
            </a:pPr>
            <a:r>
              <a:rPr lang="fr-FR" sz="1800" dirty="0">
                <a:solidFill>
                  <a:schemeClr val="accent4"/>
                </a:solidFill>
                <a:latin typeface="Consolas" charset="0"/>
                <a:ea typeface="Consolas" charset="0"/>
                <a:cs typeface="Consolas" charset="0"/>
              </a:rPr>
              <a:t>public interface Queue&lt;E&gt; </a:t>
            </a:r>
            <a:r>
              <a:rPr lang="fr-FR" sz="1800" dirty="0" err="1">
                <a:solidFill>
                  <a:schemeClr val="accent4"/>
                </a:solidFill>
                <a:latin typeface="Consolas" charset="0"/>
                <a:ea typeface="Consolas" charset="0"/>
                <a:cs typeface="Consolas" charset="0"/>
              </a:rPr>
              <a:t>extends</a:t>
            </a:r>
            <a:r>
              <a:rPr lang="fr-FR" sz="1800" dirty="0">
                <a:solidFill>
                  <a:schemeClr val="accent4"/>
                </a:solidFill>
                <a:latin typeface="Consolas" charset="0"/>
                <a:ea typeface="Consolas" charset="0"/>
                <a:cs typeface="Consolas" charset="0"/>
              </a:rPr>
              <a:t> Collection&lt;E&gt;</a:t>
            </a:r>
          </a:p>
          <a:p>
            <a:pPr marL="0" indent="0">
              <a:buNone/>
            </a:pPr>
            <a:endParaRPr lang="fr-FR" sz="2000" dirty="0"/>
          </a:p>
          <a:p>
            <a:pPr marL="0" indent="0">
              <a:buNone/>
            </a:pPr>
            <a:r>
              <a:rPr lang="fr-FR" sz="2000" dirty="0"/>
              <a:t>En plus des opérations de la </a:t>
            </a:r>
            <a:r>
              <a:rPr lang="fr-FR" sz="2000" dirty="0">
                <a:solidFill>
                  <a:schemeClr val="accent4"/>
                </a:solidFill>
              </a:rPr>
              <a:t>Collection</a:t>
            </a:r>
            <a:r>
              <a:rPr lang="fr-FR" sz="2000" dirty="0"/>
              <a:t>, la </a:t>
            </a:r>
            <a:r>
              <a:rPr lang="fr-FR" sz="2000" dirty="0">
                <a:solidFill>
                  <a:schemeClr val="accent4"/>
                </a:solidFill>
              </a:rPr>
              <a:t>Queue</a:t>
            </a:r>
            <a:r>
              <a:rPr lang="fr-FR" sz="2000" dirty="0"/>
              <a:t> permet</a:t>
            </a:r>
          </a:p>
          <a:p>
            <a:pPr marL="285750" indent="-285750"/>
            <a:r>
              <a:rPr lang="fr-FR" sz="2000" dirty="0"/>
              <a:t>L’introduction (au début) d’un élément </a:t>
            </a:r>
            <a:r>
              <a:rPr lang="fr-FR" sz="2000" u="sng" dirty="0"/>
              <a:t>si la queue n’est pas pleine</a:t>
            </a:r>
            <a:r>
              <a:rPr lang="fr-FR" sz="2000" dirty="0"/>
              <a:t>.</a:t>
            </a:r>
          </a:p>
          <a:p>
            <a:pPr marL="285750" indent="-285750"/>
            <a:r>
              <a:rPr lang="fr-FR" sz="2000" dirty="0"/>
              <a:t>Le prélèvement du premier élément de la queue (destructif ou pas).</a:t>
            </a:r>
          </a:p>
        </p:txBody>
      </p:sp>
      <p:graphicFrame>
        <p:nvGraphicFramePr>
          <p:cNvPr id="6" name="Tableau 5">
            <a:extLst>
              <a:ext uri="{FF2B5EF4-FFF2-40B4-BE49-F238E27FC236}">
                <a16:creationId xmlns:a16="http://schemas.microsoft.com/office/drawing/2014/main" id="{E16FF0F9-F996-214C-9A8F-DC8AE30D59A3}"/>
              </a:ext>
            </a:extLst>
          </p:cNvPr>
          <p:cNvGraphicFramePr>
            <a:graphicFrameLocks noGrp="1"/>
          </p:cNvGraphicFramePr>
          <p:nvPr>
            <p:extLst>
              <p:ext uri="{D42A27DB-BD31-4B8C-83A1-F6EECF244321}">
                <p14:modId xmlns:p14="http://schemas.microsoft.com/office/powerpoint/2010/main" val="2068931"/>
              </p:ext>
            </p:extLst>
          </p:nvPr>
        </p:nvGraphicFramePr>
        <p:xfrm>
          <a:off x="2293937" y="4605020"/>
          <a:ext cx="7620000" cy="1584960"/>
        </p:xfrm>
        <a:graphic>
          <a:graphicData uri="http://schemas.openxmlformats.org/drawingml/2006/table">
            <a:tbl>
              <a:tblPr firstRow="1">
                <a:tableStyleId>{17292A2E-F333-43FB-9621-5CBBE7FDCDCB}</a:tableStyleId>
              </a:tblPr>
              <a:tblGrid>
                <a:gridCol w="2540000">
                  <a:extLst>
                    <a:ext uri="{9D8B030D-6E8A-4147-A177-3AD203B41FA5}">
                      <a16:colId xmlns:a16="http://schemas.microsoft.com/office/drawing/2014/main" val="2944178601"/>
                    </a:ext>
                  </a:extLst>
                </a:gridCol>
                <a:gridCol w="2540000">
                  <a:extLst>
                    <a:ext uri="{9D8B030D-6E8A-4147-A177-3AD203B41FA5}">
                      <a16:colId xmlns:a16="http://schemas.microsoft.com/office/drawing/2014/main" val="3411723852"/>
                    </a:ext>
                  </a:extLst>
                </a:gridCol>
                <a:gridCol w="2540000">
                  <a:extLst>
                    <a:ext uri="{9D8B030D-6E8A-4147-A177-3AD203B41FA5}">
                      <a16:colId xmlns:a16="http://schemas.microsoft.com/office/drawing/2014/main" val="798229005"/>
                    </a:ext>
                  </a:extLst>
                </a:gridCol>
              </a:tblGrid>
              <a:tr h="0">
                <a:tc>
                  <a:txBody>
                    <a:bodyPr/>
                    <a:lstStyle/>
                    <a:p>
                      <a:r>
                        <a:rPr lang="fr-BE" sz="2000" dirty="0">
                          <a:solidFill>
                            <a:srgbClr val="C00000"/>
                          </a:solidFill>
                        </a:rPr>
                        <a:t>Type d’Opération</a:t>
                      </a:r>
                    </a:p>
                  </a:txBody>
                  <a:tcPr anchor="ctr"/>
                </a:tc>
                <a:tc>
                  <a:txBody>
                    <a:bodyPr/>
                    <a:lstStyle/>
                    <a:p>
                      <a:r>
                        <a:rPr lang="fr-BE" sz="2000" dirty="0">
                          <a:solidFill>
                            <a:srgbClr val="C00000"/>
                          </a:solidFill>
                        </a:rPr>
                        <a:t>Lance une exception</a:t>
                      </a:r>
                    </a:p>
                  </a:txBody>
                  <a:tcPr anchor="ctr"/>
                </a:tc>
                <a:tc>
                  <a:txBody>
                    <a:bodyPr/>
                    <a:lstStyle/>
                    <a:p>
                      <a:r>
                        <a:rPr lang="fr-BE" sz="2000" dirty="0">
                          <a:solidFill>
                            <a:srgbClr val="C00000"/>
                          </a:solidFill>
                        </a:rPr>
                        <a:t>Retourne une valeur</a:t>
                      </a:r>
                    </a:p>
                  </a:txBody>
                  <a:tcPr anchor="ctr"/>
                </a:tc>
                <a:extLst>
                  <a:ext uri="{0D108BD9-81ED-4DB2-BD59-A6C34878D82A}">
                    <a16:rowId xmlns:a16="http://schemas.microsoft.com/office/drawing/2014/main" val="973426666"/>
                  </a:ext>
                </a:extLst>
              </a:tr>
              <a:tr h="0">
                <a:tc>
                  <a:txBody>
                    <a:bodyPr/>
                    <a:lstStyle/>
                    <a:p>
                      <a:r>
                        <a:rPr lang="fr-BE" sz="2000" b="1" dirty="0"/>
                        <a:t>Insertion</a:t>
                      </a:r>
                    </a:p>
                  </a:txBody>
                  <a:tcPr anchor="ctr">
                    <a:lnB w="12700" cap="flat" cmpd="sng" algn="ctr">
                      <a:solidFill>
                        <a:schemeClr val="accent4"/>
                      </a:solidFill>
                      <a:prstDash val="solid"/>
                      <a:round/>
                      <a:headEnd type="none" w="med" len="med"/>
                      <a:tailEnd type="none" w="med" len="med"/>
                    </a:lnB>
                  </a:tcPr>
                </a:tc>
                <a:tc>
                  <a:txBody>
                    <a:bodyPr/>
                    <a:lstStyle/>
                    <a:p>
                      <a:r>
                        <a:rPr lang="fr-BE" dirty="0" err="1">
                          <a:solidFill>
                            <a:schemeClr val="accent4"/>
                          </a:solidFill>
                          <a:latin typeface="Consolas" panose="020B0609020204030204" pitchFamily="49" charset="0"/>
                          <a:cs typeface="Consolas" panose="020B0609020204030204" pitchFamily="49" charset="0"/>
                        </a:rPr>
                        <a:t>boolean</a:t>
                      </a:r>
                      <a:r>
                        <a:rPr lang="fr-BE" dirty="0">
                          <a:solidFill>
                            <a:schemeClr val="accent4"/>
                          </a:solidFill>
                          <a:latin typeface="Consolas" panose="020B0609020204030204" pitchFamily="49" charset="0"/>
                          <a:cs typeface="Consolas" panose="020B0609020204030204" pitchFamily="49" charset="0"/>
                        </a:rPr>
                        <a:t> </a:t>
                      </a:r>
                      <a:r>
                        <a:rPr lang="fr-BE" dirty="0" err="1">
                          <a:solidFill>
                            <a:schemeClr val="accent4"/>
                          </a:solidFill>
                          <a:latin typeface="Consolas" panose="020B0609020204030204" pitchFamily="49" charset="0"/>
                          <a:cs typeface="Consolas" panose="020B0609020204030204" pitchFamily="49" charset="0"/>
                        </a:rPr>
                        <a:t>add</a:t>
                      </a:r>
                      <a:r>
                        <a:rPr lang="fr-BE" dirty="0">
                          <a:solidFill>
                            <a:schemeClr val="accent4"/>
                          </a:solidFill>
                          <a:latin typeface="Consolas" panose="020B0609020204030204" pitchFamily="49" charset="0"/>
                          <a:cs typeface="Consolas" panose="020B0609020204030204" pitchFamily="49" charset="0"/>
                        </a:rPr>
                        <a:t>(e)</a:t>
                      </a:r>
                    </a:p>
                  </a:txBody>
                  <a:tcPr anchor="ctr">
                    <a:lnB w="12700" cap="flat" cmpd="sng" algn="ctr">
                      <a:solidFill>
                        <a:schemeClr val="accent4"/>
                      </a:solidFill>
                      <a:prstDash val="solid"/>
                      <a:round/>
                      <a:headEnd type="none" w="med" len="med"/>
                      <a:tailEnd type="none" w="med" len="med"/>
                    </a:lnB>
                  </a:tcPr>
                </a:tc>
                <a:tc>
                  <a:txBody>
                    <a:bodyPr/>
                    <a:lstStyle/>
                    <a:p>
                      <a:r>
                        <a:rPr lang="fr-BE" dirty="0" err="1">
                          <a:solidFill>
                            <a:schemeClr val="accent4"/>
                          </a:solidFill>
                          <a:latin typeface="Consolas" panose="020B0609020204030204" pitchFamily="49" charset="0"/>
                          <a:cs typeface="Consolas" panose="020B0609020204030204" pitchFamily="49" charset="0"/>
                        </a:rPr>
                        <a:t>boolean</a:t>
                      </a:r>
                      <a:r>
                        <a:rPr lang="fr-BE" dirty="0">
                          <a:solidFill>
                            <a:schemeClr val="accent4"/>
                          </a:solidFill>
                          <a:latin typeface="Consolas" panose="020B0609020204030204" pitchFamily="49" charset="0"/>
                          <a:cs typeface="Consolas" panose="020B0609020204030204" pitchFamily="49" charset="0"/>
                        </a:rPr>
                        <a:t> </a:t>
                      </a:r>
                      <a:r>
                        <a:rPr lang="fr-BE" dirty="0" err="1">
                          <a:solidFill>
                            <a:schemeClr val="accent4"/>
                          </a:solidFill>
                          <a:latin typeface="Consolas" panose="020B0609020204030204" pitchFamily="49" charset="0"/>
                          <a:cs typeface="Consolas" panose="020B0609020204030204" pitchFamily="49" charset="0"/>
                        </a:rPr>
                        <a:t>offer</a:t>
                      </a:r>
                      <a:r>
                        <a:rPr lang="fr-BE" dirty="0">
                          <a:solidFill>
                            <a:schemeClr val="accent4"/>
                          </a:solidFill>
                          <a:latin typeface="Consolas" panose="020B0609020204030204" pitchFamily="49" charset="0"/>
                          <a:cs typeface="Consolas" panose="020B0609020204030204" pitchFamily="49" charset="0"/>
                        </a:rPr>
                        <a:t>(e)</a:t>
                      </a:r>
                    </a:p>
                  </a:txBody>
                  <a:tcPr anchor="ctr">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337882934"/>
                  </a:ext>
                </a:extLst>
              </a:tr>
              <a:tr h="0">
                <a:tc>
                  <a:txBody>
                    <a:bodyPr/>
                    <a:lstStyle/>
                    <a:p>
                      <a:r>
                        <a:rPr lang="fr-BE" sz="2000" b="1" dirty="0"/>
                        <a:t>Suppression</a:t>
                      </a:r>
                    </a:p>
                  </a:txBody>
                  <a:tcPr anchor="ct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r>
                        <a:rPr lang="fr-BE" dirty="0" err="1">
                          <a:solidFill>
                            <a:schemeClr val="accent4"/>
                          </a:solidFill>
                          <a:latin typeface="Consolas" panose="020B0609020204030204" pitchFamily="49" charset="0"/>
                          <a:cs typeface="Consolas" panose="020B0609020204030204" pitchFamily="49" charset="0"/>
                        </a:rPr>
                        <a:t>boolean</a:t>
                      </a:r>
                      <a:r>
                        <a:rPr lang="fr-BE" dirty="0">
                          <a:solidFill>
                            <a:schemeClr val="accent4"/>
                          </a:solidFill>
                          <a:latin typeface="Consolas" panose="020B0609020204030204" pitchFamily="49" charset="0"/>
                          <a:cs typeface="Consolas" panose="020B0609020204030204" pitchFamily="49" charset="0"/>
                        </a:rPr>
                        <a:t> </a:t>
                      </a:r>
                      <a:r>
                        <a:rPr lang="fr-BE" dirty="0" err="1">
                          <a:solidFill>
                            <a:schemeClr val="accent4"/>
                          </a:solidFill>
                          <a:latin typeface="Consolas" panose="020B0609020204030204" pitchFamily="49" charset="0"/>
                          <a:cs typeface="Consolas" panose="020B0609020204030204" pitchFamily="49" charset="0"/>
                        </a:rPr>
                        <a:t>remove</a:t>
                      </a:r>
                      <a:r>
                        <a:rPr lang="fr-BE" dirty="0">
                          <a:solidFill>
                            <a:schemeClr val="accent4"/>
                          </a:solidFill>
                          <a:latin typeface="Consolas" panose="020B0609020204030204" pitchFamily="49" charset="0"/>
                          <a:cs typeface="Consolas" panose="020B0609020204030204" pitchFamily="49" charset="0"/>
                        </a:rPr>
                        <a:t>()</a:t>
                      </a:r>
                    </a:p>
                  </a:txBody>
                  <a:tcPr anchor="ct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r>
                        <a:rPr lang="fr-BE" dirty="0">
                          <a:solidFill>
                            <a:schemeClr val="accent4"/>
                          </a:solidFill>
                          <a:latin typeface="Consolas" panose="020B0609020204030204" pitchFamily="49" charset="0"/>
                          <a:cs typeface="Consolas" panose="020B0609020204030204" pitchFamily="49" charset="0"/>
                        </a:rPr>
                        <a:t>E </a:t>
                      </a:r>
                      <a:r>
                        <a:rPr lang="fr-BE" dirty="0" err="1">
                          <a:solidFill>
                            <a:schemeClr val="accent4"/>
                          </a:solidFill>
                          <a:latin typeface="Consolas" panose="020B0609020204030204" pitchFamily="49" charset="0"/>
                          <a:cs typeface="Consolas" panose="020B0609020204030204" pitchFamily="49" charset="0"/>
                        </a:rPr>
                        <a:t>poll</a:t>
                      </a:r>
                      <a:r>
                        <a:rPr lang="fr-BE" dirty="0">
                          <a:solidFill>
                            <a:schemeClr val="accent4"/>
                          </a:solidFill>
                          <a:latin typeface="Consolas" panose="020B0609020204030204" pitchFamily="49" charset="0"/>
                          <a:cs typeface="Consolas" panose="020B0609020204030204" pitchFamily="49" charset="0"/>
                        </a:rPr>
                        <a:t>()</a:t>
                      </a:r>
                    </a:p>
                  </a:txBody>
                  <a:tcPr anchor="ct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464721942"/>
                  </a:ext>
                </a:extLst>
              </a:tr>
              <a:tr h="0">
                <a:tc>
                  <a:txBody>
                    <a:bodyPr/>
                    <a:lstStyle/>
                    <a:p>
                      <a:r>
                        <a:rPr lang="fr-BE" sz="2000" b="1" dirty="0"/>
                        <a:t>Lecture</a:t>
                      </a:r>
                    </a:p>
                  </a:txBody>
                  <a:tcPr anchor="ctr">
                    <a:lnT w="12700" cap="flat" cmpd="sng" algn="ctr">
                      <a:solidFill>
                        <a:schemeClr val="accent4"/>
                      </a:solidFill>
                      <a:prstDash val="solid"/>
                      <a:round/>
                      <a:headEnd type="none" w="med" len="med"/>
                      <a:tailEnd type="none" w="med" len="med"/>
                    </a:lnT>
                  </a:tcPr>
                </a:tc>
                <a:tc>
                  <a:txBody>
                    <a:bodyPr/>
                    <a:lstStyle/>
                    <a:p>
                      <a:r>
                        <a:rPr lang="fr-BE" dirty="0">
                          <a:solidFill>
                            <a:schemeClr val="accent4"/>
                          </a:solidFill>
                          <a:latin typeface="Consolas" panose="020B0609020204030204" pitchFamily="49" charset="0"/>
                          <a:cs typeface="Consolas" panose="020B0609020204030204" pitchFamily="49" charset="0"/>
                        </a:rPr>
                        <a:t>E </a:t>
                      </a:r>
                      <a:r>
                        <a:rPr lang="fr-BE" dirty="0" err="1">
                          <a:solidFill>
                            <a:schemeClr val="accent4"/>
                          </a:solidFill>
                          <a:latin typeface="Consolas" panose="020B0609020204030204" pitchFamily="49" charset="0"/>
                          <a:cs typeface="Consolas" panose="020B0609020204030204" pitchFamily="49" charset="0"/>
                        </a:rPr>
                        <a:t>element</a:t>
                      </a:r>
                      <a:r>
                        <a:rPr lang="fr-BE" dirty="0">
                          <a:solidFill>
                            <a:schemeClr val="accent4"/>
                          </a:solidFill>
                          <a:latin typeface="Consolas" panose="020B0609020204030204" pitchFamily="49" charset="0"/>
                          <a:cs typeface="Consolas" panose="020B0609020204030204" pitchFamily="49" charset="0"/>
                        </a:rPr>
                        <a:t>()</a:t>
                      </a:r>
                    </a:p>
                  </a:txBody>
                  <a:tcPr anchor="ctr">
                    <a:lnT w="12700" cap="flat" cmpd="sng" algn="ctr">
                      <a:solidFill>
                        <a:schemeClr val="accent4"/>
                      </a:solidFill>
                      <a:prstDash val="solid"/>
                      <a:round/>
                      <a:headEnd type="none" w="med" len="med"/>
                      <a:tailEnd type="none" w="med" len="med"/>
                    </a:lnT>
                  </a:tcPr>
                </a:tc>
                <a:tc>
                  <a:txBody>
                    <a:bodyPr/>
                    <a:lstStyle/>
                    <a:p>
                      <a:r>
                        <a:rPr lang="fr-BE" dirty="0">
                          <a:solidFill>
                            <a:schemeClr val="accent4"/>
                          </a:solidFill>
                          <a:latin typeface="Consolas" panose="020B0609020204030204" pitchFamily="49" charset="0"/>
                          <a:cs typeface="Consolas" panose="020B0609020204030204" pitchFamily="49" charset="0"/>
                        </a:rPr>
                        <a:t>E </a:t>
                      </a:r>
                      <a:r>
                        <a:rPr lang="fr-BE" dirty="0" err="1">
                          <a:solidFill>
                            <a:schemeClr val="accent4"/>
                          </a:solidFill>
                          <a:latin typeface="Consolas" panose="020B0609020204030204" pitchFamily="49" charset="0"/>
                          <a:cs typeface="Consolas" panose="020B0609020204030204" pitchFamily="49" charset="0"/>
                        </a:rPr>
                        <a:t>peek</a:t>
                      </a:r>
                      <a:r>
                        <a:rPr lang="fr-BE" dirty="0">
                          <a:solidFill>
                            <a:schemeClr val="accent4"/>
                          </a:solidFill>
                          <a:latin typeface="Consolas" panose="020B0609020204030204" pitchFamily="49" charset="0"/>
                          <a:cs typeface="Consolas" panose="020B0609020204030204" pitchFamily="49" charset="0"/>
                        </a:rPr>
                        <a:t>()</a:t>
                      </a:r>
                    </a:p>
                  </a:txBody>
                  <a:tcPr anchor="ctr">
                    <a:lnT w="12700" cap="flat" cmpd="sng" algn="ctr">
                      <a:solidFill>
                        <a:schemeClr val="accent4"/>
                      </a:solidFill>
                      <a:prstDash val="solid"/>
                      <a:round/>
                      <a:headEnd type="none" w="med" len="med"/>
                      <a:tailEnd type="none" w="med" len="med"/>
                    </a:lnT>
                  </a:tcPr>
                </a:tc>
                <a:extLst>
                  <a:ext uri="{0D108BD9-81ED-4DB2-BD59-A6C34878D82A}">
                    <a16:rowId xmlns:a16="http://schemas.microsoft.com/office/drawing/2014/main" val="1633324167"/>
                  </a:ext>
                </a:extLst>
              </a:tr>
            </a:tbl>
          </a:graphicData>
        </a:graphic>
      </p:graphicFrame>
      <p:sp>
        <p:nvSpPr>
          <p:cNvPr id="7" name="ZoneTexte 6">
            <a:extLst>
              <a:ext uri="{FF2B5EF4-FFF2-40B4-BE49-F238E27FC236}">
                <a16:creationId xmlns:a16="http://schemas.microsoft.com/office/drawing/2014/main" id="{F10A3231-4AC4-A27E-8CAC-860044F832AE}"/>
              </a:ext>
            </a:extLst>
          </p:cNvPr>
          <p:cNvSpPr txBox="1"/>
          <p:nvPr/>
        </p:nvSpPr>
        <p:spPr>
          <a:xfrm>
            <a:off x="9421256" y="346526"/>
            <a:ext cx="2220953" cy="369332"/>
          </a:xfrm>
          <a:prstGeom prst="rect">
            <a:avLst/>
          </a:prstGeom>
          <a:solidFill>
            <a:srgbClr val="FF7F0B"/>
          </a:solidFill>
        </p:spPr>
        <p:txBody>
          <a:bodyPr wrap="square" rtlCol="0" anchor="ctr">
            <a:spAutoFit/>
          </a:bodyPr>
          <a:lstStyle/>
          <a:p>
            <a:pPr algn="ctr"/>
            <a:r>
              <a:rPr lang="fr-FR" b="1" dirty="0">
                <a:latin typeface="Consolas" panose="020B0609020204030204" pitchFamily="49" charset="0"/>
                <a:cs typeface="Consolas" panose="020B0609020204030204" pitchFamily="49" charset="0"/>
              </a:rPr>
              <a:t>Queue</a:t>
            </a:r>
          </a:p>
        </p:txBody>
      </p:sp>
      <p:grpSp>
        <p:nvGrpSpPr>
          <p:cNvPr id="20" name="Groupe 19">
            <a:extLst>
              <a:ext uri="{FF2B5EF4-FFF2-40B4-BE49-F238E27FC236}">
                <a16:creationId xmlns:a16="http://schemas.microsoft.com/office/drawing/2014/main" id="{F16B495D-606A-5CF5-C707-197B29FDF4B6}"/>
              </a:ext>
            </a:extLst>
          </p:cNvPr>
          <p:cNvGrpSpPr/>
          <p:nvPr/>
        </p:nvGrpSpPr>
        <p:grpSpPr>
          <a:xfrm flipV="1">
            <a:off x="7772400" y="1197391"/>
            <a:ext cx="2732326" cy="408730"/>
            <a:chOff x="7207062" y="1112822"/>
            <a:chExt cx="3863002" cy="577868"/>
          </a:xfrm>
        </p:grpSpPr>
        <p:sp>
          <p:nvSpPr>
            <p:cNvPr id="11" name="Rectangle : coins arrondis 10">
              <a:extLst>
                <a:ext uri="{FF2B5EF4-FFF2-40B4-BE49-F238E27FC236}">
                  <a16:creationId xmlns:a16="http://schemas.microsoft.com/office/drawing/2014/main" id="{B53CA58E-8365-9F49-5980-8854E294BA3C}"/>
                </a:ext>
              </a:extLst>
            </p:cNvPr>
            <p:cNvSpPr/>
            <p:nvPr/>
          </p:nvSpPr>
          <p:spPr>
            <a:xfrm>
              <a:off x="8019276" y="1112822"/>
              <a:ext cx="3050788" cy="577868"/>
            </a:xfrm>
            <a:prstGeom prst="roundRect">
              <a:avLst/>
            </a:prstGeom>
            <a:solidFill>
              <a:srgbClr val="FF7E0B"/>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llipse 11">
              <a:extLst>
                <a:ext uri="{FF2B5EF4-FFF2-40B4-BE49-F238E27FC236}">
                  <a16:creationId xmlns:a16="http://schemas.microsoft.com/office/drawing/2014/main" id="{53D7C734-ED6F-C8DD-4E5C-CA37C0E93068}"/>
                </a:ext>
              </a:extLst>
            </p:cNvPr>
            <p:cNvSpPr/>
            <p:nvPr/>
          </p:nvSpPr>
          <p:spPr>
            <a:xfrm>
              <a:off x="8737433" y="1221464"/>
              <a:ext cx="360000" cy="360000"/>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llipse 12">
              <a:extLst>
                <a:ext uri="{FF2B5EF4-FFF2-40B4-BE49-F238E27FC236}">
                  <a16:creationId xmlns:a16="http://schemas.microsoft.com/office/drawing/2014/main" id="{7200594F-69D4-A79B-CE44-58E3743F611C}"/>
                </a:ext>
              </a:extLst>
            </p:cNvPr>
            <p:cNvSpPr/>
            <p:nvPr/>
          </p:nvSpPr>
          <p:spPr>
            <a:xfrm>
              <a:off x="8153089" y="1221464"/>
              <a:ext cx="360000" cy="360000"/>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Ellipse 13">
              <a:extLst>
                <a:ext uri="{FF2B5EF4-FFF2-40B4-BE49-F238E27FC236}">
                  <a16:creationId xmlns:a16="http://schemas.microsoft.com/office/drawing/2014/main" id="{950C4F32-17B7-CB86-4948-AD419E66B0C7}"/>
                </a:ext>
              </a:extLst>
            </p:cNvPr>
            <p:cNvSpPr/>
            <p:nvPr/>
          </p:nvSpPr>
          <p:spPr>
            <a:xfrm>
              <a:off x="9321777" y="1221464"/>
              <a:ext cx="360000" cy="360000"/>
            </a:xfrm>
            <a:prstGeom prst="ellipse">
              <a:avLst/>
            </a:prstGeom>
            <a:solidFill>
              <a:schemeClr val="accent5">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Ellipse 14">
              <a:extLst>
                <a:ext uri="{FF2B5EF4-FFF2-40B4-BE49-F238E27FC236}">
                  <a16:creationId xmlns:a16="http://schemas.microsoft.com/office/drawing/2014/main" id="{10C0784B-FD97-DF37-D6DC-FA80E5B76F03}"/>
                </a:ext>
              </a:extLst>
            </p:cNvPr>
            <p:cNvSpPr/>
            <p:nvPr/>
          </p:nvSpPr>
          <p:spPr>
            <a:xfrm>
              <a:off x="9906121" y="1221464"/>
              <a:ext cx="360000" cy="360000"/>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Ellipse 15">
              <a:extLst>
                <a:ext uri="{FF2B5EF4-FFF2-40B4-BE49-F238E27FC236}">
                  <a16:creationId xmlns:a16="http://schemas.microsoft.com/office/drawing/2014/main" id="{12AE966D-F437-F593-2976-261C68D3AC2C}"/>
                </a:ext>
              </a:extLst>
            </p:cNvPr>
            <p:cNvSpPr/>
            <p:nvPr/>
          </p:nvSpPr>
          <p:spPr>
            <a:xfrm>
              <a:off x="10490463" y="1221464"/>
              <a:ext cx="360000" cy="360000"/>
            </a:xfrm>
            <a:prstGeom prst="ellipse">
              <a:avLst/>
            </a:prstGeom>
            <a:solidFill>
              <a:schemeClr val="accent2">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Ellipse 16">
              <a:extLst>
                <a:ext uri="{FF2B5EF4-FFF2-40B4-BE49-F238E27FC236}">
                  <a16:creationId xmlns:a16="http://schemas.microsoft.com/office/drawing/2014/main" id="{EE6C282E-1397-4435-4DDA-0F5175BB0BAF}"/>
                </a:ext>
              </a:extLst>
            </p:cNvPr>
            <p:cNvSpPr/>
            <p:nvPr/>
          </p:nvSpPr>
          <p:spPr>
            <a:xfrm>
              <a:off x="7207062" y="1221464"/>
              <a:ext cx="360000" cy="360000"/>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9" name="Flèche droite à entaille 18">
              <a:extLst>
                <a:ext uri="{FF2B5EF4-FFF2-40B4-BE49-F238E27FC236}">
                  <a16:creationId xmlns:a16="http://schemas.microsoft.com/office/drawing/2014/main" id="{35F3C261-44B6-51A3-1FE6-60E19A5FE0AB}"/>
                </a:ext>
              </a:extLst>
            </p:cNvPr>
            <p:cNvSpPr/>
            <p:nvPr/>
          </p:nvSpPr>
          <p:spPr>
            <a:xfrm>
              <a:off x="7605496" y="1278468"/>
              <a:ext cx="336620" cy="245992"/>
            </a:xfrm>
            <a:prstGeom prst="notchedRightArrow">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1" name="Bulle rectangulaire 20">
            <a:extLst>
              <a:ext uri="{FF2B5EF4-FFF2-40B4-BE49-F238E27FC236}">
                <a16:creationId xmlns:a16="http://schemas.microsoft.com/office/drawing/2014/main" id="{2FC9B8B4-2842-BF22-5BB7-0F147C2D7A56}"/>
              </a:ext>
            </a:extLst>
          </p:cNvPr>
          <p:cNvSpPr/>
          <p:nvPr/>
        </p:nvSpPr>
        <p:spPr>
          <a:xfrm>
            <a:off x="5037377" y="6397913"/>
            <a:ext cx="3759200" cy="314960"/>
          </a:xfrm>
          <a:prstGeom prst="wedgeRectCallout">
            <a:avLst>
              <a:gd name="adj1" fmla="val 27381"/>
              <a:gd name="adj2" fmla="val -98790"/>
            </a:avLst>
          </a:prstGeom>
          <a:solidFill>
            <a:srgbClr val="00B05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2" name="Bulle rectangulaire 21">
            <a:extLst>
              <a:ext uri="{FF2B5EF4-FFF2-40B4-BE49-F238E27FC236}">
                <a16:creationId xmlns:a16="http://schemas.microsoft.com/office/drawing/2014/main" id="{03EC732C-7421-754E-BD7B-4E760A4A99E0}"/>
              </a:ext>
            </a:extLst>
          </p:cNvPr>
          <p:cNvSpPr/>
          <p:nvPr/>
        </p:nvSpPr>
        <p:spPr>
          <a:xfrm>
            <a:off x="5037377" y="6397913"/>
            <a:ext cx="3759200" cy="314960"/>
          </a:xfrm>
          <a:prstGeom prst="wedgeRectCallout">
            <a:avLst>
              <a:gd name="adj1" fmla="val -27381"/>
              <a:gd name="adj2" fmla="val -102016"/>
            </a:avLst>
          </a:prstGeom>
          <a:solidFill>
            <a:srgbClr val="00B05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Si la Queue est pleine/vide</a:t>
            </a:r>
          </a:p>
        </p:txBody>
      </p:sp>
      <p:sp>
        <p:nvSpPr>
          <p:cNvPr id="4" name="Espace réservé du numéro de diapositive 3">
            <a:extLst>
              <a:ext uri="{FF2B5EF4-FFF2-40B4-BE49-F238E27FC236}">
                <a16:creationId xmlns:a16="http://schemas.microsoft.com/office/drawing/2014/main" id="{FDA44350-F255-1149-8525-91A26D6DEDE1}"/>
              </a:ext>
            </a:extLst>
          </p:cNvPr>
          <p:cNvSpPr>
            <a:spLocks noGrp="1"/>
          </p:cNvSpPr>
          <p:nvPr>
            <p:ph type="sldNum" sz="quarter" idx="4"/>
          </p:nvPr>
        </p:nvSpPr>
        <p:spPr/>
        <p:txBody>
          <a:bodyPr/>
          <a:lstStyle/>
          <a:p>
            <a:fld id="{33C783E2-4793-4F48-A271-51A73CC37D74}" type="slidenum">
              <a:rPr lang="fr-FR" smtClean="0"/>
              <a:t>21</a:t>
            </a:fld>
            <a:endParaRPr lang="fr-FR"/>
          </a:p>
        </p:txBody>
      </p:sp>
    </p:spTree>
    <p:extLst>
      <p:ext uri="{BB962C8B-B14F-4D97-AF65-F5344CB8AC3E}">
        <p14:creationId xmlns:p14="http://schemas.microsoft.com/office/powerpoint/2010/main" val="2952986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500"/>
                                        <p:tgtEl>
                                          <p:spTgt spid="2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Les Interfaces: </a:t>
            </a:r>
            <a:r>
              <a:rPr lang="fr-FR" dirty="0" err="1"/>
              <a:t>Deque</a:t>
            </a:r>
            <a:endParaRPr lang="fr-FR" dirty="0"/>
          </a:p>
        </p:txBody>
      </p:sp>
      <p:sp>
        <p:nvSpPr>
          <p:cNvPr id="3" name="Espace réservé du contenu 2"/>
          <p:cNvSpPr>
            <a:spLocks noGrp="1"/>
          </p:cNvSpPr>
          <p:nvPr>
            <p:ph idx="1"/>
          </p:nvPr>
        </p:nvSpPr>
        <p:spPr>
          <a:xfrm>
            <a:off x="838200" y="1825625"/>
            <a:ext cx="11272024" cy="4351338"/>
          </a:xfrm>
        </p:spPr>
        <p:txBody>
          <a:bodyPr>
            <a:normAutofit/>
          </a:bodyPr>
          <a:lstStyle/>
          <a:p>
            <a:pPr marL="0" indent="0">
              <a:buNone/>
            </a:pPr>
            <a:r>
              <a:rPr lang="fr-FR" sz="2000" dirty="0"/>
              <a:t>Une </a:t>
            </a:r>
            <a:r>
              <a:rPr lang="fr-FR" sz="2000" dirty="0" err="1">
                <a:solidFill>
                  <a:schemeClr val="accent4"/>
                </a:solidFill>
              </a:rPr>
              <a:t>Deque</a:t>
            </a:r>
            <a:r>
              <a:rPr lang="fr-FR" sz="2000" dirty="0"/>
              <a:t>, double entry queue (prononcé </a:t>
            </a:r>
            <a:r>
              <a:rPr lang="fr-BE" sz="2000" dirty="0">
                <a:solidFill>
                  <a:schemeClr val="accent4"/>
                </a:solidFill>
              </a:rPr>
              <a:t>[</a:t>
            </a:r>
            <a:r>
              <a:rPr lang="fr-BE" sz="2000" dirty="0" err="1">
                <a:solidFill>
                  <a:schemeClr val="accent4"/>
                </a:solidFill>
              </a:rPr>
              <a:t>dɛk</a:t>
            </a:r>
            <a:r>
              <a:rPr lang="fr-BE" sz="2000" dirty="0">
                <a:solidFill>
                  <a:schemeClr val="accent4"/>
                </a:solidFill>
              </a:rPr>
              <a:t>]</a:t>
            </a:r>
            <a:r>
              <a:rPr lang="fr-FR" sz="2000" dirty="0"/>
              <a:t>), représente un une file d’attente à double entrée.</a:t>
            </a:r>
          </a:p>
          <a:p>
            <a:pPr marL="274320" lvl="1" indent="0">
              <a:buNone/>
            </a:pPr>
            <a:r>
              <a:rPr lang="fr-FR" sz="1800" dirty="0">
                <a:solidFill>
                  <a:schemeClr val="accent4"/>
                </a:solidFill>
                <a:latin typeface="Consolas" charset="0"/>
                <a:ea typeface="Consolas" charset="0"/>
                <a:cs typeface="Consolas" charset="0"/>
              </a:rPr>
              <a:t>public interface </a:t>
            </a:r>
            <a:r>
              <a:rPr lang="fr-FR" sz="1800" dirty="0" err="1">
                <a:solidFill>
                  <a:schemeClr val="accent4"/>
                </a:solidFill>
                <a:latin typeface="Consolas" charset="0"/>
                <a:ea typeface="Consolas" charset="0"/>
                <a:cs typeface="Consolas" charset="0"/>
              </a:rPr>
              <a:t>Deque</a:t>
            </a:r>
            <a:r>
              <a:rPr lang="fr-FR" sz="1800" dirty="0">
                <a:solidFill>
                  <a:schemeClr val="accent4"/>
                </a:solidFill>
                <a:latin typeface="Consolas" charset="0"/>
                <a:ea typeface="Consolas" charset="0"/>
                <a:cs typeface="Consolas" charset="0"/>
              </a:rPr>
              <a:t>&lt;E&gt; </a:t>
            </a:r>
            <a:r>
              <a:rPr lang="fr-FR" sz="1800" dirty="0" err="1">
                <a:solidFill>
                  <a:schemeClr val="accent4"/>
                </a:solidFill>
                <a:latin typeface="Consolas" charset="0"/>
                <a:ea typeface="Consolas" charset="0"/>
                <a:cs typeface="Consolas" charset="0"/>
              </a:rPr>
              <a:t>extends</a:t>
            </a:r>
            <a:r>
              <a:rPr lang="fr-FR" sz="1800" dirty="0">
                <a:solidFill>
                  <a:schemeClr val="accent4"/>
                </a:solidFill>
                <a:latin typeface="Consolas" charset="0"/>
                <a:ea typeface="Consolas" charset="0"/>
                <a:cs typeface="Consolas" charset="0"/>
              </a:rPr>
              <a:t> Collection&lt;E&gt;</a:t>
            </a:r>
          </a:p>
          <a:p>
            <a:endParaRPr lang="fr-FR" sz="2000" dirty="0"/>
          </a:p>
          <a:p>
            <a:endParaRPr lang="fr-FR" sz="1200" dirty="0"/>
          </a:p>
          <a:p>
            <a:pPr marL="0" indent="0">
              <a:buNone/>
            </a:pPr>
            <a:r>
              <a:rPr lang="fr-FR" sz="2000" dirty="0"/>
              <a:t>Comme ce qui était proposé pour la </a:t>
            </a:r>
            <a:r>
              <a:rPr lang="fr-FR" sz="2000" dirty="0">
                <a:solidFill>
                  <a:schemeClr val="accent4"/>
                </a:solidFill>
              </a:rPr>
              <a:t>Queue</a:t>
            </a:r>
            <a:r>
              <a:rPr lang="fr-FR" sz="2000" dirty="0"/>
              <a:t>, la </a:t>
            </a:r>
            <a:r>
              <a:rPr lang="fr-FR" sz="2000" dirty="0" err="1">
                <a:solidFill>
                  <a:schemeClr val="accent4"/>
                </a:solidFill>
              </a:rPr>
              <a:t>Deque</a:t>
            </a:r>
            <a:r>
              <a:rPr lang="fr-FR" sz="2000" dirty="0"/>
              <a:t> permet les opérations suivantes (au début et à la fin):</a:t>
            </a:r>
          </a:p>
        </p:txBody>
      </p:sp>
      <p:sp>
        <p:nvSpPr>
          <p:cNvPr id="7" name="ZoneTexte 6">
            <a:extLst>
              <a:ext uri="{FF2B5EF4-FFF2-40B4-BE49-F238E27FC236}">
                <a16:creationId xmlns:a16="http://schemas.microsoft.com/office/drawing/2014/main" id="{2853CE7B-81D0-CC7E-FD95-C9B80BEBB924}"/>
              </a:ext>
            </a:extLst>
          </p:cNvPr>
          <p:cNvSpPr txBox="1"/>
          <p:nvPr/>
        </p:nvSpPr>
        <p:spPr>
          <a:xfrm>
            <a:off x="9421256" y="346526"/>
            <a:ext cx="2220953" cy="369332"/>
          </a:xfrm>
          <a:prstGeom prst="rect">
            <a:avLst/>
          </a:prstGeom>
          <a:solidFill>
            <a:srgbClr val="FF7F0B"/>
          </a:solidFill>
        </p:spPr>
        <p:txBody>
          <a:bodyPr wrap="square" rtlCol="0" anchor="ctr">
            <a:spAutoFit/>
          </a:bodyPr>
          <a:lstStyle/>
          <a:p>
            <a:pPr algn="ctr"/>
            <a:r>
              <a:rPr lang="fr-FR" b="1" dirty="0" err="1">
                <a:latin typeface="Consolas" panose="020B0609020204030204" pitchFamily="49" charset="0"/>
                <a:cs typeface="Consolas" panose="020B0609020204030204" pitchFamily="49" charset="0"/>
              </a:rPr>
              <a:t>Deque</a:t>
            </a:r>
            <a:endParaRPr lang="fr-FR" b="1" dirty="0">
              <a:latin typeface="Consolas" panose="020B0609020204030204" pitchFamily="49" charset="0"/>
              <a:cs typeface="Consolas" panose="020B0609020204030204" pitchFamily="49" charset="0"/>
            </a:endParaRPr>
          </a:p>
        </p:txBody>
      </p:sp>
      <p:graphicFrame>
        <p:nvGraphicFramePr>
          <p:cNvPr id="8" name="Tableau 7">
            <a:extLst>
              <a:ext uri="{FF2B5EF4-FFF2-40B4-BE49-F238E27FC236}">
                <a16:creationId xmlns:a16="http://schemas.microsoft.com/office/drawing/2014/main" id="{57C1A87C-4A72-B837-4623-C3D272751286}"/>
              </a:ext>
            </a:extLst>
          </p:cNvPr>
          <p:cNvGraphicFramePr>
            <a:graphicFrameLocks noGrp="1"/>
          </p:cNvGraphicFramePr>
          <p:nvPr>
            <p:extLst>
              <p:ext uri="{D42A27DB-BD31-4B8C-83A1-F6EECF244321}">
                <p14:modId xmlns:p14="http://schemas.microsoft.com/office/powerpoint/2010/main" val="1428954640"/>
              </p:ext>
            </p:extLst>
          </p:nvPr>
        </p:nvGraphicFramePr>
        <p:xfrm>
          <a:off x="2293937" y="3794077"/>
          <a:ext cx="7620000" cy="2316480"/>
        </p:xfrm>
        <a:graphic>
          <a:graphicData uri="http://schemas.openxmlformats.org/drawingml/2006/table">
            <a:tbl>
              <a:tblPr firstRow="1">
                <a:tableStyleId>{17292A2E-F333-43FB-9621-5CBBE7FDCDCB}</a:tableStyleId>
              </a:tblPr>
              <a:tblGrid>
                <a:gridCol w="2540000">
                  <a:extLst>
                    <a:ext uri="{9D8B030D-6E8A-4147-A177-3AD203B41FA5}">
                      <a16:colId xmlns:a16="http://schemas.microsoft.com/office/drawing/2014/main" val="2944178601"/>
                    </a:ext>
                  </a:extLst>
                </a:gridCol>
                <a:gridCol w="2540000">
                  <a:extLst>
                    <a:ext uri="{9D8B030D-6E8A-4147-A177-3AD203B41FA5}">
                      <a16:colId xmlns:a16="http://schemas.microsoft.com/office/drawing/2014/main" val="3411723852"/>
                    </a:ext>
                  </a:extLst>
                </a:gridCol>
                <a:gridCol w="2540000">
                  <a:extLst>
                    <a:ext uri="{9D8B030D-6E8A-4147-A177-3AD203B41FA5}">
                      <a16:colId xmlns:a16="http://schemas.microsoft.com/office/drawing/2014/main" val="798229005"/>
                    </a:ext>
                  </a:extLst>
                </a:gridCol>
              </a:tblGrid>
              <a:tr h="0">
                <a:tc>
                  <a:txBody>
                    <a:bodyPr/>
                    <a:lstStyle/>
                    <a:p>
                      <a:r>
                        <a:rPr lang="fr-BE" sz="2000" dirty="0">
                          <a:solidFill>
                            <a:srgbClr val="C00000"/>
                          </a:solidFill>
                        </a:rPr>
                        <a:t>Type d’Opération</a:t>
                      </a:r>
                    </a:p>
                  </a:txBody>
                  <a:tcPr anchor="ctr"/>
                </a:tc>
                <a:tc>
                  <a:txBody>
                    <a:bodyPr/>
                    <a:lstStyle/>
                    <a:p>
                      <a:r>
                        <a:rPr lang="fr-BE" sz="2000" dirty="0">
                          <a:solidFill>
                            <a:srgbClr val="C00000"/>
                          </a:solidFill>
                        </a:rPr>
                        <a:t>Lance une exception</a:t>
                      </a:r>
                    </a:p>
                  </a:txBody>
                  <a:tcPr anchor="ctr"/>
                </a:tc>
                <a:tc>
                  <a:txBody>
                    <a:bodyPr/>
                    <a:lstStyle/>
                    <a:p>
                      <a:r>
                        <a:rPr lang="fr-BE" sz="2000" dirty="0">
                          <a:solidFill>
                            <a:srgbClr val="C00000"/>
                          </a:solidFill>
                        </a:rPr>
                        <a:t>Retourne une valeur</a:t>
                      </a:r>
                    </a:p>
                  </a:txBody>
                  <a:tcPr anchor="ctr"/>
                </a:tc>
                <a:extLst>
                  <a:ext uri="{0D108BD9-81ED-4DB2-BD59-A6C34878D82A}">
                    <a16:rowId xmlns:a16="http://schemas.microsoft.com/office/drawing/2014/main" val="973426666"/>
                  </a:ext>
                </a:extLst>
              </a:tr>
              <a:tr h="0">
                <a:tc>
                  <a:txBody>
                    <a:bodyPr/>
                    <a:lstStyle/>
                    <a:p>
                      <a:r>
                        <a:rPr lang="fr-BE" sz="2000" b="1" dirty="0"/>
                        <a:t>Insertion</a:t>
                      </a:r>
                    </a:p>
                  </a:txBody>
                  <a:tcPr anchor="ctr">
                    <a:lnB w="12700" cap="flat" cmpd="sng" algn="ctr">
                      <a:solidFill>
                        <a:schemeClr val="accent4"/>
                      </a:solidFill>
                      <a:prstDash val="solid"/>
                      <a:round/>
                      <a:headEnd type="none" w="med" len="med"/>
                      <a:tailEnd type="none" w="med" len="med"/>
                    </a:lnB>
                  </a:tcPr>
                </a:tc>
                <a:tc>
                  <a:txBody>
                    <a:bodyPr/>
                    <a:lstStyle/>
                    <a:p>
                      <a:r>
                        <a:rPr lang="fr-BE" dirty="0" err="1">
                          <a:solidFill>
                            <a:schemeClr val="accent4"/>
                          </a:solidFill>
                          <a:latin typeface="Consolas" panose="020B0609020204030204" pitchFamily="49" charset="0"/>
                          <a:cs typeface="Consolas" panose="020B0609020204030204" pitchFamily="49" charset="0"/>
                        </a:rPr>
                        <a:t>addFirst</a:t>
                      </a:r>
                      <a:r>
                        <a:rPr lang="fr-BE" dirty="0">
                          <a:solidFill>
                            <a:schemeClr val="accent4"/>
                          </a:solidFill>
                          <a:latin typeface="Consolas" panose="020B0609020204030204" pitchFamily="49" charset="0"/>
                          <a:cs typeface="Consolas" panose="020B0609020204030204" pitchFamily="49" charset="0"/>
                        </a:rPr>
                        <a:t>(e)</a:t>
                      </a:r>
                    </a:p>
                    <a:p>
                      <a:r>
                        <a:rPr lang="fr-BE" dirty="0" err="1">
                          <a:solidFill>
                            <a:schemeClr val="accent4"/>
                          </a:solidFill>
                          <a:latin typeface="Consolas" panose="020B0609020204030204" pitchFamily="49" charset="0"/>
                          <a:cs typeface="Consolas" panose="020B0609020204030204" pitchFamily="49" charset="0"/>
                        </a:rPr>
                        <a:t>addLast</a:t>
                      </a:r>
                      <a:r>
                        <a:rPr lang="fr-BE" dirty="0">
                          <a:solidFill>
                            <a:schemeClr val="accent4"/>
                          </a:solidFill>
                          <a:latin typeface="Consolas" panose="020B0609020204030204" pitchFamily="49" charset="0"/>
                          <a:cs typeface="Consolas" panose="020B0609020204030204" pitchFamily="49" charset="0"/>
                        </a:rPr>
                        <a:t>(e)</a:t>
                      </a:r>
                    </a:p>
                  </a:txBody>
                  <a:tcPr anchor="ctr">
                    <a:lnB w="12700" cap="flat" cmpd="sng" algn="ctr">
                      <a:solidFill>
                        <a:schemeClr val="accent4"/>
                      </a:solidFill>
                      <a:prstDash val="solid"/>
                      <a:round/>
                      <a:headEnd type="none" w="med" len="med"/>
                      <a:tailEnd type="none" w="med" len="med"/>
                    </a:lnB>
                  </a:tcPr>
                </a:tc>
                <a:tc>
                  <a:txBody>
                    <a:bodyPr/>
                    <a:lstStyle/>
                    <a:p>
                      <a:r>
                        <a:rPr lang="fr-BE" dirty="0" err="1">
                          <a:solidFill>
                            <a:schemeClr val="accent4"/>
                          </a:solidFill>
                          <a:latin typeface="Consolas" panose="020B0609020204030204" pitchFamily="49" charset="0"/>
                          <a:cs typeface="Consolas" panose="020B0609020204030204" pitchFamily="49" charset="0"/>
                        </a:rPr>
                        <a:t>offerFirst</a:t>
                      </a:r>
                      <a:r>
                        <a:rPr lang="fr-BE" dirty="0">
                          <a:solidFill>
                            <a:schemeClr val="accent4"/>
                          </a:solidFill>
                          <a:latin typeface="Consolas" panose="020B0609020204030204" pitchFamily="49" charset="0"/>
                          <a:cs typeface="Consolas" panose="020B0609020204030204" pitchFamily="49" charset="0"/>
                        </a:rPr>
                        <a:t>(e)</a:t>
                      </a:r>
                    </a:p>
                    <a:p>
                      <a:r>
                        <a:rPr lang="fr-BE" dirty="0" err="1">
                          <a:solidFill>
                            <a:schemeClr val="accent4"/>
                          </a:solidFill>
                          <a:latin typeface="Consolas" panose="020B0609020204030204" pitchFamily="49" charset="0"/>
                          <a:cs typeface="Consolas" panose="020B0609020204030204" pitchFamily="49" charset="0"/>
                        </a:rPr>
                        <a:t>offerLast</a:t>
                      </a:r>
                      <a:r>
                        <a:rPr lang="fr-BE" dirty="0">
                          <a:solidFill>
                            <a:schemeClr val="accent4"/>
                          </a:solidFill>
                          <a:latin typeface="Consolas" panose="020B0609020204030204" pitchFamily="49" charset="0"/>
                          <a:cs typeface="Consolas" panose="020B0609020204030204" pitchFamily="49" charset="0"/>
                        </a:rPr>
                        <a:t>(e)</a:t>
                      </a:r>
                    </a:p>
                  </a:txBody>
                  <a:tcPr anchor="ctr">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337882934"/>
                  </a:ext>
                </a:extLst>
              </a:tr>
              <a:tr h="0">
                <a:tc>
                  <a:txBody>
                    <a:bodyPr/>
                    <a:lstStyle/>
                    <a:p>
                      <a:r>
                        <a:rPr lang="fr-BE" sz="2000" b="1" dirty="0"/>
                        <a:t>Suppression</a:t>
                      </a:r>
                    </a:p>
                  </a:txBody>
                  <a:tcPr anchor="ct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r>
                        <a:rPr lang="fr-BE" dirty="0" err="1">
                          <a:solidFill>
                            <a:schemeClr val="accent4"/>
                          </a:solidFill>
                          <a:latin typeface="Consolas" panose="020B0609020204030204" pitchFamily="49" charset="0"/>
                          <a:cs typeface="Consolas" panose="020B0609020204030204" pitchFamily="49" charset="0"/>
                        </a:rPr>
                        <a:t>removeFirst</a:t>
                      </a:r>
                      <a:r>
                        <a:rPr lang="fr-BE" dirty="0">
                          <a:solidFill>
                            <a:schemeClr val="accent4"/>
                          </a:solidFill>
                          <a:latin typeface="Consolas" panose="020B0609020204030204" pitchFamily="49" charset="0"/>
                          <a:cs typeface="Consolas" panose="020B0609020204030204" pitchFamily="49" charset="0"/>
                        </a:rPr>
                        <a:t>()</a:t>
                      </a:r>
                    </a:p>
                    <a:p>
                      <a:r>
                        <a:rPr lang="fr-BE" dirty="0" err="1">
                          <a:solidFill>
                            <a:schemeClr val="accent4"/>
                          </a:solidFill>
                          <a:latin typeface="Consolas" panose="020B0609020204030204" pitchFamily="49" charset="0"/>
                          <a:cs typeface="Consolas" panose="020B0609020204030204" pitchFamily="49" charset="0"/>
                        </a:rPr>
                        <a:t>removeLast</a:t>
                      </a:r>
                      <a:r>
                        <a:rPr lang="fr-BE" dirty="0">
                          <a:solidFill>
                            <a:schemeClr val="accent4"/>
                          </a:solidFill>
                          <a:latin typeface="Consolas" panose="020B0609020204030204" pitchFamily="49" charset="0"/>
                          <a:cs typeface="Consolas" panose="020B0609020204030204" pitchFamily="49" charset="0"/>
                        </a:rPr>
                        <a:t>()</a:t>
                      </a:r>
                    </a:p>
                  </a:txBody>
                  <a:tcPr anchor="ct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r>
                        <a:rPr lang="fr-BE" dirty="0" err="1">
                          <a:solidFill>
                            <a:schemeClr val="accent4"/>
                          </a:solidFill>
                          <a:latin typeface="Consolas" panose="020B0609020204030204" pitchFamily="49" charset="0"/>
                          <a:cs typeface="Consolas" panose="020B0609020204030204" pitchFamily="49" charset="0"/>
                        </a:rPr>
                        <a:t>pollFirst</a:t>
                      </a:r>
                      <a:r>
                        <a:rPr lang="fr-BE" dirty="0">
                          <a:solidFill>
                            <a:schemeClr val="accent4"/>
                          </a:solidFill>
                          <a:latin typeface="Consolas" panose="020B0609020204030204" pitchFamily="49" charset="0"/>
                          <a:cs typeface="Consolas" panose="020B0609020204030204" pitchFamily="49" charset="0"/>
                        </a:rPr>
                        <a:t>()</a:t>
                      </a:r>
                    </a:p>
                    <a:p>
                      <a:r>
                        <a:rPr lang="fr-BE" dirty="0" err="1">
                          <a:solidFill>
                            <a:schemeClr val="accent4"/>
                          </a:solidFill>
                          <a:latin typeface="Consolas" panose="020B0609020204030204" pitchFamily="49" charset="0"/>
                          <a:cs typeface="Consolas" panose="020B0609020204030204" pitchFamily="49" charset="0"/>
                        </a:rPr>
                        <a:t>pollLast</a:t>
                      </a:r>
                      <a:r>
                        <a:rPr lang="fr-BE" dirty="0">
                          <a:solidFill>
                            <a:schemeClr val="accent4"/>
                          </a:solidFill>
                          <a:latin typeface="Consolas" panose="020B0609020204030204" pitchFamily="49" charset="0"/>
                          <a:cs typeface="Consolas" panose="020B0609020204030204" pitchFamily="49" charset="0"/>
                        </a:rPr>
                        <a:t>()</a:t>
                      </a:r>
                    </a:p>
                  </a:txBody>
                  <a:tcPr anchor="ct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464721942"/>
                  </a:ext>
                </a:extLst>
              </a:tr>
              <a:tr h="0">
                <a:tc>
                  <a:txBody>
                    <a:bodyPr/>
                    <a:lstStyle/>
                    <a:p>
                      <a:r>
                        <a:rPr lang="fr-BE" sz="2000" b="1" dirty="0"/>
                        <a:t>Lecture</a:t>
                      </a:r>
                    </a:p>
                  </a:txBody>
                  <a:tcPr anchor="ctr">
                    <a:lnT w="12700" cap="flat" cmpd="sng" algn="ctr">
                      <a:solidFill>
                        <a:schemeClr val="accent4"/>
                      </a:solidFill>
                      <a:prstDash val="solid"/>
                      <a:round/>
                      <a:headEnd type="none" w="med" len="med"/>
                      <a:tailEnd type="none" w="med" len="med"/>
                    </a:lnT>
                  </a:tcPr>
                </a:tc>
                <a:tc>
                  <a:txBody>
                    <a:bodyPr/>
                    <a:lstStyle/>
                    <a:p>
                      <a:r>
                        <a:rPr lang="fr-BE" dirty="0" err="1">
                          <a:solidFill>
                            <a:schemeClr val="accent4"/>
                          </a:solidFill>
                          <a:latin typeface="Consolas" panose="020B0609020204030204" pitchFamily="49" charset="0"/>
                          <a:cs typeface="Consolas" panose="020B0609020204030204" pitchFamily="49" charset="0"/>
                        </a:rPr>
                        <a:t>getFirst</a:t>
                      </a:r>
                      <a:r>
                        <a:rPr lang="fr-BE" dirty="0">
                          <a:solidFill>
                            <a:schemeClr val="accent4"/>
                          </a:solidFill>
                          <a:latin typeface="Consolas" panose="020B0609020204030204" pitchFamily="49" charset="0"/>
                          <a:cs typeface="Consolas" panose="020B0609020204030204" pitchFamily="49" charset="0"/>
                        </a:rPr>
                        <a:t>()</a:t>
                      </a:r>
                    </a:p>
                    <a:p>
                      <a:r>
                        <a:rPr lang="fr-BE" dirty="0" err="1">
                          <a:solidFill>
                            <a:schemeClr val="accent4"/>
                          </a:solidFill>
                          <a:latin typeface="Consolas" panose="020B0609020204030204" pitchFamily="49" charset="0"/>
                          <a:cs typeface="Consolas" panose="020B0609020204030204" pitchFamily="49" charset="0"/>
                        </a:rPr>
                        <a:t>getLast</a:t>
                      </a:r>
                      <a:r>
                        <a:rPr lang="fr-BE" dirty="0">
                          <a:solidFill>
                            <a:schemeClr val="accent4"/>
                          </a:solidFill>
                          <a:latin typeface="Consolas" panose="020B0609020204030204" pitchFamily="49" charset="0"/>
                          <a:cs typeface="Consolas" panose="020B0609020204030204" pitchFamily="49" charset="0"/>
                        </a:rPr>
                        <a:t>()</a:t>
                      </a:r>
                    </a:p>
                  </a:txBody>
                  <a:tcPr anchor="ctr">
                    <a:lnT w="12700" cap="flat" cmpd="sng" algn="ctr">
                      <a:solidFill>
                        <a:schemeClr val="accent4"/>
                      </a:solidFill>
                      <a:prstDash val="solid"/>
                      <a:round/>
                      <a:headEnd type="none" w="med" len="med"/>
                      <a:tailEnd type="none" w="med" len="med"/>
                    </a:lnT>
                  </a:tcPr>
                </a:tc>
                <a:tc>
                  <a:txBody>
                    <a:bodyPr/>
                    <a:lstStyle/>
                    <a:p>
                      <a:r>
                        <a:rPr lang="fr-BE" dirty="0" err="1">
                          <a:solidFill>
                            <a:schemeClr val="accent4"/>
                          </a:solidFill>
                          <a:latin typeface="Consolas" panose="020B0609020204030204" pitchFamily="49" charset="0"/>
                          <a:cs typeface="Consolas" panose="020B0609020204030204" pitchFamily="49" charset="0"/>
                        </a:rPr>
                        <a:t>peekFirst</a:t>
                      </a:r>
                      <a:r>
                        <a:rPr lang="fr-BE" dirty="0">
                          <a:solidFill>
                            <a:schemeClr val="accent4"/>
                          </a:solidFill>
                          <a:latin typeface="Consolas" panose="020B0609020204030204" pitchFamily="49" charset="0"/>
                          <a:cs typeface="Consolas" panose="020B0609020204030204" pitchFamily="49" charset="0"/>
                        </a:rPr>
                        <a:t>()</a:t>
                      </a:r>
                    </a:p>
                    <a:p>
                      <a:r>
                        <a:rPr lang="fr-BE" dirty="0" err="1">
                          <a:solidFill>
                            <a:schemeClr val="accent4"/>
                          </a:solidFill>
                          <a:latin typeface="Consolas" panose="020B0609020204030204" pitchFamily="49" charset="0"/>
                          <a:cs typeface="Consolas" panose="020B0609020204030204" pitchFamily="49" charset="0"/>
                        </a:rPr>
                        <a:t>peekLast</a:t>
                      </a:r>
                      <a:r>
                        <a:rPr lang="fr-BE" dirty="0">
                          <a:solidFill>
                            <a:schemeClr val="accent4"/>
                          </a:solidFill>
                          <a:latin typeface="Consolas" panose="020B0609020204030204" pitchFamily="49" charset="0"/>
                          <a:cs typeface="Consolas" panose="020B0609020204030204" pitchFamily="49" charset="0"/>
                        </a:rPr>
                        <a:t>()</a:t>
                      </a:r>
                    </a:p>
                  </a:txBody>
                  <a:tcPr anchor="ctr">
                    <a:lnT w="12700" cap="flat" cmpd="sng" algn="ctr">
                      <a:solidFill>
                        <a:schemeClr val="accent4"/>
                      </a:solidFill>
                      <a:prstDash val="solid"/>
                      <a:round/>
                      <a:headEnd type="none" w="med" len="med"/>
                      <a:tailEnd type="none" w="med" len="med"/>
                    </a:lnT>
                  </a:tcPr>
                </a:tc>
                <a:extLst>
                  <a:ext uri="{0D108BD9-81ED-4DB2-BD59-A6C34878D82A}">
                    <a16:rowId xmlns:a16="http://schemas.microsoft.com/office/drawing/2014/main" val="1633324167"/>
                  </a:ext>
                </a:extLst>
              </a:tr>
            </a:tbl>
          </a:graphicData>
        </a:graphic>
      </p:graphicFrame>
      <p:sp>
        <p:nvSpPr>
          <p:cNvPr id="9" name="Bulle rectangulaire 8">
            <a:extLst>
              <a:ext uri="{FF2B5EF4-FFF2-40B4-BE49-F238E27FC236}">
                <a16:creationId xmlns:a16="http://schemas.microsoft.com/office/drawing/2014/main" id="{0A412104-31C2-6704-8604-2B837E56018E}"/>
              </a:ext>
            </a:extLst>
          </p:cNvPr>
          <p:cNvSpPr/>
          <p:nvPr/>
        </p:nvSpPr>
        <p:spPr>
          <a:xfrm>
            <a:off x="5037377" y="6335393"/>
            <a:ext cx="3759200" cy="314960"/>
          </a:xfrm>
          <a:prstGeom prst="wedgeRectCallout">
            <a:avLst>
              <a:gd name="adj1" fmla="val 27381"/>
              <a:gd name="adj2" fmla="val -98790"/>
            </a:avLst>
          </a:prstGeom>
          <a:solidFill>
            <a:srgbClr val="00B05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0" name="Bulle rectangulaire 9">
            <a:extLst>
              <a:ext uri="{FF2B5EF4-FFF2-40B4-BE49-F238E27FC236}">
                <a16:creationId xmlns:a16="http://schemas.microsoft.com/office/drawing/2014/main" id="{4665A073-FF09-3AF4-1A1F-BBA58B87204E}"/>
              </a:ext>
            </a:extLst>
          </p:cNvPr>
          <p:cNvSpPr/>
          <p:nvPr/>
        </p:nvSpPr>
        <p:spPr>
          <a:xfrm>
            <a:off x="5037377" y="6335393"/>
            <a:ext cx="3759200" cy="314960"/>
          </a:xfrm>
          <a:prstGeom prst="wedgeRectCallout">
            <a:avLst>
              <a:gd name="adj1" fmla="val -27381"/>
              <a:gd name="adj2" fmla="val -102016"/>
            </a:avLst>
          </a:prstGeom>
          <a:solidFill>
            <a:srgbClr val="00B05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Si la </a:t>
            </a:r>
            <a:r>
              <a:rPr lang="fr-FR" dirty="0" err="1"/>
              <a:t>Deque</a:t>
            </a:r>
            <a:r>
              <a:rPr lang="fr-FR" dirty="0"/>
              <a:t> est pleine/vide</a:t>
            </a:r>
          </a:p>
        </p:txBody>
      </p:sp>
      <p:grpSp>
        <p:nvGrpSpPr>
          <p:cNvPr id="11" name="Groupe 10">
            <a:extLst>
              <a:ext uri="{FF2B5EF4-FFF2-40B4-BE49-F238E27FC236}">
                <a16:creationId xmlns:a16="http://schemas.microsoft.com/office/drawing/2014/main" id="{1A0B80F5-0A57-231E-A242-8129BE1AB7B0}"/>
              </a:ext>
            </a:extLst>
          </p:cNvPr>
          <p:cNvGrpSpPr/>
          <p:nvPr/>
        </p:nvGrpSpPr>
        <p:grpSpPr>
          <a:xfrm>
            <a:off x="7348654" y="1196237"/>
            <a:ext cx="3350390" cy="411038"/>
            <a:chOff x="7207062" y="1112822"/>
            <a:chExt cx="4710238" cy="577868"/>
          </a:xfrm>
        </p:grpSpPr>
        <p:sp>
          <p:nvSpPr>
            <p:cNvPr id="12" name="Rectangle : coins arrondis 11">
              <a:extLst>
                <a:ext uri="{FF2B5EF4-FFF2-40B4-BE49-F238E27FC236}">
                  <a16:creationId xmlns:a16="http://schemas.microsoft.com/office/drawing/2014/main" id="{42F8B6B2-690D-9C70-EE7D-06BC6EF707AD}"/>
                </a:ext>
              </a:extLst>
            </p:cNvPr>
            <p:cNvSpPr/>
            <p:nvPr/>
          </p:nvSpPr>
          <p:spPr>
            <a:xfrm>
              <a:off x="8019276" y="1112822"/>
              <a:ext cx="3050788" cy="577868"/>
            </a:xfrm>
            <a:prstGeom prst="roundRect">
              <a:avLst/>
            </a:prstGeom>
            <a:solidFill>
              <a:srgbClr val="FF7E0B"/>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llipse 12">
              <a:extLst>
                <a:ext uri="{FF2B5EF4-FFF2-40B4-BE49-F238E27FC236}">
                  <a16:creationId xmlns:a16="http://schemas.microsoft.com/office/drawing/2014/main" id="{BC349AD5-67D2-551B-04EB-A66558E88954}"/>
                </a:ext>
              </a:extLst>
            </p:cNvPr>
            <p:cNvSpPr/>
            <p:nvPr/>
          </p:nvSpPr>
          <p:spPr>
            <a:xfrm>
              <a:off x="8737433" y="1221464"/>
              <a:ext cx="360000" cy="360000"/>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Ellipse 13">
              <a:extLst>
                <a:ext uri="{FF2B5EF4-FFF2-40B4-BE49-F238E27FC236}">
                  <a16:creationId xmlns:a16="http://schemas.microsoft.com/office/drawing/2014/main" id="{3BEC8E59-6E88-9BD9-ECC8-34B0646D8703}"/>
                </a:ext>
              </a:extLst>
            </p:cNvPr>
            <p:cNvSpPr/>
            <p:nvPr/>
          </p:nvSpPr>
          <p:spPr>
            <a:xfrm>
              <a:off x="8153089" y="1221464"/>
              <a:ext cx="360000" cy="360000"/>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Ellipse 14">
              <a:extLst>
                <a:ext uri="{FF2B5EF4-FFF2-40B4-BE49-F238E27FC236}">
                  <a16:creationId xmlns:a16="http://schemas.microsoft.com/office/drawing/2014/main" id="{2A646AC5-95FB-1385-4268-4B45C36927B1}"/>
                </a:ext>
              </a:extLst>
            </p:cNvPr>
            <p:cNvSpPr/>
            <p:nvPr/>
          </p:nvSpPr>
          <p:spPr>
            <a:xfrm>
              <a:off x="9321777" y="1221464"/>
              <a:ext cx="360000" cy="360000"/>
            </a:xfrm>
            <a:prstGeom prst="ellipse">
              <a:avLst/>
            </a:prstGeom>
            <a:solidFill>
              <a:schemeClr val="accent5">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Ellipse 15">
              <a:extLst>
                <a:ext uri="{FF2B5EF4-FFF2-40B4-BE49-F238E27FC236}">
                  <a16:creationId xmlns:a16="http://schemas.microsoft.com/office/drawing/2014/main" id="{164D4992-A836-4410-B3D8-70AD705F6287}"/>
                </a:ext>
              </a:extLst>
            </p:cNvPr>
            <p:cNvSpPr/>
            <p:nvPr/>
          </p:nvSpPr>
          <p:spPr>
            <a:xfrm>
              <a:off x="9906121" y="1221464"/>
              <a:ext cx="360000" cy="360000"/>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Ellipse 16">
              <a:extLst>
                <a:ext uri="{FF2B5EF4-FFF2-40B4-BE49-F238E27FC236}">
                  <a16:creationId xmlns:a16="http://schemas.microsoft.com/office/drawing/2014/main" id="{79E40BF0-F678-3683-46F2-EA2612FB26F8}"/>
                </a:ext>
              </a:extLst>
            </p:cNvPr>
            <p:cNvSpPr/>
            <p:nvPr/>
          </p:nvSpPr>
          <p:spPr>
            <a:xfrm>
              <a:off x="10490463" y="1221464"/>
              <a:ext cx="360000" cy="360000"/>
            </a:xfrm>
            <a:prstGeom prst="ellipse">
              <a:avLst/>
            </a:prstGeom>
            <a:solidFill>
              <a:schemeClr val="accent2">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Ellipse 17">
              <a:extLst>
                <a:ext uri="{FF2B5EF4-FFF2-40B4-BE49-F238E27FC236}">
                  <a16:creationId xmlns:a16="http://schemas.microsoft.com/office/drawing/2014/main" id="{7D219D56-0362-AA19-8E75-7E538D16B601}"/>
                </a:ext>
              </a:extLst>
            </p:cNvPr>
            <p:cNvSpPr/>
            <p:nvPr/>
          </p:nvSpPr>
          <p:spPr>
            <a:xfrm>
              <a:off x="7207062" y="1221464"/>
              <a:ext cx="360000" cy="360000"/>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9" name="Flèche droite à entaille 18">
              <a:extLst>
                <a:ext uri="{FF2B5EF4-FFF2-40B4-BE49-F238E27FC236}">
                  <a16:creationId xmlns:a16="http://schemas.microsoft.com/office/drawing/2014/main" id="{954EC735-0B4E-87CD-FAEB-320F2BC59D94}"/>
                </a:ext>
              </a:extLst>
            </p:cNvPr>
            <p:cNvSpPr/>
            <p:nvPr/>
          </p:nvSpPr>
          <p:spPr>
            <a:xfrm>
              <a:off x="7605496" y="1278468"/>
              <a:ext cx="336620" cy="245992"/>
            </a:xfrm>
            <a:prstGeom prst="notchedRightArrow">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Ellipse 19">
              <a:extLst>
                <a:ext uri="{FF2B5EF4-FFF2-40B4-BE49-F238E27FC236}">
                  <a16:creationId xmlns:a16="http://schemas.microsoft.com/office/drawing/2014/main" id="{5B18B807-05D3-C47B-87A0-B2C3CD3DA477}"/>
                </a:ext>
              </a:extLst>
            </p:cNvPr>
            <p:cNvSpPr/>
            <p:nvPr/>
          </p:nvSpPr>
          <p:spPr>
            <a:xfrm>
              <a:off x="11557300" y="1221464"/>
              <a:ext cx="360000" cy="360000"/>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1" name="Flèche droite à entaille 20">
              <a:extLst>
                <a:ext uri="{FF2B5EF4-FFF2-40B4-BE49-F238E27FC236}">
                  <a16:creationId xmlns:a16="http://schemas.microsoft.com/office/drawing/2014/main" id="{4064E608-B90D-C470-5EC9-1ABA2DF59BED}"/>
                </a:ext>
              </a:extLst>
            </p:cNvPr>
            <p:cNvSpPr/>
            <p:nvPr/>
          </p:nvSpPr>
          <p:spPr>
            <a:xfrm rot="10800000">
              <a:off x="11115625" y="1278468"/>
              <a:ext cx="336620" cy="245992"/>
            </a:xfrm>
            <a:prstGeom prst="notchedRightArrow">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4" name="Espace réservé du numéro de diapositive 3">
            <a:extLst>
              <a:ext uri="{FF2B5EF4-FFF2-40B4-BE49-F238E27FC236}">
                <a16:creationId xmlns:a16="http://schemas.microsoft.com/office/drawing/2014/main" id="{1F51D917-F240-D55D-7A58-335A308B3349}"/>
              </a:ext>
            </a:extLst>
          </p:cNvPr>
          <p:cNvSpPr>
            <a:spLocks noGrp="1"/>
          </p:cNvSpPr>
          <p:nvPr>
            <p:ph type="sldNum" sz="quarter" idx="4"/>
          </p:nvPr>
        </p:nvSpPr>
        <p:spPr/>
        <p:txBody>
          <a:bodyPr/>
          <a:lstStyle/>
          <a:p>
            <a:fld id="{33C783E2-4793-4F48-A271-51A73CC37D74}" type="slidenum">
              <a:rPr lang="fr-FR" smtClean="0"/>
              <a:t>22</a:t>
            </a:fld>
            <a:endParaRPr lang="fr-FR"/>
          </a:p>
        </p:txBody>
      </p:sp>
    </p:spTree>
    <p:extLst>
      <p:ext uri="{BB962C8B-B14F-4D97-AF65-F5344CB8AC3E}">
        <p14:creationId xmlns:p14="http://schemas.microsoft.com/office/powerpoint/2010/main" val="2275272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3677C5-255A-5D4F-9805-5E43625976A1}"/>
              </a:ext>
            </a:extLst>
          </p:cNvPr>
          <p:cNvSpPr>
            <a:spLocks noGrp="1"/>
          </p:cNvSpPr>
          <p:nvPr>
            <p:ph type="title"/>
          </p:nvPr>
        </p:nvSpPr>
        <p:spPr/>
        <p:txBody>
          <a:bodyPr>
            <a:normAutofit/>
          </a:bodyPr>
          <a:lstStyle/>
          <a:p>
            <a:r>
              <a:rPr lang="fr-FR" dirty="0"/>
              <a:t>Les Interfaces: </a:t>
            </a:r>
            <a:r>
              <a:rPr lang="fr-FR" dirty="0" err="1"/>
              <a:t>Map</a:t>
            </a:r>
            <a:endParaRPr lang="fr-FR" dirty="0"/>
          </a:p>
        </p:txBody>
      </p:sp>
      <p:sp>
        <p:nvSpPr>
          <p:cNvPr id="3" name="Espace réservé du contenu 2">
            <a:extLst>
              <a:ext uri="{FF2B5EF4-FFF2-40B4-BE49-F238E27FC236}">
                <a16:creationId xmlns:a16="http://schemas.microsoft.com/office/drawing/2014/main" id="{41532B4C-7454-6145-9D44-A72961351FBB}"/>
              </a:ext>
            </a:extLst>
          </p:cNvPr>
          <p:cNvSpPr>
            <a:spLocks noGrp="1"/>
          </p:cNvSpPr>
          <p:nvPr>
            <p:ph idx="1"/>
          </p:nvPr>
        </p:nvSpPr>
        <p:spPr/>
        <p:txBody>
          <a:bodyPr>
            <a:normAutofit/>
          </a:bodyPr>
          <a:lstStyle/>
          <a:p>
            <a:pPr marL="0" indent="0">
              <a:buNone/>
            </a:pPr>
            <a:r>
              <a:rPr lang="fr-FR" sz="2000" dirty="0"/>
              <a:t>Une </a:t>
            </a:r>
            <a:r>
              <a:rPr lang="fr-FR" sz="2000" dirty="0" err="1">
                <a:solidFill>
                  <a:schemeClr val="accent4"/>
                </a:solidFill>
              </a:rPr>
              <a:t>Map</a:t>
            </a:r>
            <a:r>
              <a:rPr lang="fr-FR" sz="2000" dirty="0"/>
              <a:t>, table associative en français, permet de conserver l’information en associant des clés à des valeurs.</a:t>
            </a:r>
          </a:p>
          <a:p>
            <a:pPr marL="274320" lvl="1" indent="0">
              <a:buNone/>
            </a:pPr>
            <a:r>
              <a:rPr lang="fr-FR" sz="1800" dirty="0">
                <a:solidFill>
                  <a:schemeClr val="accent4"/>
                </a:solidFill>
                <a:latin typeface="Consolas" charset="0"/>
                <a:ea typeface="Consolas" charset="0"/>
                <a:cs typeface="Consolas" charset="0"/>
              </a:rPr>
              <a:t>public interface </a:t>
            </a:r>
            <a:r>
              <a:rPr lang="fr-FR" sz="1800" dirty="0" err="1">
                <a:solidFill>
                  <a:schemeClr val="accent4"/>
                </a:solidFill>
                <a:latin typeface="Consolas" charset="0"/>
                <a:ea typeface="Consolas" charset="0"/>
                <a:cs typeface="Consolas" charset="0"/>
              </a:rPr>
              <a:t>Map</a:t>
            </a:r>
            <a:r>
              <a:rPr lang="fr-FR" sz="1800" dirty="0">
                <a:solidFill>
                  <a:schemeClr val="accent4"/>
                </a:solidFill>
                <a:latin typeface="Consolas" charset="0"/>
                <a:ea typeface="Consolas" charset="0"/>
                <a:cs typeface="Consolas" charset="0"/>
              </a:rPr>
              <a:t>&lt;K, V&gt;</a:t>
            </a:r>
            <a:r>
              <a:rPr lang="fr-FR" sz="1800" dirty="0">
                <a:solidFill>
                  <a:srgbClr val="C00000"/>
                </a:solidFill>
                <a:latin typeface="Consolas" charset="0"/>
                <a:ea typeface="Consolas" charset="0"/>
                <a:cs typeface="Consolas" charset="0"/>
              </a:rPr>
              <a:t> </a:t>
            </a:r>
            <a:r>
              <a:rPr lang="fr-FR" sz="1800" dirty="0">
                <a:solidFill>
                  <a:srgbClr val="00B050"/>
                </a:solidFill>
                <a:latin typeface="Consolas" charset="0"/>
                <a:ea typeface="Consolas" charset="0"/>
                <a:cs typeface="Consolas" charset="0"/>
              </a:rPr>
              <a:t>//K: clé; V: valeur</a:t>
            </a:r>
            <a:endParaRPr lang="fr-FR" sz="2000" dirty="0">
              <a:solidFill>
                <a:srgbClr val="00B050"/>
              </a:solidFill>
            </a:endParaRPr>
          </a:p>
          <a:p>
            <a:pPr marL="0" indent="0">
              <a:buNone/>
            </a:pPr>
            <a:r>
              <a:rPr lang="fr-FR" sz="2000" dirty="0"/>
              <a:t>Vous remarquerez que la </a:t>
            </a:r>
            <a:r>
              <a:rPr lang="fr-FR" sz="2000" dirty="0" err="1">
                <a:solidFill>
                  <a:schemeClr val="accent4"/>
                </a:solidFill>
              </a:rPr>
              <a:t>Map</a:t>
            </a:r>
            <a:r>
              <a:rPr lang="fr-FR" sz="2000" dirty="0"/>
              <a:t> n’hérite pas de </a:t>
            </a:r>
            <a:r>
              <a:rPr lang="fr-FR" sz="2000" dirty="0">
                <a:solidFill>
                  <a:schemeClr val="accent4"/>
                </a:solidFill>
              </a:rPr>
              <a:t>Collection</a:t>
            </a:r>
            <a:r>
              <a:rPr lang="fr-FR" sz="2000" dirty="0"/>
              <a:t>.</a:t>
            </a:r>
          </a:p>
          <a:p>
            <a:pPr marL="0" indent="0">
              <a:buNone/>
            </a:pPr>
            <a:endParaRPr lang="fr-FR" sz="2000" dirty="0"/>
          </a:p>
          <a:p>
            <a:pPr marL="0" indent="0">
              <a:buNone/>
            </a:pPr>
            <a:r>
              <a:rPr lang="fr-FR" sz="2000" dirty="0"/>
              <a:t>Les </a:t>
            </a:r>
            <a:r>
              <a:rPr lang="fr-FR" sz="2000" dirty="0" err="1">
                <a:solidFill>
                  <a:schemeClr val="accent4"/>
                </a:solidFill>
              </a:rPr>
              <a:t>Map</a:t>
            </a:r>
            <a:r>
              <a:rPr lang="fr-FR" sz="2000" dirty="0"/>
              <a:t> seront utilisées pour modéliser par exemple</a:t>
            </a:r>
          </a:p>
          <a:p>
            <a:pPr marL="342900" indent="-342900"/>
            <a:r>
              <a:rPr lang="fr-FR" sz="2000" dirty="0"/>
              <a:t>un dictionnaire: </a:t>
            </a:r>
            <a:r>
              <a:rPr lang="fr-FR" sz="1800" dirty="0" err="1">
                <a:solidFill>
                  <a:schemeClr val="accent4"/>
                </a:solidFill>
                <a:latin typeface="Consolas" charset="0"/>
                <a:cs typeface="Consolas" charset="0"/>
              </a:rPr>
              <a:t>Map</a:t>
            </a:r>
            <a:r>
              <a:rPr lang="fr-FR" sz="1800" dirty="0">
                <a:solidFill>
                  <a:schemeClr val="accent4"/>
                </a:solidFill>
                <a:latin typeface="Consolas" charset="0"/>
                <a:cs typeface="Consolas" charset="0"/>
              </a:rPr>
              <a:t>&lt;Mot, </a:t>
            </a:r>
            <a:r>
              <a:rPr lang="fr-FR" sz="1800" dirty="0" err="1">
                <a:solidFill>
                  <a:schemeClr val="accent4"/>
                </a:solidFill>
                <a:latin typeface="Consolas" charset="0"/>
                <a:cs typeface="Consolas" charset="0"/>
              </a:rPr>
              <a:t>Definition</a:t>
            </a:r>
            <a:r>
              <a:rPr lang="fr-FR" sz="1800" dirty="0">
                <a:solidFill>
                  <a:schemeClr val="accent4"/>
                </a:solidFill>
                <a:latin typeface="Consolas" charset="0"/>
                <a:cs typeface="Consolas" charset="0"/>
              </a:rPr>
              <a:t>&gt;</a:t>
            </a:r>
          </a:p>
          <a:p>
            <a:pPr marL="342900" indent="-342900"/>
            <a:r>
              <a:rPr lang="fr-FR" sz="2000" dirty="0"/>
              <a:t>un carnet d’adresses: </a:t>
            </a:r>
            <a:r>
              <a:rPr lang="fr-FR" sz="1800" dirty="0" err="1">
                <a:solidFill>
                  <a:schemeClr val="accent4"/>
                </a:solidFill>
                <a:latin typeface="Consolas" charset="0"/>
                <a:cs typeface="Consolas" charset="0"/>
              </a:rPr>
              <a:t>Map</a:t>
            </a:r>
            <a:r>
              <a:rPr lang="fr-FR" sz="1800" dirty="0">
                <a:solidFill>
                  <a:schemeClr val="accent4"/>
                </a:solidFill>
                <a:latin typeface="Consolas" charset="0"/>
                <a:cs typeface="Consolas" charset="0"/>
              </a:rPr>
              <a:t>&lt;Identifiant, Adresse&gt;</a:t>
            </a:r>
          </a:p>
          <a:p>
            <a:pPr marL="342900" indent="-342900"/>
            <a:r>
              <a:rPr lang="fr-FR" sz="2000" dirty="0"/>
              <a:t>la structure d’une société: </a:t>
            </a:r>
            <a:r>
              <a:rPr lang="fr-FR" sz="1800" dirty="0" err="1">
                <a:solidFill>
                  <a:schemeClr val="accent4"/>
                </a:solidFill>
                <a:latin typeface="Consolas" charset="0"/>
                <a:cs typeface="Consolas" charset="0"/>
              </a:rPr>
              <a:t>Map</a:t>
            </a:r>
            <a:r>
              <a:rPr lang="fr-FR" sz="1800" dirty="0">
                <a:solidFill>
                  <a:schemeClr val="accent4"/>
                </a:solidFill>
                <a:latin typeface="Consolas" charset="0"/>
                <a:cs typeface="Consolas" charset="0"/>
              </a:rPr>
              <a:t>&lt;</a:t>
            </a:r>
            <a:r>
              <a:rPr lang="fr-FR" sz="1800" dirty="0" err="1">
                <a:solidFill>
                  <a:schemeClr val="accent4"/>
                </a:solidFill>
                <a:latin typeface="Consolas" charset="0"/>
                <a:cs typeface="Consolas" charset="0"/>
              </a:rPr>
              <a:t>Departement</a:t>
            </a:r>
            <a:r>
              <a:rPr lang="fr-FR" sz="1800" dirty="0">
                <a:solidFill>
                  <a:schemeClr val="accent4"/>
                </a:solidFill>
                <a:latin typeface="Consolas" charset="0"/>
                <a:cs typeface="Consolas" charset="0"/>
              </a:rPr>
              <a:t>, List&lt;</a:t>
            </a:r>
            <a:r>
              <a:rPr lang="fr-FR" sz="1800" dirty="0" err="1">
                <a:solidFill>
                  <a:schemeClr val="accent4"/>
                </a:solidFill>
                <a:latin typeface="Consolas" charset="0"/>
                <a:cs typeface="Consolas" charset="0"/>
              </a:rPr>
              <a:t>Employe</a:t>
            </a:r>
            <a:r>
              <a:rPr lang="fr-FR" sz="1800" dirty="0">
                <a:solidFill>
                  <a:schemeClr val="accent4"/>
                </a:solidFill>
                <a:latin typeface="Consolas" charset="0"/>
                <a:cs typeface="Consolas" charset="0"/>
              </a:rPr>
              <a:t>&gt;&gt; </a:t>
            </a:r>
          </a:p>
          <a:p>
            <a:pPr marL="342900" indent="-342900"/>
            <a:endParaRPr lang="fr-FR" sz="2000" dirty="0"/>
          </a:p>
          <a:p>
            <a:pPr marL="0" indent="0">
              <a:buNone/>
            </a:pPr>
            <a:r>
              <a:rPr lang="fr-FR" sz="2000" dirty="0"/>
              <a:t>Notez qu’un </a:t>
            </a:r>
            <a:r>
              <a:rPr lang="fr-FR" sz="2000" dirty="0">
                <a:solidFill>
                  <a:schemeClr val="accent4"/>
                </a:solidFill>
              </a:rPr>
              <a:t>Set</a:t>
            </a:r>
            <a:r>
              <a:rPr lang="fr-FR" sz="2000" dirty="0"/>
              <a:t> est un cas particulier de </a:t>
            </a:r>
            <a:r>
              <a:rPr lang="fr-FR" sz="2000" dirty="0" err="1">
                <a:solidFill>
                  <a:schemeClr val="accent4"/>
                </a:solidFill>
              </a:rPr>
              <a:t>Map</a:t>
            </a:r>
            <a:r>
              <a:rPr lang="fr-FR" sz="2000" dirty="0"/>
              <a:t> où la valeur est vide (les clés doivent être uniques).</a:t>
            </a:r>
          </a:p>
        </p:txBody>
      </p:sp>
      <p:sp>
        <p:nvSpPr>
          <p:cNvPr id="6" name="ZoneTexte 5">
            <a:extLst>
              <a:ext uri="{FF2B5EF4-FFF2-40B4-BE49-F238E27FC236}">
                <a16:creationId xmlns:a16="http://schemas.microsoft.com/office/drawing/2014/main" id="{006C7C27-B908-95AF-A85B-ADE9C068867D}"/>
              </a:ext>
            </a:extLst>
          </p:cNvPr>
          <p:cNvSpPr txBox="1"/>
          <p:nvPr/>
        </p:nvSpPr>
        <p:spPr>
          <a:xfrm>
            <a:off x="9421256" y="346526"/>
            <a:ext cx="2220953" cy="369332"/>
          </a:xfrm>
          <a:prstGeom prst="rect">
            <a:avLst/>
          </a:prstGeom>
          <a:solidFill>
            <a:srgbClr val="FF7F0B"/>
          </a:solidFill>
        </p:spPr>
        <p:txBody>
          <a:bodyPr wrap="square" rtlCol="0" anchor="ctr">
            <a:spAutoFit/>
          </a:bodyPr>
          <a:lstStyle/>
          <a:p>
            <a:pPr algn="ctr"/>
            <a:r>
              <a:rPr lang="fr-FR" b="1" dirty="0" err="1">
                <a:latin typeface="Consolas" panose="020B0609020204030204" pitchFamily="49" charset="0"/>
                <a:cs typeface="Consolas" panose="020B0609020204030204" pitchFamily="49" charset="0"/>
              </a:rPr>
              <a:t>Map</a:t>
            </a:r>
            <a:endParaRPr lang="fr-FR" b="1" dirty="0">
              <a:latin typeface="Consolas" panose="020B0609020204030204" pitchFamily="49" charset="0"/>
              <a:cs typeface="Consolas" panose="020B0609020204030204" pitchFamily="49" charset="0"/>
            </a:endParaRPr>
          </a:p>
        </p:txBody>
      </p:sp>
      <p:grpSp>
        <p:nvGrpSpPr>
          <p:cNvPr id="31" name="Groupe 30">
            <a:extLst>
              <a:ext uri="{FF2B5EF4-FFF2-40B4-BE49-F238E27FC236}">
                <a16:creationId xmlns:a16="http://schemas.microsoft.com/office/drawing/2014/main" id="{DE8A53EB-2A7A-CF37-781D-14090FE55DA4}"/>
              </a:ext>
            </a:extLst>
          </p:cNvPr>
          <p:cNvGrpSpPr/>
          <p:nvPr/>
        </p:nvGrpSpPr>
        <p:grpSpPr>
          <a:xfrm>
            <a:off x="8481180" y="932571"/>
            <a:ext cx="2163150" cy="837770"/>
            <a:chOff x="8481180" y="932571"/>
            <a:chExt cx="2163150" cy="837770"/>
          </a:xfrm>
        </p:grpSpPr>
        <p:sp>
          <p:nvSpPr>
            <p:cNvPr id="8" name="Rectangle : coins arrondis 7">
              <a:extLst>
                <a:ext uri="{FF2B5EF4-FFF2-40B4-BE49-F238E27FC236}">
                  <a16:creationId xmlns:a16="http://schemas.microsoft.com/office/drawing/2014/main" id="{74C031B0-1EE8-5B6A-0FDA-6A24358142AB}"/>
                </a:ext>
              </a:extLst>
            </p:cNvPr>
            <p:cNvSpPr/>
            <p:nvPr/>
          </p:nvSpPr>
          <p:spPr>
            <a:xfrm>
              <a:off x="8481180" y="932571"/>
              <a:ext cx="2163150" cy="837770"/>
            </a:xfrm>
            <a:prstGeom prst="roundRect">
              <a:avLst/>
            </a:prstGeom>
            <a:solidFill>
              <a:srgbClr val="FF7E0B"/>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 avec coin rogné 18">
              <a:extLst>
                <a:ext uri="{FF2B5EF4-FFF2-40B4-BE49-F238E27FC236}">
                  <a16:creationId xmlns:a16="http://schemas.microsoft.com/office/drawing/2014/main" id="{7B3E7887-4359-8C65-21FD-CE1D6025DB84}"/>
                </a:ext>
              </a:extLst>
            </p:cNvPr>
            <p:cNvSpPr/>
            <p:nvPr/>
          </p:nvSpPr>
          <p:spPr>
            <a:xfrm>
              <a:off x="8990387" y="1432814"/>
              <a:ext cx="255257" cy="255257"/>
            </a:xfrm>
            <a:prstGeom prst="snip1Rect">
              <a:avLst/>
            </a:prstGeom>
            <a:solidFill>
              <a:schemeClr val="accent6">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 avec coin rogné 19">
              <a:extLst>
                <a:ext uri="{FF2B5EF4-FFF2-40B4-BE49-F238E27FC236}">
                  <a16:creationId xmlns:a16="http://schemas.microsoft.com/office/drawing/2014/main" id="{0D20E4CC-9BA4-6EFC-6BF1-42F1310F53D4}"/>
                </a:ext>
              </a:extLst>
            </p:cNvPr>
            <p:cNvSpPr/>
            <p:nvPr/>
          </p:nvSpPr>
          <p:spPr>
            <a:xfrm>
              <a:off x="8576060" y="1432814"/>
              <a:ext cx="255257" cy="255257"/>
            </a:xfrm>
            <a:prstGeom prst="snip1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Rectangle : avec coin rogné 20">
              <a:extLst>
                <a:ext uri="{FF2B5EF4-FFF2-40B4-BE49-F238E27FC236}">
                  <a16:creationId xmlns:a16="http://schemas.microsoft.com/office/drawing/2014/main" id="{A91E30EC-437D-D4CB-B6C1-99CACB755CFB}"/>
                </a:ext>
              </a:extLst>
            </p:cNvPr>
            <p:cNvSpPr/>
            <p:nvPr/>
          </p:nvSpPr>
          <p:spPr>
            <a:xfrm>
              <a:off x="9404714" y="1432814"/>
              <a:ext cx="255257" cy="255257"/>
            </a:xfrm>
            <a:prstGeom prst="snip1Rect">
              <a:avLst/>
            </a:prstGeom>
            <a:solidFill>
              <a:schemeClr val="accent5">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 avec coin rogné 21">
              <a:extLst>
                <a:ext uri="{FF2B5EF4-FFF2-40B4-BE49-F238E27FC236}">
                  <a16:creationId xmlns:a16="http://schemas.microsoft.com/office/drawing/2014/main" id="{3C705AEE-5807-92D9-EBB5-0225B80AC885}"/>
                </a:ext>
              </a:extLst>
            </p:cNvPr>
            <p:cNvSpPr/>
            <p:nvPr/>
          </p:nvSpPr>
          <p:spPr>
            <a:xfrm>
              <a:off x="9819041" y="1432814"/>
              <a:ext cx="255257" cy="255257"/>
            </a:xfrm>
            <a:prstGeom prst="snip1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Rectangle : avec coin rogné 22">
              <a:extLst>
                <a:ext uri="{FF2B5EF4-FFF2-40B4-BE49-F238E27FC236}">
                  <a16:creationId xmlns:a16="http://schemas.microsoft.com/office/drawing/2014/main" id="{4D8EE566-12D3-C7CA-5ADF-599021586D2E}"/>
                </a:ext>
              </a:extLst>
            </p:cNvPr>
            <p:cNvSpPr/>
            <p:nvPr/>
          </p:nvSpPr>
          <p:spPr>
            <a:xfrm>
              <a:off x="10233366" y="1432814"/>
              <a:ext cx="255257" cy="255257"/>
            </a:xfrm>
            <a:prstGeom prst="snip1Rect">
              <a:avLst/>
            </a:prstGeom>
            <a:solidFill>
              <a:schemeClr val="accent2">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3C7B299E-8273-7B29-46B5-D41904F88525}"/>
                </a:ext>
              </a:extLst>
            </p:cNvPr>
            <p:cNvSpPr/>
            <p:nvPr/>
          </p:nvSpPr>
          <p:spPr>
            <a:xfrm>
              <a:off x="8990387" y="1009603"/>
              <a:ext cx="255257" cy="255257"/>
            </a:xfrm>
            <a:prstGeom prst="ellipse">
              <a:avLst/>
            </a:prstGeom>
            <a:solidFill>
              <a:schemeClr val="accent6">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EAA715F2-947E-A51F-970F-6FB8E2A5C044}"/>
                </a:ext>
              </a:extLst>
            </p:cNvPr>
            <p:cNvSpPr/>
            <p:nvPr/>
          </p:nvSpPr>
          <p:spPr>
            <a:xfrm>
              <a:off x="8576060" y="1009603"/>
              <a:ext cx="255257" cy="255257"/>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564805CD-1561-3D72-251A-AE4FBE340006}"/>
                </a:ext>
              </a:extLst>
            </p:cNvPr>
            <p:cNvSpPr/>
            <p:nvPr/>
          </p:nvSpPr>
          <p:spPr>
            <a:xfrm>
              <a:off x="9404714" y="1009603"/>
              <a:ext cx="255257" cy="255257"/>
            </a:xfrm>
            <a:prstGeom prst="ellipse">
              <a:avLst/>
            </a:prstGeom>
            <a:solidFill>
              <a:schemeClr val="accent5">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llipse 11">
              <a:extLst>
                <a:ext uri="{FF2B5EF4-FFF2-40B4-BE49-F238E27FC236}">
                  <a16:creationId xmlns:a16="http://schemas.microsoft.com/office/drawing/2014/main" id="{477EAA01-B13A-ED76-26BD-9CAC4849F1E0}"/>
                </a:ext>
              </a:extLst>
            </p:cNvPr>
            <p:cNvSpPr/>
            <p:nvPr/>
          </p:nvSpPr>
          <p:spPr>
            <a:xfrm>
              <a:off x="9819041" y="1009603"/>
              <a:ext cx="255257" cy="255257"/>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llipse 12">
              <a:extLst>
                <a:ext uri="{FF2B5EF4-FFF2-40B4-BE49-F238E27FC236}">
                  <a16:creationId xmlns:a16="http://schemas.microsoft.com/office/drawing/2014/main" id="{014454C6-3962-8212-2C41-0E1137BC8E49}"/>
                </a:ext>
              </a:extLst>
            </p:cNvPr>
            <p:cNvSpPr/>
            <p:nvPr/>
          </p:nvSpPr>
          <p:spPr>
            <a:xfrm>
              <a:off x="10233366" y="1009603"/>
              <a:ext cx="255257" cy="255257"/>
            </a:xfrm>
            <a:prstGeom prst="ellipse">
              <a:avLst/>
            </a:prstGeom>
            <a:solidFill>
              <a:schemeClr val="accent2">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5" name="Connecteur droit 24">
              <a:extLst>
                <a:ext uri="{FF2B5EF4-FFF2-40B4-BE49-F238E27FC236}">
                  <a16:creationId xmlns:a16="http://schemas.microsoft.com/office/drawing/2014/main" id="{A148B23A-B85F-DCA6-E8B8-51C3136D1C62}"/>
                </a:ext>
              </a:extLst>
            </p:cNvPr>
            <p:cNvCxnSpPr>
              <a:cxnSpLocks/>
              <a:stCxn id="10" idx="4"/>
              <a:endCxn id="20" idx="3"/>
            </p:cNvCxnSpPr>
            <p:nvPr/>
          </p:nvCxnSpPr>
          <p:spPr>
            <a:xfrm>
              <a:off x="8703689" y="1264860"/>
              <a:ext cx="0" cy="167954"/>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7" name="Connecteur droit 26">
              <a:extLst>
                <a:ext uri="{FF2B5EF4-FFF2-40B4-BE49-F238E27FC236}">
                  <a16:creationId xmlns:a16="http://schemas.microsoft.com/office/drawing/2014/main" id="{F466BE41-566F-FF8C-61A3-D3D45A5BB127}"/>
                </a:ext>
              </a:extLst>
            </p:cNvPr>
            <p:cNvCxnSpPr>
              <a:cxnSpLocks/>
            </p:cNvCxnSpPr>
            <p:nvPr/>
          </p:nvCxnSpPr>
          <p:spPr>
            <a:xfrm>
              <a:off x="9116999" y="1267479"/>
              <a:ext cx="0" cy="167954"/>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8" name="Connecteur droit 27">
              <a:extLst>
                <a:ext uri="{FF2B5EF4-FFF2-40B4-BE49-F238E27FC236}">
                  <a16:creationId xmlns:a16="http://schemas.microsoft.com/office/drawing/2014/main" id="{EBFDDF42-2856-B644-C5FB-561D6520C43A}"/>
                </a:ext>
              </a:extLst>
            </p:cNvPr>
            <p:cNvCxnSpPr>
              <a:cxnSpLocks/>
            </p:cNvCxnSpPr>
            <p:nvPr/>
          </p:nvCxnSpPr>
          <p:spPr>
            <a:xfrm>
              <a:off x="9530307" y="1267479"/>
              <a:ext cx="0" cy="167954"/>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9" name="Connecteur droit 28">
              <a:extLst>
                <a:ext uri="{FF2B5EF4-FFF2-40B4-BE49-F238E27FC236}">
                  <a16:creationId xmlns:a16="http://schemas.microsoft.com/office/drawing/2014/main" id="{7A728C25-9C2B-D7D5-E3EF-509833395D69}"/>
                </a:ext>
              </a:extLst>
            </p:cNvPr>
            <p:cNvCxnSpPr>
              <a:cxnSpLocks/>
            </p:cNvCxnSpPr>
            <p:nvPr/>
          </p:nvCxnSpPr>
          <p:spPr>
            <a:xfrm>
              <a:off x="9943615" y="1267479"/>
              <a:ext cx="0" cy="167954"/>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0" name="Connecteur droit 29">
              <a:extLst>
                <a:ext uri="{FF2B5EF4-FFF2-40B4-BE49-F238E27FC236}">
                  <a16:creationId xmlns:a16="http://schemas.microsoft.com/office/drawing/2014/main" id="{E289B881-C89E-9A51-D5D7-780000FDB690}"/>
                </a:ext>
              </a:extLst>
            </p:cNvPr>
            <p:cNvCxnSpPr>
              <a:cxnSpLocks/>
            </p:cNvCxnSpPr>
            <p:nvPr/>
          </p:nvCxnSpPr>
          <p:spPr>
            <a:xfrm>
              <a:off x="10371555" y="1267479"/>
              <a:ext cx="0" cy="167954"/>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4" name="Espace réservé du numéro de diapositive 3">
            <a:extLst>
              <a:ext uri="{FF2B5EF4-FFF2-40B4-BE49-F238E27FC236}">
                <a16:creationId xmlns:a16="http://schemas.microsoft.com/office/drawing/2014/main" id="{83E4EC9F-8E4F-5AC9-FAAF-9D9FB302864C}"/>
              </a:ext>
            </a:extLst>
          </p:cNvPr>
          <p:cNvSpPr>
            <a:spLocks noGrp="1"/>
          </p:cNvSpPr>
          <p:nvPr>
            <p:ph type="sldNum" sz="quarter" idx="4"/>
          </p:nvPr>
        </p:nvSpPr>
        <p:spPr/>
        <p:txBody>
          <a:bodyPr/>
          <a:lstStyle/>
          <a:p>
            <a:fld id="{33C783E2-4793-4F48-A271-51A73CC37D74}" type="slidenum">
              <a:rPr lang="fr-FR" smtClean="0"/>
              <a:t>23</a:t>
            </a:fld>
            <a:endParaRPr lang="fr-FR"/>
          </a:p>
        </p:txBody>
      </p:sp>
    </p:spTree>
    <p:extLst>
      <p:ext uri="{BB962C8B-B14F-4D97-AF65-F5344CB8AC3E}">
        <p14:creationId xmlns:p14="http://schemas.microsoft.com/office/powerpoint/2010/main" val="7054957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3677C5-255A-5D4F-9805-5E43625976A1}"/>
              </a:ext>
            </a:extLst>
          </p:cNvPr>
          <p:cNvSpPr>
            <a:spLocks noGrp="1"/>
          </p:cNvSpPr>
          <p:nvPr>
            <p:ph type="title"/>
          </p:nvPr>
        </p:nvSpPr>
        <p:spPr/>
        <p:txBody>
          <a:bodyPr>
            <a:normAutofit/>
          </a:bodyPr>
          <a:lstStyle/>
          <a:p>
            <a:r>
              <a:rPr lang="fr-FR" dirty="0"/>
              <a:t>Les Interfaces: </a:t>
            </a:r>
            <a:r>
              <a:rPr lang="fr-FR" dirty="0" err="1"/>
              <a:t>Map</a:t>
            </a:r>
            <a:endParaRPr lang="fr-FR" dirty="0"/>
          </a:p>
        </p:txBody>
      </p:sp>
      <p:sp>
        <p:nvSpPr>
          <p:cNvPr id="3" name="Espace réservé du contenu 2">
            <a:extLst>
              <a:ext uri="{FF2B5EF4-FFF2-40B4-BE49-F238E27FC236}">
                <a16:creationId xmlns:a16="http://schemas.microsoft.com/office/drawing/2014/main" id="{41532B4C-7454-6145-9D44-A72961351FBB}"/>
              </a:ext>
            </a:extLst>
          </p:cNvPr>
          <p:cNvSpPr>
            <a:spLocks noGrp="1"/>
          </p:cNvSpPr>
          <p:nvPr>
            <p:ph idx="1"/>
          </p:nvPr>
        </p:nvSpPr>
        <p:spPr/>
        <p:txBody>
          <a:bodyPr>
            <a:noAutofit/>
          </a:bodyPr>
          <a:lstStyle/>
          <a:p>
            <a:pPr marL="0" indent="0">
              <a:buNone/>
            </a:pPr>
            <a:r>
              <a:rPr lang="fr-FR" sz="2000" dirty="0"/>
              <a:t>Les </a:t>
            </a:r>
            <a:r>
              <a:rPr lang="fr-FR" sz="2000" dirty="0" err="1">
                <a:solidFill>
                  <a:schemeClr val="accent4"/>
                </a:solidFill>
              </a:rPr>
              <a:t>Map</a:t>
            </a:r>
            <a:r>
              <a:rPr lang="fr-FR" sz="2000" dirty="0"/>
              <a:t> offrent trois façons d’appréhender leur contenu:</a:t>
            </a:r>
          </a:p>
          <a:p>
            <a:pPr marL="285750" indent="-285750"/>
            <a:r>
              <a:rPr lang="fr-FR" sz="2000" dirty="0"/>
              <a:t>comme un ensemble de clés: </a:t>
            </a:r>
            <a:r>
              <a:rPr lang="fr-FR" sz="1800" dirty="0">
                <a:solidFill>
                  <a:schemeClr val="accent4"/>
                </a:solidFill>
                <a:latin typeface="Consolas" charset="0"/>
                <a:cs typeface="Consolas" charset="0"/>
              </a:rPr>
              <a:t>Set&lt;K&gt; </a:t>
            </a:r>
            <a:r>
              <a:rPr lang="fr-FR" sz="1800" dirty="0" err="1">
                <a:solidFill>
                  <a:schemeClr val="accent4"/>
                </a:solidFill>
                <a:latin typeface="Consolas" charset="0"/>
                <a:cs typeface="Consolas" charset="0"/>
              </a:rPr>
              <a:t>keySet</a:t>
            </a:r>
            <a:r>
              <a:rPr lang="fr-FR" sz="1800" dirty="0">
                <a:solidFill>
                  <a:schemeClr val="accent4"/>
                </a:solidFill>
                <a:latin typeface="Consolas" charset="0"/>
                <a:cs typeface="Consolas" charset="0"/>
              </a:rPr>
              <a:t>()</a:t>
            </a:r>
          </a:p>
          <a:p>
            <a:pPr marL="285750" indent="-285750"/>
            <a:r>
              <a:rPr lang="fr-FR" sz="2000" dirty="0"/>
              <a:t>comme une collection de valeurs: </a:t>
            </a:r>
            <a:r>
              <a:rPr lang="fr-FR" sz="1800" dirty="0">
                <a:solidFill>
                  <a:schemeClr val="accent4"/>
                </a:solidFill>
                <a:latin typeface="Consolas" charset="0"/>
                <a:cs typeface="Consolas" charset="0"/>
              </a:rPr>
              <a:t>Collection&lt;V&gt; values()</a:t>
            </a:r>
          </a:p>
          <a:p>
            <a:pPr marL="285750" indent="-285750"/>
            <a:r>
              <a:rPr lang="fr-FR" sz="2000" dirty="0"/>
              <a:t>comme un ensemble de correspondances clés-valeurs: </a:t>
            </a:r>
            <a:r>
              <a:rPr lang="fr-FR" sz="1800" dirty="0">
                <a:solidFill>
                  <a:schemeClr val="accent4"/>
                </a:solidFill>
                <a:latin typeface="Consolas" charset="0"/>
                <a:cs typeface="Consolas" charset="0"/>
              </a:rPr>
              <a:t>Set&lt;</a:t>
            </a:r>
            <a:r>
              <a:rPr lang="fr-FR" sz="1800" dirty="0" err="1">
                <a:solidFill>
                  <a:schemeClr val="accent4"/>
                </a:solidFill>
                <a:latin typeface="Consolas" charset="0"/>
                <a:cs typeface="Consolas" charset="0"/>
              </a:rPr>
              <a:t>Map.Entry</a:t>
            </a:r>
            <a:r>
              <a:rPr lang="fr-FR" sz="1800" dirty="0">
                <a:solidFill>
                  <a:schemeClr val="accent4"/>
                </a:solidFill>
                <a:latin typeface="Consolas" charset="0"/>
                <a:cs typeface="Consolas" charset="0"/>
              </a:rPr>
              <a:t>&lt;K, V&gt;&gt; </a:t>
            </a:r>
            <a:r>
              <a:rPr lang="fr-FR" sz="1800" dirty="0" err="1">
                <a:solidFill>
                  <a:schemeClr val="accent4"/>
                </a:solidFill>
                <a:latin typeface="Consolas" charset="0"/>
                <a:cs typeface="Consolas" charset="0"/>
              </a:rPr>
              <a:t>entrySet</a:t>
            </a:r>
            <a:r>
              <a:rPr lang="fr-FR" sz="1800" dirty="0">
                <a:solidFill>
                  <a:schemeClr val="accent4"/>
                </a:solidFill>
                <a:latin typeface="Consolas" charset="0"/>
                <a:cs typeface="Consolas" charset="0"/>
              </a:rPr>
              <a:t>()</a:t>
            </a:r>
          </a:p>
          <a:p>
            <a:endParaRPr lang="fr-FR" sz="2000" dirty="0"/>
          </a:p>
          <a:p>
            <a:pPr marL="0" indent="0">
              <a:buNone/>
            </a:pPr>
            <a:r>
              <a:rPr lang="fr-FR" sz="2000" dirty="0"/>
              <a:t>Les opérations suivantes sont également disponibles, entre autres:</a:t>
            </a:r>
          </a:p>
          <a:p>
            <a:pPr marL="342900" indent="-342900"/>
            <a:r>
              <a:rPr lang="fr-FR" sz="1800" dirty="0">
                <a:solidFill>
                  <a:schemeClr val="accent4"/>
                </a:solidFill>
                <a:latin typeface="Consolas" charset="0"/>
                <a:ea typeface="Consolas" charset="0"/>
                <a:cs typeface="Consolas" charset="0"/>
              </a:rPr>
              <a:t>put(K key, V value)</a:t>
            </a:r>
            <a:r>
              <a:rPr lang="fr-FR" sz="2000" dirty="0"/>
              <a:t> et </a:t>
            </a:r>
            <a:r>
              <a:rPr lang="fr-FR" sz="1800" dirty="0" err="1">
                <a:solidFill>
                  <a:schemeClr val="accent4"/>
                </a:solidFill>
                <a:latin typeface="Consolas" charset="0"/>
                <a:cs typeface="Consolas" charset="0"/>
              </a:rPr>
              <a:t>remove</a:t>
            </a:r>
            <a:r>
              <a:rPr lang="fr-FR" sz="1800" dirty="0">
                <a:solidFill>
                  <a:schemeClr val="accent4"/>
                </a:solidFill>
                <a:latin typeface="Consolas" charset="0"/>
                <a:cs typeface="Consolas" charset="0"/>
              </a:rPr>
              <a:t>(Object key)</a:t>
            </a:r>
          </a:p>
          <a:p>
            <a:pPr marL="342900" indent="-342900"/>
            <a:r>
              <a:rPr lang="fr-FR" sz="1800" dirty="0" err="1">
                <a:solidFill>
                  <a:schemeClr val="accent4"/>
                </a:solidFill>
                <a:latin typeface="Consolas" charset="0"/>
                <a:cs typeface="Consolas" charset="0"/>
              </a:rPr>
              <a:t>containsKey</a:t>
            </a:r>
            <a:r>
              <a:rPr lang="fr-FR" sz="1800" dirty="0">
                <a:solidFill>
                  <a:schemeClr val="accent4"/>
                </a:solidFill>
                <a:latin typeface="Consolas" charset="0"/>
                <a:cs typeface="Consolas" charset="0"/>
              </a:rPr>
              <a:t>(Object key)</a:t>
            </a:r>
            <a:r>
              <a:rPr lang="fr-FR" sz="2000" dirty="0"/>
              <a:t> et </a:t>
            </a:r>
            <a:r>
              <a:rPr lang="fr-FR" sz="1800" dirty="0" err="1">
                <a:solidFill>
                  <a:schemeClr val="accent4"/>
                </a:solidFill>
                <a:latin typeface="Consolas" charset="0"/>
                <a:cs typeface="Consolas" charset="0"/>
              </a:rPr>
              <a:t>containsValue</a:t>
            </a:r>
            <a:r>
              <a:rPr lang="fr-FR" sz="1800" dirty="0">
                <a:solidFill>
                  <a:schemeClr val="accent4"/>
                </a:solidFill>
                <a:latin typeface="Consolas" charset="0"/>
                <a:cs typeface="Consolas" charset="0"/>
              </a:rPr>
              <a:t>(Object value)</a:t>
            </a:r>
          </a:p>
          <a:p>
            <a:pPr marL="342900" indent="-342900"/>
            <a:r>
              <a:rPr lang="fr-FR" sz="1800" dirty="0" err="1">
                <a:solidFill>
                  <a:schemeClr val="accent4"/>
                </a:solidFill>
                <a:latin typeface="Consolas" charset="0"/>
                <a:cs typeface="Consolas" charset="0"/>
              </a:rPr>
              <a:t>get</a:t>
            </a:r>
            <a:r>
              <a:rPr lang="fr-FR" sz="1800" dirty="0">
                <a:solidFill>
                  <a:schemeClr val="accent4"/>
                </a:solidFill>
                <a:latin typeface="Consolas" charset="0"/>
                <a:cs typeface="Consolas" charset="0"/>
              </a:rPr>
              <a:t>(Object key)</a:t>
            </a:r>
          </a:p>
          <a:p>
            <a:pPr marL="342900" indent="-342900"/>
            <a:r>
              <a:rPr lang="fr-FR" sz="1800" dirty="0" err="1">
                <a:solidFill>
                  <a:schemeClr val="accent4"/>
                </a:solidFill>
                <a:latin typeface="Consolas" charset="0"/>
                <a:cs typeface="Consolas" charset="0"/>
              </a:rPr>
              <a:t>isEmpty</a:t>
            </a:r>
            <a:r>
              <a:rPr lang="fr-FR" sz="1800" dirty="0">
                <a:solidFill>
                  <a:schemeClr val="accent4"/>
                </a:solidFill>
                <a:latin typeface="Consolas" charset="0"/>
                <a:cs typeface="Consolas" charset="0"/>
              </a:rPr>
              <a:t>()</a:t>
            </a:r>
            <a:r>
              <a:rPr lang="fr-FR" sz="2000" dirty="0"/>
              <a:t> et </a:t>
            </a:r>
            <a:r>
              <a:rPr lang="fr-FR" sz="1800" dirty="0">
                <a:solidFill>
                  <a:schemeClr val="accent4"/>
                </a:solidFill>
                <a:latin typeface="Consolas" charset="0"/>
                <a:cs typeface="Consolas" charset="0"/>
              </a:rPr>
              <a:t>size()</a:t>
            </a:r>
          </a:p>
        </p:txBody>
      </p:sp>
      <p:sp>
        <p:nvSpPr>
          <p:cNvPr id="6" name="ZoneTexte 5">
            <a:extLst>
              <a:ext uri="{FF2B5EF4-FFF2-40B4-BE49-F238E27FC236}">
                <a16:creationId xmlns:a16="http://schemas.microsoft.com/office/drawing/2014/main" id="{0136C490-144F-3F34-8765-5017E04F4679}"/>
              </a:ext>
            </a:extLst>
          </p:cNvPr>
          <p:cNvSpPr txBox="1"/>
          <p:nvPr/>
        </p:nvSpPr>
        <p:spPr>
          <a:xfrm>
            <a:off x="9421256" y="346526"/>
            <a:ext cx="2220953" cy="369332"/>
          </a:xfrm>
          <a:prstGeom prst="rect">
            <a:avLst/>
          </a:prstGeom>
          <a:solidFill>
            <a:srgbClr val="FF7F0B"/>
          </a:solidFill>
        </p:spPr>
        <p:txBody>
          <a:bodyPr wrap="square" rtlCol="0" anchor="ctr">
            <a:spAutoFit/>
          </a:bodyPr>
          <a:lstStyle/>
          <a:p>
            <a:pPr algn="ctr"/>
            <a:r>
              <a:rPr lang="fr-FR" b="1" dirty="0" err="1">
                <a:latin typeface="Consolas" panose="020B0609020204030204" pitchFamily="49" charset="0"/>
                <a:cs typeface="Consolas" panose="020B0609020204030204" pitchFamily="49" charset="0"/>
              </a:rPr>
              <a:t>Map</a:t>
            </a:r>
            <a:endParaRPr lang="fr-FR" b="1" dirty="0">
              <a:latin typeface="Consolas" panose="020B0609020204030204" pitchFamily="49" charset="0"/>
              <a:cs typeface="Consolas" panose="020B0609020204030204" pitchFamily="49" charset="0"/>
            </a:endParaRPr>
          </a:p>
        </p:txBody>
      </p:sp>
      <p:grpSp>
        <p:nvGrpSpPr>
          <p:cNvPr id="19" name="Groupe 18">
            <a:extLst>
              <a:ext uri="{FF2B5EF4-FFF2-40B4-BE49-F238E27FC236}">
                <a16:creationId xmlns:a16="http://schemas.microsoft.com/office/drawing/2014/main" id="{91AC96E8-A16A-3831-5CB5-638192EF5D48}"/>
              </a:ext>
            </a:extLst>
          </p:cNvPr>
          <p:cNvGrpSpPr/>
          <p:nvPr/>
        </p:nvGrpSpPr>
        <p:grpSpPr>
          <a:xfrm>
            <a:off x="8481180" y="932571"/>
            <a:ext cx="2163150" cy="837770"/>
            <a:chOff x="8481180" y="932571"/>
            <a:chExt cx="2163150" cy="837770"/>
          </a:xfrm>
        </p:grpSpPr>
        <p:sp>
          <p:nvSpPr>
            <p:cNvPr id="20" name="Rectangle : coins arrondis 19">
              <a:extLst>
                <a:ext uri="{FF2B5EF4-FFF2-40B4-BE49-F238E27FC236}">
                  <a16:creationId xmlns:a16="http://schemas.microsoft.com/office/drawing/2014/main" id="{DE2BA9F4-9CAA-B165-A7DC-12914267FDD4}"/>
                </a:ext>
              </a:extLst>
            </p:cNvPr>
            <p:cNvSpPr/>
            <p:nvPr/>
          </p:nvSpPr>
          <p:spPr>
            <a:xfrm>
              <a:off x="8481180" y="932571"/>
              <a:ext cx="2163150" cy="837770"/>
            </a:xfrm>
            <a:prstGeom prst="roundRect">
              <a:avLst/>
            </a:prstGeom>
            <a:solidFill>
              <a:srgbClr val="FF7E0B"/>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Rectangle : avec coin rogné 20">
              <a:extLst>
                <a:ext uri="{FF2B5EF4-FFF2-40B4-BE49-F238E27FC236}">
                  <a16:creationId xmlns:a16="http://schemas.microsoft.com/office/drawing/2014/main" id="{DEA022DE-F11F-042E-1976-5A20B0F08276}"/>
                </a:ext>
              </a:extLst>
            </p:cNvPr>
            <p:cNvSpPr/>
            <p:nvPr/>
          </p:nvSpPr>
          <p:spPr>
            <a:xfrm>
              <a:off x="8990387" y="1432814"/>
              <a:ext cx="255257" cy="255257"/>
            </a:xfrm>
            <a:prstGeom prst="snip1Rect">
              <a:avLst/>
            </a:prstGeom>
            <a:solidFill>
              <a:schemeClr val="accent6">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 avec coin rogné 21">
              <a:extLst>
                <a:ext uri="{FF2B5EF4-FFF2-40B4-BE49-F238E27FC236}">
                  <a16:creationId xmlns:a16="http://schemas.microsoft.com/office/drawing/2014/main" id="{2C7E2DA9-D756-8E5C-3BB0-742618F99F26}"/>
                </a:ext>
              </a:extLst>
            </p:cNvPr>
            <p:cNvSpPr/>
            <p:nvPr/>
          </p:nvSpPr>
          <p:spPr>
            <a:xfrm>
              <a:off x="8576060" y="1432814"/>
              <a:ext cx="255257" cy="255257"/>
            </a:xfrm>
            <a:prstGeom prst="snip1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Rectangle : avec coin rogné 22">
              <a:extLst>
                <a:ext uri="{FF2B5EF4-FFF2-40B4-BE49-F238E27FC236}">
                  <a16:creationId xmlns:a16="http://schemas.microsoft.com/office/drawing/2014/main" id="{F61BFBFE-482E-B868-D1C3-B8B2A051CCDA}"/>
                </a:ext>
              </a:extLst>
            </p:cNvPr>
            <p:cNvSpPr/>
            <p:nvPr/>
          </p:nvSpPr>
          <p:spPr>
            <a:xfrm>
              <a:off x="9404714" y="1432814"/>
              <a:ext cx="255257" cy="255257"/>
            </a:xfrm>
            <a:prstGeom prst="snip1Rect">
              <a:avLst/>
            </a:prstGeom>
            <a:solidFill>
              <a:schemeClr val="accent5">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Rectangle : avec coin rogné 23">
              <a:extLst>
                <a:ext uri="{FF2B5EF4-FFF2-40B4-BE49-F238E27FC236}">
                  <a16:creationId xmlns:a16="http://schemas.microsoft.com/office/drawing/2014/main" id="{8308F66F-EEE9-F9ED-9AF8-FEE0E2B75CF4}"/>
                </a:ext>
              </a:extLst>
            </p:cNvPr>
            <p:cNvSpPr/>
            <p:nvPr/>
          </p:nvSpPr>
          <p:spPr>
            <a:xfrm>
              <a:off x="9819041" y="1432814"/>
              <a:ext cx="255257" cy="255257"/>
            </a:xfrm>
            <a:prstGeom prst="snip1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Rectangle : avec coin rogné 24">
              <a:extLst>
                <a:ext uri="{FF2B5EF4-FFF2-40B4-BE49-F238E27FC236}">
                  <a16:creationId xmlns:a16="http://schemas.microsoft.com/office/drawing/2014/main" id="{7DE6D711-BB4A-F798-E641-636EB9C5BB44}"/>
                </a:ext>
              </a:extLst>
            </p:cNvPr>
            <p:cNvSpPr/>
            <p:nvPr/>
          </p:nvSpPr>
          <p:spPr>
            <a:xfrm>
              <a:off x="10233366" y="1432814"/>
              <a:ext cx="255257" cy="255257"/>
            </a:xfrm>
            <a:prstGeom prst="snip1Rect">
              <a:avLst/>
            </a:prstGeom>
            <a:solidFill>
              <a:schemeClr val="accent2">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llipse 25">
              <a:extLst>
                <a:ext uri="{FF2B5EF4-FFF2-40B4-BE49-F238E27FC236}">
                  <a16:creationId xmlns:a16="http://schemas.microsoft.com/office/drawing/2014/main" id="{5C57BDBB-01A5-C116-9FA0-D6FCC5CA7C52}"/>
                </a:ext>
              </a:extLst>
            </p:cNvPr>
            <p:cNvSpPr/>
            <p:nvPr/>
          </p:nvSpPr>
          <p:spPr>
            <a:xfrm>
              <a:off x="8990387" y="1009603"/>
              <a:ext cx="255257" cy="255257"/>
            </a:xfrm>
            <a:prstGeom prst="ellipse">
              <a:avLst/>
            </a:prstGeom>
            <a:solidFill>
              <a:schemeClr val="accent6">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Ellipse 26">
              <a:extLst>
                <a:ext uri="{FF2B5EF4-FFF2-40B4-BE49-F238E27FC236}">
                  <a16:creationId xmlns:a16="http://schemas.microsoft.com/office/drawing/2014/main" id="{A8D44F1D-8FED-A019-C918-6CBDFB969600}"/>
                </a:ext>
              </a:extLst>
            </p:cNvPr>
            <p:cNvSpPr/>
            <p:nvPr/>
          </p:nvSpPr>
          <p:spPr>
            <a:xfrm>
              <a:off x="8576060" y="1009603"/>
              <a:ext cx="255257" cy="255257"/>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Ellipse 27">
              <a:extLst>
                <a:ext uri="{FF2B5EF4-FFF2-40B4-BE49-F238E27FC236}">
                  <a16:creationId xmlns:a16="http://schemas.microsoft.com/office/drawing/2014/main" id="{B0368DBE-EAA0-F2ED-058F-BDF07DB9A6A3}"/>
                </a:ext>
              </a:extLst>
            </p:cNvPr>
            <p:cNvSpPr/>
            <p:nvPr/>
          </p:nvSpPr>
          <p:spPr>
            <a:xfrm>
              <a:off x="9404714" y="1009603"/>
              <a:ext cx="255257" cy="255257"/>
            </a:xfrm>
            <a:prstGeom prst="ellipse">
              <a:avLst/>
            </a:prstGeom>
            <a:solidFill>
              <a:schemeClr val="accent5">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Ellipse 28">
              <a:extLst>
                <a:ext uri="{FF2B5EF4-FFF2-40B4-BE49-F238E27FC236}">
                  <a16:creationId xmlns:a16="http://schemas.microsoft.com/office/drawing/2014/main" id="{98198FA6-6CEF-FB22-DCAB-BC76813F65E5}"/>
                </a:ext>
              </a:extLst>
            </p:cNvPr>
            <p:cNvSpPr/>
            <p:nvPr/>
          </p:nvSpPr>
          <p:spPr>
            <a:xfrm>
              <a:off x="9819041" y="1009603"/>
              <a:ext cx="255257" cy="255257"/>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Ellipse 29">
              <a:extLst>
                <a:ext uri="{FF2B5EF4-FFF2-40B4-BE49-F238E27FC236}">
                  <a16:creationId xmlns:a16="http://schemas.microsoft.com/office/drawing/2014/main" id="{047D8E62-0A91-D72F-FDC3-729FFEC88234}"/>
                </a:ext>
              </a:extLst>
            </p:cNvPr>
            <p:cNvSpPr/>
            <p:nvPr/>
          </p:nvSpPr>
          <p:spPr>
            <a:xfrm>
              <a:off x="10233366" y="1009603"/>
              <a:ext cx="255257" cy="255257"/>
            </a:xfrm>
            <a:prstGeom prst="ellipse">
              <a:avLst/>
            </a:prstGeom>
            <a:solidFill>
              <a:schemeClr val="accent2">
                <a:lumMod val="60000"/>
                <a:lumOff val="4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31" name="Connecteur droit 30">
              <a:extLst>
                <a:ext uri="{FF2B5EF4-FFF2-40B4-BE49-F238E27FC236}">
                  <a16:creationId xmlns:a16="http://schemas.microsoft.com/office/drawing/2014/main" id="{B166F6DD-4697-05E9-7897-6263D846D626}"/>
                </a:ext>
              </a:extLst>
            </p:cNvPr>
            <p:cNvCxnSpPr>
              <a:cxnSpLocks/>
              <a:stCxn id="27" idx="4"/>
              <a:endCxn id="22" idx="3"/>
            </p:cNvCxnSpPr>
            <p:nvPr/>
          </p:nvCxnSpPr>
          <p:spPr>
            <a:xfrm>
              <a:off x="8703689" y="1264860"/>
              <a:ext cx="0" cy="167954"/>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2" name="Connecteur droit 31">
              <a:extLst>
                <a:ext uri="{FF2B5EF4-FFF2-40B4-BE49-F238E27FC236}">
                  <a16:creationId xmlns:a16="http://schemas.microsoft.com/office/drawing/2014/main" id="{46D0A298-4881-02F8-4AD7-F37D9DD8E124}"/>
                </a:ext>
              </a:extLst>
            </p:cNvPr>
            <p:cNvCxnSpPr>
              <a:cxnSpLocks/>
            </p:cNvCxnSpPr>
            <p:nvPr/>
          </p:nvCxnSpPr>
          <p:spPr>
            <a:xfrm>
              <a:off x="9116999" y="1267479"/>
              <a:ext cx="0" cy="167954"/>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3" name="Connecteur droit 32">
              <a:extLst>
                <a:ext uri="{FF2B5EF4-FFF2-40B4-BE49-F238E27FC236}">
                  <a16:creationId xmlns:a16="http://schemas.microsoft.com/office/drawing/2014/main" id="{6FCB6E77-F5FB-3562-A2CB-700CC404BF0C}"/>
                </a:ext>
              </a:extLst>
            </p:cNvPr>
            <p:cNvCxnSpPr>
              <a:cxnSpLocks/>
            </p:cNvCxnSpPr>
            <p:nvPr/>
          </p:nvCxnSpPr>
          <p:spPr>
            <a:xfrm>
              <a:off x="9530307" y="1267479"/>
              <a:ext cx="0" cy="167954"/>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4" name="Connecteur droit 33">
              <a:extLst>
                <a:ext uri="{FF2B5EF4-FFF2-40B4-BE49-F238E27FC236}">
                  <a16:creationId xmlns:a16="http://schemas.microsoft.com/office/drawing/2014/main" id="{A9CEECF3-D92B-374B-C1FA-7EE9E9891E6B}"/>
                </a:ext>
              </a:extLst>
            </p:cNvPr>
            <p:cNvCxnSpPr>
              <a:cxnSpLocks/>
            </p:cNvCxnSpPr>
            <p:nvPr/>
          </p:nvCxnSpPr>
          <p:spPr>
            <a:xfrm>
              <a:off x="9943615" y="1267479"/>
              <a:ext cx="0" cy="167954"/>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5" name="Connecteur droit 34">
              <a:extLst>
                <a:ext uri="{FF2B5EF4-FFF2-40B4-BE49-F238E27FC236}">
                  <a16:creationId xmlns:a16="http://schemas.microsoft.com/office/drawing/2014/main" id="{4C34794C-851D-DD0B-F83E-36C624477D9E}"/>
                </a:ext>
              </a:extLst>
            </p:cNvPr>
            <p:cNvCxnSpPr>
              <a:cxnSpLocks/>
            </p:cNvCxnSpPr>
            <p:nvPr/>
          </p:nvCxnSpPr>
          <p:spPr>
            <a:xfrm>
              <a:off x="10371555" y="1267479"/>
              <a:ext cx="0" cy="167954"/>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4" name="Espace réservé du numéro de diapositive 3">
            <a:extLst>
              <a:ext uri="{FF2B5EF4-FFF2-40B4-BE49-F238E27FC236}">
                <a16:creationId xmlns:a16="http://schemas.microsoft.com/office/drawing/2014/main" id="{BB8FA4AD-8151-7F84-DEBD-15A2F04398ED}"/>
              </a:ext>
            </a:extLst>
          </p:cNvPr>
          <p:cNvSpPr>
            <a:spLocks noGrp="1"/>
          </p:cNvSpPr>
          <p:nvPr>
            <p:ph type="sldNum" sz="quarter" idx="4"/>
          </p:nvPr>
        </p:nvSpPr>
        <p:spPr/>
        <p:txBody>
          <a:bodyPr/>
          <a:lstStyle/>
          <a:p>
            <a:fld id="{33C783E2-4793-4F48-A271-51A73CC37D74}" type="slidenum">
              <a:rPr lang="fr-FR" smtClean="0"/>
              <a:t>24</a:t>
            </a:fld>
            <a:endParaRPr lang="fr-FR"/>
          </a:p>
        </p:txBody>
      </p:sp>
    </p:spTree>
    <p:extLst>
      <p:ext uri="{BB962C8B-B14F-4D97-AF65-F5344CB8AC3E}">
        <p14:creationId xmlns:p14="http://schemas.microsoft.com/office/powerpoint/2010/main" val="33842120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Collections</a:t>
            </a:r>
          </a:p>
        </p:txBody>
      </p:sp>
      <p:sp>
        <p:nvSpPr>
          <p:cNvPr id="3" name="Espace réservé du contenu 2"/>
          <p:cNvSpPr>
            <a:spLocks noGrp="1"/>
          </p:cNvSpPr>
          <p:nvPr>
            <p:ph idx="1"/>
          </p:nvPr>
        </p:nvSpPr>
        <p:spPr/>
        <p:txBody>
          <a:bodyPr>
            <a:normAutofit/>
          </a:bodyPr>
          <a:lstStyle/>
          <a:p>
            <a:pPr marL="342900" indent="-342900">
              <a:buFont typeface="Arial" charset="0"/>
              <a:buChar char="•"/>
            </a:pPr>
            <a:r>
              <a:rPr lang="fr-BE" dirty="0"/>
              <a:t>Pourquoi les Collections?</a:t>
            </a:r>
          </a:p>
          <a:p>
            <a:pPr marL="342900" indent="-342900">
              <a:buFont typeface="Arial" charset="0"/>
              <a:buChar char="•"/>
            </a:pPr>
            <a:r>
              <a:rPr lang="fr-BE" dirty="0" err="1"/>
              <a:t>Itérateur</a:t>
            </a:r>
            <a:endParaRPr lang="fr-BE" dirty="0"/>
          </a:p>
          <a:p>
            <a:pPr marL="342900" indent="-342900">
              <a:buFont typeface="Arial" charset="0"/>
              <a:buChar char="•"/>
            </a:pPr>
            <a:r>
              <a:rPr lang="fr-BE" dirty="0"/>
              <a:t>Les Interfaces de Collections</a:t>
            </a:r>
          </a:p>
          <a:p>
            <a:pPr marL="342900" indent="-342900">
              <a:buFont typeface="Arial" charset="0"/>
              <a:buChar char="•"/>
            </a:pPr>
            <a:r>
              <a:rPr lang="fr-BE" dirty="0">
                <a:solidFill>
                  <a:schemeClr val="accent4"/>
                </a:solidFill>
              </a:rPr>
              <a:t>La notion d’ordre (Comparable et </a:t>
            </a:r>
            <a:r>
              <a:rPr lang="fr-BE" dirty="0" err="1">
                <a:solidFill>
                  <a:schemeClr val="accent4"/>
                </a:solidFill>
              </a:rPr>
              <a:t>Sorted</a:t>
            </a:r>
            <a:r>
              <a:rPr lang="fr-BE" dirty="0">
                <a:solidFill>
                  <a:schemeClr val="accent4"/>
                </a:solidFill>
              </a:rPr>
              <a:t>...)</a:t>
            </a:r>
          </a:p>
          <a:p>
            <a:pPr marL="342900" indent="-342900">
              <a:buFont typeface="Arial" charset="0"/>
              <a:buChar char="•"/>
            </a:pPr>
            <a:r>
              <a:rPr lang="fr-BE" dirty="0"/>
              <a:t>Les classes concrètes</a:t>
            </a:r>
          </a:p>
          <a:p>
            <a:pPr marL="342900" indent="-342900">
              <a:buFont typeface="Arial" charset="0"/>
              <a:buChar char="•"/>
            </a:pPr>
            <a:r>
              <a:rPr lang="fr-BE" dirty="0"/>
              <a:t>Algorithmes: la classe Collections</a:t>
            </a:r>
          </a:p>
          <a:p>
            <a:pPr marL="342900" indent="-342900">
              <a:buFont typeface="Arial" charset="0"/>
              <a:buChar char="•"/>
            </a:pPr>
            <a:endParaRPr lang="fr-BE" dirty="0"/>
          </a:p>
        </p:txBody>
      </p:sp>
      <p:sp>
        <p:nvSpPr>
          <p:cNvPr id="4" name="Espace réservé du numéro de diapositive 3">
            <a:extLst>
              <a:ext uri="{FF2B5EF4-FFF2-40B4-BE49-F238E27FC236}">
                <a16:creationId xmlns:a16="http://schemas.microsoft.com/office/drawing/2014/main" id="{9DEA616C-F19F-C761-668B-987257FEEF0D}"/>
              </a:ext>
            </a:extLst>
          </p:cNvPr>
          <p:cNvSpPr>
            <a:spLocks noGrp="1"/>
          </p:cNvSpPr>
          <p:nvPr>
            <p:ph type="sldNum" sz="quarter" idx="10"/>
          </p:nvPr>
        </p:nvSpPr>
        <p:spPr/>
        <p:txBody>
          <a:bodyPr/>
          <a:lstStyle/>
          <a:p>
            <a:fld id="{33C783E2-4793-4F48-A271-51A73CC37D74}" type="slidenum">
              <a:rPr lang="fr-FR" smtClean="0"/>
              <a:t>25</a:t>
            </a:fld>
            <a:endParaRPr lang="fr-FR"/>
          </a:p>
        </p:txBody>
      </p:sp>
    </p:spTree>
    <p:extLst>
      <p:ext uri="{BB962C8B-B14F-4D97-AF65-F5344CB8AC3E}">
        <p14:creationId xmlns:p14="http://schemas.microsoft.com/office/powerpoint/2010/main" val="3309089247"/>
      </p:ext>
    </p:extLst>
  </p:cSld>
  <p:clrMapOvr>
    <a:masterClrMapping/>
  </p:clrMapOvr>
  <p:transition>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3677C5-255A-5D4F-9805-5E43625976A1}"/>
              </a:ext>
            </a:extLst>
          </p:cNvPr>
          <p:cNvSpPr>
            <a:spLocks noGrp="1"/>
          </p:cNvSpPr>
          <p:nvPr>
            <p:ph type="title"/>
          </p:nvPr>
        </p:nvSpPr>
        <p:spPr/>
        <p:txBody>
          <a:bodyPr>
            <a:normAutofit/>
          </a:bodyPr>
          <a:lstStyle/>
          <a:p>
            <a:r>
              <a:rPr lang="fr-FR" dirty="0"/>
              <a:t>La notion d’ordre</a:t>
            </a:r>
          </a:p>
        </p:txBody>
      </p:sp>
      <p:sp>
        <p:nvSpPr>
          <p:cNvPr id="3" name="Espace réservé du contenu 2">
            <a:extLst>
              <a:ext uri="{FF2B5EF4-FFF2-40B4-BE49-F238E27FC236}">
                <a16:creationId xmlns:a16="http://schemas.microsoft.com/office/drawing/2014/main" id="{41532B4C-7454-6145-9D44-A72961351FBB}"/>
              </a:ext>
            </a:extLst>
          </p:cNvPr>
          <p:cNvSpPr>
            <a:spLocks noGrp="1"/>
          </p:cNvSpPr>
          <p:nvPr>
            <p:ph idx="1"/>
          </p:nvPr>
        </p:nvSpPr>
        <p:spPr/>
        <p:txBody>
          <a:bodyPr>
            <a:noAutofit/>
          </a:bodyPr>
          <a:lstStyle/>
          <a:p>
            <a:pPr marL="0" indent="0">
              <a:buNone/>
            </a:pPr>
            <a:r>
              <a:rPr lang="fr-FR" sz="2400" dirty="0"/>
              <a:t>Avant d’aborder les </a:t>
            </a:r>
            <a:r>
              <a:rPr lang="fr-FR" sz="2200" dirty="0" err="1">
                <a:solidFill>
                  <a:schemeClr val="accent4"/>
                </a:solidFill>
              </a:rPr>
              <a:t>SortedSet</a:t>
            </a:r>
            <a:r>
              <a:rPr lang="fr-FR" sz="2400" dirty="0"/>
              <a:t> et les </a:t>
            </a:r>
            <a:r>
              <a:rPr lang="fr-FR" sz="2200" dirty="0" err="1">
                <a:solidFill>
                  <a:schemeClr val="accent4"/>
                </a:solidFill>
              </a:rPr>
              <a:t>SortedMap</a:t>
            </a:r>
            <a:r>
              <a:rPr lang="fr-FR" sz="2400" dirty="0"/>
              <a:t>, nous allons devoir parler de la manière dont les objets sont triés.</a:t>
            </a:r>
          </a:p>
          <a:p>
            <a:pPr marL="0" indent="0">
              <a:buNone/>
            </a:pPr>
            <a:r>
              <a:rPr lang="fr-FR" sz="2400" dirty="0"/>
              <a:t>Pour trier une </a:t>
            </a:r>
            <a:r>
              <a:rPr lang="fr-FR" sz="2200" dirty="0">
                <a:solidFill>
                  <a:schemeClr val="accent4"/>
                </a:solidFill>
              </a:rPr>
              <a:t>List</a:t>
            </a:r>
            <a:r>
              <a:rPr lang="fr-FR" sz="2400" dirty="0"/>
              <a:t>, il suffit d’utiliser </a:t>
            </a:r>
            <a:r>
              <a:rPr lang="fr-BE" sz="2200" dirty="0" err="1">
                <a:solidFill>
                  <a:schemeClr val="accent4"/>
                </a:solidFill>
              </a:rPr>
              <a:t>Collections.sort</a:t>
            </a:r>
            <a:r>
              <a:rPr lang="fr-BE" sz="2200" dirty="0">
                <a:solidFill>
                  <a:schemeClr val="accent4"/>
                </a:solidFill>
              </a:rPr>
              <a:t>(</a:t>
            </a:r>
            <a:r>
              <a:rPr lang="fr-BE" sz="2200" dirty="0" err="1">
                <a:solidFill>
                  <a:schemeClr val="accent4"/>
                </a:solidFill>
              </a:rPr>
              <a:t>list</a:t>
            </a:r>
            <a:r>
              <a:rPr lang="fr-BE" sz="2200" dirty="0">
                <a:solidFill>
                  <a:schemeClr val="accent4"/>
                </a:solidFill>
              </a:rPr>
              <a:t>)</a:t>
            </a:r>
            <a:r>
              <a:rPr lang="fr-BE" sz="2400" dirty="0"/>
              <a:t>, une méthode statique de la classe utilitaire </a:t>
            </a:r>
            <a:r>
              <a:rPr lang="fr-BE" sz="2200" dirty="0">
                <a:solidFill>
                  <a:schemeClr val="accent4"/>
                </a:solidFill>
              </a:rPr>
              <a:t>Collections</a:t>
            </a:r>
            <a:r>
              <a:rPr lang="fr-BE" sz="2400" dirty="0"/>
              <a:t>.</a:t>
            </a:r>
          </a:p>
          <a:p>
            <a:pPr marL="342900" indent="-342900"/>
            <a:r>
              <a:rPr lang="fr-BE" sz="2400" dirty="0"/>
              <a:t>une liste de </a:t>
            </a:r>
            <a:r>
              <a:rPr lang="fr-BE" sz="2200" dirty="0">
                <a:solidFill>
                  <a:schemeClr val="accent4"/>
                </a:solidFill>
              </a:rPr>
              <a:t>String</a:t>
            </a:r>
            <a:r>
              <a:rPr lang="fr-BE" sz="2400" dirty="0"/>
              <a:t> sera rangée par ordre alphabétique</a:t>
            </a:r>
          </a:p>
          <a:p>
            <a:pPr marL="342900" indent="-342900"/>
            <a:r>
              <a:rPr lang="fr-BE" sz="2400" dirty="0"/>
              <a:t>une liste de </a:t>
            </a:r>
            <a:r>
              <a:rPr lang="fr-BE" sz="2200" dirty="0">
                <a:solidFill>
                  <a:schemeClr val="accent4"/>
                </a:solidFill>
              </a:rPr>
              <a:t>Date</a:t>
            </a:r>
            <a:r>
              <a:rPr lang="fr-BE" sz="2400" dirty="0"/>
              <a:t> par ordre de temps. </a:t>
            </a:r>
          </a:p>
          <a:p>
            <a:endParaRPr lang="fr-BE" sz="2400" dirty="0"/>
          </a:p>
          <a:p>
            <a:pPr marL="0" indent="0">
              <a:buNone/>
            </a:pPr>
            <a:r>
              <a:rPr lang="fr-BE" sz="2400" dirty="0"/>
              <a:t>Ceci est possible parce que ces classes implémentent l’interface </a:t>
            </a:r>
            <a:r>
              <a:rPr lang="fr-BE" sz="2200" dirty="0">
                <a:solidFill>
                  <a:schemeClr val="accent4"/>
                </a:solidFill>
              </a:rPr>
              <a:t>Comparable&lt;</a:t>
            </a:r>
            <a:r>
              <a:rPr lang="fr-BE" sz="2200" dirty="0" err="1">
                <a:solidFill>
                  <a:schemeClr val="accent4"/>
                </a:solidFill>
              </a:rPr>
              <a:t>T</a:t>
            </a:r>
            <a:r>
              <a:rPr lang="fr-BE" sz="2200" dirty="0">
                <a:solidFill>
                  <a:schemeClr val="accent4"/>
                </a:solidFill>
              </a:rPr>
              <a:t>&gt;</a:t>
            </a:r>
            <a:r>
              <a:rPr lang="fr-BE" sz="2400" dirty="0"/>
              <a:t>, qui expose la méthode </a:t>
            </a:r>
            <a:r>
              <a:rPr lang="fr-BE" sz="2200" dirty="0" err="1">
                <a:solidFill>
                  <a:schemeClr val="accent4"/>
                </a:solidFill>
              </a:rPr>
              <a:t>int</a:t>
            </a:r>
            <a:r>
              <a:rPr lang="fr-BE" sz="2200" dirty="0">
                <a:solidFill>
                  <a:schemeClr val="accent4"/>
                </a:solidFill>
              </a:rPr>
              <a:t> </a:t>
            </a:r>
            <a:r>
              <a:rPr lang="fr-BE" sz="2200" dirty="0" err="1">
                <a:solidFill>
                  <a:schemeClr val="accent4"/>
                </a:solidFill>
              </a:rPr>
              <a:t>compareTo</a:t>
            </a:r>
            <a:r>
              <a:rPr lang="fr-BE" sz="2200" dirty="0">
                <a:solidFill>
                  <a:schemeClr val="accent4"/>
                </a:solidFill>
              </a:rPr>
              <a:t>(</a:t>
            </a:r>
            <a:r>
              <a:rPr lang="fr-BE" sz="2200" dirty="0" err="1">
                <a:solidFill>
                  <a:schemeClr val="accent4"/>
                </a:solidFill>
              </a:rPr>
              <a:t>T</a:t>
            </a:r>
            <a:r>
              <a:rPr lang="fr-BE" sz="2200" dirty="0">
                <a:solidFill>
                  <a:schemeClr val="accent4"/>
                </a:solidFill>
              </a:rPr>
              <a:t> o)</a:t>
            </a:r>
            <a:r>
              <a:rPr lang="fr-BE" sz="2400" dirty="0"/>
              <a:t>. </a:t>
            </a:r>
          </a:p>
        </p:txBody>
      </p:sp>
      <p:pic>
        <p:nvPicPr>
          <p:cNvPr id="8" name="Image 7">
            <a:extLst>
              <a:ext uri="{FF2B5EF4-FFF2-40B4-BE49-F238E27FC236}">
                <a16:creationId xmlns:a16="http://schemas.microsoft.com/office/drawing/2014/main" id="{6490EADE-C0F0-9746-8D8A-0344BE76BAF5}"/>
              </a:ext>
            </a:extLst>
          </p:cNvPr>
          <p:cNvPicPr>
            <a:picLocks noChangeAspect="1"/>
          </p:cNvPicPr>
          <p:nvPr/>
        </p:nvPicPr>
        <p:blipFill>
          <a:blip r:embed="rId2" cstate="screen">
            <a:extLst>
              <a:ext uri="{BEBA8EAE-BF5A-486C-A8C5-ECC9F3942E4B}">
                <a14:imgProps xmlns:a14="http://schemas.microsoft.com/office/drawing/2010/main">
                  <a14:imgLayer r:embed="rId3">
                    <a14:imgEffect>
                      <a14:backgroundRemoval t="4797" b="95203" l="6250" r="95380">
                        <a14:foregroundMark x1="12228" y1="4428" x2="9586" y2="64361"/>
                        <a14:foregroundMark x1="21455" y1="89840" x2="21520" y2="89969"/>
                        <a14:foregroundMark x1="14699" y1="76384" x2="15518" y2="78015"/>
                        <a14:foregroundMark x1="14514" y1="76015" x2="14699" y2="76384"/>
                        <a14:foregroundMark x1="13937" y1="74867" x2="14514" y2="76015"/>
                        <a14:foregroundMark x1="14458" y1="61843" x2="14402" y2="61624"/>
                        <a14:foregroundMark x1="17895" y1="75326" x2="17331" y2="73114"/>
                        <a14:foregroundMark x1="14402" y1="61624" x2="13859" y2="6642"/>
                        <a14:foregroundMark x1="9239" y1="23985" x2="6250" y2="50923"/>
                        <a14:foregroundMark x1="6250" y1="93727" x2="15489" y2="94096"/>
                        <a14:foregroundMark x1="26630" y1="22140" x2="26630" y2="30258"/>
                        <a14:foregroundMark x1="34511" y1="18819" x2="38859" y2="47970"/>
                        <a14:foregroundMark x1="38859" y1="47970" x2="33967" y2="70111"/>
                        <a14:foregroundMark x1="59783" y1="39483" x2="57337" y2="80443"/>
                        <a14:foregroundMark x1="80395" y1="89668" x2="79891" y2="95203"/>
                        <a14:foregroundMark x1="80496" y1="88561" x2="80395" y2="89668"/>
                        <a14:foregroundMark x1="80563" y1="87823" x2="80496" y2="88561"/>
                        <a14:foregroundMark x1="82880" y1="62362" x2="80563" y2="87823"/>
                        <a14:foregroundMark x1="20652" y1="92251" x2="20652" y2="92251"/>
                        <a14:foregroundMark x1="50272" y1="35793" x2="50272" y2="44280"/>
                        <a14:foregroundMark x1="92547" y1="75181" x2="91848" y2="78598"/>
                        <a14:foregroundMark x1="95380" y1="64945" x2="95380" y2="64945"/>
                        <a14:foregroundMark x1="95109" y1="71956" x2="95109" y2="71956"/>
                        <a14:foregroundMark x1="69022" y1="64945" x2="69022" y2="64945"/>
                        <a14:foregroundMark x1="64402" y1="66790" x2="64402" y2="66790"/>
                        <a14:backgroundMark x1="18750" y1="86347" x2="22283" y2="81181"/>
                        <a14:backgroundMark x1="21196" y1="87823" x2="19837" y2="83764"/>
                        <a14:backgroundMark x1="10598" y1="63838" x2="13859" y2="74908"/>
                        <a14:backgroundMark x1="18207" y1="85978" x2="19565" y2="81181"/>
                        <a14:backgroundMark x1="14130" y1="76384" x2="14130" y2="76384"/>
                        <a14:backgroundMark x1="14402" y1="76015" x2="14402" y2="76015"/>
                        <a14:backgroundMark x1="17663" y1="80812" x2="17663" y2="80812"/>
                        <a14:backgroundMark x1="18207" y1="79336" x2="18207" y2="79336"/>
                        <a14:backgroundMark x1="18478" y1="80812" x2="21467" y2="88192"/>
                        <a14:backgroundMark x1="20924" y1="77122" x2="19022" y2="82657"/>
                        <a14:backgroundMark x1="20924" y1="90037" x2="19837" y2="90406"/>
                        <a14:backgroundMark x1="18478" y1="88561" x2="21739" y2="89299"/>
                        <a14:backgroundMark x1="80707" y1="89668" x2="80707" y2="89668"/>
                        <a14:backgroundMark x1="79891" y1="88561" x2="79891" y2="88561"/>
                        <a14:backgroundMark x1="80435" y1="87823" x2="80435" y2="87823"/>
                        <a14:backgroundMark x1="92391" y1="71587" x2="92391" y2="71587"/>
                        <a14:backgroundMark x1="92391" y1="71218" x2="92391" y2="71218"/>
                        <a14:backgroundMark x1="91576" y1="69373" x2="92935" y2="68635"/>
                        <a14:backgroundMark x1="92120" y1="68635" x2="93478" y2="69742"/>
                        <a14:backgroundMark x1="92120" y1="70111" x2="95652" y2="69742"/>
                        <a14:backgroundMark x1="57337" y1="84871" x2="57337" y2="84871"/>
                        <a14:backgroundMark x1="56250" y1="81550" x2="56250" y2="81550"/>
                      </a14:backgroundRemoval>
                    </a14:imgEffect>
                  </a14:imgLayer>
                </a14:imgProps>
              </a:ext>
              <a:ext uri="{28A0092B-C50C-407E-A947-70E740481C1C}">
                <a14:useLocalDpi xmlns:a14="http://schemas.microsoft.com/office/drawing/2010/main"/>
              </a:ext>
            </a:extLst>
          </a:blip>
          <a:stretch>
            <a:fillRect/>
          </a:stretch>
        </p:blipFill>
        <p:spPr>
          <a:xfrm>
            <a:off x="9473028" y="152719"/>
            <a:ext cx="2210117" cy="1621553"/>
          </a:xfrm>
          <a:prstGeom prst="rect">
            <a:avLst/>
          </a:prstGeom>
        </p:spPr>
      </p:pic>
      <p:sp>
        <p:nvSpPr>
          <p:cNvPr id="4" name="Espace réservé du numéro de diapositive 3">
            <a:extLst>
              <a:ext uri="{FF2B5EF4-FFF2-40B4-BE49-F238E27FC236}">
                <a16:creationId xmlns:a16="http://schemas.microsoft.com/office/drawing/2014/main" id="{5B202491-0F82-0D7E-0BC8-AE8B8ED20BA4}"/>
              </a:ext>
            </a:extLst>
          </p:cNvPr>
          <p:cNvSpPr>
            <a:spLocks noGrp="1"/>
          </p:cNvSpPr>
          <p:nvPr>
            <p:ph type="sldNum" sz="quarter" idx="4"/>
          </p:nvPr>
        </p:nvSpPr>
        <p:spPr/>
        <p:txBody>
          <a:bodyPr/>
          <a:lstStyle/>
          <a:p>
            <a:fld id="{33C783E2-4793-4F48-A271-51A73CC37D74}" type="slidenum">
              <a:rPr lang="fr-FR" smtClean="0"/>
              <a:t>26</a:t>
            </a:fld>
            <a:endParaRPr lang="fr-FR"/>
          </a:p>
        </p:txBody>
      </p:sp>
    </p:spTree>
    <p:extLst>
      <p:ext uri="{BB962C8B-B14F-4D97-AF65-F5344CB8AC3E}">
        <p14:creationId xmlns:p14="http://schemas.microsoft.com/office/powerpoint/2010/main" val="38101843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3677C5-255A-5D4F-9805-5E43625976A1}"/>
              </a:ext>
            </a:extLst>
          </p:cNvPr>
          <p:cNvSpPr>
            <a:spLocks noGrp="1"/>
          </p:cNvSpPr>
          <p:nvPr>
            <p:ph type="title"/>
          </p:nvPr>
        </p:nvSpPr>
        <p:spPr/>
        <p:txBody>
          <a:bodyPr>
            <a:normAutofit/>
          </a:bodyPr>
          <a:lstStyle/>
          <a:p>
            <a:r>
              <a:rPr lang="fr-FR" dirty="0"/>
              <a:t>L’interface Comparable</a:t>
            </a:r>
          </a:p>
        </p:txBody>
      </p:sp>
      <p:sp>
        <p:nvSpPr>
          <p:cNvPr id="3" name="Espace réservé du contenu 2">
            <a:extLst>
              <a:ext uri="{FF2B5EF4-FFF2-40B4-BE49-F238E27FC236}">
                <a16:creationId xmlns:a16="http://schemas.microsoft.com/office/drawing/2014/main" id="{41532B4C-7454-6145-9D44-A72961351FBB}"/>
              </a:ext>
            </a:extLst>
          </p:cNvPr>
          <p:cNvSpPr>
            <a:spLocks noGrp="1"/>
          </p:cNvSpPr>
          <p:nvPr>
            <p:ph idx="1"/>
          </p:nvPr>
        </p:nvSpPr>
        <p:spPr/>
        <p:txBody>
          <a:bodyPr>
            <a:noAutofit/>
          </a:bodyPr>
          <a:lstStyle/>
          <a:p>
            <a:pPr marL="0" indent="0">
              <a:buNone/>
            </a:pPr>
            <a:r>
              <a:rPr lang="fr-BE" sz="2000" dirty="0">
                <a:solidFill>
                  <a:schemeClr val="accent4"/>
                </a:solidFill>
                <a:latin typeface="Consolas" panose="020B0609020204030204" pitchFamily="49" charset="0"/>
                <a:cs typeface="Consolas" panose="020B0609020204030204" pitchFamily="49" charset="0"/>
              </a:rPr>
              <a:t>Comparable&lt;</a:t>
            </a:r>
            <a:r>
              <a:rPr lang="fr-BE" sz="2000" dirty="0" err="1">
                <a:solidFill>
                  <a:schemeClr val="accent4"/>
                </a:solidFill>
                <a:latin typeface="Consolas" panose="020B0609020204030204" pitchFamily="49" charset="0"/>
                <a:cs typeface="Consolas" panose="020B0609020204030204" pitchFamily="49" charset="0"/>
              </a:rPr>
              <a:t>T</a:t>
            </a:r>
            <a:r>
              <a:rPr lang="fr-BE" sz="2000" dirty="0">
                <a:solidFill>
                  <a:schemeClr val="accent4"/>
                </a:solidFill>
                <a:latin typeface="Consolas" panose="020B0609020204030204" pitchFamily="49" charset="0"/>
                <a:cs typeface="Consolas" panose="020B0609020204030204" pitchFamily="49" charset="0"/>
              </a:rPr>
              <a:t>&gt;</a:t>
            </a:r>
            <a:r>
              <a:rPr lang="fr-BE" sz="2400" dirty="0"/>
              <a:t> est une interface qui expose la méthode </a:t>
            </a:r>
            <a:r>
              <a:rPr lang="fr-BE" sz="2000" dirty="0" err="1">
                <a:solidFill>
                  <a:schemeClr val="accent4"/>
                </a:solidFill>
                <a:latin typeface="Consolas" panose="020B0609020204030204" pitchFamily="49" charset="0"/>
                <a:cs typeface="Consolas" panose="020B0609020204030204" pitchFamily="49" charset="0"/>
              </a:rPr>
              <a:t>int</a:t>
            </a:r>
            <a:r>
              <a:rPr lang="fr-BE" sz="2000" dirty="0">
                <a:solidFill>
                  <a:schemeClr val="accent4"/>
                </a:solidFill>
                <a:latin typeface="Consolas" panose="020B0609020204030204" pitchFamily="49" charset="0"/>
                <a:cs typeface="Consolas" panose="020B0609020204030204" pitchFamily="49" charset="0"/>
              </a:rPr>
              <a:t> </a:t>
            </a:r>
            <a:r>
              <a:rPr lang="fr-BE" sz="2000" dirty="0" err="1">
                <a:solidFill>
                  <a:schemeClr val="accent4"/>
                </a:solidFill>
                <a:latin typeface="Consolas" panose="020B0609020204030204" pitchFamily="49" charset="0"/>
                <a:cs typeface="Consolas" panose="020B0609020204030204" pitchFamily="49" charset="0"/>
              </a:rPr>
              <a:t>compareTo</a:t>
            </a:r>
            <a:r>
              <a:rPr lang="fr-BE" sz="2000" dirty="0">
                <a:solidFill>
                  <a:schemeClr val="accent4"/>
                </a:solidFill>
                <a:latin typeface="Consolas" panose="020B0609020204030204" pitchFamily="49" charset="0"/>
                <a:cs typeface="Consolas" panose="020B0609020204030204" pitchFamily="49" charset="0"/>
              </a:rPr>
              <a:t>(</a:t>
            </a:r>
            <a:r>
              <a:rPr lang="fr-BE" sz="2000" dirty="0" err="1">
                <a:solidFill>
                  <a:schemeClr val="accent4"/>
                </a:solidFill>
                <a:latin typeface="Consolas" panose="020B0609020204030204" pitchFamily="49" charset="0"/>
                <a:cs typeface="Consolas" panose="020B0609020204030204" pitchFamily="49" charset="0"/>
              </a:rPr>
              <a:t>T</a:t>
            </a:r>
            <a:r>
              <a:rPr lang="fr-BE" sz="2000" dirty="0">
                <a:solidFill>
                  <a:schemeClr val="accent4"/>
                </a:solidFill>
                <a:latin typeface="Consolas" panose="020B0609020204030204" pitchFamily="49" charset="0"/>
                <a:cs typeface="Consolas" panose="020B0609020204030204" pitchFamily="49" charset="0"/>
              </a:rPr>
              <a:t> o)</a:t>
            </a:r>
            <a:r>
              <a:rPr lang="fr-BE" sz="2400" dirty="0"/>
              <a:t>. </a:t>
            </a:r>
          </a:p>
          <a:p>
            <a:pPr marL="0" indent="0">
              <a:buNone/>
            </a:pPr>
            <a:endParaRPr lang="fr-BE" sz="2400" dirty="0"/>
          </a:p>
          <a:p>
            <a:pPr marL="0" indent="0">
              <a:buNone/>
            </a:pPr>
            <a:r>
              <a:rPr lang="fr-BE" sz="2400" dirty="0"/>
              <a:t>Le comportement attendu de la </a:t>
            </a:r>
            <a:r>
              <a:rPr lang="fr-BE" sz="2400" dirty="0" err="1"/>
              <a:t>méhode</a:t>
            </a:r>
            <a:r>
              <a:rPr lang="fr-BE" sz="2400" dirty="0"/>
              <a:t> est le suivant: l’appel </a:t>
            </a:r>
            <a:r>
              <a:rPr lang="fr-BE" sz="2000" dirty="0">
                <a:solidFill>
                  <a:schemeClr val="accent4"/>
                </a:solidFill>
                <a:latin typeface="Consolas" panose="020B0609020204030204" pitchFamily="49" charset="0"/>
                <a:cs typeface="Consolas" panose="020B0609020204030204" pitchFamily="49" charset="0"/>
              </a:rPr>
              <a:t>o1.compareTo(o2)</a:t>
            </a:r>
            <a:r>
              <a:rPr lang="fr-BE" sz="2400" dirty="0"/>
              <a:t> retourne les valeurs suivantes:</a:t>
            </a:r>
          </a:p>
          <a:p>
            <a:pPr marL="342900" indent="-342900"/>
            <a:r>
              <a:rPr lang="fr-BE" sz="2400" dirty="0"/>
              <a:t>﻿un </a:t>
            </a:r>
            <a:r>
              <a:rPr lang="fr-BE" sz="2400" dirty="0">
                <a:solidFill>
                  <a:schemeClr val="accent4"/>
                </a:solidFill>
              </a:rPr>
              <a:t>nombre négatif </a:t>
            </a:r>
            <a:r>
              <a:rPr lang="fr-BE" sz="2400" dirty="0"/>
              <a:t>si l’on considère que </a:t>
            </a:r>
            <a:r>
              <a:rPr lang="fr-BE" sz="2000" dirty="0">
                <a:solidFill>
                  <a:schemeClr val="accent4"/>
                </a:solidFill>
                <a:latin typeface="Consolas" panose="020B0609020204030204" pitchFamily="49" charset="0"/>
                <a:cs typeface="Consolas" panose="020B0609020204030204" pitchFamily="49" charset="0"/>
              </a:rPr>
              <a:t>o1</a:t>
            </a:r>
            <a:r>
              <a:rPr lang="fr-BE" sz="2400" dirty="0"/>
              <a:t> est </a:t>
            </a:r>
            <a:r>
              <a:rPr lang="fr-BE" sz="2400" dirty="0">
                <a:solidFill>
                  <a:schemeClr val="accent4"/>
                </a:solidFill>
              </a:rPr>
              <a:t>inférieur</a:t>
            </a:r>
            <a:r>
              <a:rPr lang="fr-BE" sz="2400" dirty="0"/>
              <a:t> à </a:t>
            </a:r>
            <a:r>
              <a:rPr lang="fr-BE" sz="2000" dirty="0">
                <a:solidFill>
                  <a:schemeClr val="accent4"/>
                </a:solidFill>
                <a:latin typeface="Consolas" panose="020B0609020204030204" pitchFamily="49" charset="0"/>
                <a:cs typeface="Consolas" panose="020B0609020204030204" pitchFamily="49" charset="0"/>
              </a:rPr>
              <a:t>o2</a:t>
            </a:r>
            <a:r>
              <a:rPr lang="fr-BE" sz="2400" dirty="0"/>
              <a:t>,</a:t>
            </a:r>
          </a:p>
          <a:p>
            <a:pPr marL="342900" indent="-342900"/>
            <a:r>
              <a:rPr lang="fr-BE" sz="2400" dirty="0"/>
              <a:t>un </a:t>
            </a:r>
            <a:r>
              <a:rPr lang="fr-BE" sz="2400" dirty="0">
                <a:solidFill>
                  <a:schemeClr val="accent4"/>
                </a:solidFill>
              </a:rPr>
              <a:t>nombre nul </a:t>
            </a:r>
            <a:r>
              <a:rPr lang="fr-BE" sz="2400" dirty="0"/>
              <a:t>si l’on considère que </a:t>
            </a:r>
            <a:r>
              <a:rPr lang="fr-BE" sz="2000" dirty="0">
                <a:solidFill>
                  <a:schemeClr val="accent4"/>
                </a:solidFill>
                <a:latin typeface="Consolas" panose="020B0609020204030204" pitchFamily="49" charset="0"/>
                <a:cs typeface="Consolas" panose="020B0609020204030204" pitchFamily="49" charset="0"/>
              </a:rPr>
              <a:t>o1</a:t>
            </a:r>
            <a:r>
              <a:rPr lang="fr-BE" sz="2400" dirty="0"/>
              <a:t> est </a:t>
            </a:r>
            <a:r>
              <a:rPr lang="fr-BE" sz="2400" dirty="0">
                <a:solidFill>
                  <a:schemeClr val="accent4"/>
                </a:solidFill>
              </a:rPr>
              <a:t>égal</a:t>
            </a:r>
            <a:r>
              <a:rPr lang="fr-BE" sz="2400" dirty="0"/>
              <a:t> à </a:t>
            </a:r>
            <a:r>
              <a:rPr lang="fr-BE" sz="2000" dirty="0">
                <a:solidFill>
                  <a:schemeClr val="accent4"/>
                </a:solidFill>
                <a:latin typeface="Consolas" panose="020B0609020204030204" pitchFamily="49" charset="0"/>
                <a:cs typeface="Consolas" panose="020B0609020204030204" pitchFamily="49" charset="0"/>
              </a:rPr>
              <a:t>o2</a:t>
            </a:r>
            <a:r>
              <a:rPr lang="fr-BE" sz="2400" dirty="0"/>
              <a:t>, </a:t>
            </a:r>
          </a:p>
          <a:p>
            <a:pPr marL="342900" indent="-342900"/>
            <a:r>
              <a:rPr lang="fr-BE" sz="2400" dirty="0"/>
              <a:t>un </a:t>
            </a:r>
            <a:r>
              <a:rPr lang="fr-BE" sz="2400" dirty="0">
                <a:solidFill>
                  <a:schemeClr val="accent4"/>
                </a:solidFill>
              </a:rPr>
              <a:t>nombre positif </a:t>
            </a:r>
            <a:r>
              <a:rPr lang="fr-BE" sz="2400" dirty="0"/>
              <a:t>si l’on considère que </a:t>
            </a:r>
            <a:r>
              <a:rPr lang="fr-BE" sz="2000" dirty="0">
                <a:solidFill>
                  <a:schemeClr val="accent4"/>
                </a:solidFill>
                <a:latin typeface="Consolas" panose="020B0609020204030204" pitchFamily="49" charset="0"/>
                <a:cs typeface="Consolas" panose="020B0609020204030204" pitchFamily="49" charset="0"/>
              </a:rPr>
              <a:t>o1</a:t>
            </a:r>
            <a:r>
              <a:rPr lang="fr-BE" sz="2400" dirty="0"/>
              <a:t> est </a:t>
            </a:r>
            <a:r>
              <a:rPr lang="fr-BE" sz="2400" dirty="0">
                <a:solidFill>
                  <a:schemeClr val="accent4"/>
                </a:solidFill>
              </a:rPr>
              <a:t>supérieur</a:t>
            </a:r>
            <a:r>
              <a:rPr lang="fr-BE" sz="2400" dirty="0"/>
              <a:t> à </a:t>
            </a:r>
            <a:r>
              <a:rPr lang="fr-BE" sz="2000" dirty="0">
                <a:solidFill>
                  <a:schemeClr val="accent4"/>
                </a:solidFill>
                <a:latin typeface="Consolas" panose="020B0609020204030204" pitchFamily="49" charset="0"/>
                <a:cs typeface="Consolas" panose="020B0609020204030204" pitchFamily="49" charset="0"/>
              </a:rPr>
              <a:t>o2</a:t>
            </a:r>
            <a:r>
              <a:rPr lang="fr-BE" sz="2400" dirty="0"/>
              <a:t>.</a:t>
            </a:r>
          </a:p>
          <a:p>
            <a:pPr marL="342900" indent="-342900"/>
            <a:endParaRPr lang="fr-BE" sz="2400" dirty="0"/>
          </a:p>
          <a:p>
            <a:pPr marL="0" indent="0">
              <a:buNone/>
            </a:pPr>
            <a:r>
              <a:rPr lang="fr-FR" sz="2400" dirty="0"/>
              <a:t>Veillez à ce que </a:t>
            </a:r>
            <a:r>
              <a:rPr lang="fr-FR" sz="2000" dirty="0" err="1">
                <a:solidFill>
                  <a:schemeClr val="accent4"/>
                </a:solidFill>
                <a:latin typeface="Consolas" panose="020B0609020204030204" pitchFamily="49" charset="0"/>
                <a:cs typeface="Consolas" panose="020B0609020204030204" pitchFamily="49" charset="0"/>
              </a:rPr>
              <a:t>compareTo</a:t>
            </a:r>
            <a:r>
              <a:rPr lang="fr-FR" sz="2400" dirty="0"/>
              <a:t> et </a:t>
            </a:r>
            <a:r>
              <a:rPr lang="fr-FR" sz="2000" dirty="0" err="1">
                <a:solidFill>
                  <a:schemeClr val="accent4"/>
                </a:solidFill>
                <a:latin typeface="Consolas" panose="020B0609020204030204" pitchFamily="49" charset="0"/>
                <a:cs typeface="Consolas" panose="020B0609020204030204" pitchFamily="49" charset="0"/>
              </a:rPr>
              <a:t>equals</a:t>
            </a:r>
            <a:r>
              <a:rPr lang="fr-FR" sz="2400" dirty="0"/>
              <a:t> soient cohérents…</a:t>
            </a:r>
          </a:p>
          <a:p>
            <a:endParaRPr lang="fr-FR" sz="2400" dirty="0"/>
          </a:p>
        </p:txBody>
      </p:sp>
      <p:sp>
        <p:nvSpPr>
          <p:cNvPr id="4" name="Espace réservé du numéro de diapositive 3">
            <a:extLst>
              <a:ext uri="{FF2B5EF4-FFF2-40B4-BE49-F238E27FC236}">
                <a16:creationId xmlns:a16="http://schemas.microsoft.com/office/drawing/2014/main" id="{D6787AA6-4FD8-95FA-2F82-21657D320CAF}"/>
              </a:ext>
            </a:extLst>
          </p:cNvPr>
          <p:cNvSpPr>
            <a:spLocks noGrp="1"/>
          </p:cNvSpPr>
          <p:nvPr>
            <p:ph type="sldNum" sz="quarter" idx="4"/>
          </p:nvPr>
        </p:nvSpPr>
        <p:spPr/>
        <p:txBody>
          <a:bodyPr/>
          <a:lstStyle/>
          <a:p>
            <a:fld id="{33C783E2-4793-4F48-A271-51A73CC37D74}" type="slidenum">
              <a:rPr lang="fr-FR" smtClean="0"/>
              <a:t>27</a:t>
            </a:fld>
            <a:endParaRPr lang="fr-FR"/>
          </a:p>
        </p:txBody>
      </p:sp>
    </p:spTree>
    <p:extLst>
      <p:ext uri="{BB962C8B-B14F-4D97-AF65-F5344CB8AC3E}">
        <p14:creationId xmlns:p14="http://schemas.microsoft.com/office/powerpoint/2010/main" val="27761492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3677C5-255A-5D4F-9805-5E43625976A1}"/>
              </a:ext>
            </a:extLst>
          </p:cNvPr>
          <p:cNvSpPr>
            <a:spLocks noGrp="1"/>
          </p:cNvSpPr>
          <p:nvPr>
            <p:ph type="title"/>
          </p:nvPr>
        </p:nvSpPr>
        <p:spPr/>
        <p:txBody>
          <a:bodyPr>
            <a:normAutofit/>
          </a:bodyPr>
          <a:lstStyle/>
          <a:p>
            <a:r>
              <a:rPr lang="fr-FR" dirty="0"/>
              <a:t>Comparer vos objets</a:t>
            </a:r>
          </a:p>
        </p:txBody>
      </p:sp>
      <p:sp>
        <p:nvSpPr>
          <p:cNvPr id="3" name="Espace réservé du contenu 2">
            <a:extLst>
              <a:ext uri="{FF2B5EF4-FFF2-40B4-BE49-F238E27FC236}">
                <a16:creationId xmlns:a16="http://schemas.microsoft.com/office/drawing/2014/main" id="{41532B4C-7454-6145-9D44-A72961351FBB}"/>
              </a:ext>
            </a:extLst>
          </p:cNvPr>
          <p:cNvSpPr>
            <a:spLocks noGrp="1"/>
          </p:cNvSpPr>
          <p:nvPr>
            <p:ph idx="1"/>
          </p:nvPr>
        </p:nvSpPr>
        <p:spPr>
          <a:xfrm>
            <a:off x="838200" y="1825625"/>
            <a:ext cx="10515600" cy="1934247"/>
          </a:xfrm>
        </p:spPr>
        <p:txBody>
          <a:bodyPr>
            <a:noAutofit/>
          </a:bodyPr>
          <a:lstStyle/>
          <a:p>
            <a:pPr marL="0" indent="0">
              <a:buNone/>
            </a:pPr>
            <a:r>
              <a:rPr lang="fr-FR" sz="2400" dirty="0"/>
              <a:t>Si vous voulez pouvoir  </a:t>
            </a:r>
            <a:r>
              <a:rPr lang="fr-FR" sz="2400" dirty="0">
                <a:solidFill>
                  <a:schemeClr val="accent4"/>
                </a:solidFill>
              </a:rPr>
              <a:t>trier vos objets</a:t>
            </a:r>
            <a:r>
              <a:rPr lang="fr-FR" sz="2400" dirty="0"/>
              <a:t>, vous avez deux façons de faire:</a:t>
            </a:r>
          </a:p>
          <a:p>
            <a:pPr marL="342900" indent="-342900">
              <a:buFont typeface="+mj-lt"/>
              <a:buAutoNum type="arabicPeriod"/>
            </a:pPr>
            <a:r>
              <a:rPr lang="fr-FR" sz="2400" dirty="0"/>
              <a:t>En implémentant </a:t>
            </a:r>
            <a:r>
              <a:rPr lang="fr-FR" sz="2200" dirty="0">
                <a:solidFill>
                  <a:schemeClr val="accent4"/>
                </a:solidFill>
                <a:latin typeface="Consolas" panose="020B0609020204030204" pitchFamily="49" charset="0"/>
                <a:cs typeface="Consolas" panose="020B0609020204030204" pitchFamily="49" charset="0"/>
              </a:rPr>
              <a:t>Comparable</a:t>
            </a:r>
            <a:r>
              <a:rPr lang="fr-FR" sz="2400" dirty="0"/>
              <a:t> </a:t>
            </a:r>
            <a:r>
              <a:rPr lang="fr-BE" sz="2400" dirty="0"/>
              <a:t>qui présente la méthode </a:t>
            </a:r>
            <a:r>
              <a:rPr lang="fr-BE" sz="2200" dirty="0" err="1">
                <a:solidFill>
                  <a:schemeClr val="accent4"/>
                </a:solidFill>
                <a:latin typeface="Consolas" panose="020B0609020204030204" pitchFamily="49" charset="0"/>
                <a:cs typeface="Consolas" panose="020B0609020204030204" pitchFamily="49" charset="0"/>
              </a:rPr>
              <a:t>int</a:t>
            </a:r>
            <a:r>
              <a:rPr lang="fr-BE" sz="2200" dirty="0">
                <a:solidFill>
                  <a:schemeClr val="accent4"/>
                </a:solidFill>
                <a:latin typeface="Consolas" panose="020B0609020204030204" pitchFamily="49" charset="0"/>
                <a:cs typeface="Consolas" panose="020B0609020204030204" pitchFamily="49" charset="0"/>
              </a:rPr>
              <a:t> compare(</a:t>
            </a:r>
            <a:r>
              <a:rPr lang="fr-BE" sz="2200" dirty="0" err="1">
                <a:solidFill>
                  <a:schemeClr val="accent4"/>
                </a:solidFill>
                <a:latin typeface="Consolas" panose="020B0609020204030204" pitchFamily="49" charset="0"/>
                <a:cs typeface="Consolas" panose="020B0609020204030204" pitchFamily="49" charset="0"/>
              </a:rPr>
              <a:t>T</a:t>
            </a:r>
            <a:r>
              <a:rPr lang="fr-BE" sz="2200" dirty="0">
                <a:solidFill>
                  <a:schemeClr val="accent4"/>
                </a:solidFill>
                <a:latin typeface="Consolas" panose="020B0609020204030204" pitchFamily="49" charset="0"/>
                <a:cs typeface="Consolas" panose="020B0609020204030204" pitchFamily="49" charset="0"/>
              </a:rPr>
              <a:t> o2)</a:t>
            </a:r>
            <a:endParaRPr lang="fr-FR" sz="2200" dirty="0">
              <a:solidFill>
                <a:schemeClr val="accent4"/>
              </a:solidFill>
              <a:latin typeface="Consolas" panose="020B0609020204030204" pitchFamily="49" charset="0"/>
              <a:cs typeface="Consolas" panose="020B0609020204030204" pitchFamily="49" charset="0"/>
            </a:endParaRPr>
          </a:p>
          <a:p>
            <a:pPr marL="342900" indent="-342900">
              <a:buFont typeface="+mj-lt"/>
              <a:buAutoNum type="arabicPeriod"/>
            </a:pPr>
            <a:r>
              <a:rPr lang="fr-FR" sz="2400" dirty="0"/>
              <a:t>En créant une autre classe qui peut faire la comparaison; l’interface </a:t>
            </a:r>
            <a:r>
              <a:rPr lang="fr-BE" sz="2200" dirty="0" err="1">
                <a:solidFill>
                  <a:schemeClr val="accent4"/>
                </a:solidFill>
                <a:latin typeface="Consolas" panose="020B0609020204030204" pitchFamily="49" charset="0"/>
                <a:cs typeface="Consolas" panose="020B0609020204030204" pitchFamily="49" charset="0"/>
              </a:rPr>
              <a:t>Comparator</a:t>
            </a:r>
            <a:r>
              <a:rPr lang="fr-BE" sz="2200" dirty="0">
                <a:solidFill>
                  <a:schemeClr val="accent4"/>
                </a:solidFill>
                <a:latin typeface="Consolas" panose="020B0609020204030204" pitchFamily="49" charset="0"/>
                <a:cs typeface="Consolas" panose="020B0609020204030204" pitchFamily="49" charset="0"/>
              </a:rPr>
              <a:t>&lt;</a:t>
            </a:r>
            <a:r>
              <a:rPr lang="fr-BE" sz="2200" dirty="0" err="1">
                <a:solidFill>
                  <a:schemeClr val="accent4"/>
                </a:solidFill>
                <a:latin typeface="Consolas" panose="020B0609020204030204" pitchFamily="49" charset="0"/>
                <a:cs typeface="Consolas" panose="020B0609020204030204" pitchFamily="49" charset="0"/>
              </a:rPr>
              <a:t>T</a:t>
            </a:r>
            <a:r>
              <a:rPr lang="fr-BE" sz="2200" dirty="0">
                <a:solidFill>
                  <a:schemeClr val="accent4"/>
                </a:solidFill>
                <a:latin typeface="Consolas" panose="020B0609020204030204" pitchFamily="49" charset="0"/>
                <a:cs typeface="Consolas" panose="020B0609020204030204" pitchFamily="49" charset="0"/>
              </a:rPr>
              <a:t>&gt;</a:t>
            </a:r>
            <a:r>
              <a:rPr lang="fr-BE" sz="2400" dirty="0"/>
              <a:t> présente la méthode </a:t>
            </a:r>
            <a:r>
              <a:rPr lang="fr-BE" sz="2200" dirty="0" err="1">
                <a:solidFill>
                  <a:schemeClr val="accent4"/>
                </a:solidFill>
                <a:latin typeface="Consolas" panose="020B0609020204030204" pitchFamily="49" charset="0"/>
                <a:cs typeface="Consolas" panose="020B0609020204030204" pitchFamily="49" charset="0"/>
              </a:rPr>
              <a:t>int</a:t>
            </a:r>
            <a:r>
              <a:rPr lang="fr-BE" sz="2200" dirty="0">
                <a:solidFill>
                  <a:schemeClr val="accent4"/>
                </a:solidFill>
                <a:latin typeface="Consolas" panose="020B0609020204030204" pitchFamily="49" charset="0"/>
                <a:cs typeface="Consolas" panose="020B0609020204030204" pitchFamily="49" charset="0"/>
              </a:rPr>
              <a:t> compare(</a:t>
            </a:r>
            <a:r>
              <a:rPr lang="fr-BE" sz="2200" dirty="0" err="1">
                <a:solidFill>
                  <a:schemeClr val="accent4"/>
                </a:solidFill>
                <a:latin typeface="Consolas" panose="020B0609020204030204" pitchFamily="49" charset="0"/>
                <a:cs typeface="Consolas" panose="020B0609020204030204" pitchFamily="49" charset="0"/>
              </a:rPr>
              <a:t>T</a:t>
            </a:r>
            <a:r>
              <a:rPr lang="fr-BE" sz="2200" dirty="0">
                <a:solidFill>
                  <a:schemeClr val="accent4"/>
                </a:solidFill>
                <a:latin typeface="Consolas" panose="020B0609020204030204" pitchFamily="49" charset="0"/>
                <a:cs typeface="Consolas" panose="020B0609020204030204" pitchFamily="49" charset="0"/>
              </a:rPr>
              <a:t> o1, </a:t>
            </a:r>
            <a:r>
              <a:rPr lang="fr-BE" sz="2200" dirty="0" err="1">
                <a:solidFill>
                  <a:schemeClr val="accent4"/>
                </a:solidFill>
                <a:latin typeface="Consolas" panose="020B0609020204030204" pitchFamily="49" charset="0"/>
                <a:cs typeface="Consolas" panose="020B0609020204030204" pitchFamily="49" charset="0"/>
              </a:rPr>
              <a:t>T</a:t>
            </a:r>
            <a:r>
              <a:rPr lang="fr-BE" sz="2200" dirty="0">
                <a:solidFill>
                  <a:schemeClr val="accent4"/>
                </a:solidFill>
                <a:latin typeface="Consolas" panose="020B0609020204030204" pitchFamily="49" charset="0"/>
                <a:cs typeface="Consolas" panose="020B0609020204030204" pitchFamily="49" charset="0"/>
              </a:rPr>
              <a:t> o2)</a:t>
            </a:r>
            <a:r>
              <a:rPr lang="fr-BE" sz="2400" dirty="0"/>
              <a:t>.</a:t>
            </a:r>
            <a:endParaRPr lang="fr-BE" sz="2400" dirty="0">
              <a:solidFill>
                <a:schemeClr val="accent4"/>
              </a:solidFill>
            </a:endParaRPr>
          </a:p>
        </p:txBody>
      </p:sp>
      <p:sp>
        <p:nvSpPr>
          <p:cNvPr id="4" name="Espace réservé du numéro de diapositive 3">
            <a:extLst>
              <a:ext uri="{FF2B5EF4-FFF2-40B4-BE49-F238E27FC236}">
                <a16:creationId xmlns:a16="http://schemas.microsoft.com/office/drawing/2014/main" id="{71FC7EE6-BF5F-3476-BE13-232313FD0572}"/>
              </a:ext>
            </a:extLst>
          </p:cNvPr>
          <p:cNvSpPr>
            <a:spLocks noGrp="1"/>
          </p:cNvSpPr>
          <p:nvPr>
            <p:ph type="sldNum" sz="quarter" idx="4"/>
          </p:nvPr>
        </p:nvSpPr>
        <p:spPr/>
        <p:txBody>
          <a:bodyPr/>
          <a:lstStyle/>
          <a:p>
            <a:fld id="{33C783E2-4793-4F48-A271-51A73CC37D74}" type="slidenum">
              <a:rPr lang="fr-FR" smtClean="0"/>
              <a:t>28</a:t>
            </a:fld>
            <a:endParaRPr lang="fr-FR"/>
          </a:p>
        </p:txBody>
      </p:sp>
      <p:sp>
        <p:nvSpPr>
          <p:cNvPr id="5" name="Bulle rectangulaire à coins arrondis 4">
            <a:extLst>
              <a:ext uri="{FF2B5EF4-FFF2-40B4-BE49-F238E27FC236}">
                <a16:creationId xmlns:a16="http://schemas.microsoft.com/office/drawing/2014/main" id="{DBD74110-03C5-6BEB-77E3-7FAC85B6CC74}"/>
              </a:ext>
            </a:extLst>
          </p:cNvPr>
          <p:cNvSpPr/>
          <p:nvPr/>
        </p:nvSpPr>
        <p:spPr>
          <a:xfrm>
            <a:off x="9944413" y="1599906"/>
            <a:ext cx="1616784" cy="316503"/>
          </a:xfrm>
          <a:prstGeom prst="wedgeRoundRectCallout">
            <a:avLst>
              <a:gd name="adj1" fmla="val -27843"/>
              <a:gd name="adj2" fmla="val 139253"/>
              <a:gd name="adj3" fmla="val 16667"/>
            </a:avLst>
          </a:prstGeom>
          <a:solidFill>
            <a:schemeClr val="accent6"/>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buNone/>
            </a:pPr>
            <a:r>
              <a:rPr lang="nl-BE" sz="1800" b="1" i="0" u="none" strike="noStrike" dirty="0">
                <a:solidFill>
                  <a:srgbClr val="E8EAED"/>
                </a:solidFill>
                <a:effectLst/>
                <a:latin typeface="+mn-lt"/>
              </a:rPr>
              <a:t>Un paramètre</a:t>
            </a:r>
            <a:endParaRPr lang="fr-FR" sz="1800" dirty="0"/>
          </a:p>
        </p:txBody>
      </p:sp>
      <p:sp>
        <p:nvSpPr>
          <p:cNvPr id="6" name="Bulle rectangulaire à coins arrondis 5">
            <a:extLst>
              <a:ext uri="{FF2B5EF4-FFF2-40B4-BE49-F238E27FC236}">
                <a16:creationId xmlns:a16="http://schemas.microsoft.com/office/drawing/2014/main" id="{C4B579D9-0AE1-7F8A-BCE5-A23EF6F1FEAC}"/>
              </a:ext>
            </a:extLst>
          </p:cNvPr>
          <p:cNvSpPr/>
          <p:nvPr/>
        </p:nvSpPr>
        <p:spPr>
          <a:xfrm>
            <a:off x="8020197" y="3762661"/>
            <a:ext cx="1924215" cy="316503"/>
          </a:xfrm>
          <a:prstGeom prst="wedgeRoundRectCallout">
            <a:avLst>
              <a:gd name="adj1" fmla="val -25999"/>
              <a:gd name="adj2" fmla="val -118251"/>
              <a:gd name="adj3" fmla="val 16667"/>
            </a:avLst>
          </a:prstGeom>
          <a:solidFill>
            <a:schemeClr val="accent6"/>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buNone/>
            </a:pPr>
            <a:r>
              <a:rPr lang="nl-BE" sz="1800" b="1" i="0" u="none" strike="noStrike" dirty="0">
                <a:solidFill>
                  <a:srgbClr val="E8EAED"/>
                </a:solidFill>
                <a:effectLst/>
                <a:latin typeface="+mn-lt"/>
              </a:rPr>
              <a:t>Deux paramètres</a:t>
            </a:r>
            <a:endParaRPr lang="fr-FR" sz="1800" dirty="0"/>
          </a:p>
        </p:txBody>
      </p:sp>
      <p:sp>
        <p:nvSpPr>
          <p:cNvPr id="7" name="Espace réservé du contenu 2">
            <a:extLst>
              <a:ext uri="{FF2B5EF4-FFF2-40B4-BE49-F238E27FC236}">
                <a16:creationId xmlns:a16="http://schemas.microsoft.com/office/drawing/2014/main" id="{CBAA930A-A3A7-13D8-10C0-D690D37367F6}"/>
              </a:ext>
            </a:extLst>
          </p:cNvPr>
          <p:cNvSpPr txBox="1">
            <a:spLocks/>
          </p:cNvSpPr>
          <p:nvPr/>
        </p:nvSpPr>
        <p:spPr>
          <a:xfrm>
            <a:off x="838200" y="3985591"/>
            <a:ext cx="10515600" cy="219137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2400" dirty="0"/>
              <a:t>En pratique, vous devez:</a:t>
            </a:r>
          </a:p>
          <a:p>
            <a:pPr marL="342900" indent="-342900"/>
            <a:r>
              <a:rPr lang="fr-FR" sz="2400" dirty="0"/>
              <a:t>déterminer le </a:t>
            </a:r>
            <a:r>
              <a:rPr lang="fr-FR" sz="2400" dirty="0">
                <a:solidFill>
                  <a:schemeClr val="accent4"/>
                </a:solidFill>
              </a:rPr>
              <a:t>critère de tri</a:t>
            </a:r>
            <a:r>
              <a:rPr lang="fr-FR" sz="2400" dirty="0"/>
              <a:t>: qu’est-ce qui détermine l’ordre?</a:t>
            </a:r>
          </a:p>
          <a:p>
            <a:pPr marL="342900" indent="-342900"/>
            <a:r>
              <a:rPr lang="fr-FR" sz="2400" dirty="0"/>
              <a:t>faire en sorte que votre classe implémente </a:t>
            </a:r>
            <a:r>
              <a:rPr lang="fr-FR" sz="2200" dirty="0">
                <a:solidFill>
                  <a:schemeClr val="accent4"/>
                </a:solidFill>
                <a:latin typeface="Consolas" panose="020B0609020204030204" pitchFamily="49" charset="0"/>
                <a:cs typeface="Consolas" panose="020B0609020204030204" pitchFamily="49" charset="0"/>
              </a:rPr>
              <a:t>Comparable</a:t>
            </a:r>
            <a:r>
              <a:rPr lang="fr-FR" sz="2400" dirty="0"/>
              <a:t> ou créer une classe qui implémente </a:t>
            </a:r>
            <a:r>
              <a:rPr lang="fr-FR" sz="2200" dirty="0" err="1">
                <a:solidFill>
                  <a:schemeClr val="accent4"/>
                </a:solidFill>
                <a:latin typeface="Consolas" panose="020B0609020204030204" pitchFamily="49" charset="0"/>
                <a:cs typeface="Consolas" panose="020B0609020204030204" pitchFamily="49" charset="0"/>
              </a:rPr>
              <a:t>Comparator</a:t>
            </a:r>
            <a:endParaRPr lang="fr-FR" sz="2200" dirty="0">
              <a:solidFill>
                <a:schemeClr val="accent4"/>
              </a:solidFill>
              <a:latin typeface="Consolas" panose="020B0609020204030204" pitchFamily="49" charset="0"/>
              <a:cs typeface="Consolas" panose="020B0609020204030204" pitchFamily="49" charset="0"/>
            </a:endParaRPr>
          </a:p>
          <a:p>
            <a:pPr marL="342900" indent="-342900"/>
            <a:r>
              <a:rPr lang="fr-FR" sz="2400" dirty="0"/>
              <a:t>implémenter la méthode </a:t>
            </a:r>
            <a:r>
              <a:rPr lang="fr-FR" sz="2000" dirty="0" err="1">
                <a:solidFill>
                  <a:schemeClr val="accent4"/>
                </a:solidFill>
                <a:latin typeface="Consolas" panose="020B0609020204030204" pitchFamily="49" charset="0"/>
                <a:cs typeface="Consolas" panose="020B0609020204030204" pitchFamily="49" charset="0"/>
              </a:rPr>
              <a:t>compareTo</a:t>
            </a:r>
            <a:r>
              <a:rPr lang="fr-FR" sz="2000" dirty="0">
                <a:solidFill>
                  <a:schemeClr val="accent4"/>
                </a:solidFill>
                <a:latin typeface="Consolas" panose="020B0609020204030204" pitchFamily="49" charset="0"/>
                <a:cs typeface="Consolas" panose="020B0609020204030204" pitchFamily="49" charset="0"/>
              </a:rPr>
              <a:t>(o2)</a:t>
            </a:r>
            <a:r>
              <a:rPr lang="fr-FR" sz="2400" dirty="0"/>
              <a:t> ou </a:t>
            </a:r>
            <a:r>
              <a:rPr lang="fr-FR" sz="2000" dirty="0" err="1">
                <a:solidFill>
                  <a:schemeClr val="accent4"/>
                </a:solidFill>
                <a:latin typeface="Consolas" panose="020B0609020204030204" pitchFamily="49" charset="0"/>
                <a:cs typeface="Consolas" panose="020B0609020204030204" pitchFamily="49" charset="0"/>
              </a:rPr>
              <a:t>compareTo</a:t>
            </a:r>
            <a:r>
              <a:rPr lang="fr-FR" sz="2000" dirty="0">
                <a:solidFill>
                  <a:schemeClr val="accent4"/>
                </a:solidFill>
                <a:latin typeface="Consolas" panose="020B0609020204030204" pitchFamily="49" charset="0"/>
                <a:cs typeface="Consolas" panose="020B0609020204030204" pitchFamily="49" charset="0"/>
              </a:rPr>
              <a:t>(o1, o2)</a:t>
            </a:r>
            <a:endParaRPr lang="fr-BE" sz="2400" dirty="0">
              <a:solidFill>
                <a:schemeClr val="accent4"/>
              </a:solidFill>
            </a:endParaRPr>
          </a:p>
        </p:txBody>
      </p:sp>
    </p:spTree>
    <p:extLst>
      <p:ext uri="{BB962C8B-B14F-4D97-AF65-F5344CB8AC3E}">
        <p14:creationId xmlns:p14="http://schemas.microsoft.com/office/powerpoint/2010/main" val="2827470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 coins arrondis 30">
            <a:extLst>
              <a:ext uri="{FF2B5EF4-FFF2-40B4-BE49-F238E27FC236}">
                <a16:creationId xmlns:a16="http://schemas.microsoft.com/office/drawing/2014/main" id="{AF5F8962-A93D-5C43-A57A-75EA30D5E504}"/>
              </a:ext>
            </a:extLst>
          </p:cNvPr>
          <p:cNvSpPr/>
          <p:nvPr/>
        </p:nvSpPr>
        <p:spPr>
          <a:xfrm>
            <a:off x="7295939" y="4655925"/>
            <a:ext cx="1512000" cy="720000"/>
          </a:xfrm>
          <a:prstGeom prst="roundRect">
            <a:avLst/>
          </a:prstGeom>
          <a:solidFill>
            <a:schemeClr val="accent4"/>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Rectangle : coins arrondis 31">
            <a:extLst>
              <a:ext uri="{FF2B5EF4-FFF2-40B4-BE49-F238E27FC236}">
                <a16:creationId xmlns:a16="http://schemas.microsoft.com/office/drawing/2014/main" id="{337435A9-0B89-464F-BEE4-4B28F1D14AC2}"/>
              </a:ext>
            </a:extLst>
          </p:cNvPr>
          <p:cNvSpPr/>
          <p:nvPr/>
        </p:nvSpPr>
        <p:spPr>
          <a:xfrm>
            <a:off x="3336739" y="4655925"/>
            <a:ext cx="1512000" cy="720000"/>
          </a:xfrm>
          <a:prstGeom prst="roundRect">
            <a:avLst/>
          </a:prstGeom>
          <a:solidFill>
            <a:schemeClr val="accent4"/>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Rectangle : coins arrondis 37">
            <a:extLst>
              <a:ext uri="{FF2B5EF4-FFF2-40B4-BE49-F238E27FC236}">
                <a16:creationId xmlns:a16="http://schemas.microsoft.com/office/drawing/2014/main" id="{7280F209-7128-0547-9423-FEB812BFAE2C}"/>
              </a:ext>
            </a:extLst>
          </p:cNvPr>
          <p:cNvSpPr/>
          <p:nvPr/>
        </p:nvSpPr>
        <p:spPr>
          <a:xfrm>
            <a:off x="4867418" y="4731451"/>
            <a:ext cx="2418335" cy="644474"/>
          </a:xfrm>
          <a:prstGeom prst="roundRect">
            <a:avLst/>
          </a:prstGeom>
          <a:solidFill>
            <a:schemeClr val="accent4"/>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3677C5-255A-5D4F-9805-5E43625976A1}"/>
              </a:ext>
            </a:extLst>
          </p:cNvPr>
          <p:cNvSpPr>
            <a:spLocks noGrp="1"/>
          </p:cNvSpPr>
          <p:nvPr>
            <p:ph type="title"/>
          </p:nvPr>
        </p:nvSpPr>
        <p:spPr/>
        <p:txBody>
          <a:bodyPr>
            <a:normAutofit/>
          </a:bodyPr>
          <a:lstStyle/>
          <a:p>
            <a:r>
              <a:rPr lang="fr-FR" dirty="0"/>
              <a:t>Les Interfaces: </a:t>
            </a:r>
            <a:r>
              <a:rPr lang="fr-FR" dirty="0" err="1"/>
              <a:t>Sorted</a:t>
            </a:r>
            <a:r>
              <a:rPr lang="fr-FR" dirty="0"/>
              <a:t>(Set et </a:t>
            </a:r>
            <a:r>
              <a:rPr lang="fr-FR" dirty="0" err="1"/>
              <a:t>Map</a:t>
            </a:r>
            <a:r>
              <a:rPr lang="fr-FR" dirty="0"/>
              <a:t>)</a:t>
            </a:r>
          </a:p>
        </p:txBody>
      </p:sp>
      <p:sp>
        <p:nvSpPr>
          <p:cNvPr id="3" name="Espace réservé du contenu 2">
            <a:extLst>
              <a:ext uri="{FF2B5EF4-FFF2-40B4-BE49-F238E27FC236}">
                <a16:creationId xmlns:a16="http://schemas.microsoft.com/office/drawing/2014/main" id="{41532B4C-7454-6145-9D44-A72961351FBB}"/>
              </a:ext>
            </a:extLst>
          </p:cNvPr>
          <p:cNvSpPr>
            <a:spLocks noGrp="1"/>
          </p:cNvSpPr>
          <p:nvPr>
            <p:ph idx="1"/>
          </p:nvPr>
        </p:nvSpPr>
        <p:spPr/>
        <p:txBody>
          <a:bodyPr>
            <a:noAutofit/>
          </a:bodyPr>
          <a:lstStyle/>
          <a:p>
            <a:pPr marL="0" indent="0">
              <a:buNone/>
            </a:pPr>
            <a:r>
              <a:rPr lang="fr-FR" sz="2400" dirty="0"/>
              <a:t>Les </a:t>
            </a:r>
            <a:r>
              <a:rPr lang="fr-FR" sz="2200" dirty="0" err="1">
                <a:solidFill>
                  <a:schemeClr val="accent4"/>
                </a:solidFill>
              </a:rPr>
              <a:t>SortedSet</a:t>
            </a:r>
            <a:r>
              <a:rPr lang="fr-FR" sz="2400" dirty="0"/>
              <a:t> sont des </a:t>
            </a:r>
            <a:r>
              <a:rPr lang="fr-FR" sz="2200" dirty="0">
                <a:solidFill>
                  <a:schemeClr val="accent4"/>
                </a:solidFill>
              </a:rPr>
              <a:t>Set</a:t>
            </a:r>
            <a:r>
              <a:rPr lang="fr-FR" sz="2400" dirty="0"/>
              <a:t>, les</a:t>
            </a:r>
            <a:r>
              <a:rPr lang="fr-FR" sz="2400" dirty="0">
                <a:solidFill>
                  <a:schemeClr val="accent2"/>
                </a:solidFill>
              </a:rPr>
              <a:t> </a:t>
            </a:r>
            <a:r>
              <a:rPr lang="fr-FR" sz="2200" dirty="0" err="1">
                <a:solidFill>
                  <a:schemeClr val="accent4"/>
                </a:solidFill>
              </a:rPr>
              <a:t>SortedMap</a:t>
            </a:r>
            <a:r>
              <a:rPr lang="fr-FR" sz="2400" dirty="0"/>
              <a:t> sont des </a:t>
            </a:r>
            <a:r>
              <a:rPr lang="fr-FR" sz="2200" dirty="0" err="1">
                <a:solidFill>
                  <a:schemeClr val="accent4"/>
                </a:solidFill>
              </a:rPr>
              <a:t>Map</a:t>
            </a:r>
            <a:r>
              <a:rPr lang="fr-FR" sz="2400" dirty="0"/>
              <a:t>.</a:t>
            </a:r>
          </a:p>
          <a:p>
            <a:pPr marL="0" indent="0">
              <a:buNone/>
            </a:pPr>
            <a:endParaRPr lang="fr-FR" sz="2400" dirty="0"/>
          </a:p>
          <a:p>
            <a:pPr marL="0" indent="0">
              <a:buNone/>
            </a:pPr>
            <a:r>
              <a:rPr lang="fr-FR" sz="2400" dirty="0"/>
              <a:t>En plus des comportements de leur super interface, ils garantissent que leur contenu est toujours trié. </a:t>
            </a:r>
          </a:p>
          <a:p>
            <a:pPr marL="0" indent="0">
              <a:buNone/>
            </a:pPr>
            <a:r>
              <a:rPr lang="fr-FR" sz="2400" dirty="0"/>
              <a:t>Ils présentent donc des </a:t>
            </a:r>
            <a:r>
              <a:rPr lang="fr-FR" sz="2400" dirty="0">
                <a:solidFill>
                  <a:schemeClr val="accent4"/>
                </a:solidFill>
              </a:rPr>
              <a:t>méthodes liées à cette notion de tri</a:t>
            </a:r>
            <a:r>
              <a:rPr lang="fr-FR" sz="2400" dirty="0"/>
              <a:t>:</a:t>
            </a:r>
          </a:p>
          <a:p>
            <a:endParaRPr lang="fr-FR" sz="2400" dirty="0"/>
          </a:p>
          <a:p>
            <a:endParaRPr lang="fr-FR" sz="2400" dirty="0"/>
          </a:p>
          <a:p>
            <a:endParaRPr lang="fr-FR" sz="2400" dirty="0"/>
          </a:p>
        </p:txBody>
      </p:sp>
      <p:grpSp>
        <p:nvGrpSpPr>
          <p:cNvPr id="23" name="Groupe 22">
            <a:extLst>
              <a:ext uri="{FF2B5EF4-FFF2-40B4-BE49-F238E27FC236}">
                <a16:creationId xmlns:a16="http://schemas.microsoft.com/office/drawing/2014/main" id="{BBE903F9-6DA8-0747-B8C0-CBCA98DBFF65}"/>
              </a:ext>
            </a:extLst>
          </p:cNvPr>
          <p:cNvGrpSpPr/>
          <p:nvPr/>
        </p:nvGrpSpPr>
        <p:grpSpPr>
          <a:xfrm>
            <a:off x="3460652" y="4826029"/>
            <a:ext cx="5212180" cy="360000"/>
            <a:chOff x="1936652" y="5257800"/>
            <a:chExt cx="5212180" cy="360000"/>
          </a:xfrm>
        </p:grpSpPr>
        <p:sp>
          <p:nvSpPr>
            <p:cNvPr id="9" name="Rectangle 8">
              <a:extLst>
                <a:ext uri="{FF2B5EF4-FFF2-40B4-BE49-F238E27FC236}">
                  <a16:creationId xmlns:a16="http://schemas.microsoft.com/office/drawing/2014/main" id="{E54E462B-11D3-564E-8C95-DDDB50BD5E16}"/>
                </a:ext>
              </a:extLst>
            </p:cNvPr>
            <p:cNvSpPr/>
            <p:nvPr/>
          </p:nvSpPr>
          <p:spPr>
            <a:xfrm>
              <a:off x="2421870" y="5257800"/>
              <a:ext cx="360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F3F30703-D457-3145-BA95-D5A05AD06AB7}"/>
                </a:ext>
              </a:extLst>
            </p:cNvPr>
            <p:cNvSpPr/>
            <p:nvPr/>
          </p:nvSpPr>
          <p:spPr>
            <a:xfrm>
              <a:off x="1936652" y="5257800"/>
              <a:ext cx="360000" cy="360000"/>
            </a:xfrm>
            <a:prstGeom prst="rect">
              <a:avLst/>
            </a:prstGeom>
            <a:solidFill>
              <a:schemeClr val="accent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C78A566F-076D-434F-880A-BE9163F71BC5}"/>
                </a:ext>
              </a:extLst>
            </p:cNvPr>
            <p:cNvSpPr/>
            <p:nvPr/>
          </p:nvSpPr>
          <p:spPr>
            <a:xfrm>
              <a:off x="3392306" y="5257800"/>
              <a:ext cx="360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2C0AA7E5-F960-C54F-A931-43D5C27ED9EA}"/>
                </a:ext>
              </a:extLst>
            </p:cNvPr>
            <p:cNvSpPr/>
            <p:nvPr/>
          </p:nvSpPr>
          <p:spPr>
            <a:xfrm>
              <a:off x="2907088" y="5257800"/>
              <a:ext cx="360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FEE5F421-F985-2B40-8E0B-02431AB54EC8}"/>
                </a:ext>
              </a:extLst>
            </p:cNvPr>
            <p:cNvSpPr/>
            <p:nvPr/>
          </p:nvSpPr>
          <p:spPr>
            <a:xfrm>
              <a:off x="4362742" y="5257800"/>
              <a:ext cx="360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647FEF23-7107-B141-9536-243ADE582704}"/>
                </a:ext>
              </a:extLst>
            </p:cNvPr>
            <p:cNvSpPr/>
            <p:nvPr/>
          </p:nvSpPr>
          <p:spPr>
            <a:xfrm>
              <a:off x="3877524" y="5257800"/>
              <a:ext cx="360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F67C6ABA-51A9-F541-A8EC-BC3DFCB15C20}"/>
                </a:ext>
              </a:extLst>
            </p:cNvPr>
            <p:cNvSpPr/>
            <p:nvPr/>
          </p:nvSpPr>
          <p:spPr>
            <a:xfrm>
              <a:off x="5333178" y="5257800"/>
              <a:ext cx="360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DD2A4004-C206-8F43-8009-377D9E9B2E0E}"/>
                </a:ext>
              </a:extLst>
            </p:cNvPr>
            <p:cNvSpPr/>
            <p:nvPr/>
          </p:nvSpPr>
          <p:spPr>
            <a:xfrm>
              <a:off x="4847960" y="5257800"/>
              <a:ext cx="360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16">
              <a:extLst>
                <a:ext uri="{FF2B5EF4-FFF2-40B4-BE49-F238E27FC236}">
                  <a16:creationId xmlns:a16="http://schemas.microsoft.com/office/drawing/2014/main" id="{81C68C02-24AD-EA4A-9DD4-A3249D46D8CC}"/>
                </a:ext>
              </a:extLst>
            </p:cNvPr>
            <p:cNvSpPr/>
            <p:nvPr/>
          </p:nvSpPr>
          <p:spPr>
            <a:xfrm>
              <a:off x="6303614" y="5257800"/>
              <a:ext cx="360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17">
              <a:extLst>
                <a:ext uri="{FF2B5EF4-FFF2-40B4-BE49-F238E27FC236}">
                  <a16:creationId xmlns:a16="http://schemas.microsoft.com/office/drawing/2014/main" id="{750097A0-69E9-5D48-8C4A-EDBD18F45201}"/>
                </a:ext>
              </a:extLst>
            </p:cNvPr>
            <p:cNvSpPr/>
            <p:nvPr/>
          </p:nvSpPr>
          <p:spPr>
            <a:xfrm>
              <a:off x="5818396" y="5257800"/>
              <a:ext cx="360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19">
              <a:extLst>
                <a:ext uri="{FF2B5EF4-FFF2-40B4-BE49-F238E27FC236}">
                  <a16:creationId xmlns:a16="http://schemas.microsoft.com/office/drawing/2014/main" id="{FAC5ECE4-809F-9942-9529-FA61BA803557}"/>
                </a:ext>
              </a:extLst>
            </p:cNvPr>
            <p:cNvSpPr/>
            <p:nvPr/>
          </p:nvSpPr>
          <p:spPr>
            <a:xfrm>
              <a:off x="6788832" y="5257800"/>
              <a:ext cx="360000" cy="3600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5" name="Bulle rectangulaire 24">
            <a:extLst>
              <a:ext uri="{FF2B5EF4-FFF2-40B4-BE49-F238E27FC236}">
                <a16:creationId xmlns:a16="http://schemas.microsoft.com/office/drawing/2014/main" id="{D6FA5AF6-7DBD-9D47-823C-8B31FB3766A6}"/>
              </a:ext>
            </a:extLst>
          </p:cNvPr>
          <p:cNvSpPr/>
          <p:nvPr/>
        </p:nvSpPr>
        <p:spPr>
          <a:xfrm>
            <a:off x="1813918" y="4811427"/>
            <a:ext cx="1410920" cy="411480"/>
          </a:xfrm>
          <a:prstGeom prst="wedgeRectCallout">
            <a:avLst>
              <a:gd name="adj1" fmla="val 72598"/>
              <a:gd name="adj2" fmla="val -6977"/>
            </a:avLst>
          </a:prstGeom>
          <a:solidFill>
            <a:srgbClr val="00B050"/>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latin typeface="Consolas" panose="020B0609020204030204" pitchFamily="49" charset="0"/>
                <a:cs typeface="Consolas" panose="020B0609020204030204" pitchFamily="49" charset="0"/>
              </a:rPr>
              <a:t>E first()</a:t>
            </a:r>
            <a:endParaRPr lang="fr-FR" b="1" dirty="0">
              <a:solidFill>
                <a:schemeClr val="tx1"/>
              </a:solidFill>
            </a:endParaRPr>
          </a:p>
        </p:txBody>
      </p:sp>
      <p:sp>
        <p:nvSpPr>
          <p:cNvPr id="26" name="Bulle rectangulaire 25">
            <a:extLst>
              <a:ext uri="{FF2B5EF4-FFF2-40B4-BE49-F238E27FC236}">
                <a16:creationId xmlns:a16="http://schemas.microsoft.com/office/drawing/2014/main" id="{C789F8D3-0858-204F-BE22-899AB80184C1}"/>
              </a:ext>
            </a:extLst>
          </p:cNvPr>
          <p:cNvSpPr/>
          <p:nvPr/>
        </p:nvSpPr>
        <p:spPr>
          <a:xfrm>
            <a:off x="8877604" y="4773007"/>
            <a:ext cx="1410920" cy="411480"/>
          </a:xfrm>
          <a:prstGeom prst="wedgeRectCallout">
            <a:avLst>
              <a:gd name="adj1" fmla="val -66200"/>
              <a:gd name="adj2" fmla="val -6977"/>
            </a:avLst>
          </a:prstGeom>
          <a:solidFill>
            <a:srgbClr val="00B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latin typeface="Consolas" panose="020B0609020204030204" pitchFamily="49" charset="0"/>
                <a:cs typeface="Consolas" panose="020B0609020204030204" pitchFamily="49" charset="0"/>
              </a:rPr>
              <a:t>E last()</a:t>
            </a:r>
            <a:endParaRPr lang="fr-FR" b="1" dirty="0">
              <a:solidFill>
                <a:schemeClr val="tx1"/>
              </a:solidFill>
            </a:endParaRPr>
          </a:p>
        </p:txBody>
      </p:sp>
      <p:sp>
        <p:nvSpPr>
          <p:cNvPr id="29" name="Rectangle 28">
            <a:extLst>
              <a:ext uri="{FF2B5EF4-FFF2-40B4-BE49-F238E27FC236}">
                <a16:creationId xmlns:a16="http://schemas.microsoft.com/office/drawing/2014/main" id="{732F8E9B-AADE-0F41-ABE5-4FBC608E3BE7}"/>
              </a:ext>
            </a:extLst>
          </p:cNvPr>
          <p:cNvSpPr/>
          <p:nvPr/>
        </p:nvSpPr>
        <p:spPr>
          <a:xfrm>
            <a:off x="4876800" y="4811427"/>
            <a:ext cx="437940" cy="369332"/>
          </a:xfrm>
          <a:prstGeom prst="rect">
            <a:avLst/>
          </a:prstGeom>
        </p:spPr>
        <p:txBody>
          <a:bodyPr wrap="none">
            <a:spAutoFit/>
          </a:bodyPr>
          <a:lstStyle/>
          <a:p>
            <a:r>
              <a:rPr lang="fr-FR" b="1" dirty="0">
                <a:solidFill>
                  <a:schemeClr val="accent4"/>
                </a:solidFill>
                <a:latin typeface="Consolas" panose="020B0609020204030204" pitchFamily="49" charset="0"/>
                <a:cs typeface="Consolas" panose="020B0609020204030204" pitchFamily="49" charset="0"/>
              </a:rPr>
              <a:t>e1</a:t>
            </a:r>
            <a:endParaRPr lang="fr-FR" dirty="0">
              <a:solidFill>
                <a:schemeClr val="accent4"/>
              </a:solidFill>
            </a:endParaRPr>
          </a:p>
        </p:txBody>
      </p:sp>
      <p:sp>
        <p:nvSpPr>
          <p:cNvPr id="30" name="Rectangle 29">
            <a:extLst>
              <a:ext uri="{FF2B5EF4-FFF2-40B4-BE49-F238E27FC236}">
                <a16:creationId xmlns:a16="http://schemas.microsoft.com/office/drawing/2014/main" id="{9DAE65E6-64ED-394B-BAFD-A0A1D9EBD185}"/>
              </a:ext>
            </a:extLst>
          </p:cNvPr>
          <p:cNvSpPr/>
          <p:nvPr/>
        </p:nvSpPr>
        <p:spPr>
          <a:xfrm>
            <a:off x="7327065" y="4811427"/>
            <a:ext cx="437940" cy="369332"/>
          </a:xfrm>
          <a:prstGeom prst="rect">
            <a:avLst/>
          </a:prstGeom>
        </p:spPr>
        <p:txBody>
          <a:bodyPr wrap="none">
            <a:spAutoFit/>
          </a:bodyPr>
          <a:lstStyle/>
          <a:p>
            <a:r>
              <a:rPr lang="fr-FR" b="1" dirty="0">
                <a:solidFill>
                  <a:schemeClr val="accent4"/>
                </a:solidFill>
                <a:latin typeface="Consolas" panose="020B0609020204030204" pitchFamily="49" charset="0"/>
                <a:cs typeface="Consolas" panose="020B0609020204030204" pitchFamily="49" charset="0"/>
              </a:rPr>
              <a:t>e2</a:t>
            </a:r>
            <a:endParaRPr lang="fr-FR" dirty="0">
              <a:solidFill>
                <a:schemeClr val="accent4"/>
              </a:solidFill>
            </a:endParaRPr>
          </a:p>
        </p:txBody>
      </p:sp>
      <p:sp>
        <p:nvSpPr>
          <p:cNvPr id="28" name="Bulle rectangulaire 27">
            <a:extLst>
              <a:ext uri="{FF2B5EF4-FFF2-40B4-BE49-F238E27FC236}">
                <a16:creationId xmlns:a16="http://schemas.microsoft.com/office/drawing/2014/main" id="{CC05CCC9-290D-CC43-A2FC-7712C1F6FB5B}"/>
              </a:ext>
            </a:extLst>
          </p:cNvPr>
          <p:cNvSpPr/>
          <p:nvPr/>
        </p:nvSpPr>
        <p:spPr>
          <a:xfrm>
            <a:off x="6895809" y="5559517"/>
            <a:ext cx="3600000" cy="411480"/>
          </a:xfrm>
          <a:prstGeom prst="wedgeRectCallout">
            <a:avLst>
              <a:gd name="adj1" fmla="val -24290"/>
              <a:gd name="adj2" fmla="val -92162"/>
            </a:avLst>
          </a:prstGeom>
          <a:solidFill>
            <a:srgbClr val="00B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err="1">
                <a:solidFill>
                  <a:schemeClr val="tx1"/>
                </a:solidFill>
                <a:latin typeface="Consolas" panose="020B0609020204030204" pitchFamily="49" charset="0"/>
                <a:cs typeface="Consolas" panose="020B0609020204030204" pitchFamily="49" charset="0"/>
              </a:rPr>
              <a:t>SortedSet</a:t>
            </a:r>
            <a:r>
              <a:rPr lang="fr-FR" b="1" dirty="0">
                <a:solidFill>
                  <a:schemeClr val="tx1"/>
                </a:solidFill>
                <a:latin typeface="Consolas" panose="020B0609020204030204" pitchFamily="49" charset="0"/>
                <a:cs typeface="Consolas" panose="020B0609020204030204" pitchFamily="49" charset="0"/>
              </a:rPr>
              <a:t>&lt;E&gt; </a:t>
            </a:r>
            <a:r>
              <a:rPr lang="fr-FR" b="1" dirty="0" err="1">
                <a:solidFill>
                  <a:schemeClr val="tx1"/>
                </a:solidFill>
                <a:latin typeface="Consolas" panose="020B0609020204030204" pitchFamily="49" charset="0"/>
                <a:cs typeface="Consolas" panose="020B0609020204030204" pitchFamily="49" charset="0"/>
              </a:rPr>
              <a:t>tailSet</a:t>
            </a:r>
            <a:r>
              <a:rPr lang="fr-FR" b="1" dirty="0">
                <a:solidFill>
                  <a:schemeClr val="tx1"/>
                </a:solidFill>
                <a:latin typeface="Consolas" panose="020B0609020204030204" pitchFamily="49" charset="0"/>
                <a:cs typeface="Consolas" panose="020B0609020204030204" pitchFamily="49" charset="0"/>
              </a:rPr>
              <a:t>(E e2)</a:t>
            </a:r>
            <a:endParaRPr lang="fr-FR" b="1" dirty="0">
              <a:solidFill>
                <a:schemeClr val="tx1"/>
              </a:solidFill>
            </a:endParaRPr>
          </a:p>
        </p:txBody>
      </p:sp>
      <p:sp>
        <p:nvSpPr>
          <p:cNvPr id="27" name="Bulle rectangulaire 26">
            <a:extLst>
              <a:ext uri="{FF2B5EF4-FFF2-40B4-BE49-F238E27FC236}">
                <a16:creationId xmlns:a16="http://schemas.microsoft.com/office/drawing/2014/main" id="{15F34AE0-1F84-D54C-B8C8-E0134992F90C}"/>
              </a:ext>
            </a:extLst>
          </p:cNvPr>
          <p:cNvSpPr/>
          <p:nvPr/>
        </p:nvSpPr>
        <p:spPr>
          <a:xfrm>
            <a:off x="1645822" y="5569963"/>
            <a:ext cx="3600000" cy="411480"/>
          </a:xfrm>
          <a:prstGeom prst="wedgeRectCallout">
            <a:avLst>
              <a:gd name="adj1" fmla="val 23921"/>
              <a:gd name="adj2" fmla="val -95866"/>
            </a:avLst>
          </a:prstGeom>
          <a:solidFill>
            <a:srgbClr val="00B050"/>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err="1">
                <a:solidFill>
                  <a:schemeClr val="tx1"/>
                </a:solidFill>
                <a:latin typeface="Consolas" panose="020B0609020204030204" pitchFamily="49" charset="0"/>
                <a:cs typeface="Consolas" panose="020B0609020204030204" pitchFamily="49" charset="0"/>
              </a:rPr>
              <a:t>SortedSet</a:t>
            </a:r>
            <a:r>
              <a:rPr lang="fr-FR" b="1" dirty="0">
                <a:solidFill>
                  <a:schemeClr val="tx1"/>
                </a:solidFill>
                <a:latin typeface="Consolas" panose="020B0609020204030204" pitchFamily="49" charset="0"/>
                <a:cs typeface="Consolas" panose="020B0609020204030204" pitchFamily="49" charset="0"/>
              </a:rPr>
              <a:t>&lt;E&gt; </a:t>
            </a:r>
            <a:r>
              <a:rPr lang="fr-FR" b="1" dirty="0" err="1">
                <a:solidFill>
                  <a:schemeClr val="tx1"/>
                </a:solidFill>
                <a:latin typeface="Consolas" panose="020B0609020204030204" pitchFamily="49" charset="0"/>
                <a:cs typeface="Consolas" panose="020B0609020204030204" pitchFamily="49" charset="0"/>
              </a:rPr>
              <a:t>headSet</a:t>
            </a:r>
            <a:r>
              <a:rPr lang="fr-FR" b="1" dirty="0">
                <a:solidFill>
                  <a:schemeClr val="tx1"/>
                </a:solidFill>
                <a:latin typeface="Consolas" panose="020B0609020204030204" pitchFamily="49" charset="0"/>
                <a:cs typeface="Consolas" panose="020B0609020204030204" pitchFamily="49" charset="0"/>
              </a:rPr>
              <a:t>(E e1)</a:t>
            </a:r>
            <a:endParaRPr lang="fr-FR" b="1" dirty="0">
              <a:solidFill>
                <a:schemeClr val="tx1"/>
              </a:solidFill>
            </a:endParaRPr>
          </a:p>
        </p:txBody>
      </p:sp>
      <p:sp>
        <p:nvSpPr>
          <p:cNvPr id="35" name="Rectangle 34">
            <a:extLst>
              <a:ext uri="{FF2B5EF4-FFF2-40B4-BE49-F238E27FC236}">
                <a16:creationId xmlns:a16="http://schemas.microsoft.com/office/drawing/2014/main" id="{F5E519A4-D704-A14F-8C36-AE9E80196FB0}"/>
              </a:ext>
            </a:extLst>
          </p:cNvPr>
          <p:cNvSpPr/>
          <p:nvPr/>
        </p:nvSpPr>
        <p:spPr>
          <a:xfrm>
            <a:off x="8312831" y="4829022"/>
            <a:ext cx="360000" cy="36000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Rectangle 35">
            <a:extLst>
              <a:ext uri="{FF2B5EF4-FFF2-40B4-BE49-F238E27FC236}">
                <a16:creationId xmlns:a16="http://schemas.microsoft.com/office/drawing/2014/main" id="{57D8DB3C-7D70-704A-B85D-22D2804C7AAA}"/>
              </a:ext>
            </a:extLst>
          </p:cNvPr>
          <p:cNvSpPr/>
          <p:nvPr/>
        </p:nvSpPr>
        <p:spPr>
          <a:xfrm>
            <a:off x="3460652" y="4827951"/>
            <a:ext cx="360000" cy="360000"/>
          </a:xfrm>
          <a:prstGeom prst="rect">
            <a:avLst/>
          </a:prstGeom>
          <a:solidFill>
            <a:schemeClr val="accent5"/>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Bulle rectangulaire 36">
            <a:extLst>
              <a:ext uri="{FF2B5EF4-FFF2-40B4-BE49-F238E27FC236}">
                <a16:creationId xmlns:a16="http://schemas.microsoft.com/office/drawing/2014/main" id="{652C78D9-9EFE-A44F-A832-F67D71780BE7}"/>
              </a:ext>
            </a:extLst>
          </p:cNvPr>
          <p:cNvSpPr/>
          <p:nvPr/>
        </p:nvSpPr>
        <p:spPr>
          <a:xfrm>
            <a:off x="3952584" y="4033704"/>
            <a:ext cx="4248000" cy="411480"/>
          </a:xfrm>
          <a:prstGeom prst="wedgeRectCallout">
            <a:avLst>
              <a:gd name="adj1" fmla="val -1929"/>
              <a:gd name="adj2" fmla="val 114642"/>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err="1">
                <a:solidFill>
                  <a:schemeClr val="tx1"/>
                </a:solidFill>
                <a:latin typeface="Consolas" panose="020B0609020204030204" pitchFamily="49" charset="0"/>
                <a:cs typeface="Consolas" panose="020B0609020204030204" pitchFamily="49" charset="0"/>
              </a:rPr>
              <a:t>SortedSet</a:t>
            </a:r>
            <a:r>
              <a:rPr lang="fr-FR" b="1" dirty="0">
                <a:solidFill>
                  <a:schemeClr val="tx1"/>
                </a:solidFill>
                <a:latin typeface="Consolas" panose="020B0609020204030204" pitchFamily="49" charset="0"/>
                <a:cs typeface="Consolas" panose="020B0609020204030204" pitchFamily="49" charset="0"/>
              </a:rPr>
              <a:t>&lt;E&gt; </a:t>
            </a:r>
            <a:r>
              <a:rPr lang="fr-FR" b="1" dirty="0" err="1">
                <a:solidFill>
                  <a:schemeClr val="tx1"/>
                </a:solidFill>
                <a:latin typeface="Consolas" panose="020B0609020204030204" pitchFamily="49" charset="0"/>
                <a:cs typeface="Consolas" panose="020B0609020204030204" pitchFamily="49" charset="0"/>
              </a:rPr>
              <a:t>subSet</a:t>
            </a:r>
            <a:r>
              <a:rPr lang="fr-FR" b="1" dirty="0">
                <a:solidFill>
                  <a:schemeClr val="tx1"/>
                </a:solidFill>
                <a:latin typeface="Consolas" panose="020B0609020204030204" pitchFamily="49" charset="0"/>
                <a:cs typeface="Consolas" panose="020B0609020204030204" pitchFamily="49" charset="0"/>
              </a:rPr>
              <a:t>(E e1, E e2)</a:t>
            </a:r>
            <a:endParaRPr lang="fr-FR" b="1" dirty="0">
              <a:solidFill>
                <a:schemeClr val="tx1"/>
              </a:solidFill>
            </a:endParaRPr>
          </a:p>
        </p:txBody>
      </p:sp>
      <p:sp>
        <p:nvSpPr>
          <p:cNvPr id="7" name="ZoneTexte 6">
            <a:extLst>
              <a:ext uri="{FF2B5EF4-FFF2-40B4-BE49-F238E27FC236}">
                <a16:creationId xmlns:a16="http://schemas.microsoft.com/office/drawing/2014/main" id="{205DA1B2-6ADB-65D0-4704-5EF6330B2FC9}"/>
              </a:ext>
            </a:extLst>
          </p:cNvPr>
          <p:cNvSpPr txBox="1"/>
          <p:nvPr/>
        </p:nvSpPr>
        <p:spPr>
          <a:xfrm>
            <a:off x="9723737" y="346526"/>
            <a:ext cx="2220953" cy="369332"/>
          </a:xfrm>
          <a:prstGeom prst="rect">
            <a:avLst/>
          </a:prstGeom>
          <a:solidFill>
            <a:srgbClr val="FF7F0B"/>
          </a:solidFill>
        </p:spPr>
        <p:txBody>
          <a:bodyPr wrap="square" rtlCol="0" anchor="ctr">
            <a:spAutoFit/>
          </a:bodyPr>
          <a:lstStyle/>
          <a:p>
            <a:pPr algn="ctr"/>
            <a:r>
              <a:rPr lang="fr-FR" b="1" dirty="0" err="1">
                <a:latin typeface="Consolas" panose="020B0609020204030204" pitchFamily="49" charset="0"/>
                <a:cs typeface="Consolas" panose="020B0609020204030204" pitchFamily="49" charset="0"/>
              </a:rPr>
              <a:t>SortedMap</a:t>
            </a:r>
            <a:endParaRPr lang="fr-FR" b="1" dirty="0">
              <a:latin typeface="Consolas" panose="020B0609020204030204" pitchFamily="49" charset="0"/>
              <a:cs typeface="Consolas" panose="020B0609020204030204" pitchFamily="49" charset="0"/>
            </a:endParaRPr>
          </a:p>
        </p:txBody>
      </p:sp>
      <p:sp>
        <p:nvSpPr>
          <p:cNvPr id="8" name="ZoneTexte 7">
            <a:extLst>
              <a:ext uri="{FF2B5EF4-FFF2-40B4-BE49-F238E27FC236}">
                <a16:creationId xmlns:a16="http://schemas.microsoft.com/office/drawing/2014/main" id="{B233553A-DEB5-41B2-E894-56E7DAA7CB41}"/>
              </a:ext>
            </a:extLst>
          </p:cNvPr>
          <p:cNvSpPr txBox="1"/>
          <p:nvPr/>
        </p:nvSpPr>
        <p:spPr>
          <a:xfrm>
            <a:off x="9723737" y="875922"/>
            <a:ext cx="2220953" cy="369332"/>
          </a:xfrm>
          <a:prstGeom prst="rect">
            <a:avLst/>
          </a:prstGeom>
          <a:solidFill>
            <a:srgbClr val="FF7F0B"/>
          </a:solidFill>
        </p:spPr>
        <p:txBody>
          <a:bodyPr wrap="square" rtlCol="0" anchor="ctr">
            <a:spAutoFit/>
          </a:bodyPr>
          <a:lstStyle/>
          <a:p>
            <a:pPr algn="ctr"/>
            <a:r>
              <a:rPr lang="fr-FR" b="1" dirty="0" err="1">
                <a:latin typeface="Consolas" panose="020B0609020204030204" pitchFamily="49" charset="0"/>
                <a:cs typeface="Consolas" panose="020B0609020204030204" pitchFamily="49" charset="0"/>
              </a:rPr>
              <a:t>SortedSet</a:t>
            </a:r>
            <a:endParaRPr lang="fr-FR" b="1" dirty="0">
              <a:latin typeface="Consolas" panose="020B0609020204030204" pitchFamily="49" charset="0"/>
              <a:cs typeface="Consolas" panose="020B0609020204030204" pitchFamily="49" charset="0"/>
            </a:endParaRPr>
          </a:p>
        </p:txBody>
      </p:sp>
      <p:sp>
        <p:nvSpPr>
          <p:cNvPr id="4" name="Espace réservé du numéro de diapositive 3">
            <a:extLst>
              <a:ext uri="{FF2B5EF4-FFF2-40B4-BE49-F238E27FC236}">
                <a16:creationId xmlns:a16="http://schemas.microsoft.com/office/drawing/2014/main" id="{CD8A95EE-9F86-99D0-8F4C-4B03A474259E}"/>
              </a:ext>
            </a:extLst>
          </p:cNvPr>
          <p:cNvSpPr>
            <a:spLocks noGrp="1"/>
          </p:cNvSpPr>
          <p:nvPr>
            <p:ph type="sldNum" sz="quarter" idx="4"/>
          </p:nvPr>
        </p:nvSpPr>
        <p:spPr/>
        <p:txBody>
          <a:bodyPr/>
          <a:lstStyle/>
          <a:p>
            <a:fld id="{33C783E2-4793-4F48-A271-51A73CC37D74}" type="slidenum">
              <a:rPr lang="fr-FR" smtClean="0"/>
              <a:t>29</a:t>
            </a:fld>
            <a:endParaRPr lang="fr-FR"/>
          </a:p>
        </p:txBody>
      </p:sp>
    </p:spTree>
    <p:extLst>
      <p:ext uri="{BB962C8B-B14F-4D97-AF65-F5344CB8AC3E}">
        <p14:creationId xmlns:p14="http://schemas.microsoft.com/office/powerpoint/2010/main" val="2532157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fade">
                                      <p:cBhvr>
                                        <p:cTn id="11" dur="500"/>
                                        <p:tgtEl>
                                          <p:spTgt spid="3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fade">
                                      <p:cBhvr>
                                        <p:cTn id="20" dur="500"/>
                                        <p:tgtEl>
                                          <p:spTgt spid="3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500"/>
                                        <p:tgtEl>
                                          <p:spTgt spid="29"/>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500"/>
                                        <p:tgtEl>
                                          <p:spTgt spid="27"/>
                                        </p:tgtEl>
                                      </p:cBhvr>
                                    </p:animEffect>
                                  </p:childTnLst>
                                </p:cTn>
                              </p:par>
                            </p:childTnLst>
                          </p:cTn>
                        </p:par>
                        <p:par>
                          <p:cTn id="30" fill="hold">
                            <p:stCondLst>
                              <p:cond delay="1000"/>
                            </p:stCondLst>
                            <p:childTnLst>
                              <p:par>
                                <p:cTn id="31" presetID="22" presetClass="entr" presetSubtype="4" fill="hold" grpId="0" nodeType="after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wipe(down)">
                                      <p:cBhvr>
                                        <p:cTn id="33" dur="500"/>
                                        <p:tgtEl>
                                          <p:spTgt spid="32"/>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fade">
                                      <p:cBhvr>
                                        <p:cTn id="38" dur="500"/>
                                        <p:tgtEl>
                                          <p:spTgt spid="30"/>
                                        </p:tgtEl>
                                      </p:cBhvr>
                                    </p:animEffect>
                                  </p:childTnLst>
                                </p:cTn>
                              </p:par>
                            </p:childTnLst>
                          </p:cTn>
                        </p:par>
                        <p:par>
                          <p:cTn id="39" fill="hold">
                            <p:stCondLst>
                              <p:cond delay="500"/>
                            </p:stCondLst>
                            <p:childTnLst>
                              <p:par>
                                <p:cTn id="40" presetID="10" presetClass="entr" presetSubtype="0" fill="hold" grpId="0" nodeType="after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childTnLst>
                                </p:cTn>
                              </p:par>
                            </p:childTnLst>
                          </p:cTn>
                        </p:par>
                        <p:par>
                          <p:cTn id="43" fill="hold">
                            <p:stCondLst>
                              <p:cond delay="1000"/>
                            </p:stCondLst>
                            <p:childTnLst>
                              <p:par>
                                <p:cTn id="44" presetID="22" presetClass="entr" presetSubtype="4" fill="hold" grpId="0" nodeType="afterEffect">
                                  <p:stCondLst>
                                    <p:cond delay="0"/>
                                  </p:stCondLst>
                                  <p:childTnLst>
                                    <p:set>
                                      <p:cBhvr>
                                        <p:cTn id="45" dur="1" fill="hold">
                                          <p:stCondLst>
                                            <p:cond delay="0"/>
                                          </p:stCondLst>
                                        </p:cTn>
                                        <p:tgtEl>
                                          <p:spTgt spid="31"/>
                                        </p:tgtEl>
                                        <p:attrNameLst>
                                          <p:attrName>style.visibility</p:attrName>
                                        </p:attrNameLst>
                                      </p:cBhvr>
                                      <p:to>
                                        <p:strVal val="visible"/>
                                      </p:to>
                                    </p:set>
                                    <p:animEffect transition="in" filter="wipe(down)">
                                      <p:cBhvr>
                                        <p:cTn id="46" dur="500"/>
                                        <p:tgtEl>
                                          <p:spTgt spid="31"/>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37"/>
                                        </p:tgtEl>
                                        <p:attrNameLst>
                                          <p:attrName>style.visibility</p:attrName>
                                        </p:attrNameLst>
                                      </p:cBhvr>
                                      <p:to>
                                        <p:strVal val="visible"/>
                                      </p:to>
                                    </p:set>
                                    <p:animEffect transition="in" filter="fade">
                                      <p:cBhvr>
                                        <p:cTn id="51" dur="500"/>
                                        <p:tgtEl>
                                          <p:spTgt spid="37"/>
                                        </p:tgtEl>
                                      </p:cBhvr>
                                    </p:animEffect>
                                  </p:childTnLst>
                                </p:cTn>
                              </p:par>
                            </p:childTnLst>
                          </p:cTn>
                        </p:par>
                        <p:par>
                          <p:cTn id="52" fill="hold">
                            <p:stCondLst>
                              <p:cond delay="500"/>
                            </p:stCondLst>
                            <p:childTnLst>
                              <p:par>
                                <p:cTn id="53" presetID="22" presetClass="entr" presetSubtype="4" fill="hold" grpId="0" nodeType="after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wipe(down)">
                                      <p:cBhvr>
                                        <p:cTn id="55"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8" grpId="0" animBg="1"/>
      <p:bldP spid="25" grpId="0" animBg="1"/>
      <p:bldP spid="26" grpId="0" animBg="1"/>
      <p:bldP spid="29" grpId="0"/>
      <p:bldP spid="30" grpId="0"/>
      <p:bldP spid="28" grpId="0" animBg="1"/>
      <p:bldP spid="27" grpId="0" animBg="1"/>
      <p:bldP spid="35" grpId="0" animBg="1"/>
      <p:bldP spid="36" grpId="0" animBg="1"/>
      <p:bldP spid="3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Réfléchissons un peu…</a:t>
            </a:r>
          </a:p>
        </p:txBody>
      </p:sp>
      <p:sp>
        <p:nvSpPr>
          <p:cNvPr id="3" name="Espace réservé du contenu 2"/>
          <p:cNvSpPr>
            <a:spLocks noGrp="1"/>
          </p:cNvSpPr>
          <p:nvPr>
            <p:ph idx="1"/>
          </p:nvPr>
        </p:nvSpPr>
        <p:spPr/>
        <p:txBody>
          <a:bodyPr>
            <a:noAutofit/>
          </a:bodyPr>
          <a:lstStyle/>
          <a:p>
            <a:pPr marL="0" indent="0">
              <a:buNone/>
            </a:pPr>
            <a:r>
              <a:rPr lang="fr-FR" sz="2400" dirty="0"/>
              <a:t>Quel type d’objets (</a:t>
            </a:r>
            <a:r>
              <a:rPr lang="fr-FR" sz="2200" dirty="0">
                <a:solidFill>
                  <a:schemeClr val="accent4"/>
                </a:solidFill>
                <a:latin typeface="Consolas" panose="020B0609020204030204" pitchFamily="49" charset="0"/>
                <a:cs typeface="Consolas" panose="020B0609020204030204" pitchFamily="49" charset="0"/>
              </a:rPr>
              <a:t>Set</a:t>
            </a:r>
            <a:r>
              <a:rPr lang="fr-FR" sz="2400" dirty="0"/>
              <a:t>, </a:t>
            </a:r>
            <a:r>
              <a:rPr lang="fr-FR" sz="2200" dirty="0">
                <a:solidFill>
                  <a:schemeClr val="accent4"/>
                </a:solidFill>
                <a:latin typeface="Consolas" panose="020B0609020204030204" pitchFamily="49" charset="0"/>
                <a:cs typeface="Consolas" panose="020B0609020204030204" pitchFamily="49" charset="0"/>
              </a:rPr>
              <a:t>List</a:t>
            </a:r>
            <a:r>
              <a:rPr lang="fr-FR" dirty="0"/>
              <a:t>, </a:t>
            </a:r>
            <a:r>
              <a:rPr lang="fr-FR" sz="2200" dirty="0">
                <a:solidFill>
                  <a:schemeClr val="accent4"/>
                </a:solidFill>
                <a:latin typeface="Consolas" panose="020B0609020204030204" pitchFamily="49" charset="0"/>
                <a:cs typeface="Consolas" panose="020B0609020204030204" pitchFamily="49" charset="0"/>
              </a:rPr>
              <a:t>Queue</a:t>
            </a:r>
            <a:r>
              <a:rPr lang="fr-FR" dirty="0"/>
              <a:t>, </a:t>
            </a:r>
            <a:r>
              <a:rPr lang="fr-FR" sz="2200" dirty="0" err="1">
                <a:solidFill>
                  <a:schemeClr val="accent4"/>
                </a:solidFill>
                <a:latin typeface="Consolas" panose="020B0609020204030204" pitchFamily="49" charset="0"/>
                <a:cs typeface="Consolas" panose="020B0609020204030204" pitchFamily="49" charset="0"/>
              </a:rPr>
              <a:t>Deque</a:t>
            </a:r>
            <a:r>
              <a:rPr lang="fr-FR" sz="2400" dirty="0"/>
              <a:t> ou </a:t>
            </a:r>
            <a:r>
              <a:rPr lang="fr-FR" sz="2200" dirty="0" err="1">
                <a:solidFill>
                  <a:schemeClr val="accent4"/>
                </a:solidFill>
                <a:latin typeface="Consolas" panose="020B0609020204030204" pitchFamily="49" charset="0"/>
                <a:cs typeface="Consolas" panose="020B0609020204030204" pitchFamily="49" charset="0"/>
              </a:rPr>
              <a:t>Map</a:t>
            </a:r>
            <a:r>
              <a:rPr lang="fr-FR" sz="2400" dirty="0"/>
              <a:t>) utiliseriez-vous pour les problématiques suivantes:</a:t>
            </a:r>
          </a:p>
          <a:p>
            <a:pPr marL="342900" indent="-342900"/>
            <a:r>
              <a:rPr lang="fr-FR" sz="2400" dirty="0"/>
              <a:t>La société JEF (Jouets En Folie) veut enregistrer ses employés. Chaque mois un employé sera tiré au sort et recevra un jouet gratuit.</a:t>
            </a:r>
          </a:p>
          <a:p>
            <a:pPr marL="342900" indent="-342900"/>
            <a:r>
              <a:rPr lang="fr-FR" sz="2400" dirty="0"/>
              <a:t>JEF a aussi décidé de nommer ses jouets d’après les prénoms de ses employés, sans toutefois nommer deux jouets de la même façon. Vous devez donc aussi préparer une liste de prénoms uniques.</a:t>
            </a:r>
          </a:p>
          <a:p>
            <a:pPr marL="342900" indent="-342900"/>
            <a:r>
              <a:rPr lang="fr-FR" sz="2400" dirty="0"/>
              <a:t>JEF décide également de n’utiliser que les prénoms les plus représentés pour ses jouets; vous devrez compter le nombre d’employés qui ont chaque prénom.</a:t>
            </a:r>
          </a:p>
          <a:p>
            <a:pPr marL="342900" indent="-342900"/>
            <a:r>
              <a:rPr lang="fr-FR" sz="2400" dirty="0"/>
              <a:t>JEF a acheté des tickets pour le championnat de course de caisse à savon, qui seront distribués aux employés. Créez une liste d’attente pour les distribuer.</a:t>
            </a:r>
          </a:p>
        </p:txBody>
      </p:sp>
      <p:sp>
        <p:nvSpPr>
          <p:cNvPr id="4" name="Espace réservé du numéro de diapositive 3">
            <a:extLst>
              <a:ext uri="{FF2B5EF4-FFF2-40B4-BE49-F238E27FC236}">
                <a16:creationId xmlns:a16="http://schemas.microsoft.com/office/drawing/2014/main" id="{ED9082C0-66D3-C724-1BCF-EF7592C55450}"/>
              </a:ext>
            </a:extLst>
          </p:cNvPr>
          <p:cNvSpPr>
            <a:spLocks noGrp="1"/>
          </p:cNvSpPr>
          <p:nvPr>
            <p:ph type="sldNum" sz="quarter" idx="10"/>
          </p:nvPr>
        </p:nvSpPr>
        <p:spPr/>
        <p:txBody>
          <a:bodyPr/>
          <a:lstStyle/>
          <a:p>
            <a:fld id="{33C783E2-4793-4F48-A271-51A73CC37D74}" type="slidenum">
              <a:rPr lang="fr-FR" smtClean="0"/>
              <a:t>30</a:t>
            </a:fld>
            <a:endParaRPr lang="fr-FR" dirty="0"/>
          </a:p>
        </p:txBody>
      </p:sp>
    </p:spTree>
    <p:extLst>
      <p:ext uri="{BB962C8B-B14F-4D97-AF65-F5344CB8AC3E}">
        <p14:creationId xmlns:p14="http://schemas.microsoft.com/office/powerpoint/2010/main" val="7027264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Collections</a:t>
            </a:r>
          </a:p>
        </p:txBody>
      </p:sp>
      <p:sp>
        <p:nvSpPr>
          <p:cNvPr id="3" name="Espace réservé du contenu 2"/>
          <p:cNvSpPr>
            <a:spLocks noGrp="1"/>
          </p:cNvSpPr>
          <p:nvPr>
            <p:ph idx="1"/>
          </p:nvPr>
        </p:nvSpPr>
        <p:spPr/>
        <p:txBody>
          <a:bodyPr>
            <a:normAutofit/>
          </a:bodyPr>
          <a:lstStyle/>
          <a:p>
            <a:pPr marL="342900" indent="-342900">
              <a:buFont typeface="Arial" charset="0"/>
              <a:buChar char="•"/>
            </a:pPr>
            <a:r>
              <a:rPr lang="fr-BE" dirty="0"/>
              <a:t>Pourquoi les Collections?</a:t>
            </a:r>
          </a:p>
          <a:p>
            <a:pPr marL="342900" indent="-342900">
              <a:buFont typeface="Arial" charset="0"/>
              <a:buChar char="•"/>
            </a:pPr>
            <a:r>
              <a:rPr lang="fr-BE" dirty="0" err="1"/>
              <a:t>Itérateur</a:t>
            </a:r>
            <a:endParaRPr lang="fr-BE" dirty="0"/>
          </a:p>
          <a:p>
            <a:pPr marL="342900" indent="-342900">
              <a:buFont typeface="Arial" charset="0"/>
              <a:buChar char="•"/>
            </a:pPr>
            <a:r>
              <a:rPr lang="fr-BE" dirty="0"/>
              <a:t>Les Interfaces de Collections</a:t>
            </a:r>
          </a:p>
          <a:p>
            <a:pPr marL="342900" indent="-342900">
              <a:buFont typeface="Arial" charset="0"/>
              <a:buChar char="•"/>
            </a:pPr>
            <a:r>
              <a:rPr lang="fr-BE" dirty="0"/>
              <a:t>La notion d’ordre (Comparable et </a:t>
            </a:r>
            <a:r>
              <a:rPr lang="fr-BE" dirty="0" err="1"/>
              <a:t>Sorted</a:t>
            </a:r>
            <a:r>
              <a:rPr lang="fr-BE" dirty="0"/>
              <a:t>...)</a:t>
            </a:r>
          </a:p>
          <a:p>
            <a:pPr marL="342900" indent="-342900">
              <a:buFont typeface="Arial" charset="0"/>
              <a:buChar char="•"/>
            </a:pPr>
            <a:r>
              <a:rPr lang="fr-BE" dirty="0">
                <a:solidFill>
                  <a:schemeClr val="accent4"/>
                </a:solidFill>
              </a:rPr>
              <a:t>Les classes concrètes</a:t>
            </a:r>
          </a:p>
          <a:p>
            <a:pPr marL="342900" indent="-342900">
              <a:buFont typeface="Arial" charset="0"/>
              <a:buChar char="•"/>
            </a:pPr>
            <a:r>
              <a:rPr lang="fr-BE" dirty="0"/>
              <a:t>Algorithmes: la classe Collections</a:t>
            </a:r>
          </a:p>
          <a:p>
            <a:pPr marL="342900" indent="-342900">
              <a:buFont typeface="Arial" charset="0"/>
              <a:buChar char="•"/>
            </a:pPr>
            <a:endParaRPr lang="fr-BE" dirty="0">
              <a:solidFill>
                <a:schemeClr val="accent2"/>
              </a:solidFill>
            </a:endParaRPr>
          </a:p>
        </p:txBody>
      </p:sp>
      <p:sp>
        <p:nvSpPr>
          <p:cNvPr id="4" name="Espace réservé du numéro de diapositive 3">
            <a:extLst>
              <a:ext uri="{FF2B5EF4-FFF2-40B4-BE49-F238E27FC236}">
                <a16:creationId xmlns:a16="http://schemas.microsoft.com/office/drawing/2014/main" id="{555EEF01-7020-188E-3920-5A98C338500F}"/>
              </a:ext>
            </a:extLst>
          </p:cNvPr>
          <p:cNvSpPr>
            <a:spLocks noGrp="1"/>
          </p:cNvSpPr>
          <p:nvPr>
            <p:ph type="sldNum" sz="quarter" idx="10"/>
          </p:nvPr>
        </p:nvSpPr>
        <p:spPr/>
        <p:txBody>
          <a:bodyPr/>
          <a:lstStyle/>
          <a:p>
            <a:fld id="{33C783E2-4793-4F48-A271-51A73CC37D74}" type="slidenum">
              <a:rPr lang="fr-FR" smtClean="0"/>
              <a:t>31</a:t>
            </a:fld>
            <a:endParaRPr lang="fr-FR"/>
          </a:p>
        </p:txBody>
      </p:sp>
    </p:spTree>
    <p:extLst>
      <p:ext uri="{BB962C8B-B14F-4D97-AF65-F5344CB8AC3E}">
        <p14:creationId xmlns:p14="http://schemas.microsoft.com/office/powerpoint/2010/main" val="1507884051"/>
      </p:ext>
    </p:extLst>
  </p:cSld>
  <p:clrMapOvr>
    <a:masterClrMapping/>
  </p:clrMapOvr>
  <p:transition>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Après les interfaces, les Classes</a:t>
            </a:r>
          </a:p>
        </p:txBody>
      </p:sp>
      <p:sp>
        <p:nvSpPr>
          <p:cNvPr id="3" name="Espace réservé du contenu 2"/>
          <p:cNvSpPr>
            <a:spLocks noGrp="1"/>
          </p:cNvSpPr>
          <p:nvPr>
            <p:ph idx="1"/>
          </p:nvPr>
        </p:nvSpPr>
        <p:spPr>
          <a:xfrm>
            <a:off x="838199" y="1825625"/>
            <a:ext cx="11189677" cy="4351338"/>
          </a:xfrm>
        </p:spPr>
        <p:txBody>
          <a:bodyPr>
            <a:normAutofit fontScale="92500"/>
          </a:bodyPr>
          <a:lstStyle/>
          <a:p>
            <a:pPr marL="0" indent="0">
              <a:buNone/>
            </a:pPr>
            <a:r>
              <a:rPr lang="fr-FR" dirty="0"/>
              <a:t>Nous venons de passer en revue les principales interfaces du liées aux collections.</a:t>
            </a:r>
          </a:p>
          <a:p>
            <a:pPr marL="0" indent="0">
              <a:buNone/>
            </a:pPr>
            <a:r>
              <a:rPr lang="fr-FR" dirty="0"/>
              <a:t>Cela nous indique quelles méthodes nous pourrons appeler sur les implémentations (les objets).</a:t>
            </a:r>
          </a:p>
          <a:p>
            <a:pPr marL="0" indent="0">
              <a:buNone/>
            </a:pPr>
            <a:endParaRPr lang="fr-FR" dirty="0"/>
          </a:p>
          <a:p>
            <a:pPr marL="0" indent="0">
              <a:buNone/>
            </a:pPr>
            <a:r>
              <a:rPr lang="fr-FR" dirty="0"/>
              <a:t>Le package </a:t>
            </a:r>
            <a:r>
              <a:rPr lang="fr-FR" sz="2600" dirty="0" err="1">
                <a:solidFill>
                  <a:schemeClr val="accent4"/>
                </a:solidFill>
                <a:latin typeface="Consolas" panose="020B0609020204030204" pitchFamily="49" charset="0"/>
                <a:cs typeface="Consolas" panose="020B0609020204030204" pitchFamily="49" charset="0"/>
              </a:rPr>
              <a:t>java.util</a:t>
            </a:r>
            <a:r>
              <a:rPr lang="fr-FR" dirty="0"/>
              <a:t> contient des implémentations des différentes interfaces dont nous avons parlé, nous allons à présent en aborder quelques unes…</a:t>
            </a:r>
          </a:p>
          <a:p>
            <a:pPr marL="0" indent="0">
              <a:buNone/>
            </a:pPr>
            <a:endParaRPr lang="fr-FR" dirty="0"/>
          </a:p>
          <a:p>
            <a:pPr marL="0" indent="0">
              <a:buNone/>
            </a:pPr>
            <a:r>
              <a:rPr lang="fr-FR" dirty="0"/>
              <a:t>Certaines de ces classes sont génériques, d’autres destinées à des usages particuliers (Thread-</a:t>
            </a:r>
            <a:r>
              <a:rPr lang="fr-FR" dirty="0" err="1"/>
              <a:t>Safe</a:t>
            </a:r>
            <a:r>
              <a:rPr lang="fr-FR" dirty="0"/>
              <a:t>, performances,…).</a:t>
            </a:r>
          </a:p>
        </p:txBody>
      </p:sp>
      <p:pic>
        <p:nvPicPr>
          <p:cNvPr id="4" name="Image 3">
            <a:extLst>
              <a:ext uri="{FF2B5EF4-FFF2-40B4-BE49-F238E27FC236}">
                <a16:creationId xmlns:a16="http://schemas.microsoft.com/office/drawing/2014/main" id="{CD355BAA-5E18-1B45-A097-7DEAFF8BC083}"/>
              </a:ext>
            </a:extLst>
          </p:cNvPr>
          <p:cNvPicPr>
            <a:picLocks noChangeAspect="1"/>
          </p:cNvPicPr>
          <p:nvPr/>
        </p:nvPicPr>
        <p:blipFill>
          <a:blip r:embed="rId2" cstate="screen">
            <a:extLst>
              <a:ext uri="{BEBA8EAE-BF5A-486C-A8C5-ECC9F3942E4B}">
                <a14:imgProps xmlns:a14="http://schemas.microsoft.com/office/drawing/2010/main">
                  <a14:imgLayer r:embed="rId3">
                    <a14:imgEffect>
                      <a14:backgroundRemoval t="5786" b="94407" l="8894" r="89805">
                        <a14:foregroundMark x1="52278" y1="10800" x2="71077" y2="5786"/>
                        <a14:foregroundMark x1="71077" y1="5786" x2="79899" y2="12633"/>
                        <a14:foregroundMark x1="8966" y1="23915" x2="11931" y2="27869"/>
                        <a14:foregroundMark x1="19740" y1="88910" x2="38756" y2="88139"/>
                        <a14:foregroundMark x1="38756" y1="88139" x2="38756" y2="88139"/>
                        <a14:foregroundMark x1="28416" y1="94407" x2="20897" y2="91707"/>
                      </a14:backgroundRemoval>
                    </a14:imgEffect>
                  </a14:imgLayer>
                </a14:imgProps>
              </a:ext>
              <a:ext uri="{28A0092B-C50C-407E-A947-70E740481C1C}">
                <a14:useLocalDpi xmlns:a14="http://schemas.microsoft.com/office/drawing/2010/main"/>
              </a:ext>
            </a:extLst>
          </a:blip>
          <a:stretch>
            <a:fillRect/>
          </a:stretch>
        </p:blipFill>
        <p:spPr>
          <a:xfrm>
            <a:off x="9291731" y="192098"/>
            <a:ext cx="1440000" cy="1079479"/>
          </a:xfrm>
          <a:prstGeom prst="rect">
            <a:avLst/>
          </a:prstGeom>
        </p:spPr>
      </p:pic>
      <p:pic>
        <p:nvPicPr>
          <p:cNvPr id="12" name="Image 11">
            <a:extLst>
              <a:ext uri="{FF2B5EF4-FFF2-40B4-BE49-F238E27FC236}">
                <a16:creationId xmlns:a16="http://schemas.microsoft.com/office/drawing/2014/main" id="{6B929BA3-72CD-8840-BE12-633C3B2D994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549570" y="572346"/>
            <a:ext cx="1268692" cy="1012151"/>
          </a:xfrm>
          <a:prstGeom prst="rect">
            <a:avLst/>
          </a:prstGeom>
        </p:spPr>
      </p:pic>
      <p:sp>
        <p:nvSpPr>
          <p:cNvPr id="5" name="Espace réservé du numéro de diapositive 4">
            <a:extLst>
              <a:ext uri="{FF2B5EF4-FFF2-40B4-BE49-F238E27FC236}">
                <a16:creationId xmlns:a16="http://schemas.microsoft.com/office/drawing/2014/main" id="{4E55FBEC-C62B-B134-FF5E-305D87DEA0B4}"/>
              </a:ext>
            </a:extLst>
          </p:cNvPr>
          <p:cNvSpPr>
            <a:spLocks noGrp="1"/>
          </p:cNvSpPr>
          <p:nvPr>
            <p:ph type="sldNum" sz="quarter" idx="4"/>
          </p:nvPr>
        </p:nvSpPr>
        <p:spPr/>
        <p:txBody>
          <a:bodyPr/>
          <a:lstStyle/>
          <a:p>
            <a:fld id="{33C783E2-4793-4F48-A271-51A73CC37D74}" type="slidenum">
              <a:rPr lang="fr-FR" smtClean="0"/>
              <a:t>32</a:t>
            </a:fld>
            <a:endParaRPr lang="fr-FR"/>
          </a:p>
        </p:txBody>
      </p:sp>
    </p:spTree>
    <p:extLst>
      <p:ext uri="{BB962C8B-B14F-4D97-AF65-F5344CB8AC3E}">
        <p14:creationId xmlns:p14="http://schemas.microsoft.com/office/powerpoint/2010/main" val="34554821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Les Classes des collections</a:t>
            </a:r>
          </a:p>
        </p:txBody>
      </p:sp>
      <p:sp>
        <p:nvSpPr>
          <p:cNvPr id="8" name="ZoneTexte 7"/>
          <p:cNvSpPr txBox="1"/>
          <p:nvPr/>
        </p:nvSpPr>
        <p:spPr>
          <a:xfrm>
            <a:off x="8473008" y="2093029"/>
            <a:ext cx="1299411" cy="246221"/>
          </a:xfrm>
          <a:prstGeom prst="rect">
            <a:avLst/>
          </a:prstGeom>
          <a:solidFill>
            <a:srgbClr val="FF7F0B"/>
          </a:solidFill>
        </p:spPr>
        <p:txBody>
          <a:bodyPr wrap="square" rtlCol="0" anchor="ctr">
            <a:spAutoFit/>
          </a:bodyPr>
          <a:lstStyle/>
          <a:p>
            <a:pPr algn="ctr"/>
            <a:r>
              <a:rPr lang="fr-FR" sz="1000" b="1" dirty="0" err="1"/>
              <a:t>Map</a:t>
            </a:r>
            <a:endParaRPr lang="fr-FR" sz="1000" b="1" dirty="0"/>
          </a:p>
        </p:txBody>
      </p:sp>
      <p:cxnSp>
        <p:nvCxnSpPr>
          <p:cNvPr id="17" name="Connecteur droit avec flèche 16"/>
          <p:cNvCxnSpPr/>
          <p:nvPr/>
        </p:nvCxnSpPr>
        <p:spPr>
          <a:xfrm flipH="1" flipV="1">
            <a:off x="9903804" y="3111208"/>
            <a:ext cx="1" cy="62159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Parenthèse fermante 20"/>
          <p:cNvSpPr/>
          <p:nvPr/>
        </p:nvSpPr>
        <p:spPr>
          <a:xfrm>
            <a:off x="10290707" y="2387065"/>
            <a:ext cx="68400" cy="3466800"/>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cxnSp>
        <p:nvCxnSpPr>
          <p:cNvPr id="25" name="Connecteur droit avec flèche 24"/>
          <p:cNvCxnSpPr/>
          <p:nvPr/>
        </p:nvCxnSpPr>
        <p:spPr>
          <a:xfrm flipH="1" flipV="1">
            <a:off x="9403228" y="2337927"/>
            <a:ext cx="1" cy="62159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ZoneTexte 9"/>
          <p:cNvSpPr txBox="1"/>
          <p:nvPr/>
        </p:nvSpPr>
        <p:spPr>
          <a:xfrm>
            <a:off x="9292000" y="3549331"/>
            <a:ext cx="1299411" cy="246221"/>
          </a:xfrm>
          <a:prstGeom prst="rect">
            <a:avLst/>
          </a:prstGeom>
          <a:solidFill>
            <a:srgbClr val="FF7F0B"/>
          </a:solidFill>
        </p:spPr>
        <p:txBody>
          <a:bodyPr wrap="square" rtlCol="0" anchor="ctr">
            <a:spAutoFit/>
          </a:bodyPr>
          <a:lstStyle/>
          <a:p>
            <a:pPr algn="ctr"/>
            <a:r>
              <a:rPr lang="fr-FR" sz="1000" b="1" dirty="0" err="1"/>
              <a:t>NavigableMap</a:t>
            </a:r>
            <a:endParaRPr lang="fr-FR" sz="1000" b="1" dirty="0"/>
          </a:p>
        </p:txBody>
      </p:sp>
      <p:sp>
        <p:nvSpPr>
          <p:cNvPr id="11" name="ZoneTexte 10"/>
          <p:cNvSpPr txBox="1"/>
          <p:nvPr/>
        </p:nvSpPr>
        <p:spPr>
          <a:xfrm>
            <a:off x="8781081" y="2828062"/>
            <a:ext cx="1299411" cy="246221"/>
          </a:xfrm>
          <a:prstGeom prst="rect">
            <a:avLst/>
          </a:prstGeom>
          <a:solidFill>
            <a:srgbClr val="FF7F0B"/>
          </a:solidFill>
        </p:spPr>
        <p:txBody>
          <a:bodyPr wrap="square" rtlCol="0" anchor="ctr">
            <a:spAutoFit/>
          </a:bodyPr>
          <a:lstStyle/>
          <a:p>
            <a:pPr algn="ctr"/>
            <a:r>
              <a:rPr lang="fr-FR" sz="1000" b="1" dirty="0" err="1"/>
              <a:t>SortedMap</a:t>
            </a:r>
            <a:endParaRPr lang="fr-FR" sz="1000" b="1" dirty="0"/>
          </a:p>
        </p:txBody>
      </p:sp>
      <p:cxnSp>
        <p:nvCxnSpPr>
          <p:cNvPr id="26" name="Connecteur droit avec flèche 25"/>
          <p:cNvCxnSpPr/>
          <p:nvPr/>
        </p:nvCxnSpPr>
        <p:spPr>
          <a:xfrm flipV="1">
            <a:off x="9177866" y="3101583"/>
            <a:ext cx="1" cy="116734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ZoneTexte 27"/>
          <p:cNvSpPr txBox="1"/>
          <p:nvPr/>
        </p:nvSpPr>
        <p:spPr>
          <a:xfrm>
            <a:off x="8948596" y="4030633"/>
            <a:ext cx="1299411" cy="246221"/>
          </a:xfrm>
          <a:prstGeom prst="rect">
            <a:avLst/>
          </a:prstGeom>
          <a:solidFill>
            <a:srgbClr val="00A1EC"/>
          </a:solidFill>
        </p:spPr>
        <p:txBody>
          <a:bodyPr wrap="square" rtlCol="0" anchor="ctr">
            <a:spAutoFit/>
          </a:bodyPr>
          <a:lstStyle/>
          <a:p>
            <a:pPr algn="ctr"/>
            <a:r>
              <a:rPr lang="fr-FR" sz="1000" b="1" dirty="0" err="1"/>
              <a:t>TreeMap</a:t>
            </a:r>
            <a:endParaRPr lang="fr-FR" sz="1000" b="1" dirty="0"/>
          </a:p>
        </p:txBody>
      </p:sp>
      <p:cxnSp>
        <p:nvCxnSpPr>
          <p:cNvPr id="29" name="Connecteur droit avec flèche 28"/>
          <p:cNvCxnSpPr>
            <a:cxnSpLocks/>
          </p:cNvCxnSpPr>
          <p:nvPr/>
        </p:nvCxnSpPr>
        <p:spPr>
          <a:xfrm flipV="1">
            <a:off x="8689452" y="2337927"/>
            <a:ext cx="0" cy="32674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5280304" y="6502425"/>
            <a:ext cx="5082896" cy="276999"/>
          </a:xfrm>
          <a:prstGeom prst="rect">
            <a:avLst/>
          </a:prstGeom>
        </p:spPr>
        <p:txBody>
          <a:bodyPr wrap="square">
            <a:spAutoFit/>
          </a:bodyPr>
          <a:lstStyle/>
          <a:p>
            <a:pPr algn="r"/>
            <a:r>
              <a:rPr lang="fr-FR" sz="1200" u="sng" dirty="0">
                <a:solidFill>
                  <a:schemeClr val="accent4"/>
                </a:solidFill>
              </a:rPr>
              <a:t>http://</a:t>
            </a:r>
            <a:r>
              <a:rPr lang="fr-FR" sz="1200" u="sng" dirty="0" err="1">
                <a:solidFill>
                  <a:schemeClr val="accent4"/>
                </a:solidFill>
              </a:rPr>
              <a:t>www.javaincloud.com</a:t>
            </a:r>
            <a:r>
              <a:rPr lang="fr-FR" sz="1200" u="sng" dirty="0">
                <a:solidFill>
                  <a:schemeClr val="accent4"/>
                </a:solidFill>
              </a:rPr>
              <a:t>/2013/10/collection-framework-part-1.html</a:t>
            </a:r>
          </a:p>
        </p:txBody>
      </p:sp>
      <p:sp>
        <p:nvSpPr>
          <p:cNvPr id="6" name="Flèche vers la droite 5">
            <a:extLst>
              <a:ext uri="{FF2B5EF4-FFF2-40B4-BE49-F238E27FC236}">
                <a16:creationId xmlns:a16="http://schemas.microsoft.com/office/drawing/2014/main" id="{4E335BA4-3470-B645-B6DB-1595FA53A189}"/>
              </a:ext>
            </a:extLst>
          </p:cNvPr>
          <p:cNvSpPr/>
          <p:nvPr/>
        </p:nvSpPr>
        <p:spPr>
          <a:xfrm rot="20642234">
            <a:off x="850623" y="4083755"/>
            <a:ext cx="489473" cy="288000"/>
          </a:xfrm>
          <a:prstGeom prst="rightArrow">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Flèche vers la droite 21">
            <a:extLst>
              <a:ext uri="{FF2B5EF4-FFF2-40B4-BE49-F238E27FC236}">
                <a16:creationId xmlns:a16="http://schemas.microsoft.com/office/drawing/2014/main" id="{07DB3FD3-2E80-164E-B112-9E97CBD905D1}"/>
              </a:ext>
            </a:extLst>
          </p:cNvPr>
          <p:cNvSpPr/>
          <p:nvPr/>
        </p:nvSpPr>
        <p:spPr>
          <a:xfrm rot="20642234">
            <a:off x="874069" y="4540955"/>
            <a:ext cx="489473" cy="288000"/>
          </a:xfrm>
          <a:prstGeom prst="rightArrow">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Flèche vers la droite 22">
            <a:extLst>
              <a:ext uri="{FF2B5EF4-FFF2-40B4-BE49-F238E27FC236}">
                <a16:creationId xmlns:a16="http://schemas.microsoft.com/office/drawing/2014/main" id="{7C752E61-0DA5-2146-AAC6-600BCBDCD7F7}"/>
              </a:ext>
            </a:extLst>
          </p:cNvPr>
          <p:cNvSpPr/>
          <p:nvPr/>
        </p:nvSpPr>
        <p:spPr>
          <a:xfrm rot="11760000">
            <a:off x="7603136" y="4041307"/>
            <a:ext cx="489473" cy="288000"/>
          </a:xfrm>
          <a:prstGeom prst="rightArrow">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Flèche vers la droite 23">
            <a:extLst>
              <a:ext uri="{FF2B5EF4-FFF2-40B4-BE49-F238E27FC236}">
                <a16:creationId xmlns:a16="http://schemas.microsoft.com/office/drawing/2014/main" id="{47CF1B82-91D1-2B4E-9AA8-FC39344AFFD4}"/>
              </a:ext>
            </a:extLst>
          </p:cNvPr>
          <p:cNvSpPr/>
          <p:nvPr/>
        </p:nvSpPr>
        <p:spPr>
          <a:xfrm rot="11760000">
            <a:off x="7102467" y="5533444"/>
            <a:ext cx="489473" cy="288000"/>
          </a:xfrm>
          <a:prstGeom prst="rightArrow">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Flèche vers la droite 26">
            <a:extLst>
              <a:ext uri="{FF2B5EF4-FFF2-40B4-BE49-F238E27FC236}">
                <a16:creationId xmlns:a16="http://schemas.microsoft.com/office/drawing/2014/main" id="{44371043-4CD3-3341-AE55-98681DBBA09B}"/>
              </a:ext>
            </a:extLst>
          </p:cNvPr>
          <p:cNvSpPr/>
          <p:nvPr/>
        </p:nvSpPr>
        <p:spPr>
          <a:xfrm rot="11760000">
            <a:off x="10114023" y="5013497"/>
            <a:ext cx="489473" cy="288000"/>
          </a:xfrm>
          <a:prstGeom prst="rightArrow">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Flèche vers la droite 29">
            <a:extLst>
              <a:ext uri="{FF2B5EF4-FFF2-40B4-BE49-F238E27FC236}">
                <a16:creationId xmlns:a16="http://schemas.microsoft.com/office/drawing/2014/main" id="{F57C73FF-CA52-9243-8C72-A77391DB9C95}"/>
              </a:ext>
            </a:extLst>
          </p:cNvPr>
          <p:cNvSpPr/>
          <p:nvPr/>
        </p:nvSpPr>
        <p:spPr>
          <a:xfrm rot="11760000">
            <a:off x="10129006" y="4559633"/>
            <a:ext cx="489473" cy="288000"/>
          </a:xfrm>
          <a:prstGeom prst="rightArrow">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06DAE2E2-E82E-FC3B-1FFB-85DF0F7A5F17}"/>
              </a:ext>
            </a:extLst>
          </p:cNvPr>
          <p:cNvSpPr txBox="1"/>
          <p:nvPr/>
        </p:nvSpPr>
        <p:spPr>
          <a:xfrm>
            <a:off x="3408910" y="2093029"/>
            <a:ext cx="1299411" cy="246221"/>
          </a:xfrm>
          <a:prstGeom prst="rect">
            <a:avLst/>
          </a:prstGeom>
          <a:solidFill>
            <a:srgbClr val="FF7F0B"/>
          </a:solidFill>
        </p:spPr>
        <p:txBody>
          <a:bodyPr wrap="square" rtlCol="0" anchor="ctr">
            <a:spAutoFit/>
          </a:bodyPr>
          <a:lstStyle/>
          <a:p>
            <a:pPr algn="ctr"/>
            <a:r>
              <a:rPr lang="fr-FR" sz="1000" b="1" dirty="0" err="1"/>
              <a:t>Iterable</a:t>
            </a:r>
            <a:endParaRPr lang="fr-FR" sz="1000" b="1" dirty="0"/>
          </a:p>
        </p:txBody>
      </p:sp>
      <p:sp>
        <p:nvSpPr>
          <p:cNvPr id="9" name="ZoneTexte 8">
            <a:extLst>
              <a:ext uri="{FF2B5EF4-FFF2-40B4-BE49-F238E27FC236}">
                <a16:creationId xmlns:a16="http://schemas.microsoft.com/office/drawing/2014/main" id="{9C064CFB-8DAF-1D3A-0358-936642D32E37}"/>
              </a:ext>
            </a:extLst>
          </p:cNvPr>
          <p:cNvSpPr txBox="1"/>
          <p:nvPr/>
        </p:nvSpPr>
        <p:spPr>
          <a:xfrm>
            <a:off x="3408910" y="3549331"/>
            <a:ext cx="1299411" cy="246221"/>
          </a:xfrm>
          <a:prstGeom prst="rect">
            <a:avLst/>
          </a:prstGeom>
          <a:solidFill>
            <a:srgbClr val="FF7F0B"/>
          </a:solidFill>
        </p:spPr>
        <p:txBody>
          <a:bodyPr wrap="square" rtlCol="0" anchor="ctr">
            <a:spAutoFit/>
          </a:bodyPr>
          <a:lstStyle/>
          <a:p>
            <a:pPr algn="ctr"/>
            <a:r>
              <a:rPr lang="fr-FR" sz="1000" b="1" dirty="0"/>
              <a:t>Queue</a:t>
            </a:r>
          </a:p>
        </p:txBody>
      </p:sp>
      <p:sp>
        <p:nvSpPr>
          <p:cNvPr id="12" name="ZoneTexte 11">
            <a:extLst>
              <a:ext uri="{FF2B5EF4-FFF2-40B4-BE49-F238E27FC236}">
                <a16:creationId xmlns:a16="http://schemas.microsoft.com/office/drawing/2014/main" id="{015595B3-0E61-47E3-3FC0-0C2829297930}"/>
              </a:ext>
            </a:extLst>
          </p:cNvPr>
          <p:cNvSpPr txBox="1"/>
          <p:nvPr/>
        </p:nvSpPr>
        <p:spPr>
          <a:xfrm>
            <a:off x="3408910" y="2828062"/>
            <a:ext cx="1299411" cy="246221"/>
          </a:xfrm>
          <a:prstGeom prst="rect">
            <a:avLst/>
          </a:prstGeom>
          <a:solidFill>
            <a:srgbClr val="FF7F0B"/>
          </a:solidFill>
        </p:spPr>
        <p:txBody>
          <a:bodyPr wrap="square" rtlCol="0" anchor="ctr">
            <a:spAutoFit/>
          </a:bodyPr>
          <a:lstStyle/>
          <a:p>
            <a:pPr algn="ctr"/>
            <a:r>
              <a:rPr lang="fr-FR" sz="1000" b="1" dirty="0"/>
              <a:t>Collection</a:t>
            </a:r>
          </a:p>
        </p:txBody>
      </p:sp>
      <p:sp>
        <p:nvSpPr>
          <p:cNvPr id="13" name="ZoneTexte 12">
            <a:extLst>
              <a:ext uri="{FF2B5EF4-FFF2-40B4-BE49-F238E27FC236}">
                <a16:creationId xmlns:a16="http://schemas.microsoft.com/office/drawing/2014/main" id="{CCF2BE24-CF54-2C6E-D0E0-4BEBE04DFDDD}"/>
              </a:ext>
            </a:extLst>
          </p:cNvPr>
          <p:cNvSpPr txBox="1"/>
          <p:nvPr/>
        </p:nvSpPr>
        <p:spPr>
          <a:xfrm>
            <a:off x="1342366" y="3549331"/>
            <a:ext cx="1299411" cy="246221"/>
          </a:xfrm>
          <a:prstGeom prst="rect">
            <a:avLst/>
          </a:prstGeom>
          <a:solidFill>
            <a:srgbClr val="FF7F0B"/>
          </a:solidFill>
        </p:spPr>
        <p:txBody>
          <a:bodyPr wrap="square" rtlCol="0" anchor="ctr">
            <a:spAutoFit/>
          </a:bodyPr>
          <a:lstStyle/>
          <a:p>
            <a:pPr algn="ctr"/>
            <a:r>
              <a:rPr lang="fr-FR" sz="1000" b="1" dirty="0"/>
              <a:t>List</a:t>
            </a:r>
          </a:p>
        </p:txBody>
      </p:sp>
      <p:sp>
        <p:nvSpPr>
          <p:cNvPr id="14" name="ZoneTexte 13">
            <a:extLst>
              <a:ext uri="{FF2B5EF4-FFF2-40B4-BE49-F238E27FC236}">
                <a16:creationId xmlns:a16="http://schemas.microsoft.com/office/drawing/2014/main" id="{7E51DE2D-E4FD-AE03-951B-5EFBE3DF051B}"/>
              </a:ext>
            </a:extLst>
          </p:cNvPr>
          <p:cNvSpPr txBox="1"/>
          <p:nvPr/>
        </p:nvSpPr>
        <p:spPr>
          <a:xfrm>
            <a:off x="5722342" y="3549331"/>
            <a:ext cx="1299411" cy="246221"/>
          </a:xfrm>
          <a:prstGeom prst="rect">
            <a:avLst/>
          </a:prstGeom>
          <a:solidFill>
            <a:srgbClr val="FF7F0B"/>
          </a:solidFill>
        </p:spPr>
        <p:txBody>
          <a:bodyPr wrap="square" rtlCol="0" anchor="ctr">
            <a:spAutoFit/>
          </a:bodyPr>
          <a:lstStyle/>
          <a:p>
            <a:pPr algn="ctr"/>
            <a:r>
              <a:rPr lang="fr-FR" sz="1000" b="1" dirty="0"/>
              <a:t>Set</a:t>
            </a:r>
          </a:p>
        </p:txBody>
      </p:sp>
      <p:sp>
        <p:nvSpPr>
          <p:cNvPr id="37" name="ZoneTexte 36">
            <a:extLst>
              <a:ext uri="{FF2B5EF4-FFF2-40B4-BE49-F238E27FC236}">
                <a16:creationId xmlns:a16="http://schemas.microsoft.com/office/drawing/2014/main" id="{626126D7-5D13-5954-5B44-949A8B9794B4}"/>
              </a:ext>
            </a:extLst>
          </p:cNvPr>
          <p:cNvSpPr txBox="1"/>
          <p:nvPr/>
        </p:nvSpPr>
        <p:spPr>
          <a:xfrm>
            <a:off x="1553079" y="5459982"/>
            <a:ext cx="1299411" cy="246221"/>
          </a:xfrm>
          <a:prstGeom prst="rect">
            <a:avLst/>
          </a:prstGeom>
          <a:solidFill>
            <a:srgbClr val="00A1EC"/>
          </a:solidFill>
        </p:spPr>
        <p:txBody>
          <a:bodyPr wrap="square" rtlCol="0" anchor="ctr">
            <a:spAutoFit/>
          </a:bodyPr>
          <a:lstStyle/>
          <a:p>
            <a:pPr algn="ctr"/>
            <a:r>
              <a:rPr lang="fr-FR" sz="1000" b="1" dirty="0"/>
              <a:t>Stack</a:t>
            </a:r>
          </a:p>
        </p:txBody>
      </p:sp>
      <p:sp>
        <p:nvSpPr>
          <p:cNvPr id="39" name="ZoneTexte 38">
            <a:extLst>
              <a:ext uri="{FF2B5EF4-FFF2-40B4-BE49-F238E27FC236}">
                <a16:creationId xmlns:a16="http://schemas.microsoft.com/office/drawing/2014/main" id="{2268D1D5-CEBB-CBC4-4BBB-978A2379A284}"/>
              </a:ext>
            </a:extLst>
          </p:cNvPr>
          <p:cNvSpPr txBox="1"/>
          <p:nvPr/>
        </p:nvSpPr>
        <p:spPr>
          <a:xfrm>
            <a:off x="3408910" y="5459982"/>
            <a:ext cx="1299411" cy="246221"/>
          </a:xfrm>
          <a:prstGeom prst="rect">
            <a:avLst/>
          </a:prstGeom>
          <a:solidFill>
            <a:srgbClr val="00A1EC"/>
          </a:solidFill>
        </p:spPr>
        <p:txBody>
          <a:bodyPr wrap="square" rtlCol="0" anchor="ctr">
            <a:spAutoFit/>
          </a:bodyPr>
          <a:lstStyle/>
          <a:p>
            <a:pPr algn="ctr"/>
            <a:r>
              <a:rPr lang="fr-FR" sz="1000" b="1" dirty="0" err="1"/>
              <a:t>ArrayDeque</a:t>
            </a:r>
            <a:endParaRPr lang="fr-FR" sz="1000" b="1" dirty="0"/>
          </a:p>
        </p:txBody>
      </p:sp>
      <p:sp>
        <p:nvSpPr>
          <p:cNvPr id="40" name="ZoneTexte 39">
            <a:extLst>
              <a:ext uri="{FF2B5EF4-FFF2-40B4-BE49-F238E27FC236}">
                <a16:creationId xmlns:a16="http://schemas.microsoft.com/office/drawing/2014/main" id="{6BE3DD9D-577F-C3F5-D9A6-3351CB2F6035}"/>
              </a:ext>
            </a:extLst>
          </p:cNvPr>
          <p:cNvSpPr txBox="1"/>
          <p:nvPr/>
        </p:nvSpPr>
        <p:spPr>
          <a:xfrm>
            <a:off x="5722342" y="5479377"/>
            <a:ext cx="1299411" cy="246221"/>
          </a:xfrm>
          <a:prstGeom prst="rect">
            <a:avLst/>
          </a:prstGeom>
          <a:solidFill>
            <a:srgbClr val="00A1EC"/>
          </a:solidFill>
        </p:spPr>
        <p:txBody>
          <a:bodyPr wrap="square" rtlCol="0" anchor="ctr">
            <a:spAutoFit/>
          </a:bodyPr>
          <a:lstStyle/>
          <a:p>
            <a:pPr algn="ctr"/>
            <a:r>
              <a:rPr lang="fr-FR" sz="1000" b="1" dirty="0" err="1"/>
              <a:t>TreeSet</a:t>
            </a:r>
            <a:endParaRPr lang="fr-FR" sz="1000" b="1" dirty="0"/>
          </a:p>
        </p:txBody>
      </p:sp>
      <p:cxnSp>
        <p:nvCxnSpPr>
          <p:cNvPr id="43" name="Connecteur droit avec flèche 42">
            <a:extLst>
              <a:ext uri="{FF2B5EF4-FFF2-40B4-BE49-F238E27FC236}">
                <a16:creationId xmlns:a16="http://schemas.microsoft.com/office/drawing/2014/main" id="{BA978182-48C0-C206-F455-E8590C0597D2}"/>
              </a:ext>
            </a:extLst>
          </p:cNvPr>
          <p:cNvCxnSpPr>
            <a:cxnSpLocks/>
            <a:stCxn id="12" idx="0"/>
            <a:endCxn id="7" idx="2"/>
          </p:cNvCxnSpPr>
          <p:nvPr/>
        </p:nvCxnSpPr>
        <p:spPr>
          <a:xfrm flipV="1">
            <a:off x="4058616" y="2339250"/>
            <a:ext cx="0" cy="4888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eur droit avec flèche 45">
            <a:extLst>
              <a:ext uri="{FF2B5EF4-FFF2-40B4-BE49-F238E27FC236}">
                <a16:creationId xmlns:a16="http://schemas.microsoft.com/office/drawing/2014/main" id="{1AF9D58E-B4A4-76B6-B443-38744B768792}"/>
              </a:ext>
            </a:extLst>
          </p:cNvPr>
          <p:cNvCxnSpPr>
            <a:cxnSpLocks/>
            <a:stCxn id="9" idx="0"/>
            <a:endCxn id="12" idx="2"/>
          </p:cNvCxnSpPr>
          <p:nvPr/>
        </p:nvCxnSpPr>
        <p:spPr>
          <a:xfrm flipV="1">
            <a:off x="4058616" y="3074283"/>
            <a:ext cx="0" cy="47504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onnecteur droit avec flèche 48">
            <a:extLst>
              <a:ext uri="{FF2B5EF4-FFF2-40B4-BE49-F238E27FC236}">
                <a16:creationId xmlns:a16="http://schemas.microsoft.com/office/drawing/2014/main" id="{38F7BA2A-05F7-45DA-7246-34B715D18F94}"/>
              </a:ext>
            </a:extLst>
          </p:cNvPr>
          <p:cNvCxnSpPr>
            <a:cxnSpLocks/>
          </p:cNvCxnSpPr>
          <p:nvPr/>
        </p:nvCxnSpPr>
        <p:spPr>
          <a:xfrm flipV="1">
            <a:off x="4483370" y="3794550"/>
            <a:ext cx="0" cy="47504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ZoneTexte 37">
            <a:extLst>
              <a:ext uri="{FF2B5EF4-FFF2-40B4-BE49-F238E27FC236}">
                <a16:creationId xmlns:a16="http://schemas.microsoft.com/office/drawing/2014/main" id="{E66F2E9C-EED0-DC49-4D4C-26D1612F8E1A}"/>
              </a:ext>
            </a:extLst>
          </p:cNvPr>
          <p:cNvSpPr txBox="1"/>
          <p:nvPr/>
        </p:nvSpPr>
        <p:spPr>
          <a:xfrm>
            <a:off x="3775691" y="4170084"/>
            <a:ext cx="1299411" cy="246221"/>
          </a:xfrm>
          <a:prstGeom prst="rect">
            <a:avLst/>
          </a:prstGeom>
          <a:solidFill>
            <a:srgbClr val="00A1EC"/>
          </a:solidFill>
        </p:spPr>
        <p:txBody>
          <a:bodyPr wrap="square" rtlCol="0" anchor="ctr">
            <a:spAutoFit/>
          </a:bodyPr>
          <a:lstStyle/>
          <a:p>
            <a:pPr algn="ctr"/>
            <a:r>
              <a:rPr lang="fr-FR" sz="1000" b="1" dirty="0" err="1"/>
              <a:t>PriorityQueue</a:t>
            </a:r>
            <a:endParaRPr lang="fr-FR" sz="1000" b="1" dirty="0"/>
          </a:p>
        </p:txBody>
      </p:sp>
      <p:cxnSp>
        <p:nvCxnSpPr>
          <p:cNvPr id="50" name="Connecteur droit avec flèche 49">
            <a:extLst>
              <a:ext uri="{FF2B5EF4-FFF2-40B4-BE49-F238E27FC236}">
                <a16:creationId xmlns:a16="http://schemas.microsoft.com/office/drawing/2014/main" id="{5A63680B-2F74-1ADB-F8F6-E707D2C6F2BC}"/>
              </a:ext>
            </a:extLst>
          </p:cNvPr>
          <p:cNvCxnSpPr>
            <a:cxnSpLocks/>
          </p:cNvCxnSpPr>
          <p:nvPr/>
        </p:nvCxnSpPr>
        <p:spPr>
          <a:xfrm flipV="1">
            <a:off x="1421605" y="3794550"/>
            <a:ext cx="0" cy="132610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Connecteur droit avec flèche 51">
            <a:extLst>
              <a:ext uri="{FF2B5EF4-FFF2-40B4-BE49-F238E27FC236}">
                <a16:creationId xmlns:a16="http://schemas.microsoft.com/office/drawing/2014/main" id="{1283451B-DA36-C2D9-6539-5897C1262A51}"/>
              </a:ext>
            </a:extLst>
          </p:cNvPr>
          <p:cNvCxnSpPr>
            <a:cxnSpLocks/>
            <a:stCxn id="37" idx="0"/>
            <a:endCxn id="36" idx="2"/>
          </p:cNvCxnSpPr>
          <p:nvPr/>
        </p:nvCxnSpPr>
        <p:spPr>
          <a:xfrm flipV="1">
            <a:off x="2202785" y="5228541"/>
            <a:ext cx="0" cy="2314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Connecteur droit avec flèche 54">
            <a:extLst>
              <a:ext uri="{FF2B5EF4-FFF2-40B4-BE49-F238E27FC236}">
                <a16:creationId xmlns:a16="http://schemas.microsoft.com/office/drawing/2014/main" id="{614C1AD4-6E4F-7FCA-F894-5C2B3C7282F0}"/>
              </a:ext>
            </a:extLst>
          </p:cNvPr>
          <p:cNvCxnSpPr>
            <a:cxnSpLocks/>
          </p:cNvCxnSpPr>
          <p:nvPr/>
        </p:nvCxnSpPr>
        <p:spPr>
          <a:xfrm flipH="1">
            <a:off x="8689308" y="4595178"/>
            <a:ext cx="208945"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 name="Connecteur droit avec flèche 57">
            <a:extLst>
              <a:ext uri="{FF2B5EF4-FFF2-40B4-BE49-F238E27FC236}">
                <a16:creationId xmlns:a16="http://schemas.microsoft.com/office/drawing/2014/main" id="{F1F9B99E-7317-7B10-95B4-CB6B6F7BBA79}"/>
              </a:ext>
            </a:extLst>
          </p:cNvPr>
          <p:cNvCxnSpPr>
            <a:cxnSpLocks/>
          </p:cNvCxnSpPr>
          <p:nvPr/>
        </p:nvCxnSpPr>
        <p:spPr>
          <a:xfrm flipH="1">
            <a:off x="8689308" y="5100839"/>
            <a:ext cx="208945"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Connecteur droit avec flèche 58">
            <a:extLst>
              <a:ext uri="{FF2B5EF4-FFF2-40B4-BE49-F238E27FC236}">
                <a16:creationId xmlns:a16="http://schemas.microsoft.com/office/drawing/2014/main" id="{D077D8E2-43F5-F8E1-4D75-9C1D0B40C260}"/>
              </a:ext>
            </a:extLst>
          </p:cNvPr>
          <p:cNvCxnSpPr>
            <a:cxnSpLocks/>
          </p:cNvCxnSpPr>
          <p:nvPr/>
        </p:nvCxnSpPr>
        <p:spPr>
          <a:xfrm flipH="1">
            <a:off x="8689308" y="5608444"/>
            <a:ext cx="208945"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0" name="Connecteur droit avec flèche 59">
            <a:extLst>
              <a:ext uri="{FF2B5EF4-FFF2-40B4-BE49-F238E27FC236}">
                <a16:creationId xmlns:a16="http://schemas.microsoft.com/office/drawing/2014/main" id="{41387188-6034-A11B-6648-B230F9FABC26}"/>
              </a:ext>
            </a:extLst>
          </p:cNvPr>
          <p:cNvCxnSpPr>
            <a:cxnSpLocks/>
          </p:cNvCxnSpPr>
          <p:nvPr/>
        </p:nvCxnSpPr>
        <p:spPr>
          <a:xfrm flipV="1">
            <a:off x="3613086" y="3794550"/>
            <a:ext cx="0" cy="11877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Connecteur droit avec flèche 61">
            <a:extLst>
              <a:ext uri="{FF2B5EF4-FFF2-40B4-BE49-F238E27FC236}">
                <a16:creationId xmlns:a16="http://schemas.microsoft.com/office/drawing/2014/main" id="{1D23F194-5778-1FF8-74C8-E070E1FD8C25}"/>
              </a:ext>
            </a:extLst>
          </p:cNvPr>
          <p:cNvCxnSpPr>
            <a:cxnSpLocks/>
          </p:cNvCxnSpPr>
          <p:nvPr/>
        </p:nvCxnSpPr>
        <p:spPr>
          <a:xfrm flipV="1">
            <a:off x="4058616" y="5228541"/>
            <a:ext cx="0" cy="2314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ZoneTexte 15">
            <a:extLst>
              <a:ext uri="{FF2B5EF4-FFF2-40B4-BE49-F238E27FC236}">
                <a16:creationId xmlns:a16="http://schemas.microsoft.com/office/drawing/2014/main" id="{0420F9F9-6D05-9FA9-62F0-BC71FEBD2CF7}"/>
              </a:ext>
            </a:extLst>
          </p:cNvPr>
          <p:cNvSpPr txBox="1"/>
          <p:nvPr/>
        </p:nvSpPr>
        <p:spPr>
          <a:xfrm>
            <a:off x="3408910" y="4968905"/>
            <a:ext cx="1299411" cy="246221"/>
          </a:xfrm>
          <a:prstGeom prst="rect">
            <a:avLst/>
          </a:prstGeom>
          <a:solidFill>
            <a:srgbClr val="FF7F0B"/>
          </a:solidFill>
        </p:spPr>
        <p:txBody>
          <a:bodyPr wrap="square" rtlCol="0" anchor="ctr">
            <a:spAutoFit/>
          </a:bodyPr>
          <a:lstStyle/>
          <a:p>
            <a:pPr algn="ctr"/>
            <a:r>
              <a:rPr lang="fr-FR" sz="1000" b="1" dirty="0" err="1"/>
              <a:t>Deque</a:t>
            </a:r>
            <a:endParaRPr lang="fr-FR" sz="1000" b="1" dirty="0"/>
          </a:p>
        </p:txBody>
      </p:sp>
      <p:cxnSp>
        <p:nvCxnSpPr>
          <p:cNvPr id="64" name="Connecteur droit avec flèche 63">
            <a:extLst>
              <a:ext uri="{FF2B5EF4-FFF2-40B4-BE49-F238E27FC236}">
                <a16:creationId xmlns:a16="http://schemas.microsoft.com/office/drawing/2014/main" id="{ACF1744F-6683-A33A-495B-19ADFB7890E1}"/>
              </a:ext>
            </a:extLst>
          </p:cNvPr>
          <p:cNvCxnSpPr>
            <a:cxnSpLocks/>
          </p:cNvCxnSpPr>
          <p:nvPr/>
        </p:nvCxnSpPr>
        <p:spPr>
          <a:xfrm flipV="1">
            <a:off x="6093868" y="3794550"/>
            <a:ext cx="0" cy="132610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Connecteur droit avec flèche 64">
            <a:extLst>
              <a:ext uri="{FF2B5EF4-FFF2-40B4-BE49-F238E27FC236}">
                <a16:creationId xmlns:a16="http://schemas.microsoft.com/office/drawing/2014/main" id="{EC3D51BA-B1F1-DC40-5A72-9A1812115AB3}"/>
              </a:ext>
            </a:extLst>
          </p:cNvPr>
          <p:cNvCxnSpPr>
            <a:cxnSpLocks/>
          </p:cNvCxnSpPr>
          <p:nvPr/>
        </p:nvCxnSpPr>
        <p:spPr>
          <a:xfrm flipH="1">
            <a:off x="6093868" y="4151837"/>
            <a:ext cx="208945"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6" name="Connecteur droit avec flèche 65">
            <a:extLst>
              <a:ext uri="{FF2B5EF4-FFF2-40B4-BE49-F238E27FC236}">
                <a16:creationId xmlns:a16="http://schemas.microsoft.com/office/drawing/2014/main" id="{BD09C3A8-3E0E-EA78-1881-33B249A31FAD}"/>
              </a:ext>
            </a:extLst>
          </p:cNvPr>
          <p:cNvCxnSpPr>
            <a:cxnSpLocks/>
          </p:cNvCxnSpPr>
          <p:nvPr/>
        </p:nvCxnSpPr>
        <p:spPr>
          <a:xfrm flipH="1">
            <a:off x="6093868" y="4613048"/>
            <a:ext cx="208945"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8" name="ZoneTexte 17">
            <a:extLst>
              <a:ext uri="{FF2B5EF4-FFF2-40B4-BE49-F238E27FC236}">
                <a16:creationId xmlns:a16="http://schemas.microsoft.com/office/drawing/2014/main" id="{B1CF76AA-8FAC-8451-7295-081A14B9BA5A}"/>
              </a:ext>
            </a:extLst>
          </p:cNvPr>
          <p:cNvSpPr txBox="1"/>
          <p:nvPr/>
        </p:nvSpPr>
        <p:spPr>
          <a:xfrm>
            <a:off x="5722342" y="4959341"/>
            <a:ext cx="1299411" cy="246221"/>
          </a:xfrm>
          <a:prstGeom prst="rect">
            <a:avLst/>
          </a:prstGeom>
          <a:solidFill>
            <a:srgbClr val="FF7F0B"/>
          </a:solidFill>
        </p:spPr>
        <p:txBody>
          <a:bodyPr wrap="square" rtlCol="0" anchor="ctr">
            <a:spAutoFit/>
          </a:bodyPr>
          <a:lstStyle/>
          <a:p>
            <a:pPr algn="ctr"/>
            <a:r>
              <a:rPr lang="fr-FR" sz="1000" b="1" dirty="0" err="1"/>
              <a:t>SortedSet</a:t>
            </a:r>
            <a:endParaRPr lang="fr-FR" sz="1000" b="1" dirty="0"/>
          </a:p>
        </p:txBody>
      </p:sp>
      <p:sp>
        <p:nvSpPr>
          <p:cNvPr id="41" name="ZoneTexte 40">
            <a:extLst>
              <a:ext uri="{FF2B5EF4-FFF2-40B4-BE49-F238E27FC236}">
                <a16:creationId xmlns:a16="http://schemas.microsoft.com/office/drawing/2014/main" id="{3A740CDB-0E0B-1127-E3FE-91A883675BC6}"/>
              </a:ext>
            </a:extLst>
          </p:cNvPr>
          <p:cNvSpPr txBox="1"/>
          <p:nvPr/>
        </p:nvSpPr>
        <p:spPr>
          <a:xfrm>
            <a:off x="6240186" y="3999203"/>
            <a:ext cx="1299411" cy="246221"/>
          </a:xfrm>
          <a:prstGeom prst="rect">
            <a:avLst/>
          </a:prstGeom>
          <a:solidFill>
            <a:srgbClr val="00A1EC"/>
          </a:solidFill>
        </p:spPr>
        <p:txBody>
          <a:bodyPr wrap="square" rtlCol="0" anchor="ctr">
            <a:spAutoFit/>
          </a:bodyPr>
          <a:lstStyle/>
          <a:p>
            <a:pPr algn="ctr"/>
            <a:r>
              <a:rPr lang="fr-FR" sz="1000" b="1" dirty="0" err="1"/>
              <a:t>HashSet</a:t>
            </a:r>
            <a:endParaRPr lang="fr-FR" sz="1000" b="1" dirty="0"/>
          </a:p>
        </p:txBody>
      </p:sp>
      <p:sp>
        <p:nvSpPr>
          <p:cNvPr id="42" name="ZoneTexte 41">
            <a:extLst>
              <a:ext uri="{FF2B5EF4-FFF2-40B4-BE49-F238E27FC236}">
                <a16:creationId xmlns:a16="http://schemas.microsoft.com/office/drawing/2014/main" id="{DBB1BAF8-F450-BCD5-2FFC-871F46ACB700}"/>
              </a:ext>
            </a:extLst>
          </p:cNvPr>
          <p:cNvSpPr txBox="1"/>
          <p:nvPr/>
        </p:nvSpPr>
        <p:spPr>
          <a:xfrm>
            <a:off x="6240186" y="4476866"/>
            <a:ext cx="1299411" cy="246221"/>
          </a:xfrm>
          <a:prstGeom prst="rect">
            <a:avLst/>
          </a:prstGeom>
          <a:solidFill>
            <a:srgbClr val="00A1EC"/>
          </a:solidFill>
        </p:spPr>
        <p:txBody>
          <a:bodyPr wrap="square" rtlCol="0" anchor="ctr">
            <a:spAutoFit/>
          </a:bodyPr>
          <a:lstStyle/>
          <a:p>
            <a:pPr algn="ctr"/>
            <a:r>
              <a:rPr lang="fr-FR" sz="1000" b="1" dirty="0" err="1"/>
              <a:t>LinkedHashSet</a:t>
            </a:r>
            <a:endParaRPr lang="fr-FR" sz="1000" b="1" dirty="0"/>
          </a:p>
        </p:txBody>
      </p:sp>
      <p:cxnSp>
        <p:nvCxnSpPr>
          <p:cNvPr id="67" name="Connecteur droit avec flèche 66">
            <a:extLst>
              <a:ext uri="{FF2B5EF4-FFF2-40B4-BE49-F238E27FC236}">
                <a16:creationId xmlns:a16="http://schemas.microsoft.com/office/drawing/2014/main" id="{3C3FC26D-6AEA-2517-FD6D-2A3237658AB4}"/>
              </a:ext>
            </a:extLst>
          </p:cNvPr>
          <p:cNvCxnSpPr>
            <a:cxnSpLocks/>
          </p:cNvCxnSpPr>
          <p:nvPr/>
        </p:nvCxnSpPr>
        <p:spPr>
          <a:xfrm flipV="1">
            <a:off x="6360658" y="5228541"/>
            <a:ext cx="0" cy="2314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cteur droit avec flèche 72">
            <a:extLst>
              <a:ext uri="{FF2B5EF4-FFF2-40B4-BE49-F238E27FC236}">
                <a16:creationId xmlns:a16="http://schemas.microsoft.com/office/drawing/2014/main" id="{447DC922-BA4A-C02A-D5E1-12009DE7CA15}"/>
              </a:ext>
            </a:extLst>
          </p:cNvPr>
          <p:cNvCxnSpPr>
            <a:cxnSpLocks/>
          </p:cNvCxnSpPr>
          <p:nvPr/>
        </p:nvCxnSpPr>
        <p:spPr>
          <a:xfrm flipH="1">
            <a:off x="1421605" y="4150510"/>
            <a:ext cx="208945"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4" name="Connecteur droit avec flèche 73">
            <a:extLst>
              <a:ext uri="{FF2B5EF4-FFF2-40B4-BE49-F238E27FC236}">
                <a16:creationId xmlns:a16="http://schemas.microsoft.com/office/drawing/2014/main" id="{18A3DF8E-D4C3-2735-D5DF-8BAC9A39BD36}"/>
              </a:ext>
            </a:extLst>
          </p:cNvPr>
          <p:cNvCxnSpPr>
            <a:cxnSpLocks/>
          </p:cNvCxnSpPr>
          <p:nvPr/>
        </p:nvCxnSpPr>
        <p:spPr>
          <a:xfrm flipH="1">
            <a:off x="1421605" y="4611721"/>
            <a:ext cx="208945"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Connecteur droit avec flèche 74">
            <a:extLst>
              <a:ext uri="{FF2B5EF4-FFF2-40B4-BE49-F238E27FC236}">
                <a16:creationId xmlns:a16="http://schemas.microsoft.com/office/drawing/2014/main" id="{1ECC1C60-2201-5308-84B2-9A81FB54D18D}"/>
              </a:ext>
            </a:extLst>
          </p:cNvPr>
          <p:cNvCxnSpPr>
            <a:cxnSpLocks/>
          </p:cNvCxnSpPr>
          <p:nvPr/>
        </p:nvCxnSpPr>
        <p:spPr>
          <a:xfrm flipH="1">
            <a:off x="1421605" y="5119326"/>
            <a:ext cx="208945"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ZoneTexte 30"/>
          <p:cNvSpPr txBox="1"/>
          <p:nvPr/>
        </p:nvSpPr>
        <p:spPr>
          <a:xfrm>
            <a:off x="8784402" y="4476866"/>
            <a:ext cx="1299411" cy="246221"/>
          </a:xfrm>
          <a:prstGeom prst="rect">
            <a:avLst/>
          </a:prstGeom>
          <a:solidFill>
            <a:srgbClr val="00A1EC"/>
          </a:solidFill>
        </p:spPr>
        <p:txBody>
          <a:bodyPr wrap="square" rtlCol="0" anchor="ctr">
            <a:spAutoFit/>
          </a:bodyPr>
          <a:lstStyle/>
          <a:p>
            <a:pPr algn="ctr"/>
            <a:r>
              <a:rPr lang="fr-FR" sz="1000" b="1" dirty="0" err="1"/>
              <a:t>HashMap</a:t>
            </a:r>
            <a:endParaRPr lang="fr-FR" sz="1000" b="1" dirty="0"/>
          </a:p>
        </p:txBody>
      </p:sp>
      <p:sp>
        <p:nvSpPr>
          <p:cNvPr id="32" name="ZoneTexte 31"/>
          <p:cNvSpPr txBox="1"/>
          <p:nvPr/>
        </p:nvSpPr>
        <p:spPr>
          <a:xfrm>
            <a:off x="8784402" y="4982320"/>
            <a:ext cx="1299411" cy="246221"/>
          </a:xfrm>
          <a:prstGeom prst="rect">
            <a:avLst/>
          </a:prstGeom>
          <a:solidFill>
            <a:srgbClr val="00A1EC"/>
          </a:solidFill>
        </p:spPr>
        <p:txBody>
          <a:bodyPr wrap="square" rtlCol="0" anchor="ctr">
            <a:spAutoFit/>
          </a:bodyPr>
          <a:lstStyle/>
          <a:p>
            <a:pPr algn="ctr"/>
            <a:r>
              <a:rPr lang="fr-FR" sz="1000" b="1" dirty="0" err="1"/>
              <a:t>LinkedHashMap</a:t>
            </a:r>
            <a:endParaRPr lang="fr-FR" sz="1000" b="1" dirty="0"/>
          </a:p>
        </p:txBody>
      </p:sp>
      <p:sp>
        <p:nvSpPr>
          <p:cNvPr id="34" name="ZoneTexte 33"/>
          <p:cNvSpPr txBox="1"/>
          <p:nvPr/>
        </p:nvSpPr>
        <p:spPr>
          <a:xfrm>
            <a:off x="8784402" y="5479377"/>
            <a:ext cx="1299411" cy="246221"/>
          </a:xfrm>
          <a:prstGeom prst="rect">
            <a:avLst/>
          </a:prstGeom>
          <a:solidFill>
            <a:srgbClr val="00A1EC"/>
          </a:solidFill>
        </p:spPr>
        <p:txBody>
          <a:bodyPr wrap="square" rtlCol="0" anchor="ctr">
            <a:spAutoFit/>
          </a:bodyPr>
          <a:lstStyle/>
          <a:p>
            <a:pPr algn="ctr"/>
            <a:r>
              <a:rPr lang="fr-FR" sz="1000" b="1" dirty="0" err="1"/>
              <a:t>HashTable</a:t>
            </a:r>
            <a:endParaRPr lang="fr-FR" sz="1000" b="1" dirty="0"/>
          </a:p>
        </p:txBody>
      </p:sp>
      <p:sp>
        <p:nvSpPr>
          <p:cNvPr id="19" name="ZoneTexte 18">
            <a:extLst>
              <a:ext uri="{FF2B5EF4-FFF2-40B4-BE49-F238E27FC236}">
                <a16:creationId xmlns:a16="http://schemas.microsoft.com/office/drawing/2014/main" id="{C50DF983-3932-241E-22CF-AF1136EF83A5}"/>
              </a:ext>
            </a:extLst>
          </p:cNvPr>
          <p:cNvSpPr txBox="1"/>
          <p:nvPr/>
        </p:nvSpPr>
        <p:spPr>
          <a:xfrm>
            <a:off x="1553079" y="4026994"/>
            <a:ext cx="1299411" cy="246221"/>
          </a:xfrm>
          <a:prstGeom prst="rect">
            <a:avLst/>
          </a:prstGeom>
          <a:solidFill>
            <a:srgbClr val="00A1EC"/>
          </a:solidFill>
        </p:spPr>
        <p:txBody>
          <a:bodyPr wrap="square" rtlCol="0" anchor="ctr">
            <a:spAutoFit/>
          </a:bodyPr>
          <a:lstStyle/>
          <a:p>
            <a:pPr algn="ctr"/>
            <a:r>
              <a:rPr lang="fr-FR" sz="1000" b="1" dirty="0" err="1"/>
              <a:t>ArrayList</a:t>
            </a:r>
            <a:endParaRPr lang="fr-FR" sz="1000" b="1" dirty="0"/>
          </a:p>
        </p:txBody>
      </p:sp>
      <p:sp>
        <p:nvSpPr>
          <p:cNvPr id="35" name="ZoneTexte 34">
            <a:extLst>
              <a:ext uri="{FF2B5EF4-FFF2-40B4-BE49-F238E27FC236}">
                <a16:creationId xmlns:a16="http://schemas.microsoft.com/office/drawing/2014/main" id="{3045D8D7-3CFE-AD9C-DA71-73089B5DAAFA}"/>
              </a:ext>
            </a:extLst>
          </p:cNvPr>
          <p:cNvSpPr txBox="1"/>
          <p:nvPr/>
        </p:nvSpPr>
        <p:spPr>
          <a:xfrm>
            <a:off x="1553079" y="4504657"/>
            <a:ext cx="1299411" cy="246221"/>
          </a:xfrm>
          <a:prstGeom prst="rect">
            <a:avLst/>
          </a:prstGeom>
          <a:solidFill>
            <a:srgbClr val="00A1EC"/>
          </a:solidFill>
        </p:spPr>
        <p:txBody>
          <a:bodyPr wrap="square" rtlCol="0" anchor="ctr">
            <a:spAutoFit/>
          </a:bodyPr>
          <a:lstStyle/>
          <a:p>
            <a:pPr algn="ctr"/>
            <a:r>
              <a:rPr lang="fr-FR" sz="1000" b="1" dirty="0" err="1"/>
              <a:t>LinkedList</a:t>
            </a:r>
            <a:endParaRPr lang="fr-FR" sz="1000" b="1" dirty="0"/>
          </a:p>
        </p:txBody>
      </p:sp>
      <p:sp>
        <p:nvSpPr>
          <p:cNvPr id="36" name="ZoneTexte 35">
            <a:extLst>
              <a:ext uri="{FF2B5EF4-FFF2-40B4-BE49-F238E27FC236}">
                <a16:creationId xmlns:a16="http://schemas.microsoft.com/office/drawing/2014/main" id="{ABA162DF-922E-07DE-0492-83920829776B}"/>
              </a:ext>
            </a:extLst>
          </p:cNvPr>
          <p:cNvSpPr txBox="1"/>
          <p:nvPr/>
        </p:nvSpPr>
        <p:spPr>
          <a:xfrm>
            <a:off x="1553079" y="4982320"/>
            <a:ext cx="1299411" cy="246221"/>
          </a:xfrm>
          <a:prstGeom prst="rect">
            <a:avLst/>
          </a:prstGeom>
          <a:solidFill>
            <a:srgbClr val="00A1EC"/>
          </a:solidFill>
        </p:spPr>
        <p:txBody>
          <a:bodyPr wrap="square" rtlCol="0" anchor="ctr">
            <a:spAutoFit/>
          </a:bodyPr>
          <a:lstStyle/>
          <a:p>
            <a:pPr algn="ctr"/>
            <a:r>
              <a:rPr lang="fr-FR" sz="1000" b="1" dirty="0" err="1"/>
              <a:t>Vector</a:t>
            </a:r>
            <a:endParaRPr lang="fr-FR" sz="1000" b="1" dirty="0"/>
          </a:p>
        </p:txBody>
      </p:sp>
      <p:sp>
        <p:nvSpPr>
          <p:cNvPr id="79" name="Parenthèse ouvrante 78">
            <a:extLst>
              <a:ext uri="{FF2B5EF4-FFF2-40B4-BE49-F238E27FC236}">
                <a16:creationId xmlns:a16="http://schemas.microsoft.com/office/drawing/2014/main" id="{9FBF7583-A230-4123-F213-90A6A038E5E7}"/>
              </a:ext>
            </a:extLst>
          </p:cNvPr>
          <p:cNvSpPr/>
          <p:nvPr/>
        </p:nvSpPr>
        <p:spPr>
          <a:xfrm>
            <a:off x="8339265" y="2061150"/>
            <a:ext cx="51125" cy="3740935"/>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80" name="Parenthèse fermante 79">
            <a:extLst>
              <a:ext uri="{FF2B5EF4-FFF2-40B4-BE49-F238E27FC236}">
                <a16:creationId xmlns:a16="http://schemas.microsoft.com/office/drawing/2014/main" id="{CA6CB26B-B697-3AA5-3C0D-5CB007982587}"/>
              </a:ext>
            </a:extLst>
          </p:cNvPr>
          <p:cNvSpPr/>
          <p:nvPr/>
        </p:nvSpPr>
        <p:spPr>
          <a:xfrm>
            <a:off x="10666628" y="2061150"/>
            <a:ext cx="51901" cy="3742776"/>
          </a:xfrm>
          <a:prstGeom prst="righ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81" name="Flèche vers la droite 80">
            <a:extLst>
              <a:ext uri="{FF2B5EF4-FFF2-40B4-BE49-F238E27FC236}">
                <a16:creationId xmlns:a16="http://schemas.microsoft.com/office/drawing/2014/main" id="{5CF1313F-6D69-29CA-3B39-40F3F8F1530A}"/>
              </a:ext>
            </a:extLst>
          </p:cNvPr>
          <p:cNvSpPr/>
          <p:nvPr/>
        </p:nvSpPr>
        <p:spPr>
          <a:xfrm rot="11760000">
            <a:off x="10311382" y="4092513"/>
            <a:ext cx="489473" cy="288000"/>
          </a:xfrm>
          <a:prstGeom prst="rightArrow">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numéro de diapositive 2">
            <a:extLst>
              <a:ext uri="{FF2B5EF4-FFF2-40B4-BE49-F238E27FC236}">
                <a16:creationId xmlns:a16="http://schemas.microsoft.com/office/drawing/2014/main" id="{FE5BE848-EB01-A4B7-545D-5DC61EEAC858}"/>
              </a:ext>
            </a:extLst>
          </p:cNvPr>
          <p:cNvSpPr>
            <a:spLocks noGrp="1"/>
          </p:cNvSpPr>
          <p:nvPr>
            <p:ph type="sldNum" sz="quarter" idx="4"/>
          </p:nvPr>
        </p:nvSpPr>
        <p:spPr/>
        <p:txBody>
          <a:bodyPr/>
          <a:lstStyle/>
          <a:p>
            <a:fld id="{33C783E2-4793-4F48-A271-51A73CC37D74}" type="slidenum">
              <a:rPr lang="fr-FR" smtClean="0"/>
              <a:t>33</a:t>
            </a:fld>
            <a:endParaRPr lang="fr-FR"/>
          </a:p>
        </p:txBody>
      </p:sp>
    </p:spTree>
    <p:extLst>
      <p:ext uri="{BB962C8B-B14F-4D97-AF65-F5344CB8AC3E}">
        <p14:creationId xmlns:p14="http://schemas.microsoft.com/office/powerpoint/2010/main" val="921704621"/>
      </p:ext>
    </p:extLst>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par>
                          <p:cTn id="8" fill="hold">
                            <p:stCondLst>
                              <p:cond delay="500"/>
                            </p:stCondLst>
                            <p:childTnLst>
                              <p:par>
                                <p:cTn id="9" presetID="22" presetClass="entr" presetSubtype="4" fill="hold" grpId="0" nodeType="afterEffect">
                                  <p:stCondLst>
                                    <p:cond delay="1000"/>
                                  </p:stCondLst>
                                  <p:childTnLst>
                                    <p:set>
                                      <p:cBhvr>
                                        <p:cTn id="10" dur="1" fill="hold">
                                          <p:stCondLst>
                                            <p:cond delay="0"/>
                                          </p:stCondLst>
                                        </p:cTn>
                                        <p:tgtEl>
                                          <p:spTgt spid="22"/>
                                        </p:tgtEl>
                                        <p:attrNameLst>
                                          <p:attrName>style.visibility</p:attrName>
                                        </p:attrNameLst>
                                      </p:cBhvr>
                                      <p:to>
                                        <p:strVal val="visible"/>
                                      </p:to>
                                    </p:set>
                                    <p:animEffect transition="in" filter="wipe(down)">
                                      <p:cBhvr>
                                        <p:cTn id="11" dur="500"/>
                                        <p:tgtEl>
                                          <p:spTgt spid="22"/>
                                        </p:tgtEl>
                                      </p:cBhvr>
                                    </p:animEffect>
                                  </p:childTnLst>
                                </p:cTn>
                              </p:par>
                            </p:childTnLst>
                          </p:cTn>
                        </p:par>
                        <p:par>
                          <p:cTn id="12" fill="hold">
                            <p:stCondLst>
                              <p:cond delay="2000"/>
                            </p:stCondLst>
                            <p:childTnLst>
                              <p:par>
                                <p:cTn id="13" presetID="22" presetClass="entr" presetSubtype="4" fill="hold" grpId="0" nodeType="afterEffect">
                                  <p:stCondLst>
                                    <p:cond delay="1000"/>
                                  </p:stCondLst>
                                  <p:childTnLst>
                                    <p:set>
                                      <p:cBhvr>
                                        <p:cTn id="14" dur="1" fill="hold">
                                          <p:stCondLst>
                                            <p:cond delay="0"/>
                                          </p:stCondLst>
                                        </p:cTn>
                                        <p:tgtEl>
                                          <p:spTgt spid="24"/>
                                        </p:tgtEl>
                                        <p:attrNameLst>
                                          <p:attrName>style.visibility</p:attrName>
                                        </p:attrNameLst>
                                      </p:cBhvr>
                                      <p:to>
                                        <p:strVal val="visible"/>
                                      </p:to>
                                    </p:set>
                                    <p:animEffect transition="in" filter="wipe(down)">
                                      <p:cBhvr>
                                        <p:cTn id="15" dur="500"/>
                                        <p:tgtEl>
                                          <p:spTgt spid="24"/>
                                        </p:tgtEl>
                                      </p:cBhvr>
                                    </p:animEffect>
                                  </p:childTnLst>
                                </p:cTn>
                              </p:par>
                            </p:childTnLst>
                          </p:cTn>
                        </p:par>
                        <p:par>
                          <p:cTn id="16" fill="hold">
                            <p:stCondLst>
                              <p:cond delay="3500"/>
                            </p:stCondLst>
                            <p:childTnLst>
                              <p:par>
                                <p:cTn id="17" presetID="22" presetClass="entr" presetSubtype="4" fill="hold" grpId="0" nodeType="afterEffect">
                                  <p:stCondLst>
                                    <p:cond delay="1000"/>
                                  </p:stCondLst>
                                  <p:childTnLst>
                                    <p:set>
                                      <p:cBhvr>
                                        <p:cTn id="18" dur="1" fill="hold">
                                          <p:stCondLst>
                                            <p:cond delay="0"/>
                                          </p:stCondLst>
                                        </p:cTn>
                                        <p:tgtEl>
                                          <p:spTgt spid="23"/>
                                        </p:tgtEl>
                                        <p:attrNameLst>
                                          <p:attrName>style.visibility</p:attrName>
                                        </p:attrNameLst>
                                      </p:cBhvr>
                                      <p:to>
                                        <p:strVal val="visible"/>
                                      </p:to>
                                    </p:set>
                                    <p:animEffect transition="in" filter="wipe(down)">
                                      <p:cBhvr>
                                        <p:cTn id="19" dur="500"/>
                                        <p:tgtEl>
                                          <p:spTgt spid="23"/>
                                        </p:tgtEl>
                                      </p:cBhvr>
                                    </p:animEffect>
                                  </p:childTnLst>
                                </p:cTn>
                              </p:par>
                            </p:childTnLst>
                          </p:cTn>
                        </p:par>
                        <p:par>
                          <p:cTn id="20" fill="hold">
                            <p:stCondLst>
                              <p:cond delay="5000"/>
                            </p:stCondLst>
                            <p:childTnLst>
                              <p:par>
                                <p:cTn id="21" presetID="22" presetClass="entr" presetSubtype="4" fill="hold" grpId="0" nodeType="afterEffect">
                                  <p:stCondLst>
                                    <p:cond delay="1000"/>
                                  </p:stCondLst>
                                  <p:childTnLst>
                                    <p:set>
                                      <p:cBhvr>
                                        <p:cTn id="22" dur="1" fill="hold">
                                          <p:stCondLst>
                                            <p:cond delay="0"/>
                                          </p:stCondLst>
                                        </p:cTn>
                                        <p:tgtEl>
                                          <p:spTgt spid="30"/>
                                        </p:tgtEl>
                                        <p:attrNameLst>
                                          <p:attrName>style.visibility</p:attrName>
                                        </p:attrNameLst>
                                      </p:cBhvr>
                                      <p:to>
                                        <p:strVal val="visible"/>
                                      </p:to>
                                    </p:set>
                                    <p:animEffect transition="in" filter="wipe(down)">
                                      <p:cBhvr>
                                        <p:cTn id="23" dur="500"/>
                                        <p:tgtEl>
                                          <p:spTgt spid="30"/>
                                        </p:tgtEl>
                                      </p:cBhvr>
                                    </p:animEffect>
                                  </p:childTnLst>
                                </p:cTn>
                              </p:par>
                            </p:childTnLst>
                          </p:cTn>
                        </p:par>
                        <p:par>
                          <p:cTn id="24" fill="hold">
                            <p:stCondLst>
                              <p:cond delay="6500"/>
                            </p:stCondLst>
                            <p:childTnLst>
                              <p:par>
                                <p:cTn id="25" presetID="22" presetClass="entr" presetSubtype="4" fill="hold" grpId="0" nodeType="afterEffect">
                                  <p:stCondLst>
                                    <p:cond delay="1000"/>
                                  </p:stCondLst>
                                  <p:childTnLst>
                                    <p:set>
                                      <p:cBhvr>
                                        <p:cTn id="26" dur="1" fill="hold">
                                          <p:stCondLst>
                                            <p:cond delay="0"/>
                                          </p:stCondLst>
                                        </p:cTn>
                                        <p:tgtEl>
                                          <p:spTgt spid="27"/>
                                        </p:tgtEl>
                                        <p:attrNameLst>
                                          <p:attrName>style.visibility</p:attrName>
                                        </p:attrNameLst>
                                      </p:cBhvr>
                                      <p:to>
                                        <p:strVal val="visible"/>
                                      </p:to>
                                    </p:set>
                                    <p:animEffect transition="in" filter="wipe(down)">
                                      <p:cBhvr>
                                        <p:cTn id="27" dur="500"/>
                                        <p:tgtEl>
                                          <p:spTgt spid="27"/>
                                        </p:tgtEl>
                                      </p:cBhvr>
                                    </p:animEffect>
                                  </p:childTnLst>
                                </p:cTn>
                              </p:par>
                            </p:childTnLst>
                          </p:cTn>
                        </p:par>
                        <p:par>
                          <p:cTn id="28" fill="hold">
                            <p:stCondLst>
                              <p:cond delay="8000"/>
                            </p:stCondLst>
                            <p:childTnLst>
                              <p:par>
                                <p:cTn id="29" presetID="22" presetClass="entr" presetSubtype="4" fill="hold" grpId="0" nodeType="afterEffect">
                                  <p:stCondLst>
                                    <p:cond delay="1000"/>
                                  </p:stCondLst>
                                  <p:childTnLst>
                                    <p:set>
                                      <p:cBhvr>
                                        <p:cTn id="30" dur="1" fill="hold">
                                          <p:stCondLst>
                                            <p:cond delay="0"/>
                                          </p:stCondLst>
                                        </p:cTn>
                                        <p:tgtEl>
                                          <p:spTgt spid="81"/>
                                        </p:tgtEl>
                                        <p:attrNameLst>
                                          <p:attrName>style.visibility</p:attrName>
                                        </p:attrNameLst>
                                      </p:cBhvr>
                                      <p:to>
                                        <p:strVal val="visible"/>
                                      </p:to>
                                    </p:set>
                                    <p:animEffect transition="in" filter="wipe(down)">
                                      <p:cBhvr>
                                        <p:cTn id="31"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2" grpId="0" animBg="1"/>
      <p:bldP spid="23" grpId="0" animBg="1"/>
      <p:bldP spid="24" grpId="0" animBg="1"/>
      <p:bldP spid="27" grpId="0" animBg="1"/>
      <p:bldP spid="30" grpId="0" animBg="1"/>
      <p:bldP spid="8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p:cNvPicPr>
            <a:picLocks noGrp="1" noChangeAspect="1"/>
          </p:cNvPicPr>
          <p:nvPr>
            <p:ph idx="1"/>
          </p:nvPr>
        </p:nvPicPr>
        <p:blipFill>
          <a:blip r:embed="rId2"/>
          <a:stretch>
            <a:fillRect/>
          </a:stretch>
        </p:blipFill>
        <p:spPr>
          <a:xfrm>
            <a:off x="4407876" y="219114"/>
            <a:ext cx="5595816" cy="6377276"/>
          </a:xfrm>
          <a:prstGeom prst="rect">
            <a:avLst/>
          </a:prstGeom>
        </p:spPr>
      </p:pic>
      <p:sp>
        <p:nvSpPr>
          <p:cNvPr id="2" name="ZoneTexte 1">
            <a:extLst>
              <a:ext uri="{FF2B5EF4-FFF2-40B4-BE49-F238E27FC236}">
                <a16:creationId xmlns:a16="http://schemas.microsoft.com/office/drawing/2014/main" id="{908968FB-366A-BC44-94D5-DD81EFE4F0CE}"/>
              </a:ext>
            </a:extLst>
          </p:cNvPr>
          <p:cNvSpPr txBox="1"/>
          <p:nvPr/>
        </p:nvSpPr>
        <p:spPr>
          <a:xfrm>
            <a:off x="925298" y="5275590"/>
            <a:ext cx="3395481" cy="261610"/>
          </a:xfrm>
          <a:prstGeom prst="rect">
            <a:avLst/>
          </a:prstGeom>
          <a:noFill/>
        </p:spPr>
        <p:txBody>
          <a:bodyPr wrap="none" rtlCol="0">
            <a:spAutoFit/>
          </a:bodyPr>
          <a:lstStyle/>
          <a:p>
            <a:r>
              <a:rPr lang="fr-FR" sz="1100" dirty="0" err="1"/>
              <a:t>Synchronized</a:t>
            </a:r>
            <a:r>
              <a:rPr lang="fr-FR" sz="1100" dirty="0"/>
              <a:t>: utilisable par plusieurs </a:t>
            </a:r>
            <a:r>
              <a:rPr lang="fr-FR" sz="1100" dirty="0" err="1"/>
              <a:t>process</a:t>
            </a:r>
            <a:r>
              <a:rPr lang="fr-FR" sz="1100" dirty="0"/>
              <a:t> (Threads)</a:t>
            </a:r>
          </a:p>
        </p:txBody>
      </p:sp>
      <p:sp>
        <p:nvSpPr>
          <p:cNvPr id="3" name="Espace réservé du numéro de diapositive 2">
            <a:extLst>
              <a:ext uri="{FF2B5EF4-FFF2-40B4-BE49-F238E27FC236}">
                <a16:creationId xmlns:a16="http://schemas.microsoft.com/office/drawing/2014/main" id="{BD1C0741-3D91-0E80-3397-DCE4EAA15C1F}"/>
              </a:ext>
            </a:extLst>
          </p:cNvPr>
          <p:cNvSpPr>
            <a:spLocks noGrp="1"/>
          </p:cNvSpPr>
          <p:nvPr>
            <p:ph type="sldNum" sz="quarter" idx="4"/>
          </p:nvPr>
        </p:nvSpPr>
        <p:spPr/>
        <p:txBody>
          <a:bodyPr/>
          <a:lstStyle/>
          <a:p>
            <a:fld id="{33C783E2-4793-4F48-A271-51A73CC37D74}" type="slidenum">
              <a:rPr lang="fr-FR" smtClean="0"/>
              <a:t>34</a:t>
            </a:fld>
            <a:endParaRPr lang="fr-FR"/>
          </a:p>
        </p:txBody>
      </p:sp>
    </p:spTree>
    <p:extLst>
      <p:ext uri="{BB962C8B-B14F-4D97-AF65-F5344CB8AC3E}">
        <p14:creationId xmlns:p14="http://schemas.microsoft.com/office/powerpoint/2010/main" val="5958129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Collections</a:t>
            </a:r>
          </a:p>
        </p:txBody>
      </p:sp>
      <p:sp>
        <p:nvSpPr>
          <p:cNvPr id="3" name="Espace réservé du contenu 2"/>
          <p:cNvSpPr>
            <a:spLocks noGrp="1"/>
          </p:cNvSpPr>
          <p:nvPr>
            <p:ph idx="1"/>
          </p:nvPr>
        </p:nvSpPr>
        <p:spPr/>
        <p:txBody>
          <a:bodyPr>
            <a:normAutofit/>
          </a:bodyPr>
          <a:lstStyle/>
          <a:p>
            <a:pPr marL="342900" indent="-342900">
              <a:buFont typeface="Arial" charset="0"/>
              <a:buChar char="•"/>
            </a:pPr>
            <a:r>
              <a:rPr lang="fr-BE" dirty="0"/>
              <a:t>Pourquoi les Collections?</a:t>
            </a:r>
          </a:p>
          <a:p>
            <a:pPr marL="342900" indent="-342900">
              <a:buFont typeface="Arial" charset="0"/>
              <a:buChar char="•"/>
            </a:pPr>
            <a:r>
              <a:rPr lang="fr-BE" dirty="0" err="1"/>
              <a:t>Itérateur</a:t>
            </a:r>
            <a:endParaRPr lang="fr-BE" dirty="0"/>
          </a:p>
          <a:p>
            <a:pPr marL="342900" indent="-342900">
              <a:buFont typeface="Arial" charset="0"/>
              <a:buChar char="•"/>
            </a:pPr>
            <a:r>
              <a:rPr lang="fr-BE" dirty="0"/>
              <a:t>Les Interfaces de Collections</a:t>
            </a:r>
          </a:p>
          <a:p>
            <a:pPr marL="342900" indent="-342900">
              <a:buFont typeface="Arial" charset="0"/>
              <a:buChar char="•"/>
            </a:pPr>
            <a:r>
              <a:rPr lang="fr-BE" dirty="0"/>
              <a:t>La notion d’ordre (Comparable et </a:t>
            </a:r>
            <a:r>
              <a:rPr lang="fr-BE" dirty="0" err="1"/>
              <a:t>Sorted</a:t>
            </a:r>
            <a:r>
              <a:rPr lang="fr-BE" dirty="0"/>
              <a:t>...)</a:t>
            </a:r>
          </a:p>
          <a:p>
            <a:pPr marL="342900" indent="-342900">
              <a:buFont typeface="Arial" charset="0"/>
              <a:buChar char="•"/>
            </a:pPr>
            <a:r>
              <a:rPr lang="fr-BE" dirty="0"/>
              <a:t>Les classes concrètes</a:t>
            </a:r>
          </a:p>
          <a:p>
            <a:pPr marL="342900" indent="-342900">
              <a:buFont typeface="Arial" charset="0"/>
              <a:buChar char="•"/>
            </a:pPr>
            <a:r>
              <a:rPr lang="fr-BE" dirty="0">
                <a:solidFill>
                  <a:schemeClr val="accent4"/>
                </a:solidFill>
              </a:rPr>
              <a:t>Algorithmes: la classe Collections</a:t>
            </a:r>
          </a:p>
          <a:p>
            <a:pPr marL="342900" indent="-342900">
              <a:buFont typeface="Arial" charset="0"/>
              <a:buChar char="•"/>
            </a:pPr>
            <a:endParaRPr lang="fr-BE" dirty="0">
              <a:solidFill>
                <a:schemeClr val="accent2"/>
              </a:solidFill>
            </a:endParaRPr>
          </a:p>
        </p:txBody>
      </p:sp>
      <p:sp>
        <p:nvSpPr>
          <p:cNvPr id="4" name="Espace réservé du numéro de diapositive 3">
            <a:extLst>
              <a:ext uri="{FF2B5EF4-FFF2-40B4-BE49-F238E27FC236}">
                <a16:creationId xmlns:a16="http://schemas.microsoft.com/office/drawing/2014/main" id="{F51ADD07-609C-4074-993E-3C06F8CFB740}"/>
              </a:ext>
            </a:extLst>
          </p:cNvPr>
          <p:cNvSpPr>
            <a:spLocks noGrp="1"/>
          </p:cNvSpPr>
          <p:nvPr>
            <p:ph type="sldNum" sz="quarter" idx="10"/>
          </p:nvPr>
        </p:nvSpPr>
        <p:spPr/>
        <p:txBody>
          <a:bodyPr/>
          <a:lstStyle/>
          <a:p>
            <a:fld id="{33C783E2-4793-4F48-A271-51A73CC37D74}" type="slidenum">
              <a:rPr lang="fr-FR" smtClean="0"/>
              <a:t>35</a:t>
            </a:fld>
            <a:endParaRPr lang="fr-FR"/>
          </a:p>
        </p:txBody>
      </p:sp>
    </p:spTree>
    <p:extLst>
      <p:ext uri="{BB962C8B-B14F-4D97-AF65-F5344CB8AC3E}">
        <p14:creationId xmlns:p14="http://schemas.microsoft.com/office/powerpoint/2010/main" val="3467029985"/>
      </p:ext>
    </p:extLst>
  </p:cSld>
  <p:clrMapOvr>
    <a:masterClrMapping/>
  </p:clrMapOvr>
  <p:transition>
    <p:push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Algorithmes</a:t>
            </a:r>
          </a:p>
        </p:txBody>
      </p:sp>
      <p:sp>
        <p:nvSpPr>
          <p:cNvPr id="3" name="Espace réservé du contenu 2"/>
          <p:cNvSpPr>
            <a:spLocks noGrp="1"/>
          </p:cNvSpPr>
          <p:nvPr>
            <p:ph idx="1"/>
          </p:nvPr>
        </p:nvSpPr>
        <p:spPr/>
        <p:txBody>
          <a:bodyPr>
            <a:normAutofit/>
          </a:bodyPr>
          <a:lstStyle/>
          <a:p>
            <a:pPr marL="0" indent="0">
              <a:buNone/>
            </a:pPr>
            <a:r>
              <a:rPr lang="fr-FR" sz="2000" dirty="0"/>
              <a:t>Nous avons déjà rencontré la classe </a:t>
            </a:r>
            <a:r>
              <a:rPr lang="fr-BE" sz="1800" dirty="0">
                <a:solidFill>
                  <a:schemeClr val="accent4"/>
                </a:solidFill>
                <a:latin typeface="Consolas" panose="020B0609020204030204" pitchFamily="49" charset="0"/>
                <a:cs typeface="Consolas" panose="020B0609020204030204" pitchFamily="49" charset="0"/>
              </a:rPr>
              <a:t>Collections</a:t>
            </a:r>
            <a:r>
              <a:rPr lang="fr-FR" sz="2000" dirty="0"/>
              <a:t> via la méthode </a:t>
            </a:r>
            <a:r>
              <a:rPr lang="fr-BE" sz="2000" dirty="0" err="1">
                <a:solidFill>
                  <a:schemeClr val="accent4"/>
                </a:solidFill>
                <a:latin typeface="Consolas" panose="020B0609020204030204" pitchFamily="49" charset="0"/>
                <a:cs typeface="Consolas" panose="020B0609020204030204" pitchFamily="49" charset="0"/>
              </a:rPr>
              <a:t>Collections.sort</a:t>
            </a:r>
            <a:r>
              <a:rPr lang="fr-BE" sz="2000" dirty="0">
                <a:solidFill>
                  <a:schemeClr val="accent4"/>
                </a:solidFill>
                <a:latin typeface="Consolas" panose="020B0609020204030204" pitchFamily="49" charset="0"/>
                <a:cs typeface="Consolas" panose="020B0609020204030204" pitchFamily="49" charset="0"/>
              </a:rPr>
              <a:t>(</a:t>
            </a:r>
            <a:r>
              <a:rPr lang="fr-BE" sz="2000" dirty="0" err="1">
                <a:solidFill>
                  <a:schemeClr val="accent4"/>
                </a:solidFill>
                <a:latin typeface="Consolas" panose="020B0609020204030204" pitchFamily="49" charset="0"/>
                <a:cs typeface="Consolas" panose="020B0609020204030204" pitchFamily="49" charset="0"/>
              </a:rPr>
              <a:t>list</a:t>
            </a:r>
            <a:r>
              <a:rPr lang="fr-BE" sz="2000" dirty="0">
                <a:solidFill>
                  <a:schemeClr val="accent4"/>
                </a:solidFill>
                <a:latin typeface="Consolas" panose="020B0609020204030204" pitchFamily="49" charset="0"/>
                <a:cs typeface="Consolas" panose="020B0609020204030204" pitchFamily="49" charset="0"/>
              </a:rPr>
              <a:t>)</a:t>
            </a:r>
            <a:r>
              <a:rPr lang="fr-FR" sz="2000" dirty="0"/>
              <a:t> qui permet de trier une liste.</a:t>
            </a:r>
          </a:p>
          <a:p>
            <a:pPr marL="0" indent="0">
              <a:buNone/>
            </a:pPr>
            <a:r>
              <a:rPr lang="fr-FR" sz="2000" dirty="0"/>
              <a:t>Cette classe présente des méthodes qui implémentent des algorithmes relatifs aux collections d’objets:</a:t>
            </a:r>
          </a:p>
          <a:p>
            <a:pPr marL="342900" indent="-342900"/>
            <a:r>
              <a:rPr lang="fr-FR" sz="2000" dirty="0"/>
              <a:t>Des algorithmes de </a:t>
            </a:r>
            <a:r>
              <a:rPr lang="fr-FR" sz="2000" dirty="0">
                <a:solidFill>
                  <a:schemeClr val="accent4"/>
                </a:solidFill>
              </a:rPr>
              <a:t>recherche</a:t>
            </a:r>
          </a:p>
          <a:p>
            <a:pPr marL="342900" indent="-342900"/>
            <a:r>
              <a:rPr lang="fr-FR" sz="2000" dirty="0"/>
              <a:t>Des algorithmes de </a:t>
            </a:r>
            <a:r>
              <a:rPr lang="fr-FR" sz="2000" dirty="0">
                <a:solidFill>
                  <a:schemeClr val="accent4"/>
                </a:solidFill>
              </a:rPr>
              <a:t>transformation</a:t>
            </a:r>
            <a:r>
              <a:rPr lang="fr-FR" sz="2000" dirty="0"/>
              <a:t> (tri, mélange, remplacements)</a:t>
            </a:r>
          </a:p>
          <a:p>
            <a:pPr marL="342900" indent="-342900"/>
            <a:r>
              <a:rPr lang="fr-FR" sz="2000" dirty="0"/>
              <a:t>Des algorithmes de </a:t>
            </a:r>
            <a:r>
              <a:rPr lang="fr-FR" sz="2000" dirty="0">
                <a:solidFill>
                  <a:schemeClr val="accent4"/>
                </a:solidFill>
              </a:rPr>
              <a:t>copie</a:t>
            </a:r>
            <a:r>
              <a:rPr lang="fr-FR" sz="2000" dirty="0"/>
              <a:t>, des collections vides, …</a:t>
            </a:r>
            <a:endParaRPr lang="fr-FR" sz="2000" dirty="0">
              <a:solidFill>
                <a:schemeClr val="accent2"/>
              </a:solidFill>
            </a:endParaRPr>
          </a:p>
          <a:p>
            <a:pPr marL="342900" indent="-342900"/>
            <a:endParaRPr lang="nl-BE" sz="2000" dirty="0"/>
          </a:p>
          <a:p>
            <a:r>
              <a:rPr lang="fr-FR" sz="2000" dirty="0"/>
              <a:t>Les méthodes qui impliquent une comparaison existent aussi avec un paramètre supplémentaire </a:t>
            </a:r>
            <a:r>
              <a:rPr lang="fr-FR" sz="1800" dirty="0" err="1">
                <a:solidFill>
                  <a:schemeClr val="accent4"/>
                </a:solidFill>
                <a:latin typeface="Consolas" panose="020B0609020204030204" pitchFamily="49" charset="0"/>
                <a:cs typeface="Consolas" panose="020B0609020204030204" pitchFamily="49" charset="0"/>
              </a:rPr>
              <a:t>Comparator</a:t>
            </a:r>
            <a:r>
              <a:rPr lang="fr-FR" sz="1800" dirty="0">
                <a:solidFill>
                  <a:schemeClr val="accent4"/>
                </a:solidFill>
                <a:latin typeface="Consolas" panose="020B0609020204030204" pitchFamily="49" charset="0"/>
                <a:cs typeface="Consolas" panose="020B0609020204030204" pitchFamily="49" charset="0"/>
              </a:rPr>
              <a:t>&lt;</a:t>
            </a:r>
            <a:r>
              <a:rPr lang="fr-FR" sz="1800" dirty="0" err="1">
                <a:solidFill>
                  <a:schemeClr val="accent4"/>
                </a:solidFill>
                <a:latin typeface="Consolas" panose="020B0609020204030204" pitchFamily="49" charset="0"/>
                <a:cs typeface="Consolas" panose="020B0609020204030204" pitchFamily="49" charset="0"/>
              </a:rPr>
              <a:t>T</a:t>
            </a:r>
            <a:r>
              <a:rPr lang="fr-FR" sz="1800" dirty="0">
                <a:solidFill>
                  <a:schemeClr val="accent4"/>
                </a:solidFill>
                <a:latin typeface="Consolas" panose="020B0609020204030204" pitchFamily="49" charset="0"/>
                <a:cs typeface="Consolas" panose="020B0609020204030204" pitchFamily="49" charset="0"/>
              </a:rPr>
              <a:t>&gt;</a:t>
            </a:r>
            <a:r>
              <a:rPr lang="fr-FR" sz="2000" dirty="0"/>
              <a:t>. </a:t>
            </a:r>
          </a:p>
          <a:p>
            <a:r>
              <a:rPr lang="fr-FR" sz="2000" dirty="0"/>
              <a:t>Un comparateur prédéfini, </a:t>
            </a:r>
            <a:r>
              <a:rPr lang="fr-FR" sz="1800" dirty="0" err="1">
                <a:solidFill>
                  <a:schemeClr val="accent4"/>
                </a:solidFill>
                <a:latin typeface="Consolas" panose="020B0609020204030204" pitchFamily="49" charset="0"/>
                <a:cs typeface="Consolas" panose="020B0609020204030204" pitchFamily="49" charset="0"/>
              </a:rPr>
              <a:t>Collections.reverseOrder</a:t>
            </a:r>
            <a:r>
              <a:rPr lang="fr-FR" sz="1800" dirty="0">
                <a:solidFill>
                  <a:schemeClr val="accent4"/>
                </a:solidFill>
                <a:latin typeface="Consolas" panose="020B0609020204030204" pitchFamily="49" charset="0"/>
                <a:cs typeface="Consolas" panose="020B0609020204030204" pitchFamily="49" charset="0"/>
              </a:rPr>
              <a:t>()</a:t>
            </a:r>
            <a:r>
              <a:rPr lang="fr-FR" sz="2000" dirty="0"/>
              <a:t>, permet aussi d’inverser l’ordre naturel.</a:t>
            </a:r>
          </a:p>
        </p:txBody>
      </p:sp>
      <p:pic>
        <p:nvPicPr>
          <p:cNvPr id="6" name="Image 5">
            <a:extLst>
              <a:ext uri="{FF2B5EF4-FFF2-40B4-BE49-F238E27FC236}">
                <a16:creationId xmlns:a16="http://schemas.microsoft.com/office/drawing/2014/main" id="{7E16A51B-600F-244D-AFE6-CD732E87088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987814" y="127318"/>
            <a:ext cx="2476500" cy="1397000"/>
          </a:xfrm>
          <a:prstGeom prst="rect">
            <a:avLst/>
          </a:prstGeom>
        </p:spPr>
      </p:pic>
      <p:sp>
        <p:nvSpPr>
          <p:cNvPr id="4" name="Espace réservé du numéro de diapositive 3">
            <a:extLst>
              <a:ext uri="{FF2B5EF4-FFF2-40B4-BE49-F238E27FC236}">
                <a16:creationId xmlns:a16="http://schemas.microsoft.com/office/drawing/2014/main" id="{53256FD7-AFB9-9795-9885-E969ACD9B7E1}"/>
              </a:ext>
            </a:extLst>
          </p:cNvPr>
          <p:cNvSpPr>
            <a:spLocks noGrp="1"/>
          </p:cNvSpPr>
          <p:nvPr>
            <p:ph type="sldNum" sz="quarter" idx="4"/>
          </p:nvPr>
        </p:nvSpPr>
        <p:spPr/>
        <p:txBody>
          <a:bodyPr/>
          <a:lstStyle/>
          <a:p>
            <a:fld id="{33C783E2-4793-4F48-A271-51A73CC37D74}" type="slidenum">
              <a:rPr lang="fr-FR" smtClean="0"/>
              <a:t>36</a:t>
            </a:fld>
            <a:endParaRPr lang="fr-FR"/>
          </a:p>
        </p:txBody>
      </p:sp>
    </p:spTree>
    <p:extLst>
      <p:ext uri="{BB962C8B-B14F-4D97-AF65-F5344CB8AC3E}">
        <p14:creationId xmlns:p14="http://schemas.microsoft.com/office/powerpoint/2010/main" val="18358720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Algorithmes de Recherche</a:t>
            </a:r>
          </a:p>
        </p:txBody>
      </p:sp>
      <p:sp>
        <p:nvSpPr>
          <p:cNvPr id="3" name="Espace réservé du contenu 2"/>
          <p:cNvSpPr>
            <a:spLocks noGrp="1"/>
          </p:cNvSpPr>
          <p:nvPr>
            <p:ph idx="1"/>
          </p:nvPr>
        </p:nvSpPr>
        <p:spPr/>
        <p:txBody>
          <a:bodyPr>
            <a:normAutofit/>
          </a:bodyPr>
          <a:lstStyle/>
          <a:p>
            <a:pPr marL="342900" indent="-342900"/>
            <a:r>
              <a:rPr lang="fr-BE" sz="2000" dirty="0" err="1">
                <a:solidFill>
                  <a:schemeClr val="accent4"/>
                </a:solidFill>
                <a:latin typeface="Consolas" panose="020B0609020204030204" pitchFamily="49" charset="0"/>
                <a:cs typeface="Consolas" panose="020B0609020204030204" pitchFamily="49" charset="0"/>
              </a:rPr>
              <a:t>T</a:t>
            </a:r>
            <a:r>
              <a:rPr lang="fr-BE" sz="2000" dirty="0">
                <a:solidFill>
                  <a:schemeClr val="accent4"/>
                </a:solidFill>
                <a:latin typeface="Consolas" panose="020B0609020204030204" pitchFamily="49" charset="0"/>
                <a:cs typeface="Consolas" panose="020B0609020204030204" pitchFamily="49" charset="0"/>
              </a:rPr>
              <a:t> max(Collection&lt;</a:t>
            </a:r>
            <a:r>
              <a:rPr lang="fr-BE" sz="2000" dirty="0" err="1">
                <a:solidFill>
                  <a:schemeClr val="accent4"/>
                </a:solidFill>
                <a:latin typeface="Consolas" panose="020B0609020204030204" pitchFamily="49" charset="0"/>
                <a:cs typeface="Consolas" panose="020B0609020204030204" pitchFamily="49" charset="0"/>
              </a:rPr>
              <a:t>T</a:t>
            </a:r>
            <a:r>
              <a:rPr lang="fr-BE" sz="2000" dirty="0">
                <a:solidFill>
                  <a:schemeClr val="accent4"/>
                </a:solidFill>
                <a:latin typeface="Consolas" panose="020B0609020204030204" pitchFamily="49" charset="0"/>
                <a:cs typeface="Consolas" panose="020B0609020204030204" pitchFamily="49" charset="0"/>
              </a:rPr>
              <a:t>&gt; col)</a:t>
            </a:r>
            <a:r>
              <a:rPr lang="fr-FR" sz="2200" dirty="0"/>
              <a:t> pour chercher la valeur maximale.</a:t>
            </a:r>
          </a:p>
          <a:p>
            <a:pPr marL="342900" indent="-342900"/>
            <a:r>
              <a:rPr lang="fr-BE" sz="2000" dirty="0" err="1">
                <a:solidFill>
                  <a:schemeClr val="accent4"/>
                </a:solidFill>
                <a:latin typeface="Consolas" panose="020B0609020204030204" pitchFamily="49" charset="0"/>
                <a:cs typeface="Consolas" panose="020B0609020204030204" pitchFamily="49" charset="0"/>
              </a:rPr>
              <a:t>T</a:t>
            </a:r>
            <a:r>
              <a:rPr lang="fr-BE" sz="2000" dirty="0">
                <a:solidFill>
                  <a:schemeClr val="accent4"/>
                </a:solidFill>
                <a:latin typeface="Consolas" panose="020B0609020204030204" pitchFamily="49" charset="0"/>
                <a:cs typeface="Consolas" panose="020B0609020204030204" pitchFamily="49" charset="0"/>
              </a:rPr>
              <a:t> min(Collection&lt;</a:t>
            </a:r>
            <a:r>
              <a:rPr lang="fr-BE" sz="2000" dirty="0" err="1">
                <a:solidFill>
                  <a:schemeClr val="accent4"/>
                </a:solidFill>
                <a:latin typeface="Consolas" panose="020B0609020204030204" pitchFamily="49" charset="0"/>
                <a:cs typeface="Consolas" panose="020B0609020204030204" pitchFamily="49" charset="0"/>
              </a:rPr>
              <a:t>T</a:t>
            </a:r>
            <a:r>
              <a:rPr lang="fr-BE" sz="2000" dirty="0">
                <a:solidFill>
                  <a:schemeClr val="accent4"/>
                </a:solidFill>
                <a:latin typeface="Consolas" panose="020B0609020204030204" pitchFamily="49" charset="0"/>
                <a:cs typeface="Consolas" panose="020B0609020204030204" pitchFamily="49" charset="0"/>
              </a:rPr>
              <a:t>&gt; col)</a:t>
            </a:r>
            <a:endParaRPr lang="fr-FR" sz="2200" dirty="0">
              <a:solidFill>
                <a:schemeClr val="accent4"/>
              </a:solidFill>
              <a:latin typeface="Consolas" panose="020B0609020204030204" pitchFamily="49" charset="0"/>
              <a:cs typeface="Consolas" panose="020B0609020204030204" pitchFamily="49" charset="0"/>
            </a:endParaRPr>
          </a:p>
          <a:p>
            <a:pPr marL="342900" indent="-342900"/>
            <a:r>
              <a:rPr lang="fr-BE" sz="2000" dirty="0" err="1">
                <a:solidFill>
                  <a:schemeClr val="accent4"/>
                </a:solidFill>
                <a:latin typeface="Consolas" panose="020B0609020204030204" pitchFamily="49" charset="0"/>
                <a:cs typeface="Consolas" panose="020B0609020204030204" pitchFamily="49" charset="0"/>
              </a:rPr>
              <a:t>boolean</a:t>
            </a:r>
            <a:r>
              <a:rPr lang="fr-BE" sz="2000" dirty="0">
                <a:solidFill>
                  <a:schemeClr val="accent4"/>
                </a:solidFill>
                <a:latin typeface="Consolas" panose="020B0609020204030204" pitchFamily="49" charset="0"/>
                <a:cs typeface="Consolas" panose="020B0609020204030204" pitchFamily="49" charset="0"/>
              </a:rPr>
              <a:t> disjoint(Collection&lt;</a:t>
            </a:r>
            <a:r>
              <a:rPr lang="fr-BE" sz="2000" dirty="0" err="1">
                <a:solidFill>
                  <a:schemeClr val="accent4"/>
                </a:solidFill>
                <a:latin typeface="Consolas" panose="020B0609020204030204" pitchFamily="49" charset="0"/>
                <a:cs typeface="Consolas" panose="020B0609020204030204" pitchFamily="49" charset="0"/>
              </a:rPr>
              <a:t>T</a:t>
            </a:r>
            <a:r>
              <a:rPr lang="fr-BE" sz="2000" dirty="0">
                <a:solidFill>
                  <a:schemeClr val="accent4"/>
                </a:solidFill>
                <a:latin typeface="Consolas" panose="020B0609020204030204" pitchFamily="49" charset="0"/>
                <a:cs typeface="Consolas" panose="020B0609020204030204" pitchFamily="49" charset="0"/>
              </a:rPr>
              <a:t>&gt; c1, Collection&lt;</a:t>
            </a:r>
            <a:r>
              <a:rPr lang="fr-BE" sz="2000" dirty="0" err="1">
                <a:solidFill>
                  <a:schemeClr val="accent4"/>
                </a:solidFill>
                <a:latin typeface="Consolas" panose="020B0609020204030204" pitchFamily="49" charset="0"/>
                <a:cs typeface="Consolas" panose="020B0609020204030204" pitchFamily="49" charset="0"/>
              </a:rPr>
              <a:t>T</a:t>
            </a:r>
            <a:r>
              <a:rPr lang="fr-BE" sz="2000" dirty="0">
                <a:solidFill>
                  <a:schemeClr val="accent4"/>
                </a:solidFill>
                <a:latin typeface="Consolas" panose="020B0609020204030204" pitchFamily="49" charset="0"/>
                <a:cs typeface="Consolas" panose="020B0609020204030204" pitchFamily="49" charset="0"/>
              </a:rPr>
              <a:t>&gt; c2)</a:t>
            </a:r>
            <a:r>
              <a:rPr lang="fr-FR" sz="2200" dirty="0"/>
              <a:t> indique si les collections sont disjointes.</a:t>
            </a:r>
          </a:p>
          <a:p>
            <a:pPr marL="342900" indent="-342900"/>
            <a:r>
              <a:rPr lang="fr-BE" sz="2000" dirty="0" err="1">
                <a:solidFill>
                  <a:schemeClr val="accent4"/>
                </a:solidFill>
                <a:latin typeface="Consolas" panose="020B0609020204030204" pitchFamily="49" charset="0"/>
                <a:cs typeface="Consolas" panose="020B0609020204030204" pitchFamily="49" charset="0"/>
              </a:rPr>
              <a:t>int</a:t>
            </a:r>
            <a:r>
              <a:rPr lang="fr-BE" sz="2000" dirty="0">
                <a:solidFill>
                  <a:schemeClr val="accent4"/>
                </a:solidFill>
                <a:latin typeface="Consolas" panose="020B0609020204030204" pitchFamily="49" charset="0"/>
                <a:cs typeface="Consolas" panose="020B0609020204030204" pitchFamily="49" charset="0"/>
              </a:rPr>
              <a:t> </a:t>
            </a:r>
            <a:r>
              <a:rPr lang="fr-BE" sz="2000" dirty="0" err="1">
                <a:solidFill>
                  <a:schemeClr val="accent4"/>
                </a:solidFill>
                <a:latin typeface="Consolas" panose="020B0609020204030204" pitchFamily="49" charset="0"/>
                <a:cs typeface="Consolas" panose="020B0609020204030204" pitchFamily="49" charset="0"/>
              </a:rPr>
              <a:t>frequency</a:t>
            </a:r>
            <a:r>
              <a:rPr lang="fr-BE" sz="2000" dirty="0">
                <a:solidFill>
                  <a:schemeClr val="accent4"/>
                </a:solidFill>
                <a:latin typeface="Consolas" panose="020B0609020204030204" pitchFamily="49" charset="0"/>
                <a:cs typeface="Consolas" panose="020B0609020204030204" pitchFamily="49" charset="0"/>
              </a:rPr>
              <a:t>(Collection&lt;?&gt; c, Object o)</a:t>
            </a:r>
            <a:r>
              <a:rPr lang="fr-FR" sz="2200" dirty="0"/>
              <a:t> indique le nombre d’occurrences de </a:t>
            </a:r>
            <a:r>
              <a:rPr lang="fr-BE" sz="2000" dirty="0">
                <a:solidFill>
                  <a:schemeClr val="accent4"/>
                </a:solidFill>
                <a:latin typeface="Consolas" panose="020B0609020204030204" pitchFamily="49" charset="0"/>
                <a:cs typeface="Consolas" panose="020B0609020204030204" pitchFamily="49" charset="0"/>
              </a:rPr>
              <a:t>o</a:t>
            </a:r>
            <a:r>
              <a:rPr lang="fr-FR" sz="2200" dirty="0"/>
              <a:t> dans </a:t>
            </a:r>
            <a:r>
              <a:rPr lang="fr-BE" sz="2000" dirty="0">
                <a:solidFill>
                  <a:schemeClr val="accent4"/>
                </a:solidFill>
                <a:latin typeface="Consolas" panose="020B0609020204030204" pitchFamily="49" charset="0"/>
                <a:cs typeface="Consolas" panose="020B0609020204030204" pitchFamily="49" charset="0"/>
              </a:rPr>
              <a:t>c</a:t>
            </a:r>
            <a:r>
              <a:rPr lang="fr-FR" sz="2200" dirty="0"/>
              <a:t>.</a:t>
            </a:r>
          </a:p>
          <a:p>
            <a:pPr marL="342900" indent="-342900"/>
            <a:r>
              <a:rPr lang="fr-BE" sz="2000" dirty="0">
                <a:solidFill>
                  <a:schemeClr val="accent4"/>
                </a:solidFill>
                <a:latin typeface="Consolas" panose="020B0609020204030204" pitchFamily="49" charset="0"/>
                <a:cs typeface="Consolas" panose="020B0609020204030204" pitchFamily="49" charset="0"/>
              </a:rPr>
              <a:t>Collection&lt;</a:t>
            </a:r>
            <a:r>
              <a:rPr lang="fr-BE" sz="2000" dirty="0" err="1">
                <a:solidFill>
                  <a:schemeClr val="accent4"/>
                </a:solidFill>
                <a:latin typeface="Consolas" panose="020B0609020204030204" pitchFamily="49" charset="0"/>
                <a:cs typeface="Consolas" panose="020B0609020204030204" pitchFamily="49" charset="0"/>
              </a:rPr>
              <a:t>T</a:t>
            </a:r>
            <a:r>
              <a:rPr lang="fr-BE" sz="2000" dirty="0">
                <a:solidFill>
                  <a:schemeClr val="accent4"/>
                </a:solidFill>
                <a:latin typeface="Consolas" panose="020B0609020204030204" pitchFamily="49" charset="0"/>
                <a:cs typeface="Consolas" panose="020B0609020204030204" pitchFamily="49" charset="0"/>
              </a:rPr>
              <a:t>&gt; </a:t>
            </a:r>
            <a:r>
              <a:rPr lang="fr-BE" sz="2000" dirty="0" err="1">
                <a:solidFill>
                  <a:schemeClr val="accent4"/>
                </a:solidFill>
                <a:latin typeface="Consolas" panose="020B0609020204030204" pitchFamily="49" charset="0"/>
                <a:cs typeface="Consolas" panose="020B0609020204030204" pitchFamily="49" charset="0"/>
              </a:rPr>
              <a:t>unmodifiableCollection</a:t>
            </a:r>
            <a:r>
              <a:rPr lang="fr-BE" sz="2000" dirty="0">
                <a:solidFill>
                  <a:schemeClr val="accent4"/>
                </a:solidFill>
                <a:latin typeface="Consolas" panose="020B0609020204030204" pitchFamily="49" charset="0"/>
                <a:cs typeface="Consolas" panose="020B0609020204030204" pitchFamily="49" charset="0"/>
              </a:rPr>
              <a:t>(Collection&lt;? </a:t>
            </a:r>
            <a:r>
              <a:rPr lang="fr-BE" sz="2000" dirty="0" err="1">
                <a:solidFill>
                  <a:schemeClr val="accent4"/>
                </a:solidFill>
                <a:latin typeface="Consolas" panose="020B0609020204030204" pitchFamily="49" charset="0"/>
                <a:cs typeface="Consolas" panose="020B0609020204030204" pitchFamily="49" charset="0"/>
              </a:rPr>
              <a:t>extends</a:t>
            </a:r>
            <a:r>
              <a:rPr lang="fr-BE" sz="2000" dirty="0">
                <a:solidFill>
                  <a:schemeClr val="accent4"/>
                </a:solidFill>
                <a:latin typeface="Consolas" panose="020B0609020204030204" pitchFamily="49" charset="0"/>
                <a:cs typeface="Consolas" panose="020B0609020204030204" pitchFamily="49" charset="0"/>
              </a:rPr>
              <a:t> </a:t>
            </a:r>
            <a:r>
              <a:rPr lang="fr-BE" sz="2000" dirty="0" err="1">
                <a:solidFill>
                  <a:schemeClr val="accent4"/>
                </a:solidFill>
                <a:latin typeface="Consolas" panose="020B0609020204030204" pitchFamily="49" charset="0"/>
                <a:cs typeface="Consolas" panose="020B0609020204030204" pitchFamily="49" charset="0"/>
              </a:rPr>
              <a:t>T</a:t>
            </a:r>
            <a:r>
              <a:rPr lang="fr-BE" sz="2000" dirty="0">
                <a:solidFill>
                  <a:schemeClr val="accent4"/>
                </a:solidFill>
                <a:latin typeface="Consolas" panose="020B0609020204030204" pitchFamily="49" charset="0"/>
                <a:cs typeface="Consolas" panose="020B0609020204030204" pitchFamily="49" charset="0"/>
              </a:rPr>
              <a:t>&gt; c)</a:t>
            </a:r>
            <a:r>
              <a:rPr lang="fr-BE" sz="2200" dirty="0"/>
              <a:t> et </a:t>
            </a:r>
            <a:r>
              <a:rPr lang="fr-BE" sz="2000" dirty="0">
                <a:solidFill>
                  <a:schemeClr val="accent4"/>
                </a:solidFill>
                <a:latin typeface="Consolas" panose="020B0609020204030204" pitchFamily="49" charset="0"/>
                <a:cs typeface="Consolas" panose="020B0609020204030204" pitchFamily="49" charset="0"/>
              </a:rPr>
              <a:t>List&lt;</a:t>
            </a:r>
            <a:r>
              <a:rPr lang="fr-BE" sz="2000" dirty="0" err="1">
                <a:solidFill>
                  <a:schemeClr val="accent4"/>
                </a:solidFill>
                <a:latin typeface="Consolas" panose="020B0609020204030204" pitchFamily="49" charset="0"/>
                <a:cs typeface="Consolas" panose="020B0609020204030204" pitchFamily="49" charset="0"/>
              </a:rPr>
              <a:t>T</a:t>
            </a:r>
            <a:r>
              <a:rPr lang="fr-BE" sz="2000" dirty="0">
                <a:solidFill>
                  <a:schemeClr val="accent4"/>
                </a:solidFill>
                <a:latin typeface="Consolas" panose="020B0609020204030204" pitchFamily="49" charset="0"/>
                <a:cs typeface="Consolas" panose="020B0609020204030204" pitchFamily="49" charset="0"/>
              </a:rPr>
              <a:t>&gt; </a:t>
            </a:r>
            <a:r>
              <a:rPr lang="fr-BE" sz="2000" dirty="0" err="1">
                <a:solidFill>
                  <a:schemeClr val="accent4"/>
                </a:solidFill>
                <a:latin typeface="Consolas" panose="020B0609020204030204" pitchFamily="49" charset="0"/>
                <a:cs typeface="Consolas" panose="020B0609020204030204" pitchFamily="49" charset="0"/>
              </a:rPr>
              <a:t>unmodifiableList</a:t>
            </a:r>
            <a:r>
              <a:rPr lang="fr-BE" sz="2000" dirty="0">
                <a:solidFill>
                  <a:schemeClr val="accent4"/>
                </a:solidFill>
                <a:latin typeface="Consolas" panose="020B0609020204030204" pitchFamily="49" charset="0"/>
                <a:cs typeface="Consolas" panose="020B0609020204030204" pitchFamily="49" charset="0"/>
              </a:rPr>
              <a:t>(List&lt;? </a:t>
            </a:r>
            <a:r>
              <a:rPr lang="fr-BE" sz="2000" dirty="0" err="1">
                <a:solidFill>
                  <a:schemeClr val="accent4"/>
                </a:solidFill>
                <a:latin typeface="Consolas" panose="020B0609020204030204" pitchFamily="49" charset="0"/>
                <a:cs typeface="Consolas" panose="020B0609020204030204" pitchFamily="49" charset="0"/>
              </a:rPr>
              <a:t>extends</a:t>
            </a:r>
            <a:r>
              <a:rPr lang="fr-BE" sz="2000" dirty="0">
                <a:solidFill>
                  <a:schemeClr val="accent4"/>
                </a:solidFill>
                <a:latin typeface="Consolas" panose="020B0609020204030204" pitchFamily="49" charset="0"/>
                <a:cs typeface="Consolas" panose="020B0609020204030204" pitchFamily="49" charset="0"/>
              </a:rPr>
              <a:t> </a:t>
            </a:r>
            <a:r>
              <a:rPr lang="fr-BE" sz="2000" dirty="0" err="1">
                <a:solidFill>
                  <a:schemeClr val="accent4"/>
                </a:solidFill>
                <a:latin typeface="Consolas" panose="020B0609020204030204" pitchFamily="49" charset="0"/>
                <a:cs typeface="Consolas" panose="020B0609020204030204" pitchFamily="49" charset="0"/>
              </a:rPr>
              <a:t>T</a:t>
            </a:r>
            <a:r>
              <a:rPr lang="fr-BE" sz="2000" dirty="0">
                <a:solidFill>
                  <a:schemeClr val="accent4"/>
                </a:solidFill>
                <a:latin typeface="Consolas" panose="020B0609020204030204" pitchFamily="49" charset="0"/>
                <a:cs typeface="Consolas" panose="020B0609020204030204" pitchFamily="49" charset="0"/>
              </a:rPr>
              <a:t>&gt; </a:t>
            </a:r>
            <a:r>
              <a:rPr lang="fr-BE" sz="2000" dirty="0" err="1">
                <a:solidFill>
                  <a:schemeClr val="accent4"/>
                </a:solidFill>
                <a:latin typeface="Consolas" panose="020B0609020204030204" pitchFamily="49" charset="0"/>
                <a:cs typeface="Consolas" panose="020B0609020204030204" pitchFamily="49" charset="0"/>
              </a:rPr>
              <a:t>list</a:t>
            </a:r>
            <a:r>
              <a:rPr lang="fr-BE" sz="2000" dirty="0">
                <a:solidFill>
                  <a:schemeClr val="accent4"/>
                </a:solidFill>
                <a:latin typeface="Consolas" panose="020B0609020204030204" pitchFamily="49" charset="0"/>
                <a:cs typeface="Consolas" panose="020B0609020204030204" pitchFamily="49" charset="0"/>
              </a:rPr>
              <a:t>)</a:t>
            </a:r>
            <a:r>
              <a:rPr lang="fr-BE" sz="2200" dirty="0"/>
              <a:t>, </a:t>
            </a:r>
            <a:r>
              <a:rPr lang="fr-BE" sz="2000" dirty="0" err="1">
                <a:solidFill>
                  <a:schemeClr val="accent4"/>
                </a:solidFill>
                <a:latin typeface="Consolas" panose="020B0609020204030204" pitchFamily="49" charset="0"/>
                <a:cs typeface="Consolas" panose="020B0609020204030204" pitchFamily="49" charset="0"/>
              </a:rPr>
              <a:t>unmodifiableMap</a:t>
            </a:r>
            <a:r>
              <a:rPr lang="fr-BE" sz="2200" dirty="0"/>
              <a:t>, </a:t>
            </a:r>
            <a:r>
              <a:rPr lang="fr-BE" sz="2000" dirty="0" err="1">
                <a:solidFill>
                  <a:schemeClr val="accent4"/>
                </a:solidFill>
                <a:latin typeface="Consolas" panose="020B0609020204030204" pitchFamily="49" charset="0"/>
                <a:cs typeface="Consolas" panose="020B0609020204030204" pitchFamily="49" charset="0"/>
              </a:rPr>
              <a:t>unModifiableSet</a:t>
            </a:r>
            <a:r>
              <a:rPr lang="fr-BE" sz="2200" dirty="0"/>
              <a:t>…</a:t>
            </a:r>
          </a:p>
          <a:p>
            <a:pPr marL="342900" indent="-342900"/>
            <a:r>
              <a:rPr lang="fr-FR" sz="2000" dirty="0" err="1">
                <a:solidFill>
                  <a:schemeClr val="accent4"/>
                </a:solidFill>
                <a:latin typeface="Consolas" panose="020B0609020204030204" pitchFamily="49" charset="0"/>
                <a:cs typeface="Consolas" panose="020B0609020204030204" pitchFamily="49" charset="0"/>
              </a:rPr>
              <a:t>void</a:t>
            </a:r>
            <a:r>
              <a:rPr lang="fr-FR" sz="2000" dirty="0">
                <a:solidFill>
                  <a:schemeClr val="accent4"/>
                </a:solidFill>
                <a:latin typeface="Consolas" panose="020B0609020204030204" pitchFamily="49" charset="0"/>
                <a:cs typeface="Consolas" panose="020B0609020204030204" pitchFamily="49" charset="0"/>
              </a:rPr>
              <a:t> copy(List&lt;? super </a:t>
            </a:r>
            <a:r>
              <a:rPr lang="fr-FR" sz="2000" dirty="0" err="1">
                <a:solidFill>
                  <a:schemeClr val="accent4"/>
                </a:solidFill>
                <a:latin typeface="Consolas" panose="020B0609020204030204" pitchFamily="49" charset="0"/>
                <a:cs typeface="Consolas" panose="020B0609020204030204" pitchFamily="49" charset="0"/>
              </a:rPr>
              <a:t>T</a:t>
            </a:r>
            <a:r>
              <a:rPr lang="fr-FR" sz="2000" dirty="0">
                <a:solidFill>
                  <a:schemeClr val="accent4"/>
                </a:solidFill>
                <a:latin typeface="Consolas" panose="020B0609020204030204" pitchFamily="49" charset="0"/>
                <a:cs typeface="Consolas" panose="020B0609020204030204" pitchFamily="49" charset="0"/>
              </a:rPr>
              <a:t>&gt; </a:t>
            </a:r>
            <a:r>
              <a:rPr lang="fr-FR" sz="2000" dirty="0" err="1">
                <a:solidFill>
                  <a:schemeClr val="accent4"/>
                </a:solidFill>
                <a:latin typeface="Consolas" panose="020B0609020204030204" pitchFamily="49" charset="0"/>
                <a:cs typeface="Consolas" panose="020B0609020204030204" pitchFamily="49" charset="0"/>
              </a:rPr>
              <a:t>dest</a:t>
            </a:r>
            <a:r>
              <a:rPr lang="fr-FR" sz="2000" dirty="0">
                <a:solidFill>
                  <a:schemeClr val="accent4"/>
                </a:solidFill>
                <a:latin typeface="Consolas" panose="020B0609020204030204" pitchFamily="49" charset="0"/>
                <a:cs typeface="Consolas" panose="020B0609020204030204" pitchFamily="49" charset="0"/>
              </a:rPr>
              <a:t>, List&lt;? </a:t>
            </a:r>
            <a:r>
              <a:rPr lang="fr-FR" sz="2000" dirty="0" err="1">
                <a:solidFill>
                  <a:schemeClr val="accent4"/>
                </a:solidFill>
                <a:latin typeface="Consolas" panose="020B0609020204030204" pitchFamily="49" charset="0"/>
                <a:cs typeface="Consolas" panose="020B0609020204030204" pitchFamily="49" charset="0"/>
              </a:rPr>
              <a:t>extends</a:t>
            </a:r>
            <a:r>
              <a:rPr lang="fr-FR" sz="2000" dirty="0">
                <a:solidFill>
                  <a:schemeClr val="accent4"/>
                </a:solidFill>
                <a:latin typeface="Consolas" panose="020B0609020204030204" pitchFamily="49" charset="0"/>
                <a:cs typeface="Consolas" panose="020B0609020204030204" pitchFamily="49" charset="0"/>
              </a:rPr>
              <a:t> </a:t>
            </a:r>
            <a:r>
              <a:rPr lang="fr-FR" sz="2000" dirty="0" err="1">
                <a:solidFill>
                  <a:schemeClr val="accent4"/>
                </a:solidFill>
                <a:latin typeface="Consolas" panose="020B0609020204030204" pitchFamily="49" charset="0"/>
                <a:cs typeface="Consolas" panose="020B0609020204030204" pitchFamily="49" charset="0"/>
              </a:rPr>
              <a:t>T</a:t>
            </a:r>
            <a:r>
              <a:rPr lang="fr-FR" sz="2000" dirty="0">
                <a:solidFill>
                  <a:schemeClr val="accent4"/>
                </a:solidFill>
                <a:latin typeface="Consolas" panose="020B0609020204030204" pitchFamily="49" charset="0"/>
                <a:cs typeface="Consolas" panose="020B0609020204030204" pitchFamily="49" charset="0"/>
              </a:rPr>
              <a:t>&gt; src)</a:t>
            </a:r>
          </a:p>
          <a:p>
            <a:pPr marL="342900" indent="-342900"/>
            <a:endParaRPr lang="fr-FR" sz="2200" dirty="0"/>
          </a:p>
          <a:p>
            <a:pPr marL="342900" indent="-342900"/>
            <a:endParaRPr lang="fr-FR" sz="2200" dirty="0">
              <a:latin typeface="Consolas" panose="020B0609020204030204" pitchFamily="49" charset="0"/>
              <a:cs typeface="Consolas" panose="020B0609020204030204" pitchFamily="49" charset="0"/>
            </a:endParaRPr>
          </a:p>
        </p:txBody>
      </p:sp>
      <p:pic>
        <p:nvPicPr>
          <p:cNvPr id="4" name="Image 3">
            <a:extLst>
              <a:ext uri="{FF2B5EF4-FFF2-40B4-BE49-F238E27FC236}">
                <a16:creationId xmlns:a16="http://schemas.microsoft.com/office/drawing/2014/main" id="{6174C51C-D929-8484-1139-98EB6447C0F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987814" y="127318"/>
            <a:ext cx="2476500" cy="1397000"/>
          </a:xfrm>
          <a:prstGeom prst="rect">
            <a:avLst/>
          </a:prstGeom>
        </p:spPr>
      </p:pic>
      <p:sp>
        <p:nvSpPr>
          <p:cNvPr id="5" name="Espace réservé du numéro de diapositive 4">
            <a:extLst>
              <a:ext uri="{FF2B5EF4-FFF2-40B4-BE49-F238E27FC236}">
                <a16:creationId xmlns:a16="http://schemas.microsoft.com/office/drawing/2014/main" id="{823A934C-0736-56E7-FB50-F35904621E40}"/>
              </a:ext>
            </a:extLst>
          </p:cNvPr>
          <p:cNvSpPr>
            <a:spLocks noGrp="1"/>
          </p:cNvSpPr>
          <p:nvPr>
            <p:ph type="sldNum" sz="quarter" idx="4"/>
          </p:nvPr>
        </p:nvSpPr>
        <p:spPr/>
        <p:txBody>
          <a:bodyPr/>
          <a:lstStyle/>
          <a:p>
            <a:fld id="{33C783E2-4793-4F48-A271-51A73CC37D74}" type="slidenum">
              <a:rPr lang="fr-FR" smtClean="0"/>
              <a:t>37</a:t>
            </a:fld>
            <a:endParaRPr lang="fr-FR"/>
          </a:p>
        </p:txBody>
      </p:sp>
    </p:spTree>
    <p:extLst>
      <p:ext uri="{BB962C8B-B14F-4D97-AF65-F5344CB8AC3E}">
        <p14:creationId xmlns:p14="http://schemas.microsoft.com/office/powerpoint/2010/main" val="24392416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Algorithmes de Transformation</a:t>
            </a:r>
          </a:p>
        </p:txBody>
      </p:sp>
      <p:sp>
        <p:nvSpPr>
          <p:cNvPr id="3" name="Espace réservé du contenu 2"/>
          <p:cNvSpPr>
            <a:spLocks noGrp="1"/>
          </p:cNvSpPr>
          <p:nvPr>
            <p:ph idx="1"/>
          </p:nvPr>
        </p:nvSpPr>
        <p:spPr>
          <a:xfrm>
            <a:off x="838200" y="1825625"/>
            <a:ext cx="10626114" cy="4351338"/>
          </a:xfrm>
        </p:spPr>
        <p:txBody>
          <a:bodyPr>
            <a:normAutofit/>
          </a:bodyPr>
          <a:lstStyle/>
          <a:p>
            <a:pPr marL="342900" indent="-342900"/>
            <a:r>
              <a:rPr lang="fr-BE" sz="2000" dirty="0" err="1">
                <a:solidFill>
                  <a:schemeClr val="accent4"/>
                </a:solidFill>
                <a:latin typeface="Consolas" panose="020B0609020204030204" pitchFamily="49" charset="0"/>
                <a:cs typeface="Consolas" panose="020B0609020204030204" pitchFamily="49" charset="0"/>
              </a:rPr>
              <a:t>void</a:t>
            </a:r>
            <a:r>
              <a:rPr lang="fr-BE" sz="2000" dirty="0">
                <a:solidFill>
                  <a:schemeClr val="accent4"/>
                </a:solidFill>
                <a:latin typeface="Consolas" panose="020B0609020204030204" pitchFamily="49" charset="0"/>
                <a:cs typeface="Consolas" panose="020B0609020204030204" pitchFamily="49" charset="0"/>
              </a:rPr>
              <a:t> sort(Collection&lt;</a:t>
            </a:r>
            <a:r>
              <a:rPr lang="fr-BE" sz="2000" dirty="0" err="1">
                <a:solidFill>
                  <a:schemeClr val="accent4"/>
                </a:solidFill>
                <a:latin typeface="Consolas" panose="020B0609020204030204" pitchFamily="49" charset="0"/>
                <a:cs typeface="Consolas" panose="020B0609020204030204" pitchFamily="49" charset="0"/>
              </a:rPr>
              <a:t>T</a:t>
            </a:r>
            <a:r>
              <a:rPr lang="fr-BE" sz="2000" dirty="0">
                <a:solidFill>
                  <a:schemeClr val="accent4"/>
                </a:solidFill>
                <a:latin typeface="Consolas" panose="020B0609020204030204" pitchFamily="49" charset="0"/>
                <a:cs typeface="Consolas" panose="020B0609020204030204" pitchFamily="49" charset="0"/>
              </a:rPr>
              <a:t>&gt; col)</a:t>
            </a:r>
            <a:r>
              <a:rPr lang="fr-FR" sz="2200" dirty="0"/>
              <a:t> pour trier.</a:t>
            </a:r>
          </a:p>
          <a:p>
            <a:pPr marL="342900" indent="-342900"/>
            <a:r>
              <a:rPr lang="fr-BE" sz="2000" dirty="0" err="1">
                <a:solidFill>
                  <a:schemeClr val="accent4"/>
                </a:solidFill>
                <a:latin typeface="Consolas" panose="020B0609020204030204" pitchFamily="49" charset="0"/>
                <a:cs typeface="Consolas" panose="020B0609020204030204" pitchFamily="49" charset="0"/>
              </a:rPr>
              <a:t>void</a:t>
            </a:r>
            <a:r>
              <a:rPr lang="fr-BE" sz="2000" dirty="0">
                <a:solidFill>
                  <a:schemeClr val="accent4"/>
                </a:solidFill>
                <a:latin typeface="Consolas" panose="020B0609020204030204" pitchFamily="49" charset="0"/>
                <a:cs typeface="Consolas" panose="020B0609020204030204" pitchFamily="49" charset="0"/>
              </a:rPr>
              <a:t> </a:t>
            </a:r>
            <a:r>
              <a:rPr lang="fr-BE" sz="2000" dirty="0" err="1">
                <a:solidFill>
                  <a:schemeClr val="accent4"/>
                </a:solidFill>
                <a:latin typeface="Consolas" panose="020B0609020204030204" pitchFamily="49" charset="0"/>
                <a:cs typeface="Consolas" panose="020B0609020204030204" pitchFamily="49" charset="0"/>
              </a:rPr>
              <a:t>shuffle</a:t>
            </a:r>
            <a:r>
              <a:rPr lang="fr-BE" sz="2000" dirty="0">
                <a:solidFill>
                  <a:schemeClr val="accent4"/>
                </a:solidFill>
                <a:latin typeface="Consolas" panose="020B0609020204030204" pitchFamily="49" charset="0"/>
                <a:cs typeface="Consolas" panose="020B0609020204030204" pitchFamily="49" charset="0"/>
              </a:rPr>
              <a:t>(Collection&lt;</a:t>
            </a:r>
            <a:r>
              <a:rPr lang="fr-BE" sz="2000" dirty="0" err="1">
                <a:solidFill>
                  <a:schemeClr val="accent4"/>
                </a:solidFill>
                <a:latin typeface="Consolas" panose="020B0609020204030204" pitchFamily="49" charset="0"/>
                <a:cs typeface="Consolas" panose="020B0609020204030204" pitchFamily="49" charset="0"/>
              </a:rPr>
              <a:t>T</a:t>
            </a:r>
            <a:r>
              <a:rPr lang="fr-BE" sz="2000" dirty="0">
                <a:solidFill>
                  <a:schemeClr val="accent4"/>
                </a:solidFill>
                <a:latin typeface="Consolas" panose="020B0609020204030204" pitchFamily="49" charset="0"/>
                <a:cs typeface="Consolas" panose="020B0609020204030204" pitchFamily="49" charset="0"/>
              </a:rPr>
              <a:t>&gt; col)</a:t>
            </a:r>
            <a:r>
              <a:rPr lang="fr-FR" sz="2200" dirty="0"/>
              <a:t> ou </a:t>
            </a:r>
            <a:r>
              <a:rPr lang="fr-BE" sz="2000" dirty="0" err="1">
                <a:solidFill>
                  <a:schemeClr val="accent4"/>
                </a:solidFill>
                <a:latin typeface="Consolas" panose="020B0609020204030204" pitchFamily="49" charset="0"/>
                <a:cs typeface="Consolas" panose="020B0609020204030204" pitchFamily="49" charset="0"/>
              </a:rPr>
              <a:t>shuffle</a:t>
            </a:r>
            <a:r>
              <a:rPr lang="fr-BE" sz="2000" dirty="0">
                <a:solidFill>
                  <a:schemeClr val="accent4"/>
                </a:solidFill>
                <a:latin typeface="Consolas" panose="020B0609020204030204" pitchFamily="49" charset="0"/>
                <a:cs typeface="Consolas" panose="020B0609020204030204" pitchFamily="49" charset="0"/>
              </a:rPr>
              <a:t>(Collection&lt;</a:t>
            </a:r>
            <a:r>
              <a:rPr lang="fr-BE" sz="2000" dirty="0" err="1">
                <a:solidFill>
                  <a:schemeClr val="accent4"/>
                </a:solidFill>
                <a:latin typeface="Consolas" panose="020B0609020204030204" pitchFamily="49" charset="0"/>
                <a:cs typeface="Consolas" panose="020B0609020204030204" pitchFamily="49" charset="0"/>
              </a:rPr>
              <a:t>T</a:t>
            </a:r>
            <a:r>
              <a:rPr lang="fr-BE" sz="2000" dirty="0">
                <a:solidFill>
                  <a:schemeClr val="accent4"/>
                </a:solidFill>
                <a:latin typeface="Consolas" panose="020B0609020204030204" pitchFamily="49" charset="0"/>
                <a:cs typeface="Consolas" panose="020B0609020204030204" pitchFamily="49" charset="0"/>
              </a:rPr>
              <a:t>&gt; col, </a:t>
            </a:r>
            <a:r>
              <a:rPr lang="fr-BE" sz="2000" dirty="0" err="1">
                <a:solidFill>
                  <a:schemeClr val="accent4"/>
                </a:solidFill>
                <a:latin typeface="Consolas" panose="020B0609020204030204" pitchFamily="49" charset="0"/>
                <a:cs typeface="Consolas" panose="020B0609020204030204" pitchFamily="49" charset="0"/>
              </a:rPr>
              <a:t>Random</a:t>
            </a:r>
            <a:r>
              <a:rPr lang="fr-BE" sz="2000" dirty="0">
                <a:solidFill>
                  <a:schemeClr val="accent4"/>
                </a:solidFill>
                <a:latin typeface="Consolas" panose="020B0609020204030204" pitchFamily="49" charset="0"/>
                <a:cs typeface="Consolas" panose="020B0609020204030204" pitchFamily="49" charset="0"/>
              </a:rPr>
              <a:t> </a:t>
            </a:r>
            <a:r>
              <a:rPr lang="fr-BE" sz="2000" dirty="0" err="1">
                <a:solidFill>
                  <a:schemeClr val="accent4"/>
                </a:solidFill>
                <a:latin typeface="Consolas" panose="020B0609020204030204" pitchFamily="49" charset="0"/>
                <a:cs typeface="Consolas" panose="020B0609020204030204" pitchFamily="49" charset="0"/>
              </a:rPr>
              <a:t>rnd</a:t>
            </a:r>
            <a:r>
              <a:rPr lang="fr-BE" sz="2000" dirty="0">
                <a:solidFill>
                  <a:schemeClr val="accent4"/>
                </a:solidFill>
                <a:latin typeface="Consolas" panose="020B0609020204030204" pitchFamily="49" charset="0"/>
                <a:cs typeface="Consolas" panose="020B0609020204030204" pitchFamily="49" charset="0"/>
              </a:rPr>
              <a:t>)</a:t>
            </a:r>
            <a:r>
              <a:rPr lang="fr-FR" sz="2000" dirty="0"/>
              <a:t> </a:t>
            </a:r>
            <a:r>
              <a:rPr lang="fr-FR" sz="2200" dirty="0"/>
              <a:t>pour mélanger.</a:t>
            </a:r>
          </a:p>
          <a:p>
            <a:pPr marL="342900" indent="-342900"/>
            <a:endParaRPr lang="fr-FR" sz="2200" dirty="0"/>
          </a:p>
          <a:p>
            <a:pPr marL="342900" indent="-342900"/>
            <a:r>
              <a:rPr lang="fr-BE" sz="2000" dirty="0" err="1">
                <a:solidFill>
                  <a:schemeClr val="accent4"/>
                </a:solidFill>
                <a:latin typeface="Consolas" panose="020B0609020204030204" pitchFamily="49" charset="0"/>
                <a:cs typeface="Consolas" panose="020B0609020204030204" pitchFamily="49" charset="0"/>
              </a:rPr>
              <a:t>void</a:t>
            </a:r>
            <a:r>
              <a:rPr lang="fr-BE" sz="2000" dirty="0">
                <a:solidFill>
                  <a:schemeClr val="accent4"/>
                </a:solidFill>
                <a:latin typeface="Consolas" panose="020B0609020204030204" pitchFamily="49" charset="0"/>
                <a:cs typeface="Consolas" panose="020B0609020204030204" pitchFamily="49" charset="0"/>
              </a:rPr>
              <a:t> </a:t>
            </a:r>
            <a:r>
              <a:rPr lang="fr-BE" sz="2000" dirty="0" err="1">
                <a:solidFill>
                  <a:schemeClr val="accent4"/>
                </a:solidFill>
                <a:latin typeface="Consolas" panose="020B0609020204030204" pitchFamily="49" charset="0"/>
                <a:cs typeface="Consolas" panose="020B0609020204030204" pitchFamily="49" charset="0"/>
              </a:rPr>
              <a:t>rotate</a:t>
            </a:r>
            <a:r>
              <a:rPr lang="fr-BE" sz="2000" dirty="0">
                <a:solidFill>
                  <a:schemeClr val="accent4"/>
                </a:solidFill>
                <a:latin typeface="Consolas" panose="020B0609020204030204" pitchFamily="49" charset="0"/>
                <a:cs typeface="Consolas" panose="020B0609020204030204" pitchFamily="49" charset="0"/>
              </a:rPr>
              <a:t>(List&lt;</a:t>
            </a:r>
            <a:r>
              <a:rPr lang="fr-BE" sz="2000" dirty="0" err="1">
                <a:solidFill>
                  <a:schemeClr val="accent4"/>
                </a:solidFill>
                <a:latin typeface="Consolas" panose="020B0609020204030204" pitchFamily="49" charset="0"/>
                <a:cs typeface="Consolas" panose="020B0609020204030204" pitchFamily="49" charset="0"/>
              </a:rPr>
              <a:t>T</a:t>
            </a:r>
            <a:r>
              <a:rPr lang="fr-BE" sz="2000" dirty="0">
                <a:solidFill>
                  <a:schemeClr val="accent4"/>
                </a:solidFill>
                <a:latin typeface="Consolas" panose="020B0609020204030204" pitchFamily="49" charset="0"/>
                <a:cs typeface="Consolas" panose="020B0609020204030204" pitchFamily="49" charset="0"/>
              </a:rPr>
              <a:t>&gt; ls, </a:t>
            </a:r>
            <a:r>
              <a:rPr lang="fr-BE" sz="2000" dirty="0" err="1">
                <a:solidFill>
                  <a:schemeClr val="accent4"/>
                </a:solidFill>
                <a:latin typeface="Consolas" panose="020B0609020204030204" pitchFamily="49" charset="0"/>
                <a:cs typeface="Consolas" panose="020B0609020204030204" pitchFamily="49" charset="0"/>
              </a:rPr>
              <a:t>int</a:t>
            </a:r>
            <a:r>
              <a:rPr lang="fr-BE" sz="2000" dirty="0">
                <a:solidFill>
                  <a:schemeClr val="accent4"/>
                </a:solidFill>
                <a:latin typeface="Consolas" panose="020B0609020204030204" pitchFamily="49" charset="0"/>
                <a:cs typeface="Consolas" panose="020B0609020204030204" pitchFamily="49" charset="0"/>
              </a:rPr>
              <a:t> </a:t>
            </a:r>
            <a:r>
              <a:rPr lang="fr-BE" sz="2000" dirty="0" err="1">
                <a:solidFill>
                  <a:schemeClr val="accent4"/>
                </a:solidFill>
                <a:latin typeface="Consolas" panose="020B0609020204030204" pitchFamily="49" charset="0"/>
                <a:cs typeface="Consolas" panose="020B0609020204030204" pitchFamily="49" charset="0"/>
              </a:rPr>
              <a:t>dist</a:t>
            </a:r>
            <a:r>
              <a:rPr lang="fr-BE" sz="2000" dirty="0">
                <a:solidFill>
                  <a:schemeClr val="accent4"/>
                </a:solidFill>
                <a:latin typeface="Consolas" panose="020B0609020204030204" pitchFamily="49" charset="0"/>
                <a:cs typeface="Consolas" panose="020B0609020204030204" pitchFamily="49" charset="0"/>
              </a:rPr>
              <a:t>)</a:t>
            </a:r>
            <a:r>
              <a:rPr lang="fr-FR" sz="2200" dirty="0"/>
              <a:t> pour décaler les éléments d’une liste.</a:t>
            </a:r>
          </a:p>
          <a:p>
            <a:pPr marL="342900" indent="-342900"/>
            <a:r>
              <a:rPr lang="fr-BE" sz="2000" dirty="0" err="1">
                <a:solidFill>
                  <a:schemeClr val="accent4"/>
                </a:solidFill>
                <a:latin typeface="Consolas" panose="020B0609020204030204" pitchFamily="49" charset="0"/>
                <a:cs typeface="Consolas" panose="020B0609020204030204" pitchFamily="49" charset="0"/>
              </a:rPr>
              <a:t>void</a:t>
            </a:r>
            <a:r>
              <a:rPr lang="fr-BE" sz="2000" dirty="0">
                <a:solidFill>
                  <a:schemeClr val="accent4"/>
                </a:solidFill>
                <a:latin typeface="Consolas" panose="020B0609020204030204" pitchFamily="49" charset="0"/>
                <a:cs typeface="Consolas" panose="020B0609020204030204" pitchFamily="49" charset="0"/>
              </a:rPr>
              <a:t> swap(List&lt;</a:t>
            </a:r>
            <a:r>
              <a:rPr lang="fr-BE" sz="2000" dirty="0" err="1">
                <a:solidFill>
                  <a:schemeClr val="accent4"/>
                </a:solidFill>
                <a:latin typeface="Consolas" panose="020B0609020204030204" pitchFamily="49" charset="0"/>
                <a:cs typeface="Consolas" panose="020B0609020204030204" pitchFamily="49" charset="0"/>
              </a:rPr>
              <a:t>T</a:t>
            </a:r>
            <a:r>
              <a:rPr lang="fr-BE" sz="2000" dirty="0">
                <a:solidFill>
                  <a:schemeClr val="accent4"/>
                </a:solidFill>
                <a:latin typeface="Consolas" panose="020B0609020204030204" pitchFamily="49" charset="0"/>
                <a:cs typeface="Consolas" panose="020B0609020204030204" pitchFamily="49" charset="0"/>
              </a:rPr>
              <a:t>&gt; ls, </a:t>
            </a:r>
            <a:r>
              <a:rPr lang="fr-BE" sz="2000" dirty="0" err="1">
                <a:solidFill>
                  <a:schemeClr val="accent4"/>
                </a:solidFill>
                <a:latin typeface="Consolas" panose="020B0609020204030204" pitchFamily="49" charset="0"/>
                <a:cs typeface="Consolas" panose="020B0609020204030204" pitchFamily="49" charset="0"/>
              </a:rPr>
              <a:t>int</a:t>
            </a:r>
            <a:r>
              <a:rPr lang="fr-BE" sz="2000" dirty="0">
                <a:solidFill>
                  <a:schemeClr val="accent4"/>
                </a:solidFill>
                <a:latin typeface="Consolas" panose="020B0609020204030204" pitchFamily="49" charset="0"/>
                <a:cs typeface="Consolas" panose="020B0609020204030204" pitchFamily="49" charset="0"/>
              </a:rPr>
              <a:t> i, </a:t>
            </a:r>
            <a:r>
              <a:rPr lang="fr-BE" sz="2000" dirty="0" err="1">
                <a:solidFill>
                  <a:schemeClr val="accent4"/>
                </a:solidFill>
                <a:latin typeface="Consolas" panose="020B0609020204030204" pitchFamily="49" charset="0"/>
                <a:cs typeface="Consolas" panose="020B0609020204030204" pitchFamily="49" charset="0"/>
              </a:rPr>
              <a:t>int</a:t>
            </a:r>
            <a:r>
              <a:rPr lang="fr-BE" sz="2000" dirty="0">
                <a:solidFill>
                  <a:schemeClr val="accent4"/>
                </a:solidFill>
                <a:latin typeface="Consolas" panose="020B0609020204030204" pitchFamily="49" charset="0"/>
                <a:cs typeface="Consolas" panose="020B0609020204030204" pitchFamily="49" charset="0"/>
              </a:rPr>
              <a:t> j)</a:t>
            </a:r>
            <a:r>
              <a:rPr lang="fr-FR" sz="2200" dirty="0"/>
              <a:t> échange deux éléments d’une liste.</a:t>
            </a:r>
          </a:p>
          <a:p>
            <a:pPr marL="342900" indent="-342900"/>
            <a:r>
              <a:rPr lang="fr-BE" sz="2000" dirty="0" err="1">
                <a:solidFill>
                  <a:schemeClr val="accent4"/>
                </a:solidFill>
                <a:latin typeface="Consolas" panose="020B0609020204030204" pitchFamily="49" charset="0"/>
                <a:cs typeface="Consolas" panose="020B0609020204030204" pitchFamily="49" charset="0"/>
              </a:rPr>
              <a:t>boolean</a:t>
            </a:r>
            <a:r>
              <a:rPr lang="fr-BE" sz="2000" dirty="0">
                <a:solidFill>
                  <a:schemeClr val="accent4"/>
                </a:solidFill>
                <a:latin typeface="Consolas" panose="020B0609020204030204" pitchFamily="49" charset="0"/>
                <a:cs typeface="Consolas" panose="020B0609020204030204" pitchFamily="49" charset="0"/>
              </a:rPr>
              <a:t> </a:t>
            </a:r>
            <a:r>
              <a:rPr lang="fr-BE" sz="2000" dirty="0" err="1">
                <a:solidFill>
                  <a:schemeClr val="accent4"/>
                </a:solidFill>
                <a:latin typeface="Consolas" panose="020B0609020204030204" pitchFamily="49" charset="0"/>
                <a:cs typeface="Consolas" panose="020B0609020204030204" pitchFamily="49" charset="0"/>
              </a:rPr>
              <a:t>replaceAll</a:t>
            </a:r>
            <a:r>
              <a:rPr lang="fr-BE" sz="2000" dirty="0">
                <a:solidFill>
                  <a:schemeClr val="accent4"/>
                </a:solidFill>
                <a:latin typeface="Consolas" panose="020B0609020204030204" pitchFamily="49" charset="0"/>
                <a:cs typeface="Consolas" panose="020B0609020204030204" pitchFamily="49" charset="0"/>
              </a:rPr>
              <a:t>(List&lt;</a:t>
            </a:r>
            <a:r>
              <a:rPr lang="fr-BE" sz="2000" dirty="0" err="1">
                <a:solidFill>
                  <a:schemeClr val="accent4"/>
                </a:solidFill>
                <a:latin typeface="Consolas" panose="020B0609020204030204" pitchFamily="49" charset="0"/>
                <a:cs typeface="Consolas" panose="020B0609020204030204" pitchFamily="49" charset="0"/>
              </a:rPr>
              <a:t>T</a:t>
            </a:r>
            <a:r>
              <a:rPr lang="fr-BE" sz="2000" dirty="0">
                <a:solidFill>
                  <a:schemeClr val="accent4"/>
                </a:solidFill>
                <a:latin typeface="Consolas" panose="020B0609020204030204" pitchFamily="49" charset="0"/>
                <a:cs typeface="Consolas" panose="020B0609020204030204" pitchFamily="49" charset="0"/>
              </a:rPr>
              <a:t>&gt; </a:t>
            </a:r>
            <a:r>
              <a:rPr lang="fr-BE" sz="2000" dirty="0" err="1">
                <a:solidFill>
                  <a:schemeClr val="accent4"/>
                </a:solidFill>
                <a:latin typeface="Consolas" panose="020B0609020204030204" pitchFamily="49" charset="0"/>
                <a:cs typeface="Consolas" panose="020B0609020204030204" pitchFamily="49" charset="0"/>
              </a:rPr>
              <a:t>list</a:t>
            </a:r>
            <a:r>
              <a:rPr lang="fr-BE" sz="2000" dirty="0">
                <a:solidFill>
                  <a:schemeClr val="accent4"/>
                </a:solidFill>
                <a:latin typeface="Consolas" panose="020B0609020204030204" pitchFamily="49" charset="0"/>
                <a:cs typeface="Consolas" panose="020B0609020204030204" pitchFamily="49" charset="0"/>
              </a:rPr>
              <a:t>, </a:t>
            </a:r>
            <a:r>
              <a:rPr lang="fr-BE" sz="2000" dirty="0" err="1">
                <a:solidFill>
                  <a:schemeClr val="accent4"/>
                </a:solidFill>
                <a:latin typeface="Consolas" panose="020B0609020204030204" pitchFamily="49" charset="0"/>
                <a:cs typeface="Consolas" panose="020B0609020204030204" pitchFamily="49" charset="0"/>
              </a:rPr>
              <a:t>T</a:t>
            </a:r>
            <a:r>
              <a:rPr lang="fr-BE" sz="2000" dirty="0">
                <a:solidFill>
                  <a:schemeClr val="accent4"/>
                </a:solidFill>
                <a:latin typeface="Consolas" panose="020B0609020204030204" pitchFamily="49" charset="0"/>
                <a:cs typeface="Consolas" panose="020B0609020204030204" pitchFamily="49" charset="0"/>
              </a:rPr>
              <a:t> </a:t>
            </a:r>
            <a:r>
              <a:rPr lang="fr-BE" sz="2000" dirty="0" err="1">
                <a:solidFill>
                  <a:schemeClr val="accent4"/>
                </a:solidFill>
                <a:latin typeface="Consolas" panose="020B0609020204030204" pitchFamily="49" charset="0"/>
                <a:cs typeface="Consolas" panose="020B0609020204030204" pitchFamily="49" charset="0"/>
              </a:rPr>
              <a:t>oldVal</a:t>
            </a:r>
            <a:r>
              <a:rPr lang="fr-BE" sz="2000" dirty="0">
                <a:solidFill>
                  <a:schemeClr val="accent4"/>
                </a:solidFill>
                <a:latin typeface="Consolas" panose="020B0609020204030204" pitchFamily="49" charset="0"/>
                <a:cs typeface="Consolas" panose="020B0609020204030204" pitchFamily="49" charset="0"/>
              </a:rPr>
              <a:t>, </a:t>
            </a:r>
            <a:r>
              <a:rPr lang="fr-BE" sz="2000" dirty="0" err="1">
                <a:solidFill>
                  <a:schemeClr val="accent4"/>
                </a:solidFill>
                <a:latin typeface="Consolas" panose="020B0609020204030204" pitchFamily="49" charset="0"/>
                <a:cs typeface="Consolas" panose="020B0609020204030204" pitchFamily="49" charset="0"/>
              </a:rPr>
              <a:t>T</a:t>
            </a:r>
            <a:r>
              <a:rPr lang="fr-BE" sz="2000" dirty="0">
                <a:solidFill>
                  <a:schemeClr val="accent4"/>
                </a:solidFill>
                <a:latin typeface="Consolas" panose="020B0609020204030204" pitchFamily="49" charset="0"/>
                <a:cs typeface="Consolas" panose="020B0609020204030204" pitchFamily="49" charset="0"/>
              </a:rPr>
              <a:t> </a:t>
            </a:r>
            <a:r>
              <a:rPr lang="fr-BE" sz="2000" dirty="0" err="1">
                <a:solidFill>
                  <a:schemeClr val="accent4"/>
                </a:solidFill>
                <a:latin typeface="Consolas" panose="020B0609020204030204" pitchFamily="49" charset="0"/>
                <a:cs typeface="Consolas" panose="020B0609020204030204" pitchFamily="49" charset="0"/>
              </a:rPr>
              <a:t>newVal</a:t>
            </a:r>
            <a:r>
              <a:rPr lang="fr-BE" sz="2000" dirty="0">
                <a:solidFill>
                  <a:schemeClr val="accent4"/>
                </a:solidFill>
                <a:latin typeface="Consolas" panose="020B0609020204030204" pitchFamily="49" charset="0"/>
                <a:cs typeface="Consolas" panose="020B0609020204030204" pitchFamily="49" charset="0"/>
              </a:rPr>
              <a:t>)</a:t>
            </a:r>
            <a:r>
              <a:rPr lang="fr-FR" sz="2200" dirty="0"/>
              <a:t> remplace les occurrences d’éléments par d’autres.</a:t>
            </a:r>
          </a:p>
          <a:p>
            <a:pPr marL="342900" indent="-342900"/>
            <a:r>
              <a:rPr lang="fr-BE" sz="2000" dirty="0" err="1">
                <a:solidFill>
                  <a:schemeClr val="accent4"/>
                </a:solidFill>
                <a:latin typeface="Consolas" panose="020B0609020204030204" pitchFamily="49" charset="0"/>
                <a:cs typeface="Consolas" panose="020B0609020204030204" pitchFamily="49" charset="0"/>
              </a:rPr>
              <a:t>void</a:t>
            </a:r>
            <a:r>
              <a:rPr lang="fr-BE" sz="2000" dirty="0">
                <a:solidFill>
                  <a:schemeClr val="accent4"/>
                </a:solidFill>
                <a:latin typeface="Consolas" panose="020B0609020204030204" pitchFamily="49" charset="0"/>
                <a:cs typeface="Consolas" panose="020B0609020204030204" pitchFamily="49" charset="0"/>
              </a:rPr>
              <a:t> </a:t>
            </a:r>
            <a:r>
              <a:rPr lang="fr-BE" sz="2000" dirty="0" err="1">
                <a:solidFill>
                  <a:schemeClr val="accent4"/>
                </a:solidFill>
                <a:latin typeface="Consolas" panose="020B0609020204030204" pitchFamily="49" charset="0"/>
                <a:cs typeface="Consolas" panose="020B0609020204030204" pitchFamily="49" charset="0"/>
              </a:rPr>
              <a:t>fill</a:t>
            </a:r>
            <a:r>
              <a:rPr lang="fr-BE" sz="2000" dirty="0">
                <a:solidFill>
                  <a:schemeClr val="accent4"/>
                </a:solidFill>
                <a:latin typeface="Consolas" panose="020B0609020204030204" pitchFamily="49" charset="0"/>
                <a:cs typeface="Consolas" panose="020B0609020204030204" pitchFamily="49" charset="0"/>
              </a:rPr>
              <a:t>(List&lt;? super </a:t>
            </a:r>
            <a:r>
              <a:rPr lang="fr-BE" sz="2000" dirty="0" err="1">
                <a:solidFill>
                  <a:schemeClr val="accent4"/>
                </a:solidFill>
                <a:latin typeface="Consolas" panose="020B0609020204030204" pitchFamily="49" charset="0"/>
                <a:cs typeface="Consolas" panose="020B0609020204030204" pitchFamily="49" charset="0"/>
              </a:rPr>
              <a:t>T</a:t>
            </a:r>
            <a:r>
              <a:rPr lang="fr-BE" sz="2000" dirty="0">
                <a:solidFill>
                  <a:schemeClr val="accent4"/>
                </a:solidFill>
                <a:latin typeface="Consolas" panose="020B0609020204030204" pitchFamily="49" charset="0"/>
                <a:cs typeface="Consolas" panose="020B0609020204030204" pitchFamily="49" charset="0"/>
              </a:rPr>
              <a:t>&gt; </a:t>
            </a:r>
            <a:r>
              <a:rPr lang="fr-BE" sz="2000" dirty="0" err="1">
                <a:solidFill>
                  <a:schemeClr val="accent4"/>
                </a:solidFill>
                <a:latin typeface="Consolas" panose="020B0609020204030204" pitchFamily="49" charset="0"/>
                <a:cs typeface="Consolas" panose="020B0609020204030204" pitchFamily="49" charset="0"/>
              </a:rPr>
              <a:t>list</a:t>
            </a:r>
            <a:r>
              <a:rPr lang="fr-BE" sz="2000" dirty="0">
                <a:solidFill>
                  <a:schemeClr val="accent4"/>
                </a:solidFill>
                <a:latin typeface="Consolas" panose="020B0609020204030204" pitchFamily="49" charset="0"/>
                <a:cs typeface="Consolas" panose="020B0609020204030204" pitchFamily="49" charset="0"/>
              </a:rPr>
              <a:t>, </a:t>
            </a:r>
            <a:r>
              <a:rPr lang="fr-BE" sz="2000" dirty="0" err="1">
                <a:solidFill>
                  <a:schemeClr val="accent4"/>
                </a:solidFill>
                <a:latin typeface="Consolas" panose="020B0609020204030204" pitchFamily="49" charset="0"/>
                <a:cs typeface="Consolas" panose="020B0609020204030204" pitchFamily="49" charset="0"/>
              </a:rPr>
              <a:t>T</a:t>
            </a:r>
            <a:r>
              <a:rPr lang="fr-BE" sz="2000" dirty="0">
                <a:solidFill>
                  <a:schemeClr val="accent4"/>
                </a:solidFill>
                <a:latin typeface="Consolas" panose="020B0609020204030204" pitchFamily="49" charset="0"/>
                <a:cs typeface="Consolas" panose="020B0609020204030204" pitchFamily="49" charset="0"/>
              </a:rPr>
              <a:t> </a:t>
            </a:r>
            <a:r>
              <a:rPr lang="fr-BE" sz="2000" dirty="0" err="1">
                <a:solidFill>
                  <a:schemeClr val="accent4"/>
                </a:solidFill>
                <a:latin typeface="Consolas" panose="020B0609020204030204" pitchFamily="49" charset="0"/>
                <a:cs typeface="Consolas" panose="020B0609020204030204" pitchFamily="49" charset="0"/>
              </a:rPr>
              <a:t>obj</a:t>
            </a:r>
            <a:r>
              <a:rPr lang="fr-BE" sz="2000" dirty="0">
                <a:solidFill>
                  <a:schemeClr val="accent4"/>
                </a:solidFill>
                <a:latin typeface="Consolas" panose="020B0609020204030204" pitchFamily="49" charset="0"/>
                <a:cs typeface="Consolas" panose="020B0609020204030204" pitchFamily="49" charset="0"/>
              </a:rPr>
              <a:t>)</a:t>
            </a:r>
            <a:r>
              <a:rPr lang="fr-FR" sz="2200" dirty="0"/>
              <a:t> remplace les éléments de la liste par </a:t>
            </a:r>
            <a:r>
              <a:rPr lang="fr-BE" sz="2000" dirty="0" err="1">
                <a:solidFill>
                  <a:schemeClr val="accent4"/>
                </a:solidFill>
                <a:latin typeface="Consolas" panose="020B0609020204030204" pitchFamily="49" charset="0"/>
                <a:cs typeface="Consolas" panose="020B0609020204030204" pitchFamily="49" charset="0"/>
              </a:rPr>
              <a:t>obj</a:t>
            </a:r>
            <a:r>
              <a:rPr lang="fr-FR" sz="2200" dirty="0"/>
              <a:t>.</a:t>
            </a:r>
          </a:p>
          <a:p>
            <a:pPr marL="0" indent="0">
              <a:buNone/>
            </a:pPr>
            <a:endParaRPr lang="fr-FR" sz="2200" dirty="0"/>
          </a:p>
        </p:txBody>
      </p:sp>
      <p:pic>
        <p:nvPicPr>
          <p:cNvPr id="4" name="Image 3">
            <a:extLst>
              <a:ext uri="{FF2B5EF4-FFF2-40B4-BE49-F238E27FC236}">
                <a16:creationId xmlns:a16="http://schemas.microsoft.com/office/drawing/2014/main" id="{981F36C7-3719-000C-6D4C-3847DB5A438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987814" y="127318"/>
            <a:ext cx="2476500" cy="1397000"/>
          </a:xfrm>
          <a:prstGeom prst="rect">
            <a:avLst/>
          </a:prstGeom>
        </p:spPr>
      </p:pic>
      <p:sp>
        <p:nvSpPr>
          <p:cNvPr id="5" name="Espace réservé du numéro de diapositive 4">
            <a:extLst>
              <a:ext uri="{FF2B5EF4-FFF2-40B4-BE49-F238E27FC236}">
                <a16:creationId xmlns:a16="http://schemas.microsoft.com/office/drawing/2014/main" id="{A6A48554-E0BC-9010-CFC4-DC87BD94F3EA}"/>
              </a:ext>
            </a:extLst>
          </p:cNvPr>
          <p:cNvSpPr>
            <a:spLocks noGrp="1"/>
          </p:cNvSpPr>
          <p:nvPr>
            <p:ph type="sldNum" sz="quarter" idx="4"/>
          </p:nvPr>
        </p:nvSpPr>
        <p:spPr/>
        <p:txBody>
          <a:bodyPr/>
          <a:lstStyle/>
          <a:p>
            <a:fld id="{33C783E2-4793-4F48-A271-51A73CC37D74}" type="slidenum">
              <a:rPr lang="fr-FR" smtClean="0"/>
              <a:t>38</a:t>
            </a:fld>
            <a:endParaRPr lang="fr-FR"/>
          </a:p>
        </p:txBody>
      </p:sp>
    </p:spTree>
    <p:extLst>
      <p:ext uri="{BB962C8B-B14F-4D97-AF65-F5344CB8AC3E}">
        <p14:creationId xmlns:p14="http://schemas.microsoft.com/office/powerpoint/2010/main" val="12651151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Les collections</a:t>
            </a:r>
          </a:p>
        </p:txBody>
      </p:sp>
      <p:sp>
        <p:nvSpPr>
          <p:cNvPr id="9" name="Espace réservé du contenu 8"/>
          <p:cNvSpPr>
            <a:spLocks noGrp="1"/>
          </p:cNvSpPr>
          <p:nvPr>
            <p:ph idx="1"/>
          </p:nvPr>
        </p:nvSpPr>
        <p:spPr>
          <a:xfrm>
            <a:off x="829408" y="1825625"/>
            <a:ext cx="10515600" cy="4351338"/>
          </a:xfrm>
        </p:spPr>
        <p:txBody>
          <a:bodyPr>
            <a:normAutofit/>
          </a:bodyPr>
          <a:lstStyle/>
          <a:p>
            <a:pPr marL="0" indent="0">
              <a:buNone/>
            </a:pPr>
            <a:r>
              <a:rPr lang="fr-FR" sz="2000" dirty="0"/>
              <a:t>(en anglais)  </a:t>
            </a:r>
            <a:r>
              <a:rPr lang="fr-FR" sz="2000" i="1" dirty="0">
                <a:solidFill>
                  <a:schemeClr val="accent2"/>
                </a:solidFill>
                <a:hlinkClick r:id="rId2"/>
              </a:rPr>
              <a:t>http://docs.oracle.com/javase/tutorial/collections/</a:t>
            </a:r>
            <a:endParaRPr lang="fr-FR" sz="2000" i="1" dirty="0">
              <a:solidFill>
                <a:schemeClr val="accent2"/>
              </a:solidFill>
            </a:endParaRPr>
          </a:p>
          <a:p>
            <a:pPr marL="0" indent="0">
              <a:buNone/>
            </a:pPr>
            <a:endParaRPr lang="fr-FR" sz="2000" i="1" dirty="0">
              <a:solidFill>
                <a:schemeClr val="accent2"/>
              </a:solidFill>
            </a:endParaRPr>
          </a:p>
          <a:p>
            <a:pPr marL="0" indent="0">
              <a:buNone/>
            </a:pPr>
            <a:r>
              <a:rPr lang="fr-FR" sz="2000" dirty="0"/>
              <a:t>La </a:t>
            </a:r>
            <a:r>
              <a:rPr lang="fr-FR" sz="2000" dirty="0" err="1"/>
              <a:t>javadoc</a:t>
            </a:r>
            <a:r>
              <a:rPr lang="fr-FR" sz="2000" dirty="0"/>
              <a:t> des différentes interfaces et classes est aussi utile:</a:t>
            </a:r>
          </a:p>
          <a:p>
            <a:pPr marL="0" indent="0">
              <a:buNone/>
            </a:pPr>
            <a:r>
              <a:rPr lang="fr-FR" sz="2000" dirty="0">
                <a:solidFill>
                  <a:schemeClr val="accent2"/>
                </a:solidFill>
                <a:hlinkClick r:id="rId3"/>
              </a:rPr>
              <a:t>https://</a:t>
            </a:r>
            <a:r>
              <a:rPr lang="fr-FR" sz="2000" dirty="0" err="1">
                <a:solidFill>
                  <a:schemeClr val="accent2"/>
                </a:solidFill>
                <a:hlinkClick r:id="rId3"/>
              </a:rPr>
              <a:t>docs.oracle.com</a:t>
            </a:r>
            <a:r>
              <a:rPr lang="fr-FR" sz="2000" dirty="0">
                <a:solidFill>
                  <a:schemeClr val="accent2"/>
                </a:solidFill>
                <a:hlinkClick r:id="rId3"/>
              </a:rPr>
              <a:t>/</a:t>
            </a:r>
            <a:r>
              <a:rPr lang="fr-FR" sz="2000" dirty="0" err="1">
                <a:solidFill>
                  <a:schemeClr val="accent2"/>
                </a:solidFill>
                <a:hlinkClick r:id="rId3"/>
              </a:rPr>
              <a:t>javase</a:t>
            </a:r>
            <a:r>
              <a:rPr lang="fr-FR" sz="2000" dirty="0">
                <a:solidFill>
                  <a:schemeClr val="accent2"/>
                </a:solidFill>
                <a:hlinkClick r:id="rId3"/>
              </a:rPr>
              <a:t>/8/docs/api/</a:t>
            </a:r>
            <a:r>
              <a:rPr lang="fr-FR" sz="2000" dirty="0" err="1">
                <a:solidFill>
                  <a:schemeClr val="accent2"/>
                </a:solidFill>
                <a:hlinkClick r:id="rId3"/>
              </a:rPr>
              <a:t>index.html?java</a:t>
            </a:r>
            <a:r>
              <a:rPr lang="fr-FR" sz="2000" dirty="0">
                <a:solidFill>
                  <a:schemeClr val="accent2"/>
                </a:solidFill>
                <a:hlinkClick r:id="rId3"/>
              </a:rPr>
              <a:t>/</a:t>
            </a:r>
            <a:r>
              <a:rPr lang="fr-FR" sz="2000" dirty="0" err="1">
                <a:solidFill>
                  <a:schemeClr val="accent2"/>
                </a:solidFill>
                <a:hlinkClick r:id="rId3"/>
              </a:rPr>
              <a:t>util</a:t>
            </a:r>
            <a:r>
              <a:rPr lang="fr-FR" sz="2000" dirty="0">
                <a:solidFill>
                  <a:schemeClr val="accent2"/>
                </a:solidFill>
                <a:hlinkClick r:id="rId3"/>
              </a:rPr>
              <a:t>/</a:t>
            </a:r>
            <a:r>
              <a:rPr lang="fr-FR" sz="2000" dirty="0" err="1">
                <a:solidFill>
                  <a:schemeClr val="accent2"/>
                </a:solidFill>
                <a:hlinkClick r:id="rId3"/>
              </a:rPr>
              <a:t>Collection.html</a:t>
            </a:r>
            <a:endParaRPr lang="fr-FR" sz="2000" i="1" dirty="0">
              <a:solidFill>
                <a:schemeClr val="accent2"/>
              </a:solidFill>
            </a:endParaRPr>
          </a:p>
          <a:p>
            <a:pPr marL="0" indent="0">
              <a:buNone/>
            </a:pPr>
            <a:endParaRPr lang="fr-FR" sz="2000" dirty="0">
              <a:solidFill>
                <a:schemeClr val="accent2"/>
              </a:solidFill>
            </a:endParaRPr>
          </a:p>
          <a:p>
            <a:pPr marL="0" indent="0">
              <a:buNone/>
            </a:pPr>
            <a:r>
              <a:rPr lang="fr-FR" sz="2000" dirty="0"/>
              <a:t>Voir aussi </a:t>
            </a:r>
          </a:p>
          <a:p>
            <a:pPr marL="0" indent="0">
              <a:buNone/>
            </a:pPr>
            <a:r>
              <a:rPr lang="fr-FR" sz="2000" i="1" dirty="0">
                <a:solidFill>
                  <a:schemeClr val="accent2"/>
                </a:solidFill>
                <a:hlinkClick r:id="rId4"/>
              </a:rPr>
              <a:t>https://openclassrooms.com/courses/apprenez-a-programmer-en-java/les-collections-d-objets</a:t>
            </a:r>
            <a:r>
              <a:rPr lang="fr-FR" sz="2000" i="1" dirty="0">
                <a:solidFill>
                  <a:schemeClr val="accent2"/>
                </a:solidFill>
              </a:rPr>
              <a:t> </a:t>
            </a:r>
          </a:p>
          <a:p>
            <a:pPr marL="0" indent="0">
              <a:buNone/>
            </a:pPr>
            <a:endParaRPr lang="fr-FR" sz="2000" i="1" dirty="0">
              <a:solidFill>
                <a:schemeClr val="accent2"/>
              </a:solidFill>
            </a:endParaRPr>
          </a:p>
          <a:p>
            <a:pPr marL="0" indent="0">
              <a:buNone/>
            </a:pPr>
            <a:r>
              <a:rPr lang="fr-FR" sz="2000" dirty="0"/>
              <a:t>Et aussi (en anglais)</a:t>
            </a:r>
          </a:p>
          <a:p>
            <a:pPr marL="0" indent="0">
              <a:buNone/>
            </a:pPr>
            <a:r>
              <a:rPr lang="fr-FR" sz="2000" i="1" dirty="0">
                <a:hlinkClick r:id="rId5"/>
              </a:rPr>
              <a:t>http://</a:t>
            </a:r>
            <a:r>
              <a:rPr lang="fr-FR" sz="2000" i="1" dirty="0" err="1">
                <a:hlinkClick r:id="rId5"/>
              </a:rPr>
              <a:t>www.javaincloud.com</a:t>
            </a:r>
            <a:r>
              <a:rPr lang="fr-FR" sz="2000" i="1" dirty="0">
                <a:hlinkClick r:id="rId5"/>
              </a:rPr>
              <a:t>/2013/10/collection-framework-part-1.html</a:t>
            </a:r>
            <a:endParaRPr lang="fr-FR" sz="2000" i="1" dirty="0"/>
          </a:p>
        </p:txBody>
      </p:sp>
      <p:pic>
        <p:nvPicPr>
          <p:cNvPr id="3" name="Picture 2" descr="Chaîne tendue PNG transparents - StickPNG">
            <a:extLst>
              <a:ext uri="{FF2B5EF4-FFF2-40B4-BE49-F238E27FC236}">
                <a16:creationId xmlns:a16="http://schemas.microsoft.com/office/drawing/2014/main" id="{ED63CF1B-608C-67BF-03F5-92B8A023D61A}"/>
              </a:ext>
            </a:extLst>
          </p:cNvPr>
          <p:cNvPicPr>
            <a:picLocks noChangeAspect="1" noChangeArrowheads="1"/>
          </p:cNvPicPr>
          <p:nvPr/>
        </p:nvPicPr>
        <p:blipFill rotWithShape="1">
          <a:blip r:embed="rId6" cstate="screen">
            <a:extLst>
              <a:ext uri="{28A0092B-C50C-407E-A947-70E740481C1C}">
                <a14:useLocalDpi xmlns:a14="http://schemas.microsoft.com/office/drawing/2010/main"/>
              </a:ext>
            </a:extLst>
          </a:blip>
          <a:srcRect t="39693" b="39693"/>
          <a:stretch/>
        </p:blipFill>
        <p:spPr bwMode="auto">
          <a:xfrm rot="1476660">
            <a:off x="7279944" y="441435"/>
            <a:ext cx="5321960" cy="877614"/>
          </a:xfrm>
          <a:prstGeom prst="rect">
            <a:avLst/>
          </a:prstGeom>
          <a:noFill/>
          <a:extLst>
            <a:ext uri="{909E8E84-426E-40DD-AFC4-6F175D3DCCD1}">
              <a14:hiddenFill xmlns:a14="http://schemas.microsoft.com/office/drawing/2010/main">
                <a:solidFill>
                  <a:srgbClr val="FFFFFF"/>
                </a:solidFill>
              </a14:hiddenFill>
            </a:ext>
          </a:extLst>
        </p:spPr>
      </p:pic>
      <p:sp>
        <p:nvSpPr>
          <p:cNvPr id="4" name="Espace réservé du numéro de diapositive 3">
            <a:extLst>
              <a:ext uri="{FF2B5EF4-FFF2-40B4-BE49-F238E27FC236}">
                <a16:creationId xmlns:a16="http://schemas.microsoft.com/office/drawing/2014/main" id="{E6899AA9-37FB-21CB-EF34-AAE722D7630C}"/>
              </a:ext>
            </a:extLst>
          </p:cNvPr>
          <p:cNvSpPr>
            <a:spLocks noGrp="1"/>
          </p:cNvSpPr>
          <p:nvPr>
            <p:ph type="sldNum" sz="quarter" idx="4"/>
          </p:nvPr>
        </p:nvSpPr>
        <p:spPr/>
        <p:txBody>
          <a:bodyPr/>
          <a:lstStyle/>
          <a:p>
            <a:fld id="{33C783E2-4793-4F48-A271-51A73CC37D74}" type="slidenum">
              <a:rPr lang="fr-FR" smtClean="0"/>
              <a:t>39</a:t>
            </a:fld>
            <a:endParaRPr lang="fr-FR"/>
          </a:p>
        </p:txBody>
      </p:sp>
    </p:spTree>
    <p:extLst>
      <p:ext uri="{BB962C8B-B14F-4D97-AF65-F5344CB8AC3E}">
        <p14:creationId xmlns:p14="http://schemas.microsoft.com/office/powerpoint/2010/main" val="407362854"/>
      </p:ext>
    </p:extLst>
  </p:cSld>
  <p:clrMapOvr>
    <a:masterClrMapping/>
  </p:clrMapOvr>
  <p:transition>
    <p:push di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Exercices</a:t>
            </a:r>
          </a:p>
        </p:txBody>
      </p:sp>
      <p:sp>
        <p:nvSpPr>
          <p:cNvPr id="3" name="Espace réservé du numéro de diapositive 2">
            <a:extLst>
              <a:ext uri="{FF2B5EF4-FFF2-40B4-BE49-F238E27FC236}">
                <a16:creationId xmlns:a16="http://schemas.microsoft.com/office/drawing/2014/main" id="{FB83DE38-FDBD-CEAD-26EF-E010FAB1AAB3}"/>
              </a:ext>
            </a:extLst>
          </p:cNvPr>
          <p:cNvSpPr>
            <a:spLocks noGrp="1"/>
          </p:cNvSpPr>
          <p:nvPr>
            <p:ph type="sldNum" sz="quarter" idx="4"/>
          </p:nvPr>
        </p:nvSpPr>
        <p:spPr/>
        <p:txBody>
          <a:bodyPr/>
          <a:lstStyle/>
          <a:p>
            <a:fld id="{33C783E2-4793-4F48-A271-51A73CC37D74}" type="slidenum">
              <a:rPr lang="fr-FR" smtClean="0"/>
              <a:t>40</a:t>
            </a:fld>
            <a:endParaRPr lang="fr-FR"/>
          </a:p>
        </p:txBody>
      </p:sp>
      <p:pic>
        <p:nvPicPr>
          <p:cNvPr id="5" name="Picture 2" descr="blog-nutrition-outlet">
            <a:extLst>
              <a:ext uri="{FF2B5EF4-FFF2-40B4-BE49-F238E27FC236}">
                <a16:creationId xmlns:a16="http://schemas.microsoft.com/office/drawing/2014/main" id="{06A9C86B-B231-83AE-105E-3F25F02959E0}"/>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947165" y="624388"/>
            <a:ext cx="5992554" cy="59925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5529924"/>
      </p:ext>
    </p:extLst>
  </p:cSld>
  <p:clrMapOvr>
    <a:masterClrMapping/>
  </p:clrMapOvr>
  <p:transition>
    <p:push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 27</a:t>
            </a:r>
          </a:p>
        </p:txBody>
      </p:sp>
      <p:sp>
        <p:nvSpPr>
          <p:cNvPr id="3" name="Espace réservé du contenu 2"/>
          <p:cNvSpPr>
            <a:spLocks noGrp="1"/>
          </p:cNvSpPr>
          <p:nvPr>
            <p:ph idx="1"/>
          </p:nvPr>
        </p:nvSpPr>
        <p:spPr/>
        <p:txBody>
          <a:bodyPr>
            <a:normAutofit/>
          </a:bodyPr>
          <a:lstStyle/>
          <a:p>
            <a:pPr marL="0" indent="0">
              <a:buNone/>
            </a:pPr>
            <a:r>
              <a:rPr lang="fr-FR" sz="2400" dirty="0" err="1"/>
              <a:t>Écrivez</a:t>
            </a:r>
            <a:r>
              <a:rPr lang="fr-FR" sz="2400" dirty="0"/>
              <a:t> un programme qui construit une collection </a:t>
            </a:r>
            <a:r>
              <a:rPr lang="fr-FR" sz="2400" i="1" dirty="0" err="1"/>
              <a:t>triée</a:t>
            </a:r>
            <a:r>
              <a:rPr lang="fr-FR" sz="2400" i="1" dirty="0"/>
              <a:t> </a:t>
            </a:r>
            <a:r>
              <a:rPr lang="fr-FR" sz="2400" dirty="0"/>
              <a:t>contenant </a:t>
            </a:r>
            <a:r>
              <a:rPr lang="fr-FR" sz="2200" dirty="0">
                <a:solidFill>
                  <a:schemeClr val="accent4"/>
                </a:solidFill>
                <a:latin typeface="Consolas" charset="0"/>
                <a:cs typeface="Consolas" charset="0"/>
              </a:rPr>
              <a:t>n</a:t>
            </a:r>
            <a:r>
              <a:rPr lang="fr-FR" sz="2400" i="1" dirty="0"/>
              <a:t> </a:t>
            </a:r>
            <a:r>
              <a:rPr lang="fr-FR" sz="2400" dirty="0"/>
              <a:t>nombres entiers (</a:t>
            </a:r>
            <a:r>
              <a:rPr lang="fr-FR" sz="2200" dirty="0">
                <a:solidFill>
                  <a:schemeClr val="accent4"/>
                </a:solidFill>
                <a:latin typeface="Consolas" charset="0"/>
                <a:ea typeface="Consolas" charset="0"/>
                <a:cs typeface="Consolas" charset="0"/>
              </a:rPr>
              <a:t>Integer</a:t>
            </a:r>
            <a:r>
              <a:rPr lang="fr-FR" sz="2400" dirty="0"/>
              <a:t>) </a:t>
            </a:r>
            <a:r>
              <a:rPr lang="fr-FR" sz="2400" dirty="0" err="1"/>
              <a:t>tirés</a:t>
            </a:r>
            <a:r>
              <a:rPr lang="fr-FR" sz="2400" dirty="0"/>
              <a:t> au hasard entre 0 et 1000. </a:t>
            </a:r>
          </a:p>
          <a:p>
            <a:pPr marL="0" indent="0">
              <a:buNone/>
            </a:pPr>
            <a:r>
              <a:rPr lang="fr-FR" sz="2400" dirty="0"/>
              <a:t>La valeur de </a:t>
            </a:r>
            <a:r>
              <a:rPr lang="fr-FR" sz="2200" dirty="0">
                <a:solidFill>
                  <a:schemeClr val="accent4"/>
                </a:solidFill>
                <a:latin typeface="Consolas" charset="0"/>
                <a:cs typeface="Consolas" charset="0"/>
              </a:rPr>
              <a:t>n</a:t>
            </a:r>
            <a:r>
              <a:rPr lang="fr-FR" sz="2400" i="1" dirty="0"/>
              <a:t> </a:t>
            </a:r>
            <a:r>
              <a:rPr lang="fr-FR" sz="2400" dirty="0"/>
              <a:t>est lue au </a:t>
            </a:r>
            <a:r>
              <a:rPr lang="fr-FR" sz="2400" dirty="0" err="1"/>
              <a:t>début</a:t>
            </a:r>
            <a:r>
              <a:rPr lang="fr-FR" sz="2400" dirty="0"/>
              <a:t> de l’</a:t>
            </a:r>
            <a:r>
              <a:rPr lang="fr-FR" sz="2400" dirty="0" err="1"/>
              <a:t>exécution</a:t>
            </a:r>
            <a:r>
              <a:rPr lang="fr-FR" sz="2400" dirty="0"/>
              <a:t> ou est un paramètre du programme. </a:t>
            </a:r>
          </a:p>
          <a:p>
            <a:pPr marL="0" indent="0">
              <a:buNone/>
            </a:pPr>
            <a:r>
              <a:rPr lang="fr-FR" sz="2400" dirty="0"/>
              <a:t>Le programme affiche la collection construite afin qu’on puisse constater qu’elle est bien </a:t>
            </a:r>
            <a:r>
              <a:rPr lang="fr-FR" sz="2400" dirty="0" err="1"/>
              <a:t>triée</a:t>
            </a:r>
            <a:r>
              <a:rPr lang="fr-FR" sz="2400" dirty="0"/>
              <a:t>. </a:t>
            </a:r>
          </a:p>
          <a:p>
            <a:r>
              <a:rPr lang="fr-FR" sz="2400" dirty="0"/>
              <a:t>Dans la </a:t>
            </a:r>
            <a:r>
              <a:rPr lang="fr-FR" sz="2400" dirty="0" err="1"/>
              <a:t>première</a:t>
            </a:r>
            <a:r>
              <a:rPr lang="fr-FR" sz="2400" dirty="0"/>
              <a:t> version du programme la collection est une sorte de </a:t>
            </a:r>
            <a:r>
              <a:rPr lang="fr-FR" sz="2200" dirty="0">
                <a:solidFill>
                  <a:schemeClr val="accent4"/>
                </a:solidFill>
                <a:latin typeface="Consolas" charset="0"/>
                <a:cs typeface="Consolas" charset="0"/>
              </a:rPr>
              <a:t>List&lt;Integer&gt;</a:t>
            </a:r>
            <a:r>
              <a:rPr lang="fr-FR" sz="2400" dirty="0"/>
              <a:t> (par exemple un </a:t>
            </a:r>
            <a:r>
              <a:rPr lang="fr-FR" sz="2200" dirty="0" err="1">
                <a:solidFill>
                  <a:schemeClr val="accent4"/>
                </a:solidFill>
                <a:latin typeface="Consolas" charset="0"/>
                <a:cs typeface="Consolas" charset="0"/>
              </a:rPr>
              <a:t>ArrayList</a:t>
            </a:r>
            <a:r>
              <a:rPr lang="fr-FR" sz="2400" dirty="0"/>
              <a:t> ou une </a:t>
            </a:r>
            <a:r>
              <a:rPr lang="fr-FR" sz="2200" dirty="0" err="1">
                <a:solidFill>
                  <a:schemeClr val="accent4"/>
                </a:solidFill>
                <a:latin typeface="Consolas" charset="0"/>
                <a:cs typeface="Consolas" charset="0"/>
              </a:rPr>
              <a:t>LinkedList</a:t>
            </a:r>
            <a:r>
              <a:rPr lang="fr-FR" sz="2400" dirty="0"/>
              <a:t>) que vous triez en utilisant une </a:t>
            </a:r>
            <a:r>
              <a:rPr lang="fr-FR" sz="2400" dirty="0" err="1"/>
              <a:t>méthode</a:t>
            </a:r>
            <a:r>
              <a:rPr lang="fr-FR" sz="2400" dirty="0"/>
              <a:t> statique </a:t>
            </a:r>
            <a:r>
              <a:rPr lang="fr-FR" sz="2400" i="1" dirty="0"/>
              <a:t>ad hoc </a:t>
            </a:r>
            <a:r>
              <a:rPr lang="fr-FR" sz="2400" dirty="0"/>
              <a:t>de la classe </a:t>
            </a:r>
            <a:r>
              <a:rPr lang="fr-FR" sz="2200" dirty="0">
                <a:solidFill>
                  <a:schemeClr val="accent4"/>
                </a:solidFill>
                <a:latin typeface="Consolas" charset="0"/>
                <a:cs typeface="Consolas" charset="0"/>
              </a:rPr>
              <a:t>Collections</a:t>
            </a:r>
            <a:r>
              <a:rPr lang="fr-FR" sz="2400" dirty="0"/>
              <a:t>. </a:t>
            </a:r>
          </a:p>
          <a:p>
            <a:r>
              <a:rPr lang="fr-FR" sz="2400" dirty="0"/>
              <a:t>Dans une </a:t>
            </a:r>
            <a:r>
              <a:rPr lang="fr-FR" sz="2400" dirty="0" err="1"/>
              <a:t>deuxième</a:t>
            </a:r>
            <a:r>
              <a:rPr lang="fr-FR" sz="2400" dirty="0"/>
              <a:t> version, la collection est une sorte de </a:t>
            </a:r>
            <a:r>
              <a:rPr lang="fr-FR" sz="2200" dirty="0">
                <a:solidFill>
                  <a:schemeClr val="accent4"/>
                </a:solidFill>
                <a:latin typeface="Consolas" charset="0"/>
                <a:cs typeface="Consolas" charset="0"/>
              </a:rPr>
              <a:t>Set&lt;Integer&gt;</a:t>
            </a:r>
            <a:r>
              <a:rPr lang="fr-FR" sz="2400" dirty="0">
                <a:solidFill>
                  <a:srgbClr val="C00000"/>
                </a:solidFill>
                <a:latin typeface="Consolas" charset="0"/>
                <a:ea typeface="Consolas" charset="0"/>
                <a:cs typeface="Consolas" charset="0"/>
              </a:rPr>
              <a:t> </a:t>
            </a:r>
            <a:r>
              <a:rPr lang="fr-FR" sz="2400" dirty="0"/>
              <a:t>(un </a:t>
            </a:r>
            <a:r>
              <a:rPr lang="fr-FR" sz="2200" dirty="0" err="1">
                <a:solidFill>
                  <a:schemeClr val="accent4"/>
                </a:solidFill>
                <a:latin typeface="Consolas" charset="0"/>
                <a:cs typeface="Consolas" charset="0"/>
              </a:rPr>
              <a:t>TreeSet</a:t>
            </a:r>
            <a:r>
              <a:rPr lang="fr-FR" sz="2400" dirty="0"/>
              <a:t>) si bien qu’elle est constamment </a:t>
            </a:r>
            <a:r>
              <a:rPr lang="fr-FR" sz="2400" dirty="0" err="1"/>
              <a:t>triée</a:t>
            </a:r>
            <a:r>
              <a:rPr lang="fr-FR" sz="2400" dirty="0"/>
              <a:t>. </a:t>
            </a:r>
          </a:p>
          <a:p>
            <a:pPr marL="0" indent="0">
              <a:buNone/>
            </a:pPr>
            <a:endParaRPr lang="fr-FR" sz="2400" dirty="0"/>
          </a:p>
        </p:txBody>
      </p:sp>
      <p:pic>
        <p:nvPicPr>
          <p:cNvPr id="5" name="Image 4">
            <a:extLst>
              <a:ext uri="{FF2B5EF4-FFF2-40B4-BE49-F238E27FC236}">
                <a16:creationId xmlns:a16="http://schemas.microsoft.com/office/drawing/2014/main" id="{0078040F-3077-7A44-AF41-910DB695C13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901723" y="227193"/>
            <a:ext cx="2648560" cy="1409123"/>
          </a:xfrm>
          <a:prstGeom prst="rect">
            <a:avLst/>
          </a:prstGeom>
        </p:spPr>
      </p:pic>
      <p:sp>
        <p:nvSpPr>
          <p:cNvPr id="4" name="Espace réservé du numéro de diapositive 3">
            <a:extLst>
              <a:ext uri="{FF2B5EF4-FFF2-40B4-BE49-F238E27FC236}">
                <a16:creationId xmlns:a16="http://schemas.microsoft.com/office/drawing/2014/main" id="{B91FBA8F-0C6E-8C35-4E4D-97439AF1DFDF}"/>
              </a:ext>
            </a:extLst>
          </p:cNvPr>
          <p:cNvSpPr>
            <a:spLocks noGrp="1"/>
          </p:cNvSpPr>
          <p:nvPr>
            <p:ph type="sldNum" sz="quarter" idx="4"/>
          </p:nvPr>
        </p:nvSpPr>
        <p:spPr/>
        <p:txBody>
          <a:bodyPr/>
          <a:lstStyle/>
          <a:p>
            <a:fld id="{33C783E2-4793-4F48-A271-51A73CC37D74}" type="slidenum">
              <a:rPr lang="fr-FR" smtClean="0"/>
              <a:t>41</a:t>
            </a:fld>
            <a:endParaRPr lang="fr-FR"/>
          </a:p>
        </p:txBody>
      </p:sp>
    </p:spTree>
    <p:extLst>
      <p:ext uri="{BB962C8B-B14F-4D97-AF65-F5344CB8AC3E}">
        <p14:creationId xmlns:p14="http://schemas.microsoft.com/office/powerpoint/2010/main" val="12489205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 28</a:t>
            </a:r>
          </a:p>
        </p:txBody>
      </p:sp>
      <p:sp>
        <p:nvSpPr>
          <p:cNvPr id="3" name="Espace réservé du contenu 2"/>
          <p:cNvSpPr>
            <a:spLocks noGrp="1"/>
          </p:cNvSpPr>
          <p:nvPr>
            <p:ph idx="1"/>
          </p:nvPr>
        </p:nvSpPr>
        <p:spPr>
          <a:xfrm>
            <a:off x="838199" y="1825625"/>
            <a:ext cx="10783277" cy="4351338"/>
          </a:xfrm>
        </p:spPr>
        <p:txBody>
          <a:bodyPr>
            <a:normAutofit lnSpcReduction="10000"/>
          </a:bodyPr>
          <a:lstStyle/>
          <a:p>
            <a:pPr marL="0" indent="0">
              <a:buNone/>
            </a:pPr>
            <a:r>
              <a:rPr lang="fr-FR" dirty="0"/>
              <a:t>Vous allez modéliser un annuaire</a:t>
            </a:r>
            <a:r>
              <a:rPr lang="fr-FR" dirty="0">
                <a:solidFill>
                  <a:srgbClr val="A6082B"/>
                </a:solidFill>
              </a:rPr>
              <a:t> </a:t>
            </a:r>
            <a:r>
              <a:rPr lang="fr-FR" dirty="0"/>
              <a:t>qui </a:t>
            </a:r>
            <a:r>
              <a:rPr lang="fr-FR" dirty="0" err="1"/>
              <a:t>mémorisere</a:t>
            </a:r>
            <a:r>
              <a:rPr lang="fr-FR" dirty="0"/>
              <a:t> des </a:t>
            </a:r>
            <a:r>
              <a:rPr lang="fr-FR" dirty="0" err="1"/>
              <a:t>numéros</a:t>
            </a:r>
            <a:r>
              <a:rPr lang="fr-FR" dirty="0"/>
              <a:t> de </a:t>
            </a:r>
            <a:r>
              <a:rPr lang="fr-FR" dirty="0" err="1"/>
              <a:t>téléphone</a:t>
            </a:r>
            <a:r>
              <a:rPr lang="fr-FR" dirty="0"/>
              <a:t> et d’adresses. Chaque </a:t>
            </a:r>
            <a:r>
              <a:rPr lang="fr-FR" dirty="0" err="1"/>
              <a:t>entrée</a:t>
            </a:r>
            <a:r>
              <a:rPr lang="fr-FR" dirty="0"/>
              <a:t> de l’annuaire est </a:t>
            </a:r>
            <a:r>
              <a:rPr lang="fr-FR" dirty="0" err="1"/>
              <a:t>représentée</a:t>
            </a:r>
            <a:r>
              <a:rPr lang="fr-FR" dirty="0"/>
              <a:t> par une fiche à plusieurs champs : un </a:t>
            </a:r>
            <a:r>
              <a:rPr lang="fr-FR" sz="2600" dirty="0">
                <a:solidFill>
                  <a:schemeClr val="accent4"/>
                </a:solidFill>
                <a:latin typeface="Consolas" charset="0"/>
                <a:cs typeface="Consolas" charset="0"/>
              </a:rPr>
              <a:t>nom</a:t>
            </a:r>
            <a:r>
              <a:rPr lang="fr-FR" dirty="0"/>
              <a:t>, un </a:t>
            </a:r>
            <a:r>
              <a:rPr lang="fr-FR" sz="2600" dirty="0" err="1">
                <a:solidFill>
                  <a:schemeClr val="accent4"/>
                </a:solidFill>
                <a:latin typeface="Consolas" charset="0"/>
                <a:cs typeface="Consolas" charset="0"/>
              </a:rPr>
              <a:t>numéro</a:t>
            </a:r>
            <a:r>
              <a:rPr lang="fr-FR" i="1" dirty="0"/>
              <a:t> </a:t>
            </a:r>
            <a:r>
              <a:rPr lang="fr-FR" dirty="0"/>
              <a:t>et une </a:t>
            </a:r>
            <a:r>
              <a:rPr lang="fr-FR" sz="2600" dirty="0">
                <a:solidFill>
                  <a:schemeClr val="accent4"/>
                </a:solidFill>
                <a:latin typeface="Consolas" charset="0"/>
                <a:cs typeface="Consolas" charset="0"/>
              </a:rPr>
              <a:t>adresse</a:t>
            </a:r>
            <a:r>
              <a:rPr lang="fr-FR" dirty="0"/>
              <a:t>. La structure des fiches est </a:t>
            </a:r>
            <a:r>
              <a:rPr lang="fr-FR" dirty="0" err="1"/>
              <a:t>décrite</a:t>
            </a:r>
            <a:r>
              <a:rPr lang="fr-FR" dirty="0"/>
              <a:t> par une classe </a:t>
            </a:r>
            <a:r>
              <a:rPr lang="fr-FR" sz="2600" dirty="0">
                <a:solidFill>
                  <a:schemeClr val="accent4"/>
                </a:solidFill>
                <a:latin typeface="Consolas" charset="0"/>
                <a:cs typeface="Consolas" charset="0"/>
              </a:rPr>
              <a:t>Fiche</a:t>
            </a:r>
            <a:r>
              <a:rPr lang="fr-FR" dirty="0"/>
              <a:t> que vous devez </a:t>
            </a:r>
            <a:r>
              <a:rPr lang="fr-FR" dirty="0" err="1"/>
              <a:t>écrire</a:t>
            </a:r>
            <a:r>
              <a:rPr lang="fr-FR" dirty="0"/>
              <a:t>. </a:t>
            </a:r>
          </a:p>
          <a:p>
            <a:pPr marL="0" indent="0">
              <a:buNone/>
            </a:pPr>
            <a:r>
              <a:rPr lang="fr-FR" dirty="0" err="1"/>
              <a:t>Écrivez</a:t>
            </a:r>
            <a:r>
              <a:rPr lang="fr-FR" dirty="0"/>
              <a:t> </a:t>
            </a:r>
            <a:r>
              <a:rPr lang="fr-FR" dirty="0" err="1"/>
              <a:t>également</a:t>
            </a:r>
            <a:r>
              <a:rPr lang="fr-FR" dirty="0"/>
              <a:t> une classe </a:t>
            </a:r>
            <a:r>
              <a:rPr lang="fr-FR" sz="2600" dirty="0">
                <a:solidFill>
                  <a:schemeClr val="accent4"/>
                </a:solidFill>
                <a:latin typeface="Consolas" charset="0"/>
                <a:cs typeface="Consolas" charset="0"/>
              </a:rPr>
              <a:t>Annuaire</a:t>
            </a:r>
            <a:r>
              <a:rPr lang="fr-FR" dirty="0"/>
              <a:t> comportant une table associative (</a:t>
            </a:r>
            <a:r>
              <a:rPr lang="fr-FR" sz="2600" dirty="0" err="1">
                <a:solidFill>
                  <a:schemeClr val="accent4"/>
                </a:solidFill>
                <a:latin typeface="Consolas" charset="0"/>
                <a:cs typeface="Consolas" charset="0"/>
              </a:rPr>
              <a:t>Map</a:t>
            </a:r>
            <a:r>
              <a:rPr lang="fr-FR" sz="2600" dirty="0">
                <a:solidFill>
                  <a:schemeClr val="accent4"/>
                </a:solidFill>
                <a:latin typeface="Consolas" charset="0"/>
                <a:cs typeface="Consolas" charset="0"/>
              </a:rPr>
              <a:t>&lt;</a:t>
            </a:r>
            <a:r>
              <a:rPr lang="fr-FR" sz="2600" dirty="0" err="1">
                <a:solidFill>
                  <a:schemeClr val="accent4"/>
                </a:solidFill>
                <a:latin typeface="Consolas" charset="0"/>
                <a:cs typeface="Consolas" charset="0"/>
              </a:rPr>
              <a:t>String,Fiche</a:t>
            </a:r>
            <a:r>
              <a:rPr lang="fr-FR" sz="2600" dirty="0">
                <a:solidFill>
                  <a:schemeClr val="accent4"/>
                </a:solidFill>
                <a:latin typeface="Consolas" charset="0"/>
                <a:cs typeface="Consolas" charset="0"/>
              </a:rPr>
              <a:t>&gt;</a:t>
            </a:r>
            <a:r>
              <a:rPr lang="fr-FR" dirty="0"/>
              <a:t>) qui sera faite d’associations ( </a:t>
            </a:r>
            <a:r>
              <a:rPr lang="fr-FR" sz="2600" dirty="0" err="1">
                <a:solidFill>
                  <a:schemeClr val="accent4"/>
                </a:solidFill>
                <a:latin typeface="Consolas" charset="0"/>
                <a:cs typeface="Consolas" charset="0"/>
              </a:rPr>
              <a:t>un_nom</a:t>
            </a:r>
            <a:r>
              <a:rPr lang="fr-FR" sz="2600" dirty="0">
                <a:solidFill>
                  <a:schemeClr val="accent4"/>
                </a:solidFill>
                <a:latin typeface="Consolas" charset="0"/>
                <a:cs typeface="Consolas" charset="0"/>
              </a:rPr>
              <a:t>, </a:t>
            </a:r>
            <a:r>
              <a:rPr lang="fr-FR" sz="2600" dirty="0" err="1">
                <a:solidFill>
                  <a:schemeClr val="accent4"/>
                </a:solidFill>
                <a:latin typeface="Consolas" charset="0"/>
                <a:cs typeface="Consolas" charset="0"/>
              </a:rPr>
              <a:t>une_fiche</a:t>
            </a:r>
            <a:r>
              <a:rPr lang="fr-FR" dirty="0"/>
              <a:t>). </a:t>
            </a:r>
          </a:p>
          <a:p>
            <a:pPr marL="0" indent="0">
              <a:buNone/>
            </a:pPr>
            <a:r>
              <a:rPr lang="fr-FR" dirty="0"/>
              <a:t>Dans un premier temps, la table associative en question sera une instance de la classe </a:t>
            </a:r>
            <a:r>
              <a:rPr lang="fr-FR" sz="2600" dirty="0" err="1">
                <a:solidFill>
                  <a:schemeClr val="accent4"/>
                </a:solidFill>
                <a:latin typeface="Consolas" charset="0"/>
                <a:cs typeface="Consolas" charset="0"/>
              </a:rPr>
              <a:t>HashMap</a:t>
            </a:r>
            <a:r>
              <a:rPr lang="fr-FR" dirty="0"/>
              <a:t>. </a:t>
            </a:r>
          </a:p>
          <a:p>
            <a:pPr marL="0" indent="0">
              <a:buNone/>
            </a:pPr>
            <a:r>
              <a:rPr lang="fr-FR" dirty="0"/>
              <a:t>Peut-on faire en sorte que les fiches apparaissent dans l’ordre des noms?</a:t>
            </a:r>
          </a:p>
        </p:txBody>
      </p:sp>
      <p:pic>
        <p:nvPicPr>
          <p:cNvPr id="5" name="Image 4">
            <a:extLst>
              <a:ext uri="{FF2B5EF4-FFF2-40B4-BE49-F238E27FC236}">
                <a16:creationId xmlns:a16="http://schemas.microsoft.com/office/drawing/2014/main" id="{20F0D235-AEE8-6B4F-B4AD-098C2BC4053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rot="298768">
            <a:off x="10432555" y="197009"/>
            <a:ext cx="1253562" cy="1441450"/>
          </a:xfrm>
          <a:prstGeom prst="rect">
            <a:avLst/>
          </a:prstGeom>
        </p:spPr>
      </p:pic>
      <p:sp>
        <p:nvSpPr>
          <p:cNvPr id="4" name="Espace réservé du numéro de diapositive 3">
            <a:extLst>
              <a:ext uri="{FF2B5EF4-FFF2-40B4-BE49-F238E27FC236}">
                <a16:creationId xmlns:a16="http://schemas.microsoft.com/office/drawing/2014/main" id="{9490DD63-5248-D28D-E1A8-0504411DEBF1}"/>
              </a:ext>
            </a:extLst>
          </p:cNvPr>
          <p:cNvSpPr>
            <a:spLocks noGrp="1"/>
          </p:cNvSpPr>
          <p:nvPr>
            <p:ph type="sldNum" sz="quarter" idx="4"/>
          </p:nvPr>
        </p:nvSpPr>
        <p:spPr/>
        <p:txBody>
          <a:bodyPr/>
          <a:lstStyle/>
          <a:p>
            <a:fld id="{33C783E2-4793-4F48-A271-51A73CC37D74}" type="slidenum">
              <a:rPr lang="fr-FR" smtClean="0"/>
              <a:t>42</a:t>
            </a:fld>
            <a:endParaRPr lang="fr-FR"/>
          </a:p>
        </p:txBody>
      </p:sp>
    </p:spTree>
    <p:extLst>
      <p:ext uri="{BB962C8B-B14F-4D97-AF65-F5344CB8AC3E}">
        <p14:creationId xmlns:p14="http://schemas.microsoft.com/office/powerpoint/2010/main" val="14038812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 29</a:t>
            </a:r>
          </a:p>
        </p:txBody>
      </p:sp>
      <p:sp>
        <p:nvSpPr>
          <p:cNvPr id="3" name="Espace réservé du contenu 2"/>
          <p:cNvSpPr>
            <a:spLocks noGrp="1"/>
          </p:cNvSpPr>
          <p:nvPr>
            <p:ph idx="1"/>
          </p:nvPr>
        </p:nvSpPr>
        <p:spPr>
          <a:xfrm>
            <a:off x="838199" y="3064933"/>
            <a:ext cx="10783277" cy="3112030"/>
          </a:xfrm>
        </p:spPr>
        <p:txBody>
          <a:bodyPr>
            <a:normAutofit/>
          </a:bodyPr>
          <a:lstStyle/>
          <a:p>
            <a:pPr marL="0" indent="0">
              <a:buNone/>
            </a:pPr>
            <a:r>
              <a:rPr lang="fr-FR" sz="2400" dirty="0"/>
              <a:t>Voici un code qui vous permet de lire depuis un fichier texte, en utilisant la classe </a:t>
            </a:r>
            <a:r>
              <a:rPr lang="fr-FR" sz="2200" dirty="0">
                <a:solidFill>
                  <a:schemeClr val="accent4"/>
                </a:solidFill>
                <a:latin typeface="Consolas" panose="020B0609020204030204" pitchFamily="49" charset="0"/>
                <a:cs typeface="Consolas" panose="020B0609020204030204" pitchFamily="49" charset="0"/>
              </a:rPr>
              <a:t>Scanner</a:t>
            </a:r>
            <a:r>
              <a:rPr lang="fr-FR" sz="2400" dirty="0"/>
              <a:t> que vous avez déjà rencontrée…</a:t>
            </a:r>
          </a:p>
          <a:p>
            <a:pPr marL="0" indent="0">
              <a:buNone/>
            </a:pPr>
            <a:r>
              <a:rPr lang="fr-BE" sz="2400" dirty="0"/>
              <a:t>Ecrivez un programme qui </a:t>
            </a:r>
          </a:p>
          <a:p>
            <a:r>
              <a:rPr lang="fr-BE" sz="2400" dirty="0"/>
              <a:t>lit une liste de noms d'étudiants à partir d'un fichier et stocke ces noms dans une </a:t>
            </a:r>
            <a:r>
              <a:rPr lang="fr-BE" sz="2200" dirty="0" err="1">
                <a:solidFill>
                  <a:schemeClr val="accent4"/>
                </a:solidFill>
                <a:latin typeface="Consolas" panose="020B0609020204030204" pitchFamily="49" charset="0"/>
                <a:cs typeface="Consolas" panose="020B0609020204030204" pitchFamily="49" charset="0"/>
              </a:rPr>
              <a:t>ArrayList</a:t>
            </a:r>
            <a:r>
              <a:rPr lang="fr-BE" sz="2400" dirty="0"/>
              <a:t>. </a:t>
            </a:r>
          </a:p>
          <a:p>
            <a:r>
              <a:rPr lang="fr-BE" sz="2400" dirty="0"/>
              <a:t>trie les noms par ordre alphabétique </a:t>
            </a:r>
          </a:p>
          <a:p>
            <a:r>
              <a:rPr lang="fr-BE" sz="2400" dirty="0"/>
              <a:t> les affiche à l'écran. </a:t>
            </a:r>
            <a:endParaRPr lang="fr-FR" sz="2400" dirty="0"/>
          </a:p>
        </p:txBody>
      </p:sp>
      <p:sp>
        <p:nvSpPr>
          <p:cNvPr id="6" name="ZoneTexte 5">
            <a:extLst>
              <a:ext uri="{FF2B5EF4-FFF2-40B4-BE49-F238E27FC236}">
                <a16:creationId xmlns:a16="http://schemas.microsoft.com/office/drawing/2014/main" id="{8C01C1F9-E0A7-E863-C6DD-BF9F3E2164B7}"/>
              </a:ext>
            </a:extLst>
          </p:cNvPr>
          <p:cNvSpPr txBox="1"/>
          <p:nvPr/>
        </p:nvSpPr>
        <p:spPr>
          <a:xfrm>
            <a:off x="846150" y="1821556"/>
            <a:ext cx="8178800" cy="923330"/>
          </a:xfrm>
          <a:prstGeom prst="rect">
            <a:avLst/>
          </a:prstGeom>
          <a:solidFill>
            <a:srgbClr val="2B2B2B"/>
          </a:solidFill>
        </p:spPr>
        <p:txBody>
          <a:bodyPr wrap="square">
            <a:spAutoFit/>
          </a:bodyPr>
          <a:lstStyle/>
          <a:p>
            <a:r>
              <a:rPr lang="fr-BE" dirty="0">
                <a:latin typeface="Consolas" panose="020B0609020204030204" pitchFamily="49" charset="0"/>
                <a:cs typeface="Consolas" panose="020B0609020204030204" pitchFamily="49" charset="0"/>
              </a:rPr>
              <a:t>String chemin = </a:t>
            </a:r>
            <a:r>
              <a:rPr lang="fr-BE" dirty="0">
                <a:solidFill>
                  <a:srgbClr val="6A8759"/>
                </a:solidFill>
                <a:effectLst/>
                <a:latin typeface="Consolas" panose="020B0609020204030204" pitchFamily="49" charset="0"/>
                <a:cs typeface="Consolas" panose="020B0609020204030204" pitchFamily="49" charset="0"/>
              </a:rPr>
              <a:t>"/</a:t>
            </a:r>
            <a:r>
              <a:rPr lang="fr-BE" dirty="0" err="1">
                <a:solidFill>
                  <a:srgbClr val="6A8759"/>
                </a:solidFill>
                <a:effectLst/>
                <a:latin typeface="Consolas" panose="020B0609020204030204" pitchFamily="49" charset="0"/>
                <a:cs typeface="Consolas" panose="020B0609020204030204" pitchFamily="49" charset="0"/>
              </a:rPr>
              <a:t>Users</a:t>
            </a:r>
            <a:r>
              <a:rPr lang="fr-BE" dirty="0">
                <a:solidFill>
                  <a:srgbClr val="6A8759"/>
                </a:solidFill>
                <a:effectLst/>
                <a:latin typeface="Consolas" panose="020B0609020204030204" pitchFamily="49" charset="0"/>
                <a:cs typeface="Consolas" panose="020B0609020204030204" pitchFamily="49" charset="0"/>
              </a:rPr>
              <a:t>/</a:t>
            </a:r>
            <a:r>
              <a:rPr lang="fr-BE" dirty="0" err="1">
                <a:solidFill>
                  <a:srgbClr val="6A8759"/>
                </a:solidFill>
                <a:effectLst/>
                <a:latin typeface="Consolas" panose="020B0609020204030204" pitchFamily="49" charset="0"/>
                <a:cs typeface="Consolas" panose="020B0609020204030204" pitchFamily="49" charset="0"/>
              </a:rPr>
              <a:t>frederic</a:t>
            </a:r>
            <a:r>
              <a:rPr lang="fr-BE" dirty="0">
                <a:solidFill>
                  <a:srgbClr val="6A8759"/>
                </a:solidFill>
                <a:effectLst/>
                <a:latin typeface="Consolas" panose="020B0609020204030204" pitchFamily="49" charset="0"/>
                <a:cs typeface="Consolas" panose="020B0609020204030204" pitchFamily="49" charset="0"/>
              </a:rPr>
              <a:t>/Downloads/</a:t>
            </a:r>
            <a:r>
              <a:rPr lang="fr-BE" dirty="0" err="1">
                <a:solidFill>
                  <a:srgbClr val="6A8759"/>
                </a:solidFill>
                <a:effectLst/>
                <a:latin typeface="Consolas" panose="020B0609020204030204" pitchFamily="49" charset="0"/>
                <a:cs typeface="Consolas" panose="020B0609020204030204" pitchFamily="49" charset="0"/>
              </a:rPr>
              <a:t>Lorem.txt</a:t>
            </a:r>
            <a:r>
              <a:rPr lang="fr-BE" dirty="0">
                <a:solidFill>
                  <a:srgbClr val="6A8759"/>
                </a:solidFill>
                <a:effectLst/>
                <a:latin typeface="Consolas" panose="020B0609020204030204" pitchFamily="49" charset="0"/>
                <a:cs typeface="Consolas" panose="020B0609020204030204" pitchFamily="49" charset="0"/>
              </a:rPr>
              <a:t>"</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File fichier = </a:t>
            </a:r>
            <a:r>
              <a:rPr lang="fr-BE" dirty="0">
                <a:solidFill>
                  <a:srgbClr val="CC7832"/>
                </a:solidFill>
                <a:effectLst/>
                <a:latin typeface="Consolas" panose="020B0609020204030204" pitchFamily="49" charset="0"/>
                <a:cs typeface="Consolas" panose="020B0609020204030204" pitchFamily="49" charset="0"/>
              </a:rPr>
              <a:t>new </a:t>
            </a:r>
            <a:r>
              <a:rPr lang="fr-BE" dirty="0">
                <a:latin typeface="Consolas" panose="020B0609020204030204" pitchFamily="49" charset="0"/>
                <a:cs typeface="Consolas" panose="020B0609020204030204" pitchFamily="49" charset="0"/>
              </a:rPr>
              <a:t>File(chemin)</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Scanner scanner = </a:t>
            </a:r>
            <a:r>
              <a:rPr lang="fr-BE" dirty="0">
                <a:solidFill>
                  <a:srgbClr val="CC7832"/>
                </a:solidFill>
                <a:effectLst/>
                <a:latin typeface="Consolas" panose="020B0609020204030204" pitchFamily="49" charset="0"/>
                <a:cs typeface="Consolas" panose="020B0609020204030204" pitchFamily="49" charset="0"/>
              </a:rPr>
              <a:t>new </a:t>
            </a:r>
            <a:r>
              <a:rPr lang="fr-BE" dirty="0">
                <a:latin typeface="Consolas" panose="020B0609020204030204" pitchFamily="49" charset="0"/>
                <a:cs typeface="Consolas" panose="020B0609020204030204" pitchFamily="49" charset="0"/>
              </a:rPr>
              <a:t>Scanner(fichier)</a:t>
            </a:r>
            <a:r>
              <a:rPr lang="fr-BE" dirty="0">
                <a:solidFill>
                  <a:srgbClr val="CC7832"/>
                </a:solidFill>
                <a:effectLst/>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pic>
        <p:nvPicPr>
          <p:cNvPr id="16386" name="Picture 2" descr="Student PNG Free Images with Transparent Background - (4,408 Free Downloads)">
            <a:extLst>
              <a:ext uri="{FF2B5EF4-FFF2-40B4-BE49-F238E27FC236}">
                <a16:creationId xmlns:a16="http://schemas.microsoft.com/office/drawing/2014/main" id="{8E1C20B1-FE66-DFD1-6C49-B729CB168B05}"/>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t="16776" b="16776"/>
          <a:stretch/>
        </p:blipFill>
        <p:spPr bwMode="auto">
          <a:xfrm>
            <a:off x="9304867" y="169333"/>
            <a:ext cx="2540000" cy="1687776"/>
          </a:xfrm>
          <a:prstGeom prst="rect">
            <a:avLst/>
          </a:prstGeom>
          <a:noFill/>
          <a:extLst>
            <a:ext uri="{909E8E84-426E-40DD-AFC4-6F175D3DCCD1}">
              <a14:hiddenFill xmlns:a14="http://schemas.microsoft.com/office/drawing/2010/main">
                <a:solidFill>
                  <a:srgbClr val="FFFFFF"/>
                </a:solidFill>
              </a14:hiddenFill>
            </a:ext>
          </a:extLst>
        </p:spPr>
      </p:pic>
      <p:sp>
        <p:nvSpPr>
          <p:cNvPr id="4" name="Espace réservé du numéro de diapositive 3">
            <a:extLst>
              <a:ext uri="{FF2B5EF4-FFF2-40B4-BE49-F238E27FC236}">
                <a16:creationId xmlns:a16="http://schemas.microsoft.com/office/drawing/2014/main" id="{86ACB879-5170-FBC7-33F6-8EDF26463DB4}"/>
              </a:ext>
            </a:extLst>
          </p:cNvPr>
          <p:cNvSpPr>
            <a:spLocks noGrp="1"/>
          </p:cNvSpPr>
          <p:nvPr>
            <p:ph type="sldNum" sz="quarter" idx="4"/>
          </p:nvPr>
        </p:nvSpPr>
        <p:spPr/>
        <p:txBody>
          <a:bodyPr/>
          <a:lstStyle/>
          <a:p>
            <a:fld id="{33C783E2-4793-4F48-A271-51A73CC37D74}" type="slidenum">
              <a:rPr lang="fr-FR" smtClean="0"/>
              <a:t>43</a:t>
            </a:fld>
            <a:endParaRPr lang="fr-FR"/>
          </a:p>
        </p:txBody>
      </p:sp>
    </p:spTree>
    <p:extLst>
      <p:ext uri="{BB962C8B-B14F-4D97-AF65-F5344CB8AC3E}">
        <p14:creationId xmlns:p14="http://schemas.microsoft.com/office/powerpoint/2010/main" val="13325907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 30</a:t>
            </a:r>
          </a:p>
        </p:txBody>
      </p:sp>
      <p:sp>
        <p:nvSpPr>
          <p:cNvPr id="3" name="Espace réservé du contenu 2"/>
          <p:cNvSpPr>
            <a:spLocks noGrp="1"/>
          </p:cNvSpPr>
          <p:nvPr>
            <p:ph idx="1"/>
          </p:nvPr>
        </p:nvSpPr>
        <p:spPr>
          <a:xfrm>
            <a:off x="838199" y="3064933"/>
            <a:ext cx="10783277" cy="3112030"/>
          </a:xfrm>
        </p:spPr>
        <p:txBody>
          <a:bodyPr>
            <a:normAutofit fontScale="92500" lnSpcReduction="10000"/>
          </a:bodyPr>
          <a:lstStyle/>
          <a:p>
            <a:pPr marL="0" indent="0">
              <a:buNone/>
            </a:pPr>
            <a:r>
              <a:rPr lang="fr-FR" sz="2400" dirty="0"/>
              <a:t>Ecrivez un un programme qui </a:t>
            </a:r>
          </a:p>
          <a:p>
            <a:r>
              <a:rPr lang="fr-FR" sz="2400" dirty="0"/>
              <a:t>lit un texte à partir d'un fichier</a:t>
            </a:r>
          </a:p>
          <a:p>
            <a:r>
              <a:rPr lang="fr-FR" sz="2400" dirty="0"/>
              <a:t>compte le nombre d'occurrences de chaque mot dans le texte</a:t>
            </a:r>
          </a:p>
          <a:p>
            <a:r>
              <a:rPr lang="fr-FR" sz="2400" dirty="0"/>
              <a:t>affiche les résultats à l'écran</a:t>
            </a:r>
          </a:p>
          <a:p>
            <a:pPr marL="0" indent="0">
              <a:buNone/>
            </a:pPr>
            <a:endParaRPr lang="fr-FR" sz="2400" dirty="0"/>
          </a:p>
          <a:p>
            <a:pPr marL="0" indent="0">
              <a:buNone/>
            </a:pPr>
            <a:r>
              <a:rPr lang="fr-FR" sz="2400" dirty="0"/>
              <a:t>Utilisez une </a:t>
            </a:r>
            <a:r>
              <a:rPr lang="fr-FR" sz="2200" dirty="0" err="1">
                <a:solidFill>
                  <a:schemeClr val="accent4"/>
                </a:solidFill>
                <a:latin typeface="Consolas" panose="020B0609020204030204" pitchFamily="49" charset="0"/>
                <a:cs typeface="Consolas" panose="020B0609020204030204" pitchFamily="49" charset="0"/>
              </a:rPr>
              <a:t>HashMap</a:t>
            </a:r>
            <a:r>
              <a:rPr lang="fr-FR" sz="2400" dirty="0"/>
              <a:t> pour stocker les mots et leur nombre d'occurrences.</a:t>
            </a:r>
          </a:p>
          <a:p>
            <a:pPr marL="0" indent="0">
              <a:buNone/>
            </a:pPr>
            <a:r>
              <a:rPr lang="fr-FR" sz="2400" dirty="0"/>
              <a:t>Y a-t-il une différence si vous utilisez plutôt une </a:t>
            </a:r>
            <a:r>
              <a:rPr lang="fr-FR" sz="2200" dirty="0" err="1">
                <a:solidFill>
                  <a:schemeClr val="accent4"/>
                </a:solidFill>
                <a:latin typeface="Consolas" panose="020B0609020204030204" pitchFamily="49" charset="0"/>
                <a:cs typeface="Consolas" panose="020B0609020204030204" pitchFamily="49" charset="0"/>
              </a:rPr>
              <a:t>SortedMap</a:t>
            </a:r>
            <a:r>
              <a:rPr lang="fr-FR" sz="2400" dirty="0"/>
              <a:t>? (utilisez les deux dans le même programme).</a:t>
            </a:r>
          </a:p>
          <a:p>
            <a:pPr marL="0" indent="0">
              <a:buNone/>
            </a:pPr>
            <a:endParaRPr lang="fr-FR" sz="2400" dirty="0"/>
          </a:p>
        </p:txBody>
      </p:sp>
      <p:sp>
        <p:nvSpPr>
          <p:cNvPr id="6" name="ZoneTexte 5">
            <a:extLst>
              <a:ext uri="{FF2B5EF4-FFF2-40B4-BE49-F238E27FC236}">
                <a16:creationId xmlns:a16="http://schemas.microsoft.com/office/drawing/2014/main" id="{8C01C1F9-E0A7-E863-C6DD-BF9F3E2164B7}"/>
              </a:ext>
            </a:extLst>
          </p:cNvPr>
          <p:cNvSpPr txBox="1"/>
          <p:nvPr/>
        </p:nvSpPr>
        <p:spPr>
          <a:xfrm>
            <a:off x="838199" y="1821556"/>
            <a:ext cx="8178800" cy="923330"/>
          </a:xfrm>
          <a:prstGeom prst="rect">
            <a:avLst/>
          </a:prstGeom>
          <a:solidFill>
            <a:srgbClr val="2B2B2B"/>
          </a:solidFill>
        </p:spPr>
        <p:txBody>
          <a:bodyPr wrap="square">
            <a:spAutoFit/>
          </a:bodyPr>
          <a:lstStyle/>
          <a:p>
            <a:r>
              <a:rPr lang="fr-BE" dirty="0">
                <a:latin typeface="Consolas" panose="020B0609020204030204" pitchFamily="49" charset="0"/>
                <a:cs typeface="Consolas" panose="020B0609020204030204" pitchFamily="49" charset="0"/>
              </a:rPr>
              <a:t>String chemin = </a:t>
            </a:r>
            <a:r>
              <a:rPr lang="fr-BE" dirty="0">
                <a:solidFill>
                  <a:srgbClr val="6A8759"/>
                </a:solidFill>
                <a:effectLst/>
                <a:latin typeface="Consolas" panose="020B0609020204030204" pitchFamily="49" charset="0"/>
                <a:cs typeface="Consolas" panose="020B0609020204030204" pitchFamily="49" charset="0"/>
              </a:rPr>
              <a:t>"/</a:t>
            </a:r>
            <a:r>
              <a:rPr lang="fr-BE" dirty="0" err="1">
                <a:solidFill>
                  <a:srgbClr val="6A8759"/>
                </a:solidFill>
                <a:effectLst/>
                <a:latin typeface="Consolas" panose="020B0609020204030204" pitchFamily="49" charset="0"/>
                <a:cs typeface="Consolas" panose="020B0609020204030204" pitchFamily="49" charset="0"/>
              </a:rPr>
              <a:t>Users</a:t>
            </a:r>
            <a:r>
              <a:rPr lang="fr-BE" dirty="0">
                <a:solidFill>
                  <a:srgbClr val="6A8759"/>
                </a:solidFill>
                <a:effectLst/>
                <a:latin typeface="Consolas" panose="020B0609020204030204" pitchFamily="49" charset="0"/>
                <a:cs typeface="Consolas" panose="020B0609020204030204" pitchFamily="49" charset="0"/>
              </a:rPr>
              <a:t>/</a:t>
            </a:r>
            <a:r>
              <a:rPr lang="fr-BE" dirty="0" err="1">
                <a:solidFill>
                  <a:srgbClr val="6A8759"/>
                </a:solidFill>
                <a:effectLst/>
                <a:latin typeface="Consolas" panose="020B0609020204030204" pitchFamily="49" charset="0"/>
                <a:cs typeface="Consolas" panose="020B0609020204030204" pitchFamily="49" charset="0"/>
              </a:rPr>
              <a:t>frederic</a:t>
            </a:r>
            <a:r>
              <a:rPr lang="fr-BE" dirty="0">
                <a:solidFill>
                  <a:srgbClr val="6A8759"/>
                </a:solidFill>
                <a:effectLst/>
                <a:latin typeface="Consolas" panose="020B0609020204030204" pitchFamily="49" charset="0"/>
                <a:cs typeface="Consolas" panose="020B0609020204030204" pitchFamily="49" charset="0"/>
              </a:rPr>
              <a:t>/Downloads/</a:t>
            </a:r>
            <a:r>
              <a:rPr lang="fr-BE" dirty="0" err="1">
                <a:solidFill>
                  <a:srgbClr val="6A8759"/>
                </a:solidFill>
                <a:effectLst/>
                <a:latin typeface="Consolas" panose="020B0609020204030204" pitchFamily="49" charset="0"/>
                <a:cs typeface="Consolas" panose="020B0609020204030204" pitchFamily="49" charset="0"/>
              </a:rPr>
              <a:t>Lorem.txt</a:t>
            </a:r>
            <a:r>
              <a:rPr lang="fr-BE" dirty="0">
                <a:solidFill>
                  <a:srgbClr val="6A8759"/>
                </a:solidFill>
                <a:effectLst/>
                <a:latin typeface="Consolas" panose="020B0609020204030204" pitchFamily="49" charset="0"/>
                <a:cs typeface="Consolas" panose="020B0609020204030204" pitchFamily="49" charset="0"/>
              </a:rPr>
              <a:t>"</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File fichier = </a:t>
            </a:r>
            <a:r>
              <a:rPr lang="fr-BE" dirty="0">
                <a:solidFill>
                  <a:srgbClr val="CC7832"/>
                </a:solidFill>
                <a:effectLst/>
                <a:latin typeface="Consolas" panose="020B0609020204030204" pitchFamily="49" charset="0"/>
                <a:cs typeface="Consolas" panose="020B0609020204030204" pitchFamily="49" charset="0"/>
              </a:rPr>
              <a:t>new </a:t>
            </a:r>
            <a:r>
              <a:rPr lang="fr-BE" dirty="0">
                <a:latin typeface="Consolas" panose="020B0609020204030204" pitchFamily="49" charset="0"/>
                <a:cs typeface="Consolas" panose="020B0609020204030204" pitchFamily="49" charset="0"/>
              </a:rPr>
              <a:t>File(chemin)</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Scanner scanner = </a:t>
            </a:r>
            <a:r>
              <a:rPr lang="fr-BE" dirty="0">
                <a:solidFill>
                  <a:srgbClr val="CC7832"/>
                </a:solidFill>
                <a:effectLst/>
                <a:latin typeface="Consolas" panose="020B0609020204030204" pitchFamily="49" charset="0"/>
                <a:cs typeface="Consolas" panose="020B0609020204030204" pitchFamily="49" charset="0"/>
              </a:rPr>
              <a:t>new </a:t>
            </a:r>
            <a:r>
              <a:rPr lang="fr-BE" dirty="0">
                <a:latin typeface="Consolas" panose="020B0609020204030204" pitchFamily="49" charset="0"/>
                <a:cs typeface="Consolas" panose="020B0609020204030204" pitchFamily="49" charset="0"/>
              </a:rPr>
              <a:t>Scanner(fichier)</a:t>
            </a:r>
            <a:r>
              <a:rPr lang="fr-BE" dirty="0">
                <a:solidFill>
                  <a:srgbClr val="CC7832"/>
                </a:solidFill>
                <a:effectLst/>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pic>
        <p:nvPicPr>
          <p:cNvPr id="7" name="Image 6">
            <a:extLst>
              <a:ext uri="{FF2B5EF4-FFF2-40B4-BE49-F238E27FC236}">
                <a16:creationId xmlns:a16="http://schemas.microsoft.com/office/drawing/2014/main" id="{2288F8E4-EE83-108E-D1F6-383138AB24C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921613" y="165233"/>
            <a:ext cx="2117988" cy="2117988"/>
          </a:xfrm>
          <a:prstGeom prst="rect">
            <a:avLst/>
          </a:prstGeom>
        </p:spPr>
      </p:pic>
      <p:sp>
        <p:nvSpPr>
          <p:cNvPr id="4" name="Espace réservé du numéro de diapositive 3">
            <a:extLst>
              <a:ext uri="{FF2B5EF4-FFF2-40B4-BE49-F238E27FC236}">
                <a16:creationId xmlns:a16="http://schemas.microsoft.com/office/drawing/2014/main" id="{CB46809C-E65B-97A0-863D-577B952531E8}"/>
              </a:ext>
            </a:extLst>
          </p:cNvPr>
          <p:cNvSpPr>
            <a:spLocks noGrp="1"/>
          </p:cNvSpPr>
          <p:nvPr>
            <p:ph type="sldNum" sz="quarter" idx="4"/>
          </p:nvPr>
        </p:nvSpPr>
        <p:spPr/>
        <p:txBody>
          <a:bodyPr/>
          <a:lstStyle/>
          <a:p>
            <a:fld id="{33C783E2-4793-4F48-A271-51A73CC37D74}" type="slidenum">
              <a:rPr lang="fr-FR" smtClean="0"/>
              <a:t>44</a:t>
            </a:fld>
            <a:endParaRPr lang="fr-FR"/>
          </a:p>
        </p:txBody>
      </p:sp>
    </p:spTree>
    <p:extLst>
      <p:ext uri="{BB962C8B-B14F-4D97-AF65-F5344CB8AC3E}">
        <p14:creationId xmlns:p14="http://schemas.microsoft.com/office/powerpoint/2010/main" val="2034264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 31</a:t>
            </a:r>
          </a:p>
        </p:txBody>
      </p:sp>
      <p:sp>
        <p:nvSpPr>
          <p:cNvPr id="3" name="Espace réservé du contenu 2"/>
          <p:cNvSpPr>
            <a:spLocks noGrp="1"/>
          </p:cNvSpPr>
          <p:nvPr>
            <p:ph idx="1"/>
          </p:nvPr>
        </p:nvSpPr>
        <p:spPr/>
        <p:txBody>
          <a:bodyPr>
            <a:normAutofit fontScale="92500"/>
          </a:bodyPr>
          <a:lstStyle/>
          <a:p>
            <a:pPr marL="0" indent="0" algn="just">
              <a:buNone/>
            </a:pPr>
            <a:r>
              <a:rPr lang="fr-FR" sz="2400" dirty="0"/>
              <a:t>L’interface Collection présente la méthode  </a:t>
            </a:r>
          </a:p>
          <a:p>
            <a:pPr marL="0" indent="0">
              <a:buNone/>
            </a:pPr>
            <a:r>
              <a:rPr lang="fr-FR" sz="2200" dirty="0">
                <a:solidFill>
                  <a:schemeClr val="accent4"/>
                </a:solidFill>
                <a:latin typeface="Consolas" panose="020B0609020204030204" pitchFamily="49" charset="0"/>
                <a:cs typeface="Consolas" panose="020B0609020204030204" pitchFamily="49" charset="0"/>
              </a:rPr>
              <a:t>	</a:t>
            </a:r>
            <a:r>
              <a:rPr lang="fr-FR" sz="2200" dirty="0" err="1">
                <a:solidFill>
                  <a:schemeClr val="accent4"/>
                </a:solidFill>
                <a:latin typeface="Consolas" panose="020B0609020204030204" pitchFamily="49" charset="0"/>
                <a:cs typeface="Consolas" panose="020B0609020204030204" pitchFamily="49" charset="0"/>
              </a:rPr>
              <a:t>boolean</a:t>
            </a:r>
            <a:r>
              <a:rPr lang="fr-FR" sz="2200" dirty="0">
                <a:solidFill>
                  <a:schemeClr val="accent4"/>
                </a:solidFill>
                <a:latin typeface="Consolas" panose="020B0609020204030204" pitchFamily="49" charset="0"/>
                <a:cs typeface="Consolas" panose="020B0609020204030204" pitchFamily="49" charset="0"/>
              </a:rPr>
              <a:t> </a:t>
            </a:r>
            <a:r>
              <a:rPr lang="fr-FR" sz="2200" dirty="0" err="1">
                <a:solidFill>
                  <a:schemeClr val="accent4"/>
                </a:solidFill>
                <a:latin typeface="Consolas" panose="020B0609020204030204" pitchFamily="49" charset="0"/>
                <a:cs typeface="Consolas" panose="020B0609020204030204" pitchFamily="49" charset="0"/>
              </a:rPr>
              <a:t>removeIf</a:t>
            </a:r>
            <a:r>
              <a:rPr lang="fr-FR" sz="2200" dirty="0">
                <a:solidFill>
                  <a:schemeClr val="accent4"/>
                </a:solidFill>
                <a:latin typeface="Consolas" panose="020B0609020204030204" pitchFamily="49" charset="0"/>
                <a:cs typeface="Consolas" panose="020B0609020204030204" pitchFamily="49" charset="0"/>
              </a:rPr>
              <a:t>(</a:t>
            </a:r>
            <a:r>
              <a:rPr lang="fr-FR" sz="2200" dirty="0" err="1">
                <a:solidFill>
                  <a:schemeClr val="accent4"/>
                </a:solidFill>
                <a:latin typeface="Consolas" panose="020B0609020204030204" pitchFamily="49" charset="0"/>
                <a:cs typeface="Consolas" panose="020B0609020204030204" pitchFamily="49" charset="0"/>
              </a:rPr>
              <a:t>Predicate</a:t>
            </a:r>
            <a:r>
              <a:rPr lang="fr-FR" sz="2200" dirty="0">
                <a:solidFill>
                  <a:schemeClr val="accent4"/>
                </a:solidFill>
                <a:latin typeface="Consolas" panose="020B0609020204030204" pitchFamily="49" charset="0"/>
                <a:cs typeface="Consolas" panose="020B0609020204030204" pitchFamily="49" charset="0"/>
              </a:rPr>
              <a:t>&lt;? Super E&gt; </a:t>
            </a:r>
            <a:r>
              <a:rPr lang="fr-FR" sz="2200" dirty="0" err="1">
                <a:solidFill>
                  <a:schemeClr val="accent4"/>
                </a:solidFill>
                <a:latin typeface="Consolas" panose="020B0609020204030204" pitchFamily="49" charset="0"/>
                <a:cs typeface="Consolas" panose="020B0609020204030204" pitchFamily="49" charset="0"/>
              </a:rPr>
              <a:t>filter</a:t>
            </a:r>
            <a:r>
              <a:rPr lang="fr-FR" sz="2200" dirty="0">
                <a:solidFill>
                  <a:schemeClr val="accent4"/>
                </a:solidFill>
                <a:latin typeface="Consolas" panose="020B0609020204030204" pitchFamily="49" charset="0"/>
                <a:cs typeface="Consolas" panose="020B0609020204030204" pitchFamily="49" charset="0"/>
              </a:rPr>
              <a:t>)</a:t>
            </a:r>
            <a:r>
              <a:rPr lang="fr-FR" sz="2400" dirty="0"/>
              <a:t> </a:t>
            </a:r>
          </a:p>
          <a:p>
            <a:pPr marL="0" indent="0">
              <a:buNone/>
            </a:pPr>
            <a:r>
              <a:rPr lang="fr-FR" sz="2400" dirty="0"/>
              <a:t>qui supprime les éléments qui satisfont à </a:t>
            </a:r>
            <a:r>
              <a:rPr lang="fr-FR" sz="2200" dirty="0" err="1">
                <a:solidFill>
                  <a:schemeClr val="accent4"/>
                </a:solidFill>
                <a:latin typeface="Consolas" panose="020B0609020204030204" pitchFamily="49" charset="0"/>
                <a:cs typeface="Consolas" panose="020B0609020204030204" pitchFamily="49" charset="0"/>
              </a:rPr>
              <a:t>Predicate.test</a:t>
            </a:r>
            <a:r>
              <a:rPr lang="fr-FR" sz="2200" dirty="0">
                <a:solidFill>
                  <a:schemeClr val="accent4"/>
                </a:solidFill>
                <a:latin typeface="Consolas" panose="020B0609020204030204" pitchFamily="49" charset="0"/>
                <a:cs typeface="Consolas" panose="020B0609020204030204" pitchFamily="49" charset="0"/>
              </a:rPr>
              <a:t>()</a:t>
            </a:r>
            <a:r>
              <a:rPr lang="fr-FR" sz="2400" dirty="0"/>
              <a:t> </a:t>
            </a:r>
          </a:p>
          <a:p>
            <a:pPr marL="0" indent="0">
              <a:buNone/>
            </a:pPr>
            <a:r>
              <a:rPr lang="fr-FR" sz="2400" dirty="0"/>
              <a:t>Remarquez que </a:t>
            </a:r>
            <a:r>
              <a:rPr lang="fr-FR" sz="2400" dirty="0" err="1"/>
              <a:t>Predicate</a:t>
            </a:r>
            <a:r>
              <a:rPr lang="fr-FR" sz="2400" dirty="0"/>
              <a:t> est une interface et créez une classe anonyme pour votre test.</a:t>
            </a:r>
          </a:p>
          <a:p>
            <a:pPr marL="0" indent="0">
              <a:buNone/>
            </a:pPr>
            <a:endParaRPr lang="fr-FR" sz="2400" dirty="0"/>
          </a:p>
          <a:p>
            <a:pPr marL="0" indent="0">
              <a:buNone/>
            </a:pPr>
            <a:r>
              <a:rPr lang="fr-FR" sz="2400" dirty="0"/>
              <a:t>Ecrivez un un programme qui </a:t>
            </a:r>
          </a:p>
          <a:p>
            <a:r>
              <a:rPr lang="fr-FR" sz="2400" dirty="0"/>
              <a:t>génère une liste de 100 nombres entiers aléatoires entre 1 et 1000.</a:t>
            </a:r>
          </a:p>
          <a:p>
            <a:r>
              <a:rPr lang="fr-FR" sz="2400" dirty="0"/>
              <a:t>stocke les nombres dans un </a:t>
            </a:r>
            <a:r>
              <a:rPr lang="fr-FR" sz="2200" dirty="0" err="1">
                <a:solidFill>
                  <a:schemeClr val="accent4"/>
                </a:solidFill>
              </a:rPr>
              <a:t>LinkedList</a:t>
            </a:r>
            <a:endParaRPr lang="fr-FR" sz="2200" dirty="0">
              <a:solidFill>
                <a:schemeClr val="accent4"/>
              </a:solidFill>
            </a:endParaRPr>
          </a:p>
          <a:p>
            <a:r>
              <a:rPr lang="fr-FR" sz="2400" dirty="0"/>
              <a:t>une fois la liste générée, supprime les nombres pairs de celle-ci</a:t>
            </a:r>
          </a:p>
          <a:p>
            <a:r>
              <a:rPr lang="fr-FR" sz="2400" dirty="0"/>
              <a:t>affiche les résultats à l'écran</a:t>
            </a:r>
          </a:p>
        </p:txBody>
      </p:sp>
      <p:pic>
        <p:nvPicPr>
          <p:cNvPr id="20482" name="Picture 2" descr="569,355 Number Pattern Images, Stock Photos &amp; Vectors | Shutterstock">
            <a:extLst>
              <a:ext uri="{FF2B5EF4-FFF2-40B4-BE49-F238E27FC236}">
                <a16:creationId xmlns:a16="http://schemas.microsoft.com/office/drawing/2014/main" id="{FC51EB08-F503-5F79-2B6A-1C50A37AD896}"/>
              </a:ext>
            </a:extLst>
          </p:cNvPr>
          <p:cNvPicPr>
            <a:picLocks noChangeAspect="1" noChangeArrowheads="1"/>
          </p:cNvPicPr>
          <p:nvPr/>
        </p:nvPicPr>
        <p:blipFill rotWithShape="1">
          <a:blip r:embed="rId2" cstate="screen">
            <a:extLst>
              <a:ext uri="{BEBA8EAE-BF5A-486C-A8C5-ECC9F3942E4B}">
                <a14:imgProps xmlns:a14="http://schemas.microsoft.com/office/drawing/2010/main">
                  <a14:imgLayer r:embed="rId3">
                    <a14:imgEffect>
                      <a14:colorTemperature colorTemp="11200"/>
                    </a14:imgEffect>
                  </a14:imgLayer>
                </a14:imgProps>
              </a:ext>
              <a:ext uri="{28A0092B-C50C-407E-A947-70E740481C1C}">
                <a14:useLocalDpi xmlns:a14="http://schemas.microsoft.com/office/drawing/2010/main"/>
              </a:ext>
            </a:extLst>
          </a:blip>
          <a:srcRect/>
          <a:stretch/>
        </p:blipFill>
        <p:spPr bwMode="auto">
          <a:xfrm>
            <a:off x="9791368" y="254000"/>
            <a:ext cx="2019632" cy="2004096"/>
          </a:xfrm>
          <a:prstGeom prst="rect">
            <a:avLst/>
          </a:prstGeom>
          <a:noFill/>
          <a:extLst>
            <a:ext uri="{909E8E84-426E-40DD-AFC4-6F175D3DCCD1}">
              <a14:hiddenFill xmlns:a14="http://schemas.microsoft.com/office/drawing/2010/main">
                <a:solidFill>
                  <a:srgbClr val="FFFFFF"/>
                </a:solidFill>
              </a14:hiddenFill>
            </a:ext>
          </a:extLst>
        </p:spPr>
      </p:pic>
      <p:sp>
        <p:nvSpPr>
          <p:cNvPr id="4" name="Espace réservé du numéro de diapositive 3">
            <a:extLst>
              <a:ext uri="{FF2B5EF4-FFF2-40B4-BE49-F238E27FC236}">
                <a16:creationId xmlns:a16="http://schemas.microsoft.com/office/drawing/2014/main" id="{7D33BD25-092E-2C73-A0B7-387EAB9C93F9}"/>
              </a:ext>
            </a:extLst>
          </p:cNvPr>
          <p:cNvSpPr>
            <a:spLocks noGrp="1"/>
          </p:cNvSpPr>
          <p:nvPr>
            <p:ph type="sldNum" sz="quarter" idx="4"/>
          </p:nvPr>
        </p:nvSpPr>
        <p:spPr/>
        <p:txBody>
          <a:bodyPr/>
          <a:lstStyle/>
          <a:p>
            <a:fld id="{33C783E2-4793-4F48-A271-51A73CC37D74}" type="slidenum">
              <a:rPr lang="fr-FR" smtClean="0"/>
              <a:t>45</a:t>
            </a:fld>
            <a:endParaRPr lang="fr-FR"/>
          </a:p>
        </p:txBody>
      </p:sp>
    </p:spTree>
    <p:extLst>
      <p:ext uri="{BB962C8B-B14F-4D97-AF65-F5344CB8AC3E}">
        <p14:creationId xmlns:p14="http://schemas.microsoft.com/office/powerpoint/2010/main" val="1345408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 32</a:t>
            </a:r>
          </a:p>
        </p:txBody>
      </p:sp>
      <p:sp>
        <p:nvSpPr>
          <p:cNvPr id="3" name="Espace réservé du contenu 2"/>
          <p:cNvSpPr>
            <a:spLocks noGrp="1"/>
          </p:cNvSpPr>
          <p:nvPr>
            <p:ph idx="1"/>
          </p:nvPr>
        </p:nvSpPr>
        <p:spPr/>
        <p:txBody>
          <a:bodyPr>
            <a:normAutofit/>
          </a:bodyPr>
          <a:lstStyle/>
          <a:p>
            <a:pPr marL="0" indent="0">
              <a:buNone/>
            </a:pPr>
            <a:r>
              <a:rPr lang="fr-FR" sz="2400" dirty="0"/>
              <a:t>Ecrivez un un programme qui </a:t>
            </a:r>
          </a:p>
          <a:p>
            <a:r>
              <a:rPr lang="fr-FR" sz="2400" dirty="0"/>
              <a:t>génère 100 nombres entiers aléatoires entre 1 et 1000.</a:t>
            </a:r>
          </a:p>
          <a:p>
            <a:r>
              <a:rPr lang="fr-FR" sz="2400" dirty="0"/>
              <a:t>stocke les nombres dans un </a:t>
            </a:r>
            <a:r>
              <a:rPr lang="fr-FR" sz="2200" dirty="0" err="1">
                <a:solidFill>
                  <a:schemeClr val="accent4"/>
                </a:solidFill>
              </a:rPr>
              <a:t>HashSet</a:t>
            </a:r>
            <a:endParaRPr lang="fr-FR" sz="2200" dirty="0">
              <a:solidFill>
                <a:schemeClr val="accent4"/>
              </a:solidFill>
            </a:endParaRPr>
          </a:p>
          <a:p>
            <a:r>
              <a:rPr lang="fr-FR" sz="2400" dirty="0"/>
              <a:t>une fois les nombres générés, le programme demande un nombre à l’utilisateur et indique si le nombre a été généré.</a:t>
            </a:r>
          </a:p>
        </p:txBody>
      </p:sp>
      <p:pic>
        <p:nvPicPr>
          <p:cNvPr id="20482" name="Picture 2" descr="569,355 Number Pattern Images, Stock Photos &amp; Vectors | Shutterstock">
            <a:extLst>
              <a:ext uri="{FF2B5EF4-FFF2-40B4-BE49-F238E27FC236}">
                <a16:creationId xmlns:a16="http://schemas.microsoft.com/office/drawing/2014/main" id="{FC51EB08-F503-5F79-2B6A-1C50A37AD896}"/>
              </a:ext>
            </a:extLst>
          </p:cNvPr>
          <p:cNvPicPr>
            <a:picLocks noChangeAspect="1" noChangeArrowheads="1"/>
          </p:cNvPicPr>
          <p:nvPr/>
        </p:nvPicPr>
        <p:blipFill rotWithShape="1">
          <a:blip r:embed="rId2" cstate="screen">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a:ext>
            </a:extLst>
          </a:blip>
          <a:srcRect/>
          <a:stretch/>
        </p:blipFill>
        <p:spPr bwMode="auto">
          <a:xfrm rot="5400000">
            <a:off x="9791368" y="254000"/>
            <a:ext cx="2019632" cy="2004096"/>
          </a:xfrm>
          <a:prstGeom prst="rect">
            <a:avLst/>
          </a:prstGeom>
          <a:noFill/>
          <a:extLst>
            <a:ext uri="{909E8E84-426E-40DD-AFC4-6F175D3DCCD1}">
              <a14:hiddenFill xmlns:a14="http://schemas.microsoft.com/office/drawing/2010/main">
                <a:solidFill>
                  <a:srgbClr val="FFFFFF"/>
                </a:solidFill>
              </a14:hiddenFill>
            </a:ext>
          </a:extLst>
        </p:spPr>
      </p:pic>
      <p:sp>
        <p:nvSpPr>
          <p:cNvPr id="4" name="Espace réservé du numéro de diapositive 3">
            <a:extLst>
              <a:ext uri="{FF2B5EF4-FFF2-40B4-BE49-F238E27FC236}">
                <a16:creationId xmlns:a16="http://schemas.microsoft.com/office/drawing/2014/main" id="{CEDA4F3C-8626-245D-8741-84FFE3481590}"/>
              </a:ext>
            </a:extLst>
          </p:cNvPr>
          <p:cNvSpPr>
            <a:spLocks noGrp="1"/>
          </p:cNvSpPr>
          <p:nvPr>
            <p:ph type="sldNum" sz="quarter" idx="4"/>
          </p:nvPr>
        </p:nvSpPr>
        <p:spPr/>
        <p:txBody>
          <a:bodyPr/>
          <a:lstStyle/>
          <a:p>
            <a:fld id="{33C783E2-4793-4F48-A271-51A73CC37D74}" type="slidenum">
              <a:rPr lang="fr-FR" smtClean="0"/>
              <a:t>46</a:t>
            </a:fld>
            <a:endParaRPr lang="fr-FR"/>
          </a:p>
        </p:txBody>
      </p:sp>
    </p:spTree>
    <p:extLst>
      <p:ext uri="{BB962C8B-B14F-4D97-AF65-F5344CB8AC3E}">
        <p14:creationId xmlns:p14="http://schemas.microsoft.com/office/powerpoint/2010/main" val="25609023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BCE8BE-8324-B5ED-EFC1-C9A33F811C92}"/>
              </a:ext>
            </a:extLst>
          </p:cNvPr>
          <p:cNvSpPr>
            <a:spLocks noGrp="1"/>
          </p:cNvSpPr>
          <p:nvPr>
            <p:ph type="title"/>
          </p:nvPr>
        </p:nvSpPr>
        <p:spPr/>
        <p:txBody>
          <a:bodyPr/>
          <a:lstStyle/>
          <a:p>
            <a:r>
              <a:rPr lang="fr-FR" dirty="0"/>
              <a:t>Exercice 33</a:t>
            </a:r>
          </a:p>
        </p:txBody>
      </p:sp>
      <p:sp>
        <p:nvSpPr>
          <p:cNvPr id="3" name="Espace réservé du contenu 2">
            <a:extLst>
              <a:ext uri="{FF2B5EF4-FFF2-40B4-BE49-F238E27FC236}">
                <a16:creationId xmlns:a16="http://schemas.microsoft.com/office/drawing/2014/main" id="{A0342012-12ED-4084-5594-42694F3581E1}"/>
              </a:ext>
            </a:extLst>
          </p:cNvPr>
          <p:cNvSpPr>
            <a:spLocks noGrp="1"/>
          </p:cNvSpPr>
          <p:nvPr>
            <p:ph idx="1"/>
          </p:nvPr>
        </p:nvSpPr>
        <p:spPr/>
        <p:txBody>
          <a:bodyPr>
            <a:normAutofit/>
          </a:bodyPr>
          <a:lstStyle/>
          <a:p>
            <a:pPr algn="l">
              <a:buFont typeface="Arial" panose="020B0604020202020204" pitchFamily="34" charset="0"/>
              <a:buChar char="•"/>
            </a:pPr>
            <a:r>
              <a:rPr lang="fr-BE" sz="2200" b="0" i="0" u="none" strike="noStrike" dirty="0">
                <a:effectLst/>
                <a:latin typeface="+mj-lt"/>
              </a:rPr>
              <a:t>Créez une </a:t>
            </a:r>
            <a:r>
              <a:rPr lang="fr-BE" sz="2200" b="0" i="0" u="none" strike="noStrike" dirty="0">
                <a:solidFill>
                  <a:schemeClr val="accent4"/>
                </a:solidFill>
                <a:effectLst/>
                <a:latin typeface="+mj-lt"/>
              </a:rPr>
              <a:t>liste</a:t>
            </a:r>
            <a:r>
              <a:rPr lang="fr-BE" sz="2200" b="0" i="0" u="none" strike="noStrike" dirty="0">
                <a:effectLst/>
                <a:latin typeface="+mj-lt"/>
              </a:rPr>
              <a:t> d'étudiants.</a:t>
            </a:r>
          </a:p>
          <a:p>
            <a:pPr algn="l">
              <a:buFont typeface="Arial" panose="020B0604020202020204" pitchFamily="34" charset="0"/>
              <a:buChar char="•"/>
            </a:pPr>
            <a:r>
              <a:rPr lang="fr-BE" sz="2200" b="0" i="0" u="none" strike="noStrike" dirty="0">
                <a:effectLst/>
                <a:latin typeface="+mj-lt"/>
              </a:rPr>
              <a:t>Créez un </a:t>
            </a:r>
            <a:r>
              <a:rPr lang="fr-BE" sz="2200" b="0" i="0" u="none" strike="noStrike" dirty="0">
                <a:solidFill>
                  <a:schemeClr val="accent4"/>
                </a:solidFill>
                <a:effectLst/>
                <a:latin typeface="+mj-lt"/>
              </a:rPr>
              <a:t>ensemble</a:t>
            </a:r>
            <a:r>
              <a:rPr lang="fr-BE" sz="2200" b="0" i="0" u="none" strike="noStrike" dirty="0">
                <a:effectLst/>
                <a:latin typeface="+mj-lt"/>
              </a:rPr>
              <a:t> de noms de cours.</a:t>
            </a:r>
          </a:p>
          <a:p>
            <a:pPr algn="l">
              <a:buFont typeface="Arial" panose="020B0604020202020204" pitchFamily="34" charset="0"/>
              <a:buChar char="•"/>
            </a:pPr>
            <a:r>
              <a:rPr lang="fr-BE" sz="2200" b="0" i="0" u="none" strike="noStrike" dirty="0">
                <a:effectLst/>
                <a:latin typeface="+mj-lt"/>
              </a:rPr>
              <a:t>Créez une carte (</a:t>
            </a:r>
            <a:r>
              <a:rPr lang="fr-BE" sz="2200" b="0" i="0" u="none" strike="noStrike" dirty="0" err="1">
                <a:solidFill>
                  <a:schemeClr val="accent4"/>
                </a:solidFill>
                <a:effectLst/>
                <a:latin typeface="+mj-lt"/>
              </a:rPr>
              <a:t>map</a:t>
            </a:r>
            <a:r>
              <a:rPr lang="fr-BE" sz="2200" b="0" i="0" u="none" strike="noStrike" dirty="0">
                <a:effectLst/>
                <a:latin typeface="+mj-lt"/>
              </a:rPr>
              <a:t>) qui associe chaque étudiant à un ensemble de cours qu'il suit.</a:t>
            </a:r>
          </a:p>
          <a:p>
            <a:pPr algn="l">
              <a:buFont typeface="Arial" panose="020B0604020202020204" pitchFamily="34" charset="0"/>
              <a:buChar char="•"/>
            </a:pPr>
            <a:r>
              <a:rPr lang="fr-BE" sz="2200" b="0" i="0" u="none" strike="noStrike" dirty="0">
                <a:effectLst/>
                <a:latin typeface="+mj-lt"/>
              </a:rPr>
              <a:t>Ajoutez quelques étudiants avec leurs cours correspondants.</a:t>
            </a:r>
          </a:p>
          <a:p>
            <a:pPr algn="l">
              <a:buFont typeface="Arial" panose="020B0604020202020204" pitchFamily="34" charset="0"/>
              <a:buChar char="•"/>
            </a:pPr>
            <a:r>
              <a:rPr lang="fr-BE" sz="2200" b="0" i="0" u="none" strike="noStrike" dirty="0">
                <a:effectLst/>
                <a:latin typeface="+mj-lt"/>
              </a:rPr>
              <a:t>Affichez tous les étudiants et les cours qu'ils suivent.</a:t>
            </a:r>
          </a:p>
          <a:p>
            <a:pPr marL="0" indent="0">
              <a:buNone/>
            </a:pPr>
            <a:endParaRPr lang="fr-FR" sz="2200" dirty="0">
              <a:latin typeface="+mj-lt"/>
            </a:endParaRPr>
          </a:p>
        </p:txBody>
      </p:sp>
      <p:sp>
        <p:nvSpPr>
          <p:cNvPr id="4" name="Espace réservé du numéro de diapositive 3">
            <a:extLst>
              <a:ext uri="{FF2B5EF4-FFF2-40B4-BE49-F238E27FC236}">
                <a16:creationId xmlns:a16="http://schemas.microsoft.com/office/drawing/2014/main" id="{911F09B4-3D74-E06A-1A79-AF72A742F46F}"/>
              </a:ext>
            </a:extLst>
          </p:cNvPr>
          <p:cNvSpPr>
            <a:spLocks noGrp="1"/>
          </p:cNvSpPr>
          <p:nvPr>
            <p:ph type="sldNum" sz="quarter" idx="4"/>
          </p:nvPr>
        </p:nvSpPr>
        <p:spPr/>
        <p:txBody>
          <a:bodyPr/>
          <a:lstStyle/>
          <a:p>
            <a:fld id="{33C783E2-4793-4F48-A271-51A73CC37D74}" type="slidenum">
              <a:rPr lang="fr-FR" smtClean="0"/>
              <a:t>47</a:t>
            </a:fld>
            <a:endParaRPr lang="fr-FR"/>
          </a:p>
        </p:txBody>
      </p:sp>
      <p:grpSp>
        <p:nvGrpSpPr>
          <p:cNvPr id="17" name="Groupe 16">
            <a:extLst>
              <a:ext uri="{FF2B5EF4-FFF2-40B4-BE49-F238E27FC236}">
                <a16:creationId xmlns:a16="http://schemas.microsoft.com/office/drawing/2014/main" id="{FF70CAC3-B7AE-5F5F-B8B7-5115C159C9DF}"/>
              </a:ext>
            </a:extLst>
          </p:cNvPr>
          <p:cNvGrpSpPr/>
          <p:nvPr/>
        </p:nvGrpSpPr>
        <p:grpSpPr>
          <a:xfrm>
            <a:off x="10115550" y="61915"/>
            <a:ext cx="1901766" cy="1628775"/>
            <a:chOff x="5123597" y="0"/>
            <a:chExt cx="4572000" cy="4572000"/>
          </a:xfrm>
        </p:grpSpPr>
        <p:grpSp>
          <p:nvGrpSpPr>
            <p:cNvPr id="16" name="Groupe 15">
              <a:extLst>
                <a:ext uri="{FF2B5EF4-FFF2-40B4-BE49-F238E27FC236}">
                  <a16:creationId xmlns:a16="http://schemas.microsoft.com/office/drawing/2014/main" id="{24C0D59D-D7AB-B52B-CFBB-1739FB096648}"/>
                </a:ext>
              </a:extLst>
            </p:cNvPr>
            <p:cNvGrpSpPr/>
            <p:nvPr/>
          </p:nvGrpSpPr>
          <p:grpSpPr>
            <a:xfrm>
              <a:off x="5581291" y="862642"/>
              <a:ext cx="3946584" cy="3342735"/>
              <a:chOff x="5581291" y="862642"/>
              <a:chExt cx="3946584" cy="3342735"/>
            </a:xfrm>
          </p:grpSpPr>
          <p:grpSp>
            <p:nvGrpSpPr>
              <p:cNvPr id="12" name="Groupe 11">
                <a:extLst>
                  <a:ext uri="{FF2B5EF4-FFF2-40B4-BE49-F238E27FC236}">
                    <a16:creationId xmlns:a16="http://schemas.microsoft.com/office/drawing/2014/main" id="{96FB6758-185A-EF44-5DCA-02B0D814D62D}"/>
                  </a:ext>
                </a:extLst>
              </p:cNvPr>
              <p:cNvGrpSpPr/>
              <p:nvPr/>
            </p:nvGrpSpPr>
            <p:grpSpPr>
              <a:xfrm>
                <a:off x="5581291" y="862642"/>
                <a:ext cx="3946584" cy="1949569"/>
                <a:chOff x="5581291" y="862642"/>
                <a:chExt cx="3946584" cy="1949569"/>
              </a:xfrm>
            </p:grpSpPr>
            <p:sp>
              <p:nvSpPr>
                <p:cNvPr id="5" name="Ellipse 4">
                  <a:extLst>
                    <a:ext uri="{FF2B5EF4-FFF2-40B4-BE49-F238E27FC236}">
                      <a16:creationId xmlns:a16="http://schemas.microsoft.com/office/drawing/2014/main" id="{7EE9C4FC-5A99-F752-BBE6-53825846BA32}"/>
                    </a:ext>
                  </a:extLst>
                </p:cNvPr>
                <p:cNvSpPr/>
                <p:nvPr/>
              </p:nvSpPr>
              <p:spPr>
                <a:xfrm>
                  <a:off x="5581291" y="1134374"/>
                  <a:ext cx="625415" cy="59090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Ellipse 5">
                  <a:extLst>
                    <a:ext uri="{FF2B5EF4-FFF2-40B4-BE49-F238E27FC236}">
                      <a16:creationId xmlns:a16="http://schemas.microsoft.com/office/drawing/2014/main" id="{6B7EAEEF-90A6-3163-5C44-AC84B8CC7C24}"/>
                    </a:ext>
                  </a:extLst>
                </p:cNvPr>
                <p:cNvSpPr/>
                <p:nvPr/>
              </p:nvSpPr>
              <p:spPr>
                <a:xfrm>
                  <a:off x="6556076" y="1027908"/>
                  <a:ext cx="806569" cy="628364"/>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Ellipse 6">
                  <a:extLst>
                    <a:ext uri="{FF2B5EF4-FFF2-40B4-BE49-F238E27FC236}">
                      <a16:creationId xmlns:a16="http://schemas.microsoft.com/office/drawing/2014/main" id="{CD34AEFD-143D-B236-BF3C-BF758ABAD0F3}"/>
                    </a:ext>
                  </a:extLst>
                </p:cNvPr>
                <p:cNvSpPr/>
                <p:nvPr/>
              </p:nvSpPr>
              <p:spPr>
                <a:xfrm>
                  <a:off x="7586933" y="1115646"/>
                  <a:ext cx="703052" cy="628364"/>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Ellipse 7">
                  <a:extLst>
                    <a:ext uri="{FF2B5EF4-FFF2-40B4-BE49-F238E27FC236}">
                      <a16:creationId xmlns:a16="http://schemas.microsoft.com/office/drawing/2014/main" id="{444661EE-1DAF-732A-55FB-20AFFDBC2B79}"/>
                    </a:ext>
                  </a:extLst>
                </p:cNvPr>
                <p:cNvSpPr/>
                <p:nvPr/>
              </p:nvSpPr>
              <p:spPr>
                <a:xfrm>
                  <a:off x="8587596" y="862642"/>
                  <a:ext cx="754811" cy="74618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orme libre 8">
                  <a:extLst>
                    <a:ext uri="{FF2B5EF4-FFF2-40B4-BE49-F238E27FC236}">
                      <a16:creationId xmlns:a16="http://schemas.microsoft.com/office/drawing/2014/main" id="{B39684CF-C501-FA61-CD05-EB2A2407AC37}"/>
                    </a:ext>
                  </a:extLst>
                </p:cNvPr>
                <p:cNvSpPr/>
                <p:nvPr/>
              </p:nvSpPr>
              <p:spPr>
                <a:xfrm>
                  <a:off x="6461185" y="1850366"/>
                  <a:ext cx="961845" cy="616789"/>
                </a:xfrm>
                <a:custGeom>
                  <a:avLst/>
                  <a:gdLst>
                    <a:gd name="connsiteX0" fmla="*/ 414068 w 961845"/>
                    <a:gd name="connsiteY0" fmla="*/ 0 h 616789"/>
                    <a:gd name="connsiteX1" fmla="*/ 336430 w 961845"/>
                    <a:gd name="connsiteY1" fmla="*/ 17253 h 616789"/>
                    <a:gd name="connsiteX2" fmla="*/ 47445 w 961845"/>
                    <a:gd name="connsiteY2" fmla="*/ 332117 h 616789"/>
                    <a:gd name="connsiteX3" fmla="*/ 0 w 961845"/>
                    <a:gd name="connsiteY3" fmla="*/ 616789 h 616789"/>
                    <a:gd name="connsiteX4" fmla="*/ 565030 w 961845"/>
                    <a:gd name="connsiteY4" fmla="*/ 582283 h 616789"/>
                    <a:gd name="connsiteX5" fmla="*/ 961845 w 961845"/>
                    <a:gd name="connsiteY5" fmla="*/ 534838 h 616789"/>
                    <a:gd name="connsiteX6" fmla="*/ 948906 w 961845"/>
                    <a:gd name="connsiteY6" fmla="*/ 435634 h 616789"/>
                    <a:gd name="connsiteX7" fmla="*/ 849702 w 961845"/>
                    <a:gd name="connsiteY7" fmla="*/ 103517 h 616789"/>
                    <a:gd name="connsiteX8" fmla="*/ 388189 w 961845"/>
                    <a:gd name="connsiteY8" fmla="*/ 47445 h 61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1845" h="616789">
                      <a:moveTo>
                        <a:pt x="414068" y="0"/>
                      </a:moveTo>
                      <a:lnTo>
                        <a:pt x="336430" y="17253"/>
                      </a:lnTo>
                      <a:lnTo>
                        <a:pt x="47445" y="332117"/>
                      </a:lnTo>
                      <a:lnTo>
                        <a:pt x="0" y="616789"/>
                      </a:lnTo>
                      <a:lnTo>
                        <a:pt x="565030" y="582283"/>
                      </a:lnTo>
                      <a:lnTo>
                        <a:pt x="961845" y="534838"/>
                      </a:lnTo>
                      <a:lnTo>
                        <a:pt x="948906" y="435634"/>
                      </a:lnTo>
                      <a:lnTo>
                        <a:pt x="849702" y="103517"/>
                      </a:lnTo>
                      <a:lnTo>
                        <a:pt x="388189" y="47445"/>
                      </a:lnTo>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orme libre 9">
                  <a:extLst>
                    <a:ext uri="{FF2B5EF4-FFF2-40B4-BE49-F238E27FC236}">
                      <a16:creationId xmlns:a16="http://schemas.microsoft.com/office/drawing/2014/main" id="{022A00B4-F6A7-FA83-F3F6-67964E4FADC0}"/>
                    </a:ext>
                  </a:extLst>
                </p:cNvPr>
                <p:cNvSpPr/>
                <p:nvPr/>
              </p:nvSpPr>
              <p:spPr>
                <a:xfrm>
                  <a:off x="7561053" y="1828800"/>
                  <a:ext cx="793630" cy="983411"/>
                </a:xfrm>
                <a:custGeom>
                  <a:avLst/>
                  <a:gdLst>
                    <a:gd name="connsiteX0" fmla="*/ 189781 w 793630"/>
                    <a:gd name="connsiteY0" fmla="*/ 910087 h 983411"/>
                    <a:gd name="connsiteX1" fmla="*/ 560717 w 793630"/>
                    <a:gd name="connsiteY1" fmla="*/ 983411 h 983411"/>
                    <a:gd name="connsiteX2" fmla="*/ 746185 w 793630"/>
                    <a:gd name="connsiteY2" fmla="*/ 595223 h 983411"/>
                    <a:gd name="connsiteX3" fmla="*/ 565030 w 793630"/>
                    <a:gd name="connsiteY3" fmla="*/ 258792 h 983411"/>
                    <a:gd name="connsiteX4" fmla="*/ 711679 w 793630"/>
                    <a:gd name="connsiteY4" fmla="*/ 452887 h 983411"/>
                    <a:gd name="connsiteX5" fmla="*/ 793630 w 793630"/>
                    <a:gd name="connsiteY5" fmla="*/ 370936 h 983411"/>
                    <a:gd name="connsiteX6" fmla="*/ 694426 w 793630"/>
                    <a:gd name="connsiteY6" fmla="*/ 142336 h 983411"/>
                    <a:gd name="connsiteX7" fmla="*/ 534838 w 793630"/>
                    <a:gd name="connsiteY7" fmla="*/ 0 h 983411"/>
                    <a:gd name="connsiteX8" fmla="*/ 51758 w 793630"/>
                    <a:gd name="connsiteY8" fmla="*/ 4313 h 983411"/>
                    <a:gd name="connsiteX9" fmla="*/ 0 w 793630"/>
                    <a:gd name="connsiteY9" fmla="*/ 301925 h 983411"/>
                    <a:gd name="connsiteX10" fmla="*/ 112143 w 793630"/>
                    <a:gd name="connsiteY10" fmla="*/ 396815 h 983411"/>
                    <a:gd name="connsiteX11" fmla="*/ 189781 w 793630"/>
                    <a:gd name="connsiteY11" fmla="*/ 910087 h 983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93630" h="983411">
                      <a:moveTo>
                        <a:pt x="189781" y="910087"/>
                      </a:moveTo>
                      <a:lnTo>
                        <a:pt x="560717" y="983411"/>
                      </a:lnTo>
                      <a:lnTo>
                        <a:pt x="746185" y="595223"/>
                      </a:lnTo>
                      <a:lnTo>
                        <a:pt x="565030" y="258792"/>
                      </a:lnTo>
                      <a:lnTo>
                        <a:pt x="711679" y="452887"/>
                      </a:lnTo>
                      <a:lnTo>
                        <a:pt x="793630" y="370936"/>
                      </a:lnTo>
                      <a:lnTo>
                        <a:pt x="694426" y="142336"/>
                      </a:lnTo>
                      <a:lnTo>
                        <a:pt x="534838" y="0"/>
                      </a:lnTo>
                      <a:lnTo>
                        <a:pt x="51758" y="4313"/>
                      </a:lnTo>
                      <a:lnTo>
                        <a:pt x="0" y="301925"/>
                      </a:lnTo>
                      <a:lnTo>
                        <a:pt x="112143" y="396815"/>
                      </a:lnTo>
                      <a:lnTo>
                        <a:pt x="189781" y="910087"/>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orme libre 10">
                  <a:extLst>
                    <a:ext uri="{FF2B5EF4-FFF2-40B4-BE49-F238E27FC236}">
                      <a16:creationId xmlns:a16="http://schemas.microsoft.com/office/drawing/2014/main" id="{3F0FC13F-E3D6-7E02-87A4-BB5EEBE2812E}"/>
                    </a:ext>
                  </a:extLst>
                </p:cNvPr>
                <p:cNvSpPr/>
                <p:nvPr/>
              </p:nvSpPr>
              <p:spPr>
                <a:xfrm>
                  <a:off x="8842075" y="1738223"/>
                  <a:ext cx="685800" cy="621102"/>
                </a:xfrm>
                <a:custGeom>
                  <a:avLst/>
                  <a:gdLst>
                    <a:gd name="connsiteX0" fmla="*/ 603850 w 685800"/>
                    <a:gd name="connsiteY0" fmla="*/ 17252 h 621102"/>
                    <a:gd name="connsiteX1" fmla="*/ 685800 w 685800"/>
                    <a:gd name="connsiteY1" fmla="*/ 94890 h 621102"/>
                    <a:gd name="connsiteX2" fmla="*/ 349370 w 685800"/>
                    <a:gd name="connsiteY2" fmla="*/ 332117 h 621102"/>
                    <a:gd name="connsiteX3" fmla="*/ 0 w 685800"/>
                    <a:gd name="connsiteY3" fmla="*/ 621102 h 621102"/>
                    <a:gd name="connsiteX4" fmla="*/ 4314 w 685800"/>
                    <a:gd name="connsiteY4" fmla="*/ 327803 h 621102"/>
                    <a:gd name="connsiteX5" fmla="*/ 90578 w 685800"/>
                    <a:gd name="connsiteY5" fmla="*/ 0 h 621102"/>
                    <a:gd name="connsiteX6" fmla="*/ 241540 w 685800"/>
                    <a:gd name="connsiteY6" fmla="*/ 51758 h 621102"/>
                    <a:gd name="connsiteX7" fmla="*/ 603850 w 685800"/>
                    <a:gd name="connsiteY7" fmla="*/ 17252 h 621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 h="621102">
                      <a:moveTo>
                        <a:pt x="603850" y="17252"/>
                      </a:moveTo>
                      <a:lnTo>
                        <a:pt x="685800" y="94890"/>
                      </a:lnTo>
                      <a:lnTo>
                        <a:pt x="349370" y="332117"/>
                      </a:lnTo>
                      <a:lnTo>
                        <a:pt x="0" y="621102"/>
                      </a:lnTo>
                      <a:lnTo>
                        <a:pt x="4314" y="327803"/>
                      </a:lnTo>
                      <a:lnTo>
                        <a:pt x="90578" y="0"/>
                      </a:lnTo>
                      <a:lnTo>
                        <a:pt x="241540" y="51758"/>
                      </a:lnTo>
                      <a:lnTo>
                        <a:pt x="603850" y="17252"/>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3" name="Forme libre 12">
                <a:extLst>
                  <a:ext uri="{FF2B5EF4-FFF2-40B4-BE49-F238E27FC236}">
                    <a16:creationId xmlns:a16="http://schemas.microsoft.com/office/drawing/2014/main" id="{040B86EF-2F5F-B28D-C722-E21DB13804E1}"/>
                  </a:ext>
                </a:extLst>
              </p:cNvPr>
              <p:cNvSpPr/>
              <p:nvPr/>
            </p:nvSpPr>
            <p:spPr>
              <a:xfrm>
                <a:off x="5827143" y="3554083"/>
                <a:ext cx="112144" cy="345057"/>
              </a:xfrm>
              <a:custGeom>
                <a:avLst/>
                <a:gdLst>
                  <a:gd name="connsiteX0" fmla="*/ 38819 w 112144"/>
                  <a:gd name="connsiteY0" fmla="*/ 280359 h 345057"/>
                  <a:gd name="connsiteX1" fmla="*/ 0 w 112144"/>
                  <a:gd name="connsiteY1" fmla="*/ 0 h 345057"/>
                  <a:gd name="connsiteX2" fmla="*/ 99204 w 112144"/>
                  <a:gd name="connsiteY2" fmla="*/ 8626 h 345057"/>
                  <a:gd name="connsiteX3" fmla="*/ 112144 w 112144"/>
                  <a:gd name="connsiteY3" fmla="*/ 345057 h 345057"/>
                  <a:gd name="connsiteX4" fmla="*/ 38819 w 112144"/>
                  <a:gd name="connsiteY4" fmla="*/ 280359 h 345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144" h="345057">
                    <a:moveTo>
                      <a:pt x="38819" y="280359"/>
                    </a:moveTo>
                    <a:lnTo>
                      <a:pt x="0" y="0"/>
                    </a:lnTo>
                    <a:lnTo>
                      <a:pt x="99204" y="8626"/>
                    </a:lnTo>
                    <a:lnTo>
                      <a:pt x="112144" y="345057"/>
                    </a:lnTo>
                    <a:lnTo>
                      <a:pt x="38819" y="280359"/>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Forme libre 13">
                <a:extLst>
                  <a:ext uri="{FF2B5EF4-FFF2-40B4-BE49-F238E27FC236}">
                    <a16:creationId xmlns:a16="http://schemas.microsoft.com/office/drawing/2014/main" id="{B5FF7536-054F-7AED-5A9E-263ABC286804}"/>
                  </a:ext>
                </a:extLst>
              </p:cNvPr>
              <p:cNvSpPr/>
              <p:nvPr/>
            </p:nvSpPr>
            <p:spPr>
              <a:xfrm>
                <a:off x="6068683" y="3575649"/>
                <a:ext cx="146649" cy="323491"/>
              </a:xfrm>
              <a:custGeom>
                <a:avLst/>
                <a:gdLst>
                  <a:gd name="connsiteX0" fmla="*/ 0 w 146649"/>
                  <a:gd name="connsiteY0" fmla="*/ 0 h 323491"/>
                  <a:gd name="connsiteX1" fmla="*/ 4313 w 146649"/>
                  <a:gd name="connsiteY1" fmla="*/ 276045 h 323491"/>
                  <a:gd name="connsiteX2" fmla="*/ 146649 w 146649"/>
                  <a:gd name="connsiteY2" fmla="*/ 323491 h 323491"/>
                  <a:gd name="connsiteX3" fmla="*/ 116457 w 146649"/>
                  <a:gd name="connsiteY3" fmla="*/ 12940 h 323491"/>
                  <a:gd name="connsiteX4" fmla="*/ 0 w 146649"/>
                  <a:gd name="connsiteY4" fmla="*/ 0 h 3234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649" h="323491">
                    <a:moveTo>
                      <a:pt x="0" y="0"/>
                    </a:moveTo>
                    <a:cubicBezTo>
                      <a:pt x="1438" y="92015"/>
                      <a:pt x="2875" y="184030"/>
                      <a:pt x="4313" y="276045"/>
                    </a:cubicBezTo>
                    <a:lnTo>
                      <a:pt x="146649" y="323491"/>
                    </a:lnTo>
                    <a:lnTo>
                      <a:pt x="116457" y="12940"/>
                    </a:lnTo>
                    <a:lnTo>
                      <a:pt x="0" y="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Forme libre 14">
                <a:extLst>
                  <a:ext uri="{FF2B5EF4-FFF2-40B4-BE49-F238E27FC236}">
                    <a16:creationId xmlns:a16="http://schemas.microsoft.com/office/drawing/2014/main" id="{508FDD27-277F-39C5-6854-FEB0090414BF}"/>
                  </a:ext>
                </a:extLst>
              </p:cNvPr>
              <p:cNvSpPr/>
              <p:nvPr/>
            </p:nvSpPr>
            <p:spPr>
              <a:xfrm>
                <a:off x="6430992" y="3502325"/>
                <a:ext cx="2971800" cy="703052"/>
              </a:xfrm>
              <a:custGeom>
                <a:avLst/>
                <a:gdLst>
                  <a:gd name="connsiteX0" fmla="*/ 86265 w 2971800"/>
                  <a:gd name="connsiteY0" fmla="*/ 651294 h 703052"/>
                  <a:gd name="connsiteX1" fmla="*/ 646982 w 2971800"/>
                  <a:gd name="connsiteY1" fmla="*/ 616788 h 703052"/>
                  <a:gd name="connsiteX2" fmla="*/ 970472 w 2971800"/>
                  <a:gd name="connsiteY2" fmla="*/ 629728 h 703052"/>
                  <a:gd name="connsiteX3" fmla="*/ 1419046 w 2971800"/>
                  <a:gd name="connsiteY3" fmla="*/ 703052 h 703052"/>
                  <a:gd name="connsiteX4" fmla="*/ 2018582 w 2971800"/>
                  <a:gd name="connsiteY4" fmla="*/ 698739 h 703052"/>
                  <a:gd name="connsiteX5" fmla="*/ 2713008 w 2971800"/>
                  <a:gd name="connsiteY5" fmla="*/ 659920 h 703052"/>
                  <a:gd name="connsiteX6" fmla="*/ 2971800 w 2971800"/>
                  <a:gd name="connsiteY6" fmla="*/ 616788 h 703052"/>
                  <a:gd name="connsiteX7" fmla="*/ 2885536 w 2971800"/>
                  <a:gd name="connsiteY7" fmla="*/ 521898 h 703052"/>
                  <a:gd name="connsiteX8" fmla="*/ 2549106 w 2971800"/>
                  <a:gd name="connsiteY8" fmla="*/ 483079 h 703052"/>
                  <a:gd name="connsiteX9" fmla="*/ 2286000 w 2971800"/>
                  <a:gd name="connsiteY9" fmla="*/ 508958 h 703052"/>
                  <a:gd name="connsiteX10" fmla="*/ 1729597 w 2971800"/>
                  <a:gd name="connsiteY10" fmla="*/ 508958 h 703052"/>
                  <a:gd name="connsiteX11" fmla="*/ 1699404 w 2971800"/>
                  <a:gd name="connsiteY11" fmla="*/ 427007 h 703052"/>
                  <a:gd name="connsiteX12" fmla="*/ 1686465 w 2971800"/>
                  <a:gd name="connsiteY12" fmla="*/ 25879 h 703052"/>
                  <a:gd name="connsiteX13" fmla="*/ 1591574 w 2971800"/>
                  <a:gd name="connsiteY13" fmla="*/ 30192 h 703052"/>
                  <a:gd name="connsiteX14" fmla="*/ 1660585 w 2971800"/>
                  <a:gd name="connsiteY14" fmla="*/ 534837 h 703052"/>
                  <a:gd name="connsiteX15" fmla="*/ 1406106 w 2971800"/>
                  <a:gd name="connsiteY15" fmla="*/ 474452 h 703052"/>
                  <a:gd name="connsiteX16" fmla="*/ 1380227 w 2971800"/>
                  <a:gd name="connsiteY16" fmla="*/ 0 h 703052"/>
                  <a:gd name="connsiteX17" fmla="*/ 1298276 w 2971800"/>
                  <a:gd name="connsiteY17" fmla="*/ 38818 h 703052"/>
                  <a:gd name="connsiteX18" fmla="*/ 1324155 w 2971800"/>
                  <a:gd name="connsiteY18" fmla="*/ 478766 h 703052"/>
                  <a:gd name="connsiteX19" fmla="*/ 728933 w 2971800"/>
                  <a:gd name="connsiteY19" fmla="*/ 362309 h 703052"/>
                  <a:gd name="connsiteX20" fmla="*/ 0 w 2971800"/>
                  <a:gd name="connsiteY20" fmla="*/ 431320 h 703052"/>
                  <a:gd name="connsiteX21" fmla="*/ 86265 w 2971800"/>
                  <a:gd name="connsiteY21" fmla="*/ 651294 h 7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1800" h="703052">
                    <a:moveTo>
                      <a:pt x="86265" y="651294"/>
                    </a:moveTo>
                    <a:lnTo>
                      <a:pt x="646982" y="616788"/>
                    </a:lnTo>
                    <a:lnTo>
                      <a:pt x="970472" y="629728"/>
                    </a:lnTo>
                    <a:lnTo>
                      <a:pt x="1419046" y="703052"/>
                    </a:lnTo>
                    <a:lnTo>
                      <a:pt x="2018582" y="698739"/>
                    </a:lnTo>
                    <a:lnTo>
                      <a:pt x="2713008" y="659920"/>
                    </a:lnTo>
                    <a:lnTo>
                      <a:pt x="2971800" y="616788"/>
                    </a:lnTo>
                    <a:lnTo>
                      <a:pt x="2885536" y="521898"/>
                    </a:lnTo>
                    <a:lnTo>
                      <a:pt x="2549106" y="483079"/>
                    </a:lnTo>
                    <a:lnTo>
                      <a:pt x="2286000" y="508958"/>
                    </a:lnTo>
                    <a:lnTo>
                      <a:pt x="1729597" y="508958"/>
                    </a:lnTo>
                    <a:lnTo>
                      <a:pt x="1699404" y="427007"/>
                    </a:lnTo>
                    <a:lnTo>
                      <a:pt x="1686465" y="25879"/>
                    </a:lnTo>
                    <a:lnTo>
                      <a:pt x="1591574" y="30192"/>
                    </a:lnTo>
                    <a:lnTo>
                      <a:pt x="1660585" y="534837"/>
                    </a:lnTo>
                    <a:lnTo>
                      <a:pt x="1406106" y="474452"/>
                    </a:lnTo>
                    <a:lnTo>
                      <a:pt x="1380227" y="0"/>
                    </a:lnTo>
                    <a:lnTo>
                      <a:pt x="1298276" y="38818"/>
                    </a:lnTo>
                    <a:lnTo>
                      <a:pt x="1324155" y="478766"/>
                    </a:lnTo>
                    <a:lnTo>
                      <a:pt x="728933" y="362309"/>
                    </a:lnTo>
                    <a:lnTo>
                      <a:pt x="0" y="431320"/>
                    </a:lnTo>
                    <a:lnTo>
                      <a:pt x="86265" y="651294"/>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5126" name="Picture 6" descr="Student Clipart, Download Free Transparent PNG Format Clipart Images on  Pngtree">
              <a:extLst>
                <a:ext uri="{FF2B5EF4-FFF2-40B4-BE49-F238E27FC236}">
                  <a16:creationId xmlns:a16="http://schemas.microsoft.com/office/drawing/2014/main" id="{CB539909-007C-68EE-3AA4-E1831D61AA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3597" y="0"/>
              <a:ext cx="4572000" cy="45720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5404630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390A7-45D3-F6FA-600A-8552A977B43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69523AE-8D31-E6AB-41CA-8D3C8A7017A4}"/>
              </a:ext>
            </a:extLst>
          </p:cNvPr>
          <p:cNvSpPr>
            <a:spLocks noGrp="1"/>
          </p:cNvSpPr>
          <p:nvPr>
            <p:ph type="title"/>
          </p:nvPr>
        </p:nvSpPr>
        <p:spPr/>
        <p:txBody>
          <a:bodyPr/>
          <a:lstStyle/>
          <a:p>
            <a:r>
              <a:rPr lang="fr-FR" dirty="0"/>
              <a:t>L’état de notre </a:t>
            </a:r>
            <a:r>
              <a:rPr lang="fr-FR" dirty="0" err="1"/>
              <a:t>GameHub</a:t>
            </a:r>
            <a:r>
              <a:rPr lang="fr-FR" dirty="0"/>
              <a:t>…</a:t>
            </a:r>
          </a:p>
        </p:txBody>
      </p:sp>
      <p:sp>
        <p:nvSpPr>
          <p:cNvPr id="3" name="Espace réservé du contenu 2">
            <a:extLst>
              <a:ext uri="{FF2B5EF4-FFF2-40B4-BE49-F238E27FC236}">
                <a16:creationId xmlns:a16="http://schemas.microsoft.com/office/drawing/2014/main" id="{64684428-6383-9E43-61FF-705A323F7D8F}"/>
              </a:ext>
            </a:extLst>
          </p:cNvPr>
          <p:cNvSpPr>
            <a:spLocks noGrp="1"/>
          </p:cNvSpPr>
          <p:nvPr>
            <p:ph idx="1"/>
          </p:nvPr>
        </p:nvSpPr>
        <p:spPr/>
        <p:txBody>
          <a:bodyPr>
            <a:noAutofit/>
          </a:bodyPr>
          <a:lstStyle/>
          <a:p>
            <a:pPr marL="0" indent="0">
              <a:buNone/>
            </a:pPr>
            <a:r>
              <a:rPr lang="fr-BE" sz="2000" b="1" dirty="0" err="1">
                <a:solidFill>
                  <a:schemeClr val="accent4"/>
                </a:solidFill>
                <a:latin typeface="Consolas" panose="020B0609020204030204" pitchFamily="49" charset="0"/>
                <a:cs typeface="Consolas" panose="020B0609020204030204" pitchFamily="49" charset="0"/>
              </a:rPr>
              <a:t>GameHub</a:t>
            </a:r>
            <a:endParaRPr lang="fr-BE" sz="2400" dirty="0">
              <a:solidFill>
                <a:schemeClr val="accent4"/>
              </a:solidFill>
              <a:latin typeface="Consolas" panose="020B0609020204030204" pitchFamily="49" charset="0"/>
              <a:cs typeface="Consolas" panose="020B0609020204030204" pitchFamily="49" charset="0"/>
            </a:endParaRPr>
          </a:p>
          <a:p>
            <a:pPr marL="0" indent="0">
              <a:buNone/>
            </a:pPr>
            <a:r>
              <a:rPr lang="fr-BE" sz="2400" b="1" dirty="0"/>
              <a:t>Responsabilité :</a:t>
            </a:r>
            <a:r>
              <a:rPr lang="fr-BE" sz="2400" dirty="0"/>
              <a:t> point d’entrée console.</a:t>
            </a:r>
          </a:p>
          <a:p>
            <a:r>
              <a:rPr lang="fr-BE" sz="2400" dirty="0"/>
              <a:t>Saisit les joueurs</a:t>
            </a:r>
          </a:p>
          <a:p>
            <a:r>
              <a:rPr lang="fr-BE" sz="2400" dirty="0"/>
              <a:t>Propose le choix du jeu (</a:t>
            </a:r>
            <a:r>
              <a:rPr lang="fr-BE" sz="2000" dirty="0" err="1">
                <a:solidFill>
                  <a:schemeClr val="accent4"/>
                </a:solidFill>
                <a:latin typeface="Consolas" panose="020B0609020204030204" pitchFamily="49" charset="0"/>
                <a:cs typeface="Consolas" panose="020B0609020204030204" pitchFamily="49" charset="0"/>
              </a:rPr>
              <a:t>TypeJeu</a:t>
            </a:r>
            <a:r>
              <a:rPr lang="fr-BE" sz="2400" dirty="0"/>
              <a:t>)</a:t>
            </a:r>
          </a:p>
          <a:p>
            <a:r>
              <a:rPr lang="fr-BE" sz="2400" dirty="0"/>
              <a:t>Demande une instance de </a:t>
            </a:r>
            <a:r>
              <a:rPr lang="fr-BE" sz="2000" dirty="0">
                <a:solidFill>
                  <a:schemeClr val="accent4"/>
                </a:solidFill>
                <a:latin typeface="Consolas" panose="020B0609020204030204" pitchFamily="49" charset="0"/>
                <a:cs typeface="Consolas" panose="020B0609020204030204" pitchFamily="49" charset="0"/>
              </a:rPr>
              <a:t>Jeu</a:t>
            </a:r>
            <a:r>
              <a:rPr lang="fr-BE" sz="2400" dirty="0"/>
              <a:t> via </a:t>
            </a:r>
            <a:r>
              <a:rPr lang="fr-BE" sz="2000" dirty="0" err="1">
                <a:solidFill>
                  <a:schemeClr val="accent4"/>
                </a:solidFill>
                <a:latin typeface="Consolas" panose="020B0609020204030204" pitchFamily="49" charset="0"/>
                <a:cs typeface="Consolas" panose="020B0609020204030204" pitchFamily="49" charset="0"/>
              </a:rPr>
              <a:t>JeuFactory</a:t>
            </a:r>
            <a:endParaRPr lang="fr-BE" sz="2000" dirty="0">
              <a:solidFill>
                <a:schemeClr val="accent4"/>
              </a:solidFill>
              <a:latin typeface="Consolas" panose="020B0609020204030204" pitchFamily="49" charset="0"/>
              <a:cs typeface="Consolas" panose="020B0609020204030204" pitchFamily="49" charset="0"/>
            </a:endParaRPr>
          </a:p>
          <a:p>
            <a:r>
              <a:rPr lang="fr-BE" sz="2400" dirty="0"/>
              <a:t>Si le jeu est configurable : appelle </a:t>
            </a:r>
            <a:r>
              <a:rPr lang="fr-BE" sz="2000" dirty="0">
                <a:solidFill>
                  <a:schemeClr val="accent4"/>
                </a:solidFill>
                <a:latin typeface="Consolas" panose="020B0609020204030204" pitchFamily="49" charset="0"/>
                <a:cs typeface="Consolas" panose="020B0609020204030204" pitchFamily="49" charset="0"/>
              </a:rPr>
              <a:t>configure(scanner)</a:t>
            </a:r>
          </a:p>
          <a:p>
            <a:r>
              <a:rPr lang="fr-BE" sz="2400" dirty="0"/>
              <a:t>Lance </a:t>
            </a:r>
            <a:r>
              <a:rPr lang="fr-BE" sz="2000" dirty="0" err="1">
                <a:solidFill>
                  <a:schemeClr val="accent4"/>
                </a:solidFill>
                <a:latin typeface="Consolas" panose="020B0609020204030204" pitchFamily="49" charset="0"/>
                <a:cs typeface="Consolas" panose="020B0609020204030204" pitchFamily="49" charset="0"/>
              </a:rPr>
              <a:t>jeu.jouer</a:t>
            </a:r>
            <a:r>
              <a:rPr lang="fr-BE" sz="2000" dirty="0">
                <a:solidFill>
                  <a:schemeClr val="accent4"/>
                </a:solidFill>
                <a:latin typeface="Consolas" panose="020B0609020204030204" pitchFamily="49" charset="0"/>
                <a:cs typeface="Consolas" panose="020B0609020204030204" pitchFamily="49" charset="0"/>
              </a:rPr>
              <a:t>(j1, j2)</a:t>
            </a:r>
            <a:r>
              <a:rPr lang="fr-BE" sz="2400" dirty="0"/>
              <a:t>, puis clôture la </a:t>
            </a:r>
            <a:r>
              <a:rPr lang="fr-BE" sz="2000" dirty="0">
                <a:solidFill>
                  <a:schemeClr val="accent4"/>
                </a:solidFill>
                <a:latin typeface="Consolas" panose="020B0609020204030204" pitchFamily="49" charset="0"/>
                <a:cs typeface="Consolas" panose="020B0609020204030204" pitchFamily="49" charset="0"/>
              </a:rPr>
              <a:t>Partie</a:t>
            </a:r>
          </a:p>
        </p:txBody>
      </p:sp>
      <p:sp>
        <p:nvSpPr>
          <p:cNvPr id="5" name="Espace réservé du numéro de diapositive 4">
            <a:extLst>
              <a:ext uri="{FF2B5EF4-FFF2-40B4-BE49-F238E27FC236}">
                <a16:creationId xmlns:a16="http://schemas.microsoft.com/office/drawing/2014/main" id="{7A990730-730A-4987-C0DB-58E3C3C93792}"/>
              </a:ext>
            </a:extLst>
          </p:cNvPr>
          <p:cNvSpPr>
            <a:spLocks noGrp="1"/>
          </p:cNvSpPr>
          <p:nvPr>
            <p:ph type="sldNum" sz="quarter" idx="4"/>
          </p:nvPr>
        </p:nvSpPr>
        <p:spPr/>
        <p:txBody>
          <a:bodyPr/>
          <a:lstStyle/>
          <a:p>
            <a:fld id="{33C783E2-4793-4F48-A271-51A73CC37D74}" type="slidenum">
              <a:rPr lang="fr-FR" smtClean="0"/>
              <a:t>48</a:t>
            </a:fld>
            <a:endParaRPr lang="fr-FR"/>
          </a:p>
        </p:txBody>
      </p:sp>
      <p:pic>
        <p:nvPicPr>
          <p:cNvPr id="6" name="Picture 2" descr="Game Hub - Apps on Google Play">
            <a:extLst>
              <a:ext uri="{FF2B5EF4-FFF2-40B4-BE49-F238E27FC236}">
                <a16:creationId xmlns:a16="http://schemas.microsoft.com/office/drawing/2014/main" id="{AEE308CA-AFAB-E6AE-B498-60A2BA5F2B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425092">
            <a:off x="10019709" y="361023"/>
            <a:ext cx="1647536" cy="1647536"/>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39447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AB9AE-52C6-20A5-0AC8-B91B8BF16EA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78858DB-71B1-E537-2FED-08D8CCFAB164}"/>
              </a:ext>
            </a:extLst>
          </p:cNvPr>
          <p:cNvSpPr>
            <a:spLocks noGrp="1"/>
          </p:cNvSpPr>
          <p:nvPr>
            <p:ph type="title"/>
          </p:nvPr>
        </p:nvSpPr>
        <p:spPr/>
        <p:txBody>
          <a:bodyPr/>
          <a:lstStyle/>
          <a:p>
            <a:r>
              <a:rPr lang="fr-FR" dirty="0"/>
              <a:t>L’état de notre </a:t>
            </a:r>
            <a:r>
              <a:rPr lang="fr-FR" dirty="0" err="1"/>
              <a:t>GameHub</a:t>
            </a:r>
            <a:r>
              <a:rPr lang="fr-FR" dirty="0"/>
              <a:t>…</a:t>
            </a:r>
          </a:p>
        </p:txBody>
      </p:sp>
      <p:sp>
        <p:nvSpPr>
          <p:cNvPr id="3" name="Espace réservé du contenu 2">
            <a:extLst>
              <a:ext uri="{FF2B5EF4-FFF2-40B4-BE49-F238E27FC236}">
                <a16:creationId xmlns:a16="http://schemas.microsoft.com/office/drawing/2014/main" id="{578F416C-BBF9-BDE1-0BC7-3F357BC1ED88}"/>
              </a:ext>
            </a:extLst>
          </p:cNvPr>
          <p:cNvSpPr>
            <a:spLocks noGrp="1"/>
          </p:cNvSpPr>
          <p:nvPr>
            <p:ph idx="1"/>
          </p:nvPr>
        </p:nvSpPr>
        <p:spPr/>
        <p:txBody>
          <a:bodyPr>
            <a:noAutofit/>
          </a:bodyPr>
          <a:lstStyle/>
          <a:p>
            <a:pPr marL="0" indent="0">
              <a:buNone/>
            </a:pPr>
            <a:r>
              <a:rPr lang="fr-BE" sz="1600" b="1" dirty="0">
                <a:solidFill>
                  <a:schemeClr val="accent4"/>
                </a:solidFill>
                <a:latin typeface="Consolas" panose="020B0609020204030204" pitchFamily="49" charset="0"/>
                <a:cs typeface="Consolas" panose="020B0609020204030204" pitchFamily="49" charset="0"/>
              </a:rPr>
              <a:t>Jeu</a:t>
            </a:r>
            <a:r>
              <a:rPr lang="fr-BE" sz="1800" b="1" dirty="0"/>
              <a:t> (interface)</a:t>
            </a:r>
            <a:endParaRPr lang="fr-BE" sz="1800" dirty="0"/>
          </a:p>
          <a:p>
            <a:pPr marL="0" indent="0">
              <a:buNone/>
            </a:pPr>
            <a:r>
              <a:rPr lang="fr-BE" sz="1800" b="1" dirty="0"/>
              <a:t>Responsabilité :</a:t>
            </a:r>
            <a:r>
              <a:rPr lang="fr-BE" sz="1800" dirty="0"/>
              <a:t> contrat commun à tous les jeux du hub.</a:t>
            </a:r>
          </a:p>
          <a:p>
            <a:pPr marL="0" indent="0">
              <a:buNone/>
            </a:pPr>
            <a:r>
              <a:rPr lang="fr-BE" sz="1600" dirty="0" err="1">
                <a:solidFill>
                  <a:schemeClr val="accent4"/>
                </a:solidFill>
                <a:latin typeface="Consolas" panose="020B0609020204030204" pitchFamily="49" charset="0"/>
                <a:cs typeface="Consolas" panose="020B0609020204030204" pitchFamily="49" charset="0"/>
              </a:rPr>
              <a:t>TypeJeu</a:t>
            </a:r>
            <a:r>
              <a:rPr lang="fr-BE" sz="1600" dirty="0">
                <a:solidFill>
                  <a:schemeClr val="accent4"/>
                </a:solidFill>
                <a:latin typeface="Consolas" panose="020B0609020204030204" pitchFamily="49" charset="0"/>
                <a:cs typeface="Consolas" panose="020B0609020204030204" pitchFamily="49" charset="0"/>
              </a:rPr>
              <a:t> </a:t>
            </a:r>
            <a:r>
              <a:rPr lang="fr-BE" sz="1600" dirty="0" err="1">
                <a:solidFill>
                  <a:schemeClr val="accent4"/>
                </a:solidFill>
                <a:latin typeface="Consolas" panose="020B0609020204030204" pitchFamily="49" charset="0"/>
                <a:cs typeface="Consolas" panose="020B0609020204030204" pitchFamily="49" charset="0"/>
              </a:rPr>
              <a:t>getType</a:t>
            </a:r>
            <a:r>
              <a:rPr lang="fr-BE" sz="1600" dirty="0">
                <a:solidFill>
                  <a:schemeClr val="accent4"/>
                </a:solidFill>
                <a:latin typeface="Consolas" panose="020B0609020204030204" pitchFamily="49" charset="0"/>
                <a:cs typeface="Consolas" panose="020B0609020204030204" pitchFamily="49" charset="0"/>
              </a:rPr>
              <a:t>()</a:t>
            </a:r>
            <a:r>
              <a:rPr lang="fr-BE" sz="1600" dirty="0"/>
              <a:t> – </a:t>
            </a:r>
            <a:r>
              <a:rPr lang="fr-BE" sz="1600" dirty="0" err="1"/>
              <a:t>enum</a:t>
            </a:r>
            <a:r>
              <a:rPr lang="fr-BE" sz="1600" dirty="0"/>
              <a:t> qui contient les types de jeux possibles</a:t>
            </a:r>
            <a:endParaRPr lang="fr-BE" sz="1600" dirty="0">
              <a:solidFill>
                <a:schemeClr val="accent4"/>
              </a:solidFill>
              <a:latin typeface="Consolas" panose="020B0609020204030204" pitchFamily="49" charset="0"/>
              <a:cs typeface="Consolas" panose="020B0609020204030204" pitchFamily="49" charset="0"/>
            </a:endParaRPr>
          </a:p>
          <a:p>
            <a:pPr marL="0" indent="0">
              <a:buNone/>
            </a:pPr>
            <a:r>
              <a:rPr lang="fr-BE" sz="1600" dirty="0" err="1">
                <a:solidFill>
                  <a:schemeClr val="accent4"/>
                </a:solidFill>
                <a:latin typeface="Consolas" panose="020B0609020204030204" pitchFamily="49" charset="0"/>
                <a:cs typeface="Consolas" panose="020B0609020204030204" pitchFamily="49" charset="0"/>
              </a:rPr>
              <a:t>ResultatPartie</a:t>
            </a:r>
            <a:r>
              <a:rPr lang="fr-BE" sz="1600" dirty="0">
                <a:solidFill>
                  <a:schemeClr val="accent4"/>
                </a:solidFill>
                <a:latin typeface="Consolas" panose="020B0609020204030204" pitchFamily="49" charset="0"/>
                <a:cs typeface="Consolas" panose="020B0609020204030204" pitchFamily="49" charset="0"/>
              </a:rPr>
              <a:t> jouer(Joueur j1, Joueur j2)</a:t>
            </a:r>
            <a:r>
              <a:rPr lang="fr-BE" sz="1600" dirty="0"/>
              <a:t> – </a:t>
            </a:r>
            <a:r>
              <a:rPr lang="fr-BE" sz="1600" dirty="0" err="1"/>
              <a:t>enum</a:t>
            </a:r>
            <a:r>
              <a:rPr lang="fr-BE" sz="1600" dirty="0"/>
              <a:t> qui contient le résultat: J1_GAGNE, J2_GAGNE, EGALITE</a:t>
            </a:r>
            <a:br>
              <a:rPr lang="fr-BE" sz="1800" dirty="0"/>
            </a:br>
            <a:endParaRPr lang="fr-BE" sz="1800" dirty="0"/>
          </a:p>
          <a:p>
            <a:pPr marL="0" indent="0">
              <a:buNone/>
            </a:pPr>
            <a:r>
              <a:rPr lang="fr-BE" sz="1600" b="1" dirty="0" err="1">
                <a:solidFill>
                  <a:schemeClr val="accent4"/>
                </a:solidFill>
                <a:latin typeface="Consolas" panose="020B0609020204030204" pitchFamily="49" charset="0"/>
                <a:cs typeface="Consolas" panose="020B0609020204030204" pitchFamily="49" charset="0"/>
              </a:rPr>
              <a:t>JeuConfigurable</a:t>
            </a:r>
            <a:r>
              <a:rPr lang="fr-BE" sz="1800" b="1" dirty="0"/>
              <a:t> (interface)</a:t>
            </a:r>
            <a:endParaRPr lang="fr-BE" sz="1800" dirty="0"/>
          </a:p>
          <a:p>
            <a:pPr marL="0" indent="0">
              <a:buNone/>
            </a:pPr>
            <a:r>
              <a:rPr lang="fr-BE" sz="1800" b="1" dirty="0"/>
              <a:t>Responsabilité :</a:t>
            </a:r>
            <a:r>
              <a:rPr lang="fr-BE" sz="1800" dirty="0"/>
              <a:t> marque un jeu comme “configurable avant de jouer”.</a:t>
            </a:r>
          </a:p>
          <a:p>
            <a:pPr marL="0" indent="0">
              <a:buNone/>
            </a:pPr>
            <a:r>
              <a:rPr lang="fr-BE" sz="1600" dirty="0" err="1">
                <a:solidFill>
                  <a:schemeClr val="accent4"/>
                </a:solidFill>
                <a:latin typeface="Consolas" panose="020B0609020204030204" pitchFamily="49" charset="0"/>
                <a:cs typeface="Consolas" panose="020B0609020204030204" pitchFamily="49" charset="0"/>
              </a:rPr>
              <a:t>void</a:t>
            </a:r>
            <a:r>
              <a:rPr lang="fr-BE" sz="1600" dirty="0">
                <a:solidFill>
                  <a:schemeClr val="accent4"/>
                </a:solidFill>
                <a:latin typeface="Consolas" panose="020B0609020204030204" pitchFamily="49" charset="0"/>
                <a:cs typeface="Consolas" panose="020B0609020204030204" pitchFamily="49" charset="0"/>
              </a:rPr>
              <a:t> configure(Scanner in)</a:t>
            </a:r>
          </a:p>
          <a:p>
            <a:pPr marL="0" indent="0">
              <a:buNone/>
            </a:pPr>
            <a:endParaRPr lang="fr-BE" sz="1800" dirty="0"/>
          </a:p>
          <a:p>
            <a:pPr marL="0" indent="0">
              <a:buNone/>
            </a:pPr>
            <a:r>
              <a:rPr lang="fr-BE" sz="1600" b="1" dirty="0" err="1">
                <a:solidFill>
                  <a:schemeClr val="accent4"/>
                </a:solidFill>
                <a:latin typeface="Consolas" panose="020B0609020204030204" pitchFamily="49" charset="0"/>
                <a:cs typeface="Consolas" panose="020B0609020204030204" pitchFamily="49" charset="0"/>
              </a:rPr>
              <a:t>JeuFactory</a:t>
            </a:r>
            <a:endParaRPr lang="fr-BE" sz="1600" b="1" dirty="0">
              <a:solidFill>
                <a:schemeClr val="accent4"/>
              </a:solidFill>
              <a:latin typeface="Consolas" panose="020B0609020204030204" pitchFamily="49" charset="0"/>
              <a:cs typeface="Consolas" panose="020B0609020204030204" pitchFamily="49" charset="0"/>
            </a:endParaRPr>
          </a:p>
          <a:p>
            <a:pPr marL="0" indent="0">
              <a:buNone/>
            </a:pPr>
            <a:r>
              <a:rPr lang="fr-BE" sz="1800" b="1" dirty="0"/>
              <a:t>Responsabilité :</a:t>
            </a:r>
            <a:r>
              <a:rPr lang="fr-BE" sz="1800" dirty="0"/>
              <a:t> isoler </a:t>
            </a:r>
            <a:r>
              <a:rPr lang="fr-BE" sz="1600" dirty="0" err="1">
                <a:solidFill>
                  <a:schemeClr val="accent4"/>
                </a:solidFill>
                <a:latin typeface="Consolas" panose="020B0609020204030204" pitchFamily="49" charset="0"/>
                <a:cs typeface="Consolas" panose="020B0609020204030204" pitchFamily="49" charset="0"/>
              </a:rPr>
              <a:t>GameHub</a:t>
            </a:r>
            <a:r>
              <a:rPr lang="fr-BE" sz="1800" dirty="0"/>
              <a:t> des classes concrètes.</a:t>
            </a:r>
          </a:p>
          <a:p>
            <a:pPr marL="0" indent="0">
              <a:buNone/>
            </a:pPr>
            <a:r>
              <a:rPr lang="fr-BE" sz="1600" dirty="0">
                <a:solidFill>
                  <a:schemeClr val="accent4"/>
                </a:solidFill>
                <a:latin typeface="Consolas" panose="020B0609020204030204" pitchFamily="49" charset="0"/>
                <a:cs typeface="Consolas" panose="020B0609020204030204" pitchFamily="49" charset="0"/>
              </a:rPr>
              <a:t>Jeu </a:t>
            </a:r>
            <a:r>
              <a:rPr lang="fr-BE" sz="1600" dirty="0" err="1">
                <a:solidFill>
                  <a:schemeClr val="accent4"/>
                </a:solidFill>
                <a:latin typeface="Consolas" panose="020B0609020204030204" pitchFamily="49" charset="0"/>
                <a:cs typeface="Consolas" panose="020B0609020204030204" pitchFamily="49" charset="0"/>
              </a:rPr>
              <a:t>creer</a:t>
            </a:r>
            <a:r>
              <a:rPr lang="fr-BE" sz="1600" dirty="0">
                <a:solidFill>
                  <a:schemeClr val="accent4"/>
                </a:solidFill>
                <a:latin typeface="Consolas" panose="020B0609020204030204" pitchFamily="49" charset="0"/>
                <a:cs typeface="Consolas" panose="020B0609020204030204" pitchFamily="49" charset="0"/>
              </a:rPr>
              <a:t>(</a:t>
            </a:r>
            <a:r>
              <a:rPr lang="fr-BE" sz="1600" dirty="0" err="1">
                <a:solidFill>
                  <a:schemeClr val="accent4"/>
                </a:solidFill>
                <a:latin typeface="Consolas" panose="020B0609020204030204" pitchFamily="49" charset="0"/>
                <a:cs typeface="Consolas" panose="020B0609020204030204" pitchFamily="49" charset="0"/>
              </a:rPr>
              <a:t>TypeJeu</a:t>
            </a:r>
            <a:r>
              <a:rPr lang="fr-BE" sz="1600" dirty="0">
                <a:solidFill>
                  <a:schemeClr val="accent4"/>
                </a:solidFill>
                <a:latin typeface="Consolas" panose="020B0609020204030204" pitchFamily="49" charset="0"/>
                <a:cs typeface="Consolas" panose="020B0609020204030204" pitchFamily="49" charset="0"/>
              </a:rPr>
              <a:t> </a:t>
            </a:r>
            <a:r>
              <a:rPr lang="fr-BE" sz="1600" dirty="0" err="1">
                <a:solidFill>
                  <a:schemeClr val="accent4"/>
                </a:solidFill>
                <a:latin typeface="Consolas" panose="020B0609020204030204" pitchFamily="49" charset="0"/>
                <a:cs typeface="Consolas" panose="020B0609020204030204" pitchFamily="49" charset="0"/>
              </a:rPr>
              <a:t>typeJeu</a:t>
            </a:r>
            <a:r>
              <a:rPr lang="fr-BE" sz="1600" dirty="0">
                <a:solidFill>
                  <a:schemeClr val="accent4"/>
                </a:solidFill>
                <a:latin typeface="Consolas" panose="020B0609020204030204" pitchFamily="49" charset="0"/>
                <a:cs typeface="Consolas" panose="020B0609020204030204" pitchFamily="49" charset="0"/>
              </a:rPr>
              <a:t>)</a:t>
            </a:r>
            <a:r>
              <a:rPr lang="fr-BE" sz="1800" dirty="0"/>
              <a:t> - Retourne une implémentation de jeu</a:t>
            </a:r>
          </a:p>
        </p:txBody>
      </p:sp>
      <p:sp>
        <p:nvSpPr>
          <p:cNvPr id="5" name="Espace réservé du numéro de diapositive 4">
            <a:extLst>
              <a:ext uri="{FF2B5EF4-FFF2-40B4-BE49-F238E27FC236}">
                <a16:creationId xmlns:a16="http://schemas.microsoft.com/office/drawing/2014/main" id="{7C742D9B-77B7-96F8-8A76-9F16E967D0DE}"/>
              </a:ext>
            </a:extLst>
          </p:cNvPr>
          <p:cNvSpPr>
            <a:spLocks noGrp="1"/>
          </p:cNvSpPr>
          <p:nvPr>
            <p:ph type="sldNum" sz="quarter" idx="4"/>
          </p:nvPr>
        </p:nvSpPr>
        <p:spPr/>
        <p:txBody>
          <a:bodyPr/>
          <a:lstStyle/>
          <a:p>
            <a:fld id="{33C783E2-4793-4F48-A271-51A73CC37D74}" type="slidenum">
              <a:rPr lang="fr-FR" smtClean="0"/>
              <a:t>49</a:t>
            </a:fld>
            <a:endParaRPr lang="fr-FR"/>
          </a:p>
        </p:txBody>
      </p:sp>
      <p:pic>
        <p:nvPicPr>
          <p:cNvPr id="6" name="Picture 2" descr="Game Hub - Apps on Google Play">
            <a:extLst>
              <a:ext uri="{FF2B5EF4-FFF2-40B4-BE49-F238E27FC236}">
                <a16:creationId xmlns:a16="http://schemas.microsoft.com/office/drawing/2014/main" id="{5A1B3203-8901-3336-68AF-E58E4F2100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425092">
            <a:off x="10019709" y="361023"/>
            <a:ext cx="1647536" cy="1647536"/>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920639"/>
      </p:ext>
    </p:extLst>
  </p:cSld>
  <p:clrMapOvr>
    <a:masterClrMapping/>
  </p:clrMapOvr>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ThemeEphec2022</Template>
  <TotalTime>80964</TotalTime>
  <Words>3892</Words>
  <Application>Microsoft Macintosh PowerPoint</Application>
  <PresentationFormat>Grand écran</PresentationFormat>
  <Paragraphs>498</Paragraphs>
  <Slides>49</Slides>
  <Notes>2</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49</vt:i4>
      </vt:variant>
    </vt:vector>
  </HeadingPairs>
  <TitlesOfParts>
    <vt:vector size="55" baseType="lpstr">
      <vt:lpstr>Arial</vt:lpstr>
      <vt:lpstr>Calibri</vt:lpstr>
      <vt:lpstr>Consolas</vt:lpstr>
      <vt:lpstr>Corbel</vt:lpstr>
      <vt:lpstr>Google Sans</vt:lpstr>
      <vt:lpstr>ThemeEphec2022</vt:lpstr>
      <vt:lpstr>JAVA 2</vt:lpstr>
      <vt:lpstr>Vu au dernier cours…</vt:lpstr>
      <vt:lpstr>Présentation PowerPoint</vt:lpstr>
      <vt:lpstr>Présentation PowerPoint</vt:lpstr>
      <vt:lpstr>Les Collections</vt:lpstr>
      <vt:lpstr>Les Collections…</vt:lpstr>
      <vt:lpstr>Pourquoi utiliser les Collections…?</vt:lpstr>
      <vt:lpstr>Le Framework des Collections</vt:lpstr>
      <vt:lpstr>Types Génériques</vt:lpstr>
      <vt:lpstr>Les Collections</vt:lpstr>
      <vt:lpstr>Iterable et Iterator</vt:lpstr>
      <vt:lpstr>Iterable et Iterator</vt:lpstr>
      <vt:lpstr>Iterable et Iterator</vt:lpstr>
      <vt:lpstr>La package java.util</vt:lpstr>
      <vt:lpstr>Les Collections</vt:lpstr>
      <vt:lpstr>Interfaces et Classes concrètes</vt:lpstr>
      <vt:lpstr>Les Interfaces  </vt:lpstr>
      <vt:lpstr>Les Interfaces: Collection</vt:lpstr>
      <vt:lpstr>Les Interfaces: List</vt:lpstr>
      <vt:lpstr>Les Interfaces: Set</vt:lpstr>
      <vt:lpstr>Les Interfaces: Queue</vt:lpstr>
      <vt:lpstr>Les Interfaces: Deque</vt:lpstr>
      <vt:lpstr>Les Interfaces: Map</vt:lpstr>
      <vt:lpstr>Les Interfaces: Map</vt:lpstr>
      <vt:lpstr>Les Collections</vt:lpstr>
      <vt:lpstr>La notion d’ordre</vt:lpstr>
      <vt:lpstr>L’interface Comparable</vt:lpstr>
      <vt:lpstr>Comparer vos objets</vt:lpstr>
      <vt:lpstr>Les Interfaces: Sorted(Set et Map)</vt:lpstr>
      <vt:lpstr>Réfléchissons un peu…</vt:lpstr>
      <vt:lpstr>Les Collections</vt:lpstr>
      <vt:lpstr>Après les interfaces, les Classes</vt:lpstr>
      <vt:lpstr>Les Classes des collections</vt:lpstr>
      <vt:lpstr>Présentation PowerPoint</vt:lpstr>
      <vt:lpstr>Les Collections</vt:lpstr>
      <vt:lpstr>Algorithmes</vt:lpstr>
      <vt:lpstr>Algorithmes de Recherche</vt:lpstr>
      <vt:lpstr>Algorithmes de Transformation</vt:lpstr>
      <vt:lpstr>Les collections</vt:lpstr>
      <vt:lpstr>Exercices</vt:lpstr>
      <vt:lpstr>Exercice 27</vt:lpstr>
      <vt:lpstr>Exercice 28</vt:lpstr>
      <vt:lpstr>Exercice 29</vt:lpstr>
      <vt:lpstr>Exercice 30</vt:lpstr>
      <vt:lpstr>Exercice 31</vt:lpstr>
      <vt:lpstr>Exercice 32</vt:lpstr>
      <vt:lpstr>Exercice 33</vt:lpstr>
      <vt:lpstr>L’état de notre GameHub…</vt:lpstr>
      <vt:lpstr>L’état de notre GameHub…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54</cp:revision>
  <dcterms:created xsi:type="dcterms:W3CDTF">2023-01-04T13:50:20Z</dcterms:created>
  <dcterms:modified xsi:type="dcterms:W3CDTF">2026-03-02T22:10:06Z</dcterms:modified>
</cp:coreProperties>
</file>