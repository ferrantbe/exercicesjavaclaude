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8"/>
  </p:notesMasterIdLst>
  <p:handoutMasterIdLst>
    <p:handoutMasterId r:id="rId29"/>
  </p:handoutMasterIdLst>
  <p:sldIdLst>
    <p:sldId id="568" r:id="rId2"/>
    <p:sldId id="593"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76516D2-C9D3-58EF-BCD2-0D9D3C4837A6}">
          <p14:sldIdLst>
            <p14:sldId id="568"/>
            <p14:sldId id="593"/>
          </p14:sldIdLst>
        </p14:section>
        <p14:section name="1. Les flux" id="{4AC24C61-DFD6-53F9-89A7-6C4CB4592807}">
          <p14:sldIdLst>
            <p14:sldId id="569"/>
            <p14:sldId id="570"/>
            <p14:sldId id="571"/>
            <p14:sldId id="572"/>
            <p14:sldId id="573"/>
            <p14:sldId id="574"/>
          </p14:sldIdLst>
        </p14:section>
        <p14:section name="2. Fermer un flux" id="{AA7DA6DF-6EB3-500B-9939-2A935ED48D64}">
          <p14:sldIdLst>
            <p14:sldId id="575"/>
            <p14:sldId id="576"/>
            <p14:sldId id="577"/>
            <p14:sldId id="578"/>
          </p14:sldIdLst>
        </p14:section>
        <p14:section name="3. Le texte" id="{15ADA3CA-A640-5449-A4D4-E85886F0DD6F}">
          <p14:sldIdLst>
            <p14:sldId id="579"/>
            <p14:sldId id="580"/>
            <p14:sldId id="581"/>
            <p14:sldId id="582"/>
            <p14:sldId id="583"/>
            <p14:sldId id="584"/>
          </p14:sldIdLst>
        </p14:section>
        <p14:section name="4. Les objets" id="{489B244B-76B0-56B9-9FF4-9D7B528045F0}">
          <p14:sldIdLst>
            <p14:sldId id="585"/>
            <p14:sldId id="586"/>
            <p14:sldId id="587"/>
            <p14:sldId id="588"/>
            <p14:sldId id="589"/>
            <p14:sldId id="590"/>
            <p14:sldId id="591"/>
            <p14:sldId id="5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88"/>
    <p:restoredTop sz="81015"/>
  </p:normalViewPr>
  <p:slideViewPr>
    <p:cSldViewPr snapToGrid="0">
      <p:cViewPr varScale="1">
        <p:scale>
          <a:sx n="128" d="100"/>
          <a:sy n="128" d="100"/>
        </p:scale>
        <p:origin x="432" y="176"/>
      </p:cViewPr>
      <p:guideLst/>
    </p:cSldViewPr>
  </p:slideViewPr>
  <p:notesTextViewPr>
    <p:cViewPr>
      <p:scale>
        <a:sx n="150" d="100"/>
        <a:sy n="150" d="100"/>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16/10/2026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 ce que vos programmes construisent depuis le début de l'année disparaît quand ils s'arrêtent. Ce module montre comment faire survivre une information : l'écrire dans un fichier, et savoir la relire.</a:t>
            </a:r>
          </a:p>
          <a:p>
            <a:r>
              <a:t>Il y a deux façons de s'y prendre, et elles n'ont pas les mêmes propriétés. Le module ne vous dira pas laquelle choisir : la démonstration et les exercices vous en feront juger vous-même.</a:t>
            </a:r>
          </a:p>
          <a:p>
            <a:r>
              <a:t>Le thème compte trois exercices, mais ne vous fiez pas à sa priorité affichée. Une question de l'examen portera désormais sur les fichiers : le thème vaut un sixième des points.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Les flux ; 2. Fermer un flux ; 3. Le texte ; 4. Les objets.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Relancez n'importe quel programme écrit cette année : il repart de zéro. Les objets qu'il avait créés, les saisies de l'utilisateur, tout est perdu, parce que tout vivait dans la mémoire du processus.</a:t>
            </a:r>
          </a:p>
          <a:p>
            <a:r>
              <a:t>Un fichier ne contient que des octets. Il ne sait pas s'il contient du texte, des nombres ou des objets : c'est le programme qui l'a écrit qui le sait, et celui qui le relit qui doit le savoir aussi.</a:t>
            </a:r>
          </a:p>
          <a:p>
            <a:r>
              <a:t>La dernière ligne de la slide est la question de tout le module. Gardez-la en tête : on y répondra de deux façons très différentes.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flux, *stream* en anglais, est un tuyau : on y écrit d'un côté, les données sortent de l'autre, dans l'ordre. Un flux de sortie reçoit ce que le programme envoie ; un flux d'entrée fournit ce que le programme lit.</a:t>
            </a:r>
          </a:p>
          <a:p>
            <a:r>
              <a:t>Vous en utilisez deux depuis le premier module sans les avoir nommés. </a:t>
            </a:r>
            <a:r>
              <a:rPr>
                <a:latin typeface="Consolas"/>
              </a:rPr>
              <a:t>System.out</a:t>
            </a:r>
            <a:r>
              <a:t> est un objet de la classe </a:t>
            </a:r>
            <a:r>
              <a:rPr>
                <a:latin typeface="Consolas"/>
              </a:rPr>
              <a:t>PrintStream</a:t>
            </a:r>
            <a:r>
              <a:t>, que la machine virtuelle ouvre vers la console. </a:t>
            </a:r>
            <a:r>
              <a:rPr>
                <a:latin typeface="Consolas"/>
              </a:rPr>
              <a:t>System.in</a:t>
            </a:r>
            <a:r>
              <a:t> est un flux d'entrée branché sur le clavier, que le </a:t>
            </a:r>
            <a:r>
              <a:rPr>
                <a:latin typeface="Consolas"/>
              </a:rPr>
              <a:t>Scanner</a:t>
            </a:r>
            <a:r>
              <a:t> découpe en lignes.</a:t>
            </a:r>
          </a:p>
          <a:p>
            <a:r>
              <a:t>Écrire dans un fichier ne demande aucune notion nouvelle : on ouvre un autre flux, dont l'extrémité est un fichier au lieu de la console. Vous retrouverez </a:t>
            </a:r>
            <a:r>
              <a:rPr>
                <a:latin typeface="Consolas"/>
              </a:rPr>
              <a:t>println</a:t>
            </a:r>
            <a:r>
              <a:t> à la section 3, et </a:t>
            </a:r>
            <a:r>
              <a:rPr>
                <a:latin typeface="Consolas"/>
              </a:rPr>
              <a:t>nextLine</a:t>
            </a:r>
            <a:r>
              <a:t> aussi.</a:t>
            </a:r>
          </a:p>
          <a:p>
            <a:r>
              <a:t>Attention au mot : ces flux n'ont rien à voir avec les *streams* de la slide facultative du module LAM, qui traitent des collections.</a:t>
            </a:r>
          </a:p>
          <a:p>
            <a:r>
              <a:rPr lang="fr-BE" dirty="0"/>
              <a:t>Le code complet, à exécuter : demos, classe demo.fic.slides.VousEcrivezDejaDansUnFlux.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Toutes</a:t>
            </a:r>
            <a:r>
              <a:rPr dirty="0"/>
              <a:t> les classes de flux du </a:t>
            </a:r>
            <a:r>
              <a:rPr dirty="0" err="1"/>
              <a:t>paquetage</a:t>
            </a:r>
            <a:r>
              <a:rPr dirty="0"/>
              <a:t> </a:t>
            </a:r>
            <a:r>
              <a:rPr dirty="0" err="1">
                <a:latin typeface="Consolas"/>
              </a:rPr>
              <a:t>java.io</a:t>
            </a:r>
            <a:r>
              <a:rPr dirty="0"/>
              <a:t> descendent de quatre classes </a:t>
            </a:r>
            <a:r>
              <a:rPr dirty="0" err="1"/>
              <a:t>abstraites</a:t>
            </a:r>
            <a:r>
              <a:rPr dirty="0"/>
              <a:t>. Le tableau se lit </a:t>
            </a:r>
            <a:r>
              <a:rPr dirty="0" err="1"/>
              <a:t>en</a:t>
            </a:r>
            <a:r>
              <a:rPr dirty="0"/>
              <a:t> deux temps : la famille, </a:t>
            </a:r>
            <a:r>
              <a:rPr dirty="0" err="1"/>
              <a:t>puis</a:t>
            </a:r>
            <a:r>
              <a:rPr dirty="0"/>
              <a:t> le </a:t>
            </a:r>
            <a:r>
              <a:rPr dirty="0" err="1"/>
              <a:t>sens.</a:t>
            </a:r>
            <a:endParaRPr dirty="0"/>
          </a:p>
          <a:p>
            <a:r>
              <a:rPr dirty="0"/>
              <a:t>Les flux </a:t>
            </a:r>
            <a:r>
              <a:rPr dirty="0" err="1"/>
              <a:t>d'octets</a:t>
            </a:r>
            <a:r>
              <a:rPr dirty="0"/>
              <a:t> </a:t>
            </a:r>
            <a:r>
              <a:rPr dirty="0" err="1"/>
              <a:t>transportent</a:t>
            </a:r>
            <a:r>
              <a:rPr dirty="0"/>
              <a:t> des octets </a:t>
            </a:r>
            <a:r>
              <a:rPr dirty="0" err="1"/>
              <a:t>tels</a:t>
            </a:r>
            <a:r>
              <a:rPr dirty="0"/>
              <a:t> </a:t>
            </a:r>
            <a:r>
              <a:rPr dirty="0" err="1"/>
              <a:t>quels</a:t>
            </a:r>
            <a:r>
              <a:rPr dirty="0"/>
              <a:t>, sans les </a:t>
            </a:r>
            <a:r>
              <a:rPr dirty="0" err="1"/>
              <a:t>interpréter</a:t>
            </a:r>
            <a:r>
              <a:rPr dirty="0"/>
              <a:t>. Les flux de </a:t>
            </a:r>
            <a:r>
              <a:rPr dirty="0" err="1"/>
              <a:t>caractères</a:t>
            </a:r>
            <a:r>
              <a:rPr dirty="0"/>
              <a:t> </a:t>
            </a:r>
            <a:r>
              <a:rPr dirty="0" err="1"/>
              <a:t>transportent</a:t>
            </a:r>
            <a:r>
              <a:rPr dirty="0"/>
              <a:t> du </a:t>
            </a:r>
            <a:r>
              <a:rPr dirty="0" err="1"/>
              <a:t>texte</a:t>
            </a:r>
            <a:r>
              <a:rPr dirty="0"/>
              <a:t> : </a:t>
            </a:r>
            <a:r>
              <a:rPr dirty="0" err="1"/>
              <a:t>ils</a:t>
            </a:r>
            <a:r>
              <a:rPr dirty="0"/>
              <a:t> </a:t>
            </a:r>
            <a:r>
              <a:rPr dirty="0" err="1"/>
              <a:t>convertissent</a:t>
            </a:r>
            <a:r>
              <a:rPr dirty="0"/>
              <a:t> </a:t>
            </a:r>
            <a:r>
              <a:rPr dirty="0" err="1"/>
              <a:t>chaque</a:t>
            </a:r>
            <a:r>
              <a:rPr dirty="0"/>
              <a:t> </a:t>
            </a:r>
            <a:r>
              <a:rPr dirty="0" err="1"/>
              <a:t>caractère</a:t>
            </a:r>
            <a:r>
              <a:rPr dirty="0"/>
              <a:t> </a:t>
            </a:r>
            <a:r>
              <a:rPr dirty="0" err="1"/>
              <a:t>en</a:t>
            </a:r>
            <a:r>
              <a:rPr dirty="0"/>
              <a:t> octets à </a:t>
            </a:r>
            <a:r>
              <a:rPr dirty="0" err="1"/>
              <a:t>l'écriture</a:t>
            </a:r>
            <a:r>
              <a:rPr dirty="0"/>
              <a:t>, et les octets </a:t>
            </a:r>
            <a:r>
              <a:rPr dirty="0" err="1"/>
              <a:t>en</a:t>
            </a:r>
            <a:r>
              <a:rPr dirty="0"/>
              <a:t> </a:t>
            </a:r>
            <a:r>
              <a:rPr dirty="0" err="1"/>
              <a:t>caractères</a:t>
            </a:r>
            <a:r>
              <a:rPr dirty="0"/>
              <a:t> à la lecture, </a:t>
            </a:r>
            <a:r>
              <a:rPr dirty="0" err="1"/>
              <a:t>selon</a:t>
            </a:r>
            <a:r>
              <a:rPr dirty="0"/>
              <a:t> un </a:t>
            </a:r>
            <a:r>
              <a:rPr dirty="0" err="1"/>
              <a:t>encodage</a:t>
            </a:r>
            <a:r>
              <a:rPr dirty="0"/>
              <a:t>.</a:t>
            </a:r>
          </a:p>
          <a:p>
            <a:r>
              <a:rPr dirty="0"/>
              <a:t>Les noms </a:t>
            </a:r>
            <a:r>
              <a:rPr dirty="0" err="1"/>
              <a:t>suivent</a:t>
            </a:r>
            <a:r>
              <a:rPr dirty="0"/>
              <a:t> </a:t>
            </a:r>
            <a:r>
              <a:rPr dirty="0" err="1"/>
              <a:t>une</a:t>
            </a:r>
            <a:r>
              <a:rPr dirty="0"/>
              <a:t> </a:t>
            </a:r>
            <a:r>
              <a:rPr dirty="0" err="1"/>
              <a:t>règle</a:t>
            </a:r>
            <a:r>
              <a:rPr dirty="0"/>
              <a:t> simple. Le </a:t>
            </a:r>
            <a:r>
              <a:rPr dirty="0" err="1"/>
              <a:t>suffixe</a:t>
            </a:r>
            <a:r>
              <a:rPr dirty="0"/>
              <a:t> </a:t>
            </a:r>
            <a:r>
              <a:rPr dirty="0" err="1"/>
              <a:t>dit</a:t>
            </a:r>
            <a:r>
              <a:rPr dirty="0"/>
              <a:t> la famille et le </a:t>
            </a:r>
            <a:r>
              <a:rPr dirty="0" err="1"/>
              <a:t>sens</a:t>
            </a:r>
            <a:r>
              <a:rPr dirty="0"/>
              <a:t> : </a:t>
            </a:r>
            <a:r>
              <a:rPr dirty="0" err="1">
                <a:latin typeface="Consolas"/>
              </a:rPr>
              <a:t>InputStream</a:t>
            </a:r>
            <a:r>
              <a:rPr dirty="0"/>
              <a:t>, </a:t>
            </a:r>
            <a:r>
              <a:rPr dirty="0" err="1">
                <a:latin typeface="Consolas"/>
              </a:rPr>
              <a:t>OutputStream</a:t>
            </a:r>
            <a:r>
              <a:rPr dirty="0"/>
              <a:t>, </a:t>
            </a:r>
            <a:r>
              <a:rPr dirty="0">
                <a:latin typeface="Consolas"/>
              </a:rPr>
              <a:t>Reader</a:t>
            </a:r>
            <a:r>
              <a:rPr dirty="0"/>
              <a:t>, </a:t>
            </a:r>
            <a:r>
              <a:rPr dirty="0">
                <a:latin typeface="Consolas"/>
              </a:rPr>
              <a:t>Writer</a:t>
            </a:r>
            <a:r>
              <a:rPr dirty="0"/>
              <a:t>. Le </a:t>
            </a:r>
            <a:r>
              <a:rPr dirty="0" err="1"/>
              <a:t>préfixe</a:t>
            </a:r>
            <a:r>
              <a:rPr dirty="0"/>
              <a:t> </a:t>
            </a:r>
            <a:r>
              <a:rPr dirty="0" err="1"/>
              <a:t>dit</a:t>
            </a:r>
            <a:r>
              <a:rPr dirty="0"/>
              <a:t> </a:t>
            </a:r>
            <a:r>
              <a:rPr dirty="0" err="1"/>
              <a:t>ce</a:t>
            </a:r>
            <a:r>
              <a:rPr dirty="0"/>
              <a:t> </a:t>
            </a:r>
            <a:r>
              <a:rPr dirty="0" err="1"/>
              <a:t>que</a:t>
            </a:r>
            <a:r>
              <a:rPr dirty="0"/>
              <a:t> la </a:t>
            </a:r>
            <a:r>
              <a:rPr dirty="0" err="1"/>
              <a:t>classe</a:t>
            </a:r>
            <a:r>
              <a:rPr dirty="0"/>
              <a:t> </a:t>
            </a:r>
            <a:r>
              <a:rPr dirty="0" err="1"/>
              <a:t>ajoute</a:t>
            </a:r>
            <a:r>
              <a:rPr dirty="0"/>
              <a:t> : </a:t>
            </a:r>
            <a:r>
              <a:rPr dirty="0">
                <a:latin typeface="Consolas"/>
              </a:rPr>
              <a:t>File</a:t>
            </a:r>
            <a:r>
              <a:rPr dirty="0"/>
              <a:t> pour un </a:t>
            </a:r>
            <a:r>
              <a:rPr dirty="0" err="1"/>
              <a:t>fichier</a:t>
            </a:r>
            <a:r>
              <a:rPr dirty="0"/>
              <a:t>, et vous </a:t>
            </a:r>
            <a:r>
              <a:rPr dirty="0" err="1"/>
              <a:t>en</a:t>
            </a:r>
            <a:r>
              <a:rPr dirty="0"/>
              <a:t> </a:t>
            </a:r>
            <a:r>
              <a:rPr dirty="0" err="1"/>
              <a:t>verrez</a:t>
            </a:r>
            <a:r>
              <a:rPr dirty="0"/>
              <a:t> </a:t>
            </a:r>
            <a:r>
              <a:rPr dirty="0" err="1"/>
              <a:t>d'autres</a:t>
            </a:r>
            <a:r>
              <a:rPr dirty="0"/>
              <a:t>. Une </a:t>
            </a:r>
            <a:r>
              <a:rPr dirty="0" err="1"/>
              <a:t>classe</a:t>
            </a:r>
            <a:r>
              <a:rPr dirty="0"/>
              <a:t> inconnue se range </a:t>
            </a:r>
            <a:r>
              <a:rPr dirty="0" err="1"/>
              <a:t>ainsi</a:t>
            </a:r>
            <a:r>
              <a:rPr dirty="0"/>
              <a:t> d'un coup </a:t>
            </a:r>
            <a:r>
              <a:rPr dirty="0" err="1"/>
              <a:t>d'œil</a:t>
            </a:r>
            <a:r>
              <a:rPr dirty="0"/>
              <a:t>.</a:t>
            </a:r>
            <a:endParaRPr lang="nl-BE" dirty="0"/>
          </a:p>
          <a:p>
            <a:endParaRPr lang="fr-BE" dirty="0"/>
          </a:p>
          <a:p>
            <a:r>
              <a:rPr lang="fr-BE" dirty="0"/>
              <a:t>Note: écrire cette table au tableau permet de s’y référer plus tard…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Aucune classe ne fait tout. La première sait où écrire, mais seulement des octets. La deuxième garde les octets dans un tampon, en mémoire, et ne touche le disque que lorsqu'il est plein : beaucoup moins d'accès, beaucoup plus rapide. La troisième sait traduire un </a:t>
            </a:r>
            <a:r>
              <a:rPr>
                <a:latin typeface="Consolas"/>
              </a:rPr>
              <a:t>int</a:t>
            </a:r>
            <a:r>
              <a:t> ou un </a:t>
            </a:r>
            <a:r>
              <a:rPr>
                <a:latin typeface="Consolas"/>
              </a:rPr>
              <a:t>double</a:t>
            </a:r>
            <a:r>
              <a:t> en octets. On les emboîte comme des poupées russes, et on ne parle qu'à la dernière.</a:t>
            </a:r>
          </a:p>
          <a:p>
            <a:r>
              <a:t>Le constructeur de chaque couche reçoit la couche du dessous. C'est pour cela qu'on lit souvent ces créations sur une seule ligne, de droite à gauche : </a:t>
            </a:r>
            <a:r>
              <a:rPr>
                <a:latin typeface="Consolas"/>
              </a:rPr>
              <a:t>new DataOutputStream(new BufferedOutputStream(new FileOutputStream(...)))</a:t>
            </a:r>
            <a:r>
              <a:t>.</a:t>
            </a:r>
          </a:p>
          <a:p>
            <a:r>
              <a:t>Fermer la couche extérieure ferme toutes les autres, et vide le tampon au passage. La section 2 dira pourquoi cet appel à </a:t>
            </a:r>
            <a:r>
              <a:rPr>
                <a:latin typeface="Consolas"/>
              </a:rPr>
              <a:t>close</a:t>
            </a:r>
            <a:r>
              <a:t> ne suffit pas tel qu'il est écrit ici.</a:t>
            </a:r>
          </a:p>
          <a:p>
            <a:r>
              <a:t>Le même emboîtement existe à la lecture, avec </a:t>
            </a:r>
            <a:r>
              <a:rPr>
                <a:latin typeface="Consolas"/>
              </a:rPr>
              <a:t>FileInputStream</a:t>
            </a:r>
            <a:r>
              <a:t>, </a:t>
            </a:r>
            <a:r>
              <a:rPr>
                <a:latin typeface="Consolas"/>
              </a:rPr>
              <a:t>BufferedInputStream</a:t>
            </a:r>
            <a:r>
              <a:t> et </a:t>
            </a:r>
            <a:r>
              <a:rPr>
                <a:latin typeface="Consolas"/>
              </a:rPr>
              <a:t>DataInputStream</a:t>
            </a:r>
            <a:r>
              <a:t> et ses méthodes </a:t>
            </a:r>
            <a:r>
              <a:rPr>
                <a:latin typeface="Consolas"/>
              </a:rPr>
              <a:t>readInt</a:t>
            </a:r>
            <a:r>
              <a:t> et </a:t>
            </a:r>
            <a:r>
              <a:rPr>
                <a:latin typeface="Consolas"/>
              </a:rPr>
              <a:t>readDouble</a:t>
            </a:r>
            <a:r>
              <a:t>. Vous le retrouverez à la section 4.</a:t>
            </a:r>
          </a:p>
          <a:p>
            <a:r>
              <a:rPr lang="fr-BE" dirty="0"/>
              <a:t>Le code complet, à exécuter : demos, classe demo.fic.slides.LesFluxSEmboitent.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FIC.1</a:t>
            </a:r>
            <a:r>
              <a:t> ne touche à aucun fichier. Il construit trois petites classes, un étudiant inscrit à des cours donnés par des enseignants, que </a:t>
            </a:r>
            <a:r>
              <a:rPr>
                <a:latin typeface="Consolas"/>
              </a:rPr>
              <a:t>FIC.2</a:t>
            </a:r>
            <a:r>
              <a:t> et </a:t>
            </a:r>
            <a:r>
              <a:rPr>
                <a:latin typeface="Consolas"/>
              </a:rPr>
              <a:t>FIC.3</a:t>
            </a:r>
            <a:r>
              <a:t> enregistreront de deux façons différentes.</a:t>
            </a:r>
          </a:p>
          <a:p>
            <a:r>
              <a:t>Lisez l'encadré sur ce que retourne </a:t>
            </a:r>
            <a:r>
              <a:rPr>
                <a:latin typeface="Consolas"/>
              </a:rPr>
              <a:t>getCours</a:t>
            </a:r>
            <a:r>
              <a:t> avant d'écrire la méthode : un test vérifie qu'on ne peut pas vider un étudiant à travers sa liste.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flux ouvert n'est pas qu'un objet Java. Le système d'exploitation a ouvert le fichier pour lui, et ne le libère qu'à la fermeture. Sur certains systèmes, un fichier resté ouvert ne peut plus être déplacé ni supprimé ; partout, le nombre de fichiers ouverts à la fois est limité.</a:t>
            </a:r>
          </a:p>
          <a:p>
            <a:r>
              <a:t>Il y a plus sournois. La plupart des flux d'écriture gardent ce qu'on leur envoie dans un tampon, comme à la slide 1.5. Sans fermeture, le contenu peut ne jamais atteindre le disque : le fichier existe, mais il est vide. Le </a:t>
            </a:r>
            <a:r>
              <a:rPr>
                <a:latin typeface="Consolas"/>
              </a:rPr>
              <a:t>FileWriter</a:t>
            </a:r>
            <a:r>
              <a:t> de cet exemple, avant son </a:t>
            </a:r>
            <a:r>
              <a:rPr>
                <a:latin typeface="Consolas"/>
              </a:rPr>
              <a:t>close</a:t>
            </a:r>
            <a:r>
              <a:t>, n'a encore rien écrit.</a:t>
            </a:r>
          </a:p>
          <a:p>
            <a:r>
              <a:t>Le module EXC vous a donné l'outil : le bloc </a:t>
            </a:r>
            <a:r>
              <a:rPr>
                <a:latin typeface="Consolas"/>
              </a:rPr>
              <a:t>finally</a:t>
            </a:r>
            <a:r>
              <a:t> s'exécute toujours, exception ou non. Il suffit d'y penser à chaque fichier, et c'est précisément là que tout le monde finit par oublier.</a:t>
            </a:r>
          </a:p>
          <a:p>
            <a:r>
              <a:rPr lang="fr-BE" dirty="0"/>
              <a:t>Le code complet, à exécuter : demos, classe demo.fic.slides.UnFluxOuvertSeFerme.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même garantie que le </a:t>
            </a:r>
            <a:r>
              <a:rPr>
                <a:latin typeface="Consolas"/>
              </a:rPr>
              <a:t>finally</a:t>
            </a:r>
            <a:r>
              <a:t> de la slide précédente, mais c'est le compilateur qui écrit la fermeture à votre place. On ne peut plus l'oublier, et on ne peut plus la mal écrire.</a:t>
            </a:r>
          </a:p>
          <a:p>
            <a:r>
              <a:t>Quelques règles de lecture. La variable déclarée entre parenthèses n'existe que dans le bloc. On peut en déclarer plusieurs, séparées par un point-virgule : elles sont fermées dans l'ordre inverse de leur ouverture. Un </a:t>
            </a:r>
            <a:r>
              <a:rPr>
                <a:latin typeface="Consolas"/>
              </a:rPr>
              <a:t>catch</a:t>
            </a:r>
            <a:r>
              <a:t> et un </a:t>
            </a:r>
            <a:r>
              <a:rPr>
                <a:latin typeface="Consolas"/>
              </a:rPr>
              <a:t>finally</a:t>
            </a:r>
            <a:r>
              <a:t> peuvent suivre, comme pour un </a:t>
            </a:r>
            <a:r>
              <a:rPr>
                <a:latin typeface="Consolas"/>
              </a:rPr>
              <a:t>try</a:t>
            </a:r>
            <a:r>
              <a:t> ordinaire ; la ressource est déjà fermée quand ils s'exécutent.</a:t>
            </a:r>
          </a:p>
          <a:p>
            <a:r>
              <a:t>L'interface </a:t>
            </a:r>
            <a:r>
              <a:rPr>
                <a:latin typeface="Consolas"/>
              </a:rPr>
              <a:t>AutoCloseable</a:t>
            </a:r>
            <a:r>
              <a:t> ne déclare qu'une méthode, </a:t>
            </a:r>
            <a:r>
              <a:rPr>
                <a:latin typeface="Consolas"/>
              </a:rPr>
              <a:t>close</a:t>
            </a:r>
            <a:r>
              <a:t>. Toutes les classes de flux l'implémentent, et </a:t>
            </a:r>
            <a:r>
              <a:rPr>
                <a:latin typeface="Consolas"/>
              </a:rPr>
              <a:t>Scanner</a:t>
            </a:r>
            <a:r>
              <a:t> aussi. Désormais, tout flux s'ouvre dans un </a:t>
            </a:r>
            <a:r>
              <a:rPr>
                <a:latin typeface="Consolas"/>
              </a:rPr>
              <a:t>try</a:t>
            </a:r>
            <a:r>
              <a:t> avec ressources, dans les exemples de ce deck comme dans vos exercices.</a:t>
            </a:r>
          </a:p>
          <a:p>
            <a:r>
              <a:rPr lang="fr-BE" dirty="0"/>
              <a:t>Le code complet, à exécuter : demos, classe demo.fic.slides.UnFluxOuvertSeFerme.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entrée-sortie dépend de ce que le programme ne contrôle pas : le disque, les droits, les autres programmes. Le compilateur vous oblige donc à décider quoi faire en cas d'échec, comme pour toute exception contrôlée vue au module EXC : l'attraper là où l'on peut agir, ou la déclarer et laisser l'appelant décider.</a:t>
            </a:r>
          </a:p>
          <a:p>
            <a:r>
              <a:t>Ici, la méthode déclare. Le constructeur de </a:t>
            </a:r>
            <a:r>
              <a:rPr>
                <a:latin typeface="Consolas"/>
              </a:rPr>
              <a:t>Scanner</a:t>
            </a:r>
            <a:r>
              <a:t> lève une </a:t>
            </a:r>
            <a:r>
              <a:rPr>
                <a:latin typeface="Consolas"/>
              </a:rPr>
              <a:t>FileNotFoundException</a:t>
            </a:r>
            <a:r>
              <a:t> si le fichier n'existe pas ; comme c'est une fille d'</a:t>
            </a:r>
            <a:r>
              <a:rPr>
                <a:latin typeface="Consolas"/>
              </a:rPr>
              <a:t>IOException</a:t>
            </a:r>
            <a:r>
              <a:t>, la déclaration de la mère la couvre.</a:t>
            </a:r>
          </a:p>
          <a:p>
            <a:r>
              <a:t>La seconde fille, </a:t>
            </a:r>
            <a:r>
              <a:rPr>
                <a:latin typeface="Consolas"/>
              </a:rPr>
              <a:t>EOFException</a:t>
            </a:r>
            <a:r>
              <a:t>, signale qu'on a voulu lire au-delà de la fin d'un fichier binaire. La slide 4.6 dira quand on la rencontre.</a:t>
            </a:r>
          </a:p>
          <a:p>
            <a:r>
              <a:t>Le choix entre traiter et déclarer vous revient dans les exercices. Les signatures imposées par le fascicule l'indiquent souvent.</a:t>
            </a:r>
          </a:p>
          <a:p>
            <a:r>
              <a:rPr lang="fr-BE" dirty="0"/>
              <a:t>Le code complet, à exécuter : demos, classe demo.fic.slides.IOExceptionUneExceptionControlee.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l'emboîtement de la slide 1.5, dans la famille des caractères. Le </a:t>
            </a:r>
            <a:r>
              <a:rPr>
                <a:latin typeface="Consolas"/>
              </a:rPr>
              <a:t>FileWriter</a:t>
            </a:r>
            <a:r>
              <a:t> sait écrire des caractères dans un fichier ; le </a:t>
            </a:r>
            <a:r>
              <a:rPr>
                <a:latin typeface="Consolas"/>
              </a:rPr>
              <a:t>PrintWriter</a:t>
            </a:r>
            <a:r>
              <a:t> ajoute les méthodes que vous connaissez depuis le premier module. Tout ce que vous saviez afficher, vous savez maintenant l'écrire.</a:t>
            </a:r>
          </a:p>
          <a:p>
            <a:r>
              <a:t>Le fichier produit contient deux lignes, lisibles dans n'importe quel éditeur. Chaque nombre y a été converti en chiffres, exactement comme </a:t>
            </a:r>
            <a:r>
              <a:rPr>
                <a:latin typeface="Consolas"/>
              </a:rPr>
              <a:t>println</a:t>
            </a:r>
            <a:r>
              <a:t> le fait à la console.</a:t>
            </a:r>
          </a:p>
          <a:p>
            <a:r>
              <a:t>Par défaut, </a:t>
            </a:r>
            <a:r>
              <a:rPr>
                <a:latin typeface="Consolas"/>
              </a:rPr>
              <a:t>new FileWriter(fichier)</a:t>
            </a:r>
            <a:r>
              <a:t> vide le fichier s'il existait déjà. Pour ajouter des lignes à la fin, on écrit </a:t>
            </a:r>
            <a:r>
              <a:rPr>
                <a:latin typeface="Consolas"/>
              </a:rPr>
              <a:t>new FileWriter(fichier, true)</a:t>
            </a:r>
            <a:r>
              <a:t>.</a:t>
            </a:r>
          </a:p>
          <a:p>
            <a:r>
              <a:t>Une particularité à connaître : les méthodes de </a:t>
            </a:r>
            <a:r>
              <a:rPr>
                <a:latin typeface="Consolas"/>
              </a:rPr>
              <a:t>PrintWriter</a:t>
            </a:r>
            <a:r>
              <a:t> ne lèvent jamais d'exception, même si l'écriture échoue. Seul le constructeur du </a:t>
            </a:r>
            <a:r>
              <a:rPr>
                <a:latin typeface="Consolas"/>
              </a:rPr>
              <a:t>FileWriter</a:t>
            </a:r>
            <a:r>
              <a:t> peut en lever une. La méthode </a:t>
            </a:r>
            <a:r>
              <a:rPr>
                <a:latin typeface="Consolas"/>
              </a:rPr>
              <a:t>checkError</a:t>
            </a:r>
            <a:r>
              <a:t> dit après coup si quelque chose a mal tourné.</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Seul le constructeur change : </a:t>
            </a:r>
            <a:r>
              <a:rPr>
                <a:latin typeface="Consolas"/>
              </a:rPr>
              <a:t>new Scanner(fichier)</a:t>
            </a:r>
            <a:r>
              <a:t> au lieu de </a:t>
            </a:r>
            <a:r>
              <a:rPr>
                <a:latin typeface="Consolas"/>
              </a:rPr>
              <a:t>new Scanner(System.in)</a:t>
            </a:r>
            <a:r>
              <a:t>. Les méthodes sont celles que vous utilisez depuis le premier module.</a:t>
            </a:r>
          </a:p>
          <a:p>
            <a:r>
              <a:t>La lecture n'est pas le miroir de l'écriture. On a écrit des nombres ; on relit des lignes de caractères, et rien d'autre. Retrouver les nombres est l'affaire de la slide suivante.</a:t>
            </a:r>
          </a:p>
          <a:p>
            <a:r>
              <a:t>Vous rencontrerez aussi une autre écriture, plus ancienne : </a:t>
            </a:r>
            <a:r>
              <a:rPr>
                <a:latin typeface="Consolas"/>
              </a:rPr>
              <a:t>BufferedReader</a:t>
            </a:r>
            <a:r>
              <a:t>, posé sur un </a:t>
            </a:r>
            <a:r>
              <a:rPr>
                <a:latin typeface="Consolas"/>
              </a:rPr>
              <a:t>FileReader</a:t>
            </a:r>
            <a:r>
              <a:t>, dont la méthode </a:t>
            </a:r>
            <a:r>
              <a:rPr>
                <a:latin typeface="Consolas"/>
              </a:rPr>
              <a:t>readLine</a:t>
            </a:r>
            <a:r>
              <a:t> retourne </a:t>
            </a:r>
            <a:r>
              <a:rPr>
                <a:latin typeface="Consolas"/>
              </a:rPr>
              <a:t>null</a:t>
            </a:r>
            <a:r>
              <a:t> quand le fichier est épuisé. Les deux font le même travail ; les corrigés du thème utilisent </a:t>
            </a:r>
            <a:r>
              <a:rPr>
                <a:latin typeface="Consolas"/>
              </a:rPr>
              <a:t>Scanner</a:t>
            </a:r>
            <a:r>
              <a:t>.</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fichier texte ne sait pas qu'il contient une station et une température : il contient huit caractères. C'est le format, choisi par le programmeur, qui dit où s'arrête un champ et où commence le suivant. Ici, un point-virgule, et une ligne par relevé.</a:t>
            </a:r>
          </a:p>
          <a:p>
            <a:r>
              <a:t>Ce format est un contrat entre deux morceaux de code : celui qui écrit et celui qui relit. Changez l'un sans l'autre, et la relecture se trompe.</a:t>
            </a:r>
          </a:p>
          <a:p>
            <a:r>
              <a:t>L'ancien cours découpait les lignes avec </a:t>
            </a:r>
            <a:r>
              <a:rPr>
                <a:latin typeface="Consolas"/>
              </a:rPr>
              <a:t>StringTokenizer</a:t>
            </a:r>
            <a:r>
              <a:t>. Cette classe existe toujours, mais sa documentation elle-même conseille d'utiliser </a:t>
            </a:r>
            <a:r>
              <a:rPr>
                <a:latin typeface="Consolas"/>
              </a:rPr>
              <a:t>split</a:t>
            </a:r>
            <a:r>
              <a:t> à sa place.</a:t>
            </a:r>
          </a:p>
          <a:p>
            <a:r>
              <a:rPr lang="fr-BE" dirty="0"/>
              <a:t>Le code complet, à exécuter : demos, classe demo.fic.slides.EcrireEtRelireUnTexte.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de la classe trompe : un </a:t>
            </a:r>
            <a:r>
              <a:rPr>
                <a:latin typeface="Consolas"/>
              </a:rPr>
              <a:t>File</a:t>
            </a:r>
            <a:r>
              <a:t> n'est pas un fichier, c'est son adresse. On peut construire un </a:t>
            </a:r>
            <a:r>
              <a:rPr>
                <a:latin typeface="Consolas"/>
              </a:rPr>
              <a:t>File</a:t>
            </a:r>
            <a:r>
              <a:t> vers un fichier qui n'existe pas ; c'est d'ailleurs ce qu'on fait chaque fois qu'on s'apprête à en écrire un.</a:t>
            </a:r>
          </a:p>
          <a:p>
            <a:r>
              <a:t>Le constructeur à deux arguments, un dossier et un nom, évite d'écrire le séparateur de dossiers à la main. Ce séparateur n'est pas le même sous Windows et sous macOS ; Java le pose pour vous.</a:t>
            </a:r>
          </a:p>
          <a:p>
            <a:r>
              <a:t>La méthode </a:t>
            </a:r>
            <a:r>
              <a:rPr>
                <a:latin typeface="Consolas"/>
              </a:rPr>
              <a:t>mkdirs</a:t>
            </a:r>
            <a:r>
              <a:t> crée le dossier et tous ses parents manquants. Sans elle, ouvrir un flux vers un fichier d'un dossier absent lève une </a:t>
            </a:r>
            <a:r>
              <a:rPr>
                <a:latin typeface="Consolas"/>
              </a:rPr>
              <a:t>FileNotFoundException</a:t>
            </a:r>
            <a:r>
              <a:t>.</a:t>
            </a:r>
          </a:p>
          <a:p>
            <a:r>
              <a:t>Les signatures des exercices du thème reçoivent un </a:t>
            </a:r>
            <a:r>
              <a:rPr>
                <a:latin typeface="Consolas"/>
              </a:rPr>
              <a:t>File</a:t>
            </a:r>
            <a:r>
              <a:t>.</a:t>
            </a:r>
          </a:p>
          <a:p>
            <a:r>
              <a:rPr lang="fr-BE" dirty="0"/>
              <a:t>Le code complet, à exécuter : demos, classe demo.fic.slides.UnNomNEstPasUnFichier.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on peut la sauter si le temps manque.</a:t>
            </a:r>
          </a:p>
          <a:p>
            <a:r>
              <a:rPr>
                <a:latin typeface="Consolas"/>
              </a:rPr>
              <a:t>Path</a:t>
            </a:r>
            <a:r>
              <a:t> est la version récente de </a:t>
            </a:r>
            <a:r>
              <a:rPr>
                <a:latin typeface="Consolas"/>
              </a:rPr>
              <a:t>File</a:t>
            </a:r>
            <a:r>
              <a:t>, et </a:t>
            </a:r>
            <a:r>
              <a:rPr>
                <a:latin typeface="Consolas"/>
              </a:rPr>
              <a:t>Files</a:t>
            </a:r>
            <a:r>
              <a:t> lui ajoute des raccourcis : une ligne pour écrire une chaîne, une ligne pour relire toutes les lignes d'un fichier dans une liste. Ces méthodes ouvrent et ferment le fichier elles-mêmes : pas de </a:t>
            </a:r>
            <a:r>
              <a:rPr>
                <a:latin typeface="Consolas"/>
              </a:rPr>
              <a:t>try</a:t>
            </a:r>
            <a:r>
              <a:t> avec ressources à écrire. Elles lèvent les mêmes </a:t>
            </a:r>
            <a:r>
              <a:rPr>
                <a:latin typeface="Consolas"/>
              </a:rPr>
              <a:t>IOException</a:t>
            </a:r>
            <a:r>
              <a:t>.</a:t>
            </a:r>
          </a:p>
          <a:p>
            <a:r>
              <a:rPr>
                <a:latin typeface="Consolas"/>
              </a:rPr>
              <a:t>File</a:t>
            </a:r>
            <a:r>
              <a:t> n'est pas pour autant déprécié, et les exercices l'emploient. Les deux se convertissent l'un dans l'autre : </a:t>
            </a:r>
            <a:r>
              <a:rPr>
                <a:latin typeface="Consolas"/>
              </a:rPr>
              <a:t>fichier.toPath()</a:t>
            </a:r>
            <a:r>
              <a:t> et </a:t>
            </a:r>
            <a:r>
              <a:rPr>
                <a:latin typeface="Consolas"/>
              </a:rPr>
              <a:t>chemin.toFile()</a:t>
            </a:r>
            <a:r>
              <a:t>.</a:t>
            </a:r>
          </a:p>
          <a:p>
            <a:r>
              <a:t>Vous trouverez aussi </a:t>
            </a:r>
            <a:r>
              <a:rPr>
                <a:latin typeface="Consolas"/>
              </a:rPr>
              <a:t>Paths.get(...)</a:t>
            </a:r>
            <a:r>
              <a:t> dans du code plus ancien : il fait la même chose que </a:t>
            </a:r>
            <a:r>
              <a:rPr>
                <a:latin typeface="Consolas"/>
              </a:rPr>
              <a:t>Path.of</a:t>
            </a:r>
            <a:r>
              <a:t>, apparu avec Java 11.</a:t>
            </a:r>
          </a:p>
          <a:p>
            <a:r>
              <a:rPr lang="fr-BE" dirty="0"/>
              <a:t>Le code complet, à exécuter : demos, classe demo.fic.slides.UnNomNEstPasUnFichier.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relevé tient sur une ligne : une station, une température. Mais un objet qui en contient d'autres, une liste qui contient des objets qui en contiennent d'autres encore, demande un format plus élaboré, et autant de code pour le relire.</a:t>
            </a:r>
          </a:p>
          <a:p>
            <a:r>
              <a:t>Java pourrait-il écrire un objet entier, d'une seule instruction, et le reconstruire à la lecture ? Et si oui, qu'y gagne-t-on, et qu'y perd-on ?</a:t>
            </a:r>
          </a:p>
          <a:p>
            <a:r>
              <a:t>C'est ce que la démonstration va essayer.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écrit les mêmes données de deux façons : la première avec ce que vous venez de voir, la seconde avec une instruction nouvelle. Regardez ce que chaque version demande d'écrire, ce qui échoue, et ce que contient chaque fichier.</a:t>
            </a:r>
          </a:p>
          <a:p>
            <a:r>
              <a:t>La suite du deck reviendra sur ce que la démonstration a utilisé sans le détailler.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sortie</a:t>
            </a:r>
            <a:r>
              <a:t> est un </a:t>
            </a:r>
            <a:r>
              <a:rPr>
                <a:latin typeface="Consolas"/>
              </a:rPr>
              <a:t>ObjectOutputStream</a:t>
            </a:r>
            <a:r>
              <a:t> posé sur un </a:t>
            </a:r>
            <a:r>
              <a:rPr>
                <a:latin typeface="Consolas"/>
              </a:rPr>
              <a:t>FileOutputStream</a:t>
            </a:r>
            <a:r>
              <a:t>, et </a:t>
            </a:r>
            <a:r>
              <a:rPr>
                <a:latin typeface="Consolas"/>
              </a:rPr>
              <a:t>entree</a:t>
            </a:r>
            <a:r>
              <a:t> un </a:t>
            </a:r>
            <a:r>
              <a:rPr>
                <a:latin typeface="Consolas"/>
              </a:rPr>
              <a:t>ObjectInputStream</a:t>
            </a:r>
            <a:r>
              <a:t> posé sur un </a:t>
            </a:r>
            <a:r>
              <a:rPr>
                <a:latin typeface="Consolas"/>
              </a:rPr>
              <a:t>FileInputStream</a:t>
            </a:r>
            <a:r>
              <a:t>, chacun ouvert dans un </a:t>
            </a:r>
            <a:r>
              <a:rPr>
                <a:latin typeface="Consolas"/>
              </a:rPr>
              <a:t>try</a:t>
            </a:r>
            <a:r>
              <a:t> avec ressources. C'est l'emboîtement de la slide 1.5, avec une couche qui sait aussi écrire des objets. On appelle cette écriture la sérialisation.</a:t>
            </a:r>
          </a:p>
          <a:p>
            <a:r>
              <a:t>Le fichier ne garde pas d'étiquettes. La lecture doit suivre l'ordre de l'écriture : un </a:t>
            </a:r>
            <a:r>
              <a:rPr>
                <a:latin typeface="Consolas"/>
              </a:rPr>
              <a:t>int</a:t>
            </a:r>
            <a:r>
              <a:t>, puis un objet. Lire dans un autre ordre donne des valeurs fausses ou une exception.</a:t>
            </a:r>
          </a:p>
          <a:p>
            <a:r>
              <a:t>La méthode </a:t>
            </a:r>
            <a:r>
              <a:rPr>
                <a:latin typeface="Consolas"/>
              </a:rPr>
              <a:t>readObject</a:t>
            </a:r>
            <a:r>
              <a:t> retourne un </a:t>
            </a:r>
            <a:r>
              <a:rPr>
                <a:latin typeface="Consolas"/>
              </a:rPr>
              <a:t>Object</a:t>
            </a:r>
            <a:r>
              <a:t>, d'où le transtypage. Si la variable est générique, une </a:t>
            </a:r>
            <a:r>
              <a:rPr>
                <a:latin typeface="Consolas"/>
              </a:rPr>
              <a:t>List&lt;Releve&gt;</a:t>
            </a:r>
            <a:r>
              <a:t> par exemple, le transtypage ne peut pas être vérifié : le fichier ne garde aucune trace de l'argument de type. C'est l'effacement du module GEN, slides 3.3 et 3.5, qui montraient déjà cette ligne.</a:t>
            </a:r>
          </a:p>
          <a:p>
            <a:r>
              <a:t>La méthode </a:t>
            </a:r>
            <a:r>
              <a:rPr>
                <a:latin typeface="Consolas"/>
              </a:rPr>
              <a:t>readObject</a:t>
            </a:r>
            <a:r>
              <a:t> déclare aussi </a:t>
            </a:r>
            <a:r>
              <a:rPr>
                <a:latin typeface="Consolas"/>
              </a:rPr>
              <a:t>ClassNotFoundException</a:t>
            </a:r>
            <a:r>
              <a:t> : le programme qui relit doit disposer de la classe de l'objet écrit, ce qui n'est pas garanti.</a:t>
            </a:r>
          </a:p>
          <a:p>
            <a:r>
              <a:rPr lang="fr-BE" dirty="0"/>
              <a:t>Le code complet, à exécuter : demos, classe demo.fic.slides.LesFluxDObjets.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module ITF, une interface était un contrat : des méthodes que la classe s'engage à fournir. Celle-ci n'en déclare aucune. Elle sert d'étiquette : la classe donne son accord pour que ses objets soient transformés en octets. La démonstration a montré ce qui arrive sans elle.</a:t>
            </a:r>
          </a:p>
          <a:p>
            <a:r>
              <a:t>Contrairement à ce que disait l'ancien cours, le compilateur ne vérifie rien : une classe sans l'étiquette compile, et c'est l'écriture qui échoue, une fois le programme lancé.</a:t>
            </a:r>
          </a:p>
          <a:p>
            <a:r>
              <a:t>Les classes du JDK qui contiennent des données sont presque toutes déjà étiquetées. C'est pourquoi une liste de chaînes ou de dates s'écrit sans qu'on y pense, alors qu'une classe écrite par vous doit le déclarer.</a:t>
            </a:r>
          </a:p>
          <a:p>
            <a:r>
              <a:rPr lang="fr-BE" dirty="0"/>
              <a:t>Le code complet, à exécuter : demos, classe demo.fic.slides.LesFluxDObjets.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lecture finit toujours par atteindre la fin du fichier, et chaque classe le dit à sa manière. Le texte prévient : on demande avant de lire, ou on reçoit </a:t>
            </a:r>
            <a:r>
              <a:rPr>
                <a:latin typeface="Consolas"/>
              </a:rPr>
              <a:t>null</a:t>
            </a:r>
            <a:r>
              <a:t>. Le binaire ne prévient pas : on lit, et une exception répond qu'il n'y avait plus rien.</a:t>
            </a:r>
          </a:p>
          <a:p>
            <a:r>
              <a:t>L'exception signale ici une situation normale, et non une erreur. On peut boucler jusqu'à elle, mais il est plus simple de savoir d'avance combien d'éléments relire, par exemple en écrivant d'abord leur nombre.</a:t>
            </a:r>
          </a:p>
          <a:p>
            <a:r>
              <a:rPr>
                <a:latin typeface="Consolas"/>
              </a:rPr>
              <a:t>EOF</a:t>
            </a:r>
            <a:r>
              <a:t> signifie *end of file*, fin de fichier.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FIC.2</a:t>
            </a:r>
            <a:r>
              <a:t> et </a:t>
            </a:r>
            <a:r>
              <a:rPr>
                <a:latin typeface="Consolas"/>
              </a:rPr>
              <a:t>FIC.3</a:t>
            </a:r>
            <a:r>
              <a:t> enregistrent exactement les mêmes étudiants, l'un en objets, l'autre en texte. Faites-les dans cet ordre, et ouvrez les deux fichiers produits, comme dans la démonstration.</a:t>
            </a:r>
          </a:p>
          <a:p>
            <a:r>
              <a:rPr>
                <a:latin typeface="Consolas"/>
              </a:rPr>
              <a:t>FIC.2</a:t>
            </a:r>
            <a:r>
              <a:t> vous fournit les classes de </a:t>
            </a:r>
            <a:r>
              <a:rPr>
                <a:latin typeface="Consolas"/>
              </a:rPr>
              <a:t>FIC.1</a:t>
            </a:r>
            <a:r>
              <a:t>, déjà étiquetées. </a:t>
            </a:r>
            <a:r>
              <a:rPr>
                <a:latin typeface="Consolas"/>
              </a:rPr>
              <a:t>FIC.3</a:t>
            </a:r>
            <a:r>
              <a:t> vous impose un format : lisez l'avertissement sur </a:t>
            </a:r>
            <a:r>
              <a:rPr>
                <a:latin typeface="Consolas"/>
              </a:rPr>
              <a:t>split</a:t>
            </a:r>
            <a:r>
              <a:t> avant d'écrire la relecture.</a:t>
            </a:r>
          </a:p>
          <a:p>
            <a:r>
              <a:t>Les questions de fin des deux exercices n'ont pas de réponse dans ce deck. Cherchez-les vraiment : elles disent ce qu'on choisit vraiment en choisissant un format.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a:t>
            </a:r>
            <a:r>
              <a:rPr>
                <a:latin typeface="Consolas"/>
              </a:rPr>
              <a:t>G.13</a:t>
            </a:r>
            <a:r>
              <a:t>, GameHub a un journal, mais il ne garde rien : il compte les coups d'une partie et les annonce sur la console. Et le hub ne joue qu'une partie par lancement. Sans fichier, aucune partie ne survit à la suivante.</a:t>
            </a:r>
          </a:p>
          <a:p>
            <a:r>
              <a:rPr>
                <a:latin typeface="Consolas"/>
              </a:rPr>
              <a:t>G.35</a:t>
            </a:r>
            <a:r>
              <a:t> donne une mémoire au journal : chaque partie terminée s'écrit dans un fichier, et au lancement suivant GameHub relit ce fichier pour afficher l'historique.</a:t>
            </a:r>
          </a:p>
          <a:p>
            <a:r>
              <a:t>Avant d'écrire une ligne, décidez du format, avec la question des exercices du thème : qui lira ce journal, et quand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FIC</a:t>
            </a:r>
          </a:p>
          <a:p>
            <a:r>
              <a:rPr/>
              <a:t>Fichiers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1"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flux</a:t>
              </a:r>
            </a:p>
          </p:txBody>
        </p:sp>
      </p:grpSp>
      <p:grpSp>
        <p:nvGrpSpPr>
          <p:cNvPr id="12"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Fermer un flux</a:t>
              </a:r>
            </a:p>
          </p:txBody>
        </p:sp>
      </p:grpSp>
      <p:grpSp>
        <p:nvGrpSpPr>
          <p:cNvPr id="13"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texte</a:t>
              </a:r>
            </a:p>
          </p:txBody>
        </p:sp>
      </p:grpSp>
      <p:grpSp>
        <p:nvGrpSpPr>
          <p:cNvPr id="14"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Les objets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1.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64022"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qui entre, ce qui sort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 s'efface à l'arrêt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objet vit en mémoire, le temps que tourne le programme</a:t>
            </a:r>
          </a:p>
          <a:p>
            <a:pPr marL="0" indent="0">
              <a:spcAft>
                <a:spcPts val="1000"/>
              </a:spcAft>
              <a:buNone/>
            </a:pPr>
            <a:r>
              <a:rPr sz="2800"/>
              <a:t>Un fichier vit sur le disque, et survit à l'arrêt</a:t>
            </a:r>
          </a:p>
          <a:p>
            <a:pPr marL="0" indent="0">
              <a:spcAft>
                <a:spcPts val="1000"/>
              </a:spcAft>
              <a:buNone/>
            </a:pPr>
            <a:r>
              <a:rPr sz="2800"/>
              <a:t>Écrire un fichier, c'est envoyer une suite d'octets vers le disque</a:t>
            </a:r>
          </a:p>
          <a:p>
            <a:pPr marL="0" indent="0">
              <a:spcAft>
                <a:spcPts val="1000"/>
              </a:spcAft>
              <a:buNone/>
            </a:pPr>
            <a:r>
              <a:rPr sz="2800"/>
              <a:t>Reste à décider ce que représentent ces octets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écrivez déjà dans un flux</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flux est une suite de données qui va dans un seul sens</a:t>
            </a:r>
          </a:p>
          <a:p>
            <a:pPr marL="0" indent="0">
              <a:spcAft>
                <a:spcPts val="1000"/>
              </a:spcAft>
              <a:buNone/>
            </a:pPr>
            <a:r>
              <a:rPr sz="2600"/>
              <a:t>La console en ouvre deux pour vous : </a:t>
            </a:r>
            <a:r>
              <a:rPr sz="2200">
                <a:solidFill>
                  <a:schemeClr val="accent4"/>
                </a:solidFill>
                <a:latin typeface="Consolas"/>
              </a:rPr>
              <a:t>System.out</a:t>
            </a:r>
            <a:r>
              <a:rPr sz="2600"/>
              <a:t> et </a:t>
            </a:r>
            <a:r>
              <a:rPr sz="2200">
                <a:solidFill>
                  <a:schemeClr val="accent4"/>
                </a:solidFill>
                <a:latin typeface="Consolas"/>
              </a:rPr>
              <a:t>System.in</a:t>
            </a:r>
          </a:p>
          <a:p>
            <a:pPr marL="0" indent="0">
              <a:spcAft>
                <a:spcPts val="1000"/>
              </a:spcAft>
              <a:buNone/>
            </a:pPr>
            <a:r>
              <a:rPr sz="2600"/>
              <a:t>Un fichier s'ouvre de la même façon, et se manipule pareil</a:t>
            </a:r>
          </a:p>
        </p:txBody>
      </p:sp>
      <p:sp>
        <p:nvSpPr>
          <p:cNvPr id="4" name="Code"/>
          <p:cNvSpPr txBox="1"/>
          <p:nvPr/>
        </p:nvSpPr>
        <p:spPr>
          <a:xfrm>
            <a:off x="2241550" y="4008119"/>
            <a:ext cx="77089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System.out est un flux de sortie, ouvert pour vous</a:t>
            </a:r>
          </a:p>
          <a:p>
            <a:pPr>
              <a:lnSpc>
                <a:spcPct val="100000"/>
              </a:lnSpc>
              <a:spcBef>
                <a:spcPts val="0"/>
              </a:spcBef>
              <a:spcAft>
                <a:spcPts val="0"/>
              </a:spcAft>
            </a:pPr>
            <a:r>
              <a:rPr sz="1800">
                <a:solidFill>
                  <a:srgbClr val="BCBEC4"/>
                </a:solidFill>
                <a:latin typeface="Consolas"/>
              </a:rPr>
              <a:t>PrintStream console = System.out;</a:t>
            </a:r>
          </a:p>
          <a:p>
            <a:pPr>
              <a:lnSpc>
                <a:spcPct val="100000"/>
              </a:lnSpc>
              <a:spcBef>
                <a:spcPts val="0"/>
              </a:spcBef>
              <a:spcAft>
                <a:spcPts val="0"/>
              </a:spcAft>
            </a:pPr>
            <a:r>
              <a:rPr sz="1800">
                <a:solidFill>
                  <a:srgbClr val="BCBEC4"/>
                </a:solidFill>
                <a:latin typeface="Consolas"/>
              </a:rPr>
              <a:t>console.</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"Uccle : 12 degres"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System.in est un flux d'entree, lu par le Scanner</a:t>
            </a:r>
          </a:p>
          <a:p>
            <a:pPr>
              <a:lnSpc>
                <a:spcPct val="100000"/>
              </a:lnSpc>
              <a:spcBef>
                <a:spcPts val="0"/>
              </a:spcBef>
              <a:spcAft>
                <a:spcPts val="0"/>
              </a:spcAft>
            </a:pPr>
            <a:r>
              <a:rPr sz="1800">
                <a:solidFill>
                  <a:srgbClr val="BCBEC4"/>
                </a:solidFill>
                <a:latin typeface="Consolas"/>
              </a:rPr>
              <a:t>Scanner clavier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(System.in);</a:t>
            </a:r>
          </a:p>
          <a:p>
            <a:pPr>
              <a:lnSpc>
                <a:spcPct val="100000"/>
              </a:lnSpc>
              <a:spcBef>
                <a:spcPts val="0"/>
              </a:spcBef>
              <a:spcAft>
                <a:spcPts val="0"/>
              </a:spcAft>
            </a:pPr>
            <a:r>
              <a:rPr sz="1800">
                <a:solidFill>
                  <a:srgbClr val="BCBEC4"/>
                </a:solidFill>
                <a:latin typeface="Consolas"/>
              </a:rPr>
              <a:t>String saisie = clavier.</a:t>
            </a:r>
            <a:r>
              <a:rPr sz="1800">
                <a:solidFill>
                  <a:srgbClr val="56A8F5"/>
                </a:solidFill>
                <a:latin typeface="Consolas"/>
              </a:rPr>
              <a:t>nextLine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familles, quatre racines</a:t>
            </a:r>
          </a:p>
        </p:txBody>
      </p:sp>
      <p:sp>
        <p:nvSpPr>
          <p:cNvPr id="3" name="TextBox 2"/>
          <p:cNvSpPr txBox="1"/>
          <p:nvPr/>
        </p:nvSpPr>
        <p:spPr>
          <a:xfrm>
            <a:off x="777240" y="1371600"/>
            <a:ext cx="4791140" cy="585216"/>
          </a:xfrm>
          <a:prstGeom prst="rect">
            <a:avLst/>
          </a:prstGeom>
          <a:noFill/>
        </p:spPr>
        <p:txBody>
          <a:bodyPr wrap="square" anchor="ctr">
            <a:spAutoFit/>
          </a:bodyPr>
          <a:lstStyle/>
          <a:p>
            <a:r>
              <a:rPr sz="2000" b="1">
                <a:solidFill>
                  <a:schemeClr val="accent4"/>
                </a:solidFill>
              </a:rPr>
              <a:t>Famille</a:t>
            </a:r>
          </a:p>
        </p:txBody>
      </p:sp>
      <p:sp>
        <p:nvSpPr>
          <p:cNvPr id="4" name="TextBox 3"/>
          <p:cNvSpPr txBox="1"/>
          <p:nvPr/>
        </p:nvSpPr>
        <p:spPr>
          <a:xfrm>
            <a:off x="5842700" y="1371600"/>
            <a:ext cx="2539824" cy="585216"/>
          </a:xfrm>
          <a:prstGeom prst="rect">
            <a:avLst/>
          </a:prstGeom>
          <a:noFill/>
        </p:spPr>
        <p:txBody>
          <a:bodyPr wrap="square" anchor="ctr">
            <a:spAutoFit/>
          </a:bodyPr>
          <a:lstStyle/>
          <a:p>
            <a:r>
              <a:rPr sz="2000" b="1">
                <a:solidFill>
                  <a:schemeClr val="accent4"/>
                </a:solidFill>
              </a:rPr>
              <a:t>Lire</a:t>
            </a:r>
          </a:p>
        </p:txBody>
      </p:sp>
      <p:sp>
        <p:nvSpPr>
          <p:cNvPr id="5" name="TextBox 4"/>
          <p:cNvSpPr txBox="1"/>
          <p:nvPr/>
        </p:nvSpPr>
        <p:spPr>
          <a:xfrm>
            <a:off x="8656845" y="1371600"/>
            <a:ext cx="2727434" cy="585216"/>
          </a:xfrm>
          <a:prstGeom prst="rect">
            <a:avLst/>
          </a:prstGeom>
          <a:noFill/>
        </p:spPr>
        <p:txBody>
          <a:bodyPr wrap="square" anchor="ctr">
            <a:spAutoFit/>
          </a:bodyPr>
          <a:lstStyle/>
          <a:p>
            <a:r>
              <a:rPr sz="2000" b="1">
                <a:solidFill>
                  <a:schemeClr val="accent4"/>
                </a:solidFill>
              </a:rPr>
              <a:t>Écrire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4791140" cy="585216"/>
            </a:xfrm>
            <a:prstGeom prst="rect">
              <a:avLst/>
            </a:prstGeom>
            <a:noFill/>
          </p:spPr>
          <p:txBody>
            <a:bodyPr wrap="square" anchor="ctr">
              <a:spAutoFit/>
            </a:bodyPr>
            <a:lstStyle/>
            <a:p>
              <a:r>
                <a:rPr sz="2200" dirty="0">
                  <a:solidFill>
                    <a:srgbClr val="FFFFFF"/>
                  </a:solidFill>
                </a:rPr>
                <a:t>Octets, la </a:t>
              </a:r>
              <a:r>
                <a:rPr sz="2200" dirty="0" err="1">
                  <a:solidFill>
                    <a:srgbClr val="FFFFFF"/>
                  </a:solidFill>
                </a:rPr>
                <a:t>racine</a:t>
              </a:r>
              <a:endParaRPr sz="2200" dirty="0">
                <a:solidFill>
                  <a:srgbClr val="FFFFFF"/>
                </a:solidFill>
              </a:endParaRPr>
            </a:p>
          </p:txBody>
        </p:sp>
        <p:sp>
          <p:nvSpPr>
            <p:cNvPr id="8" name="TextBox 7"/>
            <p:cNvSpPr txBox="1"/>
            <p:nvPr/>
          </p:nvSpPr>
          <p:spPr>
            <a:xfrm>
              <a:off x="5842700" y="2029967"/>
              <a:ext cx="2539824" cy="585216"/>
            </a:xfrm>
            <a:prstGeom prst="rect">
              <a:avLst/>
            </a:prstGeom>
            <a:noFill/>
          </p:spPr>
          <p:txBody>
            <a:bodyPr wrap="square" anchor="ctr">
              <a:spAutoFit/>
            </a:bodyPr>
            <a:lstStyle/>
            <a:p>
              <a:r>
                <a:rPr sz="1900">
                  <a:solidFill>
                    <a:schemeClr val="accent4"/>
                  </a:solidFill>
                  <a:latin typeface="Consolas"/>
                </a:rPr>
                <a:t>InputStream</a:t>
              </a:r>
            </a:p>
          </p:txBody>
        </p:sp>
        <p:sp>
          <p:nvSpPr>
            <p:cNvPr id="9" name="TextBox 8"/>
            <p:cNvSpPr txBox="1"/>
            <p:nvPr/>
          </p:nvSpPr>
          <p:spPr>
            <a:xfrm>
              <a:off x="8656845" y="2029967"/>
              <a:ext cx="2727434" cy="585216"/>
            </a:xfrm>
            <a:prstGeom prst="rect">
              <a:avLst/>
            </a:prstGeom>
            <a:noFill/>
          </p:spPr>
          <p:txBody>
            <a:bodyPr wrap="square" anchor="ctr">
              <a:spAutoFit/>
            </a:bodyPr>
            <a:lstStyle/>
            <a:p>
              <a:r>
                <a:rPr sz="1900">
                  <a:solidFill>
                    <a:schemeClr val="accent4"/>
                  </a:solidFill>
                  <a:latin typeface="Consolas"/>
                </a:rPr>
                <a:t>OutputStream</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4791140" cy="585216"/>
            </a:xfrm>
            <a:prstGeom prst="rect">
              <a:avLst/>
            </a:prstGeom>
            <a:noFill/>
          </p:spPr>
          <p:txBody>
            <a:bodyPr wrap="square" anchor="ctr">
              <a:spAutoFit/>
            </a:bodyPr>
            <a:lstStyle/>
            <a:p>
              <a:r>
                <a:rPr sz="2200">
                  <a:solidFill>
                    <a:srgbClr val="FFFFFF"/>
                  </a:solidFill>
                </a:rPr>
                <a:t>Octets, vers un fichier</a:t>
              </a:r>
            </a:p>
          </p:txBody>
        </p:sp>
        <p:sp>
          <p:nvSpPr>
            <p:cNvPr id="12" name="TextBox 11"/>
            <p:cNvSpPr txBox="1"/>
            <p:nvPr/>
          </p:nvSpPr>
          <p:spPr>
            <a:xfrm>
              <a:off x="5842700" y="2688335"/>
              <a:ext cx="2539824" cy="585216"/>
            </a:xfrm>
            <a:prstGeom prst="rect">
              <a:avLst/>
            </a:prstGeom>
            <a:noFill/>
          </p:spPr>
          <p:txBody>
            <a:bodyPr wrap="square" anchor="ctr">
              <a:spAutoFit/>
            </a:bodyPr>
            <a:lstStyle/>
            <a:p>
              <a:r>
                <a:rPr sz="1900">
                  <a:solidFill>
                    <a:schemeClr val="accent4"/>
                  </a:solidFill>
                  <a:latin typeface="Consolas"/>
                </a:rPr>
                <a:t>FileInputStream</a:t>
              </a:r>
            </a:p>
          </p:txBody>
        </p:sp>
        <p:sp>
          <p:nvSpPr>
            <p:cNvPr id="13" name="TextBox 12"/>
            <p:cNvSpPr txBox="1"/>
            <p:nvPr/>
          </p:nvSpPr>
          <p:spPr>
            <a:xfrm>
              <a:off x="8656845" y="2688335"/>
              <a:ext cx="2727434" cy="585216"/>
            </a:xfrm>
            <a:prstGeom prst="rect">
              <a:avLst/>
            </a:prstGeom>
            <a:noFill/>
          </p:spPr>
          <p:txBody>
            <a:bodyPr wrap="square" anchor="ctr">
              <a:spAutoFit/>
            </a:bodyPr>
            <a:lstStyle/>
            <a:p>
              <a:r>
                <a:rPr sz="1900">
                  <a:solidFill>
                    <a:schemeClr val="accent4"/>
                  </a:solidFill>
                  <a:latin typeface="Consolas"/>
                </a:rPr>
                <a:t>FileOutputStream</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4791140" cy="585216"/>
            </a:xfrm>
            <a:prstGeom prst="rect">
              <a:avLst/>
            </a:prstGeom>
            <a:noFill/>
          </p:spPr>
          <p:txBody>
            <a:bodyPr wrap="square" anchor="ctr">
              <a:spAutoFit/>
            </a:bodyPr>
            <a:lstStyle/>
            <a:p>
              <a:r>
                <a:rPr sz="2200">
                  <a:solidFill>
                    <a:srgbClr val="FFFFFF"/>
                  </a:solidFill>
                </a:rPr>
                <a:t>Caractères, la racine</a:t>
              </a:r>
            </a:p>
          </p:txBody>
        </p:sp>
        <p:sp>
          <p:nvSpPr>
            <p:cNvPr id="16" name="TextBox 15"/>
            <p:cNvSpPr txBox="1"/>
            <p:nvPr/>
          </p:nvSpPr>
          <p:spPr>
            <a:xfrm>
              <a:off x="5842700" y="3346703"/>
              <a:ext cx="2539824" cy="585216"/>
            </a:xfrm>
            <a:prstGeom prst="rect">
              <a:avLst/>
            </a:prstGeom>
            <a:noFill/>
          </p:spPr>
          <p:txBody>
            <a:bodyPr wrap="square" anchor="ctr">
              <a:spAutoFit/>
            </a:bodyPr>
            <a:lstStyle/>
            <a:p>
              <a:r>
                <a:rPr sz="1900">
                  <a:solidFill>
                    <a:schemeClr val="accent4"/>
                  </a:solidFill>
                  <a:latin typeface="Consolas"/>
                </a:rPr>
                <a:t>Reader</a:t>
              </a:r>
            </a:p>
          </p:txBody>
        </p:sp>
        <p:sp>
          <p:nvSpPr>
            <p:cNvPr id="17" name="TextBox 16"/>
            <p:cNvSpPr txBox="1"/>
            <p:nvPr/>
          </p:nvSpPr>
          <p:spPr>
            <a:xfrm>
              <a:off x="8656845" y="3346703"/>
              <a:ext cx="2727434" cy="585216"/>
            </a:xfrm>
            <a:prstGeom prst="rect">
              <a:avLst/>
            </a:prstGeom>
            <a:noFill/>
          </p:spPr>
          <p:txBody>
            <a:bodyPr wrap="square" anchor="ctr">
              <a:spAutoFit/>
            </a:bodyPr>
            <a:lstStyle/>
            <a:p>
              <a:r>
                <a:rPr sz="1900">
                  <a:solidFill>
                    <a:schemeClr val="accent4"/>
                  </a:solidFill>
                  <a:latin typeface="Consolas"/>
                </a:rPr>
                <a:t>Writer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4791140" cy="585216"/>
            </a:xfrm>
            <a:prstGeom prst="rect">
              <a:avLst/>
            </a:prstGeom>
            <a:noFill/>
          </p:spPr>
          <p:txBody>
            <a:bodyPr wrap="square" anchor="ctr">
              <a:spAutoFit/>
            </a:bodyPr>
            <a:lstStyle/>
            <a:p>
              <a:r>
                <a:rPr sz="2200">
                  <a:solidFill>
                    <a:srgbClr val="FFFFFF"/>
                  </a:solidFill>
                </a:rPr>
                <a:t>Caractères, vers un fichier</a:t>
              </a:r>
            </a:p>
          </p:txBody>
        </p:sp>
        <p:sp>
          <p:nvSpPr>
            <p:cNvPr id="20" name="TextBox 19"/>
            <p:cNvSpPr txBox="1"/>
            <p:nvPr/>
          </p:nvSpPr>
          <p:spPr>
            <a:xfrm>
              <a:off x="5842700" y="4005071"/>
              <a:ext cx="2539824" cy="585216"/>
            </a:xfrm>
            <a:prstGeom prst="rect">
              <a:avLst/>
            </a:prstGeom>
            <a:noFill/>
          </p:spPr>
          <p:txBody>
            <a:bodyPr wrap="square" anchor="ctr">
              <a:spAutoFit/>
            </a:bodyPr>
            <a:lstStyle/>
            <a:p>
              <a:r>
                <a:rPr sz="1900">
                  <a:solidFill>
                    <a:schemeClr val="accent4"/>
                  </a:solidFill>
                  <a:latin typeface="Consolas"/>
                </a:rPr>
                <a:t>FileReader</a:t>
              </a:r>
            </a:p>
          </p:txBody>
        </p:sp>
        <p:sp>
          <p:nvSpPr>
            <p:cNvPr id="21" name="TextBox 20"/>
            <p:cNvSpPr txBox="1"/>
            <p:nvPr/>
          </p:nvSpPr>
          <p:spPr>
            <a:xfrm>
              <a:off x="8656845" y="4005071"/>
              <a:ext cx="2727434" cy="585216"/>
            </a:xfrm>
            <a:prstGeom prst="rect">
              <a:avLst/>
            </a:prstGeom>
            <a:noFill/>
          </p:spPr>
          <p:txBody>
            <a:bodyPr wrap="square" anchor="ctr">
              <a:spAutoFit/>
            </a:bodyPr>
            <a:lstStyle/>
            <a:p>
              <a:r>
                <a:rPr sz="1900">
                  <a:solidFill>
                    <a:schemeClr val="accent4"/>
                  </a:solidFill>
                  <a:latin typeface="Consolas"/>
                </a:rPr>
                <a:t>FileWriter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flux s'emboîtent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err="1"/>
              <a:t>Chaque</a:t>
            </a:r>
            <a:r>
              <a:rPr sz="2400" dirty="0"/>
              <a:t> </a:t>
            </a:r>
            <a:r>
              <a:rPr sz="2400" dirty="0" err="1"/>
              <a:t>classe</a:t>
            </a:r>
            <a:r>
              <a:rPr sz="2400" dirty="0"/>
              <a:t> se </a:t>
            </a:r>
            <a:r>
              <a:rPr sz="2400" dirty="0" err="1"/>
              <a:t>construit</a:t>
            </a:r>
            <a:r>
              <a:rPr sz="2400" dirty="0"/>
              <a:t> sur la </a:t>
            </a:r>
            <a:r>
              <a:rPr sz="2400" dirty="0" err="1"/>
              <a:t>précédente</a:t>
            </a:r>
            <a:r>
              <a:rPr sz="2400" dirty="0"/>
              <a:t>, et </a:t>
            </a:r>
            <a:r>
              <a:rPr sz="2400" dirty="0" err="1"/>
              <a:t>lui</a:t>
            </a:r>
            <a:r>
              <a:rPr sz="2400" dirty="0"/>
              <a:t> </a:t>
            </a:r>
            <a:r>
              <a:rPr sz="2400" dirty="0" err="1"/>
              <a:t>ajoute</a:t>
            </a:r>
            <a:r>
              <a:rPr sz="2400" dirty="0"/>
              <a:t> </a:t>
            </a:r>
            <a:r>
              <a:rPr sz="2400" dirty="0" err="1"/>
              <a:t>une</a:t>
            </a:r>
            <a:r>
              <a:rPr sz="2400" dirty="0"/>
              <a:t> </a:t>
            </a:r>
            <a:r>
              <a:rPr sz="2400" dirty="0" err="1"/>
              <a:t>capacité</a:t>
            </a:r>
            <a:endParaRPr sz="2400" dirty="0"/>
          </a:p>
          <a:p>
            <a:pPr marL="0" indent="0">
              <a:spcAft>
                <a:spcPts val="1000"/>
              </a:spcAft>
              <a:buNone/>
            </a:pPr>
            <a:r>
              <a:rPr sz="2400" dirty="0"/>
              <a:t>La </a:t>
            </a:r>
            <a:r>
              <a:rPr sz="2400" dirty="0" err="1"/>
              <a:t>classe</a:t>
            </a:r>
            <a:r>
              <a:rPr sz="2400" dirty="0"/>
              <a:t> </a:t>
            </a:r>
            <a:r>
              <a:rPr sz="2100" dirty="0" err="1">
                <a:solidFill>
                  <a:schemeClr val="accent4"/>
                </a:solidFill>
                <a:latin typeface="Consolas"/>
              </a:rPr>
              <a:t>FileOutputStream</a:t>
            </a:r>
            <a:r>
              <a:rPr sz="2400" dirty="0"/>
              <a:t> </a:t>
            </a:r>
            <a:r>
              <a:rPr lang="nl-BE" sz="2400" dirty="0"/>
              <a:t>envoie des données dans un </a:t>
            </a:r>
            <a:r>
              <a:rPr sz="2400" dirty="0" err="1"/>
              <a:t>fichier</a:t>
            </a:r>
            <a:r>
              <a:rPr sz="2400" dirty="0"/>
              <a:t>, octet par octet</a:t>
            </a:r>
          </a:p>
          <a:p>
            <a:pPr marL="0" indent="0">
              <a:spcAft>
                <a:spcPts val="1000"/>
              </a:spcAft>
              <a:buNone/>
            </a:pPr>
            <a:r>
              <a:rPr sz="2400" dirty="0"/>
              <a:t>Les </a:t>
            </a:r>
            <a:r>
              <a:rPr sz="2400" dirty="0" err="1"/>
              <a:t>suivantes</a:t>
            </a:r>
            <a:r>
              <a:rPr sz="2400" dirty="0"/>
              <a:t> </a:t>
            </a:r>
            <a:r>
              <a:rPr sz="2400" dirty="0" err="1"/>
              <a:t>regroupent</a:t>
            </a:r>
            <a:r>
              <a:rPr sz="2400" dirty="0"/>
              <a:t> les octets, </a:t>
            </a:r>
            <a:r>
              <a:rPr sz="2400" dirty="0" err="1"/>
              <a:t>puis</a:t>
            </a:r>
            <a:r>
              <a:rPr sz="2400" dirty="0"/>
              <a:t> </a:t>
            </a:r>
            <a:r>
              <a:rPr sz="2400" dirty="0" err="1"/>
              <a:t>traduisent</a:t>
            </a:r>
            <a:r>
              <a:rPr sz="2400" dirty="0"/>
              <a:t> les </a:t>
            </a:r>
            <a:r>
              <a:rPr sz="2100" dirty="0">
                <a:solidFill>
                  <a:schemeClr val="accent4"/>
                </a:solidFill>
                <a:latin typeface="Consolas"/>
              </a:rPr>
              <a:t>int</a:t>
            </a:r>
            <a:r>
              <a:rPr sz="2400" dirty="0"/>
              <a:t> </a:t>
            </a:r>
            <a:r>
              <a:rPr sz="2400" dirty="0" err="1"/>
              <a:t>en</a:t>
            </a:r>
            <a:r>
              <a:rPr sz="2400" dirty="0"/>
              <a:t> octets</a:t>
            </a:r>
          </a:p>
        </p:txBody>
      </p:sp>
      <p:sp>
        <p:nvSpPr>
          <p:cNvPr id="4" name="Code"/>
          <p:cNvSpPr txBox="1"/>
          <p:nvPr/>
        </p:nvSpPr>
        <p:spPr>
          <a:xfrm>
            <a:off x="1473200" y="3855720"/>
            <a:ext cx="9245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OutputStream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FileOutputStream</a:t>
            </a:r>
            <a:r>
              <a:rPr sz="1800">
                <a:solidFill>
                  <a:srgbClr val="BCBEC4"/>
                </a:solidFill>
                <a:latin typeface="Consolas"/>
              </a:rPr>
              <a:t>(</a:t>
            </a:r>
            <a:r>
              <a:rPr sz="1800">
                <a:solidFill>
                  <a:srgbClr val="6AAB73"/>
                </a:solidFill>
                <a:latin typeface="Consolas"/>
              </a:rPr>
              <a:t>"temperatures.bin"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OutputStream tampon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BufferedOutputStream</a:t>
            </a:r>
            <a:r>
              <a:rPr sz="1800">
                <a:solidFill>
                  <a:srgbClr val="BCBEC4"/>
                </a:solidFill>
                <a:latin typeface="Consolas"/>
              </a:rPr>
              <a:t>(fichier);</a:t>
            </a:r>
          </a:p>
          <a:p>
            <a:pPr>
              <a:lnSpc>
                <a:spcPct val="100000"/>
              </a:lnSpc>
              <a:spcBef>
                <a:spcPts val="0"/>
              </a:spcBef>
              <a:spcAft>
                <a:spcPts val="0"/>
              </a:spcAft>
            </a:pPr>
            <a:r>
              <a:rPr sz="1800">
                <a:solidFill>
                  <a:srgbClr val="BCBEC4"/>
                </a:solidFill>
                <a:latin typeface="Consolas"/>
              </a:rPr>
              <a:t>DataOutputStream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DataOutputStream</a:t>
            </a:r>
            <a:r>
              <a:rPr sz="1800">
                <a:solidFill>
                  <a:srgbClr val="BCBEC4"/>
                </a:solidFill>
                <a:latin typeface="Consolas"/>
              </a:rPr>
              <a:t>(tampon);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12</a:t>
            </a:r>
            <a:r>
              <a:rPr sz="1800">
                <a:solidFill>
                  <a:srgbClr val="BCBEC4"/>
                </a:solidFill>
                <a:latin typeface="Consolas"/>
              </a:rPr>
              <a:t>);        </a:t>
            </a:r>
            <a:r>
              <a:rPr sz="1800">
                <a:solidFill>
                  <a:srgbClr val="7A7E85"/>
                </a:solidFill>
                <a:latin typeface="Consolas"/>
              </a:rPr>
              <a:t>// quatre octets</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writeDouble</a:t>
            </a:r>
            <a:r>
              <a:rPr sz="1800">
                <a:solidFill>
                  <a:srgbClr val="BCBEC4"/>
                </a:solidFill>
                <a:latin typeface="Consolas"/>
              </a:rPr>
              <a:t>(</a:t>
            </a:r>
            <a:r>
              <a:rPr sz="1800">
                <a:solidFill>
                  <a:srgbClr val="2AACB8"/>
                </a:solidFill>
                <a:latin typeface="Consolas"/>
              </a:rPr>
              <a:t>12.5</a:t>
            </a:r>
            <a:r>
              <a:rPr sz="1800">
                <a:solidFill>
                  <a:srgbClr val="BCBEC4"/>
                </a:solidFill>
                <a:latin typeface="Consolas"/>
              </a:rPr>
              <a:t>);   </a:t>
            </a:r>
            <a:r>
              <a:rPr sz="1800">
                <a:solidFill>
                  <a:srgbClr val="7A7E85"/>
                </a:solidFill>
                <a:latin typeface="Consolas"/>
              </a:rPr>
              <a:t>// huit octets</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close</a:t>
            </a:r>
            <a:r>
              <a:rPr sz="1800">
                <a:solidFill>
                  <a:srgbClr val="BCBEC4"/>
                </a:solidFill>
                <a:latin typeface="Consolas"/>
              </a:rPr>
              <a:t>();             </a:t>
            </a:r>
            <a:r>
              <a:rPr sz="1800">
                <a:solidFill>
                  <a:srgbClr val="7A7E85"/>
                </a:solidFill>
                <a:latin typeface="Consolas"/>
              </a:rPr>
              <a:t>// ferme les trois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FIC.1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Trois classes qui se connaissent</a:t>
            </a:r>
          </a:p>
          <a:p>
            <a:r>
              <a:rPr sz="1400">
                <a:solidFill>
                  <a:srgbClr val="BCBEC4"/>
                </a:solidFill>
              </a:rPr>
              <a:t>fascicule FIC</a:t>
            </a:r>
          </a:p>
        </p:txBody>
      </p:sp>
      <p:sp>
        <p:nvSpPr>
          <p:cNvPr id="6" name="TextBox 5"/>
          <p:cNvSpPr txBox="1"/>
          <p:nvPr/>
        </p:nvSpPr>
        <p:spPr>
          <a:xfrm>
            <a:off x="640080" y="2651760"/>
            <a:ext cx="9326880" cy="822960"/>
          </a:xfrm>
          <a:prstGeom prst="rect">
            <a:avLst/>
          </a:prstGeom>
          <a:noFill/>
        </p:spPr>
        <p:txBody>
          <a:bodyPr wrap="square">
            <a:spAutoFit/>
          </a:bodyPr>
          <a:lstStyle/>
          <a:p>
            <a:r>
              <a:rPr sz="2400"/>
              <a:t>Aucun fichier : le modèle des deux exercices suivants</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2.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26457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Fermer quoi qu'il arrive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flux ouvert se ferme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a:t>Un flux </a:t>
            </a:r>
            <a:r>
              <a:rPr sz="2400" dirty="0" err="1"/>
              <a:t>ouvert</a:t>
            </a:r>
            <a:r>
              <a:rPr sz="2400" dirty="0"/>
              <a:t> </a:t>
            </a:r>
            <a:r>
              <a:rPr sz="2400" dirty="0" err="1"/>
              <a:t>retient</a:t>
            </a:r>
            <a:r>
              <a:rPr sz="2400" dirty="0"/>
              <a:t> le </a:t>
            </a:r>
            <a:r>
              <a:rPr sz="2400" dirty="0" err="1"/>
              <a:t>fichier</a:t>
            </a:r>
            <a:r>
              <a:rPr sz="2400" dirty="0"/>
              <a:t>, et le </a:t>
            </a:r>
            <a:r>
              <a:rPr sz="2400" dirty="0" err="1"/>
              <a:t>système</a:t>
            </a:r>
            <a:r>
              <a:rPr sz="2400" dirty="0"/>
              <a:t> </a:t>
            </a:r>
            <a:r>
              <a:rPr sz="2400" dirty="0" err="1"/>
              <a:t>limite</a:t>
            </a:r>
            <a:r>
              <a:rPr sz="2400" dirty="0"/>
              <a:t> le </a:t>
            </a:r>
            <a:r>
              <a:rPr sz="2400" dirty="0" err="1"/>
              <a:t>nombre</a:t>
            </a:r>
            <a:r>
              <a:rPr lang="nl-BE" sz="2400" dirty="0"/>
              <a:t> de flux ouverts</a:t>
            </a:r>
            <a:endParaRPr sz="2400" dirty="0"/>
          </a:p>
          <a:p>
            <a:pPr marL="0" indent="0">
              <a:spcAft>
                <a:spcPts val="1000"/>
              </a:spcAft>
              <a:buNone/>
            </a:pPr>
            <a:r>
              <a:rPr sz="2400" dirty="0"/>
              <a:t>Tant </a:t>
            </a:r>
            <a:r>
              <a:rPr sz="2400" dirty="0" err="1"/>
              <a:t>que</a:t>
            </a:r>
            <a:r>
              <a:rPr sz="2400" dirty="0"/>
              <a:t> le flux </a:t>
            </a:r>
            <a:r>
              <a:rPr sz="2400" dirty="0" err="1"/>
              <a:t>n'est</a:t>
            </a:r>
            <a:r>
              <a:rPr sz="2400" dirty="0"/>
              <a:t> pas fermé, son tampon </a:t>
            </a:r>
            <a:r>
              <a:rPr sz="2400" dirty="0" err="1"/>
              <a:t>peut</a:t>
            </a:r>
            <a:r>
              <a:rPr sz="2400" dirty="0"/>
              <a:t> ne pas </a:t>
            </a:r>
            <a:r>
              <a:rPr sz="2400" dirty="0" err="1"/>
              <a:t>être</a:t>
            </a:r>
            <a:r>
              <a:rPr sz="2400" dirty="0"/>
              <a:t> </a:t>
            </a:r>
            <a:r>
              <a:rPr sz="2400" dirty="0" err="1"/>
              <a:t>écrit</a:t>
            </a:r>
            <a:endParaRPr sz="2400" dirty="0"/>
          </a:p>
          <a:p>
            <a:pPr marL="0" indent="0">
              <a:spcAft>
                <a:spcPts val="1000"/>
              </a:spcAft>
              <a:buNone/>
            </a:pPr>
            <a:r>
              <a:rPr sz="2400" dirty="0"/>
              <a:t>Le bloc </a:t>
            </a:r>
            <a:r>
              <a:rPr sz="2100" dirty="0">
                <a:solidFill>
                  <a:schemeClr val="accent4"/>
                </a:solidFill>
                <a:latin typeface="Consolas"/>
              </a:rPr>
              <a:t>finally</a:t>
            </a:r>
            <a:r>
              <a:rPr sz="2400" dirty="0"/>
              <a:t> </a:t>
            </a:r>
            <a:r>
              <a:rPr sz="2400" dirty="0" err="1"/>
              <a:t>garantit</a:t>
            </a:r>
            <a:r>
              <a:rPr sz="2400" dirty="0"/>
              <a:t> la fermeture, à </a:t>
            </a:r>
            <a:r>
              <a:rPr lang="nl-BE" sz="2400" dirty="0"/>
              <a:t>ne jamais oublier</a:t>
            </a:r>
            <a:endParaRPr sz="2400" dirty="0"/>
          </a:p>
        </p:txBody>
      </p:sp>
      <p:sp>
        <p:nvSpPr>
          <p:cNvPr id="4" name="Code"/>
          <p:cNvSpPr txBox="1"/>
          <p:nvPr/>
        </p:nvSpPr>
        <p:spPr>
          <a:xfrm>
            <a:off x="2660650" y="3855720"/>
            <a:ext cx="6870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Writer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finally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close</a:t>
            </a:r>
            <a:r>
              <a:rPr sz="1800">
                <a:solidFill>
                  <a:srgbClr val="BCBEC4"/>
                </a:solidFill>
                <a:latin typeface="Consolas"/>
              </a:rPr>
              <a:t>();     </a:t>
            </a:r>
            <a:r>
              <a:rPr sz="1800">
                <a:solidFill>
                  <a:srgbClr val="7A7E85"/>
                </a:solidFill>
                <a:latin typeface="Consolas"/>
              </a:rPr>
              <a:t>// meme si write echoue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a:t>
            </a:r>
            <a:r>
              <a:rPr sz="3400">
                <a:solidFill>
                  <a:schemeClr val="accent4"/>
                </a:solidFill>
                <a:latin typeface="Consolas"/>
              </a:rPr>
              <a:t>try</a:t>
            </a:r>
            <a:r>
              <a:rPr sz="4000"/>
              <a:t> avec ressources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lang="nl-BE" sz="2800" dirty="0"/>
              <a:t>On peut déclarer la</a:t>
            </a:r>
            <a:r>
              <a:rPr sz="2800" dirty="0"/>
              <a:t> </a:t>
            </a:r>
            <a:r>
              <a:rPr sz="2800" dirty="0" err="1"/>
              <a:t>ressource</a:t>
            </a:r>
            <a:r>
              <a:rPr sz="2800" dirty="0"/>
              <a:t> </a:t>
            </a:r>
            <a:r>
              <a:rPr lang="nl-BE" sz="2800" dirty="0"/>
              <a:t>(</a:t>
            </a:r>
            <a:r>
              <a:rPr lang="nl-BE" sz="2400" dirty="0">
                <a:solidFill>
                  <a:schemeClr val="accent4"/>
                </a:solidFill>
                <a:latin typeface="Consolas"/>
              </a:rPr>
              <a:t>FileWriter</a:t>
            </a:r>
            <a:r>
              <a:rPr lang="nl-BE" sz="2800" dirty="0"/>
              <a:t> par exemple) </a:t>
            </a:r>
            <a:r>
              <a:rPr sz="2800" dirty="0"/>
              <a:t>entre les </a:t>
            </a:r>
            <a:r>
              <a:rPr sz="2800" dirty="0" err="1"/>
              <a:t>parenthèses</a:t>
            </a:r>
            <a:r>
              <a:rPr sz="2800" dirty="0"/>
              <a:t> du </a:t>
            </a:r>
            <a:r>
              <a:rPr sz="2400" dirty="0">
                <a:solidFill>
                  <a:schemeClr val="accent4"/>
                </a:solidFill>
                <a:latin typeface="Consolas"/>
              </a:rPr>
              <a:t>try</a:t>
            </a:r>
          </a:p>
          <a:p>
            <a:pPr marL="0" indent="0">
              <a:spcAft>
                <a:spcPts val="1000"/>
              </a:spcAft>
              <a:buNone/>
            </a:pPr>
            <a:r>
              <a:rPr lang="nl-BE" sz="2800" dirty="0"/>
              <a:t>Cette ressource sera</a:t>
            </a:r>
            <a:r>
              <a:rPr sz="2800" dirty="0"/>
              <a:t> fermée à la sortie du bloc, quoi </a:t>
            </a:r>
            <a:r>
              <a:rPr sz="2800" dirty="0" err="1"/>
              <a:t>qu'il</a:t>
            </a:r>
            <a:r>
              <a:rPr sz="2800" dirty="0"/>
              <a:t> arrive</a:t>
            </a:r>
          </a:p>
          <a:p>
            <a:pPr marL="0" indent="0">
              <a:spcAft>
                <a:spcPts val="1000"/>
              </a:spcAft>
              <a:buNone/>
            </a:pPr>
            <a:r>
              <a:rPr sz="2800" dirty="0"/>
              <a:t>Toute </a:t>
            </a:r>
            <a:r>
              <a:rPr sz="2800" dirty="0" err="1"/>
              <a:t>classe</a:t>
            </a:r>
            <a:r>
              <a:rPr sz="2800" dirty="0"/>
              <a:t> qui </a:t>
            </a:r>
            <a:r>
              <a:rPr sz="2800" dirty="0" err="1"/>
              <a:t>implémente</a:t>
            </a:r>
            <a:r>
              <a:rPr sz="2800" dirty="0"/>
              <a:t> </a:t>
            </a:r>
            <a:r>
              <a:rPr sz="2400" dirty="0" err="1">
                <a:solidFill>
                  <a:schemeClr val="accent4"/>
                </a:solidFill>
                <a:latin typeface="Consolas"/>
              </a:rPr>
              <a:t>AutoCloseable</a:t>
            </a:r>
            <a:r>
              <a:rPr sz="2800" dirty="0"/>
              <a:t> </a:t>
            </a:r>
            <a:r>
              <a:rPr sz="2800" dirty="0" err="1"/>
              <a:t>s'y</a:t>
            </a:r>
            <a:r>
              <a:rPr sz="2800" dirty="0"/>
              <a:t> </a:t>
            </a:r>
            <a:r>
              <a:rPr sz="2800" dirty="0" err="1"/>
              <a:t>prête</a:t>
            </a:r>
            <a:r>
              <a:rPr sz="2800" dirty="0"/>
              <a:t>, </a:t>
            </a:r>
            <a:r>
              <a:rPr sz="2800" dirty="0" err="1"/>
              <a:t>dont</a:t>
            </a:r>
            <a:r>
              <a:rPr sz="2800" dirty="0"/>
              <a:t> </a:t>
            </a:r>
            <a:r>
              <a:rPr sz="2400" dirty="0">
                <a:solidFill>
                  <a:schemeClr val="accent4"/>
                </a:solidFill>
                <a:latin typeface="Consolas"/>
              </a:rPr>
              <a:t>Scanner</a:t>
            </a:r>
          </a:p>
        </p:txBody>
      </p:sp>
      <p:sp>
        <p:nvSpPr>
          <p:cNvPr id="4" name="Code"/>
          <p:cNvSpPr txBox="1"/>
          <p:nvPr/>
        </p:nvSpPr>
        <p:spPr>
          <a:xfrm>
            <a:off x="2171700" y="4160520"/>
            <a:ext cx="78486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(Writer sortie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sortie.</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sortie.close() est appele ici, exception ou non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IOException</a:t>
            </a:r>
            <a:r>
              <a:rPr sz="4000"/>
              <a:t>, une exception contrôlée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a:t>
            </a:r>
            <a:r>
              <a:rPr sz="2800" dirty="0" err="1"/>
              <a:t>fichier</a:t>
            </a:r>
            <a:r>
              <a:rPr sz="2800" dirty="0"/>
              <a:t> </a:t>
            </a:r>
            <a:r>
              <a:rPr sz="2800" dirty="0" err="1"/>
              <a:t>peut</a:t>
            </a:r>
            <a:r>
              <a:rPr sz="2800" dirty="0"/>
              <a:t> </a:t>
            </a:r>
            <a:r>
              <a:rPr lang="fr-BE" sz="2800" dirty="0"/>
              <a:t>être absent</a:t>
            </a:r>
            <a:r>
              <a:rPr sz="2800" dirty="0"/>
              <a:t>, </a:t>
            </a:r>
            <a:r>
              <a:rPr sz="2800" dirty="0" err="1"/>
              <a:t>être</a:t>
            </a:r>
            <a:r>
              <a:rPr sz="2800" dirty="0"/>
              <a:t> </a:t>
            </a:r>
            <a:r>
              <a:rPr sz="2800" dirty="0" err="1"/>
              <a:t>verrouillé</a:t>
            </a:r>
            <a:r>
              <a:rPr sz="2800" dirty="0"/>
              <a:t>, </a:t>
            </a:r>
            <a:r>
              <a:rPr sz="2800" dirty="0" err="1"/>
              <a:t>ou</a:t>
            </a:r>
            <a:r>
              <a:rPr sz="2800" dirty="0"/>
              <a:t> le </a:t>
            </a:r>
            <a:r>
              <a:rPr sz="2800" dirty="0" err="1"/>
              <a:t>disque</a:t>
            </a:r>
            <a:r>
              <a:rPr lang="nl-BE" sz="2800" dirty="0"/>
              <a:t> peut</a:t>
            </a:r>
            <a:r>
              <a:rPr sz="2800" dirty="0"/>
              <a:t> </a:t>
            </a:r>
            <a:r>
              <a:rPr sz="2800" dirty="0" err="1"/>
              <a:t>être</a:t>
            </a:r>
            <a:r>
              <a:rPr sz="2800" dirty="0"/>
              <a:t> plein</a:t>
            </a:r>
          </a:p>
          <a:p>
            <a:pPr marL="0" indent="0">
              <a:spcAft>
                <a:spcPts val="1000"/>
              </a:spcAft>
              <a:buNone/>
            </a:pPr>
            <a:r>
              <a:rPr sz="2800" dirty="0"/>
              <a:t/>
            </a:r>
            <a:r>
              <a:rPr sz="2800" dirty="0" err="1"/>
              <a:t/>
            </a:r>
            <a:r>
              <a:rPr sz="2800" dirty="0"/>
              <a:t/>
            </a:r>
            <a:r>
              <a:rPr sz="2400" dirty="0" err="1">
                <a:solidFill>
                  <a:schemeClr val="accent4"/>
                </a:solidFill>
                <a:latin typeface="Consolas"/>
              </a:rPr>
              <a:t>IOException</a:t>
            </a:r>
            <a:r>
              <a:rPr sz="2800" dirty="0"/>
              <a:t> est une exception contrôlée : elle doit être traitée ou déclarée</a:t>
            </a:r>
            <a:endParaRPr sz="2800" dirty="0"/>
          </a:p>
          <a:p>
            <a:pPr marL="0" indent="0">
              <a:spcAft>
                <a:spcPts val="1000"/>
              </a:spcAft>
              <a:buNone/>
            </a:pPr>
            <a:r>
              <a:rPr sz="2800" dirty="0"/>
              <a:t>Ses filles </a:t>
            </a:r>
            <a:r>
              <a:rPr sz="2800" dirty="0" err="1"/>
              <a:t>précisent</a:t>
            </a:r>
            <a:r>
              <a:rPr sz="2800" dirty="0"/>
              <a:t> </a:t>
            </a:r>
            <a:r>
              <a:rPr sz="2800" dirty="0" err="1"/>
              <a:t>l'échec</a:t>
            </a:r>
            <a:r>
              <a:rPr sz="2800" dirty="0"/>
              <a:t> : </a:t>
            </a:r>
            <a:r>
              <a:rPr sz="2400" dirty="0" err="1">
                <a:solidFill>
                  <a:schemeClr val="accent4"/>
                </a:solidFill>
                <a:latin typeface="Consolas"/>
              </a:rPr>
              <a:t>FileNotFoundException</a:t>
            </a:r>
            <a:r>
              <a:rPr sz="2800" dirty="0"/>
              <a:t>, </a:t>
            </a:r>
            <a:r>
              <a:rPr sz="2400" dirty="0" err="1">
                <a:solidFill>
                  <a:schemeClr val="accent4"/>
                </a:solidFill>
                <a:latin typeface="Consolas"/>
              </a:rPr>
              <a:t>EOFException</a:t>
            </a:r>
            <a:endParaRPr sz="2400" dirty="0">
              <a:solidFill>
                <a:schemeClr val="accent4"/>
              </a:solidFill>
              <a:latin typeface="Consolas"/>
            </a:endParaRP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static</a:t>
            </a:r>
            <a:r>
              <a:rPr sz="1750">
                <a:solidFill>
                  <a:srgbClr val="BCBEC4"/>
                </a:solidFill>
                <a:latin typeface="Consolas"/>
              </a:rPr>
              <a:t> String </a:t>
            </a:r>
            <a:r>
              <a:rPr sz="1750">
                <a:solidFill>
                  <a:srgbClr val="56A8F5"/>
                </a:solidFill>
                <a:latin typeface="Consolas"/>
              </a:rPr>
              <a:t>premiereLigne</a:t>
            </a:r>
            <a:r>
              <a:rPr sz="1750">
                <a:solidFill>
                  <a:srgbClr val="BCBEC4"/>
                </a:solidFill>
                <a:latin typeface="Consolas"/>
              </a:rPr>
              <a:t>(File fichier) </a:t>
            </a:r>
            <a:r>
              <a:rPr sz="1750">
                <a:solidFill>
                  <a:srgbClr val="CF8E6D"/>
                </a:solidFill>
                <a:latin typeface="Consolas"/>
              </a:rPr>
              <a:t>throws</a:t>
            </a:r>
            <a:r>
              <a:rPr sz="1750">
                <a:solidFill>
                  <a:srgbClr val="BCBEC4"/>
                </a:solidFill>
                <a:latin typeface="Consolas"/>
              </a:rPr>
              <a:t> IOException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try</a:t>
            </a:r>
            <a:r>
              <a:rPr sz="1750">
                <a:solidFill>
                  <a:srgbClr val="BCBEC4"/>
                </a:solidFill>
                <a:latin typeface="Consolas"/>
              </a:rPr>
              <a:t> (Scanner entree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Scanner</a:t>
            </a:r>
            <a:r>
              <a:rPr sz="1750">
                <a:solidFill>
                  <a:srgbClr val="BCBEC4"/>
                </a:solidFill>
                <a:latin typeface="Consolas"/>
              </a:rPr>
              <a:t>(fichier))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entree.</a:t>
            </a:r>
            <a:r>
              <a:rPr sz="1750">
                <a:solidFill>
                  <a:srgbClr val="56A8F5"/>
                </a:solidFill>
                <a:latin typeface="Consolas"/>
              </a:rPr>
              <a:t>nextLine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3.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050129"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Écrire et relire du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p:spPr>
        <p:txBody>
          <a:bodyPr>
            <a:noAutofit/>
          </a:bodyPr>
          <a:lstStyle/>
          <a:p>
            <a:r>
              <a:rPr sz="4000"/>
              <a:t>Écrire comme sur la console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PrintWriter</a:t>
            </a:r>
            <a:r>
              <a:rPr sz="2800" dirty="0"/>
              <a:t> </a:t>
            </a:r>
            <a:r>
              <a:rPr sz="2800" dirty="0" err="1"/>
              <a:t>offre</a:t>
            </a:r>
            <a:r>
              <a:rPr sz="2800" dirty="0"/>
              <a:t> </a:t>
            </a:r>
            <a:r>
              <a:rPr sz="2400" dirty="0">
                <a:solidFill>
                  <a:schemeClr val="accent4"/>
                </a:solidFill>
                <a:latin typeface="Consolas"/>
              </a:rPr>
              <a:t>print</a:t>
            </a:r>
            <a:r>
              <a:rPr sz="2800" dirty="0"/>
              <a:t>, </a:t>
            </a:r>
            <a:r>
              <a:rPr sz="2400" dirty="0" err="1">
                <a:solidFill>
                  <a:schemeClr val="accent4"/>
                </a:solidFill>
                <a:latin typeface="Consolas"/>
              </a:rPr>
              <a:t>println</a:t>
            </a:r>
            <a:r>
              <a:rPr sz="2800" dirty="0"/>
              <a:t> et </a:t>
            </a:r>
            <a:r>
              <a:rPr sz="2400" dirty="0" err="1">
                <a:solidFill>
                  <a:schemeClr val="accent4"/>
                </a:solidFill>
                <a:latin typeface="Consolas"/>
              </a:rPr>
              <a:t>printf</a:t>
            </a:r>
            <a:r>
              <a:rPr sz="2800" dirty="0"/>
              <a:t>, </a:t>
            </a:r>
            <a:r>
              <a:rPr sz="2800" dirty="0" err="1"/>
              <a:t>comme</a:t>
            </a:r>
            <a:r>
              <a:rPr sz="2800" dirty="0"/>
              <a:t> </a:t>
            </a:r>
            <a:r>
              <a:rPr sz="2400" dirty="0" err="1">
                <a:solidFill>
                  <a:schemeClr val="accent4"/>
                </a:solidFill>
                <a:latin typeface="Consolas"/>
              </a:rPr>
              <a:t>System.out</a:t>
            </a:r>
            <a:endParaRPr sz="2400" dirty="0">
              <a:solidFill>
                <a:schemeClr val="accent4"/>
              </a:solidFill>
              <a:latin typeface="Consolas"/>
            </a:endParaRPr>
          </a:p>
          <a:p>
            <a:pPr marL="0" indent="0">
              <a:spcAft>
                <a:spcPts val="1000"/>
              </a:spcAft>
              <a:buNone/>
            </a:pPr>
            <a:r>
              <a:rPr sz="2800" dirty="0"/>
              <a:t>Elle se pose sur un </a:t>
            </a:r>
            <a:r>
              <a:rPr sz="2400" dirty="0" err="1">
                <a:solidFill>
                  <a:schemeClr val="accent4"/>
                </a:solidFill>
                <a:latin typeface="Consolas"/>
              </a:rPr>
              <a:t>FileWriter</a:t>
            </a:r>
            <a:r>
              <a:rPr sz="2800" dirty="0"/>
              <a:t>, qui </a:t>
            </a:r>
            <a:r>
              <a:rPr sz="2800" dirty="0" err="1"/>
              <a:t>atteint</a:t>
            </a:r>
            <a:r>
              <a:rPr sz="2800" dirty="0"/>
              <a:t> le </a:t>
            </a:r>
            <a:r>
              <a:rPr sz="2800" dirty="0" err="1"/>
              <a:t>fichier</a:t>
            </a:r>
            <a:endParaRPr sz="2800" dirty="0"/>
          </a:p>
          <a:p>
            <a:pPr marL="0" indent="0">
              <a:spcAft>
                <a:spcPts val="1000"/>
              </a:spcAft>
              <a:buNone/>
            </a:pPr>
            <a:r>
              <a:rPr sz="2800" dirty="0"/>
              <a:t>À </a:t>
            </a:r>
            <a:r>
              <a:rPr sz="2800" dirty="0" err="1"/>
              <a:t>l'ouverture</a:t>
            </a:r>
            <a:r>
              <a:rPr sz="2800" dirty="0"/>
              <a:t>, le </a:t>
            </a:r>
            <a:r>
              <a:rPr sz="2800" dirty="0" err="1"/>
              <a:t>fichier</a:t>
            </a:r>
            <a:r>
              <a:rPr sz="2800" dirty="0"/>
              <a:t> est </a:t>
            </a:r>
            <a:r>
              <a:rPr sz="2800" dirty="0" err="1"/>
              <a:t>vidé</a:t>
            </a:r>
            <a:r>
              <a:rPr sz="2800" dirty="0"/>
              <a:t> ; avec </a:t>
            </a:r>
            <a:r>
              <a:rPr sz="2400" dirty="0">
                <a:solidFill>
                  <a:schemeClr val="accent4"/>
                </a:solidFill>
                <a:latin typeface="Consolas"/>
              </a:rPr>
              <a:t>true</a:t>
            </a:r>
            <a:r>
              <a:rPr sz="2800" dirty="0"/>
              <a:t>, on </a:t>
            </a:r>
            <a:r>
              <a:rPr sz="2800" dirty="0" err="1"/>
              <a:t>écrit</a:t>
            </a:r>
            <a:r>
              <a:rPr sz="2800" dirty="0"/>
              <a:t> à la suite</a:t>
            </a: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File fichier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a:t>
            </a:r>
            <a:r>
              <a:rPr sz="1750">
                <a:solidFill>
                  <a:srgbClr val="BCBEC4"/>
                </a:solidFill>
                <a:latin typeface="Consolas"/>
              </a:rPr>
              <a:t>(</a:t>
            </a:r>
            <a:r>
              <a:rPr sz="1750">
                <a:solidFill>
                  <a:srgbClr val="6AAB73"/>
                </a:solidFill>
                <a:latin typeface="Consolas"/>
              </a:rPr>
              <a:t>"uccle.txt"</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try</a:t>
            </a:r>
            <a:r>
              <a:rPr sz="1750">
                <a:solidFill>
                  <a:srgbClr val="BCBEC4"/>
                </a:solidFill>
                <a:latin typeface="Consolas"/>
              </a:rPr>
              <a:t> (PrintWriter sortie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PrintWriter</a:t>
            </a:r>
            <a:r>
              <a:rPr sz="1750">
                <a:solidFill>
                  <a:srgbClr val="BCBEC4"/>
                </a:solidFill>
                <a:latin typeface="Consolas"/>
              </a:rPr>
              <a:t>(</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FileWriter</a:t>
            </a:r>
            <a:r>
              <a:rPr sz="1750">
                <a:solidFill>
                  <a:srgbClr val="BCBEC4"/>
                </a:solidFill>
                <a:latin typeface="Consolas"/>
              </a:rPr>
              <a:t>(fichier))) {</a:t>
            </a:r>
          </a:p>
          <a:p>
            <a:pPr>
              <a:lnSpc>
                <a:spcPct val="100000"/>
              </a:lnSpc>
              <a:spcBef>
                <a:spcPts val="0"/>
              </a:spcBef>
              <a:spcAft>
                <a:spcPts val="0"/>
              </a:spcAft>
            </a:pPr>
            <a:r>
              <a:rPr sz="1750">
                <a:solidFill>
                  <a:srgbClr val="BCBEC4"/>
                </a:solidFill>
                <a:latin typeface="Consolas"/>
              </a:rPr>
              <a:t>    sortie.</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"Uccle;12"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sortie.</a:t>
            </a:r>
            <a:r>
              <a:rPr sz="1750">
                <a:solidFill>
                  <a:srgbClr val="56A8F5"/>
                </a:solidFill>
                <a:latin typeface="Consolas"/>
              </a:rPr>
              <a:t>printf</a:t>
            </a:r>
            <a:r>
              <a:rPr sz="1750">
                <a:solidFill>
                  <a:srgbClr val="BCBEC4"/>
                </a:solidFill>
                <a:latin typeface="Consolas"/>
              </a:rPr>
              <a:t>(</a:t>
            </a:r>
            <a:r>
              <a:rPr sz="1750">
                <a:solidFill>
                  <a:srgbClr val="6AAB73"/>
                </a:solidFill>
                <a:latin typeface="Consolas"/>
              </a:rPr>
              <a:t>"%s;%d%n"</a:t>
            </a:r>
            <a:r>
              <a:rPr sz="1750">
                <a:solidFill>
                  <a:srgbClr val="BCBEC4"/>
                </a:solidFill>
                <a:latin typeface="Consolas"/>
              </a:rPr>
              <a:t>, </a:t>
            </a:r>
            <a:r>
              <a:rPr sz="1750">
                <a:solidFill>
                  <a:srgbClr val="6AAB73"/>
                </a:solidFill>
                <a:latin typeface="Consolas"/>
              </a:rPr>
              <a:t>"Ostende"</a:t>
            </a:r>
            <a:r>
              <a:rPr sz="1750">
                <a:solidFill>
                  <a:srgbClr val="BCBEC4"/>
                </a:solidFill>
                <a:latin typeface="Consolas"/>
              </a:rPr>
              <a:t>, </a:t>
            </a:r>
            <a:r>
              <a:rPr sz="1750">
                <a:solidFill>
                  <a:srgbClr val="2AACB8"/>
                </a:solidFill>
                <a:latin typeface="Consolas"/>
              </a:rPr>
              <a:t>9</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pic>
        <p:nvPicPr>
          <p:cNvPr id="7" name="Image 6">
            <a:extLst>
              <a:ext uri="{FF2B5EF4-FFF2-40B4-BE49-F238E27FC236}">
                <a16:creationId xmlns:a16="http://schemas.microsoft.com/office/drawing/2014/main" id="{7EE79B47-DC67-9EFF-E612-09616411301B}"/>
              </a:ext>
            </a:extLst>
          </p:cNvPr>
          <p:cNvPicPr>
            <a:picLocks noChangeAspect="1"/>
          </p:cNvPicPr>
          <p:nvPr/>
        </p:nvPicPr>
        <p:blipFill>
          <a:blip r:embed="rId3"/>
          <a:stretch>
            <a:fillRect/>
          </a:stretch>
        </p:blipFill>
        <p:spPr>
          <a:xfrm>
            <a:off x="8417569" y="3471644"/>
            <a:ext cx="3450867" cy="10155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Relire ligne par ligne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La </a:t>
            </a:r>
            <a:r>
              <a:rPr sz="2800" dirty="0" err="1"/>
              <a:t>classe</a:t>
            </a:r>
            <a:r>
              <a:rPr sz="2800" dirty="0"/>
              <a:t> </a:t>
            </a:r>
            <a:r>
              <a:rPr sz="2400" dirty="0">
                <a:solidFill>
                  <a:schemeClr val="accent4"/>
                </a:solidFill>
                <a:latin typeface="Consolas"/>
              </a:rPr>
              <a:t>Scanner</a:t>
            </a:r>
            <a:r>
              <a:rPr sz="2800" dirty="0"/>
              <a:t> lit un </a:t>
            </a:r>
            <a:r>
              <a:rPr sz="2800" dirty="0" err="1"/>
              <a:t>fichier</a:t>
            </a:r>
            <a:r>
              <a:rPr sz="2800" dirty="0"/>
              <a:t> </a:t>
            </a:r>
            <a:r>
              <a:rPr sz="2800" dirty="0" err="1"/>
              <a:t>comme</a:t>
            </a:r>
            <a:r>
              <a:rPr sz="2800" dirty="0"/>
              <a:t> </a:t>
            </a:r>
            <a:r>
              <a:rPr sz="2800" dirty="0" err="1"/>
              <a:t>elle</a:t>
            </a:r>
            <a:r>
              <a:rPr sz="2800" dirty="0"/>
              <a:t> lit le clavier</a:t>
            </a:r>
          </a:p>
          <a:p>
            <a:pPr marL="0" indent="0">
              <a:spcAft>
                <a:spcPts val="1000"/>
              </a:spcAft>
              <a:buNone/>
            </a:pPr>
            <a:r>
              <a:rPr sz="2800" dirty="0"/>
              <a:t>La </a:t>
            </a:r>
            <a:r>
              <a:rPr sz="2800" dirty="0" err="1"/>
              <a:t>méthode</a:t>
            </a:r>
            <a:r>
              <a:rPr sz="2800" dirty="0"/>
              <a:t> </a:t>
            </a:r>
            <a:r>
              <a:rPr sz="2400" dirty="0" err="1">
                <a:solidFill>
                  <a:schemeClr val="accent4"/>
                </a:solidFill>
                <a:latin typeface="Consolas"/>
              </a:rPr>
              <a:t>hasNextLine</a:t>
            </a:r>
            <a:r>
              <a:rPr sz="2800" dirty="0"/>
              <a:t> </a:t>
            </a:r>
            <a:r>
              <a:rPr sz="2800" dirty="0" err="1"/>
              <a:t>dit</a:t>
            </a:r>
            <a:r>
              <a:rPr sz="2800" dirty="0"/>
              <a:t> s'il </a:t>
            </a:r>
            <a:r>
              <a:rPr sz="2800" dirty="0" err="1"/>
              <a:t>reste</a:t>
            </a:r>
            <a:r>
              <a:rPr sz="2800" dirty="0"/>
              <a:t> </a:t>
            </a:r>
            <a:r>
              <a:rPr sz="2800" dirty="0" err="1"/>
              <a:t>une</a:t>
            </a:r>
            <a:r>
              <a:rPr sz="2800" dirty="0"/>
              <a:t> </a:t>
            </a:r>
            <a:r>
              <a:rPr sz="2800" dirty="0" err="1"/>
              <a:t>ligne</a:t>
            </a:r>
            <a:r>
              <a:rPr sz="2800" dirty="0"/>
              <a:t>, </a:t>
            </a:r>
            <a:r>
              <a:rPr sz="2400" dirty="0" err="1">
                <a:solidFill>
                  <a:schemeClr val="accent4"/>
                </a:solidFill>
                <a:latin typeface="Consolas"/>
              </a:rPr>
              <a:t>nextLine</a:t>
            </a:r>
            <a:r>
              <a:rPr sz="2800" dirty="0"/>
              <a:t> la </a:t>
            </a:r>
            <a:r>
              <a:rPr sz="2800" dirty="0" err="1"/>
              <a:t>retourne</a:t>
            </a:r>
            <a:endParaRPr sz="2800" dirty="0"/>
          </a:p>
          <a:p>
            <a:pPr marL="0" indent="0">
              <a:spcAft>
                <a:spcPts val="1000"/>
              </a:spcAft>
              <a:buNone/>
            </a:pPr>
            <a:r>
              <a:rPr sz="2800" dirty="0"/>
              <a:t>La boucle </a:t>
            </a:r>
            <a:r>
              <a:rPr lang="nl-BE" sz="2800" dirty="0"/>
              <a:t>suivante </a:t>
            </a:r>
            <a:r>
              <a:rPr sz="2800" dirty="0" err="1"/>
              <a:t>s'arrête</a:t>
            </a:r>
            <a:r>
              <a:rPr sz="2800" dirty="0"/>
              <a:t> </a:t>
            </a:r>
            <a:r>
              <a:rPr sz="2800" dirty="0" err="1"/>
              <a:t>d'elle-même</a:t>
            </a:r>
            <a:r>
              <a:rPr sz="2800" dirty="0"/>
              <a:t> à la fin du </a:t>
            </a:r>
            <a:r>
              <a:rPr sz="2800" dirty="0" err="1"/>
              <a:t>fichier</a:t>
            </a:r>
            <a:endParaRPr sz="2800" dirty="0"/>
          </a:p>
        </p:txBody>
      </p:sp>
      <p:sp>
        <p:nvSpPr>
          <p:cNvPr id="4" name="Code"/>
          <p:cNvSpPr txBox="1"/>
          <p:nvPr/>
        </p:nvSpPr>
        <p:spPr>
          <a:xfrm>
            <a:off x="2730500" y="4160520"/>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File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(Scanner entree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(fichier))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while</a:t>
            </a:r>
            <a:r>
              <a:rPr sz="1800">
                <a:solidFill>
                  <a:srgbClr val="BCBEC4"/>
                </a:solidFill>
                <a:latin typeface="Consolas"/>
              </a:rPr>
              <a:t> (entree.</a:t>
            </a:r>
            <a:r>
              <a:rPr sz="1800">
                <a:solidFill>
                  <a:srgbClr val="56A8F5"/>
                </a:solidFill>
                <a:latin typeface="Consolas"/>
              </a:rPr>
              <a:t>hasNextLine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(entree.</a:t>
            </a:r>
            <a:r>
              <a:rPr sz="1800">
                <a:solidFill>
                  <a:srgbClr val="56A8F5"/>
                </a:solidFill>
                <a:latin typeface="Consolas"/>
              </a:rPr>
              <a:t>nextLine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ligne, plusieurs champs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 texte ne garde que des caractères : à vous de choisir un séparateur</a:t>
            </a:r>
          </a:p>
          <a:p>
            <a:pPr marL="0" indent="0">
              <a:spcAft>
                <a:spcPts val="1000"/>
              </a:spcAft>
              <a:buNone/>
            </a:pPr>
            <a:r>
              <a:rPr sz="2800"/>
              <a:t>La méthode </a:t>
            </a:r>
            <a:r>
              <a:rPr sz="2400">
                <a:solidFill>
                  <a:schemeClr val="accent4"/>
                </a:solidFill>
                <a:latin typeface="Consolas"/>
              </a:rPr>
              <a:t>split</a:t>
            </a:r>
            <a:r>
              <a:rPr sz="2800"/>
              <a:t> découpe la ligne, </a:t>
            </a:r>
            <a:r>
              <a:rPr sz="2400">
                <a:solidFill>
                  <a:schemeClr val="accent4"/>
                </a:solidFill>
                <a:latin typeface="Consolas"/>
              </a:rPr>
              <a:t>Integer.parseInt</a:t>
            </a:r>
            <a:r>
              <a:rPr sz="2800"/>
              <a:t> reconvertit</a:t>
            </a:r>
          </a:p>
          <a:p>
            <a:pPr marL="0" indent="0">
              <a:spcAft>
                <a:spcPts val="1000"/>
              </a:spcAft>
              <a:buNone/>
            </a:pPr>
            <a:r>
              <a:rPr sz="2800"/>
              <a:t>L'écriture et la relecture suivent le même format, dans les deux sens</a:t>
            </a:r>
          </a:p>
        </p:txBody>
      </p:sp>
      <p:sp>
        <p:nvSpPr>
          <p:cNvPr id="4" name="Code"/>
          <p:cNvSpPr txBox="1"/>
          <p:nvPr/>
        </p:nvSpPr>
        <p:spPr>
          <a:xfrm>
            <a:off x="2819753" y="4587240"/>
            <a:ext cx="655249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String ligne = </a:t>
            </a:r>
            <a:r>
              <a:rPr sz="1750">
                <a:solidFill>
                  <a:srgbClr val="6AAB73"/>
                </a:solidFill>
                <a:latin typeface="Consolas"/>
              </a:rPr>
              <a:t>"Uccle;12"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String[] champs = ligne.</a:t>
            </a:r>
            <a:r>
              <a:rPr sz="1750">
                <a:solidFill>
                  <a:srgbClr val="56A8F5"/>
                </a:solidFill>
                <a:latin typeface="Consolas"/>
              </a:rPr>
              <a:t>split</a:t>
            </a:r>
            <a:r>
              <a:rPr sz="1750">
                <a:solidFill>
                  <a:srgbClr val="BCBEC4"/>
                </a:solidFill>
                <a:latin typeface="Consolas"/>
              </a:rPr>
              <a:t>(</a:t>
            </a:r>
            <a:r>
              <a:rPr sz="1750">
                <a:solidFill>
                  <a:srgbClr val="6AAB73"/>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String station = champs[</a:t>
            </a:r>
            <a:r>
              <a:rPr sz="1750">
                <a:solidFill>
                  <a:srgbClr val="2AACB8"/>
                </a:solidFill>
                <a:latin typeface="Consolas"/>
              </a:rPr>
              <a:t>0</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int</a:t>
            </a:r>
            <a:r>
              <a:rPr sz="1750">
                <a:solidFill>
                  <a:srgbClr val="BCBEC4"/>
                </a:solidFill>
                <a:latin typeface="Consolas"/>
              </a:rPr>
              <a:t> temperature = Integer.</a:t>
            </a:r>
            <a:r>
              <a:rPr sz="1750">
                <a:solidFill>
                  <a:srgbClr val="56A8F5"/>
                </a:solidFill>
                <a:latin typeface="Consolas"/>
              </a:rPr>
              <a:t>parseInt</a:t>
            </a:r>
            <a:r>
              <a:rPr sz="1750">
                <a:solidFill>
                  <a:srgbClr val="BCBEC4"/>
                </a:solidFill>
                <a:latin typeface="Consolas"/>
              </a:rPr>
              <a:t>(champs[</a:t>
            </a:r>
            <a:r>
              <a:rPr sz="1750">
                <a:solidFill>
                  <a:srgbClr val="2AACB8"/>
                </a:solidFill>
                <a:latin typeface="Consolas"/>
              </a:rPr>
              <a:t>1</a:t>
            </a: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nom n'est pas un fichier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a:t>
            </a:r>
            <a:r>
              <a:rPr sz="2800" dirty="0" err="1"/>
              <a:t>objet</a:t>
            </a:r>
            <a:r>
              <a:rPr sz="2800" dirty="0"/>
              <a:t> </a:t>
            </a:r>
            <a:r>
              <a:rPr sz="2400" dirty="0">
                <a:solidFill>
                  <a:schemeClr val="accent4"/>
                </a:solidFill>
                <a:latin typeface="Consolas"/>
              </a:rPr>
              <a:t>File</a:t>
            </a:r>
            <a:r>
              <a:rPr sz="2800" dirty="0"/>
              <a:t> </a:t>
            </a:r>
            <a:r>
              <a:rPr sz="2800" dirty="0" err="1"/>
              <a:t>désigne</a:t>
            </a:r>
            <a:r>
              <a:rPr sz="2800" dirty="0"/>
              <a:t> un chemin : le </a:t>
            </a:r>
            <a:r>
              <a:rPr sz="2800" dirty="0" err="1"/>
              <a:t>créer</a:t>
            </a:r>
            <a:r>
              <a:rPr sz="2800" dirty="0"/>
              <a:t> ne </a:t>
            </a:r>
            <a:r>
              <a:rPr sz="2800" dirty="0" err="1"/>
              <a:t>crée</a:t>
            </a:r>
            <a:r>
              <a:rPr sz="2800" dirty="0"/>
              <a:t> </a:t>
            </a:r>
            <a:r>
              <a:rPr sz="2800" dirty="0" err="1"/>
              <a:t>aucun</a:t>
            </a:r>
            <a:r>
              <a:rPr sz="2800" dirty="0"/>
              <a:t> </a:t>
            </a:r>
            <a:r>
              <a:rPr sz="2800" dirty="0" err="1"/>
              <a:t>fichier</a:t>
            </a:r>
            <a:endParaRPr sz="2800" dirty="0"/>
          </a:p>
          <a:p>
            <a:pPr marL="0" indent="0">
              <a:spcAft>
                <a:spcPts val="1000"/>
              </a:spcAft>
              <a:buNone/>
            </a:pPr>
            <a:r>
              <a:rPr sz="2800" dirty="0"/>
              <a:t>Il </a:t>
            </a:r>
            <a:r>
              <a:rPr lang="nl-BE" sz="2800" dirty="0"/>
              <a:t>permet d’</a:t>
            </a:r>
            <a:r>
              <a:rPr sz="2800" dirty="0" err="1"/>
              <a:t>interroge</a:t>
            </a:r>
            <a:r>
              <a:rPr lang="nl-BE" sz="2800" dirty="0"/>
              <a:t>r</a:t>
            </a:r>
            <a:r>
              <a:rPr sz="2800" dirty="0"/>
              <a:t> le </a:t>
            </a:r>
            <a:r>
              <a:rPr sz="2800" dirty="0" err="1"/>
              <a:t>système</a:t>
            </a:r>
            <a:r>
              <a:rPr sz="2800" dirty="0"/>
              <a:t> : </a:t>
            </a:r>
            <a:r>
              <a:rPr sz="2400" dirty="0">
                <a:solidFill>
                  <a:schemeClr val="accent4"/>
                </a:solidFill>
                <a:latin typeface="Consolas"/>
              </a:rPr>
              <a:t>exists</a:t>
            </a:r>
            <a:r>
              <a:rPr sz="2800" dirty="0"/>
              <a:t>, </a:t>
            </a:r>
            <a:r>
              <a:rPr sz="2400" dirty="0">
                <a:solidFill>
                  <a:schemeClr val="accent4"/>
                </a:solidFill>
                <a:latin typeface="Consolas"/>
              </a:rPr>
              <a:t>length</a:t>
            </a:r>
            <a:r>
              <a:rPr sz="2800" dirty="0"/>
              <a:t>, </a:t>
            </a:r>
            <a:r>
              <a:rPr sz="2400" dirty="0" err="1">
                <a:solidFill>
                  <a:schemeClr val="accent4"/>
                </a:solidFill>
                <a:latin typeface="Consolas"/>
              </a:rPr>
              <a:t>mkdirs</a:t>
            </a:r>
            <a:endParaRPr sz="2400" dirty="0">
              <a:solidFill>
                <a:schemeClr val="accent4"/>
              </a:solidFill>
              <a:latin typeface="Consolas"/>
            </a:endParaRPr>
          </a:p>
          <a:p>
            <a:pPr marL="0" indent="0">
              <a:spcAft>
                <a:spcPts val="1000"/>
              </a:spcAft>
              <a:buNone/>
            </a:pPr>
            <a:r>
              <a:rPr sz="2800" dirty="0"/>
              <a:t>Les </a:t>
            </a:r>
            <a:r>
              <a:rPr sz="2800" dirty="0" err="1"/>
              <a:t>constructeurs</a:t>
            </a:r>
            <a:r>
              <a:rPr sz="2800" dirty="0"/>
              <a:t> de flux </a:t>
            </a:r>
            <a:r>
              <a:rPr sz="2800" dirty="0" err="1"/>
              <a:t>acceptent</a:t>
            </a:r>
            <a:r>
              <a:rPr sz="2800" dirty="0"/>
              <a:t> un </a:t>
            </a:r>
            <a:r>
              <a:rPr sz="2400" dirty="0">
                <a:solidFill>
                  <a:schemeClr val="accent4"/>
                </a:solidFill>
                <a:latin typeface="Consolas"/>
              </a:rPr>
              <a:t>File</a:t>
            </a:r>
            <a:r>
              <a:rPr sz="2800" dirty="0"/>
              <a:t> </a:t>
            </a:r>
            <a:r>
              <a:rPr sz="2800" dirty="0" err="1"/>
              <a:t>comme</a:t>
            </a:r>
            <a:r>
              <a:rPr sz="2800" dirty="0"/>
              <a:t> </a:t>
            </a:r>
            <a:r>
              <a:rPr sz="2800" dirty="0" err="1"/>
              <a:t>une</a:t>
            </a:r>
            <a:r>
              <a:rPr sz="2800" dirty="0"/>
              <a:t> </a:t>
            </a:r>
            <a:r>
              <a:rPr sz="2800" dirty="0" err="1"/>
              <a:t>chaîne</a:t>
            </a:r>
            <a:endParaRPr sz="2800" dirty="0"/>
          </a:p>
        </p:txBody>
      </p:sp>
      <p:sp>
        <p:nvSpPr>
          <p:cNvPr id="4" name="Code"/>
          <p:cNvSpPr txBox="1"/>
          <p:nvPr/>
        </p:nvSpPr>
        <p:spPr>
          <a:xfrm>
            <a:off x="640080" y="4160520"/>
            <a:ext cx="1088136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File dossier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File fichier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(dossier, </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dossier.</a:t>
            </a:r>
            <a:r>
              <a:rPr sz="1800">
                <a:solidFill>
                  <a:srgbClr val="56A8F5"/>
                </a:solidFill>
                <a:latin typeface="Consolas"/>
              </a:rPr>
              <a:t>mkdirs</a:t>
            </a:r>
            <a:r>
              <a:rPr sz="1800">
                <a:solidFill>
                  <a:srgbClr val="BCBEC4"/>
                </a:solidFill>
                <a:latin typeface="Consolas"/>
              </a:rPr>
              <a:t>();                       </a:t>
            </a:r>
            <a:r>
              <a:rPr sz="1800">
                <a:solidFill>
                  <a:srgbClr val="7A7E85"/>
                </a:solidFill>
                <a:latin typeface="Consolas"/>
              </a:rPr>
              <a:t>// cree le dossier s'il manque</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(fichier.</a:t>
            </a:r>
            <a:r>
              <a:rPr sz="1800">
                <a:solidFill>
                  <a:srgbClr val="56A8F5"/>
                </a:solidFill>
                <a:latin typeface="Consolas"/>
              </a:rPr>
              <a:t>exists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(fichier.</a:t>
            </a:r>
            <a:r>
              <a:rPr sz="1800">
                <a:solidFill>
                  <a:srgbClr val="56A8F5"/>
                </a:solidFill>
                <a:latin typeface="Consolas"/>
              </a:rPr>
              <a:t>length</a:t>
            </a:r>
            <a:r>
              <a:rPr sz="1800">
                <a:solidFill>
                  <a:srgbClr val="BCBEC4"/>
                </a:solidFill>
                <a:latin typeface="Consolas"/>
              </a:rPr>
              <a:t>());   </a:t>
            </a:r>
            <a:r>
              <a:rPr sz="1800">
                <a:solidFill>
                  <a:srgbClr val="7A7E85"/>
                </a:solidFill>
                <a:latin typeface="Consolas"/>
              </a:rPr>
              <a:t>// en octets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Path</a:t>
            </a:r>
            <a:r>
              <a:rPr sz="4000"/>
              <a:t> et </a:t>
            </a:r>
            <a:r>
              <a:rPr sz="3400">
                <a:solidFill>
                  <a:schemeClr val="accent4"/>
                </a:solidFill>
                <a:latin typeface="Consolas"/>
              </a:rPr>
              <a:t>Files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7, l'interface </a:t>
            </a:r>
            <a:r>
              <a:rPr sz="2400">
                <a:solidFill>
                  <a:schemeClr val="accent4"/>
                </a:solidFill>
                <a:latin typeface="Consolas"/>
              </a:rPr>
              <a:t>Path</a:t>
            </a:r>
            <a:r>
              <a:rPr sz="2800"/>
              <a:t> désigne un chemin, comme </a:t>
            </a:r>
            <a:r>
              <a:rPr sz="2400">
                <a:solidFill>
                  <a:schemeClr val="accent4"/>
                </a:solidFill>
                <a:latin typeface="Consolas"/>
              </a:rPr>
              <a:t>File</a:t>
            </a:r>
          </a:p>
          <a:p>
            <a:pPr marL="0" indent="0">
              <a:spcAft>
                <a:spcPts val="1000"/>
              </a:spcAft>
              <a:buNone/>
            </a:pPr>
            <a:r>
              <a:rPr sz="2800"/>
              <a:t>La classe </a:t>
            </a:r>
            <a:r>
              <a:rPr sz="2400">
                <a:solidFill>
                  <a:schemeClr val="accent4"/>
                </a:solidFill>
                <a:latin typeface="Consolas"/>
              </a:rPr>
              <a:t>Files</a:t>
            </a:r>
            <a:r>
              <a:rPr sz="2800"/>
              <a:t> regroupe des méthodes statiques prêtes à l'emploi</a:t>
            </a:r>
          </a:p>
          <a:p>
            <a:pPr marL="0" indent="0">
              <a:spcAft>
                <a:spcPts val="1000"/>
              </a:spcAft>
              <a:buNone/>
            </a:pPr>
            <a:r>
              <a:rPr sz="2800"/>
              <a:t>Elles ouvrent et ferment le fichier elles-mêmes</a:t>
            </a:r>
          </a:p>
        </p:txBody>
      </p:sp>
      <p:sp>
        <p:nvSpPr>
          <p:cNvPr id="4" name="Code"/>
          <p:cNvSpPr txBox="1"/>
          <p:nvPr/>
        </p:nvSpPr>
        <p:spPr>
          <a:xfrm>
            <a:off x="2520950" y="4160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Path chemin = Path.</a:t>
            </a:r>
            <a:r>
              <a:rPr sz="1800">
                <a:solidFill>
                  <a:srgbClr val="56A8F5"/>
                </a:solidFill>
                <a:latin typeface="Consolas"/>
              </a:rPr>
              <a:t>of</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 </a:t>
            </a:r>
            <a:r>
              <a:rPr sz="1800">
                <a:solidFill>
                  <a:srgbClr val="6AAB73"/>
                </a:solidFill>
                <a:latin typeface="Consolas"/>
              </a:rPr>
              <a:t>"uccle.txt"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Files.</a:t>
            </a:r>
            <a:r>
              <a:rPr sz="1800">
                <a:solidFill>
                  <a:srgbClr val="56A8F5"/>
                </a:solidFill>
                <a:latin typeface="Consolas"/>
              </a:rPr>
              <a:t>writeString</a:t>
            </a:r>
            <a:r>
              <a:rPr sz="1800">
                <a:solidFill>
                  <a:srgbClr val="BCBEC4"/>
                </a:solidFill>
                <a:latin typeface="Consolas"/>
              </a:rPr>
              <a:t>(chemin, </a:t>
            </a:r>
            <a:r>
              <a:rPr sz="1800">
                <a:solidFill>
                  <a:srgbClr val="6AAB73"/>
                </a:solidFill>
                <a:latin typeface="Consolas"/>
              </a:rPr>
              <a:t>"Uccle;12\n"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List&lt;String&gt; lignes = Files.</a:t>
            </a:r>
            <a:r>
              <a:rPr sz="1800">
                <a:solidFill>
                  <a:srgbClr val="56A8F5"/>
                </a:solidFill>
                <a:latin typeface="Consolas"/>
              </a:rPr>
              <a:t>readAllLines</a:t>
            </a:r>
            <a:r>
              <a:rPr sz="1800">
                <a:solidFill>
                  <a:srgbClr val="BCBEC4"/>
                </a:solidFill>
                <a:latin typeface="Consolas"/>
              </a:rPr>
              <a:t>(chemin);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IC_section4.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7005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Écrire l'objet tel quel</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format à inventer pour chaque classe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texte demande, pour chaque classe, un format, une écriture, une relecture</a:t>
            </a:r>
          </a:p>
          <a:p>
            <a:pPr marL="0" indent="0">
              <a:spcAft>
                <a:spcPts val="1000"/>
              </a:spcAft>
              <a:buNone/>
            </a:pPr>
            <a:r>
              <a:rPr sz="2800"/>
              <a:t>Plus l'objet est riche, plus le format se complique</a:t>
            </a:r>
          </a:p>
          <a:p>
            <a:pPr marL="0" indent="0">
              <a:spcAft>
                <a:spcPts val="1000"/>
              </a:spcAft>
              <a:buNone/>
            </a:pPr>
            <a:r>
              <a:rPr sz="2800"/>
              <a:t>Java sait-il écrire l'objet lui-même ?</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Les mêmes données, deux fois</a:t>
            </a:r>
          </a:p>
          <a:p>
            <a:pPr>
              <a:spcBef>
                <a:spcPts val="1200"/>
              </a:spcBef>
            </a:pPr>
            <a:r>
              <a:rPr sz="1400">
                <a:solidFill>
                  <a:srgbClr val="BCBEC4"/>
                </a:solidFill>
              </a:rPr>
              <a:t>Déroulé : Demo_FIC</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flux d'objets</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La classe </a:t>
            </a:r>
            <a:r>
              <a:rPr sz="2200">
                <a:solidFill>
                  <a:schemeClr val="accent4"/>
                </a:solidFill>
                <a:latin typeface="Consolas"/>
              </a:rPr>
              <a:t>ObjectOutputStream</a:t>
            </a:r>
            <a:r>
              <a:rPr sz="2600"/>
              <a:t> est une couche de plus, comme en 1.5</a:t>
            </a:r>
          </a:p>
          <a:p>
            <a:pPr marL="0" indent="0">
              <a:spcAft>
                <a:spcPts val="1000"/>
              </a:spcAft>
              <a:buNone/>
            </a:pPr>
            <a:r>
              <a:rPr sz="2600"/>
              <a:t>Elle ajoute </a:t>
            </a:r>
            <a:r>
              <a:rPr sz="2200">
                <a:solidFill>
                  <a:schemeClr val="accent4"/>
                </a:solidFill>
                <a:latin typeface="Consolas"/>
              </a:rPr>
              <a:t>writeObject</a:t>
            </a:r>
            <a:r>
              <a:rPr sz="2600"/>
              <a:t> aux méthodes des types primitifs</a:t>
            </a:r>
          </a:p>
          <a:p>
            <a:pPr marL="0" indent="0">
              <a:spcAft>
                <a:spcPts val="1000"/>
              </a:spcAft>
              <a:buNone/>
            </a:pPr>
            <a:r>
              <a:rPr sz="2600"/>
              <a:t>On relit dans l'ordre d'écriture, et on transtype</a:t>
            </a:r>
          </a:p>
        </p:txBody>
      </p:sp>
      <p:sp>
        <p:nvSpPr>
          <p:cNvPr id="4" name="Code"/>
          <p:cNvSpPr txBox="1"/>
          <p:nvPr/>
        </p:nvSpPr>
        <p:spPr>
          <a:xfrm>
            <a:off x="2171700" y="361187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ecrire : les methodes de DataOutputStream, plus une</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2026</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sortie.</a:t>
            </a:r>
            <a:r>
              <a:rPr sz="1800">
                <a:solidFill>
                  <a:srgbClr val="56A8F5"/>
                </a:solidFill>
                <a:latin typeface="Consolas"/>
              </a:rPr>
              <a:t>writeObject</a:t>
            </a:r>
            <a:r>
              <a:rPr sz="1800">
                <a:solidFill>
                  <a:srgbClr val="BCBEC4"/>
                </a:solidFill>
                <a:latin typeface="Consolas"/>
              </a:rPr>
              <a:t>(releve);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relire : dans le meme ordre</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annee = entree.</a:t>
            </a:r>
            <a:r>
              <a:rPr sz="1800">
                <a:solidFill>
                  <a:srgbClr val="56A8F5"/>
                </a:solidFill>
                <a:latin typeface="Consolas"/>
              </a:rPr>
              <a:t>readInt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Releve lu = (Releve) entree.</a:t>
            </a:r>
            <a:r>
              <a:rPr sz="1800">
                <a:solidFill>
                  <a:srgbClr val="56A8F5"/>
                </a:solidFill>
                <a:latin typeface="Consolas"/>
              </a:rPr>
              <a:t>readObject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étiquette, pas un contrat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dirty="0" err="1"/>
              <a:t>L'interface</a:t>
            </a:r>
            <a:r>
              <a:rPr sz="2400" dirty="0"/>
              <a:t> </a:t>
            </a:r>
            <a:r>
              <a:rPr sz="2100" dirty="0">
                <a:solidFill>
                  <a:schemeClr val="accent4"/>
                </a:solidFill>
                <a:latin typeface="Consolas"/>
              </a:rPr>
              <a:t>Serializable</a:t>
            </a:r>
            <a:r>
              <a:rPr sz="2400" dirty="0"/>
              <a:t> ne </a:t>
            </a:r>
            <a:r>
              <a:rPr sz="2400" dirty="0" err="1"/>
              <a:t>déclare</a:t>
            </a:r>
            <a:r>
              <a:rPr sz="2400" dirty="0"/>
              <a:t> </a:t>
            </a:r>
            <a:r>
              <a:rPr sz="2400" dirty="0" err="1"/>
              <a:t>aucune</a:t>
            </a:r>
            <a:r>
              <a:rPr sz="2400" dirty="0"/>
              <a:t> </a:t>
            </a:r>
            <a:r>
              <a:rPr sz="2400" dirty="0" err="1"/>
              <a:t>méthode</a:t>
            </a:r>
            <a:r>
              <a:rPr sz="2400" dirty="0"/>
              <a:t> : </a:t>
            </a:r>
            <a:r>
              <a:rPr sz="2400" dirty="0" err="1"/>
              <a:t>c'est</a:t>
            </a:r>
            <a:r>
              <a:rPr sz="2400" dirty="0"/>
              <a:t> un </a:t>
            </a:r>
            <a:r>
              <a:rPr sz="2400" dirty="0" err="1"/>
              <a:t>marqueur</a:t>
            </a:r>
            <a:endParaRPr sz="2400" dirty="0"/>
          </a:p>
          <a:p>
            <a:pPr marL="0" indent="0">
              <a:spcAft>
                <a:spcPts val="1000"/>
              </a:spcAft>
              <a:buNone/>
            </a:pPr>
            <a:r>
              <a:rPr sz="2400" dirty="0"/>
              <a:t>Rien </a:t>
            </a:r>
            <a:r>
              <a:rPr sz="2400" dirty="0" err="1"/>
              <a:t>n'est</a:t>
            </a:r>
            <a:r>
              <a:rPr sz="2400" dirty="0"/>
              <a:t> </a:t>
            </a:r>
            <a:r>
              <a:rPr sz="2400" dirty="0" err="1"/>
              <a:t>vérifié</a:t>
            </a:r>
            <a:r>
              <a:rPr sz="2400" dirty="0"/>
              <a:t> à la compilation : </a:t>
            </a:r>
            <a:r>
              <a:rPr lang="nl-BE" sz="2400" dirty="0"/>
              <a:t>en cas de problème, </a:t>
            </a:r>
            <a:r>
              <a:rPr sz="2400" dirty="0" err="1"/>
              <a:t>l'écriture</a:t>
            </a:r>
            <a:r>
              <a:rPr sz="2400" dirty="0"/>
              <a:t> </a:t>
            </a:r>
            <a:r>
              <a:rPr sz="2400" dirty="0" err="1"/>
              <a:t>échoue</a:t>
            </a:r>
            <a:r>
              <a:rPr sz="2400" dirty="0"/>
              <a:t> à </a:t>
            </a:r>
            <a:r>
              <a:rPr sz="2400" dirty="0" err="1"/>
              <a:t>l'exécution</a:t>
            </a:r>
            <a:endParaRPr sz="2400" dirty="0"/>
          </a:p>
          <a:p>
            <a:pPr marL="0" indent="0">
              <a:spcAft>
                <a:spcPts val="1000"/>
              </a:spcAft>
              <a:buNone/>
            </a:pPr>
            <a:r>
              <a:rPr sz="2400" dirty="0"/>
              <a:t>Le JDK </a:t>
            </a:r>
            <a:r>
              <a:rPr sz="2400" dirty="0" err="1"/>
              <a:t>l'a</a:t>
            </a:r>
            <a:r>
              <a:rPr sz="2400" dirty="0"/>
              <a:t> </a:t>
            </a:r>
            <a:r>
              <a:rPr sz="2400" dirty="0" err="1"/>
              <a:t>posée</a:t>
            </a:r>
            <a:r>
              <a:rPr sz="2400" dirty="0"/>
              <a:t> sur </a:t>
            </a:r>
            <a:r>
              <a:rPr sz="2100" dirty="0">
                <a:solidFill>
                  <a:schemeClr val="accent4"/>
                </a:solidFill>
                <a:latin typeface="Consolas"/>
              </a:rPr>
              <a:t>String</a:t>
            </a:r>
            <a:r>
              <a:rPr sz="2400" dirty="0"/>
              <a:t>, </a:t>
            </a:r>
            <a:r>
              <a:rPr sz="2100" dirty="0">
                <a:solidFill>
                  <a:schemeClr val="accent4"/>
                </a:solidFill>
                <a:latin typeface="Consolas"/>
              </a:rPr>
              <a:t>Integer</a:t>
            </a:r>
            <a:r>
              <a:rPr sz="2400" dirty="0"/>
              <a:t>, </a:t>
            </a:r>
            <a:r>
              <a:rPr sz="2100" dirty="0" err="1">
                <a:solidFill>
                  <a:schemeClr val="accent4"/>
                </a:solidFill>
                <a:latin typeface="Consolas"/>
              </a:rPr>
              <a:t>ArrayList</a:t>
            </a:r>
            <a:r>
              <a:rPr sz="2400" dirty="0"/>
              <a:t>, </a:t>
            </a:r>
            <a:r>
              <a:rPr sz="2100" dirty="0" err="1">
                <a:solidFill>
                  <a:schemeClr val="accent4"/>
                </a:solidFill>
                <a:latin typeface="Consolas"/>
              </a:rPr>
              <a:t>LocalDate</a:t>
            </a:r>
            <a:r>
              <a:rPr sz="2400" dirty="0"/>
              <a:t>…</a:t>
            </a:r>
          </a:p>
        </p:txBody>
      </p:sp>
      <p:sp>
        <p:nvSpPr>
          <p:cNvPr id="4" name="Code"/>
          <p:cNvSpPr txBox="1"/>
          <p:nvPr/>
        </p:nvSpPr>
        <p:spPr>
          <a:xfrm>
            <a:off x="1892300" y="38557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Releve </a:t>
            </a:r>
            <a:r>
              <a:rPr sz="1800">
                <a:solidFill>
                  <a:srgbClr val="CF8E6D"/>
                </a:solidFill>
                <a:latin typeface="Consolas"/>
              </a:rPr>
              <a:t>implements</a:t>
            </a:r>
            <a:r>
              <a:rPr sz="1800">
                <a:solidFill>
                  <a:srgbClr val="BCBEC4"/>
                </a:solidFill>
                <a:latin typeface="Consolas"/>
              </a:rPr>
              <a:t> Serializable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station;</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temperature;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constructeur et accesseurs : rien d'autre a ajouter</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s'arrête un fichier</a:t>
            </a:r>
          </a:p>
        </p:txBody>
      </p:sp>
      <p:sp>
        <p:nvSpPr>
          <p:cNvPr id="3" name="TextBox 2"/>
          <p:cNvSpPr txBox="1"/>
          <p:nvPr/>
        </p:nvSpPr>
        <p:spPr>
          <a:xfrm>
            <a:off x="777240" y="1371600"/>
            <a:ext cx="4639842" cy="585216"/>
          </a:xfrm>
          <a:prstGeom prst="rect">
            <a:avLst/>
          </a:prstGeom>
          <a:noFill/>
        </p:spPr>
        <p:txBody>
          <a:bodyPr wrap="square" anchor="ctr">
            <a:spAutoFit/>
          </a:bodyPr>
          <a:lstStyle/>
          <a:p>
            <a:r>
              <a:rPr sz="2000" b="1">
                <a:solidFill>
                  <a:schemeClr val="accent4"/>
                </a:solidFill>
              </a:rPr>
              <a:t>Méthode de lecture</a:t>
            </a:r>
          </a:p>
        </p:txBody>
      </p:sp>
      <p:sp>
        <p:nvSpPr>
          <p:cNvPr id="4" name="TextBox 3"/>
          <p:cNvSpPr txBox="1"/>
          <p:nvPr/>
        </p:nvSpPr>
        <p:spPr>
          <a:xfrm>
            <a:off x="5691402" y="1371600"/>
            <a:ext cx="5692877" cy="585216"/>
          </a:xfrm>
          <a:prstGeom prst="rect">
            <a:avLst/>
          </a:prstGeom>
          <a:noFill/>
        </p:spPr>
        <p:txBody>
          <a:bodyPr wrap="square" anchor="ctr">
            <a:spAutoFit/>
          </a:bodyPr>
          <a:lstStyle/>
          <a:p>
            <a:r>
              <a:rPr sz="2000" b="1">
                <a:solidFill>
                  <a:schemeClr val="accent4"/>
                </a:solidFill>
              </a:rPr>
              <a:t>Comment s'annonce la fin</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4639842" cy="585216"/>
            </a:xfrm>
            <a:prstGeom prst="rect">
              <a:avLst/>
            </a:prstGeom>
            <a:noFill/>
          </p:spPr>
          <p:txBody>
            <a:bodyPr wrap="square" anchor="ctr">
              <a:spAutoFit/>
            </a:bodyPr>
            <a:lstStyle/>
            <a:p>
              <a:r>
                <a:rPr sz="1900">
                  <a:solidFill>
                    <a:schemeClr val="accent4"/>
                  </a:solidFill>
                  <a:latin typeface="Consolas"/>
                </a:rPr>
                <a:t>Scanner.nextLine</a:t>
              </a:r>
            </a:p>
          </p:txBody>
        </p:sp>
        <p:sp>
          <p:nvSpPr>
            <p:cNvPr id="7" name="TextBox 6"/>
            <p:cNvSpPr txBox="1"/>
            <p:nvPr/>
          </p:nvSpPr>
          <p:spPr>
            <a:xfrm>
              <a:off x="5691402" y="2029967"/>
              <a:ext cx="5692877" cy="585216"/>
            </a:xfrm>
            <a:prstGeom prst="rect">
              <a:avLst/>
            </a:prstGeom>
            <a:noFill/>
          </p:spPr>
          <p:txBody>
            <a:bodyPr wrap="square" anchor="ctr">
              <a:spAutoFit/>
            </a:bodyPr>
            <a:lstStyle/>
            <a:p>
              <a:r>
                <a:rPr sz="1900">
                  <a:solidFill>
                    <a:schemeClr val="accent4"/>
                  </a:solidFill>
                  <a:latin typeface="Consolas"/>
                </a:rPr>
                <a:t>hasNextLine()</a:t>
              </a:r>
              <a:r>
                <a:rPr sz="2200">
                  <a:solidFill>
                    <a:srgbClr val="FFFFFF"/>
                  </a:solidFill>
                </a:rPr>
                <a:t> retourne </a:t>
              </a:r>
              <a:r>
                <a:rPr sz="1900">
                  <a:solidFill>
                    <a:schemeClr val="accent4"/>
                  </a:solidFill>
                  <a:latin typeface="Consolas"/>
                </a:rPr>
                <a:t>false</a:t>
              </a:r>
              <a:r>
                <a:rPr sz="2200">
                  <a:solidFill>
                    <a:srgbClr val="FFFFFF"/>
                  </a:solidFill>
                </a:rPr>
                <a:t> avant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4639842" cy="585216"/>
            </a:xfrm>
            <a:prstGeom prst="rect">
              <a:avLst/>
            </a:prstGeom>
            <a:noFill/>
          </p:spPr>
          <p:txBody>
            <a:bodyPr wrap="square" anchor="ctr">
              <a:spAutoFit/>
            </a:bodyPr>
            <a:lstStyle/>
            <a:p>
              <a:r>
                <a:rPr sz="1900">
                  <a:solidFill>
                    <a:schemeClr val="accent4"/>
                  </a:solidFill>
                  <a:latin typeface="Consolas"/>
                </a:rPr>
                <a:t>BufferedReader.readLine</a:t>
              </a:r>
            </a:p>
          </p:txBody>
        </p:sp>
        <p:sp>
          <p:nvSpPr>
            <p:cNvPr id="10" name="TextBox 9"/>
            <p:cNvSpPr txBox="1"/>
            <p:nvPr/>
          </p:nvSpPr>
          <p:spPr>
            <a:xfrm>
              <a:off x="5691402" y="2688335"/>
              <a:ext cx="5692877" cy="585216"/>
            </a:xfrm>
            <a:prstGeom prst="rect">
              <a:avLst/>
            </a:prstGeom>
            <a:noFill/>
          </p:spPr>
          <p:txBody>
            <a:bodyPr wrap="square" anchor="ctr">
              <a:spAutoFit/>
            </a:bodyPr>
            <a:lstStyle/>
            <a:p>
              <a:r>
                <a:rPr sz="2200">
                  <a:solidFill>
                    <a:srgbClr val="FFFFFF"/>
                  </a:solidFill>
                </a:rPr>
                <a:t>la méthode retourne </a:t>
              </a:r>
              <a:r>
                <a:rPr sz="1900">
                  <a:solidFill>
                    <a:schemeClr val="accent4"/>
                  </a:solidFill>
                  <a:latin typeface="Consolas"/>
                </a:rPr>
                <a:t>null</a:t>
              </a: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4639842" cy="585216"/>
            </a:xfrm>
            <a:prstGeom prst="rect">
              <a:avLst/>
            </a:prstGeom>
            <a:noFill/>
          </p:spPr>
          <p:txBody>
            <a:bodyPr wrap="square" anchor="ctr">
              <a:spAutoFit/>
            </a:bodyPr>
            <a:lstStyle/>
            <a:p>
              <a:r>
                <a:rPr sz="1900">
                  <a:solidFill>
                    <a:schemeClr val="accent4"/>
                  </a:solidFill>
                  <a:latin typeface="Consolas"/>
                </a:rPr>
                <a:t>DataInputStream.readInt</a:t>
              </a:r>
            </a:p>
          </p:txBody>
        </p:sp>
        <p:sp>
          <p:nvSpPr>
            <p:cNvPr id="13" name="TextBox 12"/>
            <p:cNvSpPr txBox="1"/>
            <p:nvPr/>
          </p:nvSpPr>
          <p:spPr>
            <a:xfrm>
              <a:off x="5691402" y="3346703"/>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4639842" cy="585216"/>
            </a:xfrm>
            <a:prstGeom prst="rect">
              <a:avLst/>
            </a:prstGeom>
            <a:noFill/>
          </p:spPr>
          <p:txBody>
            <a:bodyPr wrap="square" anchor="ctr">
              <a:spAutoFit/>
            </a:bodyPr>
            <a:lstStyle/>
            <a:p>
              <a:r>
                <a:rPr sz="1900">
                  <a:solidFill>
                    <a:schemeClr val="accent4"/>
                  </a:solidFill>
                  <a:latin typeface="Consolas"/>
                </a:rPr>
                <a:t>ObjectInputStream.readObject</a:t>
              </a:r>
            </a:p>
          </p:txBody>
        </p:sp>
        <p:sp>
          <p:nvSpPr>
            <p:cNvPr id="16" name="TextBox 15"/>
            <p:cNvSpPr txBox="1"/>
            <p:nvPr/>
          </p:nvSpPr>
          <p:spPr>
            <a:xfrm>
              <a:off x="5691402" y="4005071"/>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FIC.2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Enregistrer des objets</a:t>
              </a:r>
            </a:p>
            <a:p>
              <a:r>
                <a:rPr sz="1400">
                  <a:solidFill>
                    <a:srgbClr val="BCBEC4"/>
                  </a:solidFill>
                </a:rPr>
                <a:t>fascicule FIC</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FIC.3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Enregistrer du texte</a:t>
              </a:r>
            </a:p>
            <a:p>
              <a:r>
                <a:rPr sz="1400">
                  <a:solidFill>
                    <a:srgbClr val="BCBEC4"/>
                  </a:solidFill>
                </a:rPr>
                <a:t>fascicule FIC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journal qui survit</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Chaque partie écrite dans un fichier, relue au lancement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115402</TotalTime>
  <Words>4058</Words>
  <Application>Microsoft Macintosh PowerPoint</Application>
  <PresentationFormat>Grand écran</PresentationFormat>
  <Paragraphs>301</Paragraphs>
  <Slides>26</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Aptos</vt:lpstr>
      <vt:lpstr>Arial</vt:lpstr>
      <vt:lpstr>Calibri</vt:lpstr>
      <vt:lpstr>Consolas</vt:lpstr>
      <vt:lpstr>Corbel</vt:lpstr>
      <vt:lpstr>ThemeEphec2022</vt:lpstr>
      <vt:lpstr>JAVA 2</vt:lpstr>
      <vt:lpstr>Au programme</vt:lpstr>
      <vt:lpstr>Présentation PowerPoint</vt:lpstr>
      <vt:lpstr>Tout s'efface à l'arrêt</vt:lpstr>
      <vt:lpstr>Vous écrivez déjà dans un flux</vt:lpstr>
      <vt:lpstr>Deux familles, quatre racines</vt:lpstr>
      <vt:lpstr>Les flux s'emboîtent</vt:lpstr>
      <vt:lpstr>Exercices</vt:lpstr>
      <vt:lpstr>Présentation PowerPoint</vt:lpstr>
      <vt:lpstr>Un flux ouvert se ferme</vt:lpstr>
      <vt:lpstr>Le try avec ressources</vt:lpstr>
      <vt:lpstr>IOException, une exception contrôlée</vt:lpstr>
      <vt:lpstr>Présentation PowerPoint</vt:lpstr>
      <vt:lpstr>Écrire comme sur la console</vt:lpstr>
      <vt:lpstr>Relire ligne par ligne</vt:lpstr>
      <vt:lpstr>Une ligne, plusieurs champs</vt:lpstr>
      <vt:lpstr>Un nom n'est pas un fichier</vt:lpstr>
      <vt:lpstr>Path et Files</vt:lpstr>
      <vt:lpstr>Présentation PowerPoint</vt:lpstr>
      <vt:lpstr>Un format à inventer pour chaque classe</vt:lpstr>
      <vt:lpstr>Démonstration</vt:lpstr>
      <vt:lpstr>Les flux d'objets</vt:lpstr>
      <vt:lpstr>Une étiquette, pas un contrat</vt:lpstr>
      <vt:lpstr>Où s'arrête un fichier</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36</cp:revision>
  <dcterms:created xsi:type="dcterms:W3CDTF">2023-01-04T13:50:20Z</dcterms:created>
  <dcterms:modified xsi:type="dcterms:W3CDTF">2026-10-16T04:48:24Z</dcterms:modified>
</cp:coreProperties>
</file>