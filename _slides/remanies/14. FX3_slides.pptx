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4"/>
  </p:notesMasterIdLst>
  <p:handoutMasterIdLst>
    <p:handoutMasterId r:id="rId35"/>
  </p:handoutMasterIdLst>
  <p:sldIdLst>
    <p:sldId id="568" r:id="rId2"/>
    <p:sldId id="599"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 id="594" r:id="rId29"/>
    <p:sldId id="600" r:id="rId30"/>
    <p:sldId id="596" r:id="rId31"/>
    <p:sldId id="597" r:id="rId32"/>
    <p:sldId id="59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234C96BF-41CE-5356-B8A1-0FF440802D5E}">
          <p14:sldIdLst>
            <p14:sldId id="568"/>
            <p14:sldId id="599"/>
          </p14:sldIdLst>
        </p14:section>
        <p14:section name="1. Le projet" id="{E229A000-0593-5BE8-92AB-7E2BA01D66B9}">
          <p14:sldIdLst>
            <p14:sldId id="569"/>
            <p14:sldId id="570"/>
            <p14:sldId id="571"/>
            <p14:sldId id="572"/>
            <p14:sldId id="573"/>
          </p14:sldIdLst>
        </p14:section>
        <p14:section name="2. La vue" id="{1820D26B-46B9-50E6-9557-2F3421FC4B19}">
          <p14:sldIdLst>
            <p14:sldId id="574"/>
            <p14:sldId id="575"/>
            <p14:sldId id="576"/>
            <p14:sldId id="577"/>
            <p14:sldId id="578"/>
            <p14:sldId id="579"/>
            <p14:sldId id="580"/>
            <p14:sldId id="581"/>
            <p14:sldId id="582"/>
            <p14:sldId id="583"/>
            <p14:sldId id="584"/>
          </p14:sldIdLst>
        </p14:section>
        <p14:section name="3. Le contrôleur" id="{BEEB1BC6-BFD7-5AA8-B056-C57533101123}">
          <p14:sldIdLst>
            <p14:sldId id="585"/>
            <p14:sldId id="586"/>
            <p14:sldId id="587"/>
            <p14:sldId id="588"/>
            <p14:sldId id="589"/>
            <p14:sldId id="590"/>
          </p14:sldIdLst>
        </p14:section>
        <p14:section name="4. Le modèle" id="{7FC8A5E3-EC8A-567F-A5E3-63AF0F580B84}">
          <p14:sldIdLst>
            <p14:sldId id="591"/>
            <p14:sldId id="592"/>
            <p14:sldId id="593"/>
            <p14:sldId id="594"/>
            <p14:sldId id="600"/>
            <p14:sldId id="596"/>
            <p14:sldId id="597"/>
            <p14:sldId id="5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78"/>
    <p:restoredTop sz="96302"/>
  </p:normalViewPr>
  <p:slideViewPr>
    <p:cSldViewPr snapToGrid="0">
      <p:cViewPr varScale="1">
        <p:scale>
          <a:sx n="135" d="100"/>
          <a:sy n="135" d="100"/>
        </p:scale>
        <p:origin x="168" y="576"/>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deck n'apprend rien de neuf : il assemble ce que les deux decks FX ont posé, sur une seule application. Vous allez construire une calculatrice complète, en suivant les étapes ensemble : d'abord l'écran, en FXML, puis le contrôleur qui réagit aux boutons, enfin le modèle qui calcule.</a:t>
            </a:r>
          </a:p>
          <a:p>
            <a:r>
              <a:t>C'est l'exercice FX.9. Gardez-le ouvert à côté du deck : chaque étape se fait dans votre projet, au moment où elle est montrée.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quatre sections : 1. Le projet ; 2. La vue ; 3. Le contrôleur ; 4. Le modèle.</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simplifie pour garder la logique lisible. Pas de décimales : la calculatrice travaille sur des entiers, et 13 divisé par 4 donne 3.</a:t>
            </a:r>
          </a:p>
          <a:p>
            <a:r>
              <a:t>Pas de priorité des opérations non plus. Chaque opérateur calcule ce qui précède : 2 x 3 donne 6, plus 4 donne 10, fois 5 donne 50. Une vraie calculatrice donnerait 26, en faisant d'abord les multiplications. C'est une amélioration possible, citée à la fin du deck.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découpage MVC du deck FX2, appliqué. Chaque rôle a son fichier, et c'est l'ordre de travail : la vue d'abord, parce qu'on la voit tout de suite ; puis le contrôleur, branché sur ses boutons ; enfin le modèle, que le contrôleur appelle.</a:t>
            </a:r>
          </a:p>
          <a:p>
            <a:r>
              <a:t>Le fichier FXML n'est pas à côté des classes : il est dans </a:t>
            </a:r>
            <a:r>
              <a:rPr>
                <a:latin typeface="Consolas"/>
              </a:rPr>
              <a:t>src/main/resources</a:t>
            </a:r>
            <a:r>
              <a:t>, sous le même chemin de package. C'est là que Maven range les fichiers qui ne sont pas du code, et c'est là que </a:t>
            </a:r>
            <a:r>
              <a:rPr>
                <a:latin typeface="Consolas"/>
              </a:rPr>
              <a:t>getResource</a:t>
            </a:r>
            <a:r>
              <a:t> les cherche.</a:t>
            </a:r>
          </a:p>
          <a:p>
            <a:r>
              <a:rPr>
                <a:latin typeface="Consolas"/>
              </a:rPr>
              <a:t>ApplicationCalculatrice</a:t>
            </a:r>
            <a:r>
              <a:t> charge la vue et l'affiche ; </a:t>
            </a:r>
            <a:r>
              <a:rPr>
                <a:latin typeface="Consolas"/>
              </a:rPr>
              <a:t>Lanceur</a:t>
            </a:r>
            <a:r>
              <a:t> démarre le tout. Vous n'y touchez pas.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mécanisme vu à la fin du deck FX2. Le chargeur lit le fichier, crée un objet pour chaque élément, et retourne la racine : on en fait la scène.</a:t>
            </a:r>
          </a:p>
          <a:p>
            <a:r>
              <a:t>En lisant la racine, il trouve l'attribut </a:t>
            </a:r>
            <a:r>
              <a:rPr>
                <a:latin typeface="Consolas"/>
              </a:rPr>
              <a:t>fx:controller</a:t>
            </a:r>
            <a:r>
              <a:t>. Il crée alors un objet de cette classe, sans que vous écriviez de </a:t>
            </a:r>
            <a:r>
              <a:rPr>
                <a:latin typeface="Consolas"/>
              </a:rPr>
              <a:t>new</a:t>
            </a:r>
            <a:r>
              <a:t>, et c'est lui qui recevra les clics. Le squelette de FX.9 contient déjà cette racine : vous partez d'un fichier qui se charge, et qui affiche une fenêtre vide.</a:t>
            </a:r>
          </a:p>
          <a:p>
            <a:r>
              <a:t>Le code complet : demos, classe </a:t>
            </a:r>
            <a:r>
              <a:rPr>
                <a:latin typeface="Consolas"/>
              </a:rPr>
              <a:t>demo.fx.slides.fx2.ApplicationLampe</a:t>
            </a:r>
            <a:r>
              <a:t>, le même mécanisme sur la lampe.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classes suffisent, toutes vues dans le deck FX1. Deux conteneurs pour ranger, </a:t>
            </a:r>
            <a:r>
              <a:rPr>
                <a:latin typeface="Consolas"/>
              </a:rPr>
              <a:t>VBox</a:t>
            </a:r>
            <a:r>
              <a:t> et </a:t>
            </a:r>
            <a:r>
              <a:rPr>
                <a:latin typeface="Consolas"/>
              </a:rPr>
              <a:t>HBox</a:t>
            </a:r>
            <a:r>
              <a:t>, un conteneur pour superposer, </a:t>
            </a:r>
            <a:r>
              <a:rPr>
                <a:latin typeface="Consolas"/>
              </a:rPr>
              <a:t>StackPane</a:t>
            </a:r>
            <a:r>
              <a:t>, et trois composants qu'on voit : un cadre, un texte et des boutons.</a:t>
            </a:r>
          </a:p>
          <a:p>
            <a:r>
              <a:t>Le </a:t>
            </a:r>
            <a:r>
              <a:rPr>
                <a:latin typeface="Consolas"/>
              </a:rPr>
              <a:t>Rectangle</a:t>
            </a:r>
            <a:r>
              <a:t> est une forme, et non un contrôle : il ne réagit à rien, il dessine seulement le cadre de l'écran. Le </a:t>
            </a:r>
            <a:r>
              <a:rPr>
                <a:latin typeface="Consolas"/>
              </a:rPr>
              <a:t>Text</a:t>
            </a:r>
            <a:r>
              <a:t> est posé par-dessus.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d'écrire une ligne, on dessine l'arbre. La racine est une </a:t>
            </a:r>
            <a:r>
              <a:rPr>
                <a:latin typeface="Consolas"/>
              </a:rPr>
              <a:t>VBox</a:t>
            </a:r>
            <a:r>
              <a:t>, qui empile ses enfants. Son premier enfant est l'écran ; les quatre suivants sont les lignes de touches.</a:t>
            </a:r>
          </a:p>
          <a:p>
            <a:r>
              <a:t>Les dimensions sont choisies pour tomber juste : quatre boutons de 50 et trois espaces de 10 font 230, exactement la largeur du cadre. Tout sera donc aligné, une fois centré.</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FXML est du XML : des étiquettes qui encadrent des données. Un élément s'ouvre et se ferme ; s'il ne contient rien, il se ferme lui-même, d'une barre avant le chevron. Un élément peut contenir des attributs, sous la forme </a:t>
            </a:r>
            <a:r>
              <a:rPr>
                <a:latin typeface="Consolas"/>
              </a:rPr>
              <a:t>nom="valeur"</a:t>
            </a:r>
            <a:r>
              <a:t>.</a:t>
            </a:r>
          </a:p>
          <a:p>
            <a:r>
              <a:t>Ce qui compte pour nous, c'est l'emboîtement : un élément écrit à l'intérieur d'un autre en est l'enfant. L'arbre du plan précédent va donc s'écrire tel quel.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squelette de FX.9 vous donne la racine, avec son contrôleur. Ajoutez-y les cinq enfants, vides : l'arbre est déjà là, il ne reste qu'à le remplir.</a:t>
            </a:r>
          </a:p>
          <a:p>
            <a:r>
              <a:t>Le nom du contrôleur est complet, package compris. Une faute dans ce nom, et le chargement échoue au lancement, avec un message qui parle de </a:t>
            </a:r>
            <a:r>
              <a:rPr>
                <a:latin typeface="Consolas"/>
              </a:rPr>
              <a:t>ClassNotFoundException</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&lt;VBox&gt;</a:t>
            </a:r>
            <a:r>
              <a:t> crée un objet </a:t>
            </a:r>
            <a:r>
              <a:rPr>
                <a:latin typeface="Consolas"/>
              </a:rPr>
              <a:t>VBox</a:t>
            </a:r>
            <a:r>
              <a:t>, exactement comme </a:t>
            </a:r>
            <a:r>
              <a:rPr>
                <a:latin typeface="Consolas"/>
              </a:rPr>
              <a:t>new VBox()</a:t>
            </a:r>
            <a:r>
              <a:t>. Et chaque attribut appelle le setter correspondant : </a:t>
            </a:r>
            <a:r>
              <a:rPr>
                <a:latin typeface="Consolas"/>
              </a:rPr>
              <a:t>prefWidth="300"</a:t>
            </a:r>
            <a:r>
              <a:t> appelle </a:t>
            </a:r>
            <a:r>
              <a:rPr>
                <a:latin typeface="Consolas"/>
              </a:rPr>
              <a:t>setPrefWidth(300)</a:t>
            </a:r>
            <a:r>
              <a:t>, </a:t>
            </a:r>
            <a:r>
              <a:rPr>
                <a:latin typeface="Consolas"/>
              </a:rPr>
              <a:t>alignment="CENTER"</a:t>
            </a:r>
            <a:r>
              <a:t> appelle </a:t>
            </a:r>
            <a:r>
              <a:rPr>
                <a:latin typeface="Consolas"/>
              </a:rPr>
              <a:t>setAlignment</a:t>
            </a:r>
            <a:r>
              <a:t> avec la constante </a:t>
            </a:r>
            <a:r>
              <a:rPr>
                <a:latin typeface="Consolas"/>
              </a:rPr>
              <a:t>Pos.CENTER</a:t>
            </a:r>
            <a:r>
              <a:t> de l'énumération.</a:t>
            </a:r>
          </a:p>
          <a:p>
            <a:r>
              <a:t>C'est la règle à retenir, parce qu'elle vous rend autonome : pour savoir ce qu'on peut écrire sur un élément, on cherche les setters de sa classe dans la Javadoc. L'espacement entre les enfants d'une </a:t>
            </a:r>
            <a:r>
              <a:rPr>
                <a:latin typeface="Consolas"/>
              </a:rPr>
              <a:t>VBox</a:t>
            </a:r>
            <a:r>
              <a:t> ? Il y a un </a:t>
            </a:r>
            <a:r>
              <a:rPr>
                <a:latin typeface="Consolas"/>
              </a:rPr>
              <a:t>setSpacing</a:t>
            </a:r>
            <a:r>
              <a:t> : l'attribut s'appelle </a:t>
            </a:r>
            <a:r>
              <a:rPr>
                <a:latin typeface="Consolas"/>
              </a:rPr>
              <a:t>spacing</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rectangle est transparent, avec un bord gris : c'est le cadre de l'afficheur. Ouvrez à ce moment le fichier dans Scene Builder (guide IntelliJ, IDE.29) : il refusera d'abord d'afficher </a:t>
            </a:r>
            <a:r>
              <a:rPr>
                <a:latin typeface="Consolas"/>
              </a:rPr>
              <a:t>StackPane</a:t>
            </a:r>
            <a:r>
              <a:t>, </a:t>
            </a:r>
            <a:r>
              <a:rPr>
                <a:latin typeface="Consolas"/>
              </a:rPr>
              <a:t>HBox</a:t>
            </a:r>
            <a:r>
              <a:t> ou </a:t>
            </a:r>
            <a:r>
              <a:rPr>
                <a:latin typeface="Consolas"/>
              </a:rPr>
              <a:t>Rectangle</a:t>
            </a:r>
            <a:r>
              <a:t>.</a:t>
            </a:r>
          </a:p>
          <a:p>
            <a:r>
              <a:t>La raison est la même qu'en Java : le FXML ne connaît une classe que si on l'importe. Les instructions </a:t>
            </a:r>
            <a:r>
              <a:rPr>
                <a:latin typeface="Consolas"/>
              </a:rPr>
              <a:t>&lt;?import ...?&gt;</a:t>
            </a:r>
            <a:r>
              <a:t> se placent en tête du fichier, avant la racine. Les quatre lignes de la slide couvrent tout ce dont la calculatrice a besoin. Sous le curseur rouge, Alt+Entrée propose l'import manquant.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Dans un </a:t>
            </a:r>
            <a:r>
              <a:rPr>
                <a:latin typeface="Consolas"/>
              </a:rPr>
              <a:t>StackPane</a:t>
            </a:r>
            <a:r>
              <a:t>, le dernier enfant est au-dessus : le texte s'affiche donc par-dessus le cadre, centré.</a:t>
            </a:r>
          </a:p>
          <a:p>
            <a:r>
              <a:t>C'est ce texte que le contrôleur modifiera à chaque touche. Il lui faut donc une référence vers lui. Le lien passe par deux bouts qui doivent correspondre exactement : l'attribut </a:t>
            </a:r>
            <a:r>
              <a:rPr>
                <a:latin typeface="Consolas"/>
              </a:rPr>
              <a:t>fx:id</a:t>
            </a:r>
            <a:r>
              <a:t> dans le FXML, et un champ de même nom et de même type dans le contrôleur, marqué </a:t>
            </a:r>
            <a:r>
              <a:rPr>
                <a:latin typeface="Consolas"/>
              </a:rPr>
              <a:t>@FXML</a:t>
            </a:r>
            <a:r>
              <a:t>. Au chargement, JavaFX crée le </a:t>
            </a:r>
            <a:r>
              <a:rPr>
                <a:latin typeface="Consolas"/>
              </a:rPr>
              <a:t>Text</a:t>
            </a:r>
            <a:r>
              <a:t>, puis le range dans ce champ.</a:t>
            </a:r>
          </a:p>
          <a:p>
            <a:r>
              <a:t>Le champ reste privé : </a:t>
            </a:r>
            <a:r>
              <a:rPr>
                <a:latin typeface="Consolas"/>
              </a:rPr>
              <a:t>@FXML</a:t>
            </a:r>
            <a:r>
              <a:t> donne à JavaFX le droit de le remplir, sans l'ouvrir à personne d'autre.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quatre lignes se ressemblent : écrivez la première, vérifiez-la dans Scene Builder, puis copiez-la trois fois et changez les textes. La dernière ligne contient 0, C, = et +.</a:t>
            </a:r>
          </a:p>
          <a:p>
            <a:r>
              <a:t>Les boutons ne font encore rien : aucune méthode ne leur est attachée. On les branchera à la section suivante.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petite énigme de la vue. La </a:t>
            </a:r>
            <a:r>
              <a:rPr>
                <a:latin typeface="Consolas"/>
              </a:rPr>
              <a:t>VBox</a:t>
            </a:r>
            <a:r>
              <a:t> centre ses enfants, mais chaque </a:t>
            </a:r>
            <a:r>
              <a:rPr>
                <a:latin typeface="Consolas"/>
              </a:rPr>
              <a:t>HBox</a:t>
            </a:r>
            <a:r>
              <a:t> occupe toute la largeur, et range ses boutons à partir de la gauche.</a:t>
            </a:r>
          </a:p>
          <a:p>
            <a:r>
              <a:t>La réponse est un attribut déjà rencontré, à poser sur chaque </a:t>
            </a:r>
            <a:r>
              <a:rPr>
                <a:latin typeface="Consolas"/>
              </a:rPr>
              <a:t>HBox</a:t>
            </a:r>
            <a:r>
              <a:t> : </a:t>
            </a:r>
            <a:r>
              <a:rPr>
                <a:latin typeface="Consolas"/>
              </a:rPr>
              <a:t>alignment="CENTER"</a:t>
            </a:r>
            <a:r>
              <a:t>. Laissez les étudiants chercher avant de la donner : c'est exactement la démarche de la slide « Un attribut, c'est un setter ».</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façons de vérifier, à alterner. Scene Builder affiche le FXML tel quel, sans programme : c'est le plus rapide pour juger d'un alignement. Lancer l'application, par </a:t>
            </a:r>
            <a:r>
              <a:rPr>
                <a:latin typeface="Consolas"/>
              </a:rPr>
              <a:t>Lanceur</a:t>
            </a:r>
            <a:r>
              <a:t>, prouve en plus que le fichier se charge, que le contrôleur est trouvé, et que le champ </a:t>
            </a:r>
            <a:r>
              <a:rPr>
                <a:latin typeface="Consolas"/>
              </a:rPr>
              <a:t>affichage</a:t>
            </a:r>
            <a:r>
              <a:t> correspond au </a:t>
            </a:r>
            <a:r>
              <a:rPr>
                <a:latin typeface="Consolas"/>
              </a:rPr>
              <a:t>fx:id</a:t>
            </a:r>
            <a:r>
              <a:t>.</a:t>
            </a:r>
          </a:p>
          <a:p>
            <a:r>
              <a:t>Si le lancement échoue, lisez la fin du message : un nom de contrôleur mal écrit, un </a:t>
            </a:r>
            <a:r>
              <a:rPr>
                <a:latin typeface="Consolas"/>
              </a:rPr>
              <a:t>fx:id</a:t>
            </a:r>
            <a:r>
              <a:t> sans champ correspondant, ou un import oublié en sont presque toujours la cause.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amélioration d'aspect, à faire si le temps le permet. </a:t>
            </a:r>
            <a:r>
              <a:rPr>
                <a:latin typeface="Consolas"/>
              </a:rPr>
              <a:t>fx:define</a:t>
            </a:r>
            <a:r>
              <a:t> déclare un objet sans l'afficher, ici une police, et lui donne un nom. Le signe dollar y fait référence ensuite, autant de fois qu'on veut.</a:t>
            </a:r>
          </a:p>
          <a:p>
            <a:r>
              <a:t>L'intérêt est le même qu'une constante en Java : changer la taille à un seul endroit change toute la calculatrice. Il faut importer </a:t>
            </a:r>
            <a:r>
              <a:rPr>
                <a:latin typeface="Consolas"/>
              </a:rPr>
              <a:t>Font</a:t>
            </a:r>
            <a:r>
              <a:t>, dans </a:t>
            </a:r>
            <a:r>
              <a:rPr>
                <a:latin typeface="Consolas"/>
              </a:rPr>
              <a:t>javafx.scene.text</a:t>
            </a:r>
            <a:r>
              <a:t>, déjà couvert par l'import de la slide du cadre.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Posez la question avant de montrer la réponse. Seize touches, mais combien de comportements différents ? Les dix chiffres font la même chose : ils ajoutent leur chiffre au nombre affiché. Les opérateurs et le « = » font tous la même chose aussi : ils déclenchent un calcul.</a:t>
            </a:r>
          </a:p>
          <a:p>
            <a:r>
              <a:t>D'où trois méthodes dans le contrôleur, et non seize : </a:t>
            </a:r>
            <a:r>
              <a:rPr>
                <a:latin typeface="Consolas"/>
              </a:rPr>
              <a:t>chiffrePresse</a:t>
            </a:r>
            <a:r>
              <a:t>, </a:t>
            </a:r>
            <a:r>
              <a:rPr>
                <a:latin typeface="Consolas"/>
              </a:rPr>
              <a:t>operateurPresse</a:t>
            </a:r>
            <a:r>
              <a:t> et </a:t>
            </a:r>
            <a:r>
              <a:rPr>
                <a:latin typeface="Consolas"/>
              </a:rPr>
              <a:t>effacer</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a:t>
            </a:r>
            <a:r>
              <a:rPr>
                <a:latin typeface="Consolas"/>
              </a:rPr>
              <a:t>setOnAction</a:t>
            </a:r>
            <a:r>
              <a:t> du deck FX1, écrit dans le FXML. Le dièse dit au chargeur de chercher une méthode de ce nom dans le contrôleur, et de l'appeler à chaque clic. Oublier le dièse est l'erreur la plus fréquente.</a:t>
            </a:r>
          </a:p>
          <a:p>
            <a:r>
              <a:t>Avant d'écrire la logique, branchez tout et lancez : chaque clic doit faire apparaître « chiffre », « opérateur » ou « effacer » dans la console. Une touche muette est une touche mal branchée, et c'est le bon moment de le voir.</a:t>
            </a:r>
          </a:p>
          <a:p>
            <a:r>
              <a:t>Le squelette de FX.9 contient déjà les trois méthodes, qui lèvent une exception : remplacez leur corps par un </a:t>
            </a:r>
            <a:r>
              <a:rPr>
                <a:latin typeface="Consolas"/>
              </a:rPr>
              <a:t>println</a:t>
            </a:r>
            <a:r>
              <a:t> pour cette étape.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source de l'événement, vue dans le deck FX1. </a:t>
            </a:r>
            <a:r>
              <a:rPr>
                <a:latin typeface="Consolas"/>
              </a:rPr>
              <a:t>getSource</a:t>
            </a:r>
            <a:r>
              <a:t> retourne un </a:t>
            </a:r>
            <a:r>
              <a:rPr>
                <a:latin typeface="Consolas"/>
              </a:rPr>
              <a:t>Object</a:t>
            </a:r>
            <a:r>
              <a:t>, puisqu'un événement peut venir de n'importe quoi. Ici, on sait que c'est un bouton : on le convertit, puis on lit son texte.</a:t>
            </a:r>
          </a:p>
          <a:p>
            <a:r>
              <a:t>Écrire dix méthodes, une par chiffre, aurait fonctionné, et aurait été dix fois la même chose.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Sans la première règle, taper 5 puis 6 afficherait « 056 ». Les deux règles tiennent en un </a:t>
            </a:r>
            <a:r>
              <a:rPr>
                <a:latin typeface="Consolas"/>
              </a:rPr>
              <a:t>if</a:t>
            </a:r>
            <a:r>
              <a:t>.</a:t>
            </a:r>
          </a:p>
          <a:p>
            <a:r>
              <a:t>Écrivez-la maintenant, et vérifiez : taper 5, 6, 2 doit afficher 562, et le zéro de départ doit disparaître au premier chiffre. Une seconde règle viendra s'ajouter quand le contrôleur saura calculer.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pause, avant la section suivante. Demandez aux étudiants comment ils écriraient une calculatrice en console : que ferait le programme, quelles seraient ses variables, et de quel type ?</a:t>
            </a:r>
          </a:p>
          <a:p>
            <a:r>
              <a:t>La réponse les mène au modèle : une classe qui calcule, sans rien savoir de l'écran, et qu'on peut tester seule.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modèle est le cœur de la calculatrice, et la partie la plus simple : deux nombres, un opérateur, un résultat. Un </a:t>
            </a:r>
            <a:r>
              <a:rPr>
                <a:latin typeface="Consolas"/>
              </a:rPr>
              <a:t>switch</a:t>
            </a:r>
            <a:r>
              <a:t> sur l'opérateur suffit.</a:t>
            </a:r>
          </a:p>
          <a:p>
            <a:r>
              <a:t>La division par zéro est le seul piège. L'ancien cours rendait 0, ce qui faisait passer une erreur pour un résultat. Le modèle de FX.9 lève une exception, et c'est le contrôleur qui décidera d'afficher « Erreur ». Voir CC-ERR.1.</a:t>
            </a:r>
          </a:p>
          <a:p>
            <a:r>
              <a:t>Le modèle n'importe rien de JavaFX : il se teste par JUnit, comme au module JUN. C'est la première question de fin de FX.9, et le bon moment pour y répondre.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opération se tape en plusieurs clics : un nombre, un opérateur, un second nombre, puis un autre opérateur ou « = ». Entre ces clics, le contrôleur doit se souvenir du premier nombre et de l'opérateur choisi : ce sont des champs, puisqu'une variable locale disparaît à la fin de la méthode.</a:t>
            </a:r>
          </a:p>
          <a:p>
            <a:r>
              <a:t>Le booléen </a:t>
            </a:r>
            <a:r>
              <a:rPr>
                <a:latin typeface="Consolas"/>
              </a:rPr>
              <a:t>nouvelleSaisie</a:t>
            </a:r>
            <a:r>
              <a:t> dit si le prochain chiffre commence un nouveau nombre. Le modèle, lui, ne retient rien : il calcule ce qu'on lui donne.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 5 + », l'écran montre encore 5. Le chiffre suivant ne doit pas s'y accoler : il commence le second nombre. Le contrôleur le sait grâce à </a:t>
            </a:r>
            <a:r>
              <a:rPr>
                <a:latin typeface="Consolas"/>
              </a:rPr>
              <a:t>nouvelleSaisie</a:t>
            </a:r>
            <a:r>
              <a:t>, mis à vrai par chaque opérateur.</a:t>
            </a:r>
          </a:p>
          <a:p>
            <a:r>
              <a:t>Complétez </a:t>
            </a:r>
            <a:r>
              <a:rPr>
                <a:latin typeface="Consolas"/>
              </a:rPr>
              <a:t>chiffrePresse</a:t>
            </a:r>
            <a:r>
              <a:t> : si une nouvelle saisie commence, le chiffre remplace l'écran, et </a:t>
            </a:r>
            <a:r>
              <a:rPr>
                <a:latin typeface="Consolas"/>
              </a:rPr>
              <a:t>nouvelleSaisie</a:t>
            </a:r>
            <a:r>
              <a:t> repasse à faux.</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C'est la seule méthode que le deck ne guide pas pas à pas : l'arbre en donne la structure, à vous d'en écrire le code. Les étapes apparaissent au clic, dans l'ordre où la méthode les exécute.</a:t>
            </a:r>
          </a:p>
          <a:p>
            <a:r>
              <a:rPr lang="fr-BE" dirty="0"/>
              <a:t>On lit d'abord le texte du bouton, comme pour les chiffres. Puis une seule question : un opérateur attend-il déjà ? Si non, c'est le tout premier opérateur de l'opération : rien à calculer, le nombre affiché devient le premier nombre. Si oui, on confie le calcul au modèle, et son résultat devient le nouveau premier nombre : c'est ce qui permet d'enchaîner, 2 + 3 + 4 = 9.</a:t>
            </a:r>
          </a:p>
          <a:p>
            <a:r>
              <a:rPr lang="fr-BE" dirty="0"/>
              <a:t>La division par zéro est le seul chemin qui s'arrête en route. Le modèle lève une exception, le contrôleur l'attrape, affiche « Erreur » et remet tout à zéro. Il ne retient surtout pas l'opérateur pressé : sans quoi la calculatrice ne repartirait pas proprement.</a:t>
            </a:r>
          </a:p>
          <a:p>
            <a:r>
              <a:rPr lang="fr-BE" dirty="0"/>
              <a:t>Dans les deux autres cas, la suite est la même : le « = » clôt le calcul et ne laisse rien en attente, un autre opérateur est retenu pour le prochain calcul. Enfin, le prochain chiffre commencera un nouveau nombre.</a:t>
            </a:r>
          </a:p>
          <a:p>
            <a:r>
              <a:rPr lang="fr-BE" dirty="0"/>
              <a:t>Le bouton « C » est plus simple : effacer remet l'écran à 0 et oublie le premier nombre et l'opérateur en attente. La liste « Ce que vous devez observer » de FX.9 sert de vérification.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thème n'a pas de test JUnit pour la fenêtre : la vérification passe par ces observations, une à une. La liste complète est dans l'énoncé de FX.9.</a:t>
            </a:r>
          </a:p>
          <a:p>
            <a:r>
              <a:t>Le modèle, lui, a sa classe de test, si vous l'avez écrite à l'étape précédente. C'est toute la différence que fait l'architecture : la partie qui calcule se vérifie en une seconde, la fenêtre se vérifie à la main.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calculatrice est volontairement limitée. Chaque amélioration de la liste est un bon exercice libre.</a:t>
            </a:r>
          </a:p>
          <a:p>
            <a:r>
              <a:t>Taper au clavier demande d'écouter les </a:t>
            </a:r>
            <a:r>
              <a:rPr>
                <a:latin typeface="Consolas"/>
              </a:rPr>
              <a:t>KeyEvent</a:t>
            </a:r>
            <a:r>
              <a:t> de la scène, vus dans le deck FX1. La priorité des opérations change le modèle bien plus que le contrôleur, et c'est le signe d'un bon découpage : la vue n'a pas à bouger.</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FX.9 suit exactement ce deck : la vue d'abord, puis le contrôleur branché, puis le modèle et sa classe de test, enfin les opérateurs. L'énoncé donne la logique des opérateurs et la liste de ce qu'il faut observer.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tif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FX - la calculatrice</a:t>
            </a:r>
          </a:p>
          <a:p>
            <a:r>
              <a:rPr/>
              <a:t>Pas à pas, de la vue au modèle</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2" name="Section 1"/>
          <p:cNvGrpSpPr/>
          <p:nvPr/>
        </p:nvGrpSpPr>
        <p:grpSpPr>
          <a:xfrm>
            <a:off x="640080" y="1463040"/>
            <a:ext cx="10789919" cy="914400"/>
            <a:chOff x="640080" y="1463040"/>
            <a:chExt cx="10789919" cy="914400"/>
          </a:xfrm>
        </p:grpSpPr>
        <p:sp>
          <p:nvSpPr>
            <p:cNvPr id="3"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Le projet</a:t>
              </a:r>
            </a:p>
          </p:txBody>
        </p:sp>
      </p:grpSp>
      <p:grpSp>
        <p:nvGrpSpPr>
          <p:cNvPr id="13" name="Section 2"/>
          <p:cNvGrpSpPr/>
          <p:nvPr/>
        </p:nvGrpSpPr>
        <p:grpSpPr>
          <a:xfrm>
            <a:off x="640080" y="2560320"/>
            <a:ext cx="10789919" cy="914400"/>
            <a:chOff x="640080" y="2560320"/>
            <a:chExt cx="10789919" cy="914400"/>
          </a:xfrm>
        </p:grpSpPr>
        <p:sp>
          <p:nvSpPr>
            <p:cNvPr id="5"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La vue</a:t>
              </a:r>
            </a:p>
          </p:txBody>
        </p:sp>
      </p:grpSp>
      <p:grpSp>
        <p:nvGrpSpPr>
          <p:cNvPr id="14" name="Section 3"/>
          <p:cNvGrpSpPr/>
          <p:nvPr/>
        </p:nvGrpSpPr>
        <p:grpSpPr>
          <a:xfrm>
            <a:off x="640080" y="3657600"/>
            <a:ext cx="10789919" cy="914400"/>
            <a:chOff x="640080" y="3657600"/>
            <a:chExt cx="10789919" cy="914400"/>
          </a:xfrm>
        </p:grpSpPr>
        <p:sp>
          <p:nvSpPr>
            <p:cNvPr id="7"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Le contrôleur</a:t>
              </a:r>
            </a:p>
          </p:txBody>
        </p:sp>
      </p:grpSp>
      <p:grpSp>
        <p:nvGrpSpPr>
          <p:cNvPr id="15" name="Section 4"/>
          <p:cNvGrpSpPr/>
          <p:nvPr/>
        </p:nvGrpSpPr>
        <p:grpSpPr>
          <a:xfrm>
            <a:off x="640080" y="4754879"/>
            <a:ext cx="10789919" cy="914400"/>
            <a:chOff x="640080" y="4754879"/>
            <a:chExt cx="10789919" cy="914400"/>
          </a:xfrm>
        </p:grpSpPr>
        <p:sp>
          <p:nvSpPr>
            <p:cNvPr id="9" name="Sommaire du module"/>
            <p:cNvSpPr/>
            <p:nvPr/>
          </p:nvSpPr>
          <p:spPr>
            <a:xfrm>
              <a:off x="640080" y="4754879"/>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10607040" cy="914400"/>
            </a:xfrm>
            <a:prstGeom prst="rect">
              <a:avLst/>
            </a:prstGeom>
            <a:noFill/>
          </p:spPr>
          <p:txBody>
            <a:bodyPr wrap="none" anchor="ctr">
              <a:spAutoFit/>
            </a:bodyPr>
            <a:lstStyle/>
            <a:p>
              <a:r>
                <a:rPr sz="3000" b="1">
                  <a:solidFill>
                    <a:schemeClr val="accent4"/>
                  </a:solidFill>
                </a:rPr>
                <a:t>4   </a:t>
              </a:r>
              <a:r>
                <a:rPr sz="2600">
                  <a:solidFill>
                    <a:srgbClr val="FFFFFF"/>
                  </a:solidFill>
                </a:rPr>
                <a:t>Le modèle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8834005" cy="1015663"/>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1. Ce qu'on va construire</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3</a:t>
            </a:fld>
            <a:endParaRPr lang="fr-FR"/>
          </a:p>
        </p:txBody>
      </p:sp>
      <p:pic>
        <p:nvPicPr>
          <p:cNvPr id="2" name="Espace réservé du contenu 4">
            <a:extLst>
              <a:ext uri="{FF2B5EF4-FFF2-40B4-BE49-F238E27FC236}">
                <a16:creationId xmlns:a16="http://schemas.microsoft.com/office/drawing/2014/main" id="{2F57F815-AABD-4DBF-892B-C52F2CFEC112}"/>
              </a:ext>
            </a:extLst>
          </p:cNvPr>
          <p:cNvPicPr>
            <a:picLocks noChangeAspect="1"/>
          </p:cNvPicPr>
          <p:nvPr/>
        </p:nvPicPr>
        <p:blipFill>
          <a:blip r:embed="rId3"/>
          <a:stretch>
            <a:fillRect/>
          </a:stretch>
        </p:blipFill>
        <p:spPr>
          <a:xfrm>
            <a:off x="3920331" y="2232949"/>
            <a:ext cx="4351338" cy="43513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calculatrice simplifiée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Les quatre opérations, sur des entiers seulement</a:t>
            </a:r>
          </a:p>
          <a:p>
            <a:pPr marL="0" indent="0">
              <a:spcAft>
                <a:spcPts val="1000"/>
              </a:spcAft>
              <a:buNone/>
            </a:pPr>
            <a:r>
              <a:rPr sz="2800"/>
              <a:t>Les opérations s'enchaînent dans l'ordre où on les tape</a:t>
            </a:r>
          </a:p>
          <a:p>
            <a:pPr marL="0" indent="0">
              <a:spcAft>
                <a:spcPts val="1000"/>
              </a:spcAft>
              <a:buNone/>
            </a:pPr>
            <a:r>
              <a:rPr sz="2400">
                <a:solidFill>
                  <a:schemeClr val="accent4"/>
                </a:solidFill>
                <a:latin typeface="Consolas"/>
              </a:rPr>
              <a:t>2 x 3 + 4 x 5</a:t>
            </a:r>
            <a:r>
              <a:rPr sz="2800"/>
              <a:t> donne donc 50, et non 26</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fichiers, trois rôles</a:t>
            </a:r>
          </a:p>
        </p:txBody>
      </p:sp>
      <p:sp>
        <p:nvSpPr>
          <p:cNvPr id="3" name="Content Placeholder 2"/>
          <p:cNvSpPr>
            <a:spLocks noGrp="1"/>
          </p:cNvSpPr>
          <p:nvPr>
            <p:ph idx="1"/>
          </p:nvPr>
        </p:nvSpPr>
        <p:spPr>
          <a:xfrm>
            <a:off x="640080" y="1371600"/>
            <a:ext cx="10881360" cy="2108200"/>
          </a:xfrm>
        </p:spPr>
        <p:txBody>
          <a:bodyPr>
            <a:normAutofit lnSpcReduction="10000"/>
          </a:bodyPr>
          <a:lstStyle/>
          <a:p>
            <a:pPr marL="0" indent="0">
              <a:spcAft>
                <a:spcPts val="1000"/>
              </a:spcAft>
              <a:buNone/>
            </a:pPr>
            <a:r>
              <a:rPr sz="2400"/>
              <a:t>La vue : </a:t>
            </a:r>
            <a:r>
              <a:rPr sz="2000">
                <a:solidFill>
                  <a:schemeClr val="accent4"/>
                </a:solidFill>
                <a:latin typeface="Consolas"/>
              </a:rPr>
              <a:t>calculatrice.fxml</a:t>
            </a:r>
            <a:r>
              <a:rPr sz="2400"/>
              <a:t>, à écrire en premier</a:t>
            </a:r>
          </a:p>
          <a:p>
            <a:pPr marL="0" indent="0">
              <a:spcAft>
                <a:spcPts val="1000"/>
              </a:spcAft>
              <a:buNone/>
            </a:pPr>
            <a:r>
              <a:rPr sz="2400"/>
              <a:t>Le contrôleur : </a:t>
            </a:r>
            <a:r>
              <a:rPr sz="2000">
                <a:solidFill>
                  <a:schemeClr val="accent4"/>
                </a:solidFill>
                <a:latin typeface="Consolas"/>
              </a:rPr>
              <a:t>Controleur</a:t>
            </a:r>
            <a:r>
              <a:rPr sz="2400"/>
              <a:t>, qui réagit aux boutons</a:t>
            </a:r>
          </a:p>
          <a:p>
            <a:pPr marL="0" indent="0">
              <a:spcAft>
                <a:spcPts val="1000"/>
              </a:spcAft>
              <a:buNone/>
            </a:pPr>
            <a:r>
              <a:rPr sz="2400"/>
              <a:t>Le modèle : </a:t>
            </a:r>
            <a:r>
              <a:rPr sz="2000">
                <a:solidFill>
                  <a:schemeClr val="accent4"/>
                </a:solidFill>
                <a:latin typeface="Consolas"/>
              </a:rPr>
              <a:t>Modele</a:t>
            </a:r>
            <a:r>
              <a:rPr sz="2400"/>
              <a:t>, qui calcule, sans rien savoir de JavaFX</a:t>
            </a:r>
          </a:p>
          <a:p>
            <a:pPr marL="0" indent="0">
              <a:spcAft>
                <a:spcPts val="1000"/>
              </a:spcAft>
              <a:buNone/>
            </a:pPr>
            <a:r>
              <a:rPr sz="2400"/>
              <a:t>Fournis : </a:t>
            </a:r>
            <a:r>
              <a:rPr sz="2000">
                <a:solidFill>
                  <a:schemeClr val="accent4"/>
                </a:solidFill>
                <a:latin typeface="Consolas"/>
              </a:rPr>
              <a:t>ApplicationCalculatrice</a:t>
            </a:r>
            <a:r>
              <a:rPr sz="2400"/>
              <a:t> et </a:t>
            </a:r>
            <a:r>
              <a:rPr sz="2000">
                <a:solidFill>
                  <a:schemeClr val="accent4"/>
                </a:solidFill>
                <a:latin typeface="Consolas"/>
              </a:rPr>
              <a:t>Lanceur</a:t>
            </a:r>
          </a:p>
        </p:txBody>
      </p:sp>
      <p:sp>
        <p:nvSpPr>
          <p:cNvPr id="4" name="Code"/>
          <p:cNvSpPr txBox="1"/>
          <p:nvPr/>
        </p:nvSpPr>
        <p:spPr>
          <a:xfrm>
            <a:off x="2730500" y="3616959"/>
            <a:ext cx="67310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src/main/java/be/ephec/java/fx/e09/</a:t>
            </a:r>
          </a:p>
          <a:p>
            <a:pPr>
              <a:lnSpc>
                <a:spcPct val="100000"/>
              </a:lnSpc>
              <a:spcBef>
                <a:spcPts val="0"/>
              </a:spcBef>
              <a:spcAft>
                <a:spcPts val="0"/>
              </a:spcAft>
            </a:pPr>
            <a:r>
              <a:rPr sz="1800">
                <a:solidFill>
                  <a:srgbClr val="BCBEC4"/>
                </a:solidFill>
                <a:latin typeface="Consolas"/>
              </a:rPr>
              <a:t>    ApplicationCalculatrice.java   </a:t>
            </a:r>
            <a:r>
              <a:rPr sz="1800">
                <a:solidFill>
                  <a:srgbClr val="7A7E85"/>
                </a:solidFill>
                <a:latin typeface="Consolas"/>
              </a:rPr>
              <a:t>// fournie</a:t>
            </a:r>
          </a:p>
          <a:p>
            <a:pPr>
              <a:lnSpc>
                <a:spcPct val="100000"/>
              </a:lnSpc>
              <a:spcBef>
                <a:spcPts val="0"/>
              </a:spcBef>
              <a:spcAft>
                <a:spcPts val="0"/>
              </a:spcAft>
            </a:pPr>
            <a:r>
              <a:rPr sz="1800">
                <a:solidFill>
                  <a:srgbClr val="BCBEC4"/>
                </a:solidFill>
                <a:latin typeface="Consolas"/>
              </a:rPr>
              <a:t>    Lanceur.java                   </a:t>
            </a:r>
            <a:r>
              <a:rPr sz="1800">
                <a:solidFill>
                  <a:srgbClr val="7A7E85"/>
                </a:solidFill>
                <a:latin typeface="Consolas"/>
              </a:rPr>
              <a:t>// fournie</a:t>
            </a:r>
          </a:p>
          <a:p>
            <a:pPr>
              <a:lnSpc>
                <a:spcPct val="100000"/>
              </a:lnSpc>
              <a:spcBef>
                <a:spcPts val="0"/>
              </a:spcBef>
              <a:spcAft>
                <a:spcPts val="0"/>
              </a:spcAft>
            </a:pPr>
            <a:r>
              <a:rPr sz="1800">
                <a:solidFill>
                  <a:srgbClr val="BCBEC4"/>
                </a:solidFill>
                <a:latin typeface="Consolas"/>
              </a:rPr>
              <a:t>    Controleur.java                </a:t>
            </a:r>
            <a:r>
              <a:rPr sz="1800">
                <a:solidFill>
                  <a:srgbClr val="7A7E85"/>
                </a:solidFill>
                <a:latin typeface="Consolas"/>
              </a:rPr>
              <a:t>// a ecrire</a:t>
            </a:r>
          </a:p>
          <a:p>
            <a:pPr>
              <a:lnSpc>
                <a:spcPct val="100000"/>
              </a:lnSpc>
              <a:spcBef>
                <a:spcPts val="0"/>
              </a:spcBef>
              <a:spcAft>
                <a:spcPts val="0"/>
              </a:spcAft>
            </a:pPr>
            <a:r>
              <a:rPr sz="1800">
                <a:solidFill>
                  <a:srgbClr val="BCBEC4"/>
                </a:solidFill>
                <a:latin typeface="Consolas"/>
              </a:rPr>
              <a:t>    Modele.java                    </a:t>
            </a:r>
            <a:r>
              <a:rPr sz="1800">
                <a:solidFill>
                  <a:srgbClr val="7A7E85"/>
                </a:solidFill>
                <a:latin typeface="Consolas"/>
              </a:rPr>
              <a:t>// a ecrire</a:t>
            </a:r>
          </a:p>
          <a:p>
            <a:pPr>
              <a:lnSpc>
                <a:spcPct val="100000"/>
              </a:lnSpc>
              <a:spcBef>
                <a:spcPts val="0"/>
              </a:spcBef>
              <a:spcAft>
                <a:spcPts val="0"/>
              </a:spcAft>
            </a:pPr>
            <a:r>
              <a:rPr sz="1800">
                <a:solidFill>
                  <a:srgbClr val="BCBEC4"/>
                </a:solidFill>
                <a:latin typeface="Consolas"/>
              </a:rPr>
              <a:t>src/main/resources/be/ephec/java/fx/e09/</a:t>
            </a:r>
          </a:p>
          <a:p>
            <a:pPr>
              <a:lnSpc>
                <a:spcPct val="100000"/>
              </a:lnSpc>
              <a:spcBef>
                <a:spcPts val="0"/>
              </a:spcBef>
              <a:spcAft>
                <a:spcPts val="0"/>
              </a:spcAft>
            </a:pPr>
            <a:r>
              <a:rPr sz="1800">
                <a:solidFill>
                  <a:srgbClr val="BCBEC4"/>
                </a:solidFill>
                <a:latin typeface="Consolas"/>
              </a:rPr>
              <a:t>    calculatrice.fxml              </a:t>
            </a:r>
            <a:r>
              <a:rPr sz="1800">
                <a:solidFill>
                  <a:srgbClr val="7A7E85"/>
                </a:solidFill>
                <a:latin typeface="Consolas"/>
              </a:rPr>
              <a:t>// a ecrire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L'application charge la vue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400">
                <a:solidFill>
                  <a:schemeClr val="accent4"/>
                </a:solidFill>
                <a:latin typeface="Consolas"/>
              </a:rPr>
              <a:t>start</a:t>
            </a:r>
            <a:r>
              <a:rPr sz="2800"/>
              <a:t> charge le fichier FXML, et en fait la scène</a:t>
            </a:r>
          </a:p>
          <a:p>
            <a:pPr marL="0" indent="0">
              <a:spcAft>
                <a:spcPts val="1000"/>
              </a:spcAft>
              <a:buNone/>
            </a:pPr>
            <a:r>
              <a:rPr sz="2800"/>
              <a:t>La racine du FXML nomme le contrôleur : </a:t>
            </a:r>
            <a:r>
              <a:rPr sz="2400">
                <a:solidFill>
                  <a:schemeClr val="accent4"/>
                </a:solidFill>
                <a:latin typeface="Consolas"/>
              </a:rPr>
              <a:t>fx:controller</a:t>
            </a:r>
          </a:p>
          <a:p>
            <a:pPr marL="0" indent="0">
              <a:spcAft>
                <a:spcPts val="1000"/>
              </a:spcAft>
              <a:buNone/>
            </a:pPr>
            <a:r>
              <a:rPr sz="2800"/>
              <a:t>JavaFX crée lui-même le contrôleur, et le relie à la vue</a:t>
            </a:r>
          </a:p>
        </p:txBody>
      </p:sp>
      <p:sp>
        <p:nvSpPr>
          <p:cNvPr id="4" name="Code"/>
          <p:cNvSpPr txBox="1"/>
          <p:nvPr/>
        </p:nvSpPr>
        <p:spPr>
          <a:xfrm>
            <a:off x="640080" y="3733799"/>
            <a:ext cx="1088136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FXMLLoader chargeur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FXMLLoader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ApplicationCalculatrice.</a:t>
            </a:r>
            <a:r>
              <a:rPr sz="1800">
                <a:solidFill>
                  <a:srgbClr val="CF8E6D"/>
                </a:solidFill>
                <a:latin typeface="Consolas"/>
              </a:rPr>
              <a:t>class</a:t>
            </a:r>
            <a:r>
              <a:rPr sz="1800">
                <a:solidFill>
                  <a:srgbClr val="BCBEC4"/>
                </a:solidFill>
                <a:latin typeface="Consolas"/>
              </a:rPr>
              <a:t>.</a:t>
            </a:r>
            <a:r>
              <a:rPr sz="1800">
                <a:solidFill>
                  <a:srgbClr val="56A8F5"/>
                </a:solidFill>
                <a:latin typeface="Consolas"/>
              </a:rPr>
              <a:t>getResource</a:t>
            </a:r>
            <a:r>
              <a:rPr sz="1800">
                <a:solidFill>
                  <a:srgbClr val="BCBEC4"/>
                </a:solidFill>
                <a:latin typeface="Consolas"/>
              </a:rPr>
              <a:t>(</a:t>
            </a:r>
            <a:r>
              <a:rPr sz="1800">
                <a:solidFill>
                  <a:srgbClr val="6AAB73"/>
                </a:solidFill>
                <a:latin typeface="Consolas"/>
              </a:rPr>
              <a:t>"calculatrice.fxml"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stage.</a:t>
            </a:r>
            <a:r>
              <a:rPr sz="1800">
                <a:solidFill>
                  <a:srgbClr val="56A8F5"/>
                </a:solidFill>
                <a:latin typeface="Consolas"/>
              </a:rPr>
              <a:t>setScene</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Scene</a:t>
            </a:r>
            <a:r>
              <a:rPr sz="1800">
                <a:solidFill>
                  <a:srgbClr val="BCBEC4"/>
                </a:solidFill>
                <a:latin typeface="Consolas"/>
              </a:rPr>
              <a:t>(chargeur.</a:t>
            </a:r>
            <a:r>
              <a:rPr sz="1800">
                <a:solidFill>
                  <a:srgbClr val="56A8F5"/>
                </a:solidFill>
                <a:latin typeface="Consolas"/>
              </a:rPr>
              <a:t>load</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composants utilisés</a:t>
            </a:r>
          </a:p>
        </p:txBody>
      </p:sp>
      <p:sp>
        <p:nvSpPr>
          <p:cNvPr id="3" name="TextBox 2"/>
          <p:cNvSpPr txBox="1"/>
          <p:nvPr/>
        </p:nvSpPr>
        <p:spPr>
          <a:xfrm>
            <a:off x="777240" y="1371600"/>
            <a:ext cx="1740746" cy="585216"/>
          </a:xfrm>
          <a:prstGeom prst="rect">
            <a:avLst/>
          </a:prstGeom>
          <a:noFill/>
        </p:spPr>
        <p:txBody>
          <a:bodyPr wrap="square" anchor="ctr">
            <a:spAutoFit/>
          </a:bodyPr>
          <a:lstStyle/>
          <a:p>
            <a:r>
              <a:rPr sz="1800" b="1">
                <a:solidFill>
                  <a:schemeClr val="accent4"/>
                </a:solidFill>
              </a:rPr>
              <a:t>Composant</a:t>
            </a:r>
          </a:p>
        </p:txBody>
      </p:sp>
      <p:sp>
        <p:nvSpPr>
          <p:cNvPr id="4" name="TextBox 3"/>
          <p:cNvSpPr txBox="1"/>
          <p:nvPr/>
        </p:nvSpPr>
        <p:spPr>
          <a:xfrm>
            <a:off x="2792306" y="1371600"/>
            <a:ext cx="8591973" cy="585216"/>
          </a:xfrm>
          <a:prstGeom prst="rect">
            <a:avLst/>
          </a:prstGeom>
          <a:noFill/>
        </p:spPr>
        <p:txBody>
          <a:bodyPr wrap="square" anchor="ctr">
            <a:spAutoFit/>
          </a:bodyPr>
          <a:lstStyle/>
          <a:p>
            <a:r>
              <a:rPr sz="1800" b="1">
                <a:solidFill>
                  <a:schemeClr val="accent4"/>
                </a:solidFill>
              </a:rPr>
              <a:t>Rôle dans la calculatrice</a:t>
            </a:r>
          </a:p>
        </p:txBody>
      </p:sp>
      <p:sp>
        <p:nvSpPr>
          <p:cNvPr id="30"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23"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1. Le projet</a:t>
            </a:r>
          </a:p>
        </p:txBody>
      </p:sp>
      <p:grpSp>
        <p:nvGrpSpPr>
          <p:cNvPr id="24"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1740746" cy="585216"/>
            </a:xfrm>
            <a:prstGeom prst="rect">
              <a:avLst/>
            </a:prstGeom>
            <a:noFill/>
          </p:spPr>
          <p:txBody>
            <a:bodyPr wrap="square" anchor="ctr">
              <a:spAutoFit/>
            </a:bodyPr>
            <a:lstStyle/>
            <a:p>
              <a:r>
                <a:rPr sz="1800">
                  <a:solidFill>
                    <a:schemeClr val="accent4"/>
                  </a:solidFill>
                  <a:latin typeface="Consolas"/>
                </a:rPr>
                <a:t>VBox</a:t>
              </a:r>
            </a:p>
          </p:txBody>
        </p:sp>
        <p:sp>
          <p:nvSpPr>
            <p:cNvPr id="7" name="TextBox 6"/>
            <p:cNvSpPr txBox="1"/>
            <p:nvPr/>
          </p:nvSpPr>
          <p:spPr>
            <a:xfrm>
              <a:off x="2792306" y="2029967"/>
              <a:ext cx="8591973" cy="585216"/>
            </a:xfrm>
            <a:prstGeom prst="rect">
              <a:avLst/>
            </a:prstGeom>
            <a:noFill/>
          </p:spPr>
          <p:txBody>
            <a:bodyPr wrap="square" anchor="ctr">
              <a:spAutoFit/>
            </a:bodyPr>
            <a:lstStyle/>
            <a:p>
              <a:r>
                <a:rPr sz="2000">
                  <a:solidFill>
                    <a:srgbClr val="FFFFFF"/>
                  </a:solidFill>
                </a:rPr>
                <a:t>la racine : empile les lignes de haut en bas</a:t>
              </a:r>
            </a:p>
          </p:txBody>
        </p:sp>
      </p:grpSp>
      <p:grpSp>
        <p:nvGrpSpPr>
          <p:cNvPr id="25"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1740746" cy="585216"/>
            </a:xfrm>
            <a:prstGeom prst="rect">
              <a:avLst/>
            </a:prstGeom>
            <a:noFill/>
          </p:spPr>
          <p:txBody>
            <a:bodyPr wrap="square" anchor="ctr">
              <a:spAutoFit/>
            </a:bodyPr>
            <a:lstStyle/>
            <a:p>
              <a:r>
                <a:rPr sz="1800">
                  <a:solidFill>
                    <a:schemeClr val="accent4"/>
                  </a:solidFill>
                  <a:latin typeface="Consolas"/>
                </a:rPr>
                <a:t>StackPane</a:t>
              </a:r>
            </a:p>
          </p:txBody>
        </p:sp>
        <p:sp>
          <p:nvSpPr>
            <p:cNvPr id="10" name="TextBox 9"/>
            <p:cNvSpPr txBox="1"/>
            <p:nvPr/>
          </p:nvSpPr>
          <p:spPr>
            <a:xfrm>
              <a:off x="2792306" y="2688335"/>
              <a:ext cx="8591973" cy="585216"/>
            </a:xfrm>
            <a:prstGeom prst="rect">
              <a:avLst/>
            </a:prstGeom>
            <a:noFill/>
          </p:spPr>
          <p:txBody>
            <a:bodyPr wrap="square" anchor="ctr">
              <a:spAutoFit/>
            </a:bodyPr>
            <a:lstStyle/>
            <a:p>
              <a:r>
                <a:rPr sz="2000">
                  <a:solidFill>
                    <a:srgbClr val="FFFFFF"/>
                  </a:solidFill>
                </a:rPr>
                <a:t>l'écran : superpose un cadre et un texte</a:t>
              </a:r>
            </a:p>
          </p:txBody>
        </p:sp>
      </p:grpSp>
      <p:grpSp>
        <p:nvGrpSpPr>
          <p:cNvPr id="26"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1740746" cy="585216"/>
            </a:xfrm>
            <a:prstGeom prst="rect">
              <a:avLst/>
            </a:prstGeom>
            <a:noFill/>
          </p:spPr>
          <p:txBody>
            <a:bodyPr wrap="square" anchor="ctr">
              <a:spAutoFit/>
            </a:bodyPr>
            <a:lstStyle/>
            <a:p>
              <a:r>
                <a:rPr sz="1800">
                  <a:solidFill>
                    <a:schemeClr val="accent4"/>
                  </a:solidFill>
                  <a:latin typeface="Consolas"/>
                </a:rPr>
                <a:t>Rectangle</a:t>
              </a:r>
            </a:p>
          </p:txBody>
        </p:sp>
        <p:sp>
          <p:nvSpPr>
            <p:cNvPr id="13" name="TextBox 12"/>
            <p:cNvSpPr txBox="1"/>
            <p:nvPr/>
          </p:nvSpPr>
          <p:spPr>
            <a:xfrm>
              <a:off x="2792306" y="3346703"/>
              <a:ext cx="8591973" cy="585216"/>
            </a:xfrm>
            <a:prstGeom prst="rect">
              <a:avLst/>
            </a:prstGeom>
            <a:noFill/>
          </p:spPr>
          <p:txBody>
            <a:bodyPr wrap="square" anchor="ctr">
              <a:spAutoFit/>
            </a:bodyPr>
            <a:lstStyle/>
            <a:p>
              <a:r>
                <a:rPr sz="2000">
                  <a:solidFill>
                    <a:srgbClr val="FFFFFF"/>
                  </a:solidFill>
                </a:rPr>
                <a:t>le cadre de l'écran</a:t>
              </a:r>
            </a:p>
          </p:txBody>
        </p:sp>
      </p:grpSp>
      <p:grpSp>
        <p:nvGrpSpPr>
          <p:cNvPr id="27"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1740746" cy="585216"/>
            </a:xfrm>
            <a:prstGeom prst="rect">
              <a:avLst/>
            </a:prstGeom>
            <a:noFill/>
          </p:spPr>
          <p:txBody>
            <a:bodyPr wrap="square" anchor="ctr">
              <a:spAutoFit/>
            </a:bodyPr>
            <a:lstStyle/>
            <a:p>
              <a:r>
                <a:rPr sz="1800">
                  <a:solidFill>
                    <a:schemeClr val="accent4"/>
                  </a:solidFill>
                  <a:latin typeface="Consolas"/>
                </a:rPr>
                <a:t>Text</a:t>
              </a:r>
            </a:p>
          </p:txBody>
        </p:sp>
        <p:sp>
          <p:nvSpPr>
            <p:cNvPr id="16" name="TextBox 15"/>
            <p:cNvSpPr txBox="1"/>
            <p:nvPr/>
          </p:nvSpPr>
          <p:spPr>
            <a:xfrm>
              <a:off x="2792306" y="4005071"/>
              <a:ext cx="8591973" cy="585216"/>
            </a:xfrm>
            <a:prstGeom prst="rect">
              <a:avLst/>
            </a:prstGeom>
            <a:noFill/>
          </p:spPr>
          <p:txBody>
            <a:bodyPr wrap="square" anchor="ctr">
              <a:spAutoFit/>
            </a:bodyPr>
            <a:lstStyle/>
            <a:p>
              <a:r>
                <a:rPr sz="2000">
                  <a:solidFill>
                    <a:srgbClr val="FFFFFF"/>
                  </a:solidFill>
                </a:rPr>
                <a:t>le nombre affiché</a:t>
              </a:r>
            </a:p>
          </p:txBody>
        </p:sp>
      </p:grpSp>
      <p:grpSp>
        <p:nvGrpSpPr>
          <p:cNvPr id="28" name="Ligne 5"/>
          <p:cNvGrpSpPr/>
          <p:nvPr/>
        </p:nvGrpSpPr>
        <p:grpSpPr>
          <a:xfrm>
            <a:off x="640080" y="4663439"/>
            <a:ext cx="10881360" cy="585216"/>
            <a:chOff x="640080" y="4663439"/>
            <a:chExt cx="10881360" cy="585216"/>
          </a:xfrm>
        </p:grpSpPr>
        <p:sp>
          <p:nvSpPr>
            <p:cNvPr id="17" name="Rounded Rectangle 16"/>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663439"/>
              <a:ext cx="1740746" cy="585216"/>
            </a:xfrm>
            <a:prstGeom prst="rect">
              <a:avLst/>
            </a:prstGeom>
            <a:noFill/>
          </p:spPr>
          <p:txBody>
            <a:bodyPr wrap="square" anchor="ctr">
              <a:spAutoFit/>
            </a:bodyPr>
            <a:lstStyle/>
            <a:p>
              <a:r>
                <a:rPr sz="1800">
                  <a:solidFill>
                    <a:schemeClr val="accent4"/>
                  </a:solidFill>
                  <a:latin typeface="Consolas"/>
                </a:rPr>
                <a:t>HBox</a:t>
              </a:r>
            </a:p>
          </p:txBody>
        </p:sp>
        <p:sp>
          <p:nvSpPr>
            <p:cNvPr id="19" name="TextBox 18"/>
            <p:cNvSpPr txBox="1"/>
            <p:nvPr/>
          </p:nvSpPr>
          <p:spPr>
            <a:xfrm>
              <a:off x="2792306" y="4663439"/>
              <a:ext cx="8591973" cy="585216"/>
            </a:xfrm>
            <a:prstGeom prst="rect">
              <a:avLst/>
            </a:prstGeom>
            <a:noFill/>
          </p:spPr>
          <p:txBody>
            <a:bodyPr wrap="square" anchor="ctr">
              <a:spAutoFit/>
            </a:bodyPr>
            <a:lstStyle/>
            <a:p>
              <a:r>
                <a:rPr sz="2000">
                  <a:solidFill>
                    <a:srgbClr val="FFFFFF"/>
                  </a:solidFill>
                </a:rPr>
                <a:t>une ligne de boutons, de gauche à droite</a:t>
              </a:r>
            </a:p>
          </p:txBody>
        </p:sp>
      </p:grpSp>
      <p:grpSp>
        <p:nvGrpSpPr>
          <p:cNvPr id="29" name="Ligne 6"/>
          <p:cNvGrpSpPr/>
          <p:nvPr/>
        </p:nvGrpSpPr>
        <p:grpSpPr>
          <a:xfrm>
            <a:off x="640080" y="5321807"/>
            <a:ext cx="10881360" cy="585216"/>
            <a:chOff x="640080" y="5321807"/>
            <a:chExt cx="10881360" cy="585216"/>
          </a:xfrm>
        </p:grpSpPr>
        <p:sp>
          <p:nvSpPr>
            <p:cNvPr id="20" name="Rounded Rectangle 19"/>
            <p:cNvSpPr/>
            <p:nvPr/>
          </p:nvSpPr>
          <p:spPr>
            <a:xfrm>
              <a:off x="640080" y="532180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5321807"/>
              <a:ext cx="1740746" cy="585216"/>
            </a:xfrm>
            <a:prstGeom prst="rect">
              <a:avLst/>
            </a:prstGeom>
            <a:noFill/>
          </p:spPr>
          <p:txBody>
            <a:bodyPr wrap="square" anchor="ctr">
              <a:spAutoFit/>
            </a:bodyPr>
            <a:lstStyle/>
            <a:p>
              <a:r>
                <a:rPr sz="1800">
                  <a:solidFill>
                    <a:schemeClr val="accent4"/>
                  </a:solidFill>
                  <a:latin typeface="Consolas"/>
                </a:rPr>
                <a:t>Button</a:t>
              </a:r>
            </a:p>
          </p:txBody>
        </p:sp>
        <p:sp>
          <p:nvSpPr>
            <p:cNvPr id="22" name="TextBox 21"/>
            <p:cNvSpPr txBox="1"/>
            <p:nvPr/>
          </p:nvSpPr>
          <p:spPr>
            <a:xfrm>
              <a:off x="2792306" y="5321807"/>
              <a:ext cx="8591973" cy="585216"/>
            </a:xfrm>
            <a:prstGeom prst="rect">
              <a:avLst/>
            </a:prstGeom>
            <a:noFill/>
          </p:spPr>
          <p:txBody>
            <a:bodyPr wrap="square" anchor="ctr">
              <a:spAutoFit/>
            </a:bodyPr>
            <a:lstStyle/>
            <a:p>
              <a:r>
                <a:rPr sz="2000">
                  <a:solidFill>
                    <a:srgbClr val="FFFFFF"/>
                  </a:solidFill>
                </a:rPr>
                <a:t>une touche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6932902" cy="1015663"/>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2. La vue, pas à pas</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8</a:t>
            </a:fld>
            <a:endParaRPr lang="fr-FR"/>
          </a:p>
        </p:txBody>
      </p:sp>
      <p:pic>
        <p:nvPicPr>
          <p:cNvPr id="2" name="Image 1">
            <a:extLst>
              <a:ext uri="{FF2B5EF4-FFF2-40B4-BE49-F238E27FC236}">
                <a16:creationId xmlns:a16="http://schemas.microsoft.com/office/drawing/2014/main" id="{7C7479FD-077F-D112-AA38-E1018DC4337B}"/>
              </a:ext>
            </a:extLst>
          </p:cNvPr>
          <p:cNvPicPr>
            <a:picLocks noChangeAspect="1"/>
          </p:cNvPicPr>
          <p:nvPr/>
        </p:nvPicPr>
        <p:blipFill>
          <a:blip r:embed="rId3"/>
          <a:stretch>
            <a:fillRect/>
          </a:stretch>
        </p:blipFill>
        <p:spPr>
          <a:xfrm>
            <a:off x="2667000" y="1823576"/>
            <a:ext cx="6858000" cy="4521200"/>
          </a:xfrm>
          <a:prstGeom prst="rect">
            <a:avLst/>
          </a:prstGeom>
          <a:ln>
            <a:noFill/>
          </a:ln>
          <a:effectLst>
            <a:softEdge rad="1125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plan de l'écran</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dirty="0"/>
              <a:t>Une </a:t>
            </a:r>
            <a:r>
              <a:rPr sz="2400" dirty="0" err="1">
                <a:solidFill>
                  <a:schemeClr val="accent4"/>
                </a:solidFill>
                <a:latin typeface="Consolas"/>
              </a:rPr>
              <a:t>VBox</a:t>
            </a:r>
            <a:r>
              <a:rPr sz="2600" dirty="0"/>
              <a:t> de 300 sur 300, </a:t>
            </a:r>
            <a:r>
              <a:rPr sz="2600" dirty="0" err="1"/>
              <a:t>espacement</a:t>
            </a:r>
            <a:r>
              <a:rPr sz="2600" dirty="0"/>
              <a:t> 10</a:t>
            </a:r>
          </a:p>
          <a:p>
            <a:pPr marL="0" indent="0">
              <a:spcAft>
                <a:spcPts val="1000"/>
              </a:spcAft>
              <a:buNone/>
            </a:pPr>
            <a:r>
              <a:rPr sz="2600" dirty="0"/>
              <a:t>En haut, un </a:t>
            </a:r>
            <a:r>
              <a:rPr sz="2400" dirty="0" err="1">
                <a:solidFill>
                  <a:schemeClr val="accent4"/>
                </a:solidFill>
                <a:latin typeface="Consolas"/>
              </a:rPr>
              <a:t>StackPane</a:t>
            </a:r>
            <a:r>
              <a:rPr sz="2600" dirty="0"/>
              <a:t> : un cadre de 230 sur 50, et le </a:t>
            </a:r>
            <a:r>
              <a:rPr sz="2600" dirty="0" err="1"/>
              <a:t>texte</a:t>
            </a:r>
            <a:endParaRPr sz="2600" dirty="0"/>
          </a:p>
          <a:p>
            <a:pPr marL="0" indent="0">
              <a:spcAft>
                <a:spcPts val="1000"/>
              </a:spcAft>
              <a:buNone/>
            </a:pPr>
            <a:r>
              <a:rPr sz="2600" dirty="0" err="1"/>
              <a:t>Puis</a:t>
            </a:r>
            <a:r>
              <a:rPr sz="2600" dirty="0"/>
              <a:t> quatre </a:t>
            </a:r>
            <a:r>
              <a:rPr sz="2400" dirty="0" err="1">
                <a:solidFill>
                  <a:schemeClr val="accent4"/>
                </a:solidFill>
                <a:latin typeface="Consolas"/>
              </a:rPr>
              <a:t>HBox</a:t>
            </a:r>
            <a:r>
              <a:rPr sz="2600" dirty="0"/>
              <a:t> de quatre boutons de 50 sur 50, </a:t>
            </a:r>
            <a:r>
              <a:rPr sz="2600" dirty="0" err="1"/>
              <a:t>espacés</a:t>
            </a:r>
            <a:r>
              <a:rPr sz="2600" dirty="0"/>
              <a:t> de 10</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grpSp>
        <p:nvGrpSpPr>
          <p:cNvPr id="7" name="Groupe 6">
            <a:extLst>
              <a:ext uri="{FF2B5EF4-FFF2-40B4-BE49-F238E27FC236}">
                <a16:creationId xmlns:a16="http://schemas.microsoft.com/office/drawing/2014/main" id="{3381314C-091B-1F42-AA9A-A0739B745ADD}"/>
              </a:ext>
            </a:extLst>
          </p:cNvPr>
          <p:cNvGrpSpPr/>
          <p:nvPr/>
        </p:nvGrpSpPr>
        <p:grpSpPr>
          <a:xfrm flipH="1">
            <a:off x="3170307" y="3870959"/>
            <a:ext cx="1884699" cy="2244574"/>
            <a:chOff x="7064848" y="1752600"/>
            <a:chExt cx="3672348" cy="4373563"/>
          </a:xfrm>
        </p:grpSpPr>
        <p:sp>
          <p:nvSpPr>
            <p:cNvPr id="8" name="Rectangle 7">
              <a:extLst>
                <a:ext uri="{FF2B5EF4-FFF2-40B4-BE49-F238E27FC236}">
                  <a16:creationId xmlns:a16="http://schemas.microsoft.com/office/drawing/2014/main" id="{0A3D82DF-14C1-0A0E-63EB-6DB38CB4E31C}"/>
                </a:ext>
              </a:extLst>
            </p:cNvPr>
            <p:cNvSpPr/>
            <p:nvPr/>
          </p:nvSpPr>
          <p:spPr>
            <a:xfrm>
              <a:off x="7064848" y="1752600"/>
              <a:ext cx="3672348" cy="437356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8C01B98A-B5C9-CCAA-3C03-EC68C5FF2FEB}"/>
                </a:ext>
              </a:extLst>
            </p:cNvPr>
            <p:cNvSpPr/>
            <p:nvPr/>
          </p:nvSpPr>
          <p:spPr>
            <a:xfrm>
              <a:off x="7153338" y="1828802"/>
              <a:ext cx="3495368" cy="914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E2036072-F451-A5A9-FE9F-B1D363233736}"/>
                </a:ext>
              </a:extLst>
            </p:cNvPr>
            <p:cNvSpPr/>
            <p:nvPr/>
          </p:nvSpPr>
          <p:spPr>
            <a:xfrm>
              <a:off x="7153338" y="2858730"/>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FBFA77BE-9B62-04FC-DDE2-A3FE8A75E922}"/>
                </a:ext>
              </a:extLst>
            </p:cNvPr>
            <p:cNvSpPr/>
            <p:nvPr/>
          </p:nvSpPr>
          <p:spPr>
            <a:xfrm>
              <a:off x="7153338" y="3689235"/>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F1962E9C-F052-A633-71F4-329238E32141}"/>
                </a:ext>
              </a:extLst>
            </p:cNvPr>
            <p:cNvSpPr/>
            <p:nvPr/>
          </p:nvSpPr>
          <p:spPr>
            <a:xfrm>
              <a:off x="7153338" y="4519740"/>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AC352675-B7F0-10A0-130A-BA8783B6C0BB}"/>
                </a:ext>
              </a:extLst>
            </p:cNvPr>
            <p:cNvSpPr/>
            <p:nvPr/>
          </p:nvSpPr>
          <p:spPr>
            <a:xfrm>
              <a:off x="7153338" y="5350245"/>
              <a:ext cx="3495368" cy="72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grpSp>
      <p:grpSp>
        <p:nvGrpSpPr>
          <p:cNvPr id="14" name="Groupe 13">
            <a:extLst>
              <a:ext uri="{FF2B5EF4-FFF2-40B4-BE49-F238E27FC236}">
                <a16:creationId xmlns:a16="http://schemas.microsoft.com/office/drawing/2014/main" id="{A995A914-B700-5C86-0730-B6C082EAD522}"/>
              </a:ext>
            </a:extLst>
          </p:cNvPr>
          <p:cNvGrpSpPr/>
          <p:nvPr/>
        </p:nvGrpSpPr>
        <p:grpSpPr>
          <a:xfrm>
            <a:off x="6461276" y="3870959"/>
            <a:ext cx="1884701" cy="2244575"/>
            <a:chOff x="7064848" y="1752600"/>
            <a:chExt cx="3672348" cy="4373563"/>
          </a:xfrm>
        </p:grpSpPr>
        <p:sp>
          <p:nvSpPr>
            <p:cNvPr id="15" name="Rectangle 14">
              <a:extLst>
                <a:ext uri="{FF2B5EF4-FFF2-40B4-BE49-F238E27FC236}">
                  <a16:creationId xmlns:a16="http://schemas.microsoft.com/office/drawing/2014/main" id="{49E92369-8072-0860-1B09-EDD6E376F9B0}"/>
                </a:ext>
              </a:extLst>
            </p:cNvPr>
            <p:cNvSpPr/>
            <p:nvPr/>
          </p:nvSpPr>
          <p:spPr>
            <a:xfrm>
              <a:off x="7064848" y="1752600"/>
              <a:ext cx="3672348" cy="437356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16" name="Rectangle 15">
              <a:extLst>
                <a:ext uri="{FF2B5EF4-FFF2-40B4-BE49-F238E27FC236}">
                  <a16:creationId xmlns:a16="http://schemas.microsoft.com/office/drawing/2014/main" id="{6F06CA79-6B6F-0771-A132-6A37ABB637B1}"/>
                </a:ext>
              </a:extLst>
            </p:cNvPr>
            <p:cNvSpPr/>
            <p:nvPr/>
          </p:nvSpPr>
          <p:spPr>
            <a:xfrm>
              <a:off x="7153338" y="1828802"/>
              <a:ext cx="3495368" cy="9143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00"/>
            </a:p>
          </p:txBody>
        </p:sp>
        <p:sp>
          <p:nvSpPr>
            <p:cNvPr id="17" name="Rectangle 16">
              <a:extLst>
                <a:ext uri="{FF2B5EF4-FFF2-40B4-BE49-F238E27FC236}">
                  <a16:creationId xmlns:a16="http://schemas.microsoft.com/office/drawing/2014/main" id="{614E3D98-EEB0-1EF6-8AC5-9570E62931BF}"/>
                </a:ext>
              </a:extLst>
            </p:cNvPr>
            <p:cNvSpPr/>
            <p:nvPr/>
          </p:nvSpPr>
          <p:spPr>
            <a:xfrm>
              <a:off x="7153338" y="2858730"/>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18" name="Rectangle 17">
              <a:extLst>
                <a:ext uri="{FF2B5EF4-FFF2-40B4-BE49-F238E27FC236}">
                  <a16:creationId xmlns:a16="http://schemas.microsoft.com/office/drawing/2014/main" id="{A93D4DA4-F656-AE14-70DB-1313CF26AA2F}"/>
                </a:ext>
              </a:extLst>
            </p:cNvPr>
            <p:cNvSpPr/>
            <p:nvPr/>
          </p:nvSpPr>
          <p:spPr>
            <a:xfrm>
              <a:off x="7153338" y="3689235"/>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19" name="Rectangle 18">
              <a:extLst>
                <a:ext uri="{FF2B5EF4-FFF2-40B4-BE49-F238E27FC236}">
                  <a16:creationId xmlns:a16="http://schemas.microsoft.com/office/drawing/2014/main" id="{BD81058B-5A9F-1C60-190C-E2232CBA8B29}"/>
                </a:ext>
              </a:extLst>
            </p:cNvPr>
            <p:cNvSpPr/>
            <p:nvPr/>
          </p:nvSpPr>
          <p:spPr>
            <a:xfrm>
              <a:off x="7153338" y="4519740"/>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20" name="Rectangle 19">
              <a:extLst>
                <a:ext uri="{FF2B5EF4-FFF2-40B4-BE49-F238E27FC236}">
                  <a16:creationId xmlns:a16="http://schemas.microsoft.com/office/drawing/2014/main" id="{1F9A0631-156A-6345-5FDA-B8F65D9E0B58}"/>
                </a:ext>
              </a:extLst>
            </p:cNvPr>
            <p:cNvSpPr/>
            <p:nvPr/>
          </p:nvSpPr>
          <p:spPr>
            <a:xfrm>
              <a:off x="7153338" y="5350245"/>
              <a:ext cx="3495368" cy="720000"/>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100"/>
            </a:p>
          </p:txBody>
        </p:sp>
        <p:sp>
          <p:nvSpPr>
            <p:cNvPr id="21" name="Rectangle 20">
              <a:extLst>
                <a:ext uri="{FF2B5EF4-FFF2-40B4-BE49-F238E27FC236}">
                  <a16:creationId xmlns:a16="http://schemas.microsoft.com/office/drawing/2014/main" id="{5E5E46C3-B8D3-77D8-6018-5E6FD2D4C8E7}"/>
                </a:ext>
              </a:extLst>
            </p:cNvPr>
            <p:cNvSpPr/>
            <p:nvPr/>
          </p:nvSpPr>
          <p:spPr>
            <a:xfrm>
              <a:off x="7197584" y="1884054"/>
              <a:ext cx="3372465" cy="78048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fr-FR" sz="1100"/>
            </a:p>
          </p:txBody>
        </p:sp>
        <p:sp>
          <p:nvSpPr>
            <p:cNvPr id="22" name="ZoneTexte 21">
              <a:extLst>
                <a:ext uri="{FF2B5EF4-FFF2-40B4-BE49-F238E27FC236}">
                  <a16:creationId xmlns:a16="http://schemas.microsoft.com/office/drawing/2014/main" id="{9CCADF7E-7D65-8D6A-C4FC-C6639089CBF5}"/>
                </a:ext>
              </a:extLst>
            </p:cNvPr>
            <p:cNvSpPr txBox="1"/>
            <p:nvPr/>
          </p:nvSpPr>
          <p:spPr>
            <a:xfrm>
              <a:off x="8583931" y="1913550"/>
              <a:ext cx="521110" cy="719645"/>
            </a:xfrm>
            <a:prstGeom prst="rect">
              <a:avLst/>
            </a:prstGeom>
            <a:solidFill>
              <a:schemeClr val="bg1"/>
            </a:solidFill>
            <a:ln>
              <a:solidFill>
                <a:srgbClr val="FF0000"/>
              </a:solidFill>
            </a:ln>
          </p:spPr>
          <p:txBody>
            <a:bodyPr wrap="square" rtlCol="0">
              <a:spAutoFit/>
            </a:bodyPr>
            <a:lstStyle/>
            <a:p>
              <a:pPr algn="ctr"/>
              <a:r>
                <a:rPr lang="fr-FR" dirty="0">
                  <a:latin typeface="Arial" panose="020B0604020202020204" pitchFamily="34" charset="0"/>
                  <a:cs typeface="Arial" panose="020B0604020202020204" pitchFamily="34" charset="0"/>
                </a:rPr>
                <a:t>0</a:t>
              </a:r>
              <a:endParaRPr lang="fr-FR" sz="1000" dirty="0">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EF5295BB-4948-F0DA-C6E3-5F7EF308ACF1}"/>
                </a:ext>
              </a:extLst>
            </p:cNvPr>
            <p:cNvSpPr/>
            <p:nvPr/>
          </p:nvSpPr>
          <p:spPr>
            <a:xfrm>
              <a:off x="7231997"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7</a:t>
              </a:r>
            </a:p>
          </p:txBody>
        </p:sp>
        <p:sp>
          <p:nvSpPr>
            <p:cNvPr id="24" name="Rectangle 23">
              <a:extLst>
                <a:ext uri="{FF2B5EF4-FFF2-40B4-BE49-F238E27FC236}">
                  <a16:creationId xmlns:a16="http://schemas.microsoft.com/office/drawing/2014/main" id="{6363217E-1B1F-C610-CE02-39FE0564B503}"/>
                </a:ext>
              </a:extLst>
            </p:cNvPr>
            <p:cNvSpPr/>
            <p:nvPr/>
          </p:nvSpPr>
          <p:spPr>
            <a:xfrm>
              <a:off x="8100513"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8</a:t>
              </a:r>
            </a:p>
          </p:txBody>
        </p:sp>
        <p:sp>
          <p:nvSpPr>
            <p:cNvPr id="25" name="Rectangle 24">
              <a:extLst>
                <a:ext uri="{FF2B5EF4-FFF2-40B4-BE49-F238E27FC236}">
                  <a16:creationId xmlns:a16="http://schemas.microsoft.com/office/drawing/2014/main" id="{13457DB8-A47F-0A8A-644F-F6FB52FC1864}"/>
                </a:ext>
              </a:extLst>
            </p:cNvPr>
            <p:cNvSpPr/>
            <p:nvPr/>
          </p:nvSpPr>
          <p:spPr>
            <a:xfrm>
              <a:off x="8969029"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9</a:t>
              </a:r>
            </a:p>
          </p:txBody>
        </p:sp>
        <p:sp>
          <p:nvSpPr>
            <p:cNvPr id="26" name="Rectangle 25">
              <a:extLst>
                <a:ext uri="{FF2B5EF4-FFF2-40B4-BE49-F238E27FC236}">
                  <a16:creationId xmlns:a16="http://schemas.microsoft.com/office/drawing/2014/main" id="{84838AD6-FEAD-7B47-1925-DB6BD246ACA3}"/>
                </a:ext>
              </a:extLst>
            </p:cNvPr>
            <p:cNvSpPr/>
            <p:nvPr/>
          </p:nvSpPr>
          <p:spPr>
            <a:xfrm>
              <a:off x="9837546" y="293799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sp>
          <p:nvSpPr>
            <p:cNvPr id="27" name="Rectangle 26">
              <a:extLst>
                <a:ext uri="{FF2B5EF4-FFF2-40B4-BE49-F238E27FC236}">
                  <a16:creationId xmlns:a16="http://schemas.microsoft.com/office/drawing/2014/main" id="{27D141BF-4F5C-E1D5-BFFA-9F4E43F11EC7}"/>
                </a:ext>
              </a:extLst>
            </p:cNvPr>
            <p:cNvSpPr/>
            <p:nvPr/>
          </p:nvSpPr>
          <p:spPr>
            <a:xfrm>
              <a:off x="7231997"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4</a:t>
              </a:r>
            </a:p>
          </p:txBody>
        </p:sp>
        <p:sp>
          <p:nvSpPr>
            <p:cNvPr id="28" name="Rectangle 27">
              <a:extLst>
                <a:ext uri="{FF2B5EF4-FFF2-40B4-BE49-F238E27FC236}">
                  <a16:creationId xmlns:a16="http://schemas.microsoft.com/office/drawing/2014/main" id="{6F76344B-6939-1A87-DDFA-1EDE1C9081EB}"/>
                </a:ext>
              </a:extLst>
            </p:cNvPr>
            <p:cNvSpPr/>
            <p:nvPr/>
          </p:nvSpPr>
          <p:spPr>
            <a:xfrm>
              <a:off x="8100513"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5</a:t>
              </a:r>
            </a:p>
          </p:txBody>
        </p:sp>
        <p:sp>
          <p:nvSpPr>
            <p:cNvPr id="29" name="Rectangle 28">
              <a:extLst>
                <a:ext uri="{FF2B5EF4-FFF2-40B4-BE49-F238E27FC236}">
                  <a16:creationId xmlns:a16="http://schemas.microsoft.com/office/drawing/2014/main" id="{005A2D62-27BC-0462-1E25-276513EFE09A}"/>
                </a:ext>
              </a:extLst>
            </p:cNvPr>
            <p:cNvSpPr/>
            <p:nvPr/>
          </p:nvSpPr>
          <p:spPr>
            <a:xfrm>
              <a:off x="8969029"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6</a:t>
              </a:r>
            </a:p>
          </p:txBody>
        </p:sp>
        <p:sp>
          <p:nvSpPr>
            <p:cNvPr id="30" name="Rectangle 29">
              <a:extLst>
                <a:ext uri="{FF2B5EF4-FFF2-40B4-BE49-F238E27FC236}">
                  <a16:creationId xmlns:a16="http://schemas.microsoft.com/office/drawing/2014/main" id="{9E124EB6-6359-7829-000E-946620B375FD}"/>
                </a:ext>
              </a:extLst>
            </p:cNvPr>
            <p:cNvSpPr/>
            <p:nvPr/>
          </p:nvSpPr>
          <p:spPr>
            <a:xfrm>
              <a:off x="9837546" y="3754074"/>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x</a:t>
              </a:r>
            </a:p>
          </p:txBody>
        </p:sp>
        <p:sp>
          <p:nvSpPr>
            <p:cNvPr id="31" name="Rectangle 30">
              <a:extLst>
                <a:ext uri="{FF2B5EF4-FFF2-40B4-BE49-F238E27FC236}">
                  <a16:creationId xmlns:a16="http://schemas.microsoft.com/office/drawing/2014/main" id="{4680EA39-31C4-77DE-4B6F-613ACDE91931}"/>
                </a:ext>
              </a:extLst>
            </p:cNvPr>
            <p:cNvSpPr/>
            <p:nvPr/>
          </p:nvSpPr>
          <p:spPr>
            <a:xfrm>
              <a:off x="7231997"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1</a:t>
              </a:r>
            </a:p>
          </p:txBody>
        </p:sp>
        <p:sp>
          <p:nvSpPr>
            <p:cNvPr id="32" name="Rectangle 31">
              <a:extLst>
                <a:ext uri="{FF2B5EF4-FFF2-40B4-BE49-F238E27FC236}">
                  <a16:creationId xmlns:a16="http://schemas.microsoft.com/office/drawing/2014/main" id="{2A960A94-8098-F403-4498-6403EE61EEE6}"/>
                </a:ext>
              </a:extLst>
            </p:cNvPr>
            <p:cNvSpPr/>
            <p:nvPr/>
          </p:nvSpPr>
          <p:spPr>
            <a:xfrm>
              <a:off x="8100513"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2</a:t>
              </a:r>
            </a:p>
          </p:txBody>
        </p:sp>
        <p:sp>
          <p:nvSpPr>
            <p:cNvPr id="33" name="Rectangle 32">
              <a:extLst>
                <a:ext uri="{FF2B5EF4-FFF2-40B4-BE49-F238E27FC236}">
                  <a16:creationId xmlns:a16="http://schemas.microsoft.com/office/drawing/2014/main" id="{DB546DF9-0EFA-9250-AA3C-8964AFD8C0A4}"/>
                </a:ext>
              </a:extLst>
            </p:cNvPr>
            <p:cNvSpPr/>
            <p:nvPr/>
          </p:nvSpPr>
          <p:spPr>
            <a:xfrm>
              <a:off x="8969029"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3</a:t>
              </a:r>
            </a:p>
          </p:txBody>
        </p:sp>
        <p:sp>
          <p:nvSpPr>
            <p:cNvPr id="34" name="Rectangle 33">
              <a:extLst>
                <a:ext uri="{FF2B5EF4-FFF2-40B4-BE49-F238E27FC236}">
                  <a16:creationId xmlns:a16="http://schemas.microsoft.com/office/drawing/2014/main" id="{3CB1899A-50FB-2580-56CB-68C398CEB0B3}"/>
                </a:ext>
              </a:extLst>
            </p:cNvPr>
            <p:cNvSpPr/>
            <p:nvPr/>
          </p:nvSpPr>
          <p:spPr>
            <a:xfrm>
              <a:off x="9837546" y="4589816"/>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sp>
          <p:nvSpPr>
            <p:cNvPr id="35" name="Rectangle 34">
              <a:extLst>
                <a:ext uri="{FF2B5EF4-FFF2-40B4-BE49-F238E27FC236}">
                  <a16:creationId xmlns:a16="http://schemas.microsoft.com/office/drawing/2014/main" id="{6CAB4FFA-D11D-94C3-63B7-47B503ED11F2}"/>
                </a:ext>
              </a:extLst>
            </p:cNvPr>
            <p:cNvSpPr/>
            <p:nvPr/>
          </p:nvSpPr>
          <p:spPr>
            <a:xfrm>
              <a:off x="7231996" y="5435389"/>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0</a:t>
              </a:r>
            </a:p>
          </p:txBody>
        </p:sp>
        <p:sp>
          <p:nvSpPr>
            <p:cNvPr id="36" name="Rectangle 35">
              <a:extLst>
                <a:ext uri="{FF2B5EF4-FFF2-40B4-BE49-F238E27FC236}">
                  <a16:creationId xmlns:a16="http://schemas.microsoft.com/office/drawing/2014/main" id="{6E11AACB-15BD-CF19-6736-CAB56BAB9777}"/>
                </a:ext>
              </a:extLst>
            </p:cNvPr>
            <p:cNvSpPr/>
            <p:nvPr/>
          </p:nvSpPr>
          <p:spPr>
            <a:xfrm>
              <a:off x="8969029" y="5435389"/>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sp>
          <p:nvSpPr>
            <p:cNvPr id="937" name="Rectangle 37">
              <a:extLst>
                <a:ext uri="{FF2B5EF4-FFF2-40B4-BE49-F238E27FC236}">
                  <a16:creationId xmlns:a16="http://schemas.microsoft.com/office/drawing/2014/main" id="{6E11AACB-15BD-CF19-6736-CAB56BAB9777}"/>
                </a:ext>
              </a:extLst>
            </p:cNvPr>
            <p:cNvSpPr/>
            <p:nvPr/>
          </p:nvSpPr>
          <p:spPr>
            <a:xfrm>
              <a:off x="8100513" y="5435389"/>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C</a:t>
              </a:r>
            </a:p>
          </p:txBody>
        </p:sp>
        <p:sp>
          <p:nvSpPr>
            <p:cNvPr id="37" name="Rectangle 36">
              <a:extLst>
                <a:ext uri="{FF2B5EF4-FFF2-40B4-BE49-F238E27FC236}">
                  <a16:creationId xmlns:a16="http://schemas.microsoft.com/office/drawing/2014/main" id="{28B9E6AC-20BD-8239-3039-4886C2230B35}"/>
                </a:ext>
              </a:extLst>
            </p:cNvPr>
            <p:cNvSpPr/>
            <p:nvPr/>
          </p:nvSpPr>
          <p:spPr>
            <a:xfrm>
              <a:off x="9837546" y="5435389"/>
              <a:ext cx="712839" cy="5524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fr-FR" sz="1600" dirty="0">
                  <a:solidFill>
                    <a:schemeClr val="tx1"/>
                  </a:solidFill>
                  <a:latin typeface="Arial" panose="020B0604020202020204" pitchFamily="34" charset="0"/>
                  <a:cs typeface="Arial" panose="020B0604020202020204" pitchFamily="34" charset="0"/>
                </a:rPr>
                <a: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mots de XML</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élément s'ouvre et se ferme : </a:t>
            </a:r>
            <a:r>
              <a:rPr sz="2400">
                <a:solidFill>
                  <a:schemeClr val="accent4"/>
                </a:solidFill>
                <a:latin typeface="Consolas"/>
              </a:rPr>
              <a:t>&lt;HBox&gt; ... &lt;/HBox&gt;</a:t>
            </a:r>
            <a:r>
              <a:rPr sz="2800"/>
              <a:t>, ou </a:t>
            </a:r>
            <a:r>
              <a:rPr sz="2400">
                <a:solidFill>
                  <a:schemeClr val="accent4"/>
                </a:solidFill>
                <a:latin typeface="Consolas"/>
              </a:rPr>
              <a:t>&lt;Text /&gt;</a:t>
            </a:r>
          </a:p>
          <a:p>
            <a:pPr marL="0" indent="0">
              <a:spcAft>
                <a:spcPts val="1000"/>
              </a:spcAft>
              <a:buNone/>
            </a:pPr>
            <a:r>
              <a:rPr sz="2800"/>
              <a:t>Il peut contenir des attributs : </a:t>
            </a:r>
            <a:r>
              <a:rPr sz="2400">
                <a:solidFill>
                  <a:schemeClr val="accent4"/>
                </a:solidFill>
                <a:latin typeface="Consolas"/>
              </a:rPr>
              <a:t>&lt;Button text="7" /&gt;</a:t>
            </a:r>
          </a:p>
          <a:p>
            <a:pPr marL="0" indent="0">
              <a:spcAft>
                <a:spcPts val="1000"/>
              </a:spcAft>
              <a:buNone/>
            </a:pPr>
            <a:r>
              <a:rPr sz="2800"/>
              <a:t>Les éléments s'emboîtent : l'emboîtement est l'arbre</a:t>
            </a:r>
          </a:p>
        </p:txBody>
      </p:sp>
      <p:sp>
        <p:nvSpPr>
          <p:cNvPr id="4" name="Code"/>
          <p:cNvSpPr txBox="1"/>
          <p:nvPr/>
        </p:nvSpPr>
        <p:spPr>
          <a:xfrm>
            <a:off x="4057650" y="3733799"/>
            <a:ext cx="40767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&lt;marin id=</a:t>
            </a:r>
            <a:r>
              <a:rPr sz="1800">
                <a:solidFill>
                  <a:srgbClr val="6AAB73"/>
                </a:solidFill>
                <a:latin typeface="Consolas"/>
              </a:rPr>
              <a:t>"12"</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&lt;nom&gt;Surcouf&lt;/nom&gt;</a:t>
            </a:r>
          </a:p>
          <a:p>
            <a:pPr>
              <a:lnSpc>
                <a:spcPct val="100000"/>
              </a:lnSpc>
              <a:spcBef>
                <a:spcPts val="0"/>
              </a:spcBef>
              <a:spcAft>
                <a:spcPts val="0"/>
              </a:spcAft>
            </a:pPr>
            <a:r>
              <a:rPr sz="1800">
                <a:solidFill>
                  <a:srgbClr val="BCBEC4"/>
                </a:solidFill>
                <a:latin typeface="Consolas"/>
              </a:rPr>
              <a:t>    &lt;prenom&gt;Robert&lt;/prenom&gt;</a:t>
            </a:r>
          </a:p>
          <a:p>
            <a:pPr>
              <a:lnSpc>
                <a:spcPct val="100000"/>
              </a:lnSpc>
              <a:spcBef>
                <a:spcPts val="0"/>
              </a:spcBef>
              <a:spcAft>
                <a:spcPts val="0"/>
              </a:spcAft>
            </a:pPr>
            <a:r>
              <a:rPr sz="1800">
                <a:solidFill>
                  <a:srgbClr val="BCBEC4"/>
                </a:solidFill>
                <a:latin typeface="Consolas"/>
              </a:rPr>
              <a:t>&lt;/marin&gt;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squelette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racine est la </a:t>
            </a:r>
            <a:r>
              <a:rPr sz="2400">
                <a:solidFill>
                  <a:schemeClr val="accent4"/>
                </a:solidFill>
                <a:latin typeface="Consolas"/>
              </a:rPr>
              <a:t>VBox</a:t>
            </a:r>
            <a:r>
              <a:rPr sz="2800"/>
              <a:t>, qui nomme le contrôleur</a:t>
            </a:r>
          </a:p>
          <a:p>
            <a:pPr marL="0" indent="0">
              <a:spcAft>
                <a:spcPts val="1000"/>
              </a:spcAft>
              <a:buNone/>
            </a:pPr>
            <a:r>
              <a:rPr sz="2800"/>
              <a:t>Ses enfants : un </a:t>
            </a:r>
            <a:r>
              <a:rPr sz="2400">
                <a:solidFill>
                  <a:schemeClr val="accent4"/>
                </a:solidFill>
                <a:latin typeface="Consolas"/>
              </a:rPr>
              <a:t>StackPane</a:t>
            </a:r>
            <a:r>
              <a:rPr sz="2800"/>
              <a:t>, puis quatre </a:t>
            </a:r>
            <a:r>
              <a:rPr sz="2400">
                <a:solidFill>
                  <a:schemeClr val="accent4"/>
                </a:solidFill>
                <a:latin typeface="Consolas"/>
              </a:rPr>
              <a:t>HBox</a:t>
            </a:r>
            <a:r>
              <a:rPr sz="2800"/>
              <a:t>, vides pour l'instant</a:t>
            </a:r>
          </a:p>
        </p:txBody>
      </p:sp>
      <p:sp>
        <p:nvSpPr>
          <p:cNvPr id="4" name="Code"/>
          <p:cNvSpPr txBox="1"/>
          <p:nvPr/>
        </p:nvSpPr>
        <p:spPr>
          <a:xfrm>
            <a:off x="2171700" y="3180079"/>
            <a:ext cx="78486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&lt;VBox xmlns:fx=</a:t>
            </a:r>
            <a:r>
              <a:rPr sz="1800">
                <a:solidFill>
                  <a:srgbClr val="6AAB73"/>
                </a:solidFill>
                <a:latin typeface="Consolas"/>
              </a:rPr>
              <a:t>"http://javafx.com/fxml"</a:t>
            </a:r>
          </a:p>
          <a:p>
            <a:pPr>
              <a:lnSpc>
                <a:spcPct val="100000"/>
              </a:lnSpc>
              <a:spcBef>
                <a:spcPts val="0"/>
              </a:spcBef>
              <a:spcAft>
                <a:spcPts val="0"/>
              </a:spcAft>
            </a:pPr>
            <a:r>
              <a:rPr sz="1800">
                <a:solidFill>
                  <a:srgbClr val="BCBEC4"/>
                </a:solidFill>
                <a:latin typeface="Consolas"/>
              </a:rPr>
              <a:t>      fx:controller=</a:t>
            </a:r>
            <a:r>
              <a:rPr sz="1800">
                <a:solidFill>
                  <a:srgbClr val="6AAB73"/>
                </a:solidFill>
                <a:latin typeface="Consolas"/>
              </a:rPr>
              <a:t>"be.ephec.java.fx.e09.Controleur"</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&lt;StackPane&gt;&lt;/StackPane&gt;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    &lt;HBox&gt;&lt;/HBox&gt;</a:t>
            </a:r>
          </a:p>
          <a:p>
            <a:pPr>
              <a:lnSpc>
                <a:spcPct val="100000"/>
              </a:lnSpc>
              <a:spcBef>
                <a:spcPts val="0"/>
              </a:spcBef>
              <a:spcAft>
                <a:spcPts val="0"/>
              </a:spcAft>
            </a:pPr>
            <a:r>
              <a:rPr sz="1800">
                <a:solidFill>
                  <a:srgbClr val="BCBEC4"/>
                </a:solidFill>
                <a:latin typeface="Consolas"/>
              </a:rPr>
              <a:t>&lt;/VBox&gt;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attribut, c'est un setter</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Chaque élément est une classe Java, chaque attribut une méthode </a:t>
            </a:r>
            <a:r>
              <a:rPr sz="2400">
                <a:solidFill>
                  <a:schemeClr val="accent4"/>
                </a:solidFill>
                <a:latin typeface="Consolas"/>
              </a:rPr>
              <a:t>set</a:t>
            </a:r>
          </a:p>
          <a:p>
            <a:pPr marL="0" indent="0">
              <a:spcAft>
                <a:spcPts val="1000"/>
              </a:spcAft>
              <a:buNone/>
            </a:pPr>
            <a:r>
              <a:rPr sz="2400">
                <a:solidFill>
                  <a:schemeClr val="accent4"/>
                </a:solidFill>
                <a:latin typeface="Consolas"/>
              </a:rPr>
              <a:t>setAlignment</a:t>
            </a:r>
            <a:r>
              <a:rPr sz="2800"/>
              <a:t> devient l'attribut </a:t>
            </a:r>
            <a:r>
              <a:rPr sz="2400">
                <a:solidFill>
                  <a:schemeClr val="accent4"/>
                </a:solidFill>
                <a:latin typeface="Consolas"/>
              </a:rPr>
              <a:t>alignment</a:t>
            </a:r>
          </a:p>
          <a:p>
            <a:pPr marL="0" indent="0">
              <a:spcAft>
                <a:spcPts val="1000"/>
              </a:spcAft>
              <a:buNone/>
            </a:pPr>
            <a:r>
              <a:rPr sz="2800"/>
              <a:t>La Javadoc de la classe dit donc quels attributs existent</a:t>
            </a:r>
          </a:p>
        </p:txBody>
      </p:sp>
      <p:sp>
        <p:nvSpPr>
          <p:cNvPr id="4" name="Code"/>
          <p:cNvSpPr txBox="1"/>
          <p:nvPr/>
        </p:nvSpPr>
        <p:spPr>
          <a:xfrm>
            <a:off x="640080" y="4160520"/>
            <a:ext cx="10881360" cy="807720"/>
          </a:xfrm>
          <a:prstGeom prst="roundRect">
            <a:avLst>
              <a:gd name="adj" fmla="val 1132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&lt;VBox prefWidth=</a:t>
            </a:r>
            <a:r>
              <a:rPr sz="1750">
                <a:solidFill>
                  <a:srgbClr val="6AAB73"/>
                </a:solidFill>
                <a:latin typeface="Consolas"/>
              </a:rPr>
              <a:t>"300"</a:t>
            </a:r>
            <a:r>
              <a:rPr sz="1750">
                <a:solidFill>
                  <a:srgbClr val="BCBEC4"/>
                </a:solidFill>
                <a:latin typeface="Consolas"/>
              </a:rPr>
              <a:t> prefHeight=</a:t>
            </a:r>
            <a:r>
              <a:rPr sz="1750">
                <a:solidFill>
                  <a:srgbClr val="6AAB73"/>
                </a:solidFill>
                <a:latin typeface="Consolas"/>
              </a:rPr>
              <a:t>"300"</a:t>
            </a:r>
            <a:r>
              <a:rPr sz="1750">
                <a:solidFill>
                  <a:srgbClr val="BCBEC4"/>
                </a:solidFill>
                <a:latin typeface="Consolas"/>
              </a:rPr>
              <a:t> spacing=</a:t>
            </a:r>
            <a:r>
              <a:rPr sz="1750">
                <a:solidFill>
                  <a:srgbClr val="6AAB73"/>
                </a:solidFill>
                <a:latin typeface="Consolas"/>
              </a:rPr>
              <a:t>"10"</a:t>
            </a:r>
            <a:r>
              <a:rPr sz="1750">
                <a:solidFill>
                  <a:srgbClr val="BCBEC4"/>
                </a:solidFill>
                <a:latin typeface="Consolas"/>
              </a:rPr>
              <a:t> alignment=</a:t>
            </a:r>
            <a:r>
              <a:rPr sz="1750">
                <a:solidFill>
                  <a:srgbClr val="6AAB73"/>
                </a:solidFill>
                <a:latin typeface="Consolas"/>
              </a:rPr>
              <a:t>"CENTER"</a:t>
            </a:r>
            <a:r>
              <a:rPr sz="1750">
                <a:solidFill>
                  <a:srgbClr val="BCBEC4"/>
                </a:solidFill>
                <a:latin typeface="Consolas"/>
              </a:rPr>
              <a:t> ...&gt;</a:t>
            </a:r>
          </a:p>
          <a:p>
            <a:pPr>
              <a:lnSpc>
                <a:spcPct val="100000"/>
              </a:lnSpc>
              <a:spcBef>
                <a:spcPts val="0"/>
              </a:spcBef>
              <a:spcAft>
                <a:spcPts val="0"/>
              </a:spcAft>
            </a:pPr>
            <a:r>
              <a:rPr sz="1750">
                <a:solidFill>
                  <a:srgbClr val="BCBEC4"/>
                </a:solidFill>
                <a:latin typeface="Consolas"/>
              </a:rPr>
              <a:t>    &lt;StackPane alignment=</a:t>
            </a:r>
            <a:r>
              <a:rPr sz="1750">
                <a:solidFill>
                  <a:srgbClr val="6AAB73"/>
                </a:solidFill>
                <a:latin typeface="Consolas"/>
              </a:rPr>
              <a:t>"CENTER"</a:t>
            </a:r>
            <a:r>
              <a:rPr sz="1750">
                <a:solidFill>
                  <a:srgbClr val="BCBEC4"/>
                </a:solidFill>
                <a:latin typeface="Consolas"/>
              </a:rPr>
              <a:t>&gt;&lt;/StackPane&gt;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cadre de l'écran</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Dans le </a:t>
            </a:r>
            <a:r>
              <a:rPr sz="2000">
                <a:solidFill>
                  <a:schemeClr val="accent4"/>
                </a:solidFill>
                <a:latin typeface="Consolas"/>
              </a:rPr>
              <a:t>StackPane</a:t>
            </a:r>
            <a:r>
              <a:rPr sz="2400"/>
              <a:t>, un </a:t>
            </a:r>
            <a:r>
              <a:rPr sz="2000">
                <a:solidFill>
                  <a:schemeClr val="accent4"/>
                </a:solidFill>
                <a:latin typeface="Consolas"/>
              </a:rPr>
              <a:t>Rectangle</a:t>
            </a:r>
            <a:r>
              <a:rPr sz="2400"/>
              <a:t> de 230 sur 50</a:t>
            </a:r>
          </a:p>
          <a:p>
            <a:pPr marL="0" indent="0">
              <a:spcAft>
                <a:spcPts val="1000"/>
              </a:spcAft>
              <a:buNone/>
            </a:pPr>
            <a:r>
              <a:rPr sz="2400"/>
              <a:t>Chaque classe utilisée doit être importée en tête du fichier</a:t>
            </a:r>
          </a:p>
          <a:p>
            <a:pPr marL="0" indent="0">
              <a:spcAft>
                <a:spcPts val="1000"/>
              </a:spcAft>
              <a:buNone/>
            </a:pPr>
            <a:r>
              <a:rPr sz="2400"/>
              <a:t>IntelliJ propose l'</a:t>
            </a:r>
            <a:r>
              <a:rPr sz="2000">
                <a:solidFill>
                  <a:schemeClr val="accent4"/>
                </a:solidFill>
                <a:latin typeface="Consolas"/>
              </a:rPr>
              <a:t>import</a:t>
            </a:r>
            <a:r>
              <a:rPr sz="2400"/>
              <a:t> manquant, comme pour le code Java</a:t>
            </a:r>
          </a:p>
        </p:txBody>
      </p:sp>
      <p:sp>
        <p:nvSpPr>
          <p:cNvPr id="4" name="Code"/>
          <p:cNvSpPr txBox="1"/>
          <p:nvPr/>
        </p:nvSpPr>
        <p:spPr>
          <a:xfrm>
            <a:off x="640080" y="3124200"/>
            <a:ext cx="1088136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javafx.scene.layout.*?&gt;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javafx.scene.shape.*?&gt;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javafx.scene.text.*?&gt;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javafx.scene.control.*?&gt;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&lt;StackPane alignment=</a:t>
            </a:r>
            <a:r>
              <a:rPr sz="1800">
                <a:solidFill>
                  <a:srgbClr val="6AAB73"/>
                </a:solidFill>
                <a:latin typeface="Consolas"/>
              </a:rPr>
              <a:t>"CENTER"</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&lt;Rectangle width=</a:t>
            </a:r>
            <a:r>
              <a:rPr sz="1800">
                <a:solidFill>
                  <a:srgbClr val="6AAB73"/>
                </a:solidFill>
                <a:latin typeface="Consolas"/>
              </a:rPr>
              <a:t>"230"</a:t>
            </a:r>
            <a:r>
              <a:rPr sz="1800">
                <a:solidFill>
                  <a:srgbClr val="BCBEC4"/>
                </a:solidFill>
                <a:latin typeface="Consolas"/>
              </a:rPr>
              <a:t> height=</a:t>
            </a:r>
            <a:r>
              <a:rPr sz="1800">
                <a:solidFill>
                  <a:srgbClr val="6AAB73"/>
                </a:solidFill>
                <a:latin typeface="Consolas"/>
              </a:rPr>
              <a:t>"50"</a:t>
            </a:r>
            <a:r>
              <a:rPr sz="1800">
                <a:solidFill>
                  <a:srgbClr val="BCBEC4"/>
                </a:solidFill>
                <a:latin typeface="Consolas"/>
              </a:rPr>
              <a:t> fill=</a:t>
            </a:r>
            <a:r>
              <a:rPr sz="1800">
                <a:solidFill>
                  <a:srgbClr val="6AAB73"/>
                </a:solidFill>
                <a:latin typeface="Consolas"/>
              </a:rPr>
              <a:t>"TRANSPARENT"</a:t>
            </a:r>
            <a:r>
              <a:rPr sz="1800">
                <a:solidFill>
                  <a:srgbClr val="BCBEC4"/>
                </a:solidFill>
                <a:latin typeface="Consolas"/>
              </a:rPr>
              <a:t> stroke=</a:t>
            </a:r>
            <a:r>
              <a:rPr sz="1800">
                <a:solidFill>
                  <a:srgbClr val="6AAB73"/>
                </a:solidFill>
                <a:latin typeface="Consolas"/>
              </a:rPr>
              <a:t>"GRAY"</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&lt;/StackPane&gt;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texte, relié au contrôleur</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600"/>
              <a:t>Par-dessus le cadre, un </a:t>
            </a:r>
            <a:r>
              <a:rPr sz="2400">
                <a:solidFill>
                  <a:schemeClr val="accent4"/>
                </a:solidFill>
                <a:latin typeface="Consolas"/>
              </a:rPr>
              <a:t>Text</a:t>
            </a:r>
            <a:r>
              <a:rPr sz="2600"/>
              <a:t> qui affichera les nombres</a:t>
            </a:r>
          </a:p>
          <a:p>
            <a:pPr marL="0" indent="0">
              <a:spcAft>
                <a:spcPts val="1000"/>
              </a:spcAft>
              <a:buNone/>
            </a:pPr>
            <a:r>
              <a:rPr sz="2400">
                <a:solidFill>
                  <a:schemeClr val="accent4"/>
                </a:solidFill>
                <a:latin typeface="Consolas"/>
              </a:rPr>
              <a:t>fx:id</a:t>
            </a:r>
            <a:r>
              <a:rPr sz="2600"/>
              <a:t> lui donne un nom ; le contrôleur a un champ du même nom</a:t>
            </a:r>
          </a:p>
          <a:p>
            <a:pPr marL="0" indent="0">
              <a:spcAft>
                <a:spcPts val="1000"/>
              </a:spcAft>
              <a:buNone/>
            </a:pPr>
            <a:r>
              <a:rPr sz="2400">
                <a:solidFill>
                  <a:schemeClr val="accent4"/>
                </a:solidFill>
                <a:latin typeface="Consolas"/>
              </a:rPr>
              <a:t>@FXML</a:t>
            </a:r>
            <a:r>
              <a:rPr sz="2600"/>
              <a:t> dit à JavaFX d'y injecter l'objet créé</a:t>
            </a:r>
          </a:p>
        </p:txBody>
      </p:sp>
      <p:sp>
        <p:nvSpPr>
          <p:cNvPr id="4" name="Code"/>
          <p:cNvSpPr txBox="1"/>
          <p:nvPr/>
        </p:nvSpPr>
        <p:spPr>
          <a:xfrm>
            <a:off x="640080" y="3611879"/>
            <a:ext cx="10881360" cy="2560320"/>
          </a:xfrm>
          <a:prstGeom prst="roundRect">
            <a:avLst>
              <a:gd name="adj" fmla="val 357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BCBEC4"/>
                </a:solidFill>
                <a:latin typeface="Consolas"/>
              </a:rPr>
              <a:t>&lt;StackPane alignment=</a:t>
            </a:r>
            <a:r>
              <a:rPr sz="1700">
                <a:solidFill>
                  <a:srgbClr val="6AAB73"/>
                </a:solidFill>
                <a:latin typeface="Consolas"/>
              </a:rPr>
              <a:t>"CENTER"</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    &lt;Rectangle width=</a:t>
            </a:r>
            <a:r>
              <a:rPr sz="1700">
                <a:solidFill>
                  <a:srgbClr val="6AAB73"/>
                </a:solidFill>
                <a:latin typeface="Consolas"/>
              </a:rPr>
              <a:t>"230"</a:t>
            </a:r>
            <a:r>
              <a:rPr sz="1700">
                <a:solidFill>
                  <a:srgbClr val="BCBEC4"/>
                </a:solidFill>
                <a:latin typeface="Consolas"/>
              </a:rPr>
              <a:t> height=</a:t>
            </a:r>
            <a:r>
              <a:rPr sz="1700">
                <a:solidFill>
                  <a:srgbClr val="6AAB73"/>
                </a:solidFill>
                <a:latin typeface="Consolas"/>
              </a:rPr>
              <a:t>"50"</a:t>
            </a:r>
            <a:r>
              <a:rPr sz="1700">
                <a:solidFill>
                  <a:srgbClr val="BCBEC4"/>
                </a:solidFill>
                <a:latin typeface="Consolas"/>
              </a:rPr>
              <a:t> fill=</a:t>
            </a:r>
            <a:r>
              <a:rPr sz="1700">
                <a:solidFill>
                  <a:srgbClr val="6AAB73"/>
                </a:solidFill>
                <a:latin typeface="Consolas"/>
              </a:rPr>
              <a:t>"TRANSPARENT"</a:t>
            </a:r>
            <a:r>
              <a:rPr sz="1700">
                <a:solidFill>
                  <a:srgbClr val="BCBEC4"/>
                </a:solidFill>
                <a:latin typeface="Consolas"/>
              </a:rPr>
              <a:t> stroke=</a:t>
            </a:r>
            <a:r>
              <a:rPr sz="1700">
                <a:solidFill>
                  <a:srgbClr val="6AAB73"/>
                </a:solidFill>
                <a:latin typeface="Consolas"/>
              </a:rPr>
              <a:t>"GRAY"</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    &lt;Text fx:id=</a:t>
            </a:r>
            <a:r>
              <a:rPr sz="1700">
                <a:solidFill>
                  <a:srgbClr val="6AAB73"/>
                </a:solidFill>
                <a:latin typeface="Consolas"/>
              </a:rPr>
              <a:t>"affichage"</a:t>
            </a:r>
            <a:r>
              <a:rPr sz="1700">
                <a:solidFill>
                  <a:srgbClr val="BCBEC4"/>
                </a:solidFill>
                <a:latin typeface="Consolas"/>
              </a:rPr>
              <a:t> text=</a:t>
            </a:r>
            <a:r>
              <a:rPr sz="1700">
                <a:solidFill>
                  <a:srgbClr val="6AAB73"/>
                </a:solidFill>
                <a:latin typeface="Consolas"/>
              </a:rPr>
              <a:t>"0"</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&lt;/StackPane&gt;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Controleur {</a:t>
            </a:r>
          </a:p>
          <a:p>
            <a:pPr>
              <a:lnSpc>
                <a:spcPct val="100000"/>
              </a:lnSpc>
              <a:spcBef>
                <a:spcPts val="0"/>
              </a:spcBef>
              <a:spcAft>
                <a:spcPts val="0"/>
              </a:spcAft>
            </a:pPr>
            <a:r>
              <a:rPr sz="1700">
                <a:solidFill>
                  <a:srgbClr val="BCBEC4"/>
                </a:solidFill>
                <a:latin typeface="Consolas"/>
              </a:rPr>
              <a:t>    </a:t>
            </a:r>
            <a:r>
              <a:rPr sz="1700">
                <a:solidFill>
                  <a:srgbClr val="B3AE60"/>
                </a:solidFill>
                <a:latin typeface="Consolas"/>
              </a:rPr>
              <a:t>@FXML</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Text affichage;</a:t>
            </a:r>
          </a:p>
          <a:p>
            <a:pPr>
              <a:lnSpc>
                <a:spcPct val="100000"/>
              </a:lnSpc>
              <a:spcBef>
                <a:spcPts val="0"/>
              </a:spcBef>
              <a:spcAft>
                <a:spcPts val="0"/>
              </a:spcAft>
            </a:pPr>
            <a:r>
              <a:rPr sz="17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ligne de touches</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Chaque </a:t>
            </a:r>
            <a:r>
              <a:rPr sz="2400">
                <a:solidFill>
                  <a:schemeClr val="accent4"/>
                </a:solidFill>
                <a:latin typeface="Consolas"/>
              </a:rPr>
              <a:t>HBox</a:t>
            </a:r>
            <a:r>
              <a:rPr sz="2800"/>
              <a:t> est espacée de 10, comme la </a:t>
            </a:r>
            <a:r>
              <a:rPr sz="2400">
                <a:solidFill>
                  <a:schemeClr val="accent4"/>
                </a:solidFill>
                <a:latin typeface="Consolas"/>
              </a:rPr>
              <a:t>VBox</a:t>
            </a:r>
          </a:p>
          <a:p>
            <a:pPr marL="0" indent="0">
              <a:spcAft>
                <a:spcPts val="1000"/>
              </a:spcAft>
              <a:buNone/>
            </a:pPr>
            <a:r>
              <a:rPr sz="2800"/>
              <a:t>Elle contient quatre </a:t>
            </a:r>
            <a:r>
              <a:rPr sz="2400">
                <a:solidFill>
                  <a:schemeClr val="accent4"/>
                </a:solidFill>
                <a:latin typeface="Consolas"/>
              </a:rPr>
              <a:t>Button</a:t>
            </a:r>
            <a:r>
              <a:rPr sz="2800"/>
              <a:t> de 50 sur 50, avec leur texte</a:t>
            </a:r>
          </a:p>
        </p:txBody>
      </p:sp>
      <p:sp>
        <p:nvSpPr>
          <p:cNvPr id="4" name="Code"/>
          <p:cNvSpPr txBox="1"/>
          <p:nvPr/>
        </p:nvSpPr>
        <p:spPr>
          <a:xfrm>
            <a:off x="2241550" y="3180079"/>
            <a:ext cx="77089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&lt;HBox spacing=</a:t>
            </a:r>
            <a:r>
              <a:rPr sz="1800">
                <a:solidFill>
                  <a:srgbClr val="6AAB73"/>
                </a:solidFill>
                <a:latin typeface="Consolas"/>
              </a:rPr>
              <a:t>"10"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"7"</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"8"</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"9"</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&lt;/HBox&gt;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défaut à corriger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Dans </a:t>
            </a:r>
            <a:r>
              <a:rPr sz="2800" i="1" dirty="0">
                <a:solidFill>
                  <a:schemeClr val="accent4"/>
                </a:solidFill>
              </a:rPr>
              <a:t>Scene Builder</a:t>
            </a:r>
            <a:r>
              <a:rPr sz="2800" dirty="0"/>
              <a:t>, les </a:t>
            </a:r>
            <a:r>
              <a:rPr sz="2800" dirty="0" err="1"/>
              <a:t>lignes</a:t>
            </a:r>
            <a:r>
              <a:rPr sz="2800" dirty="0"/>
              <a:t> de touches </a:t>
            </a:r>
            <a:r>
              <a:rPr sz="2800" dirty="0" err="1"/>
              <a:t>sont</a:t>
            </a:r>
            <a:r>
              <a:rPr sz="2800" dirty="0"/>
              <a:t> </a:t>
            </a:r>
            <a:r>
              <a:rPr sz="2800" dirty="0" err="1"/>
              <a:t>collées</a:t>
            </a:r>
            <a:r>
              <a:rPr sz="2800" dirty="0"/>
              <a:t> à gauche</a:t>
            </a:r>
          </a:p>
          <a:p>
            <a:pPr marL="0" indent="0">
              <a:spcAft>
                <a:spcPts val="1000"/>
              </a:spcAft>
              <a:buNone/>
            </a:pPr>
            <a:r>
              <a:rPr sz="2800" dirty="0"/>
              <a:t>Le cadre, </a:t>
            </a:r>
            <a:r>
              <a:rPr sz="2800" dirty="0" err="1"/>
              <a:t>lui</a:t>
            </a:r>
            <a:r>
              <a:rPr sz="2800" dirty="0"/>
              <a:t>, est </a:t>
            </a:r>
            <a:r>
              <a:rPr sz="2800" dirty="0" err="1"/>
              <a:t>centré</a:t>
            </a:r>
            <a:r>
              <a:rPr sz="2800" dirty="0"/>
              <a:t> : rien </a:t>
            </a:r>
            <a:r>
              <a:rPr sz="2800" dirty="0" err="1"/>
              <a:t>n'est</a:t>
            </a:r>
            <a:r>
              <a:rPr sz="2800" dirty="0"/>
              <a:t> </a:t>
            </a:r>
            <a:r>
              <a:rPr sz="2800" dirty="0" err="1"/>
              <a:t>aligné</a:t>
            </a:r>
            <a:endParaRPr sz="2800" dirty="0"/>
          </a:p>
          <a:p>
            <a:pPr marL="0" indent="0">
              <a:spcAft>
                <a:spcPts val="1000"/>
              </a:spcAft>
              <a:buNone/>
            </a:pPr>
            <a:r>
              <a:rPr sz="2800" dirty="0"/>
              <a:t>À vous de </a:t>
            </a:r>
            <a:r>
              <a:rPr sz="2800" dirty="0" err="1"/>
              <a:t>trouver</a:t>
            </a:r>
            <a:r>
              <a:rPr sz="2800" dirty="0"/>
              <a:t> </a:t>
            </a:r>
            <a:r>
              <a:rPr sz="2800" dirty="0" err="1"/>
              <a:t>l'attribut</a:t>
            </a:r>
            <a:r>
              <a:rPr sz="2800" dirty="0"/>
              <a:t> qui </a:t>
            </a:r>
            <a:r>
              <a:rPr sz="2800" dirty="0" err="1"/>
              <a:t>corrige</a:t>
            </a:r>
            <a:r>
              <a:rPr sz="2800" dirty="0"/>
              <a:t> </a:t>
            </a:r>
            <a:r>
              <a:rPr sz="2800" dirty="0" err="1"/>
              <a:t>cela</a:t>
            </a:r>
            <a:endParaRPr sz="2800" dirty="0"/>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Vérifier, puis lancer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Scene Builder montre la vue à chaque étape, sans lancer</a:t>
            </a:r>
          </a:p>
          <a:p>
            <a:pPr marL="0" indent="0">
              <a:spcAft>
                <a:spcPts val="1000"/>
              </a:spcAft>
              <a:buNone/>
            </a:pPr>
            <a:r>
              <a:rPr sz="2800"/>
              <a:t>Lancer </a:t>
            </a:r>
            <a:r>
              <a:rPr sz="2400">
                <a:solidFill>
                  <a:schemeClr val="accent4"/>
                </a:solidFill>
                <a:latin typeface="Consolas"/>
              </a:rPr>
              <a:t>Lanceur</a:t>
            </a:r>
            <a:r>
              <a:rPr sz="2800"/>
              <a:t> affiche la calculatrice</a:t>
            </a:r>
          </a:p>
          <a:p>
            <a:pPr marL="0" indent="0">
              <a:spcAft>
                <a:spcPts val="1000"/>
              </a:spcAft>
              <a:buNone/>
            </a:pPr>
            <a:r>
              <a:rPr sz="2800"/>
              <a:t>Les boutons ne font rien encore : c'est normal</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dernier détail, facultatif</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400">
                <a:solidFill>
                  <a:schemeClr val="accent4"/>
                </a:solidFill>
                <a:latin typeface="Consolas"/>
              </a:rPr>
              <a:t>fx:define</a:t>
            </a:r>
            <a:r>
              <a:rPr sz="2800"/>
              <a:t> crée un objet réutilisable dans la vue</a:t>
            </a:r>
          </a:p>
          <a:p>
            <a:pPr marL="0" indent="0">
              <a:spcAft>
                <a:spcPts val="1000"/>
              </a:spcAft>
              <a:buNone/>
            </a:pPr>
            <a:r>
              <a:rPr sz="2800"/>
              <a:t>Une police de 18, définie une fois, sert au texte et aux touches</a:t>
            </a:r>
          </a:p>
        </p:txBody>
      </p:sp>
      <p:sp>
        <p:nvSpPr>
          <p:cNvPr id="4" name="Code"/>
          <p:cNvSpPr txBox="1"/>
          <p:nvPr/>
        </p:nvSpPr>
        <p:spPr>
          <a:xfrm>
            <a:off x="1473201" y="3180079"/>
            <a:ext cx="9245598"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&lt;fx:define&gt;</a:t>
            </a:r>
          </a:p>
          <a:p>
            <a:pPr>
              <a:lnSpc>
                <a:spcPct val="100000"/>
              </a:lnSpc>
              <a:spcBef>
                <a:spcPts val="0"/>
              </a:spcBef>
              <a:spcAft>
                <a:spcPts val="0"/>
              </a:spcAft>
            </a:pPr>
            <a:r>
              <a:rPr sz="1800">
                <a:solidFill>
                  <a:srgbClr val="BCBEC4"/>
                </a:solidFill>
                <a:latin typeface="Consolas"/>
              </a:rPr>
              <a:t>    &lt;Font fx:id=</a:t>
            </a:r>
            <a:r>
              <a:rPr sz="1800">
                <a:solidFill>
                  <a:srgbClr val="6AAB73"/>
                </a:solidFill>
                <a:latin typeface="Consolas"/>
              </a:rPr>
              <a:t>"POLICE"</a:t>
            </a:r>
            <a:r>
              <a:rPr sz="1800">
                <a:solidFill>
                  <a:srgbClr val="BCBEC4"/>
                </a:solidFill>
                <a:latin typeface="Consolas"/>
              </a:rPr>
              <a:t> size=</a:t>
            </a:r>
            <a:r>
              <a:rPr sz="1800">
                <a:solidFill>
                  <a:srgbClr val="6AAB73"/>
                </a:solidFill>
                <a:latin typeface="Consolas"/>
              </a:rPr>
              <a:t>"18"</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&lt;/fx:define&gt;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&lt;Text fx:id=</a:t>
            </a:r>
            <a:r>
              <a:rPr sz="1800">
                <a:solidFill>
                  <a:srgbClr val="6AAB73"/>
                </a:solidFill>
                <a:latin typeface="Consolas"/>
              </a:rPr>
              <a:t>"affichage"</a:t>
            </a:r>
            <a:r>
              <a:rPr sz="1800">
                <a:solidFill>
                  <a:srgbClr val="BCBEC4"/>
                </a:solidFill>
                <a:latin typeface="Consolas"/>
              </a:rPr>
              <a:t> text=</a:t>
            </a:r>
            <a:r>
              <a:rPr sz="1800">
                <a:solidFill>
                  <a:srgbClr val="6AAB73"/>
                </a:solidFill>
                <a:latin typeface="Consolas"/>
              </a:rPr>
              <a:t>"0"</a:t>
            </a:r>
            <a:r>
              <a:rPr sz="1800">
                <a:solidFill>
                  <a:srgbClr val="BCBEC4"/>
                </a:solidFill>
                <a:latin typeface="Consolas"/>
              </a:rPr>
              <a:t> font=</a:t>
            </a:r>
            <a:r>
              <a:rPr sz="1800">
                <a:solidFill>
                  <a:srgbClr val="6AAB73"/>
                </a:solidFill>
                <a:latin typeface="Consolas"/>
              </a:rPr>
              <a:t>"$POLICE"</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&lt;Button text=</a:t>
            </a:r>
            <a:r>
              <a:rPr sz="1800">
                <a:solidFill>
                  <a:srgbClr val="6AAB73"/>
                </a:solidFill>
                <a:latin typeface="Consolas"/>
              </a:rPr>
              <a:t>"7"</a:t>
            </a:r>
            <a:r>
              <a:rPr sz="1800">
                <a:solidFill>
                  <a:srgbClr val="BCBEC4"/>
                </a:solidFill>
                <a:latin typeface="Consolas"/>
              </a:rPr>
              <a:t> prefWidth=</a:t>
            </a:r>
            <a:r>
              <a:rPr sz="1800">
                <a:solidFill>
                  <a:srgbClr val="6AAB73"/>
                </a:solidFill>
                <a:latin typeface="Consolas"/>
              </a:rPr>
              <a:t>"50"</a:t>
            </a:r>
            <a:r>
              <a:rPr sz="1800">
                <a:solidFill>
                  <a:srgbClr val="BCBEC4"/>
                </a:solidFill>
                <a:latin typeface="Consolas"/>
              </a:rPr>
              <a:t> prefHeight=</a:t>
            </a:r>
            <a:r>
              <a:rPr sz="1800">
                <a:solidFill>
                  <a:srgbClr val="6AAB73"/>
                </a:solidFill>
                <a:latin typeface="Consolas"/>
              </a:rPr>
              <a:t>"50"</a:t>
            </a:r>
            <a:r>
              <a:rPr sz="1800">
                <a:solidFill>
                  <a:srgbClr val="BCBEC4"/>
                </a:solidFill>
                <a:latin typeface="Consolas"/>
              </a:rPr>
              <a:t> font=</a:t>
            </a:r>
            <a:r>
              <a:rPr sz="1800">
                <a:solidFill>
                  <a:srgbClr val="6AAB73"/>
                </a:solidFill>
                <a:latin typeface="Consolas"/>
              </a:rPr>
              <a:t>"$POLICE"</a:t>
            </a:r>
            <a:r>
              <a:rPr sz="1800">
                <a:solidFill>
                  <a:srgbClr val="BCBEC4"/>
                </a:solidFill>
                <a:latin typeface="Consolas"/>
              </a:rPr>
              <a: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2. La vue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5722253" cy="1015663"/>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3. Le contrôleur</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19</a:t>
            </a:fld>
            <a:endParaRPr lang="fr-FR"/>
          </a:p>
        </p:txBody>
      </p:sp>
      <p:pic>
        <p:nvPicPr>
          <p:cNvPr id="2" name="Picture 2" descr="Carte pour régulateur - Consigne à distance avec commutation local/distance  sur slot B | VULCANIC">
            <a:extLst>
              <a:ext uri="{FF2B5EF4-FFF2-40B4-BE49-F238E27FC236}">
                <a16:creationId xmlns:a16="http://schemas.microsoft.com/office/drawing/2014/main" id="{DE619616-3E6A-DC59-3382-533977609C50}"/>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t="22025" b="21669"/>
          <a:stretch/>
        </p:blipFill>
        <p:spPr bwMode="auto">
          <a:xfrm>
            <a:off x="2943860" y="2146532"/>
            <a:ext cx="6304280" cy="3549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Que doit faire chaque touche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comportement par touche ? Un seul pour toutes ?</a:t>
            </a:r>
          </a:p>
          <a:p>
            <a:pPr marL="0" indent="0">
              <a:spcAft>
                <a:spcPts val="1000"/>
              </a:spcAft>
              <a:buNone/>
            </a:pPr>
            <a:r>
              <a:rPr sz="2800"/>
              <a:t>Deux familles : les chiffres modifient le nombre affiché</a:t>
            </a:r>
          </a:p>
          <a:p>
            <a:pPr marL="0" indent="0">
              <a:spcAft>
                <a:spcPts val="1000"/>
              </a:spcAft>
              <a:buNone/>
            </a:pPr>
            <a:r>
              <a:rPr sz="2800"/>
              <a:t>Les opérateurs calculent, et retiennent ce qui a été tapé</a:t>
            </a:r>
          </a:p>
          <a:p>
            <a:pPr marL="0" indent="0">
              <a:spcAft>
                <a:spcPts val="1000"/>
              </a:spcAft>
              <a:buNone/>
            </a:pPr>
            <a:r>
              <a:rPr sz="2800"/>
              <a:t>Et « C » remet tout à zéro</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méthodes, branchées sur la vue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Une méthode du contrôleur, marquée </a:t>
            </a:r>
            <a:r>
              <a:rPr sz="2000">
                <a:solidFill>
                  <a:schemeClr val="accent4"/>
                </a:solidFill>
                <a:latin typeface="Consolas"/>
              </a:rPr>
              <a:t>@FXML</a:t>
            </a:r>
            <a:r>
              <a:rPr sz="2400"/>
              <a:t>, reçoit un </a:t>
            </a:r>
            <a:r>
              <a:rPr sz="2000">
                <a:solidFill>
                  <a:schemeClr val="accent4"/>
                </a:solidFill>
                <a:latin typeface="Consolas"/>
              </a:rPr>
              <a:t>ActionEvent</a:t>
            </a:r>
          </a:p>
          <a:p>
            <a:pPr marL="0" indent="0">
              <a:spcAft>
                <a:spcPts val="1000"/>
              </a:spcAft>
              <a:buNone/>
            </a:pPr>
            <a:r>
              <a:rPr sz="2400"/>
              <a:t>Dans le FXML, </a:t>
            </a:r>
            <a:r>
              <a:rPr sz="2000">
                <a:solidFill>
                  <a:schemeClr val="accent4"/>
                </a:solidFill>
                <a:latin typeface="Consolas"/>
              </a:rPr>
              <a:t>onAction="#nom"</a:t>
            </a:r>
            <a:r>
              <a:rPr sz="2400"/>
              <a:t> désigne la méthode à appeler</a:t>
            </a:r>
          </a:p>
          <a:p>
            <a:pPr marL="0" indent="0">
              <a:spcAft>
                <a:spcPts val="1000"/>
              </a:spcAft>
              <a:buNone/>
            </a:pPr>
            <a:r>
              <a:rPr sz="2400"/>
              <a:t>Pour commencer, chaque méthode écrit un mot dans la console</a:t>
            </a:r>
          </a:p>
        </p:txBody>
      </p:sp>
      <p:sp>
        <p:nvSpPr>
          <p:cNvPr id="4" name="Code"/>
          <p:cNvSpPr txBox="1"/>
          <p:nvPr/>
        </p:nvSpPr>
        <p:spPr>
          <a:xfrm>
            <a:off x="640080" y="3489960"/>
            <a:ext cx="10881360" cy="2087880"/>
          </a:xfrm>
          <a:prstGeom prst="roundRect">
            <a:avLst>
              <a:gd name="adj" fmla="val 437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B3AE60"/>
                </a:solidFill>
                <a:latin typeface="Consolas"/>
              </a:rPr>
              <a:t>@FXML</a:t>
            </a:r>
          </a:p>
          <a:p>
            <a:pPr>
              <a:lnSpc>
                <a:spcPct val="100000"/>
              </a:lnSpc>
              <a:spcBef>
                <a:spcPts val="0"/>
              </a:spcBef>
              <a:spcAft>
                <a:spcPts val="0"/>
              </a:spcAft>
            </a:pP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chiffrePresse</a:t>
            </a:r>
            <a:r>
              <a:rPr sz="1700">
                <a:solidFill>
                  <a:srgbClr val="BCBEC4"/>
                </a:solidFill>
                <a:latin typeface="Consolas"/>
              </a:rPr>
              <a:t>(ActionEvent evenement) {</a:t>
            </a:r>
          </a:p>
          <a:p>
            <a:pPr>
              <a:lnSpc>
                <a:spcPct val="100000"/>
              </a:lnSpc>
              <a:spcBef>
                <a:spcPts val="0"/>
              </a:spcBef>
              <a:spcAft>
                <a:spcPts val="0"/>
              </a:spcAft>
            </a:pPr>
            <a:r>
              <a:rPr sz="1700">
                <a:solidFill>
                  <a:srgbClr val="BCBEC4"/>
                </a:solidFill>
                <a:latin typeface="Consolas"/>
              </a:rPr>
              <a:t>    System.out.</a:t>
            </a:r>
            <a:r>
              <a:rPr sz="1700">
                <a:solidFill>
                  <a:srgbClr val="56A8F5"/>
                </a:solidFill>
                <a:latin typeface="Consolas"/>
              </a:rPr>
              <a:t>println</a:t>
            </a:r>
            <a:r>
              <a:rPr sz="1700">
                <a:solidFill>
                  <a:srgbClr val="BCBEC4"/>
                </a:solidFill>
                <a:latin typeface="Consolas"/>
              </a:rPr>
              <a:t>(</a:t>
            </a:r>
            <a:r>
              <a:rPr sz="1700">
                <a:solidFill>
                  <a:srgbClr val="6AAB73"/>
                </a:solidFill>
                <a:latin typeface="Consolas"/>
              </a:rPr>
              <a:t>"chiffre"</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&lt;Button text=</a:t>
            </a:r>
            <a:r>
              <a:rPr sz="1700">
                <a:solidFill>
                  <a:srgbClr val="6AAB73"/>
                </a:solidFill>
                <a:latin typeface="Consolas"/>
              </a:rPr>
              <a:t>"7"</a:t>
            </a:r>
            <a:r>
              <a:rPr sz="1700">
                <a:solidFill>
                  <a:srgbClr val="BCBEC4"/>
                </a:solidFill>
                <a:latin typeface="Consolas"/>
              </a:rPr>
              <a:t> prefWidth=</a:t>
            </a:r>
            <a:r>
              <a:rPr sz="1700">
                <a:solidFill>
                  <a:srgbClr val="6AAB73"/>
                </a:solidFill>
                <a:latin typeface="Consolas"/>
              </a:rPr>
              <a:t>"50"</a:t>
            </a:r>
            <a:r>
              <a:rPr sz="1700">
                <a:solidFill>
                  <a:srgbClr val="BCBEC4"/>
                </a:solidFill>
                <a:latin typeface="Consolas"/>
              </a:rPr>
              <a:t> prefHeight=</a:t>
            </a:r>
            <a:r>
              <a:rPr sz="1700">
                <a:solidFill>
                  <a:srgbClr val="6AAB73"/>
                </a:solidFill>
                <a:latin typeface="Consolas"/>
              </a:rPr>
              <a:t>"50"</a:t>
            </a:r>
            <a:r>
              <a:rPr sz="1700">
                <a:solidFill>
                  <a:srgbClr val="BCBEC4"/>
                </a:solidFill>
                <a:latin typeface="Consolas"/>
              </a:rPr>
              <a:t> onAction=</a:t>
            </a:r>
            <a:r>
              <a:rPr sz="1700">
                <a:solidFill>
                  <a:srgbClr val="6AAB73"/>
                </a:solidFill>
                <a:latin typeface="Consolas"/>
              </a:rPr>
              <a:t>"#chiffrePresse"</a:t>
            </a:r>
            <a:r>
              <a:rPr sz="1700">
                <a:solidFill>
                  <a:srgbClr val="BCBEC4"/>
                </a:solidFill>
                <a:latin typeface="Consolas"/>
              </a:rPr>
              <a:t>/&gt;</a:t>
            </a:r>
          </a:p>
          <a:p>
            <a:pPr>
              <a:lnSpc>
                <a:spcPct val="100000"/>
              </a:lnSpc>
              <a:spcBef>
                <a:spcPts val="0"/>
              </a:spcBef>
              <a:spcAft>
                <a:spcPts val="0"/>
              </a:spcAft>
            </a:pPr>
            <a:r>
              <a:rPr sz="1700">
                <a:solidFill>
                  <a:srgbClr val="BCBEC4"/>
                </a:solidFill>
                <a:latin typeface="Consolas"/>
              </a:rPr>
              <a:t>&lt;Button text=</a:t>
            </a:r>
            <a:r>
              <a:rPr sz="1700">
                <a:solidFill>
                  <a:srgbClr val="6AAB73"/>
                </a:solidFill>
                <a:latin typeface="Consolas"/>
              </a:rPr>
              <a:t>"+"</a:t>
            </a:r>
            <a:r>
              <a:rPr sz="1700">
                <a:solidFill>
                  <a:srgbClr val="BCBEC4"/>
                </a:solidFill>
                <a:latin typeface="Consolas"/>
              </a:rPr>
              <a:t> prefWidth=</a:t>
            </a:r>
            <a:r>
              <a:rPr sz="1700">
                <a:solidFill>
                  <a:srgbClr val="6AAB73"/>
                </a:solidFill>
                <a:latin typeface="Consolas"/>
              </a:rPr>
              <a:t>"50"</a:t>
            </a:r>
            <a:r>
              <a:rPr sz="1700">
                <a:solidFill>
                  <a:srgbClr val="BCBEC4"/>
                </a:solidFill>
                <a:latin typeface="Consolas"/>
              </a:rPr>
              <a:t> prefHeight=</a:t>
            </a:r>
            <a:r>
              <a:rPr sz="1700">
                <a:solidFill>
                  <a:srgbClr val="6AAB73"/>
                </a:solidFill>
                <a:latin typeface="Consolas"/>
              </a:rPr>
              <a:t>"50"</a:t>
            </a:r>
            <a:r>
              <a:rPr sz="1700">
                <a:solidFill>
                  <a:srgbClr val="BCBEC4"/>
                </a:solidFill>
                <a:latin typeface="Consolas"/>
              </a:rPr>
              <a:t> onAction=</a:t>
            </a:r>
            <a:r>
              <a:rPr sz="1700">
                <a:solidFill>
                  <a:srgbClr val="6AAB73"/>
                </a:solidFill>
                <a:latin typeface="Consolas"/>
              </a:rPr>
              <a:t>"#operateurPresse"</a:t>
            </a:r>
            <a:r>
              <a:rPr sz="1700">
                <a:solidFill>
                  <a:srgbClr val="BCBEC4"/>
                </a:solidFill>
                <a:latin typeface="Consolas"/>
              </a:rPr>
              <a: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Quelle touche a été pressée ?</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Dix boutons, une seule méthode : c'est l'événement qui le dit</a:t>
            </a:r>
          </a:p>
          <a:p>
            <a:pPr marL="0" indent="0">
              <a:spcAft>
                <a:spcPts val="1000"/>
              </a:spcAft>
              <a:buNone/>
            </a:pPr>
            <a:r>
              <a:rPr sz="2400">
                <a:solidFill>
                  <a:schemeClr val="accent4"/>
                </a:solidFill>
                <a:latin typeface="Consolas"/>
              </a:rPr>
              <a:t>getSource</a:t>
            </a:r>
            <a:r>
              <a:rPr sz="2800"/>
              <a:t> retourne le bouton cliqué, </a:t>
            </a:r>
            <a:r>
              <a:rPr sz="2400">
                <a:solidFill>
                  <a:schemeClr val="accent4"/>
                </a:solidFill>
                <a:latin typeface="Consolas"/>
              </a:rPr>
              <a:t>getText</a:t>
            </a:r>
            <a:r>
              <a:rPr sz="2800"/>
              <a:t> son texte</a:t>
            </a:r>
          </a:p>
        </p:txBody>
      </p:sp>
      <p:sp>
        <p:nvSpPr>
          <p:cNvPr id="4" name="Code"/>
          <p:cNvSpPr txBox="1"/>
          <p:nvPr/>
        </p:nvSpPr>
        <p:spPr>
          <a:xfrm>
            <a:off x="1752600" y="3180079"/>
            <a:ext cx="8686800" cy="548640"/>
          </a:xfrm>
          <a:prstGeom prst="roundRect">
            <a:avLst>
              <a:gd name="adj" fmla="val 1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String chiffre = ((Button) evenement.</a:t>
            </a:r>
            <a:r>
              <a:rPr sz="1800">
                <a:solidFill>
                  <a:srgbClr val="56A8F5"/>
                </a:solidFill>
                <a:latin typeface="Consolas"/>
              </a:rPr>
              <a:t>getSource</a:t>
            </a:r>
            <a:r>
              <a:rPr sz="1800">
                <a:solidFill>
                  <a:srgbClr val="BCBEC4"/>
                </a:solidFill>
                <a:latin typeface="Consolas"/>
              </a:rPr>
              <a:t>()).</a:t>
            </a:r>
            <a:r>
              <a:rPr sz="1800">
                <a:solidFill>
                  <a:srgbClr val="56A8F5"/>
                </a:solidFill>
                <a:latin typeface="Consolas"/>
              </a:rPr>
              <a:t>getText</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chiffres</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Si l'écran montre « 0 », le chiffre le remplace</a:t>
            </a:r>
          </a:p>
          <a:p>
            <a:pPr marL="0" indent="0">
              <a:spcAft>
                <a:spcPts val="1000"/>
              </a:spcAft>
              <a:buNone/>
            </a:pPr>
            <a:r>
              <a:rPr sz="2800"/>
              <a:t>Sinon, il s'accole à la fin : 56 puis 2 donne 562</a:t>
            </a:r>
          </a:p>
          <a:p>
            <a:pPr marL="0" indent="0">
              <a:spcAft>
                <a:spcPts val="1000"/>
              </a:spcAft>
              <a:buNone/>
            </a:pPr>
            <a:r>
              <a:rPr sz="2400">
                <a:solidFill>
                  <a:schemeClr val="accent4"/>
                </a:solidFill>
                <a:latin typeface="Consolas"/>
              </a:rPr>
              <a:t>affichage.getText()</a:t>
            </a:r>
            <a:r>
              <a:rPr sz="2800"/>
              <a:t> lit l'écran, </a:t>
            </a:r>
            <a:r>
              <a:rPr sz="2400">
                <a:solidFill>
                  <a:schemeClr val="accent4"/>
                </a:solidFill>
                <a:latin typeface="Consolas"/>
              </a:rPr>
              <a:t>affichage.setText(...)</a:t>
            </a:r>
            <a:r>
              <a:rPr sz="2800"/>
              <a:t> l'écrit</a:t>
            </a:r>
          </a:p>
          <a:p>
            <a:pPr marL="0" indent="0">
              <a:spcAft>
                <a:spcPts val="1000"/>
              </a:spcAft>
              <a:buNone/>
            </a:pPr>
            <a:r>
              <a:rPr sz="2800"/>
              <a:t>À vous d'écrire </a:t>
            </a:r>
            <a:r>
              <a:rPr sz="2400">
                <a:solidFill>
                  <a:schemeClr val="accent4"/>
                </a:solidFill>
                <a:latin typeface="Consolas"/>
              </a:rPr>
              <a:t>chiffrePresse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Et les opérateurs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opérateur ne modifie pas seulement l'écran : il calcule</a:t>
            </a:r>
          </a:p>
          <a:p>
            <a:pPr marL="0" indent="0">
              <a:spcAft>
                <a:spcPts val="1000"/>
              </a:spcAft>
              <a:buNone/>
            </a:pPr>
            <a:r>
              <a:rPr sz="2800"/>
              <a:t>Avant de l'écrire, il faut savoir qui calcule</a:t>
            </a:r>
          </a:p>
          <a:p>
            <a:pPr marL="0" indent="0">
              <a:spcAft>
                <a:spcPts val="1000"/>
              </a:spcAft>
              <a:buNone/>
            </a:pPr>
            <a:r>
              <a:rPr sz="2800"/>
              <a:t>Comment programmeriez-vous une calculatrice sans fenêtre ?</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3. Le contrôleur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7735937" cy="1015663"/>
          </a:xfrm>
          <a:prstGeom prst="rect">
            <a:avLst/>
          </a:prstGeom>
          <a:noFill/>
          <a:effectLst>
            <a:outerShdw blurRad="50800" dist="38100" dir="2700000" algn="tl" rotWithShape="0">
              <a:prstClr val="black">
                <a:alpha val="40000"/>
              </a:prstClr>
            </a:outerShdw>
          </a:effectLst>
        </p:spPr>
        <p:txBody>
          <a:bodyPr wrap="square" rtlCol="0">
            <a:spAutoFit/>
          </a:bodyPr>
          <a:lstStyle/>
          <a:p>
            <a:r>
              <a:rPr lang="fr-FR" sz="6000" b="1" dirty="0" err="1">
                <a:ln w="0"/>
                <a:effectLst>
                  <a:outerShdw blurRad="38100" dist="19050" dir="2700000" algn="tl" rotWithShape="0">
                    <a:schemeClr val="dk1">
                      <a:alpha val="40000"/>
                    </a:schemeClr>
                  </a:outerShdw>
                </a:effectLst>
                <a:latin typeface="Calibri"/>
                <a:cs typeface="Calibri"/>
              </a:rPr>
              <a:t>4. Le modèle, et la fin</a:t>
            </a:r>
            <a:endParaRPr lang="fr-FR" sz="14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25</a:t>
            </a:fld>
            <a:endParaRPr lang="fr-FR"/>
          </a:p>
        </p:txBody>
      </p:sp>
      <p:pic>
        <p:nvPicPr>
          <p:cNvPr id="4" name="Image 3">
            <a:extLst>
              <a:ext uri="{FF2B5EF4-FFF2-40B4-BE49-F238E27FC236}">
                <a16:creationId xmlns:a16="http://schemas.microsoft.com/office/drawing/2014/main" id="{36C764D1-26D2-2548-049C-E2F9BE44FB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07760" y="1662545"/>
            <a:ext cx="1804974" cy="492944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fait le modèle</a:t>
            </a:r>
          </a:p>
        </p:txBody>
      </p:sp>
      <p:sp>
        <p:nvSpPr>
          <p:cNvPr id="3" name="Content Placeholder 2"/>
          <p:cNvSpPr>
            <a:spLocks noGrp="1"/>
          </p:cNvSpPr>
          <p:nvPr>
            <p:ph idx="1"/>
          </p:nvPr>
        </p:nvSpPr>
        <p:spPr>
          <a:xfrm>
            <a:off x="640080" y="1371600"/>
            <a:ext cx="10881360" cy="2626360"/>
          </a:xfrm>
        </p:spPr>
        <p:txBody>
          <a:bodyPr/>
          <a:lstStyle/>
          <a:p>
            <a:pPr marL="0" indent="0">
              <a:spcAft>
                <a:spcPts val="1000"/>
              </a:spcAft>
              <a:buNone/>
            </a:pPr>
            <a:r>
              <a:rPr sz="2600"/>
              <a:t>Une seule méthode : </a:t>
            </a:r>
            <a:r>
              <a:rPr sz="2400">
                <a:solidFill>
                  <a:schemeClr val="accent4"/>
                </a:solidFill>
                <a:latin typeface="Consolas"/>
              </a:rPr>
              <a:t>calculer(premier, second, operateur)</a:t>
            </a:r>
          </a:p>
          <a:p>
            <a:pPr marL="0" indent="0">
              <a:spcAft>
                <a:spcPts val="1000"/>
              </a:spcAft>
              <a:buNone/>
            </a:pPr>
            <a:r>
              <a:rPr sz="2600"/>
              <a:t>Elle choisit l'opération d'après l'opérateur, et retourne le résultat</a:t>
            </a:r>
          </a:p>
          <a:p>
            <a:pPr marL="0" indent="0">
              <a:spcAft>
                <a:spcPts val="1000"/>
              </a:spcAft>
              <a:buNone/>
            </a:pPr>
            <a:r>
              <a:rPr sz="2600"/>
              <a:t>Une division par zéro lève une </a:t>
            </a:r>
            <a:r>
              <a:rPr sz="2400">
                <a:solidFill>
                  <a:schemeClr val="accent4"/>
                </a:solidFill>
                <a:latin typeface="Consolas"/>
              </a:rPr>
              <a:t>ArithmeticException</a:t>
            </a:r>
          </a:p>
          <a:p>
            <a:pPr marL="0" indent="0">
              <a:spcAft>
                <a:spcPts val="1000"/>
              </a:spcAft>
              <a:buNone/>
            </a:pPr>
            <a:r>
              <a:rPr sz="2600"/>
              <a:t>À vous d'écrire </a:t>
            </a:r>
            <a:r>
              <a:rPr sz="2400">
                <a:solidFill>
                  <a:schemeClr val="accent4"/>
                </a:solidFill>
                <a:latin typeface="Consolas"/>
              </a:rPr>
              <a:t>Modele</a:t>
            </a:r>
            <a:r>
              <a:rPr sz="2600"/>
              <a:t>, puis sa classe de test</a:t>
            </a:r>
          </a:p>
        </p:txBody>
      </p:sp>
      <p:sp>
        <p:nvSpPr>
          <p:cNvPr id="4" name="Code"/>
          <p:cNvSpPr txBox="1"/>
          <p:nvPr/>
        </p:nvSpPr>
        <p:spPr>
          <a:xfrm>
            <a:off x="1263650" y="4135120"/>
            <a:ext cx="96647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long</a:t>
            </a:r>
            <a:r>
              <a:rPr sz="1800">
                <a:solidFill>
                  <a:srgbClr val="BCBEC4"/>
                </a:solidFill>
                <a:latin typeface="Consolas"/>
              </a:rPr>
              <a:t> </a:t>
            </a:r>
            <a:r>
              <a:rPr sz="1800">
                <a:solidFill>
                  <a:srgbClr val="56A8F5"/>
                </a:solidFill>
                <a:latin typeface="Consolas"/>
              </a:rPr>
              <a:t>calculer</a:t>
            </a:r>
            <a:r>
              <a:rPr sz="1800">
                <a:solidFill>
                  <a:srgbClr val="BCBEC4"/>
                </a:solidFill>
                <a:latin typeface="Consolas"/>
              </a:rPr>
              <a:t>(</a:t>
            </a:r>
            <a:r>
              <a:rPr sz="1800">
                <a:solidFill>
                  <a:srgbClr val="CF8E6D"/>
                </a:solidFill>
                <a:latin typeface="Consolas"/>
              </a:rPr>
              <a:t>long</a:t>
            </a:r>
            <a:r>
              <a:rPr sz="1800">
                <a:solidFill>
                  <a:srgbClr val="BCBEC4"/>
                </a:solidFill>
                <a:latin typeface="Consolas"/>
              </a:rPr>
              <a:t> premier, </a:t>
            </a:r>
            <a:r>
              <a:rPr sz="1800">
                <a:solidFill>
                  <a:srgbClr val="CF8E6D"/>
                </a:solidFill>
                <a:latin typeface="Consolas"/>
              </a:rPr>
              <a:t>long</a:t>
            </a:r>
            <a:r>
              <a:rPr sz="1800">
                <a:solidFill>
                  <a:srgbClr val="BCBEC4"/>
                </a:solidFill>
                <a:latin typeface="Consolas"/>
              </a:rPr>
              <a:t> second, String operateur)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CF8E6D"/>
                </a:solidFill>
                <a:latin typeface="Consolas"/>
              </a:rPr>
              <a:t>switch</a:t>
            </a:r>
            <a:r>
              <a:rPr sz="1800">
                <a:solidFill>
                  <a:srgbClr val="BCBEC4"/>
                </a:solidFill>
                <a:latin typeface="Consolas"/>
              </a:rPr>
              <a:t> (operateur)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case</a:t>
            </a:r>
            <a:r>
              <a:rPr sz="1800">
                <a:solidFill>
                  <a:srgbClr val="BCBEC4"/>
                </a:solidFill>
                <a:latin typeface="Consolas"/>
              </a:rPr>
              <a:t> </a:t>
            </a:r>
            <a:r>
              <a:rPr sz="1800">
                <a:solidFill>
                  <a:srgbClr val="6AAB73"/>
                </a:solidFill>
                <a:latin typeface="Consolas"/>
              </a:rPr>
              <a:t>"+"</a:t>
            </a:r>
            <a:r>
              <a:rPr sz="1800">
                <a:solidFill>
                  <a:srgbClr val="BCBEC4"/>
                </a:solidFill>
                <a:latin typeface="Consolas"/>
              </a:rPr>
              <a:t> -&gt; premier + second;</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 les trois autres, et la division par zero</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contrôleur connaît le modèle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Le contrôleur crée son modèle, et le garde dans un champ</a:t>
            </a:r>
          </a:p>
          <a:p>
            <a:pPr marL="0" indent="0">
              <a:spcAft>
                <a:spcPts val="1000"/>
              </a:spcAft>
              <a:buNone/>
            </a:pPr>
            <a:r>
              <a:rPr sz="2800"/>
              <a:t>Il retient aussi, entre deux clics, ce qu'on a tapé</a:t>
            </a:r>
          </a:p>
        </p:txBody>
      </p:sp>
      <p:sp>
        <p:nvSpPr>
          <p:cNvPr id="4" name="Code"/>
          <p:cNvSpPr txBox="1"/>
          <p:nvPr/>
        </p:nvSpPr>
        <p:spPr>
          <a:xfrm>
            <a:off x="2940050" y="3180079"/>
            <a:ext cx="63119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Modele modele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Modele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long</a:t>
            </a:r>
            <a:r>
              <a:rPr sz="1800">
                <a:solidFill>
                  <a:srgbClr val="BCBEC4"/>
                </a:solidFill>
                <a:latin typeface="Consolas"/>
              </a:rPr>
              <a:t> premierNombre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String operateurEnAttente = </a:t>
            </a:r>
            <a:r>
              <a:rPr sz="1800">
                <a:solidFill>
                  <a:srgbClr val="6AAB73"/>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nouvelleSaisie = </a:t>
            </a:r>
            <a:r>
              <a:rPr sz="1800">
                <a:solidFill>
                  <a:srgbClr val="CF8E6D"/>
                </a:solidFill>
                <a:latin typeface="Consolas"/>
              </a:rPr>
              <a:t>true</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chiffres, une seconde règle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Après un opérateur, le chiffre suivant repart de zéro</a:t>
            </a:r>
          </a:p>
          <a:p>
            <a:pPr marL="0" indent="0">
              <a:spcAft>
                <a:spcPts val="1000"/>
              </a:spcAft>
              <a:buNone/>
            </a:pPr>
            <a:r>
              <a:rPr sz="2800"/>
              <a:t>Sinon, 5 + 6 afficherait 56</a:t>
            </a:r>
          </a:p>
          <a:p>
            <a:pPr marL="0" indent="0">
              <a:spcAft>
                <a:spcPts val="1000"/>
              </a:spcAft>
              <a:buNone/>
            </a:pPr>
            <a:r>
              <a:rPr sz="2800"/>
              <a:t>C'est le rôle de </a:t>
            </a:r>
            <a:r>
              <a:rPr sz="2400">
                <a:solidFill>
                  <a:schemeClr val="accent4"/>
                </a:solidFill>
                <a:latin typeface="Consolas"/>
              </a:rPr>
              <a:t>nouvelleSaisie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À vous : les opérateurs</a:t>
            </a:r>
          </a:p>
        </p:txBody>
      </p:sp>
      <p:sp>
        <p:nvSpPr>
          <p:cNvPr id="3" name="Content Placeholder 2"/>
          <p:cNvSpPr>
            <a:spLocks noGrp="1"/>
          </p:cNvSpPr>
          <p:nvPr>
            <p:ph idx="1"/>
          </p:nvPr>
        </p:nvSpPr>
        <p:spPr>
          <a:xfrm>
            <a:off x="640080" y="1371600"/>
            <a:ext cx="10881360" cy="1188720"/>
          </a:xfrm>
        </p:spPr>
        <p:txBody>
          <a:bodyPr/>
          <a:lstStyle/>
          <a:p>
            <a:pPr marL="0" indent="0">
              <a:spcAft>
                <a:spcPts val="1000"/>
              </a:spcAft>
              <a:buNone/>
            </a:pPr>
            <a:r>
              <a:rPr lang="fr-BE" sz="2000" dirty="0">
                <a:solidFill>
                  <a:srgbClr val="FFC000"/>
                </a:solidFill>
                <a:latin typeface="Consolas"/>
                <a:cs typeface="Consolas"/>
              </a:rPr>
              <a:t>operateurPresse</a:t>
            </a:r>
            <a:r>
              <a:rPr lang="fr-BE" sz="2400" dirty="0"/>
              <a:t> : l'arbre donne la structure, à vous le code</a:t>
            </a:r>
          </a:p>
          <a:p>
            <a:pPr marL="0" indent="0">
              <a:spcAft>
                <a:spcPts val="1000"/>
              </a:spcAft>
              <a:buNone/>
            </a:pPr>
            <a:r>
              <a:rPr lang="fr-BE" sz="2400" dirty="0"/>
              <a:t>Et </a:t>
            </a:r>
            <a:r>
              <a:rPr lang="fr-BE" sz="2000" dirty="0">
                <a:solidFill>
                  <a:srgbClr val="FFC000"/>
                </a:solidFill>
                <a:latin typeface="Consolas"/>
                <a:cs typeface="Consolas"/>
              </a:rPr>
              <a:t>effacer</a:t>
            </a:r>
            <a:r>
              <a:rPr lang="fr-BE" sz="2400" dirty="0"/>
              <a:t> remet l'écran à 0, et oublie ce qui était en attente</a:t>
            </a:r>
          </a:p>
        </p:txBody>
      </p:sp>
      <p:sp>
        <p:nvSpPr>
          <p:cNvPr id="22"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grpSp>
        <p:nvGrpSpPr>
          <p:cNvPr id="17" name="Etape 1"/>
          <p:cNvGrpSpPr/>
          <p:nvPr/>
        </p:nvGrpSpPr>
        <p:grpSpPr>
          <a:xfrm>
            <a:off x="411480" y="3611880"/>
            <a:ext cx="2331720" cy="1143000"/>
            <a:chOff x="411480" y="3611880"/>
            <a:chExt cx="2331720" cy="1143000"/>
          </a:xfrm>
        </p:grpSpPr>
        <p:sp>
          <p:nvSpPr>
            <p:cNvPr id="5" name="Rounded Rectangle 4"/>
            <p:cNvSpPr/>
            <p:nvPr/>
          </p:nvSpPr>
          <p:spPr>
            <a:xfrm>
              <a:off x="411480" y="3611880"/>
              <a:ext cx="2331720" cy="11430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400" b="1" dirty="0">
                  <a:solidFill>
                    <a:srgbClr val="FFC000"/>
                  </a:solidFill>
                </a:rPr>
                <a:t>On lit le bouton</a:t>
              </a:r>
            </a:p>
            <a:p>
              <a:pPr algn="ctr"/>
              <a:r>
                <a:rPr lang="fr-BE" sz="1050" dirty="0">
                  <a:solidFill>
                    <a:srgbClr val="E8E8E8"/>
                  </a:solidFill>
                  <a:latin typeface="Consolas"/>
                </a:rPr>
                <a:t>operateur =</a:t>
              </a:r>
            </a:p>
            <a:p>
              <a:pPr algn="ctr"/>
              <a:r>
                <a:rPr lang="fr-BE" sz="1050" dirty="0">
                  <a:solidFill>
                    <a:srgbClr val="E8E8E8"/>
                  </a:solidFill>
                  <a:latin typeface="Consolas"/>
                </a:rPr>
                <a:t>((Button) evenement</a:t>
              </a:r>
            </a:p>
            <a:p>
              <a:pPr algn="ctr"/>
              <a:r>
                <a:rPr lang="fr-BE" sz="1050" dirty="0">
                  <a:solidFill>
                    <a:srgbClr val="E8E8E8"/>
                  </a:solidFill>
                  <a:latin typeface="Consolas"/>
                </a:rPr>
                <a:t>.getSource()).getText()</a:t>
              </a:r>
            </a:p>
          </p:txBody>
        </p:sp>
      </p:grpSp>
      <p:grpSp>
        <p:nvGrpSpPr>
          <p:cNvPr id="18" name="Etape 2"/>
          <p:cNvGrpSpPr/>
          <p:nvPr/>
        </p:nvGrpSpPr>
        <p:grpSpPr>
          <a:xfrm>
            <a:off x="2743200" y="3794760"/>
            <a:ext cx="2377440" cy="777240"/>
            <a:chOff x="2743200" y="3794760"/>
            <a:chExt cx="2377440" cy="777240"/>
          </a:xfrm>
        </p:grpSpPr>
        <p:sp>
          <p:nvSpPr>
            <p:cNvPr id="6" name="Rounded Rectangle 5"/>
            <p:cNvSpPr/>
            <p:nvPr/>
          </p:nvSpPr>
          <p:spPr>
            <a:xfrm>
              <a:off x="3154680" y="3794760"/>
              <a:ext cx="196596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E8E8E8"/>
                  </a:solidFill>
                </a:rPr>
                <a:t>Un opérateur est-il</a:t>
              </a:r>
            </a:p>
            <a:p>
              <a:pPr algn="ctr"/>
              <a:r>
                <a:rPr lang="fr-BE" sz="1300" b="1" dirty="0">
                  <a:solidFill>
                    <a:srgbClr val="E8E8E8"/>
                  </a:solidFill>
                </a:rPr>
                <a:t>en attente ?</a:t>
              </a:r>
            </a:p>
          </p:txBody>
        </p:sp>
        <p:cxnSp>
          <p:nvCxnSpPr>
            <p:cNvPr id="7" name="Connector 6"/>
            <p:cNvCxnSpPr/>
            <p:nvPr/>
          </p:nvCxnSpPr>
          <p:spPr>
            <a:xfrm>
              <a:off x="2743200" y="4187952"/>
              <a:ext cx="4114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19" name="Etape 3"/>
          <p:cNvGrpSpPr/>
          <p:nvPr/>
        </p:nvGrpSpPr>
        <p:grpSpPr>
          <a:xfrm>
            <a:off x="5120640" y="2606040"/>
            <a:ext cx="3337560" cy="2240280"/>
            <a:chOff x="5120640" y="2606040"/>
            <a:chExt cx="3337560" cy="2240280"/>
          </a:xfrm>
        </p:grpSpPr>
        <p:sp>
          <p:nvSpPr>
            <p:cNvPr id="8" name="Rounded Rectangle 7"/>
            <p:cNvSpPr/>
            <p:nvPr/>
          </p:nvSpPr>
          <p:spPr>
            <a:xfrm>
              <a:off x="5532120" y="2606040"/>
              <a:ext cx="292608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FFC000"/>
                  </a:solidFill>
                </a:rPr>
                <a:t>non</a:t>
              </a:r>
            </a:p>
            <a:p>
              <a:pPr algn="ctr"/>
              <a:r>
                <a:rPr lang="fr-BE" sz="1100" dirty="0">
                  <a:solidFill>
                    <a:srgbClr val="E8E8E8"/>
                  </a:solidFill>
                </a:rPr>
                <a:t>rien à calculer : le nombre affiché</a:t>
              </a:r>
            </a:p>
            <a:p>
              <a:pPr algn="ctr"/>
              <a:r>
                <a:rPr lang="fr-BE" sz="1100" dirty="0">
                  <a:solidFill>
                    <a:srgbClr val="E8E8E8"/>
                  </a:solidFill>
                </a:rPr>
                <a:t>devient </a:t>
              </a:r>
              <a:r>
                <a:rPr lang="fr-BE" sz="1050" dirty="0">
                  <a:solidFill>
                    <a:schemeClr val="accent4"/>
                  </a:solidFill>
                  <a:latin typeface="Consolas"/>
                </a:rPr>
                <a:t>premierNombre</a:t>
              </a:r>
            </a:p>
          </p:txBody>
        </p:sp>
        <p:sp>
          <p:nvSpPr>
            <p:cNvPr id="9" name="Rounded Rectangle 8"/>
            <p:cNvSpPr/>
            <p:nvPr/>
          </p:nvSpPr>
          <p:spPr>
            <a:xfrm>
              <a:off x="5532120" y="3794760"/>
              <a:ext cx="2926080" cy="10515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FFC000"/>
                  </a:solidFill>
                </a:rPr>
                <a:t>oui</a:t>
              </a:r>
            </a:p>
            <a:p>
              <a:pPr algn="ctr"/>
              <a:r>
                <a:rPr lang="fr-BE" sz="1000" dirty="0">
                  <a:solidFill>
                    <a:srgbClr val="E8E8E8"/>
                  </a:solidFill>
                  <a:latin typeface="Consolas"/>
                </a:rPr>
                <a:t>modele.calculer(premierNombre,</a:t>
              </a:r>
            </a:p>
            <a:p>
              <a:pPr algn="ctr"/>
              <a:r>
                <a:rPr lang="fr-BE" sz="1000" dirty="0">
                  <a:solidFill>
                    <a:srgbClr val="E8E8E8"/>
                  </a:solidFill>
                </a:rPr>
                <a:t>nombre affiché, </a:t>
              </a:r>
              <a:r>
                <a:rPr lang="fr-BE" sz="900" dirty="0">
                  <a:solidFill>
                    <a:schemeClr val="accent4"/>
                  </a:solidFill>
                  <a:latin typeface="Consolas"/>
                </a:rPr>
                <a:t>operateurEnAttente</a:t>
              </a:r>
              <a:r>
                <a:rPr lang="fr-BE" sz="1000" dirty="0">
                  <a:solidFill>
                    <a:srgbClr val="E8E8E8"/>
                  </a:solidFill>
                </a:rPr>
                <a:t>)</a:t>
              </a:r>
            </a:p>
            <a:p>
              <a:pPr algn="ctr"/>
              <a:r>
                <a:rPr lang="fr-BE" sz="1000" dirty="0">
                  <a:solidFill>
                    <a:srgbClr val="9DA0A8"/>
                  </a:solidFill>
                </a:rPr>
                <a:t>le résultat s'affiche et devient </a:t>
              </a:r>
              <a:r>
                <a:rPr lang="fr-BE" sz="900" dirty="0">
                  <a:solidFill>
                    <a:schemeClr val="accent4"/>
                  </a:solidFill>
                  <a:latin typeface="Consolas"/>
                </a:rPr>
                <a:t>premierNombre</a:t>
              </a:r>
            </a:p>
          </p:txBody>
        </p:sp>
        <p:cxnSp>
          <p:nvCxnSpPr>
            <p:cNvPr id="11" name="Connector 10"/>
            <p:cNvCxnSpPr/>
            <p:nvPr/>
          </p:nvCxnSpPr>
          <p:spPr>
            <a:xfrm flipV="1">
              <a:off x="5120640" y="3063240"/>
              <a:ext cx="411480" cy="96012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20640" y="4187952"/>
              <a:ext cx="411480" cy="109728"/>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0" name="Etape 4"/>
          <p:cNvGrpSpPr/>
          <p:nvPr/>
        </p:nvGrpSpPr>
        <p:grpSpPr>
          <a:xfrm>
            <a:off x="5532120" y="4846320"/>
            <a:ext cx="2926080" cy="1143000"/>
            <a:chOff x="5532120" y="4846320"/>
            <a:chExt cx="2926080" cy="1143000"/>
          </a:xfrm>
        </p:grpSpPr>
        <p:sp>
          <p:nvSpPr>
            <p:cNvPr id="10" name="Rounded Rectangle 9"/>
            <p:cNvSpPr/>
            <p:nvPr/>
          </p:nvSpPr>
          <p:spPr>
            <a:xfrm>
              <a:off x="5532120" y="5120640"/>
              <a:ext cx="2926080" cy="868680"/>
            </a:xfrm>
            <a:prstGeom prst="roundRect">
              <a:avLst>
                <a:gd name="adj" fmla="val 10000"/>
              </a:avLst>
            </a:prstGeom>
            <a:solidFill>
              <a:srgbClr val="1D1F22"/>
            </a:solidFill>
            <a:ln w="19050">
              <a:solidFill>
                <a:srgbClr val="E06C6C"/>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E06C6C"/>
                  </a:solidFill>
                </a:rPr>
                <a:t>division par zéro</a:t>
              </a:r>
            </a:p>
            <a:p>
              <a:pPr algn="ctr"/>
              <a:r>
                <a:rPr lang="fr-BE" sz="1050" dirty="0">
                  <a:solidFill>
                    <a:srgbClr val="E8E8E8"/>
                  </a:solidFill>
                </a:rPr>
                <a:t>« Erreur » s'affiche, tout repart à zéro,</a:t>
              </a:r>
            </a:p>
            <a:p>
              <a:pPr algn="ctr"/>
              <a:r>
                <a:rPr lang="fr-BE" sz="1050" b="1" dirty="0">
                  <a:solidFill>
                    <a:srgbClr val="E8E8E8"/>
                  </a:solidFill>
                </a:rPr>
                <a:t>et on s'arrête là</a:t>
              </a:r>
            </a:p>
          </p:txBody>
        </p:sp>
        <p:cxnSp>
          <p:nvCxnSpPr>
            <p:cNvPr id="13" name="Connector 12"/>
            <p:cNvCxnSpPr/>
            <p:nvPr/>
          </p:nvCxnSpPr>
          <p:spPr>
            <a:xfrm>
              <a:off x="6995160" y="4846320"/>
              <a:ext cx="0" cy="274320"/>
            </a:xfrm>
            <a:prstGeom prst="line">
              <a:avLst/>
            </a:prstGeom>
            <a:ln w="22225">
              <a:solidFill>
                <a:srgbClr val="E06C6C"/>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1" name="Etape 5"/>
          <p:cNvGrpSpPr/>
          <p:nvPr/>
        </p:nvGrpSpPr>
        <p:grpSpPr>
          <a:xfrm>
            <a:off x="8458200" y="2971800"/>
            <a:ext cx="3337560" cy="1463040"/>
            <a:chOff x="8458200" y="2971800"/>
            <a:chExt cx="3337560" cy="1463040"/>
          </a:xfrm>
        </p:grpSpPr>
        <p:sp>
          <p:nvSpPr>
            <p:cNvPr id="14" name="Rounded Rectangle 13"/>
            <p:cNvSpPr/>
            <p:nvPr/>
          </p:nvSpPr>
          <p:spPr>
            <a:xfrm>
              <a:off x="8869680" y="2971800"/>
              <a:ext cx="2926080" cy="14630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300" b="1" dirty="0">
                  <a:solidFill>
                    <a:srgbClr val="FFC000"/>
                  </a:solidFill>
                </a:rPr>
                <a:t>Puis, sauf erreur</a:t>
              </a:r>
            </a:p>
            <a:p>
              <a:pPr algn="ctr"/>
              <a:r>
                <a:rPr lang="fr-BE" sz="1100" dirty="0">
                  <a:solidFill>
                    <a:srgbClr val="E8E8E8"/>
                  </a:solidFill>
                </a:rPr>
                <a:t>« = » : plus rien en attente ;</a:t>
              </a:r>
            </a:p>
            <a:p>
              <a:pPr algn="ctr"/>
              <a:r>
                <a:rPr lang="fr-BE" sz="1100" dirty="0">
                  <a:solidFill>
                    <a:srgbClr val="E8E8E8"/>
                  </a:solidFill>
                </a:rPr>
                <a:t>sinon, on retient l'opérateur</a:t>
              </a:r>
            </a:p>
            <a:p>
              <a:pPr algn="ctr"/>
              <a:r>
                <a:rPr lang="fr-BE" sz="1050" dirty="0">
                  <a:solidFill>
                    <a:srgbClr val="E8E8E8"/>
                  </a:solidFill>
                  <a:latin typeface="Consolas"/>
                </a:rPr>
                <a:t>nouvelleSaisie = true</a:t>
              </a:r>
            </a:p>
          </p:txBody>
        </p:sp>
        <p:cxnSp>
          <p:nvCxnSpPr>
            <p:cNvPr id="15" name="Connector 14"/>
            <p:cNvCxnSpPr/>
            <p:nvPr/>
          </p:nvCxnSpPr>
          <p:spPr>
            <a:xfrm>
              <a:off x="8458200" y="3063240"/>
              <a:ext cx="411480" cy="41148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458200" y="3977639"/>
              <a:ext cx="411480" cy="320041"/>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Vérifier la calculatrice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12 + 5 = affiche 17 ; 13 / 4 = affiche 3</a:t>
            </a:r>
          </a:p>
          <a:p>
            <a:pPr marL="0" indent="0">
              <a:spcAft>
                <a:spcPts val="1000"/>
              </a:spcAft>
              <a:buNone/>
            </a:pPr>
            <a:r>
              <a:rPr sz="2800"/>
              <a:t>2 + 3 + 4 = affiche 9 : chaque opérateur calcule ce qui précède</a:t>
            </a:r>
          </a:p>
          <a:p>
            <a:pPr marL="0" indent="0">
              <a:spcAft>
                <a:spcPts val="1000"/>
              </a:spcAft>
              <a:buNone/>
            </a:pPr>
            <a:r>
              <a:rPr sz="2800"/>
              <a:t>1 / 0 = affiche « Erreur », puis la calculatrice repart</a:t>
            </a:r>
          </a:p>
          <a:p>
            <a:pPr marL="0" indent="0">
              <a:spcAft>
                <a:spcPts val="1000"/>
              </a:spcAft>
              <a:buNone/>
            </a:pPr>
            <a:r>
              <a:rPr sz="2800"/>
              <a:t>« C » remet tout à zéro, y compris l'opérateur en attente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Et après ?</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Taper les chiffres au clavier</a:t>
            </a:r>
          </a:p>
          <a:p>
            <a:pPr marL="0" indent="0">
              <a:spcAft>
                <a:spcPts val="1000"/>
              </a:spcAft>
              <a:buNone/>
            </a:pPr>
            <a:r>
              <a:rPr sz="2800"/>
              <a:t>Respecter la priorité des opérations, puis les parenthèses</a:t>
            </a:r>
          </a:p>
          <a:p>
            <a:pPr marL="0" indent="0">
              <a:spcAft>
                <a:spcPts val="1000"/>
              </a:spcAft>
              <a:buNone/>
            </a:pPr>
            <a:r>
              <a:rPr sz="2800"/>
              <a:t>Ajouter des opérations : modulo, puissance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FX.9</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calculatrice, en MVC</a:t>
            </a:r>
          </a:p>
          <a:p>
            <a:r>
              <a:rPr sz="1400">
                <a:solidFill>
                  <a:srgbClr val="BCBEC4"/>
                </a:solidFill>
              </a:rPr>
              <a:t>fascicule FX</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FX3 · </a:t>
            </a:r>
            <a:r>
              <a:rPr sz="1100" b="1">
                <a:solidFill>
                  <a:schemeClr val="accent4"/>
                </a:solidFill>
              </a:rPr>
              <a:t>4. Le modèle</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115004</TotalTime>
  <Words>4290</Words>
  <Application>Microsoft Macintosh PowerPoint</Application>
  <PresentationFormat>Grand écran</PresentationFormat>
  <Paragraphs>355</Paragraphs>
  <Slides>32</Slides>
  <Notes>32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32</vt:i4>
      </vt:variant>
    </vt:vector>
  </HeadingPairs>
  <TitlesOfParts>
    <vt:vector size="38" baseType="lpstr">
      <vt:lpstr>Aptos</vt:lpstr>
      <vt:lpstr>Arial</vt:lpstr>
      <vt:lpstr>Calibri</vt:lpstr>
      <vt:lpstr>Consolas</vt:lpstr>
      <vt:lpstr>Corbel</vt:lpstr>
      <vt:lpstr>ThemeEphec2022</vt:lpstr>
      <vt:lpstr>JAVA 2</vt:lpstr>
      <vt:lpstr>Au programme</vt:lpstr>
      <vt:lpstr>Présentation PowerPoint</vt:lpstr>
      <vt:lpstr>Une calculatrice simplifiée</vt:lpstr>
      <vt:lpstr>Trois fichiers, trois rôles</vt:lpstr>
      <vt:lpstr>L'application charge la vue</vt:lpstr>
      <vt:lpstr>Les composants utilisés</vt:lpstr>
      <vt:lpstr>Présentation PowerPoint</vt:lpstr>
      <vt:lpstr>Le plan de l'écran</vt:lpstr>
      <vt:lpstr>Deux mots de XML</vt:lpstr>
      <vt:lpstr>Le squelette</vt:lpstr>
      <vt:lpstr>Un attribut, c'est un setter</vt:lpstr>
      <vt:lpstr>Le cadre de l'écran</vt:lpstr>
      <vt:lpstr>Le texte, relié au contrôleur</vt:lpstr>
      <vt:lpstr>Une ligne de touches</vt:lpstr>
      <vt:lpstr>Un défaut à corriger</vt:lpstr>
      <vt:lpstr>Vérifier, puis lancer</vt:lpstr>
      <vt:lpstr>Un dernier détail, facultatif</vt:lpstr>
      <vt:lpstr>Présentation PowerPoint</vt:lpstr>
      <vt:lpstr>Que doit faire chaque touche ?</vt:lpstr>
      <vt:lpstr>Trois méthodes, branchées sur la vue</vt:lpstr>
      <vt:lpstr>Quelle touche a été pressée ?</vt:lpstr>
      <vt:lpstr>Les chiffres</vt:lpstr>
      <vt:lpstr>Et les opérateurs ?</vt:lpstr>
      <vt:lpstr>Présentation PowerPoint</vt:lpstr>
      <vt:lpstr>Ce que fait le modèle</vt:lpstr>
      <vt:lpstr>Le contrôleur connaît le modèle</vt:lpstr>
      <vt:lpstr>Les chiffres, une seconde règle</vt:lpstr>
      <vt:lpstr>À vous : les opérateurs</vt:lpstr>
      <vt:lpstr>Vérifier la calculatrice</vt:lpstr>
      <vt:lpstr>Et après ?</vt:lpstr>
      <vt:lpstr>Exercices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2026-10-15T21:26:11Z</dcterms:modified>
</cp:coreProperties>
</file>