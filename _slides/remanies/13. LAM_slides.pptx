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3"/>
  </p:notesMasterIdLst>
  <p:handoutMasterIdLst>
    <p:handoutMasterId r:id="rId24"/>
  </p:handoutMasterIdLst>
  <p:sldIdLst>
    <p:sldId id="568" r:id="rId2"/>
    <p:sldId id="586" r:id="rId3"/>
    <p:sldId id="569" r:id="rId4"/>
    <p:sldId id="570" r:id="rId5"/>
    <p:sldId id="571" r:id="rId6"/>
    <p:sldId id="572" r:id="rId7"/>
    <p:sldId id="573" r:id="rId8"/>
    <p:sldId id="574" r:id="rId9"/>
    <p:sldId id="587" r:id="rId10"/>
    <p:sldId id="575" r:id="rId11"/>
    <p:sldId id="576" r:id="rId12"/>
    <p:sldId id="577" r:id="rId13"/>
    <p:sldId id="578" r:id="rId14"/>
    <p:sldId id="579" r:id="rId15"/>
    <p:sldId id="580" r:id="rId16"/>
    <p:sldId id="581" r:id="rId17"/>
    <p:sldId id="588" r:id="rId18"/>
    <p:sldId id="589" r:id="rId19"/>
    <p:sldId id="583" r:id="rId20"/>
    <p:sldId id="584" r:id="rId21"/>
    <p:sldId id="58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65EB39C-F6CE-5485-8022-E05689ACA188}">
          <p14:sldIdLst>
            <p14:sldId id="568"/>
            <p14:sldId id="586"/>
          </p14:sldIdLst>
        </p14:section>
        <p14:section name="1. La classe anonyme" id="{59DB8861-CFE7-5214-9DD6-0A13532D178F}">
          <p14:sldIdLst>
            <p14:sldId id="569"/>
            <p14:sldId id="570"/>
            <p14:sldId id="571"/>
            <p14:sldId id="572"/>
          </p14:sldIdLst>
        </p14:section>
        <p14:section name="2. La lambda" id="{FE66E879-EA14-5B20-9FFC-0C2650D5E776}">
          <p14:sldIdLst>
            <p14:sldId id="573"/>
            <p14:sldId id="574"/>
            <p14:sldId id="587"/>
            <p14:sldId id="575"/>
            <p14:sldId id="576"/>
            <p14:sldId id="577"/>
          </p14:sldIdLst>
        </p14:section>
        <p14:section name="3. JDK et références" id="{786063D2-0CD1-5D66-BD27-D274012776B1}">
          <p14:sldIdLst>
            <p14:sldId id="578"/>
            <p14:sldId id="579"/>
            <p14:sldId id="580"/>
            <p14:sldId id="581"/>
            <p14:sldId id="588"/>
            <p14:sldId id="589"/>
            <p14:sldId id="583"/>
            <p14:sldId id="584"/>
            <p14:sldId id="5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5"/>
    <p:restoredTop sz="96301"/>
  </p:normalViewPr>
  <p:slideViewPr>
    <p:cSldViewPr snapToGrid="0">
      <p:cViewPr varScale="1">
        <p:scale>
          <a:sx n="120" d="100"/>
          <a:sy n="120" d="100"/>
        </p:scale>
        <p:origin x="160" y="23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reçoit d'habitude des valeurs : un nombre, une chaîne, un objet. Ce module montre comment lui passer un comportement, c'est-à-dire ce qu'il faut faire, aussi simplement qu'on lui passe une valeur.</a:t>
            </a:r>
          </a:p>
          <a:p>
            <a:r>
              <a:t>Vous savez déjà le faire, avec une classe qui implémente une interface. Ce module n'ajoute aucune capacité. Il ajoute une écriture qui rend la chose assez légère pour qu'on la fasse vraiment, et partout.</a:t>
            </a:r>
          </a:p>
          <a:p>
            <a:r>
              <a:t>Le thème compte trois exercices. À l'examen, les lambdas reviennent surtout dans la question JavaFX : chaque bouton reçoit le comportement à déclencher quand on clique.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trois sections : 1. La classe anonyme ; 2. La lambda ; 3. JDK et références.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écrit ce code au module COL. Regardez-le à nouveau, en vous demandant ce que </a:t>
            </a:r>
            <a:r>
              <a:rPr>
                <a:latin typeface="Consolas"/>
              </a:rPr>
              <a:t>removeIf</a:t>
            </a:r>
            <a:r>
              <a:t> reçoit vraiment. Un objet, oui. Mais elle ne lui demande rien d'autre que d'appeler </a:t>
            </a:r>
            <a:r>
              <a:rPr>
                <a:latin typeface="Consolas"/>
              </a:rPr>
              <a:t>test</a:t>
            </a:r>
            <a:r>
              <a:t>. Ce qu'on lui transmet, c'est un comportement : la façon de décider si un titre est trop long.</a:t>
            </a:r>
          </a:p>
          <a:p>
            <a:r>
              <a:t>Pour transmettre cette seule ligne, il a fallu un fichier, une classe, un nom, une annotation, une signature. Quand le critère sert souvent, ce prix se justifie : la classe porte un nom, et on peut la tester seule.</a:t>
            </a:r>
          </a:p>
          <a:p>
            <a:r>
              <a:t>Quand il ne sert qu'une fois, le prix devient dissuasif. On finit par écrire une boucle à la place, et le critère se perd dans la boucle.</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chose à retirer, c'est le nom. Ce code déclare une classe qui implémente </a:t>
            </a:r>
            <a:r>
              <a:rPr>
                <a:latin typeface="Consolas"/>
              </a:rPr>
              <a:t>Predicate&lt;String&gt;</a:t>
            </a:r>
            <a:r>
              <a:t>, et crée aussitôt son unique objet. La classe n'a pas de nom, d'où son appellation : classe anonyme.</a:t>
            </a:r>
          </a:p>
          <a:p>
            <a:r>
              <a:t>Lisez-la de l'extérieur vers l'intérieur. </a:t>
            </a:r>
            <a:r>
              <a:rPr>
                <a:latin typeface="Consolas"/>
              </a:rPr>
              <a:t>new Predicate&lt;String&gt;()</a:t>
            </a:r>
            <a:r>
              <a:t> ne crée pas un objet de l'interface, ce qui est impossible depuis le module ITF : les accolades qui suivent sont le corps d'une classe qui l'implémente.</a:t>
            </a:r>
          </a:p>
          <a:p>
            <a:r>
              <a:t>La constante </a:t>
            </a:r>
            <a:r>
              <a:rPr>
                <a:latin typeface="Consolas"/>
              </a:rPr>
              <a:t>LONGUEUR_MAX</a:t>
            </a:r>
            <a:r>
              <a:t> vit désormais dans la classe qui contient cet appel. Une classe anonyme voit les champs de la classe où elle est écrite.</a:t>
            </a:r>
          </a:p>
          <a:p>
            <a:r>
              <a:t>Le fichier a disparu, mais regardez ce qui reste autour de la ligne utile : cinq lignes de cérémonie. La démonstration va montrer ce qu'IntelliJ en fait.</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de deux classes anonymes qui se ressemblent comme deux gouttes d'eau. L'une implémente une interface, l'autre hérite d'une classe abstraite. IntelliJ propose de transformer la première, pas la seconde.</a:t>
            </a:r>
          </a:p>
          <a:p>
            <a:r>
              <a:t>Ne retenez pas le raccourci, retenez la question : qu'est-ce que l'outil sait et que nous n'avons pas encore dit ? La section suivante y répond, et la réponse tient en une idée, le type cible.</a:t>
            </a:r>
          </a:p>
          <a:p>
            <a:r>
              <a:t>Retenez aussi le geste de la fin. Une lambda et une classe anonyme sont deux écritures de la même chose, et IntelliJ passe de l'une à l'autre dans les deux sens. Quand une lambda vous semble obscure, dépliez-la.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Reprenez la classe anonyme ligne par ligne, et demandez-vous ce que le compilateur savait déjà. Que l'interface est </a:t>
            </a:r>
            <a:r>
              <a:rPr>
                <a:latin typeface="Consolas"/>
              </a:rPr>
              <a:t>Predicate&lt;String&gt;</a:t>
            </a:r>
            <a:r>
              <a:t> : c'est le type du paramètre de </a:t>
            </a:r>
            <a:r>
              <a:rPr>
                <a:latin typeface="Consolas"/>
              </a:rPr>
              <a:t>removeIf</a:t>
            </a:r>
            <a:r>
              <a:t>. Que la méthode est </a:t>
            </a:r>
            <a:r>
              <a:rPr>
                <a:latin typeface="Consolas"/>
              </a:rPr>
              <a:t>test</a:t>
            </a:r>
            <a:r>
              <a:t> : c'est la seule méthode abstraite de l'interface. Que </a:t>
            </a:r>
            <a:r>
              <a:rPr>
                <a:latin typeface="Consolas"/>
              </a:rPr>
              <a:t>titre</a:t>
            </a:r>
            <a:r>
              <a:t> est une </a:t>
            </a:r>
            <a:r>
              <a:rPr>
                <a:latin typeface="Consolas"/>
              </a:rPr>
              <a:t>String</a:t>
            </a:r>
            <a:r>
              <a:t>, et que le résultat est un </a:t>
            </a:r>
            <a:r>
              <a:rPr>
                <a:latin typeface="Consolas"/>
              </a:rPr>
              <a:t>boolean</a:t>
            </a:r>
            <a:r>
              <a:t> : c'est la signature de </a:t>
            </a:r>
            <a:r>
              <a:rPr>
                <a:latin typeface="Consolas"/>
              </a:rPr>
              <a:t>test</a:t>
            </a:r>
            <a:r>
              <a:t>.</a:t>
            </a:r>
          </a:p>
          <a:p>
            <a:r>
              <a:t>Tout cela s'efface. Il reste ce que le compilateur ne peut pas deviner : le nom qu'on donne au paramètre, et ce qu'on en fait. La flèche les sépare. C'est une expression lambda.</a:t>
            </a:r>
          </a:p>
          <a:p>
            <a:r>
              <a:t>Le module ITF l'avait annoncé : partout où une interface fonctionnelle est attendue, cette écriture est permise. Le programme fait exactement la même chose qu'avec </a:t>
            </a:r>
            <a:r>
              <a:rPr>
                <a:latin typeface="Consolas"/>
              </a:rPr>
              <a:t>TitreLong</a:t>
            </a:r>
            <a:r>
              <a:t>. Seul le coût d'écriture a changé, et avec lui l'envie de le faire.</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ITF, qui a défini le terme et vous a fait écrire Calculateur. Une interface est dite fonctionnelle quand elle déclare une seule méthode abstraite. Elle peut avoir en plus des méthodes default ou static : elles ont déjà un corps, et ne comptent donc pas.</a:t>
            </a:r>
          </a:p>
          <a:p>
            <a:r>
              <a:t>C'est ce qui rend la lambda possible. Une lambda n'apporte qu'un corps de méthode, sans nom. Pour que le compilateur sache quelle méthode elle écrit, il n'en faut qu'une à écrire. Predicate, que removeIf attend, est exactement de ce type : sa seule méthode abstraite est test.</a:t>
            </a:r>
          </a:p>
          <a:p>
            <a:r>
              <a:t>L'annotation @FunctionalInterface n'est pas obligatoire, mais elle protège : si quelqu'un ajoute une seconde méthode abstraite à l'interface, le compilateur refuse, au lieu de casser silencieusement toutes les lambdas qui l'utilisent. Vous l'écrirez vous-même dans l'exercice LAM.2.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lambda seule ne veut rien dire. Le compilateur la comprend en regardant où elle va : la variable qui la reçoit, ou le paramètre auquel on la passe. Ce type de destination s'appelle le type cible, et c'est lui qui dit quelle méthode la lambda implémente.</a:t>
            </a:r>
          </a:p>
          <a:p>
            <a:r>
              <a:t>Voilà la règle que la démonstration a fait trouver. Si le type cible avait deux méthodes abstraites, le compilateur ne saurait pas laquelle la lambda écrit. Si c'était une classe abstraite, il faudrait un objet complet, avec son état et son constructeur, alors qu'une lambda n'apporte qu'une méthode.</a:t>
            </a:r>
          </a:p>
          <a:p>
            <a:r>
              <a:t>Le module JUN vous avait demandé de recopier </a:t>
            </a:r>
            <a:r>
              <a:rPr>
                <a:latin typeface="Consolas"/>
              </a:rPr>
              <a:t>() -&gt; salle.reserver(0)</a:t>
            </a:r>
            <a:r>
              <a:t> sans explication. Le paramètre d'</a:t>
            </a:r>
            <a:r>
              <a:rPr>
                <a:latin typeface="Consolas"/>
              </a:rPr>
              <a:t>assertThrows</a:t>
            </a:r>
            <a:r>
              <a:t> a pour type </a:t>
            </a:r>
            <a:r>
              <a:rPr>
                <a:latin typeface="Consolas"/>
              </a:rPr>
              <a:t>Executable</a:t>
            </a:r>
            <a:r>
              <a:t>, une interface de JUnit dont la seule méthode, </a:t>
            </a:r>
            <a:r>
              <a:rPr>
                <a:latin typeface="Consolas"/>
              </a:rPr>
              <a:t>execute</a:t>
            </a:r>
            <a:r>
              <a:t>, ne reçoit rien et ne retourne rien. D'où les parenthèses vides. La lambda emballe l'appel, et </a:t>
            </a:r>
            <a:r>
              <a:rPr>
                <a:latin typeface="Consolas"/>
              </a:rPr>
              <a:t>assertThrows</a:t>
            </a:r>
            <a:r>
              <a:t> l'exécute quand elle est prête à attraper l'exception.</a:t>
            </a:r>
          </a:p>
          <a:p>
            <a:r>
              <a:t>Une lambda est donc un objet comme un autre : on la range dans une variable, on la passe en paramètre, on la met dans un tableau.</a:t>
            </a:r>
          </a:p>
          <a:p>
            <a:r>
              <a:rPr lang="fr-BE" dirty="0"/>
              <a:t>Le code complet, à exécuter : demos, classe demo.lam.slides.LesFormesDUneLambda.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fascicule montre la forme la plus courante, un seul paramètre et une seule expression. Les autres suivent la signature de la méthode à écrire.</a:t>
            </a:r>
          </a:p>
          <a:p>
            <a:r>
              <a:t>La méthode </a:t>
            </a:r>
            <a:r>
              <a:rPr>
                <a:latin typeface="Consolas"/>
              </a:rPr>
              <a:t>run</a:t>
            </a:r>
            <a:r>
              <a:t> de </a:t>
            </a:r>
            <a:r>
              <a:rPr>
                <a:latin typeface="Consolas"/>
              </a:rPr>
              <a:t>Runnable</a:t>
            </a:r>
            <a:r>
              <a:t> ne reçoit rien : la lambda commence par des parenthèses vides. La méthode </a:t>
            </a:r>
            <a:r>
              <a:rPr>
                <a:latin typeface="Consolas"/>
              </a:rPr>
              <a:t>compare</a:t>
            </a:r>
            <a:r>
              <a:t> de </a:t>
            </a:r>
            <a:r>
              <a:rPr>
                <a:latin typeface="Consolas"/>
              </a:rPr>
              <a:t>Comparator</a:t>
            </a:r>
            <a:r>
              <a:t> en reçoit deux : on les nomme entre parenthèses. Le résultat d'</a:t>
            </a:r>
            <a:r>
              <a:rPr>
                <a:latin typeface="Consolas"/>
              </a:rPr>
              <a:t>a.length() - b.length()</a:t>
            </a:r>
            <a:r>
              <a:t> est négatif, nul ou positif, comme </a:t>
            </a:r>
            <a:r>
              <a:rPr>
                <a:latin typeface="Consolas"/>
              </a:rPr>
              <a:t>compare</a:t>
            </a:r>
            <a:r>
              <a:t> doit le retourner.</a:t>
            </a:r>
          </a:p>
          <a:p>
            <a:r>
              <a:t>Dès que le corps compte plus d'une instruction, il prend des accolades, et le </a:t>
            </a:r>
            <a:r>
              <a:rPr>
                <a:latin typeface="Consolas"/>
              </a:rPr>
              <a:t>return</a:t>
            </a:r>
            <a:r>
              <a:t> redevient obligatoire, comme dans une méthode. Un corps en bloc est permis, mais s'il s'allonge, c'est le signe qu'il mérite un nom. La section suivante dit comment le lui donner.</a:t>
            </a:r>
          </a:p>
          <a:p>
            <a:r>
              <a:rPr lang="fr-BE" dirty="0"/>
              <a:t>Le code complet, à exécuter : demos, classe demo.lam.slides.LesFormesDUneLambda.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LAM.1</a:t>
            </a:r>
            <a:r>
              <a:t> range quatre lambdas dans un tableau, et les applique sans savoir ce qu'elles font. Comparez avec ITF.1 : la même idée y demandait un fichier par calcul. Faites l'expérience de la deuxième question, en ajoutant une méthode à l'interface : regardez sur quelle ligne le compilateur proteste.</a:t>
            </a:r>
          </a:p>
          <a:p>
            <a:r>
              <a:rPr>
                <a:latin typeface="Consolas"/>
              </a:rPr>
              <a:t>LAM.2</a:t>
            </a:r>
            <a:r>
              <a:t> passe de l'autre côté : vous écrivez la méthode qui reçoit le critère, et l'interface qui le décrit. Le test lui passe des lambdas qu'elle n'a jamais vues, et elle s'en sort sans les connaître.</a:t>
            </a:r>
          </a:p>
          <a:p>
            <a:r>
              <a:t>Gardez la question de </a:t>
            </a:r>
            <a:r>
              <a:rPr>
                <a:latin typeface="Consolas"/>
              </a:rPr>
              <a:t>LAM.2</a:t>
            </a:r>
            <a:r>
              <a:t> pour la section suivante. Et essayez vraiment celle sur la variable locale : le compilateur a un avis.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d'écrire une interface fonctionnelle, regardez si le JDK ne l'a pas déjà écrite. Le package </a:t>
            </a:r>
            <a:r>
              <a:rPr>
                <a:latin typeface="Consolas"/>
              </a:rPr>
              <a:t>java.util.function</a:t>
            </a:r>
            <a:r>
              <a:t> en contient une quarantaine, et ces quatre-là couvrent la plupart des besoins. Vous connaissez les deux premières depuis le module COL.</a:t>
            </a:r>
          </a:p>
          <a:p>
            <a:r>
              <a:t>Le nom de chacune dit ce qu'elle sait faire. Un </a:t>
            </a:r>
            <a:r>
              <a:rPr>
                <a:latin typeface="Consolas"/>
              </a:rPr>
              <a:t>Predicate</a:t>
            </a:r>
            <a:r>
              <a:t> répond oui ou non. Une </a:t>
            </a:r>
            <a:r>
              <a:rPr>
                <a:latin typeface="Consolas"/>
              </a:rPr>
              <a:t>Function</a:t>
            </a:r>
            <a:r>
              <a:t> reçoit une chose et en retourne une autre. Un </a:t>
            </a:r>
            <a:r>
              <a:rPr>
                <a:latin typeface="Consolas"/>
              </a:rPr>
              <a:t>Consumer</a:t>
            </a:r>
            <a:r>
              <a:t> reçoit une chose et ne retourne rien : il agit. Un </a:t>
            </a:r>
            <a:r>
              <a:rPr>
                <a:latin typeface="Consolas"/>
              </a:rPr>
              <a:t>Supplier</a:t>
            </a:r>
            <a:r>
              <a:t> ne reçoit rien et fournit quelque chose.</a:t>
            </a:r>
          </a:p>
          <a:p>
            <a:r>
              <a:t>Toutes sont génériques, comme au module GEN. Pour les types primitifs, le package contient aussi des variantes qui évitent de passer par </a:t>
            </a:r>
            <a:r>
              <a:rPr>
                <a:latin typeface="Consolas"/>
              </a:rPr>
              <a:t>Integer</a:t>
            </a:r>
            <a:r>
              <a:t> : cherchez-les dans la documentation, une question de </a:t>
            </a:r>
            <a:r>
              <a:rPr>
                <a:latin typeface="Consolas"/>
              </a:rPr>
              <a:t>LAM.2</a:t>
            </a:r>
            <a:r>
              <a:t> vous y invite.</a:t>
            </a:r>
          </a:p>
          <a:p>
            <a:r>
              <a:t>Écrire sa propre interface reste utile quand son nom porte un sens métier. Mais c'est alors pour le nom, pas pour la signature.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 module COL, </a:t>
            </a:r>
            <a:r>
              <a:rPr>
                <a:latin typeface="Consolas"/>
              </a:rPr>
              <a:t>removeIf</a:t>
            </a:r>
            <a:r>
              <a:t> et </a:t>
            </a:r>
            <a:r>
              <a:rPr>
                <a:latin typeface="Consolas"/>
              </a:rPr>
              <a:t>computeIfAbsent</a:t>
            </a:r>
            <a:r>
              <a:t> recevaient des objets de classes nommées, </a:t>
            </a:r>
            <a:r>
              <a:rPr>
                <a:latin typeface="Consolas"/>
              </a:rPr>
              <a:t>TitreLong</a:t>
            </a:r>
            <a:r>
              <a:t> et </a:t>
            </a:r>
            <a:r>
              <a:rPr>
                <a:latin typeface="Consolas"/>
              </a:rPr>
              <a:t>NouvelleListe</a:t>
            </a:r>
            <a:r>
              <a:t>. Chacune tient désormais sur une ligne, à l'endroit même où elle sert, et le lecteur voit le critère sans ouvrir un autre fichier.</a:t>
            </a:r>
          </a:p>
          <a:p>
            <a:r>
              <a:t>La méthode </a:t>
            </a:r>
            <a:r>
              <a:rPr>
                <a:latin typeface="Consolas"/>
              </a:rPr>
              <a:t>forEach</a:t>
            </a:r>
            <a:r>
              <a:t>, que possède toute collection, reçoit un </a:t>
            </a:r>
            <a:r>
              <a:rPr>
                <a:latin typeface="Consolas"/>
              </a:rPr>
              <a:t>Consumer</a:t>
            </a:r>
            <a:r>
              <a:t> et l'applique à chaque élément, dans l'ordre. C'est la boucle </a:t>
            </a:r>
            <a:r>
              <a:rPr>
                <a:latin typeface="Consolas"/>
              </a:rPr>
              <a:t>for</a:t>
            </a:r>
            <a:r>
              <a:t> améliorée, écrite comme un appel de méthode.</a:t>
            </a:r>
          </a:p>
          <a:p>
            <a:r>
              <a:t>Remarquez le paramètre </a:t>
            </a:r>
            <a:r>
              <a:rPr>
                <a:latin typeface="Consolas"/>
              </a:rPr>
              <a:t>auteur</a:t>
            </a:r>
            <a:r>
              <a:t>, inutile ici puisqu'une liste vide ne dépend de personne. La signature d'</a:t>
            </a:r>
            <a:r>
              <a:rPr>
                <a:latin typeface="Consolas"/>
              </a:rPr>
              <a:t>apply</a:t>
            </a:r>
            <a:r>
              <a:t> l'impose, comme au module COL : la lambda doit le nommer, même sans s'en servir.</a:t>
            </a:r>
          </a:p>
          <a:p>
            <a:r>
              <a:rPr lang="fr-BE" dirty="0"/>
              <a:t>Le code complet, à exécuter : demos, classe demo.lam.slides.LesMethodesDeCOLSansClasse.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Dernier dépouillement. La lambda du milieu ne fait rien d'autre que transmettre son paramètre à une méthode qui existe. Le nom </a:t>
            </a:r>
            <a:r>
              <a:rPr>
                <a:latin typeface="Consolas"/>
              </a:rPr>
              <a:t>titre</a:t>
            </a:r>
            <a:r>
              <a:t> n'apporte plus rien : il entre et ressort aussitôt. On peut alors désigner la méthode elle-même, par sa classe et son nom.</a:t>
            </a:r>
          </a:p>
          <a:p>
            <a:r>
              <a:rPr>
                <a:latin typeface="Consolas"/>
              </a:rPr>
              <a:t>Titres::estLong</a:t>
            </a:r>
            <a:r>
              <a:t> n'appelle pas la méthode : il n'y a pas de parenthèses. Il la désigne, pour que </a:t>
            </a:r>
            <a:r>
              <a:rPr>
                <a:latin typeface="Consolas"/>
              </a:rPr>
              <a:t>removeIf</a:t>
            </a:r>
            <a:r>
              <a:t> l'appelle plus tard, sur chaque titre. Les deux lignes produisent le même objet, un </a:t>
            </a:r>
            <a:r>
              <a:rPr>
                <a:latin typeface="Consolas"/>
              </a:rPr>
              <a:t>Predicate&lt;String&gt;</a:t>
            </a:r>
            <a:r>
              <a:t>.</a:t>
            </a:r>
          </a:p>
          <a:p>
            <a:r>
              <a:t>La condition est la même que pour une lambda : la méthode doit correspondre à la méthode abstraite du type cible. Ici, </a:t>
            </a:r>
            <a:r>
              <a:rPr>
                <a:latin typeface="Consolas"/>
              </a:rPr>
              <a:t>estLong</a:t>
            </a:r>
            <a:r>
              <a:t> reçoit une </a:t>
            </a:r>
            <a:r>
              <a:rPr>
                <a:latin typeface="Consolas"/>
              </a:rPr>
              <a:t>String</a:t>
            </a:r>
            <a:r>
              <a:t> et retourne un </a:t>
            </a:r>
            <a:r>
              <a:rPr>
                <a:latin typeface="Consolas"/>
              </a:rPr>
              <a:t>boolean</a:t>
            </a:r>
            <a:r>
              <a:t>, comme </a:t>
            </a:r>
            <a:r>
              <a:rPr>
                <a:latin typeface="Consolas"/>
              </a:rPr>
              <a:t>test</a:t>
            </a:r>
            <a:r>
              <a:t>.</a:t>
            </a:r>
          </a:p>
          <a:p>
            <a:r>
              <a:t>Le chemin est complet : une classe nommée, puis une classe sans nom, puis une lambda, puis le seul nom d'une méthode. À chaque étape, la même idée, avec moins à écrire. La différence entre la lambda et la référence n'est plus le coût, c'est le nom : le fascicule en fait l'encadré de </a:t>
            </a:r>
            <a:r>
              <a:rPr>
                <a:latin typeface="Consolas"/>
              </a:rPr>
              <a:t>LAM.3</a:t>
            </a:r>
            <a:r>
              <a:t>.</a:t>
            </a:r>
          </a:p>
          <a:p>
            <a:r>
              <a:rPr lang="fr-BE" dirty="0"/>
              <a:t>Le code complet, à exécuter : demos, classe demo.lam.slides.DeLaClasseALaLambda.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que l'on peut sauter en classe. Elle montre où mènent les lambdas quand on les enchaîne.</a:t>
            </a:r>
          </a:p>
          <a:p>
            <a:r>
              <a:t>Un stream n'est pas une collection : c'est un passage. Les éléments de la liste y entrent l'un après l'autre et traversent des étapes, chacune décrite par une lambda. Le code se lit de haut en bas, comme une recette.</a:t>
            </a:r>
          </a:p>
          <a:p>
            <a:r>
              <a:t>Première étape, stream ouvre le flux sur les titres de la liste. Deuxième, filter reçoit un Predicate, le même genre d'objet que removeIf, et ne laisse passer que les titres qu'il accepte : ici, les titres longs. Troisième, map reçoit une Function et transforme chaque titre qui passe : ici, en majuscules. Le nombre d'éléments ne change pas, seule leur forme change. Dernière étape, collect rassemble ce qui sort du flux en un résultat ; Collectors.joining en fait une seule chaîne, avec le séparateur donné.</a:t>
            </a:r>
          </a:p>
          <a:p>
            <a:r>
              <a:t>La différence avec removeIf est essentielle : removeIf retire des éléments de la liste elle-même, alors que le stream laisse titres intacte et produit un résultat neuf, ici une String. La slide suivante suit quatre titres à travers les étapes.</a:t>
            </a:r>
          </a:p>
          <a:p>
            <a:r>
              <a:t>Pour un tableau d'entiers, Arrays.stream(tableau) ouvre le même enchaînement. Comme les éléments sont des int, mapToObj les transforme alors en objets, par exemple en chaînes avec String::valueOf, avant de les joindre. C'est de quoi répondre à la dernière question de LAM.3.</a:t>
            </a:r>
          </a:p>
          <a:p>
            <a:r>
              <a:t>Le code complet, à exécuter : demos, classe </a:t>
            </a:r>
            <a:r>
              <a:rPr>
                <a:latin typeface="Consolas"/>
              </a:rPr>
              <a:t>demo.lam.slides.LesMethodesDeCOLSansClasse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lignes apparaissent l'une après l'autre : faites deviner ce qui sort de chaque étape avant de cliquer.</a:t>
            </a:r>
          </a:p>
          <a:p>
            <a:r>
              <a:t>Le flux part des quatre titres. filter ne laisse passer que ceux qui dépassent huit caractères : Nana et Germinal, qui en ont quatre et huit, s'arrêtent là. La limite est abaissée à 8 pour l'exemple : avec 20, il faudrait des titres trop longs pour tenir dans le tableau. map met chacun des deux survivants en majuscules : ils sont toujours deux, mais changés. collect, enfin, n'est plus une suite d'éléments : il les assemble en une seule String, séparés par une virgule et une espace.</a:t>
            </a:r>
          </a:p>
          <a:p>
            <a:r>
              <a:t>Pendant tout ce trajet, la liste titres n'a pas bougé : elle contient toujours ses quatre titres, dans le même ordre. C'est la différence avec removeIf.</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LAM.3</a:t>
            </a:r>
            <a:r>
              <a:t> répond à la question gardée depuis </a:t>
            </a:r>
            <a:r>
              <a:rPr>
                <a:latin typeface="Consolas"/>
              </a:rPr>
              <a:t>LAM.2</a:t>
            </a:r>
            <a:r>
              <a:t> : votre interface </a:t>
            </a:r>
            <a:r>
              <a:rPr>
                <a:latin typeface="Consolas"/>
              </a:rPr>
              <a:t>Filtrage</a:t>
            </a:r>
            <a:r>
              <a:t> avait déjà son équivalent dans le JDK. Remplacez-la, et constatez que rien d'autre ne change.</a:t>
            </a:r>
          </a:p>
          <a:p>
            <a:r>
              <a:t>La seconde partie fait le dernier dépouillement de la slide 3.4 : trois critères écrits comme des méthodes statiques, chacune sur une ligne, puis passés par référence. Le test vérifie chaque critère seul avant le rapport. C'est ce que le nom permet, et que la lambda ne permet pas.</a:t>
            </a:r>
          </a:p>
          <a:p>
            <a:r>
              <a:t>Les questions de fin ouvrent sur ce que le deck n'a pas montré : les autres formes de référence de méthode. Cherchez-les.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ITF citait </a:t>
            </a:r>
            <a:r>
              <a:rPr>
                <a:latin typeface="Consolas"/>
              </a:rPr>
              <a:t>EventHandler</a:t>
            </a:r>
            <a:r>
              <a:t> parmi les interfaces fonctionnelles du JDK. Vous le retrouverez à chaque bouton du module FX : sa méthode </a:t>
            </a:r>
            <a:r>
              <a:rPr>
                <a:latin typeface="Consolas"/>
              </a:rPr>
              <a:t>handle</a:t>
            </a:r>
            <a:r>
              <a:t> reçoit l'événement, et la lambda dit quoi faire quand il survient.</a:t>
            </a:r>
          </a:p>
          <a:p>
            <a:r>
              <a:t>Sans lambda, chaque bouton demanderait une classe, anonyme ou non. Avec elle, l'interface graphique se lit ligne par ligne : tel bouton, tel effet. C'est ce qui rend le code JavaFX lisible, et c'est à l'examen que vous en aurez besoin : la question JavaFX demande d'écrire ces gestionnaires.</a:t>
            </a:r>
          </a:p>
          <a:p>
            <a:r>
              <a:t>Une lambda est une valeur : un gestionnaire peut aussi se ranger dans un champ, pour être ajouté puis retiré plus tard. Le module FX le montrera.</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G.32</a:t>
            </a:r>
            <a:r>
              <a:t> reprend la fabrique de </a:t>
            </a:r>
            <a:r>
              <a:rPr>
                <a:latin typeface="Consolas"/>
              </a:rPr>
              <a:t>G.15</a:t>
            </a:r>
            <a:r>
              <a:t>. Son </a:t>
            </a:r>
            <a:r>
              <a:rPr>
                <a:latin typeface="Consolas"/>
              </a:rPr>
              <a:t>switch</a:t>
            </a:r>
            <a:r>
              <a:t> associe chaque type de jeu à la façon d'en créer un. L'incrément range ces associations dans une </a:t>
            </a:r>
            <a:r>
              <a:rPr>
                <a:latin typeface="Consolas"/>
              </a:rPr>
              <a:t>Map</a:t>
            </a:r>
            <a:r>
              <a:t>, dont chaque valeur est un </a:t>
            </a:r>
            <a:r>
              <a:rPr>
                <a:latin typeface="Consolas"/>
              </a:rPr>
              <a:t>Supplier&lt;Jeu&gt;</a:t>
            </a:r>
            <a:r>
              <a:t> : une lambda qui, à chaque appel, fabrique un jeu neuf. Ajouter un jeu revient alors à ajouter une ligne au catalogue.</a:t>
            </a:r>
          </a:p>
          <a:p>
            <a:r>
              <a:t>L'incrément pose la question qui compte : pourquoi ranger la façon de fabriquer un jeu, et pas le jeu lui-même ? Répondez-y avant d'écrire la moindre ligne.</a:t>
            </a:r>
          </a:p>
          <a:p>
            <a:r>
              <a:t>Relisez aussi </a:t>
            </a:r>
            <a:r>
              <a:rPr>
                <a:latin typeface="Consolas"/>
              </a:rPr>
              <a:t>G.17</a:t>
            </a:r>
            <a:r>
              <a:t>. Sa question vous demandait quel nom porte une interface à une seule méthode, et ce que vous pourriez en faire au thème LAM. La réponse est sous vos yeux : </a:t>
            </a:r>
            <a:r>
              <a:rPr>
                <a:latin typeface="Consolas"/>
              </a:rPr>
              <a:t>StrategieNim</a:t>
            </a:r>
            <a:r>
              <a:t> est fonctionnelle, et </a:t>
            </a:r>
            <a:r>
              <a:rPr>
                <a:latin typeface="Consolas"/>
              </a:rPr>
              <a:t>StrategieTimide</a:t>
            </a:r>
            <a:r>
              <a:t> tiendrait en une lambda, </a:t>
            </a:r>
            <a:r>
              <a:rPr>
                <a:latin typeface="Consolas"/>
              </a:rPr>
              <a:t>(pile, regles) -&gt; 1</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LAM</a:t>
            </a:r>
          </a:p>
          <a:p>
            <a:r>
              <a:t>Lambdas et références de méthodes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9" name="Section 1"/>
          <p:cNvGrpSpPr/>
          <p:nvPr/>
        </p:nvGrpSpPr>
        <p:grpSpPr>
          <a:xfrm>
            <a:off x="640080" y="1463040"/>
            <a:ext cx="10789919" cy="914400"/>
            <a:chOff x="640080" y="1463040"/>
            <a:chExt cx="10789919" cy="914400"/>
          </a:xfrm>
        </p:grpSpPr>
        <p:sp>
          <p:nvSpPr>
            <p:cNvPr id="12" name="Sommaire du module"/>
            <p:cNvSpPr/>
            <p:nvPr/>
          </p:nvSpPr>
          <p:spPr>
            <a:xfrm>
              <a:off x="640080" y="146304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La classe anonyme</a:t>
              </a:r>
            </a:p>
          </p:txBody>
        </p:sp>
      </p:grpSp>
      <p:grpSp>
        <p:nvGrpSpPr>
          <p:cNvPr id="10" name="Section 2"/>
          <p:cNvGrpSpPr/>
          <p:nvPr/>
        </p:nvGrpSpPr>
        <p:grpSpPr>
          <a:xfrm>
            <a:off x="640080" y="2560320"/>
            <a:ext cx="10789919" cy="914400"/>
            <a:chOff x="640080" y="2560320"/>
            <a:chExt cx="10789919" cy="914400"/>
          </a:xfrm>
        </p:grpSpPr>
        <p:sp>
          <p:nvSpPr>
            <p:cNvPr id="5" name="Sommaire du module"/>
            <p:cNvSpPr/>
            <p:nvPr/>
          </p:nvSpPr>
          <p:spPr>
            <a:xfrm>
              <a:off x="640080" y="256032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La lambda</a:t>
              </a:r>
            </a:p>
          </p:txBody>
        </p:sp>
      </p:grpSp>
      <p:grpSp>
        <p:nvGrpSpPr>
          <p:cNvPr id="11" name="Section 3"/>
          <p:cNvGrpSpPr/>
          <p:nvPr/>
        </p:nvGrpSpPr>
        <p:grpSpPr>
          <a:xfrm>
            <a:off x="640080" y="3657600"/>
            <a:ext cx="10789919" cy="914400"/>
            <a:chOff x="640080" y="3657600"/>
            <a:chExt cx="10789919" cy="914400"/>
          </a:xfrm>
        </p:grpSpPr>
        <p:sp>
          <p:nvSpPr>
            <p:cNvPr id="7" name="Sommaire du module"/>
            <p:cNvSpPr/>
            <p:nvPr/>
          </p:nvSpPr>
          <p:spPr>
            <a:xfrm>
              <a:off x="640080" y="3657600"/>
              <a:ext cx="545592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JDK et références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1.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1071933"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Une classe qui perd son nom</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passez déjà des comportements</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removeIf</a:t>
            </a:r>
            <a:r>
              <a:rPr sz="2800"/>
              <a:t> reçoit un objet, mais elle n'en attend qu'une méthode</a:t>
            </a:r>
          </a:p>
          <a:p>
            <a:pPr marL="0" indent="0">
              <a:spcAft>
                <a:spcPts val="1000"/>
              </a:spcAft>
              <a:buNone/>
            </a:pPr>
            <a:r>
              <a:rPr sz="2800"/>
              <a:t>Toute la classe existe pour porter une seule ligne</a:t>
            </a:r>
          </a:p>
        </p:txBody>
      </p:sp>
      <p:sp>
        <p:nvSpPr>
          <p:cNvPr id="4" name="Code"/>
          <p:cNvSpPr txBox="1"/>
          <p:nvPr/>
        </p:nvSpPr>
        <p:spPr>
          <a:xfrm>
            <a:off x="1473201" y="3180079"/>
            <a:ext cx="9245598" cy="2452003"/>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a:t>
            </a:r>
            <a:r>
              <a:rPr sz="1600" dirty="0" err="1">
                <a:solidFill>
                  <a:srgbClr val="BCBEC4"/>
                </a:solidFill>
                <a:latin typeface="Consolas"/>
              </a:rPr>
              <a:t>TitreLong</a:t>
            </a:r>
            <a:r>
              <a:rPr sz="1600" dirty="0">
                <a:solidFill>
                  <a:srgbClr val="BCBEC4"/>
                </a:solidFill>
                <a:latin typeface="Consolas"/>
              </a:rPr>
              <a:t> </a:t>
            </a:r>
            <a:r>
              <a:rPr sz="1600" dirty="0">
                <a:solidFill>
                  <a:srgbClr val="CF8E6D"/>
                </a:solidFill>
                <a:latin typeface="Consolas"/>
              </a:rPr>
              <a:t>implements</a:t>
            </a:r>
            <a:r>
              <a:rPr sz="1600" dirty="0">
                <a:solidFill>
                  <a:srgbClr val="BCBEC4"/>
                </a:solidFill>
                <a:latin typeface="Consolas"/>
              </a:rPr>
              <a:t> Predicate&lt;String&gt;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a:t>
            </a:r>
            <a:r>
              <a:rPr sz="1600" dirty="0">
                <a:solidFill>
                  <a:srgbClr val="CF8E6D"/>
                </a:solidFill>
                <a:latin typeface="Consolas"/>
              </a:rPr>
              <a:t>static</a:t>
            </a:r>
            <a:r>
              <a:rPr sz="1600" dirty="0">
                <a:solidFill>
                  <a:srgbClr val="BCBEC4"/>
                </a:solidFill>
                <a:latin typeface="Consolas"/>
              </a:rPr>
              <a:t> </a:t>
            </a:r>
            <a:r>
              <a:rPr sz="1600" dirty="0">
                <a:solidFill>
                  <a:srgbClr val="CF8E6D"/>
                </a:solidFill>
                <a:latin typeface="Consolas"/>
              </a:rPr>
              <a:t>final</a:t>
            </a:r>
            <a:r>
              <a:rPr sz="1600" dirty="0">
                <a:solidFill>
                  <a:srgbClr val="BCBEC4"/>
                </a:solidFill>
                <a:latin typeface="Consolas"/>
              </a:rPr>
              <a:t> </a:t>
            </a:r>
            <a:r>
              <a:rPr sz="1600" dirty="0">
                <a:solidFill>
                  <a:srgbClr val="CF8E6D"/>
                </a:solidFill>
                <a:latin typeface="Consolas"/>
              </a:rPr>
              <a:t>int</a:t>
            </a:r>
            <a:r>
              <a:rPr sz="1600" dirty="0">
                <a:solidFill>
                  <a:srgbClr val="BCBEC4"/>
                </a:solidFill>
                <a:latin typeface="Consolas"/>
              </a:rPr>
              <a:t> LONGUEUR_MAX = </a:t>
            </a:r>
            <a:r>
              <a:rPr sz="1600" dirty="0">
                <a:solidFill>
                  <a:srgbClr val="2AACB8"/>
                </a:solidFill>
                <a:latin typeface="Consolas"/>
              </a:rPr>
              <a:t>20</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B3AE60"/>
                </a:solidFill>
                <a:latin typeface="Consolas"/>
              </a:rPr>
              <a:t>@Override</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a:t>
            </a:r>
            <a:r>
              <a:rPr sz="1600" dirty="0" err="1">
                <a:solidFill>
                  <a:srgbClr val="CF8E6D"/>
                </a:solidFill>
                <a:latin typeface="Consolas"/>
              </a:rPr>
              <a:t>boolean</a:t>
            </a:r>
            <a:r>
              <a:rPr sz="1600" dirty="0">
                <a:solidFill>
                  <a:srgbClr val="BCBEC4"/>
                </a:solidFill>
                <a:latin typeface="Consolas"/>
              </a:rPr>
              <a:t> </a:t>
            </a:r>
            <a:r>
              <a:rPr sz="1600" dirty="0">
                <a:solidFill>
                  <a:srgbClr val="56A8F5"/>
                </a:solidFill>
                <a:latin typeface="Consolas"/>
              </a:rPr>
              <a:t>test</a:t>
            </a:r>
            <a:r>
              <a:rPr sz="1600" dirty="0">
                <a:solidFill>
                  <a:srgbClr val="BCBEC4"/>
                </a:solidFill>
                <a:latin typeface="Consolas"/>
              </a:rPr>
              <a:t>(String </a:t>
            </a:r>
            <a:r>
              <a:rPr sz="1600" dirty="0" err="1">
                <a:solidFill>
                  <a:srgbClr val="BCBEC4"/>
                </a:solidFill>
                <a:latin typeface="Consolas"/>
              </a:rPr>
              <a:t>titre</a:t>
            </a: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return</a:t>
            </a:r>
            <a:r>
              <a:rPr sz="1600" dirty="0">
                <a:solidFill>
                  <a:srgbClr val="BCBEC4"/>
                </a:solidFill>
                <a:latin typeface="Consolas"/>
              </a:rPr>
              <a:t> </a:t>
            </a:r>
            <a:r>
              <a:rPr sz="1600" dirty="0" err="1">
                <a:solidFill>
                  <a:srgbClr val="BCBEC4"/>
                </a:solidFill>
                <a:latin typeface="Consolas"/>
              </a:rPr>
              <a:t>titre.</a:t>
            </a:r>
            <a:r>
              <a:rPr sz="1600" dirty="0" err="1">
                <a:solidFill>
                  <a:srgbClr val="56A8F5"/>
                </a:solidFill>
                <a:latin typeface="Consolas"/>
              </a:rPr>
              <a:t>length</a:t>
            </a:r>
            <a:r>
              <a:rPr sz="1600" dirty="0">
                <a:solidFill>
                  <a:srgbClr val="BCBEC4"/>
                </a:solidFill>
                <a:latin typeface="Consolas"/>
              </a:rPr>
              <a:t>() &gt; LONGUEUR_MAX;    </a:t>
            </a:r>
            <a:r>
              <a:rPr sz="1600" dirty="0">
                <a:solidFill>
                  <a:srgbClr val="7A7E85"/>
                </a:solidFill>
                <a:latin typeface="Consolas"/>
              </a:rPr>
              <a:t>// la </a:t>
            </a:r>
            <a:r>
              <a:rPr sz="1600" dirty="0" err="1">
                <a:solidFill>
                  <a:srgbClr val="7A7E85"/>
                </a:solidFill>
                <a:latin typeface="Consolas"/>
              </a:rPr>
              <a:t>seule</a:t>
            </a:r>
            <a:r>
              <a:rPr sz="1600" dirty="0">
                <a:solidFill>
                  <a:srgbClr val="7A7E85"/>
                </a:solidFill>
                <a:latin typeface="Consolas"/>
              </a:rPr>
              <a:t> </a:t>
            </a:r>
            <a:r>
              <a:rPr sz="1600" dirty="0" err="1">
                <a:solidFill>
                  <a:srgbClr val="7A7E85"/>
                </a:solidFill>
                <a:latin typeface="Consolas"/>
              </a:rPr>
              <a:t>ligne</a:t>
            </a:r>
            <a:r>
              <a:rPr sz="1600" dirty="0">
                <a:solidFill>
                  <a:srgbClr val="7A7E85"/>
                </a:solidFill>
                <a:latin typeface="Consolas"/>
              </a:rPr>
              <a:t> utile</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
        <p:nvSpPr>
          <p:cNvPr id="8" name="Rectangle : coins arrondis 7">
            <a:extLst>
              <a:ext uri="{FF2B5EF4-FFF2-40B4-BE49-F238E27FC236}">
                <a16:creationId xmlns:a16="http://schemas.microsoft.com/office/drawing/2014/main" id="{2C35C91F-5BFD-4385-1B9C-856D2718AE0B}"/>
              </a:ext>
            </a:extLst>
          </p:cNvPr>
          <p:cNvSpPr/>
          <p:nvPr/>
        </p:nvSpPr>
        <p:spPr>
          <a:xfrm>
            <a:off x="1526458" y="3244645"/>
            <a:ext cx="8197092" cy="2322871"/>
          </a:xfrm>
          <a:prstGeom prst="roundRect">
            <a:avLst>
              <a:gd name="adj" fmla="val 7255"/>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Code">
            <a:extLst>
              <a:ext uri="{FF2B5EF4-FFF2-40B4-BE49-F238E27FC236}">
                <a16:creationId xmlns:a16="http://schemas.microsoft.com/office/drawing/2014/main" id="{7A68FF3C-AA78-7775-F5E5-55BC1D7E68EF}"/>
              </a:ext>
            </a:extLst>
          </p:cNvPr>
          <p:cNvSpPr txBox="1"/>
          <p:nvPr/>
        </p:nvSpPr>
        <p:spPr>
          <a:xfrm>
            <a:off x="1473201" y="5742922"/>
            <a:ext cx="9245598" cy="450060"/>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err="1">
                <a:solidFill>
                  <a:srgbClr val="BCBEC4"/>
                </a:solidFill>
                <a:latin typeface="Consolas"/>
              </a:rPr>
              <a:t>titres.</a:t>
            </a:r>
            <a:r>
              <a:rPr sz="1600" dirty="0" err="1">
                <a:solidFill>
                  <a:srgbClr val="56A8F5"/>
                </a:solidFill>
                <a:latin typeface="Consolas"/>
              </a:rPr>
              <a:t>removeIf</a:t>
            </a:r>
            <a:r>
              <a:rPr sz="1600" dirty="0">
                <a:solidFill>
                  <a:srgbClr val="BCBEC4"/>
                </a:solidFill>
                <a:latin typeface="Consolas"/>
              </a:rPr>
              <a:t>(</a:t>
            </a:r>
            <a:r>
              <a:rPr sz="1600" dirty="0">
                <a:solidFill>
                  <a:srgbClr val="CF8E6D"/>
                </a:solidFill>
                <a:latin typeface="Consolas"/>
              </a:rPr>
              <a:t>new</a:t>
            </a:r>
            <a:r>
              <a:rPr sz="1600" dirty="0">
                <a:solidFill>
                  <a:srgbClr val="BCBEC4"/>
                </a:solidFill>
                <a:latin typeface="Consolas"/>
              </a:rPr>
              <a:t> </a:t>
            </a:r>
            <a:r>
              <a:rPr sz="1600" dirty="0" err="1">
                <a:solidFill>
                  <a:srgbClr val="56A8F5"/>
                </a:solidFill>
                <a:latin typeface="Consolas"/>
              </a:rPr>
              <a:t>TitreLong</a:t>
            </a:r>
            <a:r>
              <a:rPr sz="16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classe anonyme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Une </a:t>
            </a:r>
            <a:r>
              <a:rPr sz="2800" dirty="0" err="1"/>
              <a:t>classe</a:t>
            </a:r>
            <a:r>
              <a:rPr sz="2800" dirty="0"/>
              <a:t> </a:t>
            </a:r>
            <a:r>
              <a:rPr sz="2800" dirty="0" err="1"/>
              <a:t>écrite</a:t>
            </a:r>
            <a:r>
              <a:rPr sz="2800" dirty="0"/>
              <a:t> à </a:t>
            </a:r>
            <a:r>
              <a:rPr sz="2800" dirty="0" err="1"/>
              <a:t>l'endroit</a:t>
            </a:r>
            <a:r>
              <a:rPr sz="2800" dirty="0"/>
              <a:t> </a:t>
            </a:r>
            <a:r>
              <a:rPr sz="2800" dirty="0" err="1"/>
              <a:t>même</a:t>
            </a:r>
            <a:r>
              <a:rPr sz="2800" dirty="0"/>
              <a:t> </a:t>
            </a:r>
            <a:r>
              <a:rPr sz="2800" dirty="0" err="1"/>
              <a:t>où</a:t>
            </a:r>
            <a:r>
              <a:rPr sz="2800" dirty="0"/>
              <a:t> </a:t>
            </a:r>
            <a:r>
              <a:rPr sz="2800" dirty="0" err="1"/>
              <a:t>l'on</a:t>
            </a:r>
            <a:r>
              <a:rPr sz="2800" dirty="0"/>
              <a:t> </a:t>
            </a:r>
            <a:r>
              <a:rPr sz="2800" dirty="0" err="1"/>
              <a:t>crée</a:t>
            </a:r>
            <a:r>
              <a:rPr sz="2800" dirty="0"/>
              <a:t> son </a:t>
            </a:r>
            <a:r>
              <a:rPr sz="2800" dirty="0" err="1"/>
              <a:t>objet</a:t>
            </a:r>
            <a:endParaRPr sz="2800" dirty="0"/>
          </a:p>
          <a:p>
            <a:pPr marL="0" indent="0">
              <a:spcAft>
                <a:spcPts val="1000"/>
              </a:spcAft>
              <a:buNone/>
            </a:pPr>
            <a:r>
              <a:rPr sz="2800" dirty="0"/>
              <a:t>Elle </a:t>
            </a:r>
            <a:r>
              <a:rPr sz="2800" dirty="0" err="1"/>
              <a:t>n'a</a:t>
            </a:r>
            <a:r>
              <a:rPr sz="2800" dirty="0"/>
              <a:t> pas de nom : </a:t>
            </a:r>
            <a:r>
              <a:rPr sz="2800" dirty="0" err="1"/>
              <a:t>elle</a:t>
            </a:r>
            <a:r>
              <a:rPr sz="2800" dirty="0"/>
              <a:t> ne </a:t>
            </a:r>
            <a:r>
              <a:rPr sz="2800" dirty="0" err="1"/>
              <a:t>servira</a:t>
            </a:r>
            <a:r>
              <a:rPr sz="2800" dirty="0"/>
              <a:t> </a:t>
            </a:r>
            <a:r>
              <a:rPr sz="2800" dirty="0" err="1"/>
              <a:t>qu'ici</a:t>
            </a:r>
            <a:endParaRPr sz="2800" dirty="0"/>
          </a:p>
          <a:p>
            <a:pPr marL="0" indent="0">
              <a:spcAft>
                <a:spcPts val="1000"/>
              </a:spcAft>
              <a:buNone/>
            </a:pPr>
            <a:r>
              <a:rPr sz="2800" dirty="0"/>
              <a:t>Le mot </a:t>
            </a:r>
            <a:r>
              <a:rPr sz="2400" dirty="0">
                <a:solidFill>
                  <a:schemeClr val="accent4"/>
                </a:solidFill>
                <a:latin typeface="Consolas"/>
              </a:rPr>
              <a:t>new</a:t>
            </a:r>
            <a:r>
              <a:rPr sz="2800" dirty="0"/>
              <a:t> est </a:t>
            </a:r>
            <a:r>
              <a:rPr sz="2800" dirty="0" err="1"/>
              <a:t>suivi</a:t>
            </a:r>
            <a:r>
              <a:rPr sz="2800" dirty="0"/>
              <a:t> de </a:t>
            </a:r>
            <a:r>
              <a:rPr sz="2800" dirty="0" err="1"/>
              <a:t>l'interface</a:t>
            </a:r>
            <a:r>
              <a:rPr lang="nl-BE" sz="2800" dirty="0"/>
              <a:t> (ou d’une classe abstraite)</a:t>
            </a:r>
            <a:r>
              <a:rPr sz="2800" dirty="0"/>
              <a:t>, </a:t>
            </a:r>
            <a:r>
              <a:rPr sz="2800" dirty="0" err="1"/>
              <a:t>puis</a:t>
            </a:r>
            <a:r>
              <a:rPr sz="2800" dirty="0"/>
              <a:t> du corps de la </a:t>
            </a:r>
            <a:r>
              <a:rPr sz="2800" dirty="0" err="1"/>
              <a:t>classe</a:t>
            </a:r>
            <a:endParaRPr sz="2800" dirty="0"/>
          </a:p>
        </p:txBody>
      </p:sp>
      <p:sp>
        <p:nvSpPr>
          <p:cNvPr id="4" name="Code"/>
          <p:cNvSpPr txBox="1"/>
          <p:nvPr/>
        </p:nvSpPr>
        <p:spPr>
          <a:xfrm>
            <a:off x="2800350" y="4160520"/>
            <a:ext cx="65913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sz="1800" dirty="0">
                <a:solidFill>
                  <a:srgbClr val="CF8E6D"/>
                </a:solidFill>
                <a:latin typeface="Consolas"/>
              </a:rPr>
              <a:t>new</a:t>
            </a:r>
            <a:r>
              <a:rPr sz="1800" dirty="0">
                <a:solidFill>
                  <a:srgbClr val="BCBEC4"/>
                </a:solidFill>
                <a:latin typeface="Consolas"/>
              </a:rPr>
              <a:t> Predicate&lt;String&gt;() {</a:t>
            </a:r>
          </a:p>
          <a:p>
            <a:pPr>
              <a:lnSpc>
                <a:spcPct val="100000"/>
              </a:lnSpc>
              <a:spcBef>
                <a:spcPts val="0"/>
              </a:spcBef>
              <a:spcAft>
                <a:spcPts val="0"/>
              </a:spcAft>
            </a:pPr>
            <a:r>
              <a:rPr sz="1800" dirty="0">
                <a:solidFill>
                  <a:srgbClr val="BCBEC4"/>
                </a:solidFill>
                <a:latin typeface="Consolas"/>
              </a:rPr>
              <a:t>    </a:t>
            </a:r>
            <a:r>
              <a:rPr sz="1800" dirty="0">
                <a:solidFill>
                  <a:srgbClr val="B3AE60"/>
                </a:solidFill>
                <a:latin typeface="Consolas"/>
              </a:rPr>
              <a:t>@Override</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test</a:t>
            </a:r>
            <a:r>
              <a:rPr sz="1800" dirty="0">
                <a:solidFill>
                  <a:srgbClr val="BCBEC4"/>
                </a:solidFill>
                <a:latin typeface="Consolas"/>
              </a:rPr>
              <a:t>(String </a:t>
            </a:r>
            <a:r>
              <a:rPr sz="1800" dirty="0" err="1">
                <a:solidFill>
                  <a:srgbClr val="BCBEC4"/>
                </a:solidFill>
                <a:latin typeface="Consolas"/>
              </a:rPr>
              <a:t>titre</a:t>
            </a: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
        <p:nvSpPr>
          <p:cNvPr id="19" name="Forme libre 18">
            <a:extLst>
              <a:ext uri="{FF2B5EF4-FFF2-40B4-BE49-F238E27FC236}">
                <a16:creationId xmlns:a16="http://schemas.microsoft.com/office/drawing/2014/main" id="{C2FBECA0-26DB-CEFC-C264-EE91B61529E4}"/>
              </a:ext>
            </a:extLst>
          </p:cNvPr>
          <p:cNvSpPr/>
          <p:nvPr/>
        </p:nvSpPr>
        <p:spPr>
          <a:xfrm>
            <a:off x="2936077" y="4246178"/>
            <a:ext cx="5682761" cy="1723698"/>
          </a:xfrm>
          <a:custGeom>
            <a:avLst/>
            <a:gdLst>
              <a:gd name="csX0" fmla="*/ 2105556 w 5791200"/>
              <a:gd name="csY0" fmla="*/ 0 h 1723698"/>
              <a:gd name="csX1" fmla="*/ 5661588 w 5791200"/>
              <a:gd name="csY1" fmla="*/ 0 h 1723698"/>
              <a:gd name="csX2" fmla="*/ 5791200 w 5791200"/>
              <a:gd name="csY2" fmla="*/ 129612 h 1723698"/>
              <a:gd name="csX3" fmla="*/ 5791200 w 5791200"/>
              <a:gd name="csY3" fmla="*/ 1352347 h 1723698"/>
              <a:gd name="csX4" fmla="*/ 5661588 w 5791200"/>
              <a:gd name="csY4" fmla="*/ 1481959 h 1723698"/>
              <a:gd name="csX5" fmla="*/ 2437216 w 5791200"/>
              <a:gd name="csY5" fmla="*/ 1481959 h 1723698"/>
              <a:gd name="csX6" fmla="*/ 2105556 w 5791200"/>
              <a:gd name="csY6" fmla="*/ 1481959 h 1723698"/>
              <a:gd name="csX7" fmla="*/ 1110758 w 5791200"/>
              <a:gd name="csY7" fmla="*/ 1481959 h 1723698"/>
              <a:gd name="csX8" fmla="*/ 1110758 w 5791200"/>
              <a:gd name="csY8" fmla="*/ 1482741 h 1723698"/>
              <a:gd name="csX9" fmla="*/ 910329 w 5791200"/>
              <a:gd name="csY9" fmla="*/ 1482741 h 1723698"/>
              <a:gd name="csX10" fmla="*/ 793532 w 5791200"/>
              <a:gd name="csY10" fmla="*/ 1599538 h 1723698"/>
              <a:gd name="csX11" fmla="*/ 793532 w 5791200"/>
              <a:gd name="csY11" fmla="*/ 1673769 h 1723698"/>
              <a:gd name="csX12" fmla="*/ 766172 w 5791200"/>
              <a:gd name="csY12" fmla="*/ 1706993 h 1723698"/>
              <a:gd name="csX13" fmla="*/ 711484 w 5791200"/>
              <a:gd name="csY13" fmla="*/ 1723698 h 1723698"/>
              <a:gd name="csX14" fmla="*/ 97812 w 5791200"/>
              <a:gd name="csY14" fmla="*/ 1723698 h 1723698"/>
              <a:gd name="csX15" fmla="*/ 0 w 5791200"/>
              <a:gd name="csY15" fmla="*/ 1625886 h 1723698"/>
              <a:gd name="csX16" fmla="*/ 0 w 5791200"/>
              <a:gd name="csY16" fmla="*/ 434144 h 1723698"/>
              <a:gd name="csX17" fmla="*/ 59739 w 5791200"/>
              <a:gd name="csY17" fmla="*/ 344019 h 1723698"/>
              <a:gd name="csX18" fmla="*/ 84795 w 5791200"/>
              <a:gd name="csY18" fmla="*/ 338960 h 1723698"/>
              <a:gd name="csX19" fmla="*/ 1874256 w 5791200"/>
              <a:gd name="csY19" fmla="*/ 338960 h 1723698"/>
              <a:gd name="csX20" fmla="*/ 1991053 w 5791200"/>
              <a:gd name="csY20" fmla="*/ 222163 h 1723698"/>
              <a:gd name="csX21" fmla="*/ 1991053 w 5791200"/>
              <a:gd name="csY21" fmla="*/ 71859 h 1723698"/>
              <a:gd name="csX22" fmla="*/ 2013907 w 5791200"/>
              <a:gd name="csY22" fmla="*/ 37963 h 1723698"/>
              <a:gd name="csX23" fmla="*/ 2105556 w 5791200"/>
              <a:gd name="csY23" fmla="*/ 0 h 1723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791200" h="1723698">
                <a:moveTo>
                  <a:pt x="2105556" y="0"/>
                </a:moveTo>
                <a:lnTo>
                  <a:pt x="5661588" y="0"/>
                </a:lnTo>
                <a:cubicBezTo>
                  <a:pt x="5733171" y="0"/>
                  <a:pt x="5791200" y="58029"/>
                  <a:pt x="5791200" y="129612"/>
                </a:cubicBezTo>
                <a:lnTo>
                  <a:pt x="5791200" y="1352347"/>
                </a:lnTo>
                <a:cubicBezTo>
                  <a:pt x="5791200" y="1423930"/>
                  <a:pt x="5733171" y="1481959"/>
                  <a:pt x="5661588" y="1481959"/>
                </a:cubicBezTo>
                <a:lnTo>
                  <a:pt x="2437216" y="1481959"/>
                </a:lnTo>
                <a:lnTo>
                  <a:pt x="2105556" y="1481959"/>
                </a:lnTo>
                <a:lnTo>
                  <a:pt x="1110758" y="1481959"/>
                </a:lnTo>
                <a:lnTo>
                  <a:pt x="1110758" y="1482741"/>
                </a:lnTo>
                <a:lnTo>
                  <a:pt x="910329" y="1482741"/>
                </a:lnTo>
                <a:cubicBezTo>
                  <a:pt x="845824" y="1482741"/>
                  <a:pt x="793532" y="1535033"/>
                  <a:pt x="793532" y="1599538"/>
                </a:cubicBezTo>
                <a:lnTo>
                  <a:pt x="793532" y="1673769"/>
                </a:lnTo>
                <a:lnTo>
                  <a:pt x="766172" y="1706993"/>
                </a:lnTo>
                <a:cubicBezTo>
                  <a:pt x="750561" y="1717540"/>
                  <a:pt x="731742" y="1723698"/>
                  <a:pt x="711484" y="1723698"/>
                </a:cubicBezTo>
                <a:lnTo>
                  <a:pt x="97812" y="1723698"/>
                </a:lnTo>
                <a:cubicBezTo>
                  <a:pt x="43792" y="1723698"/>
                  <a:pt x="0" y="1679906"/>
                  <a:pt x="0" y="1625886"/>
                </a:cubicBezTo>
                <a:lnTo>
                  <a:pt x="0" y="434144"/>
                </a:lnTo>
                <a:cubicBezTo>
                  <a:pt x="0" y="393629"/>
                  <a:pt x="24633" y="358868"/>
                  <a:pt x="59739" y="344019"/>
                </a:cubicBezTo>
                <a:lnTo>
                  <a:pt x="84795" y="338960"/>
                </a:lnTo>
                <a:lnTo>
                  <a:pt x="1874256" y="338960"/>
                </a:lnTo>
                <a:cubicBezTo>
                  <a:pt x="1938761" y="338960"/>
                  <a:pt x="1991053" y="286668"/>
                  <a:pt x="1991053" y="222163"/>
                </a:cubicBezTo>
                <a:lnTo>
                  <a:pt x="1991053" y="71859"/>
                </a:lnTo>
                <a:lnTo>
                  <a:pt x="2013907" y="37963"/>
                </a:lnTo>
                <a:cubicBezTo>
                  <a:pt x="2037362" y="14508"/>
                  <a:pt x="2069765" y="0"/>
                  <a:pt x="2105556" y="0"/>
                </a:cubicBezTo>
                <a:close/>
              </a:path>
            </a:pathLst>
          </a:cu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Ce qu'une lambda peut remplacer, et ce qu'elle ne peut pas</a:t>
            </a:r>
          </a:p>
          <a:p>
            <a:pPr>
              <a:spcBef>
                <a:spcPts val="1200"/>
              </a:spcBef>
            </a:pPr>
            <a:r>
              <a:rPr sz="1400">
                <a:solidFill>
                  <a:srgbClr val="BCBEC4"/>
                </a:solidFill>
              </a:rPr>
              <a:t>Déroulé : Demo_LAM</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1. La classe anonyme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2.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766798" cy="101304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2. Ce que le compilateur sait déjà</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lambda : ce qui reste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lang="nl-BE" sz="2800" dirty="0"/>
              <a:t>Il y a une écriture encore plus courte que la classe anonyme : </a:t>
            </a:r>
            <a:r>
              <a:rPr lang="nl-BE" dirty="0"/>
              <a:t>o</a:t>
            </a:r>
            <a:r>
              <a:rPr sz="2800" dirty="0"/>
              <a:t>n retire tout </a:t>
            </a:r>
            <a:r>
              <a:rPr sz="2800" dirty="0" err="1"/>
              <a:t>ce</a:t>
            </a:r>
            <a:r>
              <a:rPr sz="2800" dirty="0"/>
              <a:t> </a:t>
            </a:r>
            <a:r>
              <a:rPr sz="2800" dirty="0" err="1"/>
              <a:t>que</a:t>
            </a:r>
            <a:r>
              <a:rPr sz="2800" dirty="0"/>
              <a:t> le </a:t>
            </a:r>
            <a:r>
              <a:rPr sz="2800" dirty="0" err="1"/>
              <a:t>compilateur</a:t>
            </a:r>
            <a:r>
              <a:rPr sz="2800" dirty="0"/>
              <a:t> </a:t>
            </a:r>
            <a:r>
              <a:rPr sz="2800" dirty="0" err="1"/>
              <a:t>peut</a:t>
            </a:r>
            <a:r>
              <a:rPr sz="2800" dirty="0"/>
              <a:t> </a:t>
            </a:r>
            <a:r>
              <a:rPr sz="2800" dirty="0" err="1"/>
              <a:t>déduire</a:t>
            </a:r>
            <a:endParaRPr sz="2800" dirty="0"/>
          </a:p>
          <a:p>
            <a:pPr marL="0" indent="0">
              <a:spcAft>
                <a:spcPts val="1000"/>
              </a:spcAft>
              <a:buNone/>
            </a:pPr>
            <a:r>
              <a:rPr sz="2800" dirty="0"/>
              <a:t>Il </a:t>
            </a:r>
            <a:r>
              <a:rPr sz="2800" dirty="0" err="1"/>
              <a:t>reste</a:t>
            </a:r>
            <a:r>
              <a:rPr sz="2800" dirty="0"/>
              <a:t> le </a:t>
            </a:r>
            <a:r>
              <a:rPr sz="2800" dirty="0" err="1"/>
              <a:t>paramètre</a:t>
            </a:r>
            <a:r>
              <a:rPr sz="2800" dirty="0"/>
              <a:t>, </a:t>
            </a:r>
            <a:r>
              <a:rPr sz="2800" dirty="0" err="1"/>
              <a:t>une</a:t>
            </a:r>
            <a:r>
              <a:rPr sz="2800" dirty="0"/>
              <a:t> flèche, et </a:t>
            </a:r>
            <a:r>
              <a:rPr sz="2800" dirty="0" err="1"/>
              <a:t>ce</a:t>
            </a:r>
            <a:r>
              <a:rPr sz="2800" dirty="0"/>
              <a:t> </a:t>
            </a:r>
            <a:r>
              <a:rPr sz="2800" dirty="0" err="1"/>
              <a:t>qu'on</a:t>
            </a:r>
            <a:r>
              <a:rPr sz="2800" dirty="0"/>
              <a:t> </a:t>
            </a:r>
            <a:r>
              <a:rPr sz="2800" dirty="0" err="1"/>
              <a:t>en</a:t>
            </a:r>
            <a:r>
              <a:rPr sz="2800" dirty="0"/>
              <a:t> fait</a:t>
            </a:r>
          </a:p>
        </p:txBody>
      </p:sp>
      <p:sp>
        <p:nvSpPr>
          <p:cNvPr id="4" name="Code"/>
          <p:cNvSpPr txBox="1"/>
          <p:nvPr/>
        </p:nvSpPr>
        <p:spPr>
          <a:xfrm>
            <a:off x="640080" y="3180080"/>
            <a:ext cx="10881360" cy="1918394"/>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sz="1800" dirty="0">
                <a:solidFill>
                  <a:srgbClr val="CF8E6D"/>
                </a:solidFill>
                <a:latin typeface="Consolas"/>
              </a:rPr>
              <a:t>new</a:t>
            </a:r>
            <a:r>
              <a:rPr sz="1800" dirty="0">
                <a:solidFill>
                  <a:srgbClr val="BCBEC4"/>
                </a:solidFill>
                <a:latin typeface="Consolas"/>
              </a:rPr>
              <a:t> Predicate&lt;String&gt;() {    </a:t>
            </a:r>
            <a:r>
              <a:rPr sz="1800" dirty="0">
                <a:solidFill>
                  <a:srgbClr val="7A7E85"/>
                </a:solidFill>
                <a:latin typeface="Consolas"/>
              </a:rPr>
              <a:t>// impose par </a:t>
            </a:r>
            <a:r>
              <a:rPr sz="1800" dirty="0" err="1">
                <a:solidFill>
                  <a:srgbClr val="7A7E85"/>
                </a:solidFill>
                <a:latin typeface="Consolas"/>
              </a:rPr>
              <a:t>removeIf</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r>
              <a:rPr sz="1800" dirty="0">
                <a:solidFill>
                  <a:srgbClr val="B3AE60"/>
                </a:solidFill>
                <a:latin typeface="Consolas"/>
              </a:rPr>
              <a:t>@Override</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public</a:t>
            </a:r>
            <a:r>
              <a:rPr sz="1800" dirty="0">
                <a:solidFill>
                  <a:srgbClr val="BCBEC4"/>
                </a:solidFill>
                <a:latin typeface="Consolas"/>
              </a:rPr>
              <a:t> </a:t>
            </a:r>
            <a:r>
              <a:rPr sz="1800" dirty="0" err="1">
                <a:solidFill>
                  <a:srgbClr val="CF8E6D"/>
                </a:solidFill>
                <a:latin typeface="Consolas"/>
              </a:rPr>
              <a:t>boolean</a:t>
            </a:r>
            <a:r>
              <a:rPr sz="1800" dirty="0">
                <a:solidFill>
                  <a:srgbClr val="BCBEC4"/>
                </a:solidFill>
                <a:latin typeface="Consolas"/>
              </a:rPr>
              <a:t> </a:t>
            </a:r>
            <a:r>
              <a:rPr sz="1800" dirty="0">
                <a:solidFill>
                  <a:srgbClr val="56A8F5"/>
                </a:solidFill>
                <a:latin typeface="Consolas"/>
              </a:rPr>
              <a:t>test</a:t>
            </a:r>
            <a:r>
              <a:rPr sz="1800" dirty="0">
                <a:solidFill>
                  <a:srgbClr val="BCBEC4"/>
                </a:solidFill>
                <a:latin typeface="Consolas"/>
              </a:rPr>
              <a:t>(String </a:t>
            </a:r>
            <a:r>
              <a:rPr sz="1800" dirty="0" err="1">
                <a:solidFill>
                  <a:srgbClr val="BCBEC4"/>
                </a:solidFill>
                <a:latin typeface="Consolas"/>
              </a:rPr>
              <a:t>titre</a:t>
            </a:r>
            <a:r>
              <a:rPr sz="1800" dirty="0">
                <a:solidFill>
                  <a:srgbClr val="BCBEC4"/>
                </a:solidFill>
                <a:latin typeface="Consolas"/>
              </a:rPr>
              <a:t>) {       </a:t>
            </a:r>
            <a:r>
              <a:rPr sz="1800" dirty="0">
                <a:solidFill>
                  <a:srgbClr val="7A7E85"/>
                </a:solidFill>
                <a:latin typeface="Consolas"/>
              </a:rPr>
              <a:t>// la </a:t>
            </a:r>
            <a:r>
              <a:rPr sz="1800" dirty="0" err="1">
                <a:solidFill>
                  <a:srgbClr val="7A7E85"/>
                </a:solidFill>
                <a:latin typeface="Consolas"/>
              </a:rPr>
              <a:t>seule</a:t>
            </a:r>
            <a:r>
              <a:rPr sz="1800" dirty="0">
                <a:solidFill>
                  <a:srgbClr val="7A7E85"/>
                </a:solidFill>
                <a:latin typeface="Consolas"/>
              </a:rPr>
              <a:t> </a:t>
            </a:r>
            <a:r>
              <a:rPr sz="1800" dirty="0" err="1">
                <a:solidFill>
                  <a:srgbClr val="7A7E85"/>
                </a:solidFill>
                <a:latin typeface="Consolas"/>
              </a:rPr>
              <a:t>methode</a:t>
            </a:r>
            <a:r>
              <a:rPr sz="1800" dirty="0">
                <a:solidFill>
                  <a:srgbClr val="7A7E85"/>
                </a:solidFill>
                <a:latin typeface="Consolas"/>
              </a:rPr>
              <a:t> a </a:t>
            </a:r>
            <a:r>
              <a:rPr sz="1800" dirty="0" err="1">
                <a:solidFill>
                  <a:srgbClr val="7A7E85"/>
                </a:solidFill>
                <a:latin typeface="Consolas"/>
              </a:rPr>
              <a:t>ecrire</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
        <p:nvSpPr>
          <p:cNvPr id="7" name="Forme libre 6">
            <a:extLst>
              <a:ext uri="{FF2B5EF4-FFF2-40B4-BE49-F238E27FC236}">
                <a16:creationId xmlns:a16="http://schemas.microsoft.com/office/drawing/2014/main" id="{F0BD0017-F048-65EF-D9C2-65CDC59095E8}"/>
              </a:ext>
            </a:extLst>
          </p:cNvPr>
          <p:cNvSpPr/>
          <p:nvPr/>
        </p:nvSpPr>
        <p:spPr>
          <a:xfrm>
            <a:off x="827183" y="3276694"/>
            <a:ext cx="5682761" cy="1723698"/>
          </a:xfrm>
          <a:custGeom>
            <a:avLst/>
            <a:gdLst>
              <a:gd name="csX0" fmla="*/ 2105556 w 5791200"/>
              <a:gd name="csY0" fmla="*/ 0 h 1723698"/>
              <a:gd name="csX1" fmla="*/ 5661588 w 5791200"/>
              <a:gd name="csY1" fmla="*/ 0 h 1723698"/>
              <a:gd name="csX2" fmla="*/ 5791200 w 5791200"/>
              <a:gd name="csY2" fmla="*/ 129612 h 1723698"/>
              <a:gd name="csX3" fmla="*/ 5791200 w 5791200"/>
              <a:gd name="csY3" fmla="*/ 1352347 h 1723698"/>
              <a:gd name="csX4" fmla="*/ 5661588 w 5791200"/>
              <a:gd name="csY4" fmla="*/ 1481959 h 1723698"/>
              <a:gd name="csX5" fmla="*/ 2437216 w 5791200"/>
              <a:gd name="csY5" fmla="*/ 1481959 h 1723698"/>
              <a:gd name="csX6" fmla="*/ 2105556 w 5791200"/>
              <a:gd name="csY6" fmla="*/ 1481959 h 1723698"/>
              <a:gd name="csX7" fmla="*/ 1110758 w 5791200"/>
              <a:gd name="csY7" fmla="*/ 1481959 h 1723698"/>
              <a:gd name="csX8" fmla="*/ 1110758 w 5791200"/>
              <a:gd name="csY8" fmla="*/ 1482741 h 1723698"/>
              <a:gd name="csX9" fmla="*/ 910329 w 5791200"/>
              <a:gd name="csY9" fmla="*/ 1482741 h 1723698"/>
              <a:gd name="csX10" fmla="*/ 793532 w 5791200"/>
              <a:gd name="csY10" fmla="*/ 1599538 h 1723698"/>
              <a:gd name="csX11" fmla="*/ 793532 w 5791200"/>
              <a:gd name="csY11" fmla="*/ 1673769 h 1723698"/>
              <a:gd name="csX12" fmla="*/ 766172 w 5791200"/>
              <a:gd name="csY12" fmla="*/ 1706993 h 1723698"/>
              <a:gd name="csX13" fmla="*/ 711484 w 5791200"/>
              <a:gd name="csY13" fmla="*/ 1723698 h 1723698"/>
              <a:gd name="csX14" fmla="*/ 97812 w 5791200"/>
              <a:gd name="csY14" fmla="*/ 1723698 h 1723698"/>
              <a:gd name="csX15" fmla="*/ 0 w 5791200"/>
              <a:gd name="csY15" fmla="*/ 1625886 h 1723698"/>
              <a:gd name="csX16" fmla="*/ 0 w 5791200"/>
              <a:gd name="csY16" fmla="*/ 434144 h 1723698"/>
              <a:gd name="csX17" fmla="*/ 59739 w 5791200"/>
              <a:gd name="csY17" fmla="*/ 344019 h 1723698"/>
              <a:gd name="csX18" fmla="*/ 84795 w 5791200"/>
              <a:gd name="csY18" fmla="*/ 338960 h 1723698"/>
              <a:gd name="csX19" fmla="*/ 1874256 w 5791200"/>
              <a:gd name="csY19" fmla="*/ 338960 h 1723698"/>
              <a:gd name="csX20" fmla="*/ 1991053 w 5791200"/>
              <a:gd name="csY20" fmla="*/ 222163 h 1723698"/>
              <a:gd name="csX21" fmla="*/ 1991053 w 5791200"/>
              <a:gd name="csY21" fmla="*/ 71859 h 1723698"/>
              <a:gd name="csX22" fmla="*/ 2013907 w 5791200"/>
              <a:gd name="csY22" fmla="*/ 37963 h 1723698"/>
              <a:gd name="csX23" fmla="*/ 2105556 w 5791200"/>
              <a:gd name="csY23" fmla="*/ 0 h 1723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791200" h="1723698">
                <a:moveTo>
                  <a:pt x="2105556" y="0"/>
                </a:moveTo>
                <a:lnTo>
                  <a:pt x="5661588" y="0"/>
                </a:lnTo>
                <a:cubicBezTo>
                  <a:pt x="5733171" y="0"/>
                  <a:pt x="5791200" y="58029"/>
                  <a:pt x="5791200" y="129612"/>
                </a:cubicBezTo>
                <a:lnTo>
                  <a:pt x="5791200" y="1352347"/>
                </a:lnTo>
                <a:cubicBezTo>
                  <a:pt x="5791200" y="1423930"/>
                  <a:pt x="5733171" y="1481959"/>
                  <a:pt x="5661588" y="1481959"/>
                </a:cubicBezTo>
                <a:lnTo>
                  <a:pt x="2437216" y="1481959"/>
                </a:lnTo>
                <a:lnTo>
                  <a:pt x="2105556" y="1481959"/>
                </a:lnTo>
                <a:lnTo>
                  <a:pt x="1110758" y="1481959"/>
                </a:lnTo>
                <a:lnTo>
                  <a:pt x="1110758" y="1482741"/>
                </a:lnTo>
                <a:lnTo>
                  <a:pt x="910329" y="1482741"/>
                </a:lnTo>
                <a:cubicBezTo>
                  <a:pt x="845824" y="1482741"/>
                  <a:pt x="793532" y="1535033"/>
                  <a:pt x="793532" y="1599538"/>
                </a:cubicBezTo>
                <a:lnTo>
                  <a:pt x="793532" y="1673769"/>
                </a:lnTo>
                <a:lnTo>
                  <a:pt x="766172" y="1706993"/>
                </a:lnTo>
                <a:cubicBezTo>
                  <a:pt x="750561" y="1717540"/>
                  <a:pt x="731742" y="1723698"/>
                  <a:pt x="711484" y="1723698"/>
                </a:cubicBezTo>
                <a:lnTo>
                  <a:pt x="97812" y="1723698"/>
                </a:lnTo>
                <a:cubicBezTo>
                  <a:pt x="43792" y="1723698"/>
                  <a:pt x="0" y="1679906"/>
                  <a:pt x="0" y="1625886"/>
                </a:cubicBezTo>
                <a:lnTo>
                  <a:pt x="0" y="434144"/>
                </a:lnTo>
                <a:cubicBezTo>
                  <a:pt x="0" y="393629"/>
                  <a:pt x="24633" y="358868"/>
                  <a:pt x="59739" y="344019"/>
                </a:cubicBezTo>
                <a:lnTo>
                  <a:pt x="84795" y="338960"/>
                </a:lnTo>
                <a:lnTo>
                  <a:pt x="1874256" y="338960"/>
                </a:lnTo>
                <a:cubicBezTo>
                  <a:pt x="1938761" y="338960"/>
                  <a:pt x="1991053" y="286668"/>
                  <a:pt x="1991053" y="222163"/>
                </a:cubicBezTo>
                <a:lnTo>
                  <a:pt x="1991053" y="71859"/>
                </a:lnTo>
                <a:lnTo>
                  <a:pt x="2013907" y="37963"/>
                </a:lnTo>
                <a:cubicBezTo>
                  <a:pt x="2037362" y="14508"/>
                  <a:pt x="2069765" y="0"/>
                  <a:pt x="2105556" y="0"/>
                </a:cubicBezTo>
                <a:close/>
              </a:path>
            </a:pathLst>
          </a:cu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8" name="Rectangle : coins arrondis 7">
            <a:extLst>
              <a:ext uri="{FF2B5EF4-FFF2-40B4-BE49-F238E27FC236}">
                <a16:creationId xmlns:a16="http://schemas.microsoft.com/office/drawing/2014/main" id="{93CD36D7-6CCA-1B87-B4B7-2673D2C7D8AD}"/>
              </a:ext>
            </a:extLst>
          </p:cNvPr>
          <p:cNvSpPr/>
          <p:nvPr/>
        </p:nvSpPr>
        <p:spPr>
          <a:xfrm>
            <a:off x="1696598" y="4137165"/>
            <a:ext cx="4748269" cy="238464"/>
          </a:xfrm>
          <a:prstGeom prst="round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5E800423-1FAB-AC5E-6B26-7498A7F84C30}"/>
              </a:ext>
            </a:extLst>
          </p:cNvPr>
          <p:cNvSpPr/>
          <p:nvPr/>
        </p:nvSpPr>
        <p:spPr>
          <a:xfrm>
            <a:off x="3800819" y="3868961"/>
            <a:ext cx="1553379" cy="23846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Code">
            <a:extLst>
              <a:ext uri="{FF2B5EF4-FFF2-40B4-BE49-F238E27FC236}">
                <a16:creationId xmlns:a16="http://schemas.microsoft.com/office/drawing/2014/main" id="{9B2DFC9A-3F3A-4455-C94E-1A584999D926}"/>
              </a:ext>
            </a:extLst>
          </p:cNvPr>
          <p:cNvSpPr txBox="1"/>
          <p:nvPr/>
        </p:nvSpPr>
        <p:spPr>
          <a:xfrm>
            <a:off x="640080" y="5395327"/>
            <a:ext cx="10881360" cy="502552"/>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removeIf</a:t>
            </a:r>
            <a:r>
              <a:rPr sz="1800" dirty="0">
                <a:solidFill>
                  <a:srgbClr val="BCBEC4"/>
                </a:solidFill>
                <a:latin typeface="Consolas"/>
              </a:rPr>
              <a:t>(</a:t>
            </a:r>
            <a:r>
              <a:rPr lang="nl-BE" sz="1800" dirty="0">
                <a:solidFill>
                  <a:srgbClr val="BCBEC4"/>
                </a:solidFill>
                <a:latin typeface="Consolas"/>
              </a:rPr>
              <a:t> </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r>
              <a:rPr lang="nl-BE" sz="1800" dirty="0">
                <a:solidFill>
                  <a:srgbClr val="BCBEC4"/>
                </a:solidFill>
                <a:latin typeface="Consolas"/>
              </a:rPr>
              <a:t> </a:t>
            </a:r>
            <a:r>
              <a:rPr sz="1800" dirty="0">
                <a:solidFill>
                  <a:srgbClr val="BCBEC4"/>
                </a:solidFill>
                <a:latin typeface="Consolas"/>
              </a:rPr>
              <a:t>);</a:t>
            </a:r>
          </a:p>
        </p:txBody>
      </p:sp>
      <p:sp>
        <p:nvSpPr>
          <p:cNvPr id="9" name="Rectangle : coins arrondis 8">
            <a:extLst>
              <a:ext uri="{FF2B5EF4-FFF2-40B4-BE49-F238E27FC236}">
                <a16:creationId xmlns:a16="http://schemas.microsoft.com/office/drawing/2014/main" id="{29101D70-A5F1-0F2B-480F-F3F92F172D4B}"/>
              </a:ext>
            </a:extLst>
          </p:cNvPr>
          <p:cNvSpPr/>
          <p:nvPr/>
        </p:nvSpPr>
        <p:spPr>
          <a:xfrm>
            <a:off x="3965666" y="5524593"/>
            <a:ext cx="3750798" cy="238464"/>
          </a:xfrm>
          <a:prstGeom prst="round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6FB03C56-B354-361A-9AF1-BB20A799FA71}"/>
              </a:ext>
            </a:extLst>
          </p:cNvPr>
          <p:cNvSpPr/>
          <p:nvPr/>
        </p:nvSpPr>
        <p:spPr>
          <a:xfrm>
            <a:off x="2880061" y="5525418"/>
            <a:ext cx="724844" cy="23846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dissolv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dissolv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0" grpId="0" animBg="1"/>
      <p:bldP spid="12" grpId="0" animBg="1"/>
      <p:bldP spid="9"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l'interface fonctionnelle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Une interface fonctionnelle n'a qu'une seule méthode abstraite</a:t>
            </a:r>
          </a:p>
          <a:p>
            <a:pPr marL="0" indent="0">
              <a:spcAft>
                <a:spcPts val="1000"/>
              </a:spcAft>
              <a:buNone/>
            </a:pPr>
            <a:r>
              <a:rPr sz="2400"/>
              <a:t>C'est celle que la lambda écrit : aucune hésitation possible</a:t>
            </a:r>
          </a:p>
          <a:p>
            <a:pPr marL="0" indent="0">
              <a:spcAft>
                <a:spcPts val="1000"/>
              </a:spcAft>
              <a:buNone/>
            </a:pPr>
            <a:r>
              <a:rPr sz="2000">
                <a:solidFill>
                  <a:schemeClr val="accent4"/>
                </a:solidFill>
                <a:latin typeface="Consolas"/>
              </a:rPr>
              <a:t>@FunctionalInterface</a:t>
            </a:r>
            <a:r>
              <a:rPr sz="2400"/>
              <a:t> demande au compilateur de vérifier la règle</a:t>
            </a:r>
          </a:p>
        </p:txBody>
      </p:sp>
      <p:sp>
        <p:nvSpPr>
          <p:cNvPr id="4" name="Code"/>
          <p:cNvSpPr txBox="1"/>
          <p:nvPr/>
        </p:nvSpPr>
        <p:spPr>
          <a:xfrm>
            <a:off x="1333500" y="3489960"/>
            <a:ext cx="9525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@FunctionalInterface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Predicate&lt;T&gt; {      </a:t>
            </a:r>
            <a:r>
              <a:rPr sz="1800">
                <a:solidFill>
                  <a:srgbClr val="7A7E85"/>
                </a:solidFill>
                <a:latin typeface="Consolas"/>
              </a:rPr>
              <a:t>// java.util.function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(T t);               </a:t>
            </a:r>
            <a:r>
              <a:rPr sz="1800">
                <a:solidFill>
                  <a:srgbClr val="7A7E85"/>
                </a:solidFill>
                <a:latin typeface="Consolas"/>
              </a:rPr>
              <a:t>// la seule methode abstraite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 plus des methodes default, qui ne comptent pas</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BE" sz="4000" dirty="0"/>
              <a:t>Le type de la lambda</a:t>
            </a:r>
            <a:r>
              <a:rPr sz="4000" dirty="0"/>
              <a:t> </a:t>
            </a:r>
            <a:r>
              <a:rPr sz="4000" dirty="0" err="1"/>
              <a:t>vient</a:t>
            </a:r>
            <a:r>
              <a:rPr sz="4000" dirty="0"/>
              <a:t> </a:t>
            </a:r>
            <a:r>
              <a:rPr lang="nl-BE" sz="4000" dirty="0"/>
              <a:t>du contexte</a:t>
            </a:r>
            <a:endParaRPr sz="4000" dirty="0"/>
          </a:p>
        </p:txBody>
      </p:sp>
      <p:sp>
        <p:nvSpPr>
          <p:cNvPr id="3" name="Content Placeholder 2"/>
          <p:cNvSpPr>
            <a:spLocks noGrp="1"/>
          </p:cNvSpPr>
          <p:nvPr>
            <p:ph idx="1"/>
          </p:nvPr>
        </p:nvSpPr>
        <p:spPr>
          <a:xfrm>
            <a:off x="640079" y="1371600"/>
            <a:ext cx="11134825" cy="2651760"/>
          </a:xfrm>
        </p:spPr>
        <p:txBody>
          <a:bodyPr/>
          <a:lstStyle/>
          <a:p>
            <a:pPr marL="0" indent="0">
              <a:spcAft>
                <a:spcPts val="1000"/>
              </a:spcAft>
              <a:buNone/>
            </a:pPr>
            <a:r>
              <a:rPr sz="2800" dirty="0"/>
              <a:t>Une lambda </a:t>
            </a:r>
            <a:r>
              <a:rPr sz="2800" dirty="0" err="1"/>
              <a:t>n'a</a:t>
            </a:r>
            <a:r>
              <a:rPr sz="2800" dirty="0"/>
              <a:t> pas de type à </a:t>
            </a:r>
            <a:r>
              <a:rPr sz="2800" dirty="0" err="1"/>
              <a:t>elle</a:t>
            </a:r>
            <a:r>
              <a:rPr sz="2800" dirty="0"/>
              <a:t> : </a:t>
            </a:r>
            <a:r>
              <a:rPr sz="2800" dirty="0" err="1"/>
              <a:t>elle</a:t>
            </a:r>
            <a:r>
              <a:rPr sz="2800" dirty="0"/>
              <a:t> </a:t>
            </a:r>
            <a:r>
              <a:rPr sz="2800" dirty="0" err="1"/>
              <a:t>prend</a:t>
            </a:r>
            <a:r>
              <a:rPr sz="2800" dirty="0"/>
              <a:t> </a:t>
            </a:r>
            <a:r>
              <a:rPr sz="2800" dirty="0" err="1"/>
              <a:t>celui</a:t>
            </a:r>
            <a:r>
              <a:rPr sz="2800" dirty="0"/>
              <a:t> de </a:t>
            </a:r>
            <a:r>
              <a:rPr sz="2800" dirty="0" err="1"/>
              <a:t>sa</a:t>
            </a:r>
            <a:r>
              <a:rPr sz="2800" dirty="0"/>
              <a:t> destination</a:t>
            </a:r>
          </a:p>
          <a:p>
            <a:pPr marL="0" indent="0">
              <a:spcAft>
                <a:spcPts val="1000"/>
              </a:spcAft>
              <a:buNone/>
            </a:pPr>
            <a:r>
              <a:rPr sz="2800" dirty="0"/>
              <a:t>Une variable, un </a:t>
            </a:r>
            <a:r>
              <a:rPr sz="2800" dirty="0" err="1"/>
              <a:t>paramètre</a:t>
            </a:r>
            <a:r>
              <a:rPr sz="2800" dirty="0"/>
              <a:t> : </a:t>
            </a:r>
            <a:r>
              <a:rPr sz="2800" dirty="0" err="1"/>
              <a:t>c'est</a:t>
            </a:r>
            <a:r>
              <a:rPr sz="2800" dirty="0"/>
              <a:t> le type </a:t>
            </a:r>
            <a:r>
              <a:rPr sz="2800" dirty="0" err="1"/>
              <a:t>cible</a:t>
            </a:r>
            <a:endParaRPr sz="2800" dirty="0"/>
          </a:p>
          <a:p>
            <a:pPr marL="0" indent="0">
              <a:spcAft>
                <a:spcPts val="1000"/>
              </a:spcAft>
              <a:buNone/>
            </a:pPr>
            <a:r>
              <a:rPr lang="nl-BE" sz="2800" dirty="0"/>
              <a:t>Ce type</a:t>
            </a:r>
            <a:r>
              <a:rPr sz="2800" dirty="0"/>
              <a:t> doit </a:t>
            </a:r>
            <a:r>
              <a:rPr sz="2800" dirty="0" err="1"/>
              <a:t>être</a:t>
            </a:r>
            <a:r>
              <a:rPr sz="2800" dirty="0"/>
              <a:t> </a:t>
            </a:r>
            <a:r>
              <a:rPr sz="2800" dirty="0" err="1"/>
              <a:t>une</a:t>
            </a:r>
            <a:r>
              <a:rPr sz="2800" dirty="0"/>
              <a:t> interface </a:t>
            </a:r>
            <a:r>
              <a:rPr sz="2800" dirty="0" err="1"/>
              <a:t>fonctionnelle</a:t>
            </a:r>
            <a:r>
              <a:rPr sz="2800" dirty="0"/>
              <a:t>, </a:t>
            </a:r>
            <a:r>
              <a:rPr sz="2800" dirty="0" err="1"/>
              <a:t>sinon</a:t>
            </a:r>
            <a:r>
              <a:rPr sz="2800" dirty="0"/>
              <a:t> quelle </a:t>
            </a:r>
            <a:r>
              <a:rPr sz="2800" dirty="0" err="1"/>
              <a:t>méthode</a:t>
            </a:r>
            <a:r>
              <a:rPr sz="2800" dirty="0"/>
              <a:t> </a:t>
            </a:r>
            <a:r>
              <a:rPr sz="2800" dirty="0" err="1"/>
              <a:t>écrire</a:t>
            </a:r>
            <a:r>
              <a:rPr lang="nl-BE" sz="2800" dirty="0"/>
              <a:t> </a:t>
            </a:r>
            <a:r>
              <a:rPr sz="2800" dirty="0"/>
              <a:t>?</a:t>
            </a:r>
          </a:p>
        </p:txBody>
      </p:sp>
      <p:sp>
        <p:nvSpPr>
          <p:cNvPr id="4" name="Code"/>
          <p:cNvSpPr txBox="1"/>
          <p:nvPr/>
        </p:nvSpPr>
        <p:spPr>
          <a:xfrm>
            <a:off x="640080" y="4094092"/>
            <a:ext cx="10881360" cy="108675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le </a:t>
            </a:r>
            <a:r>
              <a:rPr sz="1800" dirty="0" err="1">
                <a:solidFill>
                  <a:srgbClr val="7A7E85"/>
                </a:solidFill>
                <a:latin typeface="Consolas"/>
              </a:rPr>
              <a:t>parametre</a:t>
            </a:r>
            <a:r>
              <a:rPr sz="1800" dirty="0">
                <a:solidFill>
                  <a:srgbClr val="7A7E85"/>
                </a:solidFill>
                <a:latin typeface="Consolas"/>
              </a:rPr>
              <a:t> fixe le type : Executable, </a:t>
            </a:r>
            <a:r>
              <a:rPr sz="1800" dirty="0" err="1">
                <a:solidFill>
                  <a:srgbClr val="7A7E85"/>
                </a:solidFill>
                <a:latin typeface="Consolas"/>
              </a:rPr>
              <a:t>une</a:t>
            </a:r>
            <a:r>
              <a:rPr sz="1800" dirty="0">
                <a:solidFill>
                  <a:srgbClr val="7A7E85"/>
                </a:solidFill>
                <a:latin typeface="Consolas"/>
              </a:rPr>
              <a:t> </a:t>
            </a:r>
            <a:r>
              <a:rPr sz="1800" dirty="0" err="1">
                <a:solidFill>
                  <a:srgbClr val="7A7E85"/>
                </a:solidFill>
                <a:latin typeface="Consolas"/>
              </a:rPr>
              <a:t>seule</a:t>
            </a:r>
            <a:r>
              <a:rPr sz="1800" dirty="0">
                <a:solidFill>
                  <a:srgbClr val="7A7E85"/>
                </a:solidFill>
                <a:latin typeface="Consolas"/>
              </a:rPr>
              <a:t> </a:t>
            </a:r>
            <a:r>
              <a:rPr sz="1800" dirty="0" err="1">
                <a:solidFill>
                  <a:srgbClr val="7A7E85"/>
                </a:solidFill>
                <a:latin typeface="Consolas"/>
              </a:rPr>
              <a:t>methode</a:t>
            </a:r>
            <a:r>
              <a:rPr sz="1800" dirty="0">
                <a:solidFill>
                  <a:srgbClr val="7A7E85"/>
                </a:solidFill>
                <a:latin typeface="Consolas"/>
              </a:rPr>
              <a:t>, execute()</a:t>
            </a:r>
          </a:p>
          <a:p>
            <a:pPr>
              <a:lnSpc>
                <a:spcPct val="100000"/>
              </a:lnSpc>
              <a:spcBef>
                <a:spcPts val="0"/>
              </a:spcBef>
              <a:spcAft>
                <a:spcPts val="0"/>
              </a:spcAft>
            </a:pPr>
            <a:r>
              <a:rPr sz="1800" dirty="0" err="1">
                <a:solidFill>
                  <a:srgbClr val="56A8F5"/>
                </a:solidFill>
                <a:latin typeface="Consolas"/>
              </a:rPr>
              <a:t>assertThrows</a:t>
            </a:r>
            <a:r>
              <a:rPr sz="1800" dirty="0">
                <a:solidFill>
                  <a:srgbClr val="BCBEC4"/>
                </a:solidFill>
                <a:latin typeface="Consolas"/>
              </a:rPr>
              <a:t>(</a:t>
            </a:r>
            <a:r>
              <a:rPr sz="1800" dirty="0" err="1">
                <a:solidFill>
                  <a:srgbClr val="BCBEC4"/>
                </a:solidFill>
                <a:latin typeface="Consolas"/>
              </a:rPr>
              <a:t>IllegalArgumentException.</a:t>
            </a:r>
            <a:r>
              <a:rPr sz="1800" dirty="0" err="1">
                <a:solidFill>
                  <a:srgbClr val="CF8E6D"/>
                </a:solidFill>
                <a:latin typeface="Consolas"/>
              </a:rPr>
              <a:t>class</a:t>
            </a:r>
            <a:r>
              <a:rPr sz="1800" dirty="0">
                <a:solidFill>
                  <a:srgbClr val="BCBEC4"/>
                </a:solidFill>
                <a:latin typeface="Consolas"/>
              </a:rPr>
              <a:t>, () -&gt; </a:t>
            </a:r>
            <a:r>
              <a:rPr sz="1800" dirty="0" err="1">
                <a:solidFill>
                  <a:srgbClr val="BCBEC4"/>
                </a:solidFill>
                <a:latin typeface="Consolas"/>
              </a:rPr>
              <a:t>salle.</a:t>
            </a:r>
            <a:r>
              <a:rPr sz="1800" dirty="0" err="1">
                <a:solidFill>
                  <a:srgbClr val="56A8F5"/>
                </a:solidFill>
                <a:latin typeface="Consolas"/>
              </a:rPr>
              <a:t>reserver</a:t>
            </a:r>
            <a:r>
              <a:rPr sz="1800" dirty="0">
                <a:solidFill>
                  <a:srgbClr val="BCBEC4"/>
                </a:solidFill>
                <a:latin typeface="Consolas"/>
              </a:rPr>
              <a:t>(</a:t>
            </a:r>
            <a:r>
              <a:rPr sz="1800" dirty="0">
                <a:solidFill>
                  <a:srgbClr val="2AACB8"/>
                </a:solidFill>
                <a:latin typeface="Consolas"/>
              </a:rPr>
              <a:t>0</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grpSp>
        <p:nvGrpSpPr>
          <p:cNvPr id="9" name="Groupe 8">
            <a:extLst>
              <a:ext uri="{FF2B5EF4-FFF2-40B4-BE49-F238E27FC236}">
                <a16:creationId xmlns:a16="http://schemas.microsoft.com/office/drawing/2014/main" id="{9475FF25-8F6D-C128-A4EA-8C93535423F3}"/>
              </a:ext>
            </a:extLst>
          </p:cNvPr>
          <p:cNvGrpSpPr/>
          <p:nvPr/>
        </p:nvGrpSpPr>
        <p:grpSpPr>
          <a:xfrm>
            <a:off x="4874464" y="5251574"/>
            <a:ext cx="6762482" cy="1450978"/>
            <a:chOff x="2209800" y="3159659"/>
            <a:chExt cx="8583769" cy="2058918"/>
          </a:xfrm>
        </p:grpSpPr>
        <p:pic>
          <p:nvPicPr>
            <p:cNvPr id="7" name="Image 6">
              <a:extLst>
                <a:ext uri="{FF2B5EF4-FFF2-40B4-BE49-F238E27FC236}">
                  <a16:creationId xmlns:a16="http://schemas.microsoft.com/office/drawing/2014/main" id="{A94E5756-BBBB-426B-268D-1745EAD98877}"/>
                </a:ext>
              </a:extLst>
            </p:cNvPr>
            <p:cNvPicPr>
              <a:picLocks noChangeAspect="1"/>
            </p:cNvPicPr>
            <p:nvPr/>
          </p:nvPicPr>
          <p:blipFill>
            <a:blip r:embed="rId3"/>
            <a:stretch>
              <a:fillRect/>
            </a:stretch>
          </p:blipFill>
          <p:spPr>
            <a:xfrm>
              <a:off x="2209800" y="3159659"/>
              <a:ext cx="7772400" cy="538681"/>
            </a:xfrm>
            <a:prstGeom prst="rect">
              <a:avLst/>
            </a:prstGeom>
          </p:spPr>
        </p:pic>
        <p:pic>
          <p:nvPicPr>
            <p:cNvPr id="8" name="Image 7">
              <a:extLst>
                <a:ext uri="{FF2B5EF4-FFF2-40B4-BE49-F238E27FC236}">
                  <a16:creationId xmlns:a16="http://schemas.microsoft.com/office/drawing/2014/main" id="{1D6DFE61-A614-DD24-2DE3-84019B440F40}"/>
                </a:ext>
              </a:extLst>
            </p:cNvPr>
            <p:cNvPicPr>
              <a:picLocks noChangeAspect="1"/>
            </p:cNvPicPr>
            <p:nvPr/>
          </p:nvPicPr>
          <p:blipFill>
            <a:blip r:embed="rId4"/>
            <a:stretch>
              <a:fillRect/>
            </a:stretch>
          </p:blipFill>
          <p:spPr>
            <a:xfrm>
              <a:off x="3021169" y="3798708"/>
              <a:ext cx="7772400" cy="1419869"/>
            </a:xfrm>
            <a:prstGeom prst="rect">
              <a:avLst/>
            </a:prstGeom>
          </p:spPr>
        </p:pic>
      </p:grpSp>
      <p:sp>
        <p:nvSpPr>
          <p:cNvPr id="10" name="Code">
            <a:extLst>
              <a:ext uri="{FF2B5EF4-FFF2-40B4-BE49-F238E27FC236}">
                <a16:creationId xmlns:a16="http://schemas.microsoft.com/office/drawing/2014/main" id="{7C6FFD11-042F-F3E9-AF50-24AEA199D960}"/>
              </a:ext>
            </a:extLst>
          </p:cNvPr>
          <p:cNvSpPr txBox="1"/>
          <p:nvPr/>
        </p:nvSpPr>
        <p:spPr>
          <a:xfrm>
            <a:off x="640080" y="3146303"/>
            <a:ext cx="10881360" cy="731105"/>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la variable fixe le type</a:t>
            </a:r>
          </a:p>
          <a:p>
            <a:pPr>
              <a:lnSpc>
                <a:spcPct val="100000"/>
              </a:lnSpc>
              <a:spcBef>
                <a:spcPts val="0"/>
              </a:spcBef>
              <a:spcAft>
                <a:spcPts val="0"/>
              </a:spcAft>
            </a:pPr>
            <a:r>
              <a:rPr sz="1800" dirty="0">
                <a:solidFill>
                  <a:srgbClr val="BCBEC4"/>
                </a:solidFill>
                <a:latin typeface="Consolas"/>
              </a:rPr>
              <a:t>Predicate&lt;String&gt; </a:t>
            </a:r>
            <a:r>
              <a:rPr sz="1800" dirty="0" err="1">
                <a:solidFill>
                  <a:srgbClr val="BCBEC4"/>
                </a:solidFill>
                <a:latin typeface="Consolas"/>
              </a:rPr>
              <a:t>estLong</a:t>
            </a:r>
            <a:r>
              <a:rPr sz="1800" dirty="0">
                <a:solidFill>
                  <a:srgbClr val="BCBEC4"/>
                </a:solidFill>
                <a:latin typeface="Consolas"/>
              </a:rPr>
              <a:t> = </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titre.</a:t>
            </a:r>
            <a:r>
              <a:rPr sz="1800" dirty="0" err="1">
                <a:solidFill>
                  <a:srgbClr val="56A8F5"/>
                </a:solidFill>
                <a:latin typeface="Consolas"/>
              </a:rPr>
              <a:t>length</a:t>
            </a:r>
            <a:r>
              <a:rPr sz="1800" dirty="0">
                <a:solidFill>
                  <a:srgbClr val="BCBEC4"/>
                </a:solidFill>
                <a:latin typeface="Consolas"/>
              </a:rPr>
              <a:t>() &gt; LONGUEUR_MAX;</a:t>
            </a:r>
          </a:p>
        </p:txBody>
      </p:sp>
      <p:sp>
        <p:nvSpPr>
          <p:cNvPr id="11" name="Rectangle : coins arrondis 10">
            <a:extLst>
              <a:ext uri="{FF2B5EF4-FFF2-40B4-BE49-F238E27FC236}">
                <a16:creationId xmlns:a16="http://schemas.microsoft.com/office/drawing/2014/main" id="{8A0D6E45-2091-823F-EC27-6D1BE76E2695}"/>
              </a:ext>
            </a:extLst>
          </p:cNvPr>
          <p:cNvSpPr/>
          <p:nvPr/>
        </p:nvSpPr>
        <p:spPr>
          <a:xfrm>
            <a:off x="4220600" y="3555078"/>
            <a:ext cx="4879437" cy="238464"/>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 coins arrondis 11">
            <a:extLst>
              <a:ext uri="{FF2B5EF4-FFF2-40B4-BE49-F238E27FC236}">
                <a16:creationId xmlns:a16="http://schemas.microsoft.com/office/drawing/2014/main" id="{8307D726-755F-3338-5AF3-D70011207800}"/>
              </a:ext>
            </a:extLst>
          </p:cNvPr>
          <p:cNvSpPr/>
          <p:nvPr/>
        </p:nvSpPr>
        <p:spPr>
          <a:xfrm>
            <a:off x="6374422" y="4509443"/>
            <a:ext cx="2945423" cy="238464"/>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a:t>
            </a:r>
            <a:r>
              <a:rPr sz="4000" dirty="0" err="1"/>
              <a:t>formes</a:t>
            </a:r>
            <a:r>
              <a:rPr sz="4000" dirty="0"/>
              <a:t> </a:t>
            </a:r>
            <a:r>
              <a:rPr sz="4000" dirty="0" err="1"/>
              <a:t>d'une</a:t>
            </a:r>
            <a:r>
              <a:rPr sz="4000" dirty="0"/>
              <a:t> lambda</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dirty="0" err="1"/>
              <a:t>Aucun</a:t>
            </a:r>
            <a:r>
              <a:rPr sz="2800" dirty="0"/>
              <a:t> </a:t>
            </a:r>
            <a:r>
              <a:rPr sz="2800" dirty="0" err="1"/>
              <a:t>paramètre</a:t>
            </a:r>
            <a:r>
              <a:rPr sz="2800" dirty="0"/>
              <a:t> : des </a:t>
            </a:r>
            <a:r>
              <a:rPr sz="2800" dirty="0" err="1"/>
              <a:t>parenthèses</a:t>
            </a:r>
            <a:r>
              <a:rPr sz="2800" dirty="0"/>
              <a:t> vides</a:t>
            </a:r>
          </a:p>
          <a:p>
            <a:pPr marL="0" indent="0">
              <a:spcAft>
                <a:spcPts val="1000"/>
              </a:spcAft>
              <a:buNone/>
            </a:pPr>
            <a:r>
              <a:rPr sz="2800" dirty="0"/>
              <a:t>Deux </a:t>
            </a:r>
            <a:r>
              <a:rPr sz="2800" dirty="0" err="1"/>
              <a:t>paramètres</a:t>
            </a:r>
            <a:r>
              <a:rPr sz="2800" dirty="0"/>
              <a:t> : entre </a:t>
            </a:r>
            <a:r>
              <a:rPr sz="2800" dirty="0" err="1"/>
              <a:t>parenthèses</a:t>
            </a:r>
            <a:r>
              <a:rPr sz="2800" dirty="0"/>
              <a:t>, </a:t>
            </a:r>
            <a:r>
              <a:rPr sz="2800" dirty="0" err="1"/>
              <a:t>séparés</a:t>
            </a:r>
            <a:r>
              <a:rPr sz="2800" dirty="0"/>
              <a:t> par </a:t>
            </a:r>
            <a:r>
              <a:rPr sz="2800" dirty="0" err="1"/>
              <a:t>une</a:t>
            </a:r>
            <a:r>
              <a:rPr sz="2800" dirty="0"/>
              <a:t> virgule</a:t>
            </a:r>
          </a:p>
          <a:p>
            <a:pPr marL="0" indent="0">
              <a:spcAft>
                <a:spcPts val="1000"/>
              </a:spcAft>
              <a:buNone/>
            </a:pPr>
            <a:r>
              <a:rPr sz="2800" dirty="0" err="1"/>
              <a:t>Plusieurs</a:t>
            </a:r>
            <a:r>
              <a:rPr sz="2800" dirty="0"/>
              <a:t> instructions : un bloc, avec son </a:t>
            </a:r>
            <a:r>
              <a:rPr sz="2400" dirty="0">
                <a:solidFill>
                  <a:schemeClr val="accent4"/>
                </a:solidFill>
                <a:latin typeface="Consolas"/>
              </a:rPr>
              <a:t>return</a:t>
            </a:r>
          </a:p>
        </p:txBody>
      </p:sp>
      <p:sp>
        <p:nvSpPr>
          <p:cNvPr id="4" name="Code"/>
          <p:cNvSpPr txBox="1"/>
          <p:nvPr/>
        </p:nvSpPr>
        <p:spPr>
          <a:xfrm>
            <a:off x="1248410" y="3257362"/>
            <a:ext cx="9664700" cy="513014"/>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Runnable </a:t>
            </a:r>
            <a:r>
              <a:rPr sz="1800" dirty="0" err="1">
                <a:solidFill>
                  <a:srgbClr val="BCBEC4"/>
                </a:solidFill>
                <a:latin typeface="Consolas"/>
              </a:rPr>
              <a:t>saluer</a:t>
            </a:r>
            <a:r>
              <a:rPr sz="1800" dirty="0">
                <a:solidFill>
                  <a:srgbClr val="BCBEC4"/>
                </a:solidFill>
                <a:latin typeface="Consolas"/>
              </a:rPr>
              <a:t> = ()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a:solidFill>
                  <a:srgbClr val="6AAB73"/>
                </a:solidFill>
                <a:latin typeface="Consolas"/>
              </a:rPr>
              <a:t>"Bonjour"</a:t>
            </a: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sp>
        <p:nvSpPr>
          <p:cNvPr id="7" name="Code">
            <a:extLst>
              <a:ext uri="{FF2B5EF4-FFF2-40B4-BE49-F238E27FC236}">
                <a16:creationId xmlns:a16="http://schemas.microsoft.com/office/drawing/2014/main" id="{D6731EC7-A98C-2D92-5C81-BBA3435273FD}"/>
              </a:ext>
            </a:extLst>
          </p:cNvPr>
          <p:cNvSpPr txBox="1"/>
          <p:nvPr/>
        </p:nvSpPr>
        <p:spPr>
          <a:xfrm>
            <a:off x="1248410" y="3944111"/>
            <a:ext cx="9664700" cy="5148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dirty="0">
                <a:solidFill>
                  <a:srgbClr val="BCBEC4"/>
                </a:solidFill>
                <a:latin typeface="Consolas"/>
              </a:rPr>
              <a:t>Comparator&lt;String&gt; </a:t>
            </a:r>
            <a:r>
              <a:rPr lang="fr-BE" dirty="0" err="1">
                <a:solidFill>
                  <a:srgbClr val="BCBEC4"/>
                </a:solidFill>
                <a:latin typeface="Consolas"/>
              </a:rPr>
              <a:t>parLongueur</a:t>
            </a:r>
            <a:r>
              <a:rPr lang="fr-BE" dirty="0">
                <a:solidFill>
                  <a:srgbClr val="BCBEC4"/>
                </a:solidFill>
                <a:latin typeface="Consolas"/>
              </a:rPr>
              <a:t> = (a, b) -&gt; </a:t>
            </a:r>
            <a:r>
              <a:rPr lang="fr-BE" dirty="0" err="1">
                <a:solidFill>
                  <a:srgbClr val="BCBEC4"/>
                </a:solidFill>
                <a:latin typeface="Consolas"/>
              </a:rPr>
              <a:t>a.</a:t>
            </a:r>
            <a:r>
              <a:rPr lang="fr-BE" dirty="0" err="1">
                <a:solidFill>
                  <a:srgbClr val="56A8F5"/>
                </a:solidFill>
                <a:latin typeface="Consolas"/>
              </a:rPr>
              <a:t>length</a:t>
            </a:r>
            <a:r>
              <a:rPr lang="fr-BE" dirty="0">
                <a:solidFill>
                  <a:srgbClr val="BCBEC4"/>
                </a:solidFill>
                <a:latin typeface="Consolas"/>
              </a:rPr>
              <a:t>() - </a:t>
            </a:r>
            <a:r>
              <a:rPr lang="fr-BE" dirty="0" err="1">
                <a:solidFill>
                  <a:srgbClr val="BCBEC4"/>
                </a:solidFill>
                <a:latin typeface="Consolas"/>
              </a:rPr>
              <a:t>b.</a:t>
            </a:r>
            <a:r>
              <a:rPr lang="fr-BE" dirty="0" err="1">
                <a:solidFill>
                  <a:srgbClr val="56A8F5"/>
                </a:solidFill>
                <a:latin typeface="Consolas"/>
              </a:rPr>
              <a:t>length</a:t>
            </a:r>
            <a:r>
              <a:rPr lang="fr-BE" dirty="0">
                <a:solidFill>
                  <a:srgbClr val="BCBEC4"/>
                </a:solidFill>
                <a:latin typeface="Consolas"/>
              </a:rPr>
              <a:t>();</a:t>
            </a:r>
          </a:p>
        </p:txBody>
      </p:sp>
      <p:sp>
        <p:nvSpPr>
          <p:cNvPr id="8" name="Code">
            <a:extLst>
              <a:ext uri="{FF2B5EF4-FFF2-40B4-BE49-F238E27FC236}">
                <a16:creationId xmlns:a16="http://schemas.microsoft.com/office/drawing/2014/main" id="{BF05D7CC-0668-16FD-0C59-0140F19E75D2}"/>
              </a:ext>
            </a:extLst>
          </p:cNvPr>
          <p:cNvSpPr txBox="1"/>
          <p:nvPr/>
        </p:nvSpPr>
        <p:spPr>
          <a:xfrm>
            <a:off x="1248410" y="4603113"/>
            <a:ext cx="9664700" cy="1354342"/>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Predicate&lt;String&gt; </a:t>
            </a:r>
            <a:r>
              <a:rPr sz="1800" dirty="0" err="1">
                <a:solidFill>
                  <a:srgbClr val="BCBEC4"/>
                </a:solidFill>
                <a:latin typeface="Consolas"/>
              </a:rPr>
              <a:t>estLong</a:t>
            </a:r>
            <a:r>
              <a:rPr sz="1800" dirty="0">
                <a:solidFill>
                  <a:srgbClr val="BCBEC4"/>
                </a:solidFill>
                <a:latin typeface="Consolas"/>
              </a:rPr>
              <a:t> = </a:t>
            </a:r>
            <a:r>
              <a:rPr sz="1800" dirty="0" err="1">
                <a:solidFill>
                  <a:srgbClr val="BCBEC4"/>
                </a:solidFill>
                <a:latin typeface="Consolas"/>
              </a:rPr>
              <a:t>titre</a:t>
            </a:r>
            <a:r>
              <a:rPr sz="1800" dirty="0">
                <a:solidFill>
                  <a:srgbClr val="BCBEC4"/>
                </a:solidFill>
                <a:latin typeface="Consolas"/>
              </a:rPr>
              <a:t> -&gt; {</a:t>
            </a:r>
          </a:p>
          <a:p>
            <a:pPr>
              <a:lnSpc>
                <a:spcPct val="100000"/>
              </a:lnSpc>
              <a:spcBef>
                <a:spcPts val="0"/>
              </a:spcBef>
              <a:spcAft>
                <a:spcPts val="0"/>
              </a:spcAft>
            </a:pPr>
            <a:r>
              <a:rPr sz="1800" dirty="0">
                <a:solidFill>
                  <a:srgbClr val="BCBEC4"/>
                </a:solidFill>
                <a:latin typeface="Consolas"/>
              </a:rPr>
              <a:t>    String </a:t>
            </a:r>
            <a:r>
              <a:rPr sz="1800" dirty="0" err="1">
                <a:solidFill>
                  <a:srgbClr val="BCBEC4"/>
                </a:solidFill>
                <a:latin typeface="Consolas"/>
              </a:rPr>
              <a:t>sansEspaces</a:t>
            </a:r>
            <a:r>
              <a:rPr sz="1800" dirty="0">
                <a:solidFill>
                  <a:srgbClr val="BCBEC4"/>
                </a:solidFill>
                <a:latin typeface="Consolas"/>
              </a:rPr>
              <a:t> = </a:t>
            </a:r>
            <a:r>
              <a:rPr sz="1800" dirty="0" err="1">
                <a:solidFill>
                  <a:srgbClr val="BCBEC4"/>
                </a:solidFill>
                <a:latin typeface="Consolas"/>
              </a:rPr>
              <a:t>titre.</a:t>
            </a:r>
            <a:r>
              <a:rPr sz="1800" dirty="0" err="1">
                <a:solidFill>
                  <a:srgbClr val="56A8F5"/>
                </a:solidFill>
                <a:latin typeface="Consolas"/>
              </a:rPr>
              <a:t>strip</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r>
              <a:rPr sz="1800" dirty="0">
                <a:solidFill>
                  <a:srgbClr val="CF8E6D"/>
                </a:solidFill>
                <a:latin typeface="Consolas"/>
              </a:rPr>
              <a:t>return</a:t>
            </a:r>
            <a:r>
              <a:rPr sz="1800" dirty="0">
                <a:solidFill>
                  <a:srgbClr val="BCBEC4"/>
                </a:solidFill>
                <a:latin typeface="Consolas"/>
              </a:rPr>
              <a:t> </a:t>
            </a:r>
            <a:r>
              <a:rPr sz="1800" dirty="0" err="1">
                <a:solidFill>
                  <a:srgbClr val="BCBEC4"/>
                </a:solidFill>
                <a:latin typeface="Consolas"/>
              </a:rPr>
              <a:t>sansEspaces.</a:t>
            </a:r>
            <a:r>
              <a:rPr sz="1800" dirty="0" err="1">
                <a:solidFill>
                  <a:srgbClr val="56A8F5"/>
                </a:solidFill>
                <a:latin typeface="Consolas"/>
              </a:rPr>
              <a:t>length</a:t>
            </a:r>
            <a:r>
              <a:rPr sz="1800" dirty="0">
                <a:solidFill>
                  <a:srgbClr val="BCBEC4"/>
                </a:solidFill>
                <a:latin typeface="Consolas"/>
              </a:rPr>
              <a:t>() &gt; LONGUEUR_MAX;</a:t>
            </a:r>
          </a:p>
          <a:p>
            <a:pPr>
              <a:lnSpc>
                <a:spcPct val="100000"/>
              </a:lnSpc>
              <a:spcBef>
                <a:spcPts val="0"/>
              </a:spcBef>
              <a:spcAft>
                <a:spcPts val="0"/>
              </a:spcAft>
            </a:pPr>
            <a:r>
              <a:rPr sz="18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2. La lambda</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LAM.1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tableau de comportements</a:t>
              </a:r>
            </a:p>
            <a:p>
              <a:r>
                <a:rPr sz="1400">
                  <a:solidFill>
                    <a:srgbClr val="BCBEC4"/>
                  </a:solidFill>
                </a:rPr>
                <a:t>fascicule LAM</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LAM.2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Écrire son interface fonctionnelle</a:t>
              </a:r>
            </a:p>
            <a:p>
              <a:r>
                <a:rPr sz="1400">
                  <a:solidFill>
                    <a:srgbClr val="BCBEC4"/>
                  </a:solidFill>
                </a:rPr>
                <a:t>fascicule LAM</a:t>
              </a:r>
            </a:p>
          </p:txBody>
        </p:sp>
        <p:sp>
          <p:nvSpPr>
            <p:cNvPr id="9" name="TextBox 8"/>
            <p:cNvSpPr txBox="1"/>
            <p:nvPr/>
          </p:nvSpPr>
          <p:spPr>
            <a:xfrm>
              <a:off x="640080" y="3794759"/>
              <a:ext cx="9326880" cy="822960"/>
            </a:xfrm>
            <a:prstGeom prst="rect">
              <a:avLst/>
            </a:prstGeom>
            <a:noFill/>
          </p:spPr>
          <p:txBody>
            <a:bodyPr wrap="square">
              <a:spAutoFit/>
            </a:bodyPr>
            <a:lstStyle/>
            <a:p>
              <a:r>
                <a:rPr sz="2400"/>
                <a:t>Déplier une lambda : IDE.16 ; nommer ce qui n'a pas de nom : CC-MET.1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AM_section3.jpg"/>
          <p:cNvPicPr>
            <a:picLocks noChangeAspect="1"/>
          </p:cNvPicPr>
          <p:nvPr/>
        </p:nvPicPr>
        <p:blipFill>
          <a:blip r:embed="rId3"/>
          <a:stretch>
            <a:fillRect/>
          </a:stretch>
        </p:blipFill>
        <p:spPr>
          <a:xfrm>
            <a:off x="0" y="0"/>
            <a:ext cx="12192000"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874527" cy="1105200"/>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Réutiliser ce qui existe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interfaces de </a:t>
            </a:r>
            <a:r>
              <a:rPr sz="3400">
                <a:solidFill>
                  <a:schemeClr val="accent4"/>
                </a:solidFill>
                <a:latin typeface="Consolas"/>
              </a:rPr>
              <a:t>java.util.function</a:t>
            </a:r>
          </a:p>
        </p:txBody>
      </p:sp>
      <p:sp>
        <p:nvSpPr>
          <p:cNvPr id="3" name="TextBox 2"/>
          <p:cNvSpPr txBox="1"/>
          <p:nvPr/>
        </p:nvSpPr>
        <p:spPr>
          <a:xfrm>
            <a:off x="777240" y="1371600"/>
            <a:ext cx="2495480" cy="585216"/>
          </a:xfrm>
          <a:prstGeom prst="rect">
            <a:avLst/>
          </a:prstGeom>
          <a:noFill/>
        </p:spPr>
        <p:txBody>
          <a:bodyPr wrap="square" anchor="ctr">
            <a:spAutoFit/>
          </a:bodyPr>
          <a:lstStyle/>
          <a:p>
            <a:r>
              <a:rPr sz="2000" b="1">
                <a:solidFill>
                  <a:schemeClr val="accent4"/>
                </a:solidFill>
              </a:rPr>
              <a:t>Interface</a:t>
            </a:r>
          </a:p>
        </p:txBody>
      </p:sp>
      <p:sp>
        <p:nvSpPr>
          <p:cNvPr id="4" name="TextBox 3"/>
          <p:cNvSpPr txBox="1"/>
          <p:nvPr/>
        </p:nvSpPr>
        <p:spPr>
          <a:xfrm>
            <a:off x="3547040" y="1371600"/>
            <a:ext cx="2693323" cy="585216"/>
          </a:xfrm>
          <a:prstGeom prst="rect">
            <a:avLst/>
          </a:prstGeom>
          <a:noFill/>
        </p:spPr>
        <p:txBody>
          <a:bodyPr wrap="square" anchor="ctr">
            <a:spAutoFit/>
          </a:bodyPr>
          <a:lstStyle/>
          <a:p>
            <a:r>
              <a:rPr sz="2000" b="1">
                <a:solidFill>
                  <a:schemeClr val="accent4"/>
                </a:solidFill>
              </a:rPr>
              <a:t>Méthode</a:t>
            </a:r>
          </a:p>
        </p:txBody>
      </p:sp>
      <p:sp>
        <p:nvSpPr>
          <p:cNvPr id="5" name="TextBox 4"/>
          <p:cNvSpPr txBox="1"/>
          <p:nvPr/>
        </p:nvSpPr>
        <p:spPr>
          <a:xfrm>
            <a:off x="6514684" y="1371600"/>
            <a:ext cx="4869595" cy="585216"/>
          </a:xfrm>
          <a:prstGeom prst="rect">
            <a:avLst/>
          </a:prstGeom>
          <a:noFill/>
        </p:spPr>
        <p:txBody>
          <a:bodyPr wrap="square" anchor="ctr">
            <a:spAutoFit/>
          </a:bodyPr>
          <a:lstStyle/>
          <a:p>
            <a:r>
              <a:rPr sz="2000" b="1">
                <a:solidFill>
                  <a:schemeClr val="accent4"/>
                </a:solidFill>
              </a:rPr>
              <a:t>Elle sait</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2495480" cy="585216"/>
            </a:xfrm>
            <a:prstGeom prst="rect">
              <a:avLst/>
            </a:prstGeom>
            <a:noFill/>
          </p:spPr>
          <p:txBody>
            <a:bodyPr wrap="square" anchor="ctr">
              <a:spAutoFit/>
            </a:bodyPr>
            <a:lstStyle/>
            <a:p>
              <a:r>
                <a:rPr sz="1900">
                  <a:solidFill>
                    <a:schemeClr val="accent4"/>
                  </a:solidFill>
                  <a:latin typeface="Consolas"/>
                </a:rPr>
                <a:t>Predicate&lt;T&gt;</a:t>
              </a:r>
            </a:p>
          </p:txBody>
        </p:sp>
        <p:sp>
          <p:nvSpPr>
            <p:cNvPr id="8" name="TextBox 7"/>
            <p:cNvSpPr txBox="1"/>
            <p:nvPr/>
          </p:nvSpPr>
          <p:spPr>
            <a:xfrm>
              <a:off x="3547040" y="2029967"/>
              <a:ext cx="2693323" cy="585216"/>
            </a:xfrm>
            <a:prstGeom prst="rect">
              <a:avLst/>
            </a:prstGeom>
            <a:noFill/>
          </p:spPr>
          <p:txBody>
            <a:bodyPr wrap="square" anchor="ctr">
              <a:spAutoFit/>
            </a:bodyPr>
            <a:lstStyle/>
            <a:p>
              <a:r>
                <a:rPr sz="1900">
                  <a:solidFill>
                    <a:schemeClr val="accent4"/>
                  </a:solidFill>
                  <a:latin typeface="Consolas"/>
                </a:rPr>
                <a:t>boolean test(T)</a:t>
              </a:r>
            </a:p>
          </p:txBody>
        </p:sp>
        <p:sp>
          <p:nvSpPr>
            <p:cNvPr id="9" name="TextBox 8"/>
            <p:cNvSpPr txBox="1"/>
            <p:nvPr/>
          </p:nvSpPr>
          <p:spPr>
            <a:xfrm>
              <a:off x="6514684" y="2029967"/>
              <a:ext cx="4869595" cy="585216"/>
            </a:xfrm>
            <a:prstGeom prst="rect">
              <a:avLst/>
            </a:prstGeom>
            <a:noFill/>
          </p:spPr>
          <p:txBody>
            <a:bodyPr wrap="square" anchor="ctr">
              <a:spAutoFit/>
            </a:bodyPr>
            <a:lstStyle/>
            <a:p>
              <a:r>
                <a:rPr sz="2200">
                  <a:solidFill>
                    <a:srgbClr val="FFFFFF"/>
                  </a:solidFill>
                </a:rPr>
                <a:t>répondre oui ou non</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2495480" cy="585216"/>
            </a:xfrm>
            <a:prstGeom prst="rect">
              <a:avLst/>
            </a:prstGeom>
            <a:noFill/>
          </p:spPr>
          <p:txBody>
            <a:bodyPr wrap="square" anchor="ctr">
              <a:spAutoFit/>
            </a:bodyPr>
            <a:lstStyle/>
            <a:p>
              <a:r>
                <a:rPr sz="1900">
                  <a:solidFill>
                    <a:schemeClr val="accent4"/>
                  </a:solidFill>
                  <a:latin typeface="Consolas"/>
                </a:rPr>
                <a:t>Function&lt;T, R&gt;</a:t>
              </a:r>
            </a:p>
          </p:txBody>
        </p:sp>
        <p:sp>
          <p:nvSpPr>
            <p:cNvPr id="12" name="TextBox 11"/>
            <p:cNvSpPr txBox="1"/>
            <p:nvPr/>
          </p:nvSpPr>
          <p:spPr>
            <a:xfrm>
              <a:off x="3547040" y="2688335"/>
              <a:ext cx="2693323" cy="585216"/>
            </a:xfrm>
            <a:prstGeom prst="rect">
              <a:avLst/>
            </a:prstGeom>
            <a:noFill/>
          </p:spPr>
          <p:txBody>
            <a:bodyPr wrap="square" anchor="ctr">
              <a:spAutoFit/>
            </a:bodyPr>
            <a:lstStyle/>
            <a:p>
              <a:r>
                <a:rPr sz="1900">
                  <a:solidFill>
                    <a:schemeClr val="accent4"/>
                  </a:solidFill>
                  <a:latin typeface="Consolas"/>
                </a:rPr>
                <a:t>R apply(T)</a:t>
              </a:r>
            </a:p>
          </p:txBody>
        </p:sp>
        <p:sp>
          <p:nvSpPr>
            <p:cNvPr id="13" name="TextBox 12"/>
            <p:cNvSpPr txBox="1"/>
            <p:nvPr/>
          </p:nvSpPr>
          <p:spPr>
            <a:xfrm>
              <a:off x="6514684" y="2688335"/>
              <a:ext cx="4869595" cy="585216"/>
            </a:xfrm>
            <a:prstGeom prst="rect">
              <a:avLst/>
            </a:prstGeom>
            <a:noFill/>
          </p:spPr>
          <p:txBody>
            <a:bodyPr wrap="square" anchor="ctr">
              <a:spAutoFit/>
            </a:bodyPr>
            <a:lstStyle/>
            <a:p>
              <a:r>
                <a:rPr sz="2200">
                  <a:solidFill>
                    <a:srgbClr val="FFFFFF"/>
                  </a:solidFill>
                </a:rPr>
                <a:t>transformer un </a:t>
              </a:r>
              <a:r>
                <a:rPr sz="1900">
                  <a:solidFill>
                    <a:schemeClr val="accent4"/>
                  </a:solidFill>
                  <a:latin typeface="Consolas"/>
                </a:rPr>
                <a:t>T</a:t>
              </a:r>
              <a:r>
                <a:rPr sz="2200">
                  <a:solidFill>
                    <a:srgbClr val="FFFFFF"/>
                  </a:solidFill>
                </a:rPr>
                <a:t> en </a:t>
              </a:r>
              <a:r>
                <a:rPr sz="1900">
                  <a:solidFill>
                    <a:schemeClr val="accent4"/>
                  </a:solidFill>
                  <a:latin typeface="Consolas"/>
                </a:rPr>
                <a:t>R</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2495480" cy="585216"/>
            </a:xfrm>
            <a:prstGeom prst="rect">
              <a:avLst/>
            </a:prstGeom>
            <a:noFill/>
          </p:spPr>
          <p:txBody>
            <a:bodyPr wrap="square" anchor="ctr">
              <a:spAutoFit/>
            </a:bodyPr>
            <a:lstStyle/>
            <a:p>
              <a:r>
                <a:rPr sz="1900">
                  <a:solidFill>
                    <a:schemeClr val="accent4"/>
                  </a:solidFill>
                  <a:latin typeface="Consolas"/>
                </a:rPr>
                <a:t>Consumer&lt;T&gt;</a:t>
              </a:r>
            </a:p>
          </p:txBody>
        </p:sp>
        <p:sp>
          <p:nvSpPr>
            <p:cNvPr id="16" name="TextBox 15"/>
            <p:cNvSpPr txBox="1"/>
            <p:nvPr/>
          </p:nvSpPr>
          <p:spPr>
            <a:xfrm>
              <a:off x="3547040" y="3346703"/>
              <a:ext cx="2693323" cy="585216"/>
            </a:xfrm>
            <a:prstGeom prst="rect">
              <a:avLst/>
            </a:prstGeom>
            <a:noFill/>
          </p:spPr>
          <p:txBody>
            <a:bodyPr wrap="square" anchor="ctr">
              <a:spAutoFit/>
            </a:bodyPr>
            <a:lstStyle/>
            <a:p>
              <a:r>
                <a:rPr sz="1900">
                  <a:solidFill>
                    <a:schemeClr val="accent4"/>
                  </a:solidFill>
                  <a:latin typeface="Consolas"/>
                </a:rPr>
                <a:t>void accept(T)</a:t>
              </a:r>
            </a:p>
          </p:txBody>
        </p:sp>
        <p:sp>
          <p:nvSpPr>
            <p:cNvPr id="17" name="TextBox 16"/>
            <p:cNvSpPr txBox="1"/>
            <p:nvPr/>
          </p:nvSpPr>
          <p:spPr>
            <a:xfrm>
              <a:off x="6514684" y="3346703"/>
              <a:ext cx="4869595" cy="585216"/>
            </a:xfrm>
            <a:prstGeom prst="rect">
              <a:avLst/>
            </a:prstGeom>
            <a:noFill/>
          </p:spPr>
          <p:txBody>
            <a:bodyPr wrap="square" anchor="ctr">
              <a:spAutoFit/>
            </a:bodyPr>
            <a:lstStyle/>
            <a:p>
              <a:r>
                <a:rPr sz="2200">
                  <a:solidFill>
                    <a:srgbClr val="FFFFFF"/>
                  </a:solidFill>
                </a:rPr>
                <a:t>faire quelque chose d'un </a:t>
              </a:r>
              <a:r>
                <a:rPr sz="1900">
                  <a:solidFill>
                    <a:schemeClr val="accent4"/>
                  </a:solidFill>
                  <a:latin typeface="Consolas"/>
                </a:rPr>
                <a:t>T</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2495480" cy="585216"/>
            </a:xfrm>
            <a:prstGeom prst="rect">
              <a:avLst/>
            </a:prstGeom>
            <a:noFill/>
          </p:spPr>
          <p:txBody>
            <a:bodyPr wrap="square" anchor="ctr">
              <a:spAutoFit/>
            </a:bodyPr>
            <a:lstStyle/>
            <a:p>
              <a:r>
                <a:rPr sz="1900">
                  <a:solidFill>
                    <a:schemeClr val="accent4"/>
                  </a:solidFill>
                  <a:latin typeface="Consolas"/>
                </a:rPr>
                <a:t>Supplier&lt;T&gt;</a:t>
              </a:r>
            </a:p>
          </p:txBody>
        </p:sp>
        <p:sp>
          <p:nvSpPr>
            <p:cNvPr id="20" name="TextBox 19"/>
            <p:cNvSpPr txBox="1"/>
            <p:nvPr/>
          </p:nvSpPr>
          <p:spPr>
            <a:xfrm>
              <a:off x="3547040" y="4005071"/>
              <a:ext cx="2693323" cy="585216"/>
            </a:xfrm>
            <a:prstGeom prst="rect">
              <a:avLst/>
            </a:prstGeom>
            <a:noFill/>
          </p:spPr>
          <p:txBody>
            <a:bodyPr wrap="square" anchor="ctr">
              <a:spAutoFit/>
            </a:bodyPr>
            <a:lstStyle/>
            <a:p>
              <a:r>
                <a:rPr sz="1900">
                  <a:solidFill>
                    <a:schemeClr val="accent4"/>
                  </a:solidFill>
                  <a:latin typeface="Consolas"/>
                </a:rPr>
                <a:t>T get()</a:t>
              </a:r>
            </a:p>
          </p:txBody>
        </p:sp>
        <p:sp>
          <p:nvSpPr>
            <p:cNvPr id="21" name="TextBox 20"/>
            <p:cNvSpPr txBox="1"/>
            <p:nvPr/>
          </p:nvSpPr>
          <p:spPr>
            <a:xfrm>
              <a:off x="6514684" y="4005071"/>
              <a:ext cx="4869595" cy="585216"/>
            </a:xfrm>
            <a:prstGeom prst="rect">
              <a:avLst/>
            </a:prstGeom>
            <a:noFill/>
          </p:spPr>
          <p:txBody>
            <a:bodyPr wrap="square" anchor="ctr">
              <a:spAutoFit/>
            </a:bodyPr>
            <a:lstStyle/>
            <a:p>
              <a:r>
                <a:rPr sz="2200">
                  <a:solidFill>
                    <a:srgbClr val="FFFFFF"/>
                  </a:solidFill>
                </a:rPr>
                <a:t>fournir un </a:t>
              </a:r>
              <a:r>
                <a:rPr sz="1900">
                  <a:solidFill>
                    <a:schemeClr val="accent4"/>
                  </a:solidFill>
                  <a:latin typeface="Consolas"/>
                </a:rPr>
                <a:t>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méthodes de COL, sans classe</a:t>
            </a:r>
          </a:p>
        </p:txBody>
      </p:sp>
      <p:sp>
        <p:nvSpPr>
          <p:cNvPr id="3" name="Content Placeholder 2"/>
          <p:cNvSpPr>
            <a:spLocks noGrp="1"/>
          </p:cNvSpPr>
          <p:nvPr>
            <p:ph idx="1"/>
          </p:nvPr>
        </p:nvSpPr>
        <p:spPr>
          <a:xfrm>
            <a:off x="640080" y="1371600"/>
            <a:ext cx="10881360" cy="2098040"/>
          </a:xfrm>
        </p:spPr>
        <p:txBody>
          <a:bodyPr/>
          <a:lstStyle/>
          <a:p>
            <a:pPr marL="0" lvl="0" indent="0">
              <a:buNone/>
            </a:pPr>
            <a:r>
              <a:rPr lang="fr-BE" dirty="0"/>
              <a:t>Au module COL, </a:t>
            </a:r>
            <a:r>
              <a:rPr lang="fr-BE" sz="2400" dirty="0" err="1">
                <a:solidFill>
                  <a:schemeClr val="accent4"/>
                </a:solidFill>
                <a:latin typeface="Consolas"/>
              </a:rPr>
              <a:t>removeIf</a:t>
            </a:r>
            <a:r>
              <a:rPr lang="fr-BE" dirty="0"/>
              <a:t> et </a:t>
            </a:r>
            <a:r>
              <a:rPr lang="fr-BE" sz="2400" dirty="0" err="1">
                <a:solidFill>
                  <a:schemeClr val="accent4"/>
                </a:solidFill>
                <a:latin typeface="Consolas"/>
              </a:rPr>
              <a:t>computeIfAbsent</a:t>
            </a:r>
            <a:r>
              <a:rPr lang="fr-BE" dirty="0"/>
              <a:t> recevaient un objet de </a:t>
            </a:r>
            <a:r>
              <a:rPr lang="fr-BE" sz="2400" dirty="0" err="1">
                <a:solidFill>
                  <a:schemeClr val="accent4"/>
                </a:solidFill>
                <a:latin typeface="Consolas"/>
              </a:rPr>
              <a:t>TitreLong</a:t>
            </a:r>
            <a:r>
              <a:rPr lang="fr-BE" dirty="0"/>
              <a:t> ou de </a:t>
            </a:r>
            <a:r>
              <a:rPr lang="fr-BE" sz="2400" dirty="0" err="1">
                <a:solidFill>
                  <a:schemeClr val="accent4"/>
                </a:solidFill>
                <a:latin typeface="Consolas"/>
              </a:rPr>
              <a:t>NouvelleListe</a:t>
            </a:r>
            <a:r>
              <a:rPr lang="fr-BE" dirty="0"/>
              <a:t>, deux classes écrites pour l’occasion</a:t>
            </a:r>
          </a:p>
          <a:p>
            <a:pPr marL="0" lvl="0" indent="0">
              <a:buNone/>
            </a:pPr>
            <a:r>
              <a:rPr lang="fr-BE" dirty="0"/>
              <a:t>Une lambda les remplace, en une ligne, là où elle sert</a:t>
            </a:r>
          </a:p>
          <a:p>
            <a:pPr marL="0" indent="0">
              <a:spcAft>
                <a:spcPts val="1000"/>
              </a:spcAft>
              <a:buNone/>
            </a:pPr>
            <a:r>
              <a:rPr sz="2800" dirty="0"/>
              <a:t>La </a:t>
            </a:r>
            <a:r>
              <a:rPr sz="2800" dirty="0" err="1"/>
              <a:t>méthode</a:t>
            </a:r>
            <a:r>
              <a:rPr sz="2800" dirty="0"/>
              <a:t> </a:t>
            </a:r>
            <a:r>
              <a:rPr sz="2400" dirty="0" err="1">
                <a:solidFill>
                  <a:schemeClr val="accent4"/>
                </a:solidFill>
                <a:latin typeface="Consolas"/>
              </a:rPr>
              <a:t>forEach</a:t>
            </a:r>
            <a:r>
              <a:rPr sz="2800" dirty="0"/>
              <a:t> </a:t>
            </a:r>
            <a:r>
              <a:rPr sz="2800" dirty="0" err="1"/>
              <a:t>reçoit</a:t>
            </a:r>
            <a:r>
              <a:rPr sz="2800" dirty="0"/>
              <a:t> un </a:t>
            </a:r>
            <a:r>
              <a:rPr sz="2400" dirty="0">
                <a:solidFill>
                  <a:schemeClr val="accent4"/>
                </a:solidFill>
                <a:latin typeface="Consolas"/>
              </a:rPr>
              <a:t>Consumer</a:t>
            </a:r>
            <a:r>
              <a:rPr sz="2800" dirty="0"/>
              <a:t> : </a:t>
            </a:r>
            <a:r>
              <a:rPr sz="2800" dirty="0" err="1"/>
              <a:t>elle</a:t>
            </a:r>
            <a:r>
              <a:rPr sz="2800" dirty="0"/>
              <a:t> agit sur </a:t>
            </a:r>
            <a:r>
              <a:rPr sz="2800" dirty="0" err="1"/>
              <a:t>chaque</a:t>
            </a:r>
            <a:r>
              <a:rPr sz="2800" dirty="0"/>
              <a:t> </a:t>
            </a:r>
            <a:r>
              <a:rPr sz="2800" dirty="0" err="1"/>
              <a:t>élément</a:t>
            </a:r>
            <a:endParaRPr sz="2800" dirty="0"/>
          </a:p>
        </p:txBody>
      </p:sp>
      <p:sp>
        <p:nvSpPr>
          <p:cNvPr id="4" name="Code"/>
          <p:cNvSpPr txBox="1"/>
          <p:nvPr/>
        </p:nvSpPr>
        <p:spPr>
          <a:xfrm>
            <a:off x="2032000" y="3512130"/>
            <a:ext cx="8128000" cy="51120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lang="fr-BE" dirty="0" err="1">
                <a:solidFill>
                  <a:srgbClr val="BCBEC4"/>
                </a:solidFill>
                <a:latin typeface="Consolas"/>
              </a:rPr>
              <a:t>titres.</a:t>
            </a:r>
            <a:r>
              <a:rPr lang="fr-BE" dirty="0" err="1">
                <a:solidFill>
                  <a:srgbClr val="56A8F5"/>
                </a:solidFill>
                <a:latin typeface="Consolas"/>
              </a:rPr>
              <a:t>removeIf</a:t>
            </a:r>
            <a:r>
              <a:rPr lang="fr-BE" dirty="0">
                <a:solidFill>
                  <a:srgbClr val="BCBEC4"/>
                </a:solidFill>
                <a:latin typeface="Consolas"/>
              </a:rPr>
              <a:t>(titre -&gt; </a:t>
            </a:r>
            <a:r>
              <a:rPr lang="fr-BE" dirty="0" err="1">
                <a:solidFill>
                  <a:srgbClr val="BCBEC4"/>
                </a:solidFill>
                <a:latin typeface="Consolas"/>
              </a:rPr>
              <a:t>titre.</a:t>
            </a:r>
            <a:r>
              <a:rPr lang="fr-BE" dirty="0" err="1">
                <a:solidFill>
                  <a:srgbClr val="56A8F5"/>
                </a:solidFill>
                <a:latin typeface="Consolas"/>
              </a:rPr>
              <a:t>length</a:t>
            </a:r>
            <a:r>
              <a:rPr lang="fr-BE" dirty="0">
                <a:solidFill>
                  <a:srgbClr val="BCBEC4"/>
                </a:solidFill>
                <a:latin typeface="Consolas"/>
              </a:rPr>
              <a:t>() &gt; LONGUEUR_MAX);</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
        <p:nvSpPr>
          <p:cNvPr id="7" name="Code">
            <a:extLst>
              <a:ext uri="{FF2B5EF4-FFF2-40B4-BE49-F238E27FC236}">
                <a16:creationId xmlns:a16="http://schemas.microsoft.com/office/drawing/2014/main" id="{1D3397DE-967F-8FE9-44F2-C138525DB5F3}"/>
              </a:ext>
            </a:extLst>
          </p:cNvPr>
          <p:cNvSpPr txBox="1"/>
          <p:nvPr/>
        </p:nvSpPr>
        <p:spPr>
          <a:xfrm>
            <a:off x="640080" y="4230887"/>
            <a:ext cx="10881360" cy="794122"/>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titresParAuteur.</a:t>
            </a:r>
            <a:r>
              <a:rPr sz="1800" dirty="0" err="1">
                <a:solidFill>
                  <a:srgbClr val="56A8F5"/>
                </a:solidFill>
                <a:latin typeface="Consolas"/>
              </a:rPr>
              <a:t>computeIfAbsent</a:t>
            </a:r>
            <a:r>
              <a:rPr sz="1800" dirty="0">
                <a:solidFill>
                  <a:srgbClr val="BCBEC4"/>
                </a:solidFill>
                <a:latin typeface="Consolas"/>
              </a:rPr>
              <a:t>(</a:t>
            </a:r>
            <a:r>
              <a:rPr sz="1800" dirty="0">
                <a:solidFill>
                  <a:srgbClr val="6AAB73"/>
                </a:solidFill>
                <a:latin typeface="Consolas"/>
              </a:rPr>
              <a:t>"Zola"</a:t>
            </a:r>
            <a:r>
              <a:rPr sz="1800" dirty="0">
                <a:solidFill>
                  <a:srgbClr val="BCBEC4"/>
                </a:solidFill>
                <a:latin typeface="Consolas"/>
              </a:rPr>
              <a:t>, auteur -&gt; </a:t>
            </a:r>
            <a:r>
              <a:rPr sz="1800" dirty="0">
                <a:solidFill>
                  <a:srgbClr val="CF8E6D"/>
                </a:solidFill>
                <a:latin typeface="Consolas"/>
              </a:rPr>
              <a:t>new</a:t>
            </a:r>
            <a:r>
              <a:rPr sz="1800" dirty="0">
                <a:solidFill>
                  <a:srgbClr val="BCBEC4"/>
                </a:solidFill>
                <a:latin typeface="Consolas"/>
              </a:rPr>
              <a:t> </a:t>
            </a:r>
            <a:r>
              <a:rPr sz="1800" dirty="0" err="1">
                <a:solidFill>
                  <a:srgbClr val="BCBEC4"/>
                </a:solidFill>
                <a:latin typeface="Consolas"/>
              </a:rPr>
              <a:t>ArrayList</a:t>
            </a:r>
            <a:r>
              <a:rPr sz="1800" dirty="0">
                <a:solidFill>
                  <a:srgbClr val="BCBEC4"/>
                </a:solidFill>
                <a:latin typeface="Consolas"/>
              </a:rPr>
              <a:t>&lt;&gt;())</a:t>
            </a:r>
          </a:p>
          <a:p>
            <a:pPr>
              <a:lnSpc>
                <a:spcPct val="100000"/>
              </a:lnSpc>
              <a:spcBef>
                <a:spcPts val="0"/>
              </a:spcBef>
              <a:spcAft>
                <a:spcPts val="0"/>
              </a:spcAft>
            </a:pPr>
            <a:r>
              <a:rPr sz="1800" dirty="0">
                <a:solidFill>
                  <a:srgbClr val="BCBEC4"/>
                </a:solidFill>
                <a:latin typeface="Consolas"/>
              </a:rPr>
              <a:t>               .</a:t>
            </a:r>
            <a:r>
              <a:rPr sz="1800" dirty="0">
                <a:solidFill>
                  <a:srgbClr val="56A8F5"/>
                </a:solidFill>
                <a:latin typeface="Consolas"/>
              </a:rPr>
              <a:t>add</a:t>
            </a:r>
            <a:r>
              <a:rPr sz="1800" dirty="0">
                <a:solidFill>
                  <a:srgbClr val="BCBEC4"/>
                </a:solidFill>
                <a:latin typeface="Consolas"/>
              </a:rPr>
              <a:t>(</a:t>
            </a:r>
            <a:r>
              <a:rPr sz="1800" dirty="0">
                <a:solidFill>
                  <a:srgbClr val="6AAB73"/>
                </a:solidFill>
                <a:latin typeface="Consolas"/>
              </a:rPr>
              <a:t>"Germinal"</a:t>
            </a:r>
            <a:r>
              <a:rPr sz="1800" dirty="0">
                <a:solidFill>
                  <a:srgbClr val="BCBEC4"/>
                </a:solidFill>
                <a:latin typeface="Consolas"/>
              </a:rPr>
              <a:t>);</a:t>
            </a:r>
          </a:p>
        </p:txBody>
      </p:sp>
      <p:sp>
        <p:nvSpPr>
          <p:cNvPr id="8" name="Code">
            <a:extLst>
              <a:ext uri="{FF2B5EF4-FFF2-40B4-BE49-F238E27FC236}">
                <a16:creationId xmlns:a16="http://schemas.microsoft.com/office/drawing/2014/main" id="{DFA18A23-36E1-0C54-33AF-AFA7AE7FABA5}"/>
              </a:ext>
            </a:extLst>
          </p:cNvPr>
          <p:cNvSpPr txBox="1"/>
          <p:nvPr/>
        </p:nvSpPr>
        <p:spPr>
          <a:xfrm>
            <a:off x="2381250" y="5232565"/>
            <a:ext cx="7429500" cy="511200"/>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titres.</a:t>
            </a:r>
            <a:r>
              <a:rPr sz="1800" dirty="0" err="1">
                <a:solidFill>
                  <a:srgbClr val="56A8F5"/>
                </a:solidFill>
                <a:latin typeface="Consolas"/>
              </a:rPr>
              <a:t>forEach</a:t>
            </a:r>
            <a:r>
              <a:rPr sz="1800" dirty="0">
                <a:solidFill>
                  <a:srgbClr val="BCBEC4"/>
                </a:solidFill>
                <a:latin typeface="Consolas"/>
              </a:rPr>
              <a:t>(</a:t>
            </a:r>
            <a:r>
              <a:rPr sz="1800" dirty="0" err="1">
                <a:solidFill>
                  <a:srgbClr val="BCBEC4"/>
                </a:solidFill>
                <a:latin typeface="Consolas"/>
              </a:rPr>
              <a:t>titre</a:t>
            </a:r>
            <a:r>
              <a:rPr sz="1800" dirty="0">
                <a:solidFill>
                  <a:srgbClr val="BCBEC4"/>
                </a:solidFill>
                <a:latin typeface="Consolas"/>
              </a:rPr>
              <a:t> -&gt; </a:t>
            </a:r>
            <a:r>
              <a:rPr sz="1800" dirty="0" err="1">
                <a:solidFill>
                  <a:srgbClr val="BCBEC4"/>
                </a:solidFill>
                <a:latin typeface="Consolas"/>
              </a:rPr>
              <a:t>System.out.</a:t>
            </a:r>
            <a:r>
              <a:rPr sz="1800" dirty="0" err="1">
                <a:solidFill>
                  <a:srgbClr val="56A8F5"/>
                </a:solidFill>
                <a:latin typeface="Consolas"/>
              </a:rPr>
              <a:t>println</a:t>
            </a:r>
            <a:r>
              <a:rPr sz="1800" dirty="0">
                <a:solidFill>
                  <a:srgbClr val="BCBEC4"/>
                </a:solidFill>
                <a:latin typeface="Consolas"/>
              </a:rPr>
              <a:t>(</a:t>
            </a:r>
            <a:r>
              <a:rPr sz="1800" dirty="0" err="1">
                <a:solidFill>
                  <a:srgbClr val="BCBEC4"/>
                </a:solidFill>
                <a:latin typeface="Consolas"/>
              </a:rPr>
              <a:t>titre</a:t>
            </a:r>
            <a:r>
              <a:rPr sz="18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référence de méthode</a:t>
            </a:r>
          </a:p>
        </p:txBody>
      </p:sp>
      <p:sp>
        <p:nvSpPr>
          <p:cNvPr id="3" name="Content Placeholder 2"/>
          <p:cNvSpPr>
            <a:spLocks noGrp="1"/>
          </p:cNvSpPr>
          <p:nvPr>
            <p:ph idx="1"/>
          </p:nvPr>
        </p:nvSpPr>
        <p:spPr>
          <a:xfrm>
            <a:off x="640080" y="1371600"/>
            <a:ext cx="10881360" cy="1600200"/>
          </a:xfrm>
        </p:spPr>
        <p:txBody>
          <a:bodyPr/>
          <a:lstStyle/>
          <a:p>
            <a:pPr marL="0" indent="0">
              <a:spcAft>
                <a:spcPts val="1000"/>
              </a:spcAft>
              <a:buNone/>
            </a:pPr>
            <a:r>
              <a:rPr sz="2400" dirty="0"/>
              <a:t>Si la lambda ne fait </a:t>
            </a:r>
            <a:r>
              <a:rPr sz="2400" dirty="0" err="1"/>
              <a:t>qu'appeler</a:t>
            </a:r>
            <a:r>
              <a:rPr sz="2400" dirty="0"/>
              <a:t> </a:t>
            </a:r>
            <a:r>
              <a:rPr sz="2400" dirty="0" err="1"/>
              <a:t>une</a:t>
            </a:r>
            <a:r>
              <a:rPr sz="2400" dirty="0"/>
              <a:t> </a:t>
            </a:r>
            <a:r>
              <a:rPr sz="2400" dirty="0" err="1"/>
              <a:t>méthode</a:t>
            </a:r>
            <a:r>
              <a:rPr sz="2400" dirty="0"/>
              <a:t>, on </a:t>
            </a:r>
            <a:r>
              <a:rPr sz="2400" dirty="0" err="1"/>
              <a:t>désigne</a:t>
            </a:r>
            <a:r>
              <a:rPr sz="2400" dirty="0"/>
              <a:t> la </a:t>
            </a:r>
            <a:r>
              <a:rPr sz="2400" dirty="0" err="1"/>
              <a:t>méthode</a:t>
            </a:r>
            <a:endParaRPr sz="2600" dirty="0"/>
          </a:p>
          <a:p>
            <a:pPr marL="0" indent="0">
              <a:spcAft>
                <a:spcPts val="1000"/>
              </a:spcAft>
              <a:buNone/>
            </a:pPr>
            <a:r>
              <a:rPr sz="2400" dirty="0"/>
              <a:t>La </a:t>
            </a:r>
            <a:r>
              <a:rPr sz="2400" dirty="0" err="1"/>
              <a:t>classe</a:t>
            </a:r>
            <a:r>
              <a:rPr sz="2400" dirty="0"/>
              <a:t>, deux deux-points, le nom </a:t>
            </a:r>
            <a:r>
              <a:rPr lang="nl-BE" sz="2400" dirty="0"/>
              <a:t>(</a:t>
            </a:r>
            <a:r>
              <a:rPr sz="2400" dirty="0"/>
              <a:t>sans </a:t>
            </a:r>
            <a:r>
              <a:rPr sz="2400" dirty="0" err="1"/>
              <a:t>parenthèses</a:t>
            </a:r>
            <a:r>
              <a:rPr lang="nl-BE" sz="2400" dirty="0"/>
              <a:t>)</a:t>
            </a:r>
            <a:endParaRPr sz="2600" dirty="0"/>
          </a:p>
          <a:p>
            <a:pPr marL="0" indent="0">
              <a:spcAft>
                <a:spcPts val="1000"/>
              </a:spcAft>
              <a:buNone/>
            </a:pPr>
            <a:r>
              <a:rPr sz="2400" dirty="0"/>
              <a:t>Le paramètre vient de </a:t>
            </a:r>
            <a:r>
              <a:rPr sz="2000" dirty="0">
                <a:solidFill>
                  <a:srgbClr val="FFC000"/>
                </a:solidFill>
                <a:latin typeface="Consolas"/>
                <a:cs typeface="Consolas"/>
              </a:rPr>
              <a:t>removeIf</a:t>
            </a:r>
            <a:r>
              <a:rPr sz="2400" dirty="0"/>
              <a:t>, qui passe chaque titre à </a:t>
            </a:r>
            <a:r>
              <a:rPr sz="2000" dirty="0">
                <a:solidFill>
                  <a:srgbClr val="FFC000"/>
                </a:solidFill>
                <a:latin typeface="Consolas"/>
                <a:cs typeface="Consolas"/>
              </a:rPr>
              <a:t>estLong</a:t>
            </a:r>
            <a:endParaRPr sz="2600" dirty="0"/>
          </a:p>
        </p:txBody>
      </p:sp>
      <p:sp>
        <p:nvSpPr>
          <p:cNvPr id="4" name="Code"/>
          <p:cNvSpPr txBox="1"/>
          <p:nvPr/>
        </p:nvSpPr>
        <p:spPr>
          <a:xfrm>
            <a:off x="2711097" y="3017520"/>
            <a:ext cx="6769805" cy="1828800"/>
          </a:xfrm>
          <a:prstGeom prst="roundRect">
            <a:avLst>
              <a:gd name="adj" fmla="val 296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class</a:t>
            </a:r>
            <a:r>
              <a:rPr sz="1700" dirty="0">
                <a:solidFill>
                  <a:srgbClr val="BCBEC4"/>
                </a:solidFill>
                <a:latin typeface="Consolas"/>
              </a:rPr>
              <a:t> </a:t>
            </a:r>
            <a:r>
              <a:rPr sz="1700" dirty="0" err="1">
                <a:solidFill>
                  <a:srgbClr val="BCBEC4"/>
                </a:solidFill>
                <a:latin typeface="Consolas"/>
              </a:rPr>
              <a:t>Titres</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private</a:t>
            </a:r>
            <a:r>
              <a:rPr sz="1700" dirty="0">
                <a:solidFill>
                  <a:srgbClr val="BCBEC4"/>
                </a:solidFill>
                <a:latin typeface="Consolas"/>
              </a:rPr>
              <a:t> </a:t>
            </a:r>
            <a:r>
              <a:rPr sz="1700" dirty="0">
                <a:solidFill>
                  <a:srgbClr val="CF8E6D"/>
                </a:solidFill>
                <a:latin typeface="Consolas"/>
              </a:rPr>
              <a:t>static</a:t>
            </a:r>
            <a:r>
              <a:rPr sz="1700" dirty="0">
                <a:solidFill>
                  <a:srgbClr val="BCBEC4"/>
                </a:solidFill>
                <a:latin typeface="Consolas"/>
              </a:rPr>
              <a:t> </a:t>
            </a:r>
            <a:r>
              <a:rPr sz="1700" dirty="0">
                <a:solidFill>
                  <a:srgbClr val="CF8E6D"/>
                </a:solidFill>
                <a:latin typeface="Consolas"/>
              </a:rPr>
              <a:t>final</a:t>
            </a:r>
            <a:r>
              <a:rPr sz="1700" dirty="0">
                <a:solidFill>
                  <a:srgbClr val="BCBEC4"/>
                </a:solidFill>
                <a:latin typeface="Consolas"/>
              </a:rPr>
              <a:t> </a:t>
            </a:r>
            <a:r>
              <a:rPr sz="1700" dirty="0">
                <a:solidFill>
                  <a:srgbClr val="CF8E6D"/>
                </a:solidFill>
                <a:latin typeface="Consolas"/>
              </a:rPr>
              <a:t>int</a:t>
            </a:r>
            <a:r>
              <a:rPr sz="1700" dirty="0">
                <a:solidFill>
                  <a:srgbClr val="BCBEC4"/>
                </a:solidFill>
                <a:latin typeface="Consolas"/>
              </a:rPr>
              <a:t> LONGUEUR_MAX = </a:t>
            </a:r>
            <a:r>
              <a:rPr sz="1700" dirty="0">
                <a:solidFill>
                  <a:srgbClr val="2AACB8"/>
                </a:solidFill>
                <a:latin typeface="Consolas"/>
              </a:rPr>
              <a:t>20</a:t>
            </a:r>
            <a:r>
              <a:rPr sz="1700" dirty="0">
                <a:solidFill>
                  <a:srgbClr val="BCBEC4"/>
                </a:solidFill>
                <a:latin typeface="Consolas"/>
              </a:rPr>
              <a:t>;</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public</a:t>
            </a:r>
            <a:r>
              <a:rPr sz="1700" dirty="0">
                <a:solidFill>
                  <a:srgbClr val="BCBEC4"/>
                </a:solidFill>
                <a:latin typeface="Consolas"/>
              </a:rPr>
              <a:t> </a:t>
            </a:r>
            <a:r>
              <a:rPr sz="1700" dirty="0">
                <a:solidFill>
                  <a:srgbClr val="CF8E6D"/>
                </a:solidFill>
                <a:latin typeface="Consolas"/>
              </a:rPr>
              <a:t>static</a:t>
            </a:r>
            <a:r>
              <a:rPr sz="1700" dirty="0">
                <a:solidFill>
                  <a:srgbClr val="BCBEC4"/>
                </a:solidFill>
                <a:latin typeface="Consolas"/>
              </a:rPr>
              <a:t> </a:t>
            </a:r>
            <a:r>
              <a:rPr sz="1700" dirty="0" err="1">
                <a:solidFill>
                  <a:srgbClr val="CF8E6D"/>
                </a:solidFill>
                <a:latin typeface="Consolas"/>
              </a:rPr>
              <a:t>boolean</a:t>
            </a:r>
            <a:r>
              <a:rPr sz="1700" dirty="0">
                <a:solidFill>
                  <a:srgbClr val="BCBEC4"/>
                </a:solidFill>
                <a:latin typeface="Consolas"/>
              </a:rPr>
              <a:t> </a:t>
            </a:r>
            <a:r>
              <a:rPr sz="1700" dirty="0" err="1">
                <a:solidFill>
                  <a:srgbClr val="56A8F5"/>
                </a:solidFill>
                <a:latin typeface="Consolas"/>
              </a:rPr>
              <a:t>estLong</a:t>
            </a:r>
            <a:r>
              <a:rPr sz="1700" dirty="0">
                <a:solidFill>
                  <a:srgbClr val="BCBEC4"/>
                </a:solidFill>
                <a:latin typeface="Consolas"/>
              </a:rPr>
              <a:t>(String </a:t>
            </a:r>
            <a:r>
              <a:rPr sz="1700" dirty="0" err="1">
                <a:solidFill>
                  <a:srgbClr val="BCBEC4"/>
                </a:solidFill>
                <a:latin typeface="Consolas"/>
              </a:rPr>
              <a:t>titre</a:t>
            </a: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        </a:t>
            </a:r>
            <a:r>
              <a:rPr sz="1700" dirty="0">
                <a:solidFill>
                  <a:srgbClr val="CF8E6D"/>
                </a:solidFill>
                <a:latin typeface="Consolas"/>
              </a:rPr>
              <a:t>return</a:t>
            </a:r>
            <a:r>
              <a:rPr sz="1700" dirty="0">
                <a:solidFill>
                  <a:srgbClr val="BCBEC4"/>
                </a:solidFill>
                <a:latin typeface="Consolas"/>
              </a:rPr>
              <a:t> </a:t>
            </a:r>
            <a:r>
              <a:rPr sz="1700" dirty="0" err="1">
                <a:solidFill>
                  <a:srgbClr val="BCBEC4"/>
                </a:solidFill>
                <a:latin typeface="Consolas"/>
              </a:rPr>
              <a:t>titre.</a:t>
            </a:r>
            <a:r>
              <a:rPr sz="1700" dirty="0" err="1">
                <a:solidFill>
                  <a:srgbClr val="56A8F5"/>
                </a:solidFill>
                <a:latin typeface="Consolas"/>
              </a:rPr>
              <a:t>length</a:t>
            </a:r>
            <a:r>
              <a:rPr sz="1700" dirty="0">
                <a:solidFill>
                  <a:srgbClr val="BCBEC4"/>
                </a:solidFill>
                <a:latin typeface="Consolas"/>
              </a:rPr>
              <a:t>() &gt; LONGUEUR_MAX;</a:t>
            </a:r>
          </a:p>
          <a:p>
            <a:pPr>
              <a:lnSpc>
                <a:spcPct val="100000"/>
              </a:lnSpc>
              <a:spcBef>
                <a:spcPts val="0"/>
              </a:spcBef>
              <a:spcAft>
                <a:spcPts val="0"/>
              </a:spcAft>
            </a:pPr>
            <a:r>
              <a:rPr sz="1700" dirty="0">
                <a:solidFill>
                  <a:srgbClr val="BCBEC4"/>
                </a:solidFill>
                <a:latin typeface="Consolas"/>
              </a:rPr>
              <a:t>    }</a:t>
            </a:r>
          </a:p>
          <a:p>
            <a:pPr>
              <a:lnSpc>
                <a:spcPct val="100000"/>
              </a:lnSpc>
              <a:spcBef>
                <a:spcPts val="0"/>
              </a:spcBef>
              <a:spcAft>
                <a:spcPts val="0"/>
              </a:spcAft>
            </a:pPr>
            <a:r>
              <a:rPr sz="17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
        <p:nvSpPr>
          <p:cNvPr id="7" name="Code">
            <a:extLst>
              <a:ext uri="{FF2B5EF4-FFF2-40B4-BE49-F238E27FC236}">
                <a16:creationId xmlns:a16="http://schemas.microsoft.com/office/drawing/2014/main" id="{67A20702-1354-7C27-4701-8D60F5735B58}"/>
              </a:ext>
            </a:extLst>
          </p:cNvPr>
          <p:cNvSpPr txBox="1"/>
          <p:nvPr/>
        </p:nvSpPr>
        <p:spPr>
          <a:xfrm>
            <a:off x="2711097" y="4983480"/>
            <a:ext cx="6769805" cy="713555"/>
          </a:xfrm>
          <a:prstGeom prst="roundRect">
            <a:avLst>
              <a:gd name="adj" fmla="val 296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dirty="0" err="1">
                <a:solidFill>
                  <a:srgbClr val="BCBEC4"/>
                </a:solidFill>
                <a:latin typeface="Consolas"/>
              </a:rPr>
              <a:t>titres.</a:t>
            </a:r>
            <a:r>
              <a:rPr sz="1700" dirty="0" err="1">
                <a:solidFill>
                  <a:srgbClr val="56A8F5"/>
                </a:solidFill>
                <a:latin typeface="Consolas"/>
              </a:rPr>
              <a:t>removeIf</a:t>
            </a:r>
            <a:r>
              <a:rPr sz="1700" dirty="0">
                <a:solidFill>
                  <a:srgbClr val="BCBEC4"/>
                </a:solidFill>
                <a:latin typeface="Consolas"/>
              </a:rPr>
              <a:t>(</a:t>
            </a:r>
            <a:r>
              <a:rPr sz="1700" dirty="0" err="1">
                <a:solidFill>
                  <a:srgbClr val="BCBEC4"/>
                </a:solidFill>
                <a:latin typeface="Consolas"/>
              </a:rPr>
              <a:t>titre</a:t>
            </a:r>
            <a:r>
              <a:rPr sz="1700" dirty="0">
                <a:solidFill>
                  <a:srgbClr val="BCBEC4"/>
                </a:solidFill>
                <a:latin typeface="Consolas"/>
              </a:rPr>
              <a:t> -&gt; </a:t>
            </a:r>
            <a:r>
              <a:rPr sz="1700" dirty="0" err="1">
                <a:solidFill>
                  <a:srgbClr val="BCBEC4"/>
                </a:solidFill>
                <a:latin typeface="Consolas"/>
              </a:rPr>
              <a:t>Titres.</a:t>
            </a:r>
            <a:r>
              <a:rPr sz="1700" dirty="0" err="1">
                <a:solidFill>
                  <a:srgbClr val="56A8F5"/>
                </a:solidFill>
                <a:latin typeface="Consolas"/>
              </a:rPr>
              <a:t>estLong</a:t>
            </a:r>
            <a:r>
              <a:rPr sz="1700" dirty="0">
                <a:solidFill>
                  <a:srgbClr val="BCBEC4"/>
                </a:solidFill>
                <a:latin typeface="Consolas"/>
              </a:rPr>
              <a:t>(</a:t>
            </a:r>
            <a:r>
              <a:rPr sz="1700" dirty="0" err="1">
                <a:solidFill>
                  <a:srgbClr val="BCBEC4"/>
                </a:solidFill>
                <a:latin typeface="Consolas"/>
              </a:rPr>
              <a:t>titre</a:t>
            </a:r>
            <a:r>
              <a:rPr sz="1700" dirty="0">
                <a:solidFill>
                  <a:srgbClr val="BCBEC4"/>
                </a:solidFill>
                <a:latin typeface="Consolas"/>
              </a:rPr>
              <a:t>));</a:t>
            </a:r>
          </a:p>
          <a:p>
            <a:pPr>
              <a:lnSpc>
                <a:spcPct val="100000"/>
              </a:lnSpc>
              <a:spcBef>
                <a:spcPts val="0"/>
              </a:spcBef>
              <a:spcAft>
                <a:spcPts val="0"/>
              </a:spcAft>
            </a:pPr>
            <a:r>
              <a:rPr sz="1700" dirty="0" err="1">
                <a:solidFill>
                  <a:srgbClr val="BCBEC4"/>
                </a:solidFill>
                <a:latin typeface="Consolas"/>
              </a:rPr>
              <a:t>titres.</a:t>
            </a:r>
            <a:r>
              <a:rPr sz="1700" dirty="0" err="1">
                <a:solidFill>
                  <a:srgbClr val="56A8F5"/>
                </a:solidFill>
                <a:latin typeface="Consolas"/>
              </a:rPr>
              <a:t>removeIf</a:t>
            </a:r>
            <a:r>
              <a:rPr sz="1700" dirty="0">
                <a:solidFill>
                  <a:srgbClr val="BCBEC4"/>
                </a:solidFill>
                <a:latin typeface="Consolas"/>
              </a:rPr>
              <a:t>(</a:t>
            </a:r>
            <a:r>
              <a:rPr sz="1700" dirty="0" err="1">
                <a:solidFill>
                  <a:srgbClr val="BCBEC4"/>
                </a:solidFill>
                <a:latin typeface="Consolas"/>
              </a:rPr>
              <a:t>Titres</a:t>
            </a:r>
            <a:r>
              <a:rPr sz="1700" dirty="0">
                <a:solidFill>
                  <a:srgbClr val="BCBEC4"/>
                </a:solidFill>
                <a:latin typeface="Consolas"/>
              </a:rPr>
              <a:t>::</a:t>
            </a:r>
            <a:r>
              <a:rPr sz="1700" dirty="0" err="1">
                <a:solidFill>
                  <a:srgbClr val="BCBEC4"/>
                </a:solidFill>
                <a:latin typeface="Consolas"/>
              </a:rPr>
              <a:t>estLong</a:t>
            </a:r>
            <a:r>
              <a:rPr sz="1700" dirty="0">
                <a:solidFill>
                  <a:srgbClr val="BCBEC4"/>
                </a:solidFill>
                <a:latin typeface="Consolas"/>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stream, en passant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 stream fait passer les éléments d'une collection par une suite d'étapes</a:t>
            </a:r>
          </a:p>
          <a:p>
            <a:pPr marL="0" indent="0">
              <a:spcAft>
                <a:spcPts val="1000"/>
              </a:spcAft>
              <a:buNone/>
            </a:pPr>
            <a:r>
              <a:rPr sz="2400">
                <a:solidFill>
                  <a:schemeClr val="accent4"/>
                </a:solidFill>
                <a:latin typeface="Consolas"/>
              </a:rPr>
              <a:t>filter</a:t>
            </a:r>
            <a:r>
              <a:rPr sz="2800"/>
              <a:t> garde certains éléments, </a:t>
            </a:r>
            <a:r>
              <a:rPr sz="2400">
                <a:solidFill>
                  <a:schemeClr val="accent4"/>
                </a:solidFill>
                <a:latin typeface="Consolas"/>
              </a:rPr>
              <a:t>map</a:t>
            </a:r>
            <a:r>
              <a:rPr sz="2800"/>
              <a:t> les transforme, </a:t>
            </a:r>
            <a:r>
              <a:rPr sz="2400">
                <a:solidFill>
                  <a:schemeClr val="accent4"/>
                </a:solidFill>
                <a:latin typeface="Consolas"/>
              </a:rPr>
              <a:t>collect</a:t>
            </a:r>
            <a:r>
              <a:rPr sz="2800"/>
              <a:t> rassemble le résultat</a:t>
            </a:r>
          </a:p>
          <a:p>
            <a:pPr marL="0" indent="0">
              <a:spcAft>
                <a:spcPts val="1000"/>
              </a:spcAft>
              <a:buNone/>
            </a:pPr>
            <a:r>
              <a:rPr sz="2800"/>
              <a:t>La collection d'origine n'est pas modifiée</a:t>
            </a:r>
          </a:p>
        </p:txBody>
      </p:sp>
      <p:sp>
        <p:nvSpPr>
          <p:cNvPr id="4" name="Code"/>
          <p:cNvSpPr txBox="1"/>
          <p:nvPr/>
        </p:nvSpPr>
        <p:spPr>
          <a:xfrm>
            <a:off x="640080" y="4160520"/>
            <a:ext cx="10881360" cy="1249680"/>
          </a:xfrm>
          <a:prstGeom prst="roundRect">
            <a:avLst>
              <a:gd name="adj" fmla="val 731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BCBEC4"/>
                </a:solidFill>
                <a:latin typeface="Consolas"/>
              </a:rPr>
              <a:t>String longs = titres.</a:t>
            </a:r>
            <a:r>
              <a:rPr sz="1600">
                <a:solidFill>
                  <a:srgbClr val="56A8F5"/>
                </a:solidFill>
                <a:latin typeface="Consolas"/>
              </a:rPr>
              <a:t>stream</a:t>
            </a:r>
            <a:r>
              <a:rPr sz="1600">
                <a:solidFill>
                  <a:srgbClr val="BCBEC4"/>
                </a:solidFill>
                <a:latin typeface="Consolas"/>
              </a:rPr>
              <a:t>()                          </a:t>
            </a:r>
            <a:r>
              <a:rPr sz="1600">
                <a:solidFill>
                  <a:srgbClr val="7A7E85"/>
                </a:solidFill>
                <a:latin typeface="Consolas"/>
              </a:rPr>
              <a:t>// 1. ouvrir le flux</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filter</a:t>
            </a:r>
            <a:r>
              <a:rPr sz="1600">
                <a:solidFill>
                  <a:srgbClr val="BCBEC4"/>
                </a:solidFill>
                <a:latin typeface="Consolas"/>
              </a:rPr>
              <a:t>(titre -&gt; titre.</a:t>
            </a:r>
            <a:r>
              <a:rPr sz="1600">
                <a:solidFill>
                  <a:srgbClr val="56A8F5"/>
                </a:solidFill>
                <a:latin typeface="Consolas"/>
              </a:rPr>
              <a:t>length</a:t>
            </a:r>
            <a:r>
              <a:rPr sz="1600">
                <a:solidFill>
                  <a:srgbClr val="BCBEC4"/>
                </a:solidFill>
                <a:latin typeface="Consolas"/>
              </a:rPr>
              <a:t>() &gt; LONGUEUR_MAX)  </a:t>
            </a:r>
            <a:r>
              <a:rPr sz="1600">
                <a:solidFill>
                  <a:srgbClr val="7A7E85"/>
                </a:solidFill>
                <a:latin typeface="Consolas"/>
              </a:rPr>
              <a:t>// 2. garder les longs</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map</a:t>
            </a:r>
            <a:r>
              <a:rPr sz="1600">
                <a:solidFill>
                  <a:srgbClr val="BCBEC4"/>
                </a:solidFill>
                <a:latin typeface="Consolas"/>
              </a:rPr>
              <a:t>(titre -&gt; titre.</a:t>
            </a:r>
            <a:r>
              <a:rPr sz="1600">
                <a:solidFill>
                  <a:srgbClr val="56A8F5"/>
                </a:solidFill>
                <a:latin typeface="Consolas"/>
              </a:rPr>
              <a:t>toUpperCase</a:t>
            </a:r>
            <a:r>
              <a:rPr sz="1600">
                <a:solidFill>
                  <a:srgbClr val="BCBEC4"/>
                </a:solidFill>
                <a:latin typeface="Consolas"/>
              </a:rPr>
              <a:t>())               </a:t>
            </a:r>
            <a:r>
              <a:rPr sz="1600">
                <a:solidFill>
                  <a:srgbClr val="7A7E85"/>
                </a:solidFill>
                <a:latin typeface="Consolas"/>
              </a:rPr>
              <a:t>// 3. mettre en majuscules</a:t>
            </a:r>
          </a:p>
          <a:p>
            <a:pPr>
              <a:lnSpc>
                <a:spcPct val="100000"/>
              </a:lnSpc>
              <a:spcBef>
                <a:spcPts val="0"/>
              </a:spcBef>
              <a:spcAft>
                <a:spcPts val="0"/>
              </a:spcAft>
            </a:pPr>
            <a:r>
              <a:rPr sz="1600">
                <a:solidFill>
                  <a:srgbClr val="BCBEC4"/>
                </a:solidFill>
                <a:latin typeface="Consolas"/>
              </a:rPr>
              <a:t>        .</a:t>
            </a:r>
            <a:r>
              <a:rPr sz="1600">
                <a:solidFill>
                  <a:srgbClr val="56A8F5"/>
                </a:solidFill>
                <a:latin typeface="Consolas"/>
              </a:rPr>
              <a:t>collect</a:t>
            </a:r>
            <a:r>
              <a:rPr sz="1600">
                <a:solidFill>
                  <a:srgbClr val="BCBEC4"/>
                </a:solidFill>
                <a:latin typeface="Consolas"/>
              </a:rPr>
              <a:t>(Collectors.</a:t>
            </a:r>
            <a:r>
              <a:rPr sz="1600">
                <a:solidFill>
                  <a:srgbClr val="56A8F5"/>
                </a:solidFill>
                <a:latin typeface="Consolas"/>
              </a:rPr>
              <a:t>joining</a:t>
            </a:r>
            <a:r>
              <a:rPr sz="1600">
                <a:solidFill>
                  <a:srgbClr val="BCBEC4"/>
                </a:solidFill>
                <a:latin typeface="Consolas"/>
              </a:rPr>
              <a:t>(</a:t>
            </a:r>
            <a:r>
              <a:rPr sz="1600">
                <a:solidFill>
                  <a:srgbClr val="6AAB73"/>
                </a:solidFill>
                <a:latin typeface="Consolas"/>
              </a:rPr>
              <a:t>", "</a:t>
            </a:r>
            <a:r>
              <a:rPr sz="1600">
                <a:solidFill>
                  <a:srgbClr val="BCBEC4"/>
                </a:solidFill>
                <a:latin typeface="Consolas"/>
              </a:rPr>
              <a:t>));              </a:t>
            </a:r>
            <a:r>
              <a:rPr sz="1600">
                <a:solidFill>
                  <a:srgbClr val="7A7E85"/>
                </a:solidFill>
                <a:latin typeface="Consolas"/>
              </a:rPr>
              <a:t>// 4. joindre en un texte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stream, étape par étape</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Suivons quatre titres à travers les étapes, avec </a:t>
            </a:r>
            <a:r>
              <a:rPr sz="2000">
                <a:solidFill>
                  <a:schemeClr val="accent4"/>
                </a:solidFill>
                <a:latin typeface="Consolas"/>
              </a:rPr>
              <a:t>LONGUEUR_MAX</a:t>
            </a:r>
            <a:r>
              <a:rPr sz="2200">
                <a:solidFill>
                  <a:srgbClr val="FFFFFF"/>
                </a:solidFill>
              </a:rPr>
              <a:t> = 8.</a:t>
            </a:r>
          </a:p>
        </p:txBody>
      </p:sp>
      <p:sp>
        <p:nvSpPr>
          <p:cNvPr id="4" name="TextBox 3"/>
          <p:cNvSpPr txBox="1"/>
          <p:nvPr/>
        </p:nvSpPr>
        <p:spPr>
          <a:xfrm>
            <a:off x="777240" y="2271124"/>
            <a:ext cx="2331720" cy="585216"/>
          </a:xfrm>
          <a:prstGeom prst="rect">
            <a:avLst/>
          </a:prstGeom>
          <a:noFill/>
        </p:spPr>
        <p:txBody>
          <a:bodyPr wrap="square" anchor="ctr">
            <a:spAutoFit/>
          </a:bodyPr>
          <a:lstStyle/>
          <a:p>
            <a:r>
              <a:rPr sz="2000" b="1">
                <a:solidFill>
                  <a:schemeClr val="accent4"/>
                </a:solidFill>
              </a:rPr>
              <a:t>Étape</a:t>
            </a:r>
          </a:p>
        </p:txBody>
      </p:sp>
      <p:sp>
        <p:nvSpPr>
          <p:cNvPr id="5" name="TextBox 4"/>
          <p:cNvSpPr txBox="1"/>
          <p:nvPr/>
        </p:nvSpPr>
        <p:spPr>
          <a:xfrm>
            <a:off x="3200400" y="2271124"/>
            <a:ext cx="8183879" cy="585216"/>
          </a:xfrm>
          <a:prstGeom prst="rect">
            <a:avLst/>
          </a:prstGeom>
          <a:noFill/>
        </p:spPr>
        <p:txBody>
          <a:bodyPr wrap="square" anchor="ctr">
            <a:spAutoFit/>
          </a:bodyPr>
          <a:lstStyle/>
          <a:p>
            <a:r>
              <a:rPr sz="2000" b="1">
                <a:solidFill>
                  <a:schemeClr val="accent4"/>
                </a:solidFill>
              </a:rPr>
              <a:t>Ce qui en sort</a:t>
            </a:r>
          </a:p>
        </p:txBody>
      </p:sp>
      <p:sp>
        <p:nvSpPr>
          <p:cNvPr id="2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grpSp>
        <p:nvGrpSpPr>
          <p:cNvPr id="19" name="Ligne 1"/>
          <p:cNvGrpSpPr/>
          <p:nvPr/>
        </p:nvGrpSpPr>
        <p:grpSpPr>
          <a:xfrm>
            <a:off x="640080" y="2929492"/>
            <a:ext cx="10881360" cy="585216"/>
            <a:chOff x="640080" y="2670048"/>
            <a:chExt cx="10881360" cy="585216"/>
          </a:xfrm>
        </p:grpSpPr>
        <p:sp>
          <p:nvSpPr>
            <p:cNvPr id="6" name="Rounded Rectangle 5"/>
            <p:cNvSpPr/>
            <p:nvPr/>
          </p:nvSpPr>
          <p:spPr>
            <a:xfrm>
              <a:off x="640080" y="2670048"/>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670048"/>
              <a:ext cx="2331720" cy="585216"/>
            </a:xfrm>
            <a:prstGeom prst="rect">
              <a:avLst/>
            </a:prstGeom>
            <a:noFill/>
          </p:spPr>
          <p:txBody>
            <a:bodyPr wrap="square" anchor="ctr">
              <a:spAutoFit/>
            </a:bodyPr>
            <a:lstStyle/>
            <a:p>
              <a:r>
                <a:rPr sz="2200">
                  <a:solidFill>
                    <a:srgbClr val="FFFFFF"/>
                  </a:solidFill>
                </a:rPr>
                <a:t>1. </a:t>
              </a:r>
              <a:r>
                <a:rPr sz="2000">
                  <a:solidFill>
                    <a:schemeClr val="accent4"/>
                  </a:solidFill>
                  <a:latin typeface="Consolas"/>
                </a:rPr>
                <a:t>stream</a:t>
              </a:r>
            </a:p>
          </p:txBody>
        </p:sp>
        <p:sp>
          <p:nvSpPr>
            <p:cNvPr id="8" name="TextBox 7"/>
            <p:cNvSpPr txBox="1"/>
            <p:nvPr/>
          </p:nvSpPr>
          <p:spPr>
            <a:xfrm>
              <a:off x="3200400" y="2670048"/>
              <a:ext cx="8183879" cy="585216"/>
            </a:xfrm>
            <a:prstGeom prst="rect">
              <a:avLst/>
            </a:prstGeom>
            <a:noFill/>
          </p:spPr>
          <p:txBody>
            <a:bodyPr wrap="square" anchor="ctr">
              <a:spAutoFit/>
            </a:bodyPr>
            <a:lstStyle/>
            <a:p>
              <a:r>
                <a:rPr sz="2200">
                  <a:solidFill>
                    <a:srgbClr val="FFFFFF"/>
                  </a:solidFill>
                </a:rPr>
                <a:t>Nana · La Débâcle · Germinal · Le Docteur Pascal</a:t>
              </a:r>
            </a:p>
          </p:txBody>
        </p:sp>
      </p:grpSp>
      <p:grpSp>
        <p:nvGrpSpPr>
          <p:cNvPr id="20" name="Ligne 2"/>
          <p:cNvGrpSpPr/>
          <p:nvPr/>
        </p:nvGrpSpPr>
        <p:grpSpPr>
          <a:xfrm>
            <a:off x="640080" y="3587859"/>
            <a:ext cx="10881360" cy="585216"/>
            <a:chOff x="640080" y="3328415"/>
            <a:chExt cx="10881360" cy="585216"/>
          </a:xfrm>
        </p:grpSpPr>
        <p:sp>
          <p:nvSpPr>
            <p:cNvPr id="9" name="Rounded Rectangle 8"/>
            <p:cNvSpPr/>
            <p:nvPr/>
          </p:nvSpPr>
          <p:spPr>
            <a:xfrm>
              <a:off x="640080" y="332841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328415"/>
              <a:ext cx="2331720" cy="585216"/>
            </a:xfrm>
            <a:prstGeom prst="rect">
              <a:avLst/>
            </a:prstGeom>
            <a:noFill/>
          </p:spPr>
          <p:txBody>
            <a:bodyPr wrap="square" anchor="ctr">
              <a:spAutoFit/>
            </a:bodyPr>
            <a:lstStyle/>
            <a:p>
              <a:r>
                <a:rPr sz="2200">
                  <a:solidFill>
                    <a:srgbClr val="FFFFFF"/>
                  </a:solidFill>
                </a:rPr>
                <a:t>2. </a:t>
              </a:r>
              <a:r>
                <a:rPr sz="2000">
                  <a:solidFill>
                    <a:schemeClr val="accent4"/>
                  </a:solidFill>
                  <a:latin typeface="Consolas"/>
                </a:rPr>
                <a:t>filter</a:t>
              </a:r>
            </a:p>
          </p:txBody>
        </p:sp>
        <p:sp>
          <p:nvSpPr>
            <p:cNvPr id="11" name="TextBox 10"/>
            <p:cNvSpPr txBox="1"/>
            <p:nvPr/>
          </p:nvSpPr>
          <p:spPr>
            <a:xfrm>
              <a:off x="3200400" y="3328415"/>
              <a:ext cx="8183879" cy="585216"/>
            </a:xfrm>
            <a:prstGeom prst="rect">
              <a:avLst/>
            </a:prstGeom>
            <a:noFill/>
          </p:spPr>
          <p:txBody>
            <a:bodyPr wrap="square" anchor="ctr">
              <a:spAutoFit/>
            </a:bodyPr>
            <a:lstStyle/>
            <a:p>
              <a:r>
                <a:rPr sz="2200">
                  <a:solidFill>
                    <a:srgbClr val="FFFFFF"/>
                  </a:solidFill>
                </a:rPr>
                <a:t>La Débâcle · Le Docteur Pascal</a:t>
              </a:r>
            </a:p>
          </p:txBody>
        </p:sp>
      </p:grpSp>
      <p:grpSp>
        <p:nvGrpSpPr>
          <p:cNvPr id="21" name="Ligne 3"/>
          <p:cNvGrpSpPr/>
          <p:nvPr/>
        </p:nvGrpSpPr>
        <p:grpSpPr>
          <a:xfrm>
            <a:off x="640080" y="4246227"/>
            <a:ext cx="10881360" cy="585216"/>
            <a:chOff x="640080" y="3986783"/>
            <a:chExt cx="10881360" cy="585216"/>
          </a:xfrm>
        </p:grpSpPr>
        <p:sp>
          <p:nvSpPr>
            <p:cNvPr id="12" name="Rounded Rectangle 11"/>
            <p:cNvSpPr/>
            <p:nvPr/>
          </p:nvSpPr>
          <p:spPr>
            <a:xfrm>
              <a:off x="640080" y="398678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986783"/>
              <a:ext cx="2331720" cy="585216"/>
            </a:xfrm>
            <a:prstGeom prst="rect">
              <a:avLst/>
            </a:prstGeom>
            <a:noFill/>
          </p:spPr>
          <p:txBody>
            <a:bodyPr wrap="square" anchor="ctr">
              <a:spAutoFit/>
            </a:bodyPr>
            <a:lstStyle/>
            <a:p>
              <a:r>
                <a:rPr sz="2200">
                  <a:solidFill>
                    <a:srgbClr val="FFFFFF"/>
                  </a:solidFill>
                </a:rPr>
                <a:t>3. </a:t>
              </a:r>
              <a:r>
                <a:rPr sz="2000">
                  <a:solidFill>
                    <a:schemeClr val="accent4"/>
                  </a:solidFill>
                  <a:latin typeface="Consolas"/>
                </a:rPr>
                <a:t>map</a:t>
              </a:r>
            </a:p>
          </p:txBody>
        </p:sp>
        <p:sp>
          <p:nvSpPr>
            <p:cNvPr id="14" name="TextBox 13"/>
            <p:cNvSpPr txBox="1"/>
            <p:nvPr/>
          </p:nvSpPr>
          <p:spPr>
            <a:xfrm>
              <a:off x="3200400" y="3986783"/>
              <a:ext cx="8183879" cy="585216"/>
            </a:xfrm>
            <a:prstGeom prst="rect">
              <a:avLst/>
            </a:prstGeom>
            <a:noFill/>
          </p:spPr>
          <p:txBody>
            <a:bodyPr wrap="square" anchor="ctr">
              <a:spAutoFit/>
            </a:bodyPr>
            <a:lstStyle/>
            <a:p>
              <a:r>
                <a:rPr sz="2200">
                  <a:solidFill>
                    <a:srgbClr val="FFFFFF"/>
                  </a:solidFill>
                </a:rPr>
                <a:t>LA DÉBÂCLE · LE DOCTEUR PASCAL</a:t>
              </a:r>
            </a:p>
          </p:txBody>
        </p:sp>
      </p:grpSp>
      <p:grpSp>
        <p:nvGrpSpPr>
          <p:cNvPr id="22" name="Ligne 4"/>
          <p:cNvGrpSpPr/>
          <p:nvPr/>
        </p:nvGrpSpPr>
        <p:grpSpPr>
          <a:xfrm>
            <a:off x="640080" y="4904595"/>
            <a:ext cx="10881360" cy="585216"/>
            <a:chOff x="640080" y="4645151"/>
            <a:chExt cx="10881360" cy="585216"/>
          </a:xfrm>
        </p:grpSpPr>
        <p:sp>
          <p:nvSpPr>
            <p:cNvPr id="15" name="Rounded Rectangle 14"/>
            <p:cNvSpPr/>
            <p:nvPr/>
          </p:nvSpPr>
          <p:spPr>
            <a:xfrm>
              <a:off x="640080" y="464515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645151"/>
              <a:ext cx="2331720" cy="585216"/>
            </a:xfrm>
            <a:prstGeom prst="rect">
              <a:avLst/>
            </a:prstGeom>
            <a:noFill/>
          </p:spPr>
          <p:txBody>
            <a:bodyPr wrap="square" anchor="ctr">
              <a:spAutoFit/>
            </a:bodyPr>
            <a:lstStyle/>
            <a:p>
              <a:r>
                <a:rPr sz="2200">
                  <a:solidFill>
                    <a:srgbClr val="FFFFFF"/>
                  </a:solidFill>
                </a:rPr>
                <a:t>4. </a:t>
              </a:r>
              <a:r>
                <a:rPr sz="2000">
                  <a:solidFill>
                    <a:schemeClr val="accent4"/>
                  </a:solidFill>
                  <a:latin typeface="Consolas"/>
                </a:rPr>
                <a:t>collect</a:t>
              </a:r>
            </a:p>
          </p:txBody>
        </p:sp>
        <p:sp>
          <p:nvSpPr>
            <p:cNvPr id="17" name="TextBox 16"/>
            <p:cNvSpPr txBox="1"/>
            <p:nvPr/>
          </p:nvSpPr>
          <p:spPr>
            <a:xfrm>
              <a:off x="3200400" y="4645151"/>
              <a:ext cx="8183879" cy="585216"/>
            </a:xfrm>
            <a:prstGeom prst="rect">
              <a:avLst/>
            </a:prstGeom>
            <a:noFill/>
          </p:spPr>
          <p:txBody>
            <a:bodyPr wrap="square" anchor="ctr">
              <a:spAutoFit/>
            </a:bodyPr>
            <a:lstStyle/>
            <a:p>
              <a:r>
                <a:rPr sz="2200">
                  <a:solidFill>
                    <a:srgbClr val="FFFFFF"/>
                  </a:solidFill>
                </a:rPr>
                <a:t>"LA DÉBÂCLE, LE DOCTEUR PASCAL"</a:t>
              </a:r>
            </a:p>
          </p:txBody>
        </p:sp>
      </p:grpSp>
      <p:sp>
        <p:nvSpPr>
          <p:cNvPr id="24" name="Code">
            <a:extLst>
              <a:ext uri="{FF2B5EF4-FFF2-40B4-BE49-F238E27FC236}">
                <a16:creationId xmlns:a16="http://schemas.microsoft.com/office/drawing/2014/main" id="{3D53DE99-DA8A-0712-5767-420CE4CB1865}"/>
              </a:ext>
            </a:extLst>
          </p:cNvPr>
          <p:cNvSpPr txBox="1"/>
          <p:nvPr/>
        </p:nvSpPr>
        <p:spPr>
          <a:xfrm>
            <a:off x="6914648" y="1734203"/>
            <a:ext cx="4606792" cy="935845"/>
          </a:xfrm>
          <a:prstGeom prst="roundRect">
            <a:avLst>
              <a:gd name="adj" fmla="val 731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200" dirty="0">
                <a:solidFill>
                  <a:srgbClr val="BCBEC4"/>
                </a:solidFill>
                <a:latin typeface="Consolas"/>
              </a:rPr>
              <a:t>String longs = </a:t>
            </a:r>
            <a:r>
              <a:rPr sz="1200" dirty="0" err="1">
                <a:solidFill>
                  <a:srgbClr val="BCBEC4"/>
                </a:solidFill>
                <a:latin typeface="Consolas"/>
              </a:rPr>
              <a:t>titres.</a:t>
            </a:r>
            <a:r>
              <a:rPr sz="1200" dirty="0" err="1">
                <a:solidFill>
                  <a:srgbClr val="56A8F5"/>
                </a:solidFill>
                <a:latin typeface="Consolas"/>
              </a:rPr>
              <a:t>stream</a:t>
            </a:r>
            <a:r>
              <a:rPr sz="1200" dirty="0">
                <a:solidFill>
                  <a:srgbClr val="BCBEC4"/>
                </a:solidFill>
                <a:latin typeface="Consolas"/>
              </a:rPr>
              <a:t>()</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filter</a:t>
            </a:r>
            <a:r>
              <a:rPr sz="1200" dirty="0">
                <a:solidFill>
                  <a:srgbClr val="BCBEC4"/>
                </a:solidFill>
                <a:latin typeface="Consolas"/>
              </a:rPr>
              <a:t>(</a:t>
            </a:r>
            <a:r>
              <a:rPr sz="1200" dirty="0" err="1">
                <a:solidFill>
                  <a:srgbClr val="BCBEC4"/>
                </a:solidFill>
                <a:latin typeface="Consolas"/>
              </a:rPr>
              <a:t>titre</a:t>
            </a:r>
            <a:r>
              <a:rPr sz="1200" dirty="0">
                <a:solidFill>
                  <a:srgbClr val="BCBEC4"/>
                </a:solidFill>
                <a:latin typeface="Consolas"/>
              </a:rPr>
              <a:t> -&gt; </a:t>
            </a:r>
            <a:r>
              <a:rPr sz="1200" dirty="0" err="1">
                <a:solidFill>
                  <a:srgbClr val="BCBEC4"/>
                </a:solidFill>
                <a:latin typeface="Consolas"/>
              </a:rPr>
              <a:t>titre.</a:t>
            </a:r>
            <a:r>
              <a:rPr sz="1200" dirty="0" err="1">
                <a:solidFill>
                  <a:srgbClr val="56A8F5"/>
                </a:solidFill>
                <a:latin typeface="Consolas"/>
              </a:rPr>
              <a:t>length</a:t>
            </a:r>
            <a:r>
              <a:rPr sz="1200" dirty="0">
                <a:solidFill>
                  <a:srgbClr val="BCBEC4"/>
                </a:solidFill>
                <a:latin typeface="Consolas"/>
              </a:rPr>
              <a:t>() &gt; LONGUEUR_MAX) </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map</a:t>
            </a:r>
            <a:r>
              <a:rPr sz="1200" dirty="0">
                <a:solidFill>
                  <a:srgbClr val="BCBEC4"/>
                </a:solidFill>
                <a:latin typeface="Consolas"/>
              </a:rPr>
              <a:t>(</a:t>
            </a:r>
            <a:r>
              <a:rPr sz="1200" dirty="0" err="1">
                <a:solidFill>
                  <a:srgbClr val="BCBEC4"/>
                </a:solidFill>
                <a:latin typeface="Consolas"/>
              </a:rPr>
              <a:t>titre</a:t>
            </a:r>
            <a:r>
              <a:rPr sz="1200" dirty="0">
                <a:solidFill>
                  <a:srgbClr val="BCBEC4"/>
                </a:solidFill>
                <a:latin typeface="Consolas"/>
              </a:rPr>
              <a:t> -&gt; </a:t>
            </a:r>
            <a:r>
              <a:rPr sz="1200" dirty="0" err="1">
                <a:solidFill>
                  <a:srgbClr val="BCBEC4"/>
                </a:solidFill>
                <a:latin typeface="Consolas"/>
              </a:rPr>
              <a:t>titre.</a:t>
            </a:r>
            <a:r>
              <a:rPr sz="1200" dirty="0" err="1">
                <a:solidFill>
                  <a:srgbClr val="56A8F5"/>
                </a:solidFill>
                <a:latin typeface="Consolas"/>
              </a:rPr>
              <a:t>toUpperCase</a:t>
            </a:r>
            <a:r>
              <a:rPr sz="1200" dirty="0">
                <a:solidFill>
                  <a:srgbClr val="BCBEC4"/>
                </a:solidFill>
                <a:latin typeface="Consolas"/>
              </a:rPr>
              <a:t>()) </a:t>
            </a:r>
            <a:br>
              <a:rPr lang="nl-BE" sz="1200" dirty="0">
                <a:solidFill>
                  <a:srgbClr val="BCBEC4"/>
                </a:solidFill>
                <a:latin typeface="Consolas"/>
              </a:rPr>
            </a:br>
            <a:r>
              <a:rPr lang="nl-BE" sz="1200" dirty="0">
                <a:solidFill>
                  <a:srgbClr val="BCBEC4"/>
                </a:solidFill>
                <a:latin typeface="Consolas"/>
              </a:rPr>
              <a:t>    </a:t>
            </a:r>
            <a:r>
              <a:rPr sz="1200" dirty="0">
                <a:solidFill>
                  <a:srgbClr val="BCBEC4"/>
                </a:solidFill>
                <a:latin typeface="Consolas"/>
              </a:rPr>
              <a:t>.</a:t>
            </a:r>
            <a:r>
              <a:rPr sz="1200" dirty="0">
                <a:solidFill>
                  <a:srgbClr val="56A8F5"/>
                </a:solidFill>
                <a:latin typeface="Consolas"/>
              </a:rPr>
              <a:t>collect</a:t>
            </a:r>
            <a:r>
              <a:rPr sz="1200" dirty="0">
                <a:solidFill>
                  <a:srgbClr val="BCBEC4"/>
                </a:solidFill>
                <a:latin typeface="Consolas"/>
              </a:rPr>
              <a:t>(</a:t>
            </a:r>
            <a:r>
              <a:rPr sz="1200" dirty="0" err="1">
                <a:solidFill>
                  <a:srgbClr val="BCBEC4"/>
                </a:solidFill>
                <a:latin typeface="Consolas"/>
              </a:rPr>
              <a:t>Collectors.</a:t>
            </a:r>
            <a:r>
              <a:rPr sz="1200" dirty="0" err="1">
                <a:solidFill>
                  <a:srgbClr val="56A8F5"/>
                </a:solidFill>
                <a:latin typeface="Consolas"/>
              </a:rPr>
              <a:t>joining</a:t>
            </a:r>
            <a:r>
              <a:rPr sz="1200" dirty="0">
                <a:solidFill>
                  <a:srgbClr val="BCBEC4"/>
                </a:solidFill>
                <a:latin typeface="Consolas"/>
              </a:rPr>
              <a:t>(</a:t>
            </a:r>
            <a:r>
              <a:rPr sz="1200" dirty="0">
                <a:solidFill>
                  <a:srgbClr val="6AAB73"/>
                </a:solidFill>
                <a:latin typeface="Consolas"/>
              </a:rPr>
              <a:t>", "</a:t>
            </a:r>
            <a:r>
              <a:rPr sz="1200" dirty="0">
                <a:solidFill>
                  <a:srgbClr val="BCBEC4"/>
                </a:solidFill>
                <a:latin typeface="Consolas"/>
              </a:rPr>
              <a:t>));</a:t>
            </a:r>
            <a:endParaRPr sz="1200" dirty="0">
              <a:solidFill>
                <a:srgbClr val="7A7E85"/>
              </a:solidFill>
              <a:latin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LAM.3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Celle du JDK, et les références de méthodes</a:t>
            </a:r>
          </a:p>
          <a:p>
            <a:r>
              <a:rPr sz="1400">
                <a:solidFill>
                  <a:srgbClr val="BCBEC4"/>
                </a:solidFill>
              </a:rPr>
              <a:t>fascicule LAM</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un critère : CC-NOM.1 ; une seule chose à la fois : CC-MET.3</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Vous les retrouverez au module FX</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bouton reçoit le comportement à déclencher au clic</a:t>
            </a:r>
          </a:p>
          <a:p>
            <a:pPr marL="0" indent="0">
              <a:spcAft>
                <a:spcPts val="1000"/>
              </a:spcAft>
              <a:buNone/>
            </a:pPr>
            <a:r>
              <a:rPr sz="2800"/>
              <a:t>Le type cible est </a:t>
            </a:r>
            <a:r>
              <a:rPr sz="2400">
                <a:solidFill>
                  <a:schemeClr val="accent4"/>
                </a:solidFill>
                <a:latin typeface="Consolas"/>
              </a:rPr>
              <a:t>EventHandler</a:t>
            </a:r>
            <a:r>
              <a:rPr sz="2800"/>
              <a:t>, une interface fonctionnelle</a:t>
            </a:r>
          </a:p>
          <a:p>
            <a:pPr marL="0" indent="0">
              <a:spcAft>
                <a:spcPts val="1000"/>
              </a:spcAft>
              <a:buNone/>
            </a:pPr>
            <a:r>
              <a:rPr sz="2800"/>
              <a:t>Le module FX dira le reste</a:t>
            </a:r>
          </a:p>
        </p:txBody>
      </p:sp>
      <p:sp>
        <p:nvSpPr>
          <p:cNvPr id="4" name="Code"/>
          <p:cNvSpPr txBox="1"/>
          <p:nvPr/>
        </p:nvSpPr>
        <p:spPr>
          <a:xfrm>
            <a:off x="2520950" y="3733799"/>
            <a:ext cx="7150100"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bouton.</a:t>
            </a:r>
            <a:r>
              <a:rPr sz="1800">
                <a:solidFill>
                  <a:srgbClr val="56A8F5"/>
                </a:solidFill>
                <a:latin typeface="Consolas"/>
              </a:rPr>
              <a:t>setOnAction</a:t>
            </a:r>
            <a:r>
              <a:rPr sz="1800">
                <a:solidFill>
                  <a:srgbClr val="BCBEC4"/>
                </a:solidFill>
                <a:latin typeface="Consolas"/>
              </a:rPr>
              <a:t>(evenement -&gt; </a:t>
            </a:r>
            <a:r>
              <a:rPr sz="1800">
                <a:solidFill>
                  <a:srgbClr val="56A8F5"/>
                </a:solidFill>
                <a:latin typeface="Consolas"/>
              </a:rPr>
              <a:t>afficherTotal</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Une fabrique sans </a:t>
            </a:r>
            <a:r>
              <a:rPr sz="2000">
                <a:solidFill>
                  <a:schemeClr val="accent4"/>
                </a:solidFill>
                <a:latin typeface="Consolas"/>
              </a:rPr>
              <a:t>switch</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Relire G.17 : une stratégie est un comportement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LAM · </a:t>
            </a:r>
            <a:r>
              <a:rPr sz="1100" b="1">
                <a:solidFill>
                  <a:schemeClr val="accent4"/>
                </a:solidFill>
              </a:rPr>
              <a:t>3. JDK et références</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115004</TotalTime>
  <Words>4077</Words>
  <Application>Microsoft Macintosh PowerPoint</Application>
  <PresentationFormat>Grand écran</PresentationFormat>
  <Paragraphs>256</Paragraphs>
  <Slides>21</Slides>
  <Notes>21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21</vt:i4>
      </vt:variant>
    </vt:vector>
  </HeadingPairs>
  <TitlesOfParts>
    <vt:vector size="27" baseType="lpstr">
      <vt:lpstr>Aptos</vt:lpstr>
      <vt:lpstr>Arial</vt:lpstr>
      <vt:lpstr>Calibri</vt:lpstr>
      <vt:lpstr>Consolas</vt:lpstr>
      <vt:lpstr>Corbel</vt:lpstr>
      <vt:lpstr>ThemeEphec2022</vt:lpstr>
      <vt:lpstr>JAVA 2</vt:lpstr>
      <vt:lpstr>Au programme</vt:lpstr>
      <vt:lpstr>Présentation PowerPoint</vt:lpstr>
      <vt:lpstr>Vous passez déjà des comportements</vt:lpstr>
      <vt:lpstr>La classe anonyme</vt:lpstr>
      <vt:lpstr>Démonstration</vt:lpstr>
      <vt:lpstr>Présentation PowerPoint</vt:lpstr>
      <vt:lpstr>La lambda : ce qui reste</vt:lpstr>
      <vt:lpstr>Rappel : l'interface fonctionnelle</vt:lpstr>
      <vt:lpstr>Le type de la lambda vient du contexte</vt:lpstr>
      <vt:lpstr>Les formes d'une lambda</vt:lpstr>
      <vt:lpstr>Exercices</vt:lpstr>
      <vt:lpstr>Présentation PowerPoint</vt:lpstr>
      <vt:lpstr>Les interfaces de java.util.function</vt:lpstr>
      <vt:lpstr>Les méthodes de COL, sans classe</vt:lpstr>
      <vt:lpstr>La référence de méthode</vt:lpstr>
      <vt:lpstr>Un stream, en passant</vt:lpstr>
      <vt:lpstr>Le stream, étape par étape</vt:lpstr>
      <vt:lpstr>Exercices</vt:lpstr>
      <vt:lpstr>Vous les retrouverez au module FX</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2026-10-15T17:23:19Z</dcterms:modified>
</cp:coreProperties>
</file>