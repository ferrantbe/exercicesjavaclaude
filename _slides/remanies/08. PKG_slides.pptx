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3"/>
  </p:notesMasterIdLst>
  <p:handoutMasterIdLst>
    <p:handoutMasterId r:id="rId34"/>
  </p:handoutMasterIdLst>
  <p:sldIdLst>
    <p:sldId id="568" r:id="rId2"/>
    <p:sldId id="598" r:id="rId3"/>
    <p:sldId id="569" r:id="rId4"/>
    <p:sldId id="570" r:id="rId5"/>
    <p:sldId id="571" r:id="rId6"/>
    <p:sldId id="572" r:id="rId7"/>
    <p:sldId id="573" r:id="rId8"/>
    <p:sldId id="574" r:id="rId9"/>
    <p:sldId id="599"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595" r:id="rId30"/>
    <p:sldId id="596" r:id="rId31"/>
    <p:sldId id="59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F87E6D4-B330-51F2-8B67-496E78BFD3AE}">
          <p14:sldIdLst>
            <p14:sldId id="568"/>
            <p14:sldId id="598"/>
          </p14:sldIdLst>
        </p14:section>
        <p14:section name="1. Packages et dossiers" id="{26472FA4-583A-5FF9-9F4E-33B0B4CC7EF2}">
          <p14:sldIdLst>
            <p14:sldId id="569"/>
            <p14:sldId id="570"/>
            <p14:sldId id="571"/>
            <p14:sldId id="572"/>
            <p14:sldId id="573"/>
          </p14:sldIdLst>
        </p14:section>
        <p14:section name="2. La visibilité de package" id="{B4E80318-C139-5CDE-A17F-4410F006DD3D}">
          <p14:sldIdLst>
            <p14:sldId id="574"/>
            <p14:sldId id="599"/>
            <p14:sldId id="576"/>
            <p14:sldId id="577"/>
            <p14:sldId id="578"/>
          </p14:sldIdLst>
        </p14:section>
        <p14:section name="3. Champ public ou accesseur" id="{3BE160C0-C2D1-5F9C-89C9-59F9BF2FE39D}">
          <p14:sldIdLst>
            <p14:sldId id="579"/>
            <p14:sldId id="580"/>
            <p14:sldId id="581"/>
            <p14:sldId id="582"/>
          </p14:sldIdLst>
        </p14:section>
        <p14:section name="4. Réduire la surface publique" id="{03542E65-0E69-51AC-A84C-E269E17A0867}">
          <p14:sldIdLst>
            <p14:sldId id="583"/>
            <p14:sldId id="584"/>
            <p14:sldId id="585"/>
            <p14:sldId id="586"/>
            <p14:sldId id="587"/>
          </p14:sldIdLst>
        </p14:section>
        <p14:section name="5. Découper en packages" id="{713F2F53-9E64-5FFB-A9A6-0879F6EB5126}">
          <p14:sldIdLst>
            <p14:sldId id="588"/>
            <p14:sldId id="589"/>
            <p14:sldId id="590"/>
            <p14:sldId id="591"/>
            <p14:sldId id="592"/>
          </p14:sldIdLst>
        </p14:section>
        <p14:section name="6. Quatrième niveau : protected" id="{79CE602F-3E8C-5B4A-B64D-93C5F5036EAD}">
          <p14:sldIdLst>
            <p14:sldId id="593"/>
            <p14:sldId id="594"/>
            <p14:sldId id="595"/>
            <p14:sldId id="596"/>
            <p14:sldId id="5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varScale="1">
        <p:scale>
          <a:sx n="122" d="100"/>
          <a:sy n="122" d="100"/>
        </p:scale>
        <p:origin x="1384"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modules précédents ont montré comment des classes partagent du code et collaborent. Celui-ci pose une question qu'on a laissée de côté jusqu'ici : qui a le droit de voir quoi.</a:t>
            </a:r>
          </a:p>
          <a:p>
            <a:r>
              <a:t>Vous avez jusqu'ici écrit </a:t>
            </a:r>
            <a:r>
              <a:rPr>
                <a:latin typeface="Consolas"/>
              </a:rPr>
              <a:t>private</a:t>
            </a:r>
            <a:r>
              <a:t> devant les champs et </a:t>
            </a:r>
            <a:r>
              <a:rPr>
                <a:latin typeface="Consolas"/>
              </a:rPr>
              <a:t>public</a:t>
            </a:r>
            <a:r>
              <a:t> devant le reste, souvent par habitude. Le module donne à ce choix ses raisons, et y ajoute un niveau que la plupart des programmeurs emploient sans le savoir.</a:t>
            </a:r>
          </a:p>
          <a:p>
            <a:r>
              <a:t>La question n'est pas théorique. Elle se pose à chaque classe de la quatrième question d'examen, où il faut décider ce que la classe mère montre à ses filles, et ce qu'elle cache au reste du programme.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Packages et dossiers ; 2. La visibilité de package ; 3. Champ public ou accesseur ; 4. Réduire la surface publique ; 5. Découper en packages ; 6. Quatrième niveau : protected.</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rencontré la règle au module POO, avec la classe </a:t>
            </a:r>
            <a:r>
              <a:rPr>
                <a:latin typeface="Consolas"/>
              </a:rPr>
              <a:t>Personne</a:t>
            </a:r>
            <a:r>
              <a:t> du package </a:t>
            </a:r>
            <a:r>
              <a:rPr>
                <a:latin typeface="Consolas"/>
              </a:rPr>
              <a:t>progoo</a:t>
            </a:r>
            <a:r>
              <a:t>. Elle se précise ici : un nom de package à plusieurs segments correspond à autant de dossiers imbriqués.</a:t>
            </a:r>
          </a:p>
          <a:p>
            <a:r>
              <a:t>L'usage est de commencer par le nom de domaine de l'organisation, à l'envers : </a:t>
            </a:r>
            <a:r>
              <a:rPr>
                <a:latin typeface="Consolas"/>
              </a:rPr>
              <a:t>be.ephec</a:t>
            </a:r>
            <a:r>
              <a:t> pour l'EPHEC. Deux équipes qui écrivent chacune une classe </a:t>
            </a:r>
            <a:r>
              <a:rPr>
                <a:latin typeface="Consolas"/>
              </a:rPr>
              <a:t>Livre</a:t>
            </a:r>
            <a:r>
              <a:t> ne se gênent alors jamais. Les exercices suivent la même logique, avec </a:t>
            </a:r>
            <a:r>
              <a:rPr>
                <a:latin typeface="Consolas"/>
              </a:rPr>
              <a:t>be.ephec.java.pkg.e01</a:t>
            </a:r>
            <a:r>
              <a:t> pour le premier exercice de ce thème.</a:t>
            </a:r>
          </a:p>
          <a:p>
            <a:r>
              <a:t>IntelliJ crée les dossiers quand vous créez un package, et signale tout écart entre la ligne </a:t>
            </a:r>
            <a:r>
              <a:rPr>
                <a:latin typeface="Consolas"/>
              </a:rPr>
              <a:t>package</a:t>
            </a:r>
            <a:r>
              <a:t> d'un fichier et le dossier où il se trouve. Un nom de package s'écrit entièrement en minuscules.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nom complet de la classe </a:t>
            </a:r>
            <a:r>
              <a:rPr>
                <a:latin typeface="Consolas"/>
              </a:rPr>
              <a:t>Livre</a:t>
            </a:r>
            <a:r>
              <a:t> est </a:t>
            </a:r>
            <a:r>
              <a:rPr>
                <a:latin typeface="Consolas"/>
              </a:rPr>
              <a:t>be.ephec.biblio.modele.Livre</a:t>
            </a:r>
            <a:r>
              <a:t>. Un </a:t>
            </a:r>
            <a:r>
              <a:rPr>
                <a:latin typeface="Consolas"/>
              </a:rPr>
              <a:t>import</a:t>
            </a:r>
            <a:r>
              <a:t> ne copie rien et ne charge rien : c'est un raccourci d'écriture, qui dit au compilateur où chercher quand il rencontre le nom court. Sans lui, il faudrait écrire le nom complet à chaque fois.</a:t>
            </a:r>
          </a:p>
          <a:p>
            <a:r>
              <a:t>Une classe du même package se passe d'import. Les classes de </a:t>
            </a:r>
            <a:r>
              <a:rPr>
                <a:latin typeface="Consolas"/>
              </a:rPr>
              <a:t>java.lang</a:t>
            </a:r>
            <a:r>
              <a:t> aussi, comme </a:t>
            </a:r>
            <a:r>
              <a:rPr>
                <a:latin typeface="Consolas"/>
              </a:rPr>
              <a:t>String</a:t>
            </a:r>
            <a:r>
              <a:t>, </a:t>
            </a:r>
            <a:r>
              <a:rPr>
                <a:latin typeface="Consolas"/>
              </a:rPr>
              <a:t>Math</a:t>
            </a:r>
            <a:r>
              <a:t> ou </a:t>
            </a:r>
            <a:r>
              <a:rPr>
                <a:latin typeface="Consolas"/>
              </a:rPr>
              <a:t>System</a:t>
            </a:r>
            <a:r>
              <a:t> : le compilateur les importe d'office, ce qui explique que vous ne les ayez jamais importées.</a:t>
            </a:r>
          </a:p>
          <a:p>
            <a:r>
              <a:t>L'écriture </a:t>
            </a:r>
            <a:r>
              <a:rPr>
                <a:latin typeface="Consolas"/>
              </a:rPr>
              <a:t>import java.util.*;</a:t>
            </a:r>
            <a:r>
              <a:t> importe toutes les classes du package </a:t>
            </a:r>
            <a:r>
              <a:rPr>
                <a:latin typeface="Consolas"/>
              </a:rPr>
              <a:t>java.util</a:t>
            </a:r>
            <a:r>
              <a:t>, mais pas celles de ses sous-packages. Quand deux classes portent le même nom court, </a:t>
            </a:r>
            <a:r>
              <a:rPr>
                <a:latin typeface="Consolas"/>
              </a:rPr>
              <a:t>java.util.Date</a:t>
            </a:r>
            <a:r>
              <a:t> et </a:t>
            </a:r>
            <a:r>
              <a:rPr>
                <a:latin typeface="Consolas"/>
              </a:rPr>
              <a:t>java.sql.Date</a:t>
            </a:r>
            <a:r>
              <a:t> par exemple, il faut écrire le nom complet d'au moins l'une des deux.</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L'idée fausse est tenace, et l'ancien support la favorisait en parlant de packages « hiérarchisés ». La hiérarchie existe dans les noms et dans les dossiers. Pour le compilateur, </a:t>
            </a:r>
            <a:r>
              <a:rPr>
                <a:latin typeface="Consolas"/>
              </a:rPr>
              <a:t>be.ephec.biblio</a:t>
            </a:r>
            <a:r>
              <a:t> et </a:t>
            </a:r>
            <a:r>
              <a:rPr>
                <a:latin typeface="Consolas"/>
              </a:rPr>
              <a:t>be.ephec.biblio.modele</a:t>
            </a:r>
            <a:r>
              <a:t> sont deux packages aussi étrangers l'un à l'autre que </a:t>
            </a:r>
            <a:r>
              <a:rPr>
                <a:latin typeface="Consolas"/>
              </a:rPr>
              <a:t>java.util</a:t>
            </a:r>
            <a:r>
              <a:t> et </a:t>
            </a:r>
            <a:r>
              <a:rPr>
                <a:latin typeface="Consolas"/>
              </a:rPr>
              <a:t>java.time</a:t>
            </a:r>
            <a:r>
              <a:t>.</a:t>
            </a:r>
          </a:p>
          <a:p>
            <a:r>
              <a:t>L'arborescence est donc un rangement, pas une famille. Elle aide le lecteur à s'y retrouver, et c'est tout.</a:t>
            </a:r>
          </a:p>
          <a:p>
            <a:r>
              <a:t>Gardez cette slide en tête pour </a:t>
            </a:r>
            <a:r>
              <a:rPr>
                <a:latin typeface="Consolas"/>
              </a:rPr>
              <a:t>PKG.2</a:t>
            </a:r>
            <a:r>
              <a:t> : les deux classes y vivent dans </a:t>
            </a:r>
            <a:r>
              <a:rPr>
                <a:latin typeface="Consolas"/>
              </a:rPr>
              <a:t>e02.coffre</a:t>
            </a:r>
            <a:r>
              <a:t> et </a:t>
            </a:r>
            <a:r>
              <a:rPr>
                <a:latin typeface="Consolas"/>
              </a:rPr>
              <a:t>e02.controle</a:t>
            </a:r>
            <a:r>
              <a:t>, deux sous-packages du même parent, et pourtant deux packages différents.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package est une notion du langage, le dossier racine est une convention de Maven. Maven sépare le code et les tests pour ne pas livrer les seconds avec le premier, mais il les compile dans le même package.</a:t>
            </a:r>
          </a:p>
          <a:p>
            <a:r>
              <a:t>Une classe de test et la classe qu'elle teste sont donc voisines au sens strict, même si l'arborescence d'IntelliJ les affiche dans deux branches différentes. Toutes les classes de test du recueil sont construites ainsi.</a:t>
            </a:r>
          </a:p>
          <a:p>
            <a:r>
              <a:t>La section suivante dira pourquoi ce voisinage compte.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mot de vocabulaire d'abord. </a:t>
            </a:r>
            <a:r>
              <a:rPr>
                <a:latin typeface="Consolas"/>
              </a:rPr>
              <a:t>public</a:t>
            </a:r>
            <a:r>
              <a:t>, </a:t>
            </a:r>
            <a:r>
              <a:rPr>
                <a:latin typeface="Consolas"/>
              </a:rPr>
              <a:t>private</a:t>
            </a:r>
            <a:r>
              <a:t> et les autres s'appellent des modificateurs d'accès. L'ancien support disait « accesseurs », mais dans ce cours un accesseur est une méthode comme </a:t>
            </a:r>
            <a:r>
              <a:rPr>
                <a:latin typeface="Consolas"/>
              </a:rPr>
              <a:t>getTitre</a:t>
            </a:r>
            <a:r>
              <a:t>, et la section 3 en parle.</a:t>
            </a:r>
          </a:p>
          <a:p>
            <a:r>
              <a:t>Le titre parle de membres : c'est le nom commun aux champs et aux méthodes d'une classe. Dans le code de la slide, isbn est un champ, cote et titre sont des méthodes ; tous trois sont des membres de Livre, et chacun a son niveau d'accès. Les modificateurs s'appliquent aussi aux constructeurs, et à la classe elle-même. Il en existe un quatrième, </a:t>
            </a:r>
            <a:r>
              <a:rPr>
                <a:latin typeface="Consolas"/>
              </a:rPr>
              <a:t>protected</a:t>
            </a:r>
            <a:r>
              <a:t>, que vous avez rencontré au module ABS : il attendra la section 6, parce qu'il ne se comprend qu'avec l'héritage.</a:t>
            </a:r>
          </a:p>
          <a:p>
            <a:r>
              <a:t>Retenez les mots exacts de la première ligne : le code de la classe. </a:t>
            </a:r>
            <a:r>
              <a:rPr>
                <a:latin typeface="Consolas"/>
              </a:rPr>
              <a:t>PKG.1</a:t>
            </a:r>
            <a:r>
              <a:t> vous demande ce que cela implique quand deux objets de la même classe se rencontrent. Essayez avant de conclure.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deck POO l'avait signalé en passant : la classe </a:t>
            </a:r>
            <a:r>
              <a:rPr>
                <a:latin typeface="Consolas"/>
              </a:rPr>
              <a:t>Personne</a:t>
            </a:r>
            <a:r>
              <a:t>, déclarée sans modificateur, n'était visible que dans son package. La règle vaut pour tout ce qu'on déclare sans y penser.</a:t>
            </a:r>
          </a:p>
          <a:p>
            <a:r>
              <a:t>Son danger est que rien ne signale qu'on l'a choisi. Tant que toutes les classes vivent dans le même package, ce niveau ne se distingue pas de </a:t>
            </a:r>
            <a:r>
              <a:rPr>
                <a:latin typeface="Consolas"/>
              </a:rPr>
              <a:t>public</a:t>
            </a:r>
            <a:r>
              <a:t> : tout compile, partout. Il se comporte comme </a:t>
            </a:r>
            <a:r>
              <a:rPr>
                <a:latin typeface="Consolas"/>
              </a:rPr>
              <a:t>private</a:t>
            </a:r>
            <a:r>
              <a:t> pour les autres packages, et on ne le découvre que le jour où le programme est découpé.</a:t>
            </a:r>
          </a:p>
          <a:p>
            <a:r>
              <a:t>Il a pourtant un usage délibéré, qui découle de la slide 1.5. Une classe de test vit dans le même package que la classe testée : un membre laissé à ce niveau lui est accessible, sans être ouvert au reste du programme.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programme qui fonctionne, entièrement rangé dans un seul package, et le découpe en trois avec l'outil de refactoring. La compilation se brise aussitôt.</a:t>
            </a:r>
          </a:p>
          <a:p>
            <a:r>
              <a:t>Chaque erreur désigne un endroit où le code s'appuyait sur une proximité qui vient de disparaître. Les messages sont lus un par un avant d'être corrigés, et le compilateur pose à chaque fois une question de conception. Notez les réponses qui sont données, et celles qui sont écartées.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est une expérience. Six lignes commentées, une par membre : décommentez-les une à une et notez celles que le compilateur refuse. La liste attendue par le test se déduit de ce que vous avez observé, pas l'inverse.</a:t>
            </a:r>
          </a:p>
          <a:p>
            <a:r>
              <a:t>La première question de fin d'exercice porte sur le périmètre exact de </a:t>
            </a:r>
            <a:r>
              <a:rPr>
                <a:latin typeface="Consolas"/>
              </a:rPr>
              <a:t>private</a:t>
            </a:r>
            <a:r>
              <a:t>. Elle vaut le détour, et la réponse surprend souvent.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champ public donne deux droits à la fois, lire et écrire, à tout le monde et pour toujours. La classe perd la main sur sa propre donnée : rien ne l'empêche de valoir moins trois, et rien ne la prévient quand c'est le cas.</a:t>
            </a:r>
          </a:p>
          <a:p>
            <a:r>
              <a:t>La troisième ligne est la plus coûteuse à long terme, parce que d'autres classes dépendent du champ. Le jour où vous voudrez renommer ce champ, changer son type ou le remplacer par un calcul, toutes les classes qui l'emploient devront changer avec lui. Dans une équipe, ces classes ne sont pas toutes les vôtres.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getDisponibles</a:t>
            </a:r>
            <a:r>
              <a:t> retournait hier un champ, elle fait aujourd'hui un calcul, et aucun appelant n'a eu à changer. C'est la réponse à une question que beaucoup se posent depuis le module POO : à quoi bon un getter qui se contente de retourner un champ ? Le jour où il fait autre chose, personne ne doit le savoir, et c'est précisément ce qu'il permet.</a:t>
            </a:r>
          </a:p>
          <a:p>
            <a:r>
              <a:t>Le getter et le champ public ne sont donc pas équivalents, même quand leur code se ressemble. L'un expose une donnée, l'autre un comportement : celui de la donner.</a:t>
            </a:r>
          </a:p>
          <a:p>
            <a:r>
              <a:t>L'autre moitié de la règle CC-OBJ.2 compte autant : un accesseur n'est pas une obligation. Écrire un getter et un setter pour chaque champ revient à rendre les champs publics avec plus de lignes. Chaque accesseur est une décision.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partie reprend l'expérience de </a:t>
            </a:r>
            <a:r>
              <a:rPr>
                <a:latin typeface="Consolas"/>
              </a:rPr>
              <a:t>PKG.1</a:t>
            </a:r>
            <a:r>
              <a:t>, avec une seule différence : le package. Notez lequel des six membres change de camp, et rapprochez-le de la section 2.</a:t>
            </a:r>
          </a:p>
          <a:p>
            <a:r>
              <a:t>La seconde partie impose une contrainte qui est toute la consigne : le champ reste tel qu'il est. Le passer en </a:t>
            </a:r>
            <a:r>
              <a:rPr>
                <a:latin typeface="Consolas"/>
              </a:rPr>
              <a:t>public</a:t>
            </a:r>
            <a:r>
              <a:t> ferait compiler l'exercice en dix secondes, et l'un des deux tests est écrit pour le refuser.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appelle surface publique l'ensemble de ce qu'une classe montre aux autres packages. C'est la partie de la classe sur laquelle d'autres s'appuient, et donc la seule qu'on ne peut plus modifier sans prévenir.</a:t>
            </a:r>
          </a:p>
          <a:p>
            <a:r>
              <a:t>L'asymétrie de la deuxième ligne décide de tout. Une méthode privée qu'on rend publique ne casse rien, puisque personne ne l'utilisait. Une méthode publique qu'on rend privée casse tous ceux qui l'appelaient, et on ne sait pas toujours qui ils sont.</a:t>
            </a:r>
          </a:p>
          <a:p>
            <a:r>
              <a:t>Ouvrir par défaut, c'est donc s'interdire de changer d'avis. Fermer par défaut laisse toutes les portes ouvertes, au sens propre.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la classe en partant de ce qu'un utilisateur du catalogue doit pouvoir faire : ajouter un livre, en chercher un. Ce sont les deux seules méthodes publiques. Le tableau et la façon de l'agrandir sont des détails de fabrication, et restent privés.</a:t>
            </a:r>
          </a:p>
          <a:p>
            <a:r>
              <a:t>La méthode </a:t>
            </a:r>
            <a:r>
              <a:rPr>
                <a:latin typeface="Consolas"/>
              </a:rPr>
              <a:t>estCoherent</a:t>
            </a:r>
            <a:r>
              <a:t> est un cas intermédiaire. Elle vérifie que le catalogue n'est pas corrompu, ce qui intéresse les tests mais pas les utilisateurs. Une voisine, ici, c'est d'abord la classe de test : la visibilité de package la met à sa portée, et la cache au reste du programme.</a:t>
            </a:r>
          </a:p>
          <a:p>
            <a:r>
              <a:t>Le choix se fait donc membre par membre, et une question suffit : qui a réellement besoin de ceci ?</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surface publique se mesure aussi en classes. Une classe sans modificateur est un détail d'implémentation de son package, et les autres packages l'ignorent. Les modificateurs </a:t>
            </a:r>
            <a:r>
              <a:rPr>
                <a:latin typeface="Consolas"/>
              </a:rPr>
              <a:t>private</a:t>
            </a:r>
            <a:r>
              <a:t> et </a:t>
            </a:r>
            <a:r>
              <a:rPr>
                <a:latin typeface="Consolas"/>
              </a:rPr>
              <a:t>protected</a:t>
            </a:r>
            <a:r>
              <a:t> sont interdits sur une classe écrite directement dans son fichier : ils n'auraient pas de sens.</a:t>
            </a:r>
          </a:p>
          <a:p>
            <a:r>
              <a:t>L'ancien support présentait la règle du fichier comme une convention. C'est une erreur de compilation : le compilateur exige qu'une classe publique </a:t>
            </a:r>
            <a:r>
              <a:rPr>
                <a:latin typeface="Consolas"/>
              </a:rPr>
              <a:t>Etagere</a:t>
            </a:r>
            <a:r>
              <a:t> vive dans un fichier </a:t>
            </a:r>
            <a:r>
              <a:rPr>
                <a:latin typeface="Consolas"/>
              </a:rPr>
              <a:t>Etagere.java</a:t>
            </a:r>
            <a:r>
              <a:t>, et il le dit dans son message.</a:t>
            </a:r>
          </a:p>
          <a:p>
            <a:r>
              <a:t>Rien n'interdit de placer plusieurs classes non publiques dans un même fichier, mais l'usage est d'en écrire une par fichier, et IntelliJ s'y range. Une classe non publique reste visible dans tout son package, pas seulement dans son fichier.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fournie fonctionne, et tout y est public. Le programme fourni définit ce dont un utilisateur a réellement besoin : il n'appelle que trois opérations. Le travail consiste à fermer tout le reste sans que ce programme cesse de compiler.</a:t>
            </a:r>
          </a:p>
          <a:p>
            <a:r>
              <a:t>Comptez les promesses que faisait la version d'origine, et celles que fait la vôtre. La différence est la mesure du travail accompli.</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critère de découpage est celui de la règle CC-CLS.1, appliqué à un groupe de classes : une raison de changer. Le modèle change quand le domaine change, un service quand une règle de gestion change, l'application quand on change la façon de la lancer ou de l'afficher.</a:t>
            </a:r>
          </a:p>
          <a:p>
            <a:r>
              <a:t>L'ancien support comptait une quatrième couche, la persistance, qui écrit les données dans une base ou un fichier. Elle viendra avec le module FIC.</a:t>
            </a:r>
          </a:p>
          <a:p>
            <a:r>
              <a:t>Le modèle est la couche la plus précieuse, parce qu'elle ne dépend d'aucune autre. La même classe </a:t>
            </a:r>
            <a:r>
              <a:rPr>
                <a:latin typeface="Consolas"/>
              </a:rPr>
              <a:t>Livre</a:t>
            </a:r>
            <a:r>
              <a:t> peut servir demain dans une application graphique sans qu'une ligne y change.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Tant que tout vit dans un seul package, les dépendances existent mais ne se voient pas. Le découpage les rend lisibles : la liste des </a:t>
            </a:r>
            <a:r>
              <a:rPr>
                <a:latin typeface="Consolas"/>
              </a:rPr>
              <a:t>import</a:t>
            </a:r>
            <a:r>
              <a:t> en haut d'un fichier est la liste de ce dont la classe a besoin pour exister.</a:t>
            </a:r>
          </a:p>
          <a:p>
            <a:r>
              <a:t>Lisez la flèche comme « connaît ». L'application connaît les services, qui connaissent le modèle. Le modèle ne connaît personne, et c'est ce qui le rend réutilisable.</a:t>
            </a:r>
          </a:p>
          <a:p>
            <a:r>
              <a:rPr>
                <a:latin typeface="Consolas"/>
              </a:rPr>
              <a:t>PKG.4</a:t>
            </a:r>
            <a:r>
              <a:t> vous demande ce qui se passerait si une classe du modèle importait un service. La question a deux volets, ce que dit le compilateur et ce que dit la conception : répondez aux deux séparément.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 droit sur la classe dans l'arborescence, puis </a:t>
            </a:r>
            <a:r>
              <a:rPr>
                <a:latin typeface="Consolas"/>
              </a:rPr>
              <a:t>Refactor</a:t>
            </a:r>
            <a:r>
              <a:t>, puis </a:t>
            </a:r>
            <a:r>
              <a:rPr>
                <a:latin typeface="Consolas"/>
              </a:rPr>
              <a:t>Move</a:t>
            </a:r>
            <a:r>
              <a:t>, ou directement </a:t>
            </a:r>
            <a:r>
              <a:rPr>
                <a:latin typeface="Consolas"/>
              </a:rPr>
              <a:t>F6</a:t>
            </a:r>
            <a:r>
              <a:t>. IntelliJ demande le package de destination, déplace le fichier, réécrit sa première ligne et met à jour tous les </a:t>
            </a:r>
            <a:r>
              <a:rPr>
                <a:latin typeface="Consolas"/>
              </a:rPr>
              <a:t>import</a:t>
            </a:r>
            <a:r>
              <a:t> du projet.</a:t>
            </a:r>
          </a:p>
          <a:p>
            <a:r>
              <a:t>C'est le même principe que les refactorings du module ABS : l'outil connaît toutes les références, vous non. La manœuvre est détaillée dans IDE.21 du guide IntelliJ. Un déplacement à la main en oublie toujours une, et un copier-coller laisse deux classes du même nom dans deux packages, ce qui compile parfaitement et ne fait jamais ce qu'on croit.</a:t>
            </a:r>
          </a:p>
          <a:p>
            <a:r>
              <a:t>Sur un clavier de Mac, la touche </a:t>
            </a:r>
            <a:r>
              <a:rPr>
                <a:latin typeface="Consolas"/>
              </a:rPr>
              <a:t>F6</a:t>
            </a:r>
            <a:r>
              <a:t> demande parfois d'appuyer en même temps sur </a:t>
            </a:r>
            <a:r>
              <a:rPr>
                <a:latin typeface="Consolas"/>
              </a:rPr>
              <a:t>fn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classes, un seul package, trois packages à créer. Faites-le avec </a:t>
            </a:r>
            <a:r>
              <a:rPr>
                <a:latin typeface="Consolas"/>
              </a:rPr>
              <a:t>F6</a:t>
            </a:r>
            <a:r>
              <a:t> : le dernier test vérifie qu'aucune classe ne subsiste à l'ancienne place, ce qui vous protège d'un copier-coller.</a:t>
            </a:r>
          </a:p>
          <a:p>
            <a:r>
              <a:t>Une fois le découpage fait, regardez les imports de chaque classe et dessinez les flèches. Puis relisez la section 2 : certaines classes s'appuyaient sur la visibilité de package de leurs voisines. Le sont-elles encore ?</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employé </a:t>
            </a:r>
            <a:r>
              <a:rPr>
                <a:latin typeface="Consolas"/>
              </a:rPr>
              <a:t>protected</a:t>
            </a:r>
            <a:r>
              <a:t> au module ABS, pour un champ que les filles devaient lire et pour les méthodes que la mère appelle et que les filles écrivent. Ce module donne sa place exacte parmi les quatre niveaux.</a:t>
            </a:r>
          </a:p>
          <a:p>
            <a:r>
              <a:t>La deuxième ligne surprend presque toujours. Un membre </a:t>
            </a:r>
            <a:r>
              <a:rPr>
                <a:latin typeface="Consolas"/>
              </a:rPr>
              <a:t>protected</a:t>
            </a:r>
            <a:r>
              <a:t> est visible de tout le package, sous-classe ou non. Il est donc plus ouvert que la visibilité de package, jamais moins.</a:t>
            </a:r>
          </a:p>
          <a:p>
            <a:r>
              <a:t>D'où la troisième ligne : dans le même package, </a:t>
            </a:r>
            <a:r>
              <a:rPr>
                <a:latin typeface="Consolas"/>
              </a:rPr>
              <a:t>protected</a:t>
            </a:r>
            <a:r>
              <a:t> ne change rien. Son effet propre ne se voit que lorsqu'une sous-classe vit ailleurs, et c'est exactement la situation de </a:t>
            </a:r>
            <a:r>
              <a:rPr>
                <a:latin typeface="Consolas"/>
              </a:rPr>
              <a:t>PKG.5</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tableau se lit de haut en bas comme une échelle : chaque niveau ouvre tout ce qu'ouvre le précédent, plus une colonne. C'est ce qui permet de le reconstruire sans l'apprendre.</a:t>
            </a:r>
          </a:p>
          <a:p>
            <a:r>
              <a:t>La colonne « sous-classe ailleurs » désigne une sous-classe rangée dans un autre package. Une sous-classe du même package est d'abord une voisine : elle relève de la deuxième colonne. L'ancien tableau confondait les deux cas.</a:t>
            </a:r>
          </a:p>
          <a:p>
            <a:r>
              <a:t>Dans une interface, la question ne se pose presque pas : comme vu au module ITF, ses méthodes sont publiques sans qu'on l'écrive.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membre </a:t>
            </a:r>
            <a:r>
              <a:rPr>
                <a:latin typeface="Consolas"/>
              </a:rPr>
              <a:t>protected</a:t>
            </a:r>
            <a:r>
              <a:t> est une promesse faite à toutes les sous-classes, présentes et futures. La règle de la section 4 s'applique donc sans changement. Une sous-classe peut être écrite par quelqu'un d'autre, dans un autre package, des mois plus tard. Tout ce qui lui est ouvert ne peut plus changer sans la casser.</a:t>
            </a:r>
          </a:p>
          <a:p>
            <a:r>
              <a:t>Un champ </a:t>
            </a:r>
            <a:r>
              <a:rPr>
                <a:latin typeface="Consolas"/>
              </a:rPr>
              <a:t>protected</a:t>
            </a:r>
            <a:r>
              <a:t> laisse donc les filles lire et écrire, comme le faisait le champ public de la section 3, devant un public plus petit. Un champ privé et un accesseur </a:t>
            </a:r>
            <a:r>
              <a:rPr>
                <a:latin typeface="Consolas"/>
              </a:rPr>
              <a:t>protected</a:t>
            </a:r>
            <a:r>
              <a:t> laissent la mère maîtresse de la valeur.</a:t>
            </a:r>
          </a:p>
          <a:p>
            <a:r>
              <a:t>Le niveau </a:t>
            </a:r>
            <a:r>
              <a:rPr>
                <a:latin typeface="Consolas"/>
              </a:rPr>
              <a:t>protected</a:t>
            </a:r>
            <a:r>
              <a:t> trouve son meilleur usage dans les méthodes que la mère appelle et que les filles écrivent, comme au module ABS.</a:t>
            </a:r>
          </a:p>
          <a:p>
            <a:r>
              <a:t>Ce n'est pas une interdiction. </a:t>
            </a:r>
            <a:r>
              <a:rPr>
                <a:latin typeface="Consolas"/>
              </a:rPr>
              <a:t>PKG.5</a:t>
            </a:r>
            <a:r>
              <a:t> vous fait écrire les deux versions, et la question de fin vous demande laquelle vous préférez, et pourquoi.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place deux classes dans le même package, autour d'une classe mère rangée ailleurs. L'une en hérite, l'autre s'en sert seulement. Les deux sont voisines et n'ont pourtant pas les mêmes droits.</a:t>
            </a:r>
          </a:p>
          <a:p>
            <a:r>
              <a:t>Le cœur de l'exercice est le tableau d'expériences : trois champs, deux classes, six essais. Notez le message exact du compilateur à chaque refus, puis écrivez en une phrase ce que </a:t>
            </a:r>
            <a:r>
              <a:rPr>
                <a:latin typeface="Consolas"/>
              </a:rPr>
              <a:t>protected</a:t>
            </a:r>
            <a:r>
              <a:t> ouvre.</a:t>
            </a:r>
          </a:p>
          <a:p>
            <a:r>
              <a:t>Au module ITF, </a:t>
            </a:r>
            <a:r>
              <a:rPr>
                <a:latin typeface="Consolas"/>
              </a:rPr>
              <a:t>ABS.4</a:t>
            </a:r>
            <a:r>
              <a:t> vous demandait quelle visibilité donner aux accesseurs intermédiaires de la hiérarchie, dont seules les sous-classes ont besoin. Vous avez maintenant tout ce qu'il faut pour répondre.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PKG</a:t>
            </a:r>
          </a:p>
          <a:p>
            <a:r>
              <a:t>Packages et visibilité</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5"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Packages et dossiers</a:t>
              </a:r>
            </a:p>
          </p:txBody>
        </p:sp>
      </p:grpSp>
      <p:grpSp>
        <p:nvGrpSpPr>
          <p:cNvPr id="16"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La visibilité de package</a:t>
              </a:r>
            </a:p>
          </p:txBody>
        </p:sp>
      </p:grpSp>
      <p:grpSp>
        <p:nvGrpSpPr>
          <p:cNvPr id="17"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Champ </a:t>
              </a:r>
              <a:r>
                <a:rPr sz="2400">
                  <a:solidFill>
                    <a:schemeClr val="accent4"/>
                  </a:solidFill>
                  <a:latin typeface="Consolas"/>
                </a:rPr>
                <a:t>public</a:t>
              </a:r>
              <a:r>
                <a:rPr sz="2600">
                  <a:solidFill>
                    <a:srgbClr val="FFFFFF"/>
                  </a:solidFill>
                </a:rPr>
                <a:t> ou accesseur</a:t>
              </a:r>
            </a:p>
          </p:txBody>
        </p:sp>
      </p:grpSp>
      <p:grpSp>
        <p:nvGrpSpPr>
          <p:cNvPr id="18"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Réduire la surface publique</a:t>
              </a:r>
            </a:p>
          </p:txBody>
        </p:sp>
      </p:grpSp>
      <p:grpSp>
        <p:nvGrpSpPr>
          <p:cNvPr id="19"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Découper en packages</a:t>
              </a:r>
            </a:p>
          </p:txBody>
        </p:sp>
      </p:grpSp>
      <p:grpSp>
        <p:nvGrpSpPr>
          <p:cNvPr id="20"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Quatrième niveau : </a:t>
              </a:r>
              <a:r>
                <a:rPr sz="2400">
                  <a:solidFill>
                    <a:schemeClr val="accent4"/>
                  </a:solidFill>
                  <a:latin typeface="Consolas"/>
                </a:rPr>
                <a:t>protected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7C3C376-8D0D-94E5-55D2-8EB5E8AC9CDE}"/>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119268"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 package, un dossier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une classe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 ligne </a:t>
            </a:r>
            <a:r>
              <a:rPr sz="2400">
                <a:solidFill>
                  <a:schemeClr val="accent4"/>
                </a:solidFill>
                <a:latin typeface="Consolas"/>
              </a:rPr>
              <a:t>package</a:t>
            </a:r>
            <a:r>
              <a:rPr sz="2800"/>
              <a:t> ouvre toujours le fichier</a:t>
            </a:r>
          </a:p>
          <a:p>
            <a:pPr marL="0" indent="0">
              <a:spcAft>
                <a:spcPts val="1000"/>
              </a:spcAft>
              <a:buNone/>
            </a:pPr>
            <a:r>
              <a:rPr sz="2800"/>
              <a:t>Chaque segment du nom est un dossier sur le disque</a:t>
            </a:r>
          </a:p>
          <a:p>
            <a:pPr marL="0" indent="0">
              <a:spcAft>
                <a:spcPts val="1000"/>
              </a:spcAft>
              <a:buNone/>
            </a:pPr>
            <a:r>
              <a:rPr sz="2800"/>
              <a:t>Du général au précis : organisation, projet, thème</a:t>
            </a:r>
          </a:p>
        </p:txBody>
      </p:sp>
      <p:sp>
        <p:nvSpPr>
          <p:cNvPr id="4" name="Code"/>
          <p:cNvSpPr txBox="1"/>
          <p:nvPr/>
        </p:nvSpPr>
        <p:spPr>
          <a:xfrm>
            <a:off x="2451100" y="3307080"/>
            <a:ext cx="72898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src</a:t>
            </a:r>
            <a:r>
              <a:rPr sz="1800" dirty="0">
                <a:solidFill>
                  <a:srgbClr val="7A7E85"/>
                </a:solidFill>
                <a:latin typeface="Consolas"/>
              </a:rPr>
              <a:t>/main/java/be/</a:t>
            </a:r>
            <a:r>
              <a:rPr sz="1800" dirty="0" err="1">
                <a:solidFill>
                  <a:srgbClr val="7A7E85"/>
                </a:solidFill>
                <a:latin typeface="Consolas"/>
              </a:rPr>
              <a:t>ephec</a:t>
            </a:r>
            <a:r>
              <a:rPr sz="1800" dirty="0">
                <a:solidFill>
                  <a:srgbClr val="7A7E85"/>
                </a:solidFill>
                <a:latin typeface="Consolas"/>
              </a:rPr>
              <a:t>/</a:t>
            </a:r>
            <a:r>
              <a:rPr sz="1800" dirty="0" err="1">
                <a:solidFill>
                  <a:srgbClr val="7A7E85"/>
                </a:solidFill>
                <a:latin typeface="Consolas"/>
              </a:rPr>
              <a:t>biblio</a:t>
            </a:r>
            <a:r>
              <a:rPr sz="1800" dirty="0">
                <a:solidFill>
                  <a:srgbClr val="7A7E85"/>
                </a:solidFill>
                <a:latin typeface="Consolas"/>
              </a:rPr>
              <a:t>/</a:t>
            </a:r>
            <a:r>
              <a:rPr sz="1800" dirty="0" err="1">
                <a:solidFill>
                  <a:srgbClr val="7A7E85"/>
                </a:solidFill>
                <a:latin typeface="Consolas"/>
              </a:rPr>
              <a:t>modele</a:t>
            </a:r>
            <a:r>
              <a:rPr sz="1800" dirty="0">
                <a:solidFill>
                  <a:srgbClr val="7A7E85"/>
                </a:solidFill>
                <a:latin typeface="Consolas"/>
              </a:rPr>
              <a:t>/</a:t>
            </a:r>
            <a:r>
              <a:rPr sz="1800" dirty="0" err="1">
                <a:solidFill>
                  <a:srgbClr val="7A7E85"/>
                </a:solidFill>
                <a:latin typeface="Consolas"/>
              </a:rPr>
              <a:t>Livre.java</a:t>
            </a:r>
            <a:endParaRPr sz="1800" dirty="0">
              <a:solidFill>
                <a:srgbClr val="7A7E85"/>
              </a:solidFill>
              <a:latin typeface="Consolas"/>
            </a:endParaRP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package</a:t>
            </a:r>
            <a:r>
              <a:rPr sz="1800" dirty="0">
                <a:solidFill>
                  <a:srgbClr val="BCBEC4"/>
                </a:solidFill>
                <a:latin typeface="Consolas"/>
              </a:rPr>
              <a:t> </a:t>
            </a:r>
            <a:r>
              <a:rPr sz="1800" dirty="0" err="1">
                <a:solidFill>
                  <a:srgbClr val="BCBEC4"/>
                </a:solidFill>
                <a:latin typeface="Consolas"/>
              </a:rPr>
              <a:t>be.ephec.biblio.modele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class</a:t>
            </a:r>
            <a:r>
              <a:rPr sz="1800" dirty="0">
                <a:solidFill>
                  <a:srgbClr val="BCBEC4"/>
                </a:solidFill>
                <a:latin typeface="Consolas"/>
              </a:rPr>
              <a:t> Livre {</a:t>
            </a:r>
          </a:p>
          <a:p>
            <a:pPr>
              <a:lnSpc>
                <a:spcPct val="100000"/>
              </a:lnSpc>
              <a:spcBef>
                <a:spcPts val="0"/>
              </a:spcBef>
              <a:spcAft>
                <a:spcPts val="0"/>
              </a:spcAft>
            </a:pPr>
            <a:r>
              <a:rPr sz="1800" dirty="0">
                <a:solidFill>
                  <a:srgbClr val="BCBEC4"/>
                </a:solidFill>
                <a:latin typeface="Consolas"/>
              </a:rPr>
              <a:t>    </a:t>
            </a:r>
            <a:r>
              <a:rPr sz="1800" dirty="0">
                <a:solidFill>
                  <a:srgbClr val="7A7E85"/>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nom complet d'une classe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nom complet d'une classe commence par son package</a:t>
            </a:r>
          </a:p>
          <a:p>
            <a:pPr marL="0" indent="0">
              <a:spcAft>
                <a:spcPts val="1000"/>
              </a:spcAft>
              <a:buNone/>
            </a:pPr>
            <a:r>
              <a:rPr sz="2800"/>
              <a:t>L'instruction </a:t>
            </a:r>
            <a:r>
              <a:rPr sz="2400">
                <a:solidFill>
                  <a:schemeClr val="accent4"/>
                </a:solidFill>
                <a:latin typeface="Consolas"/>
              </a:rPr>
              <a:t>import</a:t>
            </a:r>
            <a:r>
              <a:rPr sz="2800"/>
              <a:t> permet d'écrire le nom court</a:t>
            </a:r>
          </a:p>
          <a:p>
            <a:pPr marL="0" indent="0">
              <a:spcAft>
                <a:spcPts val="1000"/>
              </a:spcAft>
              <a:buNone/>
            </a:pPr>
            <a:r>
              <a:rPr sz="2800"/>
              <a:t>Les classes de </a:t>
            </a:r>
            <a:r>
              <a:rPr sz="2400">
                <a:solidFill>
                  <a:schemeClr val="accent4"/>
                </a:solidFill>
                <a:latin typeface="Consolas"/>
              </a:rPr>
              <a:t>java.lang</a:t>
            </a:r>
            <a:r>
              <a:rPr sz="2800"/>
              <a:t> se passent d'</a:t>
            </a:r>
            <a:r>
              <a:rPr sz="2400">
                <a:solidFill>
                  <a:schemeClr val="accent4"/>
                </a:solidFill>
                <a:latin typeface="Consolas"/>
              </a:rPr>
              <a:t>import</a:t>
            </a:r>
          </a:p>
        </p:txBody>
      </p:sp>
      <p:sp>
        <p:nvSpPr>
          <p:cNvPr id="4" name="Code"/>
          <p:cNvSpPr txBox="1"/>
          <p:nvPr/>
        </p:nvSpPr>
        <p:spPr>
          <a:xfrm>
            <a:off x="2241550" y="3307080"/>
            <a:ext cx="77089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be.ephec.biblio.service;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be.ephec.biblio.modele.Livre;   </a:t>
            </a:r>
            <a:r>
              <a:rPr sz="1800">
                <a:solidFill>
                  <a:srgbClr val="7A7E85"/>
                </a:solidFill>
                <a:latin typeface="Consolas"/>
              </a:rPr>
              <a:t>// nom complet</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java.time.LocalDate;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Emprunt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Livre livre;                </a:t>
            </a:r>
            <a:r>
              <a:rPr sz="1800">
                <a:solidFill>
                  <a:srgbClr val="7A7E85"/>
                </a:solidFill>
                <a:latin typeface="Consolas"/>
              </a:rPr>
              <a:t>// nom court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LocalDate dateRetour;</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sous-package est un package à part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Les noms de packages forment une arborescence, mais pas les droits</a:t>
            </a:r>
          </a:p>
          <a:p>
            <a:pPr marL="0" indent="0">
              <a:spcAft>
                <a:spcPts val="1000"/>
              </a:spcAft>
              <a:buNone/>
            </a:pPr>
            <a:r>
              <a:rPr sz="2800"/>
              <a:t>Un package n'a aucun accès privilégié à ses sous-packages, ni l'inverse</a:t>
            </a:r>
          </a:p>
          <a:p>
            <a:pPr marL="0" indent="0">
              <a:spcAft>
                <a:spcPts val="1000"/>
              </a:spcAft>
              <a:buNone/>
            </a:pPr>
            <a:r>
              <a:rPr sz="2800"/>
              <a:t>Deux sous-packages voisins sont deux packages distincts, et étrangers</a:t>
            </a:r>
          </a:p>
        </p:txBody>
      </p:sp>
      <p:sp>
        <p:nvSpPr>
          <p:cNvPr id="4" name="Code"/>
          <p:cNvSpPr txBox="1"/>
          <p:nvPr/>
        </p:nvSpPr>
        <p:spPr>
          <a:xfrm>
            <a:off x="2751843" y="3901440"/>
            <a:ext cx="6688313"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be.ephec.biblio</a:t>
            </a:r>
            <a:r>
              <a:rPr sz="1750" dirty="0">
                <a:solidFill>
                  <a:srgbClr val="BCBEC4"/>
                </a:solidFill>
                <a:latin typeface="Consolas"/>
              </a:rPr>
              <a:t>              Main</a:t>
            </a:r>
          </a:p>
          <a:p>
            <a:pPr>
              <a:lnSpc>
                <a:spcPct val="100000"/>
              </a:lnSpc>
              <a:spcBef>
                <a:spcPts val="0"/>
              </a:spcBef>
              <a:spcAft>
                <a:spcPts val="0"/>
              </a:spcAft>
            </a:pPr>
            <a:r>
              <a:rPr sz="1750" dirty="0" err="1">
                <a:solidFill>
                  <a:srgbClr val="BCBEC4"/>
                </a:solidFill>
                <a:latin typeface="Consolas"/>
              </a:rPr>
              <a:t>be.ephec.biblio.modele</a:t>
            </a:r>
            <a:r>
              <a:rPr sz="1750" dirty="0">
                <a:solidFill>
                  <a:srgbClr val="BCBEC4"/>
                </a:solidFill>
                <a:latin typeface="Consolas"/>
              </a:rPr>
              <a:t>       Livre, Auteur</a:t>
            </a:r>
          </a:p>
          <a:p>
            <a:pPr>
              <a:lnSpc>
                <a:spcPct val="100000"/>
              </a:lnSpc>
              <a:spcBef>
                <a:spcPts val="0"/>
              </a:spcBef>
              <a:spcAft>
                <a:spcPts val="0"/>
              </a:spcAft>
            </a:pPr>
            <a:r>
              <a:rPr sz="1750" dirty="0" err="1">
                <a:solidFill>
                  <a:srgbClr val="BCBEC4"/>
                </a:solidFill>
                <a:latin typeface="Consolas"/>
              </a:rPr>
              <a:t>be.ephec.biblio.service</a:t>
            </a:r>
            <a:r>
              <a:rPr sz="1750" dirty="0">
                <a:solidFill>
                  <a:srgbClr val="BCBEC4"/>
                </a:solidFill>
                <a:latin typeface="Consolas"/>
              </a:rPr>
              <a:t>      </a:t>
            </a:r>
            <a:r>
              <a:rPr sz="1750" dirty="0" err="1">
                <a:solidFill>
                  <a:srgbClr val="BCBEC4"/>
                </a:solidFill>
                <a:latin typeface="Consolas"/>
              </a:rPr>
              <a:t>Emprunt</a:t>
            </a:r>
            <a:r>
              <a:rPr sz="1750" dirty="0">
                <a:solidFill>
                  <a:srgbClr val="BCBEC4"/>
                </a:solidFill>
                <a:latin typeface="Consolas"/>
              </a:rPr>
              <a:t>, Catalogue</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7A7E85"/>
                </a:solidFill>
                <a:latin typeface="Consolas"/>
              </a:rPr>
              <a:t>// trois packages, sans lien de </a:t>
            </a:r>
            <a:r>
              <a:rPr sz="1750" dirty="0" err="1">
                <a:solidFill>
                  <a:srgbClr val="7A7E85"/>
                </a:solidFill>
                <a:latin typeface="Consolas"/>
              </a:rPr>
              <a:t>parente</a:t>
            </a:r>
            <a:endParaRPr sz="1750" dirty="0">
              <a:solidFill>
                <a:srgbClr val="7A7E85"/>
              </a:solidFill>
              <a:latin typeface="Consolas"/>
            </a:endParaRP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dossiers, un seul package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Maven range le code dans </a:t>
            </a:r>
            <a:r>
              <a:rPr sz="2400">
                <a:solidFill>
                  <a:schemeClr val="accent4"/>
                </a:solidFill>
                <a:latin typeface="Consolas"/>
              </a:rPr>
              <a:t>src/main/java</a:t>
            </a:r>
            <a:r>
              <a:rPr sz="2800"/>
              <a:t> et les tests dans </a:t>
            </a:r>
            <a:r>
              <a:rPr sz="2400">
                <a:solidFill>
                  <a:schemeClr val="accent4"/>
                </a:solidFill>
                <a:latin typeface="Consolas"/>
              </a:rPr>
              <a:t>src/test/java</a:t>
            </a:r>
          </a:p>
          <a:p>
            <a:pPr marL="0" indent="0">
              <a:spcAft>
                <a:spcPts val="1000"/>
              </a:spcAft>
              <a:buNone/>
            </a:pPr>
            <a:r>
              <a:rPr sz="2800"/>
              <a:t>Une classe de test déclare le même package que la classe qu'elle teste</a:t>
            </a:r>
          </a:p>
          <a:p>
            <a:pPr marL="0" indent="0">
              <a:spcAft>
                <a:spcPts val="1000"/>
              </a:spcAft>
              <a:buNone/>
            </a:pPr>
            <a:r>
              <a:rPr sz="2800"/>
              <a:t>Pour le compilateur, elles sont voisines : deux dossiers, un seul package</a:t>
            </a:r>
          </a:p>
        </p:txBody>
      </p:sp>
      <p:sp>
        <p:nvSpPr>
          <p:cNvPr id="4" name="Code"/>
          <p:cNvSpPr txBox="1"/>
          <p:nvPr/>
        </p:nvSpPr>
        <p:spPr>
          <a:xfrm>
            <a:off x="2480204" y="4198357"/>
            <a:ext cx="7231591"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src/main/java/be/ephec/biblio/modele/Livre.java</a:t>
            </a:r>
          </a:p>
          <a:p>
            <a:pPr>
              <a:lnSpc>
                <a:spcPct val="100000"/>
              </a:lnSpc>
              <a:spcBef>
                <a:spcPts val="0"/>
              </a:spcBef>
              <a:spcAft>
                <a:spcPts val="0"/>
              </a:spcAft>
            </a:pPr>
            <a:r>
              <a:rPr sz="1750">
                <a:solidFill>
                  <a:srgbClr val="BCBEC4"/>
                </a:solidFill>
                <a:latin typeface="Consolas"/>
              </a:rPr>
              <a:t>src/test/java/be/ephec/biblio/modele/LivreTest.java</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7A7E85"/>
                </a:solidFill>
                <a:latin typeface="Consolas"/>
              </a:rPr>
              <a:t>// les deux fichiers commencent par la meme ligne :</a:t>
            </a:r>
          </a:p>
          <a:p>
            <a:pPr>
              <a:lnSpc>
                <a:spcPct val="100000"/>
              </a:lnSpc>
              <a:spcBef>
                <a:spcPts val="0"/>
              </a:spcBef>
              <a:spcAft>
                <a:spcPts val="0"/>
              </a:spcAft>
            </a:pPr>
            <a:r>
              <a:rPr sz="1750">
                <a:solidFill>
                  <a:srgbClr val="CF8E6D"/>
                </a:solidFill>
                <a:latin typeface="Consolas"/>
              </a:rPr>
              <a:t>package</a:t>
            </a:r>
            <a:r>
              <a:rPr sz="1750">
                <a:solidFill>
                  <a:srgbClr val="BCBEC4"/>
                </a:solidFill>
                <a:latin typeface="Consolas"/>
              </a:rPr>
              <a:t> be.ephec.biblio.modele;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0B33D10-25D9-C004-47C0-CCA00FF94169}"/>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57613"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Le niveau sans mot-clé</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8</a:t>
            </a:fld>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peut atteindre le membre d'une classe</a:t>
            </a:r>
          </a:p>
        </p:txBody>
      </p:sp>
      <p:sp>
        <p:nvSpPr>
          <p:cNvPr id="3" name="Content Placeholder 2"/>
          <p:cNvSpPr>
            <a:spLocks noGrp="1"/>
          </p:cNvSpPr>
          <p:nvPr>
            <p:ph idx="1"/>
          </p:nvPr>
        </p:nvSpPr>
        <p:spPr>
          <a:xfrm>
            <a:off x="640080" y="1371600"/>
            <a:ext cx="10881360" cy="2473959"/>
          </a:xfrm>
        </p:spPr>
        <p:txBody>
          <a:bodyPr/>
          <a:lstStyle/>
          <a:p>
            <a:pPr marL="0" indent="0">
              <a:spcAft>
                <a:spcPts val="1000"/>
              </a:spcAft>
              <a:buNone/>
            </a:pPr>
            <a:r>
              <a:rPr sz="2400"/>
              <a:t>Un membre d'une classe, c'est l'un de ses champs ou l'une de ses méthodes</a:t>
            </a:r>
          </a:p>
          <a:p>
            <a:pPr marL="0" indent="0">
              <a:spcAft>
                <a:spcPts val="1000"/>
              </a:spcAft>
              <a:buNone/>
            </a:pPr>
            <a:r>
              <a:rPr sz="2400"/>
              <a:t>Le niveau </a:t>
            </a:r>
            <a:r>
              <a:rPr sz="2000">
                <a:solidFill>
                  <a:schemeClr val="accent4"/>
                </a:solidFill>
                <a:latin typeface="Consolas"/>
              </a:rPr>
              <a:t>private</a:t>
            </a:r>
            <a:r>
              <a:rPr sz="2400"/>
              <a:t> : le code de la classe seul</a:t>
            </a:r>
          </a:p>
          <a:p>
            <a:pPr marL="0" indent="0">
              <a:spcAft>
                <a:spcPts val="1000"/>
              </a:spcAft>
              <a:buNone/>
            </a:pPr>
            <a:r>
              <a:rPr sz="2400"/>
              <a:t>Le niveau </a:t>
            </a:r>
            <a:r>
              <a:rPr sz="2000">
                <a:solidFill>
                  <a:schemeClr val="accent4"/>
                </a:solidFill>
                <a:latin typeface="Consolas"/>
              </a:rPr>
              <a:t>public</a:t>
            </a:r>
            <a:r>
              <a:rPr sz="2400"/>
              <a:t> : tout le programme</a:t>
            </a:r>
          </a:p>
          <a:p>
            <a:pPr marL="0" indent="0">
              <a:spcAft>
                <a:spcPts val="1000"/>
              </a:spcAft>
              <a:buNone/>
            </a:pPr>
            <a:r>
              <a:rPr sz="2400"/>
              <a:t>Sans modificateur : le package, et nulle part ailleurs</a:t>
            </a:r>
          </a:p>
        </p:txBody>
      </p:sp>
      <p:sp>
        <p:nvSpPr>
          <p:cNvPr id="4" name="Code"/>
          <p:cNvSpPr txBox="1"/>
          <p:nvPr/>
        </p:nvSpPr>
        <p:spPr>
          <a:xfrm>
            <a:off x="2145161" y="3982720"/>
            <a:ext cx="7871198" cy="2189479"/>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package</a:t>
            </a:r>
            <a:r>
              <a:rPr sz="1600" dirty="0">
                <a:solidFill>
                  <a:srgbClr val="BCBEC4"/>
                </a:solidFill>
                <a:latin typeface="Consolas"/>
              </a:rPr>
              <a:t> </a:t>
            </a:r>
            <a:r>
              <a:rPr sz="1600" dirty="0" err="1">
                <a:solidFill>
                  <a:srgbClr val="BCBEC4"/>
                </a:solidFill>
                <a:latin typeface="Consolas"/>
              </a:rPr>
              <a:t>be.ephec.biblio.modele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Livre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String </a:t>
            </a:r>
            <a:r>
              <a:rPr sz="1600" dirty="0" err="1">
                <a:solidFill>
                  <a:srgbClr val="BCBEC4"/>
                </a:solidFill>
                <a:latin typeface="Consolas"/>
              </a:rPr>
              <a:t>isbn</a:t>
            </a:r>
            <a:r>
              <a:rPr sz="1600" dirty="0">
                <a:solidFill>
                  <a:srgbClr val="BCBEC4"/>
                </a:solidFill>
                <a:latin typeface="Consolas"/>
              </a:rPr>
              <a:t>;               </a:t>
            </a:r>
            <a:r>
              <a:rPr sz="1600" dirty="0">
                <a:solidFill>
                  <a:srgbClr val="7A7E85"/>
                </a:solidFill>
                <a:latin typeface="Consolas"/>
              </a:rPr>
              <a:t>// la </a:t>
            </a:r>
            <a:r>
              <a:rPr sz="1600" dirty="0" err="1">
                <a:solidFill>
                  <a:srgbClr val="7A7E85"/>
                </a:solidFill>
                <a:latin typeface="Consolas"/>
              </a:rPr>
              <a:t>classe</a:t>
            </a:r>
            <a:r>
              <a:rPr sz="1600" dirty="0">
                <a:solidFill>
                  <a:srgbClr val="7A7E85"/>
                </a:solidFill>
                <a:latin typeface="Consolas"/>
              </a:rPr>
              <a:t> Livre</a:t>
            </a:r>
          </a:p>
          <a:p>
            <a:pPr>
              <a:lnSpc>
                <a:spcPct val="100000"/>
              </a:lnSpc>
              <a:spcBef>
                <a:spcPts val="0"/>
              </a:spcBef>
              <a:spcAft>
                <a:spcPts val="0"/>
              </a:spcAft>
            </a:pPr>
            <a:r>
              <a:rPr sz="1600" dirty="0">
                <a:solidFill>
                  <a:srgbClr val="BCBEC4"/>
                </a:solidFill>
                <a:latin typeface="Consolas"/>
              </a:rPr>
              <a:t>    String </a:t>
            </a:r>
            <a:r>
              <a:rPr sz="1600" dirty="0">
                <a:solidFill>
                  <a:srgbClr val="56A8F5"/>
                </a:solidFill>
                <a:latin typeface="Consolas"/>
              </a:rPr>
              <a:t>cote</a:t>
            </a:r>
            <a:r>
              <a:rPr sz="1600" dirty="0">
                <a:solidFill>
                  <a:srgbClr val="BCBEC4"/>
                </a:solidFill>
                <a:latin typeface="Consolas"/>
              </a:rPr>
              <a:t>() { ... }              </a:t>
            </a:r>
            <a:r>
              <a:rPr sz="1600" dirty="0">
                <a:solidFill>
                  <a:srgbClr val="7A7E85"/>
                </a:solidFill>
                <a:latin typeface="Consolas"/>
              </a:rPr>
              <a:t>// le package </a:t>
            </a:r>
            <a:r>
              <a:rPr sz="1600" dirty="0" err="1">
                <a:solidFill>
                  <a:srgbClr val="7A7E85"/>
                </a:solidFill>
                <a:latin typeface="Consolas"/>
              </a:rPr>
              <a:t>modele</a:t>
            </a:r>
            <a:endParaRPr sz="1600" dirty="0">
              <a:solidFill>
                <a:srgbClr val="7A7E85"/>
              </a:solidFill>
              <a:latin typeface="Consolas"/>
            </a:endParaRP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String </a:t>
            </a:r>
            <a:r>
              <a:rPr sz="1600" dirty="0" err="1">
                <a:solidFill>
                  <a:srgbClr val="56A8F5"/>
                </a:solidFill>
                <a:latin typeface="Consolas"/>
              </a:rPr>
              <a:t>titre</a:t>
            </a:r>
            <a:r>
              <a:rPr sz="1600" dirty="0">
                <a:solidFill>
                  <a:srgbClr val="BCBEC4"/>
                </a:solidFill>
                <a:latin typeface="Consolas"/>
              </a:rPr>
              <a:t>() { ... }      </a:t>
            </a:r>
            <a:r>
              <a:rPr sz="1600" dirty="0">
                <a:solidFill>
                  <a:srgbClr val="7A7E85"/>
                </a:solidFill>
                <a:latin typeface="Consolas"/>
              </a:rPr>
              <a:t>// tout le </a:t>
            </a:r>
            <a:r>
              <a:rPr sz="1600" dirty="0" err="1">
                <a:solidFill>
                  <a:srgbClr val="7A7E85"/>
                </a:solidFill>
                <a:latin typeface="Consolas"/>
              </a:rPr>
              <a:t>programme</a:t>
            </a:r>
            <a:endParaRPr sz="1600" dirty="0">
              <a:solidFill>
                <a:srgbClr val="7A7E85"/>
              </a:solidFill>
              <a:latin typeface="Consolas"/>
            </a:endParaRP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niveau qu'on choisit sans le savoir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Sans mot-clé : on l'obtient en n'écrivant rien</a:t>
            </a:r>
          </a:p>
          <a:p>
            <a:pPr marL="0" indent="0">
              <a:spcAft>
                <a:spcPts val="1000"/>
              </a:spcAft>
              <a:buNone/>
            </a:pPr>
            <a:r>
              <a:rPr sz="2800"/>
              <a:t>Il s'appelle visibilité de package, ou par défaut</a:t>
            </a:r>
          </a:p>
          <a:p>
            <a:pPr marL="0" indent="0">
              <a:spcAft>
                <a:spcPts val="1000"/>
              </a:spcAft>
              <a:buNone/>
            </a:pPr>
            <a:r>
              <a:rPr sz="2800"/>
              <a:t>Il vaut pour les membres, les constructeurs, la classe</a:t>
            </a:r>
          </a:p>
        </p:txBody>
      </p:sp>
      <p:sp>
        <p:nvSpPr>
          <p:cNvPr id="4" name="Code"/>
          <p:cNvSpPr txBox="1"/>
          <p:nvPr/>
        </p:nvSpPr>
        <p:spPr>
          <a:xfrm>
            <a:off x="2155672" y="3733799"/>
            <a:ext cx="7850176"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be.ephec.biblio.modele;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class</a:t>
            </a:r>
            <a:r>
              <a:rPr sz="1800">
                <a:solidFill>
                  <a:srgbClr val="BCBEC4"/>
                </a:solidFill>
                <a:latin typeface="Consolas"/>
              </a:rPr>
              <a:t> Fiche {                  </a:t>
            </a:r>
            <a:r>
              <a:rPr sz="1800">
                <a:solidFill>
                  <a:srgbClr val="7A7E85"/>
                </a:solidFill>
                <a:latin typeface="Consolas"/>
              </a:rPr>
              <a:t>// invisible hors du package</a:t>
            </a:r>
          </a:p>
          <a:p>
            <a:pPr>
              <a:lnSpc>
                <a:spcPct val="100000"/>
              </a:lnSpc>
              <a:spcBef>
                <a:spcPts val="0"/>
              </a:spcBef>
              <a:spcAft>
                <a:spcPts val="0"/>
              </a:spcAft>
            </a:pPr>
            <a:r>
              <a:rPr sz="1800">
                <a:solidFill>
                  <a:srgbClr val="BCBEC4"/>
                </a:solidFill>
                <a:latin typeface="Consolas"/>
              </a:rPr>
              <a:t>    String cote;               </a:t>
            </a:r>
            <a:r>
              <a:rPr sz="1800">
                <a:solidFill>
                  <a:srgbClr val="7A7E85"/>
                </a:solidFill>
                <a:latin typeface="Consolas"/>
              </a:rPr>
              <a:t>// idem</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Fiche</a:t>
            </a:r>
            <a:r>
              <a:rPr sz="1800">
                <a:solidFill>
                  <a:srgbClr val="BCBEC4"/>
                </a:solidFill>
                <a:latin typeface="Consolas"/>
              </a:rPr>
              <a:t>(String cote) {       </a:t>
            </a:r>
            <a:r>
              <a:rPr sz="1800">
                <a:solidFill>
                  <a:srgbClr val="7A7E85"/>
                </a:solidFill>
                <a:latin typeface="Consolas"/>
              </a:rPr>
              <a:t>// idem</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.cote = cote;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Déménager une classe, et voir ce qui casse</a:t>
            </a:r>
          </a:p>
          <a:p>
            <a:pPr>
              <a:spcBef>
                <a:spcPts val="1200"/>
              </a:spcBef>
            </a:pPr>
            <a:r>
              <a:rPr sz="1400">
                <a:solidFill>
                  <a:srgbClr val="BCBEC4"/>
                </a:solidFill>
              </a:rPr>
              <a:t>Déroulé : Demo_PKG</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Ce que voit une classe du même package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Expérimenter d'abord : le test ne dit pas quelle ligne est fausse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A052787-3565-2BBF-98E5-876A0378300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507943"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Champ public ou accesseur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qu'un champ </a:t>
            </a:r>
            <a:r>
              <a:rPr sz="3600">
                <a:solidFill>
                  <a:schemeClr val="accent4"/>
                </a:solidFill>
                <a:latin typeface="Consolas"/>
              </a:rPr>
              <a:t>public</a:t>
            </a:r>
            <a:r>
              <a:rPr sz="4000"/>
              <a:t> promet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champ </a:t>
            </a:r>
            <a:r>
              <a:rPr sz="2400">
                <a:solidFill>
                  <a:schemeClr val="accent4"/>
                </a:solidFill>
                <a:latin typeface="Consolas"/>
              </a:rPr>
              <a:t>public</a:t>
            </a:r>
            <a:r>
              <a:rPr sz="2800"/>
              <a:t> se lit et s'écrit, par n'importe qui</a:t>
            </a:r>
          </a:p>
          <a:p>
            <a:pPr marL="0" indent="0">
              <a:spcAft>
                <a:spcPts val="1000"/>
              </a:spcAft>
              <a:buNone/>
            </a:pPr>
            <a:r>
              <a:rPr sz="2800"/>
              <a:t>La classe ne sait plus qui le modifie, ni comment</a:t>
            </a:r>
          </a:p>
          <a:p>
            <a:pPr marL="0" indent="0">
              <a:spcAft>
                <a:spcPts val="1000"/>
              </a:spcAft>
              <a:buNone/>
            </a:pPr>
            <a:r>
              <a:rPr sz="2800"/>
              <a:t>Son nom et son type ne peuvent plus changer</a:t>
            </a:r>
          </a:p>
        </p:txBody>
      </p:sp>
      <p:sp>
        <p:nvSpPr>
          <p:cNvPr id="4" name="Code"/>
          <p:cNvSpPr txBox="1"/>
          <p:nvPr/>
        </p:nvSpPr>
        <p:spPr>
          <a:xfrm>
            <a:off x="3429000" y="3307080"/>
            <a:ext cx="5334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Livre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exemplaires;</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ailleurs, sans que Livre le sache</a:t>
            </a:r>
          </a:p>
          <a:p>
            <a:pPr>
              <a:lnSpc>
                <a:spcPct val="100000"/>
              </a:lnSpc>
              <a:spcBef>
                <a:spcPts val="0"/>
              </a:spcBef>
              <a:spcAft>
                <a:spcPts val="0"/>
              </a:spcAft>
            </a:pPr>
            <a:r>
              <a:rPr sz="1800">
                <a:solidFill>
                  <a:srgbClr val="BCBEC4"/>
                </a:solidFill>
                <a:latin typeface="Consolas"/>
              </a:rPr>
              <a:t>livre.exemplaires = -</a:t>
            </a:r>
            <a:r>
              <a:rPr sz="1800">
                <a:solidFill>
                  <a:srgbClr val="2AACB8"/>
                </a:solidFill>
                <a:latin typeface="Consolas"/>
              </a:rPr>
              <a:t>3</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l'accesseur garde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accesseur </a:t>
            </a:r>
            <a:r>
              <a:rPr sz="2400">
                <a:solidFill>
                  <a:schemeClr val="accent4"/>
                </a:solidFill>
                <a:latin typeface="Consolas"/>
              </a:rPr>
              <a:t>public</a:t>
            </a:r>
            <a:r>
              <a:rPr sz="2800"/>
              <a:t> ne donne que la lecture</a:t>
            </a:r>
          </a:p>
          <a:p>
            <a:pPr marL="0" indent="0">
              <a:spcAft>
                <a:spcPts val="1000"/>
              </a:spcAft>
              <a:buNone/>
            </a:pPr>
            <a:r>
              <a:rPr sz="2800"/>
              <a:t>La classe peut calculer, formater, refuser la valeur</a:t>
            </a:r>
          </a:p>
          <a:p>
            <a:pPr marL="0" indent="0">
              <a:spcAft>
                <a:spcPts val="1000"/>
              </a:spcAft>
              <a:buNone/>
            </a:pPr>
            <a:r>
              <a:rPr sz="2800"/>
              <a:t>Son corps change sans qu'aucun appelant ne le sache</a:t>
            </a:r>
          </a:p>
        </p:txBody>
      </p:sp>
      <p:sp>
        <p:nvSpPr>
          <p:cNvPr id="4" name="Code"/>
          <p:cNvSpPr txBox="1"/>
          <p:nvPr/>
        </p:nvSpPr>
        <p:spPr>
          <a:xfrm>
            <a:off x="2008527" y="3307080"/>
            <a:ext cx="8144466"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Livre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exemplaires;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empruntes;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getDisponibles</a:t>
            </a:r>
            <a:r>
              <a:rPr sz="1800">
                <a:solidFill>
                  <a:srgbClr val="BCBEC4"/>
                </a:solidFill>
                <a:latin typeface="Consolas"/>
              </a:rPr>
              <a:t>() {       </a:t>
            </a:r>
            <a:r>
              <a:rPr sz="1800">
                <a:solidFill>
                  <a:srgbClr val="7A7E85"/>
                </a:solidFill>
                <a:latin typeface="Consolas"/>
              </a:rPr>
              <a:t>// hier : un champ</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exemplaires - empruntes;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Ce que voit une classe d'un autre package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CC-OBJ.2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5ECFD29-EC3E-DD0B-2006-85AB3043E99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862793"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La surface publique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17</a:t>
            </a:fld>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Chaque membre </a:t>
            </a:r>
            <a:r>
              <a:rPr sz="3600">
                <a:solidFill>
                  <a:schemeClr val="accent4"/>
                </a:solidFill>
                <a:latin typeface="Consolas"/>
              </a:rPr>
              <a:t>public</a:t>
            </a:r>
            <a:r>
              <a:rPr sz="4000"/>
              <a:t> est une promesse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Ce qui est </a:t>
            </a:r>
            <a:r>
              <a:rPr sz="2400">
                <a:solidFill>
                  <a:schemeClr val="accent4"/>
                </a:solidFill>
                <a:latin typeface="Consolas"/>
              </a:rPr>
              <a:t>public</a:t>
            </a:r>
            <a:r>
              <a:rPr sz="2800"/>
              <a:t> peut être utilisé n'importe où, donc ne peut plus changer librement</a:t>
            </a:r>
          </a:p>
          <a:p>
            <a:pPr marL="0" indent="0">
              <a:spcAft>
                <a:spcPts val="1000"/>
              </a:spcAft>
              <a:buNone/>
            </a:pPr>
            <a:r>
              <a:rPr sz="2800"/>
              <a:t>Fermer un membre ouvert casse le code des autres ; ouvrir un membre fermé ne casse rien</a:t>
            </a:r>
          </a:p>
          <a:p>
            <a:pPr marL="0" indent="0">
              <a:spcAft>
                <a:spcPts val="1000"/>
              </a:spcAft>
              <a:buNone/>
            </a:pPr>
            <a:r>
              <a:rPr sz="2800"/>
              <a:t>D'où la règle : partir du plus fermé, et n'ouvrir que sur un besoin réel</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Choisir, membre par membre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niveau </a:t>
            </a:r>
            <a:r>
              <a:rPr sz="2400">
                <a:solidFill>
                  <a:schemeClr val="accent4"/>
                </a:solidFill>
                <a:latin typeface="Consolas"/>
              </a:rPr>
              <a:t>private</a:t>
            </a:r>
            <a:r>
              <a:rPr sz="2800"/>
              <a:t> d'abord : le cas le plus fréquent</a:t>
            </a:r>
          </a:p>
          <a:p>
            <a:pPr marL="0" indent="0">
              <a:spcAft>
                <a:spcPts val="1000"/>
              </a:spcAft>
              <a:buNone/>
            </a:pPr>
            <a:r>
              <a:rPr sz="2800"/>
              <a:t>La visibilité de package si une voisine en a besoin</a:t>
            </a:r>
          </a:p>
          <a:p>
            <a:pPr marL="0" indent="0">
              <a:spcAft>
                <a:spcPts val="1000"/>
              </a:spcAft>
              <a:buNone/>
            </a:pPr>
            <a:r>
              <a:rPr sz="2800"/>
              <a:t>Le niveau </a:t>
            </a:r>
            <a:r>
              <a:rPr sz="2400">
                <a:solidFill>
                  <a:schemeClr val="accent4"/>
                </a:solidFill>
                <a:latin typeface="Consolas"/>
              </a:rPr>
              <a:t>public</a:t>
            </a:r>
            <a:r>
              <a:rPr sz="2800"/>
              <a:t> pour ce que les autres appellent</a:t>
            </a:r>
          </a:p>
        </p:txBody>
      </p:sp>
      <p:sp>
        <p:nvSpPr>
          <p:cNvPr id="4" name="Code"/>
          <p:cNvSpPr txBox="1"/>
          <p:nvPr/>
        </p:nvSpPr>
        <p:spPr>
          <a:xfrm>
            <a:off x="2344858" y="3307080"/>
            <a:ext cx="7471804"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Catalogue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Livre[] livres = </a:t>
            </a:r>
            <a:r>
              <a:rPr sz="1700">
                <a:solidFill>
                  <a:srgbClr val="CF8E6D"/>
                </a:solidFill>
                <a:latin typeface="Consolas"/>
              </a:rPr>
              <a:t>new</a:t>
            </a:r>
            <a:r>
              <a:rPr sz="1700">
                <a:solidFill>
                  <a:srgbClr val="BCBEC4"/>
                </a:solidFill>
                <a:latin typeface="Consolas"/>
              </a:rPr>
              <a:t> Livre[</a:t>
            </a:r>
            <a:r>
              <a:rPr sz="1700">
                <a:solidFill>
                  <a:srgbClr val="2AACB8"/>
                </a:solidFill>
                <a:latin typeface="Consolas"/>
              </a:rPr>
              <a:t>100</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ajouter</a:t>
            </a:r>
            <a:r>
              <a:rPr sz="1700">
                <a:solidFill>
                  <a:srgbClr val="BCBEC4"/>
                </a:solidFill>
                <a:latin typeface="Consolas"/>
              </a:rPr>
              <a:t>(Livre livre) { ...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Livre </a:t>
            </a:r>
            <a:r>
              <a:rPr sz="1700">
                <a:solidFill>
                  <a:srgbClr val="56A8F5"/>
                </a:solidFill>
                <a:latin typeface="Consolas"/>
              </a:rPr>
              <a:t>chercher</a:t>
            </a:r>
            <a:r>
              <a:rPr sz="1700">
                <a:solidFill>
                  <a:srgbClr val="BCBEC4"/>
                </a:solidFill>
                <a:latin typeface="Consolas"/>
              </a:rPr>
              <a:t>(String isbn) { ...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boolean</a:t>
            </a:r>
            <a:r>
              <a:rPr sz="1700">
                <a:solidFill>
                  <a:srgbClr val="BCBEC4"/>
                </a:solidFill>
                <a:latin typeface="Consolas"/>
              </a:rPr>
              <a:t> </a:t>
            </a:r>
            <a:r>
              <a:rPr sz="1700">
                <a:solidFill>
                  <a:srgbClr val="56A8F5"/>
                </a:solidFill>
                <a:latin typeface="Consolas"/>
              </a:rPr>
              <a:t>estCoherent</a:t>
            </a:r>
            <a:r>
              <a:rPr sz="1700">
                <a:solidFill>
                  <a:srgbClr val="BCBEC4"/>
                </a:solidFill>
                <a:latin typeface="Consolas"/>
              </a:rPr>
              <a:t>() { ... }       </a:t>
            </a:r>
            <a:r>
              <a:rPr sz="1700">
                <a:solidFill>
                  <a:srgbClr val="7A7E85"/>
                </a:solidFill>
                <a:latin typeface="Consolas"/>
              </a:rPr>
              <a:t>// pour les tests</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agrandir</a:t>
            </a:r>
            <a:r>
              <a:rPr sz="1700">
                <a:solidFill>
                  <a:srgbClr val="BCBEC4"/>
                </a:solidFill>
                <a:latin typeface="Consolas"/>
              </a:rPr>
              <a:t>() { ... }</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classe publique par fichier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Une classe est publique ou de package, rien d'autre</a:t>
            </a:r>
          </a:p>
          <a:p>
            <a:pPr marL="0" indent="0">
              <a:spcAft>
                <a:spcPts val="1000"/>
              </a:spcAft>
              <a:buNone/>
            </a:pPr>
            <a:r>
              <a:rPr sz="2800"/>
              <a:t>Un fichier contient au plus une classe publique, et porte son nom</a:t>
            </a:r>
          </a:p>
          <a:p>
            <a:pPr marL="0" indent="0">
              <a:spcAft>
                <a:spcPts val="1000"/>
              </a:spcAft>
              <a:buNone/>
            </a:pPr>
            <a:r>
              <a:rPr sz="2800"/>
              <a:t>C'est une règle du compilateur, pas une convention</a:t>
            </a:r>
          </a:p>
        </p:txBody>
      </p:sp>
      <p:sp>
        <p:nvSpPr>
          <p:cNvPr id="4" name="Code"/>
          <p:cNvSpPr txBox="1"/>
          <p:nvPr/>
        </p:nvSpPr>
        <p:spPr>
          <a:xfrm>
            <a:off x="1263650" y="3733799"/>
            <a:ext cx="96647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fichier Catalogue.java</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Catalogue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class</a:t>
            </a:r>
            <a:r>
              <a:rPr sz="1800">
                <a:solidFill>
                  <a:srgbClr val="BCBEC4"/>
                </a:solidFill>
                <a:latin typeface="Consolas"/>
              </a:rPr>
              <a:t> Rayon { ... }             </a:t>
            </a:r>
            <a:r>
              <a:rPr sz="1800">
                <a:solidFill>
                  <a:srgbClr val="7A7E85"/>
                </a:solidFill>
                <a:latin typeface="Consolas"/>
              </a:rPr>
              <a:t>// permis : visible dans le package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Etagere { ... }    </a:t>
            </a:r>
            <a:r>
              <a:rPr sz="1800">
                <a:solidFill>
                  <a:srgbClr val="7A7E85"/>
                </a:solidFill>
                <a:latin typeface="Consolas"/>
              </a:rPr>
              <a:t>// erreur de compilation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Réduire la surface publique d'une classe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CC-CLS.2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BF1C39B-242E-867A-9B5E-014012DB5C47}"/>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895403"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Découper en packages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par responsabilité</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 package regroupe des classes qui changent pour les mêmes raisons</a:t>
            </a:r>
          </a:p>
          <a:p>
            <a:pPr marL="0" indent="0">
              <a:spcAft>
                <a:spcPts val="1000"/>
              </a:spcAft>
              <a:buNone/>
            </a:pPr>
            <a:r>
              <a:rPr sz="2800"/>
              <a:t>Un découpage courant compte trois couches : le modèle, les services, l'application</a:t>
            </a:r>
          </a:p>
          <a:p>
            <a:pPr marL="0" indent="0">
              <a:spcAft>
                <a:spcPts val="1000"/>
              </a:spcAft>
              <a:buNone/>
            </a:pPr>
            <a:r>
              <a:rPr sz="2800"/>
              <a:t>Le modèle contient les données du domaine, et ne connaît personne</a:t>
            </a:r>
          </a:p>
        </p:txBody>
      </p:sp>
      <p:sp>
        <p:nvSpPr>
          <p:cNvPr id="4" name="Code"/>
          <p:cNvSpPr txBox="1"/>
          <p:nvPr/>
        </p:nvSpPr>
        <p:spPr>
          <a:xfrm>
            <a:off x="2451100" y="4587240"/>
            <a:ext cx="72898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be.ephec.biblio.modele          Livre, Auteur</a:t>
            </a:r>
          </a:p>
          <a:p>
            <a:pPr>
              <a:lnSpc>
                <a:spcPct val="100000"/>
              </a:lnSpc>
              <a:spcBef>
                <a:spcPts val="0"/>
              </a:spcBef>
              <a:spcAft>
                <a:spcPts val="0"/>
              </a:spcAft>
            </a:pPr>
            <a:r>
              <a:rPr sz="1800">
                <a:solidFill>
                  <a:srgbClr val="BCBEC4"/>
                </a:solidFill>
                <a:latin typeface="Consolas"/>
              </a:rPr>
              <a:t>be.ephec.biblio.service         Emprunt, Catalogue</a:t>
            </a:r>
          </a:p>
          <a:p>
            <a:pPr>
              <a:lnSpc>
                <a:spcPct val="100000"/>
              </a:lnSpc>
              <a:spcBef>
                <a:spcPts val="0"/>
              </a:spcBef>
              <a:spcAft>
                <a:spcPts val="0"/>
              </a:spcAft>
            </a:pPr>
            <a:r>
              <a:rPr sz="1800">
                <a:solidFill>
                  <a:srgbClr val="BCBEC4"/>
                </a:solidFill>
                <a:latin typeface="Consolas"/>
              </a:rPr>
              <a:t>be.ephec.biblio.application     Main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imports dessinent les dépendances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Les </a:t>
            </a:r>
            <a:r>
              <a:rPr sz="2400">
                <a:solidFill>
                  <a:schemeClr val="accent4"/>
                </a:solidFill>
                <a:latin typeface="Consolas"/>
              </a:rPr>
              <a:t>import</a:t>
            </a:r>
            <a:r>
              <a:rPr sz="2800"/>
              <a:t> d'une classe disent de quoi elle dépend</a:t>
            </a:r>
          </a:p>
          <a:p>
            <a:pPr marL="0" indent="0">
              <a:spcAft>
                <a:spcPts val="1000"/>
              </a:spcAft>
              <a:buNone/>
            </a:pPr>
            <a:r>
              <a:rPr sz="2800"/>
              <a:t>Dans un programme bien découpé, les dépendances vont toutes dans le même sens</a:t>
            </a:r>
          </a:p>
          <a:p>
            <a:pPr marL="0" indent="0">
              <a:spcAft>
                <a:spcPts val="1000"/>
              </a:spcAft>
              <a:buNone/>
            </a:pPr>
            <a:r>
              <a:rPr sz="2800"/>
              <a:t>Une dépendance qui remonte signale une responsabilité rangée dans la mauvaise couche</a:t>
            </a:r>
          </a:p>
        </p:txBody>
      </p:sp>
      <p:sp>
        <p:nvSpPr>
          <p:cNvPr id="4" name="Code"/>
          <p:cNvSpPr txBox="1"/>
          <p:nvPr/>
        </p:nvSpPr>
        <p:spPr>
          <a:xfrm>
            <a:off x="3429000" y="4160520"/>
            <a:ext cx="53340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application  -&gt;  service  -&gt;  modele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les classes du modele n'importent</a:t>
            </a:r>
          </a:p>
          <a:p>
            <a:pPr>
              <a:lnSpc>
                <a:spcPct val="100000"/>
              </a:lnSpc>
              <a:spcBef>
                <a:spcPts val="0"/>
              </a:spcBef>
              <a:spcAft>
                <a:spcPts val="0"/>
              </a:spcAft>
            </a:pPr>
            <a:r>
              <a:rPr sz="1800">
                <a:solidFill>
                  <a:srgbClr val="7A7E85"/>
                </a:solidFill>
                <a:latin typeface="Consolas"/>
              </a:rPr>
              <a:t>// ni les services, ni l'application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Déplacer une classe avec l'outil</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refactoring </a:t>
            </a:r>
            <a:r>
              <a:rPr sz="2400">
                <a:solidFill>
                  <a:schemeClr val="accent4"/>
                </a:solidFill>
                <a:latin typeface="Consolas"/>
              </a:rPr>
              <a:t>Move</a:t>
            </a:r>
            <a:r>
              <a:rPr sz="2800"/>
              <a:t>, touche </a:t>
            </a:r>
            <a:r>
              <a:rPr sz="2400">
                <a:solidFill>
                  <a:schemeClr val="accent4"/>
                </a:solidFill>
                <a:latin typeface="Consolas"/>
              </a:rPr>
              <a:t>F6</a:t>
            </a:r>
            <a:r>
              <a:rPr sz="2800"/>
              <a:t>, déplace le fichier et corrige la ligne </a:t>
            </a:r>
            <a:r>
              <a:rPr sz="2400">
                <a:solidFill>
                  <a:schemeClr val="accent4"/>
                </a:solidFill>
                <a:latin typeface="Consolas"/>
              </a:rPr>
              <a:t>package</a:t>
            </a:r>
          </a:p>
          <a:p>
            <a:pPr marL="0" indent="0">
              <a:spcAft>
                <a:spcPts val="1000"/>
              </a:spcAft>
              <a:buNone/>
            </a:pPr>
            <a:r>
              <a:rPr sz="2800"/>
              <a:t>Il ajoute les </a:t>
            </a:r>
            <a:r>
              <a:rPr sz="2400">
                <a:solidFill>
                  <a:schemeClr val="accent4"/>
                </a:solidFill>
                <a:latin typeface="Consolas"/>
              </a:rPr>
              <a:t>import</a:t>
            </a:r>
            <a:r>
              <a:rPr sz="2800"/>
              <a:t> dans toutes les classes qui l'utilisent</a:t>
            </a:r>
          </a:p>
          <a:p>
            <a:pPr marL="0" indent="0">
              <a:spcAft>
                <a:spcPts val="1000"/>
              </a:spcAft>
              <a:buNone/>
            </a:pPr>
            <a:r>
              <a:rPr sz="2800"/>
              <a:t>Un fichier déplacé à la main garde une ligne </a:t>
            </a:r>
            <a:r>
              <a:rPr sz="2400">
                <a:solidFill>
                  <a:schemeClr val="accent4"/>
                </a:solidFill>
                <a:latin typeface="Consolas"/>
              </a:rPr>
              <a:t>package</a:t>
            </a:r>
            <a:r>
              <a:rPr sz="2800"/>
              <a:t> fausse, et une copie en laisse deux</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Découper un programme en packages</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CC-CLS.1</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7312B56-9966-61CE-39DC-F524EAAA12A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23782" cy="1105200"/>
          </a:xfrm>
          <a:prstGeom prst="rect">
            <a:avLst/>
          </a:prstGeom>
          <a:solidFill>
            <a:schemeClr val="tx2">
              <a:lumMod val="25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Le quatrième niveau</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rappel du module ABS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niveau </a:t>
            </a:r>
            <a:r>
              <a:rPr sz="2400">
                <a:solidFill>
                  <a:schemeClr val="accent4"/>
                </a:solidFill>
                <a:latin typeface="Consolas"/>
              </a:rPr>
              <a:t>protected</a:t>
            </a:r>
            <a:r>
              <a:rPr sz="2800"/>
              <a:t> ouvre un membre aux sous-classes</a:t>
            </a:r>
          </a:p>
          <a:p>
            <a:pPr marL="0" indent="0">
              <a:spcAft>
                <a:spcPts val="1000"/>
              </a:spcAft>
              <a:buNone/>
            </a:pPr>
            <a:r>
              <a:rPr sz="2800"/>
              <a:t>Il l'ouvre aussi au package, ce qu'on oublie souvent</a:t>
            </a:r>
          </a:p>
          <a:p>
            <a:pPr marL="0" indent="0">
              <a:spcAft>
                <a:spcPts val="1000"/>
              </a:spcAft>
              <a:buNone/>
            </a:pPr>
            <a:r>
              <a:rPr sz="2800"/>
              <a:t>Son effet propre : une sous-classe d'un autre package</a:t>
            </a:r>
          </a:p>
        </p:txBody>
      </p:sp>
      <p:sp>
        <p:nvSpPr>
          <p:cNvPr id="4" name="Code"/>
          <p:cNvSpPr txBox="1"/>
          <p:nvPr/>
        </p:nvSpPr>
        <p:spPr>
          <a:xfrm>
            <a:off x="3359150" y="3307080"/>
            <a:ext cx="54737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be.ephec.biblio.modele;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Document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String cote;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pages;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56A8F5"/>
                </a:solidFill>
                <a:latin typeface="Consolas"/>
              </a:rPr>
              <a:t>Document</a:t>
            </a:r>
            <a:r>
              <a:rPr sz="1800">
                <a:solidFill>
                  <a:srgbClr val="BCBEC4"/>
                </a:solidFill>
                <a:latin typeface="Consolas"/>
              </a:rPr>
              <a:t>(String cote)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.cote = cote;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quatre niveaux</a:t>
            </a:r>
          </a:p>
        </p:txBody>
      </p:sp>
      <p:sp>
        <p:nvSpPr>
          <p:cNvPr id="3" name="TextBox 2"/>
          <p:cNvSpPr txBox="1"/>
          <p:nvPr/>
        </p:nvSpPr>
        <p:spPr>
          <a:xfrm>
            <a:off x="777240" y="1371600"/>
            <a:ext cx="1539240" cy="585216"/>
          </a:xfrm>
          <a:prstGeom prst="rect">
            <a:avLst/>
          </a:prstGeom>
          <a:noFill/>
        </p:spPr>
        <p:txBody>
          <a:bodyPr wrap="square" anchor="ctr">
            <a:spAutoFit/>
          </a:bodyPr>
          <a:lstStyle/>
          <a:p>
            <a:r>
              <a:rPr sz="2000" b="1">
                <a:solidFill>
                  <a:schemeClr val="accent4"/>
                </a:solidFill>
              </a:rPr>
              <a:t>Niveau</a:t>
            </a:r>
          </a:p>
        </p:txBody>
      </p:sp>
      <p:sp>
        <p:nvSpPr>
          <p:cNvPr id="4" name="TextBox 3"/>
          <p:cNvSpPr txBox="1"/>
          <p:nvPr/>
        </p:nvSpPr>
        <p:spPr>
          <a:xfrm>
            <a:off x="2590800" y="1371600"/>
            <a:ext cx="1539240" cy="585216"/>
          </a:xfrm>
          <a:prstGeom prst="rect">
            <a:avLst/>
          </a:prstGeom>
          <a:noFill/>
        </p:spPr>
        <p:txBody>
          <a:bodyPr wrap="square" anchor="ctr">
            <a:spAutoFit/>
          </a:bodyPr>
          <a:lstStyle/>
          <a:p>
            <a:r>
              <a:rPr sz="2000" b="1">
                <a:solidFill>
                  <a:schemeClr val="accent4"/>
                </a:solidFill>
              </a:rPr>
              <a:t>Classe</a:t>
            </a:r>
          </a:p>
        </p:txBody>
      </p:sp>
      <p:sp>
        <p:nvSpPr>
          <p:cNvPr id="5" name="TextBox 4"/>
          <p:cNvSpPr txBox="1"/>
          <p:nvPr/>
        </p:nvSpPr>
        <p:spPr>
          <a:xfrm>
            <a:off x="4404360" y="1371600"/>
            <a:ext cx="1539240" cy="585216"/>
          </a:xfrm>
          <a:prstGeom prst="rect">
            <a:avLst/>
          </a:prstGeom>
          <a:noFill/>
        </p:spPr>
        <p:txBody>
          <a:bodyPr wrap="square" anchor="ctr">
            <a:spAutoFit/>
          </a:bodyPr>
          <a:lstStyle/>
          <a:p>
            <a:r>
              <a:rPr sz="2000" b="1">
                <a:solidFill>
                  <a:schemeClr val="accent4"/>
                </a:solidFill>
              </a:rPr>
              <a:t>Package</a:t>
            </a:r>
          </a:p>
        </p:txBody>
      </p:sp>
      <p:sp>
        <p:nvSpPr>
          <p:cNvPr id="6" name="TextBox 5"/>
          <p:cNvSpPr txBox="1"/>
          <p:nvPr/>
        </p:nvSpPr>
        <p:spPr>
          <a:xfrm>
            <a:off x="6217920" y="1371600"/>
            <a:ext cx="3352800" cy="585216"/>
          </a:xfrm>
          <a:prstGeom prst="rect">
            <a:avLst/>
          </a:prstGeom>
          <a:noFill/>
        </p:spPr>
        <p:txBody>
          <a:bodyPr wrap="square" anchor="ctr">
            <a:spAutoFit/>
          </a:bodyPr>
          <a:lstStyle/>
          <a:p>
            <a:r>
              <a:rPr sz="2000" b="1">
                <a:solidFill>
                  <a:schemeClr val="accent4"/>
                </a:solidFill>
              </a:rPr>
              <a:t>Sous-classe ailleurs</a:t>
            </a:r>
          </a:p>
        </p:txBody>
      </p:sp>
      <p:sp>
        <p:nvSpPr>
          <p:cNvPr id="7" name="TextBox 6"/>
          <p:cNvSpPr txBox="1"/>
          <p:nvPr/>
        </p:nvSpPr>
        <p:spPr>
          <a:xfrm>
            <a:off x="9845040" y="1371600"/>
            <a:ext cx="1539240" cy="585216"/>
          </a:xfrm>
          <a:prstGeom prst="rect">
            <a:avLst/>
          </a:prstGeom>
          <a:noFill/>
        </p:spPr>
        <p:txBody>
          <a:bodyPr wrap="square" anchor="ctr">
            <a:spAutoFit/>
          </a:bodyPr>
          <a:lstStyle/>
          <a:p>
            <a:r>
              <a:rPr sz="2000" b="1">
                <a:solidFill>
                  <a:schemeClr val="accent4"/>
                </a:solidFill>
              </a:rPr>
              <a:t>Reste</a:t>
            </a:r>
          </a:p>
        </p:txBody>
      </p:sp>
      <p:grpSp>
        <p:nvGrpSpPr>
          <p:cNvPr id="34" name="Groupe 33">
            <a:extLst>
              <a:ext uri="{FF2B5EF4-FFF2-40B4-BE49-F238E27FC236}">
                <a16:creationId xmlns:a16="http://schemas.microsoft.com/office/drawing/2014/main" id="{F7CBC34D-7983-1D8E-1D22-599E89F466F6}"/>
              </a:ext>
            </a:extLst>
          </p:cNvPr>
          <p:cNvGrpSpPr/>
          <p:nvPr/>
        </p:nvGrpSpPr>
        <p:grpSpPr>
          <a:xfrm>
            <a:off x="640080" y="2029967"/>
            <a:ext cx="10881360" cy="585216"/>
            <a:chOff x="640080" y="2029967"/>
            <a:chExt cx="10881360" cy="585216"/>
          </a:xfrm>
        </p:grpSpPr>
        <p:sp>
          <p:nvSpPr>
            <p:cNvPr id="8" name="Rounded Rectangle 7"/>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029967"/>
              <a:ext cx="1539240" cy="585216"/>
            </a:xfrm>
            <a:prstGeom prst="rect">
              <a:avLst/>
            </a:prstGeom>
            <a:noFill/>
          </p:spPr>
          <p:txBody>
            <a:bodyPr wrap="square" anchor="ctr">
              <a:spAutoFit/>
            </a:bodyPr>
            <a:lstStyle/>
            <a:p>
              <a:r>
                <a:rPr sz="1900">
                  <a:solidFill>
                    <a:schemeClr val="accent4"/>
                  </a:solidFill>
                  <a:latin typeface="Consolas"/>
                </a:rPr>
                <a:t>private</a:t>
              </a:r>
            </a:p>
          </p:txBody>
        </p:sp>
        <p:sp>
          <p:nvSpPr>
            <p:cNvPr id="10" name="TextBox 9"/>
            <p:cNvSpPr txBox="1"/>
            <p:nvPr/>
          </p:nvSpPr>
          <p:spPr>
            <a:xfrm>
              <a:off x="2590800" y="2029967"/>
              <a:ext cx="1539240" cy="585216"/>
            </a:xfrm>
            <a:prstGeom prst="rect">
              <a:avLst/>
            </a:prstGeom>
            <a:noFill/>
          </p:spPr>
          <p:txBody>
            <a:bodyPr wrap="square" anchor="ctr">
              <a:spAutoFit/>
            </a:bodyPr>
            <a:lstStyle/>
            <a:p>
              <a:r>
                <a:rPr sz="2200">
                  <a:solidFill>
                    <a:srgbClr val="FFFFFF"/>
                  </a:solidFill>
                </a:rPr>
                <a:t>oui</a:t>
              </a:r>
            </a:p>
          </p:txBody>
        </p:sp>
        <p:sp>
          <p:nvSpPr>
            <p:cNvPr id="11" name="TextBox 10"/>
            <p:cNvSpPr txBox="1"/>
            <p:nvPr/>
          </p:nvSpPr>
          <p:spPr>
            <a:xfrm>
              <a:off x="4404360" y="2029967"/>
              <a:ext cx="1539240" cy="585216"/>
            </a:xfrm>
            <a:prstGeom prst="rect">
              <a:avLst/>
            </a:prstGeom>
            <a:noFill/>
          </p:spPr>
          <p:txBody>
            <a:bodyPr wrap="square" anchor="ctr">
              <a:spAutoFit/>
            </a:bodyPr>
            <a:lstStyle/>
            <a:p>
              <a:r>
                <a:rPr sz="2200">
                  <a:solidFill>
                    <a:srgbClr val="FFFFFF"/>
                  </a:solidFill>
                </a:rPr>
                <a:t>non</a:t>
              </a:r>
            </a:p>
          </p:txBody>
        </p:sp>
        <p:sp>
          <p:nvSpPr>
            <p:cNvPr id="12" name="TextBox 11"/>
            <p:cNvSpPr txBox="1"/>
            <p:nvPr/>
          </p:nvSpPr>
          <p:spPr>
            <a:xfrm>
              <a:off x="6217920" y="2029967"/>
              <a:ext cx="3352800" cy="585216"/>
            </a:xfrm>
            <a:prstGeom prst="rect">
              <a:avLst/>
            </a:prstGeom>
            <a:noFill/>
          </p:spPr>
          <p:txBody>
            <a:bodyPr wrap="square" anchor="ctr">
              <a:spAutoFit/>
            </a:bodyPr>
            <a:lstStyle/>
            <a:p>
              <a:r>
                <a:rPr sz="2200">
                  <a:solidFill>
                    <a:srgbClr val="FFFFFF"/>
                  </a:solidFill>
                </a:rPr>
                <a:t>non</a:t>
              </a:r>
            </a:p>
          </p:txBody>
        </p:sp>
        <p:sp>
          <p:nvSpPr>
            <p:cNvPr id="13" name="TextBox 12"/>
            <p:cNvSpPr txBox="1"/>
            <p:nvPr/>
          </p:nvSpPr>
          <p:spPr>
            <a:xfrm>
              <a:off x="9845040" y="2029967"/>
              <a:ext cx="1539240" cy="585216"/>
            </a:xfrm>
            <a:prstGeom prst="rect">
              <a:avLst/>
            </a:prstGeom>
            <a:noFill/>
          </p:spPr>
          <p:txBody>
            <a:bodyPr wrap="square" anchor="ctr">
              <a:spAutoFit/>
            </a:bodyPr>
            <a:lstStyle/>
            <a:p>
              <a:r>
                <a:rPr sz="2200">
                  <a:solidFill>
                    <a:srgbClr val="FFFFFF"/>
                  </a:solidFill>
                </a:rPr>
                <a:t>non</a:t>
              </a:r>
            </a:p>
          </p:txBody>
        </p:sp>
      </p:grpSp>
      <p:grpSp>
        <p:nvGrpSpPr>
          <p:cNvPr id="35" name="Groupe 34">
            <a:extLst>
              <a:ext uri="{FF2B5EF4-FFF2-40B4-BE49-F238E27FC236}">
                <a16:creationId xmlns:a16="http://schemas.microsoft.com/office/drawing/2014/main" id="{E876BFEA-B191-C5C4-EF96-9E9B329C05DD}"/>
              </a:ext>
            </a:extLst>
          </p:cNvPr>
          <p:cNvGrpSpPr/>
          <p:nvPr/>
        </p:nvGrpSpPr>
        <p:grpSpPr>
          <a:xfrm>
            <a:off x="640080" y="2688335"/>
            <a:ext cx="10881360" cy="585216"/>
            <a:chOff x="640080" y="2688335"/>
            <a:chExt cx="10881360" cy="585216"/>
          </a:xfrm>
        </p:grpSpPr>
        <p:sp>
          <p:nvSpPr>
            <p:cNvPr id="14" name="Rounded Rectangle 13"/>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688335"/>
              <a:ext cx="1539240" cy="585216"/>
            </a:xfrm>
            <a:prstGeom prst="rect">
              <a:avLst/>
            </a:prstGeom>
            <a:noFill/>
          </p:spPr>
          <p:txBody>
            <a:bodyPr wrap="square" anchor="ctr">
              <a:spAutoFit/>
            </a:bodyPr>
            <a:lstStyle/>
            <a:p>
              <a:r>
                <a:rPr sz="2200" i="1">
                  <a:solidFill>
                    <a:srgbClr val="FFFFFF"/>
                  </a:solidFill>
                </a:rPr>
                <a:t>(rien)</a:t>
              </a:r>
            </a:p>
          </p:txBody>
        </p:sp>
        <p:sp>
          <p:nvSpPr>
            <p:cNvPr id="16" name="TextBox 15"/>
            <p:cNvSpPr txBox="1"/>
            <p:nvPr/>
          </p:nvSpPr>
          <p:spPr>
            <a:xfrm>
              <a:off x="2590800" y="2688335"/>
              <a:ext cx="1539240" cy="585216"/>
            </a:xfrm>
            <a:prstGeom prst="rect">
              <a:avLst/>
            </a:prstGeom>
            <a:noFill/>
          </p:spPr>
          <p:txBody>
            <a:bodyPr wrap="square" anchor="ctr">
              <a:spAutoFit/>
            </a:bodyPr>
            <a:lstStyle/>
            <a:p>
              <a:r>
                <a:rPr sz="2200">
                  <a:solidFill>
                    <a:srgbClr val="FFFFFF"/>
                  </a:solidFill>
                </a:rPr>
                <a:t>oui</a:t>
              </a:r>
            </a:p>
          </p:txBody>
        </p:sp>
        <p:sp>
          <p:nvSpPr>
            <p:cNvPr id="17" name="TextBox 16"/>
            <p:cNvSpPr txBox="1"/>
            <p:nvPr/>
          </p:nvSpPr>
          <p:spPr>
            <a:xfrm>
              <a:off x="4404360" y="2688335"/>
              <a:ext cx="1539240" cy="585216"/>
            </a:xfrm>
            <a:prstGeom prst="rect">
              <a:avLst/>
            </a:prstGeom>
            <a:noFill/>
          </p:spPr>
          <p:txBody>
            <a:bodyPr wrap="square" anchor="ctr">
              <a:spAutoFit/>
            </a:bodyPr>
            <a:lstStyle/>
            <a:p>
              <a:r>
                <a:rPr sz="2200">
                  <a:solidFill>
                    <a:srgbClr val="FFFFFF"/>
                  </a:solidFill>
                </a:rPr>
                <a:t>oui</a:t>
              </a:r>
            </a:p>
          </p:txBody>
        </p:sp>
        <p:sp>
          <p:nvSpPr>
            <p:cNvPr id="18" name="TextBox 17"/>
            <p:cNvSpPr txBox="1"/>
            <p:nvPr/>
          </p:nvSpPr>
          <p:spPr>
            <a:xfrm>
              <a:off x="6217920" y="2688335"/>
              <a:ext cx="3352800" cy="585216"/>
            </a:xfrm>
            <a:prstGeom prst="rect">
              <a:avLst/>
            </a:prstGeom>
            <a:noFill/>
          </p:spPr>
          <p:txBody>
            <a:bodyPr wrap="square" anchor="ctr">
              <a:spAutoFit/>
            </a:bodyPr>
            <a:lstStyle/>
            <a:p>
              <a:r>
                <a:rPr sz="2200">
                  <a:solidFill>
                    <a:srgbClr val="FFFFFF"/>
                  </a:solidFill>
                </a:rPr>
                <a:t>non</a:t>
              </a:r>
            </a:p>
          </p:txBody>
        </p:sp>
        <p:sp>
          <p:nvSpPr>
            <p:cNvPr id="19" name="TextBox 18"/>
            <p:cNvSpPr txBox="1"/>
            <p:nvPr/>
          </p:nvSpPr>
          <p:spPr>
            <a:xfrm>
              <a:off x="9845040" y="2688335"/>
              <a:ext cx="1539240" cy="585216"/>
            </a:xfrm>
            <a:prstGeom prst="rect">
              <a:avLst/>
            </a:prstGeom>
            <a:noFill/>
          </p:spPr>
          <p:txBody>
            <a:bodyPr wrap="square" anchor="ctr">
              <a:spAutoFit/>
            </a:bodyPr>
            <a:lstStyle/>
            <a:p>
              <a:r>
                <a:rPr sz="2200">
                  <a:solidFill>
                    <a:srgbClr val="FFFFFF"/>
                  </a:solidFill>
                </a:rPr>
                <a:t>non</a:t>
              </a:r>
            </a:p>
          </p:txBody>
        </p:sp>
      </p:grpSp>
      <p:grpSp>
        <p:nvGrpSpPr>
          <p:cNvPr id="36" name="Groupe 35">
            <a:extLst>
              <a:ext uri="{FF2B5EF4-FFF2-40B4-BE49-F238E27FC236}">
                <a16:creationId xmlns:a16="http://schemas.microsoft.com/office/drawing/2014/main" id="{86E7D652-7634-915C-86EC-D1133B1904A4}"/>
              </a:ext>
            </a:extLst>
          </p:cNvPr>
          <p:cNvGrpSpPr/>
          <p:nvPr/>
        </p:nvGrpSpPr>
        <p:grpSpPr>
          <a:xfrm>
            <a:off x="640080" y="3346703"/>
            <a:ext cx="10881360" cy="585216"/>
            <a:chOff x="640080" y="3346703"/>
            <a:chExt cx="10881360" cy="585216"/>
          </a:xfrm>
        </p:grpSpPr>
        <p:sp>
          <p:nvSpPr>
            <p:cNvPr id="20" name="Rounded Rectangle 19"/>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346703"/>
              <a:ext cx="1539240" cy="585216"/>
            </a:xfrm>
            <a:prstGeom prst="rect">
              <a:avLst/>
            </a:prstGeom>
            <a:noFill/>
          </p:spPr>
          <p:txBody>
            <a:bodyPr wrap="square" anchor="ctr">
              <a:spAutoFit/>
            </a:bodyPr>
            <a:lstStyle/>
            <a:p>
              <a:r>
                <a:rPr sz="1900">
                  <a:solidFill>
                    <a:schemeClr val="accent4"/>
                  </a:solidFill>
                  <a:latin typeface="Consolas"/>
                </a:rPr>
                <a:t>protected</a:t>
              </a:r>
            </a:p>
          </p:txBody>
        </p:sp>
        <p:sp>
          <p:nvSpPr>
            <p:cNvPr id="22" name="TextBox 21"/>
            <p:cNvSpPr txBox="1"/>
            <p:nvPr/>
          </p:nvSpPr>
          <p:spPr>
            <a:xfrm>
              <a:off x="2590800" y="3346703"/>
              <a:ext cx="1539240" cy="585216"/>
            </a:xfrm>
            <a:prstGeom prst="rect">
              <a:avLst/>
            </a:prstGeom>
            <a:noFill/>
          </p:spPr>
          <p:txBody>
            <a:bodyPr wrap="square" anchor="ctr">
              <a:spAutoFit/>
            </a:bodyPr>
            <a:lstStyle/>
            <a:p>
              <a:r>
                <a:rPr sz="2200">
                  <a:solidFill>
                    <a:srgbClr val="FFFFFF"/>
                  </a:solidFill>
                </a:rPr>
                <a:t>oui</a:t>
              </a:r>
            </a:p>
          </p:txBody>
        </p:sp>
        <p:sp>
          <p:nvSpPr>
            <p:cNvPr id="23" name="TextBox 22"/>
            <p:cNvSpPr txBox="1"/>
            <p:nvPr/>
          </p:nvSpPr>
          <p:spPr>
            <a:xfrm>
              <a:off x="4404360" y="3346703"/>
              <a:ext cx="1539240" cy="585216"/>
            </a:xfrm>
            <a:prstGeom prst="rect">
              <a:avLst/>
            </a:prstGeom>
            <a:noFill/>
          </p:spPr>
          <p:txBody>
            <a:bodyPr wrap="square" anchor="ctr">
              <a:spAutoFit/>
            </a:bodyPr>
            <a:lstStyle/>
            <a:p>
              <a:r>
                <a:rPr sz="2200">
                  <a:solidFill>
                    <a:srgbClr val="FFFFFF"/>
                  </a:solidFill>
                </a:rPr>
                <a:t>oui</a:t>
              </a:r>
            </a:p>
          </p:txBody>
        </p:sp>
        <p:sp>
          <p:nvSpPr>
            <p:cNvPr id="24" name="TextBox 23"/>
            <p:cNvSpPr txBox="1"/>
            <p:nvPr/>
          </p:nvSpPr>
          <p:spPr>
            <a:xfrm>
              <a:off x="6217920" y="3346703"/>
              <a:ext cx="3352800" cy="585216"/>
            </a:xfrm>
            <a:prstGeom prst="rect">
              <a:avLst/>
            </a:prstGeom>
            <a:noFill/>
          </p:spPr>
          <p:txBody>
            <a:bodyPr wrap="square" anchor="ctr">
              <a:spAutoFit/>
            </a:bodyPr>
            <a:lstStyle/>
            <a:p>
              <a:r>
                <a:rPr sz="2200">
                  <a:solidFill>
                    <a:srgbClr val="FFFFFF"/>
                  </a:solidFill>
                </a:rPr>
                <a:t>oui</a:t>
              </a:r>
            </a:p>
          </p:txBody>
        </p:sp>
        <p:sp>
          <p:nvSpPr>
            <p:cNvPr id="25" name="TextBox 24"/>
            <p:cNvSpPr txBox="1"/>
            <p:nvPr/>
          </p:nvSpPr>
          <p:spPr>
            <a:xfrm>
              <a:off x="9845040" y="3346703"/>
              <a:ext cx="1539240" cy="585216"/>
            </a:xfrm>
            <a:prstGeom prst="rect">
              <a:avLst/>
            </a:prstGeom>
            <a:noFill/>
          </p:spPr>
          <p:txBody>
            <a:bodyPr wrap="square" anchor="ctr">
              <a:spAutoFit/>
            </a:bodyPr>
            <a:lstStyle/>
            <a:p>
              <a:r>
                <a:rPr sz="2200">
                  <a:solidFill>
                    <a:srgbClr val="FFFFFF"/>
                  </a:solidFill>
                </a:rPr>
                <a:t>non</a:t>
              </a:r>
            </a:p>
          </p:txBody>
        </p:sp>
      </p:grpSp>
      <p:grpSp>
        <p:nvGrpSpPr>
          <p:cNvPr id="37" name="Groupe 36">
            <a:extLst>
              <a:ext uri="{FF2B5EF4-FFF2-40B4-BE49-F238E27FC236}">
                <a16:creationId xmlns:a16="http://schemas.microsoft.com/office/drawing/2014/main" id="{EADDE698-7E0B-04B8-78DA-0B6344F3A446}"/>
              </a:ext>
            </a:extLst>
          </p:cNvPr>
          <p:cNvGrpSpPr/>
          <p:nvPr/>
        </p:nvGrpSpPr>
        <p:grpSpPr>
          <a:xfrm>
            <a:off x="640080" y="4005071"/>
            <a:ext cx="10881360" cy="585216"/>
            <a:chOff x="640080" y="4005071"/>
            <a:chExt cx="10881360" cy="585216"/>
          </a:xfrm>
        </p:grpSpPr>
        <p:sp>
          <p:nvSpPr>
            <p:cNvPr id="26" name="Rounded Rectangle 25"/>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4005071"/>
              <a:ext cx="1539240" cy="585216"/>
            </a:xfrm>
            <a:prstGeom prst="rect">
              <a:avLst/>
            </a:prstGeom>
            <a:noFill/>
          </p:spPr>
          <p:txBody>
            <a:bodyPr wrap="square" anchor="ctr">
              <a:spAutoFit/>
            </a:bodyPr>
            <a:lstStyle/>
            <a:p>
              <a:r>
                <a:rPr sz="1900">
                  <a:solidFill>
                    <a:schemeClr val="accent4"/>
                  </a:solidFill>
                  <a:latin typeface="Consolas"/>
                </a:rPr>
                <a:t>public</a:t>
              </a:r>
            </a:p>
          </p:txBody>
        </p:sp>
        <p:sp>
          <p:nvSpPr>
            <p:cNvPr id="28" name="TextBox 27"/>
            <p:cNvSpPr txBox="1"/>
            <p:nvPr/>
          </p:nvSpPr>
          <p:spPr>
            <a:xfrm>
              <a:off x="2590800" y="4005071"/>
              <a:ext cx="1539240" cy="585216"/>
            </a:xfrm>
            <a:prstGeom prst="rect">
              <a:avLst/>
            </a:prstGeom>
            <a:noFill/>
          </p:spPr>
          <p:txBody>
            <a:bodyPr wrap="square" anchor="ctr">
              <a:spAutoFit/>
            </a:bodyPr>
            <a:lstStyle/>
            <a:p>
              <a:r>
                <a:rPr sz="2200">
                  <a:solidFill>
                    <a:srgbClr val="FFFFFF"/>
                  </a:solidFill>
                </a:rPr>
                <a:t>oui</a:t>
              </a:r>
            </a:p>
          </p:txBody>
        </p:sp>
        <p:sp>
          <p:nvSpPr>
            <p:cNvPr id="29" name="TextBox 28"/>
            <p:cNvSpPr txBox="1"/>
            <p:nvPr/>
          </p:nvSpPr>
          <p:spPr>
            <a:xfrm>
              <a:off x="4404360" y="4005071"/>
              <a:ext cx="1539240" cy="585216"/>
            </a:xfrm>
            <a:prstGeom prst="rect">
              <a:avLst/>
            </a:prstGeom>
            <a:noFill/>
          </p:spPr>
          <p:txBody>
            <a:bodyPr wrap="square" anchor="ctr">
              <a:spAutoFit/>
            </a:bodyPr>
            <a:lstStyle/>
            <a:p>
              <a:r>
                <a:rPr sz="2200">
                  <a:solidFill>
                    <a:srgbClr val="FFFFFF"/>
                  </a:solidFill>
                </a:rPr>
                <a:t>oui</a:t>
              </a:r>
            </a:p>
          </p:txBody>
        </p:sp>
        <p:sp>
          <p:nvSpPr>
            <p:cNvPr id="30" name="TextBox 29"/>
            <p:cNvSpPr txBox="1"/>
            <p:nvPr/>
          </p:nvSpPr>
          <p:spPr>
            <a:xfrm>
              <a:off x="6217920" y="4005071"/>
              <a:ext cx="3352800" cy="585216"/>
            </a:xfrm>
            <a:prstGeom prst="rect">
              <a:avLst/>
            </a:prstGeom>
            <a:noFill/>
          </p:spPr>
          <p:txBody>
            <a:bodyPr wrap="square" anchor="ctr">
              <a:spAutoFit/>
            </a:bodyPr>
            <a:lstStyle/>
            <a:p>
              <a:r>
                <a:rPr sz="2200">
                  <a:solidFill>
                    <a:srgbClr val="FFFFFF"/>
                  </a:solidFill>
                </a:rPr>
                <a:t>oui</a:t>
              </a:r>
            </a:p>
          </p:txBody>
        </p:sp>
        <p:sp>
          <p:nvSpPr>
            <p:cNvPr id="31" name="TextBox 30"/>
            <p:cNvSpPr txBox="1"/>
            <p:nvPr/>
          </p:nvSpPr>
          <p:spPr>
            <a:xfrm>
              <a:off x="9845040" y="4005071"/>
              <a:ext cx="1539240" cy="585216"/>
            </a:xfrm>
            <a:prstGeom prst="rect">
              <a:avLst/>
            </a:prstGeom>
            <a:noFill/>
          </p:spPr>
          <p:txBody>
            <a:bodyPr wrap="square" anchor="ctr">
              <a:spAutoFit/>
            </a:bodyPr>
            <a:lstStyle/>
            <a:p>
              <a:r>
                <a:rPr sz="2200">
                  <a:solidFill>
                    <a:srgbClr val="FFFFFF"/>
                  </a:solidFill>
                </a:rPr>
                <a:t>oui</a:t>
              </a:r>
            </a:p>
          </p:txBody>
        </p:sp>
      </p:grpSp>
      <p:sp>
        <p:nvSpPr>
          <p:cNvPr id="3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3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up)">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up)">
                                      <p:cBhvr>
                                        <p:cTn id="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Choisir </a:t>
            </a:r>
            <a:r>
              <a:rPr sz="3400">
                <a:solidFill>
                  <a:schemeClr val="accent4"/>
                </a:solidFill>
                <a:latin typeface="Consolas"/>
              </a:rPr>
              <a:t>protected</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membre </a:t>
            </a:r>
            <a:r>
              <a:rPr sz="2400">
                <a:solidFill>
                  <a:schemeClr val="accent4"/>
                </a:solidFill>
                <a:latin typeface="Consolas"/>
              </a:rPr>
              <a:t>protected</a:t>
            </a:r>
            <a:r>
              <a:rPr sz="2800"/>
              <a:t> engage envers toutes les filles</a:t>
            </a:r>
          </a:p>
          <a:p>
            <a:pPr marL="0" indent="0">
              <a:spcAft>
                <a:spcPts val="1000"/>
              </a:spcAft>
              <a:buNone/>
            </a:pPr>
            <a:r>
              <a:rPr sz="2800"/>
              <a:t>Un champ </a:t>
            </a:r>
            <a:r>
              <a:rPr sz="2400">
                <a:solidFill>
                  <a:schemeClr val="accent4"/>
                </a:solidFill>
                <a:latin typeface="Consolas"/>
              </a:rPr>
              <a:t>protected</a:t>
            </a:r>
            <a:r>
              <a:rPr sz="2800"/>
              <a:t> pose la question du champ </a:t>
            </a:r>
            <a:r>
              <a:rPr sz="2400">
                <a:solidFill>
                  <a:schemeClr val="accent4"/>
                </a:solidFill>
                <a:latin typeface="Consolas"/>
              </a:rPr>
              <a:t>public</a:t>
            </a:r>
          </a:p>
          <a:p>
            <a:pPr marL="0" indent="0">
              <a:spcAft>
                <a:spcPts val="1000"/>
              </a:spcAft>
              <a:buNone/>
            </a:pPr>
            <a:r>
              <a:rPr sz="2800"/>
              <a:t>Il convient aux méthodes que les filles écrivent</a:t>
            </a:r>
          </a:p>
        </p:txBody>
      </p:sp>
      <p:sp>
        <p:nvSpPr>
          <p:cNvPr id="4" name="Code"/>
          <p:cNvSpPr txBox="1"/>
          <p:nvPr/>
        </p:nvSpPr>
        <p:spPr>
          <a:xfrm>
            <a:off x="2381250" y="3307080"/>
            <a:ext cx="7429500"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abstract</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Document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int</a:t>
            </a:r>
            <a:r>
              <a:rPr sz="1700">
                <a:solidFill>
                  <a:srgbClr val="BCBEC4"/>
                </a:solidFill>
                <a:latin typeface="Consolas"/>
              </a:rPr>
              <a:t> pages;                   </a:t>
            </a:r>
            <a:r>
              <a:rPr sz="1700">
                <a:solidFill>
                  <a:srgbClr val="7A7E85"/>
                </a:solidFill>
                <a:latin typeface="Consolas"/>
              </a:rPr>
              <a:t>// la mere</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protected</a:t>
            </a:r>
            <a:r>
              <a:rPr sz="1700">
                <a:solidFill>
                  <a:srgbClr val="BCBEC4"/>
                </a:solidFill>
                <a:latin typeface="Consolas"/>
              </a:rPr>
              <a:t> </a:t>
            </a:r>
            <a:r>
              <a:rPr sz="1700">
                <a:solidFill>
                  <a:srgbClr val="CF8E6D"/>
                </a:solidFill>
                <a:latin typeface="Consolas"/>
              </a:rPr>
              <a:t>int</a:t>
            </a:r>
            <a:r>
              <a:rPr sz="1700">
                <a:solidFill>
                  <a:srgbClr val="BCBEC4"/>
                </a:solidFill>
                <a:latin typeface="Consolas"/>
              </a:rPr>
              <a:t> </a:t>
            </a:r>
            <a:r>
              <a:rPr sz="1700">
                <a:solidFill>
                  <a:srgbClr val="56A8F5"/>
                </a:solidFill>
                <a:latin typeface="Consolas"/>
              </a:rPr>
              <a:t>getPages</a:t>
            </a:r>
            <a:r>
              <a:rPr sz="1700">
                <a:solidFill>
                  <a:srgbClr val="BCBEC4"/>
                </a:solidFill>
                <a:latin typeface="Consolas"/>
              </a:rPr>
              <a:t>() {           </a:t>
            </a:r>
            <a:r>
              <a:rPr sz="1700">
                <a:solidFill>
                  <a:srgbClr val="7A7E85"/>
                </a:solidFill>
                <a:latin typeface="Consolas"/>
              </a:rPr>
              <a:t>// les filles</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return</a:t>
            </a:r>
            <a:r>
              <a:rPr sz="1700">
                <a:solidFill>
                  <a:srgbClr val="BCBEC4"/>
                </a:solidFill>
                <a:latin typeface="Consolas"/>
              </a:rPr>
              <a:t> pages;</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protected</a:t>
            </a:r>
            <a:r>
              <a:rPr sz="1700">
                <a:solidFill>
                  <a:srgbClr val="BCBEC4"/>
                </a:solidFill>
                <a:latin typeface="Consolas"/>
              </a:rPr>
              <a:t> </a:t>
            </a:r>
            <a:r>
              <a:rPr sz="1700">
                <a:solidFill>
                  <a:srgbClr val="CF8E6D"/>
                </a:solidFill>
                <a:latin typeface="Consolas"/>
              </a:rPr>
              <a:t>abstract</a:t>
            </a:r>
            <a:r>
              <a:rPr sz="1700">
                <a:solidFill>
                  <a:srgbClr val="BCBEC4"/>
                </a:solidFill>
                <a:latin typeface="Consolas"/>
              </a:rPr>
              <a:t> String </a:t>
            </a:r>
            <a:r>
              <a:rPr sz="1700">
                <a:solidFill>
                  <a:srgbClr val="56A8F5"/>
                </a:solidFill>
                <a:latin typeface="Consolas"/>
              </a:rPr>
              <a:t>format</a:t>
            </a:r>
            <a:r>
              <a:rPr sz="1700">
                <a:solidFill>
                  <a:srgbClr val="BCBEC4"/>
                </a:solidFill>
                <a:latin typeface="Consolas"/>
              </a:rPr>
              <a:t>();  </a:t>
            </a:r>
            <a:r>
              <a:rPr sz="1700">
                <a:solidFill>
                  <a:srgbClr val="7A7E85"/>
                </a:solidFill>
                <a:latin typeface="Consolas"/>
              </a:rPr>
              <a:t>// idem</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100">
                <a:solidFill>
                  <a:srgbClr val="FFFFFF"/>
                </a:solidFill>
                <a:latin typeface="Consolas"/>
              </a:rPr>
              <a:t>protected</a:t>
            </a:r>
            <a:r>
              <a:rPr sz="2400">
                <a:solidFill>
                  <a:srgbClr val="FFFFFF"/>
                </a:solidFill>
              </a:rPr>
              <a:t>, ou ce que l'héritage ouvre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L'exercice </a:t>
            </a:r>
            <a:r>
              <a:rPr sz="1500">
                <a:solidFill>
                  <a:schemeClr val="accent4"/>
                </a:solidFill>
                <a:latin typeface="Consolas"/>
              </a:rPr>
              <a:t>ABS.4</a:t>
            </a:r>
            <a:r>
              <a:rPr sz="1800"/>
              <a:t> vous laissait une décision de visibilité : vous pouvez la trancher</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114995</TotalTime>
  <Words>4447</Words>
  <Application>Microsoft Macintosh PowerPoint</Application>
  <PresentationFormat>Grand écran</PresentationFormat>
  <Paragraphs>359</Paragraphs>
  <Slides>31</Slides>
  <Notes>31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Aptos</vt:lpstr>
      <vt:lpstr>Arial</vt:lpstr>
      <vt:lpstr>Calibri</vt:lpstr>
      <vt:lpstr>Consolas</vt:lpstr>
      <vt:lpstr>Corbel</vt:lpstr>
      <vt:lpstr>ThemeEphec2022</vt:lpstr>
      <vt:lpstr>JAVA 2</vt:lpstr>
      <vt:lpstr>Au programme</vt:lpstr>
      <vt:lpstr>Présentation PowerPoint</vt:lpstr>
      <vt:lpstr>Ranger une classe</vt:lpstr>
      <vt:lpstr>Le nom complet d'une classe</vt:lpstr>
      <vt:lpstr>Un sous-package est un package à part</vt:lpstr>
      <vt:lpstr>Deux dossiers, un seul package</vt:lpstr>
      <vt:lpstr>Présentation PowerPoint</vt:lpstr>
      <vt:lpstr>Qui peut atteindre le membre d'une classe</vt:lpstr>
      <vt:lpstr>Le niveau qu'on choisit sans le savoir</vt:lpstr>
      <vt:lpstr>Démonstration</vt:lpstr>
      <vt:lpstr>Exercices</vt:lpstr>
      <vt:lpstr>Présentation PowerPoint</vt:lpstr>
      <vt:lpstr>Ce qu'un champ public promet</vt:lpstr>
      <vt:lpstr>Ce que l'accesseur garde</vt:lpstr>
      <vt:lpstr>Exercices</vt:lpstr>
      <vt:lpstr>Présentation PowerPoint</vt:lpstr>
      <vt:lpstr>Chaque membre public est une promesse</vt:lpstr>
      <vt:lpstr>Choisir, membre par membre</vt:lpstr>
      <vt:lpstr>Une seule classe publique par fichier</vt:lpstr>
      <vt:lpstr>Exercices</vt:lpstr>
      <vt:lpstr>Présentation PowerPoint</vt:lpstr>
      <vt:lpstr>Ranger par responsabilité</vt:lpstr>
      <vt:lpstr>Les imports dessinent les dépendances</vt:lpstr>
      <vt:lpstr>Déplacer une classe avec l'outil</vt:lpstr>
      <vt:lpstr>Exercices</vt:lpstr>
      <vt:lpstr>Présentation PowerPoint</vt:lpstr>
      <vt:lpstr>Le rappel du module ABS</vt:lpstr>
      <vt:lpstr>Les quatre niveaux</vt:lpstr>
      <vt:lpstr>Choisir protected</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2026-10-15T10:27:01Z</dcterms:modified>
</cp:coreProperties>
</file>