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iff" ContentType="image/tiff"/>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60" r:id="rId1"/>
  </p:sldMasterIdLst>
  <p:notesMasterIdLst>
    <p:notesMasterId r:id="rId38"/>
  </p:notesMasterIdLst>
  <p:handoutMasterIdLst>
    <p:handoutMasterId r:id="rId39"/>
  </p:handoutMasterIdLst>
  <p:sldIdLst>
    <p:sldId id="568" r:id="rId2"/>
    <p:sldId id="599" r:id="rId3"/>
    <p:sldId id="569" r:id="rId4"/>
    <p:sldId id="570" r:id="rId5"/>
    <p:sldId id="571" r:id="rId6"/>
    <p:sldId id="572" r:id="rId7"/>
    <p:sldId id="573" r:id="rId8"/>
    <p:sldId id="574" r:id="rId9"/>
    <p:sldId id="575" r:id="rId10"/>
    <p:sldId id="600" r:id="rId11"/>
    <p:sldId id="576" r:id="rId12"/>
    <p:sldId id="577" r:id="rId13"/>
    <p:sldId id="578" r:id="rId14"/>
    <p:sldId id="579" r:id="rId15"/>
    <p:sldId id="580" r:id="rId16"/>
    <p:sldId id="581" r:id="rId17"/>
    <p:sldId id="582" r:id="rId18"/>
    <p:sldId id="583" r:id="rId19"/>
    <p:sldId id="584" r:id="rId20"/>
    <p:sldId id="585" r:id="rId21"/>
    <p:sldId id="586" r:id="rId22"/>
    <p:sldId id="587" r:id="rId23"/>
    <p:sldId id="588" r:id="rId24"/>
    <p:sldId id="589" r:id="rId25"/>
    <p:sldId id="590" r:id="rId26"/>
    <p:sldId id="591" r:id="rId27"/>
    <p:sldId id="592" r:id="rId28"/>
    <p:sldId id="593" r:id="rId29"/>
    <p:sldId id="594" r:id="rId30"/>
    <p:sldId id="602" r:id="rId31"/>
    <p:sldId id="601" r:id="rId32"/>
    <p:sldId id="603" r:id="rId33"/>
    <p:sldId id="595" r:id="rId34"/>
    <p:sldId id="596" r:id="rId35"/>
    <p:sldId id="597" r:id="rId36"/>
    <p:sldId id="598" r:id="rId3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6C49985A-DE9D-585D-A588-35ED207035F7}">
          <p14:sldIdLst>
            <p14:sldId id="568"/>
            <p14:sldId id="599"/>
          </p14:sldIdLst>
        </p14:section>
        <p14:section name="1. Le lancement" id="{01F7B774-F59F-58B8-8597-4C38B5561C8B}">
          <p14:sldIdLst>
            <p14:sldId id="569"/>
            <p14:sldId id="570"/>
            <p14:sldId id="571"/>
            <p14:sldId id="572"/>
          </p14:sldIdLst>
        </p14:section>
        <p14:section name="2. La fenêtre" id="{BB5408A7-A04D-575D-BA53-CE00C6EC2508}">
          <p14:sldIdLst>
            <p14:sldId id="573"/>
            <p14:sldId id="574"/>
            <p14:sldId id="575"/>
            <p14:sldId id="600"/>
            <p14:sldId id="576"/>
            <p14:sldId id="577"/>
          </p14:sldIdLst>
        </p14:section>
        <p14:section name="3. Les gestionnaires" id="{D891EC53-A3CC-55BE-82B6-55258DDAA4D2}">
          <p14:sldIdLst>
            <p14:sldId id="578"/>
            <p14:sldId id="579"/>
            <p14:sldId id="580"/>
            <p14:sldId id="581"/>
            <p14:sldId id="582"/>
            <p14:sldId id="583"/>
          </p14:sldIdLst>
        </p14:section>
        <p14:section name="4. Les événements" id="{439651CB-C672-569F-8B9F-D1FADEBBCD8A}">
          <p14:sldIdLst>
            <p14:sldId id="584"/>
            <p14:sldId id="585"/>
            <p14:sldId id="586"/>
            <p14:sldId id="587"/>
            <p14:sldId id="588"/>
            <p14:sldId id="589"/>
            <p14:sldId id="590"/>
            <p14:sldId id="591"/>
          </p14:sldIdLst>
        </p14:section>
        <p14:section name="5. La propagation" id="{DDCBD601-7187-5AA3-9FE7-514832CC69EF}">
          <p14:sldIdLst>
            <p14:sldId id="592"/>
            <p14:sldId id="593"/>
            <p14:sldId id="594"/>
            <p14:sldId id="602"/>
            <p14:sldId id="601"/>
            <p14:sldId id="603"/>
            <p14:sldId id="595"/>
            <p14:sldId id="596"/>
            <p14:sldId id="597"/>
            <p14:sldId id="598"/>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0"/>
    <a:srgbClr val="1D1F22"/>
    <a:srgbClr val="38FF4F"/>
    <a:srgbClr val="FFDF8B"/>
    <a:srgbClr val="802C31"/>
    <a:srgbClr val="AE6B68"/>
    <a:srgbClr val="9A5239"/>
    <a:srgbClr val="6DC3FB"/>
    <a:srgbClr val="0675AE"/>
    <a:srgbClr val="2868A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875"/>
    <p:restoredTop sz="96302"/>
  </p:normalViewPr>
  <p:slideViewPr>
    <p:cSldViewPr snapToGrid="0">
      <p:cViewPr varScale="1">
        <p:scale>
          <a:sx n="154" d="100"/>
          <a:sy n="154" d="100"/>
        </p:scale>
        <p:origin x="688" y="192"/>
      </p:cViewPr>
      <p:guideLst/>
    </p:cSldViewPr>
  </p:slideViewPr>
  <p:notesTextViewPr>
    <p:cViewPr>
      <p:scale>
        <a:sx n="1" d="1"/>
        <a:sy n="1" d="1"/>
      </p:scale>
      <p:origin x="0" y="0"/>
    </p:cViewPr>
  </p:notesTextViewPr>
  <p:notesViewPr>
    <p:cSldViewPr snapToGrid="0">
      <p:cViewPr varScale="1">
        <p:scale>
          <a:sx n="97" d="100"/>
          <a:sy n="97" d="100"/>
        </p:scale>
        <p:origin x="4328" y="200"/>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a:extLst>
              <a:ext uri="{FF2B5EF4-FFF2-40B4-BE49-F238E27FC236}">
                <a16:creationId xmlns:a16="http://schemas.microsoft.com/office/drawing/2014/main" id="{DEF95896-A5CA-E0F9-6478-20C4C67B6B23}"/>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Espace réservé de la date 2">
            <a:extLst>
              <a:ext uri="{FF2B5EF4-FFF2-40B4-BE49-F238E27FC236}">
                <a16:creationId xmlns:a16="http://schemas.microsoft.com/office/drawing/2014/main" id="{B65C7378-3DCF-38D5-275F-80FB217DC74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9626FB5-9412-C54B-AA2C-289AC0CE5DB6}" type="datetimeFigureOut">
              <a:rPr lang="en-GB" smtClean="0"/>
              <a:t>15/10/2026</a:t>
            </a:fld>
            <a:endParaRPr lang="en-GB"/>
          </a:p>
        </p:txBody>
      </p:sp>
      <p:sp>
        <p:nvSpPr>
          <p:cNvPr id="4" name="Espace réservé du pied de page 3">
            <a:extLst>
              <a:ext uri="{FF2B5EF4-FFF2-40B4-BE49-F238E27FC236}">
                <a16:creationId xmlns:a16="http://schemas.microsoft.com/office/drawing/2014/main" id="{DE7A2A70-0FFB-D89E-7D51-BFA1FA869E0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Espace réservé du numéro de diapositive 4">
            <a:extLst>
              <a:ext uri="{FF2B5EF4-FFF2-40B4-BE49-F238E27FC236}">
                <a16:creationId xmlns:a16="http://schemas.microsoft.com/office/drawing/2014/main" id="{188B06B3-0B47-FD16-2A18-E70D0ABE482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69F1A8C-C0E1-EC45-8701-F9C9A0343E39}" type="slidenum">
              <a:rPr lang="en-GB" smtClean="0"/>
              <a:t>‹N°›</a:t>
            </a:fld>
            <a:endParaRPr lang="en-GB"/>
          </a:p>
        </p:txBody>
      </p:sp>
    </p:spTree>
    <p:extLst>
      <p:ext uri="{BB962C8B-B14F-4D97-AF65-F5344CB8AC3E}">
        <p14:creationId xmlns:p14="http://schemas.microsoft.com/office/powerpoint/2010/main" val="212301161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FC913C-8767-6A46-ABE4-5FB13F57A51F}" type="datetimeFigureOut">
              <a:rPr lang="fr-FR" smtClean="0"/>
              <a:t>15/10/2026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90A3CE4-6862-344E-BAF9-BD23A3F04A8C}" type="slidenum">
              <a:rPr lang="fr-FR" smtClean="0"/>
              <a:t>‹N°›</a:t>
            </a:fld>
            <a:endParaRPr lang="fr-FR"/>
          </a:p>
        </p:txBody>
      </p:sp>
    </p:spTree>
    <p:extLst>
      <p:ext uri="{BB962C8B-B14F-4D97-AF65-F5344CB8AC3E}">
        <p14:creationId xmlns:p14="http://schemas.microsoft.com/office/powerpoint/2010/main" val="33602900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vos programmes posaient des questions et attendaient la réponse dans la console. Ce module change de rapport : c'est l'utilisateur qui décide de ce qui arrive, et quand. Votre programme attend, et réagit.</a:t>
            </a:r>
          </a:p>
          <a:p>
            <a:r>
              <a:t>Le thème FX est le plus gros du cours, et il est découpé en deux decks. Ce premier deck couvre les cinq premiers exercices, de la première fenêtre au voyage d'un événement. Le second traitera des propriétés et de l'architecture d'une application.</a:t>
            </a:r>
          </a:p>
          <a:p>
            <a:r>
              <a:t>Ce premier deck porte toute la question JavaFX de l'examen. Chaque année, elle demande de relier un composant au code qu'il déclenche : c'est exactement ce que vous allez apprendre ici.</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 module compte cinq sections : 1. Le lancement ; 2. La fenêtre ; 3. Les gestionnaires ; 4. Les événements ; 5. La propagation.</a:t>
            </a:r>
          </a:p>
          <a:p>
            <a:r>
              <a:t>Chaque intercalaire porte le numéro de sa section, et chaque page rappelle en bas à droite la section en cours.</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JavaFX a été livrée avec le JDK pendant quelques années, puis en a été retirée. C'est devenu un projet indépendant, OpenJFX. Installer un JDK 21 ne vous donne donc pas JavaFX : il faut l'ajouter au projet, comme n'importe quelle bibliothèque.</a:t>
            </a:r>
          </a:p>
          <a:p>
            <a:r>
              <a:t>Le projet du cours le fait pour vous depuis le premier jour. Les lignes de la slide sont déjà dans son </a:t>
            </a:r>
            <a:r>
              <a:rPr>
                <a:latin typeface="Consolas"/>
              </a:rPr>
              <a:t>pom.xml</a:t>
            </a:r>
            <a:r>
              <a:t>, à côté de celles de JUnit, et Maven a téléchargé la bibliothèque au premier chargement.</a:t>
            </a:r>
          </a:p>
          <a:p>
            <a:r>
              <a:t>Vous trouverez en ligne des procédures qui font télécharger un SDK JavaFX et le déclarer dans IntelliJ. Ne les suivez pas : elles concernent les projets sans Maven. Voir IDE.28 du guide IntelliJ.</a:t>
            </a:r>
          </a:p>
          <a:p>
            <a:r>
              <a:t>Si vous vous demandez pourquoi Java a connu trois bibliothèques graphiques successives, AWT, Swing et JavaFX, la réponse est en TEC-FX.1 du mémento technique.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Chaque exercice et chaque démonstration de ce module contient une classe dont le nom commence par </a:t>
            </a:r>
            <a:r>
              <a:rPr>
                <a:latin typeface="Consolas"/>
              </a:rPr>
              <a:t>Lanceur</a:t>
            </a:r>
            <a:r>
              <a:t>. C'est elle qu'il faut exécuter, et non celle qui hérite d'</a:t>
            </a:r>
            <a:r>
              <a:rPr>
                <a:latin typeface="Consolas"/>
              </a:rPr>
              <a:t>Application</a:t>
            </a:r>
            <a:r>
              <a:t>.</a:t>
            </a:r>
          </a:p>
          <a:p>
            <a:r>
              <a:t>La raison est un contrôle du lanceur de Java. Quand la classe principale hérite d'</a:t>
            </a:r>
            <a:r>
              <a:rPr>
                <a:latin typeface="Consolas"/>
              </a:rPr>
              <a:t>Application</a:t>
            </a:r>
            <a:r>
              <a:t>, il exige que JavaFX soit chargé d'une façon particulière, comme module. Or Maven place les bibliothèques sur le classpath ordinaire. Le lanceur s'arrête alors, avant d'avoir exécuté une seule ligne de votre code, avec un message qui semble faux.</a:t>
            </a:r>
          </a:p>
          <a:p>
            <a:r>
              <a:t>Une classe qui n'hérite de rien ne déclenche pas ce contrôle. Son </a:t>
            </a:r>
            <a:r>
              <a:rPr>
                <a:latin typeface="Consolas"/>
              </a:rPr>
              <a:t>main</a:t>
            </a:r>
            <a:r>
              <a:t> s'exécute, et c'est </a:t>
            </a:r>
            <a:r>
              <a:rPr>
                <a:latin typeface="Consolas"/>
              </a:rPr>
              <a:t>Application.launch</a:t>
            </a:r>
            <a:r>
              <a:t> qui démarre JavaFX. Ce n'est pas un bricolage : c'est la forme recommandée pour une application JavaFX qui ne passe pas par les modules. L'explication complète est en TEC-FX.4.</a:t>
            </a:r>
          </a:p>
          <a:p>
            <a:r>
              <a:t>Vous n'avez rien à écrire dans ces classes. Elles sont fournies.</a:t>
            </a:r>
          </a:p>
          <a:p>
            <a:r>
              <a:rPr lang="fr-BE" dirty="0"/>
              <a:t>Le code complet, à lancer : demos, classe demo.fx.slides.fx1.LanceurLampe.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C'est le message le plus fréquent des premières minutes de JavaFX, et le plus trompeur. Il dit que des composants manquent, alors qu'ils sont tous là. Il signifie seulement que la bibliothèque n'a pas été annoncée à la machine virtuelle au démarrage.</a:t>
            </a:r>
          </a:p>
          <a:p>
            <a:r>
              <a:rPr lang="fr-BE" dirty="0"/>
              <a:t>Le premier réflexe est de vérifier la classe lancée : la configuration d'exécution d'IntelliJ désigne-t-elle bien le Lanceur ?</a:t>
            </a:r>
          </a:p>
          <a:p>
            <a:r>
              <a:rPr lang="fr-BE" dirty="0"/>
              <a:t>Le second est de passer par Maven. Dans la fenêtre Maven, sous Plugins puis javafx, un double-clic sur javafx:run construit lui-même la bonne ligne de commande. La classe lancée est réglée dans le pom.xml : le premier exercice par défaut, un autre si vous le précisez. La procédure pas à pas, avec le choix du module et le lancement d'un autre exercice, est en IDE.28 du guide IntelliJ ; le message lui-même est expliqué en ERR.7.</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Vous n'écrivez jamais </a:t>
            </a:r>
            <a:r>
              <a:rPr>
                <a:latin typeface="Consolas"/>
              </a:rPr>
              <a:t>new Lampe()</a:t>
            </a:r>
            <a:r>
              <a:t>, et vous ne créez pas la fenêtre. C'est JavaFX qui le fait : </a:t>
            </a:r>
            <a:r>
              <a:rPr>
                <a:latin typeface="Consolas"/>
              </a:rPr>
              <a:t>launch</a:t>
            </a:r>
            <a:r>
              <a:t> construit un objet de votre classe, avec son constructeur sans paramètre, puis appelle sa méthode </a:t>
            </a:r>
            <a:r>
              <a:rPr>
                <a:latin typeface="Consolas"/>
              </a:rPr>
              <a:t>start</a:t>
            </a:r>
            <a:r>
              <a:t> en lui donnant une fenêtre déjà prête. Votre travail se limite à la remplir et à l'afficher.</a:t>
            </a:r>
          </a:p>
          <a:p>
            <a:r>
              <a:t>La classe </a:t>
            </a:r>
            <a:r>
              <a:rPr>
                <a:latin typeface="Consolas"/>
              </a:rPr>
              <a:t>Application</a:t>
            </a:r>
            <a:r>
              <a:t> est abstraite, et </a:t>
            </a:r>
            <a:r>
              <a:rPr>
                <a:latin typeface="Consolas"/>
              </a:rPr>
              <a:t>start</a:t>
            </a:r>
            <a:r>
              <a:t> est sa méthode abstraite : c'est le module ABS appliqué à une bibliothèque. JavaFX sait quand appeler </a:t>
            </a:r>
            <a:r>
              <a:rPr>
                <a:latin typeface="Consolas"/>
              </a:rPr>
              <a:t>start</a:t>
            </a:r>
            <a:r>
              <a:t> ; vous seul savez quoi y mettre.</a:t>
            </a:r>
          </a:p>
          <a:p>
            <a:r>
              <a:t>Remarquez la dernière ligne de la slide. La méthode </a:t>
            </a:r>
            <a:r>
              <a:rPr>
                <a:latin typeface="Consolas"/>
              </a:rPr>
              <a:t>start</a:t>
            </a:r>
            <a:r>
              <a:t> se termine en quelques millisecondes, mais la fenêtre reste ouverte et le programme continue de tourner. Ce qu'il fait pendant ce temps est le sujet de la section suivante.</a:t>
            </a:r>
          </a:p>
          <a:p>
            <a:r>
              <a:rPr lang="fr-BE" dirty="0"/>
              <a:t>Le code complet, à lancer : demos, classe demo.fx.slides.fx1.LanceurLampe.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Tout ce qu'une fenêtre affiche est un nœud, un objet d'une sous-classe de Node : un libellé, un bouton, un cercle, et aussi les conteneurs qui les rangent. Les nœuds s'emboîtent : une racine contient des enfants, qui contiennent leurs propres enfants. On appelle cet arbre le graphe de scène.</a:t>
            </a:r>
          </a:p>
          <a:p>
            <a:r>
              <a:rPr lang="fr-BE" dirty="0"/>
              <a:t>L'image se lit de bas en haut. La fenêtre, le Stage, est fournie par JavaFX. Elle affiche une scène, la Scene. La scène n'accepte qu'un nœud, sa racine. Et cette racine contient tous les autres nœuds : ce sont eux qu'on voit.</a:t>
            </a:r>
          </a:p>
          <a:p>
            <a:r>
              <a:rPr lang="fr-BE" dirty="0"/>
              <a:t>Pour afficher plusieurs composants, on les range donc dans un conteneur, qui devient la racine. La slide suivante construit cet empilement en code.</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Le même arbre, construit en code, dans l'ordre où on l'écrit : d'abord les nœuds qu'on verra, le libellé et le bouton ; puis le conteneur qui les range, une VBox, qui devient la racine ; enfin la scène, qui reçoit cette racine. Il ne reste qu'à donner la scène à la fenêtre, ce que fait start.</a:t>
            </a:r>
          </a:p>
          <a:p>
            <a:r>
              <a:rPr lang="fr-BE" dirty="0"/>
              <a:t>Les enfants d'un conteneur se lisent et se modifient par getChildren, qui retourne une liste : vous savez déjà vous en servir depuis le module COL. On peut donc ajouter un nœud après coup, comme la dernière ligne le montre.</a:t>
            </a:r>
          </a:p>
          <a:p>
            <a:r>
              <a:rPr lang="fr-BE" dirty="0"/>
              <a:t>Si on ne donne pas de taille à la scène, elle s'adapte à son contenu.</a:t>
            </a:r>
          </a:p>
          <a:p>
            <a:r>
              <a:rPr lang="fr-BE" dirty="0"/>
              <a:t>Gardez cet arbre en tête. Il est la clé de la section 5 : un événement le parcourt de haut en bas, puis de bas en haut.</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 JavaFX, on ne place pas un composant à des coordonnées fixes. On le confie à un conteneur, qui décide de sa position et la recalcule quand la fenêtre change de taille. C'est ce qui permet à une interface de rester lisible quand on l'agrandit.</a:t>
            </a:r>
          </a:p>
          <a:p>
            <a:r>
              <a:t>Les quatre conteneurs du tableau sont ceux des exercices. Un </a:t>
            </a:r>
            <a:r>
              <a:rPr>
                <a:latin typeface="Consolas"/>
              </a:rPr>
              <a:t>BorderPane</a:t>
            </a:r>
            <a:r>
              <a:t> ne range pas ses enfants dans une liste : il a cinq zones, le haut, le bas, la gauche, la droite et le centre, et on les remplit une à une, par </a:t>
            </a:r>
            <a:r>
              <a:rPr>
                <a:latin typeface="Consolas"/>
              </a:rPr>
              <a:t>setTop</a:t>
            </a:r>
            <a:r>
              <a:t>, </a:t>
            </a:r>
            <a:r>
              <a:rPr>
                <a:latin typeface="Consolas"/>
              </a:rPr>
              <a:t>setCenter</a:t>
            </a:r>
            <a:r>
              <a:t> ou </a:t>
            </a:r>
            <a:r>
              <a:rPr>
                <a:latin typeface="Consolas"/>
              </a:rPr>
              <a:t>setBottom</a:t>
            </a:r>
            <a:r>
              <a:t>. Un </a:t>
            </a:r>
            <a:r>
              <a:rPr>
                <a:latin typeface="Consolas"/>
              </a:rPr>
              <a:t>StackPane</a:t>
            </a:r>
            <a:r>
              <a:t> centre ses enfants les uns sur les autres. Un </a:t>
            </a:r>
            <a:r>
              <a:rPr>
                <a:latin typeface="Consolas"/>
              </a:rPr>
              <a:t>StackPane</a:t>
            </a:r>
            <a:r>
              <a:t> empile ses enfants dans l'ordre où on les ajoute : le dernier est au-dessus.</a:t>
            </a:r>
          </a:p>
          <a:p>
            <a:r>
              <a:t>Il en existe d'autres, que vous rencontrerez dans la Javadoc : </a:t>
            </a:r>
            <a:r>
              <a:rPr>
                <a:latin typeface="Consolas"/>
              </a:rPr>
              <a:t>FlowPane</a:t>
            </a:r>
            <a:r>
              <a:t>, qui passe à la ligne comme un texte, et </a:t>
            </a:r>
            <a:r>
              <a:rPr>
                <a:latin typeface="Consolas"/>
              </a:rPr>
              <a:t>GridPane</a:t>
            </a:r>
            <a:r>
              <a:t>, qui range en lignes et en colonnes.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contrôle est un nœud avec lequel l'utilisateur interagit. Les trois de la slide suffisent pour les quatre premiers exercices.</a:t>
            </a:r>
          </a:p>
          <a:p>
            <a:r>
              <a:t>Les trois partagent </a:t>
            </a:r>
            <a:r>
              <a:rPr>
                <a:latin typeface="Consolas"/>
              </a:rPr>
              <a:t>setText</a:t>
            </a:r>
            <a:r>
              <a:t> et </a:t>
            </a:r>
            <a:r>
              <a:rPr>
                <a:latin typeface="Consolas"/>
              </a:rPr>
              <a:t>getText</a:t>
            </a:r>
            <a:r>
              <a:t>. Le </a:t>
            </a:r>
            <a:r>
              <a:rPr>
                <a:latin typeface="Consolas"/>
              </a:rPr>
              <a:t>TextField</a:t>
            </a:r>
            <a:r>
              <a:t> y ajoute ses propres réglages : un texte d'invite grisé tant que le champ est vide, et </a:t>
            </a:r>
            <a:r>
              <a:rPr>
                <a:latin typeface="Consolas"/>
              </a:rPr>
              <a:t>setEditable(false)</a:t>
            </a:r>
            <a:r>
              <a:t>, qui le met en lecture seule. Un champ en lecture seule affiche une valeur que seul le programme peut changer.</a:t>
            </a:r>
          </a:p>
          <a:p>
            <a:r>
              <a:t>La Javadoc de chaque contrôle est longue : ne cherchez pas à la lire en entier. Cherchez-y ce dont vous avez besoin, au moment où vous en avez besoin. Ctrl+Q sur un nom de classe l'ouvre sans quitter l'éditeur, voir IDE.14.</a:t>
            </a:r>
          </a:p>
          <a:p>
            <a:r>
              <a:t>D'autres contrôles, la case à cocher et le curseur, attendront le deck suivant, qui en a besoin.</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Dans un programme console, c'est vous qui menez : le programme affiche une question, lit la réponse, passe à la suivante. L'ordre est écrit dans le code.</a:t>
            </a:r>
          </a:p>
          <a:p>
            <a:r>
              <a:t>Une interface graphique renverse ce rapport. L'utilisateur peut cliquer sur n'importe quel bouton, dans n'importe quel ordre, ou taper au clavier. Le programme ne sait pas ce qui va arriver : il attend. Chaque geste, un clic, une touche, un déplacement de souris, devient un objet, un événement, que JavaFX transmet au code qui a demandé à en être prévenu. On appelle cette façon de programmer la programmation événementielle.</a:t>
            </a:r>
          </a:p>
          <a:p>
            <a:r>
              <a:t>Vous avez déjà rencontré ce mécanisme sous un autre nom. Au module ITF, le magasin prévenait ses abonnés sans les connaître : c'est l'observateur. Un bouton fonctionne exactement ainsi. Il ne connaît pas votre programme ; il connaît une interface, et votre code vient s'y abonner.</a:t>
            </a:r>
          </a:p>
          <a:p>
            <a:r>
              <a:t>Un événement sans abonné se perd. C'est ce que va montrer la démonstration.</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part d'un bouton qui s'affiche, s'enfonce quand on clique, et ne déclenche rien. Tout y est correct ; il manque une seule chose.</a:t>
            </a:r>
          </a:p>
          <a:p>
            <a:r>
              <a:t>Elle le branche ensuite de trois façons qui produisent le même objet. Retenez moins la syntaxe que la question : quel est cet objet que le bouton reçoit, et qu'en fait-il ?</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 montré trois écritures, et elles produisent la même chose : un objet qui implémente </a:t>
            </a:r>
            <a:r>
              <a:rPr>
                <a:latin typeface="Consolas"/>
              </a:rPr>
              <a:t>EventHandler</a:t>
            </a:r>
            <a:r>
              <a:t>. Le bouton le range, et quand on clique, il appelle sa méthode </a:t>
            </a:r>
            <a:r>
              <a:rPr>
                <a:latin typeface="Consolas"/>
              </a:rPr>
              <a:t>handle</a:t>
            </a:r>
            <a:r>
              <a:t> en lui passant l'événement.</a:t>
            </a:r>
          </a:p>
          <a:p>
            <a:r>
              <a:t>L'interface est générique : son paramètre dit quel type d'événement le gestionnaire reçoit. Celui d'un bouton reçoit un </a:t>
            </a:r>
            <a:r>
              <a:rPr>
                <a:latin typeface="Consolas"/>
              </a:rPr>
              <a:t>ActionEvent</a:t>
            </a:r>
            <a:r>
              <a:t>. Elle est aussi fonctionnelle, puisqu'elle ne déclare qu'une méthode : c'est pourquoi la lambda suffit, et c'est pourquoi le deck LAM vous l'annonçait.</a:t>
            </a:r>
          </a:p>
          <a:p>
            <a:r>
              <a:t>Lisez la lambda de la slide en deux temps. La flèche dit quand : au moment où l'événement survient. La méthode appelée dit quoi : basculer la lampe. Le paramètre </a:t>
            </a:r>
            <a:r>
              <a:rPr>
                <a:latin typeface="Consolas"/>
              </a:rPr>
              <a:t>evenement</a:t>
            </a:r>
            <a:r>
              <a:t> est reçu, même si on ne s'en sert pas ici.</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méthode </a:t>
            </a:r>
            <a:r>
              <a:rPr>
                <a:latin typeface="Consolas"/>
              </a:rPr>
              <a:t>setOnAction</a:t>
            </a:r>
            <a:r>
              <a:t> est un raccourci. Elle n'accepte qu'un gestionnaire à la fois : un second appel remplace le premier. La forme longue, </a:t>
            </a:r>
            <a:r>
              <a:rPr>
                <a:latin typeface="Consolas"/>
              </a:rPr>
              <a:t>addEventHandler</a:t>
            </a:r>
            <a:r>
              <a:t>, dit explicitement quel type d'événement on écoute, ici </a:t>
            </a:r>
            <a:r>
              <a:rPr>
                <a:latin typeface="Consolas"/>
              </a:rPr>
              <a:t>ActionEvent.ACTION</a:t>
            </a:r>
            <a:r>
              <a:t>, et elle cumule : deux gestionnaires ajoutés s'exécutent tous les deux.</a:t>
            </a:r>
          </a:p>
          <a:p>
            <a:r>
              <a:t>Pour retirer un gestionnaire, </a:t>
            </a:r>
            <a:r>
              <a:rPr>
                <a:latin typeface="Consolas"/>
              </a:rPr>
              <a:t>removeEventHandler</a:t>
            </a:r>
            <a:r>
              <a:t> demande l'objet exact qui a été ajouté. Écrire deux fois la même lambda ne suffit pas : chaque écriture crée un objet distinct, et le retrait ne trouverait rien à retirer. C'est la promesse du module LAM : une lambda est une valeur, qu'on range dans un champ pour la retrouver plus tard.</a:t>
            </a:r>
          </a:p>
          <a:p>
            <a:r>
              <a:t>C'est aussi une question d'examen classique : activer un bouton et en désactiver un autre, en ajoutant et retirant leurs gestionnaires.</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Les trois exercices construisent la même application, de plus en plus riche. </a:t>
            </a:r>
            <a:r>
              <a:rPr>
                <a:latin typeface="Consolas"/>
              </a:rPr>
              <a:t>FX.1</a:t>
            </a:r>
            <a:r>
              <a:t> branche un bouton, </a:t>
            </a:r>
            <a:r>
              <a:rPr>
                <a:latin typeface="Consolas"/>
              </a:rPr>
              <a:t>FX.2</a:t>
            </a:r>
            <a:r>
              <a:t> en ajoute un second qui agit sur le même compteur, </a:t>
            </a:r>
            <a:r>
              <a:rPr>
                <a:latin typeface="Consolas"/>
              </a:rPr>
              <a:t>FX.3</a:t>
            </a:r>
            <a:r>
              <a:t> double les compteurs et compose les conteneurs.</a:t>
            </a:r>
          </a:p>
          <a:p>
            <a:r>
              <a:t>Ce thème n'a aucune classe de test. Chaque énoncé se termine par la liste de ce que vous devez observer en lançant l'application : parcourez-la point par point, c'est elle qui remplace la barre verte de JUnit.</a:t>
            </a:r>
          </a:p>
          <a:p>
            <a:r>
              <a:t>Lisez les deux réflexes de l'introduction du fascicule avant </a:t>
            </a:r>
            <a:r>
              <a:rPr>
                <a:latin typeface="Consolas"/>
              </a:rPr>
              <a:t>FX.1</a:t>
            </a:r>
            <a:r>
              <a:t>. Ils vous éviteront l'erreur la plus fréquente : un composant déclaré dans </a:t>
            </a:r>
            <a:r>
              <a:rPr>
                <a:latin typeface="Consolas"/>
              </a:rPr>
              <a:t>start</a:t>
            </a:r>
            <a:r>
              <a:t>, et introuvable ensuite.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ajoute un gestionnaire de clavier à l'application de tout à l'heure. Observez deux choses : ce que le gestionnaire reçoit, et l'endroit où on le pose.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le paramètre du gestionnaire était ignoré. Il contient pourtant tout ce qu'on sait de l'événement : son type, le composant concerné, et selon la famille, la touche frappée ou la position de la souris.</a:t>
            </a:r>
          </a:p>
          <a:p>
            <a:r>
              <a:t>La méthode </a:t>
            </a:r>
            <a:r>
              <a:rPr>
                <a:latin typeface="Consolas"/>
              </a:rPr>
              <a:t>getSource</a:t>
            </a:r>
            <a:r>
              <a:t> retourne un </a:t>
            </a:r>
            <a:r>
              <a:rPr>
                <a:latin typeface="Consolas"/>
              </a:rPr>
              <a:t>Object</a:t>
            </a:r>
            <a:r>
              <a:t> : il faut le transtyper pour s'en servir comme bouton. Le transtypage est sûr ici, puisque seuls des boutons ont reçu ce gestionnaire. Vous retrouverez ce geste dans le deck suivant, pour un gestionnaire partagé par les dix chiffres d'une calculatrice.</a:t>
            </a:r>
          </a:p>
          <a:p>
            <a:r>
              <a:t>La référence de méthode </a:t>
            </a:r>
            <a:r>
              <a:rPr>
                <a:latin typeface="Consolas"/>
              </a:rPr>
              <a:t>this::noterBouton</a:t>
            </a:r>
            <a:r>
              <a:t> vient du module LAM : elle vaut la lambda </a:t>
            </a:r>
            <a:r>
              <a:rPr>
                <a:latin typeface="Consolas"/>
              </a:rPr>
              <a:t>evenement -&gt; noterBouton(evenement)</a:t>
            </a:r>
            <a:r>
              <a:t>.</a:t>
            </a:r>
          </a:p>
          <a:p>
            <a:r>
              <a:rPr lang="fr-BE" dirty="0"/>
              <a:t>Le code complet, à lancer : demos, classe demo.fx.slides.fx1.LanceurInterrupteur.</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Toutes ces classes héritent d'</a:t>
            </a:r>
            <a:r>
              <a:rPr>
                <a:latin typeface="Consolas"/>
              </a:rPr>
              <a:t>Event</a:t>
            </a:r>
            <a:r>
              <a:t>. Chacune déclare des champs statiques qui désignent ses types précis : ce sont eux qu'on passe à </a:t>
            </a:r>
            <a:r>
              <a:rPr>
                <a:latin typeface="Consolas"/>
              </a:rPr>
              <a:t>addEventHandler</a:t>
            </a:r>
            <a:r>
              <a:t>, comme </a:t>
            </a:r>
            <a:r>
              <a:rPr>
                <a:latin typeface="Consolas"/>
              </a:rPr>
              <a:t>ActionEvent.ACTION</a:t>
            </a:r>
            <a:r>
              <a:t> à la slide 3.5. Le tableau ne retient que ceux des exercices et de l'examen ; il y en a d'autres, </a:t>
            </a:r>
            <a:r>
              <a:rPr>
                <a:latin typeface="Consolas"/>
              </a:rPr>
              <a:t>KEY_RELEASED</a:t>
            </a:r>
            <a:r>
              <a:t>, </a:t>
            </a:r>
            <a:r>
              <a:rPr>
                <a:latin typeface="Consolas"/>
              </a:rPr>
              <a:t>MOUSE_MOVED</a:t>
            </a:r>
            <a:r>
              <a:t> ou </a:t>
            </a:r>
            <a:r>
              <a:rPr>
                <a:latin typeface="Consolas"/>
              </a:rPr>
              <a:t>MOUSE_ENTERED</a:t>
            </a:r>
            <a:r>
              <a:t> par exemple. Chaque famille a aussi un type </a:t>
            </a:r>
            <a:r>
              <a:rPr>
                <a:latin typeface="Consolas"/>
              </a:rPr>
              <a:t>ANY</a:t>
            </a:r>
            <a:r>
              <a:t>, qui les regroupe tous.</a:t>
            </a:r>
          </a:p>
          <a:p>
            <a:r>
              <a:t>Un </a:t>
            </a:r>
            <a:r>
              <a:rPr>
                <a:latin typeface="Consolas"/>
              </a:rPr>
              <a:t>ActionEvent</a:t>
            </a:r>
            <a:r>
              <a:t> vient aussi d'un champ de saisie quand on y presse Entrée, et </a:t>
            </a:r>
            <a:r>
              <a:rPr>
                <a:latin typeface="Consolas"/>
              </a:rPr>
              <a:t>WINDOW_CLOSE_REQUEST</a:t>
            </a:r>
            <a:r>
              <a:t> survient quand l'utilisateur ferme la fenêtre : c'est là qu'on lui demanderait de confirmer.</a:t>
            </a:r>
          </a:p>
          <a:p>
            <a:r>
              <a:t>Un piège vous attend à l'import. Il existe un </a:t>
            </a:r>
            <a:r>
              <a:rPr>
                <a:latin typeface="Consolas"/>
              </a:rPr>
              <a:t>KeyEvent</a:t>
            </a:r>
            <a:r>
              <a:t> et un </a:t>
            </a:r>
            <a:r>
              <a:rPr>
                <a:latin typeface="Consolas"/>
              </a:rPr>
              <a:t>MouseEvent</a:t>
            </a:r>
            <a:r>
              <a:t> dans </a:t>
            </a:r>
            <a:r>
              <a:rPr>
                <a:latin typeface="Consolas"/>
              </a:rPr>
              <a:t>java.awt.event</a:t>
            </a:r>
            <a:r>
              <a:t>, hérités d'une bibliothèque plus ancienne, et ils n'ont rien à voir avec ceux de JavaFX. Quand la complétion vous propose un nom, lisez le paquetage avant de valider : il doit commencer par </a:t>
            </a:r>
            <a:r>
              <a:rPr>
                <a:latin typeface="Consolas"/>
              </a:rPr>
              <a:t>javafx</a:t>
            </a:r>
            <a:r>
              <a:t>. Voir TEC-FX.1 et IDE.11.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FX.4</a:t>
            </a:r>
            <a:r>
              <a:t> reprend l'application de </a:t>
            </a:r>
            <a:r>
              <a:rPr>
                <a:latin typeface="Consolas"/>
              </a:rPr>
              <a:t>FX.3</a:t>
            </a:r>
            <a:r>
              <a:t> et lui ajoute le clavier : les touches 1, 2 et 0 font ce que font les boutons. Les boutons continuent de fonctionner.</a:t>
            </a:r>
          </a:p>
          <a:p>
            <a:r>
              <a:t>L'encadré de l'énoncé vous dit où poser le gestionnaire. La question de fin vous demande pourquoi cela fonctionne même quand un bouton a le focus : gardez-la pour la section suivante, qui y répond.</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Prenez cinq minutes avant de passer à la slide suivante. Ctrl+Q sur </a:t>
            </a:r>
            <a:r>
              <a:rPr>
                <a:latin typeface="Consolas"/>
              </a:rPr>
              <a:t>KeyEvent</a:t>
            </a:r>
            <a:r>
              <a:t> ouvre sa Javadoc ; sa description explique la différence entre les trois types d'événements clavier, et dit quelles méthodes ont un sens pour chacun.</a:t>
            </a:r>
          </a:p>
          <a:p>
            <a:r>
              <a:t>Une piste : le gestionnaire de </a:t>
            </a:r>
            <a:r>
              <a:rPr>
                <a:latin typeface="Consolas"/>
              </a:rPr>
              <a:t>FX.4</a:t>
            </a:r>
            <a:r>
              <a:t> lit un caractère. Qu'obtient-il pour une touche qui n'en produit pas ?</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Une touche enfoncée produit toujours un </a:t>
            </a:r>
            <a:r>
              <a:rPr>
                <a:latin typeface="Consolas"/>
              </a:rPr>
              <a:t>KEY_PRESSED</a:t>
            </a:r>
            <a:r>
              <a:t>, puis un </a:t>
            </a:r>
            <a:r>
              <a:rPr>
                <a:latin typeface="Consolas"/>
              </a:rPr>
              <a:t>KEY_RELEASED</a:t>
            </a:r>
            <a:r>
              <a:t> quand on la lâche. Si elle produit un caractère, un </a:t>
            </a:r>
            <a:r>
              <a:rPr>
                <a:latin typeface="Consolas"/>
              </a:rPr>
              <a:t>KEY_TYPED</a:t>
            </a:r>
            <a:r>
              <a:t> s'y ajoute. Les deux familles ne répondent pas à la même question : </a:t>
            </a:r>
            <a:r>
              <a:rPr>
                <a:latin typeface="Consolas"/>
              </a:rPr>
              <a:t>KEY_TYPED</a:t>
            </a:r>
            <a:r>
              <a:t> dit quel texte l'utilisateur a tapé, </a:t>
            </a:r>
            <a:r>
              <a:rPr>
                <a:latin typeface="Consolas"/>
              </a:rPr>
              <a:t>KEY_PRESSED</a:t>
            </a:r>
            <a:r>
              <a:t> dit quelle touche physique il a enfoncée. Les flèches, Échap ou F1 n'ont pas de caractère : seul </a:t>
            </a:r>
            <a:r>
              <a:rPr>
                <a:latin typeface="Consolas"/>
              </a:rPr>
              <a:t>KEY_PRESSED</a:t>
            </a:r>
            <a:r>
              <a:t> les voit, et </a:t>
            </a:r>
            <a:r>
              <a:rPr>
                <a:latin typeface="Consolas"/>
              </a:rPr>
              <a:t>getCode</a:t>
            </a:r>
            <a:r>
              <a:t> les nomme par une valeur de l'énumération </a:t>
            </a:r>
            <a:r>
              <a:rPr>
                <a:latin typeface="Consolas"/>
              </a:rPr>
              <a:t>KeyCode</a:t>
            </a:r>
            <a:r>
              <a:t>.</a:t>
            </a:r>
          </a:p>
          <a:p>
            <a:r>
              <a:t>La méthode </a:t>
            </a:r>
            <a:r>
              <a:rPr>
                <a:latin typeface="Consolas"/>
              </a:rPr>
              <a:t>getCharacter</a:t>
            </a:r>
            <a:r>
              <a:t> n'a de sens que pour </a:t>
            </a:r>
            <a:r>
              <a:rPr>
                <a:latin typeface="Consolas"/>
              </a:rPr>
              <a:t>KEY_TYPED</a:t>
            </a:r>
            <a:r>
              <a:t>, et </a:t>
            </a:r>
            <a:r>
              <a:rPr>
                <a:latin typeface="Consolas"/>
              </a:rPr>
              <a:t>getCode</a:t>
            </a:r>
            <a:r>
              <a:t> que pour </a:t>
            </a:r>
            <a:r>
              <a:rPr>
                <a:latin typeface="Consolas"/>
              </a:rPr>
              <a:t>KEY_PRESSED</a:t>
            </a:r>
            <a:r>
              <a:t> et </a:t>
            </a:r>
            <a:r>
              <a:rPr>
                <a:latin typeface="Consolas"/>
              </a:rPr>
              <a:t>KEY_RELEASED</a:t>
            </a:r>
            <a:r>
              <a:t> : dans l'autre cas, elles retournent une valeur vide. C'est pourquoi le gestionnaire de </a:t>
            </a:r>
            <a:r>
              <a:rPr>
                <a:latin typeface="Consolas"/>
              </a:rPr>
              <a:t>FX.4</a:t>
            </a:r>
            <a:r>
              <a:t> n'aurait rien vu de la flèche haut.</a:t>
            </a:r>
          </a:p>
          <a:p>
            <a:r>
              <a:t>Le </a:t>
            </a:r>
            <a:r>
              <a:rPr>
                <a:latin typeface="Consolas"/>
              </a:rPr>
              <a:t>switch</a:t>
            </a:r>
            <a:r>
              <a:t> sur une énumération vient du module ENU : les étiquettes s'écrivent sans le nom du type, </a:t>
            </a:r>
            <a:r>
              <a:rPr>
                <a:latin typeface="Consolas"/>
              </a:rPr>
              <a:t>UP</a:t>
            </a:r>
            <a:r>
              <a:t> et non </a:t>
            </a:r>
            <a:r>
              <a:rPr>
                <a:latin typeface="Consolas"/>
              </a:rPr>
              <a:t>KeyCode.UP</a:t>
            </a:r>
            <a:r>
              <a:t>. La branche </a:t>
            </a:r>
            <a:r>
              <a:rPr>
                <a:latin typeface="Consolas"/>
              </a:rPr>
              <a:t>default</a:t>
            </a:r>
            <a:r>
              <a:t> vide dit explicitement que les autres touches ne font rien.</a:t>
            </a:r>
          </a:p>
          <a:p>
            <a:r>
              <a:rPr lang="fr-BE" dirty="0"/>
              <a:t>Le code complet, à lancer : demos, classe demo.fx.slides.fx1.LanceurClavierEtSouris.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N'importe quel nœud peut recevoir des événements de souris, pas seulement un bouton : ici, l'ampoule est un </a:t>
            </a:r>
            <a:r>
              <a:rPr>
                <a:latin typeface="Consolas"/>
              </a:rPr>
              <a:t>Circle</a:t>
            </a:r>
            <a:r>
              <a:t>. La position se lit aussi dans la scène, par </a:t>
            </a:r>
            <a:r>
              <a:rPr>
                <a:latin typeface="Consolas"/>
              </a:rPr>
              <a:t>getSceneX</a:t>
            </a:r>
            <a:r>
              <a:t> et </a:t>
            </a:r>
            <a:r>
              <a:rPr>
                <a:latin typeface="Consolas"/>
              </a:rPr>
              <a:t>getSceneY</a:t>
            </a:r>
            <a:r>
              <a:t>, ou sur l'écran, par </a:t>
            </a:r>
            <a:r>
              <a:rPr>
                <a:latin typeface="Consolas"/>
              </a:rPr>
              <a:t>getScreenX</a:t>
            </a:r>
            <a:r>
              <a:t>. Un double clic produit deux </a:t>
            </a:r>
            <a:r>
              <a:rPr>
                <a:latin typeface="Consolas"/>
              </a:rPr>
              <a:t>MOUSE_CLICKED</a:t>
            </a:r>
            <a:r>
              <a:t> : le premier avec un compte de 1, le second avec un compte de 2. Le test de la slide ne réagit donc qu'au second.</a:t>
            </a:r>
          </a:p>
          <a:p>
            <a:r>
              <a:t>Un bouton produit à la fois un </a:t>
            </a:r>
            <a:r>
              <a:rPr>
                <a:latin typeface="Consolas"/>
              </a:rPr>
              <a:t>ActionEvent</a:t>
            </a:r>
            <a:r>
              <a:t> et des </a:t>
            </a:r>
            <a:r>
              <a:rPr>
                <a:latin typeface="Consolas"/>
              </a:rPr>
              <a:t>MouseEvent</a:t>
            </a:r>
            <a:r>
              <a:t>, et ce ne sont pas les mêmes déclencheurs. L'</a:t>
            </a:r>
            <a:r>
              <a:rPr>
                <a:latin typeface="Consolas"/>
              </a:rPr>
              <a:t>ActionEvent</a:t>
            </a:r>
            <a:r>
              <a:t> survient aussi quand on actionne le bouton au clavier, avec la barre d'espace. Le </a:t>
            </a:r>
            <a:r>
              <a:rPr>
                <a:latin typeface="Consolas"/>
              </a:rPr>
              <a:t>MOUSE_CLICKED</a:t>
            </a:r>
            <a:r>
              <a:t> ne survient qu'à la souris. Quand un énoncé demande d'utiliser le clic de souris comme déclencheur, c'est le second qu'il attend.</a:t>
            </a:r>
          </a:p>
          <a:p>
            <a:r>
              <a:rPr lang="fr-BE" dirty="0"/>
              <a:t>Le code complet, à lancer : demos, classe demo.fx.slides.fx1.LanceurClavierEtSouris.</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La démonstration pose trois gestionnaires : deux sur un cercle, un sur le conteneur qui l'entoure. Un seul clic les déclenche tous les trois. Notez l'ordre dans lequel ils s'affichent, avant qu'on ne l'explique.</a:t>
            </a:r>
          </a:p>
          <a:p>
            <a:r>
              <a:t>Puis une case à cocher change le comportement du conteneur. Regardez ce que deviennent les gestionnaires du cercle.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clic sur le cercle ne concerne pas que le cercle. Le cercle est dans un conteneur, qui est dans la scène, qui est dans la fenêtre : le clic a eu lieu dans chacun d'eux. JavaFX en tient compte en faisant voyager l'événement le long de la branche du graphe de scène qui mène au nœud cliqué, la cible.</a:t>
            </a:r>
          </a:p>
          <a:p>
            <a:r>
              <a:t>Le voyage a deux phases. À la descente, de la fenêtre vers la cible, chaque nœud peut intercepter l'événement avant ses enfants. À la remontée, de la cible vers la fenêtre, chaque nœud peut réagir à ce qui s'est passé chez ses enfants. Le terme anglais de la seconde phase, *bubbling*, évoque une bulle qui remonte à la surface.</a:t>
            </a:r>
          </a:p>
          <a:p>
            <a:r>
              <a:t>Voilà pourquoi le gestionnaire de clavier de </a:t>
            </a:r>
            <a:r>
              <a:rPr>
                <a:latin typeface="Consolas"/>
              </a:rPr>
              <a:t>FX.4</a:t>
            </a:r>
            <a:r>
              <a:t> fonctionne sur la racine : la touche est adressée au composant qui a le focus, et remonte jusqu'à elle. C'est aussi pourquoi </a:t>
            </a:r>
            <a:r>
              <a:rPr>
                <a:latin typeface="Consolas"/>
              </a:rPr>
              <a:t>getSource</a:t>
            </a:r>
            <a:r>
              <a:t> change au fil du voyage : il désigne le nœud dont le gestionnaire s'exécute, alors que </a:t>
            </a:r>
            <a:r>
              <a:rPr>
                <a:latin typeface="Consolas"/>
              </a:rPr>
              <a:t>getTarget</a:t>
            </a:r>
            <a:r>
              <a:t> désigne toujours la cible.</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L'animation montre ce que fait un gestionnaire enregistré par addEventHandler. On clique sur le cercle : l'événement part de lui, la cible, et remonte le chemin vers la fenêtre, nœud par nœud. Chaque nœud traversé qui porte un gestionnaire pour ce type d'événement le déclenche au passage.</a:t>
            </a:r>
          </a:p>
          <a:p>
            <a:r>
              <a:rPr lang="fr-BE" dirty="0"/>
              <a:t>Ici, deux gestionnaires sont attachés au même nœud : ils sont appelés tous les deux, l'un après l'autre. C'est la phase de remontée, qu'on appelle le bouillonnement : l'image de la bulle qui remonte à la surface.</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L'événement ne part pas directement de la cible. JavaFX trace d'abord le chemin, de la fenêtre jusqu'au nœud visé, puis le fait parcourir deux fois.</a:t>
            </a:r>
          </a:p>
          <a:p>
            <a:r>
              <a:rPr lang="fr-BE" dirty="0"/>
              <a:t>Première phase, la capture : l'événement descend du Stage vers la cible, en passant par la scène et chaque conteneur. Seconde phase, le bouillonnement : il remonte le même chemin, de la cible vers le Stage. L'animation montre ce trajet en U.</a:t>
            </a:r>
          </a:p>
          <a:p>
            <a:r>
              <a:rPr lang="fr-BE" dirty="0"/>
              <a:t>Les deux phases existent pour tout événement. Ce qui change, c'est qui écoute à quel moment : c'est l'objet de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fr-BE" dirty="0"/>
              <a:t>Deux sortes d'objets peuvent réagir sur ce trajet. Les filtres, enregistrés par addEventFilter, sont appelés pendant la descente. Les gestionnaires, enregistrés par addEventHandler ou par les raccourcis setOnAction et setOnMouseClicked, sont appelés pendant la remontée.</a:t>
            </a:r>
          </a:p>
          <a:p>
            <a:r>
              <a:rPr lang="fr-BE" dirty="0"/>
              <a:t>Un filtre posé sur un conteneur voit donc passer l'événement avant ses enfants, et avant la cible. C'est ce qui lui permet de l'intercepter, par consume, avant qu'il n'arrive : la slide consume() le montre.</a:t>
            </a:r>
          </a:p>
          <a:p>
            <a:r>
              <a:rPr lang="fr-BE" dirty="0"/>
              <a:t>Dans la quasi-totalité des cas, un gestionnaire suffit. Le filtre sert quand un conteneur doit surveiller ou bloquer ce qui arrive à tous ses enfants.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Filtre et gestionnaire sont le même type d'objet, un </a:t>
            </a:r>
            <a:r>
              <a:rPr>
                <a:latin typeface="Consolas"/>
              </a:rPr>
              <a:t>EventHandler</a:t>
            </a:r>
            <a:r>
              <a:t>. Ce qui les distingue, c'est le moment où on les appelle : un filtre pendant la descente, un gestionnaire pendant la remontée. C'est pour cela qu'ils portent deux noms, et qu'on les ajoute par deux méthodes différentes.</a:t>
            </a:r>
          </a:p>
          <a:p>
            <a:r>
              <a:t>Dans la démonstration, le filtre du conteneur s'affichait avant les gestionnaires du cercle. Ce n'était pas une question d'ordre d'écriture : le conteneur est traversé à la descente, avant que l'événement n'atteigne le cercle.</a:t>
            </a:r>
          </a:p>
          <a:p>
            <a:r>
              <a:t>Les raccourcis </a:t>
            </a:r>
            <a:r>
              <a:rPr>
                <a:latin typeface="Consolas"/>
              </a:rPr>
              <a:t>setOnAction</a:t>
            </a:r>
            <a:r>
              <a:t> ou </a:t>
            </a:r>
            <a:r>
              <a:rPr>
                <a:latin typeface="Consolas"/>
              </a:rPr>
              <a:t>setOnMouseClicked</a:t>
            </a:r>
            <a:r>
              <a:t> posent tous des gestionnaires. Presque tout le code JavaFX en reste là. Un filtre se justifie quand un conteneur doit voir un événement avant ses enfants, et parfois les en priver. C'est le sujet de la slide suivante.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 filtre qui consomme l'événement l'arrête dans sa descente : la cible et tout ce qui suit ne le verront jamais. C'est ce qu'a fait la case à cocher de la démonstration. On s'en sert pour bloquer une saisie, ou pour qu'un panneau verrouillé ignore les clics qui lui sont destinés, sans toucher au code de ses enfants.</a:t>
            </a:r>
          </a:p>
          <a:p>
            <a:r>
              <a:t>Vous connaissez maintenant deux façons de rendre un composant sourd. On peut retirer son gestionnaire, par </a:t>
            </a:r>
            <a:r>
              <a:rPr>
                <a:latin typeface="Consolas"/>
              </a:rPr>
              <a:t>removeEventHandler</a:t>
            </a:r>
            <a:r>
              <a:t>, ou laisser le gestionnaire en place et intercepter l'événement plus haut, par un filtre. La première agit sur un composant, la seconde sur tout ce qu'un conteneur contient.</a:t>
            </a:r>
          </a:p>
          <a:p>
            <a:r>
              <a:t>La dernière ligne de la slide est une nuance. </a:t>
            </a:r>
            <a:r>
              <a:rPr>
                <a:latin typeface="Consolas"/>
              </a:rPr>
              <a:t>consume</a:t>
            </a:r>
            <a:r>
              <a:t> arrête le voyage d'un nœud au suivant ; il n'empêche pas les autres gestionnaires posés sur le même nœud de s'exécuter.</a:t>
            </a:r>
          </a:p>
          <a:p>
            <a:r>
              <a:rPr lang="fr-BE" dirty="0"/>
              <a:t>Le code complet, à lancer : demos, classe demo.fx.slides.fx1.LanceurClavierEtSouris.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a:latin typeface="Consolas"/>
              </a:rPr>
              <a:t>FX.5</a:t>
            </a:r>
            <a:r>
              <a:t> fait construire ce que la démonstration a montré, avec un empilement de quatre niveaux : vous verrez le filtre, puis les gestionnaires, et vous constaterez ce qu'un clic à côté du cercle déclenche.</a:t>
            </a:r>
          </a:p>
          <a:p>
            <a:r>
              <a:t>La seconde partie tient en une ligne. Ne la cherchez pas dans le cercle.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Jusqu'ici, on joue à GameHub dans la console. </a:t>
            </a:r>
            <a:r>
              <a:rPr>
                <a:latin typeface="Consolas"/>
              </a:rPr>
              <a:t>G.33</a:t>
            </a:r>
            <a:r>
              <a:t> donne une fenêtre au jeu de Nim, vous contre la machine : un libellé affiche la pile, trois boutons prennent une, deux ou trois allumettes, et les touches 1, 2 et 3 font la même chose. Après chaque coup, la stratégie de la machine joue le sien. La fenêtre est une application à part, avec son propre lanceur : le hub console ne change pas.</a:t>
            </a:r>
          </a:p>
          <a:p>
            <a:r>
              <a:t>La contrainte qui compte : la pile, les règles et les stratégies servent sans une ligne changée. </a:t>
            </a:r>
            <a:r>
              <a:rPr>
                <a:latin typeface="Consolas"/>
              </a:rPr>
              <a:t>JeuNim</a:t>
            </a:r>
            <a:r>
              <a:t>, en revanche, ne sert pas : sa méthode </a:t>
            </a:r>
            <a:r>
              <a:rPr>
                <a:latin typeface="Consolas"/>
              </a:rPr>
              <a:t>jouer</a:t>
            </a:r>
            <a:r>
              <a:t> est une boucle qui va jusqu'au bout de la partie sans s'arrêter, et une fenêtre ne peut pas l'attendre. La question de l'incrément est là : où est passée la boucle ? Relisez la slide 3.2 avant de répondre.</a:t>
            </a:r>
          </a:p>
          <a:p>
            <a:r>
              <a:t>Une question à garder pour le deck suivant : les boutons qui prendraient plus d'allumettes qu'il n'en reste devraient être désactivés. Où écririez- vous cette règle, et combien de fois ?</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dirty="0"/>
          </a:p>
        </p:txBody>
      </p:sp>
      <p:cxnSp>
        <p:nvCxnSpPr>
          <p:cNvPr id="7" name="Connecteur droit 6">
            <a:extLst>
              <a:ext uri="{FF2B5EF4-FFF2-40B4-BE49-F238E27FC236}">
                <a16:creationId xmlns:a16="http://schemas.microsoft.com/office/drawing/2014/main" id="{F50C5AB0-4392-0C4D-81D9-F157F3F77823}"/>
              </a:ext>
            </a:extLst>
          </p:cNvPr>
          <p:cNvCxnSpPr>
            <a:cxnSpLocks/>
          </p:cNvCxnSpPr>
          <p:nvPr/>
        </p:nvCxnSpPr>
        <p:spPr>
          <a:xfrm>
            <a:off x="457202" y="3559391"/>
            <a:ext cx="11343503" cy="0"/>
          </a:xfrm>
          <a:prstGeom prst="line">
            <a:avLst/>
          </a:prstGeom>
          <a:ln w="3175">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193905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45EE1B68-22B8-5144-911D-67D73F7F75DC}"/>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082059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fr-FR"/>
              <a:t>Modifiez le style du titre</a:t>
            </a:r>
            <a:endParaRPr lang="en-US" dirty="0"/>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fr-FR"/>
              <a:t>Cliquez pour modifier les styles du texte du masque</a:t>
            </a:r>
          </a:p>
        </p:txBody>
      </p:sp>
      <p:sp>
        <p:nvSpPr>
          <p:cNvPr id="7" name="Slide Number Placeholder 5">
            <a:extLst>
              <a:ext uri="{FF2B5EF4-FFF2-40B4-BE49-F238E27FC236}">
                <a16:creationId xmlns:a16="http://schemas.microsoft.com/office/drawing/2014/main" id="{68BCA98C-1917-1B40-ABB2-9D21885BDC6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1765511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8" name="Slide Number Placeholder 5">
            <a:extLst>
              <a:ext uri="{FF2B5EF4-FFF2-40B4-BE49-F238E27FC236}">
                <a16:creationId xmlns:a16="http://schemas.microsoft.com/office/drawing/2014/main" id="{0F3E845D-F43C-944D-8F99-1B6CA5503177}"/>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5406470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fr-FR"/>
              <a:t>Modifiez le style du titre</a:t>
            </a:r>
            <a:endParaRPr lang="en-US" dirty="0"/>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Content Placeholder 3"/>
          <p:cNvSpPr>
            <a:spLocks noGrp="1"/>
          </p:cNvSpPr>
          <p:nvPr>
            <p:ph sz="half" idx="2"/>
          </p:nvPr>
        </p:nvSpPr>
        <p:spPr>
          <a:xfrm>
            <a:off x="839789"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Content Placeholder 5"/>
          <p:cNvSpPr>
            <a:spLocks noGrp="1"/>
          </p:cNvSpPr>
          <p:nvPr>
            <p:ph sz="quarter" idx="4"/>
          </p:nvPr>
        </p:nvSpPr>
        <p:spPr>
          <a:xfrm>
            <a:off x="6172201"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10" name="Slide Number Placeholder 5">
            <a:extLst>
              <a:ext uri="{FF2B5EF4-FFF2-40B4-BE49-F238E27FC236}">
                <a16:creationId xmlns:a16="http://schemas.microsoft.com/office/drawing/2014/main" id="{FF818906-3F6A-DC45-BB24-EFCB91263081}"/>
              </a:ext>
            </a:extLst>
          </p:cNvPr>
          <p:cNvSpPr>
            <a:spLocks noGrp="1"/>
          </p:cNvSpPr>
          <p:nvPr>
            <p:ph type="sldNum" sz="quarter" idx="10"/>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40205946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6" name="Slide Number Placeholder 5">
            <a:extLst>
              <a:ext uri="{FF2B5EF4-FFF2-40B4-BE49-F238E27FC236}">
                <a16:creationId xmlns:a16="http://schemas.microsoft.com/office/drawing/2014/main" id="{E4F97A31-FE83-AB47-8221-61BFCBFFF87D}"/>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043900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0FDFDBB0-5C1B-0B47-92C8-B08C981D73B4}"/>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39092246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59AFBA4C-30EB-4A4E-A60E-1B72FA76AA11}"/>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32163857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dirty="0"/>
          </a:p>
        </p:txBody>
      </p:sp>
      <p:sp>
        <p:nvSpPr>
          <p:cNvPr id="3" name="Picture Placeholder 2"/>
          <p:cNvSpPr>
            <a:spLocks noGrp="1" noChangeAspect="1"/>
          </p:cNvSpPr>
          <p:nvPr>
            <p:ph type="pic" idx="1"/>
          </p:nvPr>
        </p:nvSpPr>
        <p:spPr>
          <a:xfrm>
            <a:off x="5183188" y="987427"/>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fr-FR"/>
              <a:t>Cliquez sur l'icône pour ajouter une image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8" name="Slide Number Placeholder 5">
            <a:extLst>
              <a:ext uri="{FF2B5EF4-FFF2-40B4-BE49-F238E27FC236}">
                <a16:creationId xmlns:a16="http://schemas.microsoft.com/office/drawing/2014/main" id="{CC1A4DF9-C7A5-CC4A-952D-F6BE2586AB7A}"/>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3513351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fr-FR"/>
              <a:t>Modifiez le style du titre</a:t>
            </a:r>
            <a:endParaRPr lang="en-US" dirty="0"/>
          </a:p>
        </p:txBody>
      </p:sp>
      <p:sp>
        <p:nvSpPr>
          <p:cNvPr id="3" name="Vertical Text Placeholder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753E1124-F839-AE4B-8F4B-A00427DEEEB8}"/>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950900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fr-FR"/>
              <a:t>Modifiez le style du titre</a:t>
            </a:r>
            <a:endParaRPr lang="en-US" dirty="0"/>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dirty="0"/>
          </a:p>
        </p:txBody>
      </p:sp>
      <p:sp>
        <p:nvSpPr>
          <p:cNvPr id="7" name="Slide Number Placeholder 5">
            <a:extLst>
              <a:ext uri="{FF2B5EF4-FFF2-40B4-BE49-F238E27FC236}">
                <a16:creationId xmlns:a16="http://schemas.microsoft.com/office/drawing/2014/main" id="{98C737BB-8CEC-FF4F-BB70-AC8A804E161E}"/>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136771503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0">
              <a:schemeClr val="accent5">
                <a:lumMod val="50000"/>
              </a:schemeClr>
            </a:gs>
            <a:gs pos="29000">
              <a:schemeClr val="accent5">
                <a:lumMod val="75000"/>
              </a:schemeClr>
            </a:gs>
            <a:gs pos="100000">
              <a:schemeClr val="accent5">
                <a:lumMod val="50000"/>
              </a:schemeClr>
            </a:gs>
          </a:gsLst>
          <a:path path="circle">
            <a:fillToRect l="50000" t="130000" r="50000" b="-30000"/>
          </a:path>
          <a:tileRect/>
        </a:gra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fr-FR" dirty="0"/>
              <a:t>Modifiez le style du titre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endParaRPr lang="en-US" dirty="0"/>
          </a:p>
        </p:txBody>
      </p:sp>
      <p:sp>
        <p:nvSpPr>
          <p:cNvPr id="8" name="Espace réservé du texte 7">
            <a:extLst>
              <a:ext uri="{FF2B5EF4-FFF2-40B4-BE49-F238E27FC236}">
                <a16:creationId xmlns:a16="http://schemas.microsoft.com/office/drawing/2014/main" id="{16BB548F-0EDB-6D43-BC7A-59E9CDD0ED25}"/>
              </a:ext>
            </a:extLst>
          </p:cNvPr>
          <p:cNvSpPr txBox="1">
            <a:spLocks/>
          </p:cNvSpPr>
          <p:nvPr/>
        </p:nvSpPr>
        <p:spPr>
          <a:xfrm>
            <a:off x="457201" y="6249391"/>
            <a:ext cx="4177267" cy="321464"/>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nl-BE" sz="1200" b="1" dirty="0"/>
              <a:t>IN2 – 6001 – Programmation Orientée Objet JAVA</a:t>
            </a:r>
            <a:endParaRPr lang="fr-FR" sz="1200" b="1" dirty="0">
              <a:solidFill>
                <a:schemeClr val="bg2">
                  <a:shade val="50000"/>
                </a:schemeClr>
              </a:solidFill>
            </a:endParaRPr>
          </a:p>
        </p:txBody>
      </p:sp>
      <p:sp>
        <p:nvSpPr>
          <p:cNvPr id="9" name="Espace réservé du texte 7">
            <a:extLst>
              <a:ext uri="{FF2B5EF4-FFF2-40B4-BE49-F238E27FC236}">
                <a16:creationId xmlns:a16="http://schemas.microsoft.com/office/drawing/2014/main" id="{A73AF70B-0DC2-D84B-A8F1-DEAEB08FADFD}"/>
              </a:ext>
            </a:extLst>
          </p:cNvPr>
          <p:cNvSpPr txBox="1">
            <a:spLocks/>
          </p:cNvSpPr>
          <p:nvPr/>
        </p:nvSpPr>
        <p:spPr>
          <a:xfrm>
            <a:off x="457201" y="6502785"/>
            <a:ext cx="4177267" cy="388971"/>
          </a:xfrm>
          <a:prstGeom prst="rect">
            <a:avLst/>
          </a:prstGeom>
        </p:spPr>
        <p:txBody>
          <a:bodyPr/>
          <a:lstStyle>
            <a:lvl1pPr marL="0" indent="0" algn="l" defTabSz="914400" rtl="0" eaLnBrk="1" latinLnBrk="0" hangingPunct="1">
              <a:spcBef>
                <a:spcPct val="20000"/>
              </a:spcBef>
              <a:spcAft>
                <a:spcPts val="600"/>
              </a:spcAft>
              <a:buFont typeface="Arial" pitchFamily="34" charset="0"/>
              <a:buNone/>
              <a:defRPr sz="2000" b="1" kern="1200">
                <a:solidFill>
                  <a:schemeClr val="tx1"/>
                </a:solidFill>
                <a:latin typeface="+mn-lt"/>
                <a:ea typeface="+mn-ea"/>
                <a:cs typeface="+mn-cs"/>
              </a:defRPr>
            </a:lvl1pPr>
            <a:lvl2pPr marL="457200" indent="-182880" algn="l" defTabSz="914400" rtl="0" eaLnBrk="1" latinLnBrk="0" hangingPunct="1">
              <a:spcBef>
                <a:spcPct val="20000"/>
              </a:spcBef>
              <a:buClr>
                <a:schemeClr val="tx2"/>
              </a:buClr>
              <a:buFont typeface="Arial"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Clr>
                <a:schemeClr val="tx2"/>
              </a:buClr>
              <a:buFont typeface="Arial" pitchFamily="34" charset="0"/>
              <a:buChar char="•"/>
              <a:defRPr sz="1800" kern="1200">
                <a:solidFill>
                  <a:schemeClr val="tx1"/>
                </a:solidFill>
                <a:latin typeface="+mn-lt"/>
                <a:ea typeface="+mn-ea"/>
                <a:cs typeface="+mn-cs"/>
              </a:defRPr>
            </a:lvl4pPr>
            <a:lvl5pPr marL="2057400" indent="-228600" algn="l" defTabSz="914400" rtl="0" eaLnBrk="1" latinLnBrk="0" hangingPunct="1">
              <a:spcBef>
                <a:spcPct val="20000"/>
              </a:spcBef>
              <a:buClr>
                <a:schemeClr val="tx2"/>
              </a:buClr>
              <a:buFont typeface="Arial" pitchFamily="34" charset="0"/>
              <a:buChar char="•"/>
              <a:defRPr sz="1800" kern="1200" baseline="0">
                <a:solidFill>
                  <a:schemeClr val="tx1"/>
                </a:solidFill>
                <a:latin typeface="+mn-lt"/>
                <a:ea typeface="+mn-ea"/>
                <a:cs typeface="+mn-cs"/>
              </a:defRPr>
            </a:lvl5pPr>
            <a:lvl6pPr marL="25146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6pPr>
            <a:lvl7pPr marL="29718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7pPr>
            <a:lvl8pPr marL="34290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8pPr>
            <a:lvl9pPr marL="3886200" indent="-228600" algn="l" defTabSz="914400" rtl="0" eaLnBrk="1" latinLnBrk="0" hangingPunct="1">
              <a:spcBef>
                <a:spcPct val="20000"/>
              </a:spcBef>
              <a:buClr>
                <a:schemeClr val="tx2"/>
              </a:buClr>
              <a:buFont typeface="Arial" pitchFamily="34" charset="0"/>
              <a:buChar char="•"/>
              <a:defRPr sz="1600" kern="1200">
                <a:solidFill>
                  <a:schemeClr val="tx1"/>
                </a:solidFill>
                <a:latin typeface="+mn-lt"/>
                <a:ea typeface="+mn-ea"/>
                <a:cs typeface="+mn-cs"/>
              </a:defRPr>
            </a:lvl9pPr>
          </a:lstStyle>
          <a:p>
            <a:r>
              <a:rPr lang="fr-FR" sz="1200" b="1" dirty="0"/>
              <a:t>Frédéric Ferrant – </a:t>
            </a:r>
            <a:r>
              <a:rPr lang="is-IS" sz="1200" b="1" dirty="0"/>
              <a:t>2026-2027</a:t>
            </a:r>
            <a:endParaRPr lang="fr-FR" sz="1200" b="1" dirty="0"/>
          </a:p>
        </p:txBody>
      </p:sp>
      <p:sp>
        <p:nvSpPr>
          <p:cNvPr id="10" name="Slide Number Placeholder 5">
            <a:extLst>
              <a:ext uri="{FF2B5EF4-FFF2-40B4-BE49-F238E27FC236}">
                <a16:creationId xmlns:a16="http://schemas.microsoft.com/office/drawing/2014/main" id="{6C5D55A8-0E87-874B-9388-8CD1306BB97B}"/>
              </a:ext>
            </a:extLst>
          </p:cNvPr>
          <p:cNvSpPr>
            <a:spLocks noGrp="1"/>
          </p:cNvSpPr>
          <p:nvPr>
            <p:ph type="sldNum" sz="quarter" idx="4"/>
          </p:nvPr>
        </p:nvSpPr>
        <p:spPr>
          <a:xfrm rot="16200000">
            <a:off x="11314708" y="5717566"/>
            <a:ext cx="1107456" cy="462979"/>
          </a:xfrm>
          <a:prstGeom prst="rect">
            <a:avLst/>
          </a:prstGeom>
        </p:spPr>
        <p:txBody>
          <a:bodyPr/>
          <a:lstStyle>
            <a:lvl1pPr>
              <a:defRPr sz="2800" b="1"/>
            </a:lvl1pPr>
          </a:lstStyle>
          <a:p>
            <a:fld id="{33C783E2-4793-4F48-A271-51A73CC37D74}" type="slidenum">
              <a:rPr lang="fr-FR" smtClean="0"/>
              <a:t>‹N°›</a:t>
            </a:fld>
            <a:endParaRPr lang="fr-FR"/>
          </a:p>
        </p:txBody>
      </p:sp>
    </p:spTree>
    <p:extLst>
      <p:ext uri="{BB962C8B-B14F-4D97-AF65-F5344CB8AC3E}">
        <p14:creationId xmlns:p14="http://schemas.microsoft.com/office/powerpoint/2010/main" val="2670729001"/>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tmplLst>
          <p:tmpl lvl="1">
            <p:tnLst>
              <p:par>
                <p:cTn presetID="1"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2">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3">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4">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 lvl="5">
            <p:tnLst>
              <p:par>
                <p:cTn presetID="1" presetClass="entr" presetSubtype="0" fill="hold" nodeType="withEffect">
                  <p:stCondLst>
                    <p:cond delay="0"/>
                  </p:stCondLst>
                  <p:childTnLst>
                    <p:set>
                      <p:cBhvr>
                        <p:cTn dur="1" fill="hold">
                          <p:stCondLst>
                            <p:cond delay="0"/>
                          </p:stCondLst>
                        </p:cTn>
                        <p:tgtEl>
                          <p:spTgt spid="3"/>
                        </p:tgtEl>
                        <p:attrNameLst>
                          <p:attrName>style.visibility</p:attrName>
                        </p:attrNameLst>
                      </p:cBhvr>
                      <p:to>
                        <p:strVal val="visible"/>
                      </p:to>
                    </p:set>
                  </p:childTnLst>
                </p:cTn>
              </p:par>
            </p:tnLst>
          </p:tmpl>
        </p:tmplLst>
      </p:bldP>
    </p:bldLst>
  </p:timing>
  <p:hf hdr="0" ftr="0" dt="0"/>
  <p:txStyles>
    <p:titleStyle>
      <a:lvl1pPr algn="l" defTabSz="914400" rtl="0" eaLnBrk="1" latinLnBrk="0" hangingPunct="1">
        <a:lnSpc>
          <a:spcPct val="90000"/>
        </a:lnSpc>
        <a:spcBef>
          <a:spcPct val="0"/>
        </a:spcBef>
        <a:buNone/>
        <a:defRPr sz="4800" b="1" i="0" kern="1200">
          <a:solidFill>
            <a:schemeClr val="tx1"/>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b="0" i="0" kern="1200">
          <a:solidFill>
            <a:schemeClr val="tx1"/>
          </a:solidFill>
          <a:latin typeface="Corbel" panose="020B0503020204020204" pitchFamily="34" charset="0"/>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b="0" i="0" kern="1200">
          <a:solidFill>
            <a:schemeClr val="tx1"/>
          </a:solidFill>
          <a:latin typeface="Corbel" panose="020B0503020204020204" pitchFamily="34" charset="0"/>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b="0" i="0" kern="1200">
          <a:solidFill>
            <a:schemeClr val="tx1"/>
          </a:solidFill>
          <a:latin typeface="Corbel" panose="020B0503020204020204" pitchFamily="34" charset="0"/>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b="0" i="0" kern="1200">
          <a:solidFill>
            <a:schemeClr val="tx1"/>
          </a:solidFill>
          <a:latin typeface="Corbel" panose="020B05030202040202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4.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8.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9.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0.tiff"/></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1.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stackoverflow.com/questions/25740103/javafx-what-is-the-difference-between-eventhandler-and-eventfilter"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stackoverflow.com/questions/25740103/javafx-what-is-the-difference-between-eventhandler-and-eventfilter"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https://stackoverflow.com/questions/25740103/javafx-what-is-the-difference-between-eventhandler-and-eventfilter"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 Id="rId3"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image" Target="../media/image1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us-titre 2">
            <a:extLst>
              <a:ext uri="{FF2B5EF4-FFF2-40B4-BE49-F238E27FC236}">
                <a16:creationId xmlns:a16="http://schemas.microsoft.com/office/drawing/2014/main" id="{DAE3EB04-5815-5DFA-3BAB-7E6007A4E3C5}"/>
              </a:ext>
            </a:extLst>
          </p:cNvPr>
          <p:cNvSpPr>
            <a:spLocks noGrp="1"/>
          </p:cNvSpPr>
          <p:nvPr>
            <p:ph type="subTitle" idx="1"/>
          </p:nvPr>
        </p:nvSpPr>
        <p:spPr/>
        <p:txBody>
          <a:bodyPr/>
          <a:lstStyle/>
          <a:p>
            <a:r>
              <a:rPr lang="fr-FR" dirty="0"/>
              <a:t>Module FX - première partie</a:t>
            </a:r>
          </a:p>
          <a:p>
            <a:r>
              <a:rPr/>
              <a:t>Une fenêtre qui réagit</a:t>
            </a:r>
          </a:p>
        </p:txBody>
      </p:sp>
      <p:sp>
        <p:nvSpPr>
          <p:cNvPr id="2" name="Titre 1">
            <a:extLst>
              <a:ext uri="{FF2B5EF4-FFF2-40B4-BE49-F238E27FC236}">
                <a16:creationId xmlns:a16="http://schemas.microsoft.com/office/drawing/2014/main" id="{65C16338-8FEF-9846-3E8D-6A6E291B1506}"/>
              </a:ext>
            </a:extLst>
          </p:cNvPr>
          <p:cNvSpPr>
            <a:spLocks noGrp="1"/>
          </p:cNvSpPr>
          <p:nvPr>
            <p:ph type="ctrTitle"/>
          </p:nvPr>
        </p:nvSpPr>
        <p:spPr>
          <a:ln>
            <a:noFill/>
          </a:ln>
        </p:spPr>
        <p:txBody>
          <a:bodyPr>
            <a:normAutofit/>
          </a:bodyPr>
          <a:lstStyle/>
          <a:p>
            <a:r>
              <a:rPr lang="fr-FR" sz="8000" dirty="0"/>
              <a:t>JAVA 2</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Au programme</a:t>
            </a:r>
          </a:p>
        </p:txBody>
      </p:sp>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a:t>
            </a:fld>
            <a:endParaRPr lang="fr-FR"/>
          </a:p>
        </p:txBody>
      </p:sp>
      <p:grpSp>
        <p:nvGrpSpPr>
          <p:cNvPr id="13" name="Section 1"/>
          <p:cNvGrpSpPr/>
          <p:nvPr/>
        </p:nvGrpSpPr>
        <p:grpSpPr>
          <a:xfrm>
            <a:off x="640080" y="1463040"/>
            <a:ext cx="5394960" cy="914400"/>
            <a:chOff x="640080" y="1463040"/>
            <a:chExt cx="5394960" cy="914400"/>
          </a:xfrm>
        </p:grpSpPr>
        <p:sp>
          <p:nvSpPr>
            <p:cNvPr id="18" name="Sommaire du module"/>
            <p:cNvSpPr/>
            <p:nvPr/>
          </p:nvSpPr>
          <p:spPr>
            <a:xfrm>
              <a:off x="64008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Sommaire du module, texte"/>
            <p:cNvSpPr txBox="1"/>
            <p:nvPr/>
          </p:nvSpPr>
          <p:spPr>
            <a:xfrm>
              <a:off x="822959" y="1463040"/>
              <a:ext cx="5029200" cy="914400"/>
            </a:xfrm>
            <a:prstGeom prst="rect">
              <a:avLst/>
            </a:prstGeom>
            <a:noFill/>
          </p:spPr>
          <p:txBody>
            <a:bodyPr wrap="none" anchor="ctr">
              <a:spAutoFit/>
            </a:bodyPr>
            <a:lstStyle/>
            <a:p>
              <a:r>
                <a:rPr sz="3000" b="1">
                  <a:solidFill>
                    <a:schemeClr val="accent4"/>
                  </a:solidFill>
                </a:rPr>
                <a:t>1   </a:t>
              </a:r>
              <a:r>
                <a:rPr sz="2600">
                  <a:solidFill>
                    <a:srgbClr val="FFFFFF"/>
                  </a:solidFill>
                </a:rPr>
                <a:t>Le lancement</a:t>
              </a:r>
            </a:p>
          </p:txBody>
        </p:sp>
      </p:grpSp>
      <p:grpSp>
        <p:nvGrpSpPr>
          <p:cNvPr id="14" name="Section 2"/>
          <p:cNvGrpSpPr/>
          <p:nvPr/>
        </p:nvGrpSpPr>
        <p:grpSpPr>
          <a:xfrm>
            <a:off x="640080" y="2560320"/>
            <a:ext cx="5394960" cy="914400"/>
            <a:chOff x="640080" y="2560320"/>
            <a:chExt cx="5394960" cy="914400"/>
          </a:xfrm>
        </p:grpSpPr>
        <p:sp>
          <p:nvSpPr>
            <p:cNvPr id="5" name="Sommaire du module"/>
            <p:cNvSpPr/>
            <p:nvPr/>
          </p:nvSpPr>
          <p:spPr>
            <a:xfrm>
              <a:off x="640080" y="256032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Sommaire du module, texte"/>
            <p:cNvSpPr txBox="1"/>
            <p:nvPr/>
          </p:nvSpPr>
          <p:spPr>
            <a:xfrm>
              <a:off x="822959" y="2560320"/>
              <a:ext cx="5029200" cy="914400"/>
            </a:xfrm>
            <a:prstGeom prst="rect">
              <a:avLst/>
            </a:prstGeom>
            <a:noFill/>
          </p:spPr>
          <p:txBody>
            <a:bodyPr wrap="none" anchor="ctr">
              <a:spAutoFit/>
            </a:bodyPr>
            <a:lstStyle/>
            <a:p>
              <a:r>
                <a:rPr sz="3000" b="1">
                  <a:solidFill>
                    <a:schemeClr val="accent4"/>
                  </a:solidFill>
                </a:rPr>
                <a:t>2   </a:t>
              </a:r>
              <a:r>
                <a:rPr sz="2600">
                  <a:solidFill>
                    <a:srgbClr val="FFFFFF"/>
                  </a:solidFill>
                </a:rPr>
                <a:t>La fenêtre</a:t>
              </a:r>
            </a:p>
          </p:txBody>
        </p:sp>
      </p:grpSp>
      <p:grpSp>
        <p:nvGrpSpPr>
          <p:cNvPr id="15" name="Section 3"/>
          <p:cNvGrpSpPr/>
          <p:nvPr/>
        </p:nvGrpSpPr>
        <p:grpSpPr>
          <a:xfrm>
            <a:off x="640080" y="3657600"/>
            <a:ext cx="5394960" cy="914400"/>
            <a:chOff x="640080" y="3657600"/>
            <a:chExt cx="5394960" cy="914400"/>
          </a:xfrm>
        </p:grpSpPr>
        <p:sp>
          <p:nvSpPr>
            <p:cNvPr id="7" name="Sommaire du module"/>
            <p:cNvSpPr/>
            <p:nvPr/>
          </p:nvSpPr>
          <p:spPr>
            <a:xfrm>
              <a:off x="640080" y="365760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Sommaire du module, texte"/>
            <p:cNvSpPr txBox="1"/>
            <p:nvPr/>
          </p:nvSpPr>
          <p:spPr>
            <a:xfrm>
              <a:off x="822959" y="3657600"/>
              <a:ext cx="5029200" cy="914400"/>
            </a:xfrm>
            <a:prstGeom prst="rect">
              <a:avLst/>
            </a:prstGeom>
            <a:noFill/>
          </p:spPr>
          <p:txBody>
            <a:bodyPr wrap="none" anchor="ctr">
              <a:spAutoFit/>
            </a:bodyPr>
            <a:lstStyle/>
            <a:p>
              <a:r>
                <a:rPr sz="3000" b="1">
                  <a:solidFill>
                    <a:schemeClr val="accent4"/>
                  </a:solidFill>
                </a:rPr>
                <a:t>3   </a:t>
              </a:r>
              <a:r>
                <a:rPr sz="2600">
                  <a:solidFill>
                    <a:srgbClr val="FFFFFF"/>
                  </a:solidFill>
                </a:rPr>
                <a:t>Les gestionnaires</a:t>
              </a:r>
            </a:p>
          </p:txBody>
        </p:sp>
      </p:grpSp>
      <p:grpSp>
        <p:nvGrpSpPr>
          <p:cNvPr id="16" name="Section 4"/>
          <p:cNvGrpSpPr/>
          <p:nvPr/>
        </p:nvGrpSpPr>
        <p:grpSpPr>
          <a:xfrm>
            <a:off x="640080" y="4754879"/>
            <a:ext cx="5394960" cy="914400"/>
            <a:chOff x="640080" y="4754879"/>
            <a:chExt cx="5394960" cy="914400"/>
          </a:xfrm>
        </p:grpSpPr>
        <p:sp>
          <p:nvSpPr>
            <p:cNvPr id="9" name="Sommaire du module"/>
            <p:cNvSpPr/>
            <p:nvPr/>
          </p:nvSpPr>
          <p:spPr>
            <a:xfrm>
              <a:off x="640080" y="4754879"/>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Sommaire du module, texte"/>
            <p:cNvSpPr txBox="1"/>
            <p:nvPr/>
          </p:nvSpPr>
          <p:spPr>
            <a:xfrm>
              <a:off x="822959" y="4754879"/>
              <a:ext cx="5029200" cy="914400"/>
            </a:xfrm>
            <a:prstGeom prst="rect">
              <a:avLst/>
            </a:prstGeom>
            <a:noFill/>
          </p:spPr>
          <p:txBody>
            <a:bodyPr wrap="none" anchor="ctr">
              <a:spAutoFit/>
            </a:bodyPr>
            <a:lstStyle/>
            <a:p>
              <a:r>
                <a:rPr sz="3000" b="1">
                  <a:solidFill>
                    <a:schemeClr val="accent4"/>
                  </a:solidFill>
                </a:rPr>
                <a:t>4   </a:t>
              </a:r>
              <a:r>
                <a:rPr sz="2600">
                  <a:solidFill>
                    <a:srgbClr val="FFFFFF"/>
                  </a:solidFill>
                </a:rPr>
                <a:t>Les événements</a:t>
              </a:r>
            </a:p>
          </p:txBody>
        </p:sp>
      </p:grpSp>
      <p:grpSp>
        <p:nvGrpSpPr>
          <p:cNvPr id="17" name="Section 5"/>
          <p:cNvGrpSpPr/>
          <p:nvPr/>
        </p:nvGrpSpPr>
        <p:grpSpPr>
          <a:xfrm>
            <a:off x="6217920" y="1463040"/>
            <a:ext cx="5394960" cy="914400"/>
            <a:chOff x="6217920" y="1463040"/>
            <a:chExt cx="5394960" cy="914400"/>
          </a:xfrm>
        </p:grpSpPr>
        <p:sp>
          <p:nvSpPr>
            <p:cNvPr id="11" name="Sommaire du module"/>
            <p:cNvSpPr/>
            <p:nvPr/>
          </p:nvSpPr>
          <p:spPr>
            <a:xfrm>
              <a:off x="6217920" y="1463040"/>
              <a:ext cx="5394960" cy="914400"/>
            </a:xfrm>
            <a:prstGeom prst="roundRect">
              <a:avLst>
                <a:gd name="adj" fmla="val 10000"/>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Sommaire du module, texte"/>
            <p:cNvSpPr txBox="1"/>
            <p:nvPr/>
          </p:nvSpPr>
          <p:spPr>
            <a:xfrm>
              <a:off x="6400800" y="1463040"/>
              <a:ext cx="5029200" cy="914400"/>
            </a:xfrm>
            <a:prstGeom prst="rect">
              <a:avLst/>
            </a:prstGeom>
            <a:noFill/>
          </p:spPr>
          <p:txBody>
            <a:bodyPr wrap="none" anchor="ctr">
              <a:spAutoFit/>
            </a:bodyPr>
            <a:lstStyle/>
            <a:p>
              <a:r>
                <a:rPr sz="3000" b="1">
                  <a:solidFill>
                    <a:schemeClr val="accent4"/>
                  </a:solidFill>
                </a:rPr>
                <a:t>5   </a:t>
              </a:r>
              <a:r>
                <a:rPr sz="2600">
                  <a:solidFill>
                    <a:srgbClr val="FFFFFF"/>
                  </a:solidFill>
                </a:rPr>
                <a:t>La propagation</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wipe(left)">
                                      <p:cBhvr>
                                        <p:cTn id="12" dur="500"/>
                                        <p:tgtEl>
                                          <p:spTgt spid="1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wipe(left)">
                                      <p:cBhvr>
                                        <p:cTn id="17" dur="5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6"/>
                                        </p:tgtEl>
                                        <p:attrNameLst>
                                          <p:attrName>style.visibility</p:attrName>
                                        </p:attrNameLst>
                                      </p:cBhvr>
                                      <p:to>
                                        <p:strVal val="visible"/>
                                      </p:to>
                                    </p:set>
                                    <p:animEffect transition="in" filter="wipe(left)">
                                      <p:cBhvr>
                                        <p:cTn id="22" dur="500"/>
                                        <p:tgtEl>
                                          <p:spTgt spid="1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7"/>
                                        </p:tgtEl>
                                        <p:attrNameLst>
                                          <p:attrName>style.visibility</p:attrName>
                                        </p:attrNameLst>
                                      </p:cBhvr>
                                      <p:to>
                                        <p:strVal val="visible"/>
                                      </p:to>
                                    </p:set>
                                    <p:animEffect transition="in" filter="wipe(left)">
                                      <p:cBhvr>
                                        <p:cTn id="2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1.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454985"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1. Lancer une application JavaFX</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JavaFX n'est plus dans le JDK</a:t>
            </a:r>
          </a:p>
        </p:txBody>
      </p:sp>
      <p:sp>
        <p:nvSpPr>
          <p:cNvPr id="3" name="Content Placeholder 2"/>
          <p:cNvSpPr>
            <a:spLocks noGrp="1"/>
          </p:cNvSpPr>
          <p:nvPr>
            <p:ph idx="1"/>
          </p:nvPr>
        </p:nvSpPr>
        <p:spPr>
          <a:xfrm>
            <a:off x="640080" y="1371600"/>
            <a:ext cx="10881360" cy="2651760"/>
          </a:xfrm>
        </p:spPr>
        <p:txBody>
          <a:bodyPr/>
          <a:lstStyle/>
          <a:p>
            <a:pPr marL="0" indent="0">
              <a:spcAft>
                <a:spcPts val="1000"/>
              </a:spcAft>
              <a:buNone/>
            </a:pPr>
            <a:r>
              <a:rPr sz="2800"/>
              <a:t>Depuis Java 11, JavaFX est une bibliothèque à part</a:t>
            </a:r>
          </a:p>
          <a:p>
            <a:pPr marL="0" indent="0">
              <a:spcAft>
                <a:spcPts val="1000"/>
              </a:spcAft>
              <a:buNone/>
            </a:pPr>
            <a:r>
              <a:rPr sz="2800"/>
              <a:t>Le projet du cours la déclare dans son </a:t>
            </a:r>
            <a:r>
              <a:rPr sz="2400">
                <a:solidFill>
                  <a:schemeClr val="accent4"/>
                </a:solidFill>
                <a:latin typeface="Consolas"/>
              </a:rPr>
              <a:t>pom.xml</a:t>
            </a:r>
            <a:r>
              <a:rPr sz="2800"/>
              <a:t>, comme JUnit</a:t>
            </a:r>
          </a:p>
          <a:p>
            <a:pPr marL="0" indent="0">
              <a:spcAft>
                <a:spcPts val="1000"/>
              </a:spcAft>
              <a:buNone/>
            </a:pPr>
            <a:r>
              <a:rPr sz="2800"/>
              <a:t>Maven la télécharge : rien à installer, rien à configurer</a:t>
            </a:r>
          </a:p>
        </p:txBody>
      </p:sp>
      <p:sp>
        <p:nvSpPr>
          <p:cNvPr id="4" name="Code"/>
          <p:cNvSpPr txBox="1"/>
          <p:nvPr/>
        </p:nvSpPr>
        <p:spPr>
          <a:xfrm>
            <a:off x="2870200" y="4160520"/>
            <a:ext cx="6451600"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&lt;dependency&gt;</a:t>
            </a:r>
          </a:p>
          <a:p>
            <a:pPr>
              <a:lnSpc>
                <a:spcPct val="100000"/>
              </a:lnSpc>
              <a:spcBef>
                <a:spcPts val="0"/>
              </a:spcBef>
              <a:spcAft>
                <a:spcPts val="0"/>
              </a:spcAft>
            </a:pPr>
            <a:r>
              <a:rPr sz="1800">
                <a:solidFill>
                  <a:srgbClr val="BCBEC4"/>
                </a:solidFill>
                <a:latin typeface="Consolas"/>
              </a:rPr>
              <a:t>    &lt;groupId&gt;org.openjfx&lt;/groupId&gt;</a:t>
            </a:r>
          </a:p>
          <a:p>
            <a:pPr>
              <a:lnSpc>
                <a:spcPct val="100000"/>
              </a:lnSpc>
              <a:spcBef>
                <a:spcPts val="0"/>
              </a:spcBef>
              <a:spcAft>
                <a:spcPts val="0"/>
              </a:spcAft>
            </a:pPr>
            <a:r>
              <a:rPr sz="1800">
                <a:solidFill>
                  <a:srgbClr val="BCBEC4"/>
                </a:solidFill>
                <a:latin typeface="Consolas"/>
              </a:rPr>
              <a:t>    &lt;artifactId&gt;javafx-controls&lt;/artifactId&gt;</a:t>
            </a:r>
          </a:p>
          <a:p>
            <a:pPr>
              <a:lnSpc>
                <a:spcPct val="100000"/>
              </a:lnSpc>
              <a:spcBef>
                <a:spcPts val="0"/>
              </a:spcBef>
              <a:spcAft>
                <a:spcPts val="0"/>
              </a:spcAft>
            </a:pPr>
            <a:r>
              <a:rPr sz="1800">
                <a:solidFill>
                  <a:srgbClr val="BCBEC4"/>
                </a:solidFill>
                <a:latin typeface="Consolas"/>
              </a:rPr>
              <a:t>    &lt;version&gt;</a:t>
            </a:r>
            <a:r>
              <a:rPr sz="1800">
                <a:solidFill>
                  <a:srgbClr val="2AACB8"/>
                </a:solidFill>
                <a:latin typeface="Consolas"/>
              </a:rPr>
              <a:t>21.0</a:t>
            </a:r>
            <a:r>
              <a:rPr sz="1800">
                <a:solidFill>
                  <a:srgbClr val="BCBEC4"/>
                </a:solidFill>
                <a:latin typeface="Consolas"/>
              </a:rPr>
              <a:t>.</a:t>
            </a:r>
            <a:r>
              <a:rPr sz="1800">
                <a:solidFill>
                  <a:srgbClr val="2AACB8"/>
                </a:solidFill>
                <a:latin typeface="Consolas"/>
              </a:rPr>
              <a:t>2</a:t>
            </a:r>
            <a:r>
              <a:rPr sz="1800">
                <a:solidFill>
                  <a:srgbClr val="BCBEC4"/>
                </a:solidFill>
                <a:latin typeface="Consolas"/>
              </a:rPr>
              <a:t>&lt;/version&gt;</a:t>
            </a:r>
          </a:p>
          <a:p>
            <a:pPr>
              <a:lnSpc>
                <a:spcPct val="100000"/>
              </a:lnSpc>
              <a:spcBef>
                <a:spcPts val="0"/>
              </a:spcBef>
              <a:spcAft>
                <a:spcPts val="0"/>
              </a:spcAft>
            </a:pPr>
            <a:r>
              <a:rPr sz="1800">
                <a:solidFill>
                  <a:srgbClr val="BCBEC4"/>
                </a:solidFill>
                <a:latin typeface="Consolas"/>
              </a:rPr>
              <a:t>&lt;/dependency&gt;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classe à lancer s'appelle </a:t>
            </a:r>
            <a:r>
              <a:rPr sz="3400">
                <a:solidFill>
                  <a:schemeClr val="accent4"/>
                </a:solidFill>
                <a:latin typeface="Consolas"/>
              </a:rPr>
              <a:t>Lanceur</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dirty="0"/>
              <a:t>Une application JavaFX </a:t>
            </a:r>
            <a:r>
              <a:rPr sz="2800" dirty="0" err="1"/>
              <a:t>hérite</a:t>
            </a:r>
            <a:r>
              <a:rPr sz="2800" dirty="0"/>
              <a:t> de </a:t>
            </a:r>
            <a:r>
              <a:rPr sz="2400" dirty="0">
                <a:solidFill>
                  <a:schemeClr val="accent4"/>
                </a:solidFill>
                <a:latin typeface="Consolas"/>
              </a:rPr>
              <a:t>Application</a:t>
            </a:r>
          </a:p>
          <a:p>
            <a:pPr marL="0" indent="0">
              <a:spcAft>
                <a:spcPts val="1000"/>
              </a:spcAft>
              <a:buNone/>
            </a:pPr>
            <a:r>
              <a:rPr sz="2800" dirty="0" err="1"/>
              <a:t>Lancée</a:t>
            </a:r>
            <a:r>
              <a:rPr sz="2800" dirty="0"/>
              <a:t> </a:t>
            </a:r>
            <a:r>
              <a:rPr sz="2800" dirty="0" err="1"/>
              <a:t>directement</a:t>
            </a:r>
            <a:r>
              <a:rPr sz="2800" dirty="0"/>
              <a:t>, </a:t>
            </a:r>
            <a:r>
              <a:rPr sz="2800" dirty="0" err="1"/>
              <a:t>elle</a:t>
            </a:r>
            <a:r>
              <a:rPr sz="2800" dirty="0"/>
              <a:t> refuse de </a:t>
            </a:r>
            <a:r>
              <a:rPr sz="2800" dirty="0" err="1"/>
              <a:t>démarrer</a:t>
            </a:r>
            <a:endParaRPr sz="2800" dirty="0"/>
          </a:p>
          <a:p>
            <a:pPr marL="0" indent="0">
              <a:spcAft>
                <a:spcPts val="1000"/>
              </a:spcAft>
              <a:buNone/>
            </a:pPr>
            <a:r>
              <a:rPr sz="2800" dirty="0"/>
              <a:t>On lance </a:t>
            </a:r>
            <a:r>
              <a:rPr sz="2800" dirty="0" err="1"/>
              <a:t>une</a:t>
            </a:r>
            <a:r>
              <a:rPr sz="2800" dirty="0"/>
              <a:t> </a:t>
            </a:r>
            <a:r>
              <a:rPr sz="2800" dirty="0" err="1"/>
              <a:t>autre</a:t>
            </a:r>
            <a:r>
              <a:rPr sz="2800" dirty="0"/>
              <a:t> </a:t>
            </a:r>
            <a:r>
              <a:rPr sz="2800" dirty="0" err="1"/>
              <a:t>classe</a:t>
            </a:r>
            <a:r>
              <a:rPr sz="2800" dirty="0"/>
              <a:t>, qui </a:t>
            </a:r>
            <a:r>
              <a:rPr sz="2800" dirty="0" err="1"/>
              <a:t>n'hérite</a:t>
            </a:r>
            <a:r>
              <a:rPr sz="2800" dirty="0"/>
              <a:t> de rien et </a:t>
            </a:r>
            <a:r>
              <a:rPr sz="2800" dirty="0" err="1"/>
              <a:t>appelle</a:t>
            </a:r>
            <a:r>
              <a:rPr sz="2800" dirty="0"/>
              <a:t> </a:t>
            </a:r>
            <a:r>
              <a:rPr lang="nl-BE" sz="2400" dirty="0">
                <a:solidFill>
                  <a:schemeClr val="accent4"/>
                </a:solidFill>
                <a:latin typeface="Consolas"/>
              </a:rPr>
              <a:t>l</a:t>
            </a:r>
            <a:r>
              <a:rPr sz="2400" dirty="0" err="1">
                <a:solidFill>
                  <a:schemeClr val="accent4"/>
                </a:solidFill>
                <a:latin typeface="Consolas"/>
              </a:rPr>
              <a:t>aunch</a:t>
            </a:r>
            <a:endParaRPr sz="2400" dirty="0">
              <a:solidFill>
                <a:schemeClr val="accent4"/>
              </a:solidFill>
              <a:latin typeface="Consolas"/>
            </a:endParaRPr>
          </a:p>
        </p:txBody>
      </p:sp>
      <p:sp>
        <p:nvSpPr>
          <p:cNvPr id="4" name="Code"/>
          <p:cNvSpPr txBox="1"/>
          <p:nvPr/>
        </p:nvSpPr>
        <p:spPr>
          <a:xfrm>
            <a:off x="2730500" y="3733799"/>
            <a:ext cx="6731000" cy="1920239"/>
          </a:xfrm>
          <a:prstGeom prst="roundRect">
            <a:avLst>
              <a:gd name="adj" fmla="val 4761"/>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class</a:t>
            </a:r>
            <a:r>
              <a:rPr sz="1800">
                <a:solidFill>
                  <a:srgbClr val="BCBEC4"/>
                </a:solidFill>
                <a:latin typeface="Consolas"/>
              </a:rPr>
              <a:t> LanceurLampe {</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public</a:t>
            </a:r>
            <a:r>
              <a:rPr sz="1800">
                <a:solidFill>
                  <a:srgbClr val="BCBEC4"/>
                </a:solidFill>
                <a:latin typeface="Consolas"/>
              </a:rPr>
              <a:t> </a:t>
            </a:r>
            <a:r>
              <a:rPr sz="1800">
                <a:solidFill>
                  <a:srgbClr val="CF8E6D"/>
                </a:solidFill>
                <a:latin typeface="Consolas"/>
              </a:rPr>
              <a:t>static</a:t>
            </a:r>
            <a:r>
              <a:rPr sz="1800">
                <a:solidFill>
                  <a:srgbClr val="BCBEC4"/>
                </a:solidFill>
                <a:latin typeface="Consolas"/>
              </a:rPr>
              <a:t> </a:t>
            </a:r>
            <a:r>
              <a:rPr sz="1800">
                <a:solidFill>
                  <a:srgbClr val="CF8E6D"/>
                </a:solidFill>
                <a:latin typeface="Consolas"/>
              </a:rPr>
              <a:t>void</a:t>
            </a:r>
            <a:r>
              <a:rPr sz="1800">
                <a:solidFill>
                  <a:srgbClr val="BCBEC4"/>
                </a:solidFill>
                <a:latin typeface="Consolas"/>
              </a:rPr>
              <a:t> </a:t>
            </a:r>
            <a:r>
              <a:rPr sz="1800">
                <a:solidFill>
                  <a:srgbClr val="56A8F5"/>
                </a:solidFill>
                <a:latin typeface="Consolas"/>
              </a:rPr>
              <a:t>main</a:t>
            </a:r>
            <a:r>
              <a:rPr sz="1800">
                <a:solidFill>
                  <a:srgbClr val="BCBEC4"/>
                </a:solidFill>
                <a:latin typeface="Consolas"/>
              </a:rPr>
              <a:t>(String[] args) {</a:t>
            </a:r>
          </a:p>
          <a:p>
            <a:pPr>
              <a:lnSpc>
                <a:spcPct val="100000"/>
              </a:lnSpc>
              <a:spcBef>
                <a:spcPts val="0"/>
              </a:spcBef>
              <a:spcAft>
                <a:spcPts val="0"/>
              </a:spcAft>
            </a:pPr>
            <a:r>
              <a:rPr sz="1800">
                <a:solidFill>
                  <a:srgbClr val="BCBEC4"/>
                </a:solidFill>
                <a:latin typeface="Consolas"/>
              </a:rPr>
              <a:t>        Application.</a:t>
            </a:r>
            <a:r>
              <a:rPr sz="1800">
                <a:solidFill>
                  <a:srgbClr val="56A8F5"/>
                </a:solidFill>
                <a:latin typeface="Consolas"/>
              </a:rPr>
              <a:t>launch</a:t>
            </a:r>
            <a:r>
              <a:rPr sz="1800">
                <a:solidFill>
                  <a:srgbClr val="BCBEC4"/>
                </a:solidFill>
                <a:latin typeface="Consolas"/>
              </a:rPr>
              <a:t>(Lampe.</a:t>
            </a:r>
            <a:r>
              <a:rPr sz="1800">
                <a:solidFill>
                  <a:srgbClr val="CF8E6D"/>
                </a:solidFill>
                <a:latin typeface="Consolas"/>
              </a:rPr>
              <a:t>class</a:t>
            </a:r>
            <a:r>
              <a:rPr sz="1800">
                <a:solidFill>
                  <a:srgbClr val="BCBEC4"/>
                </a:solidFill>
                <a:latin typeface="Consolas"/>
              </a:rPr>
              <a:t>, args);</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Si rien ne démarre</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400" dirty="0">
                <a:solidFill>
                  <a:schemeClr val="accent2"/>
                </a:solidFill>
                <a:latin typeface="Consolas" panose="020B0609020204030204" pitchFamily="49" charset="0"/>
                <a:cs typeface="Consolas" panose="020B0609020204030204" pitchFamily="49" charset="0"/>
              </a:rPr>
              <a:t>« JavaFX runtime components are missing »</a:t>
            </a:r>
            <a:r>
              <a:rPr sz="2800" dirty="0"/>
              <a:t> : rien ne manque</a:t>
            </a:r>
          </a:p>
          <a:p>
            <a:pPr marL="0" indent="0">
              <a:spcAft>
                <a:spcPts val="1000"/>
              </a:spcAft>
              <a:buNone/>
            </a:pPr>
            <a:r>
              <a:rPr sz="2800" dirty="0"/>
              <a:t>Vous </a:t>
            </a:r>
            <a:r>
              <a:rPr sz="2800" dirty="0" err="1"/>
              <a:t>avez</a:t>
            </a:r>
            <a:r>
              <a:rPr sz="2800" dirty="0"/>
              <a:t> </a:t>
            </a:r>
            <a:r>
              <a:rPr sz="2800" dirty="0" err="1"/>
              <a:t>lancé</a:t>
            </a:r>
            <a:r>
              <a:rPr sz="2800" dirty="0"/>
              <a:t> la </a:t>
            </a:r>
            <a:r>
              <a:rPr sz="2800" dirty="0" err="1"/>
              <a:t>classe</a:t>
            </a:r>
            <a:r>
              <a:rPr sz="2800" dirty="0"/>
              <a:t> </a:t>
            </a:r>
            <a:r>
              <a:rPr sz="2800" dirty="0" err="1"/>
              <a:t>d'application</a:t>
            </a:r>
            <a:r>
              <a:rPr sz="2800" dirty="0"/>
              <a:t> au lieu du </a:t>
            </a:r>
            <a:r>
              <a:rPr sz="2400" dirty="0" err="1">
                <a:solidFill>
                  <a:schemeClr val="accent4"/>
                </a:solidFill>
                <a:latin typeface="Consolas"/>
              </a:rPr>
              <a:t>Lanceur</a:t>
            </a:r>
            <a:endParaRPr sz="2400" dirty="0">
              <a:solidFill>
                <a:schemeClr val="accent4"/>
              </a:solidFill>
              <a:latin typeface="Consolas"/>
            </a:endParaRPr>
          </a:p>
          <a:p>
            <a:pPr marL="0" indent="0">
              <a:spcAft>
                <a:spcPts val="1000"/>
              </a:spcAft>
              <a:buNone/>
            </a:pPr>
            <a:r>
              <a:rPr sz="2800" dirty="0"/>
              <a:t>En secours : </a:t>
            </a:r>
            <a:r>
              <a:rPr sz="2400" dirty="0" err="1">
                <a:solidFill>
                  <a:schemeClr val="accent4"/>
                </a:solidFill>
                <a:latin typeface="Consolas"/>
              </a:rPr>
              <a:t>javafx:run</a:t>
            </a:r>
            <a:r>
              <a:rPr sz="2800" dirty="0"/>
              <a:t>, dans la </a:t>
            </a:r>
            <a:r>
              <a:rPr sz="2800" dirty="0" err="1"/>
              <a:t>fenêtre</a:t>
            </a:r>
            <a:r>
              <a:rPr sz="2800" dirty="0"/>
              <a:t> Maven (guide IntelliJ, </a:t>
            </a:r>
            <a:r>
              <a:rPr sz="2400" dirty="0" err="1">
                <a:solidFill>
                  <a:schemeClr val="accent4"/>
                </a:solidFill>
                <a:latin typeface="Consolas"/>
              </a:rPr>
              <a:t>IDE.28</a:t>
            </a:r>
            <a:r>
              <a:rPr sz="2800" dirty="0"/>
              <a:t>)</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6</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1. Le lancement</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2.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10771608" cy="101304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000" b="1" dirty="0">
                <a:ln w="0"/>
                <a:effectLst>
                  <a:outerShdw blurRad="38100" dist="19050" dir="2700000" algn="tl" rotWithShape="0">
                    <a:schemeClr val="dk1">
                      <a:alpha val="40000"/>
                    </a:schemeClr>
                  </a:outerShdw>
                </a:effectLst>
                <a:latin typeface="Calibri"/>
                <a:cs typeface="Calibri"/>
              </a:rPr>
              <a:t>2. Une fenêtre et ses composants</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Qui appelle </a:t>
            </a:r>
            <a:r>
              <a:rPr sz="3400">
                <a:solidFill>
                  <a:schemeClr val="accent4"/>
                </a:solidFill>
                <a:latin typeface="Consolas"/>
              </a:rPr>
              <a:t>start</a:t>
            </a:r>
            <a:r>
              <a:rPr sz="4000"/>
              <a:t> ?</a:t>
            </a:r>
          </a:p>
        </p:txBody>
      </p:sp>
      <p:sp>
        <p:nvSpPr>
          <p:cNvPr id="3" name="Content Placeholder 2"/>
          <p:cNvSpPr>
            <a:spLocks noGrp="1"/>
          </p:cNvSpPr>
          <p:nvPr>
            <p:ph idx="1"/>
          </p:nvPr>
        </p:nvSpPr>
        <p:spPr>
          <a:xfrm>
            <a:off x="640080" y="1371600"/>
            <a:ext cx="10881360" cy="2108200"/>
          </a:xfrm>
        </p:spPr>
        <p:txBody>
          <a:bodyPr>
            <a:normAutofit lnSpcReduction="10000"/>
          </a:bodyPr>
          <a:lstStyle/>
          <a:p>
            <a:pPr marL="0" indent="0">
              <a:spcAft>
                <a:spcPts val="1000"/>
              </a:spcAft>
              <a:buNone/>
            </a:pPr>
            <a:r>
              <a:rPr sz="2400"/>
              <a:t>La méthode </a:t>
            </a:r>
            <a:r>
              <a:rPr sz="2100">
                <a:solidFill>
                  <a:schemeClr val="accent4"/>
                </a:solidFill>
                <a:latin typeface="Consolas"/>
              </a:rPr>
              <a:t>launch</a:t>
            </a:r>
            <a:r>
              <a:rPr sz="2400"/>
              <a:t> crée l'objet </a:t>
            </a:r>
            <a:r>
              <a:rPr sz="2100">
                <a:solidFill>
                  <a:schemeClr val="accent4"/>
                </a:solidFill>
                <a:latin typeface="Consolas"/>
              </a:rPr>
              <a:t>Application</a:t>
            </a:r>
            <a:r>
              <a:rPr sz="2400"/>
              <a:t>, puis appelle </a:t>
            </a:r>
            <a:r>
              <a:rPr sz="2100">
                <a:solidFill>
                  <a:schemeClr val="accent4"/>
                </a:solidFill>
                <a:latin typeface="Consolas"/>
              </a:rPr>
              <a:t>start</a:t>
            </a:r>
          </a:p>
          <a:p>
            <a:pPr marL="0" indent="0">
              <a:spcAft>
                <a:spcPts val="1000"/>
              </a:spcAft>
              <a:buNone/>
            </a:pPr>
            <a:r>
              <a:rPr sz="2400"/>
              <a:t>JavaFX fournit la fenêtre, et la passe en paramètre</a:t>
            </a:r>
          </a:p>
          <a:p>
            <a:pPr marL="0" indent="0">
              <a:spcAft>
                <a:spcPts val="1000"/>
              </a:spcAft>
              <a:buNone/>
            </a:pPr>
            <a:r>
              <a:rPr sz="2400"/>
              <a:t>La méthode </a:t>
            </a:r>
            <a:r>
              <a:rPr sz="2100">
                <a:solidFill>
                  <a:schemeClr val="accent4"/>
                </a:solidFill>
                <a:latin typeface="Consolas"/>
              </a:rPr>
              <a:t>start</a:t>
            </a:r>
            <a:r>
              <a:rPr sz="2400"/>
              <a:t> construit l'écran, l'affiche, et se termine</a:t>
            </a:r>
          </a:p>
          <a:p>
            <a:pPr marL="0" indent="0">
              <a:spcAft>
                <a:spcPts val="1000"/>
              </a:spcAft>
              <a:buNone/>
            </a:pPr>
            <a:r>
              <a:rPr sz="2400"/>
              <a:t>La fenêtre, elle, reste ouverte</a:t>
            </a:r>
          </a:p>
        </p:txBody>
      </p:sp>
      <p:sp>
        <p:nvSpPr>
          <p:cNvPr id="4" name="Code"/>
          <p:cNvSpPr txBox="1"/>
          <p:nvPr/>
        </p:nvSpPr>
        <p:spPr>
          <a:xfrm>
            <a:off x="2043642" y="3616959"/>
            <a:ext cx="8104715" cy="2555240"/>
          </a:xfrm>
          <a:prstGeom prst="roundRect">
            <a:avLst>
              <a:gd name="adj" fmla="val 3578"/>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class</a:t>
            </a:r>
            <a:r>
              <a:rPr sz="1500">
                <a:solidFill>
                  <a:srgbClr val="BCBEC4"/>
                </a:solidFill>
                <a:latin typeface="Consolas"/>
              </a:rPr>
              <a:t> Lampe </a:t>
            </a:r>
            <a:r>
              <a:rPr sz="1500">
                <a:solidFill>
                  <a:srgbClr val="CF8E6D"/>
                </a:solidFill>
                <a:latin typeface="Consolas"/>
              </a:rPr>
              <a:t>extends</a:t>
            </a:r>
            <a:r>
              <a:rPr sz="1500">
                <a:solidFill>
                  <a:srgbClr val="BCBEC4"/>
                </a:solidFill>
                <a:latin typeface="Consolas"/>
              </a:rPr>
              <a:t> Application {</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    </a:t>
            </a:r>
            <a:r>
              <a:rPr sz="1500">
                <a:solidFill>
                  <a:srgbClr val="B3AE60"/>
                </a:solidFill>
                <a:latin typeface="Consolas"/>
              </a:rPr>
              <a:t>@Override</a:t>
            </a:r>
          </a:p>
          <a:p>
            <a:pPr>
              <a:lnSpc>
                <a:spcPct val="100000"/>
              </a:lnSpc>
              <a:spcBef>
                <a:spcPts val="0"/>
              </a:spcBef>
              <a:spcAft>
                <a:spcPts val="0"/>
              </a:spcAft>
            </a:pPr>
            <a:r>
              <a:rPr sz="1500">
                <a:solidFill>
                  <a:srgbClr val="BCBEC4"/>
                </a:solidFill>
                <a:latin typeface="Consolas"/>
              </a:rPr>
              <a:t>    </a:t>
            </a:r>
            <a:r>
              <a:rPr sz="1500">
                <a:solidFill>
                  <a:srgbClr val="CF8E6D"/>
                </a:solidFill>
                <a:latin typeface="Consolas"/>
              </a:rPr>
              <a:t>public</a:t>
            </a:r>
            <a:r>
              <a:rPr sz="1500">
                <a:solidFill>
                  <a:srgbClr val="BCBEC4"/>
                </a:solidFill>
                <a:latin typeface="Consolas"/>
              </a:rPr>
              <a:t> </a:t>
            </a:r>
            <a:r>
              <a:rPr sz="1500">
                <a:solidFill>
                  <a:srgbClr val="CF8E6D"/>
                </a:solidFill>
                <a:latin typeface="Consolas"/>
              </a:rPr>
              <a:t>void</a:t>
            </a:r>
            <a:r>
              <a:rPr sz="1500">
                <a:solidFill>
                  <a:srgbClr val="BCBEC4"/>
                </a:solidFill>
                <a:latin typeface="Consolas"/>
              </a:rPr>
              <a:t> </a:t>
            </a:r>
            <a:r>
              <a:rPr sz="1500">
                <a:solidFill>
                  <a:srgbClr val="56A8F5"/>
                </a:solidFill>
                <a:latin typeface="Consolas"/>
              </a:rPr>
              <a:t>start</a:t>
            </a:r>
            <a:r>
              <a:rPr sz="1500">
                <a:solidFill>
                  <a:srgbClr val="BCBEC4"/>
                </a:solidFill>
                <a:latin typeface="Consolas"/>
              </a:rPr>
              <a:t>(Stage fenetre) {</a:t>
            </a:r>
          </a:p>
          <a:p>
            <a:pPr>
              <a:lnSpc>
                <a:spcPct val="100000"/>
              </a:lnSpc>
              <a:spcBef>
                <a:spcPts val="0"/>
              </a:spcBef>
              <a:spcAft>
                <a:spcPts val="0"/>
              </a:spcAft>
            </a:pPr>
            <a:r>
              <a:rPr sz="1500">
                <a:solidFill>
                  <a:srgbClr val="BCBEC4"/>
                </a:solidFill>
                <a:latin typeface="Consolas"/>
              </a:rPr>
              <a:t>        Label etat = </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Label</a:t>
            </a:r>
            <a:r>
              <a:rPr sz="1500">
                <a:solidFill>
                  <a:srgbClr val="BCBEC4"/>
                </a:solidFill>
                <a:latin typeface="Consolas"/>
              </a:rPr>
              <a:t>(</a:t>
            </a:r>
            <a:r>
              <a:rPr sz="1500">
                <a:solidFill>
                  <a:srgbClr val="6AAB73"/>
                </a:solidFill>
                <a:latin typeface="Consolas"/>
              </a:rPr>
              <a:t>"Eteinte"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Scene</a:t>
            </a:r>
            <a:r>
              <a:rPr sz="1500">
                <a:solidFill>
                  <a:srgbClr val="BCBEC4"/>
                </a:solidFill>
                <a:latin typeface="Consolas"/>
              </a:rPr>
              <a:t>(</a:t>
            </a:r>
            <a:r>
              <a:rPr sz="1500">
                <a:solidFill>
                  <a:srgbClr val="CF8E6D"/>
                </a:solidFill>
                <a:latin typeface="Consolas"/>
              </a:rPr>
              <a:t>new</a:t>
            </a:r>
            <a:r>
              <a:rPr sz="1500">
                <a:solidFill>
                  <a:srgbClr val="BCBEC4"/>
                </a:solidFill>
                <a:latin typeface="Consolas"/>
              </a:rPr>
              <a:t> </a:t>
            </a:r>
            <a:r>
              <a:rPr sz="1500">
                <a:solidFill>
                  <a:srgbClr val="56A8F5"/>
                </a:solidFill>
                <a:latin typeface="Consolas"/>
              </a:rPr>
              <a:t>StackPane</a:t>
            </a:r>
            <a:r>
              <a:rPr sz="1500">
                <a:solidFill>
                  <a:srgbClr val="BCBEC4"/>
                </a:solidFill>
                <a:latin typeface="Consolas"/>
              </a:rPr>
              <a:t>(etat), </a:t>
            </a:r>
            <a:r>
              <a:rPr sz="1500">
                <a:solidFill>
                  <a:srgbClr val="2AACB8"/>
                </a:solidFill>
                <a:latin typeface="Consolas"/>
              </a:rPr>
              <a:t>300</a:t>
            </a:r>
            <a:r>
              <a:rPr sz="1500">
                <a:solidFill>
                  <a:srgbClr val="BCBEC4"/>
                </a:solidFill>
                <a:latin typeface="Consolas"/>
              </a:rPr>
              <a:t>, </a:t>
            </a:r>
            <a:r>
              <a:rPr sz="1500">
                <a:solidFill>
                  <a:srgbClr val="2AACB8"/>
                </a:solidFill>
                <a:latin typeface="Consolas"/>
              </a:rPr>
              <a:t>150</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setTitle</a:t>
            </a:r>
            <a:r>
              <a:rPr sz="1500">
                <a:solidFill>
                  <a:srgbClr val="BCBEC4"/>
                </a:solidFill>
                <a:latin typeface="Consolas"/>
              </a:rPr>
              <a:t>(</a:t>
            </a:r>
            <a:r>
              <a:rPr sz="1500">
                <a:solidFill>
                  <a:srgbClr val="6AAB73"/>
                </a:solidFill>
                <a:latin typeface="Consolas"/>
              </a:rPr>
              <a:t>"Lampe"</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fenetre.</a:t>
            </a:r>
            <a:r>
              <a:rPr sz="1500">
                <a:solidFill>
                  <a:srgbClr val="56A8F5"/>
                </a:solidFill>
                <a:latin typeface="Consolas"/>
              </a:rPr>
              <a:t>show</a:t>
            </a:r>
            <a:r>
              <a:rPr sz="1500">
                <a:solidFill>
                  <a:srgbClr val="BCBEC4"/>
                </a:solidFill>
                <a:latin typeface="Consolas"/>
              </a:rPr>
              <a:t>();</a:t>
            </a:r>
          </a:p>
          <a:p>
            <a:pPr>
              <a:lnSpc>
                <a:spcPct val="100000"/>
              </a:lnSpc>
              <a:spcBef>
                <a:spcPts val="0"/>
              </a:spcBef>
              <a:spcAft>
                <a:spcPts val="0"/>
              </a:spcAft>
            </a:pPr>
            <a:r>
              <a:rPr sz="1500">
                <a:solidFill>
                  <a:srgbClr val="BCBEC4"/>
                </a:solidFill>
                <a:latin typeface="Consolas"/>
              </a:rPr>
              <a:t>    }</a:t>
            </a:r>
          </a:p>
          <a:p>
            <a:pPr>
              <a:lnSpc>
                <a:spcPct val="100000"/>
              </a:lnSpc>
              <a:spcBef>
                <a:spcPts val="0"/>
              </a:spcBef>
              <a:spcAft>
                <a:spcPts val="0"/>
              </a:spcAft>
            </a:pPr>
            <a:r>
              <a:rPr sz="15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8</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graphe de scène</a:t>
            </a:r>
          </a:p>
        </p:txBody>
      </p:sp>
      <p:sp>
        <p:nvSpPr>
          <p:cNvPr id="3" name="Content Placeholder 2"/>
          <p:cNvSpPr>
            <a:spLocks noGrp="1"/>
          </p:cNvSpPr>
          <p:nvPr>
            <p:ph idx="1"/>
          </p:nvPr>
        </p:nvSpPr>
        <p:spPr>
          <a:xfrm>
            <a:off x="640080" y="1371600"/>
            <a:ext cx="5120640" cy="4206240"/>
          </a:xfrm>
        </p:spPr>
        <p:txBody>
          <a:bodyPr>
            <a:normAutofit/>
          </a:bodyPr>
          <a:lstStyle/>
          <a:p>
            <a:pPr marL="0" indent="0">
              <a:spcAft>
                <a:spcPts val="1000"/>
              </a:spcAft>
              <a:buNone/>
            </a:pPr>
            <a:r>
              <a:rPr sz="2400" dirty="0"/>
              <a:t>Une </a:t>
            </a:r>
            <a:r>
              <a:rPr sz="2400" dirty="0" err="1"/>
              <a:t>fenêtre</a:t>
            </a:r>
            <a:r>
              <a:rPr sz="2400" dirty="0"/>
              <a:t> (</a:t>
            </a:r>
            <a:r>
              <a:rPr sz="2100" dirty="0">
                <a:solidFill>
                  <a:schemeClr val="accent4"/>
                </a:solidFill>
                <a:latin typeface="Consolas"/>
              </a:rPr>
              <a:t>Stage</a:t>
            </a:r>
            <a:r>
              <a:rPr sz="2400" dirty="0"/>
              <a:t>) affiche </a:t>
            </a:r>
            <a:r>
              <a:rPr sz="2400" dirty="0" err="1"/>
              <a:t>une</a:t>
            </a:r>
            <a:r>
              <a:rPr sz="2400" dirty="0"/>
              <a:t> </a:t>
            </a:r>
            <a:r>
              <a:rPr sz="2400" dirty="0" err="1"/>
              <a:t>scène</a:t>
            </a:r>
            <a:r>
              <a:rPr sz="2400" dirty="0"/>
              <a:t> (</a:t>
            </a:r>
            <a:r>
              <a:rPr sz="2100" dirty="0">
                <a:solidFill>
                  <a:schemeClr val="accent4"/>
                </a:solidFill>
                <a:latin typeface="Consolas"/>
              </a:rPr>
              <a:t>Scene</a:t>
            </a:r>
            <a:r>
              <a:rPr sz="2400" dirty="0"/>
              <a:t>)</a:t>
            </a:r>
          </a:p>
          <a:p>
            <a:pPr marL="0" indent="0">
              <a:spcAft>
                <a:spcPts val="1000"/>
              </a:spcAft>
              <a:buNone/>
            </a:pPr>
            <a:r>
              <a:rPr sz="2400" dirty="0"/>
              <a:t>La </a:t>
            </a:r>
            <a:r>
              <a:rPr sz="2400" dirty="0" err="1"/>
              <a:t>scène</a:t>
            </a:r>
            <a:r>
              <a:rPr sz="2400" dirty="0"/>
              <a:t> </a:t>
            </a:r>
            <a:r>
              <a:rPr sz="2400" dirty="0" err="1"/>
              <a:t>contient</a:t>
            </a:r>
            <a:r>
              <a:rPr sz="2400" dirty="0"/>
              <a:t> </a:t>
            </a:r>
            <a:r>
              <a:rPr sz="2400" dirty="0" err="1"/>
              <a:t>une</a:t>
            </a:r>
            <a:r>
              <a:rPr sz="2400" dirty="0"/>
              <a:t> </a:t>
            </a:r>
            <a:r>
              <a:rPr sz="2400" dirty="0" err="1"/>
              <a:t>seule</a:t>
            </a:r>
            <a:r>
              <a:rPr sz="2400" dirty="0"/>
              <a:t> </a:t>
            </a:r>
            <a:r>
              <a:rPr sz="2400" dirty="0" err="1"/>
              <a:t>racine</a:t>
            </a:r>
            <a:endParaRPr sz="2400" dirty="0"/>
          </a:p>
          <a:p>
            <a:pPr marL="0" indent="0">
              <a:spcAft>
                <a:spcPts val="1000"/>
              </a:spcAft>
              <a:buNone/>
            </a:pPr>
            <a:r>
              <a:rPr sz="2400" dirty="0"/>
              <a:t>Un </a:t>
            </a:r>
            <a:r>
              <a:rPr sz="2400" dirty="0" err="1"/>
              <a:t>conteneur</a:t>
            </a:r>
            <a:r>
              <a:rPr sz="2400" dirty="0"/>
              <a:t> range des enfants, qui </a:t>
            </a:r>
            <a:r>
              <a:rPr sz="2400" dirty="0" err="1"/>
              <a:t>peuvent</a:t>
            </a:r>
            <a:r>
              <a:rPr sz="2400" dirty="0"/>
              <a:t> </a:t>
            </a:r>
            <a:r>
              <a:rPr sz="2400" dirty="0" err="1"/>
              <a:t>être</a:t>
            </a:r>
            <a:r>
              <a:rPr sz="2400" dirty="0"/>
              <a:t> des </a:t>
            </a:r>
            <a:r>
              <a:rPr sz="2400" dirty="0" err="1"/>
              <a:t>conteneurs</a:t>
            </a:r>
            <a:endParaRPr sz="2400" dirty="0"/>
          </a:p>
          <a:p>
            <a:pPr marL="0" indent="0">
              <a:spcAft>
                <a:spcPts val="1000"/>
              </a:spcAft>
              <a:buNone/>
            </a:pPr>
            <a:r>
              <a:rPr sz="2400" dirty="0" err="1"/>
              <a:t>L'ensemble</a:t>
            </a:r>
            <a:r>
              <a:rPr sz="2400" dirty="0"/>
              <a:t> </a:t>
            </a:r>
            <a:r>
              <a:rPr sz="2400" dirty="0" err="1"/>
              <a:t>forme</a:t>
            </a:r>
            <a:r>
              <a:rPr sz="2400" dirty="0"/>
              <a:t> un </a:t>
            </a:r>
            <a:r>
              <a:rPr sz="2400" dirty="0" err="1"/>
              <a:t>arbre</a:t>
            </a:r>
            <a:r>
              <a:rPr sz="2400" dirty="0"/>
              <a:t> de </a:t>
            </a:r>
            <a:r>
              <a:rPr sz="2400" dirty="0" err="1"/>
              <a:t>nœuds</a:t>
            </a:r>
            <a:r>
              <a:rPr sz="2400" dirty="0"/>
              <a:t> (</a:t>
            </a:r>
            <a:r>
              <a:rPr sz="2100" dirty="0">
                <a:solidFill>
                  <a:schemeClr val="accent4"/>
                </a:solidFill>
                <a:latin typeface="Consolas"/>
              </a:rPr>
              <a:t>Node</a:t>
            </a:r>
            <a:r>
              <a:rPr sz="2400" dirty="0"/>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9</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pic>
        <p:nvPicPr>
          <p:cNvPr id="7" name="Picture 2" descr="The JavaFX Scene - what it is and how to use it effectively – Eden Coding">
            <a:extLst>
              <a:ext uri="{FF2B5EF4-FFF2-40B4-BE49-F238E27FC236}">
                <a16:creationId xmlns:a16="http://schemas.microsoft.com/office/drawing/2014/main" id="{D96D778C-2379-73D9-DB8E-C9246FE6B307}"/>
              </a:ext>
            </a:extLst>
          </p:cNvPr>
          <p:cNvPicPr>
            <a:picLocks noChangeAspect="1" noChangeArrowheads="1"/>
          </p:cNvPicPr>
          <p:nvPr/>
        </p:nvPicPr>
        <p:blipFill>
          <a:blip r:embed="rId3">
            <a:extLst>
              <a:ext uri="{28A0092B-C50C-407E-A947-70E740481C1C}">
                <a14:useLocalDpi xmlns:a14="http://schemas.microsoft.com/office/drawing/2010/main"/>
              </a:ext>
            </a:extLst>
          </a:blip>
          <a:stretch>
            <a:fillRect/>
          </a:stretch>
        </p:blipFill>
        <p:spPr bwMode="auto">
          <a:xfrm>
            <a:off x="5897880" y="1600200"/>
            <a:ext cx="5852160" cy="3291839"/>
          </a:xfrm>
          <a:prstGeom prst="rect">
            <a:avLst/>
          </a:prstGeom>
          <a:solidFill>
            <a:srgbClr val="FFFFFF"/>
          </a:solidFill>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Construire le graphe de scène</a:t>
            </a:r>
          </a:p>
        </p:txBody>
      </p:sp>
      <p:sp>
        <p:nvSpPr>
          <p:cNvPr id="3" name="Content Placeholder 2"/>
          <p:cNvSpPr>
            <a:spLocks noGrp="1"/>
          </p:cNvSpPr>
          <p:nvPr>
            <p:ph idx="1"/>
          </p:nvPr>
        </p:nvSpPr>
        <p:spPr>
          <a:xfrm>
            <a:off x="640080" y="1371600"/>
            <a:ext cx="10881360" cy="1463040"/>
          </a:xfrm>
        </p:spPr>
        <p:txBody>
          <a:bodyPr>
            <a:normAutofit/>
          </a:bodyPr>
          <a:lstStyle/>
          <a:p>
            <a:pPr marL="0" indent="0">
              <a:spcAft>
                <a:spcPts val="1000"/>
              </a:spcAft>
              <a:buNone/>
            </a:pPr>
            <a:r>
              <a:rPr sz="2400" dirty="0"/>
              <a:t>On crée les nœuds, puis le conteneur qui les range, puis la scène autour de la racine</a:t>
            </a:r>
          </a:p>
          <a:p>
            <a:pPr marL="0" indent="0">
              <a:spcAft>
                <a:spcPts val="1000"/>
              </a:spcAft>
              <a:buNone/>
            </a:pPr>
            <a:r>
              <a:rPr sz="2100" dirty="0">
                <a:solidFill>
                  <a:schemeClr val="accent4"/>
                </a:solidFill>
                <a:latin typeface="Consolas"/>
              </a:rPr>
              <a:t>getChildren()</a:t>
            </a:r>
            <a:r>
              <a:rPr sz="2400" dirty="0"/>
              <a:t> retourne la liste des enfants : on peut y ajouter après coup</a:t>
            </a:r>
          </a:p>
        </p:txBody>
      </p:sp>
      <p:sp>
        <p:nvSpPr>
          <p:cNvPr id="4" name="Code"/>
          <p:cNvSpPr txBox="1"/>
          <p:nvPr/>
        </p:nvSpPr>
        <p:spPr>
          <a:xfrm>
            <a:off x="1366734" y="3063241"/>
            <a:ext cx="6389511" cy="1463040"/>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BCBEC4"/>
                </a:solidFill>
                <a:latin typeface="Consolas"/>
              </a:rPr>
              <a:t>Label </a:t>
            </a:r>
            <a:r>
              <a:rPr sz="1600" dirty="0" err="1">
                <a:solidFill>
                  <a:srgbClr val="BCBEC4"/>
                </a:solidFill>
                <a:latin typeface="Consolas"/>
              </a:rPr>
              <a:t>etat</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Label</a:t>
            </a:r>
            <a:r>
              <a:rPr sz="1600" dirty="0">
                <a:solidFill>
                  <a:srgbClr val="BCBEC4"/>
                </a:solidFill>
                <a:latin typeface="Consolas"/>
              </a:rPr>
              <a:t>(</a:t>
            </a:r>
            <a:r>
              <a:rPr sz="1600" dirty="0">
                <a:solidFill>
                  <a:srgbClr val="6AAB73"/>
                </a:solidFill>
                <a:latin typeface="Consolas"/>
              </a:rPr>
              <a:t>"</a:t>
            </a:r>
            <a:r>
              <a:rPr sz="1600" dirty="0" err="1">
                <a:solidFill>
                  <a:srgbClr val="6AAB73"/>
                </a:solidFill>
                <a:latin typeface="Consolas"/>
              </a:rPr>
              <a:t>Eteinte</a:t>
            </a:r>
            <a:r>
              <a:rPr sz="1600" dirty="0">
                <a:solidFill>
                  <a:srgbClr val="6AAB73"/>
                </a:solidFill>
                <a:latin typeface="Consolas"/>
              </a:rPr>
              <a: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Button </a:t>
            </a:r>
            <a:r>
              <a:rPr sz="1600" dirty="0" err="1">
                <a:solidFill>
                  <a:srgbClr val="BCBEC4"/>
                </a:solidFill>
                <a:latin typeface="Consolas"/>
              </a:rPr>
              <a:t>interrupteur</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Button</a:t>
            </a:r>
            <a:r>
              <a:rPr sz="1600" dirty="0">
                <a:solidFill>
                  <a:srgbClr val="BCBEC4"/>
                </a:solidFill>
                <a:latin typeface="Consolas"/>
              </a:rPr>
              <a:t>(</a:t>
            </a:r>
            <a:r>
              <a:rPr sz="1600" dirty="0">
                <a:solidFill>
                  <a:srgbClr val="6AAB73"/>
                </a:solidFill>
                <a:latin typeface="Consolas"/>
              </a:rPr>
              <a:t>"</a:t>
            </a:r>
            <a:r>
              <a:rPr sz="1600" dirty="0" err="1">
                <a:solidFill>
                  <a:srgbClr val="6AAB73"/>
                </a:solidFill>
                <a:latin typeface="Consolas"/>
              </a:rPr>
              <a:t>Interrupteur</a:t>
            </a:r>
            <a:r>
              <a:rPr sz="1600" dirty="0">
                <a:solidFill>
                  <a:srgbClr val="6AAB73"/>
                </a:solidFill>
                <a:latin typeface="Consolas"/>
              </a:rPr>
              <a: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err="1">
                <a:solidFill>
                  <a:srgbClr val="BCBEC4"/>
                </a:solidFill>
                <a:latin typeface="Consolas"/>
              </a:rPr>
              <a:t>VBox</a:t>
            </a:r>
            <a:r>
              <a:rPr sz="1600" dirty="0">
                <a:solidFill>
                  <a:srgbClr val="BCBEC4"/>
                </a:solidFill>
                <a:latin typeface="Consolas"/>
              </a:rPr>
              <a:t> </a:t>
            </a:r>
            <a:r>
              <a:rPr sz="1600" dirty="0" err="1">
                <a:solidFill>
                  <a:srgbClr val="BCBEC4"/>
                </a:solidFill>
                <a:latin typeface="Consolas"/>
              </a:rPr>
              <a:t>racine</a:t>
            </a:r>
            <a:r>
              <a:rPr sz="1600" dirty="0">
                <a:solidFill>
                  <a:srgbClr val="BCBEC4"/>
                </a:solidFill>
                <a:latin typeface="Consolas"/>
              </a:rPr>
              <a:t> = </a:t>
            </a:r>
            <a:r>
              <a:rPr sz="1600" dirty="0">
                <a:solidFill>
                  <a:srgbClr val="CF8E6D"/>
                </a:solidFill>
                <a:latin typeface="Consolas"/>
              </a:rPr>
              <a:t>new</a:t>
            </a:r>
            <a:r>
              <a:rPr sz="1600" dirty="0">
                <a:solidFill>
                  <a:srgbClr val="BCBEC4"/>
                </a:solidFill>
                <a:latin typeface="Consolas"/>
              </a:rPr>
              <a:t> </a:t>
            </a:r>
            <a:r>
              <a:rPr sz="1600" dirty="0" err="1">
                <a:solidFill>
                  <a:srgbClr val="56A8F5"/>
                </a:solidFill>
                <a:latin typeface="Consolas"/>
              </a:rPr>
              <a:t>VBox</a:t>
            </a:r>
            <a:r>
              <a:rPr sz="1600" dirty="0">
                <a:solidFill>
                  <a:srgbClr val="BCBEC4"/>
                </a:solidFill>
                <a:latin typeface="Consolas"/>
              </a:rPr>
              <a:t>(</a:t>
            </a:r>
            <a:r>
              <a:rPr sz="1600" dirty="0" err="1">
                <a:solidFill>
                  <a:srgbClr val="BCBEC4"/>
                </a:solidFill>
                <a:latin typeface="Consolas"/>
              </a:rPr>
              <a:t>etat</a:t>
            </a:r>
            <a:r>
              <a:rPr sz="1600" dirty="0">
                <a:solidFill>
                  <a:srgbClr val="BCBEC4"/>
                </a:solidFill>
                <a:latin typeface="Consolas"/>
              </a:rPr>
              <a:t>, </a:t>
            </a:r>
            <a:r>
              <a:rPr sz="1600" dirty="0" err="1">
                <a:solidFill>
                  <a:srgbClr val="BCBEC4"/>
                </a:solidFill>
                <a:latin typeface="Consolas"/>
              </a:rPr>
              <a:t>interrupteur</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Scene scene = </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Scene</a:t>
            </a:r>
            <a:r>
              <a:rPr sz="1600" dirty="0">
                <a:solidFill>
                  <a:srgbClr val="BCBEC4"/>
                </a:solidFill>
                <a:latin typeface="Consolas"/>
              </a:rPr>
              <a:t>(</a:t>
            </a:r>
            <a:r>
              <a:rPr sz="1600" dirty="0" err="1">
                <a:solidFill>
                  <a:srgbClr val="BCBEC4"/>
                </a:solidFill>
                <a:latin typeface="Consolas"/>
              </a:rPr>
              <a:t>racine</a:t>
            </a:r>
            <a:r>
              <a:rPr sz="1600" dirty="0">
                <a:solidFill>
                  <a:srgbClr val="BCBEC4"/>
                </a:solidFill>
                <a:latin typeface="Consolas"/>
              </a:rPr>
              <a:t>, </a:t>
            </a:r>
            <a:r>
              <a:rPr sz="1600" dirty="0">
                <a:solidFill>
                  <a:srgbClr val="2AACB8"/>
                </a:solidFill>
                <a:latin typeface="Consolas"/>
              </a:rPr>
              <a:t>300</a:t>
            </a:r>
            <a:r>
              <a:rPr sz="1600" dirty="0">
                <a:solidFill>
                  <a:srgbClr val="BCBEC4"/>
                </a:solidFill>
                <a:latin typeface="Consolas"/>
              </a:rPr>
              <a:t>, </a:t>
            </a:r>
            <a:r>
              <a:rPr sz="1600" dirty="0">
                <a:solidFill>
                  <a:srgbClr val="2AACB8"/>
                </a:solidFill>
                <a:latin typeface="Consolas"/>
              </a:rPr>
              <a:t>150</a:t>
            </a:r>
            <a:r>
              <a:rPr sz="1600" dirty="0">
                <a:solidFill>
                  <a:srgbClr val="BCBEC4"/>
                </a:solidFill>
                <a:latin typeface="Consolas"/>
              </a:rPr>
              <a:t>); </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19" name="Groupe 18">
            <a:extLst>
              <a:ext uri="{FF2B5EF4-FFF2-40B4-BE49-F238E27FC236}">
                <a16:creationId xmlns:a16="http://schemas.microsoft.com/office/drawing/2014/main" id="{38C95D3C-7293-410A-D895-56B0C5539F8F}"/>
              </a:ext>
            </a:extLst>
          </p:cNvPr>
          <p:cNvGrpSpPr/>
          <p:nvPr/>
        </p:nvGrpSpPr>
        <p:grpSpPr>
          <a:xfrm>
            <a:off x="7893269" y="3063240"/>
            <a:ext cx="2327202" cy="625891"/>
            <a:chOff x="7893269" y="3063240"/>
            <a:chExt cx="2327202" cy="625891"/>
          </a:xfrm>
        </p:grpSpPr>
        <p:sp>
          <p:nvSpPr>
            <p:cNvPr id="8" name="Accolade fermante 7">
              <a:extLst>
                <a:ext uri="{FF2B5EF4-FFF2-40B4-BE49-F238E27FC236}">
                  <a16:creationId xmlns:a16="http://schemas.microsoft.com/office/drawing/2014/main" id="{DB8F1F46-A6A2-548C-EA81-8A53A3C3EA62}"/>
                </a:ext>
              </a:extLst>
            </p:cNvPr>
            <p:cNvSpPr/>
            <p:nvPr/>
          </p:nvSpPr>
          <p:spPr>
            <a:xfrm>
              <a:off x="7893269" y="3063240"/>
              <a:ext cx="199697" cy="625891"/>
            </a:xfrm>
            <a:prstGeom prst="rightBrace">
              <a:avLst/>
            </a:prstGeom>
            <a:ln w="28575">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9" name="ZoneTexte 8">
              <a:extLst>
                <a:ext uri="{FF2B5EF4-FFF2-40B4-BE49-F238E27FC236}">
                  <a16:creationId xmlns:a16="http://schemas.microsoft.com/office/drawing/2014/main" id="{DAD38323-CEB1-E4C6-5AB6-4EC522E123F1}"/>
                </a:ext>
              </a:extLst>
            </p:cNvPr>
            <p:cNvSpPr txBox="1"/>
            <p:nvPr/>
          </p:nvSpPr>
          <p:spPr>
            <a:xfrm>
              <a:off x="8092966" y="3207660"/>
              <a:ext cx="2127505" cy="369332"/>
            </a:xfrm>
            <a:prstGeom prst="rect">
              <a:avLst/>
            </a:prstGeom>
            <a:noFill/>
          </p:spPr>
          <p:txBody>
            <a:bodyPr wrap="none" rtlCol="0">
              <a:spAutoFit/>
            </a:bodyPr>
            <a:lstStyle/>
            <a:p>
              <a:r>
                <a:rPr lang="fr-FR" dirty="0">
                  <a:solidFill>
                    <a:schemeClr val="accent4"/>
                  </a:solidFill>
                </a:rPr>
                <a:t>Création des </a:t>
              </a:r>
              <a:r>
                <a:rPr lang="fr-FR" dirty="0" err="1">
                  <a:solidFill>
                    <a:schemeClr val="accent4"/>
                  </a:solidFill>
                </a:rPr>
                <a:t>nœuds</a:t>
              </a:r>
              <a:endParaRPr lang="fr-FR" dirty="0">
                <a:solidFill>
                  <a:schemeClr val="accent4"/>
                </a:solidFill>
              </a:endParaRPr>
            </a:p>
          </p:txBody>
        </p:sp>
      </p:grpSp>
      <p:sp>
        <p:nvSpPr>
          <p:cNvPr id="13" name="Code">
            <a:extLst>
              <a:ext uri="{FF2B5EF4-FFF2-40B4-BE49-F238E27FC236}">
                <a16:creationId xmlns:a16="http://schemas.microsoft.com/office/drawing/2014/main" id="{37059D16-96B1-2C84-75E5-4571776834CD}"/>
              </a:ext>
            </a:extLst>
          </p:cNvPr>
          <p:cNvSpPr txBox="1"/>
          <p:nvPr/>
        </p:nvSpPr>
        <p:spPr>
          <a:xfrm>
            <a:off x="1366734" y="4869230"/>
            <a:ext cx="6389511" cy="658791"/>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7A7E85"/>
                </a:solidFill>
                <a:latin typeface="Consolas"/>
              </a:rPr>
              <a:t>// Un enfant </a:t>
            </a:r>
            <a:r>
              <a:rPr sz="1600" dirty="0" err="1">
                <a:solidFill>
                  <a:srgbClr val="7A7E85"/>
                </a:solidFill>
                <a:latin typeface="Consolas"/>
              </a:rPr>
              <a:t>peut</a:t>
            </a:r>
            <a:r>
              <a:rPr sz="1600" dirty="0">
                <a:solidFill>
                  <a:srgbClr val="7A7E85"/>
                </a:solidFill>
                <a:latin typeface="Consolas"/>
              </a:rPr>
              <a:t> </a:t>
            </a:r>
            <a:r>
              <a:rPr sz="1600" dirty="0" err="1">
                <a:solidFill>
                  <a:srgbClr val="7A7E85"/>
                </a:solidFill>
                <a:latin typeface="Consolas"/>
              </a:rPr>
              <a:t>s'ajouter</a:t>
            </a:r>
            <a:r>
              <a:rPr sz="1600" dirty="0">
                <a:solidFill>
                  <a:srgbClr val="7A7E85"/>
                </a:solidFill>
                <a:latin typeface="Consolas"/>
              </a:rPr>
              <a:t> </a:t>
            </a:r>
            <a:r>
              <a:rPr sz="1600" dirty="0" err="1">
                <a:solidFill>
                  <a:srgbClr val="7A7E85"/>
                </a:solidFill>
                <a:latin typeface="Consolas"/>
              </a:rPr>
              <a:t>apres</a:t>
            </a:r>
            <a:r>
              <a:rPr sz="1600" dirty="0">
                <a:solidFill>
                  <a:srgbClr val="7A7E85"/>
                </a:solidFill>
                <a:latin typeface="Consolas"/>
              </a:rPr>
              <a:t> coup</a:t>
            </a:r>
          </a:p>
          <a:p>
            <a:pPr>
              <a:lnSpc>
                <a:spcPct val="100000"/>
              </a:lnSpc>
              <a:spcBef>
                <a:spcPts val="0"/>
              </a:spcBef>
              <a:spcAft>
                <a:spcPts val="0"/>
              </a:spcAft>
            </a:pPr>
            <a:r>
              <a:rPr sz="1600" dirty="0" err="1">
                <a:solidFill>
                  <a:srgbClr val="BCBEC4"/>
                </a:solidFill>
                <a:latin typeface="Consolas"/>
              </a:rPr>
              <a:t>racine.</a:t>
            </a:r>
            <a:r>
              <a:rPr sz="1600" dirty="0" err="1">
                <a:solidFill>
                  <a:srgbClr val="56A8F5"/>
                </a:solidFill>
                <a:latin typeface="Consolas"/>
              </a:rPr>
              <a:t>getChildren</a:t>
            </a:r>
            <a:r>
              <a:rPr sz="1600" dirty="0">
                <a:solidFill>
                  <a:srgbClr val="BCBEC4"/>
                </a:solidFill>
                <a:latin typeface="Consolas"/>
              </a:rPr>
              <a:t>().</a:t>
            </a:r>
            <a:r>
              <a:rPr sz="1600" dirty="0">
                <a:solidFill>
                  <a:srgbClr val="56A8F5"/>
                </a:solidFill>
                <a:latin typeface="Consolas"/>
              </a:rPr>
              <a:t>add</a:t>
            </a:r>
            <a:r>
              <a:rPr sz="1600" dirty="0">
                <a:solidFill>
                  <a:srgbClr val="BCBEC4"/>
                </a:solidFill>
                <a:latin typeface="Consolas"/>
              </a:rPr>
              <a:t>(</a:t>
            </a:r>
            <a:r>
              <a:rPr sz="1600" dirty="0">
                <a:solidFill>
                  <a:srgbClr val="CF8E6D"/>
                </a:solidFill>
                <a:latin typeface="Consolas"/>
              </a:rPr>
              <a:t>new</a:t>
            </a:r>
            <a:r>
              <a:rPr sz="1600" dirty="0">
                <a:solidFill>
                  <a:srgbClr val="BCBEC4"/>
                </a:solidFill>
                <a:latin typeface="Consolas"/>
              </a:rPr>
              <a:t> </a:t>
            </a:r>
            <a:r>
              <a:rPr sz="1600" dirty="0">
                <a:solidFill>
                  <a:srgbClr val="56A8F5"/>
                </a:solidFill>
                <a:latin typeface="Consolas"/>
              </a:rPr>
              <a:t>Label</a:t>
            </a:r>
            <a:r>
              <a:rPr sz="1600" dirty="0">
                <a:solidFill>
                  <a:srgbClr val="BCBEC4"/>
                </a:solidFill>
                <a:latin typeface="Consolas"/>
              </a:rPr>
              <a:t>(</a:t>
            </a:r>
            <a:r>
              <a:rPr sz="1600" dirty="0">
                <a:solidFill>
                  <a:srgbClr val="6AAB73"/>
                </a:solidFill>
                <a:latin typeface="Consolas"/>
              </a:rPr>
              <a:t>"Bureau"</a:t>
            </a:r>
            <a:r>
              <a:rPr sz="1600" dirty="0">
                <a:solidFill>
                  <a:srgbClr val="BCBEC4"/>
                </a:solidFill>
                <a:latin typeface="Consolas"/>
              </a:rPr>
              <a:t>));</a:t>
            </a:r>
          </a:p>
        </p:txBody>
      </p:sp>
      <p:grpSp>
        <p:nvGrpSpPr>
          <p:cNvPr id="20" name="Groupe 19">
            <a:extLst>
              <a:ext uri="{FF2B5EF4-FFF2-40B4-BE49-F238E27FC236}">
                <a16:creationId xmlns:a16="http://schemas.microsoft.com/office/drawing/2014/main" id="{3C1FD1D5-236C-ED39-5582-596D238FBEEC}"/>
              </a:ext>
            </a:extLst>
          </p:cNvPr>
          <p:cNvGrpSpPr/>
          <p:nvPr/>
        </p:nvGrpSpPr>
        <p:grpSpPr>
          <a:xfrm>
            <a:off x="6432331" y="3838695"/>
            <a:ext cx="4115922" cy="369332"/>
            <a:chOff x="6432331" y="3838695"/>
            <a:chExt cx="4115922" cy="369332"/>
          </a:xfrm>
        </p:grpSpPr>
        <p:sp>
          <p:nvSpPr>
            <p:cNvPr id="10" name="ZoneTexte 9">
              <a:extLst>
                <a:ext uri="{FF2B5EF4-FFF2-40B4-BE49-F238E27FC236}">
                  <a16:creationId xmlns:a16="http://schemas.microsoft.com/office/drawing/2014/main" id="{CCE47B31-D436-A18D-DAE7-9B92E58E24A2}"/>
                </a:ext>
              </a:extLst>
            </p:cNvPr>
            <p:cNvSpPr txBox="1"/>
            <p:nvPr/>
          </p:nvSpPr>
          <p:spPr>
            <a:xfrm>
              <a:off x="8229990" y="3838695"/>
              <a:ext cx="2318263" cy="369332"/>
            </a:xfrm>
            <a:prstGeom prst="rect">
              <a:avLst/>
            </a:prstGeom>
            <a:noFill/>
          </p:spPr>
          <p:txBody>
            <a:bodyPr wrap="none" rtlCol="0">
              <a:spAutoFit/>
            </a:bodyPr>
            <a:lstStyle/>
            <a:p>
              <a:r>
                <a:rPr lang="fr-FR" dirty="0">
                  <a:solidFill>
                    <a:schemeClr val="accent4"/>
                  </a:solidFill>
                </a:rPr>
                <a:t>Création du conteneur</a:t>
              </a:r>
            </a:p>
          </p:txBody>
        </p:sp>
        <p:cxnSp>
          <p:nvCxnSpPr>
            <p:cNvPr id="15" name="Connecteur droit avec flèche 14">
              <a:extLst>
                <a:ext uri="{FF2B5EF4-FFF2-40B4-BE49-F238E27FC236}">
                  <a16:creationId xmlns:a16="http://schemas.microsoft.com/office/drawing/2014/main" id="{26EBF545-920C-1A81-EC3E-A73A80BB0B56}"/>
                </a:ext>
              </a:extLst>
            </p:cNvPr>
            <p:cNvCxnSpPr>
              <a:stCxn id="10" idx="1"/>
            </p:cNvCxnSpPr>
            <p:nvPr/>
          </p:nvCxnSpPr>
          <p:spPr>
            <a:xfrm flipH="1">
              <a:off x="6432331" y="4023361"/>
              <a:ext cx="1797659"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21" name="Groupe 20">
            <a:extLst>
              <a:ext uri="{FF2B5EF4-FFF2-40B4-BE49-F238E27FC236}">
                <a16:creationId xmlns:a16="http://schemas.microsoft.com/office/drawing/2014/main" id="{DAF79CC6-3A48-3553-4A21-67AB1C492ADA}"/>
              </a:ext>
            </a:extLst>
          </p:cNvPr>
          <p:cNvGrpSpPr/>
          <p:nvPr/>
        </p:nvGrpSpPr>
        <p:grpSpPr>
          <a:xfrm>
            <a:off x="6432331" y="4100029"/>
            <a:ext cx="3922728" cy="369332"/>
            <a:chOff x="6432331" y="4100029"/>
            <a:chExt cx="3922728" cy="369332"/>
          </a:xfrm>
        </p:grpSpPr>
        <p:sp>
          <p:nvSpPr>
            <p:cNvPr id="11" name="ZoneTexte 10">
              <a:extLst>
                <a:ext uri="{FF2B5EF4-FFF2-40B4-BE49-F238E27FC236}">
                  <a16:creationId xmlns:a16="http://schemas.microsoft.com/office/drawing/2014/main" id="{26DA000C-D600-4106-5E01-10657760B2C8}"/>
                </a:ext>
              </a:extLst>
            </p:cNvPr>
            <p:cNvSpPr txBox="1"/>
            <p:nvPr/>
          </p:nvSpPr>
          <p:spPr>
            <a:xfrm>
              <a:off x="8229990" y="4100029"/>
              <a:ext cx="2125069" cy="369332"/>
            </a:xfrm>
            <a:prstGeom prst="rect">
              <a:avLst/>
            </a:prstGeom>
            <a:noFill/>
          </p:spPr>
          <p:txBody>
            <a:bodyPr wrap="none" rtlCol="0">
              <a:spAutoFit/>
            </a:bodyPr>
            <a:lstStyle/>
            <a:p>
              <a:r>
                <a:rPr lang="fr-FR" dirty="0">
                  <a:solidFill>
                    <a:schemeClr val="accent4"/>
                  </a:solidFill>
                </a:rPr>
                <a:t>Création de la </a:t>
              </a:r>
              <a:r>
                <a:rPr lang="fr-FR" dirty="0" err="1">
                  <a:solidFill>
                    <a:schemeClr val="accent4"/>
                  </a:solidFill>
                </a:rPr>
                <a:t>Scene</a:t>
              </a:r>
              <a:endParaRPr lang="fr-FR" dirty="0">
                <a:solidFill>
                  <a:schemeClr val="accent4"/>
                </a:solidFill>
              </a:endParaRPr>
            </a:p>
          </p:txBody>
        </p:sp>
        <p:cxnSp>
          <p:nvCxnSpPr>
            <p:cNvPr id="16" name="Connecteur droit avec flèche 15">
              <a:extLst>
                <a:ext uri="{FF2B5EF4-FFF2-40B4-BE49-F238E27FC236}">
                  <a16:creationId xmlns:a16="http://schemas.microsoft.com/office/drawing/2014/main" id="{0C838433-7AE3-E74C-2DE0-D70D6768F892}"/>
                </a:ext>
              </a:extLst>
            </p:cNvPr>
            <p:cNvCxnSpPr/>
            <p:nvPr/>
          </p:nvCxnSpPr>
          <p:spPr>
            <a:xfrm flipH="1">
              <a:off x="6432331" y="4284695"/>
              <a:ext cx="1797659"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22" name="Groupe 21">
            <a:extLst>
              <a:ext uri="{FF2B5EF4-FFF2-40B4-BE49-F238E27FC236}">
                <a16:creationId xmlns:a16="http://schemas.microsoft.com/office/drawing/2014/main" id="{55387250-E1A5-877B-325D-5E2D81E70442}"/>
              </a:ext>
            </a:extLst>
          </p:cNvPr>
          <p:cNvGrpSpPr/>
          <p:nvPr/>
        </p:nvGrpSpPr>
        <p:grpSpPr>
          <a:xfrm>
            <a:off x="6758152" y="5182650"/>
            <a:ext cx="4429699" cy="369332"/>
            <a:chOff x="6758152" y="5182650"/>
            <a:chExt cx="4429699" cy="369332"/>
          </a:xfrm>
        </p:grpSpPr>
        <p:sp>
          <p:nvSpPr>
            <p:cNvPr id="12" name="ZoneTexte 11">
              <a:extLst>
                <a:ext uri="{FF2B5EF4-FFF2-40B4-BE49-F238E27FC236}">
                  <a16:creationId xmlns:a16="http://schemas.microsoft.com/office/drawing/2014/main" id="{39FAA884-2945-D7DA-F2F6-19DF4816F077}"/>
                </a:ext>
              </a:extLst>
            </p:cNvPr>
            <p:cNvSpPr txBox="1"/>
            <p:nvPr/>
          </p:nvSpPr>
          <p:spPr>
            <a:xfrm>
              <a:off x="8229990" y="5182650"/>
              <a:ext cx="2957861" cy="369332"/>
            </a:xfrm>
            <a:prstGeom prst="rect">
              <a:avLst/>
            </a:prstGeom>
            <a:noFill/>
          </p:spPr>
          <p:txBody>
            <a:bodyPr wrap="none" rtlCol="0">
              <a:spAutoFit/>
            </a:bodyPr>
            <a:lstStyle/>
            <a:p>
              <a:r>
                <a:rPr lang="fr-FR" dirty="0">
                  <a:solidFill>
                    <a:schemeClr val="accent4"/>
                  </a:solidFill>
                </a:rPr>
                <a:t>Ajout d’un enfant après coup</a:t>
              </a:r>
            </a:p>
          </p:txBody>
        </p:sp>
        <p:cxnSp>
          <p:nvCxnSpPr>
            <p:cNvPr id="17" name="Connecteur droit avec flèche 16">
              <a:extLst>
                <a:ext uri="{FF2B5EF4-FFF2-40B4-BE49-F238E27FC236}">
                  <a16:creationId xmlns:a16="http://schemas.microsoft.com/office/drawing/2014/main" id="{A61D3B56-D7B4-277F-9166-23172E059B09}"/>
                </a:ext>
              </a:extLst>
            </p:cNvPr>
            <p:cNvCxnSpPr>
              <a:cxnSpLocks/>
            </p:cNvCxnSpPr>
            <p:nvPr/>
          </p:nvCxnSpPr>
          <p:spPr>
            <a:xfrm flipH="1">
              <a:off x="6758152" y="5367316"/>
              <a:ext cx="1471838" cy="0"/>
            </a:xfrm>
            <a:prstGeom prst="straightConnector1">
              <a:avLst/>
            </a:prstGeom>
            <a:ln w="28575">
              <a:solidFill>
                <a:schemeClr val="accent4"/>
              </a:solidFill>
              <a:tailEnd type="triangle" w="lg" len="lg"/>
            </a:ln>
          </p:spPr>
          <p:style>
            <a:lnRef idx="1">
              <a:schemeClr val="accent1"/>
            </a:lnRef>
            <a:fillRef idx="0">
              <a:schemeClr val="accent1"/>
            </a:fillRef>
            <a:effectRef idx="0">
              <a:schemeClr val="accent1"/>
            </a:effectRef>
            <a:fontRef idx="minor">
              <a:schemeClr val="tx1"/>
            </a:fontRef>
          </p:style>
        </p:cxn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2"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righ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2"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right)">
                                      <p:cBhvr>
                                        <p:cTn id="17" dur="5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2" fill="hold" nodeType="click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wipe(right)">
                                      <p:cBhvr>
                                        <p:cTn id="22" dur="500"/>
                                        <p:tgtEl>
                                          <p:spTgt spid="2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500"/>
                                        <p:tgtEl>
                                          <p:spTgt spid="13"/>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2" fill="hold" nodeType="clickEffect">
                                  <p:stCondLst>
                                    <p:cond delay="0"/>
                                  </p:stCondLst>
                                  <p:childTnLst>
                                    <p:set>
                                      <p:cBhvr>
                                        <p:cTn id="31" dur="1" fill="hold">
                                          <p:stCondLst>
                                            <p:cond delay="0"/>
                                          </p:stCondLst>
                                        </p:cTn>
                                        <p:tgtEl>
                                          <p:spTgt spid="22"/>
                                        </p:tgtEl>
                                        <p:attrNameLst>
                                          <p:attrName>style.visibility</p:attrName>
                                        </p:attrNameLst>
                                      </p:cBhvr>
                                      <p:to>
                                        <p:strVal val="visible"/>
                                      </p:to>
                                    </p:set>
                                    <p:animEffect transition="in" filter="wipe(right)">
                                      <p:cBhvr>
                                        <p:cTn id="32"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3"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conteneurs</a:t>
            </a:r>
          </a:p>
        </p:txBody>
      </p:sp>
      <p:sp>
        <p:nvSpPr>
          <p:cNvPr id="3" name="TextBox 2"/>
          <p:cNvSpPr txBox="1"/>
          <p:nvPr/>
        </p:nvSpPr>
        <p:spPr>
          <a:xfrm>
            <a:off x="777240" y="1371600"/>
            <a:ext cx="1704109" cy="585216"/>
          </a:xfrm>
          <a:prstGeom prst="rect">
            <a:avLst/>
          </a:prstGeom>
          <a:noFill/>
        </p:spPr>
        <p:txBody>
          <a:bodyPr wrap="square" anchor="ctr">
            <a:spAutoFit/>
          </a:bodyPr>
          <a:lstStyle/>
          <a:p>
            <a:r>
              <a:rPr sz="2000" b="1">
                <a:solidFill>
                  <a:schemeClr val="accent4"/>
                </a:solidFill>
              </a:rPr>
              <a:t>Conteneur</a:t>
            </a:r>
          </a:p>
        </p:txBody>
      </p:sp>
      <p:sp>
        <p:nvSpPr>
          <p:cNvPr id="4" name="TextBox 3"/>
          <p:cNvSpPr txBox="1"/>
          <p:nvPr/>
        </p:nvSpPr>
        <p:spPr>
          <a:xfrm>
            <a:off x="2755669" y="1371600"/>
            <a:ext cx="4276066" cy="585216"/>
          </a:xfrm>
          <a:prstGeom prst="rect">
            <a:avLst/>
          </a:prstGeom>
          <a:noFill/>
        </p:spPr>
        <p:txBody>
          <a:bodyPr wrap="square" anchor="ctr">
            <a:spAutoFit/>
          </a:bodyPr>
          <a:lstStyle/>
          <a:p>
            <a:r>
              <a:rPr sz="2000" b="1">
                <a:solidFill>
                  <a:schemeClr val="accent4"/>
                </a:solidFill>
              </a:rPr>
              <a:t>Range ses enfants</a:t>
            </a:r>
          </a:p>
        </p:txBody>
      </p:sp>
      <p:sp>
        <p:nvSpPr>
          <p:cNvPr id="5" name="TextBox 4"/>
          <p:cNvSpPr txBox="1"/>
          <p:nvPr/>
        </p:nvSpPr>
        <p:spPr>
          <a:xfrm>
            <a:off x="7306056" y="1371600"/>
            <a:ext cx="4078224" cy="585216"/>
          </a:xfrm>
          <a:prstGeom prst="rect">
            <a:avLst/>
          </a:prstGeom>
          <a:noFill/>
        </p:spPr>
        <p:txBody>
          <a:bodyPr wrap="square" anchor="ctr">
            <a:spAutoFit/>
          </a:bodyPr>
          <a:lstStyle/>
          <a:p>
            <a:r>
              <a:rPr sz="2000" b="1">
                <a:solidFill>
                  <a:schemeClr val="accent4"/>
                </a:solidFill>
              </a:rPr>
              <a:t>Usage typique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11</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704109" cy="585216"/>
            </a:xfrm>
            <a:prstGeom prst="rect">
              <a:avLst/>
            </a:prstGeom>
            <a:noFill/>
          </p:spPr>
          <p:txBody>
            <a:bodyPr wrap="square" anchor="ctr">
              <a:spAutoFit/>
            </a:bodyPr>
            <a:lstStyle/>
            <a:p>
              <a:r>
                <a:rPr sz="1900" dirty="0" err="1">
                  <a:solidFill>
                    <a:schemeClr val="accent4"/>
                  </a:solidFill>
                  <a:latin typeface="Consolas"/>
                </a:rPr>
                <a:t>HBox</a:t>
              </a:r>
              <a:endParaRPr sz="1900" dirty="0">
                <a:solidFill>
                  <a:schemeClr val="accent4"/>
                </a:solidFill>
                <a:latin typeface="Consolas"/>
              </a:endParaRPr>
            </a:p>
          </p:txBody>
        </p:sp>
        <p:sp>
          <p:nvSpPr>
            <p:cNvPr id="8" name="TextBox 7"/>
            <p:cNvSpPr txBox="1"/>
            <p:nvPr/>
          </p:nvSpPr>
          <p:spPr>
            <a:xfrm>
              <a:off x="2755669" y="2029967"/>
              <a:ext cx="4276066" cy="585216"/>
            </a:xfrm>
            <a:prstGeom prst="rect">
              <a:avLst/>
            </a:prstGeom>
            <a:noFill/>
          </p:spPr>
          <p:txBody>
            <a:bodyPr wrap="square" anchor="ctr">
              <a:spAutoFit/>
            </a:bodyPr>
            <a:lstStyle/>
            <a:p>
              <a:r>
                <a:rPr sz="2200">
                  <a:solidFill>
                    <a:srgbClr val="FFFFFF"/>
                  </a:solidFill>
                </a:rPr>
                <a:t>côte à côte</a:t>
              </a:r>
            </a:p>
          </p:txBody>
        </p:sp>
        <p:sp>
          <p:nvSpPr>
            <p:cNvPr id="9" name="TextBox 8"/>
            <p:cNvSpPr txBox="1"/>
            <p:nvPr/>
          </p:nvSpPr>
          <p:spPr>
            <a:xfrm>
              <a:off x="7306056" y="2029967"/>
              <a:ext cx="4078224" cy="585216"/>
            </a:xfrm>
            <a:prstGeom prst="rect">
              <a:avLst/>
            </a:prstGeom>
            <a:noFill/>
          </p:spPr>
          <p:txBody>
            <a:bodyPr wrap="square" anchor="ctr">
              <a:spAutoFit/>
            </a:bodyPr>
            <a:lstStyle/>
            <a:p>
              <a:r>
                <a:rPr sz="2200">
                  <a:solidFill>
                    <a:srgbClr val="FFFFFF"/>
                  </a:solidFill>
                </a:rPr>
                <a:t>une rangée de boutons</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704109" cy="585216"/>
            </a:xfrm>
            <a:prstGeom prst="rect">
              <a:avLst/>
            </a:prstGeom>
            <a:noFill/>
          </p:spPr>
          <p:txBody>
            <a:bodyPr wrap="square" anchor="ctr">
              <a:spAutoFit/>
            </a:bodyPr>
            <a:lstStyle/>
            <a:p>
              <a:r>
                <a:rPr sz="1900">
                  <a:solidFill>
                    <a:schemeClr val="accent4"/>
                  </a:solidFill>
                  <a:latin typeface="Consolas"/>
                </a:rPr>
                <a:t>VBox</a:t>
              </a:r>
            </a:p>
          </p:txBody>
        </p:sp>
        <p:sp>
          <p:nvSpPr>
            <p:cNvPr id="12" name="TextBox 11"/>
            <p:cNvSpPr txBox="1"/>
            <p:nvPr/>
          </p:nvSpPr>
          <p:spPr>
            <a:xfrm>
              <a:off x="2755669" y="2688335"/>
              <a:ext cx="4276066" cy="585216"/>
            </a:xfrm>
            <a:prstGeom prst="rect">
              <a:avLst/>
            </a:prstGeom>
            <a:noFill/>
          </p:spPr>
          <p:txBody>
            <a:bodyPr wrap="square" anchor="ctr">
              <a:spAutoFit/>
            </a:bodyPr>
            <a:lstStyle/>
            <a:p>
              <a:r>
                <a:rPr sz="2200">
                  <a:solidFill>
                    <a:srgbClr val="FFFFFF"/>
                  </a:solidFill>
                </a:rPr>
                <a:t>les uns sous les autres</a:t>
              </a:r>
            </a:p>
          </p:txBody>
        </p:sp>
        <p:sp>
          <p:nvSpPr>
            <p:cNvPr id="13" name="TextBox 12"/>
            <p:cNvSpPr txBox="1"/>
            <p:nvPr/>
          </p:nvSpPr>
          <p:spPr>
            <a:xfrm>
              <a:off x="7306056" y="2688335"/>
              <a:ext cx="4078224" cy="585216"/>
            </a:xfrm>
            <a:prstGeom prst="rect">
              <a:avLst/>
            </a:prstGeom>
            <a:noFill/>
          </p:spPr>
          <p:txBody>
            <a:bodyPr wrap="square" anchor="ctr">
              <a:spAutoFit/>
            </a:bodyPr>
            <a:lstStyle/>
            <a:p>
              <a:r>
                <a:rPr sz="2200">
                  <a:solidFill>
                    <a:srgbClr val="FFFFFF"/>
                  </a:solidFill>
                </a:rPr>
                <a:t>un formulaire</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704109" cy="585216"/>
            </a:xfrm>
            <a:prstGeom prst="rect">
              <a:avLst/>
            </a:prstGeom>
            <a:noFill/>
          </p:spPr>
          <p:txBody>
            <a:bodyPr wrap="square" anchor="ctr">
              <a:spAutoFit/>
            </a:bodyPr>
            <a:lstStyle/>
            <a:p>
              <a:r>
                <a:rPr sz="1900">
                  <a:solidFill>
                    <a:schemeClr val="accent4"/>
                  </a:solidFill>
                  <a:latin typeface="Consolas"/>
                </a:rPr>
                <a:t>BorderPane</a:t>
              </a:r>
            </a:p>
          </p:txBody>
        </p:sp>
        <p:sp>
          <p:nvSpPr>
            <p:cNvPr id="16" name="TextBox 15"/>
            <p:cNvSpPr txBox="1"/>
            <p:nvPr/>
          </p:nvSpPr>
          <p:spPr>
            <a:xfrm>
              <a:off x="2755669" y="3423867"/>
              <a:ext cx="4276066" cy="430887"/>
            </a:xfrm>
            <a:prstGeom prst="rect">
              <a:avLst/>
            </a:prstGeom>
            <a:noFill/>
          </p:spPr>
          <p:txBody>
            <a:bodyPr wrap="square" anchor="ctr">
              <a:spAutoFit/>
            </a:bodyPr>
            <a:lstStyle/>
            <a:p>
              <a:r>
                <a:rPr sz="2200" dirty="0" err="1">
                  <a:solidFill>
                    <a:srgbClr val="FFFFFF"/>
                  </a:solidFill>
                </a:rPr>
                <a:t>en</a:t>
              </a:r>
              <a:r>
                <a:rPr sz="2200" dirty="0">
                  <a:solidFill>
                    <a:srgbClr val="FFFFFF"/>
                  </a:solidFill>
                </a:rPr>
                <a:t> cinq zones</a:t>
              </a:r>
            </a:p>
          </p:txBody>
        </p:sp>
        <p:sp>
          <p:nvSpPr>
            <p:cNvPr id="17" name="TextBox 16"/>
            <p:cNvSpPr txBox="1"/>
            <p:nvPr/>
          </p:nvSpPr>
          <p:spPr>
            <a:xfrm>
              <a:off x="7306056" y="3346703"/>
              <a:ext cx="4078224" cy="585216"/>
            </a:xfrm>
            <a:prstGeom prst="rect">
              <a:avLst/>
            </a:prstGeom>
            <a:noFill/>
          </p:spPr>
          <p:txBody>
            <a:bodyPr wrap="square" anchor="ctr">
              <a:spAutoFit/>
            </a:bodyPr>
            <a:lstStyle/>
            <a:p>
              <a:r>
                <a:rPr sz="2200">
                  <a:solidFill>
                    <a:srgbClr val="FFFFFF"/>
                  </a:solidFill>
                </a:rPr>
                <a:t>une application</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704109" cy="585216"/>
            </a:xfrm>
            <a:prstGeom prst="rect">
              <a:avLst/>
            </a:prstGeom>
            <a:noFill/>
          </p:spPr>
          <p:txBody>
            <a:bodyPr wrap="square" anchor="ctr">
              <a:spAutoFit/>
            </a:bodyPr>
            <a:lstStyle/>
            <a:p>
              <a:r>
                <a:rPr sz="1900">
                  <a:solidFill>
                    <a:schemeClr val="accent4"/>
                  </a:solidFill>
                  <a:latin typeface="Consolas"/>
                </a:rPr>
                <a:t>StackPane</a:t>
              </a:r>
            </a:p>
          </p:txBody>
        </p:sp>
        <p:sp>
          <p:nvSpPr>
            <p:cNvPr id="20" name="TextBox 19"/>
            <p:cNvSpPr txBox="1"/>
            <p:nvPr/>
          </p:nvSpPr>
          <p:spPr>
            <a:xfrm>
              <a:off x="2755669" y="4005071"/>
              <a:ext cx="4276066" cy="585216"/>
            </a:xfrm>
            <a:prstGeom prst="rect">
              <a:avLst/>
            </a:prstGeom>
            <a:noFill/>
          </p:spPr>
          <p:txBody>
            <a:bodyPr wrap="square" anchor="ctr">
              <a:spAutoFit/>
            </a:bodyPr>
            <a:lstStyle/>
            <a:p>
              <a:r>
                <a:rPr sz="2200">
                  <a:solidFill>
                    <a:srgbClr val="FFFFFF"/>
                  </a:solidFill>
                </a:rPr>
                <a:t>empilés et centrés</a:t>
              </a:r>
            </a:p>
          </p:txBody>
        </p:sp>
        <p:sp>
          <p:nvSpPr>
            <p:cNvPr id="21" name="TextBox 20"/>
            <p:cNvSpPr txBox="1"/>
            <p:nvPr/>
          </p:nvSpPr>
          <p:spPr>
            <a:xfrm>
              <a:off x="7306056" y="4005071"/>
              <a:ext cx="4078224" cy="585216"/>
            </a:xfrm>
            <a:prstGeom prst="rect">
              <a:avLst/>
            </a:prstGeom>
            <a:noFill/>
          </p:spPr>
          <p:txBody>
            <a:bodyPr wrap="square" anchor="ctr">
              <a:spAutoFit/>
            </a:bodyPr>
            <a:lstStyle/>
            <a:p>
              <a:r>
                <a:rPr sz="2200">
                  <a:solidFill>
                    <a:srgbClr val="FFFFFF"/>
                  </a:solidFill>
                </a:rPr>
                <a:t>un texte sur une forme</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contrôles</a:t>
            </a:r>
          </a:p>
        </p:txBody>
      </p:sp>
      <p:sp>
        <p:nvSpPr>
          <p:cNvPr id="3" name="Content Placeholder 2"/>
          <p:cNvSpPr>
            <a:spLocks noGrp="1"/>
          </p:cNvSpPr>
          <p:nvPr>
            <p:ph idx="1"/>
          </p:nvPr>
        </p:nvSpPr>
        <p:spPr>
          <a:xfrm>
            <a:off x="640080" y="1371600"/>
            <a:ext cx="10881360" cy="2225040"/>
          </a:xfrm>
        </p:spPr>
        <p:txBody>
          <a:bodyPr/>
          <a:lstStyle/>
          <a:p>
            <a:pPr marL="0" indent="0">
              <a:spcAft>
                <a:spcPts val="1000"/>
              </a:spcAft>
              <a:buNone/>
            </a:pPr>
            <a:r>
              <a:rPr sz="2800"/>
              <a:t>Un </a:t>
            </a:r>
            <a:r>
              <a:rPr sz="2400">
                <a:solidFill>
                  <a:schemeClr val="accent4"/>
                </a:solidFill>
                <a:latin typeface="Consolas"/>
              </a:rPr>
              <a:t>Label</a:t>
            </a:r>
            <a:r>
              <a:rPr sz="2800"/>
              <a:t> affiche un texte que l'utilisateur ne modifie pas</a:t>
            </a:r>
          </a:p>
          <a:p>
            <a:pPr marL="0" indent="0">
              <a:spcAft>
                <a:spcPts val="1000"/>
              </a:spcAft>
              <a:buNone/>
            </a:pPr>
            <a:r>
              <a:rPr sz="2800"/>
              <a:t>Un </a:t>
            </a:r>
            <a:r>
              <a:rPr sz="2400">
                <a:solidFill>
                  <a:schemeClr val="accent4"/>
                </a:solidFill>
                <a:latin typeface="Consolas"/>
              </a:rPr>
              <a:t>TextField</a:t>
            </a:r>
            <a:r>
              <a:rPr sz="2800"/>
              <a:t> reçoit une saisie, que </a:t>
            </a:r>
            <a:r>
              <a:rPr sz="2400">
                <a:solidFill>
                  <a:schemeClr val="accent4"/>
                </a:solidFill>
                <a:latin typeface="Consolas"/>
              </a:rPr>
              <a:t>getText</a:t>
            </a:r>
            <a:r>
              <a:rPr sz="2800"/>
              <a:t> relit</a:t>
            </a:r>
          </a:p>
          <a:p>
            <a:pPr marL="0" indent="0">
              <a:spcAft>
                <a:spcPts val="1000"/>
              </a:spcAft>
              <a:buNone/>
            </a:pPr>
            <a:r>
              <a:rPr sz="2800"/>
              <a:t>Un </a:t>
            </a:r>
            <a:r>
              <a:rPr sz="2400">
                <a:solidFill>
                  <a:schemeClr val="accent4"/>
                </a:solidFill>
                <a:latin typeface="Consolas"/>
              </a:rPr>
              <a:t>Button</a:t>
            </a:r>
            <a:r>
              <a:rPr sz="2800"/>
              <a:t> déclenche une action quand on l'actionne</a:t>
            </a:r>
          </a:p>
        </p:txBody>
      </p:sp>
      <p:sp>
        <p:nvSpPr>
          <p:cNvPr id="4" name="Code"/>
          <p:cNvSpPr txBox="1"/>
          <p:nvPr/>
        </p:nvSpPr>
        <p:spPr>
          <a:xfrm>
            <a:off x="2940050" y="3733799"/>
            <a:ext cx="6311900" cy="2194559"/>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Label consigne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Label</a:t>
            </a:r>
            <a:r>
              <a:rPr sz="1800">
                <a:solidFill>
                  <a:srgbClr val="BCBEC4"/>
                </a:solidFill>
                <a:latin typeface="Consolas"/>
              </a:rPr>
              <a:t>(</a:t>
            </a:r>
            <a:r>
              <a:rPr sz="1800">
                <a:solidFill>
                  <a:srgbClr val="6AAB73"/>
                </a:solidFill>
                <a:latin typeface="Consolas"/>
              </a:rPr>
              <a:t>"Piece :"</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TextField saisie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TextField</a:t>
            </a:r>
            <a:r>
              <a:rPr sz="1800">
                <a:solidFill>
                  <a:srgbClr val="BCBEC4"/>
                </a:solidFill>
                <a:latin typeface="Consolas"/>
              </a:rPr>
              <a:t>(</a:t>
            </a:r>
            <a:r>
              <a:rPr sz="1800">
                <a:solidFill>
                  <a:srgbClr val="6AAB73"/>
                </a:solidFill>
                <a:latin typeface="Consolas"/>
              </a:rPr>
              <a:t>"Bureau"</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Button valider = </a:t>
            </a:r>
            <a:r>
              <a:rPr sz="1800">
                <a:solidFill>
                  <a:srgbClr val="CF8E6D"/>
                </a:solidFill>
                <a:latin typeface="Consolas"/>
              </a:rPr>
              <a:t>new</a:t>
            </a:r>
            <a:r>
              <a:rPr sz="1800">
                <a:solidFill>
                  <a:srgbClr val="BCBEC4"/>
                </a:solidFill>
                <a:latin typeface="Consolas"/>
              </a:rPr>
              <a:t> </a:t>
            </a:r>
            <a:r>
              <a:rPr sz="1800">
                <a:solidFill>
                  <a:srgbClr val="56A8F5"/>
                </a:solidFill>
                <a:latin typeface="Consolas"/>
              </a:rPr>
              <a:t>Button</a:t>
            </a:r>
            <a:r>
              <a:rPr sz="1800">
                <a:solidFill>
                  <a:srgbClr val="BCBEC4"/>
                </a:solidFill>
                <a:latin typeface="Consolas"/>
              </a:rPr>
              <a:t>(</a:t>
            </a:r>
            <a:r>
              <a:rPr sz="1800">
                <a:solidFill>
                  <a:srgbClr val="6AAB73"/>
                </a:solidFill>
                <a:latin typeface="Consolas"/>
              </a:rPr>
              <a:t>"Valider"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setPromptText</a:t>
            </a:r>
            <a:r>
              <a:rPr sz="1800">
                <a:solidFill>
                  <a:srgbClr val="BCBEC4"/>
                </a:solidFill>
                <a:latin typeface="Consolas"/>
              </a:rPr>
              <a:t>(</a:t>
            </a:r>
            <a:r>
              <a:rPr sz="1800">
                <a:solidFill>
                  <a:srgbClr val="6AAB73"/>
                </a:solidFill>
                <a:latin typeface="Consolas"/>
              </a:rPr>
              <a:t>"ex. Cuisine"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String piece = saisie.</a:t>
            </a:r>
            <a:r>
              <a:rPr sz="1800">
                <a:solidFill>
                  <a:srgbClr val="56A8F5"/>
                </a:solidFill>
                <a:latin typeface="Consolas"/>
              </a:rPr>
              <a:t>getText</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saisie.</a:t>
            </a:r>
            <a:r>
              <a:rPr sz="1800">
                <a:solidFill>
                  <a:srgbClr val="56A8F5"/>
                </a:solidFill>
                <a:latin typeface="Consolas"/>
              </a:rPr>
              <a:t>setEditable</a:t>
            </a:r>
            <a:r>
              <a:rPr sz="1800">
                <a:solidFill>
                  <a:srgbClr val="BCBEC4"/>
                </a:solidFill>
                <a:latin typeface="Consolas"/>
              </a:rPr>
              <a:t>(</a:t>
            </a:r>
            <a:r>
              <a:rPr sz="1800">
                <a:solidFill>
                  <a:srgbClr val="CF8E6D"/>
                </a:solidFill>
                <a:latin typeface="Consolas"/>
              </a:rPr>
              <a:t>false</a:t>
            </a: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12</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2. La fenêtre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3.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057596"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3. Brancher un bouton</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programme attend</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dirty="0"/>
              <a:t>Un </a:t>
            </a:r>
            <a:r>
              <a:rPr sz="2800" dirty="0" err="1"/>
              <a:t>programme</a:t>
            </a:r>
            <a:r>
              <a:rPr sz="2800" dirty="0"/>
              <a:t> console </a:t>
            </a:r>
            <a:r>
              <a:rPr sz="2800" dirty="0" err="1"/>
              <a:t>décide</a:t>
            </a:r>
            <a:r>
              <a:rPr sz="2800" dirty="0"/>
              <a:t> de </a:t>
            </a:r>
            <a:r>
              <a:rPr sz="2800" dirty="0" err="1"/>
              <a:t>l'ordre</a:t>
            </a:r>
            <a:r>
              <a:rPr sz="2800" dirty="0"/>
              <a:t> dans </a:t>
            </a:r>
            <a:r>
              <a:rPr sz="2800" dirty="0" err="1"/>
              <a:t>lequel</a:t>
            </a:r>
            <a:r>
              <a:rPr sz="2800" dirty="0"/>
              <a:t> les choses </a:t>
            </a:r>
            <a:r>
              <a:rPr sz="2800" dirty="0" err="1"/>
              <a:t>arrivent</a:t>
            </a:r>
            <a:endParaRPr sz="2800" dirty="0"/>
          </a:p>
          <a:p>
            <a:pPr marL="0" indent="0">
              <a:spcAft>
                <a:spcPts val="1000"/>
              </a:spcAft>
              <a:buNone/>
            </a:pPr>
            <a:r>
              <a:rPr sz="2800" dirty="0"/>
              <a:t>Une interface </a:t>
            </a:r>
            <a:r>
              <a:rPr sz="2800" dirty="0" err="1"/>
              <a:t>graphique</a:t>
            </a:r>
            <a:r>
              <a:rPr sz="2800" dirty="0"/>
              <a:t> attend </a:t>
            </a:r>
            <a:r>
              <a:rPr sz="2800" dirty="0" err="1"/>
              <a:t>que</a:t>
            </a:r>
            <a:r>
              <a:rPr sz="2800" dirty="0"/>
              <a:t> </a:t>
            </a:r>
            <a:r>
              <a:rPr sz="2800" dirty="0" err="1"/>
              <a:t>l'utilisateur</a:t>
            </a:r>
            <a:r>
              <a:rPr sz="2800" dirty="0"/>
              <a:t> </a:t>
            </a:r>
            <a:r>
              <a:rPr sz="2800" dirty="0" err="1"/>
              <a:t>agisse</a:t>
            </a:r>
            <a:endParaRPr sz="2800" dirty="0"/>
          </a:p>
          <a:p>
            <a:pPr marL="0" indent="0">
              <a:spcAft>
                <a:spcPts val="1000"/>
              </a:spcAft>
              <a:buNone/>
            </a:pPr>
            <a:r>
              <a:rPr sz="2800" dirty="0" err="1"/>
              <a:t>Chaque</a:t>
            </a:r>
            <a:r>
              <a:rPr sz="2800" dirty="0"/>
              <a:t> </a:t>
            </a:r>
            <a:r>
              <a:rPr sz="2800" dirty="0" err="1"/>
              <a:t>geste</a:t>
            </a:r>
            <a:r>
              <a:rPr sz="2800" dirty="0"/>
              <a:t> </a:t>
            </a:r>
            <a:r>
              <a:rPr sz="2800" dirty="0" err="1"/>
              <a:t>produit</a:t>
            </a:r>
            <a:r>
              <a:rPr sz="2800" dirty="0"/>
              <a:t> un </a:t>
            </a:r>
            <a:r>
              <a:rPr sz="2800" dirty="0" err="1">
                <a:solidFill>
                  <a:schemeClr val="accent4"/>
                </a:solidFill>
              </a:rPr>
              <a:t>événement</a:t>
            </a:r>
            <a:endParaRPr sz="2800" dirty="0">
              <a:solidFill>
                <a:schemeClr val="accent4"/>
              </a:solidFill>
            </a:endParaRPr>
          </a:p>
          <a:p>
            <a:pPr marL="0" indent="0">
              <a:spcAft>
                <a:spcPts val="1000"/>
              </a:spcAft>
              <a:buNone/>
            </a:pPr>
            <a:r>
              <a:rPr sz="2800" dirty="0"/>
              <a:t>JavaFX le </a:t>
            </a:r>
            <a:r>
              <a:rPr sz="2800" dirty="0" err="1"/>
              <a:t>transmet</a:t>
            </a:r>
            <a:r>
              <a:rPr sz="2800" dirty="0"/>
              <a:t> au code qui s</a:t>
            </a:r>
            <a:r>
              <a:rPr lang="nl-BE" sz="2800" dirty="0"/>
              <a:t>'</a:t>
            </a:r>
            <a:r>
              <a:rPr sz="2800" dirty="0"/>
              <a:t>est </a:t>
            </a:r>
            <a:r>
              <a:rPr sz="2800" dirty="0" err="1"/>
              <a:t>abonné</a:t>
            </a:r>
            <a:r>
              <a:rPr lang="nl-BE" sz="2800" dirty="0"/>
              <a:t> à l’événement</a:t>
            </a:r>
            <a:r>
              <a:rPr sz="2800" dirty="0"/>
              <a:t>, et à </a:t>
            </a:r>
            <a:r>
              <a:rPr sz="2800" dirty="0" err="1"/>
              <a:t>lui</a:t>
            </a:r>
            <a:r>
              <a:rPr sz="2800" dirty="0"/>
              <a:t> seul</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Le bouton qui ne fait rien</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15</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 gestionnaire est un objet</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L'interface </a:t>
            </a:r>
            <a:r>
              <a:rPr sz="2100">
                <a:solidFill>
                  <a:schemeClr val="accent4"/>
                </a:solidFill>
                <a:latin typeface="Consolas"/>
              </a:rPr>
              <a:t>EventHandler</a:t>
            </a:r>
            <a:r>
              <a:rPr sz="2400"/>
              <a:t> déclare une seule méthode, </a:t>
            </a:r>
            <a:r>
              <a:rPr sz="2100">
                <a:solidFill>
                  <a:schemeClr val="accent4"/>
                </a:solidFill>
                <a:latin typeface="Consolas"/>
              </a:rPr>
              <a:t>handle</a:t>
            </a:r>
          </a:p>
          <a:p>
            <a:pPr marL="0" indent="0">
              <a:spcAft>
                <a:spcPts val="1000"/>
              </a:spcAft>
              <a:buNone/>
            </a:pPr>
            <a:r>
              <a:rPr sz="2400"/>
              <a:t>Elle est fonctionnelle : une lambda suffit à en créer un objet</a:t>
            </a:r>
          </a:p>
          <a:p>
            <a:pPr marL="0" indent="0">
              <a:spcAft>
                <a:spcPts val="1000"/>
              </a:spcAft>
              <a:buNone/>
            </a:pPr>
            <a:r>
              <a:rPr sz="2400"/>
              <a:t>Le bouton garde cet objet, et appelle </a:t>
            </a:r>
            <a:r>
              <a:rPr sz="2100">
                <a:solidFill>
                  <a:schemeClr val="accent4"/>
                </a:solidFill>
                <a:latin typeface="Consolas"/>
              </a:rPr>
              <a:t>handle</a:t>
            </a:r>
            <a:r>
              <a:rPr sz="2400"/>
              <a:t> à chaque clic</a:t>
            </a:r>
          </a:p>
        </p:txBody>
      </p:sp>
      <p:sp>
        <p:nvSpPr>
          <p:cNvPr id="4" name="Code"/>
          <p:cNvSpPr txBox="1"/>
          <p:nvPr/>
        </p:nvSpPr>
        <p:spPr>
          <a:xfrm>
            <a:off x="2101850" y="3322165"/>
            <a:ext cx="7988300" cy="1342696"/>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a:t>
            </a:r>
            <a:r>
              <a:rPr sz="1800" dirty="0" err="1">
                <a:solidFill>
                  <a:srgbClr val="7A7E85"/>
                </a:solidFill>
                <a:latin typeface="Consolas"/>
              </a:rPr>
              <a:t>javafx.event.EventHandler</a:t>
            </a:r>
            <a:r>
              <a:rPr sz="1800" dirty="0">
                <a:solidFill>
                  <a:srgbClr val="7A7E85"/>
                </a:solidFill>
                <a:latin typeface="Consolas"/>
              </a:rPr>
              <a:t>, </a:t>
            </a:r>
            <a:r>
              <a:rPr sz="1800" dirty="0" err="1">
                <a:solidFill>
                  <a:srgbClr val="7A7E85"/>
                </a:solidFill>
                <a:latin typeface="Consolas"/>
              </a:rPr>
              <a:t>simplifiee</a:t>
            </a:r>
            <a:endParaRPr sz="1800" dirty="0">
              <a:solidFill>
                <a:srgbClr val="7A7E85"/>
              </a:solidFill>
              <a:latin typeface="Consolas"/>
            </a:endParaRPr>
          </a:p>
          <a:p>
            <a:pPr>
              <a:lnSpc>
                <a:spcPct val="100000"/>
              </a:lnSpc>
              <a:spcBef>
                <a:spcPts val="0"/>
              </a:spcBef>
              <a:spcAft>
                <a:spcPts val="0"/>
              </a:spcAft>
            </a:pPr>
            <a:r>
              <a:rPr sz="1800" dirty="0">
                <a:solidFill>
                  <a:srgbClr val="CF8E6D"/>
                </a:solidFill>
                <a:latin typeface="Consolas"/>
              </a:rPr>
              <a:t>public</a:t>
            </a:r>
            <a:r>
              <a:rPr sz="1800" dirty="0">
                <a:solidFill>
                  <a:srgbClr val="BCBEC4"/>
                </a:solidFill>
                <a:latin typeface="Consolas"/>
              </a:rPr>
              <a:t> </a:t>
            </a:r>
            <a:r>
              <a:rPr sz="1800" dirty="0">
                <a:solidFill>
                  <a:srgbClr val="CF8E6D"/>
                </a:solidFill>
                <a:latin typeface="Consolas"/>
              </a:rPr>
              <a:t>interface</a:t>
            </a:r>
            <a:r>
              <a:rPr sz="1800" dirty="0">
                <a:solidFill>
                  <a:srgbClr val="BCBEC4"/>
                </a:solidFill>
                <a:latin typeface="Consolas"/>
              </a:rPr>
              <a:t> </a:t>
            </a:r>
            <a:r>
              <a:rPr sz="1800" dirty="0" err="1">
                <a:solidFill>
                  <a:srgbClr val="BCBEC4"/>
                </a:solidFill>
                <a:latin typeface="Consolas"/>
              </a:rPr>
              <a:t>EventHandler</a:t>
            </a:r>
            <a:r>
              <a:rPr sz="1800" dirty="0">
                <a:solidFill>
                  <a:srgbClr val="BCBEC4"/>
                </a:solidFill>
                <a:latin typeface="Consolas"/>
              </a:rPr>
              <a:t>&lt;T </a:t>
            </a:r>
            <a:r>
              <a:rPr sz="1800" dirty="0">
                <a:solidFill>
                  <a:srgbClr val="CF8E6D"/>
                </a:solidFill>
                <a:latin typeface="Consolas"/>
              </a:rPr>
              <a:t>extends</a:t>
            </a:r>
            <a:r>
              <a:rPr sz="1800" dirty="0">
                <a:solidFill>
                  <a:srgbClr val="BCBEC4"/>
                </a:solidFill>
                <a:latin typeface="Consolas"/>
              </a:rPr>
              <a:t> Event&gt;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void</a:t>
            </a:r>
            <a:r>
              <a:rPr sz="1800" dirty="0">
                <a:solidFill>
                  <a:srgbClr val="BCBEC4"/>
                </a:solidFill>
                <a:latin typeface="Consolas"/>
              </a:rPr>
              <a:t> </a:t>
            </a:r>
            <a:r>
              <a:rPr sz="1800" dirty="0">
                <a:solidFill>
                  <a:srgbClr val="56A8F5"/>
                </a:solidFill>
                <a:latin typeface="Consolas"/>
              </a:rPr>
              <a:t>handle</a:t>
            </a:r>
            <a:r>
              <a:rPr sz="1800" dirty="0">
                <a:solidFill>
                  <a:srgbClr val="BCBEC4"/>
                </a:solidFill>
                <a:latin typeface="Consolas"/>
              </a:rPr>
              <a:t>(T </a:t>
            </a:r>
            <a:r>
              <a:rPr sz="1800" dirty="0" err="1">
                <a:solidFill>
                  <a:srgbClr val="BCBEC4"/>
                </a:solidFill>
                <a:latin typeface="Consolas"/>
              </a:rPr>
              <a:t>evenement</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
        <p:nvSpPr>
          <p:cNvPr id="7" name="Code">
            <a:extLst>
              <a:ext uri="{FF2B5EF4-FFF2-40B4-BE49-F238E27FC236}">
                <a16:creationId xmlns:a16="http://schemas.microsoft.com/office/drawing/2014/main" id="{0BB6FC8B-6ECA-77F8-21BB-D5CA95BAB140}"/>
              </a:ext>
            </a:extLst>
          </p:cNvPr>
          <p:cNvSpPr txBox="1"/>
          <p:nvPr/>
        </p:nvSpPr>
        <p:spPr>
          <a:xfrm>
            <a:off x="2101850" y="4936079"/>
            <a:ext cx="7988300" cy="789121"/>
          </a:xfrm>
          <a:prstGeom prst="roundRect">
            <a:avLst>
              <a:gd name="adj" fmla="val 416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7A7E85"/>
                </a:solidFill>
                <a:latin typeface="Consolas"/>
              </a:rPr>
              <a:t>// Le bouton </a:t>
            </a:r>
            <a:r>
              <a:rPr sz="1800" dirty="0" err="1">
                <a:solidFill>
                  <a:srgbClr val="7A7E85"/>
                </a:solidFill>
                <a:latin typeface="Consolas"/>
              </a:rPr>
              <a:t>recoit</a:t>
            </a:r>
            <a:r>
              <a:rPr sz="1800" dirty="0">
                <a:solidFill>
                  <a:srgbClr val="7A7E85"/>
                </a:solidFill>
                <a:latin typeface="Consolas"/>
              </a:rPr>
              <a:t> un </a:t>
            </a:r>
            <a:r>
              <a:rPr sz="1800" dirty="0" err="1">
                <a:solidFill>
                  <a:srgbClr val="7A7E85"/>
                </a:solidFill>
                <a:latin typeface="Consolas"/>
              </a:rPr>
              <a:t>objet</a:t>
            </a:r>
            <a:r>
              <a:rPr sz="1800" dirty="0">
                <a:solidFill>
                  <a:srgbClr val="7A7E85"/>
                </a:solidFill>
                <a:latin typeface="Consolas"/>
              </a:rPr>
              <a:t> qui </a:t>
            </a:r>
            <a:r>
              <a:rPr sz="1800" dirty="0" err="1">
                <a:solidFill>
                  <a:srgbClr val="7A7E85"/>
                </a:solidFill>
                <a:latin typeface="Consolas"/>
              </a:rPr>
              <a:t>implemente</a:t>
            </a:r>
            <a:r>
              <a:rPr sz="1800" dirty="0">
                <a:solidFill>
                  <a:srgbClr val="7A7E85"/>
                </a:solidFill>
                <a:latin typeface="Consolas"/>
              </a:rPr>
              <a:t> </a:t>
            </a:r>
            <a:r>
              <a:rPr sz="1800" dirty="0" err="1">
                <a:solidFill>
                  <a:srgbClr val="7A7E85"/>
                </a:solidFill>
                <a:latin typeface="Consolas"/>
              </a:rPr>
              <a:t>l'interface</a:t>
            </a:r>
            <a:endParaRPr sz="1800" dirty="0">
              <a:solidFill>
                <a:srgbClr val="7A7E85"/>
              </a:solidFill>
              <a:latin typeface="Consolas"/>
            </a:endParaRPr>
          </a:p>
          <a:p>
            <a:pPr>
              <a:lnSpc>
                <a:spcPct val="100000"/>
              </a:lnSpc>
              <a:spcBef>
                <a:spcPts val="0"/>
              </a:spcBef>
              <a:spcAft>
                <a:spcPts val="0"/>
              </a:spcAft>
            </a:pPr>
            <a:r>
              <a:rPr sz="1800" dirty="0" err="1">
                <a:solidFill>
                  <a:srgbClr val="BCBEC4"/>
                </a:solidFill>
                <a:latin typeface="Consolas"/>
              </a:rPr>
              <a:t>interrupteur.</a:t>
            </a:r>
            <a:r>
              <a:rPr sz="1800" dirty="0" err="1">
                <a:solidFill>
                  <a:srgbClr val="56A8F5"/>
                </a:solidFill>
                <a:latin typeface="Consolas"/>
              </a:rPr>
              <a:t>setOnAction</a:t>
            </a:r>
            <a:r>
              <a:rPr sz="1800" dirty="0">
                <a:solidFill>
                  <a:srgbClr val="BCBEC4"/>
                </a:solidFill>
                <a:latin typeface="Consolas"/>
              </a:rPr>
              <a:t>(</a:t>
            </a:r>
            <a:r>
              <a:rPr sz="1800" dirty="0" err="1">
                <a:solidFill>
                  <a:srgbClr val="BCBEC4"/>
                </a:solidFill>
                <a:latin typeface="Consolas"/>
              </a:rPr>
              <a:t>evenement</a:t>
            </a:r>
            <a:r>
              <a:rPr sz="1800" dirty="0">
                <a:solidFill>
                  <a:srgbClr val="BCBEC4"/>
                </a:solidFill>
                <a:latin typeface="Consolas"/>
              </a:rPr>
              <a:t> -&gt; </a:t>
            </a:r>
            <a:r>
              <a:rPr sz="1800" dirty="0" err="1">
                <a:solidFill>
                  <a:srgbClr val="56A8F5"/>
                </a:solidFill>
                <a:latin typeface="Consolas"/>
              </a:rPr>
              <a:t>basculer</a:t>
            </a:r>
            <a:r>
              <a:rPr sz="1800" dirty="0">
                <a:solidFill>
                  <a:srgbClr val="BCBEC4"/>
                </a:solidFill>
                <a:latin typeface="Consolas"/>
              </a:rPr>
              <a:t>());</a:t>
            </a:r>
          </a:p>
        </p:txBody>
      </p:sp>
      <p:pic>
        <p:nvPicPr>
          <p:cNvPr id="8" name="Image 7">
            <a:extLst>
              <a:ext uri="{FF2B5EF4-FFF2-40B4-BE49-F238E27FC236}">
                <a16:creationId xmlns:a16="http://schemas.microsoft.com/office/drawing/2014/main" id="{8A298BE7-26EE-6192-A68C-161BFFF746CD}"/>
              </a:ext>
            </a:extLst>
          </p:cNvPr>
          <p:cNvPicPr>
            <a:picLocks noChangeAspect="1"/>
          </p:cNvPicPr>
          <p:nvPr/>
        </p:nvPicPr>
        <p:blipFill>
          <a:blip r:embed="rId3"/>
          <a:stretch>
            <a:fillRect/>
          </a:stretch>
        </p:blipFill>
        <p:spPr>
          <a:xfrm>
            <a:off x="4519448" y="5873602"/>
            <a:ext cx="4623238" cy="66893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3400">
                <a:solidFill>
                  <a:schemeClr val="accent4"/>
                </a:solidFill>
                <a:latin typeface="Consolas"/>
              </a:rPr>
              <a:t>setOnAction</a:t>
            </a:r>
            <a:r>
              <a:rPr sz="4000"/>
              <a:t> n'est qu'un raccourci</a:t>
            </a:r>
          </a:p>
        </p:txBody>
      </p:sp>
      <p:sp>
        <p:nvSpPr>
          <p:cNvPr id="3" name="Content Placeholder 2"/>
          <p:cNvSpPr>
            <a:spLocks noGrp="1"/>
          </p:cNvSpPr>
          <p:nvPr>
            <p:ph idx="1"/>
          </p:nvPr>
        </p:nvSpPr>
        <p:spPr>
          <a:xfrm>
            <a:off x="640080" y="1371600"/>
            <a:ext cx="10881360" cy="1981199"/>
          </a:xfrm>
        </p:spPr>
        <p:txBody>
          <a:bodyPr/>
          <a:lstStyle/>
          <a:p>
            <a:pPr marL="0" indent="0">
              <a:spcAft>
                <a:spcPts val="1000"/>
              </a:spcAft>
              <a:buNone/>
            </a:pPr>
            <a:r>
              <a:rPr sz="2400"/>
              <a:t>La méthode </a:t>
            </a:r>
            <a:r>
              <a:rPr sz="2100">
                <a:solidFill>
                  <a:schemeClr val="accent4"/>
                </a:solidFill>
                <a:latin typeface="Consolas"/>
              </a:rPr>
              <a:t>addEventHandler</a:t>
            </a:r>
            <a:r>
              <a:rPr sz="2400"/>
              <a:t> nomme le type d'événement écouté</a:t>
            </a:r>
          </a:p>
          <a:p>
            <a:pPr marL="0" indent="0">
              <a:spcAft>
                <a:spcPts val="1000"/>
              </a:spcAft>
              <a:buNone/>
            </a:pPr>
            <a:r>
              <a:rPr sz="2400"/>
              <a:t>Les gestionnaires ajoutés s'additionnent</a:t>
            </a:r>
          </a:p>
          <a:p>
            <a:pPr marL="0" indent="0">
              <a:spcAft>
                <a:spcPts val="1000"/>
              </a:spcAft>
              <a:buNone/>
            </a:pPr>
            <a:r>
              <a:rPr sz="2400"/>
              <a:t>Pour en retirer un, </a:t>
            </a:r>
            <a:r>
              <a:rPr sz="2100">
                <a:solidFill>
                  <a:schemeClr val="accent4"/>
                </a:solidFill>
                <a:latin typeface="Consolas"/>
              </a:rPr>
              <a:t>removeEventHandler</a:t>
            </a:r>
            <a:r>
              <a:rPr sz="2400"/>
              <a:t> veut le même objet : on le range dans un champ</a:t>
            </a:r>
          </a:p>
        </p:txBody>
      </p:sp>
      <p:sp>
        <p:nvSpPr>
          <p:cNvPr id="4" name="Code"/>
          <p:cNvSpPr txBox="1"/>
          <p:nvPr/>
        </p:nvSpPr>
        <p:spPr>
          <a:xfrm>
            <a:off x="1644227" y="4272987"/>
            <a:ext cx="8873066" cy="1868321"/>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verrouiller</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interrupteur.</a:t>
            </a:r>
            <a:r>
              <a:rPr sz="1600" dirty="0" err="1">
                <a:solidFill>
                  <a:srgbClr val="56A8F5"/>
                </a:solidFill>
                <a:latin typeface="Consolas"/>
              </a:rPr>
              <a:t>removeEventHandler</a:t>
            </a:r>
            <a:r>
              <a:rPr sz="1600" dirty="0">
                <a:solidFill>
                  <a:srgbClr val="BCBEC4"/>
                </a:solidFill>
                <a:latin typeface="Consolas"/>
              </a:rPr>
              <a:t>(</a:t>
            </a:r>
            <a:r>
              <a:rPr sz="1600" dirty="0" err="1">
                <a:solidFill>
                  <a:srgbClr val="BCBEC4"/>
                </a:solidFill>
                <a:latin typeface="Consolas"/>
              </a:rPr>
              <a:t>ActionEvent.ACTION</a:t>
            </a:r>
            <a:r>
              <a:rPr sz="1600" dirty="0">
                <a:solidFill>
                  <a:srgbClr val="BCBEC4"/>
                </a:solidFill>
                <a:latin typeface="Consolas"/>
              </a:rPr>
              <a:t>, </a:t>
            </a:r>
            <a:r>
              <a:rPr sz="1600" dirty="0" err="1">
                <a:solidFill>
                  <a:srgbClr val="BCBEC4"/>
                </a:solidFill>
                <a:latin typeface="Consolas"/>
              </a:rPr>
              <a:t>basculement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p>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deverrouiller</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interrupteur.</a:t>
            </a:r>
            <a:r>
              <a:rPr sz="1600" dirty="0" err="1">
                <a:solidFill>
                  <a:srgbClr val="56A8F5"/>
                </a:solidFill>
                <a:latin typeface="Consolas"/>
              </a:rPr>
              <a:t>addEventHandler</a:t>
            </a:r>
            <a:r>
              <a:rPr sz="1600" dirty="0">
                <a:solidFill>
                  <a:srgbClr val="BCBEC4"/>
                </a:solidFill>
                <a:latin typeface="Consolas"/>
              </a:rPr>
              <a:t>(</a:t>
            </a:r>
            <a:r>
              <a:rPr sz="1600" dirty="0" err="1">
                <a:solidFill>
                  <a:srgbClr val="BCBEC4"/>
                </a:solidFill>
                <a:latin typeface="Consolas"/>
              </a:rPr>
              <a:t>ActionEvent.ACTION</a:t>
            </a:r>
            <a:r>
              <a:rPr sz="1600" dirty="0">
                <a:solidFill>
                  <a:srgbClr val="BCBEC4"/>
                </a:solidFill>
                <a:latin typeface="Consolas"/>
              </a:rPr>
              <a:t>, </a:t>
            </a:r>
            <a:r>
              <a:rPr sz="1600" dirty="0" err="1">
                <a:solidFill>
                  <a:srgbClr val="BCBEC4"/>
                </a:solidFill>
                <a:latin typeface="Consolas"/>
              </a:rPr>
              <a:t>basculement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17</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sp>
        <p:nvSpPr>
          <p:cNvPr id="7" name="Code">
            <a:extLst>
              <a:ext uri="{FF2B5EF4-FFF2-40B4-BE49-F238E27FC236}">
                <a16:creationId xmlns:a16="http://schemas.microsoft.com/office/drawing/2014/main" id="{4144715B-FEBE-52E5-24AC-51ECDDFF3375}"/>
              </a:ext>
            </a:extLst>
          </p:cNvPr>
          <p:cNvSpPr txBox="1"/>
          <p:nvPr/>
        </p:nvSpPr>
        <p:spPr>
          <a:xfrm>
            <a:off x="1644227" y="3429000"/>
            <a:ext cx="8873066" cy="695585"/>
          </a:xfrm>
          <a:prstGeom prst="roundRect">
            <a:avLst>
              <a:gd name="adj" fmla="val 3409"/>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final</a:t>
            </a:r>
            <a:r>
              <a:rPr sz="1600" dirty="0">
                <a:solidFill>
                  <a:srgbClr val="BCBEC4"/>
                </a:solidFill>
                <a:latin typeface="Consolas"/>
              </a:rPr>
              <a:t> </a:t>
            </a:r>
            <a:r>
              <a:rPr sz="1600" dirty="0" err="1">
                <a:solidFill>
                  <a:srgbClr val="BCBEC4"/>
                </a:solidFill>
                <a:latin typeface="Consolas"/>
              </a:rPr>
              <a:t>EventHandler</a:t>
            </a:r>
            <a:r>
              <a:rPr sz="1600" dirty="0">
                <a:solidFill>
                  <a:srgbClr val="BCBEC4"/>
                </a:solidFill>
                <a:latin typeface="Consolas"/>
              </a:rPr>
              <a:t>&lt;</a:t>
            </a:r>
            <a:r>
              <a:rPr sz="1600" dirty="0" err="1">
                <a:solidFill>
                  <a:srgbClr val="BCBEC4"/>
                </a:solidFill>
                <a:latin typeface="Consolas"/>
              </a:rPr>
              <a:t>ActionEvent</a:t>
            </a:r>
            <a:r>
              <a:rPr sz="1600" dirty="0">
                <a:solidFill>
                  <a:srgbClr val="BCBEC4"/>
                </a:solidFill>
                <a:latin typeface="Consolas"/>
              </a:rPr>
              <a:t>&gt; </a:t>
            </a:r>
            <a:r>
              <a:rPr sz="1600" dirty="0" err="1">
                <a:solidFill>
                  <a:srgbClr val="BCBEC4"/>
                </a:solidFill>
                <a:latin typeface="Consolas"/>
              </a:rPr>
              <a:t>basculement</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evenement</a:t>
            </a:r>
            <a:r>
              <a:rPr sz="1600" dirty="0">
                <a:solidFill>
                  <a:srgbClr val="BCBEC4"/>
                </a:solidFill>
                <a:latin typeface="Consolas"/>
              </a:rPr>
              <a:t> -&gt; </a:t>
            </a:r>
            <a:r>
              <a:rPr sz="1600" dirty="0" err="1">
                <a:solidFill>
                  <a:srgbClr val="56A8F5"/>
                </a:solidFill>
                <a:latin typeface="Consolas"/>
              </a:rPr>
              <a:t>basculer</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pic>
        <p:nvPicPr>
          <p:cNvPr id="12" name="Picture 11" descr="image.png"/>
          <p:cNvPicPr>
            <a:picLocks noChangeAspect="1"/>
          </p:cNvPicPr>
          <p:nvPr/>
        </p:nvPicPr>
        <p:blipFill>
          <a:blip r:embed="rId3"/>
          <a:stretch>
            <a:fillRect/>
          </a:stretch>
        </p:blipFill>
        <p:spPr>
          <a:xfrm>
            <a:off x="10332720" y="475488"/>
            <a:ext cx="1280160" cy="1280160"/>
          </a:xfrm>
          <a:prstGeom prst="rect">
            <a:avLst/>
          </a:prstGeom>
        </p:spPr>
      </p:pic>
      <p:sp>
        <p:nvSpPr>
          <p:cNvPr id="3"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18</a:t>
            </a:fld>
            <a:endParaRPr lang="fr-FR"/>
          </a:p>
        </p:txBody>
      </p:sp>
      <p:sp>
        <p:nvSpPr>
          <p:cNvPr id="13"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3. Les gestionnaires</a:t>
            </a:r>
          </a:p>
        </p:txBody>
      </p:sp>
      <p:grpSp>
        <p:nvGrpSpPr>
          <p:cNvPr id="18" name="Exercice 1"/>
          <p:cNvGrpSpPr/>
          <p:nvPr/>
        </p:nvGrpSpPr>
        <p:grpSpPr>
          <a:xfrm>
            <a:off x="640080" y="1417320"/>
            <a:ext cx="9326880" cy="960120"/>
            <a:chOff x="640080" y="1417320"/>
            <a:chExt cx="9326880" cy="960120"/>
          </a:xfrm>
        </p:grpSpPr>
        <p:sp>
          <p:nvSpPr>
            <p:cNvPr id="14"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FX.1</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compteur de participants</a:t>
              </a:r>
            </a:p>
            <a:p>
              <a:r>
                <a:rPr sz="1400">
                  <a:solidFill>
                    <a:srgbClr val="BCBEC4"/>
                  </a:solidFill>
                </a:rPr>
                <a:t>fascicule FX</a:t>
              </a:r>
            </a:p>
          </p:txBody>
        </p:sp>
      </p:grpSp>
      <p:grpSp>
        <p:nvGrpSpPr>
          <p:cNvPr id="19" name="Exercice 2"/>
          <p:cNvGrpSpPr/>
          <p:nvPr/>
        </p:nvGrpSpPr>
        <p:grpSpPr>
          <a:xfrm>
            <a:off x="640080" y="2560320"/>
            <a:ext cx="9326880" cy="960120"/>
            <a:chOff x="640080" y="2560320"/>
            <a:chExt cx="9326880" cy="960120"/>
          </a:xfrm>
        </p:grpSpPr>
        <p:sp>
          <p:nvSpPr>
            <p:cNvPr id="6" name="Rounded Rectangle 5"/>
            <p:cNvSpPr/>
            <p:nvPr/>
          </p:nvSpPr>
          <p:spPr>
            <a:xfrm>
              <a:off x="640080" y="2560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68680" y="2560320"/>
              <a:ext cx="1920240" cy="960120"/>
            </a:xfrm>
            <a:prstGeom prst="rect">
              <a:avLst/>
            </a:prstGeom>
            <a:noFill/>
          </p:spPr>
          <p:txBody>
            <a:bodyPr wrap="none" anchor="ctr">
              <a:spAutoFit/>
            </a:bodyPr>
            <a:lstStyle/>
            <a:p>
              <a:r>
                <a:rPr sz="3000" b="1">
                  <a:solidFill>
                    <a:schemeClr val="accent4"/>
                  </a:solidFill>
                  <a:latin typeface="Consolas"/>
                </a:rPr>
                <a:t>FX.2</a:t>
              </a:r>
            </a:p>
          </p:txBody>
        </p:sp>
        <p:sp>
          <p:nvSpPr>
            <p:cNvPr id="8" name="TextBox 7"/>
            <p:cNvSpPr txBox="1"/>
            <p:nvPr/>
          </p:nvSpPr>
          <p:spPr>
            <a:xfrm>
              <a:off x="2880360" y="2560320"/>
              <a:ext cx="6949440" cy="960120"/>
            </a:xfrm>
            <a:prstGeom prst="rect">
              <a:avLst/>
            </a:prstGeom>
            <a:noFill/>
          </p:spPr>
          <p:txBody>
            <a:bodyPr wrap="square" anchor="ctr">
              <a:spAutoFit/>
            </a:bodyPr>
            <a:lstStyle/>
            <a:p>
              <a:r>
                <a:rPr sz="2800">
                  <a:solidFill>
                    <a:srgbClr val="FFFFFF"/>
                  </a:solidFill>
                </a:rPr>
                <a:t>Un bouton Reset</a:t>
              </a:r>
            </a:p>
            <a:p>
              <a:r>
                <a:rPr sz="1400">
                  <a:solidFill>
                    <a:srgbClr val="BCBEC4"/>
                  </a:solidFill>
                </a:rPr>
                <a:t>fascicule FX</a:t>
              </a:r>
            </a:p>
          </p:txBody>
        </p:sp>
      </p:grpSp>
      <p:grpSp>
        <p:nvGrpSpPr>
          <p:cNvPr id="20" name="Exercice 3"/>
          <p:cNvGrpSpPr/>
          <p:nvPr/>
        </p:nvGrpSpPr>
        <p:grpSpPr>
          <a:xfrm>
            <a:off x="640080" y="3703320"/>
            <a:ext cx="9326880" cy="960120"/>
            <a:chOff x="640080" y="3703320"/>
            <a:chExt cx="9326880" cy="960120"/>
          </a:xfrm>
        </p:grpSpPr>
        <p:sp>
          <p:nvSpPr>
            <p:cNvPr id="9" name="Rounded Rectangle 8"/>
            <p:cNvSpPr/>
            <p:nvPr/>
          </p:nvSpPr>
          <p:spPr>
            <a:xfrm>
              <a:off x="640080" y="3703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68680" y="3703320"/>
              <a:ext cx="1920240" cy="960120"/>
            </a:xfrm>
            <a:prstGeom prst="rect">
              <a:avLst/>
            </a:prstGeom>
            <a:noFill/>
          </p:spPr>
          <p:txBody>
            <a:bodyPr wrap="none" anchor="ctr">
              <a:spAutoFit/>
            </a:bodyPr>
            <a:lstStyle/>
            <a:p>
              <a:r>
                <a:rPr sz="3000" b="1">
                  <a:solidFill>
                    <a:schemeClr val="accent4"/>
                  </a:solidFill>
                  <a:latin typeface="Consolas"/>
                </a:rPr>
                <a:t>FX.3</a:t>
              </a:r>
            </a:p>
          </p:txBody>
        </p:sp>
        <p:sp>
          <p:nvSpPr>
            <p:cNvPr id="11" name="TextBox 10"/>
            <p:cNvSpPr txBox="1"/>
            <p:nvPr/>
          </p:nvSpPr>
          <p:spPr>
            <a:xfrm>
              <a:off x="2880360" y="3703320"/>
              <a:ext cx="6949440" cy="960120"/>
            </a:xfrm>
            <a:prstGeom prst="rect">
              <a:avLst/>
            </a:prstGeom>
            <a:noFill/>
          </p:spPr>
          <p:txBody>
            <a:bodyPr wrap="square" anchor="ctr">
              <a:spAutoFit/>
            </a:bodyPr>
            <a:lstStyle/>
            <a:p>
              <a:r>
                <a:rPr sz="2400">
                  <a:solidFill>
                    <a:srgbClr val="FFFFFF"/>
                  </a:solidFill>
                </a:rPr>
                <a:t>Deux compteurs, et une mise en page</a:t>
              </a:r>
            </a:p>
            <a:p>
              <a:r>
                <a:rPr sz="1400">
                  <a:solidFill>
                    <a:srgbClr val="BCBEC4"/>
                  </a:solidFill>
                </a:rPr>
                <a:t>fascicule FX</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wipe(left)">
                                      <p:cBhvr>
                                        <p:cTn id="7" dur="5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wipe(left)">
                                      <p:cBhvr>
                                        <p:cTn id="12" dur="5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wipe(left)">
                                      <p:cBhvr>
                                        <p:cTn id="17"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4.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9840447"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4. Ce que dit un événement</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Une touche frappée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20</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Ce que transporte un événement</a:t>
            </a:r>
          </a:p>
        </p:txBody>
      </p:sp>
      <p:sp>
        <p:nvSpPr>
          <p:cNvPr id="3" name="Content Placeholder 2"/>
          <p:cNvSpPr>
            <a:spLocks noGrp="1"/>
          </p:cNvSpPr>
          <p:nvPr>
            <p:ph idx="1"/>
          </p:nvPr>
        </p:nvSpPr>
        <p:spPr>
          <a:xfrm>
            <a:off x="640080" y="1371600"/>
            <a:ext cx="10881360" cy="2473959"/>
          </a:xfrm>
        </p:spPr>
        <p:txBody>
          <a:bodyPr/>
          <a:lstStyle/>
          <a:p>
            <a:pPr marL="0" indent="0">
              <a:spcAft>
                <a:spcPts val="1000"/>
              </a:spcAft>
              <a:buNone/>
            </a:pPr>
            <a:r>
              <a:rPr sz="2400"/>
              <a:t>Le gestionnaire reçoit l'événement en paramètre</a:t>
            </a:r>
          </a:p>
          <a:p>
            <a:pPr marL="0" indent="0">
              <a:spcAft>
                <a:spcPts val="1000"/>
              </a:spcAft>
              <a:buNone/>
            </a:pPr>
            <a:r>
              <a:rPr sz="2400"/>
              <a:t>La méthode </a:t>
            </a:r>
            <a:r>
              <a:rPr sz="2100">
                <a:solidFill>
                  <a:schemeClr val="accent4"/>
                </a:solidFill>
                <a:latin typeface="Consolas"/>
              </a:rPr>
              <a:t>getSource</a:t>
            </a:r>
            <a:r>
              <a:rPr sz="2400"/>
              <a:t> retourne le composant dont le gestionnaire s'exécute</a:t>
            </a:r>
          </a:p>
          <a:p>
            <a:pPr marL="0" indent="0">
              <a:spcAft>
                <a:spcPts val="1000"/>
              </a:spcAft>
              <a:buNone/>
            </a:pPr>
            <a:r>
              <a:rPr sz="2400"/>
              <a:t>La méthode </a:t>
            </a:r>
            <a:r>
              <a:rPr sz="2100">
                <a:solidFill>
                  <a:schemeClr val="accent4"/>
                </a:solidFill>
                <a:latin typeface="Consolas"/>
              </a:rPr>
              <a:t>getEventType</a:t>
            </a:r>
            <a:r>
              <a:rPr sz="2400"/>
              <a:t> dit ce qui s'est passé</a:t>
            </a:r>
          </a:p>
          <a:p>
            <a:pPr marL="0" indent="0">
              <a:spcAft>
                <a:spcPts val="1000"/>
              </a:spcAft>
              <a:buNone/>
            </a:pPr>
            <a:r>
              <a:rPr sz="2400"/>
              <a:t>Un même gestionnaire peut alors servir à plusieurs composants</a:t>
            </a:r>
          </a:p>
        </p:txBody>
      </p:sp>
      <p:sp>
        <p:nvSpPr>
          <p:cNvPr id="4" name="Code"/>
          <p:cNvSpPr txBox="1"/>
          <p:nvPr/>
        </p:nvSpPr>
        <p:spPr>
          <a:xfrm>
            <a:off x="2203027" y="4852032"/>
            <a:ext cx="7755465" cy="1201927"/>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CF8E6D"/>
                </a:solidFill>
                <a:latin typeface="Consolas"/>
              </a:rPr>
              <a:t>private</a:t>
            </a:r>
            <a:r>
              <a:rPr sz="1600" dirty="0">
                <a:solidFill>
                  <a:srgbClr val="BCBEC4"/>
                </a:solidFill>
                <a:latin typeface="Consolas"/>
              </a:rPr>
              <a:t> </a:t>
            </a:r>
            <a:r>
              <a:rPr sz="1600" dirty="0">
                <a:solidFill>
                  <a:srgbClr val="CF8E6D"/>
                </a:solidFill>
                <a:latin typeface="Consolas"/>
              </a:rPr>
              <a:t>void</a:t>
            </a:r>
            <a:r>
              <a:rPr sz="1600" dirty="0">
                <a:solidFill>
                  <a:srgbClr val="BCBEC4"/>
                </a:solidFill>
                <a:latin typeface="Consolas"/>
              </a:rPr>
              <a:t> </a:t>
            </a:r>
            <a:r>
              <a:rPr sz="1600" dirty="0" err="1">
                <a:solidFill>
                  <a:srgbClr val="56A8F5"/>
                </a:solidFill>
                <a:latin typeface="Consolas"/>
              </a:rPr>
              <a:t>noterBouton</a:t>
            </a:r>
            <a:r>
              <a:rPr sz="1600" dirty="0">
                <a:solidFill>
                  <a:srgbClr val="BCBEC4"/>
                </a:solidFill>
                <a:latin typeface="Consolas"/>
              </a:rPr>
              <a:t>(</a:t>
            </a:r>
            <a:r>
              <a:rPr sz="1600" dirty="0" err="1">
                <a:solidFill>
                  <a:srgbClr val="BCBEC4"/>
                </a:solidFill>
                <a:latin typeface="Consolas"/>
              </a:rPr>
              <a:t>ActionEvent</a:t>
            </a:r>
            <a:r>
              <a:rPr sz="1600" dirty="0">
                <a:solidFill>
                  <a:srgbClr val="BCBEC4"/>
                </a:solidFill>
                <a:latin typeface="Consolas"/>
              </a:rPr>
              <a:t> </a:t>
            </a:r>
            <a:r>
              <a:rPr sz="1600" dirty="0" err="1">
                <a:solidFill>
                  <a:srgbClr val="BCBEC4"/>
                </a:solidFill>
                <a:latin typeface="Consolas"/>
              </a:rPr>
              <a:t>evenement</a:t>
            </a:r>
            <a:r>
              <a:rPr sz="1600" dirty="0">
                <a:solidFill>
                  <a:srgbClr val="BCBEC4"/>
                </a:solidFill>
                <a:latin typeface="Consolas"/>
              </a:rPr>
              <a:t>) {</a:t>
            </a:r>
          </a:p>
          <a:p>
            <a:pPr>
              <a:lnSpc>
                <a:spcPct val="100000"/>
              </a:lnSpc>
              <a:spcBef>
                <a:spcPts val="0"/>
              </a:spcBef>
              <a:spcAft>
                <a:spcPts val="0"/>
              </a:spcAft>
            </a:pPr>
            <a:r>
              <a:rPr sz="1600" dirty="0">
                <a:solidFill>
                  <a:srgbClr val="BCBEC4"/>
                </a:solidFill>
                <a:latin typeface="Consolas"/>
              </a:rPr>
              <a:t>    Button </a:t>
            </a:r>
            <a:r>
              <a:rPr sz="1600" dirty="0" err="1">
                <a:solidFill>
                  <a:srgbClr val="BCBEC4"/>
                </a:solidFill>
                <a:latin typeface="Consolas"/>
              </a:rPr>
              <a:t>presse</a:t>
            </a:r>
            <a:r>
              <a:rPr sz="1600" dirty="0">
                <a:solidFill>
                  <a:srgbClr val="BCBEC4"/>
                </a:solidFill>
                <a:latin typeface="Consolas"/>
              </a:rPr>
              <a:t> = (Button) </a:t>
            </a:r>
            <a:r>
              <a:rPr sz="1600" dirty="0" err="1">
                <a:solidFill>
                  <a:srgbClr val="BCBEC4"/>
                </a:solidFill>
                <a:latin typeface="Consolas"/>
              </a:rPr>
              <a:t>evenement.</a:t>
            </a:r>
            <a:r>
              <a:rPr sz="1600" dirty="0" err="1">
                <a:solidFill>
                  <a:srgbClr val="56A8F5"/>
                </a:solidFill>
                <a:latin typeface="Consolas"/>
              </a:rPr>
              <a:t>getSource</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    </a:t>
            </a:r>
            <a:r>
              <a:rPr sz="1600" dirty="0" err="1">
                <a:solidFill>
                  <a:srgbClr val="BCBEC4"/>
                </a:solidFill>
                <a:latin typeface="Consolas"/>
              </a:rPr>
              <a:t>journal.</a:t>
            </a:r>
            <a:r>
              <a:rPr sz="1600" dirty="0" err="1">
                <a:solidFill>
                  <a:srgbClr val="56A8F5"/>
                </a:solidFill>
                <a:latin typeface="Consolas"/>
              </a:rPr>
              <a:t>setText</a:t>
            </a:r>
            <a:r>
              <a:rPr sz="1600" dirty="0">
                <a:solidFill>
                  <a:srgbClr val="BCBEC4"/>
                </a:solidFill>
                <a:latin typeface="Consolas"/>
              </a:rPr>
              <a:t>(</a:t>
            </a:r>
            <a:r>
              <a:rPr sz="1600" dirty="0">
                <a:solidFill>
                  <a:srgbClr val="6AAB73"/>
                </a:solidFill>
                <a:latin typeface="Consolas"/>
              </a:rPr>
              <a:t>"Dernier bouton : "</a:t>
            </a:r>
            <a:r>
              <a:rPr sz="1600" dirty="0">
                <a:solidFill>
                  <a:srgbClr val="BCBEC4"/>
                </a:solidFill>
                <a:latin typeface="Consolas"/>
              </a:rPr>
              <a:t> + </a:t>
            </a:r>
            <a:r>
              <a:rPr sz="1600" dirty="0" err="1">
                <a:solidFill>
                  <a:srgbClr val="BCBEC4"/>
                </a:solidFill>
                <a:latin typeface="Consolas"/>
              </a:rPr>
              <a:t>presse.</a:t>
            </a:r>
            <a:r>
              <a:rPr sz="1600" dirty="0" err="1">
                <a:solidFill>
                  <a:srgbClr val="56A8F5"/>
                </a:solidFill>
                <a:latin typeface="Consolas"/>
              </a:rPr>
              <a:t>getText</a:t>
            </a:r>
            <a:r>
              <a:rPr sz="1600" dirty="0">
                <a:solidFill>
                  <a:srgbClr val="BCBEC4"/>
                </a:solidFill>
                <a:latin typeface="Consolas"/>
              </a:rPr>
              <a:t>());</a:t>
            </a:r>
          </a:p>
          <a:p>
            <a:pPr>
              <a:lnSpc>
                <a:spcPct val="100000"/>
              </a:lnSpc>
              <a:spcBef>
                <a:spcPts val="0"/>
              </a:spcBef>
              <a:spcAft>
                <a:spcPts val="0"/>
              </a:spcAft>
            </a:pPr>
            <a:r>
              <a:rPr sz="16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21</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
        <p:nvSpPr>
          <p:cNvPr id="7" name="Code">
            <a:extLst>
              <a:ext uri="{FF2B5EF4-FFF2-40B4-BE49-F238E27FC236}">
                <a16:creationId xmlns:a16="http://schemas.microsoft.com/office/drawing/2014/main" id="{1A4F9E56-039E-B838-5028-6B374826D936}"/>
              </a:ext>
            </a:extLst>
          </p:cNvPr>
          <p:cNvSpPr txBox="1"/>
          <p:nvPr/>
        </p:nvSpPr>
        <p:spPr>
          <a:xfrm>
            <a:off x="2203027" y="3759576"/>
            <a:ext cx="7755465" cy="949058"/>
          </a:xfrm>
          <a:prstGeom prst="roundRect">
            <a:avLst>
              <a:gd name="adj" fmla="val 4176"/>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600" dirty="0">
                <a:solidFill>
                  <a:srgbClr val="7A7E85"/>
                </a:solidFill>
                <a:latin typeface="Consolas"/>
              </a:rPr>
              <a:t>// dans start</a:t>
            </a:r>
          </a:p>
          <a:p>
            <a:pPr>
              <a:lnSpc>
                <a:spcPct val="100000"/>
              </a:lnSpc>
              <a:spcBef>
                <a:spcPts val="0"/>
              </a:spcBef>
              <a:spcAft>
                <a:spcPts val="0"/>
              </a:spcAft>
            </a:pPr>
            <a:r>
              <a:rPr sz="1600" dirty="0" err="1">
                <a:solidFill>
                  <a:srgbClr val="BCBEC4"/>
                </a:solidFill>
                <a:latin typeface="Consolas"/>
              </a:rPr>
              <a:t>allumer.</a:t>
            </a:r>
            <a:r>
              <a:rPr sz="1600" dirty="0" err="1">
                <a:solidFill>
                  <a:srgbClr val="56A8F5"/>
                </a:solidFill>
                <a:latin typeface="Consolas"/>
              </a:rPr>
              <a:t>setOnAction</a:t>
            </a:r>
            <a:r>
              <a:rPr sz="1600" dirty="0">
                <a:solidFill>
                  <a:srgbClr val="BCBEC4"/>
                </a:solidFill>
                <a:latin typeface="Consolas"/>
              </a:rPr>
              <a:t>(</a:t>
            </a:r>
            <a:r>
              <a:rPr sz="1600" dirty="0">
                <a:solidFill>
                  <a:srgbClr val="CF8E6D"/>
                </a:solidFill>
                <a:latin typeface="Consolas"/>
              </a:rPr>
              <a:t>this</a:t>
            </a:r>
            <a:r>
              <a:rPr sz="1600" dirty="0">
                <a:solidFill>
                  <a:srgbClr val="BCBEC4"/>
                </a:solidFill>
                <a:latin typeface="Consolas"/>
              </a:rPr>
              <a:t>::</a:t>
            </a:r>
            <a:r>
              <a:rPr sz="1600" dirty="0" err="1">
                <a:solidFill>
                  <a:srgbClr val="BCBEC4"/>
                </a:solidFill>
                <a:latin typeface="Consolas"/>
              </a:rPr>
              <a:t>noterBouton</a:t>
            </a:r>
            <a:r>
              <a:rPr sz="1600" dirty="0">
                <a:solidFill>
                  <a:srgbClr val="BCBEC4"/>
                </a:solidFill>
                <a:latin typeface="Consolas"/>
              </a:rPr>
              <a:t>);</a:t>
            </a:r>
          </a:p>
          <a:p>
            <a:pPr>
              <a:lnSpc>
                <a:spcPct val="100000"/>
              </a:lnSpc>
              <a:spcBef>
                <a:spcPts val="0"/>
              </a:spcBef>
              <a:spcAft>
                <a:spcPts val="0"/>
              </a:spcAft>
            </a:pPr>
            <a:r>
              <a:rPr sz="1600" dirty="0" err="1">
                <a:solidFill>
                  <a:srgbClr val="BCBEC4"/>
                </a:solidFill>
                <a:latin typeface="Consolas"/>
              </a:rPr>
              <a:t>eteindre.</a:t>
            </a:r>
            <a:r>
              <a:rPr sz="1600" dirty="0" err="1">
                <a:solidFill>
                  <a:srgbClr val="56A8F5"/>
                </a:solidFill>
                <a:latin typeface="Consolas"/>
              </a:rPr>
              <a:t>setOnAction</a:t>
            </a:r>
            <a:r>
              <a:rPr sz="1600" dirty="0">
                <a:solidFill>
                  <a:srgbClr val="BCBEC4"/>
                </a:solidFill>
                <a:latin typeface="Consolas"/>
              </a:rPr>
              <a:t>(</a:t>
            </a:r>
            <a:r>
              <a:rPr sz="1600" dirty="0">
                <a:solidFill>
                  <a:srgbClr val="CF8E6D"/>
                </a:solidFill>
                <a:latin typeface="Consolas"/>
              </a:rPr>
              <a:t>this</a:t>
            </a:r>
            <a:r>
              <a:rPr sz="1600" dirty="0">
                <a:solidFill>
                  <a:srgbClr val="BCBEC4"/>
                </a:solidFill>
                <a:latin typeface="Consolas"/>
              </a:rPr>
              <a:t>::</a:t>
            </a:r>
            <a:r>
              <a:rPr sz="1600" dirty="0" err="1">
                <a:solidFill>
                  <a:srgbClr val="BCBEC4"/>
                </a:solidFill>
                <a:latin typeface="Consolas"/>
              </a:rPr>
              <a:t>noterBouton</a:t>
            </a:r>
            <a:r>
              <a:rPr sz="1600" dirty="0">
                <a:solidFill>
                  <a:srgbClr val="BCBEC4"/>
                </a:solidFill>
                <a:latin typeface="Consolas"/>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Les familles d'événements</a:t>
            </a:r>
          </a:p>
        </p:txBody>
      </p:sp>
      <p:sp>
        <p:nvSpPr>
          <p:cNvPr id="3" name="TextBox 2"/>
          <p:cNvSpPr txBox="1"/>
          <p:nvPr/>
        </p:nvSpPr>
        <p:spPr>
          <a:xfrm>
            <a:off x="777240" y="1371600"/>
            <a:ext cx="2072640" cy="585216"/>
          </a:xfrm>
          <a:prstGeom prst="rect">
            <a:avLst/>
          </a:prstGeom>
          <a:noFill/>
        </p:spPr>
        <p:txBody>
          <a:bodyPr wrap="square" anchor="ctr">
            <a:spAutoFit/>
          </a:bodyPr>
          <a:lstStyle/>
          <a:p>
            <a:r>
              <a:rPr sz="2000" b="1">
                <a:solidFill>
                  <a:schemeClr val="accent4"/>
                </a:solidFill>
              </a:rPr>
              <a:t>Classe</a:t>
            </a:r>
          </a:p>
        </p:txBody>
      </p:sp>
      <p:sp>
        <p:nvSpPr>
          <p:cNvPr id="4" name="TextBox 3"/>
          <p:cNvSpPr txBox="1"/>
          <p:nvPr/>
        </p:nvSpPr>
        <p:spPr>
          <a:xfrm>
            <a:off x="3124200" y="1371600"/>
            <a:ext cx="3566159" cy="585216"/>
          </a:xfrm>
          <a:prstGeom prst="rect">
            <a:avLst/>
          </a:prstGeom>
          <a:noFill/>
        </p:spPr>
        <p:txBody>
          <a:bodyPr wrap="square" anchor="ctr">
            <a:spAutoFit/>
          </a:bodyPr>
          <a:lstStyle/>
          <a:p>
            <a:r>
              <a:rPr sz="2000" b="1">
                <a:solidFill>
                  <a:schemeClr val="accent4"/>
                </a:solidFill>
              </a:rPr>
              <a:t>Produit par</a:t>
            </a:r>
          </a:p>
        </p:txBody>
      </p:sp>
      <p:sp>
        <p:nvSpPr>
          <p:cNvPr id="5" name="TextBox 4"/>
          <p:cNvSpPr txBox="1"/>
          <p:nvPr/>
        </p:nvSpPr>
        <p:spPr>
          <a:xfrm>
            <a:off x="6964680" y="1371600"/>
            <a:ext cx="4419600" cy="585216"/>
          </a:xfrm>
          <a:prstGeom prst="rect">
            <a:avLst/>
          </a:prstGeom>
          <a:noFill/>
        </p:spPr>
        <p:txBody>
          <a:bodyPr wrap="square" anchor="ctr">
            <a:spAutoFit/>
          </a:bodyPr>
          <a:lstStyle/>
          <a:p>
            <a:r>
              <a:rPr sz="2000" b="1">
                <a:solidFill>
                  <a:schemeClr val="accent4"/>
                </a:solidFill>
              </a:rPr>
              <a:t>Types utiles ici</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22</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2072640" cy="585216"/>
            </a:xfrm>
            <a:prstGeom prst="rect">
              <a:avLst/>
            </a:prstGeom>
            <a:noFill/>
          </p:spPr>
          <p:txBody>
            <a:bodyPr wrap="square" anchor="ctr">
              <a:spAutoFit/>
            </a:bodyPr>
            <a:lstStyle/>
            <a:p>
              <a:r>
                <a:rPr sz="1900">
                  <a:solidFill>
                    <a:schemeClr val="accent4"/>
                  </a:solidFill>
                  <a:latin typeface="Consolas"/>
                </a:rPr>
                <a:t>ActionEvent</a:t>
              </a:r>
            </a:p>
          </p:txBody>
        </p:sp>
        <p:sp>
          <p:nvSpPr>
            <p:cNvPr id="8" name="TextBox 7"/>
            <p:cNvSpPr txBox="1"/>
            <p:nvPr/>
          </p:nvSpPr>
          <p:spPr>
            <a:xfrm>
              <a:off x="3124200" y="2029967"/>
              <a:ext cx="3566159" cy="585216"/>
            </a:xfrm>
            <a:prstGeom prst="rect">
              <a:avLst/>
            </a:prstGeom>
            <a:noFill/>
          </p:spPr>
          <p:txBody>
            <a:bodyPr wrap="square" anchor="ctr">
              <a:spAutoFit/>
            </a:bodyPr>
            <a:lstStyle/>
            <a:p>
              <a:r>
                <a:rPr sz="2200">
                  <a:solidFill>
                    <a:srgbClr val="FFFFFF"/>
                  </a:solidFill>
                </a:rPr>
                <a:t>un bouton actionné</a:t>
              </a:r>
            </a:p>
          </p:txBody>
        </p:sp>
        <p:sp>
          <p:nvSpPr>
            <p:cNvPr id="9" name="TextBox 8"/>
            <p:cNvSpPr txBox="1"/>
            <p:nvPr/>
          </p:nvSpPr>
          <p:spPr>
            <a:xfrm>
              <a:off x="6964680" y="2029967"/>
              <a:ext cx="4419600" cy="585216"/>
            </a:xfrm>
            <a:prstGeom prst="rect">
              <a:avLst/>
            </a:prstGeom>
            <a:noFill/>
          </p:spPr>
          <p:txBody>
            <a:bodyPr wrap="square" anchor="ctr">
              <a:spAutoFit/>
            </a:bodyPr>
            <a:lstStyle/>
            <a:p>
              <a:r>
                <a:rPr sz="1900">
                  <a:solidFill>
                    <a:schemeClr val="accent4"/>
                  </a:solidFill>
                  <a:latin typeface="Consolas"/>
                </a:rPr>
                <a:t>ACTION</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2072640" cy="585216"/>
            </a:xfrm>
            <a:prstGeom prst="rect">
              <a:avLst/>
            </a:prstGeom>
            <a:noFill/>
          </p:spPr>
          <p:txBody>
            <a:bodyPr wrap="square" anchor="ctr">
              <a:spAutoFit/>
            </a:bodyPr>
            <a:lstStyle/>
            <a:p>
              <a:r>
                <a:rPr sz="1900">
                  <a:solidFill>
                    <a:schemeClr val="accent4"/>
                  </a:solidFill>
                  <a:latin typeface="Consolas"/>
                </a:rPr>
                <a:t>KeyEvent</a:t>
              </a:r>
            </a:p>
          </p:txBody>
        </p:sp>
        <p:sp>
          <p:nvSpPr>
            <p:cNvPr id="12" name="TextBox 11"/>
            <p:cNvSpPr txBox="1"/>
            <p:nvPr/>
          </p:nvSpPr>
          <p:spPr>
            <a:xfrm>
              <a:off x="3124200" y="2688335"/>
              <a:ext cx="3566159" cy="585216"/>
            </a:xfrm>
            <a:prstGeom prst="rect">
              <a:avLst/>
            </a:prstGeom>
            <a:noFill/>
          </p:spPr>
          <p:txBody>
            <a:bodyPr wrap="square" anchor="ctr">
              <a:spAutoFit/>
            </a:bodyPr>
            <a:lstStyle/>
            <a:p>
              <a:r>
                <a:rPr sz="2200">
                  <a:solidFill>
                    <a:srgbClr val="FFFFFF"/>
                  </a:solidFill>
                </a:rPr>
                <a:t>le clavier</a:t>
              </a:r>
            </a:p>
          </p:txBody>
        </p:sp>
        <p:sp>
          <p:nvSpPr>
            <p:cNvPr id="13" name="TextBox 12"/>
            <p:cNvSpPr txBox="1"/>
            <p:nvPr/>
          </p:nvSpPr>
          <p:spPr>
            <a:xfrm>
              <a:off x="6964680" y="2688335"/>
              <a:ext cx="4419600" cy="585216"/>
            </a:xfrm>
            <a:prstGeom prst="rect">
              <a:avLst/>
            </a:prstGeom>
            <a:noFill/>
          </p:spPr>
          <p:txBody>
            <a:bodyPr wrap="square" anchor="ctr">
              <a:spAutoFit/>
            </a:bodyPr>
            <a:lstStyle/>
            <a:p>
              <a:r>
                <a:rPr sz="1900">
                  <a:solidFill>
                    <a:schemeClr val="accent4"/>
                  </a:solidFill>
                  <a:latin typeface="Consolas"/>
                </a:rPr>
                <a:t>KEY_PRESSED</a:t>
              </a:r>
              <a:r>
                <a:rPr sz="2200">
                  <a:solidFill>
                    <a:srgbClr val="FFFFFF"/>
                  </a:solidFill>
                </a:rPr>
                <a:t>, </a:t>
              </a:r>
              <a:r>
                <a:rPr sz="1900">
                  <a:solidFill>
                    <a:schemeClr val="accent4"/>
                  </a:solidFill>
                  <a:latin typeface="Consolas"/>
                </a:rPr>
                <a:t>KEY_TYPED</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2072640" cy="585216"/>
            </a:xfrm>
            <a:prstGeom prst="rect">
              <a:avLst/>
            </a:prstGeom>
            <a:noFill/>
          </p:spPr>
          <p:txBody>
            <a:bodyPr wrap="square" anchor="ctr">
              <a:spAutoFit/>
            </a:bodyPr>
            <a:lstStyle/>
            <a:p>
              <a:r>
                <a:rPr sz="1900">
                  <a:solidFill>
                    <a:schemeClr val="accent4"/>
                  </a:solidFill>
                  <a:latin typeface="Consolas"/>
                </a:rPr>
                <a:t>MouseEvent</a:t>
              </a:r>
            </a:p>
          </p:txBody>
        </p:sp>
        <p:sp>
          <p:nvSpPr>
            <p:cNvPr id="16" name="TextBox 15"/>
            <p:cNvSpPr txBox="1"/>
            <p:nvPr/>
          </p:nvSpPr>
          <p:spPr>
            <a:xfrm>
              <a:off x="3124200" y="3346703"/>
              <a:ext cx="3566159" cy="585216"/>
            </a:xfrm>
            <a:prstGeom prst="rect">
              <a:avLst/>
            </a:prstGeom>
            <a:noFill/>
          </p:spPr>
          <p:txBody>
            <a:bodyPr wrap="square" anchor="ctr">
              <a:spAutoFit/>
            </a:bodyPr>
            <a:lstStyle/>
            <a:p>
              <a:r>
                <a:rPr sz="2200">
                  <a:solidFill>
                    <a:srgbClr val="FFFFFF"/>
                  </a:solidFill>
                </a:rPr>
                <a:t>la souris</a:t>
              </a:r>
            </a:p>
          </p:txBody>
        </p:sp>
        <p:sp>
          <p:nvSpPr>
            <p:cNvPr id="17" name="TextBox 16"/>
            <p:cNvSpPr txBox="1"/>
            <p:nvPr/>
          </p:nvSpPr>
          <p:spPr>
            <a:xfrm>
              <a:off x="6964680" y="3346703"/>
              <a:ext cx="4419600" cy="585216"/>
            </a:xfrm>
            <a:prstGeom prst="rect">
              <a:avLst/>
            </a:prstGeom>
            <a:noFill/>
          </p:spPr>
          <p:txBody>
            <a:bodyPr wrap="square" anchor="ctr">
              <a:spAutoFit/>
            </a:bodyPr>
            <a:lstStyle/>
            <a:p>
              <a:r>
                <a:rPr sz="1900">
                  <a:solidFill>
                    <a:schemeClr val="accent4"/>
                  </a:solidFill>
                  <a:latin typeface="Consolas"/>
                </a:rPr>
                <a:t>MOUSE_CLICKED</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2072640" cy="585216"/>
            </a:xfrm>
            <a:prstGeom prst="rect">
              <a:avLst/>
            </a:prstGeom>
            <a:noFill/>
          </p:spPr>
          <p:txBody>
            <a:bodyPr wrap="square" anchor="ctr">
              <a:spAutoFit/>
            </a:bodyPr>
            <a:lstStyle/>
            <a:p>
              <a:r>
                <a:rPr sz="1900">
                  <a:solidFill>
                    <a:schemeClr val="accent4"/>
                  </a:solidFill>
                  <a:latin typeface="Consolas"/>
                </a:rPr>
                <a:t>WindowEvent</a:t>
              </a:r>
            </a:p>
          </p:txBody>
        </p:sp>
        <p:sp>
          <p:nvSpPr>
            <p:cNvPr id="20" name="TextBox 19"/>
            <p:cNvSpPr txBox="1"/>
            <p:nvPr/>
          </p:nvSpPr>
          <p:spPr>
            <a:xfrm>
              <a:off x="3124200" y="4005071"/>
              <a:ext cx="3566159" cy="585216"/>
            </a:xfrm>
            <a:prstGeom prst="rect">
              <a:avLst/>
            </a:prstGeom>
            <a:noFill/>
          </p:spPr>
          <p:txBody>
            <a:bodyPr wrap="square" anchor="ctr">
              <a:spAutoFit/>
            </a:bodyPr>
            <a:lstStyle/>
            <a:p>
              <a:r>
                <a:rPr sz="2200">
                  <a:solidFill>
                    <a:srgbClr val="FFFFFF"/>
                  </a:solidFill>
                </a:rPr>
                <a:t>la fenêtre</a:t>
              </a:r>
            </a:p>
          </p:txBody>
        </p:sp>
        <p:sp>
          <p:nvSpPr>
            <p:cNvPr id="21" name="TextBox 20"/>
            <p:cNvSpPr txBox="1"/>
            <p:nvPr/>
          </p:nvSpPr>
          <p:spPr>
            <a:xfrm>
              <a:off x="6964680" y="4005071"/>
              <a:ext cx="4419600" cy="585216"/>
            </a:xfrm>
            <a:prstGeom prst="rect">
              <a:avLst/>
            </a:prstGeom>
            <a:noFill/>
          </p:spPr>
          <p:txBody>
            <a:bodyPr wrap="square" anchor="ctr">
              <a:spAutoFit/>
            </a:bodyPr>
            <a:lstStyle/>
            <a:p>
              <a:r>
                <a:rPr sz="1900">
                  <a:solidFill>
                    <a:schemeClr val="accent4"/>
                  </a:solidFill>
                  <a:latin typeface="Consolas"/>
                </a:rPr>
                <a:t>WINDOW_CLOSE_REQUEST</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FX.4</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Compter au clavier</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23</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À vous de chercher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La touche « flèche haut » ne produit aucun caractère</a:t>
            </a:r>
          </a:p>
          <a:p>
            <a:pPr marL="0" indent="0">
              <a:spcAft>
                <a:spcPts val="1000"/>
              </a:spcAft>
              <a:buNone/>
            </a:pPr>
            <a:r>
              <a:rPr sz="2800"/>
              <a:t>Comment votre programme peut-il savoir qu'on l'a enfoncée ?</a:t>
            </a:r>
          </a:p>
          <a:p>
            <a:pPr marL="0" indent="0">
              <a:spcAft>
                <a:spcPts val="1000"/>
              </a:spcAft>
              <a:buNone/>
            </a:pPr>
            <a:r>
              <a:rPr sz="2800"/>
              <a:t>Cherchez dans la Javadoc de </a:t>
            </a:r>
            <a:r>
              <a:rPr sz="2400">
                <a:solidFill>
                  <a:schemeClr val="accent4"/>
                </a:solidFill>
                <a:latin typeface="Consolas"/>
              </a:rPr>
              <a:t>KeyEvent</a:t>
            </a:r>
            <a:r>
              <a:rPr sz="2800"/>
              <a:t> : comparez </a:t>
            </a:r>
            <a:r>
              <a:rPr sz="2400">
                <a:solidFill>
                  <a:schemeClr val="accent4"/>
                </a:solidFill>
                <a:latin typeface="Consolas"/>
              </a:rPr>
              <a:t>KEY_TYPED</a:t>
            </a:r>
            <a:r>
              <a:rPr sz="2800"/>
              <a:t> et </a:t>
            </a:r>
            <a:r>
              <a:rPr sz="2400">
                <a:solidFill>
                  <a:schemeClr val="accent4"/>
                </a:solidFill>
                <a:latin typeface="Consolas"/>
              </a:rPr>
              <a:t>KEY_PRESSED</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24</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pic>
        <p:nvPicPr>
          <p:cNvPr id="6" name="Image 5">
            <a:extLst>
              <a:ext uri="{FF2B5EF4-FFF2-40B4-BE49-F238E27FC236}">
                <a16:creationId xmlns:a16="http://schemas.microsoft.com/office/drawing/2014/main" id="{9738D006-6FAC-B1F5-EE38-60983A3F6A17}"/>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4987" y="129770"/>
            <a:ext cx="2431809" cy="1622830"/>
          </a:xfrm>
          <a:prstGeom prst="rect">
            <a:avLst/>
          </a:prstGeom>
          <a:effectLst>
            <a:softEdge rad="63500"/>
          </a:effectLst>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Une touche, deux événements</a:t>
            </a:r>
          </a:p>
        </p:txBody>
      </p:sp>
      <p:sp>
        <p:nvSpPr>
          <p:cNvPr id="3" name="Content Placeholder 2"/>
          <p:cNvSpPr>
            <a:spLocks noGrp="1"/>
          </p:cNvSpPr>
          <p:nvPr>
            <p:ph idx="1"/>
          </p:nvPr>
        </p:nvSpPr>
        <p:spPr>
          <a:xfrm>
            <a:off x="640080" y="1371600"/>
            <a:ext cx="10881360" cy="1615440"/>
          </a:xfrm>
        </p:spPr>
        <p:txBody>
          <a:bodyPr/>
          <a:lstStyle/>
          <a:p>
            <a:pPr marL="0" indent="0">
              <a:spcAft>
                <a:spcPts val="1000"/>
              </a:spcAft>
              <a:buNone/>
            </a:pPr>
            <a:r>
              <a:rPr sz="2400"/>
              <a:t>Le type </a:t>
            </a:r>
            <a:r>
              <a:rPr sz="2100">
                <a:solidFill>
                  <a:schemeClr val="accent4"/>
                </a:solidFill>
                <a:latin typeface="Consolas"/>
              </a:rPr>
              <a:t>KEY_TYPED</a:t>
            </a:r>
            <a:r>
              <a:rPr sz="2400"/>
              <a:t> donne un caractère, par </a:t>
            </a:r>
            <a:r>
              <a:rPr sz="2100">
                <a:solidFill>
                  <a:schemeClr val="accent4"/>
                </a:solidFill>
                <a:latin typeface="Consolas"/>
              </a:rPr>
              <a:t>getCharacter</a:t>
            </a:r>
          </a:p>
          <a:p>
            <a:pPr marL="0" indent="0">
              <a:spcAft>
                <a:spcPts val="1000"/>
              </a:spcAft>
              <a:buNone/>
            </a:pPr>
            <a:r>
              <a:rPr sz="2400"/>
              <a:t>Le type </a:t>
            </a:r>
            <a:r>
              <a:rPr sz="2100">
                <a:solidFill>
                  <a:schemeClr val="accent4"/>
                </a:solidFill>
                <a:latin typeface="Consolas"/>
              </a:rPr>
              <a:t>KEY_PRESSED</a:t>
            </a:r>
            <a:r>
              <a:rPr sz="2400"/>
              <a:t> donne une touche, par </a:t>
            </a:r>
            <a:r>
              <a:rPr sz="2100">
                <a:solidFill>
                  <a:schemeClr val="accent4"/>
                </a:solidFill>
                <a:latin typeface="Consolas"/>
              </a:rPr>
              <a:t>getCode</a:t>
            </a:r>
            <a:r>
              <a:rPr sz="2400"/>
              <a:t>, un </a:t>
            </a:r>
            <a:r>
              <a:rPr sz="2100">
                <a:solidFill>
                  <a:schemeClr val="accent4"/>
                </a:solidFill>
                <a:latin typeface="Consolas"/>
              </a:rPr>
              <a:t>KeyCode</a:t>
            </a:r>
          </a:p>
          <a:p>
            <a:pPr marL="0" indent="0">
              <a:spcAft>
                <a:spcPts val="1000"/>
              </a:spcAft>
              <a:buNone/>
            </a:pPr>
            <a:r>
              <a:rPr sz="2400"/>
              <a:t>Une flèche n'a pas de caractère : seul </a:t>
            </a:r>
            <a:r>
              <a:rPr sz="2100">
                <a:solidFill>
                  <a:schemeClr val="accent4"/>
                </a:solidFill>
                <a:latin typeface="Consolas"/>
              </a:rPr>
              <a:t>KEY_PRESSED</a:t>
            </a:r>
            <a:r>
              <a:rPr sz="2400"/>
              <a:t> la voit</a:t>
            </a:r>
          </a:p>
        </p:txBody>
      </p:sp>
      <p:sp>
        <p:nvSpPr>
          <p:cNvPr id="4" name="Code"/>
          <p:cNvSpPr txBox="1"/>
          <p:nvPr/>
        </p:nvSpPr>
        <p:spPr>
          <a:xfrm>
            <a:off x="1263650" y="3316540"/>
            <a:ext cx="9664700" cy="554421"/>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err="1">
                <a:solidFill>
                  <a:srgbClr val="BCBEC4"/>
                </a:solidFill>
                <a:latin typeface="Consolas"/>
              </a:rPr>
              <a:t>racine.</a:t>
            </a:r>
            <a:r>
              <a:rPr sz="1800" dirty="0" err="1">
                <a:solidFill>
                  <a:srgbClr val="56A8F5"/>
                </a:solidFill>
                <a:latin typeface="Consolas"/>
              </a:rPr>
              <a:t>addEventHandler</a:t>
            </a:r>
            <a:r>
              <a:rPr sz="1800" dirty="0">
                <a:solidFill>
                  <a:srgbClr val="BCBEC4"/>
                </a:solidFill>
                <a:latin typeface="Consolas"/>
              </a:rPr>
              <a:t>(</a:t>
            </a:r>
            <a:r>
              <a:rPr sz="1800" dirty="0" err="1">
                <a:solidFill>
                  <a:srgbClr val="BCBEC4"/>
                </a:solidFill>
                <a:latin typeface="Consolas"/>
              </a:rPr>
              <a:t>KeyEvent.KEY_PRESSED</a:t>
            </a:r>
            <a:r>
              <a:rPr sz="1800" dirty="0">
                <a:solidFill>
                  <a:srgbClr val="BCBEC4"/>
                </a:solidFill>
                <a:latin typeface="Consolas"/>
              </a:rPr>
              <a:t>, </a:t>
            </a:r>
            <a:r>
              <a:rPr sz="1800" dirty="0">
                <a:solidFill>
                  <a:srgbClr val="CF8E6D"/>
                </a:solidFill>
                <a:latin typeface="Consolas"/>
              </a:rPr>
              <a:t>this</a:t>
            </a:r>
            <a:r>
              <a:rPr sz="1800" dirty="0">
                <a:solidFill>
                  <a:srgbClr val="BCBEC4"/>
                </a:solidFill>
                <a:latin typeface="Consolas"/>
              </a:rPr>
              <a:t>::</a:t>
            </a:r>
            <a:r>
              <a:rPr sz="1800" dirty="0" err="1">
                <a:solidFill>
                  <a:srgbClr val="BCBEC4"/>
                </a:solidFill>
                <a:latin typeface="Consolas"/>
              </a:rPr>
              <a:t>toucheEnfoncee</a:t>
            </a:r>
            <a:r>
              <a:rPr sz="1800" dirty="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25</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sp>
        <p:nvSpPr>
          <p:cNvPr id="7" name="Code">
            <a:extLst>
              <a:ext uri="{FF2B5EF4-FFF2-40B4-BE49-F238E27FC236}">
                <a16:creationId xmlns:a16="http://schemas.microsoft.com/office/drawing/2014/main" id="{D67C4E35-50D2-C8FE-64F3-78ABC8E121E5}"/>
              </a:ext>
            </a:extLst>
          </p:cNvPr>
          <p:cNvSpPr txBox="1"/>
          <p:nvPr/>
        </p:nvSpPr>
        <p:spPr>
          <a:xfrm>
            <a:off x="1248410" y="4052476"/>
            <a:ext cx="9664700" cy="2148521"/>
          </a:xfrm>
          <a:prstGeom prst="roundRect">
            <a:avLst>
              <a:gd name="adj" fmla="val 3333"/>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dirty="0">
                <a:solidFill>
                  <a:srgbClr val="CF8E6D"/>
                </a:solidFill>
                <a:latin typeface="Consolas"/>
              </a:rPr>
              <a:t>private</a:t>
            </a:r>
            <a:r>
              <a:rPr sz="1800" dirty="0">
                <a:solidFill>
                  <a:srgbClr val="BCBEC4"/>
                </a:solidFill>
                <a:latin typeface="Consolas"/>
              </a:rPr>
              <a:t> </a:t>
            </a:r>
            <a:r>
              <a:rPr sz="1800" dirty="0">
                <a:solidFill>
                  <a:srgbClr val="CF8E6D"/>
                </a:solidFill>
                <a:latin typeface="Consolas"/>
              </a:rPr>
              <a:t>void</a:t>
            </a:r>
            <a:r>
              <a:rPr sz="1800" dirty="0">
                <a:solidFill>
                  <a:srgbClr val="BCBEC4"/>
                </a:solidFill>
                <a:latin typeface="Consolas"/>
              </a:rPr>
              <a:t> </a:t>
            </a:r>
            <a:r>
              <a:rPr sz="1800" dirty="0" err="1">
                <a:solidFill>
                  <a:srgbClr val="56A8F5"/>
                </a:solidFill>
                <a:latin typeface="Consolas"/>
              </a:rPr>
              <a:t>toucheEnfoncee</a:t>
            </a:r>
            <a:r>
              <a:rPr sz="1800" dirty="0">
                <a:solidFill>
                  <a:srgbClr val="BCBEC4"/>
                </a:solidFill>
                <a:latin typeface="Consolas"/>
              </a:rPr>
              <a:t>(</a:t>
            </a:r>
            <a:r>
              <a:rPr sz="1800" dirty="0" err="1">
                <a:solidFill>
                  <a:srgbClr val="BCBEC4"/>
                </a:solidFill>
                <a:latin typeface="Consolas"/>
              </a:rPr>
              <a:t>KeyEvent</a:t>
            </a:r>
            <a:r>
              <a:rPr sz="1800" dirty="0">
                <a:solidFill>
                  <a:srgbClr val="BCBEC4"/>
                </a:solidFill>
                <a:latin typeface="Consolas"/>
              </a:rPr>
              <a:t> </a:t>
            </a:r>
            <a:r>
              <a:rPr sz="1800" dirty="0" err="1">
                <a:solidFill>
                  <a:srgbClr val="BCBEC4"/>
                </a:solidFill>
                <a:latin typeface="Consolas"/>
              </a:rPr>
              <a:t>evenement</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switch</a:t>
            </a:r>
            <a:r>
              <a:rPr sz="1800" dirty="0">
                <a:solidFill>
                  <a:srgbClr val="BCBEC4"/>
                </a:solidFill>
                <a:latin typeface="Consolas"/>
              </a:rPr>
              <a:t> (</a:t>
            </a:r>
            <a:r>
              <a:rPr sz="1800" dirty="0" err="1">
                <a:solidFill>
                  <a:srgbClr val="BCBEC4"/>
                </a:solidFill>
                <a:latin typeface="Consolas"/>
              </a:rPr>
              <a:t>evenement.</a:t>
            </a:r>
            <a:r>
              <a:rPr sz="1800" dirty="0" err="1">
                <a:solidFill>
                  <a:srgbClr val="56A8F5"/>
                </a:solidFill>
                <a:latin typeface="Consolas"/>
              </a:rPr>
              <a:t>getCode</a:t>
            </a: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UP -&gt; </a:t>
            </a:r>
            <a:r>
              <a:rPr sz="1800" dirty="0" err="1">
                <a:solidFill>
                  <a:srgbClr val="56A8F5"/>
                </a:solidFill>
                <a:latin typeface="Consolas"/>
              </a:rPr>
              <a:t>augmenterIntensite</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case</a:t>
            </a:r>
            <a:r>
              <a:rPr sz="1800" dirty="0">
                <a:solidFill>
                  <a:srgbClr val="BCBEC4"/>
                </a:solidFill>
                <a:latin typeface="Consolas"/>
              </a:rPr>
              <a:t> DOWN -&gt; </a:t>
            </a:r>
            <a:r>
              <a:rPr sz="1800" dirty="0" err="1">
                <a:solidFill>
                  <a:srgbClr val="56A8F5"/>
                </a:solidFill>
                <a:latin typeface="Consolas"/>
              </a:rPr>
              <a:t>diminuerIntensite</a:t>
            </a:r>
            <a:r>
              <a:rPr sz="1800" dirty="0">
                <a:solidFill>
                  <a:srgbClr val="BCBEC4"/>
                </a:solidFill>
                <a:latin typeface="Consolas"/>
              </a:rPr>
              <a:t>();</a:t>
            </a:r>
          </a:p>
          <a:p>
            <a:pPr>
              <a:lnSpc>
                <a:spcPct val="100000"/>
              </a:lnSpc>
              <a:spcBef>
                <a:spcPts val="0"/>
              </a:spcBef>
              <a:spcAft>
                <a:spcPts val="0"/>
              </a:spcAft>
            </a:pPr>
            <a:r>
              <a:rPr sz="1800" dirty="0">
                <a:solidFill>
                  <a:srgbClr val="BCBEC4"/>
                </a:solidFill>
                <a:latin typeface="Consolas"/>
              </a:rPr>
              <a:t>        </a:t>
            </a:r>
            <a:r>
              <a:rPr sz="1800" dirty="0">
                <a:solidFill>
                  <a:srgbClr val="CF8E6D"/>
                </a:solidFill>
                <a:latin typeface="Consolas"/>
              </a:rPr>
              <a:t>default</a:t>
            </a:r>
            <a:r>
              <a:rPr sz="1800" dirty="0">
                <a:solidFill>
                  <a:srgbClr val="BCBEC4"/>
                </a:solidFill>
                <a:latin typeface="Consolas"/>
              </a:rPr>
              <a:t> -&gt; { }</a:t>
            </a:r>
          </a:p>
          <a:p>
            <a:pPr>
              <a:lnSpc>
                <a:spcPct val="100000"/>
              </a:lnSpc>
              <a:spcBef>
                <a:spcPts val="0"/>
              </a:spcBef>
              <a:spcAft>
                <a:spcPts val="0"/>
              </a:spcAft>
            </a:pPr>
            <a:r>
              <a:rPr sz="1800" dirty="0">
                <a:solidFill>
                  <a:srgbClr val="BCBEC4"/>
                </a:solidFill>
                <a:latin typeface="Consolas"/>
              </a:rPr>
              <a:t>    }</a:t>
            </a:r>
          </a:p>
          <a:p>
            <a:pPr>
              <a:lnSpc>
                <a:spcPct val="100000"/>
              </a:lnSpc>
              <a:spcBef>
                <a:spcPts val="0"/>
              </a:spcBef>
              <a:spcAft>
                <a:spcPts val="0"/>
              </a:spcAft>
            </a:pPr>
            <a:r>
              <a:rPr sz="1800" dirty="0">
                <a:solidFill>
                  <a:srgbClr val="BCBEC4"/>
                </a:solidFill>
                <a:latin typeface="Consolas"/>
              </a:rPr>
              <a:t>}</a:t>
            </a:r>
          </a:p>
        </p:txBody>
      </p:sp>
      <p:pic>
        <p:nvPicPr>
          <p:cNvPr id="8" name="Image 7">
            <a:extLst>
              <a:ext uri="{FF2B5EF4-FFF2-40B4-BE49-F238E27FC236}">
                <a16:creationId xmlns:a16="http://schemas.microsoft.com/office/drawing/2014/main" id="{6D0ED013-F345-306D-946C-57E4A29FB6FA}"/>
              </a:ext>
            </a:extLst>
          </p:cNvPr>
          <p:cNvPicPr>
            <a:picLocks noChangeAspect="1"/>
          </p:cNvPicPr>
          <p:nvPr/>
        </p:nvPicPr>
        <p:blipFill>
          <a:blip r:embed="rId3" cstate="screen">
            <a:extLst>
              <a:ext uri="{28A0092B-C50C-407E-A947-70E740481C1C}">
                <a14:useLocalDpi xmlns:a14="http://schemas.microsoft.com/office/drawing/2010/main"/>
              </a:ext>
            </a:extLst>
          </a:blip>
          <a:stretch>
            <a:fillRect/>
          </a:stretch>
        </p:blipFill>
        <p:spPr>
          <a:xfrm>
            <a:off x="9534987" y="129770"/>
            <a:ext cx="2431809" cy="1622830"/>
          </a:xfrm>
          <a:prstGeom prst="rect">
            <a:avLst/>
          </a:prstGeom>
          <a:effectLst>
            <a:softEdge rad="63500"/>
          </a:effectLst>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 souris</a:t>
            </a:r>
          </a:p>
        </p:txBody>
      </p:sp>
      <p:sp>
        <p:nvSpPr>
          <p:cNvPr id="3" name="Content Placeholder 2"/>
          <p:cNvSpPr>
            <a:spLocks noGrp="1"/>
          </p:cNvSpPr>
          <p:nvPr>
            <p:ph idx="1"/>
          </p:nvPr>
        </p:nvSpPr>
        <p:spPr>
          <a:xfrm>
            <a:off x="640080" y="1371600"/>
            <a:ext cx="10881360" cy="2839720"/>
          </a:xfrm>
        </p:spPr>
        <p:txBody>
          <a:bodyPr/>
          <a:lstStyle/>
          <a:p>
            <a:pPr marL="0" indent="0">
              <a:spcAft>
                <a:spcPts val="1000"/>
              </a:spcAft>
              <a:buNone/>
            </a:pPr>
            <a:r>
              <a:rPr sz="2400"/>
              <a:t>Le type </a:t>
            </a:r>
            <a:r>
              <a:rPr sz="2100">
                <a:solidFill>
                  <a:schemeClr val="accent4"/>
                </a:solidFill>
                <a:latin typeface="Consolas"/>
              </a:rPr>
              <a:t>MOUSE_CLICKED</a:t>
            </a:r>
            <a:r>
              <a:rPr sz="2400"/>
              <a:t> survient quand on presse puis relâche sur le même nœud</a:t>
            </a:r>
          </a:p>
          <a:p>
            <a:pPr marL="0" indent="0">
              <a:spcAft>
                <a:spcPts val="1000"/>
              </a:spcAft>
              <a:buNone/>
            </a:pPr>
            <a:r>
              <a:rPr sz="2400"/>
              <a:t>Les méthodes </a:t>
            </a:r>
            <a:r>
              <a:rPr sz="2100">
                <a:solidFill>
                  <a:schemeClr val="accent4"/>
                </a:solidFill>
                <a:latin typeface="Consolas"/>
              </a:rPr>
              <a:t>getX</a:t>
            </a:r>
            <a:r>
              <a:rPr sz="2400"/>
              <a:t> et </a:t>
            </a:r>
            <a:r>
              <a:rPr sz="2100">
                <a:solidFill>
                  <a:schemeClr val="accent4"/>
                </a:solidFill>
                <a:latin typeface="Consolas"/>
              </a:rPr>
              <a:t>getY</a:t>
            </a:r>
            <a:r>
              <a:rPr sz="2400"/>
              <a:t> donnent la position dans le nœud</a:t>
            </a:r>
          </a:p>
          <a:p>
            <a:pPr marL="0" indent="0">
              <a:spcAft>
                <a:spcPts val="1000"/>
              </a:spcAft>
              <a:buNone/>
            </a:pPr>
            <a:r>
              <a:rPr sz="2400"/>
              <a:t>La méthode </a:t>
            </a:r>
            <a:r>
              <a:rPr sz="2100">
                <a:solidFill>
                  <a:schemeClr val="accent4"/>
                </a:solidFill>
                <a:latin typeface="Consolas"/>
              </a:rPr>
              <a:t>getClickCount</a:t>
            </a:r>
            <a:r>
              <a:rPr sz="2400"/>
              <a:t> distingue le simple clic du double clic</a:t>
            </a:r>
          </a:p>
          <a:p>
            <a:pPr marL="0" indent="0">
              <a:spcAft>
                <a:spcPts val="1000"/>
              </a:spcAft>
              <a:buNone/>
            </a:pPr>
            <a:r>
              <a:rPr sz="2400"/>
              <a:t>La méthode </a:t>
            </a:r>
            <a:r>
              <a:rPr sz="2100">
                <a:solidFill>
                  <a:schemeClr val="accent4"/>
                </a:solidFill>
                <a:latin typeface="Consolas"/>
              </a:rPr>
              <a:t>getButton</a:t>
            </a:r>
            <a:r>
              <a:rPr sz="2400"/>
              <a:t> dit quel bouton de la souris a servi</a:t>
            </a:r>
          </a:p>
        </p:txBody>
      </p:sp>
      <p:sp>
        <p:nvSpPr>
          <p:cNvPr id="4" name="Code"/>
          <p:cNvSpPr txBox="1"/>
          <p:nvPr/>
        </p:nvSpPr>
        <p:spPr>
          <a:xfrm>
            <a:off x="1473201" y="4348480"/>
            <a:ext cx="92455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ampoule.</a:t>
            </a:r>
            <a:r>
              <a:rPr sz="1800">
                <a:solidFill>
                  <a:srgbClr val="56A8F5"/>
                </a:solidFill>
                <a:latin typeface="Consolas"/>
              </a:rPr>
              <a:t>addEventHandler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(evenement.</a:t>
            </a:r>
            <a:r>
              <a:rPr sz="1800">
                <a:solidFill>
                  <a:srgbClr val="56A8F5"/>
                </a:solidFill>
                <a:latin typeface="Consolas"/>
              </a:rPr>
              <a:t>getClickCount</a:t>
            </a:r>
            <a:r>
              <a:rPr sz="1800">
                <a:solidFill>
                  <a:srgbClr val="BCBEC4"/>
                </a:solidFill>
                <a:latin typeface="Consolas"/>
              </a:rPr>
              <a:t>() == </a:t>
            </a:r>
            <a:r>
              <a:rPr sz="1800">
                <a:solidFill>
                  <a:srgbClr val="2AACB8"/>
                </a:solidFill>
                <a:latin typeface="Consolas"/>
              </a:rPr>
              <a:t>2</a:t>
            </a: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        </a:t>
            </a:r>
            <a:r>
              <a:rPr sz="1800">
                <a:solidFill>
                  <a:srgbClr val="56A8F5"/>
                </a:solidFill>
                <a:latin typeface="Consolas"/>
              </a:rPr>
              <a:t>basculer</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26</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4. Les événements</a:t>
            </a:r>
          </a:p>
        </p:txBody>
      </p:sp>
      <p:pic>
        <p:nvPicPr>
          <p:cNvPr id="7" name="Image 6">
            <a:extLst>
              <a:ext uri="{FF2B5EF4-FFF2-40B4-BE49-F238E27FC236}">
                <a16:creationId xmlns:a16="http://schemas.microsoft.com/office/drawing/2014/main" id="{D6A36270-DB04-4837-1575-64CAC0FF8D1C}"/>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8720247" y="87853"/>
            <a:ext cx="3148189" cy="13716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9" name="Picture 4" descr="FX1_section5.jpg"/>
          <p:cNvPicPr>
            <a:picLocks noChangeAspect="1"/>
          </p:cNvPicPr>
          <p:nvPr/>
        </p:nvPicPr>
        <p:blipFill>
          <a:blip r:embed="rId3"/>
          <a:stretch>
            <a:fillRect/>
          </a:stretch>
        </p:blipFill>
        <p:spPr>
          <a:xfrm>
            <a:off x="0" y="0"/>
            <a:ext cx="12192000" cy="6858000"/>
          </a:xfrm>
          <a:prstGeom prst="rect">
            <a:avLst/>
          </a:prstGeom>
        </p:spPr>
      </p:pic>
      <p:sp>
        <p:nvSpPr>
          <p:cNvPr id="2" name="ZoneTexte 1">
            <a:extLst>
              <a:ext uri="{FF2B5EF4-FFF2-40B4-BE49-F238E27FC236}">
                <a16:creationId xmlns:a16="http://schemas.microsoft.com/office/drawing/2014/main" id="{33C518A9-F53E-AF8B-1A0F-DE0E577D97C6}"/>
              </a:ext>
            </a:extLst>
          </p:cNvPr>
          <p:cNvSpPr txBox="1"/>
          <p:nvPr/>
        </p:nvSpPr>
        <p:spPr>
          <a:xfrm>
            <a:off x="838200" y="946800"/>
            <a:ext cx="8868384" cy="1105200"/>
          </a:xfrm>
          <a:prstGeom prst="rect">
            <a:avLst/>
          </a:prstGeom>
          <a:solidFill>
            <a:srgbClr val="112D41">
              <a:alpha val="51373"/>
            </a:srgbClr>
          </a:solidFill>
          <a:effectLst>
            <a:outerShdw blurRad="50800" dist="38100" dir="2700000" algn="tl" rotWithShape="0">
              <a:prstClr val="black">
                <a:alpha val="40000"/>
              </a:prstClr>
            </a:outerShdw>
          </a:effectLst>
        </p:spPr>
        <p:txBody>
          <a:bodyPr wrap="square" rtlCol="0">
            <a:spAutoFit/>
          </a:bodyPr>
          <a:lstStyle/>
          <a:p>
            <a:r>
              <a:rPr lang="fr-FR" sz="6600" b="1" dirty="0">
                <a:ln w="0"/>
                <a:effectLst>
                  <a:outerShdw blurRad="38100" dist="19050" dir="2700000" algn="tl" rotWithShape="0">
                    <a:schemeClr val="dk1">
                      <a:alpha val="40000"/>
                    </a:schemeClr>
                  </a:outerShdw>
                </a:effectLst>
                <a:latin typeface="Calibri"/>
                <a:cs typeface="Calibri"/>
              </a:rPr>
              <a:t>5. Un événement voyage</a:t>
            </a:r>
            <a:endParaRPr lang="fr-FR" sz="1600" b="1" dirty="0">
              <a:ln w="0"/>
              <a:effectLst>
                <a:outerShdw blurRad="38100" dist="19050" dir="2700000" algn="tl" rotWithShape="0">
                  <a:schemeClr val="dk1">
                    <a:alpha val="40000"/>
                  </a:schemeClr>
                </a:outerShdw>
              </a:effectLst>
              <a:latin typeface="Calibri" panose="020F0502020204030204" pitchFamily="34" charset="0"/>
              <a:cs typeface="Calibri" panose="020F0502020204030204" pitchFamily="34" charset="0"/>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Démonstration</a:t>
            </a:r>
          </a:p>
        </p:txBody>
      </p:sp>
      <p:sp>
        <p:nvSpPr>
          <p:cNvPr id="3" name="Rounded Rectangle 2"/>
          <p:cNvSpPr/>
          <p:nvPr/>
        </p:nvSpPr>
        <p:spPr>
          <a:xfrm>
            <a:off x="1463040" y="1828800"/>
            <a:ext cx="9235440" cy="3291840"/>
          </a:xfrm>
          <a:prstGeom prst="roundRect">
            <a:avLst>
              <a:gd name="adj" fmla="val 2777"/>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image.png"/>
          <p:cNvPicPr>
            <a:picLocks noChangeAspect="1"/>
          </p:cNvPicPr>
          <p:nvPr/>
        </p:nvPicPr>
        <p:blipFill>
          <a:blip r:embed="rId3"/>
          <a:stretch>
            <a:fillRect/>
          </a:stretch>
        </p:blipFill>
        <p:spPr>
          <a:xfrm>
            <a:off x="1920240" y="2514600"/>
            <a:ext cx="1920240" cy="1920240"/>
          </a:xfrm>
          <a:prstGeom prst="rect">
            <a:avLst/>
          </a:prstGeom>
        </p:spPr>
      </p:pic>
      <p:sp>
        <p:nvSpPr>
          <p:cNvPr id="5" name="TextBox 4"/>
          <p:cNvSpPr txBox="1"/>
          <p:nvPr/>
        </p:nvSpPr>
        <p:spPr>
          <a:xfrm>
            <a:off x="4206240" y="2103120"/>
            <a:ext cx="6217920" cy="2743200"/>
          </a:xfrm>
          <a:prstGeom prst="rect">
            <a:avLst/>
          </a:prstGeom>
          <a:noFill/>
        </p:spPr>
        <p:txBody>
          <a:bodyPr wrap="square" anchor="ctr">
            <a:spAutoFit/>
          </a:bodyPr>
          <a:lstStyle/>
          <a:p>
            <a:r>
              <a:rPr sz="1800" b="1">
                <a:solidFill>
                  <a:schemeClr val="accent4"/>
                </a:solidFill>
              </a:rPr>
              <a:t>Démonstration</a:t>
            </a:r>
          </a:p>
          <a:p>
            <a:r>
              <a:rPr sz="3000">
                <a:solidFill>
                  <a:srgbClr val="FFFFFF"/>
                </a:solidFill>
              </a:rPr>
              <a:t>Un événement voyage</a:t>
            </a:r>
          </a:p>
          <a:p>
            <a:pPr>
              <a:spcBef>
                <a:spcPts val="1200"/>
              </a:spcBef>
            </a:pPr>
            <a:r>
              <a:rPr sz="1400">
                <a:solidFill>
                  <a:srgbClr val="BCBEC4"/>
                </a:solidFill>
              </a:rPr>
              <a:t>Déroulé : Demo_FX</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28</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L'aller et le retour</a:t>
            </a:r>
          </a:p>
        </p:txBody>
      </p:sp>
      <p:sp>
        <p:nvSpPr>
          <p:cNvPr id="3" name="Content Placeholder 2"/>
          <p:cNvSpPr>
            <a:spLocks noGrp="1"/>
          </p:cNvSpPr>
          <p:nvPr>
            <p:ph idx="1"/>
          </p:nvPr>
        </p:nvSpPr>
        <p:spPr>
          <a:xfrm>
            <a:off x="640080" y="1371600"/>
            <a:ext cx="10881360" cy="4800600"/>
          </a:xfrm>
        </p:spPr>
        <p:txBody>
          <a:bodyPr/>
          <a:lstStyle/>
          <a:p>
            <a:pPr marL="0" indent="0">
              <a:spcAft>
                <a:spcPts val="1000"/>
              </a:spcAft>
              <a:buNone/>
            </a:pPr>
            <a:r>
              <a:rPr sz="2800"/>
              <a:t>JavaFX trace d'abord le chemin, de la fenêtre jusqu'au nœud visé</a:t>
            </a:r>
          </a:p>
          <a:p>
            <a:pPr marL="0" indent="0">
              <a:spcAft>
                <a:spcPts val="1000"/>
              </a:spcAft>
              <a:buNone/>
            </a:pPr>
            <a:r>
              <a:rPr sz="2800"/>
              <a:t>L'événement descend ce chemin : c'est la capture</a:t>
            </a:r>
          </a:p>
          <a:p>
            <a:pPr marL="0" indent="0">
              <a:spcAft>
                <a:spcPts val="1000"/>
              </a:spcAft>
              <a:buNone/>
            </a:pPr>
            <a:r>
              <a:rPr sz="2800"/>
              <a:t>Il atteint la cible, puis remonte le même chemin : c'est le bouillonnement</a:t>
            </a:r>
          </a:p>
          <a:p>
            <a:pPr marL="0" indent="0">
              <a:spcAft>
                <a:spcPts val="1000"/>
              </a:spcAft>
              <a:buNone/>
            </a:pPr>
            <a:r>
              <a:rPr sz="2800"/>
              <a:t>Chaque nœud traversé peut intervenir, à l'aller comme au retour</a:t>
            </a:r>
          </a:p>
        </p:txBody>
      </p:sp>
      <p:sp>
        <p:nvSpPr>
          <p:cNvPr id="5"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29</a:t>
            </a:fld>
            <a:endParaRPr lang="fr-FR"/>
          </a:p>
        </p:txBody>
      </p:sp>
      <p:sp>
        <p:nvSpPr>
          <p:cNvPr id="4"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DE6083-8256-154A-B26F-2269D186C987}"/>
              </a:ext>
            </a:extLst>
          </p:cNvPr>
          <p:cNvSpPr>
            <a:spLocks noGrp="1"/>
          </p:cNvSpPr>
          <p:nvPr>
            <p:ph type="title"/>
          </p:nvPr>
        </p:nvSpPr>
        <p:spPr>
          <a:xfrm>
            <a:off x="838200" y="358303"/>
            <a:ext cx="10515600" cy="1325563"/>
          </a:xfrm>
        </p:spPr>
        <p:txBody>
          <a:bodyPr/>
          <a:lstStyle/>
          <a:p>
            <a:r>
              <a:rPr lang="fr-FR" dirty="0"/>
              <a:t>La propagation des événements</a:t>
            </a:r>
          </a:p>
        </p:txBody>
      </p:sp>
      <p:sp>
        <p:nvSpPr>
          <p:cNvPr id="3" name="Rectangle 2">
            <a:extLst>
              <a:ext uri="{FF2B5EF4-FFF2-40B4-BE49-F238E27FC236}">
                <a16:creationId xmlns:a16="http://schemas.microsoft.com/office/drawing/2014/main" id="{790C4C52-7F42-2E4E-A436-82763CA856C4}"/>
              </a:ext>
            </a:extLst>
          </p:cNvPr>
          <p:cNvSpPr/>
          <p:nvPr/>
        </p:nvSpPr>
        <p:spPr>
          <a:xfrm>
            <a:off x="841248" y="5870448"/>
            <a:ext cx="5486400" cy="274320"/>
          </a:xfrm>
          <a:prstGeom prst="rect">
            <a:avLst/>
          </a:prstGeom>
        </p:spPr>
        <p:txBody>
          <a:bodyPr wrap="square">
            <a:spAutoFit/>
          </a:bodyPr>
          <a:lstStyle/>
          <a:p>
            <a:r>
              <a:rPr lang="fr-FR" sz="1100" i="1" dirty="0"/>
              <a:t>Source : </a:t>
            </a:r>
            <a:r>
              <a:rPr sz="1100">
                <a:hlinkClick r:id="rId3"/>
              </a:rPr>
              <a:t>Stack Overflow, question 25740103</a:t>
            </a:r>
            <a:endParaRPr lang="fr-FR" sz="1200" i="1" dirty="0"/>
          </a:p>
        </p:txBody>
      </p:sp>
      <p:grpSp>
        <p:nvGrpSpPr>
          <p:cNvPr id="13" name="Groupe 12">
            <a:extLst>
              <a:ext uri="{FF2B5EF4-FFF2-40B4-BE49-F238E27FC236}">
                <a16:creationId xmlns:a16="http://schemas.microsoft.com/office/drawing/2014/main" id="{73E26F97-7D94-2143-B907-8C837FC3BD12}"/>
              </a:ext>
            </a:extLst>
          </p:cNvPr>
          <p:cNvGrpSpPr/>
          <p:nvPr/>
        </p:nvGrpSpPr>
        <p:grpSpPr>
          <a:xfrm>
            <a:off x="3603171" y="1759076"/>
            <a:ext cx="4005944" cy="3151241"/>
            <a:chOff x="1665513" y="1772829"/>
            <a:chExt cx="5018314" cy="3947613"/>
          </a:xfrm>
        </p:grpSpPr>
        <p:sp>
          <p:nvSpPr>
            <p:cNvPr id="7" name="Rectangle : coins arrondis 6">
              <a:extLst>
                <a:ext uri="{FF2B5EF4-FFF2-40B4-BE49-F238E27FC236}">
                  <a16:creationId xmlns:a16="http://schemas.microsoft.com/office/drawing/2014/main" id="{C164CF95-3D0A-8A47-BFBE-C85F0D5C7FB6}"/>
                </a:ext>
              </a:extLst>
            </p:cNvPr>
            <p:cNvSpPr/>
            <p:nvPr/>
          </p:nvSpPr>
          <p:spPr>
            <a:xfrm>
              <a:off x="3287485" y="1772829"/>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Stage</a:t>
              </a:r>
            </a:p>
          </p:txBody>
        </p:sp>
        <p:sp>
          <p:nvSpPr>
            <p:cNvPr id="8" name="Rectangle : coins arrondis 7">
              <a:extLst>
                <a:ext uri="{FF2B5EF4-FFF2-40B4-BE49-F238E27FC236}">
                  <a16:creationId xmlns:a16="http://schemas.microsoft.com/office/drawing/2014/main" id="{491234DF-841B-7F4F-A6FC-A0BFED02FBC3}"/>
                </a:ext>
              </a:extLst>
            </p:cNvPr>
            <p:cNvSpPr/>
            <p:nvPr/>
          </p:nvSpPr>
          <p:spPr>
            <a:xfrm>
              <a:off x="3287485" y="2645047"/>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Scene</a:t>
              </a:r>
              <a:endParaRPr lang="fr-FR" sz="1600" dirty="0">
                <a:latin typeface="Consolas" panose="020B0609020204030204" pitchFamily="49" charset="0"/>
                <a:cs typeface="Consolas" panose="020B0609020204030204" pitchFamily="49" charset="0"/>
              </a:endParaRPr>
            </a:p>
          </p:txBody>
        </p:sp>
        <p:sp>
          <p:nvSpPr>
            <p:cNvPr id="9" name="Rectangle : coins arrondis 8">
              <a:extLst>
                <a:ext uri="{FF2B5EF4-FFF2-40B4-BE49-F238E27FC236}">
                  <a16:creationId xmlns:a16="http://schemas.microsoft.com/office/drawing/2014/main" id="{9E81C4B6-1051-9B4E-8ECB-EDCA0F0A503B}"/>
                </a:ext>
              </a:extLst>
            </p:cNvPr>
            <p:cNvSpPr/>
            <p:nvPr/>
          </p:nvSpPr>
          <p:spPr>
            <a:xfrm>
              <a:off x="3287485" y="3517265"/>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BorderPane</a:t>
              </a:r>
              <a:endParaRPr lang="fr-FR" sz="1600" dirty="0">
                <a:latin typeface="Consolas" panose="020B0609020204030204" pitchFamily="49" charset="0"/>
                <a:cs typeface="Consolas" panose="020B0609020204030204" pitchFamily="49" charset="0"/>
              </a:endParaRPr>
            </a:p>
          </p:txBody>
        </p:sp>
        <p:sp>
          <p:nvSpPr>
            <p:cNvPr id="10" name="Rectangle : coins arrondis 9">
              <a:extLst>
                <a:ext uri="{FF2B5EF4-FFF2-40B4-BE49-F238E27FC236}">
                  <a16:creationId xmlns:a16="http://schemas.microsoft.com/office/drawing/2014/main" id="{A4D5A57C-C4A8-4745-9AB0-31AF2357FCAB}"/>
                </a:ext>
              </a:extLst>
            </p:cNvPr>
            <p:cNvSpPr/>
            <p:nvPr/>
          </p:nvSpPr>
          <p:spPr>
            <a:xfrm>
              <a:off x="3287485" y="4389483"/>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Pane</a:t>
              </a:r>
            </a:p>
          </p:txBody>
        </p:sp>
        <p:sp>
          <p:nvSpPr>
            <p:cNvPr id="11" name="Rectangle : coins arrondis 10">
              <a:extLst>
                <a:ext uri="{FF2B5EF4-FFF2-40B4-BE49-F238E27FC236}">
                  <a16:creationId xmlns:a16="http://schemas.microsoft.com/office/drawing/2014/main" id="{46BE3D6E-E636-DA41-8D9F-1AA64F0F6F00}"/>
                </a:ext>
              </a:extLst>
            </p:cNvPr>
            <p:cNvSpPr/>
            <p:nvPr/>
          </p:nvSpPr>
          <p:spPr>
            <a:xfrm>
              <a:off x="1665513"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Rectangle</a:t>
              </a:r>
            </a:p>
          </p:txBody>
        </p:sp>
        <p:sp>
          <p:nvSpPr>
            <p:cNvPr id="12" name="Rectangle : coins arrondis 11">
              <a:extLst>
                <a:ext uri="{FF2B5EF4-FFF2-40B4-BE49-F238E27FC236}">
                  <a16:creationId xmlns:a16="http://schemas.microsoft.com/office/drawing/2014/main" id="{71EC6A08-A8AF-3746-8A0C-EBE27F43EC0C}"/>
                </a:ext>
              </a:extLst>
            </p:cNvPr>
            <p:cNvSpPr/>
            <p:nvPr/>
          </p:nvSpPr>
          <p:spPr>
            <a:xfrm>
              <a:off x="4855027"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Circle</a:t>
              </a:r>
            </a:p>
          </p:txBody>
        </p:sp>
      </p:grpSp>
      <p:sp>
        <p:nvSpPr>
          <p:cNvPr id="14" name="Terminaison 13">
            <a:extLst>
              <a:ext uri="{FF2B5EF4-FFF2-40B4-BE49-F238E27FC236}">
                <a16:creationId xmlns:a16="http://schemas.microsoft.com/office/drawing/2014/main" id="{D4A57323-E62E-D74E-8CCE-D59AB9DA5E4E}"/>
              </a:ext>
            </a:extLst>
          </p:cNvPr>
          <p:cNvSpPr/>
          <p:nvPr/>
        </p:nvSpPr>
        <p:spPr>
          <a:xfrm>
            <a:off x="8414657" y="4474029"/>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sp>
        <p:nvSpPr>
          <p:cNvPr id="15" name="Terminaison 14">
            <a:extLst>
              <a:ext uri="{FF2B5EF4-FFF2-40B4-BE49-F238E27FC236}">
                <a16:creationId xmlns:a16="http://schemas.microsoft.com/office/drawing/2014/main" id="{D03C91D6-B180-FB41-84DB-5CB998525D44}"/>
              </a:ext>
            </a:extLst>
          </p:cNvPr>
          <p:cNvSpPr/>
          <p:nvPr/>
        </p:nvSpPr>
        <p:spPr>
          <a:xfrm>
            <a:off x="8414657" y="4985658"/>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cxnSp>
        <p:nvCxnSpPr>
          <p:cNvPr id="17" name="Connecteur droit 16">
            <a:extLst>
              <a:ext uri="{FF2B5EF4-FFF2-40B4-BE49-F238E27FC236}">
                <a16:creationId xmlns:a16="http://schemas.microsoft.com/office/drawing/2014/main" id="{7BD7D9B6-4181-6D42-A43A-EC0A5AFF0F12}"/>
              </a:ext>
            </a:extLst>
          </p:cNvPr>
          <p:cNvCxnSpPr>
            <a:endCxn id="14" idx="1"/>
          </p:cNvCxnSpPr>
          <p:nvPr/>
        </p:nvCxnSpPr>
        <p:spPr>
          <a:xfrm flipV="1">
            <a:off x="7609115" y="4624905"/>
            <a:ext cx="805542" cy="1023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18" name="Connecteur droit 17">
            <a:extLst>
              <a:ext uri="{FF2B5EF4-FFF2-40B4-BE49-F238E27FC236}">
                <a16:creationId xmlns:a16="http://schemas.microsoft.com/office/drawing/2014/main" id="{582DA460-6A02-4941-B33F-B4C0C8D0EA0A}"/>
              </a:ext>
            </a:extLst>
          </p:cNvPr>
          <p:cNvCxnSpPr>
            <a:cxnSpLocks/>
            <a:stCxn id="12" idx="3"/>
            <a:endCxn id="15" idx="1"/>
          </p:cNvCxnSpPr>
          <p:nvPr/>
        </p:nvCxnSpPr>
        <p:spPr>
          <a:xfrm>
            <a:off x="7609115" y="4727218"/>
            <a:ext cx="805542" cy="409317"/>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1" name="Légende sans bordure 1 20">
            <a:extLst>
              <a:ext uri="{FF2B5EF4-FFF2-40B4-BE49-F238E27FC236}">
                <a16:creationId xmlns:a16="http://schemas.microsoft.com/office/drawing/2014/main" id="{E1F975EF-7275-4E43-97F6-F2E34D4321BD}"/>
              </a:ext>
            </a:extLst>
          </p:cNvPr>
          <p:cNvSpPr/>
          <p:nvPr/>
        </p:nvSpPr>
        <p:spPr>
          <a:xfrm>
            <a:off x="7506154" y="3474626"/>
            <a:ext cx="2095047" cy="301752"/>
          </a:xfrm>
          <a:prstGeom prst="callout1">
            <a:avLst>
              <a:gd name="adj1" fmla="val 98115"/>
              <a:gd name="adj2" fmla="val 19725"/>
              <a:gd name="adj3" fmla="val 372240"/>
              <a:gd name="adj4" fmla="val 25057"/>
            </a:avLst>
          </a:prstGeom>
          <a:noFill/>
          <a:ln w="12700">
            <a:solidFill>
              <a:schemeClr val="accent6"/>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chemeClr val="accent3"/>
                </a:solidFill>
                <a:latin typeface="Consolas" panose="020B0609020204030204" pitchFamily="49" charset="0"/>
                <a:cs typeface="Consolas" panose="020B0609020204030204" pitchFamily="49" charset="0"/>
              </a:rPr>
              <a:t>addEventHandler</a:t>
            </a:r>
            <a:endParaRPr lang="fr-FR" sz="1600" dirty="0">
              <a:solidFill>
                <a:schemeClr val="accent3"/>
              </a:solidFill>
              <a:latin typeface="Consolas" panose="020B0609020204030204" pitchFamily="49" charset="0"/>
              <a:cs typeface="Consolas" panose="020B0609020204030204" pitchFamily="49" charset="0"/>
            </a:endParaRPr>
          </a:p>
        </p:txBody>
      </p:sp>
      <p:cxnSp>
        <p:nvCxnSpPr>
          <p:cNvPr id="22" name="Connecteur droit 21">
            <a:extLst>
              <a:ext uri="{FF2B5EF4-FFF2-40B4-BE49-F238E27FC236}">
                <a16:creationId xmlns:a16="http://schemas.microsoft.com/office/drawing/2014/main" id="{6596CF2D-3C72-024B-9D14-6B019FC961C7}"/>
              </a:ext>
            </a:extLst>
          </p:cNvPr>
          <p:cNvCxnSpPr>
            <a:cxnSpLocks/>
            <a:endCxn id="8" idx="0"/>
          </p:cNvCxnSpPr>
          <p:nvPr/>
        </p:nvCxnSpPr>
        <p:spPr>
          <a:xfrm>
            <a:off x="5627868" y="2125274"/>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918552C-264B-114B-9486-6A2C5EE70EB4}"/>
              </a:ext>
            </a:extLst>
          </p:cNvPr>
          <p:cNvCxnSpPr>
            <a:cxnSpLocks/>
          </p:cNvCxnSpPr>
          <p:nvPr/>
        </p:nvCxnSpPr>
        <p:spPr>
          <a:xfrm>
            <a:off x="5627868" y="2812309"/>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B7C96B72-01CC-6F44-A843-F9F764DE7E1B}"/>
              </a:ext>
            </a:extLst>
          </p:cNvPr>
          <p:cNvCxnSpPr>
            <a:cxnSpLocks/>
          </p:cNvCxnSpPr>
          <p:nvPr/>
        </p:nvCxnSpPr>
        <p:spPr>
          <a:xfrm>
            <a:off x="5627868" y="3519116"/>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29157CA7-6F1D-B34F-8D9F-5A7F4EA69ECB}"/>
              </a:ext>
            </a:extLst>
          </p:cNvPr>
          <p:cNvCxnSpPr>
            <a:cxnSpLocks/>
            <a:endCxn id="12" idx="0"/>
          </p:cNvCxnSpPr>
          <p:nvPr/>
        </p:nvCxnSpPr>
        <p:spPr>
          <a:xfrm>
            <a:off x="5627868" y="4220980"/>
            <a:ext cx="1251315"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4CE0640D-ACFF-6244-90AC-66482A5F4CD9}"/>
              </a:ext>
            </a:extLst>
          </p:cNvPr>
          <p:cNvCxnSpPr>
            <a:cxnSpLocks/>
            <a:endCxn id="11" idx="0"/>
          </p:cNvCxnSpPr>
          <p:nvPr/>
        </p:nvCxnSpPr>
        <p:spPr>
          <a:xfrm flipH="1">
            <a:off x="4333105" y="4220980"/>
            <a:ext cx="1294762"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32" name="Groupe 31">
            <a:extLst>
              <a:ext uri="{FF2B5EF4-FFF2-40B4-BE49-F238E27FC236}">
                <a16:creationId xmlns:a16="http://schemas.microsoft.com/office/drawing/2014/main" id="{F7DD1873-5835-D249-92B0-385AC4CF8052}"/>
              </a:ext>
            </a:extLst>
          </p:cNvPr>
          <p:cNvGrpSpPr/>
          <p:nvPr/>
        </p:nvGrpSpPr>
        <p:grpSpPr>
          <a:xfrm>
            <a:off x="6564135" y="3855944"/>
            <a:ext cx="1668586" cy="681620"/>
            <a:chOff x="4467540" y="4051953"/>
            <a:chExt cx="3047084" cy="1244741"/>
          </a:xfrm>
        </p:grpSpPr>
        <p:grpSp>
          <p:nvGrpSpPr>
            <p:cNvPr id="33" name="Groupe 32">
              <a:extLst>
                <a:ext uri="{FF2B5EF4-FFF2-40B4-BE49-F238E27FC236}">
                  <a16:creationId xmlns:a16="http://schemas.microsoft.com/office/drawing/2014/main" id="{A9C28895-0B76-E743-9340-4830EF9A20BB}"/>
                </a:ext>
              </a:extLst>
            </p:cNvPr>
            <p:cNvGrpSpPr/>
            <p:nvPr/>
          </p:nvGrpSpPr>
          <p:grpSpPr>
            <a:xfrm>
              <a:off x="4886162" y="4051953"/>
              <a:ext cx="2628462" cy="1244741"/>
              <a:chOff x="4139926" y="2291668"/>
              <a:chExt cx="3068600" cy="1453173"/>
            </a:xfrm>
          </p:grpSpPr>
          <p:sp>
            <p:nvSpPr>
              <p:cNvPr id="38" name="Forme libre 37">
                <a:extLst>
                  <a:ext uri="{FF2B5EF4-FFF2-40B4-BE49-F238E27FC236}">
                    <a16:creationId xmlns:a16="http://schemas.microsoft.com/office/drawing/2014/main" id="{3527E8FC-E1D3-5E43-B392-E1C4A7AC9D4C}"/>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39" name="Rectangle 38">
                <a:extLst>
                  <a:ext uri="{FF2B5EF4-FFF2-40B4-BE49-F238E27FC236}">
                    <a16:creationId xmlns:a16="http://schemas.microsoft.com/office/drawing/2014/main" id="{442D49A0-6F58-4645-BF54-815FD8F896D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Événement</a:t>
                </a:r>
              </a:p>
            </p:txBody>
          </p:sp>
        </p:grpSp>
        <p:grpSp>
          <p:nvGrpSpPr>
            <p:cNvPr id="34" name="Groupe 33">
              <a:extLst>
                <a:ext uri="{FF2B5EF4-FFF2-40B4-BE49-F238E27FC236}">
                  <a16:creationId xmlns:a16="http://schemas.microsoft.com/office/drawing/2014/main" id="{6049FB0C-BD81-6744-89FA-30B75BAD963B}"/>
                </a:ext>
              </a:extLst>
            </p:cNvPr>
            <p:cNvGrpSpPr/>
            <p:nvPr/>
          </p:nvGrpSpPr>
          <p:grpSpPr>
            <a:xfrm>
              <a:off x="4467540" y="4079457"/>
              <a:ext cx="736611" cy="1100506"/>
              <a:chOff x="3153747" y="2382820"/>
              <a:chExt cx="736611" cy="1100506"/>
            </a:xfrm>
          </p:grpSpPr>
          <p:sp>
            <p:nvSpPr>
              <p:cNvPr id="35" name="Arc 34">
                <a:extLst>
                  <a:ext uri="{FF2B5EF4-FFF2-40B4-BE49-F238E27FC236}">
                    <a16:creationId xmlns:a16="http://schemas.microsoft.com/office/drawing/2014/main" id="{F666ACC0-FF61-1B46-AEFC-F2F7CF34B73D}"/>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6" name="Arc 35">
                <a:extLst>
                  <a:ext uri="{FF2B5EF4-FFF2-40B4-BE49-F238E27FC236}">
                    <a16:creationId xmlns:a16="http://schemas.microsoft.com/office/drawing/2014/main" id="{0E09215A-89A9-344A-93D3-C254ADE7A6F7}"/>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7" name="Arc 36">
                <a:extLst>
                  <a:ext uri="{FF2B5EF4-FFF2-40B4-BE49-F238E27FC236}">
                    <a16:creationId xmlns:a16="http://schemas.microsoft.com/office/drawing/2014/main" id="{8B72436B-F811-9B48-A13F-974B879A42C9}"/>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40" name="Arc 39">
            <a:extLst>
              <a:ext uri="{FF2B5EF4-FFF2-40B4-BE49-F238E27FC236}">
                <a16:creationId xmlns:a16="http://schemas.microsoft.com/office/drawing/2014/main" id="{5AD60BDF-850D-FE45-B327-348190E5546C}"/>
              </a:ext>
            </a:extLst>
          </p:cNvPr>
          <p:cNvSpPr/>
          <p:nvPr/>
        </p:nvSpPr>
        <p:spPr>
          <a:xfrm>
            <a:off x="7982371" y="4043939"/>
            <a:ext cx="924463" cy="632123"/>
          </a:xfrm>
          <a:prstGeom prst="arc">
            <a:avLst>
              <a:gd name="adj1" fmla="val 13490468"/>
              <a:gd name="adj2" fmla="val 21549927"/>
            </a:avLst>
          </a:prstGeom>
          <a:ln w="381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42" name="Arc 41">
            <a:extLst>
              <a:ext uri="{FF2B5EF4-FFF2-40B4-BE49-F238E27FC236}">
                <a16:creationId xmlns:a16="http://schemas.microsoft.com/office/drawing/2014/main" id="{8F738D51-4751-6B4B-8CCF-6CC473596C1B}"/>
              </a:ext>
            </a:extLst>
          </p:cNvPr>
          <p:cNvSpPr/>
          <p:nvPr/>
        </p:nvSpPr>
        <p:spPr>
          <a:xfrm rot="1583111">
            <a:off x="7950003" y="4213871"/>
            <a:ext cx="924463" cy="632123"/>
          </a:xfrm>
          <a:prstGeom prst="arc">
            <a:avLst>
              <a:gd name="adj1" fmla="val 13490468"/>
              <a:gd name="adj2" fmla="val 21549927"/>
            </a:avLst>
          </a:prstGeom>
          <a:ln w="38100">
            <a:solidFill>
              <a:schemeClr val="tx1"/>
            </a:solidFill>
            <a:headEnd type="none" w="med" len="med"/>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a:p>
        </p:txBody>
      </p:sp>
      <p:sp>
        <p:nvSpPr>
          <p:cNvPr id="4" name="Espace réservé du numéro de diapositive 3">
            <a:extLst>
              <a:ext uri="{FF2B5EF4-FFF2-40B4-BE49-F238E27FC236}">
                <a16:creationId xmlns:a16="http://schemas.microsoft.com/office/drawing/2014/main" id="{B4966007-E810-9939-09C7-7953205D3271}"/>
              </a:ext>
            </a:extLst>
          </p:cNvPr>
          <p:cNvSpPr>
            <a:spLocks noGrp="1"/>
          </p:cNvSpPr>
          <p:nvPr>
            <p:ph type="sldNum" sz="quarter" idx="4"/>
          </p:nvPr>
        </p:nvSpPr>
        <p:spPr/>
        <p:txBody>
          <a:bodyPr/>
          <a:lstStyle/>
          <a:p>
            <a:fld id="{33C783E2-4793-4F48-A271-51A73CC37D74}" type="slidenum">
              <a:rPr lang="fr-FR" smtClean="0"/>
              <a:t>30</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up)">
                                      <p:cBhvr>
                                        <p:cTn id="7" dur="1000"/>
                                        <p:tgtEl>
                                          <p:spTgt spid="13"/>
                                        </p:tgtEl>
                                      </p:cBhvr>
                                    </p:animEffect>
                                  </p:childTnLst>
                                </p:cTn>
                              </p:par>
                              <p:par>
                                <p:cTn id="8" presetID="22" presetClass="entr" presetSubtype="8"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wipe(left)">
                                      <p:cBhvr>
                                        <p:cTn id="10" dur="500"/>
                                        <p:tgtEl>
                                          <p:spTgt spid="22"/>
                                        </p:tgtEl>
                                      </p:cBhvr>
                                    </p:animEffect>
                                  </p:childTnLst>
                                </p:cTn>
                              </p:par>
                              <p:par>
                                <p:cTn id="11" presetID="22" presetClass="entr" presetSubtype="8" fill="hold" nodeType="withEffect">
                                  <p:stCondLst>
                                    <p:cond delay="0"/>
                                  </p:stCondLst>
                                  <p:childTnLst>
                                    <p:set>
                                      <p:cBhvr>
                                        <p:cTn id="12" dur="1" fill="hold">
                                          <p:stCondLst>
                                            <p:cond delay="0"/>
                                          </p:stCondLst>
                                        </p:cTn>
                                        <p:tgtEl>
                                          <p:spTgt spid="25"/>
                                        </p:tgtEl>
                                        <p:attrNameLst>
                                          <p:attrName>style.visibility</p:attrName>
                                        </p:attrNameLst>
                                      </p:cBhvr>
                                      <p:to>
                                        <p:strVal val="visible"/>
                                      </p:to>
                                    </p:set>
                                    <p:animEffect transition="in" filter="wipe(left)">
                                      <p:cBhvr>
                                        <p:cTn id="13" dur="500"/>
                                        <p:tgtEl>
                                          <p:spTgt spid="25"/>
                                        </p:tgtEl>
                                      </p:cBhvr>
                                    </p:animEffect>
                                  </p:childTnLst>
                                </p:cTn>
                              </p:par>
                              <p:par>
                                <p:cTn id="14" presetID="22" presetClass="entr" presetSubtype="8" fill="hold" nodeType="withEffect">
                                  <p:stCondLst>
                                    <p:cond delay="0"/>
                                  </p:stCondLst>
                                  <p:childTnLst>
                                    <p:set>
                                      <p:cBhvr>
                                        <p:cTn id="15" dur="1" fill="hold">
                                          <p:stCondLst>
                                            <p:cond delay="0"/>
                                          </p:stCondLst>
                                        </p:cTn>
                                        <p:tgtEl>
                                          <p:spTgt spid="26"/>
                                        </p:tgtEl>
                                        <p:attrNameLst>
                                          <p:attrName>style.visibility</p:attrName>
                                        </p:attrNameLst>
                                      </p:cBhvr>
                                      <p:to>
                                        <p:strVal val="visible"/>
                                      </p:to>
                                    </p:set>
                                    <p:animEffect transition="in" filter="wipe(left)">
                                      <p:cBhvr>
                                        <p:cTn id="16" dur="500"/>
                                        <p:tgtEl>
                                          <p:spTgt spid="26"/>
                                        </p:tgtEl>
                                      </p:cBhvr>
                                    </p:animEffect>
                                  </p:childTnLst>
                                </p:cTn>
                              </p:par>
                              <p:par>
                                <p:cTn id="17" presetID="22" presetClass="entr" presetSubtype="8" fill="hold" nodeType="withEffect">
                                  <p:stCondLst>
                                    <p:cond delay="0"/>
                                  </p:stCondLst>
                                  <p:childTnLst>
                                    <p:set>
                                      <p:cBhvr>
                                        <p:cTn id="18" dur="1" fill="hold">
                                          <p:stCondLst>
                                            <p:cond delay="0"/>
                                          </p:stCondLst>
                                        </p:cTn>
                                        <p:tgtEl>
                                          <p:spTgt spid="27"/>
                                        </p:tgtEl>
                                        <p:attrNameLst>
                                          <p:attrName>style.visibility</p:attrName>
                                        </p:attrNameLst>
                                      </p:cBhvr>
                                      <p:to>
                                        <p:strVal val="visible"/>
                                      </p:to>
                                    </p:set>
                                    <p:animEffect transition="in" filter="wipe(left)">
                                      <p:cBhvr>
                                        <p:cTn id="19" dur="500"/>
                                        <p:tgtEl>
                                          <p:spTgt spid="27"/>
                                        </p:tgtEl>
                                      </p:cBhvr>
                                    </p:animEffect>
                                  </p:childTnLst>
                                </p:cTn>
                              </p:par>
                              <p:par>
                                <p:cTn id="20" presetID="22" presetClass="entr" presetSubtype="8" fill="hold" nodeType="with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wipe(left)">
                                      <p:cBhvr>
                                        <p:cTn id="22" dur="5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wipe(left)">
                                      <p:cBhvr>
                                        <p:cTn id="27" dur="500"/>
                                        <p:tgtEl>
                                          <p:spTgt spid="14"/>
                                        </p:tgtEl>
                                      </p:cBhvr>
                                    </p:animEffect>
                                  </p:childTnLst>
                                </p:cTn>
                              </p:par>
                            </p:childTnLst>
                          </p:cTn>
                        </p:par>
                        <p:par>
                          <p:cTn id="28" fill="hold">
                            <p:stCondLst>
                              <p:cond delay="500"/>
                            </p:stCondLst>
                            <p:childTnLst>
                              <p:par>
                                <p:cTn id="29" presetID="12" presetClass="entr" presetSubtype="1" fill="hold" grpId="0" nodeType="afterEffect">
                                  <p:stCondLst>
                                    <p:cond delay="0"/>
                                  </p:stCondLst>
                                  <p:childTnLst>
                                    <p:set>
                                      <p:cBhvr>
                                        <p:cTn id="30" dur="1" fill="hold">
                                          <p:stCondLst>
                                            <p:cond delay="0"/>
                                          </p:stCondLst>
                                        </p:cTn>
                                        <p:tgtEl>
                                          <p:spTgt spid="21"/>
                                        </p:tgtEl>
                                        <p:attrNameLst>
                                          <p:attrName>style.visibility</p:attrName>
                                        </p:attrNameLst>
                                      </p:cBhvr>
                                      <p:to>
                                        <p:strVal val="visible"/>
                                      </p:to>
                                    </p:set>
                                    <p:anim calcmode="lin" valueType="num">
                                      <p:cBhvr additive="base">
                                        <p:cTn id="31" dur="500"/>
                                        <p:tgtEl>
                                          <p:spTgt spid="21"/>
                                        </p:tgtEl>
                                        <p:attrNameLst>
                                          <p:attrName>ppt_y</p:attrName>
                                        </p:attrNameLst>
                                      </p:cBhvr>
                                      <p:tavLst>
                                        <p:tav tm="0">
                                          <p:val>
                                            <p:strVal val="#ppt_y-#ppt_h*1.125000"/>
                                          </p:val>
                                        </p:tav>
                                        <p:tav tm="100000">
                                          <p:val>
                                            <p:strVal val="#ppt_y"/>
                                          </p:val>
                                        </p:tav>
                                      </p:tavLst>
                                    </p:anim>
                                    <p:animEffect transition="in" filter="wipe(down)">
                                      <p:cBhvr>
                                        <p:cTn id="32" dur="500"/>
                                        <p:tgtEl>
                                          <p:spTgt spid="21"/>
                                        </p:tgtEl>
                                      </p:cBhvr>
                                    </p:animEffect>
                                  </p:childTnLst>
                                </p:cTn>
                              </p:par>
                              <p:par>
                                <p:cTn id="33" presetID="22" presetClass="entr" presetSubtype="8"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wipe(left)">
                                      <p:cBhvr>
                                        <p:cTn id="35" dur="500"/>
                                        <p:tgtEl>
                                          <p:spTgt spid="17"/>
                                        </p:tgtEl>
                                      </p:cBhvr>
                                    </p:animEffect>
                                  </p:childTnLst>
                                </p:cTn>
                              </p:par>
                            </p:childTnLst>
                          </p:cTn>
                        </p:par>
                        <p:par>
                          <p:cTn id="36" fill="hold">
                            <p:stCondLst>
                              <p:cond delay="1000"/>
                            </p:stCondLst>
                            <p:childTnLst>
                              <p:par>
                                <p:cTn id="37" presetID="22" presetClass="entr" presetSubtype="8" fill="hold" grpId="0" nodeType="afterEffect">
                                  <p:stCondLst>
                                    <p:cond delay="500"/>
                                  </p:stCondLst>
                                  <p:childTnLst>
                                    <p:set>
                                      <p:cBhvr>
                                        <p:cTn id="38" dur="1" fill="hold">
                                          <p:stCondLst>
                                            <p:cond delay="0"/>
                                          </p:stCondLst>
                                        </p:cTn>
                                        <p:tgtEl>
                                          <p:spTgt spid="15"/>
                                        </p:tgtEl>
                                        <p:attrNameLst>
                                          <p:attrName>style.visibility</p:attrName>
                                        </p:attrNameLst>
                                      </p:cBhvr>
                                      <p:to>
                                        <p:strVal val="visible"/>
                                      </p:to>
                                    </p:set>
                                    <p:animEffect transition="in" filter="wipe(left)">
                                      <p:cBhvr>
                                        <p:cTn id="39" dur="500"/>
                                        <p:tgtEl>
                                          <p:spTgt spid="15"/>
                                        </p:tgtEl>
                                      </p:cBhvr>
                                    </p:animEffect>
                                  </p:childTnLst>
                                </p:cTn>
                              </p:par>
                              <p:par>
                                <p:cTn id="40" presetID="22" presetClass="entr" presetSubtype="8" fill="hold" nodeType="withEffect">
                                  <p:stCondLst>
                                    <p:cond delay="500"/>
                                  </p:stCondLst>
                                  <p:childTnLst>
                                    <p:set>
                                      <p:cBhvr>
                                        <p:cTn id="41" dur="1" fill="hold">
                                          <p:stCondLst>
                                            <p:cond delay="0"/>
                                          </p:stCondLst>
                                        </p:cTn>
                                        <p:tgtEl>
                                          <p:spTgt spid="18"/>
                                        </p:tgtEl>
                                        <p:attrNameLst>
                                          <p:attrName>style.visibility</p:attrName>
                                        </p:attrNameLst>
                                      </p:cBhvr>
                                      <p:to>
                                        <p:strVal val="visible"/>
                                      </p:to>
                                    </p:set>
                                    <p:animEffect transition="in" filter="wipe(left)">
                                      <p:cBhvr>
                                        <p:cTn id="42" dur="500"/>
                                        <p:tgtEl>
                                          <p:spTgt spid="18"/>
                                        </p:tgtEl>
                                      </p:cBhvr>
                                    </p:animEffec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32"/>
                                        </p:tgtEl>
                                        <p:attrNameLst>
                                          <p:attrName>style.visibility</p:attrName>
                                        </p:attrNameLst>
                                      </p:cBhvr>
                                      <p:to>
                                        <p:strVal val="visible"/>
                                      </p:to>
                                    </p:set>
                                  </p:childTnLst>
                                </p:cTn>
                              </p:par>
                              <p:par>
                                <p:cTn id="47" presetID="0" presetClass="path" presetSubtype="0" accel="50000" decel="50000" fill="hold" nodeType="withEffect">
                                  <p:stCondLst>
                                    <p:cond delay="0"/>
                                  </p:stCondLst>
                                  <p:childTnLst>
                                    <p:animMotion origin="layout" path="M -0.07326 -0.33681 C -0.0743 -0.34607 -0.07535 -0.35533 -0.07239 -0.30394 C -0.06944 -0.25232 -0.06875 -0.08357 -0.05573 -0.02778 C -0.04253 0.028 -0.00451 0.01689 0.00625 0.03125 " pathEditMode="fixed" ptsTypes="AAAA">
                                      <p:cBhvr>
                                        <p:cTn id="48" dur="2000" fill="hold"/>
                                        <p:tgtEl>
                                          <p:spTgt spid="32"/>
                                        </p:tgtEl>
                                        <p:attrNameLst>
                                          <p:attrName>ppt_x</p:attrName>
                                          <p:attrName>ppt_y</p:attrName>
                                        </p:attrNameLst>
                                      </p:cBhvr>
                                    </p:animMotion>
                                  </p:childTnLst>
                                </p:cTn>
                              </p:par>
                            </p:childTnLst>
                          </p:cTn>
                        </p:par>
                        <p:par>
                          <p:cTn id="49" fill="hold">
                            <p:stCondLst>
                              <p:cond delay="2000"/>
                            </p:stCondLst>
                            <p:childTnLst>
                              <p:par>
                                <p:cTn id="50" presetID="22" presetClass="entr" presetSubtype="1" fill="hold" grpId="0" nodeType="after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wipe(up)">
                                      <p:cBhvr>
                                        <p:cTn id="52" dur="500"/>
                                        <p:tgtEl>
                                          <p:spTgt spid="40"/>
                                        </p:tgtEl>
                                      </p:cBhvr>
                                    </p:animEffect>
                                  </p:childTnLst>
                                </p:cTn>
                              </p:par>
                            </p:childTnLst>
                          </p:cTn>
                        </p:par>
                        <p:par>
                          <p:cTn id="53" fill="hold">
                            <p:stCondLst>
                              <p:cond delay="2500"/>
                            </p:stCondLst>
                            <p:childTnLst>
                              <p:par>
                                <p:cTn id="54" presetID="22" presetClass="entr" presetSubtype="1" fill="hold" grpId="0" nodeType="afterEffect">
                                  <p:stCondLst>
                                    <p:cond delay="0"/>
                                  </p:stCondLst>
                                  <p:childTnLst>
                                    <p:set>
                                      <p:cBhvr>
                                        <p:cTn id="55" dur="1" fill="hold">
                                          <p:stCondLst>
                                            <p:cond delay="0"/>
                                          </p:stCondLst>
                                        </p:cTn>
                                        <p:tgtEl>
                                          <p:spTgt spid="42"/>
                                        </p:tgtEl>
                                        <p:attrNameLst>
                                          <p:attrName>style.visibility</p:attrName>
                                        </p:attrNameLst>
                                      </p:cBhvr>
                                      <p:to>
                                        <p:strVal val="visible"/>
                                      </p:to>
                                    </p:set>
                                    <p:animEffect transition="in" filter="wipe(up)">
                                      <p:cBhvr>
                                        <p:cTn id="5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21" grpId="0" animBg="1"/>
      <p:bldP spid="40" grpId="0" animBg="1"/>
      <p:bldP spid="42"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DE6083-8256-154A-B26F-2269D186C987}"/>
              </a:ext>
            </a:extLst>
          </p:cNvPr>
          <p:cNvSpPr>
            <a:spLocks noGrp="1"/>
          </p:cNvSpPr>
          <p:nvPr>
            <p:ph type="title"/>
          </p:nvPr>
        </p:nvSpPr>
        <p:spPr/>
        <p:txBody>
          <a:bodyPr>
            <a:normAutofit/>
          </a:bodyPr>
          <a:lstStyle/>
          <a:p>
            <a:r>
              <a:rPr lang="fr-FR" dirty="0"/>
              <a:t>Les </a:t>
            </a:r>
            <a:r>
              <a:rPr lang="fr-FR" sz="4400" dirty="0" err="1">
                <a:solidFill>
                  <a:schemeClr val="accent4"/>
                </a:solidFill>
                <a:latin typeface="Consolas" panose="020B0609020204030204" pitchFamily="49" charset="0"/>
                <a:cs typeface="Consolas" panose="020B0609020204030204" pitchFamily="49" charset="0"/>
              </a:rPr>
              <a:t>E</a:t>
            </a:r>
            <a:r>
              <a:rPr lang="fr-FR" sz="4400" cap="none" dirty="0" err="1">
                <a:solidFill>
                  <a:schemeClr val="accent4"/>
                </a:solidFill>
                <a:latin typeface="Consolas" panose="020B0609020204030204" pitchFamily="49" charset="0"/>
                <a:cs typeface="Consolas" panose="020B0609020204030204" pitchFamily="49" charset="0"/>
              </a:rPr>
              <a:t>vent</a:t>
            </a:r>
            <a:r>
              <a:rPr lang="fr-FR" sz="4400" dirty="0" err="1">
                <a:solidFill>
                  <a:schemeClr val="accent4"/>
                </a:solidFill>
                <a:latin typeface="Consolas" panose="020B0609020204030204" pitchFamily="49" charset="0"/>
                <a:cs typeface="Consolas" panose="020B0609020204030204" pitchFamily="49" charset="0"/>
              </a:rPr>
              <a:t>Filter</a:t>
            </a:r>
            <a:endParaRPr lang="fr-FR" dirty="0"/>
          </a:p>
        </p:txBody>
      </p:sp>
      <p:sp>
        <p:nvSpPr>
          <p:cNvPr id="3" name="Rectangle 2">
            <a:extLst>
              <a:ext uri="{FF2B5EF4-FFF2-40B4-BE49-F238E27FC236}">
                <a16:creationId xmlns:a16="http://schemas.microsoft.com/office/drawing/2014/main" id="{790C4C52-7F42-2E4E-A436-82763CA856C4}"/>
              </a:ext>
            </a:extLst>
          </p:cNvPr>
          <p:cNvSpPr/>
          <p:nvPr/>
        </p:nvSpPr>
        <p:spPr>
          <a:xfrm>
            <a:off x="841248" y="5870448"/>
            <a:ext cx="5486400" cy="274320"/>
          </a:xfrm>
          <a:prstGeom prst="rect">
            <a:avLst/>
          </a:prstGeom>
        </p:spPr>
        <p:txBody>
          <a:bodyPr wrap="square">
            <a:spAutoFit/>
          </a:bodyPr>
          <a:lstStyle/>
          <a:p>
            <a:r>
              <a:rPr lang="fr-FR" sz="1100" i="1" dirty="0"/>
              <a:t>Source : </a:t>
            </a:r>
            <a:r>
              <a:rPr sz="1100">
                <a:hlinkClick r:id="rId3"/>
              </a:rPr>
              <a:t>Stack Overflow, question 25740103</a:t>
            </a:r>
            <a:endParaRPr lang="fr-FR" sz="1200" i="1" dirty="0"/>
          </a:p>
        </p:txBody>
      </p:sp>
      <p:grpSp>
        <p:nvGrpSpPr>
          <p:cNvPr id="13" name="Groupe 12">
            <a:extLst>
              <a:ext uri="{FF2B5EF4-FFF2-40B4-BE49-F238E27FC236}">
                <a16:creationId xmlns:a16="http://schemas.microsoft.com/office/drawing/2014/main" id="{73E26F97-7D94-2143-B907-8C837FC3BD12}"/>
              </a:ext>
            </a:extLst>
          </p:cNvPr>
          <p:cNvGrpSpPr/>
          <p:nvPr/>
        </p:nvGrpSpPr>
        <p:grpSpPr>
          <a:xfrm>
            <a:off x="7436208" y="2228470"/>
            <a:ext cx="4005944" cy="3151241"/>
            <a:chOff x="1665513" y="1772829"/>
            <a:chExt cx="5018314" cy="3947613"/>
          </a:xfrm>
        </p:grpSpPr>
        <p:sp>
          <p:nvSpPr>
            <p:cNvPr id="7" name="Rectangle : coins arrondis 6">
              <a:extLst>
                <a:ext uri="{FF2B5EF4-FFF2-40B4-BE49-F238E27FC236}">
                  <a16:creationId xmlns:a16="http://schemas.microsoft.com/office/drawing/2014/main" id="{C164CF95-3D0A-8A47-BFBE-C85F0D5C7FB6}"/>
                </a:ext>
              </a:extLst>
            </p:cNvPr>
            <p:cNvSpPr/>
            <p:nvPr/>
          </p:nvSpPr>
          <p:spPr>
            <a:xfrm>
              <a:off x="3287485" y="1772829"/>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Stage</a:t>
              </a:r>
            </a:p>
          </p:txBody>
        </p:sp>
        <p:sp>
          <p:nvSpPr>
            <p:cNvPr id="8" name="Rectangle : coins arrondis 7">
              <a:extLst>
                <a:ext uri="{FF2B5EF4-FFF2-40B4-BE49-F238E27FC236}">
                  <a16:creationId xmlns:a16="http://schemas.microsoft.com/office/drawing/2014/main" id="{491234DF-841B-7F4F-A6FC-A0BFED02FBC3}"/>
                </a:ext>
              </a:extLst>
            </p:cNvPr>
            <p:cNvSpPr/>
            <p:nvPr/>
          </p:nvSpPr>
          <p:spPr>
            <a:xfrm>
              <a:off x="3287485" y="2645047"/>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Scene</a:t>
              </a:r>
              <a:endParaRPr lang="fr-FR" sz="1600" dirty="0">
                <a:latin typeface="Consolas" panose="020B0609020204030204" pitchFamily="49" charset="0"/>
                <a:cs typeface="Consolas" panose="020B0609020204030204" pitchFamily="49" charset="0"/>
              </a:endParaRPr>
            </a:p>
          </p:txBody>
        </p:sp>
        <p:sp>
          <p:nvSpPr>
            <p:cNvPr id="9" name="Rectangle : coins arrondis 8">
              <a:extLst>
                <a:ext uri="{FF2B5EF4-FFF2-40B4-BE49-F238E27FC236}">
                  <a16:creationId xmlns:a16="http://schemas.microsoft.com/office/drawing/2014/main" id="{9E81C4B6-1051-9B4E-8ECB-EDCA0F0A503B}"/>
                </a:ext>
              </a:extLst>
            </p:cNvPr>
            <p:cNvSpPr/>
            <p:nvPr/>
          </p:nvSpPr>
          <p:spPr>
            <a:xfrm>
              <a:off x="3287485" y="3517265"/>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BorderPane</a:t>
              </a:r>
              <a:endParaRPr lang="fr-FR" sz="1600" dirty="0">
                <a:latin typeface="Consolas" panose="020B0609020204030204" pitchFamily="49" charset="0"/>
                <a:cs typeface="Consolas" panose="020B0609020204030204" pitchFamily="49" charset="0"/>
              </a:endParaRPr>
            </a:p>
          </p:txBody>
        </p:sp>
        <p:sp>
          <p:nvSpPr>
            <p:cNvPr id="10" name="Rectangle : coins arrondis 9">
              <a:extLst>
                <a:ext uri="{FF2B5EF4-FFF2-40B4-BE49-F238E27FC236}">
                  <a16:creationId xmlns:a16="http://schemas.microsoft.com/office/drawing/2014/main" id="{A4D5A57C-C4A8-4745-9AB0-31AF2357FCAB}"/>
                </a:ext>
              </a:extLst>
            </p:cNvPr>
            <p:cNvSpPr/>
            <p:nvPr/>
          </p:nvSpPr>
          <p:spPr>
            <a:xfrm>
              <a:off x="3287485" y="4389483"/>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Pane</a:t>
              </a:r>
            </a:p>
          </p:txBody>
        </p:sp>
        <p:sp>
          <p:nvSpPr>
            <p:cNvPr id="11" name="Rectangle : coins arrondis 10">
              <a:extLst>
                <a:ext uri="{FF2B5EF4-FFF2-40B4-BE49-F238E27FC236}">
                  <a16:creationId xmlns:a16="http://schemas.microsoft.com/office/drawing/2014/main" id="{46BE3D6E-E636-DA41-8D9F-1AA64F0F6F00}"/>
                </a:ext>
              </a:extLst>
            </p:cNvPr>
            <p:cNvSpPr/>
            <p:nvPr/>
          </p:nvSpPr>
          <p:spPr>
            <a:xfrm>
              <a:off x="1665513"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Rectangle</a:t>
              </a:r>
            </a:p>
          </p:txBody>
        </p:sp>
        <p:sp>
          <p:nvSpPr>
            <p:cNvPr id="12" name="Rectangle : coins arrondis 11">
              <a:extLst>
                <a:ext uri="{FF2B5EF4-FFF2-40B4-BE49-F238E27FC236}">
                  <a16:creationId xmlns:a16="http://schemas.microsoft.com/office/drawing/2014/main" id="{71EC6A08-A8AF-3746-8A0C-EBE27F43EC0C}"/>
                </a:ext>
              </a:extLst>
            </p:cNvPr>
            <p:cNvSpPr/>
            <p:nvPr/>
          </p:nvSpPr>
          <p:spPr>
            <a:xfrm>
              <a:off x="4855027"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Circle</a:t>
              </a:r>
            </a:p>
          </p:txBody>
        </p:sp>
      </p:grpSp>
      <p:cxnSp>
        <p:nvCxnSpPr>
          <p:cNvPr id="22" name="Connecteur droit 21">
            <a:extLst>
              <a:ext uri="{FF2B5EF4-FFF2-40B4-BE49-F238E27FC236}">
                <a16:creationId xmlns:a16="http://schemas.microsoft.com/office/drawing/2014/main" id="{6596CF2D-3C72-024B-9D14-6B019FC961C7}"/>
              </a:ext>
            </a:extLst>
          </p:cNvPr>
          <p:cNvCxnSpPr>
            <a:cxnSpLocks/>
            <a:endCxn id="8" idx="0"/>
          </p:cNvCxnSpPr>
          <p:nvPr/>
        </p:nvCxnSpPr>
        <p:spPr>
          <a:xfrm>
            <a:off x="9460905" y="2594668"/>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918552C-264B-114B-9486-6A2C5EE70EB4}"/>
              </a:ext>
            </a:extLst>
          </p:cNvPr>
          <p:cNvCxnSpPr>
            <a:cxnSpLocks/>
          </p:cNvCxnSpPr>
          <p:nvPr/>
        </p:nvCxnSpPr>
        <p:spPr>
          <a:xfrm>
            <a:off x="9460257" y="3303071"/>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B7C96B72-01CC-6F44-A843-F9F764DE7E1B}"/>
              </a:ext>
            </a:extLst>
          </p:cNvPr>
          <p:cNvCxnSpPr>
            <a:cxnSpLocks/>
          </p:cNvCxnSpPr>
          <p:nvPr/>
        </p:nvCxnSpPr>
        <p:spPr>
          <a:xfrm>
            <a:off x="9460257" y="3971619"/>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29157CA7-6F1D-B34F-8D9F-5A7F4EA69ECB}"/>
              </a:ext>
            </a:extLst>
          </p:cNvPr>
          <p:cNvCxnSpPr>
            <a:cxnSpLocks/>
            <a:endCxn id="12" idx="0"/>
          </p:cNvCxnSpPr>
          <p:nvPr/>
        </p:nvCxnSpPr>
        <p:spPr>
          <a:xfrm>
            <a:off x="9460905" y="4690374"/>
            <a:ext cx="1251315"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4CE0640D-ACFF-6244-90AC-66482A5F4CD9}"/>
              </a:ext>
            </a:extLst>
          </p:cNvPr>
          <p:cNvCxnSpPr>
            <a:cxnSpLocks/>
            <a:endCxn id="11" idx="0"/>
          </p:cNvCxnSpPr>
          <p:nvPr/>
        </p:nvCxnSpPr>
        <p:spPr>
          <a:xfrm flipH="1">
            <a:off x="8166142" y="4690374"/>
            <a:ext cx="1294762"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8" name="Forme libre 27">
            <a:extLst>
              <a:ext uri="{FF2B5EF4-FFF2-40B4-BE49-F238E27FC236}">
                <a16:creationId xmlns:a16="http://schemas.microsoft.com/office/drawing/2014/main" id="{7969752A-1A37-984B-BB8A-DAC48DE26395}"/>
              </a:ext>
            </a:extLst>
          </p:cNvPr>
          <p:cNvSpPr/>
          <p:nvPr/>
        </p:nvSpPr>
        <p:spPr>
          <a:xfrm>
            <a:off x="8379263" y="2370040"/>
            <a:ext cx="2263861" cy="2532432"/>
          </a:xfrm>
          <a:custGeom>
            <a:avLst/>
            <a:gdLst>
              <a:gd name="connsiteX0" fmla="*/ 1733 w 2267175"/>
              <a:gd name="connsiteY0" fmla="*/ 32657 h 2531888"/>
              <a:gd name="connsiteX1" fmla="*/ 269521 w 2267175"/>
              <a:gd name="connsiteY1" fmla="*/ 2201091 h 2531888"/>
              <a:gd name="connsiteX2" fmla="*/ 1680310 w 2267175"/>
              <a:gd name="connsiteY2" fmla="*/ 2488474 h 2531888"/>
              <a:gd name="connsiteX3" fmla="*/ 2228950 w 2267175"/>
              <a:gd name="connsiteY3" fmla="*/ 1841863 h 2531888"/>
              <a:gd name="connsiteX4" fmla="*/ 2176699 w 2267175"/>
              <a:gd name="connsiteY4" fmla="*/ 0 h 2531888"/>
              <a:gd name="connsiteX0" fmla="*/ 273 w 2382557"/>
              <a:gd name="connsiteY0" fmla="*/ 19594 h 2532432"/>
              <a:gd name="connsiteX1" fmla="*/ 384903 w 2382557"/>
              <a:gd name="connsiteY1" fmla="*/ 2201091 h 2532432"/>
              <a:gd name="connsiteX2" fmla="*/ 1795692 w 2382557"/>
              <a:gd name="connsiteY2" fmla="*/ 2488474 h 2532432"/>
              <a:gd name="connsiteX3" fmla="*/ 2344332 w 2382557"/>
              <a:gd name="connsiteY3" fmla="*/ 1841863 h 2532432"/>
              <a:gd name="connsiteX4" fmla="*/ 2292081 w 2382557"/>
              <a:gd name="connsiteY4" fmla="*/ 0 h 2532432"/>
              <a:gd name="connsiteX0" fmla="*/ 0 w 2382284"/>
              <a:gd name="connsiteY0" fmla="*/ 19594 h 2532432"/>
              <a:gd name="connsiteX1" fmla="*/ 384630 w 2382284"/>
              <a:gd name="connsiteY1" fmla="*/ 2201091 h 2532432"/>
              <a:gd name="connsiteX2" fmla="*/ 1795419 w 2382284"/>
              <a:gd name="connsiteY2" fmla="*/ 2488474 h 2532432"/>
              <a:gd name="connsiteX3" fmla="*/ 2344059 w 2382284"/>
              <a:gd name="connsiteY3" fmla="*/ 1841863 h 2532432"/>
              <a:gd name="connsiteX4" fmla="*/ 2291808 w 2382284"/>
              <a:gd name="connsiteY4" fmla="*/ 0 h 253243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82284" h="2532432">
                <a:moveTo>
                  <a:pt x="0" y="19594"/>
                </a:moveTo>
                <a:cubicBezTo>
                  <a:pt x="90235" y="984067"/>
                  <a:pt x="85393" y="1789611"/>
                  <a:pt x="384630" y="2201091"/>
                </a:cubicBezTo>
                <a:cubicBezTo>
                  <a:pt x="683867" y="2612571"/>
                  <a:pt x="1468848" y="2548345"/>
                  <a:pt x="1795419" y="2488474"/>
                </a:cubicBezTo>
                <a:cubicBezTo>
                  <a:pt x="2121990" y="2428603"/>
                  <a:pt x="2261327" y="2256609"/>
                  <a:pt x="2344059" y="1841863"/>
                </a:cubicBezTo>
                <a:cubicBezTo>
                  <a:pt x="2426791" y="1427117"/>
                  <a:pt x="2359299" y="713558"/>
                  <a:pt x="2291808" y="0"/>
                </a:cubicBezTo>
              </a:path>
            </a:pathLst>
          </a:custGeom>
          <a:noFill/>
          <a:ln>
            <a:solidFill>
              <a:schemeClr val="accent3"/>
            </a:solidFill>
            <a:prstDash val="sysDash"/>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grpSp>
        <p:nvGrpSpPr>
          <p:cNvPr id="32" name="Groupe 31">
            <a:extLst>
              <a:ext uri="{FF2B5EF4-FFF2-40B4-BE49-F238E27FC236}">
                <a16:creationId xmlns:a16="http://schemas.microsoft.com/office/drawing/2014/main" id="{F7DD1873-5835-D249-92B0-385AC4CF8052}"/>
              </a:ext>
            </a:extLst>
          </p:cNvPr>
          <p:cNvGrpSpPr/>
          <p:nvPr/>
        </p:nvGrpSpPr>
        <p:grpSpPr>
          <a:xfrm>
            <a:off x="10050406" y="2503587"/>
            <a:ext cx="1668586" cy="681620"/>
            <a:chOff x="4467540" y="4051953"/>
            <a:chExt cx="3047084" cy="1244741"/>
          </a:xfrm>
        </p:grpSpPr>
        <p:grpSp>
          <p:nvGrpSpPr>
            <p:cNvPr id="33" name="Groupe 32">
              <a:extLst>
                <a:ext uri="{FF2B5EF4-FFF2-40B4-BE49-F238E27FC236}">
                  <a16:creationId xmlns:a16="http://schemas.microsoft.com/office/drawing/2014/main" id="{A9C28895-0B76-E743-9340-4830EF9A20BB}"/>
                </a:ext>
              </a:extLst>
            </p:cNvPr>
            <p:cNvGrpSpPr/>
            <p:nvPr/>
          </p:nvGrpSpPr>
          <p:grpSpPr>
            <a:xfrm>
              <a:off x="4886162" y="4051953"/>
              <a:ext cx="2628462" cy="1244741"/>
              <a:chOff x="4139926" y="2291668"/>
              <a:chExt cx="3068600" cy="1453173"/>
            </a:xfrm>
          </p:grpSpPr>
          <p:sp>
            <p:nvSpPr>
              <p:cNvPr id="38" name="Forme libre 37">
                <a:extLst>
                  <a:ext uri="{FF2B5EF4-FFF2-40B4-BE49-F238E27FC236}">
                    <a16:creationId xmlns:a16="http://schemas.microsoft.com/office/drawing/2014/main" id="{3527E8FC-E1D3-5E43-B392-E1C4A7AC9D4C}"/>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39" name="Rectangle 38">
                <a:extLst>
                  <a:ext uri="{FF2B5EF4-FFF2-40B4-BE49-F238E27FC236}">
                    <a16:creationId xmlns:a16="http://schemas.microsoft.com/office/drawing/2014/main" id="{442D49A0-6F58-4645-BF54-815FD8F896D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Événement</a:t>
                </a:r>
              </a:p>
            </p:txBody>
          </p:sp>
        </p:grpSp>
        <p:grpSp>
          <p:nvGrpSpPr>
            <p:cNvPr id="34" name="Groupe 33">
              <a:extLst>
                <a:ext uri="{FF2B5EF4-FFF2-40B4-BE49-F238E27FC236}">
                  <a16:creationId xmlns:a16="http://schemas.microsoft.com/office/drawing/2014/main" id="{6049FB0C-BD81-6744-89FA-30B75BAD963B}"/>
                </a:ext>
              </a:extLst>
            </p:cNvPr>
            <p:cNvGrpSpPr/>
            <p:nvPr/>
          </p:nvGrpSpPr>
          <p:grpSpPr>
            <a:xfrm>
              <a:off x="4467540" y="4079457"/>
              <a:ext cx="736611" cy="1100506"/>
              <a:chOff x="3153747" y="2382820"/>
              <a:chExt cx="736611" cy="1100506"/>
            </a:xfrm>
          </p:grpSpPr>
          <p:sp>
            <p:nvSpPr>
              <p:cNvPr id="35" name="Arc 34">
                <a:extLst>
                  <a:ext uri="{FF2B5EF4-FFF2-40B4-BE49-F238E27FC236}">
                    <a16:creationId xmlns:a16="http://schemas.microsoft.com/office/drawing/2014/main" id="{F666ACC0-FF61-1B46-AEFC-F2F7CF34B73D}"/>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6" name="Arc 35">
                <a:extLst>
                  <a:ext uri="{FF2B5EF4-FFF2-40B4-BE49-F238E27FC236}">
                    <a16:creationId xmlns:a16="http://schemas.microsoft.com/office/drawing/2014/main" id="{0E09215A-89A9-344A-93D3-C254ADE7A6F7}"/>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7" name="Arc 36">
                <a:extLst>
                  <a:ext uri="{FF2B5EF4-FFF2-40B4-BE49-F238E27FC236}">
                    <a16:creationId xmlns:a16="http://schemas.microsoft.com/office/drawing/2014/main" id="{8B72436B-F811-9B48-A13F-974B879A42C9}"/>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4" name="Rectangle 3">
            <a:extLst>
              <a:ext uri="{FF2B5EF4-FFF2-40B4-BE49-F238E27FC236}">
                <a16:creationId xmlns:a16="http://schemas.microsoft.com/office/drawing/2014/main" id="{F87BE522-844D-1C4E-9B55-C1AA26B9024E}"/>
              </a:ext>
            </a:extLst>
          </p:cNvPr>
          <p:cNvSpPr/>
          <p:nvPr/>
        </p:nvSpPr>
        <p:spPr>
          <a:xfrm>
            <a:off x="838200" y="1796363"/>
            <a:ext cx="6358197" cy="3539430"/>
          </a:xfrm>
          <a:prstGeom prst="rect">
            <a:avLst/>
          </a:prstGeom>
        </p:spPr>
        <p:txBody>
          <a:bodyPr wrap="square">
            <a:spAutoFit/>
          </a:bodyPr>
          <a:lstStyle/>
          <a:p>
            <a:r>
              <a:rPr lang="fr-BE" sz="2800" dirty="0"/>
              <a:t>Lors du déclenchement d’un événement, le processus qui détermine quel </a:t>
            </a:r>
            <a:r>
              <a:rPr lang="fr-BE" sz="2600" dirty="0" err="1">
                <a:solidFill>
                  <a:schemeClr val="accent4"/>
                </a:solidFill>
                <a:latin typeface="Consolas" panose="020B0609020204030204" pitchFamily="49" charset="0"/>
                <a:cs typeface="Consolas" panose="020B0609020204030204" pitchFamily="49" charset="0"/>
              </a:rPr>
              <a:t>Node</a:t>
            </a:r>
            <a:r>
              <a:rPr lang="fr-BE" sz="2800" dirty="0"/>
              <a:t> traite l’événement se déroule en </a:t>
            </a:r>
            <a:r>
              <a:rPr lang="fr-BE" sz="2800" dirty="0">
                <a:solidFill>
                  <a:schemeClr val="accent4"/>
                </a:solidFill>
              </a:rPr>
              <a:t>deux phases</a:t>
            </a:r>
            <a:r>
              <a:rPr lang="fr-BE" sz="2800" dirty="0">
                <a:solidFill>
                  <a:schemeClr val="accent2"/>
                </a:solidFill>
              </a:rPr>
              <a:t> </a:t>
            </a:r>
            <a:r>
              <a:rPr lang="fr-BE" sz="2800" dirty="0"/>
              <a:t>: </a:t>
            </a:r>
          </a:p>
          <a:p>
            <a:endParaRPr lang="fr-BE" sz="2800" dirty="0"/>
          </a:p>
          <a:p>
            <a:pPr marL="342900" indent="-342900">
              <a:buFont typeface="Arial" panose="020B0604020202020204" pitchFamily="34" charset="0"/>
              <a:buChar char="•"/>
            </a:pPr>
            <a:r>
              <a:rPr lang="fr-BE" sz="2800" dirty="0" err="1"/>
              <a:t>event</a:t>
            </a:r>
            <a:r>
              <a:rPr lang="fr-BE" sz="2800" dirty="0"/>
              <a:t> </a:t>
            </a:r>
            <a:r>
              <a:rPr lang="fr-BE" sz="2800" dirty="0" err="1"/>
              <a:t>capturing</a:t>
            </a:r>
            <a:r>
              <a:rPr lang="fr-BE" sz="2800" dirty="0"/>
              <a:t> (descente) </a:t>
            </a:r>
          </a:p>
          <a:p>
            <a:pPr marL="342900" indent="-342900">
              <a:buFont typeface="Arial" panose="020B0604020202020204" pitchFamily="34" charset="0"/>
              <a:buChar char="•"/>
            </a:pPr>
            <a:r>
              <a:rPr lang="fr-BE" sz="2800" dirty="0" err="1"/>
              <a:t>event</a:t>
            </a:r>
            <a:r>
              <a:rPr lang="fr-BE" sz="2800" dirty="0"/>
              <a:t> </a:t>
            </a:r>
            <a:r>
              <a:rPr lang="fr-BE" sz="2800" dirty="0" err="1"/>
              <a:t>bubbling</a:t>
            </a:r>
            <a:r>
              <a:rPr lang="fr-BE" sz="2800" dirty="0"/>
              <a:t> (remontée)</a:t>
            </a:r>
          </a:p>
          <a:p>
            <a:endParaRPr lang="fr-BE" sz="2800" dirty="0"/>
          </a:p>
        </p:txBody>
      </p:sp>
      <p:sp>
        <p:nvSpPr>
          <p:cNvPr id="5" name="Espace réservé du numéro de diapositive 4">
            <a:extLst>
              <a:ext uri="{FF2B5EF4-FFF2-40B4-BE49-F238E27FC236}">
                <a16:creationId xmlns:a16="http://schemas.microsoft.com/office/drawing/2014/main" id="{981B6B8D-7392-04E5-DDCB-311362F5B76A}"/>
              </a:ext>
            </a:extLst>
          </p:cNvPr>
          <p:cNvSpPr>
            <a:spLocks noGrp="1"/>
          </p:cNvSpPr>
          <p:nvPr>
            <p:ph type="sldNum" sz="quarter" idx="4"/>
          </p:nvPr>
        </p:nvSpPr>
        <p:spPr/>
        <p:txBody>
          <a:bodyPr/>
          <a:lstStyle/>
          <a:p>
            <a:fld id="{33C783E2-4793-4F48-A271-51A73CC37D74}" type="slidenum">
              <a:rPr lang="fr-FR" smtClean="0"/>
              <a:t>31</a:t>
            </a:fld>
            <a:endParaRPr lang="fr-FR"/>
          </a:p>
        </p:txBody>
      </p:sp>
      <p:sp>
        <p:nvSpPr>
          <p:cNvPr id="6"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2" end="2"/>
                                            </p:txEl>
                                          </p:spTgt>
                                        </p:tgtEl>
                                        <p:attrNameLst>
                                          <p:attrName>style.visibility</p:attrName>
                                        </p:attrNameLst>
                                      </p:cBhvr>
                                      <p:to>
                                        <p:strVal val="visible"/>
                                      </p:to>
                                    </p:set>
                                    <p:animEffect transition="in" filter="wipe(left)">
                                      <p:cBhvr>
                                        <p:cTn id="12" dur="500"/>
                                        <p:tgtEl>
                                          <p:spTgt spid="4">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animEffect transition="in" filter="wipe(left)">
                                      <p:cBhvr>
                                        <p:cTn id="17" dur="500"/>
                                        <p:tgtEl>
                                          <p:spTgt spid="4">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0" presetClass="path" presetSubtype="0" accel="50000" decel="50000" fill="hold" nodeType="withEffect">
                                  <p:stCondLst>
                                    <p:cond delay="0"/>
                                  </p:stCondLst>
                                  <p:childTnLst>
                                    <p:animMotion origin="layout" path="M -0.23815 -0.05833 C -0.23919 -0.06782 -0.21276 0.20209 -0.2099 0.25371 C -0.2069 0.34051 -0.01276 0.31829 0.00299 0.24445 C 0.00807 0.13843 0.00052 -0.02777 -0.00065 -0.06504 " pathEditMode="fixed" rAng="0" ptsTypes="AAAA">
                                      <p:cBhvr>
                                        <p:cTn id="28" dur="2000" fill="hold"/>
                                        <p:tgtEl>
                                          <p:spTgt spid="32"/>
                                        </p:tgtEl>
                                        <p:attrNameLst>
                                          <p:attrName>ppt_x</p:attrName>
                                          <p:attrName>ppt_y</p:attrName>
                                        </p:attrNameLst>
                                      </p:cBhvr>
                                      <p:rCtr x="12135" y="1805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4"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3DE6083-8256-154A-B26F-2269D186C987}"/>
              </a:ext>
            </a:extLst>
          </p:cNvPr>
          <p:cNvSpPr>
            <a:spLocks noGrp="1"/>
          </p:cNvSpPr>
          <p:nvPr>
            <p:ph type="title"/>
          </p:nvPr>
        </p:nvSpPr>
        <p:spPr/>
        <p:txBody>
          <a:bodyPr/>
          <a:lstStyle/>
          <a:p>
            <a:r>
              <a:rPr lang="fr-FR" sz="4400" dirty="0" err="1">
                <a:solidFill>
                  <a:schemeClr val="accent4"/>
                </a:solidFill>
                <a:latin typeface="Consolas" panose="020B0609020204030204" pitchFamily="49" charset="0"/>
                <a:cs typeface="Consolas" panose="020B0609020204030204" pitchFamily="49" charset="0"/>
              </a:rPr>
              <a:t>EventHandler</a:t>
            </a:r>
            <a:r>
              <a:rPr lang="fr-FR" dirty="0"/>
              <a:t> et </a:t>
            </a:r>
            <a:r>
              <a:rPr lang="fr-FR" sz="4400" dirty="0" err="1">
                <a:solidFill>
                  <a:schemeClr val="accent4"/>
                </a:solidFill>
                <a:latin typeface="Consolas" panose="020B0609020204030204" pitchFamily="49" charset="0"/>
                <a:cs typeface="Consolas" panose="020B0609020204030204" pitchFamily="49" charset="0"/>
              </a:rPr>
              <a:t>EventFilter</a:t>
            </a:r>
            <a:endParaRPr lang="fr-FR" sz="4400" dirty="0">
              <a:solidFill>
                <a:schemeClr val="accent4"/>
              </a:solidFill>
              <a:latin typeface="Consolas" panose="020B0609020204030204" pitchFamily="49" charset="0"/>
              <a:cs typeface="Consolas" panose="020B0609020204030204" pitchFamily="49" charset="0"/>
            </a:endParaRPr>
          </a:p>
        </p:txBody>
      </p:sp>
      <p:sp>
        <p:nvSpPr>
          <p:cNvPr id="3" name="Rectangle 2">
            <a:extLst>
              <a:ext uri="{FF2B5EF4-FFF2-40B4-BE49-F238E27FC236}">
                <a16:creationId xmlns:a16="http://schemas.microsoft.com/office/drawing/2014/main" id="{790C4C52-7F42-2E4E-A436-82763CA856C4}"/>
              </a:ext>
            </a:extLst>
          </p:cNvPr>
          <p:cNvSpPr/>
          <p:nvPr/>
        </p:nvSpPr>
        <p:spPr>
          <a:xfrm>
            <a:off x="841248" y="5870448"/>
            <a:ext cx="5486400" cy="274320"/>
          </a:xfrm>
          <a:prstGeom prst="rect">
            <a:avLst/>
          </a:prstGeom>
        </p:spPr>
        <p:txBody>
          <a:bodyPr wrap="square">
            <a:spAutoFit/>
          </a:bodyPr>
          <a:lstStyle/>
          <a:p>
            <a:r>
              <a:rPr lang="fr-FR" sz="1100" i="1" dirty="0"/>
              <a:t>Source : </a:t>
            </a:r>
            <a:r>
              <a:rPr sz="1100">
                <a:hlinkClick r:id="rId3"/>
              </a:rPr>
              <a:t>Stack Overflow, question 25740103</a:t>
            </a:r>
            <a:endParaRPr lang="fr-FR" sz="1200" i="1" dirty="0"/>
          </a:p>
        </p:txBody>
      </p:sp>
      <p:grpSp>
        <p:nvGrpSpPr>
          <p:cNvPr id="13" name="Groupe 12">
            <a:extLst>
              <a:ext uri="{FF2B5EF4-FFF2-40B4-BE49-F238E27FC236}">
                <a16:creationId xmlns:a16="http://schemas.microsoft.com/office/drawing/2014/main" id="{73E26F97-7D94-2143-B907-8C837FC3BD12}"/>
              </a:ext>
            </a:extLst>
          </p:cNvPr>
          <p:cNvGrpSpPr/>
          <p:nvPr/>
        </p:nvGrpSpPr>
        <p:grpSpPr>
          <a:xfrm>
            <a:off x="3603171" y="2949180"/>
            <a:ext cx="4005944" cy="3151241"/>
            <a:chOff x="1665513" y="1772829"/>
            <a:chExt cx="5018314" cy="3947613"/>
          </a:xfrm>
        </p:grpSpPr>
        <p:sp>
          <p:nvSpPr>
            <p:cNvPr id="7" name="Rectangle : coins arrondis 6">
              <a:extLst>
                <a:ext uri="{FF2B5EF4-FFF2-40B4-BE49-F238E27FC236}">
                  <a16:creationId xmlns:a16="http://schemas.microsoft.com/office/drawing/2014/main" id="{C164CF95-3D0A-8A47-BFBE-C85F0D5C7FB6}"/>
                </a:ext>
              </a:extLst>
            </p:cNvPr>
            <p:cNvSpPr/>
            <p:nvPr/>
          </p:nvSpPr>
          <p:spPr>
            <a:xfrm>
              <a:off x="3287485" y="1772829"/>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Stage</a:t>
              </a:r>
            </a:p>
          </p:txBody>
        </p:sp>
        <p:sp>
          <p:nvSpPr>
            <p:cNvPr id="8" name="Rectangle : coins arrondis 7">
              <a:extLst>
                <a:ext uri="{FF2B5EF4-FFF2-40B4-BE49-F238E27FC236}">
                  <a16:creationId xmlns:a16="http://schemas.microsoft.com/office/drawing/2014/main" id="{491234DF-841B-7F4F-A6FC-A0BFED02FBC3}"/>
                </a:ext>
              </a:extLst>
            </p:cNvPr>
            <p:cNvSpPr/>
            <p:nvPr/>
          </p:nvSpPr>
          <p:spPr>
            <a:xfrm>
              <a:off x="3287485" y="2645047"/>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Scene</a:t>
              </a:r>
              <a:endParaRPr lang="fr-FR" sz="1600" dirty="0">
                <a:latin typeface="Consolas" panose="020B0609020204030204" pitchFamily="49" charset="0"/>
                <a:cs typeface="Consolas" panose="020B0609020204030204" pitchFamily="49" charset="0"/>
              </a:endParaRPr>
            </a:p>
          </p:txBody>
        </p:sp>
        <p:sp>
          <p:nvSpPr>
            <p:cNvPr id="9" name="Rectangle : coins arrondis 8">
              <a:extLst>
                <a:ext uri="{FF2B5EF4-FFF2-40B4-BE49-F238E27FC236}">
                  <a16:creationId xmlns:a16="http://schemas.microsoft.com/office/drawing/2014/main" id="{9E81C4B6-1051-9B4E-8ECB-EDCA0F0A503B}"/>
                </a:ext>
              </a:extLst>
            </p:cNvPr>
            <p:cNvSpPr/>
            <p:nvPr/>
          </p:nvSpPr>
          <p:spPr>
            <a:xfrm>
              <a:off x="3287485" y="3517265"/>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BorderPane</a:t>
              </a:r>
              <a:endParaRPr lang="fr-FR" sz="1600" dirty="0">
                <a:latin typeface="Consolas" panose="020B0609020204030204" pitchFamily="49" charset="0"/>
                <a:cs typeface="Consolas" panose="020B0609020204030204" pitchFamily="49" charset="0"/>
              </a:endParaRPr>
            </a:p>
          </p:txBody>
        </p:sp>
        <p:sp>
          <p:nvSpPr>
            <p:cNvPr id="10" name="Rectangle : coins arrondis 9">
              <a:extLst>
                <a:ext uri="{FF2B5EF4-FFF2-40B4-BE49-F238E27FC236}">
                  <a16:creationId xmlns:a16="http://schemas.microsoft.com/office/drawing/2014/main" id="{A4D5A57C-C4A8-4745-9AB0-31AF2357FCAB}"/>
                </a:ext>
              </a:extLst>
            </p:cNvPr>
            <p:cNvSpPr/>
            <p:nvPr/>
          </p:nvSpPr>
          <p:spPr>
            <a:xfrm>
              <a:off x="3287485" y="4389483"/>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Pane</a:t>
              </a:r>
            </a:p>
          </p:txBody>
        </p:sp>
        <p:sp>
          <p:nvSpPr>
            <p:cNvPr id="11" name="Rectangle : coins arrondis 10">
              <a:extLst>
                <a:ext uri="{FF2B5EF4-FFF2-40B4-BE49-F238E27FC236}">
                  <a16:creationId xmlns:a16="http://schemas.microsoft.com/office/drawing/2014/main" id="{46BE3D6E-E636-DA41-8D9F-1AA64F0F6F00}"/>
                </a:ext>
              </a:extLst>
            </p:cNvPr>
            <p:cNvSpPr/>
            <p:nvPr/>
          </p:nvSpPr>
          <p:spPr>
            <a:xfrm>
              <a:off x="1665513"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Rectangle</a:t>
              </a:r>
            </a:p>
          </p:txBody>
        </p:sp>
        <p:sp>
          <p:nvSpPr>
            <p:cNvPr id="12" name="Rectangle : coins arrondis 11">
              <a:extLst>
                <a:ext uri="{FF2B5EF4-FFF2-40B4-BE49-F238E27FC236}">
                  <a16:creationId xmlns:a16="http://schemas.microsoft.com/office/drawing/2014/main" id="{71EC6A08-A8AF-3746-8A0C-EBE27F43EC0C}"/>
                </a:ext>
              </a:extLst>
            </p:cNvPr>
            <p:cNvSpPr/>
            <p:nvPr/>
          </p:nvSpPr>
          <p:spPr>
            <a:xfrm>
              <a:off x="4855027" y="5261700"/>
              <a:ext cx="1828800" cy="458742"/>
            </a:xfrm>
            <a:prstGeom prst="round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a:latin typeface="Consolas" panose="020B0609020204030204" pitchFamily="49" charset="0"/>
                  <a:cs typeface="Consolas" panose="020B0609020204030204" pitchFamily="49" charset="0"/>
                </a:rPr>
                <a:t>Circle</a:t>
              </a:r>
            </a:p>
          </p:txBody>
        </p:sp>
      </p:grpSp>
      <p:grpSp>
        <p:nvGrpSpPr>
          <p:cNvPr id="16" name="Groupe 15">
            <a:extLst>
              <a:ext uri="{FF2B5EF4-FFF2-40B4-BE49-F238E27FC236}">
                <a16:creationId xmlns:a16="http://schemas.microsoft.com/office/drawing/2014/main" id="{4F168DFA-5D85-D543-BB5A-7BAB16FFC9A6}"/>
              </a:ext>
            </a:extLst>
          </p:cNvPr>
          <p:cNvGrpSpPr/>
          <p:nvPr/>
        </p:nvGrpSpPr>
        <p:grpSpPr>
          <a:xfrm>
            <a:off x="7609115" y="5664133"/>
            <a:ext cx="2617560" cy="301752"/>
            <a:chOff x="6085115" y="4474029"/>
            <a:chExt cx="2617560" cy="301752"/>
          </a:xfrm>
        </p:grpSpPr>
        <p:sp>
          <p:nvSpPr>
            <p:cNvPr id="14" name="Terminaison 13">
              <a:extLst>
                <a:ext uri="{FF2B5EF4-FFF2-40B4-BE49-F238E27FC236}">
                  <a16:creationId xmlns:a16="http://schemas.microsoft.com/office/drawing/2014/main" id="{D4A57323-E62E-D74E-8CCE-D59AB9DA5E4E}"/>
                </a:ext>
              </a:extLst>
            </p:cNvPr>
            <p:cNvSpPr/>
            <p:nvPr/>
          </p:nvSpPr>
          <p:spPr>
            <a:xfrm>
              <a:off x="6890657" y="4474029"/>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cxnSp>
          <p:nvCxnSpPr>
            <p:cNvPr id="17" name="Connecteur droit 16">
              <a:extLst>
                <a:ext uri="{FF2B5EF4-FFF2-40B4-BE49-F238E27FC236}">
                  <a16:creationId xmlns:a16="http://schemas.microsoft.com/office/drawing/2014/main" id="{7BD7D9B6-4181-6D42-A43A-EC0A5AFF0F12}"/>
                </a:ext>
              </a:extLst>
            </p:cNvPr>
            <p:cNvCxnSpPr>
              <a:endCxn id="14" idx="1"/>
            </p:cNvCxnSpPr>
            <p:nvPr/>
          </p:nvCxnSpPr>
          <p:spPr>
            <a:xfrm flipV="1">
              <a:off x="6085115" y="4624905"/>
              <a:ext cx="805542" cy="102312"/>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grpSp>
        <p:nvGrpSpPr>
          <p:cNvPr id="19" name="Groupe 18">
            <a:extLst>
              <a:ext uri="{FF2B5EF4-FFF2-40B4-BE49-F238E27FC236}">
                <a16:creationId xmlns:a16="http://schemas.microsoft.com/office/drawing/2014/main" id="{0A266123-F455-684D-B17F-CE468002D782}"/>
              </a:ext>
            </a:extLst>
          </p:cNvPr>
          <p:cNvGrpSpPr/>
          <p:nvPr/>
        </p:nvGrpSpPr>
        <p:grpSpPr>
          <a:xfrm>
            <a:off x="7609115" y="5917321"/>
            <a:ext cx="2617560" cy="553032"/>
            <a:chOff x="6085115" y="4985658"/>
            <a:chExt cx="2617560" cy="553032"/>
          </a:xfrm>
        </p:grpSpPr>
        <p:sp>
          <p:nvSpPr>
            <p:cNvPr id="15" name="Terminaison 14">
              <a:extLst>
                <a:ext uri="{FF2B5EF4-FFF2-40B4-BE49-F238E27FC236}">
                  <a16:creationId xmlns:a16="http://schemas.microsoft.com/office/drawing/2014/main" id="{D03C91D6-B180-FB41-84DB-5CB998525D44}"/>
                </a:ext>
              </a:extLst>
            </p:cNvPr>
            <p:cNvSpPr/>
            <p:nvPr/>
          </p:nvSpPr>
          <p:spPr>
            <a:xfrm>
              <a:off x="6890657" y="5236938"/>
              <a:ext cx="1812018" cy="301752"/>
            </a:xfrm>
            <a:prstGeom prst="flowChartTerminator">
              <a:avLst/>
            </a:prstGeom>
            <a:solidFill>
              <a:schemeClr val="accent3"/>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latin typeface="Consolas" panose="020B0609020204030204" pitchFamily="49" charset="0"/>
                  <a:cs typeface="Consolas" panose="020B0609020204030204" pitchFamily="49" charset="0"/>
                </a:rPr>
                <a:t>EventHandler</a:t>
              </a:r>
              <a:endParaRPr lang="fr-FR" sz="1600" dirty="0">
                <a:latin typeface="Consolas" panose="020B0609020204030204" pitchFamily="49" charset="0"/>
                <a:cs typeface="Consolas" panose="020B0609020204030204" pitchFamily="49" charset="0"/>
              </a:endParaRPr>
            </a:p>
          </p:txBody>
        </p:sp>
        <p:cxnSp>
          <p:nvCxnSpPr>
            <p:cNvPr id="18" name="Connecteur droit 17">
              <a:extLst>
                <a:ext uri="{FF2B5EF4-FFF2-40B4-BE49-F238E27FC236}">
                  <a16:creationId xmlns:a16="http://schemas.microsoft.com/office/drawing/2014/main" id="{582DA460-6A02-4941-B33F-B4C0C8D0EA0A}"/>
                </a:ext>
              </a:extLst>
            </p:cNvPr>
            <p:cNvCxnSpPr>
              <a:cxnSpLocks/>
              <a:stCxn id="12" idx="3"/>
              <a:endCxn id="15" idx="1"/>
            </p:cNvCxnSpPr>
            <p:nvPr/>
          </p:nvCxnSpPr>
          <p:spPr>
            <a:xfrm>
              <a:off x="6085115" y="4985658"/>
              <a:ext cx="805542" cy="402156"/>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sp>
        <p:nvSpPr>
          <p:cNvPr id="21" name="Légende sans bordure 1 20">
            <a:extLst>
              <a:ext uri="{FF2B5EF4-FFF2-40B4-BE49-F238E27FC236}">
                <a16:creationId xmlns:a16="http://schemas.microsoft.com/office/drawing/2014/main" id="{E1F975EF-7275-4E43-97F6-F2E34D4321BD}"/>
              </a:ext>
            </a:extLst>
          </p:cNvPr>
          <p:cNvSpPr/>
          <p:nvPr/>
        </p:nvSpPr>
        <p:spPr>
          <a:xfrm>
            <a:off x="7506154" y="4664730"/>
            <a:ext cx="2095047" cy="301752"/>
          </a:xfrm>
          <a:prstGeom prst="callout1">
            <a:avLst>
              <a:gd name="adj1" fmla="val 98115"/>
              <a:gd name="adj2" fmla="val 19725"/>
              <a:gd name="adj3" fmla="val 372240"/>
              <a:gd name="adj4" fmla="val 25057"/>
            </a:avLst>
          </a:prstGeom>
          <a:noFill/>
          <a:ln w="12700">
            <a:solidFill>
              <a:schemeClr val="accent6"/>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chemeClr val="accent3"/>
                </a:solidFill>
                <a:latin typeface="Consolas" panose="020B0609020204030204" pitchFamily="49" charset="0"/>
                <a:cs typeface="Consolas" panose="020B0609020204030204" pitchFamily="49" charset="0"/>
              </a:rPr>
              <a:t>addEventHandler</a:t>
            </a:r>
            <a:endParaRPr lang="fr-FR" sz="1600" dirty="0">
              <a:solidFill>
                <a:schemeClr val="accent3"/>
              </a:solidFill>
              <a:latin typeface="Consolas" panose="020B0609020204030204" pitchFamily="49" charset="0"/>
              <a:cs typeface="Consolas" panose="020B0609020204030204" pitchFamily="49" charset="0"/>
            </a:endParaRPr>
          </a:p>
        </p:txBody>
      </p:sp>
      <p:cxnSp>
        <p:nvCxnSpPr>
          <p:cNvPr id="22" name="Connecteur droit 21">
            <a:extLst>
              <a:ext uri="{FF2B5EF4-FFF2-40B4-BE49-F238E27FC236}">
                <a16:creationId xmlns:a16="http://schemas.microsoft.com/office/drawing/2014/main" id="{6596CF2D-3C72-024B-9D14-6B019FC961C7}"/>
              </a:ext>
            </a:extLst>
          </p:cNvPr>
          <p:cNvCxnSpPr>
            <a:cxnSpLocks/>
            <a:endCxn id="8" idx="0"/>
          </p:cNvCxnSpPr>
          <p:nvPr/>
        </p:nvCxnSpPr>
        <p:spPr>
          <a:xfrm>
            <a:off x="5627868" y="3315378"/>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5" name="Connecteur droit 24">
            <a:extLst>
              <a:ext uri="{FF2B5EF4-FFF2-40B4-BE49-F238E27FC236}">
                <a16:creationId xmlns:a16="http://schemas.microsoft.com/office/drawing/2014/main" id="{C918552C-264B-114B-9486-6A2C5EE70EB4}"/>
              </a:ext>
            </a:extLst>
          </p:cNvPr>
          <p:cNvCxnSpPr>
            <a:cxnSpLocks/>
          </p:cNvCxnSpPr>
          <p:nvPr/>
        </p:nvCxnSpPr>
        <p:spPr>
          <a:xfrm>
            <a:off x="5627868" y="4002413"/>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6" name="Connecteur droit 25">
            <a:extLst>
              <a:ext uri="{FF2B5EF4-FFF2-40B4-BE49-F238E27FC236}">
                <a16:creationId xmlns:a16="http://schemas.microsoft.com/office/drawing/2014/main" id="{B7C96B72-01CC-6F44-A843-F9F764DE7E1B}"/>
              </a:ext>
            </a:extLst>
          </p:cNvPr>
          <p:cNvCxnSpPr>
            <a:cxnSpLocks/>
          </p:cNvCxnSpPr>
          <p:nvPr/>
        </p:nvCxnSpPr>
        <p:spPr>
          <a:xfrm>
            <a:off x="5627868" y="4709220"/>
            <a:ext cx="1" cy="330063"/>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7" name="Connecteur droit 26">
            <a:extLst>
              <a:ext uri="{FF2B5EF4-FFF2-40B4-BE49-F238E27FC236}">
                <a16:creationId xmlns:a16="http://schemas.microsoft.com/office/drawing/2014/main" id="{29157CA7-6F1D-B34F-8D9F-5A7F4EA69ECB}"/>
              </a:ext>
            </a:extLst>
          </p:cNvPr>
          <p:cNvCxnSpPr>
            <a:cxnSpLocks/>
            <a:endCxn id="12" idx="0"/>
          </p:cNvCxnSpPr>
          <p:nvPr/>
        </p:nvCxnSpPr>
        <p:spPr>
          <a:xfrm>
            <a:off x="5627868" y="5411084"/>
            <a:ext cx="1251315"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Connecteur droit 28">
            <a:extLst>
              <a:ext uri="{FF2B5EF4-FFF2-40B4-BE49-F238E27FC236}">
                <a16:creationId xmlns:a16="http://schemas.microsoft.com/office/drawing/2014/main" id="{4CE0640D-ACFF-6244-90AC-66482A5F4CD9}"/>
              </a:ext>
            </a:extLst>
          </p:cNvPr>
          <p:cNvCxnSpPr>
            <a:cxnSpLocks/>
            <a:endCxn id="11" idx="0"/>
          </p:cNvCxnSpPr>
          <p:nvPr/>
        </p:nvCxnSpPr>
        <p:spPr>
          <a:xfrm flipH="1">
            <a:off x="4333105" y="5411084"/>
            <a:ext cx="1294762" cy="323139"/>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grpSp>
        <p:nvGrpSpPr>
          <p:cNvPr id="5" name="Groupe 4">
            <a:extLst>
              <a:ext uri="{FF2B5EF4-FFF2-40B4-BE49-F238E27FC236}">
                <a16:creationId xmlns:a16="http://schemas.microsoft.com/office/drawing/2014/main" id="{51C9A90E-EA2D-1041-BABE-B92AB349766A}"/>
              </a:ext>
            </a:extLst>
          </p:cNvPr>
          <p:cNvGrpSpPr/>
          <p:nvPr/>
        </p:nvGrpSpPr>
        <p:grpSpPr>
          <a:xfrm>
            <a:off x="2697162" y="4441122"/>
            <a:ext cx="2200772" cy="1341095"/>
            <a:chOff x="1173162" y="3251017"/>
            <a:chExt cx="2200772" cy="1341095"/>
          </a:xfrm>
        </p:grpSpPr>
        <p:sp>
          <p:nvSpPr>
            <p:cNvPr id="41" name="Terminaison 40">
              <a:extLst>
                <a:ext uri="{FF2B5EF4-FFF2-40B4-BE49-F238E27FC236}">
                  <a16:creationId xmlns:a16="http://schemas.microsoft.com/office/drawing/2014/main" id="{684816CC-1209-EA42-9D76-F6E25BFC0BFD}"/>
                </a:ext>
              </a:extLst>
            </p:cNvPr>
            <p:cNvSpPr/>
            <p:nvPr/>
          </p:nvSpPr>
          <p:spPr>
            <a:xfrm>
              <a:off x="1173162" y="3251017"/>
              <a:ext cx="1812018" cy="301752"/>
            </a:xfrm>
            <a:prstGeom prst="flowChartTerminator">
              <a:avLst/>
            </a:prstGeom>
            <a:solidFill>
              <a:schemeClr val="accent5">
                <a:lumMod val="60000"/>
                <a:lumOff val="40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chemeClr val="accent5">
                      <a:lumMod val="50000"/>
                    </a:schemeClr>
                  </a:solidFill>
                  <a:latin typeface="Consolas" panose="020B0609020204030204" pitchFamily="49" charset="0"/>
                  <a:cs typeface="Consolas" panose="020B0609020204030204" pitchFamily="49" charset="0"/>
                </a:rPr>
                <a:t>EventFilter</a:t>
              </a:r>
              <a:endParaRPr lang="fr-FR" sz="1600" dirty="0">
                <a:solidFill>
                  <a:schemeClr val="accent5">
                    <a:lumMod val="50000"/>
                  </a:schemeClr>
                </a:solidFill>
                <a:latin typeface="Consolas" panose="020B0609020204030204" pitchFamily="49" charset="0"/>
                <a:cs typeface="Consolas" panose="020B0609020204030204" pitchFamily="49" charset="0"/>
              </a:endParaRPr>
            </a:p>
          </p:txBody>
        </p:sp>
        <p:cxnSp>
          <p:nvCxnSpPr>
            <p:cNvPr id="43" name="Connecteur droit 42">
              <a:extLst>
                <a:ext uri="{FF2B5EF4-FFF2-40B4-BE49-F238E27FC236}">
                  <a16:creationId xmlns:a16="http://schemas.microsoft.com/office/drawing/2014/main" id="{9BA9A2D5-A1E4-6146-B596-E738FE87E43C}"/>
                </a:ext>
              </a:extLst>
            </p:cNvPr>
            <p:cNvCxnSpPr>
              <a:cxnSpLocks/>
              <a:endCxn id="9" idx="1"/>
            </p:cNvCxnSpPr>
            <p:nvPr/>
          </p:nvCxnSpPr>
          <p:spPr>
            <a:xfrm flipV="1">
              <a:off x="2985180" y="4524800"/>
              <a:ext cx="388754" cy="67312"/>
            </a:xfrm>
            <a:prstGeom prst="line">
              <a:avLst/>
            </a:prstGeom>
            <a:ln>
              <a:solidFill>
                <a:schemeClr val="accent5">
                  <a:lumMod val="75000"/>
                </a:schemeClr>
              </a:solidFill>
            </a:ln>
          </p:spPr>
          <p:style>
            <a:lnRef idx="1">
              <a:schemeClr val="accent1"/>
            </a:lnRef>
            <a:fillRef idx="0">
              <a:schemeClr val="accent1"/>
            </a:fillRef>
            <a:effectRef idx="0">
              <a:schemeClr val="accent1"/>
            </a:effectRef>
            <a:fontRef idx="minor">
              <a:schemeClr val="tx1"/>
            </a:fontRef>
          </p:style>
        </p:cxnSp>
      </p:grpSp>
      <p:sp>
        <p:nvSpPr>
          <p:cNvPr id="44" name="Légende sans bordure 1 43">
            <a:extLst>
              <a:ext uri="{FF2B5EF4-FFF2-40B4-BE49-F238E27FC236}">
                <a16:creationId xmlns:a16="http://schemas.microsoft.com/office/drawing/2014/main" id="{401C1FBD-B0E4-B346-B324-7EAACF07D758}"/>
              </a:ext>
            </a:extLst>
          </p:cNvPr>
          <p:cNvSpPr/>
          <p:nvPr/>
        </p:nvSpPr>
        <p:spPr>
          <a:xfrm>
            <a:off x="2555648" y="3441718"/>
            <a:ext cx="2095047" cy="301752"/>
          </a:xfrm>
          <a:prstGeom prst="callout1">
            <a:avLst>
              <a:gd name="adj1" fmla="val 95433"/>
              <a:gd name="adj2" fmla="val 82683"/>
              <a:gd name="adj3" fmla="val 352888"/>
              <a:gd name="adj4" fmla="val 100246"/>
            </a:avLst>
          </a:prstGeom>
          <a:noFill/>
          <a:ln w="12700">
            <a:solidFill>
              <a:schemeClr val="accent6"/>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sz="1600" dirty="0" err="1">
                <a:solidFill>
                  <a:srgbClr val="9DC3E7"/>
                </a:solidFill>
                <a:latin typeface="Consolas" panose="020B0609020204030204" pitchFamily="49" charset="0"/>
                <a:cs typeface="Consolas" panose="020B0609020204030204" pitchFamily="49" charset="0"/>
              </a:rPr>
              <a:t>addEventFilter</a:t>
            </a:r>
            <a:endParaRPr lang="fr-FR" sz="1600" dirty="0">
              <a:solidFill>
                <a:srgbClr val="9DC3E7"/>
              </a:solidFill>
              <a:latin typeface="Consolas" panose="020B0609020204030204" pitchFamily="49" charset="0"/>
              <a:cs typeface="Consolas" panose="020B0609020204030204" pitchFamily="49" charset="0"/>
            </a:endParaRPr>
          </a:p>
        </p:txBody>
      </p:sp>
      <p:grpSp>
        <p:nvGrpSpPr>
          <p:cNvPr id="32" name="Groupe 31">
            <a:extLst>
              <a:ext uri="{FF2B5EF4-FFF2-40B4-BE49-F238E27FC236}">
                <a16:creationId xmlns:a16="http://schemas.microsoft.com/office/drawing/2014/main" id="{F7DD1873-5835-D249-92B0-385AC4CF8052}"/>
              </a:ext>
            </a:extLst>
          </p:cNvPr>
          <p:cNvGrpSpPr/>
          <p:nvPr/>
        </p:nvGrpSpPr>
        <p:grpSpPr>
          <a:xfrm>
            <a:off x="7849277" y="3082040"/>
            <a:ext cx="1668586" cy="681620"/>
            <a:chOff x="4467540" y="4051953"/>
            <a:chExt cx="3047084" cy="1244741"/>
          </a:xfrm>
        </p:grpSpPr>
        <p:grpSp>
          <p:nvGrpSpPr>
            <p:cNvPr id="33" name="Groupe 32">
              <a:extLst>
                <a:ext uri="{FF2B5EF4-FFF2-40B4-BE49-F238E27FC236}">
                  <a16:creationId xmlns:a16="http://schemas.microsoft.com/office/drawing/2014/main" id="{A9C28895-0B76-E743-9340-4830EF9A20BB}"/>
                </a:ext>
              </a:extLst>
            </p:cNvPr>
            <p:cNvGrpSpPr/>
            <p:nvPr/>
          </p:nvGrpSpPr>
          <p:grpSpPr>
            <a:xfrm>
              <a:off x="4886162" y="4051953"/>
              <a:ext cx="2628462" cy="1244741"/>
              <a:chOff x="4139926" y="2291668"/>
              <a:chExt cx="3068600" cy="1453173"/>
            </a:xfrm>
          </p:grpSpPr>
          <p:sp>
            <p:nvSpPr>
              <p:cNvPr id="38" name="Forme libre 37">
                <a:extLst>
                  <a:ext uri="{FF2B5EF4-FFF2-40B4-BE49-F238E27FC236}">
                    <a16:creationId xmlns:a16="http://schemas.microsoft.com/office/drawing/2014/main" id="{3527E8FC-E1D3-5E43-B392-E1C4A7AC9D4C}"/>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39" name="Rectangle 38">
                <a:extLst>
                  <a:ext uri="{FF2B5EF4-FFF2-40B4-BE49-F238E27FC236}">
                    <a16:creationId xmlns:a16="http://schemas.microsoft.com/office/drawing/2014/main" id="{442D49A0-6F58-4645-BF54-815FD8F896D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Événement</a:t>
                </a:r>
              </a:p>
            </p:txBody>
          </p:sp>
        </p:grpSp>
        <p:grpSp>
          <p:nvGrpSpPr>
            <p:cNvPr id="34" name="Groupe 33">
              <a:extLst>
                <a:ext uri="{FF2B5EF4-FFF2-40B4-BE49-F238E27FC236}">
                  <a16:creationId xmlns:a16="http://schemas.microsoft.com/office/drawing/2014/main" id="{6049FB0C-BD81-6744-89FA-30B75BAD963B}"/>
                </a:ext>
              </a:extLst>
            </p:cNvPr>
            <p:cNvGrpSpPr/>
            <p:nvPr/>
          </p:nvGrpSpPr>
          <p:grpSpPr>
            <a:xfrm>
              <a:off x="4467540" y="4079457"/>
              <a:ext cx="736611" cy="1100506"/>
              <a:chOff x="3153747" y="2382820"/>
              <a:chExt cx="736611" cy="1100506"/>
            </a:xfrm>
          </p:grpSpPr>
          <p:sp>
            <p:nvSpPr>
              <p:cNvPr id="35" name="Arc 34">
                <a:extLst>
                  <a:ext uri="{FF2B5EF4-FFF2-40B4-BE49-F238E27FC236}">
                    <a16:creationId xmlns:a16="http://schemas.microsoft.com/office/drawing/2014/main" id="{F666ACC0-FF61-1B46-AEFC-F2F7CF34B73D}"/>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6" name="Arc 35">
                <a:extLst>
                  <a:ext uri="{FF2B5EF4-FFF2-40B4-BE49-F238E27FC236}">
                    <a16:creationId xmlns:a16="http://schemas.microsoft.com/office/drawing/2014/main" id="{0E09215A-89A9-344A-93D3-C254ADE7A6F7}"/>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37" name="Arc 36">
                <a:extLst>
                  <a:ext uri="{FF2B5EF4-FFF2-40B4-BE49-F238E27FC236}">
                    <a16:creationId xmlns:a16="http://schemas.microsoft.com/office/drawing/2014/main" id="{8B72436B-F811-9B48-A13F-974B879A42C9}"/>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grpSp>
        <p:nvGrpSpPr>
          <p:cNvPr id="45" name="Groupe 44">
            <a:extLst>
              <a:ext uri="{FF2B5EF4-FFF2-40B4-BE49-F238E27FC236}">
                <a16:creationId xmlns:a16="http://schemas.microsoft.com/office/drawing/2014/main" id="{336DFE2A-089F-3940-A9BA-F47DFCB2D085}"/>
              </a:ext>
            </a:extLst>
          </p:cNvPr>
          <p:cNvGrpSpPr/>
          <p:nvPr/>
        </p:nvGrpSpPr>
        <p:grpSpPr>
          <a:xfrm>
            <a:off x="7849277" y="3082040"/>
            <a:ext cx="1668586" cy="681620"/>
            <a:chOff x="4467540" y="4051953"/>
            <a:chExt cx="3047084" cy="1244741"/>
          </a:xfrm>
        </p:grpSpPr>
        <p:grpSp>
          <p:nvGrpSpPr>
            <p:cNvPr id="46" name="Groupe 45">
              <a:extLst>
                <a:ext uri="{FF2B5EF4-FFF2-40B4-BE49-F238E27FC236}">
                  <a16:creationId xmlns:a16="http://schemas.microsoft.com/office/drawing/2014/main" id="{84216C77-FFF8-AA4E-9B57-12443E691790}"/>
                </a:ext>
              </a:extLst>
            </p:cNvPr>
            <p:cNvGrpSpPr/>
            <p:nvPr/>
          </p:nvGrpSpPr>
          <p:grpSpPr>
            <a:xfrm>
              <a:off x="4886162" y="4051953"/>
              <a:ext cx="2628462" cy="1244741"/>
              <a:chOff x="4139926" y="2291668"/>
              <a:chExt cx="3068600" cy="1453173"/>
            </a:xfrm>
          </p:grpSpPr>
          <p:sp>
            <p:nvSpPr>
              <p:cNvPr id="51" name="Forme libre 50">
                <a:extLst>
                  <a:ext uri="{FF2B5EF4-FFF2-40B4-BE49-F238E27FC236}">
                    <a16:creationId xmlns:a16="http://schemas.microsoft.com/office/drawing/2014/main" id="{9E47AE38-D9DA-984C-BA31-56A193DA4763}"/>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52" name="Rectangle 51">
                <a:extLst>
                  <a:ext uri="{FF2B5EF4-FFF2-40B4-BE49-F238E27FC236}">
                    <a16:creationId xmlns:a16="http://schemas.microsoft.com/office/drawing/2014/main" id="{F6861F44-D1C3-8F4A-9926-9AC339FD6171}"/>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Événement</a:t>
                </a:r>
              </a:p>
            </p:txBody>
          </p:sp>
        </p:grpSp>
        <p:grpSp>
          <p:nvGrpSpPr>
            <p:cNvPr id="47" name="Groupe 46">
              <a:extLst>
                <a:ext uri="{FF2B5EF4-FFF2-40B4-BE49-F238E27FC236}">
                  <a16:creationId xmlns:a16="http://schemas.microsoft.com/office/drawing/2014/main" id="{8AC65626-F48B-AC43-8913-7CBBFBDEC8F0}"/>
                </a:ext>
              </a:extLst>
            </p:cNvPr>
            <p:cNvGrpSpPr/>
            <p:nvPr/>
          </p:nvGrpSpPr>
          <p:grpSpPr>
            <a:xfrm>
              <a:off x="4467540" y="4079457"/>
              <a:ext cx="736611" cy="1100506"/>
              <a:chOff x="3153747" y="2382820"/>
              <a:chExt cx="736611" cy="1100506"/>
            </a:xfrm>
          </p:grpSpPr>
          <p:sp>
            <p:nvSpPr>
              <p:cNvPr id="48" name="Arc 47">
                <a:extLst>
                  <a:ext uri="{FF2B5EF4-FFF2-40B4-BE49-F238E27FC236}">
                    <a16:creationId xmlns:a16="http://schemas.microsoft.com/office/drawing/2014/main" id="{7664E0B6-5DBE-F04C-B75F-93D63D35ECA8}"/>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49" name="Arc 48">
                <a:extLst>
                  <a:ext uri="{FF2B5EF4-FFF2-40B4-BE49-F238E27FC236}">
                    <a16:creationId xmlns:a16="http://schemas.microsoft.com/office/drawing/2014/main" id="{24DDBC7D-A31D-6B47-808A-8D594148FFEC}"/>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50" name="Arc 49">
                <a:extLst>
                  <a:ext uri="{FF2B5EF4-FFF2-40B4-BE49-F238E27FC236}">
                    <a16:creationId xmlns:a16="http://schemas.microsoft.com/office/drawing/2014/main" id="{AAB60A63-A43C-0C47-BB97-264A4E2DD0F1}"/>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grpSp>
        <p:nvGrpSpPr>
          <p:cNvPr id="53" name="Groupe 52">
            <a:extLst>
              <a:ext uri="{FF2B5EF4-FFF2-40B4-BE49-F238E27FC236}">
                <a16:creationId xmlns:a16="http://schemas.microsoft.com/office/drawing/2014/main" id="{11982EC3-F2A1-3A40-8E31-230E1EA19350}"/>
              </a:ext>
            </a:extLst>
          </p:cNvPr>
          <p:cNvGrpSpPr/>
          <p:nvPr/>
        </p:nvGrpSpPr>
        <p:grpSpPr>
          <a:xfrm>
            <a:off x="7849277" y="3082040"/>
            <a:ext cx="1668586" cy="681620"/>
            <a:chOff x="4467540" y="4051953"/>
            <a:chExt cx="3047084" cy="1244741"/>
          </a:xfrm>
        </p:grpSpPr>
        <p:grpSp>
          <p:nvGrpSpPr>
            <p:cNvPr id="54" name="Groupe 53">
              <a:extLst>
                <a:ext uri="{FF2B5EF4-FFF2-40B4-BE49-F238E27FC236}">
                  <a16:creationId xmlns:a16="http://schemas.microsoft.com/office/drawing/2014/main" id="{A77F2ED3-8187-7548-A160-45E5CF0193D7}"/>
                </a:ext>
              </a:extLst>
            </p:cNvPr>
            <p:cNvGrpSpPr/>
            <p:nvPr/>
          </p:nvGrpSpPr>
          <p:grpSpPr>
            <a:xfrm>
              <a:off x="4886162" y="4051953"/>
              <a:ext cx="2628462" cy="1244741"/>
              <a:chOff x="4139926" y="2291668"/>
              <a:chExt cx="3068600" cy="1453173"/>
            </a:xfrm>
          </p:grpSpPr>
          <p:sp>
            <p:nvSpPr>
              <p:cNvPr id="59" name="Forme libre 58">
                <a:extLst>
                  <a:ext uri="{FF2B5EF4-FFF2-40B4-BE49-F238E27FC236}">
                    <a16:creationId xmlns:a16="http://schemas.microsoft.com/office/drawing/2014/main" id="{B1DD00C3-27F5-404F-9E5D-111331CF5191}"/>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60" name="Rectangle 59">
                <a:extLst>
                  <a:ext uri="{FF2B5EF4-FFF2-40B4-BE49-F238E27FC236}">
                    <a16:creationId xmlns:a16="http://schemas.microsoft.com/office/drawing/2014/main" id="{87C991DA-8C48-E54D-95BD-D104FCB2FE4F}"/>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Événement</a:t>
                </a:r>
              </a:p>
            </p:txBody>
          </p:sp>
        </p:grpSp>
        <p:grpSp>
          <p:nvGrpSpPr>
            <p:cNvPr id="55" name="Groupe 54">
              <a:extLst>
                <a:ext uri="{FF2B5EF4-FFF2-40B4-BE49-F238E27FC236}">
                  <a16:creationId xmlns:a16="http://schemas.microsoft.com/office/drawing/2014/main" id="{30366DF2-F1B0-4E46-B1A8-EFC62B5642A2}"/>
                </a:ext>
              </a:extLst>
            </p:cNvPr>
            <p:cNvGrpSpPr/>
            <p:nvPr/>
          </p:nvGrpSpPr>
          <p:grpSpPr>
            <a:xfrm>
              <a:off x="4467540" y="4079457"/>
              <a:ext cx="736611" cy="1100506"/>
              <a:chOff x="3153747" y="2382820"/>
              <a:chExt cx="736611" cy="1100506"/>
            </a:xfrm>
          </p:grpSpPr>
          <p:sp>
            <p:nvSpPr>
              <p:cNvPr id="56" name="Arc 55">
                <a:extLst>
                  <a:ext uri="{FF2B5EF4-FFF2-40B4-BE49-F238E27FC236}">
                    <a16:creationId xmlns:a16="http://schemas.microsoft.com/office/drawing/2014/main" id="{16FF8C9B-6D66-3C43-81CC-BE5B046A013F}"/>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57" name="Arc 56">
                <a:extLst>
                  <a:ext uri="{FF2B5EF4-FFF2-40B4-BE49-F238E27FC236}">
                    <a16:creationId xmlns:a16="http://schemas.microsoft.com/office/drawing/2014/main" id="{E8CE18CB-AAED-E645-B9CC-3CF455F193D9}"/>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58" name="Arc 57">
                <a:extLst>
                  <a:ext uri="{FF2B5EF4-FFF2-40B4-BE49-F238E27FC236}">
                    <a16:creationId xmlns:a16="http://schemas.microsoft.com/office/drawing/2014/main" id="{CBDA2549-9D07-DC4E-BF3B-D446B8912D95}"/>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66" name="Rectangle 65">
            <a:extLst>
              <a:ext uri="{FF2B5EF4-FFF2-40B4-BE49-F238E27FC236}">
                <a16:creationId xmlns:a16="http://schemas.microsoft.com/office/drawing/2014/main" id="{B8F5FBA8-1010-EC43-9F18-AAC0BD06ECCD}"/>
              </a:ext>
            </a:extLst>
          </p:cNvPr>
          <p:cNvSpPr/>
          <p:nvPr/>
        </p:nvSpPr>
        <p:spPr>
          <a:xfrm>
            <a:off x="838200" y="1460805"/>
            <a:ext cx="6722563" cy="1815882"/>
          </a:xfrm>
          <a:prstGeom prst="rect">
            <a:avLst/>
          </a:prstGeom>
        </p:spPr>
        <p:txBody>
          <a:bodyPr wrap="square">
            <a:spAutoFit/>
          </a:bodyPr>
          <a:lstStyle/>
          <a:p>
            <a:r>
              <a:rPr lang="fr-BE" sz="2000" dirty="0"/>
              <a:t>Deux types d’objets traitent les </a:t>
            </a:r>
            <a:r>
              <a:rPr lang="fr-BE" sz="1800" dirty="0">
                <a:solidFill>
                  <a:schemeClr val="accent4"/>
                </a:solidFill>
                <a:latin typeface="Consolas" panose="020B0609020204030204" pitchFamily="49" charset="0"/>
                <a:cs typeface="Consolas" panose="020B0609020204030204" pitchFamily="49" charset="0"/>
              </a:rPr>
              <a:t>Event</a:t>
            </a:r>
            <a:r>
              <a:rPr lang="fr-BE" sz="2000" dirty="0"/>
              <a:t>:</a:t>
            </a:r>
          </a:p>
          <a:p>
            <a:pPr marL="342900" indent="-342900">
              <a:buFont typeface="Arial" panose="020B0604020202020204" pitchFamily="34" charset="0"/>
              <a:buChar char="•"/>
            </a:pPr>
            <a:r>
              <a:rPr lang="fr-BE" sz="2000" dirty="0"/>
              <a:t>Les </a:t>
            </a:r>
            <a:r>
              <a:rPr lang="fr-BE" sz="1800" dirty="0" err="1">
                <a:solidFill>
                  <a:schemeClr val="accent4"/>
                </a:solidFill>
                <a:latin typeface="Consolas" panose="020B0609020204030204" pitchFamily="49" charset="0"/>
                <a:cs typeface="Consolas" panose="020B0609020204030204" pitchFamily="49" charset="0"/>
              </a:rPr>
              <a:t>EventFilters</a:t>
            </a:r>
            <a:r>
              <a:rPr lang="fr-BE" sz="2000" dirty="0"/>
              <a:t> lors de la descente.</a:t>
            </a:r>
          </a:p>
          <a:p>
            <a:pPr marL="342900" indent="-342900">
              <a:buFont typeface="Arial" panose="020B0604020202020204" pitchFamily="34" charset="0"/>
              <a:buChar char="•"/>
            </a:pPr>
            <a:r>
              <a:rPr lang="fr-BE" sz="2000" dirty="0"/>
              <a:t>Les </a:t>
            </a:r>
            <a:r>
              <a:rPr lang="fr-BE" sz="1800" dirty="0" err="1">
                <a:solidFill>
                  <a:schemeClr val="accent4"/>
                </a:solidFill>
                <a:latin typeface="Consolas" panose="020B0609020204030204" pitchFamily="49" charset="0"/>
                <a:cs typeface="Consolas" panose="020B0609020204030204" pitchFamily="49" charset="0"/>
              </a:rPr>
              <a:t>EventHandlers</a:t>
            </a:r>
            <a:r>
              <a:rPr lang="fr-BE" sz="2000" dirty="0"/>
              <a:t> lors de la remontée. </a:t>
            </a:r>
          </a:p>
          <a:p>
            <a:endParaRPr lang="fr-FR" sz="2800" dirty="0"/>
          </a:p>
        </p:txBody>
      </p:sp>
      <p:grpSp>
        <p:nvGrpSpPr>
          <p:cNvPr id="69" name="Groupe 68">
            <a:extLst>
              <a:ext uri="{FF2B5EF4-FFF2-40B4-BE49-F238E27FC236}">
                <a16:creationId xmlns:a16="http://schemas.microsoft.com/office/drawing/2014/main" id="{6B170D6E-10D3-6949-B6F4-421F955C7BCC}"/>
              </a:ext>
            </a:extLst>
          </p:cNvPr>
          <p:cNvGrpSpPr/>
          <p:nvPr/>
        </p:nvGrpSpPr>
        <p:grpSpPr>
          <a:xfrm>
            <a:off x="7849277" y="3082040"/>
            <a:ext cx="1668586" cy="681620"/>
            <a:chOff x="4467540" y="4051953"/>
            <a:chExt cx="3047084" cy="1244741"/>
          </a:xfrm>
        </p:grpSpPr>
        <p:grpSp>
          <p:nvGrpSpPr>
            <p:cNvPr id="70" name="Groupe 69">
              <a:extLst>
                <a:ext uri="{FF2B5EF4-FFF2-40B4-BE49-F238E27FC236}">
                  <a16:creationId xmlns:a16="http://schemas.microsoft.com/office/drawing/2014/main" id="{8C07C978-9AE5-174E-8EC8-8819C197FA4F}"/>
                </a:ext>
              </a:extLst>
            </p:cNvPr>
            <p:cNvGrpSpPr/>
            <p:nvPr/>
          </p:nvGrpSpPr>
          <p:grpSpPr>
            <a:xfrm>
              <a:off x="4886162" y="4051953"/>
              <a:ext cx="2628462" cy="1244741"/>
              <a:chOff x="4139926" y="2291668"/>
              <a:chExt cx="3068600" cy="1453173"/>
            </a:xfrm>
          </p:grpSpPr>
          <p:sp>
            <p:nvSpPr>
              <p:cNvPr id="75" name="Forme libre 74">
                <a:extLst>
                  <a:ext uri="{FF2B5EF4-FFF2-40B4-BE49-F238E27FC236}">
                    <a16:creationId xmlns:a16="http://schemas.microsoft.com/office/drawing/2014/main" id="{49D6EA01-875F-4D41-885E-472BE4AC6EC2}"/>
                  </a:ext>
                </a:extLst>
              </p:cNvPr>
              <p:cNvSpPr/>
              <p:nvPr/>
            </p:nvSpPr>
            <p:spPr>
              <a:xfrm>
                <a:off x="4445421" y="2291668"/>
                <a:ext cx="2552170" cy="1453173"/>
              </a:xfrm>
              <a:custGeom>
                <a:avLst/>
                <a:gdLst>
                  <a:gd name="connsiteX0" fmla="*/ 1884783 w 3023118"/>
                  <a:gd name="connsiteY0" fmla="*/ 615821 h 2286000"/>
                  <a:gd name="connsiteX1" fmla="*/ 1847461 w 3023118"/>
                  <a:gd name="connsiteY1" fmla="*/ 102637 h 2286000"/>
                  <a:gd name="connsiteX2" fmla="*/ 1483567 w 3023118"/>
                  <a:gd name="connsiteY2" fmla="*/ 494523 h 2286000"/>
                  <a:gd name="connsiteX3" fmla="*/ 1138335 w 3023118"/>
                  <a:gd name="connsiteY3" fmla="*/ 0 h 2286000"/>
                  <a:gd name="connsiteX4" fmla="*/ 1063690 w 3023118"/>
                  <a:gd name="connsiteY4" fmla="*/ 541176 h 2286000"/>
                  <a:gd name="connsiteX5" fmla="*/ 569167 w 3023118"/>
                  <a:gd name="connsiteY5" fmla="*/ 270588 h 2286000"/>
                  <a:gd name="connsiteX6" fmla="*/ 811763 w 3023118"/>
                  <a:gd name="connsiteY6" fmla="*/ 867747 h 2286000"/>
                  <a:gd name="connsiteX7" fmla="*/ 158620 w 3023118"/>
                  <a:gd name="connsiteY7" fmla="*/ 858417 h 2286000"/>
                  <a:gd name="connsiteX8" fmla="*/ 485192 w 3023118"/>
                  <a:gd name="connsiteY8" fmla="*/ 1156996 h 2286000"/>
                  <a:gd name="connsiteX9" fmla="*/ 0 w 3023118"/>
                  <a:gd name="connsiteY9" fmla="*/ 1399592 h 2286000"/>
                  <a:gd name="connsiteX10" fmla="*/ 653143 w 3023118"/>
                  <a:gd name="connsiteY10" fmla="*/ 1446245 h 2286000"/>
                  <a:gd name="connsiteX11" fmla="*/ 130628 w 3023118"/>
                  <a:gd name="connsiteY11" fmla="*/ 2099388 h 2286000"/>
                  <a:gd name="connsiteX12" fmla="*/ 961053 w 3023118"/>
                  <a:gd name="connsiteY12" fmla="*/ 1744825 h 2286000"/>
                  <a:gd name="connsiteX13" fmla="*/ 933061 w 3023118"/>
                  <a:gd name="connsiteY13" fmla="*/ 2286000 h 2286000"/>
                  <a:gd name="connsiteX14" fmla="*/ 1324947 w 3023118"/>
                  <a:gd name="connsiteY14" fmla="*/ 1884784 h 2286000"/>
                  <a:gd name="connsiteX15" fmla="*/ 1511559 w 3023118"/>
                  <a:gd name="connsiteY15" fmla="*/ 2202025 h 2286000"/>
                  <a:gd name="connsiteX16" fmla="*/ 1604865 w 3023118"/>
                  <a:gd name="connsiteY16" fmla="*/ 2006082 h 2286000"/>
                  <a:gd name="connsiteX17" fmla="*/ 1819469 w 3023118"/>
                  <a:gd name="connsiteY17" fmla="*/ 2155372 h 2286000"/>
                  <a:gd name="connsiteX18" fmla="*/ 1847461 w 3023118"/>
                  <a:gd name="connsiteY18" fmla="*/ 1763486 h 2286000"/>
                  <a:gd name="connsiteX19" fmla="*/ 2332653 w 3023118"/>
                  <a:gd name="connsiteY19" fmla="*/ 1959429 h 2286000"/>
                  <a:gd name="connsiteX20" fmla="*/ 2118049 w 3023118"/>
                  <a:gd name="connsiteY20" fmla="*/ 1548882 h 2286000"/>
                  <a:gd name="connsiteX21" fmla="*/ 3023118 w 3023118"/>
                  <a:gd name="connsiteY21" fmla="*/ 1548882 h 2286000"/>
                  <a:gd name="connsiteX22" fmla="*/ 2369975 w 3023118"/>
                  <a:gd name="connsiteY22" fmla="*/ 1194319 h 2286000"/>
                  <a:gd name="connsiteX23" fmla="*/ 2873828 w 3023118"/>
                  <a:gd name="connsiteY23" fmla="*/ 923731 h 2286000"/>
                  <a:gd name="connsiteX24" fmla="*/ 2239347 w 3023118"/>
                  <a:gd name="connsiteY24" fmla="*/ 886408 h 2286000"/>
                  <a:gd name="connsiteX25" fmla="*/ 2481943 w 3023118"/>
                  <a:gd name="connsiteY25" fmla="*/ 363894 h 2286000"/>
                  <a:gd name="connsiteX26" fmla="*/ 1884783 w 3023118"/>
                  <a:gd name="connsiteY26" fmla="*/ 615821 h 228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023118" h="2286000">
                    <a:moveTo>
                      <a:pt x="1884783" y="615821"/>
                    </a:moveTo>
                    <a:lnTo>
                      <a:pt x="1847461" y="102637"/>
                    </a:lnTo>
                    <a:lnTo>
                      <a:pt x="1483567" y="494523"/>
                    </a:lnTo>
                    <a:lnTo>
                      <a:pt x="1138335" y="0"/>
                    </a:lnTo>
                    <a:lnTo>
                      <a:pt x="1063690" y="541176"/>
                    </a:lnTo>
                    <a:lnTo>
                      <a:pt x="569167" y="270588"/>
                    </a:lnTo>
                    <a:lnTo>
                      <a:pt x="811763" y="867747"/>
                    </a:lnTo>
                    <a:lnTo>
                      <a:pt x="158620" y="858417"/>
                    </a:lnTo>
                    <a:lnTo>
                      <a:pt x="485192" y="1156996"/>
                    </a:lnTo>
                    <a:lnTo>
                      <a:pt x="0" y="1399592"/>
                    </a:lnTo>
                    <a:lnTo>
                      <a:pt x="653143" y="1446245"/>
                    </a:lnTo>
                    <a:lnTo>
                      <a:pt x="130628" y="2099388"/>
                    </a:lnTo>
                    <a:lnTo>
                      <a:pt x="961053" y="1744825"/>
                    </a:lnTo>
                    <a:lnTo>
                      <a:pt x="933061" y="2286000"/>
                    </a:lnTo>
                    <a:lnTo>
                      <a:pt x="1324947" y="1884784"/>
                    </a:lnTo>
                    <a:lnTo>
                      <a:pt x="1511559" y="2202025"/>
                    </a:lnTo>
                    <a:lnTo>
                      <a:pt x="1604865" y="2006082"/>
                    </a:lnTo>
                    <a:lnTo>
                      <a:pt x="1819469" y="2155372"/>
                    </a:lnTo>
                    <a:lnTo>
                      <a:pt x="1847461" y="1763486"/>
                    </a:lnTo>
                    <a:lnTo>
                      <a:pt x="2332653" y="1959429"/>
                    </a:lnTo>
                    <a:lnTo>
                      <a:pt x="2118049" y="1548882"/>
                    </a:lnTo>
                    <a:lnTo>
                      <a:pt x="3023118" y="1548882"/>
                    </a:lnTo>
                    <a:lnTo>
                      <a:pt x="2369975" y="1194319"/>
                    </a:lnTo>
                    <a:lnTo>
                      <a:pt x="2873828" y="923731"/>
                    </a:lnTo>
                    <a:lnTo>
                      <a:pt x="2239347" y="886408"/>
                    </a:lnTo>
                    <a:lnTo>
                      <a:pt x="2481943" y="363894"/>
                    </a:lnTo>
                    <a:lnTo>
                      <a:pt x="1884783" y="615821"/>
                    </a:lnTo>
                    <a:close/>
                  </a:path>
                </a:pathLst>
              </a:custGeom>
              <a:solidFill>
                <a:srgbClr val="FFFF00"/>
              </a:solid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900"/>
              </a:p>
            </p:txBody>
          </p:sp>
          <p:sp>
            <p:nvSpPr>
              <p:cNvPr id="76" name="Rectangle 75">
                <a:extLst>
                  <a:ext uri="{FF2B5EF4-FFF2-40B4-BE49-F238E27FC236}">
                    <a16:creationId xmlns:a16="http://schemas.microsoft.com/office/drawing/2014/main" id="{DFB59E07-9628-974E-8523-834813FF0CBD}"/>
                  </a:ext>
                </a:extLst>
              </p:cNvPr>
              <p:cNvSpPr/>
              <p:nvPr/>
            </p:nvSpPr>
            <p:spPr>
              <a:xfrm rot="21000827">
                <a:off x="4139926" y="2595201"/>
                <a:ext cx="3068600" cy="721777"/>
              </a:xfrm>
              <a:prstGeom prst="rect">
                <a:avLst/>
              </a:prstGeom>
              <a:noFill/>
            </p:spPr>
            <p:txBody>
              <a:bodyPr wrap="square" lIns="91440" tIns="45720" rIns="91440" bIns="45720">
                <a:spAutoFit/>
              </a:bodyPr>
              <a:lstStyle/>
              <a:p>
                <a:pPr algn="ctr"/>
                <a:r>
                  <a:rPr lang="fr-FR" sz="1600" b="1" dirty="0">
                    <a:ln w="12700">
                      <a:noFill/>
                      <a:prstDash val="solid"/>
                    </a:ln>
                    <a:effectLst>
                      <a:outerShdw dist="38100" dir="2640000" algn="bl" rotWithShape="0">
                        <a:schemeClr val="tx2">
                          <a:lumMod val="75000"/>
                        </a:schemeClr>
                      </a:outerShdw>
                    </a:effectLst>
                  </a:rPr>
                  <a:t>Événement</a:t>
                </a:r>
              </a:p>
            </p:txBody>
          </p:sp>
        </p:grpSp>
        <p:grpSp>
          <p:nvGrpSpPr>
            <p:cNvPr id="71" name="Groupe 70">
              <a:extLst>
                <a:ext uri="{FF2B5EF4-FFF2-40B4-BE49-F238E27FC236}">
                  <a16:creationId xmlns:a16="http://schemas.microsoft.com/office/drawing/2014/main" id="{78D5BCAD-07D9-AC4B-B10D-6370E28E5FC5}"/>
                </a:ext>
              </a:extLst>
            </p:cNvPr>
            <p:cNvGrpSpPr/>
            <p:nvPr/>
          </p:nvGrpSpPr>
          <p:grpSpPr>
            <a:xfrm>
              <a:off x="4467540" y="4079457"/>
              <a:ext cx="736611" cy="1100506"/>
              <a:chOff x="3153747" y="2382820"/>
              <a:chExt cx="736611" cy="1100506"/>
            </a:xfrm>
          </p:grpSpPr>
          <p:sp>
            <p:nvSpPr>
              <p:cNvPr id="72" name="Arc 71">
                <a:extLst>
                  <a:ext uri="{FF2B5EF4-FFF2-40B4-BE49-F238E27FC236}">
                    <a16:creationId xmlns:a16="http://schemas.microsoft.com/office/drawing/2014/main" id="{B759F5E7-DC1B-CC45-971B-E88DA7605ED0}"/>
                  </a:ext>
                </a:extLst>
              </p:cNvPr>
              <p:cNvSpPr/>
              <p:nvPr/>
            </p:nvSpPr>
            <p:spPr>
              <a:xfrm rot="18941501">
                <a:off x="3153747" y="2382820"/>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73" name="Arc 72">
                <a:extLst>
                  <a:ext uri="{FF2B5EF4-FFF2-40B4-BE49-F238E27FC236}">
                    <a16:creationId xmlns:a16="http://schemas.microsoft.com/office/drawing/2014/main" id="{A0D54923-961D-5849-A36A-EB56FE4D3320}"/>
                  </a:ext>
                </a:extLst>
              </p:cNvPr>
              <p:cNvSpPr/>
              <p:nvPr/>
            </p:nvSpPr>
            <p:spPr>
              <a:xfrm rot="18394680">
                <a:off x="3153747" y="2550772"/>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sp>
            <p:nvSpPr>
              <p:cNvPr id="74" name="Arc 73">
                <a:extLst>
                  <a:ext uri="{FF2B5EF4-FFF2-40B4-BE49-F238E27FC236}">
                    <a16:creationId xmlns:a16="http://schemas.microsoft.com/office/drawing/2014/main" id="{D3FBED7B-77F6-F940-9F68-4EB2FE223F22}"/>
                  </a:ext>
                </a:extLst>
              </p:cNvPr>
              <p:cNvSpPr/>
              <p:nvPr/>
            </p:nvSpPr>
            <p:spPr>
              <a:xfrm rot="17674455">
                <a:off x="3153747" y="2746715"/>
                <a:ext cx="736611" cy="736611"/>
              </a:xfrm>
              <a:prstGeom prst="arc">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fr-FR" sz="1000"/>
              </a:p>
            </p:txBody>
          </p:sp>
        </p:grpSp>
      </p:grpSp>
      <p:sp>
        <p:nvSpPr>
          <p:cNvPr id="4" name="Espace réservé du numéro de diapositive 3">
            <a:extLst>
              <a:ext uri="{FF2B5EF4-FFF2-40B4-BE49-F238E27FC236}">
                <a16:creationId xmlns:a16="http://schemas.microsoft.com/office/drawing/2014/main" id="{34DE762E-FF86-2A05-168C-F951A8341FE8}"/>
              </a:ext>
            </a:extLst>
          </p:cNvPr>
          <p:cNvSpPr>
            <a:spLocks noGrp="1"/>
          </p:cNvSpPr>
          <p:nvPr>
            <p:ph type="sldNum" sz="quarter" idx="4"/>
          </p:nvPr>
        </p:nvSpPr>
        <p:spPr/>
        <p:txBody>
          <a:bodyPr/>
          <a:lstStyle/>
          <a:p>
            <a:fld id="{33C783E2-4793-4F48-A271-51A73CC37D74}" type="slidenum">
              <a:rPr lang="fr-FR" smtClean="0"/>
              <a:t>32</a:t>
            </a:fld>
            <a:endParaRPr lang="fr-FR"/>
          </a:p>
        </p:txBody>
      </p:sp>
      <p:cxnSp>
        <p:nvCxnSpPr>
          <p:cNvPr id="6" name="Connecteur droit 5">
            <a:extLst>
              <a:ext uri="{FF2B5EF4-FFF2-40B4-BE49-F238E27FC236}">
                <a16:creationId xmlns:a16="http://schemas.microsoft.com/office/drawing/2014/main" id="{819ACE9E-A4C1-C88B-3D4A-0D1F217A5B57}"/>
              </a:ext>
            </a:extLst>
          </p:cNvPr>
          <p:cNvCxnSpPr>
            <a:cxnSpLocks/>
            <a:stCxn id="41" idx="3"/>
            <a:endCxn id="9" idx="1"/>
          </p:cNvCxnSpPr>
          <p:nvPr/>
        </p:nvCxnSpPr>
        <p:spPr>
          <a:xfrm flipV="1">
            <a:off x="4509180" y="4524801"/>
            <a:ext cx="388754" cy="67197"/>
          </a:xfrm>
          <a:prstGeom prst="line">
            <a:avLst/>
          </a:prstGeom>
          <a:ln>
            <a:solidFill>
              <a:schemeClr val="accent6"/>
            </a:solidFill>
          </a:ln>
        </p:spPr>
        <p:style>
          <a:lnRef idx="1">
            <a:schemeClr val="accent1"/>
          </a:lnRef>
          <a:fillRef idx="0">
            <a:schemeClr val="accent1"/>
          </a:fillRef>
          <a:effectRef idx="0">
            <a:schemeClr val="accent1"/>
          </a:effectRef>
          <a:fontRef idx="minor">
            <a:schemeClr val="tx1"/>
          </a:fontRef>
        </p:style>
      </p:cxnSp>
      <p:sp>
        <p:nvSpPr>
          <p:cNvPr id="20"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66">
                                            <p:txEl>
                                              <p:pRg st="0" end="0"/>
                                            </p:txEl>
                                          </p:spTgt>
                                        </p:tgtEl>
                                        <p:attrNameLst>
                                          <p:attrName>style.visibility</p:attrName>
                                        </p:attrNameLst>
                                      </p:cBhvr>
                                      <p:to>
                                        <p:strVal val="visible"/>
                                      </p:to>
                                    </p:set>
                                    <p:animEffect transition="in" filter="wipe(left)">
                                      <p:cBhvr>
                                        <p:cTn id="7" dur="500"/>
                                        <p:tgtEl>
                                          <p:spTgt spid="6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500"/>
                                  </p:stCondLst>
                                  <p:childTnLst>
                                    <p:set>
                                      <p:cBhvr>
                                        <p:cTn id="11" dur="1" fill="hold">
                                          <p:stCondLst>
                                            <p:cond delay="0"/>
                                          </p:stCondLst>
                                        </p:cTn>
                                        <p:tgtEl>
                                          <p:spTgt spid="66">
                                            <p:txEl>
                                              <p:pRg st="1" end="1"/>
                                            </p:txEl>
                                          </p:spTgt>
                                        </p:tgtEl>
                                        <p:attrNameLst>
                                          <p:attrName>style.visibility</p:attrName>
                                        </p:attrNameLst>
                                      </p:cBhvr>
                                      <p:to>
                                        <p:strVal val="visible"/>
                                      </p:to>
                                    </p:set>
                                    <p:animEffect transition="in" filter="wipe(left)">
                                      <p:cBhvr>
                                        <p:cTn id="12" dur="500"/>
                                        <p:tgtEl>
                                          <p:spTgt spid="66">
                                            <p:txEl>
                                              <p:pRg st="1" end="1"/>
                                            </p:txEl>
                                          </p:spTgt>
                                        </p:tgtEl>
                                      </p:cBhvr>
                                    </p:animEffect>
                                  </p:childTnLst>
                                </p:cTn>
                              </p:par>
                            </p:childTnLst>
                          </p:cTn>
                        </p:par>
                        <p:par>
                          <p:cTn id="13" fill="hold">
                            <p:stCondLst>
                              <p:cond delay="1000"/>
                            </p:stCondLst>
                            <p:childTnLst>
                              <p:par>
                                <p:cTn id="14" presetID="22" presetClass="entr" presetSubtype="8" fill="hold" grpId="0" nodeType="afterEffect">
                                  <p:stCondLst>
                                    <p:cond delay="500"/>
                                  </p:stCondLst>
                                  <p:childTnLst>
                                    <p:set>
                                      <p:cBhvr>
                                        <p:cTn id="15" dur="1" fill="hold">
                                          <p:stCondLst>
                                            <p:cond delay="0"/>
                                          </p:stCondLst>
                                        </p:cTn>
                                        <p:tgtEl>
                                          <p:spTgt spid="66">
                                            <p:txEl>
                                              <p:pRg st="2" end="2"/>
                                            </p:txEl>
                                          </p:spTgt>
                                        </p:tgtEl>
                                        <p:attrNameLst>
                                          <p:attrName>style.visibility</p:attrName>
                                        </p:attrNameLst>
                                      </p:cBhvr>
                                      <p:to>
                                        <p:strVal val="visible"/>
                                      </p:to>
                                    </p:set>
                                    <p:animEffect transition="in" filter="wipe(left)">
                                      <p:cBhvr>
                                        <p:cTn id="16" dur="500"/>
                                        <p:tgtEl>
                                          <p:spTgt spid="66">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2" fill="hold" nodeType="clickEffect">
                                  <p:stCondLst>
                                    <p:cond delay="0"/>
                                  </p:stCondLst>
                                  <p:childTnLst>
                                    <p:set>
                                      <p:cBhvr>
                                        <p:cTn id="20" dur="1" fill="hold">
                                          <p:stCondLst>
                                            <p:cond delay="0"/>
                                          </p:stCondLst>
                                        </p:cTn>
                                        <p:tgtEl>
                                          <p:spTgt spid="19"/>
                                        </p:tgtEl>
                                        <p:attrNameLst>
                                          <p:attrName>style.visibility</p:attrName>
                                        </p:attrNameLst>
                                      </p:cBhvr>
                                      <p:to>
                                        <p:strVal val="visible"/>
                                      </p:to>
                                    </p:set>
                                    <p:animEffect transition="in" filter="wipe(right)">
                                      <p:cBhvr>
                                        <p:cTn id="21" dur="500"/>
                                        <p:tgtEl>
                                          <p:spTgt spid="19"/>
                                        </p:tgtEl>
                                      </p:cBhvr>
                                    </p:animEffect>
                                  </p:childTnLst>
                                </p:cTn>
                              </p:par>
                            </p:childTnLst>
                          </p:cTn>
                        </p:par>
                        <p:par>
                          <p:cTn id="22" fill="hold">
                            <p:stCondLst>
                              <p:cond delay="500"/>
                            </p:stCondLst>
                            <p:childTnLst>
                              <p:par>
                                <p:cTn id="23" presetID="22" presetClass="entr" presetSubtype="2" fill="hold" nodeType="after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wipe(right)">
                                      <p:cBhvr>
                                        <p:cTn id="25" dur="500"/>
                                        <p:tgtEl>
                                          <p:spTgt spid="16"/>
                                        </p:tgtEl>
                                      </p:cBhvr>
                                    </p:animEffect>
                                  </p:childTnLst>
                                </p:cTn>
                              </p:par>
                            </p:childTnLst>
                          </p:cTn>
                        </p:par>
                        <p:par>
                          <p:cTn id="26" fill="hold">
                            <p:stCondLst>
                              <p:cond delay="1000"/>
                            </p:stCondLst>
                            <p:childTnLst>
                              <p:par>
                                <p:cTn id="27" presetID="12" presetClass="entr" presetSubtype="1" fill="hold" grpId="0" nodeType="afterEffect">
                                  <p:stCondLst>
                                    <p:cond delay="0"/>
                                  </p:stCondLst>
                                  <p:childTnLst>
                                    <p:set>
                                      <p:cBhvr>
                                        <p:cTn id="28" dur="1" fill="hold">
                                          <p:stCondLst>
                                            <p:cond delay="0"/>
                                          </p:stCondLst>
                                        </p:cTn>
                                        <p:tgtEl>
                                          <p:spTgt spid="21"/>
                                        </p:tgtEl>
                                        <p:attrNameLst>
                                          <p:attrName>style.visibility</p:attrName>
                                        </p:attrNameLst>
                                      </p:cBhvr>
                                      <p:to>
                                        <p:strVal val="visible"/>
                                      </p:to>
                                    </p:set>
                                    <p:anim calcmode="lin" valueType="num">
                                      <p:cBhvr additive="base">
                                        <p:cTn id="29" dur="500"/>
                                        <p:tgtEl>
                                          <p:spTgt spid="21"/>
                                        </p:tgtEl>
                                        <p:attrNameLst>
                                          <p:attrName>ppt_y</p:attrName>
                                        </p:attrNameLst>
                                      </p:cBhvr>
                                      <p:tavLst>
                                        <p:tav tm="0">
                                          <p:val>
                                            <p:strVal val="#ppt_y-#ppt_h*1.125000"/>
                                          </p:val>
                                        </p:tav>
                                        <p:tav tm="100000">
                                          <p:val>
                                            <p:strVal val="#ppt_y"/>
                                          </p:val>
                                        </p:tav>
                                      </p:tavLst>
                                    </p:anim>
                                    <p:animEffect transition="in" filter="wipe(down)">
                                      <p:cBhvr>
                                        <p:cTn id="30" dur="500"/>
                                        <p:tgtEl>
                                          <p:spTgt spid="21"/>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animEffect transition="in" filter="wipe(left)">
                                      <p:cBhvr>
                                        <p:cTn id="35" dur="500"/>
                                        <p:tgtEl>
                                          <p:spTgt spid="5"/>
                                        </p:tgtEl>
                                      </p:cBhvr>
                                    </p:animEffect>
                                  </p:childTnLst>
                                </p:cTn>
                              </p:par>
                              <p:par>
                                <p:cTn id="36" presetID="10" presetClass="entr" presetSubtype="0" fill="hold" nodeType="withEffect">
                                  <p:stCondLst>
                                    <p:cond delay="0"/>
                                  </p:stCondLst>
                                  <p:childTnLst>
                                    <p:set>
                                      <p:cBhvr>
                                        <p:cTn id="37" dur="1" fill="hold">
                                          <p:stCondLst>
                                            <p:cond delay="0"/>
                                          </p:stCondLst>
                                        </p:cTn>
                                        <p:tgtEl>
                                          <p:spTgt spid="6"/>
                                        </p:tgtEl>
                                        <p:attrNameLst>
                                          <p:attrName>style.visibility</p:attrName>
                                        </p:attrNameLst>
                                      </p:cBhvr>
                                      <p:to>
                                        <p:strVal val="visible"/>
                                      </p:to>
                                    </p:set>
                                    <p:animEffect transition="in" filter="fade">
                                      <p:cBhvr>
                                        <p:cTn id="38" dur="500"/>
                                        <p:tgtEl>
                                          <p:spTgt spid="6"/>
                                        </p:tgtEl>
                                      </p:cBhvr>
                                    </p:animEffect>
                                  </p:childTnLst>
                                </p:cTn>
                              </p:par>
                            </p:childTnLst>
                          </p:cTn>
                        </p:par>
                        <p:par>
                          <p:cTn id="39" fill="hold">
                            <p:stCondLst>
                              <p:cond delay="500"/>
                            </p:stCondLst>
                            <p:childTnLst>
                              <p:par>
                                <p:cTn id="40" presetID="12" presetClass="entr" presetSubtype="1" fill="hold" grpId="0" nodeType="afterEffect">
                                  <p:stCondLst>
                                    <p:cond delay="0"/>
                                  </p:stCondLst>
                                  <p:childTnLst>
                                    <p:set>
                                      <p:cBhvr>
                                        <p:cTn id="41" dur="1" fill="hold">
                                          <p:stCondLst>
                                            <p:cond delay="0"/>
                                          </p:stCondLst>
                                        </p:cTn>
                                        <p:tgtEl>
                                          <p:spTgt spid="44"/>
                                        </p:tgtEl>
                                        <p:attrNameLst>
                                          <p:attrName>style.visibility</p:attrName>
                                        </p:attrNameLst>
                                      </p:cBhvr>
                                      <p:to>
                                        <p:strVal val="visible"/>
                                      </p:to>
                                    </p:set>
                                    <p:anim calcmode="lin" valueType="num">
                                      <p:cBhvr additive="base">
                                        <p:cTn id="42" dur="500"/>
                                        <p:tgtEl>
                                          <p:spTgt spid="44"/>
                                        </p:tgtEl>
                                        <p:attrNameLst>
                                          <p:attrName>ppt_y</p:attrName>
                                        </p:attrNameLst>
                                      </p:cBhvr>
                                      <p:tavLst>
                                        <p:tav tm="0">
                                          <p:val>
                                            <p:strVal val="#ppt_y-#ppt_h*1.125000"/>
                                          </p:val>
                                        </p:tav>
                                        <p:tav tm="100000">
                                          <p:val>
                                            <p:strVal val="#ppt_y"/>
                                          </p:val>
                                        </p:tav>
                                      </p:tavLst>
                                    </p:anim>
                                    <p:animEffect transition="in" filter="wipe(down)">
                                      <p:cBhvr>
                                        <p:cTn id="43" dur="500"/>
                                        <p:tgtEl>
                                          <p:spTgt spid="44"/>
                                        </p:tgtEl>
                                      </p:cBhvr>
                                    </p:animEffect>
                                  </p:childTnLst>
                                </p:cTn>
                              </p:par>
                            </p:childTnLst>
                          </p:cTn>
                        </p:par>
                      </p:childTnLst>
                    </p:cTn>
                  </p:par>
                  <p:par>
                    <p:cTn id="44" fill="hold">
                      <p:stCondLst>
                        <p:cond delay="indefinite"/>
                      </p:stCondLst>
                      <p:childTnLst>
                        <p:par>
                          <p:cTn id="45" fill="hold">
                            <p:stCondLst>
                              <p:cond delay="0"/>
                            </p:stCondLst>
                            <p:childTnLst>
                              <p:par>
                                <p:cTn id="46" presetID="1" presetClass="entr" presetSubtype="0" fill="hold" nodeType="clickEffect">
                                  <p:stCondLst>
                                    <p:cond delay="0"/>
                                  </p:stCondLst>
                                  <p:childTnLst>
                                    <p:set>
                                      <p:cBhvr>
                                        <p:cTn id="47" dur="1" fill="hold">
                                          <p:stCondLst>
                                            <p:cond delay="0"/>
                                          </p:stCondLst>
                                        </p:cTn>
                                        <p:tgtEl>
                                          <p:spTgt spid="32"/>
                                        </p:tgtEl>
                                        <p:attrNameLst>
                                          <p:attrName>style.visibility</p:attrName>
                                        </p:attrNameLst>
                                      </p:cBhvr>
                                      <p:to>
                                        <p:strVal val="visible"/>
                                      </p:to>
                                    </p:set>
                                  </p:childTnLst>
                                  <p:subTnLst>
                                    <p:set>
                                      <p:cBhvr override="childStyle">
                                        <p:cTn dur="1" fill="hold" display="0" masterRel="nextClick" afterEffect="1"/>
                                        <p:tgtEl>
                                          <p:spTgt spid="32"/>
                                        </p:tgtEl>
                                        <p:attrNameLst>
                                          <p:attrName>style.visibility</p:attrName>
                                        </p:attrNameLst>
                                      </p:cBhvr>
                                      <p:to>
                                        <p:strVal val="hidden"/>
                                      </p:to>
                                    </p:set>
                                  </p:subTnLst>
                                </p:cTn>
                              </p:par>
                              <p:par>
                                <p:cTn id="48" presetID="0" presetClass="path" presetSubtype="0" accel="50000" decel="50000" fill="hold" nodeType="withEffect">
                                  <p:stCondLst>
                                    <p:cond delay="0"/>
                                  </p:stCondLst>
                                  <p:childTnLst>
                                    <p:animMotion origin="layout" path="M -0.44322 -0.06482 C -0.4401 -0.02894 -0.42968 0.09884 -0.42447 0.15115 " pathEditMode="fixed" rAng="0" ptsTypes="AA">
                                      <p:cBhvr>
                                        <p:cTn id="49" dur="2000" fill="hold"/>
                                        <p:tgtEl>
                                          <p:spTgt spid="32"/>
                                        </p:tgtEl>
                                        <p:attrNameLst>
                                          <p:attrName>ppt_x</p:attrName>
                                          <p:attrName>ppt_y</p:attrName>
                                        </p:attrNameLst>
                                      </p:cBhvr>
                                      <p:rCtr x="938" y="10787"/>
                                    </p:animMotion>
                                  </p:childTnLst>
                                  <p:subTnLst>
                                    <p:set>
                                      <p:cBhvr override="childStyle">
                                        <p:cTn dur="1" fill="hold" display="0" masterRel="nextClick" afterEffect="1"/>
                                        <p:tgtEl>
                                          <p:spTgt spid="32"/>
                                        </p:tgtEl>
                                        <p:attrNameLst>
                                          <p:attrName>style.visibility</p:attrName>
                                        </p:attrNameLst>
                                      </p:cBhvr>
                                      <p:to>
                                        <p:strVal val="hidden"/>
                                      </p:to>
                                    </p:set>
                                  </p:subTnLst>
                                </p:cTn>
                              </p:par>
                            </p:childTnLst>
                          </p:cTn>
                        </p:par>
                      </p:childTnLst>
                    </p:cTn>
                  </p:par>
                  <p:par>
                    <p:cTn id="50" fill="hold">
                      <p:stCondLst>
                        <p:cond delay="indefinite"/>
                      </p:stCondLst>
                      <p:childTnLst>
                        <p:par>
                          <p:cTn id="51" fill="hold">
                            <p:stCondLst>
                              <p:cond delay="0"/>
                            </p:stCondLst>
                            <p:childTnLst>
                              <p:par>
                                <p:cTn id="52" presetID="1" presetClass="entr" presetSubtype="0" fill="hold" nodeType="clickEffect">
                                  <p:stCondLst>
                                    <p:cond delay="0"/>
                                  </p:stCondLst>
                                  <p:childTnLst>
                                    <p:set>
                                      <p:cBhvr>
                                        <p:cTn id="53" dur="1" fill="hold">
                                          <p:stCondLst>
                                            <p:cond delay="0"/>
                                          </p:stCondLst>
                                        </p:cTn>
                                        <p:tgtEl>
                                          <p:spTgt spid="45"/>
                                        </p:tgtEl>
                                        <p:attrNameLst>
                                          <p:attrName>style.visibility</p:attrName>
                                        </p:attrNameLst>
                                      </p:cBhvr>
                                      <p:to>
                                        <p:strVal val="visible"/>
                                      </p:to>
                                    </p:set>
                                  </p:childTnLst>
                                </p:cTn>
                              </p:par>
                              <p:par>
                                <p:cTn id="54" presetID="0" presetClass="path" presetSubtype="0" accel="50000" decel="50000" fill="hold" nodeType="withEffect">
                                  <p:stCondLst>
                                    <p:cond delay="0"/>
                                  </p:stCondLst>
                                  <p:childTnLst>
                                    <p:animMotion origin="layout" path="M -0.42448 0.15115 C -0.41684 0.20138 -0.42084 0.19328 -0.41198 0.25231 C -0.39722 0.33865 -0.20851 0.43425 -0.05729 0.42986 C -0.0257 0.42777 -0.01893 0.39583 -0.0184 0.3956 " pathEditMode="fixed" rAng="0" ptsTypes="AAAA">
                                      <p:cBhvr>
                                        <p:cTn id="55" dur="2000" fill="hold"/>
                                        <p:tgtEl>
                                          <p:spTgt spid="45"/>
                                        </p:tgtEl>
                                        <p:attrNameLst>
                                          <p:attrName>ppt_x</p:attrName>
                                          <p:attrName>ppt_y</p:attrName>
                                        </p:attrNameLst>
                                      </p:cBhvr>
                                      <p:rCtr x="20295" y="13935"/>
                                    </p:animMotion>
                                  </p:childTnLst>
                                  <p:subTnLst>
                                    <p:set>
                                      <p:cBhvr override="childStyle">
                                        <p:cTn dur="1" fill="hold" display="0" masterRel="nextClick" afterEffect="1"/>
                                        <p:tgtEl>
                                          <p:spTgt spid="45"/>
                                        </p:tgtEl>
                                        <p:attrNameLst>
                                          <p:attrName>style.visibility</p:attrName>
                                        </p:attrNameLst>
                                      </p:cBhvr>
                                      <p:to>
                                        <p:strVal val="hidden"/>
                                      </p:to>
                                    </p:set>
                                  </p:subTnLst>
                                </p:cTn>
                              </p:par>
                            </p:childTnLst>
                          </p:cTn>
                        </p:par>
                      </p:childTnLst>
                    </p:cTn>
                  </p:par>
                  <p:par>
                    <p:cTn id="56" fill="hold">
                      <p:stCondLst>
                        <p:cond delay="indefinite"/>
                      </p:stCondLst>
                      <p:childTnLst>
                        <p:par>
                          <p:cTn id="57" fill="hold">
                            <p:stCondLst>
                              <p:cond delay="0"/>
                            </p:stCondLst>
                            <p:childTnLst>
                              <p:par>
                                <p:cTn id="58" presetID="1" presetClass="entr" presetSubtype="0" fill="hold" nodeType="clickEffect">
                                  <p:stCondLst>
                                    <p:cond delay="0"/>
                                  </p:stCondLst>
                                  <p:childTnLst>
                                    <p:set>
                                      <p:cBhvr>
                                        <p:cTn id="59" dur="1" fill="hold">
                                          <p:stCondLst>
                                            <p:cond delay="0"/>
                                          </p:stCondLst>
                                        </p:cTn>
                                        <p:tgtEl>
                                          <p:spTgt spid="69"/>
                                        </p:tgtEl>
                                        <p:attrNameLst>
                                          <p:attrName>style.visibility</p:attrName>
                                        </p:attrNameLst>
                                      </p:cBhvr>
                                      <p:to>
                                        <p:strVal val="visible"/>
                                      </p:to>
                                    </p:set>
                                  </p:childTnLst>
                                </p:cTn>
                              </p:par>
                              <p:par>
                                <p:cTn id="60" presetID="0" presetClass="path" presetSubtype="0" accel="50000" decel="50000" fill="hold" nodeType="withEffect">
                                  <p:stCondLst>
                                    <p:cond delay="0"/>
                                  </p:stCondLst>
                                  <p:childTnLst>
                                    <p:animMotion origin="layout" path="M -0.01823 0.39746 C -0.01701 0.39398 -0.01892 0.32917 -0.01892 0.31551 " pathEditMode="fixed" rAng="0" ptsTypes="AA">
                                      <p:cBhvr>
                                        <p:cTn id="61" dur="2000" fill="hold"/>
                                        <p:tgtEl>
                                          <p:spTgt spid="69"/>
                                        </p:tgtEl>
                                        <p:attrNameLst>
                                          <p:attrName>ppt_x</p:attrName>
                                          <p:attrName>ppt_y</p:attrName>
                                        </p:attrNameLst>
                                      </p:cBhvr>
                                      <p:rCtr x="-17" y="-4097"/>
                                    </p:animMotion>
                                  </p:childTnLst>
                                  <p:subTnLst>
                                    <p:set>
                                      <p:cBhvr override="childStyle">
                                        <p:cTn dur="1" fill="hold" display="0" masterRel="nextClick" afterEffect="1"/>
                                        <p:tgtEl>
                                          <p:spTgt spid="69"/>
                                        </p:tgtEl>
                                        <p:attrNameLst>
                                          <p:attrName>style.visibility</p:attrName>
                                        </p:attrNameLst>
                                      </p:cBhvr>
                                      <p:to>
                                        <p:strVal val="hidden"/>
                                      </p:to>
                                    </p:set>
                                  </p:subTnLst>
                                </p:cTn>
                              </p:par>
                            </p:childTnLst>
                          </p:cTn>
                        </p:par>
                      </p:childTnLst>
                    </p:cTn>
                  </p:par>
                  <p:par>
                    <p:cTn id="62" fill="hold">
                      <p:stCondLst>
                        <p:cond delay="indefinite"/>
                      </p:stCondLst>
                      <p:childTnLst>
                        <p:par>
                          <p:cTn id="63" fill="hold">
                            <p:stCondLst>
                              <p:cond delay="0"/>
                            </p:stCondLst>
                            <p:childTnLst>
                              <p:par>
                                <p:cTn id="64" presetID="1" presetClass="entr" presetSubtype="0" fill="hold" nodeType="clickEffect">
                                  <p:stCondLst>
                                    <p:cond delay="0"/>
                                  </p:stCondLst>
                                  <p:childTnLst>
                                    <p:set>
                                      <p:cBhvr>
                                        <p:cTn id="65" dur="1" fill="hold">
                                          <p:stCondLst>
                                            <p:cond delay="0"/>
                                          </p:stCondLst>
                                        </p:cTn>
                                        <p:tgtEl>
                                          <p:spTgt spid="53"/>
                                        </p:tgtEl>
                                        <p:attrNameLst>
                                          <p:attrName>style.visibility</p:attrName>
                                        </p:attrNameLst>
                                      </p:cBhvr>
                                      <p:to>
                                        <p:strVal val="visible"/>
                                      </p:to>
                                    </p:set>
                                  </p:childTnLst>
                                </p:cTn>
                              </p:par>
                              <p:par>
                                <p:cTn id="66" presetID="0" presetClass="path" presetSubtype="0" accel="50000" decel="50000" fill="hold" nodeType="withEffect">
                                  <p:stCondLst>
                                    <p:cond delay="0"/>
                                  </p:stCondLst>
                                  <p:childTnLst>
                                    <p:animMotion origin="layout" path="M -0.01892 0.3155 C -0.01388 0.20925 -0.02777 -0.0257 -0.02899 -0.06181 " pathEditMode="fixed" rAng="0" ptsTypes="AA">
                                      <p:cBhvr>
                                        <p:cTn id="67" dur="2000" fill="hold"/>
                                        <p:tgtEl>
                                          <p:spTgt spid="53"/>
                                        </p:tgtEl>
                                        <p:attrNameLst>
                                          <p:attrName>ppt_x</p:attrName>
                                          <p:attrName>ppt_y</p:attrName>
                                        </p:attrNameLst>
                                      </p:cBhvr>
                                      <p:rCtr x="-451" y="-1886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44" grpId="0" animBg="1"/>
      <p:bldP spid="66"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Filtre ou gestionnaire</a:t>
            </a:r>
          </a:p>
        </p:txBody>
      </p:sp>
      <p:sp>
        <p:nvSpPr>
          <p:cNvPr id="3" name="TextBox 2"/>
          <p:cNvSpPr txBox="1"/>
          <p:nvPr/>
        </p:nvSpPr>
        <p:spPr>
          <a:xfrm>
            <a:off x="777240" y="1371600"/>
            <a:ext cx="1374370" cy="585216"/>
          </a:xfrm>
          <a:prstGeom prst="rect">
            <a:avLst/>
          </a:prstGeom>
          <a:noFill/>
        </p:spPr>
        <p:txBody>
          <a:bodyPr wrap="square" anchor="ctr">
            <a:spAutoFit/>
          </a:bodyPr>
          <a:lstStyle/>
          <a:p>
            <a:endParaRPr/>
          </a:p>
        </p:txBody>
      </p:sp>
      <p:sp>
        <p:nvSpPr>
          <p:cNvPr id="4" name="TextBox 3"/>
          <p:cNvSpPr txBox="1"/>
          <p:nvPr/>
        </p:nvSpPr>
        <p:spPr>
          <a:xfrm>
            <a:off x="2425930" y="1371600"/>
            <a:ext cx="4506883" cy="585216"/>
          </a:xfrm>
          <a:prstGeom prst="rect">
            <a:avLst/>
          </a:prstGeom>
          <a:noFill/>
        </p:spPr>
        <p:txBody>
          <a:bodyPr wrap="square" anchor="ctr">
            <a:spAutoFit/>
          </a:bodyPr>
          <a:lstStyle/>
          <a:p>
            <a:r>
              <a:rPr sz="2000" b="1">
                <a:solidFill>
                  <a:schemeClr val="accent4"/>
                </a:solidFill>
              </a:rPr>
              <a:t>Filtre</a:t>
            </a:r>
          </a:p>
        </p:txBody>
      </p:sp>
      <p:sp>
        <p:nvSpPr>
          <p:cNvPr id="5" name="TextBox 4"/>
          <p:cNvSpPr txBox="1"/>
          <p:nvPr/>
        </p:nvSpPr>
        <p:spPr>
          <a:xfrm>
            <a:off x="7207134" y="1371600"/>
            <a:ext cx="4177145" cy="585216"/>
          </a:xfrm>
          <a:prstGeom prst="rect">
            <a:avLst/>
          </a:prstGeom>
          <a:noFill/>
        </p:spPr>
        <p:txBody>
          <a:bodyPr wrap="square" anchor="ctr">
            <a:spAutoFit/>
          </a:bodyPr>
          <a:lstStyle/>
          <a:p>
            <a:r>
              <a:rPr sz="2000" b="1">
                <a:solidFill>
                  <a:schemeClr val="accent4"/>
                </a:solidFill>
              </a:rPr>
              <a:t>Gestionnaire</a:t>
            </a:r>
          </a:p>
        </p:txBody>
      </p:sp>
      <p:sp>
        <p:nvSpPr>
          <p:cNvPr id="2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33</a:t>
            </a:fld>
            <a:endParaRPr lang="fr-FR"/>
          </a:p>
        </p:txBody>
      </p:sp>
      <p:sp>
        <p:nvSpPr>
          <p:cNvPr id="22"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grpSp>
        <p:nvGrpSpPr>
          <p:cNvPr id="23" name="Ligne 1"/>
          <p:cNvGrpSpPr/>
          <p:nvPr/>
        </p:nvGrpSpPr>
        <p:grpSpPr>
          <a:xfrm>
            <a:off x="640080" y="2029967"/>
            <a:ext cx="10881360" cy="585216"/>
            <a:chOff x="640080" y="2029967"/>
            <a:chExt cx="10881360" cy="585216"/>
          </a:xfrm>
        </p:grpSpPr>
        <p:sp>
          <p:nvSpPr>
            <p:cNvPr id="6" name="Rounded Rectangle 5"/>
            <p:cNvSpPr/>
            <p:nvPr/>
          </p:nvSpPr>
          <p:spPr>
            <a:xfrm>
              <a:off x="640080" y="2029967"/>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777240" y="2029967"/>
              <a:ext cx="1374370" cy="585216"/>
            </a:xfrm>
            <a:prstGeom prst="rect">
              <a:avLst/>
            </a:prstGeom>
            <a:noFill/>
          </p:spPr>
          <p:txBody>
            <a:bodyPr wrap="square" anchor="ctr">
              <a:spAutoFit/>
            </a:bodyPr>
            <a:lstStyle/>
            <a:p>
              <a:r>
                <a:rPr sz="2200">
                  <a:solidFill>
                    <a:srgbClr val="FFFFFF"/>
                  </a:solidFill>
                </a:rPr>
                <a:t>Phase</a:t>
              </a:r>
            </a:p>
          </p:txBody>
        </p:sp>
        <p:sp>
          <p:nvSpPr>
            <p:cNvPr id="8" name="TextBox 7"/>
            <p:cNvSpPr txBox="1"/>
            <p:nvPr/>
          </p:nvSpPr>
          <p:spPr>
            <a:xfrm>
              <a:off x="2425930" y="2029967"/>
              <a:ext cx="4506883" cy="585216"/>
            </a:xfrm>
            <a:prstGeom prst="rect">
              <a:avLst/>
            </a:prstGeom>
            <a:noFill/>
          </p:spPr>
          <p:txBody>
            <a:bodyPr wrap="square" anchor="ctr">
              <a:spAutoFit/>
            </a:bodyPr>
            <a:lstStyle/>
            <a:p>
              <a:r>
                <a:rPr sz="2200">
                  <a:solidFill>
                    <a:srgbClr val="FFFFFF"/>
                  </a:solidFill>
                </a:rPr>
                <a:t>la descente</a:t>
              </a:r>
            </a:p>
          </p:txBody>
        </p:sp>
        <p:sp>
          <p:nvSpPr>
            <p:cNvPr id="9" name="TextBox 8"/>
            <p:cNvSpPr txBox="1"/>
            <p:nvPr/>
          </p:nvSpPr>
          <p:spPr>
            <a:xfrm>
              <a:off x="7207134" y="2029967"/>
              <a:ext cx="4177145" cy="585216"/>
            </a:xfrm>
            <a:prstGeom prst="rect">
              <a:avLst/>
            </a:prstGeom>
            <a:noFill/>
          </p:spPr>
          <p:txBody>
            <a:bodyPr wrap="square" anchor="ctr">
              <a:spAutoFit/>
            </a:bodyPr>
            <a:lstStyle/>
            <a:p>
              <a:r>
                <a:rPr sz="2200">
                  <a:solidFill>
                    <a:srgbClr val="FFFFFF"/>
                  </a:solidFill>
                </a:rPr>
                <a:t>la remontée</a:t>
              </a:r>
            </a:p>
          </p:txBody>
        </p:sp>
      </p:grpSp>
      <p:grpSp>
        <p:nvGrpSpPr>
          <p:cNvPr id="24" name="Ligne 2"/>
          <p:cNvGrpSpPr/>
          <p:nvPr/>
        </p:nvGrpSpPr>
        <p:grpSpPr>
          <a:xfrm>
            <a:off x="640080" y="2688335"/>
            <a:ext cx="10881360" cy="585216"/>
            <a:chOff x="640080" y="2688335"/>
            <a:chExt cx="10881360" cy="585216"/>
          </a:xfrm>
        </p:grpSpPr>
        <p:sp>
          <p:nvSpPr>
            <p:cNvPr id="10" name="Rounded Rectangle 9"/>
            <p:cNvSpPr/>
            <p:nvPr/>
          </p:nvSpPr>
          <p:spPr>
            <a:xfrm>
              <a:off x="640080" y="2688335"/>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777240" y="2688335"/>
              <a:ext cx="1374370" cy="585216"/>
            </a:xfrm>
            <a:prstGeom prst="rect">
              <a:avLst/>
            </a:prstGeom>
            <a:noFill/>
          </p:spPr>
          <p:txBody>
            <a:bodyPr wrap="square" anchor="ctr">
              <a:spAutoFit/>
            </a:bodyPr>
            <a:lstStyle/>
            <a:p>
              <a:r>
                <a:rPr sz="2200">
                  <a:solidFill>
                    <a:srgbClr val="FFFFFF"/>
                  </a:solidFill>
                </a:rPr>
                <a:t>Ordre</a:t>
              </a:r>
            </a:p>
          </p:txBody>
        </p:sp>
        <p:sp>
          <p:nvSpPr>
            <p:cNvPr id="12" name="TextBox 11"/>
            <p:cNvSpPr txBox="1"/>
            <p:nvPr/>
          </p:nvSpPr>
          <p:spPr>
            <a:xfrm>
              <a:off x="2425930" y="2688335"/>
              <a:ext cx="4506883" cy="585216"/>
            </a:xfrm>
            <a:prstGeom prst="rect">
              <a:avLst/>
            </a:prstGeom>
            <a:noFill/>
          </p:spPr>
          <p:txBody>
            <a:bodyPr wrap="square" anchor="ctr">
              <a:spAutoFit/>
            </a:bodyPr>
            <a:lstStyle/>
            <a:p>
              <a:r>
                <a:rPr sz="2200">
                  <a:solidFill>
                    <a:srgbClr val="FFFFFF"/>
                  </a:solidFill>
                </a:rPr>
                <a:t>du haut vers la cible</a:t>
              </a:r>
            </a:p>
          </p:txBody>
        </p:sp>
        <p:sp>
          <p:nvSpPr>
            <p:cNvPr id="13" name="TextBox 12"/>
            <p:cNvSpPr txBox="1"/>
            <p:nvPr/>
          </p:nvSpPr>
          <p:spPr>
            <a:xfrm>
              <a:off x="7207134" y="2688335"/>
              <a:ext cx="4177145" cy="585216"/>
            </a:xfrm>
            <a:prstGeom prst="rect">
              <a:avLst/>
            </a:prstGeom>
            <a:noFill/>
          </p:spPr>
          <p:txBody>
            <a:bodyPr wrap="square" anchor="ctr">
              <a:spAutoFit/>
            </a:bodyPr>
            <a:lstStyle/>
            <a:p>
              <a:r>
                <a:rPr sz="2200">
                  <a:solidFill>
                    <a:srgbClr val="FFFFFF"/>
                  </a:solidFill>
                </a:rPr>
                <a:t>de la cible vers le haut</a:t>
              </a:r>
            </a:p>
          </p:txBody>
        </p:sp>
      </p:grpSp>
      <p:grpSp>
        <p:nvGrpSpPr>
          <p:cNvPr id="25" name="Ligne 3"/>
          <p:cNvGrpSpPr/>
          <p:nvPr/>
        </p:nvGrpSpPr>
        <p:grpSpPr>
          <a:xfrm>
            <a:off x="640080" y="3346703"/>
            <a:ext cx="10881360" cy="585216"/>
            <a:chOff x="640080" y="3346703"/>
            <a:chExt cx="10881360" cy="585216"/>
          </a:xfrm>
        </p:grpSpPr>
        <p:sp>
          <p:nvSpPr>
            <p:cNvPr id="14" name="Rounded Rectangle 13"/>
            <p:cNvSpPr/>
            <p:nvPr/>
          </p:nvSpPr>
          <p:spPr>
            <a:xfrm>
              <a:off x="640080" y="3346703"/>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777240" y="3346703"/>
              <a:ext cx="1374370" cy="585216"/>
            </a:xfrm>
            <a:prstGeom prst="rect">
              <a:avLst/>
            </a:prstGeom>
            <a:noFill/>
          </p:spPr>
          <p:txBody>
            <a:bodyPr wrap="square" anchor="ctr">
              <a:spAutoFit/>
            </a:bodyPr>
            <a:lstStyle/>
            <a:p>
              <a:r>
                <a:rPr sz="2200">
                  <a:solidFill>
                    <a:srgbClr val="FFFFFF"/>
                  </a:solidFill>
                </a:rPr>
                <a:t>Ajout</a:t>
              </a:r>
            </a:p>
          </p:txBody>
        </p:sp>
        <p:sp>
          <p:nvSpPr>
            <p:cNvPr id="16" name="TextBox 15"/>
            <p:cNvSpPr txBox="1"/>
            <p:nvPr/>
          </p:nvSpPr>
          <p:spPr>
            <a:xfrm>
              <a:off x="2425930" y="3346703"/>
              <a:ext cx="4506883" cy="585216"/>
            </a:xfrm>
            <a:prstGeom prst="rect">
              <a:avLst/>
            </a:prstGeom>
            <a:noFill/>
          </p:spPr>
          <p:txBody>
            <a:bodyPr wrap="square" anchor="ctr">
              <a:spAutoFit/>
            </a:bodyPr>
            <a:lstStyle/>
            <a:p>
              <a:r>
                <a:rPr sz="1900">
                  <a:solidFill>
                    <a:schemeClr val="accent4"/>
                  </a:solidFill>
                  <a:latin typeface="Consolas"/>
                </a:rPr>
                <a:t>addEventFilter</a:t>
              </a:r>
            </a:p>
          </p:txBody>
        </p:sp>
        <p:sp>
          <p:nvSpPr>
            <p:cNvPr id="17" name="TextBox 16"/>
            <p:cNvSpPr txBox="1"/>
            <p:nvPr/>
          </p:nvSpPr>
          <p:spPr>
            <a:xfrm>
              <a:off x="7207134" y="3346703"/>
              <a:ext cx="4177145" cy="585216"/>
            </a:xfrm>
            <a:prstGeom prst="rect">
              <a:avLst/>
            </a:prstGeom>
            <a:noFill/>
          </p:spPr>
          <p:txBody>
            <a:bodyPr wrap="square" anchor="ctr">
              <a:spAutoFit/>
            </a:bodyPr>
            <a:lstStyle/>
            <a:p>
              <a:r>
                <a:rPr sz="1900">
                  <a:solidFill>
                    <a:schemeClr val="accent4"/>
                  </a:solidFill>
                  <a:latin typeface="Consolas"/>
                </a:rPr>
                <a:t>addEventHandler</a:t>
              </a:r>
            </a:p>
          </p:txBody>
        </p:sp>
      </p:grpSp>
      <p:grpSp>
        <p:nvGrpSpPr>
          <p:cNvPr id="26" name="Ligne 4"/>
          <p:cNvGrpSpPr/>
          <p:nvPr/>
        </p:nvGrpSpPr>
        <p:grpSpPr>
          <a:xfrm>
            <a:off x="640080" y="4005071"/>
            <a:ext cx="10881360" cy="585216"/>
            <a:chOff x="640080" y="4005071"/>
            <a:chExt cx="10881360" cy="585216"/>
          </a:xfrm>
        </p:grpSpPr>
        <p:sp>
          <p:nvSpPr>
            <p:cNvPr id="18" name="Rounded Rectangle 17"/>
            <p:cNvSpPr/>
            <p:nvPr/>
          </p:nvSpPr>
          <p:spPr>
            <a:xfrm>
              <a:off x="640080" y="4005071"/>
              <a:ext cx="10881360" cy="585216"/>
            </a:xfrm>
            <a:prstGeom prst="roundRect">
              <a:avLst>
                <a:gd name="adj" fmla="val 15625"/>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77240" y="4005071"/>
              <a:ext cx="1374370" cy="585216"/>
            </a:xfrm>
            <a:prstGeom prst="rect">
              <a:avLst/>
            </a:prstGeom>
            <a:noFill/>
          </p:spPr>
          <p:txBody>
            <a:bodyPr wrap="square" anchor="ctr">
              <a:spAutoFit/>
            </a:bodyPr>
            <a:lstStyle/>
            <a:p>
              <a:r>
                <a:rPr sz="2200">
                  <a:solidFill>
                    <a:srgbClr val="FFFFFF"/>
                  </a:solidFill>
                </a:rPr>
                <a:t>Sert à</a:t>
              </a:r>
            </a:p>
          </p:txBody>
        </p:sp>
        <p:sp>
          <p:nvSpPr>
            <p:cNvPr id="20" name="TextBox 19"/>
            <p:cNvSpPr txBox="1"/>
            <p:nvPr/>
          </p:nvSpPr>
          <p:spPr>
            <a:xfrm>
              <a:off x="2425930" y="4005071"/>
              <a:ext cx="4506883" cy="585216"/>
            </a:xfrm>
            <a:prstGeom prst="rect">
              <a:avLst/>
            </a:prstGeom>
            <a:noFill/>
          </p:spPr>
          <p:txBody>
            <a:bodyPr wrap="square" anchor="ctr">
              <a:spAutoFit/>
            </a:bodyPr>
            <a:lstStyle/>
            <a:p>
              <a:r>
                <a:rPr sz="2200">
                  <a:solidFill>
                    <a:srgbClr val="FFFFFF"/>
                  </a:solidFill>
                </a:rPr>
                <a:t>intercepter avant les enfants</a:t>
              </a:r>
            </a:p>
          </p:txBody>
        </p:sp>
        <p:sp>
          <p:nvSpPr>
            <p:cNvPr id="21" name="TextBox 20"/>
            <p:cNvSpPr txBox="1"/>
            <p:nvPr/>
          </p:nvSpPr>
          <p:spPr>
            <a:xfrm>
              <a:off x="7207134" y="4005071"/>
              <a:ext cx="4177145" cy="585216"/>
            </a:xfrm>
            <a:prstGeom prst="rect">
              <a:avLst/>
            </a:prstGeom>
            <a:noFill/>
          </p:spPr>
          <p:txBody>
            <a:bodyPr wrap="square" anchor="ctr">
              <a:spAutoFit/>
            </a:bodyPr>
            <a:lstStyle/>
            <a:p>
              <a:r>
                <a:rPr sz="2200">
                  <a:solidFill>
                    <a:srgbClr val="FFFFFF"/>
                  </a:solidFill>
                </a:rPr>
                <a:t>réagir à ce qui s'est passé</a:t>
              </a: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wipe(left)">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wipe(left)">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wipe(left)">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6"/>
                                        </p:tgtEl>
                                        <p:attrNameLst>
                                          <p:attrName>style.visibility</p:attrName>
                                        </p:attrNameLst>
                                      </p:cBhvr>
                                      <p:to>
                                        <p:strVal val="visible"/>
                                      </p:to>
                                    </p:set>
                                    <p:animEffect transition="in" filter="wipe(left)">
                                      <p:cBhvr>
                                        <p:cTn id="22"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solidFill>
                  <a:schemeClr val="accent4"/>
                </a:solidFill>
                <a:latin typeface="Consolas"/>
              </a:rPr>
              <a:t>consume()</a:t>
            </a:r>
          </a:p>
        </p:txBody>
      </p:sp>
      <p:sp>
        <p:nvSpPr>
          <p:cNvPr id="3" name="Content Placeholder 2"/>
          <p:cNvSpPr>
            <a:spLocks noGrp="1"/>
          </p:cNvSpPr>
          <p:nvPr>
            <p:ph idx="1"/>
          </p:nvPr>
        </p:nvSpPr>
        <p:spPr>
          <a:xfrm>
            <a:off x="640080" y="1371600"/>
            <a:ext cx="10881360" cy="2778760"/>
          </a:xfrm>
        </p:spPr>
        <p:txBody>
          <a:bodyPr/>
          <a:lstStyle/>
          <a:p>
            <a:pPr marL="0" indent="0">
              <a:spcAft>
                <a:spcPts val="1000"/>
              </a:spcAft>
              <a:buNone/>
            </a:pPr>
            <a:r>
              <a:rPr sz="2800"/>
              <a:t>La méthode </a:t>
            </a:r>
            <a:r>
              <a:rPr sz="2400">
                <a:solidFill>
                  <a:schemeClr val="accent4"/>
                </a:solidFill>
                <a:latin typeface="Consolas"/>
              </a:rPr>
              <a:t>consume</a:t>
            </a:r>
            <a:r>
              <a:rPr sz="2800"/>
              <a:t> marque l'événement comme traité</a:t>
            </a:r>
          </a:p>
          <a:p>
            <a:pPr marL="0" indent="0">
              <a:spcAft>
                <a:spcPts val="1000"/>
              </a:spcAft>
              <a:buNone/>
            </a:pPr>
            <a:r>
              <a:rPr sz="2800"/>
              <a:t>Les nœuds suivants du chemin ne le reçoivent plus</a:t>
            </a:r>
          </a:p>
          <a:p>
            <a:pPr marL="0" indent="0">
              <a:spcAft>
                <a:spcPts val="1000"/>
              </a:spcAft>
              <a:buNone/>
            </a:pPr>
            <a:r>
              <a:rPr sz="2800"/>
              <a:t>Consommé par un filtre, il n'atteint jamais la cible</a:t>
            </a:r>
          </a:p>
          <a:p>
            <a:pPr marL="0" indent="0">
              <a:spcAft>
                <a:spcPts val="1000"/>
              </a:spcAft>
              <a:buNone/>
            </a:pPr>
            <a:r>
              <a:rPr sz="2800"/>
              <a:t>Les autres gestionnaires du même nœud sont, eux, encore appelés</a:t>
            </a:r>
          </a:p>
        </p:txBody>
      </p:sp>
      <p:sp>
        <p:nvSpPr>
          <p:cNvPr id="4" name="Code"/>
          <p:cNvSpPr txBox="1"/>
          <p:nvPr/>
        </p:nvSpPr>
        <p:spPr>
          <a:xfrm>
            <a:off x="1543051" y="4287520"/>
            <a:ext cx="9105898" cy="1645920"/>
          </a:xfrm>
          <a:prstGeom prst="roundRect">
            <a:avLst>
              <a:gd name="adj" fmla="val 5555"/>
            </a:avLst>
          </a:prstGeom>
          <a:solidFill>
            <a:srgbClr val="1D1F22"/>
          </a:solidFill>
          <a:effectLst>
            <a:outerShdw blurRad="50800" dist="38100" dir="2700000" algn="tl" rotWithShape="0">
              <a:prstClr val="black">
                <a:alpha val="40000"/>
              </a:prstClr>
            </a:outerShdw>
          </a:effectLst>
        </p:spPr>
        <p:txBody>
          <a:bodyPr wrap="none" lIns="137160" tIns="91440" rIns="137160" bIns="91440"/>
          <a:lstStyle/>
          <a:p>
            <a:pPr>
              <a:lnSpc>
                <a:spcPct val="100000"/>
              </a:lnSpc>
              <a:spcBef>
                <a:spcPts val="0"/>
              </a:spcBef>
              <a:spcAft>
                <a:spcPts val="0"/>
              </a:spcAft>
            </a:pPr>
            <a:r>
              <a:rPr sz="1800">
                <a:solidFill>
                  <a:srgbClr val="BCBEC4"/>
                </a:solidFill>
                <a:latin typeface="Consolas"/>
              </a:rPr>
              <a:t>panneau.</a:t>
            </a:r>
            <a:r>
              <a:rPr sz="1800">
                <a:solidFill>
                  <a:srgbClr val="56A8F5"/>
                </a:solidFill>
                <a:latin typeface="Consolas"/>
              </a:rPr>
              <a:t>addEventFilter</a:t>
            </a:r>
            <a:r>
              <a:rPr sz="1800">
                <a:solidFill>
                  <a:srgbClr val="BCBEC4"/>
                </a:solidFill>
                <a:latin typeface="Consolas"/>
              </a:rPr>
              <a:t>(MouseEvent.MOUSE_CLICKED, evenement -&gt; {</a:t>
            </a:r>
          </a:p>
          <a:p>
            <a:pPr>
              <a:lnSpc>
                <a:spcPct val="100000"/>
              </a:lnSpc>
              <a:spcBef>
                <a:spcPts val="0"/>
              </a:spcBef>
              <a:spcAft>
                <a:spcPts val="0"/>
              </a:spcAft>
            </a:pPr>
            <a:r>
              <a:rPr sz="1800">
                <a:solidFill>
                  <a:srgbClr val="BCBEC4"/>
                </a:solidFill>
                <a:latin typeface="Consolas"/>
              </a:rPr>
              <a:t>    </a:t>
            </a:r>
            <a:r>
              <a:rPr sz="1800">
                <a:solidFill>
                  <a:srgbClr val="CF8E6D"/>
                </a:solidFill>
                <a:latin typeface="Consolas"/>
              </a:rPr>
              <a:t>if</a:t>
            </a:r>
            <a:r>
              <a:rPr sz="1800">
                <a:solidFill>
                  <a:srgbClr val="BCBEC4"/>
                </a:solidFill>
                <a:latin typeface="Consolas"/>
              </a:rPr>
              <a:t> (verrouille) {</a:t>
            </a:r>
          </a:p>
          <a:p>
            <a:pPr>
              <a:lnSpc>
                <a:spcPct val="100000"/>
              </a:lnSpc>
              <a:spcBef>
                <a:spcPts val="0"/>
              </a:spcBef>
              <a:spcAft>
                <a:spcPts val="0"/>
              </a:spcAft>
            </a:pPr>
            <a:r>
              <a:rPr sz="1800">
                <a:solidFill>
                  <a:srgbClr val="BCBEC4"/>
                </a:solidFill>
                <a:latin typeface="Consolas"/>
              </a:rPr>
              <a:t>        evenement.</a:t>
            </a:r>
            <a:r>
              <a:rPr sz="1800">
                <a:solidFill>
                  <a:srgbClr val="56A8F5"/>
                </a:solidFill>
                <a:latin typeface="Consolas"/>
              </a:rPr>
              <a:t>consume</a:t>
            </a:r>
            <a:r>
              <a:rPr sz="1800">
                <a:solidFill>
                  <a:srgbClr val="BCBEC4"/>
                </a:solidFill>
                <a:latin typeface="Consolas"/>
              </a:rPr>
              <a:t>();</a:t>
            </a:r>
          </a:p>
          <a:p>
            <a:pPr>
              <a:lnSpc>
                <a:spcPct val="100000"/>
              </a:lnSpc>
              <a:spcBef>
                <a:spcPts val="0"/>
              </a:spcBef>
              <a:spcAft>
                <a:spcPts val="0"/>
              </a:spcAft>
            </a:pPr>
            <a:r>
              <a:rPr sz="1800">
                <a:solidFill>
                  <a:srgbClr val="BCBEC4"/>
                </a:solidFill>
                <a:latin typeface="Consolas"/>
              </a:rPr>
              <a:t>    }</a:t>
            </a:r>
          </a:p>
          <a:p>
            <a:pPr>
              <a:lnSpc>
                <a:spcPct val="100000"/>
              </a:lnSpc>
              <a:spcBef>
                <a:spcPts val="0"/>
              </a:spcBef>
              <a:spcAft>
                <a:spcPts val="0"/>
              </a:spcAft>
            </a:pPr>
            <a:r>
              <a:rPr sz="1800">
                <a:solidFill>
                  <a:srgbClr val="BCBEC4"/>
                </a:solidFill>
                <a:latin typeface="Consolas"/>
              </a:rPr>
              <a:t>});</a:t>
            </a:r>
          </a:p>
        </p:txBody>
      </p:sp>
      <p:sp>
        <p:nvSpPr>
          <p:cNvPr id="6"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34</a:t>
            </a:fld>
            <a:endParaRPr lang="fr-FR"/>
          </a:p>
        </p:txBody>
      </p:sp>
      <p:sp>
        <p:nvSpPr>
          <p:cNvPr id="5"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Exercices</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FX.5</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800">
                <a:solidFill>
                  <a:srgbClr val="FFFFFF"/>
                </a:solidFill>
              </a:rPr>
              <a:t>Un événement voyage</a:t>
            </a:r>
          </a:p>
          <a:p>
            <a:r>
              <a:rPr sz="1400">
                <a:solidFill>
                  <a:srgbClr val="BCBEC4"/>
                </a:solidFill>
              </a:rPr>
              <a:t>fascicule FX</a:t>
            </a:r>
          </a:p>
        </p:txBody>
      </p:sp>
      <p:pic>
        <p:nvPicPr>
          <p:cNvPr id="6" name="Picture 5" descr="image.png"/>
          <p:cNvPicPr>
            <a:picLocks noChangeAspect="1"/>
          </p:cNvPicPr>
          <p:nvPr/>
        </p:nvPicPr>
        <p:blipFill>
          <a:blip r:embed="rId3"/>
          <a:stretch>
            <a:fillRect/>
          </a:stretch>
        </p:blipFill>
        <p:spPr>
          <a:xfrm>
            <a:off x="10332720" y="475488"/>
            <a:ext cx="1280160" cy="1280160"/>
          </a:xfrm>
          <a:prstGeom prst="rect">
            <a:avLst/>
          </a:prstGeom>
        </p:spPr>
      </p:pic>
      <p:sp>
        <p:nvSpPr>
          <p:cNvPr id="8"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35</a:t>
            </a:fld>
            <a:endParaRPr lang="fr-FR"/>
          </a:p>
        </p:txBody>
      </p:sp>
      <p:sp>
        <p:nvSpPr>
          <p:cNvPr id="7"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Autofit/>
          </a:bodyPr>
          <a:lstStyle/>
          <a:p>
            <a:r>
              <a:rPr sz="4000"/>
              <a:t>Le fil rouge</a:t>
            </a:r>
          </a:p>
        </p:txBody>
      </p:sp>
      <p:sp>
        <p:nvSpPr>
          <p:cNvPr id="3" name="Rounded Rectangle 2"/>
          <p:cNvSpPr/>
          <p:nvPr/>
        </p:nvSpPr>
        <p:spPr>
          <a:xfrm>
            <a:off x="640080" y="1417320"/>
            <a:ext cx="9326880" cy="960120"/>
          </a:xfrm>
          <a:prstGeom prst="roundRect">
            <a:avLst>
              <a:gd name="adj" fmla="val 9523"/>
            </a:avLst>
          </a:prstGeom>
          <a:solidFill>
            <a:srgbClr val="1D1F22"/>
          </a:solidFill>
          <a:ln>
            <a:noFill/>
          </a:ln>
          <a:effectLst>
            <a:outerShdw blurRad="50800" dist="38100" dir="2700000" algn="t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68680" y="1417320"/>
            <a:ext cx="1920240" cy="960120"/>
          </a:xfrm>
          <a:prstGeom prst="rect">
            <a:avLst/>
          </a:prstGeom>
          <a:noFill/>
        </p:spPr>
        <p:txBody>
          <a:bodyPr wrap="none" anchor="ctr">
            <a:spAutoFit/>
          </a:bodyPr>
          <a:lstStyle/>
          <a:p>
            <a:r>
              <a:rPr sz="3000" b="1">
                <a:solidFill>
                  <a:schemeClr val="accent4"/>
                </a:solidFill>
                <a:latin typeface="Consolas"/>
              </a:rPr>
              <a:t>G.33</a:t>
            </a:r>
          </a:p>
        </p:txBody>
      </p:sp>
      <p:sp>
        <p:nvSpPr>
          <p:cNvPr id="5" name="TextBox 4"/>
          <p:cNvSpPr txBox="1"/>
          <p:nvPr/>
        </p:nvSpPr>
        <p:spPr>
          <a:xfrm>
            <a:off x="2880360" y="1417320"/>
            <a:ext cx="6949440" cy="960120"/>
          </a:xfrm>
          <a:prstGeom prst="rect">
            <a:avLst/>
          </a:prstGeom>
          <a:noFill/>
        </p:spPr>
        <p:txBody>
          <a:bodyPr wrap="square" anchor="ctr">
            <a:spAutoFit/>
          </a:bodyPr>
          <a:lstStyle/>
          <a:p>
            <a:r>
              <a:rPr sz="2200">
                <a:solidFill>
                  <a:srgbClr val="FFFFFF"/>
                </a:solidFill>
              </a:rPr>
              <a:t>Le Nim dans une fenêtre</a:t>
            </a:r>
          </a:p>
          <a:p>
            <a:r>
              <a:rPr sz="1400">
                <a:solidFill>
                  <a:srgbClr val="BCBEC4"/>
                </a:solidFill>
              </a:rPr>
              <a:t>fil rouge GameHub</a:t>
            </a:r>
          </a:p>
        </p:txBody>
      </p:sp>
      <p:sp>
        <p:nvSpPr>
          <p:cNvPr id="6" name="TextBox 5"/>
          <p:cNvSpPr txBox="1"/>
          <p:nvPr/>
        </p:nvSpPr>
        <p:spPr>
          <a:xfrm>
            <a:off x="640080" y="2651760"/>
            <a:ext cx="9326880" cy="822960"/>
          </a:xfrm>
          <a:prstGeom prst="rect">
            <a:avLst/>
          </a:prstGeom>
          <a:noFill/>
        </p:spPr>
        <p:txBody>
          <a:bodyPr wrap="square">
            <a:spAutoFit/>
          </a:bodyPr>
          <a:lstStyle/>
          <a:p>
            <a:r>
              <a:rPr sz="1800"/>
              <a:t>Les classes du Nim servent telles quelles, sauf sa boucle</a:t>
            </a:r>
          </a:p>
        </p:txBody>
      </p:sp>
      <p:sp>
        <p:nvSpPr>
          <p:cNvPr id="7" name="Espace réservé du numéro de diapositive 2">
            <a:extLst>
              <a:ext uri="{FF2B5EF4-FFF2-40B4-BE49-F238E27FC236}">
                <a16:creationId xmlns:a16="http://schemas.microsoft.com/office/drawing/2014/main" id="{ECBEBDD9-D9CC-2B70-9E8C-523CC2893F62}"/>
              </a:ext>
            </a:extLst>
          </p:cNvPr>
          <p:cNvSpPr>
            <a:spLocks noGrp="1"/>
          </p:cNvSpPr>
          <p:nvPr>
            <p:ph type="sldNum" sz="quarter" idx="4"/>
          </p:nvPr>
        </p:nvSpPr>
        <p:spPr/>
        <p:txBody>
          <a:bodyPr/>
          <a:lstStyle/>
          <a:p>
            <a:fld id="{33C783E2-4793-4F48-A271-51A73CC37D74}" type="slidenum">
              <a:rPr lang="fr-FR" smtClean="0"/>
              <a:t>36</a:t>
            </a:fld>
            <a:endParaRPr lang="fr-FR"/>
          </a:p>
        </p:txBody>
      </p:sp>
      <p:sp>
        <p:nvSpPr>
          <p:cNvPr id="8" name="Repere de section"/>
          <p:cNvSpPr txBox="1"/>
          <p:nvPr/>
        </p:nvSpPr>
        <p:spPr>
          <a:xfrm>
            <a:off x="6583680" y="6382512"/>
            <a:ext cx="4480560" cy="320040"/>
          </a:xfrm>
          <a:prstGeom prst="rect">
            <a:avLst/>
          </a:prstGeom>
          <a:noFill/>
        </p:spPr>
        <p:txBody>
          <a:bodyPr wrap="none" tIns="0" bIns="0">
            <a:spAutoFit/>
          </a:bodyPr>
          <a:lstStyle/>
          <a:p>
            <a:pPr algn="r"/>
            <a:r>
              <a:rPr sz="1100">
                <a:solidFill>
                  <a:srgbClr val="BCBEC4"/>
                </a:solidFill>
              </a:rPr>
              <a:t>FX1 · </a:t>
            </a:r>
            <a:r>
              <a:rPr sz="1100" b="1">
                <a:solidFill>
                  <a:schemeClr val="accent4"/>
                </a:solidFill>
              </a:rPr>
              <a:t>5. La propagation</a:t>
            </a:r>
          </a:p>
        </p:txBody>
      </p:sp>
      <p:pic>
        <p:nvPicPr>
          <p:cNvPr id="9" name="iconGameHub" descr="gamehub.jpg"/>
          <p:cNvPicPr>
            <a:picLocks noChangeAspect="1"/>
          </p:cNvPicPr>
          <p:nvPr/>
        </p:nvPicPr>
        <p:blipFill>
          <a:blip r:embed="rId3"/>
          <a:stretch>
            <a:fillRect/>
          </a:stretch>
        </p:blipFill>
        <p:spPr>
          <a:xfrm rot="420000">
            <a:off x="10479024" y="521207"/>
            <a:ext cx="1216152" cy="1216152"/>
          </a:xfrm>
          <a:prstGeom prst="rect">
            <a:avLst/>
          </a:prstGeom>
        </p:spPr>
      </p:pic>
    </p:spTree>
  </p:cSld>
  <p:clrMapOvr>
    <a:masterClrMapping/>
  </p:clrMapOvr>
</p:sld>
</file>

<file path=ppt/theme/theme1.xml><?xml version="1.0" encoding="utf-8"?>
<a:theme xmlns:a="http://schemas.openxmlformats.org/drawingml/2006/main" name="ThemeEphec2022">
  <a:themeElements>
    <a:clrScheme name="Personnalisé 2">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EC000"/>
      </a:hlink>
      <a:folHlink>
        <a:srgbClr val="EC7C31"/>
      </a:folHlink>
    </a:clrScheme>
    <a:fontScheme name="Corbel">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hemeEphec2022" id="{D8E32F0D-03A5-7849-8B4E-A5D57A69C990}" vid="{085AC1B4-7B56-B14E-B333-323D733F6681}"/>
    </a:ext>
  </a:extLst>
</a:theme>
</file>

<file path=ppt/theme/theme2.xml><?xml version="1.0" encoding="utf-8"?>
<a:theme xmlns:a="http://schemas.openxmlformats.org/drawingml/2006/main" name="Thème Office 2013 – 2022">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ppt/theme/theme3.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ThemeEphec2022</Template>
  <TotalTime>115027</TotalTime>
  <Words>5665</Words>
  <Application>Microsoft Macintosh PowerPoint</Application>
  <PresentationFormat>Grand écran</PresentationFormat>
  <Paragraphs>438</Paragraphs>
  <Slides>36</Slides>
  <Notes>36</Notes>
  <HiddenSlides>0</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36</vt:i4>
      </vt:variant>
    </vt:vector>
  </HeadingPairs>
  <TitlesOfParts>
    <vt:vector size="42" baseType="lpstr">
      <vt:lpstr>Aptos</vt:lpstr>
      <vt:lpstr>Arial</vt:lpstr>
      <vt:lpstr>Calibri</vt:lpstr>
      <vt:lpstr>Consolas</vt:lpstr>
      <vt:lpstr>Corbel</vt:lpstr>
      <vt:lpstr>ThemeEphec2022</vt:lpstr>
      <vt:lpstr>JAVA 2</vt:lpstr>
      <vt:lpstr>Au programme</vt:lpstr>
      <vt:lpstr>Présentation PowerPoint</vt:lpstr>
      <vt:lpstr>JavaFX n'est plus dans le JDK</vt:lpstr>
      <vt:lpstr>La classe à lancer s'appelle Lanceur</vt:lpstr>
      <vt:lpstr>Si rien ne démarre</vt:lpstr>
      <vt:lpstr>Présentation PowerPoint</vt:lpstr>
      <vt:lpstr>Qui appelle start ?</vt:lpstr>
      <vt:lpstr>Le graphe de scène</vt:lpstr>
      <vt:lpstr>Construire le graphe de scène</vt:lpstr>
      <vt:lpstr>Les conteneurs</vt:lpstr>
      <vt:lpstr>Les contrôles</vt:lpstr>
      <vt:lpstr>Présentation PowerPoint</vt:lpstr>
      <vt:lpstr>Le programme attend</vt:lpstr>
      <vt:lpstr>Démonstration</vt:lpstr>
      <vt:lpstr>Un gestionnaire est un objet</vt:lpstr>
      <vt:lpstr>setOnAction n'est qu'un raccourci</vt:lpstr>
      <vt:lpstr>Exercices</vt:lpstr>
      <vt:lpstr>Présentation PowerPoint</vt:lpstr>
      <vt:lpstr>Démonstration</vt:lpstr>
      <vt:lpstr>Ce que transporte un événement</vt:lpstr>
      <vt:lpstr>Les familles d'événements</vt:lpstr>
      <vt:lpstr>Exercices</vt:lpstr>
      <vt:lpstr>À vous de chercher</vt:lpstr>
      <vt:lpstr>Une touche, deux événements</vt:lpstr>
      <vt:lpstr>La souris</vt:lpstr>
      <vt:lpstr>Présentation PowerPoint</vt:lpstr>
      <vt:lpstr>Démonstration</vt:lpstr>
      <vt:lpstr>L'aller et le retour</vt:lpstr>
      <vt:lpstr>La propagation des événements</vt:lpstr>
      <vt:lpstr>Les EventFilter</vt:lpstr>
      <vt:lpstr>EventHandler et EventFilter</vt:lpstr>
      <vt:lpstr>Filtre ou gestionnaire</vt:lpstr>
      <vt:lpstr>consume()</vt:lpstr>
      <vt:lpstr>Exercices</vt:lpstr>
      <vt:lpstr>Le fil rouge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JAVA 2</dc:title>
  <dc:creator>FERRANT Frédéric</dc:creator>
  <cp:lastModifiedBy>FERRANT Frédéric</cp:lastModifiedBy>
  <cp:revision>39</cp:revision>
  <dcterms:created xsi:type="dcterms:W3CDTF">2023-01-04T13:50:20Z</dcterms:created>
  <dcterms:modified xsi:type="dcterms:W3CDTF">2026-10-15T19:13:40Z</dcterms:modified>
</cp:coreProperties>
</file>