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40"/>
  </p:notesMasterIdLst>
  <p:handoutMasterIdLst>
    <p:handoutMasterId r:id="rId41"/>
  </p:handoutMasterIdLst>
  <p:sldIdLst>
    <p:sldId id="568" r:id="rId2"/>
    <p:sldId id="605" r:id="rId3"/>
    <p:sldId id="569" r:id="rId4"/>
    <p:sldId id="570" r:id="rId5"/>
    <p:sldId id="571" r:id="rId6"/>
    <p:sldId id="572" r:id="rId7"/>
    <p:sldId id="573" r:id="rId8"/>
    <p:sldId id="574" r:id="rId9"/>
    <p:sldId id="575" r:id="rId10"/>
    <p:sldId id="576" r:id="rId11"/>
    <p:sldId id="577" r:id="rId12"/>
    <p:sldId id="578" r:id="rId13"/>
    <p:sldId id="579" r:id="rId14"/>
    <p:sldId id="580" r:id="rId15"/>
    <p:sldId id="581" r:id="rId16"/>
    <p:sldId id="582" r:id="rId17"/>
    <p:sldId id="583" r:id="rId18"/>
    <p:sldId id="584" r:id="rId19"/>
    <p:sldId id="585" r:id="rId20"/>
    <p:sldId id="586" r:id="rId21"/>
    <p:sldId id="587" r:id="rId22"/>
    <p:sldId id="588" r:id="rId23"/>
    <p:sldId id="589" r:id="rId24"/>
    <p:sldId id="590" r:id="rId25"/>
    <p:sldId id="591" r:id="rId26"/>
    <p:sldId id="592" r:id="rId27"/>
    <p:sldId id="593" r:id="rId28"/>
    <p:sldId id="594" r:id="rId29"/>
    <p:sldId id="595" r:id="rId30"/>
    <p:sldId id="596" r:id="rId31"/>
    <p:sldId id="597" r:id="rId32"/>
    <p:sldId id="598" r:id="rId33"/>
    <p:sldId id="599" r:id="rId34"/>
    <p:sldId id="600" r:id="rId35"/>
    <p:sldId id="601" r:id="rId36"/>
    <p:sldId id="602" r:id="rId37"/>
    <p:sldId id="603" r:id="rId38"/>
    <p:sldId id="604"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D4D986EC-B8DC-590B-84A8-B659C0B3F42E}">
          <p14:sldIdLst>
            <p14:sldId id="568"/>
            <p14:sldId id="605"/>
          </p14:sldIdLst>
        </p14:section>
        <p14:section name="1. Une structure qui grandit" id="{38AB28A7-9C63-58BF-B96F-587C5974705D}">
          <p14:sldIdLst>
            <p14:sldId id="569"/>
            <p14:sldId id="570"/>
            <p14:sldId id="571"/>
            <p14:sldId id="572"/>
            <p14:sldId id="573"/>
          </p14:sldIdLst>
        </p14:section>
        <p14:section name="2. Les listes" id="{690DE017-966A-5BEB-A4BA-FDAA92A2ABC7}">
          <p14:sldIdLst>
            <p14:sldId id="574"/>
            <p14:sldId id="575"/>
            <p14:sldId id="576"/>
            <p14:sldId id="577"/>
            <p14:sldId id="578"/>
            <p14:sldId id="579"/>
            <p14:sldId id="580"/>
          </p14:sldIdLst>
        </p14:section>
        <p14:section name="3. Les ensembles" id="{2FBBDB92-D970-5BCC-844B-7DA4B53061A1}">
          <p14:sldIdLst>
            <p14:sldId id="581"/>
            <p14:sldId id="582"/>
            <p14:sldId id="583"/>
            <p14:sldId id="584"/>
            <p14:sldId id="585"/>
          </p14:sldIdLst>
        </p14:section>
        <p14:section name="4. Les tables associatives" id="{881EEF56-EB0E-5449-8FE9-5C499869E00D}">
          <p14:sldIdLst>
            <p14:sldId id="586"/>
            <p14:sldId id="587"/>
            <p14:sldId id="588"/>
            <p14:sldId id="589"/>
            <p14:sldId id="590"/>
          </p14:sldIdLst>
        </p14:section>
        <p14:section name="5. Passer un comportement" id="{944DEE0D-9327-5A3D-A712-B8F70EA5FD18}">
          <p14:sldIdLst>
            <p14:sldId id="591"/>
            <p14:sldId id="592"/>
            <p14:sldId id="593"/>
            <p14:sldId id="594"/>
            <p14:sldId id="595"/>
          </p14:sldIdLst>
        </p14:section>
        <p14:section name="6. Collections emboîtées" id="{2477776D-2F26-5E12-9AC6-12B9CF17AA20}">
          <p14:sldIdLst>
            <p14:sldId id="596"/>
            <p14:sldId id="597"/>
            <p14:sldId id="598"/>
            <p14:sldId id="599"/>
          </p14:sldIdLst>
        </p14:section>
        <p14:section name="7. Les files à deux bouts" id="{6EBA4C4A-44E2-570B-80CB-ECAE1D8101E8}">
          <p14:sldIdLst>
            <p14:sldId id="600"/>
            <p14:sldId id="601"/>
            <p14:sldId id="602"/>
            <p14:sldId id="603"/>
            <p14:sldId id="60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17"/>
    <p:restoredTop sz="96301"/>
  </p:normalViewPr>
  <p:slideViewPr>
    <p:cSldViewPr snapToGrid="0">
      <p:cViewPr varScale="1">
        <p:scale>
          <a:sx n="122" d="100"/>
          <a:sy n="122" d="100"/>
        </p:scale>
        <p:origin x="1384" y="200"/>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handoutMaster" Target="handoutMasters/handout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15/10/2026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15/10/2026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tableau a une taille fixe, choisie à sa création. Le module TAB l'avait annoncé : quand cette limite devient gênante, il faut une collection. Une collection grandit toute seule, et chacune tient une promesse différente.</a:t>
            </a:r>
          </a:p>
          <a:p>
            <a:r>
              <a:t>Ce module répond à deux questions. Comment ranger des objets dans une structure qui grandit, et laquelle choisir. La seconde compte plus que la première : la syntaxe s'apprend en une heure, le bon choix évite des dizaines de lignes de vérifications.</a:t>
            </a:r>
          </a:p>
          <a:p>
            <a:r>
              <a:t>Le thème est le plus fourni du recueil, avec sept exercices. Le fil rouge en dépend aussi : le jeu de bataille de GameHub range ses cartes dans des collections.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sept sections : 1. Une structure qui grandit ; 2. Les listes ; 3. Les ensembles ; 4. Les tables associatives ; 5. Passer un comportement ; 6. Collections emboîtées ; 7. Les files à deux bouts.</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part d'une liste d'invités où le même nom figure deux fois. Une première correction est proposée, puis une seconde, beaucoup plus courte, qui ne tient qu'en un mot changé. Le même remède sert ensuite à un deuxième problème.</a:t>
            </a:r>
          </a:p>
          <a:p>
            <a:r>
              <a:t>Retenez la méthode plutôt que la syntaxe : on ne choisit pas une collection par habitude, on la choisit sur la promesse qu'elle tient. Et quand la structure porte une règle, personne n'a plus besoin d'y penser.</a:t>
            </a:r>
          </a:p>
          <a:p>
            <a:r>
              <a:t>Le reste de ce module donne la syntaxe de ce qui vient d'être montré, et ce que la démonstration n'a pas eu le temps de montrer.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List&lt;String&gt;</a:t>
            </a:r>
            <a:r>
              <a:t> se lit « une liste de </a:t>
            </a:r>
            <a:r>
              <a:rPr>
                <a:latin typeface="Consolas"/>
              </a:rPr>
              <a:t>String</a:t>
            </a:r>
            <a:r>
              <a:t> ». Le type entre chevrons est un paramètre : la même interface </a:t>
            </a:r>
            <a:r>
              <a:rPr>
                <a:latin typeface="Consolas"/>
              </a:rPr>
              <a:t>List</a:t>
            </a:r>
            <a:r>
              <a:t> sert pour des chaînes, des nombres ou des livres, et le compilateur vérifie à chaque ajout que l'élément est du bon type. L'erreur apparaît donc à la compilation, pas à l'exécution.</a:t>
            </a:r>
          </a:p>
          <a:p>
            <a:r>
              <a:t>À droite du </a:t>
            </a:r>
            <a:r>
              <a:rPr>
                <a:latin typeface="Consolas"/>
              </a:rPr>
              <a:t>new</a:t>
            </a:r>
            <a:r>
              <a:t>, les chevrons vides, appelés diamant, évitent de répéter le type : le compilateur le déduit de la déclaration.</a:t>
            </a:r>
          </a:p>
          <a:p>
            <a:r>
              <a:t>Vous apprenez ici à </a:t>
            </a:r>
            <a:r>
              <a:rPr b="1"/>
              <a:t>lire</a:t>
            </a:r>
            <a:r>
              <a:t> cette notation. L'écriture d'une classe qui reçoit un type en paramètre, comme </a:t>
            </a:r>
            <a:r>
              <a:rPr>
                <a:latin typeface="Consolas"/>
              </a:rPr>
              <a:t>List</a:t>
            </a:r>
            <a:r>
              <a:t> le fait, sera détaillée au module GEN.</a:t>
            </a:r>
          </a:p>
          <a:p>
            <a:r>
              <a:rPr lang="fr-BE" dirty="0"/>
              <a:t>Le code complet, à exécuter : demos, classe demo.col.slides.LesOperationsDUneListe.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POO a présenté les classes enveloppes, </a:t>
            </a:r>
            <a:r>
              <a:rPr>
                <a:latin typeface="Consolas"/>
              </a:rPr>
              <a:t>Integer</a:t>
            </a:r>
            <a:r>
              <a:t> pour </a:t>
            </a:r>
            <a:r>
              <a:rPr>
                <a:latin typeface="Consolas"/>
              </a:rPr>
              <a:t>int</a:t>
            </a:r>
            <a:r>
              <a:t>, </a:t>
            </a:r>
            <a:r>
              <a:rPr>
                <a:latin typeface="Consolas"/>
              </a:rPr>
              <a:t>Double</a:t>
            </a:r>
            <a:r>
              <a:t> pour </a:t>
            </a:r>
            <a:r>
              <a:rPr>
                <a:latin typeface="Consolas"/>
              </a:rPr>
              <a:t>double</a:t>
            </a:r>
            <a:r>
              <a:t>, </a:t>
            </a:r>
            <a:r>
              <a:rPr>
                <a:latin typeface="Consolas"/>
              </a:rPr>
              <a:t>Character</a:t>
            </a:r>
            <a:r>
              <a:t> pour </a:t>
            </a:r>
            <a:r>
              <a:rPr>
                <a:latin typeface="Consolas"/>
              </a:rPr>
              <a:t>char</a:t>
            </a:r>
            <a:r>
              <a:t>, et la conversion automatique entre les deux, appelée autoboxing. Elles prennent ici leur raison d'être : une collection ne range que des objets, et </a:t>
            </a:r>
            <a:r>
              <a:rPr>
                <a:latin typeface="Consolas"/>
              </a:rPr>
              <a:t>List&lt;int&gt;</a:t>
            </a:r>
            <a:r>
              <a:t> ne compile pas.</a:t>
            </a:r>
          </a:p>
          <a:p>
            <a:r>
              <a:t>En pratique, vous écrivez </a:t>
            </a:r>
            <a:r>
              <a:rPr>
                <a:latin typeface="Consolas"/>
              </a:rPr>
              <a:t>Integer</a:t>
            </a:r>
            <a:r>
              <a:t> entre les chevrons et vous oubliez la différence. Deux exceptions à cette tranquillité. Comparer deux </a:t>
            </a:r>
            <a:r>
              <a:rPr>
                <a:latin typeface="Consolas"/>
              </a:rPr>
              <a:t>Integer</a:t>
            </a:r>
            <a:r>
              <a:t> avec </a:t>
            </a:r>
            <a:r>
              <a:rPr>
                <a:latin typeface="Consolas"/>
              </a:rPr>
              <a:t>==</a:t>
            </a:r>
            <a:r>
              <a:t> compare deux objets, pas deux nombres : écrivez </a:t>
            </a:r>
            <a:r>
              <a:rPr>
                <a:latin typeface="Consolas"/>
              </a:rPr>
              <a:t>equals</a:t>
            </a:r>
            <a:r>
              <a:t>, ou convertissez d'abord en </a:t>
            </a:r>
            <a:r>
              <a:rPr>
                <a:latin typeface="Consolas"/>
              </a:rPr>
              <a:t>int</a:t>
            </a:r>
            <a:r>
              <a:t>. Et un </a:t>
            </a:r>
            <a:r>
              <a:rPr>
                <a:latin typeface="Consolas"/>
              </a:rPr>
              <a:t>Integer</a:t>
            </a:r>
            <a:r>
              <a:t> peut valoir </a:t>
            </a:r>
            <a:r>
              <a:rPr>
                <a:latin typeface="Consolas"/>
              </a:rPr>
              <a:t>null</a:t>
            </a:r>
            <a:r>
              <a:t>, ce qu'un </a:t>
            </a:r>
            <a:r>
              <a:rPr>
                <a:latin typeface="Consolas"/>
              </a:rPr>
              <a:t>int</a:t>
            </a:r>
            <a:r>
              <a:t> ne peut pas : la conversion échoue alors à l'exécution. La slide 4.3 montre où ce cas se présente.</a:t>
            </a:r>
          </a:p>
          <a:p>
            <a:r>
              <a:rPr lang="fr-BE" dirty="0"/>
              <a:t>Le code complet, à exécuter : demos, classe demo.col.slides.LesOperationsDUneListe.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List</a:t>
            </a:r>
            <a:r>
              <a:t>, </a:t>
            </a:r>
            <a:r>
              <a:rPr>
                <a:latin typeface="Consolas"/>
              </a:rPr>
              <a:t>Set</a:t>
            </a:r>
            <a:r>
              <a:t> et </a:t>
            </a:r>
            <a:r>
              <a:rPr>
                <a:latin typeface="Consolas"/>
              </a:rPr>
              <a:t>Map</a:t>
            </a:r>
            <a:r>
              <a:t> sont des interfaces. </a:t>
            </a:r>
            <a:r>
              <a:rPr>
                <a:latin typeface="Consolas"/>
              </a:rPr>
              <a:t>ArrayList</a:t>
            </a:r>
            <a:r>
              <a:t>, </a:t>
            </a:r>
            <a:r>
              <a:rPr>
                <a:latin typeface="Consolas"/>
              </a:rPr>
              <a:t>HashSet</a:t>
            </a:r>
            <a:r>
              <a:t> et </a:t>
            </a:r>
            <a:r>
              <a:rPr>
                <a:latin typeface="Consolas"/>
              </a:rPr>
              <a:t>HashMap</a:t>
            </a:r>
            <a:r>
              <a:t> sont des classes qui les implémentent. On déclare la variable avec l'interface, et on choisit la classe au moment du </a:t>
            </a:r>
            <a:r>
              <a:rPr>
                <a:latin typeface="Consolas"/>
              </a:rPr>
              <a:t>new</a:t>
            </a:r>
            <a:r>
              <a:t>.</a:t>
            </a:r>
          </a:p>
          <a:p>
            <a:r>
              <a:t>C'est le principe du module ITF, à la slide 4.4 : le type le plus faible qui suffit. Le reste du programme ne connaît que la promesse, et l'implémentation peut changer sans qu'il le sache. La démonstration l'a fait deux fois.</a:t>
            </a:r>
          </a:p>
          <a:p>
            <a:r>
              <a:t>Toutes ces interfaces et ces classes vivent dans le package </a:t>
            </a:r>
            <a:r>
              <a:rPr>
                <a:latin typeface="Consolas"/>
              </a:rPr>
              <a:t>java.util</a:t>
            </a:r>
            <a:r>
              <a:t>, qu'il faut importer.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liste est le remplaçant direct du tableau : des positions numérotées à partir de 0, comme </a:t>
            </a:r>
            <a:r>
              <a:rPr>
                <a:latin typeface="Consolas"/>
              </a:rPr>
              <a:t>t[0]</a:t>
            </a:r>
            <a:r>
              <a:t>, mais sans taille fixe. La méthode </a:t>
            </a:r>
            <a:r>
              <a:rPr>
                <a:latin typeface="Consolas"/>
              </a:rPr>
              <a:t>add</a:t>
            </a:r>
            <a:r>
              <a:t> ajoute à la fin, ou à la position demandée si on la donne.</a:t>
            </a:r>
          </a:p>
          <a:p>
            <a:r>
              <a:t>La méthode </a:t>
            </a:r>
            <a:r>
              <a:rPr>
                <a:latin typeface="Consolas"/>
              </a:rPr>
              <a:t>get</a:t>
            </a:r>
            <a:r>
              <a:t> lève une </a:t>
            </a:r>
            <a:r>
              <a:rPr>
                <a:latin typeface="Consolas"/>
              </a:rPr>
              <a:t>IndexOutOfBoundsException</a:t>
            </a:r>
            <a:r>
              <a:t> pour une position qui n'existe pas, comme un tableau. La méthode </a:t>
            </a:r>
            <a:r>
              <a:rPr>
                <a:latin typeface="Consolas"/>
              </a:rPr>
              <a:t>set(i, valeur)</a:t>
            </a:r>
            <a:r>
              <a:t> remplace l'élément d'une position, et </a:t>
            </a:r>
            <a:r>
              <a:rPr>
                <a:latin typeface="Consolas"/>
              </a:rPr>
              <a:t>indexOf</a:t>
            </a:r>
            <a:r>
              <a:t> retourne la position d'un élément, ou -1 s'il est absent.</a:t>
            </a:r>
          </a:p>
          <a:p>
            <a:r>
              <a:t>Un piège, réservé aux listes d'</a:t>
            </a:r>
            <a:r>
              <a:rPr>
                <a:latin typeface="Consolas"/>
              </a:rPr>
              <a:t>Integer</a:t>
            </a:r>
            <a:r>
              <a:t>. La méthode </a:t>
            </a:r>
            <a:r>
              <a:rPr>
                <a:latin typeface="Consolas"/>
              </a:rPr>
              <a:t>remove</a:t>
            </a:r>
            <a:r>
              <a:t> existe en deux versions : </a:t>
            </a:r>
            <a:r>
              <a:rPr>
                <a:latin typeface="Consolas"/>
              </a:rPr>
              <a:t>remove(int)</a:t>
            </a:r>
            <a:r>
              <a:t> retire la position, </a:t>
            </a:r>
            <a:r>
              <a:rPr>
                <a:latin typeface="Consolas"/>
              </a:rPr>
              <a:t>remove(Object)</a:t>
            </a:r>
            <a:r>
              <a:t> retire l'élément. Sur une </a:t>
            </a:r>
            <a:r>
              <a:rPr>
                <a:latin typeface="Consolas"/>
              </a:rPr>
              <a:t>List&lt;Integer&gt;</a:t>
            </a:r>
            <a:r>
              <a:t>, </a:t>
            </a:r>
            <a:r>
              <a:rPr>
                <a:latin typeface="Consolas"/>
              </a:rPr>
              <a:t>remove(2)</a:t>
            </a:r>
            <a:r>
              <a:t> retire donc l'élément en position 2, pas le nombre 2.</a:t>
            </a:r>
          </a:p>
          <a:p>
            <a:r>
              <a:rPr lang="fr-BE" dirty="0"/>
              <a:t>Le code complet, à exécuter : demos, classe demo.col.slides.LesOperationsDUneListe.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boucle </a:t>
            </a:r>
            <a:r>
              <a:rPr>
                <a:latin typeface="Consolas"/>
              </a:rPr>
              <a:t>for</a:t>
            </a:r>
            <a:r>
              <a:t> améliorée, vue au module TAB pour les tableaux, accepte n'importe quelle collection : une liste, un ensemble, et les vues d'une table présentées à la section 4. Elle parcourt les éléments dans l'ordre que la collection garantit, s'il y en a un.</a:t>
            </a:r>
          </a:p>
          <a:p>
            <a:r>
              <a:t>Contrairement à un tableau, dont l'affichage produisait un code illisible au module TAB, une collection s'affiche entre crochets, éléments séparés par des virgules. C'est commode pour vérifier ce que contient une structure en cours de mise au point.</a:t>
            </a:r>
          </a:p>
          <a:p>
            <a:r>
              <a:rPr lang="fr-BE" dirty="0"/>
              <a:t>Le code complet, à exécuter : demos, classe demo.col.slides.LesOperationsDUneListe.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deux classes tiennent exactement la même promesse : celle de </a:t>
            </a:r>
            <a:r>
              <a:rPr>
                <a:latin typeface="Consolas"/>
              </a:rPr>
              <a:t>List</a:t>
            </a:r>
            <a:r>
              <a:t>. Un programme qui déclare ses variables avec l'interface fonctionne avec l'une comme avec l'autre, et le test de COL.5 le vérifie justement sur une </a:t>
            </a:r>
            <a:r>
              <a:rPr>
                <a:latin typeface="Consolas"/>
              </a:rPr>
              <a:t>LinkedList</a:t>
            </a:r>
            <a:r>
              <a:t>.</a:t>
            </a:r>
          </a:p>
          <a:p>
            <a:r>
              <a:t>Elles diffèrent par leur fonctionnement interne, donc par leur rapidité selon l'usage. </a:t>
            </a:r>
            <a:r>
              <a:rPr>
                <a:latin typeface="Consolas"/>
              </a:rPr>
              <a:t>ArrayList</a:t>
            </a:r>
            <a:r>
              <a:t> range ses éléments dans un tableau qu'elle agrandit elle-même, ce qui rend </a:t>
            </a:r>
            <a:r>
              <a:rPr>
                <a:latin typeface="Consolas"/>
              </a:rPr>
              <a:t>get(i)</a:t>
            </a:r>
            <a:r>
              <a:t> immédiat. </a:t>
            </a:r>
            <a:r>
              <a:rPr>
                <a:latin typeface="Consolas"/>
              </a:rPr>
              <a:t>LinkedList</a:t>
            </a:r>
            <a:r>
              <a:t> chaîne ses éléments les uns aux autres, ce qui rend les ajouts et retraits aux deux bouts immédiats, mais </a:t>
            </a:r>
            <a:r>
              <a:rPr>
                <a:latin typeface="Consolas"/>
              </a:rPr>
              <a:t>get(i)</a:t>
            </a:r>
            <a:r>
              <a:t> lent. Prenez </a:t>
            </a:r>
            <a:r>
              <a:rPr>
                <a:latin typeface="Consolas"/>
              </a:rPr>
              <a:t>ArrayList</a:t>
            </a:r>
            <a:r>
              <a:t> sauf raison précise.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deux noms ne diffèrent que d'une lettre, et la confusion est classique. </a:t>
            </a:r>
            <a:r>
              <a:rPr>
                <a:latin typeface="Consolas"/>
              </a:rPr>
              <a:t>Collection</a:t>
            </a:r>
            <a:r>
              <a:t> est l'interface mère de </a:t>
            </a:r>
            <a:r>
              <a:rPr>
                <a:latin typeface="Consolas"/>
              </a:rPr>
              <a:t>List</a:t>
            </a:r>
            <a:r>
              <a:t> et de </a:t>
            </a:r>
            <a:r>
              <a:rPr>
                <a:latin typeface="Consolas"/>
              </a:rPr>
              <a:t>Set</a:t>
            </a:r>
            <a:r>
              <a:t> : elle déclare </a:t>
            </a:r>
            <a:r>
              <a:rPr>
                <a:latin typeface="Consolas"/>
              </a:rPr>
              <a:t>add</a:t>
            </a:r>
            <a:r>
              <a:t>, </a:t>
            </a:r>
            <a:r>
              <a:rPr>
                <a:latin typeface="Consolas"/>
              </a:rPr>
              <a:t>remove</a:t>
            </a:r>
            <a:r>
              <a:t>, </a:t>
            </a:r>
            <a:r>
              <a:rPr>
                <a:latin typeface="Consolas"/>
              </a:rPr>
              <a:t>size</a:t>
            </a:r>
            <a:r>
              <a:t>, </a:t>
            </a:r>
            <a:r>
              <a:rPr>
                <a:latin typeface="Consolas"/>
              </a:rPr>
              <a:t>contains</a:t>
            </a:r>
            <a:r>
              <a:t>. </a:t>
            </a:r>
            <a:r>
              <a:rPr>
                <a:latin typeface="Consolas"/>
              </a:rPr>
              <a:t>Collections</a:t>
            </a:r>
            <a:r>
              <a:t>, au pluriel, est une classe utilitaire, comme </a:t>
            </a:r>
            <a:r>
              <a:rPr>
                <a:latin typeface="Consolas"/>
              </a:rPr>
              <a:t>Math</a:t>
            </a:r>
            <a:r>
              <a:t> : uniquement des méthodes statiques.</a:t>
            </a:r>
          </a:p>
          <a:p>
            <a:r>
              <a:t>Les méthodes </a:t>
            </a:r>
            <a:r>
              <a:rPr>
                <a:latin typeface="Consolas"/>
              </a:rPr>
              <a:t>sort</a:t>
            </a:r>
            <a:r>
              <a:t> et </a:t>
            </a:r>
            <a:r>
              <a:rPr>
                <a:latin typeface="Consolas"/>
              </a:rPr>
              <a:t>shuffle</a:t>
            </a:r>
            <a:r>
              <a:t> reçoivent une </a:t>
            </a:r>
            <a:r>
              <a:rPr>
                <a:latin typeface="Consolas"/>
              </a:rPr>
              <a:t>List</a:t>
            </a:r>
            <a:r>
              <a:t>, parce qu'un ensemble n'a pas de positions à réordonner. Elles modifient la liste reçue et ne retournent rien. Le fil rouge emploie </a:t>
            </a:r>
            <a:r>
              <a:rPr>
                <a:latin typeface="Consolas"/>
              </a:rPr>
              <a:t>shuffle</a:t>
            </a:r>
            <a:r>
              <a:t> pour battre les cartes dès G.21.</a:t>
            </a:r>
          </a:p>
          <a:p>
            <a:r>
              <a:t>Les méthodes </a:t>
            </a:r>
            <a:r>
              <a:rPr>
                <a:latin typeface="Consolas"/>
              </a:rPr>
              <a:t>min</a:t>
            </a:r>
            <a:r>
              <a:t> et </a:t>
            </a:r>
            <a:r>
              <a:rPr>
                <a:latin typeface="Consolas"/>
              </a:rPr>
              <a:t>max</a:t>
            </a:r>
            <a:r>
              <a:t> retournent le plus petit et le plus grand élément, </a:t>
            </a:r>
            <a:r>
              <a:rPr>
                <a:latin typeface="Consolas"/>
              </a:rPr>
              <a:t>frequency</a:t>
            </a:r>
            <a:r>
              <a:t> compte les apparitions d'une valeur. La Javadoc de </a:t>
            </a:r>
            <a:r>
              <a:rPr>
                <a:latin typeface="Consolas"/>
              </a:rPr>
              <a:t>Collections</a:t>
            </a:r>
            <a:r>
              <a:t> en contient une vingtaine d'autres.</a:t>
            </a:r>
          </a:p>
          <a:p>
            <a:r>
              <a:rPr lang="fr-BE" dirty="0"/>
              <a:t>Le code complet, à exécuter : demos, classe demo.col.slides.CollectionEtCollections.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première version de ce programme écrivait </a:t>
            </a:r>
            <a:r>
              <a:rPr>
                <a:latin typeface="Consolas"/>
              </a:rPr>
              <a:t>hasard.nextInt(1001)</a:t>
            </a:r>
            <a:r>
              <a:t>. Le lecteur devait deviner d'où sortait 1001, et pourquoi pas 1000. La réponse tient au module ENU : </a:t>
            </a:r>
            <a:r>
              <a:rPr>
                <a:latin typeface="Consolas"/>
              </a:rPr>
              <a:t>nextInt(n)</a:t>
            </a:r>
            <a:r>
              <a:t> retourne un entier de 0 inclus à </a:t>
            </a:r>
            <a:r>
              <a:rPr>
                <a:latin typeface="Consolas"/>
              </a:rPr>
              <a:t>n</a:t>
            </a:r>
            <a:r>
              <a:t> exclu, et il faut donc compter les valeurs de l'intervalle.</a:t>
            </a:r>
          </a:p>
          <a:p>
            <a:r>
              <a:t>Avec deux constantes, le calcul se lit au lieu de se deviner. Le gain le plus utile est ailleurs : les mêmes constantes servent au message. Le jour où l'intervalle change, le programme ne peut plus annoncer 0 à 1000 en tirant jusqu'à 500.</a:t>
            </a:r>
          </a:p>
          <a:p>
            <a:r>
              <a:t>Les squelettes de COL.1 et COL.6 vous donnent ces constantes : servez-vous en partout. C'est la règle CC-NOM.7 du mémento Clean Code.</a:t>
            </a:r>
          </a:p>
          <a:p>
            <a:r>
              <a:rPr lang="fr-BE" dirty="0"/>
              <a:t>Le code complet, à exécuter : demos, classe demo.col.slides.NommerSesBornes.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COL.1</a:t>
            </a:r>
            <a:r>
              <a:t> oppose deux manières d'obtenir des nombres triés : trier une liste, ou les ranger dans une structure qui reste triée. La seconde a été montrée pendant la démonstration. Lisez bien la consigne de la première méthode : la liste reçue ne doit pas être modifiée, et la méthode de tri vue à la slide 2.5 modifie celle qu'elle reçoit.</a:t>
            </a:r>
          </a:p>
          <a:p>
            <a:r>
              <a:rPr>
                <a:latin typeface="Consolas"/>
              </a:rPr>
              <a:t>COL.3</a:t>
            </a:r>
            <a:r>
              <a:t> remplit une liste à partir d'un </a:t>
            </a:r>
            <a:r>
              <a:rPr>
                <a:latin typeface="Consolas"/>
              </a:rPr>
              <a:t>Scanner</a:t>
            </a:r>
            <a:r>
              <a:t>. La classe fournie </a:t>
            </a:r>
            <a:r>
              <a:rPr>
                <a:latin typeface="Consolas"/>
              </a:rPr>
              <a:t>SourceDeTexte</a:t>
            </a:r>
            <a:r>
              <a:t> vous le donne déjà ouvert : l'exercice porte sur les collections, pas sur les fichiers. Remarquez que le test passe à votre méthode un </a:t>
            </a:r>
            <a:r>
              <a:rPr>
                <a:latin typeface="Consolas"/>
              </a:rPr>
              <a:t>Scanner</a:t>
            </a:r>
            <a:r>
              <a:t> construit sur une simple chaîne.</a:t>
            </a:r>
          </a:p>
          <a:p>
            <a:r>
              <a:t>Les deux exercices finissent sur une question d'ordre. Elles valent la peine d'être posées à voix haute.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ensemble ne contient jamais deux fois la même valeur. Ajouter une valeur présente ne lève aucune erreur : rien ne se passe, et </a:t>
            </a:r>
            <a:r>
              <a:rPr>
                <a:latin typeface="Consolas"/>
              </a:rPr>
              <a:t>add</a:t>
            </a:r>
            <a:r>
              <a:t> retourne </a:t>
            </a:r>
            <a:r>
              <a:rPr>
                <a:latin typeface="Consolas"/>
              </a:rPr>
              <a:t>false</a:t>
            </a:r>
            <a:r>
              <a:t> pour le signaler. C'est ce que la démonstration a exploité.</a:t>
            </a:r>
          </a:p>
          <a:p>
            <a:r>
              <a:t>Un ensemble n'a pas de positions. On l'interroge avec </a:t>
            </a:r>
            <a:r>
              <a:rPr>
                <a:latin typeface="Consolas"/>
              </a:rPr>
              <a:t>contains</a:t>
            </a:r>
            <a:r>
              <a:t>, on le parcourt avec la boucle </a:t>
            </a:r>
            <a:r>
              <a:rPr>
                <a:latin typeface="Consolas"/>
              </a:rPr>
              <a:t>for</a:t>
            </a:r>
            <a:r>
              <a:t>, mais on ne demande jamais « le troisième élément ». Ce n'est pas une limite : c'est ce qui lui permet d'autres services, que COL.6 vous fera découvrir.</a:t>
            </a:r>
          </a:p>
          <a:p>
            <a:r>
              <a:rPr lang="fr-BE" dirty="0"/>
              <a:t>Le code complet, à exécuter : demos, classe demo.col.slides.CeQuUnEnsembleRefuse.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ENU l'avait annoncé en présentant les records : la question de l'égalité reviendrait. La voici. Pour savoir si une valeur est déjà présente, un </a:t>
            </a:r>
            <a:r>
              <a:rPr>
                <a:latin typeface="Consolas"/>
              </a:rPr>
              <a:t>HashSet</a:t>
            </a:r>
            <a:r>
              <a:t> appelle </a:t>
            </a:r>
            <a:r>
              <a:rPr>
                <a:latin typeface="Consolas"/>
              </a:rPr>
              <a:t>hashCode</a:t>
            </a:r>
            <a:r>
              <a:t> puis </a:t>
            </a:r>
            <a:r>
              <a:rPr>
                <a:latin typeface="Consolas"/>
              </a:rPr>
              <a:t>equals</a:t>
            </a:r>
            <a:r>
              <a:t> sur ses éléments.</a:t>
            </a:r>
          </a:p>
          <a:p>
            <a:r>
              <a:rPr>
                <a:latin typeface="Consolas"/>
              </a:rPr>
              <a:t>String</a:t>
            </a:r>
            <a:r>
              <a:t> et </a:t>
            </a:r>
            <a:r>
              <a:rPr>
                <a:latin typeface="Consolas"/>
              </a:rPr>
              <a:t>Integer</a:t>
            </a:r>
            <a:r>
              <a:t> les définissent comme on s'y attend : deux chaînes de mêmes lettres sont égales. Un record les définit aussi, en comparant ses composants. Les deux exemplaires ci-dessus ne comptent donc qu'une fois.</a:t>
            </a:r>
          </a:p>
          <a:p>
            <a:r>
              <a:t>Avec une classe ordinaire qui ne redéfinit rien, </a:t>
            </a:r>
            <a:r>
              <a:rPr>
                <a:latin typeface="Consolas"/>
              </a:rPr>
              <a:t>equals</a:t>
            </a:r>
            <a:r>
              <a:t> compare les références : deux objets construits séparément sont différents, même avec les mêmes valeurs, et l'ensemble en garde deux. Écrire </a:t>
            </a:r>
            <a:r>
              <a:rPr>
                <a:latin typeface="Consolas"/>
              </a:rPr>
              <a:t>equals</a:t>
            </a:r>
            <a:r>
              <a:t> et </a:t>
            </a:r>
            <a:r>
              <a:rPr>
                <a:latin typeface="Consolas"/>
              </a:rPr>
              <a:t>hashCode</a:t>
            </a:r>
            <a:r>
              <a:t> à la main est possible, toujours ensemble, et IntelliJ les génère. Ce cours ne vous le demandera pas : un record suffit dans tous les exercices.</a:t>
            </a:r>
          </a:p>
          <a:p>
            <a:r>
              <a:t>La même règle vaut pour les clés d'une table, à la section 4.</a:t>
            </a:r>
          </a:p>
          <a:p>
            <a:r>
              <a:rPr lang="fr-BE" dirty="0"/>
              <a:t>Le code complet, à exécuter : demos, classe demo.col.slides.CeQuUnEnsembleRefuse.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ensembles et les tables existent chacun en deux implémentations principales, et la différence est la même des deux côtés.</a:t>
            </a:r>
          </a:p>
          <a:p>
            <a:r>
              <a:t>Les classes </a:t>
            </a:r>
            <a:r>
              <a:rPr>
                <a:latin typeface="Consolas"/>
              </a:rPr>
              <a:t>Hash</a:t>
            </a:r>
            <a:r>
              <a:t> rangent les éléments selon leur code de hachage, ce qui les rend très rapides mais ne garantit aucun ordre de parcours. Les classes </a:t>
            </a:r>
            <a:r>
              <a:rPr>
                <a:latin typeface="Consolas"/>
              </a:rPr>
              <a:t>Tree</a:t>
            </a:r>
            <a:r>
              <a:t> les rangent dans un arbre trié : le parcours se fait toujours dans l'ordre, au prix d'un peu de vitesse.</a:t>
            </a:r>
          </a:p>
          <a:p>
            <a:r>
              <a:t>Savoir se comparer est le cas des chaînes, des nombres, des dates et des énumérations, dont l'ordre est celui de déclaration, comme le montrait ENU.1. Pour vos propres classes, il faudrait leur apprendre à se comparer, ce que ce cours ne demande pas : un </a:t>
            </a:r>
            <a:r>
              <a:rPr>
                <a:latin typeface="Consolas"/>
              </a:rPr>
              <a:t>TreeSet</a:t>
            </a:r>
            <a:r>
              <a:t> de records sans ordre lève une exception au premier ajout.</a:t>
            </a:r>
          </a:p>
          <a:p>
            <a:r>
              <a:t>Une troisième implémentation existe, </a:t>
            </a:r>
            <a:r>
              <a:rPr>
                <a:latin typeface="Consolas"/>
              </a:rPr>
              <a:t>LinkedHashSet</a:t>
            </a:r>
            <a:r>
              <a:t> et </a:t>
            </a:r>
            <a:r>
              <a:rPr>
                <a:latin typeface="Consolas"/>
              </a:rPr>
              <a:t>LinkedHashMap</a:t>
            </a:r>
            <a:r>
              <a:t>, qui garde l'ordre d'ajout. Vous ne la croiserez pas dans les exercices.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COL.6</a:t>
            </a:r>
            <a:r>
              <a:t> fait constater les deux services d'un ensemble : il ne garde qu'un exemplaire de chaque valeur, et il répond très vite à </a:t>
            </a:r>
            <a:r>
              <a:rPr>
                <a:latin typeface="Consolas"/>
              </a:rPr>
              <a:t>contains</a:t>
            </a:r>
            <a:r>
              <a:t>. La première question demande pourquoi une liste ne le peut pas : cherchez avant de lire la Javadoc.</a:t>
            </a:r>
          </a:p>
          <a:p>
            <a:r>
              <a:t>Le squelette du </a:t>
            </a:r>
            <a:r>
              <a:rPr>
                <a:latin typeface="Consolas"/>
              </a:rPr>
              <a:t>Programme</a:t>
            </a:r>
            <a:r>
              <a:t> vous donne cette fois trois constantes : le nombre de tirages et les deux bornes. Même règle qu'à la slide 2.6, et le même calcul. Le résultat de la deuxième question surprend presque toujours.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table associative, </a:t>
            </a:r>
            <a:r>
              <a:rPr>
                <a:latin typeface="Consolas"/>
              </a:rPr>
              <a:t>Map</a:t>
            </a:r>
            <a:r>
              <a:t> en Java, range des couples clé et valeur. On y range avec </a:t>
            </a:r>
            <a:r>
              <a:rPr>
                <a:latin typeface="Consolas"/>
              </a:rPr>
              <a:t>put</a:t>
            </a:r>
            <a:r>
              <a:t>, on retrouve avec </a:t>
            </a:r>
            <a:r>
              <a:rPr>
                <a:latin typeface="Consolas"/>
              </a:rPr>
              <a:t>get</a:t>
            </a:r>
            <a:r>
              <a:t> en donnant la clé, et on ne parcourt jamais pour chercher. Un dictionnaire, un annuaire, un stock par référence : tout ce qui se consulte par un identifiant est une table.</a:t>
            </a:r>
          </a:p>
          <a:p>
            <a:r>
              <a:t>Les clés sont uniques, comme les éléments d'un ensemble, et pour la même raison : elles sont comparées par </a:t>
            </a:r>
            <a:r>
              <a:rPr>
                <a:latin typeface="Consolas"/>
              </a:rPr>
              <a:t>equals</a:t>
            </a:r>
            <a:r>
              <a:t> et </a:t>
            </a:r>
            <a:r>
              <a:rPr>
                <a:latin typeface="Consolas"/>
              </a:rPr>
              <a:t>hashCode</a:t>
            </a:r>
            <a:r>
              <a:t>, ou rangées dans un arbre pour une </a:t>
            </a:r>
            <a:r>
              <a:rPr>
                <a:latin typeface="Consolas"/>
              </a:rPr>
              <a:t>TreeMap</a:t>
            </a:r>
            <a:r>
              <a:t>. Un second </a:t>
            </a:r>
            <a:r>
              <a:rPr>
                <a:latin typeface="Consolas"/>
              </a:rPr>
              <a:t>put</a:t>
            </a:r>
            <a:r>
              <a:t> avec la même clé remplace la valeur. Les valeurs, elles, peuvent se répéter.</a:t>
            </a:r>
          </a:p>
          <a:p>
            <a:r>
              <a:t>Remarquez qu'une table n'est pas une </a:t>
            </a:r>
            <a:r>
              <a:rPr>
                <a:latin typeface="Consolas"/>
              </a:rPr>
              <a:t>Collection</a:t>
            </a:r>
            <a:r>
              <a:t> : l'interface </a:t>
            </a:r>
            <a:r>
              <a:rPr>
                <a:latin typeface="Consolas"/>
              </a:rPr>
              <a:t>Map</a:t>
            </a:r>
            <a:r>
              <a:t> n'hérite pas de </a:t>
            </a:r>
            <a:r>
              <a:rPr>
                <a:latin typeface="Consolas"/>
              </a:rPr>
              <a:t>Collection</a:t>
            </a:r>
            <a:r>
              <a:t>, et n'a pas de méthode </a:t>
            </a:r>
            <a:r>
              <a:rPr>
                <a:latin typeface="Consolas"/>
              </a:rPr>
              <a:t>add</a:t>
            </a:r>
            <a:r>
              <a:t>.</a:t>
            </a:r>
          </a:p>
          <a:p>
            <a:r>
              <a:rPr lang="fr-BE" dirty="0"/>
              <a:t>Le code complet, à exécuter : demos, classe demo.col.slides.RangerEtRetrouverParCle.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clé inconnue n'est pas une erreur pour une table : </a:t>
            </a:r>
            <a:r>
              <a:rPr>
                <a:latin typeface="Consolas"/>
              </a:rPr>
              <a:t>get</a:t>
            </a:r>
            <a:r>
              <a:t> retourne simplement </a:t>
            </a:r>
            <a:r>
              <a:rPr>
                <a:latin typeface="Consolas"/>
              </a:rPr>
              <a:t>null</a:t>
            </a:r>
            <a:r>
              <a:t>. C'est au programme de le prévoir.</a:t>
            </a:r>
          </a:p>
          <a:p>
            <a:r>
              <a:t>La dernière ligne est le cas annoncé à la slide 1.4. La valeur </a:t>
            </a:r>
            <a:r>
              <a:rPr>
                <a:latin typeface="Consolas"/>
              </a:rPr>
              <a:t>null</a:t>
            </a:r>
            <a:r>
              <a:t> ne peut pas être convertie en </a:t>
            </a:r>
            <a:r>
              <a:rPr>
                <a:latin typeface="Consolas"/>
              </a:rPr>
              <a:t>int</a:t>
            </a:r>
            <a:r>
              <a:t>, et la conversion automatique échoue à l'exécution, par une </a:t>
            </a:r>
            <a:r>
              <a:rPr>
                <a:latin typeface="Consolas"/>
              </a:rPr>
              <a:t>NullPointerException</a:t>
            </a:r>
            <a:r>
              <a:t> qui ne désigne pas clairement la cause.</a:t>
            </a:r>
          </a:p>
          <a:p>
            <a:r>
              <a:t>La méthode </a:t>
            </a:r>
            <a:r>
              <a:rPr>
                <a:latin typeface="Consolas"/>
              </a:rPr>
              <a:t>getOrDefault</a:t>
            </a:r>
            <a:r>
              <a:t> évite le problème : elle retourne la valeur si la clé existe, et la valeur par défaut fournie sinon. Elle sert souvent quand une absence a un sens naturel, zéro pour un compte, une liste vide pour un ensemble de résultats.</a:t>
            </a:r>
          </a:p>
          <a:p>
            <a:r>
              <a:rPr lang="fr-BE" dirty="0"/>
              <a:t>Le code complet, à exécuter : demos, classe demo.col.slides.RangerEtRetrouverParCle.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table ne se parcourt pas directement, mais elle offre trois vues. La méthode </a:t>
            </a:r>
            <a:r>
              <a:rPr>
                <a:latin typeface="Consolas"/>
              </a:rPr>
              <a:t>keySet</a:t>
            </a:r>
            <a:r>
              <a:t> retourne l'ensemble des clés, </a:t>
            </a:r>
            <a:r>
              <a:rPr>
                <a:latin typeface="Consolas"/>
              </a:rPr>
              <a:t>values</a:t>
            </a:r>
            <a:r>
              <a:t> la collection des valeurs, et </a:t>
            </a:r>
            <a:r>
              <a:rPr>
                <a:latin typeface="Consolas"/>
              </a:rPr>
              <a:t>entrySet</a:t>
            </a:r>
            <a:r>
              <a:t> l'ensemble des couples.</a:t>
            </a:r>
          </a:p>
          <a:p>
            <a:r>
              <a:t>Chaque couple est un objet de type </a:t>
            </a:r>
            <a:r>
              <a:rPr>
                <a:latin typeface="Consolas"/>
              </a:rPr>
              <a:t>Map.Entry</a:t>
            </a:r>
            <a:r>
              <a:t>, avec ses deux accesseurs </a:t>
            </a:r>
            <a:r>
              <a:rPr>
                <a:latin typeface="Consolas"/>
              </a:rPr>
              <a:t>getKey</a:t>
            </a:r>
            <a:r>
              <a:t> et </a:t>
            </a:r>
            <a:r>
              <a:rPr>
                <a:latin typeface="Consolas"/>
              </a:rPr>
              <a:t>getValue</a:t>
            </a:r>
            <a:r>
              <a:t>. Quand on a besoin des deux à la fois, c'est la vue à préférer : parcourir les clés puis appeler </a:t>
            </a:r>
            <a:r>
              <a:rPr>
                <a:latin typeface="Consolas"/>
              </a:rPr>
              <a:t>get</a:t>
            </a:r>
            <a:r>
              <a:t> pour chacune refait une recherche à chaque tour.</a:t>
            </a:r>
          </a:p>
          <a:p>
            <a:r>
              <a:t>Ces vues suivent l'ordre de la table : aucun pour une </a:t>
            </a:r>
            <a:r>
              <a:rPr>
                <a:latin typeface="Consolas"/>
              </a:rPr>
              <a:t>HashMap</a:t>
            </a:r>
            <a:r>
              <a:t>, l'ordre des clés pour une </a:t>
            </a:r>
            <a:r>
              <a:rPr>
                <a:latin typeface="Consolas"/>
              </a:rPr>
              <a:t>TreeMap</a:t>
            </a:r>
            <a:r>
              <a:t>.</a:t>
            </a:r>
          </a:p>
          <a:p>
            <a:r>
              <a:rPr lang="fr-BE" dirty="0"/>
              <a:t>Le code complet, à exécuter : demos, classe demo.col.slides.RangerEtRetrouverParCle.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COL.2</a:t>
            </a:r>
            <a:r>
              <a:t> range des fiches par nom, puis pose la question qui fait l'exercice : peut-on obtenir les fiches dans l'ordre des noms ? Répondez d'abord sans changer de table, puis en en changeant. La seconde réponse ne demande qu'une ligne, et le test passe toujours.</a:t>
            </a:r>
          </a:p>
          <a:p>
            <a:r>
              <a:rPr>
                <a:latin typeface="Consolas"/>
              </a:rPr>
              <a:t>COL.4</a:t>
            </a:r>
            <a:r>
              <a:t> est l'usage le plus courant d'une table : accumuler un décompte. La méthode </a:t>
            </a:r>
            <a:r>
              <a:rPr>
                <a:latin typeface="Consolas"/>
              </a:rPr>
              <a:t>getOrDefault</a:t>
            </a:r>
            <a:r>
              <a:t> de la slide 4.3 y fait gagner trois lignes. La question de l'ordre y revient, et cette fois elle se règle dans </a:t>
            </a:r>
            <a:r>
              <a:rPr>
                <a:latin typeface="Consolas"/>
              </a:rPr>
              <a:t>rapport</a:t>
            </a:r>
            <a:r>
              <a:t>.</a:t>
            </a:r>
          </a:p>
          <a:p>
            <a:r>
              <a:t>Les deux exercices finissent sur une question de conception. Celle de </a:t>
            </a:r>
            <a:r>
              <a:rPr>
                <a:latin typeface="Consolas"/>
              </a:rPr>
              <a:t>COL.2</a:t>
            </a:r>
            <a:r>
              <a:t> sur </a:t>
            </a:r>
            <a:r>
              <a:rPr>
                <a:latin typeface="Consolas"/>
              </a:rPr>
              <a:t>chercher</a:t>
            </a:r>
            <a:r>
              <a:t>, qui retourne </a:t>
            </a:r>
            <a:r>
              <a:rPr>
                <a:latin typeface="Consolas"/>
              </a:rPr>
              <a:t>null</a:t>
            </a:r>
            <a:r>
              <a:t>, trouvera sa réponse en </a:t>
            </a:r>
            <a:r>
              <a:rPr>
                <a:latin typeface="Consolas"/>
              </a:rPr>
              <a:t>COL.7</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ITF l'avait annoncé : vous utiliseriez des méthodes par défaut sans le savoir, dès ce module. Vous venez de le faire avec </a:t>
            </a:r>
            <a:r>
              <a:rPr>
                <a:latin typeface="Consolas"/>
              </a:rPr>
              <a:t>getOrDefault</a:t>
            </a:r>
            <a:r>
              <a:t>.</a:t>
            </a:r>
          </a:p>
          <a:p>
            <a:r>
              <a:t>Le problème qu'elles ont résolu est celui de la slide 6.3 d'ITF, à l'échelle du monde. Ajouter une méthode abstraite à </a:t>
            </a:r>
            <a:r>
              <a:rPr>
                <a:latin typeface="Consolas"/>
              </a:rPr>
              <a:t>Map</a:t>
            </a:r>
            <a:r>
              <a:t> aurait cassé toutes les classes qui l'implémentent, y compris celles écrites hors du JDK. Une méthode par défaut porte son propre code : chaque table l'a reçue d'office.</a:t>
            </a:r>
          </a:p>
          <a:p>
            <a:r>
              <a:t>Deux de ces méthodes ont une particularité, qui fait le sujet de cette section : elles reçoivent un comportement en paramètre.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méthode </a:t>
            </a:r>
            <a:r>
              <a:rPr>
                <a:latin typeface="Consolas"/>
              </a:rPr>
              <a:t>removeIf</a:t>
            </a:r>
            <a:r>
              <a:t> parcourt la collection et appelle </a:t>
            </a:r>
            <a:r>
              <a:rPr>
                <a:latin typeface="Consolas"/>
              </a:rPr>
              <a:t>test</a:t>
            </a:r>
            <a:r>
              <a:t> sur chaque élément. Ceux pour lesquels </a:t>
            </a:r>
            <a:r>
              <a:rPr>
                <a:latin typeface="Consolas"/>
              </a:rPr>
              <a:t>test</a:t>
            </a:r>
            <a:r>
              <a:t> retourne </a:t>
            </a:r>
            <a:r>
              <a:rPr>
                <a:latin typeface="Consolas"/>
              </a:rPr>
              <a:t>true</a:t>
            </a:r>
            <a:r>
              <a:t> sont retirés. Elle ignore tout du critère : elle sait seulement qu'on lui a donné un objet capable de répondre oui ou non.</a:t>
            </a:r>
          </a:p>
          <a:p>
            <a:r>
              <a:rPr>
                <a:latin typeface="Consolas"/>
              </a:rPr>
              <a:t>Predicate</a:t>
            </a:r>
            <a:r>
              <a:t> est une interface fonctionnelle, au sens de la slide 6.5 d'ITF : une seule méthode abstraite. Elle appartient au package </a:t>
            </a:r>
            <a:r>
              <a:rPr>
                <a:latin typeface="Consolas"/>
              </a:rPr>
              <a:t>java.util.function</a:t>
            </a:r>
            <a:r>
              <a:t>, qui en contient d'autres, dont </a:t>
            </a:r>
            <a:r>
              <a:rPr>
                <a:latin typeface="Consolas"/>
              </a:rPr>
              <a:t>Function</a:t>
            </a:r>
            <a:r>
              <a:t>, à la section suivante.</a:t>
            </a:r>
          </a:p>
          <a:p>
            <a:r>
              <a:t>Le </a:t>
            </a:r>
            <a:r>
              <a:rPr>
                <a:latin typeface="Consolas"/>
              </a:rPr>
              <a:t>? super E</a:t>
            </a:r>
            <a:r>
              <a:t> se lit « un critère qui sait tester des </a:t>
            </a:r>
            <a:r>
              <a:rPr>
                <a:latin typeface="Consolas"/>
              </a:rPr>
              <a:t>E</a:t>
            </a:r>
            <a:r>
              <a:t> ». Il autorise par exemple un critère écrit pour des </a:t>
            </a:r>
            <a:r>
              <a:rPr>
                <a:latin typeface="Consolas"/>
              </a:rPr>
              <a:t>Object</a:t>
            </a:r>
            <a:r>
              <a:t> sur une liste de </a:t>
            </a:r>
            <a:r>
              <a:rPr>
                <a:latin typeface="Consolas"/>
              </a:rPr>
              <a:t>String</a:t>
            </a:r>
            <a:r>
              <a:t>. Son écriture sera détaillée au module GEN.</a:t>
            </a:r>
          </a:p>
          <a:p>
            <a:r>
              <a:rPr lang="fr-BE" dirty="0"/>
              <a:t>Le code complet, à exécuter : demos, classe demo.col.slides.UneMethodeQuiRecoitUnCritere.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connaissez déjà tout ce qui est écrit ici. Une classe qui implémente une interface, une méthode redéfinie, et un objet passé en paramètre à une méthode qui ne connaît que l'interface. C'est la slide 1.6 d'ITF, avec une interface que le JDK a écrite à votre place.</a:t>
            </a:r>
          </a:p>
          <a:p>
            <a:r>
              <a:t>La classe porte un nom qui dit ce qu'elle teste. On peut la réutiliser, et la tester séparément. Le critère, lui, est une constante nommée : la règle de la slide 2.6 vaut partout.</a:t>
            </a:r>
          </a:p>
          <a:p>
            <a:r>
              <a:rPr lang="fr-BE" dirty="0"/>
              <a:t>Le code complet, à exécuter : demos, classe demo.col.slides.UneMethodeQuiRecoitUnCritere.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COL.5</a:t>
            </a:r>
            <a:r>
              <a:t> applique exactement la slide précédente, sur des nombres pairs. La classe </a:t>
            </a:r>
            <a:r>
              <a:rPr>
                <a:latin typeface="Consolas"/>
              </a:rPr>
              <a:t>EstPair</a:t>
            </a:r>
            <a:r>
              <a:t> est testée seule, puis employée par deux méthodes, dont une qui compte sans rien supprimer.</a:t>
            </a:r>
          </a:p>
          <a:p>
            <a:r>
              <a:t>La première question vous fait essayer de supprimer les pairs autrement, avec une boucle. Faites-le vraiment : ce que vous obtiendrez explique pourquoi </a:t>
            </a:r>
            <a:r>
              <a:rPr>
                <a:latin typeface="Consolas"/>
              </a:rPr>
              <a:t>removeIf</a:t>
            </a:r>
            <a:r>
              <a:t> existe.</a:t>
            </a:r>
          </a:p>
          <a:p>
            <a:r>
              <a:t>Le squelette du </a:t>
            </a:r>
            <a:r>
              <a:rPr>
                <a:latin typeface="Consolas"/>
              </a:rPr>
              <a:t>Programme</a:t>
            </a:r>
            <a:r>
              <a:t> vous donne de nouveau trois constantes.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collection peut contenir des collections. </a:t>
            </a:r>
            <a:r>
              <a:rPr>
                <a:latin typeface="Consolas"/>
              </a:rPr>
              <a:t>Map&lt;String, List&lt;String&gt;&gt;</a:t>
            </a:r>
            <a:r>
              <a:t> se lit en partant de l'extérieur : une table, dont les clés sont des chaînes, et dont chaque valeur est une liste de chaînes. Ici, les titres de chaque auteur.</a:t>
            </a:r>
          </a:p>
          <a:p>
            <a:r>
              <a:t>La déclaration documente la structure à elle seule. Sans lire une ligne de plus, on sait qu'un auteur a plusieurs titres, et qu'ils sont ordonnés.</a:t>
            </a:r>
          </a:p>
          <a:p>
            <a:r>
              <a:t>La table, en revanche, ne crée rien d'elle-même. Tant qu'aucun titre de Zola n'a été rangé, il n'existe aucune liste pour Zola, et </a:t>
            </a:r>
            <a:r>
              <a:rPr>
                <a:latin typeface="Consolas"/>
              </a:rPr>
              <a:t>get</a:t>
            </a:r>
            <a:r>
              <a:t> retourne </a:t>
            </a:r>
            <a:r>
              <a:rPr>
                <a:latin typeface="Consolas"/>
              </a:rPr>
              <a:t>null</a:t>
            </a:r>
            <a:r>
              <a:t>. Ajouter un titre demande donc deux étapes : obtenir la liste, en la créant si elle n'existe pas encore, puis y ajouter.</a:t>
            </a:r>
          </a:p>
          <a:p>
            <a:r>
              <a:rPr lang="fr-BE" dirty="0"/>
              <a:t>Le code complet, à exécuter : demos, classe demo.col.slides.LireUnTypeEmboite.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méthode </a:t>
            </a:r>
            <a:r>
              <a:rPr>
                <a:latin typeface="Consolas"/>
              </a:rPr>
              <a:t>computeIfAbsent</a:t>
            </a:r>
            <a:r>
              <a:t> fait les deux étapes de la slide précédente en une. Si la clé a déjà une valeur, elle la retourne. Sinon, elle appelle la méthode </a:t>
            </a:r>
            <a:r>
              <a:rPr>
                <a:latin typeface="Consolas"/>
              </a:rPr>
              <a:t>apply</a:t>
            </a:r>
            <a:r>
              <a:t> de l'objet reçu, range le résultat dans la table, et le retourne. On ajoute ensuite le titre à la liste obtenue, qu'elle soit ancienne ou neuve.</a:t>
            </a:r>
          </a:p>
          <a:p>
            <a:r>
              <a:rPr>
                <a:latin typeface="Consolas"/>
              </a:rPr>
              <a:t>Function&lt;T, R&gt;</a:t>
            </a:r>
            <a:r>
              <a:t> est une interface fonctionnelle de </a:t>
            </a:r>
            <a:r>
              <a:rPr>
                <a:latin typeface="Consolas"/>
              </a:rPr>
              <a:t>java.util.function</a:t>
            </a:r>
            <a:r>
              <a:t>, comme </a:t>
            </a:r>
            <a:r>
              <a:rPr>
                <a:latin typeface="Consolas"/>
              </a:rPr>
              <a:t>Predicate</a:t>
            </a:r>
            <a:r>
              <a:t> : sa méthode </a:t>
            </a:r>
            <a:r>
              <a:rPr>
                <a:latin typeface="Consolas"/>
              </a:rPr>
              <a:t>apply</a:t>
            </a:r>
            <a:r>
              <a:t> reçoit un </a:t>
            </a:r>
            <a:r>
              <a:rPr>
                <a:latin typeface="Consolas"/>
              </a:rPr>
              <a:t>T</a:t>
            </a:r>
            <a:r>
              <a:t> et retourne un </a:t>
            </a:r>
            <a:r>
              <a:rPr>
                <a:latin typeface="Consolas"/>
              </a:rPr>
              <a:t>R</a:t>
            </a:r>
            <a:r>
              <a:t>. Le mécanisme est celui de la section 5. La méthode </a:t>
            </a:r>
            <a:r>
              <a:rPr>
                <a:latin typeface="Consolas"/>
              </a:rPr>
              <a:t>removeIf</a:t>
            </a:r>
            <a:r>
              <a:t> recevait un objet qui sait tester, </a:t>
            </a:r>
            <a:r>
              <a:rPr>
                <a:latin typeface="Consolas"/>
              </a:rPr>
              <a:t>computeIfAbsent</a:t>
            </a:r>
            <a:r>
              <a:t> reçoit un objet qui sait fabriquer.</a:t>
            </a:r>
          </a:p>
          <a:p>
            <a:r>
              <a:t>La méthode </a:t>
            </a:r>
            <a:r>
              <a:rPr>
                <a:latin typeface="Consolas"/>
              </a:rPr>
              <a:t>apply</a:t>
            </a:r>
            <a:r>
              <a:t> reçoit la clé, ici le nom de l'auteur. Elle n'en a pas besoin pour créer une liste vide, mais l'interface le lui donne.</a:t>
            </a:r>
          </a:p>
          <a:p>
            <a:r>
              <a:rPr lang="fr-BE" dirty="0"/>
              <a:t>Le code complet, à exécuter : demos, classe demo.col.slides.LireUnTypeEmboite.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COL.7</a:t>
            </a:r>
            <a:r>
              <a:t> emboîte une table et des ensembles : à chaque étudiant, les cours qu'il suit. Le fascicule explique les deux décisions de conception, un ensemble plutôt qu'une liste, un ensemble vide plutôt que </a:t>
            </a:r>
            <a:r>
              <a:rPr>
                <a:latin typeface="Consolas"/>
              </a:rPr>
              <a:t>null</a:t>
            </a:r>
            <a:r>
              <a:t>. Comparez la seconde avec le </a:t>
            </a:r>
            <a:r>
              <a:rPr>
                <a:latin typeface="Consolas"/>
              </a:rPr>
              <a:t>chercher</a:t>
            </a:r>
            <a:r>
              <a:t> de </a:t>
            </a:r>
            <a:r>
              <a:rPr>
                <a:latin typeface="Consolas"/>
              </a:rPr>
              <a:t>COL.2</a:t>
            </a:r>
            <a:r>
              <a:t>.</a:t>
            </a:r>
          </a:p>
          <a:p>
            <a:r>
              <a:t>Vous y écrivez aussi une classe </a:t>
            </a:r>
            <a:r>
              <a:rPr>
                <a:latin typeface="Consolas"/>
              </a:rPr>
              <a:t>NouvelEnsemble</a:t>
            </a:r>
            <a:r>
              <a:t>, sur le modèle de la slide précédente. La première question vous demande d'écrire la même méthode sans </a:t>
            </a:r>
            <a:r>
              <a:rPr>
                <a:latin typeface="Consolas"/>
              </a:rPr>
              <a:t>computeIfAbsent</a:t>
            </a:r>
            <a:r>
              <a:t> : faites-le, pour mesurer ce qu'elle épargne.</a:t>
            </a:r>
          </a:p>
          <a:p>
            <a:r>
              <a:t>La dernière question porte sur ce que </a:t>
            </a:r>
            <a:r>
              <a:rPr>
                <a:latin typeface="Consolas"/>
              </a:rPr>
              <a:t>coursDe</a:t>
            </a:r>
            <a:r>
              <a:t> livre à son appelant. Elle renvoie au mémento Clean Code, et à la fin de la démonstration.</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a:t>
            </a:r>
            <a:r>
              <a:rPr>
                <a:latin typeface="Consolas"/>
              </a:rPr>
              <a:t>Deque</a:t>
            </a:r>
            <a:r>
              <a:t>, file à double entrée, se prononce « dèque ». C'est une liste qu'on ne manipule que par ses deux bouts. Ce n'est pas une limite gênante : beaucoup de problèmes n'ont besoin de rien d'autre, et la structure le dit alors clairement.</a:t>
            </a:r>
          </a:p>
          <a:p>
            <a:r>
              <a:t>Une file d'attente ajoute à la fin et sert au début. Une pioche de cartes prend au-dessus et, au jeu de bataille, remet les cartes gagnées en dessous. C'est le rôle qu'elle jouera dans le fil rouge.</a:t>
            </a:r>
          </a:p>
          <a:p>
            <a:r>
              <a:rPr>
                <a:latin typeface="Consolas"/>
              </a:rPr>
              <a:t>ArrayDeque</a:t>
            </a:r>
            <a:r>
              <a:t> est l'implémentation à préférer. </a:t>
            </a:r>
            <a:r>
              <a:rPr>
                <a:latin typeface="Consolas"/>
              </a:rPr>
              <a:t>LinkedList</a:t>
            </a:r>
            <a:r>
              <a:t>, vue à la slide 2.4, implémente aussi </a:t>
            </a:r>
            <a:r>
              <a:rPr>
                <a:latin typeface="Consolas"/>
              </a:rPr>
              <a:t>Deque</a:t>
            </a:r>
            <a:r>
              <a:t>, mais elle est plus lente pour cet usage.</a:t>
            </a:r>
          </a:p>
          <a:p>
            <a:r>
              <a:rPr lang="fr-BE" dirty="0"/>
              <a:t>Le code complet, à exécuter : demos, classe demo.col.slides.UneFileADeuxBouts.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méthodes existent par paires symétriques : </a:t>
            </a:r>
            <a:r>
              <a:rPr>
                <a:latin typeface="Consolas"/>
              </a:rPr>
              <a:t>addFirst</a:t>
            </a:r>
            <a:r>
              <a:t> et </a:t>
            </a:r>
            <a:r>
              <a:rPr>
                <a:latin typeface="Consolas"/>
              </a:rPr>
              <a:t>addLast</a:t>
            </a:r>
            <a:r>
              <a:t>, </a:t>
            </a:r>
            <a:r>
              <a:rPr>
                <a:latin typeface="Consolas"/>
              </a:rPr>
              <a:t>pollFirst</a:t>
            </a:r>
            <a:r>
              <a:t> et </a:t>
            </a:r>
            <a:r>
              <a:rPr>
                <a:latin typeface="Consolas"/>
              </a:rPr>
              <a:t>pollLast</a:t>
            </a:r>
            <a:r>
              <a:t>, </a:t>
            </a:r>
            <a:r>
              <a:rPr>
                <a:latin typeface="Consolas"/>
              </a:rPr>
              <a:t>peekFirst</a:t>
            </a:r>
            <a:r>
              <a:t> et </a:t>
            </a:r>
            <a:r>
              <a:rPr>
                <a:latin typeface="Consolas"/>
              </a:rPr>
              <a:t>peekLast</a:t>
            </a:r>
            <a:r>
              <a:t>.</a:t>
            </a:r>
          </a:p>
          <a:p>
            <a:r>
              <a:t>Il existe une seconde famille, </a:t>
            </a:r>
            <a:r>
              <a:rPr>
                <a:latin typeface="Consolas"/>
              </a:rPr>
              <a:t>removeFirst</a:t>
            </a:r>
            <a:r>
              <a:t> et </a:t>
            </a:r>
            <a:r>
              <a:rPr>
                <a:latin typeface="Consolas"/>
              </a:rPr>
              <a:t>getFirst</a:t>
            </a:r>
            <a:r>
              <a:t>, qui font la même chose mais lèvent une exception sur une file vide au lieu de retourner </a:t>
            </a:r>
            <a:r>
              <a:rPr>
                <a:latin typeface="Consolas"/>
              </a:rPr>
              <a:t>null</a:t>
            </a:r>
            <a:r>
              <a:t>. Les deux familles se valent. Ce qui compte est de vérifier que la file n'est pas vide avant de puiser, comme dans la boucle ci-dessus.</a:t>
            </a:r>
          </a:p>
          <a:p>
            <a:r>
              <a:t>Le jeu de bataille tient tout entier dans cette boucle : tant qu'aucune pioche n'est vide, chaque joueur prend sa première carte, et le gagnant remet les deux à la fin de la sienne.</a:t>
            </a:r>
          </a:p>
          <a:p>
            <a:r>
              <a:rPr lang="fr-BE" dirty="0"/>
              <a:t>Le code complet, à exécuter : demos, classe demo.col.slides.UneFileADeuxBouts.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quatrième partie de GameHub écrit un jeu de bataille, et elle s'appuie sur ce module de bout en bout.</a:t>
            </a:r>
          </a:p>
          <a:p>
            <a:r>
              <a:rPr>
                <a:latin typeface="Consolas"/>
              </a:rPr>
              <a:t>G.21</a:t>
            </a:r>
            <a:r>
              <a:t> reprend le </a:t>
            </a:r>
            <a:r>
              <a:rPr>
                <a:latin typeface="Consolas"/>
              </a:rPr>
              <a:t>Deck</a:t>
            </a:r>
            <a:r>
              <a:t> d'</a:t>
            </a:r>
            <a:r>
              <a:rPr>
                <a:latin typeface="Consolas"/>
              </a:rPr>
              <a:t>ENU.3</a:t>
            </a:r>
            <a:r>
              <a:t>, qui rangeait ses cartes dans un tableau, et le passe à une </a:t>
            </a:r>
            <a:r>
              <a:rPr>
                <a:latin typeface="Consolas"/>
              </a:rPr>
              <a:t>List</a:t>
            </a:r>
            <a:r>
              <a:t>. Trois choses changent : le champ, le constructeur, et le mélange, qui se réduit à </a:t>
            </a:r>
            <a:r>
              <a:rPr>
                <a:latin typeface="Consolas"/>
              </a:rPr>
              <a:t>Collections.shuffle</a:t>
            </a:r>
            <a:r>
              <a:t>. C'est la slide 2.5.</a:t>
            </a:r>
          </a:p>
          <a:p>
            <a:r>
              <a:rPr>
                <a:latin typeface="Consolas"/>
              </a:rPr>
              <a:t>G.22</a:t>
            </a:r>
            <a:r>
              <a:t> donne une valeur à chaque carte. L'ordre de déclaration de l'énumération </a:t>
            </a:r>
            <a:r>
              <a:rPr>
                <a:latin typeface="Consolas"/>
              </a:rPr>
              <a:t>Valeur</a:t>
            </a:r>
            <a:r>
              <a:t> décide de la force des cartes, ce que montrait </a:t>
            </a:r>
            <a:r>
              <a:rPr>
                <a:latin typeface="Consolas"/>
              </a:rPr>
              <a:t>ENU.1</a:t>
            </a:r>
            <a:r>
              <a:t>. </a:t>
            </a:r>
            <a:r>
              <a:rPr>
                <a:latin typeface="Consolas"/>
              </a:rPr>
              <a:t>G.23</a:t>
            </a:r>
            <a:r>
              <a:t> écrit une première version du jeu, où les cartes égales sont simplement jetées, et distribue le paquet dans deux </a:t>
            </a:r>
            <a:r>
              <a:rPr>
                <a:latin typeface="Consolas"/>
              </a:rPr>
              <a:t>Deque</a:t>
            </a:r>
            <a:r>
              <a:t>.</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trois incréments suivants écrivent la méthode </a:t>
            </a:r>
            <a:r>
              <a:rPr>
                <a:latin typeface="Consolas"/>
              </a:rPr>
              <a:t>jouer</a:t>
            </a:r>
            <a:r>
              <a:t>, en trois temps. La mise en place crée les deux pioches, des </a:t>
            </a:r>
            <a:r>
              <a:rPr>
                <a:latin typeface="Consolas"/>
              </a:rPr>
              <a:t>ArrayDeque</a:t>
            </a:r>
            <a:r>
              <a:t>, et une liste pour les cartes retirées. La boucle est celle de la slide 7.3 : </a:t>
            </a:r>
            <a:r>
              <a:rPr>
                <a:latin typeface="Consolas"/>
              </a:rPr>
              <a:t>pollFirst</a:t>
            </a:r>
            <a:r>
              <a:t> pour piocher, </a:t>
            </a:r>
            <a:r>
              <a:rPr>
                <a:latin typeface="Consolas"/>
              </a:rPr>
              <a:t>addLast</a:t>
            </a:r>
            <a:r>
              <a:t> pour remettre. Le résultat se lit dans l'état des deux pioches à la sortie.</a:t>
            </a:r>
          </a:p>
          <a:p>
            <a:r>
              <a:rPr>
                <a:latin typeface="Consolas"/>
              </a:rPr>
              <a:t>G.27</a:t>
            </a:r>
            <a:r>
              <a:t> traite enfin la bataille elle-même, quand deux cartes sont égales. Les cartes déposées s'accumulent dans une liste, le pot, que le gagnant ramasse.</a:t>
            </a:r>
          </a:p>
          <a:p>
            <a:r>
              <a:t>Vous aurez employé dans ce seul jeu une liste, deux files à deux bouts, une méthode de </a:t>
            </a:r>
            <a:r>
              <a:rPr>
                <a:latin typeface="Consolas"/>
              </a:rPr>
              <a:t>Collections</a:t>
            </a:r>
            <a:r>
              <a:t> et une énumération ordonnée. C'est un bon test de ce que vous avez retenu.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10.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COL</a:t>
            </a:r>
          </a:p>
          <a:p>
            <a:r>
              <a:t>Collections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7" name="Section 1"/>
          <p:cNvGrpSpPr/>
          <p:nvPr/>
        </p:nvGrpSpPr>
        <p:grpSpPr>
          <a:xfrm>
            <a:off x="640080" y="1463040"/>
            <a:ext cx="5394960" cy="914400"/>
            <a:chOff x="640080" y="1463040"/>
            <a:chExt cx="5394960" cy="914400"/>
          </a:xfrm>
        </p:grpSpPr>
        <p:sp>
          <p:nvSpPr>
            <p:cNvPr id="24"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a:solidFill>
                    <a:schemeClr val="accent4"/>
                  </a:solidFill>
                </a:rPr>
                <a:t>1   </a:t>
              </a:r>
              <a:r>
                <a:rPr sz="2600">
                  <a:solidFill>
                    <a:srgbClr val="FFFFFF"/>
                  </a:solidFill>
                </a:rPr>
                <a:t>Une structure qui grandit</a:t>
              </a:r>
            </a:p>
          </p:txBody>
        </p:sp>
      </p:grpSp>
      <p:grpSp>
        <p:nvGrpSpPr>
          <p:cNvPr id="18" name="Section 2"/>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Les listes</a:t>
              </a:r>
            </a:p>
          </p:txBody>
        </p:sp>
      </p:grpSp>
      <p:grpSp>
        <p:nvGrpSpPr>
          <p:cNvPr id="19" name="Section 3"/>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Les ensembles</a:t>
              </a:r>
            </a:p>
          </p:txBody>
        </p:sp>
      </p:grpSp>
      <p:grpSp>
        <p:nvGrpSpPr>
          <p:cNvPr id="20" name="Section 4"/>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Les tables associatives</a:t>
              </a:r>
            </a:p>
          </p:txBody>
        </p:sp>
      </p:grpSp>
      <p:grpSp>
        <p:nvGrpSpPr>
          <p:cNvPr id="21" name="Section 5"/>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a:solidFill>
                    <a:schemeClr val="accent4"/>
                  </a:solidFill>
                </a:rPr>
                <a:t>5   </a:t>
              </a:r>
              <a:r>
                <a:rPr sz="2600">
                  <a:solidFill>
                    <a:srgbClr val="FFFFFF"/>
                  </a:solidFill>
                </a:rPr>
                <a:t>Passer un comportement</a:t>
              </a:r>
            </a:p>
          </p:txBody>
        </p:sp>
      </p:grpSp>
      <p:grpSp>
        <p:nvGrpSpPr>
          <p:cNvPr id="22" name="Section 6"/>
          <p:cNvGrpSpPr/>
          <p:nvPr/>
        </p:nvGrpSpPr>
        <p:grpSpPr>
          <a:xfrm>
            <a:off x="6217920" y="2560320"/>
            <a:ext cx="5394960" cy="914400"/>
            <a:chOff x="6217920" y="2560320"/>
            <a:chExt cx="5394960" cy="914400"/>
          </a:xfrm>
        </p:grpSpPr>
        <p:sp>
          <p:nvSpPr>
            <p:cNvPr id="13" name="Sommaire du module"/>
            <p:cNvSpPr/>
            <p:nvPr/>
          </p:nvSpPr>
          <p:spPr>
            <a:xfrm>
              <a:off x="621792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ommaire du module, texte"/>
            <p:cNvSpPr txBox="1"/>
            <p:nvPr/>
          </p:nvSpPr>
          <p:spPr>
            <a:xfrm>
              <a:off x="6400800" y="2560320"/>
              <a:ext cx="5029200" cy="914400"/>
            </a:xfrm>
            <a:prstGeom prst="rect">
              <a:avLst/>
            </a:prstGeom>
            <a:noFill/>
          </p:spPr>
          <p:txBody>
            <a:bodyPr wrap="none" anchor="ctr">
              <a:spAutoFit/>
            </a:bodyPr>
            <a:lstStyle/>
            <a:p>
              <a:r>
                <a:rPr sz="3000" b="1">
                  <a:solidFill>
                    <a:schemeClr val="accent4"/>
                  </a:solidFill>
                </a:rPr>
                <a:t>6   </a:t>
              </a:r>
              <a:r>
                <a:rPr sz="2600">
                  <a:solidFill>
                    <a:srgbClr val="FFFFFF"/>
                  </a:solidFill>
                </a:rPr>
                <a:t>Collections emboîtées</a:t>
              </a:r>
            </a:p>
          </p:txBody>
        </p:sp>
      </p:grpSp>
      <p:grpSp>
        <p:nvGrpSpPr>
          <p:cNvPr id="23" name="Section 7"/>
          <p:cNvGrpSpPr/>
          <p:nvPr/>
        </p:nvGrpSpPr>
        <p:grpSpPr>
          <a:xfrm>
            <a:off x="6217920" y="3657600"/>
            <a:ext cx="5394960" cy="914400"/>
            <a:chOff x="6217920" y="3657600"/>
            <a:chExt cx="5394960" cy="914400"/>
          </a:xfrm>
        </p:grpSpPr>
        <p:sp>
          <p:nvSpPr>
            <p:cNvPr id="15" name="Sommaire du module"/>
            <p:cNvSpPr/>
            <p:nvPr/>
          </p:nvSpPr>
          <p:spPr>
            <a:xfrm>
              <a:off x="621792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ommaire du module, texte"/>
            <p:cNvSpPr txBox="1"/>
            <p:nvPr/>
          </p:nvSpPr>
          <p:spPr>
            <a:xfrm>
              <a:off x="6400800" y="3657600"/>
              <a:ext cx="5029200" cy="914400"/>
            </a:xfrm>
            <a:prstGeom prst="rect">
              <a:avLst/>
            </a:prstGeom>
            <a:noFill/>
          </p:spPr>
          <p:txBody>
            <a:bodyPr wrap="none" anchor="ctr">
              <a:spAutoFit/>
            </a:bodyPr>
            <a:lstStyle/>
            <a:p>
              <a:r>
                <a:rPr sz="3000" b="1">
                  <a:solidFill>
                    <a:schemeClr val="accent4"/>
                  </a:solidFill>
                </a:rPr>
                <a:t>7   </a:t>
              </a:r>
              <a:r>
                <a:rPr sz="2600">
                  <a:solidFill>
                    <a:srgbClr val="FFFFFF"/>
                  </a:solidFill>
                </a:rPr>
                <a:t>Les files à deux bouts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left)">
                                      <p:cBhvr>
                                        <p:cTn id="3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422613E8-3CD9-9130-9D9E-FB85931733FB}"/>
              </a:ext>
            </a:extLst>
          </p:cNvPr>
          <p:cNvPicPr>
            <a:picLocks noChangeAspect="1"/>
          </p:cNvPicPr>
          <p:nvPr/>
        </p:nvPicPr>
        <p:blipFill>
          <a:blip r:embed="rId3"/>
          <a:stretch>
            <a:fillRect/>
          </a:stretch>
        </p:blipFill>
        <p:spPr>
          <a:xfrm>
            <a:off x="-3244" y="0"/>
            <a:ext cx="12198488" cy="6858000"/>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6800"/>
            <a:ext cx="9857211" cy="1105200"/>
          </a:xfrm>
          <a:prstGeom prst="rect">
            <a:avLst/>
          </a:prstGeom>
          <a:solidFill>
            <a:schemeClr val="accent5">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Une structure qui grandit</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Choisir une collection en se trompant d'abord</a:t>
            </a:r>
          </a:p>
          <a:p>
            <a:pPr>
              <a:spcBef>
                <a:spcPts val="1200"/>
              </a:spcBef>
            </a:pPr>
            <a:r>
              <a:rPr sz="1400">
                <a:solidFill>
                  <a:srgbClr val="BCBEC4"/>
                </a:solidFill>
              </a:rPr>
              <a:t>Déroulé : Demo_COL</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1. Une structure qui grandit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8"/>
            <a:ext cx="10515600" cy="1179894"/>
          </a:xfrm>
        </p:spPr>
        <p:txBody>
          <a:bodyPr>
            <a:noAutofit/>
          </a:bodyPr>
          <a:lstStyle/>
          <a:p>
            <a:r>
              <a:rPr sz="4000"/>
              <a:t>Ce qu'on écrit entre chevrons</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dirty="0"/>
              <a:t>Le type entre chevrons </a:t>
            </a:r>
            <a:r>
              <a:rPr lang="nl-BE" sz="2800" dirty="0"/>
              <a:t>(</a:t>
            </a:r>
            <a:r>
              <a:rPr lang="nl-BE" sz="2400" dirty="0">
                <a:solidFill>
                  <a:schemeClr val="accent4"/>
                </a:solidFill>
                <a:latin typeface="Consolas" panose="020B0609020204030204" pitchFamily="49" charset="0"/>
                <a:cs typeface="Consolas" panose="020B0609020204030204" pitchFamily="49" charset="0"/>
              </a:rPr>
              <a:t>&lt;</a:t>
            </a:r>
            <a:r>
              <a:rPr lang="nl-BE" sz="2800" dirty="0"/>
              <a:t> et </a:t>
            </a:r>
            <a:r>
              <a:rPr lang="nl-BE" sz="2400" dirty="0">
                <a:solidFill>
                  <a:schemeClr val="accent4"/>
                </a:solidFill>
                <a:latin typeface="Consolas" panose="020B0609020204030204" pitchFamily="49" charset="0"/>
                <a:cs typeface="Consolas" panose="020B0609020204030204" pitchFamily="49" charset="0"/>
              </a:rPr>
              <a:t>&gt;</a:t>
            </a:r>
            <a:r>
              <a:rPr lang="nl-BE" sz="2800" dirty="0"/>
              <a:t>) </a:t>
            </a:r>
            <a:r>
              <a:rPr sz="2800" dirty="0"/>
              <a:t>est </a:t>
            </a:r>
            <a:r>
              <a:rPr sz="2800" dirty="0" err="1"/>
              <a:t>celui</a:t>
            </a:r>
            <a:r>
              <a:rPr sz="2800" dirty="0"/>
              <a:t> des </a:t>
            </a:r>
            <a:r>
              <a:rPr sz="2800" dirty="0" err="1"/>
              <a:t>éléments</a:t>
            </a:r>
            <a:r>
              <a:rPr lang="nl-BE" sz="2800" dirty="0"/>
              <a:t> de la collection</a:t>
            </a:r>
            <a:endParaRPr sz="2800" dirty="0"/>
          </a:p>
          <a:p>
            <a:pPr marL="0" indent="0">
              <a:spcAft>
                <a:spcPts val="1000"/>
              </a:spcAft>
              <a:buNone/>
            </a:pPr>
            <a:r>
              <a:rPr sz="2800" dirty="0"/>
              <a:t>Le </a:t>
            </a:r>
            <a:r>
              <a:rPr sz="2800" dirty="0" err="1"/>
              <a:t>compilateur</a:t>
            </a:r>
            <a:r>
              <a:rPr sz="2800" dirty="0"/>
              <a:t> refuse tout </a:t>
            </a:r>
            <a:r>
              <a:rPr sz="2800" dirty="0" err="1"/>
              <a:t>autre</a:t>
            </a:r>
            <a:r>
              <a:rPr sz="2800" dirty="0"/>
              <a:t> type à </a:t>
            </a:r>
            <a:r>
              <a:rPr sz="2800" dirty="0" err="1"/>
              <a:t>l'entrée</a:t>
            </a:r>
            <a:endParaRPr sz="2800" dirty="0"/>
          </a:p>
          <a:p>
            <a:pPr marL="0" indent="0">
              <a:spcAft>
                <a:spcPts val="1000"/>
              </a:spcAft>
              <a:buNone/>
            </a:pPr>
            <a:r>
              <a:rPr sz="2800" dirty="0"/>
              <a:t>Et il </a:t>
            </a:r>
            <a:r>
              <a:rPr sz="2800" dirty="0" err="1"/>
              <a:t>connaît</a:t>
            </a:r>
            <a:r>
              <a:rPr sz="2800" dirty="0"/>
              <a:t> le type de </a:t>
            </a:r>
            <a:r>
              <a:rPr sz="2800" dirty="0" err="1"/>
              <a:t>ce</a:t>
            </a:r>
            <a:r>
              <a:rPr sz="2800" dirty="0"/>
              <a:t> qui sort</a:t>
            </a:r>
          </a:p>
        </p:txBody>
      </p:sp>
      <p:sp>
        <p:nvSpPr>
          <p:cNvPr id="4" name="Code"/>
          <p:cNvSpPr txBox="1"/>
          <p:nvPr/>
        </p:nvSpPr>
        <p:spPr>
          <a:xfrm>
            <a:off x="1822450" y="3307080"/>
            <a:ext cx="85471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List&lt;String&gt; titres = </a:t>
            </a:r>
            <a:r>
              <a:rPr sz="1800">
                <a:solidFill>
                  <a:srgbClr val="CF8E6D"/>
                </a:solidFill>
                <a:latin typeface="Consolas"/>
              </a:rPr>
              <a:t>new</a:t>
            </a:r>
            <a:r>
              <a:rPr sz="1800">
                <a:solidFill>
                  <a:srgbClr val="BCBEC4"/>
                </a:solidFill>
                <a:latin typeface="Consolas"/>
              </a:rPr>
              <a:t> ArrayList&lt;&gt;();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add</a:t>
            </a:r>
            <a:r>
              <a:rPr sz="1800">
                <a:solidFill>
                  <a:srgbClr val="BCBEC4"/>
                </a:solidFill>
                <a:latin typeface="Consolas"/>
              </a:rPr>
              <a:t>(</a:t>
            </a:r>
            <a:r>
              <a:rPr sz="1800">
                <a:solidFill>
                  <a:srgbClr val="6AAB73"/>
                </a:solidFill>
                <a:latin typeface="Consolas"/>
              </a:rPr>
              <a:t>"Germinal"</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add</a:t>
            </a:r>
            <a:r>
              <a:rPr sz="1800">
                <a:solidFill>
                  <a:srgbClr val="BCBEC4"/>
                </a:solidFill>
                <a:latin typeface="Consolas"/>
              </a:rPr>
              <a:t>(</a:t>
            </a:r>
            <a:r>
              <a:rPr sz="1800">
                <a:solidFill>
                  <a:srgbClr val="2AACB8"/>
                </a:solidFill>
                <a:latin typeface="Consolas"/>
              </a:rPr>
              <a:t>42</a:t>
            </a:r>
            <a:r>
              <a:rPr sz="1800">
                <a:solidFill>
                  <a:srgbClr val="BCBEC4"/>
                </a:solidFill>
                <a:latin typeface="Consolas"/>
              </a:rPr>
              <a:t>);                  </a:t>
            </a:r>
            <a:r>
              <a:rPr sz="1800">
                <a:solidFill>
                  <a:srgbClr val="7A7E85"/>
                </a:solidFill>
                <a:latin typeface="Consolas"/>
              </a:rPr>
              <a:t>// refuse a la compilation</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String premier = titres.</a:t>
            </a:r>
            <a:r>
              <a:rPr sz="1800">
                <a:solidFill>
                  <a:srgbClr val="56A8F5"/>
                </a:solidFill>
                <a:latin typeface="Consolas"/>
              </a:rPr>
              <a:t>get</a:t>
            </a:r>
            <a:r>
              <a:rPr sz="1800">
                <a:solidFill>
                  <a:srgbClr val="BCBEC4"/>
                </a:solidFill>
                <a:latin typeface="Consolas"/>
              </a:rPr>
              <a:t>(</a:t>
            </a:r>
            <a:r>
              <a:rPr sz="1800">
                <a:solidFill>
                  <a:srgbClr val="2AACB8"/>
                </a:solidFill>
                <a:latin typeface="Consolas"/>
              </a:rPr>
              <a:t>0</a:t>
            </a:r>
            <a:r>
              <a:rPr sz="1800">
                <a:solidFill>
                  <a:srgbClr val="BCBEC4"/>
                </a:solidFill>
                <a:latin typeface="Consolas"/>
              </a:rPr>
              <a:t>);  </a:t>
            </a:r>
            <a:r>
              <a:rPr sz="1800">
                <a:solidFill>
                  <a:srgbClr val="7A7E85"/>
                </a:solidFill>
                <a:latin typeface="Consolas"/>
              </a:rPr>
              <a:t>// aucune conversion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1. Une structure qui grandit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Des objets, pas des types primitifs</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Une collection ne contient que des objets</a:t>
            </a:r>
          </a:p>
          <a:p>
            <a:pPr marL="0" indent="0">
              <a:spcAft>
                <a:spcPts val="1000"/>
              </a:spcAft>
              <a:buNone/>
            </a:pPr>
            <a:r>
              <a:rPr sz="2800"/>
              <a:t>On écrit donc </a:t>
            </a:r>
            <a:r>
              <a:rPr sz="2400">
                <a:solidFill>
                  <a:schemeClr val="accent4"/>
                </a:solidFill>
                <a:latin typeface="Consolas"/>
              </a:rPr>
              <a:t>Integer</a:t>
            </a:r>
            <a:r>
              <a:rPr sz="2800"/>
              <a:t> et non </a:t>
            </a:r>
            <a:r>
              <a:rPr sz="2400">
                <a:solidFill>
                  <a:schemeClr val="accent4"/>
                </a:solidFill>
                <a:latin typeface="Consolas"/>
              </a:rPr>
              <a:t>int</a:t>
            </a:r>
          </a:p>
          <a:p>
            <a:pPr marL="0" indent="0">
              <a:spcAft>
                <a:spcPts val="1000"/>
              </a:spcAft>
              <a:buNone/>
            </a:pPr>
            <a:r>
              <a:rPr sz="2800"/>
              <a:t>La conversion reste automatique, dans les deux sens</a:t>
            </a:r>
          </a:p>
        </p:txBody>
      </p:sp>
      <p:sp>
        <p:nvSpPr>
          <p:cNvPr id="4" name="Code"/>
          <p:cNvSpPr txBox="1"/>
          <p:nvPr/>
        </p:nvSpPr>
        <p:spPr>
          <a:xfrm>
            <a:off x="1403350" y="3307080"/>
            <a:ext cx="93853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List&lt;Integer&gt; annees = </a:t>
            </a:r>
            <a:r>
              <a:rPr sz="1800">
                <a:solidFill>
                  <a:srgbClr val="CF8E6D"/>
                </a:solidFill>
                <a:latin typeface="Consolas"/>
              </a:rPr>
              <a:t>new</a:t>
            </a:r>
            <a:r>
              <a:rPr sz="1800">
                <a:solidFill>
                  <a:srgbClr val="BCBEC4"/>
                </a:solidFill>
                <a:latin typeface="Consolas"/>
              </a:rPr>
              <a:t> ArrayList&lt;&gt;();   </a:t>
            </a:r>
            <a:r>
              <a:rPr sz="1800">
                <a:solidFill>
                  <a:srgbClr val="7A7E85"/>
                </a:solidFill>
                <a:latin typeface="Consolas"/>
              </a:rPr>
              <a:t>// List&lt;int&gt; : refuse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annees.</a:t>
            </a:r>
            <a:r>
              <a:rPr sz="1800">
                <a:solidFill>
                  <a:srgbClr val="56A8F5"/>
                </a:solidFill>
                <a:latin typeface="Consolas"/>
              </a:rPr>
              <a:t>add</a:t>
            </a:r>
            <a:r>
              <a:rPr sz="1800">
                <a:solidFill>
                  <a:srgbClr val="BCBEC4"/>
                </a:solidFill>
                <a:latin typeface="Consolas"/>
              </a:rPr>
              <a:t>(</a:t>
            </a:r>
            <a:r>
              <a:rPr sz="1800">
                <a:solidFill>
                  <a:srgbClr val="2AACB8"/>
                </a:solidFill>
                <a:latin typeface="Consolas"/>
              </a:rPr>
              <a:t>1885</a:t>
            </a:r>
            <a:r>
              <a:rPr sz="1800">
                <a:solidFill>
                  <a:srgbClr val="BCBEC4"/>
                </a:solidFill>
                <a:latin typeface="Consolas"/>
              </a:rPr>
              <a:t>);                </a:t>
            </a:r>
            <a:r>
              <a:rPr sz="1800">
                <a:solidFill>
                  <a:srgbClr val="7A7E85"/>
                </a:solidFill>
                <a:latin typeface="Consolas"/>
              </a:rPr>
              <a:t>// int vers Integer</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premiere = annees.</a:t>
            </a:r>
            <a:r>
              <a:rPr sz="1800">
                <a:solidFill>
                  <a:srgbClr val="56A8F5"/>
                </a:solidFill>
                <a:latin typeface="Consolas"/>
              </a:rPr>
              <a:t>get</a:t>
            </a:r>
            <a:r>
              <a:rPr sz="1800">
                <a:solidFill>
                  <a:srgbClr val="BCBEC4"/>
                </a:solidFill>
                <a:latin typeface="Consolas"/>
              </a:rPr>
              <a:t>(</a:t>
            </a:r>
            <a:r>
              <a:rPr sz="1800">
                <a:solidFill>
                  <a:srgbClr val="2AACB8"/>
                </a:solidFill>
                <a:latin typeface="Consolas"/>
              </a:rPr>
              <a:t>0</a:t>
            </a:r>
            <a:r>
              <a:rPr sz="1800">
                <a:solidFill>
                  <a:srgbClr val="BCBEC4"/>
                </a:solidFill>
                <a:latin typeface="Consolas"/>
              </a:rPr>
              <a:t>);    </a:t>
            </a:r>
            <a:r>
              <a:rPr sz="1800">
                <a:solidFill>
                  <a:srgbClr val="7A7E85"/>
                </a:solidFill>
                <a:latin typeface="Consolas"/>
              </a:rPr>
              <a:t>// Integer vers int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1. Une structure qui grandit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Déclarer par l'interface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À gauche, l'interface : ce que la variable promet</a:t>
            </a:r>
          </a:p>
          <a:p>
            <a:pPr marL="0" indent="0">
              <a:spcAft>
                <a:spcPts val="1000"/>
              </a:spcAft>
              <a:buNone/>
            </a:pPr>
            <a:r>
              <a:rPr sz="2800"/>
              <a:t>À droite, la classe : comment la promesse est tenue</a:t>
            </a:r>
          </a:p>
          <a:p>
            <a:pPr marL="0" indent="0">
              <a:spcAft>
                <a:spcPts val="1000"/>
              </a:spcAft>
              <a:buNone/>
            </a:pPr>
            <a:r>
              <a:rPr sz="2800"/>
              <a:t>Changer d'implémentation ne change qu'un mot</a:t>
            </a:r>
          </a:p>
        </p:txBody>
      </p:sp>
      <p:sp>
        <p:nvSpPr>
          <p:cNvPr id="4" name="Code"/>
          <p:cNvSpPr txBox="1"/>
          <p:nvPr/>
        </p:nvSpPr>
        <p:spPr>
          <a:xfrm>
            <a:off x="2800350" y="3307080"/>
            <a:ext cx="65913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List&lt;String&gt; titres = </a:t>
            </a:r>
            <a:r>
              <a:rPr sz="1800">
                <a:solidFill>
                  <a:srgbClr val="CF8E6D"/>
                </a:solidFill>
                <a:latin typeface="Consolas"/>
              </a:rPr>
              <a:t>new</a:t>
            </a:r>
            <a:r>
              <a:rPr sz="1800">
                <a:solidFill>
                  <a:srgbClr val="BCBEC4"/>
                </a:solidFill>
                <a:latin typeface="Consolas"/>
              </a:rPr>
              <a:t> ArrayList&lt;&gt;();</a:t>
            </a:r>
          </a:p>
          <a:p>
            <a:pPr>
              <a:lnSpc>
                <a:spcPct val="100000"/>
              </a:lnSpc>
              <a:spcBef>
                <a:spcPts val="0"/>
              </a:spcBef>
              <a:spcAft>
                <a:spcPts val="0"/>
              </a:spcAft>
            </a:pPr>
            <a:r>
              <a:rPr sz="1800">
                <a:solidFill>
                  <a:srgbClr val="BCBEC4"/>
                </a:solidFill>
                <a:latin typeface="Consolas"/>
              </a:rPr>
              <a:t>Set&lt;String&gt; auteurs = </a:t>
            </a:r>
            <a:r>
              <a:rPr sz="1800">
                <a:solidFill>
                  <a:srgbClr val="CF8E6D"/>
                </a:solidFill>
                <a:latin typeface="Consolas"/>
              </a:rPr>
              <a:t>new</a:t>
            </a:r>
            <a:r>
              <a:rPr sz="1800">
                <a:solidFill>
                  <a:srgbClr val="BCBEC4"/>
                </a:solidFill>
                <a:latin typeface="Consolas"/>
              </a:rPr>
              <a:t> HashSet&lt;&gt;();</a:t>
            </a:r>
          </a:p>
          <a:p>
            <a:pPr>
              <a:lnSpc>
                <a:spcPct val="100000"/>
              </a:lnSpc>
              <a:spcBef>
                <a:spcPts val="0"/>
              </a:spcBef>
              <a:spcAft>
                <a:spcPts val="0"/>
              </a:spcAft>
            </a:pPr>
            <a:r>
              <a:rPr sz="1800">
                <a:solidFill>
                  <a:srgbClr val="BCBEC4"/>
                </a:solidFill>
                <a:latin typeface="Consolas"/>
              </a:rPr>
              <a:t>Map&lt;String, Integer&gt; pages = </a:t>
            </a:r>
            <a:r>
              <a:rPr sz="1800">
                <a:solidFill>
                  <a:srgbClr val="CF8E6D"/>
                </a:solidFill>
                <a:latin typeface="Consolas"/>
              </a:rPr>
              <a:t>new</a:t>
            </a:r>
            <a:r>
              <a:rPr sz="1800">
                <a:solidFill>
                  <a:srgbClr val="BCBEC4"/>
                </a:solidFill>
                <a:latin typeface="Consolas"/>
              </a:rPr>
              <a:t> HashMap&lt;&gt;();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1. Une structure qui grandit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91886DB0-5364-89E7-9D54-C6F86EE79D15}"/>
              </a:ext>
            </a:extLst>
          </p:cNvPr>
          <p:cNvPicPr>
            <a:picLocks noChangeAspect="1"/>
          </p:cNvPicPr>
          <p:nvPr/>
        </p:nvPicPr>
        <p:blipFill>
          <a:blip r:embed="rId3"/>
          <a:stretch>
            <a:fillRect/>
          </a:stretch>
        </p:blipFill>
        <p:spPr>
          <a:xfrm>
            <a:off x="-3244" y="0"/>
            <a:ext cx="12198488" cy="6858000"/>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6800"/>
            <a:ext cx="9127440" cy="1105200"/>
          </a:xfrm>
          <a:prstGeom prst="rect">
            <a:avLst/>
          </a:prstGeom>
          <a:solidFill>
            <a:schemeClr val="accent5">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Une liste, des positions</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opérations d'une liste</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Une liste garde l'ordre d'ajout, et accepte les doublons</a:t>
            </a:r>
          </a:p>
          <a:p>
            <a:pPr marL="0" indent="0">
              <a:spcAft>
                <a:spcPts val="1000"/>
              </a:spcAft>
              <a:buNone/>
            </a:pPr>
            <a:r>
              <a:rPr sz="2800"/>
              <a:t>Chaque élément a une position, qui commence à 0</a:t>
            </a:r>
          </a:p>
        </p:txBody>
      </p:sp>
      <p:sp>
        <p:nvSpPr>
          <p:cNvPr id="4" name="Code"/>
          <p:cNvSpPr txBox="1"/>
          <p:nvPr/>
        </p:nvSpPr>
        <p:spPr>
          <a:xfrm>
            <a:off x="2171700" y="3180079"/>
            <a:ext cx="7848600" cy="2743200"/>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List&lt;String&gt; titres = </a:t>
            </a:r>
            <a:r>
              <a:rPr sz="1800">
                <a:solidFill>
                  <a:srgbClr val="CF8E6D"/>
                </a:solidFill>
                <a:latin typeface="Consolas"/>
              </a:rPr>
              <a:t>new</a:t>
            </a:r>
            <a:r>
              <a:rPr sz="1800">
                <a:solidFill>
                  <a:srgbClr val="BCBEC4"/>
                </a:solidFill>
                <a:latin typeface="Consolas"/>
              </a:rPr>
              <a:t> ArrayList&lt;&gt;();</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add</a:t>
            </a:r>
            <a:r>
              <a:rPr sz="1800">
                <a:solidFill>
                  <a:srgbClr val="BCBEC4"/>
                </a:solidFill>
                <a:latin typeface="Consolas"/>
              </a:rPr>
              <a:t>(</a:t>
            </a:r>
            <a:r>
              <a:rPr sz="1800">
                <a:solidFill>
                  <a:srgbClr val="6AAB73"/>
                </a:solidFill>
                <a:latin typeface="Consolas"/>
              </a:rPr>
              <a:t>"Germinal"</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add</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add</a:t>
            </a:r>
            <a:r>
              <a:rPr sz="1800">
                <a:solidFill>
                  <a:srgbClr val="BCBEC4"/>
                </a:solidFill>
                <a:latin typeface="Consolas"/>
              </a:rPr>
              <a:t>(</a:t>
            </a:r>
            <a:r>
              <a:rPr sz="1800">
                <a:solidFill>
                  <a:srgbClr val="2AACB8"/>
                </a:solidFill>
                <a:latin typeface="Consolas"/>
              </a:rPr>
              <a:t>0</a:t>
            </a:r>
            <a:r>
              <a:rPr sz="1800">
                <a:solidFill>
                  <a:srgbClr val="BCBEC4"/>
                </a:solidFill>
                <a:latin typeface="Consolas"/>
              </a:rPr>
              <a:t>, </a:t>
            </a:r>
            <a:r>
              <a:rPr sz="1800">
                <a:solidFill>
                  <a:srgbClr val="6AAB73"/>
                </a:solidFill>
                <a:latin typeface="Consolas"/>
              </a:rPr>
              <a:t>"Candide"</a:t>
            </a:r>
            <a:r>
              <a:rPr sz="1800">
                <a:solidFill>
                  <a:srgbClr val="BCBEC4"/>
                </a:solidFill>
                <a:latin typeface="Consolas"/>
              </a:rPr>
              <a:t>);          </a:t>
            </a:r>
            <a:r>
              <a:rPr sz="1800">
                <a:solidFill>
                  <a:srgbClr val="7A7E85"/>
                </a:solidFill>
                <a:latin typeface="Consolas"/>
              </a:rPr>
              <a:t>// insere en tete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size</a:t>
            </a:r>
            <a:r>
              <a:rPr sz="1800">
                <a:solidFill>
                  <a:srgbClr val="BCBEC4"/>
                </a:solidFill>
                <a:latin typeface="Consolas"/>
              </a:rPr>
              <a:t>();                     </a:t>
            </a:r>
            <a:r>
              <a:rPr sz="1800">
                <a:solidFill>
                  <a:srgbClr val="7A7E85"/>
                </a:solidFill>
                <a:latin typeface="Consolas"/>
              </a:rPr>
              <a:t>// 3</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get</a:t>
            </a:r>
            <a:r>
              <a:rPr sz="1800">
                <a:solidFill>
                  <a:srgbClr val="BCBEC4"/>
                </a:solidFill>
                <a:latin typeface="Consolas"/>
              </a:rPr>
              <a:t>(</a:t>
            </a:r>
            <a:r>
              <a:rPr sz="1800">
                <a:solidFill>
                  <a:srgbClr val="2AACB8"/>
                </a:solidFill>
                <a:latin typeface="Consolas"/>
              </a:rPr>
              <a:t>1</a:t>
            </a:r>
            <a:r>
              <a:rPr sz="1800">
                <a:solidFill>
                  <a:srgbClr val="BCBEC4"/>
                </a:solidFill>
                <a:latin typeface="Consolas"/>
              </a:rPr>
              <a:t>);                     </a:t>
            </a:r>
            <a:r>
              <a:rPr sz="1800">
                <a:solidFill>
                  <a:srgbClr val="7A7E85"/>
                </a:solidFill>
                <a:latin typeface="Consolas"/>
              </a:rPr>
              <a:t>// "Germinal"</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contains</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7A7E85"/>
                </a:solidFill>
                <a:latin typeface="Consolas"/>
              </a:rPr>
              <a:t>// true</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remove</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7A7E85"/>
                </a:solidFill>
                <a:latin typeface="Consolas"/>
              </a:rPr>
              <a:t>// retire l'element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2. Les listes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Parcourir une collection</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La boucle </a:t>
            </a:r>
            <a:r>
              <a:rPr sz="2400">
                <a:solidFill>
                  <a:schemeClr val="accent4"/>
                </a:solidFill>
                <a:latin typeface="Consolas"/>
              </a:rPr>
              <a:t>for</a:t>
            </a:r>
            <a:r>
              <a:rPr sz="2800"/>
              <a:t> des tableaux parcourt toute collection</a:t>
            </a:r>
          </a:p>
          <a:p>
            <a:pPr marL="0" indent="0">
              <a:spcAft>
                <a:spcPts val="1000"/>
              </a:spcAft>
              <a:buNone/>
            </a:pPr>
            <a:r>
              <a:rPr sz="2800"/>
              <a:t>Une collection s'affiche lisiblement, contrairement à un tableau</a:t>
            </a:r>
          </a:p>
        </p:txBody>
      </p:sp>
      <p:sp>
        <p:nvSpPr>
          <p:cNvPr id="4" name="Code"/>
          <p:cNvSpPr txBox="1"/>
          <p:nvPr/>
        </p:nvSpPr>
        <p:spPr>
          <a:xfrm>
            <a:off x="2101850" y="3180079"/>
            <a:ext cx="79883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(String titre : titres) {</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(titre);</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println</a:t>
            </a:r>
            <a:r>
              <a:rPr sz="1800">
                <a:solidFill>
                  <a:srgbClr val="BCBEC4"/>
                </a:solidFill>
                <a:latin typeface="Consolas"/>
              </a:rPr>
              <a:t>(titres);      </a:t>
            </a:r>
            <a:r>
              <a:rPr sz="1800">
                <a:solidFill>
                  <a:srgbClr val="7A7E85"/>
                </a:solidFill>
                <a:latin typeface="Consolas"/>
              </a:rPr>
              <a:t>// [Candide, Germinal]</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2. Les listes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a:solidFill>
                  <a:schemeClr val="accent4"/>
                </a:solidFill>
                <a:latin typeface="Consolas"/>
              </a:rPr>
              <a:t>ArrayList</a:t>
            </a:r>
            <a:r>
              <a:rPr sz="4000"/>
              <a:t> ou </a:t>
            </a:r>
            <a:r>
              <a:rPr sz="3600">
                <a:solidFill>
                  <a:schemeClr val="accent4"/>
                </a:solidFill>
                <a:latin typeface="Consolas"/>
              </a:rPr>
              <a:t>LinkedList</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Deux classes, la même interface </a:t>
            </a:r>
            <a:r>
              <a:rPr sz="2400">
                <a:solidFill>
                  <a:schemeClr val="accent4"/>
                </a:solidFill>
                <a:latin typeface="Consolas"/>
              </a:rPr>
              <a:t>List</a:t>
            </a:r>
          </a:p>
          <a:p>
            <a:pPr marL="0" indent="0">
              <a:spcAft>
                <a:spcPts val="1000"/>
              </a:spcAft>
              <a:buNone/>
            </a:pPr>
            <a:r>
              <a:rPr sz="2800"/>
              <a:t>La classe </a:t>
            </a:r>
            <a:r>
              <a:rPr sz="2400">
                <a:solidFill>
                  <a:schemeClr val="accent4"/>
                </a:solidFill>
                <a:latin typeface="Consolas"/>
              </a:rPr>
              <a:t>ArrayList</a:t>
            </a:r>
            <a:r>
              <a:rPr sz="2800"/>
              <a:t> est le choix par défaut</a:t>
            </a:r>
          </a:p>
          <a:p>
            <a:pPr marL="0" indent="0">
              <a:spcAft>
                <a:spcPts val="1000"/>
              </a:spcAft>
              <a:buNone/>
            </a:pPr>
            <a:r>
              <a:rPr sz="2800"/>
              <a:t>La classe </a:t>
            </a:r>
            <a:r>
              <a:rPr sz="2400">
                <a:solidFill>
                  <a:schemeClr val="accent4"/>
                </a:solidFill>
                <a:latin typeface="Consolas"/>
              </a:rPr>
              <a:t>LinkedList</a:t>
            </a:r>
            <a:r>
              <a:rPr sz="2800"/>
              <a:t> est aussi une file à deux bouts</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2. Les listes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a:solidFill>
                  <a:schemeClr val="accent4"/>
                </a:solidFill>
                <a:latin typeface="Consolas"/>
              </a:rPr>
              <a:t>Collection</a:t>
            </a:r>
            <a:r>
              <a:rPr sz="4000"/>
              <a:t> et </a:t>
            </a:r>
            <a:r>
              <a:rPr sz="3600">
                <a:solidFill>
                  <a:schemeClr val="accent4"/>
                </a:solidFill>
                <a:latin typeface="Consolas"/>
              </a:rPr>
              <a:t>Collections</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L'interface </a:t>
            </a:r>
            <a:r>
              <a:rPr sz="2400">
                <a:solidFill>
                  <a:schemeClr val="accent4"/>
                </a:solidFill>
                <a:latin typeface="Consolas"/>
              </a:rPr>
              <a:t>Collection</a:t>
            </a:r>
            <a:r>
              <a:rPr sz="2800"/>
              <a:t> : ce que toutes les collections savent faire</a:t>
            </a:r>
          </a:p>
          <a:p>
            <a:pPr marL="0" indent="0">
              <a:spcAft>
                <a:spcPts val="1000"/>
              </a:spcAft>
              <a:buNone/>
            </a:pPr>
            <a:r>
              <a:rPr sz="2800"/>
              <a:t>La classe </a:t>
            </a:r>
            <a:r>
              <a:rPr sz="2400">
                <a:solidFill>
                  <a:schemeClr val="accent4"/>
                </a:solidFill>
                <a:latin typeface="Consolas"/>
              </a:rPr>
              <a:t>Collections</a:t>
            </a:r>
            <a:r>
              <a:rPr sz="2800"/>
              <a:t> : des méthodes statiques qui travaillent dessus</a:t>
            </a:r>
          </a:p>
          <a:p>
            <a:pPr marL="0" indent="0">
              <a:spcAft>
                <a:spcPts val="1000"/>
              </a:spcAft>
              <a:buNone/>
            </a:pPr>
            <a:r>
              <a:rPr sz="2800"/>
              <a:t>Ces méthodes reçoivent souvent une </a:t>
            </a:r>
            <a:r>
              <a:rPr sz="2400">
                <a:solidFill>
                  <a:schemeClr val="accent4"/>
                </a:solidFill>
                <a:latin typeface="Consolas"/>
              </a:rPr>
              <a:t>List</a:t>
            </a:r>
          </a:p>
        </p:txBody>
      </p:sp>
      <p:sp>
        <p:nvSpPr>
          <p:cNvPr id="4" name="Code"/>
          <p:cNvSpPr txBox="1"/>
          <p:nvPr/>
        </p:nvSpPr>
        <p:spPr>
          <a:xfrm>
            <a:off x="1473200" y="4160520"/>
            <a:ext cx="92456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Collections.</a:t>
            </a:r>
            <a:r>
              <a:rPr sz="1800">
                <a:solidFill>
                  <a:srgbClr val="56A8F5"/>
                </a:solidFill>
                <a:latin typeface="Consolas"/>
              </a:rPr>
              <a:t>sort</a:t>
            </a:r>
            <a:r>
              <a:rPr sz="1800">
                <a:solidFill>
                  <a:srgbClr val="BCBEC4"/>
                </a:solidFill>
                <a:latin typeface="Consolas"/>
              </a:rPr>
              <a:t>(titres);             </a:t>
            </a:r>
            <a:r>
              <a:rPr sz="1800">
                <a:solidFill>
                  <a:srgbClr val="7A7E85"/>
                </a:solidFill>
                <a:latin typeface="Consolas"/>
              </a:rPr>
              <a:t>// trie la liste elle-meme</a:t>
            </a:r>
          </a:p>
          <a:p>
            <a:pPr>
              <a:lnSpc>
                <a:spcPct val="100000"/>
              </a:lnSpc>
              <a:spcBef>
                <a:spcPts val="0"/>
              </a:spcBef>
              <a:spcAft>
                <a:spcPts val="0"/>
              </a:spcAft>
            </a:pPr>
            <a:r>
              <a:rPr sz="1800">
                <a:solidFill>
                  <a:srgbClr val="BCBEC4"/>
                </a:solidFill>
                <a:latin typeface="Consolas"/>
              </a:rPr>
              <a:t>Collections.</a:t>
            </a:r>
            <a:r>
              <a:rPr sz="1800">
                <a:solidFill>
                  <a:srgbClr val="56A8F5"/>
                </a:solidFill>
                <a:latin typeface="Consolas"/>
              </a:rPr>
              <a:t>shuffle</a:t>
            </a:r>
            <a:r>
              <a:rPr sz="1800">
                <a:solidFill>
                  <a:srgbClr val="BCBEC4"/>
                </a:solidFill>
                <a:latin typeface="Consolas"/>
              </a:rPr>
              <a:t>(titres);          </a:t>
            </a:r>
            <a:r>
              <a:rPr sz="1800">
                <a:solidFill>
                  <a:srgbClr val="7A7E85"/>
                </a:solidFill>
                <a:latin typeface="Consolas"/>
              </a:rPr>
              <a:t>// la melange</a:t>
            </a:r>
          </a:p>
          <a:p>
            <a:pPr>
              <a:lnSpc>
                <a:spcPct val="100000"/>
              </a:lnSpc>
              <a:spcBef>
                <a:spcPts val="0"/>
              </a:spcBef>
              <a:spcAft>
                <a:spcPts val="0"/>
              </a:spcAft>
            </a:pPr>
            <a:r>
              <a:rPr sz="1800">
                <a:solidFill>
                  <a:srgbClr val="BCBEC4"/>
                </a:solidFill>
                <a:latin typeface="Consolas"/>
              </a:rPr>
              <a:t>String premier = Collections.</a:t>
            </a:r>
            <a:r>
              <a:rPr sz="1800">
                <a:solidFill>
                  <a:srgbClr val="56A8F5"/>
                </a:solidFill>
                <a:latin typeface="Consolas"/>
              </a:rPr>
              <a:t>min</a:t>
            </a:r>
            <a:r>
              <a:rPr sz="1800">
                <a:solidFill>
                  <a:srgbClr val="BCBEC4"/>
                </a:solidFill>
                <a:latin typeface="Consolas"/>
              </a:rPr>
              <a:t>(titres);</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fois = Collections.</a:t>
            </a:r>
            <a:r>
              <a:rPr sz="1800">
                <a:solidFill>
                  <a:srgbClr val="56A8F5"/>
                </a:solidFill>
                <a:latin typeface="Consolas"/>
              </a:rPr>
              <a:t>frequency</a:t>
            </a:r>
            <a:r>
              <a:rPr sz="1800">
                <a:solidFill>
                  <a:srgbClr val="BCBEC4"/>
                </a:solidFill>
                <a:latin typeface="Consolas"/>
              </a:rPr>
              <a:t>(titres, </a:t>
            </a:r>
            <a:r>
              <a:rPr sz="1800">
                <a:solidFill>
                  <a:srgbClr val="6AAB73"/>
                </a:solidFill>
                <a:latin typeface="Consolas"/>
              </a:rPr>
              <a:t>"Nana"</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2. Les listes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Nommer ses bornes</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 nombre écrit en clair ne dit pas d'où il vient</a:t>
            </a:r>
          </a:p>
          <a:p>
            <a:pPr marL="0" indent="0">
              <a:spcAft>
                <a:spcPts val="1000"/>
              </a:spcAft>
              <a:buNone/>
            </a:pPr>
            <a:r>
              <a:rPr sz="2800"/>
              <a:t>Une constante nommée sert au calcul et au message</a:t>
            </a:r>
          </a:p>
          <a:p>
            <a:pPr marL="0" indent="0">
              <a:spcAft>
                <a:spcPts val="1000"/>
              </a:spcAft>
              <a:buNone/>
            </a:pPr>
            <a:r>
              <a:rPr sz="2800"/>
              <a:t>Le message ne peut plus mentir : CC-NOM.7</a:t>
            </a:r>
          </a:p>
        </p:txBody>
      </p:sp>
      <p:sp>
        <p:nvSpPr>
          <p:cNvPr id="4" name="Code"/>
          <p:cNvSpPr txBox="1"/>
          <p:nvPr/>
        </p:nvSpPr>
        <p:spPr>
          <a:xfrm>
            <a:off x="1473200" y="3307080"/>
            <a:ext cx="92456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MINIMUM = </a:t>
            </a:r>
            <a:r>
              <a:rPr sz="1800">
                <a:solidFill>
                  <a:srgbClr val="2AACB8"/>
                </a:solidFill>
                <a:latin typeface="Consolas"/>
              </a:rPr>
              <a:t>0</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MAXIMUM = </a:t>
            </a:r>
            <a:r>
              <a:rPr sz="1800">
                <a:solidFill>
                  <a:srgbClr val="2AACB8"/>
                </a:solidFill>
                <a:latin typeface="Consolas"/>
              </a:rPr>
              <a:t>1000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printf</a:t>
            </a:r>
            <a:r>
              <a:rPr sz="1800">
                <a:solidFill>
                  <a:srgbClr val="BCBEC4"/>
                </a:solidFill>
                <a:latin typeface="Consolas"/>
              </a:rPr>
              <a:t>(</a:t>
            </a:r>
            <a:r>
              <a:rPr sz="1800">
                <a:solidFill>
                  <a:srgbClr val="6AAB73"/>
                </a:solidFill>
                <a:latin typeface="Consolas"/>
              </a:rPr>
              <a:t>"Nombres entre %d et %d%n"</a:t>
            </a:r>
            <a:r>
              <a:rPr sz="1800">
                <a:solidFill>
                  <a:srgbClr val="BCBEC4"/>
                </a:solidFill>
                <a:latin typeface="Consolas"/>
              </a:rPr>
              <a:t>, MINIMUM, MAXIMUM);</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tire = MINIMUM + hasard.</a:t>
            </a:r>
            <a:r>
              <a:rPr sz="1800">
                <a:solidFill>
                  <a:srgbClr val="56A8F5"/>
                </a:solidFill>
                <a:latin typeface="Consolas"/>
              </a:rPr>
              <a:t>nextInt</a:t>
            </a:r>
            <a:r>
              <a:rPr sz="1800">
                <a:solidFill>
                  <a:srgbClr val="BCBEC4"/>
                </a:solidFill>
                <a:latin typeface="Consolas"/>
              </a:rPr>
              <a:t>(MAXIMUM - MINIMUM + </a:t>
            </a:r>
            <a:r>
              <a:rPr sz="1800">
                <a:solidFill>
                  <a:srgbClr val="2AACB8"/>
                </a:solidFill>
                <a:latin typeface="Consolas"/>
              </a:rPr>
              <a:t>1</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2. Les listes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10" name="Picture 9" descr="image.png"/>
          <p:cNvPicPr>
            <a:picLocks noChangeAspect="1"/>
          </p:cNvPicPr>
          <p:nvPr/>
        </p:nvPicPr>
        <p:blipFill>
          <a:blip r:embed="rId3"/>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1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2. Les listes</a:t>
            </a:r>
          </a:p>
        </p:txBody>
      </p:sp>
      <p:grpSp>
        <p:nvGrpSpPr>
          <p:cNvPr id="13" name="Exercice 1"/>
          <p:cNvGrpSpPr/>
          <p:nvPr/>
        </p:nvGrpSpPr>
        <p:grpSpPr>
          <a:xfrm>
            <a:off x="640080" y="1417320"/>
            <a:ext cx="9326880" cy="960120"/>
            <a:chOff x="640080" y="1417320"/>
            <a:chExt cx="9326880" cy="960120"/>
          </a:xfrm>
        </p:grpSpPr>
        <p:sp>
          <p:nvSpPr>
            <p:cNvPr id="12"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COL.1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Deux façons d'être trié</a:t>
              </a:r>
            </a:p>
            <a:p>
              <a:r>
                <a:rPr sz="1400">
                  <a:solidFill>
                    <a:srgbClr val="BCBEC4"/>
                  </a:solidFill>
                </a:rPr>
                <a:t>fascicule COL</a:t>
              </a:r>
            </a:p>
          </p:txBody>
        </p:sp>
      </p:grpSp>
      <p:grpSp>
        <p:nvGrpSpPr>
          <p:cNvPr id="14" name="Exercice 2"/>
          <p:cNvGrpSpPr/>
          <p:nvPr/>
        </p:nvGrpSpPr>
        <p:grpSpPr>
          <a:xfrm>
            <a:off x="640080" y="2560320"/>
            <a:ext cx="9326880" cy="2057399"/>
            <a:chOff x="640080" y="2560320"/>
            <a:chExt cx="9326880" cy="2057399"/>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COL.3</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Lire des noms et les trier</a:t>
              </a:r>
            </a:p>
            <a:p>
              <a:r>
                <a:rPr sz="1400">
                  <a:solidFill>
                    <a:srgbClr val="BCBEC4"/>
                  </a:solidFill>
                </a:rPr>
                <a:t>fascicule COL</a:t>
              </a:r>
            </a:p>
          </p:txBody>
        </p:sp>
        <p:sp>
          <p:nvSpPr>
            <p:cNvPr id="9" name="TextBox 8"/>
            <p:cNvSpPr txBox="1"/>
            <p:nvPr/>
          </p:nvSpPr>
          <p:spPr>
            <a:xfrm>
              <a:off x="640080" y="3794759"/>
              <a:ext cx="9326880" cy="822960"/>
            </a:xfrm>
            <a:prstGeom prst="rect">
              <a:avLst/>
            </a:prstGeom>
            <a:noFill/>
          </p:spPr>
          <p:txBody>
            <a:bodyPr wrap="square">
              <a:spAutoFit/>
            </a:bodyPr>
            <a:lstStyle/>
            <a:p>
              <a:r>
                <a:rPr sz="2400"/>
                <a:t>Nommer : CC-NOM.7</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0E566453-F487-8BFE-C70F-0C69411EBB50}"/>
              </a:ext>
            </a:extLst>
          </p:cNvPr>
          <p:cNvPicPr>
            <a:picLocks noChangeAspect="1"/>
          </p:cNvPicPr>
          <p:nvPr/>
        </p:nvPicPr>
        <p:blipFill>
          <a:blip r:embed="rId3"/>
          <a:stretch>
            <a:fillRect/>
          </a:stretch>
        </p:blipFill>
        <p:spPr>
          <a:xfrm>
            <a:off x="0" y="1824"/>
            <a:ext cx="12192000" cy="6854352"/>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6800"/>
            <a:ext cx="11054737" cy="1105200"/>
          </a:xfrm>
          <a:prstGeom prst="rect">
            <a:avLst/>
          </a:prstGeom>
          <a:solidFill>
            <a:schemeClr val="accent5">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Un ensemble, sans doublons</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qu'un ensemble refuse</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Un ensemble ne garde qu'un exemplaire de chaque valeur</a:t>
            </a:r>
          </a:p>
          <a:p>
            <a:pPr marL="0" indent="0">
              <a:spcAft>
                <a:spcPts val="1000"/>
              </a:spcAft>
              <a:buNone/>
            </a:pPr>
            <a:r>
              <a:rPr sz="2800"/>
              <a:t>La méthode </a:t>
            </a:r>
            <a:r>
              <a:rPr sz="2400">
                <a:solidFill>
                  <a:schemeClr val="accent4"/>
                </a:solidFill>
                <a:latin typeface="Consolas"/>
              </a:rPr>
              <a:t>add</a:t>
            </a:r>
            <a:r>
              <a:rPr sz="2800"/>
              <a:t> retourne </a:t>
            </a:r>
            <a:r>
              <a:rPr sz="2400">
                <a:solidFill>
                  <a:schemeClr val="accent4"/>
                </a:solidFill>
                <a:latin typeface="Consolas"/>
              </a:rPr>
              <a:t>false</a:t>
            </a:r>
            <a:r>
              <a:rPr sz="2800"/>
              <a:t> si la valeur y est déjà</a:t>
            </a:r>
          </a:p>
          <a:p>
            <a:pPr marL="0" indent="0">
              <a:spcAft>
                <a:spcPts val="1000"/>
              </a:spcAft>
              <a:buNone/>
            </a:pPr>
            <a:r>
              <a:rPr sz="2800"/>
              <a:t>Pas de position : ni </a:t>
            </a:r>
            <a:r>
              <a:rPr sz="2400">
                <a:solidFill>
                  <a:schemeClr val="accent4"/>
                </a:solidFill>
                <a:latin typeface="Consolas"/>
              </a:rPr>
              <a:t>get(i)</a:t>
            </a:r>
            <a:r>
              <a:rPr sz="2800"/>
              <a:t>, ni </a:t>
            </a:r>
            <a:r>
              <a:rPr sz="2400">
                <a:solidFill>
                  <a:schemeClr val="accent4"/>
                </a:solidFill>
                <a:latin typeface="Consolas"/>
              </a:rPr>
              <a:t>add(i, x)</a:t>
            </a:r>
          </a:p>
        </p:txBody>
      </p:sp>
      <p:sp>
        <p:nvSpPr>
          <p:cNvPr id="4" name="Code"/>
          <p:cNvSpPr txBox="1"/>
          <p:nvPr/>
        </p:nvSpPr>
        <p:spPr>
          <a:xfrm>
            <a:off x="2032000" y="3733799"/>
            <a:ext cx="81280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Set&lt;String&gt; auteurs = </a:t>
            </a:r>
            <a:r>
              <a:rPr sz="1800">
                <a:solidFill>
                  <a:srgbClr val="CF8E6D"/>
                </a:solidFill>
                <a:latin typeface="Consolas"/>
              </a:rPr>
              <a:t>new</a:t>
            </a:r>
            <a:r>
              <a:rPr sz="1800">
                <a:solidFill>
                  <a:srgbClr val="BCBEC4"/>
                </a:solidFill>
                <a:latin typeface="Consolas"/>
              </a:rPr>
              <a:t> HashSet&lt;&gt;();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auteurs.</a:t>
            </a:r>
            <a:r>
              <a:rPr sz="1800">
                <a:solidFill>
                  <a:srgbClr val="56A8F5"/>
                </a:solidFill>
                <a:latin typeface="Consolas"/>
              </a:rPr>
              <a:t>add</a:t>
            </a:r>
            <a:r>
              <a:rPr sz="1800">
                <a:solidFill>
                  <a:srgbClr val="BCBEC4"/>
                </a:solidFill>
                <a:latin typeface="Consolas"/>
              </a:rPr>
              <a:t>(</a:t>
            </a:r>
            <a:r>
              <a:rPr sz="1800">
                <a:solidFill>
                  <a:srgbClr val="6AAB73"/>
                </a:solidFill>
                <a:latin typeface="Consolas"/>
              </a:rPr>
              <a:t>"Zola"</a:t>
            </a:r>
            <a:r>
              <a:rPr sz="1800">
                <a:solidFill>
                  <a:srgbClr val="BCBEC4"/>
                </a:solidFill>
                <a:latin typeface="Consolas"/>
              </a:rPr>
              <a:t>);             </a:t>
            </a:r>
            <a:r>
              <a:rPr sz="1800">
                <a:solidFill>
                  <a:srgbClr val="7A7E85"/>
                </a:solidFill>
                <a:latin typeface="Consolas"/>
              </a:rPr>
              <a:t>// true</a:t>
            </a:r>
          </a:p>
          <a:p>
            <a:pPr>
              <a:lnSpc>
                <a:spcPct val="100000"/>
              </a:lnSpc>
              <a:spcBef>
                <a:spcPts val="0"/>
              </a:spcBef>
              <a:spcAft>
                <a:spcPts val="0"/>
              </a:spcAft>
            </a:pPr>
            <a:r>
              <a:rPr sz="1800">
                <a:solidFill>
                  <a:srgbClr val="BCBEC4"/>
                </a:solidFill>
                <a:latin typeface="Consolas"/>
              </a:rPr>
              <a:t>auteurs.</a:t>
            </a:r>
            <a:r>
              <a:rPr sz="1800">
                <a:solidFill>
                  <a:srgbClr val="56A8F5"/>
                </a:solidFill>
                <a:latin typeface="Consolas"/>
              </a:rPr>
              <a:t>add</a:t>
            </a:r>
            <a:r>
              <a:rPr sz="1800">
                <a:solidFill>
                  <a:srgbClr val="BCBEC4"/>
                </a:solidFill>
                <a:latin typeface="Consolas"/>
              </a:rPr>
              <a:t>(</a:t>
            </a:r>
            <a:r>
              <a:rPr sz="1800">
                <a:solidFill>
                  <a:srgbClr val="6AAB73"/>
                </a:solidFill>
                <a:latin typeface="Consolas"/>
              </a:rPr>
              <a:t>"Zola"</a:t>
            </a:r>
            <a:r>
              <a:rPr sz="1800">
                <a:solidFill>
                  <a:srgbClr val="BCBEC4"/>
                </a:solidFill>
                <a:latin typeface="Consolas"/>
              </a:rPr>
              <a:t>);             </a:t>
            </a:r>
            <a:r>
              <a:rPr sz="1800">
                <a:solidFill>
                  <a:srgbClr val="7A7E85"/>
                </a:solidFill>
                <a:latin typeface="Consolas"/>
              </a:rPr>
              <a:t>// false : deja present</a:t>
            </a:r>
          </a:p>
          <a:p>
            <a:pPr>
              <a:lnSpc>
                <a:spcPct val="100000"/>
              </a:lnSpc>
              <a:spcBef>
                <a:spcPts val="0"/>
              </a:spcBef>
              <a:spcAft>
                <a:spcPts val="0"/>
              </a:spcAft>
            </a:pPr>
            <a:r>
              <a:rPr sz="1800">
                <a:solidFill>
                  <a:srgbClr val="BCBEC4"/>
                </a:solidFill>
                <a:latin typeface="Consolas"/>
              </a:rPr>
              <a:t>auteurs.</a:t>
            </a:r>
            <a:r>
              <a:rPr sz="1800">
                <a:solidFill>
                  <a:srgbClr val="56A8F5"/>
                </a:solidFill>
                <a:latin typeface="Consolas"/>
              </a:rPr>
              <a:t>size</a:t>
            </a:r>
            <a:r>
              <a:rPr sz="1800">
                <a:solidFill>
                  <a:srgbClr val="BCBEC4"/>
                </a:solidFill>
                <a:latin typeface="Consolas"/>
              </a:rPr>
              <a:t>();                  </a:t>
            </a:r>
            <a:r>
              <a:rPr sz="1800">
                <a:solidFill>
                  <a:srgbClr val="7A7E85"/>
                </a:solidFill>
                <a:latin typeface="Consolas"/>
              </a:rPr>
              <a:t>// 1</a:t>
            </a:r>
          </a:p>
          <a:p>
            <a:pPr>
              <a:lnSpc>
                <a:spcPct val="100000"/>
              </a:lnSpc>
              <a:spcBef>
                <a:spcPts val="0"/>
              </a:spcBef>
              <a:spcAft>
                <a:spcPts val="0"/>
              </a:spcAft>
            </a:pPr>
            <a:r>
              <a:rPr sz="1800">
                <a:solidFill>
                  <a:srgbClr val="BCBEC4"/>
                </a:solidFill>
                <a:latin typeface="Consolas"/>
              </a:rPr>
              <a:t>auteurs.</a:t>
            </a:r>
            <a:r>
              <a:rPr sz="1800">
                <a:solidFill>
                  <a:srgbClr val="56A8F5"/>
                </a:solidFill>
                <a:latin typeface="Consolas"/>
              </a:rPr>
              <a:t>contains</a:t>
            </a:r>
            <a:r>
              <a:rPr sz="1800">
                <a:solidFill>
                  <a:srgbClr val="BCBEC4"/>
                </a:solidFill>
                <a:latin typeface="Consolas"/>
              </a:rPr>
              <a:t>(</a:t>
            </a:r>
            <a:r>
              <a:rPr sz="1800">
                <a:solidFill>
                  <a:srgbClr val="6AAB73"/>
                </a:solidFill>
                <a:latin typeface="Consolas"/>
              </a:rPr>
              <a:t>"Zola"</a:t>
            </a:r>
            <a:r>
              <a:rPr sz="1800">
                <a:solidFill>
                  <a:srgbClr val="BCBEC4"/>
                </a:solidFill>
                <a:latin typeface="Consolas"/>
              </a:rPr>
              <a:t>);        </a:t>
            </a:r>
            <a:r>
              <a:rPr sz="1800">
                <a:solidFill>
                  <a:srgbClr val="7A7E85"/>
                </a:solidFill>
                <a:latin typeface="Consolas"/>
              </a:rPr>
              <a:t>// true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3. Les ensembles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Qui décide que deux éléments sont égaux</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L'ensemble interroge </a:t>
            </a:r>
            <a:r>
              <a:rPr sz="2400">
                <a:solidFill>
                  <a:schemeClr val="accent4"/>
                </a:solidFill>
                <a:latin typeface="Consolas"/>
              </a:rPr>
              <a:t>equals</a:t>
            </a:r>
            <a:r>
              <a:rPr sz="2800"/>
              <a:t> et </a:t>
            </a:r>
            <a:r>
              <a:rPr sz="2400">
                <a:solidFill>
                  <a:schemeClr val="accent4"/>
                </a:solidFill>
                <a:latin typeface="Consolas"/>
              </a:rPr>
              <a:t>hashCode</a:t>
            </a:r>
          </a:p>
          <a:p>
            <a:pPr marL="0" indent="0">
              <a:spcAft>
                <a:spcPts val="1000"/>
              </a:spcAft>
              <a:buNone/>
            </a:pPr>
            <a:r>
              <a:rPr sz="2800"/>
              <a:t>Un record les écrit pour vous</a:t>
            </a:r>
          </a:p>
          <a:p>
            <a:pPr marL="0" indent="0">
              <a:spcAft>
                <a:spcPts val="1000"/>
              </a:spcAft>
              <a:buNone/>
            </a:pPr>
            <a:r>
              <a:rPr sz="2800"/>
              <a:t>Une classe ordinaire compare des références</a:t>
            </a:r>
          </a:p>
        </p:txBody>
      </p:sp>
      <p:sp>
        <p:nvSpPr>
          <p:cNvPr id="4" name="Code"/>
          <p:cNvSpPr txBox="1"/>
          <p:nvPr/>
        </p:nvSpPr>
        <p:spPr>
          <a:xfrm>
            <a:off x="2660650" y="3307080"/>
            <a:ext cx="68707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record</a:t>
            </a:r>
            <a:r>
              <a:rPr sz="1800">
                <a:solidFill>
                  <a:srgbClr val="BCBEC4"/>
                </a:solidFill>
                <a:latin typeface="Consolas"/>
              </a:rPr>
              <a:t> </a:t>
            </a:r>
            <a:r>
              <a:rPr sz="1800">
                <a:solidFill>
                  <a:srgbClr val="56A8F5"/>
                </a:solidFill>
                <a:latin typeface="Consolas"/>
              </a:rPr>
              <a:t>Exemplaire</a:t>
            </a:r>
            <a:r>
              <a:rPr sz="1800">
                <a:solidFill>
                  <a:srgbClr val="BCBEC4"/>
                </a:solidFill>
                <a:latin typeface="Consolas"/>
              </a:rPr>
              <a:t>(String titre, </a:t>
            </a:r>
            <a:r>
              <a:rPr sz="1800">
                <a:solidFill>
                  <a:srgbClr val="CF8E6D"/>
                </a:solidFill>
                <a:latin typeface="Consolas"/>
              </a:rPr>
              <a:t>int</a:t>
            </a:r>
            <a:r>
              <a:rPr sz="1800">
                <a:solidFill>
                  <a:srgbClr val="BCBEC4"/>
                </a:solidFill>
                <a:latin typeface="Consolas"/>
              </a:rPr>
              <a:t> numero) {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Set&lt;Exemplaire&gt; rayon = </a:t>
            </a:r>
            <a:r>
              <a:rPr sz="1800">
                <a:solidFill>
                  <a:srgbClr val="CF8E6D"/>
                </a:solidFill>
                <a:latin typeface="Consolas"/>
              </a:rPr>
              <a:t>new</a:t>
            </a:r>
            <a:r>
              <a:rPr sz="1800">
                <a:solidFill>
                  <a:srgbClr val="BCBEC4"/>
                </a:solidFill>
                <a:latin typeface="Consolas"/>
              </a:rPr>
              <a:t> HashSet&lt;&gt;();</a:t>
            </a:r>
          </a:p>
          <a:p>
            <a:pPr>
              <a:lnSpc>
                <a:spcPct val="100000"/>
              </a:lnSpc>
              <a:spcBef>
                <a:spcPts val="0"/>
              </a:spcBef>
              <a:spcAft>
                <a:spcPts val="0"/>
              </a:spcAft>
            </a:pPr>
            <a:r>
              <a:rPr sz="1800">
                <a:solidFill>
                  <a:srgbClr val="BCBEC4"/>
                </a:solidFill>
                <a:latin typeface="Consolas"/>
              </a:rPr>
              <a:t>rayon.</a:t>
            </a:r>
            <a:r>
              <a:rPr sz="1800">
                <a:solidFill>
                  <a:srgbClr val="56A8F5"/>
                </a:solidFill>
                <a:latin typeface="Consolas"/>
              </a:rPr>
              <a:t>add</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Exemplaire</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2AACB8"/>
                </a:solidFill>
                <a:latin typeface="Consolas"/>
              </a:rPr>
              <a:t>1</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rayon.</a:t>
            </a:r>
            <a:r>
              <a:rPr sz="1800">
                <a:solidFill>
                  <a:srgbClr val="56A8F5"/>
                </a:solidFill>
                <a:latin typeface="Consolas"/>
              </a:rPr>
              <a:t>add</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Exemplaire</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2AACB8"/>
                </a:solidFill>
                <a:latin typeface="Consolas"/>
              </a:rPr>
              <a:t>1</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rayon.</a:t>
            </a:r>
            <a:r>
              <a:rPr sz="1800">
                <a:solidFill>
                  <a:srgbClr val="56A8F5"/>
                </a:solidFill>
                <a:latin typeface="Consolas"/>
              </a:rPr>
              <a:t>size</a:t>
            </a:r>
            <a:r>
              <a:rPr sz="1800">
                <a:solidFill>
                  <a:srgbClr val="BCBEC4"/>
                </a:solidFill>
                <a:latin typeface="Consolas"/>
              </a:rPr>
              <a:t>();                    </a:t>
            </a:r>
            <a:r>
              <a:rPr sz="1800">
                <a:solidFill>
                  <a:srgbClr val="7A7E85"/>
                </a:solidFill>
                <a:latin typeface="Consolas"/>
              </a:rPr>
              <a:t>// 1</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3. Les ensembles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Hash ou Tree</a:t>
            </a:r>
          </a:p>
        </p:txBody>
      </p:sp>
      <p:sp>
        <p:nvSpPr>
          <p:cNvPr id="3" name="TextBox 2"/>
          <p:cNvSpPr txBox="1"/>
          <p:nvPr/>
        </p:nvSpPr>
        <p:spPr>
          <a:xfrm>
            <a:off x="777240" y="1371600"/>
            <a:ext cx="3023061" cy="585216"/>
          </a:xfrm>
          <a:prstGeom prst="rect">
            <a:avLst/>
          </a:prstGeom>
          <a:noFill/>
        </p:spPr>
        <p:txBody>
          <a:bodyPr wrap="square" anchor="ctr">
            <a:spAutoFit/>
          </a:bodyPr>
          <a:lstStyle/>
          <a:p>
            <a:endParaRPr/>
          </a:p>
        </p:txBody>
      </p:sp>
      <p:sp>
        <p:nvSpPr>
          <p:cNvPr id="4" name="TextBox 3"/>
          <p:cNvSpPr txBox="1"/>
          <p:nvPr/>
        </p:nvSpPr>
        <p:spPr>
          <a:xfrm>
            <a:off x="4074621" y="1371600"/>
            <a:ext cx="4012276" cy="585216"/>
          </a:xfrm>
          <a:prstGeom prst="rect">
            <a:avLst/>
          </a:prstGeom>
          <a:noFill/>
        </p:spPr>
        <p:txBody>
          <a:bodyPr wrap="square" anchor="ctr">
            <a:spAutoFit/>
          </a:bodyPr>
          <a:lstStyle/>
          <a:p>
            <a:r>
              <a:rPr sz="1700" b="1">
                <a:solidFill>
                  <a:schemeClr val="accent4"/>
                </a:solidFill>
                <a:latin typeface="Consolas"/>
              </a:rPr>
              <a:t>HashSet</a:t>
            </a:r>
            <a:r>
              <a:rPr sz="2000" b="1">
                <a:solidFill>
                  <a:schemeClr val="accent4"/>
                </a:solidFill>
              </a:rPr>
              <a:t>, </a:t>
            </a:r>
            <a:r>
              <a:rPr sz="1700" b="1">
                <a:solidFill>
                  <a:schemeClr val="accent4"/>
                </a:solidFill>
                <a:latin typeface="Consolas"/>
              </a:rPr>
              <a:t>HashMap</a:t>
            </a:r>
          </a:p>
        </p:txBody>
      </p:sp>
      <p:sp>
        <p:nvSpPr>
          <p:cNvPr id="5" name="TextBox 4"/>
          <p:cNvSpPr txBox="1"/>
          <p:nvPr/>
        </p:nvSpPr>
        <p:spPr>
          <a:xfrm>
            <a:off x="8361218" y="1371600"/>
            <a:ext cx="3023061" cy="585216"/>
          </a:xfrm>
          <a:prstGeom prst="rect">
            <a:avLst/>
          </a:prstGeom>
          <a:noFill/>
        </p:spPr>
        <p:txBody>
          <a:bodyPr wrap="square" anchor="ctr">
            <a:spAutoFit/>
          </a:bodyPr>
          <a:lstStyle/>
          <a:p>
            <a:r>
              <a:rPr sz="1700" b="1">
                <a:solidFill>
                  <a:schemeClr val="accent4"/>
                </a:solidFill>
                <a:latin typeface="Consolas"/>
              </a:rPr>
              <a:t>TreeSet</a:t>
            </a:r>
            <a:r>
              <a:rPr sz="2000" b="1">
                <a:solidFill>
                  <a:schemeClr val="accent4"/>
                </a:solidFill>
              </a:rPr>
              <a:t>, </a:t>
            </a:r>
            <a:r>
              <a:rPr sz="1700" b="1">
                <a:solidFill>
                  <a:schemeClr val="accent4"/>
                </a:solidFill>
                <a:latin typeface="Consolas"/>
              </a:rPr>
              <a:t>TreeMap</a:t>
            </a:r>
          </a:p>
        </p:txBody>
      </p:sp>
      <p:sp>
        <p:nvSpPr>
          <p:cNvPr id="1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3. Les ensembles</a:t>
            </a:r>
          </a:p>
        </p:txBody>
      </p:sp>
      <p:grpSp>
        <p:nvGrpSpPr>
          <p:cNvPr id="20" name="Ligne 1"/>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3023061" cy="585216"/>
            </a:xfrm>
            <a:prstGeom prst="rect">
              <a:avLst/>
            </a:prstGeom>
            <a:noFill/>
          </p:spPr>
          <p:txBody>
            <a:bodyPr wrap="square" anchor="ctr">
              <a:spAutoFit/>
            </a:bodyPr>
            <a:lstStyle/>
            <a:p>
              <a:r>
                <a:rPr sz="2200">
                  <a:solidFill>
                    <a:srgbClr val="FFFFFF"/>
                  </a:solidFill>
                </a:rPr>
                <a:t>Ordre de parcours</a:t>
              </a:r>
            </a:p>
          </p:txBody>
        </p:sp>
        <p:sp>
          <p:nvSpPr>
            <p:cNvPr id="8" name="TextBox 7"/>
            <p:cNvSpPr txBox="1"/>
            <p:nvPr/>
          </p:nvSpPr>
          <p:spPr>
            <a:xfrm>
              <a:off x="4074621" y="2029967"/>
              <a:ext cx="4012276" cy="585216"/>
            </a:xfrm>
            <a:prstGeom prst="rect">
              <a:avLst/>
            </a:prstGeom>
            <a:noFill/>
          </p:spPr>
          <p:txBody>
            <a:bodyPr wrap="square" anchor="ctr">
              <a:spAutoFit/>
            </a:bodyPr>
            <a:lstStyle/>
            <a:p>
              <a:r>
                <a:rPr sz="2200">
                  <a:solidFill>
                    <a:srgbClr val="FFFFFF"/>
                  </a:solidFill>
                </a:rPr>
                <a:t>aucun ordre garanti</a:t>
              </a:r>
            </a:p>
          </p:txBody>
        </p:sp>
        <p:sp>
          <p:nvSpPr>
            <p:cNvPr id="9" name="TextBox 8"/>
            <p:cNvSpPr txBox="1"/>
            <p:nvPr/>
          </p:nvSpPr>
          <p:spPr>
            <a:xfrm>
              <a:off x="8361218" y="2029967"/>
              <a:ext cx="3023061" cy="585216"/>
            </a:xfrm>
            <a:prstGeom prst="rect">
              <a:avLst/>
            </a:prstGeom>
            <a:noFill/>
          </p:spPr>
          <p:txBody>
            <a:bodyPr wrap="square" anchor="ctr">
              <a:spAutoFit/>
            </a:bodyPr>
            <a:lstStyle/>
            <a:p>
              <a:r>
                <a:rPr sz="2200">
                  <a:solidFill>
                    <a:srgbClr val="FFFFFF"/>
                  </a:solidFill>
                </a:rPr>
                <a:t>trié en permanence</a:t>
              </a:r>
            </a:p>
          </p:txBody>
        </p:sp>
      </p:grpSp>
      <p:grpSp>
        <p:nvGrpSpPr>
          <p:cNvPr id="21" name="Ligne 2"/>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3023061" cy="585216"/>
            </a:xfrm>
            <a:prstGeom prst="rect">
              <a:avLst/>
            </a:prstGeom>
            <a:noFill/>
          </p:spPr>
          <p:txBody>
            <a:bodyPr wrap="square" anchor="ctr">
              <a:spAutoFit/>
            </a:bodyPr>
            <a:lstStyle/>
            <a:p>
              <a:r>
                <a:rPr sz="2200">
                  <a:solidFill>
                    <a:srgbClr val="FFFFFF"/>
                  </a:solidFill>
                </a:rPr>
                <a:t>Les éléments doivent</a:t>
              </a:r>
            </a:p>
          </p:txBody>
        </p:sp>
        <p:sp>
          <p:nvSpPr>
            <p:cNvPr id="12" name="TextBox 11"/>
            <p:cNvSpPr txBox="1"/>
            <p:nvPr/>
          </p:nvSpPr>
          <p:spPr>
            <a:xfrm>
              <a:off x="4074621" y="2688335"/>
              <a:ext cx="4012276" cy="585216"/>
            </a:xfrm>
            <a:prstGeom prst="rect">
              <a:avLst/>
            </a:prstGeom>
            <a:noFill/>
          </p:spPr>
          <p:txBody>
            <a:bodyPr wrap="square" anchor="ctr">
              <a:spAutoFit/>
            </a:bodyPr>
            <a:lstStyle/>
            <a:p>
              <a:r>
                <a:rPr sz="2200">
                  <a:solidFill>
                    <a:srgbClr val="FFFFFF"/>
                  </a:solidFill>
                </a:rPr>
                <a:t>définir </a:t>
              </a:r>
              <a:r>
                <a:rPr sz="1900">
                  <a:solidFill>
                    <a:schemeClr val="accent4"/>
                  </a:solidFill>
                  <a:latin typeface="Consolas"/>
                </a:rPr>
                <a:t>equals</a:t>
              </a:r>
              <a:r>
                <a:rPr sz="2200">
                  <a:solidFill>
                    <a:srgbClr val="FFFFFF"/>
                  </a:solidFill>
                </a:rPr>
                <a:t> et </a:t>
              </a:r>
              <a:r>
                <a:rPr sz="1900">
                  <a:solidFill>
                    <a:schemeClr val="accent4"/>
                  </a:solidFill>
                  <a:latin typeface="Consolas"/>
                </a:rPr>
                <a:t>hashCode</a:t>
              </a:r>
            </a:p>
          </p:txBody>
        </p:sp>
        <p:sp>
          <p:nvSpPr>
            <p:cNvPr id="13" name="TextBox 12"/>
            <p:cNvSpPr txBox="1"/>
            <p:nvPr/>
          </p:nvSpPr>
          <p:spPr>
            <a:xfrm>
              <a:off x="8361218" y="2688335"/>
              <a:ext cx="3023061" cy="585216"/>
            </a:xfrm>
            <a:prstGeom prst="rect">
              <a:avLst/>
            </a:prstGeom>
            <a:noFill/>
          </p:spPr>
          <p:txBody>
            <a:bodyPr wrap="square" anchor="ctr">
              <a:spAutoFit/>
            </a:bodyPr>
            <a:lstStyle/>
            <a:p>
              <a:r>
                <a:rPr sz="2200">
                  <a:solidFill>
                    <a:srgbClr val="FFFFFF"/>
                  </a:solidFill>
                </a:rPr>
                <a:t>savoir se comparer</a:t>
              </a:r>
            </a:p>
          </p:txBody>
        </p:sp>
      </p:grpSp>
      <p:grpSp>
        <p:nvGrpSpPr>
          <p:cNvPr id="22" name="Ligne 3"/>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3023061" cy="585216"/>
            </a:xfrm>
            <a:prstGeom prst="rect">
              <a:avLst/>
            </a:prstGeom>
            <a:noFill/>
          </p:spPr>
          <p:txBody>
            <a:bodyPr wrap="square" anchor="ctr">
              <a:spAutoFit/>
            </a:bodyPr>
            <a:lstStyle/>
            <a:p>
              <a:r>
                <a:rPr sz="2200">
                  <a:solidFill>
                    <a:srgbClr val="FFFFFF"/>
                  </a:solidFill>
                </a:rPr>
                <a:t>Quand le choisir</a:t>
              </a:r>
            </a:p>
          </p:txBody>
        </p:sp>
        <p:sp>
          <p:nvSpPr>
            <p:cNvPr id="16" name="TextBox 15"/>
            <p:cNvSpPr txBox="1"/>
            <p:nvPr/>
          </p:nvSpPr>
          <p:spPr>
            <a:xfrm>
              <a:off x="4074621" y="3346703"/>
              <a:ext cx="4012276" cy="585216"/>
            </a:xfrm>
            <a:prstGeom prst="rect">
              <a:avLst/>
            </a:prstGeom>
            <a:noFill/>
          </p:spPr>
          <p:txBody>
            <a:bodyPr wrap="square" anchor="ctr">
              <a:spAutoFit/>
            </a:bodyPr>
            <a:lstStyle/>
            <a:p>
              <a:r>
                <a:rPr sz="2200">
                  <a:solidFill>
                    <a:srgbClr val="FFFFFF"/>
                  </a:solidFill>
                </a:rPr>
                <a:t>par défaut</a:t>
              </a:r>
            </a:p>
          </p:txBody>
        </p:sp>
        <p:sp>
          <p:nvSpPr>
            <p:cNvPr id="17" name="TextBox 16"/>
            <p:cNvSpPr txBox="1"/>
            <p:nvPr/>
          </p:nvSpPr>
          <p:spPr>
            <a:xfrm>
              <a:off x="8361218" y="3346703"/>
              <a:ext cx="3023061" cy="585216"/>
            </a:xfrm>
            <a:prstGeom prst="rect">
              <a:avLst/>
            </a:prstGeom>
            <a:noFill/>
          </p:spPr>
          <p:txBody>
            <a:bodyPr wrap="square" anchor="ctr">
              <a:spAutoFit/>
            </a:bodyPr>
            <a:lstStyle/>
            <a:p>
              <a:r>
                <a:rPr sz="2200">
                  <a:solidFill>
                    <a:srgbClr val="FFFFFF"/>
                  </a:solidFill>
                </a:rPr>
                <a:t>quand l'ordre compte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COL.6</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ensemble sans doublons</a:t>
            </a:r>
          </a:p>
          <a:p>
            <a:r>
              <a:rPr sz="1400">
                <a:solidFill>
                  <a:srgbClr val="BCBEC4"/>
                </a:solidFill>
              </a:rPr>
              <a:t>fascicule COL</a:t>
            </a:r>
          </a:p>
        </p:txBody>
      </p:sp>
      <p:sp>
        <p:nvSpPr>
          <p:cNvPr id="6" name="TextBox 5"/>
          <p:cNvSpPr txBox="1"/>
          <p:nvPr/>
        </p:nvSpPr>
        <p:spPr>
          <a:xfrm>
            <a:off x="640080" y="2651760"/>
            <a:ext cx="9326880" cy="822960"/>
          </a:xfrm>
          <a:prstGeom prst="rect">
            <a:avLst/>
          </a:prstGeom>
          <a:noFill/>
        </p:spPr>
        <p:txBody>
          <a:bodyPr wrap="square">
            <a:spAutoFit/>
          </a:bodyPr>
          <a:lstStyle/>
          <a:p>
            <a:r>
              <a:rPr sz="2400"/>
              <a:t>Nommer : CC-NOM.7, encore</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3. Les ensembles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107C211B-1EDD-49E5-292C-1724C6871B3F}"/>
              </a:ext>
            </a:extLst>
          </p:cNvPr>
          <p:cNvPicPr>
            <a:picLocks noChangeAspect="1"/>
          </p:cNvPicPr>
          <p:nvPr/>
        </p:nvPicPr>
        <p:blipFill>
          <a:blip r:embed="rId3"/>
          <a:stretch>
            <a:fillRect/>
          </a:stretch>
        </p:blipFill>
        <p:spPr>
          <a:xfrm>
            <a:off x="-3244" y="0"/>
            <a:ext cx="12198488" cy="6858000"/>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6800"/>
            <a:ext cx="7609028" cy="1105200"/>
          </a:xfrm>
          <a:prstGeom prst="rect">
            <a:avLst/>
          </a:prstGeom>
          <a:solidFill>
            <a:schemeClr val="accent5">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Une table, des clés</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Ranger et retrouver par clé</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Une table associe une valeur à chaque clé</a:t>
            </a:r>
          </a:p>
          <a:p>
            <a:pPr marL="0" indent="0">
              <a:spcAft>
                <a:spcPts val="1000"/>
              </a:spcAft>
              <a:buNone/>
            </a:pPr>
            <a:r>
              <a:rPr sz="2800"/>
              <a:t>Une clé n'y figure qu'une fois</a:t>
            </a:r>
          </a:p>
          <a:p>
            <a:pPr marL="0" indent="0">
              <a:spcAft>
                <a:spcPts val="1000"/>
              </a:spcAft>
              <a:buNone/>
            </a:pPr>
            <a:r>
              <a:rPr sz="2800"/>
              <a:t>Deux types entre chevrons : celui des clés, celui des valeurs</a:t>
            </a:r>
          </a:p>
        </p:txBody>
      </p:sp>
      <p:sp>
        <p:nvSpPr>
          <p:cNvPr id="4" name="Code"/>
          <p:cNvSpPr txBox="1"/>
          <p:nvPr/>
        </p:nvSpPr>
        <p:spPr>
          <a:xfrm>
            <a:off x="2800350" y="3733799"/>
            <a:ext cx="65913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Map&lt;String, Integer&gt; pages = </a:t>
            </a:r>
            <a:r>
              <a:rPr sz="1800">
                <a:solidFill>
                  <a:srgbClr val="CF8E6D"/>
                </a:solidFill>
                <a:latin typeface="Consolas"/>
              </a:rPr>
              <a:t>new</a:t>
            </a:r>
            <a:r>
              <a:rPr sz="1800">
                <a:solidFill>
                  <a:srgbClr val="BCBEC4"/>
                </a:solidFill>
                <a:latin typeface="Consolas"/>
              </a:rPr>
              <a:t> HashMap&lt;&gt;();</a:t>
            </a:r>
          </a:p>
          <a:p>
            <a:pPr>
              <a:lnSpc>
                <a:spcPct val="100000"/>
              </a:lnSpc>
              <a:spcBef>
                <a:spcPts val="0"/>
              </a:spcBef>
              <a:spcAft>
                <a:spcPts val="0"/>
              </a:spcAft>
            </a:pPr>
            <a:r>
              <a:rPr sz="1800">
                <a:solidFill>
                  <a:srgbClr val="BCBEC4"/>
                </a:solidFill>
                <a:latin typeface="Consolas"/>
              </a:rPr>
              <a:t>pages.</a:t>
            </a:r>
            <a:r>
              <a:rPr sz="1800">
                <a:solidFill>
                  <a:srgbClr val="56A8F5"/>
                </a:solidFill>
                <a:latin typeface="Consolas"/>
              </a:rPr>
              <a:t>put</a:t>
            </a:r>
            <a:r>
              <a:rPr sz="1800">
                <a:solidFill>
                  <a:srgbClr val="BCBEC4"/>
                </a:solidFill>
                <a:latin typeface="Consolas"/>
              </a:rPr>
              <a:t>(</a:t>
            </a:r>
            <a:r>
              <a:rPr sz="1800">
                <a:solidFill>
                  <a:srgbClr val="6AAB73"/>
                </a:solidFill>
                <a:latin typeface="Consolas"/>
              </a:rPr>
              <a:t>"Germinal"</a:t>
            </a:r>
            <a:r>
              <a:rPr sz="1800">
                <a:solidFill>
                  <a:srgbClr val="BCBEC4"/>
                </a:solidFill>
                <a:latin typeface="Consolas"/>
              </a:rPr>
              <a:t>, </a:t>
            </a:r>
            <a:r>
              <a:rPr sz="1800">
                <a:solidFill>
                  <a:srgbClr val="2AACB8"/>
                </a:solidFill>
                <a:latin typeface="Consolas"/>
              </a:rPr>
              <a:t>591</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pages.</a:t>
            </a:r>
            <a:r>
              <a:rPr sz="1800">
                <a:solidFill>
                  <a:srgbClr val="56A8F5"/>
                </a:solidFill>
                <a:latin typeface="Consolas"/>
              </a:rPr>
              <a:t>put</a:t>
            </a:r>
            <a:r>
              <a:rPr sz="1800">
                <a:solidFill>
                  <a:srgbClr val="BCBEC4"/>
                </a:solidFill>
                <a:latin typeface="Consolas"/>
              </a:rPr>
              <a:t>(</a:t>
            </a:r>
            <a:r>
              <a:rPr sz="1800">
                <a:solidFill>
                  <a:srgbClr val="6AAB73"/>
                </a:solidFill>
                <a:latin typeface="Consolas"/>
              </a:rPr>
              <a:t>"Candide"</a:t>
            </a:r>
            <a:r>
              <a:rPr sz="1800">
                <a:solidFill>
                  <a:srgbClr val="BCBEC4"/>
                </a:solidFill>
                <a:latin typeface="Consolas"/>
              </a:rPr>
              <a:t>, </a:t>
            </a:r>
            <a:r>
              <a:rPr sz="1800">
                <a:solidFill>
                  <a:srgbClr val="2AACB8"/>
                </a:solidFill>
                <a:latin typeface="Consolas"/>
              </a:rPr>
              <a:t>160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pages.</a:t>
            </a:r>
            <a:r>
              <a:rPr sz="1800">
                <a:solidFill>
                  <a:srgbClr val="56A8F5"/>
                </a:solidFill>
                <a:latin typeface="Consolas"/>
              </a:rPr>
              <a:t>get</a:t>
            </a:r>
            <a:r>
              <a:rPr sz="1800">
                <a:solidFill>
                  <a:srgbClr val="BCBEC4"/>
                </a:solidFill>
                <a:latin typeface="Consolas"/>
              </a:rPr>
              <a:t>(</a:t>
            </a:r>
            <a:r>
              <a:rPr sz="1800">
                <a:solidFill>
                  <a:srgbClr val="6AAB73"/>
                </a:solidFill>
                <a:latin typeface="Consolas"/>
              </a:rPr>
              <a:t>"Candide"</a:t>
            </a:r>
            <a:r>
              <a:rPr sz="1800">
                <a:solidFill>
                  <a:srgbClr val="BCBEC4"/>
                </a:solidFill>
                <a:latin typeface="Consolas"/>
              </a:rPr>
              <a:t>);            </a:t>
            </a:r>
            <a:r>
              <a:rPr sz="1800">
                <a:solidFill>
                  <a:srgbClr val="7A7E85"/>
                </a:solidFill>
                <a:latin typeface="Consolas"/>
              </a:rPr>
              <a:t>// 160</a:t>
            </a:r>
          </a:p>
          <a:p>
            <a:pPr>
              <a:lnSpc>
                <a:spcPct val="100000"/>
              </a:lnSpc>
              <a:spcBef>
                <a:spcPts val="0"/>
              </a:spcBef>
              <a:spcAft>
                <a:spcPts val="0"/>
              </a:spcAft>
            </a:pPr>
            <a:r>
              <a:rPr sz="1800">
                <a:solidFill>
                  <a:srgbClr val="BCBEC4"/>
                </a:solidFill>
                <a:latin typeface="Consolas"/>
              </a:rPr>
              <a:t>pages.</a:t>
            </a:r>
            <a:r>
              <a:rPr sz="1800">
                <a:solidFill>
                  <a:srgbClr val="56A8F5"/>
                </a:solidFill>
                <a:latin typeface="Consolas"/>
              </a:rPr>
              <a:t>containsKey</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7A7E85"/>
                </a:solidFill>
                <a:latin typeface="Consolas"/>
              </a:rPr>
              <a:t>// false</a:t>
            </a:r>
          </a:p>
          <a:p>
            <a:pPr>
              <a:lnSpc>
                <a:spcPct val="100000"/>
              </a:lnSpc>
              <a:spcBef>
                <a:spcPts val="0"/>
              </a:spcBef>
              <a:spcAft>
                <a:spcPts val="0"/>
              </a:spcAft>
            </a:pPr>
            <a:r>
              <a:rPr sz="1800">
                <a:solidFill>
                  <a:srgbClr val="BCBEC4"/>
                </a:solidFill>
                <a:latin typeface="Consolas"/>
              </a:rPr>
              <a:t>pages.</a:t>
            </a:r>
            <a:r>
              <a:rPr sz="1800">
                <a:solidFill>
                  <a:srgbClr val="56A8F5"/>
                </a:solidFill>
                <a:latin typeface="Consolas"/>
              </a:rPr>
              <a:t>size</a:t>
            </a:r>
            <a:r>
              <a:rPr sz="1800">
                <a:solidFill>
                  <a:srgbClr val="BCBEC4"/>
                </a:solidFill>
                <a:latin typeface="Consolas"/>
              </a:rPr>
              <a:t>();                    </a:t>
            </a:r>
            <a:r>
              <a:rPr sz="1800">
                <a:solidFill>
                  <a:srgbClr val="7A7E85"/>
                </a:solidFill>
                <a:latin typeface="Consolas"/>
              </a:rPr>
              <a:t>// 2</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4. Les tables associatives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clé absente</a:t>
            </a:r>
          </a:p>
        </p:txBody>
      </p:sp>
      <p:sp>
        <p:nvSpPr>
          <p:cNvPr id="3" name="Content Placeholder 2"/>
          <p:cNvSpPr>
            <a:spLocks noGrp="1"/>
          </p:cNvSpPr>
          <p:nvPr>
            <p:ph idx="1"/>
          </p:nvPr>
        </p:nvSpPr>
        <p:spPr>
          <a:xfrm>
            <a:off x="640080" y="1371600"/>
            <a:ext cx="10881360" cy="1244600"/>
          </a:xfrm>
        </p:spPr>
        <p:txBody>
          <a:bodyPr/>
          <a:lstStyle/>
          <a:p>
            <a:pPr marL="0" indent="0">
              <a:spcAft>
                <a:spcPts val="1000"/>
              </a:spcAft>
              <a:buNone/>
            </a:pPr>
            <a:r>
              <a:rPr sz="2800"/>
              <a:t>Pour une clé absente, la méthode </a:t>
            </a:r>
            <a:r>
              <a:rPr sz="2400">
                <a:solidFill>
                  <a:schemeClr val="accent4"/>
                </a:solidFill>
                <a:latin typeface="Consolas"/>
              </a:rPr>
              <a:t>get</a:t>
            </a:r>
            <a:r>
              <a:rPr sz="2800"/>
              <a:t> retourne </a:t>
            </a:r>
            <a:r>
              <a:rPr sz="2400">
                <a:solidFill>
                  <a:schemeClr val="accent4"/>
                </a:solidFill>
                <a:latin typeface="Consolas"/>
              </a:rPr>
              <a:t>null</a:t>
            </a:r>
          </a:p>
          <a:p>
            <a:pPr marL="0" indent="0">
              <a:spcAft>
                <a:spcPts val="1000"/>
              </a:spcAft>
              <a:buNone/>
            </a:pPr>
            <a:r>
              <a:rPr sz="2800"/>
              <a:t>La méthode </a:t>
            </a:r>
            <a:r>
              <a:rPr sz="2400">
                <a:solidFill>
                  <a:schemeClr val="accent4"/>
                </a:solidFill>
                <a:latin typeface="Consolas"/>
              </a:rPr>
              <a:t>getOrDefault</a:t>
            </a:r>
            <a:r>
              <a:rPr sz="2800"/>
              <a:t> retourne la valeur prévue</a:t>
            </a:r>
          </a:p>
        </p:txBody>
      </p:sp>
      <p:sp>
        <p:nvSpPr>
          <p:cNvPr id="4" name="Code"/>
          <p:cNvSpPr txBox="1"/>
          <p:nvPr/>
        </p:nvSpPr>
        <p:spPr>
          <a:xfrm>
            <a:off x="1752600" y="2753360"/>
            <a:ext cx="86868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Integer inconnu = pages.</a:t>
            </a:r>
            <a:r>
              <a:rPr sz="1800">
                <a:solidFill>
                  <a:srgbClr val="56A8F5"/>
                </a:solidFill>
                <a:latin typeface="Consolas"/>
              </a:rPr>
              <a:t>get</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7A7E85"/>
                </a:solidFill>
                <a:latin typeface="Consolas"/>
              </a:rPr>
              <a:t>// null</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nombre = pages.</a:t>
            </a:r>
            <a:r>
              <a:rPr sz="1800">
                <a:solidFill>
                  <a:srgbClr val="56A8F5"/>
                </a:solidFill>
                <a:latin typeface="Consolas"/>
              </a:rPr>
              <a:t>getOrDefault</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2AACB8"/>
                </a:solidFill>
                <a:latin typeface="Consolas"/>
              </a:rPr>
              <a:t>0</a:t>
            </a:r>
            <a:r>
              <a:rPr sz="1800">
                <a:solidFill>
                  <a:srgbClr val="BCBEC4"/>
                </a:solidFill>
                <a:latin typeface="Consolas"/>
              </a:rPr>
              <a:t>);    </a:t>
            </a:r>
            <a:r>
              <a:rPr sz="1800">
                <a:solidFill>
                  <a:srgbClr val="7A7E85"/>
                </a:solidFill>
                <a:latin typeface="Consolas"/>
              </a:rPr>
              <a:t>// 0</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plantage = pages.</a:t>
            </a:r>
            <a:r>
              <a:rPr sz="1800">
                <a:solidFill>
                  <a:srgbClr val="56A8F5"/>
                </a:solidFill>
                <a:latin typeface="Consolas"/>
              </a:rPr>
              <a:t>get</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7A7E85"/>
                </a:solidFill>
                <a:latin typeface="Consolas"/>
              </a:rPr>
              <a:t>// NullPointerException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4. Les tables associatives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Trois façons de parcourir une table</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Les clés, les valeurs, ou les couples</a:t>
            </a:r>
          </a:p>
          <a:p>
            <a:pPr marL="0" indent="0">
              <a:spcAft>
                <a:spcPts val="1000"/>
              </a:spcAft>
              <a:buNone/>
            </a:pPr>
            <a:r>
              <a:rPr sz="2800"/>
              <a:t>Chacune est une collection, que la boucle </a:t>
            </a:r>
            <a:r>
              <a:rPr sz="2400">
                <a:solidFill>
                  <a:schemeClr val="accent4"/>
                </a:solidFill>
                <a:latin typeface="Consolas"/>
              </a:rPr>
              <a:t>for</a:t>
            </a:r>
            <a:r>
              <a:rPr sz="2800"/>
              <a:t> parcourt</a:t>
            </a:r>
          </a:p>
        </p:txBody>
      </p:sp>
      <p:sp>
        <p:nvSpPr>
          <p:cNvPr id="4" name="Code"/>
          <p:cNvSpPr txBox="1"/>
          <p:nvPr/>
        </p:nvSpPr>
        <p:spPr>
          <a:xfrm>
            <a:off x="640080" y="3180079"/>
            <a:ext cx="1088136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(String titre : pages.</a:t>
            </a:r>
            <a:r>
              <a:rPr sz="1800">
                <a:solidFill>
                  <a:srgbClr val="56A8F5"/>
                </a:solidFill>
                <a:latin typeface="Consolas"/>
              </a:rPr>
              <a:t>keySet</a:t>
            </a:r>
            <a:r>
              <a:rPr sz="1800">
                <a:solidFill>
                  <a:srgbClr val="BCBEC4"/>
                </a:solidFill>
                <a:latin typeface="Consolas"/>
              </a:rPr>
              <a:t>()) { ...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nombre : pages.</a:t>
            </a:r>
            <a:r>
              <a:rPr sz="1800">
                <a:solidFill>
                  <a:srgbClr val="56A8F5"/>
                </a:solidFill>
                <a:latin typeface="Consolas"/>
              </a:rPr>
              <a:t>values</a:t>
            </a:r>
            <a:r>
              <a:rPr sz="1800">
                <a:solidFill>
                  <a:srgbClr val="BCBEC4"/>
                </a:solidFill>
                <a:latin typeface="Consolas"/>
              </a:rPr>
              <a:t>()) { ...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(Map.Entry&lt;String, Integer&gt; entree : pages.</a:t>
            </a:r>
            <a:r>
              <a:rPr sz="1800">
                <a:solidFill>
                  <a:srgbClr val="56A8F5"/>
                </a:solidFill>
                <a:latin typeface="Consolas"/>
              </a:rPr>
              <a:t>entrySet</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(entree.</a:t>
            </a:r>
            <a:r>
              <a:rPr sz="1800">
                <a:solidFill>
                  <a:srgbClr val="56A8F5"/>
                </a:solidFill>
                <a:latin typeface="Consolas"/>
              </a:rPr>
              <a:t>getKey</a:t>
            </a:r>
            <a:r>
              <a:rPr sz="1800">
                <a:solidFill>
                  <a:srgbClr val="BCBEC4"/>
                </a:solidFill>
                <a:latin typeface="Consolas"/>
              </a:rPr>
              <a:t>() + </a:t>
            </a:r>
            <a:r>
              <a:rPr sz="1800">
                <a:solidFill>
                  <a:srgbClr val="6AAB73"/>
                </a:solidFill>
                <a:latin typeface="Consolas"/>
              </a:rPr>
              <a:t>" : "</a:t>
            </a:r>
            <a:r>
              <a:rPr sz="1800">
                <a:solidFill>
                  <a:srgbClr val="BCBEC4"/>
                </a:solidFill>
                <a:latin typeface="Consolas"/>
              </a:rPr>
              <a:t> + entree.</a:t>
            </a:r>
            <a:r>
              <a:rPr sz="1800">
                <a:solidFill>
                  <a:srgbClr val="56A8F5"/>
                </a:solidFill>
                <a:latin typeface="Consolas"/>
              </a:rPr>
              <a:t>getValue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4. Les tables associatives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9" name="Picture 8" descr="image.png"/>
          <p:cNvPicPr>
            <a:picLocks noChangeAspect="1"/>
          </p:cNvPicPr>
          <p:nvPr/>
        </p:nvPicPr>
        <p:blipFill>
          <a:blip r:embed="rId3"/>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1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4. Les tables associatives</a:t>
            </a:r>
          </a:p>
        </p:txBody>
      </p:sp>
      <p:grpSp>
        <p:nvGrpSpPr>
          <p:cNvPr id="13" name="Exercice 1"/>
          <p:cNvGrpSpPr/>
          <p:nvPr/>
        </p:nvGrpSpPr>
        <p:grpSpPr>
          <a:xfrm>
            <a:off x="640080" y="1417320"/>
            <a:ext cx="9326880" cy="960120"/>
            <a:chOff x="640080" y="1417320"/>
            <a:chExt cx="9326880" cy="960120"/>
          </a:xfrm>
        </p:grpSpPr>
        <p:sp>
          <p:nvSpPr>
            <p:cNvPr id="11"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COL.2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annuaire</a:t>
              </a:r>
            </a:p>
            <a:p>
              <a:r>
                <a:rPr sz="1400">
                  <a:solidFill>
                    <a:srgbClr val="BCBEC4"/>
                  </a:solidFill>
                </a:rPr>
                <a:t>fascicule COL</a:t>
              </a:r>
            </a:p>
          </p:txBody>
        </p:sp>
      </p:grpSp>
      <p:grpSp>
        <p:nvGrpSpPr>
          <p:cNvPr id="14"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COL.4</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Compter les mots d'un texte</a:t>
              </a:r>
            </a:p>
            <a:p>
              <a:r>
                <a:rPr sz="1400">
                  <a:solidFill>
                    <a:srgbClr val="BCBEC4"/>
                  </a:solidFill>
                </a:rPr>
                <a:t>fascicule COL</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35B5961C-7495-5E3F-B668-A7A141887C8B}"/>
              </a:ext>
            </a:extLst>
          </p:cNvPr>
          <p:cNvPicPr>
            <a:picLocks noChangeAspect="1"/>
          </p:cNvPicPr>
          <p:nvPr/>
        </p:nvPicPr>
        <p:blipFill>
          <a:blip r:embed="rId3"/>
          <a:stretch>
            <a:fillRect/>
          </a:stretch>
        </p:blipFill>
        <p:spPr>
          <a:xfrm>
            <a:off x="34147" y="21021"/>
            <a:ext cx="12123706" cy="6815958"/>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6800"/>
            <a:ext cx="9839609" cy="1105200"/>
          </a:xfrm>
          <a:prstGeom prst="rect">
            <a:avLst/>
          </a:prstGeom>
          <a:solidFill>
            <a:schemeClr val="accent5">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Passer un comportement</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Des méthodes ajoutées aux interfaces</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Java 8 a </a:t>
            </a:r>
            <a:r>
              <a:rPr sz="2800" dirty="0" err="1"/>
              <a:t>ajouté</a:t>
            </a:r>
            <a:r>
              <a:rPr sz="2800" dirty="0"/>
              <a:t> des </a:t>
            </a:r>
            <a:r>
              <a:rPr sz="2800" dirty="0" err="1"/>
              <a:t>méthodes</a:t>
            </a:r>
            <a:r>
              <a:rPr sz="2800" dirty="0"/>
              <a:t> par </a:t>
            </a:r>
            <a:r>
              <a:rPr sz="2800" dirty="0" err="1"/>
              <a:t>défaut</a:t>
            </a:r>
            <a:r>
              <a:rPr sz="2800" dirty="0"/>
              <a:t> à </a:t>
            </a:r>
            <a:r>
              <a:rPr sz="2400" dirty="0">
                <a:solidFill>
                  <a:schemeClr val="accent4"/>
                </a:solidFill>
                <a:latin typeface="Consolas"/>
              </a:rPr>
              <a:t>Collection</a:t>
            </a:r>
            <a:r>
              <a:rPr sz="2800" dirty="0"/>
              <a:t> et </a:t>
            </a:r>
            <a:r>
              <a:rPr sz="2400" dirty="0">
                <a:solidFill>
                  <a:schemeClr val="accent4"/>
                </a:solidFill>
                <a:latin typeface="Consolas"/>
              </a:rPr>
              <a:t>Map</a:t>
            </a:r>
          </a:p>
          <a:p>
            <a:pPr marL="0" indent="0">
              <a:spcAft>
                <a:spcPts val="1000"/>
              </a:spcAft>
              <a:buNone/>
            </a:pPr>
            <a:r>
              <a:rPr sz="2800" dirty="0" err="1"/>
              <a:t>Toutes</a:t>
            </a:r>
            <a:r>
              <a:rPr sz="2800" dirty="0"/>
              <a:t> les classes </a:t>
            </a:r>
            <a:r>
              <a:rPr sz="2800" dirty="0" err="1"/>
              <a:t>existantes</a:t>
            </a:r>
            <a:r>
              <a:rPr sz="2800" dirty="0"/>
              <a:t> les </a:t>
            </a:r>
            <a:r>
              <a:rPr sz="2800" dirty="0" err="1"/>
              <a:t>ont</a:t>
            </a:r>
            <a:r>
              <a:rPr sz="2800" dirty="0"/>
              <a:t> reçues sans rien changer</a:t>
            </a:r>
          </a:p>
          <a:p>
            <a:pPr marL="0" indent="0">
              <a:spcAft>
                <a:spcPts val="1000"/>
              </a:spcAft>
              <a:buNone/>
            </a:pPr>
            <a:r>
              <a:rPr sz="2800" dirty="0"/>
              <a:t>Parmi </a:t>
            </a:r>
            <a:r>
              <a:rPr sz="2800" dirty="0" err="1"/>
              <a:t>elles</a:t>
            </a:r>
            <a:r>
              <a:rPr sz="2800" dirty="0"/>
              <a:t> : </a:t>
            </a:r>
            <a:r>
              <a:rPr sz="2400" dirty="0" err="1">
                <a:solidFill>
                  <a:schemeClr val="accent4"/>
                </a:solidFill>
                <a:latin typeface="Consolas"/>
              </a:rPr>
              <a:t>getOrDefault</a:t>
            </a:r>
            <a:r>
              <a:rPr sz="2800" dirty="0"/>
              <a:t>, </a:t>
            </a:r>
            <a:r>
              <a:rPr sz="2400" dirty="0" err="1">
                <a:solidFill>
                  <a:schemeClr val="accent4"/>
                </a:solidFill>
                <a:latin typeface="Consolas"/>
              </a:rPr>
              <a:t>removeIf</a:t>
            </a:r>
            <a:r>
              <a:rPr sz="2800" dirty="0"/>
              <a:t>, </a:t>
            </a:r>
            <a:r>
              <a:rPr sz="2400" dirty="0" err="1">
                <a:solidFill>
                  <a:schemeClr val="accent4"/>
                </a:solidFill>
                <a:latin typeface="Consolas"/>
              </a:rPr>
              <a:t>computeIfAbsent</a:t>
            </a:r>
            <a:endParaRPr sz="2400" dirty="0">
              <a:solidFill>
                <a:schemeClr val="accent4"/>
              </a:solidFill>
              <a:latin typeface="Consolas"/>
            </a:endParaRPr>
          </a:p>
        </p:txBody>
      </p:sp>
      <p:sp>
        <p:nvSpPr>
          <p:cNvPr id="4" name="Code"/>
          <p:cNvSpPr txBox="1"/>
          <p:nvPr/>
        </p:nvSpPr>
        <p:spPr>
          <a:xfrm>
            <a:off x="2101850" y="4160520"/>
            <a:ext cx="79883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dans l'interface Map&lt;K, V&gt;</a:t>
            </a:r>
          </a:p>
          <a:p>
            <a:pPr>
              <a:lnSpc>
                <a:spcPct val="100000"/>
              </a:lnSpc>
              <a:spcBef>
                <a:spcPts val="0"/>
              </a:spcBef>
              <a:spcAft>
                <a:spcPts val="0"/>
              </a:spcAft>
            </a:pPr>
            <a:r>
              <a:rPr sz="1800">
                <a:solidFill>
                  <a:srgbClr val="CF8E6D"/>
                </a:solidFill>
                <a:latin typeface="Consolas"/>
              </a:rPr>
              <a:t>default</a:t>
            </a:r>
            <a:r>
              <a:rPr sz="1800">
                <a:solidFill>
                  <a:srgbClr val="BCBEC4"/>
                </a:solidFill>
                <a:latin typeface="Consolas"/>
              </a:rPr>
              <a:t> V </a:t>
            </a:r>
            <a:r>
              <a:rPr sz="1800">
                <a:solidFill>
                  <a:srgbClr val="56A8F5"/>
                </a:solidFill>
                <a:latin typeface="Consolas"/>
              </a:rPr>
              <a:t>getOrDefault</a:t>
            </a:r>
            <a:r>
              <a:rPr sz="1800">
                <a:solidFill>
                  <a:srgbClr val="BCBEC4"/>
                </a:solidFill>
                <a:latin typeface="Consolas"/>
              </a:rPr>
              <a:t>(Object cle, V parDefaut) { ... }</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5. Passer un comportement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méthode qui reçoit un critère</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La méthode </a:t>
            </a:r>
            <a:r>
              <a:rPr sz="2400">
                <a:solidFill>
                  <a:schemeClr val="accent4"/>
                </a:solidFill>
                <a:latin typeface="Consolas"/>
              </a:rPr>
              <a:t>removeIf</a:t>
            </a:r>
            <a:r>
              <a:rPr sz="2800"/>
              <a:t> retire ce que le critère accepte</a:t>
            </a:r>
          </a:p>
          <a:p>
            <a:pPr marL="0" indent="0">
              <a:spcAft>
                <a:spcPts val="1000"/>
              </a:spcAft>
              <a:buNone/>
            </a:pPr>
            <a:r>
              <a:rPr sz="2800"/>
              <a:t>Le critère est un </a:t>
            </a:r>
            <a:r>
              <a:rPr sz="2400">
                <a:solidFill>
                  <a:schemeClr val="accent4"/>
                </a:solidFill>
                <a:latin typeface="Consolas"/>
              </a:rPr>
              <a:t>Predicate</a:t>
            </a:r>
            <a:r>
              <a:rPr sz="2800"/>
              <a:t>, une interface à une méthode</a:t>
            </a:r>
          </a:p>
        </p:txBody>
      </p:sp>
      <p:sp>
        <p:nvSpPr>
          <p:cNvPr id="4" name="Code"/>
          <p:cNvSpPr txBox="1"/>
          <p:nvPr/>
        </p:nvSpPr>
        <p:spPr>
          <a:xfrm>
            <a:off x="1682750" y="3180079"/>
            <a:ext cx="88265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dans l'interface Collection&lt;E&gt;</a:t>
            </a:r>
          </a:p>
          <a:p>
            <a:pPr>
              <a:lnSpc>
                <a:spcPct val="100000"/>
              </a:lnSpc>
              <a:spcBef>
                <a:spcPts val="0"/>
              </a:spcBef>
              <a:spcAft>
                <a:spcPts val="0"/>
              </a:spcAft>
            </a:pPr>
            <a:r>
              <a:rPr sz="1800">
                <a:solidFill>
                  <a:srgbClr val="CF8E6D"/>
                </a:solidFill>
                <a:latin typeface="Consolas"/>
              </a:rPr>
              <a:t>default</a:t>
            </a:r>
            <a:r>
              <a:rPr sz="1800">
                <a:solidFill>
                  <a:srgbClr val="BCBEC4"/>
                </a:solidFill>
                <a:latin typeface="Consolas"/>
              </a:rPr>
              <a:t> </a:t>
            </a:r>
            <a:r>
              <a:rPr sz="1800">
                <a:solidFill>
                  <a:srgbClr val="CF8E6D"/>
                </a:solidFill>
                <a:latin typeface="Consolas"/>
              </a:rPr>
              <a:t>boolean</a:t>
            </a:r>
            <a:r>
              <a:rPr sz="1800">
                <a:solidFill>
                  <a:srgbClr val="BCBEC4"/>
                </a:solidFill>
                <a:latin typeface="Consolas"/>
              </a:rPr>
              <a:t> </a:t>
            </a:r>
            <a:r>
              <a:rPr sz="1800">
                <a:solidFill>
                  <a:srgbClr val="56A8F5"/>
                </a:solidFill>
                <a:latin typeface="Consolas"/>
              </a:rPr>
              <a:t>removeIf</a:t>
            </a:r>
            <a:r>
              <a:rPr sz="1800">
                <a:solidFill>
                  <a:srgbClr val="BCBEC4"/>
                </a:solidFill>
                <a:latin typeface="Consolas"/>
              </a:rPr>
              <a:t>(Predicate&lt;? </a:t>
            </a:r>
            <a:r>
              <a:rPr sz="1800">
                <a:solidFill>
                  <a:srgbClr val="CF8E6D"/>
                </a:solidFill>
                <a:latin typeface="Consolas"/>
              </a:rPr>
              <a:t>super</a:t>
            </a:r>
            <a:r>
              <a:rPr sz="1800">
                <a:solidFill>
                  <a:srgbClr val="BCBEC4"/>
                </a:solidFill>
                <a:latin typeface="Consolas"/>
              </a:rPr>
              <a:t> E&gt; filtre) { ...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dans l'interface Predicate&lt;T&gt;</a:t>
            </a:r>
          </a:p>
          <a:p>
            <a:pPr>
              <a:lnSpc>
                <a:spcPct val="100000"/>
              </a:lnSpc>
              <a:spcBef>
                <a:spcPts val="0"/>
              </a:spcBef>
              <a:spcAft>
                <a:spcPts val="0"/>
              </a:spcAft>
            </a:pPr>
            <a:r>
              <a:rPr sz="1800">
                <a:solidFill>
                  <a:srgbClr val="CF8E6D"/>
                </a:solidFill>
                <a:latin typeface="Consolas"/>
              </a:rPr>
              <a:t>boolean</a:t>
            </a:r>
            <a:r>
              <a:rPr sz="1800">
                <a:solidFill>
                  <a:srgbClr val="BCBEC4"/>
                </a:solidFill>
                <a:latin typeface="Consolas"/>
              </a:rPr>
              <a:t> </a:t>
            </a:r>
            <a:r>
              <a:rPr sz="1800">
                <a:solidFill>
                  <a:srgbClr val="56A8F5"/>
                </a:solidFill>
                <a:latin typeface="Consolas"/>
              </a:rPr>
              <a:t>test</a:t>
            </a:r>
            <a:r>
              <a:rPr sz="1800">
                <a:solidFill>
                  <a:srgbClr val="BCBEC4"/>
                </a:solidFill>
                <a:latin typeface="Consolas"/>
              </a:rPr>
              <a:t>(T valeur);</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5. Passer un comportement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Écrire le critère dans une classe</a:t>
            </a:r>
          </a:p>
        </p:txBody>
      </p:sp>
      <p:sp>
        <p:nvSpPr>
          <p:cNvPr id="3" name="Content Placeholder 2"/>
          <p:cNvSpPr>
            <a:spLocks noGrp="1"/>
          </p:cNvSpPr>
          <p:nvPr>
            <p:ph idx="1"/>
          </p:nvPr>
        </p:nvSpPr>
        <p:spPr>
          <a:xfrm>
            <a:off x="640080" y="1371600"/>
            <a:ext cx="10881360" cy="1244600"/>
          </a:xfrm>
        </p:spPr>
        <p:txBody>
          <a:bodyPr/>
          <a:lstStyle/>
          <a:p>
            <a:pPr marL="0" indent="0">
              <a:spcAft>
                <a:spcPts val="1000"/>
              </a:spcAft>
              <a:buNone/>
            </a:pPr>
            <a:r>
              <a:rPr sz="2800"/>
              <a:t>Une classe implémente </a:t>
            </a:r>
            <a:r>
              <a:rPr sz="2400">
                <a:solidFill>
                  <a:schemeClr val="accent4"/>
                </a:solidFill>
                <a:latin typeface="Consolas"/>
              </a:rPr>
              <a:t>Predicate</a:t>
            </a:r>
          </a:p>
          <a:p>
            <a:pPr marL="0" indent="0">
              <a:spcAft>
                <a:spcPts val="1000"/>
              </a:spcAft>
              <a:buNone/>
            </a:pPr>
            <a:r>
              <a:rPr sz="2800"/>
              <a:t>Un objet de cette classe se passe à </a:t>
            </a:r>
            <a:r>
              <a:rPr sz="2400">
                <a:solidFill>
                  <a:schemeClr val="accent4"/>
                </a:solidFill>
                <a:latin typeface="Consolas"/>
              </a:rPr>
              <a:t>removeIf</a:t>
            </a:r>
          </a:p>
        </p:txBody>
      </p:sp>
      <p:sp>
        <p:nvSpPr>
          <p:cNvPr id="4" name="Code"/>
          <p:cNvSpPr txBox="1"/>
          <p:nvPr/>
        </p:nvSpPr>
        <p:spPr>
          <a:xfrm>
            <a:off x="2241550" y="2753360"/>
            <a:ext cx="7708900" cy="3291839"/>
          </a:xfrm>
          <a:prstGeom prst="roundRect">
            <a:avLst>
              <a:gd name="adj" fmla="val 277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TitreLong </a:t>
            </a:r>
            <a:r>
              <a:rPr sz="1800">
                <a:solidFill>
                  <a:srgbClr val="CF8E6D"/>
                </a:solidFill>
                <a:latin typeface="Consolas"/>
              </a:rPr>
              <a:t>implements</a:t>
            </a:r>
            <a:r>
              <a:rPr sz="1800">
                <a:solidFill>
                  <a:srgbClr val="BCBEC4"/>
                </a:solidFill>
                <a:latin typeface="Consolas"/>
              </a:rPr>
              <a:t> Predicate&lt;String&gt;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LONGUEUR_MAX = </a:t>
            </a:r>
            <a:r>
              <a:rPr sz="1800">
                <a:solidFill>
                  <a:srgbClr val="2AACB8"/>
                </a:solidFill>
                <a:latin typeface="Consolas"/>
              </a:rPr>
              <a:t>20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B3AE60"/>
                </a:solidFill>
                <a:latin typeface="Consolas"/>
              </a:rPr>
              <a:t>@Override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boolean</a:t>
            </a:r>
            <a:r>
              <a:rPr sz="1800">
                <a:solidFill>
                  <a:srgbClr val="BCBEC4"/>
                </a:solidFill>
                <a:latin typeface="Consolas"/>
              </a:rPr>
              <a:t> </a:t>
            </a:r>
            <a:r>
              <a:rPr sz="1800">
                <a:solidFill>
                  <a:srgbClr val="56A8F5"/>
                </a:solidFill>
                <a:latin typeface="Consolas"/>
              </a:rPr>
              <a:t>test</a:t>
            </a:r>
            <a:r>
              <a:rPr sz="1800">
                <a:solidFill>
                  <a:srgbClr val="BCBEC4"/>
                </a:solidFill>
                <a:latin typeface="Consolas"/>
              </a:rPr>
              <a:t>(String titre)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titre.</a:t>
            </a:r>
            <a:r>
              <a:rPr sz="1800">
                <a:solidFill>
                  <a:srgbClr val="56A8F5"/>
                </a:solidFill>
                <a:latin typeface="Consolas"/>
              </a:rPr>
              <a:t>length</a:t>
            </a:r>
            <a:r>
              <a:rPr sz="1800">
                <a:solidFill>
                  <a:srgbClr val="BCBEC4"/>
                </a:solidFill>
                <a:latin typeface="Consolas"/>
              </a:rPr>
              <a:t>() &gt; LONGUEUR_MAX;</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removeIf</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TitreLong</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5. Passer un comportement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COL.5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Filtrer avec un prédicat</a:t>
            </a:r>
          </a:p>
          <a:p>
            <a:r>
              <a:rPr sz="1400">
                <a:solidFill>
                  <a:srgbClr val="BCBEC4"/>
                </a:solidFill>
              </a:rPr>
              <a:t>fascicule COL</a:t>
            </a:r>
          </a:p>
        </p:txBody>
      </p:sp>
      <p:sp>
        <p:nvSpPr>
          <p:cNvPr id="6" name="TextBox 5"/>
          <p:cNvSpPr txBox="1"/>
          <p:nvPr/>
        </p:nvSpPr>
        <p:spPr>
          <a:xfrm>
            <a:off x="640080" y="2651760"/>
            <a:ext cx="9326880" cy="822960"/>
          </a:xfrm>
          <a:prstGeom prst="rect">
            <a:avLst/>
          </a:prstGeom>
          <a:noFill/>
        </p:spPr>
        <p:txBody>
          <a:bodyPr wrap="square">
            <a:spAutoFit/>
          </a:bodyPr>
          <a:lstStyle/>
          <a:p>
            <a:r>
              <a:rPr sz="2400"/>
              <a:t>Nommer : CC-NOM.7, une troisième fois</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5. Passer un comportement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24AE9FFC-C0D2-0C4F-DA53-D40A3D2DA948}"/>
              </a:ext>
            </a:extLst>
          </p:cNvPr>
          <p:cNvPicPr>
            <a:picLocks noChangeAspect="1"/>
          </p:cNvPicPr>
          <p:nvPr/>
        </p:nvPicPr>
        <p:blipFill>
          <a:blip r:embed="rId3"/>
          <a:stretch>
            <a:fillRect/>
          </a:stretch>
        </p:blipFill>
        <p:spPr>
          <a:xfrm>
            <a:off x="-3244" y="0"/>
            <a:ext cx="12198488" cy="6858000"/>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6800"/>
            <a:ext cx="10152284" cy="1105200"/>
          </a:xfrm>
          <a:prstGeom prst="rect">
            <a:avLst/>
          </a:prstGeom>
          <a:solidFill>
            <a:schemeClr val="accent5">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6. Des collections emboîtées</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Lire un type emboîté</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Une table dont chaque valeur est une liste</a:t>
            </a:r>
          </a:p>
          <a:p>
            <a:pPr marL="0" indent="0">
              <a:spcAft>
                <a:spcPts val="1000"/>
              </a:spcAft>
              <a:buNone/>
            </a:pPr>
            <a:r>
              <a:rPr sz="2800"/>
              <a:t>Le type se lit de l'extérieur vers l'intérieur</a:t>
            </a:r>
          </a:p>
          <a:p>
            <a:pPr marL="0" indent="0">
              <a:spcAft>
                <a:spcPts val="1000"/>
              </a:spcAft>
              <a:buNone/>
            </a:pPr>
            <a:r>
              <a:rPr sz="2800"/>
              <a:t>La liste d'un auteur n'existe pas avant qu'on la crée</a:t>
            </a:r>
          </a:p>
        </p:txBody>
      </p:sp>
      <p:sp>
        <p:nvSpPr>
          <p:cNvPr id="4" name="Code"/>
          <p:cNvSpPr txBox="1"/>
          <p:nvPr/>
        </p:nvSpPr>
        <p:spPr>
          <a:xfrm>
            <a:off x="1682750" y="3307080"/>
            <a:ext cx="88265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BCBEC4"/>
                </a:solidFill>
                <a:latin typeface="Consolas"/>
              </a:rPr>
              <a:t>Map&lt;String, List&lt;String&gt;&gt; </a:t>
            </a:r>
            <a:r>
              <a:rPr sz="1800" dirty="0" err="1">
                <a:solidFill>
                  <a:srgbClr val="BCBEC4"/>
                </a:solidFill>
                <a:latin typeface="Consolas"/>
              </a:rPr>
              <a:t>titresParAuteur</a:t>
            </a:r>
            <a:r>
              <a:rPr sz="1800" dirty="0">
                <a:solidFill>
                  <a:srgbClr val="BCBEC4"/>
                </a:solidFill>
                <a:latin typeface="Consolas"/>
              </a:rPr>
              <a:t> = </a:t>
            </a:r>
            <a:r>
              <a:rPr sz="1800" dirty="0">
                <a:solidFill>
                  <a:srgbClr val="CF8E6D"/>
                </a:solidFill>
                <a:latin typeface="Consolas"/>
              </a:rPr>
              <a:t>new</a:t>
            </a:r>
            <a:r>
              <a:rPr sz="1800" dirty="0">
                <a:solidFill>
                  <a:srgbClr val="BCBEC4"/>
                </a:solidFill>
                <a:latin typeface="Consolas"/>
              </a:rPr>
              <a:t> HashMap&lt;&gt;();</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List&lt;String&gt; </a:t>
            </a:r>
            <a:r>
              <a:rPr sz="1800" dirty="0" err="1">
                <a:solidFill>
                  <a:srgbClr val="BCBEC4"/>
                </a:solidFill>
                <a:latin typeface="Consolas"/>
              </a:rPr>
              <a:t>deZola</a:t>
            </a:r>
            <a:r>
              <a:rPr sz="1800" dirty="0">
                <a:solidFill>
                  <a:srgbClr val="BCBEC4"/>
                </a:solidFill>
                <a:latin typeface="Consolas"/>
              </a:rPr>
              <a:t> = </a:t>
            </a:r>
            <a:r>
              <a:rPr sz="1800" dirty="0" err="1">
                <a:solidFill>
                  <a:srgbClr val="BCBEC4"/>
                </a:solidFill>
                <a:latin typeface="Consolas"/>
              </a:rPr>
              <a:t>titresParAuteur.</a:t>
            </a:r>
            <a:r>
              <a:rPr sz="1800" dirty="0" err="1">
                <a:solidFill>
                  <a:srgbClr val="56A8F5"/>
                </a:solidFill>
                <a:latin typeface="Consolas"/>
              </a:rPr>
              <a:t>get</a:t>
            </a:r>
            <a:r>
              <a:rPr sz="1800" dirty="0">
                <a:solidFill>
                  <a:srgbClr val="BCBEC4"/>
                </a:solidFill>
                <a:latin typeface="Consolas"/>
              </a:rPr>
              <a:t>(</a:t>
            </a:r>
            <a:r>
              <a:rPr sz="1800" dirty="0">
                <a:solidFill>
                  <a:srgbClr val="6AAB73"/>
                </a:solidFill>
                <a:latin typeface="Consolas"/>
              </a:rPr>
              <a:t>"Zola"</a:t>
            </a:r>
            <a:r>
              <a:rPr sz="1800" dirty="0">
                <a:solidFill>
                  <a:srgbClr val="BCBEC4"/>
                </a:solidFill>
                <a:latin typeface="Consolas"/>
              </a:rPr>
              <a:t>);    </a:t>
            </a:r>
            <a:r>
              <a:rPr sz="1800" dirty="0">
                <a:solidFill>
                  <a:srgbClr val="7A7E85"/>
                </a:solidFill>
                <a:latin typeface="Consolas"/>
              </a:rPr>
              <a:t>// null</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6. Collections emboîtées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Créer au premier usage</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La méthode </a:t>
            </a:r>
            <a:r>
              <a:rPr sz="2400">
                <a:solidFill>
                  <a:schemeClr val="accent4"/>
                </a:solidFill>
                <a:latin typeface="Consolas"/>
              </a:rPr>
              <a:t>computeIfAbsent</a:t>
            </a:r>
            <a:r>
              <a:rPr sz="2800"/>
              <a:t> retourne la valeur d'une clé</a:t>
            </a:r>
          </a:p>
          <a:p>
            <a:pPr marL="0" indent="0">
              <a:spcAft>
                <a:spcPts val="1000"/>
              </a:spcAft>
              <a:buNone/>
            </a:pPr>
            <a:r>
              <a:rPr sz="2800"/>
              <a:t>Si elle manque, une </a:t>
            </a:r>
            <a:r>
              <a:rPr sz="2400">
                <a:solidFill>
                  <a:schemeClr val="accent4"/>
                </a:solidFill>
                <a:latin typeface="Consolas"/>
              </a:rPr>
              <a:t>Function</a:t>
            </a:r>
            <a:r>
              <a:rPr sz="2800"/>
              <a:t> la fabrique d'abord</a:t>
            </a:r>
          </a:p>
        </p:txBody>
      </p:sp>
      <p:sp>
        <p:nvSpPr>
          <p:cNvPr id="4" name="Code"/>
          <p:cNvSpPr txBox="1"/>
          <p:nvPr/>
        </p:nvSpPr>
        <p:spPr>
          <a:xfrm>
            <a:off x="640080" y="3180079"/>
            <a:ext cx="10881360" cy="2992120"/>
          </a:xfrm>
          <a:prstGeom prst="roundRect">
            <a:avLst>
              <a:gd name="adj" fmla="val 305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NouvelleListe </a:t>
            </a:r>
            <a:r>
              <a:rPr sz="1800">
                <a:solidFill>
                  <a:srgbClr val="CF8E6D"/>
                </a:solidFill>
                <a:latin typeface="Consolas"/>
              </a:rPr>
              <a:t>implements</a:t>
            </a:r>
            <a:r>
              <a:rPr sz="1800">
                <a:solidFill>
                  <a:srgbClr val="BCBEC4"/>
                </a:solidFill>
                <a:latin typeface="Consolas"/>
              </a:rPr>
              <a:t> Function&lt;String, List&lt;String&gt;&gt;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B3AE60"/>
                </a:solidFill>
                <a:latin typeface="Consolas"/>
              </a:rPr>
              <a:t>@Override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List&lt;String&gt; </a:t>
            </a:r>
            <a:r>
              <a:rPr sz="1800">
                <a:solidFill>
                  <a:srgbClr val="56A8F5"/>
                </a:solidFill>
                <a:latin typeface="Consolas"/>
              </a:rPr>
              <a:t>apply</a:t>
            </a:r>
            <a:r>
              <a:rPr sz="1800">
                <a:solidFill>
                  <a:srgbClr val="BCBEC4"/>
                </a:solidFill>
                <a:latin typeface="Consolas"/>
              </a:rPr>
              <a:t>(String auteur)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ArrayList&lt;&gt;();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titresParAuteur.</a:t>
            </a:r>
            <a:r>
              <a:rPr sz="1800">
                <a:solidFill>
                  <a:srgbClr val="56A8F5"/>
                </a:solidFill>
                <a:latin typeface="Consolas"/>
              </a:rPr>
              <a:t>computeIfAbsent</a:t>
            </a:r>
            <a:r>
              <a:rPr sz="1800">
                <a:solidFill>
                  <a:srgbClr val="BCBEC4"/>
                </a:solidFill>
                <a:latin typeface="Consolas"/>
              </a:rPr>
              <a:t>(</a:t>
            </a:r>
            <a:r>
              <a:rPr sz="1800">
                <a:solidFill>
                  <a:srgbClr val="6AAB73"/>
                </a:solidFill>
                <a:latin typeface="Consolas"/>
              </a:rPr>
              <a:t>"Zola"</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NouvelleListe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56A8F5"/>
                </a:solidFill>
                <a:latin typeface="Consolas"/>
              </a:rPr>
              <a:t>add</a:t>
            </a:r>
            <a:r>
              <a:rPr sz="1800">
                <a:solidFill>
                  <a:srgbClr val="BCBEC4"/>
                </a:solidFill>
                <a:latin typeface="Consolas"/>
              </a:rPr>
              <a:t>(</a:t>
            </a:r>
            <a:r>
              <a:rPr sz="1800">
                <a:solidFill>
                  <a:srgbClr val="6AAB73"/>
                </a:solidFill>
                <a:latin typeface="Consolas"/>
              </a:rPr>
              <a:t>"Germinal"</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6. Collections emboîtées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COL.7</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table de collections</a:t>
            </a:r>
          </a:p>
          <a:p>
            <a:r>
              <a:rPr sz="1400">
                <a:solidFill>
                  <a:srgbClr val="BCBEC4"/>
                </a:solidFill>
              </a:rPr>
              <a:t>fascicule COL</a:t>
            </a:r>
          </a:p>
        </p:txBody>
      </p:sp>
      <p:sp>
        <p:nvSpPr>
          <p:cNvPr id="6" name="TextBox 5"/>
          <p:cNvSpPr txBox="1"/>
          <p:nvPr/>
        </p:nvSpPr>
        <p:spPr>
          <a:xfrm>
            <a:off x="640080" y="2651760"/>
            <a:ext cx="9326880" cy="822960"/>
          </a:xfrm>
          <a:prstGeom prst="rect">
            <a:avLst/>
          </a:prstGeom>
          <a:noFill/>
        </p:spPr>
        <p:txBody>
          <a:bodyPr wrap="square">
            <a:spAutoFit/>
          </a:bodyPr>
          <a:lstStyle/>
          <a:p>
            <a:r>
              <a:rPr sz="2400"/>
              <a:t>Retourner : CC-ERR.2 et CC-OBJ.2</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33</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6. Collections emboîtées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B9CCC90B-CF8C-AD64-7A62-5BBA2B899B9D}"/>
              </a:ext>
            </a:extLst>
          </p:cNvPr>
          <p:cNvPicPr>
            <a:picLocks noChangeAspect="1"/>
          </p:cNvPicPr>
          <p:nvPr/>
        </p:nvPicPr>
        <p:blipFill>
          <a:blip r:embed="rId3"/>
          <a:stretch>
            <a:fillRect/>
          </a:stretch>
        </p:blipFill>
        <p:spPr>
          <a:xfrm>
            <a:off x="-3244" y="0"/>
            <a:ext cx="12198488" cy="6858000"/>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6800"/>
            <a:ext cx="8090338" cy="1105200"/>
          </a:xfrm>
          <a:prstGeom prst="rect">
            <a:avLst/>
          </a:prstGeom>
          <a:solidFill>
            <a:schemeClr val="accent5">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7. Une file, deux bouts</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file à deux bouts</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On ajoute et on retire aux deux extrémités, jamais au milieu</a:t>
            </a:r>
          </a:p>
          <a:p>
            <a:pPr marL="0" indent="0">
              <a:spcAft>
                <a:spcPts val="1000"/>
              </a:spcAft>
              <a:buNone/>
            </a:pPr>
            <a:r>
              <a:rPr sz="2800"/>
              <a:t>L'interface </a:t>
            </a:r>
            <a:r>
              <a:rPr sz="2400">
                <a:solidFill>
                  <a:schemeClr val="accent4"/>
                </a:solidFill>
                <a:latin typeface="Consolas"/>
              </a:rPr>
              <a:t>Deque</a:t>
            </a:r>
            <a:r>
              <a:rPr sz="2800"/>
              <a:t>, et sa classe </a:t>
            </a:r>
            <a:r>
              <a:rPr sz="2400">
                <a:solidFill>
                  <a:schemeClr val="accent4"/>
                </a:solidFill>
                <a:latin typeface="Consolas"/>
              </a:rPr>
              <a:t>ArrayDeque</a:t>
            </a:r>
          </a:p>
          <a:p>
            <a:pPr marL="0" indent="0">
              <a:spcAft>
                <a:spcPts val="1000"/>
              </a:spcAft>
              <a:buNone/>
            </a:pPr>
            <a:r>
              <a:rPr sz="2800"/>
              <a:t>Une file d'attente, une pioche de cartes</a:t>
            </a:r>
          </a:p>
        </p:txBody>
      </p:sp>
      <p:sp>
        <p:nvSpPr>
          <p:cNvPr id="4" name="Code"/>
          <p:cNvSpPr txBox="1"/>
          <p:nvPr/>
        </p:nvSpPr>
        <p:spPr>
          <a:xfrm>
            <a:off x="2171700" y="3733799"/>
            <a:ext cx="78486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Deque&lt;String&gt; attente = </a:t>
            </a:r>
            <a:r>
              <a:rPr sz="1800">
                <a:solidFill>
                  <a:srgbClr val="CF8E6D"/>
                </a:solidFill>
                <a:latin typeface="Consolas"/>
              </a:rPr>
              <a:t>new</a:t>
            </a:r>
            <a:r>
              <a:rPr sz="1800">
                <a:solidFill>
                  <a:srgbClr val="BCBEC4"/>
                </a:solidFill>
                <a:latin typeface="Consolas"/>
              </a:rPr>
              <a:t> ArrayDeque&lt;&gt;();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attente.</a:t>
            </a:r>
            <a:r>
              <a:rPr sz="1800">
                <a:solidFill>
                  <a:srgbClr val="56A8F5"/>
                </a:solidFill>
                <a:latin typeface="Consolas"/>
              </a:rPr>
              <a:t>addLast</a:t>
            </a:r>
            <a:r>
              <a:rPr sz="1800">
                <a:solidFill>
                  <a:srgbClr val="BCBEC4"/>
                </a:solidFill>
                <a:latin typeface="Consolas"/>
              </a:rPr>
              <a:t>(</a:t>
            </a:r>
            <a:r>
              <a:rPr sz="1800">
                <a:solidFill>
                  <a:srgbClr val="6AAB73"/>
                </a:solidFill>
                <a:latin typeface="Consolas"/>
              </a:rPr>
              <a:t>"Zola"</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attente.</a:t>
            </a:r>
            <a:r>
              <a:rPr sz="1800">
                <a:solidFill>
                  <a:srgbClr val="56A8F5"/>
                </a:solidFill>
                <a:latin typeface="Consolas"/>
              </a:rPr>
              <a:t>addLast</a:t>
            </a:r>
            <a:r>
              <a:rPr sz="1800">
                <a:solidFill>
                  <a:srgbClr val="BCBEC4"/>
                </a:solidFill>
                <a:latin typeface="Consolas"/>
              </a:rPr>
              <a:t>(</a:t>
            </a:r>
            <a:r>
              <a:rPr sz="1800">
                <a:solidFill>
                  <a:srgbClr val="6AAB73"/>
                </a:solidFill>
                <a:latin typeface="Consolas"/>
              </a:rPr>
              <a:t>"Hugo"</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attente.</a:t>
            </a:r>
            <a:r>
              <a:rPr sz="1800">
                <a:solidFill>
                  <a:srgbClr val="56A8F5"/>
                </a:solidFill>
                <a:latin typeface="Consolas"/>
              </a:rPr>
              <a:t>addFirst</a:t>
            </a:r>
            <a:r>
              <a:rPr sz="1800">
                <a:solidFill>
                  <a:srgbClr val="BCBEC4"/>
                </a:solidFill>
                <a:latin typeface="Consolas"/>
              </a:rPr>
              <a:t>(</a:t>
            </a:r>
            <a:r>
              <a:rPr sz="1800">
                <a:solidFill>
                  <a:srgbClr val="6AAB73"/>
                </a:solidFill>
                <a:latin typeface="Consolas"/>
              </a:rPr>
              <a:t>"Sand"</a:t>
            </a:r>
            <a:r>
              <a:rPr sz="1800">
                <a:solidFill>
                  <a:srgbClr val="BCBEC4"/>
                </a:solidFill>
                <a:latin typeface="Consolas"/>
              </a:rPr>
              <a:t>);        </a:t>
            </a:r>
            <a:r>
              <a:rPr sz="1800">
                <a:solidFill>
                  <a:srgbClr val="7A7E85"/>
                </a:solidFill>
                <a:latin typeface="Consolas"/>
              </a:rPr>
              <a:t>// passe devant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println</a:t>
            </a:r>
            <a:r>
              <a:rPr sz="1800">
                <a:solidFill>
                  <a:srgbClr val="BCBEC4"/>
                </a:solidFill>
                <a:latin typeface="Consolas"/>
              </a:rPr>
              <a:t>(attente);     </a:t>
            </a:r>
            <a:r>
              <a:rPr sz="1800">
                <a:solidFill>
                  <a:srgbClr val="7A7E85"/>
                </a:solidFill>
                <a:latin typeface="Consolas"/>
              </a:rPr>
              <a:t>// [Sand, Zola, Hugo]</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7. Les files à deux bouts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Prendre et remettre</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La méthode </a:t>
            </a:r>
            <a:r>
              <a:rPr sz="2400">
                <a:solidFill>
                  <a:schemeClr val="accent4"/>
                </a:solidFill>
                <a:latin typeface="Consolas"/>
              </a:rPr>
              <a:t>pollFirst</a:t>
            </a:r>
            <a:r>
              <a:rPr sz="2800"/>
              <a:t> retire et retourne le premier élément</a:t>
            </a:r>
          </a:p>
          <a:p>
            <a:pPr marL="0" indent="0">
              <a:spcAft>
                <a:spcPts val="1000"/>
              </a:spcAft>
              <a:buNone/>
            </a:pPr>
            <a:r>
              <a:rPr sz="2800"/>
              <a:t>La méthode </a:t>
            </a:r>
            <a:r>
              <a:rPr sz="2400">
                <a:solidFill>
                  <a:schemeClr val="accent4"/>
                </a:solidFill>
                <a:latin typeface="Consolas"/>
              </a:rPr>
              <a:t>peekFirst</a:t>
            </a:r>
            <a:r>
              <a:rPr sz="2800"/>
              <a:t> le retourne sans le retirer</a:t>
            </a:r>
          </a:p>
          <a:p>
            <a:pPr marL="0" indent="0">
              <a:spcAft>
                <a:spcPts val="1000"/>
              </a:spcAft>
              <a:buNone/>
            </a:pPr>
            <a:r>
              <a:rPr sz="2800"/>
              <a:t>Sur une file vide, les deux retournent </a:t>
            </a:r>
            <a:r>
              <a:rPr sz="2400">
                <a:solidFill>
                  <a:schemeClr val="accent4"/>
                </a:solidFill>
                <a:latin typeface="Consolas"/>
              </a:rPr>
              <a:t>null</a:t>
            </a:r>
          </a:p>
        </p:txBody>
      </p:sp>
      <p:sp>
        <p:nvSpPr>
          <p:cNvPr id="4" name="Code"/>
          <p:cNvSpPr txBox="1"/>
          <p:nvPr/>
        </p:nvSpPr>
        <p:spPr>
          <a:xfrm>
            <a:off x="1962150" y="3733799"/>
            <a:ext cx="82677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String suivant = attente.</a:t>
            </a:r>
            <a:r>
              <a:rPr sz="1800">
                <a:solidFill>
                  <a:srgbClr val="56A8F5"/>
                </a:solidFill>
                <a:latin typeface="Consolas"/>
              </a:rPr>
              <a:t>pollFirst</a:t>
            </a:r>
            <a:r>
              <a:rPr sz="1800">
                <a:solidFill>
                  <a:srgbClr val="BCBEC4"/>
                </a:solidFill>
                <a:latin typeface="Consolas"/>
              </a:rPr>
              <a:t>();   </a:t>
            </a:r>
            <a:r>
              <a:rPr sz="1800">
                <a:solidFill>
                  <a:srgbClr val="7A7E85"/>
                </a:solidFill>
                <a:latin typeface="Consolas"/>
              </a:rPr>
              <a:t>// "Sand", retire</a:t>
            </a:r>
          </a:p>
          <a:p>
            <a:pPr>
              <a:lnSpc>
                <a:spcPct val="100000"/>
              </a:lnSpc>
              <a:spcBef>
                <a:spcPts val="0"/>
              </a:spcBef>
              <a:spcAft>
                <a:spcPts val="0"/>
              </a:spcAft>
            </a:pPr>
            <a:r>
              <a:rPr sz="1800">
                <a:solidFill>
                  <a:srgbClr val="BCBEC4"/>
                </a:solidFill>
                <a:latin typeface="Consolas"/>
              </a:rPr>
              <a:t>String ensuite = attente.</a:t>
            </a:r>
            <a:r>
              <a:rPr sz="1800">
                <a:solidFill>
                  <a:srgbClr val="56A8F5"/>
                </a:solidFill>
                <a:latin typeface="Consolas"/>
              </a:rPr>
              <a:t>peekFirst</a:t>
            </a:r>
            <a:r>
              <a:rPr sz="1800">
                <a:solidFill>
                  <a:srgbClr val="BCBEC4"/>
                </a:solidFill>
                <a:latin typeface="Consolas"/>
              </a:rPr>
              <a:t>();   </a:t>
            </a:r>
            <a:r>
              <a:rPr sz="1800">
                <a:solidFill>
                  <a:srgbClr val="7A7E85"/>
                </a:solidFill>
                <a:latin typeface="Consolas"/>
              </a:rPr>
              <a:t>// "Zola", reste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while</a:t>
            </a:r>
            <a:r>
              <a:rPr sz="1800">
                <a:solidFill>
                  <a:srgbClr val="BCBEC4"/>
                </a:solidFill>
                <a:latin typeface="Consolas"/>
              </a:rPr>
              <a:t> (!attente.</a:t>
            </a:r>
            <a:r>
              <a:rPr sz="1800">
                <a:solidFill>
                  <a:srgbClr val="56A8F5"/>
                </a:solidFill>
                <a:latin typeface="Consolas"/>
              </a:rPr>
              <a:t>isEmpty</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(attente.</a:t>
            </a:r>
            <a:r>
              <a:rPr sz="1800">
                <a:solidFill>
                  <a:srgbClr val="56A8F5"/>
                </a:solidFill>
                <a:latin typeface="Consolas"/>
              </a:rPr>
              <a:t>pollFirst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7. Les files à deux bouts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a:t>
            </a:r>
          </a:p>
        </p:txBody>
      </p:sp>
      <p:sp>
        <p:nvSpPr>
          <p:cNvPr id="12" name="TextBox 11"/>
          <p:cNvSpPr txBox="1"/>
          <p:nvPr/>
        </p:nvSpPr>
        <p:spPr>
          <a:xfrm>
            <a:off x="640080" y="4937759"/>
            <a:ext cx="9326880" cy="822960"/>
          </a:xfrm>
          <a:prstGeom prst="rect">
            <a:avLst/>
          </a:prstGeom>
          <a:noFill/>
        </p:spPr>
        <p:txBody>
          <a:bodyPr wrap="square">
            <a:spAutoFit/>
          </a:bodyPr>
          <a:lstStyle/>
          <a:p>
            <a:r>
              <a:rPr sz="1800"/>
              <a:t>Le </a:t>
            </a:r>
            <a:r>
              <a:rPr sz="1500">
                <a:solidFill>
                  <a:schemeClr val="accent4"/>
                </a:solidFill>
                <a:latin typeface="Consolas"/>
              </a:rPr>
              <a:t>Deck</a:t>
            </a:r>
            <a:r>
              <a:rPr sz="1800"/>
              <a:t> d'</a:t>
            </a:r>
            <a:r>
              <a:rPr sz="1500">
                <a:solidFill>
                  <a:schemeClr val="accent4"/>
                </a:solidFill>
                <a:latin typeface="Consolas"/>
              </a:rPr>
              <a:t>ENU.3</a:t>
            </a:r>
            <a:r>
              <a:rPr sz="1800"/>
              <a:t> quitte son tableau pour une liste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37</a:t>
            </a:fld>
            <a:endParaRPr lang="fr-FR"/>
          </a:p>
        </p:txBody>
      </p:sp>
      <p:sp>
        <p:nvSpPr>
          <p:cNvPr id="1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7. Les files à deux bouts</a:t>
            </a:r>
          </a:p>
        </p:txBody>
      </p:sp>
      <p:pic>
        <p:nvPicPr>
          <p:cNvPr id="15" name="iconGameHub" descr="gamehub.jpg"/>
          <p:cNvPicPr>
            <a:picLocks noChangeAspect="1"/>
          </p:cNvPicPr>
          <p:nvPr/>
        </p:nvPicPr>
        <p:blipFill>
          <a:blip r:embed="rId3"/>
          <a:stretch>
            <a:fillRect/>
          </a:stretch>
        </p:blipFill>
        <p:spPr>
          <a:xfrm rot="420000">
            <a:off x="10479024" y="521207"/>
            <a:ext cx="1216152" cy="1216152"/>
          </a:xfrm>
          <a:prstGeom prst="rect">
            <a:avLst/>
          </a:prstGeom>
        </p:spPr>
      </p:pic>
      <p:grpSp>
        <p:nvGrpSpPr>
          <p:cNvPr id="18" name="Exercice 1"/>
          <p:cNvGrpSpPr/>
          <p:nvPr/>
        </p:nvGrpSpPr>
        <p:grpSpPr>
          <a:xfrm>
            <a:off x="640080" y="1417320"/>
            <a:ext cx="9326880" cy="960120"/>
            <a:chOff x="640080" y="1417320"/>
            <a:chExt cx="9326880" cy="960120"/>
          </a:xfrm>
        </p:grpSpPr>
        <p:sp>
          <p:nvSpPr>
            <p:cNvPr id="1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G.21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a:solidFill>
                    <a:srgbClr val="FFFFFF"/>
                  </a:solidFill>
                </a:rPr>
                <a:t>Le deck en </a:t>
              </a:r>
              <a:r>
                <a:rPr sz="1900">
                  <a:solidFill>
                    <a:srgbClr val="FFFFFF"/>
                  </a:solidFill>
                  <a:latin typeface="Consolas"/>
                </a:rPr>
                <a:t>List</a:t>
              </a:r>
            </a:p>
            <a:p>
              <a:r>
                <a:rPr sz="1400">
                  <a:solidFill>
                    <a:srgbClr val="BCBEC4"/>
                  </a:solidFill>
                </a:rPr>
                <a:t>fil rouge GameHub</a:t>
              </a:r>
            </a:p>
          </p:txBody>
        </p:sp>
      </p:grpSp>
      <p:grpSp>
        <p:nvGrpSpPr>
          <p:cNvPr id="19"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G.22</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200">
                  <a:solidFill>
                    <a:srgbClr val="FFFFFF"/>
                  </a:solidFill>
                </a:rPr>
                <a:t>La carte et sa valeur</a:t>
              </a:r>
            </a:p>
            <a:p>
              <a:r>
                <a:rPr sz="1400">
                  <a:solidFill>
                    <a:srgbClr val="BCBEC4"/>
                  </a:solidFill>
                </a:rPr>
                <a:t>fil rouge GameHub</a:t>
              </a:r>
            </a:p>
          </p:txBody>
        </p:sp>
      </p:grpSp>
      <p:grpSp>
        <p:nvGrpSpPr>
          <p:cNvPr id="20" name="Exercice 3"/>
          <p:cNvGrpSpPr/>
          <p:nvPr/>
        </p:nvGrpSpPr>
        <p:grpSpPr>
          <a:xfrm>
            <a:off x="640080" y="3703320"/>
            <a:ext cx="9326880" cy="960120"/>
            <a:chOff x="640080" y="3703320"/>
            <a:chExt cx="9326880" cy="960120"/>
          </a:xfrm>
        </p:grpSpPr>
        <p:sp>
          <p:nvSpPr>
            <p:cNvPr id="9" name="Rounded Rectangle 8"/>
            <p:cNvSpPr/>
            <p:nvPr/>
          </p:nvSpPr>
          <p:spPr>
            <a:xfrm>
              <a:off x="640080" y="3703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3703320"/>
              <a:ext cx="1920240" cy="960120"/>
            </a:xfrm>
            <a:prstGeom prst="rect">
              <a:avLst/>
            </a:prstGeom>
            <a:noFill/>
          </p:spPr>
          <p:txBody>
            <a:bodyPr wrap="none" anchor="ctr">
              <a:spAutoFit/>
            </a:bodyPr>
            <a:lstStyle/>
            <a:p>
              <a:r>
                <a:rPr sz="3000" b="1">
                  <a:solidFill>
                    <a:schemeClr val="accent4"/>
                  </a:solidFill>
                  <a:latin typeface="Consolas"/>
                </a:rPr>
                <a:t>G.23</a:t>
              </a:r>
            </a:p>
          </p:txBody>
        </p:sp>
        <p:sp>
          <p:nvSpPr>
            <p:cNvPr id="11" name="TextBox 10"/>
            <p:cNvSpPr txBox="1"/>
            <p:nvPr/>
          </p:nvSpPr>
          <p:spPr>
            <a:xfrm>
              <a:off x="2880360" y="3703320"/>
              <a:ext cx="6949440" cy="960120"/>
            </a:xfrm>
            <a:prstGeom prst="rect">
              <a:avLst/>
            </a:prstGeom>
            <a:noFill/>
          </p:spPr>
          <p:txBody>
            <a:bodyPr wrap="square" anchor="ctr">
              <a:spAutoFit/>
            </a:bodyPr>
            <a:lstStyle/>
            <a:p>
              <a:r>
                <a:rPr sz="2200">
                  <a:solidFill>
                    <a:srgbClr val="FFFFFF"/>
                  </a:solidFill>
                </a:rPr>
                <a:t>La version simplifiée</a:t>
              </a:r>
            </a:p>
            <a:p>
              <a:r>
                <a:rPr sz="1400">
                  <a:solidFill>
                    <a:srgbClr val="BCBEC4"/>
                  </a:solidFill>
                </a:rPr>
                <a:t>fil rouge GameHub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 suite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38</a:t>
            </a:fld>
            <a:endParaRPr lang="fr-FR"/>
          </a:p>
        </p:txBody>
      </p:sp>
      <p:sp>
        <p:nvSpPr>
          <p:cNvPr id="1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7. Les files à deux bouts</a:t>
            </a:r>
          </a:p>
        </p:txBody>
      </p:sp>
      <p:pic>
        <p:nvPicPr>
          <p:cNvPr id="17" name="iconGameHub" descr="gamehub.jpg"/>
          <p:cNvPicPr>
            <a:picLocks noChangeAspect="1"/>
          </p:cNvPicPr>
          <p:nvPr/>
        </p:nvPicPr>
        <p:blipFill>
          <a:blip r:embed="rId3"/>
          <a:stretch>
            <a:fillRect/>
          </a:stretch>
        </p:blipFill>
        <p:spPr>
          <a:xfrm rot="420000">
            <a:off x="10479024" y="521207"/>
            <a:ext cx="1216152" cy="1216152"/>
          </a:xfrm>
          <a:prstGeom prst="rect">
            <a:avLst/>
          </a:prstGeom>
        </p:spPr>
      </p:pic>
      <p:grpSp>
        <p:nvGrpSpPr>
          <p:cNvPr id="23" name="Exercice 1"/>
          <p:cNvGrpSpPr/>
          <p:nvPr/>
        </p:nvGrpSpPr>
        <p:grpSpPr>
          <a:xfrm>
            <a:off x="640080" y="1417320"/>
            <a:ext cx="9326880" cy="960120"/>
            <a:chOff x="640080" y="1417320"/>
            <a:chExt cx="9326880" cy="960120"/>
          </a:xfrm>
        </p:grpSpPr>
        <p:sp>
          <p:nvSpPr>
            <p:cNvPr id="15"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G.24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a:solidFill>
                    <a:srgbClr val="FFFFFF"/>
                  </a:solidFill>
                </a:rPr>
                <a:t>La méthode jouer, mise en place</a:t>
              </a:r>
            </a:p>
            <a:p>
              <a:r>
                <a:rPr sz="1400">
                  <a:solidFill>
                    <a:srgbClr val="BCBEC4"/>
                  </a:solidFill>
                </a:rPr>
                <a:t>fil rouge GameHub</a:t>
              </a:r>
            </a:p>
          </p:txBody>
        </p:sp>
      </p:grpSp>
      <p:grpSp>
        <p:nvGrpSpPr>
          <p:cNvPr id="24"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G.25</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200">
                  <a:solidFill>
                    <a:srgbClr val="FFFFFF"/>
                  </a:solidFill>
                </a:rPr>
                <a:t>La méthode jouer, la boucle</a:t>
              </a:r>
            </a:p>
            <a:p>
              <a:r>
                <a:rPr sz="1400">
                  <a:solidFill>
                    <a:srgbClr val="BCBEC4"/>
                  </a:solidFill>
                </a:rPr>
                <a:t>fil rouge GameHub</a:t>
              </a:r>
            </a:p>
          </p:txBody>
        </p:sp>
      </p:grpSp>
      <p:grpSp>
        <p:nvGrpSpPr>
          <p:cNvPr id="25" name="Exercice 3"/>
          <p:cNvGrpSpPr/>
          <p:nvPr/>
        </p:nvGrpSpPr>
        <p:grpSpPr>
          <a:xfrm>
            <a:off x="640080" y="3703320"/>
            <a:ext cx="9326880" cy="960120"/>
            <a:chOff x="640080" y="3703320"/>
            <a:chExt cx="9326880" cy="960120"/>
          </a:xfrm>
        </p:grpSpPr>
        <p:sp>
          <p:nvSpPr>
            <p:cNvPr id="9" name="Rounded Rectangle 8"/>
            <p:cNvSpPr/>
            <p:nvPr/>
          </p:nvSpPr>
          <p:spPr>
            <a:xfrm>
              <a:off x="640080" y="3703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3703320"/>
              <a:ext cx="1920240" cy="960120"/>
            </a:xfrm>
            <a:prstGeom prst="rect">
              <a:avLst/>
            </a:prstGeom>
            <a:noFill/>
          </p:spPr>
          <p:txBody>
            <a:bodyPr wrap="none" anchor="ctr">
              <a:spAutoFit/>
            </a:bodyPr>
            <a:lstStyle/>
            <a:p>
              <a:r>
                <a:rPr sz="3000" b="1">
                  <a:solidFill>
                    <a:schemeClr val="accent4"/>
                  </a:solidFill>
                  <a:latin typeface="Consolas"/>
                </a:rPr>
                <a:t>G.26</a:t>
              </a:r>
            </a:p>
          </p:txBody>
        </p:sp>
        <p:sp>
          <p:nvSpPr>
            <p:cNvPr id="11" name="TextBox 10"/>
            <p:cNvSpPr txBox="1"/>
            <p:nvPr/>
          </p:nvSpPr>
          <p:spPr>
            <a:xfrm>
              <a:off x="2880360" y="3703320"/>
              <a:ext cx="6949440" cy="960120"/>
            </a:xfrm>
            <a:prstGeom prst="rect">
              <a:avLst/>
            </a:prstGeom>
            <a:noFill/>
          </p:spPr>
          <p:txBody>
            <a:bodyPr wrap="square" anchor="ctr">
              <a:spAutoFit/>
            </a:bodyPr>
            <a:lstStyle/>
            <a:p>
              <a:r>
                <a:rPr sz="2200">
                  <a:solidFill>
                    <a:srgbClr val="FFFFFF"/>
                  </a:solidFill>
                </a:rPr>
                <a:t>La méthode jouer, le résultat</a:t>
              </a:r>
            </a:p>
            <a:p>
              <a:r>
                <a:rPr sz="1400">
                  <a:solidFill>
                    <a:srgbClr val="BCBEC4"/>
                  </a:solidFill>
                </a:rPr>
                <a:t>fil rouge GameHub</a:t>
              </a:r>
            </a:p>
          </p:txBody>
        </p:sp>
      </p:grpSp>
      <p:grpSp>
        <p:nvGrpSpPr>
          <p:cNvPr id="26" name="Exercice 4"/>
          <p:cNvGrpSpPr/>
          <p:nvPr/>
        </p:nvGrpSpPr>
        <p:grpSpPr>
          <a:xfrm>
            <a:off x="640080" y="4846320"/>
            <a:ext cx="9326880" cy="960120"/>
            <a:chOff x="640080" y="4846320"/>
            <a:chExt cx="9326880" cy="960120"/>
          </a:xfrm>
        </p:grpSpPr>
        <p:sp>
          <p:nvSpPr>
            <p:cNvPr id="12" name="Rounded Rectangle 11"/>
            <p:cNvSpPr/>
            <p:nvPr/>
          </p:nvSpPr>
          <p:spPr>
            <a:xfrm>
              <a:off x="640080" y="4846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4846320"/>
              <a:ext cx="1920240" cy="960120"/>
            </a:xfrm>
            <a:prstGeom prst="rect">
              <a:avLst/>
            </a:prstGeom>
            <a:noFill/>
          </p:spPr>
          <p:txBody>
            <a:bodyPr wrap="none" anchor="ctr">
              <a:spAutoFit/>
            </a:bodyPr>
            <a:lstStyle/>
            <a:p>
              <a:r>
                <a:rPr sz="3000" b="1">
                  <a:solidFill>
                    <a:schemeClr val="accent4"/>
                  </a:solidFill>
                  <a:latin typeface="Consolas"/>
                </a:rPr>
                <a:t>G.27</a:t>
              </a:r>
            </a:p>
          </p:txBody>
        </p:sp>
        <p:sp>
          <p:nvSpPr>
            <p:cNvPr id="14" name="TextBox 13"/>
            <p:cNvSpPr txBox="1"/>
            <p:nvPr/>
          </p:nvSpPr>
          <p:spPr>
            <a:xfrm>
              <a:off x="2880360" y="4846320"/>
              <a:ext cx="6949440" cy="960120"/>
            </a:xfrm>
            <a:prstGeom prst="rect">
              <a:avLst/>
            </a:prstGeom>
            <a:noFill/>
          </p:spPr>
          <p:txBody>
            <a:bodyPr wrap="square" anchor="ctr">
              <a:spAutoFit/>
            </a:bodyPr>
            <a:lstStyle/>
            <a:p>
              <a:r>
                <a:rPr sz="2200">
                  <a:solidFill>
                    <a:srgbClr val="FFFFFF"/>
                  </a:solidFill>
                </a:rPr>
                <a:t>La vraie bataille</a:t>
              </a:r>
            </a:p>
            <a:p>
              <a:r>
                <a:rPr sz="1400">
                  <a:solidFill>
                    <a:srgbClr val="BCBEC4"/>
                  </a:solidFill>
                </a:rPr>
                <a:t>fil rouge GameHub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115265</TotalTime>
  <Words>5933</Words>
  <Application>Microsoft Macintosh PowerPoint</Application>
  <PresentationFormat>Grand écran</PresentationFormat>
  <Paragraphs>436</Paragraphs>
  <Slides>38</Slides>
  <Notes>38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38</vt:i4>
      </vt:variant>
    </vt:vector>
  </HeadingPairs>
  <TitlesOfParts>
    <vt:vector size="44" baseType="lpstr">
      <vt:lpstr>Aptos</vt:lpstr>
      <vt:lpstr>Arial</vt:lpstr>
      <vt:lpstr>Calibri</vt:lpstr>
      <vt:lpstr>Consolas</vt:lpstr>
      <vt:lpstr>Corbel</vt:lpstr>
      <vt:lpstr>ThemeEphec2022</vt:lpstr>
      <vt:lpstr>JAVA 2</vt:lpstr>
      <vt:lpstr>Au programme</vt:lpstr>
      <vt:lpstr>Présentation PowerPoint</vt:lpstr>
      <vt:lpstr>Démonstration</vt:lpstr>
      <vt:lpstr>Ce qu'on écrit entre chevrons</vt:lpstr>
      <vt:lpstr>Des objets, pas des types primitifs</vt:lpstr>
      <vt:lpstr>Déclarer par l'interface</vt:lpstr>
      <vt:lpstr>Présentation PowerPoint</vt:lpstr>
      <vt:lpstr>Les opérations d'une liste</vt:lpstr>
      <vt:lpstr>Parcourir une collection</vt:lpstr>
      <vt:lpstr>ArrayList ou LinkedList</vt:lpstr>
      <vt:lpstr>Collection et Collections</vt:lpstr>
      <vt:lpstr>Nommer ses bornes</vt:lpstr>
      <vt:lpstr>Exercices</vt:lpstr>
      <vt:lpstr>Présentation PowerPoint</vt:lpstr>
      <vt:lpstr>Ce qu'un ensemble refuse</vt:lpstr>
      <vt:lpstr>Qui décide que deux éléments sont égaux</vt:lpstr>
      <vt:lpstr>Hash ou Tree</vt:lpstr>
      <vt:lpstr>Exercices</vt:lpstr>
      <vt:lpstr>Présentation PowerPoint</vt:lpstr>
      <vt:lpstr>Ranger et retrouver par clé</vt:lpstr>
      <vt:lpstr>Une clé absente</vt:lpstr>
      <vt:lpstr>Trois façons de parcourir une table</vt:lpstr>
      <vt:lpstr>Exercices</vt:lpstr>
      <vt:lpstr>Présentation PowerPoint</vt:lpstr>
      <vt:lpstr>Des méthodes ajoutées aux interfaces</vt:lpstr>
      <vt:lpstr>Une méthode qui reçoit un critère</vt:lpstr>
      <vt:lpstr>Écrire le critère dans une classe</vt:lpstr>
      <vt:lpstr>Exercices</vt:lpstr>
      <vt:lpstr>Présentation PowerPoint</vt:lpstr>
      <vt:lpstr>Lire un type emboîté</vt:lpstr>
      <vt:lpstr>Créer au premier usage</vt:lpstr>
      <vt:lpstr>Exercices</vt:lpstr>
      <vt:lpstr>Présentation PowerPoint</vt:lpstr>
      <vt:lpstr>Une file à deux bouts</vt:lpstr>
      <vt:lpstr>Prendre et remettre</vt:lpstr>
      <vt:lpstr>Le fil rouge</vt:lpstr>
      <vt:lpstr>Le fil rouge, suite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37</cp:revision>
  <dcterms:created xsi:type="dcterms:W3CDTF">2023-01-04T13:50:20Z</dcterms:created>
  <dcterms:modified xsi:type="dcterms:W3CDTF">2026-10-15T10:20:55Z</dcterms:modified>
</cp:coreProperties>
</file>