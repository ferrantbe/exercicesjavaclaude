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50"/>
  </p:notesMasterIdLst>
  <p:handoutMasterIdLst>
    <p:handoutMasterId r:id="rId51"/>
  </p:handoutMasterIdLst>
  <p:sldIdLst>
    <p:sldId id="568" r:id="rId2"/>
    <p:sldId id="613" r:id="rId3"/>
    <p:sldId id="569" r:id="rId4"/>
    <p:sldId id="570" r:id="rId5"/>
    <p:sldId id="571" r:id="rId6"/>
    <p:sldId id="572" r:id="rId7"/>
    <p:sldId id="573" r:id="rId8"/>
    <p:sldId id="574" r:id="rId9"/>
    <p:sldId id="575" r:id="rId10"/>
    <p:sldId id="576" r:id="rId11"/>
    <p:sldId id="659" r:id="rId12"/>
    <p:sldId id="577" r:id="rId13"/>
    <p:sldId id="662" r:id="rId14"/>
    <p:sldId id="578" r:id="rId15"/>
    <p:sldId id="579" r:id="rId16"/>
    <p:sldId id="580" r:id="rId17"/>
    <p:sldId id="581" r:id="rId18"/>
    <p:sldId id="582" r:id="rId19"/>
    <p:sldId id="583" r:id="rId20"/>
    <p:sldId id="584" r:id="rId21"/>
    <p:sldId id="585" r:id="rId22"/>
    <p:sldId id="586" r:id="rId23"/>
    <p:sldId id="587" r:id="rId24"/>
    <p:sldId id="588" r:id="rId25"/>
    <p:sldId id="589" r:id="rId26"/>
    <p:sldId id="590" r:id="rId27"/>
    <p:sldId id="591" r:id="rId28"/>
    <p:sldId id="592" r:id="rId29"/>
    <p:sldId id="593" r:id="rId30"/>
    <p:sldId id="594" r:id="rId31"/>
    <p:sldId id="595" r:id="rId32"/>
    <p:sldId id="596" r:id="rId33"/>
    <p:sldId id="597" r:id="rId34"/>
    <p:sldId id="598" r:id="rId35"/>
    <p:sldId id="599" r:id="rId36"/>
    <p:sldId id="600" r:id="rId37"/>
    <p:sldId id="601" r:id="rId38"/>
    <p:sldId id="602" r:id="rId39"/>
    <p:sldId id="603" r:id="rId40"/>
    <p:sldId id="604" r:id="rId41"/>
    <p:sldId id="605" r:id="rId42"/>
    <p:sldId id="606" r:id="rId43"/>
    <p:sldId id="607" r:id="rId44"/>
    <p:sldId id="608" r:id="rId45"/>
    <p:sldId id="609" r:id="rId46"/>
    <p:sldId id="610" r:id="rId47"/>
    <p:sldId id="611" r:id="rId48"/>
    <p:sldId id="612"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BFE9442-F489-59A1-AEB6-E2176CE27B6E}">
          <p14:sldIdLst>
            <p14:sldId id="568"/>
            <p14:sldId id="613"/>
          </p14:sldIdLst>
        </p14:section>
        <p14:section name="1. Les classes de java.time" id="{6A03C12B-8633-5951-80D0-838D2B131415}">
          <p14:sldIdLst>
            <p14:sldId id="569"/>
            <p14:sldId id="570"/>
            <p14:sldId id="571"/>
            <p14:sldId id="572"/>
            <p14:sldId id="573"/>
            <p14:sldId id="574"/>
            <p14:sldId id="575"/>
            <p14:sldId id="576"/>
            <p14:sldId id="659"/>
            <p14:sldId id="577"/>
            <p14:sldId id="662"/>
            <p14:sldId id="578"/>
            <p14:sldId id="579"/>
          </p14:sldIdLst>
        </p14:section>
        <p14:section name="2. Mesurer un écart" id="{73CE1FB5-F4A2-5B2F-9720-CC587A0D1647}">
          <p14:sldIdLst>
            <p14:sldId id="580"/>
            <p14:sldId id="581"/>
            <p14:sldId id="582"/>
            <p14:sldId id="583"/>
          </p14:sldIdLst>
        </p14:section>
        <p14:section name="3. Une date ne change pas" id="{7344FADD-A5BF-5EEA-87C9-0E873DD7A85B}">
          <p14:sldIdLst>
            <p14:sldId id="584"/>
            <p14:sldId id="585"/>
            <p14:sldId id="586"/>
            <p14:sldId id="587"/>
          </p14:sldIdLst>
        </p14:section>
        <p14:section name="4. L'affichage formaté" id="{69C4F1CC-8218-5400-9CA7-DF3B68723650}">
          <p14:sldIdLst>
            <p14:sldId id="588"/>
            <p14:sldId id="589"/>
            <p14:sldId id="590"/>
            <p14:sldId id="591"/>
            <p14:sldId id="592"/>
            <p14:sldId id="593"/>
          </p14:sldIdLst>
        </p14:section>
        <p14:section name="5. Date ou instant ?" id="{4E3C8FFF-E298-53B9-A447-58C886A42E79}">
          <p14:sldIdLst>
            <p14:sldId id="594"/>
            <p14:sldId id="595"/>
            <p14:sldId id="596"/>
            <p14:sldId id="597"/>
          </p14:sldIdLst>
        </p14:section>
        <p14:section name="6. Arithmétique du calendrier" id="{2719BF53-2B50-59F9-AA11-5598E0815E98}">
          <p14:sldIdLst>
            <p14:sldId id="598"/>
            <p14:sldId id="599"/>
            <p14:sldId id="600"/>
            <p14:sldId id="601"/>
          </p14:sldIdLst>
        </p14:section>
        <p14:section name="7. Period ou Duration" id="{0E50AD1A-6EC2-531F-8093-7CCB2AC97B60}">
          <p14:sldIdLst>
            <p14:sldId id="602"/>
            <p14:sldId id="603"/>
            <p14:sldId id="604"/>
            <p14:sldId id="605"/>
            <p14:sldId id="606"/>
          </p14:sldIdLst>
        </p14:section>
        <p14:section name="8. Une date et son texte" id="{065C84B8-6BEE-5640-840C-C5ACAEEA737C}">
          <p14:sldIdLst>
            <p14:sldId id="607"/>
            <p14:sldId id="608"/>
            <p14:sldId id="609"/>
            <p14:sldId id="610"/>
            <p14:sldId id="611"/>
            <p14:sldId id="61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6306"/>
  </p:normalViewPr>
  <p:slideViewPr>
    <p:cSldViewPr snapToGrid="0">
      <p:cViewPr varScale="1">
        <p:scale>
          <a:sx n="122" d="100"/>
          <a:sy n="122" d="100"/>
        </p:scale>
        <p:origin x="1400" y="20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handoutMaster" Target="handoutMasters/handout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13/10/2026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module compte </a:t>
            </a:r>
            <a:r>
              <a:rPr dirty="0" err="1"/>
              <a:t>huit</a:t>
            </a:r>
            <a:r>
              <a:rPr dirty="0"/>
              <a:t> sections : 1. Les classes de </a:t>
            </a:r>
            <a:r>
              <a:rPr dirty="0" err="1"/>
              <a:t>java.time</a:t>
            </a:r>
            <a:r>
              <a:rPr dirty="0"/>
              <a:t> ; 2. </a:t>
            </a:r>
            <a:r>
              <a:rPr dirty="0" err="1"/>
              <a:t>Mesurer</a:t>
            </a:r>
            <a:r>
              <a:rPr dirty="0"/>
              <a:t> un </a:t>
            </a:r>
            <a:r>
              <a:rPr dirty="0" err="1"/>
              <a:t>écart</a:t>
            </a:r>
            <a:r>
              <a:rPr dirty="0"/>
              <a:t> ; 3. Une date ne change pas ; 4. </a:t>
            </a:r>
            <a:r>
              <a:rPr dirty="0" err="1"/>
              <a:t>L'affichage</a:t>
            </a:r>
            <a:r>
              <a:rPr dirty="0"/>
              <a:t> </a:t>
            </a:r>
            <a:r>
              <a:rPr dirty="0" err="1"/>
              <a:t>formaté</a:t>
            </a:r>
            <a:r>
              <a:rPr dirty="0"/>
              <a:t> ; 5. Date </a:t>
            </a:r>
            <a:r>
              <a:rPr dirty="0" err="1"/>
              <a:t>ou</a:t>
            </a:r>
            <a:r>
              <a:rPr dirty="0"/>
              <a:t> instant ? ; 6. </a:t>
            </a:r>
            <a:r>
              <a:rPr dirty="0" err="1"/>
              <a:t>Arithmétique</a:t>
            </a:r>
            <a:r>
              <a:rPr dirty="0"/>
              <a:t> du </a:t>
            </a:r>
            <a:r>
              <a:rPr dirty="0" err="1"/>
              <a:t>calendrier</a:t>
            </a:r>
            <a:r>
              <a:rPr dirty="0"/>
              <a:t> ; 7. Period </a:t>
            </a:r>
            <a:r>
              <a:rPr dirty="0" err="1"/>
              <a:t>ou</a:t>
            </a:r>
            <a:r>
              <a:rPr dirty="0"/>
              <a:t> Duration ; 8. Une date et son </a:t>
            </a:r>
            <a:r>
              <a:rPr dirty="0" err="1"/>
              <a:t>texte</a:t>
            </a:r>
            <a:r>
              <a:rPr dirty="0"/>
              <a:t>.</a:t>
            </a:r>
          </a:p>
          <a:p>
            <a:r>
              <a:rPr dirty="0" err="1"/>
              <a:t>Chaque</a:t>
            </a:r>
            <a:r>
              <a:rPr dirty="0"/>
              <a:t> </a:t>
            </a:r>
            <a:r>
              <a:rPr dirty="0" err="1"/>
              <a:t>intercalaire</a:t>
            </a:r>
            <a:r>
              <a:rPr dirty="0"/>
              <a:t> </a:t>
            </a:r>
            <a:r>
              <a:rPr dirty="0" err="1"/>
              <a:t>porte</a:t>
            </a:r>
            <a:r>
              <a:rPr dirty="0"/>
              <a:t> le </a:t>
            </a:r>
            <a:r>
              <a:rPr dirty="0" err="1"/>
              <a:t>numéro</a:t>
            </a:r>
            <a:r>
              <a:rPr dirty="0"/>
              <a:t> de </a:t>
            </a:r>
            <a:r>
              <a:rPr dirty="0" err="1"/>
              <a:t>sa</a:t>
            </a:r>
            <a:r>
              <a:rPr dirty="0"/>
              <a:t> section, et </a:t>
            </a:r>
            <a:r>
              <a:rPr dirty="0" err="1"/>
              <a:t>chaque</a:t>
            </a:r>
            <a:r>
              <a:rPr dirty="0"/>
              <a:t> page </a:t>
            </a:r>
            <a:r>
              <a:rPr dirty="0" err="1"/>
              <a:t>rappelle</a:t>
            </a:r>
            <a:r>
              <a:rPr dirty="0"/>
              <a:t> </a:t>
            </a:r>
            <a:r>
              <a:rPr dirty="0" err="1"/>
              <a:t>en</a:t>
            </a:r>
            <a:r>
              <a:rPr dirty="0"/>
              <a:t> bas à droite la section </a:t>
            </a:r>
            <a:r>
              <a:rPr dirty="0" err="1"/>
              <a:t>en</a:t>
            </a:r>
            <a:r>
              <a:rPr dirty="0"/>
              <a:t> </a:t>
            </a:r>
            <a:r>
              <a:rPr dirty="0" err="1"/>
              <a:t>cours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Manipuler</a:t>
            </a:r>
            <a:r>
              <a:rPr dirty="0"/>
              <a:t> </a:t>
            </a:r>
            <a:r>
              <a:rPr dirty="0" err="1"/>
              <a:t>une</a:t>
            </a:r>
            <a:r>
              <a:rPr dirty="0"/>
              <a:t> date </a:t>
            </a:r>
            <a:r>
              <a:rPr dirty="0" err="1"/>
              <a:t>paraît</a:t>
            </a:r>
            <a:r>
              <a:rPr dirty="0"/>
              <a:t> simple tant </a:t>
            </a:r>
            <a:r>
              <a:rPr dirty="0" err="1"/>
              <a:t>qu'on</a:t>
            </a:r>
            <a:r>
              <a:rPr dirty="0"/>
              <a:t> ne </a:t>
            </a:r>
            <a:r>
              <a:rPr dirty="0" err="1"/>
              <a:t>s'y</a:t>
            </a:r>
            <a:r>
              <a:rPr dirty="0"/>
              <a:t> met pas. Cette section montre </a:t>
            </a:r>
            <a:r>
              <a:rPr dirty="0" err="1"/>
              <a:t>pourquoi</a:t>
            </a:r>
            <a:r>
              <a:rPr dirty="0"/>
              <a:t> le JDK y </a:t>
            </a:r>
            <a:r>
              <a:rPr dirty="0" err="1"/>
              <a:t>consacre</a:t>
            </a:r>
            <a:r>
              <a:rPr dirty="0"/>
              <a:t> un package </a:t>
            </a:r>
            <a:r>
              <a:rPr dirty="0" err="1"/>
              <a:t>entier</a:t>
            </a:r>
            <a:r>
              <a:rPr dirty="0"/>
              <a:t>, </a:t>
            </a:r>
            <a:r>
              <a:rPr dirty="0" err="1"/>
              <a:t>quelles</a:t>
            </a:r>
            <a:r>
              <a:rPr dirty="0"/>
              <a:t> </a:t>
            </a:r>
            <a:r>
              <a:rPr dirty="0" err="1"/>
              <a:t>sont</a:t>
            </a:r>
            <a:r>
              <a:rPr dirty="0"/>
              <a:t> les trois classes </a:t>
            </a:r>
            <a:r>
              <a:rPr dirty="0" err="1"/>
              <a:t>que</a:t>
            </a:r>
            <a:r>
              <a:rPr dirty="0"/>
              <a:t> vous </a:t>
            </a:r>
            <a:r>
              <a:rPr dirty="0" err="1"/>
              <a:t>utiliserez</a:t>
            </a:r>
            <a:r>
              <a:rPr dirty="0"/>
              <a:t> tout le temps, et comment les </a:t>
            </a:r>
            <a:r>
              <a:rPr dirty="0" err="1"/>
              <a:t>fabriquer</a:t>
            </a:r>
            <a:r>
              <a:rPr dirty="0"/>
              <a:t>, les lire et les comparer.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pourriez être tenté de stocker une date dans trois </a:t>
            </a:r>
            <a:r>
              <a:rPr>
                <a:latin typeface="Consolas"/>
              </a:rPr>
              <a:t>int</a:t>
            </a:r>
            <a:r>
              <a:t> et de faire l'arithmétique vous-même. C'est ce que faisaient les programmes des années 90, et c'est la source d'une quantité impressionnante de bogues : mois de longueur variable, années bissextiles, passage d'année. Le JDK fait ce travail pour vous, et le fait correctement. Votre part consiste à savoir quelle classe demander.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trois classes vivent dans </a:t>
            </a:r>
            <a:r>
              <a:rPr>
                <a:latin typeface="Consolas"/>
              </a:rPr>
              <a:t>java.time</a:t>
            </a:r>
            <a:r>
              <a:t>, arrivé avec Java 8. Le mot « Local » signifie qu'elles ignorent les fuseaux horaires : elles décrivent une date ou une heure telle qu'on la lit sur un calendrier ou une horloge murale, sans dire où. Pour un anniversaire ou un horaire de cours, c'est exactement ce qu'il faut. Pour un vol Bruxelles-Tokyo, il faudra </a:t>
            </a:r>
            <a:r>
              <a:rPr>
                <a:latin typeface="Consolas"/>
              </a:rPr>
              <a:t>ZonedDateTime</a:t>
            </a:r>
            <a:r>
              <a:t>, qui dépasse ce cours.</a:t>
            </a:r>
          </a:p>
          <a:p>
            <a:r>
              <a:t>Une nuance qui coûte cher quand on l'ignore : le fuseau de la machine n'intervient qu'une fois, dans </a:t>
            </a:r>
            <a:r>
              <a:rPr>
                <a:latin typeface="Consolas"/>
              </a:rPr>
              <a:t>now()</a:t>
            </a:r>
            <a:r>
              <a:t>, pour décider quelle date il est à cet instant. L'objet produit n'en garde aucune trace. Un </a:t>
            </a:r>
            <a:r>
              <a:rPr>
                <a:latin typeface="Consolas"/>
              </a:rPr>
              <a:t>LocalDateTime</a:t>
            </a:r>
            <a:r>
              <a:t> déplacé d'un serveur à l'autre désigne donc toujours la même heure de calendrier, et c'est précisément ce qu'on lui demande.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 tableau est la carte du module. Les deux </a:t>
            </a:r>
            <a:r>
              <a:rPr dirty="0" err="1"/>
              <a:t>dernières</a:t>
            </a:r>
            <a:r>
              <a:rPr dirty="0"/>
              <a:t> </a:t>
            </a:r>
            <a:r>
              <a:rPr dirty="0" err="1"/>
              <a:t>lignes</a:t>
            </a:r>
            <a:r>
              <a:rPr dirty="0"/>
              <a:t>, </a:t>
            </a:r>
            <a:r>
              <a:rPr dirty="0">
                <a:latin typeface="Consolas"/>
              </a:rPr>
              <a:t>Period</a:t>
            </a:r>
            <a:r>
              <a:rPr dirty="0"/>
              <a:t> et </a:t>
            </a:r>
            <a:r>
              <a:rPr dirty="0">
                <a:latin typeface="Consolas"/>
              </a:rPr>
              <a:t>Duration</a:t>
            </a:r>
            <a:r>
              <a:rPr dirty="0"/>
              <a:t>, </a:t>
            </a:r>
            <a:r>
              <a:rPr dirty="0" err="1"/>
              <a:t>feront</a:t>
            </a:r>
            <a:r>
              <a:rPr dirty="0"/>
              <a:t> </a:t>
            </a:r>
            <a:r>
              <a:rPr dirty="0" err="1"/>
              <a:t>l'objet</a:t>
            </a:r>
            <a:r>
              <a:rPr dirty="0"/>
              <a:t> de la section 7 — </a:t>
            </a:r>
            <a:r>
              <a:rPr dirty="0" err="1"/>
              <a:t>retenez</a:t>
            </a:r>
            <a:r>
              <a:rPr dirty="0"/>
              <a:t> pour </a:t>
            </a:r>
            <a:r>
              <a:rPr dirty="0" err="1"/>
              <a:t>l'instant</a:t>
            </a:r>
            <a:r>
              <a:rPr dirty="0"/>
              <a:t> </a:t>
            </a:r>
            <a:r>
              <a:rPr dirty="0" err="1"/>
              <a:t>qu'il</a:t>
            </a:r>
            <a:r>
              <a:rPr dirty="0"/>
              <a:t> </a:t>
            </a:r>
            <a:r>
              <a:rPr dirty="0" err="1"/>
              <a:t>existe</a:t>
            </a:r>
            <a:r>
              <a:rPr dirty="0"/>
              <a:t> deux façons de </a:t>
            </a:r>
            <a:r>
              <a:rPr dirty="0" err="1"/>
              <a:t>mesurer</a:t>
            </a:r>
            <a:r>
              <a:rPr dirty="0"/>
              <a:t> un </a:t>
            </a:r>
            <a:r>
              <a:rPr dirty="0" err="1"/>
              <a:t>écart</a:t>
            </a:r>
            <a:r>
              <a:rPr dirty="0"/>
              <a:t>, et </a:t>
            </a:r>
            <a:r>
              <a:rPr dirty="0" err="1"/>
              <a:t>qu'elles</a:t>
            </a:r>
            <a:r>
              <a:rPr dirty="0"/>
              <a:t> ne se valent pas.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package </a:t>
            </a:r>
            <a:r>
              <a:rPr dirty="0" err="1">
                <a:latin typeface="Consolas"/>
              </a:rPr>
              <a:t>java.time</a:t>
            </a:r>
            <a:r>
              <a:rPr dirty="0"/>
              <a:t> ne </a:t>
            </a:r>
            <a:r>
              <a:rPr dirty="0" err="1"/>
              <a:t>demande</a:t>
            </a:r>
            <a:r>
              <a:rPr dirty="0"/>
              <a:t> </a:t>
            </a:r>
            <a:r>
              <a:rPr dirty="0" err="1"/>
              <a:t>aucune</a:t>
            </a:r>
            <a:r>
              <a:rPr dirty="0"/>
              <a:t> </a:t>
            </a:r>
            <a:r>
              <a:rPr dirty="0" err="1"/>
              <a:t>dépendance</a:t>
            </a:r>
            <a:r>
              <a:rPr dirty="0"/>
              <a:t> : il arrive avec le JDK. </a:t>
            </a:r>
            <a:r>
              <a:rPr dirty="0" err="1"/>
              <a:t>C'est</a:t>
            </a:r>
            <a:r>
              <a:rPr dirty="0"/>
              <a:t> </a:t>
            </a:r>
            <a:r>
              <a:rPr dirty="0" err="1"/>
              <a:t>ce</a:t>
            </a:r>
            <a:r>
              <a:rPr dirty="0"/>
              <a:t> qui distingue la bibliothèque standard des bibliothèques tierces, </a:t>
            </a:r>
            <a:r>
              <a:rPr dirty="0" err="1"/>
              <a:t>que</a:t>
            </a:r>
            <a:r>
              <a:rPr dirty="0"/>
              <a:t> Maven </a:t>
            </a:r>
            <a:r>
              <a:rPr dirty="0" err="1"/>
              <a:t>devra</a:t>
            </a:r>
            <a:r>
              <a:rPr dirty="0"/>
              <a:t> </a:t>
            </a:r>
            <a:r>
              <a:rPr dirty="0" err="1"/>
              <a:t>aller</a:t>
            </a:r>
            <a:r>
              <a:rPr dirty="0"/>
              <a:t> </a:t>
            </a:r>
            <a:r>
              <a:rPr dirty="0" err="1"/>
              <a:t>chercher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LocalDate</a:t>
            </a:r>
            <a:r>
              <a:t> n'a pas de constructeur public. On fabrique une date par une méthode statique, appelée sur la classe et non sur un objet : </a:t>
            </a:r>
            <a:r>
              <a:rPr>
                <a:latin typeface="Consolas"/>
              </a:rPr>
              <a:t>now</a:t>
            </a:r>
            <a:r>
              <a:t>, </a:t>
            </a:r>
            <a:r>
              <a:rPr>
                <a:latin typeface="Consolas"/>
              </a:rPr>
              <a:t>of</a:t>
            </a:r>
            <a:r>
              <a:t> ou </a:t>
            </a:r>
            <a:r>
              <a:rPr>
                <a:latin typeface="Consolas"/>
              </a:rPr>
              <a:t>parse</a:t>
            </a:r>
            <a:r>
              <a:t>. Vous avez rencontré ce motif au module POO, avec les méthodes statiques des wrappers.</a:t>
            </a:r>
          </a:p>
          <a:p>
            <a:r>
              <a:t>La méthode </a:t>
            </a:r>
            <a:r>
              <a:rPr>
                <a:latin typeface="Consolas"/>
              </a:rPr>
              <a:t>of</a:t>
            </a:r>
            <a:r>
              <a:t> prend les nombres dans l'ordre naturel, année, mois, jour — et le mois va de 1 à 12, sans le décalage d'une case qu'on trouve dans de vieilles API. La méthode </a:t>
            </a:r>
            <a:r>
              <a:rPr>
                <a:latin typeface="Consolas"/>
              </a:rPr>
              <a:t>parse</a:t>
            </a:r>
            <a:r>
              <a:t> n'accepte que le format ISO ; tout autre format demandera un </a:t>
            </a:r>
            <a:r>
              <a:rPr>
                <a:latin typeface="Consolas"/>
              </a:rPr>
              <a:t>DateTimeFormatter</a:t>
            </a:r>
            <a:r>
              <a:t>, en section 8.</a:t>
            </a:r>
          </a:p>
          <a:p>
            <a:r>
              <a:rPr lang="fr-BE" dirty="0"/>
              <a:t>Le code complet, à exécuter : demos, classe demo.tmp.slides.FabriquerEtLireUneDate.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accesseurs sont nombreux et leurs noms sont prévisibles. Deux remarques. La méthode </a:t>
            </a:r>
            <a:r>
              <a:rPr>
                <a:latin typeface="Consolas"/>
              </a:rPr>
              <a:t>getDayOfWeek</a:t>
            </a:r>
            <a:r>
              <a:t> ne retourne pas un nombre mais un </a:t>
            </a:r>
            <a:r>
              <a:rPr>
                <a:latin typeface="Consolas"/>
              </a:rPr>
              <a:t>DayOfWeek</a:t>
            </a:r>
            <a:r>
              <a:t>, qui est une énumération : un type dont les valeurs sont connues d'avance. Vous les étudierez au module ENU, et vous pourrez alors relire cette ligne ; pour l'instant, il suffit de savoir que </a:t>
            </a:r>
            <a:r>
              <a:rPr>
                <a:latin typeface="Consolas"/>
              </a:rPr>
              <a:t>jour</a:t>
            </a:r>
            <a:r>
              <a:t> peut s'afficher et se comparer. Et </a:t>
            </a:r>
            <a:r>
              <a:rPr>
                <a:latin typeface="Consolas"/>
              </a:rPr>
              <a:t>lengthOfMonth</a:t>
            </a:r>
            <a:r>
              <a:t> répond à une question que vous ne voudrez jamais calculer vous-même.</a:t>
            </a:r>
          </a:p>
          <a:p>
            <a:r>
              <a:rPr lang="fr-BE" dirty="0"/>
              <a:t>Le code complet, à exécuter : demos, classe demo.tmp.slides.FabriquerEtLireUneDate.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opérateurs de comparaison ne fonctionnent que sur les types primitifs. Une date est un objet ; on la compare donc par des méthodes. C'est le même raisonnement que pour les chaînes, où </a:t>
            </a:r>
            <a:r>
              <a:rPr>
                <a:latin typeface="Consolas"/>
              </a:rPr>
              <a:t>equals</a:t>
            </a:r>
            <a:r>
              <a:t> remplace </a:t>
            </a:r>
            <a:r>
              <a:rPr>
                <a:latin typeface="Consolas"/>
              </a:rPr>
              <a:t>==</a:t>
            </a:r>
            <a:r>
              <a:t>. Cette distinction entre primitifs et objets, vue au module POO, resservira tout au long de l'année.</a:t>
            </a:r>
          </a:p>
          <a:p>
            <a:r>
              <a:rPr lang="fr-BE" dirty="0"/>
              <a:t>Le code complet, à exécuter : demos, classe demo.tmp.slides.FabriquerEtLireUneDate.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LocalDate représente une date du calendrier, sans heure. Ce tableau rassemble les opérations les plus courantes : obtenir la date du jour, construire une date précise, se déplacer dans le calendrier, interroger une date.</a:t>
            </a:r>
          </a:p>
          <a:p>
            <a:r>
              <a:rPr lang="fr-BE"/>
              <a:t>Les éléments en italique sont statiques, comme IntelliJ les affiche : now, parse et of s'appellent sur la classe elle-même, LocalDate.now(), et non sur une date existante ; MONTHS et DAYS sont des constantes de ChronoUnit, qui désigne l'unité de mesure et se trouve dans le package java.time.temporal. Toutes les autres méthodes s'appellent sur une date.</a:t>
            </a:r>
          </a:p>
          <a:p>
            <a:r>
              <a:rPr lang="fr-BE"/>
              <a:t>Aucune de ces méthodes ne modifie la date d'origine : plusDays ou minus rendent une nouvelle date. La section 3 y revient.</a:t>
            </a:r>
          </a:p>
          <a:p>
            <a:r>
              <a:rPr lang="fr-BE" dirty="0"/>
              <a:t>Le code complet, à exécuter : demos, classe demo.tmp.slides.ExemplesAvecLocalDate.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LocalTime</a:t>
            </a:r>
            <a:r>
              <a:t> suit exactement les mêmes conventions : pas de constructeur, des méthodes statiques, des accesseurs prévisibles. Quelques constantes sont fournies pour les valeurs remarquables.</a:t>
            </a:r>
          </a:p>
          <a:p>
            <a:r>
              <a:rPr lang="fr-BE" dirty="0"/>
              <a:t>Le code complet, à exécuter : demos, classe demo.tmp.slides.ExemplesAvecLocalTime.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LocalTime représente une heure de la journée, sans date. Ses méthodes suivent la même logique que celles de LocalDate : now, parse et of pour obtenir une heure, plus et minus pour se déplacer, getHour ou getMinute pour l'interroger, isBefore et isAfter pour comparer deux heures.</a:t>
            </a:r>
          </a:p>
          <a:p>
            <a:r>
              <a:rPr lang="fr-BE"/>
              <a:t>Les constantes désignent des heures particulières : MIN et MIDNIGHT valent toutes deux minuit, MAX la dernière nanoseconde de la journée, et NOON midi.</a:t>
            </a:r>
          </a:p>
          <a:p>
            <a:r>
              <a:rPr lang="fr-BE" dirty="0"/>
              <a:t>Le code complet, à exécuter : demos, classe demo.tmp.slides.ExemplesAvecLocalTime.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LocalDateTime</a:t>
            </a:r>
            <a:r>
              <a:t> combine les deux, et sait retourner chacune de ses moitiés. Retenez cette dernière possibilité : passer d'une classe à l'autre est souvent la réponse à une méthode qui refuse vos arguments.</a:t>
            </a:r>
          </a:p>
          <a:p>
            <a:r>
              <a:rPr lang="fr-BE" dirty="0"/>
              <a:t>Le code complet, à exécuter : demos, classe demo.tmp.slides.LesDeuxALaFois.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ne présente aucune API nouvelle. Elle montre comment trouver seul, dans l'éditeur, ce qu'on ne connaît pas encore : la complétion comme table des matières, la bulle de documentation comme réseau de liens, et le piège d'un nom qui ressemble à ce qu'on cherche sans en être. C'est la méthode que les énoncés supposent acquise chaque fois qu'ils écrivent « cherchez dans la Javadoc ». Renvois </a:t>
            </a:r>
            <a:r>
              <a:rPr>
                <a:latin typeface="Consolas"/>
              </a:rPr>
              <a:t>IDE.11</a:t>
            </a:r>
            <a:r>
              <a:t> et </a:t>
            </a:r>
            <a:r>
              <a:rPr>
                <a:latin typeface="Consolas"/>
              </a:rPr>
              <a:t>IDE.14</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Combien de jours entre deux dates ? La question a l'air anodine ; elle demande de choisir une unité, et de savoir dans quel sens compter.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tournure surprend : c'est l'unité qui porte la méthode </a:t>
            </a:r>
            <a:r>
              <a:rPr>
                <a:latin typeface="Consolas"/>
              </a:rPr>
              <a:t>between</a:t>
            </a:r>
            <a:r>
              <a:t>, et les deux dates sont ses arguments. Lisez-la de gauche à droite — « en jours, l'écart entre ceci et cela ». </a:t>
            </a:r>
            <a:r>
              <a:rPr>
                <a:latin typeface="Consolas"/>
              </a:rPr>
              <a:t>ChronoUnit</a:t>
            </a:r>
            <a:r>
              <a:t> propose </a:t>
            </a:r>
            <a:r>
              <a:rPr>
                <a:latin typeface="Consolas"/>
              </a:rPr>
              <a:t>DAYS</a:t>
            </a:r>
            <a:r>
              <a:t>, </a:t>
            </a:r>
            <a:r>
              <a:rPr>
                <a:latin typeface="Consolas"/>
              </a:rPr>
              <a:t>WEEKS</a:t>
            </a:r>
            <a:r>
              <a:t>, </a:t>
            </a:r>
            <a:r>
              <a:rPr>
                <a:latin typeface="Consolas"/>
              </a:rPr>
              <a:t>MONTHS</a:t>
            </a:r>
            <a:r>
              <a:t>, </a:t>
            </a:r>
            <a:r>
              <a:rPr>
                <a:latin typeface="Consolas"/>
              </a:rPr>
              <a:t>YEARS</a:t>
            </a:r>
            <a:r>
              <a:t>, et une dizaine d'autres.</a:t>
            </a:r>
          </a:p>
          <a:p>
            <a:r>
              <a:rPr lang="fr-BE" dirty="0"/>
              <a:t>Le code complet, à exécuter : demos, classe demo.tmp.slides.ChronoUnitLUniteDeMesure.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between</a:t>
            </a:r>
            <a:r>
              <a:t> tronque : entre le 1er et le 30 janvier il n'y a pas un mois entier, donc la réponse est zéro. Ce n'est pas un défaut, c'est une définition, et il faut la connaître avant de s'en étonner.</a:t>
            </a:r>
          </a:p>
          <a:p>
            <a:r>
              <a:t>L'ordre compte aussi : inverser les deux dates inverse le signe. Le résultat est un </a:t>
            </a:r>
            <a:r>
              <a:rPr>
                <a:latin typeface="Consolas"/>
              </a:rPr>
              <a:t>long</a:t>
            </a:r>
            <a:r>
              <a:t> parce qu'un écart exprimé en secondes déborde très vite la capacité d'un </a:t>
            </a:r>
            <a:r>
              <a:rPr>
                <a:latin typeface="Consolas"/>
              </a:rPr>
              <a:t>int</a:t>
            </a:r>
            <a:r>
              <a:t> — la question revient en section 5.</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méthodes statiques qui mesurent le même écart dans quatre unités, et un programme qui les appelle. Les méthodes ne lisent rien au clavier et n'affichent rien : elles reçoivent deux dates et retournent un nombre. C'est la séparation entre le calcul et le dialogue, posée au module POO et appliquée partout ensuite.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courte, et volontairement incomplète : elle pose une question, vous la tranchez par l'exercice, et la dernière slide en tire la règle.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méthodes existent par dizaines et leurs noms ne posent aucune difficulté : </a:t>
            </a:r>
            <a:r>
              <a:rPr>
                <a:latin typeface="Consolas"/>
              </a:rPr>
              <a:t>plusDays</a:t>
            </a:r>
            <a:r>
              <a:t>, </a:t>
            </a:r>
            <a:r>
              <a:rPr>
                <a:latin typeface="Consolas"/>
              </a:rPr>
              <a:t>minusMonths</a:t>
            </a:r>
            <a:r>
              <a:t>, </a:t>
            </a:r>
            <a:r>
              <a:rPr>
                <a:latin typeface="Consolas"/>
              </a:rPr>
              <a:t>withDayOfMonth</a:t>
            </a:r>
            <a:r>
              <a:t>. Leur comportement, en revanche, mérite qu'on regarde de près ce qu'elles font réellement.</a:t>
            </a:r>
          </a:p>
          <a:p>
            <a:r>
              <a:t>Posez la question à la classe avant d'exécuter. C'est l'objet de l'exercice qui suit — ne le devinez pas, exécutez-le. La réponse arrive deux slides plus loin.</a:t>
            </a:r>
          </a:p>
          <a:p>
            <a:r>
              <a:rPr lang="fr-BE" dirty="0"/>
              <a:t>Le code complet, à exécuter : demos, classe demo.tmp.slides.DecalerUneDate.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programme fourni contient une erreur qui ne provoque ni refus du compilateur, ni plantage, ni message d'aucune sorte — et donne pourtant un résultat faux. Lisez sa sortie avant de corriger quoi que ce soit.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a:t>
            </a:r>
            <a:r>
              <a:rPr dirty="0" err="1">
                <a:latin typeface="Consolas"/>
              </a:rPr>
              <a:t>LocalDate</a:t>
            </a:r>
            <a:r>
              <a:rPr dirty="0"/>
              <a:t> est </a:t>
            </a:r>
            <a:r>
              <a:rPr dirty="0" err="1"/>
              <a:t>immuable</a:t>
            </a:r>
            <a:r>
              <a:rPr dirty="0"/>
              <a:t> : </a:t>
            </a:r>
            <a:r>
              <a:rPr dirty="0" err="1"/>
              <a:t>sa</a:t>
            </a:r>
            <a:r>
              <a:rPr dirty="0"/>
              <a:t> </a:t>
            </a:r>
            <a:r>
              <a:rPr dirty="0" err="1"/>
              <a:t>valeur</a:t>
            </a:r>
            <a:r>
              <a:rPr dirty="0"/>
              <a:t> est </a:t>
            </a:r>
            <a:r>
              <a:rPr dirty="0" err="1"/>
              <a:t>fixée</a:t>
            </a:r>
            <a:r>
              <a:rPr dirty="0"/>
              <a:t> à la construction et ne </a:t>
            </a:r>
            <a:r>
              <a:rPr dirty="0" err="1"/>
              <a:t>changera</a:t>
            </a:r>
            <a:r>
              <a:rPr dirty="0"/>
              <a:t> jamais. La </a:t>
            </a:r>
            <a:r>
              <a:rPr dirty="0" err="1"/>
              <a:t>méthode</a:t>
            </a:r>
            <a:r>
              <a:rPr dirty="0"/>
              <a:t> </a:t>
            </a:r>
            <a:r>
              <a:rPr dirty="0" err="1">
                <a:latin typeface="Consolas"/>
              </a:rPr>
              <a:t>plusWeeks</a:t>
            </a:r>
            <a:r>
              <a:rPr dirty="0"/>
              <a:t> </a:t>
            </a:r>
            <a:r>
              <a:rPr dirty="0" err="1"/>
              <a:t>fabrique</a:t>
            </a:r>
            <a:r>
              <a:rPr dirty="0"/>
              <a:t> un </a:t>
            </a:r>
            <a:r>
              <a:rPr dirty="0" err="1"/>
              <a:t>nouvel</a:t>
            </a:r>
            <a:r>
              <a:rPr dirty="0"/>
              <a:t> </a:t>
            </a:r>
            <a:r>
              <a:rPr dirty="0" err="1"/>
              <a:t>objet</a:t>
            </a:r>
            <a:r>
              <a:rPr dirty="0"/>
              <a:t> et le </a:t>
            </a:r>
            <a:r>
              <a:rPr dirty="0" err="1"/>
              <a:t>retourne</a:t>
            </a:r>
            <a:r>
              <a:rPr dirty="0"/>
              <a:t> ; </a:t>
            </a:r>
            <a:r>
              <a:rPr dirty="0" err="1"/>
              <a:t>si</a:t>
            </a:r>
            <a:r>
              <a:rPr dirty="0"/>
              <a:t> vous ne </a:t>
            </a:r>
            <a:r>
              <a:rPr dirty="0" err="1"/>
              <a:t>l'affectez</a:t>
            </a:r>
            <a:r>
              <a:rPr dirty="0"/>
              <a:t> pas, il est perdu. La slide « </a:t>
            </a:r>
            <a:r>
              <a:rPr dirty="0" err="1"/>
              <a:t>Décaler</a:t>
            </a:r>
            <a:r>
              <a:rPr dirty="0"/>
              <a:t> </a:t>
            </a:r>
            <a:r>
              <a:rPr dirty="0" err="1"/>
              <a:t>une</a:t>
            </a:r>
            <a:r>
              <a:rPr dirty="0"/>
              <a:t> date » </a:t>
            </a:r>
            <a:r>
              <a:rPr dirty="0" err="1"/>
              <a:t>affichait</a:t>
            </a:r>
            <a:r>
              <a:rPr dirty="0"/>
              <a:t> </a:t>
            </a:r>
            <a:r>
              <a:rPr dirty="0" err="1"/>
              <a:t>donc</a:t>
            </a:r>
            <a:r>
              <a:rPr dirty="0"/>
              <a:t> deux </a:t>
            </a:r>
            <a:r>
              <a:rPr dirty="0" err="1"/>
              <a:t>fois</a:t>
            </a:r>
            <a:r>
              <a:rPr dirty="0"/>
              <a:t> la </a:t>
            </a:r>
            <a:r>
              <a:rPr dirty="0" err="1"/>
              <a:t>même</a:t>
            </a:r>
            <a:r>
              <a:rPr dirty="0"/>
              <a:t> date, et </a:t>
            </a:r>
            <a:r>
              <a:rPr dirty="0" err="1"/>
              <a:t>c'était</a:t>
            </a:r>
            <a:r>
              <a:rPr dirty="0"/>
              <a:t> normal.</a:t>
            </a:r>
          </a:p>
          <a:p>
            <a:r>
              <a:rPr dirty="0"/>
              <a:t>Vous </a:t>
            </a:r>
            <a:r>
              <a:rPr dirty="0" err="1"/>
              <a:t>aviez</a:t>
            </a:r>
            <a:r>
              <a:rPr dirty="0"/>
              <a:t> déjà </a:t>
            </a:r>
            <a:r>
              <a:rPr dirty="0" err="1"/>
              <a:t>rencontré</a:t>
            </a:r>
            <a:r>
              <a:rPr dirty="0"/>
              <a:t> </a:t>
            </a:r>
            <a:r>
              <a:rPr dirty="0" err="1"/>
              <a:t>cette</a:t>
            </a:r>
            <a:r>
              <a:rPr dirty="0"/>
              <a:t> </a:t>
            </a:r>
            <a:r>
              <a:rPr dirty="0" err="1"/>
              <a:t>mécanique</a:t>
            </a:r>
            <a:r>
              <a:rPr dirty="0"/>
              <a:t> sans la </a:t>
            </a:r>
            <a:r>
              <a:rPr dirty="0" err="1"/>
              <a:t>nommer</a:t>
            </a:r>
            <a:r>
              <a:rPr dirty="0"/>
              <a:t> : </a:t>
            </a:r>
            <a:r>
              <a:rPr dirty="0" err="1">
                <a:latin typeface="Consolas"/>
              </a:rPr>
              <a:t>texte.toUpperCase</a:t>
            </a:r>
            <a:r>
              <a:rPr dirty="0">
                <a:latin typeface="Consolas"/>
              </a:rPr>
              <a:t>()</a:t>
            </a:r>
            <a:r>
              <a:rPr dirty="0"/>
              <a:t> ne met pas la </a:t>
            </a:r>
            <a:r>
              <a:rPr dirty="0" err="1"/>
              <a:t>chaîne</a:t>
            </a:r>
            <a:r>
              <a:rPr dirty="0"/>
              <a:t> </a:t>
            </a:r>
            <a:r>
              <a:rPr dirty="0" err="1"/>
              <a:t>en</a:t>
            </a:r>
            <a:r>
              <a:rPr dirty="0"/>
              <a:t> majuscules, il </a:t>
            </a:r>
            <a:r>
              <a:rPr dirty="0" err="1"/>
              <a:t>en</a:t>
            </a:r>
            <a:r>
              <a:rPr dirty="0"/>
              <a:t> </a:t>
            </a:r>
            <a:r>
              <a:rPr dirty="0" err="1"/>
              <a:t>retourne</a:t>
            </a:r>
            <a:r>
              <a:rPr dirty="0"/>
              <a:t> </a:t>
            </a:r>
            <a:r>
              <a:rPr dirty="0" err="1"/>
              <a:t>une</a:t>
            </a:r>
            <a:r>
              <a:rPr dirty="0"/>
              <a:t> </a:t>
            </a:r>
            <a:r>
              <a:rPr dirty="0" err="1"/>
              <a:t>autre</a:t>
            </a:r>
            <a:r>
              <a:rPr dirty="0"/>
              <a:t>.</a:t>
            </a:r>
          </a:p>
          <a:p>
            <a:r>
              <a:rPr dirty="0" err="1"/>
              <a:t>L'intérêt</a:t>
            </a:r>
            <a:r>
              <a:rPr dirty="0"/>
              <a:t> </a:t>
            </a:r>
            <a:r>
              <a:rPr dirty="0" err="1"/>
              <a:t>dépasse</a:t>
            </a:r>
            <a:r>
              <a:rPr dirty="0"/>
              <a:t> les dates. Vous </a:t>
            </a:r>
            <a:r>
              <a:rPr dirty="0" err="1"/>
              <a:t>pouvez</a:t>
            </a:r>
            <a:r>
              <a:rPr dirty="0"/>
              <a:t> </a:t>
            </a:r>
            <a:r>
              <a:rPr dirty="0" err="1"/>
              <a:t>confier</a:t>
            </a:r>
            <a:r>
              <a:rPr dirty="0"/>
              <a:t> un </a:t>
            </a:r>
            <a:r>
              <a:rPr dirty="0" err="1"/>
              <a:t>objet</a:t>
            </a:r>
            <a:r>
              <a:rPr dirty="0"/>
              <a:t> </a:t>
            </a:r>
            <a:r>
              <a:rPr dirty="0" err="1"/>
              <a:t>immuable</a:t>
            </a:r>
            <a:r>
              <a:rPr dirty="0"/>
              <a:t> à </a:t>
            </a:r>
            <a:r>
              <a:rPr dirty="0" err="1"/>
              <a:t>n'importe</a:t>
            </a:r>
            <a:r>
              <a:rPr dirty="0"/>
              <a:t> quelle </a:t>
            </a:r>
            <a:r>
              <a:rPr dirty="0" err="1"/>
              <a:t>méthode</a:t>
            </a:r>
            <a:r>
              <a:rPr dirty="0"/>
              <a:t> sans </a:t>
            </a:r>
            <a:r>
              <a:rPr dirty="0" err="1"/>
              <a:t>craindre</a:t>
            </a:r>
            <a:r>
              <a:rPr dirty="0"/>
              <a:t> </a:t>
            </a:r>
            <a:r>
              <a:rPr dirty="0" err="1"/>
              <a:t>qu'elle</a:t>
            </a:r>
            <a:r>
              <a:rPr dirty="0"/>
              <a:t> le </a:t>
            </a:r>
            <a:r>
              <a:rPr dirty="0" err="1"/>
              <a:t>modifie</a:t>
            </a:r>
            <a:r>
              <a:rPr dirty="0"/>
              <a:t> dans </a:t>
            </a:r>
            <a:r>
              <a:rPr dirty="0" err="1"/>
              <a:t>votre</a:t>
            </a:r>
            <a:r>
              <a:rPr dirty="0"/>
              <a:t> dos. </a:t>
            </a:r>
            <a:r>
              <a:rPr dirty="0" err="1"/>
              <a:t>C'est</a:t>
            </a:r>
            <a:r>
              <a:rPr dirty="0"/>
              <a:t> la </a:t>
            </a:r>
            <a:r>
              <a:rPr dirty="0" err="1"/>
              <a:t>garantie</a:t>
            </a:r>
            <a:r>
              <a:rPr dirty="0"/>
              <a:t> </a:t>
            </a:r>
            <a:r>
              <a:rPr dirty="0" err="1"/>
              <a:t>que</a:t>
            </a:r>
            <a:r>
              <a:rPr dirty="0"/>
              <a:t> réclame </a:t>
            </a:r>
            <a:r>
              <a:rPr dirty="0">
                <a:latin typeface="Consolas"/>
              </a:rPr>
              <a:t>CC-MET.6</a:t>
            </a:r>
            <a:r>
              <a:rPr dirty="0"/>
              <a:t> du </a:t>
            </a:r>
            <a:r>
              <a:rPr dirty="0" err="1"/>
              <a:t>mémento</a:t>
            </a:r>
            <a:r>
              <a:rPr dirty="0"/>
              <a:t> Clean Code, qui met </a:t>
            </a:r>
            <a:r>
              <a:rPr dirty="0" err="1"/>
              <a:t>en</a:t>
            </a:r>
            <a:r>
              <a:rPr dirty="0"/>
              <a:t> garde </a:t>
            </a:r>
            <a:r>
              <a:rPr dirty="0" err="1"/>
              <a:t>contre</a:t>
            </a:r>
            <a:r>
              <a:rPr dirty="0"/>
              <a:t> les </a:t>
            </a:r>
            <a:r>
              <a:rPr dirty="0" err="1"/>
              <a:t>effets</a:t>
            </a:r>
            <a:r>
              <a:rPr dirty="0"/>
              <a:t> de bord.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a:xfrm>
            <a:off x="685800" y="4421570"/>
            <a:ext cx="5486400" cy="3600450"/>
          </a:xfrm>
        </p:spPr>
        <p:txBody>
          <a:bodyPr/>
          <a:lstStyle/>
          <a:p>
            <a:r>
              <a:rPr dirty="0"/>
              <a:t>Interruption </a:t>
            </a:r>
            <a:r>
              <a:rPr dirty="0" err="1"/>
              <a:t>assumée</a:t>
            </a:r>
            <a:r>
              <a:rPr dirty="0"/>
              <a:t>. Les </a:t>
            </a:r>
            <a:r>
              <a:rPr dirty="0" err="1"/>
              <a:t>exercices</a:t>
            </a:r>
            <a:r>
              <a:rPr dirty="0"/>
              <a:t> qui </a:t>
            </a:r>
            <a:r>
              <a:rPr dirty="0" err="1"/>
              <a:t>suivent</a:t>
            </a:r>
            <a:r>
              <a:rPr dirty="0"/>
              <a:t> </a:t>
            </a:r>
            <a:r>
              <a:rPr dirty="0" err="1"/>
              <a:t>produisent</a:t>
            </a:r>
            <a:r>
              <a:rPr dirty="0"/>
              <a:t> des </a:t>
            </a:r>
            <a:r>
              <a:rPr dirty="0" err="1"/>
              <a:t>nombres</a:t>
            </a:r>
            <a:r>
              <a:rPr dirty="0"/>
              <a:t> longs et des </a:t>
            </a:r>
            <a:r>
              <a:rPr dirty="0" err="1"/>
              <a:t>durées</a:t>
            </a:r>
            <a:r>
              <a:rPr dirty="0"/>
              <a:t>, et </a:t>
            </a:r>
            <a:r>
              <a:rPr dirty="0" err="1">
                <a:latin typeface="Consolas"/>
              </a:rPr>
              <a:t>println</a:t>
            </a:r>
            <a:r>
              <a:rPr dirty="0"/>
              <a:t> ne </a:t>
            </a:r>
            <a:r>
              <a:rPr dirty="0" err="1"/>
              <a:t>suffira</a:t>
            </a:r>
            <a:r>
              <a:rPr dirty="0"/>
              <a:t> plus. </a:t>
            </a:r>
            <a:r>
              <a:rPr dirty="0" err="1"/>
              <a:t>C'est</a:t>
            </a:r>
            <a:r>
              <a:rPr dirty="0"/>
              <a:t> le seul moment de </a:t>
            </a:r>
            <a:r>
              <a:rPr dirty="0" err="1"/>
              <a:t>l'année</a:t>
            </a:r>
            <a:r>
              <a:rPr dirty="0"/>
              <a:t> </a:t>
            </a:r>
            <a:r>
              <a:rPr dirty="0" err="1"/>
              <a:t>consacré</a:t>
            </a:r>
            <a:r>
              <a:rPr dirty="0"/>
              <a:t> à </a:t>
            </a:r>
            <a:r>
              <a:rPr dirty="0" err="1"/>
              <a:t>l'affichage</a:t>
            </a:r>
            <a:r>
              <a:rPr dirty="0"/>
              <a:t> </a:t>
            </a:r>
            <a:r>
              <a:rPr dirty="0" err="1"/>
              <a:t>formaté</a:t>
            </a:r>
            <a:r>
              <a:rPr dirty="0"/>
              <a:t> ; tout </a:t>
            </a:r>
            <a:r>
              <a:rPr dirty="0" err="1"/>
              <a:t>ce</a:t>
            </a:r>
            <a:r>
              <a:rPr dirty="0"/>
              <a:t> qui </a:t>
            </a:r>
            <a:r>
              <a:rPr dirty="0" err="1"/>
              <a:t>vient</a:t>
            </a:r>
            <a:r>
              <a:rPr dirty="0"/>
              <a:t> après </a:t>
            </a:r>
            <a:r>
              <a:rPr dirty="0" err="1"/>
              <a:t>s'en</a:t>
            </a:r>
            <a:r>
              <a:rPr dirty="0"/>
              <a:t> </a:t>
            </a:r>
            <a:r>
              <a:rPr dirty="0" err="1"/>
              <a:t>sert</a:t>
            </a:r>
            <a:r>
              <a:rPr dirty="0"/>
              <a:t>, y </a:t>
            </a:r>
            <a:r>
              <a:rPr dirty="0" err="1"/>
              <a:t>compris</a:t>
            </a:r>
            <a:r>
              <a:rPr dirty="0"/>
              <a:t> le module TAB.</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connaissez </a:t>
            </a:r>
            <a:r>
              <a:rPr>
                <a:latin typeface="Consolas"/>
              </a:rPr>
              <a:t>println</a:t>
            </a:r>
            <a:r>
              <a:t> depuis le premier programme. Son petit frère </a:t>
            </a:r>
            <a:r>
              <a:rPr>
                <a:latin typeface="Consolas"/>
              </a:rPr>
              <a:t>print</a:t>
            </a:r>
            <a:r>
              <a:t> fait la même chose sans le retour à la ligne, ce qui sert dès qu'on construit une ligne morceau par morceau — l'affichage d'une matrice, par exemple, au module TAB.</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a:t>
            </a:r>
            <a:r>
              <a:rPr dirty="0" err="1"/>
              <a:t>méthode</a:t>
            </a:r>
            <a:r>
              <a:rPr dirty="0"/>
              <a:t> </a:t>
            </a:r>
            <a:r>
              <a:rPr dirty="0" err="1">
                <a:latin typeface="Consolas"/>
              </a:rPr>
              <a:t>printf</a:t>
            </a:r>
            <a:r>
              <a:rPr dirty="0"/>
              <a:t> </a:t>
            </a:r>
            <a:r>
              <a:rPr dirty="0" err="1"/>
              <a:t>prend</a:t>
            </a:r>
            <a:r>
              <a:rPr dirty="0"/>
              <a:t> un </a:t>
            </a:r>
            <a:r>
              <a:rPr dirty="0" err="1"/>
              <a:t>gabarit</a:t>
            </a:r>
            <a:r>
              <a:rPr dirty="0"/>
              <a:t> et les </a:t>
            </a:r>
            <a:r>
              <a:rPr dirty="0" err="1"/>
              <a:t>valeurs</a:t>
            </a:r>
            <a:r>
              <a:rPr dirty="0"/>
              <a:t> qui </a:t>
            </a:r>
            <a:r>
              <a:rPr dirty="0" err="1"/>
              <a:t>viennent</a:t>
            </a:r>
            <a:r>
              <a:rPr dirty="0"/>
              <a:t> </a:t>
            </a:r>
            <a:r>
              <a:rPr dirty="0" err="1"/>
              <a:t>s'y</a:t>
            </a:r>
            <a:r>
              <a:rPr dirty="0"/>
              <a:t> </a:t>
            </a:r>
            <a:r>
              <a:rPr dirty="0" err="1"/>
              <a:t>loger</a:t>
            </a:r>
            <a:r>
              <a:rPr dirty="0"/>
              <a:t>. </a:t>
            </a:r>
            <a:r>
              <a:rPr dirty="0" err="1"/>
              <a:t>L'ordre</a:t>
            </a:r>
            <a:r>
              <a:rPr dirty="0"/>
              <a:t> compte : le premier trou </a:t>
            </a:r>
            <a:r>
              <a:rPr dirty="0" err="1"/>
              <a:t>reçoit</a:t>
            </a:r>
            <a:r>
              <a:rPr dirty="0"/>
              <a:t> le premier argument. </a:t>
            </a:r>
            <a:r>
              <a:rPr dirty="0" err="1"/>
              <a:t>C'est</a:t>
            </a:r>
            <a:r>
              <a:rPr dirty="0"/>
              <a:t> plus long à </a:t>
            </a:r>
            <a:r>
              <a:rPr dirty="0" err="1"/>
              <a:t>écrire</a:t>
            </a:r>
            <a:r>
              <a:rPr dirty="0"/>
              <a:t> </a:t>
            </a:r>
            <a:r>
              <a:rPr dirty="0" err="1"/>
              <a:t>qu'une</a:t>
            </a:r>
            <a:r>
              <a:rPr dirty="0"/>
              <a:t> </a:t>
            </a:r>
            <a:r>
              <a:rPr dirty="0" err="1"/>
              <a:t>concaténation</a:t>
            </a:r>
            <a:r>
              <a:rPr dirty="0"/>
              <a:t>, et beaucoup plus </a:t>
            </a:r>
            <a:r>
              <a:rPr dirty="0" err="1"/>
              <a:t>lisible</a:t>
            </a:r>
            <a:r>
              <a:rPr dirty="0"/>
              <a:t> </a:t>
            </a:r>
            <a:r>
              <a:rPr dirty="0" err="1"/>
              <a:t>dès</a:t>
            </a:r>
            <a:r>
              <a:rPr dirty="0"/>
              <a:t> </a:t>
            </a:r>
            <a:r>
              <a:rPr dirty="0" err="1"/>
              <a:t>qu'il</a:t>
            </a:r>
            <a:r>
              <a:rPr dirty="0"/>
              <a:t> y a trois </a:t>
            </a:r>
            <a:r>
              <a:rPr dirty="0" err="1"/>
              <a:t>valeurs</a:t>
            </a:r>
            <a:r>
              <a:rPr dirty="0"/>
              <a:t> </a:t>
            </a:r>
            <a:r>
              <a:rPr dirty="0" err="1"/>
              <a:t>ou</a:t>
            </a:r>
            <a:r>
              <a:rPr dirty="0"/>
              <a:t> </a:t>
            </a:r>
            <a:r>
              <a:rPr dirty="0" err="1"/>
              <a:t>une</a:t>
            </a:r>
            <a:r>
              <a:rPr dirty="0"/>
              <a:t> question de </a:t>
            </a:r>
            <a:r>
              <a:rPr dirty="0" err="1"/>
              <a:t>présentation</a:t>
            </a:r>
            <a:r>
              <a:rPr dirty="0"/>
              <a:t>.</a:t>
            </a:r>
          </a:p>
          <a:p>
            <a:r>
              <a:rPr dirty="0"/>
              <a:t>Employez </a:t>
            </a:r>
            <a:r>
              <a:rPr dirty="0">
                <a:latin typeface="Consolas"/>
              </a:rPr>
              <a:t>%n</a:t>
            </a:r>
            <a:r>
              <a:rPr dirty="0"/>
              <a:t> </a:t>
            </a:r>
            <a:r>
              <a:rPr dirty="0" err="1"/>
              <a:t>plutôt</a:t>
            </a:r>
            <a:r>
              <a:rPr dirty="0"/>
              <a:t> </a:t>
            </a:r>
            <a:r>
              <a:rPr dirty="0" err="1"/>
              <a:t>que</a:t>
            </a:r>
            <a:r>
              <a:rPr dirty="0"/>
              <a:t> la barre oblique </a:t>
            </a:r>
            <a:r>
              <a:rPr dirty="0" err="1"/>
              <a:t>inversée</a:t>
            </a:r>
            <a:r>
              <a:rPr dirty="0"/>
              <a:t> n : </a:t>
            </a:r>
            <a:r>
              <a:rPr dirty="0">
                <a:latin typeface="Consolas"/>
              </a:rPr>
              <a:t>%n</a:t>
            </a:r>
            <a:r>
              <a:rPr dirty="0"/>
              <a:t> </a:t>
            </a:r>
            <a:r>
              <a:rPr dirty="0" err="1"/>
              <a:t>produit</a:t>
            </a:r>
            <a:r>
              <a:rPr dirty="0"/>
              <a:t> le retour à la </a:t>
            </a:r>
            <a:r>
              <a:rPr dirty="0" err="1"/>
              <a:t>ligne</a:t>
            </a:r>
            <a:r>
              <a:rPr dirty="0"/>
              <a:t> de la machine sur </a:t>
            </a:r>
            <a:r>
              <a:rPr dirty="0" err="1"/>
              <a:t>laquelle</a:t>
            </a:r>
            <a:r>
              <a:rPr dirty="0"/>
              <a:t> le </a:t>
            </a:r>
            <a:r>
              <a:rPr dirty="0" err="1"/>
              <a:t>programme</a:t>
            </a:r>
            <a:r>
              <a:rPr dirty="0"/>
              <a:t> </a:t>
            </a:r>
            <a:r>
              <a:rPr dirty="0" err="1"/>
              <a:t>tourne</a:t>
            </a:r>
            <a:r>
              <a:rPr dirty="0"/>
              <a:t>.</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gabarit</a:t>
            </a:r>
            <a:r>
              <a:rPr dirty="0"/>
              <a:t> </a:t>
            </a:r>
            <a:r>
              <a:rPr dirty="0">
                <a:latin typeface="Consolas"/>
              </a:rPr>
              <a:t>%8.2f</a:t>
            </a:r>
            <a:r>
              <a:rPr dirty="0"/>
              <a:t> </a:t>
            </a:r>
            <a:r>
              <a:rPr dirty="0" err="1"/>
              <a:t>sert</a:t>
            </a:r>
            <a:r>
              <a:rPr dirty="0"/>
              <a:t> à aligner </a:t>
            </a:r>
            <a:r>
              <a:rPr dirty="0" err="1"/>
              <a:t>une</a:t>
            </a:r>
            <a:r>
              <a:rPr dirty="0"/>
              <a:t> </a:t>
            </a:r>
            <a:r>
              <a:rPr dirty="0" err="1"/>
              <a:t>colonne</a:t>
            </a:r>
            <a:r>
              <a:rPr dirty="0"/>
              <a:t> de </a:t>
            </a:r>
            <a:r>
              <a:rPr dirty="0" err="1"/>
              <a:t>nombres</a:t>
            </a:r>
            <a:r>
              <a:rPr dirty="0"/>
              <a:t> : </a:t>
            </a:r>
            <a:r>
              <a:rPr dirty="0" err="1"/>
              <a:t>chaque</a:t>
            </a:r>
            <a:r>
              <a:rPr dirty="0"/>
              <a:t> </a:t>
            </a:r>
            <a:r>
              <a:rPr dirty="0" err="1"/>
              <a:t>valeur</a:t>
            </a:r>
            <a:r>
              <a:rPr dirty="0"/>
              <a:t> </a:t>
            </a:r>
            <a:r>
              <a:rPr dirty="0" err="1"/>
              <a:t>occupe</a:t>
            </a:r>
            <a:r>
              <a:rPr dirty="0"/>
              <a:t> la </a:t>
            </a:r>
            <a:r>
              <a:rPr dirty="0" err="1"/>
              <a:t>même</a:t>
            </a:r>
            <a:r>
              <a:rPr dirty="0"/>
              <a:t> </a:t>
            </a:r>
            <a:r>
              <a:rPr dirty="0" err="1"/>
              <a:t>largeur</a:t>
            </a:r>
            <a:r>
              <a:rPr dirty="0"/>
              <a:t>, </a:t>
            </a:r>
            <a:r>
              <a:rPr dirty="0" err="1"/>
              <a:t>donc</a:t>
            </a:r>
            <a:r>
              <a:rPr dirty="0"/>
              <a:t> les virgules se </a:t>
            </a:r>
            <a:r>
              <a:rPr dirty="0" err="1"/>
              <a:t>superposent</a:t>
            </a:r>
            <a:r>
              <a:rPr dirty="0"/>
              <a:t>.</a:t>
            </a:r>
          </a:p>
          <a:p>
            <a:r>
              <a:rPr dirty="0" err="1"/>
              <a:t>L'ancien</a:t>
            </a:r>
            <a:r>
              <a:rPr dirty="0"/>
              <a:t> tableau du </a:t>
            </a:r>
            <a:r>
              <a:rPr dirty="0" err="1"/>
              <a:t>cours</a:t>
            </a:r>
            <a:r>
              <a:rPr dirty="0"/>
              <a:t> </a:t>
            </a:r>
            <a:r>
              <a:rPr dirty="0" err="1"/>
              <a:t>affichait</a:t>
            </a:r>
            <a:r>
              <a:rPr dirty="0"/>
              <a:t> </a:t>
            </a:r>
            <a:r>
              <a:rPr dirty="0">
                <a:latin typeface="Consolas"/>
              </a:rPr>
              <a:t>3,1473</a:t>
            </a:r>
            <a:r>
              <a:rPr dirty="0"/>
              <a:t> avec </a:t>
            </a:r>
            <a:r>
              <a:rPr dirty="0" err="1"/>
              <a:t>une</a:t>
            </a:r>
            <a:r>
              <a:rPr dirty="0"/>
              <a:t> virgule. Ce </a:t>
            </a:r>
            <a:r>
              <a:rPr dirty="0" err="1"/>
              <a:t>n'était</a:t>
            </a:r>
            <a:r>
              <a:rPr dirty="0"/>
              <a:t> pas </a:t>
            </a:r>
            <a:r>
              <a:rPr dirty="0" err="1"/>
              <a:t>une</a:t>
            </a:r>
            <a:r>
              <a:rPr dirty="0"/>
              <a:t> coquille : sans </a:t>
            </a:r>
            <a:r>
              <a:rPr dirty="0" err="1"/>
              <a:t>précision</a:t>
            </a:r>
            <a:r>
              <a:rPr dirty="0"/>
              <a:t>, le </a:t>
            </a:r>
            <a:r>
              <a:rPr dirty="0" err="1"/>
              <a:t>séparateur</a:t>
            </a:r>
            <a:r>
              <a:rPr dirty="0"/>
              <a:t> </a:t>
            </a:r>
            <a:r>
              <a:rPr dirty="0" err="1"/>
              <a:t>décimal</a:t>
            </a:r>
            <a:r>
              <a:rPr dirty="0"/>
              <a:t> </a:t>
            </a:r>
            <a:r>
              <a:rPr dirty="0" err="1"/>
              <a:t>dépend</a:t>
            </a:r>
            <a:r>
              <a:rPr dirty="0"/>
              <a:t> de la langue de la machine. La slide </a:t>
            </a:r>
            <a:r>
              <a:rPr dirty="0" err="1"/>
              <a:t>suivante</a:t>
            </a:r>
            <a:r>
              <a:rPr dirty="0"/>
              <a:t> </a:t>
            </a:r>
            <a:r>
              <a:rPr dirty="0" err="1"/>
              <a:t>en</a:t>
            </a:r>
            <a:r>
              <a:rPr dirty="0"/>
              <a:t> tire les </a:t>
            </a:r>
            <a:r>
              <a:rPr dirty="0" err="1"/>
              <a:t>conséquences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C'est</a:t>
            </a:r>
            <a:r>
              <a:rPr dirty="0"/>
              <a:t> le </a:t>
            </a:r>
            <a:r>
              <a:rPr dirty="0" err="1"/>
              <a:t>piège</a:t>
            </a:r>
            <a:r>
              <a:rPr dirty="0"/>
              <a:t> le plus </a:t>
            </a:r>
            <a:r>
              <a:rPr dirty="0" err="1"/>
              <a:t>coûteux</a:t>
            </a:r>
            <a:r>
              <a:rPr dirty="0"/>
              <a:t> de </a:t>
            </a:r>
            <a:r>
              <a:rPr dirty="0" err="1"/>
              <a:t>cette</a:t>
            </a:r>
            <a:r>
              <a:rPr dirty="0"/>
              <a:t> section, </a:t>
            </a:r>
            <a:r>
              <a:rPr dirty="0" err="1"/>
              <a:t>parce</a:t>
            </a:r>
            <a:r>
              <a:rPr dirty="0"/>
              <a:t> </a:t>
            </a:r>
            <a:r>
              <a:rPr dirty="0" err="1"/>
              <a:t>qu'il</a:t>
            </a:r>
            <a:r>
              <a:rPr dirty="0"/>
              <a:t> ne se </a:t>
            </a:r>
            <a:r>
              <a:rPr dirty="0" err="1"/>
              <a:t>voit</a:t>
            </a:r>
            <a:r>
              <a:rPr dirty="0"/>
              <a:t> pas. Le JDK français </a:t>
            </a:r>
            <a:r>
              <a:rPr dirty="0" err="1"/>
              <a:t>emploie</a:t>
            </a:r>
            <a:r>
              <a:rPr dirty="0"/>
              <a:t> pour </a:t>
            </a:r>
            <a:r>
              <a:rPr dirty="0" err="1"/>
              <a:t>séparer</a:t>
            </a:r>
            <a:r>
              <a:rPr dirty="0"/>
              <a:t> les </a:t>
            </a:r>
            <a:r>
              <a:rPr dirty="0" err="1"/>
              <a:t>milliers</a:t>
            </a:r>
            <a:r>
              <a:rPr dirty="0"/>
              <a:t> un </a:t>
            </a:r>
            <a:r>
              <a:rPr dirty="0" err="1"/>
              <a:t>espace</a:t>
            </a:r>
            <a:r>
              <a:rPr dirty="0"/>
              <a:t> </a:t>
            </a:r>
            <a:r>
              <a:rPr dirty="0" err="1"/>
              <a:t>insécable</a:t>
            </a:r>
            <a:r>
              <a:rPr dirty="0"/>
              <a:t> </a:t>
            </a:r>
            <a:r>
              <a:rPr dirty="0" err="1"/>
              <a:t>étroit</a:t>
            </a:r>
            <a:r>
              <a:rPr dirty="0"/>
              <a:t>, qui </a:t>
            </a:r>
            <a:r>
              <a:rPr dirty="0" err="1"/>
              <a:t>ressemble</a:t>
            </a:r>
            <a:r>
              <a:rPr dirty="0"/>
              <a:t> à </a:t>
            </a:r>
            <a:r>
              <a:rPr dirty="0" err="1"/>
              <a:t>s'y</a:t>
            </a:r>
            <a:r>
              <a:rPr dirty="0"/>
              <a:t> </a:t>
            </a:r>
            <a:r>
              <a:rPr dirty="0" err="1"/>
              <a:t>méprendre</a:t>
            </a:r>
            <a:r>
              <a:rPr dirty="0"/>
              <a:t> à un </a:t>
            </a:r>
            <a:r>
              <a:rPr dirty="0" err="1"/>
              <a:t>espace</a:t>
            </a:r>
            <a:r>
              <a:rPr dirty="0"/>
              <a:t> ordinaire. Un test qui compare le </a:t>
            </a:r>
            <a:r>
              <a:rPr dirty="0" err="1"/>
              <a:t>texte</a:t>
            </a:r>
            <a:r>
              <a:rPr dirty="0"/>
              <a:t> </a:t>
            </a:r>
            <a:r>
              <a:rPr dirty="0" err="1"/>
              <a:t>produit</a:t>
            </a:r>
            <a:r>
              <a:rPr dirty="0"/>
              <a:t> </a:t>
            </a:r>
            <a:r>
              <a:rPr dirty="0" err="1"/>
              <a:t>échouera</a:t>
            </a:r>
            <a:r>
              <a:rPr dirty="0"/>
              <a:t> sur </a:t>
            </a:r>
            <a:r>
              <a:rPr dirty="0" err="1"/>
              <a:t>une</a:t>
            </a:r>
            <a:r>
              <a:rPr dirty="0"/>
              <a:t> </a:t>
            </a:r>
            <a:r>
              <a:rPr dirty="0" err="1"/>
              <a:t>différence</a:t>
            </a:r>
            <a:r>
              <a:rPr dirty="0"/>
              <a:t> invisible à </a:t>
            </a:r>
            <a:r>
              <a:rPr dirty="0" err="1"/>
              <a:t>l'œil</a:t>
            </a:r>
            <a:r>
              <a:rPr dirty="0"/>
              <a:t>, et vous </a:t>
            </a:r>
            <a:r>
              <a:rPr dirty="0" err="1"/>
              <a:t>chercherez</a:t>
            </a:r>
            <a:r>
              <a:rPr dirty="0"/>
              <a:t> </a:t>
            </a:r>
            <a:r>
              <a:rPr dirty="0" err="1"/>
              <a:t>l'erreur</a:t>
            </a:r>
            <a:r>
              <a:rPr dirty="0"/>
              <a:t> </a:t>
            </a:r>
            <a:r>
              <a:rPr dirty="0" err="1"/>
              <a:t>ailleurs</a:t>
            </a:r>
            <a:r>
              <a:rPr dirty="0"/>
              <a:t>.</a:t>
            </a:r>
          </a:p>
          <a:p>
            <a:r>
              <a:rPr dirty="0"/>
              <a:t>La </a:t>
            </a:r>
            <a:r>
              <a:rPr dirty="0" err="1"/>
              <a:t>règle</a:t>
            </a:r>
            <a:r>
              <a:rPr dirty="0"/>
              <a:t> : </a:t>
            </a:r>
            <a:r>
              <a:rPr dirty="0" err="1"/>
              <a:t>dès</a:t>
            </a:r>
            <a:r>
              <a:rPr dirty="0"/>
              <a:t> </a:t>
            </a:r>
            <a:r>
              <a:rPr dirty="0" err="1"/>
              <a:t>que</a:t>
            </a:r>
            <a:r>
              <a:rPr dirty="0"/>
              <a:t> le </a:t>
            </a:r>
            <a:r>
              <a:rPr dirty="0" err="1"/>
              <a:t>texte</a:t>
            </a:r>
            <a:r>
              <a:rPr dirty="0"/>
              <a:t> </a:t>
            </a:r>
            <a:r>
              <a:rPr dirty="0" err="1"/>
              <a:t>produit</a:t>
            </a:r>
            <a:r>
              <a:rPr dirty="0"/>
              <a:t> est </a:t>
            </a:r>
            <a:r>
              <a:rPr dirty="0" err="1"/>
              <a:t>comparé</a:t>
            </a:r>
            <a:r>
              <a:rPr dirty="0"/>
              <a:t> par un test, </a:t>
            </a:r>
            <a:r>
              <a:rPr dirty="0" err="1"/>
              <a:t>précisez</a:t>
            </a:r>
            <a:r>
              <a:rPr dirty="0"/>
              <a:t> la locale.</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Les deux </a:t>
            </a:r>
            <a:r>
              <a:rPr dirty="0" err="1"/>
              <a:t>prennent</a:t>
            </a:r>
            <a:r>
              <a:rPr dirty="0"/>
              <a:t> </a:t>
            </a:r>
            <a:r>
              <a:rPr dirty="0" err="1"/>
              <a:t>exactement</a:t>
            </a:r>
            <a:r>
              <a:rPr dirty="0"/>
              <a:t> les </a:t>
            </a:r>
            <a:r>
              <a:rPr dirty="0" err="1"/>
              <a:t>mêmes</a:t>
            </a:r>
            <a:r>
              <a:rPr dirty="0"/>
              <a:t> </a:t>
            </a:r>
            <a:r>
              <a:rPr dirty="0" err="1"/>
              <a:t>gabarits</a:t>
            </a:r>
            <a:r>
              <a:rPr dirty="0"/>
              <a:t>. La </a:t>
            </a:r>
            <a:r>
              <a:rPr dirty="0" err="1"/>
              <a:t>différence</a:t>
            </a:r>
            <a:r>
              <a:rPr dirty="0"/>
              <a:t> est </a:t>
            </a:r>
            <a:r>
              <a:rPr dirty="0" err="1"/>
              <a:t>décisive</a:t>
            </a:r>
            <a:r>
              <a:rPr dirty="0"/>
              <a:t> pour la suite du </a:t>
            </a:r>
            <a:r>
              <a:rPr dirty="0" err="1"/>
              <a:t>cours</a:t>
            </a:r>
            <a:r>
              <a:rPr dirty="0"/>
              <a:t> : La </a:t>
            </a:r>
            <a:r>
              <a:rPr dirty="0" err="1"/>
              <a:t>méthode</a:t>
            </a:r>
            <a:r>
              <a:rPr dirty="0"/>
              <a:t> </a:t>
            </a:r>
            <a:r>
              <a:rPr dirty="0" err="1">
                <a:latin typeface="Consolas"/>
              </a:rPr>
              <a:t>printf</a:t>
            </a:r>
            <a:r>
              <a:rPr dirty="0"/>
              <a:t> </a:t>
            </a:r>
            <a:r>
              <a:rPr dirty="0" err="1"/>
              <a:t>écrit</a:t>
            </a:r>
            <a:r>
              <a:rPr dirty="0"/>
              <a:t> dans la console et ne </a:t>
            </a:r>
            <a:r>
              <a:rPr dirty="0" err="1"/>
              <a:t>retourne</a:t>
            </a:r>
            <a:r>
              <a:rPr dirty="0"/>
              <a:t> rien, </a:t>
            </a:r>
            <a:r>
              <a:rPr dirty="0" err="1"/>
              <a:t>donc</a:t>
            </a:r>
            <a:r>
              <a:rPr dirty="0"/>
              <a:t> </a:t>
            </a:r>
            <a:r>
              <a:rPr dirty="0" err="1"/>
              <a:t>aucune</a:t>
            </a:r>
            <a:r>
              <a:rPr dirty="0"/>
              <a:t> </a:t>
            </a:r>
            <a:r>
              <a:rPr dirty="0" err="1"/>
              <a:t>classe</a:t>
            </a:r>
            <a:r>
              <a:rPr dirty="0"/>
              <a:t> de test ne </a:t>
            </a:r>
            <a:r>
              <a:rPr dirty="0" err="1"/>
              <a:t>peut</a:t>
            </a:r>
            <a:r>
              <a:rPr dirty="0"/>
              <a:t> </a:t>
            </a:r>
            <a:r>
              <a:rPr dirty="0" err="1"/>
              <a:t>vérifier</a:t>
            </a:r>
            <a:r>
              <a:rPr dirty="0"/>
              <a:t> son travail. La </a:t>
            </a:r>
            <a:r>
              <a:rPr dirty="0" err="1"/>
              <a:t>méthode</a:t>
            </a:r>
            <a:r>
              <a:rPr dirty="0"/>
              <a:t> </a:t>
            </a:r>
            <a:r>
              <a:rPr dirty="0" err="1">
                <a:latin typeface="Consolas"/>
              </a:rPr>
              <a:t>String.format</a:t>
            </a:r>
            <a:r>
              <a:rPr dirty="0"/>
              <a:t> </a:t>
            </a:r>
            <a:r>
              <a:rPr dirty="0" err="1"/>
              <a:t>retourne</a:t>
            </a:r>
            <a:r>
              <a:rPr dirty="0"/>
              <a:t> </a:t>
            </a:r>
            <a:r>
              <a:rPr dirty="0" err="1"/>
              <a:t>une</a:t>
            </a:r>
            <a:r>
              <a:rPr dirty="0"/>
              <a:t> </a:t>
            </a:r>
            <a:r>
              <a:rPr dirty="0" err="1"/>
              <a:t>chaîne</a:t>
            </a:r>
            <a:r>
              <a:rPr dirty="0"/>
              <a:t>, </a:t>
            </a:r>
            <a:r>
              <a:rPr dirty="0" err="1"/>
              <a:t>qu'un</a:t>
            </a:r>
            <a:r>
              <a:rPr dirty="0"/>
              <a:t> test </a:t>
            </a:r>
            <a:r>
              <a:rPr dirty="0" err="1"/>
              <a:t>peut</a:t>
            </a:r>
            <a:r>
              <a:rPr dirty="0"/>
              <a:t> comparer.</a:t>
            </a:r>
          </a:p>
          <a:p>
            <a:r>
              <a:rPr dirty="0" err="1"/>
              <a:t>C'est</a:t>
            </a:r>
            <a:r>
              <a:rPr dirty="0"/>
              <a:t> la </a:t>
            </a:r>
            <a:r>
              <a:rPr dirty="0" err="1"/>
              <a:t>règle</a:t>
            </a:r>
            <a:r>
              <a:rPr dirty="0"/>
              <a:t> </a:t>
            </a:r>
            <a:r>
              <a:rPr dirty="0" err="1"/>
              <a:t>posée</a:t>
            </a:r>
            <a:r>
              <a:rPr dirty="0"/>
              <a:t> au module POO, </a:t>
            </a:r>
            <a:r>
              <a:rPr dirty="0" err="1"/>
              <a:t>reformulée</a:t>
            </a:r>
            <a:r>
              <a:rPr dirty="0"/>
              <a:t> pour </a:t>
            </a:r>
            <a:r>
              <a:rPr dirty="0" err="1"/>
              <a:t>l'affichage</a:t>
            </a:r>
            <a:r>
              <a:rPr dirty="0"/>
              <a:t> : le noyau </a:t>
            </a:r>
            <a:r>
              <a:rPr dirty="0" err="1"/>
              <a:t>retourne</a:t>
            </a:r>
            <a:r>
              <a:rPr dirty="0"/>
              <a:t> </a:t>
            </a:r>
            <a:r>
              <a:rPr dirty="0" err="1"/>
              <a:t>une</a:t>
            </a:r>
            <a:r>
              <a:rPr dirty="0"/>
              <a:t> </a:t>
            </a:r>
            <a:r>
              <a:rPr dirty="0" err="1"/>
              <a:t>valeur</a:t>
            </a:r>
            <a:r>
              <a:rPr dirty="0"/>
              <a:t>, le </a:t>
            </a:r>
            <a:r>
              <a:rPr dirty="0">
                <a:latin typeface="Consolas"/>
              </a:rPr>
              <a:t>main</a:t>
            </a:r>
            <a:r>
              <a:rPr dirty="0"/>
              <a:t> se </a:t>
            </a:r>
            <a:r>
              <a:rPr dirty="0" err="1"/>
              <a:t>contente</a:t>
            </a:r>
            <a:r>
              <a:rPr dirty="0"/>
              <a:t> de dialoguer. Vos </a:t>
            </a:r>
            <a:r>
              <a:rPr dirty="0" err="1"/>
              <a:t>méthodes</a:t>
            </a:r>
            <a:r>
              <a:rPr dirty="0"/>
              <a:t> de </a:t>
            </a:r>
            <a:r>
              <a:rPr dirty="0" err="1"/>
              <a:t>formatage</a:t>
            </a:r>
            <a:r>
              <a:rPr dirty="0"/>
              <a:t> </a:t>
            </a:r>
            <a:r>
              <a:rPr dirty="0" err="1"/>
              <a:t>rendront</a:t>
            </a:r>
            <a:r>
              <a:rPr dirty="0"/>
              <a:t> </a:t>
            </a:r>
            <a:r>
              <a:rPr dirty="0" err="1"/>
              <a:t>donc</a:t>
            </a:r>
            <a:r>
              <a:rPr dirty="0"/>
              <a:t> des </a:t>
            </a:r>
            <a:r>
              <a:rPr dirty="0">
                <a:latin typeface="Consolas"/>
              </a:rPr>
              <a:t>String</a:t>
            </a:r>
            <a:r>
              <a:rPr dirty="0"/>
              <a:t>, et seul le </a:t>
            </a:r>
            <a:r>
              <a:rPr dirty="0">
                <a:latin typeface="Consolas"/>
              </a:rPr>
              <a:t>main</a:t>
            </a:r>
            <a:r>
              <a:rPr dirty="0"/>
              <a:t> </a:t>
            </a:r>
            <a:r>
              <a:rPr dirty="0" err="1"/>
              <a:t>appellera</a:t>
            </a:r>
            <a:r>
              <a:rPr dirty="0"/>
              <a:t> </a:t>
            </a:r>
            <a:r>
              <a:rPr dirty="0" err="1">
                <a:latin typeface="Consolas"/>
              </a:rPr>
              <a:t>printf</a:t>
            </a:r>
            <a:r>
              <a:rPr dirty="0"/>
              <a:t>.</a:t>
            </a:r>
          </a:p>
          <a:p>
            <a:r>
              <a:rPr dirty="0"/>
              <a:t>Le </a:t>
            </a:r>
            <a:r>
              <a:rPr dirty="0" err="1"/>
              <a:t>détour</a:t>
            </a:r>
            <a:r>
              <a:rPr dirty="0"/>
              <a:t> </a:t>
            </a:r>
            <a:r>
              <a:rPr dirty="0" err="1"/>
              <a:t>s'arrête</a:t>
            </a:r>
            <a:r>
              <a:rPr dirty="0"/>
              <a:t> </a:t>
            </a:r>
            <a:r>
              <a:rPr dirty="0" err="1"/>
              <a:t>ici</a:t>
            </a:r>
            <a:r>
              <a:rPr dirty="0"/>
              <a:t>. On </a:t>
            </a:r>
            <a:r>
              <a:rPr dirty="0" err="1"/>
              <a:t>reprend</a:t>
            </a:r>
            <a:r>
              <a:rPr dirty="0"/>
              <a:t> la </a:t>
            </a:r>
            <a:r>
              <a:rPr dirty="0" err="1"/>
              <a:t>mesure</a:t>
            </a:r>
            <a:r>
              <a:rPr dirty="0"/>
              <a:t> du temps </a:t>
            </a:r>
            <a:r>
              <a:rPr dirty="0" err="1"/>
              <a:t>là</a:t>
            </a:r>
            <a:r>
              <a:rPr dirty="0"/>
              <a:t> </a:t>
            </a:r>
            <a:r>
              <a:rPr dirty="0" err="1"/>
              <a:t>où</a:t>
            </a:r>
            <a:r>
              <a:rPr dirty="0"/>
              <a:t> on </a:t>
            </a:r>
            <a:r>
              <a:rPr dirty="0" err="1"/>
              <a:t>l'avait</a:t>
            </a:r>
            <a:r>
              <a:rPr dirty="0"/>
              <a:t> </a:t>
            </a:r>
            <a:r>
              <a:rPr dirty="0" err="1"/>
              <a:t>laissée</a:t>
            </a:r>
            <a:r>
              <a:rPr dirty="0"/>
              <a:t>, avec </a:t>
            </a:r>
            <a:r>
              <a:rPr dirty="0" err="1"/>
              <a:t>une</a:t>
            </a:r>
            <a:r>
              <a:rPr dirty="0"/>
              <a:t> question </a:t>
            </a:r>
            <a:r>
              <a:rPr dirty="0" err="1"/>
              <a:t>restée</a:t>
            </a:r>
            <a:r>
              <a:rPr dirty="0"/>
              <a:t> ouverte : </a:t>
            </a:r>
            <a:r>
              <a:rPr dirty="0" err="1"/>
              <a:t>peut</a:t>
            </a:r>
            <a:r>
              <a:rPr dirty="0"/>
              <a:t>-on </a:t>
            </a:r>
            <a:r>
              <a:rPr dirty="0" err="1"/>
              <a:t>compter</a:t>
            </a:r>
            <a:r>
              <a:rPr dirty="0"/>
              <a:t> des </a:t>
            </a:r>
            <a:r>
              <a:rPr dirty="0" err="1"/>
              <a:t>secondes</a:t>
            </a:r>
            <a:r>
              <a:rPr dirty="0"/>
              <a:t> entre deux dates ?</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Section </a:t>
            </a:r>
            <a:r>
              <a:rPr dirty="0" err="1"/>
              <a:t>courte</a:t>
            </a:r>
            <a:r>
              <a:rPr dirty="0"/>
              <a:t>, </a:t>
            </a:r>
            <a:r>
              <a:rPr dirty="0" err="1"/>
              <a:t>construite</a:t>
            </a:r>
            <a:r>
              <a:rPr dirty="0"/>
              <a:t> </a:t>
            </a:r>
            <a:r>
              <a:rPr dirty="0" err="1"/>
              <a:t>autour</a:t>
            </a:r>
            <a:r>
              <a:rPr dirty="0"/>
              <a:t> d'un seul </a:t>
            </a:r>
            <a:r>
              <a:rPr dirty="0" err="1"/>
              <a:t>exercice</a:t>
            </a:r>
            <a:r>
              <a:rPr dirty="0"/>
              <a:t>, et </a:t>
            </a:r>
            <a:r>
              <a:rPr dirty="0" err="1"/>
              <a:t>volontairement</a:t>
            </a:r>
            <a:r>
              <a:rPr dirty="0"/>
              <a:t> </a:t>
            </a:r>
            <a:r>
              <a:rPr dirty="0" err="1"/>
              <a:t>incomplète</a:t>
            </a:r>
            <a:r>
              <a:rPr dirty="0"/>
              <a:t> avant </a:t>
            </a:r>
            <a:r>
              <a:rPr dirty="0" err="1"/>
              <a:t>lui</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a:t>
            </a:r>
            <a:r>
              <a:rPr dirty="0" err="1">
                <a:latin typeface="Consolas"/>
              </a:rPr>
              <a:t>LocalDate</a:t>
            </a:r>
            <a:r>
              <a:rPr dirty="0"/>
              <a:t> </a:t>
            </a:r>
            <a:r>
              <a:rPr dirty="0" err="1"/>
              <a:t>désigne</a:t>
            </a:r>
            <a:r>
              <a:rPr dirty="0"/>
              <a:t> </a:t>
            </a:r>
            <a:r>
              <a:rPr dirty="0" err="1"/>
              <a:t>une</a:t>
            </a:r>
            <a:r>
              <a:rPr dirty="0"/>
              <a:t> case du </a:t>
            </a:r>
            <a:r>
              <a:rPr dirty="0" err="1"/>
              <a:t>calendrier</a:t>
            </a:r>
            <a:r>
              <a:rPr dirty="0"/>
              <a:t>, le 17 </a:t>
            </a:r>
            <a:r>
              <a:rPr dirty="0" err="1"/>
              <a:t>mai</a:t>
            </a:r>
            <a:r>
              <a:rPr dirty="0"/>
              <a:t> 1990, et rien </a:t>
            </a:r>
            <a:r>
              <a:rPr dirty="0" err="1"/>
              <a:t>d'autre</a:t>
            </a:r>
            <a:r>
              <a:rPr dirty="0"/>
              <a:t>. La </a:t>
            </a:r>
            <a:r>
              <a:rPr dirty="0" err="1"/>
              <a:t>dernière</a:t>
            </a:r>
            <a:r>
              <a:rPr dirty="0"/>
              <a:t> </a:t>
            </a:r>
            <a:r>
              <a:rPr dirty="0" err="1"/>
              <a:t>ligne</a:t>
            </a:r>
            <a:r>
              <a:rPr dirty="0"/>
              <a:t> pose </a:t>
            </a:r>
            <a:r>
              <a:rPr dirty="0" err="1"/>
              <a:t>une</a:t>
            </a:r>
            <a:r>
              <a:rPr dirty="0"/>
              <a:t> question </a:t>
            </a:r>
            <a:r>
              <a:rPr dirty="0" err="1"/>
              <a:t>dont</a:t>
            </a:r>
            <a:r>
              <a:rPr dirty="0"/>
              <a:t> vous </a:t>
            </a:r>
            <a:r>
              <a:rPr dirty="0" err="1"/>
              <a:t>connaîtrez</a:t>
            </a:r>
            <a:r>
              <a:rPr dirty="0"/>
              <a:t> la </a:t>
            </a:r>
            <a:r>
              <a:rPr dirty="0" err="1"/>
              <a:t>réponse</a:t>
            </a:r>
            <a:r>
              <a:rPr dirty="0"/>
              <a:t> dans dix minutes — </a:t>
            </a:r>
            <a:r>
              <a:rPr dirty="0" err="1"/>
              <a:t>n'essayez</a:t>
            </a:r>
            <a:r>
              <a:rPr dirty="0"/>
              <a:t> pas de la </a:t>
            </a:r>
            <a:r>
              <a:rPr dirty="0" err="1"/>
              <a:t>deviner</a:t>
            </a:r>
            <a:r>
              <a:rPr dirty="0"/>
              <a:t>, </a:t>
            </a:r>
            <a:r>
              <a:rPr dirty="0" err="1"/>
              <a:t>essayez</a:t>
            </a:r>
            <a:r>
              <a:rPr dirty="0"/>
              <a:t>-la.</a:t>
            </a:r>
          </a:p>
          <a:p>
            <a:r>
              <a:rPr lang="fr-BE" dirty="0"/>
              <a:t>Le code complet, à exécuter : demos, classe demo.tmp.slides.CeQueLocalDateNeContientPas.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reprend </a:t>
            </a:r>
            <a:r>
              <a:rPr>
                <a:latin typeface="Consolas"/>
              </a:rPr>
              <a:t>TMP.1</a:t>
            </a:r>
            <a:r>
              <a:t> en changeant l'unité, ce qui paraît anodin. La ligne à décommenter provoque une exception dont le message dit exactement ce qui se passe. Lisez-le : c'est le point central de l'exercice, et la capacité à lire un message d'erreur vaut mieux qu'une réponse apprise.</a:t>
            </a:r>
          </a:p>
          <a:p>
            <a:r>
              <a:t>Le formatage du résultat emploie ce qui vient d'être vu en section 4.</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Demander à deux cases de calendrier combien de secondes les séparent n'a pas de sens, et le JDK refuse plutôt que de choisir une heure à votre place. La méthode </a:t>
            </a:r>
            <a:r>
              <a:rPr>
                <a:latin typeface="Consolas"/>
              </a:rPr>
              <a:t>atStartOfDay()</a:t>
            </a:r>
            <a:r>
              <a:t> fabrique le </a:t>
            </a:r>
            <a:r>
              <a:rPr>
                <a:latin typeface="Consolas"/>
              </a:rPr>
              <a:t>LocalDateTime</a:t>
            </a:r>
            <a:r>
              <a:t> correspondant à minuit — c'est vous qui prenez alors la décision.</a:t>
            </a:r>
          </a:p>
          <a:p>
            <a:r>
              <a:t>Le débordement de l'</a:t>
            </a:r>
            <a:r>
              <a:rPr>
                <a:latin typeface="Consolas"/>
              </a:rPr>
              <a:t>int</a:t>
            </a:r>
            <a:r>
              <a:t> répond enfin à la question laissée ouverte en section 2 : au-delà d'environ soixante-huit ans de secondes, un </a:t>
            </a:r>
            <a:r>
              <a:rPr>
                <a:latin typeface="Consolas"/>
              </a:rPr>
              <a:t>int</a:t>
            </a:r>
            <a:r>
              <a:t> ne suffit plus.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Ajouter un mois n'est pas ajouter trente jours. Cette section montre pourquoi, et pourquoi aucune autre réponse ne serait meilleure.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Posez la question à la classe avant d'exécuter, et comptez les mains. L'intuition dit que les deux dernières lignes sont équivalentes. Elles ne le sont pas, et l'exercice qui suit demande de le constater puis de l'expliquer.</a:t>
            </a:r>
          </a:p>
          <a:p>
            <a:r>
              <a:rPr lang="fr-BE" dirty="0"/>
              <a:t>Le code complet, à exécuter : demos, classe demo.tmp.slides.AjouterDesMois.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méthodes seulement. La seconde compare l'ajout d'un coup et l'ajout un par un, et retourne un booléen. L'énoncé donne les quatre cas à observer, en année ordinaire et en année bissextile.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Java ne peut pas retourner le 31 février. Il rabote donc au dernier jour du mois d'arrivée. La conséquence est que l'opération n'est pas réversible : la seconde addition repart du 28 et non du 31. La slide « Ajouter des mois » posait exactement cette question.</a:t>
            </a:r>
          </a:p>
          <a:p>
            <a:r>
              <a:t>Quelle autre réponse aurait été possible ? Le 3 mars ? Une exception ? Chacune a ses inconvénients, et c'est précisément ce que la question de l'énoncé vous invite à peser. Retenez la règle pratique : pour une échéance, décidez si vous comptez en jours ou en mois, et dites-le.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classes mesurent un écart. Elles ne mesurent pas dans la même unité de pensée, et les confondre produit du code qui ne compile pas — ce qui, pour une fois, est une bonne nouvelle.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Period</a:t>
            </a:r>
            <a:r>
              <a:t> décompose l'écart en années, mois et jours, exactement comme on annonce un âge. Ces unités n'ont pas de longueur fixe : un mois vaut 28, 29, 30 ou 31 jours. Un </a:t>
            </a:r>
            <a:r>
              <a:rPr>
                <a:latin typeface="Consolas"/>
              </a:rPr>
              <a:t>Period</a:t>
            </a:r>
            <a:r>
              <a:t> ne mémorise donc pas une quantité de temps, mais une recette d'ajustement du calendrier.</a:t>
            </a:r>
          </a:p>
          <a:p>
            <a:r>
              <a:rPr lang="fr-BE" dirty="0"/>
              <a:t>Le code complet, à exécuter : demos, classe demo.tmp.slides.PeriodEtDuration.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Duration</a:t>
            </a:r>
            <a:r>
              <a:t> compte en unités de temps, qui ne varient jamais. La règle tient en une ligne : </a:t>
            </a:r>
            <a:r>
              <a:rPr>
                <a:latin typeface="Consolas"/>
              </a:rPr>
              <a:t>Period</a:t>
            </a:r>
            <a:r>
              <a:t> pour des dates, </a:t>
            </a:r>
            <a:r>
              <a:rPr>
                <a:latin typeface="Consolas"/>
              </a:rPr>
              <a:t>Duration</a:t>
            </a:r>
            <a:r>
              <a:t> pour des heures. Le compilateur la fait respecter — chacune refuse le type de l'autre.</a:t>
            </a:r>
          </a:p>
          <a:p>
            <a:r>
              <a:t>Regardez les deux valeurs de la slide. Elles décrivent le même écart, et elles ne se combinent pas comme on l'attendrait.</a:t>
            </a:r>
          </a:p>
          <a:p>
            <a:r>
              <a:rPr lang="fr-BE" dirty="0"/>
              <a:t>Le code complet, à exécuter : demos, classe demo.tmp.slides.PeriodEtDuration.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méthodes. La troisième est celle qui compte : écrire naïvement </a:t>
            </a:r>
            <a:r>
              <a:rPr>
                <a:latin typeface="Consolas"/>
              </a:rPr>
              <a:t>toHours() + "h" + toMinutes()</a:t>
            </a:r>
            <a:r>
              <a:t> ne donne pas ce qu'on attend, et la Javadoc de </a:t>
            </a:r>
            <a:r>
              <a:rPr>
                <a:latin typeface="Consolas"/>
              </a:rPr>
              <a:t>Duration</a:t>
            </a:r>
            <a:r>
              <a:t> contient la méthode qui règle le problème. C'est exactement la démarche montrée en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Toute la famille </a:t>
            </a:r>
            <a:r>
              <a:rPr>
                <a:latin typeface="Consolas"/>
              </a:rPr>
              <a:t>toXxx</a:t>
            </a:r>
            <a:r>
              <a:t> retourne un total, toute la famille </a:t>
            </a:r>
            <a:r>
              <a:rPr>
                <a:latin typeface="Consolas"/>
              </a:rPr>
              <a:t>toXxxPart</a:t>
            </a:r>
            <a:r>
              <a:t> retourne le reste après extraction des unités supérieures. Écrire </a:t>
            </a:r>
            <a:r>
              <a:rPr>
                <a:latin typeface="Consolas"/>
              </a:rPr>
              <a:t>toHours() + "h" + toMinutes()</a:t>
            </a:r>
            <a:r>
              <a:t> donnait donc </a:t>
            </a:r>
            <a:r>
              <a:rPr>
                <a:latin typeface="Consolas"/>
              </a:rPr>
              <a:t>3h215</a:t>
            </a:r>
            <a:r>
              <a:t>. Le jour où un affichage vous donnera ce genre de charabia, vous saurez où regarder.</a:t>
            </a:r>
          </a:p>
          <a:p>
            <a:r>
              <a:t>Au-delà de </a:t>
            </a:r>
            <a:r>
              <a:rPr>
                <a:latin typeface="Consolas"/>
              </a:rPr>
              <a:t>Duration</a:t>
            </a:r>
            <a:r>
              <a:t>, retenez la leçon de méthode : deux noms voisins dans la même liste de complétion peuvent faire des choses différentes, et rien dans la liste ne le dit.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date affichée au format ISO se lit mal, et une date saisie par un utilisateur n'est jamais au format ISO. Cette section fait le passage dans les deux sens.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motif est une chaîne de caractères où chaque lettre désigne un champ, et le nombre de lettres la largeur souhaitée. La confusion entre </a:t>
            </a:r>
            <a:r>
              <a:rPr>
                <a:latin typeface="Consolas"/>
              </a:rPr>
              <a:t>mm</a:t>
            </a:r>
            <a:r>
              <a:t> et </a:t>
            </a:r>
            <a:r>
              <a:rPr>
                <a:latin typeface="Consolas"/>
              </a:rPr>
              <a:t>MM</a:t>
            </a:r>
            <a:r>
              <a:t> est le classique du genre, et elle ne provoque aucune erreur : elle donne simplement une date fausse.</a:t>
            </a:r>
          </a:p>
          <a:p>
            <a:r>
              <a:rPr lang="fr-BE" dirty="0"/>
              <a:t>Le code complet, à exécuter : demos, classe demo.tmp.slides.UneDateEtSonTexte.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fr-BE" dirty="0"/>
              <a:t>Le formateur </a:t>
            </a:r>
            <a:r>
              <a:rPr lang="fr-BE" sz="1200" kern="1200" dirty="0" err="1">
                <a:solidFill>
                  <a:schemeClr val="tx1"/>
                </a:solidFill>
                <a:latin typeface="+mn-lt"/>
                <a:ea typeface="+mn-ea"/>
                <a:cs typeface="+mn-cs"/>
              </a:rPr>
              <a:t>fr</a:t>
            </a:r>
            <a:r>
              <a:rPr lang="fr-BE" dirty="0"/>
              <a:t> fonctionne dans les deux sens : </a:t>
            </a:r>
            <a:r>
              <a:rPr lang="fr-BE" sz="1200" kern="1200" dirty="0" err="1">
                <a:solidFill>
                  <a:schemeClr val="tx1"/>
                </a:solidFill>
                <a:latin typeface="+mn-lt"/>
                <a:ea typeface="+mn-ea"/>
                <a:cs typeface="+mn-cs"/>
              </a:rPr>
              <a:t>date.format</a:t>
            </a:r>
            <a:r>
              <a:rPr lang="fr-BE" sz="1200" kern="1200" dirty="0">
                <a:solidFill>
                  <a:schemeClr val="tx1"/>
                </a:solidFill>
                <a:latin typeface="+mn-lt"/>
                <a:ea typeface="+mn-ea"/>
                <a:cs typeface="+mn-cs"/>
              </a:rPr>
              <a:t>(</a:t>
            </a:r>
            <a:r>
              <a:rPr lang="fr-BE" sz="1200" kern="1200" dirty="0" err="1">
                <a:solidFill>
                  <a:schemeClr val="tx1"/>
                </a:solidFill>
                <a:latin typeface="+mn-lt"/>
                <a:ea typeface="+mn-ea"/>
                <a:cs typeface="+mn-cs"/>
              </a:rPr>
              <a:t>fr</a:t>
            </a:r>
            <a:r>
              <a:rPr lang="fr-BE" sz="1200" kern="1200" dirty="0">
                <a:solidFill>
                  <a:schemeClr val="tx1"/>
                </a:solidFill>
                <a:latin typeface="+mn-lt"/>
                <a:ea typeface="+mn-ea"/>
                <a:cs typeface="+mn-cs"/>
              </a:rPr>
              <a:t>)</a:t>
            </a:r>
            <a:r>
              <a:rPr lang="fr-BE" dirty="0"/>
              <a:t> transforme une date en texte, et </a:t>
            </a:r>
            <a:r>
              <a:rPr lang="fr-BE" sz="1200" kern="1200" dirty="0" err="1">
                <a:solidFill>
                  <a:schemeClr val="tx1"/>
                </a:solidFill>
                <a:latin typeface="+mn-lt"/>
                <a:ea typeface="+mn-ea"/>
                <a:cs typeface="+mn-cs"/>
              </a:rPr>
              <a:t>LocalDate.parse</a:t>
            </a:r>
            <a:r>
              <a:rPr lang="fr-BE" sz="1200" kern="1200" dirty="0">
                <a:solidFill>
                  <a:schemeClr val="tx1"/>
                </a:solidFill>
                <a:latin typeface="+mn-lt"/>
                <a:ea typeface="+mn-ea"/>
                <a:cs typeface="+mn-cs"/>
              </a:rPr>
              <a:t>(texte, </a:t>
            </a:r>
            <a:r>
              <a:rPr lang="fr-BE" sz="1200" kern="1200" dirty="0" err="1">
                <a:solidFill>
                  <a:schemeClr val="tx1"/>
                </a:solidFill>
                <a:latin typeface="+mn-lt"/>
                <a:ea typeface="+mn-ea"/>
                <a:cs typeface="+mn-cs"/>
              </a:rPr>
              <a:t>fr</a:t>
            </a:r>
            <a:r>
              <a:rPr lang="fr-BE" sz="1200" kern="1200" dirty="0">
                <a:solidFill>
                  <a:schemeClr val="tx1"/>
                </a:solidFill>
                <a:latin typeface="+mn-lt"/>
                <a:ea typeface="+mn-ea"/>
                <a:cs typeface="+mn-cs"/>
              </a:rPr>
              <a:t>)</a:t>
            </a:r>
            <a:r>
              <a:rPr lang="fr-BE" dirty="0"/>
              <a:t> fait l’inverse, en lisant le texte selon le même motif. Cette lecture s’appelle l’analyse (</a:t>
            </a:r>
            <a:r>
              <a:rPr lang="fr-BE" i="1" dirty="0" err="1"/>
              <a:t>parsing</a:t>
            </a:r>
            <a:r>
              <a:rPr lang="fr-BE" dirty="0"/>
              <a:t> en anglais). Un texte qui ne correspond pas au motif lève une </a:t>
            </a:r>
            <a:r>
              <a:rPr lang="fr-BE" dirty="0" err="1"/>
              <a:t>DateTimeParseException</a:t>
            </a:r>
            <a:r>
              <a:rPr lang="fr-BE" dirty="0"/>
              <a:t> : le programme s’arrête et affiche une trace. </a:t>
            </a:r>
            <a:r>
              <a:rPr lang="fr-BE"/>
              <a:t>Traiter proprement ce genre d’incident est tout un sujet, auquel le module EXC est consacré ; pour l’instant, contentez-vous de constater ce qui se passe.</a:t>
            </a:r>
          </a:p>
          <a:p>
            <a:r>
              <a:rPr lang="fr-BE" dirty="0"/>
              <a:t>Le code complet, à exécuter : demos, classe demo.tmp.slides.UneDateEtSonTexte.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méthodes : formater, analyser, et analyser en refusant les dates impossibles. L'énoncé vous fait passer par le cas du 31 février avant de vous dire comment le refuser.</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saisie absurde vient de devenir une date parfaitement plausible, et plus rien dans le programme ne permettra de s'en apercevoir. C'est exactement ce que proscrit </a:t>
            </a:r>
            <a:r>
              <a:rPr>
                <a:latin typeface="Consolas"/>
              </a:rPr>
              <a:t>CC-ERR.1</a:t>
            </a:r>
            <a:r>
              <a:t> du mémento Clean Code.</a:t>
            </a:r>
          </a:p>
          <a:p>
            <a:r>
              <a:t>Le mode indulgent n'est pas un défaut du JDK. Il existe des contextes où ajuster vaut mieux que refuser. Mais pour un formulaire d'inscription, le mode strict est le bon choix, et il faut l'écrire explicitement.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lignes, qui résument six exercices. La plus transversale est la deuxième : l'immuabilité dépasse largement les dates, et vous la retrouverez sur </a:t>
            </a:r>
            <a:r>
              <a:rPr>
                <a:latin typeface="Consolas"/>
              </a:rPr>
              <a:t>String</a:t>
            </a:r>
            <a:r>
              <a:t>, sur les </a:t>
            </a:r>
            <a:r>
              <a:rPr>
                <a:latin typeface="Consolas"/>
              </a:rPr>
              <a:t>record</a:t>
            </a:r>
            <a:r>
              <a:t> du module ENU, et dans le mémento Clean Code.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4"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4"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4" Type="http://schemas.openxmlformats.org/officeDocument/2006/relationships/image" Target="../media/image1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4" Type="http://schemas.openxmlformats.org/officeDocument/2006/relationships/image" Target="../media/image1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4" Type="http://schemas.openxmlformats.org/officeDocument/2006/relationships/image" Target="../media/image1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4" Type="http://schemas.openxmlformats.org/officeDocument/2006/relationships/image" Target="../media/image1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TMP</a:t>
            </a:r>
          </a:p>
          <a:p>
            <a:r>
              <a:rPr/>
              <a:t>Dates et heures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20" name="Groupe 19">
            <a:extLst>
              <a:ext uri="{FF2B5EF4-FFF2-40B4-BE49-F238E27FC236}">
                <a16:creationId xmlns:a16="http://schemas.microsoft.com/office/drawing/2014/main" id="{81987D5D-9086-643F-F1C4-8E992A2D53F7}"/>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Les classes de </a:t>
              </a:r>
              <a:r>
                <a:rPr sz="2400" dirty="0" err="1">
                  <a:solidFill>
                    <a:schemeClr val="accent4"/>
                  </a:solidFill>
                  <a:latin typeface="Consolas"/>
                </a:rPr>
                <a:t>java.time</a:t>
              </a:r>
              <a:endParaRPr sz="2600" dirty="0">
                <a:solidFill>
                  <a:srgbClr val="FFFFFF"/>
                </a:solidFill>
              </a:endParaRPr>
            </a:p>
          </p:txBody>
        </p:sp>
      </p:grpSp>
      <p:grpSp>
        <p:nvGrpSpPr>
          <p:cNvPr id="21" name="Groupe 20">
            <a:extLst>
              <a:ext uri="{FF2B5EF4-FFF2-40B4-BE49-F238E27FC236}">
                <a16:creationId xmlns:a16="http://schemas.microsoft.com/office/drawing/2014/main" id="{3F6EFF7C-37DC-0D11-E9FF-3BE6DDCE90E1}"/>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Mesurer un écart</a:t>
              </a:r>
            </a:p>
          </p:txBody>
        </p:sp>
      </p:grpSp>
      <p:grpSp>
        <p:nvGrpSpPr>
          <p:cNvPr id="22" name="Groupe 21">
            <a:extLst>
              <a:ext uri="{FF2B5EF4-FFF2-40B4-BE49-F238E27FC236}">
                <a16:creationId xmlns:a16="http://schemas.microsoft.com/office/drawing/2014/main" id="{17C1AB3C-125D-D193-EA1E-C0CACDE9C09D}"/>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dirty="0">
                  <a:solidFill>
                    <a:schemeClr val="accent4"/>
                  </a:solidFill>
                </a:rPr>
                <a:t>3   </a:t>
              </a:r>
              <a:r>
                <a:rPr sz="2600" dirty="0">
                  <a:solidFill>
                    <a:srgbClr val="FFFFFF"/>
                  </a:solidFill>
                </a:rPr>
                <a:t>Une date ne change pas</a:t>
              </a:r>
            </a:p>
          </p:txBody>
        </p:sp>
      </p:grpSp>
      <p:grpSp>
        <p:nvGrpSpPr>
          <p:cNvPr id="23" name="Groupe 22">
            <a:extLst>
              <a:ext uri="{FF2B5EF4-FFF2-40B4-BE49-F238E27FC236}">
                <a16:creationId xmlns:a16="http://schemas.microsoft.com/office/drawing/2014/main" id="{FF9E6089-4660-1AD0-57B5-8933B34816B8}"/>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dirty="0">
                  <a:solidFill>
                    <a:schemeClr val="accent4"/>
                  </a:solidFill>
                </a:rPr>
                <a:t>4   </a:t>
              </a:r>
              <a:r>
                <a:rPr sz="2600" dirty="0" err="1">
                  <a:solidFill>
                    <a:srgbClr val="FFFFFF"/>
                  </a:solidFill>
                </a:rPr>
                <a:t>L'affichage</a:t>
              </a:r>
              <a:r>
                <a:rPr sz="2600" dirty="0">
                  <a:solidFill>
                    <a:srgbClr val="FFFFFF"/>
                  </a:solidFill>
                </a:rPr>
                <a:t> </a:t>
              </a:r>
              <a:r>
                <a:rPr sz="2600" dirty="0" err="1">
                  <a:solidFill>
                    <a:srgbClr val="FFFFFF"/>
                  </a:solidFill>
                </a:rPr>
                <a:t>formaté</a:t>
              </a:r>
              <a:endParaRPr sz="2600" dirty="0">
                <a:solidFill>
                  <a:srgbClr val="FFFFFF"/>
                </a:solidFill>
              </a:endParaRPr>
            </a:p>
          </p:txBody>
        </p:sp>
      </p:grpSp>
      <p:grpSp>
        <p:nvGrpSpPr>
          <p:cNvPr id="24" name="Groupe 23">
            <a:extLst>
              <a:ext uri="{FF2B5EF4-FFF2-40B4-BE49-F238E27FC236}">
                <a16:creationId xmlns:a16="http://schemas.microsoft.com/office/drawing/2014/main" id="{B27045F4-91B5-0F53-461D-EDC5D055D666}"/>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dirty="0">
                  <a:solidFill>
                    <a:schemeClr val="accent4"/>
                  </a:solidFill>
                </a:rPr>
                <a:t>5   </a:t>
              </a:r>
              <a:r>
                <a:rPr sz="2600" dirty="0">
                  <a:solidFill>
                    <a:srgbClr val="FFFFFF"/>
                  </a:solidFill>
                </a:rPr>
                <a:t>Date </a:t>
              </a:r>
              <a:r>
                <a:rPr sz="2600" dirty="0" err="1">
                  <a:solidFill>
                    <a:srgbClr val="FFFFFF"/>
                  </a:solidFill>
                </a:rPr>
                <a:t>ou</a:t>
              </a:r>
              <a:r>
                <a:rPr sz="2600" dirty="0">
                  <a:solidFill>
                    <a:srgbClr val="FFFFFF"/>
                  </a:solidFill>
                </a:rPr>
                <a:t> instant ?</a:t>
              </a:r>
            </a:p>
          </p:txBody>
        </p:sp>
      </p:grpSp>
      <p:grpSp>
        <p:nvGrpSpPr>
          <p:cNvPr id="25" name="Groupe 24">
            <a:extLst>
              <a:ext uri="{FF2B5EF4-FFF2-40B4-BE49-F238E27FC236}">
                <a16:creationId xmlns:a16="http://schemas.microsoft.com/office/drawing/2014/main" id="{E9E55024-8401-C82C-2556-41614530D3F6}"/>
              </a:ext>
            </a:extLst>
          </p:cNvPr>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dirty="0">
                  <a:solidFill>
                    <a:schemeClr val="accent4"/>
                  </a:solidFill>
                </a:rPr>
                <a:t>6   </a:t>
              </a:r>
              <a:r>
                <a:rPr sz="2600" dirty="0" err="1">
                  <a:solidFill>
                    <a:srgbClr val="FFFFFF"/>
                  </a:solidFill>
                </a:rPr>
                <a:t>Arithmétique</a:t>
              </a:r>
              <a:r>
                <a:rPr sz="2600" dirty="0">
                  <a:solidFill>
                    <a:srgbClr val="FFFFFF"/>
                  </a:solidFill>
                </a:rPr>
                <a:t> du </a:t>
              </a:r>
              <a:r>
                <a:rPr sz="2600" dirty="0" err="1">
                  <a:solidFill>
                    <a:srgbClr val="FFFFFF"/>
                  </a:solidFill>
                </a:rPr>
                <a:t>calendrier</a:t>
              </a:r>
              <a:endParaRPr sz="2600" dirty="0">
                <a:solidFill>
                  <a:srgbClr val="FFFFFF"/>
                </a:solidFill>
              </a:endParaRPr>
            </a:p>
          </p:txBody>
        </p:sp>
      </p:grpSp>
      <p:grpSp>
        <p:nvGrpSpPr>
          <p:cNvPr id="26" name="Groupe 25">
            <a:extLst>
              <a:ext uri="{FF2B5EF4-FFF2-40B4-BE49-F238E27FC236}">
                <a16:creationId xmlns:a16="http://schemas.microsoft.com/office/drawing/2014/main" id="{07EEAAD7-79BD-4B76-EB69-CCEBB0CA4D67}"/>
              </a:ext>
            </a:extLst>
          </p:cNvPr>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dirty="0">
                  <a:solidFill>
                    <a:schemeClr val="accent4"/>
                  </a:solidFill>
                </a:rPr>
                <a:t>7   </a:t>
              </a:r>
              <a:r>
                <a:rPr sz="2400" dirty="0">
                  <a:solidFill>
                    <a:schemeClr val="accent4"/>
                  </a:solidFill>
                  <a:latin typeface="Consolas"/>
                </a:rPr>
                <a:t>Period</a:t>
              </a:r>
              <a:r>
                <a:rPr sz="2600" dirty="0">
                  <a:solidFill>
                    <a:srgbClr val="FFFFFF"/>
                  </a:solidFill>
                </a:rPr>
                <a:t> </a:t>
              </a:r>
              <a:r>
                <a:rPr sz="2600" dirty="0" err="1">
                  <a:solidFill>
                    <a:srgbClr val="FFFFFF"/>
                  </a:solidFill>
                </a:rPr>
                <a:t>ou</a:t>
              </a:r>
              <a:r>
                <a:rPr sz="2600" dirty="0">
                  <a:solidFill>
                    <a:srgbClr val="FFFFFF"/>
                  </a:solidFill>
                </a:rPr>
                <a:t> </a:t>
              </a:r>
              <a:r>
                <a:rPr sz="2400" dirty="0">
                  <a:solidFill>
                    <a:schemeClr val="accent4"/>
                  </a:solidFill>
                  <a:latin typeface="Consolas"/>
                </a:rPr>
                <a:t>Duration</a:t>
              </a:r>
            </a:p>
          </p:txBody>
        </p:sp>
      </p:grpSp>
      <p:grpSp>
        <p:nvGrpSpPr>
          <p:cNvPr id="27" name="Groupe 26">
            <a:extLst>
              <a:ext uri="{FF2B5EF4-FFF2-40B4-BE49-F238E27FC236}">
                <a16:creationId xmlns:a16="http://schemas.microsoft.com/office/drawing/2014/main" id="{C0BC4E6A-B56E-A814-D0B7-6C3FB8C0C25F}"/>
              </a:ext>
            </a:extLst>
          </p:cNvPr>
          <p:cNvGrpSpPr/>
          <p:nvPr/>
        </p:nvGrpSpPr>
        <p:grpSpPr>
          <a:xfrm>
            <a:off x="6217920" y="4754879"/>
            <a:ext cx="5394960" cy="914400"/>
            <a:chOff x="6217920" y="4754879"/>
            <a:chExt cx="5394960" cy="914400"/>
          </a:xfrm>
        </p:grpSpPr>
        <p:sp>
          <p:nvSpPr>
            <p:cNvPr id="17" name="Sommaire du module"/>
            <p:cNvSpPr/>
            <p:nvPr/>
          </p:nvSpPr>
          <p:spPr>
            <a:xfrm>
              <a:off x="621792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ommaire du module, texte"/>
            <p:cNvSpPr txBox="1"/>
            <p:nvPr/>
          </p:nvSpPr>
          <p:spPr>
            <a:xfrm>
              <a:off x="6400800" y="4754879"/>
              <a:ext cx="5029200" cy="914400"/>
            </a:xfrm>
            <a:prstGeom prst="rect">
              <a:avLst/>
            </a:prstGeom>
            <a:noFill/>
          </p:spPr>
          <p:txBody>
            <a:bodyPr wrap="none" anchor="ctr">
              <a:spAutoFit/>
            </a:bodyPr>
            <a:lstStyle/>
            <a:p>
              <a:r>
                <a:rPr sz="3000" b="1" dirty="0">
                  <a:solidFill>
                    <a:schemeClr val="accent4"/>
                  </a:solidFill>
                </a:rPr>
                <a:t>8   </a:t>
              </a:r>
              <a:r>
                <a:rPr sz="2600" dirty="0">
                  <a:solidFill>
                    <a:srgbClr val="FFFFFF"/>
                  </a:solidFill>
                </a:rPr>
                <a:t>Une date et son </a:t>
              </a:r>
              <a:r>
                <a:rPr sz="2600" dirty="0" err="1">
                  <a:solidFill>
                    <a:srgbClr val="FFFFFF"/>
                  </a:solidFill>
                </a:rPr>
                <a:t>texte</a:t>
              </a:r>
              <a:endParaRPr sz="2600" dirty="0">
                <a:solidFill>
                  <a:srgbClr val="FFFFFF"/>
                </a:solidFill>
              </a:endParaRPr>
            </a:p>
          </p:txBody>
        </p:sp>
      </p:grpSp>
      <p:sp>
        <p:nvSpPr>
          <p:cNvPr id="1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1.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830978"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atin typeface="Calibri"/>
                <a:cs typeface="Calibri"/>
              </a:rPr>
              <a:t>1. Les classes de </a:t>
            </a:r>
            <a:r>
              <a:rPr lang="fr-FR" sz="6000" b="1" dirty="0" err="1">
                <a:solidFill>
                  <a:schemeClr val="accent4"/>
                </a:solidFill>
                <a:latin typeface="Consolas" panose="020B0609020204030204" pitchFamily="49" charset="0"/>
                <a:cs typeface="Consolas" panose="020B0609020204030204" pitchFamily="49" charset="0"/>
              </a:rPr>
              <a:t>java.time</a:t>
            </a:r>
            <a:endParaRPr lang="fr-FR" sz="6000" b="1" dirty="0">
              <a:solidFill>
                <a:schemeClr val="accent4"/>
              </a:solidFill>
              <a:latin typeface="Consolas" panose="020B0609020204030204" pitchFamily="49" charset="0"/>
              <a:cs typeface="Consolas" panose="020B0609020204030204" pitchFamily="49"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date, c'est plus compliqué qu'il n'y paraît</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Combien de jours dans un mois ? Ça dépend…</a:t>
            </a:r>
          </a:p>
          <a:p>
            <a:pPr>
              <a:spcAft>
                <a:spcPts val="1000"/>
              </a:spcAft>
            </a:pPr>
            <a:r>
              <a:rPr sz="2800"/>
              <a:t>Combien de jours dans une année ? Ça dépend…</a:t>
            </a:r>
          </a:p>
          <a:p>
            <a:pPr>
              <a:spcAft>
                <a:spcPts val="1000"/>
              </a:spcAft>
            </a:pPr>
            <a:r>
              <a:rPr sz="2800"/>
              <a:t>Le 31 février existe-t-il ? Non, mais rien n'empêche de l'écrire</a:t>
            </a:r>
          </a:p>
          <a:p>
            <a:pPr>
              <a:spcAft>
                <a:spcPts val="1000"/>
              </a:spcAft>
            </a:pPr>
            <a:r>
              <a:rPr sz="2800"/>
              <a:t>Faire soi-même ce calcul, c'est se tromper</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trois classes du quotidien</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La classe </a:t>
            </a:r>
            <a:r>
              <a:rPr sz="2400">
                <a:solidFill>
                  <a:schemeClr val="accent4"/>
                </a:solidFill>
                <a:latin typeface="Consolas"/>
              </a:rPr>
              <a:t>LocalDate</a:t>
            </a:r>
            <a:r>
              <a:rPr sz="2800"/>
              <a:t> - une date, sans heure - </a:t>
            </a:r>
            <a:r>
              <a:rPr sz="2400">
                <a:solidFill>
                  <a:schemeClr val="accent4"/>
                </a:solidFill>
                <a:latin typeface="Consolas"/>
              </a:rPr>
              <a:t>2027-01-19</a:t>
            </a:r>
          </a:p>
          <a:p>
            <a:pPr>
              <a:spcAft>
                <a:spcPts val="1000"/>
              </a:spcAft>
            </a:pPr>
            <a:r>
              <a:rPr sz="2800"/>
              <a:t>La classe </a:t>
            </a:r>
            <a:r>
              <a:rPr sz="2400">
                <a:solidFill>
                  <a:schemeClr val="accent4"/>
                </a:solidFill>
                <a:latin typeface="Consolas"/>
              </a:rPr>
              <a:t>LocalTime</a:t>
            </a:r>
            <a:r>
              <a:rPr sz="2800"/>
              <a:t> - une heure, sans date - </a:t>
            </a:r>
            <a:r>
              <a:rPr sz="2400">
                <a:solidFill>
                  <a:schemeClr val="accent4"/>
                </a:solidFill>
                <a:latin typeface="Consolas"/>
              </a:rPr>
              <a:t>18:00</a:t>
            </a:r>
          </a:p>
          <a:p>
            <a:pPr>
              <a:spcAft>
                <a:spcPts val="1000"/>
              </a:spcAft>
            </a:pPr>
            <a:r>
              <a:rPr sz="2800"/>
              <a:t>La classe </a:t>
            </a:r>
            <a:r>
              <a:rPr sz="2400">
                <a:solidFill>
                  <a:schemeClr val="accent4"/>
                </a:solidFill>
                <a:latin typeface="Consolas"/>
              </a:rPr>
              <a:t>LocalDateTime</a:t>
            </a:r>
            <a:r>
              <a:rPr sz="2800"/>
              <a:t> - les deux - </a:t>
            </a:r>
            <a:r>
              <a:rPr sz="2400">
                <a:solidFill>
                  <a:schemeClr val="accent4"/>
                </a:solidFill>
                <a:latin typeface="Consolas"/>
              </a:rPr>
              <a:t>2027-01-19T18:00</a:t>
            </a:r>
          </a:p>
          <a:p>
            <a:pPr>
              <a:spcAft>
                <a:spcPts val="1000"/>
              </a:spcAft>
            </a:pPr>
            <a:r>
              <a:rPr sz="2800"/>
              <a:t>« Local », donc sans fuseau horaire</a:t>
            </a:r>
          </a:p>
          <a:p>
            <a:pPr>
              <a:spcAft>
                <a:spcPts val="1000"/>
              </a:spcAft>
            </a:pPr>
            <a:r>
              <a:rPr sz="2800"/>
              <a:t>Seul </a:t>
            </a:r>
            <a:r>
              <a:rPr sz="2400">
                <a:solidFill>
                  <a:schemeClr val="accent4"/>
                </a:solidFill>
                <a:latin typeface="Consolas"/>
              </a:rPr>
              <a:t>now()</a:t>
            </a:r>
            <a:r>
              <a:rPr sz="2800"/>
              <a:t> consulte celui de la machine, pour savoir quelle date il est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Laquelle choisir ?</a:t>
            </a:r>
          </a:p>
        </p:txBody>
      </p:sp>
      <p:sp>
        <p:nvSpPr>
          <p:cNvPr id="3" name="TextBox 2"/>
          <p:cNvSpPr txBox="1"/>
          <p:nvPr/>
        </p:nvSpPr>
        <p:spPr>
          <a:xfrm>
            <a:off x="777240" y="1371600"/>
            <a:ext cx="7886699" cy="585216"/>
          </a:xfrm>
          <a:prstGeom prst="rect">
            <a:avLst/>
          </a:prstGeom>
          <a:noFill/>
        </p:spPr>
        <p:txBody>
          <a:bodyPr wrap="square" anchor="ctr">
            <a:spAutoFit/>
          </a:bodyPr>
          <a:lstStyle/>
          <a:p>
            <a:r>
              <a:rPr sz="2000" b="1">
                <a:solidFill>
                  <a:schemeClr val="accent4"/>
                </a:solidFill>
              </a:rPr>
              <a:t>Ce que vous représentez</a:t>
            </a:r>
          </a:p>
        </p:txBody>
      </p:sp>
      <p:sp>
        <p:nvSpPr>
          <p:cNvPr id="4" name="TextBox 3"/>
          <p:cNvSpPr txBox="1"/>
          <p:nvPr/>
        </p:nvSpPr>
        <p:spPr>
          <a:xfrm>
            <a:off x="8938259" y="1371600"/>
            <a:ext cx="2446020" cy="585216"/>
          </a:xfrm>
          <a:prstGeom prst="rect">
            <a:avLst/>
          </a:prstGeom>
          <a:noFill/>
        </p:spPr>
        <p:txBody>
          <a:bodyPr wrap="square" anchor="ctr">
            <a:spAutoFit/>
          </a:bodyPr>
          <a:lstStyle/>
          <a:p>
            <a:r>
              <a:rPr sz="2000" b="1">
                <a:solidFill>
                  <a:schemeClr val="accent4"/>
                </a:solidFill>
              </a:rPr>
              <a:t>La classe</a:t>
            </a:r>
          </a:p>
        </p:txBody>
      </p:sp>
      <p:grpSp>
        <p:nvGrpSpPr>
          <p:cNvPr id="22" name="Groupe 21">
            <a:extLst>
              <a:ext uri="{FF2B5EF4-FFF2-40B4-BE49-F238E27FC236}">
                <a16:creationId xmlns:a16="http://schemas.microsoft.com/office/drawing/2014/main" id="{F71E1AAE-361A-A69F-507B-D5A021EAC16A}"/>
              </a:ext>
            </a:extLst>
          </p:cNvPr>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7886699" cy="585216"/>
            </a:xfrm>
            <a:prstGeom prst="rect">
              <a:avLst/>
            </a:prstGeom>
            <a:noFill/>
          </p:spPr>
          <p:txBody>
            <a:bodyPr wrap="square" anchor="ctr">
              <a:spAutoFit/>
            </a:bodyPr>
            <a:lstStyle/>
            <a:p>
              <a:r>
                <a:rPr sz="2200" dirty="0" err="1">
                  <a:solidFill>
                    <a:srgbClr val="FFFFFF"/>
                  </a:solidFill>
                </a:rPr>
                <a:t>une</a:t>
              </a:r>
              <a:r>
                <a:rPr sz="2200" dirty="0">
                  <a:solidFill>
                    <a:srgbClr val="FFFFFF"/>
                  </a:solidFill>
                </a:rPr>
                <a:t> date de naissance, </a:t>
              </a:r>
              <a:r>
                <a:rPr sz="2200" dirty="0" err="1">
                  <a:solidFill>
                    <a:srgbClr val="FFFFFF"/>
                  </a:solidFill>
                </a:rPr>
                <a:t>une</a:t>
              </a:r>
              <a:r>
                <a:rPr sz="2200" dirty="0">
                  <a:solidFill>
                    <a:srgbClr val="FFFFFF"/>
                  </a:solidFill>
                </a:rPr>
                <a:t> </a:t>
              </a:r>
              <a:r>
                <a:rPr sz="2200" dirty="0" err="1">
                  <a:solidFill>
                    <a:srgbClr val="FFFFFF"/>
                  </a:solidFill>
                </a:rPr>
                <a:t>échéance</a:t>
              </a:r>
              <a:endParaRPr sz="2200" dirty="0">
                <a:solidFill>
                  <a:srgbClr val="FFFFFF"/>
                </a:solidFill>
              </a:endParaRPr>
            </a:p>
          </p:txBody>
        </p:sp>
        <p:sp>
          <p:nvSpPr>
            <p:cNvPr id="7" name="TextBox 6"/>
            <p:cNvSpPr txBox="1"/>
            <p:nvPr/>
          </p:nvSpPr>
          <p:spPr>
            <a:xfrm>
              <a:off x="8938259" y="2029967"/>
              <a:ext cx="2446020" cy="585216"/>
            </a:xfrm>
            <a:prstGeom prst="rect">
              <a:avLst/>
            </a:prstGeom>
            <a:noFill/>
          </p:spPr>
          <p:txBody>
            <a:bodyPr wrap="square" anchor="ctr">
              <a:spAutoFit/>
            </a:bodyPr>
            <a:lstStyle/>
            <a:p>
              <a:r>
                <a:rPr sz="1900">
                  <a:solidFill>
                    <a:schemeClr val="accent4"/>
                  </a:solidFill>
                  <a:latin typeface="Consolas"/>
                </a:rPr>
                <a:t>LocalDate</a:t>
              </a:r>
            </a:p>
          </p:txBody>
        </p:sp>
      </p:grpSp>
      <p:grpSp>
        <p:nvGrpSpPr>
          <p:cNvPr id="23" name="Groupe 22">
            <a:extLst>
              <a:ext uri="{FF2B5EF4-FFF2-40B4-BE49-F238E27FC236}">
                <a16:creationId xmlns:a16="http://schemas.microsoft.com/office/drawing/2014/main" id="{D013DC0E-40F6-54E0-65C8-CFA437E6FCAB}"/>
              </a:ext>
            </a:extLst>
          </p:cNvPr>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7886699" cy="585216"/>
            </a:xfrm>
            <a:prstGeom prst="rect">
              <a:avLst/>
            </a:prstGeom>
            <a:noFill/>
          </p:spPr>
          <p:txBody>
            <a:bodyPr wrap="square" anchor="ctr">
              <a:spAutoFit/>
            </a:bodyPr>
            <a:lstStyle/>
            <a:p>
              <a:r>
                <a:rPr sz="2200">
                  <a:solidFill>
                    <a:srgbClr val="FFFFFF"/>
                  </a:solidFill>
                </a:rPr>
                <a:t>une heure d'ouverture</a:t>
              </a:r>
            </a:p>
          </p:txBody>
        </p:sp>
        <p:sp>
          <p:nvSpPr>
            <p:cNvPr id="10" name="TextBox 9"/>
            <p:cNvSpPr txBox="1"/>
            <p:nvPr/>
          </p:nvSpPr>
          <p:spPr>
            <a:xfrm>
              <a:off x="8938259" y="2688335"/>
              <a:ext cx="2446020" cy="585216"/>
            </a:xfrm>
            <a:prstGeom prst="rect">
              <a:avLst/>
            </a:prstGeom>
            <a:noFill/>
          </p:spPr>
          <p:txBody>
            <a:bodyPr wrap="square" anchor="ctr">
              <a:spAutoFit/>
            </a:bodyPr>
            <a:lstStyle/>
            <a:p>
              <a:r>
                <a:rPr sz="1900">
                  <a:solidFill>
                    <a:schemeClr val="accent4"/>
                  </a:solidFill>
                  <a:latin typeface="Consolas"/>
                </a:rPr>
                <a:t>LocalTime</a:t>
              </a:r>
            </a:p>
          </p:txBody>
        </p:sp>
      </p:grpSp>
      <p:grpSp>
        <p:nvGrpSpPr>
          <p:cNvPr id="24" name="Groupe 23">
            <a:extLst>
              <a:ext uri="{FF2B5EF4-FFF2-40B4-BE49-F238E27FC236}">
                <a16:creationId xmlns:a16="http://schemas.microsoft.com/office/drawing/2014/main" id="{46C5E2E6-8612-67B2-4D59-A8664D071606}"/>
              </a:ext>
            </a:extLst>
          </p:cNvPr>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7886699" cy="585216"/>
            </a:xfrm>
            <a:prstGeom prst="rect">
              <a:avLst/>
            </a:prstGeom>
            <a:noFill/>
          </p:spPr>
          <p:txBody>
            <a:bodyPr wrap="square" anchor="ctr">
              <a:spAutoFit/>
            </a:bodyPr>
            <a:lstStyle/>
            <a:p>
              <a:r>
                <a:rPr sz="2200" dirty="0">
                  <a:solidFill>
                    <a:srgbClr val="FFFFFF"/>
                  </a:solidFill>
                </a:rPr>
                <a:t>un </a:t>
              </a:r>
              <a:r>
                <a:rPr sz="2200" dirty="0" err="1">
                  <a:solidFill>
                    <a:srgbClr val="FFFFFF"/>
                  </a:solidFill>
                </a:rPr>
                <a:t>rendez</a:t>
              </a:r>
              <a:r>
                <a:rPr sz="2200" dirty="0">
                  <a:solidFill>
                    <a:srgbClr val="FFFFFF"/>
                  </a:solidFill>
                </a:rPr>
                <a:t>-vous, un </a:t>
              </a:r>
              <a:r>
                <a:rPr sz="2200" dirty="0" err="1">
                  <a:solidFill>
                    <a:srgbClr val="FFFFFF"/>
                  </a:solidFill>
                </a:rPr>
                <a:t>horodatage</a:t>
              </a:r>
              <a:endParaRPr sz="2200" dirty="0">
                <a:solidFill>
                  <a:srgbClr val="FFFFFF"/>
                </a:solidFill>
              </a:endParaRPr>
            </a:p>
          </p:txBody>
        </p:sp>
        <p:sp>
          <p:nvSpPr>
            <p:cNvPr id="13" name="TextBox 12"/>
            <p:cNvSpPr txBox="1"/>
            <p:nvPr/>
          </p:nvSpPr>
          <p:spPr>
            <a:xfrm>
              <a:off x="8938259" y="3346703"/>
              <a:ext cx="2446020" cy="585216"/>
            </a:xfrm>
            <a:prstGeom prst="rect">
              <a:avLst/>
            </a:prstGeom>
            <a:noFill/>
          </p:spPr>
          <p:txBody>
            <a:bodyPr wrap="square" anchor="ctr">
              <a:spAutoFit/>
            </a:bodyPr>
            <a:lstStyle/>
            <a:p>
              <a:r>
                <a:rPr sz="1900">
                  <a:solidFill>
                    <a:schemeClr val="accent4"/>
                  </a:solidFill>
                  <a:latin typeface="Consolas"/>
                </a:rPr>
                <a:t>LocalDateTime</a:t>
              </a:r>
            </a:p>
          </p:txBody>
        </p:sp>
      </p:grpSp>
      <p:grpSp>
        <p:nvGrpSpPr>
          <p:cNvPr id="25" name="Groupe 24">
            <a:extLst>
              <a:ext uri="{FF2B5EF4-FFF2-40B4-BE49-F238E27FC236}">
                <a16:creationId xmlns:a16="http://schemas.microsoft.com/office/drawing/2014/main" id="{35B01EFE-71B9-52FD-F598-A0B1491E0649}"/>
              </a:ext>
            </a:extLst>
          </p:cNvPr>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7886699" cy="585216"/>
            </a:xfrm>
            <a:prstGeom prst="rect">
              <a:avLst/>
            </a:prstGeom>
            <a:noFill/>
          </p:spPr>
          <p:txBody>
            <a:bodyPr wrap="square" anchor="ctr">
              <a:spAutoFit/>
            </a:bodyPr>
            <a:lstStyle/>
            <a:p>
              <a:r>
                <a:rPr sz="2200">
                  <a:solidFill>
                    <a:srgbClr val="FFFFFF"/>
                  </a:solidFill>
                </a:rPr>
                <a:t>un écart en années, mois et jours</a:t>
              </a:r>
            </a:p>
          </p:txBody>
        </p:sp>
        <p:sp>
          <p:nvSpPr>
            <p:cNvPr id="16" name="TextBox 15"/>
            <p:cNvSpPr txBox="1"/>
            <p:nvPr/>
          </p:nvSpPr>
          <p:spPr>
            <a:xfrm>
              <a:off x="8938259" y="4005071"/>
              <a:ext cx="2446020" cy="585216"/>
            </a:xfrm>
            <a:prstGeom prst="rect">
              <a:avLst/>
            </a:prstGeom>
            <a:noFill/>
          </p:spPr>
          <p:txBody>
            <a:bodyPr wrap="square" anchor="ctr">
              <a:spAutoFit/>
            </a:bodyPr>
            <a:lstStyle/>
            <a:p>
              <a:r>
                <a:rPr sz="1900">
                  <a:solidFill>
                    <a:schemeClr val="accent4"/>
                  </a:solidFill>
                  <a:latin typeface="Consolas"/>
                </a:rPr>
                <a:t>Period</a:t>
              </a:r>
            </a:p>
          </p:txBody>
        </p:sp>
      </p:grpSp>
      <p:grpSp>
        <p:nvGrpSpPr>
          <p:cNvPr id="26" name="Groupe 25">
            <a:extLst>
              <a:ext uri="{FF2B5EF4-FFF2-40B4-BE49-F238E27FC236}">
                <a16:creationId xmlns:a16="http://schemas.microsoft.com/office/drawing/2014/main" id="{9BE489F7-9034-5D11-98DC-3EC77F750533}"/>
              </a:ext>
            </a:extLst>
          </p:cNvPr>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7886699" cy="585216"/>
            </a:xfrm>
            <a:prstGeom prst="rect">
              <a:avLst/>
            </a:prstGeom>
            <a:noFill/>
          </p:spPr>
          <p:txBody>
            <a:bodyPr wrap="square" anchor="ctr">
              <a:spAutoFit/>
            </a:bodyPr>
            <a:lstStyle/>
            <a:p>
              <a:r>
                <a:rPr sz="2200">
                  <a:solidFill>
                    <a:srgbClr val="FFFFFF"/>
                  </a:solidFill>
                </a:rPr>
                <a:t>un écart en heures, minutes et secondes</a:t>
              </a:r>
            </a:p>
          </p:txBody>
        </p:sp>
        <p:sp>
          <p:nvSpPr>
            <p:cNvPr id="19" name="TextBox 18"/>
            <p:cNvSpPr txBox="1"/>
            <p:nvPr/>
          </p:nvSpPr>
          <p:spPr>
            <a:xfrm>
              <a:off x="8938259" y="4663439"/>
              <a:ext cx="2446020" cy="585216"/>
            </a:xfrm>
            <a:prstGeom prst="rect">
              <a:avLst/>
            </a:prstGeom>
            <a:noFill/>
          </p:spPr>
          <p:txBody>
            <a:bodyPr wrap="square" anchor="ctr">
              <a:spAutoFit/>
            </a:bodyPr>
            <a:lstStyle/>
            <a:p>
              <a:r>
                <a:rPr sz="1900" dirty="0">
                  <a:solidFill>
                    <a:schemeClr val="accent4"/>
                  </a:solidFill>
                  <a:latin typeface="Consolas"/>
                </a:rPr>
                <a:t>Duration</a:t>
              </a:r>
            </a:p>
          </p:txBody>
        </p:sp>
      </p:grpSp>
      <p:sp>
        <p:nvSpPr>
          <p:cNvPr id="21"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Tout est dans le JDK</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Le package </a:t>
            </a:r>
            <a:r>
              <a:rPr sz="2400">
                <a:solidFill>
                  <a:schemeClr val="accent4"/>
                </a:solidFill>
                <a:latin typeface="Consolas"/>
              </a:rPr>
              <a:t>java.time</a:t>
            </a:r>
            <a:r>
              <a:rPr sz="2800"/>
              <a:t> fait partie de la bibliothèque standard</a:t>
            </a:r>
          </a:p>
          <a:p>
            <a:pPr>
              <a:spcAft>
                <a:spcPts val="1000"/>
              </a:spcAft>
            </a:pPr>
            <a:r>
              <a:rPr sz="2800"/>
              <a:t>Rien à installer, rien à déclarer dans le </a:t>
            </a:r>
            <a:r>
              <a:rPr sz="2400">
                <a:solidFill>
                  <a:schemeClr val="accent4"/>
                </a:solidFill>
                <a:latin typeface="Consolas"/>
              </a:rPr>
              <a:t>pom.xml</a:t>
            </a:r>
          </a:p>
          <a:p>
            <a:pPr>
              <a:spcAft>
                <a:spcPts val="1000"/>
              </a:spcAft>
            </a:pPr>
            <a:r>
              <a:rPr sz="2800"/>
              <a:t>Le détail : mémento technique, </a:t>
            </a:r>
            <a:r>
              <a:rPr sz="2800" b="1"/>
              <a:t>TEC-PLA.1</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Fabriquer une date</a:t>
            </a:r>
          </a:p>
        </p:txBody>
      </p:sp>
      <p:sp>
        <p:nvSpPr>
          <p:cNvPr id="3" name="Content Placeholder 2"/>
          <p:cNvSpPr>
            <a:spLocks noGrp="1"/>
          </p:cNvSpPr>
          <p:nvPr>
            <p:ph idx="1"/>
          </p:nvPr>
        </p:nvSpPr>
        <p:spPr>
          <a:xfrm>
            <a:off x="640080" y="1371600"/>
            <a:ext cx="10881360" cy="1671319"/>
          </a:xfrm>
        </p:spPr>
        <p:txBody>
          <a:bodyPr/>
          <a:lstStyle/>
          <a:p>
            <a:pPr>
              <a:spcAft>
                <a:spcPts val="1000"/>
              </a:spcAft>
            </a:pPr>
            <a:r>
              <a:rPr sz="2800" dirty="0" err="1"/>
              <a:t>Aucun</a:t>
            </a:r>
            <a:r>
              <a:rPr sz="2800" dirty="0"/>
              <a:t> </a:t>
            </a:r>
            <a:r>
              <a:rPr sz="2800" dirty="0" err="1"/>
              <a:t>constructeur</a:t>
            </a:r>
            <a:r>
              <a:rPr sz="2800" dirty="0"/>
              <a:t> : on </a:t>
            </a:r>
            <a:r>
              <a:rPr sz="2800" dirty="0" err="1"/>
              <a:t>utilise</a:t>
            </a:r>
            <a:r>
              <a:rPr sz="2800" dirty="0"/>
              <a:t> des </a:t>
            </a:r>
            <a:r>
              <a:rPr sz="2800" dirty="0" err="1"/>
              <a:t>méthodes</a:t>
            </a:r>
            <a:r>
              <a:rPr sz="2800" dirty="0"/>
              <a:t> </a:t>
            </a:r>
            <a:r>
              <a:rPr sz="2800" dirty="0" err="1"/>
              <a:t>statiques</a:t>
            </a:r>
            <a:endParaRPr sz="2800" dirty="0"/>
          </a:p>
          <a:p>
            <a:pPr>
              <a:spcAft>
                <a:spcPts val="1000"/>
              </a:spcAft>
            </a:pPr>
            <a:r>
              <a:rPr sz="2800" dirty="0"/>
              <a:t>La </a:t>
            </a:r>
            <a:r>
              <a:rPr dirty="0" err="1"/>
              <a:t>méthode</a:t>
            </a:r>
            <a:r>
              <a:rPr sz="2800" dirty="0"/>
              <a:t> </a:t>
            </a:r>
            <a:r>
              <a:rPr sz="2400" dirty="0">
                <a:solidFill>
                  <a:schemeClr val="accent4"/>
                </a:solidFill>
                <a:latin typeface="Consolas"/>
              </a:rPr>
              <a:t>parse</a:t>
            </a:r>
            <a:r>
              <a:rPr sz="2800" dirty="0"/>
              <a:t> attend le format ISO, </a:t>
            </a:r>
            <a:r>
              <a:rPr sz="2400" dirty="0">
                <a:solidFill>
                  <a:schemeClr val="accent4"/>
                </a:solidFill>
                <a:latin typeface="Consolas"/>
              </a:rPr>
              <a:t>AAAA-MM-JJ</a:t>
            </a:r>
          </a:p>
        </p:txBody>
      </p:sp>
      <p:sp>
        <p:nvSpPr>
          <p:cNvPr id="4" name="Code"/>
          <p:cNvSpPr txBox="1"/>
          <p:nvPr/>
        </p:nvSpPr>
        <p:spPr>
          <a:xfrm>
            <a:off x="2241550" y="3180079"/>
            <a:ext cx="77089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 aujourdhui = LocalDate.</a:t>
            </a:r>
            <a:r>
              <a:rPr sz="1800">
                <a:solidFill>
                  <a:srgbClr val="56A8F5"/>
                </a:solidFill>
                <a:latin typeface="Consolas"/>
              </a:rPr>
              <a:t>now</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LocalDate naissance  = LocalDate.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1990</a:t>
            </a:r>
            <a:r>
              <a:rPr sz="1800">
                <a:solidFill>
                  <a:srgbClr val="BCBEC4"/>
                </a:solidFill>
                <a:latin typeface="Consolas"/>
              </a:rPr>
              <a:t>, </a:t>
            </a:r>
            <a:r>
              <a:rPr sz="1800">
                <a:solidFill>
                  <a:srgbClr val="2AACB8"/>
                </a:solidFill>
                <a:latin typeface="Consolas"/>
              </a:rPr>
              <a:t>5</a:t>
            </a:r>
            <a:r>
              <a:rPr sz="1800">
                <a:solidFill>
                  <a:srgbClr val="BCBEC4"/>
                </a:solidFill>
                <a:latin typeface="Consolas"/>
              </a:rPr>
              <a:t>, </a:t>
            </a:r>
            <a:r>
              <a:rPr sz="1800">
                <a:solidFill>
                  <a:srgbClr val="2AACB8"/>
                </a:solidFill>
                <a:latin typeface="Consolas"/>
              </a:rPr>
              <a:t>17</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LocalDate lue        = LocalDate.</a:t>
            </a:r>
            <a:r>
              <a:rPr sz="1800">
                <a:solidFill>
                  <a:srgbClr val="56A8F5"/>
                </a:solidFill>
                <a:latin typeface="Consolas"/>
              </a:rPr>
              <a:t>parse</a:t>
            </a:r>
            <a:r>
              <a:rPr sz="1800">
                <a:solidFill>
                  <a:srgbClr val="BCBEC4"/>
                </a:solidFill>
                <a:latin typeface="Consolas"/>
              </a:rPr>
              <a:t>(</a:t>
            </a:r>
            <a:r>
              <a:rPr sz="1800">
                <a:solidFill>
                  <a:srgbClr val="6AAB73"/>
                </a:solidFill>
                <a:latin typeface="Consolas"/>
              </a:rPr>
              <a:t>"1990-05-17"</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Lire un morceau de date</a:t>
            </a:r>
          </a:p>
        </p:txBody>
      </p:sp>
      <p:sp>
        <p:nvSpPr>
          <p:cNvPr id="3" name="Content Placeholder 2"/>
          <p:cNvSpPr>
            <a:spLocks noGrp="1"/>
          </p:cNvSpPr>
          <p:nvPr>
            <p:ph idx="1"/>
          </p:nvPr>
        </p:nvSpPr>
        <p:spPr>
          <a:xfrm>
            <a:off x="640080" y="1371600"/>
            <a:ext cx="10881360" cy="2651760"/>
          </a:xfrm>
        </p:spPr>
        <p:txBody>
          <a:bodyPr/>
          <a:lstStyle/>
          <a:p>
            <a:pPr>
              <a:spcAft>
                <a:spcPts val="1000"/>
              </a:spcAft>
            </a:pPr>
            <a:r>
              <a:rPr sz="2800"/>
              <a:t>Les noms sont prévisibles, la complétion suffit</a:t>
            </a:r>
          </a:p>
          <a:p>
            <a:pPr>
              <a:spcAft>
                <a:spcPts val="1000"/>
              </a:spcAft>
            </a:pPr>
            <a:r>
              <a:rPr sz="2800"/>
              <a:t>La méthode </a:t>
            </a:r>
            <a:r>
              <a:rPr sz="2400">
                <a:solidFill>
                  <a:schemeClr val="accent4"/>
                </a:solidFill>
                <a:latin typeface="Consolas"/>
              </a:rPr>
              <a:t>getDayOfWeek</a:t>
            </a:r>
            <a:r>
              <a:rPr sz="2800"/>
              <a:t> retourne une valeur de type </a:t>
            </a:r>
            <a:r>
              <a:rPr sz="2400">
                <a:solidFill>
                  <a:schemeClr val="accent4"/>
                </a:solidFill>
                <a:latin typeface="Consolas"/>
              </a:rPr>
              <a:t>DayOfWeek</a:t>
            </a:r>
          </a:p>
          <a:p>
            <a:pPr>
              <a:spcAft>
                <a:spcPts val="1000"/>
              </a:spcAft>
            </a:pPr>
            <a:r>
              <a:rPr sz="2800"/>
              <a:t>Une énumération, pas une classe - les énumérations seront vues au module </a:t>
            </a:r>
            <a:r>
              <a:rPr sz="2800" b="1"/>
              <a:t>ENU</a:t>
            </a:r>
          </a:p>
        </p:txBody>
      </p:sp>
      <p:sp>
        <p:nvSpPr>
          <p:cNvPr id="4" name="Code"/>
          <p:cNvSpPr txBox="1"/>
          <p:nvPr/>
        </p:nvSpPr>
        <p:spPr>
          <a:xfrm>
            <a:off x="2660650" y="4160520"/>
            <a:ext cx="6870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annee          = naissance.</a:t>
            </a:r>
            <a:r>
              <a:rPr sz="1800">
                <a:solidFill>
                  <a:srgbClr val="56A8F5"/>
                </a:solidFill>
                <a:latin typeface="Consolas"/>
              </a:rPr>
              <a:t>getYear</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jourDuMois     = naissance.</a:t>
            </a:r>
            <a:r>
              <a:rPr sz="1800">
                <a:solidFill>
                  <a:srgbClr val="56A8F5"/>
                </a:solidFill>
                <a:latin typeface="Consolas"/>
              </a:rPr>
              <a:t>getDayOfMonth</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DayOfWeek jour     = naissance.</a:t>
            </a:r>
            <a:r>
              <a:rPr sz="1800">
                <a:solidFill>
                  <a:srgbClr val="56A8F5"/>
                </a:solidFill>
                <a:latin typeface="Consolas"/>
              </a:rPr>
              <a:t>getDayOfWeek</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boolean</a:t>
            </a:r>
            <a:r>
              <a:rPr sz="1800">
                <a:solidFill>
                  <a:srgbClr val="BCBEC4"/>
                </a:solidFill>
                <a:latin typeface="Consolas"/>
              </a:rPr>
              <a:t> bissextile = naissance.</a:t>
            </a:r>
            <a:r>
              <a:rPr sz="1800">
                <a:solidFill>
                  <a:srgbClr val="56A8F5"/>
                </a:solidFill>
                <a:latin typeface="Consolas"/>
              </a:rPr>
              <a:t>isLeapYear</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joursDuMois    = naissance.</a:t>
            </a:r>
            <a:r>
              <a:rPr sz="1800">
                <a:solidFill>
                  <a:srgbClr val="56A8F5"/>
                </a:solidFill>
                <a:latin typeface="Consolas"/>
              </a:rPr>
              <a:t>lengthOfMonth</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Comparer deux dates</a:t>
            </a:r>
          </a:p>
        </p:txBody>
      </p:sp>
      <p:sp>
        <p:nvSpPr>
          <p:cNvPr id="3" name="Content Placeholder 2"/>
          <p:cNvSpPr>
            <a:spLocks noGrp="1"/>
          </p:cNvSpPr>
          <p:nvPr>
            <p:ph idx="1"/>
          </p:nvPr>
        </p:nvSpPr>
        <p:spPr>
          <a:xfrm>
            <a:off x="640080" y="1371600"/>
            <a:ext cx="10881360" cy="690880"/>
          </a:xfrm>
        </p:spPr>
        <p:txBody>
          <a:bodyPr/>
          <a:lstStyle/>
          <a:p>
            <a:pPr>
              <a:spcAft>
                <a:spcPts val="1000"/>
              </a:spcAft>
            </a:pPr>
            <a:r>
              <a:rPr sz="2800"/>
              <a:t>Pas de </a:t>
            </a:r>
            <a:r>
              <a:rPr sz="2400">
                <a:solidFill>
                  <a:schemeClr val="accent4"/>
                </a:solidFill>
                <a:latin typeface="Consolas"/>
              </a:rPr>
              <a:t>&lt;</a:t>
            </a:r>
            <a:r>
              <a:rPr sz="2800"/>
              <a:t> ni de </a:t>
            </a:r>
            <a:r>
              <a:rPr sz="2400">
                <a:solidFill>
                  <a:schemeClr val="accent4"/>
                </a:solidFill>
                <a:latin typeface="Consolas"/>
              </a:rPr>
              <a:t>&gt;</a:t>
            </a:r>
            <a:r>
              <a:rPr sz="2800"/>
              <a:t> : ce sont des objets</a:t>
            </a:r>
          </a:p>
        </p:txBody>
      </p:sp>
      <p:sp>
        <p:nvSpPr>
          <p:cNvPr id="4" name="Code"/>
          <p:cNvSpPr txBox="1"/>
          <p:nvPr/>
        </p:nvSpPr>
        <p:spPr>
          <a:xfrm>
            <a:off x="3009900" y="2199640"/>
            <a:ext cx="61722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naissance.</a:t>
            </a:r>
            <a:r>
              <a:rPr sz="1800">
                <a:solidFill>
                  <a:srgbClr val="56A8F5"/>
                </a:solidFill>
                <a:latin typeface="Consolas"/>
              </a:rPr>
              <a:t>isBefore</a:t>
            </a:r>
            <a:r>
              <a:rPr sz="1800">
                <a:solidFill>
                  <a:srgbClr val="BCBEC4"/>
                </a:solidFill>
                <a:latin typeface="Consolas"/>
              </a:rPr>
              <a:t>(aujourdhui);   </a:t>
            </a:r>
            <a:r>
              <a:rPr sz="1800">
                <a:solidFill>
                  <a:srgbClr val="7A7E85"/>
                </a:solidFill>
                <a:latin typeface="Consolas"/>
              </a:rPr>
              <a:t>// true</a:t>
            </a:r>
          </a:p>
          <a:p>
            <a:pPr>
              <a:lnSpc>
                <a:spcPct val="100000"/>
              </a:lnSpc>
              <a:spcBef>
                <a:spcPts val="0"/>
              </a:spcBef>
              <a:spcAft>
                <a:spcPts val="0"/>
              </a:spcAft>
            </a:pPr>
            <a:r>
              <a:rPr sz="1800">
                <a:solidFill>
                  <a:srgbClr val="BCBEC4"/>
                </a:solidFill>
                <a:latin typeface="Consolas"/>
              </a:rPr>
              <a:t>naissance.</a:t>
            </a:r>
            <a:r>
              <a:rPr sz="1800">
                <a:solidFill>
                  <a:srgbClr val="56A8F5"/>
                </a:solidFill>
                <a:latin typeface="Consolas"/>
              </a:rPr>
              <a:t>isAfter</a:t>
            </a:r>
            <a:r>
              <a:rPr sz="1800">
                <a:solidFill>
                  <a:srgbClr val="BCBEC4"/>
                </a:solidFill>
                <a:latin typeface="Consolas"/>
              </a:rPr>
              <a:t>(aujourdhui);    </a:t>
            </a:r>
            <a:r>
              <a:rPr sz="1800">
                <a:solidFill>
                  <a:srgbClr val="7A7E85"/>
                </a:solidFill>
                <a:latin typeface="Consolas"/>
              </a:rPr>
              <a:t>// false</a:t>
            </a:r>
          </a:p>
          <a:p>
            <a:pPr>
              <a:lnSpc>
                <a:spcPct val="100000"/>
              </a:lnSpc>
              <a:spcBef>
                <a:spcPts val="0"/>
              </a:spcBef>
              <a:spcAft>
                <a:spcPts val="0"/>
              </a:spcAft>
            </a:pPr>
            <a:r>
              <a:rPr sz="1800">
                <a:solidFill>
                  <a:srgbClr val="BCBEC4"/>
                </a:solidFill>
                <a:latin typeface="Consolas"/>
              </a:rPr>
              <a:t>naissance.</a:t>
            </a:r>
            <a:r>
              <a:rPr sz="1800">
                <a:solidFill>
                  <a:srgbClr val="56A8F5"/>
                </a:solidFill>
                <a:latin typeface="Consolas"/>
              </a:rPr>
              <a:t>isEqual</a:t>
            </a:r>
            <a:r>
              <a:rPr sz="1800">
                <a:solidFill>
                  <a:srgbClr val="BCBEC4"/>
                </a:solidFill>
                <a:latin typeface="Consolas"/>
              </a:rPr>
              <a:t>(aujourdhui);    </a:t>
            </a:r>
            <a:r>
              <a:rPr sz="1800">
                <a:solidFill>
                  <a:srgbClr val="7A7E85"/>
                </a:solidFill>
                <a:latin typeface="Consolas"/>
              </a:rPr>
              <a:t>// false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C1007-49DB-41A4-E679-73B5D3658A18}"/>
              </a:ext>
            </a:extLst>
          </p:cNvPr>
          <p:cNvSpPr>
            <a:spLocks noGrp="1"/>
          </p:cNvSpPr>
          <p:nvPr>
            <p:ph type="title"/>
          </p:nvPr>
        </p:nvSpPr>
        <p:spPr/>
        <p:txBody>
          <a:bodyPr>
            <a:normAutofit/>
          </a:bodyPr>
          <a:lstStyle/>
          <a:p>
            <a:r>
              <a:rPr lang="fr-FR" dirty="0"/>
              <a:t>Quelques exemples avec </a:t>
            </a:r>
            <a:r>
              <a:rPr lang="fr-FR" sz="4400" b="0" dirty="0" err="1">
                <a:solidFill>
                  <a:schemeClr val="accent4"/>
                </a:solidFill>
                <a:latin typeface="Consolas" panose="020B0609020204030204" pitchFamily="49" charset="0"/>
                <a:ea typeface="+mn-ea"/>
                <a:cs typeface="Consolas" panose="020B0609020204030204" pitchFamily="49" charset="0"/>
              </a:rPr>
              <a:t>LocalDate</a:t>
            </a:r>
            <a:endParaRPr lang="fr-FR" dirty="0"/>
          </a:p>
        </p:txBody>
      </p:sp>
      <p:graphicFrame>
        <p:nvGraphicFramePr>
          <p:cNvPr id="7" name="Espace réservé du contenu 6">
            <a:extLst>
              <a:ext uri="{FF2B5EF4-FFF2-40B4-BE49-F238E27FC236}">
                <a16:creationId xmlns:a16="http://schemas.microsoft.com/office/drawing/2014/main" id="{C48088AC-A387-8FBF-0894-87AC0269998E}"/>
              </a:ext>
            </a:extLst>
          </p:cNvPr>
          <p:cNvGraphicFramePr>
            <a:graphicFrameLocks noGrp="1"/>
          </p:cNvGraphicFramePr>
          <p:nvPr>
            <p:ph idx="1"/>
            <p:extLst>
              <p:ext uri="{D42A27DB-BD31-4B8C-83A1-F6EECF244321}">
                <p14:modId xmlns:p14="http://schemas.microsoft.com/office/powerpoint/2010/main" val="802947637"/>
              </p:ext>
            </p:extLst>
          </p:nvPr>
        </p:nvGraphicFramePr>
        <p:xfrm>
          <a:off x="359134" y="1679884"/>
          <a:ext cx="11473732" cy="4319998"/>
        </p:xfrm>
        <a:graphic>
          <a:graphicData uri="http://schemas.openxmlformats.org/drawingml/2006/table">
            <a:tbl>
              <a:tblPr firstRow="1" bandRow="1">
                <a:tableStyleId>{793D81CF-94F2-401A-BA57-92F5A7B2D0C5}</a:tableStyleId>
              </a:tblPr>
              <a:tblGrid>
                <a:gridCol w="2584174">
                  <a:extLst>
                    <a:ext uri="{9D8B030D-6E8A-4147-A177-3AD203B41FA5}">
                      <a16:colId xmlns:a16="http://schemas.microsoft.com/office/drawing/2014/main" val="1647438990"/>
                    </a:ext>
                  </a:extLst>
                </a:gridCol>
                <a:gridCol w="8889558">
                  <a:extLst>
                    <a:ext uri="{9D8B030D-6E8A-4147-A177-3AD203B41FA5}">
                      <a16:colId xmlns:a16="http://schemas.microsoft.com/office/drawing/2014/main" val="4171034227"/>
                    </a:ext>
                  </a:extLst>
                </a:gridCol>
              </a:tblGrid>
              <a:tr h="418066">
                <a:tc>
                  <a:txBody>
                    <a:bodyPr/>
                    <a:lstStyle/>
                    <a:p>
                      <a:r>
                        <a:rPr lang="fr-FR" dirty="0"/>
                        <a:t>Objectif</a:t>
                      </a:r>
                    </a:p>
                  </a:txBody>
                  <a:tcPr>
                    <a:solidFill>
                      <a:schemeClr val="bg1"/>
                    </a:solidFill>
                  </a:tcPr>
                </a:tc>
                <a:tc>
                  <a:txBody>
                    <a:bodyPr/>
                    <a:lstStyle/>
                    <a:p>
                      <a:r>
                        <a:rPr lang="fr-FR" dirty="0"/>
                        <a:t>Code</a:t>
                      </a:r>
                    </a:p>
                  </a:txBody>
                  <a:tcPr>
                    <a:solidFill>
                      <a:schemeClr val="bg1"/>
                    </a:solidFill>
                  </a:tcPr>
                </a:tc>
                <a:extLst>
                  <a:ext uri="{0D108BD9-81ED-4DB2-BD59-A6C34878D82A}">
                    <a16:rowId xmlns:a16="http://schemas.microsoft.com/office/drawing/2014/main" val="1754080159"/>
                  </a:ext>
                </a:extLst>
              </a:tr>
              <a:tr h="383226">
                <a:tc>
                  <a:txBody>
                    <a:bodyPr/>
                    <a:lstStyle/>
                    <a:p>
                      <a:r>
                        <a:rPr lang="fr-FR" sz="1600" dirty="0"/>
                        <a:t>Récupérer la date du jour</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aujourdhui</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50962036"/>
                  </a:ext>
                </a:extLst>
              </a:tr>
              <a:tr h="661934">
                <a:tc>
                  <a:txBody>
                    <a:bodyPr/>
                    <a:lstStyle/>
                    <a:p>
                      <a:r>
                        <a:rPr lang="fr-FR" sz="1600" dirty="0"/>
                        <a:t>Récupérer une date donnée (15/06/2008)</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"2008-06-15"</a:t>
                      </a:r>
                      <a:r>
                        <a:rPr lang="fr-BE" sz="1600" dirty="0">
                          <a:solidFill>
                            <a:srgbClr val="BCBEC4"/>
                          </a:solidFill>
                          <a:effectLst/>
                          <a:latin typeface="Consolas" panose="020B0609020204030204" pitchFamily="49" charset="0"/>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of</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2008</a:t>
                      </a: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2AACB8"/>
                          </a:solidFill>
                          <a:effectLst/>
                          <a:latin typeface="Consolas" panose="020B0609020204030204" pitchFamily="49" charset="0"/>
                          <a:cs typeface="Consolas" panose="020B0609020204030204" pitchFamily="49" charset="0"/>
                        </a:rPr>
                        <a:t>6</a:t>
                      </a: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2AACB8"/>
                          </a:solidFill>
                          <a:effectLst/>
                          <a:latin typeface="Consolas" panose="020B0609020204030204" pitchFamily="49" charset="0"/>
                          <a:cs typeface="Consolas" panose="020B0609020204030204" pitchFamily="49" charset="0"/>
                        </a:rPr>
                        <a:t>15</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62041138"/>
                  </a:ext>
                </a:extLst>
              </a:tr>
              <a:tr h="383226">
                <a:tc>
                  <a:txBody>
                    <a:bodyPr/>
                    <a:lstStyle/>
                    <a:p>
                      <a:r>
                        <a:rPr lang="fr-FR" sz="1600" dirty="0"/>
                        <a:t>La date de demain</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dirty="0">
                          <a:solidFill>
                            <a:srgbClr val="BCBEC4"/>
                          </a:solidFill>
                          <a:effectLst/>
                          <a:latin typeface="Consolas" panose="020B0609020204030204" pitchFamily="49" charset="0"/>
                          <a:cs typeface="Consolas" panose="020B0609020204030204" pitchFamily="49" charset="0"/>
                        </a:rPr>
                        <a:t> demain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plusDays</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1</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2186264386"/>
                  </a:ext>
                </a:extLst>
              </a:tr>
              <a:tr h="383226">
                <a:tc>
                  <a:txBody>
                    <a:bodyPr/>
                    <a:lstStyle/>
                    <a:p>
                      <a:r>
                        <a:rPr lang="fr-FR" sz="1600" dirty="0"/>
                        <a:t>Aujourd’hui moins 1 mois</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memeJourMoisPrecedent</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().minus(</a:t>
                      </a:r>
                      <a:r>
                        <a:rPr lang="fr-BE" sz="1600" dirty="0">
                          <a:solidFill>
                            <a:srgbClr val="2AACB8"/>
                          </a:solidFill>
                          <a:effectLst/>
                          <a:latin typeface="Consolas" panose="020B0609020204030204" pitchFamily="49" charset="0"/>
                          <a:cs typeface="Consolas" panose="020B0609020204030204" pitchFamily="49" charset="0"/>
                        </a:rPr>
                        <a:t>1</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ChronoUnit.</a:t>
                      </a:r>
                      <a:r>
                        <a:rPr lang="fr-BE" sz="1600" i="1" dirty="0" err="1">
                          <a:solidFill>
                            <a:srgbClr val="C77DBB"/>
                          </a:solidFill>
                          <a:effectLst/>
                          <a:latin typeface="Consolas" panose="020B0609020204030204" pitchFamily="49" charset="0"/>
                          <a:cs typeface="Consolas" panose="020B0609020204030204" pitchFamily="49" charset="0"/>
                        </a:rPr>
                        <a:t>MONTHS</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2150727633"/>
                  </a:ext>
                </a:extLst>
              </a:tr>
              <a:tr h="661934">
                <a:tc>
                  <a:txBody>
                    <a:bodyPr/>
                    <a:lstStyle/>
                    <a:p>
                      <a:r>
                        <a:rPr lang="fr-FR" sz="1600" dirty="0"/>
                        <a:t>Récupérer le jour de la semaine ou le jour du mois</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DayOfWeek</a:t>
                      </a:r>
                      <a:r>
                        <a:rPr lang="fr-BE" sz="1600" dirty="0">
                          <a:solidFill>
                            <a:srgbClr val="BCBEC4"/>
                          </a:solidFill>
                          <a:effectLst/>
                          <a:latin typeface="Consolas" panose="020B0609020204030204" pitchFamily="49" charset="0"/>
                          <a:cs typeface="Consolas" panose="020B0609020204030204" pitchFamily="49" charset="0"/>
                        </a:rPr>
                        <a:t> jeudi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"2010-07-15"</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getDayOfWeek</a:t>
                      </a:r>
                      <a:r>
                        <a:rPr lang="fr-BE" sz="1600" dirty="0">
                          <a:solidFill>
                            <a:srgbClr val="BCBEC4"/>
                          </a:solidFill>
                          <a:effectLst/>
                          <a:latin typeface="Consolas" panose="020B0609020204030204" pitchFamily="49" charset="0"/>
                          <a:cs typeface="Consolas" panose="020B0609020204030204" pitchFamily="49" charset="0"/>
                        </a:rPr>
                        <a:t>();</a:t>
                      </a:r>
                      <a:endParaRPr lang="fr-BE" sz="1600" b="1" u="none" strike="noStrike" kern="1200" dirty="0">
                        <a:solidFill>
                          <a:schemeClr val="dk1"/>
                        </a:solidFill>
                        <a:effectLst/>
                        <a:latin typeface="Consolas" panose="020B0609020204030204" pitchFamily="49" charset="0"/>
                        <a:cs typeface="Consolas" panose="020B0609020204030204" pitchFamily="49" charset="0"/>
                      </a:endParaRPr>
                    </a:p>
                    <a:p>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deux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"2012-09-02"</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getDayOfMonth</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104184551"/>
                  </a:ext>
                </a:extLst>
              </a:tr>
              <a:tr h="383226">
                <a:tc>
                  <a:txBody>
                    <a:bodyPr/>
                    <a:lstStyle/>
                    <a:p>
                      <a:r>
                        <a:rPr lang="fr-FR" sz="1600" dirty="0"/>
                        <a:t>Année bissextile ?</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boolean</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estBissextile</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isLeapYear</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3790716067"/>
                  </a:ext>
                </a:extLst>
              </a:tr>
              <a:tr h="661934">
                <a:tc>
                  <a:txBody>
                    <a:bodyPr/>
                    <a:lstStyle/>
                    <a:p>
                      <a:r>
                        <a:rPr lang="fr-FR" sz="1600" dirty="0"/>
                        <a:t>Nombre de jours du mois</a:t>
                      </a:r>
                    </a:p>
                    <a:p>
                      <a:r>
                        <a:rPr lang="fr-FR" sz="1600" dirty="0"/>
                        <a:t>Nombre de jours de l’année</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joursDansMois</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aujourdhui.lengthOfMonth</a:t>
                      </a:r>
                      <a:r>
                        <a:rPr lang="fr-BE" sz="1600" dirty="0">
                          <a:solidFill>
                            <a:srgbClr val="BCBEC4"/>
                          </a:solidFill>
                          <a:effectLst/>
                          <a:latin typeface="Consolas" panose="020B0609020204030204" pitchFamily="49" charset="0"/>
                          <a:cs typeface="Consolas" panose="020B0609020204030204" pitchFamily="49" charset="0"/>
                        </a:rPr>
                        <a:t>();</a:t>
                      </a:r>
                      <a:br>
                        <a:rPr lang="fr-BE" sz="1600" dirty="0">
                          <a:solidFill>
                            <a:srgbClr val="BCBEC4"/>
                          </a:solidFill>
                          <a:effectLst/>
                          <a:latin typeface="Consolas" panose="020B0609020204030204" pitchFamily="49" charset="0"/>
                          <a:cs typeface="Consolas" panose="020B0609020204030204" pitchFamily="49" charset="0"/>
                        </a:rPr>
                      </a:br>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joursDansAnnee</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aujourdhui.lengthOfYear</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218914042"/>
                  </a:ext>
                </a:extLst>
              </a:tr>
              <a:tr h="383226">
                <a:tc>
                  <a:txBody>
                    <a:bodyPr/>
                    <a:lstStyle/>
                    <a:p>
                      <a:r>
                        <a:rPr lang="fr-FR" sz="1600" dirty="0"/>
                        <a:t>Nombre de jours entre dates</a:t>
                      </a:r>
                    </a:p>
                  </a:txBody>
                  <a:tcPr>
                    <a:solidFill>
                      <a:schemeClr val="tx1">
                        <a:lumMod val="85000"/>
                      </a:schemeClr>
                    </a:solidFill>
                  </a:tcPr>
                </a:tc>
                <a:tc>
                  <a:txBody>
                    <a:bodyPr/>
                    <a:lstStyle/>
                    <a:p>
                      <a:r>
                        <a:rPr lang="fr-BE" sz="1600" dirty="0">
                          <a:solidFill>
                            <a:srgbClr val="CF8E6D"/>
                          </a:solidFill>
                          <a:effectLst/>
                          <a:latin typeface="Consolas" panose="020B0609020204030204" pitchFamily="49" charset="0"/>
                          <a:cs typeface="Consolas" panose="020B0609020204030204" pitchFamily="49" charset="0"/>
                        </a:rPr>
                        <a:t>long </a:t>
                      </a:r>
                      <a:r>
                        <a:rPr lang="fr-BE" sz="1600" dirty="0" err="1">
                          <a:solidFill>
                            <a:srgbClr val="BCBEC4"/>
                          </a:solidFill>
                          <a:effectLst/>
                          <a:latin typeface="Consolas" panose="020B0609020204030204" pitchFamily="49" charset="0"/>
                          <a:cs typeface="Consolas" panose="020B0609020204030204" pitchFamily="49" charset="0"/>
                        </a:rPr>
                        <a:t>ageEnJours</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ChronoUnit.</a:t>
                      </a:r>
                      <a:r>
                        <a:rPr lang="fr-BE" sz="1600" i="1" dirty="0" err="1">
                          <a:solidFill>
                            <a:srgbClr val="C77DBB"/>
                          </a:solidFill>
                          <a:effectLst/>
                          <a:latin typeface="Consolas" panose="020B0609020204030204" pitchFamily="49" charset="0"/>
                          <a:cs typeface="Consolas" panose="020B0609020204030204" pitchFamily="49" charset="0"/>
                        </a:rPr>
                        <a:t>DAYS</a:t>
                      </a:r>
                      <a:r>
                        <a:rPr lang="fr-BE" sz="1600" dirty="0" err="1">
                          <a:solidFill>
                            <a:srgbClr val="BCBEC4"/>
                          </a:solidFill>
                          <a:effectLst/>
                          <a:latin typeface="Consolas" panose="020B0609020204030204" pitchFamily="49" charset="0"/>
                          <a:cs typeface="Consolas" panose="020B0609020204030204" pitchFamily="49" charset="0"/>
                        </a:rPr>
                        <a:t>.between</a:t>
                      </a:r>
                      <a:r>
                        <a:rPr lang="fr-BE" sz="1600" dirty="0">
                          <a:solidFill>
                            <a:srgbClr val="BCBEC4"/>
                          </a:solidFill>
                          <a:effectLst/>
                          <a:latin typeface="Consolas" panose="020B0609020204030204" pitchFamily="49" charset="0"/>
                          <a:cs typeface="Consolas" panose="020B0609020204030204" pitchFamily="49" charset="0"/>
                        </a:rPr>
                        <a:t>(naissance, </a:t>
                      </a:r>
                      <a:r>
                        <a:rPr lang="fr-BE" sz="1600" dirty="0" err="1">
                          <a:solidFill>
                            <a:srgbClr val="BCBEC4"/>
                          </a:solidFill>
                          <a:effectLst/>
                          <a:latin typeface="Consolas" panose="020B0609020204030204" pitchFamily="49" charset="0"/>
                          <a:cs typeface="Consolas" panose="020B0609020204030204" pitchFamily="49" charset="0"/>
                        </a:rPr>
                        <a:t>aujourdhui</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103511029"/>
                  </a:ext>
                </a:extLst>
              </a:tr>
            </a:tbl>
          </a:graphicData>
        </a:graphic>
      </p:graphicFrame>
      <p:sp>
        <p:nvSpPr>
          <p:cNvPr id="18" name="Bulle rectangulaire à coins arrondis 17">
            <a:extLst>
              <a:ext uri="{FF2B5EF4-FFF2-40B4-BE49-F238E27FC236}">
                <a16:creationId xmlns:a16="http://schemas.microsoft.com/office/drawing/2014/main" id="{C2A8E20A-1ADA-E3E4-BA38-6BEAF708CEC2}"/>
              </a:ext>
            </a:extLst>
          </p:cNvPr>
          <p:cNvSpPr/>
          <p:nvPr/>
        </p:nvSpPr>
        <p:spPr>
          <a:xfrm>
            <a:off x="5577806" y="1454674"/>
            <a:ext cx="6015527" cy="450419"/>
          </a:xfrm>
          <a:prstGeom prst="wedgeRoundRectCallout">
            <a:avLst>
              <a:gd name="adj1" fmla="val -27996"/>
              <a:gd name="adj2" fmla="val 96651"/>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fr-FR" dirty="0"/>
              <a:t>Remarquez les méthodes en </a:t>
            </a:r>
            <a:r>
              <a:rPr lang="fr-FR" i="1" dirty="0"/>
              <a:t>italique</a:t>
            </a:r>
            <a:r>
              <a:rPr lang="fr-FR" dirty="0"/>
              <a:t>… Méthodes statiques.</a:t>
            </a:r>
            <a:endParaRPr lang="fr-FR" i="1" dirty="0"/>
          </a:p>
        </p:txBody>
      </p:sp>
      <p:sp>
        <p:nvSpPr>
          <p:cNvPr id="3" name="Espace réservé du numéro de diapositive 2">
            <a:extLst>
              <a:ext uri="{FF2B5EF4-FFF2-40B4-BE49-F238E27FC236}">
                <a16:creationId xmlns:a16="http://schemas.microsoft.com/office/drawing/2014/main" id="{5ADE5A24-7288-A953-FDF0-FBE71284FD99}"/>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11</a:t>
            </a:fld>
            <a:endParaRPr lang="fr-FR"/>
          </a:p>
        </p:txBody>
      </p:sp>
      <p:sp>
        <p:nvSpPr>
          <p:cNvPr id="4" name="Repere de section">
            <a:extLst>
              <a:ext uri="{FF2B5EF4-FFF2-40B4-BE49-F238E27FC236}">
                <a16:creationId xmlns:a16="http://schemas.microsoft.com/office/drawing/2014/main" id="{D0ECBE2C-9FCD-1D28-ECE8-5E3774FEE00E}"/>
              </a:ext>
            </a:extLst>
          </p:cNvPr>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TMP · </a:t>
            </a:r>
            <a:r>
              <a:rPr sz="1100" b="1" dirty="0">
                <a:solidFill>
                  <a:schemeClr val="accent4"/>
                </a:solidFill>
              </a:rPr>
              <a:t>1. Les classes de </a:t>
            </a:r>
            <a:r>
              <a:rPr sz="1100" b="1" dirty="0" err="1">
                <a:solidFill>
                  <a:schemeClr val="accent4"/>
                </a:solidFill>
              </a:rPr>
              <a:t>java.time</a:t>
            </a:r>
            <a:endParaRPr sz="1100" b="1" dirty="0">
              <a:solidFill>
                <a:schemeClr val="accent4"/>
              </a:solidFill>
            </a:endParaRPr>
          </a:p>
        </p:txBody>
      </p:sp>
    </p:spTree>
    <p:extLst>
      <p:ext uri="{BB962C8B-B14F-4D97-AF65-F5344CB8AC3E}">
        <p14:creationId xmlns:p14="http://schemas.microsoft.com/office/powerpoint/2010/main" val="83537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ppt_y</p:attrName>
                                        </p:attrNameLst>
                                      </p:cBhvr>
                                      <p:tavLst>
                                        <p:tav tm="0">
                                          <p:val>
                                            <p:strVal val="#ppt_y+#ppt_h*1.125000"/>
                                          </p:val>
                                        </p:tav>
                                        <p:tav tm="100000">
                                          <p:val>
                                            <p:strVal val="#ppt_y"/>
                                          </p:val>
                                        </p:tav>
                                      </p:tavLst>
                                    </p:anim>
                                    <p:animEffect transition="in" filter="wipe(up)">
                                      <p:cBhvr>
                                        <p:cTn id="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L'heure seule</a:t>
            </a:r>
          </a:p>
        </p:txBody>
      </p:sp>
      <p:sp>
        <p:nvSpPr>
          <p:cNvPr id="3" name="Content Placeholder 2"/>
          <p:cNvSpPr>
            <a:spLocks noGrp="1"/>
          </p:cNvSpPr>
          <p:nvPr>
            <p:ph idx="1"/>
          </p:nvPr>
        </p:nvSpPr>
        <p:spPr>
          <a:xfrm>
            <a:off x="640080" y="1371600"/>
            <a:ext cx="10881360" cy="1244600"/>
          </a:xfrm>
        </p:spPr>
        <p:txBody>
          <a:bodyPr/>
          <a:lstStyle/>
          <a:p>
            <a:pPr>
              <a:spcAft>
                <a:spcPts val="1000"/>
              </a:spcAft>
            </a:pPr>
            <a:r>
              <a:rPr sz="2800"/>
              <a:t>Mêmes conventions que </a:t>
            </a:r>
            <a:r>
              <a:rPr sz="2400">
                <a:solidFill>
                  <a:schemeClr val="accent4"/>
                </a:solidFill>
                <a:latin typeface="Consolas"/>
              </a:rPr>
              <a:t>LocalDate</a:t>
            </a:r>
          </a:p>
          <a:p>
            <a:pPr>
              <a:spcAft>
                <a:spcPts val="1000"/>
              </a:spcAft>
            </a:pPr>
            <a:r>
              <a:rPr sz="2800"/>
              <a:t>Des constantes : </a:t>
            </a:r>
            <a:r>
              <a:rPr sz="2400">
                <a:solidFill>
                  <a:schemeClr val="accent4"/>
                </a:solidFill>
                <a:latin typeface="Consolas"/>
              </a:rPr>
              <a:t>LocalTime.NOON</a:t>
            </a:r>
            <a:r>
              <a:rPr sz="2800"/>
              <a:t>, </a:t>
            </a:r>
            <a:r>
              <a:rPr sz="2400">
                <a:solidFill>
                  <a:schemeClr val="accent4"/>
                </a:solidFill>
                <a:latin typeface="Consolas"/>
              </a:rPr>
              <a:t>LocalTime.MIDNIGHT</a:t>
            </a:r>
          </a:p>
        </p:txBody>
      </p:sp>
      <p:sp>
        <p:nvSpPr>
          <p:cNvPr id="4" name="Code"/>
          <p:cNvSpPr txBox="1"/>
          <p:nvPr/>
        </p:nvSpPr>
        <p:spPr>
          <a:xfrm>
            <a:off x="2940050" y="2753360"/>
            <a:ext cx="63119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LocalTime debut = LocalTime.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18</a:t>
            </a:r>
            <a:r>
              <a:rPr sz="1800">
                <a:solidFill>
                  <a:srgbClr val="BCBEC4"/>
                </a:solidFill>
                <a:latin typeface="Consolas"/>
              </a:rPr>
              <a:t>,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LocalTime fin   = LocalTime.</a:t>
            </a:r>
            <a:r>
              <a:rPr sz="1800">
                <a:solidFill>
                  <a:srgbClr val="56A8F5"/>
                </a:solidFill>
                <a:latin typeface="Consolas"/>
              </a:rPr>
              <a:t>parse</a:t>
            </a:r>
            <a:r>
              <a:rPr sz="1800">
                <a:solidFill>
                  <a:srgbClr val="BCBEC4"/>
                </a:solidFill>
                <a:latin typeface="Consolas"/>
              </a:rPr>
              <a:t>(</a:t>
            </a:r>
            <a:r>
              <a:rPr sz="1800">
                <a:solidFill>
                  <a:srgbClr val="6AAB73"/>
                </a:solidFill>
                <a:latin typeface="Consolas"/>
              </a:rPr>
              <a:t>"21:35"</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heure       = debut.</a:t>
            </a:r>
            <a:r>
              <a:rPr sz="1800">
                <a:solidFill>
                  <a:srgbClr val="56A8F5"/>
                </a:solidFill>
                <a:latin typeface="Consolas"/>
              </a:rPr>
              <a:t>getHour</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TMP · </a:t>
            </a:r>
            <a:r>
              <a:rPr sz="1100" b="1" dirty="0">
                <a:solidFill>
                  <a:schemeClr val="accent4"/>
                </a:solidFill>
              </a:rPr>
              <a:t>1. Les classes de </a:t>
            </a:r>
            <a:r>
              <a:rPr sz="1100" b="1" dirty="0" err="1">
                <a:solidFill>
                  <a:schemeClr val="accent4"/>
                </a:solidFill>
              </a:rPr>
              <a:t>java.time</a:t>
            </a:r>
            <a:endParaRPr sz="1100" b="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C1007-49DB-41A4-E679-73B5D3658A18}"/>
              </a:ext>
            </a:extLst>
          </p:cNvPr>
          <p:cNvSpPr>
            <a:spLocks noGrp="1"/>
          </p:cNvSpPr>
          <p:nvPr>
            <p:ph type="title"/>
          </p:nvPr>
        </p:nvSpPr>
        <p:spPr/>
        <p:txBody>
          <a:bodyPr>
            <a:normAutofit/>
          </a:bodyPr>
          <a:lstStyle/>
          <a:p>
            <a:r>
              <a:rPr lang="fr-FR" dirty="0"/>
              <a:t>Quelques exemples avec </a:t>
            </a:r>
            <a:r>
              <a:rPr lang="fr-FR" sz="4400" b="0" dirty="0" err="1">
                <a:solidFill>
                  <a:schemeClr val="accent4"/>
                </a:solidFill>
                <a:latin typeface="Consolas" panose="020B0609020204030204" pitchFamily="49" charset="0"/>
                <a:ea typeface="+mn-ea"/>
                <a:cs typeface="Consolas" panose="020B0609020204030204" pitchFamily="49" charset="0"/>
              </a:rPr>
              <a:t>LocalTime</a:t>
            </a:r>
            <a:endParaRPr lang="fr-FR" dirty="0"/>
          </a:p>
        </p:txBody>
      </p:sp>
      <p:sp>
        <p:nvSpPr>
          <p:cNvPr id="13" name="Espace réservé du contenu 12">
            <a:extLst>
              <a:ext uri="{FF2B5EF4-FFF2-40B4-BE49-F238E27FC236}">
                <a16:creationId xmlns:a16="http://schemas.microsoft.com/office/drawing/2014/main" id="{B9EBB018-0655-6FDE-A43F-935F66F31985}"/>
              </a:ext>
            </a:extLst>
          </p:cNvPr>
          <p:cNvSpPr>
            <a:spLocks noGrp="1"/>
          </p:cNvSpPr>
          <p:nvPr>
            <p:ph idx="1"/>
          </p:nvPr>
        </p:nvSpPr>
        <p:spPr>
          <a:xfrm>
            <a:off x="838200" y="1454150"/>
            <a:ext cx="10515600" cy="4351338"/>
          </a:xfrm>
        </p:spPr>
        <p:txBody>
          <a:bodyPr/>
          <a:lstStyle/>
          <a:p>
            <a:pPr marL="0" indent="0">
              <a:buNone/>
            </a:pPr>
            <a:r>
              <a:rPr lang="fr-FR" sz="2400" dirty="0" err="1">
                <a:solidFill>
                  <a:schemeClr val="accent4"/>
                </a:solidFill>
                <a:latin typeface="Consolas" panose="020B0609020204030204" pitchFamily="49" charset="0"/>
                <a:cs typeface="Consolas" panose="020B0609020204030204" pitchFamily="49" charset="0"/>
              </a:rPr>
              <a:t>LocalTime</a:t>
            </a:r>
            <a:r>
              <a:rPr lang="fr-FR" sz="2800" dirty="0"/>
              <a:t> représente une heure, sans notion de date.</a:t>
            </a:r>
          </a:p>
          <a:p>
            <a:endParaRPr lang="fr-FR" dirty="0"/>
          </a:p>
        </p:txBody>
      </p:sp>
      <p:graphicFrame>
        <p:nvGraphicFramePr>
          <p:cNvPr id="14" name="Espace réservé du contenu 6">
            <a:extLst>
              <a:ext uri="{FF2B5EF4-FFF2-40B4-BE49-F238E27FC236}">
                <a16:creationId xmlns:a16="http://schemas.microsoft.com/office/drawing/2014/main" id="{8D5D47E3-3E83-A9B5-BBD7-6859CD047F5A}"/>
              </a:ext>
            </a:extLst>
          </p:cNvPr>
          <p:cNvGraphicFramePr>
            <a:graphicFrameLocks/>
          </p:cNvGraphicFramePr>
          <p:nvPr>
            <p:extLst>
              <p:ext uri="{D42A27DB-BD31-4B8C-83A1-F6EECF244321}">
                <p14:modId xmlns:p14="http://schemas.microsoft.com/office/powerpoint/2010/main" val="2424672434"/>
              </p:ext>
            </p:extLst>
          </p:nvPr>
        </p:nvGraphicFramePr>
        <p:xfrm>
          <a:off x="352425" y="2080842"/>
          <a:ext cx="11506200" cy="3749440"/>
        </p:xfrm>
        <a:graphic>
          <a:graphicData uri="http://schemas.openxmlformats.org/drawingml/2006/table">
            <a:tbl>
              <a:tblPr firstRow="1" bandRow="1">
                <a:tableStyleId>{793D81CF-94F2-401A-BA57-92F5A7B2D0C5}</a:tableStyleId>
              </a:tblPr>
              <a:tblGrid>
                <a:gridCol w="2598751">
                  <a:extLst>
                    <a:ext uri="{9D8B030D-6E8A-4147-A177-3AD203B41FA5}">
                      <a16:colId xmlns:a16="http://schemas.microsoft.com/office/drawing/2014/main" val="1647438990"/>
                    </a:ext>
                  </a:extLst>
                </a:gridCol>
                <a:gridCol w="8907449">
                  <a:extLst>
                    <a:ext uri="{9D8B030D-6E8A-4147-A177-3AD203B41FA5}">
                      <a16:colId xmlns:a16="http://schemas.microsoft.com/office/drawing/2014/main" val="4171034227"/>
                    </a:ext>
                  </a:extLst>
                </a:gridCol>
              </a:tblGrid>
              <a:tr h="418066">
                <a:tc>
                  <a:txBody>
                    <a:bodyPr/>
                    <a:lstStyle/>
                    <a:p>
                      <a:r>
                        <a:rPr lang="fr-FR" dirty="0"/>
                        <a:t>Objectif</a:t>
                      </a:r>
                    </a:p>
                  </a:txBody>
                  <a:tcPr>
                    <a:solidFill>
                      <a:schemeClr val="bg1"/>
                    </a:solidFill>
                  </a:tcPr>
                </a:tc>
                <a:tc>
                  <a:txBody>
                    <a:bodyPr/>
                    <a:lstStyle/>
                    <a:p>
                      <a:r>
                        <a:rPr lang="fr-FR" dirty="0"/>
                        <a:t>Code</a:t>
                      </a:r>
                    </a:p>
                  </a:txBody>
                  <a:tcPr>
                    <a:solidFill>
                      <a:schemeClr val="bg1"/>
                    </a:solidFill>
                  </a:tcPr>
                </a:tc>
                <a:extLst>
                  <a:ext uri="{0D108BD9-81ED-4DB2-BD59-A6C34878D82A}">
                    <a16:rowId xmlns:a16="http://schemas.microsoft.com/office/drawing/2014/main" val="1754080159"/>
                  </a:ext>
                </a:extLst>
              </a:tr>
              <a:tr h="383226">
                <a:tc>
                  <a:txBody>
                    <a:bodyPr/>
                    <a:lstStyle/>
                    <a:p>
                      <a:r>
                        <a:rPr lang="fr-FR" sz="1600" dirty="0"/>
                        <a:t>Récupérer l’heure courante</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dirty="0">
                          <a:solidFill>
                            <a:srgbClr val="BCBEC4"/>
                          </a:solidFill>
                          <a:effectLst/>
                          <a:latin typeface="Consolas" panose="020B0609020204030204" pitchFamily="49" charset="0"/>
                          <a:cs typeface="Consolas" panose="020B0609020204030204" pitchFamily="49" charset="0"/>
                        </a:rPr>
                        <a:t> maintenant = </a:t>
                      </a:r>
                      <a:r>
                        <a:rPr lang="fr-BE" sz="1600" dirty="0" err="1">
                          <a:solidFill>
                            <a:srgbClr val="BCBEC4"/>
                          </a:solidFill>
                          <a:effectLst/>
                          <a:latin typeface="Consolas" panose="020B0609020204030204" pitchFamily="49" charset="0"/>
                          <a:cs typeface="Consolas" panose="020B0609020204030204" pitchFamily="49" charset="0"/>
                        </a:rPr>
                        <a:t>LocalTime.now</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50962036"/>
                  </a:ext>
                </a:extLst>
              </a:tr>
              <a:tr h="661934">
                <a:tc>
                  <a:txBody>
                    <a:bodyPr/>
                    <a:lstStyle/>
                    <a:p>
                      <a:r>
                        <a:rPr lang="fr-FR" sz="1600" dirty="0"/>
                        <a:t>Récupérer une heure donnée</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"18:47"</a:t>
                      </a:r>
                      <a:r>
                        <a:rPr lang="fr-BE" sz="1600" dirty="0">
                          <a:solidFill>
                            <a:srgbClr val="BCBEC4"/>
                          </a:solidFill>
                          <a:effectLst/>
                          <a:latin typeface="Consolas" panose="020B0609020204030204" pitchFamily="49" charset="0"/>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i="1" dirty="0" err="1">
                          <a:solidFill>
                            <a:srgbClr val="BCBEC4"/>
                          </a:solidFill>
                          <a:effectLst/>
                          <a:latin typeface="Consolas" panose="020B0609020204030204" pitchFamily="49" charset="0"/>
                          <a:cs typeface="Consolas" panose="020B0609020204030204" pitchFamily="49" charset="0"/>
                        </a:rPr>
                        <a:t>of</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18</a:t>
                      </a: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2AACB8"/>
                          </a:solidFill>
                          <a:effectLst/>
                          <a:latin typeface="Consolas" panose="020B0609020204030204" pitchFamily="49" charset="0"/>
                          <a:cs typeface="Consolas" panose="020B0609020204030204" pitchFamily="49" charset="0"/>
                        </a:rPr>
                        <a:t>47</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62041138"/>
                  </a:ext>
                </a:extLst>
              </a:tr>
              <a:tr h="383226">
                <a:tc>
                  <a:txBody>
                    <a:bodyPr/>
                    <a:lstStyle/>
                    <a:p>
                      <a:r>
                        <a:rPr lang="fr-FR" sz="1600" dirty="0"/>
                        <a:t>Une heure plus tôt</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uneHeurePlusTot</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maintenant.minus</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1</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ChronoUnit.</a:t>
                      </a:r>
                      <a:r>
                        <a:rPr lang="fr-BE" sz="1600" i="1" dirty="0" err="1">
                          <a:solidFill>
                            <a:srgbClr val="C77DBB"/>
                          </a:solidFill>
                          <a:effectLst/>
                          <a:latin typeface="Consolas" panose="020B0609020204030204" pitchFamily="49" charset="0"/>
                          <a:cs typeface="Consolas" panose="020B0609020204030204" pitchFamily="49" charset="0"/>
                        </a:rPr>
                        <a:t>HOURS</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2186264386"/>
                  </a:ext>
                </a:extLst>
              </a:tr>
              <a:tr h="661934">
                <a:tc>
                  <a:txBody>
                    <a:bodyPr/>
                    <a:lstStyle/>
                    <a:p>
                      <a:r>
                        <a:rPr lang="fr-FR" sz="1600" dirty="0"/>
                        <a:t>Récupérer l’heure (sans les minutes)</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heure = </a:t>
                      </a:r>
                      <a:r>
                        <a:rPr lang="fr-BE" sz="1600" dirty="0" err="1">
                          <a:solidFill>
                            <a:srgbClr val="BCBEC4"/>
                          </a:solidFill>
                          <a:effectLst/>
                          <a:latin typeface="Consolas" panose="020B0609020204030204" pitchFamily="49" charset="0"/>
                          <a:cs typeface="Consolas" panose="020B0609020204030204" pitchFamily="49" charset="0"/>
                        </a:rPr>
                        <a:t>maintenant.getHour</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104184551"/>
                  </a:ext>
                </a:extLst>
              </a:tr>
              <a:tr h="383226">
                <a:tc>
                  <a:txBody>
                    <a:bodyPr/>
                    <a:lstStyle/>
                    <a:p>
                      <a:r>
                        <a:rPr lang="fr-FR" sz="1600" dirty="0"/>
                        <a:t>Savoir si une heure est avant une autre</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boolean</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estAvant</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uneHeurePlusTot.isBefore</a:t>
                      </a:r>
                      <a:r>
                        <a:rPr lang="fr-BE" sz="1600" dirty="0">
                          <a:solidFill>
                            <a:srgbClr val="BCBEC4"/>
                          </a:solidFill>
                          <a:effectLst/>
                          <a:latin typeface="Consolas" panose="020B0609020204030204" pitchFamily="49" charset="0"/>
                          <a:cs typeface="Consolas" panose="020B0609020204030204" pitchFamily="49" charset="0"/>
                        </a:rPr>
                        <a:t>(maintenant);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3790716067"/>
                  </a:ext>
                </a:extLst>
              </a:tr>
              <a:tr h="661934">
                <a:tc>
                  <a:txBody>
                    <a:bodyPr/>
                    <a:lstStyle/>
                    <a:p>
                      <a:r>
                        <a:rPr lang="fr-FR" sz="1600" dirty="0"/>
                        <a:t>Quelques constantes</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a:rPr>
                        <a:t>LocalTime.</a:t>
                      </a:r>
                      <a:r>
                        <a:rPr lang="fr-BE" sz="1600" i="1" dirty="0" err="1">
                          <a:solidFill>
                            <a:srgbClr val="C77DBB"/>
                          </a:solidFill>
                          <a:effectLst/>
                          <a:latin typeface="Consolas"/>
                        </a:rPr>
                        <a:t>MAX</a:t>
                      </a:r>
                      <a:r>
                        <a:rPr lang="fr-BE" sz="1600" dirty="0">
                          <a:solidFill>
                            <a:srgbClr val="BCBEC4"/>
                          </a:solidFill>
                          <a:effectLst/>
                          <a:latin typeface="Consolas"/>
                        </a:rPr>
                        <a:t>, </a:t>
                      </a:r>
                      <a:r>
                        <a:rPr lang="fr-BE" sz="1600" dirty="0" err="1">
                          <a:solidFill>
                            <a:srgbClr val="BCBEC4"/>
                          </a:solidFill>
                          <a:effectLst/>
                          <a:latin typeface="Consolas"/>
                        </a:rPr>
                        <a:t>LocalTime.</a:t>
                      </a:r>
                      <a:r>
                        <a:rPr lang="fr-BE" sz="1600" i="1" dirty="0" err="1">
                          <a:solidFill>
                            <a:srgbClr val="C77DBB"/>
                          </a:solidFill>
                          <a:effectLst/>
                          <a:latin typeface="Consolas"/>
                        </a:rPr>
                        <a:t>MIN</a:t>
                      </a:r>
                      <a:r>
                        <a:rPr lang="fr-BE" sz="1600" dirty="0">
                          <a:solidFill>
                            <a:srgbClr val="BCBEC4"/>
                          </a:solidFill>
                          <a:effectLst/>
                          <a:latin typeface="Consolas"/>
                        </a:rPr>
                        <a:t>, </a:t>
                      </a:r>
                      <a:r>
                        <a:rPr lang="fr-BE" sz="1600" dirty="0" err="1">
                          <a:solidFill>
                            <a:srgbClr val="BCBEC4"/>
                          </a:solidFill>
                          <a:effectLst/>
                          <a:latin typeface="Consolas"/>
                        </a:rPr>
                        <a:t>LocalTime.</a:t>
                      </a:r>
                      <a:r>
                        <a:rPr lang="fr-BE" sz="1600" i="1" dirty="0" err="1">
                          <a:solidFill>
                            <a:srgbClr val="C77DBB"/>
                          </a:solidFill>
                          <a:effectLst/>
                          <a:latin typeface="Consolas"/>
                        </a:rPr>
                        <a:t>MIDNIGHT</a:t>
                      </a:r>
                      <a:r>
                        <a:rPr lang="fr-BE" sz="1600" i="1" dirty="0">
                          <a:solidFill>
                            <a:srgbClr val="BCBEC4"/>
                          </a:solidFill>
                          <a:effectLst/>
                          <a:latin typeface="Consolas"/>
                        </a:rPr>
                        <a:t>, </a:t>
                      </a:r>
                      <a:r>
                        <a:rPr lang="fr-BE" sz="1600" dirty="0" err="1">
                          <a:solidFill>
                            <a:srgbClr val="BCBEC4"/>
                          </a:solidFill>
                          <a:effectLst/>
                          <a:latin typeface="Consolas"/>
                        </a:rPr>
                        <a:t>LocalTime.</a:t>
                      </a:r>
                      <a:r>
                        <a:rPr lang="fr-BE" sz="1600" i="1" dirty="0" err="1">
                          <a:solidFill>
                            <a:srgbClr val="C77DBB"/>
                          </a:solidFill>
                          <a:effectLst/>
                          <a:latin typeface="Consolas"/>
                        </a:rPr>
                        <a:t>NOON</a:t>
                      </a:r>
                      <a:endParaRPr lang="fr-BE" sz="1600" dirty="0">
                        <a:solidFill>
                          <a:srgbClr val="BCBEC4"/>
                        </a:solidFill>
                        <a:effectLst/>
                        <a:latin typeface="Consolas"/>
                      </a:endParaRPr>
                    </a:p>
                    <a:p>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218914042"/>
                  </a:ext>
                </a:extLst>
              </a:tr>
            </a:tbl>
          </a:graphicData>
        </a:graphic>
      </p:graphicFrame>
      <p:sp>
        <p:nvSpPr>
          <p:cNvPr id="3" name="Espace réservé du numéro de diapositive 2">
            <a:extLst>
              <a:ext uri="{FF2B5EF4-FFF2-40B4-BE49-F238E27FC236}">
                <a16:creationId xmlns:a16="http://schemas.microsoft.com/office/drawing/2014/main" id="{7B663437-ABE0-5D09-BD75-36560FE890F3}"/>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13</a:t>
            </a:fld>
            <a:endParaRPr lang="fr-FR"/>
          </a:p>
        </p:txBody>
      </p:sp>
      <p:sp>
        <p:nvSpPr>
          <p:cNvPr id="4" name="Repere de section">
            <a:extLst>
              <a:ext uri="{FF2B5EF4-FFF2-40B4-BE49-F238E27FC236}">
                <a16:creationId xmlns:a16="http://schemas.microsoft.com/office/drawing/2014/main" id="{5021D7D6-2496-E859-3208-945F2E4517F6}"/>
              </a:ext>
            </a:extLst>
          </p:cNvPr>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TMP · </a:t>
            </a:r>
            <a:r>
              <a:rPr sz="1100" b="1" dirty="0">
                <a:solidFill>
                  <a:schemeClr val="accent4"/>
                </a:solidFill>
              </a:rPr>
              <a:t>1. Les classes de </a:t>
            </a:r>
            <a:r>
              <a:rPr sz="1100" b="1" dirty="0" err="1">
                <a:solidFill>
                  <a:schemeClr val="accent4"/>
                </a:solidFill>
              </a:rPr>
              <a:t>java.time</a:t>
            </a:r>
            <a:endParaRPr sz="1100" b="1" dirty="0">
              <a:solidFill>
                <a:schemeClr val="accent4"/>
              </a:solidFill>
            </a:endParaRPr>
          </a:p>
        </p:txBody>
      </p:sp>
    </p:spTree>
    <p:extLst>
      <p:ext uri="{BB962C8B-B14F-4D97-AF65-F5344CB8AC3E}">
        <p14:creationId xmlns:p14="http://schemas.microsoft.com/office/powerpoint/2010/main" val="281636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deux à la fois</a:t>
            </a:r>
          </a:p>
        </p:txBody>
      </p:sp>
      <p:sp>
        <p:nvSpPr>
          <p:cNvPr id="3" name="Content Placeholder 2"/>
          <p:cNvSpPr>
            <a:spLocks noGrp="1"/>
          </p:cNvSpPr>
          <p:nvPr>
            <p:ph idx="1"/>
          </p:nvPr>
        </p:nvSpPr>
        <p:spPr>
          <a:xfrm>
            <a:off x="640080" y="1371600"/>
            <a:ext cx="10881360" cy="1117600"/>
          </a:xfrm>
        </p:spPr>
        <p:txBody>
          <a:bodyPr/>
          <a:lstStyle/>
          <a:p>
            <a:pPr>
              <a:spcAft>
                <a:spcPts val="1000"/>
              </a:spcAft>
            </a:pPr>
            <a:r>
              <a:rPr sz="2800"/>
              <a:t>La classe </a:t>
            </a:r>
            <a:r>
              <a:rPr sz="2400">
                <a:solidFill>
                  <a:schemeClr val="accent4"/>
                </a:solidFill>
                <a:latin typeface="Consolas"/>
              </a:rPr>
              <a:t>LocalDateTime</a:t>
            </a:r>
            <a:r>
              <a:rPr sz="2800"/>
              <a:t> sait retourner chacune de ses moitiés</a:t>
            </a:r>
          </a:p>
        </p:txBody>
      </p:sp>
      <p:sp>
        <p:nvSpPr>
          <p:cNvPr id="4" name="Code"/>
          <p:cNvSpPr txBox="1"/>
          <p:nvPr/>
        </p:nvSpPr>
        <p:spPr>
          <a:xfrm>
            <a:off x="1962150" y="2626360"/>
            <a:ext cx="8267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LocalDateTime rdv = LocalDateTime.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2027</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19</a:t>
            </a:r>
            <a:r>
              <a:rPr sz="1800">
                <a:solidFill>
                  <a:srgbClr val="BCBEC4"/>
                </a:solidFill>
                <a:latin typeface="Consolas"/>
              </a:rPr>
              <a:t>, </a:t>
            </a:r>
            <a:r>
              <a:rPr sz="1800">
                <a:solidFill>
                  <a:srgbClr val="2AACB8"/>
                </a:solidFill>
                <a:latin typeface="Consolas"/>
              </a:rPr>
              <a:t>18</a:t>
            </a:r>
            <a:r>
              <a:rPr sz="1800">
                <a:solidFill>
                  <a:srgbClr val="BCBEC4"/>
                </a:solidFill>
                <a:latin typeface="Consolas"/>
              </a:rPr>
              <a:t>,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LocalDateTime now = LocalDateTime.</a:t>
            </a:r>
            <a:r>
              <a:rPr sz="1800">
                <a:solidFill>
                  <a:srgbClr val="56A8F5"/>
                </a:solidFill>
                <a:latin typeface="Consolas"/>
              </a:rPr>
              <a:t>now</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rdv.</a:t>
            </a:r>
            <a:r>
              <a:rPr sz="1800">
                <a:solidFill>
                  <a:srgbClr val="56A8F5"/>
                </a:solidFill>
                <a:latin typeface="Consolas"/>
              </a:rPr>
              <a:t>toLocalDate</a:t>
            </a:r>
            <a:r>
              <a:rPr sz="1800">
                <a:solidFill>
                  <a:srgbClr val="BCBEC4"/>
                </a:solidFill>
                <a:latin typeface="Consolas"/>
              </a:rPr>
              <a:t>();   </a:t>
            </a:r>
            <a:r>
              <a:rPr sz="1800">
                <a:solidFill>
                  <a:srgbClr val="7A7E85"/>
                </a:solidFill>
                <a:latin typeface="Consolas"/>
              </a:rPr>
              <a:t>// 2027-01-19</a:t>
            </a:r>
          </a:p>
          <a:p>
            <a:pPr>
              <a:lnSpc>
                <a:spcPct val="100000"/>
              </a:lnSpc>
              <a:spcBef>
                <a:spcPts val="0"/>
              </a:spcBef>
              <a:spcAft>
                <a:spcPts val="0"/>
              </a:spcAft>
            </a:pPr>
            <a:r>
              <a:rPr sz="1800">
                <a:solidFill>
                  <a:srgbClr val="BCBEC4"/>
                </a:solidFill>
                <a:latin typeface="Consolas"/>
              </a:rPr>
              <a:t>rdv.</a:t>
            </a:r>
            <a:r>
              <a:rPr sz="1800">
                <a:solidFill>
                  <a:srgbClr val="56A8F5"/>
                </a:solidFill>
                <a:latin typeface="Consolas"/>
              </a:rPr>
              <a:t>toLocalTime</a:t>
            </a:r>
            <a:r>
              <a:rPr sz="1800">
                <a:solidFill>
                  <a:srgbClr val="BCBEC4"/>
                </a:solidFill>
                <a:latin typeface="Consolas"/>
              </a:rPr>
              <a:t>();   </a:t>
            </a:r>
            <a:r>
              <a:rPr sz="1800">
                <a:solidFill>
                  <a:srgbClr val="7A7E85"/>
                </a:solidFill>
                <a:latin typeface="Consolas"/>
              </a:rPr>
              <a:t>// 18:00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Explorer une classe du JDK sans quitter l'éditeur</a:t>
            </a:r>
          </a:p>
          <a:p>
            <a:pPr>
              <a:spcBef>
                <a:spcPts val="1200"/>
              </a:spcBef>
            </a:pPr>
            <a:r>
              <a:rPr sz="1400">
                <a:solidFill>
                  <a:srgbClr val="BCBEC4"/>
                </a:solidFill>
              </a:rPr>
              <a:t>Déroulé : Demo_TMP</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2.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108478"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Mesurer un écart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ChronoUnit</a:t>
            </a:r>
            <a:r>
              <a:rPr sz="4000"/>
              <a:t>, l'unité de mesure</a:t>
            </a:r>
          </a:p>
        </p:txBody>
      </p:sp>
      <p:sp>
        <p:nvSpPr>
          <p:cNvPr id="3" name="Content Placeholder 2"/>
          <p:cNvSpPr>
            <a:spLocks noGrp="1"/>
          </p:cNvSpPr>
          <p:nvPr>
            <p:ph idx="1"/>
          </p:nvPr>
        </p:nvSpPr>
        <p:spPr>
          <a:xfrm>
            <a:off x="640080" y="1371600"/>
            <a:ext cx="10881360" cy="1671319"/>
          </a:xfrm>
        </p:spPr>
        <p:txBody>
          <a:bodyPr/>
          <a:lstStyle/>
          <a:p>
            <a:pPr>
              <a:spcAft>
                <a:spcPts val="1000"/>
              </a:spcAft>
            </a:pPr>
            <a:r>
              <a:rPr sz="2800"/>
              <a:t>L'unité porte la méthode, pas l'inverse</a:t>
            </a:r>
          </a:p>
          <a:p>
            <a:pPr>
              <a:spcAft>
                <a:spcPts val="1000"/>
              </a:spcAft>
            </a:pPr>
            <a:r>
              <a:rPr sz="2800"/>
              <a:t>On écrit </a:t>
            </a:r>
            <a:r>
              <a:rPr sz="2400">
                <a:solidFill>
                  <a:schemeClr val="accent4"/>
                </a:solidFill>
                <a:latin typeface="Consolas"/>
              </a:rPr>
              <a:t>ChronoUnit.DAYS.between</a:t>
            </a:r>
            <a:r>
              <a:rPr sz="2800"/>
              <a:t>, et pas </a:t>
            </a:r>
            <a:r>
              <a:rPr sz="2400">
                <a:solidFill>
                  <a:schemeClr val="accent4"/>
                </a:solidFill>
                <a:latin typeface="Consolas"/>
              </a:rPr>
              <a:t>ChronoUnit.between.DAYS</a:t>
            </a:r>
            <a:r>
              <a:rPr sz="2800"/>
              <a:t>…</a:t>
            </a:r>
          </a:p>
        </p:txBody>
      </p:sp>
      <p:sp>
        <p:nvSpPr>
          <p:cNvPr id="4" name="Code"/>
          <p:cNvSpPr txBox="1"/>
          <p:nvPr/>
        </p:nvSpPr>
        <p:spPr>
          <a:xfrm>
            <a:off x="1612900" y="3180079"/>
            <a:ext cx="89662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java.time.temporal.ChronoUnit;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long</a:t>
            </a:r>
            <a:r>
              <a:rPr sz="1800">
                <a:solidFill>
                  <a:srgbClr val="BCBEC4"/>
                </a:solidFill>
                <a:latin typeface="Consolas"/>
              </a:rPr>
              <a:t> jours = ChronoUnit.DAYS.</a:t>
            </a:r>
            <a:r>
              <a:rPr sz="1800">
                <a:solidFill>
                  <a:srgbClr val="56A8F5"/>
                </a:solidFill>
                <a:latin typeface="Consolas"/>
              </a:rPr>
              <a:t>between</a:t>
            </a:r>
            <a:r>
              <a:rPr sz="1800">
                <a:solidFill>
                  <a:srgbClr val="BCBEC4"/>
                </a:solidFill>
                <a:latin typeface="Consolas"/>
              </a:rPr>
              <a:t>(naissance, aujourdhui);</a:t>
            </a:r>
          </a:p>
          <a:p>
            <a:pPr>
              <a:lnSpc>
                <a:spcPct val="100000"/>
              </a:lnSpc>
              <a:spcBef>
                <a:spcPts val="0"/>
              </a:spcBef>
              <a:spcAft>
                <a:spcPts val="0"/>
              </a:spcAft>
            </a:pPr>
            <a:r>
              <a:rPr sz="1800">
                <a:solidFill>
                  <a:srgbClr val="CF8E6D"/>
                </a:solidFill>
                <a:latin typeface="Consolas"/>
              </a:rPr>
              <a:t>long</a:t>
            </a:r>
            <a:r>
              <a:rPr sz="1800">
                <a:solidFill>
                  <a:srgbClr val="BCBEC4"/>
                </a:solidFill>
                <a:latin typeface="Consolas"/>
              </a:rPr>
              <a:t> mois  = ChronoUnit.MONTHS.</a:t>
            </a:r>
            <a:r>
              <a:rPr sz="1800">
                <a:solidFill>
                  <a:srgbClr val="56A8F5"/>
                </a:solidFill>
                <a:latin typeface="Consolas"/>
              </a:rPr>
              <a:t>between</a:t>
            </a:r>
            <a:r>
              <a:rPr sz="1800">
                <a:solidFill>
                  <a:srgbClr val="BCBEC4"/>
                </a:solidFill>
                <a:latin typeface="Consolas"/>
              </a:rPr>
              <a:t>(naissance, aujourdhui);</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2. Mesurer un écart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pièges de comptage</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La méthode </a:t>
            </a:r>
            <a:r>
              <a:rPr sz="2400">
                <a:solidFill>
                  <a:schemeClr val="accent4"/>
                </a:solidFill>
                <a:latin typeface="Consolas"/>
              </a:rPr>
              <a:t>between</a:t>
            </a:r>
            <a:r>
              <a:rPr sz="2800"/>
              <a:t> compte des unités </a:t>
            </a:r>
            <a:r>
              <a:rPr sz="2800" b="1"/>
              <a:t>entières</a:t>
            </a:r>
          </a:p>
          <a:p>
            <a:pPr>
              <a:spcAft>
                <a:spcPts val="1000"/>
              </a:spcAft>
            </a:pPr>
            <a:r>
              <a:rPr sz="2800"/>
              <a:t>Par conséquent, du 1er au 30 janvier : </a:t>
            </a:r>
            <a:r>
              <a:rPr sz="2400">
                <a:solidFill>
                  <a:schemeClr val="accent4"/>
                </a:solidFill>
                <a:latin typeface="Consolas"/>
              </a:rPr>
              <a:t>MONTHS.between</a:t>
            </a:r>
            <a:r>
              <a:rPr sz="2800"/>
              <a:t> retourne </a:t>
            </a:r>
            <a:r>
              <a:rPr sz="2800" b="1"/>
              <a:t>0</a:t>
            </a:r>
          </a:p>
          <a:p>
            <a:pPr>
              <a:spcAft>
                <a:spcPts val="1000"/>
              </a:spcAft>
            </a:pPr>
            <a:r>
              <a:rPr sz="2800"/>
              <a:t>L'ordre des arguments décide du signe : on peut récupérer un nombre négatif…</a:t>
            </a:r>
          </a:p>
          <a:p>
            <a:pPr>
              <a:spcAft>
                <a:spcPts val="1000"/>
              </a:spcAft>
            </a:pPr>
            <a:r>
              <a:rPr sz="2800"/>
              <a:t>Le résultat est un </a:t>
            </a:r>
            <a:r>
              <a:rPr sz="2400">
                <a:solidFill>
                  <a:schemeClr val="accent4"/>
                </a:solidFill>
                <a:latin typeface="Consolas"/>
              </a:rPr>
              <a:t>long</a:t>
            </a:r>
            <a:r>
              <a:rPr sz="2800"/>
              <a:t>, pas un </a:t>
            </a:r>
            <a:r>
              <a:rPr sz="2400">
                <a:solidFill>
                  <a:schemeClr val="accent4"/>
                </a:solidFill>
                <a:latin typeface="Consolas"/>
              </a:rPr>
              <a:t>int</a:t>
            </a:r>
            <a:r>
              <a:rPr sz="2800"/>
              <a:t> (c'est logique si on compte en secondes…)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2. Mesurer un écart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Mesurer un écart entre deux dates</a:t>
            </a:r>
          </a:p>
          <a:p>
            <a:r>
              <a:rPr sz="1400">
                <a:solidFill>
                  <a:srgbClr val="BCBEC4"/>
                </a:solidFill>
              </a:rPr>
              <a:t>fascicule TMP</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2. Mesurer un écart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3.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391866"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Une date ne change pas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20</a:t>
            </a:fld>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Décaler une date</a:t>
            </a:r>
          </a:p>
        </p:txBody>
      </p:sp>
      <p:sp>
        <p:nvSpPr>
          <p:cNvPr id="3" name="Content Placeholder 2"/>
          <p:cNvSpPr>
            <a:spLocks noGrp="1"/>
          </p:cNvSpPr>
          <p:nvPr>
            <p:ph idx="1"/>
          </p:nvPr>
        </p:nvSpPr>
        <p:spPr>
          <a:xfrm>
            <a:off x="640080" y="1371600"/>
            <a:ext cx="10881360" cy="2778760"/>
          </a:xfrm>
        </p:spPr>
        <p:txBody>
          <a:bodyPr/>
          <a:lstStyle/>
          <a:p>
            <a:pPr>
              <a:spcAft>
                <a:spcPts val="1000"/>
              </a:spcAft>
            </a:pPr>
            <a:r>
              <a:rPr sz="2800"/>
              <a:t>Des noms limpides, un comportement à vérifier</a:t>
            </a:r>
          </a:p>
          <a:p>
            <a:pPr>
              <a:spcAft>
                <a:spcPts val="1000"/>
              </a:spcAft>
            </a:pPr>
            <a:r>
              <a:rPr sz="2800"/>
              <a:t>Qu'affiche la dernière ligne ?</a:t>
            </a:r>
          </a:p>
          <a:p>
            <a:pPr>
              <a:spcAft>
                <a:spcPts val="1000"/>
              </a:spcAft>
            </a:pPr>
            <a:r>
              <a:rPr sz="2800"/>
              <a:t>Essayez d'abord de deviner le résultat…</a:t>
            </a:r>
          </a:p>
          <a:p>
            <a:pPr>
              <a:spcAft>
                <a:spcPts val="1000"/>
              </a:spcAft>
            </a:pPr>
            <a:r>
              <a:rPr sz="2800"/>
              <a:t>Ensuite, exécutez le code pour vérifier votre intuition</a:t>
            </a:r>
          </a:p>
        </p:txBody>
      </p:sp>
      <p:sp>
        <p:nvSpPr>
          <p:cNvPr id="4" name="Code"/>
          <p:cNvSpPr txBox="1"/>
          <p:nvPr/>
        </p:nvSpPr>
        <p:spPr>
          <a:xfrm>
            <a:off x="2520950" y="4287520"/>
            <a:ext cx="7150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 rendezVous = LocalDate.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2027</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19</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rendezVous.</a:t>
            </a:r>
            <a:r>
              <a:rPr sz="1800">
                <a:solidFill>
                  <a:srgbClr val="56A8F5"/>
                </a:solidFill>
                <a:latin typeface="Consolas"/>
              </a:rPr>
              <a:t>plusWeeks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(rendezVous);   </a:t>
            </a:r>
            <a:r>
              <a:rPr sz="1800">
                <a:solidFill>
                  <a:srgbClr val="7A7E85"/>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3. Une date ne change pas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Les dates sont immuables</a:t>
            </a:r>
          </a:p>
          <a:p>
            <a:r>
              <a:rPr sz="1400">
                <a:solidFill>
                  <a:srgbClr val="BCBEC4"/>
                </a:solidFill>
              </a:rPr>
              <a:t>fascicule TMP</a:t>
            </a:r>
          </a:p>
        </p:txBody>
      </p:sp>
      <p:sp>
        <p:nvSpPr>
          <p:cNvPr id="6" name="TextBox 5"/>
          <p:cNvSpPr txBox="1"/>
          <p:nvPr/>
        </p:nvSpPr>
        <p:spPr>
          <a:xfrm>
            <a:off x="640080" y="2651760"/>
            <a:ext cx="9326880" cy="822960"/>
          </a:xfrm>
          <a:prstGeom prst="rect">
            <a:avLst/>
          </a:prstGeom>
          <a:noFill/>
        </p:spPr>
        <p:txBody>
          <a:bodyPr wrap="square">
            <a:spAutoFit/>
          </a:bodyPr>
          <a:lstStyle/>
          <a:p>
            <a:r>
              <a:rPr sz="1800"/>
              <a:t>Exécutez d'abord le </a:t>
            </a:r>
            <a:r>
              <a:rPr sz="1500">
                <a:solidFill>
                  <a:schemeClr val="accent4"/>
                </a:solidFill>
                <a:latin typeface="Consolas"/>
              </a:rPr>
              <a:t>Programme</a:t>
            </a:r>
            <a:r>
              <a:rPr sz="1800"/>
              <a:t> fourni, et lisez sa sortie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3. Une date ne change pas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Décaler une date »</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dirty="0"/>
              <a:t>La </a:t>
            </a:r>
            <a:r>
              <a:rPr sz="2800" dirty="0" err="1"/>
              <a:t>méthode</a:t>
            </a:r>
            <a:r>
              <a:rPr sz="2800" dirty="0"/>
              <a:t> </a:t>
            </a:r>
            <a:r>
              <a:rPr sz="2400" dirty="0" err="1">
                <a:solidFill>
                  <a:schemeClr val="accent4"/>
                </a:solidFill>
                <a:latin typeface="Consolas"/>
              </a:rPr>
              <a:t>plusWeeks</a:t>
            </a:r>
            <a:r>
              <a:rPr sz="2800" dirty="0"/>
              <a:t> ne </a:t>
            </a:r>
            <a:r>
              <a:rPr sz="2800" dirty="0" err="1"/>
              <a:t>modifie</a:t>
            </a:r>
            <a:r>
              <a:rPr sz="2800" dirty="0"/>
              <a:t> rien : </a:t>
            </a:r>
            <a:r>
              <a:rPr sz="2800" dirty="0" err="1"/>
              <a:t>elle</a:t>
            </a:r>
            <a:r>
              <a:rPr sz="2800" dirty="0"/>
              <a:t> </a:t>
            </a:r>
            <a:r>
              <a:rPr sz="2800" b="1" dirty="0" err="1"/>
              <a:t>retourne</a:t>
            </a:r>
            <a:r>
              <a:rPr sz="2800" dirty="0"/>
              <a:t> </a:t>
            </a:r>
            <a:r>
              <a:rPr sz="2800" dirty="0" err="1"/>
              <a:t>une</a:t>
            </a:r>
            <a:r>
              <a:rPr sz="2800" dirty="0"/>
              <a:t> nouvelle date</a:t>
            </a:r>
          </a:p>
          <a:p>
            <a:pPr>
              <a:spcAft>
                <a:spcPts val="1000"/>
              </a:spcAft>
            </a:pPr>
            <a:r>
              <a:rPr sz="2800" dirty="0"/>
              <a:t>Si </a:t>
            </a:r>
            <a:r>
              <a:rPr sz="2800" dirty="0" err="1"/>
              <a:t>cette</a:t>
            </a:r>
            <a:r>
              <a:rPr sz="2800" dirty="0"/>
              <a:t> nouvelle date </a:t>
            </a:r>
            <a:r>
              <a:rPr sz="2800" dirty="0" err="1"/>
              <a:t>n'est</a:t>
            </a:r>
            <a:r>
              <a:rPr sz="2800" dirty="0"/>
              <a:t> pas </a:t>
            </a:r>
            <a:r>
              <a:rPr sz="2800" dirty="0" err="1"/>
              <a:t>affectée</a:t>
            </a:r>
            <a:r>
              <a:rPr sz="2800" dirty="0"/>
              <a:t> à </a:t>
            </a:r>
            <a:r>
              <a:rPr sz="2800" dirty="0" err="1"/>
              <a:t>une</a:t>
            </a:r>
            <a:r>
              <a:rPr sz="2800" dirty="0"/>
              <a:t> variable </a:t>
            </a:r>
            <a:r>
              <a:rPr sz="2800" dirty="0" err="1"/>
              <a:t>ou</a:t>
            </a:r>
            <a:r>
              <a:rPr sz="2800" dirty="0"/>
              <a:t> </a:t>
            </a:r>
            <a:r>
              <a:rPr sz="2800" dirty="0" err="1"/>
              <a:t>utilisée</a:t>
            </a:r>
            <a:r>
              <a:rPr sz="2800" dirty="0"/>
              <a:t>, </a:t>
            </a:r>
            <a:r>
              <a:rPr sz="2800" dirty="0" err="1"/>
              <a:t>elle</a:t>
            </a:r>
            <a:r>
              <a:rPr sz="2800" dirty="0"/>
              <a:t> est perdue</a:t>
            </a:r>
          </a:p>
          <a:p>
            <a:pPr>
              <a:spcAft>
                <a:spcPts val="1000"/>
              </a:spcAft>
            </a:pPr>
            <a:r>
              <a:rPr sz="2800" dirty="0" err="1"/>
              <a:t>Même</a:t>
            </a:r>
            <a:r>
              <a:rPr sz="2800" dirty="0"/>
              <a:t> </a:t>
            </a:r>
            <a:r>
              <a:rPr sz="2800" dirty="0" err="1"/>
              <a:t>mécanique</a:t>
            </a:r>
            <a:r>
              <a:rPr sz="2800" dirty="0"/>
              <a:t> </a:t>
            </a:r>
            <a:r>
              <a:rPr sz="2800" dirty="0" err="1"/>
              <a:t>que</a:t>
            </a:r>
            <a:r>
              <a:rPr sz="2800" dirty="0"/>
              <a:t> </a:t>
            </a:r>
            <a:r>
              <a:rPr sz="2400" dirty="0" err="1">
                <a:solidFill>
                  <a:schemeClr val="accent4"/>
                </a:solidFill>
                <a:latin typeface="Consolas"/>
              </a:rPr>
              <a:t>String.toUpperCase</a:t>
            </a:r>
            <a:r>
              <a:rPr sz="2400" dirty="0">
                <a:solidFill>
                  <a:schemeClr val="accent4"/>
                </a:solidFill>
                <a:latin typeface="Consolas"/>
              </a:rPr>
              <a:t>()</a:t>
            </a:r>
          </a:p>
          <a:p>
            <a:pPr>
              <a:spcAft>
                <a:spcPts val="1000"/>
              </a:spcAft>
            </a:pPr>
            <a:r>
              <a:rPr sz="2800" dirty="0"/>
              <a:t>Ce </a:t>
            </a:r>
            <a:r>
              <a:rPr sz="2800" dirty="0" err="1"/>
              <a:t>n'est</a:t>
            </a:r>
            <a:r>
              <a:rPr sz="2800" dirty="0"/>
              <a:t> pas </a:t>
            </a:r>
            <a:r>
              <a:rPr sz="2800" dirty="0" err="1"/>
              <a:t>une</a:t>
            </a:r>
            <a:r>
              <a:rPr sz="2800" dirty="0"/>
              <a:t> </a:t>
            </a:r>
            <a:r>
              <a:rPr sz="2800" dirty="0" err="1"/>
              <a:t>gêne</a:t>
            </a:r>
            <a:r>
              <a:rPr sz="2800" dirty="0"/>
              <a:t>, </a:t>
            </a:r>
            <a:r>
              <a:rPr sz="2800" dirty="0" err="1"/>
              <a:t>c'est</a:t>
            </a:r>
            <a:r>
              <a:rPr sz="2800" dirty="0"/>
              <a:t> </a:t>
            </a:r>
            <a:r>
              <a:rPr sz="2800" dirty="0" err="1"/>
              <a:t>une</a:t>
            </a:r>
            <a:r>
              <a:rPr sz="2800" dirty="0"/>
              <a:t> </a:t>
            </a:r>
            <a:r>
              <a:rPr sz="2800" dirty="0" err="1"/>
              <a:t>garantie</a:t>
            </a:r>
            <a:r>
              <a:rPr sz="2800" dirty="0"/>
              <a:t> - </a:t>
            </a:r>
            <a:r>
              <a:rPr sz="2800" b="1" dirty="0"/>
              <a:t>CC-MET.6</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3. Une date ne change pas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4.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702511"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Un détour par l'affichage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24</a:t>
            </a:fld>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println</a:t>
            </a:r>
            <a:r>
              <a:rPr sz="4000"/>
              <a:t> et </a:t>
            </a:r>
            <a:r>
              <a:rPr sz="3400">
                <a:solidFill>
                  <a:schemeClr val="accent4"/>
                </a:solidFill>
                <a:latin typeface="Consolas"/>
              </a:rPr>
              <a:t>print</a:t>
            </a:r>
          </a:p>
        </p:txBody>
      </p:sp>
      <p:sp>
        <p:nvSpPr>
          <p:cNvPr id="3" name="Content Placeholder 2"/>
          <p:cNvSpPr>
            <a:spLocks noGrp="1"/>
          </p:cNvSpPr>
          <p:nvPr>
            <p:ph idx="1"/>
          </p:nvPr>
        </p:nvSpPr>
        <p:spPr>
          <a:xfrm>
            <a:off x="640080" y="1371600"/>
            <a:ext cx="10881360" cy="1117600"/>
          </a:xfrm>
        </p:spPr>
        <p:txBody>
          <a:bodyPr/>
          <a:lstStyle/>
          <a:p>
            <a:pPr>
              <a:spcAft>
                <a:spcPts val="1000"/>
              </a:spcAft>
            </a:pPr>
            <a:r>
              <a:rPr sz="2800"/>
              <a:t>La méthode </a:t>
            </a:r>
            <a:r>
              <a:rPr sz="2400">
                <a:solidFill>
                  <a:schemeClr val="accent4"/>
                </a:solidFill>
                <a:latin typeface="Consolas"/>
              </a:rPr>
              <a:t>print</a:t>
            </a:r>
            <a:r>
              <a:rPr sz="2800"/>
              <a:t> sert dès qu'on construit une ligne morceau par morceau</a:t>
            </a:r>
          </a:p>
        </p:txBody>
      </p:sp>
      <p:sp>
        <p:nvSpPr>
          <p:cNvPr id="4" name="Code"/>
          <p:cNvSpPr txBox="1"/>
          <p:nvPr/>
        </p:nvSpPr>
        <p:spPr>
          <a:xfrm>
            <a:off x="1263650" y="2626360"/>
            <a:ext cx="9664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"Bonjour"</a:t>
            </a:r>
            <a:r>
              <a:rPr sz="1800">
                <a:solidFill>
                  <a:srgbClr val="BCBEC4"/>
                </a:solidFill>
                <a:latin typeface="Consolas"/>
              </a:rPr>
              <a:t>);   </a:t>
            </a:r>
            <a:r>
              <a:rPr sz="1800">
                <a:solidFill>
                  <a:srgbClr val="7A7E85"/>
                </a:solidFill>
                <a:latin typeface="Consolas"/>
              </a:rPr>
              <a:t>// affiche et passe a la ligne</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a:t>
            </a:r>
            <a:r>
              <a:rPr sz="1800">
                <a:solidFill>
                  <a:srgbClr val="BCBEC4"/>
                </a:solidFill>
                <a:latin typeface="Consolas"/>
              </a:rPr>
              <a:t>(</a:t>
            </a:r>
            <a:r>
              <a:rPr sz="1800">
                <a:solidFill>
                  <a:srgbClr val="6AAB73"/>
                </a:solidFill>
                <a:latin typeface="Consolas"/>
              </a:rPr>
              <a:t>"Bonjour"</a:t>
            </a:r>
            <a:r>
              <a:rPr sz="1800">
                <a:solidFill>
                  <a:srgbClr val="BCBEC4"/>
                </a:solidFill>
                <a:latin typeface="Consolas"/>
              </a:rPr>
              <a:t>);     </a:t>
            </a:r>
            <a:r>
              <a:rPr sz="1800">
                <a:solidFill>
                  <a:srgbClr val="7A7E85"/>
                </a:solidFill>
                <a:latin typeface="Consolas"/>
              </a:rPr>
              <a:t>// affiche, sans passer a la ligne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a:t>
            </a:r>
            <a:r>
              <a:rPr sz="1800">
                <a:solidFill>
                  <a:srgbClr val="BCBEC4"/>
                </a:solidFill>
                <a:latin typeface="Consolas"/>
              </a:rPr>
              <a:t>(</a:t>
            </a:r>
            <a:r>
              <a:rPr sz="1800">
                <a:solidFill>
                  <a:srgbClr val="6AAB73"/>
                </a:solidFill>
                <a:latin typeface="Consolas"/>
              </a:rPr>
              <a:t>"A"</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a:t>
            </a:r>
            <a:r>
              <a:rPr sz="1800">
                <a:solidFill>
                  <a:srgbClr val="BCBEC4"/>
                </a:solidFill>
                <a:latin typeface="Consolas"/>
              </a:rPr>
              <a:t>(</a:t>
            </a:r>
            <a:r>
              <a:rPr sz="1800">
                <a:solidFill>
                  <a:srgbClr val="6AAB73"/>
                </a:solidFill>
                <a:latin typeface="Consolas"/>
              </a:rPr>
              <a:t>"B"</a:t>
            </a:r>
            <a:r>
              <a:rPr sz="1800">
                <a:solidFill>
                  <a:srgbClr val="BCBEC4"/>
                </a:solidFill>
                <a:latin typeface="Consolas"/>
              </a:rPr>
              <a:t>);           </a:t>
            </a:r>
            <a:r>
              <a:rPr sz="1800">
                <a:solidFill>
                  <a:srgbClr val="7A7E85"/>
                </a:solidFill>
                <a:latin typeface="Consolas"/>
              </a:rPr>
              <a:t>// =&gt; AB</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printf</a:t>
            </a:r>
            <a:r>
              <a:rPr sz="4000"/>
              <a:t> : un gabarit et des valeurs</a:t>
            </a:r>
          </a:p>
        </p:txBody>
      </p:sp>
      <p:sp>
        <p:nvSpPr>
          <p:cNvPr id="3" name="Content Placeholder 2"/>
          <p:cNvSpPr>
            <a:spLocks noGrp="1"/>
          </p:cNvSpPr>
          <p:nvPr>
            <p:ph idx="1"/>
          </p:nvPr>
        </p:nvSpPr>
        <p:spPr>
          <a:xfrm>
            <a:off x="640080" y="1371600"/>
            <a:ext cx="10881360" cy="1798320"/>
          </a:xfrm>
        </p:spPr>
        <p:txBody>
          <a:bodyPr/>
          <a:lstStyle/>
          <a:p>
            <a:pPr>
              <a:spcAft>
                <a:spcPts val="1000"/>
              </a:spcAft>
            </a:pPr>
            <a:r>
              <a:rPr sz="2800"/>
              <a:t>Le premier argument est un </a:t>
            </a:r>
            <a:r>
              <a:rPr sz="2800" b="1"/>
              <a:t>gabarit</a:t>
            </a:r>
          </a:p>
          <a:p>
            <a:pPr>
              <a:spcAft>
                <a:spcPts val="1000"/>
              </a:spcAft>
            </a:pPr>
            <a:r>
              <a:rPr sz="2800"/>
              <a:t>Chaque trou est rempli dans l'ordre</a:t>
            </a:r>
          </a:p>
          <a:p>
            <a:pPr>
              <a:spcAft>
                <a:spcPts val="1000"/>
              </a:spcAft>
            </a:pPr>
            <a:r>
              <a:rPr sz="2400">
                <a:solidFill>
                  <a:schemeClr val="accent4"/>
                </a:solidFill>
                <a:latin typeface="Consolas"/>
              </a:rPr>
              <a:t>%n</a:t>
            </a:r>
            <a:r>
              <a:rPr sz="2800"/>
              <a:t> : le retour à la ligne</a:t>
            </a:r>
          </a:p>
        </p:txBody>
      </p:sp>
      <p:sp>
        <p:nvSpPr>
          <p:cNvPr id="4" name="Code"/>
          <p:cNvSpPr txBox="1"/>
          <p:nvPr/>
        </p:nvSpPr>
        <p:spPr>
          <a:xfrm>
            <a:off x="2730500" y="3307080"/>
            <a:ext cx="6731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a:t>
            </a:r>
            <a:r>
              <a:rPr sz="1800">
                <a:solidFill>
                  <a:srgbClr val="6AAB73"/>
                </a:solidFill>
                <a:latin typeface="Consolas"/>
              </a:rPr>
              <a:t>"%s a %d ans%n"</a:t>
            </a:r>
            <a:r>
              <a:rPr sz="1800">
                <a:solidFill>
                  <a:srgbClr val="BCBEC4"/>
                </a:solidFill>
                <a:latin typeface="Consolas"/>
              </a:rPr>
              <a:t>, </a:t>
            </a:r>
            <a:r>
              <a:rPr sz="1800">
                <a:solidFill>
                  <a:srgbClr val="6AAB73"/>
                </a:solidFill>
                <a:latin typeface="Consolas"/>
              </a:rPr>
              <a:t>"Max"</a:t>
            </a:r>
            <a:r>
              <a:rPr sz="1800">
                <a:solidFill>
                  <a:srgbClr val="BCBEC4"/>
                </a:solidFill>
                <a:latin typeface="Consolas"/>
              </a:rPr>
              <a:t>, </a:t>
            </a:r>
            <a:r>
              <a:rPr sz="1800">
                <a:solidFill>
                  <a:srgbClr val="2AACB8"/>
                </a:solidFill>
                <a:latin typeface="Consolas"/>
              </a:rPr>
              <a:t>21</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Max a 21 ans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Les </a:t>
            </a:r>
            <a:r>
              <a:rPr sz="4000" dirty="0" err="1"/>
              <a:t>gabarits</a:t>
            </a:r>
            <a:r>
              <a:rPr sz="4000" dirty="0"/>
              <a:t> </a:t>
            </a:r>
            <a:r>
              <a:rPr sz="4000" dirty="0" err="1"/>
              <a:t>utiles</a:t>
            </a:r>
            <a:endParaRPr sz="4000" dirty="0"/>
          </a:p>
        </p:txBody>
      </p:sp>
      <p:sp>
        <p:nvSpPr>
          <p:cNvPr id="3" name="TextBox 2"/>
          <p:cNvSpPr txBox="1"/>
          <p:nvPr/>
        </p:nvSpPr>
        <p:spPr>
          <a:xfrm>
            <a:off x="777240" y="1371600"/>
            <a:ext cx="1818249" cy="585216"/>
          </a:xfrm>
          <a:prstGeom prst="rect">
            <a:avLst/>
          </a:prstGeom>
          <a:noFill/>
        </p:spPr>
        <p:txBody>
          <a:bodyPr wrap="square" anchor="ctr">
            <a:spAutoFit/>
          </a:bodyPr>
          <a:lstStyle/>
          <a:p>
            <a:r>
              <a:rPr sz="1800" b="1">
                <a:solidFill>
                  <a:schemeClr val="accent4"/>
                </a:solidFill>
              </a:rPr>
              <a:t>Gabarit</a:t>
            </a:r>
          </a:p>
        </p:txBody>
      </p:sp>
      <p:sp>
        <p:nvSpPr>
          <p:cNvPr id="4" name="TextBox 3"/>
          <p:cNvSpPr txBox="1"/>
          <p:nvPr/>
        </p:nvSpPr>
        <p:spPr>
          <a:xfrm>
            <a:off x="2869809" y="1371600"/>
            <a:ext cx="1818249" cy="585216"/>
          </a:xfrm>
          <a:prstGeom prst="rect">
            <a:avLst/>
          </a:prstGeom>
          <a:noFill/>
        </p:spPr>
        <p:txBody>
          <a:bodyPr wrap="square" anchor="ctr">
            <a:spAutoFit/>
          </a:bodyPr>
          <a:lstStyle/>
          <a:p>
            <a:r>
              <a:rPr sz="1800" b="1">
                <a:solidFill>
                  <a:schemeClr val="accent4"/>
                </a:solidFill>
              </a:rPr>
              <a:t>Résultat</a:t>
            </a:r>
          </a:p>
        </p:txBody>
      </p:sp>
      <p:sp>
        <p:nvSpPr>
          <p:cNvPr id="5" name="TextBox 4"/>
          <p:cNvSpPr txBox="1"/>
          <p:nvPr/>
        </p:nvSpPr>
        <p:spPr>
          <a:xfrm>
            <a:off x="4962378" y="1371600"/>
            <a:ext cx="6421901" cy="585216"/>
          </a:xfrm>
          <a:prstGeom prst="rect">
            <a:avLst/>
          </a:prstGeom>
          <a:noFill/>
        </p:spPr>
        <p:txBody>
          <a:bodyPr wrap="square" anchor="ctr">
            <a:spAutoFit/>
          </a:bodyPr>
          <a:lstStyle/>
          <a:p>
            <a:r>
              <a:rPr sz="1800" b="1">
                <a:solidFill>
                  <a:schemeClr val="accent4"/>
                </a:solidFill>
              </a:rPr>
              <a:t>Effet</a:t>
            </a:r>
          </a:p>
        </p:txBody>
      </p:sp>
      <p:grpSp>
        <p:nvGrpSpPr>
          <p:cNvPr id="32" name="Groupe 31">
            <a:extLst>
              <a:ext uri="{FF2B5EF4-FFF2-40B4-BE49-F238E27FC236}">
                <a16:creationId xmlns:a16="http://schemas.microsoft.com/office/drawing/2014/main" id="{DEEF982E-A78A-C5F8-8B07-D0BE5E9C2FC1}"/>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1818249" cy="585216"/>
            </a:xfrm>
            <a:prstGeom prst="rect">
              <a:avLst/>
            </a:prstGeom>
            <a:noFill/>
          </p:spPr>
          <p:txBody>
            <a:bodyPr wrap="square" anchor="ctr">
              <a:spAutoFit/>
            </a:bodyPr>
            <a:lstStyle/>
            <a:p>
              <a:r>
                <a:rPr sz="1700">
                  <a:solidFill>
                    <a:schemeClr val="accent4"/>
                  </a:solidFill>
                  <a:latin typeface="Consolas"/>
                </a:rPr>
                <a:t>%d</a:t>
              </a:r>
            </a:p>
          </p:txBody>
        </p:sp>
        <p:sp>
          <p:nvSpPr>
            <p:cNvPr id="8" name="TextBox 7"/>
            <p:cNvSpPr txBox="1"/>
            <p:nvPr/>
          </p:nvSpPr>
          <p:spPr>
            <a:xfrm>
              <a:off x="2869809" y="2029967"/>
              <a:ext cx="1818249" cy="585216"/>
            </a:xfrm>
            <a:prstGeom prst="rect">
              <a:avLst/>
            </a:prstGeom>
            <a:noFill/>
          </p:spPr>
          <p:txBody>
            <a:bodyPr wrap="square" anchor="ctr">
              <a:spAutoFit/>
            </a:bodyPr>
            <a:lstStyle/>
            <a:p>
              <a:r>
                <a:rPr sz="1700">
                  <a:solidFill>
                    <a:schemeClr val="accent4"/>
                  </a:solidFill>
                  <a:latin typeface="Consolas"/>
                </a:rPr>
                <a:t>1234567</a:t>
              </a:r>
            </a:p>
          </p:txBody>
        </p:sp>
        <p:sp>
          <p:nvSpPr>
            <p:cNvPr id="9" name="TextBox 8"/>
            <p:cNvSpPr txBox="1"/>
            <p:nvPr/>
          </p:nvSpPr>
          <p:spPr>
            <a:xfrm>
              <a:off x="4962378" y="2029967"/>
              <a:ext cx="6421901" cy="585216"/>
            </a:xfrm>
            <a:prstGeom prst="rect">
              <a:avLst/>
            </a:prstGeom>
            <a:noFill/>
          </p:spPr>
          <p:txBody>
            <a:bodyPr wrap="square" anchor="ctr">
              <a:spAutoFit/>
            </a:bodyPr>
            <a:lstStyle/>
            <a:p>
              <a:r>
                <a:rPr sz="2000">
                  <a:solidFill>
                    <a:srgbClr val="FFFFFF"/>
                  </a:solidFill>
                </a:rPr>
                <a:t>un entier</a:t>
              </a:r>
            </a:p>
          </p:txBody>
        </p:sp>
      </p:grpSp>
      <p:grpSp>
        <p:nvGrpSpPr>
          <p:cNvPr id="33" name="Groupe 32">
            <a:extLst>
              <a:ext uri="{FF2B5EF4-FFF2-40B4-BE49-F238E27FC236}">
                <a16:creationId xmlns:a16="http://schemas.microsoft.com/office/drawing/2014/main" id="{EF982BA4-33A3-2EA1-6CD4-96465AFA1DE0}"/>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1818249" cy="585216"/>
            </a:xfrm>
            <a:prstGeom prst="rect">
              <a:avLst/>
            </a:prstGeom>
            <a:noFill/>
          </p:spPr>
          <p:txBody>
            <a:bodyPr wrap="square" anchor="ctr">
              <a:spAutoFit/>
            </a:bodyPr>
            <a:lstStyle/>
            <a:p>
              <a:r>
                <a:rPr sz="1700">
                  <a:solidFill>
                    <a:schemeClr val="accent4"/>
                  </a:solidFill>
                  <a:latin typeface="Consolas"/>
                </a:rPr>
                <a:t>%,d</a:t>
              </a:r>
            </a:p>
          </p:txBody>
        </p:sp>
        <p:sp>
          <p:nvSpPr>
            <p:cNvPr id="12" name="TextBox 11"/>
            <p:cNvSpPr txBox="1"/>
            <p:nvPr/>
          </p:nvSpPr>
          <p:spPr>
            <a:xfrm>
              <a:off x="2869809" y="2688335"/>
              <a:ext cx="1818249" cy="585216"/>
            </a:xfrm>
            <a:prstGeom prst="rect">
              <a:avLst/>
            </a:prstGeom>
            <a:noFill/>
          </p:spPr>
          <p:txBody>
            <a:bodyPr wrap="square" anchor="ctr">
              <a:spAutoFit/>
            </a:bodyPr>
            <a:lstStyle/>
            <a:p>
              <a:r>
                <a:rPr sz="1700">
                  <a:solidFill>
                    <a:schemeClr val="accent4"/>
                  </a:solidFill>
                  <a:latin typeface="Consolas"/>
                </a:rPr>
                <a:t>1,234,567</a:t>
              </a:r>
            </a:p>
          </p:txBody>
        </p:sp>
        <p:sp>
          <p:nvSpPr>
            <p:cNvPr id="13" name="TextBox 12"/>
            <p:cNvSpPr txBox="1"/>
            <p:nvPr/>
          </p:nvSpPr>
          <p:spPr>
            <a:xfrm>
              <a:off x="4962378" y="2688335"/>
              <a:ext cx="6421901" cy="585216"/>
            </a:xfrm>
            <a:prstGeom prst="rect">
              <a:avLst/>
            </a:prstGeom>
            <a:noFill/>
          </p:spPr>
          <p:txBody>
            <a:bodyPr wrap="square" anchor="ctr">
              <a:spAutoFit/>
            </a:bodyPr>
            <a:lstStyle/>
            <a:p>
              <a:r>
                <a:rPr sz="2000">
                  <a:solidFill>
                    <a:srgbClr val="FFFFFF"/>
                  </a:solidFill>
                </a:rPr>
                <a:t>séparateur de milliers</a:t>
              </a:r>
            </a:p>
          </p:txBody>
        </p:sp>
      </p:grpSp>
      <p:grpSp>
        <p:nvGrpSpPr>
          <p:cNvPr id="34" name="Groupe 33">
            <a:extLst>
              <a:ext uri="{FF2B5EF4-FFF2-40B4-BE49-F238E27FC236}">
                <a16:creationId xmlns:a16="http://schemas.microsoft.com/office/drawing/2014/main" id="{26180B93-A5DC-98CD-8658-BCEB11BB789F}"/>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1818249" cy="585216"/>
            </a:xfrm>
            <a:prstGeom prst="rect">
              <a:avLst/>
            </a:prstGeom>
            <a:noFill/>
          </p:spPr>
          <p:txBody>
            <a:bodyPr wrap="square" anchor="ctr">
              <a:spAutoFit/>
            </a:bodyPr>
            <a:lstStyle/>
            <a:p>
              <a:r>
                <a:rPr sz="1700">
                  <a:solidFill>
                    <a:schemeClr val="accent4"/>
                  </a:solidFill>
                  <a:latin typeface="Consolas"/>
                </a:rPr>
                <a:t>%s</a:t>
              </a:r>
            </a:p>
          </p:txBody>
        </p:sp>
        <p:sp>
          <p:nvSpPr>
            <p:cNvPr id="16" name="TextBox 15"/>
            <p:cNvSpPr txBox="1"/>
            <p:nvPr/>
          </p:nvSpPr>
          <p:spPr>
            <a:xfrm>
              <a:off x="2869809" y="3346703"/>
              <a:ext cx="1818249" cy="585216"/>
            </a:xfrm>
            <a:prstGeom prst="rect">
              <a:avLst/>
            </a:prstGeom>
            <a:noFill/>
          </p:spPr>
          <p:txBody>
            <a:bodyPr wrap="square" anchor="ctr">
              <a:spAutoFit/>
            </a:bodyPr>
            <a:lstStyle/>
            <a:p>
              <a:r>
                <a:rPr sz="1700">
                  <a:solidFill>
                    <a:schemeClr val="accent4"/>
                  </a:solidFill>
                  <a:latin typeface="Consolas"/>
                </a:rPr>
                <a:t>Max</a:t>
              </a:r>
            </a:p>
          </p:txBody>
        </p:sp>
        <p:sp>
          <p:nvSpPr>
            <p:cNvPr id="17" name="TextBox 16"/>
            <p:cNvSpPr txBox="1"/>
            <p:nvPr/>
          </p:nvSpPr>
          <p:spPr>
            <a:xfrm>
              <a:off x="4962378" y="3346703"/>
              <a:ext cx="6421901" cy="585216"/>
            </a:xfrm>
            <a:prstGeom prst="rect">
              <a:avLst/>
            </a:prstGeom>
            <a:noFill/>
          </p:spPr>
          <p:txBody>
            <a:bodyPr wrap="square" anchor="ctr">
              <a:spAutoFit/>
            </a:bodyPr>
            <a:lstStyle/>
            <a:p>
              <a:r>
                <a:rPr sz="2000">
                  <a:solidFill>
                    <a:srgbClr val="FFFFFF"/>
                  </a:solidFill>
                </a:rPr>
                <a:t>du texte</a:t>
              </a:r>
            </a:p>
          </p:txBody>
        </p:sp>
      </p:grpSp>
      <p:grpSp>
        <p:nvGrpSpPr>
          <p:cNvPr id="35" name="Groupe 34">
            <a:extLst>
              <a:ext uri="{FF2B5EF4-FFF2-40B4-BE49-F238E27FC236}">
                <a16:creationId xmlns:a16="http://schemas.microsoft.com/office/drawing/2014/main" id="{F4076736-2FB9-ED73-CE5E-7CC0229932FE}"/>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1818249" cy="585216"/>
            </a:xfrm>
            <a:prstGeom prst="rect">
              <a:avLst/>
            </a:prstGeom>
            <a:noFill/>
          </p:spPr>
          <p:txBody>
            <a:bodyPr wrap="square" anchor="ctr">
              <a:spAutoFit/>
            </a:bodyPr>
            <a:lstStyle/>
            <a:p>
              <a:r>
                <a:rPr sz="1700">
                  <a:solidFill>
                    <a:schemeClr val="accent4"/>
                  </a:solidFill>
                  <a:latin typeface="Consolas"/>
                </a:rPr>
                <a:t>%f</a:t>
              </a:r>
            </a:p>
          </p:txBody>
        </p:sp>
        <p:sp>
          <p:nvSpPr>
            <p:cNvPr id="20" name="TextBox 19"/>
            <p:cNvSpPr txBox="1"/>
            <p:nvPr/>
          </p:nvSpPr>
          <p:spPr>
            <a:xfrm>
              <a:off x="2869809" y="4005071"/>
              <a:ext cx="1818249" cy="585216"/>
            </a:xfrm>
            <a:prstGeom prst="rect">
              <a:avLst/>
            </a:prstGeom>
            <a:noFill/>
          </p:spPr>
          <p:txBody>
            <a:bodyPr wrap="square" anchor="ctr">
              <a:spAutoFit/>
            </a:bodyPr>
            <a:lstStyle/>
            <a:p>
              <a:r>
                <a:rPr sz="1700">
                  <a:solidFill>
                    <a:schemeClr val="accent4"/>
                  </a:solidFill>
                  <a:latin typeface="Consolas"/>
                </a:rPr>
                <a:t>3.141590</a:t>
              </a:r>
            </a:p>
          </p:txBody>
        </p:sp>
        <p:sp>
          <p:nvSpPr>
            <p:cNvPr id="21" name="TextBox 20"/>
            <p:cNvSpPr txBox="1"/>
            <p:nvPr/>
          </p:nvSpPr>
          <p:spPr>
            <a:xfrm>
              <a:off x="4962378" y="4005071"/>
              <a:ext cx="6421901" cy="585216"/>
            </a:xfrm>
            <a:prstGeom prst="rect">
              <a:avLst/>
            </a:prstGeom>
            <a:noFill/>
          </p:spPr>
          <p:txBody>
            <a:bodyPr wrap="square" anchor="ctr">
              <a:spAutoFit/>
            </a:bodyPr>
            <a:lstStyle/>
            <a:p>
              <a:r>
                <a:rPr sz="2000">
                  <a:solidFill>
                    <a:srgbClr val="FFFFFF"/>
                  </a:solidFill>
                </a:rPr>
                <a:t>six décimales par défaut</a:t>
              </a:r>
            </a:p>
          </p:txBody>
        </p:sp>
      </p:grpSp>
      <p:grpSp>
        <p:nvGrpSpPr>
          <p:cNvPr id="36" name="Groupe 35">
            <a:extLst>
              <a:ext uri="{FF2B5EF4-FFF2-40B4-BE49-F238E27FC236}">
                <a16:creationId xmlns:a16="http://schemas.microsoft.com/office/drawing/2014/main" id="{438AD7E4-B297-59C7-E8C6-81B37661EF22}"/>
              </a:ext>
            </a:extLst>
          </p:cNvPr>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663439"/>
              <a:ext cx="1818249" cy="585216"/>
            </a:xfrm>
            <a:prstGeom prst="rect">
              <a:avLst/>
            </a:prstGeom>
            <a:noFill/>
          </p:spPr>
          <p:txBody>
            <a:bodyPr wrap="square" anchor="ctr">
              <a:spAutoFit/>
            </a:bodyPr>
            <a:lstStyle/>
            <a:p>
              <a:r>
                <a:rPr sz="1700">
                  <a:solidFill>
                    <a:schemeClr val="accent4"/>
                  </a:solidFill>
                  <a:latin typeface="Consolas"/>
                </a:rPr>
                <a:t>%.2f</a:t>
              </a:r>
            </a:p>
          </p:txBody>
        </p:sp>
        <p:sp>
          <p:nvSpPr>
            <p:cNvPr id="24" name="TextBox 23"/>
            <p:cNvSpPr txBox="1"/>
            <p:nvPr/>
          </p:nvSpPr>
          <p:spPr>
            <a:xfrm>
              <a:off x="2869809" y="4663439"/>
              <a:ext cx="1818249" cy="585216"/>
            </a:xfrm>
            <a:prstGeom prst="rect">
              <a:avLst/>
            </a:prstGeom>
            <a:noFill/>
          </p:spPr>
          <p:txBody>
            <a:bodyPr wrap="square" anchor="ctr">
              <a:spAutoFit/>
            </a:bodyPr>
            <a:lstStyle/>
            <a:p>
              <a:r>
                <a:rPr sz="1700">
                  <a:solidFill>
                    <a:schemeClr val="accent4"/>
                  </a:solidFill>
                  <a:latin typeface="Consolas"/>
                </a:rPr>
                <a:t>3.14</a:t>
              </a:r>
            </a:p>
          </p:txBody>
        </p:sp>
        <p:sp>
          <p:nvSpPr>
            <p:cNvPr id="25" name="TextBox 24"/>
            <p:cNvSpPr txBox="1"/>
            <p:nvPr/>
          </p:nvSpPr>
          <p:spPr>
            <a:xfrm>
              <a:off x="4962378" y="4663439"/>
              <a:ext cx="6421901" cy="585216"/>
            </a:xfrm>
            <a:prstGeom prst="rect">
              <a:avLst/>
            </a:prstGeom>
            <a:noFill/>
          </p:spPr>
          <p:txBody>
            <a:bodyPr wrap="square" anchor="ctr">
              <a:spAutoFit/>
            </a:bodyPr>
            <a:lstStyle/>
            <a:p>
              <a:r>
                <a:rPr sz="2000">
                  <a:solidFill>
                    <a:srgbClr val="FFFFFF"/>
                  </a:solidFill>
                </a:rPr>
                <a:t>deux décimales</a:t>
              </a:r>
            </a:p>
          </p:txBody>
        </p:sp>
      </p:grpSp>
      <p:grpSp>
        <p:nvGrpSpPr>
          <p:cNvPr id="37" name="Groupe 36">
            <a:extLst>
              <a:ext uri="{FF2B5EF4-FFF2-40B4-BE49-F238E27FC236}">
                <a16:creationId xmlns:a16="http://schemas.microsoft.com/office/drawing/2014/main" id="{1A3B49A9-A00C-69CA-93CE-1764B3712128}"/>
              </a:ext>
            </a:extLst>
          </p:cNvPr>
          <p:cNvGrpSpPr/>
          <p:nvPr/>
        </p:nvGrpSpPr>
        <p:grpSpPr>
          <a:xfrm>
            <a:off x="640080" y="5321807"/>
            <a:ext cx="10881360" cy="585216"/>
            <a:chOff x="640080" y="5321807"/>
            <a:chExt cx="10881360" cy="585216"/>
          </a:xfrm>
        </p:grpSpPr>
        <p:sp>
          <p:nvSpPr>
            <p:cNvPr id="26" name="Rounded Rectangle 25"/>
            <p:cNvSpPr/>
            <p:nvPr/>
          </p:nvSpPr>
          <p:spPr>
            <a:xfrm>
              <a:off x="640080" y="532180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5321807"/>
              <a:ext cx="1818249" cy="585216"/>
            </a:xfrm>
            <a:prstGeom prst="rect">
              <a:avLst/>
            </a:prstGeom>
            <a:noFill/>
          </p:spPr>
          <p:txBody>
            <a:bodyPr wrap="square" anchor="ctr">
              <a:spAutoFit/>
            </a:bodyPr>
            <a:lstStyle/>
            <a:p>
              <a:r>
                <a:rPr sz="1700">
                  <a:solidFill>
                    <a:schemeClr val="accent4"/>
                  </a:solidFill>
                  <a:latin typeface="Consolas"/>
                </a:rPr>
                <a:t>%8.2f</a:t>
              </a:r>
            </a:p>
          </p:txBody>
        </p:sp>
        <p:sp>
          <p:nvSpPr>
            <p:cNvPr id="28" name="TextBox 27"/>
            <p:cNvSpPr txBox="1"/>
            <p:nvPr/>
          </p:nvSpPr>
          <p:spPr>
            <a:xfrm>
              <a:off x="2869809" y="5321807"/>
              <a:ext cx="1818249" cy="585216"/>
            </a:xfrm>
            <a:prstGeom prst="rect">
              <a:avLst/>
            </a:prstGeom>
            <a:noFill/>
          </p:spPr>
          <p:txBody>
            <a:bodyPr wrap="square" anchor="ctr">
              <a:spAutoFit/>
            </a:bodyPr>
            <a:lstStyle/>
            <a:p>
              <a:r>
                <a:rPr sz="1700">
                  <a:solidFill>
                    <a:schemeClr val="accent4"/>
                  </a:solidFill>
                  <a:latin typeface="Consolas"/>
                </a:rPr>
                <a:t>    3.14</a:t>
              </a:r>
            </a:p>
          </p:txBody>
        </p:sp>
        <p:sp>
          <p:nvSpPr>
            <p:cNvPr id="29" name="TextBox 28"/>
            <p:cNvSpPr txBox="1"/>
            <p:nvPr/>
          </p:nvSpPr>
          <p:spPr>
            <a:xfrm>
              <a:off x="4962378" y="5321807"/>
              <a:ext cx="6421901" cy="585216"/>
            </a:xfrm>
            <a:prstGeom prst="rect">
              <a:avLst/>
            </a:prstGeom>
            <a:noFill/>
          </p:spPr>
          <p:txBody>
            <a:bodyPr wrap="square" anchor="ctr">
              <a:spAutoFit/>
            </a:bodyPr>
            <a:lstStyle/>
            <a:p>
              <a:r>
                <a:rPr sz="2000">
                  <a:solidFill>
                    <a:srgbClr val="FFFFFF"/>
                  </a:solidFill>
                </a:rPr>
                <a:t>deux décimales, sur 8 caractères</a:t>
              </a:r>
            </a:p>
          </p:txBody>
        </p:sp>
      </p:grpSp>
      <p:sp>
        <p:nvSpPr>
          <p:cNvPr id="31"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3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pic>
        <p:nvPicPr>
          <p:cNvPr id="38" name="Image 37">
            <a:extLst>
              <a:ext uri="{FF2B5EF4-FFF2-40B4-BE49-F238E27FC236}">
                <a16:creationId xmlns:a16="http://schemas.microsoft.com/office/drawing/2014/main" id="{A14579D7-133E-6931-8E2E-CDBB3A66A4A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rot="20789065">
            <a:off x="10349345" y="291065"/>
            <a:ext cx="1379041" cy="13790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up)">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up)">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up)">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up)">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up)">
                                      <p:cBhvr>
                                        <p:cTn id="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locale décide du séparateur</a:t>
            </a:r>
          </a:p>
        </p:txBody>
      </p:sp>
      <p:sp>
        <p:nvSpPr>
          <p:cNvPr id="3" name="Content Placeholder 2"/>
          <p:cNvSpPr>
            <a:spLocks noGrp="1"/>
          </p:cNvSpPr>
          <p:nvPr>
            <p:ph idx="1"/>
          </p:nvPr>
        </p:nvSpPr>
        <p:spPr>
          <a:xfrm>
            <a:off x="640080" y="1371600"/>
            <a:ext cx="10881360" cy="1671319"/>
          </a:xfrm>
        </p:spPr>
        <p:txBody>
          <a:bodyPr/>
          <a:lstStyle/>
          <a:p>
            <a:pPr>
              <a:spcAft>
                <a:spcPts val="1000"/>
              </a:spcAft>
            </a:pPr>
            <a:r>
              <a:rPr sz="2800"/>
              <a:t>Sans locale, le résultat dépend de la machine</a:t>
            </a:r>
          </a:p>
          <a:p>
            <a:pPr>
              <a:spcAft>
                <a:spcPts val="1000"/>
              </a:spcAft>
            </a:pPr>
            <a:r>
              <a:rPr sz="2800"/>
              <a:t>Un test qui compare des chaînes échouera sur un espace invisible</a:t>
            </a:r>
          </a:p>
        </p:txBody>
      </p:sp>
      <p:sp>
        <p:nvSpPr>
          <p:cNvPr id="4" name="Code"/>
          <p:cNvSpPr txBox="1"/>
          <p:nvPr/>
        </p:nvSpPr>
        <p:spPr>
          <a:xfrm>
            <a:off x="1473200" y="3180079"/>
            <a:ext cx="92456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a:t>
            </a:r>
            <a:r>
              <a:rPr sz="1800">
                <a:solidFill>
                  <a:srgbClr val="6AAB73"/>
                </a:solidFill>
                <a:latin typeface="Consolas"/>
              </a:rPr>
              <a:t>"%,d%n"</a:t>
            </a:r>
            <a:r>
              <a:rPr sz="1800">
                <a:solidFill>
                  <a:srgbClr val="BCBEC4"/>
                </a:solidFill>
                <a:latin typeface="Consolas"/>
              </a:rPr>
              <a:t>, </a:t>
            </a:r>
            <a:r>
              <a:rPr sz="1800">
                <a:solidFill>
                  <a:srgbClr val="2AACB8"/>
                </a:solidFill>
                <a:latin typeface="Consolas"/>
              </a:rPr>
              <a:t>1157479200</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machine francaise : 1 157 479 200  (espace INSECABLE etroite)</a:t>
            </a:r>
          </a:p>
          <a:p>
            <a:pPr>
              <a:lnSpc>
                <a:spcPct val="100000"/>
              </a:lnSpc>
              <a:spcBef>
                <a:spcPts val="0"/>
              </a:spcBef>
              <a:spcAft>
                <a:spcPts val="0"/>
              </a:spcAft>
            </a:pPr>
            <a:r>
              <a:rPr sz="1800">
                <a:solidFill>
                  <a:srgbClr val="7A7E85"/>
                </a:solidFill>
                <a:latin typeface="Consolas"/>
              </a:rPr>
              <a:t>// machine anglaise  : 1,157,479,200</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(Locale.US, </a:t>
            </a:r>
            <a:r>
              <a:rPr sz="1800">
                <a:solidFill>
                  <a:srgbClr val="6AAB73"/>
                </a:solidFill>
                <a:latin typeface="Consolas"/>
              </a:rPr>
              <a:t>"%,d%n"</a:t>
            </a:r>
            <a:r>
              <a:rPr sz="1800">
                <a:solidFill>
                  <a:srgbClr val="BCBEC4"/>
                </a:solidFill>
                <a:latin typeface="Consolas"/>
              </a:rPr>
              <a:t>, </a:t>
            </a:r>
            <a:r>
              <a:rPr sz="1800">
                <a:solidFill>
                  <a:srgbClr val="2AACB8"/>
                </a:solidFill>
                <a:latin typeface="Consolas"/>
              </a:rPr>
              <a:t>1157479200</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partout           : 1,157,479,200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String.format</a:t>
            </a:r>
            <a:r>
              <a:rPr sz="4000"/>
              <a:t>, la version testable</a:t>
            </a:r>
          </a:p>
        </p:txBody>
      </p:sp>
      <p:sp>
        <p:nvSpPr>
          <p:cNvPr id="3" name="Content Placeholder 2"/>
          <p:cNvSpPr>
            <a:spLocks noGrp="1"/>
          </p:cNvSpPr>
          <p:nvPr>
            <p:ph idx="1"/>
          </p:nvPr>
        </p:nvSpPr>
        <p:spPr>
          <a:xfrm>
            <a:off x="640080" y="1371600"/>
            <a:ext cx="10881360" cy="2352040"/>
          </a:xfrm>
        </p:spPr>
        <p:txBody>
          <a:bodyPr>
            <a:normAutofit lnSpcReduction="10000"/>
          </a:bodyPr>
          <a:lstStyle/>
          <a:p>
            <a:pPr>
              <a:spcAft>
                <a:spcPts val="1000"/>
              </a:spcAft>
            </a:pPr>
            <a:r>
              <a:rPr sz="2800"/>
              <a:t>Mêmes gabarits, deux usages</a:t>
            </a:r>
          </a:p>
          <a:p>
            <a:pPr>
              <a:spcAft>
                <a:spcPts val="1000"/>
              </a:spcAft>
            </a:pPr>
            <a:r>
              <a:rPr sz="2800"/>
              <a:t>La méthode </a:t>
            </a:r>
            <a:r>
              <a:rPr sz="2400">
                <a:solidFill>
                  <a:schemeClr val="accent4"/>
                </a:solidFill>
                <a:latin typeface="Consolas"/>
              </a:rPr>
              <a:t>printf</a:t>
            </a:r>
            <a:r>
              <a:rPr sz="2800"/>
              <a:t> affiche - on ne peut pas la tester</a:t>
            </a:r>
          </a:p>
          <a:p>
            <a:pPr>
              <a:spcAft>
                <a:spcPts val="1000"/>
              </a:spcAft>
            </a:pPr>
            <a:r>
              <a:rPr sz="2800"/>
              <a:t>La méthode </a:t>
            </a:r>
            <a:r>
              <a:rPr sz="2400">
                <a:solidFill>
                  <a:schemeClr val="accent4"/>
                </a:solidFill>
                <a:latin typeface="Consolas"/>
              </a:rPr>
              <a:t>String.format</a:t>
            </a:r>
            <a:r>
              <a:rPr sz="2800"/>
              <a:t> retourne - on peut la tester</a:t>
            </a:r>
          </a:p>
          <a:p>
            <a:pPr>
              <a:spcAft>
                <a:spcPts val="1000"/>
              </a:spcAft>
            </a:pPr>
            <a:r>
              <a:rPr sz="2800"/>
              <a:t>Fin du détour : on revient à la mesure du temps</a:t>
            </a:r>
          </a:p>
        </p:txBody>
      </p:sp>
      <p:sp>
        <p:nvSpPr>
          <p:cNvPr id="4" name="Code"/>
          <p:cNvSpPr txBox="1"/>
          <p:nvPr/>
        </p:nvSpPr>
        <p:spPr>
          <a:xfrm>
            <a:off x="1752600" y="3860800"/>
            <a:ext cx="86868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(Locale.US, </a:t>
            </a:r>
            <a:r>
              <a:rPr sz="1800">
                <a:solidFill>
                  <a:srgbClr val="6AAB73"/>
                </a:solidFill>
                <a:latin typeface="Consolas"/>
              </a:rPr>
              <a:t>"%,d"</a:t>
            </a:r>
            <a:r>
              <a:rPr sz="1800">
                <a:solidFill>
                  <a:srgbClr val="BCBEC4"/>
                </a:solidFill>
                <a:latin typeface="Consolas"/>
              </a:rPr>
              <a:t>, n);          </a:t>
            </a:r>
            <a:r>
              <a:rPr sz="1800">
                <a:solidFill>
                  <a:srgbClr val="7A7E85"/>
                </a:solidFill>
                <a:latin typeface="Consolas"/>
              </a:rPr>
              <a:t>// affiche</a:t>
            </a:r>
          </a:p>
          <a:p>
            <a:pPr>
              <a:lnSpc>
                <a:spcPct val="100000"/>
              </a:lnSpc>
              <a:spcBef>
                <a:spcPts val="0"/>
              </a:spcBef>
              <a:spcAft>
                <a:spcPts val="0"/>
              </a:spcAft>
            </a:pPr>
            <a:r>
              <a:rPr sz="1800">
                <a:solidFill>
                  <a:srgbClr val="BCBEC4"/>
                </a:solidFill>
                <a:latin typeface="Consolas"/>
              </a:rPr>
              <a:t>String s = String.</a:t>
            </a:r>
            <a:r>
              <a:rPr sz="1800">
                <a:solidFill>
                  <a:srgbClr val="56A8F5"/>
                </a:solidFill>
                <a:latin typeface="Consolas"/>
              </a:rPr>
              <a:t>format</a:t>
            </a:r>
            <a:r>
              <a:rPr sz="1800">
                <a:solidFill>
                  <a:srgbClr val="BCBEC4"/>
                </a:solidFill>
                <a:latin typeface="Consolas"/>
              </a:rPr>
              <a:t>(Locale.US, </a:t>
            </a:r>
            <a:r>
              <a:rPr sz="1800">
                <a:solidFill>
                  <a:srgbClr val="6AAB73"/>
                </a:solidFill>
                <a:latin typeface="Consolas"/>
              </a:rPr>
              <a:t>"%,d"</a:t>
            </a:r>
            <a:r>
              <a:rPr sz="1800">
                <a:solidFill>
                  <a:srgbClr val="BCBEC4"/>
                </a:solidFill>
                <a:latin typeface="Consolas"/>
              </a:rPr>
              <a:t>, n);   </a:t>
            </a:r>
            <a:r>
              <a:rPr sz="1800">
                <a:solidFill>
                  <a:srgbClr val="7A7E85"/>
                </a:solidFill>
                <a:latin typeface="Consolas"/>
              </a:rPr>
              <a:t>// retourne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5.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015988"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Date ou instant ?</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30</a:t>
            </a:fld>
            <a:endParaRPr lang="fr-F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a:t>
            </a:r>
            <a:r>
              <a:rPr sz="3400">
                <a:solidFill>
                  <a:schemeClr val="accent4"/>
                </a:solidFill>
                <a:latin typeface="Consolas"/>
              </a:rPr>
              <a:t>LocalDate</a:t>
            </a:r>
            <a:r>
              <a:rPr sz="4000"/>
              <a:t> ne contient pas</a:t>
            </a:r>
          </a:p>
        </p:txBody>
      </p:sp>
      <p:sp>
        <p:nvSpPr>
          <p:cNvPr id="3" name="Content Placeholder 2"/>
          <p:cNvSpPr>
            <a:spLocks noGrp="1"/>
          </p:cNvSpPr>
          <p:nvPr>
            <p:ph idx="1"/>
          </p:nvPr>
        </p:nvSpPr>
        <p:spPr>
          <a:xfrm>
            <a:off x="640080" y="1371600"/>
            <a:ext cx="10881360" cy="1798320"/>
          </a:xfrm>
        </p:spPr>
        <p:txBody>
          <a:bodyPr/>
          <a:lstStyle/>
          <a:p>
            <a:pPr>
              <a:spcAft>
                <a:spcPts val="1000"/>
              </a:spcAft>
            </a:pPr>
            <a:r>
              <a:rPr sz="2800"/>
              <a:t>Un </a:t>
            </a:r>
            <a:r>
              <a:rPr sz="2400">
                <a:solidFill>
                  <a:schemeClr val="accent4"/>
                </a:solidFill>
                <a:latin typeface="Consolas"/>
              </a:rPr>
              <a:t>LocalDate</a:t>
            </a:r>
            <a:r>
              <a:rPr sz="2800"/>
              <a:t>, c'est une case du calendrier</a:t>
            </a:r>
          </a:p>
          <a:p>
            <a:pPr>
              <a:spcAft>
                <a:spcPts val="1000"/>
              </a:spcAft>
            </a:pPr>
            <a:r>
              <a:rPr sz="2800"/>
              <a:t>Pas d'heure, pas de minute, pas de seconde</a:t>
            </a:r>
          </a:p>
          <a:p>
            <a:pPr>
              <a:spcAft>
                <a:spcPts val="1000"/>
              </a:spcAft>
            </a:pPr>
            <a:r>
              <a:rPr sz="2800"/>
              <a:t>Que donne la dernière ligne ?</a:t>
            </a:r>
          </a:p>
        </p:txBody>
      </p:sp>
      <p:sp>
        <p:nvSpPr>
          <p:cNvPr id="4" name="Code"/>
          <p:cNvSpPr txBox="1"/>
          <p:nvPr/>
        </p:nvSpPr>
        <p:spPr>
          <a:xfrm>
            <a:off x="2381250" y="3307080"/>
            <a:ext cx="74295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ChronoUnit.DAYS.</a:t>
            </a:r>
            <a:r>
              <a:rPr sz="1800">
                <a:solidFill>
                  <a:srgbClr val="56A8F5"/>
                </a:solidFill>
                <a:latin typeface="Consolas"/>
              </a:rPr>
              <a:t>between</a:t>
            </a:r>
            <a:r>
              <a:rPr sz="1800">
                <a:solidFill>
                  <a:srgbClr val="BCBEC4"/>
                </a:solidFill>
                <a:latin typeface="Consolas"/>
              </a:rPr>
              <a:t>(d1, d2);      </a:t>
            </a:r>
            <a:r>
              <a:rPr sz="1800">
                <a:solidFill>
                  <a:srgbClr val="7A7E85"/>
                </a:solidFill>
                <a:latin typeface="Consolas"/>
              </a:rPr>
              <a:t>// fonctionne</a:t>
            </a:r>
          </a:p>
          <a:p>
            <a:pPr>
              <a:lnSpc>
                <a:spcPct val="100000"/>
              </a:lnSpc>
              <a:spcBef>
                <a:spcPts val="0"/>
              </a:spcBef>
              <a:spcAft>
                <a:spcPts val="0"/>
              </a:spcAft>
            </a:pPr>
            <a:r>
              <a:rPr sz="1800">
                <a:solidFill>
                  <a:srgbClr val="BCBEC4"/>
                </a:solidFill>
                <a:latin typeface="Consolas"/>
              </a:rPr>
              <a:t>ChronoUnit.SECONDS.</a:t>
            </a:r>
            <a:r>
              <a:rPr sz="1800">
                <a:solidFill>
                  <a:srgbClr val="56A8F5"/>
                </a:solidFill>
                <a:latin typeface="Consolas"/>
              </a:rPr>
              <a:t>between</a:t>
            </a:r>
            <a:r>
              <a:rPr sz="1800">
                <a:solidFill>
                  <a:srgbClr val="BCBEC4"/>
                </a:solidFill>
                <a:latin typeface="Consolas"/>
              </a:rPr>
              <a:t>(d1, d2);   </a:t>
            </a:r>
            <a:r>
              <a:rPr sz="1800">
                <a:solidFill>
                  <a:srgbClr val="7A7E85"/>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5. Date ou instant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Compter des secondes : date ou instant ?</a:t>
            </a:r>
          </a:p>
          <a:p>
            <a:r>
              <a:rPr sz="1400">
                <a:solidFill>
                  <a:srgbClr val="BCBEC4"/>
                </a:solidFill>
              </a:rPr>
              <a:t>fascicule TMP</a:t>
            </a:r>
          </a:p>
        </p:txBody>
      </p:sp>
      <p:sp>
        <p:nvSpPr>
          <p:cNvPr id="6" name="TextBox 5"/>
          <p:cNvSpPr txBox="1"/>
          <p:nvPr/>
        </p:nvSpPr>
        <p:spPr>
          <a:xfrm>
            <a:off x="640080" y="2651760"/>
            <a:ext cx="9326880" cy="822960"/>
          </a:xfrm>
          <a:prstGeom prst="rect">
            <a:avLst/>
          </a:prstGeom>
          <a:noFill/>
        </p:spPr>
        <p:txBody>
          <a:bodyPr wrap="square">
            <a:spAutoFit/>
          </a:bodyPr>
          <a:lstStyle/>
          <a:p>
            <a:r>
              <a:rPr sz="2400"/>
              <a:t>Décommentez la ligne signalée et </a:t>
            </a:r>
            <a:r>
              <a:rPr sz="2400" b="1"/>
              <a:t>lisez le message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5. Date ou instant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Ce que </a:t>
            </a:r>
            <a:r>
              <a:rPr sz="3400">
                <a:solidFill>
                  <a:schemeClr val="accent4"/>
                </a:solidFill>
                <a:latin typeface="Consolas"/>
              </a:rPr>
              <a:t>LocalDate</a:t>
            </a:r>
            <a:r>
              <a:rPr sz="4000"/>
              <a:t> ne contient pas »</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Le JDK refuse plutôt que d'inventer : </a:t>
            </a:r>
            <a:r>
              <a:rPr sz="2400">
                <a:solidFill>
                  <a:schemeClr val="accent4"/>
                </a:solidFill>
                <a:latin typeface="Consolas"/>
              </a:rPr>
              <a:t>Unsupported unit: Seconds</a:t>
            </a:r>
          </a:p>
          <a:p>
            <a:pPr>
              <a:spcAft>
                <a:spcPts val="1000"/>
              </a:spcAft>
            </a:pPr>
            <a:r>
              <a:rPr sz="2800"/>
              <a:t>La méthode </a:t>
            </a:r>
            <a:r>
              <a:rPr sz="2400">
                <a:solidFill>
                  <a:schemeClr val="accent4"/>
                </a:solidFill>
                <a:latin typeface="Consolas"/>
              </a:rPr>
              <a:t>atStartOfDay()</a:t>
            </a:r>
            <a:r>
              <a:rPr sz="2800"/>
              <a:t> fixe minuit - une convention, pas une vérité</a:t>
            </a:r>
          </a:p>
          <a:p>
            <a:pPr>
              <a:spcAft>
                <a:spcPts val="1000"/>
              </a:spcAft>
            </a:pPr>
            <a:r>
              <a:rPr sz="2800"/>
              <a:t>Votre résultat est donc juste à quelques heures près</a:t>
            </a:r>
          </a:p>
          <a:p>
            <a:pPr>
              <a:spcAft>
                <a:spcPts val="1000"/>
              </a:spcAft>
            </a:pPr>
            <a:r>
              <a:rPr sz="2800"/>
              <a:t>Un </a:t>
            </a:r>
            <a:r>
              <a:rPr sz="2400">
                <a:solidFill>
                  <a:schemeClr val="accent4"/>
                </a:solidFill>
                <a:latin typeface="Consolas"/>
              </a:rPr>
              <a:t>int</a:t>
            </a:r>
            <a:r>
              <a:rPr sz="2800"/>
              <a:t> s'arrête à 2 147 483 647, soit environ 68 ans de secondes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5. Date ou instant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6.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905407"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L'arithmétique du calendrier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34</a:t>
            </a:fld>
            <a:endParaRPr lang="fr-F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des mois</a:t>
            </a:r>
          </a:p>
        </p:txBody>
      </p:sp>
      <p:sp>
        <p:nvSpPr>
          <p:cNvPr id="3" name="Content Placeholder 2"/>
          <p:cNvSpPr>
            <a:spLocks noGrp="1"/>
          </p:cNvSpPr>
          <p:nvPr>
            <p:ph idx="1"/>
          </p:nvPr>
        </p:nvSpPr>
        <p:spPr>
          <a:xfrm>
            <a:off x="640080" y="1371600"/>
            <a:ext cx="4389120" cy="4800600"/>
          </a:xfrm>
        </p:spPr>
        <p:txBody>
          <a:bodyPr/>
          <a:lstStyle/>
          <a:p>
            <a:pPr>
              <a:spcAft>
                <a:spcPts val="1000"/>
              </a:spcAft>
            </a:pPr>
            <a:r>
              <a:rPr sz="2800"/>
              <a:t>Les deux dernières lignes donnent-elles la même date ?</a:t>
            </a:r>
          </a:p>
          <a:p>
            <a:pPr>
              <a:spcAft>
                <a:spcPts val="1000"/>
              </a:spcAft>
            </a:pPr>
            <a:r>
              <a:rPr sz="2800"/>
              <a:t>Votez avant d'exécuter</a:t>
            </a:r>
          </a:p>
        </p:txBody>
      </p:sp>
      <p:sp>
        <p:nvSpPr>
          <p:cNvPr id="4" name="Code"/>
          <p:cNvSpPr txBox="1"/>
          <p:nvPr/>
        </p:nvSpPr>
        <p:spPr>
          <a:xfrm>
            <a:off x="5257800" y="1371600"/>
            <a:ext cx="598932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 d = LocalDate.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2027</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31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plusDays</a:t>
            </a:r>
            <a:r>
              <a:rPr sz="1800">
                <a:solidFill>
                  <a:srgbClr val="BCBEC4"/>
                </a:solidFill>
                <a:latin typeface="Consolas"/>
              </a:rPr>
              <a:t>(</a:t>
            </a:r>
            <a:r>
              <a:rPr sz="1800">
                <a:solidFill>
                  <a:srgbClr val="2AACB8"/>
                </a:solidFill>
                <a:latin typeface="Consolas"/>
              </a:rPr>
              <a:t>30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7A7E85"/>
                </a:solidFill>
                <a:latin typeface="Consolas"/>
              </a:rPr>
              <a:t>// ?</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                 </a:t>
            </a:r>
            <a:r>
              <a:rPr sz="1800">
                <a:solidFill>
                  <a:srgbClr val="7A7E85"/>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6. Arithmétique du calendrier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L'arithmétique des mois</a:t>
            </a:r>
          </a:p>
          <a:p>
            <a:r>
              <a:rPr sz="1400">
                <a:solidFill>
                  <a:srgbClr val="BCBEC4"/>
                </a:solidFill>
              </a:rPr>
              <a:t>fascicule TMP</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6. Arithmétique du calendrier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Ajouter des mois »</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Le </a:t>
            </a:r>
            <a:r>
              <a:rPr sz="2400">
                <a:solidFill>
                  <a:schemeClr val="accent4"/>
                </a:solidFill>
                <a:latin typeface="Consolas"/>
              </a:rPr>
              <a:t>31/01/2027</a:t>
            </a:r>
            <a:r>
              <a:rPr sz="2800"/>
              <a:t> plus un mois donne </a:t>
            </a:r>
            <a:r>
              <a:rPr sz="2400">
                <a:solidFill>
                  <a:schemeClr val="accent4"/>
                </a:solidFill>
                <a:latin typeface="Consolas"/>
              </a:rPr>
              <a:t>28/02/2027</a:t>
            </a:r>
          </a:p>
          <a:p>
            <a:pPr>
              <a:spcAft>
                <a:spcPts val="1000"/>
              </a:spcAft>
            </a:pPr>
            <a:r>
              <a:rPr sz="2800"/>
              <a:t>Le 31 février n'existe pas : Java rabote au dernier jour disponible</a:t>
            </a:r>
          </a:p>
          <a:p>
            <a:pPr>
              <a:spcAft>
                <a:spcPts val="1000"/>
              </a:spcAft>
            </a:pPr>
            <a:r>
              <a:rPr sz="2800"/>
              <a:t>Une fois raboté, le 31 est </a:t>
            </a:r>
            <a:r>
              <a:rPr sz="2800" b="1"/>
              <a:t>perdu</a:t>
            </a:r>
          </a:p>
          <a:p>
            <a:pPr>
              <a:spcAft>
                <a:spcPts val="1000"/>
              </a:spcAft>
            </a:pPr>
            <a:r>
              <a:rPr sz="2800"/>
              <a:t>Ajouter deux fois un mois n'est donc pas ajouter deux mois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6. Arithmétique du calendrier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7.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59340"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atin typeface="Calibri"/>
                <a:cs typeface="Calibri"/>
              </a:rPr>
              <a:t>7. </a:t>
            </a:r>
            <a:r>
              <a:rPr lang="fr-FR" sz="6000" b="1" dirty="0">
                <a:solidFill>
                  <a:schemeClr val="accent4"/>
                </a:solidFill>
                <a:latin typeface="Consolas" panose="020B0609020204030204" pitchFamily="49" charset="0"/>
                <a:cs typeface="Consolas" panose="020B0609020204030204" pitchFamily="49" charset="0"/>
              </a:rPr>
              <a:t>Period</a:t>
            </a:r>
            <a:r>
              <a:rPr lang="fr-FR" sz="6600" b="1" dirty="0">
                <a:latin typeface="Calibri"/>
                <a:cs typeface="Calibri"/>
              </a:rPr>
              <a:t> ou </a:t>
            </a:r>
            <a:r>
              <a:rPr lang="fr-FR" sz="6000" b="1" dirty="0">
                <a:solidFill>
                  <a:schemeClr val="accent4"/>
                </a:solidFill>
                <a:latin typeface="Consolas" panose="020B0609020204030204" pitchFamily="49" charset="0"/>
                <a:cs typeface="Consolas" panose="020B0609020204030204" pitchFamily="49" charset="0"/>
              </a:rPr>
              <a:t>Duration</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38</a:t>
            </a:fld>
            <a:endParaRPr lang="fr-F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Period</a:t>
            </a:r>
            <a:r>
              <a:rPr sz="4000"/>
              <a:t>, les unités du calendrier</a:t>
            </a:r>
          </a:p>
        </p:txBody>
      </p:sp>
      <p:sp>
        <p:nvSpPr>
          <p:cNvPr id="3" name="Content Placeholder 2"/>
          <p:cNvSpPr>
            <a:spLocks noGrp="1"/>
          </p:cNvSpPr>
          <p:nvPr>
            <p:ph idx="1"/>
          </p:nvPr>
        </p:nvSpPr>
        <p:spPr>
          <a:xfrm>
            <a:off x="640080" y="1371600"/>
            <a:ext cx="10881360" cy="1244600"/>
          </a:xfrm>
        </p:spPr>
        <p:txBody>
          <a:bodyPr/>
          <a:lstStyle/>
          <a:p>
            <a:pPr>
              <a:spcAft>
                <a:spcPts val="1000"/>
              </a:spcAft>
            </a:pPr>
            <a:r>
              <a:rPr sz="2800"/>
              <a:t>Années, mois, jours - des unités de longueur variable</a:t>
            </a:r>
          </a:p>
          <a:p>
            <a:pPr>
              <a:spcAft>
                <a:spcPts val="1000"/>
              </a:spcAft>
            </a:pPr>
            <a:r>
              <a:rPr sz="2800"/>
              <a:t>Pour des </a:t>
            </a:r>
            <a:r>
              <a:rPr sz="2400">
                <a:solidFill>
                  <a:schemeClr val="accent4"/>
                </a:solidFill>
                <a:latin typeface="Consolas"/>
              </a:rPr>
              <a:t>LocalDate</a:t>
            </a:r>
          </a:p>
        </p:txBody>
      </p:sp>
      <p:sp>
        <p:nvSpPr>
          <p:cNvPr id="4" name="Code"/>
          <p:cNvSpPr txBox="1"/>
          <p:nvPr/>
        </p:nvSpPr>
        <p:spPr>
          <a:xfrm>
            <a:off x="2520950" y="2753360"/>
            <a:ext cx="7150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Period p = Period.</a:t>
            </a:r>
            <a:r>
              <a:rPr sz="1800">
                <a:solidFill>
                  <a:srgbClr val="56A8F5"/>
                </a:solidFill>
                <a:latin typeface="Consolas"/>
              </a:rPr>
              <a:t>between</a:t>
            </a:r>
            <a:r>
              <a:rPr sz="1800">
                <a:solidFill>
                  <a:srgbClr val="BCBEC4"/>
                </a:solidFill>
                <a:latin typeface="Consolas"/>
              </a:rPr>
              <a:t>(naissance, aujourdhui);</a:t>
            </a:r>
          </a:p>
          <a:p>
            <a:pPr>
              <a:lnSpc>
                <a:spcPct val="100000"/>
              </a:lnSpc>
              <a:spcBef>
                <a:spcPts val="0"/>
              </a:spcBef>
              <a:spcAft>
                <a:spcPts val="0"/>
              </a:spcAft>
            </a:pPr>
            <a:r>
              <a:rPr sz="1800">
                <a:solidFill>
                  <a:srgbClr val="BCBEC4"/>
                </a:solidFill>
                <a:latin typeface="Consolas"/>
              </a:rPr>
              <a:t>p.</a:t>
            </a:r>
            <a:r>
              <a:rPr sz="1800">
                <a:solidFill>
                  <a:srgbClr val="56A8F5"/>
                </a:solidFill>
                <a:latin typeface="Consolas"/>
              </a:rPr>
              <a:t>getYears</a:t>
            </a:r>
            <a:r>
              <a:rPr sz="1800">
                <a:solidFill>
                  <a:srgbClr val="BCBEC4"/>
                </a:solidFill>
                <a:latin typeface="Consolas"/>
              </a:rPr>
              <a:t>();    </a:t>
            </a:r>
            <a:r>
              <a:rPr sz="1800">
                <a:solidFill>
                  <a:srgbClr val="7A7E85"/>
                </a:solidFill>
                <a:latin typeface="Consolas"/>
              </a:rPr>
              <a:t>// 36</a:t>
            </a:r>
          </a:p>
          <a:p>
            <a:pPr>
              <a:lnSpc>
                <a:spcPct val="100000"/>
              </a:lnSpc>
              <a:spcBef>
                <a:spcPts val="0"/>
              </a:spcBef>
              <a:spcAft>
                <a:spcPts val="0"/>
              </a:spcAft>
            </a:pPr>
            <a:r>
              <a:rPr sz="1800">
                <a:solidFill>
                  <a:srgbClr val="BCBEC4"/>
                </a:solidFill>
                <a:latin typeface="Consolas"/>
              </a:rPr>
              <a:t>p.</a:t>
            </a:r>
            <a:r>
              <a:rPr sz="1800">
                <a:solidFill>
                  <a:srgbClr val="56A8F5"/>
                </a:solidFill>
                <a:latin typeface="Consolas"/>
              </a:rPr>
              <a:t>getMonths</a:t>
            </a:r>
            <a:r>
              <a:rPr sz="1800">
                <a:solidFill>
                  <a:srgbClr val="BCBEC4"/>
                </a:solidFill>
                <a:latin typeface="Consolas"/>
              </a:rPr>
              <a:t>();   </a:t>
            </a:r>
            <a:r>
              <a:rPr sz="1800">
                <a:solidFill>
                  <a:srgbClr val="7A7E85"/>
                </a:solidFill>
                <a:latin typeface="Consolas"/>
              </a:rPr>
              <a:t>// 8</a:t>
            </a:r>
          </a:p>
          <a:p>
            <a:pPr>
              <a:lnSpc>
                <a:spcPct val="100000"/>
              </a:lnSpc>
              <a:spcBef>
                <a:spcPts val="0"/>
              </a:spcBef>
              <a:spcAft>
                <a:spcPts val="0"/>
              </a:spcAft>
            </a:pPr>
            <a:r>
              <a:rPr sz="1800">
                <a:solidFill>
                  <a:srgbClr val="BCBEC4"/>
                </a:solidFill>
                <a:latin typeface="Consolas"/>
              </a:rPr>
              <a:t>p.</a:t>
            </a:r>
            <a:r>
              <a:rPr sz="1800">
                <a:solidFill>
                  <a:srgbClr val="56A8F5"/>
                </a:solidFill>
                <a:latin typeface="Consolas"/>
              </a:rPr>
              <a:t>getDays</a:t>
            </a:r>
            <a:r>
              <a:rPr sz="1800">
                <a:solidFill>
                  <a:srgbClr val="BCBEC4"/>
                </a:solidFill>
                <a:latin typeface="Consolas"/>
              </a:rPr>
              <a:t>();     </a:t>
            </a:r>
            <a:r>
              <a:rPr sz="1800">
                <a:solidFill>
                  <a:srgbClr val="7A7E85"/>
                </a:solidFill>
                <a:latin typeface="Consolas"/>
              </a:rPr>
              <a:t>// 2</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Duration</a:t>
            </a:r>
            <a:r>
              <a:rPr sz="4000"/>
              <a:t>, les unités de l’horloge</a:t>
            </a:r>
          </a:p>
        </p:txBody>
      </p:sp>
      <p:sp>
        <p:nvSpPr>
          <p:cNvPr id="3" name="Content Placeholder 2"/>
          <p:cNvSpPr>
            <a:spLocks noGrp="1"/>
          </p:cNvSpPr>
          <p:nvPr>
            <p:ph idx="1"/>
          </p:nvPr>
        </p:nvSpPr>
        <p:spPr>
          <a:xfrm>
            <a:off x="640080" y="1371600"/>
            <a:ext cx="10881360" cy="1798320"/>
          </a:xfrm>
        </p:spPr>
        <p:txBody>
          <a:bodyPr/>
          <a:lstStyle/>
          <a:p>
            <a:pPr>
              <a:spcAft>
                <a:spcPts val="1000"/>
              </a:spcAft>
            </a:pPr>
            <a:r>
              <a:rPr sz="2800"/>
              <a:t>Heures, minutes, secondes - toujours identiques</a:t>
            </a:r>
          </a:p>
          <a:p>
            <a:pPr>
              <a:spcAft>
                <a:spcPts val="1000"/>
              </a:spcAft>
            </a:pPr>
            <a:r>
              <a:rPr sz="2800"/>
              <a:t>Pour des </a:t>
            </a:r>
            <a:r>
              <a:rPr sz="2400">
                <a:solidFill>
                  <a:schemeClr val="accent4"/>
                </a:solidFill>
                <a:latin typeface="Consolas"/>
              </a:rPr>
              <a:t>LocalDateTime</a:t>
            </a:r>
          </a:p>
          <a:p>
            <a:pPr>
              <a:spcAft>
                <a:spcPts val="1000"/>
              </a:spcAft>
            </a:pPr>
            <a:r>
              <a:rPr sz="2800"/>
              <a:t>Que vaut alors </a:t>
            </a:r>
            <a:r>
              <a:rPr sz="2400">
                <a:solidFill>
                  <a:schemeClr val="accent4"/>
                </a:solidFill>
                <a:latin typeface="Consolas"/>
              </a:rPr>
              <a:t>toHours() + "h" + toMinutes()</a:t>
            </a:r>
            <a:r>
              <a:rPr sz="2800"/>
              <a:t> ?</a:t>
            </a:r>
          </a:p>
        </p:txBody>
      </p:sp>
      <p:sp>
        <p:nvSpPr>
          <p:cNvPr id="4" name="Code"/>
          <p:cNvSpPr txBox="1"/>
          <p:nvPr/>
        </p:nvSpPr>
        <p:spPr>
          <a:xfrm>
            <a:off x="3009900" y="3307080"/>
            <a:ext cx="61722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Duration d = Duration.</a:t>
            </a:r>
            <a:r>
              <a:rPr sz="1800">
                <a:solidFill>
                  <a:srgbClr val="56A8F5"/>
                </a:solidFill>
                <a:latin typeface="Consolas"/>
              </a:rPr>
              <a:t>between</a:t>
            </a:r>
            <a:r>
              <a:rPr sz="1800">
                <a:solidFill>
                  <a:srgbClr val="BCBEC4"/>
                </a:solidFill>
                <a:latin typeface="Consolas"/>
              </a:rPr>
              <a:t>(debut, fin);</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toHours</a:t>
            </a:r>
            <a:r>
              <a:rPr sz="1800">
                <a:solidFill>
                  <a:srgbClr val="BCBEC4"/>
                </a:solidFill>
                <a:latin typeface="Consolas"/>
              </a:rPr>
              <a:t>();     </a:t>
            </a:r>
            <a:r>
              <a:rPr sz="1800">
                <a:solidFill>
                  <a:srgbClr val="7A7E85"/>
                </a:solidFill>
                <a:latin typeface="Consolas"/>
              </a:rPr>
              <a:t>// 3</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toMinutes</a:t>
            </a:r>
            <a:r>
              <a:rPr sz="1800">
                <a:solidFill>
                  <a:srgbClr val="BCBEC4"/>
                </a:solidFill>
                <a:latin typeface="Consolas"/>
              </a:rPr>
              <a:t>();   </a:t>
            </a:r>
            <a:r>
              <a:rPr sz="1800">
                <a:solidFill>
                  <a:srgbClr val="7A7E85"/>
                </a:solidFill>
                <a:latin typeface="Consolas"/>
              </a:rPr>
              <a:t>// 215</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chemeClr val="accent4"/>
                </a:solidFill>
                <a:latin typeface="Consolas"/>
              </a:rPr>
              <a:t>Period</a:t>
            </a:r>
            <a:r>
              <a:rPr sz="2800">
                <a:solidFill>
                  <a:srgbClr val="FFFFFF"/>
                </a:solidFill>
              </a:rPr>
              <a:t> ou </a:t>
            </a:r>
            <a:r>
              <a:rPr sz="2400">
                <a:solidFill>
                  <a:schemeClr val="accent4"/>
                </a:solidFill>
                <a:latin typeface="Consolas"/>
              </a:rPr>
              <a:t>Duration</a:t>
            </a:r>
          </a:p>
          <a:p>
            <a:r>
              <a:rPr sz="1400">
                <a:solidFill>
                  <a:srgbClr val="BCBEC4"/>
                </a:solidFill>
              </a:rPr>
              <a:t>fascicule TMP</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41</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a:t>
            </a:r>
            <a:r>
              <a:rPr sz="3400">
                <a:solidFill>
                  <a:schemeClr val="accent4"/>
                </a:solidFill>
                <a:latin typeface="Consolas"/>
              </a:rPr>
              <a:t>Duration</a:t>
            </a:r>
            <a:r>
              <a:rPr sz="4000"/>
              <a:t>, les unités de l’horloge »</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La méthode </a:t>
            </a:r>
            <a:r>
              <a:rPr sz="2400">
                <a:solidFill>
                  <a:schemeClr val="accent4"/>
                </a:solidFill>
                <a:latin typeface="Consolas"/>
              </a:rPr>
              <a:t>toMinutes()</a:t>
            </a:r>
            <a:r>
              <a:rPr sz="2800"/>
              <a:t> retourne le </a:t>
            </a:r>
            <a:r>
              <a:rPr sz="2800" b="1"/>
              <a:t>total</a:t>
            </a:r>
            <a:r>
              <a:rPr sz="2800"/>
              <a:t>, 215</a:t>
            </a:r>
          </a:p>
          <a:p>
            <a:pPr>
              <a:spcAft>
                <a:spcPts val="1000"/>
              </a:spcAft>
            </a:pPr>
            <a:r>
              <a:rPr sz="2800"/>
              <a:t>La méthode </a:t>
            </a:r>
            <a:r>
              <a:rPr sz="2400">
                <a:solidFill>
                  <a:schemeClr val="accent4"/>
                </a:solidFill>
                <a:latin typeface="Consolas"/>
              </a:rPr>
              <a:t>toMinutesPart()</a:t>
            </a:r>
            <a:r>
              <a:rPr sz="2800"/>
              <a:t> retourne le </a:t>
            </a:r>
            <a:r>
              <a:rPr sz="2800" b="1"/>
              <a:t>reste</a:t>
            </a:r>
            <a:r>
              <a:rPr sz="2800"/>
              <a:t>, 35</a:t>
            </a:r>
          </a:p>
          <a:p>
            <a:pPr>
              <a:spcAft>
                <a:spcPts val="1000"/>
              </a:spcAft>
            </a:pPr>
            <a:r>
              <a:rPr sz="2800"/>
              <a:t>La complétion montre les noms ; la Javadoc dit ce qu'ils font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8.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565951"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8. Une date et son texte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43</a:t>
            </a:fld>
            <a:endParaRPr lang="fr-F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 la date vers le texte</a:t>
            </a:r>
          </a:p>
        </p:txBody>
      </p:sp>
      <p:sp>
        <p:nvSpPr>
          <p:cNvPr id="3" name="Content Placeholder 2"/>
          <p:cNvSpPr>
            <a:spLocks noGrp="1"/>
          </p:cNvSpPr>
          <p:nvPr>
            <p:ph idx="1"/>
          </p:nvPr>
        </p:nvSpPr>
        <p:spPr>
          <a:xfrm>
            <a:off x="640080" y="1371600"/>
            <a:ext cx="10881360" cy="1244600"/>
          </a:xfrm>
        </p:spPr>
        <p:txBody>
          <a:bodyPr/>
          <a:lstStyle/>
          <a:p>
            <a:pPr>
              <a:spcAft>
                <a:spcPts val="1000"/>
              </a:spcAft>
            </a:pPr>
            <a:r>
              <a:rPr sz="2400">
                <a:solidFill>
                  <a:schemeClr val="accent4"/>
                </a:solidFill>
                <a:latin typeface="Consolas"/>
              </a:rPr>
              <a:t>dd</a:t>
            </a:r>
            <a:r>
              <a:rPr sz="2800"/>
              <a:t> jour, </a:t>
            </a:r>
            <a:r>
              <a:rPr sz="2400">
                <a:solidFill>
                  <a:schemeClr val="accent4"/>
                </a:solidFill>
                <a:latin typeface="Consolas"/>
              </a:rPr>
              <a:t>MM</a:t>
            </a:r>
            <a:r>
              <a:rPr sz="2800"/>
              <a:t> mois, </a:t>
            </a:r>
            <a:r>
              <a:rPr sz="2400">
                <a:solidFill>
                  <a:schemeClr val="accent4"/>
                </a:solidFill>
                <a:latin typeface="Consolas"/>
              </a:rPr>
              <a:t>yyyy</a:t>
            </a:r>
            <a:r>
              <a:rPr sz="2800"/>
              <a:t> année</a:t>
            </a:r>
          </a:p>
          <a:p>
            <a:pPr>
              <a:spcAft>
                <a:spcPts val="1000"/>
              </a:spcAft>
            </a:pPr>
            <a:r>
              <a:rPr sz="2800"/>
              <a:t>Attention : </a:t>
            </a:r>
            <a:r>
              <a:rPr sz="2400">
                <a:solidFill>
                  <a:schemeClr val="accent4"/>
                </a:solidFill>
                <a:latin typeface="Consolas"/>
              </a:rPr>
              <a:t>mm</a:t>
            </a:r>
            <a:r>
              <a:rPr sz="2800"/>
              <a:t> est la minute, </a:t>
            </a:r>
            <a:r>
              <a:rPr sz="2400">
                <a:solidFill>
                  <a:schemeClr val="accent4"/>
                </a:solidFill>
                <a:latin typeface="Consolas"/>
              </a:rPr>
              <a:t>MM</a:t>
            </a:r>
            <a:r>
              <a:rPr sz="2800"/>
              <a:t> le mois</a:t>
            </a:r>
          </a:p>
        </p:txBody>
      </p:sp>
      <p:sp>
        <p:nvSpPr>
          <p:cNvPr id="4" name="Code"/>
          <p:cNvSpPr txBox="1"/>
          <p:nvPr/>
        </p:nvSpPr>
        <p:spPr>
          <a:xfrm>
            <a:off x="1403350" y="2753360"/>
            <a:ext cx="93853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DateTimeFormatter</a:t>
            </a:r>
            <a:r>
              <a:rPr sz="1800" dirty="0">
                <a:solidFill>
                  <a:srgbClr val="BCBEC4"/>
                </a:solidFill>
                <a:latin typeface="Consolas"/>
              </a:rPr>
              <a:t> </a:t>
            </a:r>
            <a:r>
              <a:rPr sz="1800" dirty="0" err="1">
                <a:solidFill>
                  <a:srgbClr val="BCBEC4"/>
                </a:solidFill>
                <a:latin typeface="Consolas"/>
              </a:rPr>
              <a:t>fr</a:t>
            </a:r>
            <a:r>
              <a:rPr sz="1800" dirty="0">
                <a:solidFill>
                  <a:srgbClr val="BCBEC4"/>
                </a:solidFill>
                <a:latin typeface="Consolas"/>
              </a:rPr>
              <a:t> = </a:t>
            </a:r>
            <a:r>
              <a:rPr sz="1800" dirty="0" err="1">
                <a:solidFill>
                  <a:srgbClr val="BCBEC4"/>
                </a:solidFill>
                <a:latin typeface="Consolas"/>
              </a:rPr>
              <a:t>DateTimeFormatter.</a:t>
            </a:r>
            <a:r>
              <a:rPr sz="1800" dirty="0" err="1">
                <a:solidFill>
                  <a:srgbClr val="56A8F5"/>
                </a:solidFill>
                <a:latin typeface="Consolas"/>
              </a:rPr>
              <a:t>ofPattern</a:t>
            </a:r>
            <a:r>
              <a:rPr sz="1800" dirty="0">
                <a:solidFill>
                  <a:srgbClr val="BCBEC4"/>
                </a:solidFill>
                <a:latin typeface="Consolas"/>
              </a:rPr>
              <a:t>(</a:t>
            </a:r>
            <a:r>
              <a:rPr sz="1800" dirty="0">
                <a:solidFill>
                  <a:srgbClr val="6AAB73"/>
                </a:solidFill>
                <a:latin typeface="Consolas"/>
              </a:rPr>
              <a:t>"dd/MM/</a:t>
            </a:r>
            <a:r>
              <a:rPr sz="1800" dirty="0" err="1">
                <a:solidFill>
                  <a:srgbClr val="6AAB73"/>
                </a:solidFill>
                <a:latin typeface="Consolas"/>
              </a:rPr>
              <a:t>yyyy</a:t>
            </a:r>
            <a:r>
              <a:rPr sz="1800" dirty="0">
                <a:solidFill>
                  <a:srgbClr val="6AAB73"/>
                </a:solidFill>
                <a:latin typeface="Consolas"/>
              </a:rPr>
              <a:t>"</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String </a:t>
            </a:r>
            <a:r>
              <a:rPr sz="1800" dirty="0" err="1">
                <a:solidFill>
                  <a:srgbClr val="BCBEC4"/>
                </a:solidFill>
                <a:latin typeface="Consolas"/>
              </a:rPr>
              <a:t>texte</a:t>
            </a:r>
            <a:r>
              <a:rPr sz="1800" dirty="0">
                <a:solidFill>
                  <a:srgbClr val="BCBEC4"/>
                </a:solidFill>
                <a:latin typeface="Consolas"/>
              </a:rPr>
              <a:t> = </a:t>
            </a:r>
            <a:r>
              <a:rPr sz="1800" dirty="0" err="1">
                <a:solidFill>
                  <a:srgbClr val="BCBEC4"/>
                </a:solidFill>
                <a:latin typeface="Consolas"/>
              </a:rPr>
              <a:t>date.</a:t>
            </a:r>
            <a:r>
              <a:rPr sz="1800" dirty="0" err="1">
                <a:solidFill>
                  <a:srgbClr val="56A8F5"/>
                </a:solidFill>
                <a:latin typeface="Consolas"/>
              </a:rPr>
              <a:t>format</a:t>
            </a:r>
            <a:r>
              <a:rPr sz="1800" dirty="0">
                <a:solidFill>
                  <a:srgbClr val="BCBEC4"/>
                </a:solidFill>
                <a:latin typeface="Consolas"/>
              </a:rPr>
              <a:t>(</a:t>
            </a:r>
            <a:r>
              <a:rPr sz="1800" dirty="0" err="1">
                <a:solidFill>
                  <a:srgbClr val="BCBEC4"/>
                </a:solidFill>
                <a:latin typeface="Consolas"/>
              </a:rPr>
              <a:t>fr</a:t>
            </a:r>
            <a:r>
              <a:rPr sz="1800" dirty="0">
                <a:solidFill>
                  <a:srgbClr val="BCBEC4"/>
                </a:solidFill>
                <a:latin typeface="Consolas"/>
              </a:rPr>
              <a:t>);    </a:t>
            </a:r>
            <a:r>
              <a:rPr sz="1800" dirty="0">
                <a:solidFill>
                  <a:srgbClr val="7A7E85"/>
                </a:solidFill>
                <a:latin typeface="Consolas"/>
              </a:rPr>
              <a:t>// "19/01/2027"</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Du texte vers la date</a:t>
            </a:r>
          </a:p>
        </p:txBody>
      </p:sp>
      <p:sp>
        <p:nvSpPr>
          <p:cNvPr id="3" name="Content Placeholder 2"/>
          <p:cNvSpPr>
            <a:spLocks noGrp="1"/>
          </p:cNvSpPr>
          <p:nvPr>
            <p:ph idx="1"/>
          </p:nvPr>
        </p:nvSpPr>
        <p:spPr>
          <a:xfrm>
            <a:off x="640080" y="1371600"/>
            <a:ext cx="10881360" cy="1671319"/>
          </a:xfrm>
        </p:spPr>
        <p:txBody>
          <a:bodyPr/>
          <a:lstStyle/>
          <a:p>
            <a:pPr>
              <a:spcAft>
                <a:spcPts val="1000"/>
              </a:spcAft>
            </a:pPr>
            <a:r>
              <a:rPr sz="2800"/>
              <a:t>Le même formateur sert dans les deux sens</a:t>
            </a:r>
          </a:p>
          <a:p>
            <a:pPr>
              <a:spcAft>
                <a:spcPts val="1000"/>
              </a:spcAft>
            </a:pPr>
            <a:r>
              <a:rPr sz="2800"/>
              <a:t>Un texte mal formé lève une exception - les exceptions : module </a:t>
            </a:r>
            <a:r>
              <a:rPr sz="2800" b="1"/>
              <a:t>EXC</a:t>
            </a:r>
          </a:p>
        </p:txBody>
      </p:sp>
      <p:sp>
        <p:nvSpPr>
          <p:cNvPr id="4" name="Code"/>
          <p:cNvSpPr txBox="1"/>
          <p:nvPr/>
        </p:nvSpPr>
        <p:spPr>
          <a:xfrm>
            <a:off x="1403350" y="3180078"/>
            <a:ext cx="9385300" cy="1076037"/>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r>
              <a:rPr lang="fr-BE" dirty="0" err="1">
                <a:solidFill>
                  <a:srgbClr val="BCBEC4"/>
                </a:solidFill>
                <a:latin typeface="Consolas"/>
              </a:rPr>
              <a:t>DateTimeFormatter</a:t>
            </a:r>
            <a:r>
              <a:rPr lang="fr-BE" dirty="0">
                <a:solidFill>
                  <a:srgbClr val="BCBEC4"/>
                </a:solidFill>
                <a:latin typeface="Consolas"/>
              </a:rPr>
              <a:t> </a:t>
            </a:r>
            <a:r>
              <a:rPr lang="fr-BE" dirty="0" err="1">
                <a:solidFill>
                  <a:srgbClr val="BCBEC4"/>
                </a:solidFill>
                <a:latin typeface="Consolas"/>
              </a:rPr>
              <a:t>fr</a:t>
            </a:r>
            <a:r>
              <a:rPr lang="fr-BE" dirty="0">
                <a:solidFill>
                  <a:srgbClr val="BCBEC4"/>
                </a:solidFill>
                <a:latin typeface="Consolas"/>
              </a:rPr>
              <a:t> = </a:t>
            </a:r>
            <a:r>
              <a:rPr lang="fr-BE" dirty="0" err="1">
                <a:solidFill>
                  <a:srgbClr val="BCBEC4"/>
                </a:solidFill>
                <a:latin typeface="Consolas"/>
              </a:rPr>
              <a:t>DateTimeFormatter.</a:t>
            </a:r>
            <a:r>
              <a:rPr lang="fr-BE" dirty="0" err="1">
                <a:solidFill>
                  <a:srgbClr val="56A8F5"/>
                </a:solidFill>
                <a:latin typeface="Consolas"/>
              </a:rPr>
              <a:t>ofPattern</a:t>
            </a:r>
            <a:r>
              <a:rPr lang="fr-BE" dirty="0">
                <a:solidFill>
                  <a:srgbClr val="BCBEC4"/>
                </a:solidFill>
                <a:latin typeface="Consolas"/>
              </a:rPr>
              <a:t>(</a:t>
            </a:r>
            <a:r>
              <a:rPr lang="fr-BE" dirty="0">
                <a:solidFill>
                  <a:srgbClr val="6AAB73"/>
                </a:solidFill>
                <a:latin typeface="Consolas"/>
              </a:rPr>
              <a:t>"dd/MM/</a:t>
            </a:r>
            <a:r>
              <a:rPr lang="fr-BE" dirty="0" err="1">
                <a:solidFill>
                  <a:srgbClr val="6AAB73"/>
                </a:solidFill>
                <a:latin typeface="Consolas"/>
              </a:rPr>
              <a:t>yyyy</a:t>
            </a:r>
            <a:r>
              <a:rPr lang="fr-BE" dirty="0">
                <a:solidFill>
                  <a:srgbClr val="6AAB73"/>
                </a:solidFill>
                <a:latin typeface="Consolas"/>
              </a:rPr>
              <a:t>"</a:t>
            </a:r>
            <a:r>
              <a:rPr lang="fr-BE" dirty="0">
                <a:solidFill>
                  <a:srgbClr val="BCBEC4"/>
                </a:solidFill>
                <a:latin typeface="Consolas"/>
              </a:rPr>
              <a:t>);</a:t>
            </a:r>
          </a:p>
          <a:p>
            <a:pPr>
              <a:lnSpc>
                <a:spcPct val="100000"/>
              </a:lnSpc>
              <a:spcBef>
                <a:spcPts val="0"/>
              </a:spcBef>
              <a:spcAft>
                <a:spcPts val="0"/>
              </a:spcAft>
            </a:pPr>
            <a:r>
              <a:rPr sz="1800" dirty="0" err="1">
                <a:solidFill>
                  <a:srgbClr val="BCBEC4"/>
                </a:solidFill>
                <a:latin typeface="Consolas"/>
              </a:rPr>
              <a:t>LocalDate</a:t>
            </a:r>
            <a:r>
              <a:rPr sz="1800" dirty="0">
                <a:solidFill>
                  <a:srgbClr val="BCBEC4"/>
                </a:solidFill>
                <a:latin typeface="Consolas"/>
              </a:rPr>
              <a:t> d = </a:t>
            </a:r>
            <a:r>
              <a:rPr sz="1800" dirty="0" err="1">
                <a:solidFill>
                  <a:srgbClr val="BCBEC4"/>
                </a:solidFill>
                <a:latin typeface="Consolas"/>
              </a:rPr>
              <a:t>LocalDate.</a:t>
            </a:r>
            <a:r>
              <a:rPr sz="1800" dirty="0" err="1">
                <a:solidFill>
                  <a:srgbClr val="56A8F5"/>
                </a:solidFill>
                <a:latin typeface="Consolas"/>
              </a:rPr>
              <a:t>parse</a:t>
            </a:r>
            <a:r>
              <a:rPr sz="1800" dirty="0">
                <a:solidFill>
                  <a:srgbClr val="BCBEC4"/>
                </a:solidFill>
                <a:latin typeface="Consolas"/>
              </a:rPr>
              <a:t>(</a:t>
            </a:r>
            <a:r>
              <a:rPr sz="1800" dirty="0">
                <a:solidFill>
                  <a:srgbClr val="6AAB73"/>
                </a:solidFill>
                <a:latin typeface="Consolas"/>
              </a:rPr>
              <a:t>"19/01/2027"</a:t>
            </a:r>
            <a:r>
              <a:rPr sz="1800" dirty="0">
                <a:solidFill>
                  <a:srgbClr val="BCBEC4"/>
                </a:solidFill>
                <a:latin typeface="Consolas"/>
              </a:rPr>
              <a:t>, </a:t>
            </a:r>
            <a:r>
              <a:rPr sz="1800" dirty="0" err="1">
                <a:solidFill>
                  <a:srgbClr val="BCBEC4"/>
                </a:solidFill>
                <a:latin typeface="Consolas"/>
              </a:rPr>
              <a:t>fr</a:t>
            </a:r>
            <a:r>
              <a:rPr sz="1800" dirty="0">
                <a:solidFill>
                  <a:srgbClr val="BCBEC4"/>
                </a:solidFill>
                <a:latin typeface="Consolas"/>
              </a:rPr>
              <a:t>);</a:t>
            </a:r>
          </a:p>
          <a:p>
            <a:pPr>
              <a:lnSpc>
                <a:spcPct val="100000"/>
              </a:lnSpc>
              <a:spcBef>
                <a:spcPts val="0"/>
              </a:spcBef>
              <a:spcAft>
                <a:spcPts val="0"/>
              </a:spcAft>
            </a:pPr>
            <a:r>
              <a:rPr sz="1800" dirty="0" err="1">
                <a:solidFill>
                  <a:srgbClr val="BCBEC4"/>
                </a:solidFill>
                <a:latin typeface="Consolas"/>
              </a:rPr>
              <a:t>LocalDate</a:t>
            </a:r>
            <a:r>
              <a:rPr sz="1800" dirty="0">
                <a:solidFill>
                  <a:srgbClr val="BCBEC4"/>
                </a:solidFill>
                <a:latin typeface="Consolas"/>
              </a:rPr>
              <a:t> e = </a:t>
            </a:r>
            <a:r>
              <a:rPr sz="1800" dirty="0" err="1">
                <a:solidFill>
                  <a:srgbClr val="BCBEC4"/>
                </a:solidFill>
                <a:latin typeface="Consolas"/>
              </a:rPr>
              <a:t>LocalDate.</a:t>
            </a:r>
            <a:r>
              <a:rPr sz="1800" dirty="0" err="1">
                <a:solidFill>
                  <a:srgbClr val="56A8F5"/>
                </a:solidFill>
                <a:latin typeface="Consolas"/>
              </a:rPr>
              <a:t>parse</a:t>
            </a:r>
            <a:r>
              <a:rPr sz="1800" dirty="0">
                <a:solidFill>
                  <a:srgbClr val="BCBEC4"/>
                </a:solidFill>
                <a:latin typeface="Consolas"/>
              </a:rPr>
              <a:t>(</a:t>
            </a:r>
            <a:r>
              <a:rPr sz="1800" dirty="0">
                <a:solidFill>
                  <a:srgbClr val="6AAB73"/>
                </a:solidFill>
                <a:latin typeface="Consolas"/>
              </a:rPr>
              <a:t>"19-01-2027"</a:t>
            </a:r>
            <a:r>
              <a:rPr sz="1800" dirty="0">
                <a:solidFill>
                  <a:srgbClr val="BCBEC4"/>
                </a:solidFill>
                <a:latin typeface="Consolas"/>
              </a:rPr>
              <a:t>, </a:t>
            </a:r>
            <a:r>
              <a:rPr sz="1800" dirty="0" err="1">
                <a:solidFill>
                  <a:srgbClr val="BCBEC4"/>
                </a:solidFill>
                <a:latin typeface="Consolas"/>
              </a:rPr>
              <a:t>fr</a:t>
            </a:r>
            <a:r>
              <a:rPr sz="1800" dirty="0">
                <a:solidFill>
                  <a:srgbClr val="BCBEC4"/>
                </a:solidFill>
                <a:latin typeface="Consolas"/>
              </a:rPr>
              <a:t>);   </a:t>
            </a:r>
            <a:r>
              <a:rPr sz="1800" dirty="0">
                <a:solidFill>
                  <a:srgbClr val="7A7E85"/>
                </a:solidFill>
                <a:latin typeface="Consolas"/>
              </a:rPr>
              <a:t>// exception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6" name="TextBox 5"/>
          <p:cNvSpPr txBox="1"/>
          <p:nvPr/>
        </p:nvSpPr>
        <p:spPr>
          <a:xfrm>
            <a:off x="640080" y="2651760"/>
            <a:ext cx="9326880" cy="822960"/>
          </a:xfrm>
          <a:prstGeom prst="rect">
            <a:avLst/>
          </a:prstGeom>
          <a:noFill/>
        </p:spPr>
        <p:txBody>
          <a:bodyPr wrap="square">
            <a:spAutoFit/>
          </a:bodyPr>
          <a:lstStyle/>
          <a:p>
            <a:r>
              <a:rPr sz="1800"/>
              <a:t>Analysez </a:t>
            </a:r>
            <a:r>
              <a:rPr sz="1500">
                <a:solidFill>
                  <a:schemeClr val="accent4"/>
                </a:solidFill>
                <a:latin typeface="Consolas"/>
              </a:rPr>
              <a:t>"31/02/2027"</a:t>
            </a:r>
            <a:r>
              <a:rPr sz="1800"/>
              <a:t> et regardez ce que vous obtenez</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Formater et analyser une date</a:t>
            </a:r>
          </a:p>
          <a:p>
            <a:r>
              <a:rPr sz="1400">
                <a:solidFill>
                  <a:srgbClr val="BCBEC4"/>
                </a:solidFill>
              </a:rPr>
              <a:t>fascicule TMP</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Retour </a:t>
            </a:r>
            <a:r>
              <a:rPr lang="nl-BE" sz="4000" dirty="0"/>
              <a:t>-</a:t>
            </a:r>
            <a:r>
              <a:rPr sz="4000" dirty="0"/>
              <a:t> </a:t>
            </a:r>
            <a:r>
              <a:rPr sz="4000" dirty="0" err="1"/>
              <a:t>l'indulgence</a:t>
            </a:r>
            <a:r>
              <a:rPr sz="4000" dirty="0"/>
              <a:t> </a:t>
            </a:r>
            <a:r>
              <a:rPr sz="4000" dirty="0" err="1"/>
              <a:t>silencieuse</a:t>
            </a:r>
            <a:endParaRPr sz="4000" dirty="0"/>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dirty="0" err="1"/>
              <a:t>L'appel</a:t>
            </a:r>
            <a:r>
              <a:rPr sz="2800" dirty="0"/>
              <a:t> </a:t>
            </a:r>
            <a:r>
              <a:rPr sz="2400" dirty="0">
                <a:solidFill>
                  <a:schemeClr val="accent4"/>
                </a:solidFill>
                <a:latin typeface="Consolas"/>
              </a:rPr>
              <a:t>parse("31/02/2027")</a:t>
            </a:r>
            <a:r>
              <a:rPr sz="2800" dirty="0"/>
              <a:t> </a:t>
            </a:r>
            <a:r>
              <a:rPr sz="2800" dirty="0" err="1"/>
              <a:t>retourne</a:t>
            </a:r>
            <a:r>
              <a:rPr sz="2800" dirty="0"/>
              <a:t> </a:t>
            </a:r>
            <a:r>
              <a:rPr sz="2400" dirty="0">
                <a:solidFill>
                  <a:schemeClr val="accent4"/>
                </a:solidFill>
                <a:latin typeface="Consolas"/>
              </a:rPr>
              <a:t>2027-02-28</a:t>
            </a:r>
            <a:r>
              <a:rPr sz="2800" dirty="0"/>
              <a:t>, sans rien signaler</a:t>
            </a:r>
          </a:p>
          <a:p>
            <a:pPr>
              <a:spcAft>
                <a:spcPts val="1000"/>
              </a:spcAft>
            </a:pPr>
            <a:r>
              <a:rPr sz="2800" dirty="0"/>
              <a:t>Mode par </a:t>
            </a:r>
            <a:r>
              <a:rPr sz="2800" dirty="0" err="1"/>
              <a:t>défaut</a:t>
            </a:r>
            <a:r>
              <a:rPr sz="2800" dirty="0"/>
              <a:t> : indulgent, il </a:t>
            </a:r>
            <a:r>
              <a:rPr sz="2800" dirty="0" err="1"/>
              <a:t>rabote</a:t>
            </a:r>
            <a:endParaRPr sz="2800" dirty="0"/>
          </a:p>
          <a:p>
            <a:pPr>
              <a:spcAft>
                <a:spcPts val="1000"/>
              </a:spcAft>
            </a:pPr>
            <a:r>
              <a:rPr sz="2800" dirty="0"/>
              <a:t>La </a:t>
            </a:r>
            <a:r>
              <a:rPr sz="2800" dirty="0" err="1"/>
              <a:t>méthode</a:t>
            </a:r>
            <a:r>
              <a:rPr sz="2800" dirty="0"/>
              <a:t> </a:t>
            </a:r>
            <a:r>
              <a:rPr sz="2400" dirty="0" err="1">
                <a:solidFill>
                  <a:schemeClr val="accent4"/>
                </a:solidFill>
                <a:latin typeface="Consolas"/>
              </a:rPr>
              <a:t>withResolverStyle</a:t>
            </a:r>
            <a:r>
              <a:rPr sz="2400" dirty="0">
                <a:solidFill>
                  <a:schemeClr val="accent4"/>
                </a:solidFill>
                <a:latin typeface="Consolas"/>
              </a:rPr>
              <a:t>(STRICT)</a:t>
            </a:r>
            <a:r>
              <a:rPr sz="2800" dirty="0"/>
              <a:t> refuse - et réclame </a:t>
            </a:r>
            <a:r>
              <a:rPr sz="2400" dirty="0" err="1">
                <a:solidFill>
                  <a:schemeClr val="accent4"/>
                </a:solidFill>
                <a:latin typeface="Consolas"/>
              </a:rPr>
              <a:t>uuuu</a:t>
            </a:r>
            <a:r>
              <a:rPr sz="2800" dirty="0"/>
              <a:t> au lieu de </a:t>
            </a:r>
            <a:r>
              <a:rPr sz="2400" dirty="0" err="1">
                <a:solidFill>
                  <a:schemeClr val="accent4"/>
                </a:solidFill>
                <a:latin typeface="Consolas"/>
              </a:rPr>
              <a:t>yyyy</a:t>
            </a:r>
            <a:endParaRPr sz="2400" dirty="0">
              <a:solidFill>
                <a:schemeClr val="accent4"/>
              </a:solidFill>
              <a:latin typeface="Consolas"/>
            </a:endParaRPr>
          </a:p>
          <a:p>
            <a:pPr>
              <a:spcAft>
                <a:spcPts val="1000"/>
              </a:spcAft>
            </a:pPr>
            <a:r>
              <a:rPr sz="2800" dirty="0" err="1"/>
              <a:t>Mieux</a:t>
            </a:r>
            <a:r>
              <a:rPr sz="2800" dirty="0"/>
              <a:t> </a:t>
            </a:r>
            <a:r>
              <a:rPr sz="2800" dirty="0" err="1"/>
              <a:t>vaut</a:t>
            </a:r>
            <a:r>
              <a:rPr sz="2800" dirty="0"/>
              <a:t> </a:t>
            </a:r>
            <a:r>
              <a:rPr sz="2800" dirty="0" err="1"/>
              <a:t>une</a:t>
            </a:r>
            <a:r>
              <a:rPr sz="2800" dirty="0"/>
              <a:t> exception </a:t>
            </a:r>
            <a:r>
              <a:rPr sz="2800" dirty="0" err="1"/>
              <a:t>qu'une</a:t>
            </a:r>
            <a:r>
              <a:rPr sz="2800" dirty="0"/>
              <a:t> </a:t>
            </a:r>
            <a:r>
              <a:rPr sz="2800" dirty="0" err="1"/>
              <a:t>valeur</a:t>
            </a:r>
            <a:r>
              <a:rPr sz="2800" dirty="0"/>
              <a:t> </a:t>
            </a:r>
            <a:r>
              <a:rPr sz="2800" dirty="0" err="1"/>
              <a:t>arrangée</a:t>
            </a:r>
            <a:r>
              <a:rPr sz="2800" dirty="0"/>
              <a:t> - </a:t>
            </a:r>
            <a:r>
              <a:rPr sz="2800" b="1" dirty="0"/>
              <a:t>CC-ERR.1</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qu'il faut retenir</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Trois classes : </a:t>
            </a:r>
            <a:r>
              <a:rPr sz="2400">
                <a:solidFill>
                  <a:schemeClr val="accent4"/>
                </a:solidFill>
                <a:latin typeface="Consolas"/>
              </a:rPr>
              <a:t>LocalDate</a:t>
            </a:r>
            <a:r>
              <a:rPr sz="2800"/>
              <a:t>, </a:t>
            </a:r>
            <a:r>
              <a:rPr sz="2400">
                <a:solidFill>
                  <a:schemeClr val="accent4"/>
                </a:solidFill>
                <a:latin typeface="Consolas"/>
              </a:rPr>
              <a:t>LocalTime</a:t>
            </a:r>
            <a:r>
              <a:rPr sz="2800"/>
              <a:t>, </a:t>
            </a:r>
            <a:r>
              <a:rPr sz="2400">
                <a:solidFill>
                  <a:schemeClr val="accent4"/>
                </a:solidFill>
                <a:latin typeface="Consolas"/>
              </a:rPr>
              <a:t>LocalDateTime</a:t>
            </a:r>
          </a:p>
          <a:p>
            <a:pPr>
              <a:spcAft>
                <a:spcPts val="1000"/>
              </a:spcAft>
            </a:pPr>
            <a:r>
              <a:rPr sz="2800"/>
              <a:t>Une date est </a:t>
            </a:r>
            <a:r>
              <a:rPr sz="2800" b="1"/>
              <a:t>immuable</a:t>
            </a:r>
            <a:r>
              <a:rPr sz="2800"/>
              <a:t> : les méthodes retournent, elles ne modifient pas</a:t>
            </a:r>
          </a:p>
          <a:p>
            <a:pPr>
              <a:spcAft>
                <a:spcPts val="1000"/>
              </a:spcAft>
            </a:pPr>
            <a:r>
              <a:rPr sz="2800"/>
              <a:t>Une date n'est pas un instant</a:t>
            </a:r>
          </a:p>
          <a:p>
            <a:pPr>
              <a:spcAft>
                <a:spcPts val="1000"/>
              </a:spcAft>
            </a:pPr>
            <a:r>
              <a:rPr sz="2800"/>
              <a:t>Utilisez </a:t>
            </a:r>
            <a:r>
              <a:rPr sz="2400">
                <a:solidFill>
                  <a:schemeClr val="accent4"/>
                </a:solidFill>
                <a:latin typeface="Consolas"/>
              </a:rPr>
              <a:t>Period</a:t>
            </a:r>
            <a:r>
              <a:rPr sz="2800"/>
              <a:t> pour des dates, </a:t>
            </a:r>
            <a:r>
              <a:rPr sz="2400">
                <a:solidFill>
                  <a:schemeClr val="accent4"/>
                </a:solidFill>
                <a:latin typeface="Consolas"/>
              </a:rPr>
              <a:t>Duration</a:t>
            </a:r>
            <a:r>
              <a:rPr sz="2800"/>
              <a:t> pour des heures</a:t>
            </a:r>
          </a:p>
          <a:p>
            <a:pPr>
              <a:spcAft>
                <a:spcPts val="1000"/>
              </a:spcAft>
            </a:pPr>
            <a:r>
              <a:rPr sz="2800"/>
              <a:t>La méthode </a:t>
            </a:r>
            <a:r>
              <a:rPr sz="2400">
                <a:solidFill>
                  <a:schemeClr val="accent4"/>
                </a:solidFill>
                <a:latin typeface="Consolas"/>
              </a:rPr>
              <a:t>String.format</a:t>
            </a:r>
            <a:r>
              <a:rPr sz="2800"/>
              <a:t> se teste, </a:t>
            </a:r>
            <a:r>
              <a:rPr sz="2400">
                <a:solidFill>
                  <a:schemeClr val="accent4"/>
                </a:solidFill>
                <a:latin typeface="Consolas"/>
              </a:rPr>
              <a:t>printf</a:t>
            </a:r>
            <a:r>
              <a:rPr sz="2800"/>
              <a:t> non</a:t>
            </a:r>
          </a:p>
          <a:p>
            <a:pPr>
              <a:spcAft>
                <a:spcPts val="1000"/>
              </a:spcAft>
            </a:pPr>
            <a:r>
              <a:rPr sz="2800"/>
              <a:t>Précisez la locale, et choisissez le mode strict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115091</TotalTime>
  <Words>5418</Words>
  <Application>Microsoft Macintosh PowerPoint</Application>
  <PresentationFormat>Grand écran</PresentationFormat>
  <Paragraphs>448</Paragraphs>
  <Slides>48</Slides>
  <Notes>48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48</vt:i4>
      </vt:variant>
    </vt:vector>
  </HeadingPairs>
  <TitlesOfParts>
    <vt:vector size="54" baseType="lpstr">
      <vt:lpstr>Aptos</vt:lpstr>
      <vt:lpstr>Arial</vt:lpstr>
      <vt:lpstr>Calibri</vt:lpstr>
      <vt:lpstr>Consolas</vt:lpstr>
      <vt:lpstr>Corbel</vt:lpstr>
      <vt:lpstr>ThemeEphec2022</vt:lpstr>
      <vt:lpstr>JAVA 2</vt:lpstr>
      <vt:lpstr>Au programme</vt:lpstr>
      <vt:lpstr>Présentation PowerPoint</vt:lpstr>
      <vt:lpstr>Une date, c'est plus compliqué qu'il n'y paraît</vt:lpstr>
      <vt:lpstr>Les trois classes du quotidien</vt:lpstr>
      <vt:lpstr>Laquelle choisir ?</vt:lpstr>
      <vt:lpstr>Tout est dans le JDK</vt:lpstr>
      <vt:lpstr>Fabriquer une date</vt:lpstr>
      <vt:lpstr>Lire un morceau de date</vt:lpstr>
      <vt:lpstr>Comparer deux dates</vt:lpstr>
      <vt:lpstr>Quelques exemples avec LocalDate</vt:lpstr>
      <vt:lpstr>L'heure seule</vt:lpstr>
      <vt:lpstr>Quelques exemples avec LocalTime</vt:lpstr>
      <vt:lpstr>Les deux à la fois</vt:lpstr>
      <vt:lpstr>Démonstration</vt:lpstr>
      <vt:lpstr>Présentation PowerPoint</vt:lpstr>
      <vt:lpstr>ChronoUnit, l'unité de mesure</vt:lpstr>
      <vt:lpstr>Deux pièges de comptage</vt:lpstr>
      <vt:lpstr>Exercices</vt:lpstr>
      <vt:lpstr>Présentation PowerPoint</vt:lpstr>
      <vt:lpstr>Décaler une date</vt:lpstr>
      <vt:lpstr>Exercices</vt:lpstr>
      <vt:lpstr>Retour sur « Décaler une date »</vt:lpstr>
      <vt:lpstr>Présentation PowerPoint</vt:lpstr>
      <vt:lpstr>println et print</vt:lpstr>
      <vt:lpstr>printf : un gabarit et des valeurs</vt:lpstr>
      <vt:lpstr>Les gabarits utiles</vt:lpstr>
      <vt:lpstr>La locale décide du séparateur</vt:lpstr>
      <vt:lpstr>String.format, la version testable</vt:lpstr>
      <vt:lpstr>Présentation PowerPoint</vt:lpstr>
      <vt:lpstr>Ce que LocalDate ne contient pas</vt:lpstr>
      <vt:lpstr>Exercices</vt:lpstr>
      <vt:lpstr>Retour sur « Ce que LocalDate ne contient pas »</vt:lpstr>
      <vt:lpstr>Présentation PowerPoint</vt:lpstr>
      <vt:lpstr>Ajouter des mois</vt:lpstr>
      <vt:lpstr>Exercices</vt:lpstr>
      <vt:lpstr>Retour sur « Ajouter des mois »</vt:lpstr>
      <vt:lpstr>Présentation PowerPoint</vt:lpstr>
      <vt:lpstr>Period, les unités du calendrier</vt:lpstr>
      <vt:lpstr>Duration, les unités de l’horloge</vt:lpstr>
      <vt:lpstr>Exercices</vt:lpstr>
      <vt:lpstr>Retour sur « Duration, les unités de l’horloge »</vt:lpstr>
      <vt:lpstr>Présentation PowerPoint</vt:lpstr>
      <vt:lpstr>De la date vers le texte</vt:lpstr>
      <vt:lpstr>Du texte vers la date</vt:lpstr>
      <vt:lpstr>Exercices</vt:lpstr>
      <vt:lpstr>Retour - l'indulgence silencieuse</vt:lpstr>
      <vt:lpstr>Ce qu'il faut retenir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38</cp:revision>
  <dcterms:created xsi:type="dcterms:W3CDTF">2023-01-04T13:50:20Z</dcterms:created>
  <dcterms:modified xsi:type="dcterms:W3CDTF">2026-10-13T15:15:20Z</dcterms:modified>
</cp:coreProperties>
</file>