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42"/>
  </p:notesMasterIdLst>
  <p:handoutMasterIdLst>
    <p:handoutMasterId r:id="rId43"/>
  </p:handoutMasterIdLst>
  <p:sldIdLst>
    <p:sldId id="614" r:id="rId2"/>
    <p:sldId id="651" r:id="rId3"/>
    <p:sldId id="615" r:id="rId4"/>
    <p:sldId id="616" r:id="rId5"/>
    <p:sldId id="617" r:id="rId6"/>
    <p:sldId id="618" r:id="rId7"/>
    <p:sldId id="619" r:id="rId8"/>
    <p:sldId id="620" r:id="rId9"/>
    <p:sldId id="621" r:id="rId10"/>
    <p:sldId id="622" r:id="rId11"/>
    <p:sldId id="623" r:id="rId12"/>
    <p:sldId id="624" r:id="rId13"/>
    <p:sldId id="625" r:id="rId14"/>
    <p:sldId id="626" r:id="rId15"/>
    <p:sldId id="627" r:id="rId16"/>
    <p:sldId id="628" r:id="rId17"/>
    <p:sldId id="629" r:id="rId18"/>
    <p:sldId id="630" r:id="rId19"/>
    <p:sldId id="631" r:id="rId20"/>
    <p:sldId id="632" r:id="rId21"/>
    <p:sldId id="633" r:id="rId22"/>
    <p:sldId id="634" r:id="rId23"/>
    <p:sldId id="635" r:id="rId24"/>
    <p:sldId id="636" r:id="rId25"/>
    <p:sldId id="652" r:id="rId26"/>
    <p:sldId id="653" r:id="rId27"/>
    <p:sldId id="637" r:id="rId28"/>
    <p:sldId id="638" r:id="rId29"/>
    <p:sldId id="639" r:id="rId30"/>
    <p:sldId id="640" r:id="rId31"/>
    <p:sldId id="641" r:id="rId32"/>
    <p:sldId id="642" r:id="rId33"/>
    <p:sldId id="643" r:id="rId34"/>
    <p:sldId id="644" r:id="rId35"/>
    <p:sldId id="645" r:id="rId36"/>
    <p:sldId id="646" r:id="rId37"/>
    <p:sldId id="647" r:id="rId38"/>
    <p:sldId id="648" r:id="rId39"/>
    <p:sldId id="649" r:id="rId40"/>
    <p:sldId id="650" r:id="rId4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D6C8EE08-A157-5993-838B-99EAB3B88EC6}">
          <p14:sldIdLst>
            <p14:sldId id="614"/>
            <p14:sldId id="651"/>
          </p14:sldIdLst>
        </p14:section>
        <p14:section name="1. Des valeurs qui se comptent" id="{93F95747-5967-5FF3-8828-AFE8F0D0181E}">
          <p14:sldIdLst>
            <p14:sldId id="615"/>
            <p14:sldId id="616"/>
            <p14:sldId id="617"/>
          </p14:sldIdLst>
        </p14:section>
        <p14:section name="2. Déclarer une énumération" id="{316AAE0B-7E96-5881-B323-50F3D83E4357}">
          <p14:sldIdLst>
            <p14:sldId id="618"/>
            <p14:sldId id="619"/>
            <p14:sldId id="620"/>
            <p14:sldId id="621"/>
          </p14:sldIdLst>
        </p14:section>
        <p14:section name="3. L'ordre porte l'information" id="{24D42F1B-F1A1-587F-9577-50A13A0B3520}">
          <p14:sldIdLst>
            <p14:sldId id="622"/>
            <p14:sldId id="623"/>
            <p14:sldId id="624"/>
            <p14:sldId id="625"/>
            <p14:sldId id="626"/>
          </p14:sldIdLst>
        </p14:section>
        <p14:section name="4. Comparer et aiguiller" id="{EB5D8949-F66F-5A4F-B7B7-A7B469D03406}">
          <p14:sldIdLst>
            <p14:sldId id="627"/>
            <p14:sldId id="628"/>
            <p14:sldId id="629"/>
            <p14:sldId id="630"/>
            <p14:sldId id="631"/>
            <p14:sldId id="632"/>
            <p14:sldId id="633"/>
          </p14:sldIdLst>
        </p14:section>
        <p14:section name="5. Une enum est une classe" id="{1EBEA6B2-CF9A-5565-AC7F-254A847FEE93}">
          <p14:sldIdLst>
            <p14:sldId id="634"/>
            <p14:sldId id="635"/>
            <p14:sldId id="636"/>
            <p14:sldId id="652"/>
            <p14:sldId id="653"/>
            <p14:sldId id="637"/>
          </p14:sldIdLst>
        </p14:section>
        <p14:section name="6. Random et StringJoiner" id="{73CB757E-3199-56E8-83DC-07C12BA27D18}">
          <p14:sldIdLst>
            <p14:sldId id="638"/>
            <p14:sldId id="639"/>
            <p14:sldId id="640"/>
            <p14:sldId id="641"/>
          </p14:sldIdLst>
        </p14:section>
        <p14:section name="7. Les records" id="{26271AB2-3057-5E54-8E87-8FD747C257A6}">
          <p14:sldIdLst>
            <p14:sldId id="642"/>
            <p14:sldId id="643"/>
            <p14:sldId id="644"/>
            <p14:sldId id="645"/>
            <p14:sldId id="646"/>
            <p14:sldId id="647"/>
            <p14:sldId id="648"/>
            <p14:sldId id="649"/>
            <p14:sldId id="650"/>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000"/>
    <a:srgbClr val="1D1F22"/>
    <a:srgbClr val="38FF4F"/>
    <a:srgbClr val="FFDF8B"/>
    <a:srgbClr val="802C31"/>
    <a:srgbClr val="AE6B68"/>
    <a:srgbClr val="9A5239"/>
    <a:srgbClr val="6DC3FB"/>
    <a:srgbClr val="0675AE"/>
    <a:srgbClr val="2868A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521"/>
    <p:restoredTop sz="84932"/>
  </p:normalViewPr>
  <p:slideViewPr>
    <p:cSldViewPr snapToGrid="0">
      <p:cViewPr varScale="1">
        <p:scale>
          <a:sx n="107" d="100"/>
          <a:sy n="107" d="100"/>
        </p:scale>
        <p:origin x="1920" y="168"/>
      </p:cViewPr>
      <p:guideLst/>
    </p:cSldViewPr>
  </p:slideViewPr>
  <p:notesTextViewPr>
    <p:cViewPr>
      <p:scale>
        <a:sx n="1" d="1"/>
        <a:sy n="1" d="1"/>
      </p:scale>
      <p:origin x="0" y="0"/>
    </p:cViewPr>
  </p:notesTextViewPr>
  <p:notesViewPr>
    <p:cSldViewPr snapToGrid="0">
      <p:cViewPr varScale="1">
        <p:scale>
          <a:sx n="97" d="100"/>
          <a:sy n="97" d="100"/>
        </p:scale>
        <p:origin x="4328" y="200"/>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handoutMaster" Target="handoutMasters/handout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DEF95896-A5CA-E0F9-6478-20C4C67B6B2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Espace réservé de la date 2">
            <a:extLst>
              <a:ext uri="{FF2B5EF4-FFF2-40B4-BE49-F238E27FC236}">
                <a16:creationId xmlns:a16="http://schemas.microsoft.com/office/drawing/2014/main" id="{B65C7378-3DCF-38D5-275F-80FB217DC74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9626FB5-9412-C54B-AA2C-289AC0CE5DB6}" type="datetimeFigureOut">
              <a:rPr lang="en-GB" smtClean="0"/>
              <a:t>13/10/2026</a:t>
            </a:fld>
            <a:endParaRPr lang="en-GB"/>
          </a:p>
        </p:txBody>
      </p:sp>
      <p:sp>
        <p:nvSpPr>
          <p:cNvPr id="4" name="Espace réservé du pied de page 3">
            <a:extLst>
              <a:ext uri="{FF2B5EF4-FFF2-40B4-BE49-F238E27FC236}">
                <a16:creationId xmlns:a16="http://schemas.microsoft.com/office/drawing/2014/main" id="{DE7A2A70-0FFB-D89E-7D51-BFA1FA869E0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Espace réservé du numéro de diapositive 4">
            <a:extLst>
              <a:ext uri="{FF2B5EF4-FFF2-40B4-BE49-F238E27FC236}">
                <a16:creationId xmlns:a16="http://schemas.microsoft.com/office/drawing/2014/main" id="{188B06B3-0B47-FD16-2A18-E70D0ABE482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69F1A8C-C0E1-EC45-8701-F9C9A0343E39}" type="slidenum">
              <a:rPr lang="en-GB" smtClean="0"/>
              <a:t>‹N°›</a:t>
            </a:fld>
            <a:endParaRPr lang="en-GB"/>
          </a:p>
        </p:txBody>
      </p:sp>
    </p:spTree>
    <p:extLst>
      <p:ext uri="{BB962C8B-B14F-4D97-AF65-F5344CB8AC3E}">
        <p14:creationId xmlns:p14="http://schemas.microsoft.com/office/powerpoint/2010/main" val="21230116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FC913C-8767-6A46-ABE4-5FB13F57A51F}" type="datetimeFigureOut">
              <a:rPr lang="fr-FR" smtClean="0"/>
              <a:t>13/10/2026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0A3CE4-6862-344E-BAF9-BD23A3F04A8C}" type="slidenum">
              <a:rPr lang="fr-FR" smtClean="0"/>
              <a:t>‹N°›</a:t>
            </a:fld>
            <a:endParaRPr lang="fr-FR"/>
          </a:p>
        </p:txBody>
      </p:sp>
    </p:spTree>
    <p:extLst>
      <p:ext uri="{BB962C8B-B14F-4D97-AF65-F5344CB8AC3E}">
        <p14:creationId xmlns:p14="http://schemas.microsoft.com/office/powerpoint/2010/main" val="3360290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 module ajoute deux formes de type au vocabulaire déjà connu. L'énumération sert quand les valeurs possibles se comptent sur les doigts : une couleur de feu, un jour de la semaine, un résultat de partie. Le record sert quand une donnée n'est qu'une donnée, sans comportement propre et sans état qui change.</a:t>
            </a:r>
          </a:p>
          <a:p>
            <a:r>
              <a:t>Les deux ont en commun de faire dire au compilateur ce qu'un commentaire disait jusqu'ici. Une énumération interdit la quatrième couleur ; un record interdit la modification après construction. Dans les deux cas, l'erreur devient impossible à écrire plutôt que pénible à retrouver.</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module compte sept sections : 1. Des valeurs qui se comptent ; 2. Déclarer une énumération ; 3. L'ordre porte l'information ; 4. Comparer et aiguiller ; 5. Une enum est une classe ; 6. Random et StringJoiner ; 7. Les records.</a:t>
            </a:r>
          </a:p>
          <a:p>
            <a:r>
              <a:t>Chaque intercalaire porte le numéro de sa section, et chaque page rappelle en bas à droite la section en cours.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première section ne parle pas encore de syntaxe. Elle pose le problème que l'énumération résout, et montre comment on s'en tirait avant : avec des constantes entières, et une discipline qui ne tient jamais.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Représenter une couleur de feu par un entier fonctionne, au sens où le programme tourne. Trois constantes bien nommées valent mieux que les nombres 0, 1 et 2 écrits en clair, et c'est déjà un progrès par rapport à ce que l'on voit souvent.</a:t>
            </a:r>
          </a:p>
          <a:p>
            <a:r>
              <a:t>Le problème est ailleurs. Le type de la variable est </a:t>
            </a:r>
            <a:r>
              <a:rPr>
                <a:latin typeface="Consolas"/>
              </a:rPr>
              <a:t>int</a:t>
            </a:r>
            <a:r>
              <a:t>, et un </a:t>
            </a:r>
            <a:r>
              <a:rPr>
                <a:latin typeface="Consolas"/>
              </a:rPr>
              <a:t>int</a:t>
            </a:r>
            <a:r>
              <a:t> accepte toutes les valeurs d'un </a:t>
            </a:r>
            <a:r>
              <a:rPr>
                <a:latin typeface="Consolas"/>
              </a:rPr>
              <a:t>int</a:t>
            </a:r>
            <a:r>
              <a:t>. La ligne qui demande la couleur 7 compile, se livre, et casse un jour chez un utilisateur. Le même défaut existe avec un </a:t>
            </a:r>
            <a:r>
              <a:rPr>
                <a:latin typeface="Consolas"/>
              </a:rPr>
              <a:t>String</a:t>
            </a:r>
            <a:r>
              <a:t> : rien ne distingue « VERT » de « vert », de « verd » ou d'un espace de trop.</a:t>
            </a:r>
          </a:p>
          <a:p>
            <a:r>
              <a:t>L'énumération déplace cette vérification : ce qui était une convention à respecter devient une règle que le compilateur applique. Voir CC-NOM.4 sur les nombres magiques et CC-NOM.7 sur les noms qui portent leur sens.</a:t>
            </a:r>
          </a:p>
          <a:p>
            <a:r>
              <a:rPr lang="fr-BE" dirty="0"/>
              <a:t>Le code complet, à exécuter : demos, classe demo.enu.slides.TroisCouleursPasUneDePlus.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Jusqu'ici, écrire du Java voulait dire écrire des classes. Il existe d'autres formes de type, et cinq d'entre elles seront vues cette année.</a:t>
            </a:r>
          </a:p>
          <a:p>
            <a:r>
              <a:t>Deux le sont dans ce module : l'énumération et le record. Les trois autres arrivent plus tard, et chacune répond à un besoin différent. Il n'y a rien à retenir de ce tableau pour l'instant, sinon que le paysage est plus large que les classes, et qu'il se découvrira morceau par morceau.</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Cette section donne la syntaxe et les cinq méthodes que toute énumération possède, sans que personne les écrive. Elle se termine sur le point qui portera toute la section suivante : l'ordre de déclaration n'est pas décoratif.</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déclaration tient sur une ligne. Le mot-clé </a:t>
            </a:r>
            <a:r>
              <a:rPr>
                <a:latin typeface="Consolas"/>
              </a:rPr>
              <a:t>enum</a:t>
            </a:r>
            <a:r>
              <a:t> prend la place de </a:t>
            </a:r>
            <a:r>
              <a:rPr>
                <a:latin typeface="Consolas"/>
              </a:rPr>
              <a:t>class</a:t>
            </a:r>
            <a:r>
              <a:t>, et la liste des valeurs possibles s'écrit entre accolades. Ces valeurs sont des constantes, et la convention veut qu'elles soient en majuscules, comme toute constante en Java.</a:t>
            </a:r>
          </a:p>
          <a:p>
            <a:r>
              <a:t>Une variable déclarée </a:t>
            </a:r>
            <a:r>
              <a:rPr>
                <a:latin typeface="Consolas"/>
              </a:rPr>
              <a:t>CouleurDeFeu</a:t>
            </a:r>
            <a:r>
              <a:t> ne peut recevoir qu'une des trois valeurs, ou </a:t>
            </a:r>
            <a:r>
              <a:rPr>
                <a:latin typeface="Consolas"/>
              </a:rPr>
              <a:t>null</a:t>
            </a:r>
            <a:r>
              <a:t>. La dernière ligne de l'exemple ne compile pas, et c'est exactement le service rendu : l'erreur se voit au moment où elle s'écrit, pas six mois plus tard.</a:t>
            </a:r>
          </a:p>
          <a:p>
            <a:r>
              <a:t>Une énumération est un type comme un autre. Elle sert de type de champ, de type de paramètre et de type de retour, et le module en verra les trois usages.</a:t>
            </a:r>
          </a:p>
          <a:p>
            <a:r>
              <a:rPr lang="fr-BE" dirty="0"/>
              <a:t>Le code complet, à exécuter : demos, classe demo.enu.slides.DeclarerUneEnumeration.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Ces cinq membres existent sur toute énumération, sans que rien soit écrit : ils viennent de la classe </a:t>
            </a:r>
            <a:r>
              <a:rPr>
                <a:latin typeface="Consolas"/>
              </a:rPr>
              <a:t>java.lang.Enum</a:t>
            </a:r>
            <a:r>
              <a:t>, dont toute énumération hérite.</a:t>
            </a:r>
          </a:p>
          <a:p>
            <a:r>
              <a:t>La méthode </a:t>
            </a:r>
            <a:r>
              <a:rPr>
                <a:latin typeface="Consolas"/>
              </a:rPr>
              <a:t>name</a:t>
            </a:r>
            <a:r>
              <a:t> retourne le nom écrit dans la déclaration, et </a:t>
            </a:r>
            <a:r>
              <a:rPr>
                <a:latin typeface="Consolas"/>
              </a:rPr>
              <a:t>toString</a:t>
            </a:r>
            <a:r>
              <a:t> fait la même chose tant qu'on ne la redéfinit pas. La méthode </a:t>
            </a:r>
            <a:r>
              <a:rPr>
                <a:latin typeface="Consolas"/>
              </a:rPr>
              <a:t>ordinal</a:t>
            </a:r>
            <a:r>
              <a:t> retourne la position, comptée à partir de zéro. La méthode </a:t>
            </a:r>
            <a:r>
              <a:rPr>
                <a:latin typeface="Consolas"/>
              </a:rPr>
              <a:t>values</a:t>
            </a:r>
            <a:r>
              <a:t> est statique : elle s'appelle sur le type, pas sur une valeur, et retourne un tableau dans l'ordre de déclaration. La méthode </a:t>
            </a:r>
            <a:r>
              <a:rPr>
                <a:latin typeface="Consolas"/>
              </a:rPr>
              <a:t>valueOf</a:t>
            </a:r>
            <a:r>
              <a:t> fait le chemin inverse, du texte vers la constante, et lève une exception si le nom est inconnu.</a:t>
            </a:r>
          </a:p>
          <a:p>
            <a:r>
              <a:t>La méthode </a:t>
            </a:r>
            <a:r>
              <a:rPr>
                <a:latin typeface="Consolas"/>
              </a:rPr>
              <a:t>compareTo</a:t>
            </a:r>
            <a:r>
              <a:t> compare deux positions. Le résultat est négatif si la première constante est déclarée avant la seconde. C'est ce qui rend une énumération triable sans effort, et c'est aussi ce qui rend l'ordre de déclaration plus lourd de conséquences qu'il n'en a l'air.</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L'ordre dans lequel les constantes sont écrites devient une donnée du programme. Les trois appels de l'exemple le montrent, et la section suivante en fera un outil de conception.</a:t>
            </a:r>
          </a:p>
          <a:p>
            <a:r>
              <a:t>Deux conséquences pratiques. D'abord, cet ordre se choisit : dans un feu de signalisation, c'est celui du cycle, et pas l'ordre alphabétique. Ensuite, il ne se modifie pas à la légère. Insérer une valeur au milieu change le résultat de </a:t>
            </a:r>
            <a:r>
              <a:rPr>
                <a:latin typeface="Consolas"/>
              </a:rPr>
              <a:t>ordinal</a:t>
            </a:r>
            <a:r>
              <a:t> pour toutes celles qui suivent, ce qui est sans effet si le code ne s'appuie que sur les noms, et lourd de conséquences s'il s'appuie sur les positions.</a:t>
            </a:r>
          </a:p>
          <a:p>
            <a:r>
              <a:t>Il faut aussi éviter d'enregistrer un </a:t>
            </a:r>
            <a:r>
              <a:rPr>
                <a:latin typeface="Consolas"/>
              </a:rPr>
              <a:t>ordinal</a:t>
            </a:r>
            <a:r>
              <a:t> dans un fichier ou une base de données. Le nom, retourné par </a:t>
            </a:r>
            <a:r>
              <a:rPr>
                <a:latin typeface="Consolas"/>
              </a:rPr>
              <a:t>name</a:t>
            </a:r>
            <a:r>
              <a:t>, est stable ; la position ne l'est pas. Cela ressortira au module FIC.</a:t>
            </a:r>
          </a:p>
          <a:p>
            <a:r>
              <a:rPr lang="fr-BE" dirty="0"/>
              <a:t>Le code complet, à exécuter : demos, classe demo.enu.slides.DeclarerUneEnumeration.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cœur du module, et la raison pour laquelle ENU.1 ne se réduit pas à une question de syntaxe. Une énumération ne remplace pas seulement des constantes : elle peut porter une partie de la logique, et faire disparaître des conditions.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démonstration part d'un lecteur de musique dont le bouton enchaîne trois modes de lecture, avec trois conditions. Un quatrième mode est ajouté à l'énumération, et le lecteur ne l'atteint jamais : le compilateur n'a rien dit, et le comportement est faux.</a:t>
            </a:r>
          </a:p>
          <a:p>
            <a:r>
              <a:t>La méthode est ensuite réécrite en deux lignes, à partir de </a:t>
            </a:r>
            <a:r>
              <a:rPr>
                <a:latin typeface="Consolas"/>
              </a:rPr>
              <a:t>values</a:t>
            </a:r>
            <a:r>
              <a:t> et de </a:t>
            </a:r>
            <a:r>
              <a:rPr>
                <a:latin typeface="Consolas"/>
              </a:rPr>
              <a:t>ordinal</a:t>
            </a:r>
            <a:r>
              <a:t>. Le cinquième mode ajouté ensuite fonctionne sans que rien d'autre soit touché.</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Deux lignes remplacent la cascade de conditions. Le tableau retourné par </a:t>
            </a:r>
            <a:r>
              <a:rPr>
                <a:latin typeface="Consolas"/>
              </a:rPr>
              <a:t>values</a:t>
            </a:r>
            <a:r>
              <a:t> contient les constantes dans l'ordre de déclaration, donc dans l'ordre du cycle. Ajouter un à la position courante donne la suivante, et le reste de la division par la longueur du tableau ramène à zéro quand on dépasse la fin.</a:t>
            </a:r>
          </a:p>
          <a:p>
            <a:r>
              <a:t>Le nombre de couleurs n'apparaît nulle part. C'est </a:t>
            </a:r>
            <a:r>
              <a:rPr>
                <a:latin typeface="Consolas"/>
              </a:rPr>
              <a:t>cycle.length</a:t>
            </a:r>
            <a:r>
              <a:t> qui le donne, et il suit la déclaration quoi qu'il arrive.</a:t>
            </a:r>
          </a:p>
          <a:p>
            <a:r>
              <a:t>Les parenthèses autour de l'addition sont indispensables. Sans elles, le modulo s'applique d'abord au 1, ce qui donne toujours la position courante augmentée de zéro : le code compile, ne produit aucun avertissement, et le feu reste bloqué sur sa première couleur. Ce genre de faute est le plus coûteux qui soit, parce que rien ne le signale. Un test l'attrape immédiatement.</a:t>
            </a:r>
          </a:p>
          <a:p>
            <a:r>
              <a:rPr lang="fr-BE" dirty="0"/>
              <a:t>Le code complet, à exécuter : demos, classe demo.enu.slides.DeclarerUneEnumeration.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gain n'est pas la longueur du code. Deux lignes au lieu de six, ce serait une économie sans intérêt. Le gain est que ce qui change souvent — la liste des valeurs — ne se change plus qu'à un seul endroit. C'est le critère de CC-CLS.4 : une conception se juge à ce qu'elle exige quand le besoin bouge.</a:t>
            </a:r>
          </a:p>
          <a:p>
            <a:r>
              <a:t>La contrepartie est réelle et il faut la nommer. En s'appuyant sur l'ordre, le code devient dépendant d'une information qui ne se lit pas dans la méthode, mais dans la déclaration de l'énumération. Quelqu'un qui réordonne les constantes par souci de propreté casse le cycle sans le savoir. La Javadoc de l'énumération doit donc dire que l'ordre est celui du cycle et qu'il ne se modifie pas. Voir CC-COM.3 : un commentaire utile dit ce que le code ne peut pas dire.</a:t>
            </a:r>
          </a:p>
          <a:p>
            <a:r>
              <a:t>Voir aussi CC-MET.2 sur les méthodes courtes : </a:t>
            </a:r>
            <a:r>
              <a:rPr>
                <a:latin typeface="Consolas"/>
              </a:rPr>
              <a:t>changeDeCouleur</a:t>
            </a:r>
            <a:r>
              <a:t> tient désormais en deux lignes, et se lit d'un coup d'œil.</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premier exercice du thème demande explicitement les deux versions : celle avec des conditions, et celle sans. La comparaison ne vaut que si les deux sont écrites.</a:t>
            </a:r>
          </a:p>
          <a:p>
            <a:r>
              <a:t>L'énoncé ajoute une question de conception qui n'a rien à voir avec les énumérations : le constructeur doit placer le feu dans le même état que </a:t>
            </a:r>
            <a:r>
              <a:rPr>
                <a:latin typeface="Consolas"/>
              </a:rPr>
              <a:t>desactive</a:t>
            </a:r>
            <a:r>
              <a:t>, et il vaut mieux appeler la méthode que recopier ses instructions.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Cette section installe le </a:t>
            </a:r>
            <a:r>
              <a:rPr>
                <a:latin typeface="Consolas"/>
              </a:rPr>
              <a:t>switch</a:t>
            </a:r>
            <a:r>
              <a:t>, dans ses trois formes. Il resservira tout au long de l'année, et une énumération est le meilleur endroit pour l'apprendre, parce que c'est là que le compilateur peut vérifier qu'aucun cas n'a été oublié.</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Sur les énumérations, </a:t>
            </a:r>
            <a:r>
              <a:rPr>
                <a:latin typeface="Consolas"/>
              </a:rPr>
              <a:t>==</a:t>
            </a:r>
            <a:r>
              <a:t> fait ce qu'on attend. La raison tient à la nature des constantes : chacune est créée une seule fois, au chargement de la classe, et toute variable qui vaut </a:t>
            </a:r>
            <a:r>
              <a:rPr>
                <a:latin typeface="Consolas"/>
              </a:rPr>
              <a:t>ROUGE</a:t>
            </a:r>
            <a:r>
              <a:t> désigne exactement le même objet. Comparer les références revient donc à comparer les valeurs.</a:t>
            </a:r>
          </a:p>
          <a:p>
            <a:r>
              <a:t>C'est une exception notable. Sur les </a:t>
            </a:r>
            <a:r>
              <a:rPr>
                <a:latin typeface="Consolas"/>
              </a:rPr>
              <a:t>String</a:t>
            </a:r>
            <a:r>
              <a:t> et sur les objets en général, </a:t>
            </a:r>
            <a:r>
              <a:rPr>
                <a:latin typeface="Consolas"/>
              </a:rPr>
              <a:t>==</a:t>
            </a:r>
            <a:r>
              <a:t> compare les références et donne des surprises ; sur les énumérations, il est à la fois correct et préférable, parce qu'il ne lève pas d'exception si la variable vaut </a:t>
            </a:r>
            <a:r>
              <a:rPr>
                <a:latin typeface="Consolas"/>
              </a:rPr>
              <a:t>null</a:t>
            </a:r>
            <a:r>
              <a:t>.</a:t>
            </a:r>
          </a:p>
          <a:p>
            <a:r>
              <a:rPr lang="fr-BE" dirty="0"/>
              <a:t>Le code complet, à exécuter : demos, classe demo.enu.slides.DeclarerUneEnumeration.</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C'est la forme héritée du C, et celle que vous rencontrerez dans le code existant. Le </a:t>
            </a:r>
            <a:r>
              <a:rPr>
                <a:latin typeface="Consolas"/>
              </a:rPr>
              <a:t>switch</a:t>
            </a:r>
            <a:r>
              <a:t> évalue une expression, puis saute à l'étiquette correspondante et exécute tout ce qui suit jusqu'au premier </a:t>
            </a:r>
            <a:r>
              <a:rPr>
                <a:latin typeface="Consolas"/>
              </a:rPr>
              <a:t>break</a:t>
            </a:r>
            <a:r>
              <a:t>.</a:t>
            </a:r>
          </a:p>
          <a:p>
            <a:r>
              <a:t>Sur une énumération, les étiquettes ne se préfixent pas du nom du type : on écrit </a:t>
            </a:r>
            <a:r>
              <a:rPr>
                <a:latin typeface="Consolas"/>
              </a:rPr>
              <a:t>SAMEDI</a:t>
            </a:r>
            <a:r>
              <a:t> et non </a:t>
            </a:r>
            <a:r>
              <a:rPr>
                <a:latin typeface="Consolas"/>
              </a:rPr>
              <a:t>Jour.SAMEDI</a:t>
            </a:r>
            <a:r>
              <a:t>, parce que le type est déjà connu par l'expression du </a:t>
            </a:r>
            <a:r>
              <a:rPr>
                <a:latin typeface="Consolas"/>
              </a:rPr>
              <a:t>switch</a:t>
            </a:r>
            <a:r>
              <a:t>.</a:t>
            </a:r>
          </a:p>
          <a:p>
            <a:r>
              <a:t>L'enchaînement d'un cas sur le suivant est parfois voulu, comme ici pour traiter le samedi et le dimanche ensemble. Il est bien plus souvent accidentel, et c'est pourquoi Java a fini par proposer autre chose.</a:t>
            </a:r>
          </a:p>
          <a:p>
            <a:r>
              <a:rPr lang="fr-BE" dirty="0"/>
              <a:t>Le code complet, à exécuter : demos, classe demo.enu.slides.Aiguiller.</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Cette forme est arrivée avec Java 14 et c'est celle à écrire aujourd'hui. Elle dit la même chose que la précédente, en supprimant la cause d'erreur : il n'y a plus d'enchaînement, donc plus de </a:t>
            </a:r>
            <a:r>
              <a:rPr>
                <a:latin typeface="Consolas"/>
              </a:rPr>
              <a:t>break</a:t>
            </a:r>
            <a:r>
              <a:t> à oublier.</a:t>
            </a:r>
          </a:p>
          <a:p>
            <a:r>
              <a:t>Quand une branche demande plusieurs instructions, on ouvre des accolades après la flèche. Les étiquettes qui partagent un traitement se regroupent sur une même ligne, séparées par des virgules.</a:t>
            </a:r>
          </a:p>
          <a:p>
            <a:r>
              <a:rPr lang="fr-BE" dirty="0"/>
              <a:t>Le code complet, à exécuter : demos, classe demo.enu.slides.Aiguiller.</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 </a:t>
            </a:r>
            <a:r>
              <a:rPr>
                <a:latin typeface="Consolas"/>
              </a:rPr>
              <a:t>switch</a:t>
            </a:r>
            <a:r>
              <a:t> peut produire une valeur au lieu d'exécuter des instructions. Il s'utilise alors comme n'importe quelle expression, à droite d'une affectation ou dans un </a:t>
            </a:r>
            <a:r>
              <a:rPr>
                <a:latin typeface="Consolas"/>
              </a:rPr>
              <a:t>return</a:t>
            </a:r>
            <a:r>
              <a:t>. Le point-virgule après l'accolade fermante est facile à oublier, et le compilateur le signale clairement.</a:t>
            </a:r>
          </a:p>
          <a:p>
            <a:r>
              <a:t>Cette forme mérite d'être préférée dès qu'il s'agit de choisir une valeur. La variable </a:t>
            </a:r>
            <a:r>
              <a:rPr>
                <a:latin typeface="Consolas"/>
              </a:rPr>
              <a:t>message</a:t>
            </a:r>
            <a:r>
              <a:t> reçoit sa valeur une fois pour toutes, ce qui élimine le cas où une branche oublie de l'affecter.</a:t>
            </a:r>
          </a:p>
          <a:p>
            <a:r>
              <a:t>Quand une branche a besoin de plusieurs lignes, elle s'écrit entre accolades et fournit sa valeur avec </a:t>
            </a:r>
            <a:r>
              <a:rPr>
                <a:latin typeface="Consolas"/>
              </a:rPr>
              <a:t>yield</a:t>
            </a:r>
            <a:r>
              <a:t>. C'est le seul endroit du langage où ce mot-clé apparaît.</a:t>
            </a:r>
          </a:p>
          <a:p>
            <a:r>
              <a:rPr lang="fr-BE" dirty="0"/>
              <a:t>Le code complet, à exécuter : demos, classe demo.enu.slides.Aiguiller.</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Voici ce qu'une énumération apporte au </a:t>
            </a:r>
            <a:r>
              <a:rPr>
                <a:latin typeface="Consolas"/>
              </a:rPr>
              <a:t>switch</a:t>
            </a:r>
            <a:r>
              <a:t>, et que rien d'autre n'apporte : la liste des valeurs possibles est connue à la compilation. Le compilateur peut donc vérifier que toutes sont traitées.</a:t>
            </a:r>
          </a:p>
          <a:p>
            <a:r>
              <a:t>L'exemple n'a pas de </a:t>
            </a:r>
            <a:r>
              <a:rPr>
                <a:latin typeface="Consolas"/>
              </a:rPr>
              <a:t>default</a:t>
            </a:r>
            <a:r>
              <a:t>, et il compile, parce que les trois couleurs y sont. Le jour où une quatrième couleur s'ajoute à l'énumération, ce même code cesse de compiler et le message désigne l'endroit exact à compléter.</a:t>
            </a:r>
          </a:p>
          <a:p>
            <a:r>
              <a:t>C'est l'inverse exact de la démonstration du lecteur de musique, où l'ajout d'un mode passait inaperçu. Écrire un </a:t>
            </a:r>
            <a:r>
              <a:rPr>
                <a:latin typeface="Consolas"/>
              </a:rPr>
              <a:t>default</a:t>
            </a:r>
            <a:r>
              <a:t> qui ne sert qu'à faire taire le compilateur revient donc à renoncer à cette vérification : mieux vaut s'en passer quand tous les cas sont couverts.</a:t>
            </a:r>
          </a:p>
          <a:p>
            <a:r>
              <a:rPr lang="fr-BE" dirty="0"/>
              <a:t>Le code complet, à exécuter : demos, classe demo.enu.slides.Aiguiller.</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L'exercice utilise l'énumération comme paramètre de méthode, ce qui est son usage le plus courant en pratique. La vraie question qu'il pose est ailleurs : combien de valeurs l'objet doit-il stocker ? En garder deux, une par unité, c'est accepter qu'elles se contredisent un jour.</a:t>
            </a:r>
          </a:p>
          <a:p>
            <a:r>
              <a:t>La conversion se fait donc au moment où on la demande, à partir d'une seule valeur stockée. Le choix de l'unité de référence est une décision interne, que l'utilisateur de la classe n'a pas à connaître.</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Jusqu'ici, l'énumération n'était qu'une liste de noms. Cette section montre qu'elle peut porter des données et des méthodes, ce qui déplace la question de la conception : où placer l'information ?</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énumération est une classe, et le reste jusqu'au bout : elle accepte des champs, un constructeur et des méthodes. Chaque constante devient alors un objet construit avec ses propres arguments, une fois pour toutes.</a:t>
            </a:r>
          </a:p>
          <a:p>
            <a:r>
              <a:t>L'intérêt se voit à l'usage. Le taux d'une remise appartient à la remise, et non à la classe qui calcule un prix. Écrire </a:t>
            </a:r>
            <a:r>
              <a:rPr>
                <a:latin typeface="Consolas"/>
              </a:rPr>
              <a:t>SPECIAL.appliquer(prix)</a:t>
            </a:r>
            <a:r>
              <a:t> place le calcul là où vit l'information, et évite qu'une table de correspondance traîne ailleurs dans le programme.</a:t>
            </a:r>
          </a:p>
          <a:p>
            <a:r>
              <a:t>C'est ce mécanisme qu'ENU.3 met en œuvre : le libellé français d'une couleur de carte est porté par la couleur elle-même, et la carte se contente de le demander.</a:t>
            </a:r>
          </a:p>
          <a:p>
            <a:r>
              <a:rPr lang="fr-BE" dirty="0"/>
              <a:t>Le code complet, à exécuter : demos, classe demo.enu.slides.UneEnumPortantDesDonnees.</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point-virgule après la dernière constante est la faute de frappe la plus fréquente sur ce sujet. Il ne sert à rien tant que l'énumération ne contient qu'une liste de noms ; il devient obligatoire dès qu'un champ, un constructeur ou une méthode suit.</a:t>
            </a:r>
          </a:p>
          <a:p>
            <a:r>
              <a:t>Le constructeur peut s'écrire sans modificateur, ou avec </a:t>
            </a:r>
            <a:r>
              <a:rPr>
                <a:latin typeface="Consolas"/>
              </a:rPr>
              <a:t>private</a:t>
            </a:r>
            <a:r>
              <a:t> ; il n'accepte rien d'autre. La raison est que les seules instances possibles sont celles de la liste, créées par la machine virtuelle au chargement de la classe. C'est aussi ce qui garantit qu'il n'existe qu'un seul objet par constante, et donc que </a:t>
            </a:r>
            <a:r>
              <a:rPr>
                <a:latin typeface="Consolas"/>
              </a:rPr>
              <a:t>==</a:t>
            </a:r>
            <a:r>
              <a:t> fonctionne.</a:t>
            </a:r>
          </a:p>
          <a:p>
            <a:r>
              <a:t>Les champs sont déclarés </a:t>
            </a:r>
            <a:r>
              <a:rPr>
                <a:latin typeface="Consolas"/>
              </a:rPr>
              <a:t>final</a:t>
            </a:r>
            <a:r>
              <a:t> par principe : une constante dont l'état change n'est plus une constante. Rien ne l'impose techniquement, mais s'en écarter n'a pas de bonne raison.</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fr-BE"/>
              <a:t>Le jeu de cartes est l'exemple type où les énumérations s'imposent : rien n'y change jamais. Il n'y aura pas de cinquième couleur, et le roi restera la plus haute figure. Avant de coder, distinguer ce qui est fixe de ce qui se combine évite de partir dans la mauvaise direction.</a:t>
            </a:r>
          </a:p>
          <a:p>
            <a:r>
              <a:rPr lang="fr-BE"/>
              <a:t>La slide Discount a montré qu'une constante peut porter des données. C'est ce qui permet à PIQUE de connaître son nom français, et à une carte de s'afficher « As de Pique » sans table de correspondance.</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fr-BE"/>
              <a:t>Une énumération de 52 constantes, AS_DE_PIQUE, DEUX_DE_PIQUE et ainsi de suite, fonctionnerait. Mais elle ne dirait rien de la structure du jeu : rien n'y indiquerait que AS_DE_PIQUE et AS_DE_COEUR ont la même valeur. Deux énumérations de 4 et 13 constantes portent cette structure, et la carte n'est plus que leur rencontre.</a:t>
            </a:r>
          </a:p>
          <a:p>
            <a:r>
              <a:rPr lang="fr-BE"/>
              <a:t>Il reste à produire toutes les combinaisons : c'est l'objet de la slide suivante. L'exercice ENU.3 vous fera écrire Color, Value et Card, puis le jeu lui-même.</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Construire un jeu de cartes complet, c'est produire toutes les combinaisons de deux énumérations. Deux boucles imbriquées sur </a:t>
            </a:r>
            <a:r>
              <a:rPr>
                <a:latin typeface="Consolas"/>
              </a:rPr>
              <a:t>values</a:t>
            </a:r>
            <a:r>
              <a:t> y suffisent.</a:t>
            </a:r>
          </a:p>
          <a:p>
            <a:r>
              <a:t>Le nombre 52 n'apparaît pas. Il n'a pas à apparaître : il est le produit des tailles des deux énumérations, et se recalcule tout seul. Un jeu de tarot s'obtiendrait en ajoutant une couleur, sans toucher à cette boucle. C'est le même raisonnement qu'à la section 3, appliqué à deux dimensions.</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Deux classes de la bibliothèque standard, sans rapport avec les énumérations, mais dont l'exercice suivant a besoin. Le détour est court et assumé.</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borne passée à </a:t>
            </a:r>
            <a:r>
              <a:rPr>
                <a:latin typeface="Consolas"/>
              </a:rPr>
              <a:t>nextInt</a:t>
            </a:r>
            <a:r>
              <a:t> est exclue, ce qui tombe bien : c'est exactement l'intervalle des indices d'un tableau de cette taille. Pour simuler un dé, il faut donc ajouter un au résultat.</a:t>
            </a:r>
          </a:p>
          <a:p>
            <a:r>
              <a:t>Créer un objet </a:t>
            </a:r>
            <a:r>
              <a:rPr>
                <a:latin typeface="Consolas"/>
              </a:rPr>
              <a:t>Random</a:t>
            </a:r>
            <a:r>
              <a:t> à chaque tirage est inutile et parfois nuisible, deux objets créés dans la même milliseconde pouvant produire la même suite. Un seul champ, construit une fois, règle la question.</a:t>
            </a:r>
          </a:p>
          <a:p>
            <a:r>
              <a:t>Pour mélanger un tableau, l'exercice demande de parcourir les cartes de la fin vers le début et d'échanger chacune avec une carte tirée parmi celles qui la précèdent, c'est-à-dire </a:t>
            </a:r>
            <a:r>
              <a:rPr>
                <a:latin typeface="Consolas"/>
              </a:rPr>
              <a:t>hasard.nextInt(i + 1)</a:t>
            </a:r>
            <a:r>
              <a:t>. Tirer dans tout le paquet mélangerait aussi, mais pas équitablement : certaines dispositions sortiraient plus souvent que d'autres. Ce mélange porte un nom, Fisher-Yates, et la question est laissée ouverte dans le fascicule.</a:t>
            </a:r>
          </a:p>
          <a:p>
            <a:r>
              <a:rPr lang="fr-BE" dirty="0"/>
              <a:t>Le code complet, à exécuter : demos, classe demo.enu.slides.HasardEtStringJoiner.</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Afficher une liste séparée par des virgules est un exercice classique, et le piège est toujours le même : la virgule en trop à la fin. On s'en tire d'ordinaire par un test sur l'indice, qui encombre la boucle sans rien apporter au sens.</a:t>
            </a:r>
          </a:p>
          <a:p>
            <a:r>
              <a:t>La classe </a:t>
            </a:r>
            <a:r>
              <a:rPr>
                <a:latin typeface="Consolas"/>
              </a:rPr>
              <a:t>StringJoiner</a:t>
            </a:r>
            <a:r>
              <a:t> fait exactement ce travail : on lui donne le séparateur, on ajoute les éléments, et elle les place entre eux. Le gain n'est pas la longueur du code, c'est qu'il n'y a plus de condition à lire.</a:t>
            </a:r>
          </a:p>
          <a:p>
            <a:r>
              <a:t>Le constructeur accepte deux arguments de plus, un préfixe et un suffixe, ce qui permet d'encadrer la liste de crochets ou de parenthèses sans effort supplémentaire.</a:t>
            </a:r>
          </a:p>
          <a:p>
            <a:r>
              <a:rPr lang="fr-BE" dirty="0"/>
              <a:t>Le code complet, à exécuter : demos, classe demo.enu.slides.HasardEtStringJoiner.</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L'exercice réunit tout ce que la section 5 a montré : deux énumérations qui portent un libellé, un constructeur, une méthode, et la construction du jeu par double boucle.</a:t>
            </a:r>
          </a:p>
          <a:p>
            <a:r>
              <a:t>L'affichage doit tenir sur une ligne, cartes séparées par des virgules, et non une carte par ligne. C'est là que </a:t>
            </a:r>
            <a:r>
              <a:rPr>
                <a:latin typeface="Consolas"/>
              </a:rPr>
              <a:t>StringJoiner</a:t>
            </a:r>
            <a:r>
              <a:t> sert.</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Changement de sujet. Le record ne remplace pas l'énumération, il répond à un autre besoin : transporter une donnée, sans comportement et sans état qui change.</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record est arrivé avec Java 14, et fait partie du langage depuis Java 16. Sa déclaration tient sur une ligne : le nom, puis la liste de ce qu'il contient, appelée ses composants.</a:t>
            </a:r>
          </a:p>
          <a:p>
            <a:r>
              <a:t>Le corps entre accolades reste vide dans le cas le plus simple, et il est fréquent qu'il le reste. Tout ce dont la classe a besoin pour fonctionner est déduit de cette seule ligne, comme la slide suivante le détaille.</a:t>
            </a:r>
          </a:p>
          <a:p>
            <a:r>
              <a:t>L'accesseur porte le nom du composant, sans préfixe : on écrit </a:t>
            </a:r>
            <a:r>
              <a:rPr>
                <a:latin typeface="Consolas"/>
              </a:rPr>
              <a:t>origine.x()</a:t>
            </a:r>
            <a:r>
              <a:t> et non </a:t>
            </a:r>
            <a:r>
              <a:rPr>
                <a:latin typeface="Consolas"/>
              </a:rPr>
              <a:t>origine.getX()</a:t>
            </a:r>
            <a:r>
              <a:t>. C'est déroutant les premières fois, et c'est la convention.</a:t>
            </a:r>
          </a:p>
          <a:p>
            <a:r>
              <a:rPr lang="fr-BE" dirty="0"/>
              <a:t>Le code complet, à exécuter : demos, classe demo.enu.slides.LesRecords.</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ligne de déclaration produit ce qui demanderait une trentaine de lignes écrites à la main : deux champs, un constructeur, deux accesseurs, un </a:t>
            </a:r>
            <a:r>
              <a:rPr>
                <a:latin typeface="Consolas"/>
              </a:rPr>
              <a:t>toString</a:t>
            </a:r>
            <a:r>
              <a:t>, un </a:t>
            </a:r>
            <a:r>
              <a:rPr>
                <a:latin typeface="Consolas"/>
              </a:rPr>
              <a:t>equals</a:t>
            </a:r>
            <a:r>
              <a:t> et un </a:t>
            </a:r>
            <a:r>
              <a:rPr>
                <a:latin typeface="Consolas"/>
              </a:rPr>
              <a:t>hashCode</a:t>
            </a:r>
            <a:r>
              <a:t>.</a:t>
            </a:r>
          </a:p>
          <a:p>
            <a:r>
              <a:t>La méthode </a:t>
            </a:r>
            <a:r>
              <a:rPr>
                <a:latin typeface="Consolas"/>
              </a:rPr>
              <a:t>equals</a:t>
            </a:r>
            <a:r>
              <a:t> mérite qu'on s'y arrête. Deux objets </a:t>
            </a:r>
            <a:r>
              <a:rPr>
                <a:latin typeface="Consolas"/>
              </a:rPr>
              <a:t>Point</a:t>
            </a:r>
            <a:r>
              <a:t> construits séparément avec les mêmes valeurs sont égaux, parce que le record compare ses composants. Ce n'est pas le comportement d'une classe ordinaire, où </a:t>
            </a:r>
            <a:r>
              <a:rPr>
                <a:latin typeface="Consolas"/>
              </a:rPr>
              <a:t>equals</a:t>
            </a:r>
            <a:r>
              <a:t> compare les références tant qu'on ne la redéfinit pas. La question reviendra.</a:t>
            </a:r>
          </a:p>
          <a:p>
            <a:r>
              <a:t>ENU.4 fait la démonstration de tout cela d'une façon un peu particulière : plusieurs tests sont verts avant que vous ayez écrit une ligne. Ce n'est pas une panne, c'est le compilateur qui a fait le travail.</a:t>
            </a:r>
          </a:p>
          <a:p>
            <a:r>
              <a:rPr lang="fr-BE" dirty="0"/>
              <a:t>Le code complet, à exécuter : demos, classe demo.enu.slides.LesRecords.</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L'immuabilité n'est pas un effet de bord, c'est le principe. Un record modélise une valeur, et une valeur ne se modifie pas : on en fabrique une autre. Changer l'abscisse d'un point revient à construire un nouveau point.</a:t>
            </a:r>
          </a:p>
          <a:p>
            <a:r>
              <a:t>Le compilateur ne fournit donc ni setter, ni constructeur sans argument. Ce n'est pas un manque : c'est ce qui rend l'objet sûr à partager, puisque personne ne peut le modifier dans le dos de celui qui l'a créé. Voir CC-OBJ.2.</a:t>
            </a:r>
          </a:p>
          <a:p>
            <a:r>
              <a:t>L'absence d'héritage suit la même logique. Une valeur n'a pas de sous-type, et autoriser l'héritage rouvrirait la porte aux comparaisons ambiguës que </a:t>
            </a:r>
            <a:r>
              <a:rPr>
                <a:latin typeface="Consolas"/>
              </a:rPr>
              <a:t>equals</a:t>
            </a:r>
            <a:r>
              <a:t> évite précisément.</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corps du record n'est pas condamné à rester vide. Il accueille des méthodes, qui accèdent directement aux composants.</a:t>
            </a:r>
          </a:p>
          <a:p>
            <a:r>
              <a:t>La règle à retenir est la même que pour une classe ordinaire : une information qui se déduit des autres se calcule, elle ne se stocke pas. Ajouter un composant </a:t>
            </a:r>
            <a:r>
              <a:rPr>
                <a:latin typeface="Consolas"/>
              </a:rPr>
              <a:t>aire</a:t>
            </a:r>
            <a:r>
              <a:t> obligerait à le maintenir cohérent avec la largeur et la hauteur, et ouvrirait la porte à la contradiction. C'est la question déjà rencontrée avec la température en deux unités.</a:t>
            </a:r>
          </a:p>
          <a:p>
            <a:r>
              <a:rPr lang="fr-BE" dirty="0"/>
              <a:t>Le code complet, à exécuter : demos, classe demo.enu.slides.LesRecords.</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Rien n'empêche, par défaut, de construire un rectangle de largeur nulle ou un étudiant dont la cote vaut 47. Le constructeur compact est l'endroit prévu pour l'interdire : il porte le nom du record, sans liste de paramètres ni parenthèses, et s'exécute avant l'affectation des composants.</a:t>
            </a:r>
          </a:p>
          <a:p>
            <a:r>
              <a:t>L'instruction </a:t>
            </a:r>
            <a:r>
              <a:rPr>
                <a:latin typeface="Consolas"/>
              </a:rPr>
              <a:t>throw</a:t>
            </a:r>
            <a:r>
              <a:t> interrompt la construction et signale l'erreur à l'appelant. Le mécanisme complet des exceptions, et la façon de les traiter, sont le sujet du module EXC. Pour l'instant, il suffit de savoir que l'objet n'est pas créé et que le programme s'arrête là s'il ne fait rien.</a:t>
            </a:r>
          </a:p>
          <a:p>
            <a:r>
              <a:rPr lang="fr-BE" dirty="0"/>
              <a:t>Le code complet, à exécuter : demos, classe demo.enu.slides.LesRecords.</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record est excellent là où il convient, et inadapté partout ailleurs. Le critère est simple : un objet qui change d'état, ou qui porte une logique métier, n'est pas un record.</a:t>
            </a:r>
          </a:p>
          <a:p>
            <a:r>
              <a:t>Un compte bancaire a un solde qui bouge, un feu de signalisation a une couleur qui tourne : ni l'un ni l'autre ne peut être immuable. À l'inverse, un résumé de partie constaté à la fin d'un jeu ne changera plus jamais, et le record lui va parfaitement.</a:t>
            </a:r>
          </a:p>
          <a:p>
            <a:r>
              <a:t>La dernière ligne du tableau est une conséquence mécanique du </a:t>
            </a:r>
            <a:r>
              <a:rPr>
                <a:latin typeface="Consolas"/>
              </a:rPr>
              <a:t>final</a:t>
            </a:r>
            <a:r>
              <a:t> : une hiérarchie de classes ne peut pas commencer par un record.</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L'en-tête du record vous est fourni. Votre part se limite à la méthode </a:t>
            </a:r>
            <a:r>
              <a:rPr>
                <a:latin typeface="Consolas"/>
              </a:rPr>
              <a:t>passe</a:t>
            </a:r>
            <a:r>
              <a:t>, et c'est tout l'intérêt de l'exercice : mesurer ce qu'une seule ligne de déclaration vous a évité d'écrire.</a:t>
            </a:r>
          </a:p>
          <a:p>
            <a:r>
              <a:t>Le fascicule demande d'écrire la même chose sous forme de classe ordinaire, avec ses champs, son constructeur, ses accesseurs, son </a:t>
            </a:r>
            <a:r>
              <a:rPr>
                <a:latin typeface="Consolas"/>
              </a:rPr>
              <a:t>toString</a:t>
            </a:r>
            <a:r>
              <a:t>, son </a:t>
            </a:r>
            <a:r>
              <a:rPr>
                <a:latin typeface="Consolas"/>
              </a:rPr>
              <a:t>equals</a:t>
            </a:r>
            <a:r>
              <a:t> et son </a:t>
            </a:r>
            <a:r>
              <a:rPr>
                <a:latin typeface="Consolas"/>
              </a:rPr>
              <a:t>hashCode</a:t>
            </a:r>
            <a:r>
              <a:t>, puis de compter les lignes. L'exercice ne prend que quelques minutes et il vaut la démonstration.</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fil rouge applique les deux notions du module à GameHub. Deux énumérations d'abord : le type de jeu, qui porte un libellé lisible par un humain, et le résultat d'une partie, qui vaut victoire du premier joueur, victoire du second ou match nul.</a:t>
            </a:r>
          </a:p>
          <a:p>
            <a:r>
              <a:t>La classe </a:t>
            </a:r>
            <a:r>
              <a:rPr>
                <a:latin typeface="Consolas"/>
              </a:rPr>
              <a:t>Partie</a:t>
            </a:r>
            <a:r>
              <a:t> les reçoit ensuite comme champs, et sa méthode </a:t>
            </a:r>
            <a:r>
              <a:rPr>
                <a:latin typeface="Consolas"/>
              </a:rPr>
              <a:t>terminer</a:t>
            </a:r>
            <a:r>
              <a:t> initialise le résultat. Le record </a:t>
            </a:r>
            <a:r>
              <a:rPr>
                <a:latin typeface="Consolas"/>
              </a:rPr>
              <a:t>ResumePartie</a:t>
            </a:r>
            <a:r>
              <a:t> conserve enfin ce qui ne bougera plus une fois la partie finie : le pseudo du gagnant, les deux horodatages et le type de jeu. La question posée par l'énoncé — où créer ce record — a une réponse naturelle, et elle est dans </a:t>
            </a:r>
            <a:r>
              <a:rPr>
                <a:latin typeface="Consolas"/>
              </a:rPr>
              <a:t>terminer</a:t>
            </a:r>
            <a:r>
              <a: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cxnSp>
        <p:nvCxnSpPr>
          <p:cNvPr id="7" name="Connecteur droit 6">
            <a:extLst>
              <a:ext uri="{FF2B5EF4-FFF2-40B4-BE49-F238E27FC236}">
                <a16:creationId xmlns:a16="http://schemas.microsoft.com/office/drawing/2014/main" id="{F50C5AB0-4392-0C4D-81D9-F157F3F77823}"/>
              </a:ext>
            </a:extLst>
          </p:cNvPr>
          <p:cNvCxnSpPr>
            <a:cxnSpLocks/>
          </p:cNvCxnSpPr>
          <p:nvPr/>
        </p:nvCxnSpPr>
        <p:spPr>
          <a:xfrm>
            <a:off x="457202" y="3559391"/>
            <a:ext cx="11343503"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9390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45EE1B68-22B8-5144-911D-67D73F7F75DC}"/>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08205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7" name="Slide Number Placeholder 5">
            <a:extLst>
              <a:ext uri="{FF2B5EF4-FFF2-40B4-BE49-F238E27FC236}">
                <a16:creationId xmlns:a16="http://schemas.microsoft.com/office/drawing/2014/main" id="{68BCA98C-1917-1B40-ABB2-9D21885BDC6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765511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8" name="Slide Number Placeholder 5">
            <a:extLst>
              <a:ext uri="{FF2B5EF4-FFF2-40B4-BE49-F238E27FC236}">
                <a16:creationId xmlns:a16="http://schemas.microsoft.com/office/drawing/2014/main" id="{0F3E845D-F43C-944D-8F99-1B6CA5503177}"/>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540647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39789"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1"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10" name="Slide Number Placeholder 5">
            <a:extLst>
              <a:ext uri="{FF2B5EF4-FFF2-40B4-BE49-F238E27FC236}">
                <a16:creationId xmlns:a16="http://schemas.microsoft.com/office/drawing/2014/main" id="{FF818906-3F6A-DC45-BB24-EFCB91263081}"/>
              </a:ext>
            </a:extLst>
          </p:cNvPr>
          <p:cNvSpPr>
            <a:spLocks noGrp="1"/>
          </p:cNvSpPr>
          <p:nvPr>
            <p:ph type="sldNum" sz="quarter" idx="10"/>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4020594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6" name="Slide Number Placeholder 5">
            <a:extLst>
              <a:ext uri="{FF2B5EF4-FFF2-40B4-BE49-F238E27FC236}">
                <a16:creationId xmlns:a16="http://schemas.microsoft.com/office/drawing/2014/main" id="{E4F97A31-FE83-AB47-8221-61BFCBFFF87D}"/>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0439006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0FDFDBB0-5C1B-0B47-92C8-B08C981D73B4}"/>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390922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59AFBA4C-30EB-4A4E-A60E-1B72FA76AA11}"/>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321638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CC1A4DF9-C7A5-CC4A-952D-F6BE2586AB7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513351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753E1124-F839-AE4B-8F4B-A00427DEEEB8}"/>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950900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98C737BB-8CEC-FF4F-BB70-AC8A804E161E}"/>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36771503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50000"/>
              </a:schemeClr>
            </a:gs>
            <a:gs pos="29000">
              <a:schemeClr val="accent5">
                <a:lumMod val="75000"/>
              </a:schemeClr>
            </a:gs>
            <a:gs pos="100000">
              <a:schemeClr val="accent5">
                <a:lumMod val="50000"/>
              </a:schemeClr>
            </a:gs>
          </a:gsLst>
          <a:path path="circle">
            <a:fillToRect l="50000" t="130000" r="50000" b="-3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fr-FR" dirty="0"/>
              <a:t>Modifiez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8" name="Espace réservé du texte 7">
            <a:extLst>
              <a:ext uri="{FF2B5EF4-FFF2-40B4-BE49-F238E27FC236}">
                <a16:creationId xmlns:a16="http://schemas.microsoft.com/office/drawing/2014/main" id="{16BB548F-0EDB-6D43-BC7A-59E9CDD0ED25}"/>
              </a:ext>
            </a:extLst>
          </p:cNvPr>
          <p:cNvSpPr txBox="1">
            <a:spLocks/>
          </p:cNvSpPr>
          <p:nvPr/>
        </p:nvSpPr>
        <p:spPr>
          <a:xfrm>
            <a:off x="457201" y="6249391"/>
            <a:ext cx="4177267" cy="321464"/>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nl-BE" sz="1200" b="1" dirty="0"/>
              <a:t>IN2 – 6001 – Programmation Orientée Objet JAVA</a:t>
            </a:r>
            <a:endParaRPr lang="fr-FR" sz="1200" b="1" dirty="0">
              <a:solidFill>
                <a:schemeClr val="bg2">
                  <a:shade val="50000"/>
                </a:schemeClr>
              </a:solidFill>
            </a:endParaRPr>
          </a:p>
        </p:txBody>
      </p:sp>
      <p:sp>
        <p:nvSpPr>
          <p:cNvPr id="9" name="Espace réservé du texte 7">
            <a:extLst>
              <a:ext uri="{FF2B5EF4-FFF2-40B4-BE49-F238E27FC236}">
                <a16:creationId xmlns:a16="http://schemas.microsoft.com/office/drawing/2014/main" id="{A73AF70B-0DC2-D84B-A8F1-DEAEB08FADFD}"/>
              </a:ext>
            </a:extLst>
          </p:cNvPr>
          <p:cNvSpPr txBox="1">
            <a:spLocks/>
          </p:cNvSpPr>
          <p:nvPr/>
        </p:nvSpPr>
        <p:spPr>
          <a:xfrm>
            <a:off x="457201" y="6502785"/>
            <a:ext cx="4177267" cy="388971"/>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fr-FR" sz="1200" b="1" dirty="0"/>
              <a:t>Frédéric Ferrant – </a:t>
            </a:r>
            <a:r>
              <a:rPr lang="is-IS" sz="1200" b="1" dirty="0"/>
              <a:t>2026-2027</a:t>
            </a:r>
            <a:endParaRPr lang="fr-FR" sz="1200" b="1" dirty="0"/>
          </a:p>
        </p:txBody>
      </p:sp>
      <p:sp>
        <p:nvSpPr>
          <p:cNvPr id="10" name="Slide Number Placeholder 5">
            <a:extLst>
              <a:ext uri="{FF2B5EF4-FFF2-40B4-BE49-F238E27FC236}">
                <a16:creationId xmlns:a16="http://schemas.microsoft.com/office/drawing/2014/main" id="{6C5D55A8-0E87-874B-9388-8CD1306BB97B}"/>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67072900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hf hdr="0" ftr="0" dt="0"/>
  <p:txStyles>
    <p:titleStyle>
      <a:lvl1pPr algn="l" defTabSz="914400" rtl="0" eaLnBrk="1" latinLnBrk="0" hangingPunct="1">
        <a:lnSpc>
          <a:spcPct val="90000"/>
        </a:lnSpc>
        <a:spcBef>
          <a:spcPct val="0"/>
        </a:spcBef>
        <a:buNone/>
        <a:defRPr sz="4800" b="1" i="0" kern="1200">
          <a:solidFill>
            <a:schemeClr val="tx1"/>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4" Type="http://schemas.openxmlformats.org/officeDocument/2006/relationships/image" Target="../media/image1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4" Type="http://schemas.openxmlformats.org/officeDocument/2006/relationships/image" Target="../media/image1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4" Type="http://schemas.openxmlformats.org/officeDocument/2006/relationships/image" Target="../media/image1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4" Type="http://schemas.openxmlformats.org/officeDocument/2006/relationships/image" Target="../media/image15.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4" Type="http://schemas.openxmlformats.org/officeDocument/2006/relationships/image" Target="../media/image16.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4" Type="http://schemas.openxmlformats.org/officeDocument/2006/relationships/image" Target="../media/image17.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 Id="rId3" Type="http://schemas.openxmlformats.org/officeDocument/2006/relationships/image" Target="../media/image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4" Type="http://schemas.openxmlformats.org/officeDocument/2006/relationships/image" Target="../media/image18.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 Id="rId3" Type="http://schemas.openxmlformats.org/officeDocument/2006/relationships/image" Target="../media/image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 Id="rId3" Type="http://schemas.openxmlformats.org/officeDocument/2006/relationships/image" Target="../media/image1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DAE3EB04-5815-5DFA-3BAB-7E6007A4E3C5}"/>
              </a:ext>
            </a:extLst>
          </p:cNvPr>
          <p:cNvSpPr>
            <a:spLocks noGrp="1"/>
          </p:cNvSpPr>
          <p:nvPr>
            <p:ph type="subTitle" idx="1"/>
          </p:nvPr>
        </p:nvSpPr>
        <p:spPr/>
        <p:txBody>
          <a:bodyPr/>
          <a:lstStyle/>
          <a:p>
            <a:r>
              <a:rPr lang="fr-FR" dirty="0"/>
              <a:t>Module ENU</a:t>
            </a:r>
          </a:p>
          <a:p>
            <a:r>
              <a:rPr/>
              <a:t>Énumérations et records</a:t>
            </a:r>
          </a:p>
        </p:txBody>
      </p:sp>
      <p:sp>
        <p:nvSpPr>
          <p:cNvPr id="2" name="Titre 1">
            <a:extLst>
              <a:ext uri="{FF2B5EF4-FFF2-40B4-BE49-F238E27FC236}">
                <a16:creationId xmlns:a16="http://schemas.microsoft.com/office/drawing/2014/main" id="{65C16338-8FEF-9846-3E8D-6A6E291B1506}"/>
              </a:ext>
            </a:extLst>
          </p:cNvPr>
          <p:cNvSpPr>
            <a:spLocks noGrp="1"/>
          </p:cNvSpPr>
          <p:nvPr>
            <p:ph type="ctrTitle"/>
          </p:nvPr>
        </p:nvSpPr>
        <p:spPr>
          <a:ln>
            <a:noFill/>
          </a:ln>
        </p:spPr>
        <p:txBody>
          <a:bodyPr>
            <a:normAutofit/>
          </a:bodyPr>
          <a:lstStyle/>
          <a:p>
            <a:r>
              <a:rPr lang="fr-FR" sz="8000" dirty="0"/>
              <a:t>JAVA 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Au programme</a:t>
            </a:r>
          </a:p>
        </p:txBody>
      </p:sp>
      <p:grpSp>
        <p:nvGrpSpPr>
          <p:cNvPr id="18" name="Groupe 17">
            <a:extLst>
              <a:ext uri="{FF2B5EF4-FFF2-40B4-BE49-F238E27FC236}">
                <a16:creationId xmlns:a16="http://schemas.microsoft.com/office/drawing/2014/main" id="{128632F6-00B4-FAEC-39DA-60761CE86952}"/>
              </a:ext>
            </a:extLst>
          </p:cNvPr>
          <p:cNvGrpSpPr/>
          <p:nvPr/>
        </p:nvGrpSpPr>
        <p:grpSpPr>
          <a:xfrm>
            <a:off x="640080" y="1463040"/>
            <a:ext cx="5394960" cy="914400"/>
            <a:chOff x="640080" y="1463040"/>
            <a:chExt cx="5394960" cy="914400"/>
          </a:xfrm>
        </p:grpSpPr>
        <p:sp>
          <p:nvSpPr>
            <p:cNvPr id="3" name="Sommaire du module"/>
            <p:cNvSpPr/>
            <p:nvPr/>
          </p:nvSpPr>
          <p:spPr>
            <a:xfrm>
              <a:off x="640080" y="146304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Sommaire du module, texte"/>
            <p:cNvSpPr txBox="1"/>
            <p:nvPr/>
          </p:nvSpPr>
          <p:spPr>
            <a:xfrm>
              <a:off x="822959" y="1463040"/>
              <a:ext cx="5029200" cy="914400"/>
            </a:xfrm>
            <a:prstGeom prst="rect">
              <a:avLst/>
            </a:prstGeom>
            <a:noFill/>
          </p:spPr>
          <p:txBody>
            <a:bodyPr wrap="none" anchor="ctr">
              <a:spAutoFit/>
            </a:bodyPr>
            <a:lstStyle/>
            <a:p>
              <a:r>
                <a:rPr sz="3000" b="1" dirty="0">
                  <a:solidFill>
                    <a:schemeClr val="accent4"/>
                  </a:solidFill>
                </a:rPr>
                <a:t>1   </a:t>
              </a:r>
              <a:r>
                <a:rPr sz="2600" dirty="0">
                  <a:solidFill>
                    <a:srgbClr val="FFFFFF"/>
                  </a:solidFill>
                </a:rPr>
                <a:t>Des </a:t>
              </a:r>
              <a:r>
                <a:rPr sz="2600" dirty="0" err="1">
                  <a:solidFill>
                    <a:srgbClr val="FFFFFF"/>
                  </a:solidFill>
                </a:rPr>
                <a:t>valeurs</a:t>
              </a:r>
              <a:r>
                <a:rPr sz="2600" dirty="0">
                  <a:solidFill>
                    <a:srgbClr val="FFFFFF"/>
                  </a:solidFill>
                </a:rPr>
                <a:t> qui se </a:t>
              </a:r>
              <a:r>
                <a:rPr sz="2600" dirty="0" err="1">
                  <a:solidFill>
                    <a:srgbClr val="FFFFFF"/>
                  </a:solidFill>
                </a:rPr>
                <a:t>comptent</a:t>
              </a:r>
              <a:endParaRPr sz="2600" dirty="0">
                <a:solidFill>
                  <a:srgbClr val="FFFFFF"/>
                </a:solidFill>
              </a:endParaRPr>
            </a:p>
          </p:txBody>
        </p:sp>
      </p:grpSp>
      <p:grpSp>
        <p:nvGrpSpPr>
          <p:cNvPr id="19" name="Groupe 18">
            <a:extLst>
              <a:ext uri="{FF2B5EF4-FFF2-40B4-BE49-F238E27FC236}">
                <a16:creationId xmlns:a16="http://schemas.microsoft.com/office/drawing/2014/main" id="{1099F4E2-50A6-6AE9-E290-109E70B93319}"/>
              </a:ext>
            </a:extLst>
          </p:cNvPr>
          <p:cNvGrpSpPr/>
          <p:nvPr/>
        </p:nvGrpSpPr>
        <p:grpSpPr>
          <a:xfrm>
            <a:off x="640080" y="2560320"/>
            <a:ext cx="5394960" cy="914400"/>
            <a:chOff x="640080" y="2560320"/>
            <a:chExt cx="5394960" cy="914400"/>
          </a:xfrm>
        </p:grpSpPr>
        <p:sp>
          <p:nvSpPr>
            <p:cNvPr id="5" name="Sommaire du module"/>
            <p:cNvSpPr/>
            <p:nvPr/>
          </p:nvSpPr>
          <p:spPr>
            <a:xfrm>
              <a:off x="640080" y="256032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Sommaire du module, texte"/>
            <p:cNvSpPr txBox="1"/>
            <p:nvPr/>
          </p:nvSpPr>
          <p:spPr>
            <a:xfrm>
              <a:off x="822959" y="2560320"/>
              <a:ext cx="5029200" cy="914400"/>
            </a:xfrm>
            <a:prstGeom prst="rect">
              <a:avLst/>
            </a:prstGeom>
            <a:noFill/>
          </p:spPr>
          <p:txBody>
            <a:bodyPr wrap="none" anchor="ctr">
              <a:spAutoFit/>
            </a:bodyPr>
            <a:lstStyle/>
            <a:p>
              <a:r>
                <a:rPr sz="3000" b="1">
                  <a:solidFill>
                    <a:schemeClr val="accent4"/>
                  </a:solidFill>
                </a:rPr>
                <a:t>2   </a:t>
              </a:r>
              <a:r>
                <a:rPr sz="2600">
                  <a:solidFill>
                    <a:srgbClr val="FFFFFF"/>
                  </a:solidFill>
                </a:rPr>
                <a:t>Déclarer une énumération</a:t>
              </a:r>
            </a:p>
          </p:txBody>
        </p:sp>
      </p:grpSp>
      <p:grpSp>
        <p:nvGrpSpPr>
          <p:cNvPr id="20" name="Groupe 19">
            <a:extLst>
              <a:ext uri="{FF2B5EF4-FFF2-40B4-BE49-F238E27FC236}">
                <a16:creationId xmlns:a16="http://schemas.microsoft.com/office/drawing/2014/main" id="{240573E8-16A8-B70F-8D8B-49876A130FF8}"/>
              </a:ext>
            </a:extLst>
          </p:cNvPr>
          <p:cNvGrpSpPr/>
          <p:nvPr/>
        </p:nvGrpSpPr>
        <p:grpSpPr>
          <a:xfrm>
            <a:off x="640080" y="3657600"/>
            <a:ext cx="5394960" cy="914400"/>
            <a:chOff x="640080" y="3657600"/>
            <a:chExt cx="5394960" cy="914400"/>
          </a:xfrm>
        </p:grpSpPr>
        <p:sp>
          <p:nvSpPr>
            <p:cNvPr id="7" name="Sommaire du module"/>
            <p:cNvSpPr/>
            <p:nvPr/>
          </p:nvSpPr>
          <p:spPr>
            <a:xfrm>
              <a:off x="640080" y="365760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ommaire du module, texte"/>
            <p:cNvSpPr txBox="1"/>
            <p:nvPr/>
          </p:nvSpPr>
          <p:spPr>
            <a:xfrm>
              <a:off x="822959" y="3657600"/>
              <a:ext cx="5029200" cy="914400"/>
            </a:xfrm>
            <a:prstGeom prst="rect">
              <a:avLst/>
            </a:prstGeom>
            <a:noFill/>
          </p:spPr>
          <p:txBody>
            <a:bodyPr wrap="none" anchor="ctr">
              <a:spAutoFit/>
            </a:bodyPr>
            <a:lstStyle/>
            <a:p>
              <a:r>
                <a:rPr sz="3000" b="1">
                  <a:solidFill>
                    <a:schemeClr val="accent4"/>
                  </a:solidFill>
                </a:rPr>
                <a:t>3   </a:t>
              </a:r>
              <a:r>
                <a:rPr sz="2600">
                  <a:solidFill>
                    <a:srgbClr val="FFFFFF"/>
                  </a:solidFill>
                </a:rPr>
                <a:t>L'ordre porte l'information</a:t>
              </a:r>
            </a:p>
          </p:txBody>
        </p:sp>
      </p:grpSp>
      <p:grpSp>
        <p:nvGrpSpPr>
          <p:cNvPr id="21" name="Groupe 20">
            <a:extLst>
              <a:ext uri="{FF2B5EF4-FFF2-40B4-BE49-F238E27FC236}">
                <a16:creationId xmlns:a16="http://schemas.microsoft.com/office/drawing/2014/main" id="{450B354B-203B-7AAF-D516-F36C17C37F56}"/>
              </a:ext>
            </a:extLst>
          </p:cNvPr>
          <p:cNvGrpSpPr/>
          <p:nvPr/>
        </p:nvGrpSpPr>
        <p:grpSpPr>
          <a:xfrm>
            <a:off x="640080" y="4754879"/>
            <a:ext cx="5394960" cy="914400"/>
            <a:chOff x="640080" y="4754879"/>
            <a:chExt cx="5394960" cy="914400"/>
          </a:xfrm>
        </p:grpSpPr>
        <p:sp>
          <p:nvSpPr>
            <p:cNvPr id="9" name="Sommaire du module"/>
            <p:cNvSpPr/>
            <p:nvPr/>
          </p:nvSpPr>
          <p:spPr>
            <a:xfrm>
              <a:off x="640080" y="4754879"/>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ommaire du module, texte"/>
            <p:cNvSpPr txBox="1"/>
            <p:nvPr/>
          </p:nvSpPr>
          <p:spPr>
            <a:xfrm>
              <a:off x="822959" y="4754879"/>
              <a:ext cx="5029200" cy="914400"/>
            </a:xfrm>
            <a:prstGeom prst="rect">
              <a:avLst/>
            </a:prstGeom>
            <a:noFill/>
          </p:spPr>
          <p:txBody>
            <a:bodyPr wrap="none" anchor="ctr">
              <a:spAutoFit/>
            </a:bodyPr>
            <a:lstStyle/>
            <a:p>
              <a:r>
                <a:rPr sz="3000" b="1">
                  <a:solidFill>
                    <a:schemeClr val="accent4"/>
                  </a:solidFill>
                </a:rPr>
                <a:t>4   </a:t>
              </a:r>
              <a:r>
                <a:rPr sz="2600">
                  <a:solidFill>
                    <a:srgbClr val="FFFFFF"/>
                  </a:solidFill>
                </a:rPr>
                <a:t>Comparer et aiguiller</a:t>
              </a:r>
            </a:p>
          </p:txBody>
        </p:sp>
      </p:grpSp>
      <p:grpSp>
        <p:nvGrpSpPr>
          <p:cNvPr id="22" name="Groupe 21">
            <a:extLst>
              <a:ext uri="{FF2B5EF4-FFF2-40B4-BE49-F238E27FC236}">
                <a16:creationId xmlns:a16="http://schemas.microsoft.com/office/drawing/2014/main" id="{B10007F1-D667-01B2-B43B-194DB4451A2A}"/>
              </a:ext>
            </a:extLst>
          </p:cNvPr>
          <p:cNvGrpSpPr/>
          <p:nvPr/>
        </p:nvGrpSpPr>
        <p:grpSpPr>
          <a:xfrm>
            <a:off x="6217920" y="1463040"/>
            <a:ext cx="5394960" cy="914400"/>
            <a:chOff x="6217920" y="1463040"/>
            <a:chExt cx="5394960" cy="914400"/>
          </a:xfrm>
        </p:grpSpPr>
        <p:sp>
          <p:nvSpPr>
            <p:cNvPr id="11" name="Sommaire du module"/>
            <p:cNvSpPr/>
            <p:nvPr/>
          </p:nvSpPr>
          <p:spPr>
            <a:xfrm>
              <a:off x="6217920" y="146304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ommaire du module, texte"/>
            <p:cNvSpPr txBox="1"/>
            <p:nvPr/>
          </p:nvSpPr>
          <p:spPr>
            <a:xfrm>
              <a:off x="6400800" y="1463040"/>
              <a:ext cx="5029200" cy="914400"/>
            </a:xfrm>
            <a:prstGeom prst="rect">
              <a:avLst/>
            </a:prstGeom>
            <a:noFill/>
          </p:spPr>
          <p:txBody>
            <a:bodyPr wrap="none" anchor="ctr">
              <a:spAutoFit/>
            </a:bodyPr>
            <a:lstStyle/>
            <a:p>
              <a:r>
                <a:rPr sz="3000" b="1">
                  <a:solidFill>
                    <a:schemeClr val="accent4"/>
                  </a:solidFill>
                </a:rPr>
                <a:t>5   </a:t>
              </a:r>
              <a:r>
                <a:rPr sz="2600">
                  <a:solidFill>
                    <a:srgbClr val="FFFFFF"/>
                  </a:solidFill>
                </a:rPr>
                <a:t>Une enum est une classe</a:t>
              </a:r>
            </a:p>
          </p:txBody>
        </p:sp>
      </p:grpSp>
      <p:grpSp>
        <p:nvGrpSpPr>
          <p:cNvPr id="23" name="Groupe 22">
            <a:extLst>
              <a:ext uri="{FF2B5EF4-FFF2-40B4-BE49-F238E27FC236}">
                <a16:creationId xmlns:a16="http://schemas.microsoft.com/office/drawing/2014/main" id="{BF51ED55-9157-B338-D4C9-3FC6684D8F9E}"/>
              </a:ext>
            </a:extLst>
          </p:cNvPr>
          <p:cNvGrpSpPr/>
          <p:nvPr/>
        </p:nvGrpSpPr>
        <p:grpSpPr>
          <a:xfrm>
            <a:off x="6217920" y="2560320"/>
            <a:ext cx="5394960" cy="914400"/>
            <a:chOff x="6217920" y="2560320"/>
            <a:chExt cx="5394960" cy="914400"/>
          </a:xfrm>
        </p:grpSpPr>
        <p:sp>
          <p:nvSpPr>
            <p:cNvPr id="13" name="Sommaire du module"/>
            <p:cNvSpPr/>
            <p:nvPr/>
          </p:nvSpPr>
          <p:spPr>
            <a:xfrm>
              <a:off x="6217920" y="256032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Sommaire du module, texte"/>
            <p:cNvSpPr txBox="1"/>
            <p:nvPr/>
          </p:nvSpPr>
          <p:spPr>
            <a:xfrm>
              <a:off x="6400800" y="2560320"/>
              <a:ext cx="5029200" cy="914400"/>
            </a:xfrm>
            <a:prstGeom prst="rect">
              <a:avLst/>
            </a:prstGeom>
            <a:noFill/>
          </p:spPr>
          <p:txBody>
            <a:bodyPr wrap="none" anchor="ctr">
              <a:spAutoFit/>
            </a:bodyPr>
            <a:lstStyle/>
            <a:p>
              <a:r>
                <a:rPr sz="3000" b="1">
                  <a:solidFill>
                    <a:schemeClr val="accent4"/>
                  </a:solidFill>
                </a:rPr>
                <a:t>6   </a:t>
              </a:r>
              <a:r>
                <a:rPr sz="2600">
                  <a:solidFill>
                    <a:srgbClr val="FFFFFF"/>
                  </a:solidFill>
                </a:rPr>
                <a:t>Random et </a:t>
              </a:r>
              <a:r>
                <a:rPr sz="2400">
                  <a:solidFill>
                    <a:schemeClr val="accent4"/>
                  </a:solidFill>
                  <a:latin typeface="Consolas"/>
                </a:rPr>
                <a:t>StringJoiner</a:t>
              </a:r>
            </a:p>
          </p:txBody>
        </p:sp>
      </p:grpSp>
      <p:grpSp>
        <p:nvGrpSpPr>
          <p:cNvPr id="24" name="Groupe 23">
            <a:extLst>
              <a:ext uri="{FF2B5EF4-FFF2-40B4-BE49-F238E27FC236}">
                <a16:creationId xmlns:a16="http://schemas.microsoft.com/office/drawing/2014/main" id="{0E839848-982F-B2FF-8AAC-410AE41A613B}"/>
              </a:ext>
            </a:extLst>
          </p:cNvPr>
          <p:cNvGrpSpPr/>
          <p:nvPr/>
        </p:nvGrpSpPr>
        <p:grpSpPr>
          <a:xfrm>
            <a:off x="6217920" y="3657600"/>
            <a:ext cx="5394960" cy="914400"/>
            <a:chOff x="6217920" y="3657600"/>
            <a:chExt cx="5394960" cy="914400"/>
          </a:xfrm>
        </p:grpSpPr>
        <p:sp>
          <p:nvSpPr>
            <p:cNvPr id="15" name="Sommaire du module"/>
            <p:cNvSpPr/>
            <p:nvPr/>
          </p:nvSpPr>
          <p:spPr>
            <a:xfrm>
              <a:off x="6217920" y="365760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Sommaire du module, texte"/>
            <p:cNvSpPr txBox="1"/>
            <p:nvPr/>
          </p:nvSpPr>
          <p:spPr>
            <a:xfrm>
              <a:off x="6400800" y="3657600"/>
              <a:ext cx="5029200" cy="914400"/>
            </a:xfrm>
            <a:prstGeom prst="rect">
              <a:avLst/>
            </a:prstGeom>
            <a:noFill/>
          </p:spPr>
          <p:txBody>
            <a:bodyPr wrap="none" anchor="ctr">
              <a:spAutoFit/>
            </a:bodyPr>
            <a:lstStyle/>
            <a:p>
              <a:r>
                <a:rPr sz="3000" b="1">
                  <a:solidFill>
                    <a:schemeClr val="accent4"/>
                  </a:solidFill>
                </a:rPr>
                <a:t>7   </a:t>
              </a:r>
              <a:r>
                <a:rPr sz="2600">
                  <a:solidFill>
                    <a:srgbClr val="FFFFFF"/>
                  </a:solidFill>
                </a:rPr>
                <a:t>Les records</a:t>
              </a:r>
            </a:p>
          </p:txBody>
        </p:sp>
      </p:gr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2</a:t>
            </a:fld>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wipe(left)">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wipe(left)">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wipe(left)">
                                      <p:cBhvr>
                                        <p:cTn id="22" dur="5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wipe(left)">
                                      <p:cBhvr>
                                        <p:cTn id="27" dur="500"/>
                                        <p:tgtEl>
                                          <p:spTgt spid="2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wipe(left)">
                                      <p:cBhvr>
                                        <p:cTn id="32" dur="500"/>
                                        <p:tgtEl>
                                          <p:spTgt spid="2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wipe(left)">
                                      <p:cBhvr>
                                        <p:cTn id="3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2" descr="ENU_section1.jpg"/>
          <p:cNvPicPr>
            <a:picLocks noChangeAspect="1"/>
          </p:cNvPicPr>
          <p:nvPr/>
        </p:nvPicPr>
        <p:blipFill>
          <a:blip r:embed="rId4"/>
          <a:stretch>
            <a:fillRect/>
          </a:stretch>
        </p:blipFill>
        <p:spPr>
          <a:xfrm>
            <a:off x="-23649" y="0"/>
            <a:ext cx="12239297"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10875506" cy="1105200"/>
          </a:xfrm>
          <a:prstGeom prst="rect">
            <a:avLst/>
          </a:prstGeom>
          <a:solidFill>
            <a:srgbClr val="6AD4FA">
              <a:alpha val="74510"/>
            </a:srgb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1. Des valeurs qui se comptent</a:t>
            </a:r>
            <a:endParaRPr lang="fr-FR"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3</a:t>
            </a:fld>
            <a:endParaRPr lang="fr-F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Trois couleurs, pas une de plus</a:t>
            </a:r>
          </a:p>
        </p:txBody>
      </p:sp>
      <p:sp>
        <p:nvSpPr>
          <p:cNvPr id="3" name="Content Placeholder 2"/>
          <p:cNvSpPr>
            <a:spLocks noGrp="1"/>
          </p:cNvSpPr>
          <p:nvPr>
            <p:ph idx="1"/>
          </p:nvPr>
        </p:nvSpPr>
        <p:spPr>
          <a:xfrm>
            <a:off x="640080" y="1371600"/>
            <a:ext cx="10881360" cy="2651760"/>
          </a:xfrm>
        </p:spPr>
        <p:txBody>
          <a:bodyPr/>
          <a:lstStyle/>
          <a:p>
            <a:pPr marL="0" indent="0">
              <a:spcAft>
                <a:spcPts val="1000"/>
              </a:spcAft>
              <a:buNone/>
            </a:pPr>
            <a:r>
              <a:rPr sz="2800" dirty="0"/>
              <a:t>Un feu de </a:t>
            </a:r>
            <a:r>
              <a:rPr sz="2800" dirty="0" err="1"/>
              <a:t>signalisation</a:t>
            </a:r>
            <a:r>
              <a:rPr sz="2800" dirty="0"/>
              <a:t> a </a:t>
            </a:r>
            <a:r>
              <a:rPr sz="2800" dirty="0" err="1"/>
              <a:t>exactement</a:t>
            </a:r>
            <a:r>
              <a:rPr sz="2800" dirty="0"/>
              <a:t> trois couleurs</a:t>
            </a:r>
          </a:p>
          <a:p>
            <a:pPr marL="0" indent="0">
              <a:spcAft>
                <a:spcPts val="1000"/>
              </a:spcAft>
              <a:buNone/>
            </a:pPr>
            <a:r>
              <a:rPr sz="2800" dirty="0"/>
              <a:t>Avec des </a:t>
            </a:r>
            <a:r>
              <a:rPr sz="2800" dirty="0" err="1"/>
              <a:t>constantes</a:t>
            </a:r>
            <a:r>
              <a:rPr sz="2800" dirty="0"/>
              <a:t> </a:t>
            </a:r>
            <a:r>
              <a:rPr sz="2400" dirty="0">
                <a:solidFill>
                  <a:schemeClr val="accent4"/>
                </a:solidFill>
                <a:latin typeface="Consolas"/>
              </a:rPr>
              <a:t>int</a:t>
            </a:r>
            <a:r>
              <a:rPr sz="2800" dirty="0"/>
              <a:t>, rien </a:t>
            </a:r>
            <a:r>
              <a:rPr sz="2800" dirty="0" err="1"/>
              <a:t>n'empêche</a:t>
            </a:r>
            <a:r>
              <a:rPr sz="2800" dirty="0"/>
              <a:t> </a:t>
            </a:r>
            <a:r>
              <a:rPr sz="2800" dirty="0" err="1"/>
              <a:t>d'en</a:t>
            </a:r>
            <a:r>
              <a:rPr sz="2800" dirty="0"/>
              <a:t> demander </a:t>
            </a:r>
            <a:r>
              <a:rPr sz="2800" dirty="0" err="1"/>
              <a:t>une</a:t>
            </a:r>
            <a:r>
              <a:rPr sz="2800" dirty="0"/>
              <a:t> </a:t>
            </a:r>
            <a:r>
              <a:rPr sz="2800" dirty="0" err="1"/>
              <a:t>quatrième</a:t>
            </a:r>
            <a:endParaRPr sz="2800" dirty="0"/>
          </a:p>
          <a:p>
            <a:pPr marL="0" indent="0">
              <a:spcAft>
                <a:spcPts val="1000"/>
              </a:spcAft>
              <a:buNone/>
            </a:pPr>
            <a:r>
              <a:rPr sz="2800" dirty="0"/>
              <a:t>Le </a:t>
            </a:r>
            <a:r>
              <a:rPr sz="2800" dirty="0" err="1"/>
              <a:t>compilateur</a:t>
            </a:r>
            <a:r>
              <a:rPr sz="2800" dirty="0"/>
              <a:t> ne </a:t>
            </a:r>
            <a:r>
              <a:rPr sz="2800" dirty="0" err="1"/>
              <a:t>voit</a:t>
            </a:r>
            <a:r>
              <a:rPr sz="2800" dirty="0"/>
              <a:t> rien, et </a:t>
            </a:r>
            <a:r>
              <a:rPr sz="2800" dirty="0" err="1"/>
              <a:t>l'erreur</a:t>
            </a:r>
            <a:r>
              <a:rPr sz="2800" dirty="0"/>
              <a:t> attend </a:t>
            </a:r>
            <a:r>
              <a:rPr sz="2800" dirty="0" err="1"/>
              <a:t>l'exécution</a:t>
            </a:r>
            <a:endParaRPr sz="2800" dirty="0"/>
          </a:p>
        </p:txBody>
      </p:sp>
      <p:sp>
        <p:nvSpPr>
          <p:cNvPr id="4" name="Code"/>
          <p:cNvSpPr txBox="1"/>
          <p:nvPr/>
        </p:nvSpPr>
        <p:spPr>
          <a:xfrm>
            <a:off x="2800350" y="4160520"/>
            <a:ext cx="6591300" cy="1645920"/>
          </a:xfrm>
          <a:prstGeom prst="roundRect">
            <a:avLst>
              <a:gd name="adj" fmla="val 5555"/>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static</a:t>
            </a:r>
            <a:r>
              <a:rPr sz="1800">
                <a:solidFill>
                  <a:srgbClr val="BCBEC4"/>
                </a:solidFill>
                <a:latin typeface="Consolas"/>
              </a:rPr>
              <a:t> </a:t>
            </a:r>
            <a:r>
              <a:rPr sz="1800">
                <a:solidFill>
                  <a:srgbClr val="CF8E6D"/>
                </a:solidFill>
                <a:latin typeface="Consolas"/>
              </a:rPr>
              <a:t>final</a:t>
            </a:r>
            <a:r>
              <a:rPr sz="1800">
                <a:solidFill>
                  <a:srgbClr val="BCBEC4"/>
                </a:solidFill>
                <a:latin typeface="Consolas"/>
              </a:rPr>
              <a:t> </a:t>
            </a:r>
            <a:r>
              <a:rPr sz="1800">
                <a:solidFill>
                  <a:srgbClr val="CF8E6D"/>
                </a:solidFill>
                <a:latin typeface="Consolas"/>
              </a:rPr>
              <a:t>int</a:t>
            </a:r>
            <a:r>
              <a:rPr sz="1800">
                <a:solidFill>
                  <a:srgbClr val="BCBEC4"/>
                </a:solidFill>
                <a:latin typeface="Consolas"/>
              </a:rPr>
              <a:t> VERT   = </a:t>
            </a:r>
            <a:r>
              <a:rPr sz="1800">
                <a:solidFill>
                  <a:srgbClr val="2AACB8"/>
                </a:solidFill>
                <a:latin typeface="Consolas"/>
              </a:rPr>
              <a:t>0</a:t>
            </a:r>
            <a:r>
              <a:rPr sz="1800">
                <a:solidFill>
                  <a:srgbClr val="BCBEC4"/>
                </a:solidFill>
                <a:latin typeface="Consolas"/>
              </a:rPr>
              <a:t>;</a:t>
            </a:r>
          </a:p>
          <a:p>
            <a:pPr>
              <a:lnSpc>
                <a:spcPct val="100000"/>
              </a:lnSpc>
              <a:spcBef>
                <a:spcPts val="0"/>
              </a:spcBef>
              <a:spcAft>
                <a:spcPts val="0"/>
              </a:spcAft>
            </a:pPr>
            <a:r>
              <a:rPr sz="1800">
                <a:solidFill>
                  <a:srgbClr val="CF8E6D"/>
                </a:solidFill>
                <a:latin typeface="Consolas"/>
              </a:rPr>
              <a:t>static</a:t>
            </a:r>
            <a:r>
              <a:rPr sz="1800">
                <a:solidFill>
                  <a:srgbClr val="BCBEC4"/>
                </a:solidFill>
                <a:latin typeface="Consolas"/>
              </a:rPr>
              <a:t> </a:t>
            </a:r>
            <a:r>
              <a:rPr sz="1800">
                <a:solidFill>
                  <a:srgbClr val="CF8E6D"/>
                </a:solidFill>
                <a:latin typeface="Consolas"/>
              </a:rPr>
              <a:t>final</a:t>
            </a:r>
            <a:r>
              <a:rPr sz="1800">
                <a:solidFill>
                  <a:srgbClr val="BCBEC4"/>
                </a:solidFill>
                <a:latin typeface="Consolas"/>
              </a:rPr>
              <a:t> </a:t>
            </a:r>
            <a:r>
              <a:rPr sz="1800">
                <a:solidFill>
                  <a:srgbClr val="CF8E6D"/>
                </a:solidFill>
                <a:latin typeface="Consolas"/>
              </a:rPr>
              <a:t>int</a:t>
            </a:r>
            <a:r>
              <a:rPr sz="1800">
                <a:solidFill>
                  <a:srgbClr val="BCBEC4"/>
                </a:solidFill>
                <a:latin typeface="Consolas"/>
              </a:rPr>
              <a:t> ORANGE = </a:t>
            </a:r>
            <a:r>
              <a:rPr sz="1800">
                <a:solidFill>
                  <a:srgbClr val="2AACB8"/>
                </a:solidFill>
                <a:latin typeface="Consolas"/>
              </a:rPr>
              <a:t>1</a:t>
            </a:r>
            <a:r>
              <a:rPr sz="1800">
                <a:solidFill>
                  <a:srgbClr val="BCBEC4"/>
                </a:solidFill>
                <a:latin typeface="Consolas"/>
              </a:rPr>
              <a:t>;</a:t>
            </a:r>
          </a:p>
          <a:p>
            <a:pPr>
              <a:lnSpc>
                <a:spcPct val="100000"/>
              </a:lnSpc>
              <a:spcBef>
                <a:spcPts val="0"/>
              </a:spcBef>
              <a:spcAft>
                <a:spcPts val="0"/>
              </a:spcAft>
            </a:pPr>
            <a:r>
              <a:rPr sz="1800">
                <a:solidFill>
                  <a:srgbClr val="CF8E6D"/>
                </a:solidFill>
                <a:latin typeface="Consolas"/>
              </a:rPr>
              <a:t>static</a:t>
            </a:r>
            <a:r>
              <a:rPr sz="1800">
                <a:solidFill>
                  <a:srgbClr val="BCBEC4"/>
                </a:solidFill>
                <a:latin typeface="Consolas"/>
              </a:rPr>
              <a:t> </a:t>
            </a:r>
            <a:r>
              <a:rPr sz="1800">
                <a:solidFill>
                  <a:srgbClr val="CF8E6D"/>
                </a:solidFill>
                <a:latin typeface="Consolas"/>
              </a:rPr>
              <a:t>final</a:t>
            </a:r>
            <a:r>
              <a:rPr sz="1800">
                <a:solidFill>
                  <a:srgbClr val="BCBEC4"/>
                </a:solidFill>
                <a:latin typeface="Consolas"/>
              </a:rPr>
              <a:t> </a:t>
            </a:r>
            <a:r>
              <a:rPr sz="1800">
                <a:solidFill>
                  <a:srgbClr val="CF8E6D"/>
                </a:solidFill>
                <a:latin typeface="Consolas"/>
              </a:rPr>
              <a:t>int</a:t>
            </a:r>
            <a:r>
              <a:rPr sz="1800">
                <a:solidFill>
                  <a:srgbClr val="BCBEC4"/>
                </a:solidFill>
                <a:latin typeface="Consolas"/>
              </a:rPr>
              <a:t> ROUGE  = </a:t>
            </a:r>
            <a:r>
              <a:rPr sz="1800">
                <a:solidFill>
                  <a:srgbClr val="2AACB8"/>
                </a:solidFill>
                <a:latin typeface="Consolas"/>
              </a:rPr>
              <a:t>2</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feu.</a:t>
            </a:r>
            <a:r>
              <a:rPr sz="1800">
                <a:solidFill>
                  <a:srgbClr val="56A8F5"/>
                </a:solidFill>
                <a:latin typeface="Consolas"/>
              </a:rPr>
              <a:t>setCouleur</a:t>
            </a:r>
            <a:r>
              <a:rPr sz="1800">
                <a:solidFill>
                  <a:srgbClr val="BCBEC4"/>
                </a:solidFill>
                <a:latin typeface="Consolas"/>
              </a:rPr>
              <a:t>(</a:t>
            </a:r>
            <a:r>
              <a:rPr sz="1800">
                <a:solidFill>
                  <a:srgbClr val="2AACB8"/>
                </a:solidFill>
                <a:latin typeface="Consolas"/>
              </a:rPr>
              <a:t>7</a:t>
            </a:r>
            <a:r>
              <a:rPr sz="1800">
                <a:solidFill>
                  <a:srgbClr val="BCBEC4"/>
                </a:solidFill>
                <a:latin typeface="Consolas"/>
              </a:rPr>
              <a:t>);   </a:t>
            </a:r>
            <a:r>
              <a:rPr sz="1800">
                <a:solidFill>
                  <a:srgbClr val="7A7E85"/>
                </a:solidFill>
                <a:latin typeface="Consolas"/>
              </a:rPr>
              <a:t>// compile sans broncher</a:t>
            </a: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4</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1. Des valeurs qui se comptent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nl-BE" sz="4000" dirty="0"/>
              <a:t>Il existe d</a:t>
            </a:r>
            <a:r>
              <a:rPr sz="4000" dirty="0"/>
              <a:t>'</a:t>
            </a:r>
            <a:r>
              <a:rPr sz="4000" dirty="0" err="1"/>
              <a:t>autres</a:t>
            </a:r>
            <a:r>
              <a:rPr sz="4000" dirty="0"/>
              <a:t> types </a:t>
            </a:r>
            <a:r>
              <a:rPr sz="4000" dirty="0" err="1"/>
              <a:t>que</a:t>
            </a:r>
            <a:r>
              <a:rPr sz="4000" dirty="0"/>
              <a:t> la </a:t>
            </a:r>
            <a:r>
              <a:rPr sz="4000" dirty="0" err="1"/>
              <a:t>classe</a:t>
            </a:r>
            <a:endParaRPr sz="4000" dirty="0"/>
          </a:p>
        </p:txBody>
      </p:sp>
      <p:sp>
        <p:nvSpPr>
          <p:cNvPr id="3" name="TextBox 2"/>
          <p:cNvSpPr txBox="1"/>
          <p:nvPr/>
        </p:nvSpPr>
        <p:spPr>
          <a:xfrm>
            <a:off x="777240" y="1371600"/>
            <a:ext cx="2223041" cy="585216"/>
          </a:xfrm>
          <a:prstGeom prst="rect">
            <a:avLst/>
          </a:prstGeom>
          <a:noFill/>
        </p:spPr>
        <p:txBody>
          <a:bodyPr wrap="square" anchor="ctr">
            <a:spAutoFit/>
          </a:bodyPr>
          <a:lstStyle/>
          <a:p>
            <a:r>
              <a:rPr sz="2000" b="1">
                <a:solidFill>
                  <a:schemeClr val="accent4"/>
                </a:solidFill>
              </a:rPr>
              <a:t>Type</a:t>
            </a:r>
          </a:p>
        </p:txBody>
      </p:sp>
      <p:sp>
        <p:nvSpPr>
          <p:cNvPr id="4" name="TextBox 3"/>
          <p:cNvSpPr txBox="1"/>
          <p:nvPr/>
        </p:nvSpPr>
        <p:spPr>
          <a:xfrm>
            <a:off x="3274601" y="1371600"/>
            <a:ext cx="6325849" cy="585216"/>
          </a:xfrm>
          <a:prstGeom prst="rect">
            <a:avLst/>
          </a:prstGeom>
          <a:noFill/>
        </p:spPr>
        <p:txBody>
          <a:bodyPr wrap="square" anchor="ctr">
            <a:spAutoFit/>
          </a:bodyPr>
          <a:lstStyle/>
          <a:p>
            <a:r>
              <a:rPr sz="2000" b="1">
                <a:solidFill>
                  <a:schemeClr val="accent4"/>
                </a:solidFill>
              </a:rPr>
              <a:t>Ce qu'il apporte</a:t>
            </a:r>
          </a:p>
        </p:txBody>
      </p:sp>
      <p:sp>
        <p:nvSpPr>
          <p:cNvPr id="5" name="TextBox 4"/>
          <p:cNvSpPr txBox="1"/>
          <p:nvPr/>
        </p:nvSpPr>
        <p:spPr>
          <a:xfrm>
            <a:off x="9600450" y="1464153"/>
            <a:ext cx="1783829" cy="400110"/>
          </a:xfrm>
          <a:prstGeom prst="rect">
            <a:avLst/>
          </a:prstGeom>
          <a:noFill/>
        </p:spPr>
        <p:txBody>
          <a:bodyPr wrap="square" anchor="ctr">
            <a:spAutoFit/>
          </a:bodyPr>
          <a:lstStyle/>
          <a:p>
            <a:r>
              <a:rPr sz="2000" b="1">
                <a:solidFill>
                  <a:schemeClr val="accent4"/>
                </a:solidFill>
              </a:rPr>
              <a:t>Où</a:t>
            </a:r>
          </a:p>
        </p:txBody>
      </p:sp>
      <p:grpSp>
        <p:nvGrpSpPr>
          <p:cNvPr id="28" name="Groupe 27">
            <a:extLst>
              <a:ext uri="{FF2B5EF4-FFF2-40B4-BE49-F238E27FC236}">
                <a16:creationId xmlns:a16="http://schemas.microsoft.com/office/drawing/2014/main" id="{09BEBA56-4DA3-0980-E524-B4FD82178A4B}"/>
              </a:ext>
            </a:extLst>
          </p:cNvPr>
          <p:cNvGrpSpPr/>
          <p:nvPr/>
        </p:nvGrpSpPr>
        <p:grpSpPr>
          <a:xfrm>
            <a:off x="640080" y="2029967"/>
            <a:ext cx="10881360" cy="585216"/>
            <a:chOff x="640080" y="2029967"/>
            <a:chExt cx="10881360" cy="585216"/>
          </a:xfrm>
        </p:grpSpPr>
        <p:sp>
          <p:nvSpPr>
            <p:cNvPr id="6" name="Rounded Rectangle 5"/>
            <p:cNvSpPr/>
            <p:nvPr/>
          </p:nvSpPr>
          <p:spPr>
            <a:xfrm>
              <a:off x="640080" y="2029967"/>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2029967"/>
              <a:ext cx="2223041" cy="585216"/>
            </a:xfrm>
            <a:prstGeom prst="rect">
              <a:avLst/>
            </a:prstGeom>
            <a:noFill/>
          </p:spPr>
          <p:txBody>
            <a:bodyPr wrap="square" anchor="ctr">
              <a:spAutoFit/>
            </a:bodyPr>
            <a:lstStyle/>
            <a:p>
              <a:r>
                <a:rPr sz="1900">
                  <a:solidFill>
                    <a:schemeClr val="accent4"/>
                  </a:solidFill>
                  <a:latin typeface="Consolas"/>
                </a:rPr>
                <a:t>enum</a:t>
              </a:r>
            </a:p>
          </p:txBody>
        </p:sp>
        <p:sp>
          <p:nvSpPr>
            <p:cNvPr id="8" name="TextBox 7"/>
            <p:cNvSpPr txBox="1"/>
            <p:nvPr/>
          </p:nvSpPr>
          <p:spPr>
            <a:xfrm>
              <a:off x="3274601" y="2029967"/>
              <a:ext cx="6325849" cy="585216"/>
            </a:xfrm>
            <a:prstGeom prst="rect">
              <a:avLst/>
            </a:prstGeom>
            <a:noFill/>
          </p:spPr>
          <p:txBody>
            <a:bodyPr wrap="square" anchor="ctr">
              <a:spAutoFit/>
            </a:bodyPr>
            <a:lstStyle/>
            <a:p>
              <a:r>
                <a:rPr sz="2200">
                  <a:solidFill>
                    <a:srgbClr val="FFFFFF"/>
                  </a:solidFill>
                </a:rPr>
                <a:t>une liste de valeurs fermée</a:t>
              </a:r>
            </a:p>
          </p:txBody>
        </p:sp>
        <p:sp>
          <p:nvSpPr>
            <p:cNvPr id="9" name="TextBox 8"/>
            <p:cNvSpPr txBox="1"/>
            <p:nvPr/>
          </p:nvSpPr>
          <p:spPr>
            <a:xfrm>
              <a:off x="9600450" y="2107131"/>
              <a:ext cx="1783829" cy="430887"/>
            </a:xfrm>
            <a:prstGeom prst="rect">
              <a:avLst/>
            </a:prstGeom>
            <a:noFill/>
          </p:spPr>
          <p:txBody>
            <a:bodyPr wrap="square" anchor="ctr">
              <a:spAutoFit/>
            </a:bodyPr>
            <a:lstStyle/>
            <a:p>
              <a:r>
                <a:rPr sz="2200">
                  <a:solidFill>
                    <a:srgbClr val="FFFFFF"/>
                  </a:solidFill>
                </a:rPr>
                <a:t>ce module</a:t>
              </a:r>
            </a:p>
          </p:txBody>
        </p:sp>
      </p:grpSp>
      <p:grpSp>
        <p:nvGrpSpPr>
          <p:cNvPr id="29" name="Groupe 28">
            <a:extLst>
              <a:ext uri="{FF2B5EF4-FFF2-40B4-BE49-F238E27FC236}">
                <a16:creationId xmlns:a16="http://schemas.microsoft.com/office/drawing/2014/main" id="{BC0E6C4E-6EFF-2F41-D3CE-FACA94DC529C}"/>
              </a:ext>
            </a:extLst>
          </p:cNvPr>
          <p:cNvGrpSpPr/>
          <p:nvPr/>
        </p:nvGrpSpPr>
        <p:grpSpPr>
          <a:xfrm>
            <a:off x="640080" y="2688335"/>
            <a:ext cx="10881360" cy="585216"/>
            <a:chOff x="640080" y="2688335"/>
            <a:chExt cx="10881360" cy="585216"/>
          </a:xfrm>
        </p:grpSpPr>
        <p:sp>
          <p:nvSpPr>
            <p:cNvPr id="10" name="Rounded Rectangle 9"/>
            <p:cNvSpPr/>
            <p:nvPr/>
          </p:nvSpPr>
          <p:spPr>
            <a:xfrm>
              <a:off x="640080" y="2688335"/>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2688335"/>
              <a:ext cx="2223041" cy="585216"/>
            </a:xfrm>
            <a:prstGeom prst="rect">
              <a:avLst/>
            </a:prstGeom>
            <a:noFill/>
          </p:spPr>
          <p:txBody>
            <a:bodyPr wrap="square" anchor="ctr">
              <a:spAutoFit/>
            </a:bodyPr>
            <a:lstStyle/>
            <a:p>
              <a:r>
                <a:rPr sz="1900">
                  <a:solidFill>
                    <a:schemeClr val="accent4"/>
                  </a:solidFill>
                  <a:latin typeface="Consolas"/>
                </a:rPr>
                <a:t>record</a:t>
              </a:r>
            </a:p>
          </p:txBody>
        </p:sp>
        <p:sp>
          <p:nvSpPr>
            <p:cNvPr id="12" name="TextBox 11"/>
            <p:cNvSpPr txBox="1"/>
            <p:nvPr/>
          </p:nvSpPr>
          <p:spPr>
            <a:xfrm>
              <a:off x="3274601" y="2688335"/>
              <a:ext cx="6325849" cy="585216"/>
            </a:xfrm>
            <a:prstGeom prst="rect">
              <a:avLst/>
            </a:prstGeom>
            <a:noFill/>
          </p:spPr>
          <p:txBody>
            <a:bodyPr wrap="square" anchor="ctr">
              <a:spAutoFit/>
            </a:bodyPr>
            <a:lstStyle/>
            <a:p>
              <a:r>
                <a:rPr sz="2200">
                  <a:solidFill>
                    <a:srgbClr val="FFFFFF"/>
                  </a:solidFill>
                </a:rPr>
                <a:t>une donnée immuable, en une ligne</a:t>
              </a:r>
            </a:p>
          </p:txBody>
        </p:sp>
        <p:sp>
          <p:nvSpPr>
            <p:cNvPr id="13" name="TextBox 12"/>
            <p:cNvSpPr txBox="1"/>
            <p:nvPr/>
          </p:nvSpPr>
          <p:spPr>
            <a:xfrm>
              <a:off x="9600450" y="2765499"/>
              <a:ext cx="1783829" cy="430887"/>
            </a:xfrm>
            <a:prstGeom prst="rect">
              <a:avLst/>
            </a:prstGeom>
            <a:noFill/>
          </p:spPr>
          <p:txBody>
            <a:bodyPr wrap="square" anchor="ctr">
              <a:spAutoFit/>
            </a:bodyPr>
            <a:lstStyle/>
            <a:p>
              <a:r>
                <a:rPr sz="2200">
                  <a:solidFill>
                    <a:srgbClr val="FFFFFF"/>
                  </a:solidFill>
                </a:rPr>
                <a:t>ce module</a:t>
              </a:r>
            </a:p>
          </p:txBody>
        </p:sp>
      </p:grpSp>
      <p:grpSp>
        <p:nvGrpSpPr>
          <p:cNvPr id="30" name="Groupe 29">
            <a:extLst>
              <a:ext uri="{FF2B5EF4-FFF2-40B4-BE49-F238E27FC236}">
                <a16:creationId xmlns:a16="http://schemas.microsoft.com/office/drawing/2014/main" id="{8D699020-1969-62C0-825A-F04B077F19CD}"/>
              </a:ext>
            </a:extLst>
          </p:cNvPr>
          <p:cNvGrpSpPr/>
          <p:nvPr/>
        </p:nvGrpSpPr>
        <p:grpSpPr>
          <a:xfrm>
            <a:off x="640080" y="3346703"/>
            <a:ext cx="10881360" cy="585216"/>
            <a:chOff x="640080" y="3346703"/>
            <a:chExt cx="10881360" cy="585216"/>
          </a:xfrm>
        </p:grpSpPr>
        <p:sp>
          <p:nvSpPr>
            <p:cNvPr id="14" name="Rounded Rectangle 13"/>
            <p:cNvSpPr/>
            <p:nvPr/>
          </p:nvSpPr>
          <p:spPr>
            <a:xfrm>
              <a:off x="640080" y="3346703"/>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3346703"/>
              <a:ext cx="2223041" cy="585216"/>
            </a:xfrm>
            <a:prstGeom prst="rect">
              <a:avLst/>
            </a:prstGeom>
            <a:noFill/>
          </p:spPr>
          <p:txBody>
            <a:bodyPr wrap="square" anchor="ctr">
              <a:spAutoFit/>
            </a:bodyPr>
            <a:lstStyle/>
            <a:p>
              <a:r>
                <a:rPr sz="1900">
                  <a:solidFill>
                    <a:schemeClr val="accent4"/>
                  </a:solidFill>
                  <a:latin typeface="Consolas"/>
                </a:rPr>
                <a:t>abstract class</a:t>
              </a:r>
            </a:p>
          </p:txBody>
        </p:sp>
        <p:sp>
          <p:nvSpPr>
            <p:cNvPr id="16" name="TextBox 15"/>
            <p:cNvSpPr txBox="1"/>
            <p:nvPr/>
          </p:nvSpPr>
          <p:spPr>
            <a:xfrm>
              <a:off x="3274601" y="3346703"/>
              <a:ext cx="6325849" cy="585216"/>
            </a:xfrm>
            <a:prstGeom prst="rect">
              <a:avLst/>
            </a:prstGeom>
            <a:noFill/>
          </p:spPr>
          <p:txBody>
            <a:bodyPr wrap="square" anchor="ctr">
              <a:spAutoFit/>
            </a:bodyPr>
            <a:lstStyle/>
            <a:p>
              <a:r>
                <a:rPr sz="2200">
                  <a:solidFill>
                    <a:srgbClr val="FFFFFF"/>
                  </a:solidFill>
                </a:rPr>
                <a:t>un comportement partagé, incomplet</a:t>
              </a:r>
            </a:p>
          </p:txBody>
        </p:sp>
        <p:sp>
          <p:nvSpPr>
            <p:cNvPr id="17" name="TextBox 16"/>
            <p:cNvSpPr txBox="1"/>
            <p:nvPr/>
          </p:nvSpPr>
          <p:spPr>
            <a:xfrm>
              <a:off x="9600450" y="3423867"/>
              <a:ext cx="1783829" cy="430887"/>
            </a:xfrm>
            <a:prstGeom prst="rect">
              <a:avLst/>
            </a:prstGeom>
            <a:noFill/>
          </p:spPr>
          <p:txBody>
            <a:bodyPr wrap="square" anchor="ctr">
              <a:spAutoFit/>
            </a:bodyPr>
            <a:lstStyle/>
            <a:p>
              <a:r>
                <a:rPr sz="2200">
                  <a:solidFill>
                    <a:srgbClr val="FFFFFF"/>
                  </a:solidFill>
                </a:rPr>
                <a:t>module ABS</a:t>
              </a:r>
            </a:p>
          </p:txBody>
        </p:sp>
      </p:grpSp>
      <p:grpSp>
        <p:nvGrpSpPr>
          <p:cNvPr id="31" name="Groupe 30">
            <a:extLst>
              <a:ext uri="{FF2B5EF4-FFF2-40B4-BE49-F238E27FC236}">
                <a16:creationId xmlns:a16="http://schemas.microsoft.com/office/drawing/2014/main" id="{D90B6C64-3199-0346-6CDE-FC93C5A0BCB1}"/>
              </a:ext>
            </a:extLst>
          </p:cNvPr>
          <p:cNvGrpSpPr/>
          <p:nvPr/>
        </p:nvGrpSpPr>
        <p:grpSpPr>
          <a:xfrm>
            <a:off x="640080" y="4005071"/>
            <a:ext cx="10881360" cy="585216"/>
            <a:chOff x="640080" y="4005071"/>
            <a:chExt cx="10881360" cy="585216"/>
          </a:xfrm>
        </p:grpSpPr>
        <p:sp>
          <p:nvSpPr>
            <p:cNvPr id="18" name="Rounded Rectangle 17"/>
            <p:cNvSpPr/>
            <p:nvPr/>
          </p:nvSpPr>
          <p:spPr>
            <a:xfrm>
              <a:off x="640080" y="4005071"/>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7240" y="4005071"/>
              <a:ext cx="2223041" cy="585216"/>
            </a:xfrm>
            <a:prstGeom prst="rect">
              <a:avLst/>
            </a:prstGeom>
            <a:noFill/>
          </p:spPr>
          <p:txBody>
            <a:bodyPr wrap="square" anchor="ctr">
              <a:spAutoFit/>
            </a:bodyPr>
            <a:lstStyle/>
            <a:p>
              <a:r>
                <a:rPr sz="1900">
                  <a:solidFill>
                    <a:schemeClr val="accent4"/>
                  </a:solidFill>
                  <a:latin typeface="Consolas"/>
                </a:rPr>
                <a:t>interface</a:t>
              </a:r>
            </a:p>
          </p:txBody>
        </p:sp>
        <p:sp>
          <p:nvSpPr>
            <p:cNvPr id="20" name="TextBox 19"/>
            <p:cNvSpPr txBox="1"/>
            <p:nvPr/>
          </p:nvSpPr>
          <p:spPr>
            <a:xfrm>
              <a:off x="3274601" y="4005071"/>
              <a:ext cx="6325849" cy="585216"/>
            </a:xfrm>
            <a:prstGeom prst="rect">
              <a:avLst/>
            </a:prstGeom>
            <a:noFill/>
          </p:spPr>
          <p:txBody>
            <a:bodyPr wrap="square" anchor="ctr">
              <a:spAutoFit/>
            </a:bodyPr>
            <a:lstStyle/>
            <a:p>
              <a:r>
                <a:rPr sz="2200">
                  <a:solidFill>
                    <a:srgbClr val="FFFFFF"/>
                  </a:solidFill>
                </a:rPr>
                <a:t>un contrat sans implémentation</a:t>
              </a:r>
            </a:p>
          </p:txBody>
        </p:sp>
        <p:sp>
          <p:nvSpPr>
            <p:cNvPr id="21" name="TextBox 20"/>
            <p:cNvSpPr txBox="1"/>
            <p:nvPr/>
          </p:nvSpPr>
          <p:spPr>
            <a:xfrm>
              <a:off x="9600450" y="4082235"/>
              <a:ext cx="1783829" cy="430887"/>
            </a:xfrm>
            <a:prstGeom prst="rect">
              <a:avLst/>
            </a:prstGeom>
            <a:noFill/>
          </p:spPr>
          <p:txBody>
            <a:bodyPr wrap="square" anchor="ctr">
              <a:spAutoFit/>
            </a:bodyPr>
            <a:lstStyle/>
            <a:p>
              <a:r>
                <a:rPr sz="2200" dirty="0">
                  <a:solidFill>
                    <a:srgbClr val="FFFFFF"/>
                  </a:solidFill>
                </a:rPr>
                <a:t>module ITF</a:t>
              </a:r>
            </a:p>
          </p:txBody>
        </p:sp>
      </p:grpSp>
      <p:grpSp>
        <p:nvGrpSpPr>
          <p:cNvPr id="32" name="Groupe 31">
            <a:extLst>
              <a:ext uri="{FF2B5EF4-FFF2-40B4-BE49-F238E27FC236}">
                <a16:creationId xmlns:a16="http://schemas.microsoft.com/office/drawing/2014/main" id="{864590BF-E973-8691-2576-1537FA346ADA}"/>
              </a:ext>
            </a:extLst>
          </p:cNvPr>
          <p:cNvGrpSpPr/>
          <p:nvPr/>
        </p:nvGrpSpPr>
        <p:grpSpPr>
          <a:xfrm>
            <a:off x="640080" y="4663439"/>
            <a:ext cx="10881360" cy="585216"/>
            <a:chOff x="640080" y="4663439"/>
            <a:chExt cx="10881360" cy="585216"/>
          </a:xfrm>
        </p:grpSpPr>
        <p:sp>
          <p:nvSpPr>
            <p:cNvPr id="22" name="Rounded Rectangle 21"/>
            <p:cNvSpPr/>
            <p:nvPr/>
          </p:nvSpPr>
          <p:spPr>
            <a:xfrm>
              <a:off x="640080" y="4663439"/>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77240" y="4663439"/>
              <a:ext cx="2223041" cy="585216"/>
            </a:xfrm>
            <a:prstGeom prst="rect">
              <a:avLst/>
            </a:prstGeom>
            <a:noFill/>
          </p:spPr>
          <p:txBody>
            <a:bodyPr wrap="square" anchor="ctr">
              <a:spAutoFit/>
            </a:bodyPr>
            <a:lstStyle/>
            <a:p>
              <a:r>
                <a:rPr sz="2200">
                  <a:solidFill>
                    <a:srgbClr val="FFFFFF"/>
                  </a:solidFill>
                </a:rPr>
                <a:t>classe anonyme</a:t>
              </a:r>
            </a:p>
          </p:txBody>
        </p:sp>
        <p:sp>
          <p:nvSpPr>
            <p:cNvPr id="24" name="TextBox 23"/>
            <p:cNvSpPr txBox="1"/>
            <p:nvPr/>
          </p:nvSpPr>
          <p:spPr>
            <a:xfrm>
              <a:off x="3274601" y="4663439"/>
              <a:ext cx="6325849" cy="585216"/>
            </a:xfrm>
            <a:prstGeom prst="rect">
              <a:avLst/>
            </a:prstGeom>
            <a:noFill/>
          </p:spPr>
          <p:txBody>
            <a:bodyPr wrap="square" anchor="ctr">
              <a:spAutoFit/>
            </a:bodyPr>
            <a:lstStyle/>
            <a:p>
              <a:r>
                <a:rPr sz="2200">
                  <a:solidFill>
                    <a:srgbClr val="FFFFFF"/>
                  </a:solidFill>
                </a:rPr>
                <a:t>une classe écrite sur place, sans nom</a:t>
              </a:r>
            </a:p>
          </p:txBody>
        </p:sp>
        <p:sp>
          <p:nvSpPr>
            <p:cNvPr id="25" name="TextBox 24"/>
            <p:cNvSpPr txBox="1"/>
            <p:nvPr/>
          </p:nvSpPr>
          <p:spPr>
            <a:xfrm>
              <a:off x="9600450" y="4740603"/>
              <a:ext cx="1783829" cy="430887"/>
            </a:xfrm>
            <a:prstGeom prst="rect">
              <a:avLst/>
            </a:prstGeom>
            <a:noFill/>
          </p:spPr>
          <p:txBody>
            <a:bodyPr wrap="square" anchor="ctr">
              <a:spAutoFit/>
            </a:bodyPr>
            <a:lstStyle/>
            <a:p>
              <a:r>
                <a:rPr sz="2200">
                  <a:solidFill>
                    <a:srgbClr val="FFFFFF"/>
                  </a:solidFill>
                </a:rPr>
                <a:t>module LAM</a:t>
              </a:r>
            </a:p>
          </p:txBody>
        </p:sp>
      </p:grpSp>
      <p:sp>
        <p:nvSpPr>
          <p:cNvPr id="2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5</a:t>
            </a:fld>
            <a:endParaRPr lang="fr-FR"/>
          </a:p>
        </p:txBody>
      </p:sp>
      <p:sp>
        <p:nvSpPr>
          <p:cNvPr id="2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1. Des valeurs qui se comptent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wipe(left)">
                                      <p:cBhvr>
                                        <p:cTn id="7" dur="5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wipe(left)">
                                      <p:cBhvr>
                                        <p:cTn id="12" dur="5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wipe(left)">
                                      <p:cBhvr>
                                        <p:cTn id="17" dur="5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wipe(left)">
                                      <p:cBhvr>
                                        <p:cTn id="22" dur="5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wipe(left)">
                                      <p:cBhvr>
                                        <p:cTn id="2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2" descr="ENU_section2.jpg"/>
          <p:cNvPicPr>
            <a:picLocks noChangeAspect="1"/>
          </p:cNvPicPr>
          <p:nvPr/>
        </p:nvPicPr>
        <p:blipFill>
          <a:blip r:embed="rId4"/>
          <a:stretch>
            <a:fillRect/>
          </a:stretch>
        </p:blipFill>
        <p:spPr>
          <a:xfrm>
            <a:off x="-66261" y="0"/>
            <a:ext cx="12324522" cy="689113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10244381" cy="1105200"/>
          </a:xfrm>
          <a:prstGeom prst="rect">
            <a:avLst/>
          </a:prstGeom>
          <a:solidFill>
            <a:schemeClr val="bg2">
              <a:lumMod val="75000"/>
              <a:alpha val="74510"/>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2. Déclarer une énumération</a:t>
            </a:r>
            <a:endParaRPr lang="fr-FR"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6</a:t>
            </a:fld>
            <a:endParaRPr lang="fr-F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Déclarer une énumération</a:t>
            </a:r>
          </a:p>
        </p:txBody>
      </p:sp>
      <p:sp>
        <p:nvSpPr>
          <p:cNvPr id="3" name="Content Placeholder 2"/>
          <p:cNvSpPr>
            <a:spLocks noGrp="1"/>
          </p:cNvSpPr>
          <p:nvPr>
            <p:ph idx="1"/>
          </p:nvPr>
        </p:nvSpPr>
        <p:spPr>
          <a:xfrm>
            <a:off x="640080" y="1371600"/>
            <a:ext cx="10881360" cy="2651760"/>
          </a:xfrm>
        </p:spPr>
        <p:txBody>
          <a:bodyPr/>
          <a:lstStyle/>
          <a:p>
            <a:pPr marL="0" indent="0">
              <a:spcAft>
                <a:spcPts val="1000"/>
              </a:spcAft>
              <a:buNone/>
            </a:pPr>
            <a:r>
              <a:rPr sz="2800" dirty="0"/>
              <a:t>Le mot-</a:t>
            </a:r>
            <a:r>
              <a:rPr sz="2800" dirty="0" err="1"/>
              <a:t>clé</a:t>
            </a:r>
            <a:r>
              <a:rPr sz="2800" dirty="0"/>
              <a:t> </a:t>
            </a:r>
            <a:r>
              <a:rPr sz="2400" dirty="0" err="1">
                <a:solidFill>
                  <a:schemeClr val="accent4"/>
                </a:solidFill>
                <a:latin typeface="Consolas"/>
              </a:rPr>
              <a:t>enum</a:t>
            </a:r>
            <a:r>
              <a:rPr sz="2800" dirty="0"/>
              <a:t> </a:t>
            </a:r>
            <a:r>
              <a:rPr sz="2800" dirty="0" err="1"/>
              <a:t>remplace</a:t>
            </a:r>
            <a:r>
              <a:rPr sz="2800" dirty="0"/>
              <a:t> </a:t>
            </a:r>
            <a:r>
              <a:rPr sz="2400" dirty="0">
                <a:solidFill>
                  <a:schemeClr val="accent4"/>
                </a:solidFill>
                <a:latin typeface="Consolas"/>
              </a:rPr>
              <a:t>class</a:t>
            </a:r>
          </a:p>
          <a:p>
            <a:pPr marL="0" indent="0">
              <a:spcAft>
                <a:spcPts val="1000"/>
              </a:spcAft>
              <a:buNone/>
            </a:pPr>
            <a:r>
              <a:rPr sz="2800" dirty="0"/>
              <a:t>Les </a:t>
            </a:r>
            <a:r>
              <a:rPr sz="2800" dirty="0" err="1"/>
              <a:t>constantes</a:t>
            </a:r>
            <a:r>
              <a:rPr sz="2800" dirty="0"/>
              <a:t> </a:t>
            </a:r>
            <a:r>
              <a:rPr sz="2800" dirty="0" err="1"/>
              <a:t>s'écrivent</a:t>
            </a:r>
            <a:r>
              <a:rPr sz="2800" dirty="0"/>
              <a:t> </a:t>
            </a:r>
            <a:r>
              <a:rPr sz="2800" dirty="0" err="1"/>
              <a:t>en</a:t>
            </a:r>
            <a:r>
              <a:rPr sz="2800" dirty="0"/>
              <a:t> majuscules, </a:t>
            </a:r>
            <a:r>
              <a:rPr sz="2800" dirty="0" err="1"/>
              <a:t>séparées</a:t>
            </a:r>
            <a:r>
              <a:rPr sz="2800" dirty="0"/>
              <a:t> par des virgules</a:t>
            </a:r>
          </a:p>
          <a:p>
            <a:pPr marL="0" indent="0">
              <a:spcAft>
                <a:spcPts val="1000"/>
              </a:spcAft>
              <a:buNone/>
            </a:pPr>
            <a:r>
              <a:rPr sz="2800" dirty="0"/>
              <a:t>Une variable de </a:t>
            </a:r>
            <a:r>
              <a:rPr sz="2800" dirty="0" err="1"/>
              <a:t>ce</a:t>
            </a:r>
            <a:r>
              <a:rPr sz="2800" dirty="0"/>
              <a:t> type </a:t>
            </a:r>
            <a:r>
              <a:rPr sz="2800" dirty="0" err="1"/>
              <a:t>n'accepte</a:t>
            </a:r>
            <a:r>
              <a:rPr sz="2800" dirty="0"/>
              <a:t> rien </a:t>
            </a:r>
            <a:r>
              <a:rPr sz="2800" dirty="0" err="1"/>
              <a:t>d'autre</a:t>
            </a:r>
            <a:r>
              <a:rPr sz="2800" dirty="0"/>
              <a:t> </a:t>
            </a:r>
            <a:r>
              <a:rPr sz="2800" dirty="0" err="1"/>
              <a:t>que</a:t>
            </a:r>
            <a:r>
              <a:rPr sz="2800" dirty="0"/>
              <a:t> </a:t>
            </a:r>
            <a:r>
              <a:rPr sz="2800" dirty="0" err="1"/>
              <a:t>ces</a:t>
            </a:r>
            <a:r>
              <a:rPr sz="2800" dirty="0"/>
              <a:t> </a:t>
            </a:r>
            <a:r>
              <a:rPr sz="2800" dirty="0" err="1"/>
              <a:t>valeurs</a:t>
            </a:r>
            <a:endParaRPr sz="2800" dirty="0"/>
          </a:p>
        </p:txBody>
      </p:sp>
      <p:sp>
        <p:nvSpPr>
          <p:cNvPr id="4" name="Code"/>
          <p:cNvSpPr txBox="1"/>
          <p:nvPr/>
        </p:nvSpPr>
        <p:spPr>
          <a:xfrm>
            <a:off x="1962150" y="4160520"/>
            <a:ext cx="8267700" cy="1645920"/>
          </a:xfrm>
          <a:prstGeom prst="roundRect">
            <a:avLst>
              <a:gd name="adj" fmla="val 5555"/>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enum</a:t>
            </a:r>
            <a:r>
              <a:rPr sz="1800">
                <a:solidFill>
                  <a:srgbClr val="BCBEC4"/>
                </a:solidFill>
                <a:latin typeface="Consolas"/>
              </a:rPr>
              <a:t> CouleurDeFeu { VERT, ORANGE, ROUGE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CouleurDeFeu couleur = CouleurDeFeu.VERT;</a:t>
            </a:r>
          </a:p>
          <a:p>
            <a:pPr>
              <a:lnSpc>
                <a:spcPct val="100000"/>
              </a:lnSpc>
              <a:spcBef>
                <a:spcPts val="0"/>
              </a:spcBef>
              <a:spcAft>
                <a:spcPts val="0"/>
              </a:spcAft>
            </a:pPr>
            <a:r>
              <a:rPr sz="1800">
                <a:solidFill>
                  <a:srgbClr val="BCBEC4"/>
                </a:solidFill>
                <a:latin typeface="Consolas"/>
              </a:rPr>
              <a:t>couleur = CouleurDeFeu.ROUGE;   </a:t>
            </a:r>
            <a:r>
              <a:rPr sz="1800">
                <a:solidFill>
                  <a:srgbClr val="7A7E85"/>
                </a:solidFill>
                <a:latin typeface="Consolas"/>
              </a:rPr>
              <a:t>// d'accord</a:t>
            </a:r>
          </a:p>
          <a:p>
            <a:pPr>
              <a:lnSpc>
                <a:spcPct val="100000"/>
              </a:lnSpc>
              <a:spcBef>
                <a:spcPts val="0"/>
              </a:spcBef>
              <a:spcAft>
                <a:spcPts val="0"/>
              </a:spcAft>
            </a:pPr>
            <a:r>
              <a:rPr sz="1800">
                <a:solidFill>
                  <a:srgbClr val="BCBEC4"/>
                </a:solidFill>
                <a:latin typeface="Consolas"/>
              </a:rPr>
              <a:t>couleur = </a:t>
            </a:r>
            <a:r>
              <a:rPr sz="1800">
                <a:solidFill>
                  <a:srgbClr val="2AACB8"/>
                </a:solidFill>
                <a:latin typeface="Consolas"/>
              </a:rPr>
              <a:t>7</a:t>
            </a:r>
            <a:r>
              <a:rPr sz="1800">
                <a:solidFill>
                  <a:srgbClr val="BCBEC4"/>
                </a:solidFill>
                <a:latin typeface="Consolas"/>
              </a:rPr>
              <a:t>;                    </a:t>
            </a:r>
            <a:r>
              <a:rPr sz="1800">
                <a:solidFill>
                  <a:srgbClr val="7A7E85"/>
                </a:solidFill>
                <a:latin typeface="Consolas"/>
              </a:rPr>
              <a:t>// refus a la compilation</a:t>
            </a: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7</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2. Déclarer une énumération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Ce que toute énumération sait faire</a:t>
            </a:r>
          </a:p>
        </p:txBody>
      </p:sp>
      <p:sp>
        <p:nvSpPr>
          <p:cNvPr id="3" name="TextBox 2"/>
          <p:cNvSpPr txBox="1"/>
          <p:nvPr/>
        </p:nvSpPr>
        <p:spPr>
          <a:xfrm>
            <a:off x="777239" y="1464153"/>
            <a:ext cx="2522551" cy="400110"/>
          </a:xfrm>
          <a:prstGeom prst="rect">
            <a:avLst/>
          </a:prstGeom>
          <a:noFill/>
        </p:spPr>
        <p:txBody>
          <a:bodyPr wrap="square" anchor="ctr">
            <a:spAutoFit/>
          </a:bodyPr>
          <a:lstStyle/>
          <a:p>
            <a:r>
              <a:rPr sz="2000" b="1">
                <a:solidFill>
                  <a:schemeClr val="accent4"/>
                </a:solidFill>
              </a:rPr>
              <a:t>Appel</a:t>
            </a:r>
          </a:p>
        </p:txBody>
      </p:sp>
      <p:sp>
        <p:nvSpPr>
          <p:cNvPr id="4" name="TextBox 3"/>
          <p:cNvSpPr txBox="1"/>
          <p:nvPr/>
        </p:nvSpPr>
        <p:spPr>
          <a:xfrm>
            <a:off x="3588385" y="1371600"/>
            <a:ext cx="5015230" cy="585216"/>
          </a:xfrm>
          <a:prstGeom prst="rect">
            <a:avLst/>
          </a:prstGeom>
          <a:noFill/>
        </p:spPr>
        <p:txBody>
          <a:bodyPr wrap="square" anchor="ctr">
            <a:spAutoFit/>
          </a:bodyPr>
          <a:lstStyle/>
          <a:p>
            <a:r>
              <a:rPr sz="2000" b="1">
                <a:solidFill>
                  <a:schemeClr val="accent4"/>
                </a:solidFill>
              </a:rPr>
              <a:t>Ce qu'il retourne</a:t>
            </a:r>
          </a:p>
        </p:txBody>
      </p:sp>
      <p:sp>
        <p:nvSpPr>
          <p:cNvPr id="5" name="TextBox 4"/>
          <p:cNvSpPr txBox="1"/>
          <p:nvPr/>
        </p:nvSpPr>
        <p:spPr>
          <a:xfrm>
            <a:off x="8083826" y="1464153"/>
            <a:ext cx="3300454" cy="400110"/>
          </a:xfrm>
          <a:prstGeom prst="rect">
            <a:avLst/>
          </a:prstGeom>
          <a:noFill/>
        </p:spPr>
        <p:txBody>
          <a:bodyPr wrap="square" anchor="ctr">
            <a:spAutoFit/>
          </a:bodyPr>
          <a:lstStyle/>
          <a:p>
            <a:r>
              <a:rPr sz="2000" b="1">
                <a:solidFill>
                  <a:schemeClr val="accent4"/>
                </a:solidFill>
              </a:rPr>
              <a:t>Exemple</a:t>
            </a:r>
          </a:p>
        </p:txBody>
      </p:sp>
      <p:grpSp>
        <p:nvGrpSpPr>
          <p:cNvPr id="28" name="Groupe 27">
            <a:extLst>
              <a:ext uri="{FF2B5EF4-FFF2-40B4-BE49-F238E27FC236}">
                <a16:creationId xmlns:a16="http://schemas.microsoft.com/office/drawing/2014/main" id="{029EDE5C-E938-A1E8-C229-F72F8754B2D4}"/>
              </a:ext>
            </a:extLst>
          </p:cNvPr>
          <p:cNvGrpSpPr/>
          <p:nvPr/>
        </p:nvGrpSpPr>
        <p:grpSpPr>
          <a:xfrm>
            <a:off x="640080" y="2029967"/>
            <a:ext cx="10881360" cy="585216"/>
            <a:chOff x="640080" y="2029967"/>
            <a:chExt cx="10881360" cy="585216"/>
          </a:xfrm>
        </p:grpSpPr>
        <p:sp>
          <p:nvSpPr>
            <p:cNvPr id="6" name="Rounded Rectangle 5"/>
            <p:cNvSpPr/>
            <p:nvPr/>
          </p:nvSpPr>
          <p:spPr>
            <a:xfrm>
              <a:off x="640080" y="2029967"/>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39" y="2130214"/>
              <a:ext cx="2522551" cy="384721"/>
            </a:xfrm>
            <a:prstGeom prst="rect">
              <a:avLst/>
            </a:prstGeom>
            <a:noFill/>
          </p:spPr>
          <p:txBody>
            <a:bodyPr wrap="square" anchor="ctr">
              <a:spAutoFit/>
            </a:bodyPr>
            <a:lstStyle/>
            <a:p>
              <a:r>
                <a:rPr sz="1900">
                  <a:solidFill>
                    <a:schemeClr val="accent4"/>
                  </a:solidFill>
                  <a:latin typeface="Consolas"/>
                </a:rPr>
                <a:t>name()</a:t>
              </a:r>
            </a:p>
          </p:txBody>
        </p:sp>
        <p:sp>
          <p:nvSpPr>
            <p:cNvPr id="8" name="TextBox 7"/>
            <p:cNvSpPr txBox="1"/>
            <p:nvPr/>
          </p:nvSpPr>
          <p:spPr>
            <a:xfrm>
              <a:off x="3588385" y="2029967"/>
              <a:ext cx="5015230" cy="585216"/>
            </a:xfrm>
            <a:prstGeom prst="rect">
              <a:avLst/>
            </a:prstGeom>
            <a:noFill/>
          </p:spPr>
          <p:txBody>
            <a:bodyPr wrap="square" anchor="ctr">
              <a:spAutoFit/>
            </a:bodyPr>
            <a:lstStyle/>
            <a:p>
              <a:r>
                <a:rPr sz="2200" dirty="0">
                  <a:solidFill>
                    <a:srgbClr val="FFFFFF"/>
                  </a:solidFill>
                </a:rPr>
                <a:t>le nom de la </a:t>
              </a:r>
              <a:r>
                <a:rPr sz="2200" dirty="0" err="1">
                  <a:solidFill>
                    <a:srgbClr val="FFFFFF"/>
                  </a:solidFill>
                </a:rPr>
                <a:t>constante</a:t>
              </a:r>
              <a:endParaRPr sz="2200" dirty="0">
                <a:solidFill>
                  <a:srgbClr val="FFFFFF"/>
                </a:solidFill>
              </a:endParaRPr>
            </a:p>
          </p:txBody>
        </p:sp>
        <p:sp>
          <p:nvSpPr>
            <p:cNvPr id="9" name="TextBox 8"/>
            <p:cNvSpPr txBox="1"/>
            <p:nvPr/>
          </p:nvSpPr>
          <p:spPr>
            <a:xfrm>
              <a:off x="8083826" y="2130214"/>
              <a:ext cx="3300454" cy="384721"/>
            </a:xfrm>
            <a:prstGeom prst="rect">
              <a:avLst/>
            </a:prstGeom>
            <a:noFill/>
          </p:spPr>
          <p:txBody>
            <a:bodyPr wrap="square" anchor="ctr">
              <a:spAutoFit/>
            </a:bodyPr>
            <a:lstStyle/>
            <a:p>
              <a:r>
                <a:rPr sz="1900">
                  <a:solidFill>
                    <a:schemeClr val="accent4"/>
                  </a:solidFill>
                  <a:latin typeface="Consolas"/>
                </a:rPr>
                <a:t>"ROUGE"</a:t>
              </a:r>
            </a:p>
          </p:txBody>
        </p:sp>
      </p:grpSp>
      <p:grpSp>
        <p:nvGrpSpPr>
          <p:cNvPr id="29" name="Groupe 28">
            <a:extLst>
              <a:ext uri="{FF2B5EF4-FFF2-40B4-BE49-F238E27FC236}">
                <a16:creationId xmlns:a16="http://schemas.microsoft.com/office/drawing/2014/main" id="{D3196A16-6D34-3509-DACE-8C918D03EAB9}"/>
              </a:ext>
            </a:extLst>
          </p:cNvPr>
          <p:cNvGrpSpPr/>
          <p:nvPr/>
        </p:nvGrpSpPr>
        <p:grpSpPr>
          <a:xfrm>
            <a:off x="640080" y="2688335"/>
            <a:ext cx="10881360" cy="585216"/>
            <a:chOff x="640080" y="2688335"/>
            <a:chExt cx="10881360" cy="585216"/>
          </a:xfrm>
        </p:grpSpPr>
        <p:sp>
          <p:nvSpPr>
            <p:cNvPr id="10" name="Rounded Rectangle 9"/>
            <p:cNvSpPr/>
            <p:nvPr/>
          </p:nvSpPr>
          <p:spPr>
            <a:xfrm>
              <a:off x="640080" y="2688335"/>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39" y="2788582"/>
              <a:ext cx="2522551" cy="384721"/>
            </a:xfrm>
            <a:prstGeom prst="rect">
              <a:avLst/>
            </a:prstGeom>
            <a:noFill/>
          </p:spPr>
          <p:txBody>
            <a:bodyPr wrap="square" anchor="ctr">
              <a:spAutoFit/>
            </a:bodyPr>
            <a:lstStyle/>
            <a:p>
              <a:r>
                <a:rPr sz="1900">
                  <a:solidFill>
                    <a:schemeClr val="accent4"/>
                  </a:solidFill>
                  <a:latin typeface="Consolas"/>
                </a:rPr>
                <a:t>ordinal()</a:t>
              </a:r>
            </a:p>
          </p:txBody>
        </p:sp>
        <p:sp>
          <p:nvSpPr>
            <p:cNvPr id="12" name="TextBox 11"/>
            <p:cNvSpPr txBox="1"/>
            <p:nvPr/>
          </p:nvSpPr>
          <p:spPr>
            <a:xfrm>
              <a:off x="3588385" y="2688335"/>
              <a:ext cx="5015230" cy="585216"/>
            </a:xfrm>
            <a:prstGeom prst="rect">
              <a:avLst/>
            </a:prstGeom>
            <a:noFill/>
          </p:spPr>
          <p:txBody>
            <a:bodyPr wrap="square" anchor="ctr">
              <a:spAutoFit/>
            </a:bodyPr>
            <a:lstStyle/>
            <a:p>
              <a:r>
                <a:rPr sz="2200">
                  <a:solidFill>
                    <a:srgbClr val="FFFFFF"/>
                  </a:solidFill>
                </a:rPr>
                <a:t>sa position, à partir de 0</a:t>
              </a:r>
            </a:p>
          </p:txBody>
        </p:sp>
        <p:sp>
          <p:nvSpPr>
            <p:cNvPr id="13" name="TextBox 12"/>
            <p:cNvSpPr txBox="1"/>
            <p:nvPr/>
          </p:nvSpPr>
          <p:spPr>
            <a:xfrm>
              <a:off x="8083826" y="2788582"/>
              <a:ext cx="3300454" cy="384721"/>
            </a:xfrm>
            <a:prstGeom prst="rect">
              <a:avLst/>
            </a:prstGeom>
            <a:noFill/>
          </p:spPr>
          <p:txBody>
            <a:bodyPr wrap="square" anchor="ctr">
              <a:spAutoFit/>
            </a:bodyPr>
            <a:lstStyle/>
            <a:p>
              <a:r>
                <a:rPr sz="1900">
                  <a:solidFill>
                    <a:schemeClr val="accent4"/>
                  </a:solidFill>
                  <a:latin typeface="Consolas"/>
                </a:rPr>
                <a:t>2</a:t>
              </a:r>
            </a:p>
          </p:txBody>
        </p:sp>
      </p:grpSp>
      <p:grpSp>
        <p:nvGrpSpPr>
          <p:cNvPr id="30" name="Groupe 29">
            <a:extLst>
              <a:ext uri="{FF2B5EF4-FFF2-40B4-BE49-F238E27FC236}">
                <a16:creationId xmlns:a16="http://schemas.microsoft.com/office/drawing/2014/main" id="{0E86211E-1B9C-6E01-0BB6-F2A01C66D99C}"/>
              </a:ext>
            </a:extLst>
          </p:cNvPr>
          <p:cNvGrpSpPr/>
          <p:nvPr/>
        </p:nvGrpSpPr>
        <p:grpSpPr>
          <a:xfrm>
            <a:off x="640080" y="3346703"/>
            <a:ext cx="10881360" cy="585216"/>
            <a:chOff x="640080" y="3346703"/>
            <a:chExt cx="10881360" cy="585216"/>
          </a:xfrm>
        </p:grpSpPr>
        <p:sp>
          <p:nvSpPr>
            <p:cNvPr id="14" name="Rounded Rectangle 13"/>
            <p:cNvSpPr/>
            <p:nvPr/>
          </p:nvSpPr>
          <p:spPr>
            <a:xfrm>
              <a:off x="640080" y="3346703"/>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39" y="3446950"/>
              <a:ext cx="2522551" cy="384721"/>
            </a:xfrm>
            <a:prstGeom prst="rect">
              <a:avLst/>
            </a:prstGeom>
            <a:noFill/>
          </p:spPr>
          <p:txBody>
            <a:bodyPr wrap="square" anchor="ctr">
              <a:spAutoFit/>
            </a:bodyPr>
            <a:lstStyle/>
            <a:p>
              <a:r>
                <a:rPr sz="1900">
                  <a:solidFill>
                    <a:schemeClr val="accent4"/>
                  </a:solidFill>
                  <a:latin typeface="Consolas"/>
                </a:rPr>
                <a:t>values()</a:t>
              </a:r>
            </a:p>
          </p:txBody>
        </p:sp>
        <p:sp>
          <p:nvSpPr>
            <p:cNvPr id="16" name="TextBox 15"/>
            <p:cNvSpPr txBox="1"/>
            <p:nvPr/>
          </p:nvSpPr>
          <p:spPr>
            <a:xfrm>
              <a:off x="3588385" y="3346703"/>
              <a:ext cx="5015230" cy="585216"/>
            </a:xfrm>
            <a:prstGeom prst="rect">
              <a:avLst/>
            </a:prstGeom>
            <a:noFill/>
          </p:spPr>
          <p:txBody>
            <a:bodyPr wrap="square" anchor="ctr">
              <a:spAutoFit/>
            </a:bodyPr>
            <a:lstStyle/>
            <a:p>
              <a:r>
                <a:rPr sz="2200">
                  <a:solidFill>
                    <a:srgbClr val="FFFFFF"/>
                  </a:solidFill>
                </a:rPr>
                <a:t>un tableau de toutes les constantes</a:t>
              </a:r>
            </a:p>
          </p:txBody>
        </p:sp>
        <p:sp>
          <p:nvSpPr>
            <p:cNvPr id="17" name="TextBox 16"/>
            <p:cNvSpPr txBox="1"/>
            <p:nvPr/>
          </p:nvSpPr>
          <p:spPr>
            <a:xfrm>
              <a:off x="8083826" y="3446950"/>
              <a:ext cx="3300454" cy="384721"/>
            </a:xfrm>
            <a:prstGeom prst="rect">
              <a:avLst/>
            </a:prstGeom>
            <a:noFill/>
          </p:spPr>
          <p:txBody>
            <a:bodyPr wrap="square" anchor="ctr">
              <a:spAutoFit/>
            </a:bodyPr>
            <a:lstStyle/>
            <a:p>
              <a:r>
                <a:rPr sz="1900">
                  <a:solidFill>
                    <a:schemeClr val="accent4"/>
                  </a:solidFill>
                  <a:latin typeface="Consolas"/>
                </a:rPr>
                <a:t>[VERT, ORANGE, ROUGE]</a:t>
              </a:r>
            </a:p>
          </p:txBody>
        </p:sp>
      </p:grpSp>
      <p:grpSp>
        <p:nvGrpSpPr>
          <p:cNvPr id="31" name="Groupe 30">
            <a:extLst>
              <a:ext uri="{FF2B5EF4-FFF2-40B4-BE49-F238E27FC236}">
                <a16:creationId xmlns:a16="http://schemas.microsoft.com/office/drawing/2014/main" id="{B1AA4CE4-89FF-14B9-9F84-598A0F55F747}"/>
              </a:ext>
            </a:extLst>
          </p:cNvPr>
          <p:cNvGrpSpPr/>
          <p:nvPr/>
        </p:nvGrpSpPr>
        <p:grpSpPr>
          <a:xfrm>
            <a:off x="640080" y="4005071"/>
            <a:ext cx="10881360" cy="585216"/>
            <a:chOff x="640080" y="4005071"/>
            <a:chExt cx="10881360" cy="585216"/>
          </a:xfrm>
        </p:grpSpPr>
        <p:sp>
          <p:nvSpPr>
            <p:cNvPr id="18" name="Rounded Rectangle 17"/>
            <p:cNvSpPr/>
            <p:nvPr/>
          </p:nvSpPr>
          <p:spPr>
            <a:xfrm>
              <a:off x="640080" y="4005071"/>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7239" y="4105318"/>
              <a:ext cx="2522551" cy="384721"/>
            </a:xfrm>
            <a:prstGeom prst="rect">
              <a:avLst/>
            </a:prstGeom>
            <a:noFill/>
          </p:spPr>
          <p:txBody>
            <a:bodyPr wrap="square" anchor="ctr">
              <a:spAutoFit/>
            </a:bodyPr>
            <a:lstStyle/>
            <a:p>
              <a:r>
                <a:rPr sz="1900" dirty="0" err="1">
                  <a:solidFill>
                    <a:schemeClr val="accent4"/>
                  </a:solidFill>
                  <a:latin typeface="Consolas"/>
                </a:rPr>
                <a:t>valueOf</a:t>
              </a:r>
              <a:r>
                <a:rPr sz="1900" dirty="0">
                  <a:solidFill>
                    <a:schemeClr val="accent4"/>
                  </a:solidFill>
                  <a:latin typeface="Consolas"/>
                </a:rPr>
                <a:t>("VERT")</a:t>
              </a:r>
            </a:p>
          </p:txBody>
        </p:sp>
        <p:sp>
          <p:nvSpPr>
            <p:cNvPr id="20" name="TextBox 19"/>
            <p:cNvSpPr txBox="1"/>
            <p:nvPr/>
          </p:nvSpPr>
          <p:spPr>
            <a:xfrm>
              <a:off x="3588385" y="4005071"/>
              <a:ext cx="5015230" cy="585216"/>
            </a:xfrm>
            <a:prstGeom prst="rect">
              <a:avLst/>
            </a:prstGeom>
            <a:noFill/>
          </p:spPr>
          <p:txBody>
            <a:bodyPr wrap="square" anchor="ctr">
              <a:spAutoFit/>
            </a:bodyPr>
            <a:lstStyle/>
            <a:p>
              <a:r>
                <a:rPr sz="2200">
                  <a:solidFill>
                    <a:srgbClr val="FFFFFF"/>
                  </a:solidFill>
                </a:rPr>
                <a:t>la constante qui porte ce nom</a:t>
              </a:r>
            </a:p>
          </p:txBody>
        </p:sp>
        <p:sp>
          <p:nvSpPr>
            <p:cNvPr id="21" name="TextBox 20"/>
            <p:cNvSpPr txBox="1"/>
            <p:nvPr/>
          </p:nvSpPr>
          <p:spPr>
            <a:xfrm>
              <a:off x="8083826" y="4105318"/>
              <a:ext cx="3300454" cy="384721"/>
            </a:xfrm>
            <a:prstGeom prst="rect">
              <a:avLst/>
            </a:prstGeom>
            <a:noFill/>
          </p:spPr>
          <p:txBody>
            <a:bodyPr wrap="square" anchor="ctr">
              <a:spAutoFit/>
            </a:bodyPr>
            <a:lstStyle/>
            <a:p>
              <a:r>
                <a:rPr sz="1900">
                  <a:solidFill>
                    <a:schemeClr val="accent4"/>
                  </a:solidFill>
                  <a:latin typeface="Consolas"/>
                </a:rPr>
                <a:t>VERT</a:t>
              </a:r>
            </a:p>
          </p:txBody>
        </p:sp>
      </p:grpSp>
      <p:grpSp>
        <p:nvGrpSpPr>
          <p:cNvPr id="32" name="Groupe 31">
            <a:extLst>
              <a:ext uri="{FF2B5EF4-FFF2-40B4-BE49-F238E27FC236}">
                <a16:creationId xmlns:a16="http://schemas.microsoft.com/office/drawing/2014/main" id="{6E1AF433-625A-2A0E-6783-7F875A3D6F85}"/>
              </a:ext>
            </a:extLst>
          </p:cNvPr>
          <p:cNvGrpSpPr/>
          <p:nvPr/>
        </p:nvGrpSpPr>
        <p:grpSpPr>
          <a:xfrm>
            <a:off x="640080" y="4663439"/>
            <a:ext cx="10881360" cy="585216"/>
            <a:chOff x="640080" y="4663439"/>
            <a:chExt cx="10881360" cy="585216"/>
          </a:xfrm>
        </p:grpSpPr>
        <p:sp>
          <p:nvSpPr>
            <p:cNvPr id="22" name="Rounded Rectangle 21"/>
            <p:cNvSpPr/>
            <p:nvPr/>
          </p:nvSpPr>
          <p:spPr>
            <a:xfrm>
              <a:off x="640080" y="4663439"/>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77239" y="4763686"/>
              <a:ext cx="2522551" cy="384721"/>
            </a:xfrm>
            <a:prstGeom prst="rect">
              <a:avLst/>
            </a:prstGeom>
            <a:noFill/>
          </p:spPr>
          <p:txBody>
            <a:bodyPr wrap="square" anchor="ctr">
              <a:spAutoFit/>
            </a:bodyPr>
            <a:lstStyle/>
            <a:p>
              <a:r>
                <a:rPr sz="1900" dirty="0" err="1">
                  <a:solidFill>
                    <a:schemeClr val="accent4"/>
                  </a:solidFill>
                  <a:latin typeface="Consolas"/>
                </a:rPr>
                <a:t>compareTo</a:t>
              </a:r>
              <a:r>
                <a:rPr sz="1900" dirty="0">
                  <a:solidFill>
                    <a:schemeClr val="accent4"/>
                  </a:solidFill>
                  <a:latin typeface="Consolas"/>
                </a:rPr>
                <a:t>(</a:t>
              </a:r>
              <a:r>
                <a:rPr sz="1900" dirty="0" err="1">
                  <a:solidFill>
                    <a:schemeClr val="accent4"/>
                  </a:solidFill>
                  <a:latin typeface="Consolas"/>
                </a:rPr>
                <a:t>autre</a:t>
              </a:r>
              <a:r>
                <a:rPr sz="1900" dirty="0">
                  <a:solidFill>
                    <a:schemeClr val="accent4"/>
                  </a:solidFill>
                  <a:latin typeface="Consolas"/>
                </a:rPr>
                <a:t>)</a:t>
              </a:r>
            </a:p>
          </p:txBody>
        </p:sp>
        <p:sp>
          <p:nvSpPr>
            <p:cNvPr id="24" name="TextBox 23"/>
            <p:cNvSpPr txBox="1"/>
            <p:nvPr/>
          </p:nvSpPr>
          <p:spPr>
            <a:xfrm>
              <a:off x="3588385" y="4663439"/>
              <a:ext cx="5015230" cy="585216"/>
            </a:xfrm>
            <a:prstGeom prst="rect">
              <a:avLst/>
            </a:prstGeom>
            <a:noFill/>
          </p:spPr>
          <p:txBody>
            <a:bodyPr wrap="square" anchor="ctr">
              <a:spAutoFit/>
            </a:bodyPr>
            <a:lstStyle/>
            <a:p>
              <a:r>
                <a:rPr sz="2200">
                  <a:solidFill>
                    <a:srgbClr val="FFFFFF"/>
                  </a:solidFill>
                </a:rPr>
                <a:t>l'écart entre les deux positions</a:t>
              </a:r>
            </a:p>
          </p:txBody>
        </p:sp>
        <p:sp>
          <p:nvSpPr>
            <p:cNvPr id="25" name="TextBox 24"/>
            <p:cNvSpPr txBox="1"/>
            <p:nvPr/>
          </p:nvSpPr>
          <p:spPr>
            <a:xfrm>
              <a:off x="8083826" y="4763686"/>
              <a:ext cx="3300454" cy="384721"/>
            </a:xfrm>
            <a:prstGeom prst="rect">
              <a:avLst/>
            </a:prstGeom>
            <a:noFill/>
          </p:spPr>
          <p:txBody>
            <a:bodyPr wrap="square" anchor="ctr">
              <a:spAutoFit/>
            </a:bodyPr>
            <a:lstStyle/>
            <a:p>
              <a:r>
                <a:rPr sz="1900" dirty="0">
                  <a:solidFill>
                    <a:schemeClr val="accent4"/>
                  </a:solidFill>
                  <a:latin typeface="Consolas"/>
                </a:rPr>
                <a:t>-2</a:t>
              </a:r>
            </a:p>
          </p:txBody>
        </p:sp>
      </p:grpSp>
      <p:sp>
        <p:nvSpPr>
          <p:cNvPr id="2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8</a:t>
            </a:fld>
            <a:endParaRPr lang="fr-FR"/>
          </a:p>
        </p:txBody>
      </p:sp>
      <p:sp>
        <p:nvSpPr>
          <p:cNvPr id="2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2. Déclarer une énumération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wipe(left)">
                                      <p:cBhvr>
                                        <p:cTn id="7" dur="5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wipe(left)">
                                      <p:cBhvr>
                                        <p:cTn id="12" dur="5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wipe(left)">
                                      <p:cBhvr>
                                        <p:cTn id="17" dur="5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wipe(left)">
                                      <p:cBhvr>
                                        <p:cTn id="22" dur="5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wipe(left)">
                                      <p:cBhvr>
                                        <p:cTn id="2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dirty="0" err="1"/>
              <a:t>L'ordre</a:t>
            </a:r>
            <a:r>
              <a:rPr sz="4000" dirty="0"/>
              <a:t> de </a:t>
            </a:r>
            <a:r>
              <a:rPr sz="4000" dirty="0" err="1"/>
              <a:t>déclaration</a:t>
            </a:r>
            <a:r>
              <a:rPr sz="4000" dirty="0"/>
              <a:t> </a:t>
            </a:r>
            <a:r>
              <a:rPr lang="nl-BE" sz="4000" dirty="0"/>
              <a:t>des valeurs </a:t>
            </a:r>
            <a:r>
              <a:rPr sz="4000" dirty="0"/>
              <a:t>compte</a:t>
            </a:r>
          </a:p>
        </p:txBody>
      </p:sp>
      <p:sp>
        <p:nvSpPr>
          <p:cNvPr id="3" name="Content Placeholder 2"/>
          <p:cNvSpPr>
            <a:spLocks noGrp="1"/>
          </p:cNvSpPr>
          <p:nvPr>
            <p:ph idx="1"/>
          </p:nvPr>
        </p:nvSpPr>
        <p:spPr>
          <a:xfrm>
            <a:off x="640080" y="1371600"/>
            <a:ext cx="10881360" cy="3078479"/>
          </a:xfrm>
        </p:spPr>
        <p:txBody>
          <a:bodyPr/>
          <a:lstStyle/>
          <a:p>
            <a:pPr marL="0" indent="0">
              <a:spcAft>
                <a:spcPts val="1000"/>
              </a:spcAft>
              <a:buNone/>
            </a:pPr>
            <a:r>
              <a:rPr sz="2800" dirty="0"/>
              <a:t>Les </a:t>
            </a:r>
            <a:r>
              <a:rPr sz="2800" dirty="0" err="1"/>
              <a:t>méthodes</a:t>
            </a:r>
            <a:r>
              <a:rPr sz="2800" dirty="0"/>
              <a:t> </a:t>
            </a:r>
            <a:r>
              <a:rPr sz="2400" dirty="0">
                <a:solidFill>
                  <a:schemeClr val="accent4"/>
                </a:solidFill>
                <a:latin typeface="Consolas"/>
              </a:rPr>
              <a:t>values</a:t>
            </a:r>
            <a:r>
              <a:rPr sz="2800" dirty="0"/>
              <a:t>, </a:t>
            </a:r>
            <a:r>
              <a:rPr sz="2400" dirty="0">
                <a:solidFill>
                  <a:schemeClr val="accent4"/>
                </a:solidFill>
                <a:latin typeface="Consolas"/>
              </a:rPr>
              <a:t>ordinal</a:t>
            </a:r>
            <a:r>
              <a:rPr sz="2800" dirty="0"/>
              <a:t> et </a:t>
            </a:r>
            <a:r>
              <a:rPr sz="2400" dirty="0" err="1">
                <a:solidFill>
                  <a:schemeClr val="accent4"/>
                </a:solidFill>
                <a:latin typeface="Consolas"/>
              </a:rPr>
              <a:t>compareTo</a:t>
            </a:r>
            <a:r>
              <a:rPr sz="2800" dirty="0"/>
              <a:t> </a:t>
            </a:r>
            <a:r>
              <a:rPr sz="2800" dirty="0" err="1"/>
              <a:t>suivent</a:t>
            </a:r>
            <a:r>
              <a:rPr sz="2800" dirty="0"/>
              <a:t> </a:t>
            </a:r>
            <a:r>
              <a:rPr sz="2800" dirty="0" err="1"/>
              <a:t>l'ordre</a:t>
            </a:r>
            <a:r>
              <a:rPr sz="2800" dirty="0"/>
              <a:t> </a:t>
            </a:r>
            <a:r>
              <a:rPr sz="2800" dirty="0" err="1"/>
              <a:t>d'écriture</a:t>
            </a:r>
            <a:endParaRPr sz="2800" dirty="0"/>
          </a:p>
          <a:p>
            <a:pPr marL="0" indent="0">
              <a:spcAft>
                <a:spcPts val="1000"/>
              </a:spcAft>
              <a:buNone/>
            </a:pPr>
            <a:r>
              <a:rPr sz="2800" dirty="0"/>
              <a:t>Cet </a:t>
            </a:r>
            <a:r>
              <a:rPr sz="2800" dirty="0" err="1"/>
              <a:t>ordre</a:t>
            </a:r>
            <a:r>
              <a:rPr sz="2800" dirty="0"/>
              <a:t> est </a:t>
            </a:r>
            <a:r>
              <a:rPr sz="2800" dirty="0" err="1"/>
              <a:t>celui</a:t>
            </a:r>
            <a:r>
              <a:rPr sz="2800" dirty="0"/>
              <a:t> du </a:t>
            </a:r>
            <a:r>
              <a:rPr sz="2800" dirty="0" err="1"/>
              <a:t>domaine</a:t>
            </a:r>
            <a:r>
              <a:rPr sz="2800" dirty="0"/>
              <a:t>, pas </a:t>
            </a:r>
            <a:r>
              <a:rPr sz="2800" dirty="0" err="1"/>
              <a:t>celui</a:t>
            </a:r>
            <a:r>
              <a:rPr sz="2800" dirty="0"/>
              <a:t> de </a:t>
            </a:r>
            <a:r>
              <a:rPr sz="2800" dirty="0" err="1"/>
              <a:t>l'alphabet</a:t>
            </a:r>
            <a:endParaRPr sz="2800" dirty="0"/>
          </a:p>
          <a:p>
            <a:pPr marL="0" indent="0">
              <a:spcAft>
                <a:spcPts val="1000"/>
              </a:spcAft>
              <a:buNone/>
            </a:pPr>
            <a:r>
              <a:rPr sz="2800" dirty="0" err="1"/>
              <a:t>Insérer</a:t>
            </a:r>
            <a:r>
              <a:rPr sz="2800" dirty="0"/>
              <a:t> </a:t>
            </a:r>
            <a:r>
              <a:rPr sz="2800" dirty="0" err="1"/>
              <a:t>une</a:t>
            </a:r>
            <a:r>
              <a:rPr sz="2800" dirty="0"/>
              <a:t> </a:t>
            </a:r>
            <a:r>
              <a:rPr sz="2800" dirty="0" err="1"/>
              <a:t>constante</a:t>
            </a:r>
            <a:r>
              <a:rPr sz="2800" dirty="0"/>
              <a:t> au milieu </a:t>
            </a:r>
            <a:r>
              <a:rPr sz="2800" dirty="0" err="1"/>
              <a:t>décale</a:t>
            </a:r>
            <a:r>
              <a:rPr sz="2800" dirty="0"/>
              <a:t> </a:t>
            </a:r>
            <a:r>
              <a:rPr sz="2800" dirty="0" err="1"/>
              <a:t>toutes</a:t>
            </a:r>
            <a:r>
              <a:rPr sz="2800" dirty="0"/>
              <a:t> les </a:t>
            </a:r>
            <a:r>
              <a:rPr sz="2800" dirty="0" err="1"/>
              <a:t>suivantes</a:t>
            </a:r>
            <a:endParaRPr sz="2800" dirty="0"/>
          </a:p>
        </p:txBody>
      </p:sp>
      <p:sp>
        <p:nvSpPr>
          <p:cNvPr id="4" name="Code"/>
          <p:cNvSpPr txBox="1"/>
          <p:nvPr/>
        </p:nvSpPr>
        <p:spPr>
          <a:xfrm>
            <a:off x="2683933" y="3831335"/>
            <a:ext cx="6824133" cy="1584960"/>
          </a:xfrm>
          <a:prstGeom prst="roundRect">
            <a:avLst>
              <a:gd name="adj" fmla="val 5769"/>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50" dirty="0">
                <a:solidFill>
                  <a:srgbClr val="CF8E6D"/>
                </a:solidFill>
                <a:latin typeface="Consolas"/>
              </a:rPr>
              <a:t>public</a:t>
            </a:r>
            <a:r>
              <a:rPr sz="1750" dirty="0">
                <a:solidFill>
                  <a:srgbClr val="BCBEC4"/>
                </a:solidFill>
                <a:latin typeface="Consolas"/>
              </a:rPr>
              <a:t> </a:t>
            </a:r>
            <a:r>
              <a:rPr sz="1750" dirty="0" err="1">
                <a:solidFill>
                  <a:srgbClr val="CF8E6D"/>
                </a:solidFill>
                <a:latin typeface="Consolas"/>
              </a:rPr>
              <a:t>enum</a:t>
            </a:r>
            <a:r>
              <a:rPr sz="1750" dirty="0">
                <a:solidFill>
                  <a:srgbClr val="BCBEC4"/>
                </a:solidFill>
                <a:latin typeface="Consolas"/>
              </a:rPr>
              <a:t> </a:t>
            </a:r>
            <a:r>
              <a:rPr sz="1750" dirty="0" err="1">
                <a:solidFill>
                  <a:srgbClr val="BCBEC4"/>
                </a:solidFill>
                <a:latin typeface="Consolas"/>
              </a:rPr>
              <a:t>CouleurDeFeu</a:t>
            </a:r>
            <a:r>
              <a:rPr sz="1750" dirty="0">
                <a:solidFill>
                  <a:srgbClr val="BCBEC4"/>
                </a:solidFill>
                <a:latin typeface="Consolas"/>
              </a:rPr>
              <a:t> { VERT, ORANGE, ROUGE }</a:t>
            </a:r>
          </a:p>
          <a:p>
            <a:pPr>
              <a:lnSpc>
                <a:spcPct val="100000"/>
              </a:lnSpc>
              <a:spcBef>
                <a:spcPts val="0"/>
              </a:spcBef>
              <a:spcAft>
                <a:spcPts val="0"/>
              </a:spcAft>
            </a:pPr>
            <a:r>
              <a:rPr sz="1750" dirty="0">
                <a:solidFill>
                  <a:srgbClr val="BCBEC4"/>
                </a:solidFill>
                <a:latin typeface="Consolas"/>
              </a:rPr>
              <a:t> </a:t>
            </a:r>
          </a:p>
          <a:p>
            <a:pPr>
              <a:lnSpc>
                <a:spcPct val="100000"/>
              </a:lnSpc>
              <a:spcBef>
                <a:spcPts val="0"/>
              </a:spcBef>
              <a:spcAft>
                <a:spcPts val="0"/>
              </a:spcAft>
            </a:pPr>
            <a:r>
              <a:rPr sz="1750" dirty="0" err="1">
                <a:solidFill>
                  <a:srgbClr val="BCBEC4"/>
                </a:solidFill>
                <a:latin typeface="Consolas"/>
              </a:rPr>
              <a:t>CouleurDeFeu.VERT.</a:t>
            </a:r>
            <a:r>
              <a:rPr sz="1750" dirty="0" err="1">
                <a:solidFill>
                  <a:srgbClr val="56A8F5"/>
                </a:solidFill>
                <a:latin typeface="Consolas"/>
              </a:rPr>
              <a:t>ordinal</a:t>
            </a:r>
            <a:r>
              <a:rPr sz="1750" dirty="0">
                <a:solidFill>
                  <a:srgbClr val="BCBEC4"/>
                </a:solidFill>
                <a:latin typeface="Consolas"/>
              </a:rPr>
              <a:t>();      </a:t>
            </a:r>
            <a:r>
              <a:rPr sz="1750" dirty="0">
                <a:solidFill>
                  <a:srgbClr val="7A7E85"/>
                </a:solidFill>
                <a:latin typeface="Consolas"/>
              </a:rPr>
              <a:t>// 0</a:t>
            </a:r>
          </a:p>
          <a:p>
            <a:pPr>
              <a:lnSpc>
                <a:spcPct val="100000"/>
              </a:lnSpc>
              <a:spcBef>
                <a:spcPts val="0"/>
              </a:spcBef>
              <a:spcAft>
                <a:spcPts val="0"/>
              </a:spcAft>
            </a:pPr>
            <a:r>
              <a:rPr sz="1750" dirty="0" err="1">
                <a:solidFill>
                  <a:srgbClr val="BCBEC4"/>
                </a:solidFill>
                <a:latin typeface="Consolas"/>
              </a:rPr>
              <a:t>CouleurDeFeu.ROUGE.</a:t>
            </a:r>
            <a:r>
              <a:rPr sz="1750" dirty="0" err="1">
                <a:solidFill>
                  <a:srgbClr val="56A8F5"/>
                </a:solidFill>
                <a:latin typeface="Consolas"/>
              </a:rPr>
              <a:t>ordinal</a:t>
            </a:r>
            <a:r>
              <a:rPr sz="1750" dirty="0">
                <a:solidFill>
                  <a:srgbClr val="BCBEC4"/>
                </a:solidFill>
                <a:latin typeface="Consolas"/>
              </a:rPr>
              <a:t>();     </a:t>
            </a:r>
            <a:r>
              <a:rPr sz="1750" dirty="0">
                <a:solidFill>
                  <a:srgbClr val="7A7E85"/>
                </a:solidFill>
                <a:latin typeface="Consolas"/>
              </a:rPr>
              <a:t>// 2</a:t>
            </a:r>
          </a:p>
          <a:p>
            <a:pPr>
              <a:lnSpc>
                <a:spcPct val="100000"/>
              </a:lnSpc>
              <a:spcBef>
                <a:spcPts val="0"/>
              </a:spcBef>
              <a:spcAft>
                <a:spcPts val="0"/>
              </a:spcAft>
            </a:pPr>
            <a:r>
              <a:rPr sz="1750" dirty="0" err="1">
                <a:solidFill>
                  <a:srgbClr val="BCBEC4"/>
                </a:solidFill>
                <a:latin typeface="Consolas"/>
              </a:rPr>
              <a:t>CouleurDeFeu.</a:t>
            </a:r>
            <a:r>
              <a:rPr sz="1750" dirty="0" err="1">
                <a:solidFill>
                  <a:srgbClr val="56A8F5"/>
                </a:solidFill>
                <a:latin typeface="Consolas"/>
              </a:rPr>
              <a:t>values</a:t>
            </a:r>
            <a:r>
              <a:rPr sz="1750" dirty="0">
                <a:solidFill>
                  <a:srgbClr val="BCBEC4"/>
                </a:solidFill>
                <a:latin typeface="Consolas"/>
              </a:rPr>
              <a:t>().length;     </a:t>
            </a:r>
            <a:r>
              <a:rPr sz="1750" dirty="0">
                <a:solidFill>
                  <a:srgbClr val="7A7E85"/>
                </a:solidFill>
                <a:latin typeface="Consolas"/>
              </a:rPr>
              <a:t>// 3</a:t>
            </a: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9</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2. Déclarer une énumération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2" descr="ENU_section3.jpg"/>
          <p:cNvPicPr>
            <a:picLocks noChangeAspect="1"/>
          </p:cNvPicPr>
          <p:nvPr/>
        </p:nvPicPr>
        <p:blipFill>
          <a:blip r:embed="rId4"/>
          <a:stretch>
            <a:fillRect/>
          </a:stretch>
        </p:blipFill>
        <p:spPr>
          <a:xfrm>
            <a:off x="-185531" y="0"/>
            <a:ext cx="12563062" cy="689113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10248074" cy="1105200"/>
          </a:xfrm>
          <a:prstGeom prst="rect">
            <a:avLst/>
          </a:prstGeom>
          <a:solidFill>
            <a:schemeClr val="bg2">
              <a:lumMod val="75000"/>
              <a:alpha val="74510"/>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3. L'ordre porte l'information</a:t>
            </a:r>
            <a:endParaRPr lang="fr-FR"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10</a:t>
            </a:fld>
            <a:endParaRPr lang="fr-F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Démonstration</a:t>
            </a:r>
          </a:p>
        </p:txBody>
      </p:sp>
      <p:sp>
        <p:nvSpPr>
          <p:cNvPr id="3" name="Rounded Rectangle 2"/>
          <p:cNvSpPr/>
          <p:nvPr/>
        </p:nvSpPr>
        <p:spPr>
          <a:xfrm>
            <a:off x="1463040" y="1828800"/>
            <a:ext cx="9235440" cy="3291840"/>
          </a:xfrm>
          <a:prstGeom prst="roundRect">
            <a:avLst>
              <a:gd name="adj" fmla="val 2777"/>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3"/>
          <a:stretch>
            <a:fillRect/>
          </a:stretch>
        </p:blipFill>
        <p:spPr>
          <a:xfrm>
            <a:off x="1920240" y="2514600"/>
            <a:ext cx="1920240" cy="1920240"/>
          </a:xfrm>
          <a:prstGeom prst="rect">
            <a:avLst/>
          </a:prstGeom>
        </p:spPr>
      </p:pic>
      <p:sp>
        <p:nvSpPr>
          <p:cNvPr id="5" name="TextBox 4"/>
          <p:cNvSpPr txBox="1"/>
          <p:nvPr/>
        </p:nvSpPr>
        <p:spPr>
          <a:xfrm>
            <a:off x="4206240" y="2103120"/>
            <a:ext cx="6217920" cy="2743200"/>
          </a:xfrm>
          <a:prstGeom prst="rect">
            <a:avLst/>
          </a:prstGeom>
          <a:noFill/>
        </p:spPr>
        <p:txBody>
          <a:bodyPr wrap="square" anchor="ctr">
            <a:spAutoFit/>
          </a:bodyPr>
          <a:lstStyle/>
          <a:p>
            <a:r>
              <a:rPr sz="1800" b="1">
                <a:solidFill>
                  <a:schemeClr val="accent4"/>
                </a:solidFill>
              </a:rPr>
              <a:t>Démonstration</a:t>
            </a:r>
          </a:p>
          <a:p>
            <a:r>
              <a:rPr sz="3000">
                <a:solidFill>
                  <a:srgbClr val="FFFFFF"/>
                </a:solidFill>
              </a:rPr>
              <a:t>Le cycle sans conditions</a:t>
            </a:r>
          </a:p>
          <a:p>
            <a:pPr>
              <a:spcBef>
                <a:spcPts val="1200"/>
              </a:spcBef>
            </a:pPr>
            <a:r>
              <a:rPr sz="1400">
                <a:solidFill>
                  <a:srgbClr val="BCBEC4"/>
                </a:solidFill>
              </a:rPr>
              <a:t>Déroulé : Demo_ENU</a:t>
            </a:r>
          </a:p>
        </p:txBody>
      </p:sp>
      <p:sp>
        <p:nvSpPr>
          <p:cNvPr id="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11</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3. L'ordre porte l'information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dirty="0"/>
              <a:t>P</a:t>
            </a:r>
            <a:r>
              <a:rPr lang="nl-BE" sz="4000" dirty="0"/>
              <a:t>our p</a:t>
            </a:r>
            <a:r>
              <a:rPr sz="4000" dirty="0" err="1"/>
              <a:t>asser</a:t>
            </a:r>
            <a:r>
              <a:rPr sz="4000" dirty="0"/>
              <a:t> à la </a:t>
            </a:r>
            <a:r>
              <a:rPr sz="4000" dirty="0" err="1"/>
              <a:t>valeur</a:t>
            </a:r>
            <a:r>
              <a:rPr sz="4000" dirty="0"/>
              <a:t> </a:t>
            </a:r>
            <a:r>
              <a:rPr sz="4000" dirty="0" err="1"/>
              <a:t>suivante</a:t>
            </a:r>
            <a:endParaRPr sz="4000" dirty="0"/>
          </a:p>
        </p:txBody>
      </p:sp>
      <p:sp>
        <p:nvSpPr>
          <p:cNvPr id="3" name="Content Placeholder 2"/>
          <p:cNvSpPr>
            <a:spLocks noGrp="1"/>
          </p:cNvSpPr>
          <p:nvPr>
            <p:ph idx="1"/>
          </p:nvPr>
        </p:nvSpPr>
        <p:spPr>
          <a:xfrm>
            <a:off x="640080" y="1371600"/>
            <a:ext cx="10881360" cy="2651760"/>
          </a:xfrm>
        </p:spPr>
        <p:txBody>
          <a:bodyPr/>
          <a:lstStyle/>
          <a:p>
            <a:pPr marL="0" indent="0">
              <a:spcAft>
                <a:spcPts val="1000"/>
              </a:spcAft>
              <a:buNone/>
            </a:pPr>
            <a:r>
              <a:rPr sz="2800" dirty="0"/>
              <a:t>La </a:t>
            </a:r>
            <a:r>
              <a:rPr sz="2800" dirty="0" err="1"/>
              <a:t>méthode</a:t>
            </a:r>
            <a:r>
              <a:rPr sz="2800" dirty="0"/>
              <a:t> </a:t>
            </a:r>
            <a:r>
              <a:rPr sz="2400" dirty="0">
                <a:solidFill>
                  <a:schemeClr val="accent4"/>
                </a:solidFill>
                <a:latin typeface="Consolas"/>
              </a:rPr>
              <a:t>values</a:t>
            </a:r>
            <a:r>
              <a:rPr sz="2800" dirty="0"/>
              <a:t> </a:t>
            </a:r>
            <a:r>
              <a:rPr sz="2800" dirty="0" err="1"/>
              <a:t>retourne</a:t>
            </a:r>
            <a:r>
              <a:rPr sz="2800" dirty="0"/>
              <a:t> le cycle </a:t>
            </a:r>
            <a:r>
              <a:rPr lang="nl-BE" sz="2800" dirty="0"/>
              <a:t>des valeurs de l’enum</a:t>
            </a:r>
            <a:endParaRPr sz="2800" dirty="0"/>
          </a:p>
          <a:p>
            <a:pPr marL="0" indent="0">
              <a:spcAft>
                <a:spcPts val="1000"/>
              </a:spcAft>
              <a:buNone/>
            </a:pPr>
            <a:r>
              <a:rPr sz="2800" dirty="0"/>
              <a:t>Le </a:t>
            </a:r>
            <a:r>
              <a:rPr sz="2800" dirty="0" err="1"/>
              <a:t>reste</a:t>
            </a:r>
            <a:r>
              <a:rPr sz="2800" dirty="0"/>
              <a:t> de la division </a:t>
            </a:r>
            <a:r>
              <a:rPr sz="2800" dirty="0" err="1"/>
              <a:t>ramène</a:t>
            </a:r>
            <a:r>
              <a:rPr sz="2800" dirty="0"/>
              <a:t> la </a:t>
            </a:r>
            <a:r>
              <a:rPr sz="2800" dirty="0" err="1"/>
              <a:t>dernière</a:t>
            </a:r>
            <a:r>
              <a:rPr sz="2800" dirty="0"/>
              <a:t> </a:t>
            </a:r>
            <a:r>
              <a:rPr sz="2800" dirty="0" err="1"/>
              <a:t>valeur</a:t>
            </a:r>
            <a:r>
              <a:rPr sz="2800" dirty="0"/>
              <a:t> à la première</a:t>
            </a:r>
          </a:p>
          <a:p>
            <a:pPr marL="0" indent="0">
              <a:spcAft>
                <a:spcPts val="1000"/>
              </a:spcAft>
              <a:buNone/>
            </a:pPr>
            <a:r>
              <a:rPr sz="2800" dirty="0"/>
              <a:t>Les </a:t>
            </a:r>
            <a:r>
              <a:rPr sz="2800" dirty="0" err="1"/>
              <a:t>parenthèses</a:t>
            </a:r>
            <a:r>
              <a:rPr sz="2800" dirty="0"/>
              <a:t> ne </a:t>
            </a:r>
            <a:r>
              <a:rPr sz="2800" dirty="0" err="1"/>
              <a:t>sont</a:t>
            </a:r>
            <a:r>
              <a:rPr sz="2800" dirty="0"/>
              <a:t> pas </a:t>
            </a:r>
            <a:r>
              <a:rPr sz="2800" dirty="0" err="1"/>
              <a:t>facultatives</a:t>
            </a:r>
            <a:r>
              <a:rPr sz="2800" dirty="0"/>
              <a:t> :</a:t>
            </a:r>
            <a:r>
              <a:rPr lang="nl-BE" sz="2800" dirty="0"/>
              <a:t> l’opération</a:t>
            </a:r>
            <a:r>
              <a:rPr sz="2800" dirty="0"/>
              <a:t> </a:t>
            </a:r>
            <a:r>
              <a:rPr sz="2400" dirty="0">
                <a:solidFill>
                  <a:schemeClr val="accent4"/>
                </a:solidFill>
                <a:latin typeface="Consolas"/>
              </a:rPr>
              <a:t>%</a:t>
            </a:r>
            <a:r>
              <a:rPr sz="2800" dirty="0"/>
              <a:t> </a:t>
            </a:r>
            <a:r>
              <a:rPr lang="nl-BE" sz="2800" dirty="0"/>
              <a:t>a priorité sur </a:t>
            </a:r>
            <a:r>
              <a:rPr sz="2400" dirty="0">
                <a:solidFill>
                  <a:schemeClr val="accent4"/>
                </a:solidFill>
                <a:latin typeface="Consolas"/>
              </a:rPr>
              <a:t>+</a:t>
            </a:r>
          </a:p>
        </p:txBody>
      </p:sp>
      <p:sp>
        <p:nvSpPr>
          <p:cNvPr id="4" name="Code"/>
          <p:cNvSpPr txBox="1"/>
          <p:nvPr/>
        </p:nvSpPr>
        <p:spPr>
          <a:xfrm>
            <a:off x="2171700" y="3831336"/>
            <a:ext cx="7848600" cy="1371600"/>
          </a:xfrm>
          <a:prstGeom prst="roundRect">
            <a:avLst>
              <a:gd name="adj" fmla="val 66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CouleurDeFeu[] cycle = CouleurDeFeu.</a:t>
            </a:r>
            <a:r>
              <a:rPr sz="1800">
                <a:solidFill>
                  <a:srgbClr val="56A8F5"/>
                </a:solidFill>
                <a:latin typeface="Consolas"/>
              </a:rPr>
              <a:t>values</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CF8E6D"/>
                </a:solidFill>
                <a:latin typeface="Consolas"/>
              </a:rPr>
              <a:t>int</a:t>
            </a:r>
            <a:r>
              <a:rPr sz="1800">
                <a:solidFill>
                  <a:srgbClr val="BCBEC4"/>
                </a:solidFill>
                <a:latin typeface="Consolas"/>
              </a:rPr>
              <a:t> suivante = (couleur.</a:t>
            </a:r>
            <a:r>
              <a:rPr sz="1800">
                <a:solidFill>
                  <a:srgbClr val="56A8F5"/>
                </a:solidFill>
                <a:latin typeface="Consolas"/>
              </a:rPr>
              <a:t>ordinal</a:t>
            </a:r>
            <a:r>
              <a:rPr sz="1800">
                <a:solidFill>
                  <a:srgbClr val="BCBEC4"/>
                </a:solidFill>
                <a:latin typeface="Consolas"/>
              </a:rPr>
              <a:t>() + </a:t>
            </a:r>
            <a:r>
              <a:rPr sz="1800">
                <a:solidFill>
                  <a:srgbClr val="2AACB8"/>
                </a:solidFill>
                <a:latin typeface="Consolas"/>
              </a:rPr>
              <a:t>1</a:t>
            </a:r>
            <a:r>
              <a:rPr sz="1800">
                <a:solidFill>
                  <a:srgbClr val="BCBEC4"/>
                </a:solidFill>
                <a:latin typeface="Consolas"/>
              </a:rPr>
              <a:t>) % cycle.length;</a:t>
            </a:r>
          </a:p>
          <a:p>
            <a:pPr>
              <a:lnSpc>
                <a:spcPct val="100000"/>
              </a:lnSpc>
              <a:spcBef>
                <a:spcPts val="0"/>
              </a:spcBef>
              <a:spcAft>
                <a:spcPts val="0"/>
              </a:spcAft>
            </a:pPr>
            <a:r>
              <a:rPr sz="1800">
                <a:solidFill>
                  <a:srgbClr val="BCBEC4"/>
                </a:solidFill>
                <a:latin typeface="Consolas"/>
              </a:rPr>
              <a:t>couleur = cycle[suivante];</a:t>
            </a: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12</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3. L'ordre porte l'information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Ce que ce détour fait gagner</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dirty="0"/>
              <a:t>Une </a:t>
            </a:r>
            <a:r>
              <a:rPr sz="2800" dirty="0" err="1"/>
              <a:t>quatrième</a:t>
            </a:r>
            <a:r>
              <a:rPr sz="2800" dirty="0"/>
              <a:t> couleur </a:t>
            </a:r>
            <a:r>
              <a:rPr sz="2800" dirty="0" err="1"/>
              <a:t>s'ajoute</a:t>
            </a:r>
            <a:r>
              <a:rPr sz="2800" dirty="0"/>
              <a:t> sans </a:t>
            </a:r>
            <a:r>
              <a:rPr sz="2800" dirty="0" err="1"/>
              <a:t>qu'une</a:t>
            </a:r>
            <a:r>
              <a:rPr sz="2800" dirty="0"/>
              <a:t> </a:t>
            </a:r>
            <a:r>
              <a:rPr sz="2800" dirty="0" err="1"/>
              <a:t>ligne</a:t>
            </a:r>
            <a:r>
              <a:rPr sz="2800" dirty="0"/>
              <a:t> change </a:t>
            </a:r>
            <a:r>
              <a:rPr sz="2800" dirty="0" err="1"/>
              <a:t>ailleurs</a:t>
            </a:r>
            <a:endParaRPr sz="2800" dirty="0"/>
          </a:p>
          <a:p>
            <a:pPr marL="0" indent="0">
              <a:spcAft>
                <a:spcPts val="1000"/>
              </a:spcAft>
              <a:buNone/>
            </a:pPr>
            <a:r>
              <a:rPr sz="2800" dirty="0"/>
              <a:t>Il </a:t>
            </a:r>
            <a:r>
              <a:rPr sz="2800" dirty="0" err="1"/>
              <a:t>n'y</a:t>
            </a:r>
            <a:r>
              <a:rPr sz="2800" dirty="0"/>
              <a:t> a plus de condition à lire, </a:t>
            </a:r>
            <a:r>
              <a:rPr sz="2800" dirty="0" err="1"/>
              <a:t>donc</a:t>
            </a:r>
            <a:r>
              <a:rPr sz="2800" dirty="0"/>
              <a:t> plus </a:t>
            </a:r>
            <a:r>
              <a:rPr sz="2800" dirty="0" err="1"/>
              <a:t>d'endroit</a:t>
            </a:r>
            <a:r>
              <a:rPr sz="2800" dirty="0"/>
              <a:t> </a:t>
            </a:r>
            <a:r>
              <a:rPr sz="2800" dirty="0" err="1"/>
              <a:t>où</a:t>
            </a:r>
            <a:r>
              <a:rPr sz="2800" dirty="0"/>
              <a:t> se </a:t>
            </a:r>
            <a:r>
              <a:rPr sz="2800" dirty="0" err="1"/>
              <a:t>tromper</a:t>
            </a:r>
            <a:endParaRPr sz="2800" dirty="0"/>
          </a:p>
          <a:p>
            <a:pPr marL="0" indent="0">
              <a:spcAft>
                <a:spcPts val="1000"/>
              </a:spcAft>
              <a:buNone/>
            </a:pPr>
            <a:r>
              <a:rPr sz="2800" dirty="0"/>
              <a:t>En </a:t>
            </a:r>
            <a:r>
              <a:rPr sz="2800" dirty="0" err="1"/>
              <a:t>échange</a:t>
            </a:r>
            <a:r>
              <a:rPr sz="2800" dirty="0"/>
              <a:t>, </a:t>
            </a:r>
            <a:r>
              <a:rPr sz="2800" dirty="0" err="1"/>
              <a:t>l'ordre</a:t>
            </a:r>
            <a:r>
              <a:rPr sz="2800" dirty="0"/>
              <a:t> </a:t>
            </a:r>
            <a:r>
              <a:rPr sz="2800" dirty="0" err="1"/>
              <a:t>devient</a:t>
            </a:r>
            <a:r>
              <a:rPr sz="2800" dirty="0"/>
              <a:t> </a:t>
            </a:r>
            <a:r>
              <a:rPr sz="2800" dirty="0" err="1"/>
              <a:t>une</a:t>
            </a:r>
            <a:r>
              <a:rPr sz="2800" dirty="0"/>
              <a:t> information </a:t>
            </a:r>
            <a:r>
              <a:rPr sz="2800" dirty="0" err="1"/>
              <a:t>qu'il</a:t>
            </a:r>
            <a:r>
              <a:rPr sz="2800" dirty="0"/>
              <a:t> faut documenter</a:t>
            </a: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13</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3. L'ordre porte l'information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ENU.1</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Un feu de signalisation</a:t>
            </a:r>
          </a:p>
          <a:p>
            <a:r>
              <a:rPr sz="1400">
                <a:solidFill>
                  <a:srgbClr val="BCBEC4"/>
                </a:solidFill>
              </a:rPr>
              <a:t>fascicule ENU</a:t>
            </a:r>
          </a:p>
        </p:txBody>
      </p:sp>
      <p:pic>
        <p:nvPicPr>
          <p:cNvPr id="6" name="Picture 5" descr="image.png"/>
          <p:cNvPicPr>
            <a:picLocks noChangeAspect="1"/>
          </p:cNvPicPr>
          <p:nvPr/>
        </p:nvPicPr>
        <p:blipFill>
          <a:blip r:embed="rId3"/>
          <a:stretch>
            <a:fillRect/>
          </a:stretch>
        </p:blipFill>
        <p:spPr>
          <a:xfrm>
            <a:off x="10332720" y="475488"/>
            <a:ext cx="1280160" cy="1280160"/>
          </a:xfrm>
          <a:prstGeom prst="rect">
            <a:avLst/>
          </a:prstGeom>
        </p:spPr>
      </p:pic>
      <p:sp>
        <p:nvSpPr>
          <p:cNvPr id="8"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14</a:t>
            </a:fld>
            <a:endParaRPr lang="fr-FR"/>
          </a:p>
        </p:txBody>
      </p:sp>
      <p:sp>
        <p:nvSpPr>
          <p:cNvPr id="7"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3. L'ordre porte l'information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2" descr="ENU_section4.jpg"/>
          <p:cNvPicPr>
            <a:picLocks noChangeAspect="1"/>
          </p:cNvPicPr>
          <p:nvPr/>
        </p:nvPicPr>
        <p:blipFill>
          <a:blip r:embed="rId4"/>
          <a:stretch>
            <a:fillRect/>
          </a:stretch>
        </p:blipFill>
        <p:spPr>
          <a:xfrm>
            <a:off x="-13252" y="0"/>
            <a:ext cx="12324522" cy="689113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10525506" cy="1013040"/>
          </a:xfrm>
          <a:prstGeom prst="rect">
            <a:avLst/>
          </a:prstGeom>
          <a:solidFill>
            <a:schemeClr val="bg2">
              <a:lumMod val="75000"/>
              <a:alpha val="74510"/>
            </a:schemeClr>
          </a:solidFill>
          <a:effectLst>
            <a:outerShdw blurRad="50800" dist="38100" dir="2700000" algn="tl" rotWithShape="0">
              <a:prstClr val="black">
                <a:alpha val="40000"/>
              </a:prstClr>
            </a:outerShdw>
          </a:effectLst>
        </p:spPr>
        <p:txBody>
          <a:bodyPr wrap="square" rtlCol="0">
            <a:spAutoFit/>
          </a:bodyPr>
          <a:lstStyle/>
          <a:p>
            <a:r>
              <a:rPr lang="fr-FR" sz="6000" b="1" dirty="0">
                <a:ln w="0"/>
                <a:effectLst>
                  <a:outerShdw blurRad="38100" dist="19050" dir="2700000" algn="tl" rotWithShape="0">
                    <a:schemeClr val="dk1">
                      <a:alpha val="40000"/>
                    </a:schemeClr>
                  </a:outerShdw>
                </a:effectLst>
                <a:latin typeface="Calibri"/>
                <a:cs typeface="Calibri"/>
              </a:rPr>
              <a:t>4. Comparer et aiguiller : </a:t>
            </a:r>
            <a:r>
              <a:rPr lang="fr-FR" sz="5400" b="1" dirty="0">
                <a:ln w="0"/>
                <a:solidFill>
                  <a:schemeClr val="accent4"/>
                </a:solidFill>
                <a:effectLst>
                  <a:outerShdw blurRad="38100" dist="19050" dir="2700000" algn="tl" rotWithShape="0">
                    <a:schemeClr val="dk1">
                      <a:alpha val="40000"/>
                    </a:schemeClr>
                  </a:outerShdw>
                </a:effectLst>
                <a:latin typeface="Consolas" panose="020B0609020204030204" pitchFamily="49" charset="0"/>
                <a:cs typeface="Consolas" panose="020B0609020204030204" pitchFamily="49" charset="0"/>
              </a:rPr>
              <a:t>switch</a:t>
            </a:r>
            <a:endParaRPr lang="fr-FR" sz="6400" b="1" dirty="0">
              <a:ln w="0"/>
              <a:solidFill>
                <a:schemeClr val="accent4"/>
              </a:solidFill>
              <a:effectLst>
                <a:outerShdw blurRad="38100" dist="19050" dir="2700000" algn="tl" rotWithShape="0">
                  <a:schemeClr val="dk1">
                    <a:alpha val="40000"/>
                  </a:schemeClr>
                </a:outerShdw>
              </a:effectLst>
              <a:latin typeface="Consolas" panose="020B0609020204030204" pitchFamily="49" charset="0"/>
              <a:cs typeface="Consolas" panose="020B0609020204030204" pitchFamily="49" charset="0"/>
            </a:endParaRP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15</a:t>
            </a:fld>
            <a:endParaRPr lang="fr-F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Comparer deux valeurs</a:t>
            </a:r>
          </a:p>
        </p:txBody>
      </p:sp>
      <p:sp>
        <p:nvSpPr>
          <p:cNvPr id="3" name="Content Placeholder 2"/>
          <p:cNvSpPr>
            <a:spLocks noGrp="1"/>
          </p:cNvSpPr>
          <p:nvPr>
            <p:ph idx="1"/>
          </p:nvPr>
        </p:nvSpPr>
        <p:spPr>
          <a:xfrm>
            <a:off x="640080" y="1371600"/>
            <a:ext cx="10881360" cy="2225040"/>
          </a:xfrm>
        </p:spPr>
        <p:txBody>
          <a:bodyPr/>
          <a:lstStyle/>
          <a:p>
            <a:pPr marL="0" indent="0">
              <a:spcAft>
                <a:spcPts val="1000"/>
              </a:spcAft>
              <a:buNone/>
            </a:pPr>
            <a:r>
              <a:rPr sz="2800" dirty="0" err="1"/>
              <a:t>Chaque</a:t>
            </a:r>
            <a:r>
              <a:rPr sz="2800" dirty="0"/>
              <a:t> </a:t>
            </a:r>
            <a:r>
              <a:rPr sz="2800" dirty="0" err="1"/>
              <a:t>constante</a:t>
            </a:r>
            <a:r>
              <a:rPr sz="2800" dirty="0"/>
              <a:t> </a:t>
            </a:r>
            <a:r>
              <a:rPr sz="2800" dirty="0" err="1"/>
              <a:t>n'existe</a:t>
            </a:r>
            <a:r>
              <a:rPr sz="2800" dirty="0"/>
              <a:t> </a:t>
            </a:r>
            <a:r>
              <a:rPr sz="2800" dirty="0" err="1"/>
              <a:t>qu'en</a:t>
            </a:r>
            <a:r>
              <a:rPr sz="2800" dirty="0"/>
              <a:t> un seul </a:t>
            </a:r>
            <a:r>
              <a:rPr sz="2800" dirty="0" err="1"/>
              <a:t>exemplaire</a:t>
            </a:r>
            <a:endParaRPr sz="2800" dirty="0"/>
          </a:p>
          <a:p>
            <a:pPr marL="0" indent="0">
              <a:spcAft>
                <a:spcPts val="1000"/>
              </a:spcAft>
              <a:buNone/>
            </a:pPr>
            <a:r>
              <a:rPr sz="2800" dirty="0" err="1"/>
              <a:t>L'opérateur</a:t>
            </a:r>
            <a:r>
              <a:rPr sz="2800" dirty="0"/>
              <a:t> </a:t>
            </a:r>
            <a:r>
              <a:rPr sz="2400" dirty="0">
                <a:solidFill>
                  <a:schemeClr val="accent4"/>
                </a:solidFill>
                <a:latin typeface="Consolas"/>
              </a:rPr>
              <a:t>==</a:t>
            </a:r>
            <a:r>
              <a:rPr sz="2800" dirty="0"/>
              <a:t> </a:t>
            </a:r>
            <a:r>
              <a:rPr sz="2800" dirty="0" err="1"/>
              <a:t>suffit</a:t>
            </a:r>
            <a:r>
              <a:rPr sz="2800" dirty="0"/>
              <a:t> </a:t>
            </a:r>
            <a:r>
              <a:rPr sz="2800" dirty="0" err="1"/>
              <a:t>donc</a:t>
            </a:r>
            <a:r>
              <a:rPr sz="2800" dirty="0"/>
              <a:t>, et il est </a:t>
            </a:r>
            <a:r>
              <a:rPr sz="2800" dirty="0" err="1"/>
              <a:t>sûr</a:t>
            </a:r>
            <a:endParaRPr sz="2800" dirty="0"/>
          </a:p>
          <a:p>
            <a:pPr marL="0" indent="0">
              <a:spcAft>
                <a:spcPts val="1000"/>
              </a:spcAft>
              <a:buNone/>
            </a:pPr>
            <a:r>
              <a:rPr sz="2800" dirty="0"/>
              <a:t>La </a:t>
            </a:r>
            <a:r>
              <a:rPr sz="2800" dirty="0" err="1"/>
              <a:t>méthode</a:t>
            </a:r>
            <a:r>
              <a:rPr sz="2800" dirty="0"/>
              <a:t> </a:t>
            </a:r>
            <a:r>
              <a:rPr sz="2400" dirty="0">
                <a:solidFill>
                  <a:schemeClr val="accent4"/>
                </a:solidFill>
                <a:latin typeface="Consolas"/>
              </a:rPr>
              <a:t>equals</a:t>
            </a:r>
            <a:r>
              <a:rPr sz="2800" dirty="0"/>
              <a:t> </a:t>
            </a:r>
            <a:r>
              <a:rPr sz="2800" dirty="0" err="1"/>
              <a:t>fonctionne</a:t>
            </a:r>
            <a:r>
              <a:rPr sz="2800" dirty="0"/>
              <a:t> </a:t>
            </a:r>
            <a:r>
              <a:rPr sz="2800" dirty="0" err="1"/>
              <a:t>aussi</a:t>
            </a:r>
            <a:r>
              <a:rPr sz="2800" dirty="0"/>
              <a:t>, sans rien </a:t>
            </a:r>
            <a:r>
              <a:rPr sz="2800" dirty="0" err="1"/>
              <a:t>apporter</a:t>
            </a:r>
            <a:r>
              <a:rPr sz="2800" dirty="0"/>
              <a:t> de plus</a:t>
            </a:r>
          </a:p>
        </p:txBody>
      </p:sp>
      <p:sp>
        <p:nvSpPr>
          <p:cNvPr id="4" name="Code"/>
          <p:cNvSpPr txBox="1"/>
          <p:nvPr/>
        </p:nvSpPr>
        <p:spPr>
          <a:xfrm>
            <a:off x="3429000" y="3733799"/>
            <a:ext cx="5334000" cy="1097280"/>
          </a:xfrm>
          <a:prstGeom prst="roundRect">
            <a:avLst>
              <a:gd name="adj" fmla="val 833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if</a:t>
            </a:r>
            <a:r>
              <a:rPr sz="1800">
                <a:solidFill>
                  <a:srgbClr val="BCBEC4"/>
                </a:solidFill>
                <a:latin typeface="Consolas"/>
              </a:rPr>
              <a:t> (couleur == CouleurDeFeu.ROUGE) {</a:t>
            </a:r>
          </a:p>
          <a:p>
            <a:pPr>
              <a:lnSpc>
                <a:spcPct val="100000"/>
              </a:lnSpc>
              <a:spcBef>
                <a:spcPts val="0"/>
              </a:spcBef>
              <a:spcAft>
                <a:spcPts val="0"/>
              </a:spcAft>
            </a:pPr>
            <a:r>
              <a:rPr sz="1800">
                <a:solidFill>
                  <a:srgbClr val="BCBEC4"/>
                </a:solidFill>
                <a:latin typeface="Consolas"/>
              </a:rPr>
              <a:t>    System.out.</a:t>
            </a:r>
            <a:r>
              <a:rPr sz="1800">
                <a:solidFill>
                  <a:srgbClr val="56A8F5"/>
                </a:solidFill>
                <a:latin typeface="Consolas"/>
              </a:rPr>
              <a:t>println</a:t>
            </a:r>
            <a:r>
              <a:rPr sz="1800">
                <a:solidFill>
                  <a:srgbClr val="BCBEC4"/>
                </a:solidFill>
                <a:latin typeface="Consolas"/>
              </a:rPr>
              <a:t>(</a:t>
            </a:r>
            <a:r>
              <a:rPr sz="1800">
                <a:solidFill>
                  <a:srgbClr val="6AAB73"/>
                </a:solidFill>
                <a:latin typeface="Consolas"/>
              </a:rPr>
              <a:t>"Stop"</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a:t>
            </a: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16</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4. Comparer et aiguiller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Aiguiller : la forme classique</a:t>
            </a:r>
          </a:p>
        </p:txBody>
      </p:sp>
      <p:sp>
        <p:nvSpPr>
          <p:cNvPr id="3" name="Content Placeholder 2"/>
          <p:cNvSpPr>
            <a:spLocks noGrp="1"/>
          </p:cNvSpPr>
          <p:nvPr>
            <p:ph idx="1"/>
          </p:nvPr>
        </p:nvSpPr>
        <p:spPr>
          <a:xfrm>
            <a:off x="640079" y="1371600"/>
            <a:ext cx="5350033" cy="4800600"/>
          </a:xfrm>
        </p:spPr>
        <p:txBody>
          <a:bodyPr/>
          <a:lstStyle/>
          <a:p>
            <a:pPr marL="0" indent="0">
              <a:spcAft>
                <a:spcPts val="1000"/>
              </a:spcAft>
              <a:buNone/>
            </a:pPr>
            <a:r>
              <a:rPr sz="2800" dirty="0"/>
              <a:t>Les </a:t>
            </a:r>
            <a:r>
              <a:rPr sz="2800" dirty="0" err="1"/>
              <a:t>étiquettes</a:t>
            </a:r>
            <a:r>
              <a:rPr sz="2800" dirty="0"/>
              <a:t> </a:t>
            </a:r>
            <a:r>
              <a:rPr sz="2800" dirty="0" err="1"/>
              <a:t>s'écrivent</a:t>
            </a:r>
            <a:r>
              <a:rPr sz="2800" dirty="0"/>
              <a:t> sans le nom de </a:t>
            </a:r>
            <a:r>
              <a:rPr sz="2800" dirty="0" err="1"/>
              <a:t>l'énumération</a:t>
            </a:r>
            <a:r>
              <a:rPr lang="nl-BE" sz="2800" dirty="0"/>
              <a:t>: le </a:t>
            </a:r>
            <a:r>
              <a:rPr lang="nl-BE" sz="2400" dirty="0">
                <a:solidFill>
                  <a:schemeClr val="accent4"/>
                </a:solidFill>
                <a:latin typeface="Consolas"/>
              </a:rPr>
              <a:t>switch</a:t>
            </a:r>
            <a:r>
              <a:rPr lang="nl-BE" sz="2800" dirty="0"/>
              <a:t> est fait sur jour de type </a:t>
            </a:r>
            <a:r>
              <a:rPr lang="nl-BE" sz="2400" dirty="0">
                <a:solidFill>
                  <a:schemeClr val="accent4"/>
                </a:solidFill>
                <a:latin typeface="Consolas"/>
              </a:rPr>
              <a:t>enum</a:t>
            </a:r>
            <a:r>
              <a:rPr lang="nl-BE" sz="2800" dirty="0"/>
              <a:t>, donc les valeurs sont connues.</a:t>
            </a:r>
            <a:endParaRPr sz="2800" dirty="0"/>
          </a:p>
          <a:p>
            <a:pPr marL="0" indent="0">
              <a:spcAft>
                <a:spcPts val="1000"/>
              </a:spcAft>
              <a:buNone/>
            </a:pPr>
            <a:r>
              <a:rPr sz="2800" dirty="0"/>
              <a:t>Sans </a:t>
            </a:r>
            <a:r>
              <a:rPr sz="2400" dirty="0">
                <a:solidFill>
                  <a:schemeClr val="accent4"/>
                </a:solidFill>
                <a:latin typeface="Consolas"/>
              </a:rPr>
              <a:t>break</a:t>
            </a:r>
            <a:r>
              <a:rPr sz="2800" dirty="0"/>
              <a:t>, </a:t>
            </a:r>
            <a:r>
              <a:rPr sz="2800" dirty="0" err="1"/>
              <a:t>l'exécution</a:t>
            </a:r>
            <a:r>
              <a:rPr sz="2800" dirty="0"/>
              <a:t> continue sur le </a:t>
            </a:r>
            <a:r>
              <a:rPr sz="2800" dirty="0" err="1"/>
              <a:t>cas</a:t>
            </a:r>
            <a:r>
              <a:rPr sz="2800" dirty="0"/>
              <a:t> </a:t>
            </a:r>
            <a:r>
              <a:rPr sz="2800" dirty="0" err="1"/>
              <a:t>suivant</a:t>
            </a:r>
            <a:endParaRPr sz="2800" dirty="0"/>
          </a:p>
          <a:p>
            <a:pPr marL="0" indent="0">
              <a:spcAft>
                <a:spcPts val="1000"/>
              </a:spcAft>
              <a:buNone/>
            </a:pPr>
            <a:r>
              <a:rPr sz="2800" dirty="0" err="1"/>
              <a:t>L'oubli</a:t>
            </a:r>
            <a:r>
              <a:rPr sz="2800" dirty="0"/>
              <a:t> du </a:t>
            </a:r>
            <a:r>
              <a:rPr sz="2400" dirty="0">
                <a:solidFill>
                  <a:schemeClr val="accent4"/>
                </a:solidFill>
                <a:latin typeface="Consolas"/>
              </a:rPr>
              <a:t>break</a:t>
            </a:r>
            <a:r>
              <a:rPr sz="2800" dirty="0"/>
              <a:t> est la faute la plus </a:t>
            </a:r>
            <a:r>
              <a:rPr sz="2800" dirty="0" err="1"/>
              <a:t>fréquente</a:t>
            </a:r>
            <a:r>
              <a:rPr sz="2800" dirty="0"/>
              <a:t> de </a:t>
            </a:r>
            <a:r>
              <a:rPr sz="2800" dirty="0" err="1"/>
              <a:t>cette</a:t>
            </a:r>
            <a:r>
              <a:rPr sz="2800" dirty="0"/>
              <a:t> </a:t>
            </a:r>
            <a:r>
              <a:rPr sz="2800" dirty="0" err="1"/>
              <a:t>forme</a:t>
            </a:r>
            <a:endParaRPr sz="2800" dirty="0"/>
          </a:p>
        </p:txBody>
      </p:sp>
      <p:sp>
        <p:nvSpPr>
          <p:cNvPr id="4" name="Code"/>
          <p:cNvSpPr txBox="1"/>
          <p:nvPr/>
        </p:nvSpPr>
        <p:spPr>
          <a:xfrm>
            <a:off x="6504748" y="1690690"/>
            <a:ext cx="5363688" cy="2468879"/>
          </a:xfrm>
          <a:prstGeom prst="roundRect">
            <a:avLst>
              <a:gd name="adj" fmla="val 370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switch</a:t>
            </a:r>
            <a:r>
              <a:rPr sz="1800">
                <a:solidFill>
                  <a:srgbClr val="BCBEC4"/>
                </a:solidFill>
                <a:latin typeface="Consolas"/>
              </a:rPr>
              <a:t> (jour)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case</a:t>
            </a:r>
            <a:r>
              <a:rPr sz="1800">
                <a:solidFill>
                  <a:srgbClr val="BCBEC4"/>
                </a:solidFill>
                <a:latin typeface="Consolas"/>
              </a:rPr>
              <a:t> SAMEDI:</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case</a:t>
            </a:r>
            <a:r>
              <a:rPr sz="1800">
                <a:solidFill>
                  <a:srgbClr val="BCBEC4"/>
                </a:solidFill>
                <a:latin typeface="Consolas"/>
              </a:rPr>
              <a:t> DIMANCHE:</a:t>
            </a:r>
          </a:p>
          <a:p>
            <a:pPr>
              <a:lnSpc>
                <a:spcPct val="100000"/>
              </a:lnSpc>
              <a:spcBef>
                <a:spcPts val="0"/>
              </a:spcBef>
              <a:spcAft>
                <a:spcPts val="0"/>
              </a:spcAft>
            </a:pPr>
            <a:r>
              <a:rPr sz="1800">
                <a:solidFill>
                  <a:srgbClr val="BCBEC4"/>
                </a:solidFill>
                <a:latin typeface="Consolas"/>
              </a:rPr>
              <a:t>        System.out.</a:t>
            </a:r>
            <a:r>
              <a:rPr sz="1800">
                <a:solidFill>
                  <a:srgbClr val="56A8F5"/>
                </a:solidFill>
                <a:latin typeface="Consolas"/>
              </a:rPr>
              <a:t>println</a:t>
            </a:r>
            <a:r>
              <a:rPr sz="1800">
                <a:solidFill>
                  <a:srgbClr val="BCBEC4"/>
                </a:solidFill>
                <a:latin typeface="Consolas"/>
              </a:rPr>
              <a:t>(</a:t>
            </a:r>
            <a:r>
              <a:rPr sz="1800">
                <a:solidFill>
                  <a:srgbClr val="6AAB73"/>
                </a:solidFill>
                <a:latin typeface="Consolas"/>
              </a:rPr>
              <a:t>"Repos"</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break</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default</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System.out.</a:t>
            </a:r>
            <a:r>
              <a:rPr sz="1800">
                <a:solidFill>
                  <a:srgbClr val="56A8F5"/>
                </a:solidFill>
                <a:latin typeface="Consolas"/>
              </a:rPr>
              <a:t>println</a:t>
            </a:r>
            <a:r>
              <a:rPr sz="1800">
                <a:solidFill>
                  <a:srgbClr val="BCBEC4"/>
                </a:solidFill>
                <a:latin typeface="Consolas"/>
              </a:rPr>
              <a:t>(</a:t>
            </a:r>
            <a:r>
              <a:rPr sz="1800">
                <a:solidFill>
                  <a:srgbClr val="6AAB73"/>
                </a:solidFill>
                <a:latin typeface="Consolas"/>
              </a:rPr>
              <a:t>"Travail"</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a:t>
            </a: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17</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4. Comparer et aiguiller</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Aiguiller : la forme à flèches</a:t>
            </a:r>
          </a:p>
        </p:txBody>
      </p:sp>
      <p:sp>
        <p:nvSpPr>
          <p:cNvPr id="3" name="Content Placeholder 2"/>
          <p:cNvSpPr>
            <a:spLocks noGrp="1"/>
          </p:cNvSpPr>
          <p:nvPr>
            <p:ph idx="1"/>
          </p:nvPr>
        </p:nvSpPr>
        <p:spPr>
          <a:xfrm>
            <a:off x="640080" y="1371600"/>
            <a:ext cx="10881360" cy="2225040"/>
          </a:xfrm>
        </p:spPr>
        <p:txBody>
          <a:bodyPr/>
          <a:lstStyle/>
          <a:p>
            <a:pPr marL="0" indent="0">
              <a:spcAft>
                <a:spcPts val="1000"/>
              </a:spcAft>
              <a:buNone/>
            </a:pPr>
            <a:r>
              <a:rPr lang="nl-BE" sz="2800" dirty="0"/>
              <a:t>Si on utilise l</a:t>
            </a:r>
            <a:r>
              <a:rPr sz="2800" dirty="0"/>
              <a:t>a flèche </a:t>
            </a:r>
            <a:r>
              <a:rPr lang="nl-BE" sz="2800" dirty="0"/>
              <a:t>au lieu des </a:t>
            </a:r>
            <a:r>
              <a:rPr sz="2800" dirty="0"/>
              <a:t>deux-points, le </a:t>
            </a:r>
            <a:r>
              <a:rPr sz="2400" dirty="0">
                <a:solidFill>
                  <a:schemeClr val="accent4"/>
                </a:solidFill>
                <a:latin typeface="Consolas"/>
              </a:rPr>
              <a:t>break</a:t>
            </a:r>
            <a:r>
              <a:rPr sz="2800" dirty="0"/>
              <a:t> </a:t>
            </a:r>
            <a:r>
              <a:rPr lang="nl-BE" sz="2800" dirty="0"/>
              <a:t>n’est plus nécessaire</a:t>
            </a:r>
            <a:endParaRPr sz="2800" dirty="0"/>
          </a:p>
          <a:p>
            <a:pPr marL="0" indent="0">
              <a:spcAft>
                <a:spcPts val="1000"/>
              </a:spcAft>
              <a:buNone/>
            </a:pPr>
            <a:r>
              <a:rPr lang="nl-BE" dirty="0"/>
              <a:t>On peut regrouper p</a:t>
            </a:r>
            <a:r>
              <a:rPr sz="2800" dirty="0" err="1"/>
              <a:t>lusieurs</a:t>
            </a:r>
            <a:r>
              <a:rPr sz="2800" dirty="0"/>
              <a:t> </a:t>
            </a:r>
            <a:r>
              <a:rPr sz="2800" dirty="0" err="1"/>
              <a:t>étiquettes</a:t>
            </a:r>
            <a:r>
              <a:rPr sz="2800" dirty="0"/>
              <a:t> </a:t>
            </a:r>
            <a:r>
              <a:rPr lang="nl-BE" sz="2800" dirty="0"/>
              <a:t>en utilisant </a:t>
            </a:r>
            <a:r>
              <a:rPr sz="2800" dirty="0" err="1"/>
              <a:t>une</a:t>
            </a:r>
            <a:r>
              <a:rPr sz="2800" dirty="0"/>
              <a:t> virgule</a:t>
            </a:r>
          </a:p>
          <a:p>
            <a:pPr marL="0" indent="0">
              <a:spcAft>
                <a:spcPts val="1000"/>
              </a:spcAft>
              <a:buNone/>
            </a:pPr>
            <a:r>
              <a:rPr sz="2800" dirty="0"/>
              <a:t>Un seul </a:t>
            </a:r>
            <a:r>
              <a:rPr sz="2800" dirty="0" err="1"/>
              <a:t>cas</a:t>
            </a:r>
            <a:r>
              <a:rPr sz="2800" dirty="0"/>
              <a:t> </a:t>
            </a:r>
            <a:r>
              <a:rPr sz="2800" dirty="0" err="1"/>
              <a:t>s'exécute</a:t>
            </a:r>
            <a:r>
              <a:rPr sz="2800" dirty="0"/>
              <a:t>, jamais </a:t>
            </a:r>
            <a:r>
              <a:rPr sz="2800" dirty="0" err="1"/>
              <a:t>celui</a:t>
            </a:r>
            <a:r>
              <a:rPr sz="2800" dirty="0"/>
              <a:t> qui suit</a:t>
            </a:r>
          </a:p>
        </p:txBody>
      </p:sp>
      <p:sp>
        <p:nvSpPr>
          <p:cNvPr id="4" name="Code"/>
          <p:cNvSpPr txBox="1"/>
          <p:nvPr/>
        </p:nvSpPr>
        <p:spPr>
          <a:xfrm>
            <a:off x="1822450" y="3733799"/>
            <a:ext cx="8547100" cy="1371600"/>
          </a:xfrm>
          <a:prstGeom prst="roundRect">
            <a:avLst>
              <a:gd name="adj" fmla="val 66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dirty="0">
                <a:solidFill>
                  <a:srgbClr val="CF8E6D"/>
                </a:solidFill>
                <a:latin typeface="Consolas"/>
              </a:rPr>
              <a:t>switch</a:t>
            </a:r>
            <a:r>
              <a:rPr sz="1800" dirty="0">
                <a:solidFill>
                  <a:srgbClr val="BCBEC4"/>
                </a:solidFill>
                <a:latin typeface="Consolas"/>
              </a:rPr>
              <a:t> (jour) {</a:t>
            </a:r>
          </a:p>
          <a:p>
            <a:pPr>
              <a:lnSpc>
                <a:spcPct val="100000"/>
              </a:lnSpc>
              <a:spcBef>
                <a:spcPts val="0"/>
              </a:spcBef>
              <a:spcAft>
                <a:spcPts val="0"/>
              </a:spcAft>
            </a:pPr>
            <a:r>
              <a:rPr sz="1800" dirty="0">
                <a:solidFill>
                  <a:srgbClr val="BCBEC4"/>
                </a:solidFill>
                <a:latin typeface="Consolas"/>
              </a:rPr>
              <a:t>    </a:t>
            </a:r>
            <a:r>
              <a:rPr sz="1800" dirty="0">
                <a:solidFill>
                  <a:srgbClr val="CF8E6D"/>
                </a:solidFill>
                <a:latin typeface="Consolas"/>
              </a:rPr>
              <a:t>case</a:t>
            </a:r>
            <a:r>
              <a:rPr sz="1800" dirty="0">
                <a:solidFill>
                  <a:srgbClr val="BCBEC4"/>
                </a:solidFill>
                <a:latin typeface="Consolas"/>
              </a:rPr>
              <a:t> SAMEDI, DIMANCHE -&gt; </a:t>
            </a:r>
            <a:r>
              <a:rPr sz="1800" dirty="0" err="1">
                <a:solidFill>
                  <a:srgbClr val="BCBEC4"/>
                </a:solidFill>
                <a:latin typeface="Consolas"/>
              </a:rPr>
              <a:t>System.out.</a:t>
            </a:r>
            <a:r>
              <a:rPr sz="1800" dirty="0" err="1">
                <a:solidFill>
                  <a:srgbClr val="56A8F5"/>
                </a:solidFill>
                <a:latin typeface="Consolas"/>
              </a:rPr>
              <a:t>println</a:t>
            </a:r>
            <a:r>
              <a:rPr sz="1800" dirty="0">
                <a:solidFill>
                  <a:srgbClr val="BCBEC4"/>
                </a:solidFill>
                <a:latin typeface="Consolas"/>
              </a:rPr>
              <a:t>(</a:t>
            </a:r>
            <a:r>
              <a:rPr sz="1800" dirty="0">
                <a:solidFill>
                  <a:srgbClr val="6AAB73"/>
                </a:solidFill>
                <a:latin typeface="Consolas"/>
              </a:rPr>
              <a:t>"Repos"</a:t>
            </a:r>
            <a:r>
              <a:rPr sz="1800" dirty="0">
                <a:solidFill>
                  <a:srgbClr val="BCBEC4"/>
                </a:solidFill>
                <a:latin typeface="Consolas"/>
              </a:rPr>
              <a:t>);</a:t>
            </a:r>
          </a:p>
          <a:p>
            <a:pPr>
              <a:lnSpc>
                <a:spcPct val="100000"/>
              </a:lnSpc>
              <a:spcBef>
                <a:spcPts val="0"/>
              </a:spcBef>
              <a:spcAft>
                <a:spcPts val="0"/>
              </a:spcAft>
            </a:pPr>
            <a:r>
              <a:rPr sz="1800" dirty="0">
                <a:solidFill>
                  <a:srgbClr val="BCBEC4"/>
                </a:solidFill>
                <a:latin typeface="Consolas"/>
              </a:rPr>
              <a:t>    </a:t>
            </a:r>
            <a:r>
              <a:rPr sz="1800" dirty="0">
                <a:solidFill>
                  <a:srgbClr val="CF8E6D"/>
                </a:solidFill>
                <a:latin typeface="Consolas"/>
              </a:rPr>
              <a:t>default</a:t>
            </a:r>
            <a:r>
              <a:rPr sz="1800" dirty="0">
                <a:solidFill>
                  <a:srgbClr val="BCBEC4"/>
                </a:solidFill>
                <a:latin typeface="Consolas"/>
              </a:rPr>
              <a:t>               -&gt; </a:t>
            </a:r>
            <a:r>
              <a:rPr sz="1800" dirty="0" err="1">
                <a:solidFill>
                  <a:srgbClr val="BCBEC4"/>
                </a:solidFill>
                <a:latin typeface="Consolas"/>
              </a:rPr>
              <a:t>System.out.</a:t>
            </a:r>
            <a:r>
              <a:rPr sz="1800" dirty="0" err="1">
                <a:solidFill>
                  <a:srgbClr val="56A8F5"/>
                </a:solidFill>
                <a:latin typeface="Consolas"/>
              </a:rPr>
              <a:t>println</a:t>
            </a:r>
            <a:r>
              <a:rPr sz="1800" dirty="0">
                <a:solidFill>
                  <a:srgbClr val="BCBEC4"/>
                </a:solidFill>
                <a:latin typeface="Consolas"/>
              </a:rPr>
              <a:t>(</a:t>
            </a:r>
            <a:r>
              <a:rPr sz="1800" dirty="0">
                <a:solidFill>
                  <a:srgbClr val="6AAB73"/>
                </a:solidFill>
                <a:latin typeface="Consolas"/>
              </a:rPr>
              <a:t>"Travail"</a:t>
            </a:r>
            <a:r>
              <a:rPr sz="1800" dirty="0">
                <a:solidFill>
                  <a:srgbClr val="BCBEC4"/>
                </a:solidFill>
                <a:latin typeface="Consolas"/>
              </a:rPr>
              <a:t>);</a:t>
            </a:r>
          </a:p>
          <a:p>
            <a:pPr>
              <a:lnSpc>
                <a:spcPct val="100000"/>
              </a:lnSpc>
              <a:spcBef>
                <a:spcPts val="0"/>
              </a:spcBef>
              <a:spcAft>
                <a:spcPts val="0"/>
              </a:spcAft>
            </a:pPr>
            <a:r>
              <a:rPr sz="1800" dirty="0">
                <a:solidFill>
                  <a:srgbClr val="BCBEC4"/>
                </a:solidFill>
                <a:latin typeface="Consolas"/>
              </a:rPr>
              <a:t>}</a:t>
            </a: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18</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4. Comparer et aiguiller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 </a:t>
            </a:r>
            <a:r>
              <a:rPr sz="3400">
                <a:solidFill>
                  <a:schemeClr val="accent4"/>
                </a:solidFill>
                <a:latin typeface="Consolas"/>
              </a:rPr>
              <a:t>switch</a:t>
            </a:r>
            <a:r>
              <a:rPr sz="4000"/>
              <a:t> qui retourne une valeur</a:t>
            </a:r>
          </a:p>
        </p:txBody>
      </p:sp>
      <p:sp>
        <p:nvSpPr>
          <p:cNvPr id="3" name="Content Placeholder 2"/>
          <p:cNvSpPr>
            <a:spLocks noGrp="1"/>
          </p:cNvSpPr>
          <p:nvPr>
            <p:ph idx="1"/>
          </p:nvPr>
        </p:nvSpPr>
        <p:spPr>
          <a:xfrm>
            <a:off x="640080" y="1371600"/>
            <a:ext cx="10881360" cy="3078479"/>
          </a:xfrm>
        </p:spPr>
        <p:txBody>
          <a:bodyPr/>
          <a:lstStyle/>
          <a:p>
            <a:pPr marL="0" indent="0">
              <a:spcAft>
                <a:spcPts val="1000"/>
              </a:spcAft>
              <a:buNone/>
            </a:pPr>
            <a:r>
              <a:rPr sz="2800" dirty="0"/>
              <a:t>Le </a:t>
            </a:r>
            <a:r>
              <a:rPr sz="2400" dirty="0">
                <a:solidFill>
                  <a:schemeClr val="accent4"/>
                </a:solidFill>
                <a:latin typeface="Consolas"/>
              </a:rPr>
              <a:t>switch</a:t>
            </a:r>
            <a:r>
              <a:rPr sz="2800" dirty="0"/>
              <a:t> </a:t>
            </a:r>
            <a:r>
              <a:rPr lang="nl-BE" sz="2800" dirty="0"/>
              <a:t>peut aussi être utilisé comme</a:t>
            </a:r>
            <a:r>
              <a:rPr sz="2800" dirty="0"/>
              <a:t> </a:t>
            </a:r>
            <a:r>
              <a:rPr sz="2800" dirty="0" err="1"/>
              <a:t>une</a:t>
            </a:r>
            <a:r>
              <a:rPr sz="2800" dirty="0"/>
              <a:t> expression, </a:t>
            </a:r>
            <a:r>
              <a:rPr lang="nl-BE" dirty="0"/>
              <a:t>il</a:t>
            </a:r>
            <a:r>
              <a:rPr sz="2800" dirty="0"/>
              <a:t> se </a:t>
            </a:r>
            <a:r>
              <a:rPr sz="2800" dirty="0" err="1"/>
              <a:t>termine</a:t>
            </a:r>
            <a:r>
              <a:rPr sz="2800" dirty="0"/>
              <a:t> </a:t>
            </a:r>
            <a:r>
              <a:rPr lang="nl-BE" sz="2800" dirty="0"/>
              <a:t>alors </a:t>
            </a:r>
            <a:r>
              <a:rPr sz="2800" dirty="0"/>
              <a:t>par un point-virgule</a:t>
            </a:r>
          </a:p>
          <a:p>
            <a:pPr marL="0" indent="0">
              <a:spcAft>
                <a:spcPts val="1000"/>
              </a:spcAft>
              <a:buNone/>
            </a:pPr>
            <a:r>
              <a:rPr sz="2800" dirty="0" err="1"/>
              <a:t>Chaque</a:t>
            </a:r>
            <a:r>
              <a:rPr sz="2800" dirty="0"/>
              <a:t> </a:t>
            </a:r>
            <a:r>
              <a:rPr sz="2800" dirty="0" err="1"/>
              <a:t>branche</a:t>
            </a:r>
            <a:r>
              <a:rPr sz="2800" dirty="0"/>
              <a:t> </a:t>
            </a:r>
            <a:r>
              <a:rPr sz="2800" dirty="0" err="1"/>
              <a:t>fournit</a:t>
            </a:r>
            <a:r>
              <a:rPr sz="2800" dirty="0"/>
              <a:t> la </a:t>
            </a:r>
            <a:r>
              <a:rPr sz="2800" dirty="0" err="1"/>
              <a:t>valeur</a:t>
            </a:r>
            <a:r>
              <a:rPr sz="2800" dirty="0"/>
              <a:t> </a:t>
            </a:r>
            <a:r>
              <a:rPr lang="nl-BE" sz="2800" dirty="0"/>
              <a:t>(</a:t>
            </a:r>
            <a:r>
              <a:rPr sz="2800" dirty="0" err="1"/>
              <a:t>elle</a:t>
            </a:r>
            <a:r>
              <a:rPr sz="2800" dirty="0"/>
              <a:t> ne </a:t>
            </a:r>
            <a:r>
              <a:rPr sz="2800" dirty="0" err="1"/>
              <a:t>l'affiche</a:t>
            </a:r>
            <a:r>
              <a:rPr sz="2800" dirty="0"/>
              <a:t> pas</a:t>
            </a:r>
            <a:r>
              <a:rPr lang="nl-BE" sz="2800" dirty="0"/>
              <a:t>)</a:t>
            </a:r>
            <a:endParaRPr sz="2800" dirty="0"/>
          </a:p>
          <a:p>
            <a:pPr marL="0" indent="0">
              <a:spcAft>
                <a:spcPts val="1000"/>
              </a:spcAft>
              <a:buNone/>
            </a:pPr>
            <a:r>
              <a:rPr lang="nl-BE" sz="2800" dirty="0"/>
              <a:t>Si une branche nécessite plusieurs lignes</a:t>
            </a:r>
            <a:r>
              <a:rPr sz="2800" dirty="0"/>
              <a:t>, le mot-</a:t>
            </a:r>
            <a:r>
              <a:rPr sz="2800" dirty="0" err="1"/>
              <a:t>clé</a:t>
            </a:r>
            <a:r>
              <a:rPr sz="2800" dirty="0"/>
              <a:t> </a:t>
            </a:r>
            <a:r>
              <a:rPr sz="2400" dirty="0">
                <a:solidFill>
                  <a:schemeClr val="accent4"/>
                </a:solidFill>
                <a:latin typeface="Consolas"/>
              </a:rPr>
              <a:t>yield</a:t>
            </a:r>
            <a:r>
              <a:rPr sz="2800" dirty="0"/>
              <a:t> </a:t>
            </a:r>
            <a:r>
              <a:rPr lang="nl-BE" sz="2800" dirty="0"/>
              <a:t>permet de retourner la</a:t>
            </a:r>
            <a:r>
              <a:rPr sz="2800" dirty="0"/>
              <a:t> </a:t>
            </a:r>
            <a:r>
              <a:rPr sz="2800" dirty="0" err="1"/>
              <a:t>valeur</a:t>
            </a:r>
            <a:endParaRPr sz="2800" dirty="0"/>
          </a:p>
        </p:txBody>
      </p:sp>
      <p:sp>
        <p:nvSpPr>
          <p:cNvPr id="4" name="Code"/>
          <p:cNvSpPr txBox="1"/>
          <p:nvPr/>
        </p:nvSpPr>
        <p:spPr>
          <a:xfrm>
            <a:off x="3295121" y="4195355"/>
            <a:ext cx="5601757" cy="1584960"/>
          </a:xfrm>
          <a:prstGeom prst="roundRect">
            <a:avLst>
              <a:gd name="adj" fmla="val 5769"/>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50" dirty="0">
                <a:solidFill>
                  <a:srgbClr val="BCBEC4"/>
                </a:solidFill>
                <a:latin typeface="Consolas"/>
              </a:rPr>
              <a:t>String message = </a:t>
            </a:r>
            <a:r>
              <a:rPr sz="1750" dirty="0">
                <a:solidFill>
                  <a:srgbClr val="CF8E6D"/>
                </a:solidFill>
                <a:latin typeface="Consolas"/>
              </a:rPr>
              <a:t>switch</a:t>
            </a:r>
            <a:r>
              <a:rPr sz="1750" dirty="0">
                <a:solidFill>
                  <a:srgbClr val="BCBEC4"/>
                </a:solidFill>
                <a:latin typeface="Consolas"/>
              </a:rPr>
              <a:t> (jour) {</a:t>
            </a:r>
          </a:p>
          <a:p>
            <a:pPr>
              <a:lnSpc>
                <a:spcPct val="100000"/>
              </a:lnSpc>
              <a:spcBef>
                <a:spcPts val="0"/>
              </a:spcBef>
              <a:spcAft>
                <a:spcPts val="0"/>
              </a:spcAft>
            </a:pPr>
            <a:r>
              <a:rPr sz="1750" dirty="0">
                <a:solidFill>
                  <a:srgbClr val="BCBEC4"/>
                </a:solidFill>
                <a:latin typeface="Consolas"/>
              </a:rPr>
              <a:t>    </a:t>
            </a:r>
            <a:r>
              <a:rPr sz="1750" dirty="0">
                <a:solidFill>
                  <a:srgbClr val="CF8E6D"/>
                </a:solidFill>
                <a:latin typeface="Consolas"/>
              </a:rPr>
              <a:t>case</a:t>
            </a:r>
            <a:r>
              <a:rPr sz="1750" dirty="0">
                <a:solidFill>
                  <a:srgbClr val="BCBEC4"/>
                </a:solidFill>
                <a:latin typeface="Consolas"/>
              </a:rPr>
              <a:t> SAMEDI, DIMANCHE -&gt; </a:t>
            </a:r>
            <a:r>
              <a:rPr sz="1750" dirty="0">
                <a:solidFill>
                  <a:srgbClr val="6AAB73"/>
                </a:solidFill>
                <a:latin typeface="Consolas"/>
              </a:rPr>
              <a:t>"Repos"</a:t>
            </a:r>
            <a:r>
              <a:rPr sz="1750" dirty="0">
                <a:solidFill>
                  <a:srgbClr val="BCBEC4"/>
                </a:solidFill>
                <a:latin typeface="Consolas"/>
              </a:rPr>
              <a:t>;</a:t>
            </a:r>
          </a:p>
          <a:p>
            <a:pPr>
              <a:lnSpc>
                <a:spcPct val="100000"/>
              </a:lnSpc>
              <a:spcBef>
                <a:spcPts val="0"/>
              </a:spcBef>
              <a:spcAft>
                <a:spcPts val="0"/>
              </a:spcAft>
            </a:pPr>
            <a:r>
              <a:rPr sz="1750" dirty="0">
                <a:solidFill>
                  <a:srgbClr val="BCBEC4"/>
                </a:solidFill>
                <a:latin typeface="Consolas"/>
              </a:rPr>
              <a:t>    </a:t>
            </a:r>
            <a:r>
              <a:rPr sz="1750" dirty="0">
                <a:solidFill>
                  <a:srgbClr val="CF8E6D"/>
                </a:solidFill>
                <a:latin typeface="Consolas"/>
              </a:rPr>
              <a:t>case</a:t>
            </a:r>
            <a:r>
              <a:rPr sz="1750" dirty="0">
                <a:solidFill>
                  <a:srgbClr val="BCBEC4"/>
                </a:solidFill>
                <a:latin typeface="Consolas"/>
              </a:rPr>
              <a:t> VENDREDI         -&gt; </a:t>
            </a:r>
            <a:r>
              <a:rPr sz="1750" dirty="0">
                <a:solidFill>
                  <a:srgbClr val="6AAB73"/>
                </a:solidFill>
                <a:latin typeface="Consolas"/>
              </a:rPr>
              <a:t>"Presque"</a:t>
            </a:r>
            <a:r>
              <a:rPr sz="1750" dirty="0">
                <a:solidFill>
                  <a:srgbClr val="BCBEC4"/>
                </a:solidFill>
                <a:latin typeface="Consolas"/>
              </a:rPr>
              <a:t>;</a:t>
            </a:r>
          </a:p>
          <a:p>
            <a:pPr>
              <a:lnSpc>
                <a:spcPct val="100000"/>
              </a:lnSpc>
              <a:spcBef>
                <a:spcPts val="0"/>
              </a:spcBef>
              <a:spcAft>
                <a:spcPts val="0"/>
              </a:spcAft>
            </a:pPr>
            <a:r>
              <a:rPr sz="1750" dirty="0">
                <a:solidFill>
                  <a:srgbClr val="BCBEC4"/>
                </a:solidFill>
                <a:latin typeface="Consolas"/>
              </a:rPr>
              <a:t>    </a:t>
            </a:r>
            <a:r>
              <a:rPr sz="1750" dirty="0">
                <a:solidFill>
                  <a:srgbClr val="CF8E6D"/>
                </a:solidFill>
                <a:latin typeface="Consolas"/>
              </a:rPr>
              <a:t>default</a:t>
            </a:r>
            <a:r>
              <a:rPr sz="1750" dirty="0">
                <a:solidFill>
                  <a:srgbClr val="BCBEC4"/>
                </a:solidFill>
                <a:latin typeface="Consolas"/>
              </a:rPr>
              <a:t>               -&gt; </a:t>
            </a:r>
            <a:r>
              <a:rPr sz="1750" dirty="0">
                <a:solidFill>
                  <a:srgbClr val="6AAB73"/>
                </a:solidFill>
                <a:latin typeface="Consolas"/>
              </a:rPr>
              <a:t>"Travail"</a:t>
            </a:r>
            <a:r>
              <a:rPr sz="1750" dirty="0">
                <a:solidFill>
                  <a:srgbClr val="BCBEC4"/>
                </a:solidFill>
                <a:latin typeface="Consolas"/>
              </a:rPr>
              <a:t>;</a:t>
            </a:r>
          </a:p>
          <a:p>
            <a:pPr>
              <a:lnSpc>
                <a:spcPct val="100000"/>
              </a:lnSpc>
              <a:spcBef>
                <a:spcPts val="0"/>
              </a:spcBef>
              <a:spcAft>
                <a:spcPts val="0"/>
              </a:spcAft>
            </a:pPr>
            <a:r>
              <a:rPr sz="1750" dirty="0">
                <a:solidFill>
                  <a:srgbClr val="BCBEC4"/>
                </a:solidFill>
                <a:latin typeface="Consolas"/>
              </a:rPr>
              <a:t>};</a:t>
            </a: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19</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4. Comparer et aiguiller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Tous les cas, sans oubli</a:t>
            </a:r>
          </a:p>
        </p:txBody>
      </p:sp>
      <p:sp>
        <p:nvSpPr>
          <p:cNvPr id="3" name="Content Placeholder 2"/>
          <p:cNvSpPr>
            <a:spLocks noGrp="1"/>
          </p:cNvSpPr>
          <p:nvPr>
            <p:ph idx="1"/>
          </p:nvPr>
        </p:nvSpPr>
        <p:spPr>
          <a:xfrm>
            <a:off x="640080" y="1371600"/>
            <a:ext cx="10881360" cy="3078479"/>
          </a:xfrm>
        </p:spPr>
        <p:txBody>
          <a:bodyPr/>
          <a:lstStyle/>
          <a:p>
            <a:pPr marL="0" indent="0">
              <a:spcAft>
                <a:spcPts val="1000"/>
              </a:spcAft>
              <a:buNone/>
            </a:pPr>
            <a:r>
              <a:rPr sz="2800" dirty="0"/>
              <a:t>Sur </a:t>
            </a:r>
            <a:r>
              <a:rPr sz="2800" dirty="0" err="1"/>
              <a:t>une</a:t>
            </a:r>
            <a:r>
              <a:rPr sz="2800" dirty="0"/>
              <a:t> </a:t>
            </a:r>
            <a:r>
              <a:rPr sz="2800" dirty="0" err="1"/>
              <a:t>énumération</a:t>
            </a:r>
            <a:r>
              <a:rPr sz="2800" dirty="0"/>
              <a:t>, le </a:t>
            </a:r>
            <a:r>
              <a:rPr sz="2800" dirty="0" err="1"/>
              <a:t>compilateur</a:t>
            </a:r>
            <a:r>
              <a:rPr sz="2800" dirty="0"/>
              <a:t> </a:t>
            </a:r>
            <a:r>
              <a:rPr sz="2800" dirty="0" err="1"/>
              <a:t>connaît</a:t>
            </a:r>
            <a:r>
              <a:rPr sz="2800" dirty="0"/>
              <a:t> la </a:t>
            </a:r>
            <a:r>
              <a:rPr sz="2800" dirty="0" err="1"/>
              <a:t>liste</a:t>
            </a:r>
            <a:r>
              <a:rPr sz="2800" dirty="0"/>
              <a:t> </a:t>
            </a:r>
            <a:r>
              <a:rPr sz="2800" dirty="0" err="1"/>
              <a:t>complète</a:t>
            </a:r>
            <a:r>
              <a:rPr sz="2800" dirty="0"/>
              <a:t> des </a:t>
            </a:r>
            <a:r>
              <a:rPr sz="2800" dirty="0" err="1"/>
              <a:t>cas</a:t>
            </a:r>
            <a:endParaRPr sz="2800" dirty="0"/>
          </a:p>
          <a:p>
            <a:pPr marL="0" indent="0">
              <a:spcAft>
                <a:spcPts val="1000"/>
              </a:spcAft>
              <a:buNone/>
            </a:pPr>
            <a:r>
              <a:rPr sz="2800" dirty="0"/>
              <a:t>Une expression </a:t>
            </a:r>
            <a:r>
              <a:rPr sz="2400" dirty="0">
                <a:solidFill>
                  <a:schemeClr val="accent4"/>
                </a:solidFill>
                <a:latin typeface="Consolas"/>
              </a:rPr>
              <a:t>switch</a:t>
            </a:r>
            <a:r>
              <a:rPr sz="2800" dirty="0"/>
              <a:t> qui les </a:t>
            </a:r>
            <a:r>
              <a:rPr sz="2800" dirty="0" err="1"/>
              <a:t>couvre</a:t>
            </a:r>
            <a:r>
              <a:rPr sz="2800" dirty="0"/>
              <a:t> </a:t>
            </a:r>
            <a:r>
              <a:rPr sz="2800" dirty="0" err="1"/>
              <a:t>tous</a:t>
            </a:r>
            <a:r>
              <a:rPr sz="2800" dirty="0"/>
              <a:t> se passe de </a:t>
            </a:r>
            <a:r>
              <a:rPr sz="2400" dirty="0">
                <a:solidFill>
                  <a:schemeClr val="accent4"/>
                </a:solidFill>
                <a:latin typeface="Consolas"/>
              </a:rPr>
              <a:t>default</a:t>
            </a:r>
          </a:p>
          <a:p>
            <a:pPr marL="0" indent="0">
              <a:spcAft>
                <a:spcPts val="1000"/>
              </a:spcAft>
              <a:buNone/>
            </a:pPr>
            <a:r>
              <a:rPr sz="2800" dirty="0" err="1"/>
              <a:t>Ajouter</a:t>
            </a:r>
            <a:r>
              <a:rPr sz="2800" dirty="0"/>
              <a:t> </a:t>
            </a:r>
            <a:r>
              <a:rPr sz="2800" dirty="0" err="1"/>
              <a:t>une</a:t>
            </a:r>
            <a:r>
              <a:rPr sz="2800" dirty="0"/>
              <a:t> </a:t>
            </a:r>
            <a:r>
              <a:rPr sz="2800" dirty="0" err="1"/>
              <a:t>constante</a:t>
            </a:r>
            <a:r>
              <a:rPr sz="2800" dirty="0"/>
              <a:t> fait </a:t>
            </a:r>
            <a:r>
              <a:rPr sz="2800" dirty="0" err="1"/>
              <a:t>alors</a:t>
            </a:r>
            <a:r>
              <a:rPr sz="2800" dirty="0"/>
              <a:t> </a:t>
            </a:r>
            <a:r>
              <a:rPr sz="2800" dirty="0" err="1"/>
              <a:t>échouer</a:t>
            </a:r>
            <a:r>
              <a:rPr sz="2800" dirty="0"/>
              <a:t> la compilation, et </a:t>
            </a:r>
            <a:r>
              <a:rPr sz="2800" dirty="0" err="1"/>
              <a:t>c'est</a:t>
            </a:r>
            <a:r>
              <a:rPr sz="2800" dirty="0"/>
              <a:t> le but</a:t>
            </a:r>
          </a:p>
        </p:txBody>
      </p:sp>
      <p:sp>
        <p:nvSpPr>
          <p:cNvPr id="4" name="Code"/>
          <p:cNvSpPr txBox="1"/>
          <p:nvPr/>
        </p:nvSpPr>
        <p:spPr>
          <a:xfrm>
            <a:off x="3498850" y="3657599"/>
            <a:ext cx="5194300" cy="1584960"/>
          </a:xfrm>
          <a:prstGeom prst="roundRect">
            <a:avLst>
              <a:gd name="adj" fmla="val 5769"/>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50" dirty="0">
                <a:solidFill>
                  <a:srgbClr val="BCBEC4"/>
                </a:solidFill>
                <a:latin typeface="Consolas"/>
              </a:rPr>
              <a:t>String </a:t>
            </a:r>
            <a:r>
              <a:rPr sz="1750" dirty="0" err="1">
                <a:solidFill>
                  <a:srgbClr val="BCBEC4"/>
                </a:solidFill>
                <a:latin typeface="Consolas"/>
              </a:rPr>
              <a:t>consigne</a:t>
            </a:r>
            <a:r>
              <a:rPr sz="1750" dirty="0">
                <a:solidFill>
                  <a:srgbClr val="BCBEC4"/>
                </a:solidFill>
                <a:latin typeface="Consolas"/>
              </a:rPr>
              <a:t> = </a:t>
            </a:r>
            <a:r>
              <a:rPr sz="1750" dirty="0">
                <a:solidFill>
                  <a:srgbClr val="CF8E6D"/>
                </a:solidFill>
                <a:latin typeface="Consolas"/>
              </a:rPr>
              <a:t>switch</a:t>
            </a:r>
            <a:r>
              <a:rPr sz="1750" dirty="0">
                <a:solidFill>
                  <a:srgbClr val="BCBEC4"/>
                </a:solidFill>
                <a:latin typeface="Consolas"/>
              </a:rPr>
              <a:t> (couleur) {</a:t>
            </a:r>
          </a:p>
          <a:p>
            <a:pPr>
              <a:lnSpc>
                <a:spcPct val="100000"/>
              </a:lnSpc>
              <a:spcBef>
                <a:spcPts val="0"/>
              </a:spcBef>
              <a:spcAft>
                <a:spcPts val="0"/>
              </a:spcAft>
            </a:pPr>
            <a:r>
              <a:rPr sz="1750" dirty="0">
                <a:solidFill>
                  <a:srgbClr val="BCBEC4"/>
                </a:solidFill>
                <a:latin typeface="Consolas"/>
              </a:rPr>
              <a:t>    </a:t>
            </a:r>
            <a:r>
              <a:rPr sz="1750" dirty="0">
                <a:solidFill>
                  <a:srgbClr val="CF8E6D"/>
                </a:solidFill>
                <a:latin typeface="Consolas"/>
              </a:rPr>
              <a:t>case</a:t>
            </a:r>
            <a:r>
              <a:rPr sz="1750" dirty="0">
                <a:solidFill>
                  <a:srgbClr val="BCBEC4"/>
                </a:solidFill>
                <a:latin typeface="Consolas"/>
              </a:rPr>
              <a:t> VERT   -&gt; </a:t>
            </a:r>
            <a:r>
              <a:rPr sz="1750" dirty="0">
                <a:solidFill>
                  <a:srgbClr val="6AAB73"/>
                </a:solidFill>
                <a:latin typeface="Consolas"/>
              </a:rPr>
              <a:t>"</a:t>
            </a:r>
            <a:r>
              <a:rPr sz="1750" dirty="0" err="1">
                <a:solidFill>
                  <a:srgbClr val="6AAB73"/>
                </a:solidFill>
                <a:latin typeface="Consolas"/>
              </a:rPr>
              <a:t>Passez</a:t>
            </a:r>
            <a:r>
              <a:rPr sz="1750" dirty="0">
                <a:solidFill>
                  <a:srgbClr val="6AAB73"/>
                </a:solidFill>
                <a:latin typeface="Consolas"/>
              </a:rPr>
              <a:t>"</a:t>
            </a:r>
            <a:r>
              <a:rPr sz="1750" dirty="0">
                <a:solidFill>
                  <a:srgbClr val="BCBEC4"/>
                </a:solidFill>
                <a:latin typeface="Consolas"/>
              </a:rPr>
              <a:t>;</a:t>
            </a:r>
          </a:p>
          <a:p>
            <a:pPr>
              <a:lnSpc>
                <a:spcPct val="100000"/>
              </a:lnSpc>
              <a:spcBef>
                <a:spcPts val="0"/>
              </a:spcBef>
              <a:spcAft>
                <a:spcPts val="0"/>
              </a:spcAft>
            </a:pPr>
            <a:r>
              <a:rPr sz="1750" dirty="0">
                <a:solidFill>
                  <a:srgbClr val="BCBEC4"/>
                </a:solidFill>
                <a:latin typeface="Consolas"/>
              </a:rPr>
              <a:t>    </a:t>
            </a:r>
            <a:r>
              <a:rPr sz="1750" dirty="0">
                <a:solidFill>
                  <a:srgbClr val="CF8E6D"/>
                </a:solidFill>
                <a:latin typeface="Consolas"/>
              </a:rPr>
              <a:t>case</a:t>
            </a:r>
            <a:r>
              <a:rPr sz="1750" dirty="0">
                <a:solidFill>
                  <a:srgbClr val="BCBEC4"/>
                </a:solidFill>
                <a:latin typeface="Consolas"/>
              </a:rPr>
              <a:t> ORANGE -&gt; </a:t>
            </a:r>
            <a:r>
              <a:rPr sz="1750" dirty="0">
                <a:solidFill>
                  <a:srgbClr val="6AAB73"/>
                </a:solidFill>
                <a:latin typeface="Consolas"/>
              </a:rPr>
              <a:t>"</a:t>
            </a:r>
            <a:r>
              <a:rPr sz="1750" dirty="0" err="1">
                <a:solidFill>
                  <a:srgbClr val="6AAB73"/>
                </a:solidFill>
                <a:latin typeface="Consolas"/>
              </a:rPr>
              <a:t>Ralentissez</a:t>
            </a:r>
            <a:r>
              <a:rPr sz="1750" dirty="0">
                <a:solidFill>
                  <a:srgbClr val="6AAB73"/>
                </a:solidFill>
                <a:latin typeface="Consolas"/>
              </a:rPr>
              <a:t>"</a:t>
            </a:r>
            <a:r>
              <a:rPr sz="1750" dirty="0">
                <a:solidFill>
                  <a:srgbClr val="BCBEC4"/>
                </a:solidFill>
                <a:latin typeface="Consolas"/>
              </a:rPr>
              <a:t>;</a:t>
            </a:r>
          </a:p>
          <a:p>
            <a:pPr>
              <a:lnSpc>
                <a:spcPct val="100000"/>
              </a:lnSpc>
              <a:spcBef>
                <a:spcPts val="0"/>
              </a:spcBef>
              <a:spcAft>
                <a:spcPts val="0"/>
              </a:spcAft>
            </a:pPr>
            <a:r>
              <a:rPr sz="1750" dirty="0">
                <a:solidFill>
                  <a:srgbClr val="BCBEC4"/>
                </a:solidFill>
                <a:latin typeface="Consolas"/>
              </a:rPr>
              <a:t>    </a:t>
            </a:r>
            <a:r>
              <a:rPr sz="1750" dirty="0">
                <a:solidFill>
                  <a:srgbClr val="CF8E6D"/>
                </a:solidFill>
                <a:latin typeface="Consolas"/>
              </a:rPr>
              <a:t>case</a:t>
            </a:r>
            <a:r>
              <a:rPr sz="1750" dirty="0">
                <a:solidFill>
                  <a:srgbClr val="BCBEC4"/>
                </a:solidFill>
                <a:latin typeface="Consolas"/>
              </a:rPr>
              <a:t> ROUGE  -&gt; </a:t>
            </a:r>
            <a:r>
              <a:rPr sz="1750" dirty="0">
                <a:solidFill>
                  <a:srgbClr val="6AAB73"/>
                </a:solidFill>
                <a:latin typeface="Consolas"/>
              </a:rPr>
              <a:t>"</a:t>
            </a:r>
            <a:r>
              <a:rPr sz="1750" dirty="0" err="1">
                <a:solidFill>
                  <a:srgbClr val="6AAB73"/>
                </a:solidFill>
                <a:latin typeface="Consolas"/>
              </a:rPr>
              <a:t>Arretez</a:t>
            </a:r>
            <a:r>
              <a:rPr sz="1750" dirty="0">
                <a:solidFill>
                  <a:srgbClr val="6AAB73"/>
                </a:solidFill>
                <a:latin typeface="Consolas"/>
              </a:rPr>
              <a:t>"</a:t>
            </a:r>
            <a:r>
              <a:rPr sz="1750" dirty="0">
                <a:solidFill>
                  <a:srgbClr val="BCBEC4"/>
                </a:solidFill>
                <a:latin typeface="Consolas"/>
              </a:rPr>
              <a:t>;</a:t>
            </a:r>
          </a:p>
          <a:p>
            <a:pPr>
              <a:lnSpc>
                <a:spcPct val="100000"/>
              </a:lnSpc>
              <a:spcBef>
                <a:spcPts val="0"/>
              </a:spcBef>
              <a:spcAft>
                <a:spcPts val="0"/>
              </a:spcAft>
            </a:pPr>
            <a:r>
              <a:rPr sz="1750" dirty="0">
                <a:solidFill>
                  <a:srgbClr val="BCBEC4"/>
                </a:solidFill>
                <a:latin typeface="Consolas"/>
              </a:rPr>
              <a:t>};</a:t>
            </a: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20</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4. Comparer et aiguiller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ENU.2</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Une température, deux unités</a:t>
            </a:r>
          </a:p>
          <a:p>
            <a:r>
              <a:rPr sz="1400">
                <a:solidFill>
                  <a:srgbClr val="BCBEC4"/>
                </a:solidFill>
              </a:rPr>
              <a:t>fascicule ENU</a:t>
            </a:r>
          </a:p>
        </p:txBody>
      </p:sp>
      <p:sp>
        <p:nvSpPr>
          <p:cNvPr id="6" name="TextBox 5"/>
          <p:cNvSpPr txBox="1"/>
          <p:nvPr/>
        </p:nvSpPr>
        <p:spPr>
          <a:xfrm>
            <a:off x="640080" y="2651760"/>
            <a:ext cx="9326880" cy="822960"/>
          </a:xfrm>
          <a:prstGeom prst="rect">
            <a:avLst/>
          </a:prstGeom>
          <a:noFill/>
        </p:spPr>
        <p:txBody>
          <a:bodyPr wrap="square">
            <a:spAutoFit/>
          </a:bodyPr>
          <a:lstStyle/>
          <a:p>
            <a:r>
              <a:rPr sz="2400"/>
              <a:t>Nommer : CC-MET.4</a:t>
            </a:r>
          </a:p>
        </p:txBody>
      </p:sp>
      <p:pic>
        <p:nvPicPr>
          <p:cNvPr id="7" name="Picture 6" descr="image.png"/>
          <p:cNvPicPr>
            <a:picLocks noChangeAspect="1"/>
          </p:cNvPicPr>
          <p:nvPr/>
        </p:nvPicPr>
        <p:blipFill>
          <a:blip r:embed="rId3"/>
          <a:stretch>
            <a:fillRect/>
          </a:stretch>
        </p:blipFill>
        <p:spPr>
          <a:xfrm>
            <a:off x="10332720" y="475488"/>
            <a:ext cx="1280160" cy="1280160"/>
          </a:xfrm>
          <a:prstGeom prst="rect">
            <a:avLst/>
          </a:prstGeom>
        </p:spPr>
      </p:pic>
      <p:sp>
        <p:nvSpPr>
          <p:cNvPr id="9"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21</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4. Comparer et aiguiller</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2" descr="ENU_section5.jpg"/>
          <p:cNvPicPr>
            <a:picLocks noChangeAspect="1"/>
          </p:cNvPicPr>
          <p:nvPr/>
        </p:nvPicPr>
        <p:blipFill>
          <a:blip r:embed="rId4"/>
          <a:stretch>
            <a:fillRect/>
          </a:stretch>
        </p:blipFill>
        <p:spPr>
          <a:xfrm>
            <a:off x="0" y="0"/>
            <a:ext cx="12192000" cy="719328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9713133" cy="1105200"/>
          </a:xfrm>
          <a:prstGeom prst="rect">
            <a:avLst/>
          </a:prstGeom>
          <a:solidFill>
            <a:srgbClr val="6AD4FA">
              <a:alpha val="74510"/>
            </a:srgb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5. Une enum est une classe</a:t>
            </a:r>
            <a:endParaRPr lang="fr-FR"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22</a:t>
            </a:fld>
            <a:endParaRPr lang="fr-F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enum peut porter des données</a:t>
            </a:r>
          </a:p>
        </p:txBody>
      </p:sp>
      <p:sp>
        <p:nvSpPr>
          <p:cNvPr id="3" name="Content Placeholder 2"/>
          <p:cNvSpPr>
            <a:spLocks noGrp="1"/>
          </p:cNvSpPr>
          <p:nvPr>
            <p:ph idx="1"/>
          </p:nvPr>
        </p:nvSpPr>
        <p:spPr>
          <a:xfrm>
            <a:off x="640080" y="1371600"/>
            <a:ext cx="4754880" cy="4800600"/>
          </a:xfrm>
        </p:spPr>
        <p:txBody>
          <a:bodyPr/>
          <a:lstStyle/>
          <a:p>
            <a:pPr marL="0" indent="0">
              <a:spcAft>
                <a:spcPts val="1000"/>
              </a:spcAft>
              <a:buNone/>
            </a:pPr>
            <a:r>
              <a:rPr sz="2800" dirty="0" err="1"/>
              <a:t>Chaque</a:t>
            </a:r>
            <a:r>
              <a:rPr sz="2800" dirty="0"/>
              <a:t> </a:t>
            </a:r>
            <a:r>
              <a:rPr sz="2800" dirty="0" err="1"/>
              <a:t>constante</a:t>
            </a:r>
            <a:r>
              <a:rPr sz="2800" dirty="0"/>
              <a:t> passe </a:t>
            </a:r>
            <a:r>
              <a:rPr sz="2800" dirty="0" err="1"/>
              <a:t>ses</a:t>
            </a:r>
            <a:r>
              <a:rPr sz="2800" dirty="0"/>
              <a:t> arguments au </a:t>
            </a:r>
            <a:r>
              <a:rPr sz="2800" dirty="0" err="1"/>
              <a:t>constructeur</a:t>
            </a:r>
            <a:endParaRPr sz="2800" dirty="0"/>
          </a:p>
          <a:p>
            <a:pPr marL="0" indent="0">
              <a:spcAft>
                <a:spcPts val="1000"/>
              </a:spcAft>
              <a:buNone/>
            </a:pPr>
            <a:r>
              <a:rPr sz="2800" dirty="0"/>
              <a:t>Les champs et les </a:t>
            </a:r>
            <a:r>
              <a:rPr sz="2800" dirty="0" err="1"/>
              <a:t>méthodes</a:t>
            </a:r>
            <a:r>
              <a:rPr sz="2800" dirty="0"/>
              <a:t> </a:t>
            </a:r>
            <a:r>
              <a:rPr sz="2800" dirty="0" err="1"/>
              <a:t>s'écrivent</a:t>
            </a:r>
            <a:r>
              <a:rPr sz="2800" dirty="0"/>
              <a:t> </a:t>
            </a:r>
            <a:r>
              <a:rPr sz="2800" dirty="0" err="1"/>
              <a:t>comme</a:t>
            </a:r>
            <a:r>
              <a:rPr sz="2800" dirty="0"/>
              <a:t> dans toute </a:t>
            </a:r>
            <a:r>
              <a:rPr sz="2800" dirty="0" err="1"/>
              <a:t>classe</a:t>
            </a:r>
            <a:endParaRPr sz="2800" dirty="0"/>
          </a:p>
          <a:p>
            <a:pPr marL="0" indent="0">
              <a:spcAft>
                <a:spcPts val="1000"/>
              </a:spcAft>
              <a:buNone/>
            </a:pPr>
            <a:r>
              <a:rPr sz="2800" dirty="0"/>
              <a:t>La </a:t>
            </a:r>
            <a:r>
              <a:rPr sz="2800" dirty="0" err="1"/>
              <a:t>constante</a:t>
            </a:r>
            <a:r>
              <a:rPr sz="2800" dirty="0"/>
              <a:t> </a:t>
            </a:r>
            <a:r>
              <a:rPr sz="2800" dirty="0" err="1"/>
              <a:t>répond</a:t>
            </a:r>
            <a:r>
              <a:rPr sz="2800" dirty="0"/>
              <a:t> </a:t>
            </a:r>
            <a:r>
              <a:rPr sz="2800" dirty="0" err="1"/>
              <a:t>alors</a:t>
            </a:r>
            <a:r>
              <a:rPr sz="2800" dirty="0"/>
              <a:t> </a:t>
            </a:r>
            <a:r>
              <a:rPr sz="2800" dirty="0" err="1"/>
              <a:t>elle-même</a:t>
            </a:r>
            <a:r>
              <a:rPr sz="2800" dirty="0"/>
              <a:t> aux questions qui la </a:t>
            </a:r>
            <a:r>
              <a:rPr sz="2800" dirty="0" err="1"/>
              <a:t>concernent</a:t>
            </a:r>
            <a:endParaRPr sz="2800" dirty="0"/>
          </a:p>
        </p:txBody>
      </p:sp>
      <p:sp>
        <p:nvSpPr>
          <p:cNvPr id="4" name="Code"/>
          <p:cNvSpPr txBox="1"/>
          <p:nvPr/>
        </p:nvSpPr>
        <p:spPr>
          <a:xfrm>
            <a:off x="5623560" y="1371600"/>
            <a:ext cx="5623560" cy="3261360"/>
          </a:xfrm>
          <a:prstGeom prst="roundRect">
            <a:avLst>
              <a:gd name="adj" fmla="val 280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400">
                <a:solidFill>
                  <a:srgbClr val="CF8E6D"/>
                </a:solidFill>
                <a:latin typeface="Consolas"/>
              </a:rPr>
              <a:t>public</a:t>
            </a:r>
            <a:r>
              <a:rPr sz="1400">
                <a:solidFill>
                  <a:srgbClr val="BCBEC4"/>
                </a:solidFill>
                <a:latin typeface="Consolas"/>
              </a:rPr>
              <a:t> </a:t>
            </a:r>
            <a:r>
              <a:rPr sz="1400">
                <a:solidFill>
                  <a:srgbClr val="CF8E6D"/>
                </a:solidFill>
                <a:latin typeface="Consolas"/>
              </a:rPr>
              <a:t>enum</a:t>
            </a:r>
            <a:r>
              <a:rPr sz="1400">
                <a:solidFill>
                  <a:srgbClr val="BCBEC4"/>
                </a:solidFill>
                <a:latin typeface="Consolas"/>
              </a:rPr>
              <a:t> Discount {</a:t>
            </a:r>
          </a:p>
          <a:p>
            <a:pPr>
              <a:lnSpc>
                <a:spcPct val="100000"/>
              </a:lnSpc>
              <a:spcBef>
                <a:spcPts val="0"/>
              </a:spcBef>
              <a:spcAft>
                <a:spcPts val="0"/>
              </a:spcAft>
            </a:pPr>
            <a:r>
              <a:rPr sz="1400">
                <a:solidFill>
                  <a:srgbClr val="BCBEC4"/>
                </a:solidFill>
                <a:latin typeface="Consolas"/>
              </a:rPr>
              <a:t> </a:t>
            </a:r>
          </a:p>
          <a:p>
            <a:pPr>
              <a:lnSpc>
                <a:spcPct val="100000"/>
              </a:lnSpc>
              <a:spcBef>
                <a:spcPts val="0"/>
              </a:spcBef>
              <a:spcAft>
                <a:spcPts val="0"/>
              </a:spcAft>
            </a:pPr>
            <a:r>
              <a:rPr sz="1400">
                <a:solidFill>
                  <a:srgbClr val="BCBEC4"/>
                </a:solidFill>
                <a:latin typeface="Consolas"/>
              </a:rPr>
              <a:t>    </a:t>
            </a:r>
            <a:r>
              <a:rPr sz="1400">
                <a:solidFill>
                  <a:srgbClr val="56A8F5"/>
                </a:solidFill>
                <a:latin typeface="Consolas"/>
              </a:rPr>
              <a:t>BASIC</a:t>
            </a:r>
            <a:r>
              <a:rPr sz="1400">
                <a:solidFill>
                  <a:srgbClr val="BCBEC4"/>
                </a:solidFill>
                <a:latin typeface="Consolas"/>
              </a:rPr>
              <a:t>(</a:t>
            </a:r>
            <a:r>
              <a:rPr sz="1400">
                <a:solidFill>
                  <a:srgbClr val="2AACB8"/>
                </a:solidFill>
                <a:latin typeface="Consolas"/>
              </a:rPr>
              <a:t>0.05</a:t>
            </a:r>
            <a:r>
              <a:rPr sz="1400">
                <a:solidFill>
                  <a:srgbClr val="BCBEC4"/>
                </a:solidFill>
                <a:latin typeface="Consolas"/>
              </a:rPr>
              <a:t>), </a:t>
            </a:r>
            <a:r>
              <a:rPr sz="1400">
                <a:solidFill>
                  <a:srgbClr val="56A8F5"/>
                </a:solidFill>
                <a:latin typeface="Consolas"/>
              </a:rPr>
              <a:t>FIDELITY</a:t>
            </a:r>
            <a:r>
              <a:rPr sz="1400">
                <a:solidFill>
                  <a:srgbClr val="BCBEC4"/>
                </a:solidFill>
                <a:latin typeface="Consolas"/>
              </a:rPr>
              <a:t>(</a:t>
            </a:r>
            <a:r>
              <a:rPr sz="1400">
                <a:solidFill>
                  <a:srgbClr val="2AACB8"/>
                </a:solidFill>
                <a:latin typeface="Consolas"/>
              </a:rPr>
              <a:t>0.075</a:t>
            </a:r>
            <a:r>
              <a:rPr sz="1400">
                <a:solidFill>
                  <a:srgbClr val="BCBEC4"/>
                </a:solidFill>
                <a:latin typeface="Consolas"/>
              </a:rPr>
              <a:t>), </a:t>
            </a:r>
            <a:r>
              <a:rPr sz="1400">
                <a:solidFill>
                  <a:srgbClr val="56A8F5"/>
                </a:solidFill>
                <a:latin typeface="Consolas"/>
              </a:rPr>
              <a:t>SPECIAL</a:t>
            </a:r>
            <a:r>
              <a:rPr sz="1400">
                <a:solidFill>
                  <a:srgbClr val="BCBEC4"/>
                </a:solidFill>
                <a:latin typeface="Consolas"/>
              </a:rPr>
              <a:t>(</a:t>
            </a:r>
            <a:r>
              <a:rPr sz="1400">
                <a:solidFill>
                  <a:srgbClr val="2AACB8"/>
                </a:solidFill>
                <a:latin typeface="Consolas"/>
              </a:rPr>
              <a:t>0.10</a:t>
            </a:r>
            <a:r>
              <a:rPr sz="1400">
                <a:solidFill>
                  <a:srgbClr val="BCBEC4"/>
                </a:solidFill>
                <a:latin typeface="Consolas"/>
              </a:rPr>
              <a:t>);</a:t>
            </a:r>
          </a:p>
          <a:p>
            <a:pPr>
              <a:lnSpc>
                <a:spcPct val="100000"/>
              </a:lnSpc>
              <a:spcBef>
                <a:spcPts val="0"/>
              </a:spcBef>
              <a:spcAft>
                <a:spcPts val="0"/>
              </a:spcAft>
            </a:pPr>
            <a:r>
              <a:rPr sz="1400">
                <a:solidFill>
                  <a:srgbClr val="BCBEC4"/>
                </a:solidFill>
                <a:latin typeface="Consolas"/>
              </a:rPr>
              <a:t> </a:t>
            </a:r>
          </a:p>
          <a:p>
            <a:pPr>
              <a:lnSpc>
                <a:spcPct val="100000"/>
              </a:lnSpc>
              <a:spcBef>
                <a:spcPts val="0"/>
              </a:spcBef>
              <a:spcAft>
                <a:spcPts val="0"/>
              </a:spcAft>
            </a:pPr>
            <a:r>
              <a:rPr sz="1400">
                <a:solidFill>
                  <a:srgbClr val="BCBEC4"/>
                </a:solidFill>
                <a:latin typeface="Consolas"/>
              </a:rPr>
              <a:t>    </a:t>
            </a:r>
            <a:r>
              <a:rPr sz="1400">
                <a:solidFill>
                  <a:srgbClr val="CF8E6D"/>
                </a:solidFill>
                <a:latin typeface="Consolas"/>
              </a:rPr>
              <a:t>private</a:t>
            </a:r>
            <a:r>
              <a:rPr sz="1400">
                <a:solidFill>
                  <a:srgbClr val="BCBEC4"/>
                </a:solidFill>
                <a:latin typeface="Consolas"/>
              </a:rPr>
              <a:t> </a:t>
            </a:r>
            <a:r>
              <a:rPr sz="1400">
                <a:solidFill>
                  <a:srgbClr val="CF8E6D"/>
                </a:solidFill>
                <a:latin typeface="Consolas"/>
              </a:rPr>
              <a:t>final</a:t>
            </a:r>
            <a:r>
              <a:rPr sz="1400">
                <a:solidFill>
                  <a:srgbClr val="BCBEC4"/>
                </a:solidFill>
                <a:latin typeface="Consolas"/>
              </a:rPr>
              <a:t> </a:t>
            </a:r>
            <a:r>
              <a:rPr sz="1400">
                <a:solidFill>
                  <a:srgbClr val="CF8E6D"/>
                </a:solidFill>
                <a:latin typeface="Consolas"/>
              </a:rPr>
              <a:t>double</a:t>
            </a:r>
            <a:r>
              <a:rPr sz="1400">
                <a:solidFill>
                  <a:srgbClr val="BCBEC4"/>
                </a:solidFill>
                <a:latin typeface="Consolas"/>
              </a:rPr>
              <a:t> taux;</a:t>
            </a:r>
          </a:p>
          <a:p>
            <a:pPr>
              <a:lnSpc>
                <a:spcPct val="100000"/>
              </a:lnSpc>
              <a:spcBef>
                <a:spcPts val="0"/>
              </a:spcBef>
              <a:spcAft>
                <a:spcPts val="0"/>
              </a:spcAft>
            </a:pPr>
            <a:r>
              <a:rPr sz="1400">
                <a:solidFill>
                  <a:srgbClr val="BCBEC4"/>
                </a:solidFill>
                <a:latin typeface="Consolas"/>
              </a:rPr>
              <a:t> </a:t>
            </a:r>
          </a:p>
          <a:p>
            <a:pPr>
              <a:lnSpc>
                <a:spcPct val="100000"/>
              </a:lnSpc>
              <a:spcBef>
                <a:spcPts val="0"/>
              </a:spcBef>
              <a:spcAft>
                <a:spcPts val="0"/>
              </a:spcAft>
            </a:pPr>
            <a:r>
              <a:rPr sz="1400">
                <a:solidFill>
                  <a:srgbClr val="BCBEC4"/>
                </a:solidFill>
                <a:latin typeface="Consolas"/>
              </a:rPr>
              <a:t>    </a:t>
            </a:r>
            <a:r>
              <a:rPr sz="1400">
                <a:solidFill>
                  <a:srgbClr val="56A8F5"/>
                </a:solidFill>
                <a:latin typeface="Consolas"/>
              </a:rPr>
              <a:t>Discount</a:t>
            </a:r>
            <a:r>
              <a:rPr sz="1400">
                <a:solidFill>
                  <a:srgbClr val="BCBEC4"/>
                </a:solidFill>
                <a:latin typeface="Consolas"/>
              </a:rPr>
              <a:t>(</a:t>
            </a:r>
            <a:r>
              <a:rPr sz="1400">
                <a:solidFill>
                  <a:srgbClr val="CF8E6D"/>
                </a:solidFill>
                <a:latin typeface="Consolas"/>
              </a:rPr>
              <a:t>double</a:t>
            </a:r>
            <a:r>
              <a:rPr sz="1400">
                <a:solidFill>
                  <a:srgbClr val="BCBEC4"/>
                </a:solidFill>
                <a:latin typeface="Consolas"/>
              </a:rPr>
              <a:t> taux) {</a:t>
            </a:r>
          </a:p>
          <a:p>
            <a:pPr>
              <a:lnSpc>
                <a:spcPct val="100000"/>
              </a:lnSpc>
              <a:spcBef>
                <a:spcPts val="0"/>
              </a:spcBef>
              <a:spcAft>
                <a:spcPts val="0"/>
              </a:spcAft>
            </a:pPr>
            <a:r>
              <a:rPr sz="1400">
                <a:solidFill>
                  <a:srgbClr val="BCBEC4"/>
                </a:solidFill>
                <a:latin typeface="Consolas"/>
              </a:rPr>
              <a:t>        </a:t>
            </a:r>
            <a:r>
              <a:rPr sz="1400">
                <a:solidFill>
                  <a:srgbClr val="CF8E6D"/>
                </a:solidFill>
                <a:latin typeface="Consolas"/>
              </a:rPr>
              <a:t>this</a:t>
            </a:r>
            <a:r>
              <a:rPr sz="1400">
                <a:solidFill>
                  <a:srgbClr val="BCBEC4"/>
                </a:solidFill>
                <a:latin typeface="Consolas"/>
              </a:rPr>
              <a:t>.taux = taux;</a:t>
            </a:r>
          </a:p>
          <a:p>
            <a:pPr>
              <a:lnSpc>
                <a:spcPct val="100000"/>
              </a:lnSpc>
              <a:spcBef>
                <a:spcPts val="0"/>
              </a:spcBef>
              <a:spcAft>
                <a:spcPts val="0"/>
              </a:spcAft>
            </a:pPr>
            <a:r>
              <a:rPr sz="1400">
                <a:solidFill>
                  <a:srgbClr val="BCBEC4"/>
                </a:solidFill>
                <a:latin typeface="Consolas"/>
              </a:rPr>
              <a:t>    }</a:t>
            </a:r>
          </a:p>
          <a:p>
            <a:pPr>
              <a:lnSpc>
                <a:spcPct val="100000"/>
              </a:lnSpc>
              <a:spcBef>
                <a:spcPts val="0"/>
              </a:spcBef>
              <a:spcAft>
                <a:spcPts val="0"/>
              </a:spcAft>
            </a:pPr>
            <a:r>
              <a:rPr sz="1400">
                <a:solidFill>
                  <a:srgbClr val="BCBEC4"/>
                </a:solidFill>
                <a:latin typeface="Consolas"/>
              </a:rPr>
              <a:t> </a:t>
            </a:r>
          </a:p>
          <a:p>
            <a:pPr>
              <a:lnSpc>
                <a:spcPct val="100000"/>
              </a:lnSpc>
              <a:spcBef>
                <a:spcPts val="0"/>
              </a:spcBef>
              <a:spcAft>
                <a:spcPts val="0"/>
              </a:spcAft>
            </a:pPr>
            <a:r>
              <a:rPr sz="1400">
                <a:solidFill>
                  <a:srgbClr val="BCBEC4"/>
                </a:solidFill>
                <a:latin typeface="Consolas"/>
              </a:rPr>
              <a:t>    </a:t>
            </a:r>
            <a:r>
              <a:rPr sz="1400">
                <a:solidFill>
                  <a:srgbClr val="CF8E6D"/>
                </a:solidFill>
                <a:latin typeface="Consolas"/>
              </a:rPr>
              <a:t>public</a:t>
            </a:r>
            <a:r>
              <a:rPr sz="1400">
                <a:solidFill>
                  <a:srgbClr val="BCBEC4"/>
                </a:solidFill>
                <a:latin typeface="Consolas"/>
              </a:rPr>
              <a:t> </a:t>
            </a:r>
            <a:r>
              <a:rPr sz="1400">
                <a:solidFill>
                  <a:srgbClr val="CF8E6D"/>
                </a:solidFill>
                <a:latin typeface="Consolas"/>
              </a:rPr>
              <a:t>double</a:t>
            </a:r>
            <a:r>
              <a:rPr sz="1400">
                <a:solidFill>
                  <a:srgbClr val="BCBEC4"/>
                </a:solidFill>
                <a:latin typeface="Consolas"/>
              </a:rPr>
              <a:t> </a:t>
            </a:r>
            <a:r>
              <a:rPr sz="1400">
                <a:solidFill>
                  <a:srgbClr val="56A8F5"/>
                </a:solidFill>
                <a:latin typeface="Consolas"/>
              </a:rPr>
              <a:t>appliquer</a:t>
            </a:r>
            <a:r>
              <a:rPr sz="1400">
                <a:solidFill>
                  <a:srgbClr val="BCBEC4"/>
                </a:solidFill>
                <a:latin typeface="Consolas"/>
              </a:rPr>
              <a:t>(</a:t>
            </a:r>
            <a:r>
              <a:rPr sz="1400">
                <a:solidFill>
                  <a:srgbClr val="CF8E6D"/>
                </a:solidFill>
                <a:latin typeface="Consolas"/>
              </a:rPr>
              <a:t>double</a:t>
            </a:r>
            <a:r>
              <a:rPr sz="1400">
                <a:solidFill>
                  <a:srgbClr val="BCBEC4"/>
                </a:solidFill>
                <a:latin typeface="Consolas"/>
              </a:rPr>
              <a:t> prix) {</a:t>
            </a:r>
          </a:p>
          <a:p>
            <a:pPr>
              <a:lnSpc>
                <a:spcPct val="100000"/>
              </a:lnSpc>
              <a:spcBef>
                <a:spcPts val="0"/>
              </a:spcBef>
              <a:spcAft>
                <a:spcPts val="0"/>
              </a:spcAft>
            </a:pPr>
            <a:r>
              <a:rPr sz="1400">
                <a:solidFill>
                  <a:srgbClr val="BCBEC4"/>
                </a:solidFill>
                <a:latin typeface="Consolas"/>
              </a:rPr>
              <a:t>        </a:t>
            </a:r>
            <a:r>
              <a:rPr sz="1400">
                <a:solidFill>
                  <a:srgbClr val="CF8E6D"/>
                </a:solidFill>
                <a:latin typeface="Consolas"/>
              </a:rPr>
              <a:t>return</a:t>
            </a:r>
            <a:r>
              <a:rPr sz="1400">
                <a:solidFill>
                  <a:srgbClr val="BCBEC4"/>
                </a:solidFill>
                <a:latin typeface="Consolas"/>
              </a:rPr>
              <a:t> prix * (</a:t>
            </a:r>
            <a:r>
              <a:rPr sz="1400">
                <a:solidFill>
                  <a:srgbClr val="2AACB8"/>
                </a:solidFill>
                <a:latin typeface="Consolas"/>
              </a:rPr>
              <a:t>1</a:t>
            </a:r>
            <a:r>
              <a:rPr sz="1400">
                <a:solidFill>
                  <a:srgbClr val="BCBEC4"/>
                </a:solidFill>
                <a:latin typeface="Consolas"/>
              </a:rPr>
              <a:t> - taux);</a:t>
            </a:r>
          </a:p>
          <a:p>
            <a:pPr>
              <a:lnSpc>
                <a:spcPct val="100000"/>
              </a:lnSpc>
              <a:spcBef>
                <a:spcPts val="0"/>
              </a:spcBef>
              <a:spcAft>
                <a:spcPts val="0"/>
              </a:spcAft>
            </a:pPr>
            <a:r>
              <a:rPr sz="1400">
                <a:solidFill>
                  <a:srgbClr val="BCBEC4"/>
                </a:solidFill>
                <a:latin typeface="Consolas"/>
              </a:rPr>
              <a:t>    }</a:t>
            </a:r>
          </a:p>
          <a:p>
            <a:pPr>
              <a:lnSpc>
                <a:spcPct val="100000"/>
              </a:lnSpc>
              <a:spcBef>
                <a:spcPts val="0"/>
              </a:spcBef>
              <a:spcAft>
                <a:spcPts val="0"/>
              </a:spcAft>
            </a:pPr>
            <a:r>
              <a:rPr sz="1400">
                <a:solidFill>
                  <a:srgbClr val="BCBEC4"/>
                </a:solidFill>
                <a:latin typeface="Consolas"/>
              </a:rPr>
              <a:t>}</a:t>
            </a: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23</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5. Une enum est une classe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Trois détails de syntaxe</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dirty="0"/>
              <a:t>La </a:t>
            </a:r>
            <a:r>
              <a:rPr sz="2800" dirty="0" err="1"/>
              <a:t>liste</a:t>
            </a:r>
            <a:r>
              <a:rPr sz="2800" dirty="0"/>
              <a:t> des </a:t>
            </a:r>
            <a:r>
              <a:rPr sz="2800" dirty="0" err="1"/>
              <a:t>constantes</a:t>
            </a:r>
            <a:r>
              <a:rPr sz="2800" dirty="0"/>
              <a:t> se </a:t>
            </a:r>
            <a:r>
              <a:rPr sz="2800" dirty="0" err="1"/>
              <a:t>termine</a:t>
            </a:r>
            <a:r>
              <a:rPr sz="2800" dirty="0"/>
              <a:t> par un point-virgule </a:t>
            </a:r>
            <a:r>
              <a:rPr sz="2800" dirty="0" err="1"/>
              <a:t>dès</a:t>
            </a:r>
            <a:r>
              <a:rPr sz="2800" dirty="0"/>
              <a:t> </a:t>
            </a:r>
            <a:r>
              <a:rPr sz="2800" dirty="0" err="1"/>
              <a:t>qu'il</a:t>
            </a:r>
            <a:r>
              <a:rPr sz="2800" dirty="0"/>
              <a:t> y a </a:t>
            </a:r>
            <a:r>
              <a:rPr sz="2800" dirty="0" err="1"/>
              <a:t>autre</a:t>
            </a:r>
            <a:r>
              <a:rPr sz="2800" dirty="0"/>
              <a:t> chose ensuite</a:t>
            </a:r>
          </a:p>
          <a:p>
            <a:pPr marL="0" indent="0">
              <a:spcAft>
                <a:spcPts val="1000"/>
              </a:spcAft>
              <a:buNone/>
            </a:pPr>
            <a:r>
              <a:rPr sz="2800" dirty="0"/>
              <a:t>Le </a:t>
            </a:r>
            <a:r>
              <a:rPr sz="2800" dirty="0" err="1"/>
              <a:t>constructeur</a:t>
            </a:r>
            <a:r>
              <a:rPr sz="2800" dirty="0"/>
              <a:t> est </a:t>
            </a:r>
            <a:r>
              <a:rPr sz="2800" dirty="0" err="1"/>
              <a:t>implicitement</a:t>
            </a:r>
            <a:r>
              <a:rPr sz="2800" dirty="0"/>
              <a:t> </a:t>
            </a:r>
            <a:r>
              <a:rPr sz="2800" dirty="0" err="1"/>
              <a:t>privé</a:t>
            </a:r>
            <a:r>
              <a:rPr sz="2800" dirty="0"/>
              <a:t> : un </a:t>
            </a:r>
            <a:r>
              <a:rPr sz="2400" dirty="0">
                <a:solidFill>
                  <a:schemeClr val="accent4"/>
                </a:solidFill>
                <a:latin typeface="Consolas"/>
              </a:rPr>
              <a:t>new</a:t>
            </a:r>
            <a:r>
              <a:rPr sz="2800" dirty="0"/>
              <a:t> sur </a:t>
            </a:r>
            <a:r>
              <a:rPr sz="2800" dirty="0" err="1"/>
              <a:t>une</a:t>
            </a:r>
            <a:r>
              <a:rPr sz="2800" dirty="0"/>
              <a:t> </a:t>
            </a:r>
            <a:r>
              <a:rPr sz="2800" dirty="0" err="1"/>
              <a:t>énumération</a:t>
            </a:r>
            <a:r>
              <a:rPr sz="2800" dirty="0"/>
              <a:t> est impossible</a:t>
            </a:r>
          </a:p>
          <a:p>
            <a:pPr marL="0" indent="0">
              <a:spcAft>
                <a:spcPts val="1000"/>
              </a:spcAft>
              <a:buNone/>
            </a:pPr>
            <a:r>
              <a:rPr sz="2800" dirty="0"/>
              <a:t>Les champs </a:t>
            </a:r>
            <a:r>
              <a:rPr sz="2800" dirty="0" err="1"/>
              <a:t>sont</a:t>
            </a:r>
            <a:r>
              <a:rPr sz="2800" dirty="0"/>
              <a:t> </a:t>
            </a:r>
            <a:r>
              <a:rPr sz="2800" dirty="0" err="1"/>
              <a:t>déclarés</a:t>
            </a:r>
            <a:r>
              <a:rPr sz="2800" dirty="0"/>
              <a:t> </a:t>
            </a:r>
            <a:r>
              <a:rPr sz="2400" dirty="0">
                <a:solidFill>
                  <a:schemeClr val="accent4"/>
                </a:solidFill>
                <a:latin typeface="Consolas"/>
              </a:rPr>
              <a:t>final</a:t>
            </a:r>
            <a:r>
              <a:rPr sz="2800" dirty="0"/>
              <a:t>, </a:t>
            </a:r>
            <a:r>
              <a:rPr sz="2800" dirty="0" err="1"/>
              <a:t>parce</a:t>
            </a:r>
            <a:r>
              <a:rPr sz="2800" dirty="0"/>
              <a:t> </a:t>
            </a:r>
            <a:r>
              <a:rPr sz="2800" dirty="0" err="1"/>
              <a:t>qu'une</a:t>
            </a:r>
            <a:r>
              <a:rPr sz="2800" dirty="0"/>
              <a:t> </a:t>
            </a:r>
            <a:r>
              <a:rPr sz="2800" dirty="0" err="1"/>
              <a:t>constante</a:t>
            </a:r>
            <a:r>
              <a:rPr sz="2800" dirty="0"/>
              <a:t> ne change pas</a:t>
            </a: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24</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5. Une enum est une classe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fr-BE"/>
              <a:t>Un jeu de cartes, avec des enums</a:t>
            </a:r>
          </a:p>
        </p:txBody>
      </p:sp>
      <p:sp>
        <p:nvSpPr>
          <p:cNvPr id="3" name="Content Placeholder 2"/>
          <p:cNvSpPr>
            <a:spLocks noGrp="1"/>
          </p:cNvSpPr>
          <p:nvPr>
            <p:ph idx="1"/>
          </p:nvPr>
        </p:nvSpPr>
        <p:spPr>
          <a:xfrm>
            <a:off x="640080" y="1371600"/>
            <a:ext cx="8229600" cy="4800600"/>
          </a:xfrm>
        </p:spPr>
        <p:txBody>
          <a:bodyPr/>
          <a:lstStyle/>
          <a:p>
            <a:pPr marL="0" indent="0">
              <a:spcAft>
                <a:spcPts val="1000"/>
              </a:spcAft>
              <a:buNone/>
            </a:pPr>
            <a:r>
              <a:rPr lang="fr-BE" sz="2400" dirty="0"/>
              <a:t>Avant de coder : qu'est-ce qui est fixé à l'avance dans un jeu de cartes ?</a:t>
            </a:r>
          </a:p>
          <a:p>
            <a:pPr marL="0" indent="0">
              <a:spcAft>
                <a:spcPts val="1000"/>
              </a:spcAft>
              <a:buNone/>
            </a:pPr>
            <a:r>
              <a:rPr lang="fr-BE" sz="2400" dirty="0"/>
              <a:t>Les 4 couleurs et les 13 valeurs ne changeront jamais : deux énumérations, </a:t>
            </a:r>
            <a:r>
              <a:rPr lang="fr-BE" sz="2000" dirty="0">
                <a:solidFill>
                  <a:schemeClr val="accent4"/>
                </a:solidFill>
                <a:latin typeface="Consolas"/>
              </a:rPr>
              <a:t>Color</a:t>
            </a:r>
            <a:r>
              <a:rPr lang="fr-BE" sz="2400" dirty="0"/>
              <a:t> et </a:t>
            </a:r>
            <a:r>
              <a:rPr lang="fr-BE" sz="2000" dirty="0">
                <a:solidFill>
                  <a:schemeClr val="accent4"/>
                </a:solidFill>
                <a:latin typeface="Consolas"/>
              </a:rPr>
              <a:t>Value</a:t>
            </a:r>
          </a:p>
          <a:p>
            <a:pPr marL="0" indent="0">
              <a:spcAft>
                <a:spcPts val="1000"/>
              </a:spcAft>
              <a:buNone/>
            </a:pPr>
            <a:r>
              <a:rPr lang="fr-BE" sz="2400" dirty="0"/>
              <a:t>Chaque constante porte son libellé : </a:t>
            </a:r>
            <a:r>
              <a:rPr lang="fr-BE" sz="2000" dirty="0">
                <a:solidFill>
                  <a:schemeClr val="accent4"/>
                </a:solidFill>
                <a:latin typeface="Consolas"/>
              </a:rPr>
              <a:t>PIQUE</a:t>
            </a:r>
            <a:r>
              <a:rPr lang="fr-BE" sz="2400" dirty="0"/>
              <a:t> porte « Pique », </a:t>
            </a:r>
            <a:r>
              <a:rPr lang="fr-BE" sz="2000" dirty="0">
                <a:solidFill>
                  <a:schemeClr val="accent4"/>
                </a:solidFill>
                <a:latin typeface="Consolas"/>
              </a:rPr>
              <a:t>AS</a:t>
            </a:r>
            <a:r>
              <a:rPr lang="fr-BE" sz="2400" dirty="0"/>
              <a:t> porte « As »</a:t>
            </a:r>
          </a:p>
          <a:p>
            <a:pPr marL="0" indent="0">
              <a:spcAft>
                <a:spcPts val="1000"/>
              </a:spcAft>
              <a:buNone/>
            </a:pPr>
            <a:r>
              <a:rPr lang="fr-BE" sz="2400" dirty="0"/>
              <a:t>Une carte associe une couleur et une valeur : une classe </a:t>
            </a:r>
            <a:r>
              <a:rPr lang="fr-BE" sz="2000" dirty="0">
                <a:solidFill>
                  <a:schemeClr val="accent4"/>
                </a:solidFill>
                <a:latin typeface="Consolas"/>
              </a:rPr>
              <a:t>Card</a:t>
            </a:r>
            <a:r>
              <a:rPr lang="fr-BE" sz="2400" dirty="0"/>
              <a:t>, à deux champs</a:t>
            </a:r>
          </a:p>
          <a:p>
            <a:pPr marL="0" indent="0">
              <a:spcAft>
                <a:spcPts val="1000"/>
              </a:spcAft>
              <a:buNone/>
            </a:pPr>
            <a:r>
              <a:rPr lang="fr-BE" sz="2400" dirty="0"/>
              <a:t>Le jeu, </a:t>
            </a:r>
            <a:r>
              <a:rPr lang="fr-BE" sz="2000" dirty="0">
                <a:solidFill>
                  <a:schemeClr val="accent4"/>
                </a:solidFill>
                <a:latin typeface="Consolas"/>
              </a:rPr>
              <a:t>Deck</a:t>
            </a:r>
            <a:r>
              <a:rPr lang="fr-BE" sz="2400" dirty="0"/>
              <a:t>, rassemble les 52 cartes, sans que 52 apparaisse dans le code</a:t>
            </a: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25</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5. Une enum est une classe</a:t>
            </a:r>
          </a:p>
        </p:txBody>
      </p:sp>
      <p:pic>
        <p:nvPicPr>
          <p:cNvPr id="7" name="Quatre as" descr="Quatre as">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144000" y="1737360"/>
            <a:ext cx="2560320" cy="192024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fr-BE"/>
              <a:t>Le modèle du jeu</a:t>
            </a:r>
          </a:p>
        </p:txBody>
      </p:sp>
      <p:sp>
        <p:nvSpPr>
          <p:cNvPr id="3" name="Content Placeholder 2"/>
          <p:cNvSpPr>
            <a:spLocks noGrp="1"/>
          </p:cNvSpPr>
          <p:nvPr>
            <p:ph idx="1"/>
          </p:nvPr>
        </p:nvSpPr>
        <p:spPr>
          <a:xfrm>
            <a:off x="640080" y="1371600"/>
            <a:ext cx="10881360" cy="1981199"/>
          </a:xfrm>
        </p:spPr>
        <p:txBody>
          <a:bodyPr/>
          <a:lstStyle/>
          <a:p>
            <a:pPr marL="0" indent="0">
              <a:spcAft>
                <a:spcPts val="1000"/>
              </a:spcAft>
              <a:buNone/>
            </a:pPr>
            <a:r>
              <a:rPr lang="fr-BE" sz="2400" dirty="0"/>
              <a:t>Pourquoi pas une seule énumération de 52 cartes ? C'est possible, mais il faudrait écrire les 52 constantes à la main</a:t>
            </a:r>
          </a:p>
          <a:p>
            <a:pPr marL="0" indent="0">
              <a:spcAft>
                <a:spcPts val="1000"/>
              </a:spcAft>
              <a:buNone/>
            </a:pPr>
            <a:r>
              <a:rPr lang="fr-BE" sz="2400" dirty="0"/>
              <a:t>En séparant couleur et valeur, chaque carte sait de quoi elle est faite, et le jeu se construit par combinaison</a:t>
            </a:r>
          </a:p>
        </p:txBody>
      </p:sp>
      <p:sp>
        <p:nvSpPr>
          <p:cNvPr id="4" name="Code"/>
          <p:cNvSpPr txBox="1"/>
          <p:nvPr/>
        </p:nvSpPr>
        <p:spPr>
          <a:xfrm>
            <a:off x="640080" y="3931920"/>
            <a:ext cx="10881360" cy="914400"/>
          </a:xfrm>
          <a:prstGeom prst="roundRect">
            <a:avLst>
              <a:gd name="adj" fmla="val 3418"/>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50" dirty="0">
                <a:solidFill>
                  <a:srgbClr val="BCBEC4"/>
                </a:solidFill>
                <a:latin typeface="Consolas"/>
              </a:rPr>
              <a:t>Deck  ---[*]---&gt;  Card  ---[1]---&gt;  </a:t>
            </a:r>
            <a:r>
              <a:rPr sz="1750" dirty="0">
                <a:solidFill>
                  <a:srgbClr val="56A8F5"/>
                </a:solidFill>
                <a:latin typeface="Consolas"/>
              </a:rPr>
              <a:t>Color</a:t>
            </a:r>
            <a:r>
              <a:rPr sz="1750" dirty="0">
                <a:solidFill>
                  <a:srgbClr val="FFC000"/>
                </a:solidFill>
                <a:latin typeface="Consolas"/>
              </a:rPr>
              <a:t>   PIQUE, COEUR, CARREAU, TREFLE</a:t>
            </a:r>
          </a:p>
          <a:p>
            <a:pPr>
              <a:lnSpc>
                <a:spcPct val="100000"/>
              </a:lnSpc>
              <a:spcBef>
                <a:spcPts val="0"/>
              </a:spcBef>
              <a:spcAft>
                <a:spcPts val="0"/>
              </a:spcAft>
            </a:pPr>
            <a:r>
              <a:rPr sz="1750" dirty="0">
                <a:solidFill>
                  <a:srgbClr val="BCBEC4"/>
                </a:solidFill>
                <a:latin typeface="Consolas"/>
              </a:rPr>
              <a:t>                        ---[1]---&gt;  </a:t>
            </a:r>
            <a:r>
              <a:rPr sz="1750" dirty="0">
                <a:solidFill>
                  <a:srgbClr val="56A8F5"/>
                </a:solidFill>
                <a:latin typeface="Consolas"/>
              </a:rPr>
              <a:t>Value</a:t>
            </a:r>
            <a:r>
              <a:rPr sz="1750" dirty="0">
                <a:solidFill>
                  <a:srgbClr val="FFC000"/>
                </a:solidFill>
                <a:latin typeface="Consolas"/>
              </a:rPr>
              <a:t>   AS, DEUX, ..., DAME, ROI</a:t>
            </a: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26</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5. Une enum est une classe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Toutes les combinaisons</a:t>
            </a:r>
          </a:p>
        </p:txBody>
      </p:sp>
      <p:sp>
        <p:nvSpPr>
          <p:cNvPr id="3" name="Content Placeholder 2"/>
          <p:cNvSpPr>
            <a:spLocks noGrp="1"/>
          </p:cNvSpPr>
          <p:nvPr>
            <p:ph idx="1"/>
          </p:nvPr>
        </p:nvSpPr>
        <p:spPr>
          <a:xfrm>
            <a:off x="640080" y="1371600"/>
            <a:ext cx="10881360" cy="1981199"/>
          </a:xfrm>
        </p:spPr>
        <p:txBody>
          <a:bodyPr/>
          <a:lstStyle/>
          <a:p>
            <a:pPr marL="0" indent="0">
              <a:spcAft>
                <a:spcPts val="1000"/>
              </a:spcAft>
              <a:buNone/>
            </a:pPr>
            <a:r>
              <a:rPr sz="2400" dirty="0"/>
              <a:t>Deux </a:t>
            </a:r>
            <a:r>
              <a:rPr sz="2400" dirty="0" err="1"/>
              <a:t>boucles</a:t>
            </a:r>
            <a:r>
              <a:rPr sz="2400" dirty="0"/>
              <a:t> </a:t>
            </a:r>
            <a:r>
              <a:rPr sz="2100" dirty="0">
                <a:solidFill>
                  <a:schemeClr val="accent4"/>
                </a:solidFill>
                <a:latin typeface="Consolas"/>
              </a:rPr>
              <a:t>for-each</a:t>
            </a:r>
            <a:r>
              <a:rPr sz="2400" dirty="0"/>
              <a:t> </a:t>
            </a:r>
            <a:r>
              <a:rPr sz="2400" dirty="0" err="1"/>
              <a:t>imbriquées</a:t>
            </a:r>
            <a:r>
              <a:rPr sz="2400" dirty="0"/>
              <a:t> </a:t>
            </a:r>
            <a:r>
              <a:rPr sz="2400" dirty="0" err="1"/>
              <a:t>parcourent</a:t>
            </a:r>
            <a:r>
              <a:rPr sz="2400" dirty="0"/>
              <a:t> </a:t>
            </a:r>
            <a:r>
              <a:rPr sz="2400" dirty="0" err="1"/>
              <a:t>toutes</a:t>
            </a:r>
            <a:r>
              <a:rPr sz="2400" dirty="0"/>
              <a:t> les </a:t>
            </a:r>
            <a:r>
              <a:rPr sz="2400" dirty="0" err="1"/>
              <a:t>paires</a:t>
            </a:r>
            <a:endParaRPr sz="2400" dirty="0"/>
          </a:p>
          <a:p>
            <a:pPr marL="0" indent="0">
              <a:spcAft>
                <a:spcPts val="1000"/>
              </a:spcAft>
              <a:buNone/>
            </a:pPr>
            <a:r>
              <a:rPr sz="2400" dirty="0"/>
              <a:t>Le </a:t>
            </a:r>
            <a:r>
              <a:rPr sz="2400" dirty="0" err="1"/>
              <a:t>nombre</a:t>
            </a:r>
            <a:r>
              <a:rPr sz="2400" dirty="0"/>
              <a:t> de cartes </a:t>
            </a:r>
            <a:r>
              <a:rPr sz="2400" dirty="0" err="1"/>
              <a:t>n'apparaît</a:t>
            </a:r>
            <a:r>
              <a:rPr sz="2400" dirty="0"/>
              <a:t> </a:t>
            </a:r>
            <a:r>
              <a:rPr sz="2400" dirty="0" err="1"/>
              <a:t>nulle</a:t>
            </a:r>
            <a:r>
              <a:rPr sz="2400" dirty="0"/>
              <a:t> part dans le </a:t>
            </a:r>
            <a:r>
              <a:rPr sz="2400" dirty="0" err="1"/>
              <a:t>calcul</a:t>
            </a:r>
            <a:endParaRPr sz="2400" dirty="0"/>
          </a:p>
          <a:p>
            <a:pPr marL="0" indent="0">
              <a:spcAft>
                <a:spcPts val="1000"/>
              </a:spcAft>
              <a:buNone/>
            </a:pPr>
            <a:r>
              <a:rPr sz="2400" dirty="0" err="1"/>
              <a:t>Ajouter</a:t>
            </a:r>
            <a:r>
              <a:rPr sz="2400" dirty="0"/>
              <a:t> </a:t>
            </a:r>
            <a:r>
              <a:rPr sz="2400" dirty="0" err="1"/>
              <a:t>une</a:t>
            </a:r>
            <a:r>
              <a:rPr sz="2400" dirty="0"/>
              <a:t> couleur </a:t>
            </a:r>
            <a:r>
              <a:rPr sz="2400" dirty="0" err="1"/>
              <a:t>ou</a:t>
            </a:r>
            <a:r>
              <a:rPr sz="2400" dirty="0"/>
              <a:t> </a:t>
            </a:r>
            <a:r>
              <a:rPr sz="2400" dirty="0" err="1"/>
              <a:t>une</a:t>
            </a:r>
            <a:r>
              <a:rPr sz="2400" dirty="0"/>
              <a:t> </a:t>
            </a:r>
            <a:r>
              <a:rPr sz="2400" dirty="0" err="1"/>
              <a:t>valeur</a:t>
            </a:r>
            <a:r>
              <a:rPr sz="2400" dirty="0"/>
              <a:t> </a:t>
            </a:r>
            <a:r>
              <a:rPr sz="2400" dirty="0" err="1"/>
              <a:t>suffit</a:t>
            </a:r>
            <a:r>
              <a:rPr sz="2400" dirty="0"/>
              <a:t> à changer la taille du jeu</a:t>
            </a:r>
          </a:p>
        </p:txBody>
      </p:sp>
      <p:sp>
        <p:nvSpPr>
          <p:cNvPr id="4" name="Code"/>
          <p:cNvSpPr txBox="1"/>
          <p:nvPr/>
        </p:nvSpPr>
        <p:spPr>
          <a:xfrm>
            <a:off x="640080" y="3489960"/>
            <a:ext cx="10881360" cy="2400201"/>
          </a:xfrm>
          <a:prstGeom prst="roundRect">
            <a:avLst>
              <a:gd name="adj" fmla="val 3418"/>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50" dirty="0">
                <a:solidFill>
                  <a:srgbClr val="BCBEC4"/>
                </a:solidFill>
                <a:latin typeface="Consolas"/>
              </a:rPr>
              <a:t>Card[] cartes = </a:t>
            </a:r>
            <a:r>
              <a:rPr sz="1750" dirty="0">
                <a:solidFill>
                  <a:srgbClr val="CF8E6D"/>
                </a:solidFill>
                <a:latin typeface="Consolas"/>
              </a:rPr>
              <a:t>new</a:t>
            </a:r>
            <a:r>
              <a:rPr sz="1750" dirty="0">
                <a:solidFill>
                  <a:srgbClr val="BCBEC4"/>
                </a:solidFill>
                <a:latin typeface="Consolas"/>
              </a:rPr>
              <a:t> Card[</a:t>
            </a:r>
            <a:r>
              <a:rPr sz="1750" dirty="0" err="1">
                <a:solidFill>
                  <a:srgbClr val="BCBEC4"/>
                </a:solidFill>
                <a:latin typeface="Consolas"/>
              </a:rPr>
              <a:t>Color.</a:t>
            </a:r>
            <a:r>
              <a:rPr sz="1750" dirty="0" err="1">
                <a:solidFill>
                  <a:srgbClr val="56A8F5"/>
                </a:solidFill>
                <a:latin typeface="Consolas"/>
              </a:rPr>
              <a:t>values</a:t>
            </a:r>
            <a:r>
              <a:rPr sz="1750" dirty="0">
                <a:solidFill>
                  <a:srgbClr val="BCBEC4"/>
                </a:solidFill>
                <a:latin typeface="Consolas"/>
              </a:rPr>
              <a:t>().length</a:t>
            </a:r>
            <a:r>
              <a:rPr lang="nl-BE" sz="1750" dirty="0">
                <a:solidFill>
                  <a:srgbClr val="BCBEC4"/>
                </a:solidFill>
                <a:latin typeface="Consolas"/>
              </a:rPr>
              <a:t> </a:t>
            </a:r>
            <a:r>
              <a:rPr sz="1750" dirty="0">
                <a:solidFill>
                  <a:srgbClr val="BCBEC4"/>
                </a:solidFill>
                <a:latin typeface="Consolas"/>
              </a:rPr>
              <a:t>* </a:t>
            </a:r>
            <a:r>
              <a:rPr sz="1750" dirty="0" err="1">
                <a:solidFill>
                  <a:srgbClr val="BCBEC4"/>
                </a:solidFill>
                <a:latin typeface="Consolas"/>
              </a:rPr>
              <a:t>Value.</a:t>
            </a:r>
            <a:r>
              <a:rPr sz="1750" dirty="0" err="1">
                <a:solidFill>
                  <a:srgbClr val="56A8F5"/>
                </a:solidFill>
                <a:latin typeface="Consolas"/>
              </a:rPr>
              <a:t>values</a:t>
            </a:r>
            <a:r>
              <a:rPr sz="1750" dirty="0">
                <a:solidFill>
                  <a:srgbClr val="BCBEC4"/>
                </a:solidFill>
                <a:latin typeface="Consolas"/>
              </a:rPr>
              <a:t>().length];</a:t>
            </a:r>
          </a:p>
          <a:p>
            <a:pPr>
              <a:lnSpc>
                <a:spcPct val="100000"/>
              </a:lnSpc>
              <a:spcBef>
                <a:spcPts val="0"/>
              </a:spcBef>
              <a:spcAft>
                <a:spcPts val="0"/>
              </a:spcAft>
            </a:pPr>
            <a:r>
              <a:rPr sz="1750" dirty="0">
                <a:solidFill>
                  <a:srgbClr val="CF8E6D"/>
                </a:solidFill>
                <a:latin typeface="Consolas"/>
              </a:rPr>
              <a:t>int</a:t>
            </a:r>
            <a:r>
              <a:rPr sz="1750" dirty="0">
                <a:solidFill>
                  <a:srgbClr val="BCBEC4"/>
                </a:solidFill>
                <a:latin typeface="Consolas"/>
              </a:rPr>
              <a:t> </a:t>
            </a:r>
            <a:r>
              <a:rPr sz="1750" dirty="0" err="1">
                <a:solidFill>
                  <a:srgbClr val="BCBEC4"/>
                </a:solidFill>
                <a:latin typeface="Consolas"/>
              </a:rPr>
              <a:t>i</a:t>
            </a:r>
            <a:r>
              <a:rPr sz="1750" dirty="0">
                <a:solidFill>
                  <a:srgbClr val="BCBEC4"/>
                </a:solidFill>
                <a:latin typeface="Consolas"/>
              </a:rPr>
              <a:t> = </a:t>
            </a:r>
            <a:r>
              <a:rPr sz="1750" dirty="0">
                <a:solidFill>
                  <a:srgbClr val="2AACB8"/>
                </a:solidFill>
                <a:latin typeface="Consolas"/>
              </a:rPr>
              <a:t>0</a:t>
            </a:r>
            <a:r>
              <a:rPr sz="1750" dirty="0">
                <a:solidFill>
                  <a:srgbClr val="BCBEC4"/>
                </a:solidFill>
                <a:latin typeface="Consolas"/>
              </a:rPr>
              <a:t>;</a:t>
            </a:r>
          </a:p>
          <a:p>
            <a:pPr>
              <a:lnSpc>
                <a:spcPct val="100000"/>
              </a:lnSpc>
              <a:spcBef>
                <a:spcPts val="0"/>
              </a:spcBef>
              <a:spcAft>
                <a:spcPts val="0"/>
              </a:spcAft>
            </a:pPr>
            <a:r>
              <a:rPr sz="1750" dirty="0">
                <a:solidFill>
                  <a:srgbClr val="CF8E6D"/>
                </a:solidFill>
                <a:latin typeface="Consolas"/>
              </a:rPr>
              <a:t>for</a:t>
            </a:r>
            <a:r>
              <a:rPr sz="1750" dirty="0">
                <a:solidFill>
                  <a:srgbClr val="BCBEC4"/>
                </a:solidFill>
                <a:latin typeface="Consolas"/>
              </a:rPr>
              <a:t> (Color couleur : </a:t>
            </a:r>
            <a:r>
              <a:rPr sz="1750" dirty="0" err="1">
                <a:solidFill>
                  <a:srgbClr val="BCBEC4"/>
                </a:solidFill>
                <a:latin typeface="Consolas"/>
              </a:rPr>
              <a:t>Color.</a:t>
            </a:r>
            <a:r>
              <a:rPr sz="1750" dirty="0" err="1">
                <a:solidFill>
                  <a:srgbClr val="56A8F5"/>
                </a:solidFill>
                <a:latin typeface="Consolas"/>
              </a:rPr>
              <a:t>values</a:t>
            </a:r>
            <a:r>
              <a:rPr sz="1750" dirty="0">
                <a:solidFill>
                  <a:srgbClr val="BCBEC4"/>
                </a:solidFill>
                <a:latin typeface="Consolas"/>
              </a:rPr>
              <a:t>()) {</a:t>
            </a:r>
          </a:p>
          <a:p>
            <a:pPr>
              <a:lnSpc>
                <a:spcPct val="100000"/>
              </a:lnSpc>
              <a:spcBef>
                <a:spcPts val="0"/>
              </a:spcBef>
              <a:spcAft>
                <a:spcPts val="0"/>
              </a:spcAft>
            </a:pPr>
            <a:r>
              <a:rPr sz="1750" dirty="0">
                <a:solidFill>
                  <a:srgbClr val="BCBEC4"/>
                </a:solidFill>
                <a:latin typeface="Consolas"/>
              </a:rPr>
              <a:t>    </a:t>
            </a:r>
            <a:r>
              <a:rPr sz="1750" dirty="0">
                <a:solidFill>
                  <a:srgbClr val="CF8E6D"/>
                </a:solidFill>
                <a:latin typeface="Consolas"/>
              </a:rPr>
              <a:t>for</a:t>
            </a:r>
            <a:r>
              <a:rPr sz="1750" dirty="0">
                <a:solidFill>
                  <a:srgbClr val="BCBEC4"/>
                </a:solidFill>
                <a:latin typeface="Consolas"/>
              </a:rPr>
              <a:t> (Value </a:t>
            </a:r>
            <a:r>
              <a:rPr sz="1750" dirty="0" err="1">
                <a:solidFill>
                  <a:srgbClr val="BCBEC4"/>
                </a:solidFill>
                <a:latin typeface="Consolas"/>
              </a:rPr>
              <a:t>valeur</a:t>
            </a:r>
            <a:r>
              <a:rPr sz="1750" dirty="0">
                <a:solidFill>
                  <a:srgbClr val="BCBEC4"/>
                </a:solidFill>
                <a:latin typeface="Consolas"/>
              </a:rPr>
              <a:t> : </a:t>
            </a:r>
            <a:r>
              <a:rPr sz="1750" dirty="0" err="1">
                <a:solidFill>
                  <a:srgbClr val="BCBEC4"/>
                </a:solidFill>
                <a:latin typeface="Consolas"/>
              </a:rPr>
              <a:t>Value.</a:t>
            </a:r>
            <a:r>
              <a:rPr sz="1750" dirty="0" err="1">
                <a:solidFill>
                  <a:srgbClr val="56A8F5"/>
                </a:solidFill>
                <a:latin typeface="Consolas"/>
              </a:rPr>
              <a:t>values</a:t>
            </a:r>
            <a:r>
              <a:rPr sz="1750" dirty="0">
                <a:solidFill>
                  <a:srgbClr val="BCBEC4"/>
                </a:solidFill>
                <a:latin typeface="Consolas"/>
              </a:rPr>
              <a:t>()) {</a:t>
            </a:r>
          </a:p>
          <a:p>
            <a:pPr>
              <a:lnSpc>
                <a:spcPct val="100000"/>
              </a:lnSpc>
              <a:spcBef>
                <a:spcPts val="0"/>
              </a:spcBef>
              <a:spcAft>
                <a:spcPts val="0"/>
              </a:spcAft>
            </a:pPr>
            <a:r>
              <a:rPr sz="1750" dirty="0">
                <a:solidFill>
                  <a:srgbClr val="BCBEC4"/>
                </a:solidFill>
                <a:latin typeface="Consolas"/>
              </a:rPr>
              <a:t>        cartes[</a:t>
            </a:r>
            <a:r>
              <a:rPr sz="1750" dirty="0" err="1">
                <a:solidFill>
                  <a:srgbClr val="BCBEC4"/>
                </a:solidFill>
                <a:latin typeface="Consolas"/>
              </a:rPr>
              <a:t>i</a:t>
            </a:r>
            <a:r>
              <a:rPr sz="1750" dirty="0">
                <a:solidFill>
                  <a:srgbClr val="BCBEC4"/>
                </a:solidFill>
                <a:latin typeface="Consolas"/>
              </a:rPr>
              <a:t>] = </a:t>
            </a:r>
            <a:r>
              <a:rPr sz="1750" dirty="0">
                <a:solidFill>
                  <a:srgbClr val="CF8E6D"/>
                </a:solidFill>
                <a:latin typeface="Consolas"/>
              </a:rPr>
              <a:t>new</a:t>
            </a:r>
            <a:r>
              <a:rPr sz="1750" dirty="0">
                <a:solidFill>
                  <a:srgbClr val="BCBEC4"/>
                </a:solidFill>
                <a:latin typeface="Consolas"/>
              </a:rPr>
              <a:t> </a:t>
            </a:r>
            <a:r>
              <a:rPr sz="1750" dirty="0">
                <a:solidFill>
                  <a:srgbClr val="56A8F5"/>
                </a:solidFill>
                <a:latin typeface="Consolas"/>
              </a:rPr>
              <a:t>Card</a:t>
            </a:r>
            <a:r>
              <a:rPr sz="1750" dirty="0">
                <a:solidFill>
                  <a:srgbClr val="BCBEC4"/>
                </a:solidFill>
                <a:latin typeface="Consolas"/>
              </a:rPr>
              <a:t>(couleur, </a:t>
            </a:r>
            <a:r>
              <a:rPr sz="1750" dirty="0" err="1">
                <a:solidFill>
                  <a:srgbClr val="BCBEC4"/>
                </a:solidFill>
                <a:latin typeface="Consolas"/>
              </a:rPr>
              <a:t>valeur</a:t>
            </a:r>
            <a:r>
              <a:rPr sz="1750" dirty="0">
                <a:solidFill>
                  <a:srgbClr val="BCBEC4"/>
                </a:solidFill>
                <a:latin typeface="Consolas"/>
              </a:rPr>
              <a:t>);</a:t>
            </a:r>
          </a:p>
          <a:p>
            <a:pPr>
              <a:lnSpc>
                <a:spcPct val="100000"/>
              </a:lnSpc>
              <a:spcBef>
                <a:spcPts val="0"/>
              </a:spcBef>
              <a:spcAft>
                <a:spcPts val="0"/>
              </a:spcAft>
            </a:pPr>
            <a:r>
              <a:rPr sz="1750" dirty="0">
                <a:solidFill>
                  <a:srgbClr val="BCBEC4"/>
                </a:solidFill>
                <a:latin typeface="Consolas"/>
              </a:rPr>
              <a:t>        </a:t>
            </a:r>
            <a:r>
              <a:rPr sz="1750" dirty="0" err="1">
                <a:solidFill>
                  <a:srgbClr val="BCBEC4"/>
                </a:solidFill>
                <a:latin typeface="Consolas"/>
              </a:rPr>
              <a:t>i</a:t>
            </a:r>
            <a:r>
              <a:rPr sz="1750" dirty="0">
                <a:solidFill>
                  <a:srgbClr val="BCBEC4"/>
                </a:solidFill>
                <a:latin typeface="Consolas"/>
              </a:rPr>
              <a:t>++;</a:t>
            </a:r>
          </a:p>
          <a:p>
            <a:pPr>
              <a:lnSpc>
                <a:spcPct val="100000"/>
              </a:lnSpc>
              <a:spcBef>
                <a:spcPts val="0"/>
              </a:spcBef>
              <a:spcAft>
                <a:spcPts val="0"/>
              </a:spcAft>
            </a:pPr>
            <a:r>
              <a:rPr sz="1750" dirty="0">
                <a:solidFill>
                  <a:srgbClr val="BCBEC4"/>
                </a:solidFill>
                <a:latin typeface="Consolas"/>
              </a:rPr>
              <a:t>    }</a:t>
            </a:r>
          </a:p>
          <a:p>
            <a:pPr>
              <a:lnSpc>
                <a:spcPct val="100000"/>
              </a:lnSpc>
              <a:spcBef>
                <a:spcPts val="0"/>
              </a:spcBef>
              <a:spcAft>
                <a:spcPts val="0"/>
              </a:spcAft>
            </a:pPr>
            <a:r>
              <a:rPr sz="1750" dirty="0">
                <a:solidFill>
                  <a:srgbClr val="BCBEC4"/>
                </a:solidFill>
                <a:latin typeface="Consolas"/>
              </a:rPr>
              <a:t>}</a:t>
            </a: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27</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5. Une enum est une classe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2" descr="ENU_section6.jpg"/>
          <p:cNvPicPr>
            <a:picLocks noChangeAspect="1"/>
          </p:cNvPicPr>
          <p:nvPr/>
        </p:nvPicPr>
        <p:blipFill>
          <a:blip r:embed="rId4"/>
          <a:stretch>
            <a:fillRect/>
          </a:stretch>
        </p:blipFill>
        <p:spPr>
          <a:xfrm>
            <a:off x="-26504" y="-106017"/>
            <a:ext cx="12324522" cy="7070034"/>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10013955" cy="1105200"/>
          </a:xfrm>
          <a:prstGeom prst="rect">
            <a:avLst/>
          </a:prstGeom>
          <a:solidFill>
            <a:schemeClr val="accent2">
              <a:lumMod val="75000"/>
              <a:alpha val="74510"/>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6. Un détour par deux outils</a:t>
            </a:r>
            <a:endParaRPr lang="fr-FR"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28</a:t>
            </a:fld>
            <a:endParaRPr lang="fr-F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Tirer un nombre au hasard</a:t>
            </a:r>
          </a:p>
        </p:txBody>
      </p:sp>
      <p:sp>
        <p:nvSpPr>
          <p:cNvPr id="3" name="Content Placeholder 2"/>
          <p:cNvSpPr>
            <a:spLocks noGrp="1"/>
          </p:cNvSpPr>
          <p:nvPr>
            <p:ph idx="1"/>
          </p:nvPr>
        </p:nvSpPr>
        <p:spPr>
          <a:xfrm>
            <a:off x="640080" y="1371600"/>
            <a:ext cx="10881360" cy="2057400"/>
          </a:xfrm>
        </p:spPr>
        <p:txBody>
          <a:bodyPr/>
          <a:lstStyle/>
          <a:p>
            <a:pPr marL="0" indent="0">
              <a:spcAft>
                <a:spcPts val="1000"/>
              </a:spcAft>
              <a:buNone/>
            </a:pPr>
            <a:r>
              <a:rPr sz="2800" dirty="0"/>
              <a:t>La </a:t>
            </a:r>
            <a:r>
              <a:rPr sz="2800" dirty="0" err="1"/>
              <a:t>classe</a:t>
            </a:r>
            <a:r>
              <a:rPr sz="2800" dirty="0"/>
              <a:t> </a:t>
            </a:r>
            <a:r>
              <a:rPr sz="2400" dirty="0" err="1">
                <a:solidFill>
                  <a:schemeClr val="accent4"/>
                </a:solidFill>
                <a:latin typeface="Consolas"/>
              </a:rPr>
              <a:t>java.util.Random</a:t>
            </a:r>
            <a:r>
              <a:rPr sz="2800" dirty="0"/>
              <a:t> </a:t>
            </a:r>
            <a:r>
              <a:rPr sz="2800" dirty="0" err="1"/>
              <a:t>produit</a:t>
            </a:r>
            <a:r>
              <a:rPr sz="2800" dirty="0"/>
              <a:t> des </a:t>
            </a:r>
            <a:r>
              <a:rPr sz="2800" dirty="0" err="1"/>
              <a:t>nombres</a:t>
            </a:r>
            <a:r>
              <a:rPr sz="2800" dirty="0"/>
              <a:t> au </a:t>
            </a:r>
            <a:r>
              <a:rPr sz="2800" dirty="0" err="1"/>
              <a:t>hasard</a:t>
            </a:r>
            <a:endParaRPr sz="2800" dirty="0"/>
          </a:p>
          <a:p>
            <a:pPr marL="0" indent="0">
              <a:spcAft>
                <a:spcPts val="1000"/>
              </a:spcAft>
              <a:buNone/>
            </a:pPr>
            <a:r>
              <a:rPr lang="nl-BE" sz="2800" dirty="0"/>
              <a:t>S</a:t>
            </a:r>
            <a:r>
              <a:rPr sz="2800" dirty="0"/>
              <a:t>a </a:t>
            </a:r>
            <a:r>
              <a:rPr sz="2800" dirty="0" err="1"/>
              <a:t>méthode</a:t>
            </a:r>
            <a:r>
              <a:rPr sz="2800" dirty="0"/>
              <a:t> </a:t>
            </a:r>
            <a:r>
              <a:rPr sz="2400" dirty="0" err="1">
                <a:solidFill>
                  <a:schemeClr val="accent4"/>
                </a:solidFill>
                <a:latin typeface="Consolas"/>
              </a:rPr>
              <a:t>nextInt</a:t>
            </a:r>
            <a:r>
              <a:rPr sz="2400" dirty="0">
                <a:solidFill>
                  <a:schemeClr val="accent4"/>
                </a:solidFill>
                <a:latin typeface="Consolas"/>
              </a:rPr>
              <a:t>(n)</a:t>
            </a:r>
            <a:r>
              <a:rPr sz="2800" dirty="0"/>
              <a:t> </a:t>
            </a:r>
            <a:r>
              <a:rPr sz="2800" dirty="0" err="1"/>
              <a:t>retourne</a:t>
            </a:r>
            <a:r>
              <a:rPr sz="2800" dirty="0"/>
              <a:t> un </a:t>
            </a:r>
            <a:r>
              <a:rPr sz="2800" dirty="0" err="1"/>
              <a:t>entier</a:t>
            </a:r>
            <a:r>
              <a:rPr sz="2800" dirty="0"/>
              <a:t> de </a:t>
            </a:r>
            <a:r>
              <a:rPr lang="fr-BE" dirty="0">
                <a:solidFill>
                  <a:schemeClr val="accent4"/>
                </a:solidFill>
                <a:latin typeface="Consolas"/>
              </a:rPr>
              <a:t>0</a:t>
            </a:r>
            <a:r>
              <a:rPr sz="2800" dirty="0"/>
              <a:t> </a:t>
            </a:r>
            <a:r>
              <a:rPr sz="2800" dirty="0" err="1"/>
              <a:t>inclus</a:t>
            </a:r>
            <a:r>
              <a:rPr sz="2800" dirty="0"/>
              <a:t> à </a:t>
            </a:r>
            <a:r>
              <a:rPr sz="2400" dirty="0">
                <a:solidFill>
                  <a:schemeClr val="accent4"/>
                </a:solidFill>
                <a:latin typeface="Consolas"/>
              </a:rPr>
              <a:t>n</a:t>
            </a:r>
            <a:r>
              <a:rPr sz="2800" dirty="0"/>
              <a:t> </a:t>
            </a:r>
            <a:r>
              <a:rPr sz="2800" dirty="0" err="1"/>
              <a:t>exclu</a:t>
            </a:r>
            <a:endParaRPr sz="2800" dirty="0"/>
          </a:p>
          <a:p>
            <a:pPr marL="0" indent="0">
              <a:spcAft>
                <a:spcPts val="1000"/>
              </a:spcAft>
              <a:buNone/>
            </a:pPr>
            <a:r>
              <a:rPr sz="2800" dirty="0"/>
              <a:t>Un seul </a:t>
            </a:r>
            <a:r>
              <a:rPr sz="2800" dirty="0" err="1"/>
              <a:t>objet</a:t>
            </a:r>
            <a:r>
              <a:rPr sz="2800" dirty="0"/>
              <a:t> </a:t>
            </a:r>
            <a:r>
              <a:rPr sz="2400" dirty="0">
                <a:solidFill>
                  <a:schemeClr val="accent4"/>
                </a:solidFill>
                <a:latin typeface="Consolas"/>
              </a:rPr>
              <a:t>Random</a:t>
            </a:r>
            <a:r>
              <a:rPr sz="2800" dirty="0"/>
              <a:t> </a:t>
            </a:r>
            <a:r>
              <a:rPr sz="2800" dirty="0" err="1"/>
              <a:t>suffit</a:t>
            </a:r>
            <a:r>
              <a:rPr sz="2800" dirty="0"/>
              <a:t> pour tout un </a:t>
            </a:r>
            <a:r>
              <a:rPr sz="2800" dirty="0" err="1"/>
              <a:t>programme</a:t>
            </a:r>
            <a:endParaRPr sz="2800" dirty="0"/>
          </a:p>
        </p:txBody>
      </p:sp>
      <p:sp>
        <p:nvSpPr>
          <p:cNvPr id="4" name="Code"/>
          <p:cNvSpPr txBox="1"/>
          <p:nvPr/>
        </p:nvSpPr>
        <p:spPr>
          <a:xfrm>
            <a:off x="1263650" y="3810367"/>
            <a:ext cx="9664700" cy="1371600"/>
          </a:xfrm>
          <a:prstGeom prst="roundRect">
            <a:avLst>
              <a:gd name="adj" fmla="val 66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dirty="0">
                <a:solidFill>
                  <a:srgbClr val="BCBEC4"/>
                </a:solidFill>
                <a:latin typeface="Consolas"/>
              </a:rPr>
              <a:t>Random </a:t>
            </a:r>
            <a:r>
              <a:rPr sz="1800" dirty="0" err="1">
                <a:solidFill>
                  <a:srgbClr val="BCBEC4"/>
                </a:solidFill>
                <a:latin typeface="Consolas"/>
              </a:rPr>
              <a:t>hasard</a:t>
            </a:r>
            <a:r>
              <a:rPr sz="1800" dirty="0">
                <a:solidFill>
                  <a:srgbClr val="BCBEC4"/>
                </a:solidFill>
                <a:latin typeface="Consolas"/>
              </a:rPr>
              <a:t> = </a:t>
            </a:r>
            <a:r>
              <a:rPr sz="1800" dirty="0">
                <a:solidFill>
                  <a:srgbClr val="CF8E6D"/>
                </a:solidFill>
                <a:latin typeface="Consolas"/>
              </a:rPr>
              <a:t>new</a:t>
            </a:r>
            <a:r>
              <a:rPr sz="1800" dirty="0">
                <a:solidFill>
                  <a:srgbClr val="BCBEC4"/>
                </a:solidFill>
                <a:latin typeface="Consolas"/>
              </a:rPr>
              <a:t> </a:t>
            </a:r>
            <a:r>
              <a:rPr sz="1800" dirty="0">
                <a:solidFill>
                  <a:srgbClr val="56A8F5"/>
                </a:solidFill>
                <a:latin typeface="Consolas"/>
              </a:rPr>
              <a:t>Random</a:t>
            </a:r>
            <a:r>
              <a:rPr sz="1800" dirty="0">
                <a:solidFill>
                  <a:srgbClr val="BCBEC4"/>
                </a:solidFill>
                <a:latin typeface="Consolas"/>
              </a:rPr>
              <a:t>();</a:t>
            </a:r>
          </a:p>
          <a:p>
            <a:pPr>
              <a:lnSpc>
                <a:spcPct val="100000"/>
              </a:lnSpc>
              <a:spcBef>
                <a:spcPts val="0"/>
              </a:spcBef>
              <a:spcAft>
                <a:spcPts val="0"/>
              </a:spcAft>
            </a:pPr>
            <a:r>
              <a:rPr sz="1800" dirty="0">
                <a:solidFill>
                  <a:srgbClr val="BCBEC4"/>
                </a:solidFill>
                <a:latin typeface="Consolas"/>
              </a:rPr>
              <a:t> </a:t>
            </a:r>
          </a:p>
          <a:p>
            <a:pPr>
              <a:lnSpc>
                <a:spcPct val="100000"/>
              </a:lnSpc>
              <a:spcBef>
                <a:spcPts val="0"/>
              </a:spcBef>
              <a:spcAft>
                <a:spcPts val="0"/>
              </a:spcAft>
            </a:pPr>
            <a:r>
              <a:rPr sz="1800" dirty="0">
                <a:solidFill>
                  <a:srgbClr val="CF8E6D"/>
                </a:solidFill>
                <a:latin typeface="Consolas"/>
              </a:rPr>
              <a:t>int</a:t>
            </a:r>
            <a:r>
              <a:rPr sz="1800" dirty="0">
                <a:solidFill>
                  <a:srgbClr val="BCBEC4"/>
                </a:solidFill>
                <a:latin typeface="Consolas"/>
              </a:rPr>
              <a:t> de = </a:t>
            </a:r>
            <a:r>
              <a:rPr sz="1800" dirty="0" err="1">
                <a:solidFill>
                  <a:srgbClr val="BCBEC4"/>
                </a:solidFill>
                <a:latin typeface="Consolas"/>
              </a:rPr>
              <a:t>hasard.</a:t>
            </a:r>
            <a:r>
              <a:rPr sz="1800" dirty="0" err="1">
                <a:solidFill>
                  <a:srgbClr val="56A8F5"/>
                </a:solidFill>
                <a:latin typeface="Consolas"/>
              </a:rPr>
              <a:t>nextInt</a:t>
            </a:r>
            <a:r>
              <a:rPr sz="1800" dirty="0">
                <a:solidFill>
                  <a:srgbClr val="BCBEC4"/>
                </a:solidFill>
                <a:latin typeface="Consolas"/>
              </a:rPr>
              <a:t>(</a:t>
            </a:r>
            <a:r>
              <a:rPr sz="1800" dirty="0">
                <a:solidFill>
                  <a:srgbClr val="2AACB8"/>
                </a:solidFill>
                <a:latin typeface="Consolas"/>
              </a:rPr>
              <a:t>6</a:t>
            </a:r>
            <a:r>
              <a:rPr sz="1800" dirty="0">
                <a:solidFill>
                  <a:srgbClr val="BCBEC4"/>
                </a:solidFill>
                <a:latin typeface="Consolas"/>
              </a:rPr>
              <a:t>) + </a:t>
            </a:r>
            <a:r>
              <a:rPr sz="1800" dirty="0">
                <a:solidFill>
                  <a:srgbClr val="2AACB8"/>
                </a:solidFill>
                <a:latin typeface="Consolas"/>
              </a:rPr>
              <a:t>1</a:t>
            </a:r>
            <a:r>
              <a:rPr sz="1800" dirty="0">
                <a:solidFill>
                  <a:srgbClr val="BCBEC4"/>
                </a:solidFill>
                <a:latin typeface="Consolas"/>
              </a:rPr>
              <a:t>; </a:t>
            </a:r>
            <a:r>
              <a:rPr lang="nl-BE" sz="1800" dirty="0">
                <a:solidFill>
                  <a:srgbClr val="BCBEC4"/>
                </a:solidFill>
                <a:latin typeface="Consolas"/>
              </a:rPr>
              <a:t>      </a:t>
            </a:r>
            <a:r>
              <a:rPr sz="1800" dirty="0">
                <a:solidFill>
                  <a:srgbClr val="BCBEC4"/>
                </a:solidFill>
                <a:latin typeface="Consolas"/>
              </a:rPr>
              <a:t>     </a:t>
            </a:r>
            <a:r>
              <a:rPr sz="1800" dirty="0">
                <a:solidFill>
                  <a:srgbClr val="7A7E85"/>
                </a:solidFill>
                <a:latin typeface="Consolas"/>
              </a:rPr>
              <a:t>// 1 a 6</a:t>
            </a:r>
          </a:p>
          <a:p>
            <a:pPr>
              <a:lnSpc>
                <a:spcPct val="100000"/>
              </a:lnSpc>
              <a:spcBef>
                <a:spcPts val="0"/>
              </a:spcBef>
              <a:spcAft>
                <a:spcPts val="0"/>
              </a:spcAft>
            </a:pPr>
            <a:r>
              <a:rPr sz="1800" dirty="0">
                <a:solidFill>
                  <a:srgbClr val="CF8E6D"/>
                </a:solidFill>
                <a:latin typeface="Consolas"/>
              </a:rPr>
              <a:t>int</a:t>
            </a:r>
            <a:r>
              <a:rPr sz="1800" dirty="0">
                <a:solidFill>
                  <a:srgbClr val="BCBEC4"/>
                </a:solidFill>
                <a:latin typeface="Consolas"/>
              </a:rPr>
              <a:t> rang = </a:t>
            </a:r>
            <a:r>
              <a:rPr sz="1800" dirty="0" err="1">
                <a:solidFill>
                  <a:srgbClr val="BCBEC4"/>
                </a:solidFill>
                <a:latin typeface="Consolas"/>
              </a:rPr>
              <a:t>hasard.</a:t>
            </a:r>
            <a:r>
              <a:rPr sz="1800" dirty="0" err="1">
                <a:solidFill>
                  <a:srgbClr val="56A8F5"/>
                </a:solidFill>
                <a:latin typeface="Consolas"/>
              </a:rPr>
              <a:t>nextInt</a:t>
            </a:r>
            <a:r>
              <a:rPr sz="1800" dirty="0">
                <a:solidFill>
                  <a:srgbClr val="BCBEC4"/>
                </a:solidFill>
                <a:latin typeface="Consolas"/>
              </a:rPr>
              <a:t>(</a:t>
            </a:r>
            <a:r>
              <a:rPr sz="1800" dirty="0" err="1">
                <a:solidFill>
                  <a:srgbClr val="BCBEC4"/>
                </a:solidFill>
                <a:latin typeface="Consolas"/>
              </a:rPr>
              <a:t>cartes.length</a:t>
            </a:r>
            <a:r>
              <a:rPr sz="1800" dirty="0">
                <a:solidFill>
                  <a:srgbClr val="BCBEC4"/>
                </a:solidFill>
                <a:latin typeface="Consolas"/>
              </a:rPr>
              <a:t>);</a:t>
            </a:r>
            <a:r>
              <a:rPr lang="fr-BE" dirty="0">
                <a:solidFill>
                  <a:srgbClr val="BCBEC4"/>
                </a:solidFill>
                <a:latin typeface="Consolas"/>
              </a:rPr>
              <a:t>  </a:t>
            </a:r>
            <a:r>
              <a:rPr lang="fr-BE" dirty="0">
                <a:solidFill>
                  <a:srgbClr val="7A7E85"/>
                </a:solidFill>
                <a:latin typeface="Consolas"/>
              </a:rPr>
              <a:t>// 0 a </a:t>
            </a:r>
            <a:r>
              <a:rPr lang="fr-BE" dirty="0" err="1">
                <a:solidFill>
                  <a:srgbClr val="7A7E85"/>
                </a:solidFill>
                <a:latin typeface="Consolas"/>
              </a:rPr>
              <a:t>cartes.length</a:t>
            </a:r>
            <a:r>
              <a:rPr lang="fr-BE" dirty="0">
                <a:solidFill>
                  <a:srgbClr val="7A7E85"/>
                </a:solidFill>
                <a:latin typeface="Consolas"/>
              </a:rPr>
              <a:t> - 1</a:t>
            </a:r>
            <a:endParaRPr sz="1800" dirty="0">
              <a:solidFill>
                <a:srgbClr val="BCBEC4"/>
              </a:solidFill>
              <a:latin typeface="Consolas"/>
            </a:endParaRP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29</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6. Random et StringJoiner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dirty="0"/>
              <a:t>Assembler </a:t>
            </a:r>
            <a:r>
              <a:rPr lang="nl-BE" sz="4000" dirty="0"/>
              <a:t>un </a:t>
            </a:r>
            <a:r>
              <a:rPr lang="nl-BE" sz="3600" dirty="0">
                <a:solidFill>
                  <a:schemeClr val="accent4"/>
                </a:solidFill>
                <a:latin typeface="Consolas" panose="020B0609020204030204" pitchFamily="49" charset="0"/>
                <a:cs typeface="Consolas" panose="020B0609020204030204" pitchFamily="49" charset="0"/>
              </a:rPr>
              <a:t>String</a:t>
            </a:r>
            <a:r>
              <a:rPr lang="nl-BE" sz="4000" dirty="0"/>
              <a:t> a</a:t>
            </a:r>
            <a:r>
              <a:rPr sz="4000" dirty="0" err="1"/>
              <a:t>vec</a:t>
            </a:r>
            <a:r>
              <a:rPr sz="4000" dirty="0"/>
              <a:t> un </a:t>
            </a:r>
            <a:r>
              <a:rPr sz="4000" dirty="0" err="1"/>
              <a:t>séparateur</a:t>
            </a:r>
            <a:endParaRPr sz="4000" dirty="0"/>
          </a:p>
        </p:txBody>
      </p:sp>
      <p:sp>
        <p:nvSpPr>
          <p:cNvPr id="3" name="Content Placeholder 2"/>
          <p:cNvSpPr>
            <a:spLocks noGrp="1"/>
          </p:cNvSpPr>
          <p:nvPr>
            <p:ph idx="1"/>
          </p:nvPr>
        </p:nvSpPr>
        <p:spPr>
          <a:xfrm>
            <a:off x="640080" y="1371600"/>
            <a:ext cx="10881360" cy="3078479"/>
          </a:xfrm>
        </p:spPr>
        <p:txBody>
          <a:bodyPr/>
          <a:lstStyle/>
          <a:p>
            <a:pPr marL="0" indent="0">
              <a:spcAft>
                <a:spcPts val="1000"/>
              </a:spcAft>
              <a:buNone/>
            </a:pPr>
            <a:r>
              <a:rPr sz="2800" dirty="0"/>
              <a:t>La </a:t>
            </a:r>
            <a:r>
              <a:rPr sz="2800" dirty="0" err="1"/>
              <a:t>classe</a:t>
            </a:r>
            <a:r>
              <a:rPr sz="2800" dirty="0"/>
              <a:t> </a:t>
            </a:r>
            <a:r>
              <a:rPr sz="2400" dirty="0" err="1">
                <a:solidFill>
                  <a:schemeClr val="accent4"/>
                </a:solidFill>
                <a:latin typeface="Consolas"/>
              </a:rPr>
              <a:t>StringJoiner</a:t>
            </a:r>
            <a:r>
              <a:rPr sz="2800" dirty="0"/>
              <a:t> place le </a:t>
            </a:r>
            <a:r>
              <a:rPr sz="2800" dirty="0" err="1"/>
              <a:t>séparateur</a:t>
            </a:r>
            <a:r>
              <a:rPr sz="2800" dirty="0"/>
              <a:t> entre les </a:t>
            </a:r>
            <a:r>
              <a:rPr sz="2800" dirty="0" err="1"/>
              <a:t>éléments</a:t>
            </a:r>
            <a:endParaRPr sz="2800" dirty="0"/>
          </a:p>
          <a:p>
            <a:pPr marL="0" indent="0">
              <a:spcAft>
                <a:spcPts val="1000"/>
              </a:spcAft>
              <a:buNone/>
            </a:pPr>
            <a:r>
              <a:rPr sz="2800" dirty="0"/>
              <a:t>Il </a:t>
            </a:r>
            <a:r>
              <a:rPr sz="2800" dirty="0" err="1"/>
              <a:t>n'y</a:t>
            </a:r>
            <a:r>
              <a:rPr sz="2800" dirty="0"/>
              <a:t> a plus de test sur </a:t>
            </a:r>
            <a:r>
              <a:rPr sz="2800" dirty="0" err="1"/>
              <a:t>l'indice</a:t>
            </a:r>
            <a:r>
              <a:rPr sz="2800" dirty="0"/>
              <a:t>, </a:t>
            </a:r>
            <a:r>
              <a:rPr sz="2800" dirty="0" err="1"/>
              <a:t>donc</a:t>
            </a:r>
            <a:r>
              <a:rPr sz="2800" dirty="0"/>
              <a:t> plus </a:t>
            </a:r>
            <a:r>
              <a:rPr sz="2800" dirty="0" err="1"/>
              <a:t>d'endroit</a:t>
            </a:r>
            <a:r>
              <a:rPr sz="2800" dirty="0"/>
              <a:t> </a:t>
            </a:r>
            <a:r>
              <a:rPr sz="2800" dirty="0" err="1"/>
              <a:t>où</a:t>
            </a:r>
            <a:r>
              <a:rPr sz="2800" dirty="0"/>
              <a:t> se </a:t>
            </a:r>
            <a:r>
              <a:rPr sz="2800" dirty="0" err="1"/>
              <a:t>tromper</a:t>
            </a:r>
            <a:endParaRPr sz="2800" dirty="0"/>
          </a:p>
          <a:p>
            <a:pPr marL="0" indent="0">
              <a:spcAft>
                <a:spcPts val="1000"/>
              </a:spcAft>
              <a:buNone/>
            </a:pPr>
            <a:r>
              <a:rPr sz="2800" dirty="0"/>
              <a:t>Le </a:t>
            </a:r>
            <a:r>
              <a:rPr sz="2800" dirty="0" err="1"/>
              <a:t>constructeur</a:t>
            </a:r>
            <a:r>
              <a:rPr sz="2800" dirty="0"/>
              <a:t> </a:t>
            </a:r>
            <a:r>
              <a:rPr sz="2800" dirty="0" err="1"/>
              <a:t>accepte</a:t>
            </a:r>
            <a:r>
              <a:rPr sz="2800" dirty="0"/>
              <a:t> </a:t>
            </a:r>
            <a:r>
              <a:rPr sz="2800" dirty="0" err="1"/>
              <a:t>aussi</a:t>
            </a:r>
            <a:r>
              <a:rPr sz="2800" dirty="0"/>
              <a:t> un </a:t>
            </a:r>
            <a:r>
              <a:rPr sz="2800" dirty="0" err="1"/>
              <a:t>préfixe</a:t>
            </a:r>
            <a:r>
              <a:rPr sz="2800" dirty="0"/>
              <a:t> et un </a:t>
            </a:r>
            <a:r>
              <a:rPr sz="2800" dirty="0" err="1"/>
              <a:t>suffixe</a:t>
            </a:r>
            <a:endParaRPr sz="2800" dirty="0"/>
          </a:p>
        </p:txBody>
      </p:sp>
      <p:sp>
        <p:nvSpPr>
          <p:cNvPr id="4" name="Code"/>
          <p:cNvSpPr txBox="1"/>
          <p:nvPr/>
        </p:nvSpPr>
        <p:spPr>
          <a:xfrm>
            <a:off x="2955572" y="3810367"/>
            <a:ext cx="6280855" cy="1584960"/>
          </a:xfrm>
          <a:prstGeom prst="roundRect">
            <a:avLst>
              <a:gd name="adj" fmla="val 5769"/>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50" dirty="0" err="1">
                <a:solidFill>
                  <a:srgbClr val="BCBEC4"/>
                </a:solidFill>
                <a:latin typeface="Consolas"/>
              </a:rPr>
              <a:t>StringJoiner</a:t>
            </a:r>
            <a:r>
              <a:rPr sz="1750" dirty="0">
                <a:solidFill>
                  <a:srgbClr val="BCBEC4"/>
                </a:solidFill>
                <a:latin typeface="Consolas"/>
              </a:rPr>
              <a:t> </a:t>
            </a:r>
            <a:r>
              <a:rPr sz="1750" dirty="0" err="1">
                <a:solidFill>
                  <a:srgbClr val="BCBEC4"/>
                </a:solidFill>
                <a:latin typeface="Consolas"/>
              </a:rPr>
              <a:t>texte</a:t>
            </a:r>
            <a:r>
              <a:rPr sz="1750" dirty="0">
                <a:solidFill>
                  <a:srgbClr val="BCBEC4"/>
                </a:solidFill>
                <a:latin typeface="Consolas"/>
              </a:rPr>
              <a:t> = </a:t>
            </a:r>
            <a:r>
              <a:rPr sz="1750" dirty="0">
                <a:solidFill>
                  <a:srgbClr val="CF8E6D"/>
                </a:solidFill>
                <a:latin typeface="Consolas"/>
              </a:rPr>
              <a:t>new</a:t>
            </a:r>
            <a:r>
              <a:rPr sz="1750" dirty="0">
                <a:solidFill>
                  <a:srgbClr val="BCBEC4"/>
                </a:solidFill>
                <a:latin typeface="Consolas"/>
              </a:rPr>
              <a:t> </a:t>
            </a:r>
            <a:r>
              <a:rPr sz="1750" dirty="0" err="1">
                <a:solidFill>
                  <a:srgbClr val="56A8F5"/>
                </a:solidFill>
                <a:latin typeface="Consolas"/>
              </a:rPr>
              <a:t>StringJoiner</a:t>
            </a:r>
            <a:r>
              <a:rPr sz="1750" dirty="0">
                <a:solidFill>
                  <a:srgbClr val="BCBEC4"/>
                </a:solidFill>
                <a:latin typeface="Consolas"/>
              </a:rPr>
              <a:t>(</a:t>
            </a:r>
            <a:r>
              <a:rPr sz="1750" dirty="0">
                <a:solidFill>
                  <a:srgbClr val="6AAB73"/>
                </a:solidFill>
                <a:latin typeface="Consolas"/>
              </a:rPr>
              <a:t>", "</a:t>
            </a:r>
            <a:r>
              <a:rPr sz="1750" dirty="0">
                <a:solidFill>
                  <a:srgbClr val="BCBEC4"/>
                </a:solidFill>
                <a:latin typeface="Consolas"/>
              </a:rPr>
              <a:t>);</a:t>
            </a:r>
          </a:p>
          <a:p>
            <a:pPr>
              <a:lnSpc>
                <a:spcPct val="100000"/>
              </a:lnSpc>
              <a:spcBef>
                <a:spcPts val="0"/>
              </a:spcBef>
              <a:spcAft>
                <a:spcPts val="0"/>
              </a:spcAft>
            </a:pPr>
            <a:r>
              <a:rPr sz="1750" dirty="0">
                <a:solidFill>
                  <a:srgbClr val="CF8E6D"/>
                </a:solidFill>
                <a:latin typeface="Consolas"/>
              </a:rPr>
              <a:t>for</a:t>
            </a:r>
            <a:r>
              <a:rPr sz="1750" dirty="0">
                <a:solidFill>
                  <a:srgbClr val="BCBEC4"/>
                </a:solidFill>
                <a:latin typeface="Consolas"/>
              </a:rPr>
              <a:t> (Card carte : cartes) {</a:t>
            </a:r>
          </a:p>
          <a:p>
            <a:pPr>
              <a:lnSpc>
                <a:spcPct val="100000"/>
              </a:lnSpc>
              <a:spcBef>
                <a:spcPts val="0"/>
              </a:spcBef>
              <a:spcAft>
                <a:spcPts val="0"/>
              </a:spcAft>
            </a:pPr>
            <a:r>
              <a:rPr sz="1750" dirty="0">
                <a:solidFill>
                  <a:srgbClr val="BCBEC4"/>
                </a:solidFill>
                <a:latin typeface="Consolas"/>
              </a:rPr>
              <a:t>    </a:t>
            </a:r>
            <a:r>
              <a:rPr sz="1750" dirty="0" err="1">
                <a:solidFill>
                  <a:srgbClr val="BCBEC4"/>
                </a:solidFill>
                <a:latin typeface="Consolas"/>
              </a:rPr>
              <a:t>texte.</a:t>
            </a:r>
            <a:r>
              <a:rPr sz="1750" dirty="0" err="1">
                <a:solidFill>
                  <a:srgbClr val="56A8F5"/>
                </a:solidFill>
                <a:latin typeface="Consolas"/>
              </a:rPr>
              <a:t>add</a:t>
            </a:r>
            <a:r>
              <a:rPr sz="1750" dirty="0">
                <a:solidFill>
                  <a:srgbClr val="BCBEC4"/>
                </a:solidFill>
                <a:latin typeface="Consolas"/>
              </a:rPr>
              <a:t>(</a:t>
            </a:r>
            <a:r>
              <a:rPr sz="1750" dirty="0" err="1">
                <a:solidFill>
                  <a:srgbClr val="BCBEC4"/>
                </a:solidFill>
                <a:latin typeface="Consolas"/>
              </a:rPr>
              <a:t>carte.</a:t>
            </a:r>
            <a:r>
              <a:rPr sz="1750" dirty="0" err="1">
                <a:solidFill>
                  <a:srgbClr val="56A8F5"/>
                </a:solidFill>
                <a:latin typeface="Consolas"/>
              </a:rPr>
              <a:t>toString</a:t>
            </a:r>
            <a:r>
              <a:rPr sz="1750" dirty="0">
                <a:solidFill>
                  <a:srgbClr val="BCBEC4"/>
                </a:solidFill>
                <a:latin typeface="Consolas"/>
              </a:rPr>
              <a:t>());</a:t>
            </a:r>
          </a:p>
          <a:p>
            <a:pPr>
              <a:lnSpc>
                <a:spcPct val="100000"/>
              </a:lnSpc>
              <a:spcBef>
                <a:spcPts val="0"/>
              </a:spcBef>
              <a:spcAft>
                <a:spcPts val="0"/>
              </a:spcAft>
            </a:pPr>
            <a:r>
              <a:rPr sz="1750" dirty="0">
                <a:solidFill>
                  <a:srgbClr val="BCBEC4"/>
                </a:solidFill>
                <a:latin typeface="Consolas"/>
              </a:rPr>
              <a:t>}</a:t>
            </a:r>
          </a:p>
          <a:p>
            <a:pPr>
              <a:lnSpc>
                <a:spcPct val="100000"/>
              </a:lnSpc>
              <a:spcBef>
                <a:spcPts val="0"/>
              </a:spcBef>
              <a:spcAft>
                <a:spcPts val="0"/>
              </a:spcAft>
            </a:pPr>
            <a:r>
              <a:rPr sz="1750" dirty="0" err="1">
                <a:solidFill>
                  <a:srgbClr val="BCBEC4"/>
                </a:solidFill>
                <a:latin typeface="Consolas"/>
              </a:rPr>
              <a:t>System.out.</a:t>
            </a:r>
            <a:r>
              <a:rPr sz="1750" dirty="0" err="1">
                <a:solidFill>
                  <a:srgbClr val="56A8F5"/>
                </a:solidFill>
                <a:latin typeface="Consolas"/>
              </a:rPr>
              <a:t>println</a:t>
            </a:r>
            <a:r>
              <a:rPr sz="1750" dirty="0">
                <a:solidFill>
                  <a:srgbClr val="BCBEC4"/>
                </a:solidFill>
                <a:latin typeface="Consolas"/>
              </a:rPr>
              <a:t>(</a:t>
            </a:r>
            <a:r>
              <a:rPr sz="1750" dirty="0" err="1">
                <a:solidFill>
                  <a:srgbClr val="BCBEC4"/>
                </a:solidFill>
                <a:latin typeface="Consolas"/>
              </a:rPr>
              <a:t>texte</a:t>
            </a:r>
            <a:r>
              <a:rPr sz="1750" dirty="0">
                <a:solidFill>
                  <a:srgbClr val="BCBEC4"/>
                </a:solidFill>
                <a:latin typeface="Consolas"/>
              </a:rPr>
              <a:t>);</a:t>
            </a: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30</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6. Random et StringJoiner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ENU.3</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Un jeu de cartes</a:t>
            </a:r>
          </a:p>
          <a:p>
            <a:r>
              <a:rPr sz="1400">
                <a:solidFill>
                  <a:srgbClr val="BCBEC4"/>
                </a:solidFill>
              </a:rPr>
              <a:t>fascicule ENU</a:t>
            </a:r>
          </a:p>
        </p:txBody>
      </p:sp>
      <p:sp>
        <p:nvSpPr>
          <p:cNvPr id="6" name="TextBox 5"/>
          <p:cNvSpPr txBox="1"/>
          <p:nvPr/>
        </p:nvSpPr>
        <p:spPr>
          <a:xfrm>
            <a:off x="640080" y="2651760"/>
            <a:ext cx="9326880" cy="822960"/>
          </a:xfrm>
          <a:prstGeom prst="rect">
            <a:avLst/>
          </a:prstGeom>
          <a:noFill/>
        </p:spPr>
        <p:txBody>
          <a:bodyPr wrap="square">
            <a:spAutoFit/>
          </a:bodyPr>
          <a:lstStyle/>
          <a:p>
            <a:r>
              <a:rPr sz="2400"/>
              <a:t>Documenter : CC-COM.3</a:t>
            </a:r>
          </a:p>
        </p:txBody>
      </p:sp>
      <p:pic>
        <p:nvPicPr>
          <p:cNvPr id="7" name="Picture 6" descr="image.png"/>
          <p:cNvPicPr>
            <a:picLocks noChangeAspect="1"/>
          </p:cNvPicPr>
          <p:nvPr/>
        </p:nvPicPr>
        <p:blipFill>
          <a:blip r:embed="rId3"/>
          <a:stretch>
            <a:fillRect/>
          </a:stretch>
        </p:blipFill>
        <p:spPr>
          <a:xfrm>
            <a:off x="10332720" y="475488"/>
            <a:ext cx="1280160" cy="1280160"/>
          </a:xfrm>
          <a:prstGeom prst="rect">
            <a:avLst/>
          </a:prstGeom>
        </p:spPr>
      </p:pic>
      <p:sp>
        <p:nvSpPr>
          <p:cNvPr id="9"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31</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6. Random et StringJoiner</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2" descr="ENU_section7.jpg"/>
          <p:cNvPicPr>
            <a:picLocks noChangeAspect="1"/>
          </p:cNvPicPr>
          <p:nvPr/>
        </p:nvPicPr>
        <p:blipFill>
          <a:blip r:embed="rId4"/>
          <a:stretch>
            <a:fillRect/>
          </a:stretch>
        </p:blipFill>
        <p:spPr>
          <a:xfrm>
            <a:off x="-159026" y="-92765"/>
            <a:ext cx="12589566" cy="707666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4992495" cy="1105200"/>
          </a:xfrm>
          <a:prstGeom prst="rect">
            <a:avLst/>
          </a:prstGeom>
          <a:solidFill>
            <a:schemeClr val="bg2">
              <a:lumMod val="75000"/>
              <a:alpha val="74510"/>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7. Les records</a:t>
            </a:r>
            <a:endParaRPr lang="fr-FR"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32</a:t>
            </a:fld>
            <a:endParaRPr lang="fr-F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donnée, et rien d'autre</a:t>
            </a:r>
          </a:p>
        </p:txBody>
      </p:sp>
      <p:sp>
        <p:nvSpPr>
          <p:cNvPr id="3" name="Content Placeholder 2"/>
          <p:cNvSpPr>
            <a:spLocks noGrp="1"/>
          </p:cNvSpPr>
          <p:nvPr>
            <p:ph idx="1"/>
          </p:nvPr>
        </p:nvSpPr>
        <p:spPr>
          <a:xfrm>
            <a:off x="640080" y="1371600"/>
            <a:ext cx="10881360" cy="2651760"/>
          </a:xfrm>
        </p:spPr>
        <p:txBody>
          <a:bodyPr/>
          <a:lstStyle/>
          <a:p>
            <a:pPr marL="0" indent="0">
              <a:spcAft>
                <a:spcPts val="1000"/>
              </a:spcAft>
              <a:buNone/>
            </a:pPr>
            <a:r>
              <a:rPr sz="2800" dirty="0"/>
              <a:t>Le mot-</a:t>
            </a:r>
            <a:r>
              <a:rPr sz="2800" dirty="0" err="1"/>
              <a:t>clé</a:t>
            </a:r>
            <a:r>
              <a:rPr sz="2800" dirty="0"/>
              <a:t> </a:t>
            </a:r>
            <a:r>
              <a:rPr sz="2400" dirty="0">
                <a:solidFill>
                  <a:schemeClr val="accent4"/>
                </a:solidFill>
                <a:latin typeface="Consolas"/>
              </a:rPr>
              <a:t>record</a:t>
            </a:r>
            <a:r>
              <a:rPr sz="2800" dirty="0"/>
              <a:t> </a:t>
            </a:r>
            <a:r>
              <a:rPr sz="2800" dirty="0" err="1"/>
              <a:t>déclare</a:t>
            </a:r>
            <a:r>
              <a:rPr sz="2800" dirty="0"/>
              <a:t> </a:t>
            </a:r>
            <a:r>
              <a:rPr sz="2800" dirty="0" err="1"/>
              <a:t>une</a:t>
            </a:r>
            <a:r>
              <a:rPr sz="2800" dirty="0"/>
              <a:t> </a:t>
            </a:r>
            <a:r>
              <a:rPr sz="2800" dirty="0" err="1"/>
              <a:t>classe</a:t>
            </a:r>
            <a:r>
              <a:rPr sz="2800" dirty="0"/>
              <a:t> </a:t>
            </a:r>
            <a:r>
              <a:rPr sz="2800" dirty="0" err="1"/>
              <a:t>faite</a:t>
            </a:r>
            <a:r>
              <a:rPr sz="2800" dirty="0"/>
              <a:t> pour porter des données</a:t>
            </a:r>
          </a:p>
          <a:p>
            <a:pPr marL="0" indent="0">
              <a:spcAft>
                <a:spcPts val="1000"/>
              </a:spcAft>
              <a:buNone/>
            </a:pPr>
            <a:r>
              <a:rPr sz="2800" dirty="0"/>
              <a:t>Les </a:t>
            </a:r>
            <a:r>
              <a:rPr sz="2800" dirty="0" err="1"/>
              <a:t>composants</a:t>
            </a:r>
            <a:r>
              <a:rPr sz="2800" dirty="0"/>
              <a:t> se </a:t>
            </a:r>
            <a:r>
              <a:rPr sz="2800" dirty="0" err="1"/>
              <a:t>déclarent</a:t>
            </a:r>
            <a:r>
              <a:rPr sz="2800" dirty="0"/>
              <a:t> entre </a:t>
            </a:r>
            <a:r>
              <a:rPr sz="2800" dirty="0" err="1"/>
              <a:t>parenthèses</a:t>
            </a:r>
            <a:r>
              <a:rPr sz="2800" dirty="0"/>
              <a:t>, </a:t>
            </a:r>
            <a:r>
              <a:rPr sz="2800" dirty="0" err="1"/>
              <a:t>comme</a:t>
            </a:r>
            <a:r>
              <a:rPr sz="2800" dirty="0"/>
              <a:t> des </a:t>
            </a:r>
            <a:r>
              <a:rPr sz="2800" dirty="0" err="1"/>
              <a:t>paramètres</a:t>
            </a:r>
            <a:endParaRPr sz="2800" dirty="0"/>
          </a:p>
          <a:p>
            <a:pPr marL="0" indent="0">
              <a:spcAft>
                <a:spcPts val="1000"/>
              </a:spcAft>
              <a:buNone/>
            </a:pPr>
            <a:r>
              <a:rPr sz="2800" dirty="0"/>
              <a:t>Le corps </a:t>
            </a:r>
            <a:r>
              <a:rPr lang="nl-BE" sz="2800" dirty="0"/>
              <a:t>du record </a:t>
            </a:r>
            <a:r>
              <a:rPr sz="2800" dirty="0" err="1"/>
              <a:t>reste</a:t>
            </a:r>
            <a:r>
              <a:rPr sz="2800" dirty="0"/>
              <a:t> </a:t>
            </a:r>
            <a:r>
              <a:rPr sz="2800" dirty="0" err="1"/>
              <a:t>souvent</a:t>
            </a:r>
            <a:r>
              <a:rPr sz="2800" dirty="0"/>
              <a:t> vide</a:t>
            </a:r>
          </a:p>
        </p:txBody>
      </p:sp>
      <p:sp>
        <p:nvSpPr>
          <p:cNvPr id="4" name="Code"/>
          <p:cNvSpPr txBox="1"/>
          <p:nvPr/>
        </p:nvSpPr>
        <p:spPr>
          <a:xfrm>
            <a:off x="3219450" y="4160520"/>
            <a:ext cx="5753100" cy="1371600"/>
          </a:xfrm>
          <a:prstGeom prst="roundRect">
            <a:avLst>
              <a:gd name="adj" fmla="val 66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dirty="0">
                <a:solidFill>
                  <a:srgbClr val="CF8E6D"/>
                </a:solidFill>
                <a:latin typeface="Consolas"/>
              </a:rPr>
              <a:t>public</a:t>
            </a:r>
            <a:r>
              <a:rPr sz="1800" dirty="0">
                <a:solidFill>
                  <a:srgbClr val="BCBEC4"/>
                </a:solidFill>
                <a:latin typeface="Consolas"/>
              </a:rPr>
              <a:t> </a:t>
            </a:r>
            <a:r>
              <a:rPr sz="1800" dirty="0">
                <a:solidFill>
                  <a:srgbClr val="CF8E6D"/>
                </a:solidFill>
                <a:latin typeface="Consolas"/>
              </a:rPr>
              <a:t>record</a:t>
            </a:r>
            <a:r>
              <a:rPr sz="1800" dirty="0">
                <a:solidFill>
                  <a:srgbClr val="BCBEC4"/>
                </a:solidFill>
                <a:latin typeface="Consolas"/>
              </a:rPr>
              <a:t> </a:t>
            </a:r>
            <a:r>
              <a:rPr sz="1800" dirty="0">
                <a:solidFill>
                  <a:srgbClr val="56A8F5"/>
                </a:solidFill>
                <a:latin typeface="Consolas"/>
              </a:rPr>
              <a:t>Point</a:t>
            </a:r>
            <a:r>
              <a:rPr sz="1800" dirty="0">
                <a:solidFill>
                  <a:srgbClr val="BCBEC4"/>
                </a:solidFill>
                <a:latin typeface="Consolas"/>
              </a:rPr>
              <a:t>(</a:t>
            </a:r>
            <a:r>
              <a:rPr sz="1800" dirty="0">
                <a:solidFill>
                  <a:srgbClr val="CF8E6D"/>
                </a:solidFill>
                <a:latin typeface="Consolas"/>
              </a:rPr>
              <a:t>int</a:t>
            </a:r>
            <a:r>
              <a:rPr sz="1800" dirty="0">
                <a:solidFill>
                  <a:srgbClr val="BCBEC4"/>
                </a:solidFill>
                <a:latin typeface="Consolas"/>
              </a:rPr>
              <a:t> x, </a:t>
            </a:r>
            <a:r>
              <a:rPr sz="1800" dirty="0">
                <a:solidFill>
                  <a:srgbClr val="CF8E6D"/>
                </a:solidFill>
                <a:latin typeface="Consolas"/>
              </a:rPr>
              <a:t>int</a:t>
            </a:r>
            <a:r>
              <a:rPr sz="1800" dirty="0">
                <a:solidFill>
                  <a:srgbClr val="BCBEC4"/>
                </a:solidFill>
                <a:latin typeface="Consolas"/>
              </a:rPr>
              <a:t> y) { }</a:t>
            </a:r>
          </a:p>
          <a:p>
            <a:pPr>
              <a:lnSpc>
                <a:spcPct val="100000"/>
              </a:lnSpc>
              <a:spcBef>
                <a:spcPts val="0"/>
              </a:spcBef>
              <a:spcAft>
                <a:spcPts val="0"/>
              </a:spcAft>
            </a:pPr>
            <a:r>
              <a:rPr sz="1800" dirty="0">
                <a:solidFill>
                  <a:srgbClr val="BCBEC4"/>
                </a:solidFill>
                <a:latin typeface="Consolas"/>
              </a:rPr>
              <a:t> </a:t>
            </a:r>
          </a:p>
          <a:p>
            <a:pPr>
              <a:lnSpc>
                <a:spcPct val="100000"/>
              </a:lnSpc>
              <a:spcBef>
                <a:spcPts val="0"/>
              </a:spcBef>
              <a:spcAft>
                <a:spcPts val="0"/>
              </a:spcAft>
            </a:pPr>
            <a:r>
              <a:rPr sz="1800" dirty="0">
                <a:solidFill>
                  <a:srgbClr val="BCBEC4"/>
                </a:solidFill>
                <a:latin typeface="Consolas"/>
              </a:rPr>
              <a:t>Point origine = </a:t>
            </a:r>
            <a:r>
              <a:rPr sz="1800" dirty="0">
                <a:solidFill>
                  <a:srgbClr val="CF8E6D"/>
                </a:solidFill>
                <a:latin typeface="Consolas"/>
              </a:rPr>
              <a:t>new</a:t>
            </a:r>
            <a:r>
              <a:rPr sz="1800" dirty="0">
                <a:solidFill>
                  <a:srgbClr val="BCBEC4"/>
                </a:solidFill>
                <a:latin typeface="Consolas"/>
              </a:rPr>
              <a:t> </a:t>
            </a:r>
            <a:r>
              <a:rPr sz="1800" dirty="0">
                <a:solidFill>
                  <a:srgbClr val="56A8F5"/>
                </a:solidFill>
                <a:latin typeface="Consolas"/>
              </a:rPr>
              <a:t>Point</a:t>
            </a:r>
            <a:r>
              <a:rPr sz="1800" dirty="0">
                <a:solidFill>
                  <a:srgbClr val="BCBEC4"/>
                </a:solidFill>
                <a:latin typeface="Consolas"/>
              </a:rPr>
              <a:t>(</a:t>
            </a:r>
            <a:r>
              <a:rPr sz="1800" dirty="0">
                <a:solidFill>
                  <a:srgbClr val="2AACB8"/>
                </a:solidFill>
                <a:latin typeface="Consolas"/>
              </a:rPr>
              <a:t>0</a:t>
            </a:r>
            <a:r>
              <a:rPr sz="1800" dirty="0">
                <a:solidFill>
                  <a:srgbClr val="BCBEC4"/>
                </a:solidFill>
                <a:latin typeface="Consolas"/>
              </a:rPr>
              <a:t>, </a:t>
            </a:r>
            <a:r>
              <a:rPr sz="1800" dirty="0">
                <a:solidFill>
                  <a:srgbClr val="2AACB8"/>
                </a:solidFill>
                <a:latin typeface="Consolas"/>
              </a:rPr>
              <a:t>0</a:t>
            </a:r>
            <a:r>
              <a:rPr sz="1800" dirty="0">
                <a:solidFill>
                  <a:srgbClr val="BCBEC4"/>
                </a:solidFill>
                <a:latin typeface="Consolas"/>
              </a:rPr>
              <a:t>);</a:t>
            </a:r>
          </a:p>
          <a:p>
            <a:pPr>
              <a:lnSpc>
                <a:spcPct val="100000"/>
              </a:lnSpc>
              <a:spcBef>
                <a:spcPts val="0"/>
              </a:spcBef>
              <a:spcAft>
                <a:spcPts val="0"/>
              </a:spcAft>
            </a:pPr>
            <a:r>
              <a:rPr sz="1800" dirty="0" err="1">
                <a:solidFill>
                  <a:srgbClr val="BCBEC4"/>
                </a:solidFill>
                <a:latin typeface="Consolas"/>
              </a:rPr>
              <a:t>System.out.</a:t>
            </a:r>
            <a:r>
              <a:rPr sz="1800" dirty="0" err="1">
                <a:solidFill>
                  <a:srgbClr val="56A8F5"/>
                </a:solidFill>
                <a:latin typeface="Consolas"/>
              </a:rPr>
              <a:t>println</a:t>
            </a:r>
            <a:r>
              <a:rPr sz="1800" dirty="0">
                <a:solidFill>
                  <a:srgbClr val="BCBEC4"/>
                </a:solidFill>
                <a:latin typeface="Consolas"/>
              </a:rPr>
              <a:t>(</a:t>
            </a:r>
            <a:r>
              <a:rPr sz="1800" dirty="0" err="1">
                <a:solidFill>
                  <a:srgbClr val="BCBEC4"/>
                </a:solidFill>
                <a:latin typeface="Consolas"/>
              </a:rPr>
              <a:t>origine.</a:t>
            </a:r>
            <a:r>
              <a:rPr sz="1800" dirty="0" err="1">
                <a:solidFill>
                  <a:srgbClr val="56A8F5"/>
                </a:solidFill>
                <a:latin typeface="Consolas"/>
              </a:rPr>
              <a:t>x</a:t>
            </a:r>
            <a:r>
              <a:rPr sz="1800" dirty="0">
                <a:solidFill>
                  <a:srgbClr val="BCBEC4"/>
                </a:solidFill>
                <a:latin typeface="Consolas"/>
              </a:rPr>
              <a:t>());   </a:t>
            </a:r>
            <a:r>
              <a:rPr sz="1800" dirty="0">
                <a:solidFill>
                  <a:srgbClr val="7A7E85"/>
                </a:solidFill>
                <a:latin typeface="Consolas"/>
              </a:rPr>
              <a:t>// 0</a:t>
            </a: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33</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7. Les records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Ce que le compilateur écrit</a:t>
            </a:r>
          </a:p>
        </p:txBody>
      </p:sp>
      <p:sp>
        <p:nvSpPr>
          <p:cNvPr id="3" name="Content Placeholder 2"/>
          <p:cNvSpPr>
            <a:spLocks noGrp="1"/>
          </p:cNvSpPr>
          <p:nvPr>
            <p:ph idx="1"/>
          </p:nvPr>
        </p:nvSpPr>
        <p:spPr>
          <a:xfrm>
            <a:off x="640080" y="1371600"/>
            <a:ext cx="10881360" cy="2225040"/>
          </a:xfrm>
        </p:spPr>
        <p:txBody>
          <a:bodyPr/>
          <a:lstStyle/>
          <a:p>
            <a:pPr marL="0" indent="0">
              <a:spcAft>
                <a:spcPts val="1000"/>
              </a:spcAft>
              <a:buNone/>
            </a:pPr>
            <a:r>
              <a:rPr sz="2800" dirty="0"/>
              <a:t>Le </a:t>
            </a:r>
            <a:r>
              <a:rPr sz="2800" dirty="0" err="1"/>
              <a:t>constructeur</a:t>
            </a:r>
            <a:r>
              <a:rPr sz="2800" dirty="0"/>
              <a:t>, avec les </a:t>
            </a:r>
            <a:r>
              <a:rPr sz="2800" dirty="0" err="1"/>
              <a:t>composants</a:t>
            </a:r>
            <a:r>
              <a:rPr sz="2800" dirty="0"/>
              <a:t> dans </a:t>
            </a:r>
            <a:r>
              <a:rPr sz="2800" dirty="0" err="1"/>
              <a:t>l'ordre</a:t>
            </a:r>
            <a:r>
              <a:rPr sz="2800" dirty="0"/>
              <a:t> </a:t>
            </a:r>
            <a:r>
              <a:rPr sz="2800" dirty="0" err="1"/>
              <a:t>déclaré</a:t>
            </a:r>
            <a:endParaRPr sz="2800" dirty="0"/>
          </a:p>
          <a:p>
            <a:pPr marL="0" indent="0">
              <a:spcAft>
                <a:spcPts val="1000"/>
              </a:spcAft>
              <a:buNone/>
            </a:pPr>
            <a:r>
              <a:rPr sz="2800" dirty="0"/>
              <a:t>Un </a:t>
            </a:r>
            <a:r>
              <a:rPr sz="2800" dirty="0" err="1"/>
              <a:t>accesseur</a:t>
            </a:r>
            <a:r>
              <a:rPr sz="2800" dirty="0"/>
              <a:t> par </a:t>
            </a:r>
            <a:r>
              <a:rPr sz="2800" dirty="0" err="1"/>
              <a:t>composant</a:t>
            </a:r>
            <a:r>
              <a:rPr sz="2800" dirty="0"/>
              <a:t>, </a:t>
            </a:r>
            <a:r>
              <a:rPr sz="2800" dirty="0" err="1"/>
              <a:t>nommé</a:t>
            </a:r>
            <a:r>
              <a:rPr sz="2800" dirty="0"/>
              <a:t> </a:t>
            </a:r>
            <a:r>
              <a:rPr sz="2400" dirty="0">
                <a:solidFill>
                  <a:schemeClr val="accent4"/>
                </a:solidFill>
                <a:latin typeface="Consolas"/>
              </a:rPr>
              <a:t>x()</a:t>
            </a:r>
            <a:r>
              <a:rPr sz="2800" dirty="0"/>
              <a:t> et non </a:t>
            </a:r>
            <a:r>
              <a:rPr sz="2400" dirty="0" err="1">
                <a:solidFill>
                  <a:schemeClr val="accent4"/>
                </a:solidFill>
                <a:latin typeface="Consolas"/>
              </a:rPr>
              <a:t>getX</a:t>
            </a:r>
            <a:r>
              <a:rPr sz="2400" dirty="0">
                <a:solidFill>
                  <a:schemeClr val="accent4"/>
                </a:solidFill>
                <a:latin typeface="Consolas"/>
              </a:rPr>
              <a:t>()</a:t>
            </a:r>
          </a:p>
          <a:p>
            <a:pPr marL="0" indent="0">
              <a:spcAft>
                <a:spcPts val="1000"/>
              </a:spcAft>
              <a:buNone/>
            </a:pPr>
            <a:r>
              <a:rPr sz="2800" dirty="0"/>
              <a:t>Les </a:t>
            </a:r>
            <a:r>
              <a:rPr sz="2800" dirty="0" err="1"/>
              <a:t>méthodes</a:t>
            </a:r>
            <a:r>
              <a:rPr sz="2800" dirty="0"/>
              <a:t> </a:t>
            </a:r>
            <a:r>
              <a:rPr sz="2400" dirty="0" err="1">
                <a:solidFill>
                  <a:schemeClr val="accent4"/>
                </a:solidFill>
                <a:latin typeface="Consolas"/>
              </a:rPr>
              <a:t>toString</a:t>
            </a:r>
            <a:r>
              <a:rPr sz="2800" dirty="0"/>
              <a:t>, </a:t>
            </a:r>
            <a:r>
              <a:rPr sz="2400" dirty="0">
                <a:solidFill>
                  <a:schemeClr val="accent4"/>
                </a:solidFill>
                <a:latin typeface="Consolas"/>
              </a:rPr>
              <a:t>equals</a:t>
            </a:r>
            <a:r>
              <a:rPr sz="2800" dirty="0"/>
              <a:t> et </a:t>
            </a:r>
            <a:r>
              <a:rPr sz="2400" dirty="0" err="1">
                <a:solidFill>
                  <a:schemeClr val="accent4"/>
                </a:solidFill>
                <a:latin typeface="Consolas"/>
              </a:rPr>
              <a:t>hashCode</a:t>
            </a:r>
            <a:endParaRPr sz="2400" dirty="0">
              <a:solidFill>
                <a:schemeClr val="accent4"/>
              </a:solidFill>
              <a:latin typeface="Consolas"/>
            </a:endParaRPr>
          </a:p>
        </p:txBody>
      </p:sp>
      <p:sp>
        <p:nvSpPr>
          <p:cNvPr id="4" name="Code"/>
          <p:cNvSpPr txBox="1"/>
          <p:nvPr/>
        </p:nvSpPr>
        <p:spPr>
          <a:xfrm>
            <a:off x="3429000" y="3733799"/>
            <a:ext cx="5334000" cy="1645920"/>
          </a:xfrm>
          <a:prstGeom prst="roundRect">
            <a:avLst>
              <a:gd name="adj" fmla="val 5555"/>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Point a =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Point</a:t>
            </a:r>
            <a:r>
              <a:rPr sz="1800">
                <a:solidFill>
                  <a:srgbClr val="BCBEC4"/>
                </a:solidFill>
                <a:latin typeface="Consolas"/>
              </a:rPr>
              <a:t>(</a:t>
            </a:r>
            <a:r>
              <a:rPr sz="1800">
                <a:solidFill>
                  <a:srgbClr val="2AACB8"/>
                </a:solidFill>
                <a:latin typeface="Consolas"/>
              </a:rPr>
              <a:t>1</a:t>
            </a:r>
            <a:r>
              <a:rPr sz="1800">
                <a:solidFill>
                  <a:srgbClr val="BCBEC4"/>
                </a:solidFill>
                <a:latin typeface="Consolas"/>
              </a:rPr>
              <a:t>, </a:t>
            </a:r>
            <a:r>
              <a:rPr sz="1800">
                <a:solidFill>
                  <a:srgbClr val="2AACB8"/>
                </a:solidFill>
                <a:latin typeface="Consolas"/>
              </a:rPr>
              <a:t>2</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Point b =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Point</a:t>
            </a:r>
            <a:r>
              <a:rPr sz="1800">
                <a:solidFill>
                  <a:srgbClr val="BCBEC4"/>
                </a:solidFill>
                <a:latin typeface="Consolas"/>
              </a:rPr>
              <a:t>(</a:t>
            </a:r>
            <a:r>
              <a:rPr sz="1800">
                <a:solidFill>
                  <a:srgbClr val="2AACB8"/>
                </a:solidFill>
                <a:latin typeface="Consolas"/>
              </a:rPr>
              <a:t>1</a:t>
            </a:r>
            <a:r>
              <a:rPr sz="1800">
                <a:solidFill>
                  <a:srgbClr val="BCBEC4"/>
                </a:solidFill>
                <a:latin typeface="Consolas"/>
              </a:rPr>
              <a:t>, </a:t>
            </a:r>
            <a:r>
              <a:rPr sz="1800">
                <a:solidFill>
                  <a:srgbClr val="2AACB8"/>
                </a:solidFill>
                <a:latin typeface="Consolas"/>
              </a:rPr>
              <a:t>2</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a.</a:t>
            </a:r>
            <a:r>
              <a:rPr sz="1800">
                <a:solidFill>
                  <a:srgbClr val="56A8F5"/>
                </a:solidFill>
                <a:latin typeface="Consolas"/>
              </a:rPr>
              <a:t>toString</a:t>
            </a:r>
            <a:r>
              <a:rPr sz="1800">
                <a:solidFill>
                  <a:srgbClr val="BCBEC4"/>
                </a:solidFill>
                <a:latin typeface="Consolas"/>
              </a:rPr>
              <a:t>();   </a:t>
            </a:r>
            <a:r>
              <a:rPr sz="1800">
                <a:solidFill>
                  <a:srgbClr val="7A7E85"/>
                </a:solidFill>
                <a:latin typeface="Consolas"/>
              </a:rPr>
              <a:t>// "Point[x=1, y=2]"</a:t>
            </a:r>
          </a:p>
          <a:p>
            <a:pPr>
              <a:lnSpc>
                <a:spcPct val="100000"/>
              </a:lnSpc>
              <a:spcBef>
                <a:spcPts val="0"/>
              </a:spcBef>
              <a:spcAft>
                <a:spcPts val="0"/>
              </a:spcAft>
            </a:pPr>
            <a:r>
              <a:rPr sz="1800">
                <a:solidFill>
                  <a:srgbClr val="BCBEC4"/>
                </a:solidFill>
                <a:latin typeface="Consolas"/>
              </a:rPr>
              <a:t>a.</a:t>
            </a:r>
            <a:r>
              <a:rPr sz="1800">
                <a:solidFill>
                  <a:srgbClr val="56A8F5"/>
                </a:solidFill>
                <a:latin typeface="Consolas"/>
              </a:rPr>
              <a:t>equals</a:t>
            </a:r>
            <a:r>
              <a:rPr sz="1800">
                <a:solidFill>
                  <a:srgbClr val="BCBEC4"/>
                </a:solidFill>
                <a:latin typeface="Consolas"/>
              </a:rPr>
              <a:t>(b);    </a:t>
            </a:r>
            <a:r>
              <a:rPr sz="1800">
                <a:solidFill>
                  <a:srgbClr val="7A7E85"/>
                </a:solidFill>
                <a:latin typeface="Consolas"/>
              </a:rPr>
              <a:t>// true</a:t>
            </a: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34</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7. Les records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dirty="0"/>
              <a:t>Un </a:t>
            </a:r>
            <a:r>
              <a:rPr sz="3600" dirty="0">
                <a:solidFill>
                  <a:srgbClr val="FFC000"/>
                </a:solidFill>
                <a:latin typeface="Consolas" panose="020B0609020204030204" pitchFamily="49" charset="0"/>
                <a:cs typeface="Consolas" panose="020B0609020204030204" pitchFamily="49" charset="0"/>
              </a:rPr>
              <a:t>record</a:t>
            </a:r>
            <a:r>
              <a:rPr sz="4000" dirty="0"/>
              <a:t> ne change pas</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dirty="0"/>
              <a:t>Un record est </a:t>
            </a:r>
            <a:r>
              <a:rPr sz="2400" dirty="0">
                <a:solidFill>
                  <a:schemeClr val="accent4"/>
                </a:solidFill>
                <a:latin typeface="Consolas"/>
              </a:rPr>
              <a:t>final</a:t>
            </a:r>
            <a:r>
              <a:rPr sz="2800" dirty="0"/>
              <a:t> : </a:t>
            </a:r>
            <a:r>
              <a:rPr sz="2800" dirty="0" err="1"/>
              <a:t>aucune</a:t>
            </a:r>
            <a:r>
              <a:rPr sz="2800" dirty="0"/>
              <a:t> </a:t>
            </a:r>
            <a:r>
              <a:rPr sz="2800" dirty="0" err="1"/>
              <a:t>classe</a:t>
            </a:r>
            <a:r>
              <a:rPr sz="2800" dirty="0"/>
              <a:t> </a:t>
            </a:r>
            <a:r>
              <a:rPr sz="2800" dirty="0" err="1"/>
              <a:t>n'en</a:t>
            </a:r>
            <a:r>
              <a:rPr sz="2800" dirty="0"/>
              <a:t> </a:t>
            </a:r>
            <a:r>
              <a:rPr sz="2800" dirty="0" err="1"/>
              <a:t>hérite</a:t>
            </a:r>
            <a:endParaRPr sz="2800" dirty="0"/>
          </a:p>
          <a:p>
            <a:pPr marL="0" indent="0">
              <a:spcAft>
                <a:spcPts val="1000"/>
              </a:spcAft>
              <a:buNone/>
            </a:pPr>
            <a:r>
              <a:rPr sz="2800" dirty="0"/>
              <a:t>Ses </a:t>
            </a:r>
            <a:r>
              <a:rPr sz="2800" dirty="0" err="1"/>
              <a:t>composants</a:t>
            </a:r>
            <a:r>
              <a:rPr sz="2800" dirty="0"/>
              <a:t> </a:t>
            </a:r>
            <a:r>
              <a:rPr sz="2800" dirty="0" err="1"/>
              <a:t>sont</a:t>
            </a:r>
            <a:r>
              <a:rPr sz="2800" dirty="0"/>
              <a:t> </a:t>
            </a:r>
            <a:r>
              <a:rPr sz="2400" dirty="0">
                <a:solidFill>
                  <a:schemeClr val="accent4"/>
                </a:solidFill>
                <a:latin typeface="Consolas"/>
              </a:rPr>
              <a:t>final</a:t>
            </a:r>
            <a:r>
              <a:rPr sz="2800" dirty="0"/>
              <a:t> : il </a:t>
            </a:r>
            <a:r>
              <a:rPr sz="2800" dirty="0" err="1"/>
              <a:t>n'existe</a:t>
            </a:r>
            <a:r>
              <a:rPr sz="2800" dirty="0"/>
              <a:t> </a:t>
            </a:r>
            <a:r>
              <a:rPr sz="2800" dirty="0" err="1"/>
              <a:t>aucun</a:t>
            </a:r>
            <a:r>
              <a:rPr sz="2800" dirty="0"/>
              <a:t> setter</a:t>
            </a:r>
          </a:p>
          <a:p>
            <a:pPr marL="0" indent="0">
              <a:spcAft>
                <a:spcPts val="1000"/>
              </a:spcAft>
              <a:buNone/>
            </a:pPr>
            <a:r>
              <a:rPr sz="2800" dirty="0"/>
              <a:t>Un record </a:t>
            </a:r>
            <a:r>
              <a:rPr sz="2800" dirty="0" err="1"/>
              <a:t>construit</a:t>
            </a:r>
            <a:r>
              <a:rPr sz="2800" dirty="0"/>
              <a:t> </a:t>
            </a:r>
            <a:r>
              <a:rPr sz="2800" dirty="0" err="1"/>
              <a:t>reste</a:t>
            </a:r>
            <a:r>
              <a:rPr sz="2800" dirty="0"/>
              <a:t> </a:t>
            </a:r>
            <a:r>
              <a:rPr sz="2800" dirty="0" err="1"/>
              <a:t>tel</a:t>
            </a:r>
            <a:r>
              <a:rPr sz="2800" dirty="0"/>
              <a:t> </a:t>
            </a:r>
            <a:r>
              <a:rPr sz="2800" dirty="0" err="1"/>
              <a:t>quel</a:t>
            </a:r>
            <a:r>
              <a:rPr sz="2800" dirty="0"/>
              <a:t> </a:t>
            </a:r>
            <a:r>
              <a:rPr sz="2800" dirty="0" err="1"/>
              <a:t>jusqu'à</a:t>
            </a:r>
            <a:r>
              <a:rPr sz="2800" dirty="0"/>
              <a:t> </a:t>
            </a:r>
            <a:r>
              <a:rPr sz="2800" dirty="0" err="1"/>
              <a:t>sa</a:t>
            </a:r>
            <a:r>
              <a:rPr sz="2800" dirty="0"/>
              <a:t> </a:t>
            </a:r>
            <a:r>
              <a:rPr sz="2800" dirty="0" err="1"/>
              <a:t>disparition</a:t>
            </a:r>
            <a:endParaRPr sz="2800" dirty="0"/>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35</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7. Les records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Ajouter une méthode</a:t>
            </a:r>
          </a:p>
        </p:txBody>
      </p:sp>
      <p:sp>
        <p:nvSpPr>
          <p:cNvPr id="3" name="Content Placeholder 2"/>
          <p:cNvSpPr>
            <a:spLocks noGrp="1"/>
          </p:cNvSpPr>
          <p:nvPr>
            <p:ph idx="1"/>
          </p:nvPr>
        </p:nvSpPr>
        <p:spPr>
          <a:xfrm>
            <a:off x="640080" y="1371600"/>
            <a:ext cx="10881360" cy="1798320"/>
          </a:xfrm>
        </p:spPr>
        <p:txBody>
          <a:bodyPr>
            <a:normAutofit lnSpcReduction="10000"/>
          </a:bodyPr>
          <a:lstStyle/>
          <a:p>
            <a:pPr marL="0" indent="0">
              <a:spcAft>
                <a:spcPts val="1000"/>
              </a:spcAft>
              <a:buNone/>
            </a:pPr>
            <a:r>
              <a:rPr sz="2800" dirty="0"/>
              <a:t>Un </a:t>
            </a:r>
            <a:r>
              <a:rPr sz="2400" dirty="0">
                <a:solidFill>
                  <a:srgbClr val="FFC000"/>
                </a:solidFill>
                <a:latin typeface="Consolas" panose="020B0609020204030204" pitchFamily="49" charset="0"/>
                <a:cs typeface="Consolas" panose="020B0609020204030204" pitchFamily="49" charset="0"/>
              </a:rPr>
              <a:t>record</a:t>
            </a:r>
            <a:r>
              <a:rPr sz="2800" dirty="0"/>
              <a:t> </a:t>
            </a:r>
            <a:r>
              <a:rPr sz="2800" dirty="0" err="1"/>
              <a:t>accepte</a:t>
            </a:r>
            <a:r>
              <a:rPr sz="2800" dirty="0"/>
              <a:t> des </a:t>
            </a:r>
            <a:r>
              <a:rPr sz="2800" dirty="0" err="1"/>
              <a:t>méthodes</a:t>
            </a:r>
            <a:r>
              <a:rPr sz="2800" dirty="0"/>
              <a:t>, </a:t>
            </a:r>
            <a:r>
              <a:rPr sz="2800" dirty="0" err="1"/>
              <a:t>comme</a:t>
            </a:r>
            <a:r>
              <a:rPr sz="2800" dirty="0"/>
              <a:t> toute </a:t>
            </a:r>
            <a:r>
              <a:rPr sz="2800" dirty="0" err="1"/>
              <a:t>classe</a:t>
            </a:r>
            <a:endParaRPr sz="2800" dirty="0"/>
          </a:p>
          <a:p>
            <a:pPr marL="0" indent="0">
              <a:spcAft>
                <a:spcPts val="1000"/>
              </a:spcAft>
              <a:buNone/>
            </a:pPr>
            <a:r>
              <a:rPr sz="2800" dirty="0"/>
              <a:t>Une </a:t>
            </a:r>
            <a:r>
              <a:rPr sz="2800" dirty="0" err="1"/>
              <a:t>méthode</a:t>
            </a:r>
            <a:r>
              <a:rPr sz="2800" dirty="0"/>
              <a:t> </a:t>
            </a:r>
            <a:r>
              <a:rPr sz="2800" dirty="0" err="1"/>
              <a:t>calcule</a:t>
            </a:r>
            <a:r>
              <a:rPr sz="2800" dirty="0"/>
              <a:t> à </a:t>
            </a:r>
            <a:r>
              <a:rPr sz="2800" dirty="0" err="1"/>
              <a:t>partir</a:t>
            </a:r>
            <a:r>
              <a:rPr sz="2800" dirty="0"/>
              <a:t> des </a:t>
            </a:r>
            <a:r>
              <a:rPr sz="2800" dirty="0" err="1"/>
              <a:t>composants</a:t>
            </a:r>
            <a:r>
              <a:rPr lang="fr-BE" sz="3200" dirty="0"/>
              <a:t> </a:t>
            </a:r>
            <a:r>
              <a:rPr lang="fr-BE" dirty="0"/>
              <a:t>du</a:t>
            </a:r>
            <a:r>
              <a:rPr lang="fr-BE" sz="3200" dirty="0"/>
              <a:t> </a:t>
            </a:r>
            <a:r>
              <a:rPr lang="fr-BE" sz="2400" dirty="0">
                <a:solidFill>
                  <a:srgbClr val="FFC000"/>
                </a:solidFill>
                <a:latin typeface="Consolas" panose="020B0609020204030204" pitchFamily="49" charset="0"/>
                <a:cs typeface="Consolas" panose="020B0609020204030204" pitchFamily="49" charset="0"/>
              </a:rPr>
              <a:t>record</a:t>
            </a:r>
            <a:r>
              <a:rPr lang="fr-BE" sz="3200" dirty="0"/>
              <a:t> </a:t>
            </a:r>
            <a:endParaRPr sz="2800" dirty="0"/>
          </a:p>
          <a:p>
            <a:pPr marL="0" indent="0">
              <a:spcAft>
                <a:spcPts val="1000"/>
              </a:spcAft>
              <a:buNone/>
            </a:pPr>
            <a:r>
              <a:rPr sz="2800" dirty="0"/>
              <a:t>Ce qui se </a:t>
            </a:r>
            <a:r>
              <a:rPr sz="2800" dirty="0" err="1"/>
              <a:t>calcule</a:t>
            </a:r>
            <a:r>
              <a:rPr sz="2800" dirty="0"/>
              <a:t> n</a:t>
            </a:r>
            <a:r>
              <a:rPr lang="nl-BE" sz="2800" dirty="0"/>
              <a:t>’est</a:t>
            </a:r>
            <a:r>
              <a:rPr lang="nl-BE" dirty="0"/>
              <a:t> pas</a:t>
            </a:r>
            <a:r>
              <a:rPr sz="2800" dirty="0"/>
              <a:t> stock</a:t>
            </a:r>
            <a:r>
              <a:rPr lang="nl-BE" sz="2800" dirty="0"/>
              <a:t>é</a:t>
            </a:r>
            <a:endParaRPr sz="2800" dirty="0"/>
          </a:p>
        </p:txBody>
      </p:sp>
      <p:sp>
        <p:nvSpPr>
          <p:cNvPr id="4" name="Code"/>
          <p:cNvSpPr txBox="1"/>
          <p:nvPr/>
        </p:nvSpPr>
        <p:spPr>
          <a:xfrm>
            <a:off x="2381250" y="3307080"/>
            <a:ext cx="7429500" cy="1920239"/>
          </a:xfrm>
          <a:prstGeom prst="roundRect">
            <a:avLst>
              <a:gd name="adj" fmla="val 476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dirty="0">
                <a:solidFill>
                  <a:srgbClr val="CF8E6D"/>
                </a:solidFill>
                <a:latin typeface="Consolas"/>
              </a:rPr>
              <a:t>public</a:t>
            </a:r>
            <a:r>
              <a:rPr sz="1800" dirty="0">
                <a:solidFill>
                  <a:srgbClr val="BCBEC4"/>
                </a:solidFill>
                <a:latin typeface="Consolas"/>
              </a:rPr>
              <a:t> </a:t>
            </a:r>
            <a:r>
              <a:rPr sz="1800" dirty="0">
                <a:solidFill>
                  <a:srgbClr val="CF8E6D"/>
                </a:solidFill>
                <a:latin typeface="Consolas"/>
              </a:rPr>
              <a:t>record</a:t>
            </a:r>
            <a:r>
              <a:rPr sz="1800" dirty="0">
                <a:solidFill>
                  <a:srgbClr val="BCBEC4"/>
                </a:solidFill>
                <a:latin typeface="Consolas"/>
              </a:rPr>
              <a:t> </a:t>
            </a:r>
            <a:r>
              <a:rPr sz="1800" dirty="0">
                <a:solidFill>
                  <a:srgbClr val="56A8F5"/>
                </a:solidFill>
                <a:latin typeface="Consolas"/>
              </a:rPr>
              <a:t>Rectangle</a:t>
            </a:r>
            <a:r>
              <a:rPr sz="1800" dirty="0">
                <a:solidFill>
                  <a:srgbClr val="BCBEC4"/>
                </a:solidFill>
                <a:latin typeface="Consolas"/>
              </a:rPr>
              <a:t>(</a:t>
            </a:r>
            <a:r>
              <a:rPr sz="1800" dirty="0">
                <a:solidFill>
                  <a:srgbClr val="CF8E6D"/>
                </a:solidFill>
                <a:latin typeface="Consolas"/>
              </a:rPr>
              <a:t>int</a:t>
            </a:r>
            <a:r>
              <a:rPr sz="1800" dirty="0">
                <a:solidFill>
                  <a:srgbClr val="BCBEC4"/>
                </a:solidFill>
                <a:latin typeface="Consolas"/>
              </a:rPr>
              <a:t> </a:t>
            </a:r>
            <a:r>
              <a:rPr sz="1800" dirty="0" err="1">
                <a:solidFill>
                  <a:srgbClr val="BCBEC4"/>
                </a:solidFill>
                <a:latin typeface="Consolas"/>
              </a:rPr>
              <a:t>largeur</a:t>
            </a:r>
            <a:r>
              <a:rPr sz="1800" dirty="0">
                <a:solidFill>
                  <a:srgbClr val="BCBEC4"/>
                </a:solidFill>
                <a:latin typeface="Consolas"/>
              </a:rPr>
              <a:t>, </a:t>
            </a:r>
            <a:r>
              <a:rPr sz="1800" dirty="0">
                <a:solidFill>
                  <a:srgbClr val="CF8E6D"/>
                </a:solidFill>
                <a:latin typeface="Consolas"/>
              </a:rPr>
              <a:t>int</a:t>
            </a:r>
            <a:r>
              <a:rPr sz="1800" dirty="0">
                <a:solidFill>
                  <a:srgbClr val="BCBEC4"/>
                </a:solidFill>
                <a:latin typeface="Consolas"/>
              </a:rPr>
              <a:t> hauteur) {</a:t>
            </a:r>
          </a:p>
          <a:p>
            <a:pPr>
              <a:lnSpc>
                <a:spcPct val="100000"/>
              </a:lnSpc>
              <a:spcBef>
                <a:spcPts val="0"/>
              </a:spcBef>
              <a:spcAft>
                <a:spcPts val="0"/>
              </a:spcAft>
            </a:pPr>
            <a:r>
              <a:rPr sz="1800" dirty="0">
                <a:solidFill>
                  <a:srgbClr val="BCBEC4"/>
                </a:solidFill>
                <a:latin typeface="Consolas"/>
              </a:rPr>
              <a:t> </a:t>
            </a:r>
          </a:p>
          <a:p>
            <a:pPr>
              <a:lnSpc>
                <a:spcPct val="100000"/>
              </a:lnSpc>
              <a:spcBef>
                <a:spcPts val="0"/>
              </a:spcBef>
              <a:spcAft>
                <a:spcPts val="0"/>
              </a:spcAft>
            </a:pPr>
            <a:r>
              <a:rPr sz="1800" dirty="0">
                <a:solidFill>
                  <a:srgbClr val="BCBEC4"/>
                </a:solidFill>
                <a:latin typeface="Consolas"/>
              </a:rPr>
              <a:t>    </a:t>
            </a:r>
            <a:r>
              <a:rPr sz="1800" dirty="0">
                <a:solidFill>
                  <a:srgbClr val="CF8E6D"/>
                </a:solidFill>
                <a:latin typeface="Consolas"/>
              </a:rPr>
              <a:t>public</a:t>
            </a:r>
            <a:r>
              <a:rPr sz="1800" dirty="0">
                <a:solidFill>
                  <a:srgbClr val="BCBEC4"/>
                </a:solidFill>
                <a:latin typeface="Consolas"/>
              </a:rPr>
              <a:t> </a:t>
            </a:r>
            <a:r>
              <a:rPr sz="1800" dirty="0">
                <a:solidFill>
                  <a:srgbClr val="CF8E6D"/>
                </a:solidFill>
                <a:latin typeface="Consolas"/>
              </a:rPr>
              <a:t>int</a:t>
            </a:r>
            <a:r>
              <a:rPr sz="1800" dirty="0">
                <a:solidFill>
                  <a:srgbClr val="BCBEC4"/>
                </a:solidFill>
                <a:latin typeface="Consolas"/>
              </a:rPr>
              <a:t> </a:t>
            </a:r>
            <a:r>
              <a:rPr sz="1800" dirty="0" err="1">
                <a:solidFill>
                  <a:srgbClr val="56A8F5"/>
                </a:solidFill>
                <a:latin typeface="Consolas"/>
              </a:rPr>
              <a:t>aire</a:t>
            </a:r>
            <a:r>
              <a:rPr sz="1800" dirty="0">
                <a:solidFill>
                  <a:srgbClr val="BCBEC4"/>
                </a:solidFill>
                <a:latin typeface="Consolas"/>
              </a:rPr>
              <a:t>() {</a:t>
            </a:r>
          </a:p>
          <a:p>
            <a:pPr>
              <a:lnSpc>
                <a:spcPct val="100000"/>
              </a:lnSpc>
              <a:spcBef>
                <a:spcPts val="0"/>
              </a:spcBef>
              <a:spcAft>
                <a:spcPts val="0"/>
              </a:spcAft>
            </a:pPr>
            <a:r>
              <a:rPr sz="1800" dirty="0">
                <a:solidFill>
                  <a:srgbClr val="BCBEC4"/>
                </a:solidFill>
                <a:latin typeface="Consolas"/>
              </a:rPr>
              <a:t>        </a:t>
            </a:r>
            <a:r>
              <a:rPr sz="1800" dirty="0">
                <a:solidFill>
                  <a:srgbClr val="CF8E6D"/>
                </a:solidFill>
                <a:latin typeface="Consolas"/>
              </a:rPr>
              <a:t>return</a:t>
            </a:r>
            <a:r>
              <a:rPr sz="1800" dirty="0">
                <a:solidFill>
                  <a:srgbClr val="BCBEC4"/>
                </a:solidFill>
                <a:latin typeface="Consolas"/>
              </a:rPr>
              <a:t> </a:t>
            </a:r>
            <a:r>
              <a:rPr sz="1800" dirty="0" err="1">
                <a:solidFill>
                  <a:srgbClr val="BCBEC4"/>
                </a:solidFill>
                <a:latin typeface="Consolas"/>
              </a:rPr>
              <a:t>largeur</a:t>
            </a:r>
            <a:r>
              <a:rPr sz="1800" dirty="0">
                <a:solidFill>
                  <a:srgbClr val="BCBEC4"/>
                </a:solidFill>
                <a:latin typeface="Consolas"/>
              </a:rPr>
              <a:t> * hauteur;</a:t>
            </a:r>
          </a:p>
          <a:p>
            <a:pPr>
              <a:lnSpc>
                <a:spcPct val="100000"/>
              </a:lnSpc>
              <a:spcBef>
                <a:spcPts val="0"/>
              </a:spcBef>
              <a:spcAft>
                <a:spcPts val="0"/>
              </a:spcAft>
            </a:pPr>
            <a:r>
              <a:rPr sz="1800" dirty="0">
                <a:solidFill>
                  <a:srgbClr val="BCBEC4"/>
                </a:solidFill>
                <a:latin typeface="Consolas"/>
              </a:rPr>
              <a:t>    }</a:t>
            </a:r>
          </a:p>
          <a:p>
            <a:pPr>
              <a:lnSpc>
                <a:spcPct val="100000"/>
              </a:lnSpc>
              <a:spcBef>
                <a:spcPts val="0"/>
              </a:spcBef>
              <a:spcAft>
                <a:spcPts val="0"/>
              </a:spcAft>
            </a:pPr>
            <a:r>
              <a:rPr sz="1800" dirty="0">
                <a:solidFill>
                  <a:srgbClr val="BCBEC4"/>
                </a:solidFill>
                <a:latin typeface="Consolas"/>
              </a:rPr>
              <a:t>}</a:t>
            </a: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36</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7. Les records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Valider à la construction</a:t>
            </a:r>
          </a:p>
        </p:txBody>
      </p:sp>
      <p:sp>
        <p:nvSpPr>
          <p:cNvPr id="3" name="Content Placeholder 2"/>
          <p:cNvSpPr>
            <a:spLocks noGrp="1"/>
          </p:cNvSpPr>
          <p:nvPr>
            <p:ph idx="1"/>
          </p:nvPr>
        </p:nvSpPr>
        <p:spPr>
          <a:xfrm>
            <a:off x="640080" y="1371600"/>
            <a:ext cx="10881360" cy="2252472"/>
          </a:xfrm>
        </p:spPr>
        <p:txBody>
          <a:bodyPr>
            <a:normAutofit/>
          </a:bodyPr>
          <a:lstStyle/>
          <a:p>
            <a:pPr marL="0" indent="0">
              <a:spcAft>
                <a:spcPts val="1000"/>
              </a:spcAft>
              <a:buNone/>
            </a:pPr>
            <a:r>
              <a:rPr sz="2800" dirty="0"/>
              <a:t>Le </a:t>
            </a:r>
            <a:r>
              <a:rPr sz="2800" dirty="0" err="1"/>
              <a:t>constructeur</a:t>
            </a:r>
            <a:r>
              <a:rPr sz="2800" dirty="0"/>
              <a:t> compact </a:t>
            </a:r>
            <a:r>
              <a:rPr sz="2800" dirty="0" err="1"/>
              <a:t>reçoit</a:t>
            </a:r>
            <a:r>
              <a:rPr sz="2800" dirty="0"/>
              <a:t> les </a:t>
            </a:r>
            <a:r>
              <a:rPr sz="2800" dirty="0" err="1"/>
              <a:t>composants</a:t>
            </a:r>
            <a:r>
              <a:rPr sz="2800" dirty="0"/>
              <a:t> avant </a:t>
            </a:r>
            <a:r>
              <a:rPr sz="2800" dirty="0" err="1"/>
              <a:t>qu'ils</a:t>
            </a:r>
            <a:r>
              <a:rPr sz="2800" dirty="0"/>
              <a:t> </a:t>
            </a:r>
            <a:r>
              <a:rPr sz="2800" dirty="0" err="1"/>
              <a:t>soient</a:t>
            </a:r>
            <a:r>
              <a:rPr sz="2800" dirty="0"/>
              <a:t> </a:t>
            </a:r>
            <a:r>
              <a:rPr sz="2800" dirty="0" err="1"/>
              <a:t>affectés</a:t>
            </a:r>
            <a:r>
              <a:rPr lang="nl-BE" sz="2800" dirty="0"/>
              <a:t>. Remarquez l’absence de paramètres…</a:t>
            </a:r>
            <a:endParaRPr sz="2800" dirty="0"/>
          </a:p>
          <a:p>
            <a:pPr marL="0" indent="0">
              <a:spcAft>
                <a:spcPts val="1000"/>
              </a:spcAft>
              <a:buNone/>
            </a:pPr>
            <a:r>
              <a:rPr lang="nl-BE" sz="2800" dirty="0"/>
              <a:t>On peut </a:t>
            </a:r>
            <a:r>
              <a:rPr sz="2800" dirty="0" err="1"/>
              <a:t>protéger</a:t>
            </a:r>
            <a:r>
              <a:rPr sz="2800" dirty="0"/>
              <a:t> </a:t>
            </a:r>
            <a:r>
              <a:rPr sz="2800" dirty="0" err="1"/>
              <a:t>l'objet</a:t>
            </a:r>
            <a:r>
              <a:rPr sz="2800" dirty="0"/>
              <a:t> des </a:t>
            </a:r>
            <a:r>
              <a:rPr sz="2800" dirty="0" err="1"/>
              <a:t>valeurs</a:t>
            </a:r>
            <a:r>
              <a:rPr sz="2800" dirty="0"/>
              <a:t> </a:t>
            </a:r>
            <a:r>
              <a:rPr sz="2800" dirty="0" err="1"/>
              <a:t>absurdes</a:t>
            </a:r>
            <a:r>
              <a:rPr lang="nl-BE" sz="2800" dirty="0"/>
              <a:t> par un test dans le constructeur (les </a:t>
            </a:r>
            <a:r>
              <a:rPr sz="2800" dirty="0"/>
              <a:t>exception</a:t>
            </a:r>
            <a:r>
              <a:rPr lang="nl-BE" sz="2800" dirty="0"/>
              <a:t>s</a:t>
            </a:r>
            <a:r>
              <a:rPr sz="2800" dirty="0"/>
              <a:t> ser</a:t>
            </a:r>
            <a:r>
              <a:rPr lang="nl-BE" sz="2800" dirty="0"/>
              <a:t>ont</a:t>
            </a:r>
            <a:r>
              <a:rPr sz="2800" dirty="0"/>
              <a:t> vu</a:t>
            </a:r>
            <a:r>
              <a:rPr lang="nl-BE" sz="2800" dirty="0"/>
              <a:t>es</a:t>
            </a:r>
            <a:r>
              <a:rPr sz="2800" dirty="0"/>
              <a:t> au module EXC</a:t>
            </a:r>
            <a:r>
              <a:rPr lang="nl-BE" sz="2800" dirty="0"/>
              <a:t>)</a:t>
            </a:r>
            <a:endParaRPr sz="2800" dirty="0"/>
          </a:p>
        </p:txBody>
      </p:sp>
      <p:sp>
        <p:nvSpPr>
          <p:cNvPr id="4" name="Code"/>
          <p:cNvSpPr txBox="1"/>
          <p:nvPr/>
        </p:nvSpPr>
        <p:spPr>
          <a:xfrm>
            <a:off x="640080" y="3752552"/>
            <a:ext cx="10881360" cy="2438400"/>
          </a:xfrm>
          <a:prstGeom prst="roundRect">
            <a:avLst>
              <a:gd name="adj" fmla="val 3750"/>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dirty="0">
                <a:solidFill>
                  <a:srgbClr val="CF8E6D"/>
                </a:solidFill>
                <a:latin typeface="Consolas"/>
              </a:rPr>
              <a:t>public</a:t>
            </a:r>
            <a:r>
              <a:rPr sz="1800" dirty="0">
                <a:solidFill>
                  <a:srgbClr val="BCBEC4"/>
                </a:solidFill>
                <a:latin typeface="Consolas"/>
              </a:rPr>
              <a:t> </a:t>
            </a:r>
            <a:r>
              <a:rPr sz="1800" dirty="0">
                <a:solidFill>
                  <a:srgbClr val="CF8E6D"/>
                </a:solidFill>
                <a:latin typeface="Consolas"/>
              </a:rPr>
              <a:t>record</a:t>
            </a:r>
            <a:r>
              <a:rPr sz="1800" dirty="0">
                <a:solidFill>
                  <a:srgbClr val="BCBEC4"/>
                </a:solidFill>
                <a:latin typeface="Consolas"/>
              </a:rPr>
              <a:t> </a:t>
            </a:r>
            <a:r>
              <a:rPr sz="1800" dirty="0">
                <a:solidFill>
                  <a:srgbClr val="56A8F5"/>
                </a:solidFill>
                <a:latin typeface="Consolas"/>
              </a:rPr>
              <a:t>Rectangle</a:t>
            </a:r>
            <a:r>
              <a:rPr sz="1800" dirty="0">
                <a:solidFill>
                  <a:srgbClr val="BCBEC4"/>
                </a:solidFill>
                <a:latin typeface="Consolas"/>
              </a:rPr>
              <a:t>(</a:t>
            </a:r>
            <a:r>
              <a:rPr sz="1800" dirty="0">
                <a:solidFill>
                  <a:srgbClr val="CF8E6D"/>
                </a:solidFill>
                <a:latin typeface="Consolas"/>
              </a:rPr>
              <a:t>int</a:t>
            </a:r>
            <a:r>
              <a:rPr sz="1800" dirty="0">
                <a:solidFill>
                  <a:srgbClr val="BCBEC4"/>
                </a:solidFill>
                <a:latin typeface="Consolas"/>
              </a:rPr>
              <a:t> </a:t>
            </a:r>
            <a:r>
              <a:rPr sz="1800" dirty="0" err="1">
                <a:solidFill>
                  <a:srgbClr val="BCBEC4"/>
                </a:solidFill>
                <a:latin typeface="Consolas"/>
              </a:rPr>
              <a:t>largeur</a:t>
            </a:r>
            <a:r>
              <a:rPr sz="1800" dirty="0">
                <a:solidFill>
                  <a:srgbClr val="BCBEC4"/>
                </a:solidFill>
                <a:latin typeface="Consolas"/>
              </a:rPr>
              <a:t>, </a:t>
            </a:r>
            <a:r>
              <a:rPr sz="1800" dirty="0">
                <a:solidFill>
                  <a:srgbClr val="CF8E6D"/>
                </a:solidFill>
                <a:latin typeface="Consolas"/>
              </a:rPr>
              <a:t>int</a:t>
            </a:r>
            <a:r>
              <a:rPr sz="1800" dirty="0">
                <a:solidFill>
                  <a:srgbClr val="BCBEC4"/>
                </a:solidFill>
                <a:latin typeface="Consolas"/>
              </a:rPr>
              <a:t> hauteur) {</a:t>
            </a:r>
          </a:p>
          <a:p>
            <a:pPr>
              <a:lnSpc>
                <a:spcPct val="100000"/>
              </a:lnSpc>
              <a:spcBef>
                <a:spcPts val="0"/>
              </a:spcBef>
              <a:spcAft>
                <a:spcPts val="0"/>
              </a:spcAft>
            </a:pPr>
            <a:r>
              <a:rPr sz="1800" dirty="0">
                <a:solidFill>
                  <a:srgbClr val="BCBEC4"/>
                </a:solidFill>
                <a:latin typeface="Consolas"/>
              </a:rPr>
              <a:t> </a:t>
            </a:r>
          </a:p>
          <a:p>
            <a:pPr>
              <a:lnSpc>
                <a:spcPct val="100000"/>
              </a:lnSpc>
              <a:spcBef>
                <a:spcPts val="0"/>
              </a:spcBef>
              <a:spcAft>
                <a:spcPts val="0"/>
              </a:spcAft>
            </a:pPr>
            <a:r>
              <a:rPr sz="1800" dirty="0">
                <a:solidFill>
                  <a:srgbClr val="BCBEC4"/>
                </a:solidFill>
                <a:latin typeface="Consolas"/>
              </a:rPr>
              <a:t>    </a:t>
            </a:r>
            <a:r>
              <a:rPr sz="1800" dirty="0">
                <a:solidFill>
                  <a:srgbClr val="CF8E6D"/>
                </a:solidFill>
                <a:latin typeface="Consolas"/>
              </a:rPr>
              <a:t>public</a:t>
            </a:r>
            <a:r>
              <a:rPr sz="1800" dirty="0">
                <a:solidFill>
                  <a:srgbClr val="BCBEC4"/>
                </a:solidFill>
                <a:latin typeface="Consolas"/>
              </a:rPr>
              <a:t> Rectangle {</a:t>
            </a:r>
          </a:p>
          <a:p>
            <a:pPr>
              <a:lnSpc>
                <a:spcPct val="100000"/>
              </a:lnSpc>
              <a:spcBef>
                <a:spcPts val="0"/>
              </a:spcBef>
              <a:spcAft>
                <a:spcPts val="0"/>
              </a:spcAft>
            </a:pPr>
            <a:r>
              <a:rPr sz="1800" dirty="0">
                <a:solidFill>
                  <a:srgbClr val="BCBEC4"/>
                </a:solidFill>
                <a:latin typeface="Consolas"/>
              </a:rPr>
              <a:t>        </a:t>
            </a:r>
            <a:r>
              <a:rPr sz="1800" dirty="0">
                <a:solidFill>
                  <a:srgbClr val="CF8E6D"/>
                </a:solidFill>
                <a:latin typeface="Consolas"/>
              </a:rPr>
              <a:t>if</a:t>
            </a:r>
            <a:r>
              <a:rPr sz="1800" dirty="0">
                <a:solidFill>
                  <a:srgbClr val="BCBEC4"/>
                </a:solidFill>
                <a:latin typeface="Consolas"/>
              </a:rPr>
              <a:t> (</a:t>
            </a:r>
            <a:r>
              <a:rPr sz="1800" dirty="0" err="1">
                <a:solidFill>
                  <a:srgbClr val="BCBEC4"/>
                </a:solidFill>
                <a:latin typeface="Consolas"/>
              </a:rPr>
              <a:t>largeur</a:t>
            </a:r>
            <a:r>
              <a:rPr sz="1800" dirty="0">
                <a:solidFill>
                  <a:srgbClr val="BCBEC4"/>
                </a:solidFill>
                <a:latin typeface="Consolas"/>
              </a:rPr>
              <a:t> &lt;= </a:t>
            </a:r>
            <a:r>
              <a:rPr sz="1800" dirty="0">
                <a:solidFill>
                  <a:srgbClr val="2AACB8"/>
                </a:solidFill>
                <a:latin typeface="Consolas"/>
              </a:rPr>
              <a:t>0</a:t>
            </a:r>
            <a:r>
              <a:rPr sz="1800" dirty="0">
                <a:solidFill>
                  <a:srgbClr val="BCBEC4"/>
                </a:solidFill>
                <a:latin typeface="Consolas"/>
              </a:rPr>
              <a:t> || hauteur &lt;= </a:t>
            </a:r>
            <a:r>
              <a:rPr sz="1800" dirty="0">
                <a:solidFill>
                  <a:srgbClr val="2AACB8"/>
                </a:solidFill>
                <a:latin typeface="Consolas"/>
              </a:rPr>
              <a:t>0</a:t>
            </a:r>
            <a:r>
              <a:rPr sz="1800" dirty="0">
                <a:solidFill>
                  <a:srgbClr val="BCBEC4"/>
                </a:solidFill>
                <a:latin typeface="Consolas"/>
              </a:rPr>
              <a:t>) {</a:t>
            </a:r>
          </a:p>
          <a:p>
            <a:pPr>
              <a:lnSpc>
                <a:spcPct val="100000"/>
              </a:lnSpc>
              <a:spcBef>
                <a:spcPts val="0"/>
              </a:spcBef>
              <a:spcAft>
                <a:spcPts val="0"/>
              </a:spcAft>
            </a:pPr>
            <a:r>
              <a:rPr sz="1800" dirty="0">
                <a:solidFill>
                  <a:srgbClr val="BCBEC4"/>
                </a:solidFill>
                <a:latin typeface="Consolas"/>
              </a:rPr>
              <a:t>            </a:t>
            </a:r>
            <a:r>
              <a:rPr sz="1800" dirty="0">
                <a:solidFill>
                  <a:srgbClr val="CF8E6D"/>
                </a:solidFill>
                <a:latin typeface="Consolas"/>
              </a:rPr>
              <a:t>throw</a:t>
            </a:r>
            <a:r>
              <a:rPr sz="1800" dirty="0">
                <a:solidFill>
                  <a:srgbClr val="BCBEC4"/>
                </a:solidFill>
                <a:latin typeface="Consolas"/>
              </a:rPr>
              <a:t> </a:t>
            </a:r>
            <a:r>
              <a:rPr sz="1800" dirty="0">
                <a:solidFill>
                  <a:srgbClr val="CF8E6D"/>
                </a:solidFill>
                <a:latin typeface="Consolas"/>
              </a:rPr>
              <a:t>new</a:t>
            </a:r>
            <a:r>
              <a:rPr sz="1800" dirty="0">
                <a:solidFill>
                  <a:srgbClr val="BCBEC4"/>
                </a:solidFill>
                <a:latin typeface="Consolas"/>
              </a:rPr>
              <a:t> </a:t>
            </a:r>
            <a:r>
              <a:rPr sz="1800" dirty="0" err="1">
                <a:solidFill>
                  <a:srgbClr val="56A8F5"/>
                </a:solidFill>
                <a:latin typeface="Consolas"/>
              </a:rPr>
              <a:t>IllegalArgumentException</a:t>
            </a:r>
            <a:r>
              <a:rPr sz="1800" dirty="0">
                <a:solidFill>
                  <a:srgbClr val="BCBEC4"/>
                </a:solidFill>
                <a:latin typeface="Consolas"/>
              </a:rPr>
              <a:t>(</a:t>
            </a:r>
            <a:r>
              <a:rPr sz="1800" dirty="0">
                <a:solidFill>
                  <a:srgbClr val="6AAB73"/>
                </a:solidFill>
                <a:latin typeface="Consolas"/>
              </a:rPr>
              <a:t>"dimensions positives"</a:t>
            </a:r>
            <a:r>
              <a:rPr sz="1800" dirty="0">
                <a:solidFill>
                  <a:srgbClr val="BCBEC4"/>
                </a:solidFill>
                <a:latin typeface="Consolas"/>
              </a:rPr>
              <a:t>);</a:t>
            </a:r>
          </a:p>
          <a:p>
            <a:pPr>
              <a:lnSpc>
                <a:spcPct val="100000"/>
              </a:lnSpc>
              <a:spcBef>
                <a:spcPts val="0"/>
              </a:spcBef>
              <a:spcAft>
                <a:spcPts val="0"/>
              </a:spcAft>
            </a:pPr>
            <a:r>
              <a:rPr sz="1800" dirty="0">
                <a:solidFill>
                  <a:srgbClr val="BCBEC4"/>
                </a:solidFill>
                <a:latin typeface="Consolas"/>
              </a:rPr>
              <a:t>        }</a:t>
            </a:r>
          </a:p>
          <a:p>
            <a:pPr>
              <a:lnSpc>
                <a:spcPct val="100000"/>
              </a:lnSpc>
              <a:spcBef>
                <a:spcPts val="0"/>
              </a:spcBef>
              <a:spcAft>
                <a:spcPts val="0"/>
              </a:spcAft>
            </a:pPr>
            <a:r>
              <a:rPr sz="1800" dirty="0">
                <a:solidFill>
                  <a:srgbClr val="BCBEC4"/>
                </a:solidFill>
                <a:latin typeface="Consolas"/>
              </a:rPr>
              <a:t>    }</a:t>
            </a:r>
          </a:p>
          <a:p>
            <a:pPr>
              <a:lnSpc>
                <a:spcPct val="100000"/>
              </a:lnSpc>
              <a:spcBef>
                <a:spcPts val="0"/>
              </a:spcBef>
              <a:spcAft>
                <a:spcPts val="0"/>
              </a:spcAft>
            </a:pPr>
            <a:r>
              <a:rPr sz="1800" dirty="0">
                <a:solidFill>
                  <a:srgbClr val="BCBEC4"/>
                </a:solidFill>
                <a:latin typeface="Consolas"/>
              </a:rPr>
              <a:t>}</a:t>
            </a: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37</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7. Les records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Quand le record ne convient pas</a:t>
            </a:r>
          </a:p>
        </p:txBody>
      </p:sp>
      <p:sp>
        <p:nvSpPr>
          <p:cNvPr id="3" name="TextBox 2"/>
          <p:cNvSpPr txBox="1"/>
          <p:nvPr/>
        </p:nvSpPr>
        <p:spPr>
          <a:xfrm>
            <a:off x="777240" y="1371600"/>
            <a:ext cx="8514470" cy="585216"/>
          </a:xfrm>
          <a:prstGeom prst="rect">
            <a:avLst/>
          </a:prstGeom>
          <a:noFill/>
        </p:spPr>
        <p:txBody>
          <a:bodyPr wrap="square" anchor="ctr">
            <a:spAutoFit/>
          </a:bodyPr>
          <a:lstStyle/>
          <a:p>
            <a:r>
              <a:rPr sz="2000" b="1">
                <a:solidFill>
                  <a:schemeClr val="accent4"/>
                </a:solidFill>
              </a:rPr>
              <a:t>Ce que vous modélisez</a:t>
            </a:r>
          </a:p>
        </p:txBody>
      </p:sp>
      <p:sp>
        <p:nvSpPr>
          <p:cNvPr id="4" name="TextBox 3"/>
          <p:cNvSpPr txBox="1"/>
          <p:nvPr/>
        </p:nvSpPr>
        <p:spPr>
          <a:xfrm>
            <a:off x="9566030" y="1371600"/>
            <a:ext cx="1818249" cy="585216"/>
          </a:xfrm>
          <a:prstGeom prst="rect">
            <a:avLst/>
          </a:prstGeom>
          <a:noFill/>
        </p:spPr>
        <p:txBody>
          <a:bodyPr wrap="square" anchor="ctr">
            <a:spAutoFit/>
          </a:bodyPr>
          <a:lstStyle/>
          <a:p>
            <a:r>
              <a:rPr sz="2000" b="1">
                <a:solidFill>
                  <a:schemeClr val="accent4"/>
                </a:solidFill>
              </a:rPr>
              <a:t>La forme</a:t>
            </a:r>
          </a:p>
        </p:txBody>
      </p:sp>
      <p:grpSp>
        <p:nvGrpSpPr>
          <p:cNvPr id="19" name="Groupe 18">
            <a:extLst>
              <a:ext uri="{FF2B5EF4-FFF2-40B4-BE49-F238E27FC236}">
                <a16:creationId xmlns:a16="http://schemas.microsoft.com/office/drawing/2014/main" id="{383C4185-102C-A085-2AA7-489FA4EB4A41}"/>
              </a:ext>
            </a:extLst>
          </p:cNvPr>
          <p:cNvGrpSpPr/>
          <p:nvPr/>
        </p:nvGrpSpPr>
        <p:grpSpPr>
          <a:xfrm>
            <a:off x="640080" y="2029967"/>
            <a:ext cx="10881360" cy="585216"/>
            <a:chOff x="640080" y="2029967"/>
            <a:chExt cx="10881360" cy="585216"/>
          </a:xfrm>
        </p:grpSpPr>
        <p:sp>
          <p:nvSpPr>
            <p:cNvPr id="5" name="Rounded Rectangle 4"/>
            <p:cNvSpPr/>
            <p:nvPr/>
          </p:nvSpPr>
          <p:spPr>
            <a:xfrm>
              <a:off x="640080" y="2029967"/>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029967"/>
              <a:ext cx="8514470" cy="585216"/>
            </a:xfrm>
            <a:prstGeom prst="rect">
              <a:avLst/>
            </a:prstGeom>
            <a:noFill/>
          </p:spPr>
          <p:txBody>
            <a:bodyPr wrap="square" anchor="ctr">
              <a:spAutoFit/>
            </a:bodyPr>
            <a:lstStyle/>
            <a:p>
              <a:r>
                <a:rPr sz="2200">
                  <a:solidFill>
                    <a:srgbClr val="FFFFFF"/>
                  </a:solidFill>
                </a:rPr>
                <a:t>une adresse, un point, un résumé de partie</a:t>
              </a:r>
            </a:p>
          </p:txBody>
        </p:sp>
        <p:sp>
          <p:nvSpPr>
            <p:cNvPr id="7" name="TextBox 6"/>
            <p:cNvSpPr txBox="1"/>
            <p:nvPr/>
          </p:nvSpPr>
          <p:spPr>
            <a:xfrm>
              <a:off x="9566030" y="2029967"/>
              <a:ext cx="1818249" cy="585216"/>
            </a:xfrm>
            <a:prstGeom prst="rect">
              <a:avLst/>
            </a:prstGeom>
            <a:noFill/>
          </p:spPr>
          <p:txBody>
            <a:bodyPr wrap="square" anchor="ctr">
              <a:spAutoFit/>
            </a:bodyPr>
            <a:lstStyle/>
            <a:p>
              <a:r>
                <a:rPr sz="2200" dirty="0">
                  <a:solidFill>
                    <a:srgbClr val="FFFFFF"/>
                  </a:solidFill>
                </a:rPr>
                <a:t>un </a:t>
              </a:r>
              <a:r>
                <a:rPr sz="1900" dirty="0">
                  <a:solidFill>
                    <a:schemeClr val="accent4"/>
                  </a:solidFill>
                  <a:latin typeface="Consolas"/>
                </a:rPr>
                <a:t>record</a:t>
              </a:r>
            </a:p>
          </p:txBody>
        </p:sp>
      </p:grpSp>
      <p:grpSp>
        <p:nvGrpSpPr>
          <p:cNvPr id="20" name="Groupe 19">
            <a:extLst>
              <a:ext uri="{FF2B5EF4-FFF2-40B4-BE49-F238E27FC236}">
                <a16:creationId xmlns:a16="http://schemas.microsoft.com/office/drawing/2014/main" id="{860EC1F4-FC0B-C9BB-9223-4D955A286361}"/>
              </a:ext>
            </a:extLst>
          </p:cNvPr>
          <p:cNvGrpSpPr/>
          <p:nvPr/>
        </p:nvGrpSpPr>
        <p:grpSpPr>
          <a:xfrm>
            <a:off x="640080" y="2688335"/>
            <a:ext cx="10881360" cy="585216"/>
            <a:chOff x="640080" y="2688335"/>
            <a:chExt cx="10881360" cy="585216"/>
          </a:xfrm>
        </p:grpSpPr>
        <p:sp>
          <p:nvSpPr>
            <p:cNvPr id="8" name="Rounded Rectangle 7"/>
            <p:cNvSpPr/>
            <p:nvPr/>
          </p:nvSpPr>
          <p:spPr>
            <a:xfrm>
              <a:off x="640080" y="2688335"/>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2765499"/>
              <a:ext cx="8514470" cy="430887"/>
            </a:xfrm>
            <a:prstGeom prst="rect">
              <a:avLst/>
            </a:prstGeom>
            <a:noFill/>
          </p:spPr>
          <p:txBody>
            <a:bodyPr wrap="square" anchor="ctr">
              <a:spAutoFit/>
            </a:bodyPr>
            <a:lstStyle/>
            <a:p>
              <a:r>
                <a:rPr sz="2200" dirty="0">
                  <a:solidFill>
                    <a:srgbClr val="FFFFFF"/>
                  </a:solidFill>
                </a:rPr>
                <a:t>un compte </a:t>
              </a:r>
              <a:r>
                <a:rPr sz="2200" dirty="0" err="1">
                  <a:solidFill>
                    <a:srgbClr val="FFFFFF"/>
                  </a:solidFill>
                </a:rPr>
                <a:t>dont</a:t>
              </a:r>
              <a:r>
                <a:rPr sz="2200" dirty="0">
                  <a:solidFill>
                    <a:srgbClr val="FFFFFF"/>
                  </a:solidFill>
                </a:rPr>
                <a:t> le </a:t>
              </a:r>
              <a:r>
                <a:rPr sz="2200" dirty="0" err="1">
                  <a:solidFill>
                    <a:srgbClr val="FFFFFF"/>
                  </a:solidFill>
                </a:rPr>
                <a:t>solde</a:t>
              </a:r>
              <a:r>
                <a:rPr sz="2200" dirty="0">
                  <a:solidFill>
                    <a:srgbClr val="FFFFFF"/>
                  </a:solidFill>
                </a:rPr>
                <a:t> </a:t>
              </a:r>
              <a:r>
                <a:rPr sz="2200" dirty="0">
                  <a:solidFill>
                    <a:srgbClr val="FFC000"/>
                  </a:solidFill>
                </a:rPr>
                <a:t>change</a:t>
              </a:r>
            </a:p>
          </p:txBody>
        </p:sp>
        <p:sp>
          <p:nvSpPr>
            <p:cNvPr id="10" name="TextBox 9"/>
            <p:cNvSpPr txBox="1"/>
            <p:nvPr/>
          </p:nvSpPr>
          <p:spPr>
            <a:xfrm>
              <a:off x="9566030" y="2688335"/>
              <a:ext cx="1818249" cy="585216"/>
            </a:xfrm>
            <a:prstGeom prst="rect">
              <a:avLst/>
            </a:prstGeom>
            <a:noFill/>
          </p:spPr>
          <p:txBody>
            <a:bodyPr wrap="square" anchor="ctr">
              <a:spAutoFit/>
            </a:bodyPr>
            <a:lstStyle/>
            <a:p>
              <a:r>
                <a:rPr sz="2200">
                  <a:solidFill>
                    <a:srgbClr val="FFFFFF"/>
                  </a:solidFill>
                </a:rPr>
                <a:t>une classe</a:t>
              </a:r>
            </a:p>
          </p:txBody>
        </p:sp>
      </p:grpSp>
      <p:grpSp>
        <p:nvGrpSpPr>
          <p:cNvPr id="21" name="Groupe 20">
            <a:extLst>
              <a:ext uri="{FF2B5EF4-FFF2-40B4-BE49-F238E27FC236}">
                <a16:creationId xmlns:a16="http://schemas.microsoft.com/office/drawing/2014/main" id="{D261ACE8-E94C-01F8-A5FE-913BD74A16EB}"/>
              </a:ext>
            </a:extLst>
          </p:cNvPr>
          <p:cNvGrpSpPr/>
          <p:nvPr/>
        </p:nvGrpSpPr>
        <p:grpSpPr>
          <a:xfrm>
            <a:off x="640080" y="3346703"/>
            <a:ext cx="10881360" cy="585216"/>
            <a:chOff x="640080" y="3346703"/>
            <a:chExt cx="10881360" cy="585216"/>
          </a:xfrm>
        </p:grpSpPr>
        <p:sp>
          <p:nvSpPr>
            <p:cNvPr id="11" name="Rounded Rectangle 10"/>
            <p:cNvSpPr/>
            <p:nvPr/>
          </p:nvSpPr>
          <p:spPr>
            <a:xfrm>
              <a:off x="640080" y="3346703"/>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3423867"/>
              <a:ext cx="8514470" cy="430887"/>
            </a:xfrm>
            <a:prstGeom prst="rect">
              <a:avLst/>
            </a:prstGeom>
            <a:noFill/>
          </p:spPr>
          <p:txBody>
            <a:bodyPr wrap="square" anchor="ctr">
              <a:spAutoFit/>
            </a:bodyPr>
            <a:lstStyle/>
            <a:p>
              <a:r>
                <a:rPr sz="2200" dirty="0">
                  <a:solidFill>
                    <a:srgbClr val="FFFFFF"/>
                  </a:solidFill>
                </a:rPr>
                <a:t>un feu qui </a:t>
              </a:r>
              <a:r>
                <a:rPr sz="2200" dirty="0">
                  <a:solidFill>
                    <a:srgbClr val="FFC000"/>
                  </a:solidFill>
                </a:rPr>
                <a:t>change</a:t>
              </a:r>
              <a:r>
                <a:rPr sz="2200" dirty="0">
                  <a:solidFill>
                    <a:srgbClr val="FFFFFF"/>
                  </a:solidFill>
                </a:rPr>
                <a:t> de couleur</a:t>
              </a:r>
            </a:p>
          </p:txBody>
        </p:sp>
        <p:sp>
          <p:nvSpPr>
            <p:cNvPr id="13" name="TextBox 12"/>
            <p:cNvSpPr txBox="1"/>
            <p:nvPr/>
          </p:nvSpPr>
          <p:spPr>
            <a:xfrm>
              <a:off x="9566030" y="3346703"/>
              <a:ext cx="1818249" cy="585216"/>
            </a:xfrm>
            <a:prstGeom prst="rect">
              <a:avLst/>
            </a:prstGeom>
            <a:noFill/>
          </p:spPr>
          <p:txBody>
            <a:bodyPr wrap="square" anchor="ctr">
              <a:spAutoFit/>
            </a:bodyPr>
            <a:lstStyle/>
            <a:p>
              <a:r>
                <a:rPr sz="2200">
                  <a:solidFill>
                    <a:srgbClr val="FFFFFF"/>
                  </a:solidFill>
                </a:rPr>
                <a:t>une classe</a:t>
              </a:r>
            </a:p>
          </p:txBody>
        </p:sp>
      </p:grpSp>
      <p:grpSp>
        <p:nvGrpSpPr>
          <p:cNvPr id="22" name="Groupe 21">
            <a:extLst>
              <a:ext uri="{FF2B5EF4-FFF2-40B4-BE49-F238E27FC236}">
                <a16:creationId xmlns:a16="http://schemas.microsoft.com/office/drawing/2014/main" id="{5D5A1CB5-3E93-897B-EBE1-085C8971454D}"/>
              </a:ext>
            </a:extLst>
          </p:cNvPr>
          <p:cNvGrpSpPr/>
          <p:nvPr/>
        </p:nvGrpSpPr>
        <p:grpSpPr>
          <a:xfrm>
            <a:off x="640080" y="4005071"/>
            <a:ext cx="10881360" cy="585216"/>
            <a:chOff x="640080" y="4005071"/>
            <a:chExt cx="10881360" cy="585216"/>
          </a:xfrm>
        </p:grpSpPr>
        <p:sp>
          <p:nvSpPr>
            <p:cNvPr id="14" name="Rounded Rectangle 13"/>
            <p:cNvSpPr/>
            <p:nvPr/>
          </p:nvSpPr>
          <p:spPr>
            <a:xfrm>
              <a:off x="640080" y="4005071"/>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4082235"/>
              <a:ext cx="8514470" cy="430887"/>
            </a:xfrm>
            <a:prstGeom prst="rect">
              <a:avLst/>
            </a:prstGeom>
            <a:noFill/>
          </p:spPr>
          <p:txBody>
            <a:bodyPr wrap="square" anchor="ctr">
              <a:spAutoFit/>
            </a:bodyPr>
            <a:lstStyle/>
            <a:p>
              <a:r>
                <a:rPr sz="2200" dirty="0">
                  <a:solidFill>
                    <a:srgbClr val="FFFFFF"/>
                  </a:solidFill>
                </a:rPr>
                <a:t>un </a:t>
              </a:r>
              <a:r>
                <a:rPr sz="2200" dirty="0" err="1">
                  <a:solidFill>
                    <a:srgbClr val="FFFFFF"/>
                  </a:solidFill>
                </a:rPr>
                <a:t>objet</a:t>
              </a:r>
              <a:r>
                <a:rPr sz="2200" dirty="0">
                  <a:solidFill>
                    <a:srgbClr val="FFFFFF"/>
                  </a:solidFill>
                </a:rPr>
                <a:t> </a:t>
              </a:r>
              <a:r>
                <a:rPr sz="2200" dirty="0" err="1">
                  <a:solidFill>
                    <a:srgbClr val="FFFFFF"/>
                  </a:solidFill>
                </a:rPr>
                <a:t>dont</a:t>
              </a:r>
              <a:r>
                <a:rPr sz="2200" dirty="0">
                  <a:solidFill>
                    <a:srgbClr val="FFFFFF"/>
                  </a:solidFill>
                </a:rPr>
                <a:t> </a:t>
              </a:r>
              <a:r>
                <a:rPr sz="2200" dirty="0" err="1">
                  <a:solidFill>
                    <a:srgbClr val="FFFFFF"/>
                  </a:solidFill>
                </a:rPr>
                <a:t>d'autres</a:t>
              </a:r>
              <a:r>
                <a:rPr sz="2200" dirty="0">
                  <a:solidFill>
                    <a:srgbClr val="FFFFFF"/>
                  </a:solidFill>
                </a:rPr>
                <a:t> </a:t>
              </a:r>
              <a:r>
                <a:rPr sz="2200" dirty="0" err="1">
                  <a:solidFill>
                    <a:srgbClr val="FFFFFF"/>
                  </a:solidFill>
                </a:rPr>
                <a:t>doivent</a:t>
              </a:r>
              <a:r>
                <a:rPr sz="2200" dirty="0">
                  <a:solidFill>
                    <a:srgbClr val="FFFFFF"/>
                  </a:solidFill>
                </a:rPr>
                <a:t> </a:t>
              </a:r>
              <a:r>
                <a:rPr sz="2200" dirty="0" err="1">
                  <a:solidFill>
                    <a:srgbClr val="FFC000"/>
                  </a:solidFill>
                </a:rPr>
                <a:t>hériter</a:t>
              </a:r>
              <a:endParaRPr sz="2200" dirty="0">
                <a:solidFill>
                  <a:srgbClr val="FFC000"/>
                </a:solidFill>
              </a:endParaRPr>
            </a:p>
          </p:txBody>
        </p:sp>
        <p:sp>
          <p:nvSpPr>
            <p:cNvPr id="16" name="TextBox 15"/>
            <p:cNvSpPr txBox="1"/>
            <p:nvPr/>
          </p:nvSpPr>
          <p:spPr>
            <a:xfrm>
              <a:off x="9566030" y="4005071"/>
              <a:ext cx="1818249" cy="585216"/>
            </a:xfrm>
            <a:prstGeom prst="rect">
              <a:avLst/>
            </a:prstGeom>
            <a:noFill/>
          </p:spPr>
          <p:txBody>
            <a:bodyPr wrap="square" anchor="ctr">
              <a:spAutoFit/>
            </a:bodyPr>
            <a:lstStyle/>
            <a:p>
              <a:r>
                <a:rPr sz="2200">
                  <a:solidFill>
                    <a:srgbClr val="FFFFFF"/>
                  </a:solidFill>
                </a:rPr>
                <a:t>une classe</a:t>
              </a:r>
            </a:p>
          </p:txBody>
        </p:sp>
      </p:grpSp>
      <p:sp>
        <p:nvSpPr>
          <p:cNvPr id="18"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38</a:t>
            </a:fld>
            <a:endParaRPr lang="fr-FR"/>
          </a:p>
        </p:txBody>
      </p:sp>
      <p:sp>
        <p:nvSpPr>
          <p:cNvPr id="17"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7. Les records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left)">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wipe(left)">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wipe(left)">
                                      <p:cBhvr>
                                        <p:cTn id="17" dur="500"/>
                                        <p:tgtEl>
                                          <p:spTgt spid="2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wipe(left)">
                                      <p:cBhvr>
                                        <p:cTn id="2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ENU.4</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Un record d'étudiant</a:t>
            </a:r>
          </a:p>
          <a:p>
            <a:r>
              <a:rPr sz="1400">
                <a:solidFill>
                  <a:srgbClr val="BCBEC4"/>
                </a:solidFill>
              </a:rPr>
              <a:t>fascicule ENU</a:t>
            </a:r>
          </a:p>
        </p:txBody>
      </p:sp>
      <p:sp>
        <p:nvSpPr>
          <p:cNvPr id="6" name="TextBox 5"/>
          <p:cNvSpPr txBox="1"/>
          <p:nvPr/>
        </p:nvSpPr>
        <p:spPr>
          <a:xfrm>
            <a:off x="640080" y="2651760"/>
            <a:ext cx="9326880" cy="822960"/>
          </a:xfrm>
          <a:prstGeom prst="rect">
            <a:avLst/>
          </a:prstGeom>
          <a:noFill/>
        </p:spPr>
        <p:txBody>
          <a:bodyPr wrap="square">
            <a:spAutoFit/>
          </a:bodyPr>
          <a:lstStyle/>
          <a:p>
            <a:r>
              <a:rPr sz="2400"/>
              <a:t>Concevoir : CC-OBJ.2</a:t>
            </a:r>
          </a:p>
        </p:txBody>
      </p:sp>
      <p:pic>
        <p:nvPicPr>
          <p:cNvPr id="7" name="Picture 6" descr="image.png"/>
          <p:cNvPicPr>
            <a:picLocks noChangeAspect="1"/>
          </p:cNvPicPr>
          <p:nvPr/>
        </p:nvPicPr>
        <p:blipFill>
          <a:blip r:embed="rId3"/>
          <a:stretch>
            <a:fillRect/>
          </a:stretch>
        </p:blipFill>
        <p:spPr>
          <a:xfrm>
            <a:off x="10332720" y="475488"/>
            <a:ext cx="1280160" cy="1280160"/>
          </a:xfrm>
          <a:prstGeom prst="rect">
            <a:avLst/>
          </a:prstGeom>
        </p:spPr>
      </p:pic>
      <p:sp>
        <p:nvSpPr>
          <p:cNvPr id="9"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39</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7. Les records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fil rouge</a:t>
            </a: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40</a:t>
            </a:fld>
            <a:endParaRPr lang="fr-FR"/>
          </a:p>
        </p:txBody>
      </p:sp>
      <p:sp>
        <p:nvSpPr>
          <p:cNvPr id="1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7. Les records</a:t>
            </a:r>
          </a:p>
        </p:txBody>
      </p:sp>
      <p:pic>
        <p:nvPicPr>
          <p:cNvPr id="22" name="iconGameHub" descr="Game Hub - Apps on Google Play">
            <a:extLst>
              <a:ext uri="{FF2B5EF4-FFF2-40B4-BE49-F238E27FC236}">
                <a16:creationId xmlns:a16="http://schemas.microsoft.com/office/drawing/2014/main" id="{C835972B-7619-859A-5ECA-BBF75ECB7514}"/>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rot="425092">
            <a:off x="10479024" y="521207"/>
            <a:ext cx="1215275" cy="1215275"/>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grpSp>
        <p:nvGrpSpPr>
          <p:cNvPr id="23" name="Exercice 1"/>
          <p:cNvGrpSpPr/>
          <p:nvPr/>
        </p:nvGrpSpPr>
        <p:grpSpPr>
          <a:xfrm>
            <a:off x="640080" y="1417320"/>
            <a:ext cx="9326880" cy="960120"/>
            <a:chOff x="640080" y="1417320"/>
            <a:chExt cx="9326880" cy="960120"/>
          </a:xfrm>
        </p:grpSpPr>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G.6</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200" dirty="0">
                  <a:solidFill>
                    <a:srgbClr val="FFFFFF"/>
                  </a:solidFill>
                </a:rPr>
                <a:t>Les </a:t>
              </a:r>
              <a:r>
                <a:rPr sz="2200" dirty="0" err="1">
                  <a:solidFill>
                    <a:srgbClr val="FFFFFF"/>
                  </a:solidFill>
                </a:rPr>
                <a:t>énumérations</a:t>
              </a:r>
              <a:r>
                <a:rPr sz="2200" dirty="0">
                  <a:solidFill>
                    <a:srgbClr val="FFFFFF"/>
                  </a:solidFill>
                </a:rPr>
                <a:t> </a:t>
              </a:r>
              <a:r>
                <a:rPr sz="1900" dirty="0" err="1">
                  <a:solidFill>
                    <a:srgbClr val="FFFFFF"/>
                  </a:solidFill>
                  <a:latin typeface="Consolas"/>
                </a:rPr>
                <a:t>TypeJeu</a:t>
              </a:r>
              <a:r>
                <a:rPr sz="2200" dirty="0">
                  <a:solidFill>
                    <a:srgbClr val="FFFFFF"/>
                  </a:solidFill>
                </a:rPr>
                <a:t> et </a:t>
              </a:r>
              <a:r>
                <a:rPr sz="1900" dirty="0" err="1">
                  <a:solidFill>
                    <a:srgbClr val="FFFFFF"/>
                  </a:solidFill>
                  <a:latin typeface="Consolas"/>
                </a:rPr>
                <a:t>ResultatPartie</a:t>
              </a:r>
              <a:endParaRPr sz="1900" dirty="0">
                <a:solidFill>
                  <a:srgbClr val="FFFFFF"/>
                </a:solidFill>
                <a:latin typeface="Consolas"/>
              </a:endParaRPr>
            </a:p>
            <a:p>
              <a:r>
                <a:rPr sz="1400" dirty="0">
                  <a:solidFill>
                    <a:srgbClr val="BCBEC4"/>
                  </a:solidFill>
                </a:rPr>
                <a:t>fil rouge </a:t>
              </a:r>
              <a:r>
                <a:rPr sz="1400" dirty="0" err="1">
                  <a:solidFill>
                    <a:srgbClr val="BCBEC4"/>
                  </a:solidFill>
                </a:rPr>
                <a:t>GameHub</a:t>
              </a:r>
              <a:endParaRPr sz="1400" dirty="0">
                <a:solidFill>
                  <a:srgbClr val="BCBEC4"/>
                </a:solidFill>
              </a:endParaRPr>
            </a:p>
          </p:txBody>
        </p:sp>
      </p:grpSp>
      <p:grpSp>
        <p:nvGrpSpPr>
          <p:cNvPr id="24" name="Exercice 2"/>
          <p:cNvGrpSpPr/>
          <p:nvPr/>
        </p:nvGrpSpPr>
        <p:grpSpPr>
          <a:xfrm>
            <a:off x="640080" y="2560320"/>
            <a:ext cx="9326880" cy="960120"/>
            <a:chOff x="640080" y="2560320"/>
            <a:chExt cx="9326880" cy="960120"/>
          </a:xfrm>
        </p:grpSpPr>
        <p:sp>
          <p:nvSpPr>
            <p:cNvPr id="6" name="Rounded Rectangle 5"/>
            <p:cNvSpPr/>
            <p:nvPr/>
          </p:nvSpPr>
          <p:spPr>
            <a:xfrm>
              <a:off x="640080" y="2560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2560320"/>
              <a:ext cx="1920240" cy="960120"/>
            </a:xfrm>
            <a:prstGeom prst="rect">
              <a:avLst/>
            </a:prstGeom>
            <a:noFill/>
          </p:spPr>
          <p:txBody>
            <a:bodyPr wrap="none" anchor="ctr">
              <a:spAutoFit/>
            </a:bodyPr>
            <a:lstStyle/>
            <a:p>
              <a:r>
                <a:rPr sz="3000" b="1">
                  <a:solidFill>
                    <a:schemeClr val="accent4"/>
                  </a:solidFill>
                  <a:latin typeface="Consolas"/>
                </a:rPr>
                <a:t>G.7</a:t>
              </a:r>
            </a:p>
          </p:txBody>
        </p:sp>
        <p:sp>
          <p:nvSpPr>
            <p:cNvPr id="8" name="TextBox 7"/>
            <p:cNvSpPr txBox="1"/>
            <p:nvPr/>
          </p:nvSpPr>
          <p:spPr>
            <a:xfrm>
              <a:off x="2880360" y="2560320"/>
              <a:ext cx="6949440" cy="960120"/>
            </a:xfrm>
            <a:prstGeom prst="rect">
              <a:avLst/>
            </a:prstGeom>
            <a:noFill/>
          </p:spPr>
          <p:txBody>
            <a:bodyPr wrap="square" anchor="ctr">
              <a:spAutoFit/>
            </a:bodyPr>
            <a:lstStyle/>
            <a:p>
              <a:r>
                <a:rPr sz="2200">
                  <a:solidFill>
                    <a:srgbClr val="FFFFFF"/>
                  </a:solidFill>
                </a:rPr>
                <a:t>La partie porte son type et son résultat</a:t>
              </a:r>
            </a:p>
            <a:p>
              <a:r>
                <a:rPr sz="1400">
                  <a:solidFill>
                    <a:srgbClr val="BCBEC4"/>
                  </a:solidFill>
                </a:rPr>
                <a:t>fil rouge GameHub</a:t>
              </a:r>
            </a:p>
          </p:txBody>
        </p:sp>
      </p:grpSp>
      <p:grpSp>
        <p:nvGrpSpPr>
          <p:cNvPr id="25" name="Exercice 3"/>
          <p:cNvGrpSpPr/>
          <p:nvPr/>
        </p:nvGrpSpPr>
        <p:grpSpPr>
          <a:xfrm>
            <a:off x="640080" y="3703320"/>
            <a:ext cx="9326880" cy="960120"/>
            <a:chOff x="640080" y="3703320"/>
            <a:chExt cx="9326880" cy="960120"/>
          </a:xfrm>
        </p:grpSpPr>
        <p:sp>
          <p:nvSpPr>
            <p:cNvPr id="9" name="Rounded Rectangle 8"/>
            <p:cNvSpPr/>
            <p:nvPr/>
          </p:nvSpPr>
          <p:spPr>
            <a:xfrm>
              <a:off x="640080" y="3703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3703320"/>
              <a:ext cx="1920240" cy="960120"/>
            </a:xfrm>
            <a:prstGeom prst="rect">
              <a:avLst/>
            </a:prstGeom>
            <a:noFill/>
          </p:spPr>
          <p:txBody>
            <a:bodyPr wrap="none" anchor="ctr">
              <a:spAutoFit/>
            </a:bodyPr>
            <a:lstStyle/>
            <a:p>
              <a:r>
                <a:rPr sz="3000" b="1">
                  <a:solidFill>
                    <a:schemeClr val="accent4"/>
                  </a:solidFill>
                  <a:latin typeface="Consolas"/>
                </a:rPr>
                <a:t>G.8</a:t>
              </a:r>
            </a:p>
          </p:txBody>
        </p:sp>
        <p:sp>
          <p:nvSpPr>
            <p:cNvPr id="11" name="TextBox 10"/>
            <p:cNvSpPr txBox="1"/>
            <p:nvPr/>
          </p:nvSpPr>
          <p:spPr>
            <a:xfrm>
              <a:off x="2880360" y="3703320"/>
              <a:ext cx="6949440" cy="960120"/>
            </a:xfrm>
            <a:prstGeom prst="rect">
              <a:avLst/>
            </a:prstGeom>
            <a:noFill/>
          </p:spPr>
          <p:txBody>
            <a:bodyPr wrap="square" anchor="ctr">
              <a:spAutoFit/>
            </a:bodyPr>
            <a:lstStyle/>
            <a:p>
              <a:r>
                <a:rPr sz="2200">
                  <a:solidFill>
                    <a:srgbClr val="FFFFFF"/>
                  </a:solidFill>
                </a:rPr>
                <a:t>Le record </a:t>
              </a:r>
              <a:r>
                <a:rPr sz="1900">
                  <a:solidFill>
                    <a:srgbClr val="FFFFFF"/>
                  </a:solidFill>
                  <a:latin typeface="Consolas"/>
                </a:rPr>
                <a:t>ResumePartie</a:t>
              </a:r>
            </a:p>
            <a:p>
              <a:r>
                <a:rPr sz="1400">
                  <a:solidFill>
                    <a:srgbClr val="BCBEC4"/>
                  </a:solidFill>
                </a:rPr>
                <a:t>fil rouge GameHub</a:t>
              </a:r>
            </a:p>
          </p:txBody>
        </p:sp>
      </p:grpSp>
      <p:grpSp>
        <p:nvGrpSpPr>
          <p:cNvPr id="26" name="Exercice 4"/>
          <p:cNvGrpSpPr/>
          <p:nvPr/>
        </p:nvGrpSpPr>
        <p:grpSpPr>
          <a:xfrm>
            <a:off x="640080" y="4846320"/>
            <a:ext cx="9326880" cy="960120"/>
            <a:chOff x="640080" y="4846320"/>
            <a:chExt cx="9326880" cy="960120"/>
          </a:xfrm>
        </p:grpSpPr>
        <p:sp>
          <p:nvSpPr>
            <p:cNvPr id="12" name="Rounded Rectangle 11"/>
            <p:cNvSpPr/>
            <p:nvPr/>
          </p:nvSpPr>
          <p:spPr>
            <a:xfrm>
              <a:off x="640080" y="4846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68680" y="4846320"/>
              <a:ext cx="1920240" cy="960120"/>
            </a:xfrm>
            <a:prstGeom prst="rect">
              <a:avLst/>
            </a:prstGeom>
            <a:noFill/>
          </p:spPr>
          <p:txBody>
            <a:bodyPr wrap="none" anchor="ctr">
              <a:spAutoFit/>
            </a:bodyPr>
            <a:lstStyle/>
            <a:p>
              <a:r>
                <a:rPr sz="3000" b="1">
                  <a:solidFill>
                    <a:schemeClr val="accent4"/>
                  </a:solidFill>
                  <a:latin typeface="Consolas"/>
                </a:rPr>
                <a:t>G.9</a:t>
              </a:r>
            </a:p>
          </p:txBody>
        </p:sp>
        <p:sp>
          <p:nvSpPr>
            <p:cNvPr id="14" name="TextBox 13"/>
            <p:cNvSpPr txBox="1"/>
            <p:nvPr/>
          </p:nvSpPr>
          <p:spPr>
            <a:xfrm>
              <a:off x="2880360" y="4846320"/>
              <a:ext cx="6949440" cy="960120"/>
            </a:xfrm>
            <a:prstGeom prst="rect">
              <a:avLst/>
            </a:prstGeom>
            <a:noFill/>
          </p:spPr>
          <p:txBody>
            <a:bodyPr wrap="square" anchor="ctr">
              <a:spAutoFit/>
            </a:bodyPr>
            <a:lstStyle/>
            <a:p>
              <a:r>
                <a:rPr sz="2200">
                  <a:solidFill>
                    <a:srgbClr val="FFFFFF"/>
                  </a:solidFill>
                </a:rPr>
                <a:t>Choisir son jeu au lancement</a:t>
              </a:r>
            </a:p>
            <a:p>
              <a:r>
                <a:rPr sz="1400">
                  <a:solidFill>
                    <a:srgbClr val="BCBEC4"/>
                  </a:solidFill>
                </a:rPr>
                <a:t>fil rouge GameHub</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wipe(left)">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wipe(left)">
                                      <p:cBhvr>
                                        <p:cTn id="17" dur="5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wipe(left)">
                                      <p:cBhvr>
                                        <p:cTn id="22"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ThemeEphec2022">
  <a:themeElements>
    <a:clrScheme name="Personnalisé 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EC000"/>
      </a:hlink>
      <a:folHlink>
        <a:srgbClr val="EC7C31"/>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Ephec2022" id="{D8E32F0D-03A5-7849-8B4E-A5D57A69C990}" vid="{085AC1B4-7B56-B14E-B333-323D733F6681}"/>
    </a:ext>
  </a:extLst>
</a:theme>
</file>

<file path=ppt/theme/theme2.xml><?xml version="1.0" encoding="utf-8"?>
<a:theme xmlns:a="http://schemas.openxmlformats.org/drawingml/2006/main" name="Thème Office 2013 – 202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ThemeEphec2022</Template>
  <TotalTime>115295</TotalTime>
  <Words>6186</Words>
  <Application>Microsoft Macintosh PowerPoint</Application>
  <PresentationFormat>Grand écran</PresentationFormat>
  <Paragraphs>451</Paragraphs>
  <Slides>40</Slides>
  <Notes>40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40</vt:i4>
      </vt:variant>
    </vt:vector>
  </HeadingPairs>
  <TitlesOfParts>
    <vt:vector size="46" baseType="lpstr">
      <vt:lpstr>Aptos</vt:lpstr>
      <vt:lpstr>Arial</vt:lpstr>
      <vt:lpstr>Calibri</vt:lpstr>
      <vt:lpstr>Consolas</vt:lpstr>
      <vt:lpstr>Corbel</vt:lpstr>
      <vt:lpstr>ThemeEphec2022</vt:lpstr>
      <vt:lpstr>JAVA 2</vt:lpstr>
      <vt:lpstr>Au programme</vt:lpstr>
      <vt:lpstr>Présentation PowerPoint</vt:lpstr>
      <vt:lpstr>Trois couleurs, pas une de plus</vt:lpstr>
      <vt:lpstr>Il existe d'autres types que la classe</vt:lpstr>
      <vt:lpstr>Présentation PowerPoint</vt:lpstr>
      <vt:lpstr>Déclarer une énumération</vt:lpstr>
      <vt:lpstr>Ce que toute énumération sait faire</vt:lpstr>
      <vt:lpstr>L'ordre de déclaration des valeurs compte</vt:lpstr>
      <vt:lpstr>Présentation PowerPoint</vt:lpstr>
      <vt:lpstr>Démonstration</vt:lpstr>
      <vt:lpstr>Pour passer à la valeur suivante</vt:lpstr>
      <vt:lpstr>Ce que ce détour fait gagner</vt:lpstr>
      <vt:lpstr>Exercices</vt:lpstr>
      <vt:lpstr>Présentation PowerPoint</vt:lpstr>
      <vt:lpstr>Comparer deux valeurs</vt:lpstr>
      <vt:lpstr>Aiguiller : la forme classique</vt:lpstr>
      <vt:lpstr>Aiguiller : la forme à flèches</vt:lpstr>
      <vt:lpstr>Un switch qui retourne une valeur</vt:lpstr>
      <vt:lpstr>Tous les cas, sans oubli</vt:lpstr>
      <vt:lpstr>Exercices</vt:lpstr>
      <vt:lpstr>Présentation PowerPoint</vt:lpstr>
      <vt:lpstr>Une enum peut porter des données</vt:lpstr>
      <vt:lpstr>Trois détails de syntaxe</vt:lpstr>
      <vt:lpstr>Un jeu de cartes, avec des enums</vt:lpstr>
      <vt:lpstr>Le modèle du jeu</vt:lpstr>
      <vt:lpstr>Toutes les combinaisons</vt:lpstr>
      <vt:lpstr>Présentation PowerPoint</vt:lpstr>
      <vt:lpstr>Tirer un nombre au hasard</vt:lpstr>
      <vt:lpstr>Assembler un String avec un séparateur</vt:lpstr>
      <vt:lpstr>Exercices</vt:lpstr>
      <vt:lpstr>Présentation PowerPoint</vt:lpstr>
      <vt:lpstr>Une donnée, et rien d'autre</vt:lpstr>
      <vt:lpstr>Ce que le compilateur écrit</vt:lpstr>
      <vt:lpstr>Un record ne change pas</vt:lpstr>
      <vt:lpstr>Ajouter une méthode</vt:lpstr>
      <vt:lpstr>Valider à la construction</vt:lpstr>
      <vt:lpstr>Quand le record ne convient pas</vt:lpstr>
      <vt:lpstr>Exercices</vt:lpstr>
      <vt:lpstr>Le fil rouge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2</dc:title>
  <dc:creator>FERRANT Frédéric</dc:creator>
  <cp:lastModifiedBy>FERRANT Frédéric</cp:lastModifiedBy>
  <cp:revision>37</cp:revision>
  <dcterms:created xsi:type="dcterms:W3CDTF">2023-01-04T13:50:20Z</dcterms:created>
  <dcterms:modified xsi:type="dcterms:W3CDTF">2026-10-13T15:16:50Z</dcterms:modified>
</cp:coreProperties>
</file>