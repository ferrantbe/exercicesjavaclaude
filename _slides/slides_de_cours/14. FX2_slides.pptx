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6"/>
  </p:notesMasterIdLst>
  <p:handoutMasterIdLst>
    <p:handoutMasterId r:id="rId27"/>
  </p:handoutMasterIdLst>
  <p:sldIdLst>
    <p:sldId id="568" r:id="rId2"/>
    <p:sldId id="591" r:id="rId3"/>
    <p:sldId id="569" r:id="rId4"/>
    <p:sldId id="570" r:id="rId5"/>
    <p:sldId id="571" r:id="rId6"/>
    <p:sldId id="572" r:id="rId7"/>
    <p:sldId id="573" r:id="rId8"/>
    <p:sldId id="574" r:id="rId9"/>
    <p:sldId id="575" r:id="rId10"/>
    <p:sldId id="576" r:id="rId11"/>
    <p:sldId id="577" r:id="rId12"/>
    <p:sldId id="578" r:id="rId13"/>
    <p:sldId id="579" r:id="rId14"/>
    <p:sldId id="580" r:id="rId15"/>
    <p:sldId id="592" r:id="rId16"/>
    <p:sldId id="582" r:id="rId17"/>
    <p:sldId id="583" r:id="rId18"/>
    <p:sldId id="584" r:id="rId19"/>
    <p:sldId id="585" r:id="rId20"/>
    <p:sldId id="586" r:id="rId21"/>
    <p:sldId id="587" r:id="rId22"/>
    <p:sldId id="588" r:id="rId23"/>
    <p:sldId id="589" r:id="rId24"/>
    <p:sldId id="59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310C47C-C536-531A-BF2D-D4E4CB3CB5D0}">
          <p14:sldIdLst>
            <p14:sldId id="568"/>
            <p14:sldId id="591"/>
          </p14:sldIdLst>
        </p14:section>
        <p14:section name="1. Les propriétés" id="{6A268D30-B2E0-5F6E-972F-2C466EBB7583}">
          <p14:sldIdLst>
            <p14:sldId id="569"/>
            <p14:sldId id="570"/>
            <p14:sldId id="571"/>
            <p14:sldId id="572"/>
            <p14:sldId id="573"/>
            <p14:sldId id="574"/>
          </p14:sldIdLst>
        </p14:section>
        <p14:section name="2. Les bindings" id="{F0499EF8-9654-5A33-809A-9D73A78463FB}">
          <p14:sldIdLst>
            <p14:sldId id="575"/>
            <p14:sldId id="576"/>
            <p14:sldId id="577"/>
            <p14:sldId id="578"/>
            <p14:sldId id="579"/>
          </p14:sldIdLst>
        </p14:section>
        <p14:section name="3. MVC" id="{0E765E7C-62C4-5358-BF6D-EE2FAF31928C}">
          <p14:sldIdLst>
            <p14:sldId id="580"/>
            <p14:sldId id="592"/>
            <p14:sldId id="582"/>
          </p14:sldIdLst>
        </p14:section>
        <p14:section name="4. Le FXML" id="{6EE2A3DF-ED6F-5AB2-9FB6-BBAF85413F00}">
          <p14:sldIdLst>
            <p14:sldId id="583"/>
            <p14:sldId id="584"/>
            <p14:sldId id="585"/>
            <p14:sldId id="586"/>
            <p14:sldId id="587"/>
            <p14:sldId id="588"/>
            <p14:sldId id="589"/>
            <p14:sldId id="5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1"/>
  </p:normalViewPr>
  <p:slideViewPr>
    <p:cSldViewPr snapToGrid="0">
      <p:cViewPr varScale="1">
        <p:scale>
          <a:sx n="122" d="100"/>
          <a:sy n="122" d="100"/>
        </p:scale>
        <p:origin x="1400"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deck vous a appris à réagir à un geste : un clic, une touche. Celui-ci change de point de vue. Au lieu d'écouter ce que fait l'utilisateur, on observe des valeurs, et on finit par déclarer qu'une valeur dépend d'une autre, une fois pour toutes.</a:t>
            </a:r>
          </a:p>
          <a:p>
            <a:r>
              <a:t>La seconde moitié du deck prend de la hauteur. Une application qui grandit ne peut pas tout mettre dans </a:t>
            </a:r>
            <a:r>
              <a:rPr>
                <a:latin typeface="Consolas"/>
              </a:rPr>
              <a:t>start</a:t>
            </a:r>
            <a:r>
              <a:t> : on sépare ce qu'on voit de ce qui calcule, et on finit par décrire l'écran dans un fichier à part.</a:t>
            </a:r>
          </a:p>
          <a:p>
            <a:r>
              <a:t>Rien de ce deck n'est évalué à l'examen. Mais la calculatrice de FX.9 est la seule application complète du module, et c'est en la construisant que vous verrez pourquoi une architecture compte.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Les propriétés ; 2. Les bindings ; 3. MVC ; 4. Le FXML.</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Supposez qu'un libellé doive toujours afficher l'intensité de la lampe. Avec ce que vous savez, il faudrait le mettre à jour dans chaque gestionnaire qui modifie l'intensité : le bouton plus, le bouton moins, la touche flèche, et le jour où on ajoute un curseur, le curseur. Oublier un seul endroit, c'est afficher une valeur fausse.</a:t>
            </a:r>
          </a:p>
          <a:p>
            <a:r>
              <a:t>Le problème est mal posé. Ce qui compte n'est pas le geste, c'est le changement de valeur, quelle qu'en soit la cause. JavaFX permet d'observer une valeur directement : on est prévenu quand elle change, que ce soit par un clic, une saisie collée, ou une ligne de votre propre programme.</a:t>
            </a:r>
          </a:p>
          <a:p>
            <a:r>
              <a:t>C'est encore l'observateur du module ITF, appliqué cette fois à une valeur plutôt qu'à un composant.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 n'a pas de notion de propriété dans le langage. Il a une convention, plus ancienne que JavaFX : un champ privé, un accesseur </a:t>
            </a:r>
            <a:r>
              <a:rPr>
                <a:latin typeface="Consolas"/>
              </a:rPr>
              <a:t>get</a:t>
            </a:r>
            <a:r>
              <a:t> et un mutateur </a:t>
            </a:r>
            <a:r>
              <a:rPr>
                <a:latin typeface="Consolas"/>
              </a:rPr>
              <a:t>set</a:t>
            </a:r>
            <a:r>
              <a:t> qui portent son nom. C'est ce que vous écrivez depuis le module POO.</a:t>
            </a:r>
          </a:p>
          <a:p>
            <a:r>
              <a:t>JavaFX garde cette convention et y ajoute un accès : une méthode dont le nom finit par </a:t>
            </a:r>
            <a:r>
              <a:rPr>
                <a:latin typeface="Consolas"/>
              </a:rPr>
              <a:t>Property</a:t>
            </a:r>
            <a:r>
              <a:t>, et qui retourne non pas la valeur, mais l'objet qui la contient. C'est sur cet objet qu'on peut s'abonner, ou qu'on peut lier une autre valeur.</a:t>
            </a:r>
          </a:p>
          <a:p>
            <a:r>
              <a:rPr>
                <a:latin typeface="Consolas"/>
              </a:rPr>
              <a:t>IntegerProperty</a:t>
            </a:r>
            <a:r>
              <a:t> est abstraite ; on instancie </a:t>
            </a:r>
            <a:r>
              <a:rPr>
                <a:latin typeface="Consolas"/>
              </a:rPr>
              <a:t>SimpleIntegerProperty</a:t>
            </a:r>
            <a:r>
              <a:t>. Le champ est </a:t>
            </a:r>
            <a:r>
              <a:rPr>
                <a:latin typeface="Consolas"/>
              </a:rPr>
              <a:t>final</a:t>
            </a:r>
            <a:r>
              <a:t> : la propriété ne change jamais, c'est sa valeur qui change. Les contrôles JavaFX sont tous écrits sur ce modèle, et c'est ce qui vous permettra de reconnaître leurs propriétés dans la Javadoc.</a:t>
            </a:r>
          </a:p>
          <a:p>
            <a:r>
              <a:rPr lang="fr-BE" dirty="0"/>
              <a:t>Le code complet, à lancer : demos, classe demo.fx.slides.fx2.ProprietesEnConsole.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ChangeListener</a:t>
            </a:r>
            <a:r>
              <a:t> est une interface fonctionnelle, comme </a:t>
            </a:r>
            <a:r>
              <a:rPr>
                <a:latin typeface="Consolas"/>
              </a:rPr>
              <a:t>EventHandler</a:t>
            </a:r>
            <a:r>
              <a:t> : sa méthode unique, </a:t>
            </a:r>
            <a:r>
              <a:rPr>
                <a:latin typeface="Consolas"/>
              </a:rPr>
              <a:t>changed</a:t>
            </a:r>
            <a:r>
              <a:t>, reçoit trois paramètres, d'où les trois noms de la lambda.</a:t>
            </a:r>
          </a:p>
          <a:p>
            <a:r>
              <a:t>Le premier est la propriété elle-même. On l'ignore presque toujours, parce qu'on sait à quoi on s'est abonné. Il sert quand un même listener est abonné à plusieurs propriétés, et doit savoir laquelle a changé, comme </a:t>
            </a:r>
            <a:r>
              <a:rPr>
                <a:latin typeface="Consolas"/>
              </a:rPr>
              <a:t>getSource</a:t>
            </a:r>
            <a:r>
              <a:t> pour un gestionnaire.</a:t>
            </a:r>
          </a:p>
          <a:p>
            <a:r>
              <a:t>Les deux autres ont un type qui surprend. Une </a:t>
            </a:r>
            <a:r>
              <a:rPr>
                <a:latin typeface="Consolas"/>
              </a:rPr>
              <a:t>IntegerProperty</a:t>
            </a:r>
            <a:r>
              <a:t> est observable comme </a:t>
            </a:r>
            <a:r>
              <a:rPr>
                <a:latin typeface="Consolas"/>
              </a:rPr>
              <a:t>ObservableValue&lt;Number&gt;</a:t>
            </a:r>
            <a:r>
              <a:t>, et non comme une valeur </a:t>
            </a:r>
            <a:r>
              <a:rPr>
                <a:latin typeface="Consolas"/>
              </a:rPr>
              <a:t>int</a:t>
            </a:r>
            <a:r>
              <a:t> : un type générique ne peut pas être primitif, et JavaFX a choisi un type commun à tous les nombres. Le listener reçoit donc un </a:t>
            </a:r>
            <a:r>
              <a:rPr>
                <a:latin typeface="Consolas"/>
              </a:rPr>
              <a:t>Number</a:t>
            </a:r>
            <a:r>
              <a:t>, qu'on convertit par </a:t>
            </a:r>
            <a:r>
              <a:rPr>
                <a:latin typeface="Consolas"/>
              </a:rPr>
              <a:t>intValue</a:t>
            </a:r>
            <a:r>
              <a:t> ou </a:t>
            </a:r>
            <a:r>
              <a:rPr>
                <a:latin typeface="Consolas"/>
              </a:rPr>
              <a:t>doubleValue</a:t>
            </a:r>
            <a:r>
              <a:t>.</a:t>
            </a:r>
          </a:p>
          <a:p>
            <a:r>
              <a:t>Retenez surtout la dernière puce. Un listener ne dit rien tant que rien ne change : pour afficher la valeur de départ, il faut l'afficher soi-même.</a:t>
            </a:r>
          </a:p>
          <a:p>
            <a:r>
              <a:rPr lang="fr-BE" dirty="0"/>
              <a:t>Le code complet, à lancer : demos, classe demo.fx.slides.fx2.ProprietesEnConsole.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contrôles du deck précédent sont tous bâtis sur des propriétés : leur texte, leur largeur, leur visibilité, leur état coché ou désactivé. C'est ce qui permet d'observer n'importe lequel de ces attributs, sans attendre un événement particulier.</a:t>
            </a:r>
          </a:p>
          <a:p>
            <a:r>
              <a:t>Ici, la case à cocher prévient quand elle change d'état, qu'on l'ait cochée à la souris, au clavier, ou que le programme l'ait cochée par </a:t>
            </a:r>
            <a:r>
              <a:rPr>
                <a:latin typeface="Consolas"/>
              </a:rPr>
              <a:t>setSelected</a:t>
            </a:r>
            <a:r>
              <a:t>. Le paramètre </a:t>
            </a:r>
            <a:r>
              <a:rPr>
                <a:latin typeface="Consolas"/>
              </a:rPr>
              <a:t>apres</a:t>
            </a:r>
            <a:r>
              <a:t> est un </a:t>
            </a:r>
            <a:r>
              <a:rPr>
                <a:latin typeface="Consolas"/>
              </a:rPr>
              <a:t>Boolean</a:t>
            </a:r>
            <a:r>
              <a:t>, la nouvelle valeur.</a:t>
            </a:r>
          </a:p>
          <a:p>
            <a:r>
              <a:t>Pour trouver la propriété d'un contrôle, cherchez dans sa Javadoc ou dans la complétion une méthode qui finit par </a:t>
            </a:r>
            <a:r>
              <a:rPr>
                <a:latin typeface="Consolas"/>
              </a:rPr>
              <a:t>Property</a:t>
            </a:r>
            <a:r>
              <a:t>. Ctrl+Q ouvre la Javadoc sans quitter l'éditeur, voir IDE.14. C'est la démarche de FX.6.</a:t>
            </a:r>
          </a:p>
          <a:p>
            <a:r>
              <a:rPr lang="fr-BE" dirty="0"/>
              <a:t>Le code complet, à lancer : demos, classe demo.fx.slides.fx2.LanceurVariateur.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FX.6</a:t>
            </a:r>
            <a:r>
              <a:t> vous fait chercher, dans la Javadoc de </a:t>
            </a:r>
            <a:r>
              <a:rPr>
                <a:latin typeface="Consolas"/>
              </a:rPr>
              <a:t>TextField</a:t>
            </a:r>
            <a:r>
              <a:t>, la propriété à laquelle s'abonner. Ne cherchez pas ailleurs que dans l'éditeur : la démarche compte autant que la réponse.</a:t>
            </a:r>
          </a:p>
          <a:p>
            <a:r>
              <a:rPr>
                <a:latin typeface="Consolas"/>
              </a:rPr>
              <a:t>FX.7</a:t>
            </a:r>
            <a:r>
              <a:t> refait le geste sur un curseur, et vous fait rencontrer trois pièges, que l'énoncé annonce. Vous connaissez déjà deux des trois : le </a:t>
            </a:r>
            <a:r>
              <a:rPr>
                <a:latin typeface="Consolas"/>
              </a:rPr>
              <a:t>Number</a:t>
            </a:r>
            <a:r>
              <a:t>, et le listener muet à l'ouverture.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listener dit : quand ceci change, exécute ce code. Un binding dit : ceci est égal à cela. La différence paraît mince, elle ne l'est pas. Avec un listener, c'est votre code qui recopie la valeur, et il peut oublier ou se tromper. Avec un binding, il n'y a plus de code de recopie : la relation est déclarée une fois, et JavaFX la maintient.</a:t>
            </a:r>
          </a:p>
          <a:p>
            <a:r>
              <a:rPr>
                <a:latin typeface="Consolas"/>
              </a:rPr>
              <a:t>asString</a:t>
            </a:r>
            <a:r>
              <a:t> fabrique, à partir de l'intensité, un texte observable qui la suit. C'est ce texte qu'on lie au libellé. Le libellé affiche la bonne valeur dès la création du lien, et la suivra tant qu'il existe.</a:t>
            </a:r>
          </a:p>
          <a:p>
            <a:r>
              <a:t>La dernière puce est une conséquence. Si le texte du libellé est égal à l'intensité, le modifier à la main n'a plus de sens. La méthode </a:t>
            </a:r>
            <a:r>
              <a:rPr>
                <a:latin typeface="Consolas"/>
              </a:rPr>
              <a:t>unbind</a:t>
            </a:r>
            <a:r>
              <a:t> défait le lien quand il le faut.</a:t>
            </a:r>
          </a:p>
          <a:p>
            <a:r>
              <a:rPr lang="fr-BE" dirty="0"/>
              <a:t>Le code complet, à lancer : demos, classe demo.fx.slides.fx2.LanceurVariateur.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propriété ne se lie pas seulement à une autre propriété. Elle se lie à une expression, et chaque méthode du tableau fabrique une nouvelle valeur observable, qui se recalcule quand ce dont elle dépend change. Les expressions s'enchaînent : </a:t>
            </a:r>
            <a:r>
              <a:rPr>
                <a:latin typeface="Consolas"/>
              </a:rPr>
              <a:t>intensite.multiply(2).greaterThan(100)</a:t>
            </a:r>
            <a:r>
              <a:t> est un booléen qui suit l'intensité.</a:t>
            </a:r>
          </a:p>
          <a:p>
            <a:r>
              <a:t>C'est ainsi qu'on désactive un bouton sans écrire de condition dans aucun gestionnaire : </a:t>
            </a:r>
            <a:r>
              <a:rPr>
                <a:latin typeface="Consolas"/>
              </a:rPr>
              <a:t>plus.disableProperty().bind(intensite.greaterThan(99))</a:t>
            </a:r>
            <a:r>
              <a:t>. Le bouton se grise de lui-même quand la lampe est au maximum, et se réactive quand elle redescend, quel que soit le chemin qui l'y a menée.</a:t>
            </a:r>
          </a:p>
          <a:p>
            <a:r>
              <a:rPr>
                <a:latin typeface="Consolas"/>
              </a:rPr>
              <a:t>asString</a:t>
            </a:r>
            <a:r>
              <a:t> accepte aussi un format, comme </a:t>
            </a:r>
            <a:r>
              <a:rPr>
                <a:latin typeface="Consolas"/>
              </a:rPr>
              <a:t>String.format</a:t>
            </a:r>
            <a:r>
              <a:t> : </a:t>
            </a:r>
            <a:r>
              <a:rPr>
                <a:latin typeface="Consolas"/>
              </a:rPr>
              <a:t>intensite.asString("%d %%")</a:t>
            </a:r>
            <a:r>
              <a:t> affiche « 80 % ». Pour assembler plusieurs morceaux de texte, la classe </a:t>
            </a:r>
            <a:r>
              <a:rPr>
                <a:latin typeface="Consolas"/>
              </a:rPr>
              <a:t>Bindings</a:t>
            </a:r>
            <a:r>
              <a:t> offre </a:t>
            </a:r>
            <a:r>
              <a:rPr>
                <a:latin typeface="Consolas"/>
              </a:rPr>
              <a:t>concat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aucun exercice ne l'emploie.</a:t>
            </a:r>
          </a:p>
          <a:p>
            <a:r>
              <a:t>Un binding ordinaire a une source et une cible, et la cible ne s'écrit plus. Le binding bidirectionnel n'a ni l'une ni l'autre : deux propriétés sont déclarées égales, et une modification de l'une se reporte sur l'autre. C'est ce qu'on veut pour un réglage qu'on peut changer de deux endroits, ici un curseur et une valeur du programme, </a:t>
            </a:r>
            <a:r>
              <a:rPr>
                <a:latin typeface="Consolas"/>
              </a:rPr>
              <a:t>reglage</a:t>
            </a:r>
            <a:r>
              <a:t>, une </a:t>
            </a:r>
            <a:r>
              <a:rPr>
                <a:latin typeface="Consolas"/>
              </a:rPr>
              <a:t>DoubleProperty</a:t>
            </a:r>
            <a:r>
              <a:t>.</a:t>
            </a:r>
          </a:p>
          <a:p>
            <a:r>
              <a:t>Les deux propriétés doivent être du même genre : deux nombres, deux textes, deux booléens.</a:t>
            </a:r>
          </a:p>
          <a:p>
            <a:r>
              <a:rPr lang="fr-BE" dirty="0"/>
              <a:t>Le code complet, à lancer : demos, classe demo.fx.slides.fx2.LanceurVariateur.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FX.8</a:t>
            </a:r>
            <a:r>
              <a:t> impose une contrainte : aucun listener, aucun gestionnaire de clavier. Trois composants dépendent d'un champ de saisie, et chaque dépendance s'écrit en une instruction.</a:t>
            </a:r>
          </a:p>
          <a:p>
            <a:r>
              <a:t>Comparez votre code à celui de </a:t>
            </a:r>
            <a:r>
              <a:rPr>
                <a:latin typeface="Consolas"/>
              </a:rPr>
              <a:t>FX.7</a:t>
            </a:r>
            <a:r>
              <a:t> une fois fini. La question de fin vous demande ce que le binding fait disparaître, et ce qu'il vous fait perdre : les deux réponses comptent.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tout tenait dans une classe : les composants, les gestionnaires, et la règle elle-même, ce que fait un clic sur l'interrupteur. Ça suffit pour un compteur. Dès qu'une application contient une vraie logique, une calculatrice, un jeu, ce mélange coûte cher.</a:t>
            </a:r>
          </a:p>
          <a:p>
            <a:r>
              <a:t>On sépare alors trois rôles, sous le nom de MVC, modèle, vue, contrôleur. Le gain le plus visible tient dans la dernière puce. Vous avez vu au module JUN combien un test JUnit est rapide à écrire et à relancer, et au début de ce module pourquoi on ne teste pas une fenêtre. Un modèle qui n'importe rien de JavaFX se teste comme n'importe quelle classe.</a:t>
            </a:r>
          </a:p>
          <a:p>
            <a:r>
              <a:t>Le second gain est que le modèle survit à son écran. C'est exactement ce que montrait l'incrément G.33 : la pile, les règles et les stratégies du Nim sont passées de la console à une fenêtre sans une ligne changée. Seul </a:t>
            </a:r>
            <a:r>
              <a:rPr>
                <a:latin typeface="Consolas"/>
              </a:rPr>
              <a:t>JeuNim</a:t>
            </a:r>
            <a:r>
              <a:t>, qui mêlait la boucle de partie et l'affichage, n'a pas suivi.</a:t>
            </a:r>
          </a:p>
          <a:p>
            <a:r>
              <a:rPr lang="fr-BE" dirty="0"/>
              <a:t>Le schéma reprend celui du module ITF, appliqué à la lampe. L'utilisateur clique dans la vue ; le contrôleur, prévenu par onAction, demande au modèle de basculer, lit son nouvel état par estAllumee, puis met le libellé à jour. La flèche jaune est le seul chemin vers l'écran : le modèle n'y touche jamais.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règle tient dans les dépendances. Le modèle ne connaît ni les boutons ni les libellés : il dit seulement si la lampe est allumée, et sait la basculer. Le contrôleur reçoit le clic, demande au modèle d'agir, puis lit son état pour mettre la vue à jour.</a:t>
            </a:r>
          </a:p>
          <a:p>
            <a:r>
              <a:t>Comparez au deck FX1. La méthode </a:t>
            </a:r>
            <a:r>
              <a:rPr>
                <a:latin typeface="Consolas"/>
              </a:rPr>
              <a:t>basculer</a:t>
            </a:r>
            <a:r>
              <a:t> du contrôleur porte le même nom que celle de la lampe, mais elle ne décide plus de rien : elle transmet, puis affiche. Si demain la lampe a trois états au lieu de deux, c'est le modèle qui change, et le contrôleur n'aura qu'à afficher.</a:t>
            </a:r>
          </a:p>
          <a:p>
            <a:r>
              <a:t>Remarquez aussi que le modèle ne contient pas de propriété JavaFX. Ce serait tentant, pour le lier directement à la vue ; ce serait aussi importer JavaFX dans le modèle. Le modèle de FX.9 n'en contient pas.</a:t>
            </a:r>
          </a:p>
          <a:p>
            <a:r>
              <a:rPr lang="fr-BE" dirty="0"/>
              <a:t>Le code complet : demos, classe demo.fx.slides.fx2.Lampe.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Une vue construite en Java mélange deux choses : la structure de l'écran, quels conteneurs, quels contrôles, et la façon de la construire, les new et les getChildren. Le FXML ne garde que la structure, dans un fichier XML que JavaFX transforme en objets au chargement.</a:t>
            </a:r>
          </a:p>
          <a:p>
            <a:r>
              <a:rPr lang="fr-BE" dirty="0"/>
              <a:t>On y gagne une séparation de plus : le fichier décrit ce qu'on voit, le contrôleur ce qui se passe. On peut aussi le modifier sans recompiler, et le dessiner avec Scene Builder, un éditeur visuel facultatif. Son installation est décrite en IDE.29 du guide IntelliJ.</a:t>
            </a:r>
          </a:p>
          <a:p>
            <a:r>
              <a:rPr lang="fr-BE" dirty="0"/>
              <a:t>Le FXML n'est pas au programme de l'examen : la question JavaFX se résout toujours en Java. Il vous sert à comprendre comment se construisent les vraies applications, et à faire FX.9, où vous l'écrirez vous-même, guidé pas à pas par le deck FX3.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XML est un format de texte fait de balises. Un élément s'ouvre et se ferme, </a:t>
            </a:r>
            <a:r>
              <a:rPr>
                <a:latin typeface="Consolas"/>
              </a:rPr>
              <a:t>&lt;VBox&gt;</a:t>
            </a:r>
            <a:r>
              <a:t> puis </a:t>
            </a:r>
            <a:r>
              <a:rPr>
                <a:latin typeface="Consolas"/>
              </a:rPr>
              <a:t>&lt;/VBox&gt;</a:t>
            </a:r>
            <a:r>
              <a:t>, ou se ferme aussitôt, </a:t>
            </a:r>
            <a:r>
              <a:rPr>
                <a:latin typeface="Consolas"/>
              </a:rPr>
              <a:t>&lt;Label/&gt;</a:t>
            </a:r>
            <a:r>
              <a:t>, quand il n'a pas de contenu. Il contient des attributs, des paires nom et valeur entre guillemets.</a:t>
            </a:r>
          </a:p>
          <a:p>
            <a:r>
              <a:t>Le FXML donne un sens précis à chaque morceau. Ce fichier crée une </a:t>
            </a:r>
            <a:r>
              <a:rPr>
                <a:latin typeface="Consolas"/>
              </a:rPr>
              <a:t>VBox</a:t>
            </a:r>
            <a:r>
              <a:t>, lui fixe un espacement de 10 et un alignement centré, puis lui donne deux enfants. C'est mot pour mot le code que vous écriviez dans </a:t>
            </a:r>
            <a:r>
              <a:rPr>
                <a:latin typeface="Consolas"/>
              </a:rPr>
              <a:t>start</a:t>
            </a:r>
            <a:r>
              <a:t>, sans les </a:t>
            </a:r>
            <a:r>
              <a:rPr>
                <a:latin typeface="Consolas"/>
              </a:rPr>
              <a:t>new</a:t>
            </a:r>
            <a:r>
              <a:t> ni les appels.</a:t>
            </a:r>
          </a:p>
          <a:p>
            <a:r>
              <a:t>Pour savoir quels attributs un élément accepte, lisez la Javadoc de sa classe : chaque méthode qui commence par </a:t>
            </a:r>
            <a:r>
              <a:rPr>
                <a:latin typeface="Consolas"/>
              </a:rPr>
              <a:t>set</a:t>
            </a:r>
            <a:r>
              <a:t> correspond à un attribut.</a:t>
            </a:r>
          </a:p>
          <a:p>
            <a:r>
              <a:rPr lang="fr-BE" dirty="0"/>
              <a:t>Le code complet, à lancer : demos, classe demo.fx.slides.fx2.LanceurApplicationLampe.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fichier FXML n'est pas du code : Maven le range dans les ressources, qui sont copiées à côté des classes compilées. La méthode </a:t>
            </a:r>
            <a:r>
              <a:rPr>
                <a:latin typeface="Consolas"/>
              </a:rPr>
              <a:t>getResource</a:t>
            </a:r>
            <a:r>
              <a:t> le retrouve à partir de la classe, dans le même package.</a:t>
            </a:r>
          </a:p>
          <a:p>
            <a:r>
              <a:t>Le </a:t>
            </a:r>
            <a:r>
              <a:rPr>
                <a:latin typeface="Consolas"/>
              </a:rPr>
              <a:t>FXMLLoader</a:t>
            </a:r>
            <a:r>
              <a:t> lit le fichier, crée tous les objets qu'il décrit, et retourne la racine. Il peut échouer, si le fichier est absent ou mal écrit : la méthode </a:t>
            </a:r>
            <a:r>
              <a:rPr>
                <a:latin typeface="Consolas"/>
              </a:rPr>
              <a:t>load</a:t>
            </a:r>
            <a:r>
              <a:t> déclare une </a:t>
            </a:r>
            <a:r>
              <a:rPr>
                <a:latin typeface="Consolas"/>
              </a:rPr>
              <a:t>IOException</a:t>
            </a:r>
            <a:r>
              <a:t>, contrôlée, que </a:t>
            </a:r>
            <a:r>
              <a:rPr>
                <a:latin typeface="Consolas"/>
              </a:rPr>
              <a:t>start</a:t>
            </a:r>
            <a:r>
              <a:t> laisse passer par son </a:t>
            </a:r>
            <a:r>
              <a:rPr>
                <a:latin typeface="Consolas"/>
              </a:rPr>
              <a:t>throws</a:t>
            </a:r>
            <a:r>
              <a:t>. Vous retrouverez ces exceptions au module FIC.</a:t>
            </a:r>
          </a:p>
          <a:p>
            <a:r>
              <a:t>C'est exactement ce que fait la classe </a:t>
            </a:r>
            <a:r>
              <a:rPr>
                <a:latin typeface="Consolas"/>
              </a:rPr>
              <a:t>ApplicationCalculatrice</a:t>
            </a:r>
            <a:r>
              <a:t> de FX.9, qui vous est fournie. Elle ne crée aucun composant et ne branche aucun gestionnaire : tout est dans le fichier et dans le contrôleur.</a:t>
            </a:r>
          </a:p>
          <a:p>
            <a:r>
              <a:rPr lang="fr-BE" dirty="0"/>
              <a:t>Le code complet, à lancer : demos, classe demo.fx.slides.fx2.LanceurApplicationLampe.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Côté fichier, la vue de la lampe porte trois ajouts : </a:t>
            </a:r>
            <a:r>
              <a:rPr>
                <a:latin typeface="Consolas"/>
              </a:rPr>
              <a:t>fx:controller</a:t>
            </a:r>
            <a:r>
              <a:t> sur la racine, </a:t>
            </a:r>
            <a:r>
              <a:rPr>
                <a:latin typeface="Consolas"/>
              </a:rPr>
              <a:t>fx:id="etat"</a:t>
            </a:r>
            <a:r>
              <a:t> sur le libellé, </a:t>
            </a:r>
            <a:r>
              <a:rPr>
                <a:latin typeface="Consolas"/>
              </a:rPr>
              <a:t>onAction="#basculer"</a:t>
            </a:r>
            <a:r>
              <a:t> sur le bouton.</a:t>
            </a:r>
          </a:p>
          <a:p>
            <a:r>
              <a:t>Au chargement, le </a:t>
            </a:r>
            <a:r>
              <a:rPr>
                <a:latin typeface="Consolas"/>
              </a:rPr>
              <a:t>FXMLLoader</a:t>
            </a:r>
            <a:r>
              <a:t> crée un objet de la classe désignée par </a:t>
            </a:r>
            <a:r>
              <a:rPr>
                <a:latin typeface="Consolas"/>
              </a:rPr>
              <a:t>fx:controller</a:t>
            </a:r>
            <a:r>
              <a:t>. Puis, pour chaque élément qui porte un </a:t>
            </a:r>
            <a:r>
              <a:rPr>
                <a:latin typeface="Consolas"/>
              </a:rPr>
              <a:t>fx:id</a:t>
            </a:r>
            <a:r>
              <a:t>, il range l'objet créé dans le champ du contrôleur qui porte ce nom. C'est ce qu'on appelle l'injection : le contrôleur ne crée pas ses composants, il les reçoit.</a:t>
            </a:r>
          </a:p>
          <a:p>
            <a:r>
              <a:t>L'annotation </a:t>
            </a:r>
            <a:r>
              <a:rPr>
                <a:latin typeface="Consolas"/>
              </a:rPr>
              <a:t>@FXML</a:t>
            </a:r>
            <a:r>
              <a:t> autorise cet accès à un membre privé. Sans elle, le champ resterait vide, et la méthode introuvable. Le nom et le type doivent correspondre exactement à ceux du fichier.</a:t>
            </a:r>
          </a:p>
          <a:p>
            <a:r>
              <a:rPr>
                <a:latin typeface="Consolas"/>
              </a:rPr>
              <a:t>onAction</a:t>
            </a:r>
            <a:r>
              <a:t> remplace le </a:t>
            </a:r>
            <a:r>
              <a:rPr>
                <a:latin typeface="Consolas"/>
              </a:rPr>
              <a:t>setOnAction</a:t>
            </a:r>
            <a:r>
              <a:t> du deck FX1 : le dièse désigne une méthode du contrôleur. Elle reçoit l'événement, et </a:t>
            </a:r>
            <a:r>
              <a:rPr>
                <a:latin typeface="Consolas"/>
              </a:rPr>
              <a:t>getSource</a:t>
            </a:r>
            <a:r>
              <a:t> reste disponible. C'est ce qui permettra à FX.9 de brancher dix boutons sur une seule méthode.</a:t>
            </a:r>
          </a:p>
          <a:p>
            <a:r>
              <a:rPr lang="fr-BE" dirty="0"/>
              <a:t>Le code complet, à lancer : demos, classe demo.fx.slides.fx2.LanceurApplicationLampe.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FX.9 est la seule application complète du module, et le deck FX3, « La calculatrice, pas à pas », la construit avec vous : la vue en FXML d'abord, puis le contrôleur branché sur ses boutons, enfin le modèle et les opérateurs. La classe d'application et le Lanceur sont fournis.</a:t>
            </a:r>
          </a:p>
          <a:p>
            <a:r>
              <a:rPr lang="fr-BE" dirty="0"/>
              <a:t>Suivez le deck dans l'ordre, et faites chaque étape dans votre projet au moment où elle est montrée. Quand vient le modèle, vérifiez-le avant d'écrire les opérateurs : la première question de fin vous demande d'écrire sa classe de test, et c'est le bon moment. Un contrôleur qui appelle un modèle juste est bien plus simple à mettre au point.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démineur est un projet à part, livré séparément du recueil. Il applique exactement ce que la section 3 a posé : toute la logique du jeu tient dans une classe </a:t>
            </a:r>
            <a:r>
              <a:rPr>
                <a:latin typeface="Consolas"/>
              </a:rPr>
              <a:t>Grille</a:t>
            </a:r>
            <a:r>
              <a:t>, qui ne connaît rien à JavaFX, et que des tests JUnit vérifient. L'interface, elle, vous est donnée.</a:t>
            </a:r>
          </a:p>
          <a:p>
            <a:r>
              <a:t>C'est un travail facultatif, à faire à votre rythme, et un bon entraînement à la frontière entre modèle et vue : les tests vous disent si votre grille est juste avant même que vous ne lanciez une partie.</a:t>
            </a:r>
          </a:p>
          <a:p>
            <a:r>
              <a:t>Le module compte un dixième exercice, </a:t>
            </a:r>
            <a:r>
              <a:rPr>
                <a:latin typeface="Consolas"/>
              </a:rPr>
              <a:t>FX.10</a:t>
            </a:r>
            <a:r>
              <a:t>, sur les threads d'une application graphique. Il est hors examen et n'est pas traité en séance.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deck FX1 se terminait sur une question : les boutons qui prendraient plus d'allumettes qu'il n'en reste devraient être désactivés, mais où écrire cette règle, et combien de fois ?</a:t>
            </a:r>
          </a:p>
          <a:p>
            <a:r>
              <a:rPr>
                <a:latin typeface="Consolas"/>
              </a:rPr>
              <a:t>G.34</a:t>
            </a:r>
            <a:r>
              <a:t> y répond par un binding. La fenêtre du Nim tient une </a:t>
            </a:r>
            <a:r>
              <a:rPr>
                <a:latin typeface="Consolas"/>
              </a:rPr>
              <a:t>IntegerProperty</a:t>
            </a:r>
            <a:r>
              <a:t> qui suit la taille de la pile, et chaque bouton se désactive par une seule instruction : celui qui prend trois allumettes, quand il en reste moins de trois. À la fin, tous sont grisés, sans aucune condition « partie finie ». Les classes du Nim, elles, ne changent toujours pas.</a:t>
            </a:r>
          </a:p>
          <a:p>
            <a:r>
              <a:t>Avant d'écrire une ligne, demandez-vous qui met cette propriété à jour, et pourquoi elle vit dans la fenêtre plutôt que dans la pile.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seconde partie</a:t>
            </a:r>
          </a:p>
          <a:p>
            <a:r>
              <a:t>Propriétés et architecture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2"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Les propriétés</a:t>
              </a:r>
            </a:p>
          </p:txBody>
        </p:sp>
      </p:grpSp>
      <p:grpSp>
        <p:nvGrpSpPr>
          <p:cNvPr id="13"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Les bindings</a:t>
              </a:r>
            </a:p>
          </p:txBody>
        </p:sp>
      </p:grpSp>
      <p:grpSp>
        <p:nvGrpSpPr>
          <p:cNvPr id="14"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MVC</a:t>
              </a:r>
            </a:p>
          </p:txBody>
        </p:sp>
      </p:grpSp>
      <p:grpSp>
        <p:nvGrpSpPr>
          <p:cNvPr id="15"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 FXML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1.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29240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1. Une valeur qui prévient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Réagir à un geste, ou à une valeur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a:t>
            </a:r>
            <a:r>
              <a:rPr sz="2800" dirty="0" err="1"/>
              <a:t>gestionnaire</a:t>
            </a:r>
            <a:r>
              <a:rPr sz="2800" dirty="0"/>
              <a:t> </a:t>
            </a:r>
            <a:r>
              <a:rPr sz="2800" dirty="0" err="1"/>
              <a:t>réagit</a:t>
            </a:r>
            <a:r>
              <a:rPr sz="2800" dirty="0"/>
              <a:t> à un </a:t>
            </a:r>
            <a:r>
              <a:rPr sz="2800" dirty="0" err="1"/>
              <a:t>geste</a:t>
            </a:r>
            <a:r>
              <a:rPr sz="2800" dirty="0"/>
              <a:t> de </a:t>
            </a:r>
            <a:r>
              <a:rPr sz="2800" dirty="0" err="1"/>
              <a:t>l'utilisateur</a:t>
            </a:r>
            <a:endParaRPr sz="2800" dirty="0"/>
          </a:p>
          <a:p>
            <a:pPr marL="0" indent="0">
              <a:spcAft>
                <a:spcPts val="1000"/>
              </a:spcAft>
              <a:buNone/>
            </a:pPr>
            <a:r>
              <a:rPr sz="2800" dirty="0"/>
              <a:t>Une </a:t>
            </a:r>
            <a:r>
              <a:rPr sz="2800" dirty="0" err="1"/>
              <a:t>valeur</a:t>
            </a:r>
            <a:r>
              <a:rPr sz="2800" dirty="0"/>
              <a:t> </a:t>
            </a:r>
            <a:r>
              <a:rPr sz="2800" dirty="0" err="1"/>
              <a:t>peut</a:t>
            </a:r>
            <a:r>
              <a:rPr sz="2800" dirty="0"/>
              <a:t> changer sans </a:t>
            </a:r>
            <a:r>
              <a:rPr sz="2800" dirty="0" err="1"/>
              <a:t>aucun</a:t>
            </a:r>
            <a:r>
              <a:rPr sz="2800" dirty="0"/>
              <a:t> </a:t>
            </a:r>
            <a:r>
              <a:rPr sz="2800" dirty="0" err="1"/>
              <a:t>geste</a:t>
            </a:r>
            <a:r>
              <a:rPr sz="2800" dirty="0"/>
              <a:t> : un collage, un </a:t>
            </a:r>
            <a:r>
              <a:rPr sz="2800" dirty="0" err="1"/>
              <a:t>calcul</a:t>
            </a:r>
            <a:r>
              <a:rPr sz="2800" dirty="0"/>
              <a:t>, le </a:t>
            </a:r>
            <a:r>
              <a:rPr sz="2800" dirty="0" err="1"/>
              <a:t>programme</a:t>
            </a:r>
            <a:r>
              <a:rPr sz="2800" dirty="0"/>
              <a:t> </a:t>
            </a:r>
            <a:r>
              <a:rPr sz="2800" dirty="0" err="1"/>
              <a:t>lui-même</a:t>
            </a:r>
            <a:endParaRPr sz="2800" dirty="0"/>
          </a:p>
          <a:p>
            <a:pPr marL="0" indent="0">
              <a:spcAft>
                <a:spcPts val="1000"/>
              </a:spcAft>
              <a:buNone/>
            </a:pPr>
            <a:r>
              <a:rPr sz="2800" dirty="0"/>
              <a:t>Ce </a:t>
            </a:r>
            <a:r>
              <a:rPr sz="2800" dirty="0" err="1"/>
              <a:t>qu'on</a:t>
            </a:r>
            <a:r>
              <a:rPr sz="2800" dirty="0"/>
              <a:t> </a:t>
            </a:r>
            <a:r>
              <a:rPr sz="2800" dirty="0" err="1"/>
              <a:t>veut</a:t>
            </a:r>
            <a:r>
              <a:rPr sz="2800" dirty="0"/>
              <a:t> </a:t>
            </a:r>
            <a:r>
              <a:rPr sz="2800" dirty="0" err="1"/>
              <a:t>souvent</a:t>
            </a:r>
            <a:r>
              <a:rPr sz="2800" dirty="0"/>
              <a:t> savoir, </a:t>
            </a:r>
            <a:r>
              <a:rPr sz="2800" dirty="0" err="1"/>
              <a:t>c'est</a:t>
            </a:r>
            <a:r>
              <a:rPr sz="2800" dirty="0"/>
              <a:t> </a:t>
            </a:r>
            <a:r>
              <a:rPr sz="2800" dirty="0" err="1"/>
              <a:t>que</a:t>
            </a:r>
            <a:r>
              <a:rPr sz="2800" dirty="0"/>
              <a:t> la </a:t>
            </a:r>
            <a:r>
              <a:rPr sz="2800" dirty="0" err="1"/>
              <a:t>valeur</a:t>
            </a:r>
            <a:r>
              <a:rPr sz="2800" dirty="0"/>
              <a:t> a </a:t>
            </a:r>
            <a:r>
              <a:rPr sz="2800" dirty="0" err="1"/>
              <a:t>changé</a:t>
            </a:r>
            <a:endParaRPr sz="2800" dirty="0"/>
          </a:p>
          <a:p>
            <a:pPr marL="0" indent="0">
              <a:spcAft>
                <a:spcPts val="1000"/>
              </a:spcAft>
              <a:buNone/>
            </a:pPr>
            <a:r>
              <a:rPr sz="2800" dirty="0">
                <a:solidFill>
                  <a:schemeClr val="accent4"/>
                </a:solidFill>
                <a:latin typeface="Consolas"/>
              </a:rPr>
              <a:t>JavaFX</a:t>
            </a:r>
            <a:r>
              <a:rPr sz="2800" dirty="0"/>
              <a:t> rend les </a:t>
            </a:r>
            <a:r>
              <a:rPr sz="2800" dirty="0" err="1"/>
              <a:t>valeurs</a:t>
            </a:r>
            <a:r>
              <a:rPr sz="2800" dirty="0"/>
              <a:t> observables : </a:t>
            </a:r>
            <a:r>
              <a:rPr sz="2800" dirty="0" err="1"/>
              <a:t>ce</a:t>
            </a:r>
            <a:r>
              <a:rPr sz="2800" dirty="0"/>
              <a:t> </a:t>
            </a:r>
            <a:r>
              <a:rPr sz="2800" dirty="0" err="1"/>
              <a:t>sont</a:t>
            </a:r>
            <a:r>
              <a:rPr sz="2800" dirty="0"/>
              <a:t> les </a:t>
            </a:r>
            <a:r>
              <a:rPr sz="2800" dirty="0" err="1">
                <a:solidFill>
                  <a:schemeClr val="accent4"/>
                </a:solidFill>
              </a:rPr>
              <a:t>propriétés</a:t>
            </a:r>
            <a:endParaRPr sz="2800" dirty="0">
              <a:solidFill>
                <a:schemeClr val="accent4"/>
              </a:solidFill>
            </a:endParaRP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propriété est un objet</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 champ ordinaire a un accesseur et un mutateur</a:t>
            </a:r>
          </a:p>
          <a:p>
            <a:pPr marL="0" indent="0">
              <a:spcAft>
                <a:spcPts val="1000"/>
              </a:spcAft>
              <a:buNone/>
            </a:pPr>
            <a:r>
              <a:rPr sz="2600"/>
              <a:t>Une propriété </a:t>
            </a:r>
            <a:r>
              <a:rPr sz="2600">
                <a:solidFill>
                  <a:schemeClr val="accent4"/>
                </a:solidFill>
                <a:latin typeface="Consolas"/>
              </a:rPr>
              <a:t>JavaFX</a:t>
            </a:r>
            <a:r>
              <a:rPr sz="2600"/>
              <a:t> y ajoute un troisième accès, qui retourne l'objet lui-même</a:t>
            </a:r>
          </a:p>
          <a:p>
            <a:pPr marL="0" indent="0">
              <a:spcAft>
                <a:spcPts val="1000"/>
              </a:spcAft>
              <a:buNone/>
            </a:pPr>
            <a:r>
              <a:rPr sz="2600"/>
              <a:t>Il existe une classe par type : </a:t>
            </a:r>
            <a:r>
              <a:rPr sz="2200">
                <a:solidFill>
                  <a:schemeClr val="accent4"/>
                </a:solidFill>
                <a:latin typeface="Consolas"/>
              </a:rPr>
              <a:t>IntegerProperty</a:t>
            </a:r>
            <a:r>
              <a:rPr sz="2600"/>
              <a:t>, </a:t>
            </a:r>
            <a:r>
              <a:rPr sz="2200">
                <a:solidFill>
                  <a:schemeClr val="accent4"/>
                </a:solidFill>
                <a:latin typeface="Consolas"/>
              </a:rPr>
              <a:t>DoubleProperty</a:t>
            </a:r>
            <a:r>
              <a:rPr sz="2600"/>
              <a:t>, </a:t>
            </a:r>
            <a:r>
              <a:rPr sz="2200">
                <a:solidFill>
                  <a:schemeClr val="accent4"/>
                </a:solidFill>
                <a:latin typeface="Consolas"/>
              </a:rPr>
              <a:t>StringProperty</a:t>
            </a:r>
            <a:r>
              <a:rPr sz="2600"/>
              <a:t>, </a:t>
            </a:r>
            <a:r>
              <a:rPr sz="2200">
                <a:solidFill>
                  <a:schemeClr val="accent4"/>
                </a:solidFill>
                <a:latin typeface="Consolas"/>
              </a:rPr>
              <a:t>BooleanProperty</a:t>
            </a:r>
          </a:p>
        </p:txBody>
      </p:sp>
      <p:sp>
        <p:nvSpPr>
          <p:cNvPr id="4" name="Code"/>
          <p:cNvSpPr txBox="1"/>
          <p:nvPr/>
        </p:nvSpPr>
        <p:spPr>
          <a:xfrm>
            <a:off x="640080" y="4008119"/>
            <a:ext cx="1088136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IntegerProperty intensite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SimpleIntegerProperty</a:t>
            </a:r>
            <a:r>
              <a:rPr sz="1800">
                <a:solidFill>
                  <a:srgbClr val="BCBEC4"/>
                </a:solidFill>
                <a:latin typeface="Consolas"/>
              </a:rPr>
              <a:t>(</a:t>
            </a:r>
            <a:r>
              <a:rPr sz="1800">
                <a:solidFill>
                  <a:srgbClr val="2AACB8"/>
                </a:solidFill>
                <a:latin typeface="Consolas"/>
              </a:rPr>
              <a:t>50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getIntensite</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intensite.</a:t>
            </a:r>
            <a:r>
              <a:rPr sz="1800">
                <a:solidFill>
                  <a:srgbClr val="56A8F5"/>
                </a:solidFill>
                <a:latin typeface="Consolas"/>
              </a:rPr>
              <a:t>get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setIntensite</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valeur) { intensite.</a:t>
            </a:r>
            <a:r>
              <a:rPr sz="1800">
                <a:solidFill>
                  <a:srgbClr val="56A8F5"/>
                </a:solidFill>
                <a:latin typeface="Consolas"/>
              </a:rPr>
              <a:t>set</a:t>
            </a:r>
            <a:r>
              <a:rPr sz="1800">
                <a:solidFill>
                  <a:srgbClr val="BCBEC4"/>
                </a:solidFill>
                <a:latin typeface="Consolas"/>
              </a:rPr>
              <a:t>(valeur);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IntegerProperty </a:t>
            </a:r>
            <a:r>
              <a:rPr sz="1800">
                <a:solidFill>
                  <a:srgbClr val="56A8F5"/>
                </a:solidFill>
                <a:latin typeface="Consolas"/>
              </a:rPr>
              <a:t>intensiteProperty</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intensite;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S'abonner à un changement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La méthode </a:t>
            </a:r>
            <a:r>
              <a:rPr sz="2400">
                <a:solidFill>
                  <a:schemeClr val="accent4"/>
                </a:solidFill>
                <a:latin typeface="Consolas"/>
              </a:rPr>
              <a:t>addListener</a:t>
            </a:r>
            <a:r>
              <a:rPr sz="2800"/>
              <a:t> abonne un </a:t>
            </a:r>
            <a:r>
              <a:rPr sz="2400">
                <a:solidFill>
                  <a:schemeClr val="accent4"/>
                </a:solidFill>
                <a:latin typeface="Consolas"/>
              </a:rPr>
              <a:t>ChangeListener</a:t>
            </a:r>
            <a:r>
              <a:rPr sz="2800"/>
              <a:t> à la propriété</a:t>
            </a:r>
          </a:p>
          <a:p>
            <a:pPr marL="0" indent="0">
              <a:spcAft>
                <a:spcPts val="1000"/>
              </a:spcAft>
              <a:buNone/>
            </a:pPr>
            <a:r>
              <a:rPr sz="2800"/>
              <a:t>Il reçoit trois choses : la propriété, l'ancienne valeur, la nouvelle</a:t>
            </a:r>
          </a:p>
          <a:p>
            <a:pPr marL="0" indent="0">
              <a:spcAft>
                <a:spcPts val="1000"/>
              </a:spcAft>
              <a:buNone/>
            </a:pPr>
            <a:r>
              <a:rPr sz="2800"/>
              <a:t>Il n'est appelé qu'aux changements, jamais à l'abonnement</a:t>
            </a:r>
          </a:p>
        </p:txBody>
      </p:sp>
      <p:sp>
        <p:nvSpPr>
          <p:cNvPr id="4" name="Code"/>
          <p:cNvSpPr txBox="1"/>
          <p:nvPr/>
        </p:nvSpPr>
        <p:spPr>
          <a:xfrm>
            <a:off x="1529468" y="4587240"/>
            <a:ext cx="9133063" cy="727362"/>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intensite.</a:t>
            </a:r>
            <a:r>
              <a:rPr sz="1750" dirty="0" err="1">
                <a:solidFill>
                  <a:srgbClr val="56A8F5"/>
                </a:solidFill>
                <a:latin typeface="Consolas"/>
              </a:rPr>
              <a:t>set</a:t>
            </a:r>
            <a:r>
              <a:rPr sz="1750" dirty="0">
                <a:solidFill>
                  <a:srgbClr val="BCBEC4"/>
                </a:solidFill>
                <a:latin typeface="Consolas"/>
              </a:rPr>
              <a:t>(</a:t>
            </a:r>
            <a:r>
              <a:rPr sz="1750" dirty="0">
                <a:solidFill>
                  <a:srgbClr val="2AACB8"/>
                </a:solidFill>
                <a:latin typeface="Consolas"/>
              </a:rPr>
              <a:t>80</a:t>
            </a:r>
            <a:r>
              <a:rPr sz="1750" dirty="0">
                <a:solidFill>
                  <a:srgbClr val="BCBEC4"/>
                </a:solidFill>
                <a:latin typeface="Consolas"/>
              </a:rPr>
              <a:t>);   </a:t>
            </a:r>
            <a:r>
              <a:rPr sz="1750" dirty="0">
                <a:solidFill>
                  <a:srgbClr val="7A7E85"/>
                </a:solidFill>
                <a:latin typeface="Consolas"/>
              </a:rPr>
              <a:t>// affiche 50 -&gt; 80</a:t>
            </a:r>
          </a:p>
          <a:p>
            <a:pPr>
              <a:lnSpc>
                <a:spcPct val="100000"/>
              </a:lnSpc>
              <a:spcBef>
                <a:spcPts val="0"/>
              </a:spcBef>
              <a:spcAft>
                <a:spcPts val="0"/>
              </a:spcAft>
            </a:pPr>
            <a:r>
              <a:rPr sz="1750" dirty="0" err="1">
                <a:solidFill>
                  <a:srgbClr val="BCBEC4"/>
                </a:solidFill>
                <a:latin typeface="Consolas"/>
              </a:rPr>
              <a:t>intensite.</a:t>
            </a:r>
            <a:r>
              <a:rPr sz="1750" dirty="0" err="1">
                <a:solidFill>
                  <a:srgbClr val="56A8F5"/>
                </a:solidFill>
                <a:latin typeface="Consolas"/>
              </a:rPr>
              <a:t>set</a:t>
            </a:r>
            <a:r>
              <a:rPr sz="1750" dirty="0">
                <a:solidFill>
                  <a:srgbClr val="BCBEC4"/>
                </a:solidFill>
                <a:latin typeface="Consolas"/>
              </a:rPr>
              <a:t>(</a:t>
            </a:r>
            <a:r>
              <a:rPr sz="1750" dirty="0">
                <a:solidFill>
                  <a:srgbClr val="2AACB8"/>
                </a:solidFill>
                <a:latin typeface="Consolas"/>
              </a:rPr>
              <a:t>80</a:t>
            </a:r>
            <a:r>
              <a:rPr sz="1750" dirty="0">
                <a:solidFill>
                  <a:srgbClr val="BCBEC4"/>
                </a:solidFill>
                <a:latin typeface="Consolas"/>
              </a:rPr>
              <a:t>);   </a:t>
            </a:r>
            <a:r>
              <a:rPr sz="1750" dirty="0">
                <a:solidFill>
                  <a:srgbClr val="7A7E85"/>
                </a:solidFill>
                <a:latin typeface="Consolas"/>
              </a:rPr>
              <a:t>// </a:t>
            </a:r>
            <a:r>
              <a:rPr sz="1750" dirty="0" err="1">
                <a:solidFill>
                  <a:srgbClr val="7A7E85"/>
                </a:solidFill>
                <a:latin typeface="Consolas"/>
              </a:rPr>
              <a:t>n'affiche</a:t>
            </a:r>
            <a:r>
              <a:rPr sz="1750" dirty="0">
                <a:solidFill>
                  <a:srgbClr val="7A7E85"/>
                </a:solidFill>
                <a:latin typeface="Consolas"/>
              </a:rPr>
              <a:t> rien : la </a:t>
            </a:r>
            <a:r>
              <a:rPr sz="1750" dirty="0" err="1">
                <a:solidFill>
                  <a:srgbClr val="7A7E85"/>
                </a:solidFill>
                <a:latin typeface="Consolas"/>
              </a:rPr>
              <a:t>valeur</a:t>
            </a:r>
            <a:r>
              <a:rPr sz="1750" dirty="0">
                <a:solidFill>
                  <a:srgbClr val="7A7E85"/>
                </a:solidFill>
                <a:latin typeface="Consolas"/>
              </a:rPr>
              <a:t> </a:t>
            </a:r>
            <a:r>
              <a:rPr sz="1750" dirty="0" err="1">
                <a:solidFill>
                  <a:srgbClr val="7A7E85"/>
                </a:solidFill>
                <a:latin typeface="Consolas"/>
              </a:rPr>
              <a:t>n'a</a:t>
            </a:r>
            <a:r>
              <a:rPr sz="1750" dirty="0">
                <a:solidFill>
                  <a:srgbClr val="7A7E85"/>
                </a:solidFill>
                <a:latin typeface="Consolas"/>
              </a:rPr>
              <a:t> pas change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
        <p:nvSpPr>
          <p:cNvPr id="7" name="Code">
            <a:extLst>
              <a:ext uri="{FF2B5EF4-FFF2-40B4-BE49-F238E27FC236}">
                <a16:creationId xmlns:a16="http://schemas.microsoft.com/office/drawing/2014/main" id="{F2AC6CB1-8E7C-33DF-AE10-A1B239AE5948}"/>
              </a:ext>
            </a:extLst>
          </p:cNvPr>
          <p:cNvSpPr txBox="1"/>
          <p:nvPr/>
        </p:nvSpPr>
        <p:spPr>
          <a:xfrm>
            <a:off x="1529468" y="3722717"/>
            <a:ext cx="9133063" cy="727362"/>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intensite.</a:t>
            </a:r>
            <a:r>
              <a:rPr sz="1750" dirty="0" err="1">
                <a:solidFill>
                  <a:srgbClr val="56A8F5"/>
                </a:solidFill>
                <a:latin typeface="Consolas"/>
              </a:rPr>
              <a:t>addListener</a:t>
            </a:r>
            <a:r>
              <a:rPr sz="1750" dirty="0">
                <a:solidFill>
                  <a:srgbClr val="BCBEC4"/>
                </a:solidFill>
                <a:latin typeface="Consolas"/>
              </a:rPr>
              <a:t>((</a:t>
            </a:r>
            <a:r>
              <a:rPr sz="1750" dirty="0" err="1">
                <a:solidFill>
                  <a:srgbClr val="BCBEC4"/>
                </a:solidFill>
                <a:latin typeface="Consolas"/>
              </a:rPr>
              <a:t>propriete</a:t>
            </a:r>
            <a:r>
              <a:rPr sz="1750" dirty="0">
                <a:solidFill>
                  <a:srgbClr val="BCBEC4"/>
                </a:solidFill>
                <a:latin typeface="Consolas"/>
              </a:rPr>
              <a:t>, </a:t>
            </a:r>
            <a:r>
              <a:rPr sz="1750" dirty="0" err="1">
                <a:solidFill>
                  <a:srgbClr val="BCBEC4"/>
                </a:solidFill>
                <a:latin typeface="Consolas"/>
              </a:rPr>
              <a:t>ancienne</a:t>
            </a:r>
            <a:r>
              <a:rPr sz="1750" dirty="0">
                <a:solidFill>
                  <a:srgbClr val="BCBEC4"/>
                </a:solidFill>
                <a:latin typeface="Consolas"/>
              </a:rPr>
              <a:t>, nouvelle) -&gt;</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System.out.</a:t>
            </a:r>
            <a:r>
              <a:rPr sz="1750" dirty="0" err="1">
                <a:solidFill>
                  <a:srgbClr val="56A8F5"/>
                </a:solidFill>
                <a:latin typeface="Consolas"/>
              </a:rPr>
              <a:t>println</a:t>
            </a:r>
            <a:r>
              <a:rPr sz="1750" dirty="0">
                <a:solidFill>
                  <a:srgbClr val="BCBEC4"/>
                </a:solidFill>
                <a:latin typeface="Consolas"/>
              </a:rPr>
              <a:t>(</a:t>
            </a:r>
            <a:r>
              <a:rPr sz="1750" dirty="0" err="1">
                <a:solidFill>
                  <a:srgbClr val="BCBEC4"/>
                </a:solidFill>
                <a:latin typeface="Consolas"/>
              </a:rPr>
              <a:t>ancienne</a:t>
            </a:r>
            <a:r>
              <a:rPr sz="1750" dirty="0">
                <a:solidFill>
                  <a:srgbClr val="BCBEC4"/>
                </a:solidFill>
                <a:latin typeface="Consolas"/>
              </a:rPr>
              <a:t> + </a:t>
            </a:r>
            <a:r>
              <a:rPr sz="1750" dirty="0">
                <a:solidFill>
                  <a:srgbClr val="6AAB73"/>
                </a:solidFill>
                <a:latin typeface="Consolas"/>
              </a:rPr>
              <a:t>" -&gt; "</a:t>
            </a:r>
            <a:r>
              <a:rPr sz="1750" dirty="0">
                <a:solidFill>
                  <a:srgbClr val="BCBEC4"/>
                </a:solidFill>
                <a:latin typeface="Consolas"/>
              </a:rPr>
              <a:t> + nouvelle));</a:t>
            </a:r>
            <a:endParaRPr sz="1750" dirty="0">
              <a:solidFill>
                <a:srgbClr val="7A7E85"/>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contrôles en ont aussi</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Presque tout ce qu'affiche un contrôle est une propriété</a:t>
            </a:r>
          </a:p>
          <a:p>
            <a:pPr marL="0" indent="0">
              <a:spcAft>
                <a:spcPts val="1000"/>
              </a:spcAft>
              <a:buNone/>
            </a:pPr>
            <a:r>
              <a:rPr sz="2800"/>
              <a:t>Une </a:t>
            </a:r>
            <a:r>
              <a:rPr sz="2400">
                <a:solidFill>
                  <a:schemeClr val="accent4"/>
                </a:solidFill>
                <a:latin typeface="Consolas"/>
              </a:rPr>
              <a:t>CheckBox</a:t>
            </a:r>
            <a:r>
              <a:rPr sz="2800"/>
              <a:t> a une </a:t>
            </a:r>
            <a:r>
              <a:rPr sz="2400">
                <a:solidFill>
                  <a:schemeClr val="accent4"/>
                </a:solidFill>
                <a:latin typeface="Consolas"/>
              </a:rPr>
              <a:t>selectedProperty</a:t>
            </a:r>
            <a:r>
              <a:rPr sz="2800"/>
              <a:t>, un </a:t>
            </a:r>
            <a:r>
              <a:rPr sz="2400">
                <a:solidFill>
                  <a:schemeClr val="accent4"/>
                </a:solidFill>
                <a:latin typeface="Consolas"/>
              </a:rPr>
              <a:t>Label</a:t>
            </a:r>
            <a:r>
              <a:rPr sz="2800"/>
              <a:t> une </a:t>
            </a:r>
            <a:r>
              <a:rPr sz="2400">
                <a:solidFill>
                  <a:schemeClr val="accent4"/>
                </a:solidFill>
                <a:latin typeface="Consolas"/>
              </a:rPr>
              <a:t>textProperty</a:t>
            </a:r>
          </a:p>
          <a:p>
            <a:pPr marL="0" indent="0">
              <a:spcAft>
                <a:spcPts val="1000"/>
              </a:spcAft>
              <a:buNone/>
            </a:pPr>
            <a:r>
              <a:rPr sz="2800"/>
              <a:t>On s'y abonne exactement comme à la sienne</a:t>
            </a:r>
          </a:p>
        </p:txBody>
      </p:sp>
      <p:sp>
        <p:nvSpPr>
          <p:cNvPr id="4" name="Code"/>
          <p:cNvSpPr txBox="1"/>
          <p:nvPr/>
        </p:nvSpPr>
        <p:spPr>
          <a:xfrm>
            <a:off x="1543050" y="4160520"/>
            <a:ext cx="91059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CheckBox veilleuse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CheckBox</a:t>
            </a:r>
            <a:r>
              <a:rPr sz="1800">
                <a:solidFill>
                  <a:srgbClr val="BCBEC4"/>
                </a:solidFill>
                <a:latin typeface="Consolas"/>
              </a:rPr>
              <a:t>(</a:t>
            </a:r>
            <a:r>
              <a:rPr sz="1800">
                <a:solidFill>
                  <a:srgbClr val="6AAB73"/>
                </a:solidFill>
                <a:latin typeface="Consolas"/>
              </a:rPr>
              <a:t>"Veilleuse"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veilleuse.</a:t>
            </a:r>
            <a:r>
              <a:rPr sz="1800">
                <a:solidFill>
                  <a:srgbClr val="56A8F5"/>
                </a:solidFill>
                <a:latin typeface="Consolas"/>
              </a:rPr>
              <a:t>selectedProperty</a:t>
            </a:r>
            <a:r>
              <a:rPr sz="1800">
                <a:solidFill>
                  <a:srgbClr val="BCBEC4"/>
                </a:solidFill>
                <a:latin typeface="Consolas"/>
              </a:rPr>
              <a:t>().</a:t>
            </a:r>
            <a:r>
              <a:rPr sz="1800">
                <a:solidFill>
                  <a:srgbClr val="56A8F5"/>
                </a:solidFill>
                <a:latin typeface="Consolas"/>
              </a:rPr>
              <a:t>addListener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(propriete, avant, apres) -&gt; </a:t>
            </a:r>
            <a:r>
              <a:rPr sz="1800">
                <a:solidFill>
                  <a:srgbClr val="56A8F5"/>
                </a:solidFill>
                <a:latin typeface="Consolas"/>
              </a:rPr>
              <a:t>passerEnVeilleuse</a:t>
            </a:r>
            <a:r>
              <a:rPr sz="1800">
                <a:solidFill>
                  <a:srgbClr val="BCBEC4"/>
                </a:solidFill>
                <a:latin typeface="Consolas"/>
              </a:rPr>
              <a:t>(apres));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Écouter une propriété</a:t>
              </a:r>
            </a:p>
            <a:p>
              <a:r>
                <a:rPr sz="1400">
                  <a:solidFill>
                    <a:srgbClr val="BCBEC4"/>
                  </a:solidFill>
                </a:rPr>
                <a:t>fascicule FX</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FX.7</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Slider et un Label</a:t>
              </a:r>
            </a:p>
            <a:p>
              <a:r>
                <a:rPr sz="1400">
                  <a:solidFill>
                    <a:srgbClr val="BCBEC4"/>
                  </a:solidFill>
                </a:rPr>
                <a:t>fascicule 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2.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866540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2. Lier plutôt qu'écouter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dépendance déclarée</a:t>
            </a:r>
          </a:p>
        </p:txBody>
      </p:sp>
      <p:sp>
        <p:nvSpPr>
          <p:cNvPr id="3" name="Content Placeholder 2"/>
          <p:cNvSpPr>
            <a:spLocks noGrp="1"/>
          </p:cNvSpPr>
          <p:nvPr>
            <p:ph idx="1"/>
          </p:nvPr>
        </p:nvSpPr>
        <p:spPr>
          <a:xfrm>
            <a:off x="640080" y="1371600"/>
            <a:ext cx="10881360" cy="3022599"/>
          </a:xfrm>
        </p:spPr>
        <p:txBody>
          <a:bodyPr/>
          <a:lstStyle/>
          <a:p>
            <a:pPr marL="0" indent="0">
              <a:spcAft>
                <a:spcPts val="1000"/>
              </a:spcAft>
              <a:buNone/>
            </a:pPr>
            <a:r>
              <a:rPr sz="2600"/>
              <a:t>La méthode </a:t>
            </a:r>
            <a:r>
              <a:rPr sz="2200">
                <a:solidFill>
                  <a:schemeClr val="accent4"/>
                </a:solidFill>
                <a:latin typeface="Consolas"/>
              </a:rPr>
              <a:t>bind</a:t>
            </a:r>
            <a:r>
              <a:rPr sz="2600"/>
              <a:t> lie une propriété à une valeur observable</a:t>
            </a:r>
          </a:p>
          <a:p>
            <a:pPr marL="0" indent="0">
              <a:spcAft>
                <a:spcPts val="1000"/>
              </a:spcAft>
              <a:buNone/>
            </a:pPr>
            <a:r>
              <a:rPr sz="2600"/>
              <a:t>La propriété suit cette valeur, à chaque changement, pour toujours</a:t>
            </a:r>
          </a:p>
          <a:p>
            <a:pPr marL="0" indent="0">
              <a:spcAft>
                <a:spcPts val="1000"/>
              </a:spcAft>
              <a:buNone/>
            </a:pPr>
            <a:r>
              <a:rPr sz="2600"/>
              <a:t>Rien à afficher au départ : le lien s'applique dès qu'il est posé</a:t>
            </a:r>
          </a:p>
          <a:p>
            <a:pPr marL="0" indent="0">
              <a:spcAft>
                <a:spcPts val="1000"/>
              </a:spcAft>
              <a:buNone/>
            </a:pPr>
            <a:r>
              <a:rPr sz="2600"/>
              <a:t>Une propriété liée ne s'écrit plus que par son lien</a:t>
            </a:r>
          </a:p>
        </p:txBody>
      </p:sp>
      <p:sp>
        <p:nvSpPr>
          <p:cNvPr id="4" name="Code"/>
          <p:cNvSpPr txBox="1"/>
          <p:nvPr/>
        </p:nvSpPr>
        <p:spPr>
          <a:xfrm>
            <a:off x="1543050" y="4115724"/>
            <a:ext cx="9105900" cy="1640839"/>
          </a:xfrm>
          <a:prstGeom prst="roundRect">
            <a:avLst>
              <a:gd name="adj" fmla="val 557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Label </a:t>
            </a:r>
            <a:r>
              <a:rPr sz="1800" dirty="0" err="1">
                <a:solidFill>
                  <a:srgbClr val="BCBEC4"/>
                </a:solidFill>
                <a:latin typeface="Consolas"/>
              </a:rPr>
              <a:t>affichage</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Label</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err="1">
                <a:solidFill>
                  <a:srgbClr val="BCBEC4"/>
                </a:solidFill>
                <a:latin typeface="Consolas"/>
              </a:rPr>
              <a:t>affichage.</a:t>
            </a:r>
            <a:r>
              <a:rPr sz="1800" dirty="0" err="1">
                <a:solidFill>
                  <a:srgbClr val="56A8F5"/>
                </a:solidFill>
                <a:latin typeface="Consolas"/>
              </a:rPr>
              <a:t>textProperty</a:t>
            </a:r>
            <a:r>
              <a:rPr sz="1800" dirty="0">
                <a:solidFill>
                  <a:srgbClr val="BCBEC4"/>
                </a:solidFill>
                <a:latin typeface="Consolas"/>
              </a:rPr>
              <a:t>().</a:t>
            </a:r>
            <a:r>
              <a:rPr sz="1800" dirty="0">
                <a:solidFill>
                  <a:srgbClr val="56A8F5"/>
                </a:solidFill>
                <a:latin typeface="Consolas"/>
              </a:rPr>
              <a:t>bind</a:t>
            </a:r>
            <a:r>
              <a:rPr sz="1800" dirty="0">
                <a:solidFill>
                  <a:srgbClr val="BCBEC4"/>
                </a:solidFill>
                <a:latin typeface="Consolas"/>
              </a:rPr>
              <a:t>(</a:t>
            </a:r>
            <a:r>
              <a:rPr sz="1800" dirty="0" err="1">
                <a:solidFill>
                  <a:srgbClr val="BCBEC4"/>
                </a:solidFill>
                <a:latin typeface="Consolas"/>
              </a:rPr>
              <a:t>intensite.</a:t>
            </a:r>
            <a:r>
              <a:rPr sz="1800" dirty="0" err="1">
                <a:solidFill>
                  <a:srgbClr val="56A8F5"/>
                </a:solidFill>
                <a:latin typeface="Consolas"/>
              </a:rPr>
              <a:t>asString</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err="1">
                <a:solidFill>
                  <a:srgbClr val="BCBEC4"/>
                </a:solidFill>
                <a:latin typeface="Consolas"/>
              </a:rPr>
              <a:t>intensite.</a:t>
            </a:r>
            <a:r>
              <a:rPr sz="1800" dirty="0" err="1">
                <a:solidFill>
                  <a:srgbClr val="56A8F5"/>
                </a:solidFill>
                <a:latin typeface="Consolas"/>
              </a:rPr>
              <a:t>set</a:t>
            </a:r>
            <a:r>
              <a:rPr sz="1800" dirty="0">
                <a:solidFill>
                  <a:srgbClr val="BCBEC4"/>
                </a:solidFill>
                <a:latin typeface="Consolas"/>
              </a:rPr>
              <a:t>(</a:t>
            </a:r>
            <a:r>
              <a:rPr sz="1800" dirty="0">
                <a:solidFill>
                  <a:srgbClr val="2AACB8"/>
                </a:solidFill>
                <a:latin typeface="Consolas"/>
              </a:rPr>
              <a:t>80</a:t>
            </a:r>
            <a:r>
              <a:rPr sz="1800" dirty="0">
                <a:solidFill>
                  <a:srgbClr val="BCBEC4"/>
                </a:solidFill>
                <a:latin typeface="Consolas"/>
              </a:rPr>
              <a:t>);   </a:t>
            </a:r>
            <a:r>
              <a:rPr sz="1800" dirty="0">
                <a:solidFill>
                  <a:srgbClr val="7A7E85"/>
                </a:solidFill>
                <a:latin typeface="Consolas"/>
              </a:rPr>
              <a:t>// le </a:t>
            </a:r>
            <a:r>
              <a:rPr sz="1800" dirty="0" err="1">
                <a:solidFill>
                  <a:srgbClr val="7A7E85"/>
                </a:solidFill>
                <a:latin typeface="Consolas"/>
              </a:rPr>
              <a:t>libelle</a:t>
            </a:r>
            <a:r>
              <a:rPr sz="1800" dirty="0">
                <a:solidFill>
                  <a:srgbClr val="7A7E85"/>
                </a:solidFill>
                <a:latin typeface="Consolas"/>
              </a:rPr>
              <a:t> affiche 80, sans </a:t>
            </a:r>
            <a:r>
              <a:rPr sz="1800" dirty="0" err="1">
                <a:solidFill>
                  <a:srgbClr val="7A7E85"/>
                </a:solidFill>
                <a:latin typeface="Consolas"/>
              </a:rPr>
              <a:t>autre</a:t>
            </a:r>
            <a:r>
              <a:rPr sz="1800" dirty="0">
                <a:solidFill>
                  <a:srgbClr val="7A7E85"/>
                </a:solidFill>
                <a:latin typeface="Consolas"/>
              </a:rPr>
              <a:t> </a:t>
            </a:r>
            <a:r>
              <a:rPr sz="1800" dirty="0" err="1">
                <a:solidFill>
                  <a:srgbClr val="7A7E85"/>
                </a:solidFill>
                <a:latin typeface="Consolas"/>
              </a:rPr>
              <a:t>ligne</a:t>
            </a:r>
            <a:endParaRPr sz="1800" dirty="0">
              <a:solidFill>
                <a:srgbClr val="7A7E85"/>
              </a:solidFill>
              <a:latin typeface="Consolas"/>
            </a:endParaRP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valeurs qui se calculent</a:t>
            </a:r>
          </a:p>
        </p:txBody>
      </p:sp>
      <p:sp>
        <p:nvSpPr>
          <p:cNvPr id="3" name="TextBox 2"/>
          <p:cNvSpPr txBox="1"/>
          <p:nvPr/>
        </p:nvSpPr>
        <p:spPr>
          <a:xfrm>
            <a:off x="777240" y="1371600"/>
            <a:ext cx="1818249" cy="585216"/>
          </a:xfrm>
          <a:prstGeom prst="rect">
            <a:avLst/>
          </a:prstGeom>
          <a:noFill/>
        </p:spPr>
        <p:txBody>
          <a:bodyPr wrap="square" anchor="ctr">
            <a:spAutoFit/>
          </a:bodyPr>
          <a:lstStyle/>
          <a:p>
            <a:r>
              <a:rPr sz="2000" b="1">
                <a:solidFill>
                  <a:schemeClr val="accent4"/>
                </a:solidFill>
              </a:rPr>
              <a:t>Sur</a:t>
            </a:r>
          </a:p>
        </p:txBody>
      </p:sp>
      <p:sp>
        <p:nvSpPr>
          <p:cNvPr id="4" name="TextBox 3"/>
          <p:cNvSpPr txBox="1"/>
          <p:nvPr/>
        </p:nvSpPr>
        <p:spPr>
          <a:xfrm>
            <a:off x="2869809" y="1371600"/>
            <a:ext cx="4120075" cy="585216"/>
          </a:xfrm>
          <a:prstGeom prst="rect">
            <a:avLst/>
          </a:prstGeom>
          <a:noFill/>
        </p:spPr>
        <p:txBody>
          <a:bodyPr wrap="square" anchor="ctr">
            <a:spAutoFit/>
          </a:bodyPr>
          <a:lstStyle/>
          <a:p>
            <a:r>
              <a:rPr sz="2000" b="1">
                <a:solidFill>
                  <a:schemeClr val="accent4"/>
                </a:solidFill>
              </a:rPr>
              <a:t>La méthode</a:t>
            </a:r>
          </a:p>
        </p:txBody>
      </p:sp>
      <p:sp>
        <p:nvSpPr>
          <p:cNvPr id="5" name="TextBox 4"/>
          <p:cNvSpPr txBox="1"/>
          <p:nvPr/>
        </p:nvSpPr>
        <p:spPr>
          <a:xfrm>
            <a:off x="7264204" y="1371600"/>
            <a:ext cx="4120075" cy="585216"/>
          </a:xfrm>
          <a:prstGeom prst="rect">
            <a:avLst/>
          </a:prstGeom>
          <a:noFill/>
        </p:spPr>
        <p:txBody>
          <a:bodyPr wrap="square" anchor="ctr">
            <a:spAutoFit/>
          </a:bodyPr>
          <a:lstStyle/>
          <a:p>
            <a:r>
              <a:rPr sz="2000" b="1">
                <a:solidFill>
                  <a:schemeClr val="accent4"/>
                </a:solidFill>
              </a:rPr>
              <a:t>Produit</a:t>
            </a:r>
          </a:p>
        </p:txBody>
      </p:sp>
      <p:sp>
        <p:nvSpPr>
          <p:cNvPr id="3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grpSp>
        <p:nvGrpSpPr>
          <p:cNvPr id="27"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818249" cy="585216"/>
            </a:xfrm>
            <a:prstGeom prst="rect">
              <a:avLst/>
            </a:prstGeom>
            <a:noFill/>
          </p:spPr>
          <p:txBody>
            <a:bodyPr wrap="square" anchor="ctr">
              <a:spAutoFit/>
            </a:bodyPr>
            <a:lstStyle/>
            <a:p>
              <a:r>
                <a:rPr sz="2200">
                  <a:solidFill>
                    <a:srgbClr val="FFFFFF"/>
                  </a:solidFill>
                </a:rPr>
                <a:t>un nombre</a:t>
              </a:r>
            </a:p>
          </p:txBody>
        </p:sp>
        <p:sp>
          <p:nvSpPr>
            <p:cNvPr id="8" name="TextBox 7"/>
            <p:cNvSpPr txBox="1"/>
            <p:nvPr/>
          </p:nvSpPr>
          <p:spPr>
            <a:xfrm>
              <a:off x="2869809" y="2029967"/>
              <a:ext cx="4120075" cy="585216"/>
            </a:xfrm>
            <a:prstGeom prst="rect">
              <a:avLst/>
            </a:prstGeom>
            <a:noFill/>
          </p:spPr>
          <p:txBody>
            <a:bodyPr wrap="square" anchor="ctr">
              <a:spAutoFit/>
            </a:bodyPr>
            <a:lstStyle/>
            <a:p>
              <a:r>
                <a:rPr sz="1900">
                  <a:solidFill>
                    <a:schemeClr val="accent4"/>
                  </a:solidFill>
                  <a:latin typeface="Consolas"/>
                </a:rPr>
                <a:t>add</a:t>
              </a:r>
              <a:r>
                <a:rPr sz="2200">
                  <a:solidFill>
                    <a:srgbClr val="FFFFFF"/>
                  </a:solidFill>
                </a:rPr>
                <a:t>, </a:t>
              </a:r>
              <a:r>
                <a:rPr sz="1900">
                  <a:solidFill>
                    <a:schemeClr val="accent4"/>
                  </a:solidFill>
                  <a:latin typeface="Consolas"/>
                </a:rPr>
                <a:t>multiply</a:t>
              </a:r>
            </a:p>
          </p:txBody>
        </p:sp>
        <p:sp>
          <p:nvSpPr>
            <p:cNvPr id="9" name="TextBox 8"/>
            <p:cNvSpPr txBox="1"/>
            <p:nvPr/>
          </p:nvSpPr>
          <p:spPr>
            <a:xfrm>
              <a:off x="7264204" y="2029967"/>
              <a:ext cx="4120075" cy="585216"/>
            </a:xfrm>
            <a:prstGeom prst="rect">
              <a:avLst/>
            </a:prstGeom>
            <a:noFill/>
          </p:spPr>
          <p:txBody>
            <a:bodyPr wrap="square" anchor="ctr">
              <a:spAutoFit/>
            </a:bodyPr>
            <a:lstStyle/>
            <a:p>
              <a:r>
                <a:rPr sz="2200">
                  <a:solidFill>
                    <a:srgbClr val="FFFFFF"/>
                  </a:solidFill>
                </a:rPr>
                <a:t>un nombre</a:t>
              </a:r>
            </a:p>
          </p:txBody>
        </p:sp>
      </p:grpSp>
      <p:grpSp>
        <p:nvGrpSpPr>
          <p:cNvPr id="28"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818249" cy="585216"/>
            </a:xfrm>
            <a:prstGeom prst="rect">
              <a:avLst/>
            </a:prstGeom>
            <a:noFill/>
          </p:spPr>
          <p:txBody>
            <a:bodyPr wrap="square" anchor="ctr">
              <a:spAutoFit/>
            </a:bodyPr>
            <a:lstStyle/>
            <a:p>
              <a:r>
                <a:rPr sz="2200">
                  <a:solidFill>
                    <a:srgbClr val="FFFFFF"/>
                  </a:solidFill>
                </a:rPr>
                <a:t>un nombre</a:t>
              </a:r>
            </a:p>
          </p:txBody>
        </p:sp>
        <p:sp>
          <p:nvSpPr>
            <p:cNvPr id="12" name="TextBox 11"/>
            <p:cNvSpPr txBox="1"/>
            <p:nvPr/>
          </p:nvSpPr>
          <p:spPr>
            <a:xfrm>
              <a:off x="2869809" y="2688335"/>
              <a:ext cx="4120075" cy="585216"/>
            </a:xfrm>
            <a:prstGeom prst="rect">
              <a:avLst/>
            </a:prstGeom>
            <a:noFill/>
          </p:spPr>
          <p:txBody>
            <a:bodyPr wrap="square" anchor="ctr">
              <a:spAutoFit/>
            </a:bodyPr>
            <a:lstStyle/>
            <a:p>
              <a:r>
                <a:rPr sz="1900">
                  <a:solidFill>
                    <a:schemeClr val="accent4"/>
                  </a:solidFill>
                  <a:latin typeface="Consolas"/>
                </a:rPr>
                <a:t>greaterThan</a:t>
              </a:r>
              <a:r>
                <a:rPr sz="2200">
                  <a:solidFill>
                    <a:srgbClr val="FFFFFF"/>
                  </a:solidFill>
                </a:rPr>
                <a:t>, </a:t>
              </a:r>
              <a:r>
                <a:rPr sz="1900">
                  <a:solidFill>
                    <a:schemeClr val="accent4"/>
                  </a:solidFill>
                  <a:latin typeface="Consolas"/>
                </a:rPr>
                <a:t>lessThan</a:t>
              </a:r>
            </a:p>
          </p:txBody>
        </p:sp>
        <p:sp>
          <p:nvSpPr>
            <p:cNvPr id="13" name="TextBox 12"/>
            <p:cNvSpPr txBox="1"/>
            <p:nvPr/>
          </p:nvSpPr>
          <p:spPr>
            <a:xfrm>
              <a:off x="7264204" y="2688335"/>
              <a:ext cx="4120075" cy="585216"/>
            </a:xfrm>
            <a:prstGeom prst="rect">
              <a:avLst/>
            </a:prstGeom>
            <a:noFill/>
          </p:spPr>
          <p:txBody>
            <a:bodyPr wrap="square" anchor="ctr">
              <a:spAutoFit/>
            </a:bodyPr>
            <a:lstStyle/>
            <a:p>
              <a:r>
                <a:rPr sz="2200">
                  <a:solidFill>
                    <a:srgbClr val="FFFFFF"/>
                  </a:solidFill>
                </a:rPr>
                <a:t>un booléen</a:t>
              </a:r>
            </a:p>
          </p:txBody>
        </p:sp>
      </p:grpSp>
      <p:grpSp>
        <p:nvGrpSpPr>
          <p:cNvPr id="29"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818249" cy="585216"/>
            </a:xfrm>
            <a:prstGeom prst="rect">
              <a:avLst/>
            </a:prstGeom>
            <a:noFill/>
          </p:spPr>
          <p:txBody>
            <a:bodyPr wrap="square" anchor="ctr">
              <a:spAutoFit/>
            </a:bodyPr>
            <a:lstStyle/>
            <a:p>
              <a:r>
                <a:rPr sz="2200">
                  <a:solidFill>
                    <a:srgbClr val="FFFFFF"/>
                  </a:solidFill>
                </a:rPr>
                <a:t>un nombre</a:t>
              </a:r>
            </a:p>
          </p:txBody>
        </p:sp>
        <p:sp>
          <p:nvSpPr>
            <p:cNvPr id="16" name="TextBox 15"/>
            <p:cNvSpPr txBox="1"/>
            <p:nvPr/>
          </p:nvSpPr>
          <p:spPr>
            <a:xfrm>
              <a:off x="2869809" y="3346703"/>
              <a:ext cx="4120075" cy="585216"/>
            </a:xfrm>
            <a:prstGeom prst="rect">
              <a:avLst/>
            </a:prstGeom>
            <a:noFill/>
          </p:spPr>
          <p:txBody>
            <a:bodyPr wrap="square" anchor="ctr">
              <a:spAutoFit/>
            </a:bodyPr>
            <a:lstStyle/>
            <a:p>
              <a:r>
                <a:rPr sz="1900">
                  <a:solidFill>
                    <a:schemeClr val="accent4"/>
                  </a:solidFill>
                  <a:latin typeface="Consolas"/>
                </a:rPr>
                <a:t>asString</a:t>
              </a:r>
            </a:p>
          </p:txBody>
        </p:sp>
        <p:sp>
          <p:nvSpPr>
            <p:cNvPr id="17" name="TextBox 16"/>
            <p:cNvSpPr txBox="1"/>
            <p:nvPr/>
          </p:nvSpPr>
          <p:spPr>
            <a:xfrm>
              <a:off x="7264204" y="3346703"/>
              <a:ext cx="4120075" cy="585216"/>
            </a:xfrm>
            <a:prstGeom prst="rect">
              <a:avLst/>
            </a:prstGeom>
            <a:noFill/>
          </p:spPr>
          <p:txBody>
            <a:bodyPr wrap="square" anchor="ctr">
              <a:spAutoFit/>
            </a:bodyPr>
            <a:lstStyle/>
            <a:p>
              <a:r>
                <a:rPr sz="2200">
                  <a:solidFill>
                    <a:srgbClr val="FFFFFF"/>
                  </a:solidFill>
                </a:rPr>
                <a:t>un texte</a:t>
              </a:r>
            </a:p>
          </p:txBody>
        </p:sp>
      </p:grpSp>
      <p:grpSp>
        <p:nvGrpSpPr>
          <p:cNvPr id="30"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818249" cy="585216"/>
            </a:xfrm>
            <a:prstGeom prst="rect">
              <a:avLst/>
            </a:prstGeom>
            <a:noFill/>
          </p:spPr>
          <p:txBody>
            <a:bodyPr wrap="square" anchor="ctr">
              <a:spAutoFit/>
            </a:bodyPr>
            <a:lstStyle/>
            <a:p>
              <a:r>
                <a:rPr sz="2200">
                  <a:solidFill>
                    <a:srgbClr val="FFFFFF"/>
                  </a:solidFill>
                </a:rPr>
                <a:t>un texte</a:t>
              </a:r>
            </a:p>
          </p:txBody>
        </p:sp>
        <p:sp>
          <p:nvSpPr>
            <p:cNvPr id="20" name="TextBox 19"/>
            <p:cNvSpPr txBox="1"/>
            <p:nvPr/>
          </p:nvSpPr>
          <p:spPr>
            <a:xfrm>
              <a:off x="2869809" y="4005071"/>
              <a:ext cx="4120075" cy="585216"/>
            </a:xfrm>
            <a:prstGeom prst="rect">
              <a:avLst/>
            </a:prstGeom>
            <a:noFill/>
          </p:spPr>
          <p:txBody>
            <a:bodyPr wrap="square" anchor="ctr">
              <a:spAutoFit/>
            </a:bodyPr>
            <a:lstStyle/>
            <a:p>
              <a:r>
                <a:rPr sz="1900">
                  <a:solidFill>
                    <a:schemeClr val="accent4"/>
                  </a:solidFill>
                  <a:latin typeface="Consolas"/>
                </a:rPr>
                <a:t>length</a:t>
              </a:r>
              <a:r>
                <a:rPr sz="2200">
                  <a:solidFill>
                    <a:srgbClr val="FFFFFF"/>
                  </a:solidFill>
                </a:rPr>
                <a:t>, </a:t>
              </a:r>
              <a:r>
                <a:rPr sz="1900">
                  <a:solidFill>
                    <a:schemeClr val="accent4"/>
                  </a:solidFill>
                  <a:latin typeface="Consolas"/>
                </a:rPr>
                <a:t>isEmpty</a:t>
              </a:r>
            </a:p>
          </p:txBody>
        </p:sp>
        <p:sp>
          <p:nvSpPr>
            <p:cNvPr id="21" name="TextBox 20"/>
            <p:cNvSpPr txBox="1"/>
            <p:nvPr/>
          </p:nvSpPr>
          <p:spPr>
            <a:xfrm>
              <a:off x="7264204" y="4005071"/>
              <a:ext cx="4120075" cy="585216"/>
            </a:xfrm>
            <a:prstGeom prst="rect">
              <a:avLst/>
            </a:prstGeom>
            <a:noFill/>
          </p:spPr>
          <p:txBody>
            <a:bodyPr wrap="square" anchor="ctr">
              <a:spAutoFit/>
            </a:bodyPr>
            <a:lstStyle/>
            <a:p>
              <a:r>
                <a:rPr sz="2200">
                  <a:solidFill>
                    <a:srgbClr val="FFFFFF"/>
                  </a:solidFill>
                </a:rPr>
                <a:t>un nombre, un booléen</a:t>
              </a:r>
            </a:p>
          </p:txBody>
        </p:sp>
      </p:grpSp>
      <p:grpSp>
        <p:nvGrpSpPr>
          <p:cNvPr id="31" name="Ligne 5"/>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1818249" cy="585216"/>
            </a:xfrm>
            <a:prstGeom prst="rect">
              <a:avLst/>
            </a:prstGeom>
            <a:noFill/>
          </p:spPr>
          <p:txBody>
            <a:bodyPr wrap="square" anchor="ctr">
              <a:spAutoFit/>
            </a:bodyPr>
            <a:lstStyle/>
            <a:p>
              <a:r>
                <a:rPr sz="2200">
                  <a:solidFill>
                    <a:srgbClr val="FFFFFF"/>
                  </a:solidFill>
                </a:rPr>
                <a:t>un booléen</a:t>
              </a:r>
            </a:p>
          </p:txBody>
        </p:sp>
        <p:sp>
          <p:nvSpPr>
            <p:cNvPr id="24" name="TextBox 23"/>
            <p:cNvSpPr txBox="1"/>
            <p:nvPr/>
          </p:nvSpPr>
          <p:spPr>
            <a:xfrm>
              <a:off x="2869809" y="4663439"/>
              <a:ext cx="4120075" cy="585216"/>
            </a:xfrm>
            <a:prstGeom prst="rect">
              <a:avLst/>
            </a:prstGeom>
            <a:noFill/>
          </p:spPr>
          <p:txBody>
            <a:bodyPr wrap="square" anchor="ctr">
              <a:spAutoFit/>
            </a:bodyPr>
            <a:lstStyle/>
            <a:p>
              <a:r>
                <a:rPr sz="1900">
                  <a:solidFill>
                    <a:schemeClr val="accent4"/>
                  </a:solidFill>
                  <a:latin typeface="Consolas"/>
                </a:rPr>
                <a:t>not</a:t>
              </a:r>
              <a:r>
                <a:rPr sz="2200">
                  <a:solidFill>
                    <a:srgbClr val="FFFFFF"/>
                  </a:solidFill>
                </a:rPr>
                <a:t>, </a:t>
              </a:r>
              <a:r>
                <a:rPr sz="1900">
                  <a:solidFill>
                    <a:schemeClr val="accent4"/>
                  </a:solidFill>
                  <a:latin typeface="Consolas"/>
                </a:rPr>
                <a:t>and</a:t>
              </a:r>
              <a:r>
                <a:rPr sz="2200">
                  <a:solidFill>
                    <a:srgbClr val="FFFFFF"/>
                  </a:solidFill>
                </a:rPr>
                <a:t>, </a:t>
              </a:r>
              <a:r>
                <a:rPr sz="1900">
                  <a:solidFill>
                    <a:schemeClr val="accent4"/>
                  </a:solidFill>
                  <a:latin typeface="Consolas"/>
                </a:rPr>
                <a:t>or</a:t>
              </a:r>
            </a:p>
          </p:txBody>
        </p:sp>
        <p:sp>
          <p:nvSpPr>
            <p:cNvPr id="25" name="TextBox 24"/>
            <p:cNvSpPr txBox="1"/>
            <p:nvPr/>
          </p:nvSpPr>
          <p:spPr>
            <a:xfrm>
              <a:off x="7264204" y="4663439"/>
              <a:ext cx="4120075" cy="585216"/>
            </a:xfrm>
            <a:prstGeom prst="rect">
              <a:avLst/>
            </a:prstGeom>
            <a:noFill/>
          </p:spPr>
          <p:txBody>
            <a:bodyPr wrap="square" anchor="ctr">
              <a:spAutoFit/>
            </a:bodyPr>
            <a:lstStyle/>
            <a:p>
              <a:r>
                <a:rPr sz="2200">
                  <a:solidFill>
                    <a:srgbClr val="FFFFFF"/>
                  </a:solidFill>
                </a:rPr>
                <a:t>un booléen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Dans les deux sens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La méthode </a:t>
            </a:r>
            <a:r>
              <a:rPr sz="2400">
                <a:solidFill>
                  <a:schemeClr val="accent4"/>
                </a:solidFill>
                <a:latin typeface="Consolas"/>
              </a:rPr>
              <a:t>bind</a:t>
            </a:r>
            <a:r>
              <a:rPr sz="2800"/>
              <a:t> fait suivre une propriété, dans un seul sens</a:t>
            </a:r>
          </a:p>
          <a:p>
            <a:pPr marL="0" indent="0">
              <a:spcAft>
                <a:spcPts val="1000"/>
              </a:spcAft>
              <a:buNone/>
            </a:pPr>
            <a:r>
              <a:rPr sz="2800"/>
              <a:t>La méthode </a:t>
            </a:r>
            <a:r>
              <a:rPr sz="2400">
                <a:solidFill>
                  <a:schemeClr val="accent4"/>
                </a:solidFill>
                <a:latin typeface="Consolas"/>
              </a:rPr>
              <a:t>bindBidirectional</a:t>
            </a:r>
            <a:r>
              <a:rPr sz="2800"/>
              <a:t> garde deux propriétés égales, dans les deux sens</a:t>
            </a:r>
          </a:p>
          <a:p>
            <a:pPr marL="0" indent="0">
              <a:spcAft>
                <a:spcPts val="1000"/>
              </a:spcAft>
              <a:buNone/>
            </a:pPr>
            <a:r>
              <a:rPr sz="2800"/>
              <a:t>Chacune peut alors être modifiée, et l'autre suit</a:t>
            </a:r>
          </a:p>
        </p:txBody>
      </p:sp>
      <p:sp>
        <p:nvSpPr>
          <p:cNvPr id="4" name="Code"/>
          <p:cNvSpPr txBox="1"/>
          <p:nvPr/>
        </p:nvSpPr>
        <p:spPr>
          <a:xfrm>
            <a:off x="1892300" y="4160520"/>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Slider curseur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Slider</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2AACB8"/>
                </a:solidFill>
                <a:latin typeface="Consolas"/>
              </a:rPr>
              <a:t>100</a:t>
            </a:r>
            <a:r>
              <a:rPr sz="1800">
                <a:solidFill>
                  <a:srgbClr val="BCBEC4"/>
                </a:solidFill>
                <a:latin typeface="Consolas"/>
              </a:rPr>
              <a:t>, </a:t>
            </a:r>
            <a:r>
              <a:rPr sz="1800">
                <a:solidFill>
                  <a:srgbClr val="2AACB8"/>
                </a:solidFill>
                <a:latin typeface="Consolas"/>
              </a:rPr>
              <a:t>50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curseur.</a:t>
            </a:r>
            <a:r>
              <a:rPr sz="1800">
                <a:solidFill>
                  <a:srgbClr val="56A8F5"/>
                </a:solidFill>
                <a:latin typeface="Consolas"/>
              </a:rPr>
              <a:t>valueProperty</a:t>
            </a:r>
            <a:r>
              <a:rPr sz="1800">
                <a:solidFill>
                  <a:srgbClr val="BCBEC4"/>
                </a:solidFill>
                <a:latin typeface="Consolas"/>
              </a:rPr>
              <a:t>().</a:t>
            </a:r>
            <a:r>
              <a:rPr sz="1800">
                <a:solidFill>
                  <a:srgbClr val="56A8F5"/>
                </a:solidFill>
                <a:latin typeface="Consolas"/>
              </a:rPr>
              <a:t>bindBidirectional</a:t>
            </a:r>
            <a:r>
              <a:rPr sz="1800">
                <a:solidFill>
                  <a:srgbClr val="BCBEC4"/>
                </a:solidFill>
                <a:latin typeface="Consolas"/>
              </a:rPr>
              <a:t>(reglage);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reglage.</a:t>
            </a:r>
            <a:r>
              <a:rPr sz="1800">
                <a:solidFill>
                  <a:srgbClr val="56A8F5"/>
                </a:solidFill>
                <a:latin typeface="Consolas"/>
              </a:rPr>
              <a:t>set</a:t>
            </a:r>
            <a:r>
              <a:rPr sz="1800">
                <a:solidFill>
                  <a:srgbClr val="BCBEC4"/>
                </a:solidFill>
                <a:latin typeface="Consolas"/>
              </a:rPr>
              <a:t>(</a:t>
            </a:r>
            <a:r>
              <a:rPr sz="1800">
                <a:solidFill>
                  <a:srgbClr val="2AACB8"/>
                </a:solidFill>
                <a:latin typeface="Consolas"/>
              </a:rPr>
              <a:t>75</a:t>
            </a:r>
            <a:r>
              <a:rPr sz="1800">
                <a:solidFill>
                  <a:srgbClr val="BCBEC4"/>
                </a:solidFill>
                <a:latin typeface="Consolas"/>
              </a:rPr>
              <a:t>);   </a:t>
            </a:r>
            <a:r>
              <a:rPr sz="1800">
                <a:solidFill>
                  <a:srgbClr val="7A7E85"/>
                </a:solidFill>
                <a:latin typeface="Consolas"/>
              </a:rPr>
              <a:t>// le curseur se place sur 75</a:t>
            </a:r>
          </a:p>
          <a:p>
            <a:pPr>
              <a:lnSpc>
                <a:spcPct val="100000"/>
              </a:lnSpc>
              <a:spcBef>
                <a:spcPts val="0"/>
              </a:spcBef>
              <a:spcAft>
                <a:spcPts val="0"/>
              </a:spcAft>
            </a:pPr>
            <a:r>
              <a:rPr sz="1800">
                <a:solidFill>
                  <a:srgbClr val="7A7E85"/>
                </a:solidFill>
                <a:latin typeface="Consolas"/>
              </a:rPr>
              <a:t>// et si l'utilisateur deplace le curseur, reglage le suit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FX.8</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Lier plutôt qu'écouter</a:t>
            </a:r>
          </a:p>
          <a:p>
            <a:r>
              <a:rPr sz="1400">
                <a:solidFill>
                  <a:srgbClr val="BCBEC4"/>
                </a:solidFill>
              </a:rPr>
              <a:t>fascicule FX</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3.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56006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3. Séparer l'écran du calcul</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responsabilités</a:t>
            </a:r>
          </a:p>
        </p:txBody>
      </p:sp>
      <p:sp>
        <p:nvSpPr>
          <p:cNvPr id="3" name="Content Placeholder 2"/>
          <p:cNvSpPr>
            <a:spLocks noGrp="1"/>
          </p:cNvSpPr>
          <p:nvPr>
            <p:ph idx="1"/>
          </p:nvPr>
        </p:nvSpPr>
        <p:spPr>
          <a:xfrm>
            <a:off x="640080" y="1371600"/>
            <a:ext cx="10881360" cy="2468880"/>
          </a:xfrm>
        </p:spPr>
        <p:txBody>
          <a:bodyPr/>
          <a:lstStyle/>
          <a:p>
            <a:pPr marL="0" indent="0">
              <a:spcAft>
                <a:spcPts val="1000"/>
              </a:spcAft>
              <a:buNone/>
            </a:pPr>
            <a:r>
              <a:rPr sz="2400" dirty="0"/>
              <a:t>Le </a:t>
            </a:r>
            <a:r>
              <a:rPr sz="2400" dirty="0" err="1">
                <a:solidFill>
                  <a:schemeClr val="accent4"/>
                </a:solidFill>
              </a:rPr>
              <a:t>modèle</a:t>
            </a:r>
            <a:r>
              <a:rPr sz="2400" dirty="0"/>
              <a:t> </a:t>
            </a:r>
            <a:r>
              <a:rPr sz="2400" dirty="0" err="1"/>
              <a:t>tient</a:t>
            </a:r>
            <a:r>
              <a:rPr sz="2400" dirty="0"/>
              <a:t> les données et les </a:t>
            </a:r>
            <a:r>
              <a:rPr sz="2400" dirty="0" err="1"/>
              <a:t>règles</a:t>
            </a:r>
            <a:r>
              <a:rPr sz="2400" dirty="0"/>
              <a:t>, et ignore tout de </a:t>
            </a:r>
            <a:r>
              <a:rPr sz="2400" dirty="0" err="1"/>
              <a:t>l'écran</a:t>
            </a:r>
            <a:endParaRPr sz="2400" dirty="0"/>
          </a:p>
          <a:p>
            <a:pPr marL="0" indent="0">
              <a:spcAft>
                <a:spcPts val="1000"/>
              </a:spcAft>
              <a:buNone/>
            </a:pPr>
            <a:r>
              <a:rPr sz="2400" dirty="0"/>
              <a:t>La </a:t>
            </a:r>
            <a:r>
              <a:rPr sz="2400" dirty="0" err="1">
                <a:solidFill>
                  <a:schemeClr val="accent4"/>
                </a:solidFill>
              </a:rPr>
              <a:t>vue</a:t>
            </a:r>
            <a:r>
              <a:rPr sz="2400" dirty="0"/>
              <a:t> montre, et ne </a:t>
            </a:r>
            <a:r>
              <a:rPr sz="2400" dirty="0" err="1"/>
              <a:t>décide</a:t>
            </a:r>
            <a:r>
              <a:rPr sz="2400" dirty="0"/>
              <a:t> de rien</a:t>
            </a:r>
          </a:p>
          <a:p>
            <a:pPr marL="0" indent="0">
              <a:spcAft>
                <a:spcPts val="1000"/>
              </a:spcAft>
              <a:buNone/>
            </a:pPr>
            <a:r>
              <a:rPr sz="2400" dirty="0"/>
              <a:t>Le </a:t>
            </a:r>
            <a:r>
              <a:rPr sz="2400" dirty="0" err="1">
                <a:solidFill>
                  <a:schemeClr val="accent4"/>
                </a:solidFill>
              </a:rPr>
              <a:t>contrôleur</a:t>
            </a:r>
            <a:r>
              <a:rPr sz="2400" dirty="0"/>
              <a:t> </a:t>
            </a:r>
            <a:r>
              <a:rPr sz="2400" dirty="0" err="1"/>
              <a:t>écoute</a:t>
            </a:r>
            <a:r>
              <a:rPr sz="2400" dirty="0"/>
              <a:t> la </a:t>
            </a:r>
            <a:r>
              <a:rPr sz="2400" dirty="0" err="1"/>
              <a:t>vue</a:t>
            </a:r>
            <a:r>
              <a:rPr sz="2400" dirty="0"/>
              <a:t>, </a:t>
            </a:r>
            <a:r>
              <a:rPr sz="2400" dirty="0" err="1"/>
              <a:t>interroge</a:t>
            </a:r>
            <a:r>
              <a:rPr sz="2400" dirty="0"/>
              <a:t> le </a:t>
            </a:r>
            <a:r>
              <a:rPr sz="2400" dirty="0" err="1"/>
              <a:t>modèle</a:t>
            </a:r>
            <a:r>
              <a:rPr sz="2400" dirty="0"/>
              <a:t>, met la </a:t>
            </a:r>
            <a:r>
              <a:rPr sz="2400" dirty="0" err="1"/>
              <a:t>vue</a:t>
            </a:r>
            <a:r>
              <a:rPr sz="2400" dirty="0"/>
              <a:t> à jour</a:t>
            </a:r>
          </a:p>
          <a:p>
            <a:pPr marL="0" indent="0">
              <a:spcAft>
                <a:spcPts val="1000"/>
              </a:spcAft>
              <a:buNone/>
            </a:pPr>
            <a:r>
              <a:rPr sz="2400" dirty="0"/>
              <a:t>Le </a:t>
            </a:r>
            <a:r>
              <a:rPr sz="2400" dirty="0" err="1"/>
              <a:t>modèle</a:t>
            </a:r>
            <a:r>
              <a:rPr sz="2400" dirty="0"/>
              <a:t> se teste par </a:t>
            </a:r>
            <a:r>
              <a:rPr sz="2400" dirty="0">
                <a:solidFill>
                  <a:schemeClr val="accent4"/>
                </a:solidFill>
                <a:latin typeface="Consolas"/>
              </a:rPr>
              <a:t>JUnit</a:t>
            </a:r>
            <a:r>
              <a:rPr sz="2400" dirty="0"/>
              <a:t> ; </a:t>
            </a:r>
            <a:r>
              <a:rPr sz="2400" dirty="0" err="1"/>
              <a:t>une</a:t>
            </a:r>
            <a:r>
              <a:rPr sz="2400" dirty="0"/>
              <a:t> </a:t>
            </a:r>
            <a:r>
              <a:rPr sz="2400" dirty="0" err="1"/>
              <a:t>fenêtre</a:t>
            </a:r>
            <a:r>
              <a:rPr sz="2400" dirty="0"/>
              <a:t> ne se teste pas</a:t>
            </a:r>
          </a:p>
        </p:txBody>
      </p:sp>
      <p:sp>
        <p:nvSpPr>
          <p:cNvPr id="20"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3. MVC</a:t>
            </a:r>
          </a:p>
        </p:txBody>
      </p:sp>
      <p:sp>
        <p:nvSpPr>
          <p:cNvPr id="5" name="Rounded Rectangle 4"/>
          <p:cNvSpPr/>
          <p:nvPr/>
        </p:nvSpPr>
        <p:spPr>
          <a:xfrm>
            <a:off x="548640" y="4343400"/>
            <a:ext cx="1417320" cy="685800"/>
          </a:xfrm>
          <a:prstGeom prst="roundRect">
            <a:avLst>
              <a:gd name="adj" fmla="val 10000"/>
            </a:avLst>
          </a:prstGeom>
          <a:solidFill>
            <a:srgbClr val="2B2D3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400" b="1" dirty="0">
                <a:solidFill>
                  <a:srgbClr val="E8E8E8"/>
                </a:solidFill>
              </a:rPr>
              <a:t>Utilisateur</a:t>
            </a:r>
          </a:p>
        </p:txBody>
      </p:sp>
      <p:sp>
        <p:nvSpPr>
          <p:cNvPr id="6" name="Rounded Rectangle 5"/>
          <p:cNvSpPr/>
          <p:nvPr/>
        </p:nvSpPr>
        <p:spPr>
          <a:xfrm>
            <a:off x="2788920" y="4160520"/>
            <a:ext cx="237744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Vue</a:t>
            </a:r>
          </a:p>
          <a:p>
            <a:pPr algn="ctr"/>
            <a:r>
              <a:rPr lang="fr-BE" sz="1200" dirty="0">
                <a:solidFill>
                  <a:srgbClr val="E8E8E8"/>
                </a:solidFill>
                <a:latin typeface="Consolas"/>
              </a:rPr>
              <a:t>Button, Label</a:t>
            </a:r>
          </a:p>
          <a:p>
            <a:pPr algn="ctr"/>
            <a:r>
              <a:rPr lang="fr-BE" sz="1100" dirty="0">
                <a:solidFill>
                  <a:srgbClr val="9DA0A8"/>
                </a:solidFill>
              </a:rPr>
              <a:t>montre, capte les gestes</a:t>
            </a:r>
          </a:p>
        </p:txBody>
      </p:sp>
      <p:sp>
        <p:nvSpPr>
          <p:cNvPr id="7" name="Rounded Rectangle 6"/>
          <p:cNvSpPr/>
          <p:nvPr/>
        </p:nvSpPr>
        <p:spPr>
          <a:xfrm>
            <a:off x="6035040" y="4160520"/>
            <a:ext cx="237744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Contrôleur</a:t>
            </a:r>
          </a:p>
          <a:p>
            <a:pPr algn="ctr"/>
            <a:r>
              <a:rPr lang="fr-BE" sz="1200" dirty="0">
                <a:solidFill>
                  <a:srgbClr val="E8E8E8"/>
                </a:solidFill>
                <a:latin typeface="Consolas"/>
              </a:rPr>
              <a:t>ControleurLampe</a:t>
            </a:r>
          </a:p>
          <a:p>
            <a:pPr algn="ctr"/>
            <a:r>
              <a:rPr lang="fr-BE" sz="1100" dirty="0">
                <a:solidFill>
                  <a:srgbClr val="9DA0A8"/>
                </a:solidFill>
              </a:rPr>
              <a:t>écoute, transmet, affiche</a:t>
            </a:r>
          </a:p>
        </p:txBody>
      </p:sp>
      <p:sp>
        <p:nvSpPr>
          <p:cNvPr id="8" name="Rounded Rectangle 7"/>
          <p:cNvSpPr/>
          <p:nvPr/>
        </p:nvSpPr>
        <p:spPr>
          <a:xfrm>
            <a:off x="9372600" y="4160520"/>
            <a:ext cx="228600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Modèle</a:t>
            </a:r>
          </a:p>
          <a:p>
            <a:pPr algn="ctr"/>
            <a:r>
              <a:rPr lang="fr-BE" sz="1200" dirty="0">
                <a:solidFill>
                  <a:srgbClr val="E8E8E8"/>
                </a:solidFill>
                <a:latin typeface="Consolas"/>
              </a:rPr>
              <a:t>Lampe</a:t>
            </a:r>
          </a:p>
          <a:p>
            <a:pPr algn="ctr"/>
            <a:r>
              <a:rPr lang="fr-BE" sz="1100" dirty="0">
                <a:solidFill>
                  <a:srgbClr val="9DA0A8"/>
                </a:solidFill>
              </a:rPr>
              <a:t>données et règles</a:t>
            </a:r>
          </a:p>
        </p:txBody>
      </p:sp>
      <p:grpSp>
        <p:nvGrpSpPr>
          <p:cNvPr id="21" name="Groupe 20">
            <a:extLst>
              <a:ext uri="{FF2B5EF4-FFF2-40B4-BE49-F238E27FC236}">
                <a16:creationId xmlns:a16="http://schemas.microsoft.com/office/drawing/2014/main" id="{833FE6A3-44EE-46BD-AAC8-BD6480D64AA9}"/>
              </a:ext>
            </a:extLst>
          </p:cNvPr>
          <p:cNvGrpSpPr/>
          <p:nvPr/>
        </p:nvGrpSpPr>
        <p:grpSpPr>
          <a:xfrm>
            <a:off x="1920240" y="4379976"/>
            <a:ext cx="914400" cy="301752"/>
            <a:chOff x="1920240" y="4379976"/>
            <a:chExt cx="914400" cy="301752"/>
          </a:xfrm>
        </p:grpSpPr>
        <p:cxnSp>
          <p:nvCxnSpPr>
            <p:cNvPr id="9" name="Connector 8"/>
            <p:cNvCxnSpPr/>
            <p:nvPr/>
          </p:nvCxnSpPr>
          <p:spPr>
            <a:xfrm>
              <a:off x="1965960" y="4681728"/>
              <a:ext cx="82296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920240" y="4379976"/>
              <a:ext cx="914400" cy="274320"/>
            </a:xfrm>
            <a:prstGeom prst="rect">
              <a:avLst/>
            </a:prstGeom>
            <a:noFill/>
          </p:spPr>
          <p:txBody>
            <a:bodyPr wrap="none" lIns="0" tIns="0" rIns="0" bIns="0">
              <a:spAutoFit/>
            </a:bodyPr>
            <a:lstStyle/>
            <a:p>
              <a:pPr algn="ctr"/>
              <a:r>
                <a:rPr lang="fr-BE" sz="1200" dirty="0">
                  <a:solidFill>
                    <a:srgbClr val="BCBEC4"/>
                  </a:solidFill>
                </a:rPr>
                <a:t>clic</a:t>
              </a:r>
            </a:p>
          </p:txBody>
        </p:sp>
      </p:grpSp>
      <p:grpSp>
        <p:nvGrpSpPr>
          <p:cNvPr id="22" name="Groupe 21">
            <a:extLst>
              <a:ext uri="{FF2B5EF4-FFF2-40B4-BE49-F238E27FC236}">
                <a16:creationId xmlns:a16="http://schemas.microsoft.com/office/drawing/2014/main" id="{FE8A6D5D-E841-05E8-1678-D593F3BF60FA}"/>
              </a:ext>
            </a:extLst>
          </p:cNvPr>
          <p:cNvGrpSpPr/>
          <p:nvPr/>
        </p:nvGrpSpPr>
        <p:grpSpPr>
          <a:xfrm>
            <a:off x="4983480" y="4178807"/>
            <a:ext cx="1234440" cy="301752"/>
            <a:chOff x="4983480" y="4178807"/>
            <a:chExt cx="1234440" cy="301752"/>
          </a:xfrm>
        </p:grpSpPr>
        <p:cxnSp>
          <p:nvCxnSpPr>
            <p:cNvPr id="11" name="Connector 10"/>
            <p:cNvCxnSpPr/>
            <p:nvPr/>
          </p:nvCxnSpPr>
          <p:spPr>
            <a:xfrm>
              <a:off x="5166360" y="4480559"/>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83480" y="4178807"/>
              <a:ext cx="1234440" cy="274320"/>
            </a:xfrm>
            <a:prstGeom prst="rect">
              <a:avLst/>
            </a:prstGeom>
            <a:noFill/>
          </p:spPr>
          <p:txBody>
            <a:bodyPr wrap="none" lIns="0" tIns="0" rIns="0" bIns="0">
              <a:spAutoFit/>
            </a:bodyPr>
            <a:lstStyle/>
            <a:p>
              <a:pPr algn="ctr"/>
              <a:r>
                <a:rPr lang="fr-BE" sz="1100" dirty="0">
                  <a:solidFill>
                    <a:schemeClr val="accent4"/>
                  </a:solidFill>
                  <a:latin typeface="Consolas"/>
                </a:rPr>
                <a:t>onAction</a:t>
              </a:r>
            </a:p>
          </p:txBody>
        </p:sp>
      </p:grpSp>
      <p:grpSp>
        <p:nvGrpSpPr>
          <p:cNvPr id="25" name="Groupe 24">
            <a:extLst>
              <a:ext uri="{FF2B5EF4-FFF2-40B4-BE49-F238E27FC236}">
                <a16:creationId xmlns:a16="http://schemas.microsoft.com/office/drawing/2014/main" id="{2A2A1953-F3C1-988D-9624-827E15CFF04F}"/>
              </a:ext>
            </a:extLst>
          </p:cNvPr>
          <p:cNvGrpSpPr/>
          <p:nvPr/>
        </p:nvGrpSpPr>
        <p:grpSpPr>
          <a:xfrm>
            <a:off x="4800600" y="4937759"/>
            <a:ext cx="1600200" cy="594361"/>
            <a:chOff x="4800600" y="4937759"/>
            <a:chExt cx="1600200" cy="594361"/>
          </a:xfrm>
        </p:grpSpPr>
        <p:cxnSp>
          <p:nvCxnSpPr>
            <p:cNvPr id="13" name="Connector 12"/>
            <p:cNvCxnSpPr/>
            <p:nvPr/>
          </p:nvCxnSpPr>
          <p:spPr>
            <a:xfrm flipH="1">
              <a:off x="5166360" y="4937759"/>
              <a:ext cx="868680" cy="0"/>
            </a:xfrm>
            <a:prstGeom prst="line">
              <a:avLst/>
            </a:prstGeom>
            <a:ln w="28575">
              <a:solidFill>
                <a:srgbClr val="FFC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800600" y="5257800"/>
              <a:ext cx="1600200" cy="274320"/>
            </a:xfrm>
            <a:prstGeom prst="rect">
              <a:avLst/>
            </a:prstGeom>
            <a:noFill/>
          </p:spPr>
          <p:txBody>
            <a:bodyPr wrap="none" lIns="0" tIns="0" rIns="0" bIns="0">
              <a:spAutoFit/>
            </a:bodyPr>
            <a:lstStyle/>
            <a:p>
              <a:pPr algn="ctr"/>
              <a:r>
                <a:rPr lang="fr-BE" sz="1200" dirty="0">
                  <a:solidFill>
                    <a:srgbClr val="FFC000"/>
                  </a:solidFill>
                  <a:latin typeface="Consolas"/>
                </a:rPr>
                <a:t>etat.setText(...)</a:t>
              </a:r>
            </a:p>
          </p:txBody>
        </p:sp>
      </p:grpSp>
      <p:grpSp>
        <p:nvGrpSpPr>
          <p:cNvPr id="23" name="Groupe 22">
            <a:extLst>
              <a:ext uri="{FF2B5EF4-FFF2-40B4-BE49-F238E27FC236}">
                <a16:creationId xmlns:a16="http://schemas.microsoft.com/office/drawing/2014/main" id="{3AE2A731-261A-0EC7-5829-3695E87D24F9}"/>
              </a:ext>
            </a:extLst>
          </p:cNvPr>
          <p:cNvGrpSpPr/>
          <p:nvPr/>
        </p:nvGrpSpPr>
        <p:grpSpPr>
          <a:xfrm>
            <a:off x="8275320" y="4178807"/>
            <a:ext cx="1234440" cy="301752"/>
            <a:chOff x="8275320" y="4178807"/>
            <a:chExt cx="1234440" cy="301752"/>
          </a:xfrm>
        </p:grpSpPr>
        <p:cxnSp>
          <p:nvCxnSpPr>
            <p:cNvPr id="15" name="Connector 14"/>
            <p:cNvCxnSpPr/>
            <p:nvPr/>
          </p:nvCxnSpPr>
          <p:spPr>
            <a:xfrm>
              <a:off x="8412480" y="4480559"/>
              <a:ext cx="96012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75320" y="4178807"/>
              <a:ext cx="1234440" cy="274320"/>
            </a:xfrm>
            <a:prstGeom prst="rect">
              <a:avLst/>
            </a:prstGeom>
            <a:noFill/>
          </p:spPr>
          <p:txBody>
            <a:bodyPr wrap="none" lIns="0" tIns="0" rIns="0" bIns="0">
              <a:spAutoFit/>
            </a:bodyPr>
            <a:lstStyle/>
            <a:p>
              <a:pPr algn="ctr"/>
              <a:r>
                <a:rPr lang="fr-BE" sz="1200" dirty="0">
                  <a:solidFill>
                    <a:srgbClr val="BCBEC4"/>
                  </a:solidFill>
                  <a:latin typeface="Consolas"/>
                </a:rPr>
                <a:t>basculer()</a:t>
              </a:r>
            </a:p>
          </p:txBody>
        </p:sp>
      </p:grpSp>
      <p:grpSp>
        <p:nvGrpSpPr>
          <p:cNvPr id="24" name="Groupe 23">
            <a:extLst>
              <a:ext uri="{FF2B5EF4-FFF2-40B4-BE49-F238E27FC236}">
                <a16:creationId xmlns:a16="http://schemas.microsoft.com/office/drawing/2014/main" id="{330A24DD-0A91-3920-423A-8F5DA20E141C}"/>
              </a:ext>
            </a:extLst>
          </p:cNvPr>
          <p:cNvGrpSpPr/>
          <p:nvPr/>
        </p:nvGrpSpPr>
        <p:grpSpPr>
          <a:xfrm>
            <a:off x="8183879" y="4937759"/>
            <a:ext cx="1417320" cy="594361"/>
            <a:chOff x="8183879" y="4937759"/>
            <a:chExt cx="1417320" cy="594361"/>
          </a:xfrm>
        </p:grpSpPr>
        <p:cxnSp>
          <p:nvCxnSpPr>
            <p:cNvPr id="17" name="Connector 16"/>
            <p:cNvCxnSpPr/>
            <p:nvPr/>
          </p:nvCxnSpPr>
          <p:spPr>
            <a:xfrm flipH="1">
              <a:off x="8412480" y="4937759"/>
              <a:ext cx="96012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83879" y="5257800"/>
              <a:ext cx="1417320" cy="274320"/>
            </a:xfrm>
            <a:prstGeom prst="rect">
              <a:avLst/>
            </a:prstGeom>
            <a:noFill/>
          </p:spPr>
          <p:txBody>
            <a:bodyPr wrap="none" lIns="0" tIns="0" rIns="0" bIns="0">
              <a:spAutoFit/>
            </a:bodyPr>
            <a:lstStyle/>
            <a:p>
              <a:pPr algn="ctr"/>
              <a:r>
                <a:rPr lang="fr-BE" sz="1200" dirty="0">
                  <a:solidFill>
                    <a:srgbClr val="BCBEC4"/>
                  </a:solidFill>
                  <a:latin typeface="Consolas"/>
                </a:rPr>
                <a:t>estAllumee()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right)">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right)">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connaît qui</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contrôleur connaît le modèle et la vue</a:t>
            </a:r>
          </a:p>
          <a:p>
            <a:pPr marL="0" indent="0">
              <a:spcAft>
                <a:spcPts val="1000"/>
              </a:spcAft>
              <a:buNone/>
            </a:pPr>
            <a:r>
              <a:rPr sz="2800"/>
              <a:t>Le modèle ne connaît personne</a:t>
            </a:r>
          </a:p>
          <a:p>
            <a:pPr marL="0" indent="0">
              <a:spcAft>
                <a:spcPts val="1000"/>
              </a:spcAft>
              <a:buNone/>
            </a:pPr>
            <a:r>
              <a:rPr sz="2800"/>
              <a:t>La vue ne connaît pas le modèle</a:t>
            </a:r>
          </a:p>
        </p:txBody>
      </p:sp>
      <p:sp>
        <p:nvSpPr>
          <p:cNvPr id="4" name="Code"/>
          <p:cNvSpPr txBox="1"/>
          <p:nvPr/>
        </p:nvSpPr>
        <p:spPr>
          <a:xfrm>
            <a:off x="1853494" y="4792716"/>
            <a:ext cx="8485011" cy="1379483"/>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a:solidFill>
                  <a:srgbClr val="CF8E6D"/>
                </a:solidFill>
                <a:latin typeface="Consolas"/>
              </a:rPr>
              <a:t>private</a:t>
            </a:r>
            <a:r>
              <a:rPr sz="1700" dirty="0">
                <a:solidFill>
                  <a:srgbClr val="BCBEC4"/>
                </a:solidFill>
                <a:latin typeface="Consolas"/>
              </a:rPr>
              <a:t> </a:t>
            </a:r>
            <a:r>
              <a:rPr sz="1700" dirty="0">
                <a:solidFill>
                  <a:srgbClr val="CF8E6D"/>
                </a:solidFill>
                <a:latin typeface="Consolas"/>
              </a:rPr>
              <a:t>void</a:t>
            </a:r>
            <a:r>
              <a:rPr sz="1700" dirty="0">
                <a:solidFill>
                  <a:srgbClr val="BCBEC4"/>
                </a:solidFill>
                <a:latin typeface="Consolas"/>
              </a:rPr>
              <a:t> </a:t>
            </a:r>
            <a:r>
              <a:rPr sz="1700" dirty="0" err="1">
                <a:solidFill>
                  <a:srgbClr val="56A8F5"/>
                </a:solidFill>
                <a:latin typeface="Consolas"/>
              </a:rPr>
              <a:t>basculer</a:t>
            </a:r>
            <a:r>
              <a:rPr sz="1700" dirty="0">
                <a:solidFill>
                  <a:srgbClr val="BCBEC4"/>
                </a:solidFill>
                <a:latin typeface="Consolas"/>
              </a:rPr>
              <a:t>() {            </a:t>
            </a:r>
            <a:r>
              <a:rPr sz="1700" dirty="0">
                <a:solidFill>
                  <a:srgbClr val="7A7E85"/>
                </a:solidFill>
                <a:latin typeface="Consolas"/>
              </a:rPr>
              <a:t>// dans le </a:t>
            </a:r>
            <a:r>
              <a:rPr sz="1700" dirty="0" err="1">
                <a:solidFill>
                  <a:srgbClr val="7A7E85"/>
                </a:solidFill>
                <a:latin typeface="Consolas"/>
              </a:rPr>
              <a:t>controleur</a:t>
            </a:r>
            <a:endParaRPr sz="1700" dirty="0">
              <a:solidFill>
                <a:srgbClr val="7A7E85"/>
              </a:solidFill>
              <a:latin typeface="Consolas"/>
            </a:endParaRPr>
          </a:p>
          <a:p>
            <a:pPr>
              <a:lnSpc>
                <a:spcPct val="100000"/>
              </a:lnSpc>
              <a:spcBef>
                <a:spcPts val="0"/>
              </a:spcBef>
              <a:spcAft>
                <a:spcPts val="0"/>
              </a:spcAft>
            </a:pPr>
            <a:r>
              <a:rPr sz="1700" dirty="0">
                <a:solidFill>
                  <a:srgbClr val="BCBEC4"/>
                </a:solidFill>
                <a:latin typeface="Consolas"/>
              </a:rPr>
              <a:t>    </a:t>
            </a:r>
            <a:r>
              <a:rPr sz="1700" dirty="0" err="1">
                <a:solidFill>
                  <a:srgbClr val="BCBEC4"/>
                </a:solidFill>
                <a:latin typeface="Consolas"/>
              </a:rPr>
              <a:t>lampe.</a:t>
            </a:r>
            <a:r>
              <a:rPr sz="1700" dirty="0" err="1">
                <a:solidFill>
                  <a:srgbClr val="56A8F5"/>
                </a:solidFill>
                <a:latin typeface="Consolas"/>
              </a:rPr>
              <a:t>basculer</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    </a:t>
            </a:r>
            <a:r>
              <a:rPr sz="1700" dirty="0" err="1">
                <a:solidFill>
                  <a:srgbClr val="BCBEC4"/>
                </a:solidFill>
                <a:latin typeface="Consolas"/>
              </a:rPr>
              <a:t>etat.</a:t>
            </a:r>
            <a:r>
              <a:rPr sz="1700" dirty="0" err="1">
                <a:solidFill>
                  <a:srgbClr val="56A8F5"/>
                </a:solidFill>
                <a:latin typeface="Consolas"/>
              </a:rPr>
              <a:t>setText</a:t>
            </a:r>
            <a:r>
              <a:rPr sz="1700" dirty="0">
                <a:solidFill>
                  <a:srgbClr val="BCBEC4"/>
                </a:solidFill>
                <a:latin typeface="Consolas"/>
              </a:rPr>
              <a:t>(</a:t>
            </a:r>
            <a:r>
              <a:rPr sz="1700" dirty="0" err="1">
                <a:solidFill>
                  <a:srgbClr val="BCBEC4"/>
                </a:solidFill>
                <a:latin typeface="Consolas"/>
              </a:rPr>
              <a:t>lampe.</a:t>
            </a:r>
            <a:r>
              <a:rPr sz="1700" dirty="0" err="1">
                <a:solidFill>
                  <a:srgbClr val="56A8F5"/>
                </a:solidFill>
                <a:latin typeface="Consolas"/>
              </a:rPr>
              <a:t>estAllumee</a:t>
            </a:r>
            <a:r>
              <a:rPr sz="1700" dirty="0">
                <a:solidFill>
                  <a:srgbClr val="BCBEC4"/>
                </a:solidFill>
                <a:latin typeface="Consolas"/>
              </a:rPr>
              <a:t>() ? </a:t>
            </a:r>
            <a:r>
              <a:rPr sz="1700" dirty="0">
                <a:solidFill>
                  <a:srgbClr val="6AAB73"/>
                </a:solidFill>
                <a:latin typeface="Consolas"/>
              </a:rPr>
              <a:t>"</a:t>
            </a:r>
            <a:r>
              <a:rPr sz="1700" dirty="0" err="1">
                <a:solidFill>
                  <a:srgbClr val="6AAB73"/>
                </a:solidFill>
                <a:latin typeface="Consolas"/>
              </a:rPr>
              <a:t>Allumee</a:t>
            </a:r>
            <a:r>
              <a:rPr sz="1700" dirty="0">
                <a:solidFill>
                  <a:srgbClr val="6AAB73"/>
                </a:solidFill>
                <a:latin typeface="Consolas"/>
              </a:rPr>
              <a:t>"</a:t>
            </a:r>
            <a:r>
              <a:rPr sz="1700" dirty="0">
                <a:solidFill>
                  <a:srgbClr val="BCBEC4"/>
                </a:solidFill>
                <a:latin typeface="Consolas"/>
              </a:rPr>
              <a:t> : </a:t>
            </a:r>
            <a:r>
              <a:rPr sz="1700" dirty="0">
                <a:solidFill>
                  <a:srgbClr val="6AAB73"/>
                </a:solidFill>
                <a:latin typeface="Consolas"/>
              </a:rPr>
              <a:t>"</a:t>
            </a:r>
            <a:r>
              <a:rPr sz="1700" dirty="0" err="1">
                <a:solidFill>
                  <a:srgbClr val="6AAB73"/>
                </a:solidFill>
                <a:latin typeface="Consolas"/>
              </a:rPr>
              <a:t>Eteinte</a:t>
            </a:r>
            <a:r>
              <a:rPr sz="1700" dirty="0">
                <a:solidFill>
                  <a:srgbClr val="6AAB73"/>
                </a:solidFill>
                <a:latin typeface="Consolas"/>
              </a:rPr>
              <a:t>"</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3. MVC</a:t>
            </a:r>
          </a:p>
        </p:txBody>
      </p:sp>
      <p:sp>
        <p:nvSpPr>
          <p:cNvPr id="7" name="Code">
            <a:extLst>
              <a:ext uri="{FF2B5EF4-FFF2-40B4-BE49-F238E27FC236}">
                <a16:creationId xmlns:a16="http://schemas.microsoft.com/office/drawing/2014/main" id="{E6EE1B31-0EE8-F295-8BCE-3A800985F7AE}"/>
              </a:ext>
            </a:extLst>
          </p:cNvPr>
          <p:cNvSpPr txBox="1"/>
          <p:nvPr/>
        </p:nvSpPr>
        <p:spPr>
          <a:xfrm>
            <a:off x="1853494" y="3170446"/>
            <a:ext cx="8485011" cy="1496147"/>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class</a:t>
            </a:r>
            <a:r>
              <a:rPr sz="1700" dirty="0">
                <a:solidFill>
                  <a:srgbClr val="BCBEC4"/>
                </a:solidFill>
                <a:latin typeface="Consolas"/>
              </a:rPr>
              <a:t> Lampe {                 </a:t>
            </a:r>
            <a:r>
              <a:rPr sz="1700" dirty="0">
                <a:solidFill>
                  <a:srgbClr val="7A7E85"/>
                </a:solidFill>
                <a:latin typeface="Consolas"/>
              </a:rPr>
              <a:t>// le </a:t>
            </a:r>
            <a:r>
              <a:rPr sz="1700" dirty="0" err="1">
                <a:solidFill>
                  <a:srgbClr val="7A7E85"/>
                </a:solidFill>
                <a:latin typeface="Consolas"/>
              </a:rPr>
              <a:t>modele</a:t>
            </a:r>
            <a:r>
              <a:rPr sz="1700" dirty="0">
                <a:solidFill>
                  <a:srgbClr val="7A7E85"/>
                </a:solidFill>
                <a:latin typeface="Consolas"/>
              </a:rPr>
              <a:t>, sans JavaFX</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private</a:t>
            </a:r>
            <a:r>
              <a:rPr sz="1700" dirty="0">
                <a:solidFill>
                  <a:srgbClr val="BCBEC4"/>
                </a:solidFill>
                <a:latin typeface="Consolas"/>
              </a:rPr>
              <a:t> </a:t>
            </a:r>
            <a:r>
              <a:rPr sz="1700" dirty="0" err="1">
                <a:solidFill>
                  <a:srgbClr val="CF8E6D"/>
                </a:solidFill>
                <a:latin typeface="Consolas"/>
              </a:rPr>
              <a:t>boolean</a:t>
            </a:r>
            <a:r>
              <a:rPr sz="1700" dirty="0">
                <a:solidFill>
                  <a:srgbClr val="BCBEC4"/>
                </a:solidFill>
                <a:latin typeface="Consolas"/>
              </a:rPr>
              <a:t> </a:t>
            </a:r>
            <a:r>
              <a:rPr sz="1700" dirty="0" err="1">
                <a:solidFill>
                  <a:srgbClr val="BCBEC4"/>
                </a:solidFill>
                <a:latin typeface="Consolas"/>
              </a:rPr>
              <a:t>allumee</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void</a:t>
            </a:r>
            <a:r>
              <a:rPr sz="1700" dirty="0">
                <a:solidFill>
                  <a:srgbClr val="BCBEC4"/>
                </a:solidFill>
                <a:latin typeface="Consolas"/>
              </a:rPr>
              <a:t> </a:t>
            </a:r>
            <a:r>
              <a:rPr sz="1700" dirty="0" err="1">
                <a:solidFill>
                  <a:srgbClr val="56A8F5"/>
                </a:solidFill>
                <a:latin typeface="Consolas"/>
              </a:rPr>
              <a:t>basculer</a:t>
            </a:r>
            <a:r>
              <a:rPr sz="1700" dirty="0">
                <a:solidFill>
                  <a:srgbClr val="BCBEC4"/>
                </a:solidFill>
                <a:latin typeface="Consolas"/>
              </a:rPr>
              <a:t>() { </a:t>
            </a:r>
            <a:r>
              <a:rPr sz="1700" dirty="0" err="1">
                <a:solidFill>
                  <a:srgbClr val="BCBEC4"/>
                </a:solidFill>
                <a:latin typeface="Consolas"/>
              </a:rPr>
              <a:t>allumee</a:t>
            </a:r>
            <a:r>
              <a:rPr sz="1700" dirty="0">
                <a:solidFill>
                  <a:srgbClr val="BCBEC4"/>
                </a:solidFill>
                <a:latin typeface="Consolas"/>
              </a:rPr>
              <a:t> = !</a:t>
            </a:r>
            <a:r>
              <a:rPr sz="1700" dirty="0" err="1">
                <a:solidFill>
                  <a:srgbClr val="BCBEC4"/>
                </a:solidFill>
                <a:latin typeface="Consolas"/>
              </a:rPr>
              <a:t>allumee</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public</a:t>
            </a:r>
            <a:r>
              <a:rPr sz="1700" dirty="0">
                <a:solidFill>
                  <a:srgbClr val="BCBEC4"/>
                </a:solidFill>
                <a:latin typeface="Consolas"/>
              </a:rPr>
              <a:t> </a:t>
            </a:r>
            <a:r>
              <a:rPr sz="1700" dirty="0" err="1">
                <a:solidFill>
                  <a:srgbClr val="CF8E6D"/>
                </a:solidFill>
                <a:latin typeface="Consolas"/>
              </a:rPr>
              <a:t>boolean</a:t>
            </a:r>
            <a:r>
              <a:rPr sz="1700" dirty="0">
                <a:solidFill>
                  <a:srgbClr val="BCBEC4"/>
                </a:solidFill>
                <a:latin typeface="Consolas"/>
              </a:rPr>
              <a:t> </a:t>
            </a:r>
            <a:r>
              <a:rPr sz="1700" dirty="0" err="1">
                <a:solidFill>
                  <a:srgbClr val="56A8F5"/>
                </a:solidFill>
                <a:latin typeface="Consolas"/>
              </a:rPr>
              <a:t>estAllumee</a:t>
            </a:r>
            <a:r>
              <a:rPr sz="1700" dirty="0">
                <a:solidFill>
                  <a:srgbClr val="BCBEC4"/>
                </a:solidFill>
                <a:latin typeface="Consolas"/>
              </a:rPr>
              <a:t>() { </a:t>
            </a:r>
            <a:r>
              <a:rPr sz="1700" dirty="0">
                <a:solidFill>
                  <a:srgbClr val="CF8E6D"/>
                </a:solidFill>
                <a:latin typeface="Consolas"/>
              </a:rPr>
              <a:t>return</a:t>
            </a:r>
            <a:r>
              <a:rPr sz="1700" dirty="0">
                <a:solidFill>
                  <a:srgbClr val="BCBEC4"/>
                </a:solidFill>
                <a:latin typeface="Consolas"/>
              </a:rPr>
              <a:t> </a:t>
            </a:r>
            <a:r>
              <a:rPr sz="1700" dirty="0" err="1">
                <a:solidFill>
                  <a:srgbClr val="BCBEC4"/>
                </a:solidFill>
                <a:latin typeface="Consolas"/>
              </a:rPr>
              <a:t>allumee</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4.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30878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4. Décrire l'écran en FXML</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Écrire l'écran, ou le décrire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Jusqu'ici</a:t>
            </a:r>
            <a:r>
              <a:rPr sz="2800" dirty="0"/>
              <a:t>, la </a:t>
            </a:r>
            <a:r>
              <a:rPr sz="2800" dirty="0" err="1"/>
              <a:t>vue</a:t>
            </a:r>
            <a:r>
              <a:rPr sz="2800" dirty="0"/>
              <a:t> </a:t>
            </a:r>
            <a:r>
              <a:rPr sz="2800" dirty="0" err="1"/>
              <a:t>était</a:t>
            </a:r>
            <a:r>
              <a:rPr sz="2800" dirty="0"/>
              <a:t> du code Java, dans </a:t>
            </a:r>
            <a:r>
              <a:rPr sz="2400" dirty="0">
                <a:solidFill>
                  <a:schemeClr val="accent4"/>
                </a:solidFill>
                <a:latin typeface="Consolas"/>
              </a:rPr>
              <a:t>start</a:t>
            </a:r>
          </a:p>
          <a:p>
            <a:pPr marL="0" indent="0">
              <a:spcAft>
                <a:spcPts val="1000"/>
              </a:spcAft>
              <a:buNone/>
            </a:pPr>
            <a:r>
              <a:rPr sz="2800" dirty="0"/>
              <a:t>Elle </a:t>
            </a:r>
            <a:r>
              <a:rPr sz="2800" dirty="0" err="1"/>
              <a:t>peut</a:t>
            </a:r>
            <a:r>
              <a:rPr sz="2800" dirty="0"/>
              <a:t> </a:t>
            </a:r>
            <a:r>
              <a:rPr sz="2800" dirty="0" err="1"/>
              <a:t>aussi</a:t>
            </a:r>
            <a:r>
              <a:rPr sz="2800" dirty="0"/>
              <a:t> se </a:t>
            </a:r>
            <a:r>
              <a:rPr sz="2800" dirty="0" err="1"/>
              <a:t>décrire</a:t>
            </a:r>
            <a:r>
              <a:rPr sz="2800" dirty="0"/>
              <a:t> dans un </a:t>
            </a:r>
            <a:r>
              <a:rPr sz="2800" dirty="0" err="1"/>
              <a:t>fichier</a:t>
            </a:r>
            <a:r>
              <a:rPr sz="2800" dirty="0"/>
              <a:t> </a:t>
            </a:r>
            <a:r>
              <a:rPr sz="2400" dirty="0">
                <a:solidFill>
                  <a:schemeClr val="accent4"/>
                </a:solidFill>
                <a:latin typeface="Consolas"/>
              </a:rPr>
              <a:t>.</a:t>
            </a:r>
            <a:r>
              <a:rPr sz="2400" dirty="0" err="1">
                <a:solidFill>
                  <a:schemeClr val="accent4"/>
                </a:solidFill>
                <a:latin typeface="Consolas"/>
              </a:rPr>
              <a:t>fxml</a:t>
            </a:r>
            <a:r>
              <a:rPr sz="2800" dirty="0"/>
              <a:t>, à part</a:t>
            </a:r>
          </a:p>
          <a:p>
            <a:pPr marL="0" indent="0">
              <a:spcAft>
                <a:spcPts val="1000"/>
              </a:spcAft>
              <a:buNone/>
            </a:pPr>
            <a:r>
              <a:rPr sz="2800" dirty="0"/>
              <a:t>Scene Builder </a:t>
            </a:r>
            <a:r>
              <a:rPr sz="2800" dirty="0" err="1"/>
              <a:t>dessine</a:t>
            </a:r>
            <a:r>
              <a:rPr sz="2800" dirty="0"/>
              <a:t> </a:t>
            </a:r>
            <a:r>
              <a:rPr sz="2800" dirty="0" err="1"/>
              <a:t>ce</a:t>
            </a:r>
            <a:r>
              <a:rPr sz="2800" dirty="0"/>
              <a:t> </a:t>
            </a:r>
            <a:r>
              <a:rPr sz="2800" dirty="0" err="1"/>
              <a:t>fichier</a:t>
            </a:r>
            <a:r>
              <a:rPr sz="2800" dirty="0"/>
              <a:t> à la </a:t>
            </a:r>
            <a:r>
              <a:rPr sz="2800" dirty="0" err="1"/>
              <a:t>souris</a:t>
            </a:r>
            <a:endParaRPr sz="2800" dirty="0"/>
          </a:p>
          <a:p>
            <a:pPr marL="0" indent="0">
              <a:spcAft>
                <a:spcPts val="1000"/>
              </a:spcAft>
              <a:buNone/>
            </a:pPr>
            <a:r>
              <a:rPr sz="2800" dirty="0"/>
              <a:t>Le FXML </a:t>
            </a:r>
            <a:r>
              <a:rPr sz="2800" dirty="0" err="1"/>
              <a:t>n'est</a:t>
            </a:r>
            <a:r>
              <a:rPr sz="2800" dirty="0"/>
              <a:t> pas à </a:t>
            </a:r>
            <a:r>
              <a:rPr sz="2800" dirty="0" err="1"/>
              <a:t>l'examen</a:t>
            </a:r>
            <a:endParaRPr sz="2800" dirty="0"/>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élément, un objet</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a:t>Un élément crée un objet de la classe du même nom</a:t>
            </a:r>
          </a:p>
          <a:p>
            <a:pPr marL="0" indent="0">
              <a:spcAft>
                <a:spcPts val="1000"/>
              </a:spcAft>
              <a:buNone/>
            </a:pPr>
            <a:r>
              <a:rPr sz="2400"/>
              <a:t>Un attribut appelle le mutateur du même nom : </a:t>
            </a:r>
            <a:r>
              <a:rPr sz="2100">
                <a:solidFill>
                  <a:schemeClr val="accent4"/>
                </a:solidFill>
                <a:latin typeface="Consolas"/>
              </a:rPr>
              <a:t>spacing</a:t>
            </a:r>
            <a:r>
              <a:rPr sz="2400"/>
              <a:t> appelle </a:t>
            </a:r>
            <a:r>
              <a:rPr sz="2100">
                <a:solidFill>
                  <a:schemeClr val="accent4"/>
                </a:solidFill>
                <a:latin typeface="Consolas"/>
              </a:rPr>
              <a:t>setSpacing</a:t>
            </a:r>
          </a:p>
          <a:p>
            <a:pPr marL="0" indent="0">
              <a:spcAft>
                <a:spcPts val="1000"/>
              </a:spcAft>
              <a:buNone/>
            </a:pPr>
            <a:r>
              <a:rPr sz="2400"/>
              <a:t>Les éléments imbriqués deviennent les enfants</a:t>
            </a:r>
          </a:p>
          <a:p>
            <a:pPr marL="0" indent="0">
              <a:spcAft>
                <a:spcPts val="1000"/>
              </a:spcAft>
              <a:buNone/>
            </a:pPr>
            <a:r>
              <a:rPr sz="2400"/>
              <a:t>Les classes s'importent, comme en Java</a:t>
            </a:r>
          </a:p>
        </p:txBody>
      </p:sp>
      <p:sp>
        <p:nvSpPr>
          <p:cNvPr id="4" name="Code"/>
          <p:cNvSpPr txBox="1"/>
          <p:nvPr/>
        </p:nvSpPr>
        <p:spPr>
          <a:xfrm>
            <a:off x="5257800" y="1371600"/>
            <a:ext cx="5797296"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javafx.scene.control.Button?&gt;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javafx.scene.control.Label?&gt;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javafx.scene.layout.VBox?&gt;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&lt;VBox spacing=</a:t>
            </a:r>
            <a:r>
              <a:rPr sz="1800">
                <a:solidFill>
                  <a:srgbClr val="6AAB73"/>
                </a:solidFill>
                <a:latin typeface="Consolas"/>
              </a:rPr>
              <a:t>"10"</a:t>
            </a:r>
            <a:r>
              <a:rPr sz="1800">
                <a:solidFill>
                  <a:srgbClr val="BCBEC4"/>
                </a:solidFill>
                <a:latin typeface="Consolas"/>
              </a:rPr>
              <a:t> alignment=</a:t>
            </a:r>
            <a:r>
              <a:rPr sz="1800">
                <a:solidFill>
                  <a:srgbClr val="6AAB73"/>
                </a:solidFill>
                <a:latin typeface="Consolas"/>
              </a:rPr>
              <a:t>"CENTER"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&lt;Label text=</a:t>
            </a:r>
            <a:r>
              <a:rPr sz="1800">
                <a:solidFill>
                  <a:srgbClr val="6AAB73"/>
                </a:solidFill>
                <a:latin typeface="Consolas"/>
              </a:rPr>
              <a:t>"Eteinte"</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"Interrupteur"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&lt;/VBox&gt;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
        <p:nvSpPr>
          <p:cNvPr id="7" name="Bulle rectangulaire à coins arrondis 6">
            <a:extLst>
              <a:ext uri="{FF2B5EF4-FFF2-40B4-BE49-F238E27FC236}">
                <a16:creationId xmlns:a16="http://schemas.microsoft.com/office/drawing/2014/main" id="{DA294859-3F96-6E4A-CBA3-13C529B9746E}"/>
              </a:ext>
            </a:extLst>
          </p:cNvPr>
          <p:cNvSpPr/>
          <p:nvPr/>
        </p:nvSpPr>
        <p:spPr>
          <a:xfrm>
            <a:off x="8823960" y="4158995"/>
            <a:ext cx="2714625" cy="952500"/>
          </a:xfrm>
          <a:prstGeom prst="wedgeRoundRectCallout">
            <a:avLst>
              <a:gd name="adj1" fmla="val -45043"/>
              <a:gd name="adj2" fmla="val -95500"/>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Code </a:t>
            </a:r>
            <a:r>
              <a:rPr lang="fr-FR" dirty="0" err="1"/>
              <a:t>FXML</a:t>
            </a:r>
            <a:r>
              <a:rPr lang="fr-FR" dirty="0"/>
              <a:t>, une spécialisation de XML…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Charger une vue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fichier se range dans </a:t>
            </a:r>
            <a:r>
              <a:rPr sz="2400">
                <a:solidFill>
                  <a:schemeClr val="accent4"/>
                </a:solidFill>
                <a:latin typeface="Consolas"/>
              </a:rPr>
              <a:t>src/main/resources</a:t>
            </a:r>
            <a:r>
              <a:rPr sz="2800"/>
              <a:t>, dans le même package que la classe</a:t>
            </a:r>
          </a:p>
          <a:p>
            <a:pPr marL="0" indent="0">
              <a:spcAft>
                <a:spcPts val="1000"/>
              </a:spcAft>
              <a:buNone/>
            </a:pPr>
            <a:r>
              <a:rPr sz="2800"/>
              <a:t>Un </a:t>
            </a:r>
            <a:r>
              <a:rPr sz="2400">
                <a:solidFill>
                  <a:schemeClr val="accent4"/>
                </a:solidFill>
                <a:latin typeface="Consolas"/>
              </a:rPr>
              <a:t>FXMLLoader</a:t>
            </a:r>
            <a:r>
              <a:rPr sz="2800"/>
              <a:t> le lit et retourne la racine qu'il décrit</a:t>
            </a:r>
          </a:p>
          <a:p>
            <a:pPr marL="0" indent="0">
              <a:spcAft>
                <a:spcPts val="1000"/>
              </a:spcAft>
              <a:buNone/>
            </a:pPr>
            <a:r>
              <a:rPr sz="2800"/>
              <a:t>Le reste ne change pas : une scène, une fenêtre</a:t>
            </a:r>
          </a:p>
        </p:txBody>
      </p:sp>
      <p:sp>
        <p:nvSpPr>
          <p:cNvPr id="4" name="Code"/>
          <p:cNvSpPr txBox="1"/>
          <p:nvPr/>
        </p:nvSpPr>
        <p:spPr>
          <a:xfrm>
            <a:off x="1612901" y="3733799"/>
            <a:ext cx="8966198"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@Override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start</a:t>
            </a:r>
            <a:r>
              <a:rPr sz="1800">
                <a:solidFill>
                  <a:srgbClr val="BCBEC4"/>
                </a:solidFill>
                <a:latin typeface="Consolas"/>
              </a:rPr>
              <a:t>(Stage fenetre) </a:t>
            </a:r>
            <a:r>
              <a:rPr sz="1800">
                <a:solidFill>
                  <a:srgbClr val="CF8E6D"/>
                </a:solidFill>
                <a:latin typeface="Consolas"/>
              </a:rPr>
              <a:t>throws</a:t>
            </a:r>
            <a:r>
              <a:rPr sz="1800">
                <a:solidFill>
                  <a:srgbClr val="BCBEC4"/>
                </a:solidFill>
                <a:latin typeface="Consolas"/>
              </a:rPr>
              <a:t> IOException {</a:t>
            </a:r>
          </a:p>
          <a:p>
            <a:pPr>
              <a:lnSpc>
                <a:spcPct val="100000"/>
              </a:lnSpc>
              <a:spcBef>
                <a:spcPts val="0"/>
              </a:spcBef>
              <a:spcAft>
                <a:spcPts val="0"/>
              </a:spcAft>
            </a:pPr>
            <a:r>
              <a:rPr sz="1800">
                <a:solidFill>
                  <a:srgbClr val="BCBEC4"/>
                </a:solidFill>
                <a:latin typeface="Consolas"/>
              </a:rPr>
              <a:t>    FXMLLoader chargeur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FXMLLoader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ApplicationLampe.</a:t>
            </a:r>
            <a:r>
              <a:rPr sz="1800">
                <a:solidFill>
                  <a:srgbClr val="CF8E6D"/>
                </a:solidFill>
                <a:latin typeface="Consolas"/>
              </a:rPr>
              <a:t>class</a:t>
            </a:r>
            <a:r>
              <a:rPr sz="1800">
                <a:solidFill>
                  <a:srgbClr val="BCBEC4"/>
                </a:solidFill>
                <a:latin typeface="Consolas"/>
              </a:rPr>
              <a:t>.</a:t>
            </a:r>
            <a:r>
              <a:rPr sz="1800">
                <a:solidFill>
                  <a:srgbClr val="56A8F5"/>
                </a:solidFill>
                <a:latin typeface="Consolas"/>
              </a:rPr>
              <a:t>getResource</a:t>
            </a:r>
            <a:r>
              <a:rPr sz="1800">
                <a:solidFill>
                  <a:srgbClr val="BCBEC4"/>
                </a:solidFill>
                <a:latin typeface="Consolas"/>
              </a:rPr>
              <a:t>(</a:t>
            </a:r>
            <a:r>
              <a:rPr sz="1800">
                <a:solidFill>
                  <a:srgbClr val="6AAB73"/>
                </a:solidFill>
                <a:latin typeface="Consolas"/>
              </a:rPr>
              <a:t>"lampe.fxml"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fenetre.</a:t>
            </a:r>
            <a:r>
              <a:rPr sz="1800">
                <a:solidFill>
                  <a:srgbClr val="56A8F5"/>
                </a:solidFill>
                <a:latin typeface="Consolas"/>
              </a:rPr>
              <a:t>setScene</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Scene</a:t>
            </a:r>
            <a:r>
              <a:rPr sz="1800">
                <a:solidFill>
                  <a:srgbClr val="BCBEC4"/>
                </a:solidFill>
                <a:latin typeface="Consolas"/>
              </a:rPr>
              <a:t>(chargeur.</a:t>
            </a:r>
            <a:r>
              <a:rPr sz="1800">
                <a:solidFill>
                  <a:srgbClr val="56A8F5"/>
                </a:solidFill>
                <a:latin typeface="Consolas"/>
              </a:rPr>
              <a:t>load</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fenetre.</a:t>
            </a:r>
            <a:r>
              <a:rPr sz="1800">
                <a:solidFill>
                  <a:srgbClr val="56A8F5"/>
                </a:solidFill>
                <a:latin typeface="Consolas"/>
              </a:rPr>
              <a:t>show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vue et son contrôleur</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L'attribut </a:t>
            </a:r>
            <a:r>
              <a:rPr sz="2400">
                <a:solidFill>
                  <a:schemeClr val="accent4"/>
                </a:solidFill>
                <a:latin typeface="Consolas"/>
              </a:rPr>
              <a:t>fx:controller</a:t>
            </a:r>
            <a:r>
              <a:rPr sz="2800"/>
              <a:t> nomme le contrôleur</a:t>
            </a:r>
          </a:p>
          <a:p>
            <a:pPr marL="0" indent="0">
              <a:spcAft>
                <a:spcPts val="1000"/>
              </a:spcAft>
              <a:buNone/>
            </a:pPr>
            <a:r>
              <a:rPr sz="2800"/>
              <a:t>Un </a:t>
            </a:r>
            <a:r>
              <a:rPr sz="2400">
                <a:solidFill>
                  <a:schemeClr val="accent4"/>
                </a:solidFill>
                <a:latin typeface="Consolas"/>
              </a:rPr>
              <a:t>fx:id</a:t>
            </a:r>
            <a:r>
              <a:rPr sz="2800"/>
              <a:t> remplit le champ </a:t>
            </a:r>
            <a:r>
              <a:rPr sz="2400">
                <a:solidFill>
                  <a:schemeClr val="accent4"/>
                </a:solidFill>
                <a:latin typeface="Consolas"/>
              </a:rPr>
              <a:t>@FXML</a:t>
            </a:r>
            <a:r>
              <a:rPr sz="2800"/>
              <a:t> de même nom</a:t>
            </a:r>
          </a:p>
          <a:p>
            <a:pPr marL="0" indent="0">
              <a:spcAft>
                <a:spcPts val="1000"/>
              </a:spcAft>
              <a:buNone/>
            </a:pPr>
            <a:r>
              <a:rPr sz="2800"/>
              <a:t>Un </a:t>
            </a:r>
            <a:r>
              <a:rPr sz="2400">
                <a:solidFill>
                  <a:schemeClr val="accent4"/>
                </a:solidFill>
                <a:latin typeface="Consolas"/>
              </a:rPr>
              <a:t>onAction</a:t>
            </a:r>
            <a:r>
              <a:rPr sz="2800"/>
              <a:t> appelle la méthode </a:t>
            </a:r>
            <a:r>
              <a:rPr sz="2400">
                <a:solidFill>
                  <a:schemeClr val="accent4"/>
                </a:solidFill>
                <a:latin typeface="Consolas"/>
              </a:rPr>
              <a:t>@FXML</a:t>
            </a:r>
            <a:r>
              <a:rPr sz="2800"/>
              <a:t> désignée</a:t>
            </a:r>
          </a:p>
        </p:txBody>
      </p:sp>
      <p:sp>
        <p:nvSpPr>
          <p:cNvPr id="4" name="Code"/>
          <p:cNvSpPr txBox="1"/>
          <p:nvPr/>
        </p:nvSpPr>
        <p:spPr>
          <a:xfrm>
            <a:off x="2033941" y="3307080"/>
            <a:ext cx="8124118"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ControleurLampe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final</a:t>
            </a:r>
            <a:r>
              <a:rPr sz="1550">
                <a:solidFill>
                  <a:srgbClr val="BCBEC4"/>
                </a:solidFill>
                <a:latin typeface="Consolas"/>
              </a:rPr>
              <a:t> Lampe lampe = </a:t>
            </a:r>
            <a:r>
              <a:rPr sz="1550">
                <a:solidFill>
                  <a:srgbClr val="CF8E6D"/>
                </a:solidFill>
                <a:latin typeface="Consolas"/>
              </a:rPr>
              <a:t>new</a:t>
            </a:r>
            <a:r>
              <a:rPr sz="1550">
                <a:solidFill>
                  <a:srgbClr val="BCBEC4"/>
                </a:solidFill>
                <a:latin typeface="Consolas"/>
              </a:rPr>
              <a:t> </a:t>
            </a:r>
            <a:r>
              <a:rPr sz="1550">
                <a:solidFill>
                  <a:srgbClr val="56A8F5"/>
                </a:solidFill>
                <a:latin typeface="Consolas"/>
              </a:rPr>
              <a:t>Lampe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B3AE60"/>
                </a:solidFill>
                <a:latin typeface="Consolas"/>
              </a:rPr>
              <a:t>@FXML</a:t>
            </a: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Label etat;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B3AE60"/>
                </a:solidFill>
                <a:latin typeface="Consolas"/>
              </a:rPr>
              <a:t>@FXML</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basculer</a:t>
            </a:r>
            <a:r>
              <a:rPr sz="1550">
                <a:solidFill>
                  <a:srgbClr val="BCBEC4"/>
                </a:solidFill>
                <a:latin typeface="Consolas"/>
              </a:rPr>
              <a:t>(ActionEvent evenement) {</a:t>
            </a:r>
          </a:p>
          <a:p>
            <a:pPr>
              <a:lnSpc>
                <a:spcPct val="100000"/>
              </a:lnSpc>
              <a:spcBef>
                <a:spcPts val="0"/>
              </a:spcBef>
              <a:spcAft>
                <a:spcPts val="0"/>
              </a:spcAft>
            </a:pPr>
            <a:r>
              <a:rPr sz="1550">
                <a:solidFill>
                  <a:srgbClr val="BCBEC4"/>
                </a:solidFill>
                <a:latin typeface="Consolas"/>
              </a:rPr>
              <a:t>        lampe.</a:t>
            </a:r>
            <a:r>
              <a:rPr sz="1550">
                <a:solidFill>
                  <a:srgbClr val="56A8F5"/>
                </a:solidFill>
                <a:latin typeface="Consolas"/>
              </a:rPr>
              <a:t>basculer</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etat.</a:t>
            </a:r>
            <a:r>
              <a:rPr sz="1550">
                <a:solidFill>
                  <a:srgbClr val="56A8F5"/>
                </a:solidFill>
                <a:latin typeface="Consolas"/>
              </a:rPr>
              <a:t>setText</a:t>
            </a:r>
            <a:r>
              <a:rPr sz="1550">
                <a:solidFill>
                  <a:srgbClr val="BCBEC4"/>
                </a:solidFill>
                <a:latin typeface="Consolas"/>
              </a:rPr>
              <a:t>(lampe.</a:t>
            </a:r>
            <a:r>
              <a:rPr sz="1550">
                <a:solidFill>
                  <a:srgbClr val="56A8F5"/>
                </a:solidFill>
                <a:latin typeface="Consolas"/>
              </a:rPr>
              <a:t>estAllumee</a:t>
            </a:r>
            <a:r>
              <a:rPr sz="1550">
                <a:solidFill>
                  <a:srgbClr val="BCBEC4"/>
                </a:solidFill>
                <a:latin typeface="Consolas"/>
              </a:rPr>
              <a:t>() ? </a:t>
            </a:r>
            <a:r>
              <a:rPr sz="1550">
                <a:solidFill>
                  <a:srgbClr val="6AAB73"/>
                </a:solidFill>
                <a:latin typeface="Consolas"/>
              </a:rPr>
              <a:t>"Allumee"</a:t>
            </a:r>
            <a:r>
              <a:rPr sz="1550">
                <a:solidFill>
                  <a:srgbClr val="BCBEC4"/>
                </a:solidFill>
                <a:latin typeface="Consolas"/>
              </a:rPr>
              <a:t> : </a:t>
            </a:r>
            <a:r>
              <a:rPr sz="1550">
                <a:solidFill>
                  <a:srgbClr val="6AAB73"/>
                </a:solidFill>
                <a:latin typeface="Consolas"/>
              </a:rPr>
              <a:t>"Eteinte"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FX.9</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calculatrice, en MVC</a:t>
            </a:r>
          </a:p>
          <a:p>
            <a:r>
              <a:rPr sz="1400">
                <a:solidFill>
                  <a:srgbClr val="BCBEC4"/>
                </a:solidFill>
              </a:rPr>
              <a:t>fascicule FX</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 aller plus loin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démineur : un projet </a:t>
            </a:r>
            <a:r>
              <a:rPr sz="2800">
                <a:solidFill>
                  <a:schemeClr val="accent4"/>
                </a:solidFill>
                <a:latin typeface="Consolas"/>
              </a:rPr>
              <a:t>JavaFX</a:t>
            </a:r>
            <a:r>
              <a:rPr sz="2800"/>
              <a:t> complet, facultatif</a:t>
            </a:r>
          </a:p>
          <a:p>
            <a:pPr marL="0" indent="0">
              <a:spcAft>
                <a:spcPts val="1000"/>
              </a:spcAft>
              <a:buNone/>
            </a:pPr>
            <a:r>
              <a:rPr sz="2800"/>
              <a:t>Vous écrivez la grille et ses règles ; la fenêtre est fournie</a:t>
            </a:r>
          </a:p>
          <a:p>
            <a:pPr marL="0" indent="0">
              <a:spcAft>
                <a:spcPts val="1000"/>
              </a:spcAft>
              <a:buNone/>
            </a:pPr>
            <a:r>
              <a:rPr sz="2800"/>
              <a:t>Onze tests </a:t>
            </a:r>
            <a:r>
              <a:rPr sz="2800">
                <a:solidFill>
                  <a:schemeClr val="accent4"/>
                </a:solidFill>
                <a:latin typeface="Consolas"/>
              </a:rPr>
              <a:t>JUnit</a:t>
            </a:r>
            <a:r>
              <a:rPr sz="2800"/>
              <a:t> vérifient votre grille, sans ouvrir de fenêtre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Des boutons qui savent quand se taire</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Relire la question de fin du deck FX1</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pic>
        <p:nvPicPr>
          <p:cNvPr id="9"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114999</TotalTime>
  <Words>4167</Words>
  <Application>Microsoft Macintosh PowerPoint</Application>
  <PresentationFormat>Grand écran</PresentationFormat>
  <Paragraphs>295</Paragraphs>
  <Slides>24</Slides>
  <Notes>24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Aptos</vt:lpstr>
      <vt:lpstr>Arial</vt:lpstr>
      <vt:lpstr>Calibri</vt:lpstr>
      <vt:lpstr>Consolas</vt:lpstr>
      <vt:lpstr>Corbel</vt:lpstr>
      <vt:lpstr>ThemeEphec2022</vt:lpstr>
      <vt:lpstr>JAVA 2</vt:lpstr>
      <vt:lpstr>Au programme</vt:lpstr>
      <vt:lpstr>Présentation PowerPoint</vt:lpstr>
      <vt:lpstr>Réagir à un geste, ou à une valeur</vt:lpstr>
      <vt:lpstr>Une propriété est un objet</vt:lpstr>
      <vt:lpstr>S'abonner à un changement</vt:lpstr>
      <vt:lpstr>Les contrôles en ont aussi</vt:lpstr>
      <vt:lpstr>Exercices</vt:lpstr>
      <vt:lpstr>Présentation PowerPoint</vt:lpstr>
      <vt:lpstr>Une dépendance déclarée</vt:lpstr>
      <vt:lpstr>Des valeurs qui se calculent</vt:lpstr>
      <vt:lpstr>Dans les deux sens</vt:lpstr>
      <vt:lpstr>Exercices</vt:lpstr>
      <vt:lpstr>Présentation PowerPoint</vt:lpstr>
      <vt:lpstr>Trois responsabilités</vt:lpstr>
      <vt:lpstr>Qui connaît qui</vt:lpstr>
      <vt:lpstr>Présentation PowerPoint</vt:lpstr>
      <vt:lpstr>Écrire l'écran, ou le décrire</vt:lpstr>
      <vt:lpstr>Un élément, un objet</vt:lpstr>
      <vt:lpstr>Charger une vue</vt:lpstr>
      <vt:lpstr>La vue et son contrôleur</vt:lpstr>
      <vt:lpstr>Exercices</vt:lpstr>
      <vt:lpstr>Pour aller plus loin</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2026-10-22T21:56:05Z</dcterms:modified>
</cp:coreProperties>
</file>