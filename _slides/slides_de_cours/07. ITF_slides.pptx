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40"/>
  </p:notesMasterIdLst>
  <p:handoutMasterIdLst>
    <p:handoutMasterId r:id="rId41"/>
  </p:handoutMasterIdLst>
  <p:sldIdLst>
    <p:sldId id="695" r:id="rId2"/>
    <p:sldId id="730" r:id="rId3"/>
    <p:sldId id="696" r:id="rId4"/>
    <p:sldId id="697" r:id="rId5"/>
    <p:sldId id="698" r:id="rId6"/>
    <p:sldId id="699" r:id="rId7"/>
    <p:sldId id="700" r:id="rId8"/>
    <p:sldId id="701" r:id="rId9"/>
    <p:sldId id="702" r:id="rId10"/>
    <p:sldId id="703" r:id="rId11"/>
    <p:sldId id="704" r:id="rId12"/>
    <p:sldId id="705" r:id="rId13"/>
    <p:sldId id="706" r:id="rId14"/>
    <p:sldId id="707" r:id="rId15"/>
    <p:sldId id="708" r:id="rId16"/>
    <p:sldId id="709" r:id="rId17"/>
    <p:sldId id="710" r:id="rId18"/>
    <p:sldId id="711" r:id="rId19"/>
    <p:sldId id="712" r:id="rId20"/>
    <p:sldId id="586" r:id="rId21"/>
    <p:sldId id="713" r:id="rId22"/>
    <p:sldId id="714" r:id="rId23"/>
    <p:sldId id="715" r:id="rId24"/>
    <p:sldId id="590" r:id="rId25"/>
    <p:sldId id="716" r:id="rId26"/>
    <p:sldId id="717" r:id="rId27"/>
    <p:sldId id="718" r:id="rId28"/>
    <p:sldId id="719" r:id="rId29"/>
    <p:sldId id="720" r:id="rId30"/>
    <p:sldId id="721" r:id="rId31"/>
    <p:sldId id="722" r:id="rId32"/>
    <p:sldId id="723" r:id="rId33"/>
    <p:sldId id="724" r:id="rId34"/>
    <p:sldId id="725" r:id="rId35"/>
    <p:sldId id="726" r:id="rId36"/>
    <p:sldId id="727" r:id="rId37"/>
    <p:sldId id="728" r:id="rId38"/>
    <p:sldId id="729"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2EEC97A2-0A9B-5F05-8112-9DA3204D6356}">
          <p14:sldIdLst>
            <p14:sldId id="695"/>
            <p14:sldId id="730"/>
          </p14:sldIdLst>
        </p14:section>
        <p14:section name="1. Ce qu'une interface déclare" id="{138FEA36-7953-5A28-98E9-3A9F0A72DA0E}">
          <p14:sldIdLst>
            <p14:sldId id="696"/>
            <p14:sldId id="697"/>
            <p14:sldId id="698"/>
            <p14:sldId id="699"/>
            <p14:sldId id="700"/>
            <p14:sldId id="701"/>
            <p14:sldId id="702"/>
          </p14:sldIdLst>
        </p14:section>
        <p14:section name="2. Plusieurs interfaces à la fois" id="{8489D4B1-88A2-5EEF-9A7C-15B6EF28E3D3}">
          <p14:sldIdLst>
            <p14:sldId id="703"/>
            <p14:sldId id="704"/>
            <p14:sldId id="705"/>
            <p14:sldId id="706"/>
            <p14:sldId id="707"/>
          </p14:sldIdLst>
        </p14:section>
        <p14:section name="3. Interface ou classe abstraite ?" id="{7BD1520C-EA1A-5892-A781-0A2E19F57429}">
          <p14:sldIdLst>
            <p14:sldId id="708"/>
            <p14:sldId id="709"/>
            <p14:sldId id="710"/>
            <p14:sldId id="711"/>
          </p14:sldIdLst>
        </p14:section>
        <p14:section name="4. Dépendre d'un contrat" id="{A170A74D-B7B6-53C5-ADFD-A1F9BD034BEC}">
          <p14:sldIdLst>
            <p14:sldId id="712"/>
            <p14:sldId id="586"/>
            <p14:sldId id="713"/>
            <p14:sldId id="714"/>
            <p14:sldId id="715"/>
            <p14:sldId id="590"/>
            <p14:sldId id="716"/>
            <p14:sldId id="717"/>
          </p14:sldIdLst>
        </p14:section>
        <p14:section name="5. Le patron Observateur" id="{4E3CF3B9-7B25-5A5A-A6DB-B64BEC950A89}">
          <p14:sldIdLst>
            <p14:sldId id="718"/>
            <p14:sldId id="719"/>
            <p14:sldId id="720"/>
            <p14:sldId id="721"/>
            <p14:sldId id="722"/>
            <p14:sldId id="723"/>
          </p14:sldIdLst>
        </p14:section>
        <p14:section name="6. Ce qu'une interface porte aussi" id="{8E26FC62-B780-5F88-81F1-22E5EB199889}">
          <p14:sldIdLst>
            <p14:sldId id="724"/>
            <p14:sldId id="725"/>
            <p14:sldId id="726"/>
            <p14:sldId id="727"/>
            <p14:sldId id="728"/>
            <p14:sldId id="72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38893"/>
    <a:srgbClr val="2868A2"/>
    <a:srgbClr val="0675AE"/>
    <a:srgbClr val="FFC000"/>
    <a:srgbClr val="1D1F22"/>
    <a:srgbClr val="38FF4F"/>
    <a:srgbClr val="FFDF8B"/>
    <a:srgbClr val="802C31"/>
    <a:srgbClr val="AE6B68"/>
    <a:srgbClr val="9A52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273"/>
    <p:restoredTop sz="84932"/>
  </p:normalViewPr>
  <p:slideViewPr>
    <p:cSldViewPr snapToGrid="0">
      <p:cViewPr varScale="1">
        <p:scale>
          <a:sx n="107" d="100"/>
          <a:sy n="107" d="100"/>
        </p:scale>
        <p:origin x="536" y="168"/>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22/10/2026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22/10/2026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précédent a montré comment partager du code entre des classes voisines. Celui-ci répond à une autre question : comment faire travailler ensemble des classes qui n'ont rien en commun.</a:t>
            </a:r>
          </a:p>
          <a:p>
            <a:r>
              <a:t>La réponse tient dans le sous-titre du fascicule : décrire ce qu'on attend, sans dire qui le fera. Une interface énonce un service, et laisse à d'autres le soin de le rendre.</a:t>
            </a:r>
          </a:p>
          <a:p>
            <a:r>
              <a:t>C'est la notion qui porte le découplage, et donc la majorité des conceptions que vous rencontrerez en entreprise. Elle sert aussi dans deux questions d'examen : la hiérarchie d'</a:t>
            </a:r>
            <a:r>
              <a:rPr>
                <a:latin typeface="Consolas"/>
              </a:rPr>
              <a:t>ABS.4</a:t>
            </a:r>
            <a:r>
              <a:t>, dont le sommet est une interface, et l'interface graphique, qui fonctionne entièrement sur ce principe.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six sections : 1. Ce qu'une interface déclare ; 2. Plusieurs interfaces à la fois ; 3. Interface ou classe abstraite ? ; 4. Dépendre d'un contrat ; 5. Le patron Observateur ; 6. Ce qu'une interface contient aussi.</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d'un programme qui fonctionne : un fournisseur, des clients abonnés, des produits qui arrivent. Il n'y a aucun bug à corriger. Ce qui va changer, c'est ce que ce code permettra de faire demain.</a:t>
            </a:r>
          </a:p>
          <a:p>
            <a:r>
              <a:t>Une épicerie veut être prévenue elle aussi. Elle a la bonne méthode, avec la bonne signature, et le compilateur la refuse quand même : le fournisseur a été écrit pour une classe, pas pour une capacité.</a:t>
            </a:r>
          </a:p>
          <a:p>
            <a:r>
              <a:t>La fausse bonne idée est jouée volontairement : faire hériter </a:t>
            </a:r>
            <a:r>
              <a:rPr>
                <a:latin typeface="Consolas"/>
              </a:rPr>
              <a:t>Magasin</a:t>
            </a:r>
            <a:r>
              <a:t> de </a:t>
            </a:r>
            <a:r>
              <a:rPr>
                <a:latin typeface="Consolas"/>
              </a:rPr>
              <a:t>Client</a:t>
            </a:r>
            <a:r>
              <a:t>. Ça compile, et c'est un mensonge fait au compilateur. Un magasin n'est pas un client.</a:t>
            </a:r>
          </a:p>
          <a:p>
            <a:r>
              <a:t>L'interface </a:t>
            </a:r>
            <a:r>
              <a:rPr>
                <a:latin typeface="Consolas"/>
              </a:rPr>
              <a:t>Abonne</a:t>
            </a:r>
            <a:r>
              <a:t> est alors extraite, et trois mots changent dans le fournisseur. Le magasin est prévenu comme les clients. Le point d'orgue est la question finale : que faut-il pour ajouter un entrepôt ? Une classe, trois lignes, et pas une seule modification ailleurs.</a:t>
            </a:r>
          </a:p>
          <a:p>
            <a:r>
              <a:t>Le patron qui vient d'être joué porte un nom. Il sera nommé à la section 5, une fois la syntaxe installée.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interface ressemble à une classe abstraite qui n'aurait que des méthodes abstraites. La ressemblance est un bon point de départ, et la section 3 dira où elle s'arrête.</a:t>
            </a:r>
          </a:p>
          <a:p>
            <a:r>
              <a:t>L'écriture est dépouillée. Pas d'accolades après la méthode, un point-virgule à la place, et aucun modificateur : une méthode d'interface est destinée à être écrite ailleurs, donc elle est publique, et le préciser n'apporte rien. Le compilateur l'accepte si vous l'écrivez, mais IntelliJ le signalera comme redondant.</a:t>
            </a:r>
          </a:p>
          <a:p>
            <a:r>
              <a:t>Le nom choisi ici dit une capacité, pas une nature. C'est une habitude utile : beaucoup d'interfaces du JDK se terminent par </a:t>
            </a:r>
            <a:r>
              <a:rPr>
                <a:latin typeface="Consolas"/>
              </a:rPr>
              <a:t>-able</a:t>
            </a:r>
            <a:r>
              <a:t>, </a:t>
            </a:r>
            <a:r>
              <a:rPr>
                <a:latin typeface="Consolas"/>
              </a:rPr>
              <a:t>Comparable</a:t>
            </a:r>
            <a:r>
              <a:t>, </a:t>
            </a:r>
            <a:r>
              <a:rPr>
                <a:latin typeface="Consolas"/>
              </a:rPr>
              <a:t>Runnable</a:t>
            </a:r>
            <a:r>
              <a:t>, </a:t>
            </a:r>
            <a:r>
              <a:rPr>
                <a:latin typeface="Consolas"/>
              </a:rPr>
              <a:t>Serializable</a:t>
            </a:r>
            <a:r>
              <a:t>.</a:t>
            </a:r>
          </a:p>
          <a:p>
            <a:r>
              <a:rPr lang="fr-BE" dirty="0"/>
              <a:t>Le code complet, à exécuter : demos, classe demo.itf.slides.LeTypePeutEtreLInterface.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avez déjà croisé </a:t>
            </a:r>
            <a:r>
              <a:rPr>
                <a:latin typeface="Consolas"/>
              </a:rPr>
              <a:t>implements</a:t>
            </a:r>
            <a:r>
              <a:t> au module précédent : la classe </a:t>
            </a:r>
            <a:r>
              <a:rPr>
                <a:latin typeface="Consolas"/>
              </a:rPr>
              <a:t>Prestation</a:t>
            </a:r>
            <a:r>
              <a:t> d'</a:t>
            </a:r>
            <a:r>
              <a:rPr>
                <a:latin typeface="Consolas"/>
              </a:rPr>
              <a:t>ABS.4</a:t>
            </a:r>
            <a:r>
              <a:t> s'engageait sur l'interface </a:t>
            </a:r>
            <a:r>
              <a:rPr>
                <a:latin typeface="Consolas"/>
              </a:rPr>
              <a:t>Facturable</a:t>
            </a:r>
            <a:r>
              <a:t> sans écrire la méthode, parce qu'elle était abstraite. Ici, les deux classes sont concrètes, donc elles écrivent.</a:t>
            </a:r>
          </a:p>
          <a:p>
            <a:r>
              <a:t>Regardez ce que ces deux classes ont en commun : rien. Un examen se mesure en points, un colis en grammes, et aucune classe mère ne les réunirait sans inventer une parenté qui n'existe pas. C'est exactement ce que la classe abstraite ne sait pas faire, et ce pour quoi l'interface existe.</a:t>
            </a:r>
          </a:p>
          <a:p>
            <a:r>
              <a:t>L'annotation </a:t>
            </a:r>
            <a:r>
              <a:rPr>
                <a:latin typeface="Consolas"/>
              </a:rPr>
              <a:t>@Override</a:t>
            </a:r>
            <a:r>
              <a:t> n'est pas obligatoire, mais elle vaut d'être écrite : elle fait vérifier par le compilateur que la méthode correspond bien à une promesse. Une faute de frappe dans le nom devient une erreur de compilation au lieu d'un silence.</a:t>
            </a:r>
          </a:p>
          <a:p>
            <a:r>
              <a:rPr lang="fr-BE" dirty="0"/>
              <a:t>Le code complet, à exécuter : demos, classe demo.itf.slides.LeTypePeutEtreLInterface.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interface n'a pas de constructeur et ne décrit aucun objet : il n'y a rien à instancier. Elle ne sert que de type.</a:t>
            </a:r>
          </a:p>
          <a:p>
            <a:r>
              <a:t>La seconde erreur est plus intéressante que la première. L'objet référencé est bel et bien un colis, et il a sans doute un destinataire, mais la variable est déclarée </a:t>
            </a:r>
            <a:r>
              <a:rPr>
                <a:latin typeface="Consolas"/>
              </a:rPr>
              <a:t>Mesurable</a:t>
            </a:r>
            <a:r>
              <a:t> : le compilateur ne regarde que ce que ce type promet. Ce n'est pas une gêne, c'est l'intérêt même du procédé. Le code qui manipule des mesurables ne peut plus dépendre par accident d'un détail des colis.</a:t>
            </a:r>
          </a:p>
          <a:p>
            <a:r>
              <a:t>La question est posée en fin d'</a:t>
            </a:r>
            <a:r>
              <a:rPr>
                <a:latin typeface="Consolas"/>
              </a:rPr>
              <a:t>ITF.3</a:t>
            </a:r>
            <a:r>
              <a:t> sur un tableau de </a:t>
            </a:r>
            <a:r>
              <a:rPr>
                <a:latin typeface="Consolas"/>
              </a:rPr>
              <a:t>Translatable</a:t>
            </a:r>
            <a:r>
              <a:t> : essayez d'y appeler une méthode qui n'est pas dans l'interface, et lisez ce que dit le compilateur.</a:t>
            </a:r>
          </a:p>
          <a:p>
            <a:r>
              <a:rPr lang="fr-BE" dirty="0"/>
              <a:t>Le code complet, à exécuter : demos, classe demo.itf.slides.LeTypePeutEtreLInterface.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méthode additionne des examens et des colis dans le même tableau, et elle ignore lesquels. Elle fonctionnera aussi avec une classe qui n'existe pas encore, du moment que cette classe implémente </a:t>
            </a:r>
            <a:r>
              <a:rPr>
                <a:latin typeface="Consolas"/>
              </a:rPr>
              <a:t>Mesurable</a:t>
            </a:r>
            <a:r>
              <a:t>.</a:t>
            </a:r>
          </a:p>
          <a:p>
            <a:r>
              <a:t>C'est le point le plus important de la section, et il sera vérifié dès </a:t>
            </a:r>
            <a:r>
              <a:rPr>
                <a:latin typeface="Consolas"/>
              </a:rPr>
              <a:t>ITF.1</a:t>
            </a:r>
            <a:r>
              <a:t> : le test y passe à votre méthode une soustraction fabriquée sur place, que vous n'avez pas écrite et dont votre code n'a jamais entendu parler.</a:t>
            </a:r>
          </a:p>
          <a:p>
            <a:r>
              <a:t>Retenez la formulation : le type d'un paramètre déclare ce dont la méthode a besoin. Écrire </a:t>
            </a:r>
            <a:r>
              <a:rPr>
                <a:latin typeface="Consolas"/>
              </a:rPr>
              <a:t>Colis</a:t>
            </a:r>
            <a:r>
              <a:t> au lieu de </a:t>
            </a:r>
            <a:r>
              <a:rPr>
                <a:latin typeface="Consolas"/>
              </a:rPr>
              <a:t>Mesurable</a:t>
            </a:r>
            <a:r>
              <a:t> reviendrait à exiger beaucoup plus que nécessaire. La section 4 en fera un principe.</a:t>
            </a:r>
          </a:p>
          <a:p>
            <a:r>
              <a:rPr lang="fr-BE" dirty="0"/>
              <a:t>Le code complet, à exécuter : demos, classe demo.itf.slides.RecevoirUnComportementEnParametre.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ITF.1</a:t>
            </a:r>
            <a:r>
              <a:t> isole l'idée dans le plus petit programme possible : une interface à une méthode, deux implémentations, et une méthode qui reçoit un calculateur. Le troisième paramètre est déclaré </a:t>
            </a:r>
            <a:r>
              <a:rPr>
                <a:latin typeface="Consolas"/>
              </a:rPr>
              <a:t>Calculateur</a:t>
            </a:r>
            <a:r>
              <a:t> et non </a:t>
            </a:r>
            <a:r>
              <a:rPr>
                <a:latin typeface="Consolas"/>
              </a:rPr>
              <a:t>Addition</a:t>
            </a:r>
            <a:r>
              <a:t>, et toute la suite du module tient dans cette différence.</a:t>
            </a:r>
          </a:p>
          <a:p>
            <a:r>
              <a:rPr>
                <a:latin typeface="Consolas"/>
              </a:rPr>
              <a:t>ITF.2</a:t>
            </a:r>
            <a:r>
              <a:t> reprend la même structure sur un cas réaliste, où l'interface sépare vraiment deux parties du programme : le client d'un côté, les moyens de paiement de l'autre. Deux points de vigilance. Les classes de paiement retournent leur compte-rendu au lieu de l'afficher, ce qui est la règle CC-MET.7 : une classe qui écrit elle-même sur la console devient inutilisable ailleurs et intestable. Et le formatage du montant précise </a:t>
            </a:r>
            <a:r>
              <a:rPr>
                <a:latin typeface="Consolas"/>
              </a:rPr>
              <a:t>Locale.US</a:t>
            </a:r>
            <a:r>
              <a:t>, sans quoi une machine configurée en français écrit une virgule et le test échoue sur un caractère.</a:t>
            </a:r>
          </a:p>
          <a:p>
            <a:r>
              <a:t>La question de fin d'</a:t>
            </a:r>
            <a:r>
              <a:rPr>
                <a:latin typeface="Consolas"/>
              </a:rPr>
              <a:t>ITF.2</a:t>
            </a:r>
            <a:r>
              <a:t> mérite d'être posée à voix haute : le virement bancaire arrive, quelles classes faut-il écrire, et lesquelles faut-il modifier ?</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L'héritage multiple est interdit en Java, et pour une bonne raison : si deux classes mères fournissaient la même méthode avec deux corps différents, aucune règle simple ne dirait laquelle s'applique.</a:t>
            </a:r>
          </a:p>
          <a:p>
            <a:r>
              <a:t>Les interfaces ne posent pas ce problème, puisqu'elles ne fournissent aucun corps. Une classe peut donc en implémenter autant qu'elle veut, et s'engager ainsi sur plusieurs promesses indépendantes.</a:t>
            </a:r>
          </a:p>
          <a:p>
            <a:r>
              <a:t>Une classe peut n'avoir aucune classe mère et implémenter quand même des interfaces : </a:t>
            </a:r>
            <a:r>
              <a:rPr>
                <a:latin typeface="Consolas"/>
              </a:rPr>
              <a:t>extends</a:t>
            </a:r>
            <a:r>
              <a:t> est facultatif, </a:t>
            </a:r>
            <a:r>
              <a:rPr>
                <a:latin typeface="Consolas"/>
              </a:rPr>
              <a:t>implements</a:t>
            </a:r>
            <a:r>
              <a:t> aussi, et les deux s'utilisent séparément ou ensemble.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carré est une forme, et cette phrase justifie la classe abstraite </a:t>
            </a:r>
            <a:r>
              <a:rPr>
                <a:latin typeface="Consolas"/>
              </a:rPr>
              <a:t>Shape</a:t>
            </a:r>
            <a:r>
              <a:t> du module précédent. Un carré sait se déplacer, et cette phrase-là justifie une interface, parce que la capacité déborde largement la famille des formes.</a:t>
            </a:r>
          </a:p>
          <a:p>
            <a:r>
              <a:t>C'est le même raisonnement que dans la démonstration : le magasin savait réagir à une annonce sans être un client. Une capacité se moque de la généalogie.</a:t>
            </a:r>
          </a:p>
          <a:p>
            <a:r>
              <a:t>Les deux interfaces sont séparées, et ce n'est pas un hasard. Une figure pourrait se déplacer sans pouvoir tourner. Réunir les deux méthodes dans une seule interface obligerait toute classe déplaçable à savoir tourner : la section 4 dira pourquoi c'est une mauvaise idée.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Shape</a:t>
            </a:r>
            <a:r>
              <a:t> s'engage sur les deux interfaces, et deux issues sont possibles. Soit elle déclare les méthodes abstraites et laisse chaque forme les écrire, soit elle les écrit une fois pour toutes et ses filles n'ont rien à faire.</a:t>
            </a:r>
          </a:p>
          <a:p>
            <a:r>
              <a:t>Le critère est celui de la section 4 du module ABS, et il n'a pas changé : le code serait-il identique dans les trois sous-classes ? Si oui, il monte.</a:t>
            </a:r>
          </a:p>
          <a:p>
            <a:r>
              <a:t>Je ne réponds pas ici. C'est la question à trancher d'</a:t>
            </a:r>
            <a:r>
              <a:rPr>
                <a:latin typeface="Consolas"/>
              </a:rPr>
              <a:t>ITF.3</a:t>
            </a:r>
            <a:r>
              <a:t>, et l'énoncé vous demande d'y répondre avant de coder. Vous saurez que votre réponse était la bonne si les trois sous-classes n'ont pas une ligne à changer.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combine les deux outils du moment : une hiérarchie de classes, et deux interfaces qui la traversent. Le travail d'écriture est court, la décision est tout l'exercice.</a:t>
            </a:r>
          </a:p>
          <a:p>
            <a:r>
              <a:t>Le dernier test manipule un tableau de </a:t>
            </a:r>
            <a:r>
              <a:rPr>
                <a:latin typeface="Consolas"/>
              </a:rPr>
              <a:t>Translatable</a:t>
            </a:r>
            <a:r>
              <a:t>. Les objets y sont vus à travers l'interface seulement, et c'est l'occasion de vérifier ce que dit la slide 1.5 : essayez d'appeler </a:t>
            </a:r>
            <a:r>
              <a:rPr>
                <a:latin typeface="Consolas"/>
              </a:rPr>
              <a:t>rotate</a:t>
            </a:r>
            <a:r>
              <a:t> ou </a:t>
            </a:r>
            <a:r>
              <a:rPr>
                <a:latin typeface="Consolas"/>
              </a:rPr>
              <a:t>nom</a:t>
            </a:r>
            <a:r>
              <a:t> sur un élément de ce tableau.</a:t>
            </a:r>
          </a:p>
          <a:p>
            <a:r>
              <a:t>La dernière question de l'énoncé est ouverte, et je n'ai pas de réponse définitive à vous donner : la normalisation de l'angle apparaît dans </a:t>
            </a:r>
            <a:r>
              <a:rPr>
                <a:latin typeface="Consolas"/>
              </a:rPr>
              <a:t>ABS.1</a:t>
            </a:r>
            <a:r>
              <a:t> et de nouveau ici. Est-ce une duplication au sens de CC-CLS.3 ? Les deux packages étant indépendants par construction, la question mérite d'être posée plutôt que tranchée.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tableau tient en quatre lignes, et la troisième est celle qui décide presque toujours. Formulez la phrase à voix haute : un carré est une forme, un carré sait se déplacer. La bonne réponse est celle des deux phrases qui n'est pas ridicule.</a:t>
            </a:r>
          </a:p>
          <a:p>
            <a:r>
              <a:t>Les deux premières lignes sont des conséquences. Une interface ne contient pas de code, donc elle ne partage rien, donc rien n'empêche d'en implémenter plusieurs. Une classe abstraite contient du code et des champs, donc elle ne peut être qu'une.</a:t>
            </a:r>
          </a:p>
          <a:p>
            <a:r>
              <a:t>La première ligne mérite une nuance depuis Java 8, et la section 6 la donnera. Elle reste vraie de tout ce que vous écrirez cette année.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avez déjà vu cette structure au module précédent, sans pouvoir la compléter. Le sommet est une interface, et c'est ce qui bloquait.</a:t>
            </a:r>
          </a:p>
          <a:p>
            <a:r>
              <a:t>La répartition suit deux règles distinctes, qu'il vaut la peine de séparer. L'interface dit ce que toute prestation doit savoir faire : donner son montant. Les classes abstraites, elles, rangent les champs et le code commun à l'étage où ils deviennent communs.</a:t>
            </a:r>
          </a:p>
          <a:p>
            <a:r>
              <a:t>Notez la conséquence sur </a:t>
            </a:r>
            <a:r>
              <a:rPr>
                <a:latin typeface="Consolas"/>
              </a:rPr>
              <a:t>Prestation</a:t>
            </a:r>
            <a:r>
              <a:t> : elle implémente </a:t>
            </a:r>
            <a:r>
              <a:rPr>
                <a:latin typeface="Consolas"/>
              </a:rPr>
              <a:t>Facturable</a:t>
            </a:r>
            <a:r>
              <a:t> sans écrire </a:t>
            </a:r>
            <a:r>
              <a:rPr>
                <a:latin typeface="Consolas"/>
              </a:rPr>
              <a:t>montant</a:t>
            </a:r>
            <a:r>
              <a:t>, ce qui est légal parce qu'elle est abstraite. Elle reporte l'obligation sur ses descendants, exactement comme une méthode abstraite ordinaire.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l'exercice mis de côté au module précédent, faute de connaître les interfaces. L'attente est terminée.</a:t>
            </a:r>
          </a:p>
          <a:p>
            <a:r>
              <a:t>Il réunit tout ce qui vient d'être dit : deux étages d'abstraction, une interface à implémenter, un champ à placer au bon niveau, un tableau du type le plus général et pas un seul test de type. C'est aussi la forme exacte de la quatrième question de l'examen.</a:t>
            </a:r>
          </a:p>
          <a:p>
            <a:r>
              <a:t>Deux décisions vous appartiennent, et aucune des deux n'est vérifiée par un test. Où implémenter </a:t>
            </a:r>
            <a:r>
              <a:rPr>
                <a:latin typeface="Consolas"/>
              </a:rPr>
              <a:t>montant</a:t>
            </a:r>
            <a:r>
              <a:t>, puisque ni </a:t>
            </a:r>
            <a:r>
              <a:rPr>
                <a:latin typeface="Consolas"/>
              </a:rPr>
              <a:t>Prestation</a:t>
            </a:r>
            <a:r>
              <a:t>, ni </a:t>
            </a:r>
            <a:r>
              <a:rPr>
                <a:latin typeface="Consolas"/>
              </a:rPr>
              <a:t>Forfait</a:t>
            </a:r>
            <a:r>
              <a:t>, ni </a:t>
            </a:r>
            <a:r>
              <a:rPr>
                <a:latin typeface="Consolas"/>
              </a:rPr>
              <a:t>Horaire</a:t>
            </a:r>
            <a:r>
              <a:t> ne savent calculer. Et quelle visibilité donner aux accesseurs intermédiaires, dont seules les sous-classes ont besoin : voir </a:t>
            </a:r>
            <a:r>
              <a:rPr>
                <a:latin typeface="Consolas"/>
              </a:rPr>
              <a:t>PKG.5</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slides qui suivent parlent d'un contrôleur et d'une classe GUI. Ces deux noms viennent d'un découpage très répandu dans les applications graphiques, le modèle MVC : Modèle, Vue, Contrôleur.</a:t>
            </a:r>
          </a:p>
          <a:p>
            <a:r>
              <a:t>La vue est ce que l'utilisateur voit : la fenêtre, ses boutons, ses zones de texte. Elle capte les gestes, un clic, une saisie, mais ne décide de rien. Le modèle contient les données et les règles du métier, sans rien savoir de l'écran. Le contrôleur fait le lien : il reçoit l'action transmise par la vue, met le modèle à jour, puis demande à la vue d'afficher le résultat.</a:t>
            </a:r>
          </a:p>
          <a:p>
            <a:r>
              <a:t>Chaque rôle peut ainsi changer sans toucher aux autres : une autre fenêtre, une version console, des règles qui évoluent. Du moins en principe. La flèche « affiche » est celle qui pose problème : si le contrôleur la tient vers une classe GUI précise, il ne pourra plus parler à rien d'autre. C'est exactement ce que montre la slide suivante. Les modules FX reviendront sur ce découpage avec JavaFX.</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code fonctionne, et c'est ce qui le rend instructif : le défaut n'est pas un bug, il est dans la dépendance.</a:t>
            </a:r>
          </a:p>
          <a:p>
            <a:r>
              <a:t>Le contrôleur n'a besoin que d'une chose, afficher un message. Il exige pourtant une classe entière, avec tout ce qu'elle contient. Le jour où l'application gagne une version console, ou une version qui écrit dans un fichier de trace, le contrôleur devra être rouvert.</a:t>
            </a:r>
          </a:p>
          <a:p>
            <a:r>
              <a:t>Il y a une conséquence moins visible et plus coûteuse : pour tester le contrôleur, il faut construire une interface graphique. Nous y reviendrons au module JUN.</a:t>
            </a:r>
          </a:p>
          <a:p>
            <a:r>
              <a:rPr lang="fr-BE" dirty="0"/>
              <a:t>Le code complet, à exécuter : demos, classe demo.itf.slides.DeuxClassesQuiSeTiennent.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Trois mots </a:t>
            </a:r>
            <a:r>
              <a:rPr dirty="0" err="1"/>
              <a:t>ont</a:t>
            </a:r>
            <a:r>
              <a:rPr dirty="0"/>
              <a:t> </a:t>
            </a:r>
            <a:r>
              <a:rPr dirty="0" err="1"/>
              <a:t>changé</a:t>
            </a:r>
            <a:r>
              <a:rPr dirty="0"/>
              <a:t>, et la </a:t>
            </a:r>
            <a:r>
              <a:rPr dirty="0" err="1"/>
              <a:t>dépendance</a:t>
            </a:r>
            <a:r>
              <a:rPr dirty="0"/>
              <a:t> a </a:t>
            </a:r>
            <a:r>
              <a:rPr dirty="0" err="1"/>
              <a:t>changé</a:t>
            </a:r>
            <a:r>
              <a:rPr dirty="0"/>
              <a:t> de </a:t>
            </a:r>
            <a:r>
              <a:rPr dirty="0" err="1"/>
              <a:t>sens.</a:t>
            </a:r>
            <a:r>
              <a:rPr dirty="0"/>
              <a:t> Le </a:t>
            </a:r>
            <a:r>
              <a:rPr dirty="0" err="1"/>
              <a:t>contrôleur</a:t>
            </a:r>
            <a:r>
              <a:rPr dirty="0"/>
              <a:t> ne </a:t>
            </a:r>
            <a:r>
              <a:rPr dirty="0" err="1"/>
              <a:t>dépend</a:t>
            </a:r>
            <a:r>
              <a:rPr dirty="0"/>
              <a:t> plus de la </a:t>
            </a:r>
            <a:r>
              <a:rPr dirty="0" err="1"/>
              <a:t>fenêtre</a:t>
            </a:r>
            <a:r>
              <a:rPr dirty="0"/>
              <a:t> : les deux </a:t>
            </a:r>
            <a:r>
              <a:rPr dirty="0" err="1"/>
              <a:t>dépendent</a:t>
            </a:r>
            <a:r>
              <a:rPr dirty="0"/>
              <a:t> de </a:t>
            </a:r>
            <a:r>
              <a:rPr dirty="0" err="1"/>
              <a:t>l'interface</a:t>
            </a:r>
            <a:r>
              <a:rPr dirty="0"/>
              <a:t>, qui est plus petite et plus stable </a:t>
            </a:r>
            <a:r>
              <a:rPr dirty="0" err="1"/>
              <a:t>que</a:t>
            </a:r>
            <a:r>
              <a:rPr dirty="0"/>
              <a:t> </a:t>
            </a:r>
            <a:r>
              <a:rPr dirty="0" err="1"/>
              <a:t>l'une</a:t>
            </a:r>
            <a:r>
              <a:rPr dirty="0"/>
              <a:t> </a:t>
            </a:r>
            <a:r>
              <a:rPr dirty="0" err="1"/>
              <a:t>comme</a:t>
            </a:r>
            <a:r>
              <a:rPr dirty="0"/>
              <a:t> </a:t>
            </a:r>
            <a:r>
              <a:rPr dirty="0" err="1"/>
              <a:t>l'autre</a:t>
            </a:r>
            <a:r>
              <a:rPr dirty="0"/>
              <a:t>.</a:t>
            </a:r>
          </a:p>
          <a:p>
            <a:r>
              <a:rPr dirty="0" err="1"/>
              <a:t>C'est</a:t>
            </a:r>
            <a:r>
              <a:rPr dirty="0"/>
              <a:t> </a:t>
            </a:r>
            <a:r>
              <a:rPr dirty="0" err="1"/>
              <a:t>ce</a:t>
            </a:r>
            <a:r>
              <a:rPr dirty="0"/>
              <a:t> </a:t>
            </a:r>
            <a:r>
              <a:rPr dirty="0" err="1"/>
              <a:t>que</a:t>
            </a:r>
            <a:r>
              <a:rPr dirty="0"/>
              <a:t> la </a:t>
            </a:r>
            <a:r>
              <a:rPr dirty="0" err="1"/>
              <a:t>démonstration</a:t>
            </a:r>
            <a:r>
              <a:rPr dirty="0"/>
              <a:t> a </a:t>
            </a:r>
            <a:r>
              <a:rPr dirty="0" err="1"/>
              <a:t>montré</a:t>
            </a:r>
            <a:r>
              <a:rPr dirty="0"/>
              <a:t> </a:t>
            </a:r>
            <a:r>
              <a:rPr dirty="0" err="1"/>
              <a:t>en</a:t>
            </a:r>
            <a:r>
              <a:rPr dirty="0"/>
              <a:t> ouverture du module, sur un </a:t>
            </a:r>
            <a:r>
              <a:rPr dirty="0" err="1"/>
              <a:t>autre</a:t>
            </a:r>
            <a:r>
              <a:rPr dirty="0"/>
              <a:t> </a:t>
            </a:r>
            <a:r>
              <a:rPr dirty="0" err="1"/>
              <a:t>sujet</a:t>
            </a:r>
            <a:r>
              <a:rPr dirty="0"/>
              <a:t>. Le </a:t>
            </a:r>
            <a:r>
              <a:rPr dirty="0" err="1"/>
              <a:t>fournisseur</a:t>
            </a:r>
            <a:r>
              <a:rPr dirty="0"/>
              <a:t> ne </a:t>
            </a:r>
            <a:r>
              <a:rPr dirty="0" err="1"/>
              <a:t>connaissait</a:t>
            </a:r>
            <a:r>
              <a:rPr dirty="0"/>
              <a:t> plus </a:t>
            </a:r>
            <a:r>
              <a:rPr dirty="0" err="1"/>
              <a:t>ses</a:t>
            </a:r>
            <a:r>
              <a:rPr dirty="0"/>
              <a:t> </a:t>
            </a:r>
            <a:r>
              <a:rPr dirty="0" err="1"/>
              <a:t>abonnés</a:t>
            </a:r>
            <a:r>
              <a:rPr dirty="0"/>
              <a:t>, et </a:t>
            </a:r>
            <a:r>
              <a:rPr dirty="0" err="1"/>
              <a:t>c'est</a:t>
            </a:r>
            <a:r>
              <a:rPr dirty="0"/>
              <a:t> pour </a:t>
            </a:r>
            <a:r>
              <a:rPr dirty="0" err="1"/>
              <a:t>cela</a:t>
            </a:r>
            <a:r>
              <a:rPr dirty="0"/>
              <a:t> </a:t>
            </a:r>
            <a:r>
              <a:rPr dirty="0" err="1"/>
              <a:t>qu'il</a:t>
            </a:r>
            <a:r>
              <a:rPr dirty="0"/>
              <a:t> </a:t>
            </a:r>
            <a:r>
              <a:rPr dirty="0" err="1"/>
              <a:t>pouvait</a:t>
            </a:r>
            <a:r>
              <a:rPr dirty="0"/>
              <a:t> </a:t>
            </a:r>
            <a:r>
              <a:rPr dirty="0" err="1"/>
              <a:t>parler</a:t>
            </a:r>
            <a:r>
              <a:rPr dirty="0"/>
              <a:t> à </a:t>
            </a:r>
            <a:r>
              <a:rPr dirty="0" err="1"/>
              <a:t>n'importe</a:t>
            </a:r>
            <a:r>
              <a:rPr dirty="0"/>
              <a:t> </a:t>
            </a:r>
            <a:r>
              <a:rPr dirty="0" err="1"/>
              <a:t>lequel</a:t>
            </a:r>
            <a:r>
              <a:rPr dirty="0"/>
              <a:t>.</a:t>
            </a:r>
          </a:p>
          <a:p>
            <a:r>
              <a:rPr dirty="0"/>
              <a:t>Le gain de </a:t>
            </a:r>
            <a:r>
              <a:rPr dirty="0" err="1"/>
              <a:t>testabilité</a:t>
            </a:r>
            <a:r>
              <a:rPr dirty="0"/>
              <a:t> </a:t>
            </a:r>
            <a:r>
              <a:rPr dirty="0" err="1"/>
              <a:t>devient</a:t>
            </a:r>
            <a:r>
              <a:rPr dirty="0"/>
              <a:t> </a:t>
            </a:r>
            <a:r>
              <a:rPr dirty="0" err="1"/>
              <a:t>concret</a:t>
            </a:r>
            <a:r>
              <a:rPr dirty="0"/>
              <a:t> : </a:t>
            </a:r>
            <a:r>
              <a:rPr dirty="0" err="1"/>
              <a:t>une</a:t>
            </a:r>
            <a:r>
              <a:rPr dirty="0"/>
              <a:t> </a:t>
            </a:r>
            <a:r>
              <a:rPr dirty="0" err="1"/>
              <a:t>classe</a:t>
            </a:r>
            <a:r>
              <a:rPr dirty="0"/>
              <a:t> de test </a:t>
            </a:r>
            <a:r>
              <a:rPr dirty="0" err="1"/>
              <a:t>peut</a:t>
            </a:r>
            <a:r>
              <a:rPr dirty="0"/>
              <a:t> </a:t>
            </a:r>
            <a:r>
              <a:rPr dirty="0" err="1"/>
              <a:t>fournir</a:t>
            </a:r>
            <a:r>
              <a:rPr dirty="0"/>
              <a:t> au </a:t>
            </a:r>
            <a:r>
              <a:rPr dirty="0" err="1"/>
              <a:t>contrôleur</a:t>
            </a:r>
            <a:r>
              <a:rPr dirty="0"/>
              <a:t> un </a:t>
            </a:r>
            <a:r>
              <a:rPr dirty="0" err="1"/>
              <a:t>afficheur</a:t>
            </a:r>
            <a:r>
              <a:rPr dirty="0"/>
              <a:t> de quatre </a:t>
            </a:r>
            <a:r>
              <a:rPr dirty="0" err="1"/>
              <a:t>lignes</a:t>
            </a:r>
            <a:r>
              <a:rPr dirty="0"/>
              <a:t> qui </a:t>
            </a:r>
            <a:r>
              <a:rPr dirty="0" err="1"/>
              <a:t>retient</a:t>
            </a:r>
            <a:r>
              <a:rPr dirty="0"/>
              <a:t> le dernier message, et </a:t>
            </a:r>
            <a:r>
              <a:rPr dirty="0" err="1"/>
              <a:t>vérifier</a:t>
            </a:r>
            <a:r>
              <a:rPr dirty="0"/>
              <a:t> </a:t>
            </a:r>
            <a:r>
              <a:rPr dirty="0" err="1"/>
              <a:t>ce</a:t>
            </a:r>
            <a:r>
              <a:rPr dirty="0"/>
              <a:t> qui a </a:t>
            </a:r>
            <a:r>
              <a:rPr dirty="0" err="1"/>
              <a:t>été</a:t>
            </a:r>
            <a:r>
              <a:rPr dirty="0"/>
              <a:t> </a:t>
            </a:r>
            <a:r>
              <a:rPr dirty="0" err="1"/>
              <a:t>signalé</a:t>
            </a:r>
            <a:r>
              <a:rPr dirty="0"/>
              <a:t> sans </a:t>
            </a:r>
            <a:r>
              <a:rPr dirty="0" err="1"/>
              <a:t>ouvrir</a:t>
            </a:r>
            <a:r>
              <a:rPr dirty="0"/>
              <a:t> la </a:t>
            </a:r>
            <a:r>
              <a:rPr dirty="0" err="1"/>
              <a:t>moindre</a:t>
            </a:r>
            <a:r>
              <a:rPr dirty="0"/>
              <a:t> </a:t>
            </a:r>
            <a:r>
              <a:rPr dirty="0" err="1"/>
              <a:t>fenêtre</a:t>
            </a:r>
            <a:r>
              <a:rPr dirty="0"/>
              <a:t>.</a:t>
            </a:r>
          </a:p>
          <a:p>
            <a:r>
              <a:rPr lang="fr-BE" dirty="0"/>
              <a:t>Le code complet, à exécuter : demos, classe demo.itf.slides.UneInterfaceEntreLesDeux.</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principe a deux conséquences pratiques, et elles se lisent sur les deux slides précédentes.</a:t>
            </a:r>
          </a:p>
          <a:p>
            <a:r>
              <a:t>La première porte sur les types que vous écrivez dans vos déclarations. Un paramètre, un champ, une variable : le type le plus faible qui suffit est le bon. Déclarer </a:t>
            </a:r>
            <a:r>
              <a:rPr>
                <a:latin typeface="Consolas"/>
              </a:rPr>
              <a:t>Afficheur</a:t>
            </a:r>
            <a:r>
              <a:t> plutôt que </a:t>
            </a:r>
            <a:r>
              <a:rPr>
                <a:latin typeface="Consolas"/>
              </a:rPr>
              <a:t>Fenetre</a:t>
            </a:r>
            <a:r>
              <a:t> n'est pas une coquetterie, c'est une réduction délibérée de ce que le code peut faire.</a:t>
            </a:r>
          </a:p>
          <a:p>
            <a:r>
              <a:t>La seconde porte sur les interfaces que vous concevez. Une interface qui déclarerait à la fois </a:t>
            </a:r>
            <a:r>
              <a:rPr>
                <a:latin typeface="Consolas"/>
              </a:rPr>
              <a:t>affiche</a:t>
            </a:r>
            <a:r>
              <a:t>, </a:t>
            </a:r>
            <a:r>
              <a:rPr>
                <a:latin typeface="Consolas"/>
              </a:rPr>
              <a:t>efface</a:t>
            </a:r>
            <a:r>
              <a:t>, </a:t>
            </a:r>
            <a:r>
              <a:rPr>
                <a:latin typeface="Consolas"/>
              </a:rPr>
              <a:t>redimensionne</a:t>
            </a:r>
            <a:r>
              <a:t> et </a:t>
            </a:r>
            <a:r>
              <a:rPr>
                <a:latin typeface="Consolas"/>
              </a:rPr>
              <a:t>imprime</a:t>
            </a:r>
            <a:r>
              <a:t> obligerait toute classe affichante à savoir imprimer. Mieux vaut plusieurs petites interfaces, qu'une classe combine si elle le souhaite. C'est la raison pour laquelle </a:t>
            </a:r>
            <a:r>
              <a:rPr>
                <a:latin typeface="Consolas"/>
              </a:rPr>
              <a:t>Translatable</a:t>
            </a:r>
            <a:r>
              <a:t> et </a:t>
            </a:r>
            <a:r>
              <a:rPr>
                <a:latin typeface="Consolas"/>
              </a:rPr>
              <a:t>Rotatable</a:t>
            </a:r>
            <a:r>
              <a:t> sont deux interfaces et pas une.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Voici la situation avant tout code. Une classe abstraite Transport déclare ce que tout transport sait faire, bouger, et trois sous-classes le font chacune à leur façon : la voiture roule, l'avion vole, la moto se faufile. Le découpage est correct : chacune de ces classes est bien un transport.</a:t>
            </a:r>
          </a:p>
          <a:p>
            <a:r>
              <a:rPr lang="fr-BE" dirty="0"/>
              <a:t>On ajoute à ce modèle une station-service, qui doit faire le plein des transports qu'on lui présente. Pas de souci : sa méthode faireLePlein reçoit un Transport, et les trois transports ont tous un moteur.</a:t>
            </a:r>
          </a:p>
          <a:p>
            <a:r>
              <a:rPr lang="fr-BE" dirty="0"/>
              <a:t>On veut ensuite gérer aussi les vélos, qui sont bien des transports. Le problème apparaît tout de suite sur le diagramme : faire le plein n'a de sens que pour les transports à moteur. Ce sont la voiture, l'avion et la moto, mais pas le vélo. Or aucune classe de la hiérarchie ne rassemble les transports à moteur : la propriété traverse la famille au lieu de la suivre.</a:t>
            </a:r>
          </a:p>
          <a:p>
            <a:r>
              <a:rPr lang="fr-BE" dirty="0"/>
              <a:t>La slide suivante montre la première réponse qui vient à l'esprit, et pourquoi elle ne tient pas.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ABS a déjà condamné le test de type, mais la situation n'est pas la même. Là-bas, le test trahissait une hiérarchie mal découpée, et la solution était de faire descendre le comportement dans les sous-classes.</a:t>
            </a:r>
          </a:p>
          <a:p>
            <a:r>
              <a:t>Ici, le découpage de la hiérarchie est correct : un vélo est bien un transport. C'est le comportement qui traverse la famille au lieu de la suivre. Aucune classe mère ne sépare les transports à moteur des autres, et en inventer une mentirait sur ce qu'est un transport.</a:t>
            </a:r>
          </a:p>
          <a:p>
            <a:r>
              <a:t>Le jour où un tricycle arrive à la pompe, la station devra être modifiée. Elle le sera à chaque nouveau transport, et rien dans le compilateur ne préviendra qu'on l'a oubliée.</a:t>
            </a:r>
          </a:p>
          <a:p>
            <a:r>
              <a:rPr lang="fr-BE" dirty="0"/>
              <a:t>Le code complet, à exécuter : demos, classe demo.itf.slides.LInterfaceSupprimeLeTest.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 faut aller jusqu'au bout du raisonnement. Écrire </a:t>
            </a:r>
            <a:r>
              <a:rPr>
                <a:latin typeface="Consolas"/>
              </a:rPr>
              <a:t>if (transport instanceof Motorise)</a:t>
            </a:r>
            <a:r>
              <a:t> dans la station ferait disparaître le nom du vélo, mais garderait le test : on aurait déplacé le problème, pas résolu.</a:t>
            </a:r>
          </a:p>
          <a:p>
            <a:r>
              <a:t>En déclarant le paramètre </a:t>
            </a:r>
            <a:r>
              <a:rPr>
                <a:latin typeface="Consolas"/>
              </a:rPr>
              <a:t>Motorise</a:t>
            </a:r>
            <a:r>
              <a:t>, la station n'a plus rien à vérifier. Un appel avec un vélo ne compile pas, et l'erreur est signalée à l'endroit où elle est commise. C'est la règle CC-CLS.4 du mémento, et le principe de ségrégation de la slide précédente, appliqués ensemble.</a:t>
            </a:r>
          </a:p>
          <a:p>
            <a:r>
              <a:t>Le tricycle peut arriver : s'il a un moteur, il implémente </a:t>
            </a:r>
            <a:r>
              <a:rPr>
                <a:latin typeface="Consolas"/>
              </a:rPr>
              <a:t>Motorise</a:t>
            </a:r>
            <a:r>
              <a:t>, et la station le sert sans avoir été rouverte. Sinon il ne se présente pas à la pompe.</a:t>
            </a:r>
          </a:p>
          <a:p>
            <a:r>
              <a:rPr lang="fr-BE" dirty="0"/>
              <a:t>Le code complet, à exécuter : demos, classe demo.itf.slides.LInterfaceSupprimeLeTest.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patrons de conception ne s'installent pas et ne s'importent pas. Ils se reconnaissent : vous rencontrez un problème, vous constatez qu'il a déjà une forme connue, et vous appliquez la structure de classes qui va avec.</a:t>
            </a:r>
          </a:p>
          <a:p>
            <a:r>
              <a:t>Leur premier intérêt est le vocabulaire. Dire « c'est un observateur » à un collègue transmet en trois mots ce qu'il faudrait un quart d'heure à décrire.</a:t>
            </a:r>
          </a:p>
          <a:p>
            <a:r>
              <a:t>Celui que nous allons nommer est un patron de comportement, et vous l'avez déjà vu tourner : c'est celui de la démonstration. Le catalogue de référence en ligne est refactoring.guru, si vous voulez en parcourir d'autres.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besoin est banal et revient partout : un produit arrive en stock, un fichier change, un bouton est cliqué, et plusieurs parties du programme veulent le savoir.</a:t>
            </a:r>
          </a:p>
          <a:p>
            <a:r>
              <a:t>Les deux solutions spontanées sont mauvaises, chacune à sa façon. Faire interroger le magasin en boucle par les intéressés gaspille du temps et arrive toujours après coup. Faire prévenir nommément chaque intéressé oblige le magasin à tenir une liste par type d'acteur, et à être modifié chaque fois qu'un nouveau type apparaît.</a:t>
            </a:r>
          </a:p>
          <a:p>
            <a:r>
              <a:t>Ce que nous cherchons est un dispositif où les intéressés se signalent eux-mêmes, et où le magasin ne sait rien d'eux.</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Lisez la classe </a:t>
            </a:r>
            <a:r>
              <a:rPr>
                <a:latin typeface="Consolas"/>
              </a:rPr>
              <a:t>Magasin</a:t>
            </a:r>
            <a:r>
              <a:t> en cherchant le mot </a:t>
            </a:r>
            <a:r>
              <a:rPr>
                <a:latin typeface="Consolas"/>
              </a:rPr>
              <a:t>Client</a:t>
            </a:r>
            <a:r>
              <a:t>. Il n'y est pas, et c'est tout le patron.</a:t>
            </a:r>
          </a:p>
          <a:p>
            <a:r>
              <a:t>La méthode </a:t>
            </a:r>
            <a:r>
              <a:rPr>
                <a:latin typeface="Consolas"/>
              </a:rPr>
              <a:t>receptionne</a:t>
            </a:r>
            <a:r>
              <a:t> appelle </a:t>
            </a:r>
            <a:r>
              <a:rPr>
                <a:latin typeface="Consolas"/>
              </a:rPr>
              <a:t>nouveauProduit</a:t>
            </a:r>
            <a:r>
              <a:t> sur chaque abonné, sans savoir lequel répondra ni ce qu'il fera. C'est le polymorphisme du module ABS, à ceci près que les objets du tableau n'ont aucune classe mère commune.</a:t>
            </a:r>
          </a:p>
          <a:p>
            <a:r>
              <a:t>Le tableau a une taille fixe de dix, ce qui est une limite assumée : nous n'avons pas encore de quoi faire mieux. Le module COL la lèvera, et l'énoncé d'</a:t>
            </a:r>
            <a:r>
              <a:rPr>
                <a:latin typeface="Consolas"/>
              </a:rPr>
              <a:t>ITF.4</a:t>
            </a:r>
            <a:r>
              <a:t> pose la question.</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mesure de la réussite est un décompte de fichiers. Ajouter un entrepôt, un prospect ou un transporteur demande une classe et pas une ligne ailleurs. Avec trois listes séparées dans le magasin, une par type d'acteur, il aurait fallu rouvrir le magasin à chaque fois.</a:t>
            </a:r>
          </a:p>
          <a:p>
            <a:r>
              <a:t>Le patron repose entièrement sur une inversion : ce n'est pas le magasin qui va chercher les intéressés, ce sont eux qui viennent se déclarer. Le magasin garde l'initiative de l'appel, mais pas la connaissance des destinataires.</a:t>
            </a:r>
          </a:p>
          <a:p>
            <a:r>
              <a:t>Ce dispositif vous servira plus tôt que vous ne le croyez. Toute la gestion des événements en JavaFX fonctionne ainsi : un bouton ne connaît pas votre programme, il connaît une interface, et votre code vient s'y abonner.</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consiste à ajouter un </a:t>
            </a:r>
            <a:r>
              <a:rPr>
                <a:latin typeface="Consolas"/>
              </a:rPr>
              <a:t>Prospect</a:t>
            </a:r>
            <a:r>
              <a:t> à un dispositif qui existe déjà et qui fonctionne. C'est une situation fréquente en entreprise, et elle demande une discipline particulière : lire ce qui est fourni avant d'écrire, et n'ajouter que ce qui manque.</a:t>
            </a:r>
          </a:p>
          <a:p>
            <a:r>
              <a:t>La contrainte est la vraie consigne. Si vous vous surprenez à vouloir modifier le </a:t>
            </a:r>
            <a:r>
              <a:rPr>
                <a:latin typeface="Consolas"/>
              </a:rPr>
              <a:t>Magasin</a:t>
            </a:r>
            <a:r>
              <a:t>, relisez-le : rien n'y nomme un client ni un employé, donc rien n'a besoin d'y changer.</a:t>
            </a:r>
          </a:p>
          <a:p>
            <a:r>
              <a:t>Les deux questions de fin d'exercice valent le détour. Combien de fichiers avez-vous modifiés, et combien en auriez-vous modifiés avec trois listes séparées ? Et surtout : le magasin appelle </a:t>
            </a:r>
            <a:r>
              <a:rPr>
                <a:latin typeface="Consolas"/>
              </a:rPr>
              <a:t>nouveauProduit</a:t>
            </a:r>
            <a:r>
              <a:t> sur chaque abonné, comment sait-il quelle version exécuter ?</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trois modificateurs d'un champ d'interface sont implicites et ne se modifient pas : une interface ne peut déclarer que des constantes. Les écrire est autorisé mais redondant. Une conséquence pratique : un champ sans valeur initiale ne compile pas, puisqu'il est </a:t>
            </a:r>
            <a:r>
              <a:rPr>
                <a:latin typeface="Consolas"/>
              </a:rPr>
              <a:t>final</a:t>
            </a:r>
            <a:r>
              <a:t>.</a:t>
            </a:r>
          </a:p>
          <a:p>
            <a:r>
              <a:t>La méthode </a:t>
            </a:r>
            <a:r>
              <a:rPr>
                <a:latin typeface="Consolas"/>
              </a:rPr>
              <a:t>static</a:t>
            </a:r>
            <a:r>
              <a:t> est un ajout de Java 8, et elle se comporte comme celle d'une classe : elle contient son corps, elle s'appelle sur l'interface, et aucune classe implémentante ne la redéfinit ni n'en hérite. Elle sert à ranger les petits utilitaires liés à l'interface là où on les cherche.</a:t>
            </a:r>
          </a:p>
          <a:p>
            <a:r>
              <a:t>Ne confondez pas les deux </a:t>
            </a:r>
            <a:r>
              <a:rPr>
                <a:latin typeface="Consolas"/>
              </a:rPr>
              <a:t>static</a:t>
            </a:r>
            <a:r>
              <a:t> : celui du champ est imposé, celui de la méthode est un choix.</a:t>
            </a:r>
          </a:p>
          <a:p>
            <a:r>
              <a:rPr lang="fr-BE" dirty="0"/>
              <a:t>Le code complet, à exécuter : demos, classe demo.itf.slides.DesConstantesEtDesMethodesUtilitaires.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a:t>
            </a:r>
            <a:r>
              <a:rPr dirty="0" err="1"/>
              <a:t>problème</a:t>
            </a:r>
            <a:r>
              <a:rPr dirty="0"/>
              <a:t> est </a:t>
            </a:r>
            <a:r>
              <a:rPr dirty="0" err="1"/>
              <a:t>celui</a:t>
            </a:r>
            <a:r>
              <a:rPr dirty="0"/>
              <a:t> </a:t>
            </a:r>
            <a:r>
              <a:rPr dirty="0" err="1"/>
              <a:t>d'une</a:t>
            </a:r>
            <a:r>
              <a:rPr dirty="0"/>
              <a:t> interface déjà </a:t>
            </a:r>
            <a:r>
              <a:rPr dirty="0" err="1"/>
              <a:t>publiée</a:t>
            </a:r>
            <a:r>
              <a:rPr dirty="0"/>
              <a:t>. Vous </a:t>
            </a:r>
            <a:r>
              <a:rPr dirty="0" err="1"/>
              <a:t>l'avez</a:t>
            </a:r>
            <a:r>
              <a:rPr dirty="0"/>
              <a:t> </a:t>
            </a:r>
            <a:r>
              <a:rPr dirty="0" err="1"/>
              <a:t>écrite</a:t>
            </a:r>
            <a:r>
              <a:rPr dirty="0"/>
              <a:t> il y a six </a:t>
            </a:r>
            <a:r>
              <a:rPr dirty="0" err="1"/>
              <a:t>mois</a:t>
            </a:r>
            <a:r>
              <a:rPr dirty="0"/>
              <a:t>, </a:t>
            </a:r>
            <a:r>
              <a:rPr dirty="0" err="1"/>
              <a:t>une</a:t>
            </a:r>
            <a:r>
              <a:rPr dirty="0"/>
              <a:t> </a:t>
            </a:r>
            <a:r>
              <a:rPr dirty="0" err="1"/>
              <a:t>dizaine</a:t>
            </a:r>
            <a:r>
              <a:rPr dirty="0"/>
              <a:t> de classes </a:t>
            </a:r>
            <a:r>
              <a:rPr dirty="0" err="1"/>
              <a:t>l'implémentent</a:t>
            </a:r>
            <a:r>
              <a:rPr dirty="0"/>
              <a:t>, et on vous </a:t>
            </a:r>
            <a:r>
              <a:rPr dirty="0" err="1"/>
              <a:t>demande</a:t>
            </a:r>
            <a:r>
              <a:rPr dirty="0"/>
              <a:t> </a:t>
            </a:r>
            <a:r>
              <a:rPr dirty="0" err="1"/>
              <a:t>d'y</a:t>
            </a:r>
            <a:r>
              <a:rPr dirty="0"/>
              <a:t> </a:t>
            </a:r>
            <a:r>
              <a:rPr dirty="0" err="1"/>
              <a:t>ajouter</a:t>
            </a:r>
            <a:r>
              <a:rPr dirty="0"/>
              <a:t> le klaxon. Sans les </a:t>
            </a:r>
            <a:r>
              <a:rPr dirty="0" err="1"/>
              <a:t>méthodes</a:t>
            </a:r>
            <a:r>
              <a:rPr dirty="0"/>
              <a:t> par </a:t>
            </a:r>
            <a:r>
              <a:rPr dirty="0" err="1"/>
              <a:t>défaut</a:t>
            </a:r>
            <a:r>
              <a:rPr dirty="0"/>
              <a:t>, il </a:t>
            </a:r>
            <a:r>
              <a:rPr dirty="0" err="1"/>
              <a:t>faudrait</a:t>
            </a:r>
            <a:r>
              <a:rPr dirty="0"/>
              <a:t> </a:t>
            </a:r>
            <a:r>
              <a:rPr dirty="0" err="1"/>
              <a:t>rouvrir</a:t>
            </a:r>
            <a:r>
              <a:rPr dirty="0"/>
              <a:t> les dix classes.</a:t>
            </a:r>
          </a:p>
          <a:p>
            <a:r>
              <a:rPr dirty="0"/>
              <a:t>Java 8 a </a:t>
            </a:r>
            <a:r>
              <a:rPr dirty="0" err="1"/>
              <a:t>introduit</a:t>
            </a:r>
            <a:r>
              <a:rPr dirty="0"/>
              <a:t> </a:t>
            </a:r>
            <a:r>
              <a:rPr dirty="0" err="1"/>
              <a:t>ce</a:t>
            </a:r>
            <a:r>
              <a:rPr dirty="0"/>
              <a:t> </a:t>
            </a:r>
            <a:r>
              <a:rPr dirty="0" err="1"/>
              <a:t>mécanisme</a:t>
            </a:r>
            <a:r>
              <a:rPr dirty="0"/>
              <a:t> </a:t>
            </a:r>
            <a:r>
              <a:rPr dirty="0" err="1"/>
              <a:t>parce</a:t>
            </a:r>
            <a:r>
              <a:rPr dirty="0"/>
              <a:t> </a:t>
            </a:r>
            <a:r>
              <a:rPr dirty="0" err="1"/>
              <a:t>que</a:t>
            </a:r>
            <a:r>
              <a:rPr dirty="0"/>
              <a:t> </a:t>
            </a:r>
            <a:r>
              <a:rPr dirty="0" err="1"/>
              <a:t>ses</a:t>
            </a:r>
            <a:r>
              <a:rPr dirty="0"/>
              <a:t> </a:t>
            </a:r>
            <a:r>
              <a:rPr dirty="0" err="1"/>
              <a:t>concepteurs</a:t>
            </a:r>
            <a:r>
              <a:rPr dirty="0"/>
              <a:t> </a:t>
            </a:r>
            <a:r>
              <a:rPr dirty="0" err="1"/>
              <a:t>avaient</a:t>
            </a:r>
            <a:r>
              <a:rPr dirty="0"/>
              <a:t> </a:t>
            </a:r>
            <a:r>
              <a:rPr dirty="0" err="1"/>
              <a:t>exactement</a:t>
            </a:r>
            <a:r>
              <a:rPr dirty="0"/>
              <a:t> </a:t>
            </a:r>
            <a:r>
              <a:rPr dirty="0" err="1"/>
              <a:t>ce</a:t>
            </a:r>
            <a:r>
              <a:rPr dirty="0"/>
              <a:t> </a:t>
            </a:r>
            <a:r>
              <a:rPr dirty="0" err="1"/>
              <a:t>problème</a:t>
            </a:r>
            <a:r>
              <a:rPr dirty="0"/>
              <a:t>, à </a:t>
            </a:r>
            <a:r>
              <a:rPr dirty="0" err="1"/>
              <a:t>l'échelle</a:t>
            </a:r>
            <a:r>
              <a:rPr dirty="0"/>
              <a:t> de la </a:t>
            </a:r>
            <a:r>
              <a:rPr dirty="0" err="1"/>
              <a:t>planète</a:t>
            </a:r>
            <a:r>
              <a:rPr dirty="0"/>
              <a:t> : </a:t>
            </a:r>
            <a:r>
              <a:rPr dirty="0" err="1"/>
              <a:t>ajouter</a:t>
            </a:r>
            <a:r>
              <a:rPr dirty="0"/>
              <a:t> des </a:t>
            </a:r>
            <a:r>
              <a:rPr dirty="0" err="1"/>
              <a:t>méthodes</a:t>
            </a:r>
            <a:r>
              <a:rPr dirty="0"/>
              <a:t> à </a:t>
            </a:r>
            <a:r>
              <a:rPr dirty="0">
                <a:latin typeface="Consolas"/>
              </a:rPr>
              <a:t>List</a:t>
            </a:r>
            <a:r>
              <a:rPr dirty="0"/>
              <a:t> et à </a:t>
            </a:r>
            <a:r>
              <a:rPr dirty="0" err="1"/>
              <a:t>ses</a:t>
            </a:r>
            <a:r>
              <a:rPr dirty="0"/>
              <a:t> </a:t>
            </a:r>
            <a:r>
              <a:rPr dirty="0" err="1"/>
              <a:t>voisines</a:t>
            </a:r>
            <a:r>
              <a:rPr dirty="0"/>
              <a:t> sans </a:t>
            </a:r>
            <a:r>
              <a:rPr dirty="0" err="1"/>
              <a:t>casser</a:t>
            </a:r>
            <a:r>
              <a:rPr dirty="0"/>
              <a:t> tout le code </a:t>
            </a:r>
            <a:r>
              <a:rPr dirty="0" err="1"/>
              <a:t>existant</a:t>
            </a:r>
            <a:r>
              <a:rPr dirty="0"/>
              <a:t> du monde.</a:t>
            </a:r>
          </a:p>
          <a:p>
            <a:r>
              <a:rPr dirty="0"/>
              <a:t>Vous </a:t>
            </a:r>
            <a:r>
              <a:rPr dirty="0" err="1"/>
              <a:t>n'écrirez</a:t>
            </a:r>
            <a:r>
              <a:rPr dirty="0"/>
              <a:t> pas de </a:t>
            </a:r>
            <a:r>
              <a:rPr dirty="0" err="1"/>
              <a:t>méthode</a:t>
            </a:r>
            <a:r>
              <a:rPr dirty="0"/>
              <a:t> par </a:t>
            </a:r>
            <a:r>
              <a:rPr dirty="0" err="1"/>
              <a:t>défaut</a:t>
            </a:r>
            <a:r>
              <a:rPr dirty="0"/>
              <a:t> </a:t>
            </a:r>
            <a:r>
              <a:rPr dirty="0" err="1"/>
              <a:t>cette</a:t>
            </a:r>
            <a:r>
              <a:rPr dirty="0"/>
              <a:t> </a:t>
            </a:r>
            <a:r>
              <a:rPr dirty="0" err="1"/>
              <a:t>année</a:t>
            </a:r>
            <a:r>
              <a:rPr dirty="0"/>
              <a:t>, et </a:t>
            </a:r>
            <a:r>
              <a:rPr dirty="0" err="1"/>
              <a:t>aucun</a:t>
            </a:r>
            <a:r>
              <a:rPr dirty="0"/>
              <a:t> </a:t>
            </a:r>
            <a:r>
              <a:rPr dirty="0" err="1"/>
              <a:t>exercice</a:t>
            </a:r>
            <a:r>
              <a:rPr dirty="0"/>
              <a:t> </a:t>
            </a:r>
            <a:r>
              <a:rPr dirty="0" err="1"/>
              <a:t>n'en</a:t>
            </a:r>
            <a:r>
              <a:rPr dirty="0"/>
              <a:t> </a:t>
            </a:r>
            <a:r>
              <a:rPr dirty="0" err="1"/>
              <a:t>demande</a:t>
            </a:r>
            <a:r>
              <a:rPr dirty="0"/>
              <a:t>. Vous </a:t>
            </a:r>
            <a:r>
              <a:rPr dirty="0" err="1"/>
              <a:t>en</a:t>
            </a:r>
            <a:r>
              <a:rPr dirty="0"/>
              <a:t> </a:t>
            </a:r>
            <a:r>
              <a:rPr dirty="0" err="1"/>
              <a:t>utiliserez</a:t>
            </a:r>
            <a:r>
              <a:rPr dirty="0"/>
              <a:t> </a:t>
            </a:r>
            <a:r>
              <a:rPr dirty="0" err="1"/>
              <a:t>pourtant</a:t>
            </a:r>
            <a:r>
              <a:rPr dirty="0"/>
              <a:t> sans le savoir, </a:t>
            </a:r>
            <a:r>
              <a:rPr dirty="0" err="1"/>
              <a:t>dès</a:t>
            </a:r>
            <a:r>
              <a:rPr dirty="0"/>
              <a:t> le module COL.</a:t>
            </a:r>
          </a:p>
          <a:p>
            <a:r>
              <a:rPr dirty="0"/>
              <a:t>Une remarque </a:t>
            </a:r>
            <a:r>
              <a:rPr dirty="0" err="1"/>
              <a:t>honnête</a:t>
            </a:r>
            <a:r>
              <a:rPr dirty="0"/>
              <a:t> pour </a:t>
            </a:r>
            <a:r>
              <a:rPr dirty="0" err="1"/>
              <a:t>finir</a:t>
            </a:r>
            <a:r>
              <a:rPr dirty="0"/>
              <a:t> : </a:t>
            </a:r>
            <a:r>
              <a:rPr dirty="0" err="1"/>
              <a:t>cette</a:t>
            </a:r>
            <a:r>
              <a:rPr dirty="0"/>
              <a:t> notion </a:t>
            </a:r>
            <a:r>
              <a:rPr dirty="0" err="1"/>
              <a:t>écorne</a:t>
            </a:r>
            <a:r>
              <a:rPr dirty="0"/>
              <a:t> le tableau de la section 3. </a:t>
            </a:r>
            <a:r>
              <a:rPr dirty="0" err="1"/>
              <a:t>Depuis</a:t>
            </a:r>
            <a:r>
              <a:rPr dirty="0"/>
              <a:t> Java 8, </a:t>
            </a:r>
            <a:r>
              <a:rPr dirty="0" err="1"/>
              <a:t>une</a:t>
            </a:r>
            <a:r>
              <a:rPr dirty="0"/>
              <a:t> interface </a:t>
            </a:r>
            <a:r>
              <a:rPr dirty="0" err="1"/>
              <a:t>peut</a:t>
            </a:r>
            <a:r>
              <a:rPr dirty="0"/>
              <a:t> contenir du code. La distinction utile </a:t>
            </a:r>
            <a:r>
              <a:rPr dirty="0" err="1"/>
              <a:t>reste</a:t>
            </a:r>
            <a:r>
              <a:rPr dirty="0"/>
              <a:t> </a:t>
            </a:r>
            <a:r>
              <a:rPr dirty="0" err="1"/>
              <a:t>celle</a:t>
            </a:r>
            <a:r>
              <a:rPr dirty="0"/>
              <a:t> des intentions, « est un » </a:t>
            </a:r>
            <a:r>
              <a:rPr dirty="0" err="1"/>
              <a:t>contre</a:t>
            </a:r>
            <a:r>
              <a:rPr dirty="0"/>
              <a:t> « </a:t>
            </a:r>
            <a:r>
              <a:rPr dirty="0" err="1"/>
              <a:t>sait</a:t>
            </a:r>
            <a:r>
              <a:rPr dirty="0"/>
              <a:t> faire », et </a:t>
            </a:r>
            <a:r>
              <a:rPr dirty="0" err="1"/>
              <a:t>une</a:t>
            </a:r>
            <a:r>
              <a:rPr dirty="0"/>
              <a:t> interface qui se met à contenir beaucoup de code est </a:t>
            </a:r>
            <a:r>
              <a:rPr dirty="0" err="1"/>
              <a:t>généralement</a:t>
            </a:r>
            <a:r>
              <a:rPr dirty="0"/>
              <a:t> </a:t>
            </a:r>
            <a:r>
              <a:rPr dirty="0" err="1"/>
              <a:t>une</a:t>
            </a:r>
            <a:r>
              <a:rPr dirty="0"/>
              <a:t> </a:t>
            </a:r>
            <a:r>
              <a:rPr dirty="0" err="1"/>
              <a:t>classe</a:t>
            </a:r>
            <a:r>
              <a:rPr dirty="0"/>
              <a:t> </a:t>
            </a:r>
            <a:r>
              <a:rPr dirty="0" err="1"/>
              <a:t>abstraite</a:t>
            </a:r>
            <a:r>
              <a:rPr dirty="0"/>
              <a:t> qui </a:t>
            </a:r>
            <a:r>
              <a:rPr dirty="0" err="1"/>
              <a:t>s'ignore</a:t>
            </a:r>
            <a:r>
              <a:rPr dirty="0"/>
              <a:t>.</a:t>
            </a:r>
          </a:p>
          <a:p>
            <a:r>
              <a:rPr lang="fr-BE" dirty="0"/>
              <a:t>Le code complet, à exécuter : demos, classe demo.itf.slides.AjouterUneMethodeSansCasser.</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L'exemple que vous rencontrerez pour de bon est </a:t>
            </a:r>
            <a:r>
              <a:rPr>
                <a:latin typeface="Consolas"/>
              </a:rPr>
              <a:t>Serializable</a:t>
            </a:r>
            <a:r>
              <a:t>, au module FIC. Elle ne déclare aucune méthode, donc il n'y a rien à écrire. Sans elle, l'écriture de l'objet dans un fichier lève </a:t>
            </a:r>
            <a:r>
              <a:rPr>
                <a:latin typeface="Consolas"/>
              </a:rPr>
              <a:t>NotSerializableException</a:t>
            </a:r>
            <a:r>
              <a:t> ; avec elle, tout fonctionne, et vous n'aurez rien tapé de plus qu'un </a:t>
            </a:r>
            <a:r>
              <a:rPr>
                <a:latin typeface="Consolas"/>
              </a:rPr>
              <a:t>implements</a:t>
            </a:r>
            <a:r>
              <a:t>.</a:t>
            </a:r>
          </a:p>
          <a:p>
            <a:r>
              <a:t>Le mécanisme est simple : la bibliothèque vérifie à l'exécution que l'objet porte l'étiquette. </a:t>
            </a:r>
            <a:r>
              <a:rPr>
                <a:latin typeface="Consolas"/>
              </a:rPr>
              <a:t>Cloneable</a:t>
            </a:r>
            <a:r>
              <a:t> fonctionne de la même façon, </a:t>
            </a:r>
            <a:r>
              <a:rPr>
                <a:latin typeface="Consolas"/>
              </a:rPr>
              <a:t>Object.clone</a:t>
            </a:r>
            <a:r>
              <a:t> levant </a:t>
            </a:r>
            <a:r>
              <a:rPr>
                <a:latin typeface="Consolas"/>
              </a:rPr>
              <a:t>CloneNotSupportedException</a:t>
            </a:r>
            <a:r>
              <a:t> si la classe ne l'implémente pas.</a:t>
            </a:r>
          </a:p>
          <a:p>
            <a:r>
              <a:t>Un mot d'histoire, parce que cela explique la rareté du procédé : depuis Java 5, ce rôle d'étiquette est mieux tenu par les annotations, </a:t>
            </a:r>
            <a:r>
              <a:rPr>
                <a:latin typeface="Consolas"/>
              </a:rPr>
              <a:t>@Override</a:t>
            </a:r>
            <a:r>
              <a:t>, </a:t>
            </a:r>
            <a:r>
              <a:rPr>
                <a:latin typeface="Consolas"/>
              </a:rPr>
              <a:t>@Deprecated</a:t>
            </a:r>
            <a:r>
              <a:t>, </a:t>
            </a:r>
            <a:r>
              <a:rPr>
                <a:latin typeface="Consolas"/>
              </a:rPr>
              <a:t>@FunctionalInterface</a:t>
            </a:r>
            <a:r>
              <a:t>. On ne crée donc plus guère d'interfaces de marquage. </a:t>
            </a:r>
            <a:r>
              <a:rPr>
                <a:latin typeface="Consolas"/>
              </a:rPr>
              <a:t>Serializable</a:t>
            </a:r>
            <a:r>
              <a:t> reste sur votre route parce qu'elle est plus ancienne que les annotations.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nom est plus impressionnant que la chose : une seule méthode abstraite, c'est tout. Vous en avez écrit sans le savoir, et le JDK en est plein. </a:t>
            </a:r>
            <a:r>
              <a:rPr>
                <a:latin typeface="Consolas"/>
              </a:rPr>
              <a:t>Runnable</a:t>
            </a:r>
            <a:r>
              <a:t> avec </a:t>
            </a:r>
            <a:r>
              <a:rPr>
                <a:latin typeface="Consolas"/>
              </a:rPr>
              <a:t>run</a:t>
            </a:r>
            <a:r>
              <a:t>, </a:t>
            </a:r>
            <a:r>
              <a:rPr>
                <a:latin typeface="Consolas"/>
              </a:rPr>
              <a:t>Comparator</a:t>
            </a:r>
            <a:r>
              <a:t> avec </a:t>
            </a:r>
            <a:r>
              <a:rPr>
                <a:latin typeface="Consolas"/>
              </a:rPr>
              <a:t>compare</a:t>
            </a:r>
            <a:r>
              <a:t>, et </a:t>
            </a:r>
            <a:r>
              <a:rPr>
                <a:latin typeface="Consolas"/>
              </a:rPr>
              <a:t>EventHandler</a:t>
            </a:r>
            <a:r>
              <a:t> avec </a:t>
            </a:r>
            <a:r>
              <a:rPr>
                <a:latin typeface="Consolas"/>
              </a:rPr>
              <a:t>handle</a:t>
            </a:r>
            <a:r>
              <a:t>, que vous retrouverez à chaque bouton du module FX.</a:t>
            </a:r>
          </a:p>
          <a:p>
            <a:r>
              <a:t>L'annotation est facultative et joue le même rôle qu'</a:t>
            </a:r>
            <a:r>
              <a:rPr>
                <a:latin typeface="Consolas"/>
              </a:rPr>
              <a:t>@Override</a:t>
            </a:r>
            <a:r>
              <a:t> : elle ne change rien au code produit, elle fait refuser par le compilateur une interface qui ne respecterait pas la règle. C'est une déclaration d'intention vérifiée.</a:t>
            </a:r>
          </a:p>
          <a:p>
            <a:r>
              <a:t>L'intérêt viendra au module LAM. Partout où une interface fonctionnelle est attendue, Java autorise une écriture courte, l'expression lambda, qui tient sur une ligne au lieu d'une classe entière. Vous saurez alors ce que cette ligne abrège, parce que vous aurez écrit la version longue.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trois incréments appliquent le patron de cette séance au fil rouge. </a:t>
            </a:r>
            <a:r>
              <a:rPr>
                <a:latin typeface="Consolas"/>
              </a:rPr>
              <a:t>G.11</a:t>
            </a:r>
            <a:r>
              <a:t> déclare l'interface </a:t>
            </a:r>
            <a:r>
              <a:rPr>
                <a:latin typeface="Consolas"/>
              </a:rPr>
              <a:t>ObservateurPartie</a:t>
            </a:r>
            <a:r>
              <a:t>, avec ses trois moments : le début, le coup, la fin.</a:t>
            </a:r>
          </a:p>
          <a:p>
            <a:r>
              <a:rPr>
                <a:latin typeface="Consolas"/>
              </a:rPr>
              <a:t>G.12</a:t>
            </a:r>
            <a:r>
              <a:t> fait de la </a:t>
            </a:r>
            <a:r>
              <a:rPr>
                <a:latin typeface="Consolas"/>
              </a:rPr>
              <a:t>Partie</a:t>
            </a:r>
            <a:r>
              <a:t> le sujet observé. Elle reçoit une liste d'observateurs, les méthodes pour les ajouter et les retirer, et trois méthodes privées qui les préviennent. L'énoncé vous donne la ligne qui crée la liste et la boucle qui la parcourt : les collections sont le sujet du module COL, il n'y a rien à deviner ici.</a:t>
            </a:r>
          </a:p>
          <a:p>
            <a:r>
              <a:rPr>
                <a:latin typeface="Consolas"/>
              </a:rPr>
              <a:t>G.13</a:t>
            </a:r>
            <a:r>
              <a:t> écrit le premier observateur, un journal qui affiche le déroulement sur la console. Vous pourrez en ajouter d'autres plus tard, un compteur de coups ou un chronomètre, sans toucher à la </a:t>
            </a:r>
            <a:r>
              <a:rPr>
                <a:latin typeface="Consolas"/>
              </a:rPr>
              <a:t>Partie</a:t>
            </a:r>
            <a:r>
              <a:t>. C'est le décompte de fichiers de la slide 5.5, sur votre propre projet.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ITF</a:t>
            </a:r>
          </a:p>
          <a:p>
            <a:r>
              <a:t>Interfaces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grpSp>
        <p:nvGrpSpPr>
          <p:cNvPr id="17" name="Groupe 16">
            <a:extLst>
              <a:ext uri="{FF2B5EF4-FFF2-40B4-BE49-F238E27FC236}">
                <a16:creationId xmlns:a16="http://schemas.microsoft.com/office/drawing/2014/main" id="{0894FC2A-0C07-FD6E-3188-5DE5725D007B}"/>
              </a:ext>
            </a:extLst>
          </p:cNvPr>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dirty="0">
                  <a:solidFill>
                    <a:schemeClr val="accent4"/>
                  </a:solidFill>
                </a:rPr>
                <a:t>1   </a:t>
              </a:r>
              <a:r>
                <a:rPr sz="2600" dirty="0">
                  <a:solidFill>
                    <a:srgbClr val="FFFFFF"/>
                  </a:solidFill>
                </a:rPr>
                <a:t>Ce </a:t>
              </a:r>
              <a:r>
                <a:rPr sz="2600" dirty="0" err="1">
                  <a:solidFill>
                    <a:srgbClr val="FFFFFF"/>
                  </a:solidFill>
                </a:rPr>
                <a:t>qu'une</a:t>
              </a:r>
              <a:r>
                <a:rPr sz="2600" dirty="0">
                  <a:solidFill>
                    <a:srgbClr val="FFFFFF"/>
                  </a:solidFill>
                </a:rPr>
                <a:t> interface </a:t>
              </a:r>
              <a:r>
                <a:rPr sz="2600" dirty="0" err="1">
                  <a:solidFill>
                    <a:srgbClr val="FFFFFF"/>
                  </a:solidFill>
                </a:rPr>
                <a:t>déclare</a:t>
              </a:r>
              <a:endParaRPr sz="2600" dirty="0">
                <a:solidFill>
                  <a:srgbClr val="FFFFFF"/>
                </a:solidFill>
              </a:endParaRPr>
            </a:p>
          </p:txBody>
        </p:sp>
      </p:grpSp>
      <p:grpSp>
        <p:nvGrpSpPr>
          <p:cNvPr id="18" name="Groupe 17">
            <a:extLst>
              <a:ext uri="{FF2B5EF4-FFF2-40B4-BE49-F238E27FC236}">
                <a16:creationId xmlns:a16="http://schemas.microsoft.com/office/drawing/2014/main" id="{7635EB2A-C589-5B10-3BED-95563EFACB29}"/>
              </a:ext>
            </a:extLst>
          </p:cNvPr>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Plusieurs interfaces à la fois</a:t>
              </a:r>
            </a:p>
          </p:txBody>
        </p:sp>
      </p:grpSp>
      <p:grpSp>
        <p:nvGrpSpPr>
          <p:cNvPr id="19" name="Groupe 18">
            <a:extLst>
              <a:ext uri="{FF2B5EF4-FFF2-40B4-BE49-F238E27FC236}">
                <a16:creationId xmlns:a16="http://schemas.microsoft.com/office/drawing/2014/main" id="{25D2C7CB-0F07-2F28-1CF3-506A0391FE4C}"/>
              </a:ext>
            </a:extLst>
          </p:cNvPr>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Interface ou classe abstraite ?</a:t>
              </a:r>
            </a:p>
          </p:txBody>
        </p:sp>
      </p:grpSp>
      <p:grpSp>
        <p:nvGrpSpPr>
          <p:cNvPr id="20" name="Groupe 19">
            <a:extLst>
              <a:ext uri="{FF2B5EF4-FFF2-40B4-BE49-F238E27FC236}">
                <a16:creationId xmlns:a16="http://schemas.microsoft.com/office/drawing/2014/main" id="{09835281-2BF3-F698-0888-03421F36DE9C}"/>
              </a:ext>
            </a:extLst>
          </p:cNvPr>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Dépendre d'un contrat</a:t>
              </a:r>
            </a:p>
          </p:txBody>
        </p:sp>
      </p:grpSp>
      <p:grpSp>
        <p:nvGrpSpPr>
          <p:cNvPr id="21" name="Groupe 20">
            <a:extLst>
              <a:ext uri="{FF2B5EF4-FFF2-40B4-BE49-F238E27FC236}">
                <a16:creationId xmlns:a16="http://schemas.microsoft.com/office/drawing/2014/main" id="{34DF1C6B-57A4-9665-D44B-7F690B85FE41}"/>
              </a:ext>
            </a:extLst>
          </p:cNvPr>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Le patron Observateur</a:t>
              </a:r>
            </a:p>
          </p:txBody>
        </p:sp>
      </p:grpSp>
      <p:grpSp>
        <p:nvGrpSpPr>
          <p:cNvPr id="22" name="Groupe 21">
            <a:extLst>
              <a:ext uri="{FF2B5EF4-FFF2-40B4-BE49-F238E27FC236}">
                <a16:creationId xmlns:a16="http://schemas.microsoft.com/office/drawing/2014/main" id="{208287AF-83CB-5282-21E9-0F97588C48DE}"/>
              </a:ext>
            </a:extLst>
          </p:cNvPr>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a:solidFill>
                    <a:schemeClr val="accent4"/>
                  </a:solidFill>
                </a:rPr>
                <a:t>6   </a:t>
              </a:r>
              <a:r>
                <a:rPr sz="2600">
                  <a:solidFill>
                    <a:srgbClr val="FFFFFF"/>
                  </a:solidFill>
                </a:rPr>
                <a:t>Ce qu'une interface contient aussi</a:t>
              </a:r>
            </a:p>
          </p:txBody>
        </p:sp>
      </p:grpSp>
      <p:sp>
        <p:nvSpPr>
          <p:cNvPr id="15"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8B9945CD-CA93-D2B3-874A-B01B6B96B95B}"/>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602515"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Ce qu'une interface déclare</a:t>
            </a:r>
            <a:endParaRPr lang="fr-FR" sz="6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Trois mots, et le programme accepte l'inconnu</a:t>
            </a:r>
          </a:p>
          <a:p>
            <a:pPr>
              <a:spcBef>
                <a:spcPts val="1200"/>
              </a:spcBef>
            </a:pPr>
            <a:r>
              <a:rPr sz="1400">
                <a:solidFill>
                  <a:srgbClr val="BCBEC4"/>
                </a:solidFill>
              </a:rPr>
              <a:t>Déroulé : Demo_ITF</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1. Ce qu'une interface déclare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Déclarer une interface</a:t>
            </a:r>
          </a:p>
        </p:txBody>
      </p:sp>
      <p:sp>
        <p:nvSpPr>
          <p:cNvPr id="3" name="Content Placeholder 2"/>
          <p:cNvSpPr>
            <a:spLocks noGrp="1"/>
          </p:cNvSpPr>
          <p:nvPr>
            <p:ph idx="1"/>
          </p:nvPr>
        </p:nvSpPr>
        <p:spPr>
          <a:xfrm>
            <a:off x="640080" y="1371600"/>
            <a:ext cx="10881360" cy="3022599"/>
          </a:xfrm>
        </p:spPr>
        <p:txBody>
          <a:bodyPr/>
          <a:lstStyle/>
          <a:p>
            <a:pPr marL="0" indent="0">
              <a:spcAft>
                <a:spcPts val="1000"/>
              </a:spcAft>
              <a:buNone/>
            </a:pPr>
            <a:r>
              <a:rPr sz="2600"/>
              <a:t>Une interface énonce ce qu'une classe doit savoir faire, sans dire comment</a:t>
            </a:r>
          </a:p>
          <a:p>
            <a:pPr marL="0" indent="0">
              <a:spcAft>
                <a:spcPts val="1000"/>
              </a:spcAft>
              <a:buNone/>
            </a:pPr>
            <a:r>
              <a:rPr sz="2600"/>
              <a:t>Le mot-clé </a:t>
            </a:r>
            <a:r>
              <a:rPr sz="2200">
                <a:solidFill>
                  <a:schemeClr val="accent4"/>
                </a:solidFill>
                <a:latin typeface="Consolas"/>
              </a:rPr>
              <a:t>interface</a:t>
            </a:r>
            <a:r>
              <a:rPr sz="2600"/>
              <a:t> remplace le mot-clé </a:t>
            </a:r>
            <a:r>
              <a:rPr sz="2200">
                <a:solidFill>
                  <a:schemeClr val="accent4"/>
                </a:solidFill>
                <a:latin typeface="Consolas"/>
              </a:rPr>
              <a:t>class</a:t>
            </a:r>
          </a:p>
          <a:p>
            <a:pPr marL="0" indent="0">
              <a:spcAft>
                <a:spcPts val="1000"/>
              </a:spcAft>
              <a:buNone/>
            </a:pPr>
            <a:r>
              <a:rPr sz="2600"/>
              <a:t>Les méthodes s'y déclarent par leur entête, sans corps</a:t>
            </a:r>
          </a:p>
          <a:p>
            <a:pPr marL="0" indent="0">
              <a:spcAft>
                <a:spcPts val="1000"/>
              </a:spcAft>
              <a:buNone/>
            </a:pPr>
            <a:r>
              <a:rPr sz="2600"/>
              <a:t>Elles sont publiques sans qu'on l'écrive : </a:t>
            </a:r>
            <a:r>
              <a:rPr sz="2200">
                <a:solidFill>
                  <a:schemeClr val="accent4"/>
                </a:solidFill>
                <a:latin typeface="Consolas"/>
              </a:rPr>
              <a:t>public</a:t>
            </a:r>
            <a:r>
              <a:rPr sz="2600"/>
              <a:t> y est superflu</a:t>
            </a:r>
          </a:p>
        </p:txBody>
      </p:sp>
      <p:sp>
        <p:nvSpPr>
          <p:cNvPr id="4" name="Code"/>
          <p:cNvSpPr txBox="1"/>
          <p:nvPr/>
        </p:nvSpPr>
        <p:spPr>
          <a:xfrm>
            <a:off x="3987800" y="4394199"/>
            <a:ext cx="42164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interface</a:t>
            </a:r>
            <a:r>
              <a:rPr sz="1800" dirty="0">
                <a:solidFill>
                  <a:srgbClr val="BCBEC4"/>
                </a:solidFill>
                <a:latin typeface="Consolas"/>
              </a:rPr>
              <a:t> </a:t>
            </a:r>
            <a:r>
              <a:rPr sz="1800" dirty="0" err="1">
                <a:solidFill>
                  <a:srgbClr val="BCBEC4"/>
                </a:solidFill>
                <a:latin typeface="Consolas"/>
              </a:rPr>
              <a:t>Mesurable</a:t>
            </a: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double</a:t>
            </a:r>
            <a:r>
              <a:rPr sz="1800" dirty="0">
                <a:solidFill>
                  <a:srgbClr val="BCBEC4"/>
                </a:solidFill>
                <a:latin typeface="Consolas"/>
              </a:rPr>
              <a:t> </a:t>
            </a:r>
            <a:r>
              <a:rPr sz="1800" dirty="0" err="1">
                <a:solidFill>
                  <a:srgbClr val="56A8F5"/>
                </a:solidFill>
                <a:latin typeface="Consolas"/>
              </a:rPr>
              <a:t>mesure</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1. Ce qu'une interface déclare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classe s'engage</a:t>
            </a:r>
          </a:p>
        </p:txBody>
      </p:sp>
      <p:sp>
        <p:nvSpPr>
          <p:cNvPr id="3" name="Content Placeholder 2"/>
          <p:cNvSpPr>
            <a:spLocks noGrp="1"/>
          </p:cNvSpPr>
          <p:nvPr>
            <p:ph idx="1"/>
          </p:nvPr>
        </p:nvSpPr>
        <p:spPr>
          <a:xfrm>
            <a:off x="640080" y="1371600"/>
            <a:ext cx="4754880" cy="4800600"/>
          </a:xfrm>
        </p:spPr>
        <p:txBody>
          <a:bodyPr/>
          <a:lstStyle/>
          <a:p>
            <a:pPr marL="0" indent="0">
              <a:spcAft>
                <a:spcPts val="1000"/>
              </a:spcAft>
              <a:buNone/>
            </a:pPr>
            <a:r>
              <a:rPr sz="2800"/>
              <a:t>Le mot-clé </a:t>
            </a:r>
            <a:r>
              <a:rPr sz="2400">
                <a:solidFill>
                  <a:schemeClr val="accent4"/>
                </a:solidFill>
                <a:latin typeface="Consolas"/>
              </a:rPr>
              <a:t>implements</a:t>
            </a:r>
            <a:r>
              <a:rPr sz="2800"/>
              <a:t> déclare qu'une classe tient la promesse</a:t>
            </a:r>
          </a:p>
          <a:p>
            <a:pPr marL="0" indent="0">
              <a:spcAft>
                <a:spcPts val="1000"/>
              </a:spcAft>
              <a:buNone/>
            </a:pPr>
            <a:r>
              <a:rPr sz="2800"/>
              <a:t>Le compilateur vérifie que toutes les méthodes annoncées sont écrites</a:t>
            </a:r>
          </a:p>
          <a:p>
            <a:pPr marL="0" indent="0">
              <a:spcAft>
                <a:spcPts val="1000"/>
              </a:spcAft>
              <a:buNone/>
            </a:pPr>
            <a:r>
              <a:rPr sz="2800"/>
              <a:t>Deux classes sans aucun rapport peuvent tenir la même promesse</a:t>
            </a:r>
          </a:p>
        </p:txBody>
      </p:sp>
      <p:sp>
        <p:nvSpPr>
          <p:cNvPr id="4" name="Code"/>
          <p:cNvSpPr txBox="1"/>
          <p:nvPr/>
        </p:nvSpPr>
        <p:spPr>
          <a:xfrm>
            <a:off x="5928360" y="1371600"/>
            <a:ext cx="5623560" cy="4907280"/>
          </a:xfrm>
          <a:prstGeom prst="roundRect">
            <a:avLst>
              <a:gd name="adj" fmla="val 186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class</a:t>
            </a:r>
            <a:r>
              <a:rPr sz="1600" dirty="0">
                <a:solidFill>
                  <a:srgbClr val="BCBEC4"/>
                </a:solidFill>
                <a:latin typeface="Consolas"/>
              </a:rPr>
              <a:t> Examen </a:t>
            </a:r>
            <a:r>
              <a:rPr sz="1600" dirty="0">
                <a:solidFill>
                  <a:srgbClr val="CF8E6D"/>
                </a:solidFill>
                <a:latin typeface="Consolas"/>
              </a:rPr>
              <a:t>implements</a:t>
            </a:r>
            <a:r>
              <a:rPr sz="1600" dirty="0">
                <a:solidFill>
                  <a:srgbClr val="BCBEC4"/>
                </a:solidFill>
                <a:latin typeface="Consolas"/>
              </a:rPr>
              <a:t> </a:t>
            </a:r>
            <a:r>
              <a:rPr sz="1600" dirty="0" err="1">
                <a:solidFill>
                  <a:srgbClr val="BCBEC4"/>
                </a:solidFill>
                <a:latin typeface="Consolas"/>
              </a:rPr>
              <a:t>Mesurable</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private</a:t>
            </a:r>
            <a:r>
              <a:rPr sz="1600" dirty="0">
                <a:solidFill>
                  <a:srgbClr val="BCBEC4"/>
                </a:solidFill>
                <a:latin typeface="Consolas"/>
              </a:rPr>
              <a:t> </a:t>
            </a:r>
            <a:r>
              <a:rPr sz="1600" dirty="0">
                <a:solidFill>
                  <a:srgbClr val="CF8E6D"/>
                </a:solidFill>
                <a:latin typeface="Consolas"/>
              </a:rPr>
              <a:t>final</a:t>
            </a:r>
            <a:r>
              <a:rPr sz="1600" dirty="0">
                <a:solidFill>
                  <a:srgbClr val="BCBEC4"/>
                </a:solidFill>
                <a:latin typeface="Consolas"/>
              </a:rPr>
              <a:t> </a:t>
            </a:r>
            <a:r>
              <a:rPr sz="1600" dirty="0">
                <a:solidFill>
                  <a:srgbClr val="CF8E6D"/>
                </a:solidFill>
                <a:latin typeface="Consolas"/>
              </a:rPr>
              <a:t>int</a:t>
            </a:r>
            <a:r>
              <a:rPr sz="1600" dirty="0">
                <a:solidFill>
                  <a:srgbClr val="BCBEC4"/>
                </a:solidFill>
                <a:latin typeface="Consolas"/>
              </a:rPr>
              <a:t> points;</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B3AE60"/>
                </a:solidFill>
                <a:latin typeface="Consolas"/>
              </a:rPr>
              <a:t>@Override</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double</a:t>
            </a:r>
            <a:r>
              <a:rPr sz="1600" dirty="0">
                <a:solidFill>
                  <a:srgbClr val="BCBEC4"/>
                </a:solidFill>
                <a:latin typeface="Consolas"/>
              </a:rPr>
              <a:t> </a:t>
            </a:r>
            <a:r>
              <a:rPr sz="1600" dirty="0" err="1">
                <a:solidFill>
                  <a:srgbClr val="56A8F5"/>
                </a:solidFill>
                <a:latin typeface="Consolas"/>
              </a:rPr>
              <a:t>mesure</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return</a:t>
            </a:r>
            <a:r>
              <a:rPr sz="1600" dirty="0">
                <a:solidFill>
                  <a:srgbClr val="BCBEC4"/>
                </a:solidFill>
                <a:latin typeface="Consolas"/>
              </a:rPr>
              <a:t> points;</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class</a:t>
            </a:r>
            <a:r>
              <a:rPr sz="1600" dirty="0">
                <a:solidFill>
                  <a:srgbClr val="BCBEC4"/>
                </a:solidFill>
                <a:latin typeface="Consolas"/>
              </a:rPr>
              <a:t> Colis </a:t>
            </a:r>
            <a:r>
              <a:rPr sz="1600" dirty="0">
                <a:solidFill>
                  <a:srgbClr val="CF8E6D"/>
                </a:solidFill>
                <a:latin typeface="Consolas"/>
              </a:rPr>
              <a:t>implements</a:t>
            </a:r>
            <a:r>
              <a:rPr sz="1600" dirty="0">
                <a:solidFill>
                  <a:srgbClr val="BCBEC4"/>
                </a:solidFill>
                <a:latin typeface="Consolas"/>
              </a:rPr>
              <a:t> </a:t>
            </a:r>
            <a:r>
              <a:rPr sz="1600" dirty="0" err="1">
                <a:solidFill>
                  <a:srgbClr val="BCBEC4"/>
                </a:solidFill>
                <a:latin typeface="Consolas"/>
              </a:rPr>
              <a:t>Mesurable</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private</a:t>
            </a:r>
            <a:r>
              <a:rPr sz="1600" dirty="0">
                <a:solidFill>
                  <a:srgbClr val="BCBEC4"/>
                </a:solidFill>
                <a:latin typeface="Consolas"/>
              </a:rPr>
              <a:t> </a:t>
            </a:r>
            <a:r>
              <a:rPr sz="1600" dirty="0">
                <a:solidFill>
                  <a:srgbClr val="CF8E6D"/>
                </a:solidFill>
                <a:latin typeface="Consolas"/>
              </a:rPr>
              <a:t>final</a:t>
            </a:r>
            <a:r>
              <a:rPr sz="1600" dirty="0">
                <a:solidFill>
                  <a:srgbClr val="BCBEC4"/>
                </a:solidFill>
                <a:latin typeface="Consolas"/>
              </a:rPr>
              <a:t> </a:t>
            </a:r>
            <a:r>
              <a:rPr sz="1600" dirty="0">
                <a:solidFill>
                  <a:srgbClr val="CF8E6D"/>
                </a:solidFill>
                <a:latin typeface="Consolas"/>
              </a:rPr>
              <a:t>double</a:t>
            </a:r>
            <a:r>
              <a:rPr sz="1600" dirty="0">
                <a:solidFill>
                  <a:srgbClr val="BCBEC4"/>
                </a:solidFill>
                <a:latin typeface="Consolas"/>
              </a:rPr>
              <a:t> grammes;</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B3AE60"/>
                </a:solidFill>
                <a:latin typeface="Consolas"/>
              </a:rPr>
              <a:t>@Override</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double</a:t>
            </a:r>
            <a:r>
              <a:rPr sz="1600" dirty="0">
                <a:solidFill>
                  <a:srgbClr val="BCBEC4"/>
                </a:solidFill>
                <a:latin typeface="Consolas"/>
              </a:rPr>
              <a:t> </a:t>
            </a:r>
            <a:r>
              <a:rPr sz="1600" dirty="0" err="1">
                <a:solidFill>
                  <a:srgbClr val="56A8F5"/>
                </a:solidFill>
                <a:latin typeface="Consolas"/>
              </a:rPr>
              <a:t>mesure</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return</a:t>
            </a:r>
            <a:r>
              <a:rPr sz="1600" dirty="0">
                <a:solidFill>
                  <a:srgbClr val="BCBEC4"/>
                </a:solidFill>
                <a:latin typeface="Consolas"/>
              </a:rPr>
              <a:t> grammes;</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1. Ce qu'une interface déclare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type peut être l'interface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On déclare des variables du type de l'interface, mais on ne l'instancie pas</a:t>
            </a:r>
          </a:p>
          <a:p>
            <a:pPr marL="0" indent="0">
              <a:spcAft>
                <a:spcPts val="1000"/>
              </a:spcAft>
              <a:buNone/>
            </a:pPr>
            <a:r>
              <a:rPr sz="2800"/>
              <a:t>À travers ce type, seules les méthodes de l'interface sont visibles</a:t>
            </a:r>
          </a:p>
          <a:p>
            <a:pPr marL="0" indent="0">
              <a:spcAft>
                <a:spcPts val="1000"/>
              </a:spcAft>
              <a:buNone/>
            </a:pPr>
            <a:r>
              <a:rPr sz="2800"/>
              <a:t>C'est le polymorphisme du module </a:t>
            </a:r>
            <a:r>
              <a:rPr sz="2800">
                <a:solidFill>
                  <a:schemeClr val="accent4"/>
                </a:solidFill>
                <a:latin typeface="Consolas"/>
              </a:rPr>
              <a:t>ABS</a:t>
            </a:r>
            <a:r>
              <a:rPr sz="2800"/>
              <a:t>, sans classe mère</a:t>
            </a:r>
          </a:p>
        </p:txBody>
      </p:sp>
      <p:sp>
        <p:nvSpPr>
          <p:cNvPr id="4" name="Code"/>
          <p:cNvSpPr txBox="1"/>
          <p:nvPr/>
        </p:nvSpPr>
        <p:spPr>
          <a:xfrm>
            <a:off x="1665288" y="4147853"/>
            <a:ext cx="8861424"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BCBEC4"/>
                </a:solidFill>
                <a:latin typeface="Consolas"/>
              </a:rPr>
              <a:t>Mesurable m =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Colis</a:t>
            </a:r>
            <a:r>
              <a:rPr sz="1750">
                <a:solidFill>
                  <a:srgbClr val="BCBEC4"/>
                </a:solidFill>
                <a:latin typeface="Consolas"/>
              </a:rPr>
              <a:t>(</a:t>
            </a:r>
            <a:r>
              <a:rPr sz="1750">
                <a:solidFill>
                  <a:srgbClr val="2AACB8"/>
                </a:solidFill>
                <a:latin typeface="Consolas"/>
              </a:rPr>
              <a:t>1250</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System.out.</a:t>
            </a:r>
            <a:r>
              <a:rPr sz="1750">
                <a:solidFill>
                  <a:srgbClr val="56A8F5"/>
                </a:solidFill>
                <a:latin typeface="Consolas"/>
              </a:rPr>
              <a:t>println</a:t>
            </a:r>
            <a:r>
              <a:rPr sz="1750">
                <a:solidFill>
                  <a:srgbClr val="BCBEC4"/>
                </a:solidFill>
                <a:latin typeface="Consolas"/>
              </a:rPr>
              <a:t>(m.</a:t>
            </a:r>
            <a:r>
              <a:rPr sz="1750">
                <a:solidFill>
                  <a:srgbClr val="56A8F5"/>
                </a:solidFill>
                <a:latin typeface="Consolas"/>
              </a:rPr>
              <a:t>mesure</a:t>
            </a:r>
            <a:r>
              <a:rPr sz="1750">
                <a:solidFill>
                  <a:srgbClr val="BCBEC4"/>
                </a:solidFill>
                <a:latin typeface="Consolas"/>
              </a:rPr>
              <a:t>());        </a:t>
            </a:r>
            <a:r>
              <a:rPr sz="1750">
                <a:solidFill>
                  <a:srgbClr val="7A7E85"/>
                </a:solidFill>
                <a:latin typeface="Consolas"/>
              </a:rPr>
              <a:t>// OK</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Mesurable autre =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Mesurable</a:t>
            </a:r>
            <a:r>
              <a:rPr sz="1750">
                <a:solidFill>
                  <a:srgbClr val="BCBEC4"/>
                </a:solidFill>
                <a:latin typeface="Consolas"/>
              </a:rPr>
              <a:t>();     </a:t>
            </a:r>
            <a:r>
              <a:rPr sz="1750">
                <a:solidFill>
                  <a:srgbClr val="7A7E85"/>
                </a:solidFill>
                <a:latin typeface="Consolas"/>
              </a:rPr>
              <a:t>// erreur de compilation</a:t>
            </a:r>
          </a:p>
          <a:p>
            <a:pPr>
              <a:lnSpc>
                <a:spcPct val="100000"/>
              </a:lnSpc>
              <a:spcBef>
                <a:spcPts val="0"/>
              </a:spcBef>
              <a:spcAft>
                <a:spcPts val="0"/>
              </a:spcAft>
            </a:pPr>
            <a:r>
              <a:rPr sz="1750">
                <a:solidFill>
                  <a:srgbClr val="BCBEC4"/>
                </a:solidFill>
                <a:latin typeface="Consolas"/>
              </a:rPr>
              <a:t>System.out.</a:t>
            </a:r>
            <a:r>
              <a:rPr sz="1750">
                <a:solidFill>
                  <a:srgbClr val="56A8F5"/>
                </a:solidFill>
                <a:latin typeface="Consolas"/>
              </a:rPr>
              <a:t>println</a:t>
            </a:r>
            <a:r>
              <a:rPr sz="1750">
                <a:solidFill>
                  <a:srgbClr val="BCBEC4"/>
                </a:solidFill>
                <a:latin typeface="Consolas"/>
              </a:rPr>
              <a:t>(m.</a:t>
            </a:r>
            <a:r>
              <a:rPr sz="1750">
                <a:solidFill>
                  <a:srgbClr val="56A8F5"/>
                </a:solidFill>
                <a:latin typeface="Consolas"/>
              </a:rPr>
              <a:t>destinataire</a:t>
            </a:r>
            <a:r>
              <a:rPr sz="1750">
                <a:solidFill>
                  <a:srgbClr val="BCBEC4"/>
                </a:solidFill>
                <a:latin typeface="Consolas"/>
              </a:rPr>
              <a:t>());  </a:t>
            </a:r>
            <a:r>
              <a:rPr sz="1750">
                <a:solidFill>
                  <a:srgbClr val="7A7E85"/>
                </a:solidFill>
                <a:latin typeface="Consolas"/>
              </a:rPr>
              <a:t>// erreur de compilation</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1. Ce qu'une interface déclare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Recevoir un comportement en paramètre</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a:t>Une méthode qui reçoit un </a:t>
            </a:r>
            <a:r>
              <a:rPr sz="2200">
                <a:solidFill>
                  <a:schemeClr val="accent4"/>
                </a:solidFill>
                <a:latin typeface="Consolas"/>
              </a:rPr>
              <a:t>Mesurable</a:t>
            </a:r>
            <a:r>
              <a:rPr sz="2600"/>
              <a:t> accepte tout ce qui en est un</a:t>
            </a:r>
          </a:p>
          <a:p>
            <a:pPr marL="0" indent="0">
              <a:spcAft>
                <a:spcPts val="1000"/>
              </a:spcAft>
              <a:buNone/>
            </a:pPr>
            <a:r>
              <a:rPr sz="2600"/>
              <a:t>Y compris des classes écrites longtemps après elle</a:t>
            </a:r>
          </a:p>
          <a:p>
            <a:pPr marL="0" indent="0">
              <a:spcAft>
                <a:spcPts val="1000"/>
              </a:spcAft>
              <a:buNone/>
            </a:pPr>
            <a:r>
              <a:rPr sz="2600"/>
              <a:t>Le type du paramètre déclare le besoin, pas le fournisseur</a:t>
            </a:r>
          </a:p>
        </p:txBody>
      </p:sp>
      <p:sp>
        <p:nvSpPr>
          <p:cNvPr id="4" name="Code"/>
          <p:cNvSpPr txBox="1"/>
          <p:nvPr/>
        </p:nvSpPr>
        <p:spPr>
          <a:xfrm>
            <a:off x="2590800" y="3663735"/>
            <a:ext cx="7010400" cy="2164080"/>
          </a:xfrm>
          <a:prstGeom prst="roundRect">
            <a:avLst>
              <a:gd name="adj" fmla="val 422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a:t>
            </a:r>
            <a:r>
              <a:rPr sz="1800">
                <a:solidFill>
                  <a:srgbClr val="56A8F5"/>
                </a:solidFill>
                <a:latin typeface="Consolas"/>
              </a:rPr>
              <a:t>total</a:t>
            </a:r>
            <a:r>
              <a:rPr sz="1800">
                <a:solidFill>
                  <a:srgbClr val="BCBEC4"/>
                </a:solidFill>
                <a:latin typeface="Consolas"/>
              </a:rPr>
              <a:t>(Mesurable[] choses)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somme =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for</a:t>
            </a:r>
            <a:r>
              <a:rPr sz="1800">
                <a:solidFill>
                  <a:srgbClr val="BCBEC4"/>
                </a:solidFill>
                <a:latin typeface="Consolas"/>
              </a:rPr>
              <a:t> (Mesurable chose : choses) {</a:t>
            </a:r>
          </a:p>
          <a:p>
            <a:pPr>
              <a:lnSpc>
                <a:spcPct val="100000"/>
              </a:lnSpc>
              <a:spcBef>
                <a:spcPts val="0"/>
              </a:spcBef>
              <a:spcAft>
                <a:spcPts val="0"/>
              </a:spcAft>
            </a:pPr>
            <a:r>
              <a:rPr sz="1800">
                <a:solidFill>
                  <a:srgbClr val="BCBEC4"/>
                </a:solidFill>
                <a:latin typeface="Consolas"/>
              </a:rPr>
              <a:t>        somme += chose.</a:t>
            </a:r>
            <a:r>
              <a:rPr sz="1800">
                <a:solidFill>
                  <a:srgbClr val="56A8F5"/>
                </a:solidFill>
                <a:latin typeface="Consolas"/>
              </a:rPr>
              <a:t>mesure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somme;</a:t>
            </a:r>
          </a:p>
          <a:p>
            <a:pPr>
              <a:lnSpc>
                <a:spcPct val="100000"/>
              </a:lnSpc>
              <a:spcBef>
                <a:spcPts val="0"/>
              </a:spcBef>
              <a:spcAft>
                <a:spcPts val="0"/>
              </a:spcAft>
            </a:pPr>
            <a:r>
              <a:rPr sz="18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1. Ce qu'une interface déclare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10" name="Picture 9"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1. Ce qu'une interface déclare</a:t>
            </a:r>
          </a:p>
        </p:txBody>
      </p:sp>
      <p:grpSp>
        <p:nvGrpSpPr>
          <p:cNvPr id="13" name="Exercice 1"/>
          <p:cNvGrpSpPr/>
          <p:nvPr/>
        </p:nvGrpSpPr>
        <p:grpSpPr>
          <a:xfrm>
            <a:off x="640080" y="1417320"/>
            <a:ext cx="9326880" cy="960120"/>
            <a:chOff x="640080" y="1417320"/>
            <a:chExt cx="9326880" cy="960120"/>
          </a:xfrm>
        </p:grpSpPr>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ITF.1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Une interface et deux implémentations</a:t>
              </a:r>
            </a:p>
            <a:p>
              <a:r>
                <a:rPr sz="1400">
                  <a:solidFill>
                    <a:srgbClr val="BCBEC4"/>
                  </a:solidFill>
                </a:rPr>
                <a:t>fascicule ITF</a:t>
              </a:r>
            </a:p>
          </p:txBody>
        </p:sp>
      </p:grpSp>
      <p:grpSp>
        <p:nvGrpSpPr>
          <p:cNvPr id="14" name="Exercice 2"/>
          <p:cNvGrpSpPr/>
          <p:nvPr/>
        </p:nvGrpSpPr>
        <p:grpSpPr>
          <a:xfrm>
            <a:off x="640080" y="2560320"/>
            <a:ext cx="9326880" cy="2057399"/>
            <a:chOff x="640080" y="2560320"/>
            <a:chExt cx="9326880" cy="2057399"/>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ITF.2</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Payer en ligne</a:t>
              </a:r>
            </a:p>
            <a:p>
              <a:r>
                <a:rPr sz="1400">
                  <a:solidFill>
                    <a:srgbClr val="BCBEC4"/>
                  </a:solidFill>
                </a:rPr>
                <a:t>fascicule ITF</a:t>
              </a:r>
            </a:p>
          </p:txBody>
        </p:sp>
        <p:sp>
          <p:nvSpPr>
            <p:cNvPr id="9" name="TextBox 8"/>
            <p:cNvSpPr txBox="1"/>
            <p:nvPr/>
          </p:nvSpPr>
          <p:spPr>
            <a:xfrm>
              <a:off x="640080" y="3794759"/>
              <a:ext cx="9326880" cy="822960"/>
            </a:xfrm>
            <a:prstGeom prst="rect">
              <a:avLst/>
            </a:prstGeom>
            <a:noFill/>
          </p:spPr>
          <p:txBody>
            <a:bodyPr wrap="square">
              <a:spAutoFit/>
            </a:bodyPr>
            <a:lstStyle/>
            <a:p>
              <a:r>
                <a:rPr sz="2400"/>
                <a:t>Écrire : </a:t>
              </a:r>
              <a:r>
                <a:rPr sz="2400">
                  <a:solidFill>
                    <a:schemeClr val="accent4"/>
                  </a:solidFill>
                  <a:latin typeface="Consolas"/>
                </a:rPr>
                <a:t>CC-MET.7</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09887FDB-58F3-E3E7-5EBC-0F7F2E2CB28F}"/>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704003"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Plusieurs interfaces à la fois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10</a:t>
            </a:fld>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seule mère, autant d'interfaces qu'on veut</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Une classe Java n'hérite que d'une seule autre : pas de double </a:t>
            </a:r>
            <a:r>
              <a:rPr sz="2400">
                <a:solidFill>
                  <a:schemeClr val="accent4"/>
                </a:solidFill>
                <a:latin typeface="Consolas"/>
              </a:rPr>
              <a:t>extends</a:t>
            </a:r>
          </a:p>
          <a:p>
            <a:pPr marL="0" indent="0">
              <a:spcAft>
                <a:spcPts val="1000"/>
              </a:spcAft>
              <a:buNone/>
            </a:pPr>
            <a:r>
              <a:rPr sz="2800"/>
              <a:t>Rien n'empêche d'implémenter plusieurs interfaces</a:t>
            </a:r>
          </a:p>
          <a:p>
            <a:pPr marL="0" indent="0">
              <a:spcAft>
                <a:spcPts val="1000"/>
              </a:spcAft>
              <a:buNone/>
            </a:pPr>
            <a:r>
              <a:rPr sz="2800"/>
              <a:t>L'ordre des mots est imposé : </a:t>
            </a:r>
            <a:r>
              <a:rPr sz="2400">
                <a:solidFill>
                  <a:schemeClr val="accent4"/>
                </a:solidFill>
                <a:latin typeface="Consolas"/>
              </a:rPr>
              <a:t>extends</a:t>
            </a:r>
            <a:r>
              <a:rPr sz="2800"/>
              <a:t> d'abord, </a:t>
            </a:r>
            <a:r>
              <a:rPr sz="2400">
                <a:solidFill>
                  <a:schemeClr val="accent4"/>
                </a:solidFill>
                <a:latin typeface="Consolas"/>
              </a:rPr>
              <a:t>implements</a:t>
            </a:r>
            <a:r>
              <a:rPr sz="2800"/>
              <a:t> ensuite</a:t>
            </a:r>
          </a:p>
        </p:txBody>
      </p:sp>
      <p:sp>
        <p:nvSpPr>
          <p:cNvPr id="4" name="Code"/>
          <p:cNvSpPr txBox="1"/>
          <p:nvPr/>
        </p:nvSpPr>
        <p:spPr>
          <a:xfrm>
            <a:off x="2870200" y="4160520"/>
            <a:ext cx="64516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Square </a:t>
            </a:r>
            <a:r>
              <a:rPr sz="1800">
                <a:solidFill>
                  <a:srgbClr val="CF8E6D"/>
                </a:solidFill>
                <a:latin typeface="Consolas"/>
              </a:rPr>
              <a:t>extends</a:t>
            </a:r>
            <a:r>
              <a:rPr sz="1800">
                <a:solidFill>
                  <a:srgbClr val="BCBEC4"/>
                </a:solidFill>
                <a:latin typeface="Consolas"/>
              </a:rPr>
              <a:t> Shape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implements</a:t>
            </a:r>
            <a:r>
              <a:rPr sz="1800">
                <a:solidFill>
                  <a:srgbClr val="BCBEC4"/>
                </a:solidFill>
                <a:latin typeface="Consolas"/>
              </a:rPr>
              <a:t> Translatable, Rotatable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2. Plusieurs interfaces à la fois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comportement qui traverse les familles</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a:t>Une classe abstraite dit ce qu'un objet est, une interface ce qu'il sait faire</a:t>
            </a:r>
          </a:p>
          <a:p>
            <a:pPr marL="0" indent="0">
              <a:spcAft>
                <a:spcPts val="1000"/>
              </a:spcAft>
              <a:buNone/>
            </a:pPr>
            <a:r>
              <a:rPr sz="2600"/>
              <a:t>Une image et un texte peuvent se déplacer sans être des formes</a:t>
            </a:r>
          </a:p>
          <a:p>
            <a:pPr marL="0" indent="0">
              <a:spcAft>
                <a:spcPts val="1000"/>
              </a:spcAft>
              <a:buNone/>
            </a:pPr>
            <a:r>
              <a:rPr sz="2600"/>
              <a:t>Aucune classe mère ne réunirait les trois sans mentir</a:t>
            </a:r>
          </a:p>
        </p:txBody>
      </p:sp>
      <p:sp>
        <p:nvSpPr>
          <p:cNvPr id="4" name="Code"/>
          <p:cNvSpPr txBox="1"/>
          <p:nvPr/>
        </p:nvSpPr>
        <p:spPr>
          <a:xfrm>
            <a:off x="3079750" y="4008119"/>
            <a:ext cx="6032500" cy="2164080"/>
          </a:xfrm>
          <a:prstGeom prst="roundRect">
            <a:avLst>
              <a:gd name="adj" fmla="val 422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interface</a:t>
            </a:r>
            <a:r>
              <a:rPr sz="1800">
                <a:solidFill>
                  <a:srgbClr val="BCBEC4"/>
                </a:solidFill>
                <a:latin typeface="Consolas"/>
              </a:rPr>
              <a:t> Translatable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translate</a:t>
            </a:r>
            <a:r>
              <a:rPr sz="1800">
                <a:solidFill>
                  <a:srgbClr val="BCBEC4"/>
                </a:solidFill>
                <a:latin typeface="Consolas"/>
              </a:rPr>
              <a:t>(</a:t>
            </a:r>
            <a:r>
              <a:rPr sz="1800">
                <a:solidFill>
                  <a:srgbClr val="CF8E6D"/>
                </a:solidFill>
                <a:latin typeface="Consolas"/>
              </a:rPr>
              <a:t>double</a:t>
            </a:r>
            <a:r>
              <a:rPr sz="1800">
                <a:solidFill>
                  <a:srgbClr val="BCBEC4"/>
                </a:solidFill>
                <a:latin typeface="Consolas"/>
              </a:rPr>
              <a:t> dx, </a:t>
            </a:r>
            <a:r>
              <a:rPr sz="1800">
                <a:solidFill>
                  <a:srgbClr val="CF8E6D"/>
                </a:solidFill>
                <a:latin typeface="Consolas"/>
              </a:rPr>
              <a:t>double</a:t>
            </a:r>
            <a:r>
              <a:rPr sz="1800">
                <a:solidFill>
                  <a:srgbClr val="BCBEC4"/>
                </a:solidFill>
                <a:latin typeface="Consolas"/>
              </a:rPr>
              <a:t> dy);</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interface</a:t>
            </a:r>
            <a:r>
              <a:rPr sz="1800">
                <a:solidFill>
                  <a:srgbClr val="BCBEC4"/>
                </a:solidFill>
                <a:latin typeface="Consolas"/>
              </a:rPr>
              <a:t> Rotatable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rotate</a:t>
            </a:r>
            <a:r>
              <a:rPr sz="1800">
                <a:solidFill>
                  <a:srgbClr val="BCBEC4"/>
                </a:solidFill>
                <a:latin typeface="Consolas"/>
              </a:rPr>
              <a:t>(</a:t>
            </a:r>
            <a:r>
              <a:rPr sz="1800">
                <a:solidFill>
                  <a:srgbClr val="CF8E6D"/>
                </a:solidFill>
                <a:latin typeface="Consolas"/>
              </a:rPr>
              <a:t>double</a:t>
            </a:r>
            <a:r>
              <a:rPr sz="1800">
                <a:solidFill>
                  <a:srgbClr val="BCBEC4"/>
                </a:solidFill>
                <a:latin typeface="Consolas"/>
              </a:rPr>
              <a:t> alpha);</a:t>
            </a:r>
          </a:p>
          <a:p>
            <a:pPr>
              <a:lnSpc>
                <a:spcPct val="100000"/>
              </a:lnSpc>
              <a:spcBef>
                <a:spcPts val="0"/>
              </a:spcBef>
              <a:spcAft>
                <a:spcPts val="0"/>
              </a:spcAft>
            </a:pPr>
            <a:r>
              <a:rPr sz="18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2. Plusieurs interfaces à la fois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Où écrire la méthode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Une classe abstraite peut implémenter l'interface pour toutes ses filles</a:t>
            </a:r>
          </a:p>
          <a:p>
            <a:pPr marL="0" indent="0">
              <a:spcAft>
                <a:spcPts val="1000"/>
              </a:spcAft>
              <a:buNone/>
            </a:pPr>
            <a:r>
              <a:rPr sz="2800"/>
              <a:t>La règle est celle du module </a:t>
            </a:r>
            <a:r>
              <a:rPr sz="2800">
                <a:solidFill>
                  <a:schemeClr val="accent4"/>
                </a:solidFill>
                <a:latin typeface="Consolas"/>
              </a:rPr>
              <a:t>ABS</a:t>
            </a:r>
            <a:r>
              <a:rPr sz="2800"/>
              <a:t> : ce qui est commun monte, ce qui varie descend</a:t>
            </a:r>
          </a:p>
          <a:p>
            <a:pPr marL="0" indent="0">
              <a:spcAft>
                <a:spcPts val="1000"/>
              </a:spcAft>
              <a:buNone/>
            </a:pPr>
            <a:r>
              <a:rPr sz="2800"/>
              <a:t>La question se pose à chaque méthode, et </a:t>
            </a:r>
            <a:r>
              <a:rPr sz="2400">
                <a:solidFill>
                  <a:schemeClr val="accent4"/>
                </a:solidFill>
                <a:latin typeface="Consolas"/>
              </a:rPr>
              <a:t>ITF.3</a:t>
            </a:r>
            <a:r>
              <a:rPr sz="2800"/>
              <a:t> vous la pose pour de bon</a:t>
            </a:r>
          </a:p>
        </p:txBody>
      </p:sp>
      <p:sp>
        <p:nvSpPr>
          <p:cNvPr id="4" name="Code"/>
          <p:cNvSpPr txBox="1"/>
          <p:nvPr/>
        </p:nvSpPr>
        <p:spPr>
          <a:xfrm>
            <a:off x="2955572" y="4587240"/>
            <a:ext cx="6280855"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CF8E6D"/>
                </a:solidFill>
                <a:latin typeface="Consolas"/>
              </a:rPr>
              <a:t>public</a:t>
            </a:r>
            <a:r>
              <a:rPr sz="1750">
                <a:solidFill>
                  <a:srgbClr val="BCBEC4"/>
                </a:solidFill>
                <a:latin typeface="Consolas"/>
              </a:rPr>
              <a:t> </a:t>
            </a:r>
            <a:r>
              <a:rPr sz="1750">
                <a:solidFill>
                  <a:srgbClr val="CF8E6D"/>
                </a:solidFill>
                <a:latin typeface="Consolas"/>
              </a:rPr>
              <a:t>abstract</a:t>
            </a:r>
            <a:r>
              <a:rPr sz="1750">
                <a:solidFill>
                  <a:srgbClr val="BCBEC4"/>
                </a:solidFill>
                <a:latin typeface="Consolas"/>
              </a:rPr>
              <a:t> </a:t>
            </a:r>
            <a:r>
              <a:rPr sz="1750">
                <a:solidFill>
                  <a:srgbClr val="CF8E6D"/>
                </a:solidFill>
                <a:latin typeface="Consolas"/>
              </a:rPr>
              <a:t>class</a:t>
            </a:r>
            <a:r>
              <a:rPr sz="1750">
                <a:solidFill>
                  <a:srgbClr val="BCBEC4"/>
                </a:solidFill>
                <a:latin typeface="Consolas"/>
              </a:rPr>
              <a:t> Shape</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implements</a:t>
            </a:r>
            <a:r>
              <a:rPr sz="1750">
                <a:solidFill>
                  <a:srgbClr val="BCBEC4"/>
                </a:solidFill>
                <a:latin typeface="Consolas"/>
              </a:rPr>
              <a:t> Translatable, Rotatable {</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a:t>
            </a:r>
            <a:r>
              <a:rPr sz="1750">
                <a:solidFill>
                  <a:srgbClr val="7A7E85"/>
                </a:solidFill>
                <a:latin typeface="Consolas"/>
              </a:rPr>
              <a:t>// abstraites, ou ecrites ici ?</a:t>
            </a:r>
          </a:p>
          <a:p>
            <a:pPr>
              <a:lnSpc>
                <a:spcPct val="100000"/>
              </a:lnSpc>
              <a:spcBef>
                <a:spcPts val="0"/>
              </a:spcBef>
              <a:spcAft>
                <a:spcPts val="0"/>
              </a:spcAft>
            </a:pPr>
            <a:r>
              <a:rPr sz="175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2. Plusieurs interfaces à la fois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ITF.3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Des formes qui se déplacent et tournent</a:t>
            </a:r>
          </a:p>
          <a:p>
            <a:r>
              <a:rPr sz="1400">
                <a:solidFill>
                  <a:srgbClr val="BCBEC4"/>
                </a:solidFill>
              </a:rPr>
              <a:t>fascicule ITF</a:t>
            </a:r>
          </a:p>
        </p:txBody>
      </p:sp>
      <p:sp>
        <p:nvSpPr>
          <p:cNvPr id="6" name="TextBox 5"/>
          <p:cNvSpPr txBox="1"/>
          <p:nvPr/>
        </p:nvSpPr>
        <p:spPr>
          <a:xfrm>
            <a:off x="640080" y="2651760"/>
            <a:ext cx="9326880" cy="822960"/>
          </a:xfrm>
          <a:prstGeom prst="rect">
            <a:avLst/>
          </a:prstGeom>
          <a:noFill/>
        </p:spPr>
        <p:txBody>
          <a:bodyPr wrap="square">
            <a:spAutoFit/>
          </a:bodyPr>
          <a:lstStyle/>
          <a:p>
            <a:r>
              <a:rPr sz="1800"/>
              <a:t>Les formes d'</a:t>
            </a:r>
            <a:r>
              <a:rPr sz="1500">
                <a:solidFill>
                  <a:schemeClr val="accent4"/>
                </a:solidFill>
                <a:latin typeface="Consolas"/>
              </a:rPr>
              <a:t>ABS.1</a:t>
            </a:r>
            <a:r>
              <a:rPr sz="1800"/>
              <a:t> sont reprises ici, complètes</a:t>
            </a:r>
          </a:p>
          <a:p>
            <a:r>
              <a:rPr sz="1800"/>
              <a:t>Concevoir : </a:t>
            </a:r>
            <a:r>
              <a:rPr sz="1800">
                <a:solidFill>
                  <a:schemeClr val="accent4"/>
                </a:solidFill>
                <a:latin typeface="Consolas"/>
              </a:rPr>
              <a:t>CC-CLS.3</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2. Plusieurs interfaces à la fois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CCCA6A80-BCF5-1347-78A1-27792EF77367}"/>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389500" cy="101304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3. Interface ou classe abstraite ?</a:t>
            </a:r>
            <a:endParaRPr lang="fr-FR" sz="62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15</a:t>
            </a:fld>
            <a:endParaRPr lang="fr-F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outils, deux intentions</a:t>
            </a:r>
          </a:p>
        </p:txBody>
      </p:sp>
      <p:sp>
        <p:nvSpPr>
          <p:cNvPr id="3" name="TextBox 2"/>
          <p:cNvSpPr txBox="1"/>
          <p:nvPr/>
        </p:nvSpPr>
        <p:spPr>
          <a:xfrm>
            <a:off x="777240" y="1371600"/>
            <a:ext cx="3235796" cy="585216"/>
          </a:xfrm>
          <a:prstGeom prst="rect">
            <a:avLst/>
          </a:prstGeom>
          <a:noFill/>
        </p:spPr>
        <p:txBody>
          <a:bodyPr wrap="square" anchor="ctr">
            <a:spAutoFit/>
          </a:bodyPr>
          <a:lstStyle/>
          <a:p>
            <a:endParaRPr/>
          </a:p>
        </p:txBody>
      </p:sp>
      <p:sp>
        <p:nvSpPr>
          <p:cNvPr id="4" name="TextBox 3"/>
          <p:cNvSpPr txBox="1"/>
          <p:nvPr/>
        </p:nvSpPr>
        <p:spPr>
          <a:xfrm>
            <a:off x="4287356" y="1371600"/>
            <a:ext cx="2884784" cy="585216"/>
          </a:xfrm>
          <a:prstGeom prst="rect">
            <a:avLst/>
          </a:prstGeom>
          <a:noFill/>
        </p:spPr>
        <p:txBody>
          <a:bodyPr wrap="square" anchor="ctr">
            <a:spAutoFit/>
          </a:bodyPr>
          <a:lstStyle/>
          <a:p>
            <a:r>
              <a:rPr sz="2000" b="1">
                <a:solidFill>
                  <a:schemeClr val="accent4"/>
                </a:solidFill>
              </a:rPr>
              <a:t>Classe abstraite</a:t>
            </a:r>
          </a:p>
        </p:txBody>
      </p:sp>
      <p:sp>
        <p:nvSpPr>
          <p:cNvPr id="5" name="TextBox 4"/>
          <p:cNvSpPr txBox="1"/>
          <p:nvPr/>
        </p:nvSpPr>
        <p:spPr>
          <a:xfrm>
            <a:off x="7446460" y="1371600"/>
            <a:ext cx="3937819" cy="585216"/>
          </a:xfrm>
          <a:prstGeom prst="rect">
            <a:avLst/>
          </a:prstGeom>
          <a:noFill/>
        </p:spPr>
        <p:txBody>
          <a:bodyPr wrap="square" anchor="ctr">
            <a:spAutoFit/>
          </a:bodyPr>
          <a:lstStyle/>
          <a:p>
            <a:r>
              <a:rPr sz="2000" b="1">
                <a:solidFill>
                  <a:schemeClr val="accent4"/>
                </a:solidFill>
              </a:rPr>
              <a:t>Interface</a:t>
            </a:r>
          </a:p>
        </p:txBody>
      </p:sp>
      <p:grpSp>
        <p:nvGrpSpPr>
          <p:cNvPr id="24" name="Groupe 23">
            <a:extLst>
              <a:ext uri="{FF2B5EF4-FFF2-40B4-BE49-F238E27FC236}">
                <a16:creationId xmlns:a16="http://schemas.microsoft.com/office/drawing/2014/main" id="{27157C1E-2F95-6CF3-A2C2-33AA22A10613}"/>
              </a:ext>
            </a:extLst>
          </p:cNvPr>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3235796" cy="585216"/>
            </a:xfrm>
            <a:prstGeom prst="rect">
              <a:avLst/>
            </a:prstGeom>
            <a:noFill/>
          </p:spPr>
          <p:txBody>
            <a:bodyPr wrap="square" anchor="ctr">
              <a:spAutoFit/>
            </a:bodyPr>
            <a:lstStyle/>
            <a:p>
              <a:r>
                <a:rPr sz="2200" dirty="0" err="1">
                  <a:solidFill>
                    <a:srgbClr val="FFFFFF"/>
                  </a:solidFill>
                </a:rPr>
                <a:t>Contient</a:t>
              </a:r>
              <a:r>
                <a:rPr sz="2200" dirty="0">
                  <a:solidFill>
                    <a:srgbClr val="FFFFFF"/>
                  </a:solidFill>
                </a:rPr>
                <a:t> du code ?</a:t>
              </a:r>
            </a:p>
          </p:txBody>
        </p:sp>
        <p:sp>
          <p:nvSpPr>
            <p:cNvPr id="8" name="TextBox 7"/>
            <p:cNvSpPr txBox="1"/>
            <p:nvPr/>
          </p:nvSpPr>
          <p:spPr>
            <a:xfrm>
              <a:off x="4287356" y="2029967"/>
              <a:ext cx="2884784" cy="585216"/>
            </a:xfrm>
            <a:prstGeom prst="rect">
              <a:avLst/>
            </a:prstGeom>
            <a:noFill/>
          </p:spPr>
          <p:txBody>
            <a:bodyPr wrap="square" anchor="ctr">
              <a:spAutoFit/>
            </a:bodyPr>
            <a:lstStyle/>
            <a:p>
              <a:r>
                <a:rPr sz="2200">
                  <a:solidFill>
                    <a:srgbClr val="FFFFFF"/>
                  </a:solidFill>
                </a:rPr>
                <a:t>oui, et des champs</a:t>
              </a:r>
            </a:p>
          </p:txBody>
        </p:sp>
        <p:sp>
          <p:nvSpPr>
            <p:cNvPr id="9" name="TextBox 8"/>
            <p:cNvSpPr txBox="1"/>
            <p:nvPr/>
          </p:nvSpPr>
          <p:spPr>
            <a:xfrm>
              <a:off x="7446460" y="2029967"/>
              <a:ext cx="3937819" cy="585216"/>
            </a:xfrm>
            <a:prstGeom prst="rect">
              <a:avLst/>
            </a:prstGeom>
            <a:noFill/>
          </p:spPr>
          <p:txBody>
            <a:bodyPr wrap="square" anchor="ctr">
              <a:spAutoFit/>
            </a:bodyPr>
            <a:lstStyle/>
            <a:p>
              <a:r>
                <a:rPr sz="2200">
                  <a:solidFill>
                    <a:srgbClr val="FFFFFF"/>
                  </a:solidFill>
                </a:rPr>
                <a:t>des signatures seulement</a:t>
              </a:r>
            </a:p>
          </p:txBody>
        </p:sp>
      </p:grpSp>
      <p:grpSp>
        <p:nvGrpSpPr>
          <p:cNvPr id="25" name="Groupe 24">
            <a:extLst>
              <a:ext uri="{FF2B5EF4-FFF2-40B4-BE49-F238E27FC236}">
                <a16:creationId xmlns:a16="http://schemas.microsoft.com/office/drawing/2014/main" id="{504111D3-1862-FB6F-B3DD-01B7CBE43572}"/>
              </a:ext>
            </a:extLst>
          </p:cNvPr>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3235796" cy="585216"/>
            </a:xfrm>
            <a:prstGeom prst="rect">
              <a:avLst/>
            </a:prstGeom>
            <a:noFill/>
          </p:spPr>
          <p:txBody>
            <a:bodyPr wrap="square" anchor="ctr">
              <a:spAutoFit/>
            </a:bodyPr>
            <a:lstStyle/>
            <a:p>
              <a:r>
                <a:rPr sz="2200">
                  <a:solidFill>
                    <a:srgbClr val="FFFFFF"/>
                  </a:solidFill>
                </a:rPr>
                <a:t>Combien par classe ?</a:t>
              </a:r>
            </a:p>
          </p:txBody>
        </p:sp>
        <p:sp>
          <p:nvSpPr>
            <p:cNvPr id="12" name="TextBox 11"/>
            <p:cNvSpPr txBox="1"/>
            <p:nvPr/>
          </p:nvSpPr>
          <p:spPr>
            <a:xfrm>
              <a:off x="4287356" y="2688335"/>
              <a:ext cx="2884784" cy="585216"/>
            </a:xfrm>
            <a:prstGeom prst="rect">
              <a:avLst/>
            </a:prstGeom>
            <a:noFill/>
          </p:spPr>
          <p:txBody>
            <a:bodyPr wrap="square" anchor="ctr">
              <a:spAutoFit/>
            </a:bodyPr>
            <a:lstStyle/>
            <a:p>
              <a:r>
                <a:rPr sz="2200">
                  <a:solidFill>
                    <a:srgbClr val="FFFFFF"/>
                  </a:solidFill>
                </a:rPr>
                <a:t>une seule</a:t>
              </a:r>
            </a:p>
          </p:txBody>
        </p:sp>
        <p:sp>
          <p:nvSpPr>
            <p:cNvPr id="13" name="TextBox 12"/>
            <p:cNvSpPr txBox="1"/>
            <p:nvPr/>
          </p:nvSpPr>
          <p:spPr>
            <a:xfrm>
              <a:off x="7446460" y="2688335"/>
              <a:ext cx="3937819" cy="585216"/>
            </a:xfrm>
            <a:prstGeom prst="rect">
              <a:avLst/>
            </a:prstGeom>
            <a:noFill/>
          </p:spPr>
          <p:txBody>
            <a:bodyPr wrap="square" anchor="ctr">
              <a:spAutoFit/>
            </a:bodyPr>
            <a:lstStyle/>
            <a:p>
              <a:r>
                <a:rPr sz="2200">
                  <a:solidFill>
                    <a:srgbClr val="FFFFFF"/>
                  </a:solidFill>
                </a:rPr>
                <a:t>autant qu'on veut</a:t>
              </a:r>
            </a:p>
          </p:txBody>
        </p:sp>
      </p:grpSp>
      <p:grpSp>
        <p:nvGrpSpPr>
          <p:cNvPr id="26" name="Groupe 25">
            <a:extLst>
              <a:ext uri="{FF2B5EF4-FFF2-40B4-BE49-F238E27FC236}">
                <a16:creationId xmlns:a16="http://schemas.microsoft.com/office/drawing/2014/main" id="{18C634AE-449C-DC15-617A-E1DC3FF51A27}"/>
              </a:ext>
            </a:extLst>
          </p:cNvPr>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3235796" cy="585216"/>
            </a:xfrm>
            <a:prstGeom prst="rect">
              <a:avLst/>
            </a:prstGeom>
            <a:noFill/>
          </p:spPr>
          <p:txBody>
            <a:bodyPr wrap="square" anchor="ctr">
              <a:spAutoFit/>
            </a:bodyPr>
            <a:lstStyle/>
            <a:p>
              <a:r>
                <a:rPr sz="2200">
                  <a:solidFill>
                    <a:srgbClr val="FFFFFF"/>
                  </a:solidFill>
                </a:rPr>
                <a:t>Ce qu'elle exprime</a:t>
              </a:r>
            </a:p>
          </p:txBody>
        </p:sp>
        <p:sp>
          <p:nvSpPr>
            <p:cNvPr id="16" name="TextBox 15"/>
            <p:cNvSpPr txBox="1"/>
            <p:nvPr/>
          </p:nvSpPr>
          <p:spPr>
            <a:xfrm>
              <a:off x="4287356" y="3346703"/>
              <a:ext cx="2884784" cy="585216"/>
            </a:xfrm>
            <a:prstGeom prst="rect">
              <a:avLst/>
            </a:prstGeom>
            <a:noFill/>
          </p:spPr>
          <p:txBody>
            <a:bodyPr wrap="square" anchor="ctr">
              <a:spAutoFit/>
            </a:bodyPr>
            <a:lstStyle/>
            <a:p>
              <a:r>
                <a:rPr sz="2200">
                  <a:solidFill>
                    <a:srgbClr val="FFFFFF"/>
                  </a:solidFill>
                </a:rPr>
                <a:t>« est un »</a:t>
              </a:r>
            </a:p>
          </p:txBody>
        </p:sp>
        <p:sp>
          <p:nvSpPr>
            <p:cNvPr id="17" name="TextBox 16"/>
            <p:cNvSpPr txBox="1"/>
            <p:nvPr/>
          </p:nvSpPr>
          <p:spPr>
            <a:xfrm>
              <a:off x="7446460" y="3346703"/>
              <a:ext cx="3937819" cy="585216"/>
            </a:xfrm>
            <a:prstGeom prst="rect">
              <a:avLst/>
            </a:prstGeom>
            <a:noFill/>
          </p:spPr>
          <p:txBody>
            <a:bodyPr wrap="square" anchor="ctr">
              <a:spAutoFit/>
            </a:bodyPr>
            <a:lstStyle/>
            <a:p>
              <a:r>
                <a:rPr sz="2200">
                  <a:solidFill>
                    <a:srgbClr val="FFFFFF"/>
                  </a:solidFill>
                </a:rPr>
                <a:t>« sait faire »</a:t>
              </a:r>
            </a:p>
          </p:txBody>
        </p:sp>
      </p:grpSp>
      <p:grpSp>
        <p:nvGrpSpPr>
          <p:cNvPr id="27" name="Groupe 26">
            <a:extLst>
              <a:ext uri="{FF2B5EF4-FFF2-40B4-BE49-F238E27FC236}">
                <a16:creationId xmlns:a16="http://schemas.microsoft.com/office/drawing/2014/main" id="{DA7EBA45-EBFE-0447-3AA1-63B3AB8F157C}"/>
              </a:ext>
            </a:extLst>
          </p:cNvPr>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3235796" cy="585216"/>
            </a:xfrm>
            <a:prstGeom prst="rect">
              <a:avLst/>
            </a:prstGeom>
            <a:noFill/>
          </p:spPr>
          <p:txBody>
            <a:bodyPr wrap="square" anchor="ctr">
              <a:spAutoFit/>
            </a:bodyPr>
            <a:lstStyle/>
            <a:p>
              <a:r>
                <a:rPr sz="2200">
                  <a:solidFill>
                    <a:srgbClr val="FFFFFF"/>
                  </a:solidFill>
                </a:rPr>
                <a:t>Ce qu'elle apporte</a:t>
              </a:r>
            </a:p>
          </p:txBody>
        </p:sp>
        <p:sp>
          <p:nvSpPr>
            <p:cNvPr id="20" name="TextBox 19"/>
            <p:cNvSpPr txBox="1"/>
            <p:nvPr/>
          </p:nvSpPr>
          <p:spPr>
            <a:xfrm>
              <a:off x="4287356" y="4005071"/>
              <a:ext cx="2884784" cy="585216"/>
            </a:xfrm>
            <a:prstGeom prst="rect">
              <a:avLst/>
            </a:prstGeom>
            <a:noFill/>
          </p:spPr>
          <p:txBody>
            <a:bodyPr wrap="square" anchor="ctr">
              <a:spAutoFit/>
            </a:bodyPr>
            <a:lstStyle/>
            <a:p>
              <a:r>
                <a:rPr sz="2200">
                  <a:solidFill>
                    <a:srgbClr val="FFFFFF"/>
                  </a:solidFill>
                </a:rPr>
                <a:t>le partage du code</a:t>
              </a:r>
            </a:p>
          </p:txBody>
        </p:sp>
        <p:sp>
          <p:nvSpPr>
            <p:cNvPr id="21" name="TextBox 20"/>
            <p:cNvSpPr txBox="1"/>
            <p:nvPr/>
          </p:nvSpPr>
          <p:spPr>
            <a:xfrm>
              <a:off x="7446460" y="4005071"/>
              <a:ext cx="3937819" cy="585216"/>
            </a:xfrm>
            <a:prstGeom prst="rect">
              <a:avLst/>
            </a:prstGeom>
            <a:noFill/>
          </p:spPr>
          <p:txBody>
            <a:bodyPr wrap="square" anchor="ctr">
              <a:spAutoFit/>
            </a:bodyPr>
            <a:lstStyle/>
            <a:p>
              <a:r>
                <a:rPr sz="2200">
                  <a:solidFill>
                    <a:srgbClr val="FFFFFF"/>
                  </a:solidFill>
                </a:rPr>
                <a:t>le découplage</a:t>
              </a:r>
            </a:p>
          </p:txBody>
        </p:sp>
      </p:grpSp>
      <p:sp>
        <p:nvSpPr>
          <p:cNvPr id="23"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2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3. Interface ou classe abstraite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deux ensemble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Les deux outils ne s'excluent pas</a:t>
            </a:r>
          </a:p>
          <a:p>
            <a:pPr marL="0" indent="0">
              <a:spcAft>
                <a:spcPts val="1000"/>
              </a:spcAft>
              <a:buNone/>
            </a:pPr>
            <a:r>
              <a:rPr sz="2800"/>
              <a:t>L'interface énonce ce que tout le monde sait faire</a:t>
            </a:r>
          </a:p>
          <a:p>
            <a:pPr marL="0" indent="0">
              <a:spcAft>
                <a:spcPts val="1000"/>
              </a:spcAft>
              <a:buNone/>
            </a:pPr>
            <a:r>
              <a:rPr sz="2800"/>
              <a:t>La hiérarchie partage le code, étage par étage</a:t>
            </a:r>
          </a:p>
        </p:txBody>
      </p:sp>
      <p:sp>
        <p:nvSpPr>
          <p:cNvPr id="4" name="Code"/>
          <p:cNvSpPr txBox="1"/>
          <p:nvPr/>
        </p:nvSpPr>
        <p:spPr>
          <a:xfrm>
            <a:off x="2876021" y="3307080"/>
            <a:ext cx="6439957"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a:solidFill>
                  <a:srgbClr val="BCBEC4"/>
                </a:solidFill>
                <a:latin typeface="Consolas"/>
              </a:rPr>
              <a:t>Facturable          </a:t>
            </a:r>
            <a:r>
              <a:rPr sz="1550">
                <a:solidFill>
                  <a:srgbClr val="CF8E6D"/>
                </a:solidFill>
                <a:latin typeface="Consolas"/>
              </a:rPr>
              <a:t>interface</a:t>
            </a:r>
            <a:r>
              <a:rPr sz="1550">
                <a:solidFill>
                  <a:srgbClr val="BCBEC4"/>
                </a:solidFill>
                <a:latin typeface="Consolas"/>
              </a:rPr>
              <a:t> : </a:t>
            </a:r>
            <a:r>
              <a:rPr sz="1550">
                <a:solidFill>
                  <a:srgbClr val="CF8E6D"/>
                </a:solidFill>
                <a:latin typeface="Consolas"/>
              </a:rPr>
              <a:t>double</a:t>
            </a:r>
            <a:r>
              <a:rPr sz="1550">
                <a:solidFill>
                  <a:srgbClr val="BCBEC4"/>
                </a:solidFill>
                <a:latin typeface="Consolas"/>
              </a:rPr>
              <a:t> </a:t>
            </a:r>
            <a:r>
              <a:rPr sz="1550">
                <a:solidFill>
                  <a:srgbClr val="56A8F5"/>
                </a:solidFill>
                <a:latin typeface="Consolas"/>
              </a:rPr>
              <a:t>montant</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 Prestation     abstraite : client, </a:t>
            </a:r>
            <a:r>
              <a:rPr sz="1550">
                <a:solidFill>
                  <a:srgbClr val="56A8F5"/>
                </a:solidFill>
                <a:latin typeface="Consolas"/>
              </a:rPr>
              <a:t>facture</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 Forfait    abstraite : prixForfait</a:t>
            </a:r>
          </a:p>
          <a:p>
            <a:pPr>
              <a:lnSpc>
                <a:spcPct val="100000"/>
              </a:lnSpc>
              <a:spcBef>
                <a:spcPts val="0"/>
              </a:spcBef>
              <a:spcAft>
                <a:spcPts val="0"/>
              </a:spcAft>
            </a:pPr>
            <a:r>
              <a:rPr sz="1550">
                <a:solidFill>
                  <a:srgbClr val="BCBEC4"/>
                </a:solidFill>
                <a:latin typeface="Consolas"/>
              </a:rPr>
              <a:t>      |   +- Abonnement</a:t>
            </a:r>
          </a:p>
          <a:p>
            <a:pPr>
              <a:lnSpc>
                <a:spcPct val="100000"/>
              </a:lnSpc>
              <a:spcBef>
                <a:spcPts val="0"/>
              </a:spcBef>
              <a:spcAft>
                <a:spcPts val="0"/>
              </a:spcAft>
            </a:pPr>
            <a:r>
              <a:rPr sz="1550">
                <a:solidFill>
                  <a:srgbClr val="BCBEC4"/>
                </a:solidFill>
                <a:latin typeface="Consolas"/>
              </a:rPr>
              <a:t>      |   +- Installation</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 Horaire    abstraite : tauxHoraire, heures</a:t>
            </a:r>
          </a:p>
          <a:p>
            <a:pPr>
              <a:lnSpc>
                <a:spcPct val="100000"/>
              </a:lnSpc>
              <a:spcBef>
                <a:spcPts val="0"/>
              </a:spcBef>
              <a:spcAft>
                <a:spcPts val="0"/>
              </a:spcAft>
            </a:pPr>
            <a:r>
              <a:rPr sz="1550">
                <a:solidFill>
                  <a:srgbClr val="BCBEC4"/>
                </a:solidFill>
                <a:latin typeface="Consolas"/>
              </a:rPr>
              <a:t>          +- Depannage</a:t>
            </a:r>
          </a:p>
          <a:p>
            <a:pPr>
              <a:lnSpc>
                <a:spcPct val="100000"/>
              </a:lnSpc>
              <a:spcBef>
                <a:spcPts val="0"/>
              </a:spcBef>
              <a:spcAft>
                <a:spcPts val="0"/>
              </a:spcAft>
            </a:pPr>
            <a:r>
              <a:rPr sz="1550">
                <a:solidFill>
                  <a:srgbClr val="BCBEC4"/>
                </a:solidFill>
                <a:latin typeface="Consolas"/>
              </a:rPr>
              <a:t>          +- Urgence</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3. Interface ou classe abstraite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ABS.4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hiérarchie à deux niveaux</a:t>
            </a:r>
          </a:p>
          <a:p>
            <a:r>
              <a:rPr sz="1400">
                <a:solidFill>
                  <a:srgbClr val="BCBEC4"/>
                </a:solidFill>
              </a:rPr>
              <a:t>fascicule ABS</a:t>
            </a:r>
          </a:p>
        </p:txBody>
      </p:sp>
      <p:sp>
        <p:nvSpPr>
          <p:cNvPr id="6" name="TextBox 5"/>
          <p:cNvSpPr txBox="1"/>
          <p:nvPr/>
        </p:nvSpPr>
        <p:spPr>
          <a:xfrm>
            <a:off x="640080" y="2651760"/>
            <a:ext cx="9326880" cy="822960"/>
          </a:xfrm>
          <a:prstGeom prst="rect">
            <a:avLst/>
          </a:prstGeom>
          <a:noFill/>
        </p:spPr>
        <p:txBody>
          <a:bodyPr wrap="square">
            <a:spAutoFit/>
          </a:bodyPr>
          <a:lstStyle/>
          <a:p>
            <a:r>
              <a:rPr sz="2400"/>
              <a:t>Annoncé au module </a:t>
            </a:r>
            <a:r>
              <a:rPr sz="2400">
                <a:solidFill>
                  <a:schemeClr val="accent4"/>
                </a:solidFill>
                <a:latin typeface="Consolas"/>
              </a:rPr>
              <a:t>ABS</a:t>
            </a:r>
            <a:r>
              <a:rPr sz="2400"/>
              <a:t>, il devient faisable maintenant</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3. Interface ou classe abstraite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2CB1CEA-E62A-41FD-5D18-37D9742AC7CD}"/>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974809"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Dépendre d'un contrat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19</a:t>
            </a:fld>
            <a:endParaRPr lang="fr-F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modèle MVC : qui fait quoi</a:t>
            </a:r>
          </a:p>
        </p:txBody>
      </p:sp>
      <p:sp>
        <p:nvSpPr>
          <p:cNvPr id="3" name="Content Placeholder 2"/>
          <p:cNvSpPr>
            <a:spLocks noGrp="1"/>
          </p:cNvSpPr>
          <p:nvPr>
            <p:ph idx="1"/>
          </p:nvPr>
        </p:nvSpPr>
        <p:spPr>
          <a:xfrm>
            <a:off x="640080" y="1371600"/>
            <a:ext cx="10881360" cy="2377440"/>
          </a:xfrm>
        </p:spPr>
        <p:txBody>
          <a:bodyPr>
            <a:normAutofit lnSpcReduction="10000"/>
          </a:bodyPr>
          <a:lstStyle/>
          <a:p>
            <a:pPr marL="0" indent="0">
              <a:spcAft>
                <a:spcPts val="1000"/>
              </a:spcAft>
              <a:buNone/>
            </a:pPr>
            <a:r>
              <a:rPr sz="2400"/>
              <a:t>Une application graphique se découpe souvent en trois rôles : la vue, le contrôleur et le modèle</a:t>
            </a:r>
          </a:p>
          <a:p>
            <a:pPr marL="0" indent="0">
              <a:spcAft>
                <a:spcPts val="1000"/>
              </a:spcAft>
              <a:buNone/>
            </a:pPr>
            <a:r>
              <a:rPr sz="2400"/>
              <a:t>La vue (</a:t>
            </a:r>
            <a:r>
              <a:rPr sz="2000">
                <a:solidFill>
                  <a:schemeClr val="accent4"/>
                </a:solidFill>
                <a:latin typeface="Consolas"/>
              </a:rPr>
              <a:t>GUI</a:t>
            </a:r>
            <a:r>
              <a:rPr sz="2400"/>
              <a:t>) affiche et capte les gestes de l'utilisateur ; le modèle contient les données et les règles</a:t>
            </a:r>
          </a:p>
          <a:p>
            <a:pPr marL="0" indent="0">
              <a:spcAft>
                <a:spcPts val="1000"/>
              </a:spcAft>
              <a:buNone/>
            </a:pPr>
            <a:r>
              <a:rPr sz="2400"/>
              <a:t>Le contrôleur fait le lien : il reçoit l'action, met le modèle à jour, et demande à la vue d'afficher</a:t>
            </a:r>
          </a:p>
        </p:txBody>
      </p:sp>
      <p:sp>
        <p:nvSpPr>
          <p:cNvPr id="4"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dirty="0"/>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
        <p:nvSpPr>
          <p:cNvPr id="8" name="Rounded Rectangle 7"/>
          <p:cNvSpPr/>
          <p:nvPr/>
        </p:nvSpPr>
        <p:spPr>
          <a:xfrm>
            <a:off x="685800" y="4434840"/>
            <a:ext cx="1600200" cy="685800"/>
          </a:xfrm>
          <a:prstGeom prst="roundRect">
            <a:avLst>
              <a:gd name="adj" fmla="val 10000"/>
            </a:avLst>
          </a:prstGeom>
          <a:solidFill>
            <a:srgbClr val="2B2D30"/>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E8E8E8"/>
                </a:solidFill>
              </a:rPr>
              <a:t>Utilisateur</a:t>
            </a:r>
          </a:p>
        </p:txBody>
      </p:sp>
      <p:sp>
        <p:nvSpPr>
          <p:cNvPr id="9" name="Rounded Rectangle 8"/>
          <p:cNvSpPr/>
          <p:nvPr/>
        </p:nvSpPr>
        <p:spPr>
          <a:xfrm>
            <a:off x="3154680" y="4297680"/>
            <a:ext cx="2331720" cy="96012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700" b="1" dirty="0">
                <a:solidFill>
                  <a:srgbClr val="FFC000"/>
                </a:solidFill>
              </a:rPr>
              <a:t>Vue</a:t>
            </a:r>
          </a:p>
          <a:p>
            <a:pPr algn="ctr"/>
            <a:r>
              <a:rPr lang="fr-BE" sz="1300" dirty="0">
                <a:solidFill>
                  <a:srgbClr val="E8E8E8"/>
                </a:solidFill>
                <a:latin typeface="Consolas"/>
              </a:rPr>
              <a:t>GUI</a:t>
            </a:r>
          </a:p>
          <a:p>
            <a:pPr algn="ctr"/>
            <a:r>
              <a:rPr lang="fr-BE" sz="1100" dirty="0">
                <a:solidFill>
                  <a:srgbClr val="9DA0A8"/>
                </a:solidFill>
              </a:rPr>
              <a:t>affiche, capte les gestes</a:t>
            </a:r>
          </a:p>
        </p:txBody>
      </p:sp>
      <p:sp>
        <p:nvSpPr>
          <p:cNvPr id="10" name="Rounded Rectangle 9"/>
          <p:cNvSpPr/>
          <p:nvPr/>
        </p:nvSpPr>
        <p:spPr>
          <a:xfrm>
            <a:off x="6355080" y="4297680"/>
            <a:ext cx="2331720" cy="96012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700" b="1" dirty="0">
                <a:solidFill>
                  <a:srgbClr val="FFC000"/>
                </a:solidFill>
              </a:rPr>
              <a:t>Contrôleur</a:t>
            </a:r>
          </a:p>
          <a:p>
            <a:pPr algn="ctr"/>
            <a:r>
              <a:rPr lang="fr-BE" sz="1300" dirty="0">
                <a:solidFill>
                  <a:srgbClr val="E8E8E8"/>
                </a:solidFill>
                <a:latin typeface="Consolas"/>
              </a:rPr>
              <a:t>Controleur</a:t>
            </a:r>
          </a:p>
          <a:p>
            <a:pPr algn="ctr"/>
            <a:r>
              <a:rPr lang="fr-BE" sz="1100" dirty="0">
                <a:solidFill>
                  <a:srgbClr val="9DA0A8"/>
                </a:solidFill>
              </a:rPr>
              <a:t>reçoit l'action, décide</a:t>
            </a:r>
          </a:p>
        </p:txBody>
      </p:sp>
      <p:sp>
        <p:nvSpPr>
          <p:cNvPr id="11" name="Rounded Rectangle 10"/>
          <p:cNvSpPr/>
          <p:nvPr/>
        </p:nvSpPr>
        <p:spPr>
          <a:xfrm>
            <a:off x="9555480" y="4297680"/>
            <a:ext cx="2011680" cy="96012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700" b="1" dirty="0">
                <a:solidFill>
                  <a:srgbClr val="FFC000"/>
                </a:solidFill>
              </a:rPr>
              <a:t>Modèle</a:t>
            </a:r>
          </a:p>
          <a:p>
            <a:pPr algn="ctr"/>
            <a:r>
              <a:rPr lang="fr-BE" sz="1100" dirty="0">
                <a:solidFill>
                  <a:srgbClr val="9DA0A8"/>
                </a:solidFill>
              </a:rPr>
              <a:t>données et règles</a:t>
            </a:r>
          </a:p>
        </p:txBody>
      </p:sp>
      <p:grpSp>
        <p:nvGrpSpPr>
          <p:cNvPr id="6" name="Groupe 5">
            <a:extLst>
              <a:ext uri="{FF2B5EF4-FFF2-40B4-BE49-F238E27FC236}">
                <a16:creationId xmlns:a16="http://schemas.microsoft.com/office/drawing/2014/main" id="{21EEDF12-13FE-E8B8-0DCD-7F7B22D2255F}"/>
              </a:ext>
            </a:extLst>
          </p:cNvPr>
          <p:cNvGrpSpPr/>
          <p:nvPr/>
        </p:nvGrpSpPr>
        <p:grpSpPr>
          <a:xfrm>
            <a:off x="2286000" y="4462272"/>
            <a:ext cx="868680" cy="310896"/>
            <a:chOff x="2286000" y="4462272"/>
            <a:chExt cx="868680" cy="310896"/>
          </a:xfrm>
        </p:grpSpPr>
        <p:cxnSp>
          <p:nvCxnSpPr>
            <p:cNvPr id="12" name="Connector 11"/>
            <p:cNvCxnSpPr/>
            <p:nvPr/>
          </p:nvCxnSpPr>
          <p:spPr>
            <a:xfrm>
              <a:off x="2286000" y="4773168"/>
              <a:ext cx="86868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286000" y="4462272"/>
              <a:ext cx="868680" cy="274320"/>
            </a:xfrm>
            <a:prstGeom prst="rect">
              <a:avLst/>
            </a:prstGeom>
            <a:noFill/>
          </p:spPr>
          <p:txBody>
            <a:bodyPr wrap="none" lIns="0" tIns="0" rIns="0" bIns="0">
              <a:spAutoFit/>
            </a:bodyPr>
            <a:lstStyle/>
            <a:p>
              <a:pPr algn="ctr"/>
              <a:r>
                <a:rPr lang="fr-BE" sz="1200" dirty="0">
                  <a:solidFill>
                    <a:srgbClr val="BCBEC4"/>
                  </a:solidFill>
                </a:rPr>
                <a:t>clic</a:t>
              </a:r>
            </a:p>
          </p:txBody>
        </p:sp>
      </p:grpSp>
      <p:grpSp>
        <p:nvGrpSpPr>
          <p:cNvPr id="7" name="Groupe 6">
            <a:extLst>
              <a:ext uri="{FF2B5EF4-FFF2-40B4-BE49-F238E27FC236}">
                <a16:creationId xmlns:a16="http://schemas.microsoft.com/office/drawing/2014/main" id="{34DD4191-0E8E-E13C-4A57-19099A63667C}"/>
              </a:ext>
            </a:extLst>
          </p:cNvPr>
          <p:cNvGrpSpPr/>
          <p:nvPr/>
        </p:nvGrpSpPr>
        <p:grpSpPr>
          <a:xfrm>
            <a:off x="5349240" y="4187952"/>
            <a:ext cx="1143000" cy="402336"/>
            <a:chOff x="5349240" y="4187952"/>
            <a:chExt cx="1143000" cy="402336"/>
          </a:xfrm>
        </p:grpSpPr>
        <p:cxnSp>
          <p:nvCxnSpPr>
            <p:cNvPr id="14" name="Connector 13"/>
            <p:cNvCxnSpPr/>
            <p:nvPr/>
          </p:nvCxnSpPr>
          <p:spPr>
            <a:xfrm>
              <a:off x="5486400" y="4590288"/>
              <a:ext cx="86868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349240" y="4187952"/>
              <a:ext cx="1143000" cy="274320"/>
            </a:xfrm>
            <a:prstGeom prst="rect">
              <a:avLst/>
            </a:prstGeom>
            <a:noFill/>
          </p:spPr>
          <p:txBody>
            <a:bodyPr wrap="none" lIns="0" tIns="0" rIns="0" bIns="0">
              <a:spAutoFit/>
            </a:bodyPr>
            <a:lstStyle/>
            <a:p>
              <a:pPr algn="ctr"/>
              <a:r>
                <a:rPr lang="fr-BE" sz="1200" dirty="0">
                  <a:solidFill>
                    <a:srgbClr val="BCBEC4"/>
                  </a:solidFill>
                </a:rPr>
                <a:t>action</a:t>
              </a:r>
            </a:p>
          </p:txBody>
        </p:sp>
      </p:grpSp>
      <p:grpSp>
        <p:nvGrpSpPr>
          <p:cNvPr id="23" name="Groupe 22">
            <a:extLst>
              <a:ext uri="{FF2B5EF4-FFF2-40B4-BE49-F238E27FC236}">
                <a16:creationId xmlns:a16="http://schemas.microsoft.com/office/drawing/2014/main" id="{7A09309A-814B-3328-69E7-ED4D30E3AEE4}"/>
              </a:ext>
            </a:extLst>
          </p:cNvPr>
          <p:cNvGrpSpPr/>
          <p:nvPr/>
        </p:nvGrpSpPr>
        <p:grpSpPr>
          <a:xfrm>
            <a:off x="5074920" y="5010912"/>
            <a:ext cx="1691640" cy="585216"/>
            <a:chOff x="5074920" y="5010912"/>
            <a:chExt cx="1691640" cy="585216"/>
          </a:xfrm>
        </p:grpSpPr>
        <p:cxnSp>
          <p:nvCxnSpPr>
            <p:cNvPr id="16" name="Connector 15"/>
            <p:cNvCxnSpPr/>
            <p:nvPr/>
          </p:nvCxnSpPr>
          <p:spPr>
            <a:xfrm flipH="1">
              <a:off x="5486400" y="5010912"/>
              <a:ext cx="868680" cy="0"/>
            </a:xfrm>
            <a:prstGeom prst="line">
              <a:avLst/>
            </a:prstGeom>
            <a:ln w="28575">
              <a:solidFill>
                <a:srgbClr val="FFC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74920" y="5321808"/>
              <a:ext cx="1691640" cy="274320"/>
            </a:xfrm>
            <a:prstGeom prst="rect">
              <a:avLst/>
            </a:prstGeom>
            <a:noFill/>
          </p:spPr>
          <p:txBody>
            <a:bodyPr wrap="none" lIns="0" tIns="0" rIns="0" bIns="0">
              <a:spAutoFit/>
            </a:bodyPr>
            <a:lstStyle/>
            <a:p>
              <a:pPr algn="ctr"/>
              <a:r>
                <a:rPr lang="fr-BE" sz="1200" dirty="0">
                  <a:solidFill>
                    <a:srgbClr val="FFC000"/>
                  </a:solidFill>
                  <a:latin typeface="Consolas"/>
                </a:rPr>
                <a:t>affiche(message)</a:t>
              </a:r>
            </a:p>
          </p:txBody>
        </p:sp>
      </p:grpSp>
      <p:grpSp>
        <p:nvGrpSpPr>
          <p:cNvPr id="21" name="Groupe 20">
            <a:extLst>
              <a:ext uri="{FF2B5EF4-FFF2-40B4-BE49-F238E27FC236}">
                <a16:creationId xmlns:a16="http://schemas.microsoft.com/office/drawing/2014/main" id="{33014679-36F0-C80D-6CB8-D63BDB872056}"/>
              </a:ext>
            </a:extLst>
          </p:cNvPr>
          <p:cNvGrpSpPr/>
          <p:nvPr/>
        </p:nvGrpSpPr>
        <p:grpSpPr>
          <a:xfrm>
            <a:off x="8549640" y="4462272"/>
            <a:ext cx="1143000" cy="310896"/>
            <a:chOff x="8549640" y="4462272"/>
            <a:chExt cx="1143000" cy="310896"/>
          </a:xfrm>
        </p:grpSpPr>
        <p:cxnSp>
          <p:nvCxnSpPr>
            <p:cNvPr id="18" name="Connector 17"/>
            <p:cNvCxnSpPr/>
            <p:nvPr/>
          </p:nvCxnSpPr>
          <p:spPr>
            <a:xfrm>
              <a:off x="8686800" y="4773168"/>
              <a:ext cx="86868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549640" y="4462272"/>
              <a:ext cx="1143000" cy="274320"/>
            </a:xfrm>
            <a:prstGeom prst="rect">
              <a:avLst/>
            </a:prstGeom>
            <a:noFill/>
          </p:spPr>
          <p:txBody>
            <a:bodyPr wrap="none" lIns="0" tIns="0" rIns="0" bIns="0">
              <a:spAutoFit/>
            </a:bodyPr>
            <a:lstStyle/>
            <a:p>
              <a:pPr algn="ctr"/>
              <a:r>
                <a:rPr lang="fr-BE" sz="1200" dirty="0">
                  <a:solidFill>
                    <a:srgbClr val="BCBEC4"/>
                  </a:solidFill>
                </a:rPr>
                <a:t>met à jour</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right)">
                                      <p:cBhvr>
                                        <p:cTn id="31" dur="500"/>
                                        <p:tgtEl>
                                          <p:spTgt spid="23"/>
                                        </p:tgtEl>
                                      </p:cBhvr>
                                    </p:animEffect>
                                  </p:childTnLst>
                                </p:cTn>
                              </p:par>
                              <p:par>
                                <p:cTn id="32" presetID="22" presetClass="entr" presetSubtype="8"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left)">
                                      <p:cBhvr>
                                        <p:cTn id="3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classes qui se tiennent</a:t>
            </a:r>
          </a:p>
        </p:txBody>
      </p:sp>
      <p:sp>
        <p:nvSpPr>
          <p:cNvPr id="3" name="Content Placeholder 2"/>
          <p:cNvSpPr>
            <a:spLocks noGrp="1"/>
          </p:cNvSpPr>
          <p:nvPr>
            <p:ph idx="1"/>
          </p:nvPr>
        </p:nvSpPr>
        <p:spPr>
          <a:xfrm>
            <a:off x="640080" y="1371600"/>
            <a:ext cx="10881360" cy="2103120"/>
          </a:xfrm>
        </p:spPr>
        <p:txBody>
          <a:bodyPr>
            <a:normAutofit fontScale="92500"/>
          </a:bodyPr>
          <a:lstStyle/>
          <a:p>
            <a:pPr marL="0" indent="0">
              <a:spcAft>
                <a:spcPts val="1000"/>
              </a:spcAft>
              <a:buNone/>
            </a:pPr>
            <a:r>
              <a:rPr lang="nl-BE" sz="2600" dirty="0"/>
              <a:t>Dans ce premier exemple, l</a:t>
            </a:r>
            <a:r>
              <a:rPr sz="2600" dirty="0"/>
              <a:t>e </a:t>
            </a:r>
            <a:r>
              <a:rPr sz="2600" dirty="0" err="1"/>
              <a:t>contrôleur</a:t>
            </a:r>
            <a:r>
              <a:rPr sz="2600" dirty="0"/>
              <a:t> </a:t>
            </a:r>
            <a:r>
              <a:rPr sz="2600" dirty="0" err="1"/>
              <a:t>nomme</a:t>
            </a:r>
            <a:r>
              <a:rPr sz="2600" dirty="0"/>
              <a:t> la </a:t>
            </a:r>
            <a:r>
              <a:rPr sz="2600" dirty="0" err="1"/>
              <a:t>classe</a:t>
            </a:r>
            <a:r>
              <a:rPr sz="2600" dirty="0"/>
              <a:t> </a:t>
            </a:r>
            <a:r>
              <a:rPr sz="2200" dirty="0">
                <a:solidFill>
                  <a:schemeClr val="accent4"/>
                </a:solidFill>
                <a:latin typeface="Consolas"/>
              </a:rPr>
              <a:t>GUI</a:t>
            </a:r>
            <a:r>
              <a:rPr sz="2600" dirty="0"/>
              <a:t> : il ne </a:t>
            </a:r>
            <a:r>
              <a:rPr sz="2600" dirty="0" err="1"/>
              <a:t>marche</a:t>
            </a:r>
            <a:r>
              <a:rPr sz="2600" dirty="0"/>
              <a:t> </a:t>
            </a:r>
            <a:r>
              <a:rPr sz="2600" dirty="0" err="1"/>
              <a:t>qu'avec</a:t>
            </a:r>
            <a:r>
              <a:rPr sz="2600" dirty="0"/>
              <a:t> </a:t>
            </a:r>
            <a:r>
              <a:rPr lang="nl-BE" sz="2600" dirty="0"/>
              <a:t>cette classe-là…</a:t>
            </a:r>
            <a:endParaRPr sz="2600" dirty="0"/>
          </a:p>
          <a:p>
            <a:pPr marL="0" indent="0">
              <a:spcAft>
                <a:spcPts val="1000"/>
              </a:spcAft>
              <a:buNone/>
            </a:pPr>
            <a:r>
              <a:rPr sz="2600" dirty="0"/>
              <a:t>Changer </a:t>
            </a:r>
            <a:r>
              <a:rPr sz="2600" dirty="0" err="1"/>
              <a:t>d'affichage</a:t>
            </a:r>
            <a:r>
              <a:rPr sz="2600" dirty="0"/>
              <a:t> oblige à modifier</a:t>
            </a:r>
            <a:r>
              <a:rPr lang="nl-BE" sz="2600" dirty="0"/>
              <a:t> le contrôleur et sa méthode </a:t>
            </a:r>
            <a:r>
              <a:rPr lang="nl-BE" sz="2400" dirty="0">
                <a:solidFill>
                  <a:schemeClr val="accent4"/>
                </a:solidFill>
                <a:latin typeface="Consolas"/>
              </a:rPr>
              <a:t>setAfficheur</a:t>
            </a:r>
            <a:endParaRPr sz="2600" dirty="0"/>
          </a:p>
          <a:p>
            <a:pPr marL="0" indent="0">
              <a:spcAft>
                <a:spcPts val="1000"/>
              </a:spcAft>
              <a:buNone/>
            </a:pPr>
            <a:r>
              <a:rPr sz="2600" dirty="0"/>
              <a:t>Les deux classes ne </a:t>
            </a:r>
            <a:r>
              <a:rPr sz="2600" dirty="0" err="1"/>
              <a:t>peuvent</a:t>
            </a:r>
            <a:r>
              <a:rPr sz="2600" dirty="0"/>
              <a:t> plus </a:t>
            </a:r>
            <a:r>
              <a:rPr sz="2600" dirty="0" err="1"/>
              <a:t>être</a:t>
            </a:r>
            <a:r>
              <a:rPr sz="2600" dirty="0"/>
              <a:t> </a:t>
            </a:r>
            <a:r>
              <a:rPr sz="2600" dirty="0" err="1"/>
              <a:t>testées</a:t>
            </a:r>
            <a:r>
              <a:rPr sz="2600" dirty="0"/>
              <a:t> </a:t>
            </a:r>
            <a:r>
              <a:rPr sz="2600" dirty="0" err="1"/>
              <a:t>séparément</a:t>
            </a:r>
            <a:endParaRPr sz="2600" dirty="0"/>
          </a:p>
        </p:txBody>
      </p:sp>
      <p:sp>
        <p:nvSpPr>
          <p:cNvPr id="4" name="Code"/>
          <p:cNvSpPr txBox="1"/>
          <p:nvPr/>
        </p:nvSpPr>
        <p:spPr>
          <a:xfrm>
            <a:off x="2800350" y="3611879"/>
            <a:ext cx="65913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Controleur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GUI afficheur;</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setAfficheur</a:t>
            </a:r>
            <a:r>
              <a:rPr sz="1800">
                <a:solidFill>
                  <a:srgbClr val="BCBEC4"/>
                </a:solidFill>
                <a:latin typeface="Consolas"/>
              </a:rPr>
              <a:t>(GUI afficheur)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this</a:t>
            </a:r>
            <a:r>
              <a:rPr sz="1800">
                <a:solidFill>
                  <a:srgbClr val="BCBEC4"/>
                </a:solidFill>
                <a:latin typeface="Consolas"/>
              </a:rPr>
              <a:t>.afficheur = afficheur;</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interface entre les deux</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dirty="0" err="1"/>
              <a:t>L'interface</a:t>
            </a:r>
            <a:r>
              <a:rPr sz="2800" dirty="0"/>
              <a:t> </a:t>
            </a:r>
            <a:r>
              <a:rPr sz="2800" dirty="0" err="1"/>
              <a:t>énonce</a:t>
            </a:r>
            <a:r>
              <a:rPr sz="2800" dirty="0"/>
              <a:t> le </a:t>
            </a:r>
            <a:r>
              <a:rPr lang="nl-BE" sz="2800" dirty="0"/>
              <a:t>(</a:t>
            </a:r>
            <a:r>
              <a:rPr sz="2800" dirty="0"/>
              <a:t>seul</a:t>
            </a:r>
            <a:r>
              <a:rPr lang="nl-BE" sz="2800" dirty="0"/>
              <a:t>)</a:t>
            </a:r>
            <a:r>
              <a:rPr sz="2800" dirty="0"/>
              <a:t> service </a:t>
            </a:r>
            <a:r>
              <a:rPr sz="2800" dirty="0" err="1"/>
              <a:t>dont</a:t>
            </a:r>
            <a:r>
              <a:rPr sz="2800" dirty="0"/>
              <a:t> on a </a:t>
            </a:r>
            <a:r>
              <a:rPr sz="2800" dirty="0" err="1"/>
              <a:t>besoin</a:t>
            </a:r>
            <a:endParaRPr sz="2800" dirty="0"/>
          </a:p>
          <a:p>
            <a:pPr marL="0" indent="0">
              <a:spcAft>
                <a:spcPts val="1000"/>
              </a:spcAft>
              <a:buNone/>
            </a:pPr>
            <a:r>
              <a:rPr sz="2800" dirty="0"/>
              <a:t>Le </a:t>
            </a:r>
            <a:r>
              <a:rPr sz="2800" dirty="0" err="1"/>
              <a:t>contrôleur</a:t>
            </a:r>
            <a:r>
              <a:rPr sz="2800" dirty="0"/>
              <a:t> ne </a:t>
            </a:r>
            <a:r>
              <a:rPr sz="2800" dirty="0" err="1"/>
              <a:t>nomme</a:t>
            </a:r>
            <a:r>
              <a:rPr sz="2800" dirty="0"/>
              <a:t> plus </a:t>
            </a:r>
            <a:r>
              <a:rPr sz="2800" dirty="0" err="1"/>
              <a:t>aucune</a:t>
            </a:r>
            <a:r>
              <a:rPr sz="2800" dirty="0"/>
              <a:t> </a:t>
            </a:r>
            <a:r>
              <a:rPr sz="2800" dirty="0" err="1"/>
              <a:t>classe</a:t>
            </a:r>
            <a:r>
              <a:rPr sz="2800" dirty="0"/>
              <a:t> concrète</a:t>
            </a:r>
          </a:p>
          <a:p>
            <a:pPr marL="0" indent="0">
              <a:spcAft>
                <a:spcPts val="1000"/>
              </a:spcAft>
              <a:buNone/>
            </a:pPr>
            <a:r>
              <a:rPr lang="nl-BE" sz="2800" dirty="0"/>
              <a:t>Affichage c</a:t>
            </a:r>
            <a:r>
              <a:rPr sz="2800" dirty="0" err="1"/>
              <a:t>onsole</a:t>
            </a:r>
            <a:r>
              <a:rPr sz="2800" dirty="0"/>
              <a:t>, </a:t>
            </a:r>
            <a:r>
              <a:rPr sz="2800" dirty="0" err="1"/>
              <a:t>fenêtre</a:t>
            </a:r>
            <a:r>
              <a:rPr sz="2800" dirty="0"/>
              <a:t> </a:t>
            </a:r>
            <a:r>
              <a:rPr sz="2800" dirty="0" err="1"/>
              <a:t>ou</a:t>
            </a:r>
            <a:r>
              <a:rPr sz="2800" dirty="0"/>
              <a:t> trace : au choix, sans </a:t>
            </a:r>
            <a:r>
              <a:rPr sz="2800" dirty="0" err="1"/>
              <a:t>rouvrir</a:t>
            </a:r>
            <a:r>
              <a:rPr lang="nl-BE" sz="2800" dirty="0"/>
              <a:t> le contrôleur</a:t>
            </a:r>
            <a:endParaRPr sz="2800" dirty="0"/>
          </a:p>
        </p:txBody>
      </p:sp>
      <p:sp>
        <p:nvSpPr>
          <p:cNvPr id="4" name="Code"/>
          <p:cNvSpPr txBox="1"/>
          <p:nvPr/>
        </p:nvSpPr>
        <p:spPr>
          <a:xfrm>
            <a:off x="2515129" y="3546764"/>
            <a:ext cx="7161741" cy="2625436"/>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interface</a:t>
            </a:r>
            <a:r>
              <a:rPr sz="1550" dirty="0">
                <a:solidFill>
                  <a:srgbClr val="BCBEC4"/>
                </a:solidFill>
                <a:latin typeface="Consolas"/>
              </a:rPr>
              <a:t> </a:t>
            </a:r>
            <a:r>
              <a:rPr sz="1550" dirty="0" err="1">
                <a:solidFill>
                  <a:srgbClr val="BCBEC4"/>
                </a:solidFill>
                <a:latin typeface="Consolas"/>
              </a:rPr>
              <a:t>Afficheur</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void</a:t>
            </a:r>
            <a:r>
              <a:rPr sz="1550" dirty="0">
                <a:solidFill>
                  <a:srgbClr val="BCBEC4"/>
                </a:solidFill>
                <a:latin typeface="Consolas"/>
              </a:rPr>
              <a:t> </a:t>
            </a:r>
            <a:r>
              <a:rPr sz="1550" dirty="0">
                <a:solidFill>
                  <a:srgbClr val="56A8F5"/>
                </a:solidFill>
                <a:latin typeface="Consolas"/>
              </a:rPr>
              <a:t>affiche</a:t>
            </a:r>
            <a:r>
              <a:rPr sz="1550" dirty="0">
                <a:solidFill>
                  <a:srgbClr val="BCBEC4"/>
                </a:solidFill>
                <a:latin typeface="Consolas"/>
              </a:rPr>
              <a:t>(String message);</a:t>
            </a:r>
          </a:p>
          <a:p>
            <a:pPr>
              <a:lnSpc>
                <a:spcPct val="100000"/>
              </a:lnSpc>
              <a:spcBef>
                <a:spcPts val="0"/>
              </a:spcBef>
              <a:spcAft>
                <a:spcPts val="0"/>
              </a:spcAft>
            </a:pP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class</a:t>
            </a:r>
            <a:r>
              <a:rPr sz="1550" dirty="0">
                <a:solidFill>
                  <a:srgbClr val="BCBEC4"/>
                </a:solidFill>
                <a:latin typeface="Consolas"/>
              </a:rPr>
              <a:t> </a:t>
            </a:r>
            <a:r>
              <a:rPr sz="1550" dirty="0" err="1">
                <a:solidFill>
                  <a:srgbClr val="BCBEC4"/>
                </a:solidFill>
                <a:latin typeface="Consolas"/>
              </a:rPr>
              <a:t>Controleur</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private</a:t>
            </a:r>
            <a:r>
              <a:rPr sz="1550" dirty="0">
                <a:solidFill>
                  <a:srgbClr val="BCBEC4"/>
                </a:solidFill>
                <a:latin typeface="Consolas"/>
              </a:rPr>
              <a:t> </a:t>
            </a:r>
            <a:r>
              <a:rPr sz="1550" dirty="0" err="1">
                <a:solidFill>
                  <a:srgbClr val="BCBEC4"/>
                </a:solidFill>
                <a:latin typeface="Consolas"/>
              </a:rPr>
              <a:t>Afficheur</a:t>
            </a:r>
            <a:r>
              <a:rPr sz="1550" dirty="0">
                <a:solidFill>
                  <a:srgbClr val="BCBEC4"/>
                </a:solidFill>
                <a:latin typeface="Consolas"/>
              </a:rPr>
              <a:t> </a:t>
            </a:r>
            <a:r>
              <a:rPr sz="1550" dirty="0" err="1">
                <a:solidFill>
                  <a:srgbClr val="BCBEC4"/>
                </a:solidFill>
                <a:latin typeface="Consolas"/>
              </a:rPr>
              <a:t>afficheur</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void</a:t>
            </a:r>
            <a:r>
              <a:rPr sz="1550" dirty="0">
                <a:solidFill>
                  <a:srgbClr val="BCBEC4"/>
                </a:solidFill>
                <a:latin typeface="Consolas"/>
              </a:rPr>
              <a:t> </a:t>
            </a:r>
            <a:r>
              <a:rPr sz="1550" dirty="0" err="1">
                <a:solidFill>
                  <a:srgbClr val="56A8F5"/>
                </a:solidFill>
                <a:latin typeface="Consolas"/>
              </a:rPr>
              <a:t>setAfficheur</a:t>
            </a:r>
            <a:r>
              <a:rPr sz="1550" dirty="0">
                <a:solidFill>
                  <a:srgbClr val="BCBEC4"/>
                </a:solidFill>
                <a:latin typeface="Consolas"/>
              </a:rPr>
              <a:t>(</a:t>
            </a:r>
            <a:r>
              <a:rPr sz="1550" dirty="0" err="1">
                <a:solidFill>
                  <a:srgbClr val="BCBEC4"/>
                </a:solidFill>
                <a:latin typeface="Consolas"/>
              </a:rPr>
              <a:t>Afficheur</a:t>
            </a:r>
            <a:r>
              <a:rPr sz="1550" dirty="0">
                <a:solidFill>
                  <a:srgbClr val="BCBEC4"/>
                </a:solidFill>
                <a:latin typeface="Consolas"/>
              </a:rPr>
              <a:t> </a:t>
            </a:r>
            <a:r>
              <a:rPr sz="1550" dirty="0" err="1">
                <a:solidFill>
                  <a:srgbClr val="BCBEC4"/>
                </a:solidFill>
                <a:latin typeface="Consolas"/>
              </a:rPr>
              <a:t>afficheur</a:t>
            </a:r>
            <a:r>
              <a:rPr sz="1550" dirty="0">
                <a:solidFill>
                  <a:srgbClr val="BCBEC4"/>
                </a:solidFill>
                <a:latin typeface="Consolas"/>
              </a:rPr>
              <a:t>) { ... }</a:t>
            </a:r>
          </a:p>
          <a:p>
            <a:pPr>
              <a:lnSpc>
                <a:spcPct val="100000"/>
              </a:lnSpc>
              <a:spcBef>
                <a:spcPts val="0"/>
              </a:spcBef>
              <a:spcAft>
                <a:spcPts val="0"/>
              </a:spcAft>
            </a:pPr>
            <a:r>
              <a:rPr sz="1550" dirty="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type le plus faible qui suffit</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principe de ségrégation : ne demander que ce dont on a vraiment besoin</a:t>
            </a:r>
          </a:p>
          <a:p>
            <a:pPr marL="0" indent="0">
              <a:spcAft>
                <a:spcPts val="1000"/>
              </a:spcAft>
              <a:buNone/>
            </a:pPr>
            <a:r>
              <a:rPr sz="2800"/>
              <a:t>Choisir le type d'un paramètre, c'est choisir ce qu'on s'autorise à appeler</a:t>
            </a:r>
          </a:p>
          <a:p>
            <a:pPr marL="0" indent="0">
              <a:spcAft>
                <a:spcPts val="1000"/>
              </a:spcAft>
              <a:buNone/>
            </a:pPr>
            <a:r>
              <a:rPr sz="2800"/>
              <a:t>Une interface qui déclare trop de méthodes oblige ses implémentations à trop en faire</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Des transports et une station-service</a:t>
            </a:r>
          </a:p>
        </p:txBody>
      </p:sp>
      <p:sp>
        <p:nvSpPr>
          <p:cNvPr id="3" name="Content Placeholder 2"/>
          <p:cNvSpPr>
            <a:spLocks noGrp="1"/>
          </p:cNvSpPr>
          <p:nvPr>
            <p:ph idx="1"/>
          </p:nvPr>
        </p:nvSpPr>
        <p:spPr>
          <a:xfrm>
            <a:off x="640080" y="1371600"/>
            <a:ext cx="10881360" cy="2103120"/>
          </a:xfrm>
        </p:spPr>
        <p:txBody>
          <a:bodyPr/>
          <a:lstStyle/>
          <a:p>
            <a:pPr marL="0" indent="0">
              <a:spcAft>
                <a:spcPts val="1000"/>
              </a:spcAft>
              <a:buNone/>
            </a:pPr>
            <a:r>
              <a:rPr sz="2400" dirty="0"/>
              <a:t>Une petite </a:t>
            </a:r>
            <a:r>
              <a:rPr sz="2400" dirty="0" err="1"/>
              <a:t>hiérarchie</a:t>
            </a:r>
            <a:r>
              <a:rPr sz="2400" dirty="0"/>
              <a:t> de transports : chacun </a:t>
            </a:r>
            <a:r>
              <a:rPr sz="2400" dirty="0" err="1"/>
              <a:t>sait</a:t>
            </a:r>
            <a:r>
              <a:rPr sz="2400" dirty="0"/>
              <a:t> </a:t>
            </a:r>
            <a:r>
              <a:rPr sz="2400" dirty="0" err="1"/>
              <a:t>bouger</a:t>
            </a:r>
            <a:r>
              <a:rPr sz="2400" dirty="0"/>
              <a:t>, à </a:t>
            </a:r>
            <a:r>
              <a:rPr sz="2400" dirty="0" err="1"/>
              <a:t>sa</a:t>
            </a:r>
            <a:r>
              <a:rPr sz="2400" dirty="0"/>
              <a:t> façon</a:t>
            </a:r>
          </a:p>
          <a:p>
            <a:pPr marL="0" indent="0">
              <a:spcAft>
                <a:spcPts val="1000"/>
              </a:spcAft>
              <a:buNone/>
            </a:pPr>
            <a:r>
              <a:rPr sz="2400" dirty="0"/>
              <a:t>Une station-service doit faire le plein des transports </a:t>
            </a:r>
            <a:r>
              <a:rPr sz="2400" dirty="0" err="1"/>
              <a:t>qu'on</a:t>
            </a:r>
            <a:r>
              <a:rPr sz="2400" dirty="0"/>
              <a:t> </a:t>
            </a:r>
            <a:r>
              <a:rPr sz="2400" dirty="0" err="1"/>
              <a:t>lui</a:t>
            </a:r>
            <a:r>
              <a:rPr sz="2400" dirty="0"/>
              <a:t> </a:t>
            </a:r>
            <a:r>
              <a:rPr sz="2400" dirty="0" err="1"/>
              <a:t>présente</a:t>
            </a:r>
            <a:endParaRPr sz="2400" dirty="0"/>
          </a:p>
          <a:p>
            <a:pPr marL="0" indent="0">
              <a:spcAft>
                <a:spcPts val="1000"/>
              </a:spcAft>
              <a:buNone/>
            </a:pPr>
            <a:r>
              <a:rPr lang="nl-BE" sz="2400" dirty="0"/>
              <a:t>Quel est l’impact dans cette application de l’ajout d’une classe Velo ?</a:t>
            </a:r>
            <a:endParaRPr sz="2400" dirty="0"/>
          </a:p>
        </p:txBody>
      </p:sp>
      <p:sp>
        <p:nvSpPr>
          <p:cNvPr id="4"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
        <p:nvSpPr>
          <p:cNvPr id="9" name="Rounded Rectangle 8"/>
          <p:cNvSpPr/>
          <p:nvPr/>
        </p:nvSpPr>
        <p:spPr>
          <a:xfrm>
            <a:off x="8869680" y="3520440"/>
            <a:ext cx="2743200" cy="822960"/>
          </a:xfrm>
          <a:prstGeom prst="roundRect">
            <a:avLst>
              <a:gd name="adj" fmla="val 10000"/>
            </a:avLst>
          </a:prstGeom>
          <a:solidFill>
            <a:srgbClr val="1D1F22"/>
          </a:solidFill>
          <a:ln w="19050">
            <a:solidFill>
              <a:srgbClr val="FFC000"/>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FFC000"/>
                </a:solidFill>
                <a:latin typeface="Consolas"/>
              </a:rPr>
              <a:t>StationService</a:t>
            </a:r>
          </a:p>
          <a:p>
            <a:pPr algn="ctr"/>
            <a:r>
              <a:rPr lang="fr-BE" sz="1300" dirty="0" err="1">
                <a:solidFill>
                  <a:srgbClr val="E8E8E8"/>
                </a:solidFill>
                <a:latin typeface="Consolas"/>
              </a:rPr>
              <a:t>faireLePlein</a:t>
            </a:r>
            <a:r>
              <a:rPr lang="fr-BE" sz="1300" dirty="0">
                <a:solidFill>
                  <a:srgbClr val="E8E8E8"/>
                </a:solidFill>
                <a:latin typeface="Consolas"/>
              </a:rPr>
              <a:t>(Transport)</a:t>
            </a:r>
          </a:p>
        </p:txBody>
      </p:sp>
      <p:grpSp>
        <p:nvGrpSpPr>
          <p:cNvPr id="26" name="Groupe 25">
            <a:extLst>
              <a:ext uri="{FF2B5EF4-FFF2-40B4-BE49-F238E27FC236}">
                <a16:creationId xmlns:a16="http://schemas.microsoft.com/office/drawing/2014/main" id="{CC49F915-A0C5-8891-1955-63DD8FC30F39}"/>
              </a:ext>
            </a:extLst>
          </p:cNvPr>
          <p:cNvGrpSpPr/>
          <p:nvPr/>
        </p:nvGrpSpPr>
        <p:grpSpPr>
          <a:xfrm>
            <a:off x="731520" y="3520440"/>
            <a:ext cx="7269480" cy="2148840"/>
            <a:chOff x="731520" y="3520440"/>
            <a:chExt cx="7269480" cy="2148840"/>
          </a:xfrm>
        </p:grpSpPr>
        <p:sp>
          <p:nvSpPr>
            <p:cNvPr id="8" name="Rounded Rectangle 7"/>
            <p:cNvSpPr/>
            <p:nvPr/>
          </p:nvSpPr>
          <p:spPr>
            <a:xfrm>
              <a:off x="2679192" y="3520440"/>
              <a:ext cx="3291840" cy="82296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600" b="1" i="1" dirty="0">
                  <a:solidFill>
                    <a:srgbClr val="FFC000"/>
                  </a:solidFill>
                  <a:latin typeface="Consolas"/>
                </a:rPr>
                <a:t>Transport</a:t>
              </a:r>
              <a:r>
                <a:rPr lang="fr-BE" sz="1100" i="1" dirty="0">
                  <a:solidFill>
                    <a:srgbClr val="9DA0A8"/>
                  </a:solidFill>
                </a:rPr>
                <a:t>  abstraite</a:t>
              </a:r>
            </a:p>
            <a:p>
              <a:pPr algn="ctr"/>
              <a:r>
                <a:rPr lang="fr-BE" sz="1300" dirty="0">
                  <a:solidFill>
                    <a:srgbClr val="E8E8E8"/>
                  </a:solidFill>
                  <a:latin typeface="Consolas"/>
                </a:rPr>
                <a:t>bouge()</a:t>
              </a:r>
            </a:p>
          </p:txBody>
        </p:sp>
        <p:sp>
          <p:nvSpPr>
            <p:cNvPr id="10" name="Rounded Rectangle 9"/>
            <p:cNvSpPr/>
            <p:nvPr/>
          </p:nvSpPr>
          <p:spPr>
            <a:xfrm>
              <a:off x="731520" y="4892040"/>
              <a:ext cx="2240280" cy="77724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E8E8E8"/>
                  </a:solidFill>
                  <a:latin typeface="Consolas"/>
                </a:rPr>
                <a:t>Voiture</a:t>
              </a:r>
            </a:p>
            <a:p>
              <a:pPr algn="ctr"/>
              <a:r>
                <a:rPr lang="fr-BE" sz="1100" dirty="0">
                  <a:solidFill>
                    <a:srgbClr val="9DA0A8"/>
                  </a:solidFill>
                </a:rPr>
                <a:t>roule</a:t>
              </a:r>
              <a:r>
                <a:rPr lang="fr-BE" sz="1100" dirty="0"/>
                <a:t>   </a:t>
              </a:r>
              <a:r>
                <a:rPr lang="fr-BE" sz="1100" b="1" dirty="0">
                  <a:solidFill>
                    <a:srgbClr val="FFC000"/>
                  </a:solidFill>
                </a:rPr>
                <a:t>à moteur</a:t>
              </a:r>
            </a:p>
          </p:txBody>
        </p:sp>
        <p:sp>
          <p:nvSpPr>
            <p:cNvPr id="12" name="Rounded Rectangle 11"/>
            <p:cNvSpPr/>
            <p:nvPr/>
          </p:nvSpPr>
          <p:spPr>
            <a:xfrm>
              <a:off x="3246120" y="4892040"/>
              <a:ext cx="2240280" cy="77724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E8E8E8"/>
                  </a:solidFill>
                  <a:latin typeface="Consolas"/>
                </a:rPr>
                <a:t>Avion</a:t>
              </a:r>
            </a:p>
            <a:p>
              <a:pPr algn="ctr"/>
              <a:r>
                <a:rPr lang="fr-BE" sz="1100" dirty="0">
                  <a:solidFill>
                    <a:srgbClr val="9DA0A8"/>
                  </a:solidFill>
                </a:rPr>
                <a:t>vole</a:t>
              </a:r>
              <a:r>
                <a:rPr lang="fr-BE" sz="1100" dirty="0"/>
                <a:t>   </a:t>
              </a:r>
              <a:r>
                <a:rPr lang="fr-BE" sz="1100" b="1" dirty="0">
                  <a:solidFill>
                    <a:srgbClr val="FFC000"/>
                  </a:solidFill>
                </a:rPr>
                <a:t>à moteur</a:t>
              </a:r>
            </a:p>
          </p:txBody>
        </p:sp>
        <p:sp>
          <p:nvSpPr>
            <p:cNvPr id="14" name="Rounded Rectangle 13"/>
            <p:cNvSpPr/>
            <p:nvPr/>
          </p:nvSpPr>
          <p:spPr>
            <a:xfrm>
              <a:off x="5760720" y="4892040"/>
              <a:ext cx="2240280" cy="77724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E8E8E8"/>
                  </a:solidFill>
                  <a:latin typeface="Consolas"/>
                </a:rPr>
                <a:t>Moto</a:t>
              </a:r>
            </a:p>
            <a:p>
              <a:pPr algn="ctr"/>
              <a:r>
                <a:rPr lang="fr-BE" sz="1100" dirty="0">
                  <a:solidFill>
                    <a:srgbClr val="9DA0A8"/>
                  </a:solidFill>
                </a:rPr>
                <a:t>se faufile</a:t>
              </a:r>
              <a:r>
                <a:rPr lang="fr-BE" sz="1100" dirty="0"/>
                <a:t>   </a:t>
              </a:r>
              <a:r>
                <a:rPr lang="fr-BE" sz="1100" b="1" dirty="0">
                  <a:solidFill>
                    <a:srgbClr val="FFC000"/>
                  </a:solidFill>
                </a:rPr>
                <a:t>à moteur</a:t>
              </a:r>
            </a:p>
          </p:txBody>
        </p:sp>
        <p:cxnSp>
          <p:nvCxnSpPr>
            <p:cNvPr id="11" name="Connector 10"/>
            <p:cNvCxnSpPr>
              <a:cxnSpLocks/>
              <a:stCxn id="10" idx="0"/>
              <a:endCxn id="8" idx="2"/>
            </p:cNvCxnSpPr>
            <p:nvPr/>
          </p:nvCxnSpPr>
          <p:spPr>
            <a:xfrm flipV="1">
              <a:off x="1851660" y="4343400"/>
              <a:ext cx="2473452" cy="54864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a:cxnSpLocks/>
              <a:stCxn id="12" idx="0"/>
              <a:endCxn id="8" idx="2"/>
            </p:cNvCxnSpPr>
            <p:nvPr/>
          </p:nvCxnSpPr>
          <p:spPr>
            <a:xfrm flipH="1" flipV="1">
              <a:off x="4325112" y="4343400"/>
              <a:ext cx="41148" cy="54864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a:cxnSpLocks/>
              <a:stCxn id="14" idx="0"/>
              <a:endCxn id="8" idx="2"/>
            </p:cNvCxnSpPr>
            <p:nvPr/>
          </p:nvCxnSpPr>
          <p:spPr>
            <a:xfrm flipH="1" flipV="1">
              <a:off x="4325112" y="4343400"/>
              <a:ext cx="2555748" cy="54864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27" name="Groupe 26">
            <a:extLst>
              <a:ext uri="{FF2B5EF4-FFF2-40B4-BE49-F238E27FC236}">
                <a16:creationId xmlns:a16="http://schemas.microsoft.com/office/drawing/2014/main" id="{B365B98D-599F-B242-7373-986FC08E1486}"/>
              </a:ext>
            </a:extLst>
          </p:cNvPr>
          <p:cNvGrpSpPr/>
          <p:nvPr/>
        </p:nvGrpSpPr>
        <p:grpSpPr>
          <a:xfrm>
            <a:off x="4325112" y="4343400"/>
            <a:ext cx="6190488" cy="1325880"/>
            <a:chOff x="4325112" y="4343400"/>
            <a:chExt cx="6190488" cy="1325880"/>
          </a:xfrm>
        </p:grpSpPr>
        <p:sp>
          <p:nvSpPr>
            <p:cNvPr id="16" name="Rounded Rectangle 15"/>
            <p:cNvSpPr/>
            <p:nvPr/>
          </p:nvSpPr>
          <p:spPr>
            <a:xfrm>
              <a:off x="8275320" y="4892040"/>
              <a:ext cx="2240280" cy="777240"/>
            </a:xfrm>
            <a:prstGeom prst="roundRect">
              <a:avLst>
                <a:gd name="adj" fmla="val 10000"/>
              </a:avLst>
            </a:prstGeom>
            <a:solidFill>
              <a:srgbClr val="1D1F22"/>
            </a:solidFill>
            <a:ln w="12700">
              <a:solidFill>
                <a:schemeClr val="accent6"/>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E8E8E8"/>
                  </a:solidFill>
                  <a:latin typeface="Consolas"/>
                </a:rPr>
                <a:t>Velo</a:t>
              </a:r>
            </a:p>
            <a:p>
              <a:pPr algn="ctr"/>
              <a:r>
                <a:rPr lang="fr-BE" sz="1100" dirty="0">
                  <a:solidFill>
                    <a:srgbClr val="9DA0A8"/>
                  </a:solidFill>
                </a:rPr>
                <a:t>pédale</a:t>
              </a:r>
              <a:r>
                <a:rPr lang="fr-BE" sz="1100" dirty="0"/>
                <a:t>   </a:t>
              </a:r>
              <a:r>
                <a:rPr lang="fr-BE" sz="1100" b="1" dirty="0">
                  <a:solidFill>
                    <a:srgbClr val="6F737A"/>
                  </a:solidFill>
                </a:rPr>
                <a:t>sans moteur</a:t>
              </a:r>
            </a:p>
          </p:txBody>
        </p:sp>
        <p:cxnSp>
          <p:nvCxnSpPr>
            <p:cNvPr id="17" name="Connector 16"/>
            <p:cNvCxnSpPr>
              <a:cxnSpLocks/>
              <a:stCxn id="16" idx="0"/>
              <a:endCxn id="8" idx="2"/>
            </p:cNvCxnSpPr>
            <p:nvPr/>
          </p:nvCxnSpPr>
          <p:spPr>
            <a:xfrm flipH="1" flipV="1">
              <a:off x="4325112" y="4343400"/>
              <a:ext cx="5070348" cy="548640"/>
            </a:xfrm>
            <a:prstGeom prst="line">
              <a:avLst/>
            </a:prstGeom>
            <a:ln w="22225">
              <a:solidFill>
                <a:schemeClr val="accent6"/>
              </a:solidFill>
              <a:tailEnd type="triangle" w="med" len="med"/>
            </a:ln>
          </p:spPr>
          <p:style>
            <a:lnRef idx="2">
              <a:schemeClr val="accent1"/>
            </a:lnRef>
            <a:fillRef idx="0">
              <a:schemeClr val="accent1"/>
            </a:fillRef>
            <a:effectRef idx="1">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Un </a:t>
            </a:r>
            <a:r>
              <a:rPr sz="4000" dirty="0" err="1"/>
              <a:t>comportement</a:t>
            </a:r>
            <a:r>
              <a:rPr sz="4000" dirty="0"/>
              <a:t> qui ne suit pas la </a:t>
            </a:r>
            <a:r>
              <a:rPr sz="4000" dirty="0" err="1"/>
              <a:t>hiérarchie</a:t>
            </a:r>
            <a:endParaRPr sz="4000" dirty="0"/>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Faire le plein concerne la voiture, mais pas le vélo</a:t>
            </a:r>
          </a:p>
          <a:p>
            <a:pPr marL="0" indent="0">
              <a:spcAft>
                <a:spcPts val="1000"/>
              </a:spcAft>
              <a:buNone/>
            </a:pPr>
            <a:r>
              <a:rPr sz="2800"/>
              <a:t>Aucune classe mère ne dessine ce découpage</a:t>
            </a:r>
          </a:p>
          <a:p>
            <a:pPr marL="0" indent="0">
              <a:spcAft>
                <a:spcPts val="1000"/>
              </a:spcAft>
              <a:buNone/>
            </a:pPr>
            <a:r>
              <a:rPr sz="2800"/>
              <a:t>La station teste le type, et sera rouverte sans cesse</a:t>
            </a:r>
          </a:p>
        </p:txBody>
      </p:sp>
      <p:sp>
        <p:nvSpPr>
          <p:cNvPr id="4" name="Code"/>
          <p:cNvSpPr txBox="1"/>
          <p:nvPr/>
        </p:nvSpPr>
        <p:spPr>
          <a:xfrm>
            <a:off x="2876021" y="3307080"/>
            <a:ext cx="6439957"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a:solidFill>
                  <a:srgbClr val="CF8E6D"/>
                </a:solidFill>
                <a:latin typeface="Consolas"/>
              </a:rPr>
              <a:t>public</a:t>
            </a:r>
            <a:r>
              <a:rPr sz="1550">
                <a:solidFill>
                  <a:srgbClr val="BCBEC4"/>
                </a:solidFill>
                <a:latin typeface="Consolas"/>
              </a:rPr>
              <a:t> </a:t>
            </a:r>
            <a:r>
              <a:rPr sz="1550">
                <a:solidFill>
                  <a:srgbClr val="CF8E6D"/>
                </a:solidFill>
                <a:latin typeface="Consolas"/>
              </a:rPr>
              <a:t>class</a:t>
            </a:r>
            <a:r>
              <a:rPr sz="1550">
                <a:solidFill>
                  <a:srgbClr val="BCBEC4"/>
                </a:solidFill>
                <a:latin typeface="Consolas"/>
              </a:rPr>
              <a:t> StationService {</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r>
              <a:rPr sz="1550">
                <a:solidFill>
                  <a:srgbClr val="7A7E85"/>
                </a:solidFill>
                <a:latin typeface="Consolas"/>
              </a:rPr>
              <a:t>// a ne pas ecrire</a:t>
            </a:r>
          </a:p>
          <a:p>
            <a:pPr>
              <a:lnSpc>
                <a:spcPct val="100000"/>
              </a:lnSpc>
              <a:spcBef>
                <a:spcPts val="0"/>
              </a:spcBef>
              <a:spcAft>
                <a:spcPts val="0"/>
              </a:spcAft>
            </a:pPr>
            <a:r>
              <a:rPr sz="1550">
                <a:solidFill>
                  <a:srgbClr val="BCBEC4"/>
                </a:solidFill>
                <a:latin typeface="Consolas"/>
              </a:rPr>
              <a:t>    </a:t>
            </a:r>
            <a:r>
              <a:rPr sz="1550">
                <a:solidFill>
                  <a:srgbClr val="CF8E6D"/>
                </a:solidFill>
                <a:latin typeface="Consolas"/>
              </a:rPr>
              <a:t>public</a:t>
            </a:r>
            <a:r>
              <a:rPr sz="1550">
                <a:solidFill>
                  <a:srgbClr val="BCBEC4"/>
                </a:solidFill>
                <a:latin typeface="Consolas"/>
              </a:rPr>
              <a:t> </a:t>
            </a:r>
            <a:r>
              <a:rPr sz="1550">
                <a:solidFill>
                  <a:srgbClr val="CF8E6D"/>
                </a:solidFill>
                <a:latin typeface="Consolas"/>
              </a:rPr>
              <a:t>void</a:t>
            </a:r>
            <a:r>
              <a:rPr sz="1550">
                <a:solidFill>
                  <a:srgbClr val="BCBEC4"/>
                </a:solidFill>
                <a:latin typeface="Consolas"/>
              </a:rPr>
              <a:t> </a:t>
            </a:r>
            <a:r>
              <a:rPr sz="1550">
                <a:solidFill>
                  <a:srgbClr val="56A8F5"/>
                </a:solidFill>
                <a:latin typeface="Consolas"/>
              </a:rPr>
              <a:t>faireLePlein</a:t>
            </a:r>
            <a:r>
              <a:rPr sz="1550">
                <a:solidFill>
                  <a:srgbClr val="BCBEC4"/>
                </a:solidFill>
                <a:latin typeface="Consolas"/>
              </a:rPr>
              <a:t>(Transport transport) {</a:t>
            </a:r>
          </a:p>
          <a:p>
            <a:pPr>
              <a:lnSpc>
                <a:spcPct val="100000"/>
              </a:lnSpc>
              <a:spcBef>
                <a:spcPts val="0"/>
              </a:spcBef>
              <a:spcAft>
                <a:spcPts val="0"/>
              </a:spcAft>
            </a:pPr>
            <a:r>
              <a:rPr sz="1550">
                <a:solidFill>
                  <a:srgbClr val="BCBEC4"/>
                </a:solidFill>
                <a:latin typeface="Consolas"/>
              </a:rPr>
              <a:t>        </a:t>
            </a:r>
            <a:r>
              <a:rPr sz="1550">
                <a:solidFill>
                  <a:srgbClr val="CF8E6D"/>
                </a:solidFill>
                <a:latin typeface="Consolas"/>
              </a:rPr>
              <a:t>if</a:t>
            </a:r>
            <a:r>
              <a:rPr sz="1550">
                <a:solidFill>
                  <a:srgbClr val="BCBEC4"/>
                </a:solidFill>
                <a:latin typeface="Consolas"/>
              </a:rPr>
              <a:t> (transport </a:t>
            </a:r>
            <a:r>
              <a:rPr sz="1550">
                <a:solidFill>
                  <a:srgbClr val="CF8E6D"/>
                </a:solidFill>
                <a:latin typeface="Consolas"/>
              </a:rPr>
              <a:t>instanceof</a:t>
            </a:r>
            <a:r>
              <a:rPr sz="1550">
                <a:solidFill>
                  <a:srgbClr val="BCBEC4"/>
                </a:solidFill>
                <a:latin typeface="Consolas"/>
              </a:rPr>
              <a:t> Velo) {</a:t>
            </a:r>
          </a:p>
          <a:p>
            <a:pPr>
              <a:lnSpc>
                <a:spcPct val="100000"/>
              </a:lnSpc>
              <a:spcBef>
                <a:spcPts val="0"/>
              </a:spcBef>
              <a:spcAft>
                <a:spcPts val="0"/>
              </a:spcAft>
            </a:pPr>
            <a:r>
              <a:rPr sz="1550">
                <a:solidFill>
                  <a:srgbClr val="BCBEC4"/>
                </a:solidFill>
                <a:latin typeface="Consolas"/>
              </a:rPr>
              <a:t>            </a:t>
            </a:r>
            <a:r>
              <a:rPr sz="1550">
                <a:solidFill>
                  <a:srgbClr val="7A7E85"/>
                </a:solidFill>
                <a:latin typeface="Consolas"/>
              </a:rPr>
              <a:t>// ne rien faire</a:t>
            </a:r>
          </a:p>
          <a:p>
            <a:pPr>
              <a:lnSpc>
                <a:spcPct val="100000"/>
              </a:lnSpc>
              <a:spcBef>
                <a:spcPts val="0"/>
              </a:spcBef>
              <a:spcAft>
                <a:spcPts val="0"/>
              </a:spcAft>
            </a:pPr>
            <a:r>
              <a:rPr sz="1550">
                <a:solidFill>
                  <a:srgbClr val="BCBEC4"/>
                </a:solidFill>
                <a:latin typeface="Consolas"/>
              </a:rPr>
              <a:t>        } </a:t>
            </a:r>
            <a:r>
              <a:rPr sz="1550">
                <a:solidFill>
                  <a:srgbClr val="CF8E6D"/>
                </a:solidFill>
                <a:latin typeface="Consolas"/>
              </a:rPr>
              <a:t>else</a:t>
            </a: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r>
              <a:rPr sz="1550">
                <a:solidFill>
                  <a:srgbClr val="7A7E85"/>
                </a:solidFill>
                <a:latin typeface="Consolas"/>
              </a:rPr>
              <a:t>// faire le plein</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L'interface supprime le test</a:t>
            </a:r>
          </a:p>
        </p:txBody>
      </p:sp>
      <p:sp>
        <p:nvSpPr>
          <p:cNvPr id="3" name="Content Placeholder 2"/>
          <p:cNvSpPr>
            <a:spLocks noGrp="1"/>
          </p:cNvSpPr>
          <p:nvPr>
            <p:ph idx="1"/>
          </p:nvPr>
        </p:nvSpPr>
        <p:spPr>
          <a:xfrm>
            <a:off x="640080" y="1371600"/>
            <a:ext cx="10881360" cy="1798320"/>
          </a:xfrm>
        </p:spPr>
        <p:txBody>
          <a:bodyPr>
            <a:normAutofit fontScale="92500" lnSpcReduction="20000"/>
          </a:bodyPr>
          <a:lstStyle/>
          <a:p>
            <a:pPr marL="0" indent="0">
              <a:spcAft>
                <a:spcPts val="1000"/>
              </a:spcAft>
              <a:buNone/>
            </a:pPr>
            <a:r>
              <a:rPr sz="2800" dirty="0"/>
              <a:t>S</a:t>
            </a:r>
            <a:r>
              <a:rPr lang="nl-BE" sz="2800" dirty="0"/>
              <a:t>i au lieu d’utiliser une classe mère on modélise le comportement dans une interface, s</a:t>
            </a:r>
            <a:r>
              <a:rPr sz="2800" dirty="0" err="1"/>
              <a:t>euls</a:t>
            </a:r>
            <a:r>
              <a:rPr sz="2800" dirty="0"/>
              <a:t> les transports à </a:t>
            </a:r>
            <a:r>
              <a:rPr sz="2800" dirty="0" err="1"/>
              <a:t>moteur</a:t>
            </a:r>
            <a:r>
              <a:rPr sz="2800" dirty="0"/>
              <a:t> </a:t>
            </a:r>
            <a:r>
              <a:rPr sz="2800" dirty="0" err="1"/>
              <a:t>implémentent</a:t>
            </a:r>
            <a:r>
              <a:rPr sz="2800" dirty="0"/>
              <a:t> </a:t>
            </a:r>
            <a:r>
              <a:rPr sz="2400" dirty="0" err="1">
                <a:solidFill>
                  <a:schemeClr val="accent4"/>
                </a:solidFill>
                <a:latin typeface="Consolas"/>
              </a:rPr>
              <a:t>Motorise</a:t>
            </a:r>
            <a:endParaRPr sz="2400" dirty="0">
              <a:solidFill>
                <a:schemeClr val="accent4"/>
              </a:solidFill>
              <a:latin typeface="Consolas"/>
            </a:endParaRPr>
          </a:p>
          <a:p>
            <a:pPr marL="0" indent="0">
              <a:spcAft>
                <a:spcPts val="1000"/>
              </a:spcAft>
              <a:buNone/>
            </a:pPr>
            <a:r>
              <a:rPr sz="2800" dirty="0"/>
              <a:t>La station </a:t>
            </a:r>
            <a:r>
              <a:rPr sz="2800" dirty="0" err="1"/>
              <a:t>reçoit</a:t>
            </a:r>
            <a:r>
              <a:rPr sz="2800" dirty="0"/>
              <a:t> un </a:t>
            </a:r>
            <a:r>
              <a:rPr sz="2400" dirty="0" err="1">
                <a:solidFill>
                  <a:schemeClr val="accent4"/>
                </a:solidFill>
                <a:latin typeface="Consolas"/>
              </a:rPr>
              <a:t>Motorise</a:t>
            </a:r>
            <a:r>
              <a:rPr sz="2800" dirty="0"/>
              <a:t> : le </a:t>
            </a:r>
            <a:r>
              <a:rPr sz="2800" dirty="0" err="1"/>
              <a:t>vélo</a:t>
            </a:r>
            <a:r>
              <a:rPr sz="2800" dirty="0"/>
              <a:t> est </a:t>
            </a:r>
            <a:r>
              <a:rPr sz="2800" dirty="0" err="1"/>
              <a:t>refusé</a:t>
            </a:r>
            <a:endParaRPr sz="2800" dirty="0"/>
          </a:p>
          <a:p>
            <a:pPr marL="0" indent="0">
              <a:spcAft>
                <a:spcPts val="1000"/>
              </a:spcAft>
              <a:buNone/>
            </a:pPr>
            <a:r>
              <a:rPr sz="2800" dirty="0"/>
              <a:t>Le test de type a </a:t>
            </a:r>
            <a:r>
              <a:rPr sz="2800" dirty="0" err="1"/>
              <a:t>disparu</a:t>
            </a:r>
            <a:r>
              <a:rPr sz="2800" dirty="0"/>
              <a:t>, il </a:t>
            </a:r>
            <a:r>
              <a:rPr sz="2800" dirty="0" err="1"/>
              <a:t>n'a</a:t>
            </a:r>
            <a:r>
              <a:rPr sz="2800" dirty="0"/>
              <a:t> pas </a:t>
            </a:r>
            <a:r>
              <a:rPr sz="2800" dirty="0" err="1"/>
              <a:t>été</a:t>
            </a:r>
            <a:r>
              <a:rPr sz="2800" dirty="0"/>
              <a:t> </a:t>
            </a:r>
            <a:r>
              <a:rPr sz="2800" dirty="0" err="1"/>
              <a:t>déplacé</a:t>
            </a:r>
            <a:endParaRPr sz="2800" dirty="0"/>
          </a:p>
        </p:txBody>
      </p:sp>
      <p:sp>
        <p:nvSpPr>
          <p:cNvPr id="4" name="Code"/>
          <p:cNvSpPr txBox="1"/>
          <p:nvPr/>
        </p:nvSpPr>
        <p:spPr>
          <a:xfrm>
            <a:off x="2711097" y="3307080"/>
            <a:ext cx="6769805"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interface</a:t>
            </a:r>
            <a:r>
              <a:rPr sz="1700">
                <a:solidFill>
                  <a:srgbClr val="BCBEC4"/>
                </a:solidFill>
                <a:latin typeface="Consolas"/>
              </a:rPr>
              <a:t> Motorise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faisLePlein</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class</a:t>
            </a:r>
            <a:r>
              <a:rPr sz="1700">
                <a:solidFill>
                  <a:srgbClr val="BCBEC4"/>
                </a:solidFill>
                <a:latin typeface="Consolas"/>
              </a:rPr>
              <a:t> StationService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faireLePlein</a:t>
            </a:r>
            <a:r>
              <a:rPr sz="1700">
                <a:solidFill>
                  <a:srgbClr val="BCBEC4"/>
                </a:solidFill>
                <a:latin typeface="Consolas"/>
              </a:rPr>
              <a:t>(Motorise motorise) {</a:t>
            </a:r>
          </a:p>
          <a:p>
            <a:pPr>
              <a:lnSpc>
                <a:spcPct val="100000"/>
              </a:lnSpc>
              <a:spcBef>
                <a:spcPts val="0"/>
              </a:spcBef>
              <a:spcAft>
                <a:spcPts val="0"/>
              </a:spcAft>
            </a:pPr>
            <a:r>
              <a:rPr sz="1700">
                <a:solidFill>
                  <a:srgbClr val="BCBEC4"/>
                </a:solidFill>
                <a:latin typeface="Consolas"/>
              </a:rPr>
              <a:t>        motorise.</a:t>
            </a:r>
            <a:r>
              <a:rPr sz="1700">
                <a:solidFill>
                  <a:srgbClr val="56A8F5"/>
                </a:solidFill>
                <a:latin typeface="Consolas"/>
              </a:rPr>
              <a:t>faisLePlein</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150BF76C-CE1F-3B05-A3E5-4ADECECEB503}"/>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917104"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Le patron Observateur</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27</a:t>
            </a:fld>
            <a:endParaRPr lang="fr-F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patron de conception</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U</a:t>
            </a:r>
            <a:r>
              <a:rPr lang="nl-BE" sz="2800" dirty="0"/>
              <a:t>n </a:t>
            </a:r>
            <a:r>
              <a:rPr lang="nl-BE" sz="2800" dirty="0">
                <a:solidFill>
                  <a:schemeClr val="accent4"/>
                </a:solidFill>
              </a:rPr>
              <a:t>patron de conception </a:t>
            </a:r>
            <a:r>
              <a:rPr lang="nl-BE" sz="2800" dirty="0"/>
              <a:t>est u</a:t>
            </a:r>
            <a:r>
              <a:rPr sz="2800" dirty="0"/>
              <a:t>ne solution </a:t>
            </a:r>
            <a:r>
              <a:rPr sz="2800" dirty="0" err="1"/>
              <a:t>éprouvée</a:t>
            </a:r>
            <a:r>
              <a:rPr sz="2800" dirty="0"/>
              <a:t> à un </a:t>
            </a:r>
            <a:r>
              <a:rPr sz="2800" dirty="0" err="1"/>
              <a:t>problème</a:t>
            </a:r>
            <a:r>
              <a:rPr sz="2800" dirty="0"/>
              <a:t> de conception qui </a:t>
            </a:r>
            <a:r>
              <a:rPr sz="2800" dirty="0" err="1"/>
              <a:t>revient</a:t>
            </a:r>
            <a:r>
              <a:rPr sz="2800" dirty="0"/>
              <a:t> </a:t>
            </a:r>
            <a:r>
              <a:rPr sz="2800" dirty="0" err="1"/>
              <a:t>souvent</a:t>
            </a:r>
            <a:endParaRPr sz="2800" dirty="0"/>
          </a:p>
          <a:p>
            <a:pPr marL="0" indent="0">
              <a:spcAft>
                <a:spcPts val="1000"/>
              </a:spcAft>
              <a:buNone/>
            </a:pPr>
            <a:r>
              <a:rPr sz="2800" dirty="0"/>
              <a:t>Ce </a:t>
            </a:r>
            <a:r>
              <a:rPr sz="2800" dirty="0" err="1"/>
              <a:t>n'est</a:t>
            </a:r>
            <a:r>
              <a:rPr sz="2800" dirty="0"/>
              <a:t> </a:t>
            </a:r>
            <a:r>
              <a:rPr sz="2800" dirty="0" err="1"/>
              <a:t>ni</a:t>
            </a:r>
            <a:r>
              <a:rPr sz="2800" dirty="0"/>
              <a:t> </a:t>
            </a:r>
            <a:r>
              <a:rPr sz="2800" dirty="0" err="1"/>
              <a:t>une</a:t>
            </a:r>
            <a:r>
              <a:rPr sz="2800" dirty="0"/>
              <a:t> bibliothèque </a:t>
            </a:r>
            <a:r>
              <a:rPr sz="2800" dirty="0" err="1"/>
              <a:t>ni</a:t>
            </a:r>
            <a:r>
              <a:rPr sz="2800" dirty="0"/>
              <a:t> du code à copier : </a:t>
            </a:r>
            <a:r>
              <a:rPr sz="2800" dirty="0" err="1"/>
              <a:t>c'est</a:t>
            </a:r>
            <a:r>
              <a:rPr sz="2800" dirty="0"/>
              <a:t> </a:t>
            </a:r>
            <a:r>
              <a:rPr sz="2800" dirty="0" err="1"/>
              <a:t>une</a:t>
            </a:r>
            <a:r>
              <a:rPr sz="2800" dirty="0"/>
              <a:t> structure</a:t>
            </a:r>
          </a:p>
          <a:p>
            <a:pPr marL="0" indent="0">
              <a:spcAft>
                <a:spcPts val="1000"/>
              </a:spcAft>
              <a:buNone/>
            </a:pPr>
            <a:r>
              <a:rPr sz="2800" dirty="0"/>
              <a:t>On les range </a:t>
            </a:r>
            <a:r>
              <a:rPr sz="2800" dirty="0" err="1"/>
              <a:t>en</a:t>
            </a:r>
            <a:r>
              <a:rPr sz="2800" dirty="0"/>
              <a:t> trois </a:t>
            </a:r>
            <a:r>
              <a:rPr sz="2800" dirty="0" err="1"/>
              <a:t>familles</a:t>
            </a:r>
            <a:r>
              <a:rPr sz="2800" dirty="0"/>
              <a:t> : </a:t>
            </a:r>
            <a:r>
              <a:rPr sz="2800" dirty="0" err="1"/>
              <a:t>création</a:t>
            </a:r>
            <a:r>
              <a:rPr sz="2800" dirty="0"/>
              <a:t>, structure, </a:t>
            </a:r>
            <a:r>
              <a:rPr sz="2800" dirty="0" err="1"/>
              <a:t>comportement</a:t>
            </a:r>
            <a:endParaRPr sz="2800" dirty="0"/>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5. Le patron Observateur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Le </a:t>
            </a:r>
            <a:r>
              <a:rPr sz="4000" dirty="0" err="1"/>
              <a:t>problème</a:t>
            </a:r>
            <a:r>
              <a:rPr lang="nl-BE" sz="4000" dirty="0"/>
              <a:t> réglé par le patron Observateur</a:t>
            </a:r>
            <a:endParaRPr sz="4000" dirty="0"/>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err="1"/>
              <a:t>Plusieurs</a:t>
            </a:r>
            <a:r>
              <a:rPr sz="2800" dirty="0"/>
              <a:t> </a:t>
            </a:r>
            <a:r>
              <a:rPr sz="2800" dirty="0" err="1"/>
              <a:t>objets</a:t>
            </a:r>
            <a:r>
              <a:rPr sz="2800" dirty="0"/>
              <a:t> </a:t>
            </a:r>
            <a:r>
              <a:rPr sz="2800" dirty="0" err="1"/>
              <a:t>veulent</a:t>
            </a:r>
            <a:r>
              <a:rPr sz="2800" dirty="0"/>
              <a:t> </a:t>
            </a:r>
            <a:r>
              <a:rPr sz="2800" dirty="0" err="1"/>
              <a:t>être</a:t>
            </a:r>
            <a:r>
              <a:rPr sz="2800" dirty="0"/>
              <a:t> </a:t>
            </a:r>
            <a:r>
              <a:rPr sz="2800" dirty="0" err="1"/>
              <a:t>prévenus</a:t>
            </a:r>
            <a:r>
              <a:rPr sz="2800" dirty="0"/>
              <a:t> </a:t>
            </a:r>
            <a:r>
              <a:rPr sz="2800" dirty="0" err="1"/>
              <a:t>quand</a:t>
            </a:r>
            <a:r>
              <a:rPr sz="2800" dirty="0"/>
              <a:t> quelque chose arrive</a:t>
            </a:r>
            <a:r>
              <a:rPr lang="nl-BE" sz="2800" dirty="0"/>
              <a:t> en magasin</a:t>
            </a:r>
            <a:endParaRPr sz="2800" dirty="0"/>
          </a:p>
          <a:p>
            <a:pPr marL="0" indent="0">
              <a:spcAft>
                <a:spcPts val="1000"/>
              </a:spcAft>
              <a:buNone/>
            </a:pPr>
            <a:r>
              <a:rPr sz="2800" dirty="0"/>
              <a:t>Les faire demander sans </a:t>
            </a:r>
            <a:r>
              <a:rPr sz="2800" dirty="0" err="1"/>
              <a:t>cesse</a:t>
            </a:r>
            <a:r>
              <a:rPr lang="nl-BE" sz="2800" dirty="0"/>
              <a:t> l’info au magasin </a:t>
            </a:r>
            <a:r>
              <a:rPr sz="2800" dirty="0"/>
              <a:t>: </a:t>
            </a:r>
            <a:r>
              <a:rPr sz="2800" dirty="0" err="1"/>
              <a:t>coûteux</a:t>
            </a:r>
            <a:r>
              <a:rPr sz="2800" dirty="0"/>
              <a:t>, et </a:t>
            </a:r>
            <a:r>
              <a:rPr sz="2800" dirty="0" err="1"/>
              <a:t>toujours</a:t>
            </a:r>
            <a:r>
              <a:rPr sz="2800" dirty="0"/>
              <a:t> </a:t>
            </a:r>
            <a:r>
              <a:rPr sz="2800" dirty="0" err="1"/>
              <a:t>en</a:t>
            </a:r>
            <a:r>
              <a:rPr sz="2800" dirty="0"/>
              <a:t> retard d'un instant</a:t>
            </a:r>
          </a:p>
          <a:p>
            <a:pPr marL="0" indent="0">
              <a:spcAft>
                <a:spcPts val="1000"/>
              </a:spcAft>
              <a:buNone/>
            </a:pPr>
            <a:r>
              <a:rPr sz="2800" dirty="0" err="1"/>
              <a:t>Prévenir</a:t>
            </a:r>
            <a:r>
              <a:rPr sz="2800" dirty="0"/>
              <a:t> </a:t>
            </a:r>
            <a:r>
              <a:rPr lang="nl-BE" sz="2800" dirty="0"/>
              <a:t>chacun individuelle</a:t>
            </a:r>
            <a:r>
              <a:rPr sz="2800" dirty="0" err="1"/>
              <a:t>ment</a:t>
            </a:r>
            <a:r>
              <a:rPr sz="2800" dirty="0"/>
              <a:t> : le </a:t>
            </a:r>
            <a:r>
              <a:rPr sz="2800" dirty="0" err="1"/>
              <a:t>magasin</a:t>
            </a:r>
            <a:r>
              <a:rPr sz="2800" dirty="0"/>
              <a:t> doit </a:t>
            </a:r>
            <a:r>
              <a:rPr sz="2800" dirty="0" err="1"/>
              <a:t>connaître</a:t>
            </a:r>
            <a:r>
              <a:rPr sz="2800" dirty="0"/>
              <a:t> chacun </a:t>
            </a:r>
            <a:r>
              <a:rPr sz="2800" dirty="0" err="1"/>
              <a:t>d'eux</a:t>
            </a:r>
            <a:endParaRPr sz="2800" dirty="0"/>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5. Le patron Observateur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dispositif</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L'interface </a:t>
            </a:r>
            <a:r>
              <a:rPr sz="2400">
                <a:solidFill>
                  <a:schemeClr val="accent4"/>
                </a:solidFill>
                <a:latin typeface="Consolas"/>
              </a:rPr>
              <a:t>Abonne</a:t>
            </a:r>
            <a:r>
              <a:rPr sz="2800"/>
              <a:t> déclare une seule méthode</a:t>
            </a:r>
          </a:p>
          <a:p>
            <a:pPr marL="0" indent="0">
              <a:spcAft>
                <a:spcPts val="1000"/>
              </a:spcAft>
              <a:buNone/>
            </a:pPr>
            <a:r>
              <a:rPr sz="2800"/>
              <a:t>Le magasin tient un tableau d'abonnés, rien de plus</a:t>
            </a:r>
          </a:p>
          <a:p>
            <a:pPr marL="0" indent="0">
              <a:spcAft>
                <a:spcPts val="1000"/>
              </a:spcAft>
              <a:buNone/>
            </a:pPr>
            <a:r>
              <a:rPr sz="2800"/>
              <a:t>S'abonner, se désabonner, prévenir : trois méthodes</a:t>
            </a:r>
          </a:p>
        </p:txBody>
      </p:sp>
      <p:sp>
        <p:nvSpPr>
          <p:cNvPr id="4" name="Code"/>
          <p:cNvSpPr txBox="1"/>
          <p:nvPr/>
        </p:nvSpPr>
        <p:spPr>
          <a:xfrm>
            <a:off x="2513189" y="3307080"/>
            <a:ext cx="7165622"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class</a:t>
            </a:r>
            <a:r>
              <a:rPr sz="1700">
                <a:solidFill>
                  <a:srgbClr val="BCBEC4"/>
                </a:solidFill>
                <a:latin typeface="Consolas"/>
              </a:rPr>
              <a:t> Magasin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private</a:t>
            </a:r>
            <a:r>
              <a:rPr sz="1700">
                <a:solidFill>
                  <a:srgbClr val="BCBEC4"/>
                </a:solidFill>
                <a:latin typeface="Consolas"/>
              </a:rPr>
              <a:t> </a:t>
            </a:r>
            <a:r>
              <a:rPr sz="1700">
                <a:solidFill>
                  <a:srgbClr val="CF8E6D"/>
                </a:solidFill>
                <a:latin typeface="Consolas"/>
              </a:rPr>
              <a:t>final</a:t>
            </a:r>
            <a:r>
              <a:rPr sz="1700">
                <a:solidFill>
                  <a:srgbClr val="BCBEC4"/>
                </a:solidFill>
                <a:latin typeface="Consolas"/>
              </a:rPr>
              <a:t> Abonne[] abonnes = </a:t>
            </a:r>
            <a:r>
              <a:rPr sz="1700">
                <a:solidFill>
                  <a:srgbClr val="CF8E6D"/>
                </a:solidFill>
                <a:latin typeface="Consolas"/>
              </a:rPr>
              <a:t>new</a:t>
            </a:r>
            <a:r>
              <a:rPr sz="1700">
                <a:solidFill>
                  <a:srgbClr val="BCBEC4"/>
                </a:solidFill>
                <a:latin typeface="Consolas"/>
              </a:rPr>
              <a:t> Abonne[</a:t>
            </a:r>
            <a:r>
              <a:rPr sz="1700">
                <a:solidFill>
                  <a:srgbClr val="2AACB8"/>
                </a:solidFill>
                <a:latin typeface="Consolas"/>
              </a:rPr>
              <a:t>10</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receptionne</a:t>
            </a:r>
            <a:r>
              <a:rPr sz="1700">
                <a:solidFill>
                  <a:srgbClr val="BCBEC4"/>
                </a:solidFill>
                <a:latin typeface="Consolas"/>
              </a:rPr>
              <a:t>(String produit)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for</a:t>
            </a:r>
            <a:r>
              <a:rPr sz="1700">
                <a:solidFill>
                  <a:srgbClr val="BCBEC4"/>
                </a:solidFill>
                <a:latin typeface="Consolas"/>
              </a:rPr>
              <a:t> (Abonne abonne : abonnes) {</a:t>
            </a:r>
          </a:p>
          <a:p>
            <a:pPr>
              <a:lnSpc>
                <a:spcPct val="100000"/>
              </a:lnSpc>
              <a:spcBef>
                <a:spcPts val="0"/>
              </a:spcBef>
              <a:spcAft>
                <a:spcPts val="0"/>
              </a:spcAft>
            </a:pPr>
            <a:r>
              <a:rPr sz="1700">
                <a:solidFill>
                  <a:srgbClr val="BCBEC4"/>
                </a:solidFill>
                <a:latin typeface="Consolas"/>
              </a:rPr>
              <a:t>            abonne.</a:t>
            </a:r>
            <a:r>
              <a:rPr sz="1700">
                <a:solidFill>
                  <a:srgbClr val="56A8F5"/>
                </a:solidFill>
                <a:latin typeface="Consolas"/>
              </a:rPr>
              <a:t>nouveauProduit</a:t>
            </a:r>
            <a:r>
              <a:rPr sz="1700">
                <a:solidFill>
                  <a:srgbClr val="BCBEC4"/>
                </a:solidFill>
                <a:latin typeface="Consolas"/>
              </a:rPr>
              <a:t>(produit);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5. Le patron Observateur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ça change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Ajouter un acteur : une classe, et rien d'autre à modifier</a:t>
            </a:r>
          </a:p>
          <a:p>
            <a:pPr marL="0" indent="0">
              <a:spcAft>
                <a:spcPts val="1000"/>
              </a:spcAft>
              <a:buNone/>
            </a:pPr>
            <a:r>
              <a:rPr sz="2800"/>
              <a:t>Le magasin ne saura jamais à qui il parle</a:t>
            </a:r>
          </a:p>
          <a:p>
            <a:pPr marL="0" indent="0">
              <a:spcAft>
                <a:spcPts val="1000"/>
              </a:spcAft>
              <a:buNone/>
            </a:pPr>
            <a:r>
              <a:rPr sz="2800"/>
              <a:t>On ne demande pas son état à l'abonné : on lui demande d'agir (</a:t>
            </a:r>
            <a:r>
              <a:rPr sz="2800">
                <a:solidFill>
                  <a:schemeClr val="accent4"/>
                </a:solidFill>
                <a:latin typeface="Consolas"/>
              </a:rPr>
              <a:t>CC-OBJ.1</a:t>
            </a:r>
            <a:r>
              <a:rPr sz="2800"/>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5. Le patron Observateur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ITF.4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Prévenir sans connaître</a:t>
            </a:r>
          </a:p>
          <a:p>
            <a:r>
              <a:rPr sz="1400">
                <a:solidFill>
                  <a:srgbClr val="BCBEC4"/>
                </a:solidFill>
              </a:rPr>
              <a:t>fascicule ITF</a:t>
            </a:r>
          </a:p>
        </p:txBody>
      </p:sp>
      <p:sp>
        <p:nvSpPr>
          <p:cNvPr id="6" name="TextBox 5"/>
          <p:cNvSpPr txBox="1"/>
          <p:nvPr/>
        </p:nvSpPr>
        <p:spPr>
          <a:xfrm>
            <a:off x="640080" y="2651760"/>
            <a:ext cx="9326880" cy="822960"/>
          </a:xfrm>
          <a:prstGeom prst="rect">
            <a:avLst/>
          </a:prstGeom>
          <a:noFill/>
        </p:spPr>
        <p:txBody>
          <a:bodyPr wrap="square">
            <a:spAutoFit/>
          </a:bodyPr>
          <a:lstStyle/>
          <a:p>
            <a:r>
              <a:rPr sz="1800"/>
              <a:t>Vous ne modifiez ni le </a:t>
            </a:r>
            <a:r>
              <a:rPr sz="1500">
                <a:solidFill>
                  <a:schemeClr val="accent4"/>
                </a:solidFill>
                <a:latin typeface="Consolas"/>
              </a:rPr>
              <a:t>Magasin</a:t>
            </a:r>
            <a:r>
              <a:rPr sz="1800"/>
              <a:t>, ni l'interface, ni les deux autres abonnés</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32</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5. Le patron Observateur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CA6629D9-8839-0C94-0F23-EE7082D6075F}"/>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138705" cy="82872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4800" b="1" dirty="0">
                <a:ln w="0"/>
                <a:effectLst>
                  <a:outerShdw blurRad="38100" dist="19050" dir="2700000" algn="tl" rotWithShape="0">
                    <a:schemeClr val="dk1">
                      <a:alpha val="40000"/>
                    </a:schemeClr>
                  </a:outerShdw>
                </a:effectLst>
                <a:latin typeface="Calibri"/>
                <a:cs typeface="Calibri"/>
              </a:rPr>
              <a:t>6. Autres caractéristiques de l’interface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33</a:t>
            </a:fld>
            <a:endParaRPr lang="fr-F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Des constantes, et des méthodes utilitaires</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a:t>Un champ d'interface est implicitement </a:t>
            </a:r>
            <a:r>
              <a:rPr sz="2100">
                <a:solidFill>
                  <a:schemeClr val="accent4"/>
                </a:solidFill>
                <a:latin typeface="Consolas"/>
              </a:rPr>
              <a:t>public static final</a:t>
            </a:r>
          </a:p>
          <a:p>
            <a:pPr marL="0" indent="0">
              <a:spcAft>
                <a:spcPts val="1000"/>
              </a:spcAft>
              <a:buNone/>
            </a:pPr>
            <a:r>
              <a:rPr sz="2400"/>
              <a:t>Une interface peut contenir des méthodes </a:t>
            </a:r>
            <a:r>
              <a:rPr sz="2100">
                <a:solidFill>
                  <a:schemeClr val="accent4"/>
                </a:solidFill>
                <a:latin typeface="Consolas"/>
              </a:rPr>
              <a:t>static</a:t>
            </a:r>
            <a:r>
              <a:rPr sz="2400"/>
              <a:t>, corps compris</a:t>
            </a:r>
          </a:p>
          <a:p>
            <a:pPr marL="0" indent="0">
              <a:spcAft>
                <a:spcPts val="1000"/>
              </a:spcAft>
              <a:buNone/>
            </a:pPr>
            <a:r>
              <a:rPr sz="2400"/>
              <a:t>Elles s'appellent sur l'interface : </a:t>
            </a:r>
            <a:r>
              <a:rPr sz="2100">
                <a:solidFill>
                  <a:schemeClr val="accent4"/>
                </a:solidFill>
                <a:latin typeface="Consolas"/>
              </a:rPr>
              <a:t>Mesurable.negligeable(colis)</a:t>
            </a:r>
          </a:p>
        </p:txBody>
      </p:sp>
      <p:sp>
        <p:nvSpPr>
          <p:cNvPr id="4" name="Code"/>
          <p:cNvSpPr txBox="1"/>
          <p:nvPr/>
        </p:nvSpPr>
        <p:spPr>
          <a:xfrm>
            <a:off x="2839156" y="3489960"/>
            <a:ext cx="6513688" cy="2682240"/>
          </a:xfrm>
          <a:prstGeom prst="roundRect">
            <a:avLst>
              <a:gd name="adj" fmla="val 340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a:solidFill>
                  <a:srgbClr val="CF8E6D"/>
                </a:solidFill>
                <a:latin typeface="Consolas"/>
              </a:rPr>
              <a:t>public</a:t>
            </a:r>
            <a:r>
              <a:rPr sz="1600">
                <a:solidFill>
                  <a:srgbClr val="BCBEC4"/>
                </a:solidFill>
                <a:latin typeface="Consolas"/>
              </a:rPr>
              <a:t> </a:t>
            </a:r>
            <a:r>
              <a:rPr sz="1600">
                <a:solidFill>
                  <a:srgbClr val="CF8E6D"/>
                </a:solidFill>
                <a:latin typeface="Consolas"/>
              </a:rPr>
              <a:t>interface</a:t>
            </a:r>
            <a:r>
              <a:rPr sz="1600">
                <a:solidFill>
                  <a:srgbClr val="BCBEC4"/>
                </a:solidFill>
                <a:latin typeface="Consolas"/>
              </a:rPr>
              <a:t> Mesurable {</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double</a:t>
            </a:r>
            <a:r>
              <a:rPr sz="1600">
                <a:solidFill>
                  <a:srgbClr val="BCBEC4"/>
                </a:solidFill>
                <a:latin typeface="Consolas"/>
              </a:rPr>
              <a:t> SEUIL = </a:t>
            </a:r>
            <a:r>
              <a:rPr sz="1600">
                <a:solidFill>
                  <a:srgbClr val="2AACB8"/>
                </a:solidFill>
                <a:latin typeface="Consolas"/>
              </a:rPr>
              <a:t>0.001</a:t>
            </a:r>
            <a:r>
              <a:rPr sz="1600">
                <a:solidFill>
                  <a:srgbClr val="BCBEC4"/>
                </a:solidFill>
                <a:latin typeface="Consolas"/>
              </a:rPr>
              <a:t>;   </a:t>
            </a:r>
            <a:r>
              <a:rPr sz="1600">
                <a:solidFill>
                  <a:srgbClr val="7A7E85"/>
                </a:solidFill>
                <a:latin typeface="Consolas"/>
              </a:rPr>
              <a:t>// public static final</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double</a:t>
            </a:r>
            <a:r>
              <a:rPr sz="1600">
                <a:solidFill>
                  <a:srgbClr val="BCBEC4"/>
                </a:solidFill>
                <a:latin typeface="Consolas"/>
              </a:rPr>
              <a:t> </a:t>
            </a:r>
            <a:r>
              <a:rPr sz="1600">
                <a:solidFill>
                  <a:srgbClr val="56A8F5"/>
                </a:solidFill>
                <a:latin typeface="Consolas"/>
              </a:rPr>
              <a:t>mesure</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static</a:t>
            </a:r>
            <a:r>
              <a:rPr sz="1600">
                <a:solidFill>
                  <a:srgbClr val="BCBEC4"/>
                </a:solidFill>
                <a:latin typeface="Consolas"/>
              </a:rPr>
              <a:t> </a:t>
            </a:r>
            <a:r>
              <a:rPr sz="1600">
                <a:solidFill>
                  <a:srgbClr val="CF8E6D"/>
                </a:solidFill>
                <a:latin typeface="Consolas"/>
              </a:rPr>
              <a:t>boolean</a:t>
            </a:r>
            <a:r>
              <a:rPr sz="1600">
                <a:solidFill>
                  <a:srgbClr val="BCBEC4"/>
                </a:solidFill>
                <a:latin typeface="Consolas"/>
              </a:rPr>
              <a:t> </a:t>
            </a:r>
            <a:r>
              <a:rPr sz="1600">
                <a:solidFill>
                  <a:srgbClr val="56A8F5"/>
                </a:solidFill>
                <a:latin typeface="Consolas"/>
              </a:rPr>
              <a:t>negligeable</a:t>
            </a:r>
            <a:r>
              <a:rPr sz="1600">
                <a:solidFill>
                  <a:srgbClr val="BCBEC4"/>
                </a:solidFill>
                <a:latin typeface="Consolas"/>
              </a:rPr>
              <a:t>(Mesurable m)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return</a:t>
            </a:r>
            <a:r>
              <a:rPr sz="1600">
                <a:solidFill>
                  <a:srgbClr val="BCBEC4"/>
                </a:solidFill>
                <a:latin typeface="Consolas"/>
              </a:rPr>
              <a:t> m.</a:t>
            </a:r>
            <a:r>
              <a:rPr sz="1600">
                <a:solidFill>
                  <a:srgbClr val="56A8F5"/>
                </a:solidFill>
                <a:latin typeface="Consolas"/>
              </a:rPr>
              <a:t>mesure</a:t>
            </a:r>
            <a:r>
              <a:rPr sz="1600">
                <a:solidFill>
                  <a:srgbClr val="BCBEC4"/>
                </a:solidFill>
                <a:latin typeface="Consolas"/>
              </a:rPr>
              <a:t>() &lt; SEUIL;</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34</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6. Ce qu'une interface contient aussi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Ajouter une méthode sans casser l'existant</a:t>
            </a:r>
          </a:p>
        </p:txBody>
      </p:sp>
      <p:sp>
        <p:nvSpPr>
          <p:cNvPr id="3" name="Content Placeholder 2"/>
          <p:cNvSpPr>
            <a:spLocks noGrp="1"/>
          </p:cNvSpPr>
          <p:nvPr>
            <p:ph idx="1"/>
          </p:nvPr>
        </p:nvSpPr>
        <p:spPr>
          <a:xfrm>
            <a:off x="640080" y="1371600"/>
            <a:ext cx="5120640" cy="4800600"/>
          </a:xfrm>
        </p:spPr>
        <p:txBody>
          <a:bodyPr/>
          <a:lstStyle/>
          <a:p>
            <a:pPr marL="0" indent="0">
              <a:spcAft>
                <a:spcPts val="1000"/>
              </a:spcAft>
              <a:buNone/>
            </a:pPr>
            <a:r>
              <a:rPr sz="2600" dirty="0"/>
              <a:t>Une interface </a:t>
            </a:r>
            <a:r>
              <a:rPr sz="2600" dirty="0" err="1"/>
              <a:t>implémentée</a:t>
            </a:r>
            <a:r>
              <a:rPr sz="2600" dirty="0"/>
              <a:t> par dix classes ne </a:t>
            </a:r>
            <a:r>
              <a:rPr sz="2600" dirty="0" err="1"/>
              <a:t>peut</a:t>
            </a:r>
            <a:r>
              <a:rPr sz="2600" dirty="0"/>
              <a:t> pas </a:t>
            </a:r>
            <a:r>
              <a:rPr sz="2600" dirty="0" err="1"/>
              <a:t>gagner</a:t>
            </a:r>
            <a:r>
              <a:rPr sz="2600" dirty="0"/>
              <a:t> </a:t>
            </a:r>
            <a:r>
              <a:rPr sz="2600" dirty="0" err="1"/>
              <a:t>une</a:t>
            </a:r>
            <a:r>
              <a:rPr sz="2600" dirty="0"/>
              <a:t> </a:t>
            </a:r>
            <a:r>
              <a:rPr sz="2600" dirty="0" err="1"/>
              <a:t>méthode</a:t>
            </a:r>
            <a:r>
              <a:rPr sz="2600" dirty="0"/>
              <a:t> : les dix </a:t>
            </a:r>
            <a:r>
              <a:rPr sz="2600" dirty="0" err="1"/>
              <a:t>cessent</a:t>
            </a:r>
            <a:r>
              <a:rPr sz="2600" dirty="0"/>
              <a:t> de compiler</a:t>
            </a:r>
          </a:p>
          <a:p>
            <a:pPr marL="0" indent="0">
              <a:spcAft>
                <a:spcPts val="1000"/>
              </a:spcAft>
              <a:buNone/>
            </a:pPr>
            <a:r>
              <a:rPr sz="2600" dirty="0"/>
              <a:t>Une </a:t>
            </a:r>
            <a:r>
              <a:rPr sz="2600" dirty="0" err="1"/>
              <a:t>méthode</a:t>
            </a:r>
            <a:r>
              <a:rPr sz="2600" dirty="0"/>
              <a:t> </a:t>
            </a:r>
            <a:r>
              <a:rPr sz="2200" dirty="0">
                <a:solidFill>
                  <a:schemeClr val="accent4"/>
                </a:solidFill>
                <a:latin typeface="Consolas"/>
              </a:rPr>
              <a:t>default</a:t>
            </a:r>
            <a:r>
              <a:rPr sz="2600" dirty="0"/>
              <a:t> </a:t>
            </a:r>
            <a:r>
              <a:rPr sz="2600" dirty="0" err="1"/>
              <a:t>contient</a:t>
            </a:r>
            <a:r>
              <a:rPr sz="2600" dirty="0"/>
              <a:t> un corps, </a:t>
            </a:r>
            <a:r>
              <a:rPr sz="2600" dirty="0" err="1"/>
              <a:t>dont</a:t>
            </a:r>
            <a:r>
              <a:rPr sz="2600" dirty="0"/>
              <a:t> </a:t>
            </a:r>
            <a:r>
              <a:rPr sz="2600" dirty="0" err="1"/>
              <a:t>toutes</a:t>
            </a:r>
            <a:r>
              <a:rPr sz="2600" dirty="0"/>
              <a:t> les classes </a:t>
            </a:r>
            <a:r>
              <a:rPr sz="2600" dirty="0" err="1"/>
              <a:t>héritent</a:t>
            </a:r>
            <a:endParaRPr sz="2600" dirty="0"/>
          </a:p>
          <a:p>
            <a:pPr marL="0" indent="0">
              <a:spcAft>
                <a:spcPts val="1000"/>
              </a:spcAft>
              <a:buNone/>
            </a:pPr>
            <a:r>
              <a:rPr sz="2600" dirty="0" err="1"/>
              <a:t>Chacune</a:t>
            </a:r>
            <a:r>
              <a:rPr sz="2600" dirty="0"/>
              <a:t> </a:t>
            </a:r>
            <a:r>
              <a:rPr sz="2600" dirty="0" err="1"/>
              <a:t>peut</a:t>
            </a:r>
            <a:r>
              <a:rPr sz="2600" dirty="0"/>
              <a:t> la </a:t>
            </a:r>
            <a:r>
              <a:rPr sz="2600" dirty="0" err="1"/>
              <a:t>redéfinir</a:t>
            </a:r>
            <a:r>
              <a:rPr sz="2600" dirty="0"/>
              <a:t>, </a:t>
            </a:r>
            <a:r>
              <a:rPr sz="2600" dirty="0" err="1"/>
              <a:t>aucune</a:t>
            </a:r>
            <a:r>
              <a:rPr sz="2600" dirty="0"/>
              <a:t> </a:t>
            </a:r>
            <a:r>
              <a:rPr sz="2600" dirty="0" err="1"/>
              <a:t>n'y</a:t>
            </a:r>
            <a:r>
              <a:rPr sz="2600" dirty="0"/>
              <a:t> est </a:t>
            </a:r>
            <a:r>
              <a:rPr sz="2600" dirty="0" err="1"/>
              <a:t>obligée</a:t>
            </a:r>
            <a:endParaRPr sz="2600" dirty="0"/>
          </a:p>
        </p:txBody>
      </p:sp>
      <p:sp>
        <p:nvSpPr>
          <p:cNvPr id="4" name="Code"/>
          <p:cNvSpPr txBox="1"/>
          <p:nvPr/>
        </p:nvSpPr>
        <p:spPr>
          <a:xfrm>
            <a:off x="5989320" y="1371600"/>
            <a:ext cx="5234305" cy="2674620"/>
          </a:xfrm>
          <a:prstGeom prst="roundRect">
            <a:avLst>
              <a:gd name="adj" fmla="val 3418"/>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CF8E6D"/>
                </a:solidFill>
                <a:latin typeface="Consolas"/>
              </a:rPr>
              <a:t>public</a:t>
            </a:r>
            <a:r>
              <a:rPr sz="1750">
                <a:solidFill>
                  <a:srgbClr val="BCBEC4"/>
                </a:solidFill>
                <a:latin typeface="Consolas"/>
              </a:rPr>
              <a:t> </a:t>
            </a:r>
            <a:r>
              <a:rPr sz="1750">
                <a:solidFill>
                  <a:srgbClr val="CF8E6D"/>
                </a:solidFill>
                <a:latin typeface="Consolas"/>
              </a:rPr>
              <a:t>interface</a:t>
            </a:r>
            <a:r>
              <a:rPr sz="1750">
                <a:solidFill>
                  <a:srgbClr val="BCBEC4"/>
                </a:solidFill>
                <a:latin typeface="Consolas"/>
              </a:rPr>
              <a:t> Vehicle {</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void</a:t>
            </a:r>
            <a:r>
              <a:rPr sz="1750">
                <a:solidFill>
                  <a:srgbClr val="BCBEC4"/>
                </a:solidFill>
                <a:latin typeface="Consolas"/>
              </a:rPr>
              <a:t> </a:t>
            </a:r>
            <a:r>
              <a:rPr sz="1750">
                <a:solidFill>
                  <a:srgbClr val="56A8F5"/>
                </a:solidFill>
                <a:latin typeface="Consolas"/>
              </a:rPr>
              <a:t>demarre</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void</a:t>
            </a:r>
            <a:r>
              <a:rPr sz="1750">
                <a:solidFill>
                  <a:srgbClr val="BCBEC4"/>
                </a:solidFill>
                <a:latin typeface="Consolas"/>
              </a:rPr>
              <a:t> </a:t>
            </a:r>
            <a:r>
              <a:rPr sz="1750">
                <a:solidFill>
                  <a:srgbClr val="56A8F5"/>
                </a:solidFill>
                <a:latin typeface="Consolas"/>
              </a:rPr>
              <a:t>arrete</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default</a:t>
            </a:r>
            <a:r>
              <a:rPr sz="1750">
                <a:solidFill>
                  <a:srgbClr val="BCBEC4"/>
                </a:solidFill>
                <a:latin typeface="Consolas"/>
              </a:rPr>
              <a:t> </a:t>
            </a:r>
            <a:r>
              <a:rPr sz="1750">
                <a:solidFill>
                  <a:srgbClr val="CF8E6D"/>
                </a:solidFill>
                <a:latin typeface="Consolas"/>
              </a:rPr>
              <a:t>void</a:t>
            </a:r>
            <a:r>
              <a:rPr sz="1750">
                <a:solidFill>
                  <a:srgbClr val="BCBEC4"/>
                </a:solidFill>
                <a:latin typeface="Consolas"/>
              </a:rPr>
              <a:t> </a:t>
            </a:r>
            <a:r>
              <a:rPr sz="1750">
                <a:solidFill>
                  <a:srgbClr val="56A8F5"/>
                </a:solidFill>
                <a:latin typeface="Consolas"/>
              </a:rPr>
              <a:t>klaxonne</a:t>
            </a: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System.out.</a:t>
            </a:r>
            <a:r>
              <a:rPr sz="1750">
                <a:solidFill>
                  <a:srgbClr val="56A8F5"/>
                </a:solidFill>
                <a:latin typeface="Consolas"/>
              </a:rPr>
              <a:t>println</a:t>
            </a:r>
            <a:r>
              <a:rPr sz="1750">
                <a:solidFill>
                  <a:srgbClr val="BCBEC4"/>
                </a:solidFill>
                <a:latin typeface="Consolas"/>
              </a:rPr>
              <a:t>(</a:t>
            </a:r>
            <a:r>
              <a:rPr sz="1750">
                <a:solidFill>
                  <a:srgbClr val="6AAB73"/>
                </a:solidFill>
                <a:latin typeface="Consolas"/>
              </a:rPr>
              <a:t>"Tuut"</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35</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6. Ce qu'une interface contient aussi</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interface sans aucune méthode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Une interface de marquage ne déclare rien : elle pose une étiquette</a:t>
            </a:r>
          </a:p>
          <a:p>
            <a:pPr marL="0" indent="0">
              <a:spcAft>
                <a:spcPts val="1000"/>
              </a:spcAft>
              <a:buNone/>
            </a:pPr>
            <a:r>
              <a:rPr sz="2800"/>
              <a:t>Elle ne dit pas « sait faire », mais « appartient à cette catégorie »</a:t>
            </a:r>
          </a:p>
          <a:p>
            <a:pPr marL="0" indent="0">
              <a:spcAft>
                <a:spcPts val="1000"/>
              </a:spcAft>
              <a:buNone/>
            </a:pPr>
            <a:r>
              <a:rPr sz="2400">
                <a:solidFill>
                  <a:schemeClr val="accent4"/>
                </a:solidFill>
                <a:latin typeface="Consolas"/>
              </a:rPr>
              <a:t>Serializable</a:t>
            </a:r>
            <a:r>
              <a:rPr sz="2800"/>
              <a:t> autorise un objet à être écrit dans un fichier, et c'est tout</a:t>
            </a:r>
          </a:p>
        </p:txBody>
      </p:sp>
      <p:sp>
        <p:nvSpPr>
          <p:cNvPr id="4" name="Code"/>
          <p:cNvSpPr txBox="1"/>
          <p:nvPr/>
        </p:nvSpPr>
        <p:spPr>
          <a:xfrm>
            <a:off x="2101850" y="4587240"/>
            <a:ext cx="79883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Contact </a:t>
            </a:r>
            <a:r>
              <a:rPr sz="1800">
                <a:solidFill>
                  <a:srgbClr val="CF8E6D"/>
                </a:solidFill>
                <a:latin typeface="Consolas"/>
              </a:rPr>
              <a:t>implements</a:t>
            </a:r>
            <a:r>
              <a:rPr sz="1800">
                <a:solidFill>
                  <a:srgbClr val="BCBEC4"/>
                </a:solidFill>
                <a:latin typeface="Consolas"/>
              </a:rPr>
              <a:t> Serializable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rien a implementer : l'interface ne demande rien</a:t>
            </a:r>
          </a:p>
          <a:p>
            <a:pPr>
              <a:lnSpc>
                <a:spcPct val="100000"/>
              </a:lnSpc>
              <a:spcBef>
                <a:spcPts val="0"/>
              </a:spcBef>
              <a:spcAft>
                <a:spcPts val="0"/>
              </a:spcAft>
            </a:pPr>
            <a:r>
              <a:rPr sz="18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36</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6. Ce qu'une interface contient aussi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interface, une seule méthode</a:t>
            </a:r>
          </a:p>
        </p:txBody>
      </p:sp>
      <p:sp>
        <p:nvSpPr>
          <p:cNvPr id="3" name="Content Placeholder 2"/>
          <p:cNvSpPr>
            <a:spLocks noGrp="1"/>
          </p:cNvSpPr>
          <p:nvPr>
            <p:ph idx="1"/>
          </p:nvPr>
        </p:nvSpPr>
        <p:spPr>
          <a:xfrm>
            <a:off x="640080" y="1371600"/>
            <a:ext cx="10881360" cy="2626360"/>
          </a:xfrm>
        </p:spPr>
        <p:txBody>
          <a:bodyPr/>
          <a:lstStyle/>
          <a:p>
            <a:pPr marL="0" indent="0">
              <a:spcAft>
                <a:spcPts val="1000"/>
              </a:spcAft>
              <a:buNone/>
            </a:pPr>
            <a:r>
              <a:rPr sz="2600"/>
              <a:t>Une interface avec exactement une méthode abstraite est dite fonctionnelle</a:t>
            </a:r>
          </a:p>
          <a:p>
            <a:pPr marL="0" indent="0">
              <a:spcAft>
                <a:spcPts val="1000"/>
              </a:spcAft>
              <a:buNone/>
            </a:pPr>
            <a:r>
              <a:rPr sz="2600"/>
              <a:t>Vous en avez écrit deux : </a:t>
            </a:r>
            <a:r>
              <a:rPr sz="2200">
                <a:solidFill>
                  <a:schemeClr val="accent4"/>
                </a:solidFill>
                <a:latin typeface="Consolas"/>
              </a:rPr>
              <a:t>Calculateur</a:t>
            </a:r>
            <a:r>
              <a:rPr sz="2600"/>
              <a:t> et </a:t>
            </a:r>
            <a:r>
              <a:rPr sz="2200">
                <a:solidFill>
                  <a:schemeClr val="accent4"/>
                </a:solidFill>
                <a:latin typeface="Consolas"/>
              </a:rPr>
              <a:t>Translatable</a:t>
            </a:r>
          </a:p>
          <a:p>
            <a:pPr marL="0" indent="0">
              <a:spcAft>
                <a:spcPts val="1000"/>
              </a:spcAft>
              <a:buNone/>
            </a:pPr>
            <a:r>
              <a:rPr sz="2600"/>
              <a:t>L'annotation </a:t>
            </a:r>
            <a:r>
              <a:rPr sz="2200">
                <a:solidFill>
                  <a:schemeClr val="accent4"/>
                </a:solidFill>
                <a:latin typeface="Consolas"/>
              </a:rPr>
              <a:t>@FunctionalInterface</a:t>
            </a:r>
            <a:r>
              <a:rPr sz="2600"/>
              <a:t> fait vérifier la règle</a:t>
            </a:r>
          </a:p>
          <a:p>
            <a:pPr marL="0" indent="0">
              <a:spcAft>
                <a:spcPts val="1000"/>
              </a:spcAft>
              <a:buNone/>
            </a:pPr>
            <a:r>
              <a:rPr sz="2600"/>
              <a:t>Au module </a:t>
            </a:r>
            <a:r>
              <a:rPr sz="2600">
                <a:solidFill>
                  <a:schemeClr val="accent4"/>
                </a:solidFill>
                <a:latin typeface="Consolas"/>
              </a:rPr>
              <a:t>LAM</a:t>
            </a:r>
            <a:r>
              <a:rPr sz="2600"/>
              <a:t>, elles gagneront une écriture abrégée</a:t>
            </a:r>
          </a:p>
        </p:txBody>
      </p:sp>
      <p:sp>
        <p:nvSpPr>
          <p:cNvPr id="4" name="Code"/>
          <p:cNvSpPr txBox="1"/>
          <p:nvPr/>
        </p:nvSpPr>
        <p:spPr>
          <a:xfrm>
            <a:off x="3848100" y="4135120"/>
            <a:ext cx="44958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3AE60"/>
                </a:solidFill>
                <a:latin typeface="Consolas"/>
              </a:rPr>
              <a:t>@FunctionalInterface</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interface</a:t>
            </a:r>
            <a:r>
              <a:rPr sz="1800">
                <a:solidFill>
                  <a:srgbClr val="BCBEC4"/>
                </a:solidFill>
                <a:latin typeface="Consolas"/>
              </a:rPr>
              <a:t> Calculateur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a:t>
            </a:r>
            <a:r>
              <a:rPr sz="1800">
                <a:solidFill>
                  <a:srgbClr val="56A8F5"/>
                </a:solidFill>
                <a:latin typeface="Consolas"/>
              </a:rPr>
              <a:t>calcule</a:t>
            </a:r>
            <a:r>
              <a:rPr sz="1800">
                <a:solidFill>
                  <a:srgbClr val="BCBEC4"/>
                </a:solidFill>
                <a:latin typeface="Consolas"/>
              </a:rPr>
              <a:t>(</a:t>
            </a:r>
            <a:r>
              <a:rPr sz="1800">
                <a:solidFill>
                  <a:srgbClr val="CF8E6D"/>
                </a:solidFill>
                <a:latin typeface="Consolas"/>
              </a:rPr>
              <a:t>int</a:t>
            </a:r>
            <a:r>
              <a:rPr sz="1800">
                <a:solidFill>
                  <a:srgbClr val="BCBEC4"/>
                </a:solidFill>
                <a:latin typeface="Consolas"/>
              </a:rPr>
              <a:t> a, </a:t>
            </a:r>
            <a:r>
              <a:rPr sz="1800">
                <a:solidFill>
                  <a:srgbClr val="CF8E6D"/>
                </a:solidFill>
                <a:latin typeface="Consolas"/>
              </a:rPr>
              <a:t>int</a:t>
            </a:r>
            <a:r>
              <a:rPr sz="1800">
                <a:solidFill>
                  <a:srgbClr val="BCBEC4"/>
                </a:solidFill>
                <a:latin typeface="Consolas"/>
              </a:rPr>
              <a:t> b);</a:t>
            </a:r>
          </a:p>
          <a:p>
            <a:pPr>
              <a:lnSpc>
                <a:spcPct val="100000"/>
              </a:lnSpc>
              <a:spcBef>
                <a:spcPts val="0"/>
              </a:spcBef>
              <a:spcAft>
                <a:spcPts val="0"/>
              </a:spcAft>
            </a:pPr>
            <a:r>
              <a:rPr sz="18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37</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6. Ce qu'une interface contient aussi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12" name="TextBox 11"/>
          <p:cNvSpPr txBox="1"/>
          <p:nvPr/>
        </p:nvSpPr>
        <p:spPr>
          <a:xfrm>
            <a:off x="640080" y="4937759"/>
            <a:ext cx="9326880" cy="822960"/>
          </a:xfrm>
          <a:prstGeom prst="rect">
            <a:avLst/>
          </a:prstGeom>
          <a:noFill/>
        </p:spPr>
        <p:txBody>
          <a:bodyPr wrap="square">
            <a:spAutoFit/>
          </a:bodyPr>
          <a:lstStyle/>
          <a:p>
            <a:r>
              <a:rPr sz="1800"/>
              <a:t>La liste d'observateurs de </a:t>
            </a:r>
            <a:r>
              <a:rPr sz="1500">
                <a:solidFill>
                  <a:schemeClr val="accent4"/>
                </a:solidFill>
                <a:latin typeface="Consolas"/>
              </a:rPr>
              <a:t>G.12</a:t>
            </a:r>
            <a:r>
              <a:rPr sz="1800"/>
              <a:t> vous est donnée : les collections sont le sujet du module </a:t>
            </a:r>
            <a:r>
              <a:rPr sz="1800">
                <a:solidFill>
                  <a:schemeClr val="accent4"/>
                </a:solidFill>
                <a:latin typeface="Consolas"/>
              </a:rPr>
              <a:t>COL</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38</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6. Ce qu'une interface contient aussi</a:t>
            </a:r>
          </a:p>
        </p:txBody>
      </p:sp>
      <p:pic>
        <p:nvPicPr>
          <p:cNvPr id="21" name="iconGameHub" descr="gamehub.jp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420000">
            <a:off x="10479024" y="521207"/>
            <a:ext cx="1216152" cy="1216152"/>
          </a:xfrm>
          <a:prstGeom prst="rect">
            <a:avLst/>
          </a:prstGeom>
        </p:spPr>
      </p:pic>
      <p:grpSp>
        <p:nvGrpSpPr>
          <p:cNvPr id="18" name="Exercice 1"/>
          <p:cNvGrpSpPr/>
          <p:nvPr/>
        </p:nvGrpSpPr>
        <p:grpSpPr>
          <a:xfrm>
            <a:off x="640080" y="1417320"/>
            <a:ext cx="9326880" cy="960120"/>
            <a:chOff x="640080" y="1417320"/>
            <a:chExt cx="9326880" cy="960120"/>
          </a:xfrm>
        </p:grpSpPr>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G.11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dirty="0" err="1">
                  <a:solidFill>
                    <a:srgbClr val="FFFFFF"/>
                  </a:solidFill>
                </a:rPr>
                <a:t>L'interface</a:t>
              </a:r>
              <a:r>
                <a:rPr sz="2200" dirty="0">
                  <a:solidFill>
                    <a:srgbClr val="FFFFFF"/>
                  </a:solidFill>
                </a:rPr>
                <a:t> </a:t>
              </a:r>
              <a:r>
                <a:rPr sz="1900" dirty="0" err="1">
                  <a:solidFill>
                    <a:srgbClr val="FFFFFF"/>
                  </a:solidFill>
                  <a:latin typeface="Consolas"/>
                </a:rPr>
                <a:t>ObservateurPartie</a:t>
              </a:r>
              <a:endParaRPr sz="1900" dirty="0">
                <a:solidFill>
                  <a:srgbClr val="FFFFFF"/>
                </a:solidFill>
                <a:latin typeface="Consolas"/>
              </a:endParaRPr>
            </a:p>
            <a:p>
              <a:r>
                <a:rPr sz="1400" dirty="0">
                  <a:solidFill>
                    <a:srgbClr val="BCBEC4"/>
                  </a:solidFill>
                </a:rPr>
                <a:t>fil rouge </a:t>
              </a:r>
              <a:r>
                <a:rPr sz="1400" dirty="0" err="1">
                  <a:solidFill>
                    <a:srgbClr val="BCBEC4"/>
                  </a:solidFill>
                </a:rPr>
                <a:t>GameHub</a:t>
              </a:r>
              <a:endParaRPr sz="1400" dirty="0">
                <a:solidFill>
                  <a:srgbClr val="BCBEC4"/>
                </a:solidFill>
              </a:endParaRPr>
            </a:p>
          </p:txBody>
        </p:sp>
      </p:grpSp>
      <p:grpSp>
        <p:nvGrpSpPr>
          <p:cNvPr id="22"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G.12</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200">
                  <a:solidFill>
                    <a:srgbClr val="FFFFFF"/>
                  </a:solidFill>
                </a:rPr>
                <a:t>La partie enregistre ses observateurs</a:t>
              </a:r>
            </a:p>
            <a:p>
              <a:r>
                <a:rPr sz="1400">
                  <a:solidFill>
                    <a:srgbClr val="BCBEC4"/>
                  </a:solidFill>
                </a:rPr>
                <a:t>fil rouge GameHub</a:t>
              </a:r>
            </a:p>
          </p:txBody>
        </p:sp>
      </p:grpSp>
      <p:grpSp>
        <p:nvGrpSpPr>
          <p:cNvPr id="23" name="Exercice 3"/>
          <p:cNvGrpSpPr/>
          <p:nvPr/>
        </p:nvGrpSpPr>
        <p:grpSpPr>
          <a:xfrm>
            <a:off x="640080" y="3703320"/>
            <a:ext cx="9326880" cy="960120"/>
            <a:chOff x="640080" y="3703320"/>
            <a:chExt cx="9326880" cy="960120"/>
          </a:xfrm>
        </p:grpSpPr>
        <p:sp>
          <p:nvSpPr>
            <p:cNvPr id="9" name="Rounded Rectangle 8"/>
            <p:cNvSpPr/>
            <p:nvPr/>
          </p:nvSpPr>
          <p:spPr>
            <a:xfrm>
              <a:off x="640080" y="3703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703320"/>
              <a:ext cx="1920240" cy="960120"/>
            </a:xfrm>
            <a:prstGeom prst="rect">
              <a:avLst/>
            </a:prstGeom>
            <a:noFill/>
          </p:spPr>
          <p:txBody>
            <a:bodyPr wrap="none" anchor="ctr">
              <a:spAutoFit/>
            </a:bodyPr>
            <a:lstStyle/>
            <a:p>
              <a:r>
                <a:rPr sz="3000" b="1">
                  <a:solidFill>
                    <a:schemeClr val="accent4"/>
                  </a:solidFill>
                  <a:latin typeface="Consolas"/>
                </a:rPr>
                <a:t>G.13</a:t>
              </a:r>
            </a:p>
          </p:txBody>
        </p:sp>
        <p:sp>
          <p:nvSpPr>
            <p:cNvPr id="11" name="TextBox 10"/>
            <p:cNvSpPr txBox="1"/>
            <p:nvPr/>
          </p:nvSpPr>
          <p:spPr>
            <a:xfrm>
              <a:off x="2880360" y="3703320"/>
              <a:ext cx="6949440" cy="960120"/>
            </a:xfrm>
            <a:prstGeom prst="rect">
              <a:avLst/>
            </a:prstGeom>
            <a:noFill/>
          </p:spPr>
          <p:txBody>
            <a:bodyPr wrap="square" anchor="ctr">
              <a:spAutoFit/>
            </a:bodyPr>
            <a:lstStyle/>
            <a:p>
              <a:r>
                <a:rPr sz="2200">
                  <a:solidFill>
                    <a:srgbClr val="FFFFFF"/>
                  </a:solidFill>
                </a:rPr>
                <a:t>Un journal qui suit la partie</a:t>
              </a:r>
            </a:p>
            <a:p>
              <a:r>
                <a:rPr sz="1400">
                  <a:solidFill>
                    <a:srgbClr val="BCBEC4"/>
                  </a:solidFill>
                </a:rPr>
                <a:t>fil rouge GameHub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left)">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115644</TotalTime>
  <Words>6582</Words>
  <Application>Microsoft Macintosh PowerPoint</Application>
  <PresentationFormat>Grand écran</PresentationFormat>
  <Paragraphs>505</Paragraphs>
  <Slides>38</Slides>
  <Notes>38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38</vt:i4>
      </vt:variant>
    </vt:vector>
  </HeadingPairs>
  <TitlesOfParts>
    <vt:vector size="44" baseType="lpstr">
      <vt:lpstr>Aptos</vt:lpstr>
      <vt:lpstr>Arial</vt:lpstr>
      <vt:lpstr>Calibri</vt:lpstr>
      <vt:lpstr>Consolas</vt:lpstr>
      <vt:lpstr>Corbel</vt:lpstr>
      <vt:lpstr>ThemeEphec2022</vt:lpstr>
      <vt:lpstr>JAVA 2</vt:lpstr>
      <vt:lpstr>Au programme</vt:lpstr>
      <vt:lpstr>Présentation PowerPoint</vt:lpstr>
      <vt:lpstr>Démonstration</vt:lpstr>
      <vt:lpstr>Déclarer une interface</vt:lpstr>
      <vt:lpstr>Une classe s'engage</vt:lpstr>
      <vt:lpstr>Le type peut être l'interface</vt:lpstr>
      <vt:lpstr>Recevoir un comportement en paramètre</vt:lpstr>
      <vt:lpstr>Exercices</vt:lpstr>
      <vt:lpstr>Présentation PowerPoint</vt:lpstr>
      <vt:lpstr>Une seule mère, autant d'interfaces qu'on veut</vt:lpstr>
      <vt:lpstr>Un comportement qui traverse les familles</vt:lpstr>
      <vt:lpstr>Où écrire la méthode</vt:lpstr>
      <vt:lpstr>Exercices</vt:lpstr>
      <vt:lpstr>Présentation PowerPoint</vt:lpstr>
      <vt:lpstr>Deux outils, deux intentions</vt:lpstr>
      <vt:lpstr>Les deux ensemble</vt:lpstr>
      <vt:lpstr>Exercices</vt:lpstr>
      <vt:lpstr>Présentation PowerPoint</vt:lpstr>
      <vt:lpstr>Le modèle MVC : qui fait quoi</vt:lpstr>
      <vt:lpstr>Deux classes qui se tiennent</vt:lpstr>
      <vt:lpstr>Une interface entre les deux</vt:lpstr>
      <vt:lpstr>Le type le plus faible qui suffit</vt:lpstr>
      <vt:lpstr>Des transports et une station-service</vt:lpstr>
      <vt:lpstr>Un comportement qui ne suit pas la hiérarchie</vt:lpstr>
      <vt:lpstr>L'interface supprime le test</vt:lpstr>
      <vt:lpstr>Présentation PowerPoint</vt:lpstr>
      <vt:lpstr>Un patron de conception</vt:lpstr>
      <vt:lpstr>Le problème réglé par le patron Observateur</vt:lpstr>
      <vt:lpstr>Le dispositif</vt:lpstr>
      <vt:lpstr>Ce que ça change</vt:lpstr>
      <vt:lpstr>Exercices</vt:lpstr>
      <vt:lpstr>Présentation PowerPoint</vt:lpstr>
      <vt:lpstr>Des constantes, et des méthodes utilitaires</vt:lpstr>
      <vt:lpstr>Ajouter une méthode sans casser l'existant</vt:lpstr>
      <vt:lpstr>Une interface sans aucune méthode</vt:lpstr>
      <vt:lpstr>Une interface, une seule méthode</vt:lpstr>
      <vt:lpstr>Le fil rouge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43</cp:revision>
  <dcterms:created xsi:type="dcterms:W3CDTF">2023-01-04T13:50:20Z</dcterms:created>
  <dcterms:modified xsi:type="dcterms:W3CDTF">2026-10-22T21:57:47Z</dcterms:modified>
</cp:coreProperties>
</file>