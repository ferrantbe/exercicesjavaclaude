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9"/>
  </p:notesMasterIdLst>
  <p:handoutMasterIdLst>
    <p:handoutMasterId r:id="rId30"/>
  </p:handoutMasterIdLst>
  <p:sldIdLst>
    <p:sldId id="256" r:id="rId2"/>
    <p:sldId id="574" r:id="rId3"/>
    <p:sldId id="523" r:id="rId4"/>
    <p:sldId id="257" r:id="rId5"/>
    <p:sldId id="258" r:id="rId6"/>
    <p:sldId id="559" r:id="rId7"/>
    <p:sldId id="262" r:id="rId8"/>
    <p:sldId id="264" r:id="rId9"/>
    <p:sldId id="560" r:id="rId10"/>
    <p:sldId id="576" r:id="rId11"/>
    <p:sldId id="266" r:id="rId12"/>
    <p:sldId id="524" r:id="rId13"/>
    <p:sldId id="561" r:id="rId14"/>
    <p:sldId id="562" r:id="rId15"/>
    <p:sldId id="563" r:id="rId16"/>
    <p:sldId id="564" r:id="rId17"/>
    <p:sldId id="565" r:id="rId18"/>
    <p:sldId id="566" r:id="rId19"/>
    <p:sldId id="487" r:id="rId20"/>
    <p:sldId id="567" r:id="rId21"/>
    <p:sldId id="575" r:id="rId22"/>
    <p:sldId id="569" r:id="rId23"/>
    <p:sldId id="570" r:id="rId24"/>
    <p:sldId id="571" r:id="rId25"/>
    <p:sldId id="568" r:id="rId26"/>
    <p:sldId id="572" r:id="rId27"/>
    <p:sldId id="57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B710A45-2C30-529D-842A-DF5675A50641}">
          <p14:sldIdLst>
            <p14:sldId id="256"/>
            <p14:sldId id="574"/>
          </p14:sldIdLst>
        </p14:section>
        <p14:section name="1. Le cours" id="{D3AA516C-6042-5517-B9E3-25B82D28EBF3}">
          <p14:sldIdLst>
            <p14:sldId id="523"/>
            <p14:sldId id="257"/>
            <p14:sldId id="258"/>
            <p14:sldId id="559"/>
            <p14:sldId id="262"/>
            <p14:sldId id="264"/>
            <p14:sldId id="560"/>
            <p14:sldId id="576"/>
            <p14:sldId id="266"/>
          </p14:sldIdLst>
        </p14:section>
        <p14:section name="2. Ma façon de travailler" id="{26B78905-1877-51C4-B465-C961F801AA76}">
          <p14:sldIdLst>
            <p14:sldId id="524"/>
            <p14:sldId id="561"/>
            <p14:sldId id="562"/>
            <p14:sldId id="563"/>
            <p14:sldId id="564"/>
            <p14:sldId id="565"/>
            <p14:sldId id="566"/>
          </p14:sldIdLst>
        </p14:section>
        <p14:section name="3. Les mémentos" id="{E41B345E-F116-58D4-A47C-0B26D58C962A}">
          <p14:sldIdLst>
            <p14:sldId id="487"/>
            <p14:sldId id="567"/>
            <p14:sldId id="575"/>
            <p14:sldId id="569"/>
            <p14:sldId id="570"/>
            <p14:sldId id="571"/>
            <p14:sldId id="568"/>
            <p14:sldId id="572"/>
            <p14:sldId id="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72B3"/>
    <a:srgbClr val="FFC000"/>
    <a:srgbClr val="1D1F22"/>
    <a:srgbClr val="38FF4F"/>
    <a:srgbClr val="FFDF8B"/>
    <a:srgbClr val="802C31"/>
    <a:srgbClr val="AE6B68"/>
    <a:srgbClr val="9A5239"/>
    <a:srgbClr val="6DC3FB"/>
    <a:srgbClr val="0675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75"/>
    <p:restoredTop sz="74503"/>
  </p:normalViewPr>
  <p:slideViewPr>
    <p:cSldViewPr snapToGrid="0">
      <p:cViewPr varScale="1">
        <p:scale>
          <a:sx n="117" d="100"/>
          <a:sy n="117" d="100"/>
        </p:scale>
        <p:origin x="2072" y="184"/>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trois sections : 1. Le cours ; 2. Ma façon de travailler ; 3. Les mémentos.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Cette section </a:t>
            </a:r>
            <a:r>
              <a:rPr dirty="0" err="1"/>
              <a:t>présente</a:t>
            </a:r>
            <a:r>
              <a:rPr dirty="0"/>
              <a:t> le </a:t>
            </a:r>
            <a:r>
              <a:rPr dirty="0" err="1"/>
              <a:t>cours</a:t>
            </a:r>
            <a:r>
              <a:rPr dirty="0"/>
              <a:t> : qui le </a:t>
            </a:r>
            <a:r>
              <a:rPr dirty="0" err="1"/>
              <a:t>donne</a:t>
            </a:r>
            <a:r>
              <a:rPr dirty="0"/>
              <a:t>, </a:t>
            </a:r>
            <a:r>
              <a:rPr dirty="0" err="1"/>
              <a:t>ce</a:t>
            </a:r>
            <a:r>
              <a:rPr dirty="0"/>
              <a:t> </a:t>
            </a:r>
            <a:r>
              <a:rPr dirty="0" err="1"/>
              <a:t>qu</a:t>
            </a:r>
            <a:r>
              <a:rPr lang="fr-BE" dirty="0"/>
              <a:t>'</a:t>
            </a:r>
            <a:r>
              <a:rPr dirty="0"/>
              <a:t>il </a:t>
            </a:r>
            <a:r>
              <a:rPr dirty="0" err="1"/>
              <a:t>couvre</a:t>
            </a:r>
            <a:r>
              <a:rPr dirty="0"/>
              <a:t>, </a:t>
            </a:r>
            <a:r>
              <a:rPr dirty="0" err="1"/>
              <a:t>ce</a:t>
            </a:r>
            <a:r>
              <a:rPr dirty="0"/>
              <a:t> </a:t>
            </a:r>
            <a:r>
              <a:rPr dirty="0" err="1"/>
              <a:t>que</a:t>
            </a:r>
            <a:r>
              <a:rPr dirty="0"/>
              <a:t> vous </a:t>
            </a:r>
            <a:r>
              <a:rPr dirty="0" err="1"/>
              <a:t>devrez</a:t>
            </a:r>
            <a:r>
              <a:rPr dirty="0"/>
              <a:t> savoir faire au </a:t>
            </a:r>
            <a:r>
              <a:rPr dirty="0" err="1"/>
              <a:t>terme</a:t>
            </a:r>
            <a:r>
              <a:rPr dirty="0"/>
              <a:t> de l</a:t>
            </a:r>
            <a:r>
              <a:rPr lang="fr-BE" dirty="0"/>
              <a:t>'</a:t>
            </a:r>
            <a:r>
              <a:rPr dirty="0" err="1"/>
              <a:t>année</a:t>
            </a:r>
            <a:r>
              <a:rPr dirty="0"/>
              <a:t>, comment il s</a:t>
            </a:r>
            <a:r>
              <a:rPr lang="fr-BE" dirty="0"/>
              <a:t>'</a:t>
            </a:r>
            <a:r>
              <a:rPr dirty="0" err="1"/>
              <a:t>organise</a:t>
            </a:r>
            <a:r>
              <a:rPr dirty="0"/>
              <a:t> et comment il est </a:t>
            </a:r>
            <a:r>
              <a:rPr dirty="0" err="1"/>
              <a:t>évalué</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90A3CE4-6862-344E-BAF9-BD23A3F04A8C}" type="slidenum">
              <a:rPr lang="fr-FR" smtClean="0"/>
              <a:t>4</a:t>
            </a:fld>
            <a:endParaRPr lang="fr-FR"/>
          </a:p>
        </p:txBody>
      </p:sp>
    </p:spTree>
    <p:extLst>
      <p:ext uri="{BB962C8B-B14F-4D97-AF65-F5344CB8AC3E}">
        <p14:creationId xmlns:p14="http://schemas.microsoft.com/office/powerpoint/2010/main" val="385299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 </a:t>
            </a:r>
            <a:r>
              <a:rPr dirty="0" err="1"/>
              <a:t>cours</a:t>
            </a:r>
            <a:r>
              <a:rPr dirty="0"/>
              <a:t> </a:t>
            </a:r>
            <a:r>
              <a:rPr dirty="0" err="1"/>
              <a:t>approfondit</a:t>
            </a:r>
            <a:r>
              <a:rPr dirty="0"/>
              <a:t> et met </a:t>
            </a:r>
            <a:r>
              <a:rPr dirty="0" err="1"/>
              <a:t>en</a:t>
            </a:r>
            <a:r>
              <a:rPr dirty="0"/>
              <a:t> pratique </a:t>
            </a:r>
            <a:r>
              <a:rPr dirty="0" err="1"/>
              <a:t>ce</a:t>
            </a:r>
            <a:r>
              <a:rPr dirty="0"/>
              <a:t> </a:t>
            </a:r>
            <a:r>
              <a:rPr dirty="0" err="1"/>
              <a:t>que</a:t>
            </a:r>
            <a:r>
              <a:rPr dirty="0"/>
              <a:t> vous </a:t>
            </a:r>
            <a:r>
              <a:rPr dirty="0" err="1"/>
              <a:t>avez</a:t>
            </a:r>
            <a:r>
              <a:rPr dirty="0"/>
              <a:t> vu </a:t>
            </a:r>
            <a:r>
              <a:rPr dirty="0" err="1"/>
              <a:t>en</a:t>
            </a:r>
            <a:r>
              <a:rPr dirty="0"/>
              <a:t> C#. Il </a:t>
            </a:r>
            <a:r>
              <a:rPr dirty="0" err="1"/>
              <a:t>aborde</a:t>
            </a:r>
            <a:r>
              <a:rPr dirty="0"/>
              <a:t> des concepts plus </a:t>
            </a:r>
            <a:r>
              <a:rPr dirty="0" err="1"/>
              <a:t>avancés</a:t>
            </a:r>
            <a:r>
              <a:rPr dirty="0"/>
              <a:t> de la </a:t>
            </a:r>
            <a:r>
              <a:rPr dirty="0" err="1"/>
              <a:t>programmation</a:t>
            </a:r>
            <a:r>
              <a:rPr dirty="0"/>
              <a:t> </a:t>
            </a:r>
            <a:r>
              <a:rPr dirty="0" err="1"/>
              <a:t>orientée</a:t>
            </a:r>
            <a:r>
              <a:rPr dirty="0"/>
              <a:t> </a:t>
            </a:r>
            <a:r>
              <a:rPr dirty="0" err="1"/>
              <a:t>objet</a:t>
            </a:r>
            <a:r>
              <a:rPr dirty="0"/>
              <a:t>, </a:t>
            </a:r>
            <a:r>
              <a:rPr dirty="0" err="1"/>
              <a:t>comme</a:t>
            </a:r>
            <a:r>
              <a:rPr dirty="0"/>
              <a:t> l</a:t>
            </a:r>
            <a:r>
              <a:rPr lang="fr-BE" dirty="0"/>
              <a:t>'</a:t>
            </a:r>
            <a:r>
              <a:rPr dirty="0" err="1"/>
              <a:t>héritage</a:t>
            </a:r>
            <a:r>
              <a:rPr dirty="0"/>
              <a:t>, les types </a:t>
            </a:r>
            <a:r>
              <a:rPr dirty="0" err="1"/>
              <a:t>génériques</a:t>
            </a:r>
            <a:r>
              <a:rPr dirty="0"/>
              <a:t> et les expressions lambda, </a:t>
            </a:r>
            <a:r>
              <a:rPr dirty="0" err="1"/>
              <a:t>quelques</a:t>
            </a:r>
            <a:r>
              <a:rPr dirty="0"/>
              <a:t> classes de la bibliothèque standard de Java, et </a:t>
            </a:r>
            <a:r>
              <a:rPr dirty="0" err="1"/>
              <a:t>quelques</a:t>
            </a:r>
            <a:r>
              <a:rPr dirty="0"/>
              <a:t> </a:t>
            </a:r>
            <a:r>
              <a:rPr dirty="0" err="1"/>
              <a:t>outils</a:t>
            </a:r>
            <a:r>
              <a:rPr dirty="0"/>
              <a:t>, </a:t>
            </a:r>
            <a:r>
              <a:rPr dirty="0" err="1"/>
              <a:t>dont</a:t>
            </a:r>
            <a:r>
              <a:rPr dirty="0"/>
              <a:t> JUnit pour les tests et JavaFX pour les interfaces </a:t>
            </a:r>
            <a:r>
              <a:rPr dirty="0" err="1"/>
              <a:t>graphiques</a:t>
            </a:r>
            <a:r>
              <a:rPr dirty="0"/>
              <a:t>.</a:t>
            </a:r>
          </a:p>
          <a:p>
            <a:r>
              <a:rPr dirty="0" err="1"/>
              <a:t>Chaque</a:t>
            </a:r>
            <a:r>
              <a:rPr dirty="0"/>
              <a:t> notion est </a:t>
            </a:r>
            <a:r>
              <a:rPr dirty="0" err="1"/>
              <a:t>expliquée</a:t>
            </a:r>
            <a:r>
              <a:rPr dirty="0"/>
              <a:t>, </a:t>
            </a:r>
            <a:r>
              <a:rPr dirty="0" err="1"/>
              <a:t>puis</a:t>
            </a:r>
            <a:r>
              <a:rPr dirty="0"/>
              <a:t> </a:t>
            </a:r>
            <a:r>
              <a:rPr dirty="0" err="1"/>
              <a:t>pratiquée</a:t>
            </a:r>
            <a:r>
              <a:rPr dirty="0"/>
              <a:t> au travers d</a:t>
            </a:r>
            <a:r>
              <a:rPr lang="fr-BE" dirty="0"/>
              <a:t>'</a:t>
            </a:r>
            <a:r>
              <a:rPr dirty="0" err="1"/>
              <a:t>exercices</a:t>
            </a:r>
            <a:r>
              <a:rPr dirty="0"/>
              <a:t>. Le travail personnel entre les séances est indispensable : c</a:t>
            </a:r>
            <a:r>
              <a:rPr lang="fr-BE" dirty="0"/>
              <a:t>'</a:t>
            </a:r>
            <a:r>
              <a:rPr dirty="0"/>
              <a:t>est </a:t>
            </a:r>
            <a:r>
              <a:rPr dirty="0" err="1"/>
              <a:t>lui</a:t>
            </a:r>
            <a:r>
              <a:rPr dirty="0"/>
              <a:t> qui </a:t>
            </a:r>
            <a:r>
              <a:rPr dirty="0" err="1"/>
              <a:t>permet</a:t>
            </a:r>
            <a:r>
              <a:rPr dirty="0"/>
              <a:t> d</a:t>
            </a:r>
            <a:r>
              <a:rPr lang="fr-BE" dirty="0"/>
              <a:t>'</a:t>
            </a:r>
            <a:r>
              <a:rPr dirty="0" err="1"/>
              <a:t>assimiler</a:t>
            </a:r>
            <a:r>
              <a:rPr dirty="0"/>
              <a:t> </a:t>
            </a:r>
            <a:r>
              <a:rPr dirty="0" err="1"/>
              <a:t>ce</a:t>
            </a:r>
            <a:r>
              <a:rPr dirty="0"/>
              <a:t> qui a </a:t>
            </a:r>
            <a:r>
              <a:rPr dirty="0" err="1"/>
              <a:t>été</a:t>
            </a:r>
            <a:r>
              <a:rPr dirty="0"/>
              <a:t> vu au </a:t>
            </a:r>
            <a:r>
              <a:rPr dirty="0" err="1"/>
              <a:t>cours</a:t>
            </a:r>
            <a:r>
              <a:rPr dirty="0"/>
              <a:t>. Si vous </a:t>
            </a:r>
            <a:r>
              <a:rPr dirty="0" err="1"/>
              <a:t>rencontrez</a:t>
            </a:r>
            <a:r>
              <a:rPr dirty="0"/>
              <a:t> </a:t>
            </a:r>
            <a:r>
              <a:rPr dirty="0" err="1"/>
              <a:t>une</a:t>
            </a:r>
            <a:r>
              <a:rPr dirty="0"/>
              <a:t> </a:t>
            </a:r>
            <a:r>
              <a:rPr dirty="0" err="1"/>
              <a:t>difficulté</a:t>
            </a:r>
            <a:r>
              <a:rPr dirty="0"/>
              <a:t>, </a:t>
            </a:r>
            <a:r>
              <a:rPr dirty="0" err="1"/>
              <a:t>signalez</a:t>
            </a:r>
            <a:r>
              <a:rPr dirty="0"/>
              <a:t>-la </a:t>
            </a:r>
            <a:r>
              <a:rPr dirty="0" err="1"/>
              <a:t>tôt</a:t>
            </a:r>
            <a:r>
              <a:rPr dirty="0"/>
              <a:t> </a:t>
            </a:r>
            <a:r>
              <a:rPr dirty="0" err="1"/>
              <a:t>plutôt</a:t>
            </a:r>
            <a:r>
              <a:rPr dirty="0"/>
              <a:t> </a:t>
            </a:r>
            <a:r>
              <a:rPr dirty="0" err="1"/>
              <a:t>que</a:t>
            </a:r>
            <a:r>
              <a:rPr dirty="0"/>
              <a:t> de la </a:t>
            </a:r>
            <a:r>
              <a:rPr dirty="0" err="1"/>
              <a:t>laisser</a:t>
            </a:r>
            <a:r>
              <a:rPr dirty="0"/>
              <a:t> s</a:t>
            </a:r>
            <a:r>
              <a:rPr lang="fr-BE" dirty="0"/>
              <a:t>'</a:t>
            </a:r>
            <a:r>
              <a:rPr dirty="0"/>
              <a:t>installer.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cours</a:t>
            </a:r>
            <a:r>
              <a:rPr dirty="0"/>
              <a:t> est </a:t>
            </a:r>
            <a:r>
              <a:rPr dirty="0" err="1"/>
              <a:t>découpé</a:t>
            </a:r>
            <a:r>
              <a:rPr dirty="0"/>
              <a:t> </a:t>
            </a:r>
            <a:r>
              <a:rPr dirty="0" err="1"/>
              <a:t>en</a:t>
            </a:r>
            <a:r>
              <a:rPr dirty="0"/>
              <a:t> modules. Chacun </a:t>
            </a:r>
            <a:r>
              <a:rPr dirty="0" err="1"/>
              <a:t>porte</a:t>
            </a:r>
            <a:r>
              <a:rPr dirty="0"/>
              <a:t> un code de trois </a:t>
            </a:r>
            <a:r>
              <a:rPr dirty="0" err="1"/>
              <a:t>lettres</a:t>
            </a:r>
            <a:r>
              <a:rPr dirty="0"/>
              <a:t>, </a:t>
            </a:r>
            <a:r>
              <a:rPr dirty="0" err="1"/>
              <a:t>que</a:t>
            </a:r>
            <a:r>
              <a:rPr dirty="0"/>
              <a:t> vous </a:t>
            </a:r>
            <a:r>
              <a:rPr dirty="0" err="1"/>
              <a:t>retrouverez</a:t>
            </a:r>
            <a:r>
              <a:rPr dirty="0"/>
              <a:t> </a:t>
            </a:r>
            <a:r>
              <a:rPr dirty="0" err="1"/>
              <a:t>partout</a:t>
            </a:r>
            <a:r>
              <a:rPr dirty="0"/>
              <a:t> : sur les slides, dans le nom des </a:t>
            </a:r>
            <a:r>
              <a:rPr dirty="0" err="1"/>
              <a:t>exercices</a:t>
            </a:r>
            <a:r>
              <a:rPr dirty="0"/>
              <a:t>, dans les packages Java et sur Moodle. Le code </a:t>
            </a:r>
            <a:r>
              <a:rPr dirty="0" err="1"/>
              <a:t>désigne</a:t>
            </a:r>
            <a:r>
              <a:rPr dirty="0"/>
              <a:t> le </a:t>
            </a:r>
            <a:r>
              <a:rPr dirty="0" err="1"/>
              <a:t>sujet</a:t>
            </a:r>
            <a:r>
              <a:rPr dirty="0"/>
              <a:t>, pas la séance : un module </a:t>
            </a:r>
            <a:r>
              <a:rPr dirty="0" err="1"/>
              <a:t>peut</a:t>
            </a:r>
            <a:r>
              <a:rPr dirty="0"/>
              <a:t> </a:t>
            </a:r>
            <a:r>
              <a:rPr dirty="0" err="1"/>
              <a:t>occuper</a:t>
            </a:r>
            <a:r>
              <a:rPr dirty="0"/>
              <a:t> </a:t>
            </a:r>
            <a:r>
              <a:rPr dirty="0" err="1"/>
              <a:t>moins</a:t>
            </a:r>
            <a:r>
              <a:rPr dirty="0"/>
              <a:t> d</a:t>
            </a:r>
            <a:r>
              <a:rPr lang="fr-BE" dirty="0"/>
              <a:t>'</a:t>
            </a:r>
            <a:r>
              <a:rPr dirty="0" err="1"/>
              <a:t>une</a:t>
            </a:r>
            <a:r>
              <a:rPr dirty="0"/>
              <a:t> séance, </a:t>
            </a:r>
            <a:r>
              <a:rPr dirty="0" err="1"/>
              <a:t>ou</a:t>
            </a:r>
            <a:r>
              <a:rPr dirty="0"/>
              <a:t> </a:t>
            </a:r>
            <a:r>
              <a:rPr dirty="0" err="1"/>
              <a:t>en</a:t>
            </a:r>
            <a:r>
              <a:rPr dirty="0"/>
              <a:t> </a:t>
            </a:r>
            <a:r>
              <a:rPr dirty="0" err="1"/>
              <a:t>déborder</a:t>
            </a:r>
            <a:r>
              <a:rPr dirty="0"/>
              <a:t>.</a:t>
            </a:r>
          </a:p>
          <a:p>
            <a:r>
              <a:rPr dirty="0"/>
              <a:t>L'ordre présenté ici est indicatif. Il peut évoluer en cours d'année ; Moodle indique, au fil des séances, les modules abordés.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Les acquis d'apprentissage, repris du dossier pédagogique du cours, décrivent ce que vous devez être capable de faire au terme du cours. Ils se regroupent en deux familles.</a:t>
            </a:r>
          </a:p>
          <a:p>
            <a:r>
              <a:rPr dirty="0"/>
              <a:t>La première </a:t>
            </a:r>
            <a:r>
              <a:rPr dirty="0" err="1"/>
              <a:t>porte</a:t>
            </a:r>
            <a:r>
              <a:rPr dirty="0"/>
              <a:t> sur les </a:t>
            </a:r>
            <a:r>
              <a:rPr dirty="0" err="1"/>
              <a:t>objets</a:t>
            </a:r>
            <a:r>
              <a:rPr dirty="0"/>
              <a:t> : </a:t>
            </a:r>
            <a:r>
              <a:rPr dirty="0" err="1"/>
              <a:t>définir</a:t>
            </a:r>
            <a:r>
              <a:rPr dirty="0"/>
              <a:t> et </a:t>
            </a:r>
            <a:r>
              <a:rPr dirty="0" err="1"/>
              <a:t>implémenter</a:t>
            </a:r>
            <a:r>
              <a:rPr dirty="0"/>
              <a:t> des classes, </a:t>
            </a:r>
            <a:r>
              <a:rPr dirty="0" err="1"/>
              <a:t>compléter</a:t>
            </a:r>
            <a:r>
              <a:rPr dirty="0"/>
              <a:t> des classes </a:t>
            </a:r>
            <a:r>
              <a:rPr dirty="0" err="1"/>
              <a:t>écrites</a:t>
            </a:r>
            <a:r>
              <a:rPr dirty="0"/>
              <a:t> par </a:t>
            </a:r>
            <a:r>
              <a:rPr dirty="0" err="1"/>
              <a:t>quelqu</a:t>
            </a:r>
            <a:r>
              <a:rPr lang="fr-BE" dirty="0"/>
              <a:t>'</a:t>
            </a:r>
            <a:r>
              <a:rPr dirty="0"/>
              <a:t>un d</a:t>
            </a:r>
            <a:r>
              <a:rPr lang="fr-BE" dirty="0"/>
              <a:t>'</a:t>
            </a:r>
            <a:r>
              <a:rPr dirty="0" err="1"/>
              <a:t>autre</a:t>
            </a:r>
            <a:r>
              <a:rPr dirty="0"/>
              <a:t>, </a:t>
            </a:r>
            <a:r>
              <a:rPr dirty="0" err="1"/>
              <a:t>utiliser</a:t>
            </a:r>
            <a:r>
              <a:rPr dirty="0"/>
              <a:t> des classes </a:t>
            </a:r>
            <a:r>
              <a:rPr dirty="0" err="1"/>
              <a:t>existantes</a:t>
            </a:r>
            <a:r>
              <a:rPr dirty="0"/>
              <a:t>, </a:t>
            </a:r>
            <a:r>
              <a:rPr dirty="0" err="1"/>
              <a:t>en</a:t>
            </a:r>
            <a:r>
              <a:rPr dirty="0"/>
              <a:t> </a:t>
            </a:r>
            <a:r>
              <a:rPr dirty="0" err="1"/>
              <a:t>dériver</a:t>
            </a:r>
            <a:r>
              <a:rPr dirty="0"/>
              <a:t> de </a:t>
            </a:r>
            <a:r>
              <a:rPr dirty="0" err="1"/>
              <a:t>nouvelles</a:t>
            </a:r>
            <a:r>
              <a:rPr dirty="0"/>
              <a:t> par </a:t>
            </a:r>
            <a:r>
              <a:rPr dirty="0" err="1"/>
              <a:t>héritage</a:t>
            </a:r>
            <a:r>
              <a:rPr dirty="0"/>
              <a:t>, </a:t>
            </a:r>
            <a:r>
              <a:rPr dirty="0" err="1"/>
              <a:t>utiliser</a:t>
            </a:r>
            <a:r>
              <a:rPr dirty="0"/>
              <a:t> les classes du JDK pour </a:t>
            </a:r>
            <a:r>
              <a:rPr dirty="0" err="1"/>
              <a:t>accéder</a:t>
            </a:r>
            <a:r>
              <a:rPr dirty="0"/>
              <a:t> à des </a:t>
            </a:r>
            <a:r>
              <a:rPr dirty="0" err="1"/>
              <a:t>fichiers</a:t>
            </a:r>
            <a:r>
              <a:rPr dirty="0"/>
              <a:t> et pour </a:t>
            </a:r>
            <a:r>
              <a:rPr dirty="0" err="1"/>
              <a:t>réaliser</a:t>
            </a:r>
            <a:r>
              <a:rPr dirty="0"/>
              <a:t> </a:t>
            </a:r>
            <a:r>
              <a:rPr dirty="0" err="1"/>
              <a:t>une</a:t>
            </a:r>
            <a:r>
              <a:rPr dirty="0"/>
              <a:t> interface </a:t>
            </a:r>
            <a:r>
              <a:rPr dirty="0" err="1"/>
              <a:t>graphique</a:t>
            </a:r>
            <a:r>
              <a:rPr dirty="0"/>
              <a:t> simple, et </a:t>
            </a:r>
            <a:r>
              <a:rPr dirty="0" err="1"/>
              <a:t>montrer</a:t>
            </a:r>
            <a:r>
              <a:rPr dirty="0"/>
              <a:t> </a:t>
            </a:r>
            <a:r>
              <a:rPr dirty="0" err="1"/>
              <a:t>que</a:t>
            </a:r>
            <a:r>
              <a:rPr dirty="0"/>
              <a:t> vous </a:t>
            </a:r>
            <a:r>
              <a:rPr dirty="0" err="1"/>
              <a:t>comprenez</a:t>
            </a:r>
            <a:r>
              <a:rPr dirty="0"/>
              <a:t> les expressions lambda.</a:t>
            </a:r>
          </a:p>
          <a:p>
            <a:r>
              <a:rPr dirty="0"/>
              <a:t>La </a:t>
            </a:r>
            <a:r>
              <a:rPr dirty="0" err="1"/>
              <a:t>seconde</a:t>
            </a:r>
            <a:r>
              <a:rPr dirty="0"/>
              <a:t> </a:t>
            </a:r>
            <a:r>
              <a:rPr dirty="0" err="1"/>
              <a:t>porte</a:t>
            </a:r>
            <a:r>
              <a:rPr dirty="0"/>
              <a:t> sur les tests : </a:t>
            </a:r>
            <a:r>
              <a:rPr dirty="0" err="1"/>
              <a:t>écrire</a:t>
            </a:r>
            <a:r>
              <a:rPr dirty="0"/>
              <a:t> des classes de test simples avec JUnit, à </a:t>
            </a:r>
            <a:r>
              <a:rPr dirty="0" err="1"/>
              <a:t>partir</a:t>
            </a:r>
            <a:r>
              <a:rPr dirty="0"/>
              <a:t> d</a:t>
            </a:r>
            <a:r>
              <a:rPr lang="fr-BE" dirty="0"/>
              <a:t>'</a:t>
            </a:r>
            <a:r>
              <a:rPr dirty="0" err="1"/>
              <a:t>une</a:t>
            </a:r>
            <a:r>
              <a:rPr dirty="0"/>
              <a:t> </a:t>
            </a:r>
            <a:r>
              <a:rPr dirty="0" err="1"/>
              <a:t>classe</a:t>
            </a:r>
            <a:r>
              <a:rPr dirty="0"/>
              <a:t> </a:t>
            </a:r>
            <a:r>
              <a:rPr dirty="0" err="1"/>
              <a:t>existante</a:t>
            </a:r>
            <a:r>
              <a:rPr dirty="0"/>
              <a:t> </a:t>
            </a:r>
            <a:r>
              <a:rPr dirty="0" err="1"/>
              <a:t>ou</a:t>
            </a:r>
            <a:r>
              <a:rPr dirty="0"/>
              <a:t> de </a:t>
            </a:r>
            <a:r>
              <a:rPr dirty="0" err="1"/>
              <a:t>spécifications</a:t>
            </a:r>
            <a:r>
              <a:rPr dirty="0"/>
              <a:t>, et </a:t>
            </a:r>
            <a:r>
              <a:rPr dirty="0" err="1"/>
              <a:t>utiliser</a:t>
            </a:r>
            <a:r>
              <a:rPr dirty="0"/>
              <a:t> </a:t>
            </a:r>
            <a:r>
              <a:rPr dirty="0" err="1"/>
              <a:t>une</a:t>
            </a:r>
            <a:r>
              <a:rPr dirty="0"/>
              <a:t> batterie de tests </a:t>
            </a:r>
            <a:r>
              <a:rPr dirty="0" err="1"/>
              <a:t>écrite</a:t>
            </a:r>
            <a:r>
              <a:rPr dirty="0"/>
              <a:t> par un tiers pour </a:t>
            </a:r>
            <a:r>
              <a:rPr dirty="0" err="1"/>
              <a:t>repérer</a:t>
            </a:r>
            <a:r>
              <a:rPr dirty="0"/>
              <a:t> et </a:t>
            </a:r>
            <a:r>
              <a:rPr dirty="0" err="1"/>
              <a:t>corriger</a:t>
            </a:r>
            <a:r>
              <a:rPr dirty="0"/>
              <a:t> des </a:t>
            </a:r>
            <a:r>
              <a:rPr dirty="0" err="1"/>
              <a:t>erreurs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Concrètement</a:t>
            </a:r>
            <a:r>
              <a:rPr dirty="0"/>
              <a:t>, vous </a:t>
            </a:r>
            <a:r>
              <a:rPr dirty="0" err="1"/>
              <a:t>devez</a:t>
            </a:r>
            <a:r>
              <a:rPr dirty="0"/>
              <a:t> </a:t>
            </a:r>
            <a:r>
              <a:rPr dirty="0" err="1"/>
              <a:t>pouvoir</a:t>
            </a:r>
            <a:r>
              <a:rPr dirty="0"/>
              <a:t> </a:t>
            </a:r>
            <a:r>
              <a:rPr dirty="0" err="1"/>
              <a:t>concevoir</a:t>
            </a:r>
            <a:r>
              <a:rPr dirty="0"/>
              <a:t> des classes et les </a:t>
            </a:r>
            <a:r>
              <a:rPr dirty="0" err="1"/>
              <a:t>utiliser</a:t>
            </a:r>
            <a:r>
              <a:rPr dirty="0"/>
              <a:t>, employer l</a:t>
            </a:r>
            <a:r>
              <a:rPr lang="fr-BE" dirty="0"/>
              <a:t>'</a:t>
            </a:r>
            <a:r>
              <a:rPr dirty="0" err="1"/>
              <a:t>héritage</a:t>
            </a:r>
            <a:r>
              <a:rPr dirty="0"/>
              <a:t> à bon </a:t>
            </a:r>
            <a:r>
              <a:rPr dirty="0" err="1"/>
              <a:t>escient</a:t>
            </a:r>
            <a:r>
              <a:rPr dirty="0"/>
              <a:t>, </a:t>
            </a:r>
            <a:r>
              <a:rPr dirty="0" err="1"/>
              <a:t>écrire</a:t>
            </a:r>
            <a:r>
              <a:rPr dirty="0"/>
              <a:t> et </a:t>
            </a:r>
            <a:r>
              <a:rPr dirty="0" err="1"/>
              <a:t>exécuter</a:t>
            </a:r>
            <a:r>
              <a:rPr dirty="0"/>
              <a:t> des tests qui </a:t>
            </a:r>
            <a:r>
              <a:rPr dirty="0" err="1"/>
              <a:t>vérifient</a:t>
            </a:r>
            <a:r>
              <a:rPr dirty="0"/>
              <a:t> </a:t>
            </a:r>
            <a:r>
              <a:rPr dirty="0" err="1"/>
              <a:t>qu</a:t>
            </a:r>
            <a:r>
              <a:rPr lang="fr-BE" dirty="0"/>
              <a:t>'</a:t>
            </a:r>
            <a:r>
              <a:rPr dirty="0" err="1"/>
              <a:t>une</a:t>
            </a:r>
            <a:r>
              <a:rPr dirty="0"/>
              <a:t> </a:t>
            </a:r>
            <a:r>
              <a:rPr dirty="0" err="1"/>
              <a:t>classe</a:t>
            </a:r>
            <a:r>
              <a:rPr dirty="0"/>
              <a:t> </a:t>
            </a:r>
            <a:r>
              <a:rPr dirty="0" err="1"/>
              <a:t>fonctionne</a:t>
            </a:r>
            <a:r>
              <a:rPr dirty="0"/>
              <a:t>, et </a:t>
            </a:r>
            <a:r>
              <a:rPr dirty="0" err="1"/>
              <a:t>utiliser</a:t>
            </a:r>
            <a:r>
              <a:rPr dirty="0"/>
              <a:t> les classes du JDK </a:t>
            </a:r>
            <a:r>
              <a:rPr dirty="0" err="1"/>
              <a:t>vues</a:t>
            </a:r>
            <a:r>
              <a:rPr dirty="0"/>
              <a:t> au </a:t>
            </a:r>
            <a:r>
              <a:rPr dirty="0" err="1"/>
              <a:t>cours</a:t>
            </a:r>
            <a:r>
              <a:rPr dirty="0"/>
              <a:t> : </a:t>
            </a:r>
            <a:r>
              <a:rPr dirty="0" err="1"/>
              <a:t>fichiers</a:t>
            </a:r>
            <a:r>
              <a:rPr dirty="0"/>
              <a:t>, collections, exceptions et </a:t>
            </a:r>
            <a:r>
              <a:rPr dirty="0" err="1"/>
              <a:t>événements</a:t>
            </a:r>
            <a:r>
              <a:rPr dirty="0"/>
              <a:t>. Les deux premiers points </a:t>
            </a:r>
            <a:r>
              <a:rPr dirty="0" err="1"/>
              <a:t>prolongent</a:t>
            </a:r>
            <a:r>
              <a:rPr dirty="0"/>
              <a:t> </a:t>
            </a:r>
            <a:r>
              <a:rPr dirty="0" err="1"/>
              <a:t>ce</a:t>
            </a:r>
            <a:r>
              <a:rPr dirty="0"/>
              <a:t> </a:t>
            </a:r>
            <a:r>
              <a:rPr dirty="0" err="1"/>
              <a:t>que</a:t>
            </a:r>
            <a:r>
              <a:rPr dirty="0"/>
              <a:t> vous </a:t>
            </a:r>
            <a:r>
              <a:rPr dirty="0" err="1"/>
              <a:t>connaissez</a:t>
            </a:r>
            <a:r>
              <a:rPr dirty="0"/>
              <a:t> déjà </a:t>
            </a:r>
            <a:r>
              <a:rPr dirty="0" err="1"/>
              <a:t>en</a:t>
            </a:r>
            <a:r>
              <a:rPr dirty="0"/>
              <a:t> 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 cours compte quatorze séances, du 19 janvier au 18 mai 2027. Chaque séance commence à 18 h 00 et se termine au plus tard à 21 h 35, avec une pause de quinze minutes, et alterne théorie, démonstration et exercices. L'examen a lieu le 8 juin 2027.</a:t>
            </a:r>
          </a:p>
          <a:p>
            <a:r>
              <a:rPr dirty="0"/>
              <a:t>Vous </a:t>
            </a:r>
            <a:r>
              <a:rPr dirty="0" err="1"/>
              <a:t>travaillerez</a:t>
            </a:r>
            <a:r>
              <a:rPr dirty="0"/>
              <a:t> avec Java et l</a:t>
            </a:r>
            <a:r>
              <a:rPr lang="fr-BE" dirty="0"/>
              <a:t>'</a:t>
            </a:r>
            <a:r>
              <a:rPr dirty="0" err="1"/>
              <a:t>environnement</a:t>
            </a:r>
            <a:r>
              <a:rPr dirty="0"/>
              <a:t> de </a:t>
            </a:r>
            <a:r>
              <a:rPr dirty="0" err="1"/>
              <a:t>développement</a:t>
            </a:r>
            <a:r>
              <a:rPr dirty="0"/>
              <a:t> IntelliJ IDEA. Maven </a:t>
            </a:r>
            <a:r>
              <a:rPr dirty="0" err="1"/>
              <a:t>gère</a:t>
            </a:r>
            <a:r>
              <a:rPr dirty="0"/>
              <a:t> la structure des </a:t>
            </a:r>
            <a:r>
              <a:rPr dirty="0" err="1"/>
              <a:t>projets</a:t>
            </a:r>
            <a:r>
              <a:rPr dirty="0"/>
              <a:t> et les bibliothèques, JUnit </a:t>
            </a:r>
            <a:r>
              <a:rPr dirty="0" err="1"/>
              <a:t>sert</a:t>
            </a:r>
            <a:r>
              <a:rPr dirty="0"/>
              <a:t> aux tests et JavaFX aux interfaces </a:t>
            </a:r>
            <a:r>
              <a:rPr dirty="0" err="1"/>
              <a:t>graphiques</a:t>
            </a:r>
            <a:r>
              <a:rPr dirty="0"/>
              <a:t>. Les versions à </a:t>
            </a:r>
            <a:r>
              <a:rPr dirty="0" err="1"/>
              <a:t>utiliser</a:t>
            </a:r>
            <a:r>
              <a:rPr dirty="0"/>
              <a:t> </a:t>
            </a:r>
            <a:r>
              <a:rPr dirty="0" err="1"/>
              <a:t>sont</a:t>
            </a:r>
            <a:r>
              <a:rPr dirty="0"/>
              <a:t> </a:t>
            </a:r>
            <a:r>
              <a:rPr dirty="0" err="1"/>
              <a:t>annoncées</a:t>
            </a:r>
            <a:r>
              <a:rPr dirty="0"/>
              <a:t> sur Moodle : </a:t>
            </a:r>
            <a:r>
              <a:rPr dirty="0" err="1"/>
              <a:t>travaillez</a:t>
            </a:r>
            <a:r>
              <a:rPr dirty="0"/>
              <a:t> avec </a:t>
            </a:r>
            <a:r>
              <a:rPr dirty="0" err="1"/>
              <a:t>celles-là</a:t>
            </a:r>
            <a:r>
              <a:rPr dirty="0"/>
              <a:t> toute l</a:t>
            </a:r>
            <a:r>
              <a:rPr lang="fr-BE" dirty="0"/>
              <a:t>'</a:t>
            </a:r>
            <a:r>
              <a:rPr dirty="0" err="1"/>
              <a:t>année</a:t>
            </a:r>
            <a:r>
              <a:rPr dirty="0"/>
              <a:t>, </a:t>
            </a:r>
            <a:r>
              <a:rPr dirty="0" err="1"/>
              <a:t>ce</a:t>
            </a:r>
            <a:r>
              <a:rPr dirty="0"/>
              <a:t> </a:t>
            </a:r>
            <a:r>
              <a:rPr dirty="0" err="1"/>
              <a:t>sont</a:t>
            </a:r>
            <a:r>
              <a:rPr dirty="0"/>
              <a:t> </a:t>
            </a:r>
            <a:r>
              <a:rPr dirty="0" err="1"/>
              <a:t>celles</a:t>
            </a:r>
            <a:r>
              <a:rPr dirty="0"/>
              <a:t> de l</a:t>
            </a:r>
            <a:r>
              <a:rPr lang="fr-BE" dirty="0"/>
              <a:t>'</a:t>
            </a:r>
            <a:r>
              <a:rPr dirty="0"/>
              <a:t>examen.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message vient de la direction de l'EPHEC : je le lis tel quel. Au-delà de 40 % d'absences injustifiées dans une unité d'enseignement, l'étudiant est désinscrit automatiquement du cours, et n'est pas admis à l'examen.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t>
            </a:r>
            <a:r>
              <a:rPr lang="fr-BE" dirty="0"/>
              <a:t>'</a:t>
            </a:r>
            <a:r>
              <a:rPr dirty="0"/>
              <a:t>examen se </a:t>
            </a:r>
            <a:r>
              <a:rPr dirty="0" err="1"/>
              <a:t>déroule</a:t>
            </a:r>
            <a:r>
              <a:rPr dirty="0"/>
              <a:t> à cahier </a:t>
            </a:r>
            <a:r>
              <a:rPr dirty="0" err="1"/>
              <a:t>ouvert</a:t>
            </a:r>
            <a:r>
              <a:rPr dirty="0"/>
              <a:t> : il ne </a:t>
            </a:r>
            <a:r>
              <a:rPr dirty="0" err="1"/>
              <a:t>demande</a:t>
            </a:r>
            <a:r>
              <a:rPr dirty="0"/>
              <a:t> pas de par </a:t>
            </a:r>
            <a:r>
              <a:rPr dirty="0" err="1"/>
              <a:t>cœur</a:t>
            </a:r>
            <a:r>
              <a:rPr dirty="0"/>
              <a:t>, </a:t>
            </a:r>
            <a:r>
              <a:rPr dirty="0" err="1"/>
              <a:t>mais</a:t>
            </a:r>
            <a:r>
              <a:rPr dirty="0"/>
              <a:t> la </a:t>
            </a:r>
            <a:r>
              <a:rPr dirty="0" err="1"/>
              <a:t>capacité</a:t>
            </a:r>
            <a:r>
              <a:rPr dirty="0"/>
              <a:t> à </a:t>
            </a:r>
            <a:r>
              <a:rPr dirty="0" err="1"/>
              <a:t>écrire</a:t>
            </a:r>
            <a:r>
              <a:rPr dirty="0"/>
              <a:t> du code qui </a:t>
            </a:r>
            <a:r>
              <a:rPr dirty="0" err="1"/>
              <a:t>fonctionne</a:t>
            </a:r>
            <a:r>
              <a:rPr dirty="0"/>
              <a:t>. Il se passe sur machine et dure deux </a:t>
            </a:r>
            <a:r>
              <a:rPr dirty="0" err="1"/>
              <a:t>heures</a:t>
            </a:r>
            <a:r>
              <a:rPr dirty="0"/>
              <a:t> </a:t>
            </a:r>
            <a:r>
              <a:rPr dirty="0" err="1"/>
              <a:t>trente</a:t>
            </a:r>
            <a:r>
              <a:rPr dirty="0"/>
              <a:t>.</a:t>
            </a:r>
          </a:p>
          <a:p>
            <a:r>
              <a:rPr lang="fr-BE" dirty="0"/>
              <a:t>Il compte cinq ou six questions, dont la forme reste stable d'une session à l'autre : écrire une classe simple qui lève une exception, écrire un type générique, écrire et exécuter une classe de tests pour une classe donnée, écrire une hiérarchie d'interfaces et de classes, et compléter une application graphique pour qu'elle fonctionne. Une sixième question est possible ; son existence et son sujet vous seront confirmés en cours d'année.</a:t>
            </a:r>
          </a:p>
          <a:p>
            <a:r>
              <a:rPr dirty="0" err="1"/>
              <a:t>Chaque</a:t>
            </a:r>
            <a:r>
              <a:rPr dirty="0"/>
              <a:t> question correspond à un </a:t>
            </a:r>
            <a:r>
              <a:rPr dirty="0" err="1"/>
              <a:t>ou</a:t>
            </a:r>
            <a:r>
              <a:rPr dirty="0"/>
              <a:t> </a:t>
            </a:r>
            <a:r>
              <a:rPr dirty="0" err="1"/>
              <a:t>plusieurs</a:t>
            </a:r>
            <a:r>
              <a:rPr dirty="0"/>
              <a:t> modules. Les </a:t>
            </a:r>
            <a:r>
              <a:rPr dirty="0" err="1"/>
              <a:t>exercices</a:t>
            </a:r>
            <a:r>
              <a:rPr dirty="0"/>
              <a:t> </a:t>
            </a:r>
            <a:r>
              <a:rPr dirty="0" err="1"/>
              <a:t>récapitulatifs</a:t>
            </a:r>
            <a:r>
              <a:rPr dirty="0"/>
              <a:t> de fin d</a:t>
            </a:r>
            <a:r>
              <a:rPr lang="fr-BE" dirty="0"/>
              <a:t>'</a:t>
            </a:r>
            <a:r>
              <a:rPr dirty="0" err="1"/>
              <a:t>année</a:t>
            </a:r>
            <a:r>
              <a:rPr dirty="0"/>
              <a:t> </a:t>
            </a:r>
            <a:r>
              <a:rPr dirty="0" err="1"/>
              <a:t>en</a:t>
            </a:r>
            <a:r>
              <a:rPr dirty="0"/>
              <a:t> </a:t>
            </a:r>
            <a:r>
              <a:rPr dirty="0" err="1"/>
              <a:t>reprennent</a:t>
            </a:r>
            <a:r>
              <a:rPr dirty="0"/>
              <a:t> la structure.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Cette section </a:t>
            </a:r>
            <a:r>
              <a:rPr dirty="0" err="1"/>
              <a:t>explique</a:t>
            </a:r>
            <a:r>
              <a:rPr dirty="0"/>
              <a:t> comment les supports du </a:t>
            </a:r>
            <a:r>
              <a:rPr dirty="0" err="1"/>
              <a:t>cours</a:t>
            </a:r>
            <a:r>
              <a:rPr dirty="0"/>
              <a:t> s</a:t>
            </a:r>
            <a:r>
              <a:rPr lang="fr-BE" dirty="0"/>
              <a:t>'</a:t>
            </a:r>
            <a:r>
              <a:rPr dirty="0" err="1"/>
              <a:t>articulent</a:t>
            </a:r>
            <a:r>
              <a:rPr dirty="0"/>
              <a:t>, et </a:t>
            </a:r>
            <a:r>
              <a:rPr dirty="0" err="1"/>
              <a:t>ce</a:t>
            </a:r>
            <a:r>
              <a:rPr dirty="0"/>
              <a:t> </a:t>
            </a:r>
            <a:r>
              <a:rPr dirty="0" err="1"/>
              <a:t>qu</a:t>
            </a:r>
            <a:r>
              <a:rPr lang="fr-BE" dirty="0"/>
              <a:t>'</a:t>
            </a:r>
            <a:r>
              <a:rPr dirty="0"/>
              <a:t>on attend de vous entre deux séances.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module suit </a:t>
            </a:r>
            <a:r>
              <a:rPr dirty="0" err="1"/>
              <a:t>toujours</a:t>
            </a:r>
            <a:r>
              <a:rPr dirty="0"/>
              <a:t> le </a:t>
            </a:r>
            <a:r>
              <a:rPr dirty="0" err="1"/>
              <a:t>même</a:t>
            </a:r>
            <a:r>
              <a:rPr dirty="0"/>
              <a:t> chemin. Les slides </a:t>
            </a:r>
            <a:r>
              <a:rPr dirty="0" err="1"/>
              <a:t>posent</a:t>
            </a:r>
            <a:r>
              <a:rPr dirty="0"/>
              <a:t> les notions. Une </a:t>
            </a:r>
            <a:r>
              <a:rPr dirty="0" err="1"/>
              <a:t>démonstration</a:t>
            </a:r>
            <a:r>
              <a:rPr dirty="0"/>
              <a:t> les met </a:t>
            </a:r>
            <a:r>
              <a:rPr dirty="0" err="1"/>
              <a:t>en</a:t>
            </a:r>
            <a:r>
              <a:rPr dirty="0"/>
              <a:t> </a:t>
            </a:r>
            <a:r>
              <a:rPr dirty="0" err="1"/>
              <a:t>pratique</a:t>
            </a:r>
            <a:r>
              <a:rPr dirty="0"/>
              <a:t> </a:t>
            </a:r>
            <a:r>
              <a:rPr dirty="0" err="1"/>
              <a:t>devant</a:t>
            </a:r>
            <a:r>
              <a:rPr dirty="0"/>
              <a:t> vous, dans IntelliJ. Vous </a:t>
            </a:r>
            <a:r>
              <a:rPr dirty="0" err="1"/>
              <a:t>pratiquez</a:t>
            </a:r>
            <a:r>
              <a:rPr dirty="0"/>
              <a:t> ensuite avec les </a:t>
            </a:r>
            <a:r>
              <a:rPr dirty="0" err="1"/>
              <a:t>exercices</a:t>
            </a:r>
            <a:r>
              <a:rPr dirty="0"/>
              <a:t> du fascicule, </a:t>
            </a:r>
            <a:r>
              <a:rPr dirty="0" err="1"/>
              <a:t>puis</a:t>
            </a:r>
            <a:r>
              <a:rPr dirty="0"/>
              <a:t> vous faites </a:t>
            </a:r>
            <a:r>
              <a:rPr dirty="0" err="1"/>
              <a:t>avancer</a:t>
            </a:r>
            <a:r>
              <a:rPr dirty="0"/>
              <a:t> </a:t>
            </a:r>
            <a:r>
              <a:rPr dirty="0" err="1"/>
              <a:t>GameHub</a:t>
            </a:r>
            <a:r>
              <a:rPr dirty="0"/>
              <a:t>, le </a:t>
            </a:r>
            <a:r>
              <a:rPr dirty="0" err="1"/>
              <a:t>projet</a:t>
            </a:r>
            <a:r>
              <a:rPr dirty="0"/>
              <a:t> qui traverse toute l</a:t>
            </a:r>
            <a:r>
              <a:rPr lang="fr-BE" dirty="0"/>
              <a:t>'</a:t>
            </a:r>
            <a:r>
              <a:rPr dirty="0" err="1"/>
              <a:t>année</a:t>
            </a:r>
            <a:r>
              <a:rPr dirty="0"/>
              <a:t>.</a:t>
            </a:r>
          </a:p>
          <a:p>
            <a:r>
              <a:rPr dirty="0"/>
              <a:t>Les slides ne </a:t>
            </a:r>
            <a:r>
              <a:rPr dirty="0" err="1"/>
              <a:t>contiennent</a:t>
            </a:r>
            <a:r>
              <a:rPr dirty="0"/>
              <a:t> pas les </a:t>
            </a:r>
            <a:r>
              <a:rPr dirty="0" err="1"/>
              <a:t>énoncés</a:t>
            </a:r>
            <a:r>
              <a:rPr dirty="0"/>
              <a:t>. Une slide de renvoi </a:t>
            </a:r>
            <a:r>
              <a:rPr dirty="0" err="1"/>
              <a:t>indique</a:t>
            </a:r>
            <a:r>
              <a:rPr dirty="0"/>
              <a:t> le code des </a:t>
            </a:r>
            <a:r>
              <a:rPr dirty="0" err="1"/>
              <a:t>exercices</a:t>
            </a:r>
            <a:r>
              <a:rPr dirty="0"/>
              <a:t> à faire, par </a:t>
            </a:r>
            <a:r>
              <a:rPr dirty="0" err="1"/>
              <a:t>exemple</a:t>
            </a:r>
            <a:r>
              <a:rPr dirty="0"/>
              <a:t> </a:t>
            </a:r>
            <a:r>
              <a:rPr dirty="0">
                <a:latin typeface="Consolas"/>
              </a:rPr>
              <a:t>POO.1</a:t>
            </a:r>
            <a:r>
              <a:rPr dirty="0"/>
              <a:t>, et l</a:t>
            </a:r>
            <a:r>
              <a:rPr lang="fr-BE" dirty="0"/>
              <a:t>'</a:t>
            </a:r>
            <a:r>
              <a:rPr dirty="0" err="1"/>
              <a:t>énoncé</a:t>
            </a:r>
            <a:r>
              <a:rPr dirty="0"/>
              <a:t> </a:t>
            </a:r>
            <a:r>
              <a:rPr dirty="0" err="1"/>
              <a:t>complet</a:t>
            </a:r>
            <a:r>
              <a:rPr dirty="0"/>
              <a:t> se </a:t>
            </a:r>
            <a:r>
              <a:rPr dirty="0" err="1"/>
              <a:t>trouve</a:t>
            </a:r>
            <a:r>
              <a:rPr dirty="0"/>
              <a:t> dans le fascicule.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Chaque</a:t>
            </a:r>
            <a:r>
              <a:rPr dirty="0"/>
              <a:t> module a son fascicule d</a:t>
            </a:r>
            <a:r>
              <a:rPr lang="fr-BE" dirty="0"/>
              <a:t>'</a:t>
            </a:r>
            <a:r>
              <a:rPr dirty="0" err="1"/>
              <a:t>exercices</a:t>
            </a:r>
            <a:r>
              <a:rPr dirty="0"/>
              <a:t>. Les </a:t>
            </a:r>
            <a:r>
              <a:rPr dirty="0" err="1"/>
              <a:t>exercices</a:t>
            </a:r>
            <a:r>
              <a:rPr dirty="0"/>
              <a:t> y </a:t>
            </a:r>
            <a:r>
              <a:rPr dirty="0" err="1"/>
              <a:t>sont</a:t>
            </a:r>
            <a:r>
              <a:rPr dirty="0"/>
              <a:t> </a:t>
            </a:r>
            <a:r>
              <a:rPr dirty="0" err="1"/>
              <a:t>numérotés</a:t>
            </a:r>
            <a:r>
              <a:rPr dirty="0"/>
              <a:t> par </a:t>
            </a:r>
            <a:r>
              <a:rPr dirty="0" err="1"/>
              <a:t>sujet</a:t>
            </a:r>
            <a:r>
              <a:rPr dirty="0"/>
              <a:t> : </a:t>
            </a:r>
            <a:r>
              <a:rPr dirty="0">
                <a:latin typeface="Consolas"/>
              </a:rPr>
              <a:t>TAB.3</a:t>
            </a:r>
            <a:r>
              <a:rPr dirty="0"/>
              <a:t> est le </a:t>
            </a:r>
            <a:r>
              <a:rPr dirty="0" err="1"/>
              <a:t>troisième</a:t>
            </a:r>
            <a:r>
              <a:rPr dirty="0"/>
              <a:t> </a:t>
            </a:r>
            <a:r>
              <a:rPr dirty="0" err="1"/>
              <a:t>exercice</a:t>
            </a:r>
            <a:r>
              <a:rPr dirty="0"/>
              <a:t> sur les tableaux, quelle </a:t>
            </a:r>
            <a:r>
              <a:rPr dirty="0" err="1"/>
              <a:t>que</a:t>
            </a:r>
            <a:r>
              <a:rPr dirty="0"/>
              <a:t> soit la séance </a:t>
            </a:r>
            <a:r>
              <a:rPr dirty="0" err="1"/>
              <a:t>où</a:t>
            </a:r>
            <a:r>
              <a:rPr dirty="0"/>
              <a:t> on le fait. Le </a:t>
            </a:r>
            <a:r>
              <a:rPr dirty="0" err="1"/>
              <a:t>même</a:t>
            </a:r>
            <a:r>
              <a:rPr dirty="0"/>
              <a:t> code </a:t>
            </a:r>
            <a:r>
              <a:rPr dirty="0" err="1"/>
              <a:t>donne</a:t>
            </a:r>
            <a:r>
              <a:rPr dirty="0"/>
              <a:t> le nom du package : </a:t>
            </a:r>
            <a:r>
              <a:rPr dirty="0">
                <a:latin typeface="Consolas"/>
              </a:rPr>
              <a:t>TAB.3</a:t>
            </a:r>
            <a:r>
              <a:rPr dirty="0"/>
              <a:t> se </a:t>
            </a:r>
            <a:r>
              <a:rPr dirty="0" err="1"/>
              <a:t>trouve</a:t>
            </a:r>
            <a:r>
              <a:rPr dirty="0"/>
              <a:t> dans </a:t>
            </a:r>
            <a:r>
              <a:rPr dirty="0">
                <a:latin typeface="Consolas"/>
              </a:rPr>
              <a:t>be.ephec.java.tab.e03</a:t>
            </a:r>
            <a:r>
              <a:rPr dirty="0"/>
              <a:t>.</a:t>
            </a:r>
          </a:p>
          <a:p>
            <a:r>
              <a:rPr dirty="0"/>
              <a:t>Tous les </a:t>
            </a:r>
            <a:r>
              <a:rPr dirty="0" err="1"/>
              <a:t>énoncés</a:t>
            </a:r>
            <a:r>
              <a:rPr dirty="0"/>
              <a:t> </a:t>
            </a:r>
            <a:r>
              <a:rPr dirty="0" err="1"/>
              <a:t>suivent</a:t>
            </a:r>
            <a:r>
              <a:rPr dirty="0"/>
              <a:t> la </a:t>
            </a:r>
            <a:r>
              <a:rPr dirty="0" err="1"/>
              <a:t>même</a:t>
            </a:r>
            <a:r>
              <a:rPr dirty="0"/>
              <a:t> structure : </a:t>
            </a:r>
            <a:r>
              <a:rPr dirty="0" err="1"/>
              <a:t>objectif</a:t>
            </a:r>
            <a:r>
              <a:rPr dirty="0"/>
              <a:t>, </a:t>
            </a:r>
            <a:r>
              <a:rPr dirty="0" err="1"/>
              <a:t>contexte</a:t>
            </a:r>
            <a:r>
              <a:rPr dirty="0"/>
              <a:t>, </a:t>
            </a:r>
            <a:r>
              <a:rPr dirty="0" err="1"/>
              <a:t>énoncé</a:t>
            </a:r>
            <a:r>
              <a:rPr dirty="0"/>
              <a:t>, </a:t>
            </a:r>
            <a:r>
              <a:rPr dirty="0" err="1"/>
              <a:t>spécifications</a:t>
            </a:r>
            <a:r>
              <a:rPr dirty="0"/>
              <a:t>, </a:t>
            </a:r>
            <a:r>
              <a:rPr dirty="0" err="1"/>
              <a:t>vérification</a:t>
            </a:r>
            <a:r>
              <a:rPr dirty="0"/>
              <a:t>, et questions à se poser. Cette </a:t>
            </a:r>
            <a:r>
              <a:rPr dirty="0" err="1"/>
              <a:t>dernière</a:t>
            </a:r>
            <a:r>
              <a:rPr dirty="0"/>
              <a:t> </a:t>
            </a:r>
            <a:r>
              <a:rPr dirty="0" err="1"/>
              <a:t>rubrique</a:t>
            </a:r>
            <a:r>
              <a:rPr dirty="0"/>
              <a:t> est la plus </a:t>
            </a:r>
            <a:r>
              <a:rPr dirty="0" err="1"/>
              <a:t>importante</a:t>
            </a:r>
            <a:r>
              <a:rPr dirty="0"/>
              <a:t> : </a:t>
            </a:r>
            <a:r>
              <a:rPr dirty="0" err="1"/>
              <a:t>elle</a:t>
            </a:r>
            <a:r>
              <a:rPr dirty="0"/>
              <a:t> </a:t>
            </a:r>
            <a:r>
              <a:rPr dirty="0" err="1"/>
              <a:t>signale</a:t>
            </a:r>
            <a:r>
              <a:rPr dirty="0"/>
              <a:t> </a:t>
            </a:r>
            <a:r>
              <a:rPr dirty="0" err="1"/>
              <a:t>ce</a:t>
            </a:r>
            <a:r>
              <a:rPr dirty="0"/>
              <a:t> </a:t>
            </a:r>
            <a:r>
              <a:rPr dirty="0" err="1"/>
              <a:t>que</a:t>
            </a:r>
            <a:r>
              <a:rPr dirty="0"/>
              <a:t> l</a:t>
            </a:r>
            <a:r>
              <a:rPr lang="fr-BE" dirty="0"/>
              <a:t>'</a:t>
            </a:r>
            <a:r>
              <a:rPr dirty="0" err="1"/>
              <a:t>exercice</a:t>
            </a:r>
            <a:r>
              <a:rPr dirty="0"/>
              <a:t> </a:t>
            </a:r>
            <a:r>
              <a:rPr dirty="0" err="1"/>
              <a:t>cherche</a:t>
            </a:r>
            <a:r>
              <a:rPr dirty="0"/>
              <a:t> à vous faire </a:t>
            </a:r>
            <a:r>
              <a:rPr dirty="0" err="1"/>
              <a:t>découvrir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a:t>
            </a:r>
            <a:r>
              <a:rPr dirty="0" err="1"/>
              <a:t>exercices</a:t>
            </a:r>
            <a:r>
              <a:rPr dirty="0"/>
              <a:t> </a:t>
            </a:r>
            <a:r>
              <a:rPr dirty="0" err="1"/>
              <a:t>sont</a:t>
            </a:r>
            <a:r>
              <a:rPr dirty="0"/>
              <a:t> </a:t>
            </a:r>
            <a:r>
              <a:rPr dirty="0" err="1"/>
              <a:t>livrés</a:t>
            </a:r>
            <a:r>
              <a:rPr dirty="0"/>
              <a:t> dans un </a:t>
            </a:r>
            <a:r>
              <a:rPr dirty="0" err="1"/>
              <a:t>projet</a:t>
            </a:r>
            <a:r>
              <a:rPr dirty="0"/>
              <a:t> Maven, </a:t>
            </a:r>
            <a:r>
              <a:rPr dirty="0" err="1">
                <a:latin typeface="Consolas"/>
              </a:rPr>
              <a:t>ExercicesJava</a:t>
            </a:r>
            <a:r>
              <a:rPr dirty="0"/>
              <a:t>, à </a:t>
            </a:r>
            <a:r>
              <a:rPr dirty="0" err="1"/>
              <a:t>ouvrir</a:t>
            </a:r>
            <a:r>
              <a:rPr dirty="0"/>
              <a:t> dans IntelliJ. À </a:t>
            </a:r>
            <a:r>
              <a:rPr dirty="0" err="1"/>
              <a:t>chaque</a:t>
            </a:r>
            <a:r>
              <a:rPr dirty="0"/>
              <a:t> séance, </a:t>
            </a:r>
            <a:r>
              <a:rPr dirty="0" err="1"/>
              <a:t>une</a:t>
            </a:r>
            <a:r>
              <a:rPr dirty="0"/>
              <a:t> archive zip </a:t>
            </a:r>
            <a:r>
              <a:rPr dirty="0" err="1"/>
              <a:t>ajoute</a:t>
            </a:r>
            <a:r>
              <a:rPr dirty="0"/>
              <a:t> les </a:t>
            </a:r>
            <a:r>
              <a:rPr dirty="0" err="1"/>
              <a:t>exercices</a:t>
            </a:r>
            <a:r>
              <a:rPr dirty="0"/>
              <a:t> du jour ; les solutions </a:t>
            </a:r>
            <a:r>
              <a:rPr dirty="0" err="1"/>
              <a:t>sont</a:t>
            </a:r>
            <a:r>
              <a:rPr dirty="0"/>
              <a:t> </a:t>
            </a:r>
            <a:r>
              <a:rPr dirty="0" err="1"/>
              <a:t>distribuées</a:t>
            </a:r>
            <a:r>
              <a:rPr dirty="0"/>
              <a:t> après le </a:t>
            </a:r>
            <a:r>
              <a:rPr dirty="0" err="1"/>
              <a:t>cours</a:t>
            </a:r>
            <a:r>
              <a:rPr dirty="0"/>
              <a:t>. Le guide IntelliJ et le </a:t>
            </a:r>
            <a:r>
              <a:rPr dirty="0" err="1"/>
              <a:t>mémento</a:t>
            </a:r>
            <a:r>
              <a:rPr dirty="0"/>
              <a:t> technique </a:t>
            </a:r>
            <a:r>
              <a:rPr dirty="0" err="1"/>
              <a:t>expliquent</a:t>
            </a:r>
            <a:r>
              <a:rPr dirty="0"/>
              <a:t> comment </a:t>
            </a:r>
            <a:r>
              <a:rPr dirty="0" err="1"/>
              <a:t>ouvrir</a:t>
            </a:r>
            <a:r>
              <a:rPr dirty="0"/>
              <a:t> le </a:t>
            </a:r>
            <a:r>
              <a:rPr dirty="0" err="1"/>
              <a:t>projet</a:t>
            </a:r>
            <a:r>
              <a:rPr dirty="0"/>
              <a:t>.</a:t>
            </a:r>
          </a:p>
          <a:p>
            <a:r>
              <a:rPr dirty="0"/>
              <a:t>Les classes </a:t>
            </a:r>
            <a:r>
              <a:rPr dirty="0" err="1"/>
              <a:t>sont</a:t>
            </a:r>
            <a:r>
              <a:rPr dirty="0"/>
              <a:t> déjà </a:t>
            </a:r>
            <a:r>
              <a:rPr dirty="0" err="1"/>
              <a:t>écrites</a:t>
            </a:r>
            <a:r>
              <a:rPr dirty="0"/>
              <a:t>, avec </a:t>
            </a:r>
            <a:r>
              <a:rPr dirty="0" err="1"/>
              <a:t>leurs</a:t>
            </a:r>
            <a:r>
              <a:rPr dirty="0"/>
              <a:t> </a:t>
            </a:r>
            <a:r>
              <a:rPr dirty="0" err="1"/>
              <a:t>méthodes</a:t>
            </a:r>
            <a:r>
              <a:rPr dirty="0"/>
              <a:t>. Le corps de </a:t>
            </a:r>
            <a:r>
              <a:rPr dirty="0" err="1"/>
              <a:t>chaque</a:t>
            </a:r>
            <a:r>
              <a:rPr dirty="0"/>
              <a:t> </a:t>
            </a:r>
            <a:r>
              <a:rPr dirty="0" err="1"/>
              <a:t>méthode</a:t>
            </a:r>
            <a:r>
              <a:rPr dirty="0"/>
              <a:t> se </a:t>
            </a:r>
            <a:r>
              <a:rPr dirty="0" err="1"/>
              <a:t>contente</a:t>
            </a:r>
            <a:r>
              <a:rPr dirty="0"/>
              <a:t> de lever </a:t>
            </a:r>
            <a:r>
              <a:rPr dirty="0" err="1"/>
              <a:t>une</a:t>
            </a:r>
            <a:r>
              <a:rPr dirty="0"/>
              <a:t> </a:t>
            </a:r>
            <a:r>
              <a:rPr dirty="0" err="1">
                <a:latin typeface="Consolas"/>
              </a:rPr>
              <a:t>UnsupportedOperationException</a:t>
            </a:r>
            <a:r>
              <a:rPr dirty="0"/>
              <a:t>, qui </a:t>
            </a:r>
            <a:r>
              <a:rPr dirty="0" err="1"/>
              <a:t>signifie</a:t>
            </a:r>
            <a:r>
              <a:rPr dirty="0"/>
              <a:t> « pas encore </a:t>
            </a:r>
            <a:r>
              <a:rPr dirty="0" err="1"/>
              <a:t>écrit</a:t>
            </a:r>
            <a:r>
              <a:rPr dirty="0"/>
              <a:t> ». Le </a:t>
            </a:r>
            <a:r>
              <a:rPr dirty="0" err="1"/>
              <a:t>projet</a:t>
            </a:r>
            <a:r>
              <a:rPr dirty="0"/>
              <a:t> compile </a:t>
            </a:r>
            <a:r>
              <a:rPr dirty="0" err="1"/>
              <a:t>donc</a:t>
            </a:r>
            <a:r>
              <a:rPr dirty="0"/>
              <a:t> </a:t>
            </a:r>
            <a:r>
              <a:rPr dirty="0" err="1"/>
              <a:t>dès</a:t>
            </a:r>
            <a:r>
              <a:rPr dirty="0"/>
              <a:t> le </a:t>
            </a:r>
            <a:r>
              <a:rPr dirty="0" err="1"/>
              <a:t>départ</a:t>
            </a:r>
            <a:r>
              <a:rPr dirty="0"/>
              <a:t> : c</a:t>
            </a:r>
            <a:r>
              <a:rPr lang="fr-BE" dirty="0"/>
              <a:t>'</a:t>
            </a:r>
            <a:r>
              <a:rPr dirty="0"/>
              <a:t>est à vous de </a:t>
            </a:r>
            <a:r>
              <a:rPr dirty="0" err="1"/>
              <a:t>remplacer</a:t>
            </a:r>
            <a:r>
              <a:rPr dirty="0"/>
              <a:t> </a:t>
            </a:r>
            <a:r>
              <a:rPr dirty="0" err="1"/>
              <a:t>ces</a:t>
            </a:r>
            <a:r>
              <a:rPr dirty="0"/>
              <a:t> </a:t>
            </a:r>
            <a:r>
              <a:rPr dirty="0" err="1"/>
              <a:t>lignes</a:t>
            </a:r>
            <a:r>
              <a:rPr dirty="0"/>
              <a:t> par le </a:t>
            </a:r>
            <a:r>
              <a:rPr dirty="0" err="1"/>
              <a:t>vrai</a:t>
            </a:r>
            <a:r>
              <a:rPr dirty="0"/>
              <a:t> code.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plupart</a:t>
            </a:r>
            <a:r>
              <a:rPr dirty="0"/>
              <a:t> des </a:t>
            </a:r>
            <a:r>
              <a:rPr dirty="0" err="1"/>
              <a:t>exercices</a:t>
            </a:r>
            <a:r>
              <a:rPr dirty="0"/>
              <a:t> </a:t>
            </a:r>
            <a:r>
              <a:rPr dirty="0" err="1"/>
              <a:t>sont</a:t>
            </a:r>
            <a:r>
              <a:rPr dirty="0"/>
              <a:t> </a:t>
            </a:r>
            <a:r>
              <a:rPr dirty="0" err="1"/>
              <a:t>accompagnés</a:t>
            </a:r>
            <a:r>
              <a:rPr dirty="0"/>
              <a:t> d</a:t>
            </a:r>
            <a:r>
              <a:rPr lang="fr-BE" dirty="0"/>
              <a:t>'</a:t>
            </a:r>
            <a:r>
              <a:rPr dirty="0" err="1"/>
              <a:t>une</a:t>
            </a:r>
            <a:r>
              <a:rPr dirty="0"/>
              <a:t> </a:t>
            </a:r>
            <a:r>
              <a:rPr dirty="0" err="1"/>
              <a:t>classe</a:t>
            </a:r>
            <a:r>
              <a:rPr dirty="0"/>
              <a:t> de test JUnit. Vous la </a:t>
            </a:r>
            <a:r>
              <a:rPr dirty="0" err="1"/>
              <a:t>lancez</a:t>
            </a:r>
            <a:r>
              <a:rPr dirty="0"/>
              <a:t> vous-</a:t>
            </a:r>
            <a:r>
              <a:rPr dirty="0" err="1"/>
              <a:t>même</a:t>
            </a:r>
            <a:r>
              <a:rPr dirty="0"/>
              <a:t>, </a:t>
            </a:r>
            <a:r>
              <a:rPr dirty="0" err="1"/>
              <a:t>aussi</a:t>
            </a:r>
            <a:r>
              <a:rPr dirty="0"/>
              <a:t> </a:t>
            </a:r>
            <a:r>
              <a:rPr dirty="0" err="1"/>
              <a:t>souvent</a:t>
            </a:r>
            <a:r>
              <a:rPr dirty="0"/>
              <a:t> </a:t>
            </a:r>
            <a:r>
              <a:rPr dirty="0" err="1"/>
              <a:t>que</a:t>
            </a:r>
            <a:r>
              <a:rPr dirty="0"/>
              <a:t> vous le </a:t>
            </a:r>
            <a:r>
              <a:rPr dirty="0" err="1"/>
              <a:t>voulez</a:t>
            </a:r>
            <a:r>
              <a:rPr dirty="0"/>
              <a:t> : c</a:t>
            </a:r>
            <a:r>
              <a:rPr lang="fr-BE" dirty="0"/>
              <a:t>'</a:t>
            </a:r>
            <a:r>
              <a:rPr dirty="0"/>
              <a:t>est </a:t>
            </a:r>
            <a:r>
              <a:rPr dirty="0" err="1"/>
              <a:t>votre</a:t>
            </a:r>
            <a:r>
              <a:rPr dirty="0"/>
              <a:t> moyen de savoir </a:t>
            </a:r>
            <a:r>
              <a:rPr dirty="0" err="1"/>
              <a:t>si</a:t>
            </a:r>
            <a:r>
              <a:rPr dirty="0"/>
              <a:t> </a:t>
            </a:r>
            <a:r>
              <a:rPr dirty="0" err="1"/>
              <a:t>votre</a:t>
            </a:r>
            <a:r>
              <a:rPr dirty="0"/>
              <a:t> </a:t>
            </a:r>
            <a:r>
              <a:rPr dirty="0" err="1"/>
              <a:t>réponse</a:t>
            </a:r>
            <a:r>
              <a:rPr dirty="0"/>
              <a:t> est </a:t>
            </a:r>
            <a:r>
              <a:rPr dirty="0" err="1"/>
              <a:t>correcte</a:t>
            </a:r>
            <a:r>
              <a:rPr dirty="0"/>
              <a:t>, sans </a:t>
            </a:r>
            <a:r>
              <a:rPr dirty="0" err="1"/>
              <a:t>attendre</a:t>
            </a:r>
            <a:r>
              <a:rPr dirty="0"/>
              <a:t> la séance </a:t>
            </a:r>
            <a:r>
              <a:rPr dirty="0" err="1"/>
              <a:t>suivante</a:t>
            </a:r>
            <a:r>
              <a:rPr dirty="0"/>
              <a:t>. Un test rouge </a:t>
            </a:r>
            <a:r>
              <a:rPr dirty="0" err="1"/>
              <a:t>signale</a:t>
            </a:r>
            <a:r>
              <a:rPr dirty="0"/>
              <a:t> </a:t>
            </a:r>
            <a:r>
              <a:rPr dirty="0" err="1"/>
              <a:t>que</a:t>
            </a:r>
            <a:r>
              <a:rPr dirty="0"/>
              <a:t> la </a:t>
            </a:r>
            <a:r>
              <a:rPr dirty="0" err="1"/>
              <a:t>réponse</a:t>
            </a:r>
            <a:r>
              <a:rPr dirty="0"/>
              <a:t> n</a:t>
            </a:r>
            <a:r>
              <a:rPr lang="fr-BE" dirty="0"/>
              <a:t>'</a:t>
            </a:r>
            <a:r>
              <a:rPr dirty="0"/>
              <a:t>est pas encore </a:t>
            </a:r>
            <a:r>
              <a:rPr dirty="0" err="1"/>
              <a:t>correcte</a:t>
            </a:r>
            <a:r>
              <a:rPr dirty="0"/>
              <a:t> ; </a:t>
            </a:r>
            <a:r>
              <a:rPr dirty="0" err="1"/>
              <a:t>quand</a:t>
            </a:r>
            <a:r>
              <a:rPr dirty="0"/>
              <a:t> </a:t>
            </a:r>
            <a:r>
              <a:rPr dirty="0" err="1"/>
              <a:t>tous</a:t>
            </a:r>
            <a:r>
              <a:rPr dirty="0"/>
              <a:t> les tests </a:t>
            </a:r>
            <a:r>
              <a:rPr dirty="0" err="1"/>
              <a:t>sont</a:t>
            </a:r>
            <a:r>
              <a:rPr dirty="0"/>
              <a:t> verts, </a:t>
            </a:r>
            <a:r>
              <a:rPr dirty="0" err="1"/>
              <a:t>elle</a:t>
            </a:r>
            <a:r>
              <a:rPr dirty="0"/>
              <a:t> l</a:t>
            </a:r>
            <a:r>
              <a:rPr lang="fr-BE" dirty="0"/>
              <a:t>'</a:t>
            </a:r>
            <a:r>
              <a:rPr dirty="0"/>
              <a:t>est.</a:t>
            </a:r>
          </a:p>
          <a:p>
            <a:r>
              <a:rPr dirty="0"/>
              <a:t>Un test vert ne </a:t>
            </a:r>
            <a:r>
              <a:rPr dirty="0" err="1"/>
              <a:t>dit</a:t>
            </a:r>
            <a:r>
              <a:rPr dirty="0"/>
              <a:t> pas </a:t>
            </a:r>
            <a:r>
              <a:rPr dirty="0" err="1"/>
              <a:t>que</a:t>
            </a:r>
            <a:r>
              <a:rPr dirty="0"/>
              <a:t> </a:t>
            </a:r>
            <a:r>
              <a:rPr dirty="0" err="1"/>
              <a:t>votre</a:t>
            </a:r>
            <a:r>
              <a:rPr dirty="0"/>
              <a:t> code est bien </a:t>
            </a:r>
            <a:r>
              <a:rPr dirty="0" err="1"/>
              <a:t>écrit</a:t>
            </a:r>
            <a:r>
              <a:rPr dirty="0"/>
              <a:t>, </a:t>
            </a:r>
            <a:r>
              <a:rPr dirty="0" err="1"/>
              <a:t>seulement</a:t>
            </a:r>
            <a:r>
              <a:rPr dirty="0"/>
              <a:t> </a:t>
            </a:r>
            <a:r>
              <a:rPr dirty="0" err="1"/>
              <a:t>qu</a:t>
            </a:r>
            <a:r>
              <a:rPr lang="fr-BE" dirty="0"/>
              <a:t>'</a:t>
            </a:r>
            <a:r>
              <a:rPr dirty="0"/>
              <a:t>il fait </a:t>
            </a:r>
            <a:r>
              <a:rPr dirty="0" err="1"/>
              <a:t>ce</a:t>
            </a:r>
            <a:r>
              <a:rPr dirty="0"/>
              <a:t> qui est </a:t>
            </a:r>
            <a:r>
              <a:rPr dirty="0" err="1"/>
              <a:t>demandé</a:t>
            </a:r>
            <a:r>
              <a:rPr dirty="0"/>
              <a:t>. Et les tests ne </a:t>
            </a:r>
            <a:r>
              <a:rPr dirty="0" err="1"/>
              <a:t>vérifient</a:t>
            </a:r>
            <a:r>
              <a:rPr dirty="0"/>
              <a:t> jamais un point </a:t>
            </a:r>
            <a:r>
              <a:rPr dirty="0" err="1"/>
              <a:t>que</a:t>
            </a:r>
            <a:r>
              <a:rPr dirty="0"/>
              <a:t> l</a:t>
            </a:r>
            <a:r>
              <a:rPr lang="fr-BE" dirty="0"/>
              <a:t>'</a:t>
            </a:r>
            <a:r>
              <a:rPr dirty="0" err="1"/>
              <a:t>énoncé</a:t>
            </a:r>
            <a:r>
              <a:rPr dirty="0"/>
              <a:t> laisse à </a:t>
            </a:r>
            <a:r>
              <a:rPr dirty="0" err="1"/>
              <a:t>votre</a:t>
            </a:r>
            <a:r>
              <a:rPr dirty="0"/>
              <a:t> choix.</a:t>
            </a:r>
          </a:p>
          <a:p>
            <a:r>
              <a:rPr dirty="0"/>
              <a:t>Vous n</a:t>
            </a:r>
            <a:r>
              <a:rPr lang="fr-BE" dirty="0"/>
              <a:t>'</a:t>
            </a:r>
            <a:r>
              <a:rPr dirty="0" err="1"/>
              <a:t>avez</a:t>
            </a:r>
            <a:r>
              <a:rPr dirty="0"/>
              <a:t> pas </a:t>
            </a:r>
            <a:r>
              <a:rPr dirty="0" err="1"/>
              <a:t>besoin</a:t>
            </a:r>
            <a:r>
              <a:rPr dirty="0"/>
              <a:t> de </a:t>
            </a:r>
            <a:r>
              <a:rPr dirty="0" err="1"/>
              <a:t>connaître</a:t>
            </a:r>
            <a:r>
              <a:rPr dirty="0"/>
              <a:t> JUnit pour lancer </a:t>
            </a:r>
            <a:r>
              <a:rPr dirty="0" err="1"/>
              <a:t>ces</a:t>
            </a:r>
            <a:r>
              <a:rPr dirty="0"/>
              <a:t> tests. Le </a:t>
            </a:r>
            <a:r>
              <a:rPr dirty="0" err="1"/>
              <a:t>mémento</a:t>
            </a:r>
            <a:r>
              <a:rPr dirty="0"/>
              <a:t> </a:t>
            </a:r>
            <a:r>
              <a:rPr dirty="0" err="1"/>
              <a:t>Exercices</a:t>
            </a:r>
            <a:r>
              <a:rPr dirty="0"/>
              <a:t> </a:t>
            </a:r>
            <a:r>
              <a:rPr dirty="0" err="1"/>
              <a:t>explique</a:t>
            </a:r>
            <a:r>
              <a:rPr dirty="0"/>
              <a:t> comment faire, et le module JUN vous </a:t>
            </a:r>
            <a:r>
              <a:rPr dirty="0" err="1"/>
              <a:t>apprendra</a:t>
            </a:r>
            <a:r>
              <a:rPr dirty="0"/>
              <a:t> à </a:t>
            </a:r>
            <a:r>
              <a:rPr dirty="0" err="1"/>
              <a:t>écrire</a:t>
            </a:r>
            <a:r>
              <a:rPr dirty="0"/>
              <a:t> les </a:t>
            </a:r>
            <a:r>
              <a:rPr dirty="0" err="1"/>
              <a:t>vôtres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GameHub est une plateforme de jeux rudimentaire, construite petit à petit au fil de l'année : chaque module y ajoute une pièce, qui s'appuie sur ce qui a été construit précédemment. Ses énoncés sont numérotés G.1, G.2, et ainsi de suite, dans l'ordre imposé par leurs dépendances. GameHub vit dans un projet séparé du recueil d'exercices.</a:t>
            </a:r>
          </a:p>
          <a:p>
            <a:r>
              <a:rPr dirty="0" err="1"/>
              <a:t>Là</a:t>
            </a:r>
            <a:r>
              <a:rPr dirty="0"/>
              <a:t> </a:t>
            </a:r>
            <a:r>
              <a:rPr dirty="0" err="1"/>
              <a:t>où</a:t>
            </a:r>
            <a:r>
              <a:rPr dirty="0"/>
              <a:t> un </a:t>
            </a:r>
            <a:r>
              <a:rPr dirty="0" err="1"/>
              <a:t>exercice</a:t>
            </a:r>
            <a:r>
              <a:rPr dirty="0"/>
              <a:t> </a:t>
            </a:r>
            <a:r>
              <a:rPr dirty="0" err="1"/>
              <a:t>isole</a:t>
            </a:r>
            <a:r>
              <a:rPr dirty="0"/>
              <a:t> </a:t>
            </a:r>
            <a:r>
              <a:rPr dirty="0" err="1"/>
              <a:t>une</a:t>
            </a:r>
            <a:r>
              <a:rPr dirty="0"/>
              <a:t> notion, </a:t>
            </a:r>
            <a:r>
              <a:rPr dirty="0" err="1"/>
              <a:t>GameHub</a:t>
            </a:r>
            <a:r>
              <a:rPr dirty="0"/>
              <a:t> vous oblige à la faire cohabiter avec tout </a:t>
            </a:r>
            <a:r>
              <a:rPr dirty="0" err="1"/>
              <a:t>ce</a:t>
            </a:r>
            <a:r>
              <a:rPr dirty="0"/>
              <a:t> </a:t>
            </a:r>
            <a:r>
              <a:rPr dirty="0" err="1"/>
              <a:t>que</a:t>
            </a:r>
            <a:r>
              <a:rPr dirty="0"/>
              <a:t> vous </a:t>
            </a:r>
            <a:r>
              <a:rPr dirty="0" err="1"/>
              <a:t>avez</a:t>
            </a:r>
            <a:r>
              <a:rPr dirty="0"/>
              <a:t> déjà </a:t>
            </a:r>
            <a:r>
              <a:rPr dirty="0" err="1"/>
              <a:t>écrit</a:t>
            </a:r>
            <a:r>
              <a:rPr dirty="0"/>
              <a:t>. C</a:t>
            </a:r>
            <a:r>
              <a:rPr lang="fr-BE" dirty="0"/>
              <a:t>'</a:t>
            </a:r>
            <a:r>
              <a:rPr dirty="0"/>
              <a:t>est la situation </a:t>
            </a:r>
            <a:r>
              <a:rPr dirty="0" err="1"/>
              <a:t>que</a:t>
            </a:r>
            <a:r>
              <a:rPr dirty="0"/>
              <a:t> vous </a:t>
            </a:r>
            <a:r>
              <a:rPr dirty="0" err="1"/>
              <a:t>retrouverez</a:t>
            </a:r>
            <a:r>
              <a:rPr dirty="0"/>
              <a:t> à l</a:t>
            </a:r>
            <a:r>
              <a:rPr lang="fr-BE" dirty="0"/>
              <a:t>'</a:t>
            </a:r>
            <a:r>
              <a:rPr dirty="0"/>
              <a:t>examen, et dans tout </a:t>
            </a:r>
            <a:r>
              <a:rPr dirty="0" err="1"/>
              <a:t>projet</a:t>
            </a:r>
            <a:r>
              <a:rPr dirty="0"/>
              <a:t> </a:t>
            </a:r>
            <a:r>
              <a:rPr dirty="0" err="1"/>
              <a:t>réel</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Les slides accompagnent l'explication orale. Le support de cours reprend chaque notion en prose, avec le code formaté. Un seul document couvre l'ensemble des modules : c'est lui qu'il faut relire entre les séances.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À côté des fascicules et du support, quatre documents de référence vous accompagnent toute l'année. On ne les lit pas d'une traite, à part le mémento Exercices : on les ouvre quand un énoncé ou une slide y renvoie.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Quatre documents de </a:t>
            </a:r>
            <a:r>
              <a:rPr dirty="0" err="1"/>
              <a:t>référence</a:t>
            </a:r>
            <a:r>
              <a:rPr dirty="0"/>
              <a:t> </a:t>
            </a:r>
            <a:r>
              <a:rPr dirty="0" err="1"/>
              <a:t>accompagnent</a:t>
            </a:r>
            <a:r>
              <a:rPr dirty="0"/>
              <a:t> le </a:t>
            </a:r>
            <a:r>
              <a:rPr dirty="0" err="1"/>
              <a:t>cours</a:t>
            </a:r>
            <a:r>
              <a:rPr dirty="0"/>
              <a:t>. </a:t>
            </a:r>
            <a:r>
              <a:rPr dirty="0" err="1"/>
              <a:t>Ils</a:t>
            </a:r>
            <a:r>
              <a:rPr dirty="0"/>
              <a:t> </a:t>
            </a:r>
            <a:r>
              <a:rPr dirty="0" err="1"/>
              <a:t>sont</a:t>
            </a:r>
            <a:r>
              <a:rPr dirty="0"/>
              <a:t> sur Moodle, dans la section Documents.</a:t>
            </a:r>
          </a:p>
          <a:p>
            <a:r>
              <a:rPr dirty="0"/>
              <a:t>Le </a:t>
            </a:r>
            <a:r>
              <a:rPr dirty="0" err="1"/>
              <a:t>mémento</a:t>
            </a:r>
            <a:r>
              <a:rPr dirty="0"/>
              <a:t> </a:t>
            </a:r>
            <a:r>
              <a:rPr dirty="0" err="1"/>
              <a:t>Exercices</a:t>
            </a:r>
            <a:r>
              <a:rPr dirty="0"/>
              <a:t> </a:t>
            </a:r>
            <a:r>
              <a:rPr dirty="0" err="1"/>
              <a:t>rassemble</a:t>
            </a:r>
            <a:r>
              <a:rPr dirty="0"/>
              <a:t> </a:t>
            </a:r>
            <a:r>
              <a:rPr dirty="0" err="1"/>
              <a:t>ce</a:t>
            </a:r>
            <a:r>
              <a:rPr dirty="0"/>
              <a:t> qui est </a:t>
            </a:r>
            <a:r>
              <a:rPr dirty="0" err="1"/>
              <a:t>commun</a:t>
            </a:r>
            <a:r>
              <a:rPr dirty="0"/>
              <a:t> à </a:t>
            </a:r>
            <a:r>
              <a:rPr dirty="0" err="1"/>
              <a:t>tous</a:t>
            </a:r>
            <a:r>
              <a:rPr dirty="0"/>
              <a:t> les fascicules : comment lancer les tests, comment lire </a:t>
            </a:r>
            <a:r>
              <a:rPr dirty="0" err="1"/>
              <a:t>leur</a:t>
            </a:r>
            <a:r>
              <a:rPr dirty="0"/>
              <a:t> </a:t>
            </a:r>
            <a:r>
              <a:rPr dirty="0" err="1"/>
              <a:t>résultat</a:t>
            </a:r>
            <a:r>
              <a:rPr dirty="0"/>
              <a:t>, </a:t>
            </a:r>
            <a:r>
              <a:rPr dirty="0" err="1"/>
              <a:t>pourquoi</a:t>
            </a:r>
            <a:r>
              <a:rPr dirty="0"/>
              <a:t> </a:t>
            </a:r>
            <a:r>
              <a:rPr dirty="0" err="1"/>
              <a:t>garder</a:t>
            </a:r>
            <a:r>
              <a:rPr dirty="0"/>
              <a:t> un code qui compile. </a:t>
            </a:r>
            <a:r>
              <a:rPr dirty="0" err="1"/>
              <a:t>Lisez</a:t>
            </a:r>
            <a:r>
              <a:rPr dirty="0"/>
              <a:t>-le </a:t>
            </a:r>
            <a:r>
              <a:rPr dirty="0" err="1"/>
              <a:t>une</a:t>
            </a:r>
            <a:r>
              <a:rPr dirty="0"/>
              <a:t> </a:t>
            </a:r>
            <a:r>
              <a:rPr dirty="0" err="1"/>
              <a:t>fois</a:t>
            </a:r>
            <a:r>
              <a:rPr dirty="0"/>
              <a:t> </a:t>
            </a:r>
            <a:r>
              <a:rPr dirty="0" err="1"/>
              <a:t>en</a:t>
            </a:r>
            <a:r>
              <a:rPr dirty="0"/>
              <a:t> début d</a:t>
            </a:r>
            <a:r>
              <a:rPr lang="fr-BE" dirty="0"/>
              <a:t>'</a:t>
            </a:r>
            <a:r>
              <a:rPr dirty="0" err="1"/>
              <a:t>année</a:t>
            </a:r>
            <a:r>
              <a:rPr dirty="0"/>
              <a:t>.</a:t>
            </a:r>
          </a:p>
          <a:p>
            <a:r>
              <a:rPr dirty="0"/>
              <a:t>Les trois </a:t>
            </a:r>
            <a:r>
              <a:rPr dirty="0" err="1"/>
              <a:t>autres</a:t>
            </a:r>
            <a:r>
              <a:rPr dirty="0"/>
              <a:t> </a:t>
            </a:r>
            <a:r>
              <a:rPr dirty="0" err="1"/>
              <a:t>sont</a:t>
            </a:r>
            <a:r>
              <a:rPr dirty="0"/>
              <a:t> </a:t>
            </a:r>
            <a:r>
              <a:rPr dirty="0" err="1"/>
              <a:t>découpés</a:t>
            </a:r>
            <a:r>
              <a:rPr dirty="0"/>
              <a:t> </a:t>
            </a:r>
            <a:r>
              <a:rPr dirty="0" err="1"/>
              <a:t>en</a:t>
            </a:r>
            <a:r>
              <a:rPr dirty="0"/>
              <a:t> sections </a:t>
            </a:r>
            <a:r>
              <a:rPr dirty="0" err="1"/>
              <a:t>courtes</a:t>
            </a:r>
            <a:r>
              <a:rPr dirty="0"/>
              <a:t>, </a:t>
            </a:r>
            <a:r>
              <a:rPr dirty="0" err="1"/>
              <a:t>numérotées</a:t>
            </a:r>
            <a:r>
              <a:rPr dirty="0"/>
              <a:t> et </a:t>
            </a:r>
            <a:r>
              <a:rPr dirty="0" err="1"/>
              <a:t>préfixées</a:t>
            </a:r>
            <a:r>
              <a:rPr dirty="0"/>
              <a:t> : </a:t>
            </a:r>
            <a:r>
              <a:rPr dirty="0">
                <a:latin typeface="Consolas"/>
              </a:rPr>
              <a:t>IDE</a:t>
            </a:r>
            <a:r>
              <a:rPr dirty="0"/>
              <a:t> et </a:t>
            </a:r>
            <a:r>
              <a:rPr dirty="0">
                <a:latin typeface="Consolas"/>
              </a:rPr>
              <a:t>ERR</a:t>
            </a:r>
            <a:r>
              <a:rPr dirty="0"/>
              <a:t> pour le guide IntelliJ, </a:t>
            </a:r>
            <a:r>
              <a:rPr dirty="0">
                <a:latin typeface="Consolas"/>
              </a:rPr>
              <a:t>TEC</a:t>
            </a:r>
            <a:r>
              <a:rPr dirty="0"/>
              <a:t> pour le </a:t>
            </a:r>
            <a:r>
              <a:rPr dirty="0" err="1"/>
              <a:t>mémento</a:t>
            </a:r>
            <a:r>
              <a:rPr dirty="0"/>
              <a:t> technique, </a:t>
            </a:r>
            <a:r>
              <a:rPr dirty="0">
                <a:latin typeface="Consolas"/>
              </a:rPr>
              <a:t>CC</a:t>
            </a:r>
            <a:r>
              <a:rPr dirty="0"/>
              <a:t> pour le </a:t>
            </a:r>
            <a:r>
              <a:rPr dirty="0" err="1"/>
              <a:t>mémento</a:t>
            </a:r>
            <a:r>
              <a:rPr dirty="0"/>
              <a:t> Clean Code. </a:t>
            </a:r>
            <a:r>
              <a:rPr dirty="0" err="1"/>
              <a:t>Leurs</a:t>
            </a:r>
            <a:r>
              <a:rPr dirty="0"/>
              <a:t> </a:t>
            </a:r>
            <a:r>
              <a:rPr dirty="0" err="1"/>
              <a:t>sommaires</a:t>
            </a:r>
            <a:r>
              <a:rPr dirty="0"/>
              <a:t> et </a:t>
            </a:r>
            <a:r>
              <a:rPr dirty="0" err="1"/>
              <a:t>leurs</a:t>
            </a:r>
            <a:r>
              <a:rPr dirty="0"/>
              <a:t> </a:t>
            </a:r>
            <a:r>
              <a:rPr dirty="0" err="1"/>
              <a:t>renvois</a:t>
            </a:r>
            <a:r>
              <a:rPr dirty="0"/>
              <a:t> internes </a:t>
            </a:r>
            <a:r>
              <a:rPr dirty="0" err="1"/>
              <a:t>sont</a:t>
            </a:r>
            <a:r>
              <a:rPr dirty="0"/>
              <a:t> </a:t>
            </a:r>
            <a:r>
              <a:rPr dirty="0" err="1"/>
              <a:t>cliquables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mémento</a:t>
            </a:r>
            <a:r>
              <a:rPr dirty="0"/>
              <a:t> </a:t>
            </a:r>
            <a:r>
              <a:rPr dirty="0" err="1"/>
              <a:t>Exercices</a:t>
            </a:r>
            <a:r>
              <a:rPr dirty="0"/>
              <a:t> </a:t>
            </a:r>
            <a:r>
              <a:rPr dirty="0" err="1"/>
              <a:t>rassemble</a:t>
            </a:r>
            <a:r>
              <a:rPr dirty="0"/>
              <a:t> </a:t>
            </a:r>
            <a:r>
              <a:rPr dirty="0" err="1"/>
              <a:t>ce</a:t>
            </a:r>
            <a:r>
              <a:rPr dirty="0"/>
              <a:t> qui </a:t>
            </a:r>
            <a:r>
              <a:rPr dirty="0" err="1"/>
              <a:t>vaut</a:t>
            </a:r>
            <a:r>
              <a:rPr dirty="0"/>
              <a:t> pour </a:t>
            </a:r>
            <a:r>
              <a:rPr dirty="0" err="1"/>
              <a:t>tous</a:t>
            </a:r>
            <a:r>
              <a:rPr dirty="0"/>
              <a:t> les fascicules, et </a:t>
            </a:r>
            <a:r>
              <a:rPr dirty="0" err="1"/>
              <a:t>qu</a:t>
            </a:r>
            <a:r>
              <a:rPr lang="fr-BE" dirty="0"/>
              <a:t>'</a:t>
            </a:r>
            <a:r>
              <a:rPr dirty="0"/>
              <a:t>il </a:t>
            </a:r>
            <a:r>
              <a:rPr dirty="0" err="1"/>
              <a:t>serait</a:t>
            </a:r>
            <a:r>
              <a:rPr dirty="0"/>
              <a:t> inutile de </a:t>
            </a:r>
            <a:r>
              <a:rPr dirty="0" err="1"/>
              <a:t>répéter</a:t>
            </a:r>
            <a:r>
              <a:rPr dirty="0"/>
              <a:t> dans chacun. </a:t>
            </a:r>
            <a:r>
              <a:rPr dirty="0" err="1"/>
              <a:t>Lisez</a:t>
            </a:r>
            <a:r>
              <a:rPr dirty="0"/>
              <a:t>-le </a:t>
            </a:r>
            <a:r>
              <a:rPr dirty="0" err="1"/>
              <a:t>une</a:t>
            </a:r>
            <a:r>
              <a:rPr dirty="0"/>
              <a:t> </a:t>
            </a:r>
            <a:r>
              <a:rPr dirty="0" err="1"/>
              <a:t>fois</a:t>
            </a:r>
            <a:r>
              <a:rPr dirty="0"/>
              <a:t> </a:t>
            </a:r>
            <a:r>
              <a:rPr dirty="0" err="1"/>
              <a:t>en</a:t>
            </a:r>
            <a:r>
              <a:rPr dirty="0"/>
              <a:t> début d</a:t>
            </a:r>
            <a:r>
              <a:rPr lang="fr-BE" dirty="0"/>
              <a:t>'</a:t>
            </a:r>
            <a:r>
              <a:rPr dirty="0" err="1"/>
              <a:t>année</a:t>
            </a:r>
            <a:r>
              <a:rPr dirty="0"/>
              <a:t>.</a:t>
            </a:r>
          </a:p>
          <a:p>
            <a:r>
              <a:rPr dirty="0"/>
              <a:t>Il </a:t>
            </a:r>
            <a:r>
              <a:rPr dirty="0" err="1"/>
              <a:t>explique</a:t>
            </a:r>
            <a:r>
              <a:rPr dirty="0"/>
              <a:t> d</a:t>
            </a:r>
            <a:r>
              <a:rPr lang="fr-BE" dirty="0"/>
              <a:t>'</a:t>
            </a:r>
            <a:r>
              <a:rPr dirty="0"/>
              <a:t>abord la </a:t>
            </a:r>
            <a:r>
              <a:rPr dirty="0" err="1"/>
              <a:t>numérotation</a:t>
            </a:r>
            <a:r>
              <a:rPr dirty="0"/>
              <a:t> : </a:t>
            </a:r>
            <a:r>
              <a:rPr dirty="0">
                <a:latin typeface="Consolas"/>
              </a:rPr>
              <a:t>EXC.3</a:t>
            </a:r>
            <a:r>
              <a:rPr dirty="0"/>
              <a:t> est le </a:t>
            </a:r>
            <a:r>
              <a:rPr dirty="0" err="1"/>
              <a:t>troisième</a:t>
            </a:r>
            <a:r>
              <a:rPr dirty="0"/>
              <a:t> </a:t>
            </a:r>
            <a:r>
              <a:rPr dirty="0" err="1"/>
              <a:t>exercice</a:t>
            </a:r>
            <a:r>
              <a:rPr dirty="0"/>
              <a:t> du </a:t>
            </a:r>
            <a:r>
              <a:rPr dirty="0" err="1"/>
              <a:t>module</a:t>
            </a:r>
            <a:r>
              <a:rPr dirty="0"/>
              <a:t> Exceptions, quelle </a:t>
            </a:r>
            <a:r>
              <a:rPr dirty="0" err="1"/>
              <a:t>que</a:t>
            </a:r>
            <a:r>
              <a:rPr dirty="0"/>
              <a:t> soit la séance </a:t>
            </a:r>
            <a:r>
              <a:rPr dirty="0" err="1"/>
              <a:t>où</a:t>
            </a:r>
            <a:r>
              <a:rPr dirty="0"/>
              <a:t> il </a:t>
            </a:r>
            <a:r>
              <a:rPr dirty="0" err="1"/>
              <a:t>tombe</a:t>
            </a:r>
            <a:r>
              <a:rPr dirty="0"/>
              <a:t>. Un </a:t>
            </a:r>
            <a:r>
              <a:rPr dirty="0" err="1"/>
              <a:t>exercice</a:t>
            </a:r>
            <a:r>
              <a:rPr dirty="0"/>
              <a:t> garde </a:t>
            </a:r>
            <a:r>
              <a:rPr dirty="0" err="1"/>
              <a:t>donc</a:t>
            </a:r>
            <a:r>
              <a:rPr dirty="0"/>
              <a:t> son code </a:t>
            </a:r>
            <a:r>
              <a:rPr dirty="0" err="1"/>
              <a:t>même</a:t>
            </a:r>
            <a:r>
              <a:rPr dirty="0"/>
              <a:t> </a:t>
            </a:r>
            <a:r>
              <a:rPr dirty="0" err="1"/>
              <a:t>si</a:t>
            </a:r>
            <a:r>
              <a:rPr dirty="0"/>
              <a:t> le </a:t>
            </a:r>
            <a:r>
              <a:rPr dirty="0" err="1"/>
              <a:t>calendrier</a:t>
            </a:r>
            <a:r>
              <a:rPr dirty="0"/>
              <a:t> change.</a:t>
            </a:r>
          </a:p>
          <a:p>
            <a:r>
              <a:rPr dirty="0"/>
              <a:t>Il montre ensuite comment lancer les classes de test </a:t>
            </a:r>
            <a:r>
              <a:rPr dirty="0" err="1"/>
              <a:t>fournies</a:t>
            </a:r>
            <a:r>
              <a:rPr dirty="0"/>
              <a:t>, et comment lire </a:t>
            </a:r>
            <a:r>
              <a:rPr dirty="0" err="1"/>
              <a:t>leur</a:t>
            </a:r>
            <a:r>
              <a:rPr dirty="0"/>
              <a:t> </a:t>
            </a:r>
            <a:r>
              <a:rPr dirty="0" err="1"/>
              <a:t>résultat</a:t>
            </a:r>
            <a:r>
              <a:rPr dirty="0"/>
              <a:t>.</a:t>
            </a:r>
          </a:p>
          <a:p>
            <a:r>
              <a:rPr dirty="0"/>
              <a:t>Il pose </a:t>
            </a:r>
            <a:r>
              <a:rPr dirty="0" err="1"/>
              <a:t>enfin</a:t>
            </a:r>
            <a:r>
              <a:rPr dirty="0"/>
              <a:t> </a:t>
            </a:r>
            <a:r>
              <a:rPr dirty="0" err="1"/>
              <a:t>une</a:t>
            </a:r>
            <a:r>
              <a:rPr dirty="0"/>
              <a:t> </a:t>
            </a:r>
            <a:r>
              <a:rPr dirty="0" err="1"/>
              <a:t>règle</a:t>
            </a:r>
            <a:r>
              <a:rPr dirty="0"/>
              <a:t> : laissez </a:t>
            </a:r>
            <a:r>
              <a:rPr dirty="0" err="1"/>
              <a:t>toujours</a:t>
            </a:r>
            <a:r>
              <a:rPr dirty="0"/>
              <a:t> </a:t>
            </a:r>
            <a:r>
              <a:rPr dirty="0" err="1"/>
              <a:t>votre</a:t>
            </a:r>
            <a:r>
              <a:rPr dirty="0"/>
              <a:t> code </a:t>
            </a:r>
            <a:r>
              <a:rPr dirty="0" err="1"/>
              <a:t>compilable</a:t>
            </a:r>
            <a:r>
              <a:rPr dirty="0"/>
              <a:t>. Tout le dossier </a:t>
            </a:r>
            <a:r>
              <a:rPr dirty="0" err="1">
                <a:latin typeface="Consolas"/>
              </a:rPr>
              <a:t>src</a:t>
            </a:r>
            <a:r>
              <a:rPr dirty="0">
                <a:latin typeface="Consolas"/>
              </a:rPr>
              <a:t>/main/java</a:t>
            </a:r>
            <a:r>
              <a:rPr dirty="0"/>
              <a:t> se compile d</a:t>
            </a:r>
            <a:r>
              <a:rPr lang="fr-BE" dirty="0"/>
              <a:t>'</a:t>
            </a:r>
            <a:r>
              <a:rPr dirty="0"/>
              <a:t>un seul bloc ; un </a:t>
            </a:r>
            <a:r>
              <a:rPr dirty="0" err="1"/>
              <a:t>exercice</a:t>
            </a:r>
            <a:r>
              <a:rPr dirty="0"/>
              <a:t> </a:t>
            </a:r>
            <a:r>
              <a:rPr dirty="0" err="1"/>
              <a:t>laissé</a:t>
            </a:r>
            <a:r>
              <a:rPr dirty="0"/>
              <a:t> à </a:t>
            </a:r>
            <a:r>
              <a:rPr dirty="0" err="1"/>
              <a:t>moitié</a:t>
            </a:r>
            <a:r>
              <a:rPr dirty="0"/>
              <a:t> </a:t>
            </a:r>
            <a:r>
              <a:rPr dirty="0" err="1"/>
              <a:t>écrit</a:t>
            </a:r>
            <a:r>
              <a:rPr dirty="0"/>
              <a:t> </a:t>
            </a:r>
            <a:r>
              <a:rPr dirty="0" err="1"/>
              <a:t>empêche</a:t>
            </a:r>
            <a:r>
              <a:rPr dirty="0"/>
              <a:t> de lancer </a:t>
            </a:r>
            <a:r>
              <a:rPr dirty="0" err="1"/>
              <a:t>tous</a:t>
            </a:r>
            <a:r>
              <a:rPr dirty="0"/>
              <a:t> les </a:t>
            </a:r>
            <a:r>
              <a:rPr dirty="0" err="1"/>
              <a:t>autres</a:t>
            </a:r>
            <a:r>
              <a:rPr dirty="0"/>
              <a:t>, y </a:t>
            </a:r>
            <a:r>
              <a:rPr dirty="0" err="1"/>
              <a:t>compris</a:t>
            </a:r>
            <a:r>
              <a:rPr dirty="0"/>
              <a:t> </a:t>
            </a:r>
            <a:r>
              <a:rPr dirty="0" err="1"/>
              <a:t>ceux</a:t>
            </a:r>
            <a:r>
              <a:rPr dirty="0"/>
              <a:t> des séances </a:t>
            </a:r>
            <a:r>
              <a:rPr dirty="0" err="1"/>
              <a:t>précédentes</a:t>
            </a:r>
            <a:r>
              <a:rPr dirty="0"/>
              <a:t>. Avant de passer à </a:t>
            </a:r>
            <a:r>
              <a:rPr dirty="0" err="1"/>
              <a:t>autre</a:t>
            </a:r>
            <a:r>
              <a:rPr dirty="0"/>
              <a:t> chose, </a:t>
            </a:r>
            <a:r>
              <a:rPr dirty="0" err="1"/>
              <a:t>vérifiez</a:t>
            </a:r>
            <a:r>
              <a:rPr dirty="0"/>
              <a:t> </a:t>
            </a:r>
            <a:r>
              <a:rPr dirty="0" err="1"/>
              <a:t>que</a:t>
            </a:r>
            <a:r>
              <a:rPr dirty="0"/>
              <a:t> </a:t>
            </a:r>
            <a:r>
              <a:rPr dirty="0" err="1"/>
              <a:t>votre</a:t>
            </a:r>
            <a:r>
              <a:rPr dirty="0"/>
              <a:t> code compile. Sinon, deux issues : le </a:t>
            </a:r>
            <a:r>
              <a:rPr dirty="0" err="1"/>
              <a:t>corriger</a:t>
            </a:r>
            <a:r>
              <a:rPr dirty="0"/>
              <a:t>, </a:t>
            </a:r>
            <a:r>
              <a:rPr dirty="0" err="1"/>
              <a:t>ou</a:t>
            </a:r>
            <a:r>
              <a:rPr dirty="0"/>
              <a:t> </a:t>
            </a:r>
            <a:r>
              <a:rPr dirty="0" err="1"/>
              <a:t>mettre</a:t>
            </a:r>
            <a:r>
              <a:rPr dirty="0"/>
              <a:t> le morceau </a:t>
            </a:r>
            <a:r>
              <a:rPr dirty="0" err="1"/>
              <a:t>en</a:t>
            </a:r>
            <a:r>
              <a:rPr dirty="0"/>
              <a:t> </a:t>
            </a:r>
            <a:r>
              <a:rPr dirty="0" err="1"/>
              <a:t>chantier</a:t>
            </a:r>
            <a:r>
              <a:rPr dirty="0"/>
              <a:t> entre </a:t>
            </a:r>
            <a:r>
              <a:rPr dirty="0" err="1"/>
              <a:t>commentaires</a:t>
            </a:r>
            <a:r>
              <a:rPr dirty="0"/>
              <a:t> avec </a:t>
            </a:r>
            <a:r>
              <a:rPr dirty="0">
                <a:latin typeface="Consolas"/>
              </a:rPr>
              <a:t>Ctrl+/</a:t>
            </a:r>
            <a:r>
              <a:rPr dirty="0"/>
              <a:t> (</a:t>
            </a:r>
            <a:r>
              <a:rPr dirty="0">
                <a:latin typeface="Consolas"/>
              </a:rPr>
              <a:t>⌘/</a:t>
            </a:r>
            <a:r>
              <a:rPr dirty="0"/>
              <a:t> sur Mac). C</a:t>
            </a:r>
            <a:r>
              <a:rPr lang="fr-BE" dirty="0"/>
              <a:t>'</a:t>
            </a:r>
            <a:r>
              <a:rPr dirty="0"/>
              <a:t>est </a:t>
            </a:r>
            <a:r>
              <a:rPr dirty="0" err="1"/>
              <a:t>aussi</a:t>
            </a:r>
            <a:r>
              <a:rPr dirty="0"/>
              <a:t> </a:t>
            </a:r>
            <a:r>
              <a:rPr dirty="0" err="1"/>
              <a:t>ce</a:t>
            </a:r>
            <a:r>
              <a:rPr dirty="0"/>
              <a:t> </a:t>
            </a:r>
            <a:r>
              <a:rPr dirty="0" err="1"/>
              <a:t>que</a:t>
            </a:r>
            <a:r>
              <a:rPr dirty="0"/>
              <a:t> l</a:t>
            </a:r>
            <a:r>
              <a:rPr lang="fr-BE" dirty="0"/>
              <a:t>'</a:t>
            </a:r>
            <a:r>
              <a:rPr dirty="0"/>
              <a:t>examen </a:t>
            </a:r>
            <a:r>
              <a:rPr dirty="0" err="1"/>
              <a:t>demande</a:t>
            </a:r>
            <a:r>
              <a:rPr dirty="0"/>
              <a:t> : on y rend du code qui compile.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guide </a:t>
            </a:r>
            <a:r>
              <a:rPr dirty="0" err="1"/>
              <a:t>couvre</a:t>
            </a:r>
            <a:r>
              <a:rPr dirty="0"/>
              <a:t> </a:t>
            </a:r>
            <a:r>
              <a:rPr dirty="0" err="1"/>
              <a:t>ce</a:t>
            </a:r>
            <a:r>
              <a:rPr dirty="0"/>
              <a:t> </a:t>
            </a:r>
            <a:r>
              <a:rPr dirty="0" err="1"/>
              <a:t>qu</a:t>
            </a:r>
            <a:r>
              <a:rPr lang="fr-BE" dirty="0"/>
              <a:t>'</a:t>
            </a:r>
            <a:r>
              <a:rPr dirty="0"/>
              <a:t>il faut savoir d</a:t>
            </a:r>
            <a:r>
              <a:rPr lang="fr-BE" dirty="0"/>
              <a:t>'</a:t>
            </a:r>
            <a:r>
              <a:rPr dirty="0"/>
              <a:t>IntelliJ pour </a:t>
            </a:r>
            <a:r>
              <a:rPr dirty="0" err="1"/>
              <a:t>ce</a:t>
            </a:r>
            <a:r>
              <a:rPr dirty="0"/>
              <a:t> </a:t>
            </a:r>
            <a:r>
              <a:rPr dirty="0" err="1"/>
              <a:t>cours</a:t>
            </a:r>
            <a:r>
              <a:rPr dirty="0"/>
              <a:t>, captures d</a:t>
            </a:r>
            <a:r>
              <a:rPr lang="fr-BE" dirty="0"/>
              <a:t>'</a:t>
            </a:r>
            <a:r>
              <a:rPr dirty="0" err="1"/>
              <a:t>écran</a:t>
            </a:r>
            <a:r>
              <a:rPr dirty="0"/>
              <a:t> à l</a:t>
            </a:r>
            <a:r>
              <a:rPr lang="fr-BE" dirty="0"/>
              <a:t>'</a:t>
            </a:r>
            <a:r>
              <a:rPr dirty="0" err="1"/>
              <a:t>appui</a:t>
            </a:r>
            <a:r>
              <a:rPr dirty="0"/>
              <a:t> : l</a:t>
            </a:r>
            <a:r>
              <a:rPr lang="fr-BE" dirty="0"/>
              <a:t>'</a:t>
            </a:r>
            <a:r>
              <a:rPr dirty="0"/>
              <a:t>installation, la </a:t>
            </a:r>
            <a:r>
              <a:rPr dirty="0" err="1"/>
              <a:t>création</a:t>
            </a:r>
            <a:r>
              <a:rPr dirty="0"/>
              <a:t> et l</a:t>
            </a:r>
            <a:r>
              <a:rPr lang="fr-BE" dirty="0"/>
              <a:t>'</a:t>
            </a:r>
            <a:r>
              <a:rPr dirty="0"/>
              <a:t>ouverture d</a:t>
            </a:r>
            <a:r>
              <a:rPr lang="fr-BE" dirty="0"/>
              <a:t>'</a:t>
            </a:r>
            <a:r>
              <a:rPr dirty="0"/>
              <a:t>un </a:t>
            </a:r>
            <a:r>
              <a:rPr dirty="0" err="1"/>
              <a:t>projet</a:t>
            </a:r>
            <a:r>
              <a:rPr dirty="0"/>
              <a:t>, l</a:t>
            </a:r>
            <a:r>
              <a:rPr lang="fr-BE" dirty="0"/>
              <a:t>'</a:t>
            </a:r>
            <a:r>
              <a:rPr dirty="0" err="1"/>
              <a:t>exécution</a:t>
            </a:r>
            <a:r>
              <a:rPr dirty="0"/>
              <a:t>, le </a:t>
            </a:r>
            <a:r>
              <a:rPr dirty="0" err="1"/>
              <a:t>débogage</a:t>
            </a:r>
            <a:r>
              <a:rPr dirty="0"/>
              <a:t>, le </a:t>
            </a:r>
            <a:r>
              <a:rPr dirty="0" err="1"/>
              <a:t>paramétrage</a:t>
            </a:r>
            <a:r>
              <a:rPr dirty="0"/>
              <a:t>.</a:t>
            </a:r>
          </a:p>
          <a:p>
            <a:r>
              <a:rPr dirty="0"/>
              <a:t>Les entrées </a:t>
            </a:r>
            <a:r>
              <a:rPr dirty="0">
                <a:latin typeface="Consolas"/>
              </a:rPr>
              <a:t>ERR</a:t>
            </a:r>
            <a:r>
              <a:rPr dirty="0"/>
              <a:t> </a:t>
            </a:r>
            <a:r>
              <a:rPr dirty="0" err="1"/>
              <a:t>partent</a:t>
            </a:r>
            <a:r>
              <a:rPr dirty="0"/>
              <a:t> du message </a:t>
            </a:r>
            <a:r>
              <a:rPr dirty="0" err="1"/>
              <a:t>affiché</a:t>
            </a:r>
            <a:r>
              <a:rPr dirty="0"/>
              <a:t> et </a:t>
            </a:r>
            <a:r>
              <a:rPr dirty="0" err="1"/>
              <a:t>expliquent</a:t>
            </a:r>
            <a:r>
              <a:rPr dirty="0"/>
              <a:t> </a:t>
            </a:r>
            <a:r>
              <a:rPr dirty="0" err="1"/>
              <a:t>sa</a:t>
            </a:r>
            <a:r>
              <a:rPr dirty="0"/>
              <a:t> cause la plus probable. C</a:t>
            </a:r>
            <a:r>
              <a:rPr lang="fr-BE" dirty="0"/>
              <a:t>'</a:t>
            </a:r>
            <a:r>
              <a:rPr dirty="0"/>
              <a:t>est le premier </a:t>
            </a:r>
            <a:r>
              <a:rPr dirty="0" err="1"/>
              <a:t>réflexe</a:t>
            </a:r>
            <a:r>
              <a:rPr dirty="0"/>
              <a:t> à </a:t>
            </a:r>
            <a:r>
              <a:rPr dirty="0" err="1"/>
              <a:t>avoir</a:t>
            </a:r>
            <a:r>
              <a:rPr dirty="0"/>
              <a:t> </a:t>
            </a:r>
            <a:r>
              <a:rPr dirty="0" err="1"/>
              <a:t>quand</a:t>
            </a:r>
            <a:r>
              <a:rPr dirty="0"/>
              <a:t> quelque chose ne </a:t>
            </a:r>
            <a:r>
              <a:rPr dirty="0" err="1"/>
              <a:t>fonctionne</a:t>
            </a:r>
            <a:r>
              <a:rPr dirty="0"/>
              <a:t> pas.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mémento</a:t>
            </a:r>
            <a:r>
              <a:rPr dirty="0"/>
              <a:t> technique </a:t>
            </a:r>
            <a:r>
              <a:rPr dirty="0" err="1"/>
              <a:t>explique</a:t>
            </a:r>
            <a:r>
              <a:rPr dirty="0"/>
              <a:t> </a:t>
            </a:r>
            <a:r>
              <a:rPr dirty="0" err="1"/>
              <a:t>ce</a:t>
            </a:r>
            <a:r>
              <a:rPr dirty="0"/>
              <a:t> </a:t>
            </a:r>
            <a:r>
              <a:rPr dirty="0" err="1"/>
              <a:t>qu</a:t>
            </a:r>
            <a:r>
              <a:rPr lang="fr-BE" dirty="0"/>
              <a:t>'</a:t>
            </a:r>
            <a:r>
              <a:rPr dirty="0"/>
              <a:t>IntelliJ fait à </a:t>
            </a:r>
            <a:r>
              <a:rPr dirty="0" err="1"/>
              <a:t>votre</a:t>
            </a:r>
            <a:r>
              <a:rPr dirty="0"/>
              <a:t> place : </a:t>
            </a:r>
            <a:r>
              <a:rPr dirty="0" err="1"/>
              <a:t>ce</a:t>
            </a:r>
            <a:r>
              <a:rPr dirty="0"/>
              <a:t> </a:t>
            </a:r>
            <a:r>
              <a:rPr dirty="0" err="1"/>
              <a:t>que</a:t>
            </a:r>
            <a:r>
              <a:rPr dirty="0"/>
              <a:t> </a:t>
            </a:r>
            <a:r>
              <a:rPr dirty="0" err="1"/>
              <a:t>sont</a:t>
            </a:r>
            <a:r>
              <a:rPr dirty="0"/>
              <a:t> la JVM, le JRE et le JDK, comment un </a:t>
            </a:r>
            <a:r>
              <a:rPr dirty="0" err="1"/>
              <a:t>fichier</a:t>
            </a:r>
            <a:r>
              <a:rPr dirty="0"/>
              <a:t> </a:t>
            </a:r>
            <a:r>
              <a:rPr dirty="0">
                <a:latin typeface="Consolas"/>
              </a:rPr>
              <a:t>.java</a:t>
            </a:r>
            <a:r>
              <a:rPr dirty="0"/>
              <a:t> </a:t>
            </a:r>
            <a:r>
              <a:rPr dirty="0" err="1"/>
              <a:t>devient</a:t>
            </a:r>
            <a:r>
              <a:rPr dirty="0"/>
              <a:t> un </a:t>
            </a:r>
            <a:r>
              <a:rPr dirty="0" err="1"/>
              <a:t>programme</a:t>
            </a:r>
            <a:r>
              <a:rPr dirty="0"/>
              <a:t>, comment Maven </a:t>
            </a:r>
            <a:r>
              <a:rPr dirty="0" err="1"/>
              <a:t>récupère</a:t>
            </a:r>
            <a:r>
              <a:rPr dirty="0"/>
              <a:t> les bibliothèques, comment se lance </a:t>
            </a:r>
            <a:r>
              <a:rPr dirty="0" err="1"/>
              <a:t>une</a:t>
            </a:r>
            <a:r>
              <a:rPr dirty="0"/>
              <a:t> application JavaFX.</a:t>
            </a:r>
          </a:p>
          <a:p>
            <a:r>
              <a:rPr dirty="0"/>
              <a:t>Vous </a:t>
            </a:r>
            <a:r>
              <a:rPr dirty="0" err="1"/>
              <a:t>pouvez</a:t>
            </a:r>
            <a:r>
              <a:rPr dirty="0"/>
              <a:t> </a:t>
            </a:r>
            <a:r>
              <a:rPr dirty="0" err="1"/>
              <a:t>écrire</a:t>
            </a:r>
            <a:r>
              <a:rPr dirty="0"/>
              <a:t> </a:t>
            </a:r>
            <a:r>
              <a:rPr dirty="0" err="1"/>
              <a:t>vos</a:t>
            </a:r>
            <a:r>
              <a:rPr dirty="0"/>
              <a:t> premiers </a:t>
            </a:r>
            <a:r>
              <a:rPr dirty="0" err="1"/>
              <a:t>programmes</a:t>
            </a:r>
            <a:r>
              <a:rPr dirty="0"/>
              <a:t> sans le lire, </a:t>
            </a:r>
            <a:r>
              <a:rPr dirty="0" err="1"/>
              <a:t>mais</a:t>
            </a:r>
            <a:r>
              <a:rPr dirty="0"/>
              <a:t> il </a:t>
            </a:r>
            <a:r>
              <a:rPr dirty="0" err="1"/>
              <a:t>répond</a:t>
            </a:r>
            <a:r>
              <a:rPr dirty="0"/>
              <a:t> à la </a:t>
            </a:r>
            <a:r>
              <a:rPr dirty="0" err="1"/>
              <a:t>plupart</a:t>
            </a:r>
            <a:r>
              <a:rPr dirty="0"/>
              <a:t> des « </a:t>
            </a:r>
            <a:r>
              <a:rPr dirty="0" err="1"/>
              <a:t>pourquoi</a:t>
            </a:r>
            <a:r>
              <a:rPr dirty="0"/>
              <a:t> </a:t>
            </a:r>
            <a:r>
              <a:rPr dirty="0" err="1"/>
              <a:t>ça</a:t>
            </a:r>
            <a:r>
              <a:rPr dirty="0"/>
              <a:t> </a:t>
            </a:r>
            <a:r>
              <a:rPr dirty="0" err="1"/>
              <a:t>marche</a:t>
            </a:r>
            <a:r>
              <a:rPr dirty="0"/>
              <a:t> ?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t>programme</a:t>
            </a:r>
            <a:r>
              <a:rPr dirty="0"/>
              <a:t> qui </a:t>
            </a:r>
            <a:r>
              <a:rPr dirty="0" err="1"/>
              <a:t>fonctionne</a:t>
            </a:r>
            <a:r>
              <a:rPr dirty="0"/>
              <a:t> n</a:t>
            </a:r>
            <a:r>
              <a:rPr lang="fr-BE" dirty="0"/>
              <a:t>'</a:t>
            </a:r>
            <a:r>
              <a:rPr dirty="0"/>
              <a:t>est pas </a:t>
            </a:r>
            <a:r>
              <a:rPr dirty="0" err="1"/>
              <a:t>forcément</a:t>
            </a:r>
            <a:r>
              <a:rPr dirty="0"/>
              <a:t> un </a:t>
            </a:r>
            <a:r>
              <a:rPr dirty="0" err="1"/>
              <a:t>programme</a:t>
            </a:r>
            <a:r>
              <a:rPr dirty="0"/>
              <a:t> </a:t>
            </a:r>
            <a:r>
              <a:rPr dirty="0" err="1"/>
              <a:t>lisible</a:t>
            </a:r>
            <a:r>
              <a:rPr dirty="0"/>
              <a:t>. Le </a:t>
            </a:r>
            <a:r>
              <a:rPr dirty="0" err="1"/>
              <a:t>mémento</a:t>
            </a:r>
            <a:r>
              <a:rPr dirty="0"/>
              <a:t> </a:t>
            </a:r>
            <a:r>
              <a:rPr dirty="0" err="1"/>
              <a:t>rassemble</a:t>
            </a:r>
            <a:r>
              <a:rPr dirty="0"/>
              <a:t> 36 </a:t>
            </a:r>
            <a:r>
              <a:rPr dirty="0" err="1"/>
              <a:t>règles</a:t>
            </a:r>
            <a:r>
              <a:rPr dirty="0"/>
              <a:t> simples pour </a:t>
            </a:r>
            <a:r>
              <a:rPr dirty="0" err="1"/>
              <a:t>écrire</a:t>
            </a:r>
            <a:r>
              <a:rPr dirty="0"/>
              <a:t> du code </a:t>
            </a:r>
            <a:r>
              <a:rPr dirty="0" err="1"/>
              <a:t>qu</a:t>
            </a:r>
            <a:r>
              <a:rPr lang="fr-BE" dirty="0"/>
              <a:t>'</a:t>
            </a:r>
            <a:r>
              <a:rPr dirty="0"/>
              <a:t>un </a:t>
            </a:r>
            <a:r>
              <a:rPr dirty="0" err="1"/>
              <a:t>autre</a:t>
            </a:r>
            <a:r>
              <a:rPr dirty="0"/>
              <a:t> </a:t>
            </a:r>
            <a:r>
              <a:rPr dirty="0" err="1"/>
              <a:t>développeur</a:t>
            </a:r>
            <a:r>
              <a:rPr dirty="0"/>
              <a:t>, </a:t>
            </a:r>
            <a:r>
              <a:rPr dirty="0" err="1"/>
              <a:t>ou</a:t>
            </a:r>
            <a:r>
              <a:rPr dirty="0"/>
              <a:t> vous-</a:t>
            </a:r>
            <a:r>
              <a:rPr dirty="0" err="1"/>
              <a:t>même</a:t>
            </a:r>
            <a:r>
              <a:rPr dirty="0"/>
              <a:t> dans six </a:t>
            </a:r>
            <a:r>
              <a:rPr dirty="0" err="1"/>
              <a:t>mois</a:t>
            </a:r>
            <a:r>
              <a:rPr dirty="0"/>
              <a:t>, </a:t>
            </a:r>
            <a:r>
              <a:rPr dirty="0" err="1"/>
              <a:t>comprendra</a:t>
            </a:r>
            <a:r>
              <a:rPr dirty="0"/>
              <a:t> sans effort. Elles s</a:t>
            </a:r>
            <a:r>
              <a:rPr lang="fr-BE" dirty="0"/>
              <a:t>'</a:t>
            </a:r>
            <a:r>
              <a:rPr dirty="0" err="1"/>
              <a:t>inspirent</a:t>
            </a:r>
            <a:r>
              <a:rPr dirty="0"/>
              <a:t> du livre de Robert C. Martin ; la </a:t>
            </a:r>
            <a:r>
              <a:rPr dirty="0" err="1"/>
              <a:t>rubrique</a:t>
            </a:r>
            <a:r>
              <a:rPr dirty="0"/>
              <a:t> « Pour </a:t>
            </a:r>
            <a:r>
              <a:rPr dirty="0" err="1"/>
              <a:t>aller</a:t>
            </a:r>
            <a:r>
              <a:rPr dirty="0"/>
              <a:t> plus loin » propose </a:t>
            </a:r>
            <a:r>
              <a:rPr dirty="0" err="1"/>
              <a:t>aussi</a:t>
            </a:r>
            <a:r>
              <a:rPr dirty="0"/>
              <a:t> </a:t>
            </a:r>
            <a:r>
              <a:rPr dirty="0" err="1"/>
              <a:t>une</a:t>
            </a:r>
            <a:r>
              <a:rPr dirty="0"/>
              <a:t> </a:t>
            </a:r>
            <a:r>
              <a:rPr dirty="0" err="1"/>
              <a:t>vidéo</a:t>
            </a:r>
            <a:r>
              <a:rPr dirty="0"/>
              <a:t> </a:t>
            </a:r>
            <a:r>
              <a:rPr dirty="0" err="1"/>
              <a:t>en</a:t>
            </a:r>
            <a:r>
              <a:rPr dirty="0"/>
              <a:t> français de Julien Lucas.</a:t>
            </a:r>
          </a:p>
          <a:p>
            <a:r>
              <a:rPr dirty="0" err="1"/>
              <a:t>Ces</a:t>
            </a:r>
            <a:r>
              <a:rPr dirty="0"/>
              <a:t> </a:t>
            </a:r>
            <a:r>
              <a:rPr dirty="0" err="1"/>
              <a:t>règles</a:t>
            </a:r>
            <a:r>
              <a:rPr dirty="0"/>
              <a:t> ne font pas l</a:t>
            </a:r>
            <a:r>
              <a:rPr lang="fr-BE" dirty="0"/>
              <a:t>'</a:t>
            </a:r>
            <a:r>
              <a:rPr dirty="0" err="1"/>
              <a:t>objet</a:t>
            </a:r>
            <a:r>
              <a:rPr dirty="0"/>
              <a:t> d</a:t>
            </a:r>
            <a:r>
              <a:rPr lang="fr-BE" dirty="0"/>
              <a:t>'</a:t>
            </a:r>
            <a:r>
              <a:rPr dirty="0"/>
              <a:t>un module. Elles </a:t>
            </a:r>
            <a:r>
              <a:rPr dirty="0" err="1"/>
              <a:t>arrivent</a:t>
            </a:r>
            <a:r>
              <a:rPr dirty="0"/>
              <a:t> par petites touches, au fil des </a:t>
            </a:r>
            <a:r>
              <a:rPr dirty="0" err="1"/>
              <a:t>exercices</a:t>
            </a:r>
            <a:r>
              <a:rPr dirty="0"/>
              <a:t>, </a:t>
            </a:r>
            <a:r>
              <a:rPr dirty="0" err="1"/>
              <a:t>quand</a:t>
            </a:r>
            <a:r>
              <a:rPr dirty="0"/>
              <a:t> </a:t>
            </a:r>
            <a:r>
              <a:rPr dirty="0" err="1"/>
              <a:t>elles</a:t>
            </a:r>
            <a:r>
              <a:rPr dirty="0"/>
              <a:t> </a:t>
            </a:r>
            <a:r>
              <a:rPr dirty="0" err="1"/>
              <a:t>deviennent</a:t>
            </a:r>
            <a:r>
              <a:rPr dirty="0"/>
              <a:t> </a:t>
            </a:r>
            <a:r>
              <a:rPr dirty="0" err="1"/>
              <a:t>utiles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fascicules et les slides </a:t>
            </a:r>
            <a:r>
              <a:rPr dirty="0" err="1"/>
              <a:t>renvoient</a:t>
            </a:r>
            <a:r>
              <a:rPr dirty="0"/>
              <a:t> aux </a:t>
            </a:r>
            <a:r>
              <a:rPr dirty="0" err="1"/>
              <a:t>mémentos</a:t>
            </a:r>
            <a:r>
              <a:rPr dirty="0"/>
              <a:t> par </a:t>
            </a:r>
            <a:r>
              <a:rPr dirty="0" err="1"/>
              <a:t>ces</a:t>
            </a:r>
            <a:r>
              <a:rPr dirty="0"/>
              <a:t> codes. Par </a:t>
            </a:r>
            <a:r>
              <a:rPr dirty="0" err="1"/>
              <a:t>exemple</a:t>
            </a:r>
            <a:r>
              <a:rPr dirty="0"/>
              <a:t>, l</a:t>
            </a:r>
            <a:r>
              <a:rPr lang="fr-BE" dirty="0"/>
              <a:t>'</a:t>
            </a:r>
            <a:r>
              <a:rPr dirty="0" err="1"/>
              <a:t>exercice</a:t>
            </a:r>
            <a:r>
              <a:rPr dirty="0"/>
              <a:t> </a:t>
            </a:r>
            <a:r>
              <a:rPr dirty="0">
                <a:latin typeface="Consolas"/>
              </a:rPr>
              <a:t>POO.5</a:t>
            </a:r>
            <a:r>
              <a:rPr dirty="0"/>
              <a:t> vous </a:t>
            </a:r>
            <a:r>
              <a:rPr dirty="0" err="1"/>
              <a:t>demande</a:t>
            </a:r>
            <a:r>
              <a:rPr dirty="0"/>
              <a:t> de lire </a:t>
            </a:r>
            <a:r>
              <a:rPr dirty="0" err="1"/>
              <a:t>une</a:t>
            </a:r>
            <a:r>
              <a:rPr dirty="0"/>
              <a:t> Javadoc : il vous </a:t>
            </a:r>
            <a:r>
              <a:rPr dirty="0" err="1"/>
              <a:t>renvoie</a:t>
            </a:r>
            <a:r>
              <a:rPr dirty="0"/>
              <a:t> à </a:t>
            </a:r>
            <a:r>
              <a:rPr dirty="0">
                <a:latin typeface="Consolas"/>
              </a:rPr>
              <a:t>IDE.14</a:t>
            </a:r>
            <a:r>
              <a:rPr dirty="0"/>
              <a:t>, qui montre comment l</a:t>
            </a:r>
            <a:r>
              <a:rPr lang="fr-BE" dirty="0"/>
              <a:t>'</a:t>
            </a:r>
            <a:r>
              <a:rPr dirty="0" err="1"/>
              <a:t>afficher</a:t>
            </a:r>
            <a:r>
              <a:rPr dirty="0"/>
              <a:t> sans quitter IntelliJ. Le module POO vous </a:t>
            </a:r>
            <a:r>
              <a:rPr dirty="0" err="1"/>
              <a:t>renvoie</a:t>
            </a:r>
            <a:r>
              <a:rPr dirty="0"/>
              <a:t> </a:t>
            </a:r>
            <a:r>
              <a:rPr dirty="0" err="1"/>
              <a:t>aussi</a:t>
            </a:r>
            <a:r>
              <a:rPr dirty="0"/>
              <a:t> à </a:t>
            </a:r>
            <a:r>
              <a:rPr dirty="0">
                <a:latin typeface="Consolas"/>
              </a:rPr>
              <a:t>CC-MET.8</a:t>
            </a:r>
            <a:r>
              <a:rPr dirty="0"/>
              <a:t> : </a:t>
            </a:r>
            <a:r>
              <a:rPr dirty="0" err="1"/>
              <a:t>une</a:t>
            </a:r>
            <a:r>
              <a:rPr dirty="0"/>
              <a:t> </a:t>
            </a:r>
            <a:r>
              <a:rPr dirty="0" err="1"/>
              <a:t>méthode</a:t>
            </a:r>
            <a:r>
              <a:rPr dirty="0"/>
              <a:t> agit </a:t>
            </a:r>
            <a:r>
              <a:rPr dirty="0" err="1"/>
              <a:t>ou</a:t>
            </a:r>
            <a:r>
              <a:rPr dirty="0"/>
              <a:t> </a:t>
            </a:r>
            <a:r>
              <a:rPr dirty="0" err="1"/>
              <a:t>répond</a:t>
            </a:r>
            <a:r>
              <a:rPr dirty="0"/>
              <a:t>, jamais les deux.</a:t>
            </a:r>
          </a:p>
          <a:p>
            <a:r>
              <a:rPr dirty="0"/>
              <a:t>Le premier renvoi arrive </a:t>
            </a:r>
            <a:r>
              <a:rPr dirty="0" err="1"/>
              <a:t>dès</a:t>
            </a:r>
            <a:r>
              <a:rPr dirty="0"/>
              <a:t> le module POO. </a:t>
            </a:r>
            <a:r>
              <a:rPr dirty="0" err="1"/>
              <a:t>Prenez</a:t>
            </a:r>
            <a:r>
              <a:rPr dirty="0"/>
              <a:t> l</a:t>
            </a:r>
            <a:r>
              <a:rPr lang="fr-BE" dirty="0"/>
              <a:t>'</a:t>
            </a:r>
            <a:r>
              <a:rPr dirty="0"/>
              <a:t>habitude de le </a:t>
            </a:r>
            <a:r>
              <a:rPr dirty="0" err="1"/>
              <a:t>suivre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documentation </a:t>
            </a:r>
            <a:r>
              <a:rPr dirty="0" err="1"/>
              <a:t>officielle</a:t>
            </a:r>
            <a:r>
              <a:rPr dirty="0"/>
              <a:t> de Java, et </a:t>
            </a:r>
            <a:r>
              <a:rPr dirty="0" err="1"/>
              <a:t>notamment</a:t>
            </a:r>
            <a:r>
              <a:rPr dirty="0"/>
              <a:t> la Javadoc qui </a:t>
            </a:r>
            <a:r>
              <a:rPr dirty="0" err="1"/>
              <a:t>décrit</a:t>
            </a:r>
            <a:r>
              <a:rPr dirty="0"/>
              <a:t> </a:t>
            </a:r>
            <a:r>
              <a:rPr dirty="0" err="1"/>
              <a:t>chaque</a:t>
            </a:r>
            <a:r>
              <a:rPr dirty="0"/>
              <a:t> </a:t>
            </a:r>
            <a:r>
              <a:rPr dirty="0" err="1"/>
              <a:t>classe</a:t>
            </a:r>
            <a:r>
              <a:rPr dirty="0"/>
              <a:t> de la bibliothèque standard, se </a:t>
            </a:r>
            <a:r>
              <a:rPr dirty="0" err="1"/>
              <a:t>trouve</a:t>
            </a:r>
            <a:r>
              <a:rPr dirty="0"/>
              <a:t> sur le site d</a:t>
            </a:r>
            <a:r>
              <a:rPr lang="fr-BE" dirty="0"/>
              <a:t>'</a:t>
            </a:r>
            <a:r>
              <a:rPr dirty="0"/>
              <a:t>Oracle. </a:t>
            </a:r>
            <a:r>
              <a:rPr dirty="0" err="1"/>
              <a:t>Choisissez</a:t>
            </a:r>
            <a:r>
              <a:rPr dirty="0"/>
              <a:t> la version de Java </a:t>
            </a:r>
            <a:r>
              <a:rPr dirty="0" err="1"/>
              <a:t>annoncée</a:t>
            </a:r>
            <a:r>
              <a:rPr dirty="0"/>
              <a:t> sur Moodle : les classes </a:t>
            </a:r>
            <a:r>
              <a:rPr dirty="0" err="1"/>
              <a:t>évoluent</a:t>
            </a:r>
            <a:r>
              <a:rPr dirty="0"/>
              <a:t> d</a:t>
            </a:r>
            <a:r>
              <a:rPr lang="fr-BE" dirty="0"/>
              <a:t>'</a:t>
            </a:r>
            <a:r>
              <a:rPr dirty="0" err="1"/>
              <a:t>une</a:t>
            </a:r>
            <a:r>
              <a:rPr dirty="0"/>
              <a:t> version à l</a:t>
            </a:r>
            <a:r>
              <a:rPr lang="fr-BE" dirty="0"/>
              <a:t>'</a:t>
            </a:r>
            <a:r>
              <a:rPr dirty="0" err="1"/>
              <a:t>autre</a:t>
            </a:r>
            <a:r>
              <a:rPr dirty="0"/>
              <a:t>.</a:t>
            </a:r>
          </a:p>
          <a:p>
            <a:r>
              <a:rPr dirty="0"/>
              <a:t>Le site de Jean-Michel </a:t>
            </a:r>
            <a:r>
              <a:rPr dirty="0" err="1"/>
              <a:t>Doudoux</a:t>
            </a:r>
            <a:r>
              <a:rPr dirty="0"/>
              <a:t> propose </a:t>
            </a:r>
            <a:r>
              <a:rPr dirty="0" err="1"/>
              <a:t>en</a:t>
            </a:r>
            <a:r>
              <a:rPr dirty="0"/>
              <a:t> français un tour très </a:t>
            </a:r>
            <a:r>
              <a:rPr dirty="0" err="1"/>
              <a:t>complet</a:t>
            </a:r>
            <a:r>
              <a:rPr dirty="0"/>
              <a:t> du </a:t>
            </a:r>
            <a:r>
              <a:rPr dirty="0" err="1"/>
              <a:t>langage</a:t>
            </a:r>
            <a:r>
              <a:rPr dirty="0"/>
              <a:t> et de </a:t>
            </a:r>
            <a:r>
              <a:rPr dirty="0" err="1"/>
              <a:t>sa</a:t>
            </a:r>
            <a:r>
              <a:rPr dirty="0"/>
              <a:t> bibliothèque.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Vous </a:t>
            </a:r>
            <a:r>
              <a:rPr dirty="0" err="1"/>
              <a:t>avez</a:t>
            </a:r>
            <a:r>
              <a:rPr dirty="0"/>
              <a:t> </a:t>
            </a:r>
            <a:r>
              <a:rPr dirty="0" err="1"/>
              <a:t>maintenant</a:t>
            </a:r>
            <a:r>
              <a:rPr dirty="0"/>
              <a:t> la carte du </a:t>
            </a:r>
            <a:r>
              <a:rPr dirty="0" err="1"/>
              <a:t>cours</a:t>
            </a:r>
            <a:r>
              <a:rPr dirty="0"/>
              <a:t>. Le module </a:t>
            </a:r>
            <a:r>
              <a:rPr dirty="0" err="1"/>
              <a:t>suivant</a:t>
            </a:r>
            <a:r>
              <a:rPr dirty="0"/>
              <a:t>, POO, entre dans le </a:t>
            </a:r>
            <a:r>
              <a:rPr dirty="0" err="1"/>
              <a:t>vif</a:t>
            </a:r>
            <a:r>
              <a:rPr dirty="0"/>
              <a:t> du </a:t>
            </a:r>
            <a:r>
              <a:rPr dirty="0" err="1"/>
              <a:t>sujet</a:t>
            </a:r>
            <a:r>
              <a:rPr dirty="0"/>
              <a:t> : il commence par </a:t>
            </a:r>
            <a:r>
              <a:rPr dirty="0" err="1"/>
              <a:t>ce</a:t>
            </a:r>
            <a:r>
              <a:rPr dirty="0"/>
              <a:t> qui change </a:t>
            </a:r>
            <a:r>
              <a:rPr dirty="0" err="1"/>
              <a:t>quand</a:t>
            </a:r>
            <a:r>
              <a:rPr dirty="0"/>
              <a:t> on passe de C# à Java.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18"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jpeg"/><Relationship Id="rId17" Type="http://schemas.openxmlformats.org/officeDocument/2006/relationships/image" Target="../media/image16.png"/><Relationship Id="rId2" Type="http://schemas.openxmlformats.org/officeDocument/2006/relationships/notesSlide" Target="../notesSlides/notesSlide3.xml"/><Relationship Id="rId16" Type="http://schemas.openxmlformats.org/officeDocument/2006/relationships/image" Target="../media/image15.png"/><Relationship Id="rId20"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5.tiff"/><Relationship Id="rId11" Type="http://schemas.openxmlformats.org/officeDocument/2006/relationships/image" Target="../media/image10.gif"/><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jpe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jpeg"/><Relationship Id="rId1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commons.wikimedia.org/w/index.php?curid=88628927" TargetMode="External"/><Relationship Id="rId5" Type="http://schemas.openxmlformats.org/officeDocument/2006/relationships/hyperlink" Target="https://creativecommons.org/licenses/by-sa/4.0/" TargetMode="External"/><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s://docs.oracle.com/en/java/javase/"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www.jmdoudoux.fr/java/dej/indexavecframes.htm"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pPr marL="0" indent="0">
              <a:buNone/>
            </a:pPr>
            <a:r>
              <a:rPr lang="fr-FR" dirty="0"/>
              <a:t>Module INI</a:t>
            </a:r>
          </a:p>
          <a:p>
            <a:pPr marL="0" indent="0">
              <a:buNone/>
            </a:pPr>
            <a:r>
              <a:rPr lang="fr-FR" dirty="0"/>
              <a:t>Introduction au cours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9" name="Espace réservé du numéro de diapositive 4">
            <a:extLst>
              <a:ext uri="{FF2B5EF4-FFF2-40B4-BE49-F238E27FC236}">
                <a16:creationId xmlns:a16="http://schemas.microsoft.com/office/drawing/2014/main" id="{02816DBF-AA5A-2EFA-30ED-307B4ECEE7F3}"/>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3" name="Section 1"/>
          <p:cNvGrpSpPr/>
          <p:nvPr/>
        </p:nvGrpSpPr>
        <p:grpSpPr>
          <a:xfrm>
            <a:off x="640080" y="1463040"/>
            <a:ext cx="10789919" cy="914400"/>
            <a:chOff x="640080" y="1463040"/>
            <a:chExt cx="10789919" cy="914400"/>
          </a:xfrm>
        </p:grpSpPr>
        <p:sp>
          <p:nvSpPr>
            <p:cNvPr id="10"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 cours</a:t>
              </a:r>
            </a:p>
          </p:txBody>
        </p:sp>
      </p:grpSp>
      <p:grpSp>
        <p:nvGrpSpPr>
          <p:cNvPr id="4" name="Section 2"/>
          <p:cNvGrpSpPr/>
          <p:nvPr/>
        </p:nvGrpSpPr>
        <p:grpSpPr>
          <a:xfrm>
            <a:off x="640080" y="2560320"/>
            <a:ext cx="10789919" cy="914400"/>
            <a:chOff x="640080" y="2560320"/>
            <a:chExt cx="10789919" cy="914400"/>
          </a:xfrm>
        </p:grpSpPr>
        <p:sp>
          <p:nvSpPr>
            <p:cNvPr id="12"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Ma façon de travailler</a:t>
              </a:r>
            </a:p>
          </p:txBody>
        </p:sp>
      </p:grpSp>
      <p:grpSp>
        <p:nvGrpSpPr>
          <p:cNvPr id="5" name="Section 3"/>
          <p:cNvGrpSpPr/>
          <p:nvPr/>
        </p:nvGrpSpPr>
        <p:grpSpPr>
          <a:xfrm>
            <a:off x="640080" y="3657600"/>
            <a:ext cx="10789919" cy="914400"/>
            <a:chOff x="640080" y="3657600"/>
            <a:chExt cx="10789919" cy="914400"/>
          </a:xfrm>
        </p:grpSpPr>
        <p:sp>
          <p:nvSpPr>
            <p:cNvPr id="14"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Les mémentos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D124E81-C194-7144-FA2A-C64DEF3A3B9B}"/>
              </a:ext>
            </a:extLst>
          </p:cNvPr>
          <p:cNvPicPr>
            <a:picLocks noChangeAspect="1"/>
          </p:cNvPicPr>
          <p:nvPr/>
        </p:nvPicPr>
        <p:blipFill>
          <a:blip r:embed="rId3"/>
          <a:stretch>
            <a:fillRect/>
          </a:stretch>
        </p:blipFill>
        <p:spPr>
          <a:xfrm>
            <a:off x="0" y="1824"/>
            <a:ext cx="12192000" cy="6854352"/>
          </a:xfrm>
          <a:prstGeom prst="rect">
            <a:avLst/>
          </a:prstGeom>
        </p:spPr>
      </p:pic>
      <p:sp>
        <p:nvSpPr>
          <p:cNvPr id="4" name="ZoneTexte 3">
            <a:extLst>
              <a:ext uri="{FF2B5EF4-FFF2-40B4-BE49-F238E27FC236}">
                <a16:creationId xmlns:a16="http://schemas.microsoft.com/office/drawing/2014/main" id="{FC120C01-D014-63EA-3183-232BD830BE28}"/>
              </a:ext>
            </a:extLst>
          </p:cNvPr>
          <p:cNvSpPr txBox="1"/>
          <p:nvPr/>
        </p:nvSpPr>
        <p:spPr>
          <a:xfrm>
            <a:off x="838200" y="946800"/>
            <a:ext cx="3947613" cy="1105200"/>
          </a:xfrm>
          <a:prstGeom prst="rect">
            <a:avLst/>
          </a:prstGeom>
          <a:solidFill>
            <a:schemeClr val="bg2">
              <a:lumMod val="50000"/>
              <a:alpha val="76078"/>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Le cours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02816DBF-AA5A-2EFA-30ED-307B4ECEE7F3}"/>
              </a:ext>
            </a:extLst>
          </p:cNvPr>
          <p:cNvSpPr>
            <a:spLocks noGrp="1"/>
          </p:cNvSpPr>
          <p:nvPr>
            <p:ph type="sldNum" sz="quarter" idx="4"/>
          </p:nvPr>
        </p:nvSpPr>
        <p:spPr/>
        <p:txBody>
          <a:bodyPr/>
          <a:lstStyle/>
          <a:p>
            <a:fld id="{33C783E2-4793-4F48-A271-51A73CC37D74}" type="slidenum">
              <a:rPr lang="fr-FR" smtClean="0"/>
              <a:t>3</a:t>
            </a:fld>
            <a:endParaRPr lang="fr-FR"/>
          </a:p>
        </p:txBody>
      </p:sp>
    </p:spTree>
    <p:extLst>
      <p:ext uri="{BB962C8B-B14F-4D97-AF65-F5344CB8AC3E}">
        <p14:creationId xmlns:p14="http://schemas.microsoft.com/office/powerpoint/2010/main" val="82807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D38A8A-1A5D-1763-BD5A-9B5878E4D9C2}"/>
              </a:ext>
            </a:extLst>
          </p:cNvPr>
          <p:cNvSpPr>
            <a:spLocks noGrp="1"/>
          </p:cNvSpPr>
          <p:nvPr>
            <p:ph type="title"/>
          </p:nvPr>
        </p:nvSpPr>
        <p:spPr/>
        <p:txBody>
          <a:bodyPr>
            <a:noAutofit/>
          </a:bodyPr>
          <a:lstStyle/>
          <a:p>
            <a:r>
              <a:rPr lang="fr-FR" sz="4000" dirty="0"/>
              <a:t>Qui suis-je?</a:t>
            </a:r>
          </a:p>
        </p:txBody>
      </p:sp>
      <p:pic>
        <p:nvPicPr>
          <p:cNvPr id="6" name="Image 5">
            <a:extLst>
              <a:ext uri="{FF2B5EF4-FFF2-40B4-BE49-F238E27FC236}">
                <a16:creationId xmlns:a16="http://schemas.microsoft.com/office/drawing/2014/main" id="{3E4DFA84-6D99-932B-76FE-C7C567AEED8E}"/>
              </a:ext>
            </a:extLst>
          </p:cNvPr>
          <p:cNvPicPr>
            <a:picLocks noChangeAspect="1"/>
          </p:cNvPicPr>
          <p:nvPr/>
        </p:nvPicPr>
        <p:blipFill>
          <a:blip r:embed="rId3"/>
          <a:stretch>
            <a:fillRect/>
          </a:stretch>
        </p:blipFill>
        <p:spPr>
          <a:xfrm>
            <a:off x="2318138" y="1586199"/>
            <a:ext cx="1582506" cy="1217312"/>
          </a:xfrm>
          <a:prstGeom prst="rect">
            <a:avLst/>
          </a:prstGeom>
          <a:ln>
            <a:noFill/>
          </a:ln>
          <a:effectLst>
            <a:outerShdw blurRad="292100" dist="139700" dir="2700000" algn="tl" rotWithShape="0">
              <a:srgbClr val="333333">
                <a:alpha val="65000"/>
              </a:srgbClr>
            </a:outerShdw>
          </a:effectLst>
        </p:spPr>
      </p:pic>
      <p:pic>
        <p:nvPicPr>
          <p:cNvPr id="7" name="Image 6">
            <a:extLst>
              <a:ext uri="{FF2B5EF4-FFF2-40B4-BE49-F238E27FC236}">
                <a16:creationId xmlns:a16="http://schemas.microsoft.com/office/drawing/2014/main" id="{35F078CA-BF18-A4BE-EA52-66B6D24E280A}"/>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372146" y="1586199"/>
            <a:ext cx="1729916" cy="1202705"/>
          </a:xfrm>
          <a:prstGeom prst="rect">
            <a:avLst/>
          </a:prstGeom>
          <a:ln>
            <a:noFill/>
          </a:ln>
          <a:effectLst>
            <a:outerShdw blurRad="292100" dist="139700" dir="2700000" algn="tl" rotWithShape="0">
              <a:srgbClr val="333333">
                <a:alpha val="65000"/>
              </a:srgbClr>
            </a:outerShdw>
          </a:effectLst>
        </p:spPr>
      </p:pic>
      <p:pic>
        <p:nvPicPr>
          <p:cNvPr id="8" name="Image 7">
            <a:extLst>
              <a:ext uri="{FF2B5EF4-FFF2-40B4-BE49-F238E27FC236}">
                <a16:creationId xmlns:a16="http://schemas.microsoft.com/office/drawing/2014/main" id="{D8C7D672-F4F0-01E4-C51F-70D8C98EB86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4116720" y="1600698"/>
            <a:ext cx="1635255" cy="1218372"/>
          </a:xfrm>
          <a:prstGeom prst="rect">
            <a:avLst/>
          </a:prstGeom>
          <a:ln>
            <a:noFill/>
          </a:ln>
          <a:effectLst>
            <a:outerShdw blurRad="292100" dist="139700" dir="2700000" algn="tl" rotWithShape="0">
              <a:srgbClr val="333333">
                <a:alpha val="65000"/>
              </a:srgbClr>
            </a:outerShdw>
          </a:effectLst>
        </p:spPr>
      </p:pic>
      <p:pic>
        <p:nvPicPr>
          <p:cNvPr id="9" name="Image 8">
            <a:extLst>
              <a:ext uri="{FF2B5EF4-FFF2-40B4-BE49-F238E27FC236}">
                <a16:creationId xmlns:a16="http://schemas.microsoft.com/office/drawing/2014/main" id="{94FCFDA1-6E5D-B5D5-7822-E8188FD1952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968051" y="1661040"/>
            <a:ext cx="2207088" cy="1220942"/>
          </a:xfrm>
          <a:prstGeom prst="rect">
            <a:avLst/>
          </a:prstGeom>
          <a:ln>
            <a:noFill/>
          </a:ln>
          <a:effectLst>
            <a:outerShdw blurRad="292100" dist="139700" dir="2700000" algn="tl" rotWithShape="0">
              <a:srgbClr val="333333">
                <a:alpha val="65000"/>
              </a:srgbClr>
            </a:outerShdw>
          </a:effectLst>
        </p:spPr>
      </p:pic>
      <p:pic>
        <p:nvPicPr>
          <p:cNvPr id="10" name="Image 9">
            <a:extLst>
              <a:ext uri="{FF2B5EF4-FFF2-40B4-BE49-F238E27FC236}">
                <a16:creationId xmlns:a16="http://schemas.microsoft.com/office/drawing/2014/main" id="{14249E38-D653-A0DE-A589-5D0C5E225CDB}"/>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8391215" y="1647415"/>
            <a:ext cx="1640976" cy="1561007"/>
          </a:xfrm>
          <a:prstGeom prst="rect">
            <a:avLst/>
          </a:prstGeom>
          <a:ln>
            <a:noFill/>
          </a:ln>
          <a:effectLst>
            <a:outerShdw blurRad="292100" dist="139700" dir="2700000" algn="tl" rotWithShape="0">
              <a:srgbClr val="333333">
                <a:alpha val="65000"/>
              </a:srgbClr>
            </a:outerShdw>
          </a:effectLst>
        </p:spPr>
      </p:pic>
      <p:pic>
        <p:nvPicPr>
          <p:cNvPr id="11" name="Picture 2">
            <a:extLst>
              <a:ext uri="{FF2B5EF4-FFF2-40B4-BE49-F238E27FC236}">
                <a16:creationId xmlns:a16="http://schemas.microsoft.com/office/drawing/2014/main" id="{8AE5A1C5-476C-5136-A190-B8B11C7249E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4005378" y="2917733"/>
            <a:ext cx="1369366" cy="30971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Couverture Le monde sans fin">
            <a:extLst>
              <a:ext uri="{FF2B5EF4-FFF2-40B4-BE49-F238E27FC236}">
                <a16:creationId xmlns:a16="http://schemas.microsoft.com/office/drawing/2014/main" id="{40F84EC8-C816-1C87-6A10-474442107799}"/>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rot="507905">
            <a:off x="6371552" y="3778071"/>
            <a:ext cx="1409536" cy="164915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8" name="Groupe 17">
            <a:extLst>
              <a:ext uri="{FF2B5EF4-FFF2-40B4-BE49-F238E27FC236}">
                <a16:creationId xmlns:a16="http://schemas.microsoft.com/office/drawing/2014/main" id="{317508FC-669C-2529-257E-5D5806340B80}"/>
              </a:ext>
            </a:extLst>
          </p:cNvPr>
          <p:cNvGrpSpPr/>
          <p:nvPr/>
        </p:nvGrpSpPr>
        <p:grpSpPr>
          <a:xfrm>
            <a:off x="7945959" y="3656277"/>
            <a:ext cx="1418787" cy="2336311"/>
            <a:chOff x="9570343" y="3656277"/>
            <a:chExt cx="1418787" cy="2336311"/>
          </a:xfrm>
        </p:grpSpPr>
        <p:pic>
          <p:nvPicPr>
            <p:cNvPr id="4" name="Image 3">
              <a:extLst>
                <a:ext uri="{FF2B5EF4-FFF2-40B4-BE49-F238E27FC236}">
                  <a16:creationId xmlns:a16="http://schemas.microsoft.com/office/drawing/2014/main" id="{F0F0C588-D142-E635-1C25-36889ABE1935}"/>
                </a:ext>
              </a:extLst>
            </p:cNvPr>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rot="21371743">
              <a:off x="9713512" y="3656277"/>
              <a:ext cx="1255125" cy="1149748"/>
            </a:xfrm>
            <a:prstGeom prst="rect">
              <a:avLst/>
            </a:prstGeom>
            <a:ln>
              <a:noFill/>
            </a:ln>
            <a:effectLst>
              <a:outerShdw blurRad="292100" dist="139700" dir="2700000" algn="tl" rotWithShape="0">
                <a:srgbClr val="333333">
                  <a:alpha val="65000"/>
                </a:srgbClr>
              </a:outerShdw>
            </a:effectLst>
          </p:spPr>
        </p:pic>
        <p:pic>
          <p:nvPicPr>
            <p:cNvPr id="21" name="Picture 32" descr="Jeu de la vie — Wikipédia">
              <a:extLst>
                <a:ext uri="{FF2B5EF4-FFF2-40B4-BE49-F238E27FC236}">
                  <a16:creationId xmlns:a16="http://schemas.microsoft.com/office/drawing/2014/main" id="{9449743F-27FB-C8EC-6A2B-33206F0D0ADF}"/>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9570343" y="4971061"/>
              <a:ext cx="1418787" cy="10215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grpSp>
        <p:nvGrpSpPr>
          <p:cNvPr id="17" name="Groupe 16">
            <a:extLst>
              <a:ext uri="{FF2B5EF4-FFF2-40B4-BE49-F238E27FC236}">
                <a16:creationId xmlns:a16="http://schemas.microsoft.com/office/drawing/2014/main" id="{B091B860-EAF6-CCAF-CEE0-0A7B258DF355}"/>
              </a:ext>
            </a:extLst>
          </p:cNvPr>
          <p:cNvGrpSpPr/>
          <p:nvPr/>
        </p:nvGrpSpPr>
        <p:grpSpPr>
          <a:xfrm>
            <a:off x="452978" y="3256930"/>
            <a:ext cx="3254971" cy="2268429"/>
            <a:chOff x="541006" y="3233446"/>
            <a:chExt cx="3254971" cy="2268429"/>
          </a:xfrm>
        </p:grpSpPr>
        <p:pic>
          <p:nvPicPr>
            <p:cNvPr id="13" name="Picture 10" descr="80s Music Icon - 80&amp;#39;s Png - 1600x1600 PNG Download - PNGkit">
              <a:extLst>
                <a:ext uri="{FF2B5EF4-FFF2-40B4-BE49-F238E27FC236}">
                  <a16:creationId xmlns:a16="http://schemas.microsoft.com/office/drawing/2014/main" id="{1D396D44-CA7F-CCB5-F5D0-6EB803ED6B88}"/>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rot="21263296">
              <a:off x="616756" y="4048221"/>
              <a:ext cx="1068153" cy="10629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4" name="Picture 14" descr="Blade runner Logos">
              <a:extLst>
                <a:ext uri="{FF2B5EF4-FFF2-40B4-BE49-F238E27FC236}">
                  <a16:creationId xmlns:a16="http://schemas.microsoft.com/office/drawing/2014/main" id="{9B874F49-22DE-A0B8-FE19-F5F2F9BAC803}"/>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a:stretch/>
          </p:blipFill>
          <p:spPr bwMode="auto">
            <a:xfrm rot="21186418">
              <a:off x="993580" y="5109033"/>
              <a:ext cx="2802397" cy="3928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 name="Picture 30" descr="Spirit of Eden by Talk Talk (Album; E4-46977): Reviews, Ratings, Credits,  Song list - Rate Your Music">
              <a:extLst>
                <a:ext uri="{FF2B5EF4-FFF2-40B4-BE49-F238E27FC236}">
                  <a16:creationId xmlns:a16="http://schemas.microsoft.com/office/drawing/2014/main" id="{1795B9B0-4BB9-5668-DB40-EFD1DFCC3F69}"/>
                </a:ext>
              </a:extLst>
            </p:cNvPr>
            <p:cNvPicPr>
              <a:picLocks noChangeAspect="1" noChangeArrowheads="1"/>
            </p:cNvPicPr>
            <p:nvPr/>
          </p:nvPicPr>
          <p:blipFill rotWithShape="1">
            <a:blip r:embed="rId14" cstate="screen">
              <a:extLst>
                <a:ext uri="{28A0092B-C50C-407E-A947-70E740481C1C}">
                  <a14:useLocalDpi xmlns:a14="http://schemas.microsoft.com/office/drawing/2010/main"/>
                </a:ext>
              </a:extLst>
            </a:blip>
            <a:srcRect/>
            <a:stretch/>
          </p:blipFill>
          <p:spPr bwMode="auto">
            <a:xfrm>
              <a:off x="1782702" y="4137150"/>
              <a:ext cx="786587" cy="2515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Picture 22" descr="Depeche Mode-logo">
              <a:extLst>
                <a:ext uri="{FF2B5EF4-FFF2-40B4-BE49-F238E27FC236}">
                  <a16:creationId xmlns:a16="http://schemas.microsoft.com/office/drawing/2014/main" id="{335606E8-8F02-9F6B-FD12-1B50C0F97036}"/>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a:stretch/>
          </p:blipFill>
          <p:spPr bwMode="auto">
            <a:xfrm rot="378854">
              <a:off x="1343387" y="3693439"/>
              <a:ext cx="1635255" cy="35350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8" name="Picture 4" descr="Simple Minds - Sparkle in the Rain 1&quot; Pin">
              <a:extLst>
                <a:ext uri="{FF2B5EF4-FFF2-40B4-BE49-F238E27FC236}">
                  <a16:creationId xmlns:a16="http://schemas.microsoft.com/office/drawing/2014/main" id="{F47ECCAD-7B1A-9B1E-B8E2-BF5871249C35}"/>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a:stretch/>
          </p:blipFill>
          <p:spPr bwMode="auto">
            <a:xfrm rot="21247355">
              <a:off x="541006" y="3233446"/>
              <a:ext cx="879867" cy="8777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pic>
        <p:nvPicPr>
          <p:cNvPr id="1034" name="Picture 10" descr="Pile Of Roasted Coffee Beans transparent PNG - StickPNG">
            <a:extLst>
              <a:ext uri="{FF2B5EF4-FFF2-40B4-BE49-F238E27FC236}">
                <a16:creationId xmlns:a16="http://schemas.microsoft.com/office/drawing/2014/main" id="{84898890-D5E1-B692-5A3B-079F23B953AA}"/>
              </a:ext>
            </a:extLst>
          </p:cNvPr>
          <p:cNvPicPr>
            <a:picLocks noChangeAspect="1" noChangeArrowheads="1"/>
          </p:cNvPicPr>
          <p:nvPr/>
        </p:nvPicPr>
        <p:blipFill rotWithShape="1">
          <a:blip r:embed="rId17" cstate="screen">
            <a:extLst>
              <a:ext uri="{28A0092B-C50C-407E-A947-70E740481C1C}">
                <a14:useLocalDpi xmlns:a14="http://schemas.microsoft.com/office/drawing/2010/main"/>
              </a:ext>
            </a:extLst>
          </a:blip>
          <a:srcRect l="8245" t="20574" r="5536" b="20045"/>
          <a:stretch/>
        </p:blipFill>
        <p:spPr bwMode="auto">
          <a:xfrm>
            <a:off x="2905095" y="3586186"/>
            <a:ext cx="1896754" cy="130633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0" name="Picture 2" descr="Casterman - Ressources">
            <a:extLst>
              <a:ext uri="{FF2B5EF4-FFF2-40B4-BE49-F238E27FC236}">
                <a16:creationId xmlns:a16="http://schemas.microsoft.com/office/drawing/2014/main" id="{9BE4FA41-A450-4AD6-7BFA-5BD331C0ED83}"/>
              </a:ext>
            </a:extLst>
          </p:cNvPr>
          <p:cNvPicPr>
            <a:picLocks noChangeAspect="1" noChangeArrowheads="1"/>
          </p:cNvPicPr>
          <p:nvPr/>
        </p:nvPicPr>
        <p:blipFill>
          <a:blip r:embed="rId18">
            <a:extLst>
              <a:ext uri="{28A0092B-C50C-407E-A947-70E740481C1C}">
                <a14:useLocalDpi xmlns:a14="http://schemas.microsoft.com/office/drawing/2010/main"/>
              </a:ext>
            </a:extLst>
          </a:blip>
          <a:srcRect/>
          <a:stretch>
            <a:fillRect/>
          </a:stretch>
        </p:blipFill>
        <p:spPr bwMode="auto">
          <a:xfrm rot="21210768">
            <a:off x="5112170" y="3948440"/>
            <a:ext cx="1325266" cy="17534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Espace réservé du numéro de diapositive 2">
            <a:extLst>
              <a:ext uri="{FF2B5EF4-FFF2-40B4-BE49-F238E27FC236}">
                <a16:creationId xmlns:a16="http://schemas.microsoft.com/office/drawing/2014/main" id="{DA553D22-670F-A246-61A9-018BAAA72094}"/>
              </a:ext>
            </a:extLst>
          </p:cNvPr>
          <p:cNvSpPr>
            <a:spLocks noGrp="1"/>
          </p:cNvSpPr>
          <p:nvPr>
            <p:ph type="sldNum" sz="quarter" idx="4"/>
          </p:nvPr>
        </p:nvSpPr>
        <p:spPr/>
        <p:txBody>
          <a:bodyPr/>
          <a:lstStyle/>
          <a:p>
            <a:fld id="{33C783E2-4793-4F48-A271-51A73CC37D74}" type="slidenum">
              <a:rPr lang="fr-FR" smtClean="0"/>
              <a:t>4</a:t>
            </a:fld>
            <a:endParaRPr lang="fr-FR"/>
          </a:p>
        </p:txBody>
      </p:sp>
      <p:pic>
        <p:nvPicPr>
          <p:cNvPr id="5" name="Image 4" descr="Objectifs de Développement Durables — Canadian Environmental Network">
            <a:extLst>
              <a:ext uri="{FF2B5EF4-FFF2-40B4-BE49-F238E27FC236}">
                <a16:creationId xmlns:a16="http://schemas.microsoft.com/office/drawing/2014/main" id="{87FA752E-EA62-6718-3E57-A9A828D8FACE}"/>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rot="362130">
            <a:off x="9678990" y="4195409"/>
            <a:ext cx="2360097" cy="1977922"/>
          </a:xfrm>
          <a:prstGeom prst="rect">
            <a:avLst/>
          </a:prstGeom>
          <a:ln>
            <a:noFill/>
          </a:ln>
          <a:effectLst>
            <a:outerShdw blurRad="292100" dist="139700" dir="2700000" algn="tl" rotWithShape="0">
              <a:srgbClr val="333333">
                <a:alpha val="65000"/>
              </a:srgbClr>
            </a:outerShdw>
          </a:effectLst>
        </p:spPr>
      </p:pic>
      <p:pic>
        <p:nvPicPr>
          <p:cNvPr id="19" name="Image 18" descr="Les 4 avantages à se faire accompagner par un coach professionnel certifié">
            <a:extLst>
              <a:ext uri="{FF2B5EF4-FFF2-40B4-BE49-F238E27FC236}">
                <a16:creationId xmlns:a16="http://schemas.microsoft.com/office/drawing/2014/main" id="{46D02871-BC09-6997-B7E4-4EDB31B3A1A3}"/>
              </a:ext>
            </a:extLst>
          </p:cNvPr>
          <p:cNvPicPr>
            <a:picLocks noChangeAspect="1"/>
          </p:cNvPicPr>
          <p:nvPr/>
        </p:nvPicPr>
        <p:blipFill>
          <a:blip r:embed="rId20" cstate="print">
            <a:extLst>
              <a:ext uri="{28A0092B-C50C-407E-A947-70E740481C1C}">
                <a14:useLocalDpi xmlns:a14="http://schemas.microsoft.com/office/drawing/2010/main"/>
              </a:ext>
            </a:extLst>
          </a:blip>
          <a:srcRect/>
          <a:stretch>
            <a:fillRect/>
          </a:stretch>
        </p:blipFill>
        <p:spPr>
          <a:xfrm>
            <a:off x="10340440" y="1677936"/>
            <a:ext cx="1702340" cy="1216800"/>
          </a:xfrm>
          <a:prstGeom prst="rect">
            <a:avLst/>
          </a:prstGeom>
          <a:ln>
            <a:noFill/>
          </a:ln>
          <a:effectLst>
            <a:outerShdw blurRad="292100" dist="139700" dir="2700000" algn="tl" rotWithShape="0">
              <a:srgbClr val="333333">
                <a:alpha val="65000"/>
              </a:srgbClr>
            </a:outerShdw>
          </a:effectLst>
        </p:spPr>
      </p:pic>
      <p:sp>
        <p:nvSpPr>
          <p:cNvPr id="205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230074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10" presetClass="entr" presetSubtype="0" fill="hold" nodeType="after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34"/>
                                        </p:tgtEl>
                                        <p:attrNameLst>
                                          <p:attrName>style.visibility</p:attrName>
                                        </p:attrNameLst>
                                      </p:cBhvr>
                                      <p:to>
                                        <p:strVal val="visible"/>
                                      </p:to>
                                    </p:set>
                                    <p:animEffect transition="in" filter="wipe(left)">
                                      <p:cBhvr>
                                        <p:cTn id="46" dur="500"/>
                                        <p:tgtEl>
                                          <p:spTgt spid="103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050"/>
                                        </p:tgtEl>
                                        <p:attrNameLst>
                                          <p:attrName>style.visibility</p:attrName>
                                        </p:attrNameLst>
                                      </p:cBhvr>
                                      <p:to>
                                        <p:strVal val="visible"/>
                                      </p:to>
                                    </p:set>
                                    <p:animEffect transition="in" filter="wipe(left)">
                                      <p:cBhvr>
                                        <p:cTn id="51" dur="500"/>
                                        <p:tgtEl>
                                          <p:spTgt spid="2050"/>
                                        </p:tgtEl>
                                      </p:cBhvr>
                                    </p:animEffect>
                                  </p:childTnLst>
                                </p:cTn>
                              </p:par>
                              <p:par>
                                <p:cTn id="52" presetID="22" presetClass="entr" presetSubtype="8"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5A7B4-E0AB-B048-3520-776E89AE18CE}"/>
              </a:ext>
            </a:extLst>
          </p:cNvPr>
          <p:cNvSpPr>
            <a:spLocks noGrp="1"/>
          </p:cNvSpPr>
          <p:nvPr>
            <p:ph type="title"/>
          </p:nvPr>
        </p:nvSpPr>
        <p:spPr/>
        <p:txBody>
          <a:bodyPr>
            <a:noAutofit/>
          </a:bodyPr>
          <a:lstStyle/>
          <a:p>
            <a:r>
              <a:rPr lang="fr-FR" sz="4000" dirty="0"/>
              <a:t>Contenu du cours</a:t>
            </a:r>
          </a:p>
        </p:txBody>
      </p:sp>
      <p:sp>
        <p:nvSpPr>
          <p:cNvPr id="3" name="Espace réservé du contenu 2">
            <a:extLst>
              <a:ext uri="{FF2B5EF4-FFF2-40B4-BE49-F238E27FC236}">
                <a16:creationId xmlns:a16="http://schemas.microsoft.com/office/drawing/2014/main" id="{8FAC407F-3134-7DF0-98A7-256253AEAB71}"/>
              </a:ext>
            </a:extLst>
          </p:cNvPr>
          <p:cNvSpPr>
            <a:spLocks noGrp="1"/>
          </p:cNvSpPr>
          <p:nvPr>
            <p:ph idx="1"/>
          </p:nvPr>
        </p:nvSpPr>
        <p:spPr/>
        <p:txBody>
          <a:bodyPr>
            <a:noAutofit/>
          </a:bodyPr>
          <a:lstStyle/>
          <a:p>
            <a:pPr marL="342900" indent="-342900">
              <a:buFont typeface="Arial"/>
              <a:buChar char="•"/>
            </a:pPr>
            <a:r>
              <a:rPr lang="fr-FR" sz="2400" dirty="0"/>
              <a:t>Approfondissement et mise en pratique de ce qui a été vu en C#</a:t>
            </a:r>
          </a:p>
          <a:p>
            <a:pPr marL="342900" indent="-342900">
              <a:buFont typeface="Arial"/>
              <a:buChar char="•"/>
            </a:pPr>
            <a:r>
              <a:rPr lang="fr-FR" sz="2400" dirty="0"/>
              <a:t>POO, concepts avancés (héritage, types génériques, lambda,</a:t>
            </a:r>
            <a:r>
              <a:rPr lang="mr-IN" sz="2400" dirty="0"/>
              <a:t>…</a:t>
            </a:r>
            <a:r>
              <a:rPr lang="fr-FR" sz="2400" dirty="0"/>
              <a:t>) </a:t>
            </a:r>
          </a:p>
          <a:p>
            <a:pPr marL="342900" indent="-342900">
              <a:buFont typeface="Arial"/>
              <a:buChar char="•"/>
            </a:pPr>
            <a:r>
              <a:rPr lang="fr-FR" sz="2400" dirty="0"/>
              <a:t>Quelques classes du Framework Java</a:t>
            </a:r>
          </a:p>
          <a:p>
            <a:pPr marL="342900" indent="-342900">
              <a:buFont typeface="Arial"/>
              <a:buChar char="•"/>
            </a:pPr>
            <a:r>
              <a:rPr lang="fr-FR" sz="2400" dirty="0"/>
              <a:t>Quelques outils (</a:t>
            </a:r>
            <a:r>
              <a:rPr lang="fr-FR" sz="2400" dirty="0">
                <a:solidFill>
                  <a:schemeClr val="accent4"/>
                </a:solidFill>
                <a:latin typeface="Consolas"/>
              </a:rPr>
              <a:t>JUnit</a:t>
            </a:r>
            <a:r>
              <a:rPr lang="fr-FR" sz="2400" dirty="0"/>
              <a:t>, </a:t>
            </a:r>
            <a:r>
              <a:rPr lang="fr-FR" sz="2400" dirty="0" err="1">
                <a:solidFill>
                  <a:schemeClr val="accent4"/>
                </a:solidFill>
                <a:latin typeface="Consolas"/>
              </a:rPr>
              <a:t>JavaFX</a:t>
            </a:r>
            <a:r>
              <a:rPr lang="fr-FR" sz="2400" dirty="0"/>
              <a:t>…)</a:t>
            </a:r>
          </a:p>
          <a:p>
            <a:pPr marL="342900" indent="-342900">
              <a:buFont typeface="Arial"/>
              <a:buChar char="•"/>
            </a:pPr>
            <a:endParaRPr lang="fr-FR" sz="900" dirty="0"/>
          </a:p>
          <a:p>
            <a:pPr marL="342900" indent="-342900">
              <a:buFont typeface="Arial"/>
              <a:buChar char="•"/>
            </a:pPr>
            <a:r>
              <a:rPr lang="fr-FR" sz="2400" dirty="0"/>
              <a:t>Explications et </a:t>
            </a:r>
            <a:r>
              <a:rPr lang="fr-FR" sz="2400" dirty="0">
                <a:solidFill>
                  <a:schemeClr val="accent4"/>
                </a:solidFill>
              </a:rPr>
              <a:t>exercices pratiques</a:t>
            </a:r>
          </a:p>
          <a:p>
            <a:pPr marL="342900" indent="-342900">
              <a:buFont typeface="Arial"/>
              <a:buChar char="•"/>
            </a:pPr>
            <a:r>
              <a:rPr lang="fr-FR" sz="2400" dirty="0">
                <a:solidFill>
                  <a:schemeClr val="accent4"/>
                </a:solidFill>
              </a:rPr>
              <a:t>Travail personnel</a:t>
            </a:r>
          </a:p>
          <a:p>
            <a:pPr marL="342900" indent="-342900">
              <a:buFont typeface="Arial"/>
              <a:buChar char="•"/>
            </a:pPr>
            <a:endParaRPr lang="fr-FR" sz="900" dirty="0"/>
          </a:p>
          <a:p>
            <a:pPr marL="342900" indent="-342900">
              <a:buFont typeface="Arial"/>
              <a:buChar char="•"/>
            </a:pPr>
            <a:r>
              <a:rPr lang="fr-FR" sz="2400" dirty="0">
                <a:solidFill>
                  <a:schemeClr val="tx2"/>
                </a:solidFill>
              </a:rPr>
              <a:t>Attention, seul un travail personnel peut vous aider à </a:t>
            </a:r>
            <a:br>
              <a:rPr lang="fr-FR" sz="2400" dirty="0">
                <a:solidFill>
                  <a:schemeClr val="tx2"/>
                </a:solidFill>
              </a:rPr>
            </a:br>
            <a:r>
              <a:rPr lang="fr-FR" sz="2400" dirty="0">
                <a:solidFill>
                  <a:schemeClr val="tx2"/>
                </a:solidFill>
              </a:rPr>
              <a:t>appréhender ce qui sera vu au cours... </a:t>
            </a:r>
            <a:br>
              <a:rPr lang="fr-FR" sz="2400" dirty="0">
                <a:solidFill>
                  <a:schemeClr val="tx2"/>
                </a:solidFill>
              </a:rPr>
            </a:br>
            <a:r>
              <a:rPr lang="fr-FR" sz="2400" dirty="0">
                <a:solidFill>
                  <a:schemeClr val="tx2"/>
                </a:solidFill>
              </a:rPr>
              <a:t>S'il y a un problème, ne faites pas l'autruche</a:t>
            </a:r>
          </a:p>
          <a:p>
            <a:endParaRPr lang="fr-FR" sz="2400" dirty="0"/>
          </a:p>
        </p:txBody>
      </p:sp>
      <p:pic>
        <p:nvPicPr>
          <p:cNvPr id="6" name="Image 5">
            <a:extLst>
              <a:ext uri="{FF2B5EF4-FFF2-40B4-BE49-F238E27FC236}">
                <a16:creationId xmlns:a16="http://schemas.microsoft.com/office/drawing/2014/main" id="{C0281C4E-A26D-865E-3720-403FA8D6EF4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791900" y="4696261"/>
            <a:ext cx="2035126" cy="1615641"/>
          </a:xfrm>
          <a:prstGeom prst="rect">
            <a:avLst/>
          </a:prstGeom>
          <a:ln>
            <a:noFill/>
          </a:ln>
          <a:effectLst>
            <a:outerShdw blurRad="292100" dist="139700" dir="2700000" algn="tl" rotWithShape="0">
              <a:srgbClr val="333333">
                <a:alpha val="65000"/>
              </a:srgbClr>
            </a:outerShdw>
          </a:effectLst>
        </p:spPr>
      </p:pic>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235473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modules du cours</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6</a:t>
            </a:fld>
            <a:endParaRPr lang="fr-FR"/>
          </a:p>
        </p:txBody>
      </p:sp>
      <p:grpSp>
        <p:nvGrpSpPr>
          <p:cNvPr id="3" name="Groupe 2">
            <a:extLst>
              <a:ext uri="{FF2B5EF4-FFF2-40B4-BE49-F238E27FC236}">
                <a16:creationId xmlns:a16="http://schemas.microsoft.com/office/drawing/2014/main" id="{2F478B64-CE46-ECF7-BCA4-4E7CB9A0AEA7}"/>
              </a:ext>
            </a:extLst>
          </p:cNvPr>
          <p:cNvGrpSpPr/>
          <p:nvPr/>
        </p:nvGrpSpPr>
        <p:grpSpPr>
          <a:xfrm>
            <a:off x="640080" y="1371600"/>
            <a:ext cx="3429000" cy="749808"/>
            <a:chOff x="640080" y="1371600"/>
            <a:chExt cx="3429000" cy="749808"/>
          </a:xfrm>
        </p:grpSpPr>
        <p:sp>
          <p:nvSpPr>
            <p:cNvPr id="5" name="Carte module"/>
            <p:cNvSpPr/>
            <p:nvPr/>
          </p:nvSpPr>
          <p:spPr>
            <a:xfrm>
              <a:off x="640080" y="1371600"/>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te module, code"/>
            <p:cNvSpPr txBox="1"/>
            <p:nvPr/>
          </p:nvSpPr>
          <p:spPr>
            <a:xfrm>
              <a:off x="640080" y="1371600"/>
              <a:ext cx="868680" cy="749808"/>
            </a:xfrm>
            <a:prstGeom prst="rect">
              <a:avLst/>
            </a:prstGeom>
            <a:noFill/>
          </p:spPr>
          <p:txBody>
            <a:bodyPr wrap="square" lIns="137160" rIns="137160" anchor="ctr">
              <a:spAutoFit/>
            </a:bodyPr>
            <a:lstStyle/>
            <a:p>
              <a:pPr algn="l"/>
              <a:r>
                <a:rPr sz="2200" b="1">
                  <a:solidFill>
                    <a:schemeClr val="accent4"/>
                  </a:solidFill>
                  <a:latin typeface="Consolas"/>
                </a:rPr>
                <a:t>POO</a:t>
              </a:r>
            </a:p>
          </p:txBody>
        </p:sp>
        <p:sp>
          <p:nvSpPr>
            <p:cNvPr id="7" name="Carte module, sujet"/>
            <p:cNvSpPr txBox="1"/>
            <p:nvPr/>
          </p:nvSpPr>
          <p:spPr>
            <a:xfrm>
              <a:off x="1417319" y="1371600"/>
              <a:ext cx="2606040" cy="749808"/>
            </a:xfrm>
            <a:prstGeom prst="rect">
              <a:avLst/>
            </a:prstGeom>
            <a:noFill/>
          </p:spPr>
          <p:txBody>
            <a:bodyPr wrap="square" lIns="137160" rIns="137160" anchor="ctr">
              <a:spAutoFit/>
            </a:bodyPr>
            <a:lstStyle/>
            <a:p>
              <a:pPr algn="l"/>
              <a:r>
                <a:rPr sz="1800">
                  <a:solidFill>
                    <a:srgbClr val="FFFFFF"/>
                  </a:solidFill>
                </a:rPr>
                <a:t>Classes et objets</a:t>
              </a:r>
            </a:p>
          </p:txBody>
        </p:sp>
      </p:grpSp>
      <p:grpSp>
        <p:nvGrpSpPr>
          <p:cNvPr id="52" name="Groupe 51">
            <a:extLst>
              <a:ext uri="{FF2B5EF4-FFF2-40B4-BE49-F238E27FC236}">
                <a16:creationId xmlns:a16="http://schemas.microsoft.com/office/drawing/2014/main" id="{5FF5DB9D-C461-68D1-55D9-2C5C614B2BA5}"/>
              </a:ext>
            </a:extLst>
          </p:cNvPr>
          <p:cNvGrpSpPr/>
          <p:nvPr/>
        </p:nvGrpSpPr>
        <p:grpSpPr>
          <a:xfrm>
            <a:off x="640080" y="2267712"/>
            <a:ext cx="3429000" cy="749808"/>
            <a:chOff x="640080" y="2267712"/>
            <a:chExt cx="3429000" cy="749808"/>
          </a:xfrm>
        </p:grpSpPr>
        <p:sp>
          <p:nvSpPr>
            <p:cNvPr id="8" name="Carte module"/>
            <p:cNvSpPr/>
            <p:nvPr/>
          </p:nvSpPr>
          <p:spPr>
            <a:xfrm>
              <a:off x="640080" y="2267712"/>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te module, code"/>
            <p:cNvSpPr txBox="1"/>
            <p:nvPr/>
          </p:nvSpPr>
          <p:spPr>
            <a:xfrm>
              <a:off x="640080" y="2267712"/>
              <a:ext cx="868680" cy="749808"/>
            </a:xfrm>
            <a:prstGeom prst="rect">
              <a:avLst/>
            </a:prstGeom>
            <a:noFill/>
          </p:spPr>
          <p:txBody>
            <a:bodyPr wrap="square" lIns="137160" rIns="137160" anchor="ctr">
              <a:spAutoFit/>
            </a:bodyPr>
            <a:lstStyle/>
            <a:p>
              <a:pPr algn="l"/>
              <a:r>
                <a:rPr sz="2200" b="1">
                  <a:solidFill>
                    <a:schemeClr val="accent4"/>
                  </a:solidFill>
                  <a:latin typeface="Consolas"/>
                </a:rPr>
                <a:t>TMP</a:t>
              </a:r>
            </a:p>
          </p:txBody>
        </p:sp>
        <p:sp>
          <p:nvSpPr>
            <p:cNvPr id="10" name="Carte module, sujet"/>
            <p:cNvSpPr txBox="1"/>
            <p:nvPr/>
          </p:nvSpPr>
          <p:spPr>
            <a:xfrm>
              <a:off x="1417319" y="2267712"/>
              <a:ext cx="2606040" cy="749808"/>
            </a:xfrm>
            <a:prstGeom prst="rect">
              <a:avLst/>
            </a:prstGeom>
            <a:noFill/>
          </p:spPr>
          <p:txBody>
            <a:bodyPr wrap="square" lIns="137160" rIns="137160" anchor="ctr">
              <a:spAutoFit/>
            </a:bodyPr>
            <a:lstStyle/>
            <a:p>
              <a:pPr algn="l"/>
              <a:r>
                <a:rPr sz="1800">
                  <a:solidFill>
                    <a:srgbClr val="FFFFFF"/>
                  </a:solidFill>
                </a:rPr>
                <a:t>Dates et durées</a:t>
              </a:r>
            </a:p>
          </p:txBody>
        </p:sp>
      </p:grpSp>
      <p:grpSp>
        <p:nvGrpSpPr>
          <p:cNvPr id="53" name="Groupe 52">
            <a:extLst>
              <a:ext uri="{FF2B5EF4-FFF2-40B4-BE49-F238E27FC236}">
                <a16:creationId xmlns:a16="http://schemas.microsoft.com/office/drawing/2014/main" id="{863FA5AD-07D8-6497-1B6C-DB3FF36AF9D3}"/>
              </a:ext>
            </a:extLst>
          </p:cNvPr>
          <p:cNvGrpSpPr/>
          <p:nvPr/>
        </p:nvGrpSpPr>
        <p:grpSpPr>
          <a:xfrm>
            <a:off x="640080" y="3163824"/>
            <a:ext cx="3429000" cy="749808"/>
            <a:chOff x="640080" y="3163824"/>
            <a:chExt cx="3429000" cy="749808"/>
          </a:xfrm>
        </p:grpSpPr>
        <p:sp>
          <p:nvSpPr>
            <p:cNvPr id="11" name="Carte module"/>
            <p:cNvSpPr/>
            <p:nvPr/>
          </p:nvSpPr>
          <p:spPr>
            <a:xfrm>
              <a:off x="640080" y="3163824"/>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arte module, code"/>
            <p:cNvSpPr txBox="1"/>
            <p:nvPr/>
          </p:nvSpPr>
          <p:spPr>
            <a:xfrm>
              <a:off x="640080" y="3163824"/>
              <a:ext cx="868680" cy="749808"/>
            </a:xfrm>
            <a:prstGeom prst="rect">
              <a:avLst/>
            </a:prstGeom>
            <a:noFill/>
          </p:spPr>
          <p:txBody>
            <a:bodyPr wrap="square" lIns="137160" rIns="137160" anchor="ctr">
              <a:spAutoFit/>
            </a:bodyPr>
            <a:lstStyle/>
            <a:p>
              <a:pPr algn="l"/>
              <a:r>
                <a:rPr sz="2200" b="1">
                  <a:solidFill>
                    <a:schemeClr val="accent4"/>
                  </a:solidFill>
                  <a:latin typeface="Consolas"/>
                </a:rPr>
                <a:t>TAB</a:t>
              </a:r>
            </a:p>
          </p:txBody>
        </p:sp>
        <p:sp>
          <p:nvSpPr>
            <p:cNvPr id="13" name="Carte module, sujet"/>
            <p:cNvSpPr txBox="1"/>
            <p:nvPr/>
          </p:nvSpPr>
          <p:spPr>
            <a:xfrm>
              <a:off x="1417319" y="3163824"/>
              <a:ext cx="2606040" cy="749808"/>
            </a:xfrm>
            <a:prstGeom prst="rect">
              <a:avLst/>
            </a:prstGeom>
            <a:noFill/>
          </p:spPr>
          <p:txBody>
            <a:bodyPr wrap="square" lIns="137160" rIns="137160" anchor="ctr">
              <a:spAutoFit/>
            </a:bodyPr>
            <a:lstStyle/>
            <a:p>
              <a:pPr algn="l"/>
              <a:r>
                <a:rPr sz="1800" dirty="0">
                  <a:solidFill>
                    <a:srgbClr val="FFFFFF"/>
                  </a:solidFill>
                </a:rPr>
                <a:t>Tableaux</a:t>
              </a:r>
            </a:p>
          </p:txBody>
        </p:sp>
      </p:grpSp>
      <p:grpSp>
        <p:nvGrpSpPr>
          <p:cNvPr id="54" name="Groupe 53">
            <a:extLst>
              <a:ext uri="{FF2B5EF4-FFF2-40B4-BE49-F238E27FC236}">
                <a16:creationId xmlns:a16="http://schemas.microsoft.com/office/drawing/2014/main" id="{0937136D-6E27-5062-0DF0-F070B6AC79D8}"/>
              </a:ext>
            </a:extLst>
          </p:cNvPr>
          <p:cNvGrpSpPr/>
          <p:nvPr/>
        </p:nvGrpSpPr>
        <p:grpSpPr>
          <a:xfrm>
            <a:off x="640080" y="4059935"/>
            <a:ext cx="3429000" cy="749808"/>
            <a:chOff x="640080" y="4059935"/>
            <a:chExt cx="3429000" cy="749808"/>
          </a:xfrm>
        </p:grpSpPr>
        <p:sp>
          <p:nvSpPr>
            <p:cNvPr id="14" name="Carte module"/>
            <p:cNvSpPr/>
            <p:nvPr/>
          </p:nvSpPr>
          <p:spPr>
            <a:xfrm>
              <a:off x="640080" y="4059935"/>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te module, code"/>
            <p:cNvSpPr txBox="1"/>
            <p:nvPr/>
          </p:nvSpPr>
          <p:spPr>
            <a:xfrm>
              <a:off x="640080" y="4059935"/>
              <a:ext cx="868680" cy="749808"/>
            </a:xfrm>
            <a:prstGeom prst="rect">
              <a:avLst/>
            </a:prstGeom>
            <a:noFill/>
          </p:spPr>
          <p:txBody>
            <a:bodyPr wrap="square" lIns="137160" rIns="137160" anchor="ctr">
              <a:spAutoFit/>
            </a:bodyPr>
            <a:lstStyle/>
            <a:p>
              <a:pPr algn="l"/>
              <a:r>
                <a:rPr sz="2200" b="1">
                  <a:solidFill>
                    <a:schemeClr val="accent4"/>
                  </a:solidFill>
                  <a:latin typeface="Consolas"/>
                </a:rPr>
                <a:t>ENU</a:t>
              </a:r>
            </a:p>
          </p:txBody>
        </p:sp>
        <p:sp>
          <p:nvSpPr>
            <p:cNvPr id="16" name="Carte module, sujet"/>
            <p:cNvSpPr txBox="1"/>
            <p:nvPr/>
          </p:nvSpPr>
          <p:spPr>
            <a:xfrm>
              <a:off x="1417319" y="4059935"/>
              <a:ext cx="2606040" cy="749808"/>
            </a:xfrm>
            <a:prstGeom prst="rect">
              <a:avLst/>
            </a:prstGeom>
            <a:noFill/>
          </p:spPr>
          <p:txBody>
            <a:bodyPr wrap="square" lIns="137160" rIns="137160" anchor="ctr">
              <a:spAutoFit/>
            </a:bodyPr>
            <a:lstStyle/>
            <a:p>
              <a:pPr algn="l"/>
              <a:r>
                <a:rPr sz="1800" dirty="0" err="1">
                  <a:solidFill>
                    <a:srgbClr val="FFFFFF"/>
                  </a:solidFill>
                </a:rPr>
                <a:t>Énumérations</a:t>
              </a:r>
              <a:r>
                <a:rPr sz="1800" dirty="0">
                  <a:solidFill>
                    <a:srgbClr val="FFFFFF"/>
                  </a:solidFill>
                </a:rPr>
                <a:t> et records</a:t>
              </a:r>
            </a:p>
          </p:txBody>
        </p:sp>
      </p:grpSp>
      <p:grpSp>
        <p:nvGrpSpPr>
          <p:cNvPr id="55" name="Groupe 54">
            <a:extLst>
              <a:ext uri="{FF2B5EF4-FFF2-40B4-BE49-F238E27FC236}">
                <a16:creationId xmlns:a16="http://schemas.microsoft.com/office/drawing/2014/main" id="{A1219E67-F96E-85DF-F430-ED6FDA043ACB}"/>
              </a:ext>
            </a:extLst>
          </p:cNvPr>
          <p:cNvGrpSpPr/>
          <p:nvPr/>
        </p:nvGrpSpPr>
        <p:grpSpPr>
          <a:xfrm>
            <a:off x="640080" y="4956048"/>
            <a:ext cx="3429000" cy="749808"/>
            <a:chOff x="640080" y="4956048"/>
            <a:chExt cx="3429000" cy="749808"/>
          </a:xfrm>
        </p:grpSpPr>
        <p:sp>
          <p:nvSpPr>
            <p:cNvPr id="17" name="Carte module"/>
            <p:cNvSpPr/>
            <p:nvPr/>
          </p:nvSpPr>
          <p:spPr>
            <a:xfrm>
              <a:off x="640080" y="4956048"/>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arte module, code"/>
            <p:cNvSpPr txBox="1"/>
            <p:nvPr/>
          </p:nvSpPr>
          <p:spPr>
            <a:xfrm>
              <a:off x="640080" y="4956048"/>
              <a:ext cx="868680" cy="749808"/>
            </a:xfrm>
            <a:prstGeom prst="rect">
              <a:avLst/>
            </a:prstGeom>
            <a:noFill/>
          </p:spPr>
          <p:txBody>
            <a:bodyPr wrap="square" lIns="137160" rIns="137160" anchor="ctr">
              <a:spAutoFit/>
            </a:bodyPr>
            <a:lstStyle/>
            <a:p>
              <a:pPr algn="l"/>
              <a:r>
                <a:rPr sz="2200" b="1">
                  <a:solidFill>
                    <a:schemeClr val="accent4"/>
                  </a:solidFill>
                  <a:latin typeface="Consolas"/>
                </a:rPr>
                <a:t>ABS</a:t>
              </a:r>
            </a:p>
          </p:txBody>
        </p:sp>
        <p:sp>
          <p:nvSpPr>
            <p:cNvPr id="19" name="Carte module, sujet"/>
            <p:cNvSpPr txBox="1"/>
            <p:nvPr/>
          </p:nvSpPr>
          <p:spPr>
            <a:xfrm>
              <a:off x="1417319" y="4956048"/>
              <a:ext cx="2606040" cy="749808"/>
            </a:xfrm>
            <a:prstGeom prst="rect">
              <a:avLst/>
            </a:prstGeom>
            <a:noFill/>
          </p:spPr>
          <p:txBody>
            <a:bodyPr wrap="square" lIns="137160" rIns="137160" anchor="ctr">
              <a:spAutoFit/>
            </a:bodyPr>
            <a:lstStyle/>
            <a:p>
              <a:pPr algn="l"/>
              <a:r>
                <a:rPr sz="1800">
                  <a:solidFill>
                    <a:srgbClr val="FFFFFF"/>
                  </a:solidFill>
                </a:rPr>
                <a:t>Héritage, classes abstraites</a:t>
              </a:r>
            </a:p>
          </p:txBody>
        </p:sp>
      </p:grpSp>
      <p:grpSp>
        <p:nvGrpSpPr>
          <p:cNvPr id="56" name="Groupe 55">
            <a:extLst>
              <a:ext uri="{FF2B5EF4-FFF2-40B4-BE49-F238E27FC236}">
                <a16:creationId xmlns:a16="http://schemas.microsoft.com/office/drawing/2014/main" id="{E5D669F0-7FDB-8384-36D6-0B8741DE3375}"/>
              </a:ext>
            </a:extLst>
          </p:cNvPr>
          <p:cNvGrpSpPr/>
          <p:nvPr/>
        </p:nvGrpSpPr>
        <p:grpSpPr>
          <a:xfrm>
            <a:off x="4206240" y="1371600"/>
            <a:ext cx="3429000" cy="749808"/>
            <a:chOff x="4206240" y="1371600"/>
            <a:chExt cx="3429000" cy="749808"/>
          </a:xfrm>
        </p:grpSpPr>
        <p:sp>
          <p:nvSpPr>
            <p:cNvPr id="20" name="Carte module"/>
            <p:cNvSpPr/>
            <p:nvPr/>
          </p:nvSpPr>
          <p:spPr>
            <a:xfrm>
              <a:off x="4206240" y="1371600"/>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arte module, code"/>
            <p:cNvSpPr txBox="1"/>
            <p:nvPr/>
          </p:nvSpPr>
          <p:spPr>
            <a:xfrm>
              <a:off x="4206240" y="1371600"/>
              <a:ext cx="868680" cy="749808"/>
            </a:xfrm>
            <a:prstGeom prst="rect">
              <a:avLst/>
            </a:prstGeom>
            <a:noFill/>
          </p:spPr>
          <p:txBody>
            <a:bodyPr wrap="square" lIns="137160" rIns="137160" anchor="ctr">
              <a:spAutoFit/>
            </a:bodyPr>
            <a:lstStyle/>
            <a:p>
              <a:pPr algn="l"/>
              <a:r>
                <a:rPr sz="2200" b="1">
                  <a:solidFill>
                    <a:schemeClr val="accent4"/>
                  </a:solidFill>
                  <a:latin typeface="Consolas"/>
                </a:rPr>
                <a:t>ITF</a:t>
              </a:r>
            </a:p>
          </p:txBody>
        </p:sp>
        <p:sp>
          <p:nvSpPr>
            <p:cNvPr id="22" name="Carte module, sujet"/>
            <p:cNvSpPr txBox="1"/>
            <p:nvPr/>
          </p:nvSpPr>
          <p:spPr>
            <a:xfrm>
              <a:off x="4983479" y="1371600"/>
              <a:ext cx="2606040" cy="749808"/>
            </a:xfrm>
            <a:prstGeom prst="rect">
              <a:avLst/>
            </a:prstGeom>
            <a:noFill/>
          </p:spPr>
          <p:txBody>
            <a:bodyPr wrap="square" lIns="137160" rIns="137160" anchor="ctr">
              <a:spAutoFit/>
            </a:bodyPr>
            <a:lstStyle/>
            <a:p>
              <a:pPr algn="l"/>
              <a:r>
                <a:rPr sz="1800">
                  <a:solidFill>
                    <a:srgbClr val="FFFFFF"/>
                  </a:solidFill>
                </a:rPr>
                <a:t>Interfaces</a:t>
              </a:r>
            </a:p>
          </p:txBody>
        </p:sp>
      </p:grpSp>
      <p:grpSp>
        <p:nvGrpSpPr>
          <p:cNvPr id="57" name="Groupe 56">
            <a:extLst>
              <a:ext uri="{FF2B5EF4-FFF2-40B4-BE49-F238E27FC236}">
                <a16:creationId xmlns:a16="http://schemas.microsoft.com/office/drawing/2014/main" id="{C53BDC17-793A-9B90-31FE-E70BFD97099D}"/>
              </a:ext>
            </a:extLst>
          </p:cNvPr>
          <p:cNvGrpSpPr/>
          <p:nvPr/>
        </p:nvGrpSpPr>
        <p:grpSpPr>
          <a:xfrm>
            <a:off x="4206240" y="2267712"/>
            <a:ext cx="3429000" cy="749808"/>
            <a:chOff x="4206240" y="2267712"/>
            <a:chExt cx="3429000" cy="749808"/>
          </a:xfrm>
        </p:grpSpPr>
        <p:sp>
          <p:nvSpPr>
            <p:cNvPr id="23" name="Carte module"/>
            <p:cNvSpPr/>
            <p:nvPr/>
          </p:nvSpPr>
          <p:spPr>
            <a:xfrm>
              <a:off x="4206240" y="2267712"/>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arte module, code"/>
            <p:cNvSpPr txBox="1"/>
            <p:nvPr/>
          </p:nvSpPr>
          <p:spPr>
            <a:xfrm>
              <a:off x="4206240" y="2267712"/>
              <a:ext cx="868680" cy="749808"/>
            </a:xfrm>
            <a:prstGeom prst="rect">
              <a:avLst/>
            </a:prstGeom>
            <a:noFill/>
          </p:spPr>
          <p:txBody>
            <a:bodyPr wrap="square" lIns="137160" rIns="137160" anchor="ctr">
              <a:spAutoFit/>
            </a:bodyPr>
            <a:lstStyle/>
            <a:p>
              <a:pPr algn="l"/>
              <a:r>
                <a:rPr sz="2200" b="1">
                  <a:solidFill>
                    <a:schemeClr val="accent4"/>
                  </a:solidFill>
                  <a:latin typeface="Consolas"/>
                </a:rPr>
                <a:t>PKG</a:t>
              </a:r>
            </a:p>
          </p:txBody>
        </p:sp>
        <p:sp>
          <p:nvSpPr>
            <p:cNvPr id="25" name="Carte module, sujet"/>
            <p:cNvSpPr txBox="1"/>
            <p:nvPr/>
          </p:nvSpPr>
          <p:spPr>
            <a:xfrm>
              <a:off x="4983479" y="2267712"/>
              <a:ext cx="2606040" cy="749808"/>
            </a:xfrm>
            <a:prstGeom prst="rect">
              <a:avLst/>
            </a:prstGeom>
            <a:noFill/>
          </p:spPr>
          <p:txBody>
            <a:bodyPr wrap="square" lIns="137160" rIns="137160" anchor="ctr">
              <a:spAutoFit/>
            </a:bodyPr>
            <a:lstStyle/>
            <a:p>
              <a:pPr algn="l"/>
              <a:r>
                <a:rPr sz="1800">
                  <a:solidFill>
                    <a:srgbClr val="FFFFFF"/>
                  </a:solidFill>
                </a:rPr>
                <a:t>Packages et visibilité</a:t>
              </a:r>
            </a:p>
          </p:txBody>
        </p:sp>
      </p:grpSp>
      <p:grpSp>
        <p:nvGrpSpPr>
          <p:cNvPr id="58" name="Groupe 57">
            <a:extLst>
              <a:ext uri="{FF2B5EF4-FFF2-40B4-BE49-F238E27FC236}">
                <a16:creationId xmlns:a16="http://schemas.microsoft.com/office/drawing/2014/main" id="{800D4278-EE0F-EBDA-BBC1-F39817963FFC}"/>
              </a:ext>
            </a:extLst>
          </p:cNvPr>
          <p:cNvGrpSpPr/>
          <p:nvPr/>
        </p:nvGrpSpPr>
        <p:grpSpPr>
          <a:xfrm>
            <a:off x="4206240" y="3163824"/>
            <a:ext cx="3429000" cy="749808"/>
            <a:chOff x="4206240" y="3163824"/>
            <a:chExt cx="3429000" cy="749808"/>
          </a:xfrm>
        </p:grpSpPr>
        <p:sp>
          <p:nvSpPr>
            <p:cNvPr id="26" name="Carte module"/>
            <p:cNvSpPr/>
            <p:nvPr/>
          </p:nvSpPr>
          <p:spPr>
            <a:xfrm>
              <a:off x="4206240" y="3163824"/>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te module, code"/>
            <p:cNvSpPr txBox="1"/>
            <p:nvPr/>
          </p:nvSpPr>
          <p:spPr>
            <a:xfrm>
              <a:off x="4206240" y="3163824"/>
              <a:ext cx="868680" cy="749808"/>
            </a:xfrm>
            <a:prstGeom prst="rect">
              <a:avLst/>
            </a:prstGeom>
            <a:noFill/>
          </p:spPr>
          <p:txBody>
            <a:bodyPr wrap="square" lIns="137160" rIns="137160" anchor="ctr">
              <a:spAutoFit/>
            </a:bodyPr>
            <a:lstStyle/>
            <a:p>
              <a:pPr algn="l"/>
              <a:r>
                <a:rPr sz="2200" b="1">
                  <a:solidFill>
                    <a:schemeClr val="accent4"/>
                  </a:solidFill>
                  <a:latin typeface="Consolas"/>
                </a:rPr>
                <a:t>COL</a:t>
              </a:r>
            </a:p>
          </p:txBody>
        </p:sp>
        <p:sp>
          <p:nvSpPr>
            <p:cNvPr id="28" name="Carte module, sujet"/>
            <p:cNvSpPr txBox="1"/>
            <p:nvPr/>
          </p:nvSpPr>
          <p:spPr>
            <a:xfrm>
              <a:off x="4983479" y="3163824"/>
              <a:ext cx="2606040" cy="749808"/>
            </a:xfrm>
            <a:prstGeom prst="rect">
              <a:avLst/>
            </a:prstGeom>
            <a:noFill/>
          </p:spPr>
          <p:txBody>
            <a:bodyPr wrap="square" lIns="137160" rIns="137160" anchor="ctr">
              <a:spAutoFit/>
            </a:bodyPr>
            <a:lstStyle/>
            <a:p>
              <a:pPr algn="l"/>
              <a:r>
                <a:rPr sz="1800">
                  <a:solidFill>
                    <a:srgbClr val="FFFFFF"/>
                  </a:solidFill>
                </a:rPr>
                <a:t>Collections</a:t>
              </a:r>
            </a:p>
          </p:txBody>
        </p:sp>
      </p:grpSp>
      <p:grpSp>
        <p:nvGrpSpPr>
          <p:cNvPr id="59" name="Groupe 58">
            <a:extLst>
              <a:ext uri="{FF2B5EF4-FFF2-40B4-BE49-F238E27FC236}">
                <a16:creationId xmlns:a16="http://schemas.microsoft.com/office/drawing/2014/main" id="{CC3EF7BB-21E2-A71B-12E5-5135EEB80E98}"/>
              </a:ext>
            </a:extLst>
          </p:cNvPr>
          <p:cNvGrpSpPr/>
          <p:nvPr/>
        </p:nvGrpSpPr>
        <p:grpSpPr>
          <a:xfrm>
            <a:off x="4206240" y="4059935"/>
            <a:ext cx="3429000" cy="749808"/>
            <a:chOff x="4206240" y="4059935"/>
            <a:chExt cx="3429000" cy="749808"/>
          </a:xfrm>
        </p:grpSpPr>
        <p:sp>
          <p:nvSpPr>
            <p:cNvPr id="29" name="Carte module"/>
            <p:cNvSpPr/>
            <p:nvPr/>
          </p:nvSpPr>
          <p:spPr>
            <a:xfrm>
              <a:off x="4206240" y="4059935"/>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arte module, code"/>
            <p:cNvSpPr txBox="1"/>
            <p:nvPr/>
          </p:nvSpPr>
          <p:spPr>
            <a:xfrm>
              <a:off x="4206240" y="4059935"/>
              <a:ext cx="868680" cy="749808"/>
            </a:xfrm>
            <a:prstGeom prst="rect">
              <a:avLst/>
            </a:prstGeom>
            <a:noFill/>
          </p:spPr>
          <p:txBody>
            <a:bodyPr wrap="square" lIns="137160" rIns="137160" anchor="ctr">
              <a:spAutoFit/>
            </a:bodyPr>
            <a:lstStyle/>
            <a:p>
              <a:pPr algn="l"/>
              <a:r>
                <a:rPr sz="2200" b="1">
                  <a:solidFill>
                    <a:schemeClr val="accent4"/>
                  </a:solidFill>
                  <a:latin typeface="Consolas"/>
                </a:rPr>
                <a:t>EXC</a:t>
              </a:r>
            </a:p>
          </p:txBody>
        </p:sp>
        <p:sp>
          <p:nvSpPr>
            <p:cNvPr id="31" name="Carte module, sujet"/>
            <p:cNvSpPr txBox="1"/>
            <p:nvPr/>
          </p:nvSpPr>
          <p:spPr>
            <a:xfrm>
              <a:off x="4983479" y="4059935"/>
              <a:ext cx="2606040" cy="749808"/>
            </a:xfrm>
            <a:prstGeom prst="rect">
              <a:avLst/>
            </a:prstGeom>
            <a:noFill/>
          </p:spPr>
          <p:txBody>
            <a:bodyPr wrap="square" lIns="137160" rIns="137160" anchor="ctr">
              <a:spAutoFit/>
            </a:bodyPr>
            <a:lstStyle/>
            <a:p>
              <a:pPr algn="l"/>
              <a:r>
                <a:rPr sz="1800">
                  <a:solidFill>
                    <a:srgbClr val="FFFFFF"/>
                  </a:solidFill>
                </a:rPr>
                <a:t>Exceptions</a:t>
              </a:r>
            </a:p>
          </p:txBody>
        </p:sp>
      </p:grpSp>
      <p:grpSp>
        <p:nvGrpSpPr>
          <p:cNvPr id="60" name="Groupe 59">
            <a:extLst>
              <a:ext uri="{FF2B5EF4-FFF2-40B4-BE49-F238E27FC236}">
                <a16:creationId xmlns:a16="http://schemas.microsoft.com/office/drawing/2014/main" id="{0601CF6A-9C6C-ED12-CDAF-F97408D6F866}"/>
              </a:ext>
            </a:extLst>
          </p:cNvPr>
          <p:cNvGrpSpPr/>
          <p:nvPr/>
        </p:nvGrpSpPr>
        <p:grpSpPr>
          <a:xfrm>
            <a:off x="4206240" y="4956048"/>
            <a:ext cx="3429000" cy="749808"/>
            <a:chOff x="4206240" y="4956048"/>
            <a:chExt cx="3429000" cy="749808"/>
          </a:xfrm>
        </p:grpSpPr>
        <p:sp>
          <p:nvSpPr>
            <p:cNvPr id="32" name="Carte module"/>
            <p:cNvSpPr/>
            <p:nvPr/>
          </p:nvSpPr>
          <p:spPr>
            <a:xfrm>
              <a:off x="4206240" y="4956048"/>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arte module, code"/>
            <p:cNvSpPr txBox="1"/>
            <p:nvPr/>
          </p:nvSpPr>
          <p:spPr>
            <a:xfrm>
              <a:off x="4206240" y="4956048"/>
              <a:ext cx="868680" cy="749808"/>
            </a:xfrm>
            <a:prstGeom prst="rect">
              <a:avLst/>
            </a:prstGeom>
            <a:noFill/>
          </p:spPr>
          <p:txBody>
            <a:bodyPr wrap="square" lIns="137160" rIns="137160" anchor="ctr">
              <a:spAutoFit/>
            </a:bodyPr>
            <a:lstStyle/>
            <a:p>
              <a:pPr algn="l"/>
              <a:r>
                <a:rPr sz="2200" b="1">
                  <a:solidFill>
                    <a:schemeClr val="accent4"/>
                  </a:solidFill>
                  <a:latin typeface="Consolas"/>
                </a:rPr>
                <a:t>JUN</a:t>
              </a:r>
            </a:p>
          </p:txBody>
        </p:sp>
        <p:sp>
          <p:nvSpPr>
            <p:cNvPr id="34" name="Carte module, sujet"/>
            <p:cNvSpPr txBox="1"/>
            <p:nvPr/>
          </p:nvSpPr>
          <p:spPr>
            <a:xfrm>
              <a:off x="4983479" y="4956048"/>
              <a:ext cx="2606040" cy="749808"/>
            </a:xfrm>
            <a:prstGeom prst="rect">
              <a:avLst/>
            </a:prstGeom>
            <a:noFill/>
          </p:spPr>
          <p:txBody>
            <a:bodyPr wrap="square" lIns="137160" rIns="137160" anchor="ctr">
              <a:spAutoFit/>
            </a:bodyPr>
            <a:lstStyle/>
            <a:p>
              <a:pPr algn="l"/>
              <a:r>
                <a:rPr sz="1800">
                  <a:solidFill>
                    <a:srgbClr val="FFFFFF"/>
                  </a:solidFill>
                </a:rPr>
                <a:t>Tests unitaires (</a:t>
              </a:r>
              <a:r>
                <a:rPr sz="1800">
                  <a:solidFill>
                    <a:schemeClr val="accent4"/>
                  </a:solidFill>
                  <a:latin typeface="Consolas"/>
                </a:rPr>
                <a:t>JUnit</a:t>
              </a:r>
              <a:r>
                <a:rPr sz="1800">
                  <a:solidFill>
                    <a:srgbClr val="FFFFFF"/>
                  </a:solidFill>
                </a:rPr>
                <a:t>)</a:t>
              </a:r>
            </a:p>
          </p:txBody>
        </p:sp>
      </p:grpSp>
      <p:grpSp>
        <p:nvGrpSpPr>
          <p:cNvPr id="65" name="Groupe 64">
            <a:extLst>
              <a:ext uri="{FF2B5EF4-FFF2-40B4-BE49-F238E27FC236}">
                <a16:creationId xmlns:a16="http://schemas.microsoft.com/office/drawing/2014/main" id="{C28E3568-B884-17F7-1021-00EDF610999C}"/>
              </a:ext>
            </a:extLst>
          </p:cNvPr>
          <p:cNvGrpSpPr/>
          <p:nvPr/>
        </p:nvGrpSpPr>
        <p:grpSpPr>
          <a:xfrm>
            <a:off x="7772400" y="1371600"/>
            <a:ext cx="3429000" cy="749808"/>
            <a:chOff x="7772400" y="1371600"/>
            <a:chExt cx="3429000" cy="749808"/>
          </a:xfrm>
        </p:grpSpPr>
        <p:sp>
          <p:nvSpPr>
            <p:cNvPr id="35" name="Carte module"/>
            <p:cNvSpPr/>
            <p:nvPr/>
          </p:nvSpPr>
          <p:spPr>
            <a:xfrm>
              <a:off x="7772400" y="1371600"/>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arte module, code"/>
            <p:cNvSpPr txBox="1"/>
            <p:nvPr/>
          </p:nvSpPr>
          <p:spPr>
            <a:xfrm>
              <a:off x="7772400" y="1371600"/>
              <a:ext cx="868680" cy="749808"/>
            </a:xfrm>
            <a:prstGeom prst="rect">
              <a:avLst/>
            </a:prstGeom>
            <a:noFill/>
          </p:spPr>
          <p:txBody>
            <a:bodyPr wrap="square" lIns="137160" rIns="137160" anchor="ctr">
              <a:spAutoFit/>
            </a:bodyPr>
            <a:lstStyle/>
            <a:p>
              <a:pPr algn="l"/>
              <a:r>
                <a:rPr sz="2200" b="1">
                  <a:solidFill>
                    <a:schemeClr val="accent4"/>
                  </a:solidFill>
                  <a:latin typeface="Consolas"/>
                </a:rPr>
                <a:t>GEN</a:t>
              </a:r>
            </a:p>
          </p:txBody>
        </p:sp>
        <p:sp>
          <p:nvSpPr>
            <p:cNvPr id="37" name="Carte module, sujet"/>
            <p:cNvSpPr txBox="1"/>
            <p:nvPr/>
          </p:nvSpPr>
          <p:spPr>
            <a:xfrm>
              <a:off x="8549640" y="1371600"/>
              <a:ext cx="2606040" cy="749808"/>
            </a:xfrm>
            <a:prstGeom prst="rect">
              <a:avLst/>
            </a:prstGeom>
            <a:noFill/>
          </p:spPr>
          <p:txBody>
            <a:bodyPr wrap="square" lIns="137160" rIns="137160" anchor="ctr">
              <a:spAutoFit/>
            </a:bodyPr>
            <a:lstStyle/>
            <a:p>
              <a:pPr algn="l"/>
              <a:r>
                <a:rPr sz="1800">
                  <a:solidFill>
                    <a:srgbClr val="FFFFFF"/>
                  </a:solidFill>
                </a:rPr>
                <a:t>Types génériques</a:t>
              </a:r>
            </a:p>
          </p:txBody>
        </p:sp>
      </p:grpSp>
      <p:grpSp>
        <p:nvGrpSpPr>
          <p:cNvPr id="64" name="Groupe 63">
            <a:extLst>
              <a:ext uri="{FF2B5EF4-FFF2-40B4-BE49-F238E27FC236}">
                <a16:creationId xmlns:a16="http://schemas.microsoft.com/office/drawing/2014/main" id="{7D806858-E9D5-A6CE-CF33-52345948F200}"/>
              </a:ext>
            </a:extLst>
          </p:cNvPr>
          <p:cNvGrpSpPr/>
          <p:nvPr/>
        </p:nvGrpSpPr>
        <p:grpSpPr>
          <a:xfrm>
            <a:off x="7772400" y="2267712"/>
            <a:ext cx="3429000" cy="749808"/>
            <a:chOff x="7772400" y="2267712"/>
            <a:chExt cx="3429000" cy="749808"/>
          </a:xfrm>
        </p:grpSpPr>
        <p:sp>
          <p:nvSpPr>
            <p:cNvPr id="38" name="Carte module"/>
            <p:cNvSpPr/>
            <p:nvPr/>
          </p:nvSpPr>
          <p:spPr>
            <a:xfrm>
              <a:off x="7772400" y="2267712"/>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arte module, code"/>
            <p:cNvSpPr txBox="1"/>
            <p:nvPr/>
          </p:nvSpPr>
          <p:spPr>
            <a:xfrm>
              <a:off x="7772400" y="2267712"/>
              <a:ext cx="868680" cy="749808"/>
            </a:xfrm>
            <a:prstGeom prst="rect">
              <a:avLst/>
            </a:prstGeom>
            <a:noFill/>
          </p:spPr>
          <p:txBody>
            <a:bodyPr wrap="square" lIns="137160" rIns="137160" anchor="ctr">
              <a:spAutoFit/>
            </a:bodyPr>
            <a:lstStyle/>
            <a:p>
              <a:pPr algn="l"/>
              <a:r>
                <a:rPr sz="2200" b="1">
                  <a:solidFill>
                    <a:schemeClr val="accent4"/>
                  </a:solidFill>
                  <a:latin typeface="Consolas"/>
                </a:rPr>
                <a:t>LAM</a:t>
              </a:r>
            </a:p>
          </p:txBody>
        </p:sp>
        <p:sp>
          <p:nvSpPr>
            <p:cNvPr id="40" name="Carte module, sujet"/>
            <p:cNvSpPr txBox="1"/>
            <p:nvPr/>
          </p:nvSpPr>
          <p:spPr>
            <a:xfrm>
              <a:off x="8549640" y="2267712"/>
              <a:ext cx="2606040" cy="749808"/>
            </a:xfrm>
            <a:prstGeom prst="rect">
              <a:avLst/>
            </a:prstGeom>
            <a:noFill/>
          </p:spPr>
          <p:txBody>
            <a:bodyPr wrap="square" lIns="137160" rIns="137160" anchor="ctr">
              <a:spAutoFit/>
            </a:bodyPr>
            <a:lstStyle/>
            <a:p>
              <a:pPr algn="l"/>
              <a:r>
                <a:rPr sz="1800">
                  <a:solidFill>
                    <a:srgbClr val="FFFFFF"/>
                  </a:solidFill>
                </a:rPr>
                <a:t>Classes anonymes, lambdas</a:t>
              </a:r>
            </a:p>
          </p:txBody>
        </p:sp>
      </p:grpSp>
      <p:grpSp>
        <p:nvGrpSpPr>
          <p:cNvPr id="61" name="Groupe 60">
            <a:extLst>
              <a:ext uri="{FF2B5EF4-FFF2-40B4-BE49-F238E27FC236}">
                <a16:creationId xmlns:a16="http://schemas.microsoft.com/office/drawing/2014/main" id="{4EE567E5-6ECD-7FCE-A251-DE36F29B48EC}"/>
              </a:ext>
            </a:extLst>
          </p:cNvPr>
          <p:cNvGrpSpPr/>
          <p:nvPr/>
        </p:nvGrpSpPr>
        <p:grpSpPr>
          <a:xfrm>
            <a:off x="7772400" y="4956048"/>
            <a:ext cx="3429000" cy="749808"/>
            <a:chOff x="7772400" y="4956048"/>
            <a:chExt cx="3429000" cy="749808"/>
          </a:xfrm>
        </p:grpSpPr>
        <p:sp>
          <p:nvSpPr>
            <p:cNvPr id="47" name="Carte module"/>
            <p:cNvSpPr/>
            <p:nvPr/>
          </p:nvSpPr>
          <p:spPr>
            <a:xfrm>
              <a:off x="7772400" y="4956048"/>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Carte module, code"/>
            <p:cNvSpPr txBox="1"/>
            <p:nvPr/>
          </p:nvSpPr>
          <p:spPr>
            <a:xfrm>
              <a:off x="7772400" y="4956048"/>
              <a:ext cx="868680" cy="749808"/>
            </a:xfrm>
            <a:prstGeom prst="rect">
              <a:avLst/>
            </a:prstGeom>
            <a:noFill/>
          </p:spPr>
          <p:txBody>
            <a:bodyPr wrap="square" lIns="137160" rIns="137160" anchor="ctr">
              <a:spAutoFit/>
            </a:bodyPr>
            <a:lstStyle/>
            <a:p>
              <a:pPr algn="l"/>
              <a:r>
                <a:rPr sz="2200" b="1">
                  <a:solidFill>
                    <a:schemeClr val="accent4"/>
                  </a:solidFill>
                  <a:latin typeface="Consolas"/>
                </a:rPr>
                <a:t>REC</a:t>
              </a:r>
            </a:p>
          </p:txBody>
        </p:sp>
        <p:sp>
          <p:nvSpPr>
            <p:cNvPr id="49" name="Carte module, sujet"/>
            <p:cNvSpPr txBox="1"/>
            <p:nvPr/>
          </p:nvSpPr>
          <p:spPr>
            <a:xfrm>
              <a:off x="8549640" y="4956048"/>
              <a:ext cx="2606040" cy="749808"/>
            </a:xfrm>
            <a:prstGeom prst="rect">
              <a:avLst/>
            </a:prstGeom>
            <a:noFill/>
          </p:spPr>
          <p:txBody>
            <a:bodyPr wrap="square" lIns="137160" rIns="137160" anchor="ctr">
              <a:spAutoFit/>
            </a:bodyPr>
            <a:lstStyle/>
            <a:p>
              <a:pPr algn="l"/>
              <a:r>
                <a:rPr sz="1800">
                  <a:solidFill>
                    <a:srgbClr val="FFFFFF"/>
                  </a:solidFill>
                </a:rPr>
                <a:t>Exercices récapitulatifs</a:t>
              </a:r>
            </a:p>
          </p:txBody>
        </p:sp>
      </p:grpSp>
      <p:sp>
        <p:nvSpPr>
          <p:cNvPr id="50" name="Mention ordre"/>
          <p:cNvSpPr txBox="1"/>
          <p:nvPr/>
        </p:nvSpPr>
        <p:spPr>
          <a:xfrm>
            <a:off x="640080" y="5852160"/>
            <a:ext cx="6400800" cy="365760"/>
          </a:xfrm>
          <a:prstGeom prst="rect">
            <a:avLst/>
          </a:prstGeom>
          <a:noFill/>
        </p:spPr>
        <p:txBody>
          <a:bodyPr wrap="square">
            <a:spAutoFit/>
          </a:bodyPr>
          <a:lstStyle/>
          <a:p>
            <a:pPr>
              <a:spcAft>
                <a:spcPts val="800"/>
              </a:spcAft>
            </a:pPr>
            <a:r>
              <a:rPr sz="1400" i="1">
                <a:solidFill>
                  <a:srgbClr val="BCBEC4"/>
                </a:solidFill>
              </a:rPr>
              <a:t>Ordre donné à titre indicatif</a:t>
            </a:r>
          </a:p>
        </p:txBody>
      </p:sp>
      <p:sp>
        <p:nvSpPr>
          <p:cNvPr id="5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grpSp>
        <p:nvGrpSpPr>
          <p:cNvPr id="62" name="Groupe 61">
            <a:extLst>
              <a:ext uri="{FF2B5EF4-FFF2-40B4-BE49-F238E27FC236}">
                <a16:creationId xmlns:a16="http://schemas.microsoft.com/office/drawing/2014/main" id="{321912BC-02E0-766A-2149-C8E1D009C219}"/>
              </a:ext>
            </a:extLst>
          </p:cNvPr>
          <p:cNvGrpSpPr/>
          <p:nvPr/>
        </p:nvGrpSpPr>
        <p:grpSpPr>
          <a:xfrm>
            <a:off x="7772400" y="4059935"/>
            <a:ext cx="3429000" cy="750027"/>
            <a:chOff x="7772400" y="4059935"/>
            <a:chExt cx="3429000" cy="750027"/>
          </a:xfrm>
        </p:grpSpPr>
        <p:sp>
          <p:nvSpPr>
            <p:cNvPr id="44" name="Carte module"/>
            <p:cNvSpPr/>
            <p:nvPr/>
          </p:nvSpPr>
          <p:spPr>
            <a:xfrm>
              <a:off x="7772400" y="4059935"/>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Carte module, code"/>
            <p:cNvSpPr txBox="1"/>
            <p:nvPr/>
          </p:nvSpPr>
          <p:spPr>
            <a:xfrm>
              <a:off x="7772400" y="4060154"/>
              <a:ext cx="868680" cy="749808"/>
            </a:xfrm>
            <a:prstGeom prst="rect">
              <a:avLst/>
            </a:prstGeom>
            <a:noFill/>
          </p:spPr>
          <p:txBody>
            <a:bodyPr wrap="square" lIns="137160" rIns="137160" anchor="ctr">
              <a:spAutoFit/>
            </a:bodyPr>
            <a:lstStyle/>
            <a:p>
              <a:pPr algn="l"/>
              <a:r>
                <a:rPr sz="2200" b="1">
                  <a:solidFill>
                    <a:schemeClr val="accent4"/>
                  </a:solidFill>
                  <a:latin typeface="Consolas"/>
                </a:rPr>
                <a:t>FIC</a:t>
              </a:r>
            </a:p>
          </p:txBody>
        </p:sp>
        <p:sp>
          <p:nvSpPr>
            <p:cNvPr id="43" name="Carte module, sujet"/>
            <p:cNvSpPr txBox="1"/>
            <p:nvPr/>
          </p:nvSpPr>
          <p:spPr>
            <a:xfrm>
              <a:off x="8549640" y="4060154"/>
              <a:ext cx="2606040" cy="749808"/>
            </a:xfrm>
            <a:prstGeom prst="rect">
              <a:avLst/>
            </a:prstGeom>
            <a:noFill/>
          </p:spPr>
          <p:txBody>
            <a:bodyPr wrap="square" lIns="137160" rIns="137160" anchor="ctr">
              <a:spAutoFit/>
            </a:bodyPr>
            <a:lstStyle/>
            <a:p>
              <a:pPr algn="l"/>
              <a:r>
                <a:rPr sz="1800">
                  <a:solidFill>
                    <a:srgbClr val="FFFFFF"/>
                  </a:solidFill>
                </a:rPr>
                <a:t>Fichiers</a:t>
              </a:r>
            </a:p>
          </p:txBody>
        </p:sp>
      </p:grpSp>
      <p:grpSp>
        <p:nvGrpSpPr>
          <p:cNvPr id="63" name="Groupe 62">
            <a:extLst>
              <a:ext uri="{FF2B5EF4-FFF2-40B4-BE49-F238E27FC236}">
                <a16:creationId xmlns:a16="http://schemas.microsoft.com/office/drawing/2014/main" id="{0C562F3B-939B-0E77-45BE-15CF9B2B9F5A}"/>
              </a:ext>
            </a:extLst>
          </p:cNvPr>
          <p:cNvGrpSpPr/>
          <p:nvPr/>
        </p:nvGrpSpPr>
        <p:grpSpPr>
          <a:xfrm>
            <a:off x="7772400" y="3163605"/>
            <a:ext cx="3429000" cy="750027"/>
            <a:chOff x="7772400" y="3163605"/>
            <a:chExt cx="3429000" cy="750027"/>
          </a:xfrm>
        </p:grpSpPr>
        <p:sp>
          <p:nvSpPr>
            <p:cNvPr id="41" name="Carte module"/>
            <p:cNvSpPr/>
            <p:nvPr/>
          </p:nvSpPr>
          <p:spPr>
            <a:xfrm>
              <a:off x="7772400" y="3163824"/>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Carte module, code"/>
            <p:cNvSpPr txBox="1"/>
            <p:nvPr/>
          </p:nvSpPr>
          <p:spPr>
            <a:xfrm>
              <a:off x="7772400" y="3163605"/>
              <a:ext cx="868680" cy="749808"/>
            </a:xfrm>
            <a:prstGeom prst="rect">
              <a:avLst/>
            </a:prstGeom>
            <a:noFill/>
          </p:spPr>
          <p:txBody>
            <a:bodyPr wrap="square" lIns="137160" rIns="137160" anchor="ctr">
              <a:spAutoFit/>
            </a:bodyPr>
            <a:lstStyle/>
            <a:p>
              <a:pPr algn="l"/>
              <a:r>
                <a:rPr sz="2200" b="1">
                  <a:solidFill>
                    <a:schemeClr val="accent4"/>
                  </a:solidFill>
                  <a:latin typeface="Consolas"/>
                </a:rPr>
                <a:t>FX</a:t>
              </a:r>
            </a:p>
          </p:txBody>
        </p:sp>
        <p:sp>
          <p:nvSpPr>
            <p:cNvPr id="46" name="Carte module, sujet"/>
            <p:cNvSpPr txBox="1"/>
            <p:nvPr/>
          </p:nvSpPr>
          <p:spPr>
            <a:xfrm>
              <a:off x="8549640" y="3163605"/>
              <a:ext cx="2606040" cy="749808"/>
            </a:xfrm>
            <a:prstGeom prst="rect">
              <a:avLst/>
            </a:prstGeom>
            <a:noFill/>
          </p:spPr>
          <p:txBody>
            <a:bodyPr wrap="square" lIns="137160" rIns="137160" anchor="ctr">
              <a:spAutoFit/>
            </a:bodyPr>
            <a:lstStyle/>
            <a:p>
              <a:pPr algn="l"/>
              <a:r>
                <a:rPr sz="1800" dirty="0">
                  <a:solidFill>
                    <a:srgbClr val="FFFFFF"/>
                  </a:solidFill>
                </a:rPr>
                <a:t>Interfaces </a:t>
              </a:r>
              <a:r>
                <a:rPr sz="1800" dirty="0" err="1">
                  <a:solidFill>
                    <a:srgbClr val="FFFFFF"/>
                  </a:solidFill>
                </a:rPr>
                <a:t>graphiques</a:t>
              </a:r>
              <a:r>
                <a:rPr sz="1800" dirty="0">
                  <a:solidFill>
                    <a:srgbClr val="FFFFFF"/>
                  </a:solidFill>
                </a:rPr>
                <a:t> (</a:t>
              </a:r>
              <a:r>
                <a:rPr sz="1800" dirty="0">
                  <a:solidFill>
                    <a:schemeClr val="accent4"/>
                  </a:solidFill>
                  <a:latin typeface="Consolas"/>
                </a:rPr>
                <a:t>JavaFX</a:t>
              </a:r>
              <a:r>
                <a:rPr sz="1800" dirty="0">
                  <a:solidFill>
                    <a:srgbClr val="FFFFFF"/>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fade">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500"/>
                                        <p:tgtEl>
                                          <p:spTgt spid="5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500"/>
                                        <p:tgtEl>
                                          <p:spTgt spid="5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fade">
                                      <p:cBhvr>
                                        <p:cTn id="57" dur="500"/>
                                        <p:tgtEl>
                                          <p:spTgt spid="6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fade">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500"/>
                                        <p:tgtEl>
                                          <p:spTgt spid="6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D8589B-2BBE-6740-49F5-963A930AE450}"/>
              </a:ext>
            </a:extLst>
          </p:cNvPr>
          <p:cNvSpPr>
            <a:spLocks noGrp="1"/>
          </p:cNvSpPr>
          <p:nvPr>
            <p:ph type="title"/>
          </p:nvPr>
        </p:nvSpPr>
        <p:spPr/>
        <p:txBody>
          <a:bodyPr>
            <a:noAutofit/>
          </a:bodyPr>
          <a:lstStyle/>
          <a:p>
            <a:r>
              <a:rPr lang="en-US" sz="4000" dirty="0" err="1"/>
              <a:t>Critères</a:t>
            </a:r>
            <a:r>
              <a:rPr lang="en-US" sz="4000" dirty="0"/>
              <a:t> de </a:t>
            </a:r>
            <a:r>
              <a:rPr lang="en-US" sz="4000" dirty="0" err="1"/>
              <a:t>réussite</a:t>
            </a:r>
            <a:r>
              <a:rPr lang="en-US" sz="4000" dirty="0"/>
              <a:t> et acquis </a:t>
            </a:r>
            <a:r>
              <a:rPr lang="en-US" sz="4000" dirty="0" err="1"/>
              <a:t>d'apprentissage</a:t>
            </a:r>
            <a:endParaRPr lang="fr-FR" dirty="0"/>
          </a:p>
        </p:txBody>
      </p:sp>
      <p:sp>
        <p:nvSpPr>
          <p:cNvPr id="9" name="Espace réservé du contenu 2">
            <a:extLst>
              <a:ext uri="{FF2B5EF4-FFF2-40B4-BE49-F238E27FC236}">
                <a16:creationId xmlns:a16="http://schemas.microsoft.com/office/drawing/2014/main" id="{ED5E4ADD-E756-DD1A-6E3D-B4C06A84B601}"/>
              </a:ext>
            </a:extLst>
          </p:cNvPr>
          <p:cNvSpPr txBox="1">
            <a:spLocks/>
          </p:cNvSpPr>
          <p:nvPr/>
        </p:nvSpPr>
        <p:spPr>
          <a:xfrm>
            <a:off x="838200" y="1784061"/>
            <a:ext cx="5181600"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L'étudiant sera capable […] de concevoir, d'installer et d'utiliser des objets appropriés à la solution </a:t>
            </a: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définir et implémenter </a:t>
            </a:r>
            <a:r>
              <a:rPr lang="fr-FR" dirty="0">
                <a:ea typeface="Times New Roman" panose="02020603050405020304" pitchFamily="18" charset="0"/>
              </a:rPr>
              <a:t>des classes et des objets Java simples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compléter des classes </a:t>
            </a:r>
            <a:r>
              <a:rPr lang="fr-FR" dirty="0">
                <a:ea typeface="Times New Roman" panose="02020603050405020304" pitchFamily="18" charset="0"/>
              </a:rPr>
              <a:t>Java implémentées par un tiers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utiliser et interagir avec des classes et objets Java existants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dériver de nouvelles classes par </a:t>
            </a:r>
            <a:r>
              <a:rPr lang="fr-FR" dirty="0">
                <a:solidFill>
                  <a:schemeClr val="accent4"/>
                </a:solidFill>
                <a:ea typeface="Times New Roman" panose="02020603050405020304" pitchFamily="18" charset="0"/>
              </a:rPr>
              <a:t>héritage</a:t>
            </a:r>
            <a:r>
              <a:rPr lang="fr-FR" dirty="0">
                <a:ea typeface="Times New Roman" panose="02020603050405020304" pitchFamily="18" charset="0"/>
              </a:rPr>
              <a:t> d'une classe Java existante</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utiliser les classes du JDK </a:t>
            </a:r>
            <a:r>
              <a:rPr lang="fr-FR" dirty="0">
                <a:ea typeface="Times New Roman" panose="02020603050405020304" pitchFamily="18" charset="0"/>
              </a:rPr>
              <a:t>pour accéder à des fichiers et pour réaliser une application disposant d'une interface graphique simple (</a:t>
            </a:r>
            <a:r>
              <a:rPr lang="fr-FR" dirty="0">
                <a:solidFill>
                  <a:schemeClr val="accent4"/>
                </a:solidFill>
                <a:latin typeface="Consolas"/>
                <a:ea typeface="Times New Roman" panose="02020603050405020304" pitchFamily="18" charset="0"/>
              </a:rPr>
              <a:t>JavaFX</a:t>
            </a:r>
            <a:r>
              <a:rPr lang="fr-FR" dirty="0">
                <a:ea typeface="Times New Roman" panose="02020603050405020304" pitchFamily="18" charset="0"/>
              </a:rPr>
              <a:t>).</a:t>
            </a:r>
            <a:endParaRPr lang="fr-BE" dirty="0">
              <a:ea typeface="Times New Roman" panose="02020603050405020304" pitchFamily="18" charset="0"/>
            </a:endParaRPr>
          </a:p>
          <a:p>
            <a:r>
              <a:rPr lang="fr-FR" dirty="0">
                <a:ea typeface="Times New Roman" panose="02020603050405020304" pitchFamily="18" charset="0"/>
              </a:rPr>
              <a:t>Pouvoir démontrer, au travers d'un exercice simple, sa compréhension du concept et du fonctionnement des </a:t>
            </a:r>
            <a:r>
              <a:rPr lang="fr-FR" dirty="0">
                <a:solidFill>
                  <a:schemeClr val="accent4"/>
                </a:solidFill>
                <a:ea typeface="Times New Roman" panose="02020603050405020304" pitchFamily="18" charset="0"/>
              </a:rPr>
              <a:t>expressions lambda </a:t>
            </a:r>
            <a:r>
              <a:rPr lang="fr-FR" dirty="0">
                <a:ea typeface="Times New Roman" panose="02020603050405020304" pitchFamily="18" charset="0"/>
              </a:rPr>
              <a:t>introduites par Java 8</a:t>
            </a:r>
            <a:r>
              <a:rPr lang="fr-BE" dirty="0"/>
              <a:t> </a:t>
            </a:r>
            <a:endParaRPr lang="en-US" dirty="0"/>
          </a:p>
          <a:p>
            <a:endParaRPr lang="fr-FR" dirty="0"/>
          </a:p>
        </p:txBody>
      </p:sp>
      <p:sp>
        <p:nvSpPr>
          <p:cNvPr id="10" name="Espace réservé du contenu 3">
            <a:extLst>
              <a:ext uri="{FF2B5EF4-FFF2-40B4-BE49-F238E27FC236}">
                <a16:creationId xmlns:a16="http://schemas.microsoft.com/office/drawing/2014/main" id="{6B4B94AB-99F5-1308-9028-5E79057B04CF}"/>
              </a:ext>
            </a:extLst>
          </p:cNvPr>
          <p:cNvSpPr txBox="1">
            <a:spLocks/>
          </p:cNvSpPr>
          <p:nvPr/>
        </p:nvSpPr>
        <p:spPr>
          <a:xfrm>
            <a:off x="6172200" y="1700933"/>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L'étudiant sera capable […] de concevoir et mettre en œuvre une procédure de test partiel et intégré </a:t>
            </a:r>
          </a:p>
          <a:p>
            <a:pPr marL="342900" indent="-342900">
              <a:buFont typeface="Symbol" pitchFamily="2" charset="2"/>
              <a:buChar char=""/>
            </a:pPr>
            <a:r>
              <a:rPr lang="fr-FR" sz="1800" dirty="0"/>
              <a:t>Pouvoir </a:t>
            </a:r>
            <a:r>
              <a:rPr lang="fr-FR" sz="1800" dirty="0">
                <a:solidFill>
                  <a:schemeClr val="accent4"/>
                </a:solidFill>
              </a:rPr>
              <a:t>implémenter des classes de test simples </a:t>
            </a:r>
            <a:r>
              <a:rPr lang="fr-FR" sz="1800" dirty="0"/>
              <a:t>(</a:t>
            </a:r>
            <a:r>
              <a:rPr lang="fr-FR" sz="1800" dirty="0">
                <a:solidFill>
                  <a:schemeClr val="accent4"/>
                </a:solidFill>
                <a:latin typeface="Consolas"/>
              </a:rPr>
              <a:t>JUnit</a:t>
            </a:r>
            <a:r>
              <a:rPr lang="fr-FR" sz="1800" dirty="0"/>
              <a:t>,…) sur base d'une classe implémentée par un tiers et/ou de spécifications techniques.</a:t>
            </a:r>
            <a:endParaRPr lang="fr-BE" sz="1800" dirty="0"/>
          </a:p>
          <a:p>
            <a:pPr marL="342900" indent="-342900">
              <a:buFont typeface="Symbol" pitchFamily="2" charset="2"/>
              <a:buChar char=""/>
            </a:pPr>
            <a:r>
              <a:rPr lang="fr-FR" sz="1800" dirty="0"/>
              <a:t>Pouvoir implémenter des classes et objets Java simples et les classes de test correspondantes. </a:t>
            </a:r>
            <a:endParaRPr lang="fr-BE" sz="1800" dirty="0"/>
          </a:p>
          <a:p>
            <a:r>
              <a:rPr lang="fr-FR" sz="1800" dirty="0"/>
              <a:t>Pouvoir, par l'exécution d'une batterie de tests (</a:t>
            </a:r>
            <a:r>
              <a:rPr lang="fr-FR" sz="1800" dirty="0">
                <a:solidFill>
                  <a:schemeClr val="accent4"/>
                </a:solidFill>
                <a:latin typeface="Consolas"/>
              </a:rPr>
              <a:t>JUnit</a:t>
            </a:r>
            <a:r>
              <a:rPr lang="fr-FR" sz="1800" dirty="0"/>
              <a:t>) implémentée par un tiers, </a:t>
            </a:r>
            <a:r>
              <a:rPr lang="fr-FR" sz="1800" dirty="0">
                <a:solidFill>
                  <a:schemeClr val="accent4"/>
                </a:solidFill>
              </a:rPr>
              <a:t>repérer et débugger des problèmes </a:t>
            </a:r>
            <a:r>
              <a:rPr lang="fr-FR" sz="1800" dirty="0"/>
              <a:t>simples dans des classes Java implémentées par un tiers.</a:t>
            </a:r>
            <a:r>
              <a:rPr lang="fr-BE" sz="1800" dirty="0"/>
              <a:t> </a:t>
            </a:r>
            <a:endParaRPr lang="fr-FR" sz="1800" dirty="0"/>
          </a:p>
          <a:p>
            <a:endParaRPr lang="fr-FR" sz="1800" dirty="0"/>
          </a:p>
        </p:txBody>
      </p:sp>
      <p:sp>
        <p:nvSpPr>
          <p:cNvPr id="3" name="Espace réservé du numéro de diapositive 2">
            <a:extLst>
              <a:ext uri="{FF2B5EF4-FFF2-40B4-BE49-F238E27FC236}">
                <a16:creationId xmlns:a16="http://schemas.microsoft.com/office/drawing/2014/main" id="{07AC601B-9230-A9A1-8290-538D51C71641}"/>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
        <p:nvSpPr>
          <p:cNvPr id="4" name="iconDossierPedagogique">
            <a:extLst>
              <a:ext uri="{FF2B5EF4-FFF2-40B4-BE49-F238E27FC236}">
                <a16:creationId xmlns:a16="http://schemas.microsoft.com/office/drawing/2014/main" id="{A5E17D78-E3E6-22CF-A69D-174726B46DFF}"/>
              </a:ext>
            </a:extLst>
          </p:cNvPr>
          <p:cNvSpPr/>
          <p:nvPr/>
        </p:nvSpPr>
        <p:spPr>
          <a:xfrm rot="340723">
            <a:off x="9792903" y="5027942"/>
            <a:ext cx="1713297" cy="1107457"/>
          </a:xfrm>
          <a:prstGeom prst="flowChartDocument">
            <a:avLst/>
          </a:prstGeom>
          <a:solidFill>
            <a:srgbClr val="92D0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2C72B3"/>
                </a:solidFill>
                <a:effectLst>
                  <a:outerShdw blurRad="50800" dist="38100" dir="2700000" algn="tl" rotWithShape="0">
                    <a:prstClr val="black">
                      <a:alpha val="40000"/>
                    </a:prstClr>
                  </a:outerShdw>
                </a:effectLst>
              </a:rPr>
              <a:t>Dossier pédagogique</a:t>
            </a:r>
          </a:p>
        </p:txBody>
      </p:sp>
    </p:spTree>
    <p:extLst>
      <p:ext uri="{BB962C8B-B14F-4D97-AF65-F5344CB8AC3E}">
        <p14:creationId xmlns:p14="http://schemas.microsoft.com/office/powerpoint/2010/main" val="83544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C6FAF-8A7A-13FB-6CF5-599D339034C5}"/>
              </a:ext>
            </a:extLst>
          </p:cNvPr>
          <p:cNvSpPr>
            <a:spLocks noGrp="1"/>
          </p:cNvSpPr>
          <p:nvPr>
            <p:ph type="title"/>
          </p:nvPr>
        </p:nvSpPr>
        <p:spPr/>
        <p:txBody>
          <a:bodyPr>
            <a:noAutofit/>
          </a:bodyPr>
          <a:lstStyle/>
          <a:p>
            <a:r>
              <a:rPr lang="fr-FR" sz="4000" dirty="0"/>
              <a:t>En d'autres termes, vous devez pouvoir…</a:t>
            </a:r>
          </a:p>
        </p:txBody>
      </p:sp>
      <p:sp>
        <p:nvSpPr>
          <p:cNvPr id="3" name="Espace réservé du contenu 2">
            <a:extLst>
              <a:ext uri="{FF2B5EF4-FFF2-40B4-BE49-F238E27FC236}">
                <a16:creationId xmlns:a16="http://schemas.microsoft.com/office/drawing/2014/main" id="{3E2E1923-D8EB-4A28-837D-7B8689908084}"/>
              </a:ext>
            </a:extLst>
          </p:cNvPr>
          <p:cNvSpPr>
            <a:spLocks noGrp="1"/>
          </p:cNvSpPr>
          <p:nvPr>
            <p:ph idx="1"/>
          </p:nvPr>
        </p:nvSpPr>
        <p:spPr/>
        <p:txBody>
          <a:bodyPr/>
          <a:lstStyle/>
          <a:p>
            <a:pPr marL="0" indent="0">
              <a:buNone/>
            </a:pPr>
            <a:r>
              <a:rPr lang="fr-FR" dirty="0"/>
              <a:t>Concevoir des classes et les </a:t>
            </a:r>
            <a:r>
              <a:rPr lang="fr-FR" dirty="0">
                <a:solidFill>
                  <a:schemeClr val="accent4"/>
                </a:solidFill>
              </a:rPr>
              <a:t>utiliser</a:t>
            </a:r>
          </a:p>
          <a:p>
            <a:pPr marL="0" indent="0">
              <a:buNone/>
            </a:pPr>
            <a:r>
              <a:rPr lang="fr-FR" dirty="0"/>
              <a:t>Utiliser à bon escient l'</a:t>
            </a:r>
            <a:r>
              <a:rPr lang="fr-FR" dirty="0">
                <a:solidFill>
                  <a:schemeClr val="accent4"/>
                </a:solidFill>
              </a:rPr>
              <a:t>héritage</a:t>
            </a:r>
          </a:p>
          <a:p>
            <a:pPr marL="0" indent="0">
              <a:buNone/>
            </a:pPr>
            <a:r>
              <a:rPr lang="fr-FR" dirty="0"/>
              <a:t>Ecrire et exécuter des </a:t>
            </a:r>
            <a:r>
              <a:rPr lang="fr-FR" dirty="0">
                <a:solidFill>
                  <a:schemeClr val="accent4"/>
                </a:solidFill>
              </a:rPr>
              <a:t>cas de test </a:t>
            </a:r>
            <a:r>
              <a:rPr lang="fr-FR" dirty="0"/>
              <a:t>pour vérifier le bon fonctionnement de classes</a:t>
            </a:r>
          </a:p>
          <a:p>
            <a:pPr marL="0" indent="0">
              <a:buNone/>
            </a:pPr>
            <a:r>
              <a:rPr lang="fr-FR" dirty="0"/>
              <a:t>Utiliser les classes du </a:t>
            </a:r>
            <a:r>
              <a:rPr lang="fr-FR" dirty="0">
                <a:solidFill>
                  <a:schemeClr val="accent4"/>
                </a:solidFill>
              </a:rPr>
              <a:t>JDK</a:t>
            </a:r>
            <a:r>
              <a:rPr lang="fr-FR" dirty="0"/>
              <a:t> Java que nous aurons vues au cours: </a:t>
            </a:r>
            <a:r>
              <a:rPr lang="fr-FR" sz="2400" dirty="0">
                <a:solidFill>
                  <a:srgbClr val="FFC000"/>
                </a:solidFill>
                <a:latin typeface="Consolas" panose="020B0609020204030204" pitchFamily="49" charset="0"/>
                <a:cs typeface="Consolas" panose="020B0609020204030204" pitchFamily="49" charset="0"/>
              </a:rPr>
              <a:t>Fichiers</a:t>
            </a:r>
            <a:r>
              <a:rPr lang="fr-FR" dirty="0"/>
              <a:t>, </a:t>
            </a:r>
            <a:r>
              <a:rPr lang="fr-FR" sz="2400" dirty="0">
                <a:solidFill>
                  <a:srgbClr val="FFC000"/>
                </a:solidFill>
                <a:latin typeface="Consolas" panose="020B0609020204030204" pitchFamily="49" charset="0"/>
                <a:cs typeface="Consolas" panose="020B0609020204030204" pitchFamily="49" charset="0"/>
              </a:rPr>
              <a:t>Collections</a:t>
            </a:r>
            <a:r>
              <a:rPr lang="fr-FR" dirty="0"/>
              <a:t>, </a:t>
            </a:r>
            <a:r>
              <a:rPr lang="fr-FR" sz="2400" dirty="0">
                <a:solidFill>
                  <a:srgbClr val="FFC000"/>
                </a:solidFill>
                <a:latin typeface="Consolas" panose="020B0609020204030204" pitchFamily="49" charset="0"/>
                <a:cs typeface="Consolas" panose="020B0609020204030204" pitchFamily="49" charset="0"/>
              </a:rPr>
              <a:t>Exceptions</a:t>
            </a:r>
            <a:r>
              <a:rPr lang="fr-FR" dirty="0"/>
              <a:t>, </a:t>
            </a:r>
            <a:r>
              <a:rPr lang="fr-FR" sz="2400" dirty="0">
                <a:solidFill>
                  <a:srgbClr val="FFC000"/>
                </a:solidFill>
                <a:latin typeface="Consolas" panose="020B0609020204030204" pitchFamily="49" charset="0"/>
                <a:cs typeface="Consolas" panose="020B0609020204030204" pitchFamily="49" charset="0"/>
              </a:rPr>
              <a:t>Événements</a:t>
            </a:r>
            <a:endParaRPr lang="fr-FR" dirty="0">
              <a:solidFill>
                <a:srgbClr val="FFC000"/>
              </a:solidFill>
              <a:latin typeface="Consolas" panose="020B0609020204030204" pitchFamily="49" charset="0"/>
              <a:cs typeface="Consolas" panose="020B0609020204030204" pitchFamily="49" charset="0"/>
            </a:endParaRPr>
          </a:p>
          <a:p>
            <a:endParaRPr lang="fr-FR" dirty="0"/>
          </a:p>
          <a:p>
            <a:endParaRPr lang="fr-FR" dirty="0"/>
          </a:p>
        </p:txBody>
      </p:sp>
      <p:sp>
        <p:nvSpPr>
          <p:cNvPr id="4" name="Rectangle : coins arrondis 3">
            <a:extLst>
              <a:ext uri="{FF2B5EF4-FFF2-40B4-BE49-F238E27FC236}">
                <a16:creationId xmlns:a16="http://schemas.microsoft.com/office/drawing/2014/main" id="{907C684F-3E02-A178-CA9E-A3CDEF0F318E}"/>
              </a:ext>
            </a:extLst>
          </p:cNvPr>
          <p:cNvSpPr/>
          <p:nvPr/>
        </p:nvSpPr>
        <p:spPr>
          <a:xfrm>
            <a:off x="838200" y="1798983"/>
            <a:ext cx="5691809" cy="54665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63F2CED-D0AE-C1B1-0770-34942000C472}"/>
              </a:ext>
            </a:extLst>
          </p:cNvPr>
          <p:cNvSpPr txBox="1"/>
          <p:nvPr/>
        </p:nvSpPr>
        <p:spPr>
          <a:xfrm>
            <a:off x="6698975" y="1887643"/>
            <a:ext cx="3756991" cy="400110"/>
          </a:xfrm>
          <a:prstGeom prst="rect">
            <a:avLst/>
          </a:prstGeom>
          <a:noFill/>
        </p:spPr>
        <p:txBody>
          <a:bodyPr wrap="square" rtlCol="0">
            <a:spAutoFit/>
          </a:bodyPr>
          <a:lstStyle/>
          <a:p>
            <a:r>
              <a:rPr lang="fr-FR" sz="2000" dirty="0">
                <a:solidFill>
                  <a:srgbClr val="00B050"/>
                </a:solidFill>
                <a:latin typeface="Corbel" panose="020B0503020204020204" pitchFamily="34" charset="0"/>
              </a:rPr>
              <a:t>Comme en C#</a:t>
            </a:r>
          </a:p>
        </p:txBody>
      </p:sp>
      <p:sp>
        <p:nvSpPr>
          <p:cNvPr id="6" name="Espace réservé du numéro de diapositive 5">
            <a:extLst>
              <a:ext uri="{FF2B5EF4-FFF2-40B4-BE49-F238E27FC236}">
                <a16:creationId xmlns:a16="http://schemas.microsoft.com/office/drawing/2014/main" id="{2CEC9CA7-CBC6-9C3F-A29C-A529C325F211}"/>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58065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a:t>
            </a:r>
            <a:r>
              <a:rPr lang="fr-BE" sz="4000" dirty="0"/>
              <a:t>'</a:t>
            </a:r>
            <a:r>
              <a:rPr sz="4000" dirty="0" err="1"/>
              <a:t>organisation</a:t>
            </a:r>
            <a:r>
              <a:rPr lang="nl-BE" sz="4000" dirty="0"/>
              <a:t> pratique du cours</a:t>
            </a:r>
            <a:endParaRPr sz="4000" dirty="0"/>
          </a:p>
        </p:txBody>
      </p:sp>
      <p:sp>
        <p:nvSpPr>
          <p:cNvPr id="3" name="Content Placeholder 2"/>
          <p:cNvSpPr>
            <a:spLocks noGrp="1"/>
          </p:cNvSpPr>
          <p:nvPr>
            <p:ph idx="1"/>
          </p:nvPr>
        </p:nvSpPr>
        <p:spPr>
          <a:xfrm>
            <a:off x="640080" y="1371600"/>
            <a:ext cx="10881360" cy="4800600"/>
          </a:xfrm>
        </p:spPr>
        <p:txBody>
          <a:bodyPr/>
          <a:lstStyle/>
          <a:p>
            <a:pPr>
              <a:spcAft>
                <a:spcPts val="800"/>
              </a:spcAft>
              <a:buFont typeface="Police système Courant"/>
              <a:buChar char="-"/>
            </a:pPr>
            <a:r>
              <a:rPr lang="nl-BE" dirty="0"/>
              <a:t>Le cours comporte </a:t>
            </a:r>
            <a:r>
              <a:rPr dirty="0"/>
              <a:t>14 séances, du 19 </a:t>
            </a:r>
            <a:r>
              <a:rPr dirty="0" err="1"/>
              <a:t>janvier</a:t>
            </a:r>
            <a:r>
              <a:rPr dirty="0"/>
              <a:t> au 18 </a:t>
            </a:r>
            <a:r>
              <a:rPr dirty="0" err="1"/>
              <a:t>mai</a:t>
            </a:r>
            <a:r>
              <a:rPr dirty="0"/>
              <a:t> 2027</a:t>
            </a:r>
          </a:p>
          <a:p>
            <a:pPr>
              <a:spcAft>
                <a:spcPts val="800"/>
              </a:spcAft>
              <a:buFont typeface="Police système Courant"/>
              <a:buChar char="-"/>
            </a:pPr>
            <a:r>
              <a:rPr lang="nl-BE" dirty="0"/>
              <a:t>Les séances se déroulent d</a:t>
            </a:r>
            <a:r>
              <a:rPr dirty="0"/>
              <a:t>e 18 h 00 à </a:t>
            </a:r>
            <a:r>
              <a:rPr lang="nl-BE" dirty="0"/>
              <a:t>(max) </a:t>
            </a:r>
            <a:r>
              <a:rPr dirty="0"/>
              <a:t>21 h </a:t>
            </a:r>
            <a:r>
              <a:rPr lang="nl-BE" dirty="0"/>
              <a:t>3</a:t>
            </a:r>
            <a:r>
              <a:rPr dirty="0"/>
              <a:t>5, avec </a:t>
            </a:r>
            <a:r>
              <a:rPr dirty="0" err="1"/>
              <a:t>une</a:t>
            </a:r>
            <a:r>
              <a:rPr dirty="0"/>
              <a:t> pause de 15 minutes</a:t>
            </a:r>
          </a:p>
          <a:p>
            <a:pPr>
              <a:spcAft>
                <a:spcPts val="800"/>
              </a:spcAft>
              <a:buFont typeface="Police système Courant"/>
              <a:buChar char="-"/>
            </a:pPr>
            <a:r>
              <a:rPr lang="nl-BE" dirty="0"/>
              <a:t>L'e</a:t>
            </a:r>
            <a:r>
              <a:rPr dirty="0" err="1"/>
              <a:t>xamen</a:t>
            </a:r>
            <a:r>
              <a:rPr dirty="0"/>
              <a:t> </a:t>
            </a:r>
            <a:r>
              <a:rPr lang="nl-BE" dirty="0"/>
              <a:t>aura lieu </a:t>
            </a:r>
            <a:r>
              <a:rPr dirty="0"/>
              <a:t>le 8 </a:t>
            </a:r>
            <a:r>
              <a:rPr dirty="0" err="1"/>
              <a:t>juin</a:t>
            </a:r>
            <a:r>
              <a:rPr dirty="0"/>
              <a:t> 2027</a:t>
            </a:r>
          </a:p>
          <a:p>
            <a:pPr>
              <a:spcAft>
                <a:spcPts val="800"/>
              </a:spcAft>
              <a:buFont typeface="Police système Courant"/>
              <a:buChar char="-"/>
            </a:pPr>
            <a:r>
              <a:rPr dirty="0" err="1"/>
              <a:t>Outils</a:t>
            </a:r>
            <a:r>
              <a:rPr lang="nl-BE" dirty="0"/>
              <a:t> utilisés</a:t>
            </a:r>
            <a:r>
              <a:rPr dirty="0"/>
              <a:t> : Java, IntelliJ IDEA, Maven, </a:t>
            </a:r>
            <a:r>
              <a:rPr dirty="0">
                <a:solidFill>
                  <a:schemeClr val="accent4"/>
                </a:solidFill>
                <a:latin typeface="Consolas"/>
              </a:rPr>
              <a:t>JUnit</a:t>
            </a:r>
            <a:r>
              <a:rPr dirty="0"/>
              <a:t>, </a:t>
            </a:r>
            <a:r>
              <a:rPr dirty="0">
                <a:solidFill>
                  <a:schemeClr val="accent4"/>
                </a:solidFill>
                <a:latin typeface="Consolas"/>
              </a:rPr>
              <a:t>JavaFX</a:t>
            </a:r>
          </a:p>
          <a:p>
            <a:pPr>
              <a:spcAft>
                <a:spcPts val="800"/>
              </a:spcAft>
              <a:buFont typeface="Police système Courant"/>
              <a:buChar char="-"/>
            </a:pPr>
            <a:r>
              <a:rPr lang="nl-BE" dirty="0"/>
              <a:t>Pour le détail des v</a:t>
            </a:r>
            <a:r>
              <a:rPr dirty="0" err="1"/>
              <a:t>ersions</a:t>
            </a:r>
            <a:r>
              <a:rPr dirty="0"/>
              <a:t> à installer</a:t>
            </a:r>
            <a:r>
              <a:rPr lang="nl-BE" dirty="0"/>
              <a:t>,</a:t>
            </a:r>
            <a:r>
              <a:rPr dirty="0"/>
              <a:t> voir Moodle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
        <p:nvSpPr>
          <p:cNvPr id="7" name="iconOrganisation">
            <a:extLst>
              <a:ext uri="{FF2B5EF4-FFF2-40B4-BE49-F238E27FC236}">
                <a16:creationId xmlns:a16="http://schemas.microsoft.com/office/drawing/2014/main" id="{FD4E4133-9251-AC40-8C56-63900131B886}"/>
              </a:ext>
            </a:extLst>
          </p:cNvPr>
          <p:cNvSpPr txBox="1"/>
          <p:nvPr/>
        </p:nvSpPr>
        <p:spPr>
          <a:xfrm rot="669608">
            <a:off x="10135469" y="273856"/>
            <a:ext cx="1310163" cy="1508105"/>
          </a:xfrm>
          <a:prstGeom prst="rect">
            <a:avLst/>
          </a:prstGeom>
          <a:noFill/>
        </p:spPr>
        <p:txBody>
          <a:bodyPr wrap="square">
            <a:spAutoFit/>
          </a:bodyPr>
          <a:lstStyle/>
          <a:p>
            <a:r>
              <a:rPr lang="fr-FR" sz="92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Présence aux séances</a:t>
            </a:r>
          </a:p>
        </p:txBody>
      </p:sp>
      <p:sp>
        <p:nvSpPr>
          <p:cNvPr id="3" name="Content Placeholder 2"/>
          <p:cNvSpPr>
            <a:spLocks noGrp="1"/>
          </p:cNvSpPr>
          <p:nvPr>
            <p:ph idx="1"/>
          </p:nvPr>
        </p:nvSpPr>
        <p:spPr>
          <a:xfrm>
            <a:off x="640080" y="1371600"/>
            <a:ext cx="10881360" cy="900000"/>
          </a:xfrm>
        </p:spPr>
        <p:txBody>
          <a:bodyPr/>
          <a:lstStyle/>
          <a:p>
            <a:pPr marL="0" indent="0">
              <a:buNone/>
            </a:pPr>
            <a:r>
              <a:t>Message officiel de la direction de l'EPHEC :</a:t>
            </a:r>
          </a:p>
        </p:txBody>
      </p:sp>
      <p:sp>
        <p:nvSpPr>
          <p:cNvPr id="4" name="Rounded Rectangle 3"/>
          <p:cNvSpPr/>
          <p:nvPr/>
        </p:nvSpPr>
        <p:spPr>
          <a:xfrm>
            <a:off x="940080" y="2500000"/>
            <a:ext cx="10281360" cy="2300000"/>
          </a:xfrm>
          <a:prstGeom prst="roundRect">
            <a:avLst>
              <a:gd name="adj" fmla="val 6000"/>
            </a:avLst>
          </a:prstGeom>
          <a:solidFill>
            <a:srgbClr val="1D1F22"/>
          </a:solidFill>
          <a:ln w="25400">
            <a:solidFill>
              <a:srgbClr val="E8BA36"/>
            </a:solidFill>
          </a:ln>
        </p:spPr>
        <p:style>
          <a:lnRef idx="1">
            <a:schemeClr val="accent1"/>
          </a:lnRef>
          <a:fillRef idx="3">
            <a:schemeClr val="accent1"/>
          </a:fillRef>
          <a:effectRef idx="2">
            <a:schemeClr val="accent1"/>
          </a:effectRef>
          <a:fontRef idx="minor">
            <a:schemeClr val="lt1"/>
          </a:fontRef>
        </p:style>
        <p:txBody>
          <a:bodyPr wrap="square" lIns="400000" rIns="400000" rtlCol="0" anchor="ctr"/>
          <a:lstStyle/>
          <a:p>
            <a:pPr algn="ctr"/>
            <a:r>
              <a:rPr sz="2600">
                <a:solidFill>
                  <a:srgbClr val="FFFFFF"/>
                </a:solidFill>
              </a:rPr>
              <a:t>« En cas de dépassement des 40 % d'absences injustifiées dans une unité d'enseignement, l'étudiant se verra automatiquement désinscrit du cours et non-admis à l'examen. »</a:t>
            </a:r>
          </a:p>
        </p:txBody>
      </p:sp>
      <p:sp>
        <p:nvSpPr>
          <p:cNvPr id="6"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505879-0884-3FF6-1A1D-D548FB15EB81}"/>
              </a:ext>
            </a:extLst>
          </p:cNvPr>
          <p:cNvSpPr>
            <a:spLocks noGrp="1"/>
          </p:cNvSpPr>
          <p:nvPr>
            <p:ph type="title"/>
          </p:nvPr>
        </p:nvSpPr>
        <p:spPr/>
        <p:txBody>
          <a:bodyPr>
            <a:noAutofit/>
          </a:bodyPr>
          <a:lstStyle/>
          <a:p>
            <a:r>
              <a:rPr lang="fr-FR" sz="4000" dirty="0"/>
              <a:t>… et l'examen?</a:t>
            </a:r>
          </a:p>
        </p:txBody>
      </p:sp>
      <p:sp>
        <p:nvSpPr>
          <p:cNvPr id="3" name="Espace réservé du contenu 2">
            <a:extLst>
              <a:ext uri="{FF2B5EF4-FFF2-40B4-BE49-F238E27FC236}">
                <a16:creationId xmlns:a16="http://schemas.microsoft.com/office/drawing/2014/main" id="{C43EF738-924E-2DA0-7EDB-41FEFFAFB1D3}"/>
              </a:ext>
            </a:extLst>
          </p:cNvPr>
          <p:cNvSpPr>
            <a:spLocks noGrp="1"/>
          </p:cNvSpPr>
          <p:nvPr>
            <p:ph idx="1"/>
          </p:nvPr>
        </p:nvSpPr>
        <p:spPr/>
        <p:txBody>
          <a:bodyPr>
            <a:normAutofit/>
          </a:bodyPr>
          <a:lstStyle/>
          <a:p>
            <a:pPr marL="0" indent="0">
              <a:buNone/>
            </a:pPr>
            <a:r>
              <a:rPr lang="fr-FR" dirty="0"/>
              <a:t>L'examen se déroule à cahier ouvert (pas de par cœur)</a:t>
            </a:r>
          </a:p>
          <a:p>
            <a:pPr marL="0" indent="0">
              <a:buNone/>
            </a:pPr>
            <a:endParaRPr lang="fr-FR" sz="1100" dirty="0"/>
          </a:p>
          <a:p>
            <a:pPr marL="0" indent="0">
              <a:buNone/>
            </a:pPr>
            <a:r>
              <a:rPr lang="fr-FR" dirty="0"/>
              <a:t>Sur machine, en 2 h 30 : cinq ou six questions, sur les sujets suivants :</a:t>
            </a:r>
          </a:p>
          <a:p>
            <a:pPr marL="385763" indent="-385763">
              <a:buFont typeface="+mj-lt"/>
              <a:buAutoNum type="arabicPeriod"/>
            </a:pPr>
            <a:r>
              <a:rPr lang="fr-FR" dirty="0"/>
              <a:t>Ecrire une </a:t>
            </a:r>
            <a:r>
              <a:rPr lang="fr-FR" dirty="0">
                <a:solidFill>
                  <a:schemeClr val="accent4"/>
                </a:solidFill>
              </a:rPr>
              <a:t>classe simple </a:t>
            </a:r>
            <a:r>
              <a:rPr lang="fr-FR" dirty="0"/>
              <a:t>(avec </a:t>
            </a:r>
            <a:r>
              <a:rPr lang="fr-FR" sz="2400" dirty="0">
                <a:solidFill>
                  <a:srgbClr val="FFC000"/>
                </a:solidFill>
                <a:latin typeface="Consolas" panose="020B0609020204030204" pitchFamily="49" charset="0"/>
                <a:cs typeface="Consolas" panose="020B0609020204030204" pitchFamily="49" charset="0"/>
              </a:rPr>
              <a:t>Exception</a:t>
            </a:r>
            <a:r>
              <a:rPr lang="fr-FR" dirty="0"/>
              <a:t>)</a:t>
            </a:r>
          </a:p>
          <a:p>
            <a:pPr marL="385763" indent="-385763">
              <a:buFont typeface="+mj-lt"/>
              <a:buAutoNum type="arabicPeriod"/>
            </a:pPr>
            <a:r>
              <a:rPr lang="fr-FR" dirty="0"/>
              <a:t>Ecrire un </a:t>
            </a:r>
            <a:r>
              <a:rPr lang="fr-FR" dirty="0">
                <a:solidFill>
                  <a:schemeClr val="accent4"/>
                </a:solidFill>
              </a:rPr>
              <a:t>type générique</a:t>
            </a:r>
          </a:p>
          <a:p>
            <a:pPr marL="385763" indent="-385763">
              <a:buFont typeface="+mj-lt"/>
              <a:buAutoNum type="arabicPeriod"/>
            </a:pPr>
            <a:r>
              <a:rPr lang="fr-FR" dirty="0"/>
              <a:t>Ecrire (et exécuter) une </a:t>
            </a:r>
            <a:r>
              <a:rPr lang="fr-FR" dirty="0">
                <a:solidFill>
                  <a:schemeClr val="accent4"/>
                </a:solidFill>
              </a:rPr>
              <a:t>classe de tests </a:t>
            </a:r>
            <a:r>
              <a:rPr lang="fr-FR" dirty="0"/>
              <a:t>pour une classe donnée</a:t>
            </a:r>
          </a:p>
          <a:p>
            <a:pPr marL="385763" indent="-385763">
              <a:buFont typeface="+mj-lt"/>
              <a:buAutoNum type="arabicPeriod"/>
            </a:pPr>
            <a:r>
              <a:rPr lang="fr-FR" dirty="0"/>
              <a:t>Ecrire une </a:t>
            </a:r>
            <a:r>
              <a:rPr lang="fr-FR" dirty="0">
                <a:solidFill>
                  <a:schemeClr val="accent4"/>
                </a:solidFill>
              </a:rPr>
              <a:t>arborescence d'interfaces/classes</a:t>
            </a:r>
          </a:p>
          <a:p>
            <a:pPr marL="385763" indent="-385763">
              <a:buFont typeface="+mj-lt"/>
              <a:buAutoNum type="arabicPeriod"/>
            </a:pPr>
            <a:r>
              <a:rPr lang="fr-FR" dirty="0"/>
              <a:t>Compléter une </a:t>
            </a:r>
            <a:r>
              <a:rPr lang="fr-FR" dirty="0">
                <a:solidFill>
                  <a:schemeClr val="accent4"/>
                </a:solidFill>
              </a:rPr>
              <a:t>application graphique </a:t>
            </a:r>
            <a:r>
              <a:rPr lang="fr-FR" dirty="0"/>
              <a:t>pour qu'elle fonctionne</a:t>
            </a:r>
          </a:p>
          <a:p>
            <a:pPr marL="385763" indent="-385763">
              <a:buFont typeface="+mj-lt"/>
              <a:buAutoNum type="arabicPeriod"/>
            </a:pPr>
            <a:r>
              <a:rPr lang="fr-FR" dirty="0"/>
              <a:t>… et peut-être une question sur </a:t>
            </a:r>
            <a:r>
              <a:rPr lang="nl-BE" dirty="0"/>
              <a:t>un autre sujet (cela sera confirmé)</a:t>
            </a:r>
            <a:endParaRPr dirty="0">
              <a:solidFill>
                <a:schemeClr val="accent4"/>
              </a:solidFill>
            </a:endParaRPr>
          </a:p>
          <a:p>
            <a:pPr marL="385763" indent="-385763">
              <a:buFont typeface="+mj-lt"/>
              <a:buAutoNum type="arabicPeriod"/>
            </a:pPr>
            <a:endParaRPr lang="fr-FR" dirty="0"/>
          </a:p>
          <a:p>
            <a:pPr marL="0" indent="0">
              <a:buNone/>
            </a:pPr>
            <a:endParaRPr lang="fr-FR" dirty="0"/>
          </a:p>
        </p:txBody>
      </p:sp>
      <p:grpSp>
        <p:nvGrpSpPr>
          <p:cNvPr id="4" name="iconEvaluation">
            <a:extLst>
              <a:ext uri="{FF2B5EF4-FFF2-40B4-BE49-F238E27FC236}">
                <a16:creationId xmlns:a16="http://schemas.microsoft.com/office/drawing/2014/main" id="{986B3C48-B50C-ACFA-8D97-D1D97CD06F42}"/>
              </a:ext>
            </a:extLst>
          </p:cNvPr>
          <p:cNvGrpSpPr/>
          <p:nvPr/>
        </p:nvGrpSpPr>
        <p:grpSpPr>
          <a:xfrm>
            <a:off x="9911623" y="507705"/>
            <a:ext cx="1586442" cy="741140"/>
            <a:chOff x="1798321" y="1462674"/>
            <a:chExt cx="8418008" cy="3932652"/>
          </a:xfrm>
        </p:grpSpPr>
        <p:grpSp>
          <p:nvGrpSpPr>
            <p:cNvPr id="5" name="Groupe 4">
              <a:extLst>
                <a:ext uri="{FF2B5EF4-FFF2-40B4-BE49-F238E27FC236}">
                  <a16:creationId xmlns:a16="http://schemas.microsoft.com/office/drawing/2014/main" id="{8B9C5F1E-1B0A-39F8-4BEE-FB70A3EA9C54}"/>
                </a:ext>
              </a:extLst>
            </p:cNvPr>
            <p:cNvGrpSpPr/>
            <p:nvPr/>
          </p:nvGrpSpPr>
          <p:grpSpPr>
            <a:xfrm>
              <a:off x="1798321" y="1462674"/>
              <a:ext cx="1604380" cy="3932652"/>
              <a:chOff x="1798321" y="1462674"/>
              <a:chExt cx="1604380" cy="3932652"/>
            </a:xfrm>
          </p:grpSpPr>
          <p:sp>
            <p:nvSpPr>
              <p:cNvPr id="33" name="Rectangle : coins arrondis 32">
                <a:extLst>
                  <a:ext uri="{FF2B5EF4-FFF2-40B4-BE49-F238E27FC236}">
                    <a16:creationId xmlns:a16="http://schemas.microsoft.com/office/drawing/2014/main" id="{EC08CCC3-E77A-BDA6-BAE7-9970CC0787E6}"/>
                  </a:ext>
                </a:extLst>
              </p:cNvPr>
              <p:cNvSpPr/>
              <p:nvPr/>
            </p:nvSpPr>
            <p:spPr>
              <a:xfrm>
                <a:off x="2260600" y="1462674"/>
                <a:ext cx="680720" cy="228014"/>
              </a:xfrm>
              <a:prstGeom prst="roundRect">
                <a:avLst>
                  <a:gd name="adj" fmla="val 10968"/>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4" name="Rectangle : coins arrondis 33">
                <a:extLst>
                  <a:ext uri="{FF2B5EF4-FFF2-40B4-BE49-F238E27FC236}">
                    <a16:creationId xmlns:a16="http://schemas.microsoft.com/office/drawing/2014/main" id="{1A85BC40-B842-BF9F-66D9-51AAFC8FBD02}"/>
                  </a:ext>
                </a:extLst>
              </p:cNvPr>
              <p:cNvSpPr/>
              <p:nvPr/>
            </p:nvSpPr>
            <p:spPr>
              <a:xfrm>
                <a:off x="1798321" y="1690688"/>
                <a:ext cx="1604380" cy="3704638"/>
              </a:xfrm>
              <a:prstGeom prst="roundRect">
                <a:avLst>
                  <a:gd name="adj" fmla="val 1096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5" name="Rectangle : coins arrondis 34">
                <a:extLst>
                  <a:ext uri="{FF2B5EF4-FFF2-40B4-BE49-F238E27FC236}">
                    <a16:creationId xmlns:a16="http://schemas.microsoft.com/office/drawing/2014/main" id="{36693206-3B01-8A0A-041B-A9F03B09852D}"/>
                  </a:ext>
                </a:extLst>
              </p:cNvPr>
              <p:cNvSpPr/>
              <p:nvPr/>
            </p:nvSpPr>
            <p:spPr>
              <a:xfrm>
                <a:off x="1975671" y="4915312"/>
                <a:ext cx="1249680" cy="252000"/>
              </a:xfrm>
              <a:prstGeom prst="roundRect">
                <a:avLst>
                  <a:gd name="adj" fmla="val 10968"/>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6" name="Groupe 5">
              <a:extLst>
                <a:ext uri="{FF2B5EF4-FFF2-40B4-BE49-F238E27FC236}">
                  <a16:creationId xmlns:a16="http://schemas.microsoft.com/office/drawing/2014/main" id="{AD2CBC23-8500-AD4A-0951-346A67CAEE4C}"/>
                </a:ext>
              </a:extLst>
            </p:cNvPr>
            <p:cNvGrpSpPr/>
            <p:nvPr/>
          </p:nvGrpSpPr>
          <p:grpSpPr>
            <a:xfrm>
              <a:off x="8611949" y="1462674"/>
              <a:ext cx="1604380" cy="3932652"/>
              <a:chOff x="1798321" y="1462674"/>
              <a:chExt cx="1604380" cy="3932652"/>
            </a:xfrm>
          </p:grpSpPr>
          <p:sp>
            <p:nvSpPr>
              <p:cNvPr id="23" name="Rectangle : coins arrondis 22">
                <a:extLst>
                  <a:ext uri="{FF2B5EF4-FFF2-40B4-BE49-F238E27FC236}">
                    <a16:creationId xmlns:a16="http://schemas.microsoft.com/office/drawing/2014/main" id="{0A90E1D1-8829-7CCF-77B3-B4B13503C680}"/>
                  </a:ext>
                </a:extLst>
              </p:cNvPr>
              <p:cNvSpPr/>
              <p:nvPr/>
            </p:nvSpPr>
            <p:spPr>
              <a:xfrm>
                <a:off x="2260600" y="1462674"/>
                <a:ext cx="680720" cy="228014"/>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4" name="Rectangle : coins arrondis 23">
                <a:extLst>
                  <a:ext uri="{FF2B5EF4-FFF2-40B4-BE49-F238E27FC236}">
                    <a16:creationId xmlns:a16="http://schemas.microsoft.com/office/drawing/2014/main" id="{778C5989-5A69-77A3-FB73-749AC943D3CF}"/>
                  </a:ext>
                </a:extLst>
              </p:cNvPr>
              <p:cNvSpPr/>
              <p:nvPr/>
            </p:nvSpPr>
            <p:spPr>
              <a:xfrm>
                <a:off x="1798321" y="1690688"/>
                <a:ext cx="1604380" cy="3704638"/>
              </a:xfrm>
              <a:prstGeom prst="roundRect">
                <a:avLst>
                  <a:gd name="adj" fmla="val 10968"/>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5" name="Rectangle : coins arrondis 24">
                <a:extLst>
                  <a:ext uri="{FF2B5EF4-FFF2-40B4-BE49-F238E27FC236}">
                    <a16:creationId xmlns:a16="http://schemas.microsoft.com/office/drawing/2014/main" id="{F3CF859A-F7DF-4398-8E85-EE640BF6FB21}"/>
                  </a:ext>
                </a:extLst>
              </p:cNvPr>
              <p:cNvSpPr/>
              <p:nvPr/>
            </p:nvSpPr>
            <p:spPr>
              <a:xfrm>
                <a:off x="1975671" y="4915312"/>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6" name="Rectangle : coins arrondis 25">
                <a:extLst>
                  <a:ext uri="{FF2B5EF4-FFF2-40B4-BE49-F238E27FC236}">
                    <a16:creationId xmlns:a16="http://schemas.microsoft.com/office/drawing/2014/main" id="{A927AAB2-A260-8731-55A2-0554CADC324E}"/>
                  </a:ext>
                </a:extLst>
              </p:cNvPr>
              <p:cNvSpPr/>
              <p:nvPr/>
            </p:nvSpPr>
            <p:spPr>
              <a:xfrm>
                <a:off x="1975671" y="4481613"/>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7" name="Rectangle : coins arrondis 26">
                <a:extLst>
                  <a:ext uri="{FF2B5EF4-FFF2-40B4-BE49-F238E27FC236}">
                    <a16:creationId xmlns:a16="http://schemas.microsoft.com/office/drawing/2014/main" id="{796AAECE-1B19-60B7-3520-4833F4EC464B}"/>
                  </a:ext>
                </a:extLst>
              </p:cNvPr>
              <p:cNvSpPr/>
              <p:nvPr/>
            </p:nvSpPr>
            <p:spPr>
              <a:xfrm>
                <a:off x="1975671" y="4047915"/>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8" name="Rectangle : coins arrondis 27">
                <a:extLst>
                  <a:ext uri="{FF2B5EF4-FFF2-40B4-BE49-F238E27FC236}">
                    <a16:creationId xmlns:a16="http://schemas.microsoft.com/office/drawing/2014/main" id="{A80882C4-C5F8-A4C7-D55C-242D36327091}"/>
                  </a:ext>
                </a:extLst>
              </p:cNvPr>
              <p:cNvSpPr/>
              <p:nvPr/>
            </p:nvSpPr>
            <p:spPr>
              <a:xfrm>
                <a:off x="1975671" y="3614217"/>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9" name="Rectangle : coins arrondis 28">
                <a:extLst>
                  <a:ext uri="{FF2B5EF4-FFF2-40B4-BE49-F238E27FC236}">
                    <a16:creationId xmlns:a16="http://schemas.microsoft.com/office/drawing/2014/main" id="{A057E326-7517-8044-952E-30A31A111A98}"/>
                  </a:ext>
                </a:extLst>
              </p:cNvPr>
              <p:cNvSpPr/>
              <p:nvPr/>
            </p:nvSpPr>
            <p:spPr>
              <a:xfrm>
                <a:off x="1975671" y="3180519"/>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0" name="Rectangle : coins arrondis 29">
                <a:extLst>
                  <a:ext uri="{FF2B5EF4-FFF2-40B4-BE49-F238E27FC236}">
                    <a16:creationId xmlns:a16="http://schemas.microsoft.com/office/drawing/2014/main" id="{2C6E1E37-4A44-4966-6229-C525A50C8543}"/>
                  </a:ext>
                </a:extLst>
              </p:cNvPr>
              <p:cNvSpPr/>
              <p:nvPr/>
            </p:nvSpPr>
            <p:spPr>
              <a:xfrm>
                <a:off x="1975671" y="2746821"/>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1" name="Rectangle : coins arrondis 30">
                <a:extLst>
                  <a:ext uri="{FF2B5EF4-FFF2-40B4-BE49-F238E27FC236}">
                    <a16:creationId xmlns:a16="http://schemas.microsoft.com/office/drawing/2014/main" id="{4132EFDF-37E9-3D5D-33BA-78BFB81E94F5}"/>
                  </a:ext>
                </a:extLst>
              </p:cNvPr>
              <p:cNvSpPr/>
              <p:nvPr/>
            </p:nvSpPr>
            <p:spPr>
              <a:xfrm>
                <a:off x="1975671" y="2313123"/>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2" name="Rectangle : coins arrondis 31">
                <a:extLst>
                  <a:ext uri="{FF2B5EF4-FFF2-40B4-BE49-F238E27FC236}">
                    <a16:creationId xmlns:a16="http://schemas.microsoft.com/office/drawing/2014/main" id="{C7319F65-B8EC-A3BC-BEAA-B6BE1C0A457F}"/>
                  </a:ext>
                </a:extLst>
              </p:cNvPr>
              <p:cNvSpPr/>
              <p:nvPr/>
            </p:nvSpPr>
            <p:spPr>
              <a:xfrm>
                <a:off x="1975671" y="1879425"/>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7" name="Groupe 6">
              <a:extLst>
                <a:ext uri="{FF2B5EF4-FFF2-40B4-BE49-F238E27FC236}">
                  <a16:creationId xmlns:a16="http://schemas.microsoft.com/office/drawing/2014/main" id="{A38DA80C-F770-4C78-6202-227F7BF4966D}"/>
                </a:ext>
              </a:extLst>
            </p:cNvPr>
            <p:cNvGrpSpPr/>
            <p:nvPr/>
          </p:nvGrpSpPr>
          <p:grpSpPr>
            <a:xfrm>
              <a:off x="4062585" y="1462674"/>
              <a:ext cx="1604380" cy="3932652"/>
              <a:chOff x="1798321" y="1462674"/>
              <a:chExt cx="1604380" cy="3932652"/>
            </a:xfrm>
          </p:grpSpPr>
          <p:sp>
            <p:nvSpPr>
              <p:cNvPr id="17" name="Rectangle : coins arrondis 16">
                <a:extLst>
                  <a:ext uri="{FF2B5EF4-FFF2-40B4-BE49-F238E27FC236}">
                    <a16:creationId xmlns:a16="http://schemas.microsoft.com/office/drawing/2014/main" id="{946C5A08-2CFB-BA78-ACB9-8E3318B709AB}"/>
                  </a:ext>
                </a:extLst>
              </p:cNvPr>
              <p:cNvSpPr/>
              <p:nvPr/>
            </p:nvSpPr>
            <p:spPr>
              <a:xfrm>
                <a:off x="2260600" y="1462674"/>
                <a:ext cx="680720" cy="228014"/>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 name="Rectangle : coins arrondis 17">
                <a:extLst>
                  <a:ext uri="{FF2B5EF4-FFF2-40B4-BE49-F238E27FC236}">
                    <a16:creationId xmlns:a16="http://schemas.microsoft.com/office/drawing/2014/main" id="{E83EA20E-C837-0406-3C48-0F420847490E}"/>
                  </a:ext>
                </a:extLst>
              </p:cNvPr>
              <p:cNvSpPr/>
              <p:nvPr/>
            </p:nvSpPr>
            <p:spPr>
              <a:xfrm>
                <a:off x="1798321" y="1690688"/>
                <a:ext cx="1604380" cy="3704638"/>
              </a:xfrm>
              <a:prstGeom prst="roundRect">
                <a:avLst>
                  <a:gd name="adj" fmla="val 10968"/>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9" name="Rectangle : coins arrondis 18">
                <a:extLst>
                  <a:ext uri="{FF2B5EF4-FFF2-40B4-BE49-F238E27FC236}">
                    <a16:creationId xmlns:a16="http://schemas.microsoft.com/office/drawing/2014/main" id="{A8D6BE76-100F-1768-0190-5AE2BB1C19DB}"/>
                  </a:ext>
                </a:extLst>
              </p:cNvPr>
              <p:cNvSpPr/>
              <p:nvPr/>
            </p:nvSpPr>
            <p:spPr>
              <a:xfrm>
                <a:off x="1975671" y="4915312"/>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0" name="Rectangle : coins arrondis 19">
                <a:extLst>
                  <a:ext uri="{FF2B5EF4-FFF2-40B4-BE49-F238E27FC236}">
                    <a16:creationId xmlns:a16="http://schemas.microsoft.com/office/drawing/2014/main" id="{54672233-5641-989E-00FA-18B76B792E0D}"/>
                  </a:ext>
                </a:extLst>
              </p:cNvPr>
              <p:cNvSpPr/>
              <p:nvPr/>
            </p:nvSpPr>
            <p:spPr>
              <a:xfrm>
                <a:off x="1975671" y="4481613"/>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1" name="Rectangle : coins arrondis 20">
                <a:extLst>
                  <a:ext uri="{FF2B5EF4-FFF2-40B4-BE49-F238E27FC236}">
                    <a16:creationId xmlns:a16="http://schemas.microsoft.com/office/drawing/2014/main" id="{2696F887-51E0-D7E3-11E6-8FC1FBC5A672}"/>
                  </a:ext>
                </a:extLst>
              </p:cNvPr>
              <p:cNvSpPr/>
              <p:nvPr/>
            </p:nvSpPr>
            <p:spPr>
              <a:xfrm>
                <a:off x="1975671" y="4047915"/>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2" name="Rectangle : coins arrondis 21">
                <a:extLst>
                  <a:ext uri="{FF2B5EF4-FFF2-40B4-BE49-F238E27FC236}">
                    <a16:creationId xmlns:a16="http://schemas.microsoft.com/office/drawing/2014/main" id="{AEC53B17-79C7-0F8F-F01C-E2E1E4E668E7}"/>
                  </a:ext>
                </a:extLst>
              </p:cNvPr>
              <p:cNvSpPr/>
              <p:nvPr/>
            </p:nvSpPr>
            <p:spPr>
              <a:xfrm>
                <a:off x="1975671" y="3614217"/>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8" name="Groupe 7">
              <a:extLst>
                <a:ext uri="{FF2B5EF4-FFF2-40B4-BE49-F238E27FC236}">
                  <a16:creationId xmlns:a16="http://schemas.microsoft.com/office/drawing/2014/main" id="{62747A6C-0835-0630-7D58-A5D5697F9E62}"/>
                </a:ext>
              </a:extLst>
            </p:cNvPr>
            <p:cNvGrpSpPr/>
            <p:nvPr/>
          </p:nvGrpSpPr>
          <p:grpSpPr>
            <a:xfrm>
              <a:off x="6326849" y="1462674"/>
              <a:ext cx="1604380" cy="3932652"/>
              <a:chOff x="1798321" y="1462674"/>
              <a:chExt cx="1604380" cy="3932652"/>
            </a:xfrm>
          </p:grpSpPr>
          <p:sp>
            <p:nvSpPr>
              <p:cNvPr id="9" name="Rectangle : coins arrondis 8">
                <a:extLst>
                  <a:ext uri="{FF2B5EF4-FFF2-40B4-BE49-F238E27FC236}">
                    <a16:creationId xmlns:a16="http://schemas.microsoft.com/office/drawing/2014/main" id="{C5A1A910-6BA0-D3E7-1329-71FBD42E9303}"/>
                  </a:ext>
                </a:extLst>
              </p:cNvPr>
              <p:cNvSpPr/>
              <p:nvPr/>
            </p:nvSpPr>
            <p:spPr>
              <a:xfrm>
                <a:off x="2260600" y="1462674"/>
                <a:ext cx="680720" cy="228014"/>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 name="Rectangle : coins arrondis 9">
                <a:extLst>
                  <a:ext uri="{FF2B5EF4-FFF2-40B4-BE49-F238E27FC236}">
                    <a16:creationId xmlns:a16="http://schemas.microsoft.com/office/drawing/2014/main" id="{23650E05-9999-B6FA-66CB-4E6816DAF170}"/>
                  </a:ext>
                </a:extLst>
              </p:cNvPr>
              <p:cNvSpPr/>
              <p:nvPr/>
            </p:nvSpPr>
            <p:spPr>
              <a:xfrm>
                <a:off x="1798321" y="1690688"/>
                <a:ext cx="1604380" cy="3704638"/>
              </a:xfrm>
              <a:prstGeom prst="roundRect">
                <a:avLst>
                  <a:gd name="adj" fmla="val 10968"/>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 name="Rectangle : coins arrondis 10">
                <a:extLst>
                  <a:ext uri="{FF2B5EF4-FFF2-40B4-BE49-F238E27FC236}">
                    <a16:creationId xmlns:a16="http://schemas.microsoft.com/office/drawing/2014/main" id="{731CA5FB-3BBD-6920-55E1-09CF0544AE27}"/>
                  </a:ext>
                </a:extLst>
              </p:cNvPr>
              <p:cNvSpPr/>
              <p:nvPr/>
            </p:nvSpPr>
            <p:spPr>
              <a:xfrm>
                <a:off x="1975671" y="4915312"/>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 name="Rectangle : coins arrondis 11">
                <a:extLst>
                  <a:ext uri="{FF2B5EF4-FFF2-40B4-BE49-F238E27FC236}">
                    <a16:creationId xmlns:a16="http://schemas.microsoft.com/office/drawing/2014/main" id="{990521F9-8115-9062-5F07-ECDEC1016AD4}"/>
                  </a:ext>
                </a:extLst>
              </p:cNvPr>
              <p:cNvSpPr/>
              <p:nvPr/>
            </p:nvSpPr>
            <p:spPr>
              <a:xfrm>
                <a:off x="1975671" y="4481613"/>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 name="Rectangle : coins arrondis 12">
                <a:extLst>
                  <a:ext uri="{FF2B5EF4-FFF2-40B4-BE49-F238E27FC236}">
                    <a16:creationId xmlns:a16="http://schemas.microsoft.com/office/drawing/2014/main" id="{EECC2005-298F-16E2-73A1-1E4E8C8AEDEE}"/>
                  </a:ext>
                </a:extLst>
              </p:cNvPr>
              <p:cNvSpPr/>
              <p:nvPr/>
            </p:nvSpPr>
            <p:spPr>
              <a:xfrm>
                <a:off x="1975671" y="4047915"/>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 name="Rectangle : coins arrondis 13">
                <a:extLst>
                  <a:ext uri="{FF2B5EF4-FFF2-40B4-BE49-F238E27FC236}">
                    <a16:creationId xmlns:a16="http://schemas.microsoft.com/office/drawing/2014/main" id="{E66681AA-99C6-B379-E0A2-60EE012416BB}"/>
                  </a:ext>
                </a:extLst>
              </p:cNvPr>
              <p:cNvSpPr/>
              <p:nvPr/>
            </p:nvSpPr>
            <p:spPr>
              <a:xfrm>
                <a:off x="1975671" y="3614217"/>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 name="Rectangle : coins arrondis 14">
                <a:extLst>
                  <a:ext uri="{FF2B5EF4-FFF2-40B4-BE49-F238E27FC236}">
                    <a16:creationId xmlns:a16="http://schemas.microsoft.com/office/drawing/2014/main" id="{51C0B9E8-5C54-FD53-AC8D-DF4875B22F18}"/>
                  </a:ext>
                </a:extLst>
              </p:cNvPr>
              <p:cNvSpPr/>
              <p:nvPr/>
            </p:nvSpPr>
            <p:spPr>
              <a:xfrm>
                <a:off x="1975671" y="3180519"/>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coins arrondis 15">
                <a:extLst>
                  <a:ext uri="{FF2B5EF4-FFF2-40B4-BE49-F238E27FC236}">
                    <a16:creationId xmlns:a16="http://schemas.microsoft.com/office/drawing/2014/main" id="{9ADB53C7-4D91-52F3-EF2D-A2A7FEE7B71B}"/>
                  </a:ext>
                </a:extLst>
              </p:cNvPr>
              <p:cNvSpPr/>
              <p:nvPr/>
            </p:nvSpPr>
            <p:spPr>
              <a:xfrm>
                <a:off x="1975671" y="2746821"/>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sp>
        <p:nvSpPr>
          <p:cNvPr id="36" name="Espace réservé du numéro de diapositive 35">
            <a:extLst>
              <a:ext uri="{FF2B5EF4-FFF2-40B4-BE49-F238E27FC236}">
                <a16:creationId xmlns:a16="http://schemas.microsoft.com/office/drawing/2014/main" id="{84FD6AE6-5FBE-3646-6773-96C3CD44F790}"/>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3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1935120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2" descr="INI_section2.jpg"/>
          <p:cNvPicPr>
            <a:picLocks noChangeAspect="1"/>
          </p:cNvPicPr>
          <p:nvPr/>
        </p:nvPicPr>
        <p:blipFill>
          <a:blip r:embed="rId3"/>
          <a:stretch>
            <a:fillRect/>
          </a:stretch>
        </p:blipFill>
        <p:spPr>
          <a:xfrm>
            <a:off x="0" y="0"/>
            <a:ext cx="12192000" cy="6858000"/>
          </a:xfrm>
          <a:prstGeom prst="rect">
            <a:avLst/>
          </a:prstGeom>
        </p:spPr>
      </p:pic>
      <p:sp>
        <p:nvSpPr>
          <p:cNvPr id="4" name="ZoneTexte 3">
            <a:extLst>
              <a:ext uri="{FF2B5EF4-FFF2-40B4-BE49-F238E27FC236}">
                <a16:creationId xmlns:a16="http://schemas.microsoft.com/office/drawing/2014/main" id="{FC120C01-D014-63EA-3183-232BD830BE28}"/>
              </a:ext>
            </a:extLst>
          </p:cNvPr>
          <p:cNvSpPr txBox="1"/>
          <p:nvPr/>
        </p:nvSpPr>
        <p:spPr>
          <a:xfrm>
            <a:off x="838200" y="946800"/>
            <a:ext cx="871943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2. Ma façon de travailler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Espace réservé du numéro de diapositive 1">
            <a:extLst>
              <a:ext uri="{FF2B5EF4-FFF2-40B4-BE49-F238E27FC236}">
                <a16:creationId xmlns:a16="http://schemas.microsoft.com/office/drawing/2014/main" id="{CC6D6087-9263-D1A4-770A-5C2CE172102C}"/>
              </a:ext>
            </a:extLst>
          </p:cNvPr>
          <p:cNvSpPr>
            <a:spLocks noGrp="1"/>
          </p:cNvSpPr>
          <p:nvPr>
            <p:ph type="sldNum" sz="quarter" idx="4"/>
          </p:nvPr>
        </p:nvSpPr>
        <p:spPr/>
        <p:txBody>
          <a:bodyPr/>
          <a:lstStyle/>
          <a:p>
            <a:fld id="{33C783E2-4793-4F48-A271-51A73CC37D74}" type="slidenum">
              <a:rPr lang="fr-FR" smtClean="0"/>
              <a:t>12</a:t>
            </a:fld>
            <a:endParaRPr lang="fr-FR"/>
          </a:p>
        </p:txBody>
      </p:sp>
    </p:spTree>
    <p:extLst>
      <p:ext uri="{BB962C8B-B14F-4D97-AF65-F5344CB8AC3E}">
        <p14:creationId xmlns:p14="http://schemas.microsoft.com/office/powerpoint/2010/main" val="354423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 </a:t>
            </a:r>
            <a:r>
              <a:rPr sz="4000" dirty="0" err="1"/>
              <a:t>déroulé</a:t>
            </a:r>
            <a:r>
              <a:rPr sz="4000" dirty="0"/>
              <a:t> d</a:t>
            </a:r>
            <a:r>
              <a:rPr lang="fr-BE" sz="4000" dirty="0"/>
              <a:t>'</a:t>
            </a:r>
            <a:r>
              <a:rPr sz="4000" dirty="0"/>
              <a:t>un module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Etape"/>
          <p:cNvSpPr/>
          <p:nvPr/>
        </p:nvSpPr>
        <p:spPr>
          <a:xfrm>
            <a:off x="640080"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Slides</a:t>
            </a:r>
          </a:p>
          <a:p>
            <a:pPr algn="ctr"/>
            <a:r>
              <a:rPr sz="1800">
                <a:solidFill>
                  <a:srgbClr val="FFFFFF"/>
                </a:solidFill>
              </a:rPr>
              <a:t>la théorie</a:t>
            </a:r>
          </a:p>
        </p:txBody>
      </p:sp>
      <p:sp>
        <p:nvSpPr>
          <p:cNvPr id="6" name="Right Arrow 5"/>
          <p:cNvSpPr/>
          <p:nvPr/>
        </p:nvSpPr>
        <p:spPr>
          <a:xfrm>
            <a:off x="3044952" y="2880360"/>
            <a:ext cx="329184" cy="365760"/>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tape"/>
          <p:cNvSpPr/>
          <p:nvPr/>
        </p:nvSpPr>
        <p:spPr>
          <a:xfrm>
            <a:off x="3447287"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Démo</a:t>
            </a:r>
          </a:p>
          <a:p>
            <a:pPr algn="ctr"/>
            <a:r>
              <a:rPr sz="1800">
                <a:solidFill>
                  <a:srgbClr val="FFFFFF"/>
                </a:solidFill>
              </a:rPr>
              <a:t>en direct, dans IntelliJ</a:t>
            </a:r>
          </a:p>
        </p:txBody>
      </p:sp>
      <p:sp>
        <p:nvSpPr>
          <p:cNvPr id="8" name="Right Arrow 7"/>
          <p:cNvSpPr/>
          <p:nvPr/>
        </p:nvSpPr>
        <p:spPr>
          <a:xfrm>
            <a:off x="5852159" y="2880360"/>
            <a:ext cx="329184" cy="365760"/>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Etape"/>
          <p:cNvSpPr/>
          <p:nvPr/>
        </p:nvSpPr>
        <p:spPr>
          <a:xfrm>
            <a:off x="6254496"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Exercices</a:t>
            </a:r>
          </a:p>
          <a:p>
            <a:pPr algn="ctr"/>
            <a:r>
              <a:rPr sz="1800">
                <a:solidFill>
                  <a:srgbClr val="FFFFFF"/>
                </a:solidFill>
              </a:rPr>
              <a:t>le fascicule du module</a:t>
            </a:r>
          </a:p>
        </p:txBody>
      </p:sp>
      <p:sp>
        <p:nvSpPr>
          <p:cNvPr id="10" name="Right Arrow 9"/>
          <p:cNvSpPr/>
          <p:nvPr/>
        </p:nvSpPr>
        <p:spPr>
          <a:xfrm>
            <a:off x="8659367" y="2880360"/>
            <a:ext cx="329184" cy="365760"/>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Etape"/>
          <p:cNvSpPr/>
          <p:nvPr/>
        </p:nvSpPr>
        <p:spPr>
          <a:xfrm>
            <a:off x="9061703"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GameHub</a:t>
            </a:r>
          </a:p>
          <a:p>
            <a:pPr algn="ctr"/>
            <a:r>
              <a:rPr sz="1800">
                <a:solidFill>
                  <a:srgbClr val="FFFFFF"/>
                </a:solidFill>
              </a:rPr>
              <a:t>le fil rouge</a:t>
            </a:r>
          </a:p>
        </p:txBody>
      </p:sp>
      <p:sp>
        <p:nvSpPr>
          <p:cNvPr id="12" name="TextBox 11"/>
          <p:cNvSpPr txBox="1"/>
          <p:nvPr/>
        </p:nvSpPr>
        <p:spPr>
          <a:xfrm>
            <a:off x="640080" y="4480560"/>
            <a:ext cx="10881360" cy="1097280"/>
          </a:xfrm>
          <a:prstGeom prst="rect">
            <a:avLst/>
          </a:prstGeom>
          <a:noFill/>
        </p:spPr>
        <p:txBody>
          <a:bodyPr wrap="square">
            <a:spAutoFit/>
          </a:bodyPr>
          <a:lstStyle/>
          <a:p>
            <a:pPr>
              <a:spcAft>
                <a:spcPts val="800"/>
              </a:spcAft>
            </a:pPr>
            <a:r>
              <a:rPr sz="2800" dirty="0">
                <a:solidFill>
                  <a:srgbClr val="FFFFFF"/>
                </a:solidFill>
              </a:rPr>
              <a:t>Une slide de renvoi </a:t>
            </a:r>
            <a:r>
              <a:rPr sz="2800" dirty="0" err="1">
                <a:solidFill>
                  <a:srgbClr val="FFFFFF"/>
                </a:solidFill>
              </a:rPr>
              <a:t>indique</a:t>
            </a:r>
            <a:r>
              <a:rPr sz="2800" dirty="0">
                <a:solidFill>
                  <a:srgbClr val="FFFFFF"/>
                </a:solidFill>
              </a:rPr>
              <a:t> les </a:t>
            </a:r>
            <a:r>
              <a:rPr sz="2800" dirty="0" err="1">
                <a:solidFill>
                  <a:srgbClr val="FFFFFF"/>
                </a:solidFill>
              </a:rPr>
              <a:t>exercices</a:t>
            </a:r>
            <a:r>
              <a:rPr sz="2800" dirty="0">
                <a:solidFill>
                  <a:srgbClr val="FFFFFF"/>
                </a:solidFill>
              </a:rPr>
              <a:t> à faire : </a:t>
            </a:r>
            <a:r>
              <a:rPr sz="2800" dirty="0">
                <a:solidFill>
                  <a:schemeClr val="accent4"/>
                </a:solidFill>
                <a:latin typeface="Consolas"/>
              </a:rPr>
              <a:t>POO.1</a:t>
            </a:r>
            <a:r>
              <a:rPr sz="2800" dirty="0">
                <a:solidFill>
                  <a:srgbClr val="FFFFFF"/>
                </a:solidFill>
              </a:rPr>
              <a:t>, </a:t>
            </a:r>
            <a:r>
              <a:rPr sz="2800" dirty="0">
                <a:solidFill>
                  <a:schemeClr val="accent4"/>
                </a:solidFill>
                <a:latin typeface="Consolas"/>
              </a:rPr>
              <a:t>POO.2</a:t>
            </a:r>
            <a:r>
              <a:rPr sz="2800" dirty="0">
                <a:solidFill>
                  <a:srgbClr val="FFFFFF"/>
                </a:solidFill>
              </a:rPr>
              <a:t>…</a:t>
            </a:r>
          </a:p>
        </p:txBody>
      </p:sp>
      <p:sp>
        <p:nvSpPr>
          <p:cNvPr id="1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Les fascicules d</a:t>
            </a:r>
            <a:r>
              <a:rPr lang="fr-BE" sz="4000" dirty="0"/>
              <a:t>'</a:t>
            </a:r>
            <a:r>
              <a:rPr sz="4000" dirty="0" err="1"/>
              <a:t>exercices</a:t>
            </a:r>
            <a:endParaRPr sz="4000" dirty="0"/>
          </a:p>
        </p:txBody>
      </p:sp>
      <p:sp>
        <p:nvSpPr>
          <p:cNvPr id="3" name="Content Placeholder 2"/>
          <p:cNvSpPr>
            <a:spLocks noGrp="1"/>
          </p:cNvSpPr>
          <p:nvPr>
            <p:ph idx="1"/>
          </p:nvPr>
        </p:nvSpPr>
        <p:spPr>
          <a:xfrm>
            <a:off x="640080" y="1371600"/>
            <a:ext cx="10881360" cy="2560320"/>
          </a:xfrm>
        </p:spPr>
        <p:txBody>
          <a:bodyPr/>
          <a:lstStyle/>
          <a:p>
            <a:pPr marL="0" indent="0">
              <a:spcAft>
                <a:spcPts val="800"/>
              </a:spcAft>
              <a:buNone/>
            </a:pPr>
            <a:r>
              <a:rPr sz="2800" dirty="0"/>
              <a:t>Un fascicule par module</a:t>
            </a:r>
            <a:r>
              <a:rPr lang="nl-BE" sz="2800" dirty="0"/>
              <a:t> distribué en PDF</a:t>
            </a:r>
            <a:endParaRPr sz="2800" dirty="0"/>
          </a:p>
          <a:p>
            <a:pPr marL="0" indent="0">
              <a:spcAft>
                <a:spcPts val="800"/>
              </a:spcAft>
              <a:buNone/>
            </a:pPr>
            <a:r>
              <a:rPr sz="2800" dirty="0"/>
              <a:t>Des </a:t>
            </a:r>
            <a:r>
              <a:rPr sz="2800" dirty="0" err="1"/>
              <a:t>exercices</a:t>
            </a:r>
            <a:r>
              <a:rPr sz="2800" dirty="0"/>
              <a:t> </a:t>
            </a:r>
            <a:r>
              <a:rPr sz="2800" dirty="0" err="1"/>
              <a:t>numérotés</a:t>
            </a:r>
            <a:r>
              <a:rPr sz="2800" dirty="0"/>
              <a:t> par </a:t>
            </a:r>
            <a:r>
              <a:rPr sz="2800" dirty="0" err="1"/>
              <a:t>sujet</a:t>
            </a:r>
            <a:r>
              <a:rPr sz="2800" dirty="0"/>
              <a:t> : </a:t>
            </a:r>
            <a:r>
              <a:rPr sz="2800" dirty="0">
                <a:solidFill>
                  <a:schemeClr val="accent4"/>
                </a:solidFill>
                <a:latin typeface="Consolas"/>
              </a:rPr>
              <a:t>POO.1</a:t>
            </a:r>
            <a:r>
              <a:rPr sz="2800" dirty="0"/>
              <a:t>, </a:t>
            </a:r>
            <a:r>
              <a:rPr sz="2800" dirty="0">
                <a:solidFill>
                  <a:schemeClr val="accent4"/>
                </a:solidFill>
                <a:latin typeface="Consolas"/>
              </a:rPr>
              <a:t>TAB.3</a:t>
            </a:r>
            <a:r>
              <a:rPr sz="2800" dirty="0"/>
              <a:t>, </a:t>
            </a:r>
            <a:r>
              <a:rPr sz="2800" dirty="0">
                <a:solidFill>
                  <a:schemeClr val="accent4"/>
                </a:solidFill>
                <a:latin typeface="Consolas"/>
              </a:rPr>
              <a:t>EXC.2</a:t>
            </a:r>
          </a:p>
          <a:p>
            <a:pPr marL="0" indent="0">
              <a:spcAft>
                <a:spcPts val="800"/>
              </a:spcAft>
              <a:buNone/>
            </a:pPr>
            <a:r>
              <a:rPr sz="2800" dirty="0"/>
              <a:t>Le code </a:t>
            </a:r>
            <a:r>
              <a:rPr sz="2800" dirty="0" err="1"/>
              <a:t>donne</a:t>
            </a:r>
            <a:r>
              <a:rPr sz="2800" dirty="0"/>
              <a:t> le package</a:t>
            </a:r>
            <a:r>
              <a:rPr lang="nl-BE" sz="2800" dirty="0"/>
              <a:t> dans le projet IntelliJ</a:t>
            </a:r>
            <a:r>
              <a:rPr sz="2800" dirty="0"/>
              <a:t> : </a:t>
            </a:r>
            <a:r>
              <a:rPr sz="2800" dirty="0">
                <a:solidFill>
                  <a:schemeClr val="accent4"/>
                </a:solidFill>
                <a:latin typeface="Consolas"/>
              </a:rPr>
              <a:t>TAB.3</a:t>
            </a:r>
            <a:r>
              <a:rPr sz="2800" dirty="0"/>
              <a:t> → </a:t>
            </a:r>
            <a:r>
              <a:rPr sz="2800" dirty="0">
                <a:solidFill>
                  <a:schemeClr val="accent4"/>
                </a:solidFill>
                <a:latin typeface="Consolas"/>
              </a:rPr>
              <a:t>tab.e03</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TextBox 4"/>
          <p:cNvSpPr txBox="1"/>
          <p:nvPr/>
        </p:nvSpPr>
        <p:spPr>
          <a:xfrm>
            <a:off x="640080" y="3977639"/>
            <a:ext cx="10881360" cy="457200"/>
          </a:xfrm>
          <a:prstGeom prst="rect">
            <a:avLst/>
          </a:prstGeom>
          <a:noFill/>
        </p:spPr>
        <p:txBody>
          <a:bodyPr wrap="square">
            <a:spAutoFit/>
          </a:bodyPr>
          <a:lstStyle/>
          <a:p>
            <a:pPr>
              <a:spcAft>
                <a:spcPts val="800"/>
              </a:spcAft>
            </a:pPr>
            <a:r>
              <a:rPr sz="2400" dirty="0" err="1">
                <a:solidFill>
                  <a:srgbClr val="BCBEC4"/>
                </a:solidFill>
              </a:rPr>
              <a:t>Chaque</a:t>
            </a:r>
            <a:r>
              <a:rPr sz="2400" dirty="0">
                <a:solidFill>
                  <a:srgbClr val="BCBEC4"/>
                </a:solidFill>
              </a:rPr>
              <a:t> </a:t>
            </a:r>
            <a:r>
              <a:rPr sz="2400" dirty="0" err="1">
                <a:solidFill>
                  <a:srgbClr val="BCBEC4"/>
                </a:solidFill>
              </a:rPr>
              <a:t>énoncé</a:t>
            </a:r>
            <a:r>
              <a:rPr sz="2400" dirty="0">
                <a:solidFill>
                  <a:srgbClr val="BCBEC4"/>
                </a:solidFill>
              </a:rPr>
              <a:t> suit la </a:t>
            </a:r>
            <a:r>
              <a:rPr sz="2400" dirty="0" err="1">
                <a:solidFill>
                  <a:srgbClr val="BCBEC4"/>
                </a:solidFill>
              </a:rPr>
              <a:t>même</a:t>
            </a:r>
            <a:r>
              <a:rPr sz="2400" dirty="0">
                <a:solidFill>
                  <a:srgbClr val="BCBEC4"/>
                </a:solidFill>
              </a:rPr>
              <a:t> structure</a:t>
            </a:r>
          </a:p>
        </p:txBody>
      </p:sp>
      <p:sp>
        <p:nvSpPr>
          <p:cNvPr id="6" name="Rubrique"/>
          <p:cNvSpPr/>
          <p:nvPr/>
        </p:nvSpPr>
        <p:spPr>
          <a:xfrm>
            <a:off x="640080" y="4572000"/>
            <a:ext cx="150876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Objectif</a:t>
            </a:r>
          </a:p>
        </p:txBody>
      </p:sp>
      <p:sp>
        <p:nvSpPr>
          <p:cNvPr id="7" name="Rubrique"/>
          <p:cNvSpPr/>
          <p:nvPr/>
        </p:nvSpPr>
        <p:spPr>
          <a:xfrm>
            <a:off x="2258568" y="4572000"/>
            <a:ext cx="150876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Contexte</a:t>
            </a:r>
          </a:p>
        </p:txBody>
      </p:sp>
      <p:sp>
        <p:nvSpPr>
          <p:cNvPr id="8" name="Rubrique"/>
          <p:cNvSpPr/>
          <p:nvPr/>
        </p:nvSpPr>
        <p:spPr>
          <a:xfrm>
            <a:off x="3877056" y="4572000"/>
            <a:ext cx="141732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Énoncé</a:t>
            </a:r>
          </a:p>
        </p:txBody>
      </p:sp>
      <p:sp>
        <p:nvSpPr>
          <p:cNvPr id="9" name="Rubrique"/>
          <p:cNvSpPr/>
          <p:nvPr/>
        </p:nvSpPr>
        <p:spPr>
          <a:xfrm>
            <a:off x="5404104" y="4572000"/>
            <a:ext cx="201168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Spécifications</a:t>
            </a:r>
          </a:p>
        </p:txBody>
      </p:sp>
      <p:sp>
        <p:nvSpPr>
          <p:cNvPr id="10" name="Rubrique"/>
          <p:cNvSpPr/>
          <p:nvPr/>
        </p:nvSpPr>
        <p:spPr>
          <a:xfrm>
            <a:off x="7525512" y="4572000"/>
            <a:ext cx="182880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Vérification</a:t>
            </a:r>
          </a:p>
        </p:txBody>
      </p:sp>
      <p:sp>
        <p:nvSpPr>
          <p:cNvPr id="11" name="Rubrique"/>
          <p:cNvSpPr/>
          <p:nvPr/>
        </p:nvSpPr>
        <p:spPr>
          <a:xfrm>
            <a:off x="9464040" y="4572000"/>
            <a:ext cx="205740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Questions à se poser</a:t>
            </a:r>
          </a:p>
        </p:txBody>
      </p:sp>
      <p:sp>
        <p:nvSpPr>
          <p:cNvPr id="1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pic>
        <p:nvPicPr>
          <p:cNvPr id="13" name="iconExercice">
            <a:extLst>
              <a:ext uri="{FF2B5EF4-FFF2-40B4-BE49-F238E27FC236}">
                <a16:creationId xmlns:a16="http://schemas.microsoft.com/office/drawing/2014/main" id="{9AEAB90D-B405-A3A9-A8F5-71B6FD13F573}"/>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793621" y="0"/>
            <a:ext cx="1968936" cy="19689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projet ExercicesJava</a:t>
            </a:r>
          </a:p>
        </p:txBody>
      </p:sp>
      <p:sp>
        <p:nvSpPr>
          <p:cNvPr id="3" name="Content Placeholder 2"/>
          <p:cNvSpPr>
            <a:spLocks noGrp="1"/>
          </p:cNvSpPr>
          <p:nvPr>
            <p:ph idx="1"/>
          </p:nvPr>
        </p:nvSpPr>
        <p:spPr>
          <a:xfrm>
            <a:off x="640080" y="1371600"/>
            <a:ext cx="10881360" cy="2560320"/>
          </a:xfrm>
        </p:spPr>
        <p:txBody>
          <a:bodyPr/>
          <a:lstStyle/>
          <a:p>
            <a:pPr marL="0" indent="0">
              <a:spcAft>
                <a:spcPts val="800"/>
              </a:spcAft>
              <a:buNone/>
            </a:pPr>
            <a:r>
              <a:rPr lang="nl-BE" dirty="0"/>
              <a:t>Je vous fournis u</a:t>
            </a:r>
            <a:r>
              <a:rPr sz="2800" dirty="0"/>
              <a:t>n </a:t>
            </a:r>
            <a:r>
              <a:rPr sz="2800" dirty="0" err="1"/>
              <a:t>projet</a:t>
            </a:r>
            <a:r>
              <a:rPr sz="2800" dirty="0"/>
              <a:t> Maven, à </a:t>
            </a:r>
            <a:r>
              <a:rPr sz="2800" dirty="0" err="1"/>
              <a:t>ouvrir</a:t>
            </a:r>
            <a:r>
              <a:rPr sz="2800" dirty="0"/>
              <a:t> dans IntelliJ</a:t>
            </a:r>
          </a:p>
          <a:p>
            <a:pPr marL="0" indent="0">
              <a:spcAft>
                <a:spcPts val="800"/>
              </a:spcAft>
              <a:buNone/>
            </a:pPr>
            <a:r>
              <a:rPr lang="nl-BE" dirty="0"/>
              <a:t>Vous recevez u</a:t>
            </a:r>
            <a:r>
              <a:rPr sz="2800" dirty="0"/>
              <a:t>ne archive zip par séance, les solutions </a:t>
            </a:r>
            <a:r>
              <a:rPr lang="nl-BE" sz="2800" dirty="0"/>
              <a:t>seront données </a:t>
            </a:r>
            <a:r>
              <a:rPr sz="2800" dirty="0"/>
              <a:t>après le </a:t>
            </a:r>
            <a:r>
              <a:rPr sz="2800" dirty="0" err="1"/>
              <a:t>cours</a:t>
            </a:r>
            <a:endParaRPr sz="2800" dirty="0"/>
          </a:p>
          <a:p>
            <a:pPr marL="0" indent="0">
              <a:spcAft>
                <a:spcPts val="800"/>
              </a:spcAft>
              <a:buNone/>
            </a:pPr>
            <a:r>
              <a:rPr sz="2800" dirty="0"/>
              <a:t>Des </a:t>
            </a:r>
            <a:r>
              <a:rPr sz="2800" dirty="0" err="1"/>
              <a:t>méthodes</a:t>
            </a:r>
            <a:r>
              <a:rPr sz="2800" dirty="0"/>
              <a:t> </a:t>
            </a:r>
            <a:r>
              <a:rPr lang="nl-BE" sz="2800" dirty="0"/>
              <a:t>sont </a:t>
            </a:r>
            <a:r>
              <a:rPr sz="2800" dirty="0"/>
              <a:t>déjà </a:t>
            </a:r>
            <a:r>
              <a:rPr sz="2800" dirty="0" err="1"/>
              <a:t>déclarées</a:t>
            </a:r>
            <a:r>
              <a:rPr sz="2800" dirty="0"/>
              <a:t>, à </a:t>
            </a:r>
            <a:r>
              <a:rPr sz="2800" dirty="0" err="1"/>
              <a:t>compléter</a:t>
            </a:r>
            <a:r>
              <a:rPr sz="2800" dirty="0"/>
              <a:t> :</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Code"/>
          <p:cNvSpPr/>
          <p:nvPr/>
        </p:nvSpPr>
        <p:spPr>
          <a:xfrm>
            <a:off x="2101850" y="3977639"/>
            <a:ext cx="7988300" cy="1371600"/>
          </a:xfrm>
          <a:prstGeom prst="roundRect">
            <a:avLst>
              <a:gd name="adj" fmla="val 6666"/>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none" lIns="137160" tIns="91440" rIns="137160" bIns="91440" rtlCol="0" anchor="t"/>
          <a:lstStyle/>
          <a:p>
            <a:pPr algn="l">
              <a:lnSpc>
                <a:spcPct val="100000"/>
              </a:lnSpc>
              <a:spcBef>
                <a:spcPts val="0"/>
              </a:spcBef>
              <a:spcAft>
                <a:spcPts val="0"/>
              </a:spcAft>
            </a:pPr>
            <a:r>
              <a:rPr sz="1800" dirty="0">
                <a:solidFill>
                  <a:srgbClr val="CF8E6D"/>
                </a:solidFill>
                <a:latin typeface="Consolas"/>
              </a:rPr>
              <a:t>public int </a:t>
            </a:r>
            <a:r>
              <a:rPr sz="1800" dirty="0" err="1">
                <a:solidFill>
                  <a:srgbClr val="56A8F5"/>
                </a:solidFill>
                <a:latin typeface="Consolas"/>
              </a:rPr>
              <a:t>computeAge</a:t>
            </a:r>
            <a:r>
              <a:rPr sz="1800" dirty="0">
                <a:solidFill>
                  <a:srgbClr val="BCBEC4"/>
                </a:solidFill>
                <a:latin typeface="Consolas"/>
              </a:rPr>
              <a:t>(</a:t>
            </a:r>
            <a:r>
              <a:rPr sz="1800" dirty="0">
                <a:solidFill>
                  <a:srgbClr val="CF8E6D"/>
                </a:solidFill>
                <a:latin typeface="Consolas"/>
              </a:rPr>
              <a:t>int </a:t>
            </a:r>
            <a:r>
              <a:rPr sz="1800" dirty="0" err="1">
                <a:solidFill>
                  <a:srgbClr val="BCBEC4"/>
                </a:solidFill>
                <a:latin typeface="Consolas"/>
              </a:rPr>
              <a:t>annee</a:t>
            </a:r>
            <a:r>
              <a:rPr sz="1800" dirty="0">
                <a:solidFill>
                  <a:srgbClr val="BCBEC4"/>
                </a:solidFill>
                <a:latin typeface="Consolas"/>
              </a:rPr>
              <a:t>) {</a:t>
            </a:r>
          </a:p>
          <a:p>
            <a:pPr algn="l">
              <a:lnSpc>
                <a:spcPct val="100000"/>
              </a:lnSpc>
              <a:spcBef>
                <a:spcPts val="0"/>
              </a:spcBef>
              <a:spcAft>
                <a:spcPts val="0"/>
              </a:spcAft>
            </a:pPr>
            <a:r>
              <a:rPr sz="1800" dirty="0">
                <a:solidFill>
                  <a:srgbClr val="CF8E6D"/>
                </a:solidFill>
                <a:latin typeface="Consolas"/>
              </a:rPr>
              <a:t>    throw new </a:t>
            </a:r>
            <a:r>
              <a:rPr sz="1800" dirty="0" err="1">
                <a:solidFill>
                  <a:srgbClr val="BCBEC4"/>
                </a:solidFill>
                <a:latin typeface="Consolas"/>
              </a:rPr>
              <a:t>UnsupportedOperationException</a:t>
            </a:r>
            <a:r>
              <a:rPr sz="1800" dirty="0">
                <a:solidFill>
                  <a:srgbClr val="BCBEC4"/>
                </a:solidFill>
                <a:latin typeface="Consolas"/>
              </a:rPr>
              <a:t>(</a:t>
            </a:r>
          </a:p>
          <a:p>
            <a:pPr algn="l">
              <a:lnSpc>
                <a:spcPct val="100000"/>
              </a:lnSpc>
              <a:spcBef>
                <a:spcPts val="0"/>
              </a:spcBef>
              <a:spcAft>
                <a:spcPts val="0"/>
              </a:spcAft>
            </a:pPr>
            <a:r>
              <a:rPr sz="1800" dirty="0">
                <a:solidFill>
                  <a:srgbClr val="BCBEC4"/>
                </a:solidFill>
                <a:latin typeface="Consolas"/>
              </a:rPr>
              <a:t>            </a:t>
            </a:r>
            <a:r>
              <a:rPr sz="1800" dirty="0">
                <a:solidFill>
                  <a:srgbClr val="6AAB73"/>
                </a:solidFill>
                <a:latin typeface="Consolas"/>
              </a:rPr>
              <a:t>"</a:t>
            </a:r>
            <a:r>
              <a:rPr sz="1800" dirty="0" err="1">
                <a:solidFill>
                  <a:srgbClr val="6AAB73"/>
                </a:solidFill>
                <a:latin typeface="Consolas"/>
              </a:rPr>
              <a:t>computeAge</a:t>
            </a:r>
            <a:r>
              <a:rPr sz="1800" dirty="0">
                <a:solidFill>
                  <a:srgbClr val="6AAB73"/>
                </a:solidFill>
                <a:latin typeface="Consolas"/>
              </a:rPr>
              <a:t> n</a:t>
            </a:r>
            <a:r>
              <a:rPr lang="fr-BE" sz="1800" dirty="0">
                <a:solidFill>
                  <a:srgbClr val="6AAB73"/>
                </a:solidFill>
                <a:latin typeface="Consolas"/>
              </a:rPr>
              <a:t>'</a:t>
            </a:r>
            <a:r>
              <a:rPr sz="1800" dirty="0">
                <a:solidFill>
                  <a:srgbClr val="6AAB73"/>
                </a:solidFill>
                <a:latin typeface="Consolas"/>
              </a:rPr>
              <a:t>est pas encore </a:t>
            </a:r>
            <a:r>
              <a:rPr sz="1800" dirty="0" err="1">
                <a:solidFill>
                  <a:srgbClr val="6AAB73"/>
                </a:solidFill>
                <a:latin typeface="Consolas"/>
              </a:rPr>
              <a:t>implementee</a:t>
            </a:r>
            <a:r>
              <a:rPr sz="1800" dirty="0">
                <a:solidFill>
                  <a:srgbClr val="6AAB73"/>
                </a:solidFill>
                <a:latin typeface="Consolas"/>
              </a:rPr>
              <a:t>"</a:t>
            </a:r>
            <a:r>
              <a:rPr sz="1800" dirty="0">
                <a:solidFill>
                  <a:srgbClr val="BCBEC4"/>
                </a:solidFill>
                <a:latin typeface="Consolas"/>
              </a:rPr>
              <a:t>);</a:t>
            </a:r>
          </a:p>
          <a:p>
            <a:pPr algn="l">
              <a:lnSpc>
                <a:spcPct val="100000"/>
              </a:lnSpc>
              <a:spcBef>
                <a:spcPts val="0"/>
              </a:spcBef>
              <a:spcAft>
                <a:spcPts val="0"/>
              </a:spcAft>
            </a:pPr>
            <a:r>
              <a:rPr sz="1800" dirty="0">
                <a:solidFill>
                  <a:srgbClr val="BCBEC4"/>
                </a:solidFill>
                <a:latin typeface="Consolas"/>
              </a:rPr>
              <a:t>}</a:t>
            </a: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pic>
        <p:nvPicPr>
          <p:cNvPr id="9" name="iconIntelliJ" descr="Akari-my (Mellooh_) · GitHub">
            <a:extLst>
              <a:ext uri="{FF2B5EF4-FFF2-40B4-BE49-F238E27FC236}">
                <a16:creationId xmlns:a16="http://schemas.microsoft.com/office/drawing/2014/main" id="{4A32E594-6357-027C-BE3E-CCA85C609BE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780951">
            <a:off x="10047381" y="165196"/>
            <a:ext cx="1655859" cy="16558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tests fournis</a:t>
            </a:r>
          </a:p>
        </p:txBody>
      </p:sp>
      <p:sp>
        <p:nvSpPr>
          <p:cNvPr id="3" name="Content Placeholder 2"/>
          <p:cNvSpPr>
            <a:spLocks noGrp="1"/>
          </p:cNvSpPr>
          <p:nvPr>
            <p:ph idx="1"/>
          </p:nvPr>
        </p:nvSpPr>
        <p:spPr>
          <a:xfrm>
            <a:off x="640080" y="1371600"/>
            <a:ext cx="10881360" cy="2560320"/>
          </a:xfrm>
        </p:spPr>
        <p:txBody>
          <a:bodyPr/>
          <a:lstStyle/>
          <a:p>
            <a:pPr marL="0" indent="0">
              <a:spcAft>
                <a:spcPts val="800"/>
              </a:spcAft>
              <a:buNone/>
            </a:pPr>
            <a:r>
              <a:rPr sz="2800" dirty="0"/>
              <a:t>La </a:t>
            </a:r>
            <a:r>
              <a:rPr sz="2800" dirty="0" err="1"/>
              <a:t>plupart</a:t>
            </a:r>
            <a:r>
              <a:rPr sz="2800" dirty="0"/>
              <a:t> des </a:t>
            </a:r>
            <a:r>
              <a:rPr sz="2800" dirty="0" err="1"/>
              <a:t>exercices</a:t>
            </a:r>
            <a:r>
              <a:rPr sz="2800" dirty="0"/>
              <a:t> </a:t>
            </a:r>
            <a:r>
              <a:rPr sz="2800" dirty="0" err="1"/>
              <a:t>ont</a:t>
            </a:r>
            <a:r>
              <a:rPr sz="2800" dirty="0"/>
              <a:t> </a:t>
            </a:r>
            <a:r>
              <a:rPr sz="2800" dirty="0" err="1"/>
              <a:t>une</a:t>
            </a:r>
            <a:r>
              <a:rPr sz="2800" dirty="0"/>
              <a:t> </a:t>
            </a:r>
            <a:r>
              <a:rPr sz="2800" dirty="0" err="1"/>
              <a:t>classe</a:t>
            </a:r>
            <a:r>
              <a:rPr sz="2800" dirty="0"/>
              <a:t> de test</a:t>
            </a:r>
          </a:p>
          <a:p>
            <a:pPr marL="0" indent="0">
              <a:spcAft>
                <a:spcPts val="800"/>
              </a:spcAft>
              <a:buNone/>
            </a:pPr>
            <a:r>
              <a:rPr sz="2800" dirty="0"/>
              <a:t>Vous les </a:t>
            </a:r>
            <a:r>
              <a:rPr sz="2800" dirty="0" err="1"/>
              <a:t>lancez</a:t>
            </a:r>
            <a:r>
              <a:rPr sz="2800" dirty="0"/>
              <a:t> vous-</a:t>
            </a:r>
            <a:r>
              <a:rPr sz="2800" dirty="0" err="1"/>
              <a:t>même</a:t>
            </a:r>
            <a:r>
              <a:rPr sz="2800" dirty="0"/>
              <a:t>, </a:t>
            </a:r>
            <a:r>
              <a:rPr sz="2800" dirty="0" err="1"/>
              <a:t>aussi</a:t>
            </a:r>
            <a:r>
              <a:rPr sz="2800" dirty="0"/>
              <a:t> </a:t>
            </a:r>
            <a:r>
              <a:rPr sz="2800" dirty="0" err="1"/>
              <a:t>souvent</a:t>
            </a:r>
            <a:r>
              <a:rPr sz="2800" dirty="0"/>
              <a:t> </a:t>
            </a:r>
            <a:r>
              <a:rPr sz="2800" dirty="0" err="1"/>
              <a:t>que</a:t>
            </a:r>
            <a:r>
              <a:rPr sz="2800" dirty="0"/>
              <a:t> vous </a:t>
            </a:r>
            <a:r>
              <a:rPr sz="2800" dirty="0" err="1"/>
              <a:t>voulez</a:t>
            </a:r>
            <a:endParaRPr sz="2800" dirty="0"/>
          </a:p>
          <a:p>
            <a:pPr marL="0" indent="0">
              <a:spcAft>
                <a:spcPts val="800"/>
              </a:spcAft>
              <a:buNone/>
            </a:pPr>
            <a:r>
              <a:rPr sz="2800" dirty="0" err="1"/>
              <a:t>Ils</a:t>
            </a:r>
            <a:r>
              <a:rPr sz="2800" dirty="0"/>
              <a:t> ne </a:t>
            </a:r>
            <a:r>
              <a:rPr sz="2800" dirty="0" err="1"/>
              <a:t>vérifient</a:t>
            </a:r>
            <a:r>
              <a:rPr sz="2800" dirty="0"/>
              <a:t> </a:t>
            </a:r>
            <a:r>
              <a:rPr lang="nl-BE" sz="2800" dirty="0"/>
              <a:t>pas tout: certaines choses sont</a:t>
            </a:r>
            <a:r>
              <a:rPr sz="2800" dirty="0"/>
              <a:t> </a:t>
            </a:r>
            <a:r>
              <a:rPr sz="2800" dirty="0" err="1"/>
              <a:t>laissé</a:t>
            </a:r>
            <a:r>
              <a:rPr lang="nl-BE" sz="2800" dirty="0"/>
              <a:t>es</a:t>
            </a:r>
            <a:r>
              <a:rPr sz="2800" dirty="0"/>
              <a:t> à </a:t>
            </a:r>
            <a:r>
              <a:rPr sz="2800" dirty="0" err="1"/>
              <a:t>votre</a:t>
            </a:r>
            <a:r>
              <a:rPr sz="2800" dirty="0"/>
              <a:t> choix</a:t>
            </a:r>
            <a:r>
              <a:rPr lang="nl-BE" sz="2800" dirty="0"/>
              <a:t> et non vérifiables par des tests…</a:t>
            </a:r>
            <a:endParaRPr sz="2800" dirty="0"/>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Etat du test"/>
          <p:cNvSpPr/>
          <p:nvPr/>
        </p:nvSpPr>
        <p:spPr>
          <a:xfrm>
            <a:off x="640080" y="4206240"/>
            <a:ext cx="5349240" cy="1188720"/>
          </a:xfrm>
          <a:prstGeom prst="roundRect">
            <a:avLst>
              <a:gd name="adj" fmla="val 7692"/>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astille"/>
          <p:cNvSpPr/>
          <p:nvPr/>
        </p:nvSpPr>
        <p:spPr>
          <a:xfrm>
            <a:off x="914400" y="4572000"/>
            <a:ext cx="457200" cy="457200"/>
          </a:xfrm>
          <a:prstGeom prst="ellipse">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tat du test, texte"/>
          <p:cNvSpPr txBox="1"/>
          <p:nvPr/>
        </p:nvSpPr>
        <p:spPr>
          <a:xfrm>
            <a:off x="1554480" y="4431268"/>
            <a:ext cx="4297680" cy="738664"/>
          </a:xfrm>
          <a:prstGeom prst="rect">
            <a:avLst/>
          </a:prstGeom>
          <a:noFill/>
        </p:spPr>
        <p:txBody>
          <a:bodyPr wrap="square" lIns="137160" rIns="137160" anchor="ctr">
            <a:spAutoFit/>
          </a:bodyPr>
          <a:lstStyle/>
          <a:p>
            <a:pPr algn="l"/>
            <a:r>
              <a:rPr sz="2400" b="1" dirty="0">
                <a:solidFill>
                  <a:schemeClr val="accent4"/>
                </a:solidFill>
              </a:rPr>
              <a:t>Rouge</a:t>
            </a:r>
          </a:p>
          <a:p>
            <a:pPr algn="l"/>
            <a:r>
              <a:rPr sz="1800" dirty="0">
                <a:solidFill>
                  <a:srgbClr val="FFFFFF"/>
                </a:solidFill>
              </a:rPr>
              <a:t>la </a:t>
            </a:r>
            <a:r>
              <a:rPr sz="1800" dirty="0" err="1">
                <a:solidFill>
                  <a:srgbClr val="FFFFFF"/>
                </a:solidFill>
              </a:rPr>
              <a:t>réponse</a:t>
            </a:r>
            <a:r>
              <a:rPr sz="1800" dirty="0">
                <a:solidFill>
                  <a:srgbClr val="FFFFFF"/>
                </a:solidFill>
              </a:rPr>
              <a:t> n</a:t>
            </a:r>
            <a:r>
              <a:rPr lang="fr-BE" sz="1800" dirty="0">
                <a:solidFill>
                  <a:srgbClr val="FFFFFF"/>
                </a:solidFill>
              </a:rPr>
              <a:t>'</a:t>
            </a:r>
            <a:r>
              <a:rPr sz="1800" dirty="0">
                <a:solidFill>
                  <a:srgbClr val="FFFFFF"/>
                </a:solidFill>
              </a:rPr>
              <a:t>est pas encore </a:t>
            </a:r>
            <a:r>
              <a:rPr sz="1800" dirty="0" err="1">
                <a:solidFill>
                  <a:srgbClr val="FFFFFF"/>
                </a:solidFill>
              </a:rPr>
              <a:t>correcte</a:t>
            </a:r>
            <a:endParaRPr sz="1800" dirty="0">
              <a:solidFill>
                <a:srgbClr val="FFFFFF"/>
              </a:solidFill>
            </a:endParaRPr>
          </a:p>
        </p:txBody>
      </p:sp>
      <p:sp>
        <p:nvSpPr>
          <p:cNvPr id="8" name="Etat du test"/>
          <p:cNvSpPr/>
          <p:nvPr/>
        </p:nvSpPr>
        <p:spPr>
          <a:xfrm>
            <a:off x="6172200" y="4206240"/>
            <a:ext cx="5349240" cy="1188720"/>
          </a:xfrm>
          <a:prstGeom prst="roundRect">
            <a:avLst>
              <a:gd name="adj" fmla="val 7692"/>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astille"/>
          <p:cNvSpPr/>
          <p:nvPr/>
        </p:nvSpPr>
        <p:spPr>
          <a:xfrm>
            <a:off x="6446520" y="4572000"/>
            <a:ext cx="457200" cy="457200"/>
          </a:xfrm>
          <a:prstGeom prst="ellipse">
            <a:avLst/>
          </a:prstGeom>
          <a:solidFill>
            <a:srgbClr val="5FB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Etat du test, texte"/>
          <p:cNvSpPr txBox="1"/>
          <p:nvPr/>
        </p:nvSpPr>
        <p:spPr>
          <a:xfrm>
            <a:off x="7086600" y="4206240"/>
            <a:ext cx="4297680" cy="1188720"/>
          </a:xfrm>
          <a:prstGeom prst="rect">
            <a:avLst/>
          </a:prstGeom>
          <a:noFill/>
        </p:spPr>
        <p:txBody>
          <a:bodyPr wrap="square" lIns="137160" rIns="137160" anchor="ctr">
            <a:spAutoFit/>
          </a:bodyPr>
          <a:lstStyle/>
          <a:p>
            <a:pPr algn="l"/>
            <a:r>
              <a:rPr sz="2400" b="1">
                <a:solidFill>
                  <a:schemeClr val="accent4"/>
                </a:solidFill>
              </a:rPr>
              <a:t>Vert</a:t>
            </a:r>
          </a:p>
          <a:p>
            <a:pPr algn="l"/>
            <a:r>
              <a:rPr sz="1800">
                <a:solidFill>
                  <a:srgbClr val="FFFFFF"/>
                </a:solidFill>
              </a:rPr>
              <a:t>la réponse est correcte</a:t>
            </a: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 GameHub</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lang="nl-BE" sz="2800" dirty="0"/>
              <a:t>GameHub est u</a:t>
            </a:r>
            <a:r>
              <a:rPr sz="2800" dirty="0"/>
              <a:t>ne </a:t>
            </a:r>
            <a:r>
              <a:rPr sz="2800" dirty="0" err="1"/>
              <a:t>plateforme</a:t>
            </a:r>
            <a:r>
              <a:rPr sz="2800" dirty="0"/>
              <a:t> de jeux</a:t>
            </a:r>
            <a:r>
              <a:rPr lang="nl-BE" sz="2800" dirty="0"/>
              <a:t> rudimentaire</a:t>
            </a:r>
          </a:p>
          <a:p>
            <a:pPr marL="0" indent="0">
              <a:spcAft>
                <a:spcPts val="800"/>
              </a:spcAft>
              <a:buNone/>
            </a:pPr>
            <a:r>
              <a:rPr lang="nl-BE" dirty="0"/>
              <a:t>Elle se </a:t>
            </a:r>
            <a:r>
              <a:rPr sz="2800" dirty="0" err="1"/>
              <a:t>construi</a:t>
            </a:r>
            <a:r>
              <a:rPr lang="nl-BE" sz="2800" dirty="0"/>
              <a:t>t</a:t>
            </a:r>
            <a:r>
              <a:rPr sz="2800" dirty="0"/>
              <a:t> </a:t>
            </a:r>
            <a:r>
              <a:rPr lang="nl-BE" sz="2800" dirty="0"/>
              <a:t>au fil des cours</a:t>
            </a:r>
            <a:endParaRPr sz="2800" dirty="0"/>
          </a:p>
          <a:p>
            <a:pPr marL="0" indent="0">
              <a:spcAft>
                <a:spcPts val="800"/>
              </a:spcAft>
              <a:buNone/>
            </a:pPr>
            <a:r>
              <a:rPr lang="nl-BE" sz="2800" dirty="0"/>
              <a:t>L</a:t>
            </a:r>
            <a:r>
              <a:rPr sz="2800" dirty="0"/>
              <a:t>es étapes </a:t>
            </a:r>
            <a:r>
              <a:rPr sz="2800" dirty="0" err="1"/>
              <a:t>numérotées</a:t>
            </a:r>
            <a:r>
              <a:rPr sz="2800" dirty="0"/>
              <a:t> : </a:t>
            </a:r>
            <a:r>
              <a:rPr sz="2800" dirty="0">
                <a:solidFill>
                  <a:schemeClr val="accent4"/>
                </a:solidFill>
                <a:latin typeface="Consolas"/>
              </a:rPr>
              <a:t>G.1</a:t>
            </a:r>
            <a:r>
              <a:rPr sz="2800" dirty="0"/>
              <a:t>, </a:t>
            </a:r>
            <a:r>
              <a:rPr sz="2800" dirty="0">
                <a:solidFill>
                  <a:schemeClr val="accent4"/>
                </a:solidFill>
                <a:latin typeface="Consolas"/>
              </a:rPr>
              <a:t>G.2</a:t>
            </a:r>
            <a:r>
              <a:rPr sz="2800" dirty="0"/>
              <a:t>…</a:t>
            </a:r>
          </a:p>
          <a:p>
            <a:pPr marL="0" indent="0">
              <a:spcAft>
                <a:spcPts val="800"/>
              </a:spcAft>
              <a:buNone/>
            </a:pPr>
            <a:r>
              <a:rPr sz="2800" dirty="0" err="1"/>
              <a:t>Chaque</a:t>
            </a:r>
            <a:r>
              <a:rPr sz="2800" dirty="0"/>
              <a:t> module </a:t>
            </a:r>
            <a:r>
              <a:rPr sz="2800" dirty="0" err="1"/>
              <a:t>ajoute</a:t>
            </a:r>
            <a:r>
              <a:rPr sz="2800" dirty="0"/>
              <a:t> </a:t>
            </a:r>
            <a:r>
              <a:rPr sz="2800" dirty="0" err="1"/>
              <a:t>une</a:t>
            </a:r>
            <a:r>
              <a:rPr sz="2800" dirty="0"/>
              <a:t> pièce</a:t>
            </a:r>
            <a:r>
              <a:rPr lang="nl-BE" sz="2800" dirty="0"/>
              <a:t> à ce qui a été construit précédemment</a:t>
            </a:r>
            <a:endParaRPr sz="2800" dirty="0"/>
          </a:p>
          <a:p>
            <a:pPr marL="0" indent="0">
              <a:spcAft>
                <a:spcPts val="800"/>
              </a:spcAft>
              <a:buNone/>
            </a:pPr>
            <a:r>
              <a:rPr lang="nl-BE" sz="2800" dirty="0"/>
              <a:t>GameHub est u</a:t>
            </a:r>
            <a:r>
              <a:rPr sz="2800" dirty="0"/>
              <a:t>n </a:t>
            </a:r>
            <a:r>
              <a:rPr sz="2800" dirty="0" err="1"/>
              <a:t>projet</a:t>
            </a:r>
            <a:r>
              <a:rPr sz="2800" dirty="0"/>
              <a:t> </a:t>
            </a:r>
            <a:r>
              <a:rPr sz="2800" dirty="0" err="1"/>
              <a:t>séparé</a:t>
            </a:r>
            <a:r>
              <a:rPr sz="2800" dirty="0"/>
              <a:t> des </a:t>
            </a:r>
            <a:r>
              <a:rPr sz="2800" dirty="0" err="1"/>
              <a:t>exercices</a:t>
            </a:r>
            <a:endParaRPr sz="2800" dirty="0"/>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pic>
        <p:nvPicPr>
          <p:cNvPr id="6" name="iconGameHub" descr="Game Hub - Apps on Google Play">
            <a:extLst>
              <a:ext uri="{FF2B5EF4-FFF2-40B4-BE49-F238E27FC236}">
                <a16:creationId xmlns:a16="http://schemas.microsoft.com/office/drawing/2014/main" id="{D25822CF-0494-D571-1E1C-2C23CE0F569B}"/>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support imprimable</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sz="2800" dirty="0"/>
              <a:t>Les slides</a:t>
            </a:r>
            <a:r>
              <a:rPr lang="nl-BE" sz="2800" dirty="0"/>
              <a:t> sont</a:t>
            </a:r>
            <a:r>
              <a:rPr sz="2800" dirty="0"/>
              <a:t> un </a:t>
            </a:r>
            <a:r>
              <a:rPr sz="2800" dirty="0" err="1"/>
              <a:t>appui</a:t>
            </a:r>
            <a:r>
              <a:rPr sz="2800" dirty="0"/>
              <a:t> pour le </a:t>
            </a:r>
            <a:r>
              <a:rPr sz="2800" dirty="0" err="1"/>
              <a:t>cours</a:t>
            </a:r>
            <a:endParaRPr sz="2800" dirty="0"/>
          </a:p>
          <a:p>
            <a:pPr marL="0" indent="0">
              <a:spcAft>
                <a:spcPts val="800"/>
              </a:spcAft>
              <a:buNone/>
            </a:pPr>
            <a:r>
              <a:rPr lang="nl-BE" sz="2800" dirty="0"/>
              <a:t>Je vous distribue également </a:t>
            </a:r>
            <a:r>
              <a:rPr lang="nl-BE" dirty="0"/>
              <a:t>un</a:t>
            </a:r>
            <a:r>
              <a:rPr sz="2800" dirty="0"/>
              <a:t> support</a:t>
            </a:r>
            <a:r>
              <a:rPr lang="nl-BE" sz="2800" dirty="0"/>
              <a:t> de cours qui reprend</a:t>
            </a:r>
            <a:r>
              <a:rPr sz="2800" dirty="0"/>
              <a:t> la </a:t>
            </a:r>
            <a:r>
              <a:rPr sz="2800" dirty="0" err="1"/>
              <a:t>théorie</a:t>
            </a:r>
            <a:r>
              <a:rPr sz="2800" dirty="0"/>
              <a:t> </a:t>
            </a:r>
            <a:r>
              <a:rPr sz="2800" dirty="0" err="1"/>
              <a:t>rédigée</a:t>
            </a:r>
            <a:r>
              <a:rPr sz="2800" dirty="0"/>
              <a:t>, avec le code</a:t>
            </a:r>
          </a:p>
          <a:p>
            <a:pPr marL="0" indent="0">
              <a:spcAft>
                <a:spcPts val="800"/>
              </a:spcAft>
              <a:buNone/>
            </a:pPr>
            <a:r>
              <a:rPr lang="nl-BE" sz="2800" dirty="0"/>
              <a:t>Ce support est un</a:t>
            </a:r>
            <a:r>
              <a:rPr sz="2800" dirty="0"/>
              <a:t> document unique, </a:t>
            </a:r>
            <a:r>
              <a:rPr lang="nl-BE" sz="2800" dirty="0"/>
              <a:t>valable </a:t>
            </a:r>
            <a:r>
              <a:rPr sz="2800" dirty="0"/>
              <a:t>pour </a:t>
            </a:r>
            <a:r>
              <a:rPr sz="2800" dirty="0" err="1"/>
              <a:t>tous</a:t>
            </a:r>
            <a:r>
              <a:rPr sz="2800" dirty="0"/>
              <a:t> les modules</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sp>
        <p:nvSpPr>
          <p:cNvPr id="7" name="iconPrint">
            <a:extLst>
              <a:ext uri="{FF2B5EF4-FFF2-40B4-BE49-F238E27FC236}">
                <a16:creationId xmlns:a16="http://schemas.microsoft.com/office/drawing/2014/main" id="{15792953-39BD-2768-A7F6-381E75417A33}"/>
              </a:ext>
            </a:extLst>
          </p:cNvPr>
          <p:cNvSpPr txBox="1"/>
          <p:nvPr/>
        </p:nvSpPr>
        <p:spPr>
          <a:xfrm rot="279558">
            <a:off x="10286572" y="273856"/>
            <a:ext cx="1374006" cy="1508105"/>
          </a:xfrm>
          <a:prstGeom prst="rect">
            <a:avLst/>
          </a:prstGeom>
          <a:noFill/>
        </p:spPr>
        <p:txBody>
          <a:bodyPr wrap="square">
            <a:spAutoFit/>
          </a:bodyPr>
          <a:lstStyle/>
          <a:p>
            <a:r>
              <a:rPr lang="fr-FR" sz="92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5" name="Picture 8" descr="INI_section3.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E73067B4-4758-7D90-FE25-49374D623451}"/>
              </a:ext>
            </a:extLst>
          </p:cNvPr>
          <p:cNvSpPr txBox="1"/>
          <p:nvPr/>
        </p:nvSpPr>
        <p:spPr>
          <a:xfrm>
            <a:off x="838200" y="946800"/>
            <a:ext cx="612989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Les mémentos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Espace réservé du numéro de diapositive 2">
            <a:extLst>
              <a:ext uri="{FF2B5EF4-FFF2-40B4-BE49-F238E27FC236}">
                <a16:creationId xmlns:a16="http://schemas.microsoft.com/office/drawing/2014/main" id="{3918A127-4A9F-4E38-ECD2-0153C0A2B766}"/>
              </a:ext>
            </a:extLst>
          </p:cNvPr>
          <p:cNvSpPr>
            <a:spLocks noGrp="1"/>
          </p:cNvSpPr>
          <p:nvPr>
            <p:ph type="sldNum" sz="quarter" idx="4"/>
          </p:nvPr>
        </p:nvSpPr>
        <p:spPr/>
        <p:txBody>
          <a:bodyPr/>
          <a:lstStyle/>
          <a:p>
            <a:fld id="{33C783E2-4793-4F48-A271-51A73CC37D74}" type="slidenum">
              <a:rPr lang="fr-FR" smtClean="0"/>
              <a:t>19</a:t>
            </a:fld>
            <a:endParaRPr lang="fr-FR"/>
          </a:p>
        </p:txBody>
      </p:sp>
    </p:spTree>
    <p:extLst>
      <p:ext uri="{BB962C8B-B14F-4D97-AF65-F5344CB8AC3E}">
        <p14:creationId xmlns:p14="http://schemas.microsoft.com/office/powerpoint/2010/main" val="386880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Quatre documents de référence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20</a:t>
            </a:fld>
            <a:endParaRPr lang="fr-FR"/>
          </a:p>
        </p:txBody>
      </p:sp>
      <p:grpSp>
        <p:nvGrpSpPr>
          <p:cNvPr id="3" name="Groupe 2">
            <a:extLst>
              <a:ext uri="{FF2B5EF4-FFF2-40B4-BE49-F238E27FC236}">
                <a16:creationId xmlns:a16="http://schemas.microsoft.com/office/drawing/2014/main" id="{8624A095-2747-4D36-EA64-32446EC952B6}"/>
              </a:ext>
            </a:extLst>
          </p:cNvPr>
          <p:cNvGrpSpPr/>
          <p:nvPr/>
        </p:nvGrpSpPr>
        <p:grpSpPr>
          <a:xfrm>
            <a:off x="640080" y="1371600"/>
            <a:ext cx="10881360" cy="914400"/>
            <a:chOff x="640080" y="1371600"/>
            <a:chExt cx="10881360" cy="914400"/>
          </a:xfrm>
        </p:grpSpPr>
        <p:sp>
          <p:nvSpPr>
            <p:cNvPr id="5" name="Carte document"/>
            <p:cNvSpPr/>
            <p:nvPr/>
          </p:nvSpPr>
          <p:spPr>
            <a:xfrm>
              <a:off x="640080" y="137160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te document, nom"/>
            <p:cNvSpPr txBox="1"/>
            <p:nvPr/>
          </p:nvSpPr>
          <p:spPr>
            <a:xfrm>
              <a:off x="640080" y="1371600"/>
              <a:ext cx="4297680" cy="914400"/>
            </a:xfrm>
            <a:prstGeom prst="rect">
              <a:avLst/>
            </a:prstGeom>
            <a:noFill/>
          </p:spPr>
          <p:txBody>
            <a:bodyPr wrap="square" lIns="137160" rIns="137160" anchor="ctr">
              <a:spAutoFit/>
            </a:bodyPr>
            <a:lstStyle/>
            <a:p>
              <a:pPr algn="l"/>
              <a:r>
                <a:rPr sz="2400" b="1">
                  <a:solidFill>
                    <a:schemeClr val="accent4"/>
                  </a:solidFill>
                </a:rPr>
                <a:t>Mémento Exercices</a:t>
              </a:r>
            </a:p>
          </p:txBody>
        </p:sp>
        <p:sp>
          <p:nvSpPr>
            <p:cNvPr id="7" name="Carte document, prefixe"/>
            <p:cNvSpPr txBox="1"/>
            <p:nvPr/>
          </p:nvSpPr>
          <p:spPr>
            <a:xfrm>
              <a:off x="4937760" y="1371600"/>
              <a:ext cx="1645920" cy="914400"/>
            </a:xfrm>
            <a:prstGeom prst="rect">
              <a:avLst/>
            </a:prstGeom>
            <a:noFill/>
          </p:spPr>
          <p:txBody>
            <a:bodyPr wrap="square" lIns="137160" rIns="137160" anchor="ctr">
              <a:spAutoFit/>
            </a:bodyPr>
            <a:lstStyle/>
            <a:p>
              <a:pPr algn="l"/>
              <a:endParaRPr/>
            </a:p>
          </p:txBody>
        </p:sp>
        <p:sp>
          <p:nvSpPr>
            <p:cNvPr id="8" name="Carte document, usage"/>
            <p:cNvSpPr txBox="1"/>
            <p:nvPr/>
          </p:nvSpPr>
          <p:spPr>
            <a:xfrm>
              <a:off x="6583680" y="1371600"/>
              <a:ext cx="4846320" cy="914400"/>
            </a:xfrm>
            <a:prstGeom prst="rect">
              <a:avLst/>
            </a:prstGeom>
            <a:noFill/>
          </p:spPr>
          <p:txBody>
            <a:bodyPr wrap="square" lIns="137160" rIns="137160" anchor="ctr">
              <a:spAutoFit/>
            </a:bodyPr>
            <a:lstStyle/>
            <a:p>
              <a:pPr algn="l"/>
              <a:r>
                <a:rPr sz="2000">
                  <a:solidFill>
                    <a:srgbClr val="FFFFFF"/>
                  </a:solidFill>
                </a:rPr>
                <a:t>lancer les tests, lire un résultat</a:t>
              </a:r>
            </a:p>
          </p:txBody>
        </p:sp>
      </p:grpSp>
      <p:grpSp>
        <p:nvGrpSpPr>
          <p:cNvPr id="23" name="Groupe 22">
            <a:extLst>
              <a:ext uri="{FF2B5EF4-FFF2-40B4-BE49-F238E27FC236}">
                <a16:creationId xmlns:a16="http://schemas.microsoft.com/office/drawing/2014/main" id="{443C679A-4591-E70C-1FA1-AE53BDDD4574}"/>
              </a:ext>
            </a:extLst>
          </p:cNvPr>
          <p:cNvGrpSpPr/>
          <p:nvPr/>
        </p:nvGrpSpPr>
        <p:grpSpPr>
          <a:xfrm>
            <a:off x="640080" y="2468880"/>
            <a:ext cx="10881360" cy="914400"/>
            <a:chOff x="640080" y="2468880"/>
            <a:chExt cx="10881360" cy="914400"/>
          </a:xfrm>
        </p:grpSpPr>
        <p:sp>
          <p:nvSpPr>
            <p:cNvPr id="9" name="Carte document"/>
            <p:cNvSpPr/>
            <p:nvPr/>
          </p:nvSpPr>
          <p:spPr>
            <a:xfrm>
              <a:off x="640080" y="246888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te document, nom"/>
            <p:cNvSpPr txBox="1"/>
            <p:nvPr/>
          </p:nvSpPr>
          <p:spPr>
            <a:xfrm>
              <a:off x="640080" y="2468880"/>
              <a:ext cx="4297680" cy="914400"/>
            </a:xfrm>
            <a:prstGeom prst="rect">
              <a:avLst/>
            </a:prstGeom>
            <a:noFill/>
          </p:spPr>
          <p:txBody>
            <a:bodyPr wrap="square" lIns="137160" rIns="137160" anchor="ctr">
              <a:spAutoFit/>
            </a:bodyPr>
            <a:lstStyle/>
            <a:p>
              <a:pPr algn="l"/>
              <a:r>
                <a:rPr sz="2400" b="1">
                  <a:solidFill>
                    <a:schemeClr val="accent4"/>
                  </a:solidFill>
                </a:rPr>
                <a:t>Guide IntelliJ</a:t>
              </a:r>
            </a:p>
          </p:txBody>
        </p:sp>
        <p:sp>
          <p:nvSpPr>
            <p:cNvPr id="11" name="Carte document, prefixe"/>
            <p:cNvSpPr txBox="1"/>
            <p:nvPr/>
          </p:nvSpPr>
          <p:spPr>
            <a:xfrm>
              <a:off x="4937760" y="2468880"/>
              <a:ext cx="1645920" cy="914400"/>
            </a:xfrm>
            <a:prstGeom prst="rect">
              <a:avLst/>
            </a:prstGeom>
            <a:noFill/>
          </p:spPr>
          <p:txBody>
            <a:bodyPr wrap="square" lIns="137160" rIns="137160" anchor="ctr">
              <a:spAutoFit/>
            </a:bodyPr>
            <a:lstStyle/>
            <a:p>
              <a:pPr algn="l"/>
              <a:r>
                <a:rPr sz="2200" b="1">
                  <a:solidFill>
                    <a:schemeClr val="accent4"/>
                  </a:solidFill>
                  <a:latin typeface="Consolas"/>
                </a:rPr>
                <a:t>IDE, ERR</a:t>
              </a:r>
            </a:p>
          </p:txBody>
        </p:sp>
        <p:sp>
          <p:nvSpPr>
            <p:cNvPr id="12" name="Carte document, usage"/>
            <p:cNvSpPr txBox="1"/>
            <p:nvPr/>
          </p:nvSpPr>
          <p:spPr>
            <a:xfrm>
              <a:off x="6583680" y="2726025"/>
              <a:ext cx="4846320" cy="400110"/>
            </a:xfrm>
            <a:prstGeom prst="rect">
              <a:avLst/>
            </a:prstGeom>
            <a:noFill/>
          </p:spPr>
          <p:txBody>
            <a:bodyPr wrap="square" lIns="137160" rIns="137160" anchor="ctr">
              <a:spAutoFit/>
            </a:bodyPr>
            <a:lstStyle/>
            <a:p>
              <a:pPr algn="l"/>
              <a:r>
                <a:rPr sz="2000" dirty="0">
                  <a:solidFill>
                    <a:srgbClr val="FFFFFF"/>
                  </a:solidFill>
                </a:rPr>
                <a:t>se </a:t>
              </a:r>
              <a:r>
                <a:rPr sz="2000" dirty="0" err="1">
                  <a:solidFill>
                    <a:srgbClr val="FFFFFF"/>
                  </a:solidFill>
                </a:rPr>
                <a:t>servir</a:t>
              </a:r>
              <a:r>
                <a:rPr sz="2000" dirty="0">
                  <a:solidFill>
                    <a:srgbClr val="FFFFFF"/>
                  </a:solidFill>
                </a:rPr>
                <a:t> de l</a:t>
              </a:r>
              <a:r>
                <a:rPr lang="fr-BE" sz="2000" dirty="0">
                  <a:solidFill>
                    <a:srgbClr val="FFFFFF"/>
                  </a:solidFill>
                </a:rPr>
                <a:t>'</a:t>
              </a:r>
              <a:r>
                <a:rPr sz="2000" dirty="0" err="1">
                  <a:solidFill>
                    <a:srgbClr val="FFFFFF"/>
                  </a:solidFill>
                </a:rPr>
                <a:t>outil</a:t>
              </a:r>
              <a:r>
                <a:rPr sz="2000" dirty="0">
                  <a:solidFill>
                    <a:srgbClr val="FFFFFF"/>
                  </a:solidFill>
                </a:rPr>
                <a:t>, </a:t>
              </a:r>
              <a:r>
                <a:rPr sz="2000" dirty="0" err="1">
                  <a:solidFill>
                    <a:srgbClr val="FFFFFF"/>
                  </a:solidFill>
                </a:rPr>
                <a:t>comprendre</a:t>
              </a:r>
              <a:r>
                <a:rPr sz="2000" dirty="0">
                  <a:solidFill>
                    <a:srgbClr val="FFFFFF"/>
                  </a:solidFill>
                </a:rPr>
                <a:t> </a:t>
              </a:r>
              <a:r>
                <a:rPr sz="2000" dirty="0" err="1">
                  <a:solidFill>
                    <a:srgbClr val="FFFFFF"/>
                  </a:solidFill>
                </a:rPr>
                <a:t>une</a:t>
              </a:r>
              <a:r>
                <a:rPr sz="2000" dirty="0">
                  <a:solidFill>
                    <a:srgbClr val="FFFFFF"/>
                  </a:solidFill>
                </a:rPr>
                <a:t> </a:t>
              </a:r>
              <a:r>
                <a:rPr sz="2000" dirty="0" err="1">
                  <a:solidFill>
                    <a:srgbClr val="FFFFFF"/>
                  </a:solidFill>
                </a:rPr>
                <a:t>erreur</a:t>
              </a:r>
              <a:endParaRPr sz="2000" dirty="0">
                <a:solidFill>
                  <a:srgbClr val="FFFFFF"/>
                </a:solidFill>
              </a:endParaRPr>
            </a:p>
          </p:txBody>
        </p:sp>
      </p:grpSp>
      <p:grpSp>
        <p:nvGrpSpPr>
          <p:cNvPr id="24" name="Groupe 23">
            <a:extLst>
              <a:ext uri="{FF2B5EF4-FFF2-40B4-BE49-F238E27FC236}">
                <a16:creationId xmlns:a16="http://schemas.microsoft.com/office/drawing/2014/main" id="{3438C368-A194-A2A7-2F0E-137D46515C04}"/>
              </a:ext>
            </a:extLst>
          </p:cNvPr>
          <p:cNvGrpSpPr/>
          <p:nvPr/>
        </p:nvGrpSpPr>
        <p:grpSpPr>
          <a:xfrm>
            <a:off x="640080" y="3566160"/>
            <a:ext cx="10881360" cy="914400"/>
            <a:chOff x="640080" y="3566160"/>
            <a:chExt cx="10881360" cy="914400"/>
          </a:xfrm>
        </p:grpSpPr>
        <p:sp>
          <p:nvSpPr>
            <p:cNvPr id="13" name="Carte document"/>
            <p:cNvSpPr/>
            <p:nvPr/>
          </p:nvSpPr>
          <p:spPr>
            <a:xfrm>
              <a:off x="640080" y="356616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arte document, nom"/>
            <p:cNvSpPr txBox="1"/>
            <p:nvPr/>
          </p:nvSpPr>
          <p:spPr>
            <a:xfrm>
              <a:off x="640080" y="3566160"/>
              <a:ext cx="4297680" cy="914400"/>
            </a:xfrm>
            <a:prstGeom prst="rect">
              <a:avLst/>
            </a:prstGeom>
            <a:noFill/>
          </p:spPr>
          <p:txBody>
            <a:bodyPr wrap="square" lIns="137160" rIns="137160" anchor="ctr">
              <a:spAutoFit/>
            </a:bodyPr>
            <a:lstStyle/>
            <a:p>
              <a:pPr algn="l"/>
              <a:r>
                <a:rPr sz="2400" b="1">
                  <a:solidFill>
                    <a:schemeClr val="accent4"/>
                  </a:solidFill>
                </a:rPr>
                <a:t>Mémento technique</a:t>
              </a:r>
            </a:p>
          </p:txBody>
        </p:sp>
        <p:sp>
          <p:nvSpPr>
            <p:cNvPr id="15" name="Carte document, prefixe"/>
            <p:cNvSpPr txBox="1"/>
            <p:nvPr/>
          </p:nvSpPr>
          <p:spPr>
            <a:xfrm>
              <a:off x="4937760" y="3566160"/>
              <a:ext cx="1645920" cy="914400"/>
            </a:xfrm>
            <a:prstGeom prst="rect">
              <a:avLst/>
            </a:prstGeom>
            <a:noFill/>
          </p:spPr>
          <p:txBody>
            <a:bodyPr wrap="square" lIns="137160" rIns="137160" anchor="ctr">
              <a:spAutoFit/>
            </a:bodyPr>
            <a:lstStyle/>
            <a:p>
              <a:pPr algn="l"/>
              <a:r>
                <a:rPr sz="2200" b="1">
                  <a:solidFill>
                    <a:schemeClr val="accent4"/>
                  </a:solidFill>
                  <a:latin typeface="Consolas"/>
                </a:rPr>
                <a:t>TEC</a:t>
              </a:r>
            </a:p>
          </p:txBody>
        </p:sp>
        <p:sp>
          <p:nvSpPr>
            <p:cNvPr id="16" name="Carte document, usage"/>
            <p:cNvSpPr txBox="1"/>
            <p:nvPr/>
          </p:nvSpPr>
          <p:spPr>
            <a:xfrm>
              <a:off x="6583680" y="3566160"/>
              <a:ext cx="4846320" cy="914400"/>
            </a:xfrm>
            <a:prstGeom prst="rect">
              <a:avLst/>
            </a:prstGeom>
            <a:noFill/>
          </p:spPr>
          <p:txBody>
            <a:bodyPr wrap="square" lIns="137160" rIns="137160" anchor="ctr">
              <a:spAutoFit/>
            </a:bodyPr>
            <a:lstStyle/>
            <a:p>
              <a:pPr algn="l"/>
              <a:r>
                <a:rPr sz="2000">
                  <a:solidFill>
                    <a:srgbClr val="FFFFFF"/>
                  </a:solidFill>
                </a:rPr>
                <a:t>comprendre ce qui se passe sous le capot</a:t>
              </a:r>
            </a:p>
          </p:txBody>
        </p:sp>
      </p:grpSp>
      <p:grpSp>
        <p:nvGrpSpPr>
          <p:cNvPr id="25" name="Groupe 24">
            <a:extLst>
              <a:ext uri="{FF2B5EF4-FFF2-40B4-BE49-F238E27FC236}">
                <a16:creationId xmlns:a16="http://schemas.microsoft.com/office/drawing/2014/main" id="{67B21FEC-7E56-72DD-CE38-E1106F955F5D}"/>
              </a:ext>
            </a:extLst>
          </p:cNvPr>
          <p:cNvGrpSpPr/>
          <p:nvPr/>
        </p:nvGrpSpPr>
        <p:grpSpPr>
          <a:xfrm>
            <a:off x="640080" y="4663440"/>
            <a:ext cx="10881360" cy="914400"/>
            <a:chOff x="640080" y="4663440"/>
            <a:chExt cx="10881360" cy="914400"/>
          </a:xfrm>
        </p:grpSpPr>
        <p:sp>
          <p:nvSpPr>
            <p:cNvPr id="17" name="Carte document"/>
            <p:cNvSpPr/>
            <p:nvPr/>
          </p:nvSpPr>
          <p:spPr>
            <a:xfrm>
              <a:off x="640080" y="466344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arte document, nom"/>
            <p:cNvSpPr txBox="1"/>
            <p:nvPr/>
          </p:nvSpPr>
          <p:spPr>
            <a:xfrm>
              <a:off x="640080" y="4663440"/>
              <a:ext cx="4297680" cy="914400"/>
            </a:xfrm>
            <a:prstGeom prst="rect">
              <a:avLst/>
            </a:prstGeom>
            <a:noFill/>
          </p:spPr>
          <p:txBody>
            <a:bodyPr wrap="square" lIns="137160" rIns="137160" anchor="ctr">
              <a:spAutoFit/>
            </a:bodyPr>
            <a:lstStyle/>
            <a:p>
              <a:pPr algn="l"/>
              <a:r>
                <a:rPr sz="2400" b="1">
                  <a:solidFill>
                    <a:schemeClr val="accent4"/>
                  </a:solidFill>
                </a:rPr>
                <a:t>Mémento Clean Code</a:t>
              </a:r>
            </a:p>
          </p:txBody>
        </p:sp>
        <p:sp>
          <p:nvSpPr>
            <p:cNvPr id="19" name="Carte document, prefixe"/>
            <p:cNvSpPr txBox="1"/>
            <p:nvPr/>
          </p:nvSpPr>
          <p:spPr>
            <a:xfrm>
              <a:off x="4937760" y="4663440"/>
              <a:ext cx="1645920" cy="914400"/>
            </a:xfrm>
            <a:prstGeom prst="rect">
              <a:avLst/>
            </a:prstGeom>
            <a:noFill/>
          </p:spPr>
          <p:txBody>
            <a:bodyPr wrap="square" lIns="137160" rIns="137160" anchor="ctr">
              <a:spAutoFit/>
            </a:bodyPr>
            <a:lstStyle/>
            <a:p>
              <a:pPr algn="l"/>
              <a:r>
                <a:rPr sz="2200" b="1">
                  <a:solidFill>
                    <a:schemeClr val="accent4"/>
                  </a:solidFill>
                  <a:latin typeface="Consolas"/>
                </a:rPr>
                <a:t>CC</a:t>
              </a:r>
            </a:p>
          </p:txBody>
        </p:sp>
        <p:sp>
          <p:nvSpPr>
            <p:cNvPr id="20" name="Carte document, usage"/>
            <p:cNvSpPr txBox="1"/>
            <p:nvPr/>
          </p:nvSpPr>
          <p:spPr>
            <a:xfrm>
              <a:off x="6583680" y="4663440"/>
              <a:ext cx="4846320" cy="914400"/>
            </a:xfrm>
            <a:prstGeom prst="rect">
              <a:avLst/>
            </a:prstGeom>
            <a:noFill/>
          </p:spPr>
          <p:txBody>
            <a:bodyPr wrap="square" lIns="137160" rIns="137160" anchor="ctr">
              <a:spAutoFit/>
            </a:bodyPr>
            <a:lstStyle/>
            <a:p>
              <a:pPr algn="l"/>
              <a:r>
                <a:rPr sz="2000">
                  <a:solidFill>
                    <a:srgbClr val="FFFFFF"/>
                  </a:solidFill>
                </a:rPr>
                <a:t>écrire du code lisible</a:t>
              </a:r>
            </a:p>
          </p:txBody>
        </p:sp>
      </p:grpSp>
      <p:sp>
        <p:nvSpPr>
          <p:cNvPr id="21" name="Mention Moodle"/>
          <p:cNvSpPr txBox="1"/>
          <p:nvPr/>
        </p:nvSpPr>
        <p:spPr>
          <a:xfrm>
            <a:off x="640080" y="5760720"/>
            <a:ext cx="10881360" cy="457200"/>
          </a:xfrm>
          <a:prstGeom prst="rect">
            <a:avLst/>
          </a:prstGeom>
          <a:noFill/>
        </p:spPr>
        <p:txBody>
          <a:bodyPr wrap="square">
            <a:spAutoFit/>
          </a:bodyPr>
          <a:lstStyle/>
          <a:p>
            <a:pPr>
              <a:spcAft>
                <a:spcPts val="800"/>
              </a:spcAft>
            </a:pPr>
            <a:r>
              <a:rPr sz="2000">
                <a:solidFill>
                  <a:srgbClr val="BCBEC4"/>
                </a:solidFill>
              </a:rPr>
              <a:t>Sur Moodle, section Documents</a:t>
            </a: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mémento Exercices</a:t>
            </a:r>
          </a:p>
        </p:txBody>
      </p:sp>
      <p:sp>
        <p:nvSpPr>
          <p:cNvPr id="3" name="Content Placeholder 2"/>
          <p:cNvSpPr>
            <a:spLocks noGrp="1"/>
          </p:cNvSpPr>
          <p:nvPr>
            <p:ph idx="1"/>
          </p:nvPr>
        </p:nvSpPr>
        <p:spPr>
          <a:xfrm>
            <a:off x="640080" y="1371600"/>
            <a:ext cx="10881360" cy="2834640"/>
          </a:xfrm>
        </p:spPr>
        <p:txBody>
          <a:bodyPr/>
          <a:lstStyle/>
          <a:p>
            <a:pPr marL="0" indent="0">
              <a:spcAft>
                <a:spcPts val="800"/>
              </a:spcAft>
              <a:buNone/>
            </a:pPr>
            <a:r>
              <a:rPr sz="2800" dirty="0"/>
              <a:t>Ce</a:t>
            </a:r>
            <a:r>
              <a:rPr lang="nl-BE" sz="2800" dirty="0"/>
              <a:t> mémento reprend ce</a:t>
            </a:r>
            <a:r>
              <a:rPr sz="2800" dirty="0"/>
              <a:t> qui est </a:t>
            </a:r>
            <a:r>
              <a:rPr sz="2800" dirty="0" err="1"/>
              <a:t>commun</a:t>
            </a:r>
            <a:r>
              <a:rPr sz="2800" dirty="0"/>
              <a:t> à </a:t>
            </a:r>
            <a:r>
              <a:rPr sz="2800" dirty="0" err="1"/>
              <a:t>tous</a:t>
            </a:r>
            <a:r>
              <a:rPr sz="2800" dirty="0"/>
              <a:t> les fascicules</a:t>
            </a:r>
          </a:p>
          <a:p>
            <a:pPr marL="0" indent="0">
              <a:spcAft>
                <a:spcPts val="800"/>
              </a:spcAft>
              <a:buNone/>
            </a:pPr>
            <a:r>
              <a:rPr sz="2800" dirty="0"/>
              <a:t>La </a:t>
            </a:r>
            <a:r>
              <a:rPr sz="2800" dirty="0" err="1"/>
              <a:t>numérotation</a:t>
            </a:r>
            <a:r>
              <a:rPr sz="2800" dirty="0"/>
              <a:t> : </a:t>
            </a:r>
            <a:r>
              <a:rPr sz="2800" dirty="0">
                <a:solidFill>
                  <a:schemeClr val="accent4"/>
                </a:solidFill>
                <a:latin typeface="Consolas"/>
              </a:rPr>
              <a:t>EXC.3</a:t>
            </a:r>
            <a:r>
              <a:rPr sz="2800" dirty="0"/>
              <a:t>, quelle </a:t>
            </a:r>
            <a:r>
              <a:rPr sz="2800" dirty="0" err="1"/>
              <a:t>que</a:t>
            </a:r>
            <a:r>
              <a:rPr sz="2800" dirty="0"/>
              <a:t> soit la séance</a:t>
            </a:r>
          </a:p>
          <a:p>
            <a:pPr marL="0" indent="0">
              <a:spcAft>
                <a:spcPts val="800"/>
              </a:spcAft>
              <a:buNone/>
            </a:pPr>
            <a:r>
              <a:rPr lang="nl-BE" dirty="0"/>
              <a:t>Mode d'emploi : l</a:t>
            </a:r>
            <a:r>
              <a:rPr sz="2800" dirty="0" err="1"/>
              <a:t>ancer</a:t>
            </a:r>
            <a:r>
              <a:rPr sz="2800" dirty="0"/>
              <a:t> les tests, et lire </a:t>
            </a:r>
            <a:r>
              <a:rPr sz="2800" dirty="0" err="1"/>
              <a:t>leur</a:t>
            </a:r>
            <a:r>
              <a:rPr sz="2800" dirty="0"/>
              <a:t> </a:t>
            </a:r>
            <a:r>
              <a:rPr sz="2800" dirty="0" err="1"/>
              <a:t>résultat</a:t>
            </a:r>
            <a:endParaRPr sz="2800" dirty="0"/>
          </a:p>
          <a:p>
            <a:pPr marL="0" indent="0">
              <a:spcAft>
                <a:spcPts val="800"/>
              </a:spcAft>
              <a:buNone/>
            </a:pPr>
            <a:r>
              <a:rPr lang="nl-BE" dirty="0"/>
              <a:t>Une règle : g</a:t>
            </a:r>
            <a:r>
              <a:rPr sz="2800" dirty="0" err="1"/>
              <a:t>arder</a:t>
            </a:r>
            <a:r>
              <a:rPr sz="2800" dirty="0"/>
              <a:t> un code qui compile, </a:t>
            </a:r>
            <a:r>
              <a:rPr sz="2800" dirty="0" err="1"/>
              <a:t>toujours</a:t>
            </a:r>
            <a:endParaRPr sz="2800" dirty="0"/>
          </a:p>
        </p:txBody>
      </p:sp>
      <p:sp>
        <p:nvSpPr>
          <p:cNvPr id="9" name="Espace réservé du numéro de diapositive 4">
            <a:extLst>
              <a:ext uri="{FF2B5EF4-FFF2-40B4-BE49-F238E27FC236}">
                <a16:creationId xmlns:a16="http://schemas.microsoft.com/office/drawing/2014/main" id="{02816DBF-AA5A-2EFA-30ED-307B4ECEE7F3}"/>
              </a:ext>
            </a:extLst>
          </p:cNvPr>
          <p:cNvSpPr>
            <a:spLocks noGrp="1"/>
          </p:cNvSpPr>
          <p:nvPr>
            <p:ph type="sldNum" sz="quarter" idx="4"/>
          </p:nvPr>
        </p:nvSpPr>
        <p:spPr/>
        <p:txBody>
          <a:bodyPr/>
          <a:lstStyle/>
          <a:p>
            <a:fld id="{33C783E2-4793-4F48-A271-51A73CC37D74}" type="slidenum">
              <a:rPr lang="fr-FR" smtClean="0"/>
              <a:t>21</a:t>
            </a:fld>
            <a:endParaRPr lang="fr-FR"/>
          </a:p>
        </p:txBody>
      </p:sp>
      <p:grpSp>
        <p:nvGrpSpPr>
          <p:cNvPr id="4" name="Groupe 3">
            <a:extLst>
              <a:ext uri="{FF2B5EF4-FFF2-40B4-BE49-F238E27FC236}">
                <a16:creationId xmlns:a16="http://schemas.microsoft.com/office/drawing/2014/main" id="{BA033264-2EDB-D82A-E601-6225C06634FE}"/>
              </a:ext>
            </a:extLst>
          </p:cNvPr>
          <p:cNvGrpSpPr/>
          <p:nvPr/>
        </p:nvGrpSpPr>
        <p:grpSpPr>
          <a:xfrm>
            <a:off x="640080" y="4434840"/>
            <a:ext cx="10881360" cy="1188720"/>
            <a:chOff x="640080" y="4434840"/>
            <a:chExt cx="10881360" cy="1188720"/>
          </a:xfrm>
        </p:grpSpPr>
        <p:sp>
          <p:nvSpPr>
            <p:cNvPr id="10" name="Carte compilation"/>
            <p:cNvSpPr/>
            <p:nvPr/>
          </p:nvSpPr>
          <p:spPr>
            <a:xfrm>
              <a:off x="640080" y="4434840"/>
              <a:ext cx="10881360" cy="1188720"/>
            </a:xfrm>
            <a:prstGeom prst="roundRect">
              <a:avLst>
                <a:gd name="adj" fmla="val 7692"/>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arte compilation, titre"/>
            <p:cNvSpPr txBox="1"/>
            <p:nvPr/>
          </p:nvSpPr>
          <p:spPr>
            <a:xfrm>
              <a:off x="640080" y="4434840"/>
              <a:ext cx="4480560" cy="1188720"/>
            </a:xfrm>
            <a:prstGeom prst="rect">
              <a:avLst/>
            </a:prstGeom>
            <a:noFill/>
          </p:spPr>
          <p:txBody>
            <a:bodyPr wrap="square" lIns="182880" anchor="ctr">
              <a:spAutoFit/>
            </a:bodyPr>
            <a:lstStyle/>
            <a:p>
              <a:r>
                <a:rPr sz="2600" b="1">
                  <a:solidFill>
                    <a:schemeClr val="accent4"/>
                  </a:solidFill>
                </a:rPr>
                <a:t>Ça ne compile pas ?</a:t>
              </a:r>
            </a:p>
          </p:txBody>
        </p:sp>
        <p:sp>
          <p:nvSpPr>
            <p:cNvPr id="12" name="Carte compilation, texte"/>
            <p:cNvSpPr txBox="1"/>
            <p:nvPr/>
          </p:nvSpPr>
          <p:spPr>
            <a:xfrm>
              <a:off x="5120640" y="4434840"/>
              <a:ext cx="6309360" cy="1188720"/>
            </a:xfrm>
            <a:prstGeom prst="rect">
              <a:avLst/>
            </a:prstGeom>
            <a:noFill/>
          </p:spPr>
          <p:txBody>
            <a:bodyPr wrap="square" lIns="182880" anchor="ctr">
              <a:spAutoFit/>
            </a:bodyPr>
            <a:lstStyle/>
            <a:p>
              <a:r>
                <a:rPr sz="2000">
                  <a:solidFill>
                    <a:srgbClr val="FFFFFF"/>
                  </a:solidFill>
                </a:rPr>
                <a:t>Corriger, ou le mettre en commentaire</a:t>
              </a:r>
            </a:p>
            <a:p>
              <a:r>
                <a:rPr sz="2000">
                  <a:solidFill>
                    <a:schemeClr val="accent4"/>
                  </a:solidFill>
                  <a:latin typeface="Consolas"/>
                </a:rPr>
                <a:t>Ctrl+/</a:t>
              </a:r>
              <a:r>
                <a:rPr sz="2000">
                  <a:solidFill>
                    <a:srgbClr val="FFFFFF"/>
                  </a:solidFill>
                </a:rPr>
                <a:t>  ·  </a:t>
              </a:r>
              <a:r>
                <a:rPr sz="2000">
                  <a:solidFill>
                    <a:schemeClr val="accent4"/>
                  </a:solidFill>
                  <a:latin typeface="Consolas"/>
                </a:rPr>
                <a:t>⌘/</a:t>
              </a:r>
            </a:p>
          </p:txBody>
        </p:sp>
      </p:grpSp>
      <p:sp>
        <p:nvSpPr>
          <p:cNvPr id="1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guide IntelliJ</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lang="nl-BE" sz="2800" dirty="0"/>
              <a:t>Ce guide couvre l'utilisation d'IntelliJ</a:t>
            </a:r>
          </a:p>
          <a:p>
            <a:pPr marL="0" indent="0">
              <a:spcAft>
                <a:spcPts val="800"/>
              </a:spcAft>
              <a:buNone/>
            </a:pPr>
            <a:r>
              <a:rPr sz="2800" dirty="0"/>
              <a:t>Les sections </a:t>
            </a:r>
            <a:r>
              <a:rPr sz="2800" dirty="0">
                <a:solidFill>
                  <a:schemeClr val="accent4"/>
                </a:solidFill>
                <a:latin typeface="Consolas"/>
              </a:rPr>
              <a:t>IDE</a:t>
            </a:r>
            <a:r>
              <a:rPr sz="2800" dirty="0"/>
              <a:t> : installer, </a:t>
            </a:r>
            <a:r>
              <a:rPr sz="2800" dirty="0" err="1"/>
              <a:t>créer</a:t>
            </a:r>
            <a:r>
              <a:rPr sz="2800" dirty="0"/>
              <a:t>, </a:t>
            </a:r>
            <a:r>
              <a:rPr sz="2800" dirty="0" err="1"/>
              <a:t>exécuter</a:t>
            </a:r>
            <a:r>
              <a:rPr sz="2800" dirty="0"/>
              <a:t>, </a:t>
            </a:r>
            <a:r>
              <a:rPr sz="2800" dirty="0" err="1"/>
              <a:t>déboguer</a:t>
            </a:r>
            <a:endParaRPr sz="2800" dirty="0"/>
          </a:p>
          <a:p>
            <a:pPr marL="0" indent="0">
              <a:spcAft>
                <a:spcPts val="800"/>
              </a:spcAft>
              <a:buNone/>
            </a:pPr>
            <a:r>
              <a:rPr sz="2800" dirty="0"/>
              <a:t>Les entrées </a:t>
            </a:r>
            <a:r>
              <a:rPr sz="2800" dirty="0">
                <a:solidFill>
                  <a:schemeClr val="accent4"/>
                </a:solidFill>
                <a:latin typeface="Consolas"/>
              </a:rPr>
              <a:t>ERR</a:t>
            </a:r>
            <a:r>
              <a:rPr sz="2800" dirty="0"/>
              <a:t> : les messages d</a:t>
            </a:r>
            <a:r>
              <a:rPr lang="fr-BE" sz="2800" dirty="0"/>
              <a:t>'</a:t>
            </a:r>
            <a:r>
              <a:rPr sz="2800" dirty="0" err="1"/>
              <a:t>erreur</a:t>
            </a:r>
            <a:r>
              <a:rPr sz="2800" dirty="0"/>
              <a:t> </a:t>
            </a:r>
            <a:r>
              <a:rPr sz="2800" dirty="0" err="1"/>
              <a:t>fréquents</a:t>
            </a:r>
            <a:endParaRPr sz="2800" dirty="0"/>
          </a:p>
          <a:p>
            <a:pPr marL="0" indent="0">
              <a:spcAft>
                <a:spcPts val="800"/>
              </a:spcAft>
              <a:buNone/>
            </a:pPr>
            <a:r>
              <a:rPr sz="2800" dirty="0"/>
              <a:t>Des captures d</a:t>
            </a:r>
            <a:r>
              <a:rPr lang="fr-BE" sz="2800" dirty="0"/>
              <a:t>'</a:t>
            </a:r>
            <a:r>
              <a:rPr sz="2800" dirty="0" err="1"/>
              <a:t>écran</a:t>
            </a:r>
            <a:r>
              <a:rPr sz="2800" dirty="0"/>
              <a:t> à </a:t>
            </a:r>
            <a:r>
              <a:rPr sz="2800" dirty="0" err="1"/>
              <a:t>chaque</a:t>
            </a:r>
            <a:r>
              <a:rPr sz="2800" dirty="0"/>
              <a:t> étape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mémento technique</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lang="nl-BE" sz="2800" dirty="0"/>
              <a:t>Le mémento technique explique ce qu'IntelliJ fait pour vous…</a:t>
            </a:r>
          </a:p>
          <a:p>
            <a:pPr marL="0" indent="0">
              <a:spcAft>
                <a:spcPts val="800"/>
              </a:spcAft>
              <a:buNone/>
            </a:pPr>
            <a:r>
              <a:rPr sz="2800" dirty="0"/>
              <a:t>La </a:t>
            </a:r>
            <a:r>
              <a:rPr sz="2800" dirty="0" err="1"/>
              <a:t>plateforme</a:t>
            </a:r>
            <a:r>
              <a:rPr sz="2800" dirty="0"/>
              <a:t> Java : JVM, JRE, JDK</a:t>
            </a:r>
          </a:p>
          <a:p>
            <a:pPr marL="0" indent="0">
              <a:spcAft>
                <a:spcPts val="800"/>
              </a:spcAft>
              <a:buNone/>
            </a:pPr>
            <a:r>
              <a:rPr sz="2800" dirty="0"/>
              <a:t>Du code source au </a:t>
            </a:r>
            <a:r>
              <a:rPr sz="2800" dirty="0" err="1"/>
              <a:t>programme</a:t>
            </a:r>
            <a:r>
              <a:rPr sz="2800" dirty="0"/>
              <a:t> : compilation, </a:t>
            </a:r>
            <a:r>
              <a:rPr sz="2800" dirty="0" err="1"/>
              <a:t>exécution</a:t>
            </a:r>
            <a:endParaRPr sz="2800" dirty="0"/>
          </a:p>
          <a:p>
            <a:pPr marL="0" indent="0">
              <a:spcAft>
                <a:spcPts val="800"/>
              </a:spcAft>
              <a:buNone/>
            </a:pPr>
            <a:r>
              <a:rPr sz="2800" dirty="0"/>
              <a:t>Les </a:t>
            </a:r>
            <a:r>
              <a:rPr sz="2800" dirty="0" err="1"/>
              <a:t>outils</a:t>
            </a:r>
            <a:r>
              <a:rPr sz="2800" dirty="0"/>
              <a:t> : Maven, </a:t>
            </a:r>
            <a:r>
              <a:rPr sz="2800" dirty="0">
                <a:solidFill>
                  <a:schemeClr val="accent4"/>
                </a:solidFill>
                <a:latin typeface="Consolas"/>
              </a:rPr>
              <a:t>JavaFX</a:t>
            </a:r>
            <a:r>
              <a:rPr sz="2800" dirty="0"/>
              <a:t>, Git, archives zip</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pic>
        <p:nvPicPr>
          <p:cNvPr id="6" name="iconTechnique" descr="Boîte à outils - Icônes outils et ustensiles gratuites">
            <a:extLst>
              <a:ext uri="{FF2B5EF4-FFF2-40B4-BE49-F238E27FC236}">
                <a16:creationId xmlns:a16="http://schemas.microsoft.com/office/drawing/2014/main" id="{41D3AF85-A84D-941C-9731-66371D07BCA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989819" y="246857"/>
            <a:ext cx="1562101" cy="156210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mémento Clean Code</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lang="nl-BE" sz="2800" dirty="0"/>
              <a:t>Ce mémento rassemble les règles qui font la différence entre :</a:t>
            </a:r>
            <a:br>
              <a:rPr lang="nl-BE" sz="2800" dirty="0"/>
            </a:br>
            <a:r>
              <a:rPr lang="nl-BE" sz="2800" dirty="0"/>
              <a:t>- un code qui fonctionne </a:t>
            </a:r>
            <a:br>
              <a:rPr lang="nl-BE" sz="2800" dirty="0"/>
            </a:br>
            <a:r>
              <a:rPr lang="nl-BE" sz="2800" dirty="0"/>
              <a:t>- et un bon code.</a:t>
            </a:r>
          </a:p>
          <a:p>
            <a:pPr marL="0" indent="0">
              <a:spcAft>
                <a:spcPts val="800"/>
              </a:spcAft>
              <a:buNone/>
            </a:pPr>
            <a:r>
              <a:rPr sz="2800" dirty="0"/>
              <a:t>36 </a:t>
            </a:r>
            <a:r>
              <a:rPr sz="2800" dirty="0" err="1"/>
              <a:t>règles</a:t>
            </a:r>
            <a:r>
              <a:rPr sz="2800" dirty="0"/>
              <a:t>, </a:t>
            </a:r>
            <a:r>
              <a:rPr sz="2800" dirty="0" err="1"/>
              <a:t>en</a:t>
            </a:r>
            <a:r>
              <a:rPr sz="2800" dirty="0"/>
              <a:t> 7 sections</a:t>
            </a:r>
          </a:p>
          <a:p>
            <a:pPr marL="0" indent="0">
              <a:spcAft>
                <a:spcPts val="800"/>
              </a:spcAft>
              <a:buNone/>
            </a:pPr>
            <a:r>
              <a:rPr sz="2800" dirty="0"/>
              <a:t>Noms, </a:t>
            </a:r>
            <a:r>
              <a:rPr sz="2800" dirty="0" err="1"/>
              <a:t>méthodes</a:t>
            </a:r>
            <a:r>
              <a:rPr sz="2800" dirty="0"/>
              <a:t>, </a:t>
            </a:r>
            <a:r>
              <a:rPr sz="2800" dirty="0" err="1"/>
              <a:t>commentaires</a:t>
            </a:r>
            <a:r>
              <a:rPr sz="2800" dirty="0"/>
              <a:t>, </a:t>
            </a:r>
            <a:r>
              <a:rPr sz="2800" dirty="0" err="1"/>
              <a:t>objets</a:t>
            </a:r>
            <a:r>
              <a:rPr sz="2800" dirty="0"/>
              <a:t>, </a:t>
            </a:r>
            <a:r>
              <a:rPr sz="2800" dirty="0" err="1"/>
              <a:t>erreurs</a:t>
            </a:r>
            <a:r>
              <a:rPr sz="2800" dirty="0"/>
              <a:t>, tests, classes</a:t>
            </a:r>
          </a:p>
          <a:p>
            <a:pPr marL="0" indent="0">
              <a:spcAft>
                <a:spcPts val="800"/>
              </a:spcAft>
              <a:buNone/>
            </a:pPr>
            <a:r>
              <a:rPr lang="fr-BE" dirty="0"/>
              <a:t>Pas un module : des renvois, au fil des exercices</a:t>
            </a:r>
          </a:p>
          <a:p>
            <a:pPr marL="0" indent="0">
              <a:spcAft>
                <a:spcPts val="800"/>
              </a:spcAft>
              <a:buNone/>
            </a:pPr>
            <a:r>
              <a:rPr sz="2800" dirty="0"/>
              <a:t>D</a:t>
            </a:r>
            <a:r>
              <a:rPr lang="fr-BE" sz="2800" dirty="0"/>
              <a:t>'</a:t>
            </a:r>
            <a:r>
              <a:rPr sz="2800" dirty="0"/>
              <a:t>après Clean Code, de Robert C. Martin</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INI · </a:t>
            </a:r>
            <a:r>
              <a:rPr sz="1100" b="1" dirty="0">
                <a:solidFill>
                  <a:schemeClr val="accent4"/>
                </a:solidFill>
              </a:rPr>
              <a:t>3. Les </a:t>
            </a:r>
            <a:r>
              <a:rPr sz="1100" b="1" dirty="0" err="1">
                <a:solidFill>
                  <a:schemeClr val="accent4"/>
                </a:solidFill>
              </a:rPr>
              <a:t>mémentos</a:t>
            </a:r>
            <a:endParaRPr sz="1100" b="1" dirty="0">
              <a:solidFill>
                <a:schemeClr val="accent4"/>
              </a:solidFill>
            </a:endParaRPr>
          </a:p>
        </p:txBody>
      </p:sp>
      <p:pic>
        <p:nvPicPr>
          <p:cNvPr id="6" name="iconCleanCode" descr="Baixar Icones De Limpeza">
            <a:extLst>
              <a:ext uri="{FF2B5EF4-FFF2-40B4-BE49-F238E27FC236}">
                <a16:creationId xmlns:a16="http://schemas.microsoft.com/office/drawing/2014/main" id="{D7089D96-28D1-CE1A-31BC-9B0057FAEE7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157160" y="355216"/>
            <a:ext cx="1562400" cy="1562400"/>
          </a:xfrm>
          <a:prstGeom prst="rect">
            <a:avLst/>
          </a:prstGeom>
        </p:spPr>
      </p:pic>
      <p:pic>
        <p:nvPicPr>
          <p:cNvPr id="11" name="RCMartin">
            <a:extLst>
              <a:ext uri="{FF2B5EF4-FFF2-40B4-BE49-F238E27FC236}">
                <a16:creationId xmlns:a16="http://schemas.microsoft.com/office/drawing/2014/main" id="{0A3D3729-0A54-97A1-E73D-5D2E0EBE85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8672944" y="4008004"/>
            <a:ext cx="2848495" cy="1941051"/>
          </a:xfrm>
          <a:prstGeom prst="rect">
            <a:avLst/>
          </a:prstGeom>
          <a:solidFill>
            <a:srgbClr val="FFFFFF"/>
          </a:solidFill>
          <a:effectLst>
            <a:outerShdw blurRad="50800" dist="38100" dir="2700000" algn="tl" rotWithShape="0">
              <a:prstClr val="black">
                <a:alpha val="40000"/>
              </a:prstClr>
            </a:outerShdw>
          </a:effectLst>
        </p:spPr>
      </p:pic>
      <p:sp>
        <p:nvSpPr>
          <p:cNvPr id="13" name="ZoneTexte 12">
            <a:extLst>
              <a:ext uri="{FF2B5EF4-FFF2-40B4-BE49-F238E27FC236}">
                <a16:creationId xmlns:a16="http://schemas.microsoft.com/office/drawing/2014/main" id="{94B473DC-E3B5-6E4A-F8B3-08730D00CB4C}"/>
              </a:ext>
            </a:extLst>
          </p:cNvPr>
          <p:cNvSpPr txBox="1"/>
          <p:nvPr/>
        </p:nvSpPr>
        <p:spPr>
          <a:xfrm>
            <a:off x="8231062" y="5990090"/>
            <a:ext cx="3488498" cy="338554"/>
          </a:xfrm>
          <a:prstGeom prst="rect">
            <a:avLst/>
          </a:prstGeom>
          <a:noFill/>
        </p:spPr>
        <p:txBody>
          <a:bodyPr wrap="square">
            <a:spAutoFit/>
          </a:bodyPr>
          <a:lstStyle/>
          <a:p>
            <a:pPr algn="r"/>
            <a:r>
              <a:rPr lang="fr-FR" sz="800" dirty="0">
                <a:solidFill>
                  <a:schemeClr val="accent4"/>
                </a:solidFill>
              </a:rPr>
              <a:t>By </a:t>
            </a:r>
            <a:r>
              <a:rPr lang="fr-FR" sz="800" dirty="0" err="1">
                <a:solidFill>
                  <a:schemeClr val="accent4"/>
                </a:solidFill>
              </a:rPr>
              <a:t>Angelacleancoder</a:t>
            </a:r>
            <a:r>
              <a:rPr lang="fr-FR" sz="800" dirty="0">
                <a:solidFill>
                  <a:schemeClr val="accent4"/>
                </a:solidFill>
              </a:rPr>
              <a:t> - </a:t>
            </a:r>
            <a:r>
              <a:rPr lang="fr-FR" sz="800" dirty="0" err="1">
                <a:solidFill>
                  <a:schemeClr val="accent4"/>
                </a:solidFill>
              </a:rPr>
              <a:t>Own</a:t>
            </a:r>
            <a:r>
              <a:rPr lang="fr-FR" sz="800" dirty="0">
                <a:solidFill>
                  <a:schemeClr val="accent4"/>
                </a:solidFill>
              </a:rPr>
              <a:t> </a:t>
            </a:r>
            <a:r>
              <a:rPr lang="fr-FR" sz="800" dirty="0" err="1">
                <a:solidFill>
                  <a:schemeClr val="accent4"/>
                </a:solidFill>
              </a:rPr>
              <a:t>work</a:t>
            </a:r>
            <a:r>
              <a:rPr lang="fr-FR" sz="800" dirty="0">
                <a:solidFill>
                  <a:schemeClr val="accent4"/>
                </a:solidFill>
              </a:rPr>
              <a:t>, </a:t>
            </a:r>
            <a:r>
              <a:rPr lang="fr-FR" sz="800" dirty="0">
                <a:solidFill>
                  <a:schemeClr val="accent4"/>
                </a:solidFill>
                <a:hlinkClick r:id="rId5"/>
              </a:rPr>
              <a:t>CC BY-SA 4.0</a:t>
            </a:r>
            <a:r>
              <a:rPr lang="fr-FR" sz="800" dirty="0">
                <a:solidFill>
                  <a:schemeClr val="accent4"/>
                </a:solidFill>
              </a:rPr>
              <a:t>, </a:t>
            </a:r>
            <a:br>
              <a:rPr lang="fr-FR" sz="800" dirty="0">
                <a:solidFill>
                  <a:schemeClr val="accent4"/>
                </a:solidFill>
              </a:rPr>
            </a:br>
            <a:r>
              <a:rPr lang="fr-FR" sz="800" dirty="0">
                <a:solidFill>
                  <a:schemeClr val="accent4"/>
                </a:solidFill>
                <a:hlinkClick r:id="rId6"/>
              </a:rPr>
              <a:t>https://commons.wikimedia.org/w/index.php?curid=88628927</a:t>
            </a:r>
            <a:r>
              <a:rPr lang="fr-FR" sz="800" dirty="0">
                <a:solidFill>
                  <a:schemeClr val="accent4"/>
                </a:solidFill>
              </a:rPr>
              <a:t> - recadrée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Comment l</a:t>
            </a:r>
            <a:r>
              <a:rPr sz="4000" dirty="0"/>
              <a:t>ire un renvoi</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25</a:t>
            </a:fld>
            <a:endParaRPr lang="fr-FR"/>
          </a:p>
        </p:txBody>
      </p:sp>
      <p:grpSp>
        <p:nvGrpSpPr>
          <p:cNvPr id="3" name="Groupe 2">
            <a:extLst>
              <a:ext uri="{FF2B5EF4-FFF2-40B4-BE49-F238E27FC236}">
                <a16:creationId xmlns:a16="http://schemas.microsoft.com/office/drawing/2014/main" id="{0046CFE6-4DF3-AE6B-F436-AFC564184BBB}"/>
              </a:ext>
            </a:extLst>
          </p:cNvPr>
          <p:cNvGrpSpPr/>
          <p:nvPr/>
        </p:nvGrpSpPr>
        <p:grpSpPr>
          <a:xfrm>
            <a:off x="640080" y="1463040"/>
            <a:ext cx="10881360" cy="1051560"/>
            <a:chOff x="640080" y="1463040"/>
            <a:chExt cx="10881360" cy="1051560"/>
          </a:xfrm>
        </p:grpSpPr>
        <p:sp>
          <p:nvSpPr>
            <p:cNvPr id="5" name="Carte renvoi"/>
            <p:cNvSpPr/>
            <p:nvPr/>
          </p:nvSpPr>
          <p:spPr>
            <a:xfrm>
              <a:off x="640080" y="1463040"/>
              <a:ext cx="10881360" cy="1051560"/>
            </a:xfrm>
            <a:prstGeom prst="roundRect">
              <a:avLst>
                <a:gd name="adj" fmla="val 86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te renvoi, code"/>
            <p:cNvSpPr txBox="1"/>
            <p:nvPr/>
          </p:nvSpPr>
          <p:spPr>
            <a:xfrm>
              <a:off x="640080" y="1463040"/>
              <a:ext cx="2743200" cy="1051560"/>
            </a:xfrm>
            <a:prstGeom prst="rect">
              <a:avLst/>
            </a:prstGeom>
            <a:noFill/>
          </p:spPr>
          <p:txBody>
            <a:bodyPr wrap="square" lIns="137160" rIns="137160" anchor="ctr">
              <a:spAutoFit/>
            </a:bodyPr>
            <a:lstStyle/>
            <a:p>
              <a:pPr algn="l"/>
              <a:r>
                <a:rPr sz="3000" b="1">
                  <a:solidFill>
                    <a:schemeClr val="accent4"/>
                  </a:solidFill>
                  <a:latin typeface="Consolas"/>
                </a:rPr>
                <a:t>IDE.14</a:t>
              </a:r>
            </a:p>
          </p:txBody>
        </p:sp>
        <p:sp>
          <p:nvSpPr>
            <p:cNvPr id="7" name="Carte renvoi, sens"/>
            <p:cNvSpPr txBox="1"/>
            <p:nvPr/>
          </p:nvSpPr>
          <p:spPr>
            <a:xfrm>
              <a:off x="3383280" y="1463040"/>
              <a:ext cx="8046720" cy="1051560"/>
            </a:xfrm>
            <a:prstGeom prst="rect">
              <a:avLst/>
            </a:prstGeom>
            <a:noFill/>
          </p:spPr>
          <p:txBody>
            <a:bodyPr wrap="square" lIns="137160" rIns="137160" anchor="ctr">
              <a:spAutoFit/>
            </a:bodyPr>
            <a:lstStyle/>
            <a:p>
              <a:pPr algn="l"/>
              <a:r>
                <a:rPr sz="2400">
                  <a:solidFill>
                    <a:srgbClr val="FFFFFF"/>
                  </a:solidFill>
                </a:rPr>
                <a:t>section 14 du guide IntelliJ</a:t>
              </a:r>
            </a:p>
          </p:txBody>
        </p:sp>
      </p:grpSp>
      <p:grpSp>
        <p:nvGrpSpPr>
          <p:cNvPr id="13" name="Groupe 12">
            <a:extLst>
              <a:ext uri="{FF2B5EF4-FFF2-40B4-BE49-F238E27FC236}">
                <a16:creationId xmlns:a16="http://schemas.microsoft.com/office/drawing/2014/main" id="{FE082512-669F-2F0C-33E0-BCC59BC3D9C7}"/>
              </a:ext>
            </a:extLst>
          </p:cNvPr>
          <p:cNvGrpSpPr/>
          <p:nvPr/>
        </p:nvGrpSpPr>
        <p:grpSpPr>
          <a:xfrm>
            <a:off x="640080" y="2743200"/>
            <a:ext cx="10881360" cy="1051560"/>
            <a:chOff x="640080" y="2743200"/>
            <a:chExt cx="10881360" cy="1051560"/>
          </a:xfrm>
        </p:grpSpPr>
        <p:sp>
          <p:nvSpPr>
            <p:cNvPr id="8" name="Carte renvoi"/>
            <p:cNvSpPr/>
            <p:nvPr/>
          </p:nvSpPr>
          <p:spPr>
            <a:xfrm>
              <a:off x="640080" y="2743200"/>
              <a:ext cx="10881360" cy="1051560"/>
            </a:xfrm>
            <a:prstGeom prst="roundRect">
              <a:avLst>
                <a:gd name="adj" fmla="val 86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te renvoi, code"/>
            <p:cNvSpPr txBox="1"/>
            <p:nvPr/>
          </p:nvSpPr>
          <p:spPr>
            <a:xfrm>
              <a:off x="640080" y="2743200"/>
              <a:ext cx="2743200" cy="1051560"/>
            </a:xfrm>
            <a:prstGeom prst="rect">
              <a:avLst/>
            </a:prstGeom>
            <a:noFill/>
          </p:spPr>
          <p:txBody>
            <a:bodyPr wrap="square" lIns="137160" rIns="137160" anchor="ctr">
              <a:spAutoFit/>
            </a:bodyPr>
            <a:lstStyle/>
            <a:p>
              <a:pPr algn="l"/>
              <a:r>
                <a:rPr sz="3000" b="1">
                  <a:solidFill>
                    <a:schemeClr val="accent4"/>
                  </a:solidFill>
                  <a:latin typeface="Consolas"/>
                </a:rPr>
                <a:t>CC-MET.8</a:t>
              </a:r>
            </a:p>
          </p:txBody>
        </p:sp>
        <p:sp>
          <p:nvSpPr>
            <p:cNvPr id="10" name="Carte renvoi, sens"/>
            <p:cNvSpPr txBox="1"/>
            <p:nvPr/>
          </p:nvSpPr>
          <p:spPr>
            <a:xfrm>
              <a:off x="3383280" y="2743200"/>
              <a:ext cx="8046720" cy="1051560"/>
            </a:xfrm>
            <a:prstGeom prst="rect">
              <a:avLst/>
            </a:prstGeom>
            <a:noFill/>
          </p:spPr>
          <p:txBody>
            <a:bodyPr wrap="square" lIns="137160" rIns="137160" anchor="ctr">
              <a:spAutoFit/>
            </a:bodyPr>
            <a:lstStyle/>
            <a:p>
              <a:pPr algn="l"/>
              <a:r>
                <a:rPr sz="2400">
                  <a:solidFill>
                    <a:srgbClr val="FFFFFF"/>
                  </a:solidFill>
                </a:rPr>
                <a:t>règle 8, section « méthodes » du mémento Clean Code</a:t>
              </a:r>
            </a:p>
          </p:txBody>
        </p:sp>
      </p:grpSp>
      <p:sp>
        <p:nvSpPr>
          <p:cNvPr id="11" name="TextBox 10"/>
          <p:cNvSpPr txBox="1"/>
          <p:nvPr/>
        </p:nvSpPr>
        <p:spPr>
          <a:xfrm>
            <a:off x="640080" y="4206240"/>
            <a:ext cx="10881360" cy="1463040"/>
          </a:xfrm>
          <a:prstGeom prst="rect">
            <a:avLst/>
          </a:prstGeom>
          <a:noFill/>
        </p:spPr>
        <p:txBody>
          <a:bodyPr wrap="square">
            <a:spAutoFit/>
          </a:bodyPr>
          <a:lstStyle/>
          <a:p>
            <a:pPr>
              <a:spcAft>
                <a:spcPts val="800"/>
              </a:spcAft>
            </a:pPr>
            <a:r>
              <a:rPr sz="2800" dirty="0">
                <a:solidFill>
                  <a:srgbClr val="FFFFFF"/>
                </a:solidFill>
              </a:rPr>
              <a:t>Un renvoi vous </a:t>
            </a:r>
            <a:r>
              <a:rPr sz="2800" dirty="0" err="1">
                <a:solidFill>
                  <a:srgbClr val="FFFFFF"/>
                </a:solidFill>
              </a:rPr>
              <a:t>dit</a:t>
            </a:r>
            <a:r>
              <a:rPr sz="2800" dirty="0">
                <a:solidFill>
                  <a:srgbClr val="FFFFFF"/>
                </a:solidFill>
              </a:rPr>
              <a:t> </a:t>
            </a:r>
            <a:r>
              <a:rPr sz="2800" dirty="0" err="1">
                <a:solidFill>
                  <a:srgbClr val="FFFFFF"/>
                </a:solidFill>
              </a:rPr>
              <a:t>où</a:t>
            </a:r>
            <a:r>
              <a:rPr sz="2800" dirty="0">
                <a:solidFill>
                  <a:srgbClr val="FFFFFF"/>
                </a:solidFill>
              </a:rPr>
              <a:t> </a:t>
            </a:r>
            <a:r>
              <a:rPr sz="2800" dirty="0" err="1">
                <a:solidFill>
                  <a:srgbClr val="FFFFFF"/>
                </a:solidFill>
              </a:rPr>
              <a:t>chercher</a:t>
            </a:r>
            <a:r>
              <a:rPr sz="2800" dirty="0">
                <a:solidFill>
                  <a:srgbClr val="FFFFFF"/>
                </a:solidFill>
              </a:rPr>
              <a:t>, au moment </a:t>
            </a:r>
            <a:r>
              <a:rPr sz="2800" dirty="0" err="1">
                <a:solidFill>
                  <a:srgbClr val="FFFFFF"/>
                </a:solidFill>
              </a:rPr>
              <a:t>où</a:t>
            </a:r>
            <a:r>
              <a:rPr sz="2800" dirty="0">
                <a:solidFill>
                  <a:srgbClr val="FFFFFF"/>
                </a:solidFill>
              </a:rPr>
              <a:t> vous </a:t>
            </a:r>
            <a:r>
              <a:rPr sz="2800" dirty="0" err="1">
                <a:solidFill>
                  <a:srgbClr val="FFFFFF"/>
                </a:solidFill>
              </a:rPr>
              <a:t>en</a:t>
            </a:r>
            <a:r>
              <a:rPr sz="2800" dirty="0">
                <a:solidFill>
                  <a:srgbClr val="FFFFFF"/>
                </a:solidFill>
              </a:rPr>
              <a:t> </a:t>
            </a:r>
            <a:r>
              <a:rPr sz="2800" dirty="0" err="1">
                <a:solidFill>
                  <a:srgbClr val="FFFFFF"/>
                </a:solidFill>
              </a:rPr>
              <a:t>avez</a:t>
            </a:r>
            <a:r>
              <a:rPr sz="2800" dirty="0">
                <a:solidFill>
                  <a:srgbClr val="FFFFFF"/>
                </a:solidFill>
              </a:rPr>
              <a:t> </a:t>
            </a:r>
            <a:r>
              <a:rPr sz="2800" dirty="0" err="1">
                <a:solidFill>
                  <a:srgbClr val="FFFFFF"/>
                </a:solidFill>
              </a:rPr>
              <a:t>besoin</a:t>
            </a:r>
            <a:endParaRPr sz="2800" dirty="0">
              <a:solidFill>
                <a:srgbClr val="FFFFFF"/>
              </a:solidFill>
            </a:endParaRPr>
          </a:p>
        </p:txBody>
      </p:sp>
      <p:sp>
        <p:nvSpPr>
          <p:cNvPr id="1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Quelques liens utiles</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sz="2800"/>
              <a:t>Les versions de Java et leur documentation :</a:t>
            </a:r>
          </a:p>
          <a:p>
            <a:pPr marL="457200" lvl="1" indent="0">
              <a:spcAft>
                <a:spcPts val="800"/>
              </a:spcAft>
              <a:buNone/>
            </a:pPr>
            <a:r>
              <a:rPr sz="2800">
                <a:solidFill>
                  <a:schemeClr val="accent4"/>
                </a:solidFill>
                <a:hlinkClick r:id="rId3"/>
              </a:rPr>
              <a:t>docs.oracle.com/en/java/javase/</a:t>
            </a:r>
          </a:p>
          <a:p>
            <a:pPr marL="0" indent="0">
              <a:spcAft>
                <a:spcPts val="800"/>
              </a:spcAft>
              <a:buNone/>
            </a:pPr>
            <a:r>
              <a:rPr sz="2800"/>
              <a:t>Un site en français, très complet :</a:t>
            </a:r>
          </a:p>
          <a:p>
            <a:pPr marL="457200" lvl="1" indent="0">
              <a:spcAft>
                <a:spcPts val="800"/>
              </a:spcAft>
              <a:buNone/>
            </a:pPr>
            <a:r>
              <a:rPr sz="2800">
                <a:solidFill>
                  <a:schemeClr val="accent4"/>
                </a:solidFill>
                <a:hlinkClick r:id="rId4"/>
              </a:rPr>
              <a:t>jmdoudoux.fr/java/dej/</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En résumé…</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sz="2800" dirty="0"/>
              <a:t>Un module = un </a:t>
            </a:r>
            <a:r>
              <a:rPr sz="2800" dirty="0" err="1"/>
              <a:t>sujet</a:t>
            </a:r>
            <a:r>
              <a:rPr sz="2800" dirty="0"/>
              <a:t>, avec son code de trois </a:t>
            </a:r>
            <a:r>
              <a:rPr sz="2800" dirty="0" err="1"/>
              <a:t>lettres</a:t>
            </a:r>
            <a:endParaRPr sz="2800" dirty="0"/>
          </a:p>
          <a:p>
            <a:pPr marL="0" indent="0">
              <a:spcAft>
                <a:spcPts val="800"/>
              </a:spcAft>
              <a:buNone/>
            </a:pPr>
            <a:r>
              <a:rPr sz="2800" dirty="0"/>
              <a:t>Slides, </a:t>
            </a:r>
            <a:r>
              <a:rPr sz="2800" dirty="0" err="1"/>
              <a:t>démonstration</a:t>
            </a:r>
            <a:r>
              <a:rPr sz="2800" dirty="0"/>
              <a:t>, fascicule</a:t>
            </a:r>
            <a:r>
              <a:rPr lang="nl-BE" sz="2800" dirty="0"/>
              <a:t> d’exercices</a:t>
            </a:r>
            <a:r>
              <a:rPr sz="2800" dirty="0"/>
              <a:t>, </a:t>
            </a:r>
            <a:r>
              <a:rPr sz="2800" dirty="0" err="1"/>
              <a:t>GameHub</a:t>
            </a:r>
            <a:endParaRPr sz="2800" dirty="0"/>
          </a:p>
          <a:p>
            <a:pPr marL="0" indent="0">
              <a:spcAft>
                <a:spcPts val="800"/>
              </a:spcAft>
              <a:buNone/>
            </a:pPr>
            <a:r>
              <a:rPr sz="2800" dirty="0"/>
              <a:t>Des tests pour </a:t>
            </a:r>
            <a:r>
              <a:rPr sz="2800" dirty="0" err="1"/>
              <a:t>vérifier</a:t>
            </a:r>
            <a:r>
              <a:rPr sz="2800" dirty="0"/>
              <a:t> vous-</a:t>
            </a:r>
            <a:r>
              <a:rPr sz="2800" dirty="0" err="1"/>
              <a:t>même</a:t>
            </a:r>
            <a:r>
              <a:rPr sz="2800" dirty="0"/>
              <a:t> </a:t>
            </a:r>
            <a:r>
              <a:rPr sz="2800" dirty="0" err="1"/>
              <a:t>vos</a:t>
            </a:r>
            <a:r>
              <a:rPr sz="2800" dirty="0"/>
              <a:t> </a:t>
            </a:r>
            <a:r>
              <a:rPr sz="2800" dirty="0" err="1"/>
              <a:t>réponses</a:t>
            </a:r>
            <a:endParaRPr sz="2800" dirty="0"/>
          </a:p>
          <a:p>
            <a:pPr marL="0" indent="0">
              <a:spcAft>
                <a:spcPts val="800"/>
              </a:spcAft>
              <a:buNone/>
            </a:pPr>
            <a:r>
              <a:rPr sz="2800" dirty="0"/>
              <a:t>Des </a:t>
            </a:r>
            <a:r>
              <a:rPr sz="2800" dirty="0" err="1"/>
              <a:t>mémentos</a:t>
            </a:r>
            <a:r>
              <a:rPr sz="2800" dirty="0"/>
              <a:t> à </a:t>
            </a:r>
            <a:r>
              <a:rPr sz="2800" dirty="0" err="1"/>
              <a:t>ouvrir</a:t>
            </a:r>
            <a:r>
              <a:rPr sz="2800" dirty="0"/>
              <a:t> </a:t>
            </a:r>
            <a:r>
              <a:rPr sz="2800" dirty="0" err="1"/>
              <a:t>quand</a:t>
            </a:r>
            <a:r>
              <a:rPr sz="2800" dirty="0"/>
              <a:t> un renvoi vous y </a:t>
            </a:r>
            <a:r>
              <a:rPr sz="2800" dirty="0" err="1"/>
              <a:t>envoie</a:t>
            </a:r>
            <a:endParaRPr sz="2800" dirty="0"/>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115778</TotalTime>
  <Words>3716</Words>
  <Application>Microsoft Macintosh PowerPoint</Application>
  <PresentationFormat>Grand écran</PresentationFormat>
  <Paragraphs>292</Paragraphs>
  <Slides>27</Slides>
  <Notes>26</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Aptos</vt:lpstr>
      <vt:lpstr>Arial</vt:lpstr>
      <vt:lpstr>Calibri</vt:lpstr>
      <vt:lpstr>Consolas</vt:lpstr>
      <vt:lpstr>Corbel</vt:lpstr>
      <vt:lpstr>Police système Courant</vt:lpstr>
      <vt:lpstr>Symbol</vt:lpstr>
      <vt:lpstr>Times New Roman</vt:lpstr>
      <vt:lpstr>ThemeEphec2022</vt:lpstr>
      <vt:lpstr>JAVA 2</vt:lpstr>
      <vt:lpstr>Au programme</vt:lpstr>
      <vt:lpstr>Présentation PowerPoint</vt:lpstr>
      <vt:lpstr>Qui suis-je?</vt:lpstr>
      <vt:lpstr>Contenu du cours</vt:lpstr>
      <vt:lpstr>Les modules du cours</vt:lpstr>
      <vt:lpstr>Critères de réussite et acquis d'apprentissage</vt:lpstr>
      <vt:lpstr>En d'autres termes, vous devez pouvoir…</vt:lpstr>
      <vt:lpstr>L'organisation pratique du cours</vt:lpstr>
      <vt:lpstr>Présence aux séances</vt:lpstr>
      <vt:lpstr>… et l'examen?</vt:lpstr>
      <vt:lpstr>Présentation PowerPoint</vt:lpstr>
      <vt:lpstr>Le déroulé d'un module</vt:lpstr>
      <vt:lpstr>Les fascicules d'exercices</vt:lpstr>
      <vt:lpstr>Le projet ExercicesJava</vt:lpstr>
      <vt:lpstr>Les tests fournis</vt:lpstr>
      <vt:lpstr>Le fil rouge GameHub</vt:lpstr>
      <vt:lpstr>Le support imprimable</vt:lpstr>
      <vt:lpstr>Présentation PowerPoint</vt:lpstr>
      <vt:lpstr>Quatre documents de référence</vt:lpstr>
      <vt:lpstr>Le mémento Exercices</vt:lpstr>
      <vt:lpstr>Le guide IntelliJ</vt:lpstr>
      <vt:lpstr>Le mémento technique</vt:lpstr>
      <vt:lpstr>Le mémento Clean Code</vt:lpstr>
      <vt:lpstr>Comment lire un renvoi</vt:lpstr>
      <vt:lpstr>Quelques liens utiles</vt:lpstr>
      <vt:lpstr>En résumé…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41</cp:revision>
  <dcterms:created xsi:type="dcterms:W3CDTF">2023-01-04T13:50:20Z</dcterms:created>
  <dcterms:modified xsi:type="dcterms:W3CDTF">2026-10-22T21:54:04Z</dcterms:modified>
</cp:coreProperties>
</file>